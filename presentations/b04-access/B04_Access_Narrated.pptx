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olicy decides" id="{2D51345D-0F8E-8DB9-0186-8CE07524DE10}">
          <p14:sldIdLst>
            <p14:sldId id="256"/>
            <p14:sldId id="257"/>
            <p14:sldId id="258"/>
          </p14:sldIdLst>
        </p14:section>
        <p14:section name="What it is" id="{1BE0F904-7F9A-51DF-05E0-ADD93FA25F91}">
          <p14:sldIdLst>
            <p14:sldId id="259"/>
            <p14:sldId id="260"/>
          </p14:sldIdLst>
        </p14:section>
        <p14:section name="Who decides" id="{01629FB5-DFAC-9508-6B4E-2245B5CBB159}">
          <p14:sldIdLst>
            <p14:sldId id="261"/>
          </p14:sldIdLst>
        </p14:section>
        <p14:section name="How to run it" id="{E702B2E6-35E7-3AB4-C13C-8A6151D3D66A}">
          <p14:sldIdLst>
            <p14:sldId id="262"/>
            <p14:sldId id="263"/>
            <p14:sldId id="264"/>
            <p14:sldId id="265"/>
          </p14:sldIdLst>
        </p14:section>
        <p14:section name="Backup" id="{F733CEE1-43F3-77DA-4777-84D46E206AE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4339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[0:00–0:34]  This briefing comes from Book 04 of the Federal Modernization Workbook, Access and Privilege.
Book 02 moved the identity. Book 03 made its facts trustworthy. This book is about what happens with them on every sign-in: who gets access to what, under which conditions, and how administrator power is kept from becoming an open door.
I'll take it through why, what, who and how. The short version: in Zero Trust, every access decision is a policy decision, and the policy library is the agency's access control in practice.
Workbook: Book 04,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[0:34–1:40]  Why is every access decision a policy decision? Because federal Zero Trust policy says so, and the platform works that way.
OMB M-22-09 requires that every access request be evaluated and that network location confer no trust. NIST Special Publication 800-207 describes the architecture: a policy decision point, separate from the places where access is enforced. In Microsoft Entra ID, that decision point is Conditional Access. It decides by rule: every applicable policy must be satisfied, a block wins, and exclusions override everything.
What it replaces is access decided once and trusted afterward. Inside the network, therefore trusted. In the group, therefore allowed, forever. Those assumptions survive a migration unless someone deliberately replaces them with policy.
Two consequences run through the book. Every exclusion is a standing hole, so each one needs an owner and a review. And policy is only as good as the attributes it reads, which is why Book 03 matters here.
Workbook: Book 04, Chapter 01 — Access Is a Policy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[1:40–2:44]  The same logic applies to administrators, and this is where most breaches go.
A standing administrator is always on, at any hour, so any stolen credential or session that reaches the role yields all of it. Stronger authentication helps, but it doesn't narrow what the role can do, where, or when. An eligible administrator is different: the role is activated only when needed, for a set time, with approval from someone other than the requester, a fresh strong sign-in, and a log of every elevation.
NSA and CISA rank poor separation of user and administrator privilege among the most common misconfigurations they find, and NIST control AC-6 requires least privilege, recurring reviews and logged privileged functions.
There's one standing exception: two break-glass accounts stay permanently active, so the tenant can be recovered if everything else fails. They're safe only when they're governed: phishing-resistant, monitored, tested every ninety days, and documented as a deviation in the system security plan.
Workbook: Book 04, Chapter 02 — Why Standing Privilege Fails.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[2:44–3:52]  What does the policy engine actually evaluate?
Signals first: the user, their groups and roles; the device; the application; the location; and sign-in and user risk. Conditions decide which policies apply to this particular request. Then controls: block, or grant with requirements such as multifactor authentication, a specific authentication strength, a compliant device, an app protection policy, or acceptance of terms. And session controls, like how often to re-authenticate.
Three operating rules run through the library. Every policy runs in report-only mode first, so its impact is visible before it enforces. Policies target personas, admins, internal staff, guests and workload identities, not individuals. And deletion isn't final: deleted policies are recoverable for thirty days, and a tenant can hold up to two hundred and forty policies.
One recent platform change matters: the approved client app grant became read-only on June 30, 2026, so mobile access now relies on app protection policies.
Workbook: Book 04, Chapter 03 — The Conditional Access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[3:52–4:49]  What's the structure underneath? Two parts: privilege and applications.
For privilege: use the least-privileged built-in role for each task; keep fewer than five Global Administrators, as Microsoft recommends; use role-assignable groups, which take assigned membership only and are limited to five hundred per tenant; and tier everything along Microsoft's enterprise access model, which builds on the old Active Directory tier model rather than replacing it.
For applications: application owners actually hold administrator rights over their app, including adding a credential, so keep them few. Admin consent goes through a governed workflow. Applications authenticate with certificates or federated credentials rather than secrets, and Azure workloads use managed identities.
What people get wrong: consent grants never expire, and revoking one leaves already-issued tokens valid. So application access needs the same review discipline as people.
Workbook: Book 04, Chapter 04 — Privileged Roles and Tiers; Chapter 05 — Applications and Workload Identities.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[4:49–5:53]  Who decides access, and who executes it? The book keeps those apart.
Deciding: business and application owners decide who should have access and why. The CISO owns the policy baseline and its exceptions. And an identity governance office owns approval chains and reviews.
Executing: identity engineering builds the policies, the PIM settings, consent and access packages. The help desk handles assignments under a scoped role. Security operations handles alerts, risky sign-ins and response.
Assuring: the ISSO owns the evidence and findings, the authorizing official owns accepted risk, and reviewers recertify access on schedule.
The rule that holds it together: the people who execute access changes never approve them. That's why the help desk works under a custom role that manages assignments only, while consent and administrator roles stay with identity engineering. The old guide gave the help desk Application Administrator, which can grant consent and act as any app, so that rule existed only on paper.
Workbook: Book 04, Chapter 06 — Who Decides Access.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[5:53–7:05]  How. The policy library is rolled out in five waves.
Wave one is the foundation, starting with blocking legacy authentication. Wave two is administrators: phishing-resistant authentication and sign-in only from privileged access workstations. Wave three is everyone: an MFA baseline plus device and app controls. Wave four is risk: blocking high-risk users and sign-ins. And wave five covers the remaining segments, guests and workload identities, and the end state.
Every policy passes the same gates: two to four weeks in report-only, then a pilot ring, then expanding rings, then enforced and monitored. A wave starts only after the previous one has run a week without incident. And rollback means switching a policy off or back to report-only, never deleting it.
The library is built to CISA's baseline. It keeps Book 02's policies CA001 to CA017 and adds CA018 to CA038 for the BOD 25-01 Entra ID requirements, including blocking high-risk users and requiring phishing-resistant MFA for all members.
Workbook: Book 04, Chapter 07 — The Conditional Access Policy Library; Appendix 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[7:05–8:17]  For administrators, Privileged Identity Management turns privilege into a governed request.
An administrator holds an eligible assignment, not an active one. To use it, they request activation with a justification and a ticket; step up through an authentication context; get approval from someone else; and receive a time-boxed activation that's logged, alerted and later reviewed.
The details matter, and the old guides had several wrong. Activation can run from one to twenty-four hours, and the approval window is a fixed twenty-four hours with a single stage. PIM's built-in MFA can be satisfied by an earlier sign-in in the same session, so the book uses an authentication context to force a fresh step-up. Approvers can't approve their own requests, and if a role has no approvers configured, active Privileged Role Administrators become the approvers by default. And licensing: PIM needs Entra ID P2 or ID Governance, and if those licenses lapse, eligible assignments are removed.
Appendix B sets every role's activation time, approvers, context and notifications, tighter for Tier 0 and Tier 1 than Book 02's first table.
Workbook: Book 04, Chapter 08 — PIM Self-Request with Approval; Appendix 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[8:17–9:25]  Finally, governance, code and evidence.
Governance: access is requested through access packages with approval and expiry; reviews run on a tiered cadence; and the book reviews groups, not just applications. Guests have sponsors and are reviewed too.
As code: Conditional Access, PIM settings and access packages live in version control. Changes go through review rather than the portal, drift is monitored against a baseline, and results are exported before a baseline is changed, because changing it erases that monitor's history.
Evidence: the book maps all of this to the access-control, identification and continuous-monitoring controls, AC-2, AC-3, AC-6, IA-2 and CA-7, with every elevation and every review on record.
Two traps in the tooling. Reviewing an application doesn't remove members of the groups assigned to it, so the groups themselves have to be reviewed. And Entra keeps sign-in and audit logs only thirty days with P1 or P2, so the evidence has to be exported from day one.
Workbook: Book 04, Chapter 09 — Access Governance; Chapter 10 — Access as Code, and the Evidence It Produces.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[9:25–10:20]  So, four asks.
Adopt the library: Book 04's Conditional Access library and wave plan as the agency's access baseline.
End standing privilege: every administrator role eligible through PIM, with two governed break-glass accounts as the only standing exception.
Separate deciding from executing: name the owners, scope the help desk role, and stand up the identity governance office.
And manage access as code: version control, review and drift monitoring, with the evidence kept from day one.
In Zero Trust, every access decision is a policy decision. Writing that policy down, testing it, and proving it ran is how an agency knows who can reach what, and why.
Book 04 has the full library and settings, with every external claim footnoted. Book 05 covers the device compliance that Conditional Access reads. Thank you.
Workbook: Book 04, index.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04 Access &amp; Privilege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3.png"/><Relationship Id="rId4" Type="http://schemas.openxmlformats.org/officeDocument/2006/relationships/notesSlide" Target="../notesSlides/notesSlide2.xml"/><Relationship Id="rId9" Type="http://schemas.openxmlformats.org/officeDocument/2006/relationships/image" Target="../media/image8.png"/><Relationship Id="rId11"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 Id="rId9" Type="http://schemas.openxmlformats.org/officeDocument/2006/relationships/image" Target="../media/image3.png"/><Relationship Id="rId10"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notesSlide" Target="../notesSlides/notesSlide9.xml"/><Relationship Id="rId9" Type="http://schemas.openxmlformats.org/officeDocument/2006/relationships/image" Target="../media/image3.png"/><Relationship Id="rId10"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3.png"/><Relationship Id="rId4" Type="http://schemas.openxmlformats.org/officeDocument/2006/relationships/notesSlide" Target="../notesSlides/notesSlide10.xml"/><Relationship Id="rId9" Type="http://schemas.openxmlformats.org/officeDocument/2006/relationships/image" Target="../media/image5.png"/><Relationship Id="rId11" Type="http://schemas.microsoft.com/office/2017/04/relationships/track" Target="../media/captions_slide1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Is Every Access Decision a Policy Decision?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04 — Access &amp; Privilege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15BC8509-896A-60F2-877D-A21D26AAF4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7C9D76B-B9E1-42B0-A0E1-84F4D36DAB4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320"/>
    </mc:Choice>
    <mc:Fallback>
      <p:transition spd="slow" advTm="35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is decided per request, by policy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con FaLandmark">
            <a:extLst>
              <a:ext uri="{C183D7F6-B498-43B3-948B-1728B52AA6E4}">
                <adec:decorative xmlns:adec="http://schemas.microsoft.com/office/drawing/2017/decorative" val="1"/>
              </a:ext>
            </a:extLst>
          </p:cNvPr>
          <p:cNvSpPr/>
          <p:nvPr/>
        </p:nvSpPr>
        <p:spPr>
          <a:xfrm>
            <a:off x="548640" y="1508760"/>
            <a:ext cx="566928" cy="566928"/>
          </a:xfrm>
          <a:prstGeom prst="ellipse">
            <a:avLst/>
          </a:prstGeom>
          <a:solidFill>
            <a:srgbClr val="1F2A44"/>
          </a:solidFill>
          <a:ln w="12700">
            <a:solidFill>
              <a:srgbClr val="1F2A44"/>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644823"/>
            <a:ext cx="294803" cy="294803"/>
          </a:xfrm>
          <a:prstGeom prst="rect">
            <a:avLst/>
          </a:prstGeom>
        </p:spPr>
      </p:pic>
      <p:sp>
        <p:nvSpPr>
          <p:cNvPr id="7" name="Policy 1"/>
          <p:cNvSpPr txBox="1"/>
          <p:nvPr/>
        </p:nvSpPr>
        <p:spPr>
          <a:xfrm>
            <a:off x="1280160" y="1463040"/>
            <a:ext cx="5120640" cy="914400"/>
          </a:xfrm>
          <a:prstGeom prst="rect">
            <a:avLst/>
          </a:prstGeom>
          <a:noFill/>
          <a:ln/>
        </p:spPr>
        <p:txBody>
          <a:bodyPr wrap="square" lIns="0" tIns="0" rIns="0" bIns="0" rtlCol="0" anchor="t"/>
          <a:lstStyle/>
          <a:p>
            <a:pPr marL="0" indent="0">
              <a:buNone/>
            </a:pPr>
            <a:r>
              <a:rPr lang="en-US" sz="1650" b="1" dirty="0">
                <a:solidFill>
                  <a:srgbClr val="1F2A44"/>
                </a:solidFill>
              </a:rPr>
              <a:t>OMB M-22-09</a:t>
            </a:r>
            <a:endParaRPr lang="en-US" sz="1400" dirty="0"/>
          </a:p>
          <a:p>
            <a:pPr marL="0" indent="0">
              <a:buNone/>
            </a:pPr>
            <a:r>
              <a:rPr lang="en-US" sz="1450" dirty="0">
                <a:solidFill>
                  <a:schemeClr val="tx2"/>
                </a:solidFill>
              </a:rPr>
              <a:t>Every request evaluated; network location confers no trust.</a:t>
            </a:r>
            <a:endParaRPr lang="en-US" sz="1400" dirty="0"/>
          </a:p>
        </p:txBody>
      </p:sp>
      <p:sp>
        <p:nvSpPr>
          <p:cNvPr id="8" name="Icon FaBook">
            <a:extLst>
              <a:ext uri="{C183D7F6-B498-43B3-948B-1728B52AA6E4}">
                <adec:decorative xmlns:adec="http://schemas.microsoft.com/office/drawing/2017/decorative" val="1"/>
              </a:ext>
            </a:extLst>
          </p:cNvPr>
          <p:cNvSpPr/>
          <p:nvPr/>
        </p:nvSpPr>
        <p:spPr>
          <a:xfrm>
            <a:off x="548640" y="2496312"/>
            <a:ext cx="566928" cy="566928"/>
          </a:xfrm>
          <a:prstGeom prst="ellipse">
            <a:avLst/>
          </a:prstGeom>
          <a:solidFill>
            <a:srgbClr val="0F766E"/>
          </a:solidFill>
          <a:ln w="12700">
            <a:solidFill>
              <a:srgbClr val="0F766E"/>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632375"/>
            <a:ext cx="294803" cy="294803"/>
          </a:xfrm>
          <a:prstGeom prst="rect">
            <a:avLst/>
          </a:prstGeom>
        </p:spPr>
      </p:pic>
      <p:sp>
        <p:nvSpPr>
          <p:cNvPr id="10" name="Policy 2"/>
          <p:cNvSpPr txBox="1"/>
          <p:nvPr/>
        </p:nvSpPr>
        <p:spPr>
          <a:xfrm>
            <a:off x="1280160" y="2450592"/>
            <a:ext cx="5120640" cy="914400"/>
          </a:xfrm>
          <a:prstGeom prst="rect">
            <a:avLst/>
          </a:prstGeom>
          <a:noFill/>
          <a:ln/>
        </p:spPr>
        <p:txBody>
          <a:bodyPr wrap="square" lIns="0" tIns="0" rIns="0" bIns="0" rtlCol="0" anchor="t"/>
          <a:lstStyle/>
          <a:p>
            <a:pPr marL="0" indent="0">
              <a:buNone/>
            </a:pPr>
            <a:r>
              <a:rPr lang="en-US" sz="1650" b="1" dirty="0">
                <a:solidFill>
                  <a:srgbClr val="0F766E"/>
                </a:solidFill>
              </a:rPr>
              <a:t>NIST SP 800-207</a:t>
            </a:r>
            <a:endParaRPr lang="en-US" sz="1400" dirty="0"/>
          </a:p>
          <a:p>
            <a:pPr marL="0" indent="0">
              <a:buNone/>
            </a:pPr>
            <a:r>
              <a:rPr lang="en-US" sz="1450" dirty="0">
                <a:solidFill>
                  <a:schemeClr val="tx2"/>
                </a:solidFill>
              </a:rPr>
              <a:t>A policy decision point, separate from where access is enforced.</a:t>
            </a:r>
            <a:endParaRPr lang="en-US" sz="1400" dirty="0"/>
          </a:p>
        </p:txBody>
      </p:sp>
      <p:sp>
        <p:nvSpPr>
          <p:cNvPr id="11" name="Icon FaScaleBalanced">
            <a:extLst>
              <a:ext uri="{C183D7F6-B498-43B3-948B-1728B52AA6E4}">
                <adec:decorative xmlns:adec="http://schemas.microsoft.com/office/drawing/2017/decorative" val="1"/>
              </a:ext>
            </a:extLst>
          </p:cNvPr>
          <p:cNvSpPr/>
          <p:nvPr/>
        </p:nvSpPr>
        <p:spPr>
          <a:xfrm>
            <a:off x="548640" y="3483864"/>
            <a:ext cx="566928" cy="566928"/>
          </a:xfrm>
          <a:prstGeom prst="ellipse">
            <a:avLst/>
          </a:prstGeom>
          <a:solidFill>
            <a:srgbClr val="B45309"/>
          </a:solidFill>
          <a:ln w="12700">
            <a:solidFill>
              <a:srgbClr val="B45309"/>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619927"/>
            <a:ext cx="294803" cy="294803"/>
          </a:xfrm>
          <a:prstGeom prst="rect">
            <a:avLst/>
          </a:prstGeom>
        </p:spPr>
      </p:pic>
      <p:sp>
        <p:nvSpPr>
          <p:cNvPr id="13" name="Policy 3"/>
          <p:cNvSpPr txBox="1"/>
          <p:nvPr/>
        </p:nvSpPr>
        <p:spPr>
          <a:xfrm>
            <a:off x="1280160" y="3438144"/>
            <a:ext cx="5120640" cy="914400"/>
          </a:xfrm>
          <a:prstGeom prst="rect">
            <a:avLst/>
          </a:prstGeom>
          <a:noFill/>
          <a:ln/>
        </p:spPr>
        <p:txBody>
          <a:bodyPr wrap="square" lIns="0" tIns="0" rIns="0" bIns="0" rtlCol="0" anchor="t"/>
          <a:lstStyle/>
          <a:p>
            <a:pPr marL="0" indent="0">
              <a:buNone/>
            </a:pPr>
            <a:r>
              <a:rPr lang="en-US" sz="1650" b="1" dirty="0">
                <a:solidFill>
                  <a:srgbClr val="B45309"/>
                </a:solidFill>
              </a:rPr>
              <a:t>Conditional Access</a:t>
            </a:r>
            <a:endParaRPr lang="en-US" sz="1400" dirty="0"/>
          </a:p>
          <a:p>
            <a:pPr marL="0" indent="0">
              <a:buNone/>
            </a:pPr>
            <a:r>
              <a:rPr lang="en-US" sz="1450" dirty="0">
                <a:solidFill>
                  <a:schemeClr val="tx2"/>
                </a:solidFill>
              </a:rPr>
              <a:t>Entra ID's decision point: all applicable policies must be satisfied, block wins.</a:t>
            </a:r>
            <a:endParaRPr lang="en-US" sz="1400" dirty="0"/>
          </a:p>
        </p:txBody>
      </p:sp>
      <p:sp>
        <p:nvSpPr>
          <p:cNvPr id="14" name="Old box">
            <a:extLst>
              <a:ext uri="{C183D7F6-B498-43B3-948B-1728B52AA6E4}">
                <adec:decorative xmlns:adec="http://schemas.microsoft.com/office/drawing/2017/decorative" val="1"/>
              </a:ext>
            </a:extLst>
          </p:cNvPr>
          <p:cNvSpPr/>
          <p:nvPr/>
        </p:nvSpPr>
        <p:spPr>
          <a:xfrm>
            <a:off x="6629400" y="1417320"/>
            <a:ext cx="502920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DoorOpen">
            <a:extLst>
              <a:ext uri="{C183D7F6-B498-43B3-948B-1728B52AA6E4}">
                <adec:decorative xmlns:adec="http://schemas.microsoft.com/office/drawing/2017/decorative" val="1"/>
              </a:ext>
            </a:extLst>
          </p:cNvPr>
          <p:cNvSpPr/>
          <p:nvPr/>
        </p:nvSpPr>
        <p:spPr>
          <a:xfrm>
            <a:off x="6858000" y="1627632"/>
            <a:ext cx="685800" cy="685800"/>
          </a:xfrm>
          <a:prstGeom prst="ellipse">
            <a:avLst/>
          </a:prstGeom>
          <a:solidFill>
            <a:srgbClr val="B91C1C"/>
          </a:solidFill>
          <a:ln w="12700">
            <a:solidFill>
              <a:srgbClr val="B91C1C"/>
            </a:solidFill>
            <a:prstDash val="solid"/>
          </a:ln>
        </p:spPr>
      </p:sp>
      <p:pic>
        <p:nvPicPr>
          <p:cNvPr id="16"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022592" y="1792224"/>
            <a:ext cx="356616" cy="356616"/>
          </a:xfrm>
          <a:prstGeom prst="rect">
            <a:avLst/>
          </a:prstGeom>
        </p:spPr>
      </p:pic>
      <p:sp>
        <p:nvSpPr>
          <p:cNvPr id="17" name="Old head"/>
          <p:cNvSpPr txBox="1"/>
          <p:nvPr/>
        </p:nvSpPr>
        <p:spPr>
          <a:xfrm>
            <a:off x="7726680" y="1572768"/>
            <a:ext cx="3794760" cy="868680"/>
          </a:xfrm>
          <a:prstGeom prst="rect">
            <a:avLst/>
          </a:prstGeom>
          <a:noFill/>
          <a:ln/>
        </p:spPr>
        <p:txBody>
          <a:bodyPr wrap="square" lIns="0" tIns="0" rIns="0" bIns="0" rtlCol="0" anchor="ctr"/>
          <a:lstStyle/>
          <a:p>
            <a:pPr marL="0" indent="0">
              <a:buNone/>
            </a:pPr>
            <a:r>
              <a:rPr lang="en-US" sz="1200" b="1" dirty="0">
                <a:solidFill>
                  <a:srgbClr val="64748B"/>
                </a:solidFill>
              </a:rPr>
              <a:t>WHAT IT REPLACES</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Access decided once, trusted afterward</a:t>
            </a:r>
            <a:endParaRPr lang="en-US" sz="1400" dirty="0"/>
          </a:p>
        </p:txBody>
      </p:sp>
      <p:sp>
        <p:nvSpPr>
          <p:cNvPr id="18" name="Old list"/>
          <p:cNvSpPr txBox="1"/>
          <p:nvPr/>
        </p:nvSpPr>
        <p:spPr>
          <a:xfrm>
            <a:off x="6903720" y="2606040"/>
            <a:ext cx="4572000" cy="20116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2"/>
                </a:solidFill>
              </a:rPr>
              <a:t>Inside the network, therefore trusted</a:t>
            </a:r>
            <a:endParaRPr lang="en-US" sz="1400" dirty="0"/>
          </a:p>
          <a:p>
            <a:pPr marL="342900" indent="-342900">
              <a:spcAft>
                <a:spcPts val="700"/>
              </a:spcAft>
              <a:buSzPct val="100000"/>
              <a:buChar char="•"/>
            </a:pPr>
            <a:r>
              <a:rPr lang="en-US" sz="1500" dirty="0">
                <a:solidFill>
                  <a:schemeClr val="tx2"/>
                </a:solidFill>
              </a:rPr>
              <a:t>In the group, therefore allowed — forever</a:t>
            </a:r>
            <a:endParaRPr lang="en-US" sz="1400" dirty="0"/>
          </a:p>
          <a:p>
            <a:pPr marL="342900" indent="-342900">
              <a:spcAft>
                <a:spcPts val="700"/>
              </a:spcAft>
              <a:buSzPct val="100000"/>
              <a:buChar char="•"/>
            </a:pPr>
            <a:r>
              <a:rPr lang="en-US" sz="1500" dirty="0">
                <a:solidFill>
                  <a:schemeClr val="tx2"/>
                </a:solidFill>
              </a:rPr>
              <a:t>These survive a migration unless deliberately replaced by policy</a:t>
            </a:r>
            <a:endParaRPr lang="en-US" sz="1400" dirty="0"/>
          </a:p>
        </p:txBody>
      </p:sp>
      <p:sp>
        <p:nvSpPr>
          <p:cNvPr id="19" name="Exclusions">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TriangleExclamation">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1"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73345"/>
            <a:ext cx="380390" cy="380390"/>
          </a:xfrm>
          <a:prstGeom prst="rect">
            <a:avLst/>
          </a:prstGeom>
        </p:spPr>
      </p:pic>
      <p:sp>
        <p:nvSpPr>
          <p:cNvPr id="22" name="Exclusions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Every exclusion is a standing hole: </a:t>
            </a:r>
            <a:r>
              <a:rPr lang="en-US" sz="1650" dirty="0">
                <a:solidFill>
                  <a:schemeClr val="tx2"/>
                </a:solidFill>
              </a:rPr>
              <a:t>exclusions override every policy, so each one needs an owner and a review. And policy is only as good as the attributes it reads (Book 03).</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Microsoft Learn — Conditional Access overview and policy evaluation. Book 04,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A4D5FF8D-9D1B-6492-7F81-55B7C19928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3FF930-2A87-4455-BC13-FC81B10C0BEA}"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190"/>
    </mc:Choice>
    <mc:Fallback>
      <p:transition spd="slow" advTm="67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192"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Standing privilege is an open door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 0">
            <a:extLst>
              <a:ext uri="{C183D7F6-B498-43B3-948B-1728B52AA6E4}">
                <adec:decorative xmlns:adec="http://schemas.microsoft.com/office/drawing/2017/decorative" val="1"/>
              </a:ext>
            </a:extLst>
          </p:cNvPr>
          <p:cNvSpPr/>
          <p:nvPr/>
        </p:nvSpPr>
        <p:spPr>
          <a:xfrm>
            <a:off x="548640" y="1417320"/>
            <a:ext cx="370332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Col 0 head"/>
          <p:cNvSpPr txBox="1"/>
          <p:nvPr/>
        </p:nvSpPr>
        <p:spPr>
          <a:xfrm>
            <a:off x="777240" y="1554480"/>
            <a:ext cx="3291840" cy="502920"/>
          </a:xfrm>
          <a:prstGeom prst="rect">
            <a:avLst/>
          </a:prstGeom>
          <a:noFill/>
          <a:ln/>
        </p:spPr>
        <p:txBody>
          <a:bodyPr wrap="square" lIns="0" tIns="0" rIns="0" bIns="0" rtlCol="0" anchor="t"/>
          <a:lstStyle/>
          <a:p>
            <a:pPr marL="0" indent="0">
              <a:buNone/>
            </a:pPr>
            <a:r>
              <a:rPr lang="en-US" sz="2000" b="1" dirty="0">
                <a:solidFill>
                  <a:srgbClr val="B91C1C"/>
                </a:solidFill>
                <a:latin typeface="Cambria" pitchFamily="34" charset="0"/>
                <a:ea typeface="Cambria" pitchFamily="34" charset="-122"/>
                <a:cs typeface="Cambria" pitchFamily="34" charset="-120"/>
              </a:rPr>
              <a:t>Standing</a:t>
            </a:r>
            <a:endParaRPr lang="en-US" sz="2000" dirty="0"/>
          </a:p>
        </p:txBody>
      </p:sp>
      <p:sp>
        <p:nvSpPr>
          <p:cNvPr id="7" name="Col 0 text"/>
          <p:cNvSpPr txBox="1"/>
          <p:nvPr/>
        </p:nvSpPr>
        <p:spPr>
          <a:xfrm>
            <a:off x="777240" y="2194560"/>
            <a:ext cx="32918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Always on, at any hour</a:t>
            </a:r>
            <a:endParaRPr lang="en-US" sz="1400" dirty="0"/>
          </a:p>
          <a:p>
            <a:pPr marL="342900" indent="-342900">
              <a:spcAft>
                <a:spcPts val="800"/>
              </a:spcAft>
              <a:buSzPct val="100000"/>
              <a:buChar char="•"/>
            </a:pPr>
            <a:r>
              <a:rPr lang="en-US" sz="1500" dirty="0">
                <a:solidFill>
                  <a:schemeClr val="tx2"/>
                </a:solidFill>
              </a:rPr>
              <a:t>A stolen credential yields the full role</a:t>
            </a:r>
            <a:endParaRPr lang="en-US" sz="1400" dirty="0"/>
          </a:p>
          <a:p>
            <a:pPr marL="342900" indent="-342900">
              <a:spcAft>
                <a:spcPts val="800"/>
              </a:spcAft>
              <a:buSzPct val="100000"/>
              <a:buChar char="•"/>
            </a:pPr>
            <a:r>
              <a:rPr lang="en-US" sz="1500" dirty="0">
                <a:solidFill>
                  <a:schemeClr val="tx2"/>
                </a:solidFill>
              </a:rPr>
              <a:t>Stronger sign-in doesn't narrow scope</a:t>
            </a:r>
            <a:endParaRPr lang="en-US" sz="1400" dirty="0"/>
          </a:p>
        </p:txBody>
      </p:sp>
      <p:sp>
        <p:nvSpPr>
          <p:cNvPr id="8" name="Col 1">
            <a:extLst>
              <a:ext uri="{C183D7F6-B498-43B3-948B-1728B52AA6E4}">
                <adec:decorative xmlns:adec="http://schemas.microsoft.com/office/drawing/2017/decorative" val="1"/>
              </a:ext>
            </a:extLst>
          </p:cNvPr>
          <p:cNvSpPr/>
          <p:nvPr/>
        </p:nvSpPr>
        <p:spPr>
          <a:xfrm>
            <a:off x="4389120" y="1417320"/>
            <a:ext cx="37033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Col 1 head"/>
          <p:cNvSpPr txBox="1"/>
          <p:nvPr/>
        </p:nvSpPr>
        <p:spPr>
          <a:xfrm>
            <a:off x="4617720" y="1554480"/>
            <a:ext cx="3291840" cy="502920"/>
          </a:xfrm>
          <a:prstGeom prst="rect">
            <a:avLst/>
          </a:prstGeom>
          <a:noFill/>
          <a:ln/>
        </p:spPr>
        <p:txBody>
          <a:bodyPr wrap="square" lIns="0" tIns="0" rIns="0" bIns="0" rtlCol="0" anchor="t"/>
          <a:lstStyle/>
          <a:p>
            <a:pPr marL="0" indent="0">
              <a:buNone/>
            </a:pPr>
            <a:r>
              <a:rPr lang="en-US" sz="2000" b="1" dirty="0">
                <a:solidFill>
                  <a:srgbClr val="0F766E"/>
                </a:solidFill>
                <a:latin typeface="Cambria" pitchFamily="34" charset="0"/>
                <a:ea typeface="Cambria" pitchFamily="34" charset="-122"/>
                <a:cs typeface="Cambria" pitchFamily="34" charset="-120"/>
              </a:rPr>
              <a:t>Eligible, just in time</a:t>
            </a:r>
            <a:endParaRPr lang="en-US" sz="2000" dirty="0"/>
          </a:p>
        </p:txBody>
      </p:sp>
      <p:sp>
        <p:nvSpPr>
          <p:cNvPr id="10" name="Col 1 text"/>
          <p:cNvSpPr txBox="1"/>
          <p:nvPr/>
        </p:nvSpPr>
        <p:spPr>
          <a:xfrm>
            <a:off x="4617720" y="2194560"/>
            <a:ext cx="32918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Activated only when needed, for a set time</a:t>
            </a:r>
            <a:endParaRPr lang="en-US" sz="1400" dirty="0"/>
          </a:p>
          <a:p>
            <a:pPr marL="342900" indent="-342900">
              <a:spcAft>
                <a:spcPts val="800"/>
              </a:spcAft>
              <a:buSzPct val="100000"/>
              <a:buChar char="•"/>
            </a:pPr>
            <a:r>
              <a:rPr lang="en-US" sz="1500" dirty="0">
                <a:solidFill>
                  <a:schemeClr val="tx2"/>
                </a:solidFill>
              </a:rPr>
              <a:t>Approval by someone other than the requester</a:t>
            </a:r>
            <a:endParaRPr lang="en-US" sz="1400" dirty="0"/>
          </a:p>
          <a:p>
            <a:pPr marL="342900" indent="-342900">
              <a:spcAft>
                <a:spcPts val="800"/>
              </a:spcAft>
              <a:buSzPct val="100000"/>
              <a:buChar char="•"/>
            </a:pPr>
            <a:r>
              <a:rPr lang="en-US" sz="1500" dirty="0">
                <a:solidFill>
                  <a:schemeClr val="tx2"/>
                </a:solidFill>
              </a:rPr>
              <a:t>Fresh strong sign-in; every elevation logged</a:t>
            </a:r>
            <a:endParaRPr lang="en-US" sz="1400" dirty="0"/>
          </a:p>
        </p:txBody>
      </p:sp>
      <p:sp>
        <p:nvSpPr>
          <p:cNvPr id="11" name="BG box">
            <a:extLst>
              <a:ext uri="{C183D7F6-B498-43B3-948B-1728B52AA6E4}">
                <adec:decorative xmlns:adec="http://schemas.microsoft.com/office/drawing/2017/decorative" val="1"/>
              </a:ext>
            </a:extLst>
          </p:cNvPr>
          <p:cNvSpPr/>
          <p:nvPr/>
        </p:nvSpPr>
        <p:spPr>
          <a:xfrm>
            <a:off x="8229600" y="1417320"/>
            <a:ext cx="3429000" cy="3291840"/>
          </a:xfrm>
          <a:prstGeom prst="roundRect">
            <a:avLst>
              <a:gd name="adj" fmla="val 222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Key">
            <a:extLst>
              <a:ext uri="{C183D7F6-B498-43B3-948B-1728B52AA6E4}">
                <adec:decorative xmlns:adec="http://schemas.microsoft.com/office/drawing/2017/decorative" val="1"/>
              </a:ext>
            </a:extLst>
          </p:cNvPr>
          <p:cNvSpPr/>
          <p:nvPr/>
        </p:nvSpPr>
        <p:spPr>
          <a:xfrm>
            <a:off x="8458200" y="1572768"/>
            <a:ext cx="566928" cy="566928"/>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94263" y="1708831"/>
            <a:ext cx="294803" cy="294803"/>
          </a:xfrm>
          <a:prstGeom prst="rect">
            <a:avLst/>
          </a:prstGeom>
        </p:spPr>
      </p:pic>
      <p:sp>
        <p:nvSpPr>
          <p:cNvPr id="14" name="BG head"/>
          <p:cNvSpPr txBox="1"/>
          <p:nvPr/>
        </p:nvSpPr>
        <p:spPr>
          <a:xfrm>
            <a:off x="9144000" y="1572768"/>
            <a:ext cx="246888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one exception</a:t>
            </a:r>
            <a:endParaRPr lang="en-US" sz="1700" dirty="0"/>
          </a:p>
        </p:txBody>
      </p:sp>
      <p:sp>
        <p:nvSpPr>
          <p:cNvPr id="15" name="BG text"/>
          <p:cNvSpPr txBox="1"/>
          <p:nvPr/>
        </p:nvSpPr>
        <p:spPr>
          <a:xfrm>
            <a:off x="8458200" y="2286000"/>
            <a:ext cx="3017520" cy="2331720"/>
          </a:xfrm>
          <a:prstGeom prst="rect">
            <a:avLst/>
          </a:prstGeom>
          <a:noFill/>
          <a:ln/>
        </p:spPr>
        <p:txBody>
          <a:bodyPr wrap="square" lIns="0" tIns="0" rIns="0" bIns="0" rtlCol="0" anchor="t"/>
          <a:lstStyle/>
          <a:p>
            <a:pPr marL="0" indent="0">
              <a:buNone/>
            </a:pPr>
            <a:r>
              <a:rPr lang="en-US" sz="1400" dirty="0">
                <a:solidFill>
                  <a:schemeClr val="tx2"/>
                </a:solidFill>
              </a:rPr>
              <a:t>Two break-glass accounts stay permanently active — safe only when phishing-resistant, monitored, tested every 90 days, and documented as a deviation in the security plan.</a:t>
            </a:r>
            <a:endParaRPr lang="en-US" sz="1400" dirty="0"/>
          </a:p>
        </p:txBody>
      </p:sp>
      <p:sp>
        <p:nvSpPr>
          <p:cNvPr id="16" name="Evidenc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ShieldHalve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19" name="Evidenc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Why it matters to assessors: </a:t>
            </a:r>
            <a:r>
              <a:rPr lang="en-US" sz="1650" dirty="0">
                <a:solidFill>
                  <a:schemeClr val="tx2"/>
                </a:solidFill>
              </a:rPr>
              <a:t>NSA and CISA rank poor separation of user and administrator privilege among the most common misconfigurations; NIST AC-6 requires least privilege, reviews and logged privileged functions.</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NSA/CISA AA23-278A; NIST SP 800-53 AC-6; CISA ZTMM; Microsoft Learn — emergency access accounts. Book 04,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6B89FE61-4E13-AC56-E7A8-0A65EE084E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C5309E9-8E66-453A-88C2-B708347F2C5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180"/>
    </mc:Choice>
    <mc:Fallback>
      <p:transition spd="slow" advTm="65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17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Conditional Access evaluates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ep 0">
            <a:extLst>
              <a:ext uri="{C183D7F6-B498-43B3-948B-1728B52AA6E4}">
                <adec:decorative xmlns:adec="http://schemas.microsoft.com/office/drawing/2017/decorative" val="1"/>
              </a:ext>
            </a:extLst>
          </p:cNvPr>
          <p:cNvSpPr/>
          <p:nvPr/>
        </p:nvSpPr>
        <p:spPr>
          <a:xfrm>
            <a:off x="548640" y="1463040"/>
            <a:ext cx="2606040"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tep 0 text"/>
          <p:cNvSpPr txBox="1"/>
          <p:nvPr/>
        </p:nvSpPr>
        <p:spPr>
          <a:xfrm>
            <a:off x="731520" y="1600200"/>
            <a:ext cx="2240280" cy="1691640"/>
          </a:xfrm>
          <a:prstGeom prst="rect">
            <a:avLst/>
          </a:prstGeom>
          <a:noFill/>
          <a:ln/>
        </p:spPr>
        <p:txBody>
          <a:bodyPr wrap="square" lIns="0" tIns="0" rIns="0" bIns="0" rtlCol="0" anchor="t"/>
          <a:lstStyle/>
          <a:p>
            <a:pPr marL="0" indent="0">
              <a:spcAft>
                <a:spcPts val="400"/>
              </a:spcAft>
              <a:buNone/>
            </a:pPr>
            <a:r>
              <a:rPr lang="en-US" sz="1800" b="1" dirty="0">
                <a:solidFill>
                  <a:srgbClr val="1F2A44"/>
                </a:solidFill>
                <a:latin typeface="Cambria" pitchFamily="34" charset="0"/>
                <a:ea typeface="Cambria" pitchFamily="34" charset="-122"/>
                <a:cs typeface="Cambria" pitchFamily="34" charset="-120"/>
              </a:rPr>
              <a:t>Signals</a:t>
            </a:r>
            <a:endParaRPr lang="en-US" sz="1400" dirty="0"/>
          </a:p>
          <a:p>
            <a:pPr marL="0" indent="0">
              <a:spcAft>
                <a:spcPts val="400"/>
              </a:spcAft>
              <a:buNone/>
            </a:pPr>
            <a:r>
              <a:rPr lang="en-US" sz="1400" dirty="0">
                <a:solidFill>
                  <a:schemeClr val="tx2"/>
                </a:solidFill>
              </a:rPr>
              <a:t>User, groups and roles; device; app; location; sign-in and user risk</a:t>
            </a:r>
            <a:endParaRPr lang="en-US" sz="1400" dirty="0"/>
          </a:p>
        </p:txBody>
      </p:sp>
      <p:sp>
        <p:nvSpPr>
          <p:cNvPr id="7" name="Step 1">
            <a:extLst>
              <a:ext uri="{C183D7F6-B498-43B3-948B-1728B52AA6E4}">
                <adec:decorative xmlns:adec="http://schemas.microsoft.com/office/drawing/2017/decorative" val="1"/>
              </a:ext>
            </a:extLst>
          </p:cNvPr>
          <p:cNvSpPr/>
          <p:nvPr/>
        </p:nvSpPr>
        <p:spPr>
          <a:xfrm>
            <a:off x="3346704" y="1463040"/>
            <a:ext cx="2606040"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Step 1 text"/>
          <p:cNvSpPr txBox="1"/>
          <p:nvPr/>
        </p:nvSpPr>
        <p:spPr>
          <a:xfrm>
            <a:off x="3529584" y="1600200"/>
            <a:ext cx="2240280" cy="1691640"/>
          </a:xfrm>
          <a:prstGeom prst="rect">
            <a:avLst/>
          </a:prstGeom>
          <a:noFill/>
          <a:ln/>
        </p:spPr>
        <p:txBody>
          <a:bodyPr wrap="square" lIns="0" tIns="0" rIns="0" bIns="0" rtlCol="0" anchor="t"/>
          <a:lstStyle/>
          <a:p>
            <a:pPr marL="0" indent="0">
              <a:spcAft>
                <a:spcPts val="400"/>
              </a:spcAft>
              <a:buNone/>
            </a:pPr>
            <a:r>
              <a:rPr lang="en-US" sz="1800" b="1" dirty="0">
                <a:solidFill>
                  <a:srgbClr val="0F766E"/>
                </a:solidFill>
                <a:latin typeface="Cambria" pitchFamily="34" charset="0"/>
                <a:ea typeface="Cambria" pitchFamily="34" charset="-122"/>
                <a:cs typeface="Cambria" pitchFamily="34" charset="-120"/>
              </a:rPr>
              <a:t>Conditions</a:t>
            </a:r>
            <a:endParaRPr lang="en-US" sz="1400" dirty="0"/>
          </a:p>
          <a:p>
            <a:pPr marL="0" indent="0">
              <a:spcAft>
                <a:spcPts val="400"/>
              </a:spcAft>
              <a:buNone/>
            </a:pPr>
            <a:r>
              <a:rPr lang="en-US" sz="1400" dirty="0">
                <a:solidFill>
                  <a:schemeClr val="tx2"/>
                </a:solidFill>
              </a:rPr>
              <a:t>Which policies apply to this request</a:t>
            </a:r>
            <a:endParaRPr lang="en-US" sz="1400" dirty="0"/>
          </a:p>
        </p:txBody>
      </p:sp>
      <p:sp>
        <p:nvSpPr>
          <p:cNvPr id="9" name="Step 2">
            <a:extLst>
              <a:ext uri="{C183D7F6-B498-43B3-948B-1728B52AA6E4}">
                <adec:decorative xmlns:adec="http://schemas.microsoft.com/office/drawing/2017/decorative" val="1"/>
              </a:ext>
            </a:extLst>
          </p:cNvPr>
          <p:cNvSpPr/>
          <p:nvPr/>
        </p:nvSpPr>
        <p:spPr>
          <a:xfrm>
            <a:off x="6144768" y="1463040"/>
            <a:ext cx="2606040"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ep 2 text"/>
          <p:cNvSpPr txBox="1"/>
          <p:nvPr/>
        </p:nvSpPr>
        <p:spPr>
          <a:xfrm>
            <a:off x="6327648" y="1600200"/>
            <a:ext cx="2240280" cy="1691640"/>
          </a:xfrm>
          <a:prstGeom prst="rect">
            <a:avLst/>
          </a:prstGeom>
          <a:noFill/>
          <a:ln/>
        </p:spPr>
        <p:txBody>
          <a:bodyPr wrap="square" lIns="0" tIns="0" rIns="0" bIns="0" rtlCol="0" anchor="t"/>
          <a:lstStyle/>
          <a:p>
            <a:pPr marL="0" indent="0">
              <a:spcAft>
                <a:spcPts val="400"/>
              </a:spcAft>
              <a:buNone/>
            </a:pPr>
            <a:r>
              <a:rPr lang="en-US" sz="1800" b="1" dirty="0">
                <a:solidFill>
                  <a:srgbClr val="1F2A44"/>
                </a:solidFill>
                <a:latin typeface="Cambria" pitchFamily="34" charset="0"/>
                <a:ea typeface="Cambria" pitchFamily="34" charset="-122"/>
                <a:cs typeface="Cambria" pitchFamily="34" charset="-120"/>
              </a:rPr>
              <a:t>Controls</a:t>
            </a:r>
            <a:endParaRPr lang="en-US" sz="1400" dirty="0"/>
          </a:p>
          <a:p>
            <a:pPr marL="0" indent="0">
              <a:spcAft>
                <a:spcPts val="400"/>
              </a:spcAft>
              <a:buNone/>
            </a:pPr>
            <a:r>
              <a:rPr lang="en-US" sz="1400" dirty="0">
                <a:solidFill>
                  <a:schemeClr val="tx2"/>
                </a:solidFill>
              </a:rPr>
              <a:t>Block, or grant with MFA, authentication strength, compliant device, app protection, terms</a:t>
            </a:r>
            <a:endParaRPr lang="en-US" sz="1400" dirty="0"/>
          </a:p>
        </p:txBody>
      </p:sp>
      <p:sp>
        <p:nvSpPr>
          <p:cNvPr id="11" name="Step 3">
            <a:extLst>
              <a:ext uri="{C183D7F6-B498-43B3-948B-1728B52AA6E4}">
                <adec:decorative xmlns:adec="http://schemas.microsoft.com/office/drawing/2017/decorative" val="1"/>
              </a:ext>
            </a:extLst>
          </p:cNvPr>
          <p:cNvSpPr/>
          <p:nvPr/>
        </p:nvSpPr>
        <p:spPr>
          <a:xfrm>
            <a:off x="8942832" y="1463040"/>
            <a:ext cx="2606040"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Step 3 text"/>
          <p:cNvSpPr txBox="1"/>
          <p:nvPr/>
        </p:nvSpPr>
        <p:spPr>
          <a:xfrm>
            <a:off x="9125712" y="1600200"/>
            <a:ext cx="2240280" cy="1691640"/>
          </a:xfrm>
          <a:prstGeom prst="rect">
            <a:avLst/>
          </a:prstGeom>
          <a:noFill/>
          <a:ln/>
        </p:spPr>
        <p:txBody>
          <a:bodyPr wrap="square" lIns="0" tIns="0" rIns="0" bIns="0" rtlCol="0" anchor="t"/>
          <a:lstStyle/>
          <a:p>
            <a:pPr marL="0" indent="0">
              <a:spcAft>
                <a:spcPts val="400"/>
              </a:spcAft>
              <a:buNone/>
            </a:pPr>
            <a:r>
              <a:rPr lang="en-US" sz="1800" b="1" dirty="0">
                <a:solidFill>
                  <a:srgbClr val="0F766E"/>
                </a:solidFill>
                <a:latin typeface="Cambria" pitchFamily="34" charset="0"/>
                <a:ea typeface="Cambria" pitchFamily="34" charset="-122"/>
                <a:cs typeface="Cambria" pitchFamily="34" charset="-120"/>
              </a:rPr>
              <a:t>Session</a:t>
            </a:r>
            <a:endParaRPr lang="en-US" sz="1400" dirty="0"/>
          </a:p>
          <a:p>
            <a:pPr marL="0" indent="0">
              <a:spcAft>
                <a:spcPts val="400"/>
              </a:spcAft>
              <a:buNone/>
            </a:pPr>
            <a:r>
              <a:rPr lang="en-US" sz="1400" dirty="0">
                <a:solidFill>
                  <a:schemeClr val="tx2"/>
                </a:solidFill>
              </a:rPr>
              <a:t>Sign-in frequency, persistent browser, app-enforced limits</a:t>
            </a:r>
            <a:endParaRPr lang="en-US" sz="1400" dirty="0"/>
          </a:p>
        </p:txBody>
      </p:sp>
      <p:sp>
        <p:nvSpPr>
          <p:cNvPr id="13" name="Rules"/>
          <p:cNvSpPr txBox="1"/>
          <p:nvPr/>
        </p:nvSpPr>
        <p:spPr>
          <a:xfrm>
            <a:off x="548640" y="3566160"/>
            <a:ext cx="11109960" cy="11887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Report-only first: every policy shows its impact before it enforces</a:t>
            </a:r>
            <a:endParaRPr lang="en-US" sz="1400" dirty="0"/>
          </a:p>
          <a:p>
            <a:pPr marL="342900" indent="-342900">
              <a:spcAft>
                <a:spcPts val="500"/>
              </a:spcAft>
              <a:buSzPct val="100000"/>
              <a:buChar char="•"/>
            </a:pPr>
            <a:r>
              <a:rPr lang="en-US" sz="1500" dirty="0">
                <a:solidFill>
                  <a:schemeClr val="tx2"/>
                </a:solidFill>
              </a:rPr>
              <a:t>Personas, not individuals: admins, internals, guests, workload identities</a:t>
            </a:r>
            <a:endParaRPr lang="en-US" sz="1400" dirty="0"/>
          </a:p>
          <a:p>
            <a:pPr marL="342900" indent="-342900">
              <a:spcAft>
                <a:spcPts val="500"/>
              </a:spcAft>
              <a:buSzPct val="100000"/>
              <a:buChar char="•"/>
            </a:pPr>
            <a:r>
              <a:rPr lang="en-US" sz="1500" dirty="0">
                <a:solidFill>
                  <a:schemeClr val="tx2"/>
                </a:solidFill>
              </a:rPr>
              <a:t>Deleted policies stay recoverable for 30 days; a tenant holds up to 240 policies</a:t>
            </a:r>
            <a:endParaRPr lang="en-US" sz="1400" dirty="0"/>
          </a:p>
        </p:txBody>
      </p:sp>
      <p:sp>
        <p:nvSpPr>
          <p:cNvPr id="14" name="Changed">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ArrowsRotate">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7" name="Changed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45309"/>
                </a:solidFill>
              </a:rPr>
              <a:t>Recent platform change: </a:t>
            </a:r>
            <a:r>
              <a:rPr lang="en-US" sz="1650" dirty="0">
                <a:solidFill>
                  <a:schemeClr val="tx2"/>
                </a:solidFill>
              </a:rPr>
              <a:t>the "approved client app" grant became read-only on June 30, 2026 — mobile access now relies on app protection policies.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policy components, report-only mode, service limits. Book 04,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EACD625D-8FC6-BF63-5DFF-BD0C25883E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923868-DD21-4E99-83C8-B73E87D6350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040"/>
    </mc:Choice>
    <mc:Fallback>
      <p:transition spd="slow" advTm="69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04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Privilege and applications, structured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l 0">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hield">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Privileged roles</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2"/>
                </a:solidFill>
              </a:rPr>
              <a:t>Least-privileged built-in roles, by task</a:t>
            </a:r>
            <a:endParaRPr lang="en-US" sz="1400" dirty="0"/>
          </a:p>
          <a:p>
            <a:pPr marL="342900" indent="-342900">
              <a:spcAft>
                <a:spcPts val="700"/>
              </a:spcAft>
              <a:buSzPct val="100000"/>
              <a:buChar char="•"/>
            </a:pPr>
            <a:r>
              <a:rPr lang="en-US" sz="1500" dirty="0">
                <a:solidFill>
                  <a:schemeClr val="tx2"/>
                </a:solidFill>
              </a:rPr>
              <a:t>Fewer than 5 Global Administrators</a:t>
            </a:r>
            <a:endParaRPr lang="en-US" sz="1400" dirty="0"/>
          </a:p>
          <a:p>
            <a:pPr marL="342900" indent="-342900">
              <a:spcAft>
                <a:spcPts val="700"/>
              </a:spcAft>
              <a:buSzPct val="100000"/>
              <a:buChar char="•"/>
            </a:pPr>
            <a:r>
              <a:rPr lang="en-US" sz="1500" dirty="0">
                <a:solidFill>
                  <a:schemeClr val="tx2"/>
                </a:solidFill>
              </a:rPr>
              <a:t>Role-assignable groups: assigned membership only, 500 per tenant</a:t>
            </a:r>
            <a:endParaRPr lang="en-US" sz="1400" dirty="0"/>
          </a:p>
          <a:p>
            <a:pPr marL="342900" indent="-342900">
              <a:spcAft>
                <a:spcPts val="700"/>
              </a:spcAft>
              <a:buSzPct val="100000"/>
              <a:buChar char="•"/>
            </a:pPr>
            <a:r>
              <a:rPr lang="en-US" sz="1500" dirty="0">
                <a:solidFill>
                  <a:schemeClr val="tx2"/>
                </a:solidFill>
              </a:rPr>
              <a:t>Tiers follow the enterprise access model</a:t>
            </a:r>
            <a:endParaRPr lang="en-US" sz="1400" dirty="0"/>
          </a:p>
        </p:txBody>
      </p:sp>
      <p:sp>
        <p:nvSpPr>
          <p:cNvPr id="10" name="Col 1">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ubes">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Applications</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2"/>
                </a:solidFill>
              </a:rPr>
              <a:t>App owners hold admin rights over their app — keep them few</a:t>
            </a:r>
            <a:endParaRPr lang="en-US" sz="1400" dirty="0"/>
          </a:p>
          <a:p>
            <a:pPr marL="342900" indent="-342900">
              <a:spcAft>
                <a:spcPts val="700"/>
              </a:spcAft>
              <a:buSzPct val="100000"/>
              <a:buChar char="•"/>
            </a:pPr>
            <a:r>
              <a:rPr lang="en-US" sz="1500" dirty="0">
                <a:solidFill>
                  <a:schemeClr val="tx2"/>
                </a:solidFill>
              </a:rPr>
              <a:t>Admin consent through a governed workflow</a:t>
            </a:r>
            <a:endParaRPr lang="en-US" sz="1400" dirty="0"/>
          </a:p>
          <a:p>
            <a:pPr marL="342900" indent="-342900">
              <a:spcAft>
                <a:spcPts val="700"/>
              </a:spcAft>
              <a:buSzPct val="100000"/>
              <a:buChar char="•"/>
            </a:pPr>
            <a:r>
              <a:rPr lang="en-US" sz="1500" dirty="0">
                <a:solidFill>
                  <a:schemeClr val="tx2"/>
                </a:solidFill>
              </a:rPr>
              <a:t>Certificates or federated credentials, not secrets</a:t>
            </a:r>
            <a:endParaRPr lang="en-US" sz="1400" dirty="0"/>
          </a:p>
          <a:p>
            <a:pPr marL="342900" indent="-342900">
              <a:spcAft>
                <a:spcPts val="700"/>
              </a:spcAft>
              <a:buSzPct val="100000"/>
              <a:buChar char="•"/>
            </a:pPr>
            <a:r>
              <a:rPr lang="en-US" sz="1500" dirty="0">
                <a:solidFill>
                  <a:schemeClr val="tx2"/>
                </a:solidFill>
              </a:rPr>
              <a:t>Managed identities for Azure workloads</a:t>
            </a:r>
            <a:endParaRPr lang="en-US" sz="1400" dirty="0"/>
          </a:p>
        </p:txBody>
      </p:sp>
      <p:sp>
        <p:nvSpPr>
          <p:cNvPr id="15" name="Grants">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50485"/>
            <a:ext cx="380390" cy="380390"/>
          </a:xfrm>
          <a:prstGeom prst="rect">
            <a:avLst/>
          </a:prstGeom>
        </p:spPr>
      </p:pic>
      <p:sp>
        <p:nvSpPr>
          <p:cNvPr id="18" name="Grants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What people get wrong: </a:t>
            </a:r>
            <a:r>
              <a:rPr lang="en-US" sz="1650" dirty="0">
                <a:solidFill>
                  <a:schemeClr val="tx2"/>
                </a:solidFill>
              </a:rPr>
              <a:t>consent grants never expire, and revoking one leaves issued tokens valid — so application access needs the same review discipline as people.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privileged roles and permissions, role-assignable groups, enterprise access model, consent, app ownership. Book 04, Chapters 04–05.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EB16083A-B9A2-1A67-09F5-5F4F66E7CB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D4B7C87-1B1B-4300-A2F2-28845576B5D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500"/>
    </mc:Choice>
    <mc:Fallback>
      <p:transition spd="slow" advTm="58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50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access, and who executes it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Business and app owners</a:t>
            </a:r>
            <a:endParaRPr lang="en-US" sz="1450" dirty="0"/>
          </a:p>
          <a:p>
            <a:pPr marL="0" indent="0">
              <a:spcAft>
                <a:spcPts val="600"/>
              </a:spcAft>
              <a:buNone/>
            </a:pPr>
            <a:r>
              <a:rPr lang="en-US" sz="1450" dirty="0">
                <a:solidFill>
                  <a:schemeClr val="tx2"/>
                </a:solidFill>
              </a:rPr>
              <a:t>Who should have access, and why</a:t>
            </a:r>
            <a:endParaRPr lang="en-US" sz="1450" dirty="0"/>
          </a:p>
          <a:p>
            <a:pPr marL="0" indent="0">
              <a:spcAft>
                <a:spcPts val="600"/>
              </a:spcAft>
              <a:buNone/>
            </a:pPr>
            <a:r>
              <a:rPr lang="en-US" sz="1450" b="1" dirty="0">
                <a:solidFill>
                  <a:srgbClr val="1F2A44"/>
                </a:solidFill>
              </a:rPr>
              <a:t>CISO</a:t>
            </a:r>
            <a:endParaRPr lang="en-US" sz="1450" dirty="0"/>
          </a:p>
          <a:p>
            <a:pPr marL="0" indent="0">
              <a:spcAft>
                <a:spcPts val="600"/>
              </a:spcAft>
              <a:buNone/>
            </a:pPr>
            <a:r>
              <a:rPr lang="en-US" sz="1450" dirty="0">
                <a:solidFill>
                  <a:schemeClr val="tx2"/>
                </a:solidFill>
              </a:rPr>
              <a:t>The policy baseline and exceptions</a:t>
            </a:r>
            <a:endParaRPr lang="en-US" sz="1450" dirty="0"/>
          </a:p>
          <a:p>
            <a:pPr marL="0" indent="0">
              <a:spcAft>
                <a:spcPts val="600"/>
              </a:spcAft>
              <a:buNone/>
            </a:pPr>
            <a:r>
              <a:rPr lang="en-US" sz="1450" b="1" dirty="0">
                <a:solidFill>
                  <a:srgbClr val="1F2A44"/>
                </a:solidFill>
              </a:rPr>
              <a:t>Identity governance office</a:t>
            </a:r>
            <a:endParaRPr lang="en-US" sz="1450" dirty="0"/>
          </a:p>
          <a:p>
            <a:pPr marL="0" indent="0">
              <a:spcAft>
                <a:spcPts val="600"/>
              </a:spcAft>
              <a:buNone/>
            </a:pPr>
            <a:r>
              <a:rPr lang="en-US" sz="1450" dirty="0">
                <a:solidFill>
                  <a:schemeClr val="tx2"/>
                </a:solidFill>
              </a:rPr>
              <a:t>Approval chains and reviews</a:t>
            </a:r>
            <a:endParaRPr lang="en-US" sz="1450" dirty="0"/>
          </a:p>
        </p:txBody>
      </p:sp>
      <p:sp>
        <p:nvSpPr>
          <p:cNvPr id="10" name="Who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Execute</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Identity engineering</a:t>
            </a:r>
            <a:endParaRPr lang="en-US" sz="1450" dirty="0"/>
          </a:p>
          <a:p>
            <a:pPr marL="0" indent="0">
              <a:spcAft>
                <a:spcPts val="600"/>
              </a:spcAft>
              <a:buNone/>
            </a:pPr>
            <a:r>
              <a:rPr lang="en-US" sz="1450" dirty="0">
                <a:solidFill>
                  <a:schemeClr val="tx2"/>
                </a:solidFill>
              </a:rPr>
              <a:t>Policies, PIM, consent, packages</a:t>
            </a:r>
            <a:endParaRPr lang="en-US" sz="1450" dirty="0"/>
          </a:p>
          <a:p>
            <a:pPr marL="0" indent="0">
              <a:spcAft>
                <a:spcPts val="600"/>
              </a:spcAft>
              <a:buNone/>
            </a:pPr>
            <a:r>
              <a:rPr lang="en-US" sz="1450" b="1" dirty="0">
                <a:solidFill>
                  <a:srgbClr val="0F766E"/>
                </a:solidFill>
              </a:rPr>
              <a:t>Help desk</a:t>
            </a:r>
            <a:endParaRPr lang="en-US" sz="1450" dirty="0"/>
          </a:p>
          <a:p>
            <a:pPr marL="0" indent="0">
              <a:spcAft>
                <a:spcPts val="600"/>
              </a:spcAft>
              <a:buNone/>
            </a:pPr>
            <a:r>
              <a:rPr lang="en-US" sz="1450" dirty="0">
                <a:solidFill>
                  <a:schemeClr val="tx2"/>
                </a:solidFill>
              </a:rPr>
              <a:t>Assignments, under a scoped role</a:t>
            </a:r>
            <a:endParaRPr lang="en-US" sz="1450" dirty="0"/>
          </a:p>
          <a:p>
            <a:pPr marL="0" indent="0">
              <a:spcAft>
                <a:spcPts val="600"/>
              </a:spcAft>
              <a:buNone/>
            </a:pPr>
            <a:r>
              <a:rPr lang="en-US" sz="1450" b="1" dirty="0">
                <a:solidFill>
                  <a:srgbClr val="0F766E"/>
                </a:solidFill>
              </a:rPr>
              <a:t>Security operations</a:t>
            </a:r>
            <a:endParaRPr lang="en-US" sz="1450" dirty="0"/>
          </a:p>
          <a:p>
            <a:pPr marL="0" indent="0">
              <a:spcAft>
                <a:spcPts val="600"/>
              </a:spcAft>
              <a:buNone/>
            </a:pPr>
            <a:r>
              <a:rPr lang="en-US" sz="1450" dirty="0">
                <a:solidFill>
                  <a:schemeClr val="tx2"/>
                </a:solidFill>
              </a:rPr>
              <a:t>Alerts, risky sign-ins, response</a:t>
            </a:r>
            <a:endParaRPr lang="en-US" sz="1450" dirty="0"/>
          </a:p>
        </p:txBody>
      </p:sp>
      <p:sp>
        <p:nvSpPr>
          <p:cNvPr id="15" name="Who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hieldHalved">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Assure</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ISSO</a:t>
            </a:r>
            <a:endParaRPr lang="en-US" sz="1450" dirty="0"/>
          </a:p>
          <a:p>
            <a:pPr marL="0" indent="0">
              <a:spcAft>
                <a:spcPts val="600"/>
              </a:spcAft>
              <a:buNone/>
            </a:pPr>
            <a:r>
              <a:rPr lang="en-US" sz="1450" dirty="0">
                <a:solidFill>
                  <a:schemeClr val="tx2"/>
                </a:solidFill>
              </a:rPr>
              <a:t>Evidence and findings</a:t>
            </a:r>
            <a:endParaRPr lang="en-US" sz="1450" dirty="0"/>
          </a:p>
          <a:p>
            <a:pPr marL="0" indent="0">
              <a:spcAft>
                <a:spcPts val="600"/>
              </a:spcAft>
              <a:buNone/>
            </a:pPr>
            <a:r>
              <a:rPr lang="en-US" sz="1450" b="1" dirty="0">
                <a:solidFill>
                  <a:srgbClr val="B45309"/>
                </a:solidFill>
              </a:rPr>
              <a:t>Authorizing official</a:t>
            </a:r>
            <a:endParaRPr lang="en-US" sz="1450" dirty="0"/>
          </a:p>
          <a:p>
            <a:pPr marL="0" indent="0">
              <a:spcAft>
                <a:spcPts val="600"/>
              </a:spcAft>
              <a:buNone/>
            </a:pPr>
            <a:r>
              <a:rPr lang="en-US" sz="1450" dirty="0">
                <a:solidFill>
                  <a:schemeClr val="tx2"/>
                </a:solidFill>
              </a:rPr>
              <a:t>Accepted risk</a:t>
            </a:r>
            <a:endParaRPr lang="en-US" sz="1450" dirty="0"/>
          </a:p>
          <a:p>
            <a:pPr marL="0" indent="0">
              <a:spcAft>
                <a:spcPts val="600"/>
              </a:spcAft>
              <a:buNone/>
            </a:pPr>
            <a:r>
              <a:rPr lang="en-US" sz="1450" b="1" dirty="0">
                <a:solidFill>
                  <a:srgbClr val="B45309"/>
                </a:solidFill>
              </a:rPr>
              <a:t>Reviewers</a:t>
            </a:r>
            <a:endParaRPr lang="en-US" sz="1450" dirty="0"/>
          </a:p>
          <a:p>
            <a:pPr marL="0" indent="0">
              <a:spcAft>
                <a:spcPts val="600"/>
              </a:spcAft>
              <a:buNone/>
            </a:pPr>
            <a:r>
              <a:rPr lang="en-US" sz="1450" dirty="0">
                <a:solidFill>
                  <a:schemeClr val="tx2"/>
                </a:solidFill>
              </a:rPr>
              <a:t>Recertify access on schedule</a:t>
            </a:r>
            <a:endParaRPr lang="en-US" sz="1450" dirty="0"/>
          </a:p>
        </p:txBody>
      </p:sp>
      <p:sp>
        <p:nvSpPr>
          <p:cNvPr id="20" name="Spli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PeopleArrows">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Spli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rule: </a:t>
            </a:r>
            <a:r>
              <a:rPr lang="en-US" sz="1650" dirty="0">
                <a:solidFill>
                  <a:schemeClr val="tx2"/>
                </a:solidFill>
              </a:rPr>
              <a:t>the people who execute access changes never approve them. The help desk works under a custom role that manages assignments only; consent and roles stay with identity engineering.</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Program design; Microsoft Learn — Entra roles and custom roles. Book 04,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3A1E7BD8-4337-EF36-7E96-2E69FCD7C1D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CA3012-7339-490C-8A65-A68B5C13102D}"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340"/>
    </mc:Choice>
    <mc:Fallback>
      <p:transition spd="slow" advTm="64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33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policy library, rolled out in waves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Wave 0">
            <a:extLst>
              <a:ext uri="{C183D7F6-B498-43B3-948B-1728B52AA6E4}">
                <adec:decorative xmlns:adec="http://schemas.microsoft.com/office/drawing/2017/decorative" val="1"/>
              </a:ext>
            </a:extLst>
          </p:cNvPr>
          <p:cNvSpPr/>
          <p:nvPr/>
        </p:nvSpPr>
        <p:spPr>
          <a:xfrm>
            <a:off x="548640" y="1463040"/>
            <a:ext cx="2103120"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Wave 0 text"/>
          <p:cNvSpPr txBox="1"/>
          <p:nvPr/>
        </p:nvSpPr>
        <p:spPr>
          <a:xfrm>
            <a:off x="685800" y="1572768"/>
            <a:ext cx="1828800" cy="1783080"/>
          </a:xfrm>
          <a:prstGeom prst="rect">
            <a:avLst/>
          </a:prstGeom>
          <a:noFill/>
          <a:ln/>
        </p:spPr>
        <p:txBody>
          <a:bodyPr wrap="square" lIns="0" tIns="0" rIns="0" bIns="0" rtlCol="0" anchor="t"/>
          <a:lstStyle/>
          <a:p>
            <a:pPr marL="0" indent="0">
              <a:spcAft>
                <a:spcPts val="300"/>
              </a:spcAft>
              <a:buNone/>
            </a:pPr>
            <a:r>
              <a:rPr lang="en-US" sz="1300" b="1" dirty="0">
                <a:solidFill>
                  <a:srgbClr val="64748B"/>
                </a:solidFill>
              </a:rPr>
              <a:t>Wave 1</a:t>
            </a:r>
            <a:endParaRPr lang="en-US" sz="1400" dirty="0"/>
          </a:p>
          <a:p>
            <a:pPr marL="0" indent="0">
              <a:spcAft>
                <a:spcPts val="300"/>
              </a:spcAft>
              <a:buNone/>
            </a:pPr>
            <a:r>
              <a:rPr lang="en-US" sz="1800" b="1" dirty="0">
                <a:solidFill>
                  <a:srgbClr val="1F2A44"/>
                </a:solidFill>
                <a:latin typeface="Cambria" pitchFamily="34" charset="0"/>
                <a:ea typeface="Cambria" pitchFamily="34" charset="-122"/>
                <a:cs typeface="Cambria" pitchFamily="34" charset="-120"/>
              </a:rPr>
              <a:t>Foundation</a:t>
            </a:r>
            <a:endParaRPr lang="en-US" sz="1400" dirty="0"/>
          </a:p>
          <a:p>
            <a:pPr marL="0" indent="0">
              <a:spcAft>
                <a:spcPts val="300"/>
              </a:spcAft>
              <a:buNone/>
            </a:pPr>
            <a:r>
              <a:rPr lang="en-US" sz="1350" dirty="0">
                <a:solidFill>
                  <a:schemeClr val="tx2"/>
                </a:solidFill>
              </a:rPr>
              <a:t>Block legacy authentication; baselines</a:t>
            </a:r>
            <a:endParaRPr lang="en-US" sz="1400" dirty="0"/>
          </a:p>
        </p:txBody>
      </p:sp>
      <p:sp>
        <p:nvSpPr>
          <p:cNvPr id="7" name="Wave 1">
            <a:extLst>
              <a:ext uri="{C183D7F6-B498-43B3-948B-1728B52AA6E4}">
                <adec:decorative xmlns:adec="http://schemas.microsoft.com/office/drawing/2017/decorative" val="1"/>
              </a:ext>
            </a:extLst>
          </p:cNvPr>
          <p:cNvSpPr/>
          <p:nvPr/>
        </p:nvSpPr>
        <p:spPr>
          <a:xfrm>
            <a:off x="2798064" y="1463040"/>
            <a:ext cx="2103120" cy="1965960"/>
          </a:xfrm>
          <a:prstGeom prst="roundRect">
            <a:avLst>
              <a:gd name="adj" fmla="val 37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Wave 1 text"/>
          <p:cNvSpPr txBox="1"/>
          <p:nvPr/>
        </p:nvSpPr>
        <p:spPr>
          <a:xfrm>
            <a:off x="2935224" y="1572768"/>
            <a:ext cx="1828800" cy="1783080"/>
          </a:xfrm>
          <a:prstGeom prst="rect">
            <a:avLst/>
          </a:prstGeom>
          <a:noFill/>
          <a:ln/>
        </p:spPr>
        <p:txBody>
          <a:bodyPr wrap="square" lIns="0" tIns="0" rIns="0" bIns="0" rtlCol="0" anchor="t"/>
          <a:lstStyle/>
          <a:p>
            <a:pPr marL="0" indent="0">
              <a:spcAft>
                <a:spcPts val="300"/>
              </a:spcAft>
              <a:buNone/>
            </a:pPr>
            <a:r>
              <a:rPr lang="en-US" sz="1300" b="1" dirty="0">
                <a:solidFill>
                  <a:srgbClr val="64748B"/>
                </a:solidFill>
              </a:rPr>
              <a:t>Wave 2</a:t>
            </a:r>
            <a:endParaRPr lang="en-US" sz="1400" dirty="0"/>
          </a:p>
          <a:p>
            <a:pPr marL="0" indent="0">
              <a:spcAft>
                <a:spcPts val="300"/>
              </a:spcAft>
              <a:buNone/>
            </a:pPr>
            <a:r>
              <a:rPr lang="en-US" sz="1800" b="1" dirty="0">
                <a:solidFill>
                  <a:srgbClr val="0F766E"/>
                </a:solidFill>
                <a:latin typeface="Cambria" pitchFamily="34" charset="0"/>
                <a:ea typeface="Cambria" pitchFamily="34" charset="-122"/>
                <a:cs typeface="Cambria" pitchFamily="34" charset="-120"/>
              </a:rPr>
              <a:t>Admins</a:t>
            </a:r>
            <a:endParaRPr lang="en-US" sz="1400" dirty="0"/>
          </a:p>
          <a:p>
            <a:pPr marL="0" indent="0">
              <a:spcAft>
                <a:spcPts val="300"/>
              </a:spcAft>
              <a:buNone/>
            </a:pPr>
            <a:r>
              <a:rPr lang="en-US" sz="1350" dirty="0">
                <a:solidFill>
                  <a:schemeClr val="tx2"/>
                </a:solidFill>
              </a:rPr>
              <a:t>Phishing-resistant MFA; PAW-only sign-in</a:t>
            </a:r>
            <a:endParaRPr lang="en-US" sz="1400" dirty="0"/>
          </a:p>
        </p:txBody>
      </p:sp>
      <p:sp>
        <p:nvSpPr>
          <p:cNvPr id="9" name="Wave 2">
            <a:extLst>
              <a:ext uri="{C183D7F6-B498-43B3-948B-1728B52AA6E4}">
                <adec:decorative xmlns:adec="http://schemas.microsoft.com/office/drawing/2017/decorative" val="1"/>
              </a:ext>
            </a:extLst>
          </p:cNvPr>
          <p:cNvSpPr/>
          <p:nvPr/>
        </p:nvSpPr>
        <p:spPr>
          <a:xfrm>
            <a:off x="5047488" y="1463040"/>
            <a:ext cx="2103120"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Wave 2 text"/>
          <p:cNvSpPr txBox="1"/>
          <p:nvPr/>
        </p:nvSpPr>
        <p:spPr>
          <a:xfrm>
            <a:off x="5184648" y="1572768"/>
            <a:ext cx="1828800" cy="1783080"/>
          </a:xfrm>
          <a:prstGeom prst="rect">
            <a:avLst/>
          </a:prstGeom>
          <a:noFill/>
          <a:ln/>
        </p:spPr>
        <p:txBody>
          <a:bodyPr wrap="square" lIns="0" tIns="0" rIns="0" bIns="0" rtlCol="0" anchor="t"/>
          <a:lstStyle/>
          <a:p>
            <a:pPr marL="0" indent="0">
              <a:spcAft>
                <a:spcPts val="300"/>
              </a:spcAft>
              <a:buNone/>
            </a:pPr>
            <a:r>
              <a:rPr lang="en-US" sz="1300" b="1" dirty="0">
                <a:solidFill>
                  <a:srgbClr val="64748B"/>
                </a:solidFill>
              </a:rPr>
              <a:t>Wave 3</a:t>
            </a:r>
            <a:endParaRPr lang="en-US" sz="1400" dirty="0"/>
          </a:p>
          <a:p>
            <a:pPr marL="0" indent="0">
              <a:spcAft>
                <a:spcPts val="300"/>
              </a:spcAft>
              <a:buNone/>
            </a:pPr>
            <a:r>
              <a:rPr lang="en-US" sz="1800" b="1" dirty="0">
                <a:solidFill>
                  <a:srgbClr val="1F2A44"/>
                </a:solidFill>
                <a:latin typeface="Cambria" pitchFamily="34" charset="0"/>
                <a:ea typeface="Cambria" pitchFamily="34" charset="-122"/>
                <a:cs typeface="Cambria" pitchFamily="34" charset="-120"/>
              </a:rPr>
              <a:t>Everyone</a:t>
            </a:r>
            <a:endParaRPr lang="en-US" sz="1400" dirty="0"/>
          </a:p>
          <a:p>
            <a:pPr marL="0" indent="0">
              <a:spcAft>
                <a:spcPts val="300"/>
              </a:spcAft>
              <a:buNone/>
            </a:pPr>
            <a:r>
              <a:rPr lang="en-US" sz="1350" dirty="0">
                <a:solidFill>
                  <a:schemeClr val="tx2"/>
                </a:solidFill>
              </a:rPr>
              <a:t>MFA baseline; device and app controls</a:t>
            </a:r>
            <a:endParaRPr lang="en-US" sz="1400" dirty="0"/>
          </a:p>
        </p:txBody>
      </p:sp>
      <p:sp>
        <p:nvSpPr>
          <p:cNvPr id="11" name="Wave 3">
            <a:extLst>
              <a:ext uri="{C183D7F6-B498-43B3-948B-1728B52AA6E4}">
                <adec:decorative xmlns:adec="http://schemas.microsoft.com/office/drawing/2017/decorative" val="1"/>
              </a:ext>
            </a:extLst>
          </p:cNvPr>
          <p:cNvSpPr/>
          <p:nvPr/>
        </p:nvSpPr>
        <p:spPr>
          <a:xfrm>
            <a:off x="7296912" y="1463040"/>
            <a:ext cx="2103120" cy="1965960"/>
          </a:xfrm>
          <a:prstGeom prst="roundRect">
            <a:avLst>
              <a:gd name="adj" fmla="val 37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Wave 3 text"/>
          <p:cNvSpPr txBox="1"/>
          <p:nvPr/>
        </p:nvSpPr>
        <p:spPr>
          <a:xfrm>
            <a:off x="7434072" y="1572768"/>
            <a:ext cx="1828800" cy="1783080"/>
          </a:xfrm>
          <a:prstGeom prst="rect">
            <a:avLst/>
          </a:prstGeom>
          <a:noFill/>
          <a:ln/>
        </p:spPr>
        <p:txBody>
          <a:bodyPr wrap="square" lIns="0" tIns="0" rIns="0" bIns="0" rtlCol="0" anchor="t"/>
          <a:lstStyle/>
          <a:p>
            <a:pPr marL="0" indent="0">
              <a:spcAft>
                <a:spcPts val="300"/>
              </a:spcAft>
              <a:buNone/>
            </a:pPr>
            <a:r>
              <a:rPr lang="en-US" sz="1300" b="1" dirty="0">
                <a:solidFill>
                  <a:srgbClr val="64748B"/>
                </a:solidFill>
              </a:rPr>
              <a:t>Wave 4</a:t>
            </a:r>
            <a:endParaRPr lang="en-US" sz="1400" dirty="0"/>
          </a:p>
          <a:p>
            <a:pPr marL="0" indent="0">
              <a:spcAft>
                <a:spcPts val="300"/>
              </a:spcAft>
              <a:buNone/>
            </a:pPr>
            <a:r>
              <a:rPr lang="en-US" sz="1800" b="1" dirty="0">
                <a:solidFill>
                  <a:srgbClr val="0F766E"/>
                </a:solidFill>
                <a:latin typeface="Cambria" pitchFamily="34" charset="0"/>
                <a:ea typeface="Cambria" pitchFamily="34" charset="-122"/>
                <a:cs typeface="Cambria" pitchFamily="34" charset="-120"/>
              </a:rPr>
              <a:t>Risk</a:t>
            </a:r>
            <a:endParaRPr lang="en-US" sz="1400" dirty="0"/>
          </a:p>
          <a:p>
            <a:pPr marL="0" indent="0">
              <a:spcAft>
                <a:spcPts val="300"/>
              </a:spcAft>
              <a:buNone/>
            </a:pPr>
            <a:r>
              <a:rPr lang="en-US" sz="1350" dirty="0">
                <a:solidFill>
                  <a:schemeClr val="tx2"/>
                </a:solidFill>
              </a:rPr>
              <a:t>Block high-risk users and sign-ins</a:t>
            </a:r>
            <a:endParaRPr lang="en-US" sz="1400" dirty="0"/>
          </a:p>
        </p:txBody>
      </p:sp>
      <p:sp>
        <p:nvSpPr>
          <p:cNvPr id="13" name="Wave 4">
            <a:extLst>
              <a:ext uri="{C183D7F6-B498-43B3-948B-1728B52AA6E4}">
                <adec:decorative xmlns:adec="http://schemas.microsoft.com/office/drawing/2017/decorative" val="1"/>
              </a:ext>
            </a:extLst>
          </p:cNvPr>
          <p:cNvSpPr/>
          <p:nvPr/>
        </p:nvSpPr>
        <p:spPr>
          <a:xfrm>
            <a:off x="9546336" y="1463040"/>
            <a:ext cx="2103120" cy="1965960"/>
          </a:xfrm>
          <a:prstGeom prst="roundRect">
            <a:avLst>
              <a:gd name="adj" fmla="val 37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Wave 4 text"/>
          <p:cNvSpPr txBox="1"/>
          <p:nvPr/>
        </p:nvSpPr>
        <p:spPr>
          <a:xfrm>
            <a:off x="9683496" y="1572768"/>
            <a:ext cx="1828800" cy="1783080"/>
          </a:xfrm>
          <a:prstGeom prst="rect">
            <a:avLst/>
          </a:prstGeom>
          <a:noFill/>
          <a:ln/>
        </p:spPr>
        <p:txBody>
          <a:bodyPr wrap="square" lIns="0" tIns="0" rIns="0" bIns="0" rtlCol="0" anchor="t"/>
          <a:lstStyle/>
          <a:p>
            <a:pPr marL="0" indent="0">
              <a:spcAft>
                <a:spcPts val="300"/>
              </a:spcAft>
              <a:buNone/>
            </a:pPr>
            <a:r>
              <a:rPr lang="en-US" sz="1300" b="1" dirty="0">
                <a:solidFill>
                  <a:srgbClr val="64748B"/>
                </a:solidFill>
              </a:rPr>
              <a:t>Wave 5</a:t>
            </a:r>
            <a:endParaRPr lang="en-US" sz="1400" dirty="0"/>
          </a:p>
          <a:p>
            <a:pPr marL="0" indent="0">
              <a:spcAft>
                <a:spcPts val="300"/>
              </a:spcAft>
              <a:buNone/>
            </a:pPr>
            <a:r>
              <a:rPr lang="en-US" sz="1800" b="1" dirty="0">
                <a:solidFill>
                  <a:srgbClr val="1F2A44"/>
                </a:solidFill>
                <a:latin typeface="Cambria" pitchFamily="34" charset="0"/>
                <a:ea typeface="Cambria" pitchFamily="34" charset="-122"/>
                <a:cs typeface="Cambria" pitchFamily="34" charset="-120"/>
              </a:rPr>
              <a:t>Segments</a:t>
            </a:r>
            <a:endParaRPr lang="en-US" sz="1400" dirty="0"/>
          </a:p>
          <a:p>
            <a:pPr marL="0" indent="0">
              <a:spcAft>
                <a:spcPts val="300"/>
              </a:spcAft>
              <a:buNone/>
            </a:pPr>
            <a:r>
              <a:rPr lang="en-US" sz="1350" dirty="0">
                <a:solidFill>
                  <a:schemeClr val="tx2"/>
                </a:solidFill>
              </a:rPr>
              <a:t>Guests, workloads, end state</a:t>
            </a:r>
            <a:endParaRPr lang="en-US" sz="1400" dirty="0"/>
          </a:p>
        </p:txBody>
      </p:sp>
      <p:sp>
        <p:nvSpPr>
          <p:cNvPr id="15" name="Gates"/>
          <p:cNvSpPr txBox="1"/>
          <p:nvPr/>
        </p:nvSpPr>
        <p:spPr>
          <a:xfrm>
            <a:off x="548640" y="3611880"/>
            <a:ext cx="11109960" cy="868680"/>
          </a:xfrm>
          <a:prstGeom prst="rect">
            <a:avLst/>
          </a:prstGeom>
          <a:noFill/>
          <a:ln/>
        </p:spPr>
        <p:txBody>
          <a:bodyPr wrap="square" lIns="0" tIns="0" rIns="0" bIns="0" rtlCol="0" anchor="t"/>
          <a:lstStyle/>
          <a:p>
            <a:pPr marL="0" indent="0">
              <a:buNone/>
            </a:pPr>
            <a:r>
              <a:rPr lang="en-US" sz="1500" b="1" dirty="0">
                <a:solidFill>
                  <a:srgbClr val="1F2A44"/>
                </a:solidFill>
              </a:rPr>
              <a:t>Every policy: </a:t>
            </a:r>
            <a:r>
              <a:rPr lang="en-US" sz="1500" dirty="0">
                <a:solidFill>
                  <a:schemeClr val="tx2"/>
                </a:solidFill>
              </a:rPr>
              <a:t>report-only 2–4 weeks → pilot ring → expanding rings → enforced and monitored. A wave starts only after the previous one has run a week without incident. Roll back by switching off or to report-only — never by deleting.</a:t>
            </a:r>
            <a:endParaRPr lang="en-US" sz="1500" dirty="0"/>
          </a:p>
        </p:txBody>
      </p:sp>
      <p:sp>
        <p:nvSpPr>
          <p:cNvPr id="16" name="BOD">
            <a:extLst>
              <a:ext uri="{C183D7F6-B498-43B3-948B-1728B52AA6E4}">
                <adec:decorative xmlns:adec="http://schemas.microsoft.com/office/drawing/2017/decorative" val="1"/>
              </a:ext>
            </a:extLst>
          </p:cNvPr>
          <p:cNvSpPr/>
          <p:nvPr/>
        </p:nvSpPr>
        <p:spPr>
          <a:xfrm>
            <a:off x="548640" y="4800600"/>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19" name="BOD text"/>
          <p:cNvSpPr txBox="1"/>
          <p:nvPr/>
        </p:nvSpPr>
        <p:spPr>
          <a:xfrm>
            <a:off x="1737360" y="4846320"/>
            <a:ext cx="9738360" cy="1097280"/>
          </a:xfrm>
          <a:prstGeom prst="rect">
            <a:avLst/>
          </a:prstGeom>
          <a:noFill/>
          <a:ln/>
        </p:spPr>
        <p:txBody>
          <a:bodyPr wrap="square" lIns="0" tIns="0" rIns="0" bIns="0" rtlCol="0" anchor="ctr"/>
          <a:lstStyle/>
          <a:p>
            <a:pPr marL="0" indent="0">
              <a:buNone/>
            </a:pPr>
            <a:r>
              <a:rPr lang="en-US" sz="1650" b="1" dirty="0">
                <a:solidFill>
                  <a:srgbClr val="B45309"/>
                </a:solidFill>
              </a:rPr>
              <a:t>Built to the CISA baseline: </a:t>
            </a:r>
            <a:r>
              <a:rPr lang="en-US" sz="1650" dirty="0">
                <a:solidFill>
                  <a:schemeClr val="tx2"/>
                </a:solidFill>
              </a:rPr>
              <a:t>the library keeps Book 02's CA001–CA017 and adds CA018–CA038 for the BOD 25-01 Entra ID requirements — including blocking high-risk users and phishing-resistant MFA for all members.</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deployment; CISA BOD 25-01 and SCuBA Entra ID baseline. Book 04, Chapter 07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0BB8CE59-0C00-900B-C962-9C9982053C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AA457CD-7774-4906-A9C2-AC6E77198DB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530"/>
    </mc:Choice>
    <mc:Fallback>
      <p:transition spd="slow" advTm="73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252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PIM: eligible, requested, approved, logged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IM 0">
            <a:extLst>
              <a:ext uri="{C183D7F6-B498-43B3-948B-1728B52AA6E4}">
                <adec:decorative xmlns:adec="http://schemas.microsoft.com/office/drawing/2017/decorative" val="1"/>
              </a:ext>
            </a:extLst>
          </p:cNvPr>
          <p:cNvSpPr/>
          <p:nvPr/>
        </p:nvSpPr>
        <p:spPr>
          <a:xfrm>
            <a:off x="548640" y="1508760"/>
            <a:ext cx="173736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IM 0 text"/>
          <p:cNvSpPr txBox="1"/>
          <p:nvPr/>
        </p:nvSpPr>
        <p:spPr>
          <a:xfrm>
            <a:off x="658368" y="1572768"/>
            <a:ext cx="1517904" cy="144475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1</a:t>
            </a:r>
            <a:endParaRPr lang="en-US" sz="1400" dirty="0"/>
          </a:p>
          <a:p>
            <a:pPr marL="0" indent="0" algn="ctr">
              <a:buNone/>
            </a:pPr>
            <a:r>
              <a:rPr lang="en-US" sz="1350" b="1" dirty="0">
                <a:solidFill>
                  <a:schemeClr val="tx2"/>
                </a:solidFill>
              </a:rPr>
              <a:t>Eligible assignment</a:t>
            </a:r>
            <a:endParaRPr lang="en-US" sz="1400" dirty="0"/>
          </a:p>
        </p:txBody>
      </p:sp>
      <p:sp>
        <p:nvSpPr>
          <p:cNvPr id="7" name="PIM 1">
            <a:extLst>
              <a:ext uri="{C183D7F6-B498-43B3-948B-1728B52AA6E4}">
                <adec:decorative xmlns:adec="http://schemas.microsoft.com/office/drawing/2017/decorative" val="1"/>
              </a:ext>
            </a:extLst>
          </p:cNvPr>
          <p:cNvSpPr/>
          <p:nvPr/>
        </p:nvSpPr>
        <p:spPr>
          <a:xfrm>
            <a:off x="2423160" y="1508760"/>
            <a:ext cx="1737360" cy="1554480"/>
          </a:xfrm>
          <a:prstGeom prst="roundRect">
            <a:avLst>
              <a:gd name="adj" fmla="val 470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PIM 1 text"/>
          <p:cNvSpPr txBox="1"/>
          <p:nvPr/>
        </p:nvSpPr>
        <p:spPr>
          <a:xfrm>
            <a:off x="2532888" y="1572768"/>
            <a:ext cx="1517904" cy="1444752"/>
          </a:xfrm>
          <a:prstGeom prst="rect">
            <a:avLst/>
          </a:prstGeom>
          <a:noFill/>
          <a:ln/>
        </p:spPr>
        <p:txBody>
          <a:bodyPr wrap="square" lIns="0" tIns="0" rIns="0" bIns="0" rtlCol="0" anchor="t"/>
          <a:lstStyle/>
          <a:p>
            <a:pPr marL="0" indent="0" algn="ctr">
              <a:buNone/>
            </a:pPr>
            <a:r>
              <a:rPr lang="en-US" sz="2400" b="1" dirty="0">
                <a:solidFill>
                  <a:srgbClr val="0F766E"/>
                </a:solidFill>
                <a:latin typeface="Cambria" pitchFamily="34" charset="0"/>
                <a:ea typeface="Cambria" pitchFamily="34" charset="-122"/>
                <a:cs typeface="Cambria" pitchFamily="34" charset="-120"/>
              </a:rPr>
              <a:t>2</a:t>
            </a:r>
            <a:endParaRPr lang="en-US" sz="1400" dirty="0"/>
          </a:p>
          <a:p>
            <a:pPr marL="0" indent="0" algn="ctr">
              <a:buNone/>
            </a:pPr>
            <a:r>
              <a:rPr lang="en-US" sz="1350" b="1" dirty="0">
                <a:solidFill>
                  <a:schemeClr val="tx2"/>
                </a:solidFill>
              </a:rPr>
              <a:t>Request with justification and ticket</a:t>
            </a:r>
            <a:endParaRPr lang="en-US" sz="1400" dirty="0"/>
          </a:p>
        </p:txBody>
      </p:sp>
      <p:sp>
        <p:nvSpPr>
          <p:cNvPr id="9" name="PIM 2">
            <a:extLst>
              <a:ext uri="{C183D7F6-B498-43B3-948B-1728B52AA6E4}">
                <adec:decorative xmlns:adec="http://schemas.microsoft.com/office/drawing/2017/decorative" val="1"/>
              </a:ext>
            </a:extLst>
          </p:cNvPr>
          <p:cNvSpPr/>
          <p:nvPr/>
        </p:nvSpPr>
        <p:spPr>
          <a:xfrm>
            <a:off x="4297680" y="1508760"/>
            <a:ext cx="173736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IM 2 text"/>
          <p:cNvSpPr txBox="1"/>
          <p:nvPr/>
        </p:nvSpPr>
        <p:spPr>
          <a:xfrm>
            <a:off x="4407408" y="1572768"/>
            <a:ext cx="1517904" cy="144475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3</a:t>
            </a:r>
            <a:endParaRPr lang="en-US" sz="1400" dirty="0"/>
          </a:p>
          <a:p>
            <a:pPr marL="0" indent="0" algn="ctr">
              <a:buNone/>
            </a:pPr>
            <a:r>
              <a:rPr lang="en-US" sz="1350" b="1" dirty="0">
                <a:solidFill>
                  <a:schemeClr val="tx2"/>
                </a:solidFill>
              </a:rPr>
              <a:t>Step-up through an authentication context</a:t>
            </a:r>
            <a:endParaRPr lang="en-US" sz="1400" dirty="0"/>
          </a:p>
        </p:txBody>
      </p:sp>
      <p:sp>
        <p:nvSpPr>
          <p:cNvPr id="11" name="PIM 3">
            <a:extLst>
              <a:ext uri="{C183D7F6-B498-43B3-948B-1728B52AA6E4}">
                <adec:decorative xmlns:adec="http://schemas.microsoft.com/office/drawing/2017/decorative" val="1"/>
              </a:ext>
            </a:extLst>
          </p:cNvPr>
          <p:cNvSpPr/>
          <p:nvPr/>
        </p:nvSpPr>
        <p:spPr>
          <a:xfrm>
            <a:off x="6172200" y="1508760"/>
            <a:ext cx="1737360" cy="1554480"/>
          </a:xfrm>
          <a:prstGeom prst="roundRect">
            <a:avLst>
              <a:gd name="adj" fmla="val 470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PIM 3 text"/>
          <p:cNvSpPr txBox="1"/>
          <p:nvPr/>
        </p:nvSpPr>
        <p:spPr>
          <a:xfrm>
            <a:off x="6281928" y="1572768"/>
            <a:ext cx="1517904" cy="1444752"/>
          </a:xfrm>
          <a:prstGeom prst="rect">
            <a:avLst/>
          </a:prstGeom>
          <a:noFill/>
          <a:ln/>
        </p:spPr>
        <p:txBody>
          <a:bodyPr wrap="square" lIns="0" tIns="0" rIns="0" bIns="0" rtlCol="0" anchor="t"/>
          <a:lstStyle/>
          <a:p>
            <a:pPr marL="0" indent="0" algn="ctr">
              <a:buNone/>
            </a:pPr>
            <a:r>
              <a:rPr lang="en-US" sz="2400" b="1" dirty="0">
                <a:solidFill>
                  <a:srgbClr val="0F766E"/>
                </a:solidFill>
                <a:latin typeface="Cambria" pitchFamily="34" charset="0"/>
                <a:ea typeface="Cambria" pitchFamily="34" charset="-122"/>
                <a:cs typeface="Cambria" pitchFamily="34" charset="-120"/>
              </a:rPr>
              <a:t>4</a:t>
            </a:r>
            <a:endParaRPr lang="en-US" sz="1400" dirty="0"/>
          </a:p>
          <a:p>
            <a:pPr marL="0" indent="0" algn="ctr">
              <a:buNone/>
            </a:pPr>
            <a:r>
              <a:rPr lang="en-US" sz="1350" b="1" dirty="0">
                <a:solidFill>
                  <a:schemeClr val="tx2"/>
                </a:solidFill>
              </a:rPr>
              <a:t>Approval by someone else</a:t>
            </a:r>
            <a:endParaRPr lang="en-US" sz="1400" dirty="0"/>
          </a:p>
        </p:txBody>
      </p:sp>
      <p:sp>
        <p:nvSpPr>
          <p:cNvPr id="13" name="PIM 4">
            <a:extLst>
              <a:ext uri="{C183D7F6-B498-43B3-948B-1728B52AA6E4}">
                <adec:decorative xmlns:adec="http://schemas.microsoft.com/office/drawing/2017/decorative" val="1"/>
              </a:ext>
            </a:extLst>
          </p:cNvPr>
          <p:cNvSpPr/>
          <p:nvPr/>
        </p:nvSpPr>
        <p:spPr>
          <a:xfrm>
            <a:off x="8046720" y="1508760"/>
            <a:ext cx="173736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PIM 4 text"/>
          <p:cNvSpPr txBox="1"/>
          <p:nvPr/>
        </p:nvSpPr>
        <p:spPr>
          <a:xfrm>
            <a:off x="8156448" y="1572768"/>
            <a:ext cx="1517904" cy="144475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5</a:t>
            </a:r>
            <a:endParaRPr lang="en-US" sz="1400" dirty="0"/>
          </a:p>
          <a:p>
            <a:pPr marL="0" indent="0" algn="ctr">
              <a:buNone/>
            </a:pPr>
            <a:r>
              <a:rPr lang="en-US" sz="1350" b="1" dirty="0">
                <a:solidFill>
                  <a:schemeClr val="tx2"/>
                </a:solidFill>
              </a:rPr>
              <a:t>Time-boxed activation</a:t>
            </a:r>
            <a:endParaRPr lang="en-US" sz="1400" dirty="0"/>
          </a:p>
        </p:txBody>
      </p:sp>
      <p:sp>
        <p:nvSpPr>
          <p:cNvPr id="15" name="PIM 5">
            <a:extLst>
              <a:ext uri="{C183D7F6-B498-43B3-948B-1728B52AA6E4}">
                <adec:decorative xmlns:adec="http://schemas.microsoft.com/office/drawing/2017/decorative" val="1"/>
              </a:ext>
            </a:extLst>
          </p:cNvPr>
          <p:cNvSpPr/>
          <p:nvPr/>
        </p:nvSpPr>
        <p:spPr>
          <a:xfrm>
            <a:off x="9921240" y="1508760"/>
            <a:ext cx="1737360" cy="1554480"/>
          </a:xfrm>
          <a:prstGeom prst="roundRect">
            <a:avLst>
              <a:gd name="adj" fmla="val 470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PIM 5 text"/>
          <p:cNvSpPr txBox="1"/>
          <p:nvPr/>
        </p:nvSpPr>
        <p:spPr>
          <a:xfrm>
            <a:off x="10030968" y="1572768"/>
            <a:ext cx="1517904" cy="1444752"/>
          </a:xfrm>
          <a:prstGeom prst="rect">
            <a:avLst/>
          </a:prstGeom>
          <a:noFill/>
          <a:ln/>
        </p:spPr>
        <p:txBody>
          <a:bodyPr wrap="square" lIns="0" tIns="0" rIns="0" bIns="0" rtlCol="0" anchor="t"/>
          <a:lstStyle/>
          <a:p>
            <a:pPr marL="0" indent="0" algn="ctr">
              <a:buNone/>
            </a:pPr>
            <a:r>
              <a:rPr lang="en-US" sz="2400" b="1" dirty="0">
                <a:solidFill>
                  <a:srgbClr val="0F766E"/>
                </a:solidFill>
                <a:latin typeface="Cambria" pitchFamily="34" charset="0"/>
                <a:ea typeface="Cambria" pitchFamily="34" charset="-122"/>
                <a:cs typeface="Cambria" pitchFamily="34" charset="-120"/>
              </a:rPr>
              <a:t>6</a:t>
            </a:r>
            <a:endParaRPr lang="en-US" sz="1400" dirty="0"/>
          </a:p>
          <a:p>
            <a:pPr marL="0" indent="0" algn="ctr">
              <a:buNone/>
            </a:pPr>
            <a:r>
              <a:rPr lang="en-US" sz="1350" b="1" dirty="0">
                <a:solidFill>
                  <a:schemeClr val="tx2"/>
                </a:solidFill>
              </a:rPr>
              <a:t>Logged, alerted, reviewed</a:t>
            </a:r>
            <a:endParaRPr lang="en-US" sz="1400" dirty="0"/>
          </a:p>
        </p:txBody>
      </p:sp>
      <p:sp>
        <p:nvSpPr>
          <p:cNvPr id="17" name="PIM facts"/>
          <p:cNvSpPr txBox="1"/>
          <p:nvPr/>
        </p:nvSpPr>
        <p:spPr>
          <a:xfrm>
            <a:off x="548640" y="3246120"/>
            <a:ext cx="11109960" cy="16002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Activation runs 1 to 24 hours; the approval window is a fixed 24 hours, single stage</a:t>
            </a:r>
            <a:endParaRPr lang="en-US" sz="1400" dirty="0"/>
          </a:p>
          <a:p>
            <a:pPr marL="342900" indent="-342900">
              <a:spcAft>
                <a:spcPts val="500"/>
              </a:spcAft>
              <a:buSzPct val="100000"/>
              <a:buChar char="•"/>
            </a:pPr>
            <a:r>
              <a:rPr lang="en-US" sz="1450" dirty="0">
                <a:solidFill>
                  <a:schemeClr val="tx2"/>
                </a:solidFill>
              </a:rPr>
              <a:t>PIM's built-in MFA can be satisfied earlier in the session — an authentication context forces a fresh step-up</a:t>
            </a:r>
            <a:endParaRPr lang="en-US" sz="1400" dirty="0"/>
          </a:p>
          <a:p>
            <a:pPr marL="342900" indent="-342900">
              <a:spcAft>
                <a:spcPts val="500"/>
              </a:spcAft>
              <a:buSzPct val="100000"/>
              <a:buChar char="•"/>
            </a:pPr>
            <a:r>
              <a:rPr lang="en-US" sz="1450" dirty="0">
                <a:solidFill>
                  <a:schemeClr val="tx2"/>
                </a:solidFill>
              </a:rPr>
              <a:t>Approvers can't approve their own requests; a role with no approvers falls back to active Privileged Role Administrators</a:t>
            </a:r>
            <a:endParaRPr lang="en-US" sz="1400" dirty="0"/>
          </a:p>
          <a:p>
            <a:pPr marL="342900" indent="-342900">
              <a:spcAft>
                <a:spcPts val="500"/>
              </a:spcAft>
              <a:buSzPct val="100000"/>
              <a:buChar char="•"/>
            </a:pPr>
            <a:r>
              <a:rPr lang="en-US" sz="1450" dirty="0">
                <a:solidFill>
                  <a:schemeClr val="tx2"/>
                </a:solidFill>
              </a:rPr>
              <a:t>Licenses: Entra ID P2 or ID Governance; if they lapse, eligible assignments are removed</a:t>
            </a:r>
            <a:endParaRPr lang="en-US" sz="1400" dirty="0"/>
          </a:p>
        </p:txBody>
      </p:sp>
      <p:sp>
        <p:nvSpPr>
          <p:cNvPr id="18" name="Settings">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9" name="Icon FaClipboardChec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64748B"/>
          </a:solidFill>
          <a:ln w="12700">
            <a:solidFill>
              <a:srgbClr val="64748B"/>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21" name="Settings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64748B"/>
                </a:solidFill>
              </a:rPr>
              <a:t>Per-role settings: </a:t>
            </a:r>
            <a:r>
              <a:rPr lang="en-US" sz="1650" dirty="0">
                <a:solidFill>
                  <a:schemeClr val="tx2"/>
                </a:solidFill>
              </a:rPr>
              <a:t>Appendix B sets each role's activation time, approvers, context and notifications — tighter for Tier 0 and Tier 1 than Book 02's first table.</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role settings, approval workflow, licensing. Book 04, Chapter 08 and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78F41947-DED7-4A46-BCEB-5C0CE29CDC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F0A490-CD90-4F70-A538-3784CC0AEBE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810"/>
    </mc:Choice>
    <mc:Fallback>
      <p:transition spd="slow" advTm="72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80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 access, manage it as code, prove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ov 0">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Gov 0 head"/>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Governance</a:t>
            </a:r>
            <a:endParaRPr lang="en-US" sz="1900" dirty="0"/>
          </a:p>
        </p:txBody>
      </p:sp>
      <p:sp>
        <p:nvSpPr>
          <p:cNvPr id="9" name="Gov 0 text"/>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Access packages with approval and expiry</a:t>
            </a:r>
            <a:endParaRPr lang="en-US" sz="1400" dirty="0"/>
          </a:p>
          <a:p>
            <a:pPr marL="342900" indent="-342900">
              <a:spcAft>
                <a:spcPts val="600"/>
              </a:spcAft>
              <a:buSzPct val="100000"/>
              <a:buChar char="•"/>
            </a:pPr>
            <a:r>
              <a:rPr lang="en-US" sz="1400" dirty="0">
                <a:solidFill>
                  <a:schemeClr val="tx2"/>
                </a:solidFill>
              </a:rPr>
              <a:t>Reviews on a tiered cadence</a:t>
            </a:r>
            <a:endParaRPr lang="en-US" sz="1400" dirty="0"/>
          </a:p>
          <a:p>
            <a:pPr marL="342900" indent="-342900">
              <a:spcAft>
                <a:spcPts val="600"/>
              </a:spcAft>
              <a:buSzPct val="100000"/>
              <a:buChar char="•"/>
            </a:pPr>
            <a:r>
              <a:rPr lang="en-US" sz="1400" dirty="0">
                <a:solidFill>
                  <a:schemeClr val="tx2"/>
                </a:solidFill>
              </a:rPr>
              <a:t>Review groups, not just apps</a:t>
            </a:r>
            <a:endParaRPr lang="en-US" sz="1400" dirty="0"/>
          </a:p>
          <a:p>
            <a:pPr marL="342900" indent="-342900">
              <a:spcAft>
                <a:spcPts val="600"/>
              </a:spcAft>
              <a:buSzPct val="100000"/>
              <a:buChar char="•"/>
            </a:pPr>
            <a:r>
              <a:rPr lang="en-US" sz="1400" dirty="0">
                <a:solidFill>
                  <a:schemeClr val="tx2"/>
                </a:solidFill>
              </a:rPr>
              <a:t>Guests sponsored and reviewed</a:t>
            </a:r>
            <a:endParaRPr lang="en-US" sz="1400" dirty="0"/>
          </a:p>
        </p:txBody>
      </p:sp>
      <p:sp>
        <p:nvSpPr>
          <p:cNvPr id="10" name="Gov 1">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odeBranch">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Gov 1 head"/>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As code</a:t>
            </a:r>
            <a:endParaRPr lang="en-US" sz="1900" dirty="0"/>
          </a:p>
        </p:txBody>
      </p:sp>
      <p:sp>
        <p:nvSpPr>
          <p:cNvPr id="14" name="Gov 1 text"/>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Policies, PIM and packages in version control</a:t>
            </a:r>
            <a:endParaRPr lang="en-US" sz="1400" dirty="0"/>
          </a:p>
          <a:p>
            <a:pPr marL="342900" indent="-342900">
              <a:spcAft>
                <a:spcPts val="600"/>
              </a:spcAft>
              <a:buSzPct val="100000"/>
              <a:buChar char="•"/>
            </a:pPr>
            <a:r>
              <a:rPr lang="en-US" sz="1400" dirty="0">
                <a:solidFill>
                  <a:schemeClr val="tx2"/>
                </a:solidFill>
              </a:rPr>
              <a:t>Change through review, not the portal</a:t>
            </a:r>
            <a:endParaRPr lang="en-US" sz="1400" dirty="0"/>
          </a:p>
          <a:p>
            <a:pPr marL="342900" indent="-342900">
              <a:spcAft>
                <a:spcPts val="600"/>
              </a:spcAft>
              <a:buSzPct val="100000"/>
              <a:buChar char="•"/>
            </a:pPr>
            <a:r>
              <a:rPr lang="en-US" sz="1400" dirty="0">
                <a:solidFill>
                  <a:schemeClr val="tx2"/>
                </a:solidFill>
              </a:rPr>
              <a:t>Drift monitored against a baseline</a:t>
            </a:r>
            <a:endParaRPr lang="en-US" sz="1400" dirty="0"/>
          </a:p>
          <a:p>
            <a:pPr marL="342900" indent="-342900">
              <a:spcAft>
                <a:spcPts val="600"/>
              </a:spcAft>
              <a:buSzPct val="100000"/>
              <a:buChar char="•"/>
            </a:pPr>
            <a:r>
              <a:rPr lang="en-US" sz="1400" dirty="0">
                <a:solidFill>
                  <a:schemeClr val="tx2"/>
                </a:solidFill>
              </a:rPr>
              <a:t>Export results before changing baselines</a:t>
            </a:r>
            <a:endParaRPr lang="en-US" sz="1400" dirty="0"/>
          </a:p>
        </p:txBody>
      </p:sp>
      <p:sp>
        <p:nvSpPr>
          <p:cNvPr id="15" name="Gov 2">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FileShield">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Gov 2 head"/>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Evidence</a:t>
            </a:r>
            <a:endParaRPr lang="en-US" sz="1900" dirty="0"/>
          </a:p>
        </p:txBody>
      </p:sp>
      <p:sp>
        <p:nvSpPr>
          <p:cNvPr id="19" name="Gov 2 text"/>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AC-2, AC-3, AC-6, IA-2, CA-7</a:t>
            </a:r>
            <a:endParaRPr lang="en-US" sz="1400" dirty="0"/>
          </a:p>
          <a:p>
            <a:pPr marL="342900" indent="-342900">
              <a:spcAft>
                <a:spcPts val="600"/>
              </a:spcAft>
              <a:buSzPct val="100000"/>
              <a:buChar char="•"/>
            </a:pPr>
            <a:r>
              <a:rPr lang="en-US" sz="1400" dirty="0">
                <a:solidFill>
                  <a:schemeClr val="tx2"/>
                </a:solidFill>
              </a:rPr>
              <a:t>Logs kept 30 days in Entra — export them</a:t>
            </a:r>
            <a:endParaRPr lang="en-US" sz="1400" dirty="0"/>
          </a:p>
          <a:p>
            <a:pPr marL="342900" indent="-342900">
              <a:spcAft>
                <a:spcPts val="600"/>
              </a:spcAft>
              <a:buSzPct val="100000"/>
              <a:buChar char="•"/>
            </a:pPr>
            <a:r>
              <a:rPr lang="en-US" sz="1400" dirty="0">
                <a:solidFill>
                  <a:schemeClr val="tx2"/>
                </a:solidFill>
              </a:rPr>
              <a:t>Every elevation and review on record</a:t>
            </a:r>
            <a:endParaRPr lang="en-US" sz="1400" dirty="0"/>
          </a:p>
        </p:txBody>
      </p:sp>
      <p:sp>
        <p:nvSpPr>
          <p:cNvPr id="20" name="Ga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Gap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 trap in the tooling: </a:t>
            </a:r>
            <a:r>
              <a:rPr lang="en-US" sz="1650" dirty="0">
                <a:solidFill>
                  <a:schemeClr val="tx2"/>
                </a:solidFill>
              </a:rPr>
              <a:t>reviewing an application doesn't remove members of the groups assigned to it — and Entra keeps sign-in and audit logs only 30 days with P1/P2.</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entitlement management, access reviews, configuration management, log retention; NIST SP 800-53. Book 04, Chapters 09–10.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8E31658C-F027-6F45-C7E3-0FE751BE25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18AF9F0-32B8-4F14-A35E-82FE12813B47}"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090"/>
    </mc:Choice>
    <mc:Fallback>
      <p:transition spd="slow" advTm="69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08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we need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Adopt the library</a:t>
            </a:r>
            <a:endParaRPr lang="en-US" sz="1400" dirty="0"/>
          </a:p>
          <a:p>
            <a:pPr marL="0" indent="0">
              <a:buNone/>
            </a:pPr>
            <a:r>
              <a:rPr lang="en-US" sz="1450" dirty="0">
                <a:solidFill>
                  <a:schemeClr val="tx2"/>
                </a:solidFill>
              </a:rPr>
              <a:t>Book 04's Conditional Access library and wave plan as the access baseline</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UserClo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End standing privilege</a:t>
            </a:r>
            <a:endParaRPr lang="en-US" sz="1400" dirty="0"/>
          </a:p>
          <a:p>
            <a:pPr marL="0" indent="0">
              <a:buNone/>
            </a:pPr>
            <a:r>
              <a:rPr lang="en-US" sz="1450" dirty="0">
                <a:solidFill>
                  <a:schemeClr val="tx2"/>
                </a:solidFill>
              </a:rPr>
              <a:t>Every admin role eligible through PIM, except two governed break-glass accounts</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PeopleArrows">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Separate decide from execute</a:t>
            </a:r>
            <a:endParaRPr lang="en-US" sz="1400" dirty="0"/>
          </a:p>
          <a:p>
            <a:pPr marL="0" indent="0">
              <a:buNone/>
            </a:pPr>
            <a:r>
              <a:rPr lang="en-US" sz="1450" dirty="0">
                <a:solidFill>
                  <a:schemeClr val="tx2"/>
                </a:solidFill>
              </a:rPr>
              <a:t>Name owners; scope the help desk role; stand up the governance office</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CodeBranch">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Manage access as code</a:t>
            </a:r>
            <a:endParaRPr lang="en-US" sz="1400" dirty="0"/>
          </a:p>
          <a:p>
            <a:pPr marL="0" indent="0">
              <a:buNone/>
            </a:pPr>
            <a:r>
              <a:rPr lang="en-US" sz="1450" dirty="0">
                <a:solidFill>
                  <a:schemeClr val="tx2"/>
                </a:solidFill>
              </a:rPr>
              <a:t>Version control, review and drift monitoring — and keep the evidence</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Boo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Read next: </a:t>
            </a:r>
            <a:r>
              <a:rPr lang="en-US" sz="1650" dirty="0">
                <a:solidFill>
                  <a:schemeClr val="tx2"/>
                </a:solidFill>
              </a:rPr>
              <a:t>Book 04 for the full library and settings, every claim footnoted; Book 05 for the device compliance that Conditional Access reads.</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2F2653B4-653F-96E9-674C-1611C418BE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C120358-AE27-4679-BDF8-9C951146005B}"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740"/>
    </mc:Choice>
    <mc:Fallback>
      <p:transition spd="slow" advTm="55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74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3315</Words>
  <Application>Microsoft Office PowerPoint</Application>
  <PresentationFormat>Widescreen</PresentationFormat>
  <Paragraphs>188</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Federal Modernization Workbook</vt:lpstr>
      <vt:lpstr>Why Is Every Access Decision a Policy Decision?</vt:lpstr>
      <vt:lpstr>Access is decided per request, by policy</vt:lpstr>
      <vt:lpstr>Standing privilege is an open door</vt:lpstr>
      <vt:lpstr>What Conditional Access evaluates</vt:lpstr>
      <vt:lpstr>Privilege and applications, structured</vt:lpstr>
      <vt:lpstr>Who decides access, and who executes it</vt:lpstr>
      <vt:lpstr>The policy library, rolled out in waves</vt:lpstr>
      <vt:lpstr>PIM: eligible, requested, approved, logged</vt:lpstr>
      <vt:lpstr>Govern access, manage it as code, prove it</vt:lpstr>
      <vt:lpstr>What we 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04 — Access &amp; Privilege</dc:title>
  <dc:subject>PptxGenJS Presentation</dc:subject>
  <dc:creator>Michael F. Stratton</dc:creator>
  <cp:lastModifiedBy>Michael F. Stratton</cp:lastModifiedBy>
  <cp:revision>2</cp:revision>
  <dcterms:created xsi:type="dcterms:W3CDTF">2026-10-21T13:41:15Z</dcterms:created>
  <dcterms:modified xsi:type="dcterms:W3CDTF">2026-10-21T13:58:00Z</dcterms:modified>
</cp:coreProperties>
</file>