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2DB148A-90D1-2281-A393-DE31E45F8813}">
          <p14:sldIdLst>
            <p14:sldId id="256"/>
          </p14:sldIdLst>
        </p14:section>
        <p14:section name="Why" id="{BA736C57-7EF1-E655-C070-D7C6BC376305}">
          <p14:sldIdLst>
            <p14:sldId id="257"/>
            <p14:sldId id="258"/>
          </p14:sldIdLst>
        </p14:section>
        <p14:section name="What" id="{C9901497-A3EE-E93D-D0AE-79B2122DA9C9}">
          <p14:sldIdLst>
            <p14:sldId id="259"/>
            <p14:sldId id="260"/>
            <p14:sldId id="261"/>
            <p14:sldId id="262"/>
            <p14:sldId id="263"/>
            <p14:sldId id="264"/>
            <p14:sldId id="265"/>
            <p14:sldId id="266"/>
            <p14:sldId id="267"/>
          </p14:sldIdLst>
        </p14:section>
        <p14:section name="Who" id="{94A5686D-D080-BA3C-119C-74CFEF279AB8}">
          <p14:sldIdLst>
            <p14:sldId id="268"/>
          </p14:sldIdLst>
        </p14:section>
        <p14:section name="How" id="{F5AEAF2C-B4E2-6C50-2960-3E7646B4D370}">
          <p14:sldIdLst>
            <p14:sldId id="269"/>
            <p14:sldId id="270"/>
            <p14:sldId id="271"/>
            <p14:sldId id="272"/>
            <p14:sldId id="273"/>
          </p14:sldIdLst>
        </p14:section>
        <p14:section name="Backup" id="{B8BBCDE2-5107-3BAB-4E71-D83B8A531AB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136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4: app management policies and certificate rotation. The chapter does two jobs. It holds the tenant's rules for app credentials in a reviewed file that can be compared and applied without ever loosening, and it rotates app certificates through Key Vault, with an owner's approval and an overlap. We'll start from Microsoft's own samples, see what they leave out, then walk the code, the labs and the dangers. One note before we begin: the code is illustrative, tested against fixtures.
Detail: The chapter delivers the code behind the project plan's tasks N3.1, "new client secrets and symmetric keys blocked, certificates capped at 180 days for new apps; app instance property lock on owned apps," and N3.7, "certificates in Key Vault, rotated by the pipeline, raised before expiry and approved by the owner." It starts with Microsoft's own samples: the Graph requests for the tenant default app management policy and app-specific policies, Learn's procedure for configuring them, its request for adding a certificate to an app, and the Az.KeyVault examples that create a certificate from a policy. The repository keeps pinned copies, and you send them to fakes to see what they do and what they leave out. Then examples/non-person-identity adds the rest: the policy as reviewed JSON with a diff, a dry run and -Apply, and rotation through Key Vault with an owner's approval and an overlap. Lab 1 runs on a laptop with no tenant; Lab 2 uses a test tenant and a test key vault.
Sources: Microsoft Learn, "Microsoft Entra application management policies API overview" (v1.0), tenant default policy; app management policy; restrictions; single vs multitenant apps; requirements, https://learn.microsoft.com/graph/api/resources/applicationauthenticationmethodpolicy?view=graph-rest-1.0 (accessed Oct 30, 2026). · Microsoft Learn, "Tutorial: Configure certificate autorotation in Key Vault," https://learn.microsoft.com/azure/key-vault/certificates/tutorial-rotate-certificates (accessed Oct 30, 2026).
Workbook: Building Non-Person Identity, Chapter 04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both of its subjects fail quietly. A tenant policy that someone set once in the portal can't be reviewed or compared, so nobody notices when it drifts. And a certificate that nobody rotates is simply an outage waiting for its date. So the chapter turns the policy into a reviewed file, compared with the tenant and applied through a path that can only tighten it. And it turns rotation into a plan: raised early, approved by an owner, renewed, overlapped, and only then cleaned up. Let's see where it runs.
Detail: Epigraph: a policy nobody can diff is a setting somebody changed once, and a certificate nobody rotates is an outage with a date on it. Goal: by the end of this chapter you can hold the tenant's app management policy in a reviewed file, compare it with the tenant, and apply the difference through a write path that can't loosen it. You can find from code every certificate that needs rotating, and carry each one through the plan's rotation: raised before expiry, approved by an owner, renewed in Key Vault, added beside the old one, verified, and the old one removed after the overlap. For each rule you can say whether it is Learn's, Learn's sample, or the program's design. The plan's tasks: N3.1, "new client secrets and symmetric keys blocked, certificates capped at 180 days for new apps; app instance property lock on owned apps," and N3.7, "certificates in Key Vault, rotated by the pipeline, raised before expiry and approved by the owner."
Sources: Building Non-Person Identity, Chapter 04, docs/project-plans/developer-workbooks/non-person-identity/04-app-management-policies-and-certificate-rotation.md
Workbook: Building Non-Person Identity, Chapter 04 — Epigraph;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chapter talks to two services, so it needs two hosts. The policy and application calls go to Microsoft Graph, and for a GCC tenant like this estate's, that's the worldwide Graph endpoint. The certificates live in Key Vault, and because GCC's estate uses commercial Azure, the vault sits on the commercial vault domain. GCC High and DoD have their own hosts for both, and every policy page the chapter calls lists the US Government clouds. The code never guesses: you pass the cloud, and it builds both hosts from it.
Detail: The policy and application calls go to Graph at graph.microsoft.com for Microsoft 365 GCC; GCC High and DoD use graph.microsoft.us and dod-graph.microsoft.us. Every policy page this chapter calls lists the global service, US Government L4 and US Government L5. Key Vault's data plane is &lt;vault&gt;.vault.azure.net in commercial Azure, which GCC's estate uses, and &lt;vault&gt;.vault.usgovcloudapi.net in Azure Government. The code takes the cloud as a required parameter and builds both hosts from it, and checks the host on every request.
Sources: Microsoft Learn, "Microsoft Graph national cloud deployments," https://learn.microsoft.com/graph/deployments (accessed Oct 30, 2026). · Microsoft Learn, "Get tenantAppManagementPolicy," permissions and national clouds, https://learn.microsoft.com/graph/api/tenantappmanagementpolicy-get?view=graph-rest-1.0 (accessed Oct 30, 2026). · Microsoft Learn, "Update tenantAppManagementPolicy," permissions, national clouds, request body and example, https://learn.microsoft.com/graph/api/tenantappmanagementpolicy-update?view=graph-rest-1.0 (accessed Oct 30, 2026). · Microsoft Learn, "Create appManagementPolicy," permissions, request body, response and example, https://learn.microsoft.com/graph/api/appmanagementpolicy-post?view=graph-rest-1.0 (accessed Oct 30, 2026). · Microsoft Learn, "Assign appliesTo," permissions, national clouds and examples, https://learn.microsoft.com/graph/api/appmanagementpolicy-post-appliesto?view=graph-rest-1.0 (accessed Oct 30, 2026). · Microsoft Learn, "Azure Key Vault keys, secrets, and certificates overview," DNS suffixes for object identifiers, https://learn.microsoft.com/azure/key-vault/general/about-keys-secrets-certificates (accessed Oct 30, 2026).
Workbook: Building Non-Person Identity, Chapter 04 — “Which cloud, for these reads and writes”.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code, the model. Learn describes two kinds of policy. There's one tenant default, which always exists and starts switched off, with separate restrictions for apps that live in the tenant and apps provisioned from elsewhere. And there are app-specific policies, one per app at most, which override the default for whatever they define. Restrictions only bite on apps created after a date you choose, and they never stop an existing app from getting tokens. They just refuse the change that breaks them. Beta adds more restriction types, but this chapter stays on version one.
Detail: Learn describes two kinds. The tenant default policy (tenantAppManagementPolicy) always exists, is disabled by default, and holds separate restrictions for application objects (apps homed in the tenant) and service principal objects (apps provisioned from another tenant). An app management policy (appManagementPolicy) is assigned to one application or service principal and overrides the default for the restrictions it defines; a restriction it sets to disabled doesn't apply to that app, and one it doesn't define falls back to the default. Only one app management policy can be assigned to an app. Restrictions apply to apps created after a date you choose, and neither kind blocks token issuance for an existing app: only the create or update that breaks the policy is refused. On v1.0, password credentials take passwordAddition, passwordLifetime, symmetricKeyAddition, symmetricKeyLifetime and customPasswordAddition; key credentials take asymmetricKeyLifetime, whose maxLifetime is an ISO 8601 duration; state is enabled or disabled. Beta adds more, among them trustedCertificateAuthority, audiences, the redirect URI restrictions and an audit state that evaluates a restriction without enforcing it.
Sources: Microsoft Learn, "Microsoft Entra application management policies API overview" (v1.0), tenant default policy; app management policy; restrictions; single vs multitenant apps; requirements, https://learn.microsoft.com/graph/api/resources/applicationauthenticationmethodpolicy?view=graph-rest-1.0 (accessed Oct 30, 2026). · Microsoft Learn, "Assign appliesTo," permissions, national clouds and examples, https://learn.microsoft.com/graph/api/appmanagementpolicy-post-appliesto?view=graph-rest-1.0 (accessed Oct 30, 2026). · Microsoft Learn, "passwordCredentialConfiguration resource type," https://learn.microsoft.com/graph/api/resources/passwordcredentialconfiguration?view=graph-rest-1.0 (accessed Oct 30, 2026). · Microsoft Learn, "keyCredentialConfiguration resource type," https://learn.microsoft.com/graph/api/resources/keycredentialconfiguration?view=graph-rest-1.0 (accessed Oct 30, 2026). · Microsoft Learn, "Microsoft Entra application management policies API overview" (beta), https://learn.microsoft.com/graph/api/resources/applicationauthenticationmethodpolicy?view=graph-rest-beta (accessed Oct 30, 2026). · Microsoft Learn, "tenantAppManagementPolicy resource type," https://learn.microsoft.com/graph/api/resources/tenantappmanagementpolicy?view=graph-rest-1.0 (accessed Oct 30, 2026).
Workbook: Building Non-Person Identity, Chapter 04 — “The rules the code holds” — what an app management policy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program's own rules, and most of them are labeled design guidance. New apps can't use secrets, and their certificates are capped at a hundred and eighty days, set on both object types because the admin center expects them to match. An app that truly can't use a certificate gets a time-limited exception with a record. Older apps get a year while they're fixed. Every registered app gets the property lock. No extra license is needed. And rotation joins Key Vault, which can renew a certificate, to the app registration, which renews nothing on its own.
Detail: The program's policy (design guidance): Book 04, Chapter 05 adopts Microsoft's recommended settings for every app created after the program's effective date: new client secrets and symmetric keys blocked, certificates capped at 180 days. The code sets them on both application and service principal objects, because Learn's admin center expects the application and service principal copies of a restriction to be in the same state and refuses to edit them otherwise. An app that can't use a certificate gets a documented, time-limited exception (Book 04, Chapter 06): here, an app management policy with a record number and an end date. Existing workloads move onto certificates rotated at least annually while they're remediated (Book 02, Chapter 09), so the cap the rotation checks is 180 days for apps created on or after the effective date and 365 days for older ones. The app instance property lock: an app's owner can lock the sensitive properties of its service principals (credentials used for verification and for signing, and the token encryption key ID) against change in any tenant, through the application's servicePrincipalLockConfiguration. Since June 2026 the lock is enabled by default for new applications. Book 04 locks all sensitive properties on every app registration the program owns; the code reads "owned apps" as every app registration in Chapter 01's register (research gaps, row 34). Licensing: Learn's Workload ID FAQ lists application management policies as a capability of both the free edition and Workload ID Premium. None of the Graph policy pages, nor Learn's configuration procedure, names a license. So this chapter needs no Workload ID Premium, and decision D-N4 doesn't gate it (research gaps, row 31). Premium is what Chapter 08's Conditional Access for workload identities needs. Rotation (design guidance): Book 04's lifecycle has a fourth stage: rotation "is raised automatically before expiry and approved by the owner, so the app never depends on someone remembering." Key Vault can renew a certificate on a schedule through its certificate policy's lifetime actions, but Entra ID renews nothing on the app registration. The code joins the two: a request raised raiseDays (60) before expiry; an approval from an owner who is an enabled member; the next version created in Key Vault from the vault's existing policy; the new certificate added beside the old one; the owner's record that the workload signs in with it; and, overlapDays (7) after the new certificate started, the old one removed. Secrets aren't rotated in place: each is reported for replacement by a certificate or a federated credential (Chapter 05).
Sources: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"How to configure app instance property lock for your applications," https://learn.microsoft.com/entra/identity-platform/howto-configure-app-instance-property-locks (accessed Oct 30, 2026). · Microsoft Learn, "servicePrincipalLockConfiguration resource type," https://learn.microsoft.com/graph/api/resources/serviceprincipallockconfiguration?view=graph-rest-1.0 (accessed Oct 30, 2026). · Microsoft Learn, "Frequently asked questions about Microsoft Entra Workload ID," free and premium features; free trial, https://learn.microsoft.com/entra/workload-id/workload-identities-faqs (accessed Oct 30, 2026). · Microsoft Learn, "Update tenantAppManagementPolicy," permissions, national clouds, request body and example, https://learn.microsoft.com/graph/api/tenantappmanagementpolicy-update?view=graph-rest-1.0 (accessed Oct 30, 2026). · Microsoft Learn, "Tutorial: Configure certificate autorotation in Key Vault," https://learn.microsoft.com/azure/key-vault/certificates/tutorial-rotate-certificates (accessed Oct 30, 2026).
Workbook: Building Non-Person Identity, Chapter 04 — “The rules the code holds” — the program's policy, the lock, licensing, rotation.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five Learn sources that, between them, hold the whole procedure. There's the request that turns on the tenant default, the pair that create and assign an app policy, Learn's configuration walkthrough, the request that adds a certificate to an app, and the Key Vault examples. Those samples only live inside web pages, so the repository pins their sources, unmodified and hashed, with a weekly watch for changes. Then a harness sends each request, exactly as written, to a fake Graph. That's how you find out what each one really does.
Detail: Five Learn sources hold Microsoft's procedure for this chapter. Update tenantAppManagementPolicy has the v1.0 PATCH that enables the default policy with secrets blocked and certificates capped; Create appManagementPolicy and Assign appliesTo create an app-specific policy and attach it to an app. Configure restrictions on how applications can be configured is the procedure, in the admin center and in Graph: block password addition tenant-wide, grant an app or a caller an exception, apply a restriction to one app, list custom policies, and put the policy back into the state the admin center expects. Add a certificate to an app by using Microsoft Graph PATCHes an application's keyCredentials, once replacing the existing certificates and once keeping one. For Key Vault, Learn's tutorial Configure certificate autorotation in Key Vault sets a certificate's validity and its renewal action, and the Az.KeyVault examples create a certificate from a policy and set a policy. Chapter 02's pinned Graph tutorial adds the lock samples and a default policy sample. The pinned copies: examples/third_party/graph-app-credential-policy-pages, the three policy pages and the certificate how-to from microsoftgraph/microsoft-graph-docs-contrib at commit bb35043, with the repository's licenses (MIT for code, Creative Commons Attribution 4.0 for documentation); examples/third_party/entra-app-management-policies-page, Learn's procedure from MicrosoftDocs/entra-docs at commit 7f78b50 (MIT); examples/third_party/az-keyvault-certificate-help, the Add-AzKeyVaultCertificate and Set-AzKeyVaultCertificatePolicy help pages from Azure/azure-powershell at commit 3c18cda, under the Microsoft Software License Terms for Azure PowerShell. Learn's Key Vault autorotation tutorial left the public azure-docs repository in August 2024 and isn't published elsewhere, so it is cited and not pinned (research gaps, row 39). Each snapshot.json records every file's SHA-256, checked against the upstream git blob hashes, and a unit test checks them. The weekly source watch reports new commits to each upstream file. Updating a copy is a reviewed pull request. tests/CredentialPolicySampleHarness.ps1 finds each HTTP request in a pinned page, by its name or its place, parses the method, URL, headers and body, and sends it unmodified to the fake Graph, which evaluates the v1.0 restriction types, replaces a restriction collection as a PATCH does, holds one policy per app, and refuses a new certificate longer than the effective cap. The Az examples run against stand-ins for the cmdlets that call a fake Key Vault.
Sources: Microsoft Learn, "Update tenantAppManagementPolicy," permissions, national clouds, request body and example, https://learn.microsoft.com/graph/api/tenantappmanagementpolicy-update?view=graph-rest-1.0 (accessed Oct 30, 2026). · Microsoft Learn, "Create appManagementPolicy," permissions, request body, response and example, https://learn.microsoft.com/graph/api/appmanagementpolicy-post?view=graph-rest-1.0 (accessed Oct 30, 2026). · Microsoft Learn, "Assign appliesTo," permissions, national clouds and examples, https://learn.microsoft.com/graph/api/appmanagementpolicy-post-appliesto?view=graph-rest-1.0 (accessed Oct 30, 2026). ·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"Add a certificate to an app by using Microsoft Graph," prerequisites; step 2; step 3, https://learn.microsoft.com/graph/applications-how-to-add-certificate (accessed Oct 30, 2026). · Microsoft Learn, "Tutorial: Configure certificate autorotation in Key Vault," https://learn.microsoft.com/azure/key-vault/certificates/tutorial-rotate-certificates (accessed Oct 30, 2026). · Microsoft Learn, "Add-AzKeyVaultCertificate," example 1, https://learn.microsoft.com/powershell/module/az.keyvault/add-azkeyvaultcertificate (accessed Oct 30, 2026). · Microsoft Learn, "Set-AzKeyVaultCertificatePolicy," example 1, https://learn.microsoft.com/powershell/module/az.keyvault/set-azkeyvaultcertificatepolicy (accessed Oct 30, 2026). · Microsoft Learn, "Manage Microsoft Entra applications using Microsoft Graph," lock sensitive properties for service principals; configure trusted certificate authorities for apps, https://learn.microsoft.com/graph/tutorial-applications-basics (accessed Oct 30, 2026); pinned by Chapter 02 in examples/third_party/graph-applications-tutorial-page. · Microsoft, microsoftgraph/microsoft-graph-docs-contrib, api-reference/v1.0/api/tenantappmanagementpolicy-update.md, appmanagementpolicy-post.md, appmanagementpolicy-post-appliesto.md and concepts/applications-how-to-add-certificate.md at commit bb35043c742d4406d73ccae904c05fbfca7c7428 (October 31, 2026, 00:42 UTC), code MIT License, documentation Creative Commons Attribution 4.0, https://github.com/microsoftgraph/microsoft-graph-docs-contrib/tree/bb35043c742d4406d73ccae904c05fbfca7c7428 (accessed Oct 30, 2026); pinned copy in examples/third_party/graph-app-credential-policy-pages. · Microsoft, MicrosoftDocs/entra-docs, docs/identity/enterprise-apps/configure-app-management-policies.md at commit 7f78b50dce9d8cf119de57cbd6fd66e24a6c58d4 (October 30, 2026; the page last changed June 15, 2026), MIT License, https://github.com/MicrosoftDocs/entra-docs/blob/7f78b50dce9d8cf119de57cbd6fd66e24a6c58d4/docs/identity/enterprise-apps/configure-app-management-policies.md (accessed Oct 30, 2026); pinned copy in examples/third_party/entra-app-management-policies-page. · Microsoft, Azure/azure-powershell, src/KeyVault/KeyVault/help/Add-AzKeyVaultCertificate.md and Set-AzKeyVaultCertificatePolicy.md at commit 3c18cdad2344172de6c9c9b08cb030cf20432dbc (October 29, 2026), Microsoft Software License Terms for Microsoft Azure PowerShell, https://github.com/Azure/azure-powershell/tree/3c18cdad2344172de6c9c9b08cb030cf20432dbc/src/KeyVault/KeyVault/help (accessed Oct 30, 2026); pinned copy in examples/third_party/az-keyvault-certificate-help.
Workbook: Building Non-Person Identity, Chapter 04 — “What Microsoft gives you”; “The pinned copies”.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samples get interesting, because run as published, several of them would hurt you. The tenant update's start dates reach back years, so it would refuse the next normal certificate on an old app. Its body isn't even strict. Learn's own procedure updates only two restrictions, and since an update replaces the whole collection, anything it forgets is silently switched off. The assignment sample sends a placeholder, and the tutorial uses a property version one refuses. The code keeps the good shape and fixes each of these, and a test pins every row.
Detail: Each row is pinned by a test in the Microsoft samples block of tests/NpiCredentialPolicy.Tests.ps1; what the code adds in each row is pinned in its blocks for the policy, the rotation and the write path. Update tenantAppManagementPolicy enables the default with secrets blocked and certificates capped: kept as the model for the PATCH. Its start dates (2015 to 2021) reach existing apps, and its cap is 30 days: sent as written, it refuses the next 180-day certificate on an app created years ago; the code uses one effective date from the reviewed file, for new apps only, and existing apps are rotated under their own cap. It sets no state on any restriction: what Graph does with a restriction without a state isn't stated (research gaps, row 32); every restriction carries an explicit state. It isn't strict JSON (a trailing comma): PowerShell forgives it, a JSON library doesn't; bodies are built as data and serialized. It sets application restrictions only: the admin center expects the application and service principal copies in the same state; both objects get the same restrictions. Learn's procedure PATCH names two restrictions; a PATCH replaces the collection, so a restriction it doesn't name is dropped: Learn says to include the existing ones, and a script that forgets turns one off; the body carries every restriction the tenant has, and the writer refuses a body that loosens or drops one. Learn's procedure sends every policy request to /beta: beta isn't supported in production; v1.0 throughout. Create appManagementPolicy makes a policy: kept as the model for an exception, with the record and end date in the name and description. Assign appliesTo sends a literal {id}, and a second policy on the same app is refused: an app takes one policy; the plan checks every policy's assignments first (ForeignPolicyAssigned, NPI-POL-04). The Graph tutorial's default policy sample uses certificateLifetime, which v1.0 refuses, and labels a PATCH with a read permission: copied, it fails, or it's run with the wrong permission; only v1.0 restriction types, and the call list holds Policy.ReadWrite.ApplicationConfiguration for writes and Policy.Read.All for reads. The tutorial locks one app's properties on /beta and reads nothing first: the plan's task is every app the program owns; the lock state of every app registration in the register is read on v1.0, and only unlocked or partly locked apps are written. Every Graph sample hard-codes graph.microsoft.com: the host is wrong for GCC High and DoD; the host comes from the cloud table, checked on every request.
Sources: Microsoft Learn, "Update tenantAppManagementPolicy," permissions, national clouds, request body and example, https://learn.microsoft.com/graph/api/tenantappmanagementpolicy-update?view=graph-rest-1.0 (accessed Oct 30, 2026). · Microsoft Learn, "Create appManagementPolicy," permissions, request body, response and example, https://learn.microsoft.com/graph/api/appmanagementpolicy-post?view=graph-rest-1.0 (accessed Oct 30, 2026). · Microsoft Learn, "Assign appliesTo," permissions, national clouds and examples, https://learn.microsoft.com/graph/api/appmanagementpolicy-post-appliesto?view=graph-rest-1.0 (accessed Oct 30, 2026). ·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"Manage Microsoft Entra applications using Microsoft Graph," lock sensitive properties for service principals; configure trusted certificate authorities for apps, https://learn.microsoft.com/graph/tutorial-applications-basics (accessed Oct 30, 2026); pinned by Chapter 02 in examples/third_party/graph-applications-tutorial-page. · Microsoft Learn, "keyCredentialConfiguration resource type," https://learn.microsoft.com/graph/api/resources/keycredentialconfiguration?view=graph-rest-1.0 (accessed Oct 30, 2026).
Workbook: Building Non-Person Identity, Chapter 04 — “What it leaves to you” — the policy rows.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certificate samples have a sharper problem. Learn's first example for adding a certificate replaces every certificate the app had, so the old one vanishes the instant the new one lands, with no overlap at all. The Key Vault example asks for six months, which is just over the cap. And none of the samples ever puts the renewed certificate on the app, asks the owner, or removes the old one. So the verdict is: keep the version one requests as models for the writes, and don't run any of them as published.
Detail: Add a certificate's first PATCH replaces every certificate the app had: the old certificate disappears the moment the new one is added, with no overlap; an attach keeps every existing certificate with its key and adds exactly one. Its second PATCH keeps the old certificate by a thumbprint written as hex text, with no keyId: how Graph matches a kept entry isn't stated (research gaps, row 37); kept certificates are sent with keyId, type, usage, key and displayName. Its certificate lasts 364 days; the page allows up to a year: over the 180-day cap for new apps; lifetime is checked against the app's cap before the attach (LifetimeOverCap). Add-AzKeyVaultCertificate's example asks for 6 months, more than 180 days, as its own output shows: six months is 181 to 184 days; a certificate policy longer than the cap stops the renewal (KeyVaultPolicyOverCap; research gaps, row 39). Its code and output share one block: it can't be run as published; the harness runs its command lines. Set-AzKeyVaultCertificatePolicy's example sets no lifetime action: nothing renews and nobody is told; the rotation is raised by this code from the register, whatever the vault's lifetime actions. Key Vault renews; nothing in the samples puts the certificate on the app registration, asks the owner or removes the old one: the plan's N3.7 is left to you; the rotation plan: raise, approve, renew, attach, verify, overlap, remove. The verdict: use the v1.0 policy requests and the certificate PATCH as the models for the writes, and Learn's procedure for what the admin center expects. Don't run them as published: their dates reach existing apps, their PATCHes replace collections, and none of them raises, approves or overlaps a rotation.
Sources: Microsoft Learn, "Add a certificate to an app by using Microsoft Graph," prerequisites; step 2; step 3, https://learn.microsoft.com/graph/applications-how-to-add-certificate (accessed Oct 30, 2026). · Microsoft Learn, "Add-AzKeyVaultCertificate," example 1, https://learn.microsoft.com/powershell/module/az.keyvault/add-azkeyvaultcertificate (accessed Oct 30, 2026). · Microsoft Learn, "Set-AzKeyVaultCertificatePolicy," example 1, https://learn.microsoft.com/powershell/module/az.keyvault/set-azkeyvaultcertificatepolicy (accessed Oct 30, 2026). · Microsoft Learn, "Tutorial: Configure certificate autorotation in Key Vault," https://learn.microsoft.com/azure/key-vault/certificates/tutorial-rotate-certificates (accessed Oct 30, 2026). · Microsoft Learn, "Update application," permissions, national clouds, request body and example 2, https://learn.microsoft.com/graph/api/application-update?view=graph-rest-1.0 (accessed Oct 30, 2026).
Workbook: Building Non-Person Identity, Chapter 04 — “What it leaves to you” — the certificate and Key Vault rows;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One module, two scripts that only read, and a single separate script that can write. What drives it is a handful of small files, each with a clear keeper. Identity engineering owns the reviewed policy file and the rotation settings, like how early to raise and how long to overlap. Application owners keep three simple records: which vault holds each app's certificate, who approved each rotation, and who confirmed the workload signs in with the new one. Every rotation carries one request ID from start to finish.
Detail: This chapter's code is powershell/NpiCredentialPolicy/NpiCredentialPolicy.psm1; three entry scripts, Invoke-NpiCredentialPolicy.ps1 and Invoke-NpiRotation.ps1, which only read, and Invoke-NpiCredentialAction.ps1, the write path; the call list config/calls-ch04.json; the reviewed policy config/app-management-policy.json; the rotation rules config/rotation.json; and three input files kept with the records. Inputs: Chapter 01's run folder, kept by the pipeline: register.json and manifest.json; both reads refuse a register whose SHA-256 isn't the manifest's. config/app-management-policy.json, kept by identity engineering through a reviewed pull request: the effective date, the default restrictions and the objects they apply to, each exception with its record, app, end date and restrictions, and the lock. config/rotation.json, identity engineering: raiseDays 60, overlapDays 7, approvalValidDays 30, maxLifetimeDays 180, legacyMaxLifetimeDays 365, maxPlanAgeDays 7. certificate-bindings.csv, application owners: for each app, AppObjectId, Vault, CertificateName. rotation-approvals.csv, application owners: RequestId, ApprovedBy, ApprovedOn. rotation-verifications.csv, application owners: RequestId, NewThumbprint, VerifiedBy, VerifiedOn: the workload signs in with the new certificate. A request ID is ROT:&lt;app object ID&gt;:&lt;keyId of the certificate being replaced&gt;, so it stays the same from the first raise to the removal.
Sources: Building Non-Person Identity, Chapter 04, docs/project-plans/developer-workbooks/non-person-identity/04-app-management-policies-and-certificate-rotation.md
Workbook: Building Non-Person Identity, Chapter 04 — “The code: what examples/non-person-identity adds”; “The inputs”.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policy side works. The code reads the tenant's default, every app policy and what it's assigned to, and each app's lock. Then it compares, restriction by restriction, on both object types. Where the tenant is weaker, it adds the program's rule. Where the tenant is already stricter, or holds something the file doesn't mention, it keeps the tenant's. That merged body is the key: an update can never drop or loosen anything. The plan then turns the diff, the exceptions and the locks into actions, and nothing in it writes.
Detail: Get-NpiAppPolicyState reads, through a reader for the app-policy task, the default policy, every app management policy with what it applies to, and each app registration's createdDateTime and servicePrincipalLockConfiguration. Compare-NpiAppPolicy compares the default with the file, restriction by restriction, on both objects. Add, Change: the tenant lacks the program's restriction, or holds a weaker one; in the PATCH body, the program's restriction, state explicit, the effective date. KeepStricter: the tenant already holds it enabled, from an earlier date, or with a shorter lifetime; the tenant's, unchanged. KeepExisting: a restriction the file doesn't name; the tenant's, unchanged. Same: nothing to do; unchanged. The body is merged: every restriction the tenant already has is in it, so the PATCH never drops one and never loosens one. New-NpiPolicyPlan turns the diff, the exceptions and the locks into actions. Nothing in it writes. Actions: PatchDefaultPolicy when the diff has an Add or Change, precheck the SHA-256 of the default policy as it was read, writes after review. DefaultPolicyInPlace when the default already holds the file's restrictions, no write. CreateAppPolicy, AssignAppPolicy: an exception in force with no policy yet, or not yet assigned, writes after review. AppPolicyInPlace, AssignmentInPlace, AppPolicyDrift: the exception's policy exists, is assigned, or differs from the file (a person updates it), no write. ForeignPolicyAssigned: the app already holds another policy, and an app takes one, no write. ExceptionExpired: the exception's end date has passed; a person removes the assignment through the reviewed process; no write. LockApp: an app registration with no lock, a disabled lock, or only some properties locked; writes after review. AlreadyLocked: all sensitive properties locked; no write. Rules: NPI-POL-01 Finding, a default restriction the tenant doesn't hold yet. NPI-POL-02 Warn, an app management policy that isn't in the reviewed file, with the apps it applies to; the code never changes or deletes it. NPI-POL-03 Finding, an expired exception whose policy is still assigned. NPI-POL-04 Finding, an exception that can't be assigned: the app holds another policy. NPI-POL-05 Info, a restriction kept as the tenant has it (KeepStricter, KeepExisting). NPI-POL-06 Finding, an app registration without the full app instance property lock.
Sources: Microsoft Learn, "Update tenantAppManagementPolicy," permissions, national clouds, request body and example, https://learn.microsoft.com/graph/api/tenantappmanagementpolicy-update?view=graph-rest-1.0 (accessed Oct 30, 2026). · Microsoft Learn, "Assign appliesTo," permissions, national clouds and examples, https://learn.microsoft.com/graph/api/appmanagementpolicy-post-appliesto?view=graph-rest-1.0 (accessed Oct 30, 2026). · Microsoft Learn, "servicePrincipalLockConfiguration resource type," https://learn.microsoft.com/graph/api/resources/serviceprincipallockconfiguration?view=graph-rest-1.0 (accessed Oct 30, 2026). · Microsoft Learn, "List appManagementPolicies," permissions, https://learn.microsoft.com/graph/api/appmanagementpolicy-list?view=graph-rest-1.0 (accessed Oct 30, 2026). · Microsoft Learn, "List appliesTo," permissions, https://learn.microsoft.com/graph/api/appmanagementpolicy-list-appliesto?view=graph-rest-1.0 (accessed Oct 30, 2026).
Workbook: Building Non-Person Identity, Chapter 04 — “The policy: read, compare, plan”.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Rotation works the same way: read everything, then give each certificate exactly one next step. A certificate far from expiry is left alone. One that's due waits for an owner's approval, and an approval only counts if it's recent and from an enabled owner. Approved, it's renewed in Key Vault using the vault's own policy. The new certificate is attached beside the old one, the owner confirms the workload uses it, a week of overlap runs, and only then does the old one go. Secrets aren't rotated at all. They're flagged for replacement.
Detail: New-NpiRotationPlan reads, through a reader for the rotation task, each app registration in the register with $select=keyCredentials,passwordCredentials (a credential's key comes back only on a single-object read that selects it), its Key Vault certificate's current version from the binding, its owners, and the approver. It matches an app's certificate to Key Vault's by thumbprint: Key Vault's x5t, and Graph's customKeyIdentifier, which defaults to the certificate's thumbprint (research gaps, row 36). Each certificate gets one step. NotDue: Key Vault's current certificate is the app's, and it expires more than 60 days away; no write. AwaitOwnerApproval: due, or Key Vault holds a newer certificate, and no owner has approved; a request is written to rotation-requests.json; no write. ApprovalRefused: the approver isn't an enabled member, isn't an owner, or approved more than 30 days ago. KeyVaultPolicyOverCap: Key Vault's policy would make the next version longer than the app's cap (months × 31 days). RenewInKeyVault: due and approved: POST /certificates/{name}/create with an empty body, so the vault's own policy makes the next version; precheck the vault's current x5t; writes after review. LifetimeOverCap, KeyVaultCertificateExpired: Key Vault's new certificate is longer than the cap, or already expired. AttachNewCertificate: Key Vault's current certificate isn't on the app, and an owner approved: PATCH /applications/{id} with every existing certificate and the new one; precheck the app's keyIds and the vault's thumbprint; writes after review. AwaitVerification: the new certificate is on the app beside the old one; its owner hasn't recorded that the workload signs in with it. OverlapRunning: verified, but fewer than 7 days since the new certificate started. RemoveOldCertificate: verified and the overlap passed: PATCH /applications/{id} with every certificate except the old one; writes after review. Expired: the certificate expired with no replacement. NoKeyVaultBinding: a certificate with no Key Vault binding. ReplaceSecret: a client secret, replaced by a certificate or federation (Chapter 05), not rotated. Rules: NPI-ROT-01 Finding, a rotation due, or a new certificate waiting, with no owner's approval. NPI-ROT-02 Finding, a certificate credential with no Key Vault binding. NPI-ROT-03 Finding, a certificate, or Key Vault's current one, expired with no replacement. NPI-ROT-04 Warn, an approval refused. NPI-ROT-05 Finding, a certificate, a Key Vault certificate or a Key Vault policy longer than the app's cap. NPI-ROT-06 Info, a client secret: replace, don't rotate. NPI-ROT-07 Info, a new certificate awaiting the owner's verification. Both plans are written with the register's SHA-256, the tenant, the cloud and the date, keys sorted, so the same inputs give the same file byte for byte and a reviewer approves a hash.
Sources: Microsoft Learn, "keyCredential resource type," https://learn.microsoft.com/graph/api/resources/keycredential?view=graph-rest-1.0 (accessed Oct 30, 2026). · Microsoft Learn, "Certificate creation methods," asynchronous process; first creation, https://learn.microsoft.com/azure/key-vault/certificates/create-certificate (accessed Oct 30, 2026). · Microsoft Learn, "Get application," permissions, https://learn.microsoft.com/graph/api/application-get?view=graph-rest-1.0 (accessed Oct 30, 2026).
Workbook: Building Non-Person Identity, Chapter 04 — “Rotation: the plan”.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script in this chapter can write, and it's built to say no. It won't run a plan unless the plan's hash matches the one a reviewer approved, and the plan is for this tenant, this cloud, and less than a week old. Every request body is checked against what's allowed: the policy can't loosen, an attach adds exactly one certificate, and the Key Vault request can't change the vault's policy. Just before each write, it re-reads the target and skips anything that changed. And a live run is always a signed-in person, never an unattended app.
Detail: Invoke-NpiCredentialAction.ps1 is the only code in this chapter that can write, through a client for the plan's task (policy-apply or rotation-apply). It refuses to run unless the plan file's SHA-256 is the one passed as -ApprovedSha256, the plan is for this tenant, cloud and task and no more than seven days old, and each write is a declared call with the declared method on this cloud's host. Bodies are checked against what the call list allows: the default policy PATCH sets only isEnabled (true), applicationRestrictions and servicePrincipalRestrictions, only v1.0 restriction types, and, checked again against the policy read just before the write, never loosens or drops a live restriction; a policy create carries a name and a description; an assignment names an app management policy on this cloud's host; the lock body is exactly {"isEnabled": true, "allProperties": true}; an attach keeps every planned keyId and adds exactly one certificate; a removal drops only the planned old certificates and keeps the new one; every credential is an AsymmetricX509Cert for Verify with its public key; the Key Vault create body is empty: the rotation never changes a certificate policy; DELETE and PUT are never sent. Before each write it re-reads the target and skips the write if the precheck no longer holds: the default policy changed since the diff was reviewed, a policy with the exception's name exists, the app already holds a policy, the app is already locked, the app's certificates or the vault's current version changed. Without -Apply it stops after the prechecks and reports WouldSend. With -Apply it sends, polls a Key Vault create until it completes, and records every request in its manifest. A live run is delegated: a person signed in with Cloud Application Administrator and, for a rotation, Key Vault Certificates Officer on the vault. Key Vault certificate creation is asynchronous, returning 202; poll the pending object; without a policy in the request, the vault's policy makes the next version (GA, API version 2025-07-01).
Sources: Microsoft Learn, "Get Certificate Operation" (Key Vault REST, 2025-07-01), https://learn.microsoft.com/rest/api/keyvault/certificates/get-certificate-operation/get-certificate-operation (accessed Oct 30, 2026). · Microsoft Learn, "Create Certificate" (Key Vault REST, 2025-07-01), https://learn.microsoft.com/rest/api/keyvault/certificates/create-certificate/create-certificate (accessed Oct 30, 2026). · Microsoft Learn, "Certificate creation methods," asynchronous process; first creation, https://learn.microsoft.com/azure/key-vault/certificates/create-certificate (accessed Oct 30, 2026). · Microsoft Learn, "Update application," permissions, national clouds, request body and example 2, https://learn.microsoft.com/graph/api/application-update?view=graph-rest-1.0 (accessed Oct 30, 2026).
Workbook: Building Non-Person Identity, Chapter 04 — “The separate write path”.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Four groups. Developers build it. Identity engineers run it and keep the reviewed files. Application owners approve each rotation and confirm their workloads still sign in. And the I S S Os review the evidence. The permissions are split cleanly: the reads hold only read permissions, and anything that writes is delegated to a signed-in person. That matters, because an unattended app with permission to update every application could add a credential to all of them. Microsoft does offer a self-rolling key option, but it skips the owner's approval.
Detail: Audience: developers who build the project's credential code, the identity engineers who run it, the application owners who approve rotations, and the ISSOs who review the evidence. You should read PowerShell 7 and know Chapters 01 and 02. You don't need a tenant until Lab 2. Tasks: app-policy (read): GET /policies/defaultAppManagementPolicy, /policies/appManagementPolicies, .../{id}/appliesTo, /applications/{id}; Application.Read.All, Policy.Read.All. policy-apply (write, delegated only): the reads; PATCH /policies/defaultAppManagementPolicy; POST /policies/appManagementPolicies; POST /applications/{id}/appManagementPolicies/$ref; PATCH /applications/{id} (lock); Application.Read.All, Application.ReadWrite.All, Policy.Read.All, Policy.ReadWrite.ApplicationConfiguration; Cloud Application Administrator. rotation (read): GET /applications/{id}, .../owners, /users/{id}; Key Vault GET /certificates/{name}; Application.Read.All, User.Read.All; Key Vault Reader (research gaps, row 35). rotation-apply (write, delegated only): GET /applications/{id}; Key Vault GET /certificates/{name}, POST .../create, GET .../pending; PATCH /applications/{id} (keyCredentials); Application.Read.All, Application.ReadWrite.All; Key Vault Reader, Key Vault Certificates Officer; Cloud Application Administrator. Application.ReadWrite.All is the least-privileged delegated permission for updating an application; the application permission Application.ReadWrite.OwnedBy reaches only apps the caller owns. Learn's addKey and removeKey let an app roll its own keys with a proof of possession signed by an existing certificate, and no permission at all; they can't be used by an app with no valid certificate. The program's path is a person's reviewed run instead, because the plan asks for the owner's approval (research gaps, row 37). Key Vault roles: Certificates Officer can perform any action on certificates except managing permissions; Reader reads metadata, with no sensitive values.
Sources: Microsoft Learn, "Get tenantAppManagementPolicy," permissions and national clouds, https://learn.microsoft.com/graph/api/tenantappmanagementpolicy-get?view=graph-rest-1.0 (accessed Oct 30, 2026). · Microsoft Learn, "Update tenantAppManagementPolicy," permissions, national clouds, request body and example, https://learn.microsoft.com/graph/api/tenantappmanagementpolicy-update?view=graph-rest-1.0 (accessed Oct 30, 2026). · Microsoft Learn, "List appManagementPolicies," permissions, https://learn.microsoft.com/graph/api/appmanagementpolicy-list?view=graph-rest-1.0 (accessed Oct 30, 2026). · Microsoft Learn, "List appliesTo," permissions, https://learn.microsoft.com/graph/api/appmanagementpolicy-list-appliesto?view=graph-rest-1.0 (accessed Oct 30, 2026). · Microsoft Learn, "Get application," permissions, https://learn.microsoft.com/graph/api/application-get?view=graph-rest-1.0 (accessed Oct 30, 2026). · Microsoft Learn, "Update application," permissions, national clouds, request body and example 2, https://learn.microsoft.com/graph/api/application-update?view=graph-rest-1.0 (accessed Oct 30, 2026). · Microsoft Learn, "application: addKey," https://learn.microsoft.com/graph/api/application-addkey?view=graph-rest-1.0 (accessed Oct 30, 2026). · Microsoft Learn, "Provide access to Key Vault keys, certificates, and secrets with Azure role-based access control," access model; built-in roles for data plane operations, https://learn.microsoft.com/azure/key-vault/general/rbac-guide (accessed Oct 30, 2026). · Microsoft Learn, "Certificate access control," grant access to certificates; troubleshoot, https://learn.microsoft.com/azure/key-vault/certificates/certificate-access-control (accessed Oct 30, 2026).
Workbook: Building Non-Person Identity, Chapter 04 — “Goal and audience”; “The separate write path” — tasks and permissions.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First you send Microsoft's samples to the fakes, and the tests show what you'd otherwise take on trust, including Learn's own update quietly dropping a restriction. Then you compare the policy and build its plan. It finds six restrictions to add, one to change, and one to keep exactly as the tenant has it. You dry-run the plan, apply it to the fake, and then try a hash nobody approved. The script refuses. Next, the rotation half.
Detail: You need PowerShell 7.1 or later with Pester 5. Work in examples/non-person-identity, with Chapter 01's out/inventory in place (Lab 1 of Chapter 01, step 3). Step 1, send Microsoft's samples to the fakes: Invoke-Pester -Path tests/NpiCredentialPolicy.Tests.ps1 -FullNameFilter '*Microsoft*samples*' -Output None -PassThru | Select-Object PassedCount, FailedCount, NotRunCount gives PassedCount 19, FailedCount 0, NotRunCount 32 (the 32 are the code's own tests). Read the test that sends Learn's procedure PATCH: the tenant's customPasswordAddition is gone afterward. Step 2, list what each task needs with Get-NpiCh04RequiredPermission: app-policy: Application.Read.All, Policy.Read.All; policy-apply: Application.Read.All, Application.ReadWrite.All, Policy.Read.All, Policy.ReadWrite.ApplicationConfiguration; rotation: Application.Read.All, User.Read.All, Key Vault Reader; rotation-apply: Application.Read.All, Application.ReadWrite.All, Key Vault Certificates Officer, Key Vault Reader. Step 3, compare the policy and build its plan: ./Invoke-NpiCredentialPolicy.ps1 -Cloud gcc -RegisterRun out/inventory -FixturePath tests/fixtures/ch04/tenant.json -OutputPath out/policy. Output: "Policy: tenant default disabled; 1 app management policies; 7 app registrations"; "Diff: 6 Add, 1 Change, 1 KeepExisting"; "Findings: 12 Finding, 1 Warn, 1 Info"; "Policy plan: 10 actions, 8 of them writes (1 AssignAppPolicy, 1 CreateAppPolicy, 5 LockApp, 1 PatchDefaultPolicy); nothing sent"; "Plan SHA-256: 2d4c419a05b7792470e59a5969f94f1b6452cba079a47595336c4d451cbfa809". The plan's hash is the same on every run with these inputs. Step 4, read the diff (policy-diff.json): isEnabled Change to true; passwordAddition, symmetricKeyAddition Add, enabled for apps created after 2026-11-15, on both applicationRestrictions and servicePrincipalRestrictions; asymmetricKeyLifetime Add, enabled P180D for apps created after 2026-11-15, on both; customPasswordAddition KeepExisting (not in the reviewed file). The tenant's customPasswordAddition stays in the PATCH body. The one Warn is NPI-POL-02: Vendor portal legacy exception, an app management policy on Vendor Portal that nobody reviewed. The plan reports it and never touches it. Five apps get the lock: Payroll Export, Build Pipeline and Mail Automation have none, Legacy Reports has it disabled, and Vendor Portal locks only some properties; HR Connector and Deploy Bot are already fully locked. Step 5, dry-run the policy plan with its approved hash, apply it to the fake, then try a hash nobody approved: DryRun: 8 WouldSend (PatchDefaultPolicy PATCH https://graph.microsoft.com/v1.0/policies/defaultAppManagementPolicy; CreateAppPolicy POST .../policies/appManagementPolicies; AssignAppPolicy POST .../applications/0a000000-0000-4000-8000-000000000006/appManagementPolicies/$ref; five LockApp PATCHes to applications ...0001, ...0003, ...0004, ...0005 and ...0006). Then Apply: 8 Sent, and the refusal: "The plan's SHA-256 is 2d4c419a…, not the approved 0000…; refusing to run a plan nobody reviewed." -Apply in Lab 1 changes only the fake, in memory.
Sources: Building Non-Person Identity, Chapter 04, docs/project-plans/developer-workbooks/non-person-identity/04-app-management-policies-and-certificate-rotation.md
Workbook: Building Non-Person Identity, Chapter 04 — “Lab 1: fixtures, no tenant,” steps 1–5;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rotation plan is where the design becomes concrete. Each fictional app is at a different point in its life. One is due and freshly approved, so it's renewed in Key Vault. One was already renewed by the vault, so the new certificate is attached beside the old. One has been verified and has finished its overlap, so its old certificate goes. And three apps still use secrets, which are flagged for replacement. Apply it to the fake, run the full suite, and five hundred thirteen tests pass.
Detail: Step 6, build the rotation plan: ./Invoke-NpiRotation.ps1 -Cloud gcc -RegisterRun out/inventory -InputPath tests/fixtures/ch04/inputs -FixturePath tests/fixtures/ch04/tenant.json -OutputPath out/rotation. Output: "Rotation: 7 app registrations read; 7 steps"; "Findings: 2 Finding, 0 Warn, 3 Info; 0 requests for owners"; "Rotation plan: 3 writes (1 AttachNewCertificate, 1 RemoveOldCertificate, 1 RenewInKeyVault); nothing sent"; "Plan SHA-256: d54726465dddc6ccdf03d9df2137e77e31547e9aade890d11bd7053653fa0d8f". Step 7, read the plan: AttachNewCertificate Deploy Bot (write); RemoveOldCertificate HR Connector (write); ReplaceSecret Legacy Reports; NoKeyVaultBinding Legacy Reports; ReplaceSecret Mail Automation; ReplaceSecret Payroll Export; RenewInKeyVault Vendor Portal (write). Vendor Portal's certificate expires December 1, inside the 60 days, and Erin, an enabled member who owns it, approved on October 28: renew it in Key Vault. Key Vault renewed Deploy Bot's on its own lifetime action on October 25 and Carol approved: add the new certificate beside the old one. HR Connector's new certificate started October 20, Alice verified it on October 22 and the 7 days have passed: remove the old one. Legacy Reports' certificate isn't in Key Vault and lasts 730 days (NPI-ROT-02 and NPI-ROT-05), and three apps still have secrets (NPI-ROT-06). Step 8, dry-run the rotation, then apply it to the fake: DryRun: 3 WouldSend: AttachNewCertificate PATCH https://graph.microsoft.com/v1.0/applications/0a000000-0000-4000-8000-000000000007; RemoveOldCertificate PATCH .../applications/0a000000-0000-4000-8000-000000000002; RenewInKeyVault POST https://kv-npi-contoso.vault.azure.net/certificates/vendor-portal/create?api-version=2025-07-01. Then Apply: 3 Sent. out/rotation-apply/results.json tells you what's next for each: record the verification when Deploy Bot signs in with 26D76A71…; the old HR Connector certificate is removed; for Vendor Portal, "Key Vault created the next version; plan again to attach it after review." Each run starts from the fixture, so the next plan is a new review: the test that runs a whole rotation in one tenant carries Vendor Portal through every step. Step 9, Invoke-Pester -Path tests. Expected result: 513 tests passing across the example, this chapter's 51 among them; out/policy/manifest.json listing the reads with Application.Read.All and Policy.Read.All and the SHA-256 of the register, the reviewed file and the default policy as read; out/rotation-apply/manifest.json listing the prechecks, the two PATCHes, the Key Vault create and its poll. Delete out when you're done. The tests: Pester 5 under PowerShell 7; tests/NpiCredentialPolicy.Tests.ps1 holds this chapter's 51: 19 for Microsoft's samples as published, 5 for the call list (the least-privilege union among them), 10 for the policy, 9 for the rotation, including one that runs a whole rotation in one tenant from renewal to removal, 7 for the write path's refusals, dry run, prechecks and -Apply, and the entry scripts.
Sources: Microsoft Learn, "Create Certificate" (Key Vault REST, 2025-07-01), https://learn.microsoft.com/rest/api/keyvault/certificates/create-certificate/create-certificate (accessed Oct 30, 2026).
Workbook: Building Non-Person Identity, Chapter 04 — “Lab 1: fixtures, no tenant,” steps 6–9;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vault, never production, and it's built to answer the open questions the chapter couldn't settle from documentation alone. You read and plan with read-only rights, keep the policy as it was before, then apply as a signed-in administrator and check the admin center agrees. You try to break the policy on purpose. Then you carry one certificate through a full rotation, recording what Graph and Key Vault actually return. Finally, because this code never loosens a policy, a person backs it out.
Detail: Use a test tenant in the worldwide or GCC cloud and a test key vault using Azure RBAC, never production, with fictional people, and Chapter 01's Lab 2 run (out/inventory-test). Copy config/app-management-policy.json and config/rotation.json to a test folder; the reviewed files don't change. 1 Prepare: two test app registrations, npi-test-cert, with two test owners who are enabled members, and npi-test-secret. In the test vault, create a self-signed certificate npi-test-cert with a validity of 5 months, as Learn's tutorial does with the portal or Add-AzKeyVaultCertificate, and upload its public certificate to npi-test-cert. Add a row for it to certificate-bindings.csv. In your test copy of the policy, set the effective date to yesterday, so the two test apps are covered. 2 Read and plan the policy with an app or a person holding only Application.Read.All and Policy.Read.All (Global Reader for a person): ./Invoke-NpiCredentialPolicy.ps1 -Cloud gcc -RegisterRun out/inventory-test -ConfigPath &lt;test-copy&gt;/app-management-policy.json -OutputPath out/policy-test. Keep out/policy-test/default-policy-before.json: it's the back-out. 3 Review, dry-run and apply, signed in as a person with Cloud Application Administrator: Connect-MgGraph -Environment Global -TenantId &lt;tenant-id&gt; -Scopes Application.Read.All, Application.ReadWrite.All, Policy.Read.All, Policy.ReadWrite.ApplicationConfiguration; then Invoke-NpiCredentialAction.ps1 with -ApprovedSha256 &lt;sha&gt;, first without and then with -Apply. Record whether Cloud Application Administrator alone was enough (research gaps, row 33) and the state Graph returns for each restriction (row 32). In the admin center, Entra ID &gt; Enterprise apps &gt; Application policies should show Block password addition and Restrict max certificate lifetime on, with no "modified outside of this interface" message. 4 Check the policy: try to add a client secret to npi-test-secret, and a 12-month certificate to npi-test-cert: both should be refused. Check that npi-test-cert's lock shows all properties. 5 Raise the rotation: in your test copy of rotation.json, set raiseDays above the certificate's remaining days. Run Invoke-NpiRotation.ps1 with -ConfigPath and -PolicyPath set to the test copies; npi-test-cert should be AwaitOwnerApproval with a request in rotation-requests.json. Have one test owner add the approval, and run it again: RenewInKeyVault. 6 Renew and attach, signed in to Graph as in step 3 and to Azure as a person with Key Vault Certificates Officer on the test vault (Connect-AzAccount -Environment AzureCloud -Tenant &lt;tenant-id&gt;): dry-run and apply the plan, plan again (AttachNewCertificate), review, dry-run and apply. Record whether Key Vault Reader alone returns cer and x5t for the read (row 35), whether the thumbprint match held (row 36), and whether Invoke-AzRestMethod -ResourceId reached the vault (row 38). 7 Verify, then remove: sign in as the app with the new certificate, as Learn's how-to does with Connect-MgGraph -CertificateThumbprint, add the verification row, and after the overlap plan, review and apply the removal. Confirm the kept certificate's keyId is unchanged (row 37). 8 Back it out: as a person in Graph Explorer, PATCH the default policy back to default-policy-before.json (a restriction you added can be set to disabled, and isEnabled to false: the default is disabled until you enable it); this code never loosens a policy, so the back-out is a person's. Remove the test exception's assignment and delete the test policy, delete both test apps and the test certificate, and delete the out folders.
Sources: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"Add a certificate to an app by using Microsoft Graph," prerequisites; step 2; step 3, https://learn.microsoft.com/graph/applications-how-to-add-certificate (accessed Oct 30, 2026). · Microsoft Learn, "tenantAppManagementPolicy resource type," https://learn.microsoft.com/graph/api/resources/tenantappmanagementpolicy?view=graph-rest-1.0 (accessed Oct 30, 2026). · Microsoft Learn, "Tutorial: Configure certificate autorotation in Key Vault," https://learn.microsoft.com/azure/key-vault/certificates/tutorial-rotate-certificates (accessed Oct 30, 2026). · Microsoft Learn, "Add-AzKeyVaultCertificate," example 1, https://learn.microsoft.com/powershell/module/az.keyvault/add-azkeyvaultcertificate (accessed Oct 30, 2026).
Workbook: Building Non-Person Identity, Chapter 04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not a reminder in a runbook. The most dangerous is the quiet one: an update that forgets a restriction and switches it off, so the writer re-reads the live policy and refuses anything looser. A retroactive start date breaks rotations on the very day they're due. A certificate that replaces the old one takes the workload down. And an unattended app that can update every application is a standing risk, so writes are always a signed-in person. Notice the pattern: each guard runs every time.
Detail: A PATCH that drops a restriction: a collection is replaced whole, and a restriction the body forgets is gone; guard: the body carries every live restriction, and the writer re-reads the policy and refuses a body that loosens or drops one. A retroactive start date: every existing app's next certificate is refused, and rotations fail on the day they're needed; guard: one effective date, for new apps, and existing apps rotate under their own cap. A plan changed after review, or a tenant changed since: different writes from the ones approved; guard: the approved SHA-256; this tenant, cloud and task; seven days; the default policy's hash re-checked before the PATCH. An exception that never ends: a secret allowed forever; guard: an end date in the file; ExceptionExpired and NPI-POL-03 once it passes; removal is a person's. An unreviewed policy on an app: an app quietly exempt from the tenant default; guard: NPI-POL-02 names it and the apps it applies to. A new certificate that replaces the old one: the workload fails until it picks up the new one; guard: an attach keeps every existing certificate; the old one goes only after verification and the overlap. A certificate longer than the cap: the attach is refused at the worst moment, or a long-lived certificate slips through; guard: KeyVaultPolicyOverCap before renewal, LifetimeOverCap before the attach. A rotation nobody approved: a credential changes under an owner who didn't know; guard: an approval from an enabled member who owns the app, no older than 30 days. A rotation that changes the vault's policy: validity, issuer or key type changed by a pipeline; guard: the create body must be empty. An unattended app with Application.ReadWrite.All: a standing permission that can add a credential to every app; guard: writes are delegated only, a person with Cloud Application Administrator; reads hold read permissions alone. A secret "rotated" in place: the weakest credential survives another year; guard: ReplaceSecret, a secret is replaced by a certificate or federation, not rotated.
Sources: Microsoft Learn, "Update application," permissions, national clouds, request body and example 2, https://learn.microsoft.com/graph/api/application-update?view=graph-rest-1.0 (accessed Oct 30, 2026). · Microsoft Learn, "Add a certificate to an app by using Microsoft Graph," prerequisites; step 2; step 3, https://learn.microsoft.com/graph/applications-how-to-add-certificate (accessed Oct 30, 2026).
Workbook: Building Non-Person Identity, Chapter 04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policy side: a reviewed file with an approved effective date, the tenant default matching it on both object types with no warning in the admin center, every app policy accounted for, every exception dated, and every registered app locked. On the rotation side: every certificate bound to a vault, every rotation approved and overlapped, every plan approved by someone other than the person who applied it, and the pinned samples still the ones you reviewed. Next, Chapter 5 replaces those flagged secrets with federation and managed identities. Thanks for watching.
Detail: Checklist: config/app-management-policy.json was reviewed, and its effective date and exceptions approved by the owner. The tenant default holds the program's restrictions on application and service principal objects, and the admin center shows them without a warning. Every app management policy in the tenant is in the reviewed file, or has a finding with an owner. Every exception has a record and an end date, and none is past its end date and still assigned. Every app registration in the register has all sensitive properties locked. Every certificate credential is bound to a Key Vault certificate whose policy fits the app's cap. Every rotation was approved by an owner who is an enabled member, and every removal followed a verification and the overlap. Each plan's SHA-256 was approved by someone other than the person who applied it, and the write ran as a person, delegated; the manifests are filed with the change record. The pinned samples match their manifests, and every upstream commit since the pins has been reviewed. Next: Chapter 05 — Workload Identity Federation and Managed Identities.
Sources: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Workbook: Building Non-Person Identity, Chapter 04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04: App Policies and Certificate Rotation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 Microsoft's samples and their gaps · the policy diff · rotation through Key Vault · the write path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7D8B5879-29C8-790D-9332-D9E296E506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EDB345-5238-4AFF-953D-CB778005AE9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340"/>
    </mc:Choice>
    <mc:Fallback>
      <p:transition spd="slow" advTm="40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33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a reviewed policy and a planned rotation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A policy nobody can diff is a setting somebody changed once; a certificate nobody rotates is an outage with a date on it.</a:t>
            </a:r>
            <a:endParaRPr lang="en-US" sz="1800" dirty="0"/>
          </a:p>
        </p:txBody>
      </p:sp>
      <p:sp>
        <p:nvSpPr>
          <p:cNvPr id="6" name="Panel The policy (task N3.1)">
            <a:extLst>
              <a:ext uri="{C183D7F6-B498-43B3-948B-1728B52AA6E4}">
                <adec:decorative xmlns:adec="http://schemas.microsoft.com/office/drawing/2017/decorative" val="1"/>
              </a:ext>
            </a:extLst>
          </p:cNvPr>
          <p:cNvSpPr/>
          <p:nvPr/>
        </p:nvSpPr>
        <p:spPr>
          <a:xfrm>
            <a:off x="548640" y="2112264"/>
            <a:ext cx="5417820" cy="2520696"/>
          </a:xfrm>
          <a:prstGeom prst="roundRect">
            <a:avLst>
              <a:gd name="adj" fmla="val 29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policy (task N3.1)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POLICY (TASK N3.1)</a:t>
            </a:r>
            <a:endParaRPr lang="en-US" sz="1100" dirty="0"/>
          </a:p>
        </p:txBody>
      </p:sp>
      <p:sp>
        <p:nvSpPr>
          <p:cNvPr id="8" name="Panel The policy (task N3.1) list"/>
          <p:cNvSpPr txBox="1"/>
          <p:nvPr/>
        </p:nvSpPr>
        <p:spPr>
          <a:xfrm>
            <a:off x="731520" y="252374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N3.1: new client secrets and symmetric keys blocked, certificates capped at 180 days for new apps</a:t>
            </a:r>
            <a:endParaRPr lang="en-US" sz="1600" dirty="0"/>
          </a:p>
          <a:p>
            <a:pPr marL="342900" indent="-342900">
              <a:spcAft>
                <a:spcPts val="400"/>
              </a:spcAft>
              <a:buSzPct val="100000"/>
              <a:buChar char="•"/>
            </a:pPr>
            <a:r>
              <a:rPr lang="en-US" sz="1600" dirty="0">
                <a:solidFill>
                  <a:srgbClr val="334155"/>
                </a:solidFill>
              </a:rPr>
              <a:t>The app instance property lock on owned apps</a:t>
            </a:r>
            <a:endParaRPr lang="en-US" sz="1600" dirty="0"/>
          </a:p>
          <a:p>
            <a:pPr marL="342900" indent="-342900">
              <a:spcAft>
                <a:spcPts val="400"/>
              </a:spcAft>
              <a:buSzPct val="100000"/>
              <a:buChar char="•"/>
            </a:pPr>
            <a:r>
              <a:rPr lang="en-US" sz="1600" dirty="0">
                <a:solidFill>
                  <a:srgbClr val="334155"/>
                </a:solidFill>
              </a:rPr>
              <a:t>Held as reviewed JSON, compared with the tenant, applied through a write path that can't loosen it</a:t>
            </a:r>
            <a:endParaRPr lang="en-US" sz="1600" dirty="0"/>
          </a:p>
        </p:txBody>
      </p:sp>
      <p:sp>
        <p:nvSpPr>
          <p:cNvPr id="9" name="Panel The rotation (task N3.7)">
            <a:extLst>
              <a:ext uri="{C183D7F6-B498-43B3-948B-1728B52AA6E4}">
                <adec:decorative xmlns:adec="http://schemas.microsoft.com/office/drawing/2017/decorative" val="1"/>
              </a:ext>
            </a:extLst>
          </p:cNvPr>
          <p:cNvSpPr/>
          <p:nvPr/>
        </p:nvSpPr>
        <p:spPr>
          <a:xfrm>
            <a:off x="6240780" y="2112264"/>
            <a:ext cx="5417820" cy="2520696"/>
          </a:xfrm>
          <a:prstGeom prst="roundRect">
            <a:avLst>
              <a:gd name="adj" fmla="val 290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The rotation (task N3.7)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ROTATION (TASK N3.7)</a:t>
            </a:r>
            <a:endParaRPr lang="en-US" sz="1100" dirty="0"/>
          </a:p>
        </p:txBody>
      </p:sp>
      <p:sp>
        <p:nvSpPr>
          <p:cNvPr id="11" name="Panel The rotation (task N3.7) list"/>
          <p:cNvSpPr txBox="1"/>
          <p:nvPr/>
        </p:nvSpPr>
        <p:spPr>
          <a:xfrm>
            <a:off x="6423660" y="252374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N3.7: certificates in Key Vault, rotated by the pipeline</a:t>
            </a:r>
            <a:endParaRPr lang="en-US" sz="1600" dirty="0"/>
          </a:p>
          <a:p>
            <a:pPr marL="342900" indent="-342900">
              <a:spcAft>
                <a:spcPts val="400"/>
              </a:spcAft>
              <a:buSzPct val="100000"/>
              <a:buChar char="•"/>
            </a:pPr>
            <a:r>
              <a:rPr lang="en-US" sz="1600" dirty="0">
                <a:solidFill>
                  <a:srgbClr val="334155"/>
                </a:solidFill>
              </a:rPr>
              <a:t>Raised before expiry and approved by the owner</a:t>
            </a:r>
            <a:endParaRPr lang="en-US" sz="1600" dirty="0"/>
          </a:p>
          <a:p>
            <a:pPr marL="342900" indent="-342900">
              <a:spcAft>
                <a:spcPts val="400"/>
              </a:spcAft>
              <a:buSzPct val="100000"/>
              <a:buChar char="•"/>
            </a:pPr>
            <a:r>
              <a:rPr lang="en-US" sz="1600" dirty="0">
                <a:solidFill>
                  <a:srgbClr val="334155"/>
                </a:solidFill>
              </a:rPr>
              <a:t>Renewed in Key Vault, added beside the old one, verified; the old one removed after the overlap</a:t>
            </a:r>
            <a:endParaRPr lang="en-US" sz="1600" dirty="0"/>
          </a:p>
        </p:txBody>
      </p:sp>
      <p:sp>
        <p:nvSpPr>
          <p:cNvPr id="12" name="Callout">
            <a:extLst>
              <a:ext uri="{C183D7F6-B498-43B3-948B-1728B52AA6E4}">
                <adec:decorative xmlns:adec="http://schemas.microsoft.com/office/drawing/2017/decorative" val="1"/>
              </a:ext>
            </a:extLst>
          </p:cNvPr>
          <p:cNvSpPr/>
          <p:nvPr/>
        </p:nvSpPr>
        <p:spPr>
          <a:xfrm>
            <a:off x="548640" y="4815840"/>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ClipboardCheck">
            <a:extLst>
              <a:ext uri="{C183D7F6-B498-43B3-948B-1728B52AA6E4}">
                <adec:decorative xmlns:adec="http://schemas.microsoft.com/office/drawing/2017/decorative" val="1"/>
              </a:ext>
            </a:extLst>
          </p:cNvPr>
          <p:cNvSpPr/>
          <p:nvPr/>
        </p:nvSpPr>
        <p:spPr>
          <a:xfrm>
            <a:off x="749808" y="4888992"/>
            <a:ext cx="606552" cy="606552"/>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4564"/>
            <a:ext cx="315407" cy="315407"/>
          </a:xfrm>
          <a:prstGeom prst="rect">
            <a:avLst/>
          </a:prstGeom>
        </p:spPr>
      </p:pic>
      <p:sp>
        <p:nvSpPr>
          <p:cNvPr id="15" name="Callout text"/>
          <p:cNvSpPr txBox="1"/>
          <p:nvPr/>
        </p:nvSpPr>
        <p:spPr>
          <a:xfrm>
            <a:off x="1600200" y="4870704"/>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By the end: </a:t>
            </a:r>
            <a:r>
              <a:rPr lang="en-US" sz="1750" dirty="0">
                <a:solidFill>
                  <a:srgbClr val="334155"/>
                </a:solidFill>
              </a:rPr>
              <a:t>for each rule you can say whether it is Learn's, Learn's sample, or the program's design.</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project plan tasks N3.1 and N3.7; Book 04, Ch 05. Chapter 04, epigraph; “In this chapter”; “Goal and audience.”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890C4230-2AFC-5D37-9C22-7805B3367A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D969F2-D784-4B1C-8FEC-E150AD71F15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40"/>
    </mc:Choice>
    <mc:Fallback>
      <p:transition spd="slow" advTm="37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4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and Key Vault hosts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092452"/>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Policy and application calls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Microsoft Graph at graph.microsoft.com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Policy pages' national clouds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Global service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US Government L4 and US Government L5, on every policy page the chapter calls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Key Vault data plane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&lt;vault&gt;.vault.azure.net, in commercial Azure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&lt;vault&gt;.vault.usgovcloudapi.net, in Azure Government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601212"/>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3790950"/>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3944569"/>
            <a:ext cx="332842" cy="332842"/>
          </a:xfrm>
          <a:prstGeom prst="rect">
            <a:avLst/>
          </a:prstGeom>
        </p:spPr>
      </p:pic>
      <p:sp>
        <p:nvSpPr>
          <p:cNvPr id="9" name="Callout text"/>
          <p:cNvSpPr txBox="1"/>
          <p:nvPr/>
        </p:nvSpPr>
        <p:spPr>
          <a:xfrm>
            <a:off x="1600200" y="3656076"/>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tenant is GCC on the worldwide endpoints with commercial Azure, so Graph is graph.microsoft.com and the vault is on vault.azure.net. The code takes the cloud as a required parameter and builds both hosts from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Get/Update tenantAppManagementPolicy; Create, Assign appliesTo; Key Vault overview (DNS). Chapter 04,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DD468188-244B-948F-BC57-CA1BF7C20F2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086A8B-153D-42A2-B0BF-C58F27FE895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40"/>
    </mc:Choice>
    <mc:Fallback>
      <p:transition spd="slow" advTm="39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an app management policy is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enant default (tenantAppManagementPolicy)">
            <a:extLst>
              <a:ext uri="{C183D7F6-B498-43B3-948B-1728B52AA6E4}">
                <adec:decorative xmlns:adec="http://schemas.microsoft.com/office/drawing/2017/decorative" val="1"/>
              </a:ext>
            </a:extLst>
          </p:cNvPr>
          <p:cNvSpPr/>
          <p:nvPr/>
        </p:nvSpPr>
        <p:spPr>
          <a:xfrm>
            <a:off x="548640" y="1325880"/>
            <a:ext cx="5417820" cy="2231136"/>
          </a:xfrm>
          <a:prstGeom prst="roundRect">
            <a:avLst>
              <a:gd name="adj" fmla="val 327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enant default (tenantAppManagementPolic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TENANT DEFAULT (TENANTAPPMANAGEMENTPOLICY)</a:t>
            </a:r>
            <a:endParaRPr lang="en-US" sz="1100" dirty="0"/>
          </a:p>
        </p:txBody>
      </p:sp>
      <p:sp>
        <p:nvSpPr>
          <p:cNvPr id="7" name="Panel Tenant default (tenantAppManagementPolicy) list"/>
          <p:cNvSpPr txBox="1"/>
          <p:nvPr/>
        </p:nvSpPr>
        <p:spPr>
          <a:xfrm>
            <a:off x="731520" y="1737360"/>
            <a:ext cx="5097780" cy="177393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Always exists; disabled by default</a:t>
            </a:r>
            <a:endParaRPr lang="en-US" sz="1550" dirty="0"/>
          </a:p>
          <a:p>
            <a:pPr marL="342900" indent="-342900">
              <a:spcAft>
                <a:spcPts val="400"/>
              </a:spcAft>
              <a:buSzPct val="100000"/>
              <a:buChar char="•"/>
            </a:pPr>
            <a:r>
              <a:rPr lang="en-US" sz="1550" dirty="0">
                <a:solidFill>
                  <a:srgbClr val="334155"/>
                </a:solidFill>
              </a:rPr>
              <a:t>Separate restrictions for application objects (apps homed in the tenant) and service principal objects (apps from another tenant)</a:t>
            </a:r>
            <a:endParaRPr lang="en-US" sz="1550" dirty="0"/>
          </a:p>
          <a:p>
            <a:pPr marL="342900" indent="-342900">
              <a:spcAft>
                <a:spcPts val="400"/>
              </a:spcAft>
              <a:buSzPct val="100000"/>
              <a:buChar char="•"/>
            </a:pPr>
            <a:r>
              <a:rPr lang="en-US" sz="1550" dirty="0">
                <a:solidFill>
                  <a:srgbClr val="334155"/>
                </a:solidFill>
              </a:rPr>
              <a:t>Restrictions apply to apps created after a date you choose</a:t>
            </a:r>
            <a:endParaRPr lang="en-US" sz="1550" dirty="0"/>
          </a:p>
        </p:txBody>
      </p:sp>
      <p:sp>
        <p:nvSpPr>
          <p:cNvPr id="8" name="Panel App policy (appManagementPolicy)">
            <a:extLst>
              <a:ext uri="{C183D7F6-B498-43B3-948B-1728B52AA6E4}">
                <adec:decorative xmlns:adec="http://schemas.microsoft.com/office/drawing/2017/decorative" val="1"/>
              </a:ext>
            </a:extLst>
          </p:cNvPr>
          <p:cNvSpPr/>
          <p:nvPr/>
        </p:nvSpPr>
        <p:spPr>
          <a:xfrm>
            <a:off x="6240780" y="1325880"/>
            <a:ext cx="5417820" cy="2231136"/>
          </a:xfrm>
          <a:prstGeom prst="roundRect">
            <a:avLst>
              <a:gd name="adj" fmla="val 327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App policy (appManagementPolic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APP POLICY (APPMANAGEMENTPOLICY)</a:t>
            </a:r>
            <a:endParaRPr lang="en-US" sz="1100" dirty="0"/>
          </a:p>
        </p:txBody>
      </p:sp>
      <p:sp>
        <p:nvSpPr>
          <p:cNvPr id="10" name="Panel App policy (appManagementPolicy) list"/>
          <p:cNvSpPr txBox="1"/>
          <p:nvPr/>
        </p:nvSpPr>
        <p:spPr>
          <a:xfrm>
            <a:off x="6423660" y="1737360"/>
            <a:ext cx="5097780" cy="177393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Assigned to one application or service principal; overrides the default for what it defines</a:t>
            </a:r>
            <a:endParaRPr lang="en-US" sz="1550" dirty="0"/>
          </a:p>
          <a:p>
            <a:pPr marL="342900" indent="-342900">
              <a:spcAft>
                <a:spcPts val="400"/>
              </a:spcAft>
              <a:buSzPct val="100000"/>
              <a:buChar char="•"/>
            </a:pPr>
            <a:r>
              <a:rPr lang="en-US" sz="1550" dirty="0">
                <a:solidFill>
                  <a:srgbClr val="334155"/>
                </a:solidFill>
              </a:rPr>
              <a:t>A restriction set to disabled doesn't apply; one it doesn't define falls back to the default</a:t>
            </a:r>
            <a:endParaRPr lang="en-US" sz="1550" dirty="0"/>
          </a:p>
          <a:p>
            <a:pPr marL="342900" indent="-342900">
              <a:spcAft>
                <a:spcPts val="400"/>
              </a:spcAft>
              <a:buSzPct val="100000"/>
              <a:buChar char="•"/>
            </a:pPr>
            <a:r>
              <a:rPr lang="en-US" sz="1550" dirty="0">
                <a:solidFill>
                  <a:srgbClr val="334155"/>
                </a:solidFill>
              </a:rPr>
              <a:t>Only one policy per app</a:t>
            </a:r>
            <a:endParaRPr lang="en-US" sz="155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3739896"/>
          <a:ext cx="11109960" cy="1395984"/>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992124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Restriction types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v1.0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Passwords: passwordAddition, passwordLifetime, symmetricKeyAddition, symmetricKeyLifetime, customPasswordAddition. Keys: asymmetricKeyLifetime (maxLifetime, ISO 8601); state enabled or disabled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Beta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trustedCertificateAuthority, audiences, redirect URI restrictions, and an audit state that evaluates without enforcing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2" name="Lead"/>
          <p:cNvSpPr txBox="1"/>
          <p:nvPr/>
        </p:nvSpPr>
        <p:spPr>
          <a:xfrm>
            <a:off x="548640" y="5318760"/>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Neither kind blocks token issuance for an existing app: only the create or update that breaks the policy is refused.</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app management policies API overview (v1.0, beta); tenantAppManagementPolicy; passwordCredentialConfiguration; keyCredentialConfiguration. Chapter 04, “The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56295BEA-4157-F981-B310-5D17EB7064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C122C8-EF52-46A1-A1EC-0C7760EA722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00"/>
    </mc:Choice>
    <mc:Fallback>
      <p:transition spd="slow" advTm="37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9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program's rules: policy, lock, license, rotation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3131820"/>
          </a:xfrm>
          <a:prstGeom prst="roundRect">
            <a:avLst>
              <a:gd name="adj" fmla="val 280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31318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290322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The policy</a:t>
            </a:r>
            <a:endParaRPr lang="en-US" sz="1400" dirty="0"/>
          </a:p>
          <a:p>
            <a:pPr marL="0" indent="0">
              <a:spcAft>
                <a:spcPts val="300"/>
              </a:spcAft>
              <a:buNone/>
            </a:pPr>
            <a:r>
              <a:rPr lang="en-US" sz="1450" dirty="0">
                <a:solidFill>
                  <a:srgbClr val="334155"/>
                </a:solidFill>
              </a:rPr>
              <a:t>*Design guidance.* For apps created after the effective date: secrets and symmetric keys blocked, certificates capped at 180 days, on both objects. An exception is an app policy with a record and an end date. Older apps: 365 days while remediated</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3131820"/>
          </a:xfrm>
          <a:prstGeom prst="roundRect">
            <a:avLst>
              <a:gd name="adj" fmla="val 280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313182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290322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The lock</a:t>
            </a:r>
            <a:endParaRPr lang="en-US" sz="1400" dirty="0"/>
          </a:p>
          <a:p>
            <a:pPr marL="0" indent="0">
              <a:spcAft>
                <a:spcPts val="300"/>
              </a:spcAft>
              <a:buNone/>
            </a:pPr>
            <a:r>
              <a:rPr lang="en-US" sz="1450" dirty="0">
                <a:solidFill>
                  <a:srgbClr val="334155"/>
                </a:solidFill>
              </a:rPr>
              <a:t>App instance property lock on every app registration in Chapter 01's register; on by default for new apps since June 2026 (research gaps, row 34)</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3131820"/>
          </a:xfrm>
          <a:prstGeom prst="roundRect">
            <a:avLst>
              <a:gd name="adj" fmla="val 280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313182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290322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Licensing</a:t>
            </a:r>
            <a:endParaRPr lang="en-US" sz="1400" dirty="0"/>
          </a:p>
          <a:p>
            <a:pPr marL="0" indent="0">
              <a:spcAft>
                <a:spcPts val="300"/>
              </a:spcAft>
              <a:buNone/>
            </a:pPr>
            <a:r>
              <a:rPr lang="en-US" sz="1450" dirty="0">
                <a:solidFill>
                  <a:srgbClr val="334155"/>
                </a:solidFill>
              </a:rPr>
              <a:t>App management policies are in both the free edition and Workload ID Premium; no Graph page names a license, so D-N4 doesn't gate this chapter (row 31)</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3131820"/>
          </a:xfrm>
          <a:prstGeom prst="roundRect">
            <a:avLst>
              <a:gd name="adj" fmla="val 280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313182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290322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Rotation</a:t>
            </a:r>
            <a:endParaRPr lang="en-US" sz="1400" dirty="0"/>
          </a:p>
          <a:p>
            <a:pPr marL="0" indent="0">
              <a:spcAft>
                <a:spcPts val="300"/>
              </a:spcAft>
              <a:buNone/>
            </a:pPr>
            <a:r>
              <a:rPr lang="en-US" sz="1450" dirty="0">
                <a:solidFill>
                  <a:srgbClr val="334155"/>
                </a:solidFill>
              </a:rPr>
              <a:t>*Design guidance.* Raised 60 days before expiry, owner-approved, renewed in Key Vault, added beside the old one, verified, old one removed 7 days later. Secrets are replaced, not rotated</a:t>
            </a:r>
            <a:endParaRPr lang="en-US" sz="1400" dirty="0"/>
          </a:p>
        </p:txBody>
      </p:sp>
      <p:sp>
        <p:nvSpPr>
          <p:cNvPr id="17" name="Callout">
            <a:extLst>
              <a:ext uri="{C183D7F6-B498-43B3-948B-1728B52AA6E4}">
                <adec:decorative xmlns:adec="http://schemas.microsoft.com/office/drawing/2017/decorative" val="1"/>
              </a:ext>
            </a:extLst>
          </p:cNvPr>
          <p:cNvSpPr/>
          <p:nvPr/>
        </p:nvSpPr>
        <p:spPr>
          <a:xfrm>
            <a:off x="548640" y="464058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8" name="Icon FaArrowsRotate">
            <a:extLst>
              <a:ext uri="{C183D7F6-B498-43B3-948B-1728B52AA6E4}">
                <adec:decorative xmlns:adec="http://schemas.microsoft.com/office/drawing/2017/decorative" val="1"/>
              </a:ext>
            </a:extLst>
          </p:cNvPr>
          <p:cNvSpPr/>
          <p:nvPr/>
        </p:nvSpPr>
        <p:spPr>
          <a:xfrm>
            <a:off x="749808" y="4713732"/>
            <a:ext cx="606552" cy="606552"/>
          </a:xfrm>
          <a:prstGeom prst="ellipse">
            <a:avLst/>
          </a:prstGeom>
          <a:solidFill>
            <a:srgbClr val="0F766E"/>
          </a:solidFill>
          <a:ln w="12700">
            <a:solidFill>
              <a:srgbClr val="0F766E"/>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59304"/>
            <a:ext cx="315407" cy="315407"/>
          </a:xfrm>
          <a:prstGeom prst="rect">
            <a:avLst/>
          </a:prstGeom>
        </p:spPr>
      </p:pic>
      <p:sp>
        <p:nvSpPr>
          <p:cNvPr id="20" name="Callout text"/>
          <p:cNvSpPr txBox="1"/>
          <p:nvPr/>
        </p:nvSpPr>
        <p:spPr>
          <a:xfrm>
            <a:off x="1600200" y="469544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The gap rotation fills: </a:t>
            </a:r>
            <a:r>
              <a:rPr lang="en-US" sz="1750" dirty="0">
                <a:solidFill>
                  <a:srgbClr val="334155"/>
                </a:solidFill>
              </a:rPr>
              <a:t>Key Vault can renew a certificate on a schedule, but Entra ID renews nothing on the app registration. The code joins the two.</a:t>
            </a:r>
            <a:endParaRPr lang="en-US" sz="17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restrictions; property lock how-to; servicePrincipalLockConfiguration; Workload ID FAQ; Key Vault autorotation. Book 04, Ch 05–06. Chapter 04, “The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8FE984BE-03FE-2927-FE54-0ED2509A57F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DE577C-C9EF-41FE-B52F-84BCBCD8D42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samples, pinned and sent to fakes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Microsoft gives you">
            <a:extLst>
              <a:ext uri="{C183D7F6-B498-43B3-948B-1728B52AA6E4}">
                <adec:decorative xmlns:adec="http://schemas.microsoft.com/office/drawing/2017/decorative" val="1"/>
              </a:ext>
            </a:extLst>
          </p:cNvPr>
          <p:cNvSpPr/>
          <p:nvPr/>
        </p:nvSpPr>
        <p:spPr>
          <a:xfrm>
            <a:off x="548640" y="1325880"/>
            <a:ext cx="5417820" cy="3352800"/>
          </a:xfrm>
          <a:prstGeom prst="roundRect">
            <a:avLst>
              <a:gd name="adj" fmla="val 218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Update tenantAppManagementPolicy: the v1.0 update that enables the default</a:t>
            </a:r>
            <a:endParaRPr lang="en-US" sz="1400" dirty="0"/>
          </a:p>
          <a:p>
            <a:pPr marL="342900" indent="-342900">
              <a:spcAft>
                <a:spcPts val="400"/>
              </a:spcAft>
              <a:buSzPct val="100000"/>
              <a:buChar char="•"/>
            </a:pPr>
            <a:r>
              <a:rPr lang="en-US" sz="1400" dirty="0">
                <a:solidFill>
                  <a:srgbClr val="334155"/>
                </a:solidFill>
              </a:rPr>
              <a:t>Create appManagementPolicy and Assign appliesTo: an app-specific policy</a:t>
            </a:r>
            <a:endParaRPr lang="en-US" sz="1400" dirty="0"/>
          </a:p>
          <a:p>
            <a:pPr marL="342900" indent="-342900">
              <a:spcAft>
                <a:spcPts val="400"/>
              </a:spcAft>
              <a:buSzPct val="100000"/>
              <a:buChar char="•"/>
            </a:pPr>
            <a:r>
              <a:rPr lang="en-US" sz="1400" dirty="0">
                <a:solidFill>
                  <a:srgbClr val="334155"/>
                </a:solidFill>
              </a:rPr>
              <a:t>Configure restrictions: Learn's procedure, admin center and Graph</a:t>
            </a:r>
            <a:endParaRPr lang="en-US" sz="1400" dirty="0"/>
          </a:p>
          <a:p>
            <a:pPr marL="342900" indent="-342900">
              <a:spcAft>
                <a:spcPts val="400"/>
              </a:spcAft>
              <a:buSzPct val="100000"/>
              <a:buChar char="•"/>
            </a:pPr>
            <a:r>
              <a:rPr lang="en-US" sz="1400" dirty="0">
                <a:solidFill>
                  <a:srgbClr val="334155"/>
                </a:solidFill>
              </a:rPr>
              <a:t>Add a certificate to an app: two keyCredentials updates</a:t>
            </a:r>
            <a:endParaRPr lang="en-US" sz="1400" dirty="0"/>
          </a:p>
          <a:p>
            <a:pPr marL="342900" indent="-342900">
              <a:spcAft>
                <a:spcPts val="400"/>
              </a:spcAft>
              <a:buSzPct val="100000"/>
              <a:buChar char="•"/>
            </a:pPr>
            <a:r>
              <a:rPr lang="en-US" sz="1400" dirty="0">
                <a:solidFill>
                  <a:srgbClr val="334155"/>
                </a:solidFill>
              </a:rPr>
              <a:t>Key Vault autorotation tutorial; Add-AzKeyVaultCertificate, Set-AzKeyVaultCertificatePolicy</a:t>
            </a:r>
            <a:endParaRPr lang="en-US" sz="1400" dirty="0"/>
          </a:p>
          <a:p>
            <a:pPr marL="342900" indent="-342900">
              <a:spcAft>
                <a:spcPts val="400"/>
              </a:spcAft>
              <a:buSzPct val="100000"/>
              <a:buChar char="•"/>
            </a:pPr>
            <a:r>
              <a:rPr lang="en-US" sz="1400" dirty="0">
                <a:solidFill>
                  <a:srgbClr val="334155"/>
                </a:solidFill>
              </a:rPr>
              <a:t>Chapter 02's pinned Graph tutorial: lock and default policy samples</a:t>
            </a:r>
            <a:endParaRPr lang="en-US" sz="1400" dirty="0"/>
          </a:p>
        </p:txBody>
      </p:sp>
      <p:sp>
        <p:nvSpPr>
          <p:cNvPr id="8" name="Panel The pinned copies">
            <a:extLst>
              <a:ext uri="{C183D7F6-B498-43B3-948B-1728B52AA6E4}">
                <adec:decorative xmlns:adec="http://schemas.microsoft.com/office/drawing/2017/decorative" val="1"/>
              </a:ext>
            </a:extLst>
          </p:cNvPr>
          <p:cNvSpPr/>
          <p:nvPr/>
        </p:nvSpPr>
        <p:spPr>
          <a:xfrm>
            <a:off x="6240780" y="1325880"/>
            <a:ext cx="5417820" cy="3352800"/>
          </a:xfrm>
          <a:prstGeom prst="roundRect">
            <a:avLst>
              <a:gd name="adj" fmla="val 218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ie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COPIES</a:t>
            </a:r>
            <a:endParaRPr lang="en-US" sz="1100" dirty="0"/>
          </a:p>
        </p:txBody>
      </p:sp>
      <p:sp>
        <p:nvSpPr>
          <p:cNvPr id="10" name="Panel The pinned copies list"/>
          <p:cNvSpPr txBox="1"/>
          <p:nvPr/>
        </p:nvSpPr>
        <p:spPr>
          <a:xfrm>
            <a:off x="642366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graph-app-credential-policy-pages: microsoft-graph-docs-contrib at bb35043 (MIT, CC BY 4.0)</a:t>
            </a:r>
            <a:endParaRPr lang="en-US" sz="1400" dirty="0"/>
          </a:p>
          <a:p>
            <a:pPr marL="342900" indent="-342900">
              <a:spcAft>
                <a:spcPts val="400"/>
              </a:spcAft>
              <a:buSzPct val="100000"/>
              <a:buChar char="•"/>
            </a:pPr>
            <a:r>
              <a:rPr lang="en-US" sz="1400" dirty="0">
                <a:solidFill>
                  <a:srgbClr val="334155"/>
                </a:solidFill>
              </a:rPr>
              <a:t>entra-app-management-policies-page: entra-docs at 7f78b50 (MIT)</a:t>
            </a:r>
            <a:endParaRPr lang="en-US" sz="1400" dirty="0"/>
          </a:p>
          <a:p>
            <a:pPr marL="342900" indent="-342900">
              <a:spcAft>
                <a:spcPts val="400"/>
              </a:spcAft>
              <a:buSzPct val="100000"/>
              <a:buChar char="•"/>
            </a:pPr>
            <a:r>
              <a:rPr lang="en-US" sz="1400" dirty="0">
                <a:solidFill>
                  <a:srgbClr val="334155"/>
                </a:solidFill>
              </a:rPr>
              <a:t>az-keyvault-certificate-help: azure-powershell at 3c18cda</a:t>
            </a:r>
            <a:endParaRPr lang="en-US" sz="1400" dirty="0"/>
          </a:p>
          <a:p>
            <a:pPr marL="342900" indent="-342900">
              <a:spcAft>
                <a:spcPts val="400"/>
              </a:spcAft>
              <a:buSzPct val="100000"/>
              <a:buChar char="•"/>
            </a:pPr>
            <a:r>
              <a:rPr lang="en-US" sz="1400" dirty="0">
                <a:solidFill>
                  <a:srgbClr val="334155"/>
                </a:solidFill>
              </a:rPr>
              <a:t>The Key Vault tutorial left azure-docs in August 2024: cited, not pinned (row 39)</a:t>
            </a:r>
            <a:endParaRPr lang="en-US" sz="1400" dirty="0"/>
          </a:p>
          <a:p>
            <a:pPr marL="342900" indent="-342900">
              <a:spcAft>
                <a:spcPts val="400"/>
              </a:spcAft>
              <a:buSzPct val="100000"/>
              <a:buChar char="•"/>
            </a:pPr>
            <a:r>
              <a:rPr lang="en-US" sz="1400" dirty="0">
                <a:solidFill>
                  <a:srgbClr val="334155"/>
                </a:solidFill>
              </a:rPr>
              <a:t>snapshot.json hashes checked by a test; weekly source watch</a:t>
            </a:r>
            <a:endParaRPr lang="en-US" sz="1400" dirty="0"/>
          </a:p>
        </p:txBody>
      </p:sp>
      <p:sp>
        <p:nvSpPr>
          <p:cNvPr id="11" name="Callout">
            <a:extLst>
              <a:ext uri="{C183D7F6-B498-43B3-948B-1728B52AA6E4}">
                <adec:decorative xmlns:adec="http://schemas.microsoft.com/office/drawing/2017/decorative" val="1"/>
              </a:ext>
            </a:extLst>
          </p:cNvPr>
          <p:cNvSpPr/>
          <p:nvPr/>
        </p:nvSpPr>
        <p:spPr>
          <a:xfrm>
            <a:off x="548640" y="4861560"/>
            <a:ext cx="11109960" cy="973836"/>
          </a:xfrm>
          <a:prstGeom prst="roundRect">
            <a:avLst>
              <a:gd name="adj" fmla="val 75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5028438"/>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82057"/>
            <a:ext cx="332842" cy="332842"/>
          </a:xfrm>
          <a:prstGeom prst="rect">
            <a:avLst/>
          </a:prstGeom>
        </p:spPr>
      </p:pic>
      <p:sp>
        <p:nvSpPr>
          <p:cNvPr id="14" name="Callout text"/>
          <p:cNvSpPr txBox="1"/>
          <p:nvPr/>
        </p:nvSpPr>
        <p:spPr>
          <a:xfrm>
            <a:off x="1600200" y="4916424"/>
            <a:ext cx="9875520" cy="864108"/>
          </a:xfrm>
          <a:prstGeom prst="rect">
            <a:avLst/>
          </a:prstGeom>
          <a:noFill/>
          <a:ln/>
        </p:spPr>
        <p:txBody>
          <a:bodyPr wrap="square" lIns="0" tIns="0" rIns="0" bIns="0" rtlCol="0" anchor="ctr"/>
          <a:lstStyle/>
          <a:p>
            <a:pPr marL="0" indent="0">
              <a:buNone/>
            </a:pPr>
            <a:r>
              <a:rPr lang="en-US" sz="1650" b="1" dirty="0">
                <a:solidFill>
                  <a:srgbClr val="B45309"/>
                </a:solidFill>
              </a:rPr>
              <a:t>The harness: </a:t>
            </a:r>
            <a:r>
              <a:rPr lang="en-US" sz="1650" dirty="0">
                <a:solidFill>
                  <a:srgbClr val="334155"/>
                </a:solidFill>
              </a:rPr>
              <a:t>CredentialPolicySampleHarness.ps1 sends each pinned request, unmodified, to a fake Graph that evaluates the v1.0 restrictions; the Az examples run against stand-ins that call a fake Key Vault.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tenant policy update; Create, Assign; Configure restrictions; Add a certificate; Key Vault autorotation; Az.KeyVault help. Chapter 04,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C803C49-F806-5C4D-5C92-006474DB7B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D8CBA5A-45D3-420B-A6C0-02634907C10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460"/>
    </mc:Choice>
    <mc:Fallback>
      <p:transition spd="slow" advTm="38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46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policy samples leave to you</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Microsoft's sample, as published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code adds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Tenant update: start dates 2015 to 2021, a 30-day cap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 refuses the next 180-day certificate on an app created years ago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effective date, for new apps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Sets no state on any restriction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What Graph does without one isn't stated (row 32)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restriction carries an explicit 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Not strict JSON (a trailing comma)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PowerShell forgives it; a JSON library doesn't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Bodies built as data and serialized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Application restrictions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admin center expects both copies in the same 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Both objects get the same restrictions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Learn's procedure names two restrictions; a PATCH replaces the collection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script that forgets one turns it off</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live restriction in the body; loosening or dropping refused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Learn's procedure uses /beta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Beta isn't supported in 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v1.0 throughout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Assign appliesTo sends a literal {id}; a second policy is refused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app takes one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policy's assignments checked first (NPI-POL-04)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Tutorial: certificateLifetime, a read permission on a PATCH; lock on /beta, one app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Copied, it fails or runs with the wrong permission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v1.0 types only; the lock read for every app in the register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Every sample hard-codes graph.microsoft.com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Wrong for GCC High and DoD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host from the cloud table, checked every request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tenantAppManagementPolicy; Assign appliesTo; Configure restrictions; Graph applications tutorial. Chapter 04, “What it leaves to you” (policy rows).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C95EFAE-DC03-B19E-A4D7-CA1D84D059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F23D92C-374C-490E-ABCF-97007EBB832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10"/>
    </mc:Choice>
    <mc:Fallback>
      <p:transition spd="slow" advTm="37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certificate and Key Vault samples leave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8184"/>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Microsoft's sample, as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 it matters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the code adds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Add a certificate's first PATCH replaces every certificate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old one disappears the moment the new one is added: no overlap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attach keeps every existing certificate and adds exactly 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Its second keeps the old one by a hex thumbprint, with no keyId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How Graph matches a kept entry isn't stated (row 37)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Kept certificates sent with keyId, type, usage, key and displayName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Its certificate lasts 364 days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Over the 180-day cap for new apps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Lifetime checked against the app's cap (LifetimeOverCap)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Add-AzKeyVaultCertificate asks for 6 months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Six months is 181 to 184 days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policy over the cap stops renewal (KeyVaultPolicyOverCap; row 39)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Its code and output share one block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It can't be run as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harness runs its command lines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Set-AzKeyVaultCertificatePolicy sets no lifetime action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Nothing renews and nobody is told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Rotation raised from the register, whatever the vault does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Nothing puts the certificate on the app, asks the owner or removes the old 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N3.7 is left to you</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Raise, approve, renew, attach, verify, overlap, remove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ead"/>
          <p:cNvSpPr txBox="1"/>
          <p:nvPr/>
        </p:nvSpPr>
        <p:spPr>
          <a:xfrm>
            <a:off x="548640" y="5266944"/>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Verdict: use the v1.0 policy requests and the certificate update as models; don't run them as published.</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Add a certificate to an app; Add-AzKeyVaultCertificate; Set-AzKeyVaultCertificatePolicy; Key Vault autorotation. Chapter 04,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B27F490-B758-9451-3534-23483A67D6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A3E71D9-F256-42AD-B78E-F8043F804EB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220"/>
    </mc:Choice>
    <mc:Fallback>
      <p:transition spd="slow" advTm="34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2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and the inputs it reads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557784"/>
          </a:xfrm>
          <a:prstGeom prst="rect">
            <a:avLst/>
          </a:prstGeom>
          <a:noFill/>
          <a:ln/>
        </p:spPr>
        <p:txBody>
          <a:bodyPr wrap="square" lIns="0" tIns="0" rIns="0" bIns="0" rtlCol="0" anchor="t"/>
          <a:lstStyle/>
          <a:p>
            <a:pPr marL="0" indent="0">
              <a:buNone/>
            </a:pPr>
            <a:r>
              <a:rPr lang="en-US" sz="1650" b="1" dirty="0">
                <a:solidFill>
                  <a:srgbClr val="1F2A44"/>
                </a:solidFill>
              </a:rPr>
              <a:t>NpiCredentialPolicy.psm1; two entry scripts that only read, Invoke-NpiCredentialPolicy.ps1 and Invoke-NpiRotation.ps1, and one write path, Invoke-NpiCredentialAction.ps1.</a:t>
            </a:r>
            <a:endParaRPr lang="en-US" sz="165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2066544"/>
          <a:ext cx="11109960" cy="2947416"/>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Who keeps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holds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Chapter 01's run folder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pipeline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register.json and manifest.json; a register whose SHA-256 isn't the manifest's is refused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config/app-management-policy.json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Identity engineering, by reviewed pull request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effective date, the default restrictions and their objects, each exception (record, app, end date), the lock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config/rotation.json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Identity engineering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raiseDays 60, overlapDays 7, approvalValidDays 30, maxLifetimeDays 180, legacyMaxLifetimeDays 365, maxPlanAgeDays 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certificate-bindings.csv</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Application owners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AppObjectId, Vault, CertificateName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rotation-approvals.csv</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Application owners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RequestId, ApprovedBy, ApprovedOn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rotation-verifications.csv</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Application owners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RequestId, NewThumbprint, VerifiedBy, VerifiedOn: the workload signs in with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Callout">
            <a:extLst>
              <a:ext uri="{C183D7F6-B498-43B3-948B-1728B52AA6E4}">
                <adec:decorative xmlns:adec="http://schemas.microsoft.com/office/drawing/2017/decorative" val="1"/>
              </a:ext>
            </a:extLst>
          </p:cNvPr>
          <p:cNvSpPr/>
          <p:nvPr/>
        </p:nvSpPr>
        <p:spPr>
          <a:xfrm>
            <a:off x="548640" y="5196840"/>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8" name="Icon FaKey">
            <a:extLst>
              <a:ext uri="{C183D7F6-B498-43B3-948B-1728B52AA6E4}">
                <adec:decorative xmlns:adec="http://schemas.microsoft.com/office/drawing/2017/decorative" val="1"/>
              </a:ext>
            </a:extLst>
          </p:cNvPr>
          <p:cNvSpPr/>
          <p:nvPr/>
        </p:nvSpPr>
        <p:spPr>
          <a:xfrm>
            <a:off x="749808" y="5269992"/>
            <a:ext cx="585216" cy="585216"/>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410444"/>
            <a:ext cx="304312" cy="304312"/>
          </a:xfrm>
          <a:prstGeom prst="rect">
            <a:avLst/>
          </a:prstGeom>
        </p:spPr>
      </p:pic>
      <p:sp>
        <p:nvSpPr>
          <p:cNvPr id="6" name="Callout text"/>
          <p:cNvSpPr txBox="1"/>
          <p:nvPr/>
        </p:nvSpPr>
        <p:spPr>
          <a:xfrm>
            <a:off x="1600200" y="5251704"/>
            <a:ext cx="9875520" cy="621792"/>
          </a:xfrm>
          <a:prstGeom prst="rect">
            <a:avLst/>
          </a:prstGeom>
          <a:noFill/>
          <a:ln/>
        </p:spPr>
        <p:txBody>
          <a:bodyPr wrap="square" lIns="0" tIns="0" rIns="0" bIns="0" rtlCol="0" anchor="ctr"/>
          <a:lstStyle/>
          <a:p>
            <a:pPr marL="0" indent="0">
              <a:buNone/>
            </a:pPr>
            <a:r>
              <a:rPr lang="en-US" sz="1600" b="1" dirty="0">
                <a:solidFill>
                  <a:srgbClr val="0F766E"/>
                </a:solidFill>
              </a:rPr>
              <a:t>A request ID is </a:t>
            </a:r>
            <a:r>
              <a:rPr lang="en-US" sz="1600" dirty="0">
                <a:solidFill>
                  <a:srgbClr val="334155"/>
                </a:solidFill>
              </a:rPr>
              <a:t>ROT:&lt;app object ID&gt;:&lt;keyId of the certificate being replaced&gt;, the same from the first raise to the removal.</a:t>
            </a:r>
            <a:endParaRPr lang="en-US" sz="16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(NpiCredentialPolicy module, config, inputs). Chapter 04, “The code,”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0E99A0D1-7848-D01F-E0B6-3A4690C08A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9AAC36-08B5-4A27-BFCA-090F62880A8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90"/>
    </mc:Choice>
    <mc:Fallback>
      <p:transition spd="slow" advTm="37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8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policy: compare, merge, plan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959602" cy="3735324"/>
        </p:xfrm>
        <a:graphic>
          <a:graphicData uri="http://schemas.openxmlformats.org/drawingml/2006/table">
            <a:tbl>
              <a:tblPr firstRow="1" bandRow="1"/>
              <a:tblGrid>
                <a:gridCol w="2015748">
                  <a:extLst>
                    <a:ext uri="{9D8B030D-6E8A-4147-A177-3AD203B41FA5}">
                      <a16:colId xmlns:a16="http://schemas.microsoft.com/office/drawing/2014/main" val="20000"/>
                    </a:ext>
                  </a:extLst>
                </a:gridCol>
                <a:gridCol w="3155083">
                  <a:extLst>
                    <a:ext uri="{9D8B030D-6E8A-4147-A177-3AD203B41FA5}">
                      <a16:colId xmlns:a16="http://schemas.microsoft.com/office/drawing/2014/main" val="20001"/>
                    </a:ext>
                  </a:extLst>
                </a:gridCol>
                <a:gridCol w="788771">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Writes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PatchDefaultPolicy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diff has an Add or Change; precheck: hash of the policy as read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DefaultPolicyInPlace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default already holds the file's restrictions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CreateAppPolicy, AssignAppPolicy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exception in force with no policy, or not assigned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AppPolicyInPlace, AssignmentInPlace, AppPolicyDrift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Exists, is assigned, or differs (a person updates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ForeignPolicyAssigned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app already holds another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ExceptionExpired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End date passed: a person removes the assignment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LockApp / AlreadyLocked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lock, disabled, or partial / all locked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 / 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6782562" y="1325880"/>
          <a:ext cx="4876038" cy="3054096"/>
        </p:xfrm>
        <a:graphic>
          <a:graphicData uri="http://schemas.openxmlformats.org/drawingml/2006/table">
            <a:tbl>
              <a:tblPr firstRow="1" bandRow="1"/>
              <a:tblGrid>
                <a:gridCol w="1152518">
                  <a:extLst>
                    <a:ext uri="{9D8B030D-6E8A-4147-A177-3AD203B41FA5}">
                      <a16:colId xmlns:a16="http://schemas.microsoft.com/office/drawing/2014/main" val="20000"/>
                    </a:ext>
                  </a:extLst>
                </a:gridCol>
                <a:gridCol w="886552">
                  <a:extLst>
                    <a:ext uri="{9D8B030D-6E8A-4147-A177-3AD203B41FA5}">
                      <a16:colId xmlns:a16="http://schemas.microsoft.com/office/drawing/2014/main" val="20001"/>
                    </a:ext>
                  </a:extLst>
                </a:gridCol>
                <a:gridCol w="2836968">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Sev.</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NPI-POL-01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default restriction the tenant doesn't hold yet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NPI-POL-02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policy not in the reviewed file; never changed or deleted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NPI-POL-03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expired exception still assigned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NPI-POL-04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exception blocked by another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NPI-POL-05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Info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restriction kept as the tenant has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NPI-POL-06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app without the full lock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Lead"/>
          <p:cNvSpPr txBox="1"/>
          <p:nvPr/>
        </p:nvSpPr>
        <p:spPr>
          <a:xfrm>
            <a:off x="548640" y="5244084"/>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Diff per restriction, both objects: Add, Change, KeepStricter, KeepExisting, Same. The body is merged, so it never drops or loosens one.</a:t>
            </a:r>
            <a:endParaRPr lang="en-US" sz="17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tenantAppManagementPolicy; Assign appliesTo; servicePrincipalLockConfiguration. Chapter 04, “The policy: read, compare,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A426951-8352-EAD3-D3FC-BF97BCC9B26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EF8776-FE28-493F-99BD-DC0813C0862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70"/>
    </mc:Choice>
    <mc:Fallback>
      <p:transition spd="slow" advTm="37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Rotation: one step per certificate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501384" cy="3816096"/>
        </p:xfrm>
        <a:graphic>
          <a:graphicData uri="http://schemas.openxmlformats.org/drawingml/2006/table">
            <a:tbl>
              <a:tblPr firstRow="1" bandRow="1"/>
              <a:tblGrid>
                <a:gridCol w="2246802">
                  <a:extLst>
                    <a:ext uri="{9D8B030D-6E8A-4147-A177-3AD203B41FA5}">
                      <a16:colId xmlns:a16="http://schemas.microsoft.com/office/drawing/2014/main" val="20000"/>
                    </a:ext>
                  </a:extLst>
                </a:gridCol>
                <a:gridCol w="3585322">
                  <a:extLst>
                    <a:ext uri="{9D8B030D-6E8A-4147-A177-3AD203B41FA5}">
                      <a16:colId xmlns:a16="http://schemas.microsoft.com/office/drawing/2014/main" val="20001"/>
                    </a:ext>
                  </a:extLst>
                </a:gridCol>
                <a:gridCol w="66926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Writes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NotDue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Vault's current is the app's; over 60 days left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AwaitOwnerApproval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Due or newer in vault; no approval; request written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ApprovalRefused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Not an enabled member owner, or over 30 days old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KeyVaultPolicyOverCap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Next version longer than the cap (months × 31)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RenewInKeyVault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Due and approved: create with an empty body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LifetimeOverCap, …Expired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New certificate over the cap, or expired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AttachNewCertificate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Vault's current not on the app; approved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AwaitVerification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Beside the old one; owner hasn't verified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OverlapRunning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Verified; under 7 days since it started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RemoveOldCertificate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Verified and the overlap passed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Expired / NoKeyVaultBinding / ReplaceSecret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 replacement / no binding / a secret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7324344" y="1325880"/>
          <a:ext cx="4334256" cy="2950464"/>
        </p:xfrm>
        <a:graphic>
          <a:graphicData uri="http://schemas.openxmlformats.org/drawingml/2006/table">
            <a:tbl>
              <a:tblPr firstRow="1" bandRow="1"/>
              <a:tblGrid>
                <a:gridCol w="1128712">
                  <a:extLst>
                    <a:ext uri="{9D8B030D-6E8A-4147-A177-3AD203B41FA5}">
                      <a16:colId xmlns:a16="http://schemas.microsoft.com/office/drawing/2014/main" val="20000"/>
                    </a:ext>
                  </a:extLst>
                </a:gridCol>
                <a:gridCol w="857821">
                  <a:extLst>
                    <a:ext uri="{9D8B030D-6E8A-4147-A177-3AD203B41FA5}">
                      <a16:colId xmlns:a16="http://schemas.microsoft.com/office/drawing/2014/main" val="20001"/>
                    </a:ext>
                  </a:extLst>
                </a:gridCol>
                <a:gridCol w="2347722">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Sev.</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flags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NPI-ROT-01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Due or waiting, no owner's approval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NPI-ROT-02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certificate with no Key Vault binding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NPI-ROT-03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Expired with no replacement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NPI-ROT-04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Warn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An approval refused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NPI-ROT-05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Longer than the app's cap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NPI-ROT-06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Info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client secret: replace, don't rotate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NPI-ROT-07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Info</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Awaiting the owner's verification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Lead"/>
          <p:cNvSpPr txBox="1"/>
          <p:nvPr/>
        </p:nvSpPr>
        <p:spPr>
          <a:xfrm>
            <a:off x="548640" y="5324856"/>
            <a:ext cx="11109960" cy="557784"/>
          </a:xfrm>
          <a:prstGeom prst="rect">
            <a:avLst/>
          </a:prstGeom>
          <a:noFill/>
          <a:ln/>
        </p:spPr>
        <p:txBody>
          <a:bodyPr wrap="square" lIns="0" tIns="0" rIns="0" bIns="0" rtlCol="0" anchor="t"/>
          <a:lstStyle/>
          <a:p>
            <a:pPr marL="0" indent="0">
              <a:buNone/>
            </a:pPr>
            <a:r>
              <a:rPr lang="en-US" sz="1650" b="1" dirty="0">
                <a:solidFill>
                  <a:srgbClr val="1F2A44"/>
                </a:solidFill>
              </a:rPr>
              <a:t>Matched by thumbprint: Key Vault's x5t and Graph's customKeyIdentifier (row 36). Plans sort keys: same inputs, same hash.</a:t>
            </a:r>
            <a:endParaRPr lang="en-US" sz="16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keyCredential; Certificate creation methods; Get application. Chapter 04, “Rotation: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E354B76-81C8-BF98-A2BC-9F54B6787C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EBB63A-E85A-4F52-9C69-FD51B9C06BF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10"/>
    </mc:Choice>
    <mc:Fallback>
      <p:transition spd="slow" advTm="36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separate write path, and what it refuses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Before anything is sent">
            <a:extLst>
              <a:ext uri="{C183D7F6-B498-43B3-948B-1728B52AA6E4}">
                <adec:decorative xmlns:adec="http://schemas.microsoft.com/office/drawing/2017/decorative" val="1"/>
              </a:ext>
            </a:extLst>
          </p:cNvPr>
          <p:cNvSpPr/>
          <p:nvPr/>
        </p:nvSpPr>
        <p:spPr>
          <a:xfrm>
            <a:off x="548640" y="1325880"/>
            <a:ext cx="5417820" cy="3520440"/>
          </a:xfrm>
          <a:prstGeom prst="roundRect">
            <a:avLst>
              <a:gd name="adj" fmla="val 20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Before anything is sent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BEFORE ANYTHING IS SENT</a:t>
            </a:r>
            <a:endParaRPr lang="en-US" sz="1100" dirty="0"/>
          </a:p>
        </p:txBody>
      </p:sp>
      <p:sp>
        <p:nvSpPr>
          <p:cNvPr id="7" name="Panel Before anything is sent list"/>
          <p:cNvSpPr txBox="1"/>
          <p:nvPr/>
        </p:nvSpPr>
        <p:spPr>
          <a:xfrm>
            <a:off x="731520" y="1737360"/>
            <a:ext cx="5097780" cy="3063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must equal -ApprovedSha256</a:t>
            </a:r>
            <a:endParaRPr lang="en-US" sz="1500" dirty="0"/>
          </a:p>
          <a:p>
            <a:pPr marL="342900" indent="-342900">
              <a:spcAft>
                <a:spcPts val="400"/>
              </a:spcAft>
              <a:buSzPct val="100000"/>
              <a:buChar char="•"/>
            </a:pPr>
            <a:r>
              <a:rPr lang="en-US" sz="1500" dirty="0">
                <a:solidFill>
                  <a:srgbClr val="334155"/>
                </a:solidFill>
              </a:rPr>
              <a:t>This tenant, cloud and task; no more than seven days old</a:t>
            </a:r>
            <a:endParaRPr lang="en-US" sz="1500" dirty="0"/>
          </a:p>
          <a:p>
            <a:pPr marL="342900" indent="-342900">
              <a:spcAft>
                <a:spcPts val="400"/>
              </a:spcAft>
              <a:buSzPct val="100000"/>
              <a:buChar char="•"/>
            </a:pPr>
            <a:r>
              <a:rPr lang="en-US" sz="1500" dirty="0">
                <a:solidFill>
                  <a:srgbClr val="334155"/>
                </a:solidFill>
              </a:rPr>
              <a:t>Each write a declared call, declared method, this cloud's host</a:t>
            </a:r>
            <a:endParaRPr lang="en-US" sz="1500" dirty="0"/>
          </a:p>
          <a:p>
            <a:pPr marL="342900" indent="-342900">
              <a:spcAft>
                <a:spcPts val="400"/>
              </a:spcAft>
              <a:buSzPct val="100000"/>
              <a:buChar char="•"/>
            </a:pPr>
            <a:r>
              <a:rPr lang="en-US" sz="1500" dirty="0">
                <a:solidFill>
                  <a:srgbClr val="334155"/>
                </a:solidFill>
              </a:rPr>
              <a:t>Re-reads each target first; skips a write whose precheck no longer holds</a:t>
            </a:r>
            <a:endParaRPr lang="en-US" sz="1500" dirty="0"/>
          </a:p>
          <a:p>
            <a:pPr marL="342900" indent="-342900">
              <a:spcAft>
                <a:spcPts val="400"/>
              </a:spcAft>
              <a:buSzPct val="100000"/>
              <a:buChar char="•"/>
            </a:pPr>
            <a:r>
              <a:rPr lang="en-US" sz="1500" dirty="0">
                <a:solidFill>
                  <a:srgbClr val="334155"/>
                </a:solidFill>
              </a:rPr>
              <a:t>Without -Apply: stops after the prechecks, reports WouldSend</a:t>
            </a:r>
            <a:endParaRPr lang="en-US" sz="1500" dirty="0"/>
          </a:p>
          <a:p>
            <a:pPr marL="342900" indent="-342900">
              <a:spcAft>
                <a:spcPts val="400"/>
              </a:spcAft>
              <a:buSzPct val="100000"/>
              <a:buChar char="•"/>
            </a:pPr>
            <a:r>
              <a:rPr lang="en-US" sz="1500" dirty="0">
                <a:solidFill>
                  <a:srgbClr val="334155"/>
                </a:solidFill>
              </a:rPr>
              <a:t>With -Apply: sends, polls a Key Vault create until done, records every request</a:t>
            </a:r>
            <a:endParaRPr lang="en-US" sz="1500" dirty="0"/>
          </a:p>
        </p:txBody>
      </p:sp>
      <p:sp>
        <p:nvSpPr>
          <p:cNvPr id="8" name="Panel Bodies checked against the call list">
            <a:extLst>
              <a:ext uri="{C183D7F6-B498-43B3-948B-1728B52AA6E4}">
                <adec:decorative xmlns:adec="http://schemas.microsoft.com/office/drawing/2017/decorative" val="1"/>
              </a:ext>
            </a:extLst>
          </p:cNvPr>
          <p:cNvSpPr/>
          <p:nvPr/>
        </p:nvSpPr>
        <p:spPr>
          <a:xfrm>
            <a:off x="6240780" y="1325880"/>
            <a:ext cx="5417820" cy="3520440"/>
          </a:xfrm>
          <a:prstGeom prst="roundRect">
            <a:avLst>
              <a:gd name="adj" fmla="val 20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Panel Bodies checked against the call list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BODIES CHECKED AGAINST THE CALL LIST</a:t>
            </a:r>
            <a:endParaRPr lang="en-US" sz="1100" dirty="0"/>
          </a:p>
        </p:txBody>
      </p:sp>
      <p:sp>
        <p:nvSpPr>
          <p:cNvPr id="10" name="Panel Bodies checked against the call list list"/>
          <p:cNvSpPr txBox="1"/>
          <p:nvPr/>
        </p:nvSpPr>
        <p:spPr>
          <a:xfrm>
            <a:off x="6423660" y="1737360"/>
            <a:ext cx="5097780" cy="3063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Default policy: only isEnabled (true) and the two restriction sets, v1.0 types; never loosens or drops a live one</a:t>
            </a:r>
            <a:endParaRPr lang="en-US" sz="1500" dirty="0"/>
          </a:p>
          <a:p>
            <a:pPr marL="342900" indent="-342900">
              <a:spcAft>
                <a:spcPts val="400"/>
              </a:spcAft>
              <a:buSzPct val="100000"/>
              <a:buChar char="•"/>
            </a:pPr>
            <a:r>
              <a:rPr lang="en-US" sz="1500" dirty="0">
                <a:solidFill>
                  <a:srgbClr val="334155"/>
                </a:solidFill>
              </a:rPr>
              <a:t>A policy create has a name and description; the lock body is exactly isEnabled and allProperties true</a:t>
            </a:r>
            <a:endParaRPr lang="en-US" sz="1500" dirty="0"/>
          </a:p>
          <a:p>
            <a:pPr marL="342900" indent="-342900">
              <a:spcAft>
                <a:spcPts val="400"/>
              </a:spcAft>
              <a:buSzPct val="100000"/>
              <a:buChar char="•"/>
            </a:pPr>
            <a:r>
              <a:rPr lang="en-US" sz="1500" dirty="0">
                <a:solidFill>
                  <a:srgbClr val="334155"/>
                </a:solidFill>
              </a:rPr>
              <a:t>An attach keeps every planned keyId and adds exactly one; a removal drops only the old</a:t>
            </a:r>
            <a:endParaRPr lang="en-US" sz="1500" dirty="0"/>
          </a:p>
          <a:p>
            <a:pPr marL="342900" indent="-342900">
              <a:spcAft>
                <a:spcPts val="400"/>
              </a:spcAft>
              <a:buSzPct val="100000"/>
              <a:buChar char="•"/>
            </a:pPr>
            <a:r>
              <a:rPr lang="en-US" sz="1500" dirty="0">
                <a:solidFill>
                  <a:srgbClr val="334155"/>
                </a:solidFill>
              </a:rPr>
              <a:t>The Key Vault create body is empty; DELETE and PUT are never sent</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5029200"/>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49808" y="5102352"/>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247924"/>
            <a:ext cx="315407" cy="315407"/>
          </a:xfrm>
          <a:prstGeom prst="rect">
            <a:avLst/>
          </a:prstGeom>
        </p:spPr>
      </p:pic>
      <p:sp>
        <p:nvSpPr>
          <p:cNvPr id="14" name="Callout text"/>
          <p:cNvSpPr txBox="1"/>
          <p:nvPr/>
        </p:nvSpPr>
        <p:spPr>
          <a:xfrm>
            <a:off x="1600200" y="5084064"/>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A live run is delegated: </a:t>
            </a:r>
            <a:r>
              <a:rPr lang="en-US" sz="1750" dirty="0">
                <a:solidFill>
                  <a:srgbClr val="334155"/>
                </a:solidFill>
              </a:rPr>
              <a:t>a person signed in with Cloud Application Administrator and, for a rotation, Key Vault Certificates Officer on the vault.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Certificate Operation (Key Vault REST); Create Certificate (2025-07-01); Update application. Chapter 04,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18B8B20-A801-C190-4CD8-9D1D9F1BDE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23E695-C539-4F0D-84E2-34A4861C924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runs, approves and reviews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1363980"/>
          </a:xfrm>
          <a:prstGeom prst="roundRect">
            <a:avLst>
              <a:gd name="adj" fmla="val 536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3639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13538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450" dirty="0">
                <a:solidFill>
                  <a:srgbClr val="334155"/>
                </a:solidFill>
              </a:rPr>
              <a:t>Build the credential code; read PowerShell 7, know Chapters 01 and 02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1363980"/>
          </a:xfrm>
          <a:prstGeom prst="roundRect">
            <a:avLst>
              <a:gd name="adj" fmla="val 536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136398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13538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450" dirty="0">
                <a:solidFill>
                  <a:srgbClr val="334155"/>
                </a:solidFill>
              </a:rPr>
              <a:t>Run it; keep the reviewed policy and rotation settings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1363980"/>
          </a:xfrm>
          <a:prstGeom prst="roundRect">
            <a:avLst>
              <a:gd name="adj" fmla="val 536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136398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13538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marL="0" indent="0">
              <a:spcAft>
                <a:spcPts val="300"/>
              </a:spcAft>
              <a:buNone/>
            </a:pPr>
            <a:r>
              <a:rPr lang="en-US" sz="1450" dirty="0">
                <a:solidFill>
                  <a:srgbClr val="334155"/>
                </a:solidFill>
              </a:rPr>
              <a:t>Approve rotations; keep bindings and verifications</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1363980"/>
          </a:xfrm>
          <a:prstGeom prst="roundRect">
            <a:avLst>
              <a:gd name="adj" fmla="val 536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136398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13538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ISSOs</a:t>
            </a:r>
            <a:endParaRPr lang="en-US" sz="1400" dirty="0"/>
          </a:p>
          <a:p>
            <a:pPr marL="0" indent="0">
              <a:spcAft>
                <a:spcPts val="300"/>
              </a:spcAft>
              <a:buNone/>
            </a:pPr>
            <a:r>
              <a:rPr lang="en-US" sz="1450" dirty="0">
                <a:solidFill>
                  <a:srgbClr val="334155"/>
                </a:solidFill>
              </a:rPr>
              <a:t>Review the evidence: plans, hashes and manifests</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2872740"/>
          <a:ext cx="11109960" cy="198882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873252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Permissions and roles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app-policy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Application.Read.All, Policy.Read.All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policy-apply (write, delegated 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Application.Read.All, Application.ReadWrite.All, Policy.Read.All, Policy.ReadWrite.ApplicationConfiguration; Cloud Application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rotation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Application.Read.All, User.Read.All; Key Vault Reader (research gaps, row 35)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rotation-apply (write, delegated 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Application.Read.All, Application.ReadWrite.All; Key Vault Reader, Key Vault Certificates Officer; Cloud Application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8" name="Lead"/>
          <p:cNvSpPr txBox="1"/>
          <p:nvPr/>
        </p:nvSpPr>
        <p:spPr>
          <a:xfrm>
            <a:off x="548640" y="504444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addKey needs no permission but an existing valid certificate; the program uses a person's reviewed run, for the owner's approval (row 37).</a:t>
            </a:r>
            <a:endParaRPr lang="en-US" sz="18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Get/Update tenant policy; List policies, appliesTo; Get/Update application; addKey; Key Vault RBAC; certificate access. Chapter 04, “Goal and audience,”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36B95D8-AA8B-E3DD-8541-3BB957A694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3EBA80-1172-4217-AEF1-1D3EA4A9A19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50"/>
    </mc:Choice>
    <mc:Fallback>
      <p:transition spd="slow" advTm="39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5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samples, then the policy plan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Microsoft's samples to the fakes: PassedCount 19, FailedCount 0, NotRunCount 32</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tests/NpiCredentialPolicy.Tests.ps1 -FullNameFilter '*Microsoft*samples*'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Compare the policy and build its plan</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./Invoke-NpiCredentialPolicy.ps1 -Cloud gcc -RegisterRun out/inventory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-FixturePath tests/fixtures/ch04/tenant.json -OutputPath out/policy</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Diff: 6 Add, 1 Change, 1 KeepExisting</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Findings: 12 Finding, 1 Warn, 1 Info</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 plan: 10 actions, 8 of them writes (…); nothing sent</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5  Dry run, -Apply to the fake, then an unapproved hash</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DryRun: 8 WouldSend    Apply: 8 Sent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The plan's SHA-256 is 2d4c419a…, not the approved 0000…; refusing to run a plan nobody reviewed.</a:t>
            </a:r>
            <a:endParaRPr lang="en-US" sz="1300" dirty="0"/>
          </a:p>
        </p:txBody>
      </p:sp>
      <p:sp>
        <p:nvSpPr>
          <p:cNvPr id="8" name="Callout">
            <a:extLst>
              <a:ext uri="{C183D7F6-B498-43B3-948B-1728B52AA6E4}">
                <adec:decorative xmlns:adec="http://schemas.microsoft.com/office/drawing/2017/decorative" val="1"/>
              </a:ext>
            </a:extLst>
          </p:cNvPr>
          <p:cNvSpPr/>
          <p:nvPr/>
        </p:nvSpPr>
        <p:spPr>
          <a:xfrm>
            <a:off x="548640" y="417271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24586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391436"/>
            <a:ext cx="315407" cy="315407"/>
          </a:xfrm>
          <a:prstGeom prst="rect">
            <a:avLst/>
          </a:prstGeom>
        </p:spPr>
      </p:pic>
      <p:sp>
        <p:nvSpPr>
          <p:cNvPr id="11" name="Callout text"/>
          <p:cNvSpPr txBox="1"/>
          <p:nvPr/>
        </p:nvSpPr>
        <p:spPr>
          <a:xfrm>
            <a:off x="1600200" y="422757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Step 4, the diff: </a:t>
            </a:r>
            <a:r>
              <a:rPr lang="en-US" sz="1750" dirty="0">
                <a:solidFill>
                  <a:srgbClr val="334155"/>
                </a:solidFill>
              </a:rPr>
              <a:t>the tenant's customPasswordAddition stays in the body (KeepExisting); the one Warn is an unreviewed policy on Vendor Portal; five apps get the lock.</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04, “Lab 1: fixtures, no tenant,” steps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34E4BE3-5E6E-BE49-08F1-12A699EEAFD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525B0B-9ECB-49EE-AD3B-9FD885109DA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80"/>
    </mc:Choice>
    <mc:Fallback>
      <p:transition spd="slow" advTm="35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7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rotation plan, applied to the fake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App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RenewInKeyVault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Vendor Portal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Expires December 1, inside the 60 days; Erin, an enabled member and owner, approved October 28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AttachNewCertificate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Deploy Bot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Key Vault renewed it on its own lifetime action October 25; Carol approved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RemoveOldCertificate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HR Connector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New certificate started October 20, Alice verified October 22, the 7 days passed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NoKeyVaultBinding, ReplaceSecret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Legacy Reports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in Key Vault, lasts 730 days (NPI-ROT-02, NPI-ROT-05); and a secret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ReplaceSecret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Mail Automation, Payroll Export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Client secrets: replace, don't rotate (NPI-ROT-06)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ode panel">
            <a:extLst>
              <a:ext uri="{C183D7F6-B498-43B3-948B-1728B52AA6E4}">
                <adec:decorative xmlns:adec="http://schemas.microsoft.com/office/drawing/2017/decorative" val="1"/>
              </a:ext>
            </a:extLst>
          </p:cNvPr>
          <p:cNvSpPr/>
          <p:nvPr/>
        </p:nvSpPr>
        <p:spPr>
          <a:xfrm>
            <a:off x="548640" y="4224528"/>
            <a:ext cx="11109960" cy="1056132"/>
          </a:xfrm>
          <a:prstGeom prst="roundRect">
            <a:avLst>
              <a:gd name="adj" fmla="val 692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7" name="Code label"/>
          <p:cNvSpPr txBox="1"/>
          <p:nvPr/>
        </p:nvSpPr>
        <p:spPr>
          <a:xfrm>
            <a:off x="713232" y="4297680"/>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STEPS 6 AND 8</a:t>
            </a:r>
            <a:endParaRPr lang="en-US" sz="1050" dirty="0"/>
          </a:p>
        </p:txBody>
      </p:sp>
      <p:sp>
        <p:nvSpPr>
          <p:cNvPr id="8" name="Code"/>
          <p:cNvSpPr txBox="1"/>
          <p:nvPr/>
        </p:nvSpPr>
        <p:spPr>
          <a:xfrm>
            <a:off x="713232" y="4562856"/>
            <a:ext cx="10835640" cy="672084"/>
          </a:xfrm>
          <a:prstGeom prst="rect">
            <a:avLst/>
          </a:prstGeom>
          <a:noFill/>
          <a:ln/>
        </p:spPr>
        <p:txBody>
          <a:bodyPr wrap="square" lIns="0" tIns="0" rIns="0" bIns="0" rtlCol="0" anchor="t"/>
          <a:lstStyle/>
          <a:p>
            <a:pPr marL="0" indent="0">
              <a:buNone/>
            </a:pPr>
            <a:r>
              <a:rPr lang="en-US" sz="1250" dirty="0">
                <a:solidFill>
                  <a:srgbClr val="334155"/>
                </a:solidFill>
                <a:latin typeface="Consolas" pitchFamily="34" charset="0"/>
                <a:ea typeface="Consolas" pitchFamily="34" charset="-122"/>
                <a:cs typeface="Consolas" pitchFamily="34" charset="-120"/>
              </a:rPr>
              <a:t>Rotation plan: 3 writes (1 AttachNewCertificate, 1 RemoveOldCertificate, 1 RenewInKeyVault)</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DryRun: 3 WouldSend   ...  POST https://kv-npi-contoso.vault.azure.net/certificates/vendor-portal/create</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Apply: 3 Sent</a:t>
            </a:r>
            <a:endParaRPr lang="en-US" sz="1250" dirty="0"/>
          </a:p>
        </p:txBody>
      </p:sp>
      <p:sp>
        <p:nvSpPr>
          <p:cNvPr id="9" name="Lead"/>
          <p:cNvSpPr txBox="1"/>
          <p:nvPr/>
        </p:nvSpPr>
        <p:spPr>
          <a:xfrm>
            <a:off x="548640" y="5463540"/>
            <a:ext cx="11109960" cy="321564"/>
          </a:xfrm>
          <a:prstGeom prst="rect">
            <a:avLst/>
          </a:prstGeom>
          <a:noFill/>
          <a:ln/>
        </p:spPr>
        <p:txBody>
          <a:bodyPr wrap="square" lIns="0" tIns="0" rIns="0" bIns="0" rtlCol="0" anchor="t"/>
          <a:lstStyle/>
          <a:p>
            <a:pPr marL="0" indent="0">
              <a:buNone/>
            </a:pPr>
            <a:r>
              <a:rPr lang="en-US" sz="1750" b="1" dirty="0">
                <a:solidFill>
                  <a:srgbClr val="1F2A44"/>
                </a:solidFill>
              </a:rPr>
              <a:t>Step 9, Invoke-Pester -Path tests: 513 passing, this chapter's 51 among them. Delete out when done.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tenant and vault). Chapter 04, “Lab 1: fixtures, no tenant,” steps 6–9;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36BBD73-A1F5-6729-C039-5AE5C3251DE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4CE0388-43DA-4B3F-89B4-52A5F56339C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900"/>
    </mc:Choice>
    <mc:Fallback>
      <p:transition spd="slow" advTm="3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9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and a test key vault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Prepare: </a:t>
            </a:r>
            <a:r>
              <a:rPr lang="en-US" sz="1450" dirty="0">
                <a:solidFill>
                  <a:srgbClr val="334155"/>
                </a:solidFill>
              </a:rPr>
              <a:t>Apps npi-test-cert (two test owners) and npi-test-secret; a 5-month self-signed certificate in the test vault, uploaded and bound; test copy's effective date set to yesterday</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Read and plan: </a:t>
            </a:r>
            <a:r>
              <a:rPr lang="en-US" sz="1450" dirty="0">
                <a:solidFill>
                  <a:srgbClr val="334155"/>
                </a:solidFill>
              </a:rPr>
              <a:t>With only Application.Read.All and Policy.Read.All; keep default-policy-before.json, the back-out</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22656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22656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20827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Review, dry-run, apply: </a:t>
            </a:r>
            <a:r>
              <a:rPr lang="en-US" sz="1450" dirty="0">
                <a:solidFill>
                  <a:srgbClr val="334155"/>
                </a:solidFill>
              </a:rPr>
              <a:t>As Cloud Application Administrator; record whether that role was enough (row 33) and each state returned (row 32); the admin center shows both policies on, no warning</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77825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77825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759964"/>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Check the policy: </a:t>
            </a:r>
            <a:r>
              <a:rPr lang="en-US" sz="1450" dirty="0">
                <a:solidFill>
                  <a:srgbClr val="334155"/>
                </a:solidFill>
              </a:rPr>
              <a:t>A new secret and a 12-month certificate are refused; the lock shows all properties</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10896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10896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09067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Raise, renew, attach: </a:t>
            </a:r>
            <a:r>
              <a:rPr lang="en-US" sz="1450" dirty="0">
                <a:solidFill>
                  <a:srgbClr val="334155"/>
                </a:solidFill>
              </a:rPr>
              <a:t>AwaitOwnerApproval, an owner approves, RenewInKeyVault, then AttachNewCertificate, as Key Vault Certificates Officer; record rows 35, 36, 38</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366064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66064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364236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Verify, remove, back out: </a:t>
            </a:r>
            <a:r>
              <a:rPr lang="en-US" sz="1450" dirty="0">
                <a:solidFill>
                  <a:srgbClr val="334155"/>
                </a:solidFill>
              </a:rPr>
              <a:t>Sign in with the new certificate, record it, remove the old after the overlap (row 37); a person restores the default policy and deletes the test objects</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37692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45008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95652"/>
            <a:ext cx="315407" cy="315407"/>
          </a:xfrm>
          <a:prstGeom prst="rect">
            <a:avLst/>
          </a:prstGeom>
        </p:spPr>
      </p:pic>
      <p:sp>
        <p:nvSpPr>
          <p:cNvPr id="26" name="Callout text"/>
          <p:cNvSpPr txBox="1"/>
          <p:nvPr/>
        </p:nvSpPr>
        <p:spPr>
          <a:xfrm>
            <a:off x="1600200" y="443179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a test key vault using Azure RBAC and fictional people, never production. The reviewed files don't change; use test copies.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restrictions (admin center); Add a certificate (sign-in); tenantAppManagementPolicy (disabled default). Chapter 04,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F5B86418-BA19-2CC9-383A-B96F42F663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374E743-6B46-43C5-894D-DFE1F38A3AE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30"/>
    </mc:Choice>
    <mc:Fallback>
      <p:transition spd="slow" advTm="36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3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720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Danger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guard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PATCH that drops a restriction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collection is replaced whole; a forgotten restriction is gone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live restriction in the body; the writer re-reads and refuses loosening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retroactive start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Existing apps' next certificates refused, on the day they're needed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effective date, for new apps; existing apps under their own cap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plan changed after review, or a tenant since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Different writes from the ones approved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Approved SHA-256; tenant, cloud, task; seven days; policy hash re-checked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exception that never ends; an unreviewed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secret allowed forever; an app quietly exempt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 date, ExceptionExpired, NPI-POL-03; NPI-POL-02 names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new certificate that replaces the old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workload fails until it picks up the new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Attach keeps every certificate; removal only after verification and overlap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certificate longer than the cap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Attach refused at the worst moment, or a long one slips through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KeyVaultPolicyOverCap before renewal; LifetimeOverCap before attach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rotation nobody approved, or one that changes the vault's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credential changes under an owner; validity or issuer changed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enabled-member owner's approval within 30 days; empty create body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unattended app with Application.ReadWrite.All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standing permission to add a credential to every app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Writes delegated to a Cloud Application Administrator; reads read-only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secret "rotated" in place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weakest credential survives another year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ReplaceSecret: replaced by a certificate or federation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application (collections replaced); Add a certificate. Chapter 04,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3501D2E-599C-E374-A222-5C256B1D84B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C880A2-97F4-4E30-AEFE-82FBD57E9E4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20"/>
    </mc:Choice>
    <mc:Fallback>
      <p:transition spd="slow" advTm="36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policy">
            <a:extLst>
              <a:ext uri="{C183D7F6-B498-43B3-948B-1728B52AA6E4}">
                <adec:decorative xmlns:adec="http://schemas.microsoft.com/office/drawing/2017/decorative" val="1"/>
              </a:ext>
            </a:extLst>
          </p:cNvPr>
          <p:cNvSpPr/>
          <p:nvPr/>
        </p:nvSpPr>
        <p:spPr>
          <a:xfrm>
            <a:off x="548640" y="1325880"/>
            <a:ext cx="5417820" cy="2999232"/>
          </a:xfrm>
          <a:prstGeom prst="roundRect">
            <a:avLst>
              <a:gd name="adj" fmla="val 243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polic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POLICY</a:t>
            </a:r>
            <a:endParaRPr lang="en-US" sz="1100" dirty="0"/>
          </a:p>
        </p:txBody>
      </p:sp>
      <p:sp>
        <p:nvSpPr>
          <p:cNvPr id="7" name="Panel The policy list"/>
          <p:cNvSpPr txBox="1"/>
          <p:nvPr/>
        </p:nvSpPr>
        <p:spPr>
          <a:xfrm>
            <a:off x="73152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app-management-policy.json reviewed; its effective date and exceptions approved by the owner</a:t>
            </a:r>
            <a:endParaRPr lang="en-US" sz="1500" dirty="0"/>
          </a:p>
          <a:p>
            <a:pPr marL="342900" indent="-342900">
              <a:spcAft>
                <a:spcPts val="400"/>
              </a:spcAft>
              <a:buSzPct val="100000"/>
              <a:buChar char="•"/>
            </a:pPr>
            <a:r>
              <a:rPr lang="en-US" sz="1500" dirty="0">
                <a:solidFill>
                  <a:srgbClr val="334155"/>
                </a:solidFill>
              </a:rPr>
              <a:t>The default holds the restrictions on both objects; the admin center shows no warning</a:t>
            </a:r>
            <a:endParaRPr lang="en-US" sz="1500" dirty="0"/>
          </a:p>
          <a:p>
            <a:pPr marL="342900" indent="-342900">
              <a:spcAft>
                <a:spcPts val="400"/>
              </a:spcAft>
              <a:buSzPct val="100000"/>
              <a:buChar char="•"/>
            </a:pPr>
            <a:r>
              <a:rPr lang="en-US" sz="1500" dirty="0">
                <a:solidFill>
                  <a:srgbClr val="334155"/>
                </a:solidFill>
              </a:rPr>
              <a:t>Every policy in the tenant is in the file, or has a finding with an owner</a:t>
            </a:r>
            <a:endParaRPr lang="en-US" sz="1500" dirty="0"/>
          </a:p>
          <a:p>
            <a:pPr marL="342900" indent="-342900">
              <a:spcAft>
                <a:spcPts val="400"/>
              </a:spcAft>
              <a:buSzPct val="100000"/>
              <a:buChar char="•"/>
            </a:pPr>
            <a:r>
              <a:rPr lang="en-US" sz="1500" dirty="0">
                <a:solidFill>
                  <a:srgbClr val="334155"/>
                </a:solidFill>
              </a:rPr>
              <a:t>Every exception has a record and an end date; none expired and still assigned</a:t>
            </a:r>
            <a:endParaRPr lang="en-US" sz="1500" dirty="0"/>
          </a:p>
          <a:p>
            <a:pPr marL="342900" indent="-342900">
              <a:spcAft>
                <a:spcPts val="400"/>
              </a:spcAft>
              <a:buSzPct val="100000"/>
              <a:buChar char="•"/>
            </a:pPr>
            <a:r>
              <a:rPr lang="en-US" sz="1500" dirty="0">
                <a:solidFill>
                  <a:srgbClr val="334155"/>
                </a:solidFill>
              </a:rPr>
              <a:t>Every app registration in the register fully locked</a:t>
            </a:r>
            <a:endParaRPr lang="en-US" sz="1500" dirty="0"/>
          </a:p>
        </p:txBody>
      </p:sp>
      <p:sp>
        <p:nvSpPr>
          <p:cNvPr id="8" name="Panel The rotation and the evidence">
            <a:extLst>
              <a:ext uri="{C183D7F6-B498-43B3-948B-1728B52AA6E4}">
                <adec:decorative xmlns:adec="http://schemas.microsoft.com/office/drawing/2017/decorative" val="1"/>
              </a:ext>
            </a:extLst>
          </p:cNvPr>
          <p:cNvSpPr/>
          <p:nvPr/>
        </p:nvSpPr>
        <p:spPr>
          <a:xfrm>
            <a:off x="6240780" y="1325880"/>
            <a:ext cx="5417820" cy="2999232"/>
          </a:xfrm>
          <a:prstGeom prst="roundRect">
            <a:avLst>
              <a:gd name="adj" fmla="val 243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otation and the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ROTATION AND THE EVIDENCE</a:t>
            </a:r>
            <a:endParaRPr lang="en-US" sz="1100" dirty="0"/>
          </a:p>
        </p:txBody>
      </p:sp>
      <p:sp>
        <p:nvSpPr>
          <p:cNvPr id="10" name="Panel The rotation and the evidence list"/>
          <p:cNvSpPr txBox="1"/>
          <p:nvPr/>
        </p:nvSpPr>
        <p:spPr>
          <a:xfrm>
            <a:off x="642366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certificate bound to a Key Vault certificate whose policy fits the app's cap</a:t>
            </a:r>
            <a:endParaRPr lang="en-US" sz="1500" dirty="0"/>
          </a:p>
          <a:p>
            <a:pPr marL="342900" indent="-342900">
              <a:spcAft>
                <a:spcPts val="400"/>
              </a:spcAft>
              <a:buSzPct val="100000"/>
              <a:buChar char="•"/>
            </a:pPr>
            <a:r>
              <a:rPr lang="en-US" sz="1500" dirty="0">
                <a:solidFill>
                  <a:srgbClr val="334155"/>
                </a:solidFill>
              </a:rPr>
              <a:t>Every rotation owner-approved; every removal after verification and the overlap</a:t>
            </a:r>
            <a:endParaRPr lang="en-US" sz="1500" dirty="0"/>
          </a:p>
          <a:p>
            <a:pPr marL="342900" indent="-342900">
              <a:spcAft>
                <a:spcPts val="400"/>
              </a:spcAft>
              <a:buSzPct val="100000"/>
              <a:buChar char="•"/>
            </a:pPr>
            <a:r>
              <a:rPr lang="en-US" sz="1500" dirty="0">
                <a:solidFill>
                  <a:srgbClr val="334155"/>
                </a:solidFill>
              </a:rPr>
              <a:t>Each plan's hash approved by someone other than the person who applied it; writes delegated; manifests filed</a:t>
            </a:r>
            <a:endParaRPr lang="en-US" sz="1500" dirty="0"/>
          </a:p>
          <a:p>
            <a:pPr marL="342900" indent="-342900">
              <a:spcAft>
                <a:spcPts val="400"/>
              </a:spcAft>
              <a:buSzPct val="100000"/>
              <a:buChar char="•"/>
            </a:pPr>
            <a:r>
              <a:rPr lang="en-US" sz="1500" dirty="0">
                <a:solidFill>
                  <a:srgbClr val="334155"/>
                </a:solidFill>
              </a:rPr>
              <a:t>The pinned samples match their manifests; every upstream commit since reviewed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507992"/>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81144"/>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26716"/>
            <a:ext cx="315407" cy="315407"/>
          </a:xfrm>
          <a:prstGeom prst="rect">
            <a:avLst/>
          </a:prstGeom>
        </p:spPr>
      </p:pic>
      <p:sp>
        <p:nvSpPr>
          <p:cNvPr id="14" name="Callout text"/>
          <p:cNvSpPr txBox="1"/>
          <p:nvPr/>
        </p:nvSpPr>
        <p:spPr>
          <a:xfrm>
            <a:off x="1600200" y="4562856"/>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05 replaces the secrets this chapter flags, with workload identity federation and managed identities.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04, “Checklist”; “Continue the book.” Learn, Configure restrictions (admin center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BCBDA0E-88AF-92AB-5D3D-31ED75F6A9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8928FB-8231-4BC7-83F1-91FFE3442B0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50"/>
    </mc:Choice>
    <mc:Fallback>
      <p:transition spd="slow" advTm="39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16516</Words>
  <Application>Microsoft Office PowerPoint</Application>
  <PresentationFormat>Widescreen</PresentationFormat>
  <Paragraphs>480</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04: App Policies and Certificate Rotation</vt:lpstr>
      <vt:lpstr>Why a reviewed policy and a planned rotation</vt:lpstr>
      <vt:lpstr>Which cloud: Graph and Key Vault hosts</vt:lpstr>
      <vt:lpstr>What an app management policy is</vt:lpstr>
      <vt:lpstr>The program's rules: policy, lock, license, rotation</vt:lpstr>
      <vt:lpstr>Microsoft's samples, pinned and sent to fakes</vt:lpstr>
      <vt:lpstr>What the policy samples leave to you</vt:lpstr>
      <vt:lpstr>What the certificate and Key Vault samples leave</vt:lpstr>
      <vt:lpstr>The code and the inputs it reads</vt:lpstr>
      <vt:lpstr>The policy: compare, merge, plan</vt:lpstr>
      <vt:lpstr>Rotation: one step per certificate</vt:lpstr>
      <vt:lpstr>The separate write path, and what it refuses</vt:lpstr>
      <vt:lpstr>Who builds, runs, approves and reviews</vt:lpstr>
      <vt:lpstr>Lab 1: the samples, then the policy plan</vt:lpstr>
      <vt:lpstr>Lab 1: the rotation plan, applied to the fake</vt:lpstr>
      <vt:lpstr>Lab 2: a test tenant and a test key vault</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04 — App Policies and Certificate Rotation</dc:title>
  <dc:subject>PptxGenJS Presentation</dc:subject>
  <dc:creator>Michael F. Stratton</dc:creator>
  <cp:lastModifiedBy>Michael F. Stratton</cp:lastModifiedBy>
  <cp:revision>2</cp:revision>
  <dcterms:created xsi:type="dcterms:W3CDTF">2026-10-31T14:33:43Z</dcterms:created>
  <dcterms:modified xsi:type="dcterms:W3CDTF">2026-10-31T16:01:15Z</dcterms:modified>
</cp:coreProperties>
</file>