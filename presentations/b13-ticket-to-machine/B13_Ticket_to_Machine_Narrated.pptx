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CCB741D2-54B5-2CA6-91C6-6EB2BAE27C7B}">
          <p14:sldIdLst>
            <p14:sldId id="256"/>
            <p14:sldId id="257"/>
          </p14:sldIdLst>
        </p14:section>
        <p14:section name="The loop and the lanes" id="{EA763E90-38C2-D822-A0D9-B04D7F3053E0}">
          <p14:sldIdLst>
            <p14:sldId id="258"/>
            <p14:sldId id="259"/>
            <p14:sldId id="260"/>
            <p14:sldId id="261"/>
            <p14:sldId id="262"/>
            <p14:sldId id="263"/>
          </p14:sldIdLst>
        </p14:section>
        <p14:section name="Tempo, measures and evidence" id="{6AA6B37E-26D9-503F-28DE-73170D9B2589}">
          <p14:sldIdLst>
            <p14:sldId id="264"/>
            <p14:sldId id="265"/>
            <p14:sldId id="266"/>
          </p14:sldIdLst>
        </p14:section>
        <p14:section name="Examples and exceptions" id="{3F02299F-758D-10B5-5891-316A13FAE8EB}">
          <p14:sldIdLst>
            <p14:sldId id="267"/>
            <p14:sldId id="268"/>
            <p14:sldId id="269"/>
            <p14:sldId id="270"/>
            <p14:sldId id="271"/>
          </p14:sldIdLst>
        </p14:section>
        <p14:section name="Close" id="{55AB496A-40FE-90F3-DC14-3249C1BD9E48}">
          <p14:sldIdLst>
            <p14:sldId id="272"/>
          </p14:sldIdLst>
        </p14:section>
        <p14:section name="Backup" id="{A05A9418-20CF-2725-2C4D-671C31E1B3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287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Welcome to the Ticket-to-Machine Reference, Appendix B of Book 13 in the Federal Modernization Workbook. Chapter 10 makes an argument about operational tempo; this appendix is the reference that backs it up. Over the next twelve minutes we'll walk the loop, the five clauses every change passes through, the lanes each kind of change takes, the clocks, the evidence record, and four worked examples. One caution up front: the lanes, ceilings, severities and windows are the program's design, not federal requirements, and the examples are illustrative. Let's start with why any of this matters.
Detail: A narrated walk through Book 13, Appendix B, the reference tables and worked examples behind Chapter 10, "Operational Tempo: Ticket to Machine, Not Ticket to Human." The appendix's epigraph: a ticket is evidence only when it authorized something that then ran, and a re-read proved the result. Coverage: the coordination loop and the five-clause request chain; the five lanes and which classes of change take each; drift classes and default lanes; severity and tempo; the leadership measures; the evidence record; four worked examples; the certificate exception; one front door for detection tools; and the failure modes a security review of a reference implementation found. The appendix's own caution applies throughout: the lanes, ceilings, severities and response windows are the Federal Modernization Program's design, not federal requirements; where a federal document says something relevant, it is cited. The worked examples are illustrative patterns, not records of a real engagement, and every identifier in them is invented. Product capabilities change quickly; confirm current behavior with each vendor before a plan, procurement or acquisition decision rests on this material. The control-by-control mapping is in Appendix A.
Workbook: Book 13, Appendix B (In this appendix; Program design, with illustrative examples).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[0:40–1:24]  Here's the idea the whole appendix rests on. A ticket that sends a person to a console doesn't prove anything; it just changes who's to blame. The person does the work, replies "done," and the record holds a claim. Now flip it: the person approves, a machine runs a versioned plan under its own identity, and a re-read proves the result. The person keeps the one job a machine can't do, which is to decide. And this matters because a platform that finds drift perfectly but closes it slowly is just documenting neglect. So what does the machine path look like end to end?
Detail: Chapter 10's argument. The drift engine (Chapter 06) turns every difference between the record and the estate into a remediation contract with a class, a severity and an escalation path. That is necessary and not sufficient: a platform that detects perfectly and closes slowly produces a growing, accurate, timestamped list of things nobody fixed, and its evidence then documents neglect rather than discipline. The default shape of change management: a ticket is raised, a person opens the console or runs a script because the ticket told them to, and replies "done." Adding a ticket in front of that doesn't change who is at the keyboard, what account they used or whether anything checked their work; Book 00, Chapter 04 is explicit that a task closed by a person clicking "complete" with no machine-readable verification is prose, not evidence. The program's rule: wherever a machine can reach the surface, the ticket authorizes a machine. A human approves; the platform executes under a service identity, from a versioned plan, after a dry run, and re-reads the object to verify the result. Running a change that way produces what an assessor checks for: a prior approval by a named person who isn't the requester; a version-controlled, access-restricted artifact; execution logged and attributed to the task and its service identity; a result verified by a re-read that can be re-tested. People tune the classifier, review escalations, decide exceptions and write the rules; they don't triage routine drift ticket by ticket. SP 800-137 is clear that a security program can't be fully automated; the tools still need people.
Workbook: Book 13, Chapter 10 (opening; Ticket to machine, not ticket to human); Appendix B, epigraph.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[1:24–2:07]  It's a loop of five steps. A rule tests actual state against the record, a difference becomes a typed finding, the finding becomes a task with an owner and a clock, the change runs on the platform's own surface, and a re-read closes it with evidence. The important part is what the coordination layer doesn't do: it never makes the change itself. Its job is to make every drift owned, clocked, approved and proven. Federal policy is heading the same way for cloud providers, and the program applies that logic to an agency's own estate. Inside that loop, every request runs a chain.
Detail: The coordination loop. Native consoles can detect drift and change state, and their dashboards show current posture inside their own boundary. What a console can't do on its own is answer the four questions an assessor asks about a finding: who owns it, by when, under whose approval, and with what evidence of closure. The program puts a coordination layer in front of the native tools and keeps every change on the native surface. 1 Test: a rule evaluates actual state against the authoritative record (Chapter 05). 2 Detect drift: a difference becomes a typed finding with a severity (Chapter 06). 3 Raise a typed task against the reconciled configuration item, with an owner and a clock. 4 Actuate on the native surface, under a service identity, through the platform's own interface. 5 Close with evidence: re-read the post-change state and write one record of the whole chain. The coordination layer never writes the configuration, applies the patch or edits the firewall rule itself. Federal direction: OMB M-24-15 asked FedRAMP to oversee a cloud provider's change process itself rather than each individual change. FedRAMP's 2026 rules let providers make routine recurring changes (fixing flaws, handling incidents, doing maintenance) without formal notification, while keeping auditable records of how each change was classified. FedRAMP's change management indicator (KSI-CMT-RMV) prefers redeploying version-controlled resources to modifying them in place "wherever reasonable." Those rules bind providers, not agencies; the program applies the same logic to an agency's own estate. Chapter 10 adds that SP 800-53 CM-3 asks for this record directly, and SP 800-37 asks organizations to monitor for unauthorized changes and their root cause.
Workbook: Book 13, Appendix B, The coordination loop; Chapter 10, Native tools change state; they don't close findings.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[2:07–2:49]  Every governed change, whether it's an add, a move, a deletion or a reset, passes the same five clauses, in order. It has to trace to a real origin, carry an approval from someone who isn't the requester, run under a short-lived scoped role, prove its result with a re-read, and write its own evidence. If any clause fails, the chain stops, and the task isn't treated as closed. And here's the highpoint: a refusal is recorded just like a success, so a blocked self-approval becomes evidence too. Next question: who approves what? That's where the lanes come in.
Detail: Every governed change, every move, add, change, deletion and reset, travels the five clauses of Book 00, Chapter 04, Principle 2. In the coordination layer they run in order; if any clause fails the chain stops and the task is not treated as closed, and a refusal is written to the record like a success. Clause 1, originates with the source of truth: the task traces to a lineage record (a drift finding, an HR event or an approved request); refuses when no origin record resolves; leaves the origin record's identifier. Clause 2, carries an authoritative authorization: the approver resolves from the authority model, separation of duties holds, fail-closed; refuses when the requester or the plan's author is the approver, or the target isn't reconciled to the authoritative record; leaves approver, approval time and the authority rule that resolved. Clause 3, executes under least privilege, elevated just in time: the executing identity activates a time-boxed, scoped role, then the native write runs through the platform's interface; refuses when no activation is issued (no activation, no actuation), the grant requested would be standing, or the write is rejected; leaves activation identifier and expiry, run log tied to the task, artifact version. Clause 4, closes with provenance: the post-change state is re-read from the platform; a success response is not closure; refuses when the re-read doesn't show the intended state; leaves verification payload, timestamp and identity of the checking mechanism. Clause 5, emits verified, secured evidence automatically: one closure record flows into the continuous-monitoring stream with no human assembly; refuses when the record can't be written or signed (Chapter 07). The chain mirrors the Book 01 actuation ladder: clause 2 is the human authorization L3 gated actuation requires for each instance, or the advance acceptance of the class at L4, and clause 4 is the re-test that makes the result something an authorizing official can rely on. Privileged elevation follows Book 04's request-with-approval model.
Workbook: Book 13, Appendix B, The five-clause request chain.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[2:49–3:30]  Every kind of change takes one of five lanes, and the lane settles three things: who approves, what actually runs, and what evidence comes out. Two lanes run on machines. The gated lane, where a named person approves each instance, is the default. The autonomous lane is only for narrow, low-risk classes the authorizing official has accepted in writing, ahead of time. Then there's a human-decision lane, a protocol lane with no ticket at all, and the declared exception for when no machine can reach. Remember, this is the program's design. So which changes land where?
Detail: Each class of change takes one of five lanes; the lane decides who approves, what runs and what evidence results. These are the program's design, not federal requirements. Machine, autonomous: approved as a class, in advance and in writing by the authorizing official, with its scope limits, exclusions and after-the-fact review rate; the governance board reviews each such class quarterly; the execution layer runs through a native interface inside the response window; evidence is the finding, rule and baseline version, before and after state, re-read and run log; ceiling L4, enumerated low-blast-radius classes only. Machine, gated: a named approver who isn't the requester or the plan's author, per instance, ring or approved batch; the execution layer runs after a dry run under a service identity; evidence adds the approval, dry run and activation; ceiling L3, the default. Human decision: the role that owns the decision; executes whatever the decision authorizes, usually the gated lane; L2 until decided. Protocol-enforced: the policy encoded in the protocol and in DNS; the issuing protocol runs with no ticket per event; issuance logs, inventory, policy records; not a ticket lane. Declared exception: the system owner, with a named compensating control and an end date; a person through a time-boxed, proxied and recorded privileged session; approval first, then the session recording; temporary, tracked to closure. Chapter 10: at L3 the approval attaches to the instance (a plan, a dry run, a named approver through the repository's review); at L4 it attaches to the class, with stated conditions that drop the class back to L3. Four mechanics keep both honest: separate identities for deciding and acting; no standing privilege for people; requesters don't approve; closure is a re-read, not a 2xx response. L3 is the default by design, not a federal requirement: CISA's Zero Trust Maturity Model describes itself as a general guide.
Workbook: Book 13, Appendix B, Change classes and their lanes; Chapter 10, Approval gates keep humans on the decisions that matter.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[3:30–4:10]  Before any class goes to a machine, it has to pass six tests from Chapter 10: reachable, deterministic, bounded, reversible, verifiable, and not on the permanently-gated list. With that filter in place, the starting assignment falls out naturally. Routine configuration drift and patching run on machines behind an approval. Anything critical, or anything touching authorization or provenance, halts and goes to a person. Access requests ride the five clauses, and an idle entitlement goes to its owner to decide first. An agency tunes all of this in its own record. Here's the rest of the table.
Detail: Chapter 10's six tests, all of which a class must pass to qualify for a ticket to a machine (program design): 1 a machine can reach the surface through an API or management stack under a scoped service identity; 2 the fix is deterministic, the end state comes from the record, and if two careful engineers could reasonably choose different fixes the class doesn't qualify; 3 the scope is bounded, one object or a pre-materialized list, with blast radius computed before approval; 4 there is a way back, rollback-paired or rollback-never by design with a defined recovery path; 5 the result can be verified by a re-read; 6 the class isn't on the permanent-L3 list (tenant-wide roles, Conditional Access enforcement, bulk device state, network policy touching thousands of endpoints). The tests decide whether a machine executes; the ladder decides whether a human approves each instance first. Appendix B's starting assignment, first six classes: configuration drift with a deterministic fix, low or medium severity (a tenant setting reverted by hand away from the secure baseline): machine, gated; autonomous only where enumerated at L4; per instance at L3, the class in advance at L4; plus the baseline version restored. High severity (a storage account opened to public network access): machine, gated, inside a 1-hour window; a person decides the fix if it isn't deterministic; named approver per instance unless enumerated at L4; plus the exposure window from first detection to re-read. Critical drift, or any drift in authorization or provenance (a change with no provenance event; a policy contradicting a principal's recorded assurance level): halt and alert, then human decision, by the escalation path in the finding's contract (steward for the record, workstream lead for a platform, CISO for a control requirement or evidence); investigation notes linked. Vulnerability remediation and patching: machine, gated by maintenance window; change approval for the window or batch; scan before and after and time against the window. Access request inside policy: machine, gated through the five clauses; approver named for the role; JIT activation and expiry. Over-privilege or idle entitlement (unused 90 days): human decision by the entitlement owner, then gated removal; the decision and the re-read of the binding.
Workbook: Book 13, Appendix B, Change classes and their lanes; Chapter 10, Which change classes qualify.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[4:10–4:51]  The second half covers the changes that need the most care. Anything with a big blast radius, like a tenant-wide role or a Conditional Access change, stays gated permanently, however mature the program gets. Changes to the record itself are always a human decision through review. Routine certificates run on protocol, and emergencies act first and record afterward. Two rules hold across all of it. A machine never edits the record to make drift disappear, and no gap quietly goes to a person at a console. Now let's look at drift from the other side, by class.
Detail: The rest of the starting assignment. High-blast-radius change (a tenant-wide role, a Conditional Access enforcement change, bulk device state, network policy touching thousands of endpoints): machine, gated, permanently; named approver after a dry run; dry-run output and rollback plan. Change to the authoritative record itself (a new baseline, a rule threshold, a change to which source is authoritative): human decision; reviewed pull request, with steward and sponsor for architecture or authoritative-origin rules; the merged change and its review. Routine certificate issuance and renewal within policy (a web server's certificate renewed automatically): protocol-enforced; none per event; issuance and inventory records. Certificate anomaly (a new issuing CA, a non-standard lifetime, a trust anchor change, an unknown-issuer certificate found in inventory, a blocked issuance attempt against a CAA record): human decision, then gated; PKI owner; the anomaly finding and its disposition. No machine actuator exists yet (an appliance with no supported interface): declared exception; system owner, with compensating control and end date; session recording and the exception's POA&amp;M item. Emergency change (containment during an incident): act first under incident procedures, then record; incident commander, retrospective review; retroactive task and assessment. The emergency row follows the shape FedRAMP gives providers: significant changes may be made in an emergency without advance notification, provided procedures are followed, parties are notified and the materials and assessment are completed afterward. Two rules across the table: a machine never changes the authoritative record to make drift disappear (authority to change the record belongs to its review process, not to an adapter's fix path); and no class routes a gap through a person at a console without saying so: where no machine can reach the surface, the exception is declared, approved first and recorded. Decision rights for every approver are in Book 00, Chapter 07; the authorizing official alone accepts residual risk.
Workbook: Book 13, Appendix B, Change classes and their lanes.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[4:51–5:31]  Drift comes in five classes, and each has a default lane. A schema problem, where the format's wrong, can often be fixed by a machine. Provenance and authorization drift are different: when the claim is in active use, the run halts and a person decides. Semantic and identity drift usually need human judgment too. The honest limit here is that the classes whose fixes depend on context reach a person more often, and that's by design, not a failure. Which brings us to the clock: how fast does each finding have to be handled?
Detail: The program's drift classes, as Book 02 names them, map to lanes by default; Chapter 06 carries the full model. Schema: a value's encoding or structure doesn't match the current schema; machine-executed when the transform is deterministic, gated at L3 unless the authorizing official has accepted the class at L4; a format failure on a claim in use is critical and halts. Semantic: a value is well formed but means the wrong thing, such as a deprecated naming pattern; machine, gated; often escalates. Provenance: a state change appears with no provenance event; halt and alert when the claim is in active use (P1), otherwise a P3 human decision. Authorization: a policy contradicts what the record says a principal may do; halt and alert when the claim is in active use (P1), otherwise a P3 human decision. Identity: a principal exists with no counterpart in the record, or the reverse; human decision, then gated. Chapter 06 sets severity from the drift class and whether the affected claim is in active use. Chapter 10's honest limits: automation is bounded to deterministic fixes; as runtime detection matures more classes qualify, but today semantic, authorization and identity drift escalate to a person more often than schema and provenance drift do, because their fixes depend on context.
Workbook: Book 13, Appendix B, Drift classes and their default lanes; Chapter 10, Honest limits.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[5:31–6:11]  The tempo puts a clock on every severity. Critical findings never get a machine fix; the run halts and a named person decides immediately. High findings get an hour, medium a day, and low three days. These windows bound the response, not the drift itself; a program with no findings is more likely blind than clean. Two things to remember. Automatic fixes hold only for classes accepted in advance. And when an outside clock is shorter, like CISA's vulnerability timelines or the one-hour incident notice, the outside clock wins. So how does leadership know it's working?
Detail: The tempo is how quickly each severity must be handled; it bounds the response, not the occurrence. Drift is the signal, and a program with no findings is more likely blind than clean. P1, critical: no machine fix, the run halts and alerts; immediate; a named role decides before anything changes. P2, high: yes, if the fix is deterministic and the class qualifies (otherwise a person decides the fix); 1 hour; an approver per instance, unless the class is enumerated at L4. P3, medium: yes, if the class qualifies; 24 hours; an approver per instance, or the class approved in advance. P4, low: yes, if the class qualifies; 72 hours; the class approved in advance, reviewed after the fact. The source of this tempo said P3 and P4 findings auto-remediate; in the program's model that holds only for classes enumerated at L4, and everywhere else the machine executes after a person approves, which is still a ticket to a machine. These are the program's internal windows for drift against its own record; they don't replace external timelines. CISA's BOD 26-04 (June 10, 2026) sets remediation timelines for vulnerabilities by exposure, KEV status, automatability and technical impact, and an agency's vulnerability findings follow those; Chapter 10 notes it revoked BOD 22-01 and BOD 19-02. An incident runs on CISA's clock, which requires notification within one hour of the incident's identification by the agency's top-level incident response team. Where both apply, the external clock governs whenever it is shorter or different in kind. "May a machine fix it" never overrides the ceiling for the class. Chapter 10's three operating commitments: detection is continuous; remediation is bounded; escalation lands on named roles (steward, workstream lead, CISO), never a distribution list. Book 01, Chapter 12 makes a missed window on a priority-one finding a rollback trigger to the steward and sponsor.
Workbook: Book 13, Appendix B, Severity and tempo; Chapter 10, The program's tempo.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[6:11–6:53]  These five measures belong to leadership, not just operations. How much of the estate can we even see? Do findings close inside their windows? How often does a person have to step in? What share of closures did a machine do? And how many tasks still have no machine at all? Each bad value tells you something specific, like manual work quietly becoming permanent. The good news is that none of this needs round-the-clock staffing. What it does need is named people in the escalation roles, because tooling can't create authority. Now, what does all that work leave behind?
Detail: The tempo names measures that belong to program leadership, not only to operations; Chapter 10 defines them. Detection coverage: share of the in-scope estate whose adapters report runtime findings, by drift class; drift on uncovered surfaces is invisible to the tempo, so the program is measuring less than it thinks. Window adherence: findings closed inside their response window divided by findings closed in the period, and separately the findings open past their window; a bad value means the tempo and the staffing don't match, or a class needs a machine actuator; the appendix puts it as the program generating drift in its own operations. Escalation rate: findings that reached a person divided by all findings, by class; either drift severity is rising, or the classifier needs tuning, or a class that should qualify for a machine doesn't yet. Machine-closure share: closures executed by a machine under an approval rather than by a person at a console; it should rise as actuators are added. Declared-exception count: open tasks with no machine actuator; it should fall, or manual work is becoming permanent. Targets are the agency's to set. Window adherence follows Book 12, Chapter 12's rule for vulnerability remediation: measure closures within the window and overdue items separately, because a ratio of open findings that aren't yet overdue improves every time new findings arrive. The board reviews all five on the cadence in Chapter 09. A tempo doesn't need round-the-clock staffing: low and medium findings close through approved plans and L4 classes, and critical findings halt and hold until a person responds. It does need the escalation roles to exist; a program without a steward has to designate one, because the tooling can't create authority.
Workbook: Book 13, Appendix B, Severity and tempo (the measures); Chapter 10, What the tempo shows leadership.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[6:53–7:42]  It leaves one record, in one shape, whatever the lane. A machine fix, a recorded human session and an automated certificate renewal all fill the same fields: where it came from, who owned it, who approved it, what identity ran it, what ran, and what the re-read showed. That's the point. Nobody assembles evidence by hand at audit time, and an assessor reads one format whatever the platform, and checks four things: a prior approval, a controlled artifact, a logged execution and a result they can re-test. Even the human session lane fills the same fields, just with a recording where the run log would be. To make this concrete, let's walk through some examples.
Detail: Every lane writes the same record shape, so an assessor reads one format whatever the platform. Origin: finding or request identifier (machine lanes); finding identifier (declared exception); issuance policy identifier (protocol-enforced). Owner and clock: task owner, response window, due time; system owner and end date; PKI owner. Approval: approver and time, or the L4 class acceptance and rule version; approver and time, before the session; policy version. Executing identity: service identity and activation identifier; the person, through the recorded session; the protocol client's identity. What ran: version-controlled artifact and its hash; the session recording; the issuance transaction. Result: re-read post-state and time (both machine and exception lanes); certificate in inventory. Closure: one record linking all of the above; the same plus the POA&amp;M item; inventory entry. What the assessor checks: the change traces to a prior approval, the artifact that ran is version-controlled and access-restricted, the execution is logged and attributable to the task, and the result is re-testable. The controls those properties evidence, CM-3, CM-5(1), CM-4(2) and AU-10 among them, are mapped in Appendix A; Chapter 07 covers how the record is protected and signed. NIST SP 800-137 is balanced on the point: organization-wide monitoring "cannot be efficiently achieved through manual processes alone or through automated processes alone," and where manual processes are used they must be repeatable and verifiable. The declared-exception lane exists to meet that test for the work machines can't yet do.
Workbook: Book 13, Appendix B, The evidence record.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[7:42–8:24]  Here are the first two examples, both invented to show the pattern. In the first, a sharing setting drifts to allow anonymous links. The authorizing official has accepted that one narrow fix in advance, so the machine restores it, re-reads it, and closes the task with one record, with no one waiting on an approval. If it drifts again, that's a question for the steward, not another silent fix. In the second, an access request walks all five clauses, and the role is granted as eligible, not standing. What happens when a machine shouldn't, or can't, make the fix?
Detail: All four examples are illustrative; names, identifiers and times are invented. Example 1, a configuration setting drifts. The nightly rule run compares a cloud tenant's sharing setting to the baseline in the authoritative record and finds it set to allow anonymous links. The rule is deterministic, the finding is P3, and in this example the authorizing official has accepted this class, restoring one named sharing setting on one tenant to its baseline, for L4. The governance platform raises task FMP-DRIFT-0412 against the tenant's configuration item, owner the collaboration platform team, due in 24 hours. Because the class is enumerated at L4, no per-instance approval is needed: the execution layer activates its service identity, calls the tenant's configuration interface to restore the baseline value, and records the artifact version that ran. It re-reads the setting and closes the task with one record: finding, baseline version, before and after values, run log and re-read time. Without the L4 acceptance, the execution step would wait for a named approver; nothing else would change. An assessor reads a CM-6 deviation detected and corrected, a CM-3 record of the change and a CA-7 monitoring result, all from one task. If the setting drifts again the next week, the second finding links to the first, and a pattern of repeats becomes a question for the record's steward. Example 2, an access request through gated actuation. A user requests an administrative role for a project; the request carries origin record REQ-2291 (clause 1 passes). The approver named for the role approves; clause 2 checks the approver isn't the requester. The execution layer activates a just-in-time role for its own identity, expiring in one hour, and assigns the user's role through the directory's interface as eligible for the project's duration, not standing (clause 3). It re-reads the assignments and finds the eligible assignment with its end date (clause 4). One closure record, with request, approval, activation, run log and re-read, flows into the evidence chain (clause 5). Had the requester tried to approve their own request, clause 2 would have refused and the refusal would be the record. Book 04, Chapter 09 covers the review cycle that later recertifies the grant.
Workbook: Book 13, Appendix B, Worked examples (Examples 1 and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[8:24–9:07]  These two show the harder paths. In the third example, the inventory finds a certificate from an issuer nobody approved. There's no automatic fix, because replacing it blindly could break whoever depends on it. The PKI owner decides to replace it through the approved issuer and block the rogue one, and then the gated lane does the work. In the fourth, an old appliance has only a console, so no machine can reach it. The owner approves a short, recorded session with a compensating control and an end date. It's visible, approved first and temporary. Certificates deserve a closer look of their own.
Detail: Example 3, an unknown-issuer certificate. The certificate inventory finds a certificate on an internal web server issued by a CA that isn't in the approved list; routine issuance never raises a ticket, an anomaly does. The finding becomes task FMP-PKI-0087, owner the PKI owner, severity P2. No automatic fix applies, because replacing a certificate without knowing who depends on it can break a service. The PKI owner decides to replace the certificate through the approved issuer and to add the rogue CA to the trust-store deny list; the decision is recorded. The replacement runs in the gated lane: the protocol client on the server requests a new certificate from the approved issuer, and the platform re-reads the endpoint to confirm the new chain. Example 4, no actuator yet. A drift finding names a legacy network appliance whose only management surface is an interactive console. The system owner approves a declared exception: a named engineer, a two-hour window, access through the privileged access proxy with session recording, and a compensating control of daily configuration export and comparison. The exception carries an end date and a POA&amp;M item for building an actuator or retiring the appliance. The engineer makes the change inside the recorded session; the platform re-reads the appliance's exported configuration and closes the task with the recording attached. The exception is visible, approved before the work, and temporary. Chapter 10's sequence for this path: the task is raised like any other; it is marked as having no machine actuator, itself recorded as an exception in the register; a named approver approves target, change, time box and operator before the session starts; the operator activates an eligible role and connects through a recording proxy; the session closes when the time box ends; the re-read verifies and the recording is attached. SP 800-53 AU-14 provides for session auditing, developed with legal counsel, since recordings capture whatever is on screen. A class that stays manual for good is a standing risk acceptance for the authorizing official.
Workbook: Book 13, Appendix B, Worked examples (Examples 3 and 4); Chapter 10, When no machine can reach the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[9:07–9:48]  Certificates are the deliberate exception, and the reason is volume. Public TLS lifetimes are shrinking from three hundred ninety-eight days to forty-seven by 2029, so renewals come continuously. Putting each one through an approval wouldn't add rigor; it would just teach approvers to click yes without reading. So routine renewal runs on protocol and renewal engines, with policy partly living in DNS. The anomalies still come through the front door, like a new issuing authority or an unknown issuer, because they're rare and they need a person. Speaking of the front door, there should only be one.
Detail: Certificates are a large share of operational work, so it's tempting to route them through the same front door. The program doesn't for routine lifecycle events, and the reason is volume. A configuration-drift finding is occasional and each one deserves a decision; a certificate estate with short validity periods generates renewals continuously. Publicly trusted TLS certificates are moving from a maximum of 398 days to 47 days in steps from March 2026 to March 2029 (CA/Browser Forum Ballot SC-081v3, April 2025). Routing every renewal through an approval ticket wouldn't add rigor; it would train approvers to approve without reading. So routine issuance is protocol-enforced and engine-driven. ACME (RFC 8555) automates issuance once a client proves control of a name, with no person in the loop. CAA records (RFC 8659) let a domain holder name the CAs allowed to issue for it, which puts part of the issuance policy in DNS where machines check it. Short-lived certificates make expiry, not revocation, the normal end of a certificate's life. "Protocol-enforced" means engine-driven: Intune profiles, AD CS autoenrollment and the CLM platform's drivers renew most certificates, and ACME automates issuance only where the endpoint supports it. Book 07 makes CyberArk Certificate Manager, Self-Hosted the system of record for every certificate Intune and the PIV system don't manage; it renews routine server and public TLS, its network discovery finds unknown-issuer and out-of-policy certificates, and it only watches domain controller certificates renewed by AD CS autoenrollment. The anomalies (a new issuing CA, a non-standard lifetime, a trust-anchor change, an unknown-issuer certificate found in inventory, a blocked issuance attempt against a CAA record) still come through the front door, because they are rare, consequential and need a human. Book 07, Chapter 08 covers the lifecycle and tooling. Vendor capabilities change by release; confirm current behavior before relying on it.
Workbook: Book 13, Appendix B, The certificate exception; Certificates in this book and the CLM platform.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[9:48–10:31]  Lots of tools detect problems: posture engines, scanners, entitlement tools, certificate inventories. The rule is simple. Each one is a detection engine feeding the one coordination layer, never a second queue of its own. That way an over-privileged role and an open storage account land in the same place, under the same five clauses, and access requests from a governance front end close the same way too. Two cautions keep this honest: check each tool's real platform coverage, since on-premises virtualization kept coming up as a gap, and give the alternatives a fair build-or-buy look. So where does this pattern break?
Detail: Many tools detect: native cloud posture engines, vulnerability scanners, entitlement-management tools for cloud identity, certificate inventories. The program's rule is that each is a detection engine feeding the one coordination layer, not a second coordination layer of its own. An entitlement tool that finds over-privileged cloud roles raises tasks in the same queue, under the same five clauses, as a posture engine that finds an open storage account. Access requests and recertifications can come from an identity governance front end; they land in the same record, correlated to the same request identifiers, with closure written back. Two cautions. First, check each detection tool's actual platform coverage before counting on it; in the program's own research, coverage of on-premises virtualization platforms was the gap that recurred across tool categories, and it should be treated as open until a vendor's current documentation shows otherwise. Second, a reviewer will raise alternative architectures: a single multi-cloud posture engine in place of several native ones, or a compliance platform that generates the authorization package directly from machine-readable evidence. Neither changes the one-front-door rule, and both deserve a build-or-buy look before custom investment. Chapter 10, How the service desk fits: the IT service management platform is the front door, not a second governance system; routing follows authority (Book 04, Chapter 06); the help desk executes against approved, assigned tickets and doesn't decide; the help desk is protected as a target, with the reset verification procedure a CISO decision; and the ticket closes when the execution layer's re-read and the next drift run agree. The ticket's status is a view of the record, not a substitute for it.
Workbook: Book 13, Appendix B, One front door for detection tools; Chapter 10, How the service desk fits.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[10:31–11:12]  This slide is worth slowing down on, because every row is a way the pattern fails while looking correct. A security review of a reference build found origins that weren't checked, commands built from unescaped strings, input that could swap the target, a password crossing a queue in plain text, a leg that treated "sent" as "done," and tests that never touched the risky path. Each fix became a design rule. The lesson is humbling: tests prove only the refusals they test, and a reference build is a starting point, not proof. So, what's left to decide?
Detail: The program built a reference implementation of the five-clause chain on an IT service management platform, covering an identity-lifecycle domain with both a cloud directory leg and an on-premises directory leg. An adversarial security review of the on-premises leg found defects that were then fixed; each is a way the pattern fails while looking correct. Origin not enforced: the chain accepted request identifiers without resolving them, so a caller with no lineage record could invoke it; fix: clause 1 resolves the origin or refuses, and a negative test proves the refusal. Command injection: parameter names were rendered unescaped into a script for the on-premises directory; fix: never build commands by string, escape or allow-list every name and value. Target substitution: a merge of caller input over defaults let input override the intended target; fix: the target comes from the authorized record and caller input can't override it. Cleartext secret in a queue: a password crossed a work queue in plain text; fix: secrets never travel in task payloads, use a vault reference. No post-state re-read: one leg treated a successful dispatch as closure; fix: clause 4 re-reads on every leg, a success code is not evidence. Test mode skipped the risky path: every test ran in a mode that short-circuited before the vulnerable code; fix: test mode refuses on production, and negative tests run the real path with hostile input. The review supports two kinds of automated check. Negative tests prove the chain refuses what it must: self-approval, standing privilege, an unreconciled target, a missing origin and hostile parameter names. Build-time gates fail a build when a catalog item claims autonomous write without a recorded decision behind it, or when a control map names an actuator method that doesn't exist. Neither proves the code does everything the appendix describes; they prove the specific refusals and mappings they test. The reference implementation is a starting point to build and test from, not evidence that any agency's instance runs it.
Workbook: Book 13, Appendix B, Failure modes found in a reference implementation review.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[11:12–11:52]  The reference leaves a short list of decisions to the agency. Which narrow classes, if any, the authorizing official accepts for autonomous closure. Who actually holds the escalation roles. How classes map to lanes in your own record. What targets you set for the five measures. And an end date for every declared exception. For the full argument, read Chapter 10, then the drift engine, the evidence chapter and the control mapping in Appendix A. Thanks for watching. Remember: a ticket is evidence only when it authorized something that ran, and a re-read proved it.
Detail: Decisions the reference leaves to the agency. Which classes, if any, the authorizing official accepts for L4 autonomous closure, in advance and in writing, with scope limits, exclusions, verification, after-the-fact review rate and the conditions that drop the class back to L3; Chapter 09 gives that decision to the authorizing official and the governance board reviews every L4 class quarterly. Who holds the escalation roles: a program without a named steward, workstream leads and a CISO's representative on the board has to name them first; the platform can't manufacture authority. The class-to-lane assignment: Appendix B's table is a starting assignment, tuned in the agency's own authoritative record, and a class moves only by a reviewed change to that record. Targets for the five leadership measures (detection coverage, window adherence, escalation rate, machine-closure share, declared-exception count) are the agency's to set; the board reviews all five. And every declared exception carries an end date, whose end is either a machine actuator for the surface or the surface's retirement; a class that stays manual for good is a standing risk acceptance for the authorizing official. Where to read next: Chapter 10 for the argument; Chapter 06 for the drift engine; Chapter 07 for the evidence record's protection and signing; Appendix A for the control mapping; Book 01, Chapter 11 for the actuation ladder; Book 07, Chapter 08 for certificates.
Workbook: Book 13, Chapter 10 (Approval gates; What the tempo shows leadership; Honest limits); Appendix B.</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Book 13  ·  Ticket-to-Machine Reference  ·  Federal Modernization Workbook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7.xml"/><Relationship Id="rId7" Type="http://schemas.microsoft.com/office/2017/04/relationships/track" Target="../media/captions_slide1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Book 13 — Ticket-to-Machine Reference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Appendix B, narrated reference  ·  Book 13 — Governance, Drift &amp;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THE REFERENCE BEHIND CHAPTER 10  ·  ABOUT 10 MINUTES</a:t>
            </a:r>
            <a:endParaRPr lang="en-US" sz="1500" dirty="0"/>
          </a:p>
          <a:p>
            <a:pPr marL="0" indent="0">
              <a:spcAft>
                <a:spcPts val="200"/>
              </a:spcAft>
              <a:buNone/>
            </a:pPr>
            <a:r>
              <a:rPr lang="en-US" sz="1500" dirty="0">
                <a:solidFill>
                  <a:srgbClr val="334155"/>
                </a:solidFill>
              </a:rPr>
              <a:t>The loop, the five clauses and the five lanes  ·  Change and drift classes</a:t>
            </a:r>
            <a:endParaRPr lang="en-US" sz="1500" dirty="0"/>
          </a:p>
          <a:p>
            <a:pPr marL="0" indent="0">
              <a:spcAft>
                <a:spcPts val="200"/>
              </a:spcAft>
              <a:buNone/>
            </a:pPr>
            <a:r>
              <a:rPr lang="en-US" sz="1500" dirty="0">
                <a:solidFill>
                  <a:srgbClr val="334155"/>
                </a:solidFill>
              </a:rPr>
              <a:t>Tempo, measures and the evidence record  ·  Four worked examples  ·  Exceptions</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and Chapter 10. Lanes, ceilings, severities and windows are program design; examples are illustrative.</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F0A5B7BD-7F0D-5091-67EC-9338F6FCD3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41A2A61-8335-4F5F-BD56-B1FEA4A3969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00"/>
    </mc:Choice>
    <mc:Fallback>
      <p:transition spd="slow" advTm="4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ticket is evidence only when a re-read proves 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e same drift finding handled two ways. A violet card at the top: drift detected against the record, raised as a typed task on the configuration item with an owner, a clock and a severity. A red path, ticket to a human: a person opens the console because the ticket said so, changes it by hand under a personal admin account, and replies done, so closure is an assertion. A green path, ticket to a machine: a human approves, either the instance or the class in advance; the platform executes from a versioned plan under a service identity after a dry run; a re-read verifies that actual state matches the record; and the task is closed with evidence, the approval, run log, result and re-test."/>
          <p:cNvPicPr>
            <a:picLocks noChangeAspect="1"/>
          </p:cNvPicPr>
          <p:nvPr/>
        </p:nvPicPr>
        <p:blipFill>
          <a:blip r:embed="rId5"/>
          <a:stretch>
            <a:fillRect/>
          </a:stretch>
        </p:blipFill>
        <p:spPr>
          <a:xfrm>
            <a:off x="548640" y="1371600"/>
            <a:ext cx="5120640" cy="4433725"/>
          </a:xfrm>
          <a:prstGeom prst="rect">
            <a:avLst/>
          </a:prstGeom>
        </p:spPr>
      </p:pic>
      <p:sp>
        <p:nvSpPr>
          <p:cNvPr id="6" name="Human">
            <a:extLst>
              <a:ext uri="{C183D7F6-B498-43B3-948B-1728B52AA6E4}">
                <adec:decorative xmlns:adec="http://schemas.microsoft.com/office/drawing/2017/decorative" val="1"/>
              </a:ext>
            </a:extLst>
          </p:cNvPr>
          <p:cNvSpPr/>
          <p:nvPr/>
        </p:nvSpPr>
        <p:spPr>
          <a:xfrm>
            <a:off x="5989320" y="1371600"/>
            <a:ext cx="5669280" cy="1783080"/>
          </a:xfrm>
          <a:prstGeom prst="roundRect">
            <a:avLst>
              <a:gd name="adj" fmla="val 410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Human head"/>
          <p:cNvSpPr txBox="1"/>
          <p:nvPr/>
        </p:nvSpPr>
        <p:spPr>
          <a:xfrm>
            <a:off x="6172200" y="1481328"/>
            <a:ext cx="5303520" cy="640080"/>
          </a:xfrm>
          <a:prstGeom prst="rect">
            <a:avLst/>
          </a:prstGeom>
          <a:noFill/>
          <a:ln/>
        </p:spPr>
        <p:txBody>
          <a:bodyPr wrap="square" lIns="0" tIns="0" rIns="0" bIns="0" rtlCol="0" anchor="t"/>
          <a:lstStyle/>
          <a:p>
            <a:pPr marL="0" indent="0">
              <a:buNone/>
            </a:pPr>
            <a:r>
              <a:rPr lang="en-US" sz="1100" b="1" dirty="0">
                <a:solidFill>
                  <a:srgbClr val="64748B"/>
                </a:solidFill>
              </a:rPr>
              <a:t>TICKET TO A HUMAN</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Changes who is to blame, not what is proved</a:t>
            </a:r>
            <a:endParaRPr lang="en-US" sz="1400" dirty="0"/>
          </a:p>
        </p:txBody>
      </p:sp>
      <p:sp>
        <p:nvSpPr>
          <p:cNvPr id="8" name="Human list"/>
          <p:cNvSpPr txBox="1"/>
          <p:nvPr/>
        </p:nvSpPr>
        <p:spPr>
          <a:xfrm>
            <a:off x="6172200" y="2130552"/>
            <a:ext cx="5349240" cy="95097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person opens the console because the ticket said so, under a personal admin account</a:t>
            </a:r>
            <a:endParaRPr lang="en-US" sz="1400" dirty="0"/>
          </a:p>
          <a:p>
            <a:pPr marL="342900" indent="-342900">
              <a:spcAft>
                <a:spcPts val="300"/>
              </a:spcAft>
              <a:buSzPct val="100000"/>
              <a:buChar char="•"/>
            </a:pPr>
            <a:r>
              <a:rPr lang="en-US" sz="1300" dirty="0">
                <a:solidFill>
                  <a:schemeClr val="tx2"/>
                </a:solidFill>
              </a:rPr>
              <a:t>They reply "done": the closure is an assertion, prose rather than evidence</a:t>
            </a:r>
            <a:endParaRPr lang="en-US" sz="1400" dirty="0"/>
          </a:p>
        </p:txBody>
      </p:sp>
      <p:sp>
        <p:nvSpPr>
          <p:cNvPr id="9" name="Machine">
            <a:extLst>
              <a:ext uri="{C183D7F6-B498-43B3-948B-1728B52AA6E4}">
                <adec:decorative xmlns:adec="http://schemas.microsoft.com/office/drawing/2017/decorative" val="1"/>
              </a:ext>
            </a:extLst>
          </p:cNvPr>
          <p:cNvSpPr/>
          <p:nvPr/>
        </p:nvSpPr>
        <p:spPr>
          <a:xfrm>
            <a:off x="5989320" y="3291840"/>
            <a:ext cx="5669280" cy="1965960"/>
          </a:xfrm>
          <a:prstGeom prst="roundRect">
            <a:avLst>
              <a:gd name="adj" fmla="val 37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Machine head"/>
          <p:cNvSpPr txBox="1"/>
          <p:nvPr/>
        </p:nvSpPr>
        <p:spPr>
          <a:xfrm>
            <a:off x="6172200" y="3401568"/>
            <a:ext cx="5303520" cy="640080"/>
          </a:xfrm>
          <a:prstGeom prst="rect">
            <a:avLst/>
          </a:prstGeom>
          <a:noFill/>
          <a:ln/>
        </p:spPr>
        <p:txBody>
          <a:bodyPr wrap="square" lIns="0" tIns="0" rIns="0" bIns="0" rtlCol="0" anchor="t"/>
          <a:lstStyle/>
          <a:p>
            <a:pPr marL="0" indent="0">
              <a:buNone/>
            </a:pPr>
            <a:r>
              <a:rPr lang="en-US" sz="1100" b="1" dirty="0">
                <a:solidFill>
                  <a:srgbClr val="64748B"/>
                </a:solidFill>
              </a:rPr>
              <a:t>TICKET TO A MACHINE</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The person's role stops at approval</a:t>
            </a:r>
            <a:endParaRPr lang="en-US" sz="1400" dirty="0"/>
          </a:p>
        </p:txBody>
      </p:sp>
      <p:sp>
        <p:nvSpPr>
          <p:cNvPr id="11" name="Machine list"/>
          <p:cNvSpPr txBox="1"/>
          <p:nvPr/>
        </p:nvSpPr>
        <p:spPr>
          <a:xfrm>
            <a:off x="6172200" y="4050792"/>
            <a:ext cx="5349240" cy="113385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human approves the instance, or the class in advance</a:t>
            </a:r>
            <a:endParaRPr lang="en-US" sz="1400" dirty="0"/>
          </a:p>
          <a:p>
            <a:pPr marL="342900" indent="-342900">
              <a:spcAft>
                <a:spcPts val="300"/>
              </a:spcAft>
              <a:buSzPct val="100000"/>
              <a:buChar char="•"/>
            </a:pPr>
            <a:r>
              <a:rPr lang="en-US" sz="1300" dirty="0">
                <a:solidFill>
                  <a:schemeClr val="tx2"/>
                </a:solidFill>
              </a:rPr>
              <a:t>The platform runs a versioned plan under a service identity, after a dry run</a:t>
            </a:r>
            <a:endParaRPr lang="en-US" sz="1400" dirty="0"/>
          </a:p>
          <a:p>
            <a:pPr marL="342900" indent="-342900">
              <a:spcAft>
                <a:spcPts val="300"/>
              </a:spcAft>
              <a:buSzPct val="100000"/>
              <a:buChar char="•"/>
            </a:pPr>
            <a:r>
              <a:rPr lang="en-US" sz="1300" dirty="0">
                <a:solidFill>
                  <a:schemeClr val="tx2"/>
                </a:solidFill>
              </a:rPr>
              <a:t>A re-read proves the result, and the record assembles itself</a:t>
            </a:r>
            <a:endParaRPr lang="en-US" sz="1400" dirty="0"/>
          </a:p>
        </p:txBody>
      </p:sp>
      <p:sp>
        <p:nvSpPr>
          <p:cNvPr id="12" name="Why tempo"/>
          <p:cNvSpPr txBox="1"/>
          <p:nvPr/>
        </p:nvSpPr>
        <p:spPr>
          <a:xfrm>
            <a:off x="5989320" y="5376672"/>
            <a:ext cx="5669280" cy="566928"/>
          </a:xfrm>
          <a:prstGeom prst="rect">
            <a:avLst/>
          </a:prstGeom>
          <a:noFill/>
          <a:ln/>
        </p:spPr>
        <p:txBody>
          <a:bodyPr wrap="square" lIns="0" tIns="0" rIns="0" bIns="0" rtlCol="0" anchor="t"/>
          <a:lstStyle/>
          <a:p>
            <a:pPr marL="0" indent="0">
              <a:buNone/>
            </a:pPr>
            <a:r>
              <a:rPr lang="en-US" sz="1300" b="1" dirty="0">
                <a:solidFill>
                  <a:srgbClr val="B91C1C"/>
                </a:solidFill>
              </a:rPr>
              <a:t>Why it matters: </a:t>
            </a:r>
            <a:r>
              <a:rPr lang="en-US" sz="1300" dirty="0">
                <a:solidFill>
                  <a:schemeClr val="tx2"/>
                </a:solidFill>
              </a:rPr>
              <a:t>a platform that detects perfectly and closes slowly builds an accurate list of things nobody fixed.</a:t>
            </a:r>
            <a:endParaRPr lang="en-US" sz="13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Ch 10 (opening; Ticket to machine, not ticket to human; figure); Appendix B (epigraph; The coordination loop).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C0B13EF0-2FAD-FAD5-4010-B82B0ADAF1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68F2E2-3718-4DB8-AB51-8185D6CD86C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60"/>
    </mc:Choice>
    <mc:Fallback>
      <p:transition spd="slow" advTm="3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5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coordination loop: five steps, native surfaces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oop 1">
            <a:extLst>
              <a:ext uri="{C183D7F6-B498-43B3-948B-1728B52AA6E4}">
                <adec:decorative xmlns:adec="http://schemas.microsoft.com/office/drawing/2017/decorative" val="1"/>
              </a:ext>
            </a:extLst>
          </p:cNvPr>
          <p:cNvSpPr/>
          <p:nvPr/>
        </p:nvSpPr>
        <p:spPr>
          <a:xfrm>
            <a:off x="548640" y="1417320"/>
            <a:ext cx="2017166"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Loop 1 text"/>
          <p:cNvSpPr txBox="1"/>
          <p:nvPr/>
        </p:nvSpPr>
        <p:spPr>
          <a:xfrm>
            <a:off x="640080" y="1490472"/>
            <a:ext cx="1834286" cy="113385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1  Test</a:t>
            </a:r>
            <a:endParaRPr lang="en-US" sz="1250" dirty="0"/>
          </a:p>
          <a:p>
            <a:pPr marL="0" indent="0">
              <a:spcAft>
                <a:spcPts val="200"/>
              </a:spcAft>
              <a:buNone/>
            </a:pPr>
            <a:r>
              <a:rPr lang="en-US" sz="1250" dirty="0">
                <a:solidFill>
                  <a:schemeClr val="tx2"/>
                </a:solidFill>
              </a:rPr>
              <a:t>A rule evaluates actual state against the authoritative record</a:t>
            </a:r>
            <a:endParaRPr lang="en-US" sz="1250" dirty="0"/>
          </a:p>
        </p:txBody>
      </p:sp>
      <p:sp>
        <p:nvSpPr>
          <p:cNvPr id="7" name="Loop arrow 1">
            <a:extLst>
              <a:ext uri="{C183D7F6-B498-43B3-948B-1728B52AA6E4}">
                <adec:decorative xmlns:adec="http://schemas.microsoft.com/office/drawing/2017/decorative" val="1"/>
              </a:ext>
            </a:extLst>
          </p:cNvPr>
          <p:cNvSpPr/>
          <p:nvPr/>
        </p:nvSpPr>
        <p:spPr>
          <a:xfrm>
            <a:off x="2593238" y="1956816"/>
            <a:ext cx="201168" cy="201168"/>
          </a:xfrm>
          <a:prstGeom prst="rightArrow">
            <a:avLst/>
          </a:prstGeom>
          <a:solidFill>
            <a:srgbClr val="64748B"/>
          </a:solidFill>
          <a:ln w="12700">
            <a:solidFill>
              <a:srgbClr val="64748B"/>
            </a:solidFill>
            <a:prstDash val="solid"/>
          </a:ln>
        </p:spPr>
      </p:sp>
      <p:sp>
        <p:nvSpPr>
          <p:cNvPr id="8" name="Loop 2">
            <a:extLst>
              <a:ext uri="{C183D7F6-B498-43B3-948B-1728B52AA6E4}">
                <adec:decorative xmlns:adec="http://schemas.microsoft.com/office/drawing/2017/decorative" val="1"/>
              </a:ext>
            </a:extLst>
          </p:cNvPr>
          <p:cNvSpPr/>
          <p:nvPr/>
        </p:nvSpPr>
        <p:spPr>
          <a:xfrm>
            <a:off x="2821838" y="1417320"/>
            <a:ext cx="2017166"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Loop 2 text"/>
          <p:cNvSpPr txBox="1"/>
          <p:nvPr/>
        </p:nvSpPr>
        <p:spPr>
          <a:xfrm>
            <a:off x="2913278" y="1490472"/>
            <a:ext cx="1834286" cy="113385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2  Detect drift</a:t>
            </a:r>
            <a:endParaRPr lang="en-US" sz="1250" dirty="0"/>
          </a:p>
          <a:p>
            <a:pPr marL="0" indent="0">
              <a:spcAft>
                <a:spcPts val="200"/>
              </a:spcAft>
              <a:buNone/>
            </a:pPr>
            <a:r>
              <a:rPr lang="en-US" sz="1250" dirty="0">
                <a:solidFill>
                  <a:schemeClr val="tx2"/>
                </a:solidFill>
              </a:rPr>
              <a:t>A difference becomes a typed finding with a severity</a:t>
            </a:r>
            <a:endParaRPr lang="en-US" sz="1250" dirty="0"/>
          </a:p>
        </p:txBody>
      </p:sp>
      <p:sp>
        <p:nvSpPr>
          <p:cNvPr id="10" name="Loop arrow 2">
            <a:extLst>
              <a:ext uri="{C183D7F6-B498-43B3-948B-1728B52AA6E4}">
                <adec:decorative xmlns:adec="http://schemas.microsoft.com/office/drawing/2017/decorative" val="1"/>
              </a:ext>
            </a:extLst>
          </p:cNvPr>
          <p:cNvSpPr/>
          <p:nvPr/>
        </p:nvSpPr>
        <p:spPr>
          <a:xfrm>
            <a:off x="4866437" y="1956816"/>
            <a:ext cx="201168" cy="201168"/>
          </a:xfrm>
          <a:prstGeom prst="rightArrow">
            <a:avLst/>
          </a:prstGeom>
          <a:solidFill>
            <a:srgbClr val="64748B"/>
          </a:solidFill>
          <a:ln w="12700">
            <a:solidFill>
              <a:srgbClr val="64748B"/>
            </a:solidFill>
            <a:prstDash val="solid"/>
          </a:ln>
        </p:spPr>
      </p:sp>
      <p:sp>
        <p:nvSpPr>
          <p:cNvPr id="11" name="Loop 3">
            <a:extLst>
              <a:ext uri="{C183D7F6-B498-43B3-948B-1728B52AA6E4}">
                <adec:decorative xmlns:adec="http://schemas.microsoft.com/office/drawing/2017/decorative" val="1"/>
              </a:ext>
            </a:extLst>
          </p:cNvPr>
          <p:cNvSpPr/>
          <p:nvPr/>
        </p:nvSpPr>
        <p:spPr>
          <a:xfrm>
            <a:off x="5095037" y="1417320"/>
            <a:ext cx="2017166"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Loop 3 text"/>
          <p:cNvSpPr txBox="1"/>
          <p:nvPr/>
        </p:nvSpPr>
        <p:spPr>
          <a:xfrm>
            <a:off x="5186477" y="1490472"/>
            <a:ext cx="1834286" cy="113385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3  Raise a task</a:t>
            </a:r>
            <a:endParaRPr lang="en-US" sz="1250" dirty="0"/>
          </a:p>
          <a:p>
            <a:pPr marL="0" indent="0">
              <a:spcAft>
                <a:spcPts val="200"/>
              </a:spcAft>
              <a:buNone/>
            </a:pPr>
            <a:r>
              <a:rPr lang="en-US" sz="1250" dirty="0">
                <a:solidFill>
                  <a:schemeClr val="tx2"/>
                </a:solidFill>
              </a:rPr>
              <a:t>Against the reconciled configuration item, with an owner and a clock</a:t>
            </a:r>
            <a:endParaRPr lang="en-US" sz="1250" dirty="0"/>
          </a:p>
        </p:txBody>
      </p:sp>
      <p:sp>
        <p:nvSpPr>
          <p:cNvPr id="13" name="Loop arrow 3">
            <a:extLst>
              <a:ext uri="{C183D7F6-B498-43B3-948B-1728B52AA6E4}">
                <adec:decorative xmlns:adec="http://schemas.microsoft.com/office/drawing/2017/decorative" val="1"/>
              </a:ext>
            </a:extLst>
          </p:cNvPr>
          <p:cNvSpPr/>
          <p:nvPr/>
        </p:nvSpPr>
        <p:spPr>
          <a:xfrm>
            <a:off x="7139635" y="1956816"/>
            <a:ext cx="201168" cy="201168"/>
          </a:xfrm>
          <a:prstGeom prst="rightArrow">
            <a:avLst/>
          </a:prstGeom>
          <a:solidFill>
            <a:srgbClr val="64748B"/>
          </a:solidFill>
          <a:ln w="12700">
            <a:solidFill>
              <a:srgbClr val="64748B"/>
            </a:solidFill>
            <a:prstDash val="solid"/>
          </a:ln>
        </p:spPr>
      </p:sp>
      <p:sp>
        <p:nvSpPr>
          <p:cNvPr id="14" name="Loop 4">
            <a:extLst>
              <a:ext uri="{C183D7F6-B498-43B3-948B-1728B52AA6E4}">
                <adec:decorative xmlns:adec="http://schemas.microsoft.com/office/drawing/2017/decorative" val="1"/>
              </a:ext>
            </a:extLst>
          </p:cNvPr>
          <p:cNvSpPr/>
          <p:nvPr/>
        </p:nvSpPr>
        <p:spPr>
          <a:xfrm>
            <a:off x="7368235" y="1417320"/>
            <a:ext cx="2017166"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Loop 4 text"/>
          <p:cNvSpPr txBox="1"/>
          <p:nvPr/>
        </p:nvSpPr>
        <p:spPr>
          <a:xfrm>
            <a:off x="7459675" y="1490472"/>
            <a:ext cx="1834286" cy="113385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4  Actuate</a:t>
            </a:r>
            <a:endParaRPr lang="en-US" sz="1250" dirty="0"/>
          </a:p>
          <a:p>
            <a:pPr marL="0" indent="0">
              <a:spcAft>
                <a:spcPts val="200"/>
              </a:spcAft>
              <a:buNone/>
            </a:pPr>
            <a:r>
              <a:rPr lang="en-US" sz="1250" dirty="0">
                <a:solidFill>
                  <a:schemeClr val="tx2"/>
                </a:solidFill>
              </a:rPr>
              <a:t>On the native surface, under a service identity, through its own interface</a:t>
            </a:r>
            <a:endParaRPr lang="en-US" sz="1250" dirty="0"/>
          </a:p>
        </p:txBody>
      </p:sp>
      <p:sp>
        <p:nvSpPr>
          <p:cNvPr id="16" name="Loop arrow 4">
            <a:extLst>
              <a:ext uri="{C183D7F6-B498-43B3-948B-1728B52AA6E4}">
                <adec:decorative xmlns:adec="http://schemas.microsoft.com/office/drawing/2017/decorative" val="1"/>
              </a:ext>
            </a:extLst>
          </p:cNvPr>
          <p:cNvSpPr/>
          <p:nvPr/>
        </p:nvSpPr>
        <p:spPr>
          <a:xfrm>
            <a:off x="9412834" y="1956816"/>
            <a:ext cx="201168" cy="201168"/>
          </a:xfrm>
          <a:prstGeom prst="rightArrow">
            <a:avLst/>
          </a:prstGeom>
          <a:solidFill>
            <a:srgbClr val="64748B"/>
          </a:solidFill>
          <a:ln w="12700">
            <a:solidFill>
              <a:srgbClr val="64748B"/>
            </a:solidFill>
            <a:prstDash val="solid"/>
          </a:ln>
        </p:spPr>
      </p:sp>
      <p:sp>
        <p:nvSpPr>
          <p:cNvPr id="17" name="Loop 5">
            <a:extLst>
              <a:ext uri="{C183D7F6-B498-43B3-948B-1728B52AA6E4}">
                <adec:decorative xmlns:adec="http://schemas.microsoft.com/office/drawing/2017/decorative" val="1"/>
              </a:ext>
            </a:extLst>
          </p:cNvPr>
          <p:cNvSpPr/>
          <p:nvPr/>
        </p:nvSpPr>
        <p:spPr>
          <a:xfrm>
            <a:off x="9641434" y="1417320"/>
            <a:ext cx="2017166" cy="1280160"/>
          </a:xfrm>
          <a:prstGeom prst="roundRect">
            <a:avLst>
              <a:gd name="adj" fmla="val 571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Loop 5 text"/>
          <p:cNvSpPr txBox="1"/>
          <p:nvPr/>
        </p:nvSpPr>
        <p:spPr>
          <a:xfrm>
            <a:off x="9732874" y="1490472"/>
            <a:ext cx="1834286" cy="1133856"/>
          </a:xfrm>
          <a:prstGeom prst="rect">
            <a:avLst/>
          </a:prstGeom>
          <a:noFill/>
          <a:ln/>
        </p:spPr>
        <p:txBody>
          <a:bodyPr wrap="square" lIns="0" tIns="0" rIns="0" bIns="0" rtlCol="0" anchor="t"/>
          <a:lstStyle/>
          <a:p>
            <a:pPr marL="0" indent="0">
              <a:spcAft>
                <a:spcPts val="200"/>
              </a:spcAft>
              <a:buNone/>
            </a:pPr>
            <a:r>
              <a:rPr lang="en-US" sz="1400" b="1" dirty="0">
                <a:solidFill>
                  <a:srgbClr val="B45309"/>
                </a:solidFill>
                <a:latin typeface="Cambria" pitchFamily="34" charset="0"/>
                <a:ea typeface="Cambria" pitchFamily="34" charset="-122"/>
                <a:cs typeface="Cambria" pitchFamily="34" charset="-120"/>
              </a:rPr>
              <a:t>5  Close</a:t>
            </a:r>
            <a:endParaRPr lang="en-US" sz="1250" dirty="0"/>
          </a:p>
          <a:p>
            <a:pPr marL="0" indent="0">
              <a:spcAft>
                <a:spcPts val="200"/>
              </a:spcAft>
              <a:buNone/>
            </a:pPr>
            <a:r>
              <a:rPr lang="en-US" sz="1250" dirty="0">
                <a:solidFill>
                  <a:schemeClr val="tx2"/>
                </a:solidFill>
              </a:rPr>
              <a:t>Re-read the post-change state; write one record of the whole chain</a:t>
            </a:r>
            <a:endParaRPr lang="en-US" sz="1250" dirty="0"/>
          </a:p>
        </p:txBody>
      </p:sp>
      <p:sp>
        <p:nvSpPr>
          <p:cNvPr id="19" name="Never writes">
            <a:extLst>
              <a:ext uri="{C183D7F6-B498-43B3-948B-1728B52AA6E4}">
                <adec:decorative xmlns:adec="http://schemas.microsoft.com/office/drawing/2017/decorative" val="1"/>
              </a:ext>
            </a:extLst>
          </p:cNvPr>
          <p:cNvSpPr/>
          <p:nvPr/>
        </p:nvSpPr>
        <p:spPr>
          <a:xfrm>
            <a:off x="548640" y="2880360"/>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0" name="Icon FaRoute">
            <a:extLst>
              <a:ext uri="{C183D7F6-B498-43B3-948B-1728B52AA6E4}">
                <adec:decorative xmlns:adec="http://schemas.microsoft.com/office/drawing/2017/decorative" val="1"/>
              </a:ext>
            </a:extLst>
          </p:cNvPr>
          <p:cNvSpPr/>
          <p:nvPr/>
        </p:nvSpPr>
        <p:spPr>
          <a:xfrm>
            <a:off x="777240" y="2971800"/>
            <a:ext cx="685800" cy="685800"/>
          </a:xfrm>
          <a:prstGeom prst="ellipse">
            <a:avLst/>
          </a:prstGeom>
          <a:solidFill>
            <a:srgbClr val="0F766E"/>
          </a:solidFill>
          <a:ln w="12700">
            <a:solidFill>
              <a:srgbClr val="0F766E"/>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3136392"/>
            <a:ext cx="356616" cy="356616"/>
          </a:xfrm>
          <a:prstGeom prst="rect">
            <a:avLst/>
          </a:prstGeom>
        </p:spPr>
      </p:pic>
      <p:sp>
        <p:nvSpPr>
          <p:cNvPr id="22" name="Never writes text"/>
          <p:cNvSpPr txBox="1"/>
          <p:nvPr/>
        </p:nvSpPr>
        <p:spPr>
          <a:xfrm>
            <a:off x="1737360" y="2926080"/>
            <a:ext cx="9738360" cy="777240"/>
          </a:xfrm>
          <a:prstGeom prst="rect">
            <a:avLst/>
          </a:prstGeom>
          <a:noFill/>
          <a:ln/>
        </p:spPr>
        <p:txBody>
          <a:bodyPr wrap="square" lIns="0" tIns="0" rIns="0" bIns="0" rtlCol="0" anchor="ctr"/>
          <a:lstStyle/>
          <a:p>
            <a:pPr marL="0" indent="0">
              <a:buNone/>
            </a:pPr>
            <a:r>
              <a:rPr lang="en-US" sz="1500" b="1" dirty="0">
                <a:solidFill>
                  <a:srgbClr val="0F766E"/>
                </a:solidFill>
              </a:rPr>
              <a:t>The coordination layer never writes the change itself: </a:t>
            </a:r>
            <a:r>
              <a:rPr lang="en-US" sz="1500" dirty="0">
                <a:solidFill>
                  <a:schemeClr val="tx2"/>
                </a:solidFill>
              </a:rPr>
              <a:t>it makes every drift owned, clocked, approved and evidenced. A console can't answer those four questions alone.</a:t>
            </a:r>
            <a:endParaRPr lang="en-US" sz="1500" dirty="0"/>
          </a:p>
        </p:txBody>
      </p:sp>
      <p:graphicFrame>
        <p:nvGraphicFramePr>
          <p:cNvPr id="23" name="Direction"/>
          <p:cNvGraphicFramePr>
            <a:graphicFrameLocks noGrp="1"/>
          </p:cNvGraphicFramePr>
          <p:nvPr>
            <p:extLst>
              <p:ext uri="{D42A27DB-BD31-4B8C-83A1-F6EECF244321}">
                <p14:modId xmlns:p14="http://schemas.microsoft.com/office/powerpoint/2010/main" val="1579011935"/>
              </p:ext>
            </p:extLst>
          </p:nvPr>
        </p:nvGraphicFramePr>
        <p:xfrm>
          <a:off x="548640" y="3977640"/>
          <a:ext cx="1110996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federal policy points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says (binds cloud providers; the program applies the logic to its own estate)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M-24-15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FedRAMP should oversee a provider's change process itself, rather than each individual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FedRAMP 2026 change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Routine recurring changes need no formal notification; records of how each was classified stay auditable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FedRAMP change indicator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Prefer redeploying version-controlled resources to modifying them in place, "wherever reasonable"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 B (The coordination loop): OMB M-24-15 §VI; FedRAMP 2026 rules, SCN and KSI-CMT-RMV. Ch 10 (Native tools change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3D47EE17-4A25-C107-93CD-3C8FCC2BDD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7CCAC3-0C8A-44B5-9B25-168120AC579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60"/>
    </mc:Choice>
    <mc:Fallback>
      <p:transition spd="slow" advTm="3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6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five-clause request chain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5" name="Claus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coordination layer checks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Refuses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Evidence it leaves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Originates with the source of truth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task traces to a lineage record: a drift finding, an HR event or an approved request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origin record resolves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origin record's identifier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Carries an authoritative authorization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approver resolves from the authority model; separation of duties holds, fail-closed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requester or plan author is the approver; the target isn't reconciled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Approver, approval time, the authority rule that resolved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Least privilege, just in 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time-boxed, scoped role activates; the native write runs through the platform's interface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activation (no activation, no actuation); a standing grant; the write is rejected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Activation ID and expiry; run log tied to the task; artifact version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Closes with provenance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post-change state is re-read; a success response is not closure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re-read doesn't show the intended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Verification payload, timestamp, checking mechanism's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  Emits verified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closure record flows to continuous monitoring, with no human assembly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record can't be written or 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closure record in the evidence chain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efusal">
            <a:extLst>
              <a:ext uri="{C183D7F6-B498-43B3-948B-1728B52AA6E4}">
                <adec:decorative xmlns:adec="http://schemas.microsoft.com/office/drawing/2017/decorative" val="1"/>
              </a:ext>
            </a:extLst>
          </p:cNvPr>
          <p:cNvSpPr/>
          <p:nvPr/>
        </p:nvSpPr>
        <p:spPr>
          <a:xfrm>
            <a:off x="548640" y="5024628"/>
            <a:ext cx="11109960" cy="731520"/>
          </a:xfrm>
          <a:prstGeom prst="roundRect">
            <a:avLst>
              <a:gd name="adj" fmla="val 10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5116068"/>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5247742"/>
            <a:ext cx="285293" cy="285293"/>
          </a:xfrm>
          <a:prstGeom prst="rect">
            <a:avLst/>
          </a:prstGeom>
        </p:spPr>
      </p:pic>
      <p:sp>
        <p:nvSpPr>
          <p:cNvPr id="9" name="Refusal text"/>
          <p:cNvSpPr txBox="1"/>
          <p:nvPr/>
        </p:nvSpPr>
        <p:spPr>
          <a:xfrm>
            <a:off x="1737360" y="5070348"/>
            <a:ext cx="9738360" cy="640080"/>
          </a:xfrm>
          <a:prstGeom prst="rect">
            <a:avLst/>
          </a:prstGeom>
          <a:noFill/>
          <a:ln/>
        </p:spPr>
        <p:txBody>
          <a:bodyPr wrap="square" lIns="0" tIns="0" rIns="0" bIns="0" rtlCol="0" anchor="ctr"/>
          <a:lstStyle/>
          <a:p>
            <a:pPr marL="0" indent="0">
              <a:buNone/>
            </a:pPr>
            <a:r>
              <a:rPr lang="en-US" sz="1500" b="1" dirty="0">
                <a:solidFill>
                  <a:srgbClr val="1F2A44"/>
                </a:solidFill>
              </a:rPr>
              <a:t>In order, every time: </a:t>
            </a:r>
            <a:r>
              <a:rPr lang="en-US" sz="1500" dirty="0">
                <a:solidFill>
                  <a:schemeClr val="tx2"/>
                </a:solidFill>
              </a:rPr>
              <a:t>if any clause fails the chain stops and the task isn't closed. A refusal is written to the record like a success.</a:t>
            </a:r>
            <a:endParaRPr lang="en-US" sz="15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(The five-clause request chain); Book 00, Ch 04 (Principle 2); Book 01, Ch 11 (actuation ladder); Book 04,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B18F02A-0C12-FB10-5A9D-E09537D680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F343AF-F5DA-46F3-A866-55B303887F0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60"/>
    </mc:Choice>
    <mc:Fallback>
      <p:transition spd="slow" advTm="40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lanes: who approves, what runs, what it proves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PROGRAM DESIGN, NOT A FEDERAL REQUIREMENT  ·  THE LANE DECIDES WHO APPROVES, WHAT RUNS AND WHAT EVIDENCE RESULTS</a:t>
            </a:r>
            <a:endParaRPr lang="en-US" sz="1100" dirty="0"/>
          </a:p>
        </p:txBody>
      </p:sp>
      <p:graphicFrame>
        <p:nvGraphicFramePr>
          <p:cNvPr id="6" name="Lanes"/>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approves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executes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Evidence produced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Ladder ceiling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71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Machine, autonomous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class, accepted in advance and in writing by the authorizing official, with scope limits, exclusions and review rate; the board reviews it 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execution layer, through a native interface, inside the window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rule and baseline version, before and after, re-read, run log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L4: enumerated low-blast-radius classes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Machine, gated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named approver who isn't the requester or the plan's author: per instance, ring or approved batch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execution layer after a dry run, under a service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above, plus approval, dry run and activation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L3: the default ceiling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Human 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role that owns the 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Whatever it authorizes, usually the gated lane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decision record, then gated-lane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L2 until decided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Protocol-enforced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policy encoded in the protocol and in DNS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issuing protocol; no ticket per event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Issuance logs, inventory, policy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ticket lane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Declared exception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system owner, with a named compensating control and an end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person, in a time-boxed, proxied, recorded session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approval first, then the recording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Temporary; tracked to closure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(Change classes and their lanes); Ch 10 (Approval gates keep humans on the decisions that matter); Book 01,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425B797E-1232-0A94-6A5B-2A42C53E99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822DE1-3522-436A-B986-FD6C465AB0F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80"/>
    </mc:Choice>
    <mc:Fallback>
      <p:transition spd="slow" advTm="3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classes to lanes: drift, patching and access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Tests label"/>
          <p:cNvSpPr txBox="1"/>
          <p:nvPr/>
        </p:nvSpPr>
        <p:spPr>
          <a:xfrm>
            <a:off x="548640" y="1298448"/>
            <a:ext cx="11109960" cy="237744"/>
          </a:xfrm>
          <a:prstGeom prst="rect">
            <a:avLst/>
          </a:prstGeom>
          <a:noFill/>
          <a:ln/>
        </p:spPr>
        <p:txBody>
          <a:bodyPr wrap="square" lIns="0" tIns="0" rIns="0" bIns="0" rtlCol="0" anchor="t"/>
          <a:lstStyle/>
          <a:p>
            <a:pPr marL="0" indent="0">
              <a:buNone/>
            </a:pPr>
            <a:r>
              <a:rPr lang="en-US" sz="1100" b="1" dirty="0">
                <a:solidFill>
                  <a:srgbClr val="64748B"/>
                </a:solidFill>
              </a:rPr>
              <a:t>A CLASS GOES TO A MACHINE ONLY WHEN IT PASSES ALL SIX TESTS (CHAPTER 10)</a:t>
            </a:r>
            <a:endParaRPr lang="en-US" sz="1100" dirty="0"/>
          </a:p>
        </p:txBody>
      </p:sp>
      <p:sp>
        <p:nvSpPr>
          <p:cNvPr id="6" name="Test 1">
            <a:extLst>
              <a:ext uri="{C183D7F6-B498-43B3-948B-1728B52AA6E4}">
                <adec:decorative xmlns:adec="http://schemas.microsoft.com/office/drawing/2017/decorative" val="1"/>
              </a:ext>
            </a:extLst>
          </p:cNvPr>
          <p:cNvSpPr/>
          <p:nvPr/>
        </p:nvSpPr>
        <p:spPr>
          <a:xfrm>
            <a:off x="548640" y="1572768"/>
            <a:ext cx="1760220" cy="384048"/>
          </a:xfrm>
          <a:prstGeom prst="roundRect">
            <a:avLst>
              <a:gd name="adj" fmla="val 190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Test 1 text"/>
          <p:cNvSpPr txBox="1"/>
          <p:nvPr/>
        </p:nvSpPr>
        <p:spPr>
          <a:xfrm>
            <a:off x="621792" y="1572768"/>
            <a:ext cx="1613916" cy="384048"/>
          </a:xfrm>
          <a:prstGeom prst="rect">
            <a:avLst/>
          </a:prstGeom>
          <a:noFill/>
          <a:ln/>
        </p:spPr>
        <p:txBody>
          <a:bodyPr wrap="square" lIns="0" tIns="0" rIns="0" bIns="0" rtlCol="0" anchor="ctr"/>
          <a:lstStyle/>
          <a:p>
            <a:pPr marL="0" indent="0" algn="ctr">
              <a:buNone/>
            </a:pPr>
            <a:r>
              <a:rPr lang="en-US" sz="1250" b="1" dirty="0">
                <a:solidFill>
                  <a:srgbClr val="1F2A44"/>
                </a:solidFill>
              </a:rPr>
              <a:t>1  Reachable</a:t>
            </a:r>
            <a:endParaRPr lang="en-US" sz="1250" dirty="0"/>
          </a:p>
        </p:txBody>
      </p:sp>
      <p:sp>
        <p:nvSpPr>
          <p:cNvPr id="8" name="Test 2">
            <a:extLst>
              <a:ext uri="{C183D7F6-B498-43B3-948B-1728B52AA6E4}">
                <adec:decorative xmlns:adec="http://schemas.microsoft.com/office/drawing/2017/decorative" val="1"/>
              </a:ext>
            </a:extLst>
          </p:cNvPr>
          <p:cNvSpPr/>
          <p:nvPr/>
        </p:nvSpPr>
        <p:spPr>
          <a:xfrm>
            <a:off x="2418588" y="1572768"/>
            <a:ext cx="1760220" cy="384048"/>
          </a:xfrm>
          <a:prstGeom prst="roundRect">
            <a:avLst>
              <a:gd name="adj" fmla="val 190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Test 2 text"/>
          <p:cNvSpPr txBox="1"/>
          <p:nvPr/>
        </p:nvSpPr>
        <p:spPr>
          <a:xfrm>
            <a:off x="2491740" y="1572768"/>
            <a:ext cx="1613916" cy="384048"/>
          </a:xfrm>
          <a:prstGeom prst="rect">
            <a:avLst/>
          </a:prstGeom>
          <a:noFill/>
          <a:ln/>
        </p:spPr>
        <p:txBody>
          <a:bodyPr wrap="square" lIns="0" tIns="0" rIns="0" bIns="0" rtlCol="0" anchor="ctr"/>
          <a:lstStyle/>
          <a:p>
            <a:pPr marL="0" indent="0" algn="ctr">
              <a:buNone/>
            </a:pPr>
            <a:r>
              <a:rPr lang="en-US" sz="1250" b="1" dirty="0">
                <a:solidFill>
                  <a:srgbClr val="1F2A44"/>
                </a:solidFill>
              </a:rPr>
              <a:t>2  Deterministic</a:t>
            </a:r>
            <a:endParaRPr lang="en-US" sz="1250" dirty="0"/>
          </a:p>
        </p:txBody>
      </p:sp>
      <p:sp>
        <p:nvSpPr>
          <p:cNvPr id="10" name="Test 3">
            <a:extLst>
              <a:ext uri="{C183D7F6-B498-43B3-948B-1728B52AA6E4}">
                <adec:decorative xmlns:adec="http://schemas.microsoft.com/office/drawing/2017/decorative" val="1"/>
              </a:ext>
            </a:extLst>
          </p:cNvPr>
          <p:cNvSpPr/>
          <p:nvPr/>
        </p:nvSpPr>
        <p:spPr>
          <a:xfrm>
            <a:off x="4288536" y="1572768"/>
            <a:ext cx="1760220" cy="384048"/>
          </a:xfrm>
          <a:prstGeom prst="roundRect">
            <a:avLst>
              <a:gd name="adj" fmla="val 190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Test 3 text"/>
          <p:cNvSpPr txBox="1"/>
          <p:nvPr/>
        </p:nvSpPr>
        <p:spPr>
          <a:xfrm>
            <a:off x="4361688" y="1572768"/>
            <a:ext cx="1613916" cy="384048"/>
          </a:xfrm>
          <a:prstGeom prst="rect">
            <a:avLst/>
          </a:prstGeom>
          <a:noFill/>
          <a:ln/>
        </p:spPr>
        <p:txBody>
          <a:bodyPr wrap="square" lIns="0" tIns="0" rIns="0" bIns="0" rtlCol="0" anchor="ctr"/>
          <a:lstStyle/>
          <a:p>
            <a:pPr marL="0" indent="0" algn="ctr">
              <a:buNone/>
            </a:pPr>
            <a:r>
              <a:rPr lang="en-US" sz="1250" b="1" dirty="0">
                <a:solidFill>
                  <a:srgbClr val="1F2A44"/>
                </a:solidFill>
              </a:rPr>
              <a:t>3  Bounded</a:t>
            </a:r>
            <a:endParaRPr lang="en-US" sz="1250" dirty="0"/>
          </a:p>
        </p:txBody>
      </p:sp>
      <p:sp>
        <p:nvSpPr>
          <p:cNvPr id="12" name="Test 4">
            <a:extLst>
              <a:ext uri="{C183D7F6-B498-43B3-948B-1728B52AA6E4}">
                <adec:decorative xmlns:adec="http://schemas.microsoft.com/office/drawing/2017/decorative" val="1"/>
              </a:ext>
            </a:extLst>
          </p:cNvPr>
          <p:cNvSpPr/>
          <p:nvPr/>
        </p:nvSpPr>
        <p:spPr>
          <a:xfrm>
            <a:off x="6158484" y="1572768"/>
            <a:ext cx="1760220" cy="384048"/>
          </a:xfrm>
          <a:prstGeom prst="roundRect">
            <a:avLst>
              <a:gd name="adj" fmla="val 190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Test 4 text"/>
          <p:cNvSpPr txBox="1"/>
          <p:nvPr/>
        </p:nvSpPr>
        <p:spPr>
          <a:xfrm>
            <a:off x="6231636" y="1572768"/>
            <a:ext cx="1613916" cy="384048"/>
          </a:xfrm>
          <a:prstGeom prst="rect">
            <a:avLst/>
          </a:prstGeom>
          <a:noFill/>
          <a:ln/>
        </p:spPr>
        <p:txBody>
          <a:bodyPr wrap="square" lIns="0" tIns="0" rIns="0" bIns="0" rtlCol="0" anchor="ctr"/>
          <a:lstStyle/>
          <a:p>
            <a:pPr marL="0" indent="0" algn="ctr">
              <a:buNone/>
            </a:pPr>
            <a:r>
              <a:rPr lang="en-US" sz="1250" b="1" dirty="0">
                <a:solidFill>
                  <a:srgbClr val="1F2A44"/>
                </a:solidFill>
              </a:rPr>
              <a:t>4  Reversible</a:t>
            </a:r>
            <a:endParaRPr lang="en-US" sz="1250" dirty="0"/>
          </a:p>
        </p:txBody>
      </p:sp>
      <p:sp>
        <p:nvSpPr>
          <p:cNvPr id="14" name="Test 5">
            <a:extLst>
              <a:ext uri="{C183D7F6-B498-43B3-948B-1728B52AA6E4}">
                <adec:decorative xmlns:adec="http://schemas.microsoft.com/office/drawing/2017/decorative" val="1"/>
              </a:ext>
            </a:extLst>
          </p:cNvPr>
          <p:cNvSpPr/>
          <p:nvPr/>
        </p:nvSpPr>
        <p:spPr>
          <a:xfrm>
            <a:off x="8028432" y="1572768"/>
            <a:ext cx="1760220" cy="384048"/>
          </a:xfrm>
          <a:prstGeom prst="roundRect">
            <a:avLst>
              <a:gd name="adj" fmla="val 190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Test 5 text"/>
          <p:cNvSpPr txBox="1"/>
          <p:nvPr/>
        </p:nvSpPr>
        <p:spPr>
          <a:xfrm>
            <a:off x="8101584" y="1572768"/>
            <a:ext cx="1613916" cy="384048"/>
          </a:xfrm>
          <a:prstGeom prst="rect">
            <a:avLst/>
          </a:prstGeom>
          <a:noFill/>
          <a:ln/>
        </p:spPr>
        <p:txBody>
          <a:bodyPr wrap="square" lIns="0" tIns="0" rIns="0" bIns="0" rtlCol="0" anchor="ctr"/>
          <a:lstStyle/>
          <a:p>
            <a:pPr marL="0" indent="0" algn="ctr">
              <a:buNone/>
            </a:pPr>
            <a:r>
              <a:rPr lang="en-US" sz="1250" b="1" dirty="0">
                <a:solidFill>
                  <a:srgbClr val="1F2A44"/>
                </a:solidFill>
              </a:rPr>
              <a:t>5  Verifiable</a:t>
            </a:r>
            <a:endParaRPr lang="en-US" sz="1250" dirty="0"/>
          </a:p>
        </p:txBody>
      </p:sp>
      <p:sp>
        <p:nvSpPr>
          <p:cNvPr id="16" name="Test 6">
            <a:extLst>
              <a:ext uri="{C183D7F6-B498-43B3-948B-1728B52AA6E4}">
                <adec:decorative xmlns:adec="http://schemas.microsoft.com/office/drawing/2017/decorative" val="1"/>
              </a:ext>
            </a:extLst>
          </p:cNvPr>
          <p:cNvSpPr/>
          <p:nvPr/>
        </p:nvSpPr>
        <p:spPr>
          <a:xfrm>
            <a:off x="9898380" y="1572768"/>
            <a:ext cx="1760220" cy="384048"/>
          </a:xfrm>
          <a:prstGeom prst="roundRect">
            <a:avLst>
              <a:gd name="adj" fmla="val 190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Test 6 text"/>
          <p:cNvSpPr txBox="1"/>
          <p:nvPr/>
        </p:nvSpPr>
        <p:spPr>
          <a:xfrm>
            <a:off x="9971532" y="1572768"/>
            <a:ext cx="1613916" cy="384048"/>
          </a:xfrm>
          <a:prstGeom prst="rect">
            <a:avLst/>
          </a:prstGeom>
          <a:noFill/>
          <a:ln/>
        </p:spPr>
        <p:txBody>
          <a:bodyPr wrap="square" lIns="0" tIns="0" rIns="0" bIns="0" rtlCol="0" anchor="ctr"/>
          <a:lstStyle/>
          <a:p>
            <a:pPr marL="0" indent="0" algn="ctr">
              <a:buNone/>
            </a:pPr>
            <a:r>
              <a:rPr lang="en-US" sz="1250" b="1" dirty="0">
                <a:solidFill>
                  <a:srgbClr val="1F2A44"/>
                </a:solidFill>
              </a:rPr>
              <a:t>6  Not permanently gated</a:t>
            </a:r>
            <a:endParaRPr lang="en-US" sz="1250" dirty="0"/>
          </a:p>
        </p:txBody>
      </p:sp>
      <p:sp>
        <p:nvSpPr>
          <p:cNvPr id="18" name="Design label"/>
          <p:cNvSpPr txBox="1"/>
          <p:nvPr/>
        </p:nvSpPr>
        <p:spPr>
          <a:xfrm>
            <a:off x="548640" y="2048256"/>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THE PROGRAM'S STARTING ASSIGNMENT  ·  PROGRAM DESIGN  ·  AN AGENCY TUNES IT IN ITS OWN RECORD</a:t>
            </a:r>
            <a:endParaRPr lang="en-US" sz="1100" dirty="0"/>
          </a:p>
        </p:txBody>
      </p:sp>
      <p:graphicFrame>
        <p:nvGraphicFramePr>
          <p:cNvPr id="19" name="Classes A"/>
          <p:cNvGraphicFramePr>
            <a:graphicFrameLocks noGrp="1"/>
          </p:cNvGraphicFramePr>
          <p:nvPr>
            <p:extLst>
              <p:ext uri="{D42A27DB-BD31-4B8C-83A1-F6EECF244321}">
                <p14:modId xmlns:p14="http://schemas.microsoft.com/office/powerpoint/2010/main" val="1579011935"/>
              </p:ext>
            </p:extLst>
          </p:nvPr>
        </p:nvGraphicFramePr>
        <p:xfrm>
          <a:off x="548640" y="2340864"/>
          <a:ext cx="1110996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Class of change (example)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Approval needed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beyond the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Config drift, deterministic fix, low or medium (a setting reverted by hand)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Machine, gated; autonomous only where the class is enumerated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 instance; or the class in advance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baseline version the fix restored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Config drift, deterministic fix, high (storage opened to public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Machine, gated, inside a 1-hour window; a person decides a non-deterministic fix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Named approver per instance, unless enumerated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Exposure window, detection to re-read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Critical drift, or any authorization or provenance drift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Halt and alert, then human 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Escalation path: steward, workstream lead or 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Investigation notes linked to the 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Vulnerability remediation and patching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Machine, gated by maintenance window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Change approval for the window or batch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Scan before and after; time against window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Access request inside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Machine, gated through the five clauses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approver named for that role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Just-in-time activation and its expiry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Over-privilege or idle entitlement (unused 90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Human decision by the owner, then gated removal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Entitlement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decision and the re-read of the binding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(Change classes and their lanes); Chapter 10 (Which change classes qualify: the six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9304C5A6-6FBB-90EE-711D-750105373B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DB0EBD-69EC-4815-B239-23BEAEF2450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90"/>
    </mc:Choice>
    <mc:Fallback>
      <p:transition spd="slow" advTm="42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8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classes to lanes: big changes, records, exceptions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THE PROGRAM'S STARTING ASSIGNMENT  ·  PROGRAM DESIGN  ·  A CLASS MOVES ONLY BY A REVIEWED CHANGE TO THE RECORD</a:t>
            </a:r>
            <a:endParaRPr lang="en-US" sz="1100" dirty="0"/>
          </a:p>
        </p:txBody>
      </p:sp>
      <p:graphicFrame>
        <p:nvGraphicFramePr>
          <p:cNvPr id="8" name="Classes B"/>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Class of change (example)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Approval needed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beyond the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High-blast-radius change (tenant-wide role, Conditional Access, bulk device 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Machine, gated, permanently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Named approver, after a dry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Dry-run output and rollback 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Change to the authoritative record (baseline, threshold,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Human 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Reviewed pull request; steward and sponsor for architecture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merged change and its 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Routine certificate issuance and renewal within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Protocol-enforced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per event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Issuance and inventory records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Certificate anomaly (new CA, odd lifetime, unknown issuer)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Human decision, then gated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PKI 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anomaly finding and its disposition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 machine actuator exists yet (console-only appliance)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Declared exception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System owner, compensating control, end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Session recording; the POA&amp;M item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Emergency change (containment during an incident)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Act first under incident procedures, then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Incident commander; retrospective 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Retroactive task and assessment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wo rules">
            <a:extLst>
              <a:ext uri="{C183D7F6-B498-43B3-948B-1728B52AA6E4}">
                <adec:decorative xmlns:adec="http://schemas.microsoft.com/office/drawing/2017/decorative" val="1"/>
              </a:ext>
            </a:extLst>
          </p:cNvPr>
          <p:cNvSpPr/>
          <p:nvPr/>
        </p:nvSpPr>
        <p:spPr>
          <a:xfrm>
            <a:off x="548640" y="4994148"/>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6" name="Icon FaScaleBalanced">
            <a:extLst>
              <a:ext uri="{C183D7F6-B498-43B3-948B-1728B52AA6E4}">
                <adec:decorative xmlns:adec="http://schemas.microsoft.com/office/drawing/2017/decorative" val="1"/>
              </a:ext>
            </a:extLst>
          </p:cNvPr>
          <p:cNvSpPr/>
          <p:nvPr/>
        </p:nvSpPr>
        <p:spPr>
          <a:xfrm>
            <a:off x="777240" y="5085588"/>
            <a:ext cx="731520" cy="73152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61153"/>
            <a:ext cx="380390" cy="380390"/>
          </a:xfrm>
          <a:prstGeom prst="rect">
            <a:avLst/>
          </a:prstGeom>
        </p:spPr>
      </p:pic>
      <p:sp>
        <p:nvSpPr>
          <p:cNvPr id="10" name="Two rules text"/>
          <p:cNvSpPr txBox="1"/>
          <p:nvPr/>
        </p:nvSpPr>
        <p:spPr>
          <a:xfrm>
            <a:off x="1737360" y="5039868"/>
            <a:ext cx="9738360" cy="822960"/>
          </a:xfrm>
          <a:prstGeom prst="rect">
            <a:avLst/>
          </a:prstGeom>
          <a:noFill/>
          <a:ln/>
        </p:spPr>
        <p:txBody>
          <a:bodyPr wrap="square" lIns="0" tIns="0" rIns="0" bIns="0" rtlCol="0" anchor="ctr"/>
          <a:lstStyle/>
          <a:p>
            <a:pPr marL="0" indent="0">
              <a:buNone/>
            </a:pPr>
            <a:r>
              <a:rPr lang="en-US" sz="1450" b="1" dirty="0">
                <a:solidFill>
                  <a:srgbClr val="0F766E"/>
                </a:solidFill>
              </a:rPr>
              <a:t>Two rules hold across the table: </a:t>
            </a:r>
            <a:r>
              <a:rPr lang="en-US" sz="1450" dirty="0">
                <a:solidFill>
                  <a:schemeClr val="tx2"/>
                </a:solidFill>
              </a:rPr>
              <a:t>a machine never changes the record to make drift disappear, and no class routes a gap through a person at a console without declaring it.</a:t>
            </a:r>
            <a:endParaRPr lang="en-US" sz="14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(Change classes and their lanes); FedRAMP 2026 rules, SCN (emergency changes); Book 00, Ch 07 (decision rights).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A9B5BA63-A524-5677-92B6-0998E6B2F2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21F8F8-897B-419E-818D-4D6782D31E4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20"/>
    </mc:Choice>
    <mc:Fallback>
      <p:transition spd="slow" advTm="3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2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Drift classes and their default lanes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DEFAULT LANES ARE PROGRAM DESIGN  ·  CHAPTER 06 CARRIES THE FULL DRIFT MODEL</a:t>
            </a:r>
            <a:endParaRPr lang="en-US" sz="1100" dirty="0"/>
          </a:p>
        </p:txBody>
      </p:sp>
      <p:graphicFrame>
        <p:nvGraphicFramePr>
          <p:cNvPr id="9" name="Drift"/>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07492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Drift class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Default lane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Schema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value's encoding or structure doesn't match the current schema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Machine-executed when the transform is deterministic, gated unless the class is accepted as autonomous; a format failure on a claim in use is critical and halts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Semantic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value is well formed but means the wrong thing, such as a deprecated naming pattern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Machine, gated; often escalates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Provenance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state change appears with no provenance event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Halt and alert when the claim is in active use (P1); otherwise a P3 human 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Authorization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policy contradicts what the record says a principal may do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Halt and alert when the claim is in active use (P1); otherwise a P3 human 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principal exists with no counterpart in the record, or the reverse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Human decision, then gated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Context">
            <a:extLst>
              <a:ext uri="{C183D7F6-B498-43B3-948B-1728B52AA6E4}">
                <adec:decorative xmlns:adec="http://schemas.microsoft.com/office/drawing/2017/decorative" val="1"/>
              </a:ext>
            </a:extLst>
          </p:cNvPr>
          <p:cNvSpPr/>
          <p:nvPr/>
        </p:nvSpPr>
        <p:spPr>
          <a:xfrm>
            <a:off x="548640" y="4846320"/>
            <a:ext cx="11109960" cy="914400"/>
          </a:xfrm>
          <a:prstGeom prst="roundRect">
            <a:avLst>
              <a:gd name="adj" fmla="val 8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TriangleExclamation">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45309"/>
          </a:solidFill>
          <a:ln w="12700">
            <a:solidFill>
              <a:srgbClr val="B45309"/>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13325"/>
            <a:ext cx="380390" cy="380390"/>
          </a:xfrm>
          <a:prstGeom prst="rect">
            <a:avLst/>
          </a:prstGeom>
        </p:spPr>
      </p:pic>
      <p:sp>
        <p:nvSpPr>
          <p:cNvPr id="10" name="Context text"/>
          <p:cNvSpPr txBox="1"/>
          <p:nvPr/>
        </p:nvSpPr>
        <p:spPr>
          <a:xfrm>
            <a:off x="1737360" y="4892040"/>
            <a:ext cx="9738360" cy="822960"/>
          </a:xfrm>
          <a:prstGeom prst="rect">
            <a:avLst/>
          </a:prstGeom>
          <a:noFill/>
          <a:ln/>
        </p:spPr>
        <p:txBody>
          <a:bodyPr wrap="square" lIns="0" tIns="0" rIns="0" bIns="0" rtlCol="0" anchor="ctr"/>
          <a:lstStyle/>
          <a:p>
            <a:pPr marL="0" indent="0">
              <a:buNone/>
            </a:pPr>
            <a:r>
              <a:rPr lang="en-US" sz="1450" b="1" dirty="0">
                <a:solidFill>
                  <a:srgbClr val="B45309"/>
                </a:solidFill>
              </a:rPr>
              <a:t>Honest limit: </a:t>
            </a:r>
            <a:r>
              <a:rPr lang="en-US" sz="1450" dirty="0">
                <a:solidFill>
                  <a:schemeClr val="tx2"/>
                </a:solidFill>
              </a:rPr>
              <a:t>semantic, authorization and identity drift reach a person more often than schema and provenance drift, because their fixes depend on context.</a:t>
            </a:r>
            <a:endParaRPr lang="en-US" sz="14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(Drift classes and their default lanes); Chapter 06 (the drift engine); Chapter 10 (Honest limits); Book 02,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2096BE6-FFF0-A76C-6AB8-7BDAD179B9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99745A4-0B77-4F89-9C15-C66A88B2646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20"/>
    </mc:Choice>
    <mc:Fallback>
      <p:transition spd="slow" advTm="35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2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Severity and tempo: four windows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THE PROGRAM'S INTERNAL WINDOWS FOR DRIFT AGAINST ITS OWN RECORD  ·  PROGRAM DESIGN, NOT AN EXTERNAL STANDARD</a:t>
            </a:r>
            <a:endParaRPr lang="en-US" sz="1100" dirty="0"/>
          </a:p>
        </p:txBody>
      </p:sp>
      <p:graphicFrame>
        <p:nvGraphicFramePr>
          <p:cNvPr id="10" name="Tempo"/>
          <p:cNvGraphicFramePr>
            <a:graphicFrameLocks noGrp="1"/>
          </p:cNvGraphicFramePr>
          <p:nvPr>
            <p:extLst>
              <p:ext uri="{D42A27DB-BD31-4B8C-83A1-F6EECF244321}">
                <p14:modId xmlns:p14="http://schemas.microsoft.com/office/powerpoint/2010/main" val="1579011935"/>
              </p:ext>
            </p:extLst>
          </p:nvPr>
        </p:nvGraphicFramePr>
        <p:xfrm>
          <a:off x="548640" y="1627632"/>
          <a:ext cx="6126480" cy="9144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May a machine fix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Window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approves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P1, critical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the run halts and alerts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named role decides before anything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P2, 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if the fix is deterministic and the class qualifies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approver per instance, unless the class is enumerated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P3, medium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if the class qualifies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 instance, or the class approved in advance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P4, 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if the class qualifies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72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Class approved in advance, reviewed after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7" name="Image 0" descr="The tempo: a classified finding with a severity from P1 to P4 and an operation class leads to three paths. P1 immediate: halt and alert, a named role decides. L3 default, ticket to a machine: a human approves each instance. L4 enumerated: the machine closes the loop for a class approved in advance. Where no machine can reach the surface, the fallback is a declared exception through an approved, time-boxed, proxied, recorded privileged session. All paths end in one closure record with the owner, clock, approval, execution and re-test, written to the evidence chain."/>
          <p:cNvPicPr>
            <a:picLocks noChangeAspect="1"/>
          </p:cNvPicPr>
          <p:nvPr/>
        </p:nvPicPr>
        <p:blipFill>
          <a:blip r:embed="rId5"/>
          <a:stretch>
            <a:fillRect/>
          </a:stretch>
        </p:blipFill>
        <p:spPr>
          <a:xfrm>
            <a:off x="6858000" y="1627632"/>
            <a:ext cx="4800600" cy="2526632"/>
          </a:xfrm>
          <a:prstGeom prst="rect">
            <a:avLst/>
          </a:prstGeom>
        </p:spPr>
      </p:pic>
      <p:sp>
        <p:nvSpPr>
          <p:cNvPr id="8" name="External">
            <a:extLst>
              <a:ext uri="{C183D7F6-B498-43B3-948B-1728B52AA6E4}">
                <adec:decorative xmlns:adec="http://schemas.microsoft.com/office/drawing/2017/decorative" val="1"/>
              </a:ext>
            </a:extLst>
          </p:cNvPr>
          <p:cNvSpPr/>
          <p:nvPr/>
        </p:nvSpPr>
        <p:spPr>
          <a:xfrm>
            <a:off x="548640" y="470916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UserClock">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B91C1C"/>
          </a:solidFill>
          <a:ln w="12700">
            <a:solidFill>
              <a:srgbClr val="B91C1C"/>
            </a:solidFill>
            <a:prstDash val="solid"/>
          </a:ln>
        </p:spPr>
      </p:sp>
      <p:pic>
        <p:nvPicPr>
          <p:cNvPr id="6"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999025"/>
            <a:ext cx="380390" cy="380390"/>
          </a:xfrm>
          <a:prstGeom prst="rect">
            <a:avLst/>
          </a:prstGeom>
        </p:spPr>
      </p:pic>
      <p:sp>
        <p:nvSpPr>
          <p:cNvPr id="11" name="External text"/>
          <p:cNvSpPr txBox="1"/>
          <p:nvPr/>
        </p:nvSpPr>
        <p:spPr>
          <a:xfrm>
            <a:off x="1737360" y="4754880"/>
            <a:ext cx="9738360" cy="868680"/>
          </a:xfrm>
          <a:prstGeom prst="rect">
            <a:avLst/>
          </a:prstGeom>
          <a:noFill/>
          <a:ln/>
        </p:spPr>
        <p:txBody>
          <a:bodyPr wrap="square" lIns="0" tIns="0" rIns="0" bIns="0" rtlCol="0" anchor="ctr"/>
          <a:lstStyle/>
          <a:p>
            <a:pPr marL="0" indent="0">
              <a:buNone/>
            </a:pPr>
            <a:r>
              <a:rPr lang="en-US" sz="1400" b="1" dirty="0">
                <a:solidFill>
                  <a:srgbClr val="B91C1C"/>
                </a:solidFill>
              </a:rPr>
              <a:t>An external clock governs when it is shorter or different: </a:t>
            </a:r>
            <a:r>
              <a:rPr lang="en-US" sz="1400" dirty="0">
                <a:solidFill>
                  <a:schemeClr val="tx2"/>
                </a:solidFill>
              </a:rPr>
              <a:t>vulnerabilities follow CISA BOD 26-04's timelines, and incidents CISA's one-hour notification. Auto-fix holds only for enumerated classes.</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(Severity and tempo): CISA BOD 26-04. Ch 10 (The program's tempo): CISA Federal Incident Notification Guidelines.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7F2CBA8-D28B-7F4E-1C7B-AC68FD09E7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B7A271-0542-4FA2-A268-DB5FE09F1EA1}"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00"/>
    </mc:Choice>
    <mc:Fallback>
      <p:transition spd="slow" advTm="4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9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tempo shows leadership: five measures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1" name="Measu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a bad value means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Detection coverage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share of the estate emits drift findings?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Drift outside coverage is invisible to the tempo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Window adherence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share of findings close inside their window, and how many are open past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program is generating drift in its own operations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Escalation rate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share of findings reach a human?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Severity is rising, or the classifier needs tuning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Machine-closure share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share of closures did a machine execute under an approval?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Actuators aren't being added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Declared-exception count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How many open tasks have no machine actuator?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Manual work is becoming permanent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taffing">
            <a:extLst>
              <a:ext uri="{C183D7F6-B498-43B3-948B-1728B52AA6E4}">
                <adec:decorative xmlns:adec="http://schemas.microsoft.com/office/drawing/2017/decorative" val="1"/>
              </a:ext>
            </a:extLst>
          </p:cNvPr>
          <p:cNvSpPr/>
          <p:nvPr/>
        </p:nvSpPr>
        <p:spPr>
          <a:xfrm>
            <a:off x="548640" y="3995928"/>
            <a:ext cx="5486400" cy="1947672"/>
          </a:xfrm>
          <a:prstGeom prst="roundRect">
            <a:avLst>
              <a:gd name="adj" fmla="val 37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ffing head"/>
          <p:cNvSpPr txBox="1"/>
          <p:nvPr/>
        </p:nvSpPr>
        <p:spPr>
          <a:xfrm>
            <a:off x="731520" y="4105656"/>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THE TEMPO DOESN'T NEED</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No round-the-clock staffing</a:t>
            </a:r>
            <a:endParaRPr lang="en-US" sz="1400" dirty="0"/>
          </a:p>
        </p:txBody>
      </p:sp>
      <p:sp>
        <p:nvSpPr>
          <p:cNvPr id="8" name="Staffing list"/>
          <p:cNvSpPr txBox="1"/>
          <p:nvPr/>
        </p:nvSpPr>
        <p:spPr>
          <a:xfrm>
            <a:off x="731520" y="4754880"/>
            <a:ext cx="5166360" cy="11155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Low and medium findings close through approved plans and autonomous classes</a:t>
            </a:r>
            <a:endParaRPr lang="en-US" sz="1400" dirty="0"/>
          </a:p>
          <a:p>
            <a:pPr marL="342900" indent="-342900">
              <a:spcAft>
                <a:spcPts val="300"/>
              </a:spcAft>
              <a:buSzPct val="100000"/>
              <a:buChar char="•"/>
            </a:pPr>
            <a:r>
              <a:rPr lang="en-US" sz="1300" dirty="0">
                <a:solidFill>
                  <a:schemeClr val="tx2"/>
                </a:solidFill>
              </a:rPr>
              <a:t>Critical findings halt and hold until a person responds</a:t>
            </a:r>
            <a:endParaRPr lang="en-US" sz="1400" dirty="0"/>
          </a:p>
        </p:txBody>
      </p:sp>
      <p:sp>
        <p:nvSpPr>
          <p:cNvPr id="9" name="Roles">
            <a:extLst>
              <a:ext uri="{C183D7F6-B498-43B3-948B-1728B52AA6E4}">
                <adec:decorative xmlns:adec="http://schemas.microsoft.com/office/drawing/2017/decorative" val="1"/>
              </a:ext>
            </a:extLst>
          </p:cNvPr>
          <p:cNvSpPr/>
          <p:nvPr/>
        </p:nvSpPr>
        <p:spPr>
          <a:xfrm>
            <a:off x="6172200" y="3995928"/>
            <a:ext cx="5486400" cy="1947672"/>
          </a:xfrm>
          <a:prstGeom prst="roundRect">
            <a:avLst>
              <a:gd name="adj" fmla="val 375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Roles head"/>
          <p:cNvSpPr txBox="1"/>
          <p:nvPr/>
        </p:nvSpPr>
        <p:spPr>
          <a:xfrm>
            <a:off x="6355080" y="4105656"/>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IT DOES NEED</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The escalation roles must exist</a:t>
            </a:r>
            <a:endParaRPr lang="en-US" sz="1400" dirty="0"/>
          </a:p>
        </p:txBody>
      </p:sp>
      <p:sp>
        <p:nvSpPr>
          <p:cNvPr id="5" name="Roles list"/>
          <p:cNvSpPr txBox="1"/>
          <p:nvPr/>
        </p:nvSpPr>
        <p:spPr>
          <a:xfrm>
            <a:off x="6355080" y="4754880"/>
            <a:ext cx="5166360" cy="111556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program without a steward has to designate one; tooling can't create authority</a:t>
            </a:r>
            <a:endParaRPr lang="en-US" sz="1400" dirty="0"/>
          </a:p>
          <a:p>
            <a:pPr marL="342900" indent="-342900">
              <a:spcAft>
                <a:spcPts val="300"/>
              </a:spcAft>
              <a:buSzPct val="100000"/>
              <a:buChar char="•"/>
            </a:pPr>
            <a:r>
              <a:rPr lang="en-US" sz="1300" dirty="0">
                <a:solidFill>
                  <a:schemeClr val="tx2"/>
                </a:solidFill>
              </a:rPr>
              <a:t>Targets are the agency's to set; count overdue items apart from the ratio</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(Severity and tempo: the measures); Chapter 10 (What the tempo shows leadership; What the tempo doesn't require).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204D1148-FB7D-9C03-58A7-EE2CD8DEE6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4F819B-350D-4309-8092-4F3BD0AA4F6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record: one shape for every lane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Recor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Machine lanes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Declared exception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Protocol-enforced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Origin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or request identifier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identifier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Issuance policy identifier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 and clock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Task owner, response window, due 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 end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PKI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Approval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Approver and time, or the class acceptance and rule version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Approver and time, before the session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Policy version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Executing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Service identity, activation identifier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person, through the recorded session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protocol client's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What ran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Version-controlled artifact and its hash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session recording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issuance transaction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Re-read post-state and 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Re-read post-state and 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 in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record linking all of the above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Same, plus the POA&amp;M item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Inventory entry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Assessor">
            <a:extLst>
              <a:ext uri="{C183D7F6-B498-43B3-948B-1728B52AA6E4}">
                <adec:decorative xmlns:adec="http://schemas.microsoft.com/office/drawing/2017/decorative" val="1"/>
              </a:ext>
            </a:extLst>
          </p:cNvPr>
          <p:cNvSpPr/>
          <p:nvPr/>
        </p:nvSpPr>
        <p:spPr>
          <a:xfrm>
            <a:off x="548640" y="4337304"/>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451604"/>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27169"/>
            <a:ext cx="380390" cy="380390"/>
          </a:xfrm>
          <a:prstGeom prst="rect">
            <a:avLst/>
          </a:prstGeom>
        </p:spPr>
      </p:pic>
      <p:sp>
        <p:nvSpPr>
          <p:cNvPr id="9" name="Assessor text"/>
          <p:cNvSpPr txBox="1"/>
          <p:nvPr/>
        </p:nvSpPr>
        <p:spPr>
          <a:xfrm>
            <a:off x="1737360" y="4383024"/>
            <a:ext cx="9738360" cy="868680"/>
          </a:xfrm>
          <a:prstGeom prst="rect">
            <a:avLst/>
          </a:prstGeom>
          <a:noFill/>
          <a:ln/>
        </p:spPr>
        <p:txBody>
          <a:bodyPr wrap="square" lIns="0" tIns="0" rIns="0" bIns="0" rtlCol="0" anchor="ctr"/>
          <a:lstStyle/>
          <a:p>
            <a:pPr marL="0" indent="0">
              <a:buNone/>
            </a:pPr>
            <a:r>
              <a:rPr lang="en-US" sz="1450" b="1" dirty="0">
                <a:solidFill>
                  <a:srgbClr val="1F2A44"/>
                </a:solidFill>
              </a:rPr>
              <a:t>What the assessor checks: </a:t>
            </a:r>
            <a:r>
              <a:rPr lang="en-US" sz="1450" dirty="0">
                <a:solidFill>
                  <a:schemeClr val="tx2"/>
                </a:solidFill>
              </a:rPr>
              <a:t>a prior approval, a version-controlled and access-restricted artifact, execution logged to the task, and a result that can be re-tested.</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(The evidence record): NIST SP 800-137, Executive Summary. Appendix A (control mapping);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FBD2E5E-9A54-C344-1501-DFECAE89A4E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E38A71-9A40-413D-AE0A-126E273C557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20"/>
    </mc:Choice>
    <mc:Fallback>
      <p:transition spd="slow" advTm="44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Worked examples: a drifted setting and an access request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ILLUSTRATIVE  ·  NAMES, IDENTIFIERS AND TIMES ARE INVENTED</a:t>
            </a:r>
            <a:endParaRPr lang="en-US" sz="1100" dirty="0"/>
          </a:p>
        </p:txBody>
      </p:sp>
      <p:sp>
        <p:nvSpPr>
          <p:cNvPr id="6" name="Ex1">
            <a:extLst>
              <a:ext uri="{C183D7F6-B498-43B3-948B-1728B52AA6E4}">
                <adec:decorative xmlns:adec="http://schemas.microsoft.com/office/drawing/2017/decorative" val="1"/>
              </a:ext>
            </a:extLst>
          </p:cNvPr>
          <p:cNvSpPr/>
          <p:nvPr/>
        </p:nvSpPr>
        <p:spPr>
          <a:xfrm>
            <a:off x="548640" y="1627632"/>
            <a:ext cx="5486400" cy="3749040"/>
          </a:xfrm>
          <a:prstGeom prst="roundRect">
            <a:avLst>
              <a:gd name="adj" fmla="val 195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x1 head"/>
          <p:cNvSpPr txBox="1"/>
          <p:nvPr/>
        </p:nvSpPr>
        <p:spPr>
          <a:xfrm>
            <a:off x="731520" y="1737360"/>
            <a:ext cx="5120640" cy="640080"/>
          </a:xfrm>
          <a:prstGeom prst="rect">
            <a:avLst/>
          </a:prstGeom>
          <a:noFill/>
          <a:ln/>
        </p:spPr>
        <p:txBody>
          <a:bodyPr wrap="square" lIns="0" tIns="0" rIns="0" bIns="0" rtlCol="0" anchor="t"/>
          <a:lstStyle/>
          <a:p>
            <a:pPr marL="0" indent="0">
              <a:buNone/>
            </a:pPr>
            <a:r>
              <a:rPr lang="en-US" sz="1100" b="1" dirty="0">
                <a:solidFill>
                  <a:srgbClr val="64748B"/>
                </a:solidFill>
              </a:rPr>
              <a:t>EXAMPLE 1  ·  AUTONOMOUS CLASS</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A configuration setting drifts</a:t>
            </a:r>
            <a:endParaRPr lang="en-US" sz="1400" dirty="0"/>
          </a:p>
        </p:txBody>
      </p:sp>
      <p:sp>
        <p:nvSpPr>
          <p:cNvPr id="8" name="Ex1 list"/>
          <p:cNvSpPr txBox="1"/>
          <p:nvPr/>
        </p:nvSpPr>
        <p:spPr>
          <a:xfrm>
            <a:off x="731520" y="2386584"/>
            <a:ext cx="5166360" cy="2916936"/>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350" dirty="0">
                <a:solidFill>
                  <a:schemeClr val="tx2"/>
                </a:solidFill>
              </a:rPr>
              <a:t>Nightly run finds a sharing setting allowing anonymous links: deterministic, P3</a:t>
            </a:r>
            <a:endParaRPr lang="en-US" sz="1400" dirty="0"/>
          </a:p>
          <a:p>
            <a:pPr marL="342900" indent="-342900">
              <a:spcAft>
                <a:spcPts val="300"/>
              </a:spcAft>
              <a:buSzPct val="100000"/>
              <a:buFont typeface="+mj-lt"/>
              <a:buAutoNum type="arabicPeriod"/>
            </a:pPr>
            <a:r>
              <a:rPr lang="en-US" sz="1350" dirty="0">
                <a:solidFill>
                  <a:schemeClr val="tx2"/>
                </a:solidFill>
              </a:rPr>
              <a:t>The authorizing official has accepted this class (one setting, one tenant) as autonomous</a:t>
            </a:r>
            <a:endParaRPr lang="en-US" sz="1400" dirty="0"/>
          </a:p>
          <a:p>
            <a:pPr marL="342900" indent="-342900">
              <a:spcAft>
                <a:spcPts val="300"/>
              </a:spcAft>
              <a:buSzPct val="100000"/>
              <a:buFont typeface="+mj-lt"/>
              <a:buAutoNum type="arabicPeriod"/>
            </a:pPr>
            <a:r>
              <a:rPr lang="en-US" sz="1350" dirty="0">
                <a:solidFill>
                  <a:schemeClr val="tx2"/>
                </a:solidFill>
              </a:rPr>
              <a:t>Task FMP-DRIFT-0412 to the collaboration team, due in 24 hours</a:t>
            </a:r>
            <a:endParaRPr lang="en-US" sz="1400" dirty="0"/>
          </a:p>
          <a:p>
            <a:pPr marL="342900" indent="-342900">
              <a:spcAft>
                <a:spcPts val="300"/>
              </a:spcAft>
              <a:buSzPct val="100000"/>
              <a:buFont typeface="+mj-lt"/>
              <a:buAutoNum type="arabicPeriod"/>
            </a:pPr>
            <a:r>
              <a:rPr lang="en-US" sz="1350" dirty="0">
                <a:solidFill>
                  <a:schemeClr val="tx2"/>
                </a:solidFill>
              </a:rPr>
              <a:t>The service identity restores the baseline through the tenant's interface</a:t>
            </a:r>
            <a:endParaRPr lang="en-US" sz="1400" dirty="0"/>
          </a:p>
          <a:p>
            <a:pPr marL="342900" indent="-342900">
              <a:spcAft>
                <a:spcPts val="300"/>
              </a:spcAft>
              <a:buSzPct val="100000"/>
              <a:buFont typeface="+mj-lt"/>
              <a:buAutoNum type="arabicPeriod"/>
            </a:pPr>
            <a:r>
              <a:rPr lang="en-US" sz="1350" dirty="0">
                <a:solidFill>
                  <a:schemeClr val="tx2"/>
                </a:solidFill>
              </a:rPr>
              <a:t>A re-read confirms it; one record closes it. Without the class acceptance, step 4 waits for an approver</a:t>
            </a:r>
            <a:endParaRPr lang="en-US" sz="1400" dirty="0"/>
          </a:p>
          <a:p>
            <a:pPr marL="342900" indent="-342900">
              <a:spcAft>
                <a:spcPts val="300"/>
              </a:spcAft>
              <a:buSzPct val="100000"/>
              <a:buFont typeface="+mj-lt"/>
              <a:buAutoNum type="arabicPeriod"/>
            </a:pPr>
            <a:r>
              <a:rPr lang="en-US" sz="1350" dirty="0">
                <a:solidFill>
                  <a:schemeClr val="tx2"/>
                </a:solidFill>
              </a:rPr>
              <a:t>A repeat links to the first: a question for the steward, not another silent fix</a:t>
            </a:r>
            <a:endParaRPr lang="en-US" sz="1400" dirty="0"/>
          </a:p>
        </p:txBody>
      </p:sp>
      <p:sp>
        <p:nvSpPr>
          <p:cNvPr id="9" name="Ex2">
            <a:extLst>
              <a:ext uri="{C183D7F6-B498-43B3-948B-1728B52AA6E4}">
                <adec:decorative xmlns:adec="http://schemas.microsoft.com/office/drawing/2017/decorative" val="1"/>
              </a:ext>
            </a:extLst>
          </p:cNvPr>
          <p:cNvSpPr/>
          <p:nvPr/>
        </p:nvSpPr>
        <p:spPr>
          <a:xfrm>
            <a:off x="6172200" y="1627632"/>
            <a:ext cx="5486400" cy="3749040"/>
          </a:xfrm>
          <a:prstGeom prst="roundRect">
            <a:avLst>
              <a:gd name="adj" fmla="val 195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Ex2 head"/>
          <p:cNvSpPr txBox="1"/>
          <p:nvPr/>
        </p:nvSpPr>
        <p:spPr>
          <a:xfrm>
            <a:off x="6355080" y="1737360"/>
            <a:ext cx="5120640" cy="640080"/>
          </a:xfrm>
          <a:prstGeom prst="rect">
            <a:avLst/>
          </a:prstGeom>
          <a:noFill/>
          <a:ln/>
        </p:spPr>
        <p:txBody>
          <a:bodyPr wrap="square" lIns="0" tIns="0" rIns="0" bIns="0" rtlCol="0" anchor="t"/>
          <a:lstStyle/>
          <a:p>
            <a:pPr marL="0" indent="0">
              <a:buNone/>
            </a:pPr>
            <a:r>
              <a:rPr lang="en-US" sz="1100" b="1" dirty="0">
                <a:solidFill>
                  <a:srgbClr val="64748B"/>
                </a:solidFill>
              </a:rPr>
              <a:t>EXAMPLE 2  ·  GATED, THROUGH THE FIVE CLAUSES</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An access request</a:t>
            </a:r>
            <a:endParaRPr lang="en-US" sz="1400" dirty="0"/>
          </a:p>
        </p:txBody>
      </p:sp>
      <p:sp>
        <p:nvSpPr>
          <p:cNvPr id="11" name="Ex2 list"/>
          <p:cNvSpPr txBox="1"/>
          <p:nvPr/>
        </p:nvSpPr>
        <p:spPr>
          <a:xfrm>
            <a:off x="6355080" y="2386584"/>
            <a:ext cx="5166360" cy="2916936"/>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350" dirty="0">
                <a:solidFill>
                  <a:schemeClr val="tx2"/>
                </a:solidFill>
              </a:rPr>
              <a:t>A request for an admin role carries origin record REQ-2291: clause 1</a:t>
            </a:r>
            <a:endParaRPr lang="en-US" sz="1400" dirty="0"/>
          </a:p>
          <a:p>
            <a:pPr marL="342900" indent="-342900">
              <a:spcAft>
                <a:spcPts val="300"/>
              </a:spcAft>
              <a:buSzPct val="100000"/>
              <a:buFont typeface="+mj-lt"/>
              <a:buAutoNum type="arabicPeriod"/>
            </a:pPr>
            <a:r>
              <a:rPr lang="en-US" sz="1350" dirty="0">
                <a:solidFill>
                  <a:schemeClr val="tx2"/>
                </a:solidFill>
              </a:rPr>
              <a:t>The approver named for the role approves, and isn't the requester: clause 2</a:t>
            </a:r>
            <a:endParaRPr lang="en-US" sz="1400" dirty="0"/>
          </a:p>
          <a:p>
            <a:pPr marL="342900" indent="-342900">
              <a:spcAft>
                <a:spcPts val="300"/>
              </a:spcAft>
              <a:buSzPct val="100000"/>
              <a:buFont typeface="+mj-lt"/>
              <a:buAutoNum type="arabicPeriod"/>
            </a:pPr>
            <a:r>
              <a:rPr lang="en-US" sz="1350" dirty="0">
                <a:solidFill>
                  <a:schemeClr val="tx2"/>
                </a:solidFill>
              </a:rPr>
              <a:t>A one-hour role activates; the user's role is assigned eligible, not standing: clause 3</a:t>
            </a:r>
            <a:endParaRPr lang="en-US" sz="1400" dirty="0"/>
          </a:p>
          <a:p>
            <a:pPr marL="342900" indent="-342900">
              <a:spcAft>
                <a:spcPts val="300"/>
              </a:spcAft>
              <a:buSzPct val="100000"/>
              <a:buFont typeface="+mj-lt"/>
              <a:buAutoNum type="arabicPeriod"/>
            </a:pPr>
            <a:r>
              <a:rPr lang="en-US" sz="1350" dirty="0">
                <a:solidFill>
                  <a:schemeClr val="tx2"/>
                </a:solidFill>
              </a:rPr>
              <a:t>A re-read finds the eligible assignment and its end date: clause 4</a:t>
            </a:r>
            <a:endParaRPr lang="en-US" sz="1400" dirty="0"/>
          </a:p>
          <a:p>
            <a:pPr marL="342900" indent="-342900">
              <a:spcAft>
                <a:spcPts val="300"/>
              </a:spcAft>
              <a:buSzPct val="100000"/>
              <a:buFont typeface="+mj-lt"/>
              <a:buAutoNum type="arabicPeriod"/>
            </a:pPr>
            <a:r>
              <a:rPr lang="en-US" sz="1350" dirty="0">
                <a:solidFill>
                  <a:schemeClr val="tx2"/>
                </a:solidFill>
              </a:rPr>
              <a:t>One closure record flows into the evidence chain: clause 5</a:t>
            </a:r>
            <a:endParaRPr lang="en-US" sz="1400" dirty="0"/>
          </a:p>
          <a:p>
            <a:pPr marL="342900" indent="-342900">
              <a:spcAft>
                <a:spcPts val="300"/>
              </a:spcAft>
              <a:buSzPct val="100000"/>
              <a:buFont typeface="+mj-lt"/>
              <a:buAutoNum type="arabicPeriod"/>
            </a:pPr>
            <a:r>
              <a:rPr lang="en-US" sz="1350" dirty="0">
                <a:solidFill>
                  <a:schemeClr val="tx2"/>
                </a:solidFill>
              </a:rPr>
              <a:t>Self-approval would have been refused, and the refusal would be the record</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(Worked examples: Example 1 and Example 2); Book 04, Ch 09 (access review cycle). Illustrative.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EA73C8E-54EA-BDF9-CBA2-DAD124207D7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18002F1-963C-4B8C-A4F1-31CFC8A2DBC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40"/>
    </mc:Choice>
    <mc:Fallback>
      <p:transition spd="slow" advTm="39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Worked examples: an unknown issuer and no actuator yet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marL="0" indent="0">
              <a:buNone/>
            </a:pPr>
            <a:r>
              <a:rPr lang="en-US" sz="1100" b="1" dirty="0">
                <a:solidFill>
                  <a:srgbClr val="B45309"/>
                </a:solidFill>
              </a:rPr>
              <a:t>ILLUSTRATIVE  ·  NAMES, IDENTIFIERS AND TIMES ARE INVENTED</a:t>
            </a:r>
            <a:endParaRPr lang="en-US" sz="1100" dirty="0"/>
          </a:p>
        </p:txBody>
      </p:sp>
      <p:sp>
        <p:nvSpPr>
          <p:cNvPr id="6" name="Ex3">
            <a:extLst>
              <a:ext uri="{C183D7F6-B498-43B3-948B-1728B52AA6E4}">
                <adec:decorative xmlns:adec="http://schemas.microsoft.com/office/drawing/2017/decorative" val="1"/>
              </a:ext>
            </a:extLst>
          </p:cNvPr>
          <p:cNvSpPr/>
          <p:nvPr/>
        </p:nvSpPr>
        <p:spPr>
          <a:xfrm>
            <a:off x="548640" y="1627632"/>
            <a:ext cx="5486400" cy="3017520"/>
          </a:xfrm>
          <a:prstGeom prst="roundRect">
            <a:avLst>
              <a:gd name="adj" fmla="val 24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Ex3 head"/>
          <p:cNvSpPr txBox="1"/>
          <p:nvPr/>
        </p:nvSpPr>
        <p:spPr>
          <a:xfrm>
            <a:off x="731520" y="1737360"/>
            <a:ext cx="5120640" cy="640080"/>
          </a:xfrm>
          <a:prstGeom prst="rect">
            <a:avLst/>
          </a:prstGeom>
          <a:noFill/>
          <a:ln/>
        </p:spPr>
        <p:txBody>
          <a:bodyPr wrap="square" lIns="0" tIns="0" rIns="0" bIns="0" rtlCol="0" anchor="t"/>
          <a:lstStyle/>
          <a:p>
            <a:pPr marL="0" indent="0">
              <a:buNone/>
            </a:pPr>
            <a:r>
              <a:rPr lang="en-US" sz="1100" b="1" dirty="0">
                <a:solidFill>
                  <a:srgbClr val="64748B"/>
                </a:solidFill>
              </a:rPr>
              <a:t>EXAMPLE 3  ·  HUMAN DECISION, THEN GATED</a:t>
            </a:r>
            <a:endParaRPr lang="en-US" sz="1400" dirty="0"/>
          </a:p>
          <a:p>
            <a:pPr marL="0" indent="0">
              <a:buNone/>
            </a:pPr>
            <a:r>
              <a:rPr lang="en-US" sz="1550" b="1" dirty="0">
                <a:solidFill>
                  <a:srgbClr val="B45309"/>
                </a:solidFill>
                <a:latin typeface="Cambria" pitchFamily="34" charset="0"/>
                <a:ea typeface="Cambria" pitchFamily="34" charset="-122"/>
                <a:cs typeface="Cambria" pitchFamily="34" charset="-120"/>
              </a:rPr>
              <a:t>An unknown-issuer certificate</a:t>
            </a:r>
            <a:endParaRPr lang="en-US" sz="1400" dirty="0"/>
          </a:p>
        </p:txBody>
      </p:sp>
      <p:sp>
        <p:nvSpPr>
          <p:cNvPr id="8" name="Ex3 list"/>
          <p:cNvSpPr txBox="1"/>
          <p:nvPr/>
        </p:nvSpPr>
        <p:spPr>
          <a:xfrm>
            <a:off x="731520" y="2386584"/>
            <a:ext cx="5166360" cy="2185416"/>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300" dirty="0">
                <a:solidFill>
                  <a:schemeClr val="tx2"/>
                </a:solidFill>
              </a:rPr>
              <a:t>Inventory finds a certificate from a CA not on the approved list; anomalies raise tickets, renewals don't</a:t>
            </a:r>
            <a:endParaRPr lang="en-US" sz="1400" dirty="0"/>
          </a:p>
          <a:p>
            <a:pPr marL="342900" indent="-342900">
              <a:spcAft>
                <a:spcPts val="300"/>
              </a:spcAft>
              <a:buSzPct val="100000"/>
              <a:buFont typeface="+mj-lt"/>
              <a:buAutoNum type="arabicPeriod"/>
            </a:pPr>
            <a:r>
              <a:rPr lang="en-US" sz="1300" dirty="0">
                <a:solidFill>
                  <a:schemeClr val="tx2"/>
                </a:solidFill>
              </a:rPr>
              <a:t>Task FMP-PKI-0087 to the PKI owner, P2. No automatic fix: who depends on it is unknown</a:t>
            </a:r>
            <a:endParaRPr lang="en-US" sz="1400" dirty="0"/>
          </a:p>
          <a:p>
            <a:pPr marL="342900" indent="-342900">
              <a:spcAft>
                <a:spcPts val="300"/>
              </a:spcAft>
              <a:buSzPct val="100000"/>
              <a:buFont typeface="+mj-lt"/>
              <a:buAutoNum type="arabicPeriod"/>
            </a:pPr>
            <a:r>
              <a:rPr lang="en-US" sz="1300" dirty="0">
                <a:solidFill>
                  <a:schemeClr val="tx2"/>
                </a:solidFill>
              </a:rPr>
              <a:t>The PKI owner decides: replace through the approved issuer, deny-list the rogue CA</a:t>
            </a:r>
            <a:endParaRPr lang="en-US" sz="1400" dirty="0"/>
          </a:p>
          <a:p>
            <a:pPr marL="342900" indent="-342900">
              <a:spcAft>
                <a:spcPts val="300"/>
              </a:spcAft>
              <a:buSzPct val="100000"/>
              <a:buFont typeface="+mj-lt"/>
              <a:buAutoNum type="arabicPeriod"/>
            </a:pPr>
            <a:r>
              <a:rPr lang="en-US" sz="1300" dirty="0">
                <a:solidFill>
                  <a:schemeClr val="tx2"/>
                </a:solidFill>
              </a:rPr>
              <a:t>The gated lane runs it: the server's protocol client re-requests; a re-read confirms the chain</a:t>
            </a:r>
            <a:endParaRPr lang="en-US" sz="1400" dirty="0"/>
          </a:p>
        </p:txBody>
      </p:sp>
      <p:sp>
        <p:nvSpPr>
          <p:cNvPr id="9" name="Ex4">
            <a:extLst>
              <a:ext uri="{C183D7F6-B498-43B3-948B-1728B52AA6E4}">
                <adec:decorative xmlns:adec="http://schemas.microsoft.com/office/drawing/2017/decorative" val="1"/>
              </a:ext>
            </a:extLst>
          </p:cNvPr>
          <p:cNvSpPr/>
          <p:nvPr/>
        </p:nvSpPr>
        <p:spPr>
          <a:xfrm>
            <a:off x="6172200" y="1627632"/>
            <a:ext cx="5486400" cy="3017520"/>
          </a:xfrm>
          <a:prstGeom prst="roundRect">
            <a:avLst>
              <a:gd name="adj" fmla="val 24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Ex4 head"/>
          <p:cNvSpPr txBox="1"/>
          <p:nvPr/>
        </p:nvSpPr>
        <p:spPr>
          <a:xfrm>
            <a:off x="6355080" y="1737360"/>
            <a:ext cx="5120640" cy="640080"/>
          </a:xfrm>
          <a:prstGeom prst="rect">
            <a:avLst/>
          </a:prstGeom>
          <a:noFill/>
          <a:ln/>
        </p:spPr>
        <p:txBody>
          <a:bodyPr wrap="square" lIns="0" tIns="0" rIns="0" bIns="0" rtlCol="0" anchor="t"/>
          <a:lstStyle/>
          <a:p>
            <a:pPr marL="0" indent="0">
              <a:buNone/>
            </a:pPr>
            <a:r>
              <a:rPr lang="en-US" sz="1100" b="1" dirty="0">
                <a:solidFill>
                  <a:srgbClr val="64748B"/>
                </a:solidFill>
              </a:rPr>
              <a:t>EXAMPLE 4  ·  DECLARED EXCEPTION</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No actuator yet</a:t>
            </a:r>
            <a:endParaRPr lang="en-US" sz="1400" dirty="0"/>
          </a:p>
        </p:txBody>
      </p:sp>
      <p:sp>
        <p:nvSpPr>
          <p:cNvPr id="11" name="Ex4 list"/>
          <p:cNvSpPr txBox="1"/>
          <p:nvPr/>
        </p:nvSpPr>
        <p:spPr>
          <a:xfrm>
            <a:off x="6355080" y="2386584"/>
            <a:ext cx="5166360" cy="2185416"/>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300" dirty="0">
                <a:solidFill>
                  <a:schemeClr val="tx2"/>
                </a:solidFill>
              </a:rPr>
              <a:t>A finding names a legacy appliance managed only through an interactive console</a:t>
            </a:r>
            <a:endParaRPr lang="en-US" sz="1400" dirty="0"/>
          </a:p>
          <a:p>
            <a:pPr marL="342900" indent="-342900">
              <a:spcAft>
                <a:spcPts val="300"/>
              </a:spcAft>
              <a:buSzPct val="100000"/>
              <a:buFont typeface="+mj-lt"/>
              <a:buAutoNum type="arabicPeriod"/>
            </a:pPr>
            <a:r>
              <a:rPr lang="en-US" sz="1300" dirty="0">
                <a:solidFill>
                  <a:schemeClr val="tx2"/>
                </a:solidFill>
              </a:rPr>
              <a:t>The system owner approves: named engineer, two-hour window, recorded proxy session, daily config export as compensating control</a:t>
            </a:r>
            <a:endParaRPr lang="en-US" sz="1400" dirty="0"/>
          </a:p>
          <a:p>
            <a:pPr marL="342900" indent="-342900">
              <a:spcAft>
                <a:spcPts val="300"/>
              </a:spcAft>
              <a:buSzPct val="100000"/>
              <a:buFont typeface="+mj-lt"/>
              <a:buAutoNum type="arabicPeriod"/>
            </a:pPr>
            <a:r>
              <a:rPr lang="en-US" sz="1300" dirty="0">
                <a:solidFill>
                  <a:schemeClr val="tx2"/>
                </a:solidFill>
              </a:rPr>
              <a:t>An end date and a POA&amp;M item: build an actuator or retire the appliance</a:t>
            </a:r>
            <a:endParaRPr lang="en-US" sz="1400" dirty="0"/>
          </a:p>
          <a:p>
            <a:pPr marL="342900" indent="-342900">
              <a:spcAft>
                <a:spcPts val="300"/>
              </a:spcAft>
              <a:buSzPct val="100000"/>
              <a:buFont typeface="+mj-lt"/>
              <a:buAutoNum type="arabicPeriod"/>
            </a:pPr>
            <a:r>
              <a:rPr lang="en-US" sz="1300" dirty="0">
                <a:solidFill>
                  <a:schemeClr val="tx2"/>
                </a:solidFill>
              </a:rPr>
              <a:t>The change is made in session; a re-read of the export closes the task, recording attached</a:t>
            </a:r>
            <a:endParaRPr lang="en-US" sz="1400" dirty="0"/>
          </a:p>
        </p:txBody>
      </p:sp>
      <p:sp>
        <p:nvSpPr>
          <p:cNvPr id="12" name="Visible">
            <a:extLst>
              <a:ext uri="{C183D7F6-B498-43B3-948B-1728B52AA6E4}">
                <adec:decorative xmlns:adec="http://schemas.microsoft.com/office/drawing/2017/decorative" val="1"/>
              </a:ext>
            </a:extLst>
          </p:cNvPr>
          <p:cNvSpPr/>
          <p:nvPr/>
        </p:nvSpPr>
        <p:spPr>
          <a:xfrm>
            <a:off x="548640" y="484632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UserShield">
            <a:extLst>
              <a:ext uri="{C183D7F6-B498-43B3-948B-1728B52AA6E4}">
                <adec:decorative xmlns:adec="http://schemas.microsoft.com/office/drawing/2017/decorative" val="1"/>
              </a:ext>
            </a:extLst>
          </p:cNvPr>
          <p:cNvSpPr/>
          <p:nvPr/>
        </p:nvSpPr>
        <p:spPr>
          <a:xfrm>
            <a:off x="777240" y="4937760"/>
            <a:ext cx="685800" cy="685800"/>
          </a:xfrm>
          <a:prstGeom prst="ellipse">
            <a:avLst/>
          </a:prstGeom>
          <a:solidFill>
            <a:srgbClr val="B91C1C"/>
          </a:solidFill>
          <a:ln w="12700">
            <a:solidFill>
              <a:srgbClr val="B91C1C"/>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5102352"/>
            <a:ext cx="356616" cy="356616"/>
          </a:xfrm>
          <a:prstGeom prst="rect">
            <a:avLst/>
          </a:prstGeom>
        </p:spPr>
      </p:pic>
      <p:sp>
        <p:nvSpPr>
          <p:cNvPr id="15" name="Visible text"/>
          <p:cNvSpPr txBox="1"/>
          <p:nvPr/>
        </p:nvSpPr>
        <p:spPr>
          <a:xfrm>
            <a:off x="1737360" y="4892040"/>
            <a:ext cx="9738360" cy="777240"/>
          </a:xfrm>
          <a:prstGeom prst="rect">
            <a:avLst/>
          </a:prstGeom>
          <a:noFill/>
          <a:ln/>
        </p:spPr>
        <p:txBody>
          <a:bodyPr wrap="square" lIns="0" tIns="0" rIns="0" bIns="0" rtlCol="0" anchor="ctr"/>
          <a:lstStyle/>
          <a:p>
            <a:pPr marL="0" indent="0">
              <a:buNone/>
            </a:pPr>
            <a:r>
              <a:rPr lang="en-US" sz="1500" b="1" dirty="0">
                <a:solidFill>
                  <a:srgbClr val="B91C1C"/>
                </a:solidFill>
              </a:rPr>
              <a:t>Visible, approved first, temporary: </a:t>
            </a:r>
            <a:r>
              <a:rPr lang="en-US" sz="1500" dirty="0">
                <a:solidFill>
                  <a:schemeClr val="tx2"/>
                </a:solidFill>
              </a:rPr>
              <a:t>a silent console session for the same change would have produced none of that.</a:t>
            </a:r>
            <a:endParaRPr lang="en-US" sz="15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(Worked examples: Example 3 and Example 4); Chapter 10 (When no machine can reach the surface). Illustrative.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128112B8-7561-D638-C9DA-AC7CB21DEBF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8BD8FB-6C64-445E-9C0B-97C779E70C9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70"/>
    </mc:Choice>
    <mc:Fallback>
      <p:transition spd="slow" advTm="40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6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certificate exception: volume rules out a ticket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erts 1">
            <a:extLst>
              <a:ext uri="{C183D7F6-B498-43B3-948B-1728B52AA6E4}">
                <adec:decorative xmlns:adec="http://schemas.microsoft.com/office/drawing/2017/decorative" val="1"/>
              </a:ext>
            </a:extLst>
          </p:cNvPr>
          <p:cNvSpPr/>
          <p:nvPr/>
        </p:nvSpPr>
        <p:spPr>
          <a:xfrm>
            <a:off x="548640" y="1371600"/>
            <a:ext cx="2674620"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Certs 1 text"/>
          <p:cNvSpPr txBox="1"/>
          <p:nvPr/>
        </p:nvSpPr>
        <p:spPr>
          <a:xfrm>
            <a:off x="685800" y="1444752"/>
            <a:ext cx="2400300" cy="1106424"/>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398 → 47 days</a:t>
            </a:r>
            <a:endParaRPr lang="en-US" sz="1400" dirty="0"/>
          </a:p>
          <a:p>
            <a:pPr marL="0" indent="0">
              <a:buNone/>
            </a:pPr>
            <a:r>
              <a:rPr lang="en-US" sz="1250" dirty="0">
                <a:solidFill>
                  <a:schemeClr val="tx2"/>
                </a:solidFill>
              </a:rPr>
              <a:t>Maximum public TLS validity, in steps from March 2026 to March 2029</a:t>
            </a:r>
            <a:endParaRPr lang="en-US" sz="1400" dirty="0"/>
          </a:p>
        </p:txBody>
      </p:sp>
      <p:sp>
        <p:nvSpPr>
          <p:cNvPr id="7" name="Certs 2">
            <a:extLst>
              <a:ext uri="{C183D7F6-B498-43B3-948B-1728B52AA6E4}">
                <adec:decorative xmlns:adec="http://schemas.microsoft.com/office/drawing/2017/decorative" val="1"/>
              </a:ext>
            </a:extLst>
          </p:cNvPr>
          <p:cNvSpPr/>
          <p:nvPr/>
        </p:nvSpPr>
        <p:spPr>
          <a:xfrm>
            <a:off x="3360420" y="1371600"/>
            <a:ext cx="267462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Certs 2 text"/>
          <p:cNvSpPr txBox="1"/>
          <p:nvPr/>
        </p:nvSpPr>
        <p:spPr>
          <a:xfrm>
            <a:off x="3497580" y="1444752"/>
            <a:ext cx="2400300" cy="1106424"/>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ACME</a:t>
            </a:r>
            <a:endParaRPr lang="en-US" sz="1400" dirty="0"/>
          </a:p>
          <a:p>
            <a:pPr marL="0" indent="0">
              <a:buNone/>
            </a:pPr>
            <a:r>
              <a:rPr lang="en-US" sz="1250" dirty="0">
                <a:solidFill>
                  <a:schemeClr val="tx2"/>
                </a:solidFill>
              </a:rPr>
              <a:t>Automates issuance once a client proves control of a name, with no person in the loop</a:t>
            </a:r>
            <a:endParaRPr lang="en-US" sz="1400" dirty="0"/>
          </a:p>
        </p:txBody>
      </p:sp>
      <p:sp>
        <p:nvSpPr>
          <p:cNvPr id="9" name="Certs 3">
            <a:extLst>
              <a:ext uri="{C183D7F6-B498-43B3-948B-1728B52AA6E4}">
                <adec:decorative xmlns:adec="http://schemas.microsoft.com/office/drawing/2017/decorative" val="1"/>
              </a:ext>
            </a:extLst>
          </p:cNvPr>
          <p:cNvSpPr/>
          <p:nvPr/>
        </p:nvSpPr>
        <p:spPr>
          <a:xfrm>
            <a:off x="6172200" y="1371600"/>
            <a:ext cx="267462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Certs 3 text"/>
          <p:cNvSpPr txBox="1"/>
          <p:nvPr/>
        </p:nvSpPr>
        <p:spPr>
          <a:xfrm>
            <a:off x="6309360" y="1444752"/>
            <a:ext cx="2400300" cy="1106424"/>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CAA records</a:t>
            </a:r>
            <a:endParaRPr lang="en-US" sz="1400" dirty="0"/>
          </a:p>
          <a:p>
            <a:pPr marL="0" indent="0">
              <a:buNone/>
            </a:pPr>
            <a:r>
              <a:rPr lang="en-US" sz="1250" dirty="0">
                <a:solidFill>
                  <a:schemeClr val="tx2"/>
                </a:solidFill>
              </a:rPr>
              <a:t>A domain holder names the CAs allowed to issue, so part of the policy lives in DNS</a:t>
            </a:r>
            <a:endParaRPr lang="en-US" sz="1400" dirty="0"/>
          </a:p>
        </p:txBody>
      </p:sp>
      <p:sp>
        <p:nvSpPr>
          <p:cNvPr id="11" name="Certs 4">
            <a:extLst>
              <a:ext uri="{C183D7F6-B498-43B3-948B-1728B52AA6E4}">
                <adec:decorative xmlns:adec="http://schemas.microsoft.com/office/drawing/2017/decorative" val="1"/>
              </a:ext>
            </a:extLst>
          </p:cNvPr>
          <p:cNvSpPr/>
          <p:nvPr/>
        </p:nvSpPr>
        <p:spPr>
          <a:xfrm>
            <a:off x="8983980" y="1371600"/>
            <a:ext cx="267462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Certs 4 text"/>
          <p:cNvSpPr txBox="1"/>
          <p:nvPr/>
        </p:nvSpPr>
        <p:spPr>
          <a:xfrm>
            <a:off x="9121140" y="1444752"/>
            <a:ext cx="2400300" cy="1106424"/>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Short-lived</a:t>
            </a:r>
            <a:endParaRPr lang="en-US" sz="1400" dirty="0"/>
          </a:p>
          <a:p>
            <a:pPr marL="0" indent="0">
              <a:buNone/>
            </a:pPr>
            <a:r>
              <a:rPr lang="en-US" sz="1250" dirty="0">
                <a:solidFill>
                  <a:schemeClr val="tx2"/>
                </a:solidFill>
              </a:rPr>
              <a:t>Expiry, not revocation, becomes the normal end of a certificate's life</a:t>
            </a:r>
            <a:endParaRPr lang="en-US" sz="1400" dirty="0"/>
          </a:p>
        </p:txBody>
      </p:sp>
      <p:sp>
        <p:nvSpPr>
          <p:cNvPr id="13" name="Routine">
            <a:extLst>
              <a:ext uri="{C183D7F6-B498-43B3-948B-1728B52AA6E4}">
                <adec:decorative xmlns:adec="http://schemas.microsoft.com/office/drawing/2017/decorative" val="1"/>
              </a:ext>
            </a:extLst>
          </p:cNvPr>
          <p:cNvSpPr/>
          <p:nvPr/>
        </p:nvSpPr>
        <p:spPr>
          <a:xfrm>
            <a:off x="548640" y="2788920"/>
            <a:ext cx="5486400" cy="1965960"/>
          </a:xfrm>
          <a:prstGeom prst="roundRect">
            <a:avLst>
              <a:gd name="adj" fmla="val 37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4" name="Routine head"/>
          <p:cNvSpPr txBox="1"/>
          <p:nvPr/>
        </p:nvSpPr>
        <p:spPr>
          <a:xfrm>
            <a:off x="731520" y="28986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ROUTINE ISSUANCE AND RENEWAL</a:t>
            </a:r>
            <a:endParaRPr lang="en-US" sz="1400" dirty="0"/>
          </a:p>
          <a:p>
            <a:pPr marL="0" indent="0">
              <a:buNone/>
            </a:pPr>
            <a:r>
              <a:rPr lang="en-US" sz="1550" b="1" dirty="0">
                <a:solidFill>
                  <a:srgbClr val="0F766E"/>
                </a:solidFill>
                <a:latin typeface="Cambria" pitchFamily="34" charset="0"/>
                <a:ea typeface="Cambria" pitchFamily="34" charset="-122"/>
                <a:cs typeface="Cambria" pitchFamily="34" charset="-120"/>
              </a:rPr>
              <a:t>Protocol-enforced, engine-driven</a:t>
            </a:r>
            <a:endParaRPr lang="en-US" sz="1400" dirty="0"/>
          </a:p>
        </p:txBody>
      </p:sp>
      <p:sp>
        <p:nvSpPr>
          <p:cNvPr id="15" name="Routine list"/>
          <p:cNvSpPr txBox="1"/>
          <p:nvPr/>
        </p:nvSpPr>
        <p:spPr>
          <a:xfrm>
            <a:off x="731520" y="3547872"/>
            <a:ext cx="5166360" cy="113385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Intune profiles, AD CS autoenrollment and the CLM platform's drivers renew most certificates</a:t>
            </a:r>
            <a:endParaRPr lang="en-US" sz="1400" dirty="0"/>
          </a:p>
          <a:p>
            <a:pPr marL="342900" indent="-342900">
              <a:spcAft>
                <a:spcPts val="300"/>
              </a:spcAft>
              <a:buSzPct val="100000"/>
              <a:buChar char="•"/>
            </a:pPr>
            <a:r>
              <a:rPr lang="en-US" sz="1300" dirty="0">
                <a:solidFill>
                  <a:schemeClr val="tx2"/>
                </a:solidFill>
              </a:rPr>
              <a:t>ACME only where the endpoint supports it; no ticket per event</a:t>
            </a:r>
            <a:endParaRPr lang="en-US" sz="1400" dirty="0"/>
          </a:p>
        </p:txBody>
      </p:sp>
      <p:sp>
        <p:nvSpPr>
          <p:cNvPr id="16" name="Anomaly">
            <a:extLst>
              <a:ext uri="{C183D7F6-B498-43B3-948B-1728B52AA6E4}">
                <adec:decorative xmlns:adec="http://schemas.microsoft.com/office/drawing/2017/decorative" val="1"/>
              </a:ext>
            </a:extLst>
          </p:cNvPr>
          <p:cNvSpPr/>
          <p:nvPr/>
        </p:nvSpPr>
        <p:spPr>
          <a:xfrm>
            <a:off x="6172200" y="2788920"/>
            <a:ext cx="5486400" cy="1965960"/>
          </a:xfrm>
          <a:prstGeom prst="roundRect">
            <a:avLst>
              <a:gd name="adj" fmla="val 37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7" name="Anomaly head"/>
          <p:cNvSpPr txBox="1"/>
          <p:nvPr/>
        </p:nvSpPr>
        <p:spPr>
          <a:xfrm>
            <a:off x="6355080" y="28986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ANOMALIES STILL USE THE FRONT DOOR</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Rare, consequential, need a human</a:t>
            </a:r>
            <a:endParaRPr lang="en-US" sz="1400" dirty="0"/>
          </a:p>
        </p:txBody>
      </p:sp>
      <p:sp>
        <p:nvSpPr>
          <p:cNvPr id="18" name="Anomaly list"/>
          <p:cNvSpPr txBox="1"/>
          <p:nvPr/>
        </p:nvSpPr>
        <p:spPr>
          <a:xfrm>
            <a:off x="6355080" y="3547872"/>
            <a:ext cx="5166360" cy="113385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new issuing CA, a non-standard lifetime, a trust-anchor change</a:t>
            </a:r>
            <a:endParaRPr lang="en-US" sz="1400" dirty="0"/>
          </a:p>
          <a:p>
            <a:pPr marL="342900" indent="-342900">
              <a:spcAft>
                <a:spcPts val="300"/>
              </a:spcAft>
              <a:buSzPct val="100000"/>
              <a:buChar char="•"/>
            </a:pPr>
            <a:r>
              <a:rPr lang="en-US" sz="1300" dirty="0">
                <a:solidFill>
                  <a:schemeClr val="tx2"/>
                </a:solidFill>
              </a:rPr>
              <a:t>An unknown-issuer certificate, or issuance blocked by a CAA record</a:t>
            </a:r>
            <a:endParaRPr lang="en-US" sz="1400" dirty="0"/>
          </a:p>
        </p:txBody>
      </p:sp>
      <p:sp>
        <p:nvSpPr>
          <p:cNvPr id="19" name="Rubber stamp">
            <a:extLst>
              <a:ext uri="{C183D7F6-B498-43B3-948B-1728B52AA6E4}">
                <adec:decorative xmlns:adec="http://schemas.microsoft.com/office/drawing/2017/decorative" val="1"/>
              </a:ext>
            </a:extLst>
          </p:cNvPr>
          <p:cNvSpPr/>
          <p:nvPr/>
        </p:nvSpPr>
        <p:spPr>
          <a:xfrm>
            <a:off x="548640" y="4919472"/>
            <a:ext cx="11109960" cy="914400"/>
          </a:xfrm>
          <a:prstGeom prst="roundRect">
            <a:avLst>
              <a:gd name="adj" fmla="val 8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TriangleExclamation">
            <a:extLst>
              <a:ext uri="{C183D7F6-B498-43B3-948B-1728B52AA6E4}">
                <adec:decorative xmlns:adec="http://schemas.microsoft.com/office/drawing/2017/decorative" val="1"/>
              </a:ext>
            </a:extLst>
          </p:cNvPr>
          <p:cNvSpPr/>
          <p:nvPr/>
        </p:nvSpPr>
        <p:spPr>
          <a:xfrm>
            <a:off x="777240" y="5010912"/>
            <a:ext cx="731520" cy="731520"/>
          </a:xfrm>
          <a:prstGeom prst="ellipse">
            <a:avLst/>
          </a:prstGeom>
          <a:solidFill>
            <a:srgbClr val="B45309"/>
          </a:solidFill>
          <a:ln w="12700">
            <a:solidFill>
              <a:srgbClr val="B45309"/>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6477"/>
            <a:ext cx="380390" cy="380390"/>
          </a:xfrm>
          <a:prstGeom prst="rect">
            <a:avLst/>
          </a:prstGeom>
        </p:spPr>
      </p:pic>
      <p:sp>
        <p:nvSpPr>
          <p:cNvPr id="22" name="Rubber stamp text"/>
          <p:cNvSpPr txBox="1"/>
          <p:nvPr/>
        </p:nvSpPr>
        <p:spPr>
          <a:xfrm>
            <a:off x="1737360" y="4965192"/>
            <a:ext cx="9738360" cy="822960"/>
          </a:xfrm>
          <a:prstGeom prst="rect">
            <a:avLst/>
          </a:prstGeom>
          <a:noFill/>
          <a:ln/>
        </p:spPr>
        <p:txBody>
          <a:bodyPr wrap="square" lIns="0" tIns="0" rIns="0" bIns="0" rtlCol="0" anchor="ctr"/>
          <a:lstStyle/>
          <a:p>
            <a:pPr marL="0" indent="0">
              <a:buNone/>
            </a:pPr>
            <a:r>
              <a:rPr lang="en-US" sz="1500" b="1" dirty="0">
                <a:solidFill>
                  <a:srgbClr val="B45309"/>
                </a:solidFill>
              </a:rPr>
              <a:t>Why not ticket every renewal? </a:t>
            </a:r>
            <a:r>
              <a:rPr lang="en-US" sz="1500" dirty="0">
                <a:solidFill>
                  <a:schemeClr val="tx2"/>
                </a:solidFill>
              </a:rPr>
              <a:t>It wouldn't add rigor; it would train approvers to approve without reading.</a:t>
            </a:r>
            <a:endParaRPr lang="en-US" sz="150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 B (The certificate exception; Certificates and the CLM platform): CA/B Forum SC-081v3; RFC 8555; RFC 8659.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378D2058-4CC2-2AE2-AA75-32B3136EAB3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1DA7C1-6845-4A19-B1C5-1A3B2B77424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380"/>
    </mc:Choice>
    <mc:Fallback>
      <p:transition spd="slow" advTm="4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38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front door for detection tools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ource 1">
            <a:extLst>
              <a:ext uri="{C183D7F6-B498-43B3-948B-1728B52AA6E4}">
                <adec:decorative xmlns:adec="http://schemas.microsoft.com/office/drawing/2017/decorative" val="1"/>
              </a:ext>
            </a:extLst>
          </p:cNvPr>
          <p:cNvSpPr/>
          <p:nvPr/>
        </p:nvSpPr>
        <p:spPr>
          <a:xfrm>
            <a:off x="548640" y="1417320"/>
            <a:ext cx="320040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ource 1 text"/>
          <p:cNvSpPr txBox="1"/>
          <p:nvPr/>
        </p:nvSpPr>
        <p:spPr>
          <a:xfrm>
            <a:off x="658368" y="1417320"/>
            <a:ext cx="2980944" cy="566928"/>
          </a:xfrm>
          <a:prstGeom prst="rect">
            <a:avLst/>
          </a:prstGeom>
          <a:noFill/>
          <a:ln/>
        </p:spPr>
        <p:txBody>
          <a:bodyPr wrap="square" lIns="0" tIns="0" rIns="0" bIns="0" rtlCol="0" anchor="ctr"/>
          <a:lstStyle/>
          <a:p>
            <a:pPr marL="0" indent="0">
              <a:buNone/>
            </a:pPr>
            <a:r>
              <a:rPr lang="en-US" sz="1250" b="1" dirty="0">
                <a:solidFill>
                  <a:srgbClr val="1F2A44"/>
                </a:solidFill>
              </a:rPr>
              <a:t>Native cloud posture engines</a:t>
            </a:r>
            <a:endParaRPr lang="en-US" sz="1250" dirty="0"/>
          </a:p>
        </p:txBody>
      </p:sp>
      <p:sp>
        <p:nvSpPr>
          <p:cNvPr id="7" name="Feed arrow 1">
            <a:extLst>
              <a:ext uri="{C183D7F6-B498-43B3-948B-1728B52AA6E4}">
                <adec:decorative xmlns:adec="http://schemas.microsoft.com/office/drawing/2017/decorative" val="1"/>
              </a:ext>
            </a:extLst>
          </p:cNvPr>
          <p:cNvSpPr/>
          <p:nvPr/>
        </p:nvSpPr>
        <p:spPr>
          <a:xfrm>
            <a:off x="3840480" y="1600200"/>
            <a:ext cx="274320" cy="201168"/>
          </a:xfrm>
          <a:prstGeom prst="rightArrow">
            <a:avLst/>
          </a:prstGeom>
          <a:solidFill>
            <a:srgbClr val="64748B"/>
          </a:solidFill>
          <a:ln w="12700">
            <a:solidFill>
              <a:srgbClr val="64748B"/>
            </a:solidFill>
            <a:prstDash val="solid"/>
          </a:ln>
        </p:spPr>
      </p:sp>
      <p:sp>
        <p:nvSpPr>
          <p:cNvPr id="8" name="Source 2">
            <a:extLst>
              <a:ext uri="{C183D7F6-B498-43B3-948B-1728B52AA6E4}">
                <adec:decorative xmlns:adec="http://schemas.microsoft.com/office/drawing/2017/decorative" val="1"/>
              </a:ext>
            </a:extLst>
          </p:cNvPr>
          <p:cNvSpPr/>
          <p:nvPr/>
        </p:nvSpPr>
        <p:spPr>
          <a:xfrm>
            <a:off x="548640" y="2093976"/>
            <a:ext cx="320040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ource 2 text"/>
          <p:cNvSpPr txBox="1"/>
          <p:nvPr/>
        </p:nvSpPr>
        <p:spPr>
          <a:xfrm>
            <a:off x="658368" y="2093976"/>
            <a:ext cx="2980944" cy="566928"/>
          </a:xfrm>
          <a:prstGeom prst="rect">
            <a:avLst/>
          </a:prstGeom>
          <a:noFill/>
          <a:ln/>
        </p:spPr>
        <p:txBody>
          <a:bodyPr wrap="square" lIns="0" tIns="0" rIns="0" bIns="0" rtlCol="0" anchor="ctr"/>
          <a:lstStyle/>
          <a:p>
            <a:pPr marL="0" indent="0">
              <a:buNone/>
            </a:pPr>
            <a:r>
              <a:rPr lang="en-US" sz="1250" b="1" dirty="0">
                <a:solidFill>
                  <a:srgbClr val="1F2A44"/>
                </a:solidFill>
              </a:rPr>
              <a:t>Vulnerability scanners</a:t>
            </a:r>
            <a:endParaRPr lang="en-US" sz="1250" dirty="0"/>
          </a:p>
        </p:txBody>
      </p:sp>
      <p:sp>
        <p:nvSpPr>
          <p:cNvPr id="10" name="Feed arrow 2">
            <a:extLst>
              <a:ext uri="{C183D7F6-B498-43B3-948B-1728B52AA6E4}">
                <adec:decorative xmlns:adec="http://schemas.microsoft.com/office/drawing/2017/decorative" val="1"/>
              </a:ext>
            </a:extLst>
          </p:cNvPr>
          <p:cNvSpPr/>
          <p:nvPr/>
        </p:nvSpPr>
        <p:spPr>
          <a:xfrm>
            <a:off x="3840480" y="2276856"/>
            <a:ext cx="274320" cy="201168"/>
          </a:xfrm>
          <a:prstGeom prst="rightArrow">
            <a:avLst/>
          </a:prstGeom>
          <a:solidFill>
            <a:srgbClr val="64748B"/>
          </a:solidFill>
          <a:ln w="12700">
            <a:solidFill>
              <a:srgbClr val="64748B"/>
            </a:solidFill>
            <a:prstDash val="solid"/>
          </a:ln>
        </p:spPr>
      </p:sp>
      <p:sp>
        <p:nvSpPr>
          <p:cNvPr id="11" name="Source 3">
            <a:extLst>
              <a:ext uri="{C183D7F6-B498-43B3-948B-1728B52AA6E4}">
                <adec:decorative xmlns:adec="http://schemas.microsoft.com/office/drawing/2017/decorative" val="1"/>
              </a:ext>
            </a:extLst>
          </p:cNvPr>
          <p:cNvSpPr/>
          <p:nvPr/>
        </p:nvSpPr>
        <p:spPr>
          <a:xfrm>
            <a:off x="548640" y="2770632"/>
            <a:ext cx="320040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ource 3 text"/>
          <p:cNvSpPr txBox="1"/>
          <p:nvPr/>
        </p:nvSpPr>
        <p:spPr>
          <a:xfrm>
            <a:off x="658368" y="2770632"/>
            <a:ext cx="2980944" cy="566928"/>
          </a:xfrm>
          <a:prstGeom prst="rect">
            <a:avLst/>
          </a:prstGeom>
          <a:noFill/>
          <a:ln/>
        </p:spPr>
        <p:txBody>
          <a:bodyPr wrap="square" lIns="0" tIns="0" rIns="0" bIns="0" rtlCol="0" anchor="ctr"/>
          <a:lstStyle/>
          <a:p>
            <a:pPr marL="0" indent="0">
              <a:buNone/>
            </a:pPr>
            <a:r>
              <a:rPr lang="en-US" sz="1250" b="1" dirty="0">
                <a:solidFill>
                  <a:srgbClr val="1F2A44"/>
                </a:solidFill>
              </a:rPr>
              <a:t>Cloud entitlement-management tools</a:t>
            </a:r>
            <a:endParaRPr lang="en-US" sz="1250" dirty="0"/>
          </a:p>
        </p:txBody>
      </p:sp>
      <p:sp>
        <p:nvSpPr>
          <p:cNvPr id="13" name="Feed arrow 3">
            <a:extLst>
              <a:ext uri="{C183D7F6-B498-43B3-948B-1728B52AA6E4}">
                <adec:decorative xmlns:adec="http://schemas.microsoft.com/office/drawing/2017/decorative" val="1"/>
              </a:ext>
            </a:extLst>
          </p:cNvPr>
          <p:cNvSpPr/>
          <p:nvPr/>
        </p:nvSpPr>
        <p:spPr>
          <a:xfrm>
            <a:off x="3840480" y="2953512"/>
            <a:ext cx="274320" cy="201168"/>
          </a:xfrm>
          <a:prstGeom prst="rightArrow">
            <a:avLst/>
          </a:prstGeom>
          <a:solidFill>
            <a:srgbClr val="64748B"/>
          </a:solidFill>
          <a:ln w="12700">
            <a:solidFill>
              <a:srgbClr val="64748B"/>
            </a:solidFill>
            <a:prstDash val="solid"/>
          </a:ln>
        </p:spPr>
      </p:sp>
      <p:sp>
        <p:nvSpPr>
          <p:cNvPr id="14" name="Source 4">
            <a:extLst>
              <a:ext uri="{C183D7F6-B498-43B3-948B-1728B52AA6E4}">
                <adec:decorative xmlns:adec="http://schemas.microsoft.com/office/drawing/2017/decorative" val="1"/>
              </a:ext>
            </a:extLst>
          </p:cNvPr>
          <p:cNvSpPr/>
          <p:nvPr/>
        </p:nvSpPr>
        <p:spPr>
          <a:xfrm>
            <a:off x="548640" y="3447288"/>
            <a:ext cx="320040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Source 4 text"/>
          <p:cNvSpPr txBox="1"/>
          <p:nvPr/>
        </p:nvSpPr>
        <p:spPr>
          <a:xfrm>
            <a:off x="658368" y="3447288"/>
            <a:ext cx="2980944" cy="566928"/>
          </a:xfrm>
          <a:prstGeom prst="rect">
            <a:avLst/>
          </a:prstGeom>
          <a:noFill/>
          <a:ln/>
        </p:spPr>
        <p:txBody>
          <a:bodyPr wrap="square" lIns="0" tIns="0" rIns="0" bIns="0" rtlCol="0" anchor="ctr"/>
          <a:lstStyle/>
          <a:p>
            <a:pPr marL="0" indent="0">
              <a:buNone/>
            </a:pPr>
            <a:r>
              <a:rPr lang="en-US" sz="1250" b="1" dirty="0">
                <a:solidFill>
                  <a:srgbClr val="1F2A44"/>
                </a:solidFill>
              </a:rPr>
              <a:t>Certificate inventories</a:t>
            </a:r>
            <a:endParaRPr lang="en-US" sz="1250" dirty="0"/>
          </a:p>
        </p:txBody>
      </p:sp>
      <p:sp>
        <p:nvSpPr>
          <p:cNvPr id="16" name="Feed arrow 4">
            <a:extLst>
              <a:ext uri="{C183D7F6-B498-43B3-948B-1728B52AA6E4}">
                <adec:decorative xmlns:adec="http://schemas.microsoft.com/office/drawing/2017/decorative" val="1"/>
              </a:ext>
            </a:extLst>
          </p:cNvPr>
          <p:cNvSpPr/>
          <p:nvPr/>
        </p:nvSpPr>
        <p:spPr>
          <a:xfrm>
            <a:off x="3840480" y="3630168"/>
            <a:ext cx="274320" cy="201168"/>
          </a:xfrm>
          <a:prstGeom prst="rightArrow">
            <a:avLst/>
          </a:prstGeom>
          <a:solidFill>
            <a:srgbClr val="64748B"/>
          </a:solidFill>
          <a:ln w="12700">
            <a:solidFill>
              <a:srgbClr val="64748B"/>
            </a:solidFill>
            <a:prstDash val="solid"/>
          </a:ln>
        </p:spPr>
      </p:sp>
      <p:sp>
        <p:nvSpPr>
          <p:cNvPr id="17" name="Source 5">
            <a:extLst>
              <a:ext uri="{C183D7F6-B498-43B3-948B-1728B52AA6E4}">
                <adec:decorative xmlns:adec="http://schemas.microsoft.com/office/drawing/2017/decorative" val="1"/>
              </a:ext>
            </a:extLst>
          </p:cNvPr>
          <p:cNvSpPr/>
          <p:nvPr/>
        </p:nvSpPr>
        <p:spPr>
          <a:xfrm>
            <a:off x="548640" y="4123944"/>
            <a:ext cx="3200400" cy="566928"/>
          </a:xfrm>
          <a:prstGeom prst="roundRect">
            <a:avLst>
              <a:gd name="adj" fmla="val 1290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Source 5 text"/>
          <p:cNvSpPr txBox="1"/>
          <p:nvPr/>
        </p:nvSpPr>
        <p:spPr>
          <a:xfrm>
            <a:off x="658368" y="4123944"/>
            <a:ext cx="2980944" cy="566928"/>
          </a:xfrm>
          <a:prstGeom prst="rect">
            <a:avLst/>
          </a:prstGeom>
          <a:noFill/>
          <a:ln/>
        </p:spPr>
        <p:txBody>
          <a:bodyPr wrap="square" lIns="0" tIns="0" rIns="0" bIns="0" rtlCol="0" anchor="ctr"/>
          <a:lstStyle/>
          <a:p>
            <a:pPr marL="0" indent="0">
              <a:buNone/>
            </a:pPr>
            <a:r>
              <a:rPr lang="en-US" sz="1250" b="1" dirty="0">
                <a:solidFill>
                  <a:srgbClr val="0F766E"/>
                </a:solidFill>
              </a:rPr>
              <a:t>Identity governance front end (requests, recertifications)</a:t>
            </a:r>
            <a:endParaRPr lang="en-US" sz="1250" dirty="0"/>
          </a:p>
        </p:txBody>
      </p:sp>
      <p:sp>
        <p:nvSpPr>
          <p:cNvPr id="19" name="Feed arrow 5">
            <a:extLst>
              <a:ext uri="{C183D7F6-B498-43B3-948B-1728B52AA6E4}">
                <adec:decorative xmlns:adec="http://schemas.microsoft.com/office/drawing/2017/decorative" val="1"/>
              </a:ext>
            </a:extLst>
          </p:cNvPr>
          <p:cNvSpPr/>
          <p:nvPr/>
        </p:nvSpPr>
        <p:spPr>
          <a:xfrm>
            <a:off x="3840480" y="4306824"/>
            <a:ext cx="274320" cy="201168"/>
          </a:xfrm>
          <a:prstGeom prst="rightArrow">
            <a:avLst/>
          </a:prstGeom>
          <a:solidFill>
            <a:srgbClr val="64748B"/>
          </a:solidFill>
          <a:ln w="12700">
            <a:solidFill>
              <a:srgbClr val="64748B"/>
            </a:solidFill>
            <a:prstDash val="solid"/>
          </a:ln>
        </p:spPr>
      </p:sp>
      <p:sp>
        <p:nvSpPr>
          <p:cNvPr id="20" name="Front door">
            <a:extLst>
              <a:ext uri="{C183D7F6-B498-43B3-948B-1728B52AA6E4}">
                <adec:decorative xmlns:adec="http://schemas.microsoft.com/office/drawing/2017/decorative" val="1"/>
              </a:ext>
            </a:extLst>
          </p:cNvPr>
          <p:cNvSpPr/>
          <p:nvPr/>
        </p:nvSpPr>
        <p:spPr>
          <a:xfrm>
            <a:off x="4206240" y="1417320"/>
            <a:ext cx="3017520" cy="3273552"/>
          </a:xfrm>
          <a:prstGeom prst="roundRect">
            <a:avLst>
              <a:gd name="adj" fmla="val 24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1" name="Front door text"/>
          <p:cNvSpPr txBox="1"/>
          <p:nvPr/>
        </p:nvSpPr>
        <p:spPr>
          <a:xfrm>
            <a:off x="4343400" y="1554480"/>
            <a:ext cx="2743200" cy="2999232"/>
          </a:xfrm>
          <a:prstGeom prst="rect">
            <a:avLst/>
          </a:prstGeom>
          <a:noFill/>
          <a:ln/>
        </p:spPr>
        <p:txBody>
          <a:bodyPr wrap="square" lIns="0" tIns="0" rIns="0" bIns="0" rtlCol="0" anchor="ctr"/>
          <a:lstStyle/>
          <a:p>
            <a:pPr marL="0" indent="0">
              <a:spcAft>
                <a:spcPts val="400"/>
              </a:spcAft>
              <a:buNone/>
            </a:pPr>
            <a:r>
              <a:rPr lang="en-US" sz="1600" b="1" dirty="0">
                <a:solidFill>
                  <a:srgbClr val="B45309"/>
                </a:solidFill>
                <a:latin typeface="Cambria" pitchFamily="34" charset="0"/>
                <a:ea typeface="Cambria" pitchFamily="34" charset="-122"/>
                <a:cs typeface="Cambria" pitchFamily="34" charset="-120"/>
              </a:rPr>
              <a:t>One coordination layer</a:t>
            </a:r>
            <a:endParaRPr lang="en-US" sz="1300" dirty="0"/>
          </a:p>
          <a:p>
            <a:pPr marL="342900" indent="-342900">
              <a:spcAft>
                <a:spcPts val="400"/>
              </a:spcAft>
              <a:buSzPct val="100000"/>
              <a:buChar char="•"/>
            </a:pPr>
            <a:r>
              <a:rPr lang="en-US" sz="1300" dirty="0">
                <a:solidFill>
                  <a:schemeClr val="tx2"/>
                </a:solidFill>
              </a:rPr>
              <a:t>The same queue and the same five clauses for every source</a:t>
            </a:r>
            <a:endParaRPr lang="en-US" sz="1300" dirty="0"/>
          </a:p>
          <a:p>
            <a:pPr marL="342900" indent="-342900">
              <a:spcAft>
                <a:spcPts val="400"/>
              </a:spcAft>
              <a:buSzPct val="100000"/>
              <a:buChar char="•"/>
            </a:pPr>
            <a:r>
              <a:rPr lang="en-US" sz="1300" dirty="0">
                <a:solidFill>
                  <a:schemeClr val="tx2"/>
                </a:solidFill>
              </a:rPr>
              <a:t>Correlated to the same request identifiers</a:t>
            </a:r>
            <a:endParaRPr lang="en-US" sz="1300" dirty="0"/>
          </a:p>
          <a:p>
            <a:pPr marL="342900" indent="-342900">
              <a:spcAft>
                <a:spcPts val="400"/>
              </a:spcAft>
              <a:buSzPct val="100000"/>
              <a:buChar char="•"/>
            </a:pPr>
            <a:r>
              <a:rPr lang="en-US" sz="1300" dirty="0">
                <a:solidFill>
                  <a:schemeClr val="tx2"/>
                </a:solidFill>
              </a:rPr>
              <a:t>Closure written back from the record</a:t>
            </a:r>
            <a:endParaRPr lang="en-US" sz="1300" dirty="0"/>
          </a:p>
        </p:txBody>
      </p:sp>
      <p:sp>
        <p:nvSpPr>
          <p:cNvPr id="22" name="Coverage">
            <a:extLst>
              <a:ext uri="{C183D7F6-B498-43B3-948B-1728B52AA6E4}">
                <adec:decorative xmlns:adec="http://schemas.microsoft.com/office/drawing/2017/decorative" val="1"/>
              </a:ext>
            </a:extLst>
          </p:cNvPr>
          <p:cNvSpPr/>
          <p:nvPr/>
        </p:nvSpPr>
        <p:spPr>
          <a:xfrm>
            <a:off x="7360920" y="1417320"/>
            <a:ext cx="4297680" cy="1568196"/>
          </a:xfrm>
          <a:prstGeom prst="roundRect">
            <a:avLst>
              <a:gd name="adj" fmla="val 466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3" name="Coverage head"/>
          <p:cNvSpPr txBox="1"/>
          <p:nvPr/>
        </p:nvSpPr>
        <p:spPr>
          <a:xfrm>
            <a:off x="7543800" y="1527048"/>
            <a:ext cx="3931920" cy="640080"/>
          </a:xfrm>
          <a:prstGeom prst="rect">
            <a:avLst/>
          </a:prstGeom>
          <a:noFill/>
          <a:ln/>
        </p:spPr>
        <p:txBody>
          <a:bodyPr wrap="square" lIns="0" tIns="0" rIns="0" bIns="0" rtlCol="0" anchor="t"/>
          <a:lstStyle/>
          <a:p>
            <a:pPr marL="0" indent="0">
              <a:buNone/>
            </a:pPr>
            <a:r>
              <a:rPr lang="en-US" sz="1100" b="1" dirty="0">
                <a:solidFill>
                  <a:srgbClr val="64748B"/>
                </a:solidFill>
              </a:rPr>
              <a:t>CAUTION 1</a:t>
            </a:r>
            <a:endParaRPr lang="en-US" sz="1400" dirty="0"/>
          </a:p>
          <a:p>
            <a:pPr marL="0" indent="0">
              <a:buNone/>
            </a:pPr>
            <a:r>
              <a:rPr lang="en-US" sz="1550" b="1" dirty="0">
                <a:solidFill>
                  <a:srgbClr val="B91C1C"/>
                </a:solidFill>
                <a:latin typeface="Cambria" pitchFamily="34" charset="0"/>
                <a:ea typeface="Cambria" pitchFamily="34" charset="-122"/>
                <a:cs typeface="Cambria" pitchFamily="34" charset="-120"/>
              </a:rPr>
              <a:t>Check actual platform coverage</a:t>
            </a:r>
            <a:endParaRPr lang="en-US" sz="1400" dirty="0"/>
          </a:p>
        </p:txBody>
      </p:sp>
      <p:sp>
        <p:nvSpPr>
          <p:cNvPr id="24" name="Coverage list"/>
          <p:cNvSpPr txBox="1"/>
          <p:nvPr/>
        </p:nvSpPr>
        <p:spPr>
          <a:xfrm>
            <a:off x="7543800" y="2176272"/>
            <a:ext cx="3977640" cy="736092"/>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On-premises virtualization was the gap that recurred across tool categories; treat it as open</a:t>
            </a:r>
            <a:endParaRPr lang="en-US" sz="1400" dirty="0"/>
          </a:p>
        </p:txBody>
      </p:sp>
      <p:sp>
        <p:nvSpPr>
          <p:cNvPr id="25" name="Alternatives">
            <a:extLst>
              <a:ext uri="{C183D7F6-B498-43B3-948B-1728B52AA6E4}">
                <adec:decorative xmlns:adec="http://schemas.microsoft.com/office/drawing/2017/decorative" val="1"/>
              </a:ext>
            </a:extLst>
          </p:cNvPr>
          <p:cNvSpPr/>
          <p:nvPr/>
        </p:nvSpPr>
        <p:spPr>
          <a:xfrm>
            <a:off x="7360920" y="3122676"/>
            <a:ext cx="4297680" cy="1568196"/>
          </a:xfrm>
          <a:prstGeom prst="roundRect">
            <a:avLst>
              <a:gd name="adj" fmla="val 466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6" name="Alternatives head"/>
          <p:cNvSpPr txBox="1"/>
          <p:nvPr/>
        </p:nvSpPr>
        <p:spPr>
          <a:xfrm>
            <a:off x="7543800" y="3232404"/>
            <a:ext cx="3931920" cy="640080"/>
          </a:xfrm>
          <a:prstGeom prst="rect">
            <a:avLst/>
          </a:prstGeom>
          <a:noFill/>
          <a:ln/>
        </p:spPr>
        <p:txBody>
          <a:bodyPr wrap="square" lIns="0" tIns="0" rIns="0" bIns="0" rtlCol="0" anchor="t"/>
          <a:lstStyle/>
          <a:p>
            <a:pPr marL="0" indent="0">
              <a:buNone/>
            </a:pPr>
            <a:r>
              <a:rPr lang="en-US" sz="1100" b="1" dirty="0">
                <a:solidFill>
                  <a:srgbClr val="64748B"/>
                </a:solidFill>
              </a:rPr>
              <a:t>CAUTION 2</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Alternatives don't change the rule</a:t>
            </a:r>
            <a:endParaRPr lang="en-US" sz="1400" dirty="0"/>
          </a:p>
        </p:txBody>
      </p:sp>
      <p:sp>
        <p:nvSpPr>
          <p:cNvPr id="27" name="Alternatives list"/>
          <p:cNvSpPr txBox="1"/>
          <p:nvPr/>
        </p:nvSpPr>
        <p:spPr>
          <a:xfrm>
            <a:off x="7543800" y="3881628"/>
            <a:ext cx="3977640" cy="736092"/>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 multi-cloud posture engine, or a platform that builds the package: do a build-or-buy look first</a:t>
            </a:r>
            <a:endParaRPr lang="en-US" sz="1400" dirty="0"/>
          </a:p>
        </p:txBody>
      </p:sp>
      <p:sp>
        <p:nvSpPr>
          <p:cNvPr id="28" name="Rule">
            <a:extLst>
              <a:ext uri="{C183D7F6-B498-43B3-948B-1728B52AA6E4}">
                <adec:decorative xmlns:adec="http://schemas.microsoft.com/office/drawing/2017/decorative" val="1"/>
              </a:ext>
            </a:extLst>
          </p:cNvPr>
          <p:cNvSpPr/>
          <p:nvPr/>
        </p:nvSpPr>
        <p:spPr>
          <a:xfrm>
            <a:off x="548640" y="4873752"/>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9" name="Icon FaDoorOpen">
            <a:extLst>
              <a:ext uri="{C183D7F6-B498-43B3-948B-1728B52AA6E4}">
                <adec:decorative xmlns:adec="http://schemas.microsoft.com/office/drawing/2017/decorative" val="1"/>
              </a:ext>
            </a:extLst>
          </p:cNvPr>
          <p:cNvSpPr/>
          <p:nvPr/>
        </p:nvSpPr>
        <p:spPr>
          <a:xfrm>
            <a:off x="777240" y="4965192"/>
            <a:ext cx="685800" cy="685800"/>
          </a:xfrm>
          <a:prstGeom prst="ellipse">
            <a:avLst/>
          </a:prstGeom>
          <a:solidFill>
            <a:srgbClr val="B45309"/>
          </a:solidFill>
          <a:ln w="12700">
            <a:solidFill>
              <a:srgbClr val="B45309"/>
            </a:solidFill>
            <a:prstDash val="solid"/>
          </a:ln>
        </p:spPr>
      </p:sp>
      <p:pic>
        <p:nvPicPr>
          <p:cNvPr id="3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5129784"/>
            <a:ext cx="356616" cy="356616"/>
          </a:xfrm>
          <a:prstGeom prst="rect">
            <a:avLst/>
          </a:prstGeom>
        </p:spPr>
      </p:pic>
      <p:sp>
        <p:nvSpPr>
          <p:cNvPr id="31" name="Rule text"/>
          <p:cNvSpPr txBox="1"/>
          <p:nvPr/>
        </p:nvSpPr>
        <p:spPr>
          <a:xfrm>
            <a:off x="1737360" y="4919472"/>
            <a:ext cx="9738360" cy="777240"/>
          </a:xfrm>
          <a:prstGeom prst="rect">
            <a:avLst/>
          </a:prstGeom>
          <a:noFill/>
          <a:ln/>
        </p:spPr>
        <p:txBody>
          <a:bodyPr wrap="square" lIns="0" tIns="0" rIns="0" bIns="0" rtlCol="0" anchor="ctr"/>
          <a:lstStyle/>
          <a:p>
            <a:pPr marL="0" indent="0">
              <a:buNone/>
            </a:pPr>
            <a:r>
              <a:rPr lang="en-US" sz="1500" b="1" dirty="0">
                <a:solidFill>
                  <a:srgbClr val="B45309"/>
                </a:solidFill>
              </a:rPr>
              <a:t>Each tool is a detection engine, </a:t>
            </a:r>
            <a:r>
              <a:rPr lang="en-US" sz="1500" dirty="0">
                <a:solidFill>
                  <a:schemeClr val="tx2"/>
                </a:solidFill>
              </a:rPr>
              <a:t>not a second coordination layer of its own. Detection engines feed the front door; they don't each grow a queue.</a:t>
            </a:r>
            <a:endParaRPr lang="en-US" sz="1500" dirty="0"/>
          </a:p>
        </p:txBody>
      </p:sp>
      <p:sp>
        <p:nvSpPr>
          <p:cNvPr id="3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(One front door for detection tools); Chapter 10 (How the service desk fits); Book 10, Ch 07 (the front door).</a:t>
            </a:r>
            <a:endParaRPr lang="en-US" sz="10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4" name="Narration" descr="Narration for this slide; captions available">
            <a:hlinkClick r:id="" action="ppaction://media"/>
            <a:extLst>
              <a:ext uri="{FF2B5EF4-FFF2-40B4-BE49-F238E27FC236}">
                <a16:creationId xmlns:a16="http://schemas.microsoft.com/office/drawing/2014/main" id="{839FA22D-07CE-1717-DB82-1B53B82ECC2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8C3CC3-7760-46F9-B7FE-D9F7C573F4B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40"/>
    </mc:Choice>
    <mc:Fallback>
      <p:transition spd="slow" advTm="42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36"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Failure modes from a reference implementation review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7" name="Failu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Failure mode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went wrong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fix, as a design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Origin not enforced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Request identifiers were accepted without resolving, so a caller with no lineage record could invoke the chain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Clause 1 resolves the origin or refuses; a negative test proves the refusal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Command injection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Parameter names were rendered unescaped into a script for the on-premises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 build commands by string; escape or allow-list every name and 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Target substitution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Caller input merged over defaults could override the intended 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Fix the target from the authorized record; caller input can't override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Cleartext secret in a queue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password crossed a work queue in plain text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Secrets never travel in task payloads; use a vault reference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post-state re-read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leg treated a successful dispatch as closure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Clause 4 re-reads on every leg; a success code is not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Test mode skipped the risky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test short-circuited before the vulnerable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Test mode refuses on production; negative tests run the real path with hostile input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tarting point">
            <a:extLst>
              <a:ext uri="{C183D7F6-B498-43B3-948B-1728B52AA6E4}">
                <adec:decorative xmlns:adec="http://schemas.microsoft.com/office/drawing/2017/decorative" val="1"/>
              </a:ext>
            </a:extLst>
          </p:cNvPr>
          <p:cNvSpPr/>
          <p:nvPr/>
        </p:nvSpPr>
        <p:spPr>
          <a:xfrm>
            <a:off x="548640" y="4864608"/>
            <a:ext cx="11109960" cy="914400"/>
          </a:xfrm>
          <a:prstGeom prst="roundRect">
            <a:avLst>
              <a:gd name="adj" fmla="val 8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777240" y="4956048"/>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1613"/>
            <a:ext cx="380390" cy="380390"/>
          </a:xfrm>
          <a:prstGeom prst="rect">
            <a:avLst/>
          </a:prstGeom>
        </p:spPr>
      </p:pic>
      <p:sp>
        <p:nvSpPr>
          <p:cNvPr id="9" name="Starting point text"/>
          <p:cNvSpPr txBox="1"/>
          <p:nvPr/>
        </p:nvSpPr>
        <p:spPr>
          <a:xfrm>
            <a:off x="1737360" y="4910328"/>
            <a:ext cx="9738360" cy="822960"/>
          </a:xfrm>
          <a:prstGeom prst="rect">
            <a:avLst/>
          </a:prstGeom>
          <a:noFill/>
          <a:ln/>
        </p:spPr>
        <p:txBody>
          <a:bodyPr wrap="square" lIns="0" tIns="0" rIns="0" bIns="0" rtlCol="0" anchor="ctr"/>
          <a:lstStyle/>
          <a:p>
            <a:pPr marL="0" indent="0">
              <a:buNone/>
            </a:pPr>
            <a:r>
              <a:rPr lang="en-US" sz="1450" b="1" dirty="0">
                <a:solidFill>
                  <a:srgbClr val="1F2A44"/>
                </a:solidFill>
              </a:rPr>
              <a:t>Tests prove only what they test: </a:t>
            </a:r>
            <a:r>
              <a:rPr lang="en-US" sz="1450" dirty="0">
                <a:solidFill>
                  <a:schemeClr val="tx2"/>
                </a:solidFill>
              </a:rPr>
              <a:t>negative tests and build-time gates prove specific refusals and mappings. The reference build is a starting point, not evidence.</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(Failure modes found in a reference implementation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1742150-972A-603D-A763-34016A994E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8BCEC2-F16D-45FD-94BC-BBB7F3EA724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20"/>
    </mc:Choice>
    <mc:Fallback>
      <p:transition spd="slow" advTm="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decide, and where to read next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cide">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ecide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DECISIONS THE REFERENCE LEAVES TO THE AGENCY</a:t>
            </a:r>
            <a:endParaRPr lang="en-US" sz="1400" dirty="0"/>
          </a:p>
          <a:p>
            <a:pPr marL="0" indent="0">
              <a:buNone/>
            </a:pPr>
            <a:r>
              <a:rPr lang="en-US" sz="1550" b="1" dirty="0">
                <a:solidFill>
                  <a:srgbClr val="1F2A44"/>
                </a:solidFill>
                <a:latin typeface="Cambria" pitchFamily="34" charset="0"/>
                <a:ea typeface="Cambria" pitchFamily="34" charset="-122"/>
                <a:cs typeface="Cambria" pitchFamily="34" charset="-120"/>
              </a:rPr>
              <a:t>What to decide</a:t>
            </a:r>
            <a:endParaRPr lang="en-US" sz="1400" dirty="0"/>
          </a:p>
        </p:txBody>
      </p:sp>
      <p:sp>
        <p:nvSpPr>
          <p:cNvPr id="7" name="Decide list"/>
          <p:cNvSpPr txBox="1"/>
          <p:nvPr/>
        </p:nvSpPr>
        <p:spPr>
          <a:xfrm>
            <a:off x="731520" y="2130552"/>
            <a:ext cx="5166360" cy="245973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Which classes the authorizing official accepts as autonomous, with scope, exclusions and review rate</a:t>
            </a:r>
            <a:endParaRPr lang="en-US" sz="1400" dirty="0"/>
          </a:p>
          <a:p>
            <a:pPr marL="342900" indent="-342900">
              <a:spcAft>
                <a:spcPts val="300"/>
              </a:spcAft>
              <a:buSzPct val="100000"/>
              <a:buChar char="•"/>
            </a:pPr>
            <a:r>
              <a:rPr lang="en-US" sz="1300" dirty="0">
                <a:solidFill>
                  <a:schemeClr val="tx2"/>
                </a:solidFill>
              </a:rPr>
              <a:t>Who the escalation roles are: steward, workstream leads, the CISO's representative</a:t>
            </a:r>
            <a:endParaRPr lang="en-US" sz="1400" dirty="0"/>
          </a:p>
          <a:p>
            <a:pPr marL="342900" indent="-342900">
              <a:spcAft>
                <a:spcPts val="300"/>
              </a:spcAft>
              <a:buSzPct val="100000"/>
              <a:buChar char="•"/>
            </a:pPr>
            <a:r>
              <a:rPr lang="en-US" sz="1300" dirty="0">
                <a:solidFill>
                  <a:schemeClr val="tx2"/>
                </a:solidFill>
              </a:rPr>
              <a:t>The class-to-lane assignment in the agency's own record, changed only by review</a:t>
            </a:r>
            <a:endParaRPr lang="en-US" sz="1400" dirty="0"/>
          </a:p>
          <a:p>
            <a:pPr marL="342900" indent="-342900">
              <a:spcAft>
                <a:spcPts val="300"/>
              </a:spcAft>
              <a:buSzPct val="100000"/>
              <a:buChar char="•"/>
            </a:pPr>
            <a:r>
              <a:rPr lang="en-US" sz="1300" dirty="0">
                <a:solidFill>
                  <a:schemeClr val="tx2"/>
                </a:solidFill>
              </a:rPr>
              <a:t>Targets for the five leadership measures, reviewed by the board</a:t>
            </a:r>
            <a:endParaRPr lang="en-US" sz="1400" dirty="0"/>
          </a:p>
          <a:p>
            <a:pPr marL="342900" indent="-342900">
              <a:spcAft>
                <a:spcPts val="300"/>
              </a:spcAft>
              <a:buSzPct val="100000"/>
              <a:buChar char="•"/>
            </a:pPr>
            <a:r>
              <a:rPr lang="en-US" sz="1300" dirty="0">
                <a:solidFill>
                  <a:schemeClr val="tx2"/>
                </a:solidFill>
              </a:rPr>
              <a:t>An end date for every declared exception: an actuator, or retirement</a:t>
            </a:r>
            <a:endParaRPr lang="en-US" sz="1400" dirty="0"/>
          </a:p>
        </p:txBody>
      </p:sp>
      <p:graphicFrame>
        <p:nvGraphicFramePr>
          <p:cNvPr id="18" name="Next"/>
          <p:cNvGraphicFramePr>
            <a:graphicFrameLocks noGrp="1"/>
          </p:cNvGraphicFramePr>
          <p:nvPr>
            <p:extLst>
              <p:ext uri="{D42A27DB-BD31-4B8C-83A1-F6EECF244321}">
                <p14:modId xmlns:p14="http://schemas.microsoft.com/office/powerpoint/2010/main" val="1579011935"/>
              </p:ext>
            </p:extLst>
          </p:nvPr>
        </p:nvGraphicFramePr>
        <p:xfrm>
          <a:off x="6172200" y="1371600"/>
          <a:ext cx="553212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Read next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13, Chapter 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argument: tempo, the six tests, approval gates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13, Chapter 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drift engine and severity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13, Chapter 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Protecting and signing the evidence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13, Appendix 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control-by-control mapping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01, Chapter 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actuation ladder and the permanent-gated list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07, Chapter 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certificate lifecycle and tooling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Epigraph">
            <a:extLst>
              <a:ext uri="{C183D7F6-B498-43B3-948B-1728B52AA6E4}">
                <adec:decorative xmlns:adec="http://schemas.microsoft.com/office/drawing/2017/decorative" val="1"/>
              </a:ext>
            </a:extLst>
          </p:cNvPr>
          <p:cNvSpPr/>
          <p:nvPr/>
        </p:nvSpPr>
        <p:spPr>
          <a:xfrm>
            <a:off x="548640" y="4892040"/>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2" name="Epigraph text"/>
          <p:cNvSpPr txBox="1"/>
          <p:nvPr/>
        </p:nvSpPr>
        <p:spPr>
          <a:xfrm>
            <a:off x="1737360" y="4937760"/>
            <a:ext cx="9738360" cy="822960"/>
          </a:xfrm>
          <a:prstGeom prst="rect">
            <a:avLst/>
          </a:prstGeom>
          <a:noFill/>
          <a:ln/>
        </p:spPr>
        <p:txBody>
          <a:bodyPr wrap="square" lIns="0" tIns="0" rIns="0" bIns="0" rtlCol="0" anchor="ctr"/>
          <a:lstStyle/>
          <a:p>
            <a:pPr marL="0" indent="0">
              <a:buNone/>
            </a:pPr>
            <a:r>
              <a:rPr lang="en-US" sz="1500" b="1" dirty="0">
                <a:solidFill>
                  <a:srgbClr val="0F766E"/>
                </a:solidFill>
              </a:rPr>
              <a:t>The test for every ticket: </a:t>
            </a:r>
            <a:r>
              <a:rPr lang="en-US" sz="1500" dirty="0">
                <a:solidFill>
                  <a:schemeClr val="tx2"/>
                </a:solidFill>
              </a:rPr>
              <a:t>it is evidence only when it authorized something that then ran, and a re-read proved the result.</a:t>
            </a:r>
            <a:endParaRPr lang="en-US" sz="15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Appendix B and Chapter 10 (Approval gates; What the tempo shows leadership; Honest limits); Chapter 09 (who governs).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89768142-88AE-7AD5-3568-76A8C8E986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4E3437-085A-4045-8C67-2CEE8AABE45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30"/>
    </mc:Choice>
    <mc:Fallback>
      <p:transition spd="slow" advTm="3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2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11872</Words>
  <Application>Microsoft Office PowerPoint</Application>
  <PresentationFormat>Widescreen</PresentationFormat>
  <Paragraphs>466</Paragraphs>
  <Slides>17</Slides>
  <Notes>17</Notes>
  <HiddenSlides>0</HiddenSlides>
  <MMClips>17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Federal Modernization Workbook</vt:lpstr>
      <vt:lpstr>Book 13 — Ticket-to-Machine Reference</vt:lpstr>
      <vt:lpstr>A ticket is evidence only when a re-read proves it</vt:lpstr>
      <vt:lpstr>The coordination loop: five steps, native surfaces</vt:lpstr>
      <vt:lpstr>The five-clause request chain</vt:lpstr>
      <vt:lpstr>Five lanes: who approves, what runs, what it proves</vt:lpstr>
      <vt:lpstr>Change classes to lanes: drift, patching and access</vt:lpstr>
      <vt:lpstr>Change classes to lanes: big changes, records, exceptions</vt:lpstr>
      <vt:lpstr>Drift classes and their default lanes</vt:lpstr>
      <vt:lpstr>Severity and tempo: four windows</vt:lpstr>
      <vt:lpstr>What the tempo shows leadership: five measures</vt:lpstr>
      <vt:lpstr>The evidence record: one shape for every lane</vt:lpstr>
      <vt:lpstr>Worked examples: a drifted setting and an access request</vt:lpstr>
      <vt:lpstr>Worked examples: an unknown issuer and no actuator yet</vt:lpstr>
      <vt:lpstr>The certificate exception: volume rules out a ticket</vt:lpstr>
      <vt:lpstr>One front door for detection tools</vt:lpstr>
      <vt:lpstr>Failure modes from a reference implementation review</vt:lpstr>
      <vt:lpstr>What to decide, and where to read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Ticket-to-Machine Reference</dc:title>
  <dc:subject>PptxGenJS Presentation</dc:subject>
  <dc:creator>Michael F. Stratton</dc:creator>
  <cp:lastModifiedBy>Michael F. Stratton</cp:lastModifiedBy>
  <cp:revision>2</cp:revision>
  <dcterms:created xsi:type="dcterms:W3CDTF">2026-10-24T10:07:55Z</dcterms:created>
  <dcterms:modified xsi:type="dcterms:W3CDTF">2026-10-29T13:31:49Z</dcterms:modified>
</cp:coreProperties>
</file>