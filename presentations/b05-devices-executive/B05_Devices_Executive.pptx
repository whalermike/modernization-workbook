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Group Policy can't come to the cloud" id="{ebc7e964-2821-0a8b-2226-e421e052ec23}">
          <p14:sldIdLst>
            <p14:sldId id="256"/>
            <p14:sldId id="257"/>
            <p14:sldId id="258"/>
            <p14:sldId id="259"/>
            <p14:sldId id="260"/>
            <p14:sldId id="261"/>
            <p14:sldId id="262"/>
          </p14:sldIdLst>
        </p14:section>
        <p14:section name="What a governed device requires" id="{8660ad41-ff4b-8792-118b-58f39c0983db}">
          <p14:sldIdLst>
            <p14:sldId id="263"/>
            <p14:sldId id="264"/>
            <p14:sldId id="265"/>
            <p14:sldId id="266"/>
            <p14:sldId id="267"/>
          </p14:sldIdLst>
        </p14:section>
        <p14:section name="Who owns the endpoint" id="{d6c1f62c-c120-782e-5911-5616a075884e}">
          <p14:sldIdLst>
            <p14:sldId id="268"/>
            <p14:sldId id="269"/>
          </p14:sldIdLst>
        </p14:section>
        <p14:section name="How to sunset, migrate and evidence it" id="{290e2965-4ad8-7f30-8b4c-2275f096b618}">
          <p14:sldIdLst>
            <p14:sldId id="270"/>
            <p14:sldId id="271"/>
            <p14:sldId id="272"/>
            <p14:sldId id="273"/>
            <p14:sldId id="274"/>
            <p14:sldId id="275"/>
            <p14:sldId id="276"/>
          </p14:sldIdLst>
        </p14:section>
        <p14:section name="Backup" id="{72b2c83c-d165-6055-6a2b-4ced8e6fad36}">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[0:00–1:37]  This is the executive briefing for Book 05 of the Federal Modernization Workbook, Devices and Endpoints. It runs about thirty minutes, for the people who decide how the fleet moves: the CIO, the CISO, the endpoint program lead and the program's sponsors.
The argument fits in three sentences. For twenty years Group Policy governed devices by their position in the directory, and that position quietly did the targeting, precedence, delegation, timing and evidence; none of it exists in the cloud, so each job has to be rebuilt on purpose. Hybrid join looks like progress but is a waypoint, not an end state. And servers take a different road, through Azure Arc, because Intune doesn't manage Windows Server.
I'll take four questions: why Group Policy can't come to the cloud; what a governed device requires; who owns the endpoint; and how to sunset Group Policy, bring servers under Arc, and run and evidence the fleet.
Two labels run through the deck, as they do through the book. The doctrine, the pillars, the phases and their durations, the rings and the exception rules are program design: a starting posture and planning estimates, not federal requirements. And product statements and dates are as the book checked them, on October 20, 2026.
Every decision slide names the decision, its owner and when it's needed, and the last slide gathers them into one table.
Workbook: Book 05, index; Chapter 01 — Why Group Policy Can't Come to the Cloud (The Why in five sentences); Chapter 02 — The Hybrid Join Trap (What this chapter establishes); Chapter 09 — Servers Under Azure Arc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[1:37–3:35]  First, where this book sits. The series moves four populations of identity to the cloud, each on its own track with its own source of truth, and Book 05 carries two of them: the Intune track for end-user devices, and the Arc track for servers.
The Intune track's attributes come from device provisioning: the Autopilot registration and its group tag, Intune enrollment, and writes by the device provisioning service to the Entra device object's extension attributes. They don't come from HR, and a dynamic device rule can read only device attributes, never the attributes of the device's owner. Dynamic device groups, assignment filters, compliance and Conditional Access device filters read them. As program design guidance, the track is done when every managed device carries attributes written by provisioning, its policy is targeted by them, and computer-side GPO links are disabled population by population, with rollback tested.
The Arc track's attributes are the tags and resource group applied when a server is onboarded with the Connected Machine agent, then Azure Policy. Machine configuration, Update Manager scoping, Defender for Servers and Azure RBAC read them. It's done when every in-scope server is Arc-enabled with its tag taxonomy applied and its baseline assigned and evaluated by Azure Policy.
Group Policy splits the same way. User-configuration settings move with people, to user-targeted Intune policy and Conditional Access, which is Book 03's HR track and Book 04. Computer-configuration settings move with devices, to Intune device policy, and with servers, to Azure Policy and machine configuration.
The evidence supports SP 800-53 CM-2, CM-6, CM-7, CM-8 and SI-2, which Chapter 10 maps, and Book 01's Appendix A ties device inventory and the device signal to M-22-09.
Workbook: Book 05, Chapter 03 (one source per device fact; not the primary user's department); Chapter 04 (group tags); Chapter 07 (unlink one population at a time); Chapter 08 (attribute targeting, assignment filters); Chapter 09 (tags, Azure Policy, Update Manager, Defender for Servers); Chapter 10 (CM-2, CM-6, CM-7, CM-8, SI-2). The attribute-driven migration guide (device rules can't read the owner's attributes; user settings to user groups). Book 01, Appendix A (M-22-09 §III.A–B; SA-22). Success criteria are program design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[3:35–5:27]  Why this matters: an inventory that covers only Windows isn't an inventory, and the federal inventory control asks for every component.
Intune isn't only for Microsoft platforms. It manages Windows 11, Windows 365 Cloud PCs and Azure Virtual Desktop, the last with limits; macOS, iOS and iPadOS through Apple Business Manager; Android Enterprise in its work-profile, fully managed and dedicated modes; and Ubuntu and Red Hat desktops, where management is compliance. ChromeOS shows up in Intune as inventory with remote actions, but enrollment and policy stay in the Google Admin console.
Azure Arc reaches servers wherever they run: Windows Server 2016 to 2025 and the supported Linux distributions, physical or on any hypervisor; VMware vSphere VMs through Arc-enabled vSphere and vCenter; and AWS EC2 and Google Cloud VMs, with the agent or the multicloud connector, which covers AWS, has GCP in preview and isn't available in Azure Government. Azure VMs don't take Arc at all; Microsoft says they already have the same capabilities. AIX, Solaris, mainframe operating systems, network devices, printers and IoT are on neither list.
So every class of device goes in one of four tiers, as program design guidance. One: managed by Intune or Arc, the default. Two: managed by the platform's own tool, with an evidence feed and the CMDB as the attribute source. Three: discovered and monitored only, through Defender device discovery, network access control and CISA's CDM feeds. Four: segmented and isolated, or retired, with a risk acceptance and a date. That's how the inventory meets CM-8: every component, none counted twice. A device in no tier is a finding.
Workbook: Book 05, Chapter 03 (Which end-user devices Intune covers; What Intune and Arc don't reach, the four tiers, CM-8); Chapter 09 (Which servers Arc reaches); Chapter 10 (CM-8). Platform facts as Microsoft Learn documented them on October 29, 2026. The tiers are program design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[5:27–7:04]  For more than two decades, a Windows device joined to Active Directory got its configuration from Group Policy, and nobody had to design the governance model, because it came with the directory. A computer object sat in an organizational unit (OU), Group Policy Objects were linked to that OU and its parents, and the device applied them in a fixed order at startup and every 90 minutes after. Ask why a machine has a setting, and the answer was its position in the tree.
Microsoft's planning guidance says it plainly: traditional Group Policy enforcement isn't possible with cloud-native endpoints. An Entra-joined device has no computer object in an OU, no domain controller and no SYSVOL share.
The figure shows the difference. Group Policy resolved overlapping settings by position: the closest container won, and enforced links overrode. Intune has no hierarchy. Policies are assigned flatly to groups, two configuration policies that disagree produce a reported conflict where the setting may not apply at all, and devices check in about every eight hours rather than every ninety minutes.
So Group Policy was never only a settings engine; it was a governance model derived from one structure. Intune can deliver most of the settings. What it can't deliver by default is the governance around them, and that has to be rebuilt deliberately, starting with an attribute model that groups and filters derive from.
Workbook: Book 05, Chapter 01 — Why Group Policy Can't Come to the Cloud (Governance that came free with the domain; What Group Policy did implicitly; There is no tree to sit in; The governance gaps this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[7:04–8:44]  The tempting middle ground is to run both: keep the GPOs and add Intune. A hybrid-joined device can take policy from either, or both, and Microsoft notes that adds overhead and complexity. It also adds precedence rules nobody sees.
Since Windows 10 version 1709, when Group Policy and MDM configure the same policy, Group Policy wins. A setting called MDMWinsOverGP reverses that, but only for policies in the Policy CSP. For settings defined elsewhere, Defender for example, Microsoft warns of a race condition with no guarantee which one wins. Windows Hello for Business shouldn't be configured through both at all. And between two Intune policies, "last writer wins" is simply wrong: the conflict is reported and the setting may not apply.
Microsoft's on-ramp, Group Policy analytics, imports GPO exports and shows how many settings have an MDM equivalent. It measures the gap; it doesn't close it. Figures like "30 to 60 percent mappable" circulate, but Microsoft publishes no such number; the answer depends on the agency's own GPOs. And Microsoft's own guidance argues against translating at all: identify the mandatory settings, compare them with MDM, and treat the gaps as blockers. The book calls that regenerate, not copy.
So the practical rule: every overlapping setting is written down before Intune policy reaches production, and the GPO copy has a retirement date. Retiring a Group Policy setting is the endpoint engineering lead's decision, with the CISO consulted.
Workbook: Book 05, Chapter 01 (Group Policy analytics measures the gap; Running both is not a safe middle ground; What this chapter establishes, 4); Chapter 06 — Who Owns the Endpoint (responsibility matrix: Group Policy setting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[8:44–10:27]  A common Zero Trust control reads, in full, "all sign-in activity comes from managed devices." It's satisfied by a Conditional Access policy that grants access only from a compliant or hybrid-joined device. Assessments score it as a multi-quarter program. But converting a domain-joined Windows fleet to hybrid join is, mechanically, close to a single switch: extend the sync scope to the computer objects, publish one service connection point per forest, and every device registers itself on its own schedule. There's no per-device approval, no ownership check, and no check of where the device sits. The book's position is that this effortlessness is the hazard.
Microsoft's guidance has two halves. New, refurbished or reset Windows devices should be Entra joined by default; hybrid join for new devices is typically not recommended. Existing domain-joined devices can take hybrid join with minimal user impact, but Microsoft says it shouldn't be long term or the end goal.
Two facts make it sticky. There's no supported way to convert a hybrid-joined device to Entra join without resetting Windows, so the move belongs at a refresh, an upgrade or a rebuild. And hybrid-joined devices still need periodic line of sight to a domain controller; without it, password changes and TPM resets break.
So the waypoint needs an exit. Every hybrid-joined device carries a target of Entra join and a trigger event. The sponsor and CIO decide the domain-unjoin waves, because unjoining ends the fallback every other team relies on.
Workbook: Book 05, Chapter 02 — The Hybrid Join Trap (A program that turns out to be a switch; How the fleet converts itself; What Microsoft recommends now; The governed path, 8); Chapter 06 — Who Owns the Endpoint (The roles: sponsor and CIO; responsibility matrix: domain-unjoin wave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[10:27–12:09]  Classic Active Directory was a creaky governance system, but it was one. Done as an ungoverned switch, hybrid join keeps the runtime benefit, single sign-on and Conditional Access eligibility, and quietly spends the governance underneath. It also splits one machine's truth across three systems: Active Directory holds the computer object, Entra ID the device object, and Intune the compliance state, and nothing reconciles them by default.
The ledger on the left is what goes. New device objects appear with no owner or position. Duplicate and phantom records accumulate. Enforcing "compliant or hybrid joined" before registration finishes locks users out, which is why Microsoft's own template starts in report-only. Thousands of state changes happen with no attributable record. And retired machines linger, inflating the managed count; deleting a device object also deletes its BitLocker recovery keys.
And even a flawless rollout doesn't cover the control's real population. Hybrid join applies to domain-joined Windows only. macOS, iOS, Android and Linux need their own enrollment; personal and contractor devices are never hybrid joinable; servers, kiosks and virtual desktops each need a posture decision; and domain controllers and Server Core can't register at all.
The book's governed path reaches the same end state with each wave planned, dry-run, approved by a person and evidenced. Two owners hold it: the endpoint engineering lead makes each wave's go or no-go, and the CISO decides how Conditional Access uses compliance state, which runs in report-only until coverage is measured.
Workbook: Book 05, Chapter 02 — The Hybrid Join Trap (The loss ledger; What hybrid join never covers; The governed path); Chapter 06 (responsibility matrix: pilot and wave go/no-go; Conditional Access use of compliance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[12:09–13:52]  In an Active Directory estate, a computer had one record that mattered. After modernization the same laptop is described by a procurement record, an Autopilot registration, an Entra ID device object, an Intune record and a Defender entry, and a server adds an Azure Arc resource. Each is maintained by a different service on a different schedule, and most can be edited by someone. That's manageable only if the program decides, fact by fact, where the truth lives.
The table is that decision. Procurement and the asset record own the business facts: ownership, purpose and the organizational assignment, which is checked against the organizational registry. Microsoft's services own the technical state: Entra ID the device's identity and join type, Intune enrollment and compliance, Defender threat and exposure. And for servers, Azure Arc is the management authority in its own right, not a copy of Intune, because Intune doesn't support Windows Server.
Two rules carry the model, both program design. No device carries an empty governance attribute once it's enrolled; if nothing can supply one, it carries an explicit "unpositioned" marker. And every derived value, a tag, a group membership, a device category, must be explainable from its origin. If it can't be traced back, it's drift, and it's corrected at the origin, not at the copy.
The second rule breaks most often, when someone edits a category or a tag in the portal to fix a report. Catching that is the drift loop's job.
Workbook: Book 05, Chapter 03 — Where Device and Server Data Lives (opening; The rule; Which system owns which fact; How the records correlate; What this chapter establishes).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[13:52–15:38]  For net-new devices the book's doctrine is Intune-first. A laptop just unboxed, a phone just issued or a server just racked is governed from the moment it first powers on: by Intune for endpoints, and by Azure Arc for servers. There's no intermediate state where it joins Active Directory and waits for a future migration, is provisioned by Configuration Manager and co-managed later, runs without an organizational assignment, or enters production without a compliance check. Migration brings an existing device under governance; Intune-first refuses the existence of an ungoverned one. It's also where Microsoft points new hardware.
The doctrine exists because, without it, new purchases followed an implicit pattern: the organizational assignment was missed at procurement, platforms were handled inconsistently, and co-management crept in because it was convenient. Each one was a future migration ticket and a present compliance gap.
The five pillars on the right are program doctrine, not Microsoft requirements. The one that changes most is the second: procurement is the first governance step. The organizational assignment is set when the purchase order is issued, and procurement systems feed the governance pipeline the way HR systems feed user provisioning. The figure shows the five phases, from procure and pre-stage through position and provision to validate, with a failure at any gate sending the device to quarantine. The program's target is 14 calendar days from purchase order to production-governed.
The sponsor and CIO, who set scope, make the call: from the next purchase order, no new device takes the old path.
Workbook: Book 05, Chapter 04 — Intune-First Onboarding (Scope; What Intune-first means; Why the doctrine exists; The five pillars; Where the organizational assignment comes from; The five-phase process); Chapter 06 (The roles: sponsor and 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[15:38–17:23]  Device compliance is where device governance meets access. Intune's compliance policies decide whether a device is compliant; Conditional Access, which Book 04 owns, decides what a noncompliant device can reach. This book's half of the hand-off is making the signal accurate, and the grant works only for devices registered in Entra ID and enrolled in Intune.
Three settings decide whether the signal fails open or closed. The tenant default marks a device with no compliance policy as compliant; the program sets it to not compliant, as Microsoft recommends whenever compliance feeds Conditional Access, so a device that falls outside every group can't pass by default. The validity period, 30 days by default, becomes 14, so a device left in a drawer loses access before its posture is a whole patch cycle stale. And the grace period on each policy's noncompliance action, zero to 365 days, sets how long a failing device keeps access. That's a risk decision, not a technical one.
A new device's baseline is BitLocker, Secure Boot, TPM, firewall, current antivirus and a minimum OS version, starting from Microsoft's security baselines. On Tier 0 workstations the program also requires a Defender machine risk score, so a detection becomes a loss of access. In a GCC tenant, which uses the commercial Intune service, the default for standard hardware is classic Autopilot with Entra join, because its registration carries the procurement attribute.
The CISO decides the compliance rules and the grace period, before compliance feeds Conditional Access.
Workbook: Book 05, Chapter 10 — Operating and Evidencing the Fleet (Compliance and the Conditional Access hand-off; Tenant-wide compliance settings; Reading compliance status; Defender risk as a compliance signal); Chapter 04 (Which one, in a GCC tenant; The compliance and configuration baseline); Chapter 06 (Notes: compliance and its grace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[17:23–19:08]  Doctrine needs carve-outs, and the book allows four, each with written justification, a compensating control and an audit entry.
Path A is personal devices, enrolled into a work profile or registered. Refusing to govern them pushes people to unmanaged browsers; governed at a lower assurance level beats ungoverned. Path B is Linux that Intune can't manage, such as developer workstations needing root or air-gapped hosts, governed through Azure Arc and machine configuration instead. Path C is Windows Server 2019 and 2022, which can't use Entra ID sign-in through Arc; that needs Server 2025, so Arc-managed without it is the interim. And path D is the hard one: lab instruments, operational technology and PCs locked to a vendor's validated image, which can't take device management at all.
Path D runs into Conditional Access directly. A device that isn't enrolled can't pass a policy that requires a compliant device, so its users are blocked from everything behind those policies. The program handles it in order. Isolate it on a segmented network first. Where it has connectivity, manage its Defender settings, which secures it but doesn't make it compliant. If its users must reach a protected cloud resource, record a named exclusion with an owner, a justification and a review no more than 90 days out, paired with a policy that limits those accounts to the approved devices. And keep every other control on.
Because that exclusion leaves a control unmet, it's a risk acceptance, and the authorizing official makes it.
Workbook: Book 05, Chapter 04 — Intune-First Onboarding (The four exception paths; Path D under the compliant-device policies); Chapter 06 — Who Owns the Endpoint (The roles: the authorizing official; responsibility matrix: standing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[19:08–20:55]  The existing fleet can reach the same governed end state three ways, and the book uses each on purpose.
The manual path uses the native tools by hand, with the operator holding the change record. The governed path runs the same steps, but binds each technical change to organizational intent: attributes before any targeting, a dry run before any write, report-only before enforcement, and a recorded approval for every high-impact change. The retrofit path adopts an estate already modernized by hand, reading what the manual path left behind and switching on observation and approval, with no re-imaging or re-enrollment. Its risk is that it blesses whatever is there, so owners have to confirm the current state is the intended one.
All three share one rule: observe before you change anything. Budget at least two weeks of assessment before a production change; starting onboarding without the inventory and the NTLM audit is the program's most common cause of failed modernization.
The figure is the program's actuation ladder: record, observe, advise, gated change, and autonomous change, which is refused. The federal default ceiling is a human approving and the program executing. Microsoft provides a native second approver for part of the surface: Intune Multi Admin Approval, where the requester can't approve their own change, even as a Global Administrator, covering policies, scripts and the wipe, retire and delete actions.
The sponsor and CIO choose the path. The book's guidance is governed for anything over a few hundred devices, or wherever an authorizing official must sign.
Workbook: Book 05, Chapter 05 — The Governed, Manual and Retrofit Paths (One end state; Rules that hold on every path; The governed path; The actuation ladder; The retrofit path; How to choose); Chapter 06 (responsibility matrix: path choice; The second approver).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[20:55–22:31]  Who owns the endpoint? In an Active Directory estate it was rarely written down. Whoever could edit a GPO and link it to an OU decided what every computer under it would do at the next refresh: a security setting, a drive mapping and a software install all travelled the same way, approved by the same few people.
The replacement isn't one console. Workstations are governed in Intune, servers in Azure through Arc, and device identity and access in Entra ID. The decisions one GPO editor used to make now belong to several teams. The figure shows who decides, who designs and does the work, and who operates and supports it.
The split matters more for devices than almost anything else, because Group Policy trained a generation of administrators to treat the ability to change something as the right to decide it. Setting a 30-day grace period is a risk decision. So is leaving a GPO in place beside Intune, or exempting a kiosk class from BitLocker. Each is made in a console, by someone who may not know a decision is being made.
Exceptions split by time. A temporary one with an end date is a control decision the CISO can make. One with no end date, or past the agency's limit, is a risk acceptance, and only the authorizing official can make it, reviewed on a schedule.
Workbook: Book 05, Chapter 06 — Who Owns the Endpoint (opening; Decision rights and work are different things; The roles; The responsibility matrix and its comments: the exception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[22:31–24:11]  Here's the book's responsibility matrix in one view, with one decider per row.
The sponsor and CIO decide the path, the scope and the timing of domain-unjoin waves. The CISO decides the security baselines, the compliance rules and grace period, how Conditional Access uses compliance, the update rings and deferrals, and the help desk's identity checks before a wipe or a key release. Endpoint engineering decides when a Group Policy setting is retired and each wave's go or no-go. Application owners decide their own deployments and how far NTLM is restricted for their apps, because only they can judge whether the app still works. And the authorizing official decides standing exceptions.
One row looks odd but isn't: pausing an update ring after a bad update is an emergency stop, so the team running the ring decides and tells the security office.
Decision rights don't change what a console lets someone do; roles do, and there are three role systems: Entra roles for the tenant, Intune roles limited by scope tags for workstations, and Azure roles for Arc servers. Two warnings matter. Microsoft advises against using Intune Administrator for routine work, because it grants global read and write. And extensions on an Arc server run with full privilege, so Contributor on the resource is effectively an administrator of the server.
The decision: Multi Admin Approval in front of high-impact changes, with the security office owning the approver groups.
Workbook: Book 05, Chapter 06 — Who Owns the Endpoint (The responsibility matrix and its comments; Three role systems, one access model; The second approver).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[24:11–25:59]  Now the how. The Group Policy sunset is the existing-fleet program, run as a program, one setting and one population at a time. Microsoft's own guidance says lifting and shifting every setting is likely impractical: identify the mandatory settings, compare them with what MDM offers, and treat the gaps as blockers.
Every setting in the inventory gets one tag: required, obsolete, high-risk or redundant. Only required settings go on, and the figure shows how each one lands. Four questions, in order: is it still needed? Is there a native Intune equivalent? Does a cloud-native pattern remove the need, the way OneDrive replaces folder redirection or Universal Print replaces mapped printers? Can a script enforce it and prove it? A setting that fails all four becomes a dated exception, with an owner, a reason and a review date, and its GPO stays linked for that population only.
The rules on the right keep it honest. Retire before you translate: a smaller surface is the point. One authority per setting at any moment. Evidence before unlink: the Intune policy reports success on the population before its GPO link is disabled. Disable the link, not the GPO, and keep the GPO for 90 days as a rollback net. One trap: unlinking doesn't undo Group Policy preferences, such as drive maps, unless they were set to remove themselves, so each one needs something that clears it.
Success is measured in GPOs retired with evidence, not settings moved. The endpoint engineering lead freezes every inventoried GPO from the start.
Workbook: Book 05, Chapter 07 — The GPO Sunset Program (opening; Step 2: Classify each setting; Freezing and unlinking GPOs; The end state; Methodology principles); Chapter 06 (responsibility matrix: Group Policy setting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[25:59–27:47]  At working level, the sunset runs in seven phases, each closed by an exit gate, with a rollback defined before the phase starts. The durations are the book's planning estimates for a large fleet with Configuration Manager; a fleet without it skips most of phase two.
Inventory and classify, three to five weeks, ends with a decision for every setting and a captured baseline per device tier. Coexistence planning, two to three weeks, settles one authority per workload. Baseline authoring, three to four, builds every policy unassigned and peer-reviewed. The pilot, four to six weeks on about 5 percent of the fleet, leaves the GPOs linked and measures conflicts. Cutover runs in four waves over eight to twelve weeks, each watched for 72 hours before the next. Then about two weeks of verification, and formal retirement: GPOs disabled, kept 90 days, then archived and deleted.
On those estimates the program reaches phase seven in roughly 34 weeks, with the last deletions about three months later. For a large fleet, that's months, not weeks.
One sequencing rule is easy to get wrong under schedule pressure: on co-managed devices, Endpoint Protection moves before device configuration, because switching device configuration also moves Endpoint Protection, and the two can't be separated afterwards. And Windows 10 reached end of support on October 14, 2025, so the templates set Windows 11 as the floor and any Windows 10 device left is an exception with an upgrade date.
Endpoint engineering makes each go or no-go on measured results; the sponsor sets the sequence.
Workbook: Book 05, Chapter 08 — GPO to Intune Policy Migration (opening scope facts; The seven phases at working level; Phase 5: workload cutover in waves; Testing at each gate; Rollback); Chapter 06 (responsibility matrix: pilot and wave go/no-go).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[27:47–29:31]  Servers take a different road, because Intune doesn't manage Windows Server. A server outside Azure runs the Connected Machine agent and appears in Azure as a resource, managed the way native Azure machines are: Azure Policy, role-based access, tags, extensions, update management and Defender then apply to it.
That's the management plane, not the identity plane. Onboarding doesn't change how the server authenticates users or whether it's domain joined; the target is servers running without a domain join, but the unjoin is planned separately for each workload, after its Kerberos and NTLM dependencies are known.
A connected server is addressable, not yet governed. The day-one baseline attaches three things on the same change: machine configuration to audit the security baseline, Update Manager for patching, and Defender for Servers, where the program uses Plan 2. Onboard with a dedicated service principal that authenticates with a certificate and holds only the onboarding role, and remove the credential when the wave closes. And because extensions run with full privilege, anyone who is Contributor on the resource is effectively the server's administrator.
Two facts correct common assumptions. Licensing changes the bill most: with Software Assurance, patching, configuration and change tracking come at no extra cost, but only after each server's licensing is attested. And Entra ID sign-in works only on Windows Server 2025 with Desktop Experience, Entra-joins the server, and doesn't bring Conditional Access with it.
The sponsor and CIO set the unjoin waves; server infrastructure records each server's decision.
Workbook: Book 05, Chapter 09 — Servers Under Azure Arc (opening; What Arc changes and what it doesn't; Arc servers run non-domain-joined in the target; Plan cost by service; Roles; Onboarding; The day-one baseline; Microsoft Entra ID sign-in); Chapter 06 (The roles: server infrastructure; domain-unjoin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[29:31–31:16]  Some decisions have a date on them, and the book checked them as of October 20, 2026.
Windows Server 2012 and 2012 R2 left their Extended Security Update period on October 13, 2026; that month's update was the last, and the Arc ESU licenses deactivated the next day. Any such host still running now receives no further security updates through any channel. The book treats it as a red finding: migrate it, upgrade it, or isolate it and record the risk acceptance.
Windows Server 2016 reaches end of support on January 12, 2027. Extended updates through Arc are available for up to three years, through 2030, and billing begins January 13, so any 2016 host that won't be upgraded in time should be connected and enrolled before then. Through Arc, extended updates are billed monthly, need no product keys, and show coverage per server.
On the client side, Windows 11 version 23H2 stops receiving updates on November 10, 2026, so the feature update policy targets 25H2 now and the compliance floor rises each year. Windows 10 has been out of support since October 14, 2025; Intune still lets it enroll, but Microsoft no longer guarantees it works, so each remaining device is an exception with an upgrade date. And SQL Server 2014 and 2016 have extended updates until July 2027 and July 2029.
The decision on the 2012 hosts can't wait. Server infrastructure acts now, and the authorizing official accepts the risk of any host that has to stay.
Workbook: Book 05, Chapter 09 — Servers Under Azure Arc (Extended Security Updates; What this chapter establishes, 4); Chapter 10 — Operating and Evidencing the Fleet (Version currency); Chapter 08 (opening scope facts: Windows 10); Chapter 06 (standing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[31:16–33:00]  Once Intune owns the fleet, the update rings set the patch clock. Each month's quality update is staged across four rings named the way Windows Autopatch names them: Test for endpoint engineering's lab devices, First for a pilot of about 5 percent, Fast for about a quarter of the fleet, and Broad for everyone else. Deferrals rise from zero to seven days, and deadlines from two to seven.
With those values a quality update reaches every online device within about 16 days of release, and an update that breaks the Test or First ring can be paused before it reaches Broad. That pause is an emergency stop, decided by the team running the ring.
Windows Autopatch automates ring management and reporting. For government tenants it's included for GCC customers with Microsoft 365 G3 or G5 GCC, and isn't supported in GCC High or DoD. When Autopatch manages a device it maintains the rings itself, and administrators shouldn't add their own. The program's position: use it where licensed, and keep the ring table as the specification Autopatch is configured to.
This matters to assessors. NIST's SI-2 asks for security updates within a defined period of release, and that period is the agency's own parameter. The ring deadlines are what sets it, so the assessor reads them. In GCC, update evidence comes from Intune and Autopatch reports, because the Log Analytics–based reporting service doesn't meet GCC requirements.
The CISO approves those values as the agency's remediation period.
Workbook: Book 05, Chapter 10 — Operating and Evidencing the Fleet (The update policy surfaces; The program's rings; Windows Autopatch; Reporting and the evidence an assessor reads: SI-2); Chapter 06 (responsibility matrix: update rings; pausing a workstation ring; Notes: update 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[33:00–34:44]  In the run state, three records replace Group Policy's answer to "why is this setting here?": the policy library, the status Intune and Defender report per device, and the audit log of every change. Operating the fleet means keeping them in agreement. Evidencing it means handing an assessor the same records, not a document written for the audit.
The figure is the loop. Policy is assigned, devices report, a scheduled comparison finds compliance drift, configuration conflicts, update lag, inventory mismatches and alerts, and each finding closes at the source: change the policy through change control, or fix the device. A conflict is a defect in the library, not a state to live with.
The assessor reads records for each control: the policy library under version control for the baseline, per-setting status and the exception register for configuration settings, the weekly reconciliation of the Intune, Entra ID and Defender inventories for the component inventory, and the ring results for flaw remediation. The book uses FedRAMP 20x's indicators as a vocabulary for the same evidence, and is careful not to claim more.
Retirement is a sequence, because order decides what can be recovered. Export the BitLocker keys and the local administrator password; wipe or retire the device; deregister it from Autopilot; delete the Intune record; and delete the Entra ID object last, after a disable period, because deleting it permanently deletes the keys stored on it.
The CISO decides drift findings and compliance evidence, from the first migrated wave.
Workbook: Book 05, Chapter 10 — Operating and Evidencing the Fleet (opening; Configuration status and conflicts; Device inventory reconciliation; Retirement and wipe; Reporting and the evidence an assessor reads; FedRAMP 20x Key Security Indicators); Chapter 06 (responsibility matrix: drift findings and compliance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[34:44–36:19]  So, the decisions, with their owners.
The sponsor and CIO set the shape of the program: every hybrid-joined device gets a target of Entra join and a trigger event, with the domain-unjoin waves set before the first; no new device takes the old path, from the next purchase order; the governed path for any estate of more than a few hundred devices, or wherever an authorizing official must sign; and each server's domain unjoin as its own decision, after the NTLM and SPN work.
Endpoint engineering freezes every inventoried GPO, records every overlap, unlinks only after the replacement reports success, and makes each wave's go or no-go on measured results.
The CISO makes compliance fail closed and sets the grace period, decides how Conditional Access uses it, puts a second approver in front of high-impact changes, approves the ring deadlines as the agency's remediation period, and owns the drift findings and evidence. Temporary exceptions are the CISO's too.
The authorizing official accepts the rest: devices that can't enroll, standing exceptions reviewed on a schedule, and any Windows Server 2012 host that can't be migrated, upgraded or isolated now.
Group Policy governed by position, and that governance has to be rebuilt on purpose: every device governed from its first day, and every change owned and evidenced. Book 05 has the detail, with every claim footnoted. Thank you.
Workbook: Book 05, Chapter 01 (The Why in five sentences); Chapter 02 (What to do first); Chapter 06 — Who Owns the Endpoint (The responsibility matrix); Chapters 07–10 (What this chapter establishes).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05 Devices &amp; Endpoints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Devices &amp; Endpoints: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05 — Devices &amp; Endpoints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30 minutes for the CIO, CISO, endpoint program lead and sponsors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Book 05 is the Intune and Arc tracks: devices, servers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Track 1" descr="">
            <a:extLst>
              <a:ext uri="{C183D7F6-B498-43B3-948B-1728B52AA6E4}">
                <adec:decorative xmlns:adec="http://schemas.microsoft.com/office/drawing/2017/decorative" val="1"/>
              </a:ext>
            </a:extLst>
          </p:cNvPr>
          <p:cNvSpPr/>
          <p:nvPr/>
        </p:nvSpPr>
        <p:spPr>
          <a:xfrm>
            <a:off x="548640" y="1371600"/>
            <a:ext cx="5486400" cy="3154680"/>
          </a:xfrm>
          <a:prstGeom prst="roundRect">
            <a:avLst>
              <a:gd name="adj" fmla="val 231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Icon FaLaptop" descr="">
            <a:extLst>
              <a:ext uri="{C183D7F6-B498-43B3-948B-1728B52AA6E4}">
                <adec:decorative xmlns:adec="http://schemas.microsoft.com/office/drawing/2017/decorative" val="1"/>
              </a:ext>
            </a:extLst>
          </p:cNvPr>
          <p:cNvSpPr/>
          <p:nvPr/>
        </p:nvSpPr>
        <p:spPr>
          <a:xfrm>
            <a:off x="749808" y="1490472"/>
            <a:ext cx="548640" cy="548640"/>
          </a:xfrm>
          <a:prstGeom prst="ellipse">
            <a:avLst/>
          </a:prstGeom>
          <a:solidFill>
            <a:srgbClr val="0F766E"/>
          </a:solidFill>
          <a:ln w="12700">
            <a:solidFill>
              <a:srgbClr val="0F766E"/>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1482" y="1622146"/>
            <a:ext cx="285293" cy="285293"/>
          </a:xfrm>
          <a:prstGeom prst="rect">
            <a:avLst/>
          </a:prstGeom>
        </p:spPr>
      </p:pic>
      <p:sp>
        <p:nvSpPr>
          <p:cNvPr id="8" name="Track 1 head"/>
          <p:cNvSpPr txBox="1"/>
          <p:nvPr/>
        </p:nvSpPr>
        <p:spPr>
          <a:xfrm>
            <a:off x="1444752" y="1490472"/>
            <a:ext cx="448056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Intune track: end-user devices</a:t>
            </a:r>
            <a:endParaRPr lang="en-US" sz="1800" dirty="0"/>
          </a:p>
        </p:txBody>
      </p:sp>
      <p:sp>
        <p:nvSpPr>
          <p:cNvPr id="9" name="Track 1 text"/>
          <p:cNvSpPr txBox="1"/>
          <p:nvPr/>
        </p:nvSpPr>
        <p:spPr>
          <a:xfrm>
            <a:off x="777240" y="2130552"/>
            <a:ext cx="5120640" cy="2350008"/>
          </a:xfrm>
          <a:prstGeom prst="rect">
            <a:avLst/>
          </a:prstGeom>
          <a:noFill/>
          <a:ln/>
        </p:spPr>
        <p:txBody>
          <a:bodyPr wrap="square" lIns="0" tIns="0" rIns="0" bIns="0" rtlCol="0" anchor="t"/>
          <a:lstStyle/>
          <a:p>
            <a:pPr marL="342900" indent="-342900">
              <a:spcAft>
                <a:spcPts val="600"/>
              </a:spcAft>
              <a:buSzPct val="100000"/>
              <a:buChar char="•"/>
            </a:pPr>
            <a:r>
              <a:rPr lang="en-US" sz="1350" b="1" dirty="0">
                <a:solidFill>
                  <a:srgbClr val="0F766E"/>
                </a:solidFill>
              </a:rPr>
              <a:t>Source: </a:t>
            </a:r>
            <a:pPr indent="0" marL="0">
              <a:spcAft>
                <a:spcPts val="600"/>
              </a:spcAft>
              <a:buNone/>
            </a:pPr>
            <a:r>
              <a:rPr lang="en-US" sz="1350" dirty="0">
                <a:solidFill>
                  <a:schemeClr val="tx2"/>
                </a:solidFill>
              </a:rPr>
              <a:t>device provisioning (Autopilot group tag, enrollment), never HR</a:t>
            </a:r>
            <a:endParaRPr lang="en-US" sz="1350" dirty="0"/>
          </a:p>
          <a:p>
            <a:pPr marL="342900" indent="-342900">
              <a:spcAft>
                <a:spcPts val="600"/>
              </a:spcAft>
              <a:buSzPct val="100000"/>
              <a:buChar char="•"/>
            </a:pPr>
            <a:r>
              <a:rPr lang="en-US" sz="1350" b="1" dirty="0">
                <a:solidFill>
                  <a:srgbClr val="0F766E"/>
                </a:solidFill>
              </a:rPr>
              <a:t>Read by: </a:t>
            </a:r>
            <a:pPr indent="0" marL="0">
              <a:spcAft>
                <a:spcPts val="600"/>
              </a:spcAft>
              <a:buNone/>
            </a:pPr>
            <a:r>
              <a:rPr lang="en-US" sz="1350" dirty="0">
                <a:solidFill>
                  <a:schemeClr val="tx2"/>
                </a:solidFill>
              </a:rPr>
              <a:t>dynamic device groups, assignment filters, compliance, Conditional Access</a:t>
            </a:r>
            <a:endParaRPr lang="en-US" sz="1350" dirty="0"/>
          </a:p>
          <a:p>
            <a:pPr marL="342900" indent="-342900">
              <a:spcAft>
                <a:spcPts val="600"/>
              </a:spcAft>
              <a:buSzPct val="100000"/>
              <a:buChar char="•"/>
            </a:pPr>
            <a:r>
              <a:rPr lang="en-US" sz="1350" b="1" dirty="0">
                <a:solidFill>
                  <a:srgbClr val="0F766E"/>
                </a:solidFill>
              </a:rPr>
              <a:t>Done when: </a:t>
            </a:r>
            <a:pPr indent="0" marL="0">
              <a:spcAft>
                <a:spcPts val="600"/>
              </a:spcAft>
              <a:buNone/>
            </a:pPr>
            <a:r>
              <a:rPr lang="en-US" sz="1350" dirty="0">
                <a:solidFill>
                  <a:schemeClr val="tx2"/>
                </a:solidFill>
              </a:rPr>
              <a:t>policy targets those attributes; computer-side GPO links disabled one population at a time, rollback tested</a:t>
            </a:r>
            <a:endParaRPr lang="en-US" sz="1350" dirty="0"/>
          </a:p>
        </p:txBody>
      </p:sp>
      <p:sp>
        <p:nvSpPr>
          <p:cNvPr id="10" name="Track 2" descr="">
            <a:extLst>
              <a:ext uri="{C183D7F6-B498-43B3-948B-1728B52AA6E4}">
                <adec:decorative xmlns:adec="http://schemas.microsoft.com/office/drawing/2017/decorative" val="1"/>
              </a:ext>
            </a:extLst>
          </p:cNvPr>
          <p:cNvSpPr/>
          <p:nvPr/>
        </p:nvSpPr>
        <p:spPr>
          <a:xfrm>
            <a:off x="6172200" y="1371600"/>
            <a:ext cx="5486400" cy="3154680"/>
          </a:xfrm>
          <a:prstGeom prst="roundRect">
            <a:avLst>
              <a:gd name="adj" fmla="val 231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Server" descr="">
            <a:extLst>
              <a:ext uri="{C183D7F6-B498-43B3-948B-1728B52AA6E4}">
                <adec:decorative xmlns:adec="http://schemas.microsoft.com/office/drawing/2017/decorative" val="1"/>
              </a:ext>
            </a:extLst>
          </p:cNvPr>
          <p:cNvSpPr/>
          <p:nvPr/>
        </p:nvSpPr>
        <p:spPr>
          <a:xfrm>
            <a:off x="6373368" y="1490472"/>
            <a:ext cx="548640" cy="548640"/>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05042" y="1622146"/>
            <a:ext cx="285293" cy="285293"/>
          </a:xfrm>
          <a:prstGeom prst="rect">
            <a:avLst/>
          </a:prstGeom>
        </p:spPr>
      </p:pic>
      <p:sp>
        <p:nvSpPr>
          <p:cNvPr id="13" name="Track 2 head"/>
          <p:cNvSpPr txBox="1"/>
          <p:nvPr/>
        </p:nvSpPr>
        <p:spPr>
          <a:xfrm>
            <a:off x="7068312" y="1490472"/>
            <a:ext cx="448056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Arc track: servers</a:t>
            </a:r>
            <a:endParaRPr lang="en-US" sz="1800" dirty="0"/>
          </a:p>
        </p:txBody>
      </p:sp>
      <p:sp>
        <p:nvSpPr>
          <p:cNvPr id="14" name="Track 2 text"/>
          <p:cNvSpPr txBox="1"/>
          <p:nvPr/>
        </p:nvSpPr>
        <p:spPr>
          <a:xfrm>
            <a:off x="6400800" y="2130552"/>
            <a:ext cx="5120640" cy="2350008"/>
          </a:xfrm>
          <a:prstGeom prst="rect">
            <a:avLst/>
          </a:prstGeom>
          <a:noFill/>
          <a:ln/>
        </p:spPr>
        <p:txBody>
          <a:bodyPr wrap="square" lIns="0" tIns="0" rIns="0" bIns="0" rtlCol="0" anchor="t"/>
          <a:lstStyle/>
          <a:p>
            <a:pPr marL="342900" indent="-342900">
              <a:spcAft>
                <a:spcPts val="600"/>
              </a:spcAft>
              <a:buSzPct val="100000"/>
              <a:buChar char="•"/>
            </a:pPr>
            <a:r>
              <a:rPr lang="en-US" sz="1350" b="1" dirty="0">
                <a:solidFill>
                  <a:srgbClr val="1F2A44"/>
                </a:solidFill>
              </a:rPr>
              <a:t>Source: </a:t>
            </a:r>
            <a:pPr indent="0" marL="0">
              <a:spcAft>
                <a:spcPts val="600"/>
              </a:spcAft>
              <a:buNone/>
            </a:pPr>
            <a:r>
              <a:rPr lang="en-US" sz="1350" dirty="0">
                <a:solidFill>
                  <a:schemeClr val="tx2"/>
                </a:solidFill>
              </a:rPr>
              <a:t>Arc onboarding tags and resource group, then Azure Policy</a:t>
            </a:r>
            <a:endParaRPr lang="en-US" sz="1350" dirty="0"/>
          </a:p>
          <a:p>
            <a:pPr marL="342900" indent="-342900">
              <a:spcAft>
                <a:spcPts val="600"/>
              </a:spcAft>
              <a:buSzPct val="100000"/>
              <a:buChar char="•"/>
            </a:pPr>
            <a:r>
              <a:rPr lang="en-US" sz="1350" b="1" dirty="0">
                <a:solidFill>
                  <a:srgbClr val="1F2A44"/>
                </a:solidFill>
              </a:rPr>
              <a:t>Read by: </a:t>
            </a:r>
            <a:pPr indent="0" marL="0">
              <a:spcAft>
                <a:spcPts val="600"/>
              </a:spcAft>
              <a:buNone/>
            </a:pPr>
            <a:r>
              <a:rPr lang="en-US" sz="1350" dirty="0">
                <a:solidFill>
                  <a:schemeClr val="tx2"/>
                </a:solidFill>
              </a:rPr>
              <a:t>machine configuration, Update Manager, Defender for Servers, Azure RBAC</a:t>
            </a:r>
            <a:endParaRPr lang="en-US" sz="1350" dirty="0"/>
          </a:p>
          <a:p>
            <a:pPr marL="342900" indent="-342900">
              <a:spcAft>
                <a:spcPts val="600"/>
              </a:spcAft>
              <a:buSzPct val="100000"/>
              <a:buChar char="•"/>
            </a:pPr>
            <a:r>
              <a:rPr lang="en-US" sz="1350" b="1" dirty="0">
                <a:solidFill>
                  <a:srgbClr val="1F2A44"/>
                </a:solidFill>
              </a:rPr>
              <a:t>Done when: </a:t>
            </a:r>
            <a:pPr indent="0" marL="0">
              <a:spcAft>
                <a:spcPts val="600"/>
              </a:spcAft>
              <a:buNone/>
            </a:pPr>
            <a:r>
              <a:rPr lang="en-US" sz="1350" dirty="0">
                <a:solidFill>
                  <a:schemeClr val="tx2"/>
                </a:solidFill>
              </a:rPr>
              <a:t>every in-scope server Arc-enabled and tagged, its baseline evaluated by Azure Policy</a:t>
            </a:r>
            <a:endParaRPr lang="en-US" sz="1350" dirty="0"/>
          </a:p>
        </p:txBody>
      </p:sp>
      <p:sp>
        <p:nvSpPr>
          <p:cNvPr id="15" name="Split" descr="">
            <a:extLst>
              <a:ext uri="{C183D7F6-B498-43B3-948B-1728B52AA6E4}">
                <adec:decorative xmlns:adec="http://schemas.microsoft.com/office/drawing/2017/decorative" val="1"/>
              </a:ext>
            </a:extLst>
          </p:cNvPr>
          <p:cNvSpPr/>
          <p:nvPr/>
        </p:nvSpPr>
        <p:spPr>
          <a:xfrm>
            <a:off x="548640" y="4645152"/>
            <a:ext cx="11109960" cy="914400"/>
          </a:xfrm>
          <a:prstGeom prst="roundRect">
            <a:avLst>
              <a:gd name="adj" fmla="val 8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RightLeft" descr="">
            <a:extLst>
              <a:ext uri="{C183D7F6-B498-43B3-948B-1728B52AA6E4}">
                <adec:decorative xmlns:adec="http://schemas.microsoft.com/office/drawing/2017/decorative" val="1"/>
              </a:ext>
            </a:extLst>
          </p:cNvPr>
          <p:cNvSpPr/>
          <p:nvPr/>
        </p:nvSpPr>
        <p:spPr>
          <a:xfrm>
            <a:off x="777240" y="4736592"/>
            <a:ext cx="731520" cy="73152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4912157"/>
            <a:ext cx="380390" cy="380390"/>
          </a:xfrm>
          <a:prstGeom prst="rect">
            <a:avLst/>
          </a:prstGeom>
        </p:spPr>
      </p:pic>
      <p:sp>
        <p:nvSpPr>
          <p:cNvPr id="18" name="Split text"/>
          <p:cNvSpPr txBox="1"/>
          <p:nvPr/>
        </p:nvSpPr>
        <p:spPr>
          <a:xfrm>
            <a:off x="1737360" y="4690872"/>
            <a:ext cx="9738360" cy="822960"/>
          </a:xfrm>
          <a:prstGeom prst="rect">
            <a:avLst/>
          </a:prstGeom>
          <a:noFill/>
          <a:ln/>
        </p:spPr>
        <p:txBody>
          <a:bodyPr wrap="square" lIns="0" tIns="0" rIns="0" bIns="0" rtlCol="0" anchor="ctr"/>
          <a:lstStyle/>
          <a:p>
            <a:pPr indent="0" marL="0">
              <a:buNone/>
            </a:pPr>
            <a:r>
              <a:rPr lang="en-US" sz="1650" b="1" dirty="0">
                <a:solidFill>
                  <a:srgbClr val="B45309"/>
                </a:solidFill>
              </a:rPr>
              <a:t>Group Policy splits: </a:t>
            </a:r>
            <a:pPr indent="0" marL="0">
              <a:buNone/>
            </a:pPr>
            <a:r>
              <a:rPr lang="en-US" sz="1650" dirty="0">
                <a:solidFill>
                  <a:schemeClr val="tx2"/>
                </a:solidFill>
              </a:rPr>
              <a:t>user settings go with people (Book 03's HR track, Conditional Access); computer settings go with devices and servers. A device rule can't read its owner.</a:t>
            </a:r>
            <a:endParaRPr lang="en-US" sz="1650" dirty="0"/>
          </a:p>
        </p:txBody>
      </p:sp>
      <p:sp>
        <p:nvSpPr>
          <p:cNvPr id="19" name="Requirements"/>
          <p:cNvSpPr txBox="1"/>
          <p:nvPr/>
        </p:nvSpPr>
        <p:spPr>
          <a:xfrm>
            <a:off x="548640" y="5632704"/>
            <a:ext cx="11109960" cy="384048"/>
          </a:xfrm>
          <a:prstGeom prst="rect">
            <a:avLst/>
          </a:prstGeom>
          <a:noFill/>
          <a:ln/>
        </p:spPr>
        <p:txBody>
          <a:bodyPr wrap="square" lIns="0" tIns="0" rIns="0" bIns="0" rtlCol="0" anchor="ctr"/>
          <a:lstStyle/>
          <a:p>
            <a:pPr indent="0" marL="0">
              <a:buNone/>
            </a:pPr>
            <a:r>
              <a:rPr lang="en-US" sz="1150" b="1" dirty="0">
                <a:solidFill>
                  <a:srgbClr val="1F2A44"/>
                </a:solidFill>
              </a:rPr>
              <a:t>Federal requirements:  </a:t>
            </a:r>
            <a:pPr indent="0" marL="0">
              <a:buNone/>
            </a:pPr>
            <a:r>
              <a:rPr lang="en-US" sz="1150" dirty="0">
                <a:solidFill>
                  <a:schemeClr val="tx2"/>
                </a:solidFill>
              </a:rPr>
              <a:t>NIST SP 800-53 CM-2, CM-6, CM-7, CM-8, SI-2 (Book 05, Ch 10); SA-22 and OMB M-22-09 §III.A–B, device signal and inventory (Book 01, Appendix A)</a:t>
            </a:r>
            <a:endParaRPr lang="en-US" sz="115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05, Ch 03, 04, 07, 08, 09, 10; attribute-driven migration guide (dynamic rules, Intune assignment). Full citations in the backup.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Intune and Arc cover, and the strategy for the rest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926080"/>
                <a:gridCol w="38404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Covered by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3891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Windows 11, Windows 365, Azure Virtual Desktop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(Virtual Desktop with limits)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macOS, iOS and iPadOS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through Apple Business 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Android Enterprise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work profile, fully managed, dedicated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Linux desktop (Ubuntu, Red Hat)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limited: compliance checks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ChromeOS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inventory only; Google Admin manages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Windows Server 2016–2025; Linux servers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Arc, with the Connected Machine agent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VMware vSphere VMs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Arc-enabled vSphere through vCenter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AWS EC2 and GCP VMs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Arc agent or multicloud connector (GCP in preview)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Azure VMs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Native Azure: Policy, RBAC, tags; not Arc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AIX, Solaris, mainframe, network gear, printers, IoT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Neither: tiers 2 to 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iers box" descr="">
            <a:extLst>
              <a:ext uri="{C183D7F6-B498-43B3-948B-1728B52AA6E4}">
                <adec:decorative xmlns:adec="http://schemas.microsoft.com/office/drawing/2017/decorative" val="1"/>
              </a:ext>
            </a:extLst>
          </p:cNvPr>
          <p:cNvSpPr/>
          <p:nvPr/>
        </p:nvSpPr>
        <p:spPr>
          <a:xfrm>
            <a:off x="7498080" y="1325880"/>
            <a:ext cx="4160520" cy="4160520"/>
          </a:xfrm>
          <a:prstGeom prst="roundRect">
            <a:avLst>
              <a:gd name="adj" fmla="val 175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Tiers head"/>
          <p:cNvSpPr txBox="1"/>
          <p:nvPr/>
        </p:nvSpPr>
        <p:spPr>
          <a:xfrm>
            <a:off x="7680960" y="1417320"/>
            <a:ext cx="3840480" cy="731520"/>
          </a:xfrm>
          <a:prstGeom prst="rect">
            <a:avLst/>
          </a:prstGeom>
          <a:noFill/>
          <a:ln/>
        </p:spPr>
        <p:txBody>
          <a:bodyPr wrap="square" lIns="0" tIns="0" rIns="0" bIns="0" rtlCol="0" anchor="ctr"/>
          <a:lstStyle/>
          <a:p>
            <a:pPr indent="0" marL="0">
              <a:buNone/>
            </a:pPr>
            <a:r>
              <a:rPr lang="en-US" sz="1100" b="1" dirty="0">
                <a:solidFill>
                  <a:srgbClr val="64748B"/>
                </a:solidFill>
              </a:rPr>
              <a:t>FOR WHAT'S LEFT: FOUR TIERS (DESIGN GUIDANCE)</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One source of truth for every device</a:t>
            </a:r>
            <a:endParaRPr lang="en-US" sz="1400" dirty="0"/>
          </a:p>
        </p:txBody>
      </p:sp>
      <p:sp>
        <p:nvSpPr>
          <p:cNvPr id="8" name="Tiers list"/>
          <p:cNvSpPr txBox="1"/>
          <p:nvPr/>
        </p:nvSpPr>
        <p:spPr>
          <a:xfrm>
            <a:off x="7680960" y="2240280"/>
            <a:ext cx="3840480" cy="3154680"/>
          </a:xfrm>
          <a:prstGeom prst="rect">
            <a:avLst/>
          </a:prstGeom>
          <a:noFill/>
          <a:ln/>
        </p:spPr>
        <p:txBody>
          <a:bodyPr wrap="square" lIns="0" tIns="0" rIns="0" bIns="0" rtlCol="0" anchor="t"/>
          <a:lstStyle/>
          <a:p>
            <a:pPr indent="0" marL="0">
              <a:spcAft>
                <a:spcPts val="800"/>
              </a:spcAft>
              <a:buNone/>
            </a:pPr>
            <a:r>
              <a:rPr lang="en-US" sz="1300" dirty="0">
                <a:solidFill>
                  <a:schemeClr val="tx2"/>
                </a:solidFill>
              </a:rPr>
              <a:t>1  Managed by Intune or Arc: the default</a:t>
            </a:r>
            <a:endParaRPr lang="en-US" sz="1300" dirty="0"/>
          </a:p>
          <a:p>
            <a:pPr indent="0" marL="0">
              <a:spcAft>
                <a:spcPts val="800"/>
              </a:spcAft>
              <a:buNone/>
            </a:pPr>
            <a:r>
              <a:rPr lang="en-US" sz="1300" dirty="0">
                <a:solidFill>
                  <a:schemeClr val="tx2"/>
                </a:solidFill>
              </a:rPr>
              <a:t>2  The platform's own tool, with an evidence feed; the CMDB holds the attributes (ChromeOS, network gear, mainframe, ESXi hosts)</a:t>
            </a:r>
            <a:endParaRPr lang="en-US" sz="1300" dirty="0"/>
          </a:p>
          <a:p>
            <a:pPr indent="0" marL="0">
              <a:spcAft>
                <a:spcPts val="800"/>
              </a:spcAft>
              <a:buNone/>
            </a:pPr>
            <a:r>
              <a:rPr lang="en-US" sz="1300" dirty="0">
                <a:solidFill>
                  <a:schemeClr val="tx2"/>
                </a:solidFill>
              </a:rPr>
              <a:t>3  Discovered and monitored only: Defender discovery, network access control, CDM feeds</a:t>
            </a:r>
            <a:endParaRPr lang="en-US" sz="1300" dirty="0"/>
          </a:p>
          <a:p>
            <a:pPr indent="0" marL="0">
              <a:spcAft>
                <a:spcPts val="800"/>
              </a:spcAft>
              <a:buNone/>
            </a:pPr>
            <a:r>
              <a:rPr lang="en-US" sz="1300" dirty="0">
                <a:solidFill>
                  <a:schemeClr val="tx2"/>
                </a:solidFill>
              </a:rPr>
              <a:t>4  Segmented and isolated, or retired, with a risk acceptance and a date</a:t>
            </a:r>
            <a:endParaRPr lang="en-US" sz="1300" dirty="0"/>
          </a:p>
        </p:txBody>
      </p:sp>
      <p:sp>
        <p:nvSpPr>
          <p:cNvPr id="9" name="Requirements"/>
          <p:cNvSpPr txBox="1"/>
          <p:nvPr/>
        </p:nvSpPr>
        <p:spPr>
          <a:xfrm>
            <a:off x="548640" y="5632704"/>
            <a:ext cx="11109960" cy="384048"/>
          </a:xfrm>
          <a:prstGeom prst="rect">
            <a:avLst/>
          </a:prstGeom>
          <a:noFill/>
          <a:ln/>
        </p:spPr>
        <p:txBody>
          <a:bodyPr wrap="square" lIns="0" tIns="0" rIns="0" bIns="0" rtlCol="0" anchor="ctr"/>
          <a:lstStyle/>
          <a:p>
            <a:pPr indent="0" marL="0">
              <a:buNone/>
            </a:pPr>
            <a:r>
              <a:rPr lang="en-US" sz="1150" b="1" dirty="0">
                <a:solidFill>
                  <a:srgbClr val="1F2A44"/>
                </a:solidFill>
              </a:rPr>
              <a:t>Federal requirements:  </a:t>
            </a:r>
            <a:pPr indent="0" marL="0">
              <a:buNone/>
            </a:pPr>
            <a:r>
              <a:rPr lang="en-US" sz="1150" dirty="0">
                <a:solidFill>
                  <a:schemeClr val="tx2"/>
                </a:solidFill>
              </a:rPr>
              <a:t>NIST SP 800-53 CM-8: the inventory includes every component and counts none twice; a device in no tier is a finding (Book 05, Ch 03 and 10)</a:t>
            </a:r>
            <a:endParaRPr lang="en-US" sz="11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05, Ch 03 (Intune coverage; the four tiers) and Ch 09 (Which servers Arc reaches), per Microsoft Learn on Oct 29, 2026. Tiers: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Group Policy governed by position; the cloud has none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Two columns. Left column, grey, Group Policy: precedence by position. Four stacked boxes connected by arrows labelled then: local policy, site-linked GPOs, domain-linked GPOs, and OU-linked GPOs from parent to child. The last box notes that the closest container wins and enforced links override. Right column, blue, Intune: flat assignment. A box of policies assigned to include and exclude groups leads to a violet box, assignment filters evaluated at check-in, which leads to the device. A red box below the device reads: two configuration policies set one setting differently, so the conflict is reported and the setting may not apply.">    </p:cNvPr>
          <p:cNvPicPr>
            <a:picLocks noChangeAspect="1"/>
          </p:cNvPicPr>
          <p:nvPr/>
        </p:nvPicPr>
        <p:blipFill>
          <a:blip r:embed="rId1"/>
          <a:stretch>
            <a:fillRect/>
          </a:stretch>
        </p:blipFill>
        <p:spPr>
          <a:xfrm>
            <a:off x="632012" y="1371600"/>
            <a:ext cx="4130936" cy="3291840"/>
          </a:xfrm>
          <a:prstGeom prst="rect">
            <a:avLst/>
          </a:prstGeom>
        </p:spPr>
      </p:pic>
      <p:sp>
        <p:nvSpPr>
          <p:cNvPr id="6" name="Jobs box" descr="">
            <a:extLst>
              <a:ext uri="{C183D7F6-B498-43B3-948B-1728B52AA6E4}">
                <adec:decorative xmlns:adec="http://schemas.microsoft.com/office/drawing/2017/decorative" val="1"/>
              </a:ext>
            </a:extLst>
          </p:cNvPr>
          <p:cNvSpPr/>
          <p:nvPr/>
        </p:nvSpPr>
        <p:spPr>
          <a:xfrm>
            <a:off x="5074920" y="1371600"/>
            <a:ext cx="6583680" cy="2432304"/>
          </a:xfrm>
          <a:prstGeom prst="roundRect">
            <a:avLst>
              <a:gd name="adj" fmla="val 300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Sitemap" descr="">
            <a:extLst>
              <a:ext uri="{C183D7F6-B498-43B3-948B-1728B52AA6E4}">
                <adec:decorative xmlns:adec="http://schemas.microsoft.com/office/drawing/2017/decorative" val="1"/>
              </a:ext>
            </a:extLst>
          </p:cNvPr>
          <p:cNvSpPr/>
          <p:nvPr/>
        </p:nvSpPr>
        <p:spPr>
          <a:xfrm>
            <a:off x="530352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435194" y="1649578"/>
            <a:ext cx="285293" cy="285293"/>
          </a:xfrm>
          <a:prstGeom prst="rect">
            <a:avLst/>
          </a:prstGeom>
        </p:spPr>
      </p:pic>
      <p:sp>
        <p:nvSpPr>
          <p:cNvPr id="9" name="Jobs head"/>
          <p:cNvSpPr txBox="1"/>
          <p:nvPr/>
        </p:nvSpPr>
        <p:spPr>
          <a:xfrm>
            <a:off x="5989320" y="1517904"/>
            <a:ext cx="553212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Five jobs the OU tree did silently</a:t>
            </a:r>
            <a:endParaRPr lang="en-US" sz="1650" dirty="0"/>
          </a:p>
        </p:txBody>
      </p:sp>
      <p:sp>
        <p:nvSpPr>
          <p:cNvPr id="10" name="Jobs list"/>
          <p:cNvSpPr txBox="1"/>
          <p:nvPr/>
        </p:nvSpPr>
        <p:spPr>
          <a:xfrm>
            <a:off x="5303520" y="2212848"/>
            <a:ext cx="61722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Targeting: which settings a device gets</a:t>
            </a:r>
            <a:endParaRPr lang="en-US" sz="1400" dirty="0"/>
          </a:p>
          <a:p>
            <a:pPr marL="342900" indent="-342900">
              <a:spcAft>
                <a:spcPts val="600"/>
              </a:spcAft>
              <a:buSzPct val="100000"/>
              <a:buChar char="•"/>
            </a:pPr>
            <a:r>
              <a:rPr lang="en-US" sz="1350" dirty="0">
                <a:solidFill>
                  <a:schemeClr val="tx2"/>
                </a:solidFill>
              </a:rPr>
              <a:t>Precedence: which setting wins</a:t>
            </a:r>
            <a:endParaRPr lang="en-US" sz="1400" dirty="0"/>
          </a:p>
          <a:p>
            <a:pPr marL="342900" indent="-342900">
              <a:spcAft>
                <a:spcPts val="600"/>
              </a:spcAft>
              <a:buSzPct val="100000"/>
              <a:buChar char="•"/>
            </a:pPr>
            <a:r>
              <a:rPr lang="en-US" sz="1350" dirty="0">
                <a:solidFill>
                  <a:schemeClr val="tx2"/>
                </a:solidFill>
              </a:rPr>
              <a:t>Delegation: who may change it</a:t>
            </a:r>
            <a:endParaRPr lang="en-US" sz="1400" dirty="0"/>
          </a:p>
          <a:p>
            <a:pPr marL="342900" indent="-342900">
              <a:spcAft>
                <a:spcPts val="600"/>
              </a:spcAft>
              <a:buSzPct val="100000"/>
              <a:buChar char="•"/>
            </a:pPr>
            <a:r>
              <a:rPr lang="en-US" sz="1350" dirty="0">
                <a:solidFill>
                  <a:schemeClr val="tx2"/>
                </a:solidFill>
              </a:rPr>
              <a:t>Timing: a refresh every 90 minutes</a:t>
            </a:r>
            <a:endParaRPr lang="en-US" sz="1400" dirty="0"/>
          </a:p>
          <a:p>
            <a:pPr marL="342900" indent="-342900">
              <a:spcAft>
                <a:spcPts val="600"/>
              </a:spcAft>
              <a:buSzPct val="100000"/>
              <a:buChar char="•"/>
            </a:pPr>
            <a:r>
              <a:rPr lang="en-US" sz="1350" dirty="0">
                <a:solidFill>
                  <a:schemeClr val="tx2"/>
                </a:solidFill>
              </a:rPr>
              <a:t>Evidence: gpresult explains the result</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A governance rebuild, not a settings migration.  </a:t>
            </a:r>
            <a:pPr indent="0" marL="0">
              <a:buNone/>
            </a:pPr>
            <a:r>
              <a:rPr lang="en-US" sz="1650" dirty="0">
                <a:solidFill>
                  <a:schemeClr val="tx2"/>
                </a:solidFill>
              </a:rPr>
              <a:t>Every job the tree did implicitly has to be stated on purpose, starting with an attribute model that targeting can derive from.</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cloud-native endpoint planning; Group Policy processing; Intune policy conflicts and check-in timing. Book 05, Chapter 01; Book 02,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Running both isn't a safe middle ground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Race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WHO WINS WHEN GROUP POLICY AND INTUNE BOTH SET A SETTING</a:t>
            </a:r>
            <a:endParaRPr lang="en-US" sz="1200" dirty="0"/>
          </a:p>
        </p:txBody>
      </p:sp>
      <p:sp>
        <p:nvSpPr>
          <p:cNvPr id="6" name="Race 0" descr="">
            <a:extLst>
              <a:ext uri="{C183D7F6-B498-43B3-948B-1728B52AA6E4}">
                <adec:decorative xmlns:adec="http://schemas.microsoft.com/office/drawing/2017/decorative" val="1"/>
              </a:ext>
            </a:extLst>
          </p:cNvPr>
          <p:cNvSpPr/>
          <p:nvPr/>
        </p:nvSpPr>
        <p:spPr>
          <a:xfrm>
            <a:off x="548640" y="1737360"/>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Race 0 text"/>
          <p:cNvSpPr txBox="1"/>
          <p:nvPr/>
        </p:nvSpPr>
        <p:spPr>
          <a:xfrm>
            <a:off x="731520" y="1737360"/>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GPO vs. MDM   </a:t>
            </a:r>
            <a:pPr indent="0" marL="0">
              <a:buNone/>
            </a:pPr>
            <a:r>
              <a:rPr lang="en-US" sz="1350" dirty="0">
                <a:solidFill>
                  <a:schemeClr val="tx2"/>
                </a:solidFill>
              </a:rPr>
              <a:t>Group Policy wins by default</a:t>
            </a:r>
            <a:endParaRPr lang="en-US" sz="1350" dirty="0"/>
          </a:p>
        </p:txBody>
      </p:sp>
      <p:sp>
        <p:nvSpPr>
          <p:cNvPr id="8" name="Race 1" descr="">
            <a:extLst>
              <a:ext uri="{C183D7F6-B498-43B3-948B-1728B52AA6E4}">
                <adec:decorative xmlns:adec="http://schemas.microsoft.com/office/drawing/2017/decorative" val="1"/>
              </a:ext>
            </a:extLst>
          </p:cNvPr>
          <p:cNvSpPr/>
          <p:nvPr/>
        </p:nvSpPr>
        <p:spPr>
          <a:xfrm>
            <a:off x="548640" y="2450592"/>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Race 1 text"/>
          <p:cNvSpPr txBox="1"/>
          <p:nvPr/>
        </p:nvSpPr>
        <p:spPr>
          <a:xfrm>
            <a:off x="731520" y="2450592"/>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MDMWinsOverGP   </a:t>
            </a:r>
            <a:pPr indent="0" marL="0">
              <a:buNone/>
            </a:pPr>
            <a:r>
              <a:rPr lang="en-US" sz="1350" dirty="0">
                <a:solidFill>
                  <a:schemeClr val="tx2"/>
                </a:solidFill>
              </a:rPr>
              <a:t>Reverses it, only in the Policy CSP</a:t>
            </a:r>
            <a:endParaRPr lang="en-US" sz="1350" dirty="0"/>
          </a:p>
        </p:txBody>
      </p:sp>
      <p:sp>
        <p:nvSpPr>
          <p:cNvPr id="10" name="Race 2" descr="">
            <a:extLst>
              <a:ext uri="{C183D7F6-B498-43B3-948B-1728B52AA6E4}">
                <adec:decorative xmlns:adec="http://schemas.microsoft.com/office/drawing/2017/decorative" val="1"/>
              </a:ext>
            </a:extLst>
          </p:cNvPr>
          <p:cNvSpPr/>
          <p:nvPr/>
        </p:nvSpPr>
        <p:spPr>
          <a:xfrm>
            <a:off x="548640" y="3163824"/>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Race 2 text"/>
          <p:cNvSpPr txBox="1"/>
          <p:nvPr/>
        </p:nvSpPr>
        <p:spPr>
          <a:xfrm>
            <a:off x="731520" y="3163824"/>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Other CSPs   </a:t>
            </a:r>
            <a:pPr indent="0" marL="0">
              <a:buNone/>
            </a:pPr>
            <a:r>
              <a:rPr lang="en-US" sz="1350" dirty="0">
                <a:solidFill>
                  <a:schemeClr val="tx2"/>
                </a:solidFill>
              </a:rPr>
              <a:t>A race, with no guaranteed winner</a:t>
            </a:r>
            <a:endParaRPr lang="en-US" sz="1350" dirty="0"/>
          </a:p>
        </p:txBody>
      </p:sp>
      <p:sp>
        <p:nvSpPr>
          <p:cNvPr id="12" name="Race 3" descr="">
            <a:extLst>
              <a:ext uri="{C183D7F6-B498-43B3-948B-1728B52AA6E4}">
                <adec:decorative xmlns:adec="http://schemas.microsoft.com/office/drawing/2017/decorative" val="1"/>
              </a:ext>
            </a:extLst>
          </p:cNvPr>
          <p:cNvSpPr/>
          <p:nvPr/>
        </p:nvSpPr>
        <p:spPr>
          <a:xfrm>
            <a:off x="548640" y="3877056"/>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Race 3 text"/>
          <p:cNvSpPr txBox="1"/>
          <p:nvPr/>
        </p:nvSpPr>
        <p:spPr>
          <a:xfrm>
            <a:off x="731520" y="3877056"/>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Two Intune policies   </a:t>
            </a:r>
            <a:pPr indent="0" marL="0">
              <a:buNone/>
            </a:pPr>
            <a:r>
              <a:rPr lang="en-US" sz="1350" dirty="0">
                <a:solidFill>
                  <a:schemeClr val="tx2"/>
                </a:solidFill>
              </a:rPr>
              <a:t>Conflict reported; may not apply</a:t>
            </a:r>
            <a:endParaRPr lang="en-US" sz="1350" dirty="0"/>
          </a:p>
        </p:txBody>
      </p:sp>
      <p:sp>
        <p:nvSpPr>
          <p:cNvPr id="14" name="Measure box" descr="">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5" name="Icon FaFilte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7" name="Measure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Measure the gap; don't copy</a:t>
            </a:r>
            <a:endParaRPr lang="en-US" sz="1650" dirty="0"/>
          </a:p>
        </p:txBody>
      </p:sp>
      <p:sp>
        <p:nvSpPr>
          <p:cNvPr id="18" name="Measure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Group Policy analytics measures, not closes</a:t>
            </a:r>
            <a:endParaRPr lang="en-US" sz="1400" dirty="0"/>
          </a:p>
          <a:p>
            <a:pPr marL="342900" indent="-342900">
              <a:spcAft>
                <a:spcPts val="600"/>
              </a:spcAft>
              <a:buSzPct val="100000"/>
              <a:buChar char="•"/>
            </a:pPr>
            <a:r>
              <a:rPr lang="en-US" sz="1350" dirty="0">
                <a:solidFill>
                  <a:schemeClr val="tx2"/>
                </a:solidFill>
              </a:rPr>
              <a:t>No published "percent mappable" figure</a:t>
            </a:r>
            <a:endParaRPr lang="en-US" sz="1400" dirty="0"/>
          </a:p>
          <a:p>
            <a:pPr marL="342900" indent="-342900">
              <a:spcAft>
                <a:spcPts val="600"/>
              </a:spcAft>
              <a:buSzPct val="100000"/>
              <a:buChar char="•"/>
            </a:pPr>
            <a:r>
              <a:rPr lang="en-US" sz="1350" dirty="0">
                <a:solidFill>
                  <a:schemeClr val="tx2"/>
                </a:solidFill>
              </a:rPr>
              <a:t>Microsoft: lift and shift isn't preferred</a:t>
            </a:r>
            <a:endParaRPr lang="en-US" sz="1400" dirty="0"/>
          </a:p>
          <a:p>
            <a:pPr marL="342900" indent="-342900">
              <a:spcAft>
                <a:spcPts val="600"/>
              </a:spcAft>
              <a:buSzPct val="100000"/>
              <a:buChar char="•"/>
            </a:pPr>
            <a:r>
              <a:rPr lang="en-US" sz="1350" dirty="0">
                <a:solidFill>
                  <a:schemeClr val="tx2"/>
                </a:solidFill>
              </a:rPr>
              <a:t>Regenerate from today's requirements</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Record every setting that Group Policy and Intune both touch before Intune enforces it, with a retirement date for the GPO copy</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Endpoint engineering lead</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Intune enforces on a population</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Group Policy analytics; MDMWinsOverGP (Policy CSP); co-management workloads; cloud-native Windows tutorial. Book 05, Chapters 01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Hybrid join is a waypoint, not a destination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Left to right. A grey box, existing domain-joined device, leads by an arrow labelled minimal user impact to an amber card tagged waypoint, Microsoft Entra hybrid joined: not an end state, still needs line of sight to a domain controller. From the amber card an arrow labelled at refresh or rebuild, reset required, leads to a green card tagged recommended end state, Microsoft Entra joined, the default for new devices. A separate grey box, new, refurbished or reset device, leads directly to the green card by an arrow labelled default. A dashed red line from the amber card leads to a red card tagged ungoverned: the waypoint becomes the destination, with no exit plan and no refresh trigger.">    </p:cNvPr>
          <p:cNvPicPr>
            <a:picLocks noChangeAspect="1"/>
          </p:cNvPicPr>
          <p:nvPr/>
        </p:nvPicPr>
        <p:blipFill>
          <a:blip r:embed="rId1"/>
          <a:stretch>
            <a:fillRect/>
          </a:stretch>
        </p:blipFill>
        <p:spPr>
          <a:xfrm>
            <a:off x="606466" y="1371600"/>
            <a:ext cx="4273468" cy="3291840"/>
          </a:xfrm>
          <a:prstGeom prst="rect">
            <a:avLst/>
          </a:prstGeom>
        </p:spPr>
      </p:pic>
      <p:sp>
        <p:nvSpPr>
          <p:cNvPr id="6" name="Switch box" descr="">
            <a:extLst>
              <a:ext uri="{C183D7F6-B498-43B3-948B-1728B52AA6E4}">
                <adec:decorative xmlns:adec="http://schemas.microsoft.com/office/drawing/2017/decorative" val="1"/>
              </a:ext>
            </a:extLst>
          </p:cNvPr>
          <p:cNvSpPr/>
          <p:nvPr/>
        </p:nvSpPr>
        <p:spPr>
          <a:xfrm>
            <a:off x="5166360" y="1371600"/>
            <a:ext cx="6492240" cy="2432304"/>
          </a:xfrm>
          <a:prstGeom prst="roundRect">
            <a:avLst>
              <a:gd name="adj" fmla="val 300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RightLeft" descr="">
            <a:extLst>
              <a:ext uri="{C183D7F6-B498-43B3-948B-1728B52AA6E4}">
                <adec:decorative xmlns:adec="http://schemas.microsoft.com/office/drawing/2017/decorative" val="1"/>
              </a:ext>
            </a:extLst>
          </p:cNvPr>
          <p:cNvSpPr/>
          <p:nvPr/>
        </p:nvSpPr>
        <p:spPr>
          <a:xfrm>
            <a:off x="539496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526634" y="1649578"/>
            <a:ext cx="285293" cy="285293"/>
          </a:xfrm>
          <a:prstGeom prst="rect">
            <a:avLst/>
          </a:prstGeom>
        </p:spPr>
      </p:pic>
      <p:sp>
        <p:nvSpPr>
          <p:cNvPr id="9" name="Switch head"/>
          <p:cNvSpPr txBox="1"/>
          <p:nvPr/>
        </p:nvSpPr>
        <p:spPr>
          <a:xfrm>
            <a:off x="6080760" y="1517904"/>
            <a:ext cx="544068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A switch that looks like a program</a:t>
            </a:r>
            <a:endParaRPr lang="en-US" sz="1650" dirty="0"/>
          </a:p>
        </p:txBody>
      </p:sp>
      <p:sp>
        <p:nvSpPr>
          <p:cNvPr id="10" name="Switch list"/>
          <p:cNvSpPr txBox="1"/>
          <p:nvPr/>
        </p:nvSpPr>
        <p:spPr>
          <a:xfrm>
            <a:off x="5394960" y="2212848"/>
            <a:ext cx="608076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sync-scope change and one SCP per forest</a:t>
            </a:r>
            <a:endParaRPr lang="en-US" sz="1400" dirty="0"/>
          </a:p>
          <a:p>
            <a:pPr marL="342900" indent="-342900">
              <a:spcAft>
                <a:spcPts val="600"/>
              </a:spcAft>
              <a:buSzPct val="100000"/>
              <a:buChar char="•"/>
            </a:pPr>
            <a:r>
              <a:rPr lang="en-US" sz="1350" dirty="0">
                <a:solidFill>
                  <a:schemeClr val="tx2"/>
                </a:solidFill>
              </a:rPr>
              <a:t>Then every device registers itself</a:t>
            </a:r>
            <a:endParaRPr lang="en-US" sz="1400" dirty="0"/>
          </a:p>
          <a:p>
            <a:pPr marL="342900" indent="-342900">
              <a:spcAft>
                <a:spcPts val="600"/>
              </a:spcAft>
              <a:buSzPct val="100000"/>
              <a:buChar char="•"/>
            </a:pPr>
            <a:r>
              <a:rPr lang="en-US" sz="1350" dirty="0">
                <a:solidFill>
                  <a:schemeClr val="tx2"/>
                </a:solidFill>
              </a:rPr>
              <a:t>No ownership, position or approval check</a:t>
            </a:r>
            <a:endParaRPr lang="en-US" sz="1400" dirty="0"/>
          </a:p>
          <a:p>
            <a:pPr marL="342900" indent="-342900">
              <a:spcAft>
                <a:spcPts val="600"/>
              </a:spcAft>
              <a:buSzPct val="100000"/>
              <a:buChar char="•"/>
            </a:pPr>
            <a:r>
              <a:rPr lang="en-US" sz="1350" dirty="0">
                <a:solidFill>
                  <a:schemeClr val="tx2"/>
                </a:solidFill>
              </a:rPr>
              <a:t>Moving to Entra join later needs a reset</a:t>
            </a:r>
            <a:endParaRPr lang="en-US" sz="1400" dirty="0"/>
          </a:p>
          <a:p>
            <a:pPr marL="342900" indent="-342900">
              <a:spcAft>
                <a:spcPts val="600"/>
              </a:spcAft>
              <a:buSzPct val="100000"/>
              <a:buChar char="•"/>
            </a:pPr>
            <a:r>
              <a:rPr lang="en-US" sz="1350" dirty="0">
                <a:solidFill>
                  <a:schemeClr val="tx2"/>
                </a:solidFill>
              </a:rPr>
              <a:t>Still needs a domain controller in sight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Give every hybrid-joined device a target of Entra join and a trigger event, such as its refresh date, and set the domain-unjoin waves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Sponsor and CIO (unjoin timing)</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first hybrid-join wave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hybrid join configuration and planning; device join types; Autopilot hybrid guidance. Book 05, Chapter 02; Chapter 06 (domain-unjoin timing).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an ungoverned flip loses, and never covers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514600"/>
                <a:gridCol w="37947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Classic AD provided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An ungoverned flip loses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Ownership and position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New device objects map to no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One object per machine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Duplicate and phantom records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Scoped, gradual rollout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Enforcing early locks users out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Provenance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Thousands of changes, none attributable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Lifecycle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Retired machines linger as "managed"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ever box" descr="">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PlugCircleXmar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Never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Hybrid join never covers</a:t>
            </a:r>
            <a:endParaRPr lang="en-US" sz="1650" dirty="0"/>
          </a:p>
        </p:txBody>
      </p:sp>
      <p:sp>
        <p:nvSpPr>
          <p:cNvPr id="10" name="Never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macOS, iOS, Android and Linux</a:t>
            </a:r>
            <a:endParaRPr lang="en-US" sz="1400" dirty="0"/>
          </a:p>
          <a:p>
            <a:pPr marL="342900" indent="-342900">
              <a:spcAft>
                <a:spcPts val="600"/>
              </a:spcAft>
              <a:buSzPct val="100000"/>
              <a:buChar char="•"/>
            </a:pPr>
            <a:r>
              <a:rPr lang="en-US" sz="1350" dirty="0">
                <a:solidFill>
                  <a:schemeClr val="tx2"/>
                </a:solidFill>
              </a:rPr>
              <a:t>Personal and contractor devices</a:t>
            </a:r>
            <a:endParaRPr lang="en-US" sz="1400" dirty="0"/>
          </a:p>
          <a:p>
            <a:pPr marL="342900" indent="-342900">
              <a:spcAft>
                <a:spcPts val="600"/>
              </a:spcAft>
              <a:buSzPct val="100000"/>
              <a:buChar char="•"/>
            </a:pPr>
            <a:r>
              <a:rPr lang="en-US" sz="1350" dirty="0">
                <a:solidFill>
                  <a:schemeClr val="tx2"/>
                </a:solidFill>
              </a:rPr>
              <a:t>Servers, kiosks and virtual desktops</a:t>
            </a:r>
            <a:endParaRPr lang="en-US" sz="1400" dirty="0"/>
          </a:p>
          <a:p>
            <a:pPr marL="342900" indent="-342900">
              <a:spcAft>
                <a:spcPts val="600"/>
              </a:spcAft>
              <a:buSzPct val="100000"/>
              <a:buChar char="•"/>
            </a:pPr>
            <a:r>
              <a:rPr lang="en-US" sz="1350" dirty="0">
                <a:solidFill>
                  <a:schemeClr val="tx2"/>
                </a:solidFill>
              </a:rPr>
              <a:t>Domain controllers and Server Core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Gate fleet-wide device-state changes on human approval, wave by wave, with the managed-device policy run in report-only until coverage is measured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Endpoint lead per wave; CISO for enforcement</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Each wave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hybrid join FAQ and planning; pending devices; stale devices; Conditional Access device policy template. Book 05, Chapters 02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Each fact about a device has one source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772400" cy="914400"/>
        </p:xfrm>
        <a:graphic>
          <a:graphicData uri="http://schemas.openxmlformats.org/drawingml/2006/table">
            <a:tbl>
              <a:tblPr firstRow="1" bandRow="1"/>
              <a:tblGrid>
                <a:gridCol w="3291840"/>
                <a:gridCol w="44805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Fact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Authoritative origin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Ownership and purpose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Procurement or asset record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Organizational assignment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Procurement, checked against the registry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 identity and join type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Microsoft Entra ID device object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Management of endpoints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Intune enrollment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Management of servers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Azure Arc onboarding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Compliance state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Intune compliance evaluation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Threat and exposure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Defender for Endpoint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pic>
        <p:nvPicPr>
          <p:cNvPr id="6" name="Image 0" descr="A top-to-bottom map of six records. At the top, a violet card for the procurement record and CMDB, authoritative for ownership and purpose, assigned location, organizational assignment and lifecycle. An arrow labeled serial, group tag, PO runs down to a blue card for the Windows Autopilot registration, authoritative for the hardware hash to tenant binding, group tag and purchase order ID; an arrow labeled tags runs to a blue card for the Azure Arc machine resource, authoritative for the Azure resource ID, tags, policy, extensions and ESU license state. The Autopilot card points down to a blue card tagged anchor, the Microsoft Entra ID device object, holding device identity, join type, group membership and BitLocker recovery keys, with the label registration creates object; a dashed arrow labeled managed identity runs from the Arc card to the same card. Below it, a two-way arrow labeled deviceId equals azureADDeviceId, isCompliant written back links the Entra card to a blue card for the Intune managed device, authoritative for enrollment and ownership, compliance evaluation and configuration. A dashed arrow labeled aadDeviceId runs from the Entra card to a violet card for Defender for Endpoint, authoritative for risk, exposure, health and onboarding, which sends a violet arrow labeled machine risk score to the Intune card.">    </p:cNvPr>
          <p:cNvPicPr>
            <a:picLocks noChangeAspect="1"/>
          </p:cNvPicPr>
          <p:nvPr/>
        </p:nvPicPr>
        <p:blipFill>
          <a:blip r:embed="rId1"/>
          <a:stretch>
            <a:fillRect/>
          </a:stretch>
        </p:blipFill>
        <p:spPr>
          <a:xfrm>
            <a:off x="8934320" y="1371600"/>
            <a:ext cx="2476761" cy="3291840"/>
          </a:xfrm>
          <a:prstGeom prst="rect">
            <a:avLst/>
          </a:prstGeom>
        </p:spPr>
      </p:pic>
      <p:sp>
        <p:nvSpPr>
          <p:cNvPr id="7"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Icon FaDatabas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0"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Drift is fixed at the origin, never at the copy.  </a:t>
            </a:r>
            <a:pPr indent="0" marL="0">
              <a:buNone/>
            </a:pPr>
            <a:r>
              <a:rPr lang="en-US" sz="1650" dirty="0">
                <a:solidFill>
                  <a:schemeClr val="tx2"/>
                </a:solidFill>
              </a:rPr>
              <a:t>A tag, group or category that can't be traced back to its source is drift, however reasonable the edit looked.</a:t>
            </a:r>
            <a:endParaRPr lang="en-US" sz="165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Intune supported platforms; Graph managed device and Autopilot identity; Defender machine resource; Arc agent. Book 05,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Intune-first: no ungoverned device, ever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flow of five cards. Phase 1, Procure, owned by procurement: approved purchase order with the organizational assignment, gated on validation against the organizational registry. Phase 2, Pre-stage, owned by procurement and the vendor: vendor program record such as an Autopilot registration with group tag or an Apple Business Manager assignment, gated on the record carrying the assignment. Phase 3, Position, owned by the governance pipeline: mapping committed to the governance repository and reviewed. Phase 4, Provision, by the end user or IT with zero-touch: enrolled, assigned, compliant device, gated on compliance returning Compliant and Conditional Access granting access. Phase 5, Validate, owned by the governance pipeline: validation record in the audit log. Phases 1 to 4 are blue and phase 5 is green. A red card on the right labeled Quarantine, UNPOSITIONED plus a governance ticket, receives dashed red arrows labeled gate fails from phase 3, phase 4 and phase 5.">    </p:cNvPr>
          <p:cNvPicPr>
            <a:picLocks noChangeAspect="1"/>
          </p:cNvPicPr>
          <p:nvPr/>
        </p:nvPicPr>
        <p:blipFill>
          <a:blip r:embed="rId1"/>
          <a:stretch>
            <a:fillRect/>
          </a:stretch>
        </p:blipFill>
        <p:spPr>
          <a:xfrm>
            <a:off x="620118" y="1371600"/>
            <a:ext cx="3240325" cy="3291840"/>
          </a:xfrm>
          <a:prstGeom prst="rect">
            <a:avLst/>
          </a:prstGeom>
        </p:spPr>
      </p:pic>
      <p:sp>
        <p:nvSpPr>
          <p:cNvPr id="6" name="Pillars box" descr="">
            <a:extLst>
              <a:ext uri="{C183D7F6-B498-43B3-948B-1728B52AA6E4}">
                <adec:decorative xmlns:adec="http://schemas.microsoft.com/office/drawing/2017/decorative" val="1"/>
              </a:ext>
            </a:extLst>
          </p:cNvPr>
          <p:cNvSpPr/>
          <p:nvPr/>
        </p:nvSpPr>
        <p:spPr>
          <a:xfrm>
            <a:off x="4160520" y="1371600"/>
            <a:ext cx="7498080" cy="2432304"/>
          </a:xfrm>
          <a:prstGeom prst="roundRect">
            <a:avLst>
              <a:gd name="adj" fmla="val 300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Laptop" descr="">
            <a:extLst>
              <a:ext uri="{C183D7F6-B498-43B3-948B-1728B52AA6E4}">
                <adec:decorative xmlns:adec="http://schemas.microsoft.com/office/drawing/2017/decorative" val="1"/>
              </a:ext>
            </a:extLst>
          </p:cNvPr>
          <p:cNvSpPr/>
          <p:nvPr/>
        </p:nvSpPr>
        <p:spPr>
          <a:xfrm>
            <a:off x="438912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20794" y="1649578"/>
            <a:ext cx="285293" cy="285293"/>
          </a:xfrm>
          <a:prstGeom prst="rect">
            <a:avLst/>
          </a:prstGeom>
        </p:spPr>
      </p:pic>
      <p:sp>
        <p:nvSpPr>
          <p:cNvPr id="9" name="Pillars head"/>
          <p:cNvSpPr txBox="1"/>
          <p:nvPr/>
        </p:nvSpPr>
        <p:spPr>
          <a:xfrm>
            <a:off x="5074920" y="1517904"/>
            <a:ext cx="644652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The five pillars, program doctrine</a:t>
            </a:r>
            <a:endParaRPr lang="en-US" sz="1650" dirty="0"/>
          </a:p>
        </p:txBody>
      </p:sp>
      <p:sp>
        <p:nvSpPr>
          <p:cNvPr id="10" name="Pillars list"/>
          <p:cNvSpPr txBox="1"/>
          <p:nvPr/>
        </p:nvSpPr>
        <p:spPr>
          <a:xfrm>
            <a:off x="4389120" y="2212848"/>
            <a:ext cx="70866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ungoverned device, ever; quarantine is the safety valve</a:t>
            </a:r>
            <a:endParaRPr lang="en-US" sz="1400" dirty="0"/>
          </a:p>
          <a:p>
            <a:pPr marL="342900" indent="-342900">
              <a:spcAft>
                <a:spcPts val="600"/>
              </a:spcAft>
              <a:buSzPct val="100000"/>
              <a:buChar char="•"/>
            </a:pPr>
            <a:r>
              <a:rPr lang="en-US" sz="1350" dirty="0">
                <a:solidFill>
                  <a:schemeClr val="tx2"/>
                </a:solidFill>
              </a:rPr>
              <a:t>Procurement is the first governance step</a:t>
            </a:r>
            <a:endParaRPr lang="en-US" sz="1400" dirty="0"/>
          </a:p>
          <a:p>
            <a:pPr marL="342900" indent="-342900">
              <a:spcAft>
                <a:spcPts val="600"/>
              </a:spcAft>
              <a:buSzPct val="100000"/>
              <a:buChar char="•"/>
            </a:pPr>
            <a:r>
              <a:rPr lang="en-US" sz="1350" dirty="0">
                <a:solidFill>
                  <a:schemeClr val="tx2"/>
                </a:solidFill>
              </a:rPr>
              <a:t>Zero-touch only; manual enrollment is an exception</a:t>
            </a:r>
            <a:endParaRPr lang="en-US" sz="1400" dirty="0"/>
          </a:p>
          <a:p>
            <a:pPr marL="342900" indent="-342900">
              <a:spcAft>
                <a:spcPts val="600"/>
              </a:spcAft>
              <a:buSzPct val="100000"/>
              <a:buChar char="•"/>
            </a:pPr>
            <a:r>
              <a:rPr lang="en-US" sz="1350" dirty="0">
                <a:solidFill>
                  <a:schemeClr val="tx2"/>
                </a:solidFill>
              </a:rPr>
              <a:t>One management plane: Intune for endpoints, Arc for servers</a:t>
            </a:r>
            <a:endParaRPr lang="en-US" sz="1400" dirty="0"/>
          </a:p>
          <a:p>
            <a:pPr marL="342900" indent="-342900">
              <a:spcAft>
                <a:spcPts val="600"/>
              </a:spcAft>
              <a:buSzPct val="100000"/>
              <a:buChar char="•"/>
            </a:pPr>
            <a:r>
              <a:rPr lang="en-US" sz="1350" dirty="0">
                <a:solidFill>
                  <a:schemeClr val="tx2"/>
                </a:solidFill>
              </a:rPr>
              <a:t>Quarantine on failure; never silently degrade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No new device joins on-premises AD, Configuration Manager co-management or hybrid join; each is governed from first power-on, with its assignment set at the purchase order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Sponsor and CIO (scope)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From the next purchase order</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device identity and join guidance; Intune supported platforms; Autopilot registration. Book 05, Chapter 04; Chapter 06 (scope).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Compliance is the access signal; make it fail closed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mp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DECIDES WHETHER A DEVICE IS TRUSTED</a:t>
            </a:r>
            <a:endParaRPr lang="en-US" sz="1200" dirty="0"/>
          </a:p>
        </p:txBody>
      </p:sp>
      <p:sp>
        <p:nvSpPr>
          <p:cNvPr id="6" name="Comp 0" descr="">
            <a:extLst>
              <a:ext uri="{C183D7F6-B498-43B3-948B-1728B52AA6E4}">
                <adec:decorative xmlns:adec="http://schemas.microsoft.com/office/drawing/2017/decorative" val="1"/>
              </a:ext>
            </a:extLst>
          </p:cNvPr>
          <p:cNvSpPr/>
          <p:nvPr/>
        </p:nvSpPr>
        <p:spPr>
          <a:xfrm>
            <a:off x="548640" y="1737360"/>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Comp 0 text"/>
          <p:cNvSpPr txBox="1"/>
          <p:nvPr/>
        </p:nvSpPr>
        <p:spPr>
          <a:xfrm>
            <a:off x="731520" y="1737360"/>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No policy assigned   </a:t>
            </a:r>
            <a:pPr indent="0" marL="0">
              <a:buNone/>
            </a:pPr>
            <a:r>
              <a:rPr lang="en-US" sz="1350" dirty="0">
                <a:solidFill>
                  <a:schemeClr val="tx2"/>
                </a:solidFill>
              </a:rPr>
              <a:t>Marked not compliant, never passed</a:t>
            </a:r>
            <a:endParaRPr lang="en-US" sz="1350" dirty="0"/>
          </a:p>
        </p:txBody>
      </p:sp>
      <p:sp>
        <p:nvSpPr>
          <p:cNvPr id="8" name="Comp 1" descr="">
            <a:extLst>
              <a:ext uri="{C183D7F6-B498-43B3-948B-1728B52AA6E4}">
                <adec:decorative xmlns:adec="http://schemas.microsoft.com/office/drawing/2017/decorative" val="1"/>
              </a:ext>
            </a:extLst>
          </p:cNvPr>
          <p:cNvSpPr/>
          <p:nvPr/>
        </p:nvSpPr>
        <p:spPr>
          <a:xfrm>
            <a:off x="548640" y="2450592"/>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Comp 1 text"/>
          <p:cNvSpPr txBox="1"/>
          <p:nvPr/>
        </p:nvSpPr>
        <p:spPr>
          <a:xfrm>
            <a:off x="731520" y="2450592"/>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Validity window   </a:t>
            </a:r>
            <a:pPr indent="0" marL="0">
              <a:buNone/>
            </a:pPr>
            <a:r>
              <a:rPr lang="en-US" sz="1350" dirty="0">
                <a:solidFill>
                  <a:schemeClr val="tx2"/>
                </a:solidFill>
              </a:rPr>
              <a:t>14 days without a report: noncompliant</a:t>
            </a:r>
            <a:endParaRPr lang="en-US" sz="1350" dirty="0"/>
          </a:p>
        </p:txBody>
      </p:sp>
      <p:sp>
        <p:nvSpPr>
          <p:cNvPr id="10" name="Comp 2" descr="">
            <a:extLst>
              <a:ext uri="{C183D7F6-B498-43B3-948B-1728B52AA6E4}">
                <adec:decorative xmlns:adec="http://schemas.microsoft.com/office/drawing/2017/decorative" val="1"/>
              </a:ext>
            </a:extLst>
          </p:cNvPr>
          <p:cNvSpPr/>
          <p:nvPr/>
        </p:nvSpPr>
        <p:spPr>
          <a:xfrm>
            <a:off x="548640" y="3163824"/>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Comp 2 text"/>
          <p:cNvSpPr txBox="1"/>
          <p:nvPr/>
        </p:nvSpPr>
        <p:spPr>
          <a:xfrm>
            <a:off x="731520" y="3163824"/>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Grace period   </a:t>
            </a:r>
            <a:pPr indent="0" marL="0">
              <a:buNone/>
            </a:pPr>
            <a:r>
              <a:rPr lang="en-US" sz="1350" dirty="0">
                <a:solidFill>
                  <a:schemeClr val="tx2"/>
                </a:solidFill>
              </a:rPr>
              <a:t>0 to 365 days: a risk decision</a:t>
            </a:r>
            <a:endParaRPr lang="en-US" sz="1350" dirty="0"/>
          </a:p>
        </p:txBody>
      </p:sp>
      <p:sp>
        <p:nvSpPr>
          <p:cNvPr id="12" name="Comp 3" descr="">
            <a:extLst>
              <a:ext uri="{C183D7F6-B498-43B3-948B-1728B52AA6E4}">
                <adec:decorative xmlns:adec="http://schemas.microsoft.com/office/drawing/2017/decorative" val="1"/>
              </a:ext>
            </a:extLst>
          </p:cNvPr>
          <p:cNvSpPr/>
          <p:nvPr/>
        </p:nvSpPr>
        <p:spPr>
          <a:xfrm>
            <a:off x="548640" y="3877056"/>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Comp 3 text"/>
          <p:cNvSpPr txBox="1"/>
          <p:nvPr/>
        </p:nvSpPr>
        <p:spPr>
          <a:xfrm>
            <a:off x="731520" y="3877056"/>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Defender risk   </a:t>
            </a:r>
            <a:pPr indent="0" marL="0">
              <a:buNone/>
            </a:pPr>
            <a:r>
              <a:rPr lang="en-US" sz="1350" dirty="0">
                <a:solidFill>
                  <a:schemeClr val="tx2"/>
                </a:solidFill>
              </a:rPr>
              <a:t>A detection on Tier 0 costs access</a:t>
            </a:r>
            <a:endParaRPr lang="en-US" sz="1350" dirty="0"/>
          </a:p>
        </p:txBody>
      </p:sp>
      <p:sp>
        <p:nvSpPr>
          <p:cNvPr id="14" name="Base box" descr="">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Icon FaShieldHalve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7" name="Base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A new device's baseline</a:t>
            </a:r>
            <a:endParaRPr lang="en-US" sz="1650" dirty="0"/>
          </a:p>
        </p:txBody>
      </p:sp>
      <p:sp>
        <p:nvSpPr>
          <p:cNvPr id="18" name="Base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BitLocker, Secure Boot, TPM, firewall</a:t>
            </a:r>
            <a:endParaRPr lang="en-US" sz="1400" dirty="0"/>
          </a:p>
          <a:p>
            <a:pPr marL="342900" indent="-342900">
              <a:spcAft>
                <a:spcPts val="600"/>
              </a:spcAft>
              <a:buSzPct val="100000"/>
              <a:buChar char="•"/>
            </a:pPr>
            <a:r>
              <a:rPr lang="en-US" sz="1350" dirty="0">
                <a:solidFill>
                  <a:schemeClr val="tx2"/>
                </a:solidFill>
              </a:rPr>
              <a:t>Antivirus current; a minimum OS version</a:t>
            </a:r>
            <a:endParaRPr lang="en-US" sz="1400" dirty="0"/>
          </a:p>
          <a:p>
            <a:pPr marL="342900" indent="-342900">
              <a:spcAft>
                <a:spcPts val="600"/>
              </a:spcAft>
              <a:buSzPct val="100000"/>
              <a:buChar char="•"/>
            </a:pPr>
            <a:r>
              <a:rPr lang="en-US" sz="1350" dirty="0">
                <a:solidFill>
                  <a:schemeClr val="tx2"/>
                </a:solidFill>
              </a:rPr>
              <a:t>Microsoft security baselines, reviewed</a:t>
            </a:r>
            <a:endParaRPr lang="en-US" sz="1400" dirty="0"/>
          </a:p>
          <a:p>
            <a:pPr marL="342900" indent="-342900">
              <a:spcAft>
                <a:spcPts val="600"/>
              </a:spcAft>
              <a:buSzPct val="100000"/>
              <a:buChar char="•"/>
            </a:pPr>
            <a:r>
              <a:rPr lang="en-US" sz="1350" dirty="0">
                <a:solidFill>
                  <a:schemeClr val="tx2"/>
                </a:solidFill>
              </a:rPr>
              <a:t>In GCC: classic Autopilot, Entra join</a:t>
            </a:r>
            <a:endParaRPr lang="en-US" sz="1400" dirty="0"/>
          </a:p>
          <a:p>
            <a:pPr marL="342900" indent="-342900">
              <a:spcAft>
                <a:spcPts val="600"/>
              </a:spcAft>
              <a:buSzPct val="100000"/>
              <a:buChar char="•"/>
            </a:pPr>
            <a:r>
              <a:rPr lang="en-US" sz="1350" dirty="0">
                <a:solidFill>
                  <a:schemeClr val="tx2"/>
                </a:solidFill>
              </a:rPr>
              <a:t>Review Not evaluated and Error weekly</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Mark devices with no compliance policy as not compliant, and set the grace period and validity window before compliance feeds Conditional Access</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(compliance rules and grace period)</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Conditional Access uses compliance</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compliance settings and monitoring; noncompliance actions; Conditional Access grant; Autopilot in GCC. Book 05, Chapters 04, 06,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device that can't enroll is a governed exception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194560"/>
                <a:gridCol w="411480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Exception path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permits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Personal 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Work profile or registration: lower assurance beats none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 Linux off Intune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Azure Arc and machine configuration instead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 Pre-2025 servers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Arc-managed without Entra sign-in, for now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 Can't enroll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Lab, OT and validated-image PCs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thD box" descr="">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PlugCircleXmar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PathD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Path D, in order</a:t>
            </a:r>
            <a:endParaRPr lang="en-US" sz="1650" dirty="0"/>
          </a:p>
        </p:txBody>
      </p:sp>
      <p:sp>
        <p:nvSpPr>
          <p:cNvPr id="10" name="PathD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Isolate it on its own network segment</a:t>
            </a:r>
            <a:endParaRPr lang="en-US" sz="1400" dirty="0"/>
          </a:p>
          <a:p>
            <a:pPr marL="342900" indent="-342900">
              <a:spcAft>
                <a:spcPts val="600"/>
              </a:spcAft>
              <a:buSzPct val="100000"/>
              <a:buChar char="•"/>
            </a:pPr>
            <a:r>
              <a:rPr lang="en-US" sz="1350" dirty="0">
                <a:solidFill>
                  <a:schemeClr val="tx2"/>
                </a:solidFill>
              </a:rPr>
              <a:t>Manage Defender settings where it connects</a:t>
            </a:r>
            <a:endParaRPr lang="en-US" sz="1400" dirty="0"/>
          </a:p>
          <a:p>
            <a:pPr marL="342900" indent="-342900">
              <a:spcAft>
                <a:spcPts val="600"/>
              </a:spcAft>
              <a:buSzPct val="100000"/>
              <a:buChar char="•"/>
            </a:pPr>
            <a:r>
              <a:rPr lang="en-US" sz="1350" dirty="0">
                <a:solidFill>
                  <a:schemeClr val="tx2"/>
                </a:solidFill>
              </a:rPr>
              <a:t>A named exclusion, 90-day review</a:t>
            </a:r>
            <a:endParaRPr lang="en-US" sz="1400" dirty="0"/>
          </a:p>
          <a:p>
            <a:pPr marL="342900" indent="-342900">
              <a:spcAft>
                <a:spcPts val="600"/>
              </a:spcAft>
              <a:buSzPct val="100000"/>
              <a:buChar char="•"/>
            </a:pPr>
            <a:r>
              <a:rPr lang="en-US" sz="1350" dirty="0">
                <a:solidFill>
                  <a:schemeClr val="tx2"/>
                </a:solidFill>
              </a:rPr>
              <a:t>Other sign-in controls stay on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Allow a device that can't enroll only as a named exclusion with an owner, a 90-day review and the authorizing official's risk acceptance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its users reach protected resources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Conditional Access grant and device filters; Defender security settings management; Arc sign-in. Book 05, Chapters 04,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paths to one governed end state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4754880"/>
                <a:gridCol w="155448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If the estate…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Small estate or pilot; no control plane yet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Manual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Hundreds of devices, or an AO must sign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Governed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Already modernized by hand; now needs proof</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Retrofit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Must stay domain-joined this wave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Any, sequenced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adder"/>
          <p:cNvSpPr txBox="1"/>
          <p:nvPr/>
        </p:nvSpPr>
        <p:spPr>
          <a:xfrm>
            <a:off x="548640" y="3749040"/>
            <a:ext cx="6309360" cy="868680"/>
          </a:xfrm>
          <a:prstGeom prst="rect">
            <a:avLst/>
          </a:prstGeom>
          <a:noFill/>
          <a:ln/>
        </p:spPr>
        <p:txBody>
          <a:bodyPr wrap="square" lIns="0" tIns="0" rIns="0" bIns="0" rtlCol="0" anchor="ctr"/>
          <a:lstStyle/>
          <a:p>
            <a:pPr indent="0" marL="0">
              <a:buNone/>
            </a:pPr>
            <a:r>
              <a:rPr lang="en-US" sz="1350" b="1" dirty="0">
                <a:solidFill>
                  <a:srgbClr val="1F2A44"/>
                </a:solidFill>
              </a:rPr>
              <a:t>Every path:  </a:t>
            </a:r>
            <a:pPr indent="0" marL="0">
              <a:buNone/>
            </a:pPr>
            <a:r>
              <a:rPr lang="en-US" sz="1350" dirty="0">
                <a:solidFill>
                  <a:schemeClr val="tx2"/>
                </a:solidFill>
              </a:rPr>
              <a:t>observe before you change anything, dry-run first, report-only before enforcement, and a human approves each high-impact write. Autonomous change is refused.</a:t>
            </a:r>
            <a:endParaRPr lang="en-US" sz="1350" dirty="0"/>
          </a:p>
        </p:txBody>
      </p:sp>
      <p:pic>
        <p:nvPicPr>
          <p:cNvPr id="7" name="Image 0" descr="Five cards in a row, left to right. L0, Record, in slate: desired state written down. L1, Observe, in violet: read-only audits and drift. L2, Advise, in violet: change-set previewed, not applied. L3 ceiling, Gated, in green: human approves, applied through the provider API; the arrow into it is labeled approval reference. L4, Autonomous, in red: no human in the loop, refused; the dashed red arrow into it is labeled blocked.">    </p:cNvPr>
          <p:cNvPicPr>
            <a:picLocks noChangeAspect="1"/>
          </p:cNvPicPr>
          <p:nvPr/>
        </p:nvPicPr>
        <p:blipFill>
          <a:blip r:embed="rId1"/>
          <a:stretch>
            <a:fillRect/>
          </a:stretch>
        </p:blipFill>
        <p:spPr>
          <a:xfrm>
            <a:off x="7173058" y="1371600"/>
            <a:ext cx="1290124" cy="3291840"/>
          </a:xfrm>
          <a:prstGeom prst="rect">
            <a:avLst/>
          </a:prstGeom>
        </p:spPr>
      </p:pic>
      <p:sp>
        <p:nvSpPr>
          <p:cNvPr id="8" name="MAA box" descr="">
            <a:extLst>
              <a:ext uri="{C183D7F6-B498-43B3-948B-1728B52AA6E4}">
                <adec:decorative xmlns:adec="http://schemas.microsoft.com/office/drawing/2017/decorative" val="1"/>
              </a:ext>
            </a:extLst>
          </p:cNvPr>
          <p:cNvSpPr/>
          <p:nvPr/>
        </p:nvSpPr>
        <p:spPr>
          <a:xfrm>
            <a:off x="8732520" y="1371600"/>
            <a:ext cx="2926080" cy="2487168"/>
          </a:xfrm>
          <a:prstGeom prst="roundRect">
            <a:avLst>
              <a:gd name="adj" fmla="val 294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Icon FaUserCheck" descr="">
            <a:extLst>
              <a:ext uri="{C183D7F6-B498-43B3-948B-1728B52AA6E4}">
                <adec:decorative xmlns:adec="http://schemas.microsoft.com/office/drawing/2017/decorative" val="1"/>
              </a:ext>
            </a:extLst>
          </p:cNvPr>
          <p:cNvSpPr/>
          <p:nvPr/>
        </p:nvSpPr>
        <p:spPr>
          <a:xfrm>
            <a:off x="8961120" y="1517904"/>
            <a:ext cx="548640" cy="548640"/>
          </a:xfrm>
          <a:prstGeom prst="ellipse">
            <a:avLst/>
          </a:prstGeom>
          <a:solidFill>
            <a:srgbClr val="1F2A44"/>
          </a:solidFill>
          <a:ln w="12700">
            <a:solidFill>
              <a:srgbClr val="1F2A44"/>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92794" y="1649578"/>
            <a:ext cx="285293" cy="285293"/>
          </a:xfrm>
          <a:prstGeom prst="rect">
            <a:avLst/>
          </a:prstGeom>
        </p:spPr>
      </p:pic>
      <p:sp>
        <p:nvSpPr>
          <p:cNvPr id="11" name="MAA head"/>
          <p:cNvSpPr txBox="1"/>
          <p:nvPr/>
        </p:nvSpPr>
        <p:spPr>
          <a:xfrm>
            <a:off x="9646920" y="1517904"/>
            <a:ext cx="187452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A native second approver</a:t>
            </a:r>
            <a:endParaRPr lang="en-US" sz="1650" dirty="0"/>
          </a:p>
        </p:txBody>
      </p:sp>
      <p:sp>
        <p:nvSpPr>
          <p:cNvPr id="12" name="MAA list"/>
          <p:cNvSpPr txBox="1"/>
          <p:nvPr/>
        </p:nvSpPr>
        <p:spPr>
          <a:xfrm>
            <a:off x="8961120" y="2212848"/>
            <a:ext cx="2514600" cy="1554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Intune Multi Admin Approval</a:t>
            </a:r>
            <a:endParaRPr lang="en-US" sz="1400" dirty="0"/>
          </a:p>
          <a:p>
            <a:pPr marL="342900" indent="-342900">
              <a:spcAft>
                <a:spcPts val="600"/>
              </a:spcAft>
              <a:buSzPct val="100000"/>
              <a:buChar char="•"/>
            </a:pPr>
            <a:r>
              <a:rPr lang="en-US" sz="1350" dirty="0">
                <a:solidFill>
                  <a:schemeClr val="tx2"/>
                </a:solidFill>
              </a:rPr>
              <a:t>The requester can't approve</a:t>
            </a:r>
            <a:endParaRPr lang="en-US" sz="1400" dirty="0"/>
          </a:p>
          <a:p>
            <a:pPr marL="342900" indent="-342900">
              <a:spcAft>
                <a:spcPts val="600"/>
              </a:spcAft>
              <a:buSzPct val="100000"/>
              <a:buChar char="•"/>
            </a:pPr>
            <a:r>
              <a:rPr lang="en-US" sz="1350" dirty="0">
                <a:solidFill>
                  <a:schemeClr val="tx2"/>
                </a:solidFill>
              </a:rPr>
              <a:t>Covers wipe, retire, delete</a:t>
            </a:r>
            <a:endParaRPr lang="en-US" sz="1400" dirty="0"/>
          </a:p>
        </p:txBody>
      </p:sp>
      <p:sp>
        <p:nvSpPr>
          <p:cNvPr id="13"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6"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Choose the path: governed for any estate over a few hundred devices or wherever an authorizing official must sign the change</a:t>
            </a:r>
            <a:endParaRPr lang="en-US" sz="1400" dirty="0"/>
          </a:p>
        </p:txBody>
      </p:sp>
      <p:sp>
        <p:nvSpPr>
          <p:cNvPr id="17"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Sponsor and CIO (path choice)</a:t>
            </a:r>
            <a:endParaRPr lang="en-US" sz="1400" dirty="0"/>
          </a:p>
        </p:txBody>
      </p:sp>
      <p:sp>
        <p:nvSpPr>
          <p:cNvPr id="18"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onboarding starts</a:t>
            </a:r>
            <a:endParaRPr lang="en-US" sz="1400" dirty="0"/>
          </a:p>
        </p:txBody>
      </p:sp>
      <p:sp>
        <p:nvSpPr>
          <p:cNvPr id="1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report-only mode; emergency access; Intune Multi Admin Approval. Book 05, Chapters 05, 06. Paths and ladder: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owns the endpoint: deciding isn't doing</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of cards. Top row, decision makers: the sponsor and CIO in amber, who own scope, sequence and domain-unjoin timing; the authorizing official in amber, who accepts residual risk and standing exceptions; and the CISO and ISSO in violet, who set baselines, compliance rules and evidence. Middle row: endpoint engineering in blue, which designs and does Intune policy, enrollment and update rings; server infrastructure in blue, which designs and does Arc onboarding, machine configuration and patching; and application owners and packaging in slate, who decide for their app on packages, NTLM and SPN dependencies and test sign-off. Bottom row: security operations in violet, which operates Defender alerts and drift and compliance signals; the help desk in green, which supports with scoped device actions, recovery keys and LAPS; and end users in green, who enroll, pilot and report problems. Arrows run from the sponsor to endpoint engineering labeled scope, from the authorizing official to server infrastructure labeled risk decision, and from the CISO and ISSO to both engineering teams labeled requirements. A dashed two-way arrow labeled consulted connects application owners and endpoint engineering. Endpoint engineering sends signals to security operations and runbooks to the help desk, which supports end users.">    </p:cNvPr>
          <p:cNvPicPr>
            <a:picLocks noChangeAspect="1"/>
          </p:cNvPicPr>
          <p:nvPr/>
        </p:nvPicPr>
        <p:blipFill>
          <a:blip r:embed="rId1"/>
          <a:stretch>
            <a:fillRect/>
          </a:stretch>
        </p:blipFill>
        <p:spPr>
          <a:xfrm>
            <a:off x="548640" y="1691392"/>
            <a:ext cx="6309360" cy="2652255"/>
          </a:xfrm>
          <a:prstGeom prst="rect">
            <a:avLst/>
          </a:prstGeom>
        </p:spPr>
      </p:pic>
      <p:sp>
        <p:nvSpPr>
          <p:cNvPr id="6" name="Console box" descr="">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Console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Risk decisions made in a console</a:t>
            </a:r>
            <a:endParaRPr lang="en-US" sz="1650" dirty="0"/>
          </a:p>
        </p:txBody>
      </p:sp>
      <p:sp>
        <p:nvSpPr>
          <p:cNvPr id="10" name="Console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30-day compliance grace period</a:t>
            </a:r>
            <a:endParaRPr lang="en-US" sz="1400" dirty="0"/>
          </a:p>
          <a:p>
            <a:pPr marL="342900" indent="-342900">
              <a:spcAft>
                <a:spcPts val="600"/>
              </a:spcAft>
              <a:buSzPct val="100000"/>
              <a:buChar char="•"/>
            </a:pPr>
            <a:r>
              <a:rPr lang="en-US" sz="1350" dirty="0">
                <a:solidFill>
                  <a:schemeClr val="tx2"/>
                </a:solidFill>
              </a:rPr>
              <a:t>A GPO left in place beside Intune</a:t>
            </a:r>
            <a:endParaRPr lang="en-US" sz="1400" dirty="0"/>
          </a:p>
          <a:p>
            <a:pPr marL="342900" indent="-342900">
              <a:spcAft>
                <a:spcPts val="600"/>
              </a:spcAft>
              <a:buSzPct val="100000"/>
              <a:buChar char="•"/>
            </a:pPr>
            <a:r>
              <a:rPr lang="en-US" sz="1350" dirty="0">
                <a:solidFill>
                  <a:schemeClr val="tx2"/>
                </a:solidFill>
              </a:rPr>
              <a:t>Exempting a kiosk class from BitLocker</a:t>
            </a:r>
            <a:endParaRPr lang="en-US" sz="1400" dirty="0"/>
          </a:p>
          <a:p>
            <a:pPr marL="342900" indent="-342900">
              <a:spcAft>
                <a:spcPts val="600"/>
              </a:spcAft>
              <a:buSzPct val="100000"/>
              <a:buChar char="•"/>
            </a:pPr>
            <a:r>
              <a:rPr lang="en-US" sz="1350" dirty="0">
                <a:solidFill>
                  <a:schemeClr val="tx2"/>
                </a:solidFill>
              </a:rPr>
              <a:t>One decider per row, written down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Route every standing exception, or any past the agency's limit, to the authorizing official on a schedule; the CISO decides temporary ones with an end date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AO for standing; CISO for temporary</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On a schedule, not once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(roles); Microsoft Learn — Arc security, Defender for Servers, Intune roles. Book 05, Chapter 06;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what for devices and servers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309360" cy="914400"/>
        </p:xfrm>
        <a:graphic>
          <a:graphicData uri="http://schemas.openxmlformats.org/drawingml/2006/table">
            <a:tbl>
              <a:tblPr firstRow="1" bandRow="1"/>
              <a:tblGrid>
                <a:gridCol w="4023360"/>
                <a:gridCol w="22860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Path, scope and domain-unjoin timing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Baselines, compliance rules, grace period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How Conditional Access uses compliance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Update rings and deferral periods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Pausing a ring after a bad update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The team running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Group Policy setting retirement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Endpoint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 deployment; NTLM limits per app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Pilot and wave go/no-go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Endpoint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Standing exceptions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Help desk checks before a wipe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oles box" descr="">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Role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Three role systems, one model</a:t>
            </a:r>
            <a:endParaRPr lang="en-US" sz="1650" dirty="0"/>
          </a:p>
        </p:txBody>
      </p:sp>
      <p:sp>
        <p:nvSpPr>
          <p:cNvPr id="10" name="Roles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roles: the tenant and directory</a:t>
            </a:r>
            <a:endParaRPr lang="en-US" sz="1400" dirty="0"/>
          </a:p>
          <a:p>
            <a:pPr marL="342900" indent="-342900">
              <a:spcAft>
                <a:spcPts val="600"/>
              </a:spcAft>
              <a:buSzPct val="100000"/>
              <a:buChar char="•"/>
            </a:pPr>
            <a:r>
              <a:rPr lang="en-US" sz="1350" dirty="0">
                <a:solidFill>
                  <a:schemeClr val="tx2"/>
                </a:solidFill>
              </a:rPr>
              <a:t>Intune roles, limited by scope tags</a:t>
            </a:r>
            <a:endParaRPr lang="en-US" sz="1400" dirty="0"/>
          </a:p>
          <a:p>
            <a:pPr marL="342900" indent="-342900">
              <a:spcAft>
                <a:spcPts val="600"/>
              </a:spcAft>
              <a:buSzPct val="100000"/>
              <a:buChar char="•"/>
            </a:pPr>
            <a:r>
              <a:rPr lang="en-US" sz="1350" dirty="0">
                <a:solidFill>
                  <a:schemeClr val="tx2"/>
                </a:solidFill>
              </a:rPr>
              <a:t>Azure roles for Arc servers</a:t>
            </a:r>
            <a:endParaRPr lang="en-US" sz="1400" dirty="0"/>
          </a:p>
          <a:p>
            <a:pPr marL="342900" indent="-342900">
              <a:spcAft>
                <a:spcPts val="600"/>
              </a:spcAft>
              <a:buSzPct val="100000"/>
              <a:buChar char="•"/>
            </a:pPr>
            <a:r>
              <a:rPr lang="en-US" sz="1350" dirty="0">
                <a:solidFill>
                  <a:schemeClr val="tx2"/>
                </a:solidFill>
              </a:rPr>
              <a:t>Arc Contributor is a server admin</a:t>
            </a:r>
            <a:endParaRPr lang="en-US" sz="1400" dirty="0"/>
          </a:p>
          <a:p>
            <a:pPr marL="342900" indent="-342900">
              <a:spcAft>
                <a:spcPts val="600"/>
              </a:spcAft>
              <a:buSzPct val="100000"/>
              <a:buChar char="•"/>
            </a:pPr>
            <a:r>
              <a:rPr lang="en-US" sz="1350" dirty="0">
                <a:solidFill>
                  <a:schemeClr val="tx2"/>
                </a:solidFill>
              </a:rPr>
              <a:t>Intune Administrator: not daily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Put a second approver in front of high-impact Intune changes with Multi Admin Approval; the security office owns the approver groups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(security office)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fleet-wide policy changes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Intune RBAC and scope tags; Entra roles; Arc built-in roles; Multi Admin Approval; update rings. Book 05,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Sunset Group Policy setting by setting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decision tree that starts from a slate pill, one GPO setting from the inventory. Question 1, still required in the target operating model: if no, a green card, retire, do not translate, obsolete, redundant or high-risk. If yes, question 2, native equivalent in the settings catalog or Endpoint security: if yes, a blue card, migrate to an Intune policy, settings catalog including ADMX, or an Endpoint security policy. If no, question 3, a cloud-native pattern that replaces the need rather than the setting: if yes, a blue card, replace with a cloud-native pattern such as Known Folder Move, Universal Print, Windows LAPS or update rings. If no, question 4, can a script enforce and prove it: if yes, an amber interim card, remediation script, detect and fix, licensed per user. If no, a red card, dated exception with owner, reason and review date, where the GPO stays linked for that population only.">    </p:cNvPr>
          <p:cNvPicPr>
            <a:picLocks noChangeAspect="1"/>
          </p:cNvPicPr>
          <p:nvPr/>
        </p:nvPicPr>
        <p:blipFill>
          <a:blip r:embed="rId1"/>
          <a:stretch>
            <a:fillRect/>
          </a:stretch>
        </p:blipFill>
        <p:spPr>
          <a:xfrm>
            <a:off x="548640" y="1379556"/>
            <a:ext cx="4663440" cy="3275929"/>
          </a:xfrm>
          <a:prstGeom prst="rect">
            <a:avLst/>
          </a:prstGeom>
        </p:spPr>
      </p:pic>
      <p:sp>
        <p:nvSpPr>
          <p:cNvPr id="6" name="Rules box" descr="">
            <a:extLst>
              <a:ext uri="{C183D7F6-B498-43B3-948B-1728B52AA6E4}">
                <adec:decorative xmlns:adec="http://schemas.microsoft.com/office/drawing/2017/decorative" val="1"/>
              </a:ext>
            </a:extLst>
          </p:cNvPr>
          <p:cNvSpPr/>
          <p:nvPr/>
        </p:nvSpPr>
        <p:spPr>
          <a:xfrm>
            <a:off x="5440680" y="1371600"/>
            <a:ext cx="6217920" cy="2432304"/>
          </a:xfrm>
          <a:prstGeom prst="roundRect">
            <a:avLst>
              <a:gd name="adj" fmla="val 300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566928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00954" y="1649578"/>
            <a:ext cx="285293" cy="285293"/>
          </a:xfrm>
          <a:prstGeom prst="rect">
            <a:avLst/>
          </a:prstGeom>
        </p:spPr>
      </p:pic>
      <p:sp>
        <p:nvSpPr>
          <p:cNvPr id="9" name="Rules head"/>
          <p:cNvSpPr txBox="1"/>
          <p:nvPr/>
        </p:nvSpPr>
        <p:spPr>
          <a:xfrm>
            <a:off x="6355080" y="1517904"/>
            <a:ext cx="516636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The rules that keep it honest</a:t>
            </a:r>
            <a:endParaRPr lang="en-US" sz="1650" dirty="0"/>
          </a:p>
        </p:txBody>
      </p:sp>
      <p:sp>
        <p:nvSpPr>
          <p:cNvPr id="10" name="Rules list"/>
          <p:cNvSpPr txBox="1"/>
          <p:nvPr/>
        </p:nvSpPr>
        <p:spPr>
          <a:xfrm>
            <a:off x="5669280" y="2212848"/>
            <a:ext cx="58064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Retire before you translate</a:t>
            </a:r>
            <a:endParaRPr lang="en-US" sz="1400" dirty="0"/>
          </a:p>
          <a:p>
            <a:pPr marL="342900" indent="-342900">
              <a:spcAft>
                <a:spcPts val="600"/>
              </a:spcAft>
              <a:buSzPct val="100000"/>
              <a:buChar char="•"/>
            </a:pPr>
            <a:r>
              <a:rPr lang="en-US" sz="1350" dirty="0">
                <a:solidFill>
                  <a:schemeClr val="tx2"/>
                </a:solidFill>
              </a:rPr>
              <a:t>One authority per setting</a:t>
            </a:r>
            <a:endParaRPr lang="en-US" sz="1400" dirty="0"/>
          </a:p>
          <a:p>
            <a:pPr marL="342900" indent="-342900">
              <a:spcAft>
                <a:spcPts val="600"/>
              </a:spcAft>
              <a:buSzPct val="100000"/>
              <a:buChar char="•"/>
            </a:pPr>
            <a:r>
              <a:rPr lang="en-US" sz="1350" dirty="0">
                <a:solidFill>
                  <a:schemeClr val="tx2"/>
                </a:solidFill>
              </a:rPr>
              <a:t>Evidence before unlink: Intune reports success</a:t>
            </a:r>
            <a:endParaRPr lang="en-US" sz="1400" dirty="0"/>
          </a:p>
          <a:p>
            <a:pPr marL="342900" indent="-342900">
              <a:spcAft>
                <a:spcPts val="600"/>
              </a:spcAft>
              <a:buSzPct val="100000"/>
              <a:buChar char="•"/>
            </a:pPr>
            <a:r>
              <a:rPr lang="en-US" sz="1350" dirty="0">
                <a:solidFill>
                  <a:schemeClr val="tx2"/>
                </a:solidFill>
              </a:rPr>
              <a:t>Disable links first; keep GPOs 90 days</a:t>
            </a:r>
            <a:endParaRPr lang="en-US" sz="1400" dirty="0"/>
          </a:p>
          <a:p>
            <a:pPr marL="342900" indent="-342900">
              <a:spcAft>
                <a:spcPts val="600"/>
              </a:spcAft>
              <a:buSzPct val="100000"/>
              <a:buChar char="•"/>
            </a:pPr>
            <a:r>
              <a:rPr lang="en-US" sz="1350" dirty="0">
                <a:solidFill>
                  <a:schemeClr val="tx2"/>
                </a:solidFill>
              </a:rPr>
              <a:t>Exceptions expire: an owner and a review date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Freeze every inventoried GPO, send new requirements to Intune, and disable no link until its replacement reports success on that population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Endpoint engineering lead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From the inventory onward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cloud-native Windows guidance; settings catalog; co-management workloads; Backup-GPO and Set-GPLink. Book 05, Chapters 07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Seven phases, about 34 weeks, each with a gate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543800" cy="914400"/>
        </p:xfrm>
        <a:graphic>
          <a:graphicData uri="http://schemas.openxmlformats.org/drawingml/2006/table">
            <a:tbl>
              <a:tblPr firstRow="1" bandRow="1"/>
              <a:tblGrid>
                <a:gridCol w="2651760"/>
                <a:gridCol w="1828800"/>
                <a:gridCol w="306324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Planning estimate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Exit gate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  Inventory and classify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3–5 weeks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decision for every setting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  Coexistence planning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2–3 weeks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authority per workload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  Baseline authoring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3–4 weeks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Built, unassigned, reviewed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  Pilot, about 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4–6 weeks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unexplained conflicts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5  Cutover, four waves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8–12 weeks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Each wave watched 72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6  Verification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About 2 weeks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migrated device on a GPO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7  Formal retirement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 weeks + 90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Only dated exceptions left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pic>
        <p:nvPicPr>
          <p:cNvPr id="6" name="Image 0" descr="Seven cards in a chain, each with a phase number, focus, typical duration and the exit gate. Phase 1, slate, inventory and classify, 3 to 5 weeks, gate: a decision record for every setting and a captured baseline. Phase 2, amber, coexistence planning, 2 to 3 weeks, gate: pilot devices enrolled and co-managed, one authority per workload. Phase 3, blue, baseline authoring, 3 to 4 weeks, gate: policies built, unassigned and peer reviewed. Phase 4, blue, pilot, 4 to 6 weeks, gate: no unexplained conflicts on a representative five percent. Phase 5, blue, workload cutover in four waves, 8 to 12 weeks, gate: each wave watched 72 hours before the next. Phase 6, violet, verification and residual cleanup, about 2 weeks, gate: residual settings cleared and evidence collected. Phase 7, green, formal retirement, about 2 weeks plus a 90-day retention window, gate: GPOs archived and deleted, only dated exceptions remain. A red note under the chain reads: rollback while a phase is open, remove assignments, return the slider, re-enable the link.">    </p:cNvPr>
          <p:cNvPicPr>
            <a:picLocks noChangeAspect="1"/>
          </p:cNvPicPr>
          <p:nvPr/>
        </p:nvPicPr>
        <p:blipFill>
          <a:blip r:embed="rId1"/>
          <a:stretch>
            <a:fillRect/>
          </a:stretch>
        </p:blipFill>
        <p:spPr>
          <a:xfrm>
            <a:off x="8769936" y="1371600"/>
            <a:ext cx="2714088" cy="3291840"/>
          </a:xfrm>
          <a:prstGeom prst="rect">
            <a:avLst/>
          </a:prstGeom>
        </p:spPr>
      </p:pic>
      <p:sp>
        <p:nvSpPr>
          <p:cNvPr id="7"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0"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Approve the wave plan and its exit gates, and make each wave's go or no-go on measured results, not the calendar</a:t>
            </a:r>
            <a:endParaRPr lang="en-US" sz="1400" dirty="0"/>
          </a:p>
        </p:txBody>
      </p:sp>
      <p:sp>
        <p:nvSpPr>
          <p:cNvPr id="11"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Endpoint engineering; sponsor sets sequence</a:t>
            </a:r>
            <a:endParaRPr lang="en-US" sz="1400" dirty="0"/>
          </a:p>
        </p:txBody>
      </p:sp>
      <p:sp>
        <p:nvSpPr>
          <p:cNvPr id="12"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each phase and wave</a:t>
            </a:r>
            <a:endParaRPr lang="en-US" sz="14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Windows 10 end of support; co-management workloads. Book 05, Chapters 06 and 08. Durations are planning estimates.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Servers come under governance through Azure Arc</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Left to right. A slate card for the on-premises or other-cloud server running the Connected Machine agent, still domain joined until a separate decision. An arrow labeled outbound TCP 443 leads to a blue card for the Azure Arc machine resource, Microsoft.HybridCompute/machines, holding resource ID, tags, Azure RBAC and extensions. Below it, a blue card for the system-assigned managed identity in Microsoft Entra ID, connected by a dashed line. From the resource, three arrows lead to three cards on the right: a violet card, Govern, Azure Policy and machine configuration audit the security baseline; a green card, Patch, Azure Update Manager and Extended Security Updates; and a violet card, Protect and sign in, Defender for Servers onboards Defender for Endpoint, and the Entra ID sign-in extension on Windows Server 2025.">    </p:cNvPr>
          <p:cNvPicPr>
            <a:picLocks noChangeAspect="1"/>
          </p:cNvPicPr>
          <p:nvPr/>
        </p:nvPicPr>
        <p:blipFill>
          <a:blip r:embed="rId1"/>
          <a:stretch>
            <a:fillRect/>
          </a:stretch>
        </p:blipFill>
        <p:spPr>
          <a:xfrm>
            <a:off x="548640" y="1402773"/>
            <a:ext cx="5120640" cy="3229495"/>
          </a:xfrm>
          <a:prstGeom prst="rect">
            <a:avLst/>
          </a:prstGeom>
        </p:spPr>
      </p:pic>
      <p:sp>
        <p:nvSpPr>
          <p:cNvPr id="6" name="Arc box" descr="">
            <a:extLst>
              <a:ext uri="{C183D7F6-B498-43B3-948B-1728B52AA6E4}">
                <adec:decorative xmlns:adec="http://schemas.microsoft.com/office/drawing/2017/decorative" val="1"/>
              </a:ext>
            </a:extLst>
          </p:cNvPr>
          <p:cNvSpPr/>
          <p:nvPr/>
        </p:nvSpPr>
        <p:spPr>
          <a:xfrm>
            <a:off x="5897880" y="1371600"/>
            <a:ext cx="5760720" cy="2432304"/>
          </a:xfrm>
          <a:prstGeom prst="roundRect">
            <a:avLst>
              <a:gd name="adj" fmla="val 300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Server" descr="">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58154" y="1649578"/>
            <a:ext cx="285293" cy="285293"/>
          </a:xfrm>
          <a:prstGeom prst="rect">
            <a:avLst/>
          </a:prstGeom>
        </p:spPr>
      </p:pic>
      <p:sp>
        <p:nvSpPr>
          <p:cNvPr id="9" name="Arc head"/>
          <p:cNvSpPr txBox="1"/>
          <p:nvPr/>
        </p:nvSpPr>
        <p:spPr>
          <a:xfrm>
            <a:off x="6812280" y="1517904"/>
            <a:ext cx="470916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Arc does, and doesn't</a:t>
            </a:r>
            <a:endParaRPr lang="en-US" sz="1650" dirty="0"/>
          </a:p>
        </p:txBody>
      </p:sp>
      <p:sp>
        <p:nvSpPr>
          <p:cNvPr id="10" name="Arc list"/>
          <p:cNvSpPr txBox="1"/>
          <p:nvPr/>
        </p:nvSpPr>
        <p:spPr>
          <a:xfrm>
            <a:off x="6126480" y="2212848"/>
            <a:ext cx="53492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Adds a resource, RBAC, tags and policy</a:t>
            </a:r>
            <a:endParaRPr lang="en-US" sz="1400" dirty="0"/>
          </a:p>
          <a:p>
            <a:pPr marL="342900" indent="-342900">
              <a:spcAft>
                <a:spcPts val="600"/>
              </a:spcAft>
              <a:buSzPct val="100000"/>
              <a:buChar char="•"/>
            </a:pPr>
            <a:r>
              <a:rPr lang="en-US" sz="1350" dirty="0">
                <a:solidFill>
                  <a:schemeClr val="tx2"/>
                </a:solidFill>
              </a:rPr>
              <a:t>Doesn't unjoin the domain or change sign-in</a:t>
            </a:r>
            <a:endParaRPr lang="en-US" sz="1400" dirty="0"/>
          </a:p>
          <a:p>
            <a:pPr marL="342900" indent="-342900">
              <a:spcAft>
                <a:spcPts val="600"/>
              </a:spcAft>
              <a:buSzPct val="100000"/>
              <a:buChar char="•"/>
            </a:pPr>
            <a:r>
              <a:rPr lang="en-US" sz="1350" dirty="0">
                <a:solidFill>
                  <a:schemeClr val="tx2"/>
                </a:solidFill>
              </a:rPr>
              <a:t>Day one: configuration, patching, Defender</a:t>
            </a:r>
            <a:endParaRPr lang="en-US" sz="1400" dirty="0"/>
          </a:p>
          <a:p>
            <a:pPr marL="342900" indent="-342900">
              <a:spcAft>
                <a:spcPts val="600"/>
              </a:spcAft>
              <a:buSzPct val="100000"/>
              <a:buChar char="•"/>
            </a:pPr>
            <a:r>
              <a:rPr lang="en-US" sz="1350" dirty="0">
                <a:solidFill>
                  <a:schemeClr val="tx2"/>
                </a:solidFill>
              </a:rPr>
              <a:t>Onboard with a certificate, removed after</a:t>
            </a:r>
            <a:endParaRPr lang="en-US" sz="1400" dirty="0"/>
          </a:p>
          <a:p>
            <a:pPr marL="342900" indent="-342900">
              <a:spcAft>
                <a:spcPts val="600"/>
              </a:spcAft>
              <a:buSzPct val="100000"/>
              <a:buChar char="•"/>
            </a:pPr>
            <a:r>
              <a:rPr lang="en-US" sz="1350" dirty="0">
                <a:solidFill>
                  <a:schemeClr val="tx2"/>
                </a:solidFill>
              </a:rPr>
              <a:t>Entra sign-in: Server 2025, no Conditional Access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Plan each server's domain unjoin as its own decision, after its authentication dependencies are known; onboarding to Arc never implies it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Sponsor and CIO set waves; server team records each</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After the NTLM and SPN work</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Arc servers, agent and roles; machine configuration; Update Manager; Defender for Servers; Arc sign-in. Book 05, Chapters 06,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support dates that bind the fleet now</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058400" cy="914400"/>
        </p:xfrm>
        <a:graphic>
          <a:graphicData uri="http://schemas.openxmlformats.org/drawingml/2006/table">
            <a:tbl>
              <a:tblPr firstRow="1" bandRow="1"/>
              <a:tblGrid>
                <a:gridCol w="2834640"/>
                <a:gridCol w="4206240"/>
                <a:gridCol w="301752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Product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Status (as of Oct 20,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program's response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0624">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Windows Server 2012 / R2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Extended updates ended Oct 13,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Migrate, upgrade or isolate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Windows Server 2016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End of support Jan 12, 2027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Enroll in Arc ESUs 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Windows 11, version 23H2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Updates end Nov 10,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Target 25H2 now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SQL Server 2014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ESUs until July 2027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Plan the move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SQL Server 2016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ESUs until July 17, 2029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Track coverage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Windows 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Out of support since Oct 14,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exception with a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228539"/>
            <a:ext cx="332842" cy="332842"/>
          </a:xfrm>
          <a:prstGeom prst="rect">
            <a:avLst/>
          </a:prstGeom>
        </p:spPr>
      </p:pic>
      <p:sp>
        <p:nvSpPr>
          <p:cNvPr id="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Migrate, upgrade or isolate every Windows Server 2012 host now, and record a risk acceptance for any that must remain</a:t>
            </a:r>
            <a:endParaRPr lang="en-US" sz="1400" dirty="0"/>
          </a:p>
        </p:txBody>
      </p:sp>
      <p:sp>
        <p:nvSpPr>
          <p:cNvPr id="1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Server infrastructure; the AO accepts what remains</a:t>
            </a:r>
            <a:endParaRPr lang="en-US" sz="1400" dirty="0"/>
          </a:p>
        </p:txBody>
      </p:sp>
      <p:sp>
        <p:nvSpPr>
          <p:cNvPr id="1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Now: updates ended Oct 13, 2026</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ESUs enabled by Azure Arc; SQL Server ESUs; Windows 11 release information; Windows 10 end of support. Book 05, Chapters 08–10.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Update rings set the patch clock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188720"/>
                <a:gridCol w="2194560"/>
                <a:gridCol w="1463040"/>
                <a:gridCol w="146304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Population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Defer,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Deadline,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Lab 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Pilot, about 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Fast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About a quarter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Broad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Everyone else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ck"/>
          <p:cNvSpPr txBox="1"/>
          <p:nvPr/>
        </p:nvSpPr>
        <p:spPr>
          <a:xfrm>
            <a:off x="548640" y="3657600"/>
            <a:ext cx="6309360" cy="868680"/>
          </a:xfrm>
          <a:prstGeom prst="rect">
            <a:avLst/>
          </a:prstGeom>
          <a:noFill/>
          <a:ln/>
        </p:spPr>
        <p:txBody>
          <a:bodyPr wrap="square" lIns="0" tIns="0" rIns="0" bIns="0" rtlCol="0" anchor="ctr"/>
          <a:lstStyle/>
          <a:p>
            <a:pPr indent="0" marL="0">
              <a:buNone/>
            </a:pPr>
            <a:r>
              <a:rPr lang="en-US" sz="1400" b="1" dirty="0">
                <a:solidFill>
                  <a:srgbClr val="1F2A44"/>
                </a:solidFill>
              </a:rPr>
              <a:t>About 16 days  </a:t>
            </a:r>
            <a:pPr indent="0" marL="0">
              <a:buNone/>
            </a:pPr>
            <a:r>
              <a:rPr lang="en-US" sz="1400" dirty="0">
                <a:solidFill>
                  <a:schemeClr val="tx2"/>
                </a:solidFill>
              </a:rPr>
              <a:t>from release to every online device, and a bad update can be paused in Test or First before it reaches Broad.</a:t>
            </a:r>
            <a:endParaRPr lang="en-US" sz="1400" dirty="0"/>
          </a:p>
        </p:txBody>
      </p:sp>
      <p:sp>
        <p:nvSpPr>
          <p:cNvPr id="7" name="Auto box" descr="">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Icon FaArrowsRotat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0" name="Auto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Windows Autopatch, in GCC</a:t>
            </a:r>
            <a:endParaRPr lang="en-US" sz="1650" dirty="0"/>
          </a:p>
        </p:txBody>
      </p:sp>
      <p:sp>
        <p:nvSpPr>
          <p:cNvPr id="11" name="Auto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Included with Microsoft 365 G3 or G5 GCC</a:t>
            </a:r>
            <a:endParaRPr lang="en-US" sz="1400" dirty="0"/>
          </a:p>
          <a:p>
            <a:pPr marL="342900" indent="-342900">
              <a:spcAft>
                <a:spcPts val="600"/>
              </a:spcAft>
              <a:buSzPct val="100000"/>
              <a:buChar char="•"/>
            </a:pPr>
            <a:r>
              <a:rPr lang="en-US" sz="1350" dirty="0">
                <a:solidFill>
                  <a:schemeClr val="tx2"/>
                </a:solidFill>
              </a:rPr>
              <a:t>Not supported in GCC High or DoD</a:t>
            </a:r>
            <a:endParaRPr lang="en-US" sz="1400" dirty="0"/>
          </a:p>
          <a:p>
            <a:pPr marL="342900" indent="-342900">
              <a:spcAft>
                <a:spcPts val="600"/>
              </a:spcAft>
              <a:buSzPct val="100000"/>
              <a:buChar char="•"/>
            </a:pPr>
            <a:r>
              <a:rPr lang="en-US" sz="1350" dirty="0">
                <a:solidFill>
                  <a:schemeClr val="tx2"/>
                </a:solidFill>
              </a:rPr>
              <a:t>It runs the rings; don't add custom ones</a:t>
            </a:r>
            <a:endParaRPr lang="en-US" sz="1400" dirty="0"/>
          </a:p>
          <a:p>
            <a:pPr marL="342900" indent="-342900">
              <a:spcAft>
                <a:spcPts val="600"/>
              </a:spcAft>
              <a:buSzPct val="100000"/>
              <a:buChar char="•"/>
            </a:pPr>
            <a:r>
              <a:rPr lang="en-US" sz="1350" dirty="0">
                <a:solidFill>
                  <a:schemeClr val="tx2"/>
                </a:solidFill>
              </a:rPr>
              <a:t>Update evidence from Intune reports</a:t>
            </a:r>
            <a:endParaRPr lang="en-US" sz="1400" dirty="0"/>
          </a:p>
        </p:txBody>
      </p:sp>
      <p:sp>
        <p:nvSpPr>
          <p:cNvPr id="12"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Approve the ring deferrals and deadlines as the agency's flaw-remediation period for SI-2, and use Windows Autopatch where licensed</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(update cadence)</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update workload moves</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update rings; Windows Autopatch prerequisites and FAQ; update reports; NIST SP 800-53 SI-2. Book 05, Chapters 06,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Run the fleet on records, and retire it in order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op to bottom. A green card, desired state, lists the policy library: compliance, configuration, endpoint security and update rings. An arrow leads to a blue card, Intune and Defender for Endpoint, which deliver policy and collect per-device status, compliance state and alerts. An arrow leads to a slate card, devices, Windows 11 Entra joined. An arrow labelled reports leads to a violet card, scheduled comparison, listing compliance drift, configuration conflicts, update lag, inventory mismatches and Defender alerts. Two arrows leave it: a green one labelled fix at the source to an amber card, close the finding, either change the policy through change control or remediate the device; and a dashed violet one to a violet card, evidence store, holding audit logs, compliance exports, reports and decision records. A dashed violet arrow also runs from the amber card to the evidence store. A dashed blue arrow labelled compliance state runs from the Intune and Defender card to a violet card, Conditional Access, owned by Book 04.">    </p:cNvPr>
          <p:cNvPicPr>
            <a:picLocks noChangeAspect="1"/>
          </p:cNvPicPr>
          <p:nvPr/>
        </p:nvPicPr>
        <p:blipFill>
          <a:blip r:embed="rId1"/>
          <a:stretch>
            <a:fillRect/>
          </a:stretch>
        </p:blipFill>
        <p:spPr>
          <a:xfrm>
            <a:off x="594360" y="1371600"/>
            <a:ext cx="4114800" cy="3291840"/>
          </a:xfrm>
          <a:prstGeom prst="rect">
            <a:avLst/>
          </a:prstGeom>
        </p:spPr>
      </p:pic>
      <p:sp>
        <p:nvSpPr>
          <p:cNvPr id="6" name="Run box" descr="">
            <a:extLst>
              <a:ext uri="{C183D7F6-B498-43B3-948B-1728B52AA6E4}">
                <adec:decorative xmlns:adec="http://schemas.microsoft.com/office/drawing/2017/decorative" val="1"/>
              </a:ext>
            </a:extLst>
          </p:cNvPr>
          <p:cNvSpPr/>
          <p:nvPr/>
        </p:nvSpPr>
        <p:spPr>
          <a:xfrm>
            <a:off x="4983480" y="1371600"/>
            <a:ext cx="6675120" cy="2432304"/>
          </a:xfrm>
          <a:prstGeom prst="roundRect">
            <a:avLst>
              <a:gd name="adj" fmla="val 300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FileShield" descr="">
            <a:extLst>
              <a:ext uri="{C183D7F6-B498-43B3-948B-1728B52AA6E4}">
                <adec:decorative xmlns:adec="http://schemas.microsoft.com/office/drawing/2017/decorative" val="1"/>
              </a:ext>
            </a:extLst>
          </p:cNvPr>
          <p:cNvSpPr/>
          <p:nvPr/>
        </p:nvSpPr>
        <p:spPr>
          <a:xfrm>
            <a:off x="521208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343754" y="1649578"/>
            <a:ext cx="285293" cy="285293"/>
          </a:xfrm>
          <a:prstGeom prst="rect">
            <a:avLst/>
          </a:prstGeom>
        </p:spPr>
      </p:pic>
      <p:sp>
        <p:nvSpPr>
          <p:cNvPr id="9" name="Run head"/>
          <p:cNvSpPr txBox="1"/>
          <p:nvPr/>
        </p:nvSpPr>
        <p:spPr>
          <a:xfrm>
            <a:off x="5897880" y="1517904"/>
            <a:ext cx="562356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What the assessor reads</a:t>
            </a:r>
            <a:endParaRPr lang="en-US" sz="1650" dirty="0"/>
          </a:p>
        </p:txBody>
      </p:sp>
      <p:sp>
        <p:nvSpPr>
          <p:cNvPr id="10" name="Run list"/>
          <p:cNvSpPr txBox="1"/>
          <p:nvPr/>
        </p:nvSpPr>
        <p:spPr>
          <a:xfrm>
            <a:off x="5212080" y="2212848"/>
            <a:ext cx="62636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Policy library under version control: CM-2</a:t>
            </a:r>
            <a:endParaRPr lang="en-US" sz="1400" dirty="0"/>
          </a:p>
          <a:p>
            <a:pPr marL="342900" indent="-342900">
              <a:spcAft>
                <a:spcPts val="600"/>
              </a:spcAft>
              <a:buSzPct val="100000"/>
              <a:buChar char="•"/>
            </a:pPr>
            <a:r>
              <a:rPr lang="en-US" sz="1350" dirty="0">
                <a:solidFill>
                  <a:schemeClr val="tx2"/>
                </a:solidFill>
              </a:rPr>
              <a:t>Per-setting status and exceptions: CM-6</a:t>
            </a:r>
            <a:endParaRPr lang="en-US" sz="1400" dirty="0"/>
          </a:p>
          <a:p>
            <a:pPr marL="342900" indent="-342900">
              <a:spcAft>
                <a:spcPts val="600"/>
              </a:spcAft>
              <a:buSzPct val="100000"/>
              <a:buChar char="•"/>
            </a:pPr>
            <a:r>
              <a:rPr lang="en-US" sz="1350" dirty="0">
                <a:solidFill>
                  <a:schemeClr val="tx2"/>
                </a:solidFill>
              </a:rPr>
              <a:t>Weekly inventory reconciliation: CM-8</a:t>
            </a:r>
            <a:endParaRPr lang="en-US" sz="1400" dirty="0"/>
          </a:p>
          <a:p>
            <a:pPr marL="342900" indent="-342900">
              <a:spcAft>
                <a:spcPts val="600"/>
              </a:spcAft>
              <a:buSzPct val="100000"/>
              <a:buChar char="•"/>
            </a:pPr>
            <a:r>
              <a:rPr lang="en-US" sz="1350" dirty="0">
                <a:solidFill>
                  <a:schemeClr val="tx2"/>
                </a:solidFill>
              </a:rPr>
              <a:t>Ring results and deadlines: SI-2</a:t>
            </a:r>
            <a:endParaRPr lang="en-US" sz="1400" dirty="0"/>
          </a:p>
          <a:p>
            <a:pPr marL="342900" indent="-342900">
              <a:spcAft>
                <a:spcPts val="600"/>
              </a:spcAft>
              <a:buSzPct val="100000"/>
              <a:buChar char="•"/>
            </a:pPr>
            <a:r>
              <a:rPr lang="en-US" sz="1350" dirty="0">
                <a:solidFill>
                  <a:schemeClr val="tx2"/>
                </a:solidFill>
              </a:rPr>
              <a:t>Retire in order: keys exported first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Make the security office the decider for drift findings and compliance evidence, exported on a schedule from the services' own records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(drift findings and evidence)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From the first migrated wave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(CM-2, CM-6, CM-7, CM-8, SI-2); FedRAMP 20x KSIs; Microsoft Learn — retire, wipe, delete; stale devices. Book 05, Chapters 06,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35040"/>
                <a:gridCol w="2926080"/>
                <a:gridCol w="21488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Freeze GPOs; record overlaps; unlink only after success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Endpoint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From the inventory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join target for every hybrid device; set unjoin waves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the first wave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Gate each wave on measured results; report-only first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Endpoint lead; 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wave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new device in AD, co-management or hybrid join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Next purchase order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Fail closed: unassigned devices noncompliant; set grace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CA uses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Non-enrollable devices: named, reviewed, risk accepted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Governed path for large estates or AO-signed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onboarding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Standing exceptions to the AO, on a schedule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AO; CISO if temporary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Scheduled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Second approver on high-impact Intune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fleet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Each server's domain unjoin as its own 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After NTLM and SPN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Server 2012 hosts: migrate, upgrade or isolate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Server team; the 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Ring deadlines as the SI-2 period; Autopatch if licensed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update workload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Drift and evidence from the services' own records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First migrated wave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486400"/>
            <a:ext cx="11109960" cy="457200"/>
          </a:xfrm>
          <a:prstGeom prst="rect">
            <a:avLst/>
          </a:prstGeom>
          <a:noFill/>
          <a:ln/>
        </p:spPr>
        <p:txBody>
          <a:bodyPr wrap="square" lIns="0" tIns="0" rIns="0" bIns="0" rtlCol="0" anchor="ctr"/>
          <a:lstStyle/>
          <a:p>
            <a:pPr algn="ctr" indent="0" marL="0">
              <a:buNone/>
            </a:pPr>
            <a:r>
              <a:rPr lang="en-US" sz="1500" b="1" dirty="0">
                <a:solidFill>
                  <a:srgbClr val="B45309"/>
                </a:solidFill>
              </a:rPr>
              <a:t>Rebuild on purpose what the tree did implicitly.  </a:t>
            </a:r>
            <a:pPr algn="ctr" indent="0" marL="0">
              <a:buNone/>
            </a:pPr>
            <a:r>
              <a:rPr lang="en-US" sz="1500" dirty="0">
                <a:solidFill>
                  <a:schemeClr val="tx2"/>
                </a:solidFill>
              </a:rPr>
              <a:t>Every device governed from its first day, every change owned and evidenced.</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Oct 2026; NIST SP 800-53, 800-37. Book 05, Chapters 01–10. Undated timings are design guidance; durations, planning estimates.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frameworks and controls</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NIST SP 800-53 Rev. 5, release 5.2.0 (AC-2, AC-19, CM-2, CM-6, CM-7, CM-8, IA-3, MA-2, SC-15, SI-2, and the endpoint controls mapped in Chapter 10), as FedRAMP's 2026 control catalog uses it.  ·  NIST SP 800-37 Rev. 2 (roles).</a:t>
            </a:r>
            <a:endParaRPr lang="en-US" sz="1400" dirty="0"/>
          </a:p>
          <a:p>
            <a:pPr marL="342900" indent="-342900">
              <a:spcAft>
                <a:spcPts val="800"/>
              </a:spcAft>
              <a:buSzPct val="100000"/>
              <a:buChar char="•"/>
            </a:pPr>
            <a:r>
              <a:rPr lang="en-US" sz="1300" dirty="0">
                <a:solidFill>
                  <a:schemeClr val="tx2"/>
                </a:solidFill>
              </a:rPr>
              <a:t>FedRAMP, Consolidated Rules for 2026: Key Security Indicators (IAM, SVC, CNA, CMT, MLA, PIY themes); certification timeline.</a:t>
            </a:r>
            <a:endParaRPr lang="en-US" sz="1400" dirty="0"/>
          </a:p>
          <a:p>
            <a:pPr marL="342900" indent="-342900">
              <a:spcAft>
                <a:spcPts val="800"/>
              </a:spcAft>
              <a:buSzPct val="100000"/>
              <a:buChar char="•"/>
            </a:pPr>
            <a:r>
              <a:rPr lang="en-US" sz="1300" dirty="0">
                <a:solidFill>
                  <a:schemeClr val="tx2"/>
                </a:solidFill>
              </a:rPr>
              <a:t>Book 02, Chapter 06 — Who Owns the Migration (RMF role definitions the endpoint model applies).  ·  Book 04 — Access &amp; Privilege (Conditional Access use of device compliance).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Microsoft platform, as of October 2026</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Microsoft Learn, Windows and Group Policy: cloud-native endpoint planning and tutorial; Group Policy processing, scope and modeling; MDMWinsOverGP and the Policy CSP; Windows Hello for Business configuration; Windows 11 release information; Windows 10 end of support.</a:t>
            </a:r>
            <a:endParaRPr lang="en-US" sz="1400" dirty="0"/>
          </a:p>
          <a:p>
            <a:pPr marL="342900" indent="-342900">
              <a:spcAft>
                <a:spcPts val="800"/>
              </a:spcAft>
              <a:buSzPct val="100000"/>
              <a:buChar char="•"/>
            </a:pPr>
            <a:r>
              <a:rPr lang="en-US" sz="1300" dirty="0">
                <a:solidFill>
                  <a:schemeClr val="tx2"/>
                </a:solidFill>
              </a:rPr>
              <a:t>Microsoft Learn, device identity: device join types; hybrid join concept, configuration, controlled validation and planning; hybrid join FAQ; pending and stale devices; Windows Autopilot, device preparation, registration and government-cloud availability.</a:t>
            </a:r>
            <a:endParaRPr lang="en-US" sz="1400" dirty="0"/>
          </a:p>
          <a:p>
            <a:pPr marL="342900" indent="-342900">
              <a:spcAft>
                <a:spcPts val="800"/>
              </a:spcAft>
              <a:buSzPct val="100000"/>
              <a:buChar char="•"/>
            </a:pPr>
            <a:r>
              <a:rPr lang="en-US" sz="1300" dirty="0">
                <a:solidFill>
                  <a:schemeClr val="tx2"/>
                </a:solidFill>
              </a:rPr>
              <a:t>Microsoft Learn, Intune: supported platforms; Group Policy analytics; settings catalog and ADMX import; conflicts and check-in; compliance settings, monitoring and noncompliance actions; security baselines; RBAC, scope tags and Multi Admin Approval; update rings, Windows Autopatch and update reports; retire, wipe and delete; Configuration Manager co-management workloads.</a:t>
            </a:r>
            <a:endParaRPr lang="en-US" sz="1400" dirty="0"/>
          </a:p>
          <a:p>
            <a:pPr marL="342900" indent="-342900">
              <a:spcAft>
                <a:spcPts val="800"/>
              </a:spcAft>
              <a:buSzPct val="100000"/>
              <a:buChar char="•"/>
            </a:pPr>
            <a:r>
              <a:rPr lang="en-US" sz="1300" dirty="0">
                <a:solidFill>
                  <a:schemeClr val="tx2"/>
                </a:solidFill>
              </a:rPr>
              <a:t>Microsoft Learn, Azure: Azure Arc-enabled servers overview, agent, network, roles, onboarding and uninstall; Windows Server Management enabled by Arc; machine configuration; Azure Update Manager; Defender for Servers and security settings management; Extended Security Updates; Entra ID sign-in for Arc servers.</a:t>
            </a:r>
            <a:endParaRPr lang="en-US" sz="1400" dirty="0"/>
          </a:p>
          <a:p>
            <a:pPr marL="342900" indent="-342900">
              <a:spcAft>
                <a:spcPts val="800"/>
              </a:spcAft>
              <a:buSzPct val="100000"/>
              <a:buChar char="•"/>
            </a:pPr>
            <a:r>
              <a:rPr lang="en-US" sz="1300" dirty="0">
                <a:solidFill>
                  <a:schemeClr val="tx2"/>
                </a:solidFill>
              </a:rPr>
              <a:t>Full footnotes with links and access dates (October 20, 2026): Book 05, every chapter and Appendix A (whalermike.github.io/modernization-workbook/docs/books/b05-devices/).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requirements: full citations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017520"/>
                <a:gridCol w="4434840"/>
                <a:gridCol w="1783080"/>
                <a:gridCol w="1874520"/>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Primary 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Section or control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Used for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400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NIST SP 800-53 Rev. 5, Security and Privacy Controls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CM-2 Baseline Configuration; CM-6 Configuration Settings; CM-7 Least Functionality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Sept. 2020, updated Dec. 10, 2020; release 5.2.0, Aug. 27, 2025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track; Arc track (machine configuration)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NIST SP 800-53 Rev. 5, Security and Privacy Controls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CM-8 System Component Inventory; SI-2 Flaw Remediation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Sept. 2020, updated Dec. 10, 2020; release 5.2.0, Aug. 27, 2025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Inventory reconciliation; update rings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NIST SP 800-53 Rev. 5, Security and Privacy Controls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SA-22 Unsupported System Components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Sept. 2020, updated Dec. 10, 2020; release 5.2.0, Aug. 27, 2025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Arc track: end-of-support servers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OMB M-22-09, Moving the U.S. Government Toward Zero Trust Cybersecurity Principles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§III.A Identity: at least one device-level signal alongside identity. §III.B Devices: a complete inventory of every device; EDR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Jan. 26, 2022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and Arc tracks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Requirements note"/>
          <p:cNvSpPr txBox="1"/>
          <p:nvPr/>
        </p:nvSpPr>
        <p:spPr>
          <a:xfrm>
            <a:off x="548640" y="5486400"/>
            <a:ext cx="11109960" cy="502920"/>
          </a:xfrm>
          <a:prstGeom prst="rect">
            <a:avLst/>
          </a:prstGeom>
          <a:noFill/>
          <a:ln/>
        </p:spPr>
        <p:txBody>
          <a:bodyPr wrap="square" lIns="0" tIns="0" rIns="0" bIns="0" rtlCol="0" anchor="t"/>
          <a:lstStyle/>
          <a:p>
            <a:pPr indent="0" marL="0">
              <a:buNone/>
            </a:pPr>
            <a:r>
              <a:rPr lang="en-US" sz="1100" i="1" dirty="0">
                <a:solidFill>
                  <a:srgbClr val="64748B"/>
                </a:solidFill>
              </a:rPr>
              <a:t>Mapping from Book 05, Chapter 10 (evidence an assessor reads; FedRAMP adds no parameter values to these CM and SI controls), sources checked October 20, 2026, and Book 01, Appendix A (M-22-09; SA-22). The program's mapping for its assessors, not a compliance claim.</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05 — Devices &amp; Endpoints</dc:title>
  <dc:subject>PptxGenJS Presentation</dc:subject>
  <dc:creator>Michael F. Stratton</dc:creator>
  <cp:lastModifiedBy>Michael F. Stratton</cp:lastModifiedBy>
  <cp:revision>1</cp:revision>
  <dcterms:created xsi:type="dcterms:W3CDTF">2026-10-29T13:00:36Z</dcterms:created>
  <dcterms:modified xsi:type="dcterms:W3CDTF">2026-10-29T13:00:36Z</dcterms:modified>
</cp:coreProperties>
</file>