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116D019-3E10-9F75-8DC0-B5EE41CB007B}">
          <p14:sldIdLst>
            <p14:sldId id="256"/>
          </p14:sldIdLst>
        </p14:section>
        <p14:section name="Why" id="{548112D5-8A92-2816-53D3-E6969264D27A}">
          <p14:sldIdLst>
            <p14:sldId id="257"/>
            <p14:sldId id="258"/>
          </p14:sldIdLst>
        </p14:section>
        <p14:section name="What" id="{E4992014-38C9-9EFB-8B97-3DA0136B3FE8}">
          <p14:sldIdLst>
            <p14:sldId id="259"/>
            <p14:sldId id="260"/>
            <p14:sldId id="261"/>
            <p14:sldId id="262"/>
            <p14:sldId id="263"/>
            <p14:sldId id="264"/>
            <p14:sldId id="265"/>
            <p14:sldId id="266"/>
            <p14:sldId id="267"/>
          </p14:sldIdLst>
        </p14:section>
        <p14:section name="Who" id="{B8FE1D94-6815-992D-5BB1-DBD22593B5D4}">
          <p14:sldIdLst>
            <p14:sldId id="268"/>
          </p14:sldIdLst>
        </p14:section>
        <p14:section name="How" id="{ACD2E87F-59C6-5A3A-99B1-A768C77146C9}">
          <p14:sldIdLst>
            <p14:sldId id="269"/>
            <p14:sldId id="270"/>
            <p14:sldId id="271"/>
            <p14:sldId id="272"/>
            <p14:sldId id="273"/>
          </p14:sldIdLst>
        </p14:section>
        <p14:section name="Backup" id="{55CD917F-BCC5-CCC5-9350-BCE0161CB72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6682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5: PIM for Groups and the P R V groups. A privileged role reaches a person through one of these groups, so whoever controls the group controls the role, and that control belongs in a reviewed file. We'll start from Microsoft's own request samples, see what they leave out, then walk the file, the findings, the plan and its guards, two labs and the dangers. One note before we begin: the code is illustrative, tested against fixtures.
Detail: The chapter builds the groups behind the plan's task A2.1, "PRV role-assignable groups hold the eligible assignments," and the membership that task A3.3 later publishes through access packages. It starts with Microsoft's own PIM for Groups request samples, from the Microsoft Graph documentation, pinned in the repository, and sends them unmodified to a fake Graph to see what they do and what they leave out. Then it adds a module to examples/privileged-access for the rest: the PRV groups and their member and owner schedules as reviewed JSON, the two PIM policies each group carries, a read of the tenant before any write, findings, a plan with a diff, a dry run unless you pass -Apply, and guards that refuse the changes that lock people in or out. Lab 1 runs on a laptop with no tenant; Lab 2 uses a test tenant. Goal: one reviewed file says who may be a member or owner of each group, until when, on which ticket, and under which activation policy; from it the code produces a plan of Graph requests and a diff a reviewer can read, and applies it only when asked. For each rule you can say whether it is Microsoft's contract, Microsoft's sample, or the program's own design.
Sources: Microsoft Learn, "Govern membership and ownership of groups by using PIM for Groups," https://learn.microsoft.com/graph/api/resources/privilegedidentitymanagement-for-groups-api-overview?view=graph-rest-1.0 (accessed Oct 30, 2026).
Workbook: Building Privileged Access, Chapter 05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Because the program never hands a privileged role to a person directly. It hands it to a group with the tier in its name, so the tier shows up in every review and alert. That means the group itself is now the privilege: whoever adds a member, or changes the activation policy, has effectively changed who holds the role. Chapter 1 already reads these groups. This chapter writes them, from a reviewed file, and because people can still change membership around it, the code reads the tenant first and treats anything it didn't put there as drift.
Detail: Book 04 never assigns a privileged role to a person. It assigns the role to a role-assignable group named PRV-&lt;tier&gt;-&lt;role&gt;[-&lt;scope&gt;], such as PRV-T0-PrivRoleAdmin or PRV-T2-UserAdmin-AU-Finance, so that the tier shows in every review, alert and audit record (Book 04, Chapter 04). Chapter 01 reads those groups and flags a group that holds a role under any other name (PA-INV-03). This chapter writes them. Learn: administrators with group management roles, or group owners, can change membership through the groups API and override what PIM set. So the code reads the tenant before every plan, takes policy IDs from that read, and treats anything it didn't put there as drift.
Sources: Microsoft Learn, "Create eligibilityScheduleRequest" (privilegedAccessGroup), https://learn.microsoft.com/graph/api/privilegedaccessgroup-post-eligibilityschedulerequests?view=graph-rest-1.0 (accessed Oct 30, 2026). · Microsoft Learn, "Bring groups into Privileged Identity Management," https://learn.microsoft.com/entra/id-governance/privileged-identity-management/groups-discover-groups (accessed Oct 30, 2026).
Workbook: Building Privileged Access, Chapter 05 — “What the PRV groups have to hold”.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For a GCC tenant like this estate's, every call goes to the worldwide Graph host, and sign-in goes to the worldwide login page. GCC High and DoD have hosts of their own. Every PIM for Groups API page the chapter read lists the US Government clouds too, and the governance licensing PIM depends on is available in all three government environments. The module never guesses: you name the cloud on every run, and there's no default.
Detail: For Microsoft 365 GCC (Moderate), every call goes to graph.microsoft.com, the worldwide host, and sign-in to login.microsoftonline.com. GCC High uses graph.microsoft.us and DoD dod-graph.microsoft.us. Every PIM for Groups API page read for this chapter lists the global service, US Government L4 and US Government L5 in its national cloud table, and Microsoft Entra ID Governance, which PIM needs, is available in GCC, GCC High and DoD. The module takes the cloud from Chapter 01's table, by name, with no default.
Sources: Microsoft Learn, "Microsoft Graph national cloud deployments," https://learn.microsoft.com/graph/deployments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"List roleManagementPolicyAssignments," permissions for PIM for Groups and Examples 3 and 4, https://learn.microsoft.com/graph/api/policyroot-list-rolemanagementpolicyassignments?view=graph-rest-1.0 (accessed Oct 30, 2026). · Microsoft Learn, "Microsoft Entra feature availability," other Microsoft Entra products, https://learn.microsoft.com/entra/identity/authentication/feature-availability (accessed Oct 30, 2026).
Workbook: Building Privileged Access, Chapter 05 — “Which cloud, for these calls”.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Microsoft features meet in a P R V group, and it helps to keep them apart. A role-assignable group is the only kind that can hold an Entra role; you choose that at creation and can never change it, and there's a limit of five hundred. PIM for Groups is separate: just-in-time membership or ownership, each with its own policy. Book 04 combines them two ways. For an Entra role, the group is eligible and its members activate the role. For anything else, people are eligible for the group itself. The file records which.
Detail: Two Microsoft features meet in a PRV group, and they are independent of each other. Role-assignable groups: only a group created with isAssignableToRole set to true can hold a Microsoft Entra role. The property is set at creation and can't be changed; an existing group can't be converted. A tenant can have at most 500 of them. Membership must be assigned, never dynamic, and a group can't be a member. Creating one needs at least Privileged Role Administrator. Changing the credentials of a member or owner needs at least Privileged Authentication Administrator. The feature needs Microsoft Entra ID P1; just-in-time activation through PIM needs P2. PIM for Groups: just-in-time membership or ownership of a security or Microsoft 365 group, with policies like those for roles: approval, MFA, justification, a maximum activation time. Each group has two policies, one for membership and one for ownership. Any group can be managed except dynamic groups and groups synchronized from on-premises, and it doesn't have to be role-assignable. Book 04 uses them together in two ways. For a Microsoft Entra role, the group holds an eligible role assignment and its members are active; the member activates the role, which keeps the activation on the role's own settings. Learn recommends this pattern for roles with permissions in SharePoint, Exchange or Microsoft Purview, because activating group membership can take significant time to reach them. For privilege that isn't an Entra role (an Azure role, Intune scope, an application), the members are eligible for the group through PIM for Groups and activate their membership. The chapter's file carries both, as holds: entraRole or holds: azureRole.
Sources: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 Microsoft Learn, "Govern membership and ownership of groups by using PIM for Groups," https://learn.microsoft.com/graph/api/resources/privilegedidentitymanagement-for-groups-api-overview?view=graph-rest-1.0 (accessed Oct 30, 2026).
Workbook: Building Privileged Access, Chapter 05 — “What the PRV groups have to 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a group's privileged state actually lives. Not in the members list: eligible members don't appear there until they activate. Instead there are separate collections for eligible and active schedules, filtered by group, and two policies per group whose IDs you only learn by reading them. A few facts shape everything that follows. A group joins PIM the first time you touch it, its policy IDs change when it does, and it can never leave. And access packages are deferred to later, with one warning about expiry dates carried forward.
Detail: The group's own state is three collections under identityGovernance/privilegedAccess/group, each read with a filter on the group, and one policy per access type. Eligible members and owners: GET /identityGovernance/privilegedAccess/group/eligibilitySchedules?$filter=groupId eq '{id}'; accessId is member or owner; the filter is required. Active members and owners: GET .../assignmentSchedules?$filter=groupId eq '{id}'; assignmentType tells an activation from a standing assignment. Member and owner policies: GET /policies/roleManagementPolicyAssignments?$filter=scopeId eq '{id}' and scopeType eq 'Group'&amp;$expand=policy($expand=rules); roleDefinitionId is member or owner; the policy ID starts with Group_. A change to a schedule: POST .../eligibilityScheduleRequests or .../assignmentScheduleRequests, action adminAssign, adminUpdate, adminRemove and others. A change to a policy: PATCH /policies/roleManagementPolicies/{policyId}/rules/{ruleId}; the rule's @odata.type must be in the body. Three facts from Learn shape the code. Eligible membership doesn't appear in the group's members list; only active membership does. PIM onboards a group the first time you create a schedule or update its policy, the policy IDs change when it does, and a group can't be taken back out of PIM. And administrators with group management roles, or group owners, can change membership through the groups API and override what PIM set. The workbook's outline also names the access packages that grant PRV membership with approval, expiry and review, the plan's task A3.3. They aren't built here (research gaps, row 58). Learn warns that an access package's expiration must not exceed the PIM group's own expiry for eligible assignments, or people lose access while entitlement management still shows them assigned.
Sources: Microsoft Learn, "Govern membership and ownership of groups by using PIM for Groups," https://learn.microsoft.com/graph/api/resources/privilegedidentitymanagement-for-groups-api-overview?view=graph-rest-1.0 (accessed Oct 30, 2026). · Microsoft Learn, "List eligibilitySchedules" (privilegedAccessGroup), https://learn.microsoft.com/graph/api/privilegedaccessgroup-list-eligibilityschedules?view=graph-rest-1.0 (accessed Oct 30, 2026). · Microsoft Learn, "List assignmentSchedules" (privilegedAccessGroup), https://learn.microsoft.com/graph/api/privilegedaccessgroup-list-assignmentschedules?view=graph-rest-1.0 (accessed Oct 30, 2026). · Microsoft Learn, "List roleManagementPolicyAssignments," permissions for PIM for Groups and Examples 3 and 4, https://learn.microsoft.com/graph/api/policyroot-list-rolemanagementpolicyassignments?view=graph-rest-1.0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unifiedRoleManagementPolicyRule," permissions for PIM for Groups, https://learn.microsoft.com/graph/api/unifiedrolemanagementpolicyrule-update?view=graph-rest-1.0 (accessed Oct 30, 2026). · Microsoft Learn, "Update rules in PIM by using Microsoft Graph," https://learn.microsoft.com/graph/how-to-pim-update-rules (accessed Oct 30, 2026). · Microsoft Learn, "Assign eligible group membership and ownership in access packages via Privileged Identity Management for Groups," https://learn.microsoft.com/entra/id-governance/entitlement-management-access-package-eligible (accessed Oct 30, 2026).
Workbook: Building Privileged Access, Chapter 05 — “What the PRV groups have to hold”.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doesn't publish an end-to-end tutorial for PIM for Groups in Graph. What it does publish is a handful of single requests in the API reference, plus a how-to for updating policy rules. Those requests only exist inside web pages, so the repository pins the page source unmodified, with hashes a test checks and a weekly watch for changes. Then a small harness sends each request, exactly as published, to a fake Graph that checks them the way Learn says PIM does. Nothing signs in and nothing leaves the machine.
Detail: Learn has no end-to-end tutorial for PIM for Groups in Microsoft Graph. Its tutorial for roles ends by noting that you can assign an active role to the group and make members eligible through the PIM for Groups APIs, and leaves it there. What Microsoft publishes is a set of HTTP requests in the API reference and one how-to. Create eligibilityScheduleRequest: an administrator makes a principal eligible (Example 1), or extends an eligibility (Example 2). Create assignmentScheduleRequest: an administrator assigns active membership for two hours (Example 1), or a user activates an eligible membership (Example 2). Update rules in PIM by using Microsoft Graph: six rule updates (activation duration, enablement rules, approval, and expiration for eligible and active assignments), with the permission for groups, RoleManagementPolicy.ReadWrite.AzureADGroup. The repository pins their source, unmodified, in examples/third_party/graph-pim-for-groups-pages: the three pages from microsoftgraph/microsoft-graph-docs-contrib at commit a693031 (October 30, 2026), retrieved October 30, 2026, with the repository's licenses (documentation CC BY 4.0, code MIT). snapshot.json records each file's SHA-256, checked against the upstream git blob hashes; a unit test checks them, and the weekly source watch reports new commits to each page. The pages' permission tables and SDK snippets are include files that aren't copied; the chapter cites the rendered pages for them. tests/PimForGroupsSampleHarness.ps1 extracts the http requests from the pinned pages at test time and sends them, as published, to the chapter's fake Graph, New-PaPgFixtureInvoker. The fake answers the declared reads from tests/fixtures/ch05/tenant.json and checks a schedule request the way Learn says PIM does: a known group, member or owner, a documented action, and under an expiration rule an end within the policy's maximum. It also refuses a schedule that has already ended; that rule is the fake's own (research gaps, row 57). Nothing is installed, nothing signs in, and nothing leaves the machine.
Sources: Microsoft Learn, "Assign privileged roles using PIM for Microsoft Entra roles APIs," conclusion, https://learn.microsoft.com/graph/tutorial-assign-azureadroles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rules in PIM by using Microsoft Graph," https://learn.microsoft.com/graph/how-to-pim-update-rules (accessed Oct 30, 2026). ·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"Govern membership and ownership of groups by using PIM for Groups," https://learn.microsoft.com/graph/api/resources/privilegedidentitymanagement-for-groups-api-overview?view=graph-rest-1.0 (accessed Oct 30, 2026).
Workbook: Building Privileged Access, Chapter 05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The request shapes are good, and the plan copies them exactly. But run as published, the samples go wrong in instructive ways. The first example is titled an ownership request and actually grants membership. Its comment and its dates disagree, and the dates are from 2023, so today the fake refuses them. Nothing reads the tenant first, so a second run grants twice. And one sample is a user's self-activation, not an admin's. So the verdict: keep the shapes, take everything else from the reviewed file.
Detail: Each row is pinned by a test in the first block of tests/PimForGroups.Tests.ps1, and the example's side by the second. An adminAssign request with accessId, principalId, groupId, action, scheduleInfo and justification: kept as the model; every request the plan writes has those fields. Example 1 is titled an ownership request but sends accessId member: copy the example for an owner and you grant membership; accessId comes from the file's member or owner list, never from a template. Says the eligibility expires after two hours; the end is about a day after the start: the comment and the request disagree; the end comes from the file, and the fake checks it against the policy's maximum. Dated 2023: sent today, the fake refuses both admin examples because the schedule has ended; a copied example fails, or worse, gets its dates edited by hand; start is the run's time, end is the reviewed endDateTime. action AdminAssign, while the page documents adminAssign; no ticketInfo: case-sensitivity isn't stated (research gaps, row 51), and no ticket ties the grant to a change; documented values only, ticketInfo from the file, and a Warn for an entry with no ticket (PA-PG-06). No read before the write: a second run grants twice, and nothing removes what the file no longer lists; reads schedules and policies first, adminUpdate and adminRemove where they differ. Hard-coded graph.microsoft.com: wrong for GCC High and DoD, the GCC High fake refuses it; host from the cloud table. Includes a selfActivate request: a user action, not an administrator's; the plan makes admin requests only, and guard PA-PG-G7 refuses any self* action. Every rule update targets a DirectoryRole_ policy, and the page says PIM for Groups is beta only: the page predates v1.0 for groups, and gives no group policy ID; v1.0, with the Group_ policy ID read from roleManagementPolicyAssignments. Rule bodies, with a single user among the approvers: fine for the shapes, but one person as approver is a single point of failure; same rule shapes, with approvers the tier's PIM-Approvers-&lt;tier&gt; group (design guidance). The verdict: keep Microsoft's request and rule shapes; the plan writes nothing else. Don't run the samples as published: they are single requests with stale dates and no read of what is already there, and one of them is labeled for the wrong access type.
Sources: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rules in PIM by using Microsoft Graph," https://learn.microsoft.com/graph/how-to-pim-update-rules (accessed Oct 30, 2026). ·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"List roleManagementPolicyAssignments," permissions for PIM for Groups and Examples 3 and 4, https://learn.microsoft.com/graph/api/policyroot-list-rolemanagementpolicyassignments?view=graph-rest-1.0 (accessed Oct 30, 2026).
Workbook: Building Privileged Access, Chapter 05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The chapter adds its own module, its own list of allowed calls, and an entry script, and borrows nothing from Chapter 1 except the cloud table. Everything is driven by one reviewed file: for each group, who may be a member or owner, whether active or eligible, until when, and on which ticket. A second file sets the activation policy per tier, and it's labeled design guidance: shorter activation and approval for the top tiers, longer eligibility lower down, and one-hour owner activation with approval everywhere.
Detail: This chapter adds its own module, powershell/PimGroups/PimGroups.psm1, its own call list, config/calls-ch05.json, the tier policy, config/prv-group-policy.json, and the entry script Invoke-PaPimGroups.ps1. It imports Chapter 01's module only for the cloud table and changes nothing in it. Notes for developers are in examples/privileged-access/docs/ch05.md. prv-groups.json is the reviewed file. It names the approver group for each tier and lists each PRV group with its ID (absent for a group still to be created), tier, what it holds, and its member and owner entries, each active or eligible, with a principal ID, a name for the diff, a type, an end date and a ticket. Read-PaPrvGroupConfig refuses a name where an object ID belongs, an unknown tier, and a duplicate group. config/prv-group-policy.json sets the policy for each access type and tier. It is design guidance: member activation of 4 hours for T0 and 8 for the rest, eligibility of 90, 180, 180 and 365 days, and approval for T0 and T1, from Book 04, Appendix B; owner activation of one hour with approval, from the example in Learn's PIM deployment plan.
Sources: Microsoft Learn, "Plan a Privileged Identity Management deployment," understand PIM and plan and implement PIM for Groups, https://learn.microsoft.com/entra/id-governance/privileged-identity-management/pim-deployment-plan (accessed Oct 30, 2026).
Workbook: Building Privileged Access, Chapter 05 — “The code: examples/privileged-access”; “The desired state”.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in the policy deserve a closer look. Learn's pages disagree on how long an activation may last: one says eight hours at most, another says up to twenty-four. The code takes the stricter reading and flags anything longer. Then there's the authentication context from Chapter 3, which isn't built yet. When it arrives, it only forces a fresh sign-in on every activation if its policy says so, and even then there's a ten-minute window. Learn also disagrees on whether it's preview, so the chapter treats it as preview.
Detail: Two Learn pages differ on the longest activation: the Graph overview says activation is always time-bound for at most eight hours, and the settings page says one to 24. The code follows the stricter and flags anything over eight hours (research gaps, row 54). The authentication context c1 is Chapter 03's (planned); until then the rules require MFA, justification and a ticket. When c1 is added, Learn says it prompts on every activation only if its Conditional Access policy sets sign-in frequency to Every time, and even then a 10-minute window applies across Microsoft Entra roles, Azure resource roles and PIM for Groups. Learn's release notes list that reauthentication as generally available since April 2026, while the PIM deployment plan still marks "Require Conditional Access context" as public preview; the chapter treats it as preview, the stricter reading. Approvers (verified facts): no default approvers; select at least two; can't approve their own requests; service principals can't approve; 24 hours to approve.
Sources: Microsoft Learn, "Govern membership and ownership of groups by using PIM for Groups," https://learn.microsoft.com/graph/api/resources/privilegedidentitymanagement-for-groups-api-overview?view=graph-rest-1.0 (accessed Oct 30, 2026). · Microsoft Learn, "Configure PIM for Groups settings," https://learn.microsoft.com/entra/id-governance/privileged-identity-management/groups-role-settings (accessed Oct 30, 2026). · Microsoft Learn, "Configure PIM for Groups settings," on activation, require Microsoft Entra Conditional Access authentication context, https://learn.microsoft.com/entra/id-governance/privileged-identity-management/groups-role-settings (accessed Oct 31, 2026). · Microsoft Learn, "Microsoft Entra releases and announcements," April 2026, General Availability - Enforce Conditional Access policies like MFA on every PIM activation, https://learn.microsoft.com/entra/fundamentals/whats-new (accessed Oct 31, 2026). · Microsoft Learn, "Plan a Privileged Identity Management deployment," overview and plan testing (Conditional Access context marked public preview), https://learn.microsoft.com/entra/id-governance/privileged-identity-management/pim-deployment-plan (accessed Oct 31, 2026). · Microsoft Learn, "Approve activation requests for group members and owners," https://learn.microsoft.com/entra/id-governance/privileged-identity-management/groups-approval-workflow (accessed Oct 30, 2026).
Workbook: Building Privileged Access, Chapter 05 — “The desired state”; “Verified facts”.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planned, the code reads the tenant and checks it against nine rules. Some come straight from Learn: only role-assignable groups can hold a role, PIM can't manage dynamic or synchronized groups, and there's a hard limit of five hundred. Others are the program's design, and they're labeled that way: no nesting at all, every entry has an end and a ticket, no owners on tier zero groups, and anything the file doesn't grant is a finding. One subtle one is the owner trap, which we'll see in the lab. Activations are ignored, since they aren't standing state.
Detail: Get-PaPgTenantState reads the role-assignable groups, the groups named PRV-*, and for each group in the file its schedules and its two policies. Like Chapter 01's reader, it sends only declared calls, only to the cloud's own host, and follows every page. Test-PaPrvGroupConfig checks the file before any read, as a pre-merge check; Test-PaPgTenant checks the tenant. PA-PG-01 Finding: a name that isn't PRV-&lt;tier&gt;-&lt;role&gt;[-&lt;scope&gt;], or whose tier differs from the group's (design guidance, Book 04, Chapter 04). PA-PG-02 Finding, Warn, Info: a group that holds an Entra role but isn't role-assignable (Finding); another PRV group that isn't (Warn); a group not created yet (Info); Learn: only role-assignable groups hold roles, and the property can't be changed; role-assignable recommended for sensitive groups. PA-PG-03 Finding: a dynamic group, or one synchronized from on-premises; Learn: PIM for Groups can't manage them. PA-PG-04 Warn at 450 or more role-assignable groups, Finding at 500; Learn: at most 500; the Warn threshold is design guidance. PA-PG-05 Finding: a group as a member or owner, or a service principal made eligible; Learn: no active nesting in a role-assignable group, nesting in PIM for Groups not recommended, and service principals can't be eligible; design guidance to allow no group at all, because an eligible group hides its people from the review. PA-PG-06 Finding, Warn: an entry with no end, or one already ended (Finding); one with no ticket (Warn); Learn: zero permanently active assignments except emergency accounts; design guidance for eligibility and tickets. PA-PG-07 Finding: eligible owners with no active owner; any owner on a T0 group; Learn: the last active owner can't be removed, so an activated owner's deactivation fails and, after 30 days, PIM stops trying; design guidance that T0 groups have no owners, since owners manage membership. PA-PG-08 Finding, Warn: a policy rule that differs from the reviewed setting (Finding on T0 and T1 and on any expiration rule, Warn otherwise); activation over 8 hours; approval with no approver group; a group approving itself; eligible members activating into an Entra role without approval (Warn); Learn: approval recommended for groups that elevate into Entra roles; approvers can't approve their own requests; design guidance for the settings. PA-PG-09 Finding, Warn: a schedule the file doesn't grant (Finding); a role-assignable or PRV-* group the file doesn't list (Warn); design guidance: anything outside the file is unreviewed. Activations, assignmentType activated, aren't standing state: the code leaves them out of both the findings and the plan.
Sources: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 Microsoft Learn, "Plan a Privileged Identity Management deployment," understand PIM and plan and implement PIM for Groups, https://learn.microsoft.com/entra/id-governance/privileged-identity-management/pim-deployment-plan (accessed Oct 30, 2026). · Microsoft Learn, "Approve activation requests for group members and owners," https://learn.microsoft.com/entra/id-governance/privileged-identity-management/groups-approval-workflow (accessed Oct 30, 2026).
Workbook: Building Privileged Access, Chapter 05 — “The read and the findings”.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differences are known, the plan turns them into requests in a fixed order: create any missing groups, then set the policy rules so they're in force before anyone is granted, then grants, and removals last. Each request carries its permission and a line of diff a reviewer can read. Nothing is sent unless you ask for it. And even then, seven guards can refuse the whole run: losing approval on a top tier, a permanent grant, a group approving itself, or suddenly removing more people than expected, which usually means a broken file.
Detail: New-PaPimGroupPlan turns the differences into requests, in a fixed order: groups to create, then policy rules, so the rules are in force before anyone is granted, then grants and updates, then removals. Each operation carries its call ID, method, URI, body, its least-privileged permission and one diff line. diff.txt is the diff; plan.json is the exact requests. Invoke-PaPgPlan is a dry run unless you pass -Apply. With -Apply it refuses to start if any guard fails, sends each request through a declared write call on the cloud's own host, and stops at the first error. The guards are design guidance, each tied to a rule: PA-PG-G1 refuses a T0 or T1 policy losing approval, or its approvers. PA-PG-G2 an expiration rule that allows permanent grants, or a grant with no end. PA-PG-G3 a group set as its own approver. PA-PG-G4 eligible owners with no active owner (Learn's deactivation trap). PA-PG-G5 a group as a holder, or an eligible service principal. PA-PG-G6 more removals than -MaxRemovals (default 5), the sign of a wrong or truncated file. PA-PG-G7 a self-service action in the plan. A group the file lists without an ID becomes a POST /groups with isAssignableToRole true, securityEnabled true and assigned membership; rerun the plan once it exists to add its schedules and policy. Learn's pages differ on what else such a group needs: the group resource says under isAssignableToRole that visibility must be Hidden and under visibility that role-assignable groups are always Private, the Create group example says Private, and one note says a role-assignable group can't have an owner while another says owners can be delegated. The code sets neither visibility nor owners (research gaps, row 56).
Sources: Microsoft Learn, "group resource type," isAssignableToRole and visibility, https://learn.microsoft.com/graph/api/resources/group?view=graph-rest-1.0 (accessed Oct 31, 2026). · Microsoft Learn, "group resource type," isAssignableToRole, https://learn.microsoft.com/graph/api/resources/group?view=graph-rest-1.0 (accessed Oct 30, 2026). · Microsoft Learn, "Create group," permissions and Example 3, https://learn.microsoft.com/graph/api/group-post-groups?view=graph-rest-1.0 (accessed Oct 30, 2026). ·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Workbook: Building Privileged Access, Chapter 05 — “The plan, the dry run and -Apply”.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isn't always consistent with itself, and the chapter writes down every place it isn't, so a later edit doesn't quietly loosen the code. Activation length is one. Whether PIM for Groups is generally available or still beta is another: the API pages say one thing, a how-to says another. The permissions for role-assignable groups differ between pages, and the Lab 2 run is how you settle that. Even the obvious PowerShell cmdlet disagrees with its own API page, so the code calls the API directly.
Detail: Where Learn's pages differ, recorded so a later edit doesn't loosen the code. Activation length: eight hours in the Graph overview, 24 in the settings page; the code caps at eight (research gaps, row 54). v1.0 or beta: the PIM for Groups API pages are v1.0; the Update rules how-to says PIM for Groups is beta only, and the PIM for Groups settings page shows a beta request; the deployment plan still links PIM for Groups as a preview; the code uses v1.0 (research gaps, row 55). Permissions for role-assignable groups: RoleManagement.ReadWrite.Directory on the role-assignable groups page; the AzureADGroup permissions on the PIM for Groups pages; the code declares the latter and Lab 2 checks it (research gaps, row 53). Creating a role-assignable group: visibility Hidden or Private (the group resource page gives both), and whether it can have owners, differ across three pages; Learn's own PowerShell for it signs in with Group.ReadWrite.All only; the code declares both Group.Create and RoleManagement.ReadWrite.Directory (research gaps, row 56). The rule cmdlet: Update-MgPolicyRoleManagementPolicyRule lists only the Directory permissions and no application support, while the API page lists RoleManagementPolicy.ReadWrite.AzureADGroup for applications; the code calls the REST API (research gaps, row 59). Also verified: Update unifiedRoleManagementPolicyRule (groups), PATCH /policies/roleManagementPolicies/{id}/rules/{id}, RoleManagementPolicy.ReadWrite.AzureADGroup, @odata.type required in the body, 17 rules per policy (v1.0). isValidationOnly: on both request types; documented for checking an activation before submitting it (v1.0).
Sources: Microsoft Learn, "Govern membership and ownership of groups by using PIM for Groups," https://learn.microsoft.com/graph/api/resources/privilegedidentitymanagement-for-groups-api-overview?view=graph-rest-1.0 (accessed Oct 30, 2026). · Microsoft Learn, "Configure PIM for Groups settings," https://learn.microsoft.com/entra/id-governance/privileged-identity-management/groups-role-settings (accessed Oct 30, 2026). · Microsoft Learn, "Update rules in PIM by using Microsoft Graph," https://learn.microsoft.com/graph/how-to-pim-update-rules (accessed Oct 30, 2026). · Microsoft Learn, "Plan a Privileged Identity Management deployment," understand PIM and plan and implement PIM for Groups, https://learn.microsoft.com/entra/id-governance/privileged-identity-management/pim-deployment-plan (accessed Oct 30, 2026). · Microsoft Learn, "group resource type," isAssignableToRole and visibility, https://learn.microsoft.com/graph/api/resources/group?view=graph-rest-1.0 (accessed Oct 31, 2026). · Microsoft Learn, "Create a role-assignable group in Microsoft Entra ID," https://learn.microsoft.com/entra/identity/role-based-access-control/groups-create-eligible (accessed Oct 30, 2026). · Microsoft Learn, "Update-MgPolicyRoleManagementPolicyRule" (Microsoft Graph PowerShell v1.0), https://learn.microsoft.com/powershell/module/microsoft.graph.identity.signins/update-mgpolicyrolemanagementpolicyrule?view=graph-powershell-1.0 (accessed Oct 30, 2026). · Microsoft Learn, "Update unifiedRoleManagementPolicyRule," permissions for PIM for Groups, https://learn.microsoft.com/graph/api/unifiedrolemanagementpolicyrule-update?view=graph-rest-1.0 (accessed Oct 30, 2026). · Microsoft Learn, "Rules in PIM - Mapping guide," https://learn.microsoft.com/graph/identity-governance-pim-rules-overview (accessed Oct 30, 2026). · Microsoft Learn, "privilegedAccessGroupEligibilityScheduleRequest resource type" and "privilegedAccessGroupAssignmentScheduleRequest resource type," isValidationOnly, https://learn.microsoft.com/graph/api/resources/privilegedaccessgroupeligibilityschedulerequest?view=graph-rest-1.0 (accessed Oct 30, 2026).
Workbook: Building Privileged Access, Chapter 05 —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building the write path, the identity engineers who own the groups and the file, and the I S S O's who review each plan before it's applied. Then, what the code may do. Every call gets its least-privileged permission. The read side needs four permissions and none of them can write. The plan lists exactly the permissions its own changes need, so the app that applies it holds those and no more. And the one powerful permission, the one that can assign any directory role, is kept off the pipeline entirely: create these groups by hand.
Detail: Audience: developers who build the project's write path for privileged groups, the identity engineers who own the PRV groups, and the ISSOs who review the changes. You should read PowerShell 7 and JSON, and know what an eligible assignment is. You don't need a tenant until Lab 2. Least privilege per call: List groups (isAssignableToRole, PRV-*): Group.ReadBasic.All; Learn's table names Group-NestingSupport.ReadWrite.All as least privileged, a write permission, so the code takes the first read-only one (research gaps, row 52). List eligibilitySchedules: PrivilegedEligibilitySchedule.Read.AzureADGroup; delegated Global Reader or Privileged Role Administrator for role-assignable groups. List assignmentSchedules: PrivilegedAssignmentSchedule.Read.AzureADGroup; same. List roleManagementPolicyAssignments (groups): RoleManagementPolicy.Read.AzureADGroup. Create eligibilityScheduleRequest: PrivilegedEligibilitySchedule.ReadWrite.AzureADGroup; Privileged Role Administrator for role-assignable groups. Create assignmentScheduleRequest: PrivilegedAssignmentSchedule.ReadWrite.AzureADGroup; same. Update unifiedRoleManagementPolicyRule (groups): RoleManagementPolicy.ReadWrite.AzureADGroup; Privileged Role Administrator, per the how-to. Create group (role-assignable): Group.Create, and RoleManagement.ReadWrite.Directory to set isAssignableToRole; at least Privileged Role Administrator. The read task needs the first four and nothing that ends in ReadWrite. The plan lists the permissions its own operations need, so the app that applies it holds those and no more. Design guidance: create the PRV groups by hand, as a Privileged Role Administrator, and keep RoleManagement.ReadWrite.Directory off the pipeline's app; the code only plans the creation. One Learn statement needs Lab 2: the role-assignable groups page says managing their membership through Graph needs RoleManagement.ReadWrite.Directory, while the PIM for Groups request pages name only the AzureADGroup permissions (research gaps, row 53).
Sources: Microsoft Learn, "List groups," permissions, https://learn.microsoft.com/graph/api/group-list?view=graph-rest-1.0 (accessed Oct 30, 2026). · Microsoft Learn, "List eligibilitySchedules" (privilegedAccessGroup), https://learn.microsoft.com/graph/api/privilegedaccessgroup-list-eligibilityschedules?view=graph-rest-1.0 (accessed Oct 30, 2026). · Microsoft Learn, "List assignmentSchedules" (privilegedAccessGroup), https://learn.microsoft.com/graph/api/privilegedaccessgroup-list-assignmentschedules?view=graph-rest-1.0 (accessed Oct 30, 2026). · Microsoft Learn, "List roleManagementPolicyAssignments," permissions for PIM for Groups and Examples 3 and 4, https://learn.microsoft.com/graph/api/policyroot-list-rolemanagementpolicyassignments?view=graph-rest-1.0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unifiedRoleManagementPolicyRule," permissions for PIM for Groups, https://learn.microsoft.com/graph/api/unifiedrolemanagementpolicyrule-update?view=graph-rest-1.0 (accessed Oct 30, 2026). · Microsoft Learn, "Update rules in PIM by using Microsoft Graph," https://learn.microsoft.com/graph/how-to-pim-update-rules (accessed Oct 30, 2026). · Microsoft Learn, "Create group," permissions and Example 3, https://learn.microsoft.com/graph/api/group-post-groups?view=graph-rest-1.0 (accessed Oct 30, 2026). · Microsoft Learn, "group resource type," isAssignableToRole, https://learn.microsoft.com/graph/api/resources/group?view=graph-rest-1.0 (accessed Oct 30, 2026). · Microsoft Learn, "Use Microsoft Entra groups to manage role assignments," https://learn.microsoft.com/entra/identity/role-based-access-control/groups-concept (accessed Oct 30, 2026).
Workbook: Building Privileged Access, Chapter 05 — “Goal and audience”; “Least privilege per call”.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PowerShell 7 and Pester, no tenant and no network. First you send Microsoft's samples, as published, to the fake, and the tests confirm each gap from the table. Then you send the first example by hand and see it for yourself: it's titled ownership, it asks for membership, and the fake refuses it because its end date passed in 2023. Next you list the read permissions, four and none that can write. Finally you plan against a fictional tenant, as a dry run. Let's read what it found.
Detail: You need PowerShell 7.1 or later with Pester 5. Work in examples/privileged-access. Step 1, run Microsoft's samples against the fake: Invoke-Pester -Path tests/PimForGroups.Tests.ps1 -FullNameFilter '*as published*' -Output None -PassThru | Select-Object PassedCount, FailedCount gives PassedCount 10, FailedCount 0. Step 2, send Learn's Example 1 yourself: Import-Module ./powershell/PimGroups/PimGroups.psm1; . ./tests/PimForGroupsSampleHarness.ps1; $learn = Get-PgLearnRequest -Page eligibility; $learn[0].Title; $learn[0].Body.accessId; (Invoke-PgLearnRequest -Request $learn[0] -Fixture tests/fixtures/ch05/tenant.json -Policy).Status. Output: "Example 1: An admin creates an eligible group ownership request for a principal", then "member", then "400 Bad Request from the fake: the schedule ended at 2023-02-07T19:56:00.0000000Z, before the fake's clock". Step 3, list the permissions: (Get-PaPgRequiredPermission -Task pim-groups-read).GraphPermissions -join ', ' gives Group.ReadBasic.All, PrivilegedAssignmentSchedule.Read.AzureADGroup, PrivilegedEligibilitySchedule.Read.AzureADGroup, RoleManagementPolicy.Read.AzureADGroup. Nothing ends in ReadWrite. Step 4, plan against the fictional tenant, as a dry run: ./Invoke-PaPimGroups.ps1 -Cloud gcc -FixturePath tests/fixtures/ch05/tenant.json -DesiredPath tests/fixtures/ch05/inputs/prv-groups.json -AsOf 2026-10-30 -OutputPath out/pim-groups. Output: "PIM for Groups: 9 Finding, 3 Warn, 0 Info"; "Plan: 8 change(s) (3 assignment, 2 eligibility, 3 policy rule)"; "Guards: all passed"; "Dry run: nothing sent. Review diff.txt and plan.json, then rerun with -Apply"; "Written to out/pim-groups (manifest.json lists every request and file hash)". Illustrative code: the commands send Microsoft's pinned requests to a fake, and run the example against a fictional tenant served by the same fake. They show what the code does, not that a tenant accepts the same requests. Review the code and the plan, and run Lab 2 in a test tenant, before -Apply touches production.
Sources: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"Create eligibilityScheduleRequest" (privilegedAccessGroup), https://learn.microsoft.com/graph/api/privilegedaccessgroup-post-eligibilityschedulerequests?view=graph-rest-1.0 (accessed Oct 30, 2026).
Workbook: Building Privileged Access, Chapter 05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results is where the rules become concrete. On the tier zero group, someone holds permanent membership the file never granted, and an owner is eligible with no active owner, which is exactly the trap where activation can't be undone. The policy also allows activation without approval and for twice as long as it should. On the Azure group, another group is nested inside. The diff shows each change in a line, removals last. Then set a tight removal limit and watch a guard refuse to run. Finally apply to the fake, and run the full suite.
Detail: Step 5, read the findings: Get-Content out/pim-groups/findings.json -Raw | ConvertFrom-Json | Format-Table Rule, Severity, Object. On PRV-T0-PrivRoleAdmin: a permanent active member, ben.ops, whom the file doesn't grant (PA-PG-06 and PA-PG-09); an eligible owner, cara.cloud, with no active owner (PA-PG-07 and PA-PG-09); and member activation without approval and for 8 hours instead of 4 (two PA-PG-08). On PRV-T1-AzureOwner-SubWorkload: the group Helpdesk-Admins-Legacy nested as an eligible member (PA-PG-05 and PA-PG-09), an owner policy that doesn't require eligibility to expire (PA-PG-08), and a Warn because the group isn't role-assignable (PA-PG-02). Two Warns for groups the file doesn't list (PA-PG-09). Cara's activated membership of the Azure group isn't reported: it's an activation, not standing state. Step 6, read the diff: Get-Content out/pim-groups/diff.txt; (Get-Content out/pim-groups/plan.json -Raw | ConvertFrom-Json).Permissions -join ', '. Three policy rule changes (~), Eve's membership extended from December 31 to April 28 and Ben granted membership of PRV-T1-ExchangeAdmin on CHG-1005, then three removals (-). The plan needs PrivilegedAssignmentSchedule.ReadWrite.AzureADGroup, PrivilegedEligibilitySchedule.ReadWrite.AzureADGroup, RoleManagementPolicy.ReadWrite.AzureADGroup. Step 7, see a guard refuse: the same command with -OutputPath out/pim-groups-guard -MaxRemovals 2 -Apply returns "Refusing to apply: PA-PG-G6: 3 removals is more than 2; review them and rerun with a higher -MaxRemovals". Nothing is sent. Step 8, apply to the fake: the same command with -OutputPath out/pim-groups-apply -Apply prints the same first three lines, then "Applied: 8 sent, 0 failed". The fake records the requests and doesn't change its tenant. Step 9, Invoke-Pester -Path tests. Expected result: 330 tests passing, and each row of the gap table seen with your own eyes. Delete out when you're done. The chapter's own tests: the 40 in tests/PimForGroups.Tests.ps1, 10 for Microsoft's samples as published and 30 for the module (calls and permissions, refused calls and hosts, paging with page sizes of 1, 2 and 50, each finding, the plan's order and its empty result once the tenant matches, the dry run, -Apply against the fake, each guard, and the entry script's manifest). With Chapters 01 and 02, 118 Pester tests pass, with no module, tenant or network.
Sources: Building Privileged Access, Chapter 05, docs/project-plans/developer-workbooks/privileged-access/05-pim-for-groups.md
Workbook: Building Privileged Access, Chapter 05 — “Lab 1: fixtures, no tenant,” steps 5–9;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because a group can never leave PIM, you make groups just for the lab. Create them by hand, register two apps, a reader and a writer, and plan as the reader. Then apply as the writer and compare the portal with your file. This lab also settles open questions: whether the narrower permissions are enough, and whether the policy update really took. Rerun to see zero changes, try one removal, and then back everything out, because the output names privileged people.
Detail: Use a test tenant in the worldwide or GCC cloud with Microsoft Entra ID P2 or Governance licenses and fictional people, never production. The lab changes PIM settings and group membership, so it ends by removing what it made. Learn says a group can't be taken back out of PIM once onboarded, so use groups made for the lab. 1 Make the lab groups by hand: as a Privileged Role Administrator, create a role-assignable security group PRV-T1-LabTest and a security group PIM-Approvers-T1 with two test approvers, as Learn's procedure describes. Put their IDs, and two test users with end dates within 180 days and tickets, in your own prv-groups.json. 2 Register two apps with certificates: the reader gets the four permissions from Lab 1, step 3; the writer gets those four and the three from Lab 1, step 6. Grant admin consent. Nothing else. 3 Plan as the reader: Connect-MgGraph -Environment Global -TenantId &lt;tenant-id&gt; -ClientId &lt;reader-app-id&gt; -CertificateThumbprint &lt;thumbprint&gt;, then ./Invoke-PaPimGroups.ps1 -Cloud gcc -DesiredPath prv-groups.json -OutputPath out/pim-groups-test -TenantId &lt;tenant-id&gt;. Check two things in the run: the group rows carry isAssignableToRole (research gaps, row 52), and no PA-PG-08 Warn says a policy wasn't read. The plan should show the policy rules and two grants. 4 Apply as the writer: review diff.txt, sign in as the writer, and rerun with -Apply. Then open ID Governance &gt; Privileged Identity Management &gt; Groups &gt; PRV-T1-LabTest and compare the member settings and assignments with the file. Record whether each request succeeded with the AzureADGroup permissions alone (research gaps, row 53) and whether the v1.0 rule update on the Group_ policy took effect (row 55). 5 Rerun the plan: it should report Plan: 0 change(s). Then remove one user from the file and rerun with -Apply: the adminRemove request has no scheduleInfo (research gaps, row 51); record the result. 6 Back it out: empty both lists in your file and apply, so no schedule remains. Delete PRV-T1-LabTest and PIM-Approvers-T1 (a role-assignable group is soft-deleted and can be restored for 30 days), remove the permissions, delete both apps and their certificates, and delete out/pim-groups-test: it names the tenant's privileged holders.
Sources: Microsoft Learn, "Govern membership and ownership of groups by using PIM for Groups," https://learn.microsoft.com/graph/api/resources/privilegedidentitymanagement-for-groups-api-overview?view=graph-rest-1.0 (accessed Oct 30, 2026). · Microsoft Learn, "Create a role-assignable group in Microsoft Entra ID," https://learn.microsoft.com/entra/identity/role-based-access-control/groups-create-eligible (accessed Oct 30, 2026). · Microsoft Learn, "Use Microsoft Entra groups to manage role assignments," https://learn.microsoft.com/entra/identity/role-based-access-control/groups-concept (accessed Oct 30, 2026).
Workbook: Building Privileged Access, Chapter 05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matching rule or guard. The quietest is drift: someone changes membership in the portal, and nobody ever reviews it, so every run reads first and flags what it didn't grant. The sharpest is dropping approval on a top-tier group, which Learn specifically warns lets a lesser admin act on someone else's behalf. And the bluntest is a truncated file that would remove everyone, which is why removals go last and a guard stops more than a handful. Notice again: each guard is code that runs every time.
Detail: A sample copied as published: an ownership grant becomes a membership, or a 2023 date fails, or is edited by hand; guard: requests come from the file, and tests pin the sample's mismatches. A change made in the admin center or the groups API: the tenant drifts from the file and nobody reviews it; guard: every run reads first; PA-PG-09 and a removal in the plan. Approval dropped on a T0 or T1 group: a less-privileged admin who can reset a member's credentials activates on their behalf, the case Learn warns about; guard: PA-PG-08 and guard G1. A permanent member or owner: standing privilege through the group; guard: PA-PG-06 and G2. Eligible owner, no active owner: the owner activates and can't be deactivated; guard: PA-PG-07 and G4. A group nested in a PRV group: its people hold the role and the review shows a group; guard: PA-PG-05 and G5. A truncated or wrong file: the plan removes everyone; guard: removals come last, and G6 stops more than five. A non-role-assignable group used for a role: it can't hold the role, and can't be converted; guard: PA-PG-02 Finding, and the plan creates groups as role-assignable. The 500-group limit: new PRV groups can't be created; guard: PA-PG-04 Warn at 450. A pipeline app with RoleManagement.ReadWrite.Directory: it can assign any directory role; guard: group creation is planned, not routinely applied, and the plan lists only its own permissions. Names in output: diff.txt and findings.json name privileged holders; treat the run folder as evidence and delete lab copies.
Sources: Microsoft Learn, "Use Microsoft Entra groups to manage role assignments," https://learn.microsoft.com/entra/identity/role-based-access-control/groups-concept (accessed Oct 30, 2026).
Workbook: Building Privileged Access, Chapter 05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group side: a file that passes its own check, with an end and a ticket on every entry; role-assignable groups wherever a role is held; no nesting, and no owners on tier zero; and policies that match the reviewed settings. On the run side: approver groups with at least two people, a plan reviewed by someone other than its author, a rerun that shows nothing left to change, apps holding exactly what they need, and pinned pages still matching. Next, Chapter 6 takes PIM to Azure resources. Thanks for watching.
Detail: Checklist: prv-groups.json passes Test-PaPrvGroupConfig with no Finding, and every entry has an end date and a ticket. Every PRV group that holds an Entra role is role-assignable, and no PRV group is dynamic or synchronized. No group and no eligible service principal is a member or owner of a PRV group, and no T0 group has an owner. Member and owner policies match prv-group-policy.json: approval by the tier's approver group for T0 and T1, activation no longer than 8 hours, expiration required. Each approver group has at least two members, and none of them is approving their own group. The latest plan was reviewed by someone other than its author before -Apply, and a rerun shows no changes. The reader app holds exactly the four read permissions; the writer holds those and only the write permissions the plan lists. The pinned pages match their manifest, and every upstream commit since the pin has been reviewed. Next: Chapter 06 — PIM for Azure Resources.
Sources: Microsoft Learn, "Configure PIM for Groups settings," https://learn.microsoft.com/entra/id-governance/privileged-identity-management/groups-role-settings (accessed Oct 30, 2026). · Microsoft Learn, "Approve activation requests for group members and owners," https://learn.microsoft.com/entra/id-governance/privileged-identity-management/groups-approval-workflow (accessed Oct 30, 2026).
Workbook: Building Privileged Access, Chapter 05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05: PIM for Groups and the PRV Groups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the groups · Learn's samples and their gaps · the file, findings, plan and guards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AB8247F-807F-2FAB-FBC9-FF28D21D7D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A14146-3A54-4A27-A00B-0DE2125CBF7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20"/>
    </mc:Choice>
    <mc:Fallback>
      <p:transition spd="slow" advTm="38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PRV groups need to be code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Whoever controls a PRV group's members, owners and policy controls the role it holds.</a:t>
            </a:r>
            <a:endParaRPr lang="en-US" sz="1800" dirty="0"/>
          </a:p>
        </p:txBody>
      </p:sp>
      <p:sp>
        <p:nvSpPr>
          <p:cNvPr id="6" name="Panel The naming">
            <a:extLst>
              <a:ext uri="{C183D7F6-B498-43B3-948B-1728B52AA6E4}">
                <adec:decorative xmlns:adec="http://schemas.microsoft.com/office/drawing/2017/decorative" val="1"/>
              </a:ext>
            </a:extLst>
          </p:cNvPr>
          <p:cNvSpPr/>
          <p:nvPr/>
        </p:nvSpPr>
        <p:spPr>
          <a:xfrm>
            <a:off x="548640" y="1837944"/>
            <a:ext cx="5417820" cy="2276856"/>
          </a:xfrm>
          <a:prstGeom prst="roundRect">
            <a:avLst>
              <a:gd name="adj" fmla="val 32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naming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NAMING</a:t>
            </a:r>
            <a:endParaRPr lang="en-US" sz="1100" dirty="0"/>
          </a:p>
        </p:txBody>
      </p:sp>
      <p:sp>
        <p:nvSpPr>
          <p:cNvPr id="8" name="Panel The naming list"/>
          <p:cNvSpPr txBox="1"/>
          <p:nvPr/>
        </p:nvSpPr>
        <p:spPr>
          <a:xfrm>
            <a:off x="731520" y="224942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04 never assigns a privileged role to a person, only to a role-assignable group</a:t>
            </a:r>
            <a:endParaRPr lang="en-US" sz="1600" dirty="0"/>
          </a:p>
          <a:p>
            <a:pPr marL="342900" indent="-342900">
              <a:spcAft>
                <a:spcPts val="400"/>
              </a:spcAft>
              <a:buSzPct val="100000"/>
              <a:buChar char="•"/>
            </a:pPr>
            <a:r>
              <a:rPr lang="en-US" sz="1600" dirty="0">
                <a:solidFill>
                  <a:srgbClr val="334155"/>
                </a:solidFill>
              </a:rPr>
              <a:t>Named PRV-&lt;tier&gt;-&lt;role&gt;[-&lt;scope&gt;], e.g. PRV-T0-PrivRoleAdmin, PRV-T2-UserAdmin-AU-Finance</a:t>
            </a:r>
            <a:endParaRPr lang="en-US" sz="1600" dirty="0"/>
          </a:p>
          <a:p>
            <a:pPr marL="342900" indent="-342900">
              <a:spcAft>
                <a:spcPts val="400"/>
              </a:spcAft>
              <a:buSzPct val="100000"/>
              <a:buChar char="•"/>
            </a:pPr>
            <a:r>
              <a:rPr lang="en-US" sz="1600" dirty="0">
                <a:solidFill>
                  <a:srgbClr val="334155"/>
                </a:solidFill>
              </a:rPr>
              <a:t>The tier shows in every review, alert and audit record</a:t>
            </a:r>
            <a:endParaRPr lang="en-US" sz="1600" dirty="0"/>
          </a:p>
        </p:txBody>
      </p:sp>
      <p:sp>
        <p:nvSpPr>
          <p:cNvPr id="9" name="Panel Read, then write">
            <a:extLst>
              <a:ext uri="{C183D7F6-B498-43B3-948B-1728B52AA6E4}">
                <adec:decorative xmlns:adec="http://schemas.microsoft.com/office/drawing/2017/decorative" val="1"/>
              </a:ext>
            </a:extLst>
          </p:cNvPr>
          <p:cNvSpPr/>
          <p:nvPr/>
        </p:nvSpPr>
        <p:spPr>
          <a:xfrm>
            <a:off x="6240780" y="1837944"/>
            <a:ext cx="5417820" cy="2276856"/>
          </a:xfrm>
          <a:prstGeom prst="roundRect">
            <a:avLst>
              <a:gd name="adj" fmla="val 321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Read, then write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READ, THEN WRITE</a:t>
            </a:r>
            <a:endParaRPr lang="en-US" sz="1100" dirty="0"/>
          </a:p>
        </p:txBody>
      </p:sp>
      <p:sp>
        <p:nvSpPr>
          <p:cNvPr id="11" name="Panel Read, then write list"/>
          <p:cNvSpPr txBox="1"/>
          <p:nvPr/>
        </p:nvSpPr>
        <p:spPr>
          <a:xfrm>
            <a:off x="6423660" y="224942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Chapter 01 reads the groups and flags a role held under any other name (PA-INV-03)</a:t>
            </a:r>
            <a:endParaRPr lang="en-US" sz="1600" dirty="0"/>
          </a:p>
          <a:p>
            <a:pPr marL="342900" indent="-342900">
              <a:spcAft>
                <a:spcPts val="400"/>
              </a:spcAft>
              <a:buSzPct val="100000"/>
              <a:buChar char="•"/>
            </a:pPr>
            <a:r>
              <a:rPr lang="en-US" sz="1600" dirty="0">
                <a:solidFill>
                  <a:srgbClr val="334155"/>
                </a:solidFill>
              </a:rPr>
              <a:t>This chapter writes them: members, owners, end dates, tickets and policies</a:t>
            </a:r>
            <a:endParaRPr lang="en-US" sz="1600" dirty="0"/>
          </a:p>
          <a:p>
            <a:pPr marL="342900" indent="-342900">
              <a:spcAft>
                <a:spcPts val="400"/>
              </a:spcAft>
              <a:buSzPct val="100000"/>
              <a:buChar char="•"/>
            </a:pPr>
            <a:r>
              <a:rPr lang="en-US" sz="1600" dirty="0">
                <a:solidFill>
                  <a:srgbClr val="334155"/>
                </a:solidFill>
              </a:rPr>
              <a:t>Admins with group roles, or owners, can override PIM through the groups API</a:t>
            </a:r>
            <a:endParaRPr lang="en-US" sz="1600" dirty="0"/>
          </a:p>
        </p:txBody>
      </p:sp>
      <p:sp>
        <p:nvSpPr>
          <p:cNvPr id="12" name="Callout">
            <a:extLst>
              <a:ext uri="{C183D7F6-B498-43B3-948B-1728B52AA6E4}">
                <adec:decorative xmlns:adec="http://schemas.microsoft.com/office/drawing/2017/decorative" val="1"/>
              </a:ext>
            </a:extLst>
          </p:cNvPr>
          <p:cNvSpPr/>
          <p:nvPr/>
        </p:nvSpPr>
        <p:spPr>
          <a:xfrm>
            <a:off x="548640" y="429768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CodeBranch">
            <a:extLst>
              <a:ext uri="{C183D7F6-B498-43B3-948B-1728B52AA6E4}">
                <adec:decorative xmlns:adec="http://schemas.microsoft.com/office/drawing/2017/decorative" val="1"/>
              </a:ext>
            </a:extLst>
          </p:cNvPr>
          <p:cNvSpPr/>
          <p:nvPr/>
        </p:nvSpPr>
        <p:spPr>
          <a:xfrm>
            <a:off x="749808" y="4370832"/>
            <a:ext cx="606552" cy="606552"/>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16404"/>
            <a:ext cx="315407" cy="315407"/>
          </a:xfrm>
          <a:prstGeom prst="rect">
            <a:avLst/>
          </a:prstGeom>
        </p:spPr>
      </p:pic>
      <p:sp>
        <p:nvSpPr>
          <p:cNvPr id="15" name="Callout text"/>
          <p:cNvSpPr txBox="1"/>
          <p:nvPr/>
        </p:nvSpPr>
        <p:spPr>
          <a:xfrm>
            <a:off x="1600200" y="435254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So: </a:t>
            </a:r>
            <a:r>
              <a:rPr lang="en-US" sz="1750" dirty="0">
                <a:solidFill>
                  <a:srgbClr val="334155"/>
                </a:solidFill>
              </a:rPr>
              <a:t>the code reads the tenant before every plan, takes policy IDs from that read, and treats anything it didn't put there as drift.</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eligibilityScheduleRequest; Bring groups into PIM; Book 04, Ch 04. Chapter 05, “What the PRV groups have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07513EFA-B901-807B-C140-9DF6ED7544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46FE71-0D03-4729-8B00-CD74F3D3A91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90"/>
    </mc:Choice>
    <mc:Fallback>
      <p:transition spd="slow" advTm="37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8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hosts and availability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38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(Moderate)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Graph host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graph.microsoft.com, the worldwide host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Sign-in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cloud's own sign-in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PIM for Groups APIs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Global service in every page's national cloud table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US Government L4 and L5 listed on every page read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Microsoft Entra ID Governance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Available in GCC</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Available in 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94716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02031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65884"/>
            <a:ext cx="315407" cy="315407"/>
          </a:xfrm>
          <a:prstGeom prst="rect">
            <a:avLst/>
          </a:prstGeom>
        </p:spPr>
      </p:pic>
      <p:sp>
        <p:nvSpPr>
          <p:cNvPr id="9" name="Callout text"/>
          <p:cNvSpPr txBox="1"/>
          <p:nvPr/>
        </p:nvSpPr>
        <p:spPr>
          <a:xfrm>
            <a:off x="1600200" y="400202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The module takes the cloud from Chapter 01's table, by name, with no default.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Microsoft Entra feature availability; PIM for Groups API pages. Chapter 05,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7F20C34-D358-9382-08A7-F61F8840FC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217369-6027-4CF8-A316-ED82B950F3A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410"/>
    </mc:Choice>
    <mc:Fallback>
      <p:transition spd="slow" advTm="34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independent features meet in a PRV group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Role-assignable groups">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Role-assignable group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ROLE-ASSIGNABLE GROUPS</a:t>
            </a:r>
            <a:endParaRPr lang="en-US" sz="1100" dirty="0"/>
          </a:p>
        </p:txBody>
      </p:sp>
      <p:sp>
        <p:nvSpPr>
          <p:cNvPr id="7" name="Panel Role-assignable groups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isAssignableToRole true, set only at creation; can't be changed or converted</a:t>
            </a:r>
            <a:endParaRPr lang="en-US" sz="1500" dirty="0"/>
          </a:p>
          <a:p>
            <a:pPr marL="342900" indent="-342900">
              <a:spcAft>
                <a:spcPts val="400"/>
              </a:spcAft>
              <a:buSzPct val="100000"/>
              <a:buChar char="•"/>
            </a:pPr>
            <a:r>
              <a:rPr lang="en-US" sz="1500" dirty="0">
                <a:solidFill>
                  <a:srgbClr val="334155"/>
                </a:solidFill>
              </a:rPr>
              <a:t>At most 500 per tenant; assigned membership only; no group members</a:t>
            </a:r>
            <a:endParaRPr lang="en-US" sz="1500" dirty="0"/>
          </a:p>
          <a:p>
            <a:pPr marL="342900" indent="-342900">
              <a:spcAft>
                <a:spcPts val="400"/>
              </a:spcAft>
              <a:buSzPct val="100000"/>
              <a:buChar char="•"/>
            </a:pPr>
            <a:r>
              <a:rPr lang="en-US" sz="1500" dirty="0">
                <a:solidFill>
                  <a:srgbClr val="334155"/>
                </a:solidFill>
              </a:rPr>
              <a:t>Privileged Role Administrator to create; Privileged Authentication Administrator to change members' credentials</a:t>
            </a:r>
            <a:endParaRPr lang="en-US" sz="1500" dirty="0"/>
          </a:p>
          <a:p>
            <a:pPr marL="342900" indent="-342900">
              <a:spcAft>
                <a:spcPts val="400"/>
              </a:spcAft>
              <a:buSzPct val="100000"/>
              <a:buChar char="•"/>
            </a:pPr>
            <a:r>
              <a:rPr lang="en-US" sz="1500" dirty="0">
                <a:solidFill>
                  <a:srgbClr val="334155"/>
                </a:solidFill>
              </a:rPr>
              <a:t>Needs Entra ID P1; just-in-time activation needs P2</a:t>
            </a:r>
            <a:endParaRPr lang="en-US" sz="1500" dirty="0"/>
          </a:p>
        </p:txBody>
      </p:sp>
      <p:sp>
        <p:nvSpPr>
          <p:cNvPr id="8" name="Panel PIM for Groups">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IM for Group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PIM FOR GROUPS</a:t>
            </a:r>
            <a:endParaRPr lang="en-US" sz="1100" dirty="0"/>
          </a:p>
        </p:txBody>
      </p:sp>
      <p:sp>
        <p:nvSpPr>
          <p:cNvPr id="10" name="Panel PIM for Group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Just-in-time membership or ownership, with approval, MFA, justification, maximum time</a:t>
            </a:r>
            <a:endParaRPr lang="en-US" sz="1500" dirty="0"/>
          </a:p>
          <a:p>
            <a:pPr marL="342900" indent="-342900">
              <a:spcAft>
                <a:spcPts val="400"/>
              </a:spcAft>
              <a:buSzPct val="100000"/>
              <a:buChar char="•"/>
            </a:pPr>
            <a:r>
              <a:rPr lang="en-US" sz="1500" dirty="0">
                <a:solidFill>
                  <a:srgbClr val="334155"/>
                </a:solidFill>
              </a:rPr>
              <a:t>Two policies per group: membership and ownership</a:t>
            </a:r>
            <a:endParaRPr lang="en-US" sz="1500" dirty="0"/>
          </a:p>
          <a:p>
            <a:pPr marL="342900" indent="-342900">
              <a:spcAft>
                <a:spcPts val="400"/>
              </a:spcAft>
              <a:buSzPct val="100000"/>
              <a:buChar char="•"/>
            </a:pPr>
            <a:r>
              <a:rPr lang="en-US" sz="1500" dirty="0">
                <a:solidFill>
                  <a:srgbClr val="334155"/>
                </a:solidFill>
              </a:rPr>
              <a:t>Any group except dynamic and on-premises-synchronized; role-assignable not required</a:t>
            </a:r>
            <a:endParaRPr lang="en-US" sz="15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4215384"/>
          <a:ext cx="11109960" cy="1395984"/>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Book 04 pattern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How it works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In the file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Entra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group is eligible for the role; members are active and activate the role (Learn's advice for SharePoint, Exchange, Purview roles)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holds: entraRole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 an Entra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Members are eligible for the group and activate membership (Azure role, Intune scope, an app)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holds: azureRole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Microsoft Entra groups to manage role assignments; PIM for Groups; Book 04, Ch 04. Chapter 05, “What the PRV groups have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D859E10-019F-7847-6A44-3A8310F8E2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04D10B-D3F4-42CC-B75C-BB03DFBBDBC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00"/>
    </mc:Choice>
    <mc:Fallback>
      <p:transition spd="slow" advTm="3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a group's PIM state lives in Graph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Where (under identityGovernance/privilegedAccess/group)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Note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Eligible members, owners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 eligibilitySchedules?$filter=groupId eq '{id}'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accessId member or owner; filter required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Active members, owners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 assignmentSchedules?$filter=groupId eq '{id}'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assignmentType: activation or standing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Member, owner policies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 /policies/roleManagementPolicyAssignments, scopeType 'Group', expand rules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roleDefinitionId member or owner; policy ID starts Group_</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schedule change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POST eligibilityScheduleRequests or assignmentScheduleRequests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adminAssign, adminUpdate, adminRemove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policy change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PATCH /policies/roleManagementPolicies/{policyId}/rules/{ruleId}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@odata.type must be in the body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Panel Three facts that shape the code, and one deferral">
            <a:extLst>
              <a:ext uri="{C183D7F6-B498-43B3-948B-1728B52AA6E4}">
                <adec:decorative xmlns:adec="http://schemas.microsoft.com/office/drawing/2017/decorative" val="1"/>
              </a:ext>
            </a:extLst>
          </p:cNvPr>
          <p:cNvSpPr/>
          <p:nvPr/>
        </p:nvSpPr>
        <p:spPr>
          <a:xfrm>
            <a:off x="548640" y="4224528"/>
            <a:ext cx="11109960" cy="1697736"/>
          </a:xfrm>
          <a:prstGeom prst="roundRect">
            <a:avLst>
              <a:gd name="adj" fmla="val 430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Panel Three facts that shape the code, and one deferral label"/>
          <p:cNvSpPr txBox="1"/>
          <p:nvPr/>
        </p:nvSpPr>
        <p:spPr>
          <a:xfrm>
            <a:off x="731520" y="4334256"/>
            <a:ext cx="10744200" cy="274320"/>
          </a:xfrm>
          <a:prstGeom prst="rect">
            <a:avLst/>
          </a:prstGeom>
          <a:noFill/>
          <a:ln/>
        </p:spPr>
        <p:txBody>
          <a:bodyPr wrap="square" lIns="0" tIns="0" rIns="0" bIns="0" rtlCol="0" anchor="t"/>
          <a:lstStyle/>
          <a:p>
            <a:pPr marL="0" indent="0">
              <a:buNone/>
            </a:pPr>
            <a:r>
              <a:rPr lang="en-US" sz="1100" b="1" kern="0" spc="50" dirty="0">
                <a:solidFill>
                  <a:srgbClr val="B45309"/>
                </a:solidFill>
              </a:rPr>
              <a:t>THREE FACTS THAT SHAPE THE CODE, AND ONE DEFERRAL</a:t>
            </a:r>
            <a:endParaRPr lang="en-US" sz="1100" dirty="0"/>
          </a:p>
        </p:txBody>
      </p:sp>
      <p:sp>
        <p:nvSpPr>
          <p:cNvPr id="8" name="Panel Three facts that shape the code, and one deferral list"/>
          <p:cNvSpPr txBox="1"/>
          <p:nvPr/>
        </p:nvSpPr>
        <p:spPr>
          <a:xfrm>
            <a:off x="731520" y="4636008"/>
            <a:ext cx="10789920" cy="124053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Eligible membership isn't in the group's members list; only active membership is</a:t>
            </a:r>
            <a:endParaRPr lang="en-US" sz="1450" dirty="0"/>
          </a:p>
          <a:p>
            <a:pPr marL="342900" indent="-342900">
              <a:spcAft>
                <a:spcPts val="400"/>
              </a:spcAft>
              <a:buSzPct val="100000"/>
              <a:buChar char="•"/>
            </a:pPr>
            <a:r>
              <a:rPr lang="en-US" sz="1450" dirty="0">
                <a:solidFill>
                  <a:srgbClr val="334155"/>
                </a:solidFill>
              </a:rPr>
              <a:t>PIM onboards a group on its first schedule or policy update; policy IDs change; no offboarding</a:t>
            </a:r>
            <a:endParaRPr lang="en-US" sz="1450" dirty="0"/>
          </a:p>
          <a:p>
            <a:pPr marL="342900" indent="-342900">
              <a:spcAft>
                <a:spcPts val="400"/>
              </a:spcAft>
              <a:buSzPct val="100000"/>
              <a:buChar char="•"/>
            </a:pPr>
            <a:r>
              <a:rPr lang="en-US" sz="1450" dirty="0">
                <a:solidFill>
                  <a:srgbClr val="334155"/>
                </a:solidFill>
              </a:rPr>
              <a:t>Access packages (task A3.3) aren't built here (research gaps, row 58); their expiry must not exceed the group's eligibility expiry</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for Groups API overview; List eligibilitySchedules, assignmentSchedules, policy assignments; Update rule; access packages. Chapter 05, same section.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B8E8852D-CFA1-287B-C4FF-DA280149C3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5956CF-9D41-4737-BDD5-66BE84B199B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00"/>
    </mc:Choice>
    <mc:Fallback>
      <p:transition spd="slow" advTm="3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0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samples, pinned and sent to a fake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publishes">
            <a:extLst>
              <a:ext uri="{C183D7F6-B498-43B3-948B-1728B52AA6E4}">
                <adec:decorative xmlns:adec="http://schemas.microsoft.com/office/drawing/2017/decorative" val="1"/>
              </a:ext>
            </a:extLst>
          </p:cNvPr>
          <p:cNvSpPr/>
          <p:nvPr/>
        </p:nvSpPr>
        <p:spPr>
          <a:xfrm>
            <a:off x="548640" y="1325880"/>
            <a:ext cx="5201107" cy="2767584"/>
          </a:xfrm>
          <a:prstGeom prst="roundRect">
            <a:avLst>
              <a:gd name="adj" fmla="val 264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publishes label"/>
          <p:cNvSpPr txBox="1"/>
          <p:nvPr/>
        </p:nvSpPr>
        <p:spPr>
          <a:xfrm>
            <a:off x="731520" y="1435608"/>
            <a:ext cx="4835347"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PUBLISHES</a:t>
            </a:r>
            <a:endParaRPr lang="en-US" sz="1100" dirty="0"/>
          </a:p>
        </p:txBody>
      </p:sp>
      <p:sp>
        <p:nvSpPr>
          <p:cNvPr id="7" name="Panel What Learn publishes list"/>
          <p:cNvSpPr txBox="1"/>
          <p:nvPr/>
        </p:nvSpPr>
        <p:spPr>
          <a:xfrm>
            <a:off x="731520" y="1737360"/>
            <a:ext cx="4881067"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end-to-end Graph tutorial for PIM for Groups; the roles tutorial stops at a pointer</a:t>
            </a:r>
            <a:endParaRPr lang="en-US" sz="1550" dirty="0"/>
          </a:p>
          <a:p>
            <a:pPr marL="342900" indent="-342900">
              <a:spcAft>
                <a:spcPts val="400"/>
              </a:spcAft>
              <a:buSzPct val="100000"/>
              <a:buChar char="•"/>
            </a:pPr>
            <a:r>
              <a:rPr lang="en-US" sz="1550" dirty="0">
                <a:solidFill>
                  <a:srgbClr val="334155"/>
                </a:solidFill>
              </a:rPr>
              <a:t>Create eligibilityScheduleRequest: make eligible, or extend</a:t>
            </a:r>
            <a:endParaRPr lang="en-US" sz="1550" dirty="0"/>
          </a:p>
          <a:p>
            <a:pPr marL="342900" indent="-342900">
              <a:spcAft>
                <a:spcPts val="400"/>
              </a:spcAft>
              <a:buSzPct val="100000"/>
              <a:buChar char="•"/>
            </a:pPr>
            <a:r>
              <a:rPr lang="en-US" sz="1550" dirty="0">
                <a:solidFill>
                  <a:srgbClr val="334155"/>
                </a:solidFill>
              </a:rPr>
              <a:t>Create assignmentScheduleRequest: two hours active, or a user activates</a:t>
            </a:r>
            <a:endParaRPr lang="en-US" sz="1550" dirty="0"/>
          </a:p>
          <a:p>
            <a:pPr marL="342900" indent="-342900">
              <a:spcAft>
                <a:spcPts val="400"/>
              </a:spcAft>
              <a:buSzPct val="100000"/>
              <a:buChar char="•"/>
            </a:pPr>
            <a:r>
              <a:rPr lang="en-US" sz="1550" dirty="0">
                <a:solidFill>
                  <a:srgbClr val="334155"/>
                </a:solidFill>
              </a:rPr>
              <a:t>Update rules in PIM: six rule updates, with RoleManagementPolicy.ReadWrite.AzureADGroup</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024067" y="1325880"/>
            <a:ext cx="5634533" cy="2767584"/>
          </a:xfrm>
          <a:prstGeom prst="roundRect">
            <a:avLst>
              <a:gd name="adj" fmla="val 264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206947" y="1435608"/>
            <a:ext cx="5268773"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206947" y="1737360"/>
            <a:ext cx="5314493"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Three pages pinned unmodified in examples/third_party/graph-pim-for-groups-pages, commit a693031 (Oct 30, 2026)</a:t>
            </a:r>
            <a:endParaRPr lang="en-US" sz="1550" dirty="0"/>
          </a:p>
          <a:p>
            <a:pPr marL="342900" indent="-342900">
              <a:spcAft>
                <a:spcPts val="400"/>
              </a:spcAft>
              <a:buSzPct val="100000"/>
              <a:buChar char="•"/>
            </a:pPr>
            <a:r>
              <a:rPr lang="en-US" sz="1550" dirty="0">
                <a:solidFill>
                  <a:srgbClr val="334155"/>
                </a:solidFill>
              </a:rPr>
              <a:t>snapshot.json holds each SHA-256;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PimForGroupsSampleHarness.ps1 sends the http requests, as published, to New-PaPgFixtureInvoker</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276344"/>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46608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619701"/>
            <a:ext cx="332842" cy="332842"/>
          </a:xfrm>
          <a:prstGeom prst="rect">
            <a:avLst/>
          </a:prstGeom>
        </p:spPr>
      </p:pic>
      <p:sp>
        <p:nvSpPr>
          <p:cNvPr id="14" name="Callout text"/>
          <p:cNvSpPr txBox="1"/>
          <p:nvPr/>
        </p:nvSpPr>
        <p:spPr>
          <a:xfrm>
            <a:off x="1600200" y="4331208"/>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The fake checks what Learn says PIM checks: </a:t>
            </a:r>
            <a:r>
              <a:rPr lang="en-US" sz="1750" dirty="0">
                <a:solidFill>
                  <a:srgbClr val="334155"/>
                </a:solidFill>
              </a:rPr>
              <a:t>a known group, member or owner, a documented action, an end within the policy's maximum. Refusing an ended schedule is the fake's own rule (research gaps, row 57).</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eligibility/assignment ScheduleRequest; Update rules in PIM; roles tutorial; microsoft-graph-docs-contrib at a693031. Chapter 05,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717BF8E-2E4A-A5CA-46C9-7CF9F87DC2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F2F50E-385E-4736-9251-288B332A8CA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2336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Microsoft's sample, as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examples/privileged-access adds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Example 1 titled an ownership request, sends accessId member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Copied for an owner, it grants membership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accessId from the file's member or owner list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Says two hours; the end is about a day later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Comment and request disagree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 from the file, checked against the policy's maximum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Dated 2023: the fake refuses both admin examples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copied example fails, or its dates get hand-edited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Start is the run's time; end is the reviewed endDateTime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AdminAssign, documented adminAssign; no ticketInfo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Case-sensitivity unstated (row 51); no ticket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 values; ticketInfo from the file; Warn if 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read before the write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Grants twice; never removes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Reads first; adminUpdate and adminRemove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Hard-coded graph.microsoft.com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Wrong for GCC High and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Host from the cloud table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Includes a selfActivate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user action, not an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 requests only; guard G7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Rule updates target DirectoryRole_; page says groups are beta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group policy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v1.0, Group_ policy ID read from the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One user as approver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single point of failure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tier's PIM-Approvers-&lt;tier&gt; group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532120"/>
            <a:ext cx="11109960" cy="306324"/>
          </a:xfrm>
          <a:prstGeom prst="rect">
            <a:avLst/>
          </a:prstGeom>
          <a:noFill/>
          <a:ln/>
        </p:spPr>
        <p:txBody>
          <a:bodyPr wrap="square" lIns="0" tIns="0" rIns="0" bIns="0" rtlCol="0" anchor="t"/>
          <a:lstStyle/>
          <a:p>
            <a:pPr marL="0" indent="0">
              <a:buNone/>
            </a:pPr>
            <a:r>
              <a:rPr lang="en-US" sz="1650" b="1" dirty="0">
                <a:solidFill>
                  <a:srgbClr val="1F2A44"/>
                </a:solidFill>
              </a:rPr>
              <a:t>Verdict: keep Microsoft's request and rule shapes; don't run the samples as published.</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eligibility/assignment ScheduleRequest; Update rules in PIM; pinned pages at a693031.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6FBFF2D-2FEC-9EA5-1BC3-A914F8F81D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0D8E5E-A11E-469D-B49D-B5B195CB57A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the reviewed file and the tier policy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05228"/>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790956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is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PimGroups.psm1, calls-ch05.json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chapter's own module and call list; imports Chapter 01 only for the cloud table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Invoke-PaPimGroups.ps1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entry script; notes for developers in docs/ch05.md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prv-groups.json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reviewed file: approver group per tier; each group's ID, tier, holds, member and owner entries (active or eligible, principal ID, name, type, end, ticket)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Read-PaPrvGroupConfig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Refuses a name where an ID belongs, an unknown tier, a duplicate group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prv-group-policy.json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Design guidance: per access type and tier (below)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713988"/>
          <a:ext cx="11109960" cy="187452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3611880">
                  <a:extLst>
                    <a:ext uri="{9D8B030D-6E8A-4147-A177-3AD203B41FA5}">
                      <a16:colId xmlns:a16="http://schemas.microsoft.com/office/drawing/2014/main" val="20004"/>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Setting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T2, T3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Member 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4 hours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8 hours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8 hours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Eligibility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90 days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180 days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180, 365 days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Approval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Owner 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 hour, approval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Learn's PIM deployment plan example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 a PIM deployment; Book 04, Appendix B. Chapter 05, “The code,” “The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57FF241-BA16-C068-FB6B-837CC01C34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E385C4-E025-4BF8-8496-D49E2925DCB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20"/>
    </mc:Choice>
    <mc:Fallback>
      <p:transition spd="slow" advTm="3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Activation limits and the authentication context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wo pages differ on the longest activation">
            <a:extLst>
              <a:ext uri="{C183D7F6-B498-43B3-948B-1728B52AA6E4}">
                <adec:decorative xmlns:adec="http://schemas.microsoft.com/office/drawing/2017/decorative" val="1"/>
              </a:ext>
            </a:extLst>
          </p:cNvPr>
          <p:cNvSpPr/>
          <p:nvPr/>
        </p:nvSpPr>
        <p:spPr>
          <a:xfrm>
            <a:off x="548640" y="1325880"/>
            <a:ext cx="5417820" cy="2520696"/>
          </a:xfrm>
          <a:prstGeom prst="roundRect">
            <a:avLst>
              <a:gd name="adj" fmla="val 290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Panel Two pages differ on the longest activatio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TWO PAGES DIFFER ON THE LONGEST ACTIVATION</a:t>
            </a:r>
            <a:endParaRPr lang="en-US" sz="1100" dirty="0"/>
          </a:p>
        </p:txBody>
      </p:sp>
      <p:sp>
        <p:nvSpPr>
          <p:cNvPr id="7" name="Panel Two pages differ on the longest activation list"/>
          <p:cNvSpPr txBox="1"/>
          <p:nvPr/>
        </p:nvSpPr>
        <p:spPr>
          <a:xfrm>
            <a:off x="731520" y="1737360"/>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Graph overview: always time-bound, at most eight hours</a:t>
            </a:r>
            <a:endParaRPr lang="en-US" sz="1600" dirty="0"/>
          </a:p>
          <a:p>
            <a:pPr marL="342900" indent="-342900">
              <a:spcAft>
                <a:spcPts val="400"/>
              </a:spcAft>
              <a:buSzPct val="100000"/>
              <a:buChar char="•"/>
            </a:pPr>
            <a:r>
              <a:rPr lang="en-US" sz="1600" dirty="0">
                <a:solidFill>
                  <a:srgbClr val="334155"/>
                </a:solidFill>
              </a:rPr>
              <a:t>Settings page: one to 24 hours</a:t>
            </a:r>
            <a:endParaRPr lang="en-US" sz="1600" dirty="0"/>
          </a:p>
          <a:p>
            <a:pPr marL="342900" indent="-342900">
              <a:spcAft>
                <a:spcPts val="400"/>
              </a:spcAft>
              <a:buSzPct val="100000"/>
              <a:buChar char="•"/>
            </a:pPr>
            <a:r>
              <a:rPr lang="en-US" sz="1600" dirty="0">
                <a:solidFill>
                  <a:srgbClr val="334155"/>
                </a:solidFill>
              </a:rPr>
              <a:t>The code follows the stricter and flags anything over eight hours (research gaps, row 54)</a:t>
            </a:r>
            <a:endParaRPr lang="en-US" sz="1600" dirty="0"/>
          </a:p>
        </p:txBody>
      </p:sp>
      <p:sp>
        <p:nvSpPr>
          <p:cNvPr id="8" name="Panel Reauthentication on activation">
            <a:extLst>
              <a:ext uri="{C183D7F6-B498-43B3-948B-1728B52AA6E4}">
                <adec:decorative xmlns:adec="http://schemas.microsoft.com/office/drawing/2017/decorative" val="1"/>
              </a:ext>
            </a:extLst>
          </p:cNvPr>
          <p:cNvSpPr/>
          <p:nvPr/>
        </p:nvSpPr>
        <p:spPr>
          <a:xfrm>
            <a:off x="6240780" y="1325880"/>
            <a:ext cx="5417820" cy="2520696"/>
          </a:xfrm>
          <a:prstGeom prst="roundRect">
            <a:avLst>
              <a:gd name="adj" fmla="val 29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anel Reauthentication on activatio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REAUTHENTICATION ON ACTIVATION</a:t>
            </a:r>
            <a:endParaRPr lang="en-US" sz="1100" dirty="0"/>
          </a:p>
        </p:txBody>
      </p:sp>
      <p:sp>
        <p:nvSpPr>
          <p:cNvPr id="10" name="Panel Reauthentication on activation list"/>
          <p:cNvSpPr txBox="1"/>
          <p:nvPr/>
        </p:nvSpPr>
        <p:spPr>
          <a:xfrm>
            <a:off x="6423660" y="1737360"/>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Context c1 is Chapter 03's (planned); until then: MFA, justification and a ticket</a:t>
            </a:r>
            <a:endParaRPr lang="en-US" sz="1600" dirty="0"/>
          </a:p>
          <a:p>
            <a:pPr marL="342900" indent="-342900">
              <a:spcAft>
                <a:spcPts val="400"/>
              </a:spcAft>
              <a:buSzPct val="100000"/>
              <a:buChar char="•"/>
            </a:pPr>
            <a:r>
              <a:rPr lang="en-US" sz="1600" dirty="0">
                <a:solidFill>
                  <a:srgbClr val="334155"/>
                </a:solidFill>
              </a:rPr>
              <a:t>c1 prompts on every activation only with sign-in frequency Every time, and a 10-minute window across Entra roles, Azure roles and PIM for Groups</a:t>
            </a:r>
            <a:endParaRPr lang="en-US" sz="1600" dirty="0"/>
          </a:p>
          <a:p>
            <a:pPr marL="342900" indent="-342900">
              <a:spcAft>
                <a:spcPts val="400"/>
              </a:spcAft>
              <a:buSzPct val="100000"/>
              <a:buChar char="•"/>
            </a:pPr>
            <a:r>
              <a:rPr lang="en-US" sz="1600" dirty="0">
                <a:solidFill>
                  <a:srgbClr val="334155"/>
                </a:solidFill>
              </a:rPr>
              <a:t>Release notes: GA since April 2026; deployment plan: public preview. Treated as preview</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029456"/>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49808" y="4102608"/>
            <a:ext cx="606552" cy="606552"/>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248180"/>
            <a:ext cx="315407" cy="315407"/>
          </a:xfrm>
          <a:prstGeom prst="rect">
            <a:avLst/>
          </a:prstGeom>
        </p:spPr>
      </p:pic>
      <p:sp>
        <p:nvSpPr>
          <p:cNvPr id="14" name="Callout text"/>
          <p:cNvSpPr txBox="1"/>
          <p:nvPr/>
        </p:nvSpPr>
        <p:spPr>
          <a:xfrm>
            <a:off x="1600200" y="4084320"/>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Approvers, per Learn: </a:t>
            </a:r>
            <a:r>
              <a:rPr lang="en-US" sz="1750" dirty="0">
                <a:solidFill>
                  <a:srgbClr val="334155"/>
                </a:solidFill>
              </a:rPr>
              <a:t>no default approvers; select at least two; approvers can't approve their own requests; service principals can't approve; 24 hours to approve.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for Groups API overview; Configure PIM for Groups settings; Entra releases (Apr 2026); Plan a PIM deployment; Approve requests. Chapter 05, “The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6E7B2C9-86BB-DF94-676E-FE4F3AF144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3F8D89-E8B7-42B2-8746-452BC222752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30"/>
    </mc:Choice>
    <mc:Fallback>
      <p:transition spd="slow" advTm="36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findings: PA-PG-01 to PA-PG-09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name that isn't PRV-&lt;tier&gt;-&lt;role&gt;[-&lt;scope&gt;], or a tier that differs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Holds an Entra role but not role-assignable; another PRV group that isn't (Warn); not created yet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dynamic or on-premises-synchronized 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450 or more role-assignable groups (Warn); 500 (Finding)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Warn is design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group as member or owner, or an eligible service principal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end, or already ended; no ticket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Eligible owners with no active owner; any owner on a T0 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rule that differs from the reviewed setting; over 8 hours; no approver group; self-approval; no approval into an Entra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PA-PG-09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schedule the file doesn't grant; a group the file doesn't list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48640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Activations (assignmentType activated) aren't standing state: left out of findings and plan.</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groups for role assignments; PIM for Groups; Plan a PIM deployment; Approve requests. Chapter 05, “The read and the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3D58ADB-8906-EB28-49E1-BD862F7478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B22F62-C43A-4F89-847C-A488F02E82C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the dry run, -Apply and seven guards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4869180" cy="795528"/>
          </a:xfrm>
          <a:prstGeom prst="rect">
            <a:avLst/>
          </a:prstGeom>
          <a:noFill/>
          <a:ln/>
        </p:spPr>
        <p:txBody>
          <a:bodyPr wrap="square" lIns="0" tIns="0" rIns="0" bIns="0" rtlCol="0" anchor="t"/>
          <a:lstStyle/>
          <a:p>
            <a:pPr marL="0" indent="0">
              <a:buNone/>
            </a:pPr>
            <a:r>
              <a:rPr lang="en-US" sz="1500" b="1" dirty="0">
                <a:solidFill>
                  <a:srgbClr val="1F2A44"/>
                </a:solidFill>
              </a:rPr>
              <a:t>Create groups: </a:t>
            </a:r>
            <a:r>
              <a:rPr lang="en-US" sz="1500" dirty="0">
                <a:solidFill>
                  <a:srgbClr val="334155"/>
                </a:solidFill>
              </a:rPr>
              <a:t>POST /groups, role-assignable, security-enabled, assigned membership; rerun once it exists</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21396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21396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2121408"/>
            <a:ext cx="4869180" cy="566928"/>
          </a:xfrm>
          <a:prstGeom prst="rect">
            <a:avLst/>
          </a:prstGeom>
          <a:noFill/>
          <a:ln/>
        </p:spPr>
        <p:txBody>
          <a:bodyPr wrap="square" lIns="0" tIns="0" rIns="0" bIns="0" rtlCol="0" anchor="t"/>
          <a:lstStyle/>
          <a:p>
            <a:pPr marL="0" indent="0">
              <a:buNone/>
            </a:pPr>
            <a:r>
              <a:rPr lang="en-US" sz="1500" b="1" dirty="0">
                <a:solidFill>
                  <a:srgbClr val="1F2A44"/>
                </a:solidFill>
              </a:rPr>
              <a:t>Policy rules: </a:t>
            </a:r>
            <a:r>
              <a:rPr lang="en-US" sz="1500" dirty="0">
                <a:solidFill>
                  <a:srgbClr val="334155"/>
                </a:solidFill>
              </a:rPr>
              <a:t>So the rules are in force before anyone is granted</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7066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7066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688336"/>
            <a:ext cx="4869180" cy="338328"/>
          </a:xfrm>
          <a:prstGeom prst="rect">
            <a:avLst/>
          </a:prstGeom>
          <a:noFill/>
          <a:ln/>
        </p:spPr>
        <p:txBody>
          <a:bodyPr wrap="square" lIns="0" tIns="0" rIns="0" bIns="0" rtlCol="0" anchor="t"/>
          <a:lstStyle/>
          <a:p>
            <a:pPr marL="0" indent="0">
              <a:buNone/>
            </a:pPr>
            <a:r>
              <a:rPr lang="en-US" sz="1500" b="1" dirty="0">
                <a:solidFill>
                  <a:srgbClr val="1F2A44"/>
                </a:solidFill>
              </a:rPr>
              <a:t>Grants and updates: </a:t>
            </a:r>
            <a:r>
              <a:rPr lang="en-US" sz="1500" dirty="0">
                <a:solidFill>
                  <a:srgbClr val="334155"/>
                </a:solidFill>
              </a:rPr>
              <a:t>adminAssign, adminUpdate</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4869180" cy="338328"/>
          </a:xfrm>
          <a:prstGeom prst="rect">
            <a:avLst/>
          </a:prstGeom>
          <a:noFill/>
          <a:ln/>
        </p:spPr>
        <p:txBody>
          <a:bodyPr wrap="square" lIns="0" tIns="0" rIns="0" bIns="0" rtlCol="0" anchor="t"/>
          <a:lstStyle/>
          <a:p>
            <a:pPr marL="0" indent="0">
              <a:buNone/>
            </a:pPr>
            <a:r>
              <a:rPr lang="en-US" sz="1500" b="1" dirty="0">
                <a:solidFill>
                  <a:srgbClr val="1F2A44"/>
                </a:solidFill>
              </a:rPr>
              <a:t>Removals: </a:t>
            </a:r>
            <a:r>
              <a:rPr lang="en-US" sz="1500" dirty="0">
                <a:solidFill>
                  <a:srgbClr val="334155"/>
                </a:solidFill>
              </a:rPr>
              <a:t>Last; adminRemove</a:t>
            </a:r>
            <a:endParaRPr lang="en-US" sz="1500" dirty="0"/>
          </a:p>
        </p:txBody>
      </p:sp>
      <p:sp>
        <p:nvSpPr>
          <p:cNvPr id="17" name="Lead"/>
          <p:cNvSpPr txBox="1"/>
          <p:nvPr/>
        </p:nvSpPr>
        <p:spPr>
          <a:xfrm>
            <a:off x="548640" y="3547872"/>
            <a:ext cx="5417820" cy="877824"/>
          </a:xfrm>
          <a:prstGeom prst="rect">
            <a:avLst/>
          </a:prstGeom>
          <a:noFill/>
          <a:ln/>
        </p:spPr>
        <p:txBody>
          <a:bodyPr wrap="square" lIns="0" tIns="0" rIns="0" bIns="0" rtlCol="0" anchor="t"/>
          <a:lstStyle/>
          <a:p>
            <a:pPr marL="0" indent="0">
              <a:buNone/>
            </a:pPr>
            <a:r>
              <a:rPr lang="en-US" sz="1800" b="1" dirty="0">
                <a:solidFill>
                  <a:srgbClr val="1F2A44"/>
                </a:solidFill>
              </a:rPr>
              <a:t>diff.txt is the diff; plan.json the exact requests. Dry run unless -Apply; -Apply stops at the first error.</a:t>
            </a:r>
            <a:endParaRPr lang="en-US" sz="18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3308604"/>
        </p:xfrm>
        <a:graphic>
          <a:graphicData uri="http://schemas.openxmlformats.org/drawingml/2006/table">
            <a:tbl>
              <a:tblPr firstRow="1" bandRow="1"/>
              <a:tblGrid>
                <a:gridCol w="1157654">
                  <a:extLst>
                    <a:ext uri="{9D8B030D-6E8A-4147-A177-3AD203B41FA5}">
                      <a16:colId xmlns:a16="http://schemas.microsoft.com/office/drawing/2014/main" val="20000"/>
                    </a:ext>
                  </a:extLst>
                </a:gridCol>
                <a:gridCol w="4260166">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Guard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Refuses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T0 or T1 policy losing approval, or its approvers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expiration rule allowing permanent grants, or a grant with no end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group as its own approver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Eligible owners with no active owner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group as a holder, or an eligible service principal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More removals than -MaxRemovals (default 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self-service action in the plan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group resource type; Create group; Use groups for role assignments. Chapter 05, “The plan, the dry run and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649866CB-17AB-083A-8F04-8BE59D1677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DD0C3F2-FEE2-4FE4-837A-7DED68F52EF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80"/>
    </mc:Choice>
    <mc:Fallback>
      <p:transition spd="slow" advTm="37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Learn's pages differ, recorded on purpose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9196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Learn's pages say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Activation length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Eight hours (Graph overview); 24 (settings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Caps at eight (row 54)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v1.0 or 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API pages are v1.0; the rules how-to says beta only; settings page shows beta; deployment plan links a preview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Uses v1.0 (row 55)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Permissions for role-assignable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RoleManagement.ReadWrite.Directory on one page; the AzureADGroup permissions on the PIM pages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Declares AzureADGroup; Lab 2 checks (row 53)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Creating one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visibility Hidden or Private; owners allowed or not; Learn's PowerShell uses Group.ReadWrite.All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Declares Group.Create and RoleManagement.ReadWrite.Directory (row 56)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rule cmdlet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Update-MgPolicyRoleManagementPolicyRule: Directory permissions, no app support; API page lists AzureADGroup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Calls the REST API (row 59)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nel Also verified">
            <a:extLst>
              <a:ext uri="{C183D7F6-B498-43B3-948B-1728B52AA6E4}">
                <adec:decorative xmlns:adec="http://schemas.microsoft.com/office/drawing/2017/decorative" val="1"/>
              </a:ext>
            </a:extLst>
          </p:cNvPr>
          <p:cNvSpPr/>
          <p:nvPr/>
        </p:nvSpPr>
        <p:spPr>
          <a:xfrm>
            <a:off x="548640" y="4300728"/>
            <a:ext cx="11109960" cy="1207008"/>
          </a:xfrm>
          <a:prstGeom prst="roundRect">
            <a:avLst>
              <a:gd name="adj" fmla="val 606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Panel Also verified label"/>
          <p:cNvSpPr txBox="1"/>
          <p:nvPr/>
        </p:nvSpPr>
        <p:spPr>
          <a:xfrm>
            <a:off x="731520" y="4410456"/>
            <a:ext cx="10744200" cy="274320"/>
          </a:xfrm>
          <a:prstGeom prst="rect">
            <a:avLst/>
          </a:prstGeom>
          <a:noFill/>
          <a:ln/>
        </p:spPr>
        <p:txBody>
          <a:bodyPr wrap="square" lIns="0" tIns="0" rIns="0" bIns="0" rtlCol="0" anchor="t"/>
          <a:lstStyle/>
          <a:p>
            <a:pPr marL="0" indent="0">
              <a:buNone/>
            </a:pPr>
            <a:r>
              <a:rPr lang="en-US" sz="1100" b="1" kern="0" spc="50" dirty="0">
                <a:solidFill>
                  <a:srgbClr val="0F766E"/>
                </a:solidFill>
              </a:rPr>
              <a:t>ALSO VERIFIED</a:t>
            </a:r>
            <a:endParaRPr lang="en-US" sz="1100" dirty="0"/>
          </a:p>
        </p:txBody>
      </p:sp>
      <p:sp>
        <p:nvSpPr>
          <p:cNvPr id="8" name="Panel Also verified list"/>
          <p:cNvSpPr txBox="1"/>
          <p:nvPr/>
        </p:nvSpPr>
        <p:spPr>
          <a:xfrm>
            <a:off x="731520" y="4712208"/>
            <a:ext cx="10789920" cy="7498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17 rules per policy; @odata.type required in a rule's body</a:t>
            </a:r>
            <a:endParaRPr lang="en-US" sz="1500" dirty="0"/>
          </a:p>
          <a:p>
            <a:pPr marL="342900" indent="-342900">
              <a:spcAft>
                <a:spcPts val="400"/>
              </a:spcAft>
              <a:buSzPct val="100000"/>
              <a:buChar char="•"/>
            </a:pPr>
            <a:r>
              <a:rPr lang="en-US" sz="1500" dirty="0">
                <a:solidFill>
                  <a:srgbClr val="334155"/>
                </a:solidFill>
              </a:rPr>
              <a:t>isValidationOnly on both request types, documented for checking an activation first</a:t>
            </a:r>
            <a:endParaRPr lang="en-US" sz="15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for Groups overview and settings; Update rules; Rules mapping guide; request resource types; Update-MgPolicyRoleManagementPolicyRule. Chapter 05,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083C713-F754-7842-7D47-49488B7F91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526AA0-E236-48D3-97D6-81648BB4BEF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70"/>
    </mc:Choice>
    <mc:Fallback>
      <p:transition spd="slow" advTm="36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and the least privilege per call</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write path for privileged groups; read PowerShell 7 and JSON</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500" dirty="0">
                <a:solidFill>
                  <a:srgbClr val="334155"/>
                </a:solidFill>
              </a:rPr>
              <a:t>Own the PRV groups and the reviewed file</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500" dirty="0">
                <a:solidFill>
                  <a:srgbClr val="334155"/>
                </a:solidFill>
              </a:rPr>
              <a:t>Review the changes: the plan and its diff, before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947416"/>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Least-privileged application permission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Delegated 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List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Group.ReadBasic.All (Learn names a write permission; row 52)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List eligibility / assignment schedules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Privileged{Eligibility|Assignment}Schedule.Read.AzureADGroup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Global Reader or Privileged Role Administrator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List policy assignments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RoleManagementPolicy.Read.AzureADGroup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Create eligibility / assignment requests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...Schedule.ReadWrite.AzureADGroup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Privileged Role Administrator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Update a policy rule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RoleManagementPolicy.ReadWrite.AzureADGroup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Privileged Role Administrator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Create a role-assignable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Group.Create, RoleManagement.ReadWrite.Directory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least Privileged Role Administrator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groups; List schedules; List policy assignments; Create requests; Update rule; Create group; group resource. Chapter 05,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9E50FAF-B2ED-6A7C-3201-F56E027E23C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A668ED-DD10-4B5A-A050-A8447BE003E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Microsoft's samples, then a dry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3258312"/>
          </a:xfrm>
          <a:prstGeom prst="roundRect">
            <a:avLst>
              <a:gd name="adj" fmla="val 224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8742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Microsoft's samples against the fake: PassedCount 10, FailedCount 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tests/PimForGroups.Tests.ps1 -FullNameFilter '*as published*' -Output None -PassThru</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Learn's Example 1: titled ownership, sends member; the fake refuses the 2023 end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$learn = Get-PgLearnRequest -Page eligibility</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(Invoke-PgLearnRequest -Request $learn[0] -Fixture tests/fixtures/ch05/tenant.json -Policy).Status</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Read permissions: four, none ending in ReadWrite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(Get-PaPgRequiredPermission -Task pim-groups-read).GraphPermissions -join ',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4  Plan against the fictional tenant, as a dry run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./Invoke-PaPimGroups.ps1 -Cloud gcc -FixturePath tests/fixtures/ch05/tenant.json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-DesiredPath tests/fixtures/ch05/inputs/prv-groups.json -AsOf 2026-10-30 -OutputPath out/pim-groups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PIM for Groups: 9 Finding, 3 Warn, 0 Info</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Plan: 8 change(s) (3 assignment, 2 eligibility, 3 policy rule)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Guards: all passed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Dry run: nothing sent. Review diff.txt and plan.json, then rerun with -Apply</a:t>
            </a:r>
            <a:endParaRPr lang="en-US" sz="13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pinned Learn pages at a693031. Chapter 05,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E065A63B-8ED1-ED66-7423-B124F94EB0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677736-CACA-49DD-B913-1C1A1070987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findings, the diff, a guard and -Apply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36976"/>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PRV-T0-PrivRoleAdmin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ben.ops a permanent active member the file doesn't grant (06, 09); cara.cloud an eligible owner with no active owner (07, 09); member activation without approval and for 8 hours, not 4 (two 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PRV-T1-AzureOwner-SubWorkload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Helpdesk-Admins-Legacy nested as an eligible member (05, 09); owner policy doesn't require eligibility to expire (08); not role-assignable (02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Two more Warns; one silence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Two groups the file doesn't list (09); Cara's activated membership isn't reported: an activation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diff.txt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Three rule changes (~); Eve extended Dec 31 to Apr 28; Ben granted PRV-T1-ExchangeAdmin on CHG-1005; three removals (-)</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-MaxRemovals 2 -Apply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Refusing to apply: PA-PG-G6: 3 removals is more than 2. Nothing is sent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-Apply to the fake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Applied: 8 sent, 0 failed; the fake records requests, changes nothing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474573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9,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Chapter 05,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8AD2400-4E7E-BA96-29F6-7B60BB65EB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742B14-7454-494F-A3CA-62CC939E2A0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40"/>
    </mc:Choice>
    <mc:Fallback>
      <p:transition spd="slow" advTm="3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lab groups, two apps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Make the lab groups by hand: </a:t>
            </a:r>
            <a:r>
              <a:rPr lang="en-US" sz="1450" dirty="0">
                <a:solidFill>
                  <a:srgbClr val="334155"/>
                </a:solidFill>
              </a:rPr>
              <a:t>As Privileged Role Administrator: role-assignable PRV-T1-LabTest and PIM-Approvers-T1 with two test approvers; IDs, two test users, ends within 180 days and tickets in your file</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Register two apps with certificates: </a:t>
            </a:r>
            <a:r>
              <a:rPr lang="en-US" sz="1450" dirty="0">
                <a:solidFill>
                  <a:srgbClr val="334155"/>
                </a:solidFill>
              </a:rPr>
              <a:t>Reader: the four read permissions. Writer: those and the three write permissions. Admin consent; nothing else</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Plan as the reader: </a:t>
            </a:r>
            <a:r>
              <a:rPr lang="en-US" sz="1450" dirty="0">
                <a:solidFill>
                  <a:srgbClr val="334155"/>
                </a:solidFill>
              </a:rPr>
              <a:t>Connect-MgGraph -Environment Global, then Invoke-PaPimGroups.ps1 -Cloud gcc; check isAssignableToRole is on group rows (row 52) and no policy went unread</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Apply as the writer: </a:t>
            </a:r>
            <a:r>
              <a:rPr lang="en-US" sz="1450" dirty="0">
                <a:solidFill>
                  <a:srgbClr val="334155"/>
                </a:solidFill>
              </a:rPr>
              <a:t>Review diff.txt, rerun with -Apply; compare in ID Governance &gt; PIM &gt; Groups; record rows 53 and 55</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Rerun, then remove one: </a:t>
            </a:r>
            <a:r>
              <a:rPr lang="en-US" sz="1450" dirty="0">
                <a:solidFill>
                  <a:srgbClr val="334155"/>
                </a:solidFill>
              </a:rPr>
              <a:t>Plan: 0 change(s); remove a user and apply: adminRemove has no scheduleInfo (row 51)</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Empty both lists and apply; delete both groups (soft-deleted for 30 days), the permissions, both apps; delete the output</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59790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67106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16632"/>
            <a:ext cx="315407" cy="315407"/>
          </a:xfrm>
          <a:prstGeom prst="rect">
            <a:avLst/>
          </a:prstGeom>
        </p:spPr>
      </p:pic>
      <p:sp>
        <p:nvSpPr>
          <p:cNvPr id="26" name="Callout text"/>
          <p:cNvSpPr txBox="1"/>
          <p:nvPr/>
        </p:nvSpPr>
        <p:spPr>
          <a:xfrm>
            <a:off x="1600200" y="465277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Entra ID P2 or Governance licenses and fictional people, never production. A group can't leave PIM, so use groups made for the lab.</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role-assignable group; PIM for Groups API overview; Use groups for role assignments. Chapter 05,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7CB467A-9D64-CD1F-E422-2988CC48CA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BB5570-ADF9-4AB3-8A76-B4727DCC5BA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00"/>
    </mc:Choice>
    <mc:Fallback>
      <p:transition spd="slow" advTm="36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55236"/>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sample copied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Ownership becomes membership; a 2023 date fails or is hand-edited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Requests from the file; tests pin the mismatches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change in the admin center or groups API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tenant drifts; nobody reviews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run reads first; PA-PG-09 and a removal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Approval dropped on a T0 or T1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lesser admin who can reset a member's credentials activates for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PA-PG-08; G1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permanent member or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Standing privilege through the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PA-PG-06; G2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Eligible owner, no active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owner activates and can't be deactivated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PA-PG-07; G4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group nested in a PRV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Its people hold the role; the review shows a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PA-PG-05; G5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truncated or wrong file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plan removes everyone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Removals last; G6 stops more than five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non-role-assignable group for a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Can't hold it, can't be converted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PA-PG-02; groups created role-assignable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500-group limit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New PRV groups can't be created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PA-PG-04 Warn at 450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Pipeline app with RoleManagement.ReadWrite.Directory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 can assign any directory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Creation planned, not routinely applied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Names in output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diff.txt and findings.json name holders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Treat as evidence; delete lab copies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“Dangers”; Learn, Use Microsoft Entra groups to manage role assignments.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8198D5A-5146-B1A3-C20E-DE81F2E410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66327C-65BB-491F-8DE8-21B07A2CE75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30"/>
    </mc:Choice>
    <mc:Fallback>
      <p:transition spd="slow" advTm="3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groups and their policies">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groups and their polici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GROUPS AND THEIR POLICIES</a:t>
            </a:r>
            <a:endParaRPr lang="en-US" sz="1100" dirty="0"/>
          </a:p>
        </p:txBody>
      </p:sp>
      <p:sp>
        <p:nvSpPr>
          <p:cNvPr id="7" name="Panel The groups and their policies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prv-groups.json passes Test-PaPrvGroupConfig with no Finding; every entry has an end and a ticket</a:t>
            </a:r>
            <a:endParaRPr lang="en-US" sz="1500" dirty="0"/>
          </a:p>
          <a:p>
            <a:pPr marL="342900" indent="-342900">
              <a:spcAft>
                <a:spcPts val="400"/>
              </a:spcAft>
              <a:buSzPct val="100000"/>
              <a:buChar char="•"/>
            </a:pPr>
            <a:r>
              <a:rPr lang="en-US" sz="1500" dirty="0">
                <a:solidFill>
                  <a:srgbClr val="334155"/>
                </a:solidFill>
              </a:rPr>
              <a:t>Every PRV group holding an Entra role is role-assignable; none is dynamic or synchronized</a:t>
            </a:r>
            <a:endParaRPr lang="en-US" sz="1500" dirty="0"/>
          </a:p>
          <a:p>
            <a:pPr marL="342900" indent="-342900">
              <a:spcAft>
                <a:spcPts val="400"/>
              </a:spcAft>
              <a:buSzPct val="100000"/>
              <a:buChar char="•"/>
            </a:pPr>
            <a:r>
              <a:rPr lang="en-US" sz="1500" dirty="0">
                <a:solidFill>
                  <a:srgbClr val="334155"/>
                </a:solidFill>
              </a:rPr>
              <a:t>No group and no eligible service principal holds a PRV group; no T0 group has an owner</a:t>
            </a:r>
            <a:endParaRPr lang="en-US" sz="1500" dirty="0"/>
          </a:p>
          <a:p>
            <a:pPr marL="342900" indent="-342900">
              <a:spcAft>
                <a:spcPts val="400"/>
              </a:spcAft>
              <a:buSzPct val="100000"/>
              <a:buChar char="•"/>
            </a:pPr>
            <a:r>
              <a:rPr lang="en-US" sz="1500" dirty="0">
                <a:solidFill>
                  <a:srgbClr val="334155"/>
                </a:solidFill>
              </a:rPr>
              <a:t>Policies match prv-group-policy.json: tier approver group for T0 and T1, at most 8 hours, expiration required</a:t>
            </a:r>
            <a:endParaRPr lang="en-US" sz="1500" dirty="0"/>
          </a:p>
        </p:txBody>
      </p:sp>
      <p:sp>
        <p:nvSpPr>
          <p:cNvPr id="8" name="Panel The run and the code">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 AND THE CODE</a:t>
            </a:r>
            <a:endParaRPr lang="en-US" sz="1100" dirty="0"/>
          </a:p>
        </p:txBody>
      </p:sp>
      <p:sp>
        <p:nvSpPr>
          <p:cNvPr id="10" name="Panel The run and the cod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Each approver group has at least two members, none approving their own group</a:t>
            </a:r>
            <a:endParaRPr lang="en-US" sz="1500" dirty="0"/>
          </a:p>
          <a:p>
            <a:pPr marL="342900" indent="-342900">
              <a:spcAft>
                <a:spcPts val="400"/>
              </a:spcAft>
              <a:buSzPct val="100000"/>
              <a:buChar char="•"/>
            </a:pPr>
            <a:r>
              <a:rPr lang="en-US" sz="1500" dirty="0">
                <a:solidFill>
                  <a:srgbClr val="334155"/>
                </a:solidFill>
              </a:rPr>
              <a:t>The latest plan reviewed by someone other than its author before -Apply; a rerun shows no changes</a:t>
            </a:r>
            <a:endParaRPr lang="en-US" sz="1500" dirty="0"/>
          </a:p>
          <a:p>
            <a:pPr marL="342900" indent="-342900">
              <a:spcAft>
                <a:spcPts val="400"/>
              </a:spcAft>
              <a:buSzPct val="100000"/>
              <a:buChar char="•"/>
            </a:pPr>
            <a:r>
              <a:rPr lang="en-US" sz="1500" dirty="0">
                <a:solidFill>
                  <a:srgbClr val="334155"/>
                </a:solidFill>
              </a:rPr>
              <a:t>Reader: exactly the four read permissions; writer: those plus only the plan's write permissions</a:t>
            </a:r>
            <a:endParaRPr lang="en-US" sz="1500" dirty="0"/>
          </a:p>
          <a:p>
            <a:pPr marL="342900" indent="-342900">
              <a:spcAft>
                <a:spcPts val="400"/>
              </a:spcAft>
              <a:buSzPct val="100000"/>
              <a:buChar char="•"/>
            </a:pPr>
            <a:r>
              <a:rPr lang="en-US" sz="1500" dirty="0">
                <a:solidFill>
                  <a:srgbClr val="334155"/>
                </a:solidFill>
              </a:rPr>
              <a:t>The pinned pages match their manifest; every upstream commit since the pin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06, PIM for Azure Resources.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05, “Checklist”; Learn, Configure PIM for Groups settings; Approve requests (approvers).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1174F94-B36C-862C-9EE2-A4ADA91BEB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115D2A-0309-49FF-A977-536FFCCD6BC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20"/>
    </mc:Choice>
    <mc:Fallback>
      <p:transition spd="slow" advTm="38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14932</Words>
  <Application>Microsoft Office PowerPoint</Application>
  <PresentationFormat>Widescreen</PresentationFormat>
  <Paragraphs>468</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05: PIM for Groups and the PRV Groups</vt:lpstr>
      <vt:lpstr>Why the PRV groups need to be code</vt:lpstr>
      <vt:lpstr>Which cloud: Graph hosts and availability</vt:lpstr>
      <vt:lpstr>Two independent features meet in a PRV group</vt:lpstr>
      <vt:lpstr>Where a group's PIM state lives in Graph</vt:lpstr>
      <vt:lpstr>Microsoft's samples, pinned and sent to a fake</vt:lpstr>
      <vt:lpstr>What the samples leave to you</vt:lpstr>
      <vt:lpstr>The code, the reviewed file and the tier policy</vt:lpstr>
      <vt:lpstr>Activation limits and the authentication context</vt:lpstr>
      <vt:lpstr>The findings: PA-PG-01 to PA-PG-09</vt:lpstr>
      <vt:lpstr>The plan, the dry run, -Apply and seven guards</vt:lpstr>
      <vt:lpstr>Where Learn's pages differ, recorded on purpose</vt:lpstr>
      <vt:lpstr>Who builds it, and the least privilege per call</vt:lpstr>
      <vt:lpstr>Lab 1: Microsoft's samples, then a dry run</vt:lpstr>
      <vt:lpstr>Lab 1: findings, the diff, a guard and -Apply</vt:lpstr>
      <vt:lpstr>Lab 2: a test tenant, lab groups, two apps</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05 — PIM for Groups and the PRV Groups</dc:title>
  <dc:subject>PptxGenJS Presentation</dc:subject>
  <dc:creator>Michael F. Stratton</dc:creator>
  <cp:lastModifiedBy>Michael F. Stratton</cp:lastModifiedBy>
  <cp:revision>2</cp:revision>
  <dcterms:created xsi:type="dcterms:W3CDTF">2026-10-31T14:33:56Z</dcterms:created>
  <dcterms:modified xsi:type="dcterms:W3CDTF">2026-10-31T16:20:53Z</dcterms:modified>
</cp:coreProperties>
</file>