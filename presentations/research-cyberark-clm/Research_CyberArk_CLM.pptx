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Lst>
  <p:notesMasterIdLst>
    <p:notesMasterId r:id="rId4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rientation" id="{5a3d2090-4918-1986-4206-674505a3c73e}">
          <p14:sldIdLst>
            <p14:sldId id="256"/>
            <p14:sldId id="257"/>
            <p14:sldId id="258"/>
          </p14:sldIdLst>
        </p14:section>
        <p14:section name="Inside the platform" id="{f3d7f312-df3d-1da7-2618-78c7affe3ba9}">
          <p14:sldIdLst>
            <p14:sldId id="259"/>
            <p14:sldId id="260"/>
            <p14:sldId id="261"/>
            <p14:sldId id="262"/>
            <p14:sldId id="263"/>
            <p14:sldId id="264"/>
            <p14:sldId id="265"/>
            <p14:sldId id="266"/>
            <p14:sldId id="267"/>
          </p14:sldIdLst>
        </p14:section>
        <p14:section name="Part 1 — Build the platform" id="{cbf1f32b-fea8-2eb4-024d-68b405a05b97}">
          <p14:sldIdLst>
            <p14:sldId id="268"/>
            <p14:sldId id="269"/>
            <p14:sldId id="270"/>
            <p14:sldId id="271"/>
            <p14:sldId id="272"/>
            <p14:sldId id="273"/>
          </p14:sldIdLst>
        </p14:section>
        <p14:section name="Part 2 — Connect the issuers" id="{6af12cff-0f17-9d77-fb64-908d66202f4c}">
          <p14:sldIdLst>
            <p14:sldId id="274"/>
            <p14:sldId id="275"/>
            <p14:sldId id="276"/>
            <p14:sldId id="277"/>
            <p14:sldId id="278"/>
          </p14:sldIdLst>
        </p14:section>
        <p14:section name="Part 3 — Discover, own and automate" id="{ecd8082d-a4d9-714f-e273-143bb41868e7}">
          <p14:sldIdLst>
            <p14:sldId id="279"/>
            <p14:sldId id="280"/>
            <p14:sldId id="281"/>
            <p14:sldId id="282"/>
            <p14:sldId id="283"/>
          </p14:sldIdLst>
        </p14:section>
        <p14:section name="Part 4 — Migrate and operate" id="{7518c3e3-05fb-e98f-d813-009a6f1d87d4}">
          <p14:sldIdLst>
            <p14:sldId id="284"/>
            <p14:sldId id="285"/>
            <p14:sldId id="286"/>
            <p14:sldId id="287"/>
            <p14:sldId id="288"/>
            <p14:sldId id="289"/>
          </p14:sldIdLst>
        </p14:section>
        <p14:section name="Backup" id="{1752636e-1804-2e3d-64d9-85982b46b583}">
          <p14:sldIdLst>
            <p14:sldId id="290"/>
            <p14:sldId id="291"/>
            <p14:sldId id="292"/>
            <p14:sldId id="293"/>
            <p14:sldId id="294"/>
            <p14:sldId id="29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notesMaster" Target="notesMasters/notesMaster1.xml"/><Relationship Id="rId43" Type="http://schemas.openxmlformats.org/officeDocument/2006/relationships/presProps" Target="presProps.xml"/><Relationship Id="rId44" Type="http://schemas.openxmlformats.org/officeDocument/2006/relationships/viewProps" Target="viewProps.xml"/><Relationship Id="rId45" Type="http://schemas.openxmlformats.org/officeDocument/2006/relationships/theme" Target="theme/theme1.xml"/><Relationship Id="rId4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[0:00–0:43]  Welcome. This is an implementation guide from the Federal Modernization Workbook, and it's about one product: CyberArk Certificate Manager. Book 07 of the workbook chose it as the program's certificate lifecycle platform, so whenever you hear me say "the platform," that's what I mean. Its job is simple to say and hard to do: keep track of every certificate nobody else is renewing, and renew it before it expires. We'll start with what the platform is and what it's made of, then build it, connect it to the certificate authorities, automate it, and finally fit it into Book 07's migration waves. The slides and notes carry every detail and source; I'll stick to what matters.
Detail: This is an implementation guide. Book 07 decided that the program's certificate lifecycle platform is CyberArk Certificate Manager, from the vendor the agency already uses for machine identity. This guide shows how to build it, self-hosted, and connect it to Book 07's design, phase by phase.
It runs in four parts after a short orientation. Part 1 builds the platform: architecture, the FIPS posture, console sign-in, hardening, and backup. Part 2 connects the issuers: Active Directory Certificate Services, the public certificate authorities, the cloud, and Intune. Part 3 covers discovery, ownership and enrollment automation. And Part 4 maps the build onto Book 07's six migration waves and covers running it.
Three ground rules. Every fact comes from a primary source opened on October twenty-second, 2026, mostly CyberArk's version 26.1 documentation. Recommendations are labeled design guidance. And in three places the research corrects Book 07; I'll state the corrected fact each time, and Book 07 has been updated to match to match.
Sources: Research brief, Implementing Book 07's certificate lifecycle on CyberArk Certificate Manager, Self-Hosted (verified Oct. 22, 2026); CyberArk Trust Protection Foundation 26.1 documentation; Book 07, Chapters 01, 04, 05, 07 and 08.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[0:43–1:23]  Before we build anything, here's the idea that frames this whole guide. Book 07 doesn't use one certificate authority for everything. It gives each kind of certificate its own source and its own way of renewing. Intune looks after device certificates. PIV cards have their own card system. Domain controllers keep renewing themselves the way they always have. What's left — servers, VPN and RADIUS, SQL, internal websites, appliances, and anything public-facing — has nobody renewing it today except a person with a calendar reminder. That's the gap the platform fills. It becomes the system of record for every certificate Intune and PIV don't already manage.
Detail: Book 07's target gives each class of subject its own issuer, and a lifecycle platform covers the issuers that don't renew their own certificates.
Intune-managed devices get user and device certificates from Microsoft Cloud PKI through SCEP, or during the bridge period from AD CS through the Intune connector. Intune renews them, so the CLM platform doesn't manage them. PIV cards come from a Federal PKI shared service provider through the card management system. Domain controller, KDC and LDAPS certificates stay on retained AD CS with autoenrollment; the platform watches them but never renews them.
Everything else lands on the platform. RADIUS and NPS servers, VPN and Remote Desktop gateways, SQL Server, internal web servers and appliances get certificates from the retained AD CS hierarchy, which becomes a standalone CA after Active Directory, requested and renewed through CyberArk Certificate Manager. Public-facing TLS comes from a public CA the agency authorizes in its CAA records, renewed by the platform, with ACME where the endpoint supports it. And for the hierarchy itself, the platform's revocation monitoring checks CRL and OCSP endpoints.
So the platform's job is simple to state: it's the system of record for every certificate Intune and the PIV system don't manage.
Sources: Book 07, Chapter 04 (issuer map; certificate lifecycle management), Chapter 05 (renewal ownership per certificate class), Chapter 08 (renewal engines); research brief section 10; CyberArk 26.1 Installation and Upgrade Guide (Certificate Revocation Monitoring).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[1:23–1:59]  Two things to settle before you build. First, where it runs. There's no FedRAMP package for CyberArk's cloud edition, so the program runs the self-hosted edition inside the agency's own boundary, next to the certificate authorities it manages. Second, what it runs on: Windows servers, English-language builds, all on the same version, with a SQL Server database that lives on its own server. Plan for an upgrade roughly every six months, because that's CyberArk's release rhythm. The full requirements are on the slide. Next, let's open the box and see what the platform is actually made of.
Detail: Why self-hosted? In the FedRAMP Marketplace data as of October twenty-second, there's no certificate-management package from Palo Alto Networks, CyberArk or Venafi: not Certificate Manager, not Next-Gen Trust Security, and not the Trust Protection Foundation. Palo Alto's authorized packages cover privileged access, endpoint privilege management and network security. So Book 07's decision stands: run Certificate Manager, Self-Hosted inside the agency's own authorization boundary, alongside the CAs it manages. The program's design guidance adds a corollary: avoid any feature that depends on the SaaS, and we'll meet two of those later.
The product runs on the Trust Protection Foundation, formerly the Venafi Trust Protection Platform. The current release is 26.1, from July 2026, and CyberArk typically ships major releases every six months, so plan an upgrade cadence from day one.
The servers run Windows Server 2016 through 2025, with the desktop experience, from English installation media only, and the same OS version across the cluster. They need IIS, .NET 4.8, the Visual C++ runtimes and WebView2. The database is SQL Server 2014 through 2022, also English only, and not on a platform server except in test. CyberArk strongly recommends the FULL recovery model, and recommends Enterprise edition because Standard needs an outage for the weekly index rebuild. For high availability, use Always On availability groups.
Sources: FedRAMP Marketplace products.json (last_change Oct. 22, 2026); CyberArk 26.1 System Requirements, Always On high availability, Choosing SQL Server Enterprise or Standard, Important Considerations, Installation and Upgrade Guide; Palo Alto Networks Next-Gen Trust Security page; Book 07, Chapter 04.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[1:59–2:34]  This short section answers the question people ask first: what actually is the platform? Not a box, and not one server. It's a set of Windows servers running the same CyberArk software against one shared database, with different jobs switched on in different places. We'll look at those server roles, the web tier you sign in to, the back end that does the work, the components, the drivers that reach other systems, what it all connects to, a reference layout for two sites, and finally one certificate's journey from start to finish.
Detail: This section describes what CyberArk Certificate Manager, Self-Hosted 26.1 is made of, so the build in Part 1 has a picture to hang on: the server roles and the Windows services they run, the web tier, the back-end services, the components switched on per server, drivers and agents, the database and its keys, the integrations, a two-site reference layout (program design guidance), and one certificate's journey through the components.
Sources: CyberArk Trust Protection Foundation 26.1 documentation: System Requirements, Services, Components, Message Bus, Policy Tree, Configuration Console, drivers and integrations; component research brief (Oct. 23,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[2:34–3:18]  Here's the whole platform on one page. Every server runs the same software and talks to the same database; what makes a server a "web server" or a "back-end server" is which components you switch on. The web servers sit behind a load balancer and give people and automation a way in. The ACME servers are kept separate, because CyberArk doesn't allow FIPS mode on a server that handles ACME. The back-end servers do the real work — issuing, renewing and installing certificates. The log servers keep the audit trail and send events to the SIEM. And underneath: one SQL Server database, the keys that protect it, and a message bus that keeps every server in step.
Detail: Servers that share one database form a cluster. Every module is installed on every server; the Product node of each server's Configuration Console enables or disables components for that server only, so a "role" is the set of components switched on. The Windows services are CyberArk Platform (also called VPlatform or the VED service), which hosts the service modules and the Message Bus; Logging, the CyberArk Log Server, which processes log events and delivers notifications; API Host, a local WCF service on port 689 for the MMC snap-ins; IIS; and the EST service. CyberArk's sizing table: two servers up to 50,000 active certificates; six servers at 250,000 or more, as two dedicated logging event processing servers, two web services servers and two back-end processing servers; a million or more is professionally designed by CyberArk. Agents doing certificate work need two more servers per 40,000 managed servers. Each server needs four cores, 16 GB of memory and 5 GB of disk. With three or more servers, the installation uses a custom answer file per server type. ACME servers are kept separate because "you cannot have FIPS enabled on any server that is used for ACMEv2."
Sources: CyberArk 26.1 System Requirements (cluster definition; server sizing; hardware); Windows services; Components (Product node); Platform objects; Message Bus; Deployment considerations (FIPS and ACMEv2); Installation and Upgrade Guide p. 107 (answer files per server type).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[3:18–3:54]  The web tier is how anyone gets in. People use the web console for daily work and the Policy Tree, which is also a web page, for the deeper configuration. Automation uses the REST API, and sign-ins for both go through the platform's authentication service. There's one more console, the Configuration Console, that administrators run on each server to switch components on and off. The thing to remember for the build is the load balancer: every web service sits behind one name, and that name has to match the certificate the servers present, or single sign-on breaks.
Detail: The Web Console component is a "Web-based management interface" that "Installs both Policy Tree and Aperture"; CyberArk now calls Aperture the web console and WebAdmin the Policy Tree, and both are web consoles. The older Windows console is deprecated, and in 26.1 its Logging tree moved into the Configuration Console's Tools &gt; Logging node. CyberArk says at least two servers need the Web Console enabled. The web console handles dashboards and certificate, SSH and agent tasks; "You must use the Policy Tree to perform advanced certificate tasks such as configuring a CA, creating and configuring applications," and reports. The Policy Tree's management trees are Credentials, Discoveries, Encryption, Identity, Logging, Platforms, Policy, Reports, Roots and Workflow. The Web SDK is the REST API at /vedsdk; the Authentication Server at /vedauth provides token authentication for REST access. The Configuration Console is MMC-based; its nodes include Attention Required, Database, Product, Connectors, System Roles, Authentication, Recycle Bin, Access Management, Events, Statistics, Message Bus and Tools &gt; Logging. A remote MMC snap-in collection connects to /vedsdk and /vedauth. All web services should sit behind an application delivery controller, which rolling upgrades require; the Aperture FQDN must match the CN or DNS SAN of the CA-issued Venafi Operational Certificate for SAML SSO; configure X-Forwarded-For so login notifications don't show the load balancer's address. CyberArk documents no persistence or health-check settings.
Sources: CyberArk 26.1 Components; Policy Tree (WebAdmin) and management trees; web console (Aperture); Configuration Console nodes; Remote MMC snap-in installation; Server settings (FQDN macros); Load balancer client IP; Rolling upgrades.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[3:54–4:33]  Behind the scenes, three things matter. Processing engines decide which server does which work, so you can keep, say, public certificate requests on one server that's allowed out to the internet. The log servers record every event and are the only servers that need a path to the SIEM and email. And the message bus keeps every server informed about changes, which means one firewall rule people miss: port 8883 has to be open between every server, across sites too. Watch distance as well — every server works against one active database, and at a thirty-millisecond delay a single renewal takes about fifteen seconds.
Detail: Every installed server registers as an engine under \VED\Engines. "You can assign different servers, or 'processing engines,' to each Policy object. That server will then run the services for the Policy's subordinate objects"; with the list empty, any engine can process the folder. The lifecycle hands off between engines by stage: certificate work keys off the certificate object, enrollment off the CA template (so a DMZ engine can do public-CA enrollment only), provisioning off each application object, and revocation off the CA template; CDP monitoring and revocation checking don't honor partitioning. Daily tasks are best scheduled to start at the same time across servers. The log server monitors events, keeps the audit trail ("Every event gets logged to the default channel," a SQL Server channel by default) and acts on channels; it generates about ten events per certificate renewal, and "If the server runs out of disk space, the log server cannot operate." Each server with event processing must reach the configured channels. The Message Bus sends "near-instant notifications to other servers in the cluster about significant changes to the database" through an MQTT broker; "Message Bus is not optional"; in the default mesh mode "All servers must be able to communicate with each other over the configured port," TLS 8883 by default; a central MQTTv5 broker is the alternative. CyberArk's latency table for two minimum-spec servers: about 2 seconds per renewal at 0 ms, 7 at 15 ms, 15 at 30 ms, 30 at 60 ms and 60 at 120 ms.
Sources: CyberArk 26.1 Platform objects; Management zones; Engine partitioning; Server settings (daily tasks); Log server overview and configuration; SQL Server channel requirements; Network requirements; Message Bus overview, configuration and health; System Requirements (latency 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[4:33–5:09]  This table is the platform's parts list. Each component is a job you switch on per server: the lifecycle engine that issues and renews, CA Import that pulls in what your CAs already issued, discovery that finds certificates on the network, validation and revocation monitoring that keep checking, and the enrollment services — ACME, EST and SCEP — that devices and scripts use to ask for certificates. You don't need to memorize the list. The point is that the design is modular, so you place each job where its network access and its security rules fit.
Detail: From CyberArk's component list, with answer-file keys: Certificate Lifecycle and Monitoring (Certificates) handles "expiration notifications, issuance, renewal and revocation, and ... provisioning of certificates to devices." CA Import (CAImport) imports from Microsoft CAs over DCOM, Amazon Private CA through S3 audit reports, and the SaaS. Network Discovery (Discovery) scans IPv4 ranges and ports, with Discovery Zones per server; IPv6 isn't supported for discovery jobs. Onboard Discovery (OBDDiscovery) imports agentlessly with application configuration from AWS, Azure Key Vault, NetScaler, F5 LTM Advanced, DataPower, IIS and Adaptable sources. Validation runs network and onboard validation. Certificate Revocation Monitoring (Revocation) monitors CRL distribution points at least daily and OCSP; on multiple engines "all must have equal access to all CDP and OCSP endpoints," and it ignores partitioning. Automatic Layout Manager runs placement jobs and duplicate reconciliation, and CyberArk suggests enabling it on some servers only. Bulk Provisioning installs to many devices in batches of 10 to 1,000. ACME Service, EST service (TCP 50443, only on servers that handle it) and Network Device Enrollment (SCEP, port 80) handle enrollment. Web Console, Web SDK, Authentication Server and Client REST (agent communication) are web services. Reporting and Object Monitoring run on the back end. Kubernetes Discovery Manager imports only from clusters registered to the SaaS. Cloud Instance Monitoring was removed in 24.3.
Sources: CyberArk 26.1 Components; Discovery zones; Network connection requirements; Certificate revocation monitoring; Automatic layout; Bulk provisioning; ACME; EST; SCEP; Deprecated features (Cloud Instance Monitoring); System Requirements (ports).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[5:09–5:47]  Drivers are how the platform reaches the outside world. CA drivers request certificates from AD CS, public CAs or AWS. Application drivers install certificates on IIS, F5, NetScaler, Key Vault and the rest, usually without any agent. Where a driver can't reach, a small Server Agent checks in and does the work locally. Everything is stored in one SQL Server database, and that database's secrets are protected by a key — either a software key you must back up, or a hardware security module. Lose that key and you lose the data, which is why it's treated as Tier 0.
Detail: CA template drivers: one CA template object per CA instance or account, and separate objects per certificate type. Internal CAs include Microsoft Enterprise and Standalone CA, Adaptable CA, OpenSSL, Red Hat Certificate System and DigiCert PKI Platform; public CAs include ACM, Sectigo SCM, DigiCert CertCentral, GlobalSign MSSL, HID PKIaaS, QuoVadis and VikingCloud; Entrust Certificate Services is no longer supported in 26.1. A Microsoft CA Pool holds up to three MSCA templates with 60-minute failover. Application drivers are agentless and licensed per endpoint: keystores (Apache/PEM, JKS/JCEKS, CAPI, IIS, NSS, PKCS#12, GSK) and appliances and cloud (AWS, Azure Key Vault, NetScaler, F5 LTM Advanced, Google Cloud load balancer, HashiCorp Vault PKI, DataPower, Palo Alto NGFW and others); CAPI needs a Windows administration account on the target. Adaptable drivers "depend on a Microsoft PowerShell script hosted in your local environment." The Server Agent scans file systems and keystores; "The Trust Protection Foundation server cannot push work to the agent," which "can only receive work when it checks in" and "only reports deltas." SQL Server 2014 to 2022, English only, not on a platform server except in test, FULL recovery recommended, Enterprise recommended; "All Trust Protection Foundation servers must connect to the same instance of the database"; Service Broker must be enabled after a restore; a DBO account for installs and an operational account for everyday work, gMSA supported. Encryption uses a software key, an HSM, or both; the AES-256 software key is stored in the registry, and "Without it, you cannot access data in the database." The Venafi Operational Certificate secures TLS to the web server and the log server; a self-signed one should never be used in production.
Sources: CyberArk 26.1 CA template drivers and support matrix; Microsoft CA Pool; System Requirements (applications, agents, SQL, HSMs); CAPI permissions; Adaptable drivers; Agent discovery and FAQ; Always On; Database recovery; Microsoft SQL accounts; gMSA; Encryption keys and software key; HSM configuration; Venafi Operational Certificate.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[5:47–6:21]  Now the bigger picture: everything the platform touches. On the left, the certificate authorities it asks for certificates. On the right, the systems it installs them on. Above, Entra ID for signing in to the console, and CyberArk's own vault for the passwords its drivers need. Below, the SIEM for events and ServiceNow for owners and tickets. Two lines are dashed on purpose: Kubernetes and ServiceNow both need extra care, because one depends on a cloud service outside the boundary and the other is a third-party app. We'll come back to both.
Detail: Issuers: AD CS over DCOM with an account holding Read, Issue and Manage Certificates and Request Certificates; DigiCert, Sectigo, GlobalSign and HID drivers; AWS Certificate Manager, including Amazon Private CA, with CA Import through S3 audit reports. Identity: in 26.1 the web console supports SSO through OIDC or SAML per identity connector, MMC snap-ins use the OIDC device flow, and Entra ID is listed as supported for SAML, OIDC and SCIM; SCIM 2.0 pushes users and groups to /vedscim and "doesn't authenticate users." Target credentials come from the CyberArk vault through the Credential Provider. Clients request through ACME, EST, SCEP or the Web SDK; vCert 5.13.9 is compatible with self-hosted 17.3 and later. Targets: the application drivers, Onboard Discovery, Bulk Provisioning and the Server Agent. Kubernetes issuance uses cert-manager's CyberArk issuer ("formerly known as the Venafi Issuer"), one issuer per zone, with no refresh-token support; Kubernetes discovery needs TCP 443 to api.venafi.cloud. ServiceNow: no CyberArk-authored integration in the 26.1 docs; the third-party AEYRiX Machine Identity Protection app requires a MID Server. SIEM: the syslog channel over TCP with TLS, CEF or JSON, 6514 recommended; the receiver certificate needs an iPAddress SAN. Intune: the platform can act as a third-party SCEP CA, which the program rejects, and the integration needs outbound HTTPS to Azure from all servers, with no government-cloud endpoint mentioned.
Sources: CyberArk 26.1 Microsoft ADCS CA template; DigiCert, GlobalSign, ACM drivers; Importing from Amazon Private CA; SSO, login experience and SSO vendor support; SCIM; CyberArk vault connector and Credential Provider; vCert README; Kubernetes discovery; Intune integration; Syslog channel; cert-manager CyberArk issuer documentation; ServiceNow Store (AEYRiX).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[6:21–6:59]  Here's how those pieces could be laid out across two sites. This is the program's design, built only from CyberArk's documented rules, not a vendor blueprint. Each site has a web server, a separate ACME server, a back-end server and a log server. One database runs in an availability group across both sites, with one listener everyone uses, and the HSMs are paired the same way. Two cautions. CyberArk doesn't say whether FIPS and non-FIPS servers can share one cluster, so get that in writing. And keep the sites close, because the remote site pays for every round trip to the database.
Detail: This layout is the program's design guidance; every element traces to a documented constraint. Site A holds the primary database replica; site B the secondary. Web services servers in each site (Web Console, Web SDK, Auth Server, Client REST, SCEP and EST if used) sit behind one load-balancer name, with FIPS mode per policy and the FQDN macros set to the load balancer's name. ACME servers in each site run only the ACME service with FIPS mode off, behind their own name, because "you cannot have FIPS enabled on any server that is used for ACMEv2"; CyberArk doesn't state that FIPS and non-FIPS servers can share a cluster, so get that confirmed, and if it isn't, run ACME as a separate non-FIPS cluster with its own database. Back-end servers carry the lifecycle, import, validation, discovery and reporting components, with processing-engine assignments keeping site-local work on site-local engines and a DMZ or egress engine for public-CA enrollment. Log servers run the Logging service and are the only servers with paths to the SIEM, email and SNMP. The Message Bus mesh needs TLS 8883 all-to-all, including across sites. SQL Server Always On, Enterprise edition, one replica per site behind a listener with MultiSubnetFailover, Service Broker enabled; all servers connect to the same instance. An HSM pair in the vendor's HA group, presenting one partition label, with the client at the same path on every server. Hardening: outbound certificate verification set to Strict instead of the default None, TLS 1.2 and 1.3 only, and the operational certificates CA-issued with the load-balancer name in the SAN.
Sources: Component research brief section 4 (two-site reference topology, design guidance); CyberArk 26.1 Deployment considerations; Always On high availability; answer file (MultiSubnetFailover); Message Bus; Engine partitioning; System Requirements (latency); HSM configuration; Server settings (outbound verification).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[6:59–7:43]  Let's follow one certificate through all of that. First the platform finds it, by scanning the network or importing from a CA. Then it gives it a home in a policy folder and a named owner. When it's time, the lifecycle engine asks the CA for a new one, and a driver installs it on the server. Validation keeps checking that it's really there and still trusted. Before it expires, the cycle repeats — no one has to remember a date. And when the system it belongs to is retired, the certificate is revoked. Every step leaves a log entry, and that trail is what an assessor reads. With that picture in mind, let's build it.
Detail: The journey follows the lifecycle stages CyberArk's engine partitioning describes. Discover: Network Discovery, CA Import or the Server Agent finds the certificate. Place and own: placement rules and the Automatic Layout Manager put it in a policy folder, whose policy supplies the CA template and settings, with a named Server Owner (Book 07 Chapter 05). Enroll: the Certificate Lifecycle and Monitoring component requests a certificate through the CA template driver (enrollment stages 500 to 700). Provision: an application driver or the agent installs it on the target (stages 800 to 1200). Validate and monitor: validation scans confirm it's in place, revocation monitoring checks CRL and OCSP endpoints at least daily, and expiry notifications fire. Renew: before expiry, the cycle returns to enrollment; Book 07 Chapter 08's rule is that no certificate class depends on a person remembering a date. Revoke or retire: revocation (stage 1400) goes through the CA template, and the object is retired. Every event reaches the log server's default channel and, through the syslog channel, the SIEM.
Sources: CyberArk 26.1 Engine partitioning (lifecycle stages); Components; Placement rules; Validation; Certificate revocation monitoring; Log server; Book 07, Chapters 05 and 08.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[7:43–7:57]  Part 1 is the build. We'll size the cluster and make it highly available, be careful about what we claim for FIPS, set up how administrators sign in, harden it, and make sure it can be recovered.
Detail: Part 1: build the platform.
We'll start with the architecture: the cluster, its components, how to size it and make it highly available. Then the FIPS posture, where you have to be careful about what you claim. Then how administrators sign in to the console. And finally hardening, least-privilege service accounts, and backup and recovery for the database and its keys.
Sources: CyberArk 26.1 System Requirements, Installation and Upgrade Guide, security hardening and disaster recovery documentation; NIST CMVP; Book 07, Chapter 05.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[7:57–8:33]  Sizing is refreshingly simple. Two servers handle up to about fifty thousand certificates. Past that, CyberArk's guide splits the work across six — two each for web, back end and logging — and beyond a million certificates CyberArk designs it with you. For availability, the rules are what you'd expect: at least two servers per role, a load balancer in front of the web services, and an availability group for the database. One nice touch for the certificate authorities: a CA pool lets the platform fail over to a second CA if the first one stops answering.
Detail: The architecture. Several Trust Protection Foundation servers sharing one SQL database form a cluster, and a message bus, an MQTT broker using TLS on port 8883, links them.
Each server runs the components you switch on for it in the Configuration Console. The ones this guide uses are CA Import, Certificate Lifecycle and Monitoring, Certificate Revocation Monitoring, Network Discovery, the EST service, Network Device Enrollment for SCEP, the ACME service and Reporting. You can keep work on particular servers with processing engines, discovery zones, or by turning components off, and that matters later, when we keep ACME off the FIPS-mode servers.
Sizing comes from CyberArk's tables. Two servers handle up to fifty thousand active certificates. Up to two hundred fifty thousand takes six: two for log and event processing, two for web services and two back-end servers. Past a million, CyberArk designs it with you, and SQL Enterprise is required. Each server needs four cores, sixteen gigabytes of memory and five gigabytes of disk.
For availability: Always On for the database, at least two servers per role, and a load balancer in front of the web services, which rolling upgrades require. For the CAs, a Microsoft CA Pool holds up to three CA templates; if the first CA fails, the platform stops querying it for sixty minutes and fails over.
Sources: CyberArk 26.1 System Requirements (cluster, Message Bus, sizing, ports, network scoping); Installation and Upgrade Guide pp. 54 and 86–94 (components); Rolling upgrades; Always On high availability; Create and configure a Microsoft CA Pool.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[8:33–9:05]  FIPS is where it's easy to overclaim, so let's be precise. The platform runs on Windows servers that can be in FIPS mode, and that's documented. What isn't documented is a FIPS certificate for the platform itself — none of CyberArk's validated modules names this product. So the honest evidence is FIPS-mode Windows, plus the HSM's own certificate for the database secrets. And remember the catch from earlier: the ACME servers can't be in FIPS mode at all, which is why they're kept separate.
Detail: Be exact about FIPS.
What CyberArk documents: the Trust Protection Foundation supports Windows servers with FIPS mode enabled, through the Windows policy that says to use FIPS-compliant algorithms. The installation guide also says to enable it only if your industry requires it, and links Microsoft's post explaining why Microsoft no longer recommends FIPS mode. For a federal deployment, decide FIPS mode per server, deliberately. The database's secrets are encrypted with an AES-256 software key kept in the registry, a key held in a hardware security module, or both.
What not to claim. I searched NIST's validated-modules list on October twenty-second. Under the vendor name Venafi there's nothing. Under CyberArk there are two FIPS 140-3 Level 1 certificates, number 5205, the CyberArk Cryptographic Module, and number 5122, its Java counterpart. Neither names the Trust Protection Foundation or Certificate Manager, and I found no CyberArk statement saying which module the product uses. So don't cite either certificate for this product without a vendor letter. There's also no current Common Criteria certificate; the last one, for Trust Protection Platform 23.1, was archived on July twenty-ninth, 2026.
The defensible evidence path, and this is my inference, is FIPS-mode Windows, which uses Microsoft's validated modules, plus the HSM's own CMVP certificate for the database secrets. One catch, which Part 3 covers: servers running the ACME service can't be in FIPS mode at all.
Sources: CyberArk 26.1 Installation and Upgrade Guide pp. 49–55 (FIPS, encryption keys); System Requirements (HSMs); System encryption keys overview; NIST CMVP validated-modules search (Vendor Venafi; Vendor CyberArk) and certificates #5205 and #5122; Common Criteria Portal certified and archived product lists.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[9:05–9:36]  Next, how administrators sign in. The platform supports single sign-on with Entra ID, so the program's approach is to put the console behind Entra and let administrators use their PIV card through Entra's certificate-based authentication. That way there's one trust store and one set of Conditional Access rules, instead of a second login system to maintain. Keep the platform's own certificate login as a fallback, keep a local break-glass account, and shorten the default token lifetimes for automation — ninety days is too long.
Detail: Who signs in to the console, and how.
Version 26.1 supports single sign-on to the web console through OIDC or SAML, and CyberArk's vendor table lists Microsoft Entra ID as supported for SAML, OIDC and SCIM. The MMC snap-ins sign in with the OIDC device flow. CyberArk also documents client-certificate login: you enable certificate authentication, choose the trusted CAs, and set the IIS site to require client certificates; the platform takes the identity from the certificate's UPN, email, common name, or SID extension. What CyberArk doesn't document is PIV or CAC by name.
So the program's design guidance is to federate the web console to Entra ID, and let administrators present their PIV card through Entra certificate-based authentication, as Book 07 Chapter 06 configures it. That keeps one CBA trust store and Conditional Access in front of the console, rather than a second, separate trust store in IIS. The native client-certificate login stays a fallback. Master Admin is eligible, not standing, and the local master admin is the break-glass.
Then the API. Automation authenticates with OAuth tokens from the platform's authentication server. The defaults are a ninety-day access token and a one-year grant, and the program's guidance is to shorten both. API keys are no longer supported.
Sources: CyberArk 26.1 What's New; Login experience; Vendor support for SSO; Configuration Console Authentication node; Configuring certificate authentication in the platform and IIS; Setting up OAuth; Authentication options; Deprecated features; Book 07, Chapters 05 and 06.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[9:36–10:06]  Hardening comes down to one uncomfortable fact: this platform concentrates privilege. It holds rights on your certificate authorities, administrator access on the servers it installs certificates on, and private keys in its database. So apply CyberArk's web server hardening, replace the self-signed certificate every server ships with, switch outbound certificate checking from its default of "none" to strict, and keep driver passwords in the CyberArk vault. Then treat the admins, the key and the database backups as Tier 0.
Detail: Hardening. CyberArk's hardening section currently covers IIS only: a rewrite rule against host-header injection; web configuration settings with debugging off, cookies marked HTTP-only and secure, request filtering to GET and POST, strict transport security, frame and content security policy headers; and the X-Powered-By header removed. Apply all of it. Also set outbound certificate verification, which defaults to "None (Not Recommended)," to Strict, with revocation checking.
Every platform server ships with a self-signed certificate called the Venafi Operational Certificate. Replace it on every server with one issued by your CA before production.
The database needs two accounts: a DBO account used only to install and upgrade, and an operational account the services run as. CyberArk documents that the operational account needs Log on as a Service and local administrator rights on every platform server, and group managed service accounts are supported.
The provisioning drivers need privilege on the targets too. For Windows CAPI and IIS, CyberArk says the account must be a Windows administrator on the target. The program's guidance is to keep those credentials in CyberArk's Enterprise Password Vault, which the platform can query through the Credential Provider. And the installation answer files contain the admin password, the database credentials and the software key, so encrypt them.
So the platform concentrates privilege: certificate-manager rights on CAs, administrator on Windows targets, and private keys in its database. The program therefore treats the Master Admins, the software key and the database backups as Tier 0.
Sources: CyberArk 26.1 Security hardening best practices and IIS hardening; Securing the web server; Windows authentication requirements; Group managed service accounts; Rolling upgrades; CAPI permissions; CyberArk credential best-practice example; Securing credential objects; Server settings (outbound certificate verification); Installation and Upgrade Guide p. 86.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[10:06–10:40]  Recovery hinges on a pair: the database and the key that protects it. Back up both, store them separately, and if an HSM holds the key, run the HSMs as a pair, because the platform shuts down when it can't reach one. CyberArk's recovery steps are on the slide; the one people forget is re-enabling SQL Service Broker after a restore, which quietly stops everything. The program's rule is to rehearse a full restore before the second migration wave ends. That's the build. Now let's connect it to the certificate authorities.
Detail: Backup and recovery. The database and its encryption key are a pair.
Back up the database on the FULL recovery model. Export the software key with the configuration tool's key-export option, and keep it safe: CyberArk says that without it, you cannot access data in the database. If an HSM holds the key, use the HSM vendor's backup, and run the HSMs in high availability, because if the HSM stays unreachable the platform retries, logs, and then shuts down.
CyberArk's disaster recovery procedure has five steps. First, the prerequisites: local master admin credentials, the database backup, the database connection details, and the software key or HSM access. Second, stop the services on every platform server. Third, restore the database and recover its users. Fourth, re-enable SQL Service Broker on the restored database, which is easy to forget and stops the platform working if you do. Fifth, import the software key, or reconnect the HSM through the Configuration Console or the configuration tool's HSM PIN option.
On the CA side, Microsoft recommends backing up the CA with Backup-CARoleService before you change its permissions, which you're about to do for the platform's CA account. The program's guidance is to rehearse a full restore before Wave 2 exits, and Book 07 Chapter 08's rule applies to every key backup: store the backup and its password through separate approved channels.
Sources: CyberArk 26.1 Software key backup; HSM configuration; Using HSM-protected keys; Disaster recovery prerequisites, database recovery and HSM recovery; System Requirements; Microsoft Learn, Secure, delegate and audit a certification authority; Book 07, Chapter 08.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[10:40–10:50]  Part 2 connects the platform to the places certificates come from: the agency's own AD CS, public certificate authorities, the cloud, and how it lives alongside Intune.
Detail: Part 2: connect the issuers.
First the AD CS driver: what it needs on the CA, how templates map, and which Windows Server versions are confirmed. Then how to scope its privileged account under the ESC7 review, which includes the first correction to Book 07. Then the public and cloud CA drivers, where release 26.1 changed one. And finally how the platform coexists with Intune, which owns device certificates.
Sources: CyberArk 26.1 CA driver documentation, Supported integrations, Deprecated features; Microsoft Learn AD CS, Intune and Microsoft Graph pages; Book 07, Chapters 03 to 07.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[10:50–11:25]  The most important connection is to AD CS, the agency's own certificate authority. The platform talks to it over DCOM, using an account with the right to issue and manage certificates. The cleanest pattern is one platform template for each AD CS template it issues from, so policy is easy to read. After Active Directory retires, Book 07 moves server certificates to a standalone CA, and the platform handles that fine. One open item: CyberArk's support table stops at Windows Server 2022, so if your CA runs 2025, get that confirmed in writing.
Detail: The AD CS driver. In the platform it's a CA template object called Microsoft Active Directory Certificate Services, Enterprise and Standalone. It needs Microsoft CA Support installed on the platform servers, and it talks to the CA over DCOM. The account it uses needs Read, Issue and Manage Certificates, and Request Certificates on the CA. That matches Book 07.
Template mapping is done by policy. A certificate gets its CA template object from the policy on its folder, or directly on the certificate. CyberArk's vCert tool expects the template to come from policy and calls choosing it per request against CyberArk's recommendations. So, by inference, the natural pattern is one CyberArk CA template object for each AD CS template the platform issues from.
Enterprise and standalone CAs are both supported. Only enterprise CAs use Active Directory templates, which is exactly why Book 07 moves server issuance to a standalone CA after the forest retires, with template policy living in the platform.
Letting requesters set end dates may need a CA policy flag turned on; that raises event 4892 under Book 07 Chapter 03, so the program's guidance is to leave it off unless you need it.
One open item. The driver page says it supports CAs on all supported Windows Server versions, and the platform runs on 2025. But CyberArk's supported-integrations table lists AD CS only through Windows Server 2022. If any retained CA runs Windows Server 2025, get written confirmation before Wave 2.
Sources: CyberArk 26.1 Microsoft ADCS Enterprise and Standalone CA template; MSCA certificate object settings; CA chaining; Configuring certificate import from a Microsoft CA; Microsoft CA Pool; Supported integrations; Deprecated features; System Requirements; vCert README; Microsoft Learn, Manage certificate templates.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[11:25–11:60]  This slide is about one dangerous permission. To issue certificates on the agency's CAs, the platform needs a right called Issue and Manage Certificates, and with it an account can approve, deny or revoke certificates. Attackers know this; it's a known attack path called ESC7. Here's the honest part: Microsoft doesn't give you a switch that limits that right to a few templates, so we don't pretend it does. We limit what the account can request, prove in the lab that a request outside those templates fails, and alert if one ever succeeds.
Detail: Now the sensitive part. Issue and Manage Certificates is the AD CS certificate-manager right. Microsoft says it lets the holder issue, deny, revoke and reinstate certificates without the broader Manage CA permission. Defender for Identity's ESC7 assessment flags unprivileged holders of it.
Here's the first correction to Book 07. Chapter 05 says the program scopes the account to the templates the platform is meant to issue, as if the CA had a control for that. Microsoft's current guidance says to define each certificate manager's templates and requesters and to run positive and negative authorization tests, but it also says Microsoft Learn doesn't publish a Windows Server 2025 step-by-step procedure for configuring certificate-manager restrictions, and to validate any existing restriction in a lab first. So the scoping rests on template permissions, plus allowed and denied test requests proven in the lab. Book 07 has been updated to match to say so.
My inference about why that matters: template permissions limit what the account can request. They don't narrow the certificate-manager right itself, which is why the negative test and the alerts carry the weight.
The program's controls, as design guidance. A dedicated account, a group managed service account where the CA allows it, denied interactive logon. DCOM to the CA allowed only from the platform's engine servers. Read and Enroll only on the platform's templates. Alerts on event 4887 when this requester gets a certificate outside those templates, and on 4882, 4890 and 4892. And the account goes into the quarterly ESC7 review, with the negative test result on record.
Sources: Microsoft Learn, Secure, delegate and audit a certification authority; Review and dispose of pending certificate requests; Defender for Identity certificate posture assessments; CyberArk 26.1 Microsoft ADCS CA template and Securing credential objects; Book 07, Chapter 03 (ESC7) and Chapter 05 (four permission systems).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[11:60–12:33]  For public certificates, the platform has drivers for the major public CAs, and two changes in this release matter before you upgrade. Entrust is no longer supported as a public CA, so if that's your provider, plan the path first. And DigiCert client certificates now need an email address, or renewals fail. On the cloud side, the platform can issue through AWS and install into Azure Key Vault. What I couldn't confirm is Key Vault support in Azure Government, so test it or ask before you rely on it.
Detail: The public and cloud CA drivers.
For public TLS, 26.1 documents drivers for DigiCert, Sectigo, GlobalSign, HID, QuoVadis, VikingCloud and Amazon. Two 26.1 changes matter before you upgrade. Entrust Certificate Services is no longer supported as a standalone CA; CyberArk says those customers migrated to Sectigo Certificate Manager, though the Entrust CA Gateway driver for Entrust's own CA software is still documented. So if the agency's public CA is Entrust, plan the issuing path before the upgrade. And for DigiCert client and S/MIME certificates, an email subject alternative name is now required; automated renewals without one fail after the upgrade.
Note one absence. There's no documented ACME client driver for public CAs, so no Let's Encrypt-style path out to the internet. The platform is an ACME server for your own clients, not an ACME client to public CAs.
On the cloud side, I'm stating only what's documented. The AWS Certificate Manager driver issues public and private certificates and works with Amazon Private CA, and CA Import can pull Private CA certificates through audit reports written to S3, which AWS limits to once every thirty minutes. Azure Key Vault is a provisioning target, not a CA: the platform stores certificates, keys and chains there and can bind them to web apps. What I couldn't find is any statement that the Key Vault driver supports Azure Government endpoints. Test that, or ask CyberArk, before you rely on it.
Sources: CyberArk 26.1 System Requirements; Supported integrations; Deprecated features; Important considerations; DigiCert, GlobalSign and Entrust CA Gateway driver pages; AWS Certificate Manager CA template; Configuring import from Amazon Private CA; Azure integration prerequisites and permissions.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[12:33–13:08]  The rule with Intune is simple: Intune owns device certificates, and the platform stays out of its way. If some Intune certificates still come from AD CS during the transition, the platform will see them, and it just watches — it doesn't renew them. CyberArk can also act as Intune's certificate authority, but the program says no, because that would create a second issuer for devices that are mid-migration. And there's no built-in way to pull in Cloud PKI's inventory; it would take a custom job, so Intune's own report stays the record.
Detail: Intune coexistence. Intune owns device certificates. Cloud PKI issues to Intune-managed devices through SCEP, and Intune's profiles renew them. The platform's role there is narrow.
During the bridge period, some Intune certificates still come from AD CS through the connector. Because a Microsoft CA import brings in mobile, user and client certificates the platform didn't enroll, those will appear in its inventory. The program's guidance is to import them as monitor-only, with no renewal binding, so Intune stays the renewal engine.
There's an option CyberArk documents that the program rejects. The platform can act as an Intune third-party SCEP CA: Intune profiles point at its SCEP endpoint, and it validates challenges with Intune through an Entra app. But Book 07 chose Cloud PKI for these devices, and this would make the platform a second issuer for a migrating population, which breaks Chapter 07's first coexistence rule. It also adds a tenant-wide consent, and Microsoft notes that revocation after a wipe depends on each third party's API.
Here's the second correction. Book 07 Chapter 04 says the platform reads Cloud PKI's inventory for reporting. CyberArk documents no Cloud PKI import. What exists is Microsoft Graph's beta Cloud PKI leaf-certificate report, and the platform's Discovery Import API. Joining them is a custom job, on a beta API. Book 07 has been updated to say that, and that Intune's certificates report remains the system of record.
Sources: CyberArk 26.1 Integrating with Microsoft Intune; Importing certificates from a CA; WebSDK POST Discovery/Import; Microsoft Learn, Third-party CA SCEP partners; Graph beta retrieveCloudPkiLeafCertificateReport; Create SCEP certificate profiles in Intune; device-naming research brief; Book 07, Chapters 04 to 07.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[13:08–13:18]  Part 3 is where the platform earns its keep: finding every certificate, giving each one an owner, and automating renewal so nobody has to remember a date.
Detail: Part 3: discover, own and automate.
First, how the platform finds certificates: discovery scans and CA import. Then how each certificate gets an owner, through policy folders tied to identity and to the CMDB. Then the enrollment protocols, where the third correction to Book 07 sits. And finally three integrations: Kubernetes, ServiceNow and the SIEM, each with a boundary question.
Sources: CyberArk 26.1 discovery, policy, permissions, ACME, EST, SCEP, OAuth, Kubernetes discovery and logging documentation; vCert; cert-manager; ServiceNow Store.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[13:18–13:48]  You can't manage what you can't see, and a CA's database only shows what that CA issued. So the platform finds certificates two ways: it scans the network for anything presenting a certificate, and it imports what your CAs already issued. Agents and API feeds fill in the rest. The program's rule is blunt: any certificate found with no record and no owner is a finding. In the first wave, run read-only scans and imports, and log every surprise.
Detail: Discovery. Book 07 Chapter 02 points out that a CA database shows only what that CA issued. Certificates from public CAs, appliances or self-signing don't appear there, and finding them takes network discovery.
The platform has five ways in. Network Discovery scans IPv4 ranges and ports for TLS listeners, and can instantly check a single IPv4 or IPv6 address. CA Import pulls what a Microsoft CA or Amazon Private CA issued, template by template, optionally including expired and revoked certificates. Onboard Discovery is agentless and brings the application configuration with it. And the Discovery Import API takes results from a collector you write, such as the Graph job from Part 2.
Reconciliation decides whether a discovered certificate is one the platform already knows. It matches on subject, key usage, extended key usage and the DNS names in the subject alternative name, and the newer certificate becomes the active one. It doesn't apply to CA Import or Onboard Discovery.
The program's rule, from Book 07 Chapter 08: every certificate found on a listener with no issuance record and no owner is a finding. As design guidance for Wave 1, run read-only network scans of server and appliance ranges, and import the in-scope AD CS templates. That import needs the privileged CA account, so create it under the ESC7 controls first.
Sources: CyberArk 26.1 Certificate discovery overview; Configuring Network Discovery; Certificate reconciliation; Onboard Discovery; Agent discovery; Importing certificates from a CA; WebSDK POST Discovery/Import; Book 07, Chapter 02 and Chapter 08; research brief section 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[13:48–14:22]  An expired certificate is almost always an ownership problem before it's a technical one. So every certificate gets a home and a named owner. The platform's policy folders mirror Book 07's certificate classes, so where a certificate lives tells you how it renews. Owners come from Entra groups, and, if the agency uses it, the ServiceNow app can tie certificates to the same configuration items as the CMDB. And one alert matters most: a certificate nearing expiry with no renewal path is an incident while there's still time to fix it.
Detail: Ownership. Book 07 Chapter 05 says an expired certificate is almost always an ownership failure first, so every certificate class has one renewal owner, who answers for it even when automation does the renewing. The platform is where that's recorded.
What the platform provides: placement rules and placement jobs move discovered certificates into policy folders. A folder's policy sets inherited configuration, such as the CA template and key size. Object permissions are granted on folders and objects, and Teams group the people. The documented roles are Master Admin, Server Owner, Certificate Approver and Team Owner, and workflows can require approvals at lifecycle stages.
The program's design guidance turns that into ownership. Build the policy tree to mirror Book 07 Chapter 05's certificate classes, so a certificate's folder tells you its class and its renewal engine. Give every certificate a named Server Owner. Map Teams to Entra groups; release 26.1 adds SCIM 2.0, and CyberArk lists Entra ID as supported for it. If the agency adopts the ServiceNow app, which we'll see next, associate certificates with configuration items so the CMDB owner and the platform's owner agree. And follow Chapter 08's alert: any certificate within two renewal windows of expiry with no renewal path bound to it is an incident while it can still be fixed.
Sources: CyberArk 26.1 Placement rules; Policies overview; Permissions and abilities; Teams and policy folder permissions; Workflows; Configuring expiration event intervals; Notifications and logging; Notification channels; What's New (SCIM 2.0); Vendor support for SSO; ServiceNow Store, Machine Identity Protection; Book 07, Chapters 05 and 08.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[14:22–14:50]  Automation is how renewals stop depending on people. Web servers can renew themselves using ACME, the same protocol public certificate sites use. Network devices can use EST or SCEP. Scripts and pipelines use the REST API or CyberArk's command-line tool. And for everything else, the drivers renew the certificate and install it for you. The one design rule to carry forward is the one we've seen twice: ACME runs on its own servers, outside FIPS mode.
Detail: Enrollment automation, starting with the third correction to Book 07.
Book 07 Chapter 08 says CyberArk documents that the win-acme client needs FIPS mode off, and advises using another tested client where the server must run in FIPS mode. The 26.1 Installation and Upgrade Guide is broader. It says that because FIPS is not supported for ACMEv2, you can't have FIPS enabled on any server used for ACMEv2. The topic page still names only win-acme; the stricter text governs until CyberArk says otherwise. The program's design guidance: run the ACME service on dedicated servers that aren't in FIPS mode, kept out of the FIPS-mode set, or get a written vendor statement. Book 07 has been updated to match.
The ACME service itself implements RFC 8555 with http-01 and dns-01 challenges, and was designed and tested with certbot, win-acme and acme.sh. The page both lists wildcard issuance and calls it future work, so test it.
EST runs on port 50443 with client-certificate authentication, and a CA label in the URL selects the CA template; three optional EST functions aren't supported. SCEP, for network devices, needs port 80.
For everything else there's the REST API with OAuth tokens, and CyberArk's vCert command-line tool, currently version 5.13.9, which needs view, read, write and create on its zone. Agentless drivers push certificates to the endpoints, licensed per instance in 26.1, and the Server Agent covers the rest.
Sources: CyberArk 26.1 Installation and Upgrade Guide p. 50; ACME overview; EST overview, limitations and reference; Configuring SCEP; NDE rules; Setting up OAuth; System Requirements; What's New; vCert README and latest release; Book 07, Chapter 08.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[14:50–15:20]  Three integrations, each with a boundary question. Kubernetes discovery only works through CyberArk's cloud service, which isn't authorized, so inside the boundary we use cert-manager, which talks straight to the self-hosted platform. ServiceNow has no CyberArk-built app, only a third-party one, so assess it like any supply-chain component. And the SIEM gets the platform's events over syslog with TLS — with one gotcha: the SIEM collector's certificate needs its IP address in it, even if you connect by name.
Detail: Three integrations, each with a boundary question.
Kubernetes. The platform has a Kubernetes Discovery component, but it imports certificates from clusters registered to the SaaS edition, and it needs outbound HTTPS to the SaaS service. With no FedRAMP package for the SaaS, the program's guidance is not to plan on it inside the boundary. The in-boundary path is cert-manager. Its CyberArk issuer, formerly the Venafi issuer, talks directly to the self-hosted WebSDK. You configure one issuer per zone, with an access token or username and password, and refresh tokens aren't supported, so plan token rotation.
ServiceNow. I found no first-party CyberArk app in the ServiceNow Store. There is a third-party app from AEYRiX, called Machine Identity Protection, released July twenty-ninth, 2026, that supports the self-hosted edition through a MID Server and associates certificates with CMDB configuration items. That's a third-party supply-chain component, so assess it like one before adopting it.
SIEM. The platform's log server has a syslog channel with BSD, CEF or JSON formats, and it supports TLS. There's a catch worth knowing before you build: the collector's server certificate must carry an IP address subject alternative name that matches the connection IP, plus the server authentication extended key usage. So issue the collector certificate with an IP address SAN even if you configure the collector by name.
Sources: CyberArk 26.1 Configuring Kubernetes discovery; Syslog channel configuration; cert-manager documentation, CyberArk (formerly Venafi) issuer; ServiceNow Store, AEYRiX Machine Identity Protection and Lite editions; FedRAMP Marketplace products.json; device-naming research brief.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[15:20–15:32]  Part 4 puts it all on a timeline and keeps it running: the build mapped to Book 07's six waves, renewal as certificate lifetimes shrink, monitoring, and retiring the old CAs.
Detail: Part 4: migrate and operate.
First, how the platform build fits into Book 07's six migration waves, as program design guidance. Then renewal as public TLS lifetimes shrink, and how the platform feeds monitoring and drift detection. Then its role in decommissioning AD CS. And finally the decisions to take, the questions for the vendor, and next steps.
Sources: Book 07, Chapters 01, 05, 07 and 08; CyberArk 26.1 documentation.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[15:32–16:06]  Here's the build laid onto Book 07's six waves. Wave one is a small test cluster and read-only discovery, so you learn what you have. Wave two builds production properly — two of everything, keys backed up, sign-in and logging done — and doesn't close until a restore has been rehearsed. Wave three pilots automatic renewal on a handful of servers, with the old method left on as a safety net. Then you scale ring by ring, move public certificates over, and finally retire CAs using the platform's inventory as proof.
Detail: Here's the build mapped onto Book 07's six waves. This is the platform work that runs alongside the Cloud PKI waves, with a gate added to each. It's program design guidance.
Wave 1, Assess, weeks one to four. Stand up a two-server test cluster and its SQL database inside the boundary. Run read-only network discovery and import the AD CS templates in scope. That import needs the privileged CA account, so create it now, under the ESC7 controls. Gate: every certificate without an issuance record is logged as a finding, and the CA account is in the ESC7 baseline.
Wave 2, Foundation. Build production: at least two servers per role, a load balancer, Always On, keys backed up. Decide FIPS mode per server, with ACME on its own servers. Replace the operational certificates, set up Entra single sign-on and syslog over TLS, build the policy tree, one CA template object per AD CS template, a CA pool, the public CA driver and the password-vault connection. Gate: a rehearsed restore, a passing negative test, and IIS hardening applied.
Wave 3, Pilot. Move pilot servers onto platform renewal, IIS, Apache, F5, NetScaler and one NPS server, assign Server Owners, and pilot ACME, with autoenrollment left on for rollback.
Wave 4, Scale, moves servers ring by ring off autoenrollment. Wave 5 puts all public TLS on the platform. Wave 6 retires CAs on the inventory's evidence.
Sources: Research brief section 9 (program design guidance); Book 07, Chapter 07 (migration playbook, waves 1 to 6 and exit gates), Chapter 04 (issuer decision for internal server certificates), Chapter 08 (drift patterns and decommissioning).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[16:06–16:34]  Here's why this can't wait. Public certificate lifetimes are shrinking fast: two hundred days today, a hundred next year, and forty-seven days by 2029. For a thousand certificates, that's roughly seven renewals every working day now, and over thirty in 2029. No team can keep that up by hand. That's why Book 07's rule is that no certificate may depend on a person remembering a date — every one runs through Intune, autoenrollment, or this platform.
Detail: Why renewal automation can't wait. In April 2025 the CA/Browser Forum adopted a ballot that cuts the maximum validity of publicly trusted TLS certificates in steps. From March fifteenth, 2026, it's two hundred days, and that's in force now. From March fifteenth, 2027, a hundred days. From March fifteenth, 2029, forty-seven days. Book 07 works out what that means for a thousand certificates: about seven renewals every working day today, fifteen next year, and thirty-one in 2029. The reuse period for domain validation falls to ten days, so validation has to be automated too.
That's why Book 07 Chapter 08 sets one design rule: no certificate class may depend on a person remembering a date. Every class runs through one of three engines: Intune profiles, AD CS autoenrollment for domain controllers, or this platform.
On the platform, renewal works two ways. Drivers renew the certificate and push it to the endpoint, IIS, Apache, F5, NetScaler and the others. And ACME clients on web listeners renew themselves against the platform's ACME service. When you use the dns-01 challenge, the authoritative DNS zone becomes the gate for automated issuance, which is why the DNS team is consulted on ACME rollout.
The program aligns internal lifetimes with the schedule too, as the automation proves itself.
Sources: Book 07, Chapter 01 (CA/Browser Forum Ballot SC-081v3; Baseline Requirements 2.3.1; renewal arithmetic) and Chapter 08 (renewal at scale, ACME where it applies); CyberArk 26.1 provisioning driver and ACME documentation.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[16:34–17:05]  Monitoring is where the inventory pays off. The platform sends its events to the SIEM and watches for four kinds of drift: a certificate close to expiry with no way to renew it, a certificate issued outside policy, a revocation list that's going stale, and trust stores that have picked up roots they shouldn't have. The checks run at least weekly, and the results are kept, because an assessor will ask how long a problem stayed open, not just whether it's open today.
Detail: Monitoring and drift. Book 07 Chapter 08 collects certificate signals from many places into one view, and security operations owns the alerts. The platform contributes the inventory, every certificate it knows with its owner, expiry and renewal status, and sends its events to the SIEM over syslog with TLS.
Four of Chapter 08's drift patterns are the platform's to catch. Expiring with no renewal path: a certificate within two renewal windows of expiry with no engine bound to it. Issuance outside policy: a discovered certificate with no enrollment record, or, from Part 2, event 4887 showing the platform's CA account received a certificate outside its templates. CRLs near their next update or served stale: the platform's Certificate Revocation Monitoring component checks CRL distribution points and OCSP endpoints, at least daily. And trust store drift: the program's guidance is to keep the platform's Roots tree limited to approved trust anchors, which is the SC-17 part b question an assessor asks.
And persist the evidence. In the program's model the drift checks run at least weekly, and their outputs are committed to the evidence repository. History matters more than any single run, because an assessor asks how long a finding stayed open, not only whether it's open now.
Sources: Book 07, Chapter 05 (security operations role) and Chapter 08 (monitoring, drift patterns, persisting the evidence); CyberArk 26.1 Installation and Upgrade Guide p. 89 (Certificate Revocation Monitoring); Syslog channel configuration; research brief section 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[17:05–17:38]  Eventually the old certificate authorities retire, and the platform is the evidence that it's safe. Before a CA goes, its inventory has to show that nothing still depends on it. Then you stop new issuance — after pointing the platform's templates at a CA that's staying — publish the last revocation list, and remove the service. The records and endpoints stay up until the last certificate expires. After Active Directory, server certificates come from a standalone CA under the same root, still driven by the platform.
Detail: Decommissioning is Book 07's Wave 6, and the platform has a defined part in it.
The gate comes first: cutover complete, the thirty-day rollback window passed with no incidents, and every retained certificate class documented and running on the CAs that remain.
Step one of Book 07's procedure is to confirm nothing depends on the CA, and the platform's inventory is the main evidence, together with the CA database. It has to show that no unexpired certificate in a migrated class is still in use. Steps two to five retire the CA itself: stop new issuance, back up and archive the database and key, revoke outstanding certificates for cessation of operation and publish the final CRL, and uninstall the role services. Before you stop issuance, repoint any CyberArk CA template objects that used this CA to a retained CA, so renewals don't fail.
Step six cleans up trust: the Entra trust store, Intune trusted certificate profiles, NTAuth, and the CA object in the platform. Retiring that CA object is the platform owner's task, and the decommission record should say it was done. Steps seven to nine keep the CRL and AIA endpoints serving until the last certificate expires, and commit the record.
After Active Directory retires, Book 07 moves server issuance to a standalone AD CS issuing CA under the same root, still driven by the platform, which supports standalone Microsoft CAs. Template policy then lives in the platform, and there's no new root to distribute.
Sources: Book 07, Chapter 08 (Decommissioning AD CS, steps 1 to 9), Chapter 07 (Wave 6), Chapter 04 (after Active Directory); CyberArk 26.1 Microsoft ADCS Enterprise and Standalone CA template; Microsoft Learn, Manage certificate templates.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[17:38–18:21]  To wrap up. The decisions are yours: which servers run in FIPS mode, HSM or software key, and a handful of integration choices. There are a few questions to put to CyberArk in writing, mainly around FIPS, Windows Server 2025, and Azure Government. And the next steps are concrete: stand up the test cluster, create the CA account under the ESC7 controls, and prove in the lab that it can't do more than it should. The program's view is clear — this is the right platform for Book 07's design, and its risks are known and manageable. This is the program's research, under review, and not an endorsement by any federal agency. Thanks for watching.
Detail: To close: decisions, vendor asks, and next steps.
The decisions to take. Which servers run in FIPS mode, and which separate servers run ACME. Whether database secrets are protected by an HSM or by the software key, and whether SQL is Enterprise or Standard. Console sign-in through Entra single sign-on with certificate-based authentication. The public CA path, if the agency uses Entrust today. Whether to build the Cloud PKI feed on a beta API, and whether to adopt the ServiceNow app.
Ask CyberArk, in writing: which statement governs ACME and FIPS; whether AD CS on Windows Server 2025 is supported, given the stale table; which cryptographic module the product uses, and whether any CMVP certificate covers it; whether the Key Vault driver works with Azure Government; and whether PIV or CAC console login is supported as such.
Next steps: stand up the Wave 1 test cluster, create the CA account under the ESC7 controls, and lab-test allowed and denied requests. Book 07 has been updated in Chapters 03 and 05 for the ESC7 caveat, Chapter 04 for Cloud PKI reporting, and Chapter 08 for ACME and FIPS.
The program's recommendation is plain: CyberArk Certificate Manager, Self-Hosted, is the right platform for Book 07's lifecycle. It's the agency's existing machine-identity vendor, it covers every issuer the design assigns to it, and its risks are known and manageable. The backup slides list the risks, the assessor evidence and what couldn't be verified. This is the program's research, under review, not an endorsement by any federal agency. Thank you.
Sources: Research brief sections 0, 12 and 13; Book 07, Chapters 03, 04, 05, 07 and 08; CyberArk 26.1 documentation cited in Parts 1 to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Title-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Content-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217920" cy="1920240"/>
          </a:xfrm>
          <a:prstGeom prst="rect">
            <a:avLst/>
          </a:prstGeom>
          <a:noFill/>
          <a:ln/>
        </p:spPr>
        <p:txBody>
          <a:bodyPr wrap="square" rtlCol="0"/>
          <a:lstStyle>
            <a:lvl1pPr algn="l" indent="0" marL="0">
              <a:buNone/>
              <a:defRPr lang="en-US" sz="44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4400" dirty="0"/>
          </a:p>
        </p:txBody>
      </p:sp>
      <p:sp>
        <p:nvSpPr>
          <p:cNvPr id="3" name="Text 0"/>
          <p:cNvSpPr/>
          <p:nvPr>
            <p:ph idx="101" type="body" hasCustomPrompt="1"/>
          </p:nvPr>
        </p:nvSpPr>
        <p:spPr>
          <a:xfrm>
            <a:off x="731520" y="3520440"/>
            <a:ext cx="6035040" cy="822960"/>
          </a:xfrm>
          <a:prstGeom prst="rect">
            <a:avLst/>
          </a:prstGeom>
          <a:noFill/>
          <a:ln/>
        </p:spPr>
        <p:txBody>
          <a:bodyPr wrap="square" rtlCol="0"/>
          <a:lstStyle>
            <a:lvl1pPr indent="0" marL="0">
              <a:buNone/>
              <a:defRPr lang="en-US" sz="2200" dirty="0">
                <a:solidFill>
                  <a:schemeClr val="accent2"/>
                </a:solidFill>
              </a:defRPr>
            </a:lvl1pPr>
          </a:lstStyle>
          <a:p>
            <a:pPr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rtlCol="0"/>
          <a:lstStyle>
            <a:lvl1pPr algn="ctr" indent="0" marL="0">
              <a:buNone/>
              <a:defRPr lang="en-US" sz="3000" b="1" dirty="0">
                <a:solidFill>
                  <a:schemeClr val="tx1"/>
                </a:solidFill>
                <a:latin typeface="Cambria" pitchFamily="34" charset="0"/>
                <a:ea typeface="Cambria" pitchFamily="34" charset="-122"/>
                <a:cs typeface="Cambria" pitchFamily="34" charset="-120"/>
              </a:defRPr>
            </a:lvl1pPr>
          </a:lstStyle>
          <a:p>
            <a:pPr algn="ctr" indent="0" marL="0">
              <a:buNone/>
            </a:pPr>
            <a:endParaRPr lang="en-US" sz="3000"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indent="0" marL="0">
              <a:buNone/>
            </a:pPr>
            <a:r>
              <a:rPr lang="en-US" sz="1000" dirty="0">
                <a:solidFill>
                  <a:schemeClr val="accent5"/>
                </a:solidFill>
              </a:rPr>
              <a:t>Certificate lifecycle on CyberArk Certificate Manager  ·  Implementation guide  ·  Research — under review</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3.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3.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3.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3.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3.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3.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217920" cy="1920240"/>
          </a:xfrm>
          <a:prstGeom prst="rect">
            <a:avLst/>
          </a:prstGeom>
          <a:noFill/>
          <a:ln/>
        </p:spPr>
        <p:txBody>
          <a:bodyPr wrap="square" lIns="0" tIns="0" rIns="0" bIns="0" rtlCol="0" anchor="b"/>
          <a:lstStyle/>
          <a:p>
            <a:pPr algn="l" indent="0" marL="0">
              <a:buNone/>
            </a:pPr>
            <a:r>
              <a:rPr lang="en-US" sz="4400" b="1" dirty="0">
                <a:solidFill>
                  <a:schemeClr val="tx1"/>
                </a:solidFill>
                <a:latin typeface="Cambria" pitchFamily="34" charset="0"/>
                <a:ea typeface="Cambria" pitchFamily="34" charset="-122"/>
                <a:cs typeface="Cambria" pitchFamily="34" charset="-120"/>
              </a:rPr>
              <a:t>Certificate Lifecycle on CyberArk Certificate Manager</a:t>
            </a:r>
            <a:endParaRPr lang="en-US" sz="4400" dirty="0"/>
          </a:p>
        </p:txBody>
      </p:sp>
      <p:sp>
        <p:nvSpPr>
          <p:cNvPr id="3" name="Text 0"/>
          <p:cNvSpPr/>
          <p:nvPr>
            <p:ph idx="101" type="body" hasCustomPrompt="1"/>
          </p:nvPr>
        </p:nvSpPr>
        <p:spPr>
          <a:xfrm>
            <a:off x="731520" y="3520440"/>
            <a:ext cx="6035040" cy="822960"/>
          </a:xfrm>
          <a:prstGeom prst="rect">
            <a:avLst/>
          </a:prstGeom>
          <a:noFill/>
          <a:ln/>
        </p:spPr>
        <p:txBody>
          <a:bodyPr wrap="square" lIns="0" tIns="0" rIns="0" bIns="0" rtlCol="0" anchor="t"/>
          <a:lstStyle/>
          <a:p>
            <a:pPr indent="0" marL="0">
              <a:buNone/>
            </a:pPr>
            <a:r>
              <a:rPr lang="en-US" sz="2200" dirty="0">
                <a:solidFill>
                  <a:schemeClr val="accent2"/>
                </a:solidFill>
              </a:rPr>
              <a:t>Implementation guide  ·  Research — under review</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indent="0" marL="0">
              <a:buNone/>
            </a:pPr>
            <a:r>
              <a:rPr lang="en-US" sz="1600" dirty="0">
                <a:solidFill>
                  <a:srgbClr val="64748B"/>
                </a:solidFill>
              </a:rPr>
              <a:t>Presented by  </a:t>
            </a:r>
            <a:pPr indent="0" marL="0">
              <a:buNone/>
            </a:pP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indent="0" marL="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Session map"/>
          <p:cNvSpPr txBox="1"/>
          <p:nvPr/>
        </p:nvSpPr>
        <p:spPr>
          <a:xfrm>
            <a:off x="731520" y="4343400"/>
            <a:ext cx="7863840" cy="1097280"/>
          </a:xfrm>
          <a:prstGeom prst="rect">
            <a:avLst/>
          </a:prstGeom>
          <a:noFill/>
          <a:ln/>
        </p:spPr>
        <p:txBody>
          <a:bodyPr wrap="square" lIns="0" tIns="0" rIns="0" bIns="0" rtlCol="0" anchor="t"/>
          <a:lstStyle/>
          <a:p>
            <a:pPr indent="0" marL="0">
              <a:spcAft>
                <a:spcPts val="200"/>
              </a:spcAft>
              <a:buNone/>
            </a:pPr>
            <a:r>
              <a:rPr lang="en-US" sz="1200" b="1" dirty="0">
                <a:solidFill>
                  <a:srgbClr val="64748B"/>
                </a:solidFill>
              </a:rPr>
              <a:t>IMPLEMENTING BOOK 07'S CERTIFICATE LIFECYCLE, SELF-HOSTED  ·  ABOUT 20 MINUTES</a:t>
            </a:r>
            <a:endParaRPr lang="en-US" sz="1500" dirty="0"/>
          </a:p>
          <a:p>
            <a:pPr indent="0" marL="0">
              <a:spcAft>
                <a:spcPts val="200"/>
              </a:spcAft>
              <a:buNone/>
            </a:pPr>
            <a:r>
              <a:rPr lang="en-US" sz="1500" dirty="0">
                <a:solidFill>
                  <a:srgbClr val="334155"/>
                </a:solidFill>
              </a:rPr>
              <a:t>Orientation  ·  Inside the platform  ·  Part 1 Build the platform  ·  Part 2 Connect the issuers</a:t>
            </a:r>
            <a:endParaRPr lang="en-US" sz="1500" dirty="0"/>
          </a:p>
          <a:p>
            <a:pPr indent="0" marL="0">
              <a:spcAft>
                <a:spcPts val="200"/>
              </a:spcAft>
              <a:buNone/>
            </a:pPr>
            <a:r>
              <a:rPr lang="en-US" sz="1500" dirty="0">
                <a:solidFill>
                  <a:srgbClr val="334155"/>
                </a:solidFill>
              </a:rPr>
              <a:t>Part 3 Discover, own and automate  ·  Part 4 Migrate and operate</a:t>
            </a:r>
            <a:endParaRPr lang="en-US" sz="1500" dirty="0"/>
          </a:p>
        </p:txBody>
      </p:sp>
      <p:sp>
        <p:nvSpPr>
          <p:cNvPr id="7" name="Sources"/>
          <p:cNvSpPr txBox="1"/>
          <p:nvPr/>
        </p:nvSpPr>
        <p:spPr>
          <a:xfrm>
            <a:off x="548640" y="5559552"/>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CyberArk Certificate Manager, Self-Hosted 26.1 docs; Microsoft Learn; FedRAMP Marketplace; NIST CMVP; Book 07. All opened Oct. 22, 2026.</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What this guide implements: Book 07's issuer map</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graphicFrame>
        <p:nvGraphicFramePr>
          <p:cNvPr id="3" name="Issuer map"/>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2880360"/>
                <a:gridCol w="2697480"/>
                <a:gridCol w="2514600"/>
                <a:gridCol w="3017520"/>
              </a:tblGrid>
              <a:tr h="292608">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Certificate class</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Issuer</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Renewal engine</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CLM role</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45008">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User and device auth on Intune-managed devices</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Cloud PKI (SCEP), or AD CS via the connector</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Intune profile renewal threshold</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None for Cloud PKI; AD CS-issued: monitor-only import</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45008">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PIV and derived PIV</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Federal PKI shared service provider</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Card and credential lifecycle</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None (may trust Federal PKI CAs for console sign-in)</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92608">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Domain controller, KDC, LDAPS</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Retained AD CS</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AD CS autoenrollment</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Monitor-only; never renews</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45008">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RADIUS/NPS, VPN and RD gateways, SQL, internal web, appliances</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Retained AD CS (standalone after AD)</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CyberArk Certificate Manager</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Owns renewal and provisioning</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45008">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Public-facing TLS</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Public CA authorized by CAA</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CyberArk Certificate Manager, ACME where it fits</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Owns renewal</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92608">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CA certificates and CRLs</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The hierarchy</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Key ceremony and CRL schedule</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Monitors CDP and OCSP endpoints</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SoR" descr="">
            <a:extLst>
              <a:ext uri="{C183D7F6-B498-43B3-948B-1728B52AA6E4}">
                <adec:decorative xmlns:adec="http://schemas.microsoft.com/office/drawing/2017/decorative" val="1"/>
              </a:ext>
            </a:extLst>
          </p:cNvPr>
          <p:cNvSpPr/>
          <p:nvPr/>
        </p:nvSpPr>
        <p:spPr>
          <a:xfrm>
            <a:off x="548640" y="4166616"/>
            <a:ext cx="11109960" cy="868680"/>
          </a:xfrm>
          <a:prstGeom prst="roundRect">
            <a:avLst>
              <a:gd name="adj" fmla="val 8421"/>
            </a:avLst>
          </a:prstGeom>
          <a:solidFill>
            <a:srgbClr val="FFFFFF"/>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7" name="Icon FaDatabase" descr="">
            <a:extLst>
              <a:ext uri="{C183D7F6-B498-43B3-948B-1728B52AA6E4}">
                <adec:decorative xmlns:adec="http://schemas.microsoft.com/office/drawing/2017/decorative" val="1"/>
              </a:ext>
            </a:extLst>
          </p:cNvPr>
          <p:cNvSpPr/>
          <p:nvPr/>
        </p:nvSpPr>
        <p:spPr>
          <a:xfrm>
            <a:off x="777240" y="4235196"/>
            <a:ext cx="731520" cy="731520"/>
          </a:xfrm>
          <a:prstGeom prst="ellipse">
            <a:avLst/>
          </a:prstGeom>
          <a:solidFill>
            <a:srgbClr val="0F766E"/>
          </a:solidFill>
          <a:ln w="12700">
            <a:solidFill>
              <a:srgbClr val="0F766E"/>
            </a:solidFill>
            <a:prstDash val="solid"/>
          </a:ln>
        </p:spPr>
      </p:sp>
      <p:pic>
        <p:nvPicPr>
          <p:cNvPr id="8"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52805" y="4410761"/>
            <a:ext cx="380390" cy="380390"/>
          </a:xfrm>
          <a:prstGeom prst="rect">
            <a:avLst/>
          </a:prstGeom>
        </p:spPr>
      </p:pic>
      <p:sp>
        <p:nvSpPr>
          <p:cNvPr id="9" name="SoR text"/>
          <p:cNvSpPr txBox="1"/>
          <p:nvPr/>
        </p:nvSpPr>
        <p:spPr>
          <a:xfrm>
            <a:off x="1737360" y="4212336"/>
            <a:ext cx="9738360" cy="777240"/>
          </a:xfrm>
          <a:prstGeom prst="rect">
            <a:avLst/>
          </a:prstGeom>
          <a:noFill/>
          <a:ln/>
        </p:spPr>
        <p:txBody>
          <a:bodyPr wrap="square" lIns="0" tIns="0" rIns="0" bIns="0" rtlCol="0" anchor="ctr"/>
          <a:lstStyle/>
          <a:p>
            <a:pPr indent="0" marL="0">
              <a:buNone/>
            </a:pPr>
            <a:r>
              <a:rPr lang="en-US" sz="1650" b="1" dirty="0">
                <a:solidFill>
                  <a:srgbClr val="0F766E"/>
                </a:solidFill>
              </a:rPr>
              <a:t>The CLM is the system of record </a:t>
            </a:r>
            <a:pPr indent="0" marL="0">
              <a:buNone/>
            </a:pPr>
            <a:r>
              <a:rPr lang="en-US" sz="1650" dirty="0">
                <a:solidFill>
                  <a:schemeClr val="tx2"/>
                </a:solidFill>
              </a:rPr>
              <a:t>for every certificate that Intune and the PIV card system don't manage.</a:t>
            </a:r>
            <a:endParaRPr lang="en-US" sz="1650" dirty="0"/>
          </a:p>
        </p:txBody>
      </p:sp>
      <p:sp>
        <p:nvSpPr>
          <p:cNvPr id="10"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Book 07, Ch 04 (issuer map, CLM scope), Ch 05 (renewal ownership), Ch 08 (renewal engines); CyberArk 26.1 Installation Guide p. 89 (revocation monitoring).</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Prerequisites and decisions before you build</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sp>
        <p:nvSpPr>
          <p:cNvPr id="5" name="Why SH" descr="">
            <a:extLst>
              <a:ext uri="{C183D7F6-B498-43B3-948B-1728B52AA6E4}">
                <adec:decorative xmlns:adec="http://schemas.microsoft.com/office/drawing/2017/decorative" val="1"/>
              </a:ext>
            </a:extLst>
          </p:cNvPr>
          <p:cNvSpPr/>
          <p:nvPr/>
        </p:nvSpPr>
        <p:spPr>
          <a:xfrm>
            <a:off x="548640" y="1371600"/>
            <a:ext cx="3931920" cy="4526280"/>
          </a:xfrm>
          <a:prstGeom prst="roundRect">
            <a:avLst>
              <a:gd name="adj" fmla="val 1860"/>
            </a:avLst>
          </a:prstGeom>
          <a:solidFill>
            <a:srgbClr val="FBE4E4"/>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6" name="Why SH head"/>
          <p:cNvSpPr txBox="1"/>
          <p:nvPr/>
        </p:nvSpPr>
        <p:spPr>
          <a:xfrm>
            <a:off x="731520" y="1481328"/>
            <a:ext cx="3566160" cy="640080"/>
          </a:xfrm>
          <a:prstGeom prst="rect">
            <a:avLst/>
          </a:prstGeom>
          <a:noFill/>
          <a:ln/>
        </p:spPr>
        <p:txBody>
          <a:bodyPr wrap="square" lIns="0" tIns="0" rIns="0" bIns="0" rtlCol="0" anchor="t"/>
          <a:lstStyle/>
          <a:p>
            <a:pPr indent="0" marL="0">
              <a:buNone/>
            </a:pPr>
            <a:r>
              <a:rPr lang="en-US" sz="1100" b="1" dirty="0">
                <a:solidFill>
                  <a:srgbClr val="64748B"/>
                </a:solidFill>
              </a:rPr>
              <a:t>WHY SELF-HOSTED</a:t>
            </a:r>
            <a:endParaRPr lang="en-US" sz="1400" dirty="0"/>
          </a:p>
          <a:p>
            <a:pPr indent="0" marL="0">
              <a:buNone/>
            </a:pPr>
            <a:r>
              <a:rPr lang="en-US" sz="1500" b="1" dirty="0">
                <a:solidFill>
                  <a:srgbClr val="B91C1C"/>
                </a:solidFill>
                <a:latin typeface="Cambria" pitchFamily="34" charset="0"/>
                <a:ea typeface="Cambria" pitchFamily="34" charset="-122"/>
                <a:cs typeface="Cambria" pitchFamily="34" charset="-120"/>
              </a:rPr>
              <a:t>No FedRAMP package for the SaaS</a:t>
            </a:r>
            <a:endParaRPr lang="en-US" sz="1400" dirty="0"/>
          </a:p>
        </p:txBody>
      </p:sp>
      <p:sp>
        <p:nvSpPr>
          <p:cNvPr id="7" name="Why SH list"/>
          <p:cNvSpPr txBox="1"/>
          <p:nvPr/>
        </p:nvSpPr>
        <p:spPr>
          <a:xfrm>
            <a:off x="731520" y="2121408"/>
            <a:ext cx="3611880" cy="3703320"/>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2"/>
                </a:solidFill>
              </a:rPr>
              <a:t>Marketplace, Oct. 22, 2026: no package for Certificate Manager, Next-Gen Trust Security or Trust Protection Foundation</a:t>
            </a:r>
            <a:endParaRPr lang="en-US" sz="1400" dirty="0"/>
          </a:p>
          <a:p>
            <a:pPr marL="342900" indent="-342900">
              <a:spcAft>
                <a:spcPts val="300"/>
              </a:spcAft>
              <a:buSzPct val="100000"/>
              <a:buChar char="•"/>
            </a:pPr>
            <a:r>
              <a:rPr lang="en-US" sz="1200" dirty="0">
                <a:solidFill>
                  <a:schemeClr val="tx2"/>
                </a:solidFill>
              </a:rPr>
              <a:t>Palo Alto Networks' authorized packages cover privileged access, endpoint privilege and network security, not CLM</a:t>
            </a:r>
            <a:endParaRPr lang="en-US" sz="1400" dirty="0"/>
          </a:p>
          <a:p>
            <a:pPr marL="342900" indent="-342900">
              <a:spcAft>
                <a:spcPts val="300"/>
              </a:spcAft>
              <a:buSzPct val="100000"/>
              <a:buChar char="•"/>
            </a:pPr>
            <a:r>
              <a:rPr lang="en-US" sz="1200" dirty="0">
                <a:solidFill>
                  <a:schemeClr val="tx2"/>
                </a:solidFill>
              </a:rPr>
              <a:t>So Self-Hosted runs inside the agency boundary, beside the CAs it manages (Book 07 decision)</a:t>
            </a:r>
            <a:endParaRPr lang="en-US" sz="1400" dirty="0"/>
          </a:p>
          <a:p>
            <a:pPr marL="342900" indent="-342900">
              <a:spcAft>
                <a:spcPts val="300"/>
              </a:spcAft>
              <a:buSzPct val="100000"/>
              <a:buChar char="•"/>
            </a:pPr>
            <a:r>
              <a:rPr lang="en-US" sz="1200" dirty="0">
                <a:solidFill>
                  <a:schemeClr val="tx2"/>
                </a:solidFill>
              </a:rPr>
              <a:t>Avoid SaaS-dependent features (design guidance)</a:t>
            </a:r>
            <a:endParaRPr lang="en-US" sz="1400" dirty="0"/>
          </a:p>
        </p:txBody>
      </p:sp>
      <p:graphicFrame>
        <p:nvGraphicFramePr>
          <p:cNvPr id="4" name="Prereqs"/>
          <p:cNvGraphicFramePr>
            <a:graphicFrameLocks noGrp="1"/>
          </p:cNvGraphicFramePr>
          <p:nvPr>
            <p:extLst>
              <p:ext uri="{D42A27DB-BD31-4B8C-83A1-F6EECF244321}">
                <p14:modId xmlns:p14="http://schemas.microsoft.com/office/powerpoint/2010/main" val="1579011935"/>
              </p:ext>
            </p:extLst>
          </p:nvPr>
        </p:nvGraphicFramePr>
        <p:xfrm>
          <a:off x="4617720" y="1371600"/>
          <a:ext cx="9144000" cy="914400"/>
        </p:xfrm>
        <a:graphic>
          <a:graphicData uri="http://schemas.openxmlformats.org/drawingml/2006/table">
            <a:tbl>
              <a:tblPr firstRow="1" bandRow="1"/>
              <a:tblGrid>
                <a:gridCol w="1600200"/>
                <a:gridCol w="5440680"/>
              </a:tblGrid>
              <a:tr h="292608">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Item</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Requirement in 26.1</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Product</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Certificate Manager, Self-Hosted 26.1 (July 2026) on Trust Protection Foundation, formerly Venafi TPP; major releases about every six months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Servers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Windows Server 2016, 2019, 2022 or 2025, Server with UI, English media only; same OS version across the cluster</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9260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Web stack</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IIS roles, .NET 4.8, VC++ runtimes, Edge WebView2</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Database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SQL Server 2014–2022, English only, never on a platform server outside test; FULL recovery model; Enterprise edition recommended</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High availability</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SQL Always On availability groups; every server connects to the same database instance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9"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FedRAMP Marketplace products.json (last change Oct. 22, 2026); CyberArk 26.1 System Requirements; Always On; SQL edition guidance; Installation Guide p. 2; Book 07, Ch 04.</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217920" cy="1920240"/>
          </a:xfrm>
          <a:prstGeom prst="rect">
            <a:avLst/>
          </a:prstGeom>
          <a:noFill/>
          <a:ln/>
        </p:spPr>
        <p:txBody>
          <a:bodyPr wrap="square" lIns="0" tIns="0" rIns="0" bIns="0" rtlCol="0" anchor="b"/>
          <a:lstStyle/>
          <a:p>
            <a:pPr algn="l" indent="0" marL="0">
              <a:buNone/>
            </a:pPr>
            <a:r>
              <a:rPr lang="en-US" sz="4400" b="1" dirty="0">
                <a:solidFill>
                  <a:schemeClr val="tx1"/>
                </a:solidFill>
                <a:latin typeface="Cambria" pitchFamily="34" charset="0"/>
                <a:ea typeface="Cambria" pitchFamily="34" charset="-122"/>
                <a:cs typeface="Cambria" pitchFamily="34" charset="-120"/>
              </a:rPr>
              <a:t>Inside the platform: what it is made of</a:t>
            </a:r>
            <a:endParaRPr lang="en-US" sz="4400" dirty="0"/>
          </a:p>
        </p:txBody>
      </p:sp>
      <p:sp>
        <p:nvSpPr>
          <p:cNvPr id="3" name="Text 0"/>
          <p:cNvSpPr/>
          <p:nvPr>
            <p:ph idx="101" type="body" hasCustomPrompt="1"/>
          </p:nvPr>
        </p:nvSpPr>
        <p:spPr>
          <a:xfrm>
            <a:off x="731520" y="3520440"/>
            <a:ext cx="6035040" cy="822960"/>
          </a:xfrm>
          <a:prstGeom prst="rect">
            <a:avLst/>
          </a:prstGeom>
          <a:noFill/>
          <a:ln/>
        </p:spPr>
        <p:txBody>
          <a:bodyPr wrap="square" lIns="0" tIns="0" rIns="0" bIns="0" rtlCol="0" anchor="t"/>
          <a:lstStyle/>
          <a:p>
            <a:pPr indent="0" marL="0">
              <a:buNone/>
            </a:pPr>
            <a:r>
              <a:rPr lang="en-US" sz="2200" dirty="0">
                <a:solidFill>
                  <a:schemeClr val="accent2"/>
                </a:solidFill>
              </a:rPr>
              <a:t>Implementation guide  ·  Inside the platform</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indent="0" marL="0">
              <a:buNone/>
            </a:pPr>
            <a:r>
              <a:rPr lang="en-US" sz="1600" dirty="0">
                <a:solidFill>
                  <a:srgbClr val="64748B"/>
                </a:solidFill>
              </a:rPr>
              <a:t>Presented by  </a:t>
            </a:r>
            <a:pPr indent="0" marL="0">
              <a:buNone/>
            </a:pP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indent="0" marL="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Part contents"/>
          <p:cNvSpPr txBox="1"/>
          <p:nvPr/>
        </p:nvSpPr>
        <p:spPr>
          <a:xfrm>
            <a:off x="731520" y="4251960"/>
            <a:ext cx="6766560" cy="1280160"/>
          </a:xfrm>
          <a:prstGeom prst="rect">
            <a:avLst/>
          </a:prstGeom>
          <a:noFill/>
          <a:ln/>
        </p:spPr>
        <p:txBody>
          <a:bodyPr wrap="square" lIns="0" tIns="0" rIns="0" bIns="0" rtlCol="0" anchor="t"/>
          <a:lstStyle/>
          <a:p>
            <a:pPr indent="0" marL="0">
              <a:spcAft>
                <a:spcPts val="300"/>
              </a:spcAft>
              <a:buNone/>
            </a:pPr>
            <a:r>
              <a:rPr lang="en-US" sz="1200" b="1" dirty="0">
                <a:solidFill>
                  <a:srgbClr val="64748B"/>
                </a:solidFill>
              </a:rPr>
              <a:t>IN THIS PART  ·  ABOUT 6 MINUTES</a:t>
            </a:r>
            <a:endParaRPr lang="en-US" sz="1400" dirty="0"/>
          </a:p>
          <a:p>
            <a:pPr marL="342900" indent="-342900">
              <a:spcAft>
                <a:spcPts val="300"/>
              </a:spcAft>
              <a:buSzPct val="100000"/>
              <a:buChar char="•"/>
            </a:pPr>
            <a:r>
              <a:rPr lang="en-US" sz="1500" dirty="0">
                <a:solidFill>
                  <a:srgbClr val="334155"/>
                </a:solidFill>
              </a:rPr>
              <a:t>Server roles, web tier and back end</a:t>
            </a:r>
            <a:endParaRPr lang="en-US" sz="1400" dirty="0"/>
          </a:p>
          <a:p>
            <a:pPr marL="342900" indent="-342900">
              <a:spcAft>
                <a:spcPts val="300"/>
              </a:spcAft>
              <a:buSzPct val="100000"/>
              <a:buChar char="•"/>
            </a:pPr>
            <a:r>
              <a:rPr lang="en-US" sz="1500" dirty="0">
                <a:solidFill>
                  <a:srgbClr val="334155"/>
                </a:solidFill>
              </a:rPr>
              <a:t>Components, drivers, the database and keys</a:t>
            </a:r>
            <a:endParaRPr lang="en-US" sz="1400" dirty="0"/>
          </a:p>
          <a:p>
            <a:pPr marL="342900" indent="-342900">
              <a:spcAft>
                <a:spcPts val="300"/>
              </a:spcAft>
              <a:buSzPct val="100000"/>
              <a:buChar char="•"/>
            </a:pPr>
            <a:r>
              <a:rPr lang="en-US" sz="1500" dirty="0">
                <a:solidFill>
                  <a:srgbClr val="334155"/>
                </a:solidFill>
              </a:rPr>
              <a:t>Integrations, a two-site layout and one certificate's journey</a:t>
            </a:r>
            <a:endParaRPr lang="en-US" sz="1400" dirty="0"/>
          </a:p>
        </p:txBody>
      </p:sp>
      <p:sp>
        <p:nvSpPr>
          <p:cNvPr id="7" name="Sources"/>
          <p:cNvSpPr txBox="1"/>
          <p:nvPr/>
        </p:nvSpPr>
        <p:spPr>
          <a:xfrm>
            <a:off x="548640" y="5559552"/>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CyberArk 26.1 System Requirements, components, services, Message Bus, Policy Tree, Configuration Console, drivers and integration pages.</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Inside the platform: the server roles</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pic>
        <p:nvPicPr>
          <p:cNvPr id="5" name="Image 0" descr="The platform's server roles: web services servers and separate non-FIPS ACME servers behind a load balancer; back-end processing servers and log and event servers; all linked by the MQTT message bus to one SQL Server Always On database and an HSM pair.">    </p:cNvPr>
          <p:cNvPicPr>
            <a:picLocks noChangeAspect="1"/>
          </p:cNvPicPr>
          <p:nvPr/>
        </p:nvPicPr>
        <p:blipFill>
          <a:blip r:embed="rId1"/>
          <a:stretch>
            <a:fillRect/>
          </a:stretch>
        </p:blipFill>
        <p:spPr>
          <a:xfrm>
            <a:off x="712810" y="1325880"/>
            <a:ext cx="3603579" cy="4617720"/>
          </a:xfrm>
          <a:prstGeom prst="rect">
            <a:avLst/>
          </a:prstGeom>
        </p:spPr>
      </p:pic>
      <p:sp>
        <p:nvSpPr>
          <p:cNvPr id="6" name="Cluster" descr="">
            <a:extLst>
              <a:ext uri="{C183D7F6-B498-43B3-948B-1728B52AA6E4}">
                <adec:decorative xmlns:adec="http://schemas.microsoft.com/office/drawing/2017/decorative" val="1"/>
              </a:ext>
            </a:extLst>
          </p:cNvPr>
          <p:cNvSpPr/>
          <p:nvPr/>
        </p:nvSpPr>
        <p:spPr>
          <a:xfrm>
            <a:off x="4663440" y="1371600"/>
            <a:ext cx="6995160" cy="2743200"/>
          </a:xfrm>
          <a:prstGeom prst="roundRect">
            <a:avLst>
              <a:gd name="adj" fmla="val 2667"/>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7" name="Cluster head"/>
          <p:cNvSpPr txBox="1"/>
          <p:nvPr/>
        </p:nvSpPr>
        <p:spPr>
          <a:xfrm>
            <a:off x="4846320" y="1481328"/>
            <a:ext cx="6629400" cy="640080"/>
          </a:xfrm>
          <a:prstGeom prst="rect">
            <a:avLst/>
          </a:prstGeom>
          <a:noFill/>
          <a:ln/>
        </p:spPr>
        <p:txBody>
          <a:bodyPr wrap="square" lIns="0" tIns="0" rIns="0" bIns="0" rtlCol="0" anchor="t"/>
          <a:lstStyle/>
          <a:p>
            <a:pPr indent="0" marL="0">
              <a:buNone/>
            </a:pPr>
            <a:r>
              <a:rPr lang="en-US" sz="1100" b="1" dirty="0">
                <a:solidFill>
                  <a:srgbClr val="64748B"/>
                </a:solidFill>
              </a:rPr>
              <a:t>HOW A CLUSTER WORKS</a:t>
            </a:r>
            <a:endParaRPr lang="en-US" sz="1400" dirty="0"/>
          </a:p>
        </p:txBody>
      </p:sp>
      <p:sp>
        <p:nvSpPr>
          <p:cNvPr id="8" name="Cluster list"/>
          <p:cNvSpPr txBox="1"/>
          <p:nvPr/>
        </p:nvSpPr>
        <p:spPr>
          <a:xfrm>
            <a:off x="4846320" y="1810512"/>
            <a:ext cx="6675120" cy="2231136"/>
          </a:xfrm>
          <a:prstGeom prst="rect">
            <a:avLst/>
          </a:prstGeom>
          <a:noFill/>
          <a:ln/>
        </p:spPr>
        <p:txBody>
          <a:bodyPr wrap="square" lIns="0" tIns="0" rIns="0" bIns="0" rtlCol="0" anchor="t"/>
          <a:lstStyle/>
          <a:p>
            <a:pPr marL="342900" indent="-342900">
              <a:spcAft>
                <a:spcPts val="300"/>
              </a:spcAft>
              <a:buSzPct val="100000"/>
              <a:buChar char="•"/>
            </a:pPr>
            <a:r>
              <a:rPr lang="en-US" sz="1150" dirty="0">
                <a:solidFill>
                  <a:schemeClr val="tx2"/>
                </a:solidFill>
              </a:rPr>
              <a:t>Servers on one database form a cluster; every module is installed on every server and enabled per server</a:t>
            </a:r>
            <a:endParaRPr lang="en-US" sz="1400" dirty="0"/>
          </a:p>
          <a:p>
            <a:pPr marL="342900" indent="-342900">
              <a:spcAft>
                <a:spcPts val="300"/>
              </a:spcAft>
              <a:buSzPct val="100000"/>
              <a:buChar char="•"/>
            </a:pPr>
            <a:r>
              <a:rPr lang="en-US" sz="1150" dirty="0">
                <a:solidFill>
                  <a:schemeClr val="tx2"/>
                </a:solidFill>
              </a:rPr>
              <a:t>Roles are just the components switched on: web services, back end, log and event, agent handlers</a:t>
            </a:r>
            <a:endParaRPr lang="en-US" sz="1400" dirty="0"/>
          </a:p>
          <a:p>
            <a:pPr marL="342900" indent="-342900">
              <a:spcAft>
                <a:spcPts val="300"/>
              </a:spcAft>
              <a:buSzPct val="100000"/>
              <a:buChar char="•"/>
            </a:pPr>
            <a:r>
              <a:rPr lang="en-US" sz="1150" dirty="0">
                <a:solidFill>
                  <a:schemeClr val="tx2"/>
                </a:solidFill>
              </a:rPr>
              <a:t>Windows services: CyberArk Platform (hosts the modules and the Message Bus), Logging, API Host (local, port 689), IIS, EST</a:t>
            </a:r>
            <a:endParaRPr lang="en-US" sz="1400" dirty="0"/>
          </a:p>
          <a:p>
            <a:pPr marL="342900" indent="-342900">
              <a:spcAft>
                <a:spcPts val="300"/>
              </a:spcAft>
              <a:buSzPct val="100000"/>
              <a:buChar char="•"/>
            </a:pPr>
            <a:r>
              <a:rPr lang="en-US" sz="1150" dirty="0">
                <a:solidFill>
                  <a:schemeClr val="tx2"/>
                </a:solidFill>
              </a:rPr>
              <a:t>Each server: 4 cores, 16 GB RAM, 5 GB disk; Windows Server 2016–2025 with the desktop experience</a:t>
            </a:r>
            <a:endParaRPr lang="en-US" sz="1400" dirty="0"/>
          </a:p>
        </p:txBody>
      </p:sp>
      <p:graphicFrame>
        <p:nvGraphicFramePr>
          <p:cNvPr id="6" name="Sizing"/>
          <p:cNvGraphicFramePr>
            <a:graphicFrameLocks noGrp="1"/>
          </p:cNvGraphicFramePr>
          <p:nvPr>
            <p:extLst>
              <p:ext uri="{D42A27DB-BD31-4B8C-83A1-F6EECF244321}">
                <p14:modId xmlns:p14="http://schemas.microsoft.com/office/powerpoint/2010/main" val="1579011935"/>
              </p:ext>
            </p:extLst>
          </p:nvPr>
        </p:nvGraphicFramePr>
        <p:xfrm>
          <a:off x="4663440" y="4251960"/>
          <a:ext cx="9144000" cy="914400"/>
        </p:xfrm>
        <a:graphic>
          <a:graphicData uri="http://schemas.openxmlformats.org/drawingml/2006/table">
            <a:tbl>
              <a:tblPr firstRow="1" bandRow="1"/>
              <a:tblGrid>
                <a:gridCol w="2834640"/>
                <a:gridCol w="4160520"/>
              </a:tblGrid>
              <a:tr h="292608">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Active certificates</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Servers</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292608">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Up to 50,000</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2 (all in-use features on both)</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92608">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Up to 250,000</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6: 2 log and event, 2 web services, 2 back end</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92608">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1 million or more</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Designed by CyberArk</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92608">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Agent-managed servers</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2 more servers per 40,000</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10"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CyberArk 26.1 System Requirements (cluster, sizing); Services; Components; Platform objects; Message Bus; Deployment considerations.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The web tier: consoles, API and sign-in</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graphicFrame>
        <p:nvGraphicFramePr>
          <p:cNvPr id="7" name="Web"/>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2377440"/>
                <a:gridCol w="5120640"/>
                <a:gridCol w="3611880"/>
              </a:tblGrid>
              <a:tr h="292608">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Piece</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What it does</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Where and how</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45008">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Web console</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Day-to-day certificate, SSH and agent work; dashboards (formerly Aperture)</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Web Console component, on at least two servers; HTTPS 443</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612648">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Policy Tree</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Advanced configuration: CAs, applications, policy, reports. A web console, not MMC</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Installed with the Web Console; trees: Policy, Platforms, Roots, Encryption, Reports, Workflow and more</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92608">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Web SDK</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The REST API (/vedsdk) for automation and integrations</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OAuth bearer tokens</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92608">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Authentication Server</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Issues tokens for the web components (/vedauth)</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SAML or OIDC SSO; Entra ID supported</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45008">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Configuration Console</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Per-server MMC: database, components, connectors, sign-in, Message Bus, logging</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Runs through the local API Host; a remote snap-in collection exists</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LB" descr="">
            <a:extLst>
              <a:ext uri="{C183D7F6-B498-43B3-948B-1728B52AA6E4}">
                <adec:decorative xmlns:adec="http://schemas.microsoft.com/office/drawing/2017/decorative" val="1"/>
              </a:ext>
            </a:extLst>
          </p:cNvPr>
          <p:cNvSpPr/>
          <p:nvPr/>
        </p:nvSpPr>
        <p:spPr>
          <a:xfrm>
            <a:off x="548640" y="4754880"/>
            <a:ext cx="11109960" cy="1188720"/>
          </a:xfrm>
          <a:prstGeom prst="roundRect">
            <a:avLst>
              <a:gd name="adj" fmla="val 6154"/>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7" name="Icon FaTriangleExclamation" descr="">
            <a:extLst>
              <a:ext uri="{C183D7F6-B498-43B3-948B-1728B52AA6E4}">
                <adec:decorative xmlns:adec="http://schemas.microsoft.com/office/drawing/2017/decorative" val="1"/>
              </a:ext>
            </a:extLst>
          </p:cNvPr>
          <p:cNvSpPr/>
          <p:nvPr/>
        </p:nvSpPr>
        <p:spPr>
          <a:xfrm>
            <a:off x="777240" y="4983480"/>
            <a:ext cx="731520" cy="731520"/>
          </a:xfrm>
          <a:prstGeom prst="ellipse">
            <a:avLst/>
          </a:prstGeom>
          <a:solidFill>
            <a:srgbClr val="B45309"/>
          </a:solidFill>
          <a:ln w="12700">
            <a:solidFill>
              <a:srgbClr val="B45309"/>
            </a:solidFill>
            <a:prstDash val="solid"/>
          </a:ln>
        </p:spPr>
      </p:sp>
      <p:pic>
        <p:nvPicPr>
          <p:cNvPr id="8"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52805" y="5159045"/>
            <a:ext cx="380390" cy="380390"/>
          </a:xfrm>
          <a:prstGeom prst="rect">
            <a:avLst/>
          </a:prstGeom>
        </p:spPr>
      </p:pic>
      <p:sp>
        <p:nvSpPr>
          <p:cNvPr id="9" name="LB text"/>
          <p:cNvSpPr txBox="1"/>
          <p:nvPr/>
        </p:nvSpPr>
        <p:spPr>
          <a:xfrm>
            <a:off x="1737360" y="4800600"/>
            <a:ext cx="9738360" cy="1097280"/>
          </a:xfrm>
          <a:prstGeom prst="rect">
            <a:avLst/>
          </a:prstGeom>
          <a:noFill/>
          <a:ln/>
        </p:spPr>
        <p:txBody>
          <a:bodyPr wrap="square" lIns="0" tIns="0" rIns="0" bIns="0" rtlCol="0" anchor="ctr"/>
          <a:lstStyle/>
          <a:p>
            <a:pPr indent="0" marL="0">
              <a:buNone/>
            </a:pPr>
            <a:r>
              <a:rPr lang="en-US" sz="1650" b="1" dirty="0">
                <a:solidFill>
                  <a:srgbClr val="B45309"/>
                </a:solidFill>
              </a:rPr>
              <a:t>Load balancer rules: </a:t>
            </a:r>
            <a:pPr indent="0" marL="0">
              <a:buNone/>
            </a:pPr>
            <a:r>
              <a:rPr lang="en-US" sz="1650" dirty="0">
                <a:solidFill>
                  <a:schemeClr val="tx2"/>
                </a:solidFill>
              </a:rPr>
              <a:t>every web service behind one name; that name in the servers' operational certificate (or SAML breaks); X-Forwarded-For logged; drain servers during rolling upgrades.</a:t>
            </a:r>
            <a:endParaRPr lang="en-US" sz="1650" dirty="0"/>
          </a:p>
        </p:txBody>
      </p:sp>
      <p:sp>
        <p:nvSpPr>
          <p:cNvPr id="10"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CyberArk 26.1 Components; Policy Tree and management trees; Configuration Console nodes; remote MMC; server settings (FQDN macros); load balancer; rolling upgrades.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The back end: engines, log servers and message bus</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Engines" descr="">
            <a:extLst>
              <a:ext uri="{C183D7F6-B498-43B3-948B-1728B52AA6E4}">
                <adec:decorative xmlns:adec="http://schemas.microsoft.com/office/drawing/2017/decorative" val="1"/>
              </a:ext>
            </a:extLst>
          </p:cNvPr>
          <p:cNvSpPr/>
          <p:nvPr/>
        </p:nvSpPr>
        <p:spPr>
          <a:xfrm>
            <a:off x="548640" y="1371600"/>
            <a:ext cx="3611880" cy="4526280"/>
          </a:xfrm>
          <a:prstGeom prst="roundRect">
            <a:avLst>
              <a:gd name="adj" fmla="val 2025"/>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6" name="Engines head"/>
          <p:cNvSpPr txBox="1"/>
          <p:nvPr/>
        </p:nvSpPr>
        <p:spPr>
          <a:xfrm>
            <a:off x="731520" y="1481328"/>
            <a:ext cx="3246120" cy="640080"/>
          </a:xfrm>
          <a:prstGeom prst="rect">
            <a:avLst/>
          </a:prstGeom>
          <a:noFill/>
          <a:ln/>
        </p:spPr>
        <p:txBody>
          <a:bodyPr wrap="square" lIns="0" tIns="0" rIns="0" bIns="0" rtlCol="0" anchor="t"/>
          <a:lstStyle/>
          <a:p>
            <a:pPr indent="0" marL="0">
              <a:buNone/>
            </a:pPr>
            <a:r>
              <a:rPr lang="en-US" sz="1100" b="1" dirty="0">
                <a:solidFill>
                  <a:srgbClr val="64748B"/>
                </a:solidFill>
              </a:rPr>
              <a:t>PROCESSING ENGINES</a:t>
            </a:r>
            <a:endParaRPr lang="en-US" sz="1400" dirty="0"/>
          </a:p>
        </p:txBody>
      </p:sp>
      <p:sp>
        <p:nvSpPr>
          <p:cNvPr id="7" name="Engines list"/>
          <p:cNvSpPr txBox="1"/>
          <p:nvPr/>
        </p:nvSpPr>
        <p:spPr>
          <a:xfrm>
            <a:off x="731520" y="1810512"/>
            <a:ext cx="3291840" cy="4014216"/>
          </a:xfrm>
          <a:prstGeom prst="rect">
            <a:avLst/>
          </a:prstGeom>
          <a:noFill/>
          <a:ln/>
        </p:spPr>
        <p:txBody>
          <a:bodyPr wrap="square" lIns="0" tIns="0" rIns="0" bIns="0" rtlCol="0" anchor="t"/>
          <a:lstStyle/>
          <a:p>
            <a:pPr marL="342900" indent="-342900">
              <a:spcAft>
                <a:spcPts val="300"/>
              </a:spcAft>
              <a:buSzPct val="100000"/>
              <a:buChar char="•"/>
            </a:pPr>
            <a:r>
              <a:rPr lang="en-US" sz="1150" dirty="0">
                <a:solidFill>
                  <a:schemeClr val="tx2"/>
                </a:solidFill>
              </a:rPr>
              <a:t>Every server registers as an engine</a:t>
            </a:r>
            <a:endParaRPr lang="en-US" sz="1400" dirty="0"/>
          </a:p>
          <a:p>
            <a:pPr marL="342900" indent="-342900">
              <a:spcAft>
                <a:spcPts val="300"/>
              </a:spcAft>
              <a:buSzPct val="100000"/>
              <a:buChar char="•"/>
            </a:pPr>
            <a:r>
              <a:rPr lang="en-US" sz="1150" dirty="0">
                <a:solidFill>
                  <a:schemeClr val="tx2"/>
                </a:solidFill>
              </a:rPr>
              <a:t>Assign engines to policy folders to keep work on chosen servers</a:t>
            </a:r>
            <a:endParaRPr lang="en-US" sz="1400" dirty="0"/>
          </a:p>
          <a:p>
            <a:pPr marL="342900" indent="-342900">
              <a:spcAft>
                <a:spcPts val="300"/>
              </a:spcAft>
              <a:buSzPct val="100000"/>
              <a:buChar char="•"/>
            </a:pPr>
            <a:r>
              <a:rPr lang="en-US" sz="1150" dirty="0">
                <a:solidFill>
                  <a:schemeClr val="tx2"/>
                </a:solidFill>
              </a:rPr>
              <a:t>Work hands off by stage: certificate, enrollment (by CA template), provisioning (by application), revocation</a:t>
            </a:r>
            <a:endParaRPr lang="en-US" sz="1400" dirty="0"/>
          </a:p>
          <a:p>
            <a:pPr marL="342900" indent="-342900">
              <a:spcAft>
                <a:spcPts val="300"/>
              </a:spcAft>
              <a:buSzPct val="100000"/>
              <a:buChar char="•"/>
            </a:pPr>
            <a:r>
              <a:rPr lang="en-US" sz="1150" dirty="0">
                <a:solidFill>
                  <a:schemeClr val="tx2"/>
                </a:solidFill>
              </a:rPr>
              <a:t>So a DMZ engine can do public-CA enrollment only</a:t>
            </a:r>
            <a:endParaRPr lang="en-US" sz="1400" dirty="0"/>
          </a:p>
        </p:txBody>
      </p:sp>
      <p:sp>
        <p:nvSpPr>
          <p:cNvPr id="8" name="Log" descr="">
            <a:extLst>
              <a:ext uri="{C183D7F6-B498-43B3-948B-1728B52AA6E4}">
                <adec:decorative xmlns:adec="http://schemas.microsoft.com/office/drawing/2017/decorative" val="1"/>
              </a:ext>
            </a:extLst>
          </p:cNvPr>
          <p:cNvSpPr/>
          <p:nvPr/>
        </p:nvSpPr>
        <p:spPr>
          <a:xfrm>
            <a:off x="4297680" y="1371600"/>
            <a:ext cx="3611880" cy="4526280"/>
          </a:xfrm>
          <a:prstGeom prst="roundRect">
            <a:avLst>
              <a:gd name="adj" fmla="val 2025"/>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9" name="Log head"/>
          <p:cNvSpPr txBox="1"/>
          <p:nvPr/>
        </p:nvSpPr>
        <p:spPr>
          <a:xfrm>
            <a:off x="4480560" y="1481328"/>
            <a:ext cx="3246120" cy="640080"/>
          </a:xfrm>
          <a:prstGeom prst="rect">
            <a:avLst/>
          </a:prstGeom>
          <a:noFill/>
          <a:ln/>
        </p:spPr>
        <p:txBody>
          <a:bodyPr wrap="square" lIns="0" tIns="0" rIns="0" bIns="0" rtlCol="0" anchor="t"/>
          <a:lstStyle/>
          <a:p>
            <a:pPr indent="0" marL="0">
              <a:buNone/>
            </a:pPr>
            <a:r>
              <a:rPr lang="en-US" sz="1100" b="1" dirty="0">
                <a:solidFill>
                  <a:srgbClr val="64748B"/>
                </a:solidFill>
              </a:rPr>
              <a:t>LOG AND EVENT SERVERS</a:t>
            </a:r>
            <a:endParaRPr lang="en-US" sz="1400" dirty="0"/>
          </a:p>
        </p:txBody>
      </p:sp>
      <p:sp>
        <p:nvSpPr>
          <p:cNvPr id="10" name="Log list"/>
          <p:cNvSpPr txBox="1"/>
          <p:nvPr/>
        </p:nvSpPr>
        <p:spPr>
          <a:xfrm>
            <a:off x="4480560" y="1810512"/>
            <a:ext cx="3291840" cy="4014216"/>
          </a:xfrm>
          <a:prstGeom prst="rect">
            <a:avLst/>
          </a:prstGeom>
          <a:noFill/>
          <a:ln/>
        </p:spPr>
        <p:txBody>
          <a:bodyPr wrap="square" lIns="0" tIns="0" rIns="0" bIns="0" rtlCol="0" anchor="t"/>
          <a:lstStyle/>
          <a:p>
            <a:pPr marL="342900" indent="-342900">
              <a:spcAft>
                <a:spcPts val="300"/>
              </a:spcAft>
              <a:buSzPct val="100000"/>
              <a:buChar char="•"/>
            </a:pPr>
            <a:r>
              <a:rPr lang="en-US" sz="1150" dirty="0">
                <a:solidFill>
                  <a:schemeClr val="tx2"/>
                </a:solidFill>
              </a:rPr>
              <a:t>The Logging service: audit trail (SQL channel by default) and notifications</a:t>
            </a:r>
            <a:endParaRPr lang="en-US" sz="1400" dirty="0"/>
          </a:p>
          <a:p>
            <a:pPr marL="342900" indent="-342900">
              <a:spcAft>
                <a:spcPts val="300"/>
              </a:spcAft>
              <a:buSzPct val="100000"/>
              <a:buChar char="•"/>
            </a:pPr>
            <a:r>
              <a:rPr lang="en-US" sz="1150" dirty="0">
                <a:solidFill>
                  <a:schemeClr val="tx2"/>
                </a:solidFill>
              </a:rPr>
              <a:t>About 10 events per renewal; a separate log database for large volumes</a:t>
            </a:r>
            <a:endParaRPr lang="en-US" sz="1400" dirty="0"/>
          </a:p>
          <a:p>
            <a:pPr marL="342900" indent="-342900">
              <a:spcAft>
                <a:spcPts val="300"/>
              </a:spcAft>
              <a:buSzPct val="100000"/>
              <a:buChar char="•"/>
            </a:pPr>
            <a:r>
              <a:rPr lang="en-US" sz="1150" dirty="0">
                <a:solidFill>
                  <a:schemeClr val="tx2"/>
                </a:solidFill>
              </a:rPr>
              <a:t>Only these need paths to the SIEM, email and SNMP</a:t>
            </a:r>
            <a:endParaRPr lang="en-US" sz="1400" dirty="0"/>
          </a:p>
          <a:p>
            <a:pPr marL="342900" indent="-342900">
              <a:spcAft>
                <a:spcPts val="300"/>
              </a:spcAft>
              <a:buSzPct val="100000"/>
              <a:buChar char="•"/>
            </a:pPr>
            <a:r>
              <a:rPr lang="en-US" sz="1150" dirty="0">
                <a:solidFill>
                  <a:schemeClr val="tx2"/>
                </a:solidFill>
              </a:rPr>
              <a:t>Out of disk space, the log server stops</a:t>
            </a:r>
            <a:endParaRPr lang="en-US" sz="1400" dirty="0"/>
          </a:p>
        </p:txBody>
      </p:sp>
      <p:sp>
        <p:nvSpPr>
          <p:cNvPr id="11" name="Bus" descr="">
            <a:extLst>
              <a:ext uri="{C183D7F6-B498-43B3-948B-1728B52AA6E4}">
                <adec:decorative xmlns:adec="http://schemas.microsoft.com/office/drawing/2017/decorative" val="1"/>
              </a:ext>
            </a:extLst>
          </p:cNvPr>
          <p:cNvSpPr/>
          <p:nvPr/>
        </p:nvSpPr>
        <p:spPr>
          <a:xfrm>
            <a:off x="8046720" y="1371600"/>
            <a:ext cx="3611880" cy="2377440"/>
          </a:xfrm>
          <a:prstGeom prst="roundRect">
            <a:avLst>
              <a:gd name="adj" fmla="val 3077"/>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12" name="Bus head"/>
          <p:cNvSpPr txBox="1"/>
          <p:nvPr/>
        </p:nvSpPr>
        <p:spPr>
          <a:xfrm>
            <a:off x="8229600" y="1481328"/>
            <a:ext cx="3246120" cy="640080"/>
          </a:xfrm>
          <a:prstGeom prst="rect">
            <a:avLst/>
          </a:prstGeom>
          <a:noFill/>
          <a:ln/>
        </p:spPr>
        <p:txBody>
          <a:bodyPr wrap="square" lIns="0" tIns="0" rIns="0" bIns="0" rtlCol="0" anchor="t"/>
          <a:lstStyle/>
          <a:p>
            <a:pPr indent="0" marL="0">
              <a:buNone/>
            </a:pPr>
            <a:r>
              <a:rPr lang="en-US" sz="1100" b="1" dirty="0">
                <a:solidFill>
                  <a:srgbClr val="64748B"/>
                </a:solidFill>
              </a:rPr>
              <a:t>MESSAGE BUS (MQTT)</a:t>
            </a:r>
            <a:endParaRPr lang="en-US" sz="1400" dirty="0"/>
          </a:p>
        </p:txBody>
      </p:sp>
      <p:sp>
        <p:nvSpPr>
          <p:cNvPr id="13" name="Bus list"/>
          <p:cNvSpPr txBox="1"/>
          <p:nvPr/>
        </p:nvSpPr>
        <p:spPr>
          <a:xfrm>
            <a:off x="8229600" y="1810512"/>
            <a:ext cx="3291840" cy="1865376"/>
          </a:xfrm>
          <a:prstGeom prst="rect">
            <a:avLst/>
          </a:prstGeom>
          <a:noFill/>
          <a:ln/>
        </p:spPr>
        <p:txBody>
          <a:bodyPr wrap="square" lIns="0" tIns="0" rIns="0" bIns="0" rtlCol="0" anchor="t"/>
          <a:lstStyle/>
          <a:p>
            <a:pPr marL="342900" indent="-342900">
              <a:spcAft>
                <a:spcPts val="300"/>
              </a:spcAft>
              <a:buSzPct val="100000"/>
              <a:buChar char="•"/>
            </a:pPr>
            <a:r>
              <a:rPr lang="en-US" sz="1150" dirty="0">
                <a:solidFill>
                  <a:schemeClr val="tx2"/>
                </a:solidFill>
              </a:rPr>
              <a:t>Mandatory; tells servers about changes</a:t>
            </a:r>
            <a:endParaRPr lang="en-US" sz="1400" dirty="0"/>
          </a:p>
          <a:p>
            <a:pPr marL="342900" indent="-342900">
              <a:spcAft>
                <a:spcPts val="300"/>
              </a:spcAft>
              <a:buSzPct val="100000"/>
              <a:buChar char="•"/>
            </a:pPr>
            <a:r>
              <a:rPr lang="en-US" sz="1150" dirty="0">
                <a:solidFill>
                  <a:schemeClr val="tx2"/>
                </a:solidFill>
              </a:rPr>
              <a:t>TLS 8883, every server to every other, across sites</a:t>
            </a:r>
            <a:endParaRPr lang="en-US" sz="1400" dirty="0"/>
          </a:p>
        </p:txBody>
      </p:sp>
      <p:graphicFrame>
        <p:nvGraphicFramePr>
          <p:cNvPr id="8" name="Latency"/>
          <p:cNvGraphicFramePr>
            <a:graphicFrameLocks noGrp="1"/>
          </p:cNvGraphicFramePr>
          <p:nvPr>
            <p:extLst>
              <p:ext uri="{D42A27DB-BD31-4B8C-83A1-F6EECF244321}">
                <p14:modId xmlns:p14="http://schemas.microsoft.com/office/powerpoint/2010/main" val="1579011935"/>
              </p:ext>
            </p:extLst>
          </p:nvPr>
        </p:nvGraphicFramePr>
        <p:xfrm>
          <a:off x="8046720" y="3886200"/>
          <a:ext cx="9144000" cy="914400"/>
        </p:xfrm>
        <a:graphic>
          <a:graphicData uri="http://schemas.openxmlformats.org/drawingml/2006/table">
            <a:tbl>
              <a:tblPr firstRow="1" bandRow="1"/>
              <a:tblGrid>
                <a:gridCol w="1828800"/>
                <a:gridCol w="1783080"/>
              </a:tblGrid>
              <a:tr h="292608">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Delay to the DB</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One renewal</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292608">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0 ms</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about 2 s</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92608">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15 ms</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about 7 s</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92608">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30 ms</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about 15 s</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92608">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60 ms</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about 30 s</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15"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CyberArk 26.1 Platform objects; management zones and partitions; Log server; SQL channel; Message Bus; System Requirements (latency).</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Components: switched on server by server</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graphicFrame>
        <p:nvGraphicFramePr>
          <p:cNvPr id="9" name="Comp"/>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2743200"/>
                <a:gridCol w="4892040"/>
                <a:gridCol w="3474720"/>
              </a:tblGrid>
              <a:tr h="292608">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Component</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What it does</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Placement</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292608">
                <a:tc>
                  <a:txBody>
                    <a:bodyPr/>
                    <a:lstStyle/>
                    <a:p>
                      <a:pPr indent="0" marL="0">
                        <a:buNone/>
                      </a:pPr>
                      <a:r>
                        <a:rPr lang="en-US" sz="1050" b="1" dirty="0">
                          <a:solidFill>
                            <a:srgbClr val="1F2A44"/>
                          </a:solidFill>
                          <a:latin typeface="Calibri" pitchFamily="34" charset="0"/>
                          <a:ea typeface="Calibri" pitchFamily="34" charset="-122"/>
                          <a:cs typeface="Calibri" pitchFamily="34" charset="-120"/>
                        </a:rPr>
                        <a:t>Certificate Lifecycle and Monitoring</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Issue, renew, revoke, install; expiry notices</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Back end</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92608">
                <a:tc>
                  <a:txBody>
                    <a:bodyPr/>
                    <a:lstStyle/>
                    <a:p>
                      <a:pPr indent="0" marL="0">
                        <a:buNone/>
                      </a:pPr>
                      <a:r>
                        <a:rPr lang="en-US" sz="1050" b="1" dirty="0">
                          <a:solidFill>
                            <a:srgbClr val="1F2A44"/>
                          </a:solidFill>
                          <a:latin typeface="Calibri" pitchFamily="34" charset="0"/>
                          <a:ea typeface="Calibri" pitchFamily="34" charset="-122"/>
                          <a:cs typeface="Calibri" pitchFamily="34" charset="-120"/>
                        </a:rPr>
                        <a:t>CA Import</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Imports what Microsoft CAs and Amazon Private CA issued</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Needs reach to the CA</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92608">
                <a:tc>
                  <a:txBody>
                    <a:bodyPr/>
                    <a:lstStyle/>
                    <a:p>
                      <a:pPr indent="0" marL="0">
                        <a:buNone/>
                      </a:pPr>
                      <a:r>
                        <a:rPr lang="en-US" sz="1050" b="1" dirty="0">
                          <a:solidFill>
                            <a:srgbClr val="1F2A44"/>
                          </a:solidFill>
                          <a:latin typeface="Calibri" pitchFamily="34" charset="0"/>
                          <a:ea typeface="Calibri" pitchFamily="34" charset="-122"/>
                          <a:cs typeface="Calibri" pitchFamily="34" charset="-120"/>
                        </a:rPr>
                        <a:t>Network and Onboard Discovery</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Scan for TLS listeners; import from F5, NetScaler, IIS, Key Vault, AWS</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Discovery zones per server</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92608">
                <a:tc>
                  <a:txBody>
                    <a:bodyPr/>
                    <a:lstStyle/>
                    <a:p>
                      <a:pPr indent="0" marL="0">
                        <a:buNone/>
                      </a:pPr>
                      <a:r>
                        <a:rPr lang="en-US" sz="1050" b="1" dirty="0">
                          <a:solidFill>
                            <a:srgbClr val="1F2A44"/>
                          </a:solidFill>
                          <a:latin typeface="Calibri" pitchFamily="34" charset="0"/>
                          <a:ea typeface="Calibri" pitchFamily="34" charset="-122"/>
                          <a:cs typeface="Calibri" pitchFamily="34" charset="-120"/>
                        </a:rPr>
                        <a:t>Validation; Revocation Monitoring</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Check installed certificates; CRL and OCSP endpoints at least daily</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Equal endpoint reach on every engine</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92608">
                <a:tc>
                  <a:txBody>
                    <a:bodyPr/>
                    <a:lstStyle/>
                    <a:p>
                      <a:pPr indent="0" marL="0">
                        <a:buNone/>
                      </a:pPr>
                      <a:r>
                        <a:rPr lang="en-US" sz="1050" b="1" dirty="0">
                          <a:solidFill>
                            <a:srgbClr val="1F2A44"/>
                          </a:solidFill>
                          <a:latin typeface="Calibri" pitchFamily="34" charset="0"/>
                          <a:ea typeface="Calibri" pitchFamily="34" charset="-122"/>
                          <a:cs typeface="Calibri" pitchFamily="34" charset="-120"/>
                        </a:rPr>
                        <a:t>Automatic Layout; Bulk Provisioning</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Placement rules and reconciliation; install to many devices at once</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Layout on some servers only</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92608">
                <a:tc>
                  <a:txBody>
                    <a:bodyPr/>
                    <a:lstStyle/>
                    <a:p>
                      <a:pPr indent="0" marL="0">
                        <a:buNone/>
                      </a:pPr>
                      <a:r>
                        <a:rPr lang="en-US" sz="1050" b="1" dirty="0">
                          <a:solidFill>
                            <a:srgbClr val="1F2A44"/>
                          </a:solidFill>
                          <a:latin typeface="Calibri" pitchFamily="34" charset="0"/>
                          <a:ea typeface="Calibri" pitchFamily="34" charset="-122"/>
                          <a:cs typeface="Calibri" pitchFamily="34" charset="-120"/>
                        </a:rPr>
                        <a:t>ACME; EST; SCEP</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Enrollment for web servers, devices and MDM</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ACME non-FIPS; EST 50443; SCEP 80</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29768">
                <a:tc>
                  <a:txBody>
                    <a:bodyPr/>
                    <a:lstStyle/>
                    <a:p>
                      <a:pPr indent="0" marL="0">
                        <a:buNone/>
                      </a:pPr>
                      <a:r>
                        <a:rPr lang="en-US" sz="1050" b="1" dirty="0">
                          <a:solidFill>
                            <a:srgbClr val="1F2A44"/>
                          </a:solidFill>
                          <a:latin typeface="Calibri" pitchFamily="34" charset="0"/>
                          <a:ea typeface="Calibri" pitchFamily="34" charset="-122"/>
                          <a:cs typeface="Calibri" pitchFamily="34" charset="-120"/>
                        </a:rPr>
                        <a:t>Web Console, Web SDK, Auth Server, Client REST</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Consoles, API, tokens, agent check-in</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Web servers</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92608">
                <a:tc>
                  <a:txBody>
                    <a:bodyPr/>
                    <a:lstStyle/>
                    <a:p>
                      <a:pPr indent="0" marL="0">
                        <a:buNone/>
                      </a:pPr>
                      <a:r>
                        <a:rPr lang="en-US" sz="1050" b="1" dirty="0">
                          <a:solidFill>
                            <a:srgbClr val="1F2A44"/>
                          </a:solidFill>
                          <a:latin typeface="Calibri" pitchFamily="34" charset="0"/>
                          <a:ea typeface="Calibri" pitchFamily="34" charset="-122"/>
                          <a:cs typeface="Calibri" pitchFamily="34" charset="-120"/>
                        </a:rPr>
                        <a:t>Reporting; Object Monitoring</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Reports; SSH key and credential expiry</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Back end</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CyberArk 26.1 Components (Product node, answer-file keys); Discovery zones; Revocation monitoring; Automatic layout; System Requirements (ports).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Drivers, agents, the database and the keys</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graphicFrame>
        <p:nvGraphicFramePr>
          <p:cNvPr id="10" name="Parts"/>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2194560"/>
                <a:gridCol w="8915400"/>
              </a:tblGrid>
              <a:tr h="292608">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Part</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What the documentation says</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29768">
                <a:tc>
                  <a:txBody>
                    <a:bodyPr/>
                    <a:lstStyle/>
                    <a:p>
                      <a:pPr indent="0" marL="0">
                        <a:buNone/>
                      </a:pPr>
                      <a:r>
                        <a:rPr lang="en-US" sz="1050" b="1" dirty="0">
                          <a:solidFill>
                            <a:srgbClr val="1F2A44"/>
                          </a:solidFill>
                          <a:latin typeface="Calibri" pitchFamily="34" charset="0"/>
                          <a:ea typeface="Calibri" pitchFamily="34" charset="-122"/>
                          <a:cs typeface="Calibri" pitchFamily="34" charset="-120"/>
                        </a:rPr>
                        <a:t>CA template drivers</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One object per CA and certificate type: Microsoft Enterprise or Standalone CA (DCOM), DigiCert, Sectigo, GlobalSign, HID, ACM; a CA pool of up to three Microsoft CAs fails over</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29768">
                <a:tc>
                  <a:txBody>
                    <a:bodyPr/>
                    <a:lstStyle/>
                    <a:p>
                      <a:pPr indent="0" marL="0">
                        <a:buNone/>
                      </a:pPr>
                      <a:r>
                        <a:rPr lang="en-US" sz="1050" b="1" dirty="0">
                          <a:solidFill>
                            <a:srgbClr val="1F2A44"/>
                          </a:solidFill>
                          <a:latin typeface="Calibri" pitchFamily="34" charset="0"/>
                          <a:ea typeface="Calibri" pitchFamily="34" charset="-122"/>
                          <a:cs typeface="Calibri" pitchFamily="34" charset="-120"/>
                        </a:rPr>
                        <a:t>Application drivers</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Agentless installs: IIS and CAPI (Windows admin on the target), F5, NetScaler, Palo Alto, Apache/PEM, Java, PKCS#12, Key Vault, AWS, HashiCorp Vault; licensed per instance</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92608">
                <a:tc>
                  <a:txBody>
                    <a:bodyPr/>
                    <a:lstStyle/>
                    <a:p>
                      <a:pPr indent="0" marL="0">
                        <a:buNone/>
                      </a:pPr>
                      <a:r>
                        <a:rPr lang="en-US" sz="1050" b="1" dirty="0">
                          <a:solidFill>
                            <a:srgbClr val="1F2A44"/>
                          </a:solidFill>
                          <a:latin typeface="Calibri" pitchFamily="34" charset="0"/>
                          <a:ea typeface="Calibri" pitchFamily="34" charset="-122"/>
                          <a:cs typeface="Calibri" pitchFamily="34" charset="-120"/>
                        </a:rPr>
                        <a:t>Adaptable drivers</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PowerShell-scripted CA, application, discovery, log-channel and credential drivers for anything else</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92608">
                <a:tc>
                  <a:txBody>
                    <a:bodyPr/>
                    <a:lstStyle/>
                    <a:p>
                      <a:pPr indent="0" marL="0">
                        <a:buNone/>
                      </a:pPr>
                      <a:r>
                        <a:rPr lang="en-US" sz="1050" b="1" dirty="0">
                          <a:solidFill>
                            <a:srgbClr val="1F2A44"/>
                          </a:solidFill>
                          <a:latin typeface="Calibri" pitchFamily="34" charset="0"/>
                          <a:ea typeface="Calibri" pitchFamily="34" charset="-122"/>
                          <a:cs typeface="Calibri" pitchFamily="34" charset="-120"/>
                        </a:rPr>
                        <a:t>Server Agent</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Checks in to the platform (it can't be pushed to) and reports only changes; Windows, RHEL, AIX, Solaris, SLES</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29768">
                <a:tc>
                  <a:txBody>
                    <a:bodyPr/>
                    <a:lstStyle/>
                    <a:p>
                      <a:pPr indent="0" marL="0">
                        <a:buNone/>
                      </a:pPr>
                      <a:r>
                        <a:rPr lang="en-US" sz="1050" b="1" dirty="0">
                          <a:solidFill>
                            <a:srgbClr val="1F2A44"/>
                          </a:solidFill>
                          <a:latin typeface="Calibri" pitchFamily="34" charset="0"/>
                          <a:ea typeface="Calibri" pitchFamily="34" charset="-122"/>
                          <a:cs typeface="Calibri" pitchFamily="34" charset="-120"/>
                        </a:rPr>
                        <a:t>SQL Server</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2014–2022, English; one active database for all servers; Always On; Service Broker on; DBO and operational accounts (gMSA supported)</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92608">
                <a:tc>
                  <a:txBody>
                    <a:bodyPr/>
                    <a:lstStyle/>
                    <a:p>
                      <a:pPr indent="0" marL="0">
                        <a:buNone/>
                      </a:pPr>
                      <a:r>
                        <a:rPr lang="en-US" sz="1050" b="1" dirty="0">
                          <a:solidFill>
                            <a:srgbClr val="1F2A44"/>
                          </a:solidFill>
                          <a:latin typeface="Calibri" pitchFamily="34" charset="0"/>
                          <a:ea typeface="Calibri" pitchFamily="34" charset="-122"/>
                          <a:cs typeface="Calibri" pitchFamily="34" charset="-120"/>
                        </a:rPr>
                        <a:t>Keys</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An AES-256 software key in every server's registry, an HSM (Luna, nShield), or both; export the software key or lose the data</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92608">
                <a:tc>
                  <a:txBody>
                    <a:bodyPr/>
                    <a:lstStyle/>
                    <a:p>
                      <a:pPr indent="0" marL="0">
                        <a:buNone/>
                      </a:pPr>
                      <a:r>
                        <a:rPr lang="en-US" sz="1050" b="1" dirty="0">
                          <a:solidFill>
                            <a:srgbClr val="1F2A44"/>
                          </a:solidFill>
                          <a:latin typeface="Calibri" pitchFamily="34" charset="0"/>
                          <a:ea typeface="Calibri" pitchFamily="34" charset="-122"/>
                          <a:cs typeface="Calibri" pitchFamily="34" charset="-120"/>
                        </a:rPr>
                        <a:t>Operational certificate</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Every server ships a self-signed one: replace it with a CA-issued certificate that includes the load balancer's name</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CyberArk 26.1 CA drivers; System Requirements (applications, agents, SQL); Adaptable drivers; agent FAQ; Always On; software key; HSM configuration; operational certificate.</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What the platform connects to</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pic>
        <p:nvPicPr>
          <p:cNvPr id="5" name="Image 0" descr="Integrations of CyberArk Certificate Manager: issuers on the left (AD CS, public CAs, AWS Private CA and ACM); Entra ID, the CyberArk vault and enrollment clients feeding in; installation targets on the right (Windows IIS and CAPI, appliances, keystores, cloud stores, Kubernetes); the SIEM and ServiceNow receiving events and owners.">    </p:cNvPr>
          <p:cNvPicPr>
            <a:picLocks noChangeAspect="1"/>
          </p:cNvPicPr>
          <p:nvPr/>
        </p:nvPicPr>
        <p:blipFill>
          <a:blip r:embed="rId1"/>
          <a:stretch>
            <a:fillRect/>
          </a:stretch>
        </p:blipFill>
        <p:spPr>
          <a:xfrm>
            <a:off x="997045" y="1325880"/>
            <a:ext cx="4863910" cy="4617720"/>
          </a:xfrm>
          <a:prstGeom prst="rect">
            <a:avLst/>
          </a:prstGeom>
        </p:spPr>
      </p:pic>
      <p:sp>
        <p:nvSpPr>
          <p:cNvPr id="6" name="Bound" descr="">
            <a:extLst>
              <a:ext uri="{C183D7F6-B498-43B3-948B-1728B52AA6E4}">
                <adec:decorative xmlns:adec="http://schemas.microsoft.com/office/drawing/2017/decorative" val="1"/>
              </a:ext>
            </a:extLst>
          </p:cNvPr>
          <p:cNvSpPr/>
          <p:nvPr/>
        </p:nvSpPr>
        <p:spPr>
          <a:xfrm>
            <a:off x="6492240" y="1371600"/>
            <a:ext cx="5166360" cy="4526280"/>
          </a:xfrm>
          <a:prstGeom prst="roundRect">
            <a:avLst>
              <a:gd name="adj" fmla="val 1616"/>
            </a:avLst>
          </a:prstGeom>
          <a:solidFill>
            <a:srgbClr val="FBEEDC"/>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7" name="Bound head"/>
          <p:cNvSpPr txBox="1"/>
          <p:nvPr/>
        </p:nvSpPr>
        <p:spPr>
          <a:xfrm>
            <a:off x="6675120" y="1481328"/>
            <a:ext cx="4800600" cy="640080"/>
          </a:xfrm>
          <a:prstGeom prst="rect">
            <a:avLst/>
          </a:prstGeom>
          <a:noFill/>
          <a:ln/>
        </p:spPr>
        <p:txBody>
          <a:bodyPr wrap="square" lIns="0" tIns="0" rIns="0" bIns="0" rtlCol="0" anchor="t"/>
          <a:lstStyle/>
          <a:p>
            <a:pPr indent="0" marL="0">
              <a:buNone/>
            </a:pPr>
            <a:r>
              <a:rPr lang="en-US" sz="1100" b="1" dirty="0">
                <a:solidFill>
                  <a:srgbClr val="64748B"/>
                </a:solidFill>
              </a:rPr>
              <a:t>BOUNDARY QUESTIONS (DASHED LINES)</a:t>
            </a:r>
            <a:endParaRPr lang="en-US" sz="1400" dirty="0"/>
          </a:p>
        </p:txBody>
      </p:sp>
      <p:sp>
        <p:nvSpPr>
          <p:cNvPr id="8" name="Bound list"/>
          <p:cNvSpPr txBox="1"/>
          <p:nvPr/>
        </p:nvSpPr>
        <p:spPr>
          <a:xfrm>
            <a:off x="6675120" y="1810512"/>
            <a:ext cx="4846320" cy="4014216"/>
          </a:xfrm>
          <a:prstGeom prst="rect">
            <a:avLst/>
          </a:prstGeom>
          <a:noFill/>
          <a:ln/>
        </p:spPr>
        <p:txBody>
          <a:bodyPr wrap="square" lIns="0" tIns="0" rIns="0" bIns="0" rtlCol="0" anchor="t"/>
          <a:lstStyle/>
          <a:p>
            <a:pPr marL="342900" indent="-342900">
              <a:spcAft>
                <a:spcPts val="300"/>
              </a:spcAft>
              <a:buSzPct val="100000"/>
              <a:buChar char="•"/>
            </a:pPr>
            <a:r>
              <a:rPr lang="en-US" sz="1150" dirty="0">
                <a:solidFill>
                  <a:schemeClr val="tx2"/>
                </a:solidFill>
              </a:rPr>
              <a:t>Kubernetes discovery runs only through CyberArk's SaaS: use cert-manager's CyberArk issuer against the self-hosted API instead</a:t>
            </a:r>
            <a:endParaRPr lang="en-US" sz="1400" dirty="0"/>
          </a:p>
          <a:p>
            <a:pPr marL="342900" indent="-342900">
              <a:spcAft>
                <a:spcPts val="300"/>
              </a:spcAft>
              <a:buSzPct val="100000"/>
              <a:buChar char="•"/>
            </a:pPr>
            <a:r>
              <a:rPr lang="en-US" sz="1150" dirty="0">
                <a:solidFill>
                  <a:schemeClr val="tx2"/>
                </a:solidFill>
              </a:rPr>
              <a:t>ServiceNow: no CyberArk-built app; a third-party app connects through a MID Server</a:t>
            </a:r>
            <a:endParaRPr lang="en-US" sz="1400" dirty="0"/>
          </a:p>
          <a:p>
            <a:pPr marL="342900" indent="-342900">
              <a:spcAft>
                <a:spcPts val="300"/>
              </a:spcAft>
              <a:buSzPct val="100000"/>
              <a:buChar char="•"/>
            </a:pPr>
            <a:r>
              <a:rPr lang="en-US" sz="1150" dirty="0">
                <a:solidFill>
                  <a:schemeClr val="tx2"/>
                </a:solidFill>
              </a:rPr>
              <a:t>Intune's SCEP integration needs outbound HTTPS to Azure from every server; no government-cloud endpoints are documented</a:t>
            </a:r>
            <a:endParaRPr lang="en-US" sz="1400" dirty="0"/>
          </a:p>
          <a:p>
            <a:pPr marL="342900" indent="-342900">
              <a:spcAft>
                <a:spcPts val="300"/>
              </a:spcAft>
              <a:buSzPct val="100000"/>
              <a:buChar char="•"/>
            </a:pPr>
            <a:r>
              <a:rPr lang="en-US" sz="1150" dirty="0">
                <a:solidFill>
                  <a:schemeClr val="tx2"/>
                </a:solidFill>
              </a:rPr>
              <a:t>SIEM over syslog-TLS: the collector's certificate needs its IP address in the SAN</a:t>
            </a:r>
            <a:endParaRPr lang="en-US" sz="1400" dirty="0"/>
          </a:p>
        </p:txBody>
      </p:sp>
      <p:sp>
        <p:nvSpPr>
          <p:cNvPr id="9"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CyberArk 26.1 CA drivers; SSO and SCIM; Credential Provider; Kubernetes discovery; Intune integration; syslog channel; cert-manager CyberArk issuer; ServiceNow Store.</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A two-site reference topology</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Design label"/>
          <p:cNvSpPr txBox="1"/>
          <p:nvPr/>
        </p:nvSpPr>
        <p:spPr>
          <a:xfrm>
            <a:off x="548640" y="1280160"/>
            <a:ext cx="11109960" cy="256032"/>
          </a:xfrm>
          <a:prstGeom prst="rect">
            <a:avLst/>
          </a:prstGeom>
          <a:noFill/>
          <a:ln/>
        </p:spPr>
        <p:txBody>
          <a:bodyPr wrap="square" lIns="0" tIns="0" rIns="0" bIns="0" rtlCol="0" anchor="ctr"/>
          <a:lstStyle/>
          <a:p>
            <a:pPr indent="0" marL="0">
              <a:buNone/>
            </a:pPr>
            <a:r>
              <a:rPr lang="en-US" sz="1100" b="1" dirty="0">
                <a:solidFill>
                  <a:srgbClr val="B91C1C"/>
                </a:solidFill>
              </a:rPr>
              <a:t>PROGRAM DESIGN GUIDANCE — BUILT FROM DOCUMENTED CONSTRAINTS</a:t>
            </a:r>
            <a:endParaRPr lang="en-US" sz="1100" dirty="0"/>
          </a:p>
        </p:txBody>
      </p:sp>
      <p:pic>
        <p:nvPicPr>
          <p:cNvPr id="6" name="Image 0" descr="A two-site reference topology: in each site a web services server, a separate non-FIPS ACME server, a back-end server and a log server, behind shared load-balancer names; a Message Bus mesh between all eight servers; one SQL Server Always On availability group across the sites; and an HSM pair.">    </p:cNvPr>
          <p:cNvPicPr>
            <a:picLocks noChangeAspect="1"/>
          </p:cNvPicPr>
          <p:nvPr/>
        </p:nvPicPr>
        <p:blipFill>
          <a:blip r:embed="rId1"/>
          <a:stretch>
            <a:fillRect/>
          </a:stretch>
        </p:blipFill>
        <p:spPr>
          <a:xfrm>
            <a:off x="970015" y="1600200"/>
            <a:ext cx="5832370" cy="4343400"/>
          </a:xfrm>
          <a:prstGeom prst="rect">
            <a:avLst/>
          </a:prstGeom>
        </p:spPr>
      </p:pic>
      <p:sp>
        <p:nvSpPr>
          <p:cNvPr id="7" name="Cautions" descr="">
            <a:extLst>
              <a:ext uri="{C183D7F6-B498-43B3-948B-1728B52AA6E4}">
                <adec:decorative xmlns:adec="http://schemas.microsoft.com/office/drawing/2017/decorative" val="1"/>
              </a:ext>
            </a:extLst>
          </p:cNvPr>
          <p:cNvSpPr/>
          <p:nvPr/>
        </p:nvSpPr>
        <p:spPr>
          <a:xfrm>
            <a:off x="7406640" y="1600200"/>
            <a:ext cx="4251960" cy="4343400"/>
          </a:xfrm>
          <a:prstGeom prst="roundRect">
            <a:avLst>
              <a:gd name="adj" fmla="val 1720"/>
            </a:avLst>
          </a:prstGeom>
          <a:solidFill>
            <a:srgbClr val="FBE4E4"/>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8" name="Cautions head"/>
          <p:cNvSpPr txBox="1"/>
          <p:nvPr/>
        </p:nvSpPr>
        <p:spPr>
          <a:xfrm>
            <a:off x="7589520" y="1709928"/>
            <a:ext cx="3886200" cy="640080"/>
          </a:xfrm>
          <a:prstGeom prst="rect">
            <a:avLst/>
          </a:prstGeom>
          <a:noFill/>
          <a:ln/>
        </p:spPr>
        <p:txBody>
          <a:bodyPr wrap="square" lIns="0" tIns="0" rIns="0" bIns="0" rtlCol="0" anchor="t"/>
          <a:lstStyle/>
          <a:p>
            <a:pPr indent="0" marL="0">
              <a:buNone/>
            </a:pPr>
            <a:r>
              <a:rPr lang="en-US" sz="1100" b="1" dirty="0">
                <a:solidFill>
                  <a:srgbClr val="64748B"/>
                </a:solidFill>
              </a:rPr>
              <a:t>CONFIRM BEFORE YOU BUILD</a:t>
            </a:r>
            <a:endParaRPr lang="en-US" sz="1400" dirty="0"/>
          </a:p>
        </p:txBody>
      </p:sp>
      <p:sp>
        <p:nvSpPr>
          <p:cNvPr id="9" name="Cautions list"/>
          <p:cNvSpPr txBox="1"/>
          <p:nvPr/>
        </p:nvSpPr>
        <p:spPr>
          <a:xfrm>
            <a:off x="7589520" y="2039112"/>
            <a:ext cx="3931920" cy="3831336"/>
          </a:xfrm>
          <a:prstGeom prst="rect">
            <a:avLst/>
          </a:prstGeom>
          <a:noFill/>
          <a:ln/>
        </p:spPr>
        <p:txBody>
          <a:bodyPr wrap="square" lIns="0" tIns="0" rIns="0" bIns="0" rtlCol="0" anchor="t"/>
          <a:lstStyle/>
          <a:p>
            <a:pPr marL="342900" indent="-342900">
              <a:spcAft>
                <a:spcPts val="300"/>
              </a:spcAft>
              <a:buSzPct val="100000"/>
              <a:buChar char="•"/>
            </a:pPr>
            <a:r>
              <a:rPr lang="en-US" sz="1150" dirty="0">
                <a:solidFill>
                  <a:schemeClr val="tx2"/>
                </a:solidFill>
              </a:rPr>
              <a:t>CyberArk doesn't say whether FIPS and non-FIPS servers can share one cluster; if not, ACME is its own small cluster</a:t>
            </a:r>
            <a:endParaRPr lang="en-US" sz="1400" dirty="0"/>
          </a:p>
          <a:p>
            <a:pPr marL="342900" indent="-342900">
              <a:spcAft>
                <a:spcPts val="300"/>
              </a:spcAft>
              <a:buSzPct val="100000"/>
              <a:buChar char="•"/>
            </a:pPr>
            <a:r>
              <a:rPr lang="en-US" sz="1150" dirty="0">
                <a:solidFill>
                  <a:schemeClr val="tx2"/>
                </a:solidFill>
              </a:rPr>
              <a:t>Keep site B close: every renewal round-trips to the one active database</a:t>
            </a:r>
            <a:endParaRPr lang="en-US" sz="1400" dirty="0"/>
          </a:p>
          <a:p>
            <a:pPr marL="342900" indent="-342900">
              <a:spcAft>
                <a:spcPts val="300"/>
              </a:spcAft>
              <a:buSzPct val="100000"/>
              <a:buChar char="•"/>
            </a:pPr>
            <a:r>
              <a:rPr lang="en-US" sz="1150" dirty="0">
                <a:solidFill>
                  <a:schemeClr val="tx2"/>
                </a:solidFill>
              </a:rPr>
              <a:t>Port 8883 open between all servers, both ways, across sites</a:t>
            </a:r>
            <a:endParaRPr lang="en-US" sz="1400" dirty="0"/>
          </a:p>
          <a:p>
            <a:pPr marL="342900" indent="-342900">
              <a:spcAft>
                <a:spcPts val="300"/>
              </a:spcAft>
              <a:buSzPct val="100000"/>
              <a:buChar char="•"/>
            </a:pPr>
            <a:r>
              <a:rPr lang="en-US" sz="1150" dirty="0">
                <a:solidFill>
                  <a:schemeClr val="tx2"/>
                </a:solidFill>
              </a:rPr>
              <a:t>Whether non-web servers need IIS: the vendor's pages disagree</a:t>
            </a:r>
            <a:endParaRPr lang="en-US" sz="1400" dirty="0"/>
          </a:p>
        </p:txBody>
      </p:sp>
      <p:sp>
        <p:nvSpPr>
          <p:cNvPr id="10"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component research brief §4 (design guidance); CyberArk 26.1 Deployment considerations; Always On; Message Bus; System Requirements; HSM configuration.</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One certificate's journey through the platform</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pic>
        <p:nvPicPr>
          <p:cNvPr id="5" name="Image 0" descr="One certificate's journey: discover, place and own, enroll, provision, validate and monitor, renew back to enrollment before expiry, and revoke or retire when no longer needed; every step is logged to the SIEM and the inventory is the assessor's evidence.">    </p:cNvPr>
          <p:cNvPicPr>
            <a:picLocks noChangeAspect="1"/>
          </p:cNvPicPr>
          <p:nvPr/>
        </p:nvPicPr>
        <p:blipFill>
          <a:blip r:embed="rId1"/>
          <a:stretch>
            <a:fillRect/>
          </a:stretch>
        </p:blipFill>
        <p:spPr>
          <a:xfrm>
            <a:off x="1017004" y="1371600"/>
            <a:ext cx="10173232" cy="4206240"/>
          </a:xfrm>
          <a:prstGeom prst="rect">
            <a:avLst/>
          </a:prstGeom>
        </p:spPr>
      </p:pic>
      <p:sp>
        <p:nvSpPr>
          <p:cNvPr id="6"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CyberArk 26.1 Components; Engine partitioning (lifecycle stages); Discovery; Placement rules; Validation; Revocation monitoring; Log server; Book 07, Ch 08.</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217920" cy="1920240"/>
          </a:xfrm>
          <a:prstGeom prst="rect">
            <a:avLst/>
          </a:prstGeom>
          <a:noFill/>
          <a:ln/>
        </p:spPr>
        <p:txBody>
          <a:bodyPr wrap="square" lIns="0" tIns="0" rIns="0" bIns="0" rtlCol="0" anchor="b"/>
          <a:lstStyle/>
          <a:p>
            <a:pPr algn="l" indent="0" marL="0">
              <a:buNone/>
            </a:pPr>
            <a:r>
              <a:rPr lang="en-US" sz="4400" b="1" dirty="0">
                <a:solidFill>
                  <a:schemeClr val="tx1"/>
                </a:solidFill>
                <a:latin typeface="Cambria" pitchFamily="34" charset="0"/>
                <a:ea typeface="Cambria" pitchFamily="34" charset="-122"/>
                <a:cs typeface="Cambria" pitchFamily="34" charset="-120"/>
              </a:rPr>
              <a:t>Part 1: Build the platform</a:t>
            </a:r>
            <a:endParaRPr lang="en-US" sz="4400" dirty="0"/>
          </a:p>
        </p:txBody>
      </p:sp>
      <p:sp>
        <p:nvSpPr>
          <p:cNvPr id="3" name="Text 0"/>
          <p:cNvSpPr/>
          <p:nvPr>
            <p:ph idx="101" type="body" hasCustomPrompt="1"/>
          </p:nvPr>
        </p:nvSpPr>
        <p:spPr>
          <a:xfrm>
            <a:off x="731520" y="3520440"/>
            <a:ext cx="6035040" cy="822960"/>
          </a:xfrm>
          <a:prstGeom prst="rect">
            <a:avLst/>
          </a:prstGeom>
          <a:noFill/>
          <a:ln/>
        </p:spPr>
        <p:txBody>
          <a:bodyPr wrap="square" lIns="0" tIns="0" rIns="0" bIns="0" rtlCol="0" anchor="t"/>
          <a:lstStyle/>
          <a:p>
            <a:pPr indent="0" marL="0">
              <a:buNone/>
            </a:pPr>
            <a:r>
              <a:rPr lang="en-US" sz="2200" dirty="0">
                <a:solidFill>
                  <a:schemeClr val="accent2"/>
                </a:solidFill>
              </a:rPr>
              <a:t>Implementation guide  ·  Part 1 of 4</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indent="0" marL="0">
              <a:buNone/>
            </a:pPr>
            <a:r>
              <a:rPr lang="en-US" sz="1600" dirty="0">
                <a:solidFill>
                  <a:srgbClr val="64748B"/>
                </a:solidFill>
              </a:rPr>
              <a:t>Presented by  </a:t>
            </a:r>
            <a:pPr indent="0" marL="0">
              <a:buNone/>
            </a:pP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indent="0" marL="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Part contents"/>
          <p:cNvSpPr txBox="1"/>
          <p:nvPr/>
        </p:nvSpPr>
        <p:spPr>
          <a:xfrm>
            <a:off x="731520" y="4251960"/>
            <a:ext cx="6766560" cy="1280160"/>
          </a:xfrm>
          <a:prstGeom prst="rect">
            <a:avLst/>
          </a:prstGeom>
          <a:noFill/>
          <a:ln/>
        </p:spPr>
        <p:txBody>
          <a:bodyPr wrap="square" lIns="0" tIns="0" rIns="0" bIns="0" rtlCol="0" anchor="t"/>
          <a:lstStyle/>
          <a:p>
            <a:pPr indent="0" marL="0">
              <a:spcAft>
                <a:spcPts val="300"/>
              </a:spcAft>
              <a:buNone/>
            </a:pPr>
            <a:r>
              <a:rPr lang="en-US" sz="1200" b="1" dirty="0">
                <a:solidFill>
                  <a:srgbClr val="64748B"/>
                </a:solidFill>
              </a:rPr>
              <a:t>IN THIS PART  ·  ABOUT 3 MINUTES</a:t>
            </a:r>
            <a:endParaRPr lang="en-US" sz="1400" dirty="0"/>
          </a:p>
          <a:p>
            <a:pPr marL="342900" indent="-342900">
              <a:spcAft>
                <a:spcPts val="300"/>
              </a:spcAft>
              <a:buSzPct val="100000"/>
              <a:buChar char="•"/>
            </a:pPr>
            <a:r>
              <a:rPr lang="en-US" sz="1500" dirty="0">
                <a:solidFill>
                  <a:srgbClr val="334155"/>
                </a:solidFill>
              </a:rPr>
              <a:t>Architecture, sizing and high availability</a:t>
            </a:r>
            <a:endParaRPr lang="en-US" sz="1400" dirty="0"/>
          </a:p>
          <a:p>
            <a:pPr marL="342900" indent="-342900">
              <a:spcAft>
                <a:spcPts val="300"/>
              </a:spcAft>
              <a:buSzPct val="100000"/>
              <a:buChar char="•"/>
            </a:pPr>
            <a:r>
              <a:rPr lang="en-US" sz="1500" dirty="0">
                <a:solidFill>
                  <a:srgbClr val="334155"/>
                </a:solidFill>
              </a:rPr>
              <a:t>FIPS posture and console sign-in</a:t>
            </a:r>
            <a:endParaRPr lang="en-US" sz="1400" dirty="0"/>
          </a:p>
          <a:p>
            <a:pPr marL="342900" indent="-342900">
              <a:spcAft>
                <a:spcPts val="300"/>
              </a:spcAft>
              <a:buSzPct val="100000"/>
              <a:buChar char="•"/>
            </a:pPr>
            <a:r>
              <a:rPr lang="en-US" sz="1500" dirty="0">
                <a:solidFill>
                  <a:srgbClr val="334155"/>
                </a:solidFill>
              </a:rPr>
              <a:t>Hardening, service accounts, backup and recovery</a:t>
            </a:r>
            <a:endParaRPr lang="en-US" sz="1400" dirty="0"/>
          </a:p>
        </p:txBody>
      </p:sp>
      <p:sp>
        <p:nvSpPr>
          <p:cNvPr id="7" name="Sources"/>
          <p:cNvSpPr txBox="1"/>
          <p:nvPr/>
        </p:nvSpPr>
        <p:spPr>
          <a:xfrm>
            <a:off x="548640" y="5559552"/>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CyberArk 26.1 System Requirements, Installation Guide, security hardening and disaster recovery pages; NIST CMVP; Book 07 Ch 05.</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Architecture: cluster, components and availability</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Cluster" descr="">
            <a:extLst>
              <a:ext uri="{C183D7F6-B498-43B3-948B-1728B52AA6E4}">
                <adec:decorative xmlns:adec="http://schemas.microsoft.com/office/drawing/2017/decorative" val="1"/>
              </a:ext>
            </a:extLst>
          </p:cNvPr>
          <p:cNvSpPr/>
          <p:nvPr/>
        </p:nvSpPr>
        <p:spPr>
          <a:xfrm>
            <a:off x="548640" y="1371600"/>
            <a:ext cx="5486400" cy="3383280"/>
          </a:xfrm>
          <a:prstGeom prst="roundRect">
            <a:avLst>
              <a:gd name="adj" fmla="val 2162"/>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6" name="Cluster head"/>
          <p:cNvSpPr txBox="1"/>
          <p:nvPr/>
        </p:nvSpPr>
        <p:spPr>
          <a:xfrm>
            <a:off x="731520" y="1481328"/>
            <a:ext cx="5120640" cy="640080"/>
          </a:xfrm>
          <a:prstGeom prst="rect">
            <a:avLst/>
          </a:prstGeom>
          <a:noFill/>
          <a:ln/>
        </p:spPr>
        <p:txBody>
          <a:bodyPr wrap="square" lIns="0" tIns="0" rIns="0" bIns="0" rtlCol="0" anchor="t"/>
          <a:lstStyle/>
          <a:p>
            <a:pPr indent="0" marL="0">
              <a:buNone/>
            </a:pPr>
            <a:r>
              <a:rPr lang="en-US" sz="1100" b="1" dirty="0">
                <a:solidFill>
                  <a:srgbClr val="64748B"/>
                </a:solidFill>
              </a:rPr>
              <a:t>HOW A CLUSTER WORKS</a:t>
            </a:r>
            <a:endParaRPr lang="en-US" sz="1400" dirty="0"/>
          </a:p>
        </p:txBody>
      </p:sp>
      <p:sp>
        <p:nvSpPr>
          <p:cNvPr id="7" name="Cluster list"/>
          <p:cNvSpPr txBox="1"/>
          <p:nvPr/>
        </p:nvSpPr>
        <p:spPr>
          <a:xfrm>
            <a:off x="731520" y="1810512"/>
            <a:ext cx="5166360" cy="2871216"/>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2"/>
                </a:solidFill>
              </a:rPr>
              <a:t>Several platform servers on one database form a cluster; an MQTT Message Bus links them (TLS on 8883)</a:t>
            </a:r>
            <a:endParaRPr lang="en-US" sz="1400" dirty="0"/>
          </a:p>
          <a:p>
            <a:pPr marL="342900" indent="-342900">
              <a:spcAft>
                <a:spcPts val="300"/>
              </a:spcAft>
              <a:buSzPct val="100000"/>
              <a:buChar char="•"/>
            </a:pPr>
            <a:r>
              <a:rPr lang="en-US" sz="1200" dirty="0">
                <a:solidFill>
                  <a:schemeClr val="tx2"/>
                </a:solidFill>
              </a:rPr>
              <a:t>Components switch on per server in the Configuration Console: CA Import, Lifecycle and Monitoring, Revocation Monitoring, Network Discovery, EST, SCEP, ACME, Reporting</a:t>
            </a:r>
            <a:endParaRPr lang="en-US" sz="1400" dirty="0"/>
          </a:p>
          <a:p>
            <a:pPr marL="342900" indent="-342900">
              <a:spcAft>
                <a:spcPts val="300"/>
              </a:spcAft>
              <a:buSzPct val="100000"/>
              <a:buChar char="•"/>
            </a:pPr>
            <a:r>
              <a:rPr lang="en-US" sz="1200" dirty="0">
                <a:solidFill>
                  <a:schemeClr val="tx2"/>
                </a:solidFill>
              </a:rPr>
              <a:t>Processing engines, discovery zones and per-server components keep work on chosen servers</a:t>
            </a:r>
            <a:endParaRPr lang="en-US" sz="1400" dirty="0"/>
          </a:p>
          <a:p>
            <a:pPr marL="342900" indent="-342900">
              <a:spcAft>
                <a:spcPts val="300"/>
              </a:spcAft>
              <a:buSzPct val="100000"/>
              <a:buChar char="•"/>
            </a:pPr>
            <a:r>
              <a:rPr lang="en-US" sz="1200" dirty="0">
                <a:solidFill>
                  <a:schemeClr val="tx2"/>
                </a:solidFill>
              </a:rPr>
              <a:t>Consoles: web console (Aperture), Policy Tree, and the MMC-based Configuration Console</a:t>
            </a:r>
            <a:endParaRPr lang="en-US" sz="1400" dirty="0"/>
          </a:p>
        </p:txBody>
      </p:sp>
      <p:graphicFrame>
        <p:nvGraphicFramePr>
          <p:cNvPr id="15" name="Sizing"/>
          <p:cNvGraphicFramePr>
            <a:graphicFrameLocks noGrp="1"/>
          </p:cNvGraphicFramePr>
          <p:nvPr>
            <p:extLst>
              <p:ext uri="{D42A27DB-BD31-4B8C-83A1-F6EECF244321}">
                <p14:modId xmlns:p14="http://schemas.microsoft.com/office/powerpoint/2010/main" val="1579011935"/>
              </p:ext>
            </p:extLst>
          </p:nvPr>
        </p:nvGraphicFramePr>
        <p:xfrm>
          <a:off x="6172200" y="1371600"/>
          <a:ext cx="9144000" cy="914400"/>
        </p:xfrm>
        <a:graphic>
          <a:graphicData uri="http://schemas.openxmlformats.org/drawingml/2006/table">
            <a:tbl>
              <a:tblPr firstRow="1" bandRow="1"/>
              <a:tblGrid>
                <a:gridCol w="2148840"/>
                <a:gridCol w="3337560"/>
              </a:tblGrid>
              <a:tr h="292608">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Active certificates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Servers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29260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Up to 50,000</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2</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Up to 250,000</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6: 2 log and event, 2 web services, 2 back end</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1 million and more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Designed with CyberArk; SQL Enterprise required</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9260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Each server</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4 cores, 16 GB RAM, 5 GB disk</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9260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Agents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2 more servers per 40,000 managed servers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9" name="HA"/>
          <p:cNvSpPr txBox="1"/>
          <p:nvPr/>
        </p:nvSpPr>
        <p:spPr>
          <a:xfrm>
            <a:off x="548640" y="4892040"/>
            <a:ext cx="11109960" cy="548640"/>
          </a:xfrm>
          <a:prstGeom prst="rect">
            <a:avLst/>
          </a:prstGeom>
          <a:noFill/>
          <a:ln/>
        </p:spPr>
        <p:txBody>
          <a:bodyPr wrap="square" lIns="0" tIns="0" rIns="0" bIns="0" rtlCol="0" anchor="t"/>
          <a:lstStyle/>
          <a:p>
            <a:pPr indent="0" marL="0">
              <a:buNone/>
            </a:pPr>
            <a:r>
              <a:rPr lang="en-US" sz="1200" b="1" dirty="0">
                <a:solidFill>
                  <a:srgbClr val="0F766E"/>
                </a:solidFill>
              </a:rPr>
              <a:t>Availability: </a:t>
            </a:r>
            <a:pPr indent="0" marL="0">
              <a:buNone/>
            </a:pPr>
            <a:r>
              <a:rPr lang="en-US" sz="1200" dirty="0">
                <a:solidFill>
                  <a:schemeClr val="tx2"/>
                </a:solidFill>
              </a:rPr>
              <a:t>SQL Always On; at least two servers per role; a load balancer in front of web services, which rolling upgrades need; a Microsoft CA Pool of up to three CA templates fails over after one stops answering (60-minute hold-off).</a:t>
            </a:r>
            <a:endParaRPr lang="en-US" sz="1200" dirty="0"/>
          </a:p>
        </p:txBody>
      </p:sp>
      <p:sp>
        <p:nvSpPr>
          <p:cNvPr id="10" name="Ports"/>
          <p:cNvSpPr txBox="1"/>
          <p:nvPr/>
        </p:nvSpPr>
        <p:spPr>
          <a:xfrm>
            <a:off x="548640" y="5440680"/>
            <a:ext cx="11109960" cy="548640"/>
          </a:xfrm>
          <a:prstGeom prst="rect">
            <a:avLst/>
          </a:prstGeom>
          <a:noFill/>
          <a:ln/>
        </p:spPr>
        <p:txBody>
          <a:bodyPr wrap="square" lIns="0" tIns="0" rIns="0" bIns="0" rtlCol="0" anchor="t"/>
          <a:lstStyle/>
          <a:p>
            <a:pPr indent="0" marL="0">
              <a:buNone/>
            </a:pPr>
            <a:r>
              <a:rPr lang="en-US" sz="1200" b="1" dirty="0">
                <a:solidFill>
                  <a:srgbClr val="1F2A44"/>
                </a:solidFill>
              </a:rPr>
              <a:t>Ports: </a:t>
            </a:r>
            <a:pPr indent="0" marL="0">
              <a:buNone/>
            </a:pPr>
            <a:r>
              <a:rPr lang="en-US" sz="1200" dirty="0">
                <a:solidFill>
                  <a:schemeClr val="tx2"/>
                </a:solidFill>
              </a:rPr>
              <a:t>443; 80 for SCEP only; 50443 EST; 8883 bus; 135 + 49152–65535 DCOM to AD CS; 1433 SQL; 514 syslog; 22, 25/587, 161, 445 as used.</a:t>
            </a:r>
            <a:endParaRPr lang="en-US" sz="1200" dirty="0"/>
          </a:p>
        </p:txBody>
      </p:sp>
      <p:sp>
        <p:nvSpPr>
          <p:cNvPr id="11"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CyberArk 26.1 System Requirements; Installation Guide pp. 54, 86–94; Rolling upgrades; Microsoft CA Pool; Always On high availability.</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FIPS posture: what you can and can't claim</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sp>
        <p:nvSpPr>
          <p:cNvPr id="5" name="Doc" descr="">
            <a:extLst>
              <a:ext uri="{C183D7F6-B498-43B3-948B-1728B52AA6E4}">
                <adec:decorative xmlns:adec="http://schemas.microsoft.com/office/drawing/2017/decorative" val="1"/>
              </a:ext>
            </a:extLst>
          </p:cNvPr>
          <p:cNvSpPr/>
          <p:nvPr/>
        </p:nvSpPr>
        <p:spPr>
          <a:xfrm>
            <a:off x="548640" y="1371600"/>
            <a:ext cx="5486400" cy="3246120"/>
          </a:xfrm>
          <a:prstGeom prst="roundRect">
            <a:avLst>
              <a:gd name="adj" fmla="val 2254"/>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6" name="Doc head"/>
          <p:cNvSpPr txBox="1"/>
          <p:nvPr/>
        </p:nvSpPr>
        <p:spPr>
          <a:xfrm>
            <a:off x="731520" y="1481328"/>
            <a:ext cx="5120640" cy="640080"/>
          </a:xfrm>
          <a:prstGeom prst="rect">
            <a:avLst/>
          </a:prstGeom>
          <a:noFill/>
          <a:ln/>
        </p:spPr>
        <p:txBody>
          <a:bodyPr wrap="square" lIns="0" tIns="0" rIns="0" bIns="0" rtlCol="0" anchor="t"/>
          <a:lstStyle/>
          <a:p>
            <a:pPr indent="0" marL="0">
              <a:buNone/>
            </a:pPr>
            <a:r>
              <a:rPr lang="en-US" sz="1100" b="1" dirty="0">
                <a:solidFill>
                  <a:srgbClr val="64748B"/>
                </a:solidFill>
              </a:rPr>
              <a:t>WHAT CYBERARK DOCUMENTS</a:t>
            </a:r>
            <a:endParaRPr lang="en-US" sz="1400" dirty="0"/>
          </a:p>
        </p:txBody>
      </p:sp>
      <p:sp>
        <p:nvSpPr>
          <p:cNvPr id="7" name="Doc list"/>
          <p:cNvSpPr txBox="1"/>
          <p:nvPr/>
        </p:nvSpPr>
        <p:spPr>
          <a:xfrm>
            <a:off x="731520" y="1810512"/>
            <a:ext cx="5166360" cy="2734056"/>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2"/>
                </a:solidFill>
              </a:rPr>
              <a:t>Supports Windows servers with FIPS mode on, set by the Windows "use FIPS compliant algorithms" policy</a:t>
            </a:r>
            <a:endParaRPr lang="en-US" sz="1400" dirty="0"/>
          </a:p>
          <a:p>
            <a:pPr marL="342900" indent="-342900">
              <a:spcAft>
                <a:spcPts val="300"/>
              </a:spcAft>
              <a:buSzPct val="100000"/>
              <a:buChar char="•"/>
            </a:pPr>
            <a:r>
              <a:rPr lang="en-US" sz="1200" dirty="0">
                <a:solidFill>
                  <a:schemeClr val="tx2"/>
                </a:solidFill>
              </a:rPr>
              <a:t>Advises FIPS mode "only ... if required" and links Microsoft's post not recommending it</a:t>
            </a:r>
            <a:endParaRPr lang="en-US" sz="1400" dirty="0"/>
          </a:p>
          <a:p>
            <a:pPr marL="342900" indent="-342900">
              <a:spcAft>
                <a:spcPts val="300"/>
              </a:spcAft>
              <a:buSzPct val="100000"/>
              <a:buChar char="•"/>
            </a:pPr>
            <a:r>
              <a:rPr lang="en-US" sz="1200" dirty="0">
                <a:solidFill>
                  <a:schemeClr val="tx2"/>
                </a:solidFill>
              </a:rPr>
              <a:t>Database secrets encrypted by an AES-256 software key, an HSM key, or both</a:t>
            </a:r>
            <a:endParaRPr lang="en-US" sz="1400" dirty="0"/>
          </a:p>
          <a:p>
            <a:pPr marL="342900" indent="-342900">
              <a:spcAft>
                <a:spcPts val="300"/>
              </a:spcAft>
              <a:buSzPct val="100000"/>
              <a:buChar char="•"/>
            </a:pPr>
            <a:r>
              <a:rPr lang="en-US" sz="1200" dirty="0">
                <a:solidFill>
                  <a:schemeClr val="tx2"/>
                </a:solidFill>
              </a:rPr>
              <a:t>HSMs: Entrust nShield Connect, Thales Luna (incl. Azure Dedicated HSM); self-certified list incl. AWS CloudHSM</a:t>
            </a:r>
            <a:endParaRPr lang="en-US" sz="1400" dirty="0"/>
          </a:p>
        </p:txBody>
      </p:sp>
      <p:sp>
        <p:nvSpPr>
          <p:cNvPr id="8" name="Claim" descr="">
            <a:extLst>
              <a:ext uri="{C183D7F6-B498-43B3-948B-1728B52AA6E4}">
                <adec:decorative xmlns:adec="http://schemas.microsoft.com/office/drawing/2017/decorative" val="1"/>
              </a:ext>
            </a:extLst>
          </p:cNvPr>
          <p:cNvSpPr/>
          <p:nvPr/>
        </p:nvSpPr>
        <p:spPr>
          <a:xfrm>
            <a:off x="6172200" y="1371600"/>
            <a:ext cx="5486400" cy="3246120"/>
          </a:xfrm>
          <a:prstGeom prst="roundRect">
            <a:avLst>
              <a:gd name="adj" fmla="val 2254"/>
            </a:avLst>
          </a:prstGeom>
          <a:solidFill>
            <a:srgbClr val="FBE4E4"/>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9" name="Claim head"/>
          <p:cNvSpPr txBox="1"/>
          <p:nvPr/>
        </p:nvSpPr>
        <p:spPr>
          <a:xfrm>
            <a:off x="6355080" y="1481328"/>
            <a:ext cx="5120640" cy="640080"/>
          </a:xfrm>
          <a:prstGeom prst="rect">
            <a:avLst/>
          </a:prstGeom>
          <a:noFill/>
          <a:ln/>
        </p:spPr>
        <p:txBody>
          <a:bodyPr wrap="square" lIns="0" tIns="0" rIns="0" bIns="0" rtlCol="0" anchor="t"/>
          <a:lstStyle/>
          <a:p>
            <a:pPr indent="0" marL="0">
              <a:buNone/>
            </a:pPr>
            <a:r>
              <a:rPr lang="en-US" sz="1100" b="1" dirty="0">
                <a:solidFill>
                  <a:srgbClr val="64748B"/>
                </a:solidFill>
              </a:rPr>
              <a:t>WHAT NOT TO CLAIM</a:t>
            </a:r>
            <a:endParaRPr lang="en-US" sz="1400" dirty="0"/>
          </a:p>
        </p:txBody>
      </p:sp>
      <p:sp>
        <p:nvSpPr>
          <p:cNvPr id="10" name="Claim list"/>
          <p:cNvSpPr txBox="1"/>
          <p:nvPr/>
        </p:nvSpPr>
        <p:spPr>
          <a:xfrm>
            <a:off x="6355080" y="1810512"/>
            <a:ext cx="5166360" cy="2734056"/>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2"/>
                </a:solidFill>
              </a:rPr>
              <a:t>No CMVP certificate names Trust Protection Foundation or Certificate Manager (vendor "Venafi": none)</a:t>
            </a:r>
            <a:endParaRPr lang="en-US" sz="1400" dirty="0"/>
          </a:p>
          <a:p>
            <a:pPr marL="342900" indent="-342900">
              <a:spcAft>
                <a:spcPts val="300"/>
              </a:spcAft>
              <a:buSzPct val="100000"/>
              <a:buChar char="•"/>
            </a:pPr>
            <a:r>
              <a:rPr lang="en-US" sz="1200" dirty="0">
                <a:solidFill>
                  <a:schemeClr val="tx2"/>
                </a:solidFill>
              </a:rPr>
              <a:t>CyberArk's #5205 and #5122 (FIPS 140-3, Level 1) don't name the product: don't cite them for it without a vendor letter</a:t>
            </a:r>
            <a:endParaRPr lang="en-US" sz="1400" dirty="0"/>
          </a:p>
          <a:p>
            <a:pPr marL="342900" indent="-342900">
              <a:spcAft>
                <a:spcPts val="300"/>
              </a:spcAft>
              <a:buSzPct val="100000"/>
              <a:buChar char="•"/>
            </a:pPr>
            <a:r>
              <a:rPr lang="en-US" sz="1200" dirty="0">
                <a:solidFill>
                  <a:schemeClr val="tx2"/>
                </a:solidFill>
              </a:rPr>
              <a:t>No current Common Criteria certificate: TPP 23.1 was archived July 29, 2026</a:t>
            </a:r>
            <a:endParaRPr lang="en-US" sz="1400" dirty="0"/>
          </a:p>
        </p:txBody>
      </p:sp>
      <p:sp>
        <p:nvSpPr>
          <p:cNvPr id="11" name="Path" descr="">
            <a:extLst>
              <a:ext uri="{C183D7F6-B498-43B3-948B-1728B52AA6E4}">
                <adec:decorative xmlns:adec="http://schemas.microsoft.com/office/drawing/2017/decorative" val="1"/>
              </a:ext>
            </a:extLst>
          </p:cNvPr>
          <p:cNvSpPr/>
          <p:nvPr/>
        </p:nvSpPr>
        <p:spPr>
          <a:xfrm>
            <a:off x="548640" y="4754880"/>
            <a:ext cx="11109960" cy="1188720"/>
          </a:xfrm>
          <a:prstGeom prst="roundRect">
            <a:avLst>
              <a:gd name="adj" fmla="val 6154"/>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2" name="Icon FaKey" descr="">
            <a:extLst>
              <a:ext uri="{C183D7F6-B498-43B3-948B-1728B52AA6E4}">
                <adec:decorative xmlns:adec="http://schemas.microsoft.com/office/drawing/2017/decorative" val="1"/>
              </a:ext>
            </a:extLst>
          </p:cNvPr>
          <p:cNvSpPr/>
          <p:nvPr/>
        </p:nvSpPr>
        <p:spPr>
          <a:xfrm>
            <a:off x="777240" y="4983480"/>
            <a:ext cx="731520" cy="731520"/>
          </a:xfrm>
          <a:prstGeom prst="ellipse">
            <a:avLst/>
          </a:prstGeom>
          <a:solidFill>
            <a:srgbClr val="B45309"/>
          </a:solidFill>
          <a:ln w="12700">
            <a:solidFill>
              <a:srgbClr val="B45309"/>
            </a:solidFill>
            <a:prstDash val="solid"/>
          </a:ln>
        </p:spPr>
      </p:sp>
      <p:pic>
        <p:nvPicPr>
          <p:cNvPr id="13"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52805" y="5159045"/>
            <a:ext cx="380390" cy="380390"/>
          </a:xfrm>
          <a:prstGeom prst="rect">
            <a:avLst/>
          </a:prstGeom>
        </p:spPr>
      </p:pic>
      <p:sp>
        <p:nvSpPr>
          <p:cNvPr id="14" name="Path text"/>
          <p:cNvSpPr txBox="1"/>
          <p:nvPr/>
        </p:nvSpPr>
        <p:spPr>
          <a:xfrm>
            <a:off x="1737360" y="4800600"/>
            <a:ext cx="9738360" cy="1097280"/>
          </a:xfrm>
          <a:prstGeom prst="rect">
            <a:avLst/>
          </a:prstGeom>
          <a:noFill/>
          <a:ln/>
        </p:spPr>
        <p:txBody>
          <a:bodyPr wrap="square" lIns="0" tIns="0" rIns="0" bIns="0" rtlCol="0" anchor="ctr"/>
          <a:lstStyle/>
          <a:p>
            <a:pPr indent="0" marL="0">
              <a:buNone/>
            </a:pPr>
            <a:r>
              <a:rPr lang="en-US" sz="1650" b="1" dirty="0">
                <a:solidFill>
                  <a:srgbClr val="B45309"/>
                </a:solidFill>
              </a:rPr>
              <a:t>Evidence path (inference): </a:t>
            </a:r>
            <a:pPr indent="0" marL="0">
              <a:buNone/>
            </a:pPr>
            <a:r>
              <a:rPr lang="en-US" sz="1650" dirty="0">
                <a:solidFill>
                  <a:schemeClr val="tx2"/>
                </a:solidFill>
              </a:rPr>
              <a:t>FIPS-mode Windows, using Microsoft's validated modules, plus the HSM's own CMVP certificate for database secrets. ACME servers can't be in FIPS mode (Part 3).</a:t>
            </a:r>
            <a:endParaRPr lang="en-US" sz="1650" dirty="0"/>
          </a:p>
        </p:txBody>
      </p:sp>
      <p:sp>
        <p:nvSpPr>
          <p:cNvPr id="15"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CyberArk 26.1 Installation Guide pp. 49–55; System Requirements; NIST CMVP search and certs #5205, #5122; Common Criteria lists.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Console sign-in: Entra SSO with certificate-based auth</a:t>
            </a:r>
            <a:endParaRPr lang="en-US" sz="3000" dirty="0"/>
          </a:p>
        </p:txBody>
      </p:sp>
      <p:sp>
        <p:nvSpPr>
          <p:cNvPr id="3" name="Tag Who"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WHO</a:t>
            </a:r>
            <a:endParaRPr lang="en-US" sz="1100" dirty="0"/>
          </a:p>
        </p:txBody>
      </p:sp>
      <p:sp>
        <p:nvSpPr>
          <p:cNvPr id="5" name="Opts" descr="">
            <a:extLst>
              <a:ext uri="{C183D7F6-B498-43B3-948B-1728B52AA6E4}">
                <adec:decorative xmlns:adec="http://schemas.microsoft.com/office/drawing/2017/decorative" val="1"/>
              </a:ext>
            </a:extLst>
          </p:cNvPr>
          <p:cNvSpPr/>
          <p:nvPr/>
        </p:nvSpPr>
        <p:spPr>
          <a:xfrm>
            <a:off x="548640" y="1371600"/>
            <a:ext cx="5486400" cy="3657600"/>
          </a:xfrm>
          <a:prstGeom prst="roundRect">
            <a:avLst>
              <a:gd name="adj" fmla="val 2000"/>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6" name="Opts head"/>
          <p:cNvSpPr txBox="1"/>
          <p:nvPr/>
        </p:nvSpPr>
        <p:spPr>
          <a:xfrm>
            <a:off x="731520" y="1481328"/>
            <a:ext cx="5120640" cy="640080"/>
          </a:xfrm>
          <a:prstGeom prst="rect">
            <a:avLst/>
          </a:prstGeom>
          <a:noFill/>
          <a:ln/>
        </p:spPr>
        <p:txBody>
          <a:bodyPr wrap="square" lIns="0" tIns="0" rIns="0" bIns="0" rtlCol="0" anchor="t"/>
          <a:lstStyle/>
          <a:p>
            <a:pPr indent="0" marL="0">
              <a:buNone/>
            </a:pPr>
            <a:r>
              <a:rPr lang="en-US" sz="1100" b="1" dirty="0">
                <a:solidFill>
                  <a:srgbClr val="64748B"/>
                </a:solidFill>
              </a:rPr>
              <a:t>DOCUMENTED IN 26.1</a:t>
            </a:r>
            <a:endParaRPr lang="en-US" sz="1400" dirty="0"/>
          </a:p>
        </p:txBody>
      </p:sp>
      <p:sp>
        <p:nvSpPr>
          <p:cNvPr id="7" name="Opts list"/>
          <p:cNvSpPr txBox="1"/>
          <p:nvPr/>
        </p:nvSpPr>
        <p:spPr>
          <a:xfrm>
            <a:off x="731520" y="1810512"/>
            <a:ext cx="5166360" cy="3145536"/>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2"/>
                </a:solidFill>
              </a:rPr>
              <a:t>Web console SSO by OIDC or SAML; Microsoft Entra ID listed as supported for SAML, OIDC and SCIM</a:t>
            </a:r>
            <a:endParaRPr lang="en-US" sz="1400" dirty="0"/>
          </a:p>
          <a:p>
            <a:pPr marL="342900" indent="-342900">
              <a:spcAft>
                <a:spcPts val="300"/>
              </a:spcAft>
              <a:buSzPct val="100000"/>
              <a:buChar char="•"/>
            </a:pPr>
            <a:r>
              <a:rPr lang="en-US" sz="1200" dirty="0">
                <a:solidFill>
                  <a:schemeClr val="tx2"/>
                </a:solidFill>
              </a:rPr>
              <a:t>MMC snap-ins sign in with the OIDC device flow; the Authentication node holds one SAML connector</a:t>
            </a:r>
            <a:endParaRPr lang="en-US" sz="1400" dirty="0"/>
          </a:p>
          <a:p>
            <a:pPr marL="342900" indent="-342900">
              <a:spcAft>
                <a:spcPts val="300"/>
              </a:spcAft>
              <a:buSzPct val="100000"/>
              <a:buChar char="•"/>
            </a:pPr>
            <a:r>
              <a:rPr lang="en-US" sz="1200" dirty="0">
                <a:solidFill>
                  <a:schemeClr val="tx2"/>
                </a:solidFill>
              </a:rPr>
              <a:t>Client-certificate login: trusted CAs selected, IIS set to require client certificates; identity from SAN UPN, email, CN or SID</a:t>
            </a:r>
            <a:endParaRPr lang="en-US" sz="1400" dirty="0"/>
          </a:p>
          <a:p>
            <a:pPr marL="342900" indent="-342900">
              <a:spcAft>
                <a:spcPts val="300"/>
              </a:spcAft>
              <a:buSzPct val="100000"/>
              <a:buChar char="•"/>
            </a:pPr>
            <a:r>
              <a:rPr lang="en-US" sz="1200" dirty="0">
                <a:solidFill>
                  <a:schemeClr val="tx2"/>
                </a:solidFill>
              </a:rPr>
              <a:t>PIV and CAC are not named anywhere</a:t>
            </a:r>
            <a:endParaRPr lang="en-US" sz="1400" dirty="0"/>
          </a:p>
        </p:txBody>
      </p:sp>
      <p:sp>
        <p:nvSpPr>
          <p:cNvPr id="8" name="Design label"/>
          <p:cNvSpPr txBox="1"/>
          <p:nvPr/>
        </p:nvSpPr>
        <p:spPr>
          <a:xfrm>
            <a:off x="6172200" y="1371600"/>
            <a:ext cx="5486400" cy="256032"/>
          </a:xfrm>
          <a:prstGeom prst="rect">
            <a:avLst/>
          </a:prstGeom>
          <a:noFill/>
          <a:ln/>
        </p:spPr>
        <p:txBody>
          <a:bodyPr wrap="square" lIns="0" tIns="0" rIns="0" bIns="0" rtlCol="0" anchor="ctr"/>
          <a:lstStyle/>
          <a:p>
            <a:pPr indent="0" marL="0">
              <a:buNone/>
            </a:pPr>
            <a:r>
              <a:rPr lang="en-US" sz="1100" b="1" dirty="0">
                <a:solidFill>
                  <a:srgbClr val="B91C1C"/>
                </a:solidFill>
              </a:rPr>
              <a:t>PROGRAM DESIGN GUIDANCE</a:t>
            </a:r>
            <a:endParaRPr lang="en-US" sz="1100" dirty="0"/>
          </a:p>
        </p:txBody>
      </p:sp>
      <p:sp>
        <p:nvSpPr>
          <p:cNvPr id="9" name="Design" descr="">
            <a:extLst>
              <a:ext uri="{C183D7F6-B498-43B3-948B-1728B52AA6E4}">
                <adec:decorative xmlns:adec="http://schemas.microsoft.com/office/drawing/2017/decorative" val="1"/>
              </a:ext>
            </a:extLst>
          </p:cNvPr>
          <p:cNvSpPr/>
          <p:nvPr/>
        </p:nvSpPr>
        <p:spPr>
          <a:xfrm>
            <a:off x="6172200" y="1664208"/>
            <a:ext cx="5486400" cy="3364992"/>
          </a:xfrm>
          <a:prstGeom prst="roundRect">
            <a:avLst>
              <a:gd name="adj" fmla="val 2174"/>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10" name="Design head"/>
          <p:cNvSpPr txBox="1"/>
          <p:nvPr/>
        </p:nvSpPr>
        <p:spPr>
          <a:xfrm>
            <a:off x="6355080" y="1773936"/>
            <a:ext cx="5120640" cy="640080"/>
          </a:xfrm>
          <a:prstGeom prst="rect">
            <a:avLst/>
          </a:prstGeom>
          <a:noFill/>
          <a:ln/>
        </p:spPr>
        <p:txBody>
          <a:bodyPr wrap="square" lIns="0" tIns="0" rIns="0" bIns="0" rtlCol="0" anchor="t"/>
          <a:lstStyle/>
          <a:p>
            <a:pPr indent="0" marL="0">
              <a:buNone/>
            </a:pPr>
            <a:r>
              <a:rPr lang="en-US" sz="1500" b="1" dirty="0">
                <a:solidFill>
                  <a:srgbClr val="0F766E"/>
                </a:solidFill>
                <a:latin typeface="Cambria" pitchFamily="34" charset="0"/>
                <a:ea typeface="Cambria" pitchFamily="34" charset="-122"/>
                <a:cs typeface="Cambria" pitchFamily="34" charset="-120"/>
              </a:rPr>
              <a:t>Entra SSO, with Entra CBA for PIV</a:t>
            </a:r>
            <a:endParaRPr lang="en-US" sz="1400" dirty="0"/>
          </a:p>
        </p:txBody>
      </p:sp>
      <p:sp>
        <p:nvSpPr>
          <p:cNvPr id="11" name="Design list"/>
          <p:cNvSpPr txBox="1"/>
          <p:nvPr/>
        </p:nvSpPr>
        <p:spPr>
          <a:xfrm>
            <a:off x="6355080" y="2185416"/>
            <a:ext cx="5166360" cy="2770632"/>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2"/>
                </a:solidFill>
              </a:rPr>
              <a:t>Federate the web console to Entra ID; administrators present PIV through Entra certificate-based authentication (Book 07 Ch 06)</a:t>
            </a:r>
            <a:endParaRPr lang="en-US" sz="1400" dirty="0"/>
          </a:p>
          <a:p>
            <a:pPr marL="342900" indent="-342900">
              <a:spcAft>
                <a:spcPts val="300"/>
              </a:spcAft>
              <a:buSzPct val="100000"/>
              <a:buChar char="•"/>
            </a:pPr>
            <a:r>
              <a:rPr lang="en-US" sz="1200" dirty="0">
                <a:solidFill>
                  <a:schemeClr val="tx2"/>
                </a:solidFill>
              </a:rPr>
              <a:t>One CBA trust store and Conditional Access, not a second one in IIS</a:t>
            </a:r>
            <a:endParaRPr lang="en-US" sz="1400" dirty="0"/>
          </a:p>
          <a:p>
            <a:pPr marL="342900" indent="-342900">
              <a:spcAft>
                <a:spcPts val="300"/>
              </a:spcAft>
              <a:buSzPct val="100000"/>
              <a:buChar char="•"/>
            </a:pPr>
            <a:r>
              <a:rPr lang="en-US" sz="1200" dirty="0">
                <a:solidFill>
                  <a:schemeClr val="tx2"/>
                </a:solidFill>
              </a:rPr>
              <a:t>Master Admin eligible, not standing (Book 07 Ch 05); local master admin kept as break-glass</a:t>
            </a:r>
            <a:endParaRPr lang="en-US" sz="1400" dirty="0"/>
          </a:p>
          <a:p>
            <a:pPr marL="342900" indent="-342900">
              <a:spcAft>
                <a:spcPts val="300"/>
              </a:spcAft>
              <a:buSzPct val="100000"/>
              <a:buChar char="•"/>
            </a:pPr>
            <a:r>
              <a:rPr lang="en-US" sz="1200" dirty="0">
                <a:solidFill>
                  <a:schemeClr val="tx2"/>
                </a:solidFill>
              </a:rPr>
              <a:t>Native client-certificate login only as a fallback</a:t>
            </a:r>
            <a:endParaRPr lang="en-US" sz="1400" dirty="0"/>
          </a:p>
        </p:txBody>
      </p:sp>
      <p:sp>
        <p:nvSpPr>
          <p:cNvPr id="12" name="Tokens"/>
          <p:cNvSpPr txBox="1"/>
          <p:nvPr/>
        </p:nvSpPr>
        <p:spPr>
          <a:xfrm>
            <a:off x="548640" y="5212080"/>
            <a:ext cx="11109960" cy="685800"/>
          </a:xfrm>
          <a:prstGeom prst="rect">
            <a:avLst/>
          </a:prstGeom>
          <a:noFill/>
          <a:ln/>
        </p:spPr>
        <p:txBody>
          <a:bodyPr wrap="square" lIns="0" tIns="0" rIns="0" bIns="0" rtlCol="0" anchor="t"/>
          <a:lstStyle/>
          <a:p>
            <a:pPr indent="0" marL="0">
              <a:buNone/>
            </a:pPr>
            <a:r>
              <a:rPr lang="en-US" sz="1250" b="1" dirty="0">
                <a:solidFill>
                  <a:srgbClr val="B45309"/>
                </a:solidFill>
              </a:rPr>
              <a:t>API tokens: </a:t>
            </a:r>
            <a:pPr indent="0" marL="0">
              <a:buNone/>
            </a:pPr>
            <a:r>
              <a:rPr lang="en-US" sz="1250" dirty="0">
                <a:solidFill>
                  <a:schemeClr val="tx2"/>
                </a:solidFill>
              </a:rPr>
              <a:t>defaults are a 90-day access token and a 1-year grant. Shorten both (design guidance). API keys are gone in 26.1; use OAuth tokens.</a:t>
            </a:r>
            <a:endParaRPr lang="en-US" sz="1250" dirty="0"/>
          </a:p>
        </p:txBody>
      </p:sp>
      <p:sp>
        <p:nvSpPr>
          <p:cNvPr id="13"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CyberArk 26.1 What's New; login experience; SSO vendor support; certificate auth in IIS; OAuth setup; deprecated features; Book 07, Ch 05–06.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Hardening and least-privilege service accounts</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graphicFrame>
        <p:nvGraphicFramePr>
          <p:cNvPr id="18" name="Harden"/>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2377440"/>
                <a:gridCol w="8732520"/>
              </a:tblGrid>
              <a:tr h="292608">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Area</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What to do</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IIS (vendor guidance)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Host-header rewrite rule; debug off; httpOnlyCookies and requireSSL; GET and POST only; HSTS, X-Frame-Options, CSP; remove X-Powered-By</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9260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Server certificate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Replace the self-signed Venafi Operational Certificate on every server with a CA-issued one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9260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Outbound TLS checks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Certificate verification for outbound connections defaults to None: set it to Strict, with revocation checking</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Database accounts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Separate DBO account (install, upgrade) from the operational account; the operational account needs Log on as a Service and local Administrators on every server; gMSA supported</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Target credentials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CAPI/IIS provisioning needs Windows administrator on the target; keep these in CyberArk's password vault via the Credential Provider (design guidance)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9260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Answer files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They hold the admin password, database credentials and the software key: encrypt them</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Tier0" descr="">
            <a:extLst>
              <a:ext uri="{C183D7F6-B498-43B3-948B-1728B52AA6E4}">
                <adec:decorative xmlns:adec="http://schemas.microsoft.com/office/drawing/2017/decorative" val="1"/>
              </a:ext>
            </a:extLst>
          </p:cNvPr>
          <p:cNvSpPr/>
          <p:nvPr/>
        </p:nvSpPr>
        <p:spPr>
          <a:xfrm>
            <a:off x="548640" y="4572000"/>
            <a:ext cx="11109960" cy="1325880"/>
          </a:xfrm>
          <a:prstGeom prst="roundRect">
            <a:avLst>
              <a:gd name="adj" fmla="val 5517"/>
            </a:avLst>
          </a:prstGeom>
          <a:solidFill>
            <a:srgbClr val="FFFFFF"/>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7" name="Icon FaUserShield" descr="">
            <a:extLst>
              <a:ext uri="{C183D7F6-B498-43B3-948B-1728B52AA6E4}">
                <adec:decorative xmlns:adec="http://schemas.microsoft.com/office/drawing/2017/decorative" val="1"/>
              </a:ext>
            </a:extLst>
          </p:cNvPr>
          <p:cNvSpPr/>
          <p:nvPr/>
        </p:nvSpPr>
        <p:spPr>
          <a:xfrm>
            <a:off x="777240" y="4869180"/>
            <a:ext cx="731520" cy="731520"/>
          </a:xfrm>
          <a:prstGeom prst="ellipse">
            <a:avLst/>
          </a:prstGeom>
          <a:solidFill>
            <a:srgbClr val="B91C1C"/>
          </a:solidFill>
          <a:ln w="12700">
            <a:solidFill>
              <a:srgbClr val="B91C1C"/>
            </a:solidFill>
            <a:prstDash val="solid"/>
          </a:ln>
        </p:spPr>
      </p:sp>
      <p:pic>
        <p:nvPicPr>
          <p:cNvPr id="8"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52805" y="5044745"/>
            <a:ext cx="380390" cy="380390"/>
          </a:xfrm>
          <a:prstGeom prst="rect">
            <a:avLst/>
          </a:prstGeom>
        </p:spPr>
      </p:pic>
      <p:sp>
        <p:nvSpPr>
          <p:cNvPr id="9" name="Tier0 text"/>
          <p:cNvSpPr txBox="1"/>
          <p:nvPr/>
        </p:nvSpPr>
        <p:spPr>
          <a:xfrm>
            <a:off x="1737360" y="4617720"/>
            <a:ext cx="9738360" cy="1234440"/>
          </a:xfrm>
          <a:prstGeom prst="rect">
            <a:avLst/>
          </a:prstGeom>
          <a:noFill/>
          <a:ln/>
        </p:spPr>
        <p:txBody>
          <a:bodyPr wrap="square" lIns="0" tIns="0" rIns="0" bIns="0" rtlCol="0" anchor="ctr"/>
          <a:lstStyle/>
          <a:p>
            <a:pPr indent="0" marL="0">
              <a:buNone/>
            </a:pPr>
            <a:r>
              <a:rPr lang="en-US" sz="1650" b="1" dirty="0">
                <a:solidFill>
                  <a:srgbClr val="B91C1C"/>
                </a:solidFill>
              </a:rPr>
              <a:t>Treat as Tier 0 (design guidance): </a:t>
            </a:r>
            <a:pPr indent="0" marL="0">
              <a:buNone/>
            </a:pPr>
            <a:r>
              <a:rPr lang="en-US" sz="1650" dirty="0">
                <a:solidFill>
                  <a:schemeClr val="tx2"/>
                </a:solidFill>
              </a:rPr>
              <a:t>Master Admins, the software key and database backups. The platform holds certificate-manager rights on CAs, admin on Windows targets and private keys.</a:t>
            </a:r>
            <a:endParaRPr lang="en-US" sz="1650" dirty="0"/>
          </a:p>
        </p:txBody>
      </p:sp>
      <p:sp>
        <p:nvSpPr>
          <p:cNvPr id="10"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CyberArk 26.1 IIS hardening; web server security; Windows auth requirements; gMSA; CAPI permissions; credential pages; Installation Guide p. 86.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Backup and disaster recovery: database and keys</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DR 1" descr="">
            <a:extLst>
              <a:ext uri="{C183D7F6-B498-43B3-948B-1728B52AA6E4}">
                <adec:decorative xmlns:adec="http://schemas.microsoft.com/office/drawing/2017/decorative" val="1"/>
              </a:ext>
            </a:extLst>
          </p:cNvPr>
          <p:cNvSpPr/>
          <p:nvPr/>
        </p:nvSpPr>
        <p:spPr>
          <a:xfrm>
            <a:off x="548640" y="1371600"/>
            <a:ext cx="2017166" cy="1417320"/>
          </a:xfrm>
          <a:prstGeom prst="roundRect">
            <a:avLst>
              <a:gd name="adj" fmla="val 5161"/>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6" name="DR 1 text"/>
          <p:cNvSpPr txBox="1"/>
          <p:nvPr/>
        </p:nvSpPr>
        <p:spPr>
          <a:xfrm>
            <a:off x="640080" y="1444752"/>
            <a:ext cx="1834286" cy="1271016"/>
          </a:xfrm>
          <a:prstGeom prst="rect">
            <a:avLst/>
          </a:prstGeom>
          <a:noFill/>
          <a:ln/>
        </p:spPr>
        <p:txBody>
          <a:bodyPr wrap="square" lIns="0" tIns="0" rIns="0" bIns="0" rtlCol="0" anchor="t"/>
          <a:lstStyle/>
          <a:p>
            <a:pPr indent="0" marL="0">
              <a:spcAft>
                <a:spcPts val="200"/>
              </a:spcAft>
              <a:buNone/>
            </a:pPr>
            <a:r>
              <a:rPr lang="en-US" sz="1300" b="1" dirty="0">
                <a:solidFill>
                  <a:srgbClr val="1F2A44"/>
                </a:solidFill>
                <a:latin typeface="Cambria" pitchFamily="34" charset="0"/>
                <a:ea typeface="Cambria" pitchFamily="34" charset="-122"/>
                <a:cs typeface="Cambria" pitchFamily="34" charset="-120"/>
              </a:rPr>
              <a:t>1 Prerequisites</a:t>
            </a:r>
            <a:endParaRPr lang="en-US" sz="1150" dirty="0"/>
          </a:p>
          <a:p>
            <a:pPr indent="0" marL="0">
              <a:spcAft>
                <a:spcPts val="200"/>
              </a:spcAft>
              <a:buNone/>
            </a:pPr>
            <a:r>
              <a:rPr lang="en-US" sz="1150" dirty="0">
                <a:solidFill>
                  <a:schemeClr val="tx2"/>
                </a:solidFill>
              </a:rPr>
              <a:t>Local master admin, DB backup, connection info, software or HSM key</a:t>
            </a:r>
            <a:endParaRPr lang="en-US" sz="1150" dirty="0"/>
          </a:p>
        </p:txBody>
      </p:sp>
      <p:sp>
        <p:nvSpPr>
          <p:cNvPr id="7" name="DR arrow 1" descr="">
            <a:extLst>
              <a:ext uri="{C183D7F6-B498-43B3-948B-1728B52AA6E4}">
                <adec:decorative xmlns:adec="http://schemas.microsoft.com/office/drawing/2017/decorative" val="1"/>
              </a:ext>
            </a:extLst>
          </p:cNvPr>
          <p:cNvSpPr/>
          <p:nvPr/>
        </p:nvSpPr>
        <p:spPr>
          <a:xfrm>
            <a:off x="2593238" y="1979676"/>
            <a:ext cx="201168" cy="201168"/>
          </a:xfrm>
          <a:prstGeom prst="rightArrow">
            <a:avLst/>
          </a:prstGeom>
          <a:solidFill>
            <a:srgbClr val="64748B"/>
          </a:solidFill>
          <a:ln w="12700">
            <a:solidFill>
              <a:srgbClr val="64748B"/>
            </a:solidFill>
            <a:prstDash val="solid"/>
          </a:ln>
        </p:spPr>
      </p:sp>
      <p:sp>
        <p:nvSpPr>
          <p:cNvPr id="8" name="DR 2" descr="">
            <a:extLst>
              <a:ext uri="{C183D7F6-B498-43B3-948B-1728B52AA6E4}">
                <adec:decorative xmlns:adec="http://schemas.microsoft.com/office/drawing/2017/decorative" val="1"/>
              </a:ext>
            </a:extLst>
          </p:cNvPr>
          <p:cNvSpPr/>
          <p:nvPr/>
        </p:nvSpPr>
        <p:spPr>
          <a:xfrm>
            <a:off x="2821838" y="1371600"/>
            <a:ext cx="2017166" cy="1417320"/>
          </a:xfrm>
          <a:prstGeom prst="roundRect">
            <a:avLst>
              <a:gd name="adj" fmla="val 5161"/>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9" name="DR 2 text"/>
          <p:cNvSpPr txBox="1"/>
          <p:nvPr/>
        </p:nvSpPr>
        <p:spPr>
          <a:xfrm>
            <a:off x="2913278" y="1444752"/>
            <a:ext cx="1834286" cy="1271016"/>
          </a:xfrm>
          <a:prstGeom prst="rect">
            <a:avLst/>
          </a:prstGeom>
          <a:noFill/>
          <a:ln/>
        </p:spPr>
        <p:txBody>
          <a:bodyPr wrap="square" lIns="0" tIns="0" rIns="0" bIns="0" rtlCol="0" anchor="t"/>
          <a:lstStyle/>
          <a:p>
            <a:pPr indent="0" marL="0">
              <a:spcAft>
                <a:spcPts val="200"/>
              </a:spcAft>
              <a:buNone/>
            </a:pPr>
            <a:r>
              <a:rPr lang="en-US" sz="1300" b="1" dirty="0">
                <a:solidFill>
                  <a:srgbClr val="0F766E"/>
                </a:solidFill>
                <a:latin typeface="Cambria" pitchFamily="34" charset="0"/>
                <a:ea typeface="Cambria" pitchFamily="34" charset="-122"/>
                <a:cs typeface="Cambria" pitchFamily="34" charset="-120"/>
              </a:rPr>
              <a:t>2 Stop services</a:t>
            </a:r>
            <a:endParaRPr lang="en-US" sz="1150" dirty="0"/>
          </a:p>
          <a:p>
            <a:pPr indent="0" marL="0">
              <a:spcAft>
                <a:spcPts val="200"/>
              </a:spcAft>
              <a:buNone/>
            </a:pPr>
            <a:r>
              <a:rPr lang="en-US" sz="1150" dirty="0">
                <a:solidFill>
                  <a:schemeClr val="tx2"/>
                </a:solidFill>
              </a:rPr>
              <a:t>On every platform server</a:t>
            </a:r>
            <a:endParaRPr lang="en-US" sz="1150" dirty="0"/>
          </a:p>
        </p:txBody>
      </p:sp>
      <p:sp>
        <p:nvSpPr>
          <p:cNvPr id="10" name="DR arrow 2" descr="">
            <a:extLst>
              <a:ext uri="{C183D7F6-B498-43B3-948B-1728B52AA6E4}">
                <adec:decorative xmlns:adec="http://schemas.microsoft.com/office/drawing/2017/decorative" val="1"/>
              </a:ext>
            </a:extLst>
          </p:cNvPr>
          <p:cNvSpPr/>
          <p:nvPr/>
        </p:nvSpPr>
        <p:spPr>
          <a:xfrm>
            <a:off x="4866437" y="1979676"/>
            <a:ext cx="201168" cy="201168"/>
          </a:xfrm>
          <a:prstGeom prst="rightArrow">
            <a:avLst/>
          </a:prstGeom>
          <a:solidFill>
            <a:srgbClr val="64748B"/>
          </a:solidFill>
          <a:ln w="12700">
            <a:solidFill>
              <a:srgbClr val="64748B"/>
            </a:solidFill>
            <a:prstDash val="solid"/>
          </a:ln>
        </p:spPr>
      </p:sp>
      <p:sp>
        <p:nvSpPr>
          <p:cNvPr id="11" name="DR 3" descr="">
            <a:extLst>
              <a:ext uri="{C183D7F6-B498-43B3-948B-1728B52AA6E4}">
                <adec:decorative xmlns:adec="http://schemas.microsoft.com/office/drawing/2017/decorative" val="1"/>
              </a:ext>
            </a:extLst>
          </p:cNvPr>
          <p:cNvSpPr/>
          <p:nvPr/>
        </p:nvSpPr>
        <p:spPr>
          <a:xfrm>
            <a:off x="5095037" y="1371600"/>
            <a:ext cx="2017166" cy="1417320"/>
          </a:xfrm>
          <a:prstGeom prst="roundRect">
            <a:avLst>
              <a:gd name="adj" fmla="val 5161"/>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2" name="DR 3 text"/>
          <p:cNvSpPr txBox="1"/>
          <p:nvPr/>
        </p:nvSpPr>
        <p:spPr>
          <a:xfrm>
            <a:off x="5186477" y="1444752"/>
            <a:ext cx="1834286" cy="1271016"/>
          </a:xfrm>
          <a:prstGeom prst="rect">
            <a:avLst/>
          </a:prstGeom>
          <a:noFill/>
          <a:ln/>
        </p:spPr>
        <p:txBody>
          <a:bodyPr wrap="square" lIns="0" tIns="0" rIns="0" bIns="0" rtlCol="0" anchor="t"/>
          <a:lstStyle/>
          <a:p>
            <a:pPr indent="0" marL="0">
              <a:spcAft>
                <a:spcPts val="200"/>
              </a:spcAft>
              <a:buNone/>
            </a:pPr>
            <a:r>
              <a:rPr lang="en-US" sz="1300" b="1" dirty="0">
                <a:solidFill>
                  <a:srgbClr val="1F2A44"/>
                </a:solidFill>
                <a:latin typeface="Cambria" pitchFamily="34" charset="0"/>
                <a:ea typeface="Cambria" pitchFamily="34" charset="-122"/>
                <a:cs typeface="Cambria" pitchFamily="34" charset="-120"/>
              </a:rPr>
              <a:t>3 Restore DB</a:t>
            </a:r>
            <a:endParaRPr lang="en-US" sz="1150" dirty="0"/>
          </a:p>
          <a:p>
            <a:pPr indent="0" marL="0">
              <a:spcAft>
                <a:spcPts val="200"/>
              </a:spcAft>
              <a:buNone/>
            </a:pPr>
            <a:r>
              <a:rPr lang="en-US" sz="1150" dirty="0">
                <a:solidFill>
                  <a:schemeClr val="tx2"/>
                </a:solidFill>
              </a:rPr>
              <a:t>Restore, recover users</a:t>
            </a:r>
            <a:endParaRPr lang="en-US" sz="1150" dirty="0"/>
          </a:p>
        </p:txBody>
      </p:sp>
      <p:sp>
        <p:nvSpPr>
          <p:cNvPr id="13" name="DR arrow 3" descr="">
            <a:extLst>
              <a:ext uri="{C183D7F6-B498-43B3-948B-1728B52AA6E4}">
                <adec:decorative xmlns:adec="http://schemas.microsoft.com/office/drawing/2017/decorative" val="1"/>
              </a:ext>
            </a:extLst>
          </p:cNvPr>
          <p:cNvSpPr/>
          <p:nvPr/>
        </p:nvSpPr>
        <p:spPr>
          <a:xfrm>
            <a:off x="7139635" y="1979676"/>
            <a:ext cx="201168" cy="201168"/>
          </a:xfrm>
          <a:prstGeom prst="rightArrow">
            <a:avLst/>
          </a:prstGeom>
          <a:solidFill>
            <a:srgbClr val="64748B"/>
          </a:solidFill>
          <a:ln w="12700">
            <a:solidFill>
              <a:srgbClr val="64748B"/>
            </a:solidFill>
            <a:prstDash val="solid"/>
          </a:ln>
        </p:spPr>
      </p:sp>
      <p:sp>
        <p:nvSpPr>
          <p:cNvPr id="14" name="DR 4" descr="">
            <a:extLst>
              <a:ext uri="{C183D7F6-B498-43B3-948B-1728B52AA6E4}">
                <adec:decorative xmlns:adec="http://schemas.microsoft.com/office/drawing/2017/decorative" val="1"/>
              </a:ext>
            </a:extLst>
          </p:cNvPr>
          <p:cNvSpPr/>
          <p:nvPr/>
        </p:nvSpPr>
        <p:spPr>
          <a:xfrm>
            <a:off x="7368235" y="1371600"/>
            <a:ext cx="2017166" cy="1417320"/>
          </a:xfrm>
          <a:prstGeom prst="roundRect">
            <a:avLst>
              <a:gd name="adj" fmla="val 5161"/>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15" name="DR 4 text"/>
          <p:cNvSpPr txBox="1"/>
          <p:nvPr/>
        </p:nvSpPr>
        <p:spPr>
          <a:xfrm>
            <a:off x="7459675" y="1444752"/>
            <a:ext cx="1834286" cy="1271016"/>
          </a:xfrm>
          <a:prstGeom prst="rect">
            <a:avLst/>
          </a:prstGeom>
          <a:noFill/>
          <a:ln/>
        </p:spPr>
        <p:txBody>
          <a:bodyPr wrap="square" lIns="0" tIns="0" rIns="0" bIns="0" rtlCol="0" anchor="t"/>
          <a:lstStyle/>
          <a:p>
            <a:pPr indent="0" marL="0">
              <a:spcAft>
                <a:spcPts val="200"/>
              </a:spcAft>
              <a:buNone/>
            </a:pPr>
            <a:r>
              <a:rPr lang="en-US" sz="1300" b="1" dirty="0">
                <a:solidFill>
                  <a:srgbClr val="0F766E"/>
                </a:solidFill>
                <a:latin typeface="Cambria" pitchFamily="34" charset="0"/>
                <a:ea typeface="Cambria" pitchFamily="34" charset="-122"/>
                <a:cs typeface="Cambria" pitchFamily="34" charset="-120"/>
              </a:rPr>
              <a:t>4 Service Broker</a:t>
            </a:r>
            <a:endParaRPr lang="en-US" sz="1150" dirty="0"/>
          </a:p>
          <a:p>
            <a:pPr indent="0" marL="0">
              <a:spcAft>
                <a:spcPts val="200"/>
              </a:spcAft>
              <a:buNone/>
            </a:pPr>
            <a:r>
              <a:rPr lang="en-US" sz="1150" dirty="0">
                <a:solidFill>
                  <a:schemeClr val="tx2"/>
                </a:solidFill>
              </a:rPr>
              <a:t>ALTER DATABASE … SET ENABLE_BROKER</a:t>
            </a:r>
            <a:endParaRPr lang="en-US" sz="1150" dirty="0"/>
          </a:p>
        </p:txBody>
      </p:sp>
      <p:sp>
        <p:nvSpPr>
          <p:cNvPr id="16" name="DR arrow 4" descr="">
            <a:extLst>
              <a:ext uri="{C183D7F6-B498-43B3-948B-1728B52AA6E4}">
                <adec:decorative xmlns:adec="http://schemas.microsoft.com/office/drawing/2017/decorative" val="1"/>
              </a:ext>
            </a:extLst>
          </p:cNvPr>
          <p:cNvSpPr/>
          <p:nvPr/>
        </p:nvSpPr>
        <p:spPr>
          <a:xfrm>
            <a:off x="9412834" y="1979676"/>
            <a:ext cx="201168" cy="201168"/>
          </a:xfrm>
          <a:prstGeom prst="rightArrow">
            <a:avLst/>
          </a:prstGeom>
          <a:solidFill>
            <a:srgbClr val="64748B"/>
          </a:solidFill>
          <a:ln w="12700">
            <a:solidFill>
              <a:srgbClr val="64748B"/>
            </a:solidFill>
            <a:prstDash val="solid"/>
          </a:ln>
        </p:spPr>
      </p:sp>
      <p:sp>
        <p:nvSpPr>
          <p:cNvPr id="17" name="DR 5" descr="">
            <a:extLst>
              <a:ext uri="{C183D7F6-B498-43B3-948B-1728B52AA6E4}">
                <adec:decorative xmlns:adec="http://schemas.microsoft.com/office/drawing/2017/decorative" val="1"/>
              </a:ext>
            </a:extLst>
          </p:cNvPr>
          <p:cNvSpPr/>
          <p:nvPr/>
        </p:nvSpPr>
        <p:spPr>
          <a:xfrm>
            <a:off x="9641434" y="1371600"/>
            <a:ext cx="2017166" cy="1417320"/>
          </a:xfrm>
          <a:prstGeom prst="roundRect">
            <a:avLst>
              <a:gd name="adj" fmla="val 5161"/>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8" name="DR 5 text"/>
          <p:cNvSpPr txBox="1"/>
          <p:nvPr/>
        </p:nvSpPr>
        <p:spPr>
          <a:xfrm>
            <a:off x="9732874" y="1444752"/>
            <a:ext cx="1834286" cy="1271016"/>
          </a:xfrm>
          <a:prstGeom prst="rect">
            <a:avLst/>
          </a:prstGeom>
          <a:noFill/>
          <a:ln/>
        </p:spPr>
        <p:txBody>
          <a:bodyPr wrap="square" lIns="0" tIns="0" rIns="0" bIns="0" rtlCol="0" anchor="t"/>
          <a:lstStyle/>
          <a:p>
            <a:pPr indent="0" marL="0">
              <a:spcAft>
                <a:spcPts val="200"/>
              </a:spcAft>
              <a:buNone/>
            </a:pPr>
            <a:r>
              <a:rPr lang="en-US" sz="1300" b="1" dirty="0">
                <a:solidFill>
                  <a:srgbClr val="1F2A44"/>
                </a:solidFill>
                <a:latin typeface="Cambria" pitchFamily="34" charset="0"/>
                <a:ea typeface="Cambria" pitchFamily="34" charset="-122"/>
                <a:cs typeface="Cambria" pitchFamily="34" charset="-120"/>
              </a:rPr>
              <a:t>5 Keys</a:t>
            </a:r>
            <a:endParaRPr lang="en-US" sz="1150" dirty="0"/>
          </a:p>
          <a:p>
            <a:pPr indent="0" marL="0">
              <a:spcAft>
                <a:spcPts val="200"/>
              </a:spcAft>
              <a:buNone/>
            </a:pPr>
            <a:r>
              <a:rPr lang="en-US" sz="1150" dirty="0">
                <a:solidFill>
                  <a:schemeClr val="tx2"/>
                </a:solidFill>
              </a:rPr>
              <a:t>Import software key, or reconnect HSM (-hsmpin)</a:t>
            </a:r>
            <a:endParaRPr lang="en-US" sz="1150" dirty="0"/>
          </a:p>
        </p:txBody>
      </p:sp>
      <p:sp>
        <p:nvSpPr>
          <p:cNvPr id="19" name="Backup" descr="">
            <a:extLst>
              <a:ext uri="{C183D7F6-B498-43B3-948B-1728B52AA6E4}">
                <adec:decorative xmlns:adec="http://schemas.microsoft.com/office/drawing/2017/decorative" val="1"/>
              </a:ext>
            </a:extLst>
          </p:cNvPr>
          <p:cNvSpPr/>
          <p:nvPr/>
        </p:nvSpPr>
        <p:spPr>
          <a:xfrm>
            <a:off x="548640" y="2971800"/>
            <a:ext cx="5486400" cy="2926080"/>
          </a:xfrm>
          <a:prstGeom prst="roundRect">
            <a:avLst>
              <a:gd name="adj" fmla="val 2500"/>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20" name="Backup head"/>
          <p:cNvSpPr txBox="1"/>
          <p:nvPr/>
        </p:nvSpPr>
        <p:spPr>
          <a:xfrm>
            <a:off x="731520" y="3081528"/>
            <a:ext cx="5120640" cy="640080"/>
          </a:xfrm>
          <a:prstGeom prst="rect">
            <a:avLst/>
          </a:prstGeom>
          <a:noFill/>
          <a:ln/>
        </p:spPr>
        <p:txBody>
          <a:bodyPr wrap="square" lIns="0" tIns="0" rIns="0" bIns="0" rtlCol="0" anchor="t"/>
          <a:lstStyle/>
          <a:p>
            <a:pPr indent="0" marL="0">
              <a:buNone/>
            </a:pPr>
            <a:r>
              <a:rPr lang="en-US" sz="1100" b="1" dirty="0">
                <a:solidFill>
                  <a:srgbClr val="64748B"/>
                </a:solidFill>
              </a:rPr>
              <a:t>BACK UP</a:t>
            </a:r>
            <a:endParaRPr lang="en-US" sz="1400" dirty="0"/>
          </a:p>
        </p:txBody>
      </p:sp>
      <p:sp>
        <p:nvSpPr>
          <p:cNvPr id="21" name="Backup list"/>
          <p:cNvSpPr txBox="1"/>
          <p:nvPr/>
        </p:nvSpPr>
        <p:spPr>
          <a:xfrm>
            <a:off x="731520" y="3410712"/>
            <a:ext cx="5166360" cy="2414016"/>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2"/>
                </a:solidFill>
              </a:rPr>
              <a:t>Database on the FULL recovery model, on a schedule</a:t>
            </a:r>
            <a:endParaRPr lang="en-US" sz="1400" dirty="0"/>
          </a:p>
          <a:p>
            <a:pPr marL="342900" indent="-342900">
              <a:spcAft>
                <a:spcPts val="300"/>
              </a:spcAft>
              <a:buSzPct val="100000"/>
              <a:buChar char="•"/>
            </a:pPr>
            <a:r>
              <a:rPr lang="en-US" sz="1200" dirty="0">
                <a:solidFill>
                  <a:schemeClr val="tx2"/>
                </a:solidFill>
              </a:rPr>
              <a:t>Software key: tppconfiguration.exe -keyexport; without it "you cannot access data in the database"</a:t>
            </a:r>
            <a:endParaRPr lang="en-US" sz="1400" dirty="0"/>
          </a:p>
          <a:p>
            <a:pPr marL="342900" indent="-342900">
              <a:spcAft>
                <a:spcPts val="300"/>
              </a:spcAft>
              <a:buSzPct val="100000"/>
              <a:buChar char="•"/>
            </a:pPr>
            <a:r>
              <a:rPr lang="en-US" sz="1200" dirty="0">
                <a:solidFill>
                  <a:schemeClr val="tx2"/>
                </a:solidFill>
              </a:rPr>
              <a:t>HSM keys: the HSM vendor's backup; run HSMs in HA, since the platform shuts down if the HSM stays unreachable</a:t>
            </a:r>
            <a:endParaRPr lang="en-US" sz="1400" dirty="0"/>
          </a:p>
        </p:txBody>
      </p:sp>
      <p:sp>
        <p:nvSpPr>
          <p:cNvPr id="22" name="CA side" descr="">
            <a:extLst>
              <a:ext uri="{C183D7F6-B498-43B3-948B-1728B52AA6E4}">
                <adec:decorative xmlns:adec="http://schemas.microsoft.com/office/drawing/2017/decorative" val="1"/>
              </a:ext>
            </a:extLst>
          </p:cNvPr>
          <p:cNvSpPr/>
          <p:nvPr/>
        </p:nvSpPr>
        <p:spPr>
          <a:xfrm>
            <a:off x="6172200" y="2971800"/>
            <a:ext cx="5486400" cy="2926080"/>
          </a:xfrm>
          <a:prstGeom prst="roundRect">
            <a:avLst>
              <a:gd name="adj" fmla="val 2500"/>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23" name="CA side head"/>
          <p:cNvSpPr txBox="1"/>
          <p:nvPr/>
        </p:nvSpPr>
        <p:spPr>
          <a:xfrm>
            <a:off x="6355080" y="3081528"/>
            <a:ext cx="5120640" cy="640080"/>
          </a:xfrm>
          <a:prstGeom prst="rect">
            <a:avLst/>
          </a:prstGeom>
          <a:noFill/>
          <a:ln/>
        </p:spPr>
        <p:txBody>
          <a:bodyPr wrap="square" lIns="0" tIns="0" rIns="0" bIns="0" rtlCol="0" anchor="t"/>
          <a:lstStyle/>
          <a:p>
            <a:pPr indent="0" marL="0">
              <a:buNone/>
            </a:pPr>
            <a:r>
              <a:rPr lang="en-US" sz="1100" b="1" dirty="0">
                <a:solidFill>
                  <a:srgbClr val="64748B"/>
                </a:solidFill>
              </a:rPr>
              <a:t>AND ON THE CA SIDE</a:t>
            </a:r>
            <a:endParaRPr lang="en-US" sz="1400" dirty="0"/>
          </a:p>
        </p:txBody>
      </p:sp>
      <p:sp>
        <p:nvSpPr>
          <p:cNvPr id="24" name="CA side list"/>
          <p:cNvSpPr txBox="1"/>
          <p:nvPr/>
        </p:nvSpPr>
        <p:spPr>
          <a:xfrm>
            <a:off x="6355080" y="3410712"/>
            <a:ext cx="5166360" cy="2414016"/>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2"/>
                </a:solidFill>
              </a:rPr>
              <a:t>Backup-CARoleService before changing CA permissions for the CLM account</a:t>
            </a:r>
            <a:endParaRPr lang="en-US" sz="1400" dirty="0"/>
          </a:p>
          <a:p>
            <a:pPr marL="342900" indent="-342900">
              <a:spcAft>
                <a:spcPts val="300"/>
              </a:spcAft>
              <a:buSzPct val="100000"/>
              <a:buChar char="•"/>
            </a:pPr>
            <a:r>
              <a:rPr lang="en-US" sz="1200" dirty="0">
                <a:solidFill>
                  <a:schemeClr val="tx2"/>
                </a:solidFill>
              </a:rPr>
              <a:t>Rehearse a restore before Wave 2 exits (design guidance)</a:t>
            </a:r>
            <a:endParaRPr lang="en-US" sz="1400" dirty="0"/>
          </a:p>
          <a:p>
            <a:pPr marL="342900" indent="-342900">
              <a:spcAft>
                <a:spcPts val="300"/>
              </a:spcAft>
              <a:buSzPct val="100000"/>
              <a:buChar char="•"/>
            </a:pPr>
            <a:r>
              <a:rPr lang="en-US" sz="1200" dirty="0">
                <a:solidFill>
                  <a:schemeClr val="tx2"/>
                </a:solidFill>
              </a:rPr>
              <a:t>Store the key backup and its password through separate approved channels (Book 07 Ch 08)</a:t>
            </a:r>
            <a:endParaRPr lang="en-US" sz="1400" dirty="0"/>
          </a:p>
        </p:txBody>
      </p:sp>
      <p:sp>
        <p:nvSpPr>
          <p:cNvPr id="25"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CyberArk 26.1 software key backup; HSM configuration; disaster recovery pages; Microsoft Learn, secure and delegate a CA; Book 07, Ch 08.</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217920" cy="1920240"/>
          </a:xfrm>
          <a:prstGeom prst="rect">
            <a:avLst/>
          </a:prstGeom>
          <a:noFill/>
          <a:ln/>
        </p:spPr>
        <p:txBody>
          <a:bodyPr wrap="square" lIns="0" tIns="0" rIns="0" bIns="0" rtlCol="0" anchor="b"/>
          <a:lstStyle/>
          <a:p>
            <a:pPr algn="l" indent="0" marL="0">
              <a:buNone/>
            </a:pPr>
            <a:r>
              <a:rPr lang="en-US" sz="4400" b="1" dirty="0">
                <a:solidFill>
                  <a:schemeClr val="tx1"/>
                </a:solidFill>
                <a:latin typeface="Cambria" pitchFamily="34" charset="0"/>
                <a:ea typeface="Cambria" pitchFamily="34" charset="-122"/>
                <a:cs typeface="Cambria" pitchFamily="34" charset="-120"/>
              </a:rPr>
              <a:t>Part 2: Connect the issuers</a:t>
            </a:r>
            <a:endParaRPr lang="en-US" sz="4400" dirty="0"/>
          </a:p>
        </p:txBody>
      </p:sp>
      <p:sp>
        <p:nvSpPr>
          <p:cNvPr id="3" name="Text 0"/>
          <p:cNvSpPr/>
          <p:nvPr>
            <p:ph idx="101" type="body" hasCustomPrompt="1"/>
          </p:nvPr>
        </p:nvSpPr>
        <p:spPr>
          <a:xfrm>
            <a:off x="731520" y="3520440"/>
            <a:ext cx="6035040" cy="822960"/>
          </a:xfrm>
          <a:prstGeom prst="rect">
            <a:avLst/>
          </a:prstGeom>
          <a:noFill/>
          <a:ln/>
        </p:spPr>
        <p:txBody>
          <a:bodyPr wrap="square" lIns="0" tIns="0" rIns="0" bIns="0" rtlCol="0" anchor="t"/>
          <a:lstStyle/>
          <a:p>
            <a:pPr indent="0" marL="0">
              <a:buNone/>
            </a:pPr>
            <a:r>
              <a:rPr lang="en-US" sz="2200" dirty="0">
                <a:solidFill>
                  <a:schemeClr val="accent2"/>
                </a:solidFill>
              </a:rPr>
              <a:t>Implementation guide  ·  Part 2 of 4</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indent="0" marL="0">
              <a:buNone/>
            </a:pPr>
            <a:r>
              <a:rPr lang="en-US" sz="1600" dirty="0">
                <a:solidFill>
                  <a:srgbClr val="64748B"/>
                </a:solidFill>
              </a:rPr>
              <a:t>Presented by  </a:t>
            </a:r>
            <a:pPr indent="0" marL="0">
              <a:buNone/>
            </a:pP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indent="0" marL="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Part contents"/>
          <p:cNvSpPr txBox="1"/>
          <p:nvPr/>
        </p:nvSpPr>
        <p:spPr>
          <a:xfrm>
            <a:off x="731520" y="4251960"/>
            <a:ext cx="6766560" cy="1280160"/>
          </a:xfrm>
          <a:prstGeom prst="rect">
            <a:avLst/>
          </a:prstGeom>
          <a:noFill/>
          <a:ln/>
        </p:spPr>
        <p:txBody>
          <a:bodyPr wrap="square" lIns="0" tIns="0" rIns="0" bIns="0" rtlCol="0" anchor="t"/>
          <a:lstStyle/>
          <a:p>
            <a:pPr indent="0" marL="0">
              <a:spcAft>
                <a:spcPts val="300"/>
              </a:spcAft>
              <a:buNone/>
            </a:pPr>
            <a:r>
              <a:rPr lang="en-US" sz="1200" b="1" dirty="0">
                <a:solidFill>
                  <a:srgbClr val="64748B"/>
                </a:solidFill>
              </a:rPr>
              <a:t>IN THIS PART  ·  ABOUT 3 MINUTES</a:t>
            </a:r>
            <a:endParaRPr lang="en-US" sz="1400" dirty="0"/>
          </a:p>
          <a:p>
            <a:pPr marL="342900" indent="-342900">
              <a:spcAft>
                <a:spcPts val="300"/>
              </a:spcAft>
              <a:buSzPct val="100000"/>
              <a:buChar char="•"/>
            </a:pPr>
            <a:r>
              <a:rPr lang="en-US" sz="1500" dirty="0">
                <a:solidFill>
                  <a:srgbClr val="334155"/>
                </a:solidFill>
              </a:rPr>
              <a:t>The AD CS driver, and scoping its account under ESC7</a:t>
            </a:r>
            <a:endParaRPr lang="en-US" sz="1400" dirty="0"/>
          </a:p>
          <a:p>
            <a:pPr marL="342900" indent="-342900">
              <a:spcAft>
                <a:spcPts val="300"/>
              </a:spcAft>
              <a:buSzPct val="100000"/>
              <a:buChar char="•"/>
            </a:pPr>
            <a:r>
              <a:rPr lang="en-US" sz="1500" dirty="0">
                <a:solidFill>
                  <a:srgbClr val="334155"/>
                </a:solidFill>
              </a:rPr>
              <a:t>Public and cloud CA drivers in 26.1</a:t>
            </a:r>
            <a:endParaRPr lang="en-US" sz="1400" dirty="0"/>
          </a:p>
          <a:p>
            <a:pPr marL="342900" indent="-342900">
              <a:spcAft>
                <a:spcPts val="300"/>
              </a:spcAft>
              <a:buSzPct val="100000"/>
              <a:buChar char="•"/>
            </a:pPr>
            <a:r>
              <a:rPr lang="en-US" sz="1500" dirty="0">
                <a:solidFill>
                  <a:srgbClr val="334155"/>
                </a:solidFill>
              </a:rPr>
              <a:t>Intune coexistence: who owns device certificates</a:t>
            </a:r>
            <a:endParaRPr lang="en-US" sz="1400" dirty="0"/>
          </a:p>
        </p:txBody>
      </p:sp>
      <p:sp>
        <p:nvSpPr>
          <p:cNvPr id="7" name="Sources"/>
          <p:cNvSpPr txBox="1"/>
          <p:nvPr/>
        </p:nvSpPr>
        <p:spPr>
          <a:xfrm>
            <a:off x="548640" y="5559552"/>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CyberArk 26.1 CA driver pages; Supported integrations; Deprecated features; Microsoft Learn (AD CS, Intune, Graph); Book 07 Ch 03–07.</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The AD CS driver: permissions, templates, versions</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graphicFrame>
        <p:nvGraphicFramePr>
          <p:cNvPr id="21" name="MSCA"/>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2240280"/>
                <a:gridCol w="8869680"/>
              </a:tblGrid>
              <a:tr h="292608">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Item</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What the documentation says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Driver</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"Microsoft ADCS - Enterprise and Standalone" CA template object; Microsoft CA Support installed on the platform; DCOM transport</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9260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CA account rights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Read, Issue and Manage Certificates, and Request Certificates on the CA</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Template mapping</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CA template assigned by policy on the folder or the certificate; vCert calls per-request template choice "against CyberArk recommendations". One CyberArk CA template object per AD CS template (inference)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9260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Enterprise or standalone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Both supported; only enterprise CAs use AD templates, which fits the post-AD standalone CA</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End-date control</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May need EDITF_ATTRIBUTEENDDATE on the CA: a CA policy change under Book 07 Ch 03 (event 4892); leave it off unless needed (design)</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9260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Approvals, import</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Manual approval per CA template or pool; CA Import pulls certificates by template since the last run</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WS2025" descr="">
            <a:extLst>
              <a:ext uri="{C183D7F6-B498-43B3-948B-1728B52AA6E4}">
                <adec:decorative xmlns:adec="http://schemas.microsoft.com/office/drawing/2017/decorative" val="1"/>
              </a:ext>
            </a:extLst>
          </p:cNvPr>
          <p:cNvSpPr/>
          <p:nvPr/>
        </p:nvSpPr>
        <p:spPr>
          <a:xfrm>
            <a:off x="548640" y="4892040"/>
            <a:ext cx="11109960" cy="1005840"/>
          </a:xfrm>
          <a:prstGeom prst="roundRect">
            <a:avLst>
              <a:gd name="adj" fmla="val 7273"/>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7" name="Icon FaTriangleExclamation" descr="">
            <a:extLst>
              <a:ext uri="{C183D7F6-B498-43B3-948B-1728B52AA6E4}">
                <adec:decorative xmlns:adec="http://schemas.microsoft.com/office/drawing/2017/decorative" val="1"/>
              </a:ext>
            </a:extLst>
          </p:cNvPr>
          <p:cNvSpPr/>
          <p:nvPr/>
        </p:nvSpPr>
        <p:spPr>
          <a:xfrm>
            <a:off x="777240" y="5029200"/>
            <a:ext cx="731520" cy="731520"/>
          </a:xfrm>
          <a:prstGeom prst="ellipse">
            <a:avLst/>
          </a:prstGeom>
          <a:solidFill>
            <a:srgbClr val="B45309"/>
          </a:solidFill>
          <a:ln w="12700">
            <a:solidFill>
              <a:srgbClr val="B45309"/>
            </a:solidFill>
            <a:prstDash val="solid"/>
          </a:ln>
        </p:spPr>
      </p:sp>
      <p:pic>
        <p:nvPicPr>
          <p:cNvPr id="8"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52805" y="5204765"/>
            <a:ext cx="380390" cy="380390"/>
          </a:xfrm>
          <a:prstGeom prst="rect">
            <a:avLst/>
          </a:prstGeom>
        </p:spPr>
      </p:pic>
      <p:sp>
        <p:nvSpPr>
          <p:cNvPr id="9" name="WS2025 text"/>
          <p:cNvSpPr txBox="1"/>
          <p:nvPr/>
        </p:nvSpPr>
        <p:spPr>
          <a:xfrm>
            <a:off x="1737360" y="4937760"/>
            <a:ext cx="9738360" cy="914400"/>
          </a:xfrm>
          <a:prstGeom prst="rect">
            <a:avLst/>
          </a:prstGeom>
          <a:noFill/>
          <a:ln/>
        </p:spPr>
        <p:txBody>
          <a:bodyPr wrap="square" lIns="0" tIns="0" rIns="0" bIns="0" rtlCol="0" anchor="ctr"/>
          <a:lstStyle/>
          <a:p>
            <a:pPr indent="0" marL="0">
              <a:buNone/>
            </a:pPr>
            <a:r>
              <a:rPr lang="en-US" sz="1650" b="1" dirty="0">
                <a:solidFill>
                  <a:srgbClr val="B45309"/>
                </a:solidFill>
              </a:rPr>
              <a:t>Windows Server 2025 CAs: </a:t>
            </a:r>
            <a:pPr indent="0" marL="0">
              <a:buNone/>
            </a:pPr>
            <a:r>
              <a:rPr lang="en-US" sz="1650" dirty="0">
                <a:solidFill>
                  <a:schemeClr val="tx2"/>
                </a:solidFill>
              </a:rPr>
              <a:t>the driver page covers all supported Windows Server CAs, but the integrations table stops at 2022. Get written confirmation before Wave 2.</a:t>
            </a:r>
            <a:endParaRPr lang="en-US" sz="1650" dirty="0"/>
          </a:p>
        </p:txBody>
      </p:sp>
      <p:sp>
        <p:nvSpPr>
          <p:cNvPr id="10"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CyberArk 26.1 MS ADCS CA template; MSCA settings; CA chaining; CA import; Supported integrations; vCert README; Microsoft Learn templates.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Scoping the CLM's CA account under ESC7</a:t>
            </a:r>
            <a:endParaRPr lang="en-US" sz="3000" dirty="0"/>
          </a:p>
        </p:txBody>
      </p:sp>
      <p:sp>
        <p:nvSpPr>
          <p:cNvPr id="3" name="Tag Who"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WHO</a:t>
            </a:r>
            <a:endParaRPr lang="en-US" sz="1100" dirty="0"/>
          </a:p>
        </p:txBody>
      </p:sp>
      <p:sp>
        <p:nvSpPr>
          <p:cNvPr id="5" name="Fact" descr="">
            <a:extLst>
              <a:ext uri="{C183D7F6-B498-43B3-948B-1728B52AA6E4}">
                <adec:decorative xmlns:adec="http://schemas.microsoft.com/office/drawing/2017/decorative" val="1"/>
              </a:ext>
            </a:extLst>
          </p:cNvPr>
          <p:cNvSpPr/>
          <p:nvPr/>
        </p:nvSpPr>
        <p:spPr>
          <a:xfrm>
            <a:off x="548640" y="1371600"/>
            <a:ext cx="5120640" cy="3291840"/>
          </a:xfrm>
          <a:prstGeom prst="roundRect">
            <a:avLst>
              <a:gd name="adj" fmla="val 2222"/>
            </a:avLst>
          </a:prstGeom>
          <a:solidFill>
            <a:srgbClr val="FBE4E4"/>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6" name="Fact head"/>
          <p:cNvSpPr txBox="1"/>
          <p:nvPr/>
        </p:nvSpPr>
        <p:spPr>
          <a:xfrm>
            <a:off x="731520" y="1481328"/>
            <a:ext cx="4754880" cy="640080"/>
          </a:xfrm>
          <a:prstGeom prst="rect">
            <a:avLst/>
          </a:prstGeom>
          <a:noFill/>
          <a:ln/>
        </p:spPr>
        <p:txBody>
          <a:bodyPr wrap="square" lIns="0" tIns="0" rIns="0" bIns="0" rtlCol="0" anchor="t"/>
          <a:lstStyle/>
          <a:p>
            <a:pPr indent="0" marL="0">
              <a:buNone/>
            </a:pPr>
            <a:r>
              <a:rPr lang="en-US" sz="1100" b="1" dirty="0">
                <a:solidFill>
                  <a:srgbClr val="64748B"/>
                </a:solidFill>
              </a:rPr>
              <a:t>WHY IT'S SENSITIVE</a:t>
            </a:r>
            <a:endParaRPr lang="en-US" sz="1400" dirty="0"/>
          </a:p>
        </p:txBody>
      </p:sp>
      <p:sp>
        <p:nvSpPr>
          <p:cNvPr id="7" name="Fact list"/>
          <p:cNvSpPr txBox="1"/>
          <p:nvPr/>
        </p:nvSpPr>
        <p:spPr>
          <a:xfrm>
            <a:off x="731520" y="1810512"/>
            <a:ext cx="4800600" cy="2779776"/>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2"/>
                </a:solidFill>
              </a:rPr>
              <a:t>Issue and Manage Certificates is the certificate-manager right: issue, deny, revoke, reinstate, without Manage CA</a:t>
            </a:r>
            <a:endParaRPr lang="en-US" sz="1400" dirty="0"/>
          </a:p>
          <a:p>
            <a:pPr marL="342900" indent="-342900">
              <a:spcAft>
                <a:spcPts val="300"/>
              </a:spcAft>
              <a:buSzPct val="100000"/>
              <a:buChar char="•"/>
            </a:pPr>
            <a:r>
              <a:rPr lang="en-US" sz="1200" dirty="0">
                <a:solidFill>
                  <a:schemeClr val="tx2"/>
                </a:solidFill>
              </a:rPr>
              <a:t>Defender for Identity's ESC7 assessment flags unprivileged holders of it</a:t>
            </a:r>
            <a:endParaRPr lang="en-US" sz="1400" dirty="0"/>
          </a:p>
          <a:p>
            <a:pPr marL="342900" indent="-342900">
              <a:spcAft>
                <a:spcPts val="300"/>
              </a:spcAft>
              <a:buSzPct val="100000"/>
              <a:buChar char="•"/>
            </a:pPr>
            <a:r>
              <a:rPr lang="en-US" sz="1200" dirty="0">
                <a:solidFill>
                  <a:schemeClr val="tx2"/>
                </a:solidFill>
              </a:rPr>
              <a:t>Microsoft: define each certificate manager's templates and requesters; test allowed and denied requests</a:t>
            </a:r>
            <a:endParaRPr lang="en-US" sz="1400" dirty="0"/>
          </a:p>
        </p:txBody>
      </p:sp>
      <p:sp>
        <p:nvSpPr>
          <p:cNvPr id="8" name="Fix label"/>
          <p:cNvSpPr txBox="1"/>
          <p:nvPr/>
        </p:nvSpPr>
        <p:spPr>
          <a:xfrm>
            <a:off x="5852160" y="1371600"/>
            <a:ext cx="5806440" cy="256032"/>
          </a:xfrm>
          <a:prstGeom prst="rect">
            <a:avLst/>
          </a:prstGeom>
          <a:noFill/>
          <a:ln/>
        </p:spPr>
        <p:txBody>
          <a:bodyPr wrap="square" lIns="0" tIns="0" rIns="0" bIns="0" rtlCol="0" anchor="ctr"/>
          <a:lstStyle/>
          <a:p>
            <a:pPr indent="0" marL="0">
              <a:buNone/>
            </a:pPr>
            <a:r>
              <a:rPr lang="en-US" sz="1100" b="1" dirty="0">
                <a:solidFill>
                  <a:srgbClr val="B91C1C"/>
                </a:solidFill>
              </a:rPr>
              <a:t>CORRECTS BOOK 07 CH 05 — BOOK 07 HAS BEEN UPDATED</a:t>
            </a:r>
            <a:endParaRPr lang="en-US" sz="1100" dirty="0"/>
          </a:p>
        </p:txBody>
      </p:sp>
      <p:sp>
        <p:nvSpPr>
          <p:cNvPr id="9" name="Correction"/>
          <p:cNvSpPr txBox="1"/>
          <p:nvPr/>
        </p:nvSpPr>
        <p:spPr>
          <a:xfrm>
            <a:off x="5852160" y="1691640"/>
            <a:ext cx="5806440" cy="1188720"/>
          </a:xfrm>
          <a:prstGeom prst="rect">
            <a:avLst/>
          </a:prstGeom>
          <a:noFill/>
          <a:ln/>
        </p:spPr>
        <p:txBody>
          <a:bodyPr wrap="square" lIns="0" tIns="0" rIns="0" bIns="0" rtlCol="0" anchor="t"/>
          <a:lstStyle/>
          <a:p>
            <a:pPr indent="0" marL="0">
              <a:buNone/>
            </a:pPr>
            <a:r>
              <a:rPr lang="en-US" sz="1250" b="1" dirty="0">
                <a:solidFill>
                  <a:srgbClr val="1F2A44"/>
                </a:solidFill>
              </a:rPr>
              <a:t>Microsoft publishes no Windows Server 2025 procedure for certificate-manager restrictions. </a:t>
            </a:r>
            <a:pPr indent="0" marL="0">
              <a:buNone/>
            </a:pPr>
            <a:r>
              <a:rPr lang="en-US" sz="1250" dirty="0">
                <a:solidFill>
                  <a:schemeClr val="tx2"/>
                </a:solidFill>
              </a:rPr>
              <a:t>So "scope the account to its templates" rests on template permissions plus lab-tested allowed and denied requests, not an assumed CA-side control.</a:t>
            </a:r>
            <a:endParaRPr lang="en-US" sz="1250" dirty="0"/>
          </a:p>
        </p:txBody>
      </p:sp>
      <p:sp>
        <p:nvSpPr>
          <p:cNvPr id="10" name="Design label"/>
          <p:cNvSpPr txBox="1"/>
          <p:nvPr/>
        </p:nvSpPr>
        <p:spPr>
          <a:xfrm>
            <a:off x="5852160" y="2926080"/>
            <a:ext cx="5806440" cy="256032"/>
          </a:xfrm>
          <a:prstGeom prst="rect">
            <a:avLst/>
          </a:prstGeom>
          <a:noFill/>
          <a:ln/>
        </p:spPr>
        <p:txBody>
          <a:bodyPr wrap="square" lIns="0" tIns="0" rIns="0" bIns="0" rtlCol="0" anchor="ctr"/>
          <a:lstStyle/>
          <a:p>
            <a:pPr indent="0" marL="0">
              <a:buNone/>
            </a:pPr>
            <a:r>
              <a:rPr lang="en-US" sz="1100" b="1" dirty="0">
                <a:solidFill>
                  <a:srgbClr val="B91C1C"/>
                </a:solidFill>
              </a:rPr>
              <a:t>PROGRAM DESIGN GUIDANCE</a:t>
            </a:r>
            <a:endParaRPr lang="en-US" sz="1100" dirty="0"/>
          </a:p>
        </p:txBody>
      </p:sp>
      <p:sp>
        <p:nvSpPr>
          <p:cNvPr id="11" name="Controls"/>
          <p:cNvSpPr txBox="1"/>
          <p:nvPr/>
        </p:nvSpPr>
        <p:spPr>
          <a:xfrm>
            <a:off x="5852160" y="3200400"/>
            <a:ext cx="5806440" cy="1828800"/>
          </a:xfrm>
          <a:prstGeom prst="rect">
            <a:avLst/>
          </a:prstGeom>
          <a:noFill/>
          <a:ln/>
        </p:spPr>
        <p:txBody>
          <a:bodyPr wrap="square" lIns="0" tIns="0" rIns="0" bIns="0" rtlCol="0" anchor="t"/>
          <a:lstStyle/>
          <a:p>
            <a:pPr marL="342900" indent="-342900">
              <a:spcAft>
                <a:spcPts val="200"/>
              </a:spcAft>
              <a:buSzPct val="100000"/>
              <a:buChar char="•"/>
            </a:pPr>
            <a:r>
              <a:rPr lang="en-US" sz="1200" dirty="0">
                <a:solidFill>
                  <a:schemeClr val="tx2"/>
                </a:solidFill>
              </a:rPr>
              <a:t>Dedicated account (gMSA where the CA allows); deny interactive logon</a:t>
            </a:r>
            <a:endParaRPr lang="en-US" sz="1200" dirty="0"/>
          </a:p>
          <a:p>
            <a:pPr marL="342900" indent="-342900">
              <a:spcAft>
                <a:spcPts val="200"/>
              </a:spcAft>
              <a:buSzPct val="100000"/>
              <a:buChar char="•"/>
            </a:pPr>
            <a:r>
              <a:rPr lang="en-US" sz="1200" dirty="0">
                <a:solidFill>
                  <a:schemeClr val="tx2"/>
                </a:solidFill>
              </a:rPr>
              <a:t>DCOM to the CA from the platform's engine servers only</a:t>
            </a:r>
            <a:endParaRPr lang="en-US" sz="1200" dirty="0"/>
          </a:p>
          <a:p>
            <a:pPr marL="342900" indent="-342900">
              <a:spcAft>
                <a:spcPts val="200"/>
              </a:spcAft>
              <a:buSzPct val="100000"/>
              <a:buChar char="•"/>
            </a:pPr>
            <a:r>
              <a:rPr lang="en-US" sz="1200" dirty="0">
                <a:solidFill>
                  <a:schemeClr val="tx2"/>
                </a:solidFill>
              </a:rPr>
              <a:t>Read and Enroll only on the platform's templates</a:t>
            </a:r>
            <a:endParaRPr lang="en-US" sz="1200" dirty="0"/>
          </a:p>
          <a:p>
            <a:pPr marL="342900" indent="-342900">
              <a:spcAft>
                <a:spcPts val="200"/>
              </a:spcAft>
              <a:buSzPct val="100000"/>
              <a:buChar char="•"/>
            </a:pPr>
            <a:r>
              <a:rPr lang="en-US" sz="1200" dirty="0">
                <a:solidFill>
                  <a:schemeClr val="tx2"/>
                </a:solidFill>
              </a:rPr>
              <a:t>Alert: 4887 for this requester outside those templates; 4882, 4890, 4892</a:t>
            </a:r>
            <a:endParaRPr lang="en-US" sz="1200" dirty="0"/>
          </a:p>
          <a:p>
            <a:pPr marL="342900" indent="-342900">
              <a:spcAft>
                <a:spcPts val="200"/>
              </a:spcAft>
              <a:buSzPct val="100000"/>
              <a:buChar char="•"/>
            </a:pPr>
            <a:r>
              <a:rPr lang="en-US" sz="1200" dirty="0">
                <a:solidFill>
                  <a:schemeClr val="tx2"/>
                </a:solidFill>
              </a:rPr>
              <a:t>In the quarterly ESC7 review; negative test on record</a:t>
            </a:r>
            <a:endParaRPr lang="en-US" sz="1200" dirty="0"/>
          </a:p>
        </p:txBody>
      </p:sp>
      <p:sp>
        <p:nvSpPr>
          <p:cNvPr id="12" name="Infer"/>
          <p:cNvSpPr txBox="1"/>
          <p:nvPr/>
        </p:nvSpPr>
        <p:spPr>
          <a:xfrm>
            <a:off x="548640" y="5120640"/>
            <a:ext cx="11109960" cy="685800"/>
          </a:xfrm>
          <a:prstGeom prst="rect">
            <a:avLst/>
          </a:prstGeom>
          <a:noFill/>
          <a:ln/>
        </p:spPr>
        <p:txBody>
          <a:bodyPr wrap="square" lIns="0" tIns="0" rIns="0" bIns="0" rtlCol="0" anchor="t"/>
          <a:lstStyle/>
          <a:p>
            <a:pPr indent="0" marL="0">
              <a:buNone/>
            </a:pPr>
            <a:r>
              <a:rPr lang="en-US" sz="1250" b="1" dirty="0">
                <a:solidFill>
                  <a:srgbClr val="B45309"/>
                </a:solidFill>
              </a:rPr>
              <a:t>Why the tests carry weight (inference): </a:t>
            </a:r>
            <a:pPr indent="0" marL="0">
              <a:buNone/>
            </a:pPr>
            <a:r>
              <a:rPr lang="en-US" sz="1250" dirty="0">
                <a:solidFill>
                  <a:schemeClr val="tx2"/>
                </a:solidFill>
              </a:rPr>
              <a:t>template permissions limit what the account requests; they don't narrow the certificate-manager right itself.</a:t>
            </a:r>
            <a:endParaRPr lang="en-US" sz="1250" dirty="0"/>
          </a:p>
        </p:txBody>
      </p:sp>
      <p:sp>
        <p:nvSpPr>
          <p:cNvPr id="13"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secure, delegate and audit a CA; pending requests; Defender for Identity assessments; CyberArk 26.1 MS ADCS; Book 07 Ch 03, 05.</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Public and cloud CA drivers in 26.1</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sp>
        <p:nvSpPr>
          <p:cNvPr id="5" name="Public" descr="">
            <a:extLst>
              <a:ext uri="{C183D7F6-B498-43B3-948B-1728B52AA6E4}">
                <adec:decorative xmlns:adec="http://schemas.microsoft.com/office/drawing/2017/decorative" val="1"/>
              </a:ext>
            </a:extLst>
          </p:cNvPr>
          <p:cNvSpPr/>
          <p:nvPr/>
        </p:nvSpPr>
        <p:spPr>
          <a:xfrm>
            <a:off x="548640" y="1371600"/>
            <a:ext cx="5486400" cy="3108960"/>
          </a:xfrm>
          <a:prstGeom prst="roundRect">
            <a:avLst>
              <a:gd name="adj" fmla="val 2353"/>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6" name="Public head"/>
          <p:cNvSpPr txBox="1"/>
          <p:nvPr/>
        </p:nvSpPr>
        <p:spPr>
          <a:xfrm>
            <a:off x="731520" y="1481328"/>
            <a:ext cx="5120640" cy="640080"/>
          </a:xfrm>
          <a:prstGeom prst="rect">
            <a:avLst/>
          </a:prstGeom>
          <a:noFill/>
          <a:ln/>
        </p:spPr>
        <p:txBody>
          <a:bodyPr wrap="square" lIns="0" tIns="0" rIns="0" bIns="0" rtlCol="0" anchor="t"/>
          <a:lstStyle/>
          <a:p>
            <a:pPr indent="0" marL="0">
              <a:buNone/>
            </a:pPr>
            <a:r>
              <a:rPr lang="en-US" sz="1100" b="1" dirty="0">
                <a:solidFill>
                  <a:srgbClr val="64748B"/>
                </a:solidFill>
              </a:rPr>
              <a:t>PUBLIC CA DRIVERS</a:t>
            </a:r>
            <a:endParaRPr lang="en-US" sz="1400" dirty="0"/>
          </a:p>
        </p:txBody>
      </p:sp>
      <p:sp>
        <p:nvSpPr>
          <p:cNvPr id="7" name="Public list"/>
          <p:cNvSpPr txBox="1"/>
          <p:nvPr/>
        </p:nvSpPr>
        <p:spPr>
          <a:xfrm>
            <a:off x="731520" y="1810512"/>
            <a:ext cx="5166360" cy="2596896"/>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2"/>
                </a:solidFill>
              </a:rPr>
              <a:t>DigiCert CertCentral (TLS, S/MIME), Sectigo Certificate Manager, GlobalSign MSSL, HID PKIaaS, QuoVadis, VikingCloud, Amazon</a:t>
            </a:r>
            <a:endParaRPr lang="en-US" sz="1400" dirty="0"/>
          </a:p>
          <a:p>
            <a:pPr marL="342900" indent="-342900">
              <a:spcAft>
                <a:spcPts val="300"/>
              </a:spcAft>
              <a:buSzPct val="100000"/>
              <a:buChar char="•"/>
            </a:pPr>
            <a:r>
              <a:rPr lang="en-US" sz="1200" dirty="0">
                <a:solidFill>
                  <a:schemeClr val="tx2"/>
                </a:solidFill>
              </a:rPr>
              <a:t>Entrust Certificate Services removed in 26.1, migrated to Sectigo; the Entrust CA Gateway driver remains</a:t>
            </a:r>
            <a:endParaRPr lang="en-US" sz="1400" dirty="0"/>
          </a:p>
          <a:p>
            <a:pPr marL="342900" indent="-342900">
              <a:spcAft>
                <a:spcPts val="300"/>
              </a:spcAft>
              <a:buSzPct val="100000"/>
              <a:buChar char="•"/>
            </a:pPr>
            <a:r>
              <a:rPr lang="en-US" sz="1200" dirty="0">
                <a:solidFill>
                  <a:schemeClr val="tx2"/>
                </a:solidFill>
              </a:rPr>
              <a:t>DigiCert client and S/MIME: an email SAN is now required, or renewals fail after upgrade</a:t>
            </a:r>
            <a:endParaRPr lang="en-US" sz="1400" dirty="0"/>
          </a:p>
          <a:p>
            <a:pPr marL="342900" indent="-342900">
              <a:spcAft>
                <a:spcPts val="300"/>
              </a:spcAft>
              <a:buSzPct val="100000"/>
              <a:buChar char="•"/>
            </a:pPr>
            <a:r>
              <a:rPr lang="en-US" sz="1200" dirty="0">
                <a:solidFill>
                  <a:schemeClr val="tx2"/>
                </a:solidFill>
              </a:rPr>
              <a:t>No ACME-client driver to public CAs: the platform is an ACME server</a:t>
            </a:r>
            <a:endParaRPr lang="en-US" sz="1400" dirty="0"/>
          </a:p>
        </p:txBody>
      </p:sp>
      <p:sp>
        <p:nvSpPr>
          <p:cNvPr id="8" name="Cloud" descr="">
            <a:extLst>
              <a:ext uri="{C183D7F6-B498-43B3-948B-1728B52AA6E4}">
                <adec:decorative xmlns:adec="http://schemas.microsoft.com/office/drawing/2017/decorative" val="1"/>
              </a:ext>
            </a:extLst>
          </p:cNvPr>
          <p:cNvSpPr/>
          <p:nvPr/>
        </p:nvSpPr>
        <p:spPr>
          <a:xfrm>
            <a:off x="6172200" y="1371600"/>
            <a:ext cx="5486400" cy="3108960"/>
          </a:xfrm>
          <a:prstGeom prst="roundRect">
            <a:avLst>
              <a:gd name="adj" fmla="val 2353"/>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9" name="Cloud head"/>
          <p:cNvSpPr txBox="1"/>
          <p:nvPr/>
        </p:nvSpPr>
        <p:spPr>
          <a:xfrm>
            <a:off x="6355080" y="1481328"/>
            <a:ext cx="5120640" cy="640080"/>
          </a:xfrm>
          <a:prstGeom prst="rect">
            <a:avLst/>
          </a:prstGeom>
          <a:noFill/>
          <a:ln/>
        </p:spPr>
        <p:txBody>
          <a:bodyPr wrap="square" lIns="0" tIns="0" rIns="0" bIns="0" rtlCol="0" anchor="t"/>
          <a:lstStyle/>
          <a:p>
            <a:pPr indent="0" marL="0">
              <a:buNone/>
            </a:pPr>
            <a:r>
              <a:rPr lang="en-US" sz="1100" b="1" dirty="0">
                <a:solidFill>
                  <a:srgbClr val="64748B"/>
                </a:solidFill>
              </a:rPr>
              <a:t>CLOUD (ONLY WHAT'S DOCUMENTED)</a:t>
            </a:r>
            <a:endParaRPr lang="en-US" sz="1400" dirty="0"/>
          </a:p>
        </p:txBody>
      </p:sp>
      <p:sp>
        <p:nvSpPr>
          <p:cNvPr id="10" name="Cloud list"/>
          <p:cNvSpPr txBox="1"/>
          <p:nvPr/>
        </p:nvSpPr>
        <p:spPr>
          <a:xfrm>
            <a:off x="6355080" y="1810512"/>
            <a:ext cx="5166360" cy="2596896"/>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2"/>
                </a:solidFill>
              </a:rPr>
              <a:t>AWS Certificate Manager driver issues public and private certificates, with Amazon Private CA</a:t>
            </a:r>
            <a:endParaRPr lang="en-US" sz="1400" dirty="0"/>
          </a:p>
          <a:p>
            <a:pPr marL="342900" indent="-342900">
              <a:spcAft>
                <a:spcPts val="300"/>
              </a:spcAft>
              <a:buSzPct val="100000"/>
              <a:buChar char="•"/>
            </a:pPr>
            <a:r>
              <a:rPr lang="en-US" sz="1200" dirty="0">
                <a:solidFill>
                  <a:schemeClr val="tx2"/>
                </a:solidFill>
              </a:rPr>
              <a:t>CA Import from Amazon Private CA via audit reports in S3 (at most every 30 minutes)</a:t>
            </a:r>
            <a:endParaRPr lang="en-US" sz="1400" dirty="0"/>
          </a:p>
          <a:p>
            <a:pPr marL="342900" indent="-342900">
              <a:spcAft>
                <a:spcPts val="300"/>
              </a:spcAft>
              <a:buSzPct val="100000"/>
              <a:buChar char="•"/>
            </a:pPr>
            <a:r>
              <a:rPr lang="en-US" sz="1200" dirty="0">
                <a:solidFill>
                  <a:schemeClr val="tx2"/>
                </a:solidFill>
              </a:rPr>
              <a:t>Azure Key Vault is a provisioning target, not a CA: Certificates Officer and Secrets Officer roles</a:t>
            </a:r>
            <a:endParaRPr lang="en-US" sz="1400" dirty="0"/>
          </a:p>
          <a:p>
            <a:pPr marL="342900" indent="-342900">
              <a:spcAft>
                <a:spcPts val="300"/>
              </a:spcAft>
              <a:buSzPct val="100000"/>
              <a:buChar char="•"/>
            </a:pPr>
            <a:r>
              <a:rPr lang="en-US" sz="1200" dirty="0">
                <a:solidFill>
                  <a:schemeClr val="tx2"/>
                </a:solidFill>
              </a:rPr>
              <a:t>Azure Government endpoints for Key Vault: not documented</a:t>
            </a:r>
            <a:endParaRPr lang="en-US" sz="1400" dirty="0"/>
          </a:p>
        </p:txBody>
      </p:sp>
      <p:sp>
        <p:nvSpPr>
          <p:cNvPr id="11" name="Entrust" descr="">
            <a:extLst>
              <a:ext uri="{C183D7F6-B498-43B3-948B-1728B52AA6E4}">
                <adec:decorative xmlns:adec="http://schemas.microsoft.com/office/drawing/2017/decorative" val="1"/>
              </a:ext>
            </a:extLst>
          </p:cNvPr>
          <p:cNvSpPr/>
          <p:nvPr/>
        </p:nvSpPr>
        <p:spPr>
          <a:xfrm>
            <a:off x="548640" y="4617720"/>
            <a:ext cx="11109960" cy="1280160"/>
          </a:xfrm>
          <a:prstGeom prst="roundRect">
            <a:avLst>
              <a:gd name="adj" fmla="val 5714"/>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2" name="Icon FaTriangleExclamation" descr="">
            <a:extLst>
              <a:ext uri="{C183D7F6-B498-43B3-948B-1728B52AA6E4}">
                <adec:decorative xmlns:adec="http://schemas.microsoft.com/office/drawing/2017/decorative" val="1"/>
              </a:ext>
            </a:extLst>
          </p:cNvPr>
          <p:cNvSpPr/>
          <p:nvPr/>
        </p:nvSpPr>
        <p:spPr>
          <a:xfrm>
            <a:off x="777240" y="4892040"/>
            <a:ext cx="731520" cy="731520"/>
          </a:xfrm>
          <a:prstGeom prst="ellipse">
            <a:avLst/>
          </a:prstGeom>
          <a:solidFill>
            <a:srgbClr val="B45309"/>
          </a:solidFill>
          <a:ln w="12700">
            <a:solidFill>
              <a:srgbClr val="B45309"/>
            </a:solidFill>
            <a:prstDash val="solid"/>
          </a:ln>
        </p:spPr>
      </p:sp>
      <p:pic>
        <p:nvPicPr>
          <p:cNvPr id="13"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52805" y="5067605"/>
            <a:ext cx="380390" cy="380390"/>
          </a:xfrm>
          <a:prstGeom prst="rect">
            <a:avLst/>
          </a:prstGeom>
        </p:spPr>
      </p:pic>
      <p:sp>
        <p:nvSpPr>
          <p:cNvPr id="14" name="Entrust text"/>
          <p:cNvSpPr txBox="1"/>
          <p:nvPr/>
        </p:nvSpPr>
        <p:spPr>
          <a:xfrm>
            <a:off x="1737360" y="4663440"/>
            <a:ext cx="9738360" cy="1188720"/>
          </a:xfrm>
          <a:prstGeom prst="rect">
            <a:avLst/>
          </a:prstGeom>
          <a:noFill/>
          <a:ln/>
        </p:spPr>
        <p:txBody>
          <a:bodyPr wrap="square" lIns="0" tIns="0" rIns="0" bIns="0" rtlCol="0" anchor="ctr"/>
          <a:lstStyle/>
          <a:p>
            <a:pPr indent="0" marL="0">
              <a:buNone/>
            </a:pPr>
            <a:r>
              <a:rPr lang="en-US" sz="1650" b="1" dirty="0">
                <a:solidFill>
                  <a:srgbClr val="B45309"/>
                </a:solidFill>
              </a:rPr>
              <a:t>Before upgrading to 26.1: </a:t>
            </a:r>
            <a:pPr indent="0" marL="0">
              <a:buNone/>
            </a:pPr>
            <a:r>
              <a:rPr lang="en-US" sz="1650" dirty="0">
                <a:solidFill>
                  <a:schemeClr val="tx2"/>
                </a:solidFill>
              </a:rPr>
              <a:t>if the agency's public CA is Entrust, plan the issuing path first, and fix DigiCert client templates that lack an email SAN.</a:t>
            </a:r>
            <a:endParaRPr lang="en-US" sz="1650" dirty="0"/>
          </a:p>
        </p:txBody>
      </p:sp>
      <p:sp>
        <p:nvSpPr>
          <p:cNvPr id="15"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CyberArk 26.1 System Requirements; Supported integrations; Deprecated features; Important considerations; CA driver, import and Azure pages.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Intune coexistence: who owns device certificates</a:t>
            </a:r>
            <a:endParaRPr lang="en-US" sz="3000" dirty="0"/>
          </a:p>
        </p:txBody>
      </p:sp>
      <p:sp>
        <p:nvSpPr>
          <p:cNvPr id="3" name="Tag Who"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WHO</a:t>
            </a:r>
            <a:endParaRPr lang="en-US" sz="1100" dirty="0"/>
          </a:p>
        </p:txBody>
      </p:sp>
      <p:sp>
        <p:nvSpPr>
          <p:cNvPr id="5" name="Owns" descr="">
            <a:extLst>
              <a:ext uri="{C183D7F6-B498-43B3-948B-1728B52AA6E4}">
                <adec:decorative xmlns:adec="http://schemas.microsoft.com/office/drawing/2017/decorative" val="1"/>
              </a:ext>
            </a:extLst>
          </p:cNvPr>
          <p:cNvSpPr/>
          <p:nvPr/>
        </p:nvSpPr>
        <p:spPr>
          <a:xfrm>
            <a:off x="548640" y="1371600"/>
            <a:ext cx="3566160" cy="3611880"/>
          </a:xfrm>
          <a:prstGeom prst="roundRect">
            <a:avLst>
              <a:gd name="adj" fmla="val 2051"/>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6" name="Owns head"/>
          <p:cNvSpPr txBox="1"/>
          <p:nvPr/>
        </p:nvSpPr>
        <p:spPr>
          <a:xfrm>
            <a:off x="731520" y="1481328"/>
            <a:ext cx="3200400" cy="640080"/>
          </a:xfrm>
          <a:prstGeom prst="rect">
            <a:avLst/>
          </a:prstGeom>
          <a:noFill/>
          <a:ln/>
        </p:spPr>
        <p:txBody>
          <a:bodyPr wrap="square" lIns="0" tIns="0" rIns="0" bIns="0" rtlCol="0" anchor="t"/>
          <a:lstStyle/>
          <a:p>
            <a:pPr indent="0" marL="0">
              <a:buNone/>
            </a:pPr>
            <a:r>
              <a:rPr lang="en-US" sz="1100" b="1" dirty="0">
                <a:solidFill>
                  <a:srgbClr val="64748B"/>
                </a:solidFill>
              </a:rPr>
              <a:t>INTUNE OWNS DEVICE CERTIFICATES</a:t>
            </a:r>
            <a:endParaRPr lang="en-US" sz="1400" dirty="0"/>
          </a:p>
        </p:txBody>
      </p:sp>
      <p:sp>
        <p:nvSpPr>
          <p:cNvPr id="7" name="Owns list"/>
          <p:cNvSpPr txBox="1"/>
          <p:nvPr/>
        </p:nvSpPr>
        <p:spPr>
          <a:xfrm>
            <a:off x="731520" y="1810512"/>
            <a:ext cx="3246120" cy="3099816"/>
          </a:xfrm>
          <a:prstGeom prst="rect">
            <a:avLst/>
          </a:prstGeom>
          <a:noFill/>
          <a:ln/>
        </p:spPr>
        <p:txBody>
          <a:bodyPr wrap="square" lIns="0" tIns="0" rIns="0" bIns="0" rtlCol="0" anchor="t"/>
          <a:lstStyle/>
          <a:p>
            <a:pPr marL="342900" indent="-342900">
              <a:spcAft>
                <a:spcPts val="300"/>
              </a:spcAft>
              <a:buSzPct val="100000"/>
              <a:buChar char="•"/>
            </a:pPr>
            <a:r>
              <a:rPr lang="en-US" sz="1150" dirty="0">
                <a:solidFill>
                  <a:schemeClr val="tx2"/>
                </a:solidFill>
              </a:rPr>
              <a:t>Cloud PKI issues through SCEP to Intune-managed devices; Intune renews</a:t>
            </a:r>
            <a:endParaRPr lang="en-US" sz="1400" dirty="0"/>
          </a:p>
          <a:p>
            <a:pPr marL="342900" indent="-342900">
              <a:spcAft>
                <a:spcPts val="300"/>
              </a:spcAft>
              <a:buSzPct val="100000"/>
              <a:buChar char="•"/>
            </a:pPr>
            <a:r>
              <a:rPr lang="en-US" sz="1150" dirty="0">
                <a:solidFill>
                  <a:schemeClr val="tx2"/>
                </a:solidFill>
              </a:rPr>
              <a:t>AD CS-issued Intune certificates (bridge) reach the CLM by CA Import: monitor-only, no renewal binding (design)</a:t>
            </a:r>
            <a:endParaRPr lang="en-US" sz="1400" dirty="0"/>
          </a:p>
          <a:p>
            <a:pPr marL="342900" indent="-342900">
              <a:spcAft>
                <a:spcPts val="300"/>
              </a:spcAft>
              <a:buSzPct val="100000"/>
              <a:buChar char="•"/>
            </a:pPr>
            <a:r>
              <a:rPr lang="en-US" sz="1150" dirty="0">
                <a:solidFill>
                  <a:schemeClr val="tx2"/>
                </a:solidFill>
              </a:rPr>
              <a:t>SANs: {{DeviceName}} everywhere; {{FullyQualifiedDomainName}} only on domain-joined Windows</a:t>
            </a:r>
            <a:endParaRPr lang="en-US" sz="1400" dirty="0"/>
          </a:p>
        </p:txBody>
      </p:sp>
      <p:sp>
        <p:nvSpPr>
          <p:cNvPr id="8" name="Reject" descr="">
            <a:extLst>
              <a:ext uri="{C183D7F6-B498-43B3-948B-1728B52AA6E4}">
                <adec:decorative xmlns:adec="http://schemas.microsoft.com/office/drawing/2017/decorative" val="1"/>
              </a:ext>
            </a:extLst>
          </p:cNvPr>
          <p:cNvSpPr/>
          <p:nvPr/>
        </p:nvSpPr>
        <p:spPr>
          <a:xfrm>
            <a:off x="4251960" y="1371600"/>
            <a:ext cx="3611880" cy="3611880"/>
          </a:xfrm>
          <a:prstGeom prst="roundRect">
            <a:avLst>
              <a:gd name="adj" fmla="val 2025"/>
            </a:avLst>
          </a:prstGeom>
          <a:solidFill>
            <a:srgbClr val="FBE4E4"/>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9" name="Reject head"/>
          <p:cNvSpPr txBox="1"/>
          <p:nvPr/>
        </p:nvSpPr>
        <p:spPr>
          <a:xfrm>
            <a:off x="4434840" y="1481328"/>
            <a:ext cx="3246120" cy="640080"/>
          </a:xfrm>
          <a:prstGeom prst="rect">
            <a:avLst/>
          </a:prstGeom>
          <a:noFill/>
          <a:ln/>
        </p:spPr>
        <p:txBody>
          <a:bodyPr wrap="square" lIns="0" tIns="0" rIns="0" bIns="0" rtlCol="0" anchor="t"/>
          <a:lstStyle/>
          <a:p>
            <a:pPr indent="0" marL="0">
              <a:buNone/>
            </a:pPr>
            <a:r>
              <a:rPr lang="en-US" sz="1100" b="1" dirty="0">
                <a:solidFill>
                  <a:srgbClr val="64748B"/>
                </a:solidFill>
              </a:rPr>
              <a:t>DOCUMENTED, BUT REJECTED (DESIGN)</a:t>
            </a:r>
            <a:endParaRPr lang="en-US" sz="1400" dirty="0"/>
          </a:p>
        </p:txBody>
      </p:sp>
      <p:sp>
        <p:nvSpPr>
          <p:cNvPr id="10" name="Reject list"/>
          <p:cNvSpPr txBox="1"/>
          <p:nvPr/>
        </p:nvSpPr>
        <p:spPr>
          <a:xfrm>
            <a:off x="4434840" y="1810512"/>
            <a:ext cx="3291840" cy="3099816"/>
          </a:xfrm>
          <a:prstGeom prst="rect">
            <a:avLst/>
          </a:prstGeom>
          <a:noFill/>
          <a:ln/>
        </p:spPr>
        <p:txBody>
          <a:bodyPr wrap="square" lIns="0" tIns="0" rIns="0" bIns="0" rtlCol="0" anchor="t"/>
          <a:lstStyle/>
          <a:p>
            <a:pPr marL="342900" indent="-342900">
              <a:spcAft>
                <a:spcPts val="300"/>
              </a:spcAft>
              <a:buSzPct val="100000"/>
              <a:buChar char="•"/>
            </a:pPr>
            <a:r>
              <a:rPr lang="en-US" sz="1150" dirty="0">
                <a:solidFill>
                  <a:schemeClr val="tx2"/>
                </a:solidFill>
              </a:rPr>
              <a:t>The platform can be an Intune third-party SCEP CA (Entra app, Application.Read.All)</a:t>
            </a:r>
            <a:endParaRPr lang="en-US" sz="1400" dirty="0"/>
          </a:p>
          <a:p>
            <a:pPr marL="342900" indent="-342900">
              <a:spcAft>
                <a:spcPts val="300"/>
              </a:spcAft>
              <a:buSzPct val="100000"/>
              <a:buChar char="•"/>
            </a:pPr>
            <a:r>
              <a:rPr lang="en-US" sz="1150" dirty="0">
                <a:solidFill>
                  <a:schemeClr val="tx2"/>
                </a:solidFill>
              </a:rPr>
              <a:t>It would be a second issuer for a migrating population (Ch 07 rule 1)</a:t>
            </a:r>
            <a:endParaRPr lang="en-US" sz="1400" dirty="0"/>
          </a:p>
          <a:p>
            <a:pPr marL="342900" indent="-342900">
              <a:spcAft>
                <a:spcPts val="300"/>
              </a:spcAft>
              <a:buSzPct val="100000"/>
              <a:buChar char="•"/>
            </a:pPr>
            <a:r>
              <a:rPr lang="en-US" sz="1150" dirty="0">
                <a:solidFill>
                  <a:schemeClr val="tx2"/>
                </a:solidFill>
              </a:rPr>
              <a:t>Adds a tenant-wide consent; revocation after wipe depends on the third party's API</a:t>
            </a:r>
            <a:endParaRPr lang="en-US" sz="1400" dirty="0"/>
          </a:p>
        </p:txBody>
      </p:sp>
      <p:sp>
        <p:nvSpPr>
          <p:cNvPr id="11" name="Fix label"/>
          <p:cNvSpPr txBox="1"/>
          <p:nvPr/>
        </p:nvSpPr>
        <p:spPr>
          <a:xfrm>
            <a:off x="8001000" y="1371600"/>
            <a:ext cx="3657600" cy="256032"/>
          </a:xfrm>
          <a:prstGeom prst="rect">
            <a:avLst/>
          </a:prstGeom>
          <a:noFill/>
          <a:ln/>
        </p:spPr>
        <p:txBody>
          <a:bodyPr wrap="square" lIns="0" tIns="0" rIns="0" bIns="0" rtlCol="0" anchor="ctr"/>
          <a:lstStyle/>
          <a:p>
            <a:pPr indent="0" marL="0">
              <a:buNone/>
            </a:pPr>
            <a:r>
              <a:rPr lang="en-US" sz="1100" b="1" dirty="0">
                <a:solidFill>
                  <a:srgbClr val="B91C1C"/>
                </a:solidFill>
              </a:rPr>
              <a:t>CORRECTS BOOK 07 CH 04 — BEING UPDATED</a:t>
            </a:r>
            <a:endParaRPr lang="en-US" sz="1100" dirty="0"/>
          </a:p>
        </p:txBody>
      </p:sp>
      <p:sp>
        <p:nvSpPr>
          <p:cNvPr id="12" name="Graph" descr="">
            <a:extLst>
              <a:ext uri="{C183D7F6-B498-43B3-948B-1728B52AA6E4}">
                <adec:decorative xmlns:adec="http://schemas.microsoft.com/office/drawing/2017/decorative" val="1"/>
              </a:ext>
            </a:extLst>
          </p:cNvPr>
          <p:cNvSpPr/>
          <p:nvPr/>
        </p:nvSpPr>
        <p:spPr>
          <a:xfrm>
            <a:off x="8001000" y="1664208"/>
            <a:ext cx="3657600" cy="3319272"/>
          </a:xfrm>
          <a:prstGeom prst="roundRect">
            <a:avLst>
              <a:gd name="adj" fmla="val 2204"/>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13" name="Graph head"/>
          <p:cNvSpPr txBox="1"/>
          <p:nvPr/>
        </p:nvSpPr>
        <p:spPr>
          <a:xfrm>
            <a:off x="8183880" y="1773936"/>
            <a:ext cx="3291840" cy="640080"/>
          </a:xfrm>
          <a:prstGeom prst="rect">
            <a:avLst/>
          </a:prstGeom>
          <a:noFill/>
          <a:ln/>
        </p:spPr>
        <p:txBody>
          <a:bodyPr wrap="square" lIns="0" tIns="0" rIns="0" bIns="0" rtlCol="0" anchor="t"/>
          <a:lstStyle/>
          <a:p>
            <a:pPr indent="0" marL="0">
              <a:buNone/>
            </a:pPr>
            <a:r>
              <a:rPr lang="en-US" sz="1500" b="1" dirty="0">
                <a:solidFill>
                  <a:srgbClr val="0F766E"/>
                </a:solidFill>
                <a:latin typeface="Cambria" pitchFamily="34" charset="0"/>
                <a:ea typeface="Cambria" pitchFamily="34" charset="-122"/>
                <a:cs typeface="Cambria" pitchFamily="34" charset="-120"/>
              </a:rPr>
              <a:t>Cloud PKI reporting</a:t>
            </a:r>
            <a:endParaRPr lang="en-US" sz="1400" dirty="0"/>
          </a:p>
        </p:txBody>
      </p:sp>
      <p:sp>
        <p:nvSpPr>
          <p:cNvPr id="14" name="Graph list"/>
          <p:cNvSpPr txBox="1"/>
          <p:nvPr/>
        </p:nvSpPr>
        <p:spPr>
          <a:xfrm>
            <a:off x="8183880" y="2185416"/>
            <a:ext cx="3337560" cy="2724912"/>
          </a:xfrm>
          <a:prstGeom prst="rect">
            <a:avLst/>
          </a:prstGeom>
          <a:noFill/>
          <a:ln/>
        </p:spPr>
        <p:txBody>
          <a:bodyPr wrap="square" lIns="0" tIns="0" rIns="0" bIns="0" rtlCol="0" anchor="t"/>
          <a:lstStyle/>
          <a:p>
            <a:pPr marL="342900" indent="-342900">
              <a:spcAft>
                <a:spcPts val="300"/>
              </a:spcAft>
              <a:buSzPct val="100000"/>
              <a:buChar char="•"/>
            </a:pPr>
            <a:r>
              <a:rPr lang="en-US" sz="1150" dirty="0">
                <a:solidFill>
                  <a:schemeClr val="tx2"/>
                </a:solidFill>
              </a:rPr>
              <a:t>No CyberArk Cloud PKI import exists</a:t>
            </a:r>
            <a:endParaRPr lang="en-US" sz="1400" dirty="0"/>
          </a:p>
          <a:p>
            <a:pPr marL="342900" indent="-342900">
              <a:spcAft>
                <a:spcPts val="300"/>
              </a:spcAft>
              <a:buSzPct val="100000"/>
              <a:buChar char="•"/>
            </a:pPr>
            <a:r>
              <a:rPr lang="en-US" sz="1150" dirty="0">
                <a:solidFill>
                  <a:schemeClr val="tx2"/>
                </a:solidFill>
              </a:rPr>
              <a:t>Option: a custom job from Graph beta's Cloud PKI leaf report into the WebSDK Discovery/Import API</a:t>
            </a:r>
            <a:endParaRPr lang="en-US" sz="1400" dirty="0"/>
          </a:p>
          <a:p>
            <a:pPr marL="342900" indent="-342900">
              <a:spcAft>
                <a:spcPts val="300"/>
              </a:spcAft>
              <a:buSzPct val="100000"/>
              <a:buChar char="•"/>
            </a:pPr>
            <a:r>
              <a:rPr lang="en-US" sz="1150" dirty="0">
                <a:solidFill>
                  <a:schemeClr val="tx2"/>
                </a:solidFill>
              </a:rPr>
              <a:t>Intune's certificates report stays the system of record</a:t>
            </a:r>
            <a:endParaRPr lang="en-US" sz="1400" dirty="0"/>
          </a:p>
        </p:txBody>
      </p:sp>
      <p:sp>
        <p:nvSpPr>
          <p:cNvPr id="15" name="Perms"/>
          <p:cNvSpPr txBox="1"/>
          <p:nvPr/>
        </p:nvSpPr>
        <p:spPr>
          <a:xfrm>
            <a:off x="548640" y="5120640"/>
            <a:ext cx="11109960" cy="685800"/>
          </a:xfrm>
          <a:prstGeom prst="rect">
            <a:avLst/>
          </a:prstGeom>
          <a:noFill/>
          <a:ln/>
        </p:spPr>
        <p:txBody>
          <a:bodyPr wrap="square" lIns="0" tIns="0" rIns="0" bIns="0" rtlCol="0" anchor="t"/>
          <a:lstStyle/>
          <a:p>
            <a:pPr indent="0" marL="0">
              <a:buNone/>
            </a:pPr>
            <a:r>
              <a:rPr lang="en-US" sz="1200" b="1" dirty="0">
                <a:solidFill>
                  <a:srgbClr val="0F766E"/>
                </a:solidFill>
              </a:rPr>
              <a:t>Custom job needs: </a:t>
            </a:r>
            <a:pPr indent="0" marL="0">
              <a:buNone/>
            </a:pPr>
            <a:r>
              <a:rPr lang="en-US" sz="1200" dirty="0">
                <a:solidFill>
                  <a:schemeClr val="tx2"/>
                </a:solidFill>
              </a:rPr>
              <a:t>Graph application permission DeviceManagementCloudCA.Read.All (beta; listed for US Government L4 and L5) and a token with Certificate:Discover.</a:t>
            </a:r>
            <a:endParaRPr lang="en-US" sz="1200" dirty="0"/>
          </a:p>
        </p:txBody>
      </p:sp>
      <p:sp>
        <p:nvSpPr>
          <p:cNvPr id="16"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CyberArk 26.1 Intune integration; CA import; Discovery/Import API; Microsoft Learn SCEP partners, Graph Cloud PKI report; Book 07 Ch 04–07.</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217920" cy="1920240"/>
          </a:xfrm>
          <a:prstGeom prst="rect">
            <a:avLst/>
          </a:prstGeom>
          <a:noFill/>
          <a:ln/>
        </p:spPr>
        <p:txBody>
          <a:bodyPr wrap="square" lIns="0" tIns="0" rIns="0" bIns="0" rtlCol="0" anchor="b"/>
          <a:lstStyle/>
          <a:p>
            <a:pPr algn="l" indent="0" marL="0">
              <a:buNone/>
            </a:pPr>
            <a:r>
              <a:rPr lang="en-US" sz="4400" b="1" dirty="0">
                <a:solidFill>
                  <a:schemeClr val="tx1"/>
                </a:solidFill>
                <a:latin typeface="Cambria" pitchFamily="34" charset="0"/>
                <a:ea typeface="Cambria" pitchFamily="34" charset="-122"/>
                <a:cs typeface="Cambria" pitchFamily="34" charset="-120"/>
              </a:rPr>
              <a:t>Part 3: Discover, own and automate</a:t>
            </a:r>
            <a:endParaRPr lang="en-US" sz="4400" dirty="0"/>
          </a:p>
        </p:txBody>
      </p:sp>
      <p:sp>
        <p:nvSpPr>
          <p:cNvPr id="3" name="Text 0"/>
          <p:cNvSpPr/>
          <p:nvPr>
            <p:ph idx="101" type="body" hasCustomPrompt="1"/>
          </p:nvPr>
        </p:nvSpPr>
        <p:spPr>
          <a:xfrm>
            <a:off x="731520" y="3520440"/>
            <a:ext cx="6035040" cy="822960"/>
          </a:xfrm>
          <a:prstGeom prst="rect">
            <a:avLst/>
          </a:prstGeom>
          <a:noFill/>
          <a:ln/>
        </p:spPr>
        <p:txBody>
          <a:bodyPr wrap="square" lIns="0" tIns="0" rIns="0" bIns="0" rtlCol="0" anchor="t"/>
          <a:lstStyle/>
          <a:p>
            <a:pPr indent="0" marL="0">
              <a:buNone/>
            </a:pPr>
            <a:r>
              <a:rPr lang="en-US" sz="2200" dirty="0">
                <a:solidFill>
                  <a:schemeClr val="accent2"/>
                </a:solidFill>
              </a:rPr>
              <a:t>Implementation guide  ·  Part 3 of 4</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indent="0" marL="0">
              <a:buNone/>
            </a:pPr>
            <a:r>
              <a:rPr lang="en-US" sz="1600" dirty="0">
                <a:solidFill>
                  <a:srgbClr val="64748B"/>
                </a:solidFill>
              </a:rPr>
              <a:t>Presented by  </a:t>
            </a:r>
            <a:pPr indent="0" marL="0">
              <a:buNone/>
            </a:pP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indent="0" marL="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Part contents"/>
          <p:cNvSpPr txBox="1"/>
          <p:nvPr/>
        </p:nvSpPr>
        <p:spPr>
          <a:xfrm>
            <a:off x="731520" y="4251960"/>
            <a:ext cx="6766560" cy="1280160"/>
          </a:xfrm>
          <a:prstGeom prst="rect">
            <a:avLst/>
          </a:prstGeom>
          <a:noFill/>
          <a:ln/>
        </p:spPr>
        <p:txBody>
          <a:bodyPr wrap="square" lIns="0" tIns="0" rIns="0" bIns="0" rtlCol="0" anchor="t"/>
          <a:lstStyle/>
          <a:p>
            <a:pPr indent="0" marL="0">
              <a:spcAft>
                <a:spcPts val="300"/>
              </a:spcAft>
              <a:buNone/>
            </a:pPr>
            <a:r>
              <a:rPr lang="en-US" sz="1200" b="1" dirty="0">
                <a:solidFill>
                  <a:srgbClr val="64748B"/>
                </a:solidFill>
              </a:rPr>
              <a:t>IN THIS PART  ·  ABOUT 3 MINUTES</a:t>
            </a:r>
            <a:endParaRPr lang="en-US" sz="1400" dirty="0"/>
          </a:p>
          <a:p>
            <a:pPr marL="342900" indent="-342900">
              <a:spcAft>
                <a:spcPts val="300"/>
              </a:spcAft>
              <a:buSzPct val="100000"/>
              <a:buChar char="•"/>
            </a:pPr>
            <a:r>
              <a:rPr lang="en-US" sz="1500" dirty="0">
                <a:solidFill>
                  <a:srgbClr val="334155"/>
                </a:solidFill>
              </a:rPr>
              <a:t>Discovery scans and CA import</a:t>
            </a:r>
            <a:endParaRPr lang="en-US" sz="1400" dirty="0"/>
          </a:p>
          <a:p>
            <a:pPr marL="342900" indent="-342900">
              <a:spcAft>
                <a:spcPts val="300"/>
              </a:spcAft>
              <a:buSzPct val="100000"/>
              <a:buChar char="•"/>
            </a:pPr>
            <a:r>
              <a:rPr lang="en-US" sz="1500" dirty="0">
                <a:solidFill>
                  <a:srgbClr val="334155"/>
                </a:solidFill>
              </a:rPr>
              <a:t>Ownership: policy folders, owners and the CMDB</a:t>
            </a:r>
            <a:endParaRPr lang="en-US" sz="1400" dirty="0"/>
          </a:p>
          <a:p>
            <a:pPr marL="342900" indent="-342900">
              <a:spcAft>
                <a:spcPts val="300"/>
              </a:spcAft>
              <a:buSzPct val="100000"/>
              <a:buChar char="•"/>
            </a:pPr>
            <a:r>
              <a:rPr lang="en-US" sz="1500" dirty="0">
                <a:solidFill>
                  <a:srgbClr val="334155"/>
                </a:solidFill>
              </a:rPr>
              <a:t>Enrollment automation; Kubernetes, ServiceNow and SIEM</a:t>
            </a:r>
            <a:endParaRPr lang="en-US" sz="1400" dirty="0"/>
          </a:p>
        </p:txBody>
      </p:sp>
      <p:sp>
        <p:nvSpPr>
          <p:cNvPr id="7" name="Sources"/>
          <p:cNvSpPr txBox="1"/>
          <p:nvPr/>
        </p:nvSpPr>
        <p:spPr>
          <a:xfrm>
            <a:off x="548640" y="5559552"/>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CyberArk 26.1 discovery, policy, permissions, ACME, EST, SCEP, OAuth, Kubernetes and logging pages; vCert; cert-manager; ServiceNow Store.</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Discovery scans and CA import</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graphicFrame>
        <p:nvGraphicFramePr>
          <p:cNvPr id="26" name="Disc"/>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2194560"/>
                <a:gridCol w="4572000"/>
              </a:tblGrid>
              <a:tr h="292608">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Method</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What it finds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Network Discovery</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TLS listeners on IPv4 ranges and ports; instant discovery of one IPv4 or IPv6 address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CA Import</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Certificates a Microsoft CA or Amazon Private CA issued, by template; optional expired and revoked</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Onboard Discovery</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Agentless, with app config: F5, NetScaler, IIS (CAPI), AWS, Key Vault, DataPower</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9260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Server Agent</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Keystores on Windows, RHEL, AIX, Solaris, SLES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Discovery/Import API</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Results from a custom collector (token scope Certificate:Discover)</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Recon" descr="">
            <a:extLst>
              <a:ext uri="{C183D7F6-B498-43B3-948B-1728B52AA6E4}">
                <adec:decorative xmlns:adec="http://schemas.microsoft.com/office/drawing/2017/decorative" val="1"/>
              </a:ext>
            </a:extLst>
          </p:cNvPr>
          <p:cNvSpPr/>
          <p:nvPr/>
        </p:nvSpPr>
        <p:spPr>
          <a:xfrm>
            <a:off x="7452360" y="1371600"/>
            <a:ext cx="4206240" cy="3063240"/>
          </a:xfrm>
          <a:prstGeom prst="roundRect">
            <a:avLst>
              <a:gd name="adj" fmla="val 2388"/>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7" name="Recon head"/>
          <p:cNvSpPr txBox="1"/>
          <p:nvPr/>
        </p:nvSpPr>
        <p:spPr>
          <a:xfrm>
            <a:off x="7635240" y="1481328"/>
            <a:ext cx="3840480" cy="640080"/>
          </a:xfrm>
          <a:prstGeom prst="rect">
            <a:avLst/>
          </a:prstGeom>
          <a:noFill/>
          <a:ln/>
        </p:spPr>
        <p:txBody>
          <a:bodyPr wrap="square" lIns="0" tIns="0" rIns="0" bIns="0" rtlCol="0" anchor="t"/>
          <a:lstStyle/>
          <a:p>
            <a:pPr indent="0" marL="0">
              <a:buNone/>
            </a:pPr>
            <a:r>
              <a:rPr lang="en-US" sz="1100" b="1" dirty="0">
                <a:solidFill>
                  <a:srgbClr val="64748B"/>
                </a:solidFill>
              </a:rPr>
              <a:t>RECONCILIATION</a:t>
            </a:r>
            <a:endParaRPr lang="en-US" sz="1400" dirty="0"/>
          </a:p>
        </p:txBody>
      </p:sp>
      <p:sp>
        <p:nvSpPr>
          <p:cNvPr id="8" name="Recon list"/>
          <p:cNvSpPr txBox="1"/>
          <p:nvPr/>
        </p:nvSpPr>
        <p:spPr>
          <a:xfrm>
            <a:off x="7635240" y="1810512"/>
            <a:ext cx="3886200" cy="2551176"/>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2"/>
                </a:solidFill>
              </a:rPr>
              <a:t>Matches on subject, key usage, EKU and SAN DNS names</a:t>
            </a:r>
            <a:endParaRPr lang="en-US" sz="1400" dirty="0"/>
          </a:p>
          <a:p>
            <a:pPr marL="342900" indent="-342900">
              <a:spcAft>
                <a:spcPts val="300"/>
              </a:spcAft>
              <a:buSzPct val="100000"/>
              <a:buChar char="•"/>
            </a:pPr>
            <a:r>
              <a:rPr lang="en-US" sz="1200" dirty="0">
                <a:solidFill>
                  <a:schemeClr val="tx2"/>
                </a:solidFill>
              </a:rPr>
              <a:t>The newer certificate becomes active</a:t>
            </a:r>
            <a:endParaRPr lang="en-US" sz="1400" dirty="0"/>
          </a:p>
          <a:p>
            <a:pPr marL="342900" indent="-342900">
              <a:spcAft>
                <a:spcPts val="300"/>
              </a:spcAft>
              <a:buSzPct val="100000"/>
              <a:buChar char="•"/>
            </a:pPr>
            <a:r>
              <a:rPr lang="en-US" sz="1200" dirty="0">
                <a:solidFill>
                  <a:schemeClr val="tx2"/>
                </a:solidFill>
              </a:rPr>
              <a:t>Not applied to CA Import or Onboard Discovery</a:t>
            </a:r>
            <a:endParaRPr lang="en-US" sz="1400" dirty="0"/>
          </a:p>
          <a:p>
            <a:pPr marL="342900" indent="-342900">
              <a:spcAft>
                <a:spcPts val="300"/>
              </a:spcAft>
              <a:buSzPct val="100000"/>
              <a:buChar char="•"/>
            </a:pPr>
            <a:r>
              <a:rPr lang="en-US" sz="1200" dirty="0">
                <a:solidFill>
                  <a:schemeClr val="tx2"/>
                </a:solidFill>
              </a:rPr>
              <a:t>So DNS names in SANs must be right</a:t>
            </a:r>
            <a:endParaRPr lang="en-US" sz="1400" dirty="0"/>
          </a:p>
        </p:txBody>
      </p:sp>
      <p:sp>
        <p:nvSpPr>
          <p:cNvPr id="9" name="Finding" descr="">
            <a:extLst>
              <a:ext uri="{C183D7F6-B498-43B3-948B-1728B52AA6E4}">
                <adec:decorative xmlns:adec="http://schemas.microsoft.com/office/drawing/2017/decorative" val="1"/>
              </a:ext>
            </a:extLst>
          </p:cNvPr>
          <p:cNvSpPr/>
          <p:nvPr/>
        </p:nvSpPr>
        <p:spPr>
          <a:xfrm>
            <a:off x="548640" y="4617720"/>
            <a:ext cx="11109960" cy="1280160"/>
          </a:xfrm>
          <a:prstGeom prst="roundRect">
            <a:avLst>
              <a:gd name="adj" fmla="val 5714"/>
            </a:avLst>
          </a:prstGeom>
          <a:solidFill>
            <a:srgbClr val="FFFFFF"/>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10" name="Icon FaFilter" descr="">
            <a:extLst>
              <a:ext uri="{C183D7F6-B498-43B3-948B-1728B52AA6E4}">
                <adec:decorative xmlns:adec="http://schemas.microsoft.com/office/drawing/2017/decorative" val="1"/>
              </a:ext>
            </a:extLst>
          </p:cNvPr>
          <p:cNvSpPr/>
          <p:nvPr/>
        </p:nvSpPr>
        <p:spPr>
          <a:xfrm>
            <a:off x="777240" y="4892040"/>
            <a:ext cx="731520" cy="731520"/>
          </a:xfrm>
          <a:prstGeom prst="ellipse">
            <a:avLst/>
          </a:prstGeom>
          <a:solidFill>
            <a:srgbClr val="B91C1C"/>
          </a:solidFill>
          <a:ln w="12700">
            <a:solidFill>
              <a:srgbClr val="B91C1C"/>
            </a:solidFill>
            <a:prstDash val="solid"/>
          </a:ln>
        </p:spPr>
      </p:sp>
      <p:pic>
        <p:nvPicPr>
          <p:cNvPr id="11"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52805" y="5067605"/>
            <a:ext cx="380390" cy="380390"/>
          </a:xfrm>
          <a:prstGeom prst="rect">
            <a:avLst/>
          </a:prstGeom>
        </p:spPr>
      </p:pic>
      <p:sp>
        <p:nvSpPr>
          <p:cNvPr id="12" name="Finding text"/>
          <p:cNvSpPr txBox="1"/>
          <p:nvPr/>
        </p:nvSpPr>
        <p:spPr>
          <a:xfrm>
            <a:off x="1737360" y="4663440"/>
            <a:ext cx="9738360" cy="1188720"/>
          </a:xfrm>
          <a:prstGeom prst="rect">
            <a:avLst/>
          </a:prstGeom>
          <a:noFill/>
          <a:ln/>
        </p:spPr>
        <p:txBody>
          <a:bodyPr wrap="square" lIns="0" tIns="0" rIns="0" bIns="0" rtlCol="0" anchor="ctr"/>
          <a:lstStyle/>
          <a:p>
            <a:pPr indent="0" marL="0">
              <a:buNone/>
            </a:pPr>
            <a:r>
              <a:rPr lang="en-US" sz="1650" b="1" dirty="0">
                <a:solidFill>
                  <a:srgbClr val="B91C1C"/>
                </a:solidFill>
              </a:rPr>
              <a:t>Every discovered certificate with no issuance record is a finding </a:t>
            </a:r>
            <a:pPr indent="0" marL="0">
              <a:buNone/>
            </a:pPr>
            <a:r>
              <a:rPr lang="en-US" sz="1650" dirty="0">
                <a:solidFill>
                  <a:schemeClr val="tx2"/>
                </a:solidFill>
              </a:rPr>
              <a:t>(Book 07 Ch 08). Wave 1: read-only scans of server and appliance ranges, plus CA Import of in-scope AD CS templates (design).</a:t>
            </a:r>
            <a:endParaRPr lang="en-US" sz="1650" dirty="0"/>
          </a:p>
        </p:txBody>
      </p:sp>
      <p:sp>
        <p:nvSpPr>
          <p:cNvPr id="13"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CyberArk 26.1 discovery overview; Network, Onboard and agent discovery; reconciliation; CA import; Discovery/Import API; Book 07, Ch 02, Ch 08.</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Ownership: policy folders, owners and the CMDB</a:t>
            </a:r>
            <a:endParaRPr lang="en-US" sz="3000" dirty="0"/>
          </a:p>
        </p:txBody>
      </p:sp>
      <p:sp>
        <p:nvSpPr>
          <p:cNvPr id="3" name="Tag Who"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WHO</a:t>
            </a:r>
            <a:endParaRPr lang="en-US" sz="1100" dirty="0"/>
          </a:p>
        </p:txBody>
      </p:sp>
      <p:sp>
        <p:nvSpPr>
          <p:cNvPr id="5" name="Vendor" descr="">
            <a:extLst>
              <a:ext uri="{C183D7F6-B498-43B3-948B-1728B52AA6E4}">
                <adec:decorative xmlns:adec="http://schemas.microsoft.com/office/drawing/2017/decorative" val="1"/>
              </a:ext>
            </a:extLst>
          </p:cNvPr>
          <p:cNvSpPr/>
          <p:nvPr/>
        </p:nvSpPr>
        <p:spPr>
          <a:xfrm>
            <a:off x="548640" y="1371600"/>
            <a:ext cx="5120640" cy="3246120"/>
          </a:xfrm>
          <a:prstGeom prst="roundRect">
            <a:avLst>
              <a:gd name="adj" fmla="val 2254"/>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6" name="Vendor head"/>
          <p:cNvSpPr txBox="1"/>
          <p:nvPr/>
        </p:nvSpPr>
        <p:spPr>
          <a:xfrm>
            <a:off x="731520" y="1481328"/>
            <a:ext cx="4754880" cy="640080"/>
          </a:xfrm>
          <a:prstGeom prst="rect">
            <a:avLst/>
          </a:prstGeom>
          <a:noFill/>
          <a:ln/>
        </p:spPr>
        <p:txBody>
          <a:bodyPr wrap="square" lIns="0" tIns="0" rIns="0" bIns="0" rtlCol="0" anchor="t"/>
          <a:lstStyle/>
          <a:p>
            <a:pPr indent="0" marL="0">
              <a:buNone/>
            </a:pPr>
            <a:r>
              <a:rPr lang="en-US" sz="1100" b="1" dirty="0">
                <a:solidFill>
                  <a:srgbClr val="64748B"/>
                </a:solidFill>
              </a:rPr>
              <a:t>WHAT THE PLATFORM PROVIDES</a:t>
            </a:r>
            <a:endParaRPr lang="en-US" sz="1400" dirty="0"/>
          </a:p>
        </p:txBody>
      </p:sp>
      <p:sp>
        <p:nvSpPr>
          <p:cNvPr id="7" name="Vendor list"/>
          <p:cNvSpPr txBox="1"/>
          <p:nvPr/>
        </p:nvSpPr>
        <p:spPr>
          <a:xfrm>
            <a:off x="731520" y="1810512"/>
            <a:ext cx="4800600" cy="2734056"/>
          </a:xfrm>
          <a:prstGeom prst="rect">
            <a:avLst/>
          </a:prstGeom>
          <a:noFill/>
          <a:ln/>
        </p:spPr>
        <p:txBody>
          <a:bodyPr wrap="square" lIns="0" tIns="0" rIns="0" bIns="0" rtlCol="0" anchor="t"/>
          <a:lstStyle/>
          <a:p>
            <a:pPr marL="342900" indent="-342900">
              <a:spcAft>
                <a:spcPts val="300"/>
              </a:spcAft>
              <a:buSzPct val="100000"/>
              <a:buChar char="•"/>
            </a:pPr>
            <a:r>
              <a:rPr lang="en-US" sz="1150" dirty="0">
                <a:solidFill>
                  <a:schemeClr val="tx2"/>
                </a:solidFill>
              </a:rPr>
              <a:t>Placement rules and placement jobs put certificates into policy folders</a:t>
            </a:r>
            <a:endParaRPr lang="en-US" sz="1400" dirty="0"/>
          </a:p>
          <a:p>
            <a:pPr marL="342900" indent="-342900">
              <a:spcAft>
                <a:spcPts val="300"/>
              </a:spcAft>
              <a:buSzPct val="100000"/>
              <a:buChar char="•"/>
            </a:pPr>
            <a:r>
              <a:rPr lang="en-US" sz="1150" dirty="0">
                <a:solidFill>
                  <a:schemeClr val="tx2"/>
                </a:solidFill>
              </a:rPr>
              <a:t>Policy sets inherited settings: CA template, key size and more</a:t>
            </a:r>
            <a:endParaRPr lang="en-US" sz="1400" dirty="0"/>
          </a:p>
          <a:p>
            <a:pPr marL="342900" indent="-342900">
              <a:spcAft>
                <a:spcPts val="300"/>
              </a:spcAft>
              <a:buSzPct val="100000"/>
              <a:buChar char="•"/>
            </a:pPr>
            <a:r>
              <a:rPr lang="en-US" sz="1150" dirty="0">
                <a:solidFill>
                  <a:schemeClr val="tx2"/>
                </a:solidFill>
              </a:rPr>
              <a:t>Object permissions (View, Read, Write, Create, Revoke, Private Key) and Teams</a:t>
            </a:r>
            <a:endParaRPr lang="en-US" sz="1400" dirty="0"/>
          </a:p>
          <a:p>
            <a:pPr marL="342900" indent="-342900">
              <a:spcAft>
                <a:spcPts val="300"/>
              </a:spcAft>
              <a:buSzPct val="100000"/>
              <a:buChar char="•"/>
            </a:pPr>
            <a:r>
              <a:rPr lang="en-US" sz="1150" dirty="0">
                <a:solidFill>
                  <a:schemeClr val="tx2"/>
                </a:solidFill>
              </a:rPr>
              <a:t>Roles: Master Admin, Server Owner, Certificate Approver, Team Owner; approval workflows</a:t>
            </a:r>
            <a:endParaRPr lang="en-US" sz="1400" dirty="0"/>
          </a:p>
          <a:p>
            <a:pPr marL="342900" indent="-342900">
              <a:spcAft>
                <a:spcPts val="300"/>
              </a:spcAft>
              <a:buSzPct val="100000"/>
              <a:buChar char="•"/>
            </a:pPr>
            <a:r>
              <a:rPr lang="en-US" sz="1150" dirty="0">
                <a:solidFill>
                  <a:schemeClr val="tx2"/>
                </a:solidFill>
              </a:rPr>
              <a:t>Expiry intervals per object or policy; notification rules to email, SNMP, syslog, SQL</a:t>
            </a:r>
            <a:endParaRPr lang="en-US" sz="1400" dirty="0"/>
          </a:p>
        </p:txBody>
      </p:sp>
      <p:sp>
        <p:nvSpPr>
          <p:cNvPr id="8" name="Design label"/>
          <p:cNvSpPr txBox="1"/>
          <p:nvPr/>
        </p:nvSpPr>
        <p:spPr>
          <a:xfrm>
            <a:off x="5852160" y="1371600"/>
            <a:ext cx="5806440" cy="256032"/>
          </a:xfrm>
          <a:prstGeom prst="rect">
            <a:avLst/>
          </a:prstGeom>
          <a:noFill/>
          <a:ln/>
        </p:spPr>
        <p:txBody>
          <a:bodyPr wrap="square" lIns="0" tIns="0" rIns="0" bIns="0" rtlCol="0" anchor="ctr"/>
          <a:lstStyle/>
          <a:p>
            <a:pPr indent="0" marL="0">
              <a:buNone/>
            </a:pPr>
            <a:r>
              <a:rPr lang="en-US" sz="1100" b="1" dirty="0">
                <a:solidFill>
                  <a:srgbClr val="B91C1C"/>
                </a:solidFill>
              </a:rPr>
              <a:t>PROGRAM DESIGN GUIDANCE</a:t>
            </a:r>
            <a:endParaRPr lang="en-US" sz="1100" dirty="0"/>
          </a:p>
        </p:txBody>
      </p:sp>
      <p:sp>
        <p:nvSpPr>
          <p:cNvPr id="9" name="Design" descr="">
            <a:extLst>
              <a:ext uri="{C183D7F6-B498-43B3-948B-1728B52AA6E4}">
                <adec:decorative xmlns:adec="http://schemas.microsoft.com/office/drawing/2017/decorative" val="1"/>
              </a:ext>
            </a:extLst>
          </p:cNvPr>
          <p:cNvSpPr/>
          <p:nvPr/>
        </p:nvSpPr>
        <p:spPr>
          <a:xfrm>
            <a:off x="5852160" y="1664208"/>
            <a:ext cx="5806440" cy="2953512"/>
          </a:xfrm>
          <a:prstGeom prst="roundRect">
            <a:avLst>
              <a:gd name="adj" fmla="val 2477"/>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10" name="Design head"/>
          <p:cNvSpPr txBox="1"/>
          <p:nvPr/>
        </p:nvSpPr>
        <p:spPr>
          <a:xfrm>
            <a:off x="6035040" y="1773936"/>
            <a:ext cx="5440680" cy="640080"/>
          </a:xfrm>
          <a:prstGeom prst="rect">
            <a:avLst/>
          </a:prstGeom>
          <a:noFill/>
          <a:ln/>
        </p:spPr>
        <p:txBody>
          <a:bodyPr wrap="square" lIns="0" tIns="0" rIns="0" bIns="0" rtlCol="0" anchor="t"/>
          <a:lstStyle/>
          <a:p>
            <a:pPr indent="0" marL="0">
              <a:buNone/>
            </a:pPr>
            <a:r>
              <a:rPr lang="en-US" sz="1500" b="1" dirty="0">
                <a:solidFill>
                  <a:srgbClr val="0F766E"/>
                </a:solidFill>
                <a:latin typeface="Cambria" pitchFamily="34" charset="0"/>
                <a:ea typeface="Cambria" pitchFamily="34" charset="-122"/>
                <a:cs typeface="Cambria" pitchFamily="34" charset="-120"/>
              </a:rPr>
              <a:t>Tie owners to identity and the CMDB</a:t>
            </a:r>
            <a:endParaRPr lang="en-US" sz="1400" dirty="0"/>
          </a:p>
        </p:txBody>
      </p:sp>
      <p:sp>
        <p:nvSpPr>
          <p:cNvPr id="11" name="Design list"/>
          <p:cNvSpPr txBox="1"/>
          <p:nvPr/>
        </p:nvSpPr>
        <p:spPr>
          <a:xfrm>
            <a:off x="6035040" y="2185416"/>
            <a:ext cx="5486400" cy="2359152"/>
          </a:xfrm>
          <a:prstGeom prst="rect">
            <a:avLst/>
          </a:prstGeom>
          <a:noFill/>
          <a:ln/>
        </p:spPr>
        <p:txBody>
          <a:bodyPr wrap="square" lIns="0" tIns="0" rIns="0" bIns="0" rtlCol="0" anchor="t"/>
          <a:lstStyle/>
          <a:p>
            <a:pPr marL="342900" indent="-342900">
              <a:spcAft>
                <a:spcPts val="300"/>
              </a:spcAft>
              <a:buSzPct val="100000"/>
              <a:buChar char="•"/>
            </a:pPr>
            <a:r>
              <a:rPr lang="en-US" sz="1150" dirty="0">
                <a:solidFill>
                  <a:schemeClr val="tx2"/>
                </a:solidFill>
              </a:rPr>
              <a:t>Policy tree mirrors Book 07 Ch 05's certificate classes</a:t>
            </a:r>
            <a:endParaRPr lang="en-US" sz="1400" dirty="0"/>
          </a:p>
          <a:p>
            <a:pPr marL="342900" indent="-342900">
              <a:spcAft>
                <a:spcPts val="300"/>
              </a:spcAft>
              <a:buSzPct val="100000"/>
              <a:buChar char="•"/>
            </a:pPr>
            <a:r>
              <a:rPr lang="en-US" sz="1150" dirty="0">
                <a:solidFill>
                  <a:schemeClr val="tx2"/>
                </a:solidFill>
              </a:rPr>
              <a:t>Every certificate has a named Server Owner; Teams map to Entra groups (26.1 adds SCIM 2.0)</a:t>
            </a:r>
            <a:endParaRPr lang="en-US" sz="1400" dirty="0"/>
          </a:p>
          <a:p>
            <a:pPr marL="342900" indent="-342900">
              <a:spcAft>
                <a:spcPts val="300"/>
              </a:spcAft>
              <a:buSzPct val="100000"/>
              <a:buChar char="•"/>
            </a:pPr>
            <a:r>
              <a:rPr lang="en-US" sz="1150" dirty="0">
                <a:solidFill>
                  <a:schemeClr val="tx2"/>
                </a:solidFill>
              </a:rPr>
              <a:t>CMDB owners through the ServiceNow app's CI association, if adopted</a:t>
            </a:r>
            <a:endParaRPr lang="en-US" sz="1400" dirty="0"/>
          </a:p>
          <a:p>
            <a:pPr marL="342900" indent="-342900">
              <a:spcAft>
                <a:spcPts val="300"/>
              </a:spcAft>
              <a:buSzPct val="100000"/>
              <a:buChar char="•"/>
            </a:pPr>
            <a:r>
              <a:rPr lang="en-US" sz="1150" dirty="0">
                <a:solidFill>
                  <a:schemeClr val="tx2"/>
                </a:solidFill>
              </a:rPr>
              <a:t>Alert two renewal windows before expiry with no renewal path</a:t>
            </a:r>
            <a:endParaRPr lang="en-US" sz="1400" dirty="0"/>
          </a:p>
        </p:txBody>
      </p:sp>
      <p:sp>
        <p:nvSpPr>
          <p:cNvPr id="12" name="Rule" descr="">
            <a:extLst>
              <a:ext uri="{C183D7F6-B498-43B3-948B-1728B52AA6E4}">
                <adec:decorative xmlns:adec="http://schemas.microsoft.com/office/drawing/2017/decorative" val="1"/>
              </a:ext>
            </a:extLst>
          </p:cNvPr>
          <p:cNvSpPr/>
          <p:nvPr/>
        </p:nvSpPr>
        <p:spPr>
          <a:xfrm>
            <a:off x="548640" y="4754880"/>
            <a:ext cx="11109960" cy="1188720"/>
          </a:xfrm>
          <a:prstGeom prst="roundRect">
            <a:avLst>
              <a:gd name="adj" fmla="val 6154"/>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3" name="Icon FaUserCheck" descr="">
            <a:extLst>
              <a:ext uri="{C183D7F6-B498-43B3-948B-1728B52AA6E4}">
                <adec:decorative xmlns:adec="http://schemas.microsoft.com/office/drawing/2017/decorative" val="1"/>
              </a:ext>
            </a:extLst>
          </p:cNvPr>
          <p:cNvSpPr/>
          <p:nvPr/>
        </p:nvSpPr>
        <p:spPr>
          <a:xfrm>
            <a:off x="777240" y="4983480"/>
            <a:ext cx="731520" cy="731520"/>
          </a:xfrm>
          <a:prstGeom prst="ellipse">
            <a:avLst/>
          </a:prstGeom>
          <a:solidFill>
            <a:srgbClr val="B45309"/>
          </a:solidFill>
          <a:ln w="12700">
            <a:solidFill>
              <a:srgbClr val="B45309"/>
            </a:solidFill>
            <a:prstDash val="solid"/>
          </a:ln>
        </p:spPr>
      </p:sp>
      <p:pic>
        <p:nvPicPr>
          <p:cNvPr id="14"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52805" y="5159045"/>
            <a:ext cx="380390" cy="380390"/>
          </a:xfrm>
          <a:prstGeom prst="rect">
            <a:avLst/>
          </a:prstGeom>
        </p:spPr>
      </p:pic>
      <p:sp>
        <p:nvSpPr>
          <p:cNvPr id="15" name="Rule text"/>
          <p:cNvSpPr txBox="1"/>
          <p:nvPr/>
        </p:nvSpPr>
        <p:spPr>
          <a:xfrm>
            <a:off x="1737360" y="4800600"/>
            <a:ext cx="9738360" cy="1097280"/>
          </a:xfrm>
          <a:prstGeom prst="rect">
            <a:avLst/>
          </a:prstGeom>
          <a:noFill/>
          <a:ln/>
        </p:spPr>
        <p:txBody>
          <a:bodyPr wrap="square" lIns="0" tIns="0" rIns="0" bIns="0" rtlCol="0" anchor="ctr"/>
          <a:lstStyle/>
          <a:p>
            <a:pPr indent="0" marL="0">
              <a:buNone/>
            </a:pPr>
            <a:r>
              <a:rPr lang="en-US" sz="1650" b="1" dirty="0">
                <a:solidFill>
                  <a:srgbClr val="B45309"/>
                </a:solidFill>
              </a:rPr>
              <a:t>An expiry is an ownership failure first: </a:t>
            </a:r>
            <a:pPr indent="0" marL="0">
              <a:buNone/>
            </a:pPr>
            <a:r>
              <a:rPr lang="en-US" sz="1650" dirty="0">
                <a:solidFill>
                  <a:schemeClr val="tx2"/>
                </a:solidFill>
              </a:rPr>
              <a:t>every class has one renewal owner, who answers for it even when automation renews (Book 07 Ch 05).</a:t>
            </a:r>
            <a:endParaRPr lang="en-US" sz="1650" dirty="0"/>
          </a:p>
        </p:txBody>
      </p:sp>
      <p:sp>
        <p:nvSpPr>
          <p:cNvPr id="16"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CyberArk 26.1 placement rules; Policies; permissions and abilities; Teams; Workflows; expiration intervals; notification channels; What's New (SCIM); Book 07, Ch 05 and Ch 08.</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Enrollment automation: ACME, EST, SCEP, REST, agents</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Fix label"/>
          <p:cNvSpPr txBox="1"/>
          <p:nvPr/>
        </p:nvSpPr>
        <p:spPr>
          <a:xfrm>
            <a:off x="548640" y="1325880"/>
            <a:ext cx="11109960" cy="256032"/>
          </a:xfrm>
          <a:prstGeom prst="rect">
            <a:avLst/>
          </a:prstGeom>
          <a:noFill/>
          <a:ln/>
        </p:spPr>
        <p:txBody>
          <a:bodyPr wrap="square" lIns="0" tIns="0" rIns="0" bIns="0" rtlCol="0" anchor="ctr"/>
          <a:lstStyle/>
          <a:p>
            <a:pPr indent="0" marL="0">
              <a:buNone/>
            </a:pPr>
            <a:r>
              <a:rPr lang="en-US" sz="1100" b="1" dirty="0">
                <a:solidFill>
                  <a:srgbClr val="B91C1C"/>
                </a:solidFill>
              </a:rPr>
              <a:t>CORRECTS BOOK 07 CH 08 — BOOK 07 HAS BEEN UPDATED</a:t>
            </a:r>
            <a:endParaRPr lang="en-US" sz="1100" dirty="0"/>
          </a:p>
        </p:txBody>
      </p:sp>
      <p:sp>
        <p:nvSpPr>
          <p:cNvPr id="6" name="ACME FIPS"/>
          <p:cNvSpPr txBox="1"/>
          <p:nvPr/>
        </p:nvSpPr>
        <p:spPr>
          <a:xfrm>
            <a:off x="548640" y="1600200"/>
            <a:ext cx="11109960" cy="685800"/>
          </a:xfrm>
          <a:prstGeom prst="rect">
            <a:avLst/>
          </a:prstGeom>
          <a:noFill/>
          <a:ln/>
        </p:spPr>
        <p:txBody>
          <a:bodyPr wrap="square" lIns="0" tIns="0" rIns="0" bIns="0" rtlCol="0" anchor="t"/>
          <a:lstStyle/>
          <a:p>
            <a:pPr indent="0" marL="0">
              <a:buNone/>
            </a:pPr>
            <a:r>
              <a:rPr lang="en-US" sz="1250" b="1" dirty="0">
                <a:solidFill>
                  <a:srgbClr val="B91C1C"/>
                </a:solidFill>
              </a:rPr>
              <a:t>ACME doesn't support FIPS mode at all: </a:t>
            </a:r>
            <a:pPr indent="0" marL="0">
              <a:buNone/>
            </a:pPr>
            <a:r>
              <a:rPr lang="en-US" sz="1250" dirty="0">
                <a:solidFill>
                  <a:schemeClr val="tx2"/>
                </a:solidFill>
              </a:rPr>
              <a:t>the 26.1 Installation Guide says no server used for ACMEv2 can have FIPS enabled (not just win-acme). Run the ACME service on dedicated non-FIPS servers, or get a written vendor statement (design).</a:t>
            </a:r>
            <a:endParaRPr lang="en-US" sz="1250" dirty="0"/>
          </a:p>
        </p:txBody>
      </p:sp>
      <p:graphicFrame>
        <p:nvGraphicFramePr>
          <p:cNvPr id="28" name="Proto"/>
          <p:cNvGraphicFramePr>
            <a:graphicFrameLocks noGrp="1"/>
          </p:cNvGraphicFramePr>
          <p:nvPr>
            <p:extLst>
              <p:ext uri="{D42A27DB-BD31-4B8C-83A1-F6EECF244321}">
                <p14:modId xmlns:p14="http://schemas.microsoft.com/office/powerpoint/2010/main" val="1579011935"/>
              </p:ext>
            </p:extLst>
          </p:nvPr>
        </p:nvGraphicFramePr>
        <p:xfrm>
          <a:off x="548640" y="2377440"/>
          <a:ext cx="9144000" cy="914400"/>
        </p:xfrm>
        <a:graphic>
          <a:graphicData uri="http://schemas.openxmlformats.org/drawingml/2006/table">
            <a:tbl>
              <a:tblPr firstRow="1" bandRow="1"/>
              <a:tblGrid>
                <a:gridCol w="1737360"/>
                <a:gridCol w="9372600"/>
              </a:tblGrid>
              <a:tr h="292608">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Interface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What 26.1 documents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ACME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RFC 8555; http-01, dns-01; tested with certbot, win-acme, acme.sh; KeyChange unsupported; wildcard support stated inconsistently: test it</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9260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EST</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Port 50443; client-certificate auth; CA Label in the URL picks the template; no /fullcmc, /serverkeygen, /csrattrs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9260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SCEP</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Network Device Enrollment on port 80; rules place certificates by challenge or subject; renewals match the existing object</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9260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REST / vCert</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WebSDK with OAuth tokens; vCert v5.13.9 (July 27, 2026) needs zone View, Read, Write, Create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Agentless, agent</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Drivers for IIS, Apache, Java keystores, F5, NetScaler, Key Vault, Palo Alto NGFW and more (licensed per instance); Server Agent</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8"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CyberArk 26.1 Installation Guide p. 50; ACME; EST and its limits; SCEP and NDE rules; OAuth; System Requirements; What's New; vCert README and releases; Book 07, Ch 08.</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Kubernetes, ServiceNow and SIEM inside the boundary</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K8s" descr="">
            <a:extLst>
              <a:ext uri="{C183D7F6-B498-43B3-948B-1728B52AA6E4}">
                <adec:decorative xmlns:adec="http://schemas.microsoft.com/office/drawing/2017/decorative" val="1"/>
              </a:ext>
            </a:extLst>
          </p:cNvPr>
          <p:cNvSpPr/>
          <p:nvPr/>
        </p:nvSpPr>
        <p:spPr>
          <a:xfrm>
            <a:off x="548640" y="1371600"/>
            <a:ext cx="3611880" cy="4526280"/>
          </a:xfrm>
          <a:prstGeom prst="roundRect">
            <a:avLst>
              <a:gd name="adj" fmla="val 2025"/>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6" name="K8s head"/>
          <p:cNvSpPr txBox="1"/>
          <p:nvPr/>
        </p:nvSpPr>
        <p:spPr>
          <a:xfrm>
            <a:off x="731520" y="1481328"/>
            <a:ext cx="3246120" cy="640080"/>
          </a:xfrm>
          <a:prstGeom prst="rect">
            <a:avLst/>
          </a:prstGeom>
          <a:noFill/>
          <a:ln/>
        </p:spPr>
        <p:txBody>
          <a:bodyPr wrap="square" lIns="0" tIns="0" rIns="0" bIns="0" rtlCol="0" anchor="t"/>
          <a:lstStyle/>
          <a:p>
            <a:pPr indent="0" marL="0">
              <a:buNone/>
            </a:pPr>
            <a:r>
              <a:rPr lang="en-US" sz="1100" b="1" dirty="0">
                <a:solidFill>
                  <a:srgbClr val="64748B"/>
                </a:solidFill>
              </a:rPr>
              <a:t>KUBERNETES</a:t>
            </a:r>
            <a:endParaRPr lang="en-US" sz="1400" dirty="0"/>
          </a:p>
          <a:p>
            <a:pPr indent="0" marL="0">
              <a:buNone/>
            </a:pPr>
            <a:r>
              <a:rPr lang="en-US" sz="1500" b="1" dirty="0">
                <a:solidFill>
                  <a:srgbClr val="1F2A44"/>
                </a:solidFill>
                <a:latin typeface="Cambria" pitchFamily="34" charset="0"/>
                <a:ea typeface="Cambria" pitchFamily="34" charset="-122"/>
                <a:cs typeface="Cambria" pitchFamily="34" charset="-120"/>
              </a:rPr>
              <a:t>Use cert-manager, not discovery</a:t>
            </a:r>
            <a:endParaRPr lang="en-US" sz="1400" dirty="0"/>
          </a:p>
        </p:txBody>
      </p:sp>
      <p:sp>
        <p:nvSpPr>
          <p:cNvPr id="7" name="K8s list"/>
          <p:cNvSpPr txBox="1"/>
          <p:nvPr/>
        </p:nvSpPr>
        <p:spPr>
          <a:xfrm>
            <a:off x="731520" y="2121408"/>
            <a:ext cx="3291840" cy="3703320"/>
          </a:xfrm>
          <a:prstGeom prst="rect">
            <a:avLst/>
          </a:prstGeom>
          <a:noFill/>
          <a:ln/>
        </p:spPr>
        <p:txBody>
          <a:bodyPr wrap="square" lIns="0" tIns="0" rIns="0" bIns="0" rtlCol="0" anchor="t"/>
          <a:lstStyle/>
          <a:p>
            <a:pPr marL="342900" indent="-342900">
              <a:spcAft>
                <a:spcPts val="300"/>
              </a:spcAft>
              <a:buSzPct val="100000"/>
              <a:buChar char="•"/>
            </a:pPr>
            <a:r>
              <a:rPr lang="en-US" sz="1150" dirty="0">
                <a:solidFill>
                  <a:schemeClr val="tx2"/>
                </a:solidFill>
              </a:rPr>
              <a:t>Platform Kubernetes Discovery imports from clusters registered to the SaaS, over 443 to api.venafi.cloud</a:t>
            </a:r>
            <a:endParaRPr lang="en-US" sz="1400" dirty="0"/>
          </a:p>
          <a:p>
            <a:pPr marL="342900" indent="-342900">
              <a:spcAft>
                <a:spcPts val="300"/>
              </a:spcAft>
              <a:buSzPct val="100000"/>
              <a:buChar char="•"/>
            </a:pPr>
            <a:r>
              <a:rPr lang="en-US" sz="1150" dirty="0">
                <a:solidFill>
                  <a:schemeClr val="tx2"/>
                </a:solidFill>
              </a:rPr>
              <a:t>No FedRAMP SaaS, so don't plan on it in the boundary (design)</a:t>
            </a:r>
            <a:endParaRPr lang="en-US" sz="1400" dirty="0"/>
          </a:p>
          <a:p>
            <a:pPr marL="342900" indent="-342900">
              <a:spcAft>
                <a:spcPts val="300"/>
              </a:spcAft>
              <a:buSzPct val="100000"/>
              <a:buChar char="•"/>
            </a:pPr>
            <a:r>
              <a:rPr lang="en-US" sz="1150" dirty="0">
                <a:solidFill>
                  <a:schemeClr val="tx2"/>
                </a:solidFill>
              </a:rPr>
              <a:t>cert-manager's CyberArk issuer talks to the self-hosted WebSDK: one Issuer per zone; no refresh tokens</a:t>
            </a:r>
            <a:endParaRPr lang="en-US" sz="1400" dirty="0"/>
          </a:p>
        </p:txBody>
      </p:sp>
      <p:sp>
        <p:nvSpPr>
          <p:cNvPr id="8" name="SN" descr="">
            <a:extLst>
              <a:ext uri="{C183D7F6-B498-43B3-948B-1728B52AA6E4}">
                <adec:decorative xmlns:adec="http://schemas.microsoft.com/office/drawing/2017/decorative" val="1"/>
              </a:ext>
            </a:extLst>
          </p:cNvPr>
          <p:cNvSpPr/>
          <p:nvPr/>
        </p:nvSpPr>
        <p:spPr>
          <a:xfrm>
            <a:off x="4297680" y="1371600"/>
            <a:ext cx="3611880" cy="4526280"/>
          </a:xfrm>
          <a:prstGeom prst="roundRect">
            <a:avLst>
              <a:gd name="adj" fmla="val 2025"/>
            </a:avLst>
          </a:prstGeom>
          <a:solidFill>
            <a:srgbClr val="FBEEDC"/>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9" name="SN head"/>
          <p:cNvSpPr txBox="1"/>
          <p:nvPr/>
        </p:nvSpPr>
        <p:spPr>
          <a:xfrm>
            <a:off x="4480560" y="1481328"/>
            <a:ext cx="3246120" cy="640080"/>
          </a:xfrm>
          <a:prstGeom prst="rect">
            <a:avLst/>
          </a:prstGeom>
          <a:noFill/>
          <a:ln/>
        </p:spPr>
        <p:txBody>
          <a:bodyPr wrap="square" lIns="0" tIns="0" rIns="0" bIns="0" rtlCol="0" anchor="t"/>
          <a:lstStyle/>
          <a:p>
            <a:pPr indent="0" marL="0">
              <a:buNone/>
            </a:pPr>
            <a:r>
              <a:rPr lang="en-US" sz="1100" b="1" dirty="0">
                <a:solidFill>
                  <a:srgbClr val="64748B"/>
                </a:solidFill>
              </a:rPr>
              <a:t>SERVICENOW</a:t>
            </a:r>
            <a:endParaRPr lang="en-US" sz="1400" dirty="0"/>
          </a:p>
          <a:p>
            <a:pPr indent="0" marL="0">
              <a:buNone/>
            </a:pPr>
            <a:r>
              <a:rPr lang="en-US" sz="1500" b="1" dirty="0">
                <a:solidFill>
                  <a:srgbClr val="B45309"/>
                </a:solidFill>
                <a:latin typeface="Cambria" pitchFamily="34" charset="0"/>
                <a:ea typeface="Cambria" pitchFamily="34" charset="-122"/>
                <a:cs typeface="Cambria" pitchFamily="34" charset="-120"/>
              </a:rPr>
              <a:t>Third-party app only</a:t>
            </a:r>
            <a:endParaRPr lang="en-US" sz="1400" dirty="0"/>
          </a:p>
        </p:txBody>
      </p:sp>
      <p:sp>
        <p:nvSpPr>
          <p:cNvPr id="10" name="SN list"/>
          <p:cNvSpPr txBox="1"/>
          <p:nvPr/>
        </p:nvSpPr>
        <p:spPr>
          <a:xfrm>
            <a:off x="4480560" y="2121408"/>
            <a:ext cx="3291840" cy="3703320"/>
          </a:xfrm>
          <a:prstGeom prst="rect">
            <a:avLst/>
          </a:prstGeom>
          <a:noFill/>
          <a:ln/>
        </p:spPr>
        <p:txBody>
          <a:bodyPr wrap="square" lIns="0" tIns="0" rIns="0" bIns="0" rtlCol="0" anchor="t"/>
          <a:lstStyle/>
          <a:p>
            <a:pPr marL="342900" indent="-342900">
              <a:spcAft>
                <a:spcPts val="300"/>
              </a:spcAft>
              <a:buSzPct val="100000"/>
              <a:buChar char="•"/>
            </a:pPr>
            <a:r>
              <a:rPr lang="en-US" sz="1150" dirty="0">
                <a:solidFill>
                  <a:schemeClr val="tx2"/>
                </a:solidFill>
              </a:rPr>
              <a:t>No first-party CyberArk app found in the Store</a:t>
            </a:r>
            <a:endParaRPr lang="en-US" sz="1400" dirty="0"/>
          </a:p>
          <a:p>
            <a:pPr marL="342900" indent="-342900">
              <a:spcAft>
                <a:spcPts val="300"/>
              </a:spcAft>
              <a:buSzPct val="100000"/>
              <a:buChar char="•"/>
            </a:pPr>
            <a:r>
              <a:rPr lang="en-US" sz="1150" dirty="0">
                <a:solidFill>
                  <a:schemeClr val="tx2"/>
                </a:solidFill>
              </a:rPr>
              <a:t>AEYRiX "Machine Identity Protection" (July 29, 2026) supports Self-Hosted through a MID Server; CMDB CI association</a:t>
            </a:r>
            <a:endParaRPr lang="en-US" sz="1400" dirty="0"/>
          </a:p>
          <a:p>
            <a:pPr marL="342900" indent="-342900">
              <a:spcAft>
                <a:spcPts val="300"/>
              </a:spcAft>
              <a:buSzPct val="100000"/>
              <a:buChar char="•"/>
            </a:pPr>
            <a:r>
              <a:rPr lang="en-US" sz="1150" dirty="0">
                <a:solidFill>
                  <a:schemeClr val="tx2"/>
                </a:solidFill>
              </a:rPr>
              <a:t>A supply-chain component to assess before adopting</a:t>
            </a:r>
            <a:endParaRPr lang="en-US" sz="1400" dirty="0"/>
          </a:p>
        </p:txBody>
      </p:sp>
      <p:sp>
        <p:nvSpPr>
          <p:cNvPr id="11" name="SIEM" descr="">
            <a:extLst>
              <a:ext uri="{C183D7F6-B498-43B3-948B-1728B52AA6E4}">
                <adec:decorative xmlns:adec="http://schemas.microsoft.com/office/drawing/2017/decorative" val="1"/>
              </a:ext>
            </a:extLst>
          </p:cNvPr>
          <p:cNvSpPr/>
          <p:nvPr/>
        </p:nvSpPr>
        <p:spPr>
          <a:xfrm>
            <a:off x="8046720" y="1371600"/>
            <a:ext cx="3611880" cy="4526280"/>
          </a:xfrm>
          <a:prstGeom prst="roundRect">
            <a:avLst>
              <a:gd name="adj" fmla="val 2025"/>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12" name="SIEM head"/>
          <p:cNvSpPr txBox="1"/>
          <p:nvPr/>
        </p:nvSpPr>
        <p:spPr>
          <a:xfrm>
            <a:off x="8229600" y="1481328"/>
            <a:ext cx="3246120" cy="640080"/>
          </a:xfrm>
          <a:prstGeom prst="rect">
            <a:avLst/>
          </a:prstGeom>
          <a:noFill/>
          <a:ln/>
        </p:spPr>
        <p:txBody>
          <a:bodyPr wrap="square" lIns="0" tIns="0" rIns="0" bIns="0" rtlCol="0" anchor="t"/>
          <a:lstStyle/>
          <a:p>
            <a:pPr indent="0" marL="0">
              <a:buNone/>
            </a:pPr>
            <a:r>
              <a:rPr lang="en-US" sz="1100" b="1" dirty="0">
                <a:solidFill>
                  <a:srgbClr val="64748B"/>
                </a:solidFill>
              </a:rPr>
              <a:t>SIEM</a:t>
            </a:r>
            <a:endParaRPr lang="en-US" sz="1400" dirty="0"/>
          </a:p>
          <a:p>
            <a:pPr indent="0" marL="0">
              <a:buNone/>
            </a:pPr>
            <a:r>
              <a:rPr lang="en-US" sz="1500" b="1" dirty="0">
                <a:solidFill>
                  <a:srgbClr val="0F766E"/>
                </a:solidFill>
                <a:latin typeface="Cambria" pitchFamily="34" charset="0"/>
                <a:ea typeface="Cambria" pitchFamily="34" charset="-122"/>
                <a:cs typeface="Cambria" pitchFamily="34" charset="-120"/>
              </a:rPr>
              <a:t>Syslog over TLS</a:t>
            </a:r>
            <a:endParaRPr lang="en-US" sz="1400" dirty="0"/>
          </a:p>
        </p:txBody>
      </p:sp>
      <p:sp>
        <p:nvSpPr>
          <p:cNvPr id="13" name="SIEM list"/>
          <p:cNvSpPr txBox="1"/>
          <p:nvPr/>
        </p:nvSpPr>
        <p:spPr>
          <a:xfrm>
            <a:off x="8229600" y="2121408"/>
            <a:ext cx="3291840" cy="3703320"/>
          </a:xfrm>
          <a:prstGeom prst="rect">
            <a:avLst/>
          </a:prstGeom>
          <a:noFill/>
          <a:ln/>
        </p:spPr>
        <p:txBody>
          <a:bodyPr wrap="square" lIns="0" tIns="0" rIns="0" bIns="0" rtlCol="0" anchor="t"/>
          <a:lstStyle/>
          <a:p>
            <a:pPr marL="342900" indent="-342900">
              <a:spcAft>
                <a:spcPts val="300"/>
              </a:spcAft>
              <a:buSzPct val="100000"/>
              <a:buChar char="•"/>
            </a:pPr>
            <a:r>
              <a:rPr lang="en-US" sz="1150" dirty="0">
                <a:solidFill>
                  <a:schemeClr val="tx2"/>
                </a:solidFill>
              </a:rPr>
              <a:t>Syslog channel in BSD, CEF or JSON; TLS supported</a:t>
            </a:r>
            <a:endParaRPr lang="en-US" sz="1400" dirty="0"/>
          </a:p>
          <a:p>
            <a:pPr marL="342900" indent="-342900">
              <a:spcAft>
                <a:spcPts val="300"/>
              </a:spcAft>
              <a:buSzPct val="100000"/>
              <a:buChar char="•"/>
            </a:pPr>
            <a:r>
              <a:rPr lang="en-US" sz="1150" dirty="0">
                <a:solidFill>
                  <a:schemeClr val="tx2"/>
                </a:solidFill>
              </a:rPr>
              <a:t>Collector certificate needs an IP address SAN matching the connection IP, plus Server Authentication EKU</a:t>
            </a:r>
            <a:endParaRPr lang="en-US" sz="1400" dirty="0"/>
          </a:p>
          <a:p>
            <a:pPr marL="342900" indent="-342900">
              <a:spcAft>
                <a:spcPts val="300"/>
              </a:spcAft>
              <a:buSzPct val="100000"/>
              <a:buChar char="•"/>
            </a:pPr>
            <a:r>
              <a:rPr lang="en-US" sz="1150" dirty="0">
                <a:solidFill>
                  <a:schemeClr val="tx2"/>
                </a:solidFill>
              </a:rPr>
              <a:t>So issue it with an iPAddress SAN even if you configure the collector by name</a:t>
            </a:r>
            <a:endParaRPr lang="en-US" sz="1400" dirty="0"/>
          </a:p>
        </p:txBody>
      </p:sp>
      <p:sp>
        <p:nvSpPr>
          <p:cNvPr id="14"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CyberArk 26.1 Kubernetes discovery; syslog channel; cert-manager CyberArk issuer docs; ServiceNow Store (Machine Identity Protection and Lite); FedRAMP Marketplace.</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217920" cy="1920240"/>
          </a:xfrm>
          <a:prstGeom prst="rect">
            <a:avLst/>
          </a:prstGeom>
          <a:noFill/>
          <a:ln/>
        </p:spPr>
        <p:txBody>
          <a:bodyPr wrap="square" lIns="0" tIns="0" rIns="0" bIns="0" rtlCol="0" anchor="b"/>
          <a:lstStyle/>
          <a:p>
            <a:pPr algn="l" indent="0" marL="0">
              <a:buNone/>
            </a:pPr>
            <a:r>
              <a:rPr lang="en-US" sz="4400" b="1" dirty="0">
                <a:solidFill>
                  <a:schemeClr val="tx1"/>
                </a:solidFill>
                <a:latin typeface="Cambria" pitchFamily="34" charset="0"/>
                <a:ea typeface="Cambria" pitchFamily="34" charset="-122"/>
                <a:cs typeface="Cambria" pitchFamily="34" charset="-120"/>
              </a:rPr>
              <a:t>Part 4: Migrate and operate</a:t>
            </a:r>
            <a:endParaRPr lang="en-US" sz="4400" dirty="0"/>
          </a:p>
        </p:txBody>
      </p:sp>
      <p:sp>
        <p:nvSpPr>
          <p:cNvPr id="3" name="Text 0"/>
          <p:cNvSpPr/>
          <p:nvPr>
            <p:ph idx="101" type="body" hasCustomPrompt="1"/>
          </p:nvPr>
        </p:nvSpPr>
        <p:spPr>
          <a:xfrm>
            <a:off x="731520" y="3520440"/>
            <a:ext cx="6035040" cy="822960"/>
          </a:xfrm>
          <a:prstGeom prst="rect">
            <a:avLst/>
          </a:prstGeom>
          <a:noFill/>
          <a:ln/>
        </p:spPr>
        <p:txBody>
          <a:bodyPr wrap="square" lIns="0" tIns="0" rIns="0" bIns="0" rtlCol="0" anchor="t"/>
          <a:lstStyle/>
          <a:p>
            <a:pPr indent="0" marL="0">
              <a:buNone/>
            </a:pPr>
            <a:r>
              <a:rPr lang="en-US" sz="2200" dirty="0">
                <a:solidFill>
                  <a:schemeClr val="accent2"/>
                </a:solidFill>
              </a:rPr>
              <a:t>Implementation guide  ·  Part 4 of 4</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indent="0" marL="0">
              <a:buNone/>
            </a:pPr>
            <a:r>
              <a:rPr lang="en-US" sz="1600" dirty="0">
                <a:solidFill>
                  <a:srgbClr val="64748B"/>
                </a:solidFill>
              </a:rPr>
              <a:t>Presented by  </a:t>
            </a:r>
            <a:pPr indent="0" marL="0">
              <a:buNone/>
            </a:pP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indent="0" marL="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Part contents"/>
          <p:cNvSpPr txBox="1"/>
          <p:nvPr/>
        </p:nvSpPr>
        <p:spPr>
          <a:xfrm>
            <a:off x="731520" y="4251960"/>
            <a:ext cx="6766560" cy="1280160"/>
          </a:xfrm>
          <a:prstGeom prst="rect">
            <a:avLst/>
          </a:prstGeom>
          <a:noFill/>
          <a:ln/>
        </p:spPr>
        <p:txBody>
          <a:bodyPr wrap="square" lIns="0" tIns="0" rIns="0" bIns="0" rtlCol="0" anchor="t"/>
          <a:lstStyle/>
          <a:p>
            <a:pPr indent="0" marL="0">
              <a:spcAft>
                <a:spcPts val="300"/>
              </a:spcAft>
              <a:buNone/>
            </a:pPr>
            <a:r>
              <a:rPr lang="en-US" sz="1200" b="1" dirty="0">
                <a:solidFill>
                  <a:srgbClr val="64748B"/>
                </a:solidFill>
              </a:rPr>
              <a:t>IN THIS PART  ·  ABOUT 3 MINUTES</a:t>
            </a:r>
            <a:endParaRPr lang="en-US" sz="1400" dirty="0"/>
          </a:p>
          <a:p>
            <a:pPr marL="342900" indent="-342900">
              <a:spcAft>
                <a:spcPts val="300"/>
              </a:spcAft>
              <a:buSzPct val="100000"/>
              <a:buChar char="•"/>
            </a:pPr>
            <a:r>
              <a:rPr lang="en-US" sz="1500" dirty="0">
                <a:solidFill>
                  <a:srgbClr val="334155"/>
                </a:solidFill>
              </a:rPr>
              <a:t>The build mapped onto Book 07's six waves</a:t>
            </a:r>
            <a:endParaRPr lang="en-US" sz="1400" dirty="0"/>
          </a:p>
          <a:p>
            <a:pPr marL="342900" indent="-342900">
              <a:spcAft>
                <a:spcPts val="300"/>
              </a:spcAft>
              <a:buSzPct val="100000"/>
              <a:buChar char="•"/>
            </a:pPr>
            <a:r>
              <a:rPr lang="en-US" sz="1500" dirty="0">
                <a:solidFill>
                  <a:srgbClr val="334155"/>
                </a:solidFill>
              </a:rPr>
              <a:t>Renewal at shrinking public lifetimes; monitoring and drift</a:t>
            </a:r>
            <a:endParaRPr lang="en-US" sz="1400" dirty="0"/>
          </a:p>
          <a:p>
            <a:pPr marL="342900" indent="-342900">
              <a:spcAft>
                <a:spcPts val="300"/>
              </a:spcAft>
              <a:buSzPct val="100000"/>
              <a:buChar char="•"/>
            </a:pPr>
            <a:r>
              <a:rPr lang="en-US" sz="1500" dirty="0">
                <a:solidFill>
                  <a:srgbClr val="334155"/>
                </a:solidFill>
              </a:rPr>
              <a:t>Decommissioning, decisions and next steps</a:t>
            </a:r>
            <a:endParaRPr lang="en-US" sz="1400" dirty="0"/>
          </a:p>
        </p:txBody>
      </p:sp>
      <p:sp>
        <p:nvSpPr>
          <p:cNvPr id="7" name="Sources"/>
          <p:cNvSpPr txBox="1"/>
          <p:nvPr/>
        </p:nvSpPr>
        <p:spPr>
          <a:xfrm>
            <a:off x="548640" y="5559552"/>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Book 07 Ch 01, Ch 05, Ch 07, Ch 08; CA/Browser Forum Baseline Requirements (via Book 07); CyberArk 26.1 docs.</a:t>
            </a:r>
            <a:endParaRPr lang="en-US" sz="1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Build sequence mapped to Book 07's six waves</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Design label"/>
          <p:cNvSpPr txBox="1"/>
          <p:nvPr/>
        </p:nvSpPr>
        <p:spPr>
          <a:xfrm>
            <a:off x="548640" y="1298448"/>
            <a:ext cx="11109960" cy="256032"/>
          </a:xfrm>
          <a:prstGeom prst="rect">
            <a:avLst/>
          </a:prstGeom>
          <a:noFill/>
          <a:ln/>
        </p:spPr>
        <p:txBody>
          <a:bodyPr wrap="square" lIns="0" tIns="0" rIns="0" bIns="0" rtlCol="0" anchor="ctr"/>
          <a:lstStyle/>
          <a:p>
            <a:pPr indent="0" marL="0">
              <a:buNone/>
            </a:pPr>
            <a:r>
              <a:rPr lang="en-US" sz="1100" b="1" dirty="0">
                <a:solidFill>
                  <a:srgbClr val="B91C1C"/>
                </a:solidFill>
              </a:rPr>
              <a:t>PROGRAM DESIGN GUIDANCE — NOT VENDOR REQUIREMENTS</a:t>
            </a:r>
            <a:endParaRPr lang="en-US" sz="1100" dirty="0"/>
          </a:p>
        </p:txBody>
      </p:sp>
      <p:graphicFrame>
        <p:nvGraphicFramePr>
          <p:cNvPr id="31" name="Waves"/>
          <p:cNvGraphicFramePr>
            <a:graphicFrameLocks noGrp="1"/>
          </p:cNvGraphicFramePr>
          <p:nvPr>
            <p:extLst>
              <p:ext uri="{D42A27DB-BD31-4B8C-83A1-F6EECF244321}">
                <p14:modId xmlns:p14="http://schemas.microsoft.com/office/powerpoint/2010/main" val="1579011935"/>
              </p:ext>
            </p:extLst>
          </p:nvPr>
        </p:nvGraphicFramePr>
        <p:xfrm>
          <a:off x="548640" y="1600200"/>
          <a:ext cx="9144000" cy="914400"/>
        </p:xfrm>
        <a:graphic>
          <a:graphicData uri="http://schemas.openxmlformats.org/drawingml/2006/table">
            <a:tbl>
              <a:tblPr firstRow="1" bandRow="1"/>
              <a:tblGrid>
                <a:gridCol w="1691640"/>
                <a:gridCol w="5760720"/>
                <a:gridCol w="3657600"/>
              </a:tblGrid>
              <a:tr h="292608">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Wave (weeks)</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Platform work</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Gate addition</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29768">
                <a:tc>
                  <a:txBody>
                    <a:bodyPr/>
                    <a:lstStyle/>
                    <a:p>
                      <a:pPr indent="0" marL="0">
                        <a:buNone/>
                      </a:pPr>
                      <a:r>
                        <a:rPr lang="en-US" sz="1050" b="1" dirty="0">
                          <a:solidFill>
                            <a:srgbClr val="1F2A44"/>
                          </a:solidFill>
                          <a:latin typeface="Calibri" pitchFamily="34" charset="0"/>
                          <a:ea typeface="Calibri" pitchFamily="34" charset="-122"/>
                          <a:cs typeface="Calibri" pitchFamily="34" charset="-120"/>
                        </a:rPr>
                        <a:t>1 Assess (1–4)</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Two-server test cluster and SQL in the boundary; read-only discovery; CA Import of in-scope templates; CA account created under ESC7 controls</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Unexplained certificates logged as findings; CA account in the ESC7 baseline</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89788">
                <a:tc>
                  <a:txBody>
                    <a:bodyPr/>
                    <a:lstStyle/>
                    <a:p>
                      <a:pPr indent="0" marL="0">
                        <a:buNone/>
                      </a:pPr>
                      <a:r>
                        <a:rPr lang="en-US" sz="1050" b="1" dirty="0">
                          <a:solidFill>
                            <a:srgbClr val="1F2A44"/>
                          </a:solidFill>
                          <a:latin typeface="Calibri" pitchFamily="34" charset="0"/>
                          <a:ea typeface="Calibri" pitchFamily="34" charset="-122"/>
                          <a:cs typeface="Calibri" pitchFamily="34" charset="-120"/>
                        </a:rPr>
                        <a:t>2 Foundation (5–8)</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Production cluster: two per role, load balancer, Always On, keys backed up; FIPS per server, ACME apart; operational certs; Entra SSO; syslog-TLS; policy tree; CA templates and pool; public CA; vault</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DR restore rehearsed; negative test passes; IIS hardening applied</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29768">
                <a:tc>
                  <a:txBody>
                    <a:bodyPr/>
                    <a:lstStyle/>
                    <a:p>
                      <a:pPr indent="0" marL="0">
                        <a:buNone/>
                      </a:pPr>
                      <a:r>
                        <a:rPr lang="en-US" sz="1050" b="1" dirty="0">
                          <a:solidFill>
                            <a:srgbClr val="1F2A44"/>
                          </a:solidFill>
                          <a:latin typeface="Calibri" pitchFamily="34" charset="0"/>
                          <a:ea typeface="Calibri" pitchFamily="34" charset="-122"/>
                          <a:cs typeface="Calibri" pitchFamily="34" charset="-120"/>
                        </a:rPr>
                        <a:t>3 Pilot (9–16)</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Pilot servers (IIS, Apache, F5, NetScaler, one NPS) onto platform renewal; Server Owners; ACME pilot; autoenrollment stays on</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Every pilot cert has owner and engine; one renewal per driver type</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29768">
                <a:tc>
                  <a:txBody>
                    <a:bodyPr/>
                    <a:lstStyle/>
                    <a:p>
                      <a:pPr indent="0" marL="0">
                        <a:buNone/>
                      </a:pPr>
                      <a:r>
                        <a:rPr lang="en-US" sz="1050" b="1" dirty="0">
                          <a:solidFill>
                            <a:srgbClr val="1F2A44"/>
                          </a:solidFill>
                          <a:latin typeface="Calibri" pitchFamily="34" charset="0"/>
                          <a:ea typeface="Calibri" pitchFamily="34" charset="-122"/>
                          <a:cs typeface="Calibri" pitchFamily="34" charset="-120"/>
                        </a:rPr>
                        <a:t>4 Scale (17–28)</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Ring by ring off server autoenrollment; EST/SCEP where approved; cert-manager; ServiceNow if adopted</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"No renewal path" drift = 0 in scope</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29768">
                <a:tc>
                  <a:txBody>
                    <a:bodyPr/>
                    <a:lstStyle/>
                    <a:p>
                      <a:pPr indent="0" marL="0">
                        <a:buNone/>
                      </a:pPr>
                      <a:r>
                        <a:rPr lang="en-US" sz="1050" b="1" dirty="0">
                          <a:solidFill>
                            <a:srgbClr val="1F2A44"/>
                          </a:solidFill>
                          <a:latin typeface="Calibri" pitchFamily="34" charset="0"/>
                          <a:ea typeface="Calibri" pitchFamily="34" charset="-122"/>
                          <a:cs typeface="Calibri" pitchFamily="34" charset="-120"/>
                        </a:rPr>
                        <a:t>5 Cutover (29–36)</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Public TLS fully on the platform with CAA-approved CAs; lifetimes on the CA/B schedule; no hand renewals</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Assessor evidence pack</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92608">
                <a:tc>
                  <a:txBody>
                    <a:bodyPr/>
                    <a:lstStyle/>
                    <a:p>
                      <a:pPr indent="0" marL="0">
                        <a:buNone/>
                      </a:pPr>
                      <a:r>
                        <a:rPr lang="en-US" sz="1050" b="1" dirty="0">
                          <a:solidFill>
                            <a:srgbClr val="1F2A44"/>
                          </a:solidFill>
                          <a:latin typeface="Calibri" pitchFamily="34" charset="0"/>
                          <a:ea typeface="Calibri" pitchFamily="34" charset="-122"/>
                          <a:cs typeface="Calibri" pitchFamily="34" charset="-120"/>
                        </a:rPr>
                        <a:t>6 Decommission (37–44)</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Inventory proves no dependents per CA; retire CA objects; repoint templates</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Record includes CA-object retirement</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7"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research brief §9 (program design); Book 07, Ch 07 (waves 1–6 and gates), Ch 04 (issuer decision), Ch 08 (drift, decommissioning).</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Renewal as public TLS lifetimes shrink</a:t>
            </a:r>
            <a:endParaRPr lang="en-US" sz="3000" dirty="0"/>
          </a:p>
        </p:txBody>
      </p:sp>
      <p:sp>
        <p:nvSpPr>
          <p:cNvPr id="3" name="Tag Why"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WHY</a:t>
            </a:r>
            <a:endParaRPr lang="en-US" sz="1100" dirty="0"/>
          </a:p>
        </p:txBody>
      </p:sp>
      <p:graphicFrame>
        <p:nvGraphicFramePr>
          <p:cNvPr id="32" name="CAB"/>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2743200"/>
                <a:gridCol w="1828800"/>
                <a:gridCol w="2377440"/>
              </a:tblGrid>
              <a:tr h="292608">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Public TLS issued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Max validity</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Renewals/day, 1,000 certs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29260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From Mar. 15, 2026 (in force)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200 days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about 7</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9260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From Mar. 15, 2027</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100 days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about 15</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9260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From Mar. 15, 2029</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47 days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about 31</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Math note"/>
          <p:cNvSpPr txBox="1"/>
          <p:nvPr/>
        </p:nvSpPr>
        <p:spPr>
          <a:xfrm>
            <a:off x="548640" y="3063240"/>
            <a:ext cx="6949440" cy="548640"/>
          </a:xfrm>
          <a:prstGeom prst="rect">
            <a:avLst/>
          </a:prstGeom>
          <a:noFill/>
          <a:ln/>
        </p:spPr>
        <p:txBody>
          <a:bodyPr wrap="square" lIns="0" tIns="0" rIns="0" bIns="0" rtlCol="0" anchor="t"/>
          <a:lstStyle/>
          <a:p>
            <a:pPr indent="0" marL="0">
              <a:buNone/>
            </a:pPr>
            <a:r>
              <a:rPr lang="en-US" sz="1100" dirty="0">
                <a:solidFill>
                  <a:srgbClr val="64748B"/>
                </a:solidFill>
              </a:rPr>
              <a:t>Last column: Book 07 arithmetic (250 working days, no early renewal). Domain-validation reuse falls to 10 days by 2029.</a:t>
            </a:r>
            <a:endParaRPr lang="en-US" sz="1100" dirty="0"/>
          </a:p>
        </p:txBody>
      </p:sp>
      <p:sp>
        <p:nvSpPr>
          <p:cNvPr id="7" name="Engines" descr="">
            <a:extLst>
              <a:ext uri="{C183D7F6-B498-43B3-948B-1728B52AA6E4}">
                <adec:decorative xmlns:adec="http://schemas.microsoft.com/office/drawing/2017/decorative" val="1"/>
              </a:ext>
            </a:extLst>
          </p:cNvPr>
          <p:cNvSpPr/>
          <p:nvPr/>
        </p:nvSpPr>
        <p:spPr>
          <a:xfrm>
            <a:off x="7680960" y="1371600"/>
            <a:ext cx="3977640" cy="3657600"/>
          </a:xfrm>
          <a:prstGeom prst="roundRect">
            <a:avLst>
              <a:gd name="adj" fmla="val 2000"/>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8" name="Engines head"/>
          <p:cNvSpPr txBox="1"/>
          <p:nvPr/>
        </p:nvSpPr>
        <p:spPr>
          <a:xfrm>
            <a:off x="7863840" y="1481328"/>
            <a:ext cx="3611880" cy="640080"/>
          </a:xfrm>
          <a:prstGeom prst="rect">
            <a:avLst/>
          </a:prstGeom>
          <a:noFill/>
          <a:ln/>
        </p:spPr>
        <p:txBody>
          <a:bodyPr wrap="square" lIns="0" tIns="0" rIns="0" bIns="0" rtlCol="0" anchor="t"/>
          <a:lstStyle/>
          <a:p>
            <a:pPr indent="0" marL="0">
              <a:buNone/>
            </a:pPr>
            <a:r>
              <a:rPr lang="en-US" sz="1100" b="1" dirty="0">
                <a:solidFill>
                  <a:srgbClr val="64748B"/>
                </a:solidFill>
              </a:rPr>
              <a:t>HOW THE PLATFORM KEEPS UP</a:t>
            </a:r>
            <a:endParaRPr lang="en-US" sz="1400" dirty="0"/>
          </a:p>
        </p:txBody>
      </p:sp>
      <p:sp>
        <p:nvSpPr>
          <p:cNvPr id="9" name="Engines list"/>
          <p:cNvSpPr txBox="1"/>
          <p:nvPr/>
        </p:nvSpPr>
        <p:spPr>
          <a:xfrm>
            <a:off x="7863840" y="1810512"/>
            <a:ext cx="3657600" cy="3145536"/>
          </a:xfrm>
          <a:prstGeom prst="rect">
            <a:avLst/>
          </a:prstGeom>
          <a:noFill/>
          <a:ln/>
        </p:spPr>
        <p:txBody>
          <a:bodyPr wrap="square" lIns="0" tIns="0" rIns="0" bIns="0" rtlCol="0" anchor="t"/>
          <a:lstStyle/>
          <a:p>
            <a:pPr marL="342900" indent="-342900">
              <a:spcAft>
                <a:spcPts val="300"/>
              </a:spcAft>
              <a:buSzPct val="100000"/>
              <a:buChar char="•"/>
            </a:pPr>
            <a:r>
              <a:rPr lang="en-US" sz="1150" dirty="0">
                <a:solidFill>
                  <a:schemeClr val="tx2"/>
                </a:solidFill>
              </a:rPr>
              <a:t>Drivers renew and push to IIS, Apache, F5, NetScaler and others</a:t>
            </a:r>
            <a:endParaRPr lang="en-US" sz="1400" dirty="0"/>
          </a:p>
          <a:p>
            <a:pPr marL="342900" indent="-342900">
              <a:spcAft>
                <a:spcPts val="300"/>
              </a:spcAft>
              <a:buSzPct val="100000"/>
              <a:buChar char="•"/>
            </a:pPr>
            <a:r>
              <a:rPr lang="en-US" sz="1150" dirty="0">
                <a:solidFill>
                  <a:schemeClr val="tx2"/>
                </a:solidFill>
              </a:rPr>
              <a:t>ACME for web listeners whose client can answer a challenge</a:t>
            </a:r>
            <a:endParaRPr lang="en-US" sz="1400" dirty="0"/>
          </a:p>
          <a:p>
            <a:pPr marL="342900" indent="-342900">
              <a:spcAft>
                <a:spcPts val="300"/>
              </a:spcAft>
              <a:buSzPct val="100000"/>
              <a:buChar char="•"/>
            </a:pPr>
            <a:r>
              <a:rPr lang="en-US" sz="1150" dirty="0">
                <a:solidFill>
                  <a:schemeClr val="tx2"/>
                </a:solidFill>
              </a:rPr>
              <a:t>dns-01 makes the authoritative zone the gate: consult the DNS team</a:t>
            </a:r>
            <a:endParaRPr lang="en-US" sz="1400" dirty="0"/>
          </a:p>
          <a:p>
            <a:pPr marL="342900" indent="-342900">
              <a:spcAft>
                <a:spcPts val="300"/>
              </a:spcAft>
              <a:buSzPct val="100000"/>
              <a:buChar char="•"/>
            </a:pPr>
            <a:r>
              <a:rPr lang="en-US" sz="1150" dirty="0">
                <a:solidFill>
                  <a:schemeClr val="tx2"/>
                </a:solidFill>
              </a:rPr>
              <a:t>Internal lifetimes follow the schedule as automation proves itself (Book 07)</a:t>
            </a:r>
            <a:endParaRPr lang="en-US" sz="1400" dirty="0"/>
          </a:p>
        </p:txBody>
      </p:sp>
      <p:sp>
        <p:nvSpPr>
          <p:cNvPr id="10" name="Rule" descr="">
            <a:extLst>
              <a:ext uri="{C183D7F6-B498-43B3-948B-1728B52AA6E4}">
                <adec:decorative xmlns:adec="http://schemas.microsoft.com/office/drawing/2017/decorative" val="1"/>
              </a:ext>
            </a:extLst>
          </p:cNvPr>
          <p:cNvSpPr/>
          <p:nvPr/>
        </p:nvSpPr>
        <p:spPr>
          <a:xfrm>
            <a:off x="548640" y="3749040"/>
            <a:ext cx="11109960" cy="1280160"/>
          </a:xfrm>
          <a:prstGeom prst="roundRect">
            <a:avLst>
              <a:gd name="adj" fmla="val 5714"/>
            </a:avLst>
          </a:prstGeom>
          <a:solidFill>
            <a:srgbClr val="FFFFFF"/>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11" name="Icon FaArrowsRotate" descr="">
            <a:extLst>
              <a:ext uri="{C183D7F6-B498-43B3-948B-1728B52AA6E4}">
                <adec:decorative xmlns:adec="http://schemas.microsoft.com/office/drawing/2017/decorative" val="1"/>
              </a:ext>
            </a:extLst>
          </p:cNvPr>
          <p:cNvSpPr/>
          <p:nvPr/>
        </p:nvSpPr>
        <p:spPr>
          <a:xfrm>
            <a:off x="777240" y="4023360"/>
            <a:ext cx="731520" cy="731520"/>
          </a:xfrm>
          <a:prstGeom prst="ellipse">
            <a:avLst/>
          </a:prstGeom>
          <a:solidFill>
            <a:srgbClr val="1F2A44"/>
          </a:solidFill>
          <a:ln w="12700">
            <a:solidFill>
              <a:srgbClr val="1F2A44"/>
            </a:solidFill>
            <a:prstDash val="solid"/>
          </a:ln>
        </p:spPr>
      </p:sp>
      <p:pic>
        <p:nvPicPr>
          <p:cNvPr id="12"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52805" y="4198925"/>
            <a:ext cx="380390" cy="380390"/>
          </a:xfrm>
          <a:prstGeom prst="rect">
            <a:avLst/>
          </a:prstGeom>
        </p:spPr>
      </p:pic>
      <p:sp>
        <p:nvSpPr>
          <p:cNvPr id="13" name="Rule text"/>
          <p:cNvSpPr txBox="1"/>
          <p:nvPr/>
        </p:nvSpPr>
        <p:spPr>
          <a:xfrm>
            <a:off x="1737360" y="3794760"/>
            <a:ext cx="9738360" cy="1188720"/>
          </a:xfrm>
          <a:prstGeom prst="rect">
            <a:avLst/>
          </a:prstGeom>
          <a:noFill/>
          <a:ln/>
        </p:spPr>
        <p:txBody>
          <a:bodyPr wrap="square" lIns="0" tIns="0" rIns="0" bIns="0" rtlCol="0" anchor="ctr"/>
          <a:lstStyle/>
          <a:p>
            <a:pPr indent="0" marL="0">
              <a:buNone/>
            </a:pPr>
            <a:r>
              <a:rPr lang="en-US" sz="1650" b="1" dirty="0">
                <a:solidFill>
                  <a:srgbClr val="1F2A44"/>
                </a:solidFill>
              </a:rPr>
              <a:t>Book 07's design rule: </a:t>
            </a:r>
            <a:pPr indent="0" marL="0">
              <a:buNone/>
            </a:pPr>
            <a:r>
              <a:rPr lang="en-US" sz="1650" dirty="0">
                <a:solidFill>
                  <a:schemeClr val="tx2"/>
                </a:solidFill>
              </a:rPr>
              <a:t>no certificate class may depend on a person remembering a date. Every class runs through Intune, autoenrollment or this platform.</a:t>
            </a:r>
            <a:endParaRPr lang="en-US" sz="1650" dirty="0"/>
          </a:p>
        </p:txBody>
      </p:sp>
      <p:sp>
        <p:nvSpPr>
          <p:cNvPr id="14"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Book 07, Ch 01 (CA/Browser Forum SC-081v3, Baseline Requirements 2.3.1) and Ch 08 (renewal engines, ACME); CyberArk 26.1 drivers and ACME pages.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Monitoring and drift on the CLM platform</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graphicFrame>
        <p:nvGraphicFramePr>
          <p:cNvPr id="33" name="Drift"/>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2834640"/>
                <a:gridCol w="4572000"/>
                <a:gridCol w="3703320"/>
              </a:tblGrid>
              <a:tr h="292608">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Drift (Book 07 Ch 08)</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How the platform detects it</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Response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Expiring with no renewal path</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Certificate within two renewal windows of expiry, no engine bound</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Assign the owner; bind to an engine; reissue if late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Issuance outside policy</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Discovered certificate with no enrollment record; event 4887 for the CA account outside its templates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Investigate CA and requester; revoke with the right reason</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CRL near next update, or stale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Certificate Revocation Monitoring checks CDP and OCSP endpoints, at least daily</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Publish and verify delivery</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9260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Trust store drift (SC-17(b))</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Roots tree holds an anchor not on the approved list</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Remove unapproved anchors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Signals" descr="">
            <a:extLst>
              <a:ext uri="{C183D7F6-B498-43B3-948B-1728B52AA6E4}">
                <adec:decorative xmlns:adec="http://schemas.microsoft.com/office/drawing/2017/decorative" val="1"/>
              </a:ext>
            </a:extLst>
          </p:cNvPr>
          <p:cNvSpPr/>
          <p:nvPr/>
        </p:nvSpPr>
        <p:spPr>
          <a:xfrm>
            <a:off x="548640" y="3977640"/>
            <a:ext cx="5486400" cy="1920240"/>
          </a:xfrm>
          <a:prstGeom prst="roundRect">
            <a:avLst>
              <a:gd name="adj" fmla="val 3810"/>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7" name="Signals head"/>
          <p:cNvSpPr txBox="1"/>
          <p:nvPr/>
        </p:nvSpPr>
        <p:spPr>
          <a:xfrm>
            <a:off x="731520" y="4087368"/>
            <a:ext cx="5120640" cy="640080"/>
          </a:xfrm>
          <a:prstGeom prst="rect">
            <a:avLst/>
          </a:prstGeom>
          <a:noFill/>
          <a:ln/>
        </p:spPr>
        <p:txBody>
          <a:bodyPr wrap="square" lIns="0" tIns="0" rIns="0" bIns="0" rtlCol="0" anchor="t"/>
          <a:lstStyle/>
          <a:p>
            <a:pPr indent="0" marL="0">
              <a:buNone/>
            </a:pPr>
            <a:r>
              <a:rPr lang="en-US" sz="1100" b="1" dirty="0">
                <a:solidFill>
                  <a:srgbClr val="64748B"/>
                </a:solidFill>
              </a:rPr>
              <a:t>SIGNALS TO SECURITY OPERATIONS</a:t>
            </a:r>
            <a:endParaRPr lang="en-US" sz="1400" dirty="0"/>
          </a:p>
        </p:txBody>
      </p:sp>
      <p:sp>
        <p:nvSpPr>
          <p:cNvPr id="8" name="Signals list"/>
          <p:cNvSpPr txBox="1"/>
          <p:nvPr/>
        </p:nvSpPr>
        <p:spPr>
          <a:xfrm>
            <a:off x="731520" y="4416552"/>
            <a:ext cx="5166360" cy="1408176"/>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2"/>
                </a:solidFill>
              </a:rPr>
              <a:t>Platform events to the SIEM over syslog-TLS (CEF)</a:t>
            </a:r>
            <a:endParaRPr lang="en-US" sz="1400" dirty="0"/>
          </a:p>
          <a:p>
            <a:pPr marL="342900" indent="-342900">
              <a:spcAft>
                <a:spcPts val="300"/>
              </a:spcAft>
              <a:buSzPct val="100000"/>
              <a:buChar char="•"/>
            </a:pPr>
            <a:r>
              <a:rPr lang="en-US" sz="1200" dirty="0">
                <a:solidFill>
                  <a:schemeClr val="tx2"/>
                </a:solidFill>
              </a:rPr>
              <a:t>Inventory, owners, expiry and renewal status in one view</a:t>
            </a:r>
            <a:endParaRPr lang="en-US" sz="1400" dirty="0"/>
          </a:p>
        </p:txBody>
      </p:sp>
      <p:sp>
        <p:nvSpPr>
          <p:cNvPr id="9" name="Evidence" descr="">
            <a:extLst>
              <a:ext uri="{C183D7F6-B498-43B3-948B-1728B52AA6E4}">
                <adec:decorative xmlns:adec="http://schemas.microsoft.com/office/drawing/2017/decorative" val="1"/>
              </a:ext>
            </a:extLst>
          </p:cNvPr>
          <p:cNvSpPr/>
          <p:nvPr/>
        </p:nvSpPr>
        <p:spPr>
          <a:xfrm>
            <a:off x="6172200" y="3977640"/>
            <a:ext cx="5486400" cy="1920240"/>
          </a:xfrm>
          <a:prstGeom prst="roundRect">
            <a:avLst>
              <a:gd name="adj" fmla="val 3810"/>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10" name="Evidence head"/>
          <p:cNvSpPr txBox="1"/>
          <p:nvPr/>
        </p:nvSpPr>
        <p:spPr>
          <a:xfrm>
            <a:off x="6355080" y="4087368"/>
            <a:ext cx="5120640" cy="640080"/>
          </a:xfrm>
          <a:prstGeom prst="rect">
            <a:avLst/>
          </a:prstGeom>
          <a:noFill/>
          <a:ln/>
        </p:spPr>
        <p:txBody>
          <a:bodyPr wrap="square" lIns="0" tIns="0" rIns="0" bIns="0" rtlCol="0" anchor="t"/>
          <a:lstStyle/>
          <a:p>
            <a:pPr indent="0" marL="0">
              <a:buNone/>
            </a:pPr>
            <a:r>
              <a:rPr lang="en-US" sz="1100" b="1" dirty="0">
                <a:solidFill>
                  <a:srgbClr val="64748B"/>
                </a:solidFill>
              </a:rPr>
              <a:t>PERSIST THE EVIDENCE</a:t>
            </a:r>
            <a:endParaRPr lang="en-US" sz="1400" dirty="0"/>
          </a:p>
        </p:txBody>
      </p:sp>
      <p:sp>
        <p:nvSpPr>
          <p:cNvPr id="11" name="Evidence list"/>
          <p:cNvSpPr txBox="1"/>
          <p:nvPr/>
        </p:nvSpPr>
        <p:spPr>
          <a:xfrm>
            <a:off x="6355080" y="4416552"/>
            <a:ext cx="5166360" cy="1408176"/>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2"/>
                </a:solidFill>
              </a:rPr>
              <a:t>Drift checks at least weekly; outputs committed to the evidence repository</a:t>
            </a:r>
            <a:endParaRPr lang="en-US" sz="1400" dirty="0"/>
          </a:p>
          <a:p>
            <a:pPr marL="342900" indent="-342900">
              <a:spcAft>
                <a:spcPts val="300"/>
              </a:spcAft>
              <a:buSzPct val="100000"/>
              <a:buChar char="•"/>
            </a:pPr>
            <a:r>
              <a:rPr lang="en-US" sz="1200" dirty="0">
                <a:solidFill>
                  <a:schemeClr val="tx2"/>
                </a:solidFill>
              </a:rPr>
              <a:t>An assessor asks how long a finding stayed open</a:t>
            </a:r>
            <a:endParaRPr lang="en-US" sz="1400" dirty="0"/>
          </a:p>
        </p:txBody>
      </p:sp>
      <p:sp>
        <p:nvSpPr>
          <p:cNvPr id="12"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Book 07, Ch 05 (security operations), Ch 08 (monitoring, drift patterns, persisting evidence); CyberArk 26.1 Installation Guide p. 89; syslog channel.</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Decommissioning AD CS with the CLM inventory</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Decom 1" descr="">
            <a:extLst>
              <a:ext uri="{C183D7F6-B498-43B3-948B-1728B52AA6E4}">
                <adec:decorative xmlns:adec="http://schemas.microsoft.com/office/drawing/2017/decorative" val="1"/>
              </a:ext>
            </a:extLst>
          </p:cNvPr>
          <p:cNvSpPr/>
          <p:nvPr/>
        </p:nvSpPr>
        <p:spPr>
          <a:xfrm>
            <a:off x="548640" y="1371600"/>
            <a:ext cx="2017166" cy="1463040"/>
          </a:xfrm>
          <a:prstGeom prst="roundRect">
            <a:avLst>
              <a:gd name="adj" fmla="val 5000"/>
            </a:avLst>
          </a:prstGeom>
          <a:solidFill>
            <a:srgbClr val="FBEEDC"/>
          </a:solidFill>
          <a:ln w="12700">
            <a:solidFill>
              <a:srgbClr val="FBEEDC"/>
            </a:solidFill>
            <a:prstDash val="solid"/>
          </a:ln>
          <a:effectLst>
            <a:outerShdw sx="100000" sy="100000" kx="0" ky="0" algn="bl" rotWithShape="0" blurRad="76200" dist="25400" dir="5400000">
              <a:srgbClr val="64748B">
                <a:alpha val="22000"/>
              </a:srgbClr>
            </a:outerShdw>
          </a:effectLst>
        </p:spPr>
      </p:sp>
      <p:sp>
        <p:nvSpPr>
          <p:cNvPr id="6" name="Decom 1 text"/>
          <p:cNvSpPr txBox="1"/>
          <p:nvPr/>
        </p:nvSpPr>
        <p:spPr>
          <a:xfrm>
            <a:off x="640080" y="1444752"/>
            <a:ext cx="1834286" cy="1316736"/>
          </a:xfrm>
          <a:prstGeom prst="rect">
            <a:avLst/>
          </a:prstGeom>
          <a:noFill/>
          <a:ln/>
        </p:spPr>
        <p:txBody>
          <a:bodyPr wrap="square" lIns="0" tIns="0" rIns="0" bIns="0" rtlCol="0" anchor="t"/>
          <a:lstStyle/>
          <a:p>
            <a:pPr indent="0" marL="0">
              <a:spcAft>
                <a:spcPts val="200"/>
              </a:spcAft>
              <a:buNone/>
            </a:pPr>
            <a:r>
              <a:rPr lang="en-US" sz="1300" b="1" dirty="0">
                <a:solidFill>
                  <a:srgbClr val="B45309"/>
                </a:solidFill>
                <a:latin typeface="Cambria" pitchFamily="34" charset="0"/>
                <a:ea typeface="Cambria" pitchFamily="34" charset="-122"/>
                <a:cs typeface="Cambria" pitchFamily="34" charset="-120"/>
              </a:rPr>
              <a:t>Gate</a:t>
            </a:r>
            <a:endParaRPr lang="en-US" sz="1150" dirty="0"/>
          </a:p>
          <a:p>
            <a:pPr indent="0" marL="0">
              <a:spcAft>
                <a:spcPts val="200"/>
              </a:spcAft>
              <a:buNone/>
            </a:pPr>
            <a:r>
              <a:rPr lang="en-US" sz="1150" dirty="0">
                <a:solidFill>
                  <a:schemeClr val="tx2"/>
                </a:solidFill>
              </a:rPr>
              <a:t>Cutover done; 30-day rollback window passed</a:t>
            </a:r>
            <a:endParaRPr lang="en-US" sz="1150" dirty="0"/>
          </a:p>
        </p:txBody>
      </p:sp>
      <p:sp>
        <p:nvSpPr>
          <p:cNvPr id="7" name="Decom arrow 1" descr="">
            <a:extLst>
              <a:ext uri="{C183D7F6-B498-43B3-948B-1728B52AA6E4}">
                <adec:decorative xmlns:adec="http://schemas.microsoft.com/office/drawing/2017/decorative" val="1"/>
              </a:ext>
            </a:extLst>
          </p:cNvPr>
          <p:cNvSpPr/>
          <p:nvPr/>
        </p:nvSpPr>
        <p:spPr>
          <a:xfrm>
            <a:off x="2593238" y="2002536"/>
            <a:ext cx="201168" cy="201168"/>
          </a:xfrm>
          <a:prstGeom prst="rightArrow">
            <a:avLst/>
          </a:prstGeom>
          <a:solidFill>
            <a:srgbClr val="64748B"/>
          </a:solidFill>
          <a:ln w="12700">
            <a:solidFill>
              <a:srgbClr val="64748B"/>
            </a:solidFill>
            <a:prstDash val="solid"/>
          </a:ln>
        </p:spPr>
      </p:sp>
      <p:sp>
        <p:nvSpPr>
          <p:cNvPr id="8" name="Decom 2" descr="">
            <a:extLst>
              <a:ext uri="{C183D7F6-B498-43B3-948B-1728B52AA6E4}">
                <adec:decorative xmlns:adec="http://schemas.microsoft.com/office/drawing/2017/decorative" val="1"/>
              </a:ext>
            </a:extLst>
          </p:cNvPr>
          <p:cNvSpPr/>
          <p:nvPr/>
        </p:nvSpPr>
        <p:spPr>
          <a:xfrm>
            <a:off x="2821838" y="1371600"/>
            <a:ext cx="2017166" cy="1463040"/>
          </a:xfrm>
          <a:prstGeom prst="roundRect">
            <a:avLst>
              <a:gd name="adj" fmla="val 5000"/>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9" name="Decom 2 text"/>
          <p:cNvSpPr txBox="1"/>
          <p:nvPr/>
        </p:nvSpPr>
        <p:spPr>
          <a:xfrm>
            <a:off x="2913278" y="1444752"/>
            <a:ext cx="1834286" cy="1316736"/>
          </a:xfrm>
          <a:prstGeom prst="rect">
            <a:avLst/>
          </a:prstGeom>
          <a:noFill/>
          <a:ln/>
        </p:spPr>
        <p:txBody>
          <a:bodyPr wrap="square" lIns="0" tIns="0" rIns="0" bIns="0" rtlCol="0" anchor="t"/>
          <a:lstStyle/>
          <a:p>
            <a:pPr indent="0" marL="0">
              <a:spcAft>
                <a:spcPts val="200"/>
              </a:spcAft>
              <a:buNone/>
            </a:pPr>
            <a:r>
              <a:rPr lang="en-US" sz="1300" b="1" dirty="0">
                <a:solidFill>
                  <a:srgbClr val="0F766E"/>
                </a:solidFill>
                <a:latin typeface="Cambria" pitchFamily="34" charset="0"/>
                <a:ea typeface="Cambria" pitchFamily="34" charset="-122"/>
                <a:cs typeface="Cambria" pitchFamily="34" charset="-120"/>
              </a:rPr>
              <a:t>1 No dependents</a:t>
            </a:r>
            <a:endParaRPr lang="en-US" sz="1150" dirty="0"/>
          </a:p>
          <a:p>
            <a:pPr indent="0" marL="0">
              <a:spcAft>
                <a:spcPts val="200"/>
              </a:spcAft>
              <a:buNone/>
            </a:pPr>
            <a:r>
              <a:rPr lang="en-US" sz="1150" dirty="0">
                <a:solidFill>
                  <a:schemeClr val="tx2"/>
                </a:solidFill>
              </a:rPr>
              <a:t>CLM inventory + CA database</a:t>
            </a:r>
            <a:endParaRPr lang="en-US" sz="1150" dirty="0"/>
          </a:p>
        </p:txBody>
      </p:sp>
      <p:sp>
        <p:nvSpPr>
          <p:cNvPr id="10" name="Decom arrow 2" descr="">
            <a:extLst>
              <a:ext uri="{C183D7F6-B498-43B3-948B-1728B52AA6E4}">
                <adec:decorative xmlns:adec="http://schemas.microsoft.com/office/drawing/2017/decorative" val="1"/>
              </a:ext>
            </a:extLst>
          </p:cNvPr>
          <p:cNvSpPr/>
          <p:nvPr/>
        </p:nvSpPr>
        <p:spPr>
          <a:xfrm>
            <a:off x="4866437" y="2002536"/>
            <a:ext cx="201168" cy="201168"/>
          </a:xfrm>
          <a:prstGeom prst="rightArrow">
            <a:avLst/>
          </a:prstGeom>
          <a:solidFill>
            <a:srgbClr val="64748B"/>
          </a:solidFill>
          <a:ln w="12700">
            <a:solidFill>
              <a:srgbClr val="64748B"/>
            </a:solidFill>
            <a:prstDash val="solid"/>
          </a:ln>
        </p:spPr>
      </p:sp>
      <p:sp>
        <p:nvSpPr>
          <p:cNvPr id="11" name="Decom 3" descr="">
            <a:extLst>
              <a:ext uri="{C183D7F6-B498-43B3-948B-1728B52AA6E4}">
                <adec:decorative xmlns:adec="http://schemas.microsoft.com/office/drawing/2017/decorative" val="1"/>
              </a:ext>
            </a:extLst>
          </p:cNvPr>
          <p:cNvSpPr/>
          <p:nvPr/>
        </p:nvSpPr>
        <p:spPr>
          <a:xfrm>
            <a:off x="5095037" y="1371600"/>
            <a:ext cx="2017166" cy="1463040"/>
          </a:xfrm>
          <a:prstGeom prst="roundRect">
            <a:avLst>
              <a:gd name="adj" fmla="val 5000"/>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2" name="Decom 3 text"/>
          <p:cNvSpPr txBox="1"/>
          <p:nvPr/>
        </p:nvSpPr>
        <p:spPr>
          <a:xfrm>
            <a:off x="5186477" y="1444752"/>
            <a:ext cx="1834286" cy="1316736"/>
          </a:xfrm>
          <a:prstGeom prst="rect">
            <a:avLst/>
          </a:prstGeom>
          <a:noFill/>
          <a:ln/>
        </p:spPr>
        <p:txBody>
          <a:bodyPr wrap="square" lIns="0" tIns="0" rIns="0" bIns="0" rtlCol="0" anchor="t"/>
          <a:lstStyle/>
          <a:p>
            <a:pPr indent="0" marL="0">
              <a:spcAft>
                <a:spcPts val="200"/>
              </a:spcAft>
              <a:buNone/>
            </a:pPr>
            <a:r>
              <a:rPr lang="en-US" sz="1300" b="1" dirty="0">
                <a:solidFill>
                  <a:srgbClr val="1F2A44"/>
                </a:solidFill>
                <a:latin typeface="Cambria" pitchFamily="34" charset="0"/>
                <a:ea typeface="Cambria" pitchFamily="34" charset="-122"/>
                <a:cs typeface="Cambria" pitchFamily="34" charset="-120"/>
              </a:rPr>
              <a:t>2–5 Retire the CA</a:t>
            </a:r>
            <a:endParaRPr lang="en-US" sz="1150" dirty="0"/>
          </a:p>
          <a:p>
            <a:pPr indent="0" marL="0">
              <a:spcAft>
                <a:spcPts val="200"/>
              </a:spcAft>
              <a:buNone/>
            </a:pPr>
            <a:r>
              <a:rPr lang="en-US" sz="1150" dirty="0">
                <a:solidFill>
                  <a:schemeClr val="tx2"/>
                </a:solidFill>
              </a:rPr>
              <a:t>Stop issuance, archive, final CRL, uninstall</a:t>
            </a:r>
            <a:endParaRPr lang="en-US" sz="1150" dirty="0"/>
          </a:p>
        </p:txBody>
      </p:sp>
      <p:sp>
        <p:nvSpPr>
          <p:cNvPr id="13" name="Decom arrow 3" descr="">
            <a:extLst>
              <a:ext uri="{C183D7F6-B498-43B3-948B-1728B52AA6E4}">
                <adec:decorative xmlns:adec="http://schemas.microsoft.com/office/drawing/2017/decorative" val="1"/>
              </a:ext>
            </a:extLst>
          </p:cNvPr>
          <p:cNvSpPr/>
          <p:nvPr/>
        </p:nvSpPr>
        <p:spPr>
          <a:xfrm>
            <a:off x="7139635" y="2002536"/>
            <a:ext cx="201168" cy="201168"/>
          </a:xfrm>
          <a:prstGeom prst="rightArrow">
            <a:avLst/>
          </a:prstGeom>
          <a:solidFill>
            <a:srgbClr val="64748B"/>
          </a:solidFill>
          <a:ln w="12700">
            <a:solidFill>
              <a:srgbClr val="64748B"/>
            </a:solidFill>
            <a:prstDash val="solid"/>
          </a:ln>
        </p:spPr>
      </p:sp>
      <p:sp>
        <p:nvSpPr>
          <p:cNvPr id="14" name="Decom 4" descr="">
            <a:extLst>
              <a:ext uri="{C183D7F6-B498-43B3-948B-1728B52AA6E4}">
                <adec:decorative xmlns:adec="http://schemas.microsoft.com/office/drawing/2017/decorative" val="1"/>
              </a:ext>
            </a:extLst>
          </p:cNvPr>
          <p:cNvSpPr/>
          <p:nvPr/>
        </p:nvSpPr>
        <p:spPr>
          <a:xfrm>
            <a:off x="7368235" y="1371600"/>
            <a:ext cx="2017166" cy="1463040"/>
          </a:xfrm>
          <a:prstGeom prst="roundRect">
            <a:avLst>
              <a:gd name="adj" fmla="val 5000"/>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15" name="Decom 4 text"/>
          <p:cNvSpPr txBox="1"/>
          <p:nvPr/>
        </p:nvSpPr>
        <p:spPr>
          <a:xfrm>
            <a:off x="7459675" y="1444752"/>
            <a:ext cx="1834286" cy="1316736"/>
          </a:xfrm>
          <a:prstGeom prst="rect">
            <a:avLst/>
          </a:prstGeom>
          <a:noFill/>
          <a:ln/>
        </p:spPr>
        <p:txBody>
          <a:bodyPr wrap="square" lIns="0" tIns="0" rIns="0" bIns="0" rtlCol="0" anchor="t"/>
          <a:lstStyle/>
          <a:p>
            <a:pPr indent="0" marL="0">
              <a:spcAft>
                <a:spcPts val="200"/>
              </a:spcAft>
              <a:buNone/>
            </a:pPr>
            <a:r>
              <a:rPr lang="en-US" sz="1300" b="1" dirty="0">
                <a:solidFill>
                  <a:srgbClr val="0F766E"/>
                </a:solidFill>
                <a:latin typeface="Cambria" pitchFamily="34" charset="0"/>
                <a:ea typeface="Cambria" pitchFamily="34" charset="-122"/>
                <a:cs typeface="Cambria" pitchFamily="34" charset="-120"/>
              </a:rPr>
              <a:t>6 Clean up trust</a:t>
            </a:r>
            <a:endParaRPr lang="en-US" sz="1150" dirty="0"/>
          </a:p>
          <a:p>
            <a:pPr indent="0" marL="0">
              <a:spcAft>
                <a:spcPts val="200"/>
              </a:spcAft>
              <a:buNone/>
            </a:pPr>
            <a:r>
              <a:rPr lang="en-US" sz="1150" dirty="0">
                <a:solidFill>
                  <a:schemeClr val="tx2"/>
                </a:solidFill>
              </a:rPr>
              <a:t>Entra, Intune, NTAuth and the CLM CA object</a:t>
            </a:r>
            <a:endParaRPr lang="en-US" sz="1150" dirty="0"/>
          </a:p>
        </p:txBody>
      </p:sp>
      <p:sp>
        <p:nvSpPr>
          <p:cNvPr id="16" name="Decom arrow 4" descr="">
            <a:extLst>
              <a:ext uri="{C183D7F6-B498-43B3-948B-1728B52AA6E4}">
                <adec:decorative xmlns:adec="http://schemas.microsoft.com/office/drawing/2017/decorative" val="1"/>
              </a:ext>
            </a:extLst>
          </p:cNvPr>
          <p:cNvSpPr/>
          <p:nvPr/>
        </p:nvSpPr>
        <p:spPr>
          <a:xfrm>
            <a:off x="9412834" y="2002536"/>
            <a:ext cx="201168" cy="201168"/>
          </a:xfrm>
          <a:prstGeom prst="rightArrow">
            <a:avLst/>
          </a:prstGeom>
          <a:solidFill>
            <a:srgbClr val="64748B"/>
          </a:solidFill>
          <a:ln w="12700">
            <a:solidFill>
              <a:srgbClr val="64748B"/>
            </a:solidFill>
            <a:prstDash val="solid"/>
          </a:ln>
        </p:spPr>
      </p:sp>
      <p:sp>
        <p:nvSpPr>
          <p:cNvPr id="17" name="Decom 5" descr="">
            <a:extLst>
              <a:ext uri="{C183D7F6-B498-43B3-948B-1728B52AA6E4}">
                <adec:decorative xmlns:adec="http://schemas.microsoft.com/office/drawing/2017/decorative" val="1"/>
              </a:ext>
            </a:extLst>
          </p:cNvPr>
          <p:cNvSpPr/>
          <p:nvPr/>
        </p:nvSpPr>
        <p:spPr>
          <a:xfrm>
            <a:off x="9641434" y="1371600"/>
            <a:ext cx="2017166" cy="1463040"/>
          </a:xfrm>
          <a:prstGeom prst="roundRect">
            <a:avLst>
              <a:gd name="adj" fmla="val 5000"/>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8" name="Decom 5 text"/>
          <p:cNvSpPr txBox="1"/>
          <p:nvPr/>
        </p:nvSpPr>
        <p:spPr>
          <a:xfrm>
            <a:off x="9732874" y="1444752"/>
            <a:ext cx="1834286" cy="1316736"/>
          </a:xfrm>
          <a:prstGeom prst="rect">
            <a:avLst/>
          </a:prstGeom>
          <a:noFill/>
          <a:ln/>
        </p:spPr>
        <p:txBody>
          <a:bodyPr wrap="square" lIns="0" tIns="0" rIns="0" bIns="0" rtlCol="0" anchor="t"/>
          <a:lstStyle/>
          <a:p>
            <a:pPr indent="0" marL="0">
              <a:spcAft>
                <a:spcPts val="200"/>
              </a:spcAft>
              <a:buNone/>
            </a:pPr>
            <a:r>
              <a:rPr lang="en-US" sz="1300" b="1" dirty="0">
                <a:solidFill>
                  <a:srgbClr val="1F2A44"/>
                </a:solidFill>
                <a:latin typeface="Cambria" pitchFamily="34" charset="0"/>
                <a:ea typeface="Cambria" pitchFamily="34" charset="-122"/>
                <a:cs typeface="Cambria" pitchFamily="34" charset="-120"/>
              </a:rPr>
              <a:t>7–9 Endpoints, record</a:t>
            </a:r>
            <a:endParaRPr lang="en-US" sz="1150" dirty="0"/>
          </a:p>
          <a:p>
            <a:pPr indent="0" marL="0">
              <a:spcAft>
                <a:spcPts val="200"/>
              </a:spcAft>
              <a:buNone/>
            </a:pPr>
            <a:r>
              <a:rPr lang="en-US" sz="1150" dirty="0">
                <a:solidFill>
                  <a:schemeClr val="tx2"/>
                </a:solidFill>
              </a:rPr>
              <a:t>CDP/AIA until last expiry; decommission record</a:t>
            </a:r>
            <a:endParaRPr lang="en-US" sz="1150" dirty="0"/>
          </a:p>
        </p:txBody>
      </p:sp>
      <p:sp>
        <p:nvSpPr>
          <p:cNvPr id="19" name="Platform" descr="">
            <a:extLst>
              <a:ext uri="{C183D7F6-B498-43B3-948B-1728B52AA6E4}">
                <adec:decorative xmlns:adec="http://schemas.microsoft.com/office/drawing/2017/decorative" val="1"/>
              </a:ext>
            </a:extLst>
          </p:cNvPr>
          <p:cNvSpPr/>
          <p:nvPr/>
        </p:nvSpPr>
        <p:spPr>
          <a:xfrm>
            <a:off x="548640" y="3017520"/>
            <a:ext cx="5486400" cy="2880360"/>
          </a:xfrm>
          <a:prstGeom prst="roundRect">
            <a:avLst>
              <a:gd name="adj" fmla="val 2540"/>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20" name="Platform head"/>
          <p:cNvSpPr txBox="1"/>
          <p:nvPr/>
        </p:nvSpPr>
        <p:spPr>
          <a:xfrm>
            <a:off x="731520" y="3127248"/>
            <a:ext cx="5120640" cy="640080"/>
          </a:xfrm>
          <a:prstGeom prst="rect">
            <a:avLst/>
          </a:prstGeom>
          <a:noFill/>
          <a:ln/>
        </p:spPr>
        <p:txBody>
          <a:bodyPr wrap="square" lIns="0" tIns="0" rIns="0" bIns="0" rtlCol="0" anchor="t"/>
          <a:lstStyle/>
          <a:p>
            <a:pPr indent="0" marL="0">
              <a:buNone/>
            </a:pPr>
            <a:r>
              <a:rPr lang="en-US" sz="1100" b="1" dirty="0">
                <a:solidFill>
                  <a:srgbClr val="64748B"/>
                </a:solidFill>
              </a:rPr>
              <a:t>THE PLATFORM'S PART</a:t>
            </a:r>
            <a:endParaRPr lang="en-US" sz="1400" dirty="0"/>
          </a:p>
        </p:txBody>
      </p:sp>
      <p:sp>
        <p:nvSpPr>
          <p:cNvPr id="21" name="Platform list"/>
          <p:cNvSpPr txBox="1"/>
          <p:nvPr/>
        </p:nvSpPr>
        <p:spPr>
          <a:xfrm>
            <a:off x="731520" y="3456432"/>
            <a:ext cx="5166360" cy="2368296"/>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2"/>
                </a:solidFill>
              </a:rPr>
              <a:t>Step 1: prove no unexpired certificate in a migrated class is still in use</a:t>
            </a:r>
            <a:endParaRPr lang="en-US" sz="1400" dirty="0"/>
          </a:p>
          <a:p>
            <a:pPr marL="342900" indent="-342900">
              <a:spcAft>
                <a:spcPts val="300"/>
              </a:spcAft>
              <a:buSzPct val="100000"/>
              <a:buChar char="•"/>
            </a:pPr>
            <a:r>
              <a:rPr lang="en-US" sz="1200" dirty="0">
                <a:solidFill>
                  <a:schemeClr val="tx2"/>
                </a:solidFill>
              </a:rPr>
              <a:t>Repoint CyberArk CA templates to a retained CA, or to the standalone CA after AD</a:t>
            </a:r>
            <a:endParaRPr lang="en-US" sz="1400" dirty="0"/>
          </a:p>
          <a:p>
            <a:pPr marL="342900" indent="-342900">
              <a:spcAft>
                <a:spcPts val="300"/>
              </a:spcAft>
              <a:buSzPct val="100000"/>
              <a:buChar char="•"/>
            </a:pPr>
            <a:r>
              <a:rPr lang="en-US" sz="1200" dirty="0">
                <a:solidFill>
                  <a:schemeClr val="tx2"/>
                </a:solidFill>
              </a:rPr>
              <a:t>Step 6: retire the CA object in the platform; the record says so</a:t>
            </a:r>
            <a:endParaRPr lang="en-US" sz="1400" dirty="0"/>
          </a:p>
        </p:txBody>
      </p:sp>
      <p:sp>
        <p:nvSpPr>
          <p:cNvPr id="22" name="After" descr="">
            <a:extLst>
              <a:ext uri="{C183D7F6-B498-43B3-948B-1728B52AA6E4}">
                <adec:decorative xmlns:adec="http://schemas.microsoft.com/office/drawing/2017/decorative" val="1"/>
              </a:ext>
            </a:extLst>
          </p:cNvPr>
          <p:cNvSpPr/>
          <p:nvPr/>
        </p:nvSpPr>
        <p:spPr>
          <a:xfrm>
            <a:off x="6172200" y="3017520"/>
            <a:ext cx="5486400" cy="2880360"/>
          </a:xfrm>
          <a:prstGeom prst="roundRect">
            <a:avLst>
              <a:gd name="adj" fmla="val 2540"/>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23" name="After head"/>
          <p:cNvSpPr txBox="1"/>
          <p:nvPr/>
        </p:nvSpPr>
        <p:spPr>
          <a:xfrm>
            <a:off x="6355080" y="3127248"/>
            <a:ext cx="5120640" cy="640080"/>
          </a:xfrm>
          <a:prstGeom prst="rect">
            <a:avLst/>
          </a:prstGeom>
          <a:noFill/>
          <a:ln/>
        </p:spPr>
        <p:txBody>
          <a:bodyPr wrap="square" lIns="0" tIns="0" rIns="0" bIns="0" rtlCol="0" anchor="t"/>
          <a:lstStyle/>
          <a:p>
            <a:pPr indent="0" marL="0">
              <a:buNone/>
            </a:pPr>
            <a:r>
              <a:rPr lang="en-US" sz="1100" b="1" dirty="0">
                <a:solidFill>
                  <a:srgbClr val="64748B"/>
                </a:solidFill>
              </a:rPr>
              <a:t>AFTER ACTIVE DIRECTORY</a:t>
            </a:r>
            <a:endParaRPr lang="en-US" sz="1400" dirty="0"/>
          </a:p>
        </p:txBody>
      </p:sp>
      <p:sp>
        <p:nvSpPr>
          <p:cNvPr id="24" name="After list"/>
          <p:cNvSpPr txBox="1"/>
          <p:nvPr/>
        </p:nvSpPr>
        <p:spPr>
          <a:xfrm>
            <a:off x="6355080" y="3456432"/>
            <a:ext cx="5166360" cy="2368296"/>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2"/>
                </a:solidFill>
              </a:rPr>
              <a:t>Server issuance moves to a standalone AD CS CA under the same root</a:t>
            </a:r>
            <a:endParaRPr lang="en-US" sz="1400" dirty="0"/>
          </a:p>
          <a:p>
            <a:pPr marL="342900" indent="-342900">
              <a:spcAft>
                <a:spcPts val="300"/>
              </a:spcAft>
              <a:buSzPct val="100000"/>
              <a:buChar char="•"/>
            </a:pPr>
            <a:r>
              <a:rPr lang="en-US" sz="1200" dirty="0">
                <a:solidFill>
                  <a:schemeClr val="tx2"/>
                </a:solidFill>
              </a:rPr>
              <a:t>Template policy then lives in the platform's policy, not in AD</a:t>
            </a:r>
            <a:endParaRPr lang="en-US" sz="1400" dirty="0"/>
          </a:p>
          <a:p>
            <a:pPr marL="342900" indent="-342900">
              <a:spcAft>
                <a:spcPts val="300"/>
              </a:spcAft>
              <a:buSzPct val="100000"/>
              <a:buChar char="•"/>
            </a:pPr>
            <a:r>
              <a:rPr lang="en-US" sz="1200" dirty="0">
                <a:solidFill>
                  <a:schemeClr val="tx2"/>
                </a:solidFill>
              </a:rPr>
              <a:t>No new root to distribute; same trust chain</a:t>
            </a:r>
            <a:endParaRPr lang="en-US" sz="1400" dirty="0"/>
          </a:p>
        </p:txBody>
      </p:sp>
      <p:sp>
        <p:nvSpPr>
          <p:cNvPr id="25"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Book 07, Ch 08 (decommissioning steps 1–9), Ch 07 (Wave 6), Ch 04 (after Active Directory); CyberArk 26.1 MS ADCS (enterprise and standalone).</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Decisions, vendor asks and next steps</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Decide" descr="">
            <a:extLst>
              <a:ext uri="{C183D7F6-B498-43B3-948B-1728B52AA6E4}">
                <adec:decorative xmlns:adec="http://schemas.microsoft.com/office/drawing/2017/decorative" val="1"/>
              </a:ext>
            </a:extLst>
          </p:cNvPr>
          <p:cNvSpPr/>
          <p:nvPr/>
        </p:nvSpPr>
        <p:spPr>
          <a:xfrm>
            <a:off x="548640" y="1371600"/>
            <a:ext cx="3657600" cy="4526280"/>
          </a:xfrm>
          <a:prstGeom prst="roundRect">
            <a:avLst>
              <a:gd name="adj" fmla="val 2000"/>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6" name="Decide head"/>
          <p:cNvSpPr txBox="1"/>
          <p:nvPr/>
        </p:nvSpPr>
        <p:spPr>
          <a:xfrm>
            <a:off x="731520" y="1481328"/>
            <a:ext cx="3291840" cy="640080"/>
          </a:xfrm>
          <a:prstGeom prst="rect">
            <a:avLst/>
          </a:prstGeom>
          <a:noFill/>
          <a:ln/>
        </p:spPr>
        <p:txBody>
          <a:bodyPr wrap="square" lIns="0" tIns="0" rIns="0" bIns="0" rtlCol="0" anchor="t"/>
          <a:lstStyle/>
          <a:p>
            <a:pPr indent="0" marL="0">
              <a:buNone/>
            </a:pPr>
            <a:r>
              <a:rPr lang="en-US" sz="1100" b="1" dirty="0">
                <a:solidFill>
                  <a:srgbClr val="64748B"/>
                </a:solidFill>
              </a:rPr>
              <a:t>DECISIONS TO TAKE</a:t>
            </a:r>
            <a:endParaRPr lang="en-US" sz="1400" dirty="0"/>
          </a:p>
        </p:txBody>
      </p:sp>
      <p:sp>
        <p:nvSpPr>
          <p:cNvPr id="7" name="Decide list"/>
          <p:cNvSpPr txBox="1"/>
          <p:nvPr/>
        </p:nvSpPr>
        <p:spPr>
          <a:xfrm>
            <a:off x="731520" y="1810512"/>
            <a:ext cx="3337560" cy="4014216"/>
          </a:xfrm>
          <a:prstGeom prst="rect">
            <a:avLst/>
          </a:prstGeom>
          <a:noFill/>
          <a:ln/>
        </p:spPr>
        <p:txBody>
          <a:bodyPr wrap="square" lIns="0" tIns="0" rIns="0" bIns="0" rtlCol="0" anchor="t"/>
          <a:lstStyle/>
          <a:p>
            <a:pPr marL="342900" indent="-342900">
              <a:spcAft>
                <a:spcPts val="300"/>
              </a:spcAft>
              <a:buSzPct val="100000"/>
              <a:buChar char="•"/>
            </a:pPr>
            <a:r>
              <a:rPr lang="en-US" sz="1150" dirty="0">
                <a:solidFill>
                  <a:schemeClr val="tx2"/>
                </a:solidFill>
              </a:rPr>
              <a:t>FIPS mode per server; which servers run ACME</a:t>
            </a:r>
            <a:endParaRPr lang="en-US" sz="1400" dirty="0"/>
          </a:p>
          <a:p>
            <a:pPr marL="342900" indent="-342900">
              <a:spcAft>
                <a:spcPts val="300"/>
              </a:spcAft>
              <a:buSzPct val="100000"/>
              <a:buChar char="•"/>
            </a:pPr>
            <a:r>
              <a:rPr lang="en-US" sz="1150" dirty="0">
                <a:solidFill>
                  <a:schemeClr val="tx2"/>
                </a:solidFill>
              </a:rPr>
              <a:t>HSM or software key; SQL Enterprise or Standard</a:t>
            </a:r>
            <a:endParaRPr lang="en-US" sz="1400" dirty="0"/>
          </a:p>
          <a:p>
            <a:pPr marL="342900" indent="-342900">
              <a:spcAft>
                <a:spcPts val="300"/>
              </a:spcAft>
              <a:buSzPct val="100000"/>
              <a:buChar char="•"/>
            </a:pPr>
            <a:r>
              <a:rPr lang="en-US" sz="1150" dirty="0">
                <a:solidFill>
                  <a:schemeClr val="tx2"/>
                </a:solidFill>
              </a:rPr>
              <a:t>Console sign-in: Entra SSO with CBA</a:t>
            </a:r>
            <a:endParaRPr lang="en-US" sz="1400" dirty="0"/>
          </a:p>
          <a:p>
            <a:pPr marL="342900" indent="-342900">
              <a:spcAft>
                <a:spcPts val="300"/>
              </a:spcAft>
              <a:buSzPct val="100000"/>
              <a:buChar char="•"/>
            </a:pPr>
            <a:r>
              <a:rPr lang="en-US" sz="1150" dirty="0">
                <a:solidFill>
                  <a:schemeClr val="tx2"/>
                </a:solidFill>
              </a:rPr>
              <a:t>Public CA path, if Entrust today</a:t>
            </a:r>
            <a:endParaRPr lang="en-US" sz="1400" dirty="0"/>
          </a:p>
          <a:p>
            <a:pPr marL="342900" indent="-342900">
              <a:spcAft>
                <a:spcPts val="300"/>
              </a:spcAft>
              <a:buSzPct val="100000"/>
              <a:buChar char="•"/>
            </a:pPr>
            <a:r>
              <a:rPr lang="en-US" sz="1150" dirty="0">
                <a:solidFill>
                  <a:schemeClr val="tx2"/>
                </a:solidFill>
              </a:rPr>
              <a:t>Build the Graph-beta Cloud PKI feed, or not</a:t>
            </a:r>
            <a:endParaRPr lang="en-US" sz="1400" dirty="0"/>
          </a:p>
          <a:p>
            <a:pPr marL="342900" indent="-342900">
              <a:spcAft>
                <a:spcPts val="300"/>
              </a:spcAft>
              <a:buSzPct val="100000"/>
              <a:buChar char="•"/>
            </a:pPr>
            <a:r>
              <a:rPr lang="en-US" sz="1150" dirty="0">
                <a:solidFill>
                  <a:schemeClr val="tx2"/>
                </a:solidFill>
              </a:rPr>
              <a:t>Adopt the third-party ServiceNow app, or not</a:t>
            </a:r>
            <a:endParaRPr lang="en-US" sz="1400" dirty="0"/>
          </a:p>
        </p:txBody>
      </p:sp>
      <p:sp>
        <p:nvSpPr>
          <p:cNvPr id="8" name="Ask" descr="">
            <a:extLst>
              <a:ext uri="{C183D7F6-B498-43B3-948B-1728B52AA6E4}">
                <adec:decorative xmlns:adec="http://schemas.microsoft.com/office/drawing/2017/decorative" val="1"/>
              </a:ext>
            </a:extLst>
          </p:cNvPr>
          <p:cNvSpPr/>
          <p:nvPr/>
        </p:nvSpPr>
        <p:spPr>
          <a:xfrm>
            <a:off x="4343400" y="1371600"/>
            <a:ext cx="3657600" cy="4526280"/>
          </a:xfrm>
          <a:prstGeom prst="roundRect">
            <a:avLst>
              <a:gd name="adj" fmla="val 2000"/>
            </a:avLst>
          </a:prstGeom>
          <a:solidFill>
            <a:srgbClr val="FBEEDC"/>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9" name="Ask head"/>
          <p:cNvSpPr txBox="1"/>
          <p:nvPr/>
        </p:nvSpPr>
        <p:spPr>
          <a:xfrm>
            <a:off x="4526280" y="1481328"/>
            <a:ext cx="3291840" cy="640080"/>
          </a:xfrm>
          <a:prstGeom prst="rect">
            <a:avLst/>
          </a:prstGeom>
          <a:noFill/>
          <a:ln/>
        </p:spPr>
        <p:txBody>
          <a:bodyPr wrap="square" lIns="0" tIns="0" rIns="0" bIns="0" rtlCol="0" anchor="t"/>
          <a:lstStyle/>
          <a:p>
            <a:pPr indent="0" marL="0">
              <a:buNone/>
            </a:pPr>
            <a:r>
              <a:rPr lang="en-US" sz="1100" b="1" dirty="0">
                <a:solidFill>
                  <a:srgbClr val="64748B"/>
                </a:solidFill>
              </a:rPr>
              <a:t>ASK CYBERARK IN WRITING</a:t>
            </a:r>
            <a:endParaRPr lang="en-US" sz="1400" dirty="0"/>
          </a:p>
        </p:txBody>
      </p:sp>
      <p:sp>
        <p:nvSpPr>
          <p:cNvPr id="10" name="Ask list"/>
          <p:cNvSpPr txBox="1"/>
          <p:nvPr/>
        </p:nvSpPr>
        <p:spPr>
          <a:xfrm>
            <a:off x="4526280" y="1810512"/>
            <a:ext cx="3337560" cy="4014216"/>
          </a:xfrm>
          <a:prstGeom prst="rect">
            <a:avLst/>
          </a:prstGeom>
          <a:noFill/>
          <a:ln/>
        </p:spPr>
        <p:txBody>
          <a:bodyPr wrap="square" lIns="0" tIns="0" rIns="0" bIns="0" rtlCol="0" anchor="t"/>
          <a:lstStyle/>
          <a:p>
            <a:pPr marL="342900" indent="-342900">
              <a:spcAft>
                <a:spcPts val="300"/>
              </a:spcAft>
              <a:buSzPct val="100000"/>
              <a:buChar char="•"/>
            </a:pPr>
            <a:r>
              <a:rPr lang="en-US" sz="1150" dirty="0">
                <a:solidFill>
                  <a:schemeClr val="tx2"/>
                </a:solidFill>
              </a:rPr>
              <a:t>ACME and FIPS: which statement governs</a:t>
            </a:r>
            <a:endParaRPr lang="en-US" sz="1400" dirty="0"/>
          </a:p>
          <a:p>
            <a:pPr marL="342900" indent="-342900">
              <a:spcAft>
                <a:spcPts val="300"/>
              </a:spcAft>
              <a:buSzPct val="100000"/>
              <a:buChar char="•"/>
            </a:pPr>
            <a:r>
              <a:rPr lang="en-US" sz="1150" dirty="0">
                <a:solidFill>
                  <a:schemeClr val="tx2"/>
                </a:solidFill>
              </a:rPr>
              <a:t>AD CS on Windows Server 2025: supported</a:t>
            </a:r>
            <a:endParaRPr lang="en-US" sz="1400" dirty="0"/>
          </a:p>
          <a:p>
            <a:pPr marL="342900" indent="-342900">
              <a:spcAft>
                <a:spcPts val="300"/>
              </a:spcAft>
              <a:buSzPct val="100000"/>
              <a:buChar char="•"/>
            </a:pPr>
            <a:r>
              <a:rPr lang="en-US" sz="1150" dirty="0">
                <a:solidFill>
                  <a:schemeClr val="tx2"/>
                </a:solidFill>
              </a:rPr>
              <a:t>Which crypto module the product uses; any CMVP coverage</a:t>
            </a:r>
            <a:endParaRPr lang="en-US" sz="1400" dirty="0"/>
          </a:p>
          <a:p>
            <a:pPr marL="342900" indent="-342900">
              <a:spcAft>
                <a:spcPts val="300"/>
              </a:spcAft>
              <a:buSzPct val="100000"/>
              <a:buChar char="•"/>
            </a:pPr>
            <a:r>
              <a:rPr lang="en-US" sz="1150" dirty="0">
                <a:solidFill>
                  <a:schemeClr val="tx2"/>
                </a:solidFill>
              </a:rPr>
              <a:t>Key Vault driver on Azure Government</a:t>
            </a:r>
            <a:endParaRPr lang="en-US" sz="1400" dirty="0"/>
          </a:p>
          <a:p>
            <a:pPr marL="342900" indent="-342900">
              <a:spcAft>
                <a:spcPts val="300"/>
              </a:spcAft>
              <a:buSzPct val="100000"/>
              <a:buChar char="•"/>
            </a:pPr>
            <a:r>
              <a:rPr lang="en-US" sz="1150" dirty="0">
                <a:solidFill>
                  <a:schemeClr val="tx2"/>
                </a:solidFill>
              </a:rPr>
              <a:t>PIV/CAC console login</a:t>
            </a:r>
            <a:endParaRPr lang="en-US" sz="1400" dirty="0"/>
          </a:p>
        </p:txBody>
      </p:sp>
      <p:sp>
        <p:nvSpPr>
          <p:cNvPr id="11" name="Next" descr="">
            <a:extLst>
              <a:ext uri="{C183D7F6-B498-43B3-948B-1728B52AA6E4}">
                <adec:decorative xmlns:adec="http://schemas.microsoft.com/office/drawing/2017/decorative" val="1"/>
              </a:ext>
            </a:extLst>
          </p:cNvPr>
          <p:cNvSpPr/>
          <p:nvPr/>
        </p:nvSpPr>
        <p:spPr>
          <a:xfrm>
            <a:off x="8138160" y="1371600"/>
            <a:ext cx="3520440" cy="4526280"/>
          </a:xfrm>
          <a:prstGeom prst="roundRect">
            <a:avLst>
              <a:gd name="adj" fmla="val 2078"/>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12" name="Next head"/>
          <p:cNvSpPr txBox="1"/>
          <p:nvPr/>
        </p:nvSpPr>
        <p:spPr>
          <a:xfrm>
            <a:off x="8321040" y="1481328"/>
            <a:ext cx="3154680" cy="640080"/>
          </a:xfrm>
          <a:prstGeom prst="rect">
            <a:avLst/>
          </a:prstGeom>
          <a:noFill/>
          <a:ln/>
        </p:spPr>
        <p:txBody>
          <a:bodyPr wrap="square" lIns="0" tIns="0" rIns="0" bIns="0" rtlCol="0" anchor="t"/>
          <a:lstStyle/>
          <a:p>
            <a:pPr indent="0" marL="0">
              <a:buNone/>
            </a:pPr>
            <a:r>
              <a:rPr lang="en-US" sz="1100" b="1" dirty="0">
                <a:solidFill>
                  <a:srgbClr val="64748B"/>
                </a:solidFill>
              </a:rPr>
              <a:t>NEXT STEPS</a:t>
            </a:r>
            <a:endParaRPr lang="en-US" sz="1400" dirty="0"/>
          </a:p>
        </p:txBody>
      </p:sp>
      <p:sp>
        <p:nvSpPr>
          <p:cNvPr id="13" name="Next list"/>
          <p:cNvSpPr txBox="1"/>
          <p:nvPr/>
        </p:nvSpPr>
        <p:spPr>
          <a:xfrm>
            <a:off x="8321040" y="1810512"/>
            <a:ext cx="3200400" cy="4014216"/>
          </a:xfrm>
          <a:prstGeom prst="rect">
            <a:avLst/>
          </a:prstGeom>
          <a:noFill/>
          <a:ln/>
        </p:spPr>
        <p:txBody>
          <a:bodyPr wrap="square" lIns="0" tIns="0" rIns="0" bIns="0" rtlCol="0" anchor="t"/>
          <a:lstStyle/>
          <a:p>
            <a:pPr marL="342900" indent="-342900">
              <a:spcAft>
                <a:spcPts val="300"/>
              </a:spcAft>
              <a:buSzPct val="100000"/>
              <a:buChar char="•"/>
            </a:pPr>
            <a:r>
              <a:rPr lang="en-US" sz="1150" dirty="0">
                <a:solidFill>
                  <a:schemeClr val="tx2"/>
                </a:solidFill>
              </a:rPr>
              <a:t>Stand up the Wave 1 test cluster</a:t>
            </a:r>
            <a:endParaRPr lang="en-US" sz="1400" dirty="0"/>
          </a:p>
          <a:p>
            <a:pPr marL="342900" indent="-342900">
              <a:spcAft>
                <a:spcPts val="300"/>
              </a:spcAft>
              <a:buSzPct val="100000"/>
              <a:buChar char="•"/>
            </a:pPr>
            <a:r>
              <a:rPr lang="en-US" sz="1150" dirty="0">
                <a:solidFill>
                  <a:schemeClr val="tx2"/>
                </a:solidFill>
              </a:rPr>
              <a:t>Create the CA account under ESC7 controls</a:t>
            </a:r>
            <a:endParaRPr lang="en-US" sz="1400" dirty="0"/>
          </a:p>
          <a:p>
            <a:pPr marL="342900" indent="-342900">
              <a:spcAft>
                <a:spcPts val="300"/>
              </a:spcAft>
              <a:buSzPct val="100000"/>
              <a:buChar char="•"/>
            </a:pPr>
            <a:r>
              <a:rPr lang="en-US" sz="1150" dirty="0">
                <a:solidFill>
                  <a:schemeClr val="tx2"/>
                </a:solidFill>
              </a:rPr>
              <a:t>Lab-test allowed and denied requests</a:t>
            </a:r>
            <a:endParaRPr lang="en-US" sz="1400" dirty="0"/>
          </a:p>
          <a:p>
            <a:pPr marL="342900" indent="-342900">
              <a:spcAft>
                <a:spcPts val="300"/>
              </a:spcAft>
              <a:buSzPct val="100000"/>
              <a:buChar char="•"/>
            </a:pPr>
            <a:r>
              <a:rPr lang="en-US" sz="1150" dirty="0">
                <a:solidFill>
                  <a:schemeClr val="tx2"/>
                </a:solidFill>
              </a:rPr>
              <a:t>Book 07 updates: Ch 03/05 (ESC7), Ch 04 (Cloud PKI), Ch 08 (ACME)</a:t>
            </a:r>
            <a:endParaRPr lang="en-US" sz="1400" dirty="0"/>
          </a:p>
        </p:txBody>
      </p:sp>
      <p:sp>
        <p:nvSpPr>
          <p:cNvPr id="14"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research brief §0, §12 and §13; Book 07, Ch 04, Ch 05, Ch 07, Ch 08; CyberArk 26.1 documentation cited in Parts 1–3.</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Backup</a:t>
            </a:r>
            <a:endParaRPr lang="en-US" sz="3000" dirty="0"/>
          </a:p>
        </p:txBody>
      </p:sp>
      <p:sp>
        <p:nvSpPr>
          <p:cNvPr id="3" name="Backup note"/>
          <p:cNvSpPr txBox="1"/>
          <p:nvPr/>
        </p:nvSpPr>
        <p:spPr>
          <a:xfrm>
            <a:off x="548640" y="2926080"/>
            <a:ext cx="11064240" cy="548640"/>
          </a:xfrm>
          <a:prstGeom prst="rect">
            <a:avLst/>
          </a:prstGeom>
          <a:noFill/>
          <a:ln/>
        </p:spPr>
        <p:txBody>
          <a:bodyPr wrap="square" lIns="0" tIns="0" rIns="0" bIns="0" rtlCol="0" anchor="t"/>
          <a:lstStyle/>
          <a:p>
            <a:pPr algn="ctr" indent="0" marL="0">
              <a:buNone/>
            </a:pPr>
            <a:r>
              <a:rPr lang="en-US" sz="1800" dirty="0">
                <a:solidFill>
                  <a:srgbClr val="64748B"/>
                </a:solidFill>
              </a:rPr>
              <a:t>The slides after this one are reference material and are not narrated.</a:t>
            </a:r>
            <a:endParaRPr lang="en-US" sz="1800" dirty="0"/>
          </a:p>
        </p:txBody>
      </p:sp>
      <p:sp>
        <p:nvSpPr>
          <p:cNvPr id="4"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full lists on the following slides. All sources opened Oct. 22, 2026.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Assessor evidence checklist</a:t>
            </a:r>
            <a:endParaRPr lang="en-US" sz="3000" dirty="0"/>
          </a:p>
        </p:txBody>
      </p:sp>
      <p:graphicFrame>
        <p:nvGraphicFramePr>
          <p:cNvPr id="37" name="Evidence"/>
          <p:cNvGraphicFramePr>
            <a:graphicFrameLocks noGrp="1"/>
          </p:cNvGraphicFramePr>
          <p:nvPr>
            <p:extLst>
              <p:ext uri="{D42A27DB-BD31-4B8C-83A1-F6EECF244321}">
                <p14:modId xmlns:p14="http://schemas.microsoft.com/office/powerpoint/2010/main" val="1579011935"/>
              </p:ext>
            </p:extLst>
          </p:nvPr>
        </p:nvGraphicFramePr>
        <p:xfrm>
          <a:off x="548640" y="1325880"/>
          <a:ext cx="9144000" cy="914400"/>
        </p:xfrm>
        <a:graphic>
          <a:graphicData uri="http://schemas.openxmlformats.org/drawingml/2006/table">
            <a:tbl>
              <a:tblPr firstRow="1" bandRow="1"/>
              <a:tblGrid>
                <a:gridCol w="3017520"/>
                <a:gridCol w="6172200"/>
                <a:gridCol w="1920240"/>
              </a:tblGrid>
              <a:tr h="292608">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Evidence</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What the assessor reads</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Controls</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292608">
                <a:tc>
                  <a:txBody>
                    <a:bodyPr/>
                    <a:lstStyle/>
                    <a:p>
                      <a:pPr indent="0" marL="0">
                        <a:buNone/>
                      </a:pPr>
                      <a:r>
                        <a:rPr lang="en-US" sz="1050" b="1" dirty="0">
                          <a:solidFill>
                            <a:srgbClr val="1F2A44"/>
                          </a:solidFill>
                          <a:latin typeface="Calibri" pitchFamily="34" charset="0"/>
                          <a:ea typeface="Calibri" pitchFamily="34" charset="-122"/>
                          <a:cs typeface="Calibri" pitchFamily="34" charset="-120"/>
                        </a:rPr>
                        <a:t>Product and version</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Configuration Console About or upgrade status showing 26.1.x; vendor lifecycle date</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CM-8</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29768">
                <a:tc>
                  <a:txBody>
                    <a:bodyPr/>
                    <a:lstStyle/>
                    <a:p>
                      <a:pPr indent="0" marL="0">
                        <a:buNone/>
                      </a:pPr>
                      <a:r>
                        <a:rPr lang="en-US" sz="1050" b="1" dirty="0">
                          <a:solidFill>
                            <a:srgbClr val="1F2A44"/>
                          </a:solidFill>
                          <a:latin typeface="Calibri" pitchFamily="34" charset="0"/>
                          <a:ea typeface="Calibri" pitchFamily="34" charset="-122"/>
                          <a:cs typeface="Calibri" pitchFamily="34" charset="-120"/>
                        </a:rPr>
                        <a:t>Cryptography</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FIPS policy state per server, and which run ACME; HSM model and its CMVP cert; statement that no product CMVP cert exists</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SC-13</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29768">
                <a:tc>
                  <a:txBody>
                    <a:bodyPr/>
                    <a:lstStyle/>
                    <a:p>
                      <a:pPr indent="0" marL="0">
                        <a:buNone/>
                      </a:pPr>
                      <a:r>
                        <a:rPr lang="en-US" sz="1050" b="1" dirty="0">
                          <a:solidFill>
                            <a:srgbClr val="1F2A44"/>
                          </a:solidFill>
                          <a:latin typeface="Calibri" pitchFamily="34" charset="0"/>
                          <a:ea typeface="Calibri" pitchFamily="34" charset="-122"/>
                          <a:cs typeface="Calibri" pitchFamily="34" charset="-120"/>
                        </a:rPr>
                        <a:t>Database and keys</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Always On config, FULL recovery, backup schedule and last restore test; software key export custody</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SC-12, CP-9, CP-10</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29768">
                <a:tc>
                  <a:txBody>
                    <a:bodyPr/>
                    <a:lstStyle/>
                    <a:p>
                      <a:pPr indent="0" marL="0">
                        <a:buNone/>
                      </a:pPr>
                      <a:r>
                        <a:rPr lang="en-US" sz="1050" b="1" dirty="0">
                          <a:solidFill>
                            <a:srgbClr val="1F2A44"/>
                          </a:solidFill>
                          <a:latin typeface="Calibri" pitchFamily="34" charset="0"/>
                          <a:ea typeface="Calibri" pitchFamily="34" charset="-122"/>
                          <a:cs typeface="Calibri" pitchFamily="34" charset="-120"/>
                        </a:rPr>
                        <a:t>CA account</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AD CS Security tab export; template ACLs; negative-test record; 4887, 4882, 4890, 4892 alerts</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AC-6, AU-6</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92608">
                <a:tc>
                  <a:txBody>
                    <a:bodyPr/>
                    <a:lstStyle/>
                    <a:p>
                      <a:pPr indent="0" marL="0">
                        <a:buNone/>
                      </a:pPr>
                      <a:r>
                        <a:rPr lang="en-US" sz="1050" b="1" dirty="0">
                          <a:solidFill>
                            <a:srgbClr val="1F2A44"/>
                          </a:solidFill>
                          <a:latin typeface="Calibri" pitchFamily="34" charset="0"/>
                          <a:ea typeface="Calibri" pitchFamily="34" charset="-122"/>
                          <a:cs typeface="Calibri" pitchFamily="34" charset="-120"/>
                        </a:rPr>
                        <a:t>Console access</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Entra SAML/OIDC config; Master Admin membership and PIM eligibility; token lifetimes</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IA-2, AC-2</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29768">
                <a:tc>
                  <a:txBody>
                    <a:bodyPr/>
                    <a:lstStyle/>
                    <a:p>
                      <a:pPr indent="0" marL="0">
                        <a:buNone/>
                      </a:pPr>
                      <a:r>
                        <a:rPr lang="en-US" sz="1050" b="1" dirty="0">
                          <a:solidFill>
                            <a:srgbClr val="1F2A44"/>
                          </a:solidFill>
                          <a:latin typeface="Calibri" pitchFamily="34" charset="0"/>
                          <a:ea typeface="Calibri" pitchFamily="34" charset="-122"/>
                          <a:cs typeface="Calibri" pitchFamily="34" charset="-120"/>
                        </a:rPr>
                        <a:t>Inventory</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 of in-scope certs with a Server Owner; expiring-without-renewal-path report; unknown-issuer findings</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CM-8, SC-17</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92608">
                <a:tc>
                  <a:txBody>
                    <a:bodyPr/>
                    <a:lstStyle/>
                    <a:p>
                      <a:pPr indent="0" marL="0">
                        <a:buNone/>
                      </a:pPr>
                      <a:r>
                        <a:rPr lang="en-US" sz="1050" b="1" dirty="0">
                          <a:solidFill>
                            <a:srgbClr val="1F2A44"/>
                          </a:solidFill>
                          <a:latin typeface="Calibri" pitchFamily="34" charset="0"/>
                          <a:ea typeface="Calibri" pitchFamily="34" charset="-122"/>
                          <a:cs typeface="Calibri" pitchFamily="34" charset="-120"/>
                        </a:rPr>
                        <a:t>Logging</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Syslog-TLS channel config and SIEM receipt of platform events</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AU-4, AU-6</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29768">
                <a:tc>
                  <a:txBody>
                    <a:bodyPr/>
                    <a:lstStyle/>
                    <a:p>
                      <a:pPr indent="0" marL="0">
                        <a:buNone/>
                      </a:pPr>
                      <a:r>
                        <a:rPr lang="en-US" sz="1050" b="1" dirty="0">
                          <a:solidFill>
                            <a:srgbClr val="1F2A44"/>
                          </a:solidFill>
                          <a:latin typeface="Calibri" pitchFamily="34" charset="0"/>
                          <a:ea typeface="Calibri" pitchFamily="34" charset="-122"/>
                          <a:cs typeface="Calibri" pitchFamily="34" charset="-120"/>
                        </a:rPr>
                        <a:t>Policy and approvals</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Policy tree against Book 07 Ch 05's renewal table; workflow approvals for sensitive templates</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SC-17(a)</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92608">
                <a:tc>
                  <a:txBody>
                    <a:bodyPr/>
                    <a:lstStyle/>
                    <a:p>
                      <a:pPr indent="0" marL="0">
                        <a:buNone/>
                      </a:pPr>
                      <a:r>
                        <a:rPr lang="en-US" sz="1050" b="1" dirty="0">
                          <a:solidFill>
                            <a:srgbClr val="1F2A44"/>
                          </a:solidFill>
                          <a:latin typeface="Calibri" pitchFamily="34" charset="0"/>
                          <a:ea typeface="Calibri" pitchFamily="34" charset="-122"/>
                          <a:cs typeface="Calibri" pitchFamily="34" charset="-120"/>
                        </a:rPr>
                        <a:t>Hardening</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IIS hardening applied; operational certificates replaced</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SC-8, CM-6</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92608">
                <a:tc>
                  <a:txBody>
                    <a:bodyPr/>
                    <a:lstStyle/>
                    <a:p>
                      <a:pPr indent="0" marL="0">
                        <a:buNone/>
                      </a:pPr>
                      <a:r>
                        <a:rPr lang="en-US" sz="1050" b="1" dirty="0">
                          <a:solidFill>
                            <a:srgbClr val="1F2A44"/>
                          </a:solidFill>
                          <a:latin typeface="Calibri" pitchFamily="34" charset="0"/>
                          <a:ea typeface="Calibri" pitchFamily="34" charset="-122"/>
                          <a:cs typeface="Calibri" pitchFamily="34" charset="-120"/>
                        </a:rPr>
                        <a:t>Trust anchors</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Roots tree limited to approved anchors</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SC-17(b)</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4"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research brief §11 (program mapping); Book 07, Ch 08 (evidence an assessor reads); NIST SP 800-53 Rev. 5.</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Risks register</a:t>
            </a:r>
            <a:endParaRPr lang="en-US" sz="3000" dirty="0"/>
          </a:p>
        </p:txBody>
      </p:sp>
      <p:graphicFrame>
        <p:nvGraphicFramePr>
          <p:cNvPr id="38" name="Risks"/>
          <p:cNvGraphicFramePr>
            <a:graphicFrameLocks noGrp="1"/>
          </p:cNvGraphicFramePr>
          <p:nvPr>
            <p:extLst>
              <p:ext uri="{D42A27DB-BD31-4B8C-83A1-F6EECF244321}">
                <p14:modId xmlns:p14="http://schemas.microsoft.com/office/powerpoint/2010/main" val="1579011935"/>
              </p:ext>
            </p:extLst>
          </p:nvPr>
        </p:nvGraphicFramePr>
        <p:xfrm>
          <a:off x="548640" y="1325880"/>
          <a:ext cx="9144000" cy="914400"/>
        </p:xfrm>
        <a:graphic>
          <a:graphicData uri="http://schemas.openxmlformats.org/drawingml/2006/table">
            <a:tbl>
              <a:tblPr firstRow="1" bandRow="1"/>
              <a:tblGrid>
                <a:gridCol w="3291840"/>
                <a:gridCol w="4754880"/>
                <a:gridCol w="3063240"/>
              </a:tblGrid>
              <a:tr h="292608">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Risk</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Why it matters</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Manage it by</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29768">
                <a:tc>
                  <a:txBody>
                    <a:bodyPr/>
                    <a:lstStyle/>
                    <a:p>
                      <a:pPr indent="0" marL="0">
                        <a:buNone/>
                      </a:pPr>
                      <a:r>
                        <a:rPr lang="en-US" sz="1050" b="1" dirty="0">
                          <a:solidFill>
                            <a:srgbClr val="1F2A44"/>
                          </a:solidFill>
                          <a:latin typeface="Calibri" pitchFamily="34" charset="0"/>
                          <a:ea typeface="Calibri" pitchFamily="34" charset="-122"/>
                          <a:cs typeface="Calibri" pitchFamily="34" charset="-120"/>
                        </a:rPr>
                        <a:t>ACME and FIPS conflict</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Installation Guide forbids FIPS on ACME servers; topic page names only win-acme</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Separate non-FIPS ACME servers; vendor statement</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29768">
                <a:tc>
                  <a:txBody>
                    <a:bodyPr/>
                    <a:lstStyle/>
                    <a:p>
                      <a:pPr indent="0" marL="0">
                        <a:buNone/>
                      </a:pPr>
                      <a:r>
                        <a:rPr lang="en-US" sz="1050" b="1" dirty="0">
                          <a:solidFill>
                            <a:srgbClr val="1F2A44"/>
                          </a:solidFill>
                          <a:latin typeface="Calibri" pitchFamily="34" charset="0"/>
                          <a:ea typeface="Calibri" pitchFamily="34" charset="-122"/>
                          <a:cs typeface="Calibri" pitchFamily="34" charset="-120"/>
                        </a:rPr>
                        <a:t>Kubernetes discovery needs the SaaS</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No FedRAMP package for the SaaS</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cert-manager issuer to the self-hosted WebSDK</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92608">
                <a:tc>
                  <a:txBody>
                    <a:bodyPr/>
                    <a:lstStyle/>
                    <a:p>
                      <a:pPr indent="0" marL="0">
                        <a:buNone/>
                      </a:pPr>
                      <a:r>
                        <a:rPr lang="en-US" sz="1050" b="1" dirty="0">
                          <a:solidFill>
                            <a:srgbClr val="1F2A44"/>
                          </a:solidFill>
                          <a:latin typeface="Calibri" pitchFamily="34" charset="0"/>
                          <a:ea typeface="Calibri" pitchFamily="34" charset="-122"/>
                          <a:cs typeface="Calibri" pitchFamily="34" charset="-120"/>
                        </a:rPr>
                        <a:t>Entrust driver removed in 26.1</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Public TLS path breaks on upgrade if Entrust</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Plan the CA path before upgrading</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92608">
                <a:tc>
                  <a:txBody>
                    <a:bodyPr/>
                    <a:lstStyle/>
                    <a:p>
                      <a:pPr indent="0" marL="0">
                        <a:buNone/>
                      </a:pPr>
                      <a:r>
                        <a:rPr lang="en-US" sz="1050" b="1" dirty="0">
                          <a:solidFill>
                            <a:srgbClr val="1F2A44"/>
                          </a:solidFill>
                          <a:latin typeface="Calibri" pitchFamily="34" charset="0"/>
                          <a:ea typeface="Calibri" pitchFamily="34" charset="-122"/>
                          <a:cs typeface="Calibri" pitchFamily="34" charset="-120"/>
                        </a:rPr>
                        <a:t>WS2025 AD CS support unclear</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Integrations table stops at 2022</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Written confirmation before Wave 2</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92608">
                <a:tc>
                  <a:txBody>
                    <a:bodyPr/>
                    <a:lstStyle/>
                    <a:p>
                      <a:pPr indent="0" marL="0">
                        <a:buNone/>
                      </a:pPr>
                      <a:r>
                        <a:rPr lang="en-US" sz="1050" b="1" dirty="0">
                          <a:solidFill>
                            <a:srgbClr val="1F2A44"/>
                          </a:solidFill>
                          <a:latin typeface="Calibri" pitchFamily="34" charset="0"/>
                          <a:ea typeface="Calibri" pitchFamily="34" charset="-122"/>
                          <a:cs typeface="Calibri" pitchFamily="34" charset="-120"/>
                        </a:rPr>
                        <a:t>Concentration of privilege</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Certificate manager on CAs, admin on targets, private keys in the DB</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ESC7 controls; vault; Tier 0 handling</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92608">
                <a:tc>
                  <a:txBody>
                    <a:bodyPr/>
                    <a:lstStyle/>
                    <a:p>
                      <a:pPr indent="0" marL="0">
                        <a:buNone/>
                      </a:pPr>
                      <a:r>
                        <a:rPr lang="en-US" sz="1050" b="1" dirty="0">
                          <a:solidFill>
                            <a:srgbClr val="1F2A44"/>
                          </a:solidFill>
                          <a:latin typeface="Calibri" pitchFamily="34" charset="0"/>
                          <a:ea typeface="Calibri" pitchFamily="34" charset="-122"/>
                          <a:cs typeface="Calibri" pitchFamily="34" charset="-120"/>
                        </a:rPr>
                        <a:t>English-only Windows and SQL; Standard SQL</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Weekly index-rebuild outage on Standard</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Enterprise edition, or schedule it</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92608">
                <a:tc>
                  <a:txBody>
                    <a:bodyPr/>
                    <a:lstStyle/>
                    <a:p>
                      <a:pPr indent="0" marL="0">
                        <a:buNone/>
                      </a:pPr>
                      <a:r>
                        <a:rPr lang="en-US" sz="1050" b="1" dirty="0">
                          <a:solidFill>
                            <a:srgbClr val="1F2A44"/>
                          </a:solidFill>
                          <a:latin typeface="Calibri" pitchFamily="34" charset="0"/>
                          <a:ea typeface="Calibri" pitchFamily="34" charset="-122"/>
                          <a:cs typeface="Calibri" pitchFamily="34" charset="-120"/>
                        </a:rPr>
                        <a:t>Third-party ServiceNow app</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Supply-chain component plus MID Server</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Assess before adopting</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92608">
                <a:tc>
                  <a:txBody>
                    <a:bodyPr/>
                    <a:lstStyle/>
                    <a:p>
                      <a:pPr indent="0" marL="0">
                        <a:buNone/>
                      </a:pPr>
                      <a:r>
                        <a:rPr lang="en-US" sz="1050" b="1" dirty="0">
                          <a:solidFill>
                            <a:srgbClr val="1F2A44"/>
                          </a:solidFill>
                          <a:latin typeface="Calibri" pitchFamily="34" charset="0"/>
                          <a:ea typeface="Calibri" pitchFamily="34" charset="-122"/>
                          <a:cs typeface="Calibri" pitchFamily="34" charset="-120"/>
                        </a:rPr>
                        <a:t>No CMVP or current CC certificate</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Can't claim validated crypto for the product</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FIPS-mode Windows plus HSM evidence</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92608">
                <a:tc>
                  <a:txBody>
                    <a:bodyPr/>
                    <a:lstStyle/>
                    <a:p>
                      <a:pPr indent="0" marL="0">
                        <a:buNone/>
                      </a:pPr>
                      <a:r>
                        <a:rPr lang="en-US" sz="1050" b="1" dirty="0">
                          <a:solidFill>
                            <a:srgbClr val="1F2A44"/>
                          </a:solidFill>
                          <a:latin typeface="Calibri" pitchFamily="34" charset="0"/>
                          <a:ea typeface="Calibri" pitchFamily="34" charset="-122"/>
                          <a:cs typeface="Calibri" pitchFamily="34" charset="-120"/>
                        </a:rPr>
                        <a:t>Vendor docs inconsistent; renaming</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Wildcard ACME, stale tables; Palo Alto may rename again</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Lab-verify; check contract names</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4"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research brief §0 and §12; CyberArk 26.1 docs; Common Criteria archived list; ServiceNow Store; Book 07, Ch 07.</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Couldn't verify, or login-gated</a:t>
            </a:r>
            <a:endParaRPr lang="en-US" sz="3000" dirty="0"/>
          </a:p>
        </p:txBody>
      </p:sp>
      <p:sp>
        <p:nvSpPr>
          <p:cNvPr id="3" name="Gaps"/>
          <p:cNvSpPr txBox="1"/>
          <p:nvPr/>
        </p:nvSpPr>
        <p:spPr>
          <a:xfrm>
            <a:off x="548640" y="1371600"/>
            <a:ext cx="11064240" cy="457200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2"/>
                </a:solidFill>
              </a:rPr>
              <a:t>CyberArk Community and Marketplace (Prereq Check Script, Base Configuration Utility, Knowledge Center deprecation list, product life-cycle dates): login-gated.</a:t>
            </a:r>
            <a:endParaRPr lang="en-US" sz="1300" dirty="0"/>
          </a:p>
          <a:p>
            <a:pPr marL="342900" indent="-342900">
              <a:spcAft>
                <a:spcPts val="600"/>
              </a:spcAft>
              <a:buSzPct val="100000"/>
              <a:buChar char="•"/>
            </a:pPr>
            <a:r>
              <a:rPr lang="en-US" sz="1300" dirty="0">
                <a:solidFill>
                  <a:schemeClr val="tx2"/>
                </a:solidFill>
              </a:rPr>
              <a:t>Which cryptographic module the product uses, and whether CMVP #5205 covers it: no vendor statement found.</a:t>
            </a:r>
            <a:endParaRPr lang="en-US" sz="1300" dirty="0"/>
          </a:p>
          <a:p>
            <a:pPr marL="342900" indent="-342900">
              <a:spcAft>
                <a:spcPts val="600"/>
              </a:spcAft>
              <a:buSzPct val="100000"/>
              <a:buChar char="•"/>
            </a:pPr>
            <a:r>
              <a:rPr lang="en-US" sz="1300" dirty="0">
                <a:solidFill>
                  <a:schemeClr val="tx2"/>
                </a:solidFill>
              </a:rPr>
              <a:t>Azure Key Vault driver support for Azure Government endpoints: not found.</a:t>
            </a:r>
            <a:endParaRPr lang="en-US" sz="1300" dirty="0"/>
          </a:p>
          <a:p>
            <a:pPr marL="342900" indent="-342900">
              <a:spcAft>
                <a:spcPts val="600"/>
              </a:spcAft>
              <a:buSzPct val="100000"/>
              <a:buChar char="•"/>
            </a:pPr>
            <a:r>
              <a:rPr lang="en-US" sz="1300" dirty="0">
                <a:solidFill>
                  <a:schemeClr val="tx2"/>
                </a:solidFill>
              </a:rPr>
              <a:t>CyberArk's own ServiceNow integration (Service Graph Connector): the blog redirects to a Palo Alto Idira page; scope and edition unknown.</a:t>
            </a:r>
            <a:endParaRPr lang="en-US" sz="1300" dirty="0"/>
          </a:p>
          <a:p>
            <a:pPr marL="342900" indent="-342900">
              <a:spcAft>
                <a:spcPts val="600"/>
              </a:spcAft>
              <a:buSzPct val="100000"/>
              <a:buChar char="•"/>
            </a:pPr>
            <a:r>
              <a:rPr lang="en-US" sz="1300" dirty="0">
                <a:solidFill>
                  <a:schemeClr val="tx2"/>
                </a:solidFill>
              </a:rPr>
              <a:t>Explicit PIV/CAC smart-card login to the console: not documented (client-certificate login is).</a:t>
            </a:r>
            <a:endParaRPr lang="en-US" sz="1300" dirty="0"/>
          </a:p>
          <a:p>
            <a:pPr marL="342900" indent="-342900">
              <a:spcAft>
                <a:spcPts val="600"/>
              </a:spcAft>
              <a:buSzPct val="100000"/>
              <a:buChar char="•"/>
            </a:pPr>
            <a:r>
              <a:rPr lang="en-US" sz="1300" dirty="0">
                <a:solidFill>
                  <a:schemeClr val="tx2"/>
                </a:solidFill>
              </a:rPr>
              <a:t>Certificate-manager restriction configuration on Windows Server 2025 AD CS: Microsoft says it isn't documented.</a:t>
            </a:r>
            <a:endParaRPr lang="en-US" sz="1300" dirty="0"/>
          </a:p>
          <a:p>
            <a:pPr marL="342900" indent="-342900">
              <a:spcAft>
                <a:spcPts val="600"/>
              </a:spcAft>
              <a:buSzPct val="100000"/>
              <a:buChar char="•"/>
            </a:pPr>
            <a:r>
              <a:rPr lang="en-US" sz="1300" dirty="0">
                <a:solidFill>
                  <a:schemeClr val="tx2"/>
                </a:solidFill>
              </a:rPr>
              <a:t>Let's Encrypt or any generic ACME-client issuance from the platform to public CAs: not documented.</a:t>
            </a:r>
            <a:endParaRPr lang="en-US" sz="1300" dirty="0"/>
          </a:p>
          <a:p>
            <a:pPr marL="342900" indent="-342900">
              <a:spcAft>
                <a:spcPts val="600"/>
              </a:spcAft>
              <a:buSzPct val="100000"/>
              <a:buChar char="•"/>
            </a:pPr>
            <a:r>
              <a:rPr lang="en-US" sz="1300" dirty="0">
                <a:solidFill>
                  <a:schemeClr val="tx2"/>
                </a:solidFill>
              </a:rPr>
              <a:t>NIST CMVP status-filtered searches returned identical lists for Active, Historical and Revoked; the two CyberArk certificates read Active on their own pages.</a:t>
            </a:r>
            <a:endParaRPr lang="en-US" sz="1300" dirty="0"/>
          </a:p>
        </p:txBody>
      </p:sp>
      <p:sp>
        <p:nvSpPr>
          <p:cNvPr id="4"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research brief §13 (couldn't verify / login-gated), Oct. 22, 2026.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Sources: CyberArk documentation, version 26.1</a:t>
            </a:r>
            <a:endParaRPr lang="en-US" sz="3000" dirty="0"/>
          </a:p>
        </p:txBody>
      </p:sp>
      <p:sp>
        <p:nvSpPr>
          <p:cNvPr id="3" name="Source list"/>
          <p:cNvSpPr txBox="1"/>
          <p:nvPr/>
        </p:nvSpPr>
        <p:spPr>
          <a:xfrm>
            <a:off x="548640" y="1325880"/>
            <a:ext cx="11064240" cy="4663440"/>
          </a:xfrm>
          <a:prstGeom prst="rect">
            <a:avLst/>
          </a:prstGeom>
          <a:noFill/>
          <a:ln/>
        </p:spPr>
        <p:txBody>
          <a:bodyPr wrap="square" lIns="0" tIns="0" rIns="0" bIns="0" rtlCol="0" anchor="t"/>
          <a:lstStyle/>
          <a:p>
            <a:pPr marL="342900" indent="-342900">
              <a:spcAft>
                <a:spcPts val="300"/>
              </a:spcAft>
              <a:buSzPct val="100000"/>
              <a:buChar char="•"/>
            </a:pPr>
            <a:r>
              <a:rPr lang="en-US" sz="1100" dirty="0">
                <a:solidFill>
                  <a:schemeClr val="tx2"/>
                </a:solidFill>
              </a:rPr>
              <a:t>All at docs.venafi.com/Docs/current/TopNav/Content/ (mirrors docs.cyberark.com/mis-self-hosted): landing page; Installation and Upgrade Guide 26.1 PDF (July 2026); System Requirements; Supported integrations; What's New; Deprecated features; Important considerations.</a:t>
            </a:r>
            <a:endParaRPr lang="en-US" sz="1100" dirty="0"/>
          </a:p>
          <a:p>
            <a:pPr marL="342900" indent="-342900">
              <a:spcAft>
                <a:spcPts val="300"/>
              </a:spcAft>
              <a:buSzPct val="100000"/>
              <a:buChar char="•"/>
            </a:pPr>
            <a:r>
              <a:rPr lang="en-US" sz="1100" dirty="0">
                <a:solidFill>
                  <a:schemeClr val="tx2"/>
                </a:solidFill>
              </a:rPr>
              <a:t>Install: Always On high availability; rolling upgrades; SQL Enterprise vs Standard; software key backup; gMSA; Windows auth requirements and overview; securing the web server; authentication options.</a:t>
            </a:r>
            <a:endParaRPr lang="en-US" sz="1100" dirty="0"/>
          </a:p>
          <a:p>
            <a:pPr marL="342900" indent="-342900">
              <a:spcAft>
                <a:spcPts val="300"/>
              </a:spcAft>
              <a:buSzPct val="100000"/>
              <a:buChar char="•"/>
            </a:pPr>
            <a:r>
              <a:rPr lang="en-US" sz="1100" dirty="0">
                <a:solidFill>
                  <a:schemeClr val="tx2"/>
                </a:solidFill>
              </a:rPr>
              <a:t>Encryption keys: system keys overview; using HSM-protected keys; HSM configuration  ·  Disaster recovery: prerequisites; database recovery; HSM recovery  ·  Security: hardening best practices; IIS hardening.</a:t>
            </a:r>
            <a:endParaRPr lang="en-US" sz="1100" dirty="0"/>
          </a:p>
          <a:p>
            <a:pPr marL="342900" indent="-342900">
              <a:spcAft>
                <a:spcPts val="300"/>
              </a:spcAft>
              <a:buSzPct val="100000"/>
              <a:buChar char="•"/>
            </a:pPr>
            <a:r>
              <a:rPr lang="en-US" sz="1100" dirty="0">
                <a:solidFill>
                  <a:schemeClr val="tx2"/>
                </a:solidFill>
              </a:rPr>
              <a:t>Drivers: Microsoft ADCS CA template; MSCA certificate settings; Microsoft CA Pool; CA chaining; DigiCert; GlobalSign; Entrust CA Gateway; AWS Certificate Manager; Azure prerequisites, app driver and permissions; CAPI permissions; F5 LTM Advanced; NetScaler; Apache; JKS.</a:t>
            </a:r>
            <a:endParaRPr lang="en-US" sz="1100" dirty="0"/>
          </a:p>
          <a:p>
            <a:pPr marL="342900" indent="-342900">
              <a:spcAft>
                <a:spcPts val="300"/>
              </a:spcAft>
              <a:buSzPct val="100000"/>
              <a:buChar char="•"/>
            </a:pPr>
            <a:r>
              <a:rPr lang="en-US" sz="1100" dirty="0">
                <a:solidFill>
                  <a:schemeClr val="tx2"/>
                </a:solidFill>
              </a:rPr>
              <a:t>Discovery: importing certificates from a CA; Microsoft CA import; Amazon Private CA import; overview; Network Discovery; reconciliation; placement rules; Onboard Discovery; agent discovery; Kubernetes discovery.</a:t>
            </a:r>
            <a:endParaRPr lang="en-US" sz="1100" dirty="0"/>
          </a:p>
          <a:p>
            <a:pPr marL="342900" indent="-342900">
              <a:spcAft>
                <a:spcPts val="300"/>
              </a:spcAft>
              <a:buSzPct val="100000"/>
              <a:buChar char="•"/>
            </a:pPr>
            <a:r>
              <a:rPr lang="en-US" sz="1100" dirty="0">
                <a:solidFill>
                  <a:schemeClr val="tx2"/>
                </a:solidFill>
              </a:rPr>
              <a:t>Enrollment: ACME (26.1); EST overview, limitations, reference; SCEP; NDE rules; Integrating with Microsoft Intune  ·  SDK: OAuth setup; WebSDK POST Discovery/Import.</a:t>
            </a:r>
            <a:endParaRPr lang="en-US" sz="1100" dirty="0"/>
          </a:p>
          <a:p>
            <a:pPr marL="342900" indent="-342900">
              <a:spcAft>
                <a:spcPts val="300"/>
              </a:spcAft>
              <a:buSzPct val="100000"/>
              <a:buChar char="•"/>
            </a:pPr>
            <a:r>
              <a:rPr lang="en-US" sz="1100" dirty="0">
                <a:solidFill>
                  <a:schemeClr val="tx2"/>
                </a:solidFill>
              </a:rPr>
              <a:t>Identity and logging: certificate auth in the platform and IIS; Configuration Console Authentication node; login experience; SSO vendor support; syslog channel; notification channels; notifications and logging; expiration intervals.</a:t>
            </a:r>
            <a:endParaRPr lang="en-US" sz="1100" dirty="0"/>
          </a:p>
          <a:p>
            <a:pPr marL="342900" indent="-342900">
              <a:spcAft>
                <a:spcPts val="300"/>
              </a:spcAft>
              <a:buSzPct val="100000"/>
              <a:buChar char="•"/>
            </a:pPr>
            <a:r>
              <a:rPr lang="en-US" sz="1100" dirty="0">
                <a:solidFill>
                  <a:schemeClr val="tx2"/>
                </a:solidFill>
              </a:rPr>
              <a:t>Administration: permissions and abilities; Teams and policy folders; policies; workflows; credential best practice (Enterprise Password Vault); securing credential objects.</a:t>
            </a:r>
            <a:endParaRPr lang="en-US" sz="1100" dirty="0"/>
          </a:p>
          <a:p>
            <a:pPr marL="342900" indent="-342900">
              <a:spcAft>
                <a:spcPts val="300"/>
              </a:spcAft>
              <a:buSzPct val="100000"/>
              <a:buChar char="•"/>
            </a:pPr>
            <a:r>
              <a:rPr lang="en-US" sz="1100" dirty="0">
                <a:solidFill>
                  <a:schemeClr val="tx2"/>
                </a:solidFill>
              </a:rPr>
              <a:t>Palo Alto Networks, Next-Gen Trust Security, Certificate Manager page  ·  vCert README and latest release (v5.13.9, July 27, 2026)  ·  cert-manager, CyberArk (formerly Venafi) issuer.</a:t>
            </a:r>
            <a:endParaRPr lang="en-US" sz="1100" dirty="0"/>
          </a:p>
        </p:txBody>
      </p:sp>
      <p:sp>
        <p:nvSpPr>
          <p:cNvPr id="4"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primary documents as listed. Access date for all: Oct. 22, 2026.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Sources: Microsoft, government, standards and Book 07</a:t>
            </a:r>
            <a:endParaRPr lang="en-US" sz="3000" dirty="0"/>
          </a:p>
        </p:txBody>
      </p:sp>
      <p:sp>
        <p:nvSpPr>
          <p:cNvPr id="3" name="Source list"/>
          <p:cNvSpPr txBox="1"/>
          <p:nvPr/>
        </p:nvSpPr>
        <p:spPr>
          <a:xfrm>
            <a:off x="548640" y="1325880"/>
            <a:ext cx="11064240" cy="4663440"/>
          </a:xfrm>
          <a:prstGeom prst="rect">
            <a:avLst/>
          </a:prstGeom>
          <a:noFill/>
          <a:ln/>
        </p:spPr>
        <p:txBody>
          <a:bodyPr wrap="square" lIns="0" tIns="0" rIns="0" bIns="0" rtlCol="0" anchor="t"/>
          <a:lstStyle/>
          <a:p>
            <a:pPr marL="342900" indent="-342900">
              <a:spcAft>
                <a:spcPts val="300"/>
              </a:spcAft>
              <a:buSzPct val="100000"/>
              <a:buChar char="•"/>
            </a:pPr>
            <a:r>
              <a:rPr lang="en-US" sz="1100" dirty="0">
                <a:solidFill>
                  <a:schemeClr val="tx2"/>
                </a:solidFill>
              </a:rPr>
              <a:t>Microsoft Learn: Secure, delegate and audit a certification authority; Review and dispose of pending certificate requests; Manage certificate templates; Defender for Identity certificate posture assessments.</a:t>
            </a:r>
            <a:endParaRPr lang="en-US" sz="1100" dirty="0"/>
          </a:p>
          <a:p>
            <a:pPr marL="342900" indent="-342900">
              <a:spcAft>
                <a:spcPts val="300"/>
              </a:spcAft>
              <a:buSzPct val="100000"/>
              <a:buChar char="•"/>
            </a:pPr>
            <a:r>
              <a:rPr lang="en-US" sz="1100" dirty="0">
                <a:solidFill>
                  <a:schemeClr val="tx2"/>
                </a:solidFill>
              </a:rPr>
              <a:t>Microsoft Learn: Third-party CA SCEP partners for Intune; Graph beta retrieveCloudPkiLeafCertificateReport and summary report (Get-MgBetaDeviceManagementReportCloudPkiLeafCertificateReport); Create SCEP certificate profiles in Intune.</a:t>
            </a:r>
            <a:endParaRPr lang="en-US" sz="1100" dirty="0"/>
          </a:p>
          <a:p>
            <a:pPr marL="342900" indent="-342900">
              <a:spcAft>
                <a:spcPts val="300"/>
              </a:spcAft>
              <a:buSzPct val="100000"/>
              <a:buChar char="•"/>
            </a:pPr>
            <a:r>
              <a:rPr lang="en-US" sz="1100" dirty="0">
                <a:solidFill>
                  <a:schemeClr val="tx2"/>
                </a:solidFill>
              </a:rPr>
              <a:t>FedRAMP Marketplace dataset, fedramp.gov/marketplace/products.json (last change Oct. 22, 2026).</a:t>
            </a:r>
            <a:endParaRPr lang="en-US" sz="1100" dirty="0"/>
          </a:p>
          <a:p>
            <a:pPr marL="342900" indent="-342900">
              <a:spcAft>
                <a:spcPts val="300"/>
              </a:spcAft>
              <a:buSzPct val="100000"/>
              <a:buChar char="•"/>
            </a:pPr>
            <a:r>
              <a:rPr lang="en-US" sz="1100" dirty="0">
                <a:solidFill>
                  <a:schemeClr val="tx2"/>
                </a:solidFill>
              </a:rPr>
              <a:t>NIST CMVP validated-modules search (Vendor Venafi; Vendor CyberArk); certificates #5205 and #5122  ·  Common Criteria Portal certified and archived product lists  ·  NIST SP 1800-16, Securing Web Transactions: TLS Server Certificate Management (June 2020).</a:t>
            </a:r>
            <a:endParaRPr lang="en-US" sz="1100" dirty="0"/>
          </a:p>
          <a:p>
            <a:pPr marL="342900" indent="-342900">
              <a:spcAft>
                <a:spcPts val="300"/>
              </a:spcAft>
              <a:buSzPct val="100000"/>
              <a:buChar char="•"/>
            </a:pPr>
            <a:r>
              <a:rPr lang="en-US" sz="1100" dirty="0">
                <a:solidFill>
                  <a:schemeClr val="tx2"/>
                </a:solidFill>
              </a:rPr>
              <a:t>ServiceNow Store: AEYRiX Machine Identity Protection; Machine Identity Protection Lite.</a:t>
            </a:r>
            <a:endParaRPr lang="en-US" sz="1100" dirty="0"/>
          </a:p>
          <a:p>
            <a:pPr marL="342900" indent="-342900">
              <a:spcAft>
                <a:spcPts val="300"/>
              </a:spcAft>
              <a:buSzPct val="100000"/>
              <a:buChar char="•"/>
            </a:pPr>
            <a:r>
              <a:rPr lang="en-US" sz="1100" dirty="0">
                <a:solidFill>
                  <a:schemeClr val="tx2"/>
                </a:solidFill>
              </a:rPr>
              <a:t>Book 07: Ch 01 (CA/Browser Forum schedule), Ch 02 (inventory), Ch 03 (ESC7, auditing), Ch 04 (target PKI, CLM scope, FedRAMP posture), Ch 05 (roles, renewal ownership, four permission systems), Ch 06, Ch 07 (coexistence rules, waves 1–6), Ch 08 (renewal engines, ACME, monitoring, drift, decommissioning, evidence), Appendices A–B.</a:t>
            </a:r>
            <a:endParaRPr lang="en-US" sz="1100" dirty="0"/>
          </a:p>
          <a:p>
            <a:pPr marL="342900" indent="-342900">
              <a:spcAft>
                <a:spcPts val="300"/>
              </a:spcAft>
              <a:buSzPct val="100000"/>
              <a:buChar char="•"/>
            </a:pPr>
            <a:r>
              <a:rPr lang="en-US" sz="1100" dirty="0">
                <a:solidFill>
                  <a:schemeClr val="tx2"/>
                </a:solidFill>
              </a:rPr>
              <a:t>Research brief, After Active Directory: who names devices and who registers their DNS records (Intune SCEP SAN variables).</a:t>
            </a:r>
            <a:endParaRPr lang="en-US" sz="1100" dirty="0"/>
          </a:p>
          <a:p>
            <a:pPr marL="342900" indent="-342900">
              <a:spcAft>
                <a:spcPts val="300"/>
              </a:spcAft>
              <a:buSzPct val="100000"/>
              <a:buChar char="•"/>
            </a:pPr>
            <a:r>
              <a:rPr lang="en-US" sz="1100" dirty="0">
                <a:solidFill>
                  <a:schemeClr val="tx2"/>
                </a:solidFill>
              </a:rPr>
              <a:t>Program design guidance and inferences are labeled on the slides; they are not vendor or Microsoft statements.</a:t>
            </a:r>
            <a:endParaRPr lang="en-US" sz="1100" dirty="0"/>
          </a:p>
        </p:txBody>
      </p:sp>
      <p:sp>
        <p:nvSpPr>
          <p:cNvPr id="4"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primary documents as listed. Access date for all: Oct. 22, 2026.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40</a:t>
            </a:fld>
            <a:endParaRPr lang="en-US"/>
          </a:p>
        </p:txBody>
      </p:sp>
    </p:spTree>
  </p:cSld>
  <p:clrMapOvr>
    <a:masterClrMapping/>
  </p:clrMapOvr>
</p:sld>
</file>

<file path=ppt/theme/theme1.xml><?xml version="1.0" encoding="utf-8"?>
<a:theme xmlns:a="http://schemas.openxmlformats.org/drawingml/2006/main" name="Federal Modernization Workbook">
  <a:themeElements>
    <a:clrScheme name="Federal Modernization Workbook">
      <a:dk1>
        <a:srgbClr val="1F2A44"/>
      </a:dk1>
      <a:lt1>
        <a:srgbClr val="FFFFFF"/>
      </a:lt1>
      <a:dk2>
        <a:srgbClr val="334155"/>
      </a:dk2>
      <a:lt2>
        <a:srgbClr val="F1F5F9"/>
      </a:lt2>
      <a:accent1>
        <a:srgbClr val="1F2A44"/>
      </a:accent1>
      <a:accent2>
        <a:srgbClr val="0F766E"/>
      </a:accent2>
      <a:accent3>
        <a:srgbClr val="B45309"/>
      </a:accent3>
      <a:accent4>
        <a:srgbClr val="B91C1C"/>
      </a:accent4>
      <a:accent5>
        <a:srgbClr val="64748B"/>
      </a:accent5>
      <a:accent6>
        <a:srgbClr val="E6F2F1"/>
      </a:accent6>
      <a:hlink>
        <a:srgbClr val="0F766E"/>
      </a:hlink>
      <a:folHlink>
        <a:srgbClr val="334155"/>
      </a:folHlink>
    </a:clrScheme>
    <a:fontScheme name="Federal Modernization Workboo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40</Slides>
  <Notes>40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40</vt:i4>
      </vt:variant>
    </vt:vector>
  </HeadingPairs>
  <TitlesOfParts>
    <vt:vector size="4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Certificate Lifecycle on CyberArk Certificate Manager — Implementation Guide</dc:title>
  <dc:subject>PptxGenJS Presentation</dc:subject>
  <dc:creator>Michael F. Stratton</dc:creator>
  <cp:lastModifiedBy>Michael F. Stratton</cp:lastModifiedBy>
  <cp:revision>1</cp:revision>
  <dcterms:created xsi:type="dcterms:W3CDTF">2026-10-23T13:43:34Z</dcterms:created>
  <dcterms:modified xsi:type="dcterms:W3CDTF">2026-10-23T13:43:34Z</dcterms:modified>
</cp:coreProperties>
</file>