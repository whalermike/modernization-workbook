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468ae95-69c3-0b7e-3778-b6f4a914e3a8}">
          <p14:sldIdLst>
            <p14:sldId id="256"/>
          </p14:sldIdLst>
        </p14:section>
        <p14:section name="Why" id="{6120660a-62d4-5f11-1ab3-d5bb98f88f5d}">
          <p14:sldIdLst>
            <p14:sldId id="257"/>
            <p14:sldId id="258"/>
          </p14:sldIdLst>
        </p14:section>
        <p14:section name="What" id="{e823535b-2837-f397-6a56-c5576ed6b3b6}">
          <p14:sldIdLst>
            <p14:sldId id="259"/>
            <p14:sldId id="260"/>
            <p14:sldId id="261"/>
            <p14:sldId id="262"/>
            <p14:sldId id="263"/>
            <p14:sldId id="264"/>
            <p14:sldId id="265"/>
          </p14:sldIdLst>
        </p14:section>
        <p14:section name="Who" id="{226323c8-0034-fd00-295b-7be656dc9ce5}">
          <p14:sldIdLst>
            <p14:sldId id="266"/>
          </p14:sldIdLst>
        </p14:section>
        <p14:section name="How" id="{9023c86d-e116-9c6e-a87a-d3acdfe760f0}">
          <p14:sldIdLst>
            <p14:sldId id="267"/>
            <p14:sldId id="268"/>
            <p14:sldId id="269"/>
            <p14:sldId id="270"/>
            <p14:sldId id="271"/>
          </p14:sldIdLst>
        </p14:section>
        <p14:section name="Backup" id="{01e48c4f-3f0a-ac5e-dd6a-2ecc953d9f5d}">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Privileged Access. This is Chapter 2: emergency access accounts as code. These accounts are the one standing privilege the program keeps on purpose, so the chapter checks them on every run and watches them every minute, with code someone reviewed. We'll start from Microsoft's own emergency access page, see what its sample alert misses, then walk the check, the alert, two labs and the dangers. One note before we begin: the code is illustrative, tested against fixtures rather than a live tenant.
Detail: The chapter delivers the check and the alert behind the plan's tasks A0.4 and A1.1: "existing emergency access accounts located and checked against the standard," then "two emergency accounts built to the standard, excluded by one group, alerted and tested." It starts with Learn's emergency access page, which sets the standard and gives three sample alert queries, pinned in the repository, and runs them offline over fictional log rows. Then examples/privileged-access adds what they leave to you: a check of each account against the standard, and the alert as an ARM template that also sees non-interactive sign-ins and audit events. Lab 1 runs on a laptop with no tenant; Lab 2 uses a test tenant.
Sources: Microsoft Learn, "Manage emergency access accounts in Microsoft Entra ID," https://learn.microsoft.com/entra/identity/role-based-access-control/security-emergency-access (accessed Oct 30, 2026).
Workbook: Building Privileged Access, Chapter 02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start here? Because the order matters. If approval for privileged roles is switched on before working emergency accounts exist, you can lock everyone out: every administrator role is eligible, approval is required, and nobody is left to approve. That's the documented lockout, and it's why Book 04 makes this step the one that can't move. The emergency accounts are also the program's main exception to zero standing access. The inventory in Chapter 1 lets them through only because they're listed as exceptions. This chapter makes sure that exception is real.
Detail: Book 04, Chapter 08's Step 0 is the only step that can't move: approval switched on before the emergency accounts exist is the documented lockout, and the project plan's critical path note says the same. Learn names the case: every Global Administrator and Privileged Role Administrator eligible, approval required, and no approvers selected, so no one can approve and administration is locked. The emergency accounts are also the program's main documented exception to "zero permanently active assignments." Chapter 01's inventory reports them as Info only because exceptions.csv names them. This chapter makes sure the exception is what it claims to be.
Sources: Microsoft Learn, "Manage emergency access accounts in Microsoft Entra ID," https://learn.microsoft.com/entra/identity/role-based-access-control/security-emergency-access (accessed Oct 30, 2026). · Microsoft Learn, "Plan a Privileged Identity Management deployment," type of assignments, https://learn.microsoft.com/entra/id-governance/privileged-identity-management/pim-deployment-plan (accessed Oct 30, 2026).
Workbook: Building Privileged Access, Chapter 02 — “Why this comes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which cloud. The check reads Microsoft Graph, and the host depends on the tenant. For a GCC tenant like this estate's, that's the worldwide Graph endpoint, and the alert sits in Azure Monitor in a commercial subscription. The template the code writes names no host, so the same file could deploy in Azure Government for GCC High, although the chapter flags that full availability there wasn't confirmed. And the two sign-in methods Learn wants for these accounts, passkeys and certificate-based authentication, are available in every one of these clouds.
Detail: The check reads Microsoft Graph: graph.microsoft.com for GCC, graph.microsoft.us for GCC High and dod-graph.microsoft.us for DoD. The alert runs in Azure Monitor, over the Log Analytics workspace that receives the tenant's Entra logs. For Microsoft 365 GCC with commercial Azure, that workspace and the alert sit in a commercial subscription, deployed through management.azure.com. The template the code writes names no host, so the same file deploys in Azure Government for a GCC High or DoD tenant; whether every piece of it is available there wasn't confirmed (research gaps, row 7). Passkeys (FIDO2) and certificate-based authentication, the two methods Learn names for these accounts, are available in Azure for US Government.
Sources: Microsoft Learn, "Microsoft Graph national cloud deployments," https://learn.microsoft.com/graph/deployments (accessed Oct 30, 2026). · Microsoft Learn, "Microsoft Entra feature availability," Microsoft Entra ID, authentication, https://learn.microsoft.com/entra/identity/authentication/feature-availability (accessed Oct 30, 2026).
Workbook: Building Privileged Access, Chapter 02 — “Which cloud, for this check and this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Microsoft gives you. Learn's emergency access page is the standard: at least two cloud-only accounts on the onmicrosoft domain, strong phishing-resistant sign-in that's different from your everyday admins, Global Administrator held permanently, and exclusion from blocking policies through one dedicated group. Then you have to run them: watch their logs, and test them at least every ninety days. Book 04 adopts the same standard and adds two things of its own: dual custody, and a review after every use.
Detail: Learn's page "Manage emergency access accounts in Microsoft Entra ID" is Microsoft's standard and procedure. It asks for two or more cloud-only accounts on the *.onmicrosoft.com domain, neither federated nor synchronized; passkey (FIDO2) or certificate-based authentication, different from the normal administrator accounts' methods; Global Administrator assigned as active and permanent in PIM; exclusion from Conditional Access policies that block or restrict sign-in, through a dedicated group, with report-only policies needing no exclusion; credentials and devices that don't expire; monitoring of sign-in and audit logs with alerts; and validation at least every 90 days, including a check that no one registered MFA or self-service password reset to an individual's device or personal details. Book 04, Chapter 04 adopts the same standard and adds dual custody and a post-use review.
Sources: Microsoft Learn, "Manage emergency access accounts in Microsoft Entra ID," https://learn.microsoft.com/entra/identity/role-based-access-control/security-emergency-access (accessed Oct 30, 2026).
Workbook: Building Privileged Access, Chapter 02 — “Start with Microsoft's sample” — “What Microsoft gives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also gives you a sample alert: three short queries over the sign-in logs, and portal steps to turn them into an alert rule where any result fires. Those queries only exist inside the web page, so the repository pins the page's source, unmodified, with a hash a test checks, and a weekly watch that reports when Microsoft changes it. A small harness then runs the sample's filters over a handful of fictional log rows, so you can see exactly what the sample catches and what it misses. It's a test, not a query engine.
Detail: For the alert, the page gives three sample Azure Monitor queries, on one object ID, on two, and on a user principal name, and walks through creating the log search alert rule and its action group in the Azure portal: severity 0, threshold greater than 0. The queries exist only inside the Learn page, so the repository pins the page's source, unmodified, in examples/third_party/entra-emergency-access-page: security-emergency-access.md from MicrosoftDocs/entra-docs at commit 07cb73d (October 30, 2026), with the repository's MIT licenses. snapshot.json records each file's SHA-256, checked against the upstream git blob hashes; a unit test checks them, and the weekly source watch reports new commits to the page. tests/LearnSampleHarness.ps1 extracts the three queries and evaluates their filters over tests/fixtures/signin-export.json, six fictional rows in a workspace's table shapes, with a small evaluator that handles only the queries' shape: a table, one where of Column == "value" terms joined by or, and a project. Anything else throws, so a new upstream shape fails the tests instead of being half-read.
Sources: Microsoft Learn, "Manage emergency access accounts in Microsoft Entra ID," https://learn.microsoft.com/entra/identity/role-based-access-control/security-emergency-access (accessed Oct 30, 2026). · Microsoft, MicrosoftDocs/entra-docs, docs/identity/role-based-access-control/security-emergency-access.md at commit 07cb73d6c6380414eecd040ba5e14c1c94d48b66 (October 30, 2026; the page last changed June 4, 2026), MIT License, https://github.com/MicrosoftDocs/entra-docs/blob/07cb73d6c6380414eecd040ba5e14c1c94d48b66/docs/identity/role-based-access-control/security-emergency-access.md (accessed Oct 30, 2026); pinned copy in examples/third_party/entra-emergency-access-page.
Workbook: Building Privileged Access, Chapter 02 — “What Microsoft gives you”; “The pinned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chapter. Run as published, the sample watches only one of the three places an emergency account shows up. It misses the non-interactive sign-in, which is exactly what a stolen session looks like, and Learn notes that passkey sign-ins now land there too. It misses the audit events, like a new method quietly registered on the account. And if you copy it with its placeholders, it alerts on nothing. So the verdict is: keep Learn's object-ID query and its alert settings as the core, and let the code add the rest.
Detail: Each row is pinned by a test: in tests/MicrosoftSamples.Tests.ps1 for the sample, and in tests/EmergencyAccess.Tests.ps1 for the example. Three queries, all on SigninLogs, matching UserId: kept as the model, the first leg of the alert's query, matched by object ID. With real object IDs it catches both interactive sign-ins in the export: kept. It uses Learn's placeholder object IDs and user@yourdomain.onmicrosoft.com, so a query copied as published alerts on nothing: IDs come from emergency-access.json, and Get-PaEmergencyQuery refuses a UPN and Learn's placeholder IDs. It misses the non-interactive sign-in: a refreshed token in a stolen session is a non-interactive sign-in, a separate log category and table, and Learn says that since April 11, 2025 new sign-ins that obtain a refresh token with FIDO2 keys are logged as non-interactive, the method Learn recommends for these accounts; the code adds an AADNonInteractiveUserSignInLogs leg. It misses both audit events, a role change made by an emergency account and a security method registered on one; the page asks to monitor sign-in and audit logs, and a method added to the account is the start of a takeover; the code adds an AuditLogs leg, by InitiatedBy or by TargetResources. The UPN query misses the account after a rename: object IDs only. The rule, severity, threshold and action group are portal steps, with nothing to review, diff or redeploy: New-PaEmergencyAlertRule writes a scheduledQueryRules template with Learn's severity and threshold, tested. The standard is a checklist in prose: Test-PaEmergencyAccess checks PA-EA-01 to PA-EA-10, every run.
Sources: Microsoft Learn, "Manage emergency access accounts in Microsoft Entra ID," https://learn.microsoft.com/entra/identity/role-based-access-control/security-emergency-access (accessed Oct 30, 2026). · Microsoft Learn, "What are non-interactive user sign-ins in Microsoft Entra?," log details and special considerations, https://learn.microsoft.com/entra/identity/monitoring-health/concept-noninteractive-sign-ins (accessed Oct 31, 2026). · Microsoft Learn, "What are the identity logs you can stream to an endpoint?," activity log options, https://learn.microsoft.com/entra/identity/monitoring-health/concept-diagnostic-settings-logs-options (accessed Oct 30, 2026). · Microsoft Learn, "AADNonInteractiveUserSignInLogs" (Azure Monitor table reference), https://learn.microsoft.com/azure/azure-monitor/reference/tables/aadnoninteractiveusersigninlogs (accessed Oct 30, 2026). · Microsoft Learn, "AuditLogs" (Azure Monitor table reference), columns, https://learn.microsoft.com/azure/azure-monitor/reference/tables/auditlogs (accessed Oct 30, 2026).
Workbook: Building Privileged Access, Chapter 02 — “What it leaves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code add? Four commands and an entry script, added to the module from Chapter 1. One checks the accounts against the standard. One writes the alert query from the account IDs. One wraps that query in a deployable template, without deploying it. And one runs the same match over exported rows, so you can review a drill offline. Two small files drive it: one names the accounts and their exclusion group by object ID, and one records every drill. It reuses Chapter 1's reader, so it only ever reads.
Detail: This chapter adds Test-PaEmergencyAccess, Get-PaEmergencyQuery, New-PaEmergencyAlertRule and Find-PaEmergencyActivity to the module from Chapter 01, and the entry script Invoke-PaEmergencyCheck.ps1. It uses the same reader: declared calls only, GET only, the cloud's own host, every page. emergency-access.json names the accounts and the exclusion group by object ID, with optional minimumAccounts (2) and maxValidationAgeDays (90). Read-PaEmergencyConfig refuses a UPN where an ID belongs. emergency-validations.csv records each drill: account, date, result and ticket. Learn's 90 days and two accounts are the defaults.
Sources: Microsoft Learn, "Manage emergency access accounts in Microsoft Entra ID," https://learn.microsoft.com/entra/identity/role-based-access-control/security-emergency-access (accessed Oct 30, 2026).
Workbook: Building Privileged Access, Chapter 02 — “The code: examples/privileged-access” — “The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ten rules the check applies on every run. Most come straight from Learn's standard: enough accounts, the right domain, cloud-only, Global Administrator held permanently and directly, the right sign-in methods, membership in the exclusion group, and a passing drill in the last ninety days. Two are the program's own design, and they're labeled that way: a disabled emergency account is a finding, and so is anyone in the exclusion group who isn't an emergency account, because everyone in that group skips every policy. The full wording is on the slide.
Detail: Test-PaEmergencyAccess reads each account, its methods, its active role assignments, the exclusion group and every Conditional Access policy, and reports: PA-EA-01 Finding, fewer than two accounts configured (Learn). PA-EA-02 Finding, an account not on *.onmicrosoft.com (Learn). PA-EA-03 Finding, an account synchronized from on-premises (Learn). PA-EA-04 Finding, a disabled account (design guidance). PA-EA-05 Finding, Global Administrator not active, permanent and direct: eligible only, time-bound, activated or inherited (Learn). PA-EA-06 Finding and Warn: a registered phone, Microsoft Authenticator, software OATH, email or Temporary Access Pass method is a Finding; no passkey registered, so confirm certificate-based authentication, is a Warn (Learn: passkey or CBA, and no MFA registered to an individual's device). PA-EA-07 Finding, an account not in the exclusion group (Learn). PA-EA-08 Finding and Info: an enforced policy that doesn't exclude an account, through the group or directly, is a Finding; a report-only policy that doesn't exclude the group is Info (Learn: report-only policies need no exclusion; design guidance for treating every enforced policy as one that restricts). PA-EA-09 Finding, no passing validation, or the last one older than 90 days (Learn). PA-EA-10 Finding, a member of the exclusion group that isn't an emergency account (design guidance: everyone in that group skips every policy).
Sources: Microsoft Learn, "Manage emergency access accounts in Microsoft Entra ID," https://learn.microsoft.com/entra/identity/role-based-access-control/security-emergency-access (accessed Oct 30, 2026).
Workbook: Building Privileged Access, Chapter 02 — “The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rule needs a closer look. Learn says to exclude the emergency accounts from policies that block or restrict sign-in. Deciding which policies do that is a judgment, and the code shouldn't make judgments, so it checks every enforced policy instead. The sources also disagree in two places, and the chapter records both so nobody quietly loosens the code later. Report-only policies are reported as information, not failures. And whether the accounts belong to individuals is something Graph can't see, so the program's position stays Book 04's.
Detail: PA-EA-08 checks every enforced policy rather than deciding which ones "block or restrict," the same rule Book 04, Chapter 10's pre-merge check applies to the repository's policy files. Reading which policies restrict sign-in is a judgment the code shouldn't make. The two differ on report-only policies: Book 04, Chapter 10's check fails them too, while Learn and Book 04, Chapter 04 say they need no exclusion. The code follows Learn and reports them as Info and asks for the exclusion before enforcement (research gaps, row 5). Learn's report-only page doesn't mention emergency accounts; it warns that report-only policies requiring a compliant device can prompt users on macOS, iOS and Android to select a device certificate, and says to exclude those platforms from such policies. Individual emergency accounts: Learn allows individual emergency accounts for administrators as an alternative to shared ones. Book 04's standard says the accounts aren't tied to an individual. The code checks neither, because Graph can't tell; the program's position is Book 04's (design guidance).
Sources: Microsoft Learn, "Manage emergency access accounts in Microsoft Entra ID," https://learn.microsoft.com/entra/identity/role-based-access-control/security-emergency-access (accessed Oct 30, 2026). · Microsoft Learn, "Analyze Conditional Access policy impact" (report-only mode), overview and warning, https://learn.microsoft.com/entra/identity/conditional-access/concept-conditional-access-report-only (accessed Oct 31, 2026).
Workbook: Building Privileged Access, Chapter 02 — “The check”; “Verified facts” — the two places where the sources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alert. The query has three legs: interactive sign-ins, non-interactive sign-ins, and audit events where an emergency account is the actor or the target. It deliberately doesn't use a fuzzy union, because if a table never arrives, a fuzzy union returns nothing, and silence looks like safety. The template keeps Learn's settings, severity zero and any result fires, and checks that it points at a real workspace and action group. It deploys nothing; that's the reviewed pipeline's job. And remember the two prerequisites: the logs have to be sent, and the license has to be there.
Detail: Get-PaEmergencyQuery writes one query from the account IDs: Learn's SigninLogs filter, the same filter on AADNonInteractiveUserSignInLogs, and AuditLogs rows where an account is the initiator or a target. It doesn't use union isfuzzy=true, so a table that the diagnostic setting doesn't send makes the query fail rather than return nothing (design guidance). New-PaEmergencyAlertRule wraps it in an ARM template for Microsoft.Insights/scheduledQueryRules, API version 2023-12-01, kind LogAlert: severity 0 and a static threshold of greater than 0, as Learn's procedure sets; a Count aggregation, evaluated every 5 minutes over a 5-minute window (design guidance; Learn leaves the frequency to you); the workspace as its scope and the action group you name. It checks that the scope is a Log Analytics workspace and the action group is one. It returns the template and deploys nothing: deployment is the reviewed pipeline's job, and Lab 2's. The alert's data has two prerequisites outside the code. The tenant's diagnostic setting must send AuditLogs, SignInLogs and NonInteractiveUserSignInLogs to the workspace, which needs at least Security Administrator, and analyzing sign-in logs in Log Analytics needs Microsoft Entra ID P1 or P2. Find-PaEmergencyActivity applies the same match to exported rows offline, for a lab, a drill review or a comparison with another query. It is not a KQL engine.
Sources: Microsoft Learn, "Microsoft.Insights scheduledQueryRules 2023-12-01" (ARM template reference), https://learn.microsoft.com/azure/templates/microsoft.insights/2023-12-01/scheduledqueryrules (accessed Oct 30, 2026). · Microsoft Learn, "Manage emergency access accounts in Microsoft Entra ID," https://learn.microsoft.com/entra/identity/role-based-access-control/security-emergency-access (accessed Oct 30, 2026). · Microsoft Learn, "Integrate Microsoft Entra logs with Azure Monitor logs," prerequisites and send logs to Azure Monitor, https://learn.microsoft.com/entra/identity/monitoring-health/howto-integrate-activity-logs-with-azure-monitor-logs (accessed Oct 30, 2026). · Microsoft Learn, "What are the identity logs you can stream to an endpoint?," activity log options, https://learn.microsoft.com/entra/identity/monitoring-health/concept-diagnostic-settings-logs-options (accessed Oct 30, 2026). · Microsoft Learn, "Analyze Microsoft Entra activity logs with Log Analytics," prerequisites, https://learn.microsoft.com/entra/identity/monitoring-health/howto-analyze-activity-logs-log-analytics (accessed Oct 30, 2026).
Workbook: Building Privileged Access, Chapter 02 — “The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Three groups. Developers build it. The identity engineers own the accounts, the exclusion group and the record of every drill. And security operations receive the alert, and hear about each drill before it happens. The reader app gets six Graph permissions, each the least privileged for its call, and nothing more. Two of those choices are worth noticing: reading whether an account is enabled or synchronized needs the full user read permission, because those properties aren't in the basic profile.
Detail: Audience: developers who build the project's foundation, the identity engineers who own the accounts, and the security operations staff who receive the alert. You should read PowerShell 7 and KQL. You don't need a tenant until Lab 2. The check needs six permissions, each the least-privileged for its call: get a user (accountEnabled, onPremisesSyncEnabled) needs User.Read.All, because neither property is in the basic profile; list a user's authentication methods needs UserAuthenticationMethod.Read.All, with Global Reader, Authentication Administrator or Privileged Authentication Administrator as the delegated role; list roleAssignmentScheduleInstances, filtered by principal, needs RoleAssignmentSchedule.Read.Directory, with Global Reader (read); list the exclusion group's members needs GroupMember.ReadBasic.All, with User.ReadBasic.All for members' names; list Conditional Access policies needs Policy.Read.All, with Global Reader or Security Reader.
Sources: Microsoft Learn, "Get a user," permissions, https://learn.microsoft.com/graph/api/user-get?view=graph-rest-1.0 (accessed Oct 30, 2026). · Microsoft Learn, "Working with users in Microsoft Graph," user basic profile properties, https://learn.microsoft.com/graph/api/resources/users?view=graph-rest-1.0 (accessed Oct 30, 2026). · Microsoft Learn, "List methods," permissions acting on other users, https://learn.microsoft.com/graph/api/authentication-list-methods?view=graph-rest-1.0 (accessed Oct 30, 2026). · Microsoft Learn, "List fido2AuthenticationMethod," https://learn.microsoft.com/graph/api/fido2authenticationmethod-list?view=graph-rest-1.0 (accessed Oct 30, 2026). · Microsoft Learn, "List roleAssignmentScheduleInstances," https://learn.microsoft.com/graph/api/rbacapplication-list-roleassignmentscheduleinstances?view=graph-rest-1.0 (accessed Oct 30, 2026). · Microsoft Learn, "List group members," permissions, https://learn.microsoft.com/graph/api/group-list-members?view=graph-rest-1.0 (accessed Oct 30, 2026). · Microsoft Learn, "List policies" (conditionalAccessRoot), https://learn.microsoft.com/graph/api/conditionalaccessroot-list-policies?view=graph-rest-1.0 (accessed Oct 30, 2026; read for the validation kit's VK-CA-01).
Workbook: Building Privileged Access, Chapter 02 — “Goal and audience”; “The check” —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nothing but a laptop: PowerShell 7 and Pester, no tenant and no network. First you run Learn's own queries over the fictional export, and the tests show what you'd otherwise have to take on trust: of five emergency events, the sample finds two. Then you list the six permissions, and run the check against a fictional tenant. It reports nine findings, no warnings and one informational item, and it writes the alert template for review. Next, let's read those findings.
Detail: You need PowerShell 7.1 or later with Pester 5. Work in examples/privileged-access. Step 1, run Learn's queries over the export: Invoke-Pester -Path tests/MicrosoftSamples.Tests.ps1 -FullNameFilter '*Chapter 02*' -Output None -PassThru | Select-Object PassedCount, FailedCount gives PassedCount 7, FailedCount 0. Read the third to fifth tests: of five emergency events in the export, Learn's two-ID query finds the two interactive sign-ins. Step 2, list the permissions the check needs: Import-Module ./powershell/PrivilegedAccess/PrivilegedAccess.psm1, then (Get-PaRequiredPermission -Task emergency-access).GraphPermissions -join ', ' gives GroupMember.ReadBasic.All, Policy.Read.All, RoleAssignmentSchedule.Read.Directory, User.Read.All, User.ReadBasic.All, UserAuthenticationMethod.Read.All. Step 3, check the fictional tenant's accounts and write the alert template: ./Invoke-PaEmergencyCheck.ps1 with -FixturePath tests/fixtures/tenant.json, -ConfigPath tests/fixtures/inputs/emergency-access.json, -ValidationsPath tests/fixtures/inputs/emergency-validations.csv, -AsOf 2026-10-30, -OutputPath out/emergency, a fictional -WorkspaceResourceId and -ActionGroupResourceId, and -Location eastus. Output: "Emergency access: 9 Finding, 0 Warn, 1 Info"; "Alert rule written to emergency-alert.json for review; deploy it with your reviewed pipeline"; "Written to out/emergency (manifest.json lists every request and file hash)." The commands run Learn's pinned queries over fictional rows, and the example against a fictional tenant served by a fake; they show what the code does, not that a workspace or a tenant returns the same shapes.
Sources: Building Privileged Access, Chapter 02, docs/project-plans/developer-workbooks/privileged-access/02-emergency-access-as-code.md
Workbook: Building Privileged Access, Chapter 02 — “Lab 1: fixtures, no tenant,” steps 1–3;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findings is where the rules become real. One fictional account passes. The other fails five different ways, from the wrong domain to an expiring Global Administrator assignment. Three enforced policies don't exclude the accounts, and someone who shouldn't be there is sitting in the exclusion group. Then the offline match finds all five emergency events, where the sample found two, and ignores an ordinary user's sign-in. Finally you try to feed it a user name instead of an ID, and it refuses. Run the whole suite, and three hundred thirty tests pass.
Detail: Step 4, read the findings: Get-Content out/emergency/findings.json -Raw | ConvertFrom-Json | Format-Table Rule, Severity, Object. ea01 passes. ea02 fails five ways: PA-EA-02 (it's on contoso.example), PA-EA-05 (its Global Administrator assignment ends on December 31), PA-EA-06 (a phone method), PA-EA-07 (not in the exclusion group) and PA-EA-09 (last validated May 1). PA-EA-08 names three enforced policies, CA001-All-Block-legacy-authentication, CA004-Admins-Require-compliant-device and PIM-Activation-c1, and reports the report-only CA090-Emergency-accounts-Report-sign-ins as Info. PA-EA-10 names carl.ops@contoso.example, who is in the exclusion group and shouldn't be. Step 5, match the same export with the example's rule: Find-PaEmergencyActivity -Rows $rows -AccountId (the two fictional object IDs) returns five rows: two from SigninLogs, one from AADNonInteractiveUserSignInLogs, and two from AuditLogs (Add member to role, initiated by ea02, and User registered security info, which targets ea01). Dana's ordinary sign-in isn't matched. Step 6, see the guards: Get-PaEmergencyQuery -AccountId ea01@contosoexample.onmicrosoft.com returns "'ea01@contosoexample.onmicrosoft.com' isn't an object ID"; the template's type, apiVersion and severity read Microsoft.Insights/scheduledQueryRules | 2023-12-01 | 0. Step 7, Invoke-Pester -Path tests. Expected result: 330 tests passing, and each row of the gap table seen with your own eyes. Delete out when you're done. The chapter's own tests: 7 in the Chapter 02 block of tests/MicrosoftSamples.Tests.ps1 and 29 in tests/EmergencyAccess.Tests.ps1; with Chapter 01's, 78 Pester tests pass under PowerShell 7, with no module, tenant or network.
Sources: Building Privileged Access, Chapter 02, docs/project-plans/developer-workbooks/privileged-access/02-emergency-access-as-code.md
Workbook: Building Privileged Access, Chapter 02 — “Lab 1: fixtures, no tenant,” steps 4–7;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never production. You send the three log categories to a test workspace, register a reader app with exactly the six permissions, and run the check for real. Then the important step: paste the query into the workspace and run it by hand, because an error that names a table tells you the logs aren't arriving. After that you deploy the reviewed template, sign in once with a test emergency account, and watch the alert land. Record the drill, and the ninety-day finding clears. Then back everything out.
Detail: Use a test tenant in the worldwide or GCC cloud with a test Azure subscription, never production. If the test tenant's emergency accounts are real, treat the drill in step 5 as Learn's validation drill: tell security operations first, and record it. 1 Send the logs: as at least Security Administrator, add a diagnostic setting that sends AuditLogs, SignInLogs and NonInteractiveUserSignInLogs to a test Log Analytics workspace; wait for data to arrive. 2 Register the reader app in the worldwide admin center with a certificate, grant the six application permissions from Lab 1, step 2, with admin consent, and nothing else. 3 Run the check with the test accounts' IDs in your own emergency-access.json: Connect-MgGraph -Environment Global -TenantId &lt;tenant-id&gt; -ClientId &lt;app-id&gt; -CertificateThumbprint &lt;thumbprint&gt;, then ./Invoke-PaEmergencyCheck.ps1 -Cloud gcc -ConfigPath emergency-access.json -ValidationsPath emergency-validations.csv -OutputPath out/emergency-test with the workspace, action group, location and tenant. Create the action group first, in the portal as Learn describes, with a test mailbox. 4 Run the query by hand: paste the query from emergency-alert.json into the workspace's Logs and run it over the last day. It must run without an error; an error that names a table means the diagnostic setting doesn't send it (research gaps, row 8). 5 Deploy the alert and drill: review emergency-alert.json, deploy it as at least Monitoring Contributor with New-AzResourceGroupDeployment -ResourceGroupName &lt;test-rg&gt; -TemplateFile out/emergency-test/emergency-alert.json, then sign in with one test emergency account from the designated workstation and perform one administrative read. Within two evaluation periods the action group's mailbox should receive the alert. Record the drill in emergency-validations.csv and rerun step 3: PA-EA-09 clears for that account. 6 Back it out: delete the alert rule and the action group, remove the six permissions, delete the reader app and its certificate, remove the diagnostic setting if you created it for the lab, and delete out/emergency-test.
Sources: Microsoft Learn, "Manage emergency access accounts in Microsoft Entra ID," https://learn.microsoft.com/entra/identity/role-based-access-control/security-emergency-access (accessed Oct 30, 2026). · Microsoft Learn, "Integrate Microsoft Entra logs with Azure Monitor logs," prerequisites and send logs to Azure Monitor, https://learn.microsoft.com/entra/identity/monitoring-health/howto-integrate-activity-logs-with-azure-monitor-logs (accessed Oct 30, 2026).
Workbook: Building Privileged Access, Chapter 02 —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dangers has happened somewhere, and each has a guard in the code. The worst is the lockout, and the guard is simply that this check is the gate's test, on every run. The quietest is a fuzzy query over a table that never arrives: nothing fires, and silence looks like safety. Others are slower: an assignment that expires, a phone method tied to one person, an exclusion group that grows, or a drill nobody wrote down. Notice the pattern. Each guard is a rule that runs every time, not a person remembering.
Detail: Approval switched on before the accounts pass: the documented lockout; guard: the plan's Gate 1 needs "emergency access accounts tested," and this check is that test, every run. An alert copied from Learn with the placeholder IDs: it never fires; guard: placeholders and UPNs refused, IDs only from the configuration. An alert on interactive sign-ins only: a stolen session's token refreshes, and a method added to the account, go unseen; guard: non-interactive and audit legs, and tests pin the sample's misses. A table the workspace doesn't receive: a fuzzy union returns nothing, and silence looks like safety; guard: no isfuzzy, and Lab 2 runs the query by hand first. An exclusion group with extra members: someone else skips every Conditional Access policy; guard: PA-EA-10. A Global Administrator assignment that expires: the account stops working in the emergency it's for; guard: PA-EA-05 flags time-bound, activated and inherited assignments. A phone or app method on the account: it depends on one person's device; guard: PA-EA-06. A drill nobody records: no one knows whether the accounts still work; guard: PA-EA-09 from emergency-validations.csv. A deployed rule nobody reviewed: the alert is edited in the portal and drifts; guard: the template is code, and the planned Chapter 08 compares it with what's deployed. Emergency account names in output: findings name the accounts; the output folder is evidence, so delete lab copies.
Sources: Microsoft Learn, "Manage emergency access accounts in Microsoft Entra ID," https://learn.microsoft.com/entra/identity/role-based-access-control/security-emergency-access (accessed Oct 30, 2026).
Workbook: Building Privileged Access, Chapter 02 —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On the account side: at least two accounts named by ID, no findings, every enforced policy excluding a group that holds only those accounts, and a recorded drill in the last ninety days. On the alert side: the logs arrive, the query runs cleanly, the deployed rule matches the reviewed template, the reader holds exactly six permissions, and the pinned Learn page is still the one you reviewed. With the emergency accounts proven, Chapter 3 can safely build Conditional Access for administrators. Thanks for watching.
Detail: Checklist: emergency-access.json lists two or more accounts and the exclusion group by object ID, and matches exceptions.csv from Chapter 01. The run shows no Finding for any emergency account, and every PA-EA-06 Warn has CBA confirmed. Every enforced Conditional Access policy excludes the group, and the group holds only the emergency accounts. Every account has a passing validation within 90 days, with its ticket. The diagnostic setting sends AuditLogs, SignInLogs and NonInteractiveUserSignInLogs, and the query ran without error in the workspace. The deployed alert matches emergency-alert.json, with severity 0, threshold greater than 0, and the security operations action group. The reader app holds exactly the six Graph permissions, with a certificate or managed identity. The pinned Learn page matches its manifest, and every upstream commit since the pin has been reviewed. Next: Chapter 03 — Conditional Access for Administrators and the Activation Gate.
Sources: Microsoft Learn, "Manage emergency access accounts in Microsoft Entra ID," https://learn.microsoft.com/entra/identity/role-based-access-control/security-emergency-access (accessed Oct 30, 2026).
Workbook: Building Privileged Access, Chapter 02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docs/project-plans/developer-workbooks/privileged-access/02-emergency-access-as-code.md.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docs/project-plans/developer-workbooks/privileged-access/02-emergency-access-as-code.md.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Privileged Access  ·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02: Emergency Access Accounts as Code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Privileged Access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Why first · Learn's sample and its gaps · the check and the alert · who runs it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the emergency accounts come first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Approval switched on before the emergency accounts exist is the documented lockout.</a:t>
            </a:r>
            <a:endParaRPr lang="en-US" sz="1800" dirty="0"/>
          </a:p>
        </p:txBody>
      </p:sp>
      <p:sp>
        <p:nvSpPr>
          <p:cNvPr id="6" name="Panel The lockout" descr="">
            <a:extLst>
              <a:ext uri="{C183D7F6-B498-43B3-948B-1728B52AA6E4}">
                <adec:decorative xmlns:adec="http://schemas.microsoft.com/office/drawing/2017/decorative" val="1"/>
              </a:ext>
            </a:extLst>
          </p:cNvPr>
          <p:cNvSpPr/>
          <p:nvPr/>
        </p:nvSpPr>
        <p:spPr>
          <a:xfrm>
            <a:off x="548640" y="1837944"/>
            <a:ext cx="5417820" cy="2889504"/>
          </a:xfrm>
          <a:prstGeom prst="roundRect">
            <a:avLst>
              <a:gd name="adj" fmla="val 2532"/>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Panel The lockout label"/>
          <p:cNvSpPr txBox="1"/>
          <p:nvPr/>
        </p:nvSpPr>
        <p:spPr>
          <a:xfrm>
            <a:off x="731520" y="1947672"/>
            <a:ext cx="5052060" cy="274320"/>
          </a:xfrm>
          <a:prstGeom prst="rect">
            <a:avLst/>
          </a:prstGeom>
          <a:noFill/>
          <a:ln/>
        </p:spPr>
        <p:txBody>
          <a:bodyPr wrap="square" lIns="0" tIns="0" rIns="0" bIns="0" rtlCol="0" anchor="t"/>
          <a:lstStyle/>
          <a:p>
            <a:pPr indent="0" marL="0">
              <a:buNone/>
            </a:pPr>
            <a:r>
              <a:rPr lang="en-US" sz="1100" b="1" spc="50" kern="0" dirty="0">
                <a:solidFill>
                  <a:srgbClr val="B91C1C"/>
                </a:solidFill>
              </a:rPr>
              <a:t>THE LOCKOUT</a:t>
            </a:r>
            <a:endParaRPr lang="en-US" sz="1100" dirty="0"/>
          </a:p>
        </p:txBody>
      </p:sp>
      <p:sp>
        <p:nvSpPr>
          <p:cNvPr id="8" name="Panel The lockout list"/>
          <p:cNvSpPr txBox="1"/>
          <p:nvPr/>
        </p:nvSpPr>
        <p:spPr>
          <a:xfrm>
            <a:off x="731520" y="2249424"/>
            <a:ext cx="5097780" cy="2432304"/>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Learn's case: every Global Administrator and Privileged Role Administrator eligible, approval required, no approvers selected</a:t>
            </a:r>
            <a:endParaRPr lang="en-US" sz="1650" dirty="0"/>
          </a:p>
          <a:p>
            <a:pPr marL="342900" indent="-342900">
              <a:spcAft>
                <a:spcPts val="400"/>
              </a:spcAft>
              <a:buSzPct val="100000"/>
              <a:buChar char="•"/>
            </a:pPr>
            <a:r>
              <a:rPr lang="en-US" sz="1650" dirty="0">
                <a:solidFill>
                  <a:srgbClr val="334155"/>
                </a:solidFill>
              </a:rPr>
              <a:t>No one can approve, so no one can administer</a:t>
            </a:r>
            <a:endParaRPr lang="en-US" sz="1650" dirty="0"/>
          </a:p>
          <a:p>
            <a:pPr marL="342900" indent="-342900">
              <a:spcAft>
                <a:spcPts val="400"/>
              </a:spcAft>
              <a:buSzPct val="100000"/>
              <a:buChar char="•"/>
            </a:pPr>
            <a:r>
              <a:rPr lang="en-US" sz="1650" dirty="0">
                <a:solidFill>
                  <a:srgbClr val="334155"/>
                </a:solidFill>
              </a:rPr>
              <a:t>Book 04, Chapter 08's Step 0 is the one step that can't move; the plan's critical path says the same</a:t>
            </a:r>
            <a:endParaRPr lang="en-US" sz="1650" dirty="0"/>
          </a:p>
        </p:txBody>
      </p:sp>
      <p:sp>
        <p:nvSpPr>
          <p:cNvPr id="9" name="Panel The exception" descr="">
            <a:extLst>
              <a:ext uri="{C183D7F6-B498-43B3-948B-1728B52AA6E4}">
                <adec:decorative xmlns:adec="http://schemas.microsoft.com/office/drawing/2017/decorative" val="1"/>
              </a:ext>
            </a:extLst>
          </p:cNvPr>
          <p:cNvSpPr/>
          <p:nvPr/>
        </p:nvSpPr>
        <p:spPr>
          <a:xfrm>
            <a:off x="6240780" y="1837944"/>
            <a:ext cx="5417820" cy="2889504"/>
          </a:xfrm>
          <a:prstGeom prst="roundRect">
            <a:avLst>
              <a:gd name="adj" fmla="val 253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Panel The exception label"/>
          <p:cNvSpPr txBox="1"/>
          <p:nvPr/>
        </p:nvSpPr>
        <p:spPr>
          <a:xfrm>
            <a:off x="6423660" y="1947672"/>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EXCEPTION</a:t>
            </a:r>
            <a:endParaRPr lang="en-US" sz="1100" dirty="0"/>
          </a:p>
        </p:txBody>
      </p:sp>
      <p:sp>
        <p:nvSpPr>
          <p:cNvPr id="11" name="Panel The exception list"/>
          <p:cNvSpPr txBox="1"/>
          <p:nvPr/>
        </p:nvSpPr>
        <p:spPr>
          <a:xfrm>
            <a:off x="6423660" y="2249424"/>
            <a:ext cx="5097780" cy="2432304"/>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The program's goal: zero permanently active assignments</a:t>
            </a:r>
            <a:endParaRPr lang="en-US" sz="1650" dirty="0"/>
          </a:p>
          <a:p>
            <a:pPr marL="342900" indent="-342900">
              <a:spcAft>
                <a:spcPts val="400"/>
              </a:spcAft>
              <a:buSzPct val="100000"/>
              <a:buChar char="•"/>
            </a:pPr>
            <a:r>
              <a:rPr lang="en-US" sz="1650" dirty="0">
                <a:solidFill>
                  <a:srgbClr val="334155"/>
                </a:solidFill>
              </a:rPr>
              <a:t>Its main documented exception: the emergency access accounts</a:t>
            </a:r>
            <a:endParaRPr lang="en-US" sz="1650" dirty="0"/>
          </a:p>
          <a:p>
            <a:pPr marL="342900" indent="-342900">
              <a:spcAft>
                <a:spcPts val="400"/>
              </a:spcAft>
              <a:buSzPct val="100000"/>
              <a:buChar char="•"/>
            </a:pPr>
            <a:r>
              <a:rPr lang="en-US" sz="1650" dirty="0">
                <a:solidFill>
                  <a:srgbClr val="334155"/>
                </a:solidFill>
              </a:rPr>
              <a:t>Chapter 01's inventory reports them as Info only because exceptions.csv names them</a:t>
            </a:r>
            <a:endParaRPr lang="en-US" sz="1650" dirty="0"/>
          </a:p>
          <a:p>
            <a:pPr marL="342900" indent="-342900">
              <a:spcAft>
                <a:spcPts val="400"/>
              </a:spcAft>
              <a:buSzPct val="100000"/>
              <a:buChar char="•"/>
            </a:pPr>
            <a:r>
              <a:rPr lang="en-US" sz="1650" dirty="0">
                <a:solidFill>
                  <a:srgbClr val="334155"/>
                </a:solidFill>
              </a:rPr>
              <a:t>This chapter proves the exception is what it claims to be</a:t>
            </a:r>
            <a:endParaRPr lang="en-US" sz="16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Manage emergency access accounts; Learn, Plan a PIM deployment; Book 04, Ch 08 Step 0. Chapter 02, “Why this comes first.”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Which cloud: Graph host, alert subscription, methods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564892"/>
        </p:xfrm>
        <a:graphic>
          <a:graphicData uri="http://schemas.openxmlformats.org/drawingml/2006/table">
            <a:tbl>
              <a:tblPr firstRow="1" bandRow="1"/>
              <a:tblGrid>
                <a:gridCol w="2144027"/>
                <a:gridCol w="4872789"/>
                <a:gridCol w="4093143"/>
              </a:tblGrid>
              <a:tr h="345948">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Piece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Microsoft 365 GCC with commercial Azure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GCC High and DoD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The check reads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Microsoft Graph at graph.microsoft.com</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graph.microsoft.us (GCC High); dod-graph.microsoft.us (DoD)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105460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The alert runs in</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Azure Monitor, over the Log Analytics workspace that receives the Entra logs, in a commercial subscription through management.azure.com</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The same template, which names no host, deploys in Azure Government; full availability not confirmed (research gaps, row 7)</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Account methods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Passkeys (FIDO2) and certificate-based authentication</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Both available in Azure for US Government</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073652"/>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749808" y="4146804"/>
            <a:ext cx="606552" cy="606552"/>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292376"/>
            <a:ext cx="315407" cy="315407"/>
          </a:xfrm>
          <a:prstGeom prst="rect">
            <a:avLst/>
          </a:prstGeom>
        </p:spPr>
      </p:pic>
      <p:sp>
        <p:nvSpPr>
          <p:cNvPr id="9" name="Callout text"/>
          <p:cNvSpPr txBox="1"/>
          <p:nvPr/>
        </p:nvSpPr>
        <p:spPr>
          <a:xfrm>
            <a:off x="1600200" y="4128516"/>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For this estate: </a:t>
            </a:r>
            <a:pPr indent="0" marL="0">
              <a:buNone/>
            </a:pPr>
            <a:r>
              <a:rPr lang="en-US" sz="1750" dirty="0">
                <a:solidFill>
                  <a:srgbClr val="334155"/>
                </a:solidFill>
              </a:rPr>
              <a:t>the estate's tenant is GCC on the worldwide endpoints, so the check reads graph.microsoft.com and the alert lives in a commercial Azure subscription.</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Microsoft Graph national cloud deployments; Learn, Microsoft Entra feature availability. Chapter 02, “Which cloud, for this check and this alert.”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Microsoft's standard for emergency access accounts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The accounts" descr="">
            <a:extLst>
              <a:ext uri="{C183D7F6-B498-43B3-948B-1728B52AA6E4}">
                <adec:decorative xmlns:adec="http://schemas.microsoft.com/office/drawing/2017/decorative" val="1"/>
              </a:ext>
            </a:extLst>
          </p:cNvPr>
          <p:cNvSpPr/>
          <p:nvPr/>
        </p:nvSpPr>
        <p:spPr>
          <a:xfrm>
            <a:off x="548640" y="1325880"/>
            <a:ext cx="5417820" cy="2828544"/>
          </a:xfrm>
          <a:prstGeom prst="roundRect">
            <a:avLst>
              <a:gd name="adj" fmla="val 258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account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ACCOUNTS</a:t>
            </a:r>
            <a:endParaRPr lang="en-US" sz="1100" dirty="0"/>
          </a:p>
        </p:txBody>
      </p:sp>
      <p:sp>
        <p:nvSpPr>
          <p:cNvPr id="7" name="Panel The accounts list"/>
          <p:cNvSpPr txBox="1"/>
          <p:nvPr/>
        </p:nvSpPr>
        <p:spPr>
          <a:xfrm>
            <a:off x="731520" y="1737360"/>
            <a:ext cx="5097780" cy="2371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Two or more cloud-only accounts on *.onmicrosoft.com, neither federated nor synchronized</a:t>
            </a:r>
            <a:endParaRPr lang="en-US" sz="1600" dirty="0"/>
          </a:p>
          <a:p>
            <a:pPr marL="342900" indent="-342900">
              <a:spcAft>
                <a:spcPts val="400"/>
              </a:spcAft>
              <a:buSzPct val="100000"/>
              <a:buChar char="•"/>
            </a:pPr>
            <a:r>
              <a:rPr lang="en-US" sz="1600" dirty="0">
                <a:solidFill>
                  <a:srgbClr val="334155"/>
                </a:solidFill>
              </a:rPr>
              <a:t>Passkey (FIDO2) or certificate-based authentication, different from normal admins' methods</a:t>
            </a:r>
            <a:endParaRPr lang="en-US" sz="1600" dirty="0"/>
          </a:p>
          <a:p>
            <a:pPr marL="342900" indent="-342900">
              <a:spcAft>
                <a:spcPts val="400"/>
              </a:spcAft>
              <a:buSzPct val="100000"/>
              <a:buChar char="•"/>
            </a:pPr>
            <a:r>
              <a:rPr lang="en-US" sz="1600" dirty="0">
                <a:solidFill>
                  <a:srgbClr val="334155"/>
                </a:solidFill>
              </a:rPr>
              <a:t>Global Administrator assigned active and permanent in PIM</a:t>
            </a:r>
            <a:endParaRPr lang="en-US" sz="1600" dirty="0"/>
          </a:p>
          <a:p>
            <a:pPr marL="342900" indent="-342900">
              <a:spcAft>
                <a:spcPts val="400"/>
              </a:spcAft>
              <a:buSzPct val="100000"/>
              <a:buChar char="•"/>
            </a:pPr>
            <a:r>
              <a:rPr lang="en-US" sz="1600" dirty="0">
                <a:solidFill>
                  <a:srgbClr val="334155"/>
                </a:solidFill>
              </a:rPr>
              <a:t>Excluded from policies that block or restrict sign-in, through one dedicated group</a:t>
            </a:r>
            <a:endParaRPr lang="en-US" sz="1600" dirty="0"/>
          </a:p>
        </p:txBody>
      </p:sp>
      <p:sp>
        <p:nvSpPr>
          <p:cNvPr id="8" name="Panel Running them" descr="">
            <a:extLst>
              <a:ext uri="{C183D7F6-B498-43B3-948B-1728B52AA6E4}">
                <adec:decorative xmlns:adec="http://schemas.microsoft.com/office/drawing/2017/decorative" val="1"/>
              </a:ext>
            </a:extLst>
          </p:cNvPr>
          <p:cNvSpPr/>
          <p:nvPr/>
        </p:nvSpPr>
        <p:spPr>
          <a:xfrm>
            <a:off x="6240780" y="1325880"/>
            <a:ext cx="5417820" cy="2828544"/>
          </a:xfrm>
          <a:prstGeom prst="roundRect">
            <a:avLst>
              <a:gd name="adj" fmla="val 258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Running them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RUNNING THEM</a:t>
            </a:r>
            <a:endParaRPr lang="en-US" sz="1100" dirty="0"/>
          </a:p>
        </p:txBody>
      </p:sp>
      <p:sp>
        <p:nvSpPr>
          <p:cNvPr id="10" name="Panel Running them list"/>
          <p:cNvSpPr txBox="1"/>
          <p:nvPr/>
        </p:nvSpPr>
        <p:spPr>
          <a:xfrm>
            <a:off x="6423660" y="1737360"/>
            <a:ext cx="5097780" cy="2371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Report-only policies need no exclusion</a:t>
            </a:r>
            <a:endParaRPr lang="en-US" sz="1600" dirty="0"/>
          </a:p>
          <a:p>
            <a:pPr marL="342900" indent="-342900">
              <a:spcAft>
                <a:spcPts val="400"/>
              </a:spcAft>
              <a:buSzPct val="100000"/>
              <a:buChar char="•"/>
            </a:pPr>
            <a:r>
              <a:rPr lang="en-US" sz="1600" dirty="0">
                <a:solidFill>
                  <a:srgbClr val="334155"/>
                </a:solidFill>
              </a:rPr>
              <a:t>Credentials and devices that don't expire</a:t>
            </a:r>
            <a:endParaRPr lang="en-US" sz="1600" dirty="0"/>
          </a:p>
          <a:p>
            <a:pPr marL="342900" indent="-342900">
              <a:spcAft>
                <a:spcPts val="400"/>
              </a:spcAft>
              <a:buSzPct val="100000"/>
              <a:buChar char="•"/>
            </a:pPr>
            <a:r>
              <a:rPr lang="en-US" sz="1600" dirty="0">
                <a:solidFill>
                  <a:srgbClr val="334155"/>
                </a:solidFill>
              </a:rPr>
              <a:t>Sign-in and audit logs monitored, with alerts</a:t>
            </a:r>
            <a:endParaRPr lang="en-US" sz="1600" dirty="0"/>
          </a:p>
          <a:p>
            <a:pPr marL="342900" indent="-342900">
              <a:spcAft>
                <a:spcPts val="400"/>
              </a:spcAft>
              <a:buSzPct val="100000"/>
              <a:buChar char="•"/>
            </a:pPr>
            <a:r>
              <a:rPr lang="en-US" sz="1600" dirty="0">
                <a:solidFill>
                  <a:srgbClr val="334155"/>
                </a:solidFill>
              </a:rPr>
              <a:t>Validated at least every 90 days, including no MFA or SSPR registered to a person's device</a:t>
            </a:r>
            <a:endParaRPr lang="en-US" sz="1600" dirty="0"/>
          </a:p>
        </p:txBody>
      </p:sp>
      <p:sp>
        <p:nvSpPr>
          <p:cNvPr id="11" name="Callout" descr="">
            <a:extLst>
              <a:ext uri="{C183D7F6-B498-43B3-948B-1728B52AA6E4}">
                <adec:decorative xmlns:adec="http://schemas.microsoft.com/office/drawing/2017/decorative" val="1"/>
              </a:ext>
            </a:extLst>
          </p:cNvPr>
          <p:cNvSpPr/>
          <p:nvPr/>
        </p:nvSpPr>
        <p:spPr>
          <a:xfrm>
            <a:off x="548640" y="4337304"/>
            <a:ext cx="11109960" cy="752856"/>
          </a:xfrm>
          <a:prstGeom prst="roundRect">
            <a:avLst>
              <a:gd name="adj" fmla="val 971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UserShield" descr="">
            <a:extLst>
              <a:ext uri="{C183D7F6-B498-43B3-948B-1728B52AA6E4}">
                <adec:decorative xmlns:adec="http://schemas.microsoft.com/office/drawing/2017/decorative" val="1"/>
              </a:ext>
            </a:extLst>
          </p:cNvPr>
          <p:cNvSpPr/>
          <p:nvPr/>
        </p:nvSpPr>
        <p:spPr>
          <a:xfrm>
            <a:off x="749808" y="4410456"/>
            <a:ext cx="606552" cy="606552"/>
          </a:xfrm>
          <a:prstGeom prst="ellipse">
            <a:avLst/>
          </a:prstGeom>
          <a:solidFill>
            <a:srgbClr val="1F2A44"/>
          </a:solidFill>
          <a:ln w="12700">
            <a:solidFill>
              <a:srgbClr val="1F2A44"/>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556028"/>
            <a:ext cx="315407" cy="315407"/>
          </a:xfrm>
          <a:prstGeom prst="rect">
            <a:avLst/>
          </a:prstGeom>
        </p:spPr>
      </p:pic>
      <p:sp>
        <p:nvSpPr>
          <p:cNvPr id="14" name="Callout text"/>
          <p:cNvSpPr txBox="1"/>
          <p:nvPr/>
        </p:nvSpPr>
        <p:spPr>
          <a:xfrm>
            <a:off x="1600200" y="4392168"/>
            <a:ext cx="9875520" cy="643128"/>
          </a:xfrm>
          <a:prstGeom prst="rect">
            <a:avLst/>
          </a:prstGeom>
          <a:noFill/>
          <a:ln/>
        </p:spPr>
        <p:txBody>
          <a:bodyPr wrap="square" lIns="0" tIns="0" rIns="0" bIns="0" rtlCol="0" anchor="ctr"/>
          <a:lstStyle/>
          <a:p>
            <a:pPr indent="0" marL="0">
              <a:buNone/>
            </a:pPr>
            <a:r>
              <a:rPr lang="en-US" sz="1750" b="1" dirty="0">
                <a:solidFill>
                  <a:srgbClr val="1F2A44"/>
                </a:solidFill>
              </a:rPr>
              <a:t>The program's version: </a:t>
            </a:r>
            <a:pPr indent="0" marL="0">
              <a:buNone/>
            </a:pPr>
            <a:r>
              <a:rPr lang="en-US" sz="1750" dirty="0">
                <a:solidFill>
                  <a:srgbClr val="334155"/>
                </a:solidFill>
              </a:rPr>
              <a:t>Book 04, Chapter 04 adopts the same standard and adds dual custody and a post-use review.</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Manage emergency access accounts in Microsoft Entra ID; Book 04, Ch 04, “Emergency access accounts.” Chapter 02,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Learn's sample alert, pinned and run offline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What the page gives" descr="">
            <a:extLst>
              <a:ext uri="{C183D7F6-B498-43B3-948B-1728B52AA6E4}">
                <adec:decorative xmlns:adec="http://schemas.microsoft.com/office/drawing/2017/decorative" val="1"/>
              </a:ext>
            </a:extLst>
          </p:cNvPr>
          <p:cNvSpPr/>
          <p:nvPr/>
        </p:nvSpPr>
        <p:spPr>
          <a:xfrm>
            <a:off x="548640" y="1325880"/>
            <a:ext cx="4876038" cy="2764536"/>
          </a:xfrm>
          <a:prstGeom prst="roundRect">
            <a:avLst>
              <a:gd name="adj" fmla="val 264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What the page gives label"/>
          <p:cNvSpPr txBox="1"/>
          <p:nvPr/>
        </p:nvSpPr>
        <p:spPr>
          <a:xfrm>
            <a:off x="731520" y="1435608"/>
            <a:ext cx="4510278"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THE PAGE GIVES</a:t>
            </a:r>
            <a:endParaRPr lang="en-US" sz="1100" dirty="0"/>
          </a:p>
        </p:txBody>
      </p:sp>
      <p:sp>
        <p:nvSpPr>
          <p:cNvPr id="7" name="Panel What the page gives list"/>
          <p:cNvSpPr txBox="1"/>
          <p:nvPr/>
        </p:nvSpPr>
        <p:spPr>
          <a:xfrm>
            <a:off x="731520" y="1737360"/>
            <a:ext cx="4555998" cy="230733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Three Azure Monitor queries: on one object ID, on two, and on a user principal name</a:t>
            </a:r>
            <a:endParaRPr lang="en-US" sz="1600" dirty="0"/>
          </a:p>
          <a:p>
            <a:pPr marL="342900" indent="-342900">
              <a:spcAft>
                <a:spcPts val="400"/>
              </a:spcAft>
              <a:buSzPct val="100000"/>
              <a:buChar char="•"/>
            </a:pPr>
            <a:r>
              <a:rPr lang="en-US" sz="1600" dirty="0">
                <a:solidFill>
                  <a:srgbClr val="334155"/>
                </a:solidFill>
              </a:rPr>
              <a:t>Portal steps for the log search alert rule and its action group</a:t>
            </a:r>
            <a:endParaRPr lang="en-US" sz="1600" dirty="0"/>
          </a:p>
          <a:p>
            <a:pPr marL="342900" indent="-342900">
              <a:spcAft>
                <a:spcPts val="400"/>
              </a:spcAft>
              <a:buSzPct val="100000"/>
              <a:buChar char="•"/>
            </a:pPr>
            <a:r>
              <a:rPr lang="en-US" sz="1600" dirty="0">
                <a:solidFill>
                  <a:srgbClr val="334155"/>
                </a:solidFill>
              </a:rPr>
              <a:t>Severity 0; threshold greater than 0: any result fires</a:t>
            </a:r>
            <a:endParaRPr lang="en-US" sz="1600" dirty="0"/>
          </a:p>
        </p:txBody>
      </p:sp>
      <p:sp>
        <p:nvSpPr>
          <p:cNvPr id="8" name="Panel The pinned copy" descr="">
            <a:extLst>
              <a:ext uri="{C183D7F6-B498-43B3-948B-1728B52AA6E4}">
                <adec:decorative xmlns:adec="http://schemas.microsoft.com/office/drawing/2017/decorative" val="1"/>
              </a:ext>
            </a:extLst>
          </p:cNvPr>
          <p:cNvSpPr/>
          <p:nvPr/>
        </p:nvSpPr>
        <p:spPr>
          <a:xfrm>
            <a:off x="5698998" y="1325880"/>
            <a:ext cx="5959602" cy="2764536"/>
          </a:xfrm>
          <a:prstGeom prst="roundRect">
            <a:avLst>
              <a:gd name="adj" fmla="val 264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pinned copy label"/>
          <p:cNvSpPr txBox="1"/>
          <p:nvPr/>
        </p:nvSpPr>
        <p:spPr>
          <a:xfrm>
            <a:off x="5881878" y="1435608"/>
            <a:ext cx="5593842"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PINNED COPY</a:t>
            </a:r>
            <a:endParaRPr lang="en-US" sz="1100" dirty="0"/>
          </a:p>
        </p:txBody>
      </p:sp>
      <p:sp>
        <p:nvSpPr>
          <p:cNvPr id="10" name="Panel The pinned copy list"/>
          <p:cNvSpPr txBox="1"/>
          <p:nvPr/>
        </p:nvSpPr>
        <p:spPr>
          <a:xfrm>
            <a:off x="5881878" y="1737360"/>
            <a:ext cx="5639562" cy="230733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The page's source pinned unmodified in examples/third_party/entra-emergency-access-page, at commit 07cb73d (Oct 30, 2026)</a:t>
            </a:r>
            <a:endParaRPr lang="en-US" sz="1600" dirty="0"/>
          </a:p>
          <a:p>
            <a:pPr marL="342900" indent="-342900">
              <a:spcAft>
                <a:spcPts val="400"/>
              </a:spcAft>
              <a:buSzPct val="100000"/>
              <a:buChar char="•"/>
            </a:pPr>
            <a:r>
              <a:rPr lang="en-US" sz="1600" dirty="0">
                <a:solidFill>
                  <a:srgbClr val="334155"/>
                </a:solidFill>
              </a:rPr>
              <a:t>snapshot.json holds each file's SHA-256; a unit test checks it, and the weekly source watch reports new commits</a:t>
            </a:r>
            <a:endParaRPr lang="en-US" sz="1600" dirty="0"/>
          </a:p>
          <a:p>
            <a:pPr marL="342900" indent="-342900">
              <a:spcAft>
                <a:spcPts val="400"/>
              </a:spcAft>
              <a:buSzPct val="100000"/>
              <a:buChar char="•"/>
            </a:pPr>
            <a:r>
              <a:rPr lang="en-US" sz="1600" dirty="0">
                <a:solidFill>
                  <a:srgbClr val="334155"/>
                </a:solidFill>
              </a:rPr>
              <a:t>LearnSampleHarness.ps1 runs the queries' filters over six fictional rows; any other query shape throws</a:t>
            </a:r>
            <a:endParaRPr lang="en-US" sz="1600" dirty="0"/>
          </a:p>
        </p:txBody>
      </p:sp>
      <p:sp>
        <p:nvSpPr>
          <p:cNvPr id="11" name="Callout" descr="">
            <a:extLst>
              <a:ext uri="{C183D7F6-B498-43B3-948B-1728B52AA6E4}">
                <adec:decorative xmlns:adec="http://schemas.microsoft.com/office/drawing/2017/decorative" val="1"/>
              </a:ext>
            </a:extLst>
          </p:cNvPr>
          <p:cNvSpPr/>
          <p:nvPr/>
        </p:nvSpPr>
        <p:spPr>
          <a:xfrm>
            <a:off x="548640" y="4273296"/>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ClipboardCheck" descr="">
            <a:extLst>
              <a:ext uri="{C183D7F6-B498-43B3-948B-1728B52AA6E4}">
                <adec:decorative xmlns:adec="http://schemas.microsoft.com/office/drawing/2017/decorative" val="1"/>
              </a:ext>
            </a:extLst>
          </p:cNvPr>
          <p:cNvSpPr/>
          <p:nvPr/>
        </p:nvSpPr>
        <p:spPr>
          <a:xfrm>
            <a:off x="749808" y="4346448"/>
            <a:ext cx="606552" cy="60655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492020"/>
            <a:ext cx="315407" cy="315407"/>
          </a:xfrm>
          <a:prstGeom prst="rect">
            <a:avLst/>
          </a:prstGeom>
        </p:spPr>
      </p:pic>
      <p:sp>
        <p:nvSpPr>
          <p:cNvPr id="14" name="Callout text"/>
          <p:cNvSpPr txBox="1"/>
          <p:nvPr/>
        </p:nvSpPr>
        <p:spPr>
          <a:xfrm>
            <a:off x="1600200" y="4328160"/>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Read it as a test, not a tool: </a:t>
            </a:r>
            <a:pPr indent="0" marL="0">
              <a:buNone/>
            </a:pPr>
            <a:r>
              <a:rPr lang="en-US" sz="1750" dirty="0">
                <a:solidFill>
                  <a:srgbClr val="334155"/>
                </a:solidFill>
              </a:rPr>
              <a:t>the harness is not a KQL engine, and nothing is sent to a workspace.</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Manage emergency access accounts; MicrosoftDocs/entra-docs at 07cb73d (MIT). Chapter 02, “What Microsoft gives you,” “The pinned copy.”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sample misses, and what the code adds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082796"/>
        </p:xfrm>
        <a:graphic>
          <a:graphicData uri="http://schemas.openxmlformats.org/drawingml/2006/table">
            <a:tbl>
              <a:tblPr firstRow="1" bandRow="1"/>
              <a:tblGrid>
                <a:gridCol w="3291840"/>
                <a:gridCol w="4206240"/>
                <a:gridCol w="3611880"/>
              </a:tblGrid>
              <a:tr h="55168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Learn's sample, as published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examples/privileged-access adds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Placeholder object IDs and user@yourdomain.onmicrosoft.com</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Copied as published, it alerts on nothing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IDs from emergency-access.json; placeholders and UPNs refused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Misses the non-interactive sign-in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stolen session's token refresh is non-interactive; since April 11, 2025, FIDO2 sign-ins that get a refresh token log there too</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An AADNonInteractiveUserSignInLogs leg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Misses both audit events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role change by the account, or a method registered on it: the start of a takeover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An AuditLogs leg, by InitiatedBy or TargetResources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The UPN query misses a renamed account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Rename, sign in, nothing fires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Object IDs only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Rule, severity and action group are portal steps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Nothing to review, diff or redeploy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New-PaEmergencyAlertRule: a tested template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The standard is prose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Checked by hand, if at all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Test-PaEmergencyAccess: PA-EA-01 to 10</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591556"/>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Verdict: keep Learn's object-ID query and its settings; don't deploy the samples as published.</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emergency access; non-interactive sign-ins; identity log streams; AuditLogs and AADNonInteractiveUserSignInLogs tables. Chapter 02,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code: four commands and two input files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438144"/>
        </p:xfrm>
        <a:graphic>
          <a:graphicData uri="http://schemas.openxmlformats.org/drawingml/2006/table">
            <a:tbl>
              <a:tblPr firstRow="1" bandRow="1"/>
              <a:tblGrid>
                <a:gridCol w="3108960"/>
                <a:gridCol w="800100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Piece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it does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Test-PaEmergencyAccess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Reads each account, its methods, its active role assignments, the exclusion group and every Conditional Access policy; reports PA-EA-01 to PA-EA-10</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Get-PaEmergencyQuery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Writes one query from the account IDs: SigninLogs, AADNonInteractiveUserSignInLogs and AuditLogs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New-PaEmergencyAlertRule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Wraps the query in an ARM template for the alert rule; returns it and deploys nothing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Find-PaEmergencyActivity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Applies the same match to exported rows offline, for a lab or a drill review</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Invoke-PaEmergencyCheck.ps1</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entry script: runs the check, writes the template and a manifest of every request and file hash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emergency-access.json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accounts and the exclusion group by object ID; minimumAccounts (2) and maxValidationAgeDays (90)</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emergency-validations.csv</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Each drill: account, date, result and ticket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946904"/>
            <a:ext cx="11109960" cy="731520"/>
          </a:xfrm>
          <a:prstGeom prst="roundRect">
            <a:avLst>
              <a:gd name="adj" fmla="val 10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odeBranch" descr="">
            <a:extLst>
              <a:ext uri="{C183D7F6-B498-43B3-948B-1728B52AA6E4}">
                <adec:decorative xmlns:adec="http://schemas.microsoft.com/office/drawing/2017/decorative" val="1"/>
              </a:ext>
            </a:extLst>
          </p:cNvPr>
          <p:cNvSpPr/>
          <p:nvPr/>
        </p:nvSpPr>
        <p:spPr>
          <a:xfrm>
            <a:off x="749808" y="5020056"/>
            <a:ext cx="585216" cy="585216"/>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5160508"/>
            <a:ext cx="304312" cy="304312"/>
          </a:xfrm>
          <a:prstGeom prst="rect">
            <a:avLst/>
          </a:prstGeom>
        </p:spPr>
      </p:pic>
      <p:sp>
        <p:nvSpPr>
          <p:cNvPr id="9" name="Callout text"/>
          <p:cNvSpPr txBox="1"/>
          <p:nvPr/>
        </p:nvSpPr>
        <p:spPr>
          <a:xfrm>
            <a:off x="1600200" y="5001768"/>
            <a:ext cx="9875520" cy="621792"/>
          </a:xfrm>
          <a:prstGeom prst="rect">
            <a:avLst/>
          </a:prstGeom>
          <a:noFill/>
          <a:ln/>
        </p:spPr>
        <p:txBody>
          <a:bodyPr wrap="square" lIns="0" tIns="0" rIns="0" bIns="0" rtlCol="0" anchor="ctr"/>
          <a:lstStyle/>
          <a:p>
            <a:pPr indent="0" marL="0">
              <a:buNone/>
            </a:pPr>
            <a:r>
              <a:rPr lang="en-US" sz="1650" b="1" dirty="0">
                <a:solidFill>
                  <a:srgbClr val="0F766E"/>
                </a:solidFill>
              </a:rPr>
              <a:t>Same reader as </a:t>
            </a:r>
            <a:pPr indent="0" marL="0">
              <a:buNone/>
            </a:pPr>
            <a:r>
              <a:rPr lang="en-US" sz="1650" dirty="0">
                <a:solidFill>
                  <a:srgbClr val="334155"/>
                </a:solidFill>
              </a:rPr>
              <a:t>Chapter 01's reader: declared calls only, GET only, the cloud's own host, every page. Read-PaEmergencyConfig refuses a UPN where an ID belongs.</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Manage emergency access accounts (defaults: two accounts, 90 days). Chapter 02, “The code,” “The configuration.”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check: ten rules, PA-EA-01 to PA-EA-10</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194048"/>
        </p:xfrm>
        <a:graphic>
          <a:graphicData uri="http://schemas.openxmlformats.org/drawingml/2006/table">
            <a:tbl>
              <a:tblPr firstRow="1" bandRow="1"/>
              <a:tblGrid>
                <a:gridCol w="1143000"/>
                <a:gridCol w="1234440"/>
                <a:gridCol w="6309360"/>
                <a:gridCol w="242316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Rule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Severity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it flags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PA-EA-01</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Fewer than two accounts configured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PA-EA-02</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account not on *.onmicrosoft.com</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PA-EA-03</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account synchronized from on-premises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PA-EA-04</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disabled account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Design guidance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PA-EA-05</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Global Administrator not active, permanent and direct: eligible only, time-bound, activated or inherited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PA-EA-06</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 Warn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phone, Authenticator, software OATH, email or Temporary Access Pass method (Finding); no passkey, so confirm CBA (Warn)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PA-EA-07</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account not in the exclusion group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PA-EA-08</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 Info</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enforced policy that doesn't exclude an account (Finding); a report-only one that doesn't exclude the group (Info)</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 design guidance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PA-EA-09</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 passing validation, or the last one older than 90 days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PA-EA-10</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member of the exclusion group that isn't an emergency account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Design guidance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Manage emergency access accounts in Microsoft Entra ID; design guidance as labeled. Chapter 02, “The check.”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Every enforced policy, and where the sources differ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Every enforced policy" descr="">
            <a:extLst>
              <a:ext uri="{C183D7F6-B498-43B3-948B-1728B52AA6E4}">
                <adec:decorative xmlns:adec="http://schemas.microsoft.com/office/drawing/2017/decorative" val="1"/>
              </a:ext>
            </a:extLst>
          </p:cNvPr>
          <p:cNvSpPr/>
          <p:nvPr/>
        </p:nvSpPr>
        <p:spPr>
          <a:xfrm>
            <a:off x="548640" y="1325880"/>
            <a:ext cx="5417820" cy="2456688"/>
          </a:xfrm>
          <a:prstGeom prst="roundRect">
            <a:avLst>
              <a:gd name="adj" fmla="val 297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Every enforced policy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EVERY ENFORCED POLICY</a:t>
            </a:r>
            <a:endParaRPr lang="en-US" sz="1100" dirty="0"/>
          </a:p>
        </p:txBody>
      </p:sp>
      <p:sp>
        <p:nvSpPr>
          <p:cNvPr id="7" name="Panel Every enforced policy list"/>
          <p:cNvSpPr txBox="1"/>
          <p:nvPr/>
        </p:nvSpPr>
        <p:spPr>
          <a:xfrm>
            <a:off x="731520" y="1737360"/>
            <a:ext cx="5097780" cy="1999488"/>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PA-EA-08 checks every enforced policy instead of deciding which ones "block or restrict"</a:t>
            </a:r>
            <a:endParaRPr lang="en-US" sz="1600" dirty="0"/>
          </a:p>
          <a:p>
            <a:pPr marL="342900" indent="-342900">
              <a:spcAft>
                <a:spcPts val="400"/>
              </a:spcAft>
              <a:buSzPct val="100000"/>
              <a:buChar char="•"/>
            </a:pPr>
            <a:r>
              <a:rPr lang="en-US" sz="1600" dirty="0">
                <a:solidFill>
                  <a:srgbClr val="334155"/>
                </a:solidFill>
              </a:rPr>
              <a:t>Which policies restrict sign-in is a judgment the code shouldn't make</a:t>
            </a:r>
            <a:endParaRPr lang="en-US" sz="1600" dirty="0"/>
          </a:p>
          <a:p>
            <a:pPr marL="342900" indent="-342900">
              <a:spcAft>
                <a:spcPts val="400"/>
              </a:spcAft>
              <a:buSzPct val="100000"/>
              <a:buChar char="•"/>
            </a:pPr>
            <a:r>
              <a:rPr lang="en-US" sz="1600" dirty="0">
                <a:solidFill>
                  <a:srgbClr val="334155"/>
                </a:solidFill>
              </a:rPr>
              <a:t>It's the same rule as Book 04, Chapter 10's pre-merge check on the policy files</a:t>
            </a:r>
            <a:endParaRPr lang="en-US" sz="1600" dirty="0"/>
          </a:p>
        </p:txBody>
      </p:sp>
      <p:sp>
        <p:nvSpPr>
          <p:cNvPr id="8" name="Panel Where the sources differ" descr="">
            <a:extLst>
              <a:ext uri="{C183D7F6-B498-43B3-948B-1728B52AA6E4}">
                <adec:decorative xmlns:adec="http://schemas.microsoft.com/office/drawing/2017/decorative" val="1"/>
              </a:ext>
            </a:extLst>
          </p:cNvPr>
          <p:cNvSpPr/>
          <p:nvPr/>
        </p:nvSpPr>
        <p:spPr>
          <a:xfrm>
            <a:off x="6240780" y="1325880"/>
            <a:ext cx="5417820" cy="2456688"/>
          </a:xfrm>
          <a:prstGeom prst="roundRect">
            <a:avLst>
              <a:gd name="adj" fmla="val 297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Panel Where the sources differ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B45309"/>
                </a:solidFill>
              </a:rPr>
              <a:t>WHERE THE SOURCES DIFFER</a:t>
            </a:r>
            <a:endParaRPr lang="en-US" sz="1100" dirty="0"/>
          </a:p>
        </p:txBody>
      </p:sp>
      <p:sp>
        <p:nvSpPr>
          <p:cNvPr id="10" name="Panel Where the sources differ list"/>
          <p:cNvSpPr txBox="1"/>
          <p:nvPr/>
        </p:nvSpPr>
        <p:spPr>
          <a:xfrm>
            <a:off x="6423660" y="1737360"/>
            <a:ext cx="5097780" cy="1999488"/>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Report-only: Learn and Book 04, Ch 04 need no exclusion; Book 04, Ch 10's check fails them. The code reports Info and asks for the exclusion before enforcement</a:t>
            </a:r>
            <a:endParaRPr lang="en-US" sz="1600" dirty="0"/>
          </a:p>
          <a:p>
            <a:pPr marL="342900" indent="-342900">
              <a:spcAft>
                <a:spcPts val="400"/>
              </a:spcAft>
              <a:buSzPct val="100000"/>
              <a:buChar char="•"/>
            </a:pPr>
            <a:r>
              <a:rPr lang="en-US" sz="1600" dirty="0">
                <a:solidFill>
                  <a:srgbClr val="334155"/>
                </a:solidFill>
              </a:rPr>
              <a:t>Individual accounts: Learn allows them; Book 04 says the accounts aren't tied to a person. Graph can't tell, so the code checks neither</a:t>
            </a:r>
            <a:endParaRPr lang="en-US" sz="1600" dirty="0"/>
          </a:p>
        </p:txBody>
      </p:sp>
      <p:sp>
        <p:nvSpPr>
          <p:cNvPr id="11" name="Callout" descr="">
            <a:extLst>
              <a:ext uri="{C183D7F6-B498-43B3-948B-1728B52AA6E4}">
                <adec:decorative xmlns:adec="http://schemas.microsoft.com/office/drawing/2017/decorative" val="1"/>
              </a:ext>
            </a:extLst>
          </p:cNvPr>
          <p:cNvSpPr/>
          <p:nvPr/>
        </p:nvSpPr>
        <p:spPr>
          <a:xfrm>
            <a:off x="548640" y="3965448"/>
            <a:ext cx="11109960" cy="752856"/>
          </a:xfrm>
          <a:prstGeom prst="roundRect">
            <a:avLst>
              <a:gd name="adj" fmla="val 971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49808" y="4038600"/>
            <a:ext cx="606552" cy="606552"/>
          </a:xfrm>
          <a:prstGeom prst="ellipse">
            <a:avLst/>
          </a:prstGeom>
          <a:solidFill>
            <a:srgbClr val="B91C1C"/>
          </a:solidFill>
          <a:ln w="12700">
            <a:solidFill>
              <a:srgbClr val="B91C1C"/>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184172"/>
            <a:ext cx="315407" cy="315407"/>
          </a:xfrm>
          <a:prstGeom prst="rect">
            <a:avLst/>
          </a:prstGeom>
        </p:spPr>
      </p:pic>
      <p:sp>
        <p:nvSpPr>
          <p:cNvPr id="14" name="Callout text"/>
          <p:cNvSpPr txBox="1"/>
          <p:nvPr/>
        </p:nvSpPr>
        <p:spPr>
          <a:xfrm>
            <a:off x="1600200" y="4020312"/>
            <a:ext cx="9875520" cy="643128"/>
          </a:xfrm>
          <a:prstGeom prst="rect">
            <a:avLst/>
          </a:prstGeom>
          <a:noFill/>
          <a:ln/>
        </p:spPr>
        <p:txBody>
          <a:bodyPr wrap="square" lIns="0" tIns="0" rIns="0" bIns="0" rtlCol="0" anchor="ctr"/>
          <a:lstStyle/>
          <a:p>
            <a:pPr indent="0" marL="0">
              <a:buNone/>
            </a:pPr>
            <a:r>
              <a:rPr lang="en-US" sz="1750" b="1" dirty="0">
                <a:solidFill>
                  <a:srgbClr val="B91C1C"/>
                </a:solidFill>
              </a:rPr>
              <a:t>One more caution: </a:t>
            </a:r>
            <a:pPr indent="0" marL="0">
              <a:buNone/>
            </a:pPr>
            <a:r>
              <a:rPr lang="en-US" sz="1750" dirty="0">
                <a:solidFill>
                  <a:srgbClr val="334155"/>
                </a:solidFill>
              </a:rPr>
              <a:t>Learn's report-only page warns that a report-only policy requiring a compliant device can prompt macOS, iOS and Android users to pick a device certificate.</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emergency access; Learn, report-only mode. Book 04, Ch 04 and Ch 10. Chapter 02, “The check,” “Verified facts” (research gaps, row 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alert: three legs and a reviewed template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5634533" cy="1551432"/>
          </a:xfrm>
          <a:prstGeom prst="roundRect">
            <a:avLst>
              <a:gd name="adj" fmla="val 4715"/>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5305349" cy="228600"/>
          </a:xfrm>
          <a:prstGeom prst="rect">
            <a:avLst/>
          </a:prstGeom>
          <a:noFill/>
          <a:ln/>
        </p:spPr>
        <p:txBody>
          <a:bodyPr wrap="square" lIns="0" tIns="0" rIns="0" bIns="0" rtlCol="0" anchor="t"/>
          <a:lstStyle/>
          <a:p>
            <a:pPr indent="0" marL="0">
              <a:buNone/>
            </a:pPr>
            <a:r>
              <a:rPr lang="en-US" sz="1050" b="1" dirty="0">
                <a:solidFill>
                  <a:srgbClr val="64748B"/>
                </a:solidFill>
              </a:rPr>
              <a:t>THE QUERY</a:t>
            </a:r>
            <a:endParaRPr lang="en-US" sz="1050" dirty="0"/>
          </a:p>
        </p:txBody>
      </p:sp>
      <p:sp>
        <p:nvSpPr>
          <p:cNvPr id="7" name="Code"/>
          <p:cNvSpPr txBox="1"/>
          <p:nvPr/>
        </p:nvSpPr>
        <p:spPr>
          <a:xfrm>
            <a:off x="713232" y="1664208"/>
            <a:ext cx="5360213" cy="1167384"/>
          </a:xfrm>
          <a:prstGeom prst="rect">
            <a:avLst/>
          </a:prstGeom>
          <a:noFill/>
          <a:ln/>
        </p:spPr>
        <p:txBody>
          <a:bodyPr wrap="square" lIns="0" tIns="0" rIns="0" bIns="0" rtlCol="0" anchor="t"/>
          <a:lstStyle/>
          <a:p>
            <a:pPr indent="0" marL="0">
              <a:buNone/>
            </a:pPr>
            <a:r>
              <a:rPr lang="en-US" sz="1400" dirty="0">
                <a:solidFill>
                  <a:srgbClr val="0F766E"/>
                </a:solidFill>
                <a:latin typeface="Consolas" pitchFamily="34" charset="0"/>
                <a:ea typeface="Consolas" pitchFamily="34" charset="-122"/>
                <a:cs typeface="Consolas" pitchFamily="34" charset="-120"/>
              </a:rPr>
              <a:t># Get-PaEmergencyQuery: one query, three legs</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SigninLogs                      by UserId</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AADNonInteractiveUserSignInLogs by UserId</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AuditLogs   by InitiatedBy or TargetResources</a:t>
            </a:r>
            <a:endParaRPr lang="en-US" sz="1400" dirty="0"/>
          </a:p>
          <a:p>
            <a:pPr indent="0" marL="0">
              <a:buNone/>
            </a:pPr>
            <a:r>
              <a:rPr lang="en-US" sz="1400" dirty="0">
                <a:solidFill>
                  <a:srgbClr val="0F766E"/>
                </a:solidFill>
                <a:latin typeface="Consolas" pitchFamily="34" charset="0"/>
                <a:ea typeface="Consolas" pitchFamily="34" charset="-122"/>
                <a:cs typeface="Consolas" pitchFamily="34" charset="-120"/>
              </a:rPr>
              <a:t># no union isfuzzy=true: a missing table fails</a:t>
            </a:r>
            <a:endParaRPr lang="en-US" sz="14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6457493" y="1325880"/>
          <a:ext cx="5201107" cy="2316480"/>
        </p:xfrm>
        <a:graphic>
          <a:graphicData uri="http://schemas.openxmlformats.org/drawingml/2006/table">
            <a:tbl>
              <a:tblPr firstRow="1" bandRow="1"/>
              <a:tblGrid>
                <a:gridCol w="2215286"/>
                <a:gridCol w="2985821"/>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Template setting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Value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Resource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Microsoft.Insights/scheduledQueryRules, 2023-12-01, LogAlert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Severity, threshold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0, and greater than 0 (Learn)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Aggregation, window</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Count, every 5 min over 5 min (design guidance)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Scope and action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Log Analytics workspace and an action group, both checked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Callout" descr="">
            <a:extLst>
              <a:ext uri="{C183D7F6-B498-43B3-948B-1728B52AA6E4}">
                <adec:decorative xmlns:adec="http://schemas.microsoft.com/office/drawing/2017/decorative" val="1"/>
              </a:ext>
            </a:extLst>
          </p:cNvPr>
          <p:cNvSpPr/>
          <p:nvPr/>
        </p:nvSpPr>
        <p:spPr>
          <a:xfrm>
            <a:off x="548640" y="3825240"/>
            <a:ext cx="11109960" cy="1019556"/>
          </a:xfrm>
          <a:prstGeom prst="roundRect">
            <a:avLst>
              <a:gd name="adj" fmla="val 7175"/>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Icon FaTriangleExclamation" descr="">
            <a:extLst>
              <a:ext uri="{C183D7F6-B498-43B3-948B-1728B52AA6E4}">
                <adec:decorative xmlns:adec="http://schemas.microsoft.com/office/drawing/2017/decorative" val="1"/>
              </a:ext>
            </a:extLst>
          </p:cNvPr>
          <p:cNvSpPr/>
          <p:nvPr/>
        </p:nvSpPr>
        <p:spPr>
          <a:xfrm>
            <a:off x="749808" y="4014978"/>
            <a:ext cx="640080" cy="640080"/>
          </a:xfrm>
          <a:prstGeom prst="ellipse">
            <a:avLst/>
          </a:prstGeom>
          <a:solidFill>
            <a:srgbClr val="B45309"/>
          </a:solidFill>
          <a:ln w="12700">
            <a:solidFill>
              <a:srgbClr val="B45309"/>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168597"/>
            <a:ext cx="332842" cy="332842"/>
          </a:xfrm>
          <a:prstGeom prst="rect">
            <a:avLst/>
          </a:prstGeom>
        </p:spPr>
      </p:pic>
      <p:sp>
        <p:nvSpPr>
          <p:cNvPr id="12" name="Callout text"/>
          <p:cNvSpPr txBox="1"/>
          <p:nvPr/>
        </p:nvSpPr>
        <p:spPr>
          <a:xfrm>
            <a:off x="1600200" y="3880104"/>
            <a:ext cx="9875520" cy="909828"/>
          </a:xfrm>
          <a:prstGeom prst="rect">
            <a:avLst/>
          </a:prstGeom>
          <a:noFill/>
          <a:ln/>
        </p:spPr>
        <p:txBody>
          <a:bodyPr wrap="square" lIns="0" tIns="0" rIns="0" bIns="0" rtlCol="0" anchor="ctr"/>
          <a:lstStyle/>
          <a:p>
            <a:pPr indent="0" marL="0">
              <a:buNone/>
            </a:pPr>
            <a:r>
              <a:rPr lang="en-US" sz="1750" b="1" dirty="0">
                <a:solidFill>
                  <a:srgbClr val="B45309"/>
                </a:solidFill>
              </a:rPr>
              <a:t>Two prerequisites outside the code: </a:t>
            </a:r>
            <a:pPr indent="0" marL="0">
              <a:buNone/>
            </a:pPr>
            <a:r>
              <a:rPr lang="en-US" sz="1750" dirty="0">
                <a:solidFill>
                  <a:srgbClr val="334155"/>
                </a:solidFill>
              </a:rPr>
              <a:t>the diagnostic setting must send AuditLogs, SignInLogs and NonInteractiveUserSignInLogs (Security Administrator to create), and Log Analytics for sign-in logs needs Entra ID P1 or P2.</a:t>
            </a:r>
            <a:endParaRPr lang="en-US" sz="17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scheduledQueryRules 2023-12-01; emergency access; Integrate logs with Azure Monitor; identity log streams; Analyze logs. Chapter 02, “The alert.”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builds it, who runs it, what it may read</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3550920" cy="1409700"/>
          </a:xfrm>
          <a:prstGeom prst="roundRect">
            <a:avLst>
              <a:gd name="adj" fmla="val 518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40970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18110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indent="0" marL="0">
              <a:spcAft>
                <a:spcPts val="300"/>
              </a:spcAft>
              <a:buNone/>
            </a:pPr>
            <a:r>
              <a:rPr lang="en-US" sz="1550" dirty="0">
                <a:solidFill>
                  <a:srgbClr val="334155"/>
                </a:solidFill>
              </a:rPr>
              <a:t>Build the project's foundation: read PowerShell 7 and KQL; no tenant needed until Lab 2</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4328160" y="1325880"/>
            <a:ext cx="3550920" cy="1409700"/>
          </a:xfrm>
          <a:prstGeom prst="roundRect">
            <a:avLst>
              <a:gd name="adj" fmla="val 518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4328160" y="1325880"/>
            <a:ext cx="82296" cy="140970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18110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Identity engineers</a:t>
            </a:r>
            <a:endParaRPr lang="en-US" sz="1400" dirty="0"/>
          </a:p>
          <a:p>
            <a:pPr indent="0" marL="0">
              <a:spcAft>
                <a:spcPts val="300"/>
              </a:spcAft>
              <a:buNone/>
            </a:pPr>
            <a:r>
              <a:rPr lang="en-US" sz="1550" dirty="0">
                <a:solidFill>
                  <a:srgbClr val="334155"/>
                </a:solidFill>
              </a:rPr>
              <a:t>Own the emergency accounts, the exclusion group and the drill record</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8107680" y="1325880"/>
            <a:ext cx="3550920" cy="1409700"/>
          </a:xfrm>
          <a:prstGeom prst="roundRect">
            <a:avLst>
              <a:gd name="adj" fmla="val 518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8107680" y="1325880"/>
            <a:ext cx="82296" cy="140970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18110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Security operations</a:t>
            </a:r>
            <a:endParaRPr lang="en-US" sz="1400" dirty="0"/>
          </a:p>
          <a:p>
            <a:pPr indent="0" marL="0">
              <a:spcAft>
                <a:spcPts val="300"/>
              </a:spcAft>
              <a:buNone/>
            </a:pPr>
            <a:r>
              <a:rPr lang="en-US" sz="1550" dirty="0">
                <a:solidFill>
                  <a:srgbClr val="334155"/>
                </a:solidFill>
              </a:rPr>
              <a:t>Receive the alert through the action group, and are told before every drill</a:t>
            </a:r>
            <a:endParaRPr lang="en-US" sz="14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2918460"/>
          <a:ext cx="11109960" cy="2715768"/>
        </p:xfrm>
        <a:graphic>
          <a:graphicData uri="http://schemas.openxmlformats.org/drawingml/2006/table">
            <a:tbl>
              <a:tblPr firstRow="1" bandRow="1"/>
              <a:tblGrid>
                <a:gridCol w="3931920"/>
                <a:gridCol w="4206240"/>
                <a:gridCol w="297180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Call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Least-privileged permission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Delegated role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Get a user (accountEnabled, onPremisesSyncEnabled)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User.Read.All: neither property is in the basic profile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List a user's authentication methods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UserAuthenticationMethod.Read.All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Global Reader or an Authentication Administrator role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List roleAssignmentScheduleInstances by principal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RoleAssignmentSchedule.Read.Directory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Global Reader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List the exclusion group's members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GroupMember.ReadBasic.All, with User.ReadBasic.All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List Conditional Access policies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Policy.Read.All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Global Reader or Security Reader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Get a user; Working with users; List methods; List roleAssignmentScheduleInstances; List group members; List policies. Chapter 02, “Goal and audience,” “The check.”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run Learn's queries and the check offline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130552"/>
          </a:xfrm>
          <a:prstGeom prst="roundRect">
            <a:avLst>
              <a:gd name="adj" fmla="val 3433"/>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POWERSHELL 7.1+ WITH PESTER 5, IN examples/privileged-access</a:t>
            </a:r>
            <a:endParaRPr lang="en-US" sz="1050" dirty="0"/>
          </a:p>
        </p:txBody>
      </p:sp>
      <p:sp>
        <p:nvSpPr>
          <p:cNvPr id="7" name="Code"/>
          <p:cNvSpPr txBox="1"/>
          <p:nvPr/>
        </p:nvSpPr>
        <p:spPr>
          <a:xfrm>
            <a:off x="713232" y="1664208"/>
            <a:ext cx="10835640" cy="1746504"/>
          </a:xfrm>
          <a:prstGeom prst="rect">
            <a:avLst/>
          </a:prstGeom>
          <a:noFill/>
          <a:ln/>
        </p:spPr>
        <p:txBody>
          <a:bodyPr wrap="square" lIns="0" tIns="0" rIns="0" bIns="0" rtlCol="0" anchor="t"/>
          <a:lstStyle/>
          <a:p>
            <a:pPr indent="0" marL="0">
              <a:buNone/>
            </a:pPr>
            <a:r>
              <a:rPr lang="en-US" sz="1350" dirty="0">
                <a:solidFill>
                  <a:srgbClr val="0F766E"/>
                </a:solidFill>
                <a:latin typeface="Consolas" pitchFamily="34" charset="0"/>
                <a:ea typeface="Consolas" pitchFamily="34" charset="-122"/>
                <a:cs typeface="Consolas" pitchFamily="34" charset="-120"/>
              </a:rPr>
              <a:t># 1  Learn's queries over the export: PassedCount 7, FailedCount 0</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Invoke-Pester -Path tests/MicrosoftSamples.Tests.ps1 -FullNameFilter '*Chapter 02*' -Output None -PassThru</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2  The permissions the check needs: six, the same as the table</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(Get-PaRequiredPermission -Task emergency-access).GraphPermissions -join ', '</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3  Check the fictional tenant and write the alert template</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./Invoke-PaEmergencyCheck.ps1 -FixturePath tests/fixtures/tenant.json -ConfigPath …/emergency-access.json `</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    -ValidationsPath …/emergency-validations.csv -AsOf 2026-10-30 -OutputPath out/emergency …</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Emergency access: 9 Finding, 0 Warn, 1 Info</a:t>
            </a:r>
            <a:endParaRPr lang="en-US" sz="1350" dirty="0"/>
          </a:p>
        </p:txBody>
      </p:sp>
      <p:sp>
        <p:nvSpPr>
          <p:cNvPr id="8" name="Callout" descr="">
            <a:extLst>
              <a:ext uri="{C183D7F6-B498-43B3-948B-1728B52AA6E4}">
                <adec:decorative xmlns:adec="http://schemas.microsoft.com/office/drawing/2017/decorative" val="1"/>
              </a:ext>
            </a:extLst>
          </p:cNvPr>
          <p:cNvSpPr/>
          <p:nvPr/>
        </p:nvSpPr>
        <p:spPr>
          <a:xfrm>
            <a:off x="548640" y="3639312"/>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Icon FaListCheck" descr="">
            <a:extLst>
              <a:ext uri="{C183D7F6-B498-43B3-948B-1728B52AA6E4}">
                <adec:decorative xmlns:adec="http://schemas.microsoft.com/office/drawing/2017/decorative" val="1"/>
              </a:ext>
            </a:extLst>
          </p:cNvPr>
          <p:cNvSpPr/>
          <p:nvPr/>
        </p:nvSpPr>
        <p:spPr>
          <a:xfrm>
            <a:off x="749808" y="3712464"/>
            <a:ext cx="606552" cy="606552"/>
          </a:xfrm>
          <a:prstGeom prst="ellipse">
            <a:avLst/>
          </a:prstGeom>
          <a:solidFill>
            <a:srgbClr val="0F766E"/>
          </a:solidFill>
          <a:ln w="12700">
            <a:solidFill>
              <a:srgbClr val="0F766E"/>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3858036"/>
            <a:ext cx="315407" cy="315407"/>
          </a:xfrm>
          <a:prstGeom prst="rect">
            <a:avLst/>
          </a:prstGeom>
        </p:spPr>
      </p:pic>
      <p:sp>
        <p:nvSpPr>
          <p:cNvPr id="11" name="Callout text"/>
          <p:cNvSpPr txBox="1"/>
          <p:nvPr/>
        </p:nvSpPr>
        <p:spPr>
          <a:xfrm>
            <a:off x="1600200" y="3694176"/>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What step 1 shows: </a:t>
            </a:r>
            <a:pPr indent="0" marL="0">
              <a:buNone/>
            </a:pPr>
            <a:r>
              <a:rPr lang="en-US" sz="1750" dirty="0">
                <a:solidFill>
                  <a:srgbClr val="334155"/>
                </a:solidFill>
              </a:rPr>
              <a:t>of five emergency events in the export, Learn's two-ID query finds only the two interactive sign-ins.</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examples/privileged-access (tests and fixtures, fictional). Chapter 02,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reading the findings and the guards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198876"/>
        </p:xfrm>
        <a:graphic>
          <a:graphicData uri="http://schemas.openxmlformats.org/drawingml/2006/table">
            <a:tbl>
              <a:tblPr firstRow="1" bandRow="1"/>
              <a:tblGrid>
                <a:gridCol w="3840480"/>
                <a:gridCol w="726948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you see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ea01 passes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It meets every rule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ea02 fails five ways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PA-EA-02 (on contoso.example), 05 (Global Administrator ends December 31), 06 (a phone method), 07 (not in the group), 09 (last validated May 1)</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PA-EA-08 names three enforced policies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CA001-All-Block-legacy-authentication, CA004-Admins-Require-compliant-device, PIM-Activation-c1; report-only CA090 is Info</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PA-EA-10 names carl.ops@contoso.example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In the exclusion group, and shouldn't be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Find-PaEmergencyActivity: five rows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Two SigninLogs, one non-interactive, two AuditLogs (a role add by ea02; security info registered for ea01); Dana's sign-in isn't matched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The guards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UPN is refused: "isn't an object ID"; the template reads scheduledQueryRules | 2023-12-01 | 0</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4707636"/>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Step 7, Invoke-Pester -Path tests: 330 tests passing. Delete out when you're done.</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examples/privileged-access fixtures (fictional tenant and sign-in export). Chapter 02, “Lab 1: fixtures, no tenant,” steps 4–7.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a test tenant, a real query, a drill</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83464" cy="28346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Send the logs: </a:t>
            </a:r>
            <a:pPr indent="0" marL="0">
              <a:buNone/>
            </a:pPr>
            <a:r>
              <a:rPr lang="en-US" sz="1500" dirty="0">
                <a:solidFill>
                  <a:srgbClr val="334155"/>
                </a:solidFill>
              </a:rPr>
              <a:t>As at least Security Administrator, a diagnostic setting sends AuditLogs, SignInLogs and NonInteractiveUserSignInLogs to a test workspace</a:t>
            </a:r>
            <a:endParaRPr lang="en-US" sz="1500" dirty="0"/>
          </a:p>
        </p:txBody>
      </p:sp>
      <p:sp>
        <p:nvSpPr>
          <p:cNvPr id="8" name="Step 2 dot" descr="">
            <a:extLst>
              <a:ext uri="{C183D7F6-B498-43B3-948B-1728B52AA6E4}">
                <adec:decorative xmlns:adec="http://schemas.microsoft.com/office/drawing/2017/decorative" val="1"/>
              </a:ext>
            </a:extLst>
          </p:cNvPr>
          <p:cNvSpPr/>
          <p:nvPr/>
        </p:nvSpPr>
        <p:spPr>
          <a:xfrm>
            <a:off x="548640" y="1911096"/>
            <a:ext cx="283464" cy="283464"/>
          </a:xfrm>
          <a:prstGeom prst="ellipse">
            <a:avLst/>
          </a:prstGeom>
          <a:solidFill>
            <a:srgbClr val="B45309"/>
          </a:solidFill>
          <a:ln w="12700">
            <a:solidFill>
              <a:srgbClr val="B45309"/>
            </a:solidFill>
            <a:prstDash val="solid"/>
          </a:ln>
        </p:spPr>
      </p:sp>
      <p:sp>
        <p:nvSpPr>
          <p:cNvPr id="9" name="Step 2 number"/>
          <p:cNvSpPr txBox="1"/>
          <p:nvPr/>
        </p:nvSpPr>
        <p:spPr>
          <a:xfrm>
            <a:off x="548640" y="1911096"/>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92808"/>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Register the reader app: </a:t>
            </a:r>
            <a:pPr indent="0" marL="0">
              <a:buNone/>
            </a:pPr>
            <a:r>
              <a:rPr lang="en-US" sz="1500" dirty="0">
                <a:solidFill>
                  <a:srgbClr val="334155"/>
                </a:solidFill>
              </a:rPr>
              <a:t>With a certificate; the six application permissions from Lab 1, with admin consent, and nothing else</a:t>
            </a:r>
            <a:endParaRPr lang="en-US" sz="1500" dirty="0"/>
          </a:p>
        </p:txBody>
      </p:sp>
      <p:sp>
        <p:nvSpPr>
          <p:cNvPr id="11" name="Step 3 dot" descr="">
            <a:extLst>
              <a:ext uri="{C183D7F6-B498-43B3-948B-1728B52AA6E4}">
                <adec:decorative xmlns:adec="http://schemas.microsoft.com/office/drawing/2017/decorative" val="1"/>
              </a:ext>
            </a:extLst>
          </p:cNvPr>
          <p:cNvSpPr/>
          <p:nvPr/>
        </p:nvSpPr>
        <p:spPr>
          <a:xfrm>
            <a:off x="548640" y="2478024"/>
            <a:ext cx="283464" cy="283464"/>
          </a:xfrm>
          <a:prstGeom prst="ellipse">
            <a:avLst/>
          </a:prstGeom>
          <a:solidFill>
            <a:srgbClr val="B45309"/>
          </a:solidFill>
          <a:ln w="12700">
            <a:solidFill>
              <a:srgbClr val="B45309"/>
            </a:solidFill>
            <a:prstDash val="solid"/>
          </a:ln>
        </p:spPr>
      </p:sp>
      <p:sp>
        <p:nvSpPr>
          <p:cNvPr id="12" name="Step 3 number"/>
          <p:cNvSpPr txBox="1"/>
          <p:nvPr/>
        </p:nvSpPr>
        <p:spPr>
          <a:xfrm>
            <a:off x="548640" y="2478024"/>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459736"/>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Run the check: </a:t>
            </a:r>
            <a:pPr indent="0" marL="0">
              <a:buNone/>
            </a:pPr>
            <a:r>
              <a:rPr lang="en-US" sz="1500" dirty="0">
                <a:solidFill>
                  <a:srgbClr val="334155"/>
                </a:solidFill>
              </a:rPr>
              <a:t>Connect-MgGraph -Environment Global, then Invoke-PaEmergencyCheck.ps1 -Cloud gcc with your own emergency-access.json; create the action group first, with a test mailbox</a:t>
            </a:r>
            <a:endParaRPr lang="en-US" sz="1500" dirty="0"/>
          </a:p>
        </p:txBody>
      </p:sp>
      <p:sp>
        <p:nvSpPr>
          <p:cNvPr id="14" name="Step 4 dot" descr="">
            <a:extLst>
              <a:ext uri="{C183D7F6-B498-43B3-948B-1728B52AA6E4}">
                <adec:decorative xmlns:adec="http://schemas.microsoft.com/office/drawing/2017/decorative" val="1"/>
              </a:ext>
            </a:extLst>
          </p:cNvPr>
          <p:cNvSpPr/>
          <p:nvPr/>
        </p:nvSpPr>
        <p:spPr>
          <a:xfrm>
            <a:off x="548640" y="3044952"/>
            <a:ext cx="283464" cy="283464"/>
          </a:xfrm>
          <a:prstGeom prst="ellipse">
            <a:avLst/>
          </a:prstGeom>
          <a:solidFill>
            <a:srgbClr val="B45309"/>
          </a:solidFill>
          <a:ln w="12700">
            <a:solidFill>
              <a:srgbClr val="B45309"/>
            </a:solidFill>
            <a:prstDash val="solid"/>
          </a:ln>
        </p:spPr>
      </p:sp>
      <p:sp>
        <p:nvSpPr>
          <p:cNvPr id="15" name="Step 4 number"/>
          <p:cNvSpPr txBox="1"/>
          <p:nvPr/>
        </p:nvSpPr>
        <p:spPr>
          <a:xfrm>
            <a:off x="548640" y="3044952"/>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3026664"/>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Run the query by hand: </a:t>
            </a:r>
            <a:pPr indent="0" marL="0">
              <a:buNone/>
            </a:pPr>
            <a:r>
              <a:rPr lang="en-US" sz="1500" dirty="0">
                <a:solidFill>
                  <a:srgbClr val="334155"/>
                </a:solidFill>
              </a:rPr>
              <a:t>Paste it into the workspace's Logs over the last day; an error naming a table means the diagnostic setting doesn't send it</a:t>
            </a:r>
            <a:endParaRPr lang="en-US" sz="1500" dirty="0"/>
          </a:p>
        </p:txBody>
      </p:sp>
      <p:sp>
        <p:nvSpPr>
          <p:cNvPr id="17" name="Step 5 dot" descr="">
            <a:extLst>
              <a:ext uri="{C183D7F6-B498-43B3-948B-1728B52AA6E4}">
                <adec:decorative xmlns:adec="http://schemas.microsoft.com/office/drawing/2017/decorative" val="1"/>
              </a:ext>
            </a:extLst>
          </p:cNvPr>
          <p:cNvSpPr/>
          <p:nvPr/>
        </p:nvSpPr>
        <p:spPr>
          <a:xfrm>
            <a:off x="548640" y="3611880"/>
            <a:ext cx="283464" cy="283464"/>
          </a:xfrm>
          <a:prstGeom prst="ellipse">
            <a:avLst/>
          </a:prstGeom>
          <a:solidFill>
            <a:srgbClr val="B45309"/>
          </a:solidFill>
          <a:ln w="12700">
            <a:solidFill>
              <a:srgbClr val="B45309"/>
            </a:solidFill>
            <a:prstDash val="solid"/>
          </a:ln>
        </p:spPr>
      </p:sp>
      <p:sp>
        <p:nvSpPr>
          <p:cNvPr id="18" name="Step 5 number"/>
          <p:cNvSpPr txBox="1"/>
          <p:nvPr/>
        </p:nvSpPr>
        <p:spPr>
          <a:xfrm>
            <a:off x="548640" y="3611880"/>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593592"/>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Deploy and drill: </a:t>
            </a:r>
            <a:pPr indent="0" marL="0">
              <a:buNone/>
            </a:pPr>
            <a:r>
              <a:rPr lang="en-US" sz="1500" dirty="0">
                <a:solidFill>
                  <a:srgbClr val="334155"/>
                </a:solidFill>
              </a:rPr>
              <a:t>Review the template, deploy it as at least Monitoring Contributor, sign in once from the designated workstation; the alert arrives within two evaluation periods; record the drill and PA-EA-09 clears</a:t>
            </a:r>
            <a:endParaRPr lang="en-US" sz="1500" dirty="0"/>
          </a:p>
        </p:txBody>
      </p:sp>
      <p:sp>
        <p:nvSpPr>
          <p:cNvPr id="20" name="Step 6 dot" descr="">
            <a:extLst>
              <a:ext uri="{C183D7F6-B498-43B3-948B-1728B52AA6E4}">
                <adec:decorative xmlns:adec="http://schemas.microsoft.com/office/drawing/2017/decorative" val="1"/>
              </a:ext>
            </a:extLst>
          </p:cNvPr>
          <p:cNvSpPr/>
          <p:nvPr/>
        </p:nvSpPr>
        <p:spPr>
          <a:xfrm>
            <a:off x="548640" y="4178808"/>
            <a:ext cx="283464" cy="283464"/>
          </a:xfrm>
          <a:prstGeom prst="ellipse">
            <a:avLst/>
          </a:prstGeom>
          <a:solidFill>
            <a:srgbClr val="B45309"/>
          </a:solidFill>
          <a:ln w="12700">
            <a:solidFill>
              <a:srgbClr val="B45309"/>
            </a:solidFill>
            <a:prstDash val="solid"/>
          </a:ln>
        </p:spPr>
      </p:sp>
      <p:sp>
        <p:nvSpPr>
          <p:cNvPr id="21" name="Step 6 number"/>
          <p:cNvSpPr txBox="1"/>
          <p:nvPr/>
        </p:nvSpPr>
        <p:spPr>
          <a:xfrm>
            <a:off x="548640" y="4178808"/>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4160520"/>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Back it out: </a:t>
            </a:r>
            <a:pPr indent="0" marL="0">
              <a:buNone/>
            </a:pPr>
            <a:r>
              <a:rPr lang="en-US" sz="1500" dirty="0">
                <a:solidFill>
                  <a:srgbClr val="334155"/>
                </a:solidFill>
              </a:rPr>
              <a:t>Delete the rule, the action group and the app, remove the permissions and the lab's diagnostic setting, delete the output</a:t>
            </a:r>
            <a:endParaRPr lang="en-US" sz="1500" dirty="0"/>
          </a:p>
        </p:txBody>
      </p:sp>
      <p:sp>
        <p:nvSpPr>
          <p:cNvPr id="23" name="Callout" descr="">
            <a:extLst>
              <a:ext uri="{C183D7F6-B498-43B3-948B-1728B52AA6E4}">
                <adec:decorative xmlns:adec="http://schemas.microsoft.com/office/drawing/2017/decorative" val="1"/>
              </a:ext>
            </a:extLst>
          </p:cNvPr>
          <p:cNvSpPr/>
          <p:nvPr/>
        </p:nvSpPr>
        <p:spPr>
          <a:xfrm>
            <a:off x="548640" y="4910328"/>
            <a:ext cx="11109960" cy="996696"/>
          </a:xfrm>
          <a:prstGeom prst="roundRect">
            <a:avLst>
              <a:gd name="adj" fmla="val 7339"/>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5088636"/>
            <a:ext cx="640080" cy="640080"/>
          </a:xfrm>
          <a:prstGeom prst="ellipse">
            <a:avLst/>
          </a:prstGeom>
          <a:solidFill>
            <a:srgbClr val="B91C1C"/>
          </a:solidFill>
          <a:ln w="12700">
            <a:solidFill>
              <a:srgbClr val="B91C1C"/>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242255"/>
            <a:ext cx="332842" cy="332842"/>
          </a:xfrm>
          <a:prstGeom prst="rect">
            <a:avLst/>
          </a:prstGeom>
        </p:spPr>
      </p:pic>
      <p:sp>
        <p:nvSpPr>
          <p:cNvPr id="26" name="Callout text"/>
          <p:cNvSpPr txBox="1"/>
          <p:nvPr/>
        </p:nvSpPr>
        <p:spPr>
          <a:xfrm>
            <a:off x="1600200" y="4965192"/>
            <a:ext cx="9875520" cy="886968"/>
          </a:xfrm>
          <a:prstGeom prst="rect">
            <a:avLst/>
          </a:prstGeom>
          <a:noFill/>
          <a:ln/>
        </p:spPr>
        <p:txBody>
          <a:bodyPr wrap="square" lIns="0" tIns="0" rIns="0" bIns="0" rtlCol="0" anchor="ctr"/>
          <a:lstStyle/>
          <a:p>
            <a:pPr indent="0" marL="0">
              <a:buNone/>
            </a:pPr>
            <a:r>
              <a:rPr lang="en-US" sz="1700" b="1" dirty="0">
                <a:solidFill>
                  <a:srgbClr val="B91C1C"/>
                </a:solidFill>
              </a:rPr>
              <a:t>Where: </a:t>
            </a:r>
            <a:pPr indent="0" marL="0">
              <a:buNone/>
            </a:pPr>
            <a:r>
              <a:rPr lang="en-US" sz="1700" dirty="0">
                <a:solidFill>
                  <a:srgbClr val="334155"/>
                </a:solidFill>
              </a:rPr>
              <a:t>a worldwide or GCC test tenant and a test subscription, never production. If the test accounts are real, the drill is Learn's validation drill: tell security operations first, and record it.</a:t>
            </a:r>
            <a:endParaRPr lang="en-US" sz="17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Manage emergency access accounts; Learn, Integrate Microsoft Entra logs with Azure Monitor logs. Chapter 02, “Lab 2: test tenant.”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614672"/>
        </p:xfrm>
        <a:graphic>
          <a:graphicData uri="http://schemas.openxmlformats.org/drawingml/2006/table">
            <a:tbl>
              <a:tblPr firstRow="1" bandRow="1"/>
              <a:tblGrid>
                <a:gridCol w="3291840"/>
                <a:gridCol w="3657600"/>
                <a:gridCol w="416052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Danger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happens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The guard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Approval on before the accounts pass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documented lockout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Gate 1 needs "emergency access accounts tested"; this check is that test, every run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An alert copied with placeholder IDs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It never fires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Placeholders and UPNs refused; IDs only from the configuration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An alert on interactive sign-ins only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stolen session's refresh, or a new method, goes unseen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Non-interactive and audit legs; tests pin the sample's misses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table the workspace doesn't receive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fuzzy union returns nothing; silence looks like safety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 isfuzzy; Lab 2 runs the query by hand first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Extra members in the exclusion group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Someone else skips every policy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PA-EA-10</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Global Administrator assignment that expires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account fails in the emergency it's for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PA-EA-05</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phone or app method on the account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It depends on one person's device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PA-EA-06</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drill nobody records; a rule nobody reviewed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 one knows the accounts work; the alert drifts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PA-EA-09; the template is code, compared in Chapter 08</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02, “Dangers”; project plan Gate 1; Learn, Manage emergency access accounts.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The accounts" descr="">
            <a:extLst>
              <a:ext uri="{C183D7F6-B498-43B3-948B-1728B52AA6E4}">
                <adec:decorative xmlns:adec="http://schemas.microsoft.com/office/drawing/2017/decorative" val="1"/>
              </a:ext>
            </a:extLst>
          </p:cNvPr>
          <p:cNvSpPr/>
          <p:nvPr/>
        </p:nvSpPr>
        <p:spPr>
          <a:xfrm>
            <a:off x="548640" y="1325880"/>
            <a:ext cx="5417820" cy="3003804"/>
          </a:xfrm>
          <a:prstGeom prst="roundRect">
            <a:avLst>
              <a:gd name="adj" fmla="val 243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account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ACCOUNTS</a:t>
            </a:r>
            <a:endParaRPr lang="en-US" sz="1100" dirty="0"/>
          </a:p>
        </p:txBody>
      </p:sp>
      <p:sp>
        <p:nvSpPr>
          <p:cNvPr id="7" name="Panel The accounts list"/>
          <p:cNvSpPr txBox="1"/>
          <p:nvPr/>
        </p:nvSpPr>
        <p:spPr>
          <a:xfrm>
            <a:off x="731520" y="1737360"/>
            <a:ext cx="5097780"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emergency-access.json lists two or more accounts and the group by object ID, and matches Chapter 01's exceptions.csv</a:t>
            </a:r>
            <a:endParaRPr lang="en-US" sz="1550" dirty="0"/>
          </a:p>
          <a:p>
            <a:pPr marL="342900" indent="-342900">
              <a:spcAft>
                <a:spcPts val="400"/>
              </a:spcAft>
              <a:buSzPct val="100000"/>
              <a:buChar char="•"/>
            </a:pPr>
            <a:r>
              <a:rPr lang="en-US" sz="1550" dirty="0">
                <a:solidFill>
                  <a:srgbClr val="334155"/>
                </a:solidFill>
              </a:rPr>
              <a:t>No Finding for any emergency account; every PA-EA-06 Warn has CBA confirmed</a:t>
            </a:r>
            <a:endParaRPr lang="en-US" sz="1550" dirty="0"/>
          </a:p>
          <a:p>
            <a:pPr marL="342900" indent="-342900">
              <a:spcAft>
                <a:spcPts val="400"/>
              </a:spcAft>
              <a:buSzPct val="100000"/>
              <a:buChar char="•"/>
            </a:pPr>
            <a:r>
              <a:rPr lang="en-US" sz="1550" dirty="0">
                <a:solidFill>
                  <a:srgbClr val="334155"/>
                </a:solidFill>
              </a:rPr>
              <a:t>Every enforced policy excludes the group, and the group holds only the emergency accounts</a:t>
            </a:r>
            <a:endParaRPr lang="en-US" sz="1550" dirty="0"/>
          </a:p>
          <a:p>
            <a:pPr marL="342900" indent="-342900">
              <a:spcAft>
                <a:spcPts val="400"/>
              </a:spcAft>
              <a:buSzPct val="100000"/>
              <a:buChar char="•"/>
            </a:pPr>
            <a:r>
              <a:rPr lang="en-US" sz="1550" dirty="0">
                <a:solidFill>
                  <a:srgbClr val="334155"/>
                </a:solidFill>
              </a:rPr>
              <a:t>A passing validation within 90 days for every account, with its ticket</a:t>
            </a:r>
            <a:endParaRPr lang="en-US" sz="1550" dirty="0"/>
          </a:p>
        </p:txBody>
      </p:sp>
      <p:sp>
        <p:nvSpPr>
          <p:cNvPr id="8" name="Panel The alert and the code" descr="">
            <a:extLst>
              <a:ext uri="{C183D7F6-B498-43B3-948B-1728B52AA6E4}">
                <adec:decorative xmlns:adec="http://schemas.microsoft.com/office/drawing/2017/decorative" val="1"/>
              </a:ext>
            </a:extLst>
          </p:cNvPr>
          <p:cNvSpPr/>
          <p:nvPr/>
        </p:nvSpPr>
        <p:spPr>
          <a:xfrm>
            <a:off x="6240780" y="1325880"/>
            <a:ext cx="5417820" cy="3003804"/>
          </a:xfrm>
          <a:prstGeom prst="roundRect">
            <a:avLst>
              <a:gd name="adj" fmla="val 243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alert and the code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ALERT AND THE CODE</a:t>
            </a:r>
            <a:endParaRPr lang="en-US" sz="1100" dirty="0"/>
          </a:p>
        </p:txBody>
      </p:sp>
      <p:sp>
        <p:nvSpPr>
          <p:cNvPr id="10" name="Panel The alert and the code list"/>
          <p:cNvSpPr txBox="1"/>
          <p:nvPr/>
        </p:nvSpPr>
        <p:spPr>
          <a:xfrm>
            <a:off x="6423660" y="1737360"/>
            <a:ext cx="5097780"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The diagnostic setting sends all three log categories, and the query ran without error</a:t>
            </a:r>
            <a:endParaRPr lang="en-US" sz="1550" dirty="0"/>
          </a:p>
          <a:p>
            <a:pPr marL="342900" indent="-342900">
              <a:spcAft>
                <a:spcPts val="400"/>
              </a:spcAft>
              <a:buSzPct val="100000"/>
              <a:buChar char="•"/>
            </a:pPr>
            <a:r>
              <a:rPr lang="en-US" sz="1550" dirty="0">
                <a:solidFill>
                  <a:srgbClr val="334155"/>
                </a:solidFill>
              </a:rPr>
              <a:t>The deployed alert matches emergency-alert.json: severity 0, threshold greater than 0, the security operations action group</a:t>
            </a:r>
            <a:endParaRPr lang="en-US" sz="1550" dirty="0"/>
          </a:p>
          <a:p>
            <a:pPr marL="342900" indent="-342900">
              <a:spcAft>
                <a:spcPts val="400"/>
              </a:spcAft>
              <a:buSzPct val="100000"/>
              <a:buChar char="•"/>
            </a:pPr>
            <a:r>
              <a:rPr lang="en-US" sz="1550" dirty="0">
                <a:solidFill>
                  <a:srgbClr val="334155"/>
                </a:solidFill>
              </a:rPr>
              <a:t>The reader app holds exactly the six permissions, with a certificate or managed identity</a:t>
            </a:r>
            <a:endParaRPr lang="en-US" sz="1550" dirty="0"/>
          </a:p>
          <a:p>
            <a:pPr marL="342900" indent="-342900">
              <a:spcAft>
                <a:spcPts val="400"/>
              </a:spcAft>
              <a:buSzPct val="100000"/>
              <a:buChar char="•"/>
            </a:pPr>
            <a:r>
              <a:rPr lang="en-US" sz="1550" dirty="0">
                <a:solidFill>
                  <a:srgbClr val="334155"/>
                </a:solidFill>
              </a:rPr>
              <a:t>The pinned Learn page matches its manifest; every upstream commit since the pin is reviewed</a:t>
            </a:r>
            <a:endParaRPr lang="en-US" sz="1550" dirty="0"/>
          </a:p>
        </p:txBody>
      </p:sp>
      <p:sp>
        <p:nvSpPr>
          <p:cNvPr id="11" name="Callout" descr="">
            <a:extLst>
              <a:ext uri="{C183D7F6-B498-43B3-948B-1728B52AA6E4}">
                <adec:decorative xmlns:adec="http://schemas.microsoft.com/office/drawing/2017/decorative" val="1"/>
              </a:ext>
            </a:extLst>
          </p:cNvPr>
          <p:cNvSpPr/>
          <p:nvPr/>
        </p:nvSpPr>
        <p:spPr>
          <a:xfrm>
            <a:off x="548640" y="4512564"/>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4585716"/>
            <a:ext cx="606552" cy="60655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731288"/>
            <a:ext cx="315407" cy="315407"/>
          </a:xfrm>
          <a:prstGeom prst="rect">
            <a:avLst/>
          </a:prstGeom>
        </p:spPr>
      </p:pic>
      <p:sp>
        <p:nvSpPr>
          <p:cNvPr id="14" name="Callout text"/>
          <p:cNvSpPr txBox="1"/>
          <p:nvPr/>
        </p:nvSpPr>
        <p:spPr>
          <a:xfrm>
            <a:off x="1600200" y="4567428"/>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Next: </a:t>
            </a:r>
            <a:pPr indent="0" marL="0">
              <a:buNone/>
            </a:pPr>
            <a:r>
              <a:rPr lang="en-US" sz="1750" dirty="0">
                <a:solidFill>
                  <a:srgbClr val="334155"/>
                </a:solidFill>
              </a:rPr>
              <a:t>Chapter 03 builds Conditional Access for administrators and the activation gate, on top of these accounts and their exclusion group.</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02, “Checklist”; Learn, Manage emergency access accounts (90-day validation).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pa02-emergency  </a:t>
            </a:r>
            <a:pPr indent="0" marL="0">
              <a:spcAft>
                <a:spcPts val="300"/>
              </a:spcAft>
              <a:buNone/>
            </a:pPr>
            <a:r>
              <a:rPr lang="en-US" sz="1050" dirty="0">
                <a:solidFill>
                  <a:srgbClr val="334155"/>
                </a:solidFill>
              </a:rPr>
              <a:t>Microsoft Learn, "Manage emergency access accounts in Microsoft Entra ID," https://learn.microsoft.com/entra/identity/role-based-access-control/security-emergency-access (accessed Oct 30, 2026).</a:t>
            </a:r>
            <a:endParaRPr lang="en-US" sz="1050" dirty="0"/>
          </a:p>
          <a:p>
            <a:pPr indent="0" marL="0">
              <a:spcAft>
                <a:spcPts val="300"/>
              </a:spcAft>
              <a:buNone/>
            </a:pPr>
            <a:r>
              <a:rPr lang="en-US" sz="1050" b="1" dirty="0">
                <a:solidFill>
                  <a:srgbClr val="1F2A44"/>
                </a:solidFill>
              </a:rPr>
              <a:t>pa02-pim-plan  </a:t>
            </a:r>
            <a:pPr indent="0" marL="0">
              <a:spcAft>
                <a:spcPts val="300"/>
              </a:spcAft>
              <a:buNone/>
            </a:pPr>
            <a:r>
              <a:rPr lang="en-US" sz="1050" dirty="0">
                <a:solidFill>
                  <a:srgbClr val="334155"/>
                </a:solidFill>
              </a:rPr>
              <a:t>Microsoft Learn, "Plan a Privileged Identity Management deployment," type of assignments, https://learn.microsoft.com/entra/id-governance/privileged-identity-management/pim-deployment-plan (accessed Oct 30, 2026).</a:t>
            </a:r>
            <a:endParaRPr lang="en-US" sz="1050" dirty="0"/>
          </a:p>
          <a:p>
            <a:pPr indent="0" marL="0">
              <a:spcAft>
                <a:spcPts val="300"/>
              </a:spcAft>
              <a:buNone/>
            </a:pPr>
            <a:r>
              <a:rPr lang="en-US" sz="1050" b="1" dirty="0">
                <a:solidFill>
                  <a:srgbClr val="1F2A44"/>
                </a:solidFill>
              </a:rPr>
              <a:t>pa02-deployments  </a:t>
            </a:r>
            <a:pPr indent="0" marL="0">
              <a:spcAft>
                <a:spcPts val="300"/>
              </a:spcAft>
              <a:buNone/>
            </a:pPr>
            <a:r>
              <a:rPr lang="en-US" sz="1050" dirty="0">
                <a:solidFill>
                  <a:srgbClr val="334155"/>
                </a:solidFill>
              </a:rPr>
              <a:t>Microsoft Learn, "Microsoft Graph national cloud deployments," https://learn.microsoft.com/graph/deployments (accessed Oct 30, 2026).</a:t>
            </a:r>
            <a:endParaRPr lang="en-US" sz="1050" dirty="0"/>
          </a:p>
          <a:p>
            <a:pPr indent="0" marL="0">
              <a:spcAft>
                <a:spcPts val="300"/>
              </a:spcAft>
              <a:buNone/>
            </a:pPr>
            <a:r>
              <a:rPr lang="en-US" sz="1050" b="1" dirty="0">
                <a:solidFill>
                  <a:srgbClr val="1F2A44"/>
                </a:solidFill>
              </a:rPr>
              <a:t>pa02-availability  </a:t>
            </a:r>
            <a:pPr indent="0" marL="0">
              <a:spcAft>
                <a:spcPts val="300"/>
              </a:spcAft>
              <a:buNone/>
            </a:pPr>
            <a:r>
              <a:rPr lang="en-US" sz="1050" dirty="0">
                <a:solidFill>
                  <a:srgbClr val="334155"/>
                </a:solidFill>
              </a:rPr>
              <a:t>Microsoft Learn, "Microsoft Entra feature availability," Microsoft Entra ID, authentication, https://learn.microsoft.com/entra/identity/authentication/feature-availability (accessed Oct 30, 2026).</a:t>
            </a:r>
            <a:endParaRPr lang="en-US" sz="1050" dirty="0"/>
          </a:p>
          <a:p>
            <a:pPr indent="0" marL="0">
              <a:spcAft>
                <a:spcPts val="300"/>
              </a:spcAft>
              <a:buNone/>
            </a:pPr>
            <a:r>
              <a:rPr lang="en-US" sz="1050" b="1" dirty="0">
                <a:solidFill>
                  <a:srgbClr val="1F2A44"/>
                </a:solidFill>
              </a:rPr>
              <a:t>pa02-sample-src  </a:t>
            </a:r>
            <a:pPr indent="0" marL="0">
              <a:spcAft>
                <a:spcPts val="300"/>
              </a:spcAft>
              <a:buNone/>
            </a:pPr>
            <a:r>
              <a:rPr lang="en-US" sz="1050" dirty="0">
                <a:solidFill>
                  <a:srgbClr val="334155"/>
                </a:solidFill>
              </a:rPr>
              <a:t>Microsoft, MicrosoftDocs/entra-docs, docs/identity/role-based-access-control/security-emergency-access.md at commit 07cb73d6c6380414eecd040ba5e14c1c94d48b66 (October 30, 2026; the page last changed June 4, 2026), MIT License, https://github.com/MicrosoftDocs/entra-docs/blob/07cb73d6c6380414eecd040ba5e14c1c94d48b66/docs/identity/role-based-access-control/security-emergency-access.md (accessed Oct 30, 2026); pinned copy in examples/third_party/entra-emergency-access-page.</a:t>
            </a:r>
            <a:endParaRPr lang="en-US" sz="1050" dirty="0"/>
          </a:p>
          <a:p>
            <a:pPr indent="0" marL="0">
              <a:spcAft>
                <a:spcPts val="300"/>
              </a:spcAft>
              <a:buNone/>
            </a:pPr>
            <a:r>
              <a:rPr lang="en-US" sz="1050" b="1" dirty="0">
                <a:solidFill>
                  <a:srgbClr val="1F2A44"/>
                </a:solidFill>
              </a:rPr>
              <a:t>pa02-noninteractive  </a:t>
            </a:r>
            <a:pPr indent="0" marL="0">
              <a:spcAft>
                <a:spcPts val="300"/>
              </a:spcAft>
              <a:buNone/>
            </a:pPr>
            <a:r>
              <a:rPr lang="en-US" sz="1050" dirty="0">
                <a:solidFill>
                  <a:srgbClr val="334155"/>
                </a:solidFill>
              </a:rPr>
              <a:t>Microsoft Learn, "What are non-interactive user sign-ins in Microsoft Entra?," log details and special considerations, https://learn.microsoft.com/entra/identity/monitoring-health/concept-noninteractive-sign-ins (accessed Oct 31, 2026).</a:t>
            </a:r>
            <a:endParaRPr lang="en-US" sz="1050" dirty="0"/>
          </a:p>
          <a:p>
            <a:pPr indent="0" marL="0">
              <a:spcAft>
                <a:spcPts val="300"/>
              </a:spcAft>
              <a:buNone/>
            </a:pPr>
            <a:r>
              <a:rPr lang="en-US" sz="1050" b="1" dirty="0">
                <a:solidFill>
                  <a:srgbClr val="1F2A44"/>
                </a:solidFill>
              </a:rPr>
              <a:t>pa02-report-only  </a:t>
            </a:r>
            <a:pPr indent="0" marL="0">
              <a:spcAft>
                <a:spcPts val="300"/>
              </a:spcAft>
              <a:buNone/>
            </a:pPr>
            <a:r>
              <a:rPr lang="en-US" sz="1050" dirty="0">
                <a:solidFill>
                  <a:srgbClr val="334155"/>
                </a:solidFill>
              </a:rPr>
              <a:t>Microsoft Learn, "Analyze Conditional Access policy impact" (report-only mode), overview and warning, https://learn.microsoft.com/entra/identity/conditional-access/concept-conditional-access-report-only (accessed Oct 31, 2026).</a:t>
            </a:r>
            <a:endParaRPr lang="en-US" sz="1050" dirty="0"/>
          </a:p>
          <a:p>
            <a:pPr indent="0" marL="0">
              <a:spcAft>
                <a:spcPts val="300"/>
              </a:spcAft>
              <a:buNone/>
            </a:pPr>
            <a:r>
              <a:rPr lang="en-US" sz="1050" b="1" dirty="0">
                <a:solidFill>
                  <a:srgbClr val="1F2A44"/>
                </a:solidFill>
              </a:rPr>
              <a:t>pa02-streams  </a:t>
            </a:r>
            <a:pPr indent="0" marL="0">
              <a:spcAft>
                <a:spcPts val="300"/>
              </a:spcAft>
              <a:buNone/>
            </a:pPr>
            <a:r>
              <a:rPr lang="en-US" sz="1050" dirty="0">
                <a:solidFill>
                  <a:srgbClr val="334155"/>
                </a:solidFill>
              </a:rPr>
              <a:t>Microsoft Learn, "What are the identity logs you can stream to an endpoint?," activity log options, https://learn.microsoft.com/entra/identity/monitoring-health/concept-diagnostic-settings-logs-options (accessed Oct 30, 2026).</a:t>
            </a:r>
            <a:endParaRPr lang="en-US" sz="1050" dirty="0"/>
          </a:p>
          <a:p>
            <a:pPr indent="0" marL="0">
              <a:spcAft>
                <a:spcPts val="300"/>
              </a:spcAft>
              <a:buNone/>
            </a:pPr>
            <a:r>
              <a:rPr lang="en-US" sz="1050" b="1" dirty="0">
                <a:solidFill>
                  <a:srgbClr val="1F2A44"/>
                </a:solidFill>
              </a:rPr>
              <a:t>pa02-table-ni  </a:t>
            </a:r>
            <a:pPr indent="0" marL="0">
              <a:spcAft>
                <a:spcPts val="300"/>
              </a:spcAft>
              <a:buNone/>
            </a:pPr>
            <a:r>
              <a:rPr lang="en-US" sz="1050" dirty="0">
                <a:solidFill>
                  <a:srgbClr val="334155"/>
                </a:solidFill>
              </a:rPr>
              <a:t>Microsoft Learn, "AADNonInteractiveUserSignInLogs" (Azure Monitor table reference), https://learn.microsoft.com/azure/azure-monitor/reference/tables/aadnoninteractiveusersigninlogs (accessed Oct 30, 2026).</a:t>
            </a:r>
            <a:endParaRPr lang="en-US" sz="1050" dirty="0"/>
          </a:p>
          <a:p>
            <a:pPr indent="0" marL="0">
              <a:spcAft>
                <a:spcPts val="300"/>
              </a:spcAft>
              <a:buNone/>
            </a:pPr>
            <a:r>
              <a:rPr lang="en-US" sz="1050" b="1" dirty="0">
                <a:solidFill>
                  <a:srgbClr val="1F2A44"/>
                </a:solidFill>
              </a:rPr>
              <a:t>pa02-table-audit  </a:t>
            </a:r>
            <a:pPr indent="0" marL="0">
              <a:spcAft>
                <a:spcPts val="300"/>
              </a:spcAft>
              <a:buNone/>
            </a:pPr>
            <a:r>
              <a:rPr lang="en-US" sz="1050" dirty="0">
                <a:solidFill>
                  <a:srgbClr val="334155"/>
                </a:solidFill>
              </a:rPr>
              <a:t>Microsoft Learn, "AuditLogs" (Azure Monitor table reference), columns, https://learn.microsoft.com/azure/azure-monitor/reference/tables/auditlogs (accessed Oct 30, 2026).</a:t>
            </a:r>
            <a:endParaRPr lang="en-US" sz="1050" dirty="0"/>
          </a:p>
          <a:p>
            <a:pPr indent="0" marL="0">
              <a:spcAft>
                <a:spcPts val="300"/>
              </a:spcAft>
              <a:buNone/>
            </a:pPr>
            <a:r>
              <a:rPr lang="en-US" sz="1050" b="1" dirty="0">
                <a:solidFill>
                  <a:srgbClr val="1F2A44"/>
                </a:solidFill>
              </a:rPr>
              <a:t>pa02-sqr  </a:t>
            </a:r>
            <a:pPr indent="0" marL="0">
              <a:spcAft>
                <a:spcPts val="300"/>
              </a:spcAft>
              <a:buNone/>
            </a:pPr>
            <a:r>
              <a:rPr lang="en-US" sz="1050" dirty="0">
                <a:solidFill>
                  <a:srgbClr val="334155"/>
                </a:solidFill>
              </a:rPr>
              <a:t>Microsoft Learn, "Microsoft.Insights scheduledQueryRules 2023-12-01" (ARM template reference), https://learn.microsoft.com/azure/templates/microsoft.insights/2023-12-01/scheduledqueryrules (accessed Oct 30, 2026).</a:t>
            </a:r>
            <a:endParaRPr lang="en-US" sz="1050" dirty="0"/>
          </a:p>
          <a:p>
            <a:pPr indent="0" marL="0">
              <a:spcAft>
                <a:spcPts val="300"/>
              </a:spcAft>
              <a:buNone/>
            </a:pPr>
            <a:r>
              <a:rPr lang="en-US" sz="1050" b="1" dirty="0">
                <a:solidFill>
                  <a:srgbClr val="1F2A44"/>
                </a:solidFill>
              </a:rPr>
              <a:t>pa02-integrate  </a:t>
            </a:r>
            <a:pPr indent="0" marL="0">
              <a:spcAft>
                <a:spcPts val="300"/>
              </a:spcAft>
              <a:buNone/>
            </a:pPr>
            <a:r>
              <a:rPr lang="en-US" sz="1050" dirty="0">
                <a:solidFill>
                  <a:srgbClr val="334155"/>
                </a:solidFill>
              </a:rPr>
              <a:t>Microsoft Learn, "Integrate Microsoft Entra logs with Azure Monitor logs," prerequisites and send logs to Azure Monitor, https://learn.microsoft.com/entra/identity/monitoring-health/howto-integrate-activity-logs-with-azure-monitor-logs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(2)</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pa02-analyze  </a:t>
            </a:r>
            <a:pPr indent="0" marL="0">
              <a:spcAft>
                <a:spcPts val="300"/>
              </a:spcAft>
              <a:buNone/>
            </a:pPr>
            <a:r>
              <a:rPr lang="en-US" sz="1050" dirty="0">
                <a:solidFill>
                  <a:srgbClr val="334155"/>
                </a:solidFill>
              </a:rPr>
              <a:t>Microsoft Learn, "Analyze Microsoft Entra activity logs with Log Analytics," prerequisites, https://learn.microsoft.com/entra/identity/monitoring-health/howto-analyze-activity-logs-log-analytics (accessed Oct 30, 2026).</a:t>
            </a:r>
            <a:endParaRPr lang="en-US" sz="1050" dirty="0"/>
          </a:p>
          <a:p>
            <a:pPr indent="0" marL="0">
              <a:spcAft>
                <a:spcPts val="300"/>
              </a:spcAft>
              <a:buNone/>
            </a:pPr>
            <a:r>
              <a:rPr lang="en-US" sz="1050" b="1" dirty="0">
                <a:solidFill>
                  <a:srgbClr val="1F2A44"/>
                </a:solidFill>
              </a:rPr>
              <a:t>pa02-user-get  </a:t>
            </a:r>
            <a:pPr indent="0" marL="0">
              <a:spcAft>
                <a:spcPts val="300"/>
              </a:spcAft>
              <a:buNone/>
            </a:pPr>
            <a:r>
              <a:rPr lang="en-US" sz="1050" dirty="0">
                <a:solidFill>
                  <a:srgbClr val="334155"/>
                </a:solidFill>
              </a:rPr>
              <a:t>Microsoft Learn, "Get a user," permissions, https://learn.microsoft.com/graph/api/user-get?view=graph-rest-1.0 (accessed Oct 30, 2026).</a:t>
            </a:r>
            <a:endParaRPr lang="en-US" sz="1050" dirty="0"/>
          </a:p>
          <a:p>
            <a:pPr indent="0" marL="0">
              <a:spcAft>
                <a:spcPts val="300"/>
              </a:spcAft>
              <a:buNone/>
            </a:pPr>
            <a:r>
              <a:rPr lang="en-US" sz="1050" b="1" dirty="0">
                <a:solidFill>
                  <a:srgbClr val="1F2A44"/>
                </a:solidFill>
              </a:rPr>
              <a:t>pa02-users-basic  </a:t>
            </a:r>
            <a:pPr indent="0" marL="0">
              <a:spcAft>
                <a:spcPts val="300"/>
              </a:spcAft>
              <a:buNone/>
            </a:pPr>
            <a:r>
              <a:rPr lang="en-US" sz="1050" dirty="0">
                <a:solidFill>
                  <a:srgbClr val="334155"/>
                </a:solidFill>
              </a:rPr>
              <a:t>Microsoft Learn, "Working with users in Microsoft Graph," user basic profile properties, https://learn.microsoft.com/graph/api/resources/users?view=graph-rest-1.0 (accessed Oct 30, 2026).</a:t>
            </a:r>
            <a:endParaRPr lang="en-US" sz="1050" dirty="0"/>
          </a:p>
          <a:p>
            <a:pPr indent="0" marL="0">
              <a:spcAft>
                <a:spcPts val="300"/>
              </a:spcAft>
              <a:buNone/>
            </a:pPr>
            <a:r>
              <a:rPr lang="en-US" sz="1050" b="1" dirty="0">
                <a:solidFill>
                  <a:srgbClr val="1F2A44"/>
                </a:solidFill>
              </a:rPr>
              <a:t>pa02-methods  </a:t>
            </a:r>
            <a:pPr indent="0" marL="0">
              <a:spcAft>
                <a:spcPts val="300"/>
              </a:spcAft>
              <a:buNone/>
            </a:pPr>
            <a:r>
              <a:rPr lang="en-US" sz="1050" dirty="0">
                <a:solidFill>
                  <a:srgbClr val="334155"/>
                </a:solidFill>
              </a:rPr>
              <a:t>Microsoft Learn, "List methods," permissions acting on other users, https://learn.microsoft.com/graph/api/authentication-list-methods?view=graph-rest-1.0 (accessed Oct 30, 2026).</a:t>
            </a:r>
            <a:endParaRPr lang="en-US" sz="1050" dirty="0"/>
          </a:p>
          <a:p>
            <a:pPr indent="0" marL="0">
              <a:spcAft>
                <a:spcPts val="300"/>
              </a:spcAft>
              <a:buNone/>
            </a:pPr>
            <a:r>
              <a:rPr lang="en-US" sz="1050" b="1" dirty="0">
                <a:solidFill>
                  <a:srgbClr val="1F2A44"/>
                </a:solidFill>
              </a:rPr>
              <a:t>pa02-fido2  </a:t>
            </a:r>
            <a:pPr indent="0" marL="0">
              <a:spcAft>
                <a:spcPts val="300"/>
              </a:spcAft>
              <a:buNone/>
            </a:pPr>
            <a:r>
              <a:rPr lang="en-US" sz="1050" dirty="0">
                <a:solidFill>
                  <a:srgbClr val="334155"/>
                </a:solidFill>
              </a:rPr>
              <a:t>Microsoft Learn, "List fido2AuthenticationMethod," https://learn.microsoft.com/graph/api/fido2authenticationmethod-list?view=graph-rest-1.0 (accessed Oct 30, 2026).</a:t>
            </a:r>
            <a:endParaRPr lang="en-US" sz="1050" dirty="0"/>
          </a:p>
          <a:p>
            <a:pPr indent="0" marL="0">
              <a:spcAft>
                <a:spcPts val="300"/>
              </a:spcAft>
              <a:buNone/>
            </a:pPr>
            <a:r>
              <a:rPr lang="en-US" sz="1050" b="1" dirty="0">
                <a:solidFill>
                  <a:srgbClr val="1F2A44"/>
                </a:solidFill>
              </a:rPr>
              <a:t>pa02-rasi  </a:t>
            </a:r>
            <a:pPr indent="0" marL="0">
              <a:spcAft>
                <a:spcPts val="300"/>
              </a:spcAft>
              <a:buNone/>
            </a:pPr>
            <a:r>
              <a:rPr lang="en-US" sz="1050" dirty="0">
                <a:solidFill>
                  <a:srgbClr val="334155"/>
                </a:solidFill>
              </a:rPr>
              <a:t>Microsoft Learn, "List roleAssignmentScheduleInstances," https://learn.microsoft.com/graph/api/rbacapplication-list-roleassignmentscheduleinstances?view=graph-rest-1.0 (accessed Oct 30, 2026).</a:t>
            </a:r>
            <a:endParaRPr lang="en-US" sz="1050" dirty="0"/>
          </a:p>
          <a:p>
            <a:pPr indent="0" marL="0">
              <a:spcAft>
                <a:spcPts val="300"/>
              </a:spcAft>
              <a:buNone/>
            </a:pPr>
            <a:r>
              <a:rPr lang="en-US" sz="1050" b="1" dirty="0">
                <a:solidFill>
                  <a:srgbClr val="1F2A44"/>
                </a:solidFill>
              </a:rPr>
              <a:t>pa02-members  </a:t>
            </a:r>
            <a:pPr indent="0" marL="0">
              <a:spcAft>
                <a:spcPts val="300"/>
              </a:spcAft>
              <a:buNone/>
            </a:pPr>
            <a:r>
              <a:rPr lang="en-US" sz="1050" dirty="0">
                <a:solidFill>
                  <a:srgbClr val="334155"/>
                </a:solidFill>
              </a:rPr>
              <a:t>Microsoft Learn, "List group members," permissions, https://learn.microsoft.com/graph/api/group-list-members?view=graph-rest-1.0 (accessed Oct 30, 2026).</a:t>
            </a:r>
            <a:endParaRPr lang="en-US" sz="1050" dirty="0"/>
          </a:p>
          <a:p>
            <a:pPr indent="0" marL="0">
              <a:spcAft>
                <a:spcPts val="300"/>
              </a:spcAft>
              <a:buNone/>
            </a:pPr>
            <a:r>
              <a:rPr lang="en-US" sz="1050" b="1" dirty="0">
                <a:solidFill>
                  <a:srgbClr val="1F2A44"/>
                </a:solidFill>
              </a:rPr>
              <a:t>pa02-ca-list  </a:t>
            </a:r>
            <a:pPr indent="0" marL="0">
              <a:spcAft>
                <a:spcPts val="300"/>
              </a:spcAft>
              <a:buNone/>
            </a:pPr>
            <a:r>
              <a:rPr lang="en-US" sz="1050" dirty="0">
                <a:solidFill>
                  <a:srgbClr val="334155"/>
                </a:solidFill>
              </a:rPr>
              <a:t>Microsoft Learn, "List policies" (conditionalAccessRoot), https://learn.microsoft.com/graph/api/conditionalaccessroot-list-policies?view=graph-rest-1.0 (accessed Oct 30, 2026; read for the validation kit's VK-CA-01).</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Privileged Access, Chapter 02 — Emergency Access Accounts as Code</dc:title>
  <dc:subject>PptxGenJS Presentation</dc:subject>
  <dc:creator>Michael F. Stratton</dc:creator>
  <cp:lastModifiedBy>Michael F. Stratton</cp:lastModifiedBy>
  <cp:revision>1</cp:revision>
  <dcterms:created xsi:type="dcterms:W3CDTF">2026-10-31T14:33:52Z</dcterms:created>
  <dcterms:modified xsi:type="dcterms:W3CDTF">2026-10-31T14:33:52Z</dcterms:modified>
</cp:coreProperties>
</file>