
<file path=[Content_Types].xml><?xml version="1.0" encoding="utf-8"?>
<Types xmlns="http://schemas.openxmlformats.org/package/2006/content-types">
  <Default Extension="mp3" ContentType="audio/mpeg"/>
  <Default Extension="png" ContentType="image/png"/>
  <Default Extension="rels" ContentType="application/vnd.openxmlformats-package.relationships+xml"/>
  <Default Extension="xml" ContentType="application/xml"/>
  <Default Extension="vtt" ContentType="text/vtt"/>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7"/>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Why the boundary decides" id="{9C9024C4-88D2-6DC9-6FF2-4937324F47AC}">
          <p14:sldIdLst>
            <p14:sldId id="256"/>
            <p14:sldId id="257"/>
            <p14:sldId id="258"/>
            <p14:sldId id="259"/>
          </p14:sldIdLst>
        </p14:section>
        <p14:section name="What changes" id="{D3B3E9AD-B7F1-A2BA-E047-78C5DE99279B}">
          <p14:sldIdLst>
            <p14:sldId id="260"/>
            <p14:sldId id="261"/>
            <p14:sldId id="262"/>
            <p14:sldId id="263"/>
            <p14:sldId id="264"/>
          </p14:sldIdLst>
        </p14:section>
        <p14:section name="Who owns it" id="{6D142270-F19E-E430-6005-82708D57104D}">
          <p14:sldIdLst>
            <p14:sldId id="265"/>
          </p14:sldIdLst>
        </p14:section>
        <p14:section name="How to do it" id="{7B5360EF-4FA1-9175-ADFF-FF268748BDA8}">
          <p14:sldIdLst>
            <p14:sldId id="266"/>
            <p14:sldId id="267"/>
            <p14:sldId id="268"/>
            <p14:sldId id="269"/>
            <p14:sldId id="270"/>
          </p14:sldIdLst>
        </p14:section>
        <p14:section name="Backup" id="{38576058-080E-7DEC-A4D9-78243AD11DD2}">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86048825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[0:00–0:35]  This briefing comes from Book 10 of the Federal Modernization Workbook, Cloud Boundary and Landing Zone: how the authorization boundary, not the product catalog, decides which cloud features an agency can use,.
I'll take four questions: why the boundary decides what you can use, what has to change, who owns the boundary, and how to get there.
The short version: treat the boundary as a list you can read, not a perimeter you can only accept, and evidence every choice in your own package.
Workbook: Book 10, index; Chapter 01 — Why the Boundary Decides What You Can Use.</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[0:35–1:39]  Why does the authorization boundary decide what you can use? Start with two agencies holding the same Microsoft 365 license. One runs a commercial tenant and sees per-location network assessments, informed network routing and an Adoption Score. The other runs a GCC tenant and sees none of them, because Microsoft documents each one as unavailable there.
Three decisions, made by three parties, have to line up. FedRAMP certifies a specific offering at a certification class, and the Marketplace is the record. The provider publishes, feature by feature, what each government environment leaves out. And the agency authorizes its own system: its authorizing official accepts the risk of the configuration selected and the integrations enabled. FedRAMP says an agency should never create a standalone authorization to operate for a cloud service.
What the agency can use is the overlap of all three. A feature with no citation is unverified, not available.
Workbook: Book 10, Chapter 01 — Why the Boundary Decides What You Can Use (The catalog is not the boundary; Three checks, three owners).</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[1:39–2:40]  Chapter 02 explains why the gap stays invisible until a design depends on it. Surfaces are shared: Intune in GCC is the same instance as commercial Intune. Exclusions are scattered, one sentence per feature page. Features move: Microsoft retired Adoption Score's technology-experience categories for every tenant in early 2026. And absence doesn't announce itself. A detection whose input never arrives looks exactly like a quiet day.
The book then corrects a widely repeated example. Five features were said to be silently missing from GCC. Checked against Microsoft's documentation, one is: the Locations view of network connectivity in the admin center. Device Health Attestation and expedited updates are GCC High and DoD gaps. Endpoint analytics isn't a documented GCC gap. And Azure Arc is an Azure service, in Azure's FedRAMP High scope.
An unverified boundary story sends an agency to build compensations it doesn't need.
Workbook: Book 10, Chapter 02 — The Invisible Boundary (Why the boundary is invisible; The worked example, corrected).</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[2:40–3:42]  The book models a boundary as any surface across which four things change. It's the book's own model, not a FedRAMP or Microsoft construct.
Telemetry fidelity asks which signals actually arrive on this side. In GCC, admin-center network connectivity, informed network routing and Adoption Score are documented as unavailable. Identity authority asks who a claim's issuer resolves to: GCC pairs with Entra ID in commercial Azure, GCC High and DoD with Azure Government. Enforcement responsibility asks who must enforce a control: without Microsoft's per-circuit feedback, path selection rests on the agency's own SD-WAN measurements. Provenance classification asks whether a claim is still authoritative, or only derived.
Each dimension raises its own drift class. Detection is shipped for two classes, partial for one and design only for two.
And FedRAMP's definition of federal customer data excludes the analytics and telemetry a provider generates. No certification promises you a signal.
Workbook: Book 10, Chapter 02 — The Invisible Boundary (Four things that change across a boundary).</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[3:42–4:46]  What changed at FedRAMP? Three things.
First, services are now certified, in Classes A to D. FedRAMP's February 2026 notice says Class C includes the current Moderate baseline and Class D the current High, and that agencies may authorize at any security category they deem appropriate.
Second, the rules have no provider authorization boundary. In the machine-readable ruleset, version 2026.10.13.01, that phrase occurs zero times. The word boundary appears eight times, four of them as a tag on rule families: minimum assessment scope, cryptographic module use, vulnerability detection and response, and certification data sharing. Security category may vary by resource.
Third, change is notified, not re-approved, and the deadlines are in business days. Routine recurring changes need no notice. Adaptive changes, within 10 business days after finishing. Transformative changes, initial plans 30 business days before.
Adoption is mandatory on January 1, 2027, and new Rev5 requests stop on June 11, 2027.
Workbook: Book 10, Chapter 03 — What Changed at FedRAMP (Certification replaces authorization; The rules have no provider authorization boundary; Change control replaces re-authorization; Rev5 and the 2026 rules side by side).</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[4:46–5:52]  Chapter 04 reads GCC from Microsoft's own documents. It's the worldwide service with a published list of exclusions, and the list isn't a ladder. Network connectivity in the admin center, Adoption Score, the Office 365 CDN and informed network routing are missing in GCC, GCC High and DoD alike. Windows release health and Excel Office Scripts reach GCC and stop there.
The largest documented loss is the network connectivity layer: a daily assessment from 0 to 100 for each location, with 80 as the healthy baseline, and performance attributed to named network providers. A GCC agency funds its own measurement instead.
On the Marketplace, read October 21, 2026, the GCC package, MSO365MT, is FedRAMP Certified at Class C, Moderate, with 100 authorizations. A second package with the identical name is In Process at Class D. But GCC High is already Class D, and still lacks network connectivity. A higher class doesn't restore an excluded feature.
Workbook: Book 10, Chapter 04 — GCC, GCC High and the Commercial Feature Gap (The gaps form a list, not a ladder; What agencies verifiably lose; Microsoft is pursuing High for GCC; Impact level and feature availability are different axes).</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[5:52–6:53]  The landing zone is where the boundary stops being a diagram. Each workload landing zone is a subscription placed in a management group that carries its policy.
The baseline hierarchy puts an intermediate root under the tenant root, and that's where boundary policy goes. Platform groups hold security, management, connectivity and identity. Landing zone groups hold corporate, online and local workloads. Make Sandbox the default, so no new subscription lands outside the boundary policy.
Each boundary decision gets a mechanism: the cloud choice; Allowed locations with Deny; allowed resource types, checked against Microsoft's audit-scope list; the FedRAMP regulatory compliance initiative, which Microsoft calls only a partial view; and exemptions, Mitigated or Waiver, with an expiry date. Roll each policy out in audit mode first.
One catch: Microsoft's accelerators are supported only in public Azure. In Azure Government, the platform team adapts the code by hand.
Workbook: Book 10, Chapter 05 — The Landing Zone (What a landing zone is; The management group hierarchy; Where each boundary decision lands; Enforcing without breaking things).</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[6:53–7:56]  Chapter 06 makes the address plan the join key. A scan finds what answered; the IPAM records what was allocated, so every inventory reconciles against it. BOD 23-01 already asks for automated discovery every 7 days across the entire IPv4 space the agency uses.
In Azure the enterprise IPAM stays the authority. Reserve the block there first. Mirror it into Virtual Network Manager pools, entering ranges used elsewhere as static CIDRs. Then assign an Azure Policy that denies any virtual network without a pool allocation, and reconcile by discovery. Virtual Network Manager isn't named in Microsoft's FedRAMP audit-scope tables, so record it as a dependency until coverage is confirmed.
Build it as five layered modules, each writing its state as evidence. And treat outside inputs as code. There's no separate GCC endpoint list: a GCC tenant uses the Worldwide instance, updated monthly, with 30 days' notice of new endpoints.
Workbook: Book 10, Chapter 06 — IPAM and Network as Code (The address plan is the join key; Azure: mirror the authority, enforce the pool; A boundary check on the IPAM service itself; Network as code; Inputs that change underneath the code).</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[7:56–9:00]  Code anyone can apply from a laptop isn't change control. Chapter 07 adds the front door: the governed request into the landing zone, which Microsoft calls subscription vending.
The loop has six steps: request, approve, plan, apply, reconcile and close. The requester can't approve their own request, which is AC-5, separation of duties. The approver reviews the actual plan before anything changes. And step 5 carries the most weight: the pipeline writes the address allocation back to the enterprise IPAM and fails the run if the two disagree, because an unreconciled block is shadow inventory the moment it exists.
The pipeline is inside the boundary question too. Terraform state is sensitive data. On October 21, 2026, the Marketplace had no listing for HCP Terraform; GitHub Enterprise Cloud was listed at Class B, and GitLab Dedicated for Government at Class C. The default is a self-hosted runner and state inside the agency's boundary.
Workbook: Book 10, Chapter 07 — The Landing Zone Front Door (Microsoft's model: subscription vending; The provisioning loop; The pipeline is inside the boundary too).</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[9:00–10:04]  Who owns the boundary? The rule is one decider per row.
The authorizing official determines the boundary, signs every documented exception and decides whether a change requires reauthorization. Under SP 800-37, explicit risk acceptance can't be delegated, and for federal agencies the role is assigned to government personnel only. The system owner is the boundary owner: keeper of the boundary record and the package, and the decider on placing a new workload, because vending an unrecorded subscription is the cheapest way to turn an authorized system into an unauthorized one. The CISO sets control requirements, and the ISSO reads provider change notices against the record.
The platform team builds the hierarchy, policy, vending and probe, but doesn't decide whether a gap is acceptable. And the contract is a boundary decision: the GCC listing says customers must buy a GCC SKU to be covered. Only a contracting officer changes what the agency bought.
Workbook: Book 10, Chapter 08 — Who Owns the Boundary (Where the roles come from; The roles; The responsibility matrix).</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[10:04–11:08]  How do you handle a capability that's outside? NIST SP 800-37 names four options: compensating controls, accepting greater risk, a more trustworthy provider, or not obtaining the service.
Build a register, one feature per row, each with the provider's own statement. Only vendor-confirmed rows support a claim to a provider or an assessor. Probe what actually works in your tenant, on a schedule, testing for the output rather than the switch. Where a gap is real, build an in-boundary equivalent and say it's derived. Or take an exception. ExpressRoute for Microsoft 365 is authorized only when a regulatory requirement mandates direct connectivity, and the book found no FedRAMP rule or FISMA provision that does. Otherwise the authorizing official signs a dated risk acceptance.
The 2026 rules add four scope arguments, each with a limit. And buy the capability, not the badge: Microsoft's Network Provider Program is closed to new providers.
Workbook: Book 10, Chapter 09 — In-Boundary Equivalents and Documented Exceptions.</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[11:08–12:14]  The third answer is an alternative path: a different certified service for the workload, with the identity plane left where it is.
Read the Marketplace, not the announcement. Google Workspace is listed at Class D, while Gemini for Government is a separate listing at Class B. Which AI features sit inside which certification is a question for the package.
The public record shows both outcomes. In September 2025 a cabinet-level department awarded a five-year agreement worth up to 89 million dollars to move more than 50,000 employees to Google Workspace, under a GSA agreement with a temporary 71 percent price reduction. A military department went the other way, ending about 150,000 Google email licenses after an audit found about 16 percent in use.
Keep Entra ID as the source: provision users, federate sign-in, apply Conditional Access there. Then close the gaps: Google super administrators sign in outside it, and Google's directory is derived, so report drift.
Workbook: Book 10, Chapter 10 — Alternative Collaboration Paths.</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[12:14–13:20]  Finally, evidence the boundary in the agency's own package. The agency never authorizes a cloud service; it authorizes its system that uses one, and its plan should only contain what the agency is responsible for. FedRAMP's Rev5 guidance is blunt: don't copy and paste provider controls into the agency plan.
Write the boundary down once, as a boundary record the system owner keeps, and cite it everywhere: the system description under PL-2, each external service under SA-9 with its Marketplace package, class and SKU, each crossing under CA-3, the gaps the agency will close on the POA&amp;M, and each equivalent in an OSCAL component definition.
Know whose package you're reading. The GCC listing says the service leverages Azure Government as its infrastructure, so the inheritance chain runs through two provider packages.
A compensating narrative takes four sentences: what the control needs, what's unavailable with its citation, what runs instead marked derived, and where the remaining gap is recorded.
Workbook: Book 10, Chapter 11 — Evidencing the Boundary in the Authorization Package.</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[13:20–14:24]  Appendix A turns all of this into requests. Three habits make a request hard to deflect: name one item, cite the basis with a link, and ask for data, not documents.
Eight requests follow. Publish the per-feature exclusion list as data. Name the exception path for each feature. Restore the network observability layer in GCC, or publish the specific obstacle. Explain the two same-named GCC packages, and what Class D would and wouldn't change. List the agents and clients that sit outside the certified offering. Provide a FedRAMP-compatible trust center with programmatic access: on October 21, 2026, only 110 of 781 Marketplace listings had a trust-center entry, and none of the three Microsoft 365 government packages did. Deliver change notices as a JSON feed. And document the cryptographic modules for each service.
Five of the eight rest on obligations the rules already place on providers. A documented no is evidence too.
Workbook: Book 10, Appendix A — What to Ask a Cloud Provider For.</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[14:24–15:27]  So, four decisions.
Build the feature register on cited rows only, one row per feature and environment, and drop or relabel anything without a vendor page.
Name the boundary owner: the authorizing official decides the boundary, and the system owner keeps the record and gates every new subscription.
Enforce the boundary in the landing zone: policy at the intermediate root, audit before deny, and the governed front door.
And evidence every response, whether equivalent, exception or alternative path, in the agency's own package.
The next step needs no award: before the next architecture review, list every cloud feature your designs depend on, with its Marketplace package, its availability in your environment and the page that says so. Then put Appendix A's requests to your provider.
The license says what you bought; the boundary says what you may use. Book 10 has the detail, every claim footnoted. Thank you.
Workbook: Book 10, Chapters 01, 05, 06, 07, 08, 09 and 11; Appendix A.</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731520" y="1463040"/>
            <a:ext cx="6217920" cy="1920240"/>
          </a:xfrm>
          <a:prstGeom prst="rect">
            <a:avLst/>
          </a:prstGeom>
          <a:noFill/>
          <a:ln/>
        </p:spPr>
        <p:txBody>
          <a:bodyPr wrap="square" rtlCol="0"/>
          <a:lstStyle>
            <a:lvl1pPr marL="0" indent="0" algn="l">
              <a:buNone/>
              <a:defRPr lang="en-US" sz="4400" b="1" dirty="0">
                <a:solidFill>
                  <a:schemeClr val="tx1"/>
                </a:solidFill>
                <a:latin typeface="Cambria" pitchFamily="34" charset="0"/>
                <a:ea typeface="Cambria" pitchFamily="34" charset="-122"/>
                <a:cs typeface="Cambria" pitchFamily="34" charset="-120"/>
              </a:defRPr>
            </a:lvl1pPr>
          </a:lstStyle>
          <a:p>
            <a:pPr marL="0" indent="0" algn="l">
              <a:buNone/>
            </a:pPr>
            <a:endParaRPr lang="en-US" sz="4400" dirty="0"/>
          </a:p>
        </p:txBody>
      </p:sp>
      <p:sp>
        <p:nvSpPr>
          <p:cNvPr id="3" name="Text 0"/>
          <p:cNvSpPr>
            <a:spLocks noGrp="1"/>
          </p:cNvSpPr>
          <p:nvPr>
            <p:ph type="body" idx="101" hasCustomPrompt="1"/>
          </p:nvPr>
        </p:nvSpPr>
        <p:spPr>
          <a:xfrm>
            <a:off x="731520" y="3520440"/>
            <a:ext cx="6035040" cy="822960"/>
          </a:xfrm>
          <a:prstGeom prst="rect">
            <a:avLst/>
          </a:prstGeom>
          <a:noFill/>
          <a:ln/>
        </p:spPr>
        <p:txBody>
          <a:bodyPr wrap="square" rtlCol="0"/>
          <a:lstStyle>
            <a:lvl1pPr marL="0" indent="0">
              <a:buNone/>
              <a:defRPr lang="en-US" sz="2200" dirty="0">
                <a:solidFill>
                  <a:schemeClr val="accent2"/>
                </a:solidFill>
              </a:defRPr>
            </a:lvl1pPr>
          </a:lstStyle>
          <a:p>
            <a:pPr marL="0" indent="0">
              <a:buNone/>
            </a:pPr>
            <a:endParaRPr lang="en-US" sz="22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rtlCol="0"/>
          <a:lstStyle>
            <a:lvl1pPr marL="0" indent="0" algn="ctr">
              <a:buNone/>
              <a:defRPr lang="en-US" sz="3000" b="1" dirty="0">
                <a:solidFill>
                  <a:schemeClr val="tx1"/>
                </a:solidFill>
                <a:latin typeface="Cambria" pitchFamily="34" charset="0"/>
                <a:ea typeface="Cambria" pitchFamily="34" charset="-122"/>
                <a:cs typeface="Cambria" pitchFamily="34" charset="-120"/>
              </a:defRPr>
            </a:lvl1pPr>
          </a:lstStyle>
          <a:p>
            <a:pPr marL="0" indent="0" algn="ctr">
              <a:buNone/>
            </a:pPr>
            <a:endParaRPr lang="en-US" sz="3000" dirty="0"/>
          </a:p>
        </p:txBody>
      </p:sp>
      <p:sp>
        <p:nvSpPr>
          <p:cNvPr id="3" name="Text 0"/>
          <p:cNvSpPr/>
          <p:nvPr/>
        </p:nvSpPr>
        <p:spPr>
          <a:xfrm>
            <a:off x="548640" y="6400800"/>
            <a:ext cx="8229600" cy="274320"/>
          </a:xfrm>
          <a:prstGeom prst="rect">
            <a:avLst/>
          </a:prstGeom>
          <a:noFill/>
          <a:ln/>
        </p:spPr>
        <p:txBody>
          <a:bodyPr wrap="square" lIns="0" tIns="0" rIns="0" bIns="0" rtlCol="0" anchor="ctr"/>
          <a:lstStyle/>
          <a:p>
            <a:pPr marL="0" indent="0">
              <a:buNone/>
            </a:pPr>
            <a:r>
              <a:rPr lang="en-US" sz="1000" dirty="0">
                <a:solidFill>
                  <a:schemeClr val="accent5"/>
                </a:solidFill>
              </a:rPr>
              <a:t>Federal Modernization Workbook  ·  Book 10 Cloud Boundary &amp; Landing Zone</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media1.mp3"/><Relationship Id="rId1" Type="http://schemas.microsoft.com/office/2007/relationships/media" Target="../media/media1.mp3"/><Relationship Id="rId5" Type="http://schemas.openxmlformats.org/officeDocument/2006/relationships/image" Target="../media/image3.png"/><Relationship Id="rId4" Type="http://schemas.openxmlformats.org/officeDocument/2006/relationships/notesSlide" Target="../notesSlides/notesSlide1.xml"/><Relationship Id="rId6" Type="http://schemas.microsoft.com/office/2017/04/relationships/track" Target="../media/captions_slide01.vtt"/></Relationships>
</file>

<file path=ppt/slides/_rels/slide2.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slideLayout" Target="../slideLayouts/slideLayout3.xml"/><Relationship Id="rId7" Type="http://schemas.openxmlformats.org/officeDocument/2006/relationships/image" Target="../media/image6.png"/><Relationship Id="rId2" Type="http://schemas.openxmlformats.org/officeDocument/2006/relationships/audio" Target="../media/media2.mp3"/><Relationship Id="rId1" Type="http://schemas.microsoft.com/office/2007/relationships/media" Target="../media/media2.mp3"/><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notesSlide" Target="../notesSlides/notesSlide2.xml"/><Relationship Id="rId9" Type="http://schemas.openxmlformats.org/officeDocument/2006/relationships/image" Target="../media/image3.png"/><Relationship Id="rId10" Type="http://schemas.microsoft.com/office/2017/04/relationships/track" Target="../media/captions_slide02.vtt"/></Relationships>
</file>

<file path=ppt/slides/_rels/slide3.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3.mp3"/><Relationship Id="rId1" Type="http://schemas.microsoft.com/office/2007/relationships/media" Target="../media/media3.mp3"/><Relationship Id="rId6" Type="http://schemas.openxmlformats.org/officeDocument/2006/relationships/image" Target="../media/image3.png"/><Relationship Id="rId5" Type="http://schemas.openxmlformats.org/officeDocument/2006/relationships/image" Target="../media/image8.png"/><Relationship Id="rId4" Type="http://schemas.openxmlformats.org/officeDocument/2006/relationships/notesSlide" Target="../notesSlides/notesSlide3.xml"/><Relationship Id="rId7" Type="http://schemas.microsoft.com/office/2017/04/relationships/track" Target="../media/captions_slide03.vtt"/></Relationships>
</file>

<file path=ppt/slides/_rels/slide4.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3.png"/><Relationship Id="rId2" Type="http://schemas.openxmlformats.org/officeDocument/2006/relationships/audio" Target="../media/media4.mp3"/><Relationship Id="rId1" Type="http://schemas.microsoft.com/office/2007/relationships/media" Target="../media/media4.mp3"/><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notesSlide" Target="../notesSlides/notesSlide4.xml"/><Relationship Id="rId8" Type="http://schemas.microsoft.com/office/2017/04/relationships/track" Target="../media/captions_slide04.vtt"/></Relationships>
</file>

<file path=ppt/slides/_rels/slide5.xml.rels><?xml version='1.0' encoding='UTF-8' standalone='yes'?>
<Relationships xmlns="http://schemas.openxmlformats.org/package/2006/relationships"><Relationship Id="rId8" Type="http://schemas.openxmlformats.org/officeDocument/2006/relationships/image" Target="../media/image12.png"/><Relationship Id="rId3" Type="http://schemas.openxmlformats.org/officeDocument/2006/relationships/slideLayout" Target="../slideLayouts/slideLayout3.xml"/><Relationship Id="rId7" Type="http://schemas.openxmlformats.org/officeDocument/2006/relationships/image" Target="../media/image11.png"/><Relationship Id="rId2" Type="http://schemas.openxmlformats.org/officeDocument/2006/relationships/audio" Target="../media/media5.mp3"/><Relationship Id="rId1" Type="http://schemas.microsoft.com/office/2007/relationships/media" Target="../media/media5.mp3"/><Relationship Id="rId6" Type="http://schemas.openxmlformats.org/officeDocument/2006/relationships/image" Target="../media/image10.png"/><Relationship Id="rId5" Type="http://schemas.openxmlformats.org/officeDocument/2006/relationships/image" Target="../media/image4.png"/><Relationship Id="rId4" Type="http://schemas.openxmlformats.org/officeDocument/2006/relationships/notesSlide" Target="../notesSlides/notesSlide5.xml"/><Relationship Id="rId9" Type="http://schemas.openxmlformats.org/officeDocument/2006/relationships/image" Target="../media/image3.png"/><Relationship Id="rId10" Type="http://schemas.microsoft.com/office/2017/04/relationships/track" Target="../media/captions_slide05.vtt"/></Relationships>
</file>

<file path=ppt/slides/_rels/slide6.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3.png"/><Relationship Id="rId2" Type="http://schemas.openxmlformats.org/officeDocument/2006/relationships/audio" Target="../media/media6.mp3"/><Relationship Id="rId1" Type="http://schemas.microsoft.com/office/2007/relationships/media" Target="../media/media6.mp3"/><Relationship Id="rId6" Type="http://schemas.openxmlformats.org/officeDocument/2006/relationships/image" Target="../media/image7.png"/><Relationship Id="rId5" Type="http://schemas.openxmlformats.org/officeDocument/2006/relationships/image" Target="../media/image4.png"/><Relationship Id="rId4" Type="http://schemas.openxmlformats.org/officeDocument/2006/relationships/notesSlide" Target="../notesSlides/notesSlide6.xml"/><Relationship Id="rId8" Type="http://schemas.microsoft.com/office/2017/04/relationships/track" Target="../media/captions_slide06.vtt"/></Relationships>
</file>

<file path=ppt/slides/_rels/slide7.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3.png"/><Relationship Id="rId2" Type="http://schemas.openxmlformats.org/officeDocument/2006/relationships/audio" Target="../media/media7.mp3"/><Relationship Id="rId1" Type="http://schemas.microsoft.com/office/2007/relationships/media" Target="../media/media7.mp3"/><Relationship Id="rId6" Type="http://schemas.openxmlformats.org/officeDocument/2006/relationships/image" Target="../media/image7.png"/><Relationship Id="rId5" Type="http://schemas.openxmlformats.org/officeDocument/2006/relationships/image" Target="../media/image13.png"/><Relationship Id="rId4" Type="http://schemas.openxmlformats.org/officeDocument/2006/relationships/notesSlide" Target="../notesSlides/notesSlide7.xml"/><Relationship Id="rId8" Type="http://schemas.microsoft.com/office/2017/04/relationships/track" Target="../media/captions_slide07.vtt"/></Relationships>
</file>

<file path=ppt/slides/_rels/slide8.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3.png"/><Relationship Id="rId2" Type="http://schemas.openxmlformats.org/officeDocument/2006/relationships/audio" Target="../media/media8.mp3"/><Relationship Id="rId1" Type="http://schemas.microsoft.com/office/2007/relationships/media" Target="../media/media8.mp3"/><Relationship Id="rId6" Type="http://schemas.openxmlformats.org/officeDocument/2006/relationships/image" Target="../media/image15.png"/><Relationship Id="rId5" Type="http://schemas.openxmlformats.org/officeDocument/2006/relationships/image" Target="../media/image14.png"/><Relationship Id="rId4" Type="http://schemas.openxmlformats.org/officeDocument/2006/relationships/notesSlide" Target="../notesSlides/notesSlide8.xml"/><Relationship Id="rId8" Type="http://schemas.microsoft.com/office/2017/04/relationships/track" Target="../media/captions_slide08.vtt"/></Relationships>
</file>

<file path=ppt/slides/_rels/slide9.xml.rels><?xml version='1.0' encoding='UTF-8' standalone='yes'?>
<Relationships xmlns="http://schemas.openxmlformats.org/package/2006/relationships"><Relationship Id="rId8" Type="http://schemas.openxmlformats.org/officeDocument/2006/relationships/image" Target="../media/image3.png"/><Relationship Id="rId3" Type="http://schemas.openxmlformats.org/officeDocument/2006/relationships/slideLayout" Target="../slideLayouts/slideLayout3.xml"/><Relationship Id="rId7" Type="http://schemas.openxmlformats.org/officeDocument/2006/relationships/image" Target="../media/image17.png"/><Relationship Id="rId2" Type="http://schemas.openxmlformats.org/officeDocument/2006/relationships/audio" Target="../media/media9.mp3"/><Relationship Id="rId1" Type="http://schemas.microsoft.com/office/2007/relationships/media" Target="../media/media9.mp3"/><Relationship Id="rId6" Type="http://schemas.openxmlformats.org/officeDocument/2006/relationships/image" Target="../media/image16.png"/><Relationship Id="rId5" Type="http://schemas.openxmlformats.org/officeDocument/2006/relationships/image" Target="../media/image14.png"/><Relationship Id="rId4" Type="http://schemas.openxmlformats.org/officeDocument/2006/relationships/notesSlide" Target="../notesSlides/notesSlide9.xml"/><Relationship Id="rId9" Type="http://schemas.microsoft.com/office/2017/04/relationships/track" Target="../media/captions_slide09.vtt"/></Relationships>
</file>

<file path=ppt/slides/_rels/slide10.xml.rels><?xml version='1.0' encoding='UTF-8' standalone='yes'?>
<Relationships xmlns="http://schemas.openxmlformats.org/package/2006/relationships"><Relationship Id="rId8" Type="http://schemas.openxmlformats.org/officeDocument/2006/relationships/image" Target="../media/image3.png"/><Relationship Id="rId3" Type="http://schemas.openxmlformats.org/officeDocument/2006/relationships/slideLayout" Target="../slideLayouts/slideLayout3.xml"/><Relationship Id="rId7" Type="http://schemas.openxmlformats.org/officeDocument/2006/relationships/image" Target="../media/image20.png"/><Relationship Id="rId2" Type="http://schemas.openxmlformats.org/officeDocument/2006/relationships/audio" Target="../media/media10.mp3"/><Relationship Id="rId1" Type="http://schemas.microsoft.com/office/2007/relationships/media" Target="../media/media10.mp3"/><Relationship Id="rId6" Type="http://schemas.openxmlformats.org/officeDocument/2006/relationships/image" Target="../media/image19.png"/><Relationship Id="rId5" Type="http://schemas.openxmlformats.org/officeDocument/2006/relationships/image" Target="../media/image18.png"/><Relationship Id="rId4" Type="http://schemas.openxmlformats.org/officeDocument/2006/relationships/notesSlide" Target="../notesSlides/notesSlide10.xml"/><Relationship Id="rId9" Type="http://schemas.microsoft.com/office/2017/04/relationships/track" Target="../media/captions_slide10.vtt"/></Relationships>
</file>

<file path=ppt/slides/_rels/slide1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3.png"/><Relationship Id="rId2" Type="http://schemas.openxmlformats.org/officeDocument/2006/relationships/audio" Target="../media/media11.mp3"/><Relationship Id="rId1" Type="http://schemas.microsoft.com/office/2007/relationships/media" Target="../media/media11.mp3"/><Relationship Id="rId6" Type="http://schemas.openxmlformats.org/officeDocument/2006/relationships/image" Target="../media/image21.png"/><Relationship Id="rId5" Type="http://schemas.openxmlformats.org/officeDocument/2006/relationships/image" Target="../media/image8.png"/><Relationship Id="rId4" Type="http://schemas.openxmlformats.org/officeDocument/2006/relationships/notesSlide" Target="../notesSlides/notesSlide11.xml"/><Relationship Id="rId8" Type="http://schemas.microsoft.com/office/2017/04/relationships/track" Target="../media/captions_slide11.vtt"/></Relationships>
</file>

<file path=ppt/slides/_rels/slide12.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3.png"/><Relationship Id="rId2" Type="http://schemas.openxmlformats.org/officeDocument/2006/relationships/audio" Target="../media/media12.mp3"/><Relationship Id="rId1" Type="http://schemas.microsoft.com/office/2007/relationships/media" Target="../media/media12.mp3"/><Relationship Id="rId6" Type="http://schemas.openxmlformats.org/officeDocument/2006/relationships/image" Target="../media/image23.png"/><Relationship Id="rId5" Type="http://schemas.openxmlformats.org/officeDocument/2006/relationships/image" Target="../media/image22.png"/><Relationship Id="rId4" Type="http://schemas.openxmlformats.org/officeDocument/2006/relationships/notesSlide" Target="../notesSlides/notesSlide12.xml"/><Relationship Id="rId8" Type="http://schemas.microsoft.com/office/2017/04/relationships/track" Target="../media/captions_slide12.vtt"/></Relationships>
</file>

<file path=ppt/slides/_rels/slide13.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3.png"/><Relationship Id="rId2" Type="http://schemas.openxmlformats.org/officeDocument/2006/relationships/audio" Target="../media/media13.mp3"/><Relationship Id="rId1" Type="http://schemas.microsoft.com/office/2007/relationships/media" Target="../media/media13.mp3"/><Relationship Id="rId6" Type="http://schemas.openxmlformats.org/officeDocument/2006/relationships/image" Target="../media/image10.png"/><Relationship Id="rId5" Type="http://schemas.openxmlformats.org/officeDocument/2006/relationships/image" Target="../media/image12.png"/><Relationship Id="rId4" Type="http://schemas.openxmlformats.org/officeDocument/2006/relationships/notesSlide" Target="../notesSlides/notesSlide13.xml"/><Relationship Id="rId8" Type="http://schemas.microsoft.com/office/2017/04/relationships/track" Target="../media/captions_slide13.vtt"/></Relationships>
</file>

<file path=ppt/slides/_rels/slide14.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14.mp3"/><Relationship Id="rId1" Type="http://schemas.microsoft.com/office/2007/relationships/media" Target="../media/media14.mp3"/><Relationship Id="rId6" Type="http://schemas.openxmlformats.org/officeDocument/2006/relationships/image" Target="../media/image3.png"/><Relationship Id="rId5" Type="http://schemas.openxmlformats.org/officeDocument/2006/relationships/image" Target="../media/image21.png"/><Relationship Id="rId4" Type="http://schemas.openxmlformats.org/officeDocument/2006/relationships/notesSlide" Target="../notesSlides/notesSlide14.xml"/><Relationship Id="rId7" Type="http://schemas.microsoft.com/office/2017/04/relationships/track" Target="../media/captions_slide14.vtt"/></Relationships>
</file>

<file path=ppt/slides/_rels/slide15.xml.rels><?xml version='1.0' encoding='UTF-8' standalone='yes'?>
<Relationships xmlns="http://schemas.openxmlformats.org/package/2006/relationships"><Relationship Id="rId8" Type="http://schemas.openxmlformats.org/officeDocument/2006/relationships/image" Target="../media/image10.png"/><Relationship Id="rId3" Type="http://schemas.openxmlformats.org/officeDocument/2006/relationships/slideLayout" Target="../slideLayouts/slideLayout3.xml"/><Relationship Id="rId7" Type="http://schemas.openxmlformats.org/officeDocument/2006/relationships/image" Target="../media/image13.png"/><Relationship Id="rId2" Type="http://schemas.openxmlformats.org/officeDocument/2006/relationships/audio" Target="../media/media15.mp3"/><Relationship Id="rId1" Type="http://schemas.microsoft.com/office/2007/relationships/media" Target="../media/media15.mp3"/><Relationship Id="rId6" Type="http://schemas.openxmlformats.org/officeDocument/2006/relationships/image" Target="../media/image6.png"/><Relationship Id="rId5" Type="http://schemas.openxmlformats.org/officeDocument/2006/relationships/image" Target="../media/image24.png"/><Relationship Id="rId10" Type="http://schemas.openxmlformats.org/officeDocument/2006/relationships/image" Target="../media/image3.png"/><Relationship Id="rId4" Type="http://schemas.openxmlformats.org/officeDocument/2006/relationships/notesSlide" Target="../notesSlides/notesSlide15.xml"/><Relationship Id="rId9" Type="http://schemas.openxmlformats.org/officeDocument/2006/relationships/image" Target="../media/image25.png"/><Relationship Id="rId11" Type="http://schemas.microsoft.com/office/2017/04/relationships/track" Target="../media/captions_slide15.vtt"/></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731520" y="1463040"/>
            <a:ext cx="6217920" cy="1920240"/>
          </a:xfrm>
          <a:prstGeom prst="rect">
            <a:avLst/>
          </a:prstGeom>
          <a:noFill/>
          <a:ln/>
        </p:spPr>
        <p:txBody>
          <a:bodyPr wrap="square" lIns="0" tIns="0" rIns="0" bIns="0" rtlCol="0" anchor="b"/>
          <a:lstStyle/>
          <a:p>
            <a:pPr marL="0" indent="0" algn="l">
              <a:buNone/>
            </a:pPr>
            <a:r>
              <a:rPr lang="en-US" sz="4400" b="1" dirty="0">
                <a:solidFill>
                  <a:schemeClr val="tx1"/>
                </a:solidFill>
                <a:latin typeface="Cambria" pitchFamily="34" charset="0"/>
                <a:ea typeface="Cambria" pitchFamily="34" charset="-122"/>
                <a:cs typeface="Cambria" pitchFamily="34" charset="-120"/>
              </a:rPr>
              <a:t>Why Does the Authorization Boundary Decide What You Can Use?</a:t>
            </a:r>
            <a:endParaRPr lang="en-US" sz="4400" dirty="0"/>
          </a:p>
        </p:txBody>
      </p:sp>
      <p:sp>
        <p:nvSpPr>
          <p:cNvPr id="3" name="Text 0"/>
          <p:cNvSpPr>
            <a:spLocks noGrp="1"/>
          </p:cNvSpPr>
          <p:nvPr>
            <p:ph type="body" idx="101" hasCustomPrompt="1"/>
          </p:nvPr>
        </p:nvSpPr>
        <p:spPr>
          <a:xfrm>
            <a:off x="731520" y="3520440"/>
            <a:ext cx="6035040" cy="822960"/>
          </a:xfrm>
          <a:prstGeom prst="rect">
            <a:avLst/>
          </a:prstGeom>
          <a:noFill/>
          <a:ln/>
        </p:spPr>
        <p:txBody>
          <a:bodyPr wrap="square" lIns="0" tIns="0" rIns="0" bIns="0" rtlCol="0" anchor="t"/>
          <a:lstStyle/>
          <a:p>
            <a:pPr marL="0" indent="0">
              <a:buNone/>
            </a:pPr>
            <a:r>
              <a:rPr lang="en-US" sz="2200" dirty="0">
                <a:solidFill>
                  <a:schemeClr val="accent2"/>
                </a:solidFill>
              </a:rPr>
              <a:t>Book 10 — Cloud Boundary &amp; Landing Zone</a:t>
            </a:r>
            <a:endParaRPr lang="en-US" sz="2200" dirty="0"/>
          </a:p>
        </p:txBody>
      </p:sp>
      <p:sp>
        <p:nvSpPr>
          <p:cNvPr id="4" name="Presenter"/>
          <p:cNvSpPr txBox="1"/>
          <p:nvPr/>
        </p:nvSpPr>
        <p:spPr>
          <a:xfrm>
            <a:off x="731520" y="5897880"/>
            <a:ext cx="6858000" cy="365760"/>
          </a:xfrm>
          <a:prstGeom prst="rect">
            <a:avLst/>
          </a:prstGeom>
          <a:noFill/>
          <a:ln/>
        </p:spPr>
        <p:txBody>
          <a:bodyPr wrap="square" lIns="0" tIns="0" rIns="0" bIns="0" rtlCol="0" anchor="ctr"/>
          <a:lstStyle/>
          <a:p>
            <a:pPr marL="0" indent="0">
              <a:buNone/>
            </a:pPr>
            <a:r>
              <a:rPr lang="en-US" sz="1600" dirty="0">
                <a:solidFill>
                  <a:srgbClr val="64748B"/>
                </a:solidFill>
              </a:rPr>
              <a:t>Presented by  </a:t>
            </a:r>
            <a:r>
              <a:rPr lang="en-US" sz="1600" b="1" dirty="0">
                <a:solidFill>
                  <a:srgbClr val="1F2A44"/>
                </a:solidFill>
              </a:rPr>
              <a:t>Michael F. Stratton</a:t>
            </a:r>
            <a:endParaRPr lang="en-US" sz="1600" dirty="0"/>
          </a:p>
        </p:txBody>
      </p:sp>
      <p:sp>
        <p:nvSpPr>
          <p:cNvPr id="5" name="Disclaimer"/>
          <p:cNvSpPr txBox="1"/>
          <p:nvPr/>
        </p:nvSpPr>
        <p:spPr>
          <a:xfrm>
            <a:off x="731520" y="6309360"/>
            <a:ext cx="8686800" cy="274320"/>
          </a:xfrm>
          <a:prstGeom prst="rect">
            <a:avLst/>
          </a:prstGeom>
          <a:noFill/>
          <a:ln/>
        </p:spPr>
        <p:txBody>
          <a:bodyPr wrap="square" lIns="0" tIns="0" rIns="0" bIns="0" rtlCol="0" anchor="ctr"/>
          <a:lstStyle/>
          <a:p>
            <a:pPr marL="0" indent="0">
              <a:buNone/>
            </a:pPr>
            <a:r>
              <a:rPr lang="en-US" sz="1050" dirty="0">
                <a:solidFill>
                  <a:srgbClr val="64748B"/>
                </a:solidFill>
              </a:rPr>
              <a:t>Not an official U.S. government publication. Independent technical analysis; not reviewed or endorsed by any federal agency.</a:t>
            </a:r>
            <a:endParaRPr lang="en-US" sz="1050" dirty="0"/>
          </a:p>
        </p:txBody>
      </p:sp>
      <p:sp>
        <p:nvSpPr>
          <p:cNvPr id="6" name="Agenda line"/>
          <p:cNvSpPr txBox="1"/>
          <p:nvPr/>
        </p:nvSpPr>
        <p:spPr>
          <a:xfrm>
            <a:off x="731520" y="4297680"/>
            <a:ext cx="6035040" cy="457200"/>
          </a:xfrm>
          <a:prstGeom prst="rect">
            <a:avLst/>
          </a:prstGeom>
          <a:noFill/>
          <a:ln/>
        </p:spPr>
        <p:txBody>
          <a:bodyPr wrap="square" lIns="0" tIns="0" rIns="0" bIns="0" rtlCol="0" anchor="t"/>
          <a:lstStyle/>
          <a:p>
            <a:pPr marL="0" indent="0">
              <a:buNone/>
            </a:pPr>
            <a:r>
              <a:rPr lang="en-US" sz="2000" b="1" dirty="0">
                <a:solidFill>
                  <a:srgbClr val="B91C1C"/>
                </a:solidFill>
              </a:rPr>
              <a:t>Why</a:t>
            </a:r>
            <a:r>
              <a:rPr lang="en-US" sz="2000" dirty="0">
                <a:solidFill>
                  <a:srgbClr val="64748B"/>
                </a:solidFill>
              </a:rPr>
              <a:t>   ·   </a:t>
            </a:r>
            <a:r>
              <a:rPr lang="en-US" sz="2000" b="1" dirty="0">
                <a:solidFill>
                  <a:srgbClr val="1F2A44"/>
                </a:solidFill>
              </a:rPr>
              <a:t>What</a:t>
            </a:r>
            <a:r>
              <a:rPr lang="en-US" sz="2000" dirty="0">
                <a:solidFill>
                  <a:srgbClr val="64748B"/>
                </a:solidFill>
              </a:rPr>
              <a:t>   ·   </a:t>
            </a:r>
            <a:r>
              <a:rPr lang="en-US" sz="2000" b="1" dirty="0">
                <a:solidFill>
                  <a:srgbClr val="0F766E"/>
                </a:solidFill>
              </a:rPr>
              <a:t>Who</a:t>
            </a:r>
            <a:r>
              <a:rPr lang="en-US" sz="2000" dirty="0">
                <a:solidFill>
                  <a:srgbClr val="64748B"/>
                </a:solidFill>
              </a:rPr>
              <a:t>   ·   </a:t>
            </a:r>
            <a:r>
              <a:rPr lang="en-US" sz="2000" b="1" dirty="0">
                <a:solidFill>
                  <a:srgbClr val="B45309"/>
                </a:solidFill>
              </a:rPr>
              <a:t>How</a:t>
            </a:r>
            <a:endParaRPr lang="en-US" sz="2000" dirty="0"/>
          </a:p>
        </p:txBody>
      </p:sp>
      <p:sp>
        <p:nvSpPr>
          <p:cNvPr id="7" name="Series line"/>
          <p:cNvSpPr txBox="1"/>
          <p:nvPr/>
        </p:nvSpPr>
        <p:spPr>
          <a:xfrm>
            <a:off x="731520" y="5120640"/>
            <a:ext cx="7315200" cy="731520"/>
          </a:xfrm>
          <a:prstGeom prst="rect">
            <a:avLst/>
          </a:prstGeom>
          <a:noFill/>
          <a:ln/>
        </p:spPr>
        <p:txBody>
          <a:bodyPr wrap="square" lIns="0" tIns="0" rIns="0" bIns="0" rtlCol="0" anchor="t"/>
          <a:lstStyle/>
          <a:p>
            <a:pPr marL="0" indent="0">
              <a:buNone/>
            </a:pPr>
            <a:r>
              <a:rPr lang="en-US" sz="1600" b="1" dirty="0">
                <a:solidFill>
                  <a:srgbClr val="1F2A44"/>
                </a:solidFill>
              </a:rPr>
              <a:t>Federal Modernization Workbook</a:t>
            </a:r>
            <a:endParaRPr lang="en-US" sz="1600" dirty="0"/>
          </a:p>
          <a:p>
            <a:pPr marL="0" indent="0">
              <a:buNone/>
            </a:pPr>
            <a:r>
              <a:rPr lang="en-US" sz="1600" dirty="0">
                <a:solidFill>
                  <a:srgbClr val="64748B"/>
                </a:solidFill>
              </a:rPr>
              <a:t>A 15-minute briefing on the book's argument and plan</a:t>
            </a:r>
            <a:endParaRPr lang="en-US" sz="1600" dirty="0"/>
          </a:p>
        </p:txBody>
      </p:sp>
      <p:pic>
        <p:nvPicPr>
          <p:cNvPr id="8" name="Narration" descr="Narration for this slide; captions available">
            <a:hlinkClick r:id="" action="ppaction://media"/>
            <a:extLst>
              <a:ext uri="{FF2B5EF4-FFF2-40B4-BE49-F238E27FC236}">
                <a16:creationId xmlns:a16="http://schemas.microsoft.com/office/drawing/2014/main" id="{0CF098AE-E59A-934A-E181-D7FDCEA03EDE}"/>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09BB8B00-0A43-413F-8894-CC2BAB8EC9BB}" label="English (captions)" lang="en-US" r:embed="rId6"/>
                        </p173:trackLst>
                      </p173:tracksInfo>
                    </p:ext>
                  </p14:extLst>
                </p14:media>
              </p:ext>
            </p:extLst>
          </p:nvPr>
        </p:nvPicPr>
        <p:blipFill>
          <a:blip r:embed="rId5"/>
          <a:stretch>
            <a:fillRect/>
          </a:stretch>
        </p:blipFill>
        <p:spPr>
          <a:xfrm>
            <a:off x="127000" y="6350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45090"/>
    </mc:Choice>
    <mc:Fallback>
      <p:transition spd="slow" advTm="4509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41088" fill="hold"/>
                                        <p:tgtEl>
                                          <p:spTgt spid="8"/>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Three checks, three owners decide what you can use</a:t>
            </a:r>
            <a:endParaRPr lang="en-US" sz="3000" dirty="0"/>
          </a:p>
        </p:txBody>
      </p:sp>
      <p:sp>
        <p:nvSpPr>
          <p:cNvPr id="3" name="Tag Why">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91C1C"/>
          </a:solidFill>
          <a:ln w="12700">
            <a:solidFill>
              <a:srgbClr val="B91C1C"/>
            </a:solidFill>
            <a:prstDash val="solid"/>
          </a:ln>
        </p:spPr>
      </p:sp>
      <p:sp>
        <p:nvSpPr>
          <p:cNvPr id="4" name="Tag Why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WHY</a:t>
            </a:r>
            <a:endParaRPr lang="en-US" sz="1100" dirty="0"/>
          </a:p>
        </p:txBody>
      </p:sp>
      <p:sp>
        <p:nvSpPr>
          <p:cNvPr id="5" name="Check card 1">
            <a:extLst>
              <a:ext uri="{C183D7F6-B498-43B3-948B-1728B52AA6E4}">
                <adec:decorative xmlns:adec="http://schemas.microsoft.com/office/drawing/2017/decorative" val="1"/>
              </a:ext>
            </a:extLst>
          </p:cNvPr>
          <p:cNvSpPr/>
          <p:nvPr/>
        </p:nvSpPr>
        <p:spPr>
          <a:xfrm>
            <a:off x="548640" y="1417320"/>
            <a:ext cx="3611880" cy="3246120"/>
          </a:xfrm>
          <a:prstGeom prst="roundRect">
            <a:avLst>
              <a:gd name="adj" fmla="val 2254"/>
            </a:avLst>
          </a:prstGeom>
          <a:solidFill>
            <a:srgbClr val="E4EAF4"/>
          </a:solidFill>
          <a:ln w="12700">
            <a:solidFill>
              <a:srgbClr val="E4EAF4"/>
            </a:solidFill>
            <a:prstDash val="solid"/>
          </a:ln>
          <a:effectLst>
            <a:outerShdw blurRad="76200" dist="25400" dir="5400000" algn="bl" rotWithShape="0">
              <a:srgbClr val="64748B">
                <a:alpha val="22000"/>
              </a:srgbClr>
            </a:outerShdw>
          </a:effectLst>
        </p:spPr>
      </p:sp>
      <p:sp>
        <p:nvSpPr>
          <p:cNvPr id="6" name="Icon FaLandmark">
            <a:extLst>
              <a:ext uri="{C183D7F6-B498-43B3-948B-1728B52AA6E4}">
                <adec:decorative xmlns:adec="http://schemas.microsoft.com/office/drawing/2017/decorative" val="1"/>
              </a:ext>
            </a:extLst>
          </p:cNvPr>
          <p:cNvSpPr/>
          <p:nvPr/>
        </p:nvSpPr>
        <p:spPr>
          <a:xfrm>
            <a:off x="749808" y="1572768"/>
            <a:ext cx="566928" cy="566928"/>
          </a:xfrm>
          <a:prstGeom prst="ellipse">
            <a:avLst/>
          </a:prstGeom>
          <a:solidFill>
            <a:srgbClr val="1F2A44"/>
          </a:solidFill>
          <a:ln w="12700">
            <a:solidFill>
              <a:srgbClr val="1F2A44"/>
            </a:solidFill>
            <a:prstDash val="solid"/>
          </a:ln>
        </p:spPr>
      </p:sp>
      <p:pic>
        <p:nvPicPr>
          <p:cNvPr id="7" name="Image 0">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885871" y="1708831"/>
            <a:ext cx="294803" cy="294803"/>
          </a:xfrm>
          <a:prstGeom prst="rect">
            <a:avLst/>
          </a:prstGeom>
        </p:spPr>
      </p:pic>
      <p:sp>
        <p:nvSpPr>
          <p:cNvPr id="8" name="Check head 1"/>
          <p:cNvSpPr txBox="1"/>
          <p:nvPr/>
        </p:nvSpPr>
        <p:spPr>
          <a:xfrm>
            <a:off x="1463040" y="1572768"/>
            <a:ext cx="2560320" cy="566928"/>
          </a:xfrm>
          <a:prstGeom prst="rect">
            <a:avLst/>
          </a:prstGeom>
          <a:noFill/>
          <a:ln/>
        </p:spPr>
        <p:txBody>
          <a:bodyPr wrap="square" lIns="0" tIns="0" rIns="0" bIns="0" rtlCol="0" anchor="ctr"/>
          <a:lstStyle/>
          <a:p>
            <a:pPr marL="0" indent="0">
              <a:buNone/>
            </a:pPr>
            <a:r>
              <a:rPr lang="en-US" sz="1700" b="1" dirty="0">
                <a:solidFill>
                  <a:srgbClr val="1F2A44"/>
                </a:solidFill>
                <a:latin typeface="Cambria" pitchFamily="34" charset="0"/>
                <a:ea typeface="Cambria" pitchFamily="34" charset="-122"/>
                <a:cs typeface="Cambria" pitchFamily="34" charset="-120"/>
              </a:rPr>
              <a:t>The certification</a:t>
            </a:r>
            <a:endParaRPr lang="en-US" sz="1700" dirty="0"/>
          </a:p>
        </p:txBody>
      </p:sp>
      <p:sp>
        <p:nvSpPr>
          <p:cNvPr id="9" name="Check text 1"/>
          <p:cNvSpPr txBox="1"/>
          <p:nvPr/>
        </p:nvSpPr>
        <p:spPr>
          <a:xfrm>
            <a:off x="777240" y="2286000"/>
            <a:ext cx="3200400" cy="2286000"/>
          </a:xfrm>
          <a:prstGeom prst="rect">
            <a:avLst/>
          </a:prstGeom>
          <a:noFill/>
          <a:ln/>
        </p:spPr>
        <p:txBody>
          <a:bodyPr wrap="square" lIns="0" tIns="0" rIns="0" bIns="0" rtlCol="0" anchor="t"/>
          <a:lstStyle/>
          <a:p>
            <a:pPr marL="342900" indent="-342900">
              <a:spcAft>
                <a:spcPts val="600"/>
              </a:spcAft>
              <a:buSzPct val="100000"/>
              <a:buChar char="•"/>
            </a:pPr>
            <a:r>
              <a:rPr lang="en-US" sz="1350" dirty="0">
                <a:solidFill>
                  <a:schemeClr val="tx2"/>
                </a:solidFill>
              </a:rPr>
              <a:t>FedRAMP certifies a specific offering</a:t>
            </a:r>
            <a:endParaRPr lang="en-US" sz="1400" dirty="0"/>
          </a:p>
          <a:p>
            <a:pPr marL="342900" indent="-342900">
              <a:spcAft>
                <a:spcPts val="600"/>
              </a:spcAft>
              <a:buSzPct val="100000"/>
              <a:buChar char="•"/>
            </a:pPr>
            <a:r>
              <a:rPr lang="en-US" sz="1350" dirty="0">
                <a:solidFill>
                  <a:schemeClr val="tx2"/>
                </a:solidFill>
              </a:rPr>
              <a:t>At a certification class, A to D</a:t>
            </a:r>
            <a:endParaRPr lang="en-US" sz="1400" dirty="0"/>
          </a:p>
          <a:p>
            <a:pPr marL="342900" indent="-342900">
              <a:spcAft>
                <a:spcPts val="600"/>
              </a:spcAft>
              <a:buSzPct val="100000"/>
              <a:buChar char="•"/>
            </a:pPr>
            <a:r>
              <a:rPr lang="en-US" sz="1350" dirty="0">
                <a:solidFill>
                  <a:schemeClr val="tx2"/>
                </a:solidFill>
              </a:rPr>
              <a:t>The Marketplace is the record</a:t>
            </a:r>
            <a:endParaRPr lang="en-US" sz="1400" dirty="0"/>
          </a:p>
          <a:p>
            <a:pPr marL="342900" indent="-342900">
              <a:spcAft>
                <a:spcPts val="600"/>
              </a:spcAft>
              <a:buSzPct val="100000"/>
              <a:buChar char="•"/>
            </a:pPr>
            <a:r>
              <a:rPr lang="en-US" sz="1350" dirty="0">
                <a:solidFill>
                  <a:schemeClr val="tx2"/>
                </a:solidFill>
              </a:rPr>
              <a:t>Outside the offering: not covered</a:t>
            </a:r>
            <a:endParaRPr lang="en-US" sz="1400" dirty="0"/>
          </a:p>
        </p:txBody>
      </p:sp>
      <p:sp>
        <p:nvSpPr>
          <p:cNvPr id="10" name="Check card 2">
            <a:extLst>
              <a:ext uri="{C183D7F6-B498-43B3-948B-1728B52AA6E4}">
                <adec:decorative xmlns:adec="http://schemas.microsoft.com/office/drawing/2017/decorative" val="1"/>
              </a:ext>
            </a:extLst>
          </p:cNvPr>
          <p:cNvSpPr/>
          <p:nvPr/>
        </p:nvSpPr>
        <p:spPr>
          <a:xfrm>
            <a:off x="4297680" y="1417320"/>
            <a:ext cx="3611880" cy="3246120"/>
          </a:xfrm>
          <a:prstGeom prst="roundRect">
            <a:avLst>
              <a:gd name="adj" fmla="val 2254"/>
            </a:avLst>
          </a:prstGeom>
          <a:solidFill>
            <a:srgbClr val="FBEEDC"/>
          </a:solidFill>
          <a:ln w="12700">
            <a:solidFill>
              <a:srgbClr val="FBEEDC"/>
            </a:solidFill>
            <a:prstDash val="solid"/>
          </a:ln>
          <a:effectLst>
            <a:outerShdw blurRad="76200" dist="25400" dir="5400000" algn="bl" rotWithShape="0">
              <a:srgbClr val="64748B">
                <a:alpha val="22000"/>
              </a:srgbClr>
            </a:outerShdw>
          </a:effectLst>
        </p:spPr>
      </p:sp>
      <p:sp>
        <p:nvSpPr>
          <p:cNvPr id="11" name="Icon FaFilter">
            <a:extLst>
              <a:ext uri="{C183D7F6-B498-43B3-948B-1728B52AA6E4}">
                <adec:decorative xmlns:adec="http://schemas.microsoft.com/office/drawing/2017/decorative" val="1"/>
              </a:ext>
            </a:extLst>
          </p:cNvPr>
          <p:cNvSpPr/>
          <p:nvPr/>
        </p:nvSpPr>
        <p:spPr>
          <a:xfrm>
            <a:off x="4498848" y="1572768"/>
            <a:ext cx="566928" cy="566928"/>
          </a:xfrm>
          <a:prstGeom prst="ellipse">
            <a:avLst/>
          </a:prstGeom>
          <a:solidFill>
            <a:srgbClr val="B45309"/>
          </a:solidFill>
          <a:ln w="12700">
            <a:solidFill>
              <a:srgbClr val="B45309"/>
            </a:solidFill>
            <a:prstDash val="solid"/>
          </a:ln>
        </p:spPr>
      </p:sp>
      <p:pic>
        <p:nvPicPr>
          <p:cNvPr id="12" name="Image 1">
            <a:extLst>
              <a:ext uri="{C183D7F6-B498-43B3-948B-1728B52AA6E4}">
                <adec:decorative xmlns:adec="http://schemas.microsoft.com/office/drawing/2017/decorative" val="1"/>
              </a:ext>
            </a:extLst>
          </p:cNvPr>
          <p:cNvPicPr>
            <a:picLocks noChangeAspect="1"/>
          </p:cNvPicPr>
          <p:nvPr/>
        </p:nvPicPr>
        <p:blipFill>
          <a:blip r:embed="rId6"/>
          <a:stretch>
            <a:fillRect/>
          </a:stretch>
        </p:blipFill>
        <p:spPr>
          <a:xfrm>
            <a:off x="4634911" y="1708831"/>
            <a:ext cx="294803" cy="294803"/>
          </a:xfrm>
          <a:prstGeom prst="rect">
            <a:avLst/>
          </a:prstGeom>
        </p:spPr>
      </p:pic>
      <p:sp>
        <p:nvSpPr>
          <p:cNvPr id="13" name="Check head 2"/>
          <p:cNvSpPr txBox="1"/>
          <p:nvPr/>
        </p:nvSpPr>
        <p:spPr>
          <a:xfrm>
            <a:off x="5212080" y="1572768"/>
            <a:ext cx="2560320" cy="566928"/>
          </a:xfrm>
          <a:prstGeom prst="rect">
            <a:avLst/>
          </a:prstGeom>
          <a:noFill/>
          <a:ln/>
        </p:spPr>
        <p:txBody>
          <a:bodyPr wrap="square" lIns="0" tIns="0" rIns="0" bIns="0" rtlCol="0" anchor="ctr"/>
          <a:lstStyle/>
          <a:p>
            <a:pPr marL="0" indent="0">
              <a:buNone/>
            </a:pPr>
            <a:r>
              <a:rPr lang="en-US" sz="1700" b="1" dirty="0">
                <a:solidFill>
                  <a:srgbClr val="B45309"/>
                </a:solidFill>
                <a:latin typeface="Cambria" pitchFamily="34" charset="0"/>
                <a:ea typeface="Cambria" pitchFamily="34" charset="-122"/>
                <a:cs typeface="Cambria" pitchFamily="34" charset="-120"/>
              </a:rPr>
              <a:t>The environment</a:t>
            </a:r>
            <a:endParaRPr lang="en-US" sz="1700" dirty="0"/>
          </a:p>
        </p:txBody>
      </p:sp>
      <p:sp>
        <p:nvSpPr>
          <p:cNvPr id="14" name="Check text 2"/>
          <p:cNvSpPr txBox="1"/>
          <p:nvPr/>
        </p:nvSpPr>
        <p:spPr>
          <a:xfrm>
            <a:off x="4526280" y="2286000"/>
            <a:ext cx="3200400" cy="2286000"/>
          </a:xfrm>
          <a:prstGeom prst="rect">
            <a:avLst/>
          </a:prstGeom>
          <a:noFill/>
          <a:ln/>
        </p:spPr>
        <p:txBody>
          <a:bodyPr wrap="square" lIns="0" tIns="0" rIns="0" bIns="0" rtlCol="0" anchor="t"/>
          <a:lstStyle/>
          <a:p>
            <a:pPr marL="342900" indent="-342900">
              <a:spcAft>
                <a:spcPts val="600"/>
              </a:spcAft>
              <a:buSzPct val="100000"/>
              <a:buChar char="•"/>
            </a:pPr>
            <a:r>
              <a:rPr lang="en-US" sz="1350" dirty="0">
                <a:solidFill>
                  <a:schemeClr val="tx2"/>
                </a:solidFill>
              </a:rPr>
              <a:t>GCC, GCC High and DoD differ from commercial</a:t>
            </a:r>
            <a:endParaRPr lang="en-US" sz="1400" dirty="0"/>
          </a:p>
          <a:p>
            <a:pPr marL="342900" indent="-342900">
              <a:spcAft>
                <a:spcPts val="600"/>
              </a:spcAft>
              <a:buSzPct val="100000"/>
              <a:buChar char="•"/>
            </a:pPr>
            <a:r>
              <a:rPr lang="en-US" sz="1350" dirty="0">
                <a:solidFill>
                  <a:schemeClr val="tx2"/>
                </a:solidFill>
              </a:rPr>
              <a:t>Exclusions published feature by feature</a:t>
            </a:r>
            <a:endParaRPr lang="en-US" sz="1400" dirty="0"/>
          </a:p>
          <a:p>
            <a:pPr marL="342900" indent="-342900">
              <a:spcAft>
                <a:spcPts val="600"/>
              </a:spcAft>
              <a:buSzPct val="100000"/>
              <a:buChar char="•"/>
            </a:pPr>
            <a:r>
              <a:rPr lang="en-US" sz="1350" dirty="0">
                <a:solidFill>
                  <a:schemeClr val="tx2"/>
                </a:solidFill>
              </a:rPr>
              <a:t>No single machine-readable list</a:t>
            </a:r>
            <a:endParaRPr lang="en-US" sz="1400" dirty="0"/>
          </a:p>
        </p:txBody>
      </p:sp>
      <p:sp>
        <p:nvSpPr>
          <p:cNvPr id="15" name="Check card 3">
            <a:extLst>
              <a:ext uri="{C183D7F6-B498-43B3-948B-1728B52AA6E4}">
                <adec:decorative xmlns:adec="http://schemas.microsoft.com/office/drawing/2017/decorative" val="1"/>
              </a:ext>
            </a:extLst>
          </p:cNvPr>
          <p:cNvSpPr/>
          <p:nvPr/>
        </p:nvSpPr>
        <p:spPr>
          <a:xfrm>
            <a:off x="8046720" y="1417320"/>
            <a:ext cx="3611880" cy="3246120"/>
          </a:xfrm>
          <a:prstGeom prst="roundRect">
            <a:avLst>
              <a:gd name="adj" fmla="val 2254"/>
            </a:avLst>
          </a:prstGeom>
          <a:solidFill>
            <a:srgbClr val="DCEFEC"/>
          </a:solidFill>
          <a:ln w="12700">
            <a:solidFill>
              <a:srgbClr val="DCEFEC"/>
            </a:solidFill>
            <a:prstDash val="solid"/>
          </a:ln>
          <a:effectLst>
            <a:outerShdw blurRad="76200" dist="25400" dir="5400000" algn="bl" rotWithShape="0">
              <a:srgbClr val="64748B">
                <a:alpha val="22000"/>
              </a:srgbClr>
            </a:outerShdw>
          </a:effectLst>
        </p:spPr>
      </p:sp>
      <p:sp>
        <p:nvSpPr>
          <p:cNvPr id="16" name="Icon FaUserCheck">
            <a:extLst>
              <a:ext uri="{C183D7F6-B498-43B3-948B-1728B52AA6E4}">
                <adec:decorative xmlns:adec="http://schemas.microsoft.com/office/drawing/2017/decorative" val="1"/>
              </a:ext>
            </a:extLst>
          </p:cNvPr>
          <p:cNvSpPr/>
          <p:nvPr/>
        </p:nvSpPr>
        <p:spPr>
          <a:xfrm>
            <a:off x="8247888" y="1572768"/>
            <a:ext cx="566928" cy="566928"/>
          </a:xfrm>
          <a:prstGeom prst="ellipse">
            <a:avLst/>
          </a:prstGeom>
          <a:solidFill>
            <a:srgbClr val="0F766E"/>
          </a:solidFill>
          <a:ln w="12700">
            <a:solidFill>
              <a:srgbClr val="0F766E"/>
            </a:solidFill>
            <a:prstDash val="solid"/>
          </a:ln>
        </p:spPr>
      </p:sp>
      <p:pic>
        <p:nvPicPr>
          <p:cNvPr id="17" name="Image 2">
            <a:extLst>
              <a:ext uri="{C183D7F6-B498-43B3-948B-1728B52AA6E4}">
                <adec:decorative xmlns:adec="http://schemas.microsoft.com/office/drawing/2017/decorative" val="1"/>
              </a:ext>
            </a:extLst>
          </p:cNvPr>
          <p:cNvPicPr>
            <a:picLocks noChangeAspect="1"/>
          </p:cNvPicPr>
          <p:nvPr/>
        </p:nvPicPr>
        <p:blipFill>
          <a:blip r:embed="rId7"/>
          <a:stretch>
            <a:fillRect/>
          </a:stretch>
        </p:blipFill>
        <p:spPr>
          <a:xfrm>
            <a:off x="8383951" y="1708831"/>
            <a:ext cx="294803" cy="294803"/>
          </a:xfrm>
          <a:prstGeom prst="rect">
            <a:avLst/>
          </a:prstGeom>
        </p:spPr>
      </p:pic>
      <p:sp>
        <p:nvSpPr>
          <p:cNvPr id="18" name="Check head 3"/>
          <p:cNvSpPr txBox="1"/>
          <p:nvPr/>
        </p:nvSpPr>
        <p:spPr>
          <a:xfrm>
            <a:off x="8961120" y="1572768"/>
            <a:ext cx="2560320" cy="566928"/>
          </a:xfrm>
          <a:prstGeom prst="rect">
            <a:avLst/>
          </a:prstGeom>
          <a:noFill/>
          <a:ln/>
        </p:spPr>
        <p:txBody>
          <a:bodyPr wrap="square" lIns="0" tIns="0" rIns="0" bIns="0" rtlCol="0" anchor="ctr"/>
          <a:lstStyle/>
          <a:p>
            <a:pPr marL="0" indent="0">
              <a:buNone/>
            </a:pPr>
            <a:r>
              <a:rPr lang="en-US" sz="1700" b="1" dirty="0">
                <a:solidFill>
                  <a:srgbClr val="0F766E"/>
                </a:solidFill>
                <a:latin typeface="Cambria" pitchFamily="34" charset="0"/>
                <a:ea typeface="Cambria" pitchFamily="34" charset="-122"/>
                <a:cs typeface="Cambria" pitchFamily="34" charset="-120"/>
              </a:rPr>
              <a:t>Agency authorization</a:t>
            </a:r>
            <a:endParaRPr lang="en-US" sz="1700" dirty="0"/>
          </a:p>
        </p:txBody>
      </p:sp>
      <p:sp>
        <p:nvSpPr>
          <p:cNvPr id="19" name="Check text 3"/>
          <p:cNvSpPr txBox="1"/>
          <p:nvPr/>
        </p:nvSpPr>
        <p:spPr>
          <a:xfrm>
            <a:off x="8275320" y="2286000"/>
            <a:ext cx="3200400" cy="2286000"/>
          </a:xfrm>
          <a:prstGeom prst="rect">
            <a:avLst/>
          </a:prstGeom>
          <a:noFill/>
          <a:ln/>
        </p:spPr>
        <p:txBody>
          <a:bodyPr wrap="square" lIns="0" tIns="0" rIns="0" bIns="0" rtlCol="0" anchor="t"/>
          <a:lstStyle/>
          <a:p>
            <a:pPr marL="342900" indent="-342900">
              <a:spcAft>
                <a:spcPts val="600"/>
              </a:spcAft>
              <a:buSzPct val="100000"/>
              <a:buChar char="•"/>
            </a:pPr>
            <a:r>
              <a:rPr lang="en-US" sz="1350" dirty="0">
                <a:solidFill>
                  <a:schemeClr val="tx2"/>
                </a:solidFill>
              </a:rPr>
              <a:t>The agency authorizes its own system</a:t>
            </a:r>
            <a:endParaRPr lang="en-US" sz="1400" dirty="0"/>
          </a:p>
          <a:p>
            <a:pPr marL="342900" indent="-342900">
              <a:spcAft>
                <a:spcPts val="600"/>
              </a:spcAft>
              <a:buSzPct val="100000"/>
              <a:buChar char="•"/>
            </a:pPr>
            <a:r>
              <a:rPr lang="en-US" sz="1350" dirty="0">
                <a:solidFill>
                  <a:schemeClr val="tx2"/>
                </a:solidFill>
              </a:rPr>
              <a:t>The AO accepts the configuration and integrations</a:t>
            </a:r>
            <a:endParaRPr lang="en-US" sz="1400" dirty="0"/>
          </a:p>
          <a:p>
            <a:pPr marL="342900" indent="-342900">
              <a:spcAft>
                <a:spcPts val="600"/>
              </a:spcAft>
              <a:buSzPct val="100000"/>
              <a:buChar char="•"/>
            </a:pPr>
            <a:r>
              <a:rPr lang="en-US" sz="1350" dirty="0">
                <a:solidFill>
                  <a:schemeClr val="tx2"/>
                </a:solidFill>
              </a:rPr>
              <a:t>Never a standalone ATO for a cloud service</a:t>
            </a:r>
            <a:endParaRPr lang="en-US" sz="1400" dirty="0"/>
          </a:p>
        </p:txBody>
      </p:sp>
      <p:sp>
        <p:nvSpPr>
          <p:cNvPr id="20" name="Overlap">
            <a:extLst>
              <a:ext uri="{C183D7F6-B498-43B3-948B-1728B52AA6E4}">
                <adec:decorative xmlns:adec="http://schemas.microsoft.com/office/drawing/2017/decorative" val="1"/>
              </a:ext>
            </a:extLst>
          </p:cNvPr>
          <p:cNvSpPr/>
          <p:nvPr/>
        </p:nvSpPr>
        <p:spPr>
          <a:xfrm>
            <a:off x="548640" y="4846320"/>
            <a:ext cx="11109960" cy="1097280"/>
          </a:xfrm>
          <a:prstGeom prst="roundRect">
            <a:avLst>
              <a:gd name="adj" fmla="val 6667"/>
            </a:avLst>
          </a:prstGeom>
          <a:solidFill>
            <a:srgbClr val="FFFFFF"/>
          </a:solidFill>
          <a:ln w="12700">
            <a:solidFill>
              <a:srgbClr val="B91C1C"/>
            </a:solidFill>
            <a:prstDash val="solid"/>
          </a:ln>
          <a:effectLst>
            <a:outerShdw blurRad="76200" dist="25400" dir="5400000" algn="bl" rotWithShape="0">
              <a:srgbClr val="64748B">
                <a:alpha val="22000"/>
              </a:srgbClr>
            </a:outerShdw>
          </a:effectLst>
        </p:spPr>
      </p:sp>
      <p:sp>
        <p:nvSpPr>
          <p:cNvPr id="21" name="Icon FaTriangleExclamation">
            <a:extLst>
              <a:ext uri="{C183D7F6-B498-43B3-948B-1728B52AA6E4}">
                <adec:decorative xmlns:adec="http://schemas.microsoft.com/office/drawing/2017/decorative" val="1"/>
              </a:ext>
            </a:extLst>
          </p:cNvPr>
          <p:cNvSpPr/>
          <p:nvPr/>
        </p:nvSpPr>
        <p:spPr>
          <a:xfrm>
            <a:off x="777240" y="5029200"/>
            <a:ext cx="731520" cy="731520"/>
          </a:xfrm>
          <a:prstGeom prst="ellipse">
            <a:avLst/>
          </a:prstGeom>
          <a:solidFill>
            <a:srgbClr val="B91C1C"/>
          </a:solidFill>
          <a:ln w="12700">
            <a:solidFill>
              <a:srgbClr val="B91C1C"/>
            </a:solidFill>
            <a:prstDash val="solid"/>
          </a:ln>
        </p:spPr>
      </p:sp>
      <p:pic>
        <p:nvPicPr>
          <p:cNvPr id="22" name="Image 3">
            <a:extLst>
              <a:ext uri="{C183D7F6-B498-43B3-948B-1728B52AA6E4}">
                <adec:decorative xmlns:adec="http://schemas.microsoft.com/office/drawing/2017/decorative" val="1"/>
              </a:ext>
            </a:extLst>
          </p:cNvPr>
          <p:cNvPicPr>
            <a:picLocks noChangeAspect="1"/>
          </p:cNvPicPr>
          <p:nvPr/>
        </p:nvPicPr>
        <p:blipFill>
          <a:blip r:embed="rId8"/>
          <a:stretch>
            <a:fillRect/>
          </a:stretch>
        </p:blipFill>
        <p:spPr>
          <a:xfrm>
            <a:off x="952805" y="5204765"/>
            <a:ext cx="380390" cy="380390"/>
          </a:xfrm>
          <a:prstGeom prst="rect">
            <a:avLst/>
          </a:prstGeom>
        </p:spPr>
      </p:pic>
      <p:sp>
        <p:nvSpPr>
          <p:cNvPr id="23" name="Overlap text"/>
          <p:cNvSpPr txBox="1"/>
          <p:nvPr/>
        </p:nvSpPr>
        <p:spPr>
          <a:xfrm>
            <a:off x="1737360" y="4892040"/>
            <a:ext cx="9738360" cy="1005840"/>
          </a:xfrm>
          <a:prstGeom prst="rect">
            <a:avLst/>
          </a:prstGeom>
          <a:noFill/>
          <a:ln/>
        </p:spPr>
        <p:txBody>
          <a:bodyPr wrap="square" lIns="0" tIns="0" rIns="0" bIns="0" rtlCol="0" anchor="ctr"/>
          <a:lstStyle/>
          <a:p>
            <a:pPr marL="0" indent="0">
              <a:buNone/>
            </a:pPr>
            <a:r>
              <a:rPr lang="en-US" sz="1650" b="1" dirty="0">
                <a:solidFill>
                  <a:srgbClr val="B91C1C"/>
                </a:solidFill>
              </a:rPr>
              <a:t>Same license, different products: </a:t>
            </a:r>
            <a:r>
              <a:rPr lang="en-US" sz="1650" dirty="0">
                <a:solidFill>
                  <a:schemeClr val="tx2"/>
                </a:solidFill>
              </a:rPr>
              <a:t>a commercial tenant sees per-location network assessments, informed network routing and Adoption Score; a GCC tenant sees none of them. What you can use is the overlap of all three checks.</a:t>
            </a:r>
            <a:endParaRPr lang="en-US" sz="1650" dirty="0"/>
          </a:p>
        </p:txBody>
      </p:sp>
      <p:sp>
        <p:nvSpPr>
          <p:cNvPr id="24"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FedRAMP Consolidated Rules for 2026 — Using a FedRAMP Certified Cloud Service, Definitions; FedRAMP Marketplace; Microsoft Learn — network connectivity, informed network routing, Adoption Score. Book 10, Chapter 01.</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2</a:t>
            </a:fld>
            <a:endParaRPr lang="en-US"/>
          </a:p>
        </p:txBody>
      </p:sp>
      <p:pic>
        <p:nvPicPr>
          <p:cNvPr id="26" name="Narration" descr="Narration for this slide; captions available">
            <a:hlinkClick r:id="" action="ppaction://media"/>
            <a:extLst>
              <a:ext uri="{FF2B5EF4-FFF2-40B4-BE49-F238E27FC236}">
                <a16:creationId xmlns:a16="http://schemas.microsoft.com/office/drawing/2014/main" id="{3FEEB008-0E28-8846-DD86-7C1DC088F111}"/>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8A903D5E-334F-420A-8A7A-B7F974D8BF3C}" label="English (captions)" lang="en-US" r:embed="rId10"/>
                        </p173:trackLst>
                      </p173:tracksInfo>
                    </p:ext>
                  </p14:extLst>
                </p14:media>
              </p:ext>
            </p:extLst>
          </p:nvPr>
        </p:nvPicPr>
        <p:blipFill>
          <a:blip r:embed="rId9"/>
          <a:stretch>
            <a:fillRect/>
          </a:stretch>
        </p:blipFill>
        <p:spPr>
          <a:xfrm>
            <a:off x="127000" y="6350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56730"/>
    </mc:Choice>
    <mc:Fallback>
      <p:transition spd="slow" advTm="5673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52728" fill="hold"/>
                                        <p:tgtEl>
                                          <p:spTgt spid="26"/>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The invisible boundary, and the example corrected</a:t>
            </a:r>
            <a:endParaRPr lang="en-US" sz="3000" dirty="0"/>
          </a:p>
        </p:txBody>
      </p:sp>
      <p:sp>
        <p:nvSpPr>
          <p:cNvPr id="3" name="Tag Why">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91C1C"/>
          </a:solidFill>
          <a:ln w="12700">
            <a:solidFill>
              <a:srgbClr val="B91C1C"/>
            </a:solidFill>
            <a:prstDash val="solid"/>
          </a:ln>
        </p:spPr>
      </p:sp>
      <p:sp>
        <p:nvSpPr>
          <p:cNvPr id="4" name="Tag Why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WHY</a:t>
            </a:r>
            <a:endParaRPr lang="en-US" sz="1100" dirty="0"/>
          </a:p>
        </p:txBody>
      </p:sp>
      <p:sp>
        <p:nvSpPr>
          <p:cNvPr id="5" name="Hidden head"/>
          <p:cNvSpPr txBox="1"/>
          <p:nvPr/>
        </p:nvSpPr>
        <p:spPr>
          <a:xfrm>
            <a:off x="548640" y="1417320"/>
            <a:ext cx="5669280" cy="274320"/>
          </a:xfrm>
          <a:prstGeom prst="rect">
            <a:avLst/>
          </a:prstGeom>
          <a:noFill/>
          <a:ln/>
        </p:spPr>
        <p:txBody>
          <a:bodyPr wrap="square" lIns="0" tIns="0" rIns="0" bIns="0" rtlCol="0" anchor="t"/>
          <a:lstStyle/>
          <a:p>
            <a:pPr marL="0" indent="0">
              <a:buNone/>
            </a:pPr>
            <a:r>
              <a:rPr lang="en-US" sz="1200" b="1" dirty="0">
                <a:solidFill>
                  <a:srgbClr val="64748B"/>
                </a:solidFill>
              </a:rPr>
              <a:t>WHY THE GAP STAYS INVISIBLE</a:t>
            </a:r>
            <a:endParaRPr lang="en-US" sz="1200" dirty="0"/>
          </a:p>
        </p:txBody>
      </p:sp>
      <p:sp>
        <p:nvSpPr>
          <p:cNvPr id="6" name="Hidden 0">
            <a:extLst>
              <a:ext uri="{C183D7F6-B498-43B3-948B-1728B52AA6E4}">
                <adec:decorative xmlns:adec="http://schemas.microsoft.com/office/drawing/2017/decorative" val="1"/>
              </a:ext>
            </a:extLst>
          </p:cNvPr>
          <p:cNvSpPr/>
          <p:nvPr/>
        </p:nvSpPr>
        <p:spPr>
          <a:xfrm>
            <a:off x="548640" y="1755648"/>
            <a:ext cx="5669280" cy="603504"/>
          </a:xfrm>
          <a:prstGeom prst="roundRect">
            <a:avLst>
              <a:gd name="adj" fmla="val 12121"/>
            </a:avLst>
          </a:prstGeom>
          <a:solidFill>
            <a:srgbClr val="E9EEF4"/>
          </a:solidFill>
          <a:ln w="12700">
            <a:solidFill>
              <a:srgbClr val="E9EEF4"/>
            </a:solidFill>
            <a:prstDash val="solid"/>
          </a:ln>
          <a:effectLst>
            <a:outerShdw blurRad="76200" dist="25400" dir="5400000" algn="bl" rotWithShape="0">
              <a:srgbClr val="64748B">
                <a:alpha val="22000"/>
              </a:srgbClr>
            </a:outerShdw>
          </a:effectLst>
        </p:spPr>
      </p:sp>
      <p:sp>
        <p:nvSpPr>
          <p:cNvPr id="7" name="Hidden 0 text"/>
          <p:cNvSpPr txBox="1"/>
          <p:nvPr/>
        </p:nvSpPr>
        <p:spPr>
          <a:xfrm>
            <a:off x="731520" y="1755648"/>
            <a:ext cx="5394960" cy="603504"/>
          </a:xfrm>
          <a:prstGeom prst="rect">
            <a:avLst/>
          </a:prstGeom>
          <a:noFill/>
          <a:ln/>
        </p:spPr>
        <p:txBody>
          <a:bodyPr wrap="square" lIns="0" tIns="0" rIns="0" bIns="0" rtlCol="0" anchor="ctr"/>
          <a:lstStyle/>
          <a:p>
            <a:pPr marL="0" indent="0">
              <a:buNone/>
            </a:pPr>
            <a:r>
              <a:rPr lang="en-US" sz="1400" b="1" dirty="0">
                <a:solidFill>
                  <a:srgbClr val="1F2A44"/>
                </a:solidFill>
              </a:rPr>
              <a:t>Shared surfaces   </a:t>
            </a:r>
            <a:r>
              <a:rPr lang="en-US" sz="1400" dirty="0">
                <a:solidFill>
                  <a:schemeClr val="tx2"/>
                </a:solidFill>
              </a:rPr>
              <a:t>Intune in GCC is the commercial instance</a:t>
            </a:r>
            <a:endParaRPr lang="en-US" sz="1400" dirty="0"/>
          </a:p>
        </p:txBody>
      </p:sp>
      <p:sp>
        <p:nvSpPr>
          <p:cNvPr id="8" name="Hidden 1">
            <a:extLst>
              <a:ext uri="{C183D7F6-B498-43B3-948B-1728B52AA6E4}">
                <adec:decorative xmlns:adec="http://schemas.microsoft.com/office/drawing/2017/decorative" val="1"/>
              </a:ext>
            </a:extLst>
          </p:cNvPr>
          <p:cNvSpPr/>
          <p:nvPr/>
        </p:nvSpPr>
        <p:spPr>
          <a:xfrm>
            <a:off x="548640" y="2468880"/>
            <a:ext cx="5669280" cy="603504"/>
          </a:xfrm>
          <a:prstGeom prst="roundRect">
            <a:avLst>
              <a:gd name="adj" fmla="val 12121"/>
            </a:avLst>
          </a:prstGeom>
          <a:solidFill>
            <a:srgbClr val="E4EAF4"/>
          </a:solidFill>
          <a:ln w="12700">
            <a:solidFill>
              <a:srgbClr val="E4EAF4"/>
            </a:solidFill>
            <a:prstDash val="solid"/>
          </a:ln>
          <a:effectLst>
            <a:outerShdw blurRad="76200" dist="25400" dir="5400000" algn="bl" rotWithShape="0">
              <a:srgbClr val="64748B">
                <a:alpha val="22000"/>
              </a:srgbClr>
            </a:outerShdw>
          </a:effectLst>
        </p:spPr>
      </p:sp>
      <p:sp>
        <p:nvSpPr>
          <p:cNvPr id="9" name="Hidden 1 text"/>
          <p:cNvSpPr txBox="1"/>
          <p:nvPr/>
        </p:nvSpPr>
        <p:spPr>
          <a:xfrm>
            <a:off x="731520" y="2468880"/>
            <a:ext cx="5394960" cy="603504"/>
          </a:xfrm>
          <a:prstGeom prst="rect">
            <a:avLst/>
          </a:prstGeom>
          <a:noFill/>
          <a:ln/>
        </p:spPr>
        <p:txBody>
          <a:bodyPr wrap="square" lIns="0" tIns="0" rIns="0" bIns="0" rtlCol="0" anchor="ctr"/>
          <a:lstStyle/>
          <a:p>
            <a:pPr marL="0" indent="0">
              <a:buNone/>
            </a:pPr>
            <a:r>
              <a:rPr lang="en-US" sz="1400" b="1" dirty="0">
                <a:solidFill>
                  <a:srgbClr val="1F2A44"/>
                </a:solidFill>
              </a:rPr>
              <a:t>Scattered exclusions   </a:t>
            </a:r>
            <a:r>
              <a:rPr lang="en-US" sz="1400" dirty="0">
                <a:solidFill>
                  <a:schemeClr val="tx2"/>
                </a:solidFill>
              </a:rPr>
              <a:t>One sentence per feature page; no list</a:t>
            </a:r>
            <a:endParaRPr lang="en-US" sz="1400" dirty="0"/>
          </a:p>
        </p:txBody>
      </p:sp>
      <p:sp>
        <p:nvSpPr>
          <p:cNvPr id="10" name="Hidden 2">
            <a:extLst>
              <a:ext uri="{C183D7F6-B498-43B3-948B-1728B52AA6E4}">
                <adec:decorative xmlns:adec="http://schemas.microsoft.com/office/drawing/2017/decorative" val="1"/>
              </a:ext>
            </a:extLst>
          </p:cNvPr>
          <p:cNvSpPr/>
          <p:nvPr/>
        </p:nvSpPr>
        <p:spPr>
          <a:xfrm>
            <a:off x="548640" y="3182112"/>
            <a:ext cx="5669280" cy="603504"/>
          </a:xfrm>
          <a:prstGeom prst="roundRect">
            <a:avLst>
              <a:gd name="adj" fmla="val 12121"/>
            </a:avLst>
          </a:prstGeom>
          <a:solidFill>
            <a:srgbClr val="E9EEF4"/>
          </a:solidFill>
          <a:ln w="12700">
            <a:solidFill>
              <a:srgbClr val="E9EEF4"/>
            </a:solidFill>
            <a:prstDash val="solid"/>
          </a:ln>
          <a:effectLst>
            <a:outerShdw blurRad="76200" dist="25400" dir="5400000" algn="bl" rotWithShape="0">
              <a:srgbClr val="64748B">
                <a:alpha val="22000"/>
              </a:srgbClr>
            </a:outerShdw>
          </a:effectLst>
        </p:spPr>
      </p:sp>
      <p:sp>
        <p:nvSpPr>
          <p:cNvPr id="11" name="Hidden 2 text"/>
          <p:cNvSpPr txBox="1"/>
          <p:nvPr/>
        </p:nvSpPr>
        <p:spPr>
          <a:xfrm>
            <a:off x="731520" y="3182112"/>
            <a:ext cx="5394960" cy="603504"/>
          </a:xfrm>
          <a:prstGeom prst="rect">
            <a:avLst/>
          </a:prstGeom>
          <a:noFill/>
          <a:ln/>
        </p:spPr>
        <p:txBody>
          <a:bodyPr wrap="square" lIns="0" tIns="0" rIns="0" bIns="0" rtlCol="0" anchor="ctr"/>
          <a:lstStyle/>
          <a:p>
            <a:pPr marL="0" indent="0">
              <a:buNone/>
            </a:pPr>
            <a:r>
              <a:rPr lang="en-US" sz="1400" b="1" dirty="0">
                <a:solidFill>
                  <a:srgbClr val="1F2A44"/>
                </a:solidFill>
              </a:rPr>
              <a:t>Moving targets   </a:t>
            </a:r>
            <a:r>
              <a:rPr lang="en-US" sz="1400" dirty="0">
                <a:solidFill>
                  <a:schemeClr val="tx2"/>
                </a:solidFill>
              </a:rPr>
              <a:t>Adoption Score categories retired for all, 2026</a:t>
            </a:r>
            <a:endParaRPr lang="en-US" sz="1400" dirty="0"/>
          </a:p>
        </p:txBody>
      </p:sp>
      <p:sp>
        <p:nvSpPr>
          <p:cNvPr id="12" name="Hidden 3">
            <a:extLst>
              <a:ext uri="{C183D7F6-B498-43B3-948B-1728B52AA6E4}">
                <adec:decorative xmlns:adec="http://schemas.microsoft.com/office/drawing/2017/decorative" val="1"/>
              </a:ext>
            </a:extLst>
          </p:cNvPr>
          <p:cNvSpPr/>
          <p:nvPr/>
        </p:nvSpPr>
        <p:spPr>
          <a:xfrm>
            <a:off x="548640" y="3895344"/>
            <a:ext cx="5669280" cy="603504"/>
          </a:xfrm>
          <a:prstGeom prst="roundRect">
            <a:avLst>
              <a:gd name="adj" fmla="val 12121"/>
            </a:avLst>
          </a:prstGeom>
          <a:solidFill>
            <a:srgbClr val="E4EAF4"/>
          </a:solidFill>
          <a:ln w="12700">
            <a:solidFill>
              <a:srgbClr val="E4EAF4"/>
            </a:solidFill>
            <a:prstDash val="solid"/>
          </a:ln>
          <a:effectLst>
            <a:outerShdw blurRad="76200" dist="25400" dir="5400000" algn="bl" rotWithShape="0">
              <a:srgbClr val="64748B">
                <a:alpha val="22000"/>
              </a:srgbClr>
            </a:outerShdw>
          </a:effectLst>
        </p:spPr>
      </p:sp>
      <p:sp>
        <p:nvSpPr>
          <p:cNvPr id="13" name="Hidden 3 text"/>
          <p:cNvSpPr txBox="1"/>
          <p:nvPr/>
        </p:nvSpPr>
        <p:spPr>
          <a:xfrm>
            <a:off x="731520" y="3895344"/>
            <a:ext cx="5394960" cy="603504"/>
          </a:xfrm>
          <a:prstGeom prst="rect">
            <a:avLst/>
          </a:prstGeom>
          <a:noFill/>
          <a:ln/>
        </p:spPr>
        <p:txBody>
          <a:bodyPr wrap="square" lIns="0" tIns="0" rIns="0" bIns="0" rtlCol="0" anchor="ctr"/>
          <a:lstStyle/>
          <a:p>
            <a:pPr marL="0" indent="0">
              <a:buNone/>
            </a:pPr>
            <a:r>
              <a:rPr lang="en-US" sz="1400" b="1" dirty="0">
                <a:solidFill>
                  <a:srgbClr val="1F2A44"/>
                </a:solidFill>
              </a:rPr>
              <a:t>Silent absence   </a:t>
            </a:r>
            <a:r>
              <a:rPr lang="en-US" sz="1400" dirty="0">
                <a:solidFill>
                  <a:schemeClr val="tx2"/>
                </a:solidFill>
              </a:rPr>
              <a:t>A missing signal looks like a quiet day</a:t>
            </a:r>
            <a:endParaRPr lang="en-US" sz="140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6492240" y="1417320"/>
          <a:ext cx="9144000" cy="914400"/>
        </p:xfrm>
        <a:graphic>
          <a:graphicData uri="http://schemas.openxmlformats.org/drawingml/2006/table">
            <a:tbl>
              <a:tblPr firstRow="1" bandRow="1"/>
              <a:tblGrid>
                <a:gridCol w="2514600">
                  <a:extLst>
                    <a:ext uri="{9D8B030D-6E8A-4147-A177-3AD203B41FA5}">
                      <a16:colId xmlns:a16="http://schemas.microsoft.com/office/drawing/2014/main" val="20000"/>
                    </a:ext>
                  </a:extLst>
                </a:gridCol>
                <a:gridCol w="2651760">
                  <a:extLst>
                    <a:ext uri="{9D8B030D-6E8A-4147-A177-3AD203B41FA5}">
                      <a16:colId xmlns:a16="http://schemas.microsoft.com/office/drawing/2014/main" val="20001"/>
                    </a:ext>
                  </a:extLst>
                </a:gridCol>
              </a:tblGrid>
              <a:tr h="384048">
                <a:tc>
                  <a:txBody>
                    <a:bodyPr/>
                    <a:lstStyle/>
                    <a:p>
                      <a:pPr marL="0" indent="0">
                        <a:buNone/>
                      </a:pPr>
                      <a:r>
                        <a:rPr lang="en-US" sz="1250" b="1" dirty="0">
                          <a:solidFill>
                            <a:srgbClr val="FFFFFF"/>
                          </a:solidFill>
                          <a:latin typeface="Calibri" pitchFamily="34" charset="0"/>
                          <a:ea typeface="Calibri" pitchFamily="34" charset="-122"/>
                          <a:cs typeface="Calibri" pitchFamily="34" charset="-120"/>
                        </a:rPr>
                        <a:t>Feature in the old example</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250" b="1" dirty="0">
                          <a:solidFill>
                            <a:srgbClr val="FFFFFF"/>
                          </a:solidFill>
                          <a:latin typeface="Calibri" pitchFamily="34" charset="0"/>
                          <a:ea typeface="Calibri" pitchFamily="34" charset="-122"/>
                          <a:cs typeface="Calibri" pitchFamily="34" charset="-120"/>
                        </a:rPr>
                        <a:t>Verdict for GCC</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566928">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Admin center network connectivity, Locations</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b="1" dirty="0">
                          <a:solidFill>
                            <a:srgbClr val="B91C1C"/>
                          </a:solidFill>
                          <a:latin typeface="Calibri" pitchFamily="34" charset="0"/>
                          <a:ea typeface="Calibri" pitchFamily="34" charset="-122"/>
                          <a:cs typeface="Calibri" pitchFamily="34" charset="-120"/>
                        </a:rPr>
                        <a:t>Confirmed unavailable in GCC</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75488">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Endpoint analytics</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Not a documented GCC gap</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475488">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Device Health Attestation</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A GCC High and DoD gap</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75488">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Expedited updates</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A GCC High and DoD gap</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566928">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Azure Arc server monitoring</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An Azure service, in FedRAMP High scope</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
        <p:nvSpPr>
          <p:cNvPr id="15" name="Both ways">
            <a:extLst>
              <a:ext uri="{C183D7F6-B498-43B3-948B-1728B52AA6E4}">
                <adec:decorative xmlns:adec="http://schemas.microsoft.com/office/drawing/2017/decorative" val="1"/>
              </a:ext>
            </a:extLst>
          </p:cNvPr>
          <p:cNvSpPr/>
          <p:nvPr/>
        </p:nvSpPr>
        <p:spPr>
          <a:xfrm>
            <a:off x="548640" y="4846320"/>
            <a:ext cx="11109960" cy="1097280"/>
          </a:xfrm>
          <a:prstGeom prst="roundRect">
            <a:avLst>
              <a:gd name="adj" fmla="val 6667"/>
            </a:avLst>
          </a:prstGeom>
          <a:solidFill>
            <a:srgbClr val="FFFFFF"/>
          </a:solidFill>
          <a:ln w="12700">
            <a:solidFill>
              <a:srgbClr val="B45309"/>
            </a:solidFill>
            <a:prstDash val="solid"/>
          </a:ln>
          <a:effectLst>
            <a:outerShdw blurRad="76200" dist="25400" dir="5400000" algn="bl" rotWithShape="0">
              <a:srgbClr val="64748B">
                <a:alpha val="22000"/>
              </a:srgbClr>
            </a:outerShdw>
          </a:effectLst>
        </p:spPr>
      </p:sp>
      <p:sp>
        <p:nvSpPr>
          <p:cNvPr id="16" name="Icon FaScaleBalanced">
            <a:extLst>
              <a:ext uri="{C183D7F6-B498-43B3-948B-1728B52AA6E4}">
                <adec:decorative xmlns:adec="http://schemas.microsoft.com/office/drawing/2017/decorative" val="1"/>
              </a:ext>
            </a:extLst>
          </p:cNvPr>
          <p:cNvSpPr/>
          <p:nvPr/>
        </p:nvSpPr>
        <p:spPr>
          <a:xfrm>
            <a:off x="777240" y="5029200"/>
            <a:ext cx="731520" cy="731520"/>
          </a:xfrm>
          <a:prstGeom prst="ellipse">
            <a:avLst/>
          </a:prstGeom>
          <a:solidFill>
            <a:srgbClr val="B45309"/>
          </a:solidFill>
          <a:ln w="12700">
            <a:solidFill>
              <a:srgbClr val="B45309"/>
            </a:solidFill>
            <a:prstDash val="solid"/>
          </a:ln>
        </p:spPr>
      </p:sp>
      <p:pic>
        <p:nvPicPr>
          <p:cNvPr id="17" name="Image 0">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952805" y="5204765"/>
            <a:ext cx="380390" cy="380390"/>
          </a:xfrm>
          <a:prstGeom prst="rect">
            <a:avLst/>
          </a:prstGeom>
        </p:spPr>
      </p:pic>
      <p:sp>
        <p:nvSpPr>
          <p:cNvPr id="18" name="Both ways text"/>
          <p:cNvSpPr txBox="1"/>
          <p:nvPr/>
        </p:nvSpPr>
        <p:spPr>
          <a:xfrm>
            <a:off x="1737360" y="4892040"/>
            <a:ext cx="9738360" cy="1005840"/>
          </a:xfrm>
          <a:prstGeom prst="rect">
            <a:avLst/>
          </a:prstGeom>
          <a:noFill/>
          <a:ln/>
        </p:spPr>
        <p:txBody>
          <a:bodyPr wrap="square" lIns="0" tIns="0" rIns="0" bIns="0" rtlCol="0" anchor="ctr"/>
          <a:lstStyle/>
          <a:p>
            <a:pPr marL="0" indent="0">
              <a:buNone/>
            </a:pPr>
            <a:r>
              <a:rPr lang="en-US" sz="1650" b="1" dirty="0">
                <a:solidFill>
                  <a:srgbClr val="B45309"/>
                </a:solidFill>
              </a:rPr>
              <a:t>Wrong in both directions: </a:t>
            </a:r>
            <a:r>
              <a:rPr lang="en-US" sz="1650" dirty="0">
                <a:solidFill>
                  <a:schemeClr val="tx2"/>
                </a:solidFill>
              </a:rPr>
              <a:t>an invisible boundary hides features that are missing; an unverified boundary story hides features that are present, and builds compensations nobody needs.</a:t>
            </a:r>
            <a:endParaRPr lang="en-US" sz="1650" dirty="0"/>
          </a:p>
        </p:txBody>
      </p:sp>
      <p:sp>
        <p:nvSpPr>
          <p:cNvPr id="19"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Microsoft Learn — Intune for US Government service description, Adoption Score, network connectivity, endpoint analytics, Advanced Analytics, Azure FedRAMP compliance scope. Book 10, Chapter 02.</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3</a:t>
            </a:fld>
            <a:endParaRPr lang="en-US"/>
          </a:p>
        </p:txBody>
      </p:sp>
      <p:pic>
        <p:nvPicPr>
          <p:cNvPr id="20" name="Narration" descr="Narration for this slide; captions available">
            <a:hlinkClick r:id="" action="ppaction://media"/>
            <a:extLst>
              <a:ext uri="{FF2B5EF4-FFF2-40B4-BE49-F238E27FC236}">
                <a16:creationId xmlns:a16="http://schemas.microsoft.com/office/drawing/2014/main" id="{D6FC74C3-5A16-35DF-A4AC-7F22D31B8AE2}"/>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A189A6C2-8FA7-497F-94A4-B9F9FB6D9442}" label="English (captions)" lang="en-US" r:embed="rId7"/>
                        </p173:trackLst>
                      </p173:tracksInfo>
                    </p:ext>
                  </p14:extLst>
                </p14:media>
              </p:ext>
            </p:extLst>
          </p:nvPr>
        </p:nvPicPr>
        <p:blipFill>
          <a:blip r:embed="rId6"/>
          <a:stretch>
            <a:fillRect/>
          </a:stretch>
        </p:blipFill>
        <p:spPr>
          <a:xfrm>
            <a:off x="127000" y="6350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57180"/>
    </mc:Choice>
    <mc:Fallback>
      <p:transition spd="slow" advTm="5718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53184" fill="hold"/>
                                        <p:tgtEl>
                                          <p:spTgt spid="20"/>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Four things change across any boundary</a:t>
            </a:r>
            <a:endParaRPr lang="en-US" sz="3000" dirty="0"/>
          </a:p>
        </p:txBody>
      </p:sp>
      <p:sp>
        <p:nvSpPr>
          <p:cNvPr id="3" name="Tag Why">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91C1C"/>
          </a:solidFill>
          <a:ln w="12700">
            <a:solidFill>
              <a:srgbClr val="B91C1C"/>
            </a:solidFill>
            <a:prstDash val="solid"/>
          </a:ln>
        </p:spPr>
      </p:sp>
      <p:sp>
        <p:nvSpPr>
          <p:cNvPr id="4" name="Tag Why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WHY</a:t>
            </a:r>
            <a:endParaRPr lang="en-US" sz="11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548640" y="1417320"/>
          <a:ext cx="9144000" cy="914400"/>
        </p:xfrm>
        <a:graphic>
          <a:graphicData uri="http://schemas.openxmlformats.org/drawingml/2006/table">
            <a:tbl>
              <a:tblPr firstRow="1" bandRow="1"/>
              <a:tblGrid>
                <a:gridCol w="1691640">
                  <a:extLst>
                    <a:ext uri="{9D8B030D-6E8A-4147-A177-3AD203B41FA5}">
                      <a16:colId xmlns:a16="http://schemas.microsoft.com/office/drawing/2014/main" val="20000"/>
                    </a:ext>
                  </a:extLst>
                </a:gridCol>
                <a:gridCol w="2103120">
                  <a:extLst>
                    <a:ext uri="{9D8B030D-6E8A-4147-A177-3AD203B41FA5}">
                      <a16:colId xmlns:a16="http://schemas.microsoft.com/office/drawing/2014/main" val="20001"/>
                    </a:ext>
                  </a:extLst>
                </a:gridCol>
                <a:gridCol w="1645920">
                  <a:extLst>
                    <a:ext uri="{9D8B030D-6E8A-4147-A177-3AD203B41FA5}">
                      <a16:colId xmlns:a16="http://schemas.microsoft.com/office/drawing/2014/main" val="20002"/>
                    </a:ext>
                  </a:extLst>
                </a:gridCol>
                <a:gridCol w="960120">
                  <a:extLst>
                    <a:ext uri="{9D8B030D-6E8A-4147-A177-3AD203B41FA5}">
                      <a16:colId xmlns:a16="http://schemas.microsoft.com/office/drawing/2014/main" val="20003"/>
                    </a:ext>
                  </a:extLst>
                </a:gridCol>
              </a:tblGrid>
              <a:tr h="384048">
                <a:tc>
                  <a:txBody>
                    <a:bodyPr/>
                    <a:lstStyle/>
                    <a:p>
                      <a:pPr marL="0" indent="0">
                        <a:buNone/>
                      </a:pPr>
                      <a:r>
                        <a:rPr lang="en-US" sz="1250" b="1" dirty="0">
                          <a:solidFill>
                            <a:srgbClr val="FFFFFF"/>
                          </a:solidFill>
                          <a:latin typeface="Calibri" pitchFamily="34" charset="0"/>
                          <a:ea typeface="Calibri" pitchFamily="34" charset="-122"/>
                          <a:cs typeface="Calibri" pitchFamily="34" charset="-120"/>
                        </a:rPr>
                        <a:t>Dimension</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250" b="1" dirty="0">
                          <a:solidFill>
                            <a:srgbClr val="FFFFFF"/>
                          </a:solidFill>
                          <a:latin typeface="Calibri" pitchFamily="34" charset="0"/>
                          <a:ea typeface="Calibri" pitchFamily="34" charset="-122"/>
                          <a:cs typeface="Calibri" pitchFamily="34" charset="-120"/>
                        </a:rPr>
                        <a:t>The question</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250" b="1" dirty="0">
                          <a:solidFill>
                            <a:srgbClr val="FFFFFF"/>
                          </a:solidFill>
                          <a:latin typeface="Calibri" pitchFamily="34" charset="0"/>
                          <a:ea typeface="Calibri" pitchFamily="34" charset="-122"/>
                          <a:cs typeface="Calibri" pitchFamily="34" charset="-120"/>
                        </a:rPr>
                        <a:t>Drift class</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250" b="1" dirty="0">
                          <a:solidFill>
                            <a:srgbClr val="FFFFFF"/>
                          </a:solidFill>
                          <a:latin typeface="Calibri" pitchFamily="34" charset="0"/>
                          <a:ea typeface="Calibri" pitchFamily="34" charset="-122"/>
                          <a:cs typeface="Calibri" pitchFamily="34" charset="-120"/>
                        </a:rPr>
                        <a:t>Detection</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685800">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Telemetry fidelity</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Which signals actually arrive on this side?</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00" dirty="0">
                          <a:solidFill>
                            <a:srgbClr val="334155"/>
                          </a:solidFill>
                          <a:latin typeface="Calibri" pitchFamily="34" charset="0"/>
                          <a:ea typeface="Calibri" pitchFamily="34" charset="-122"/>
                          <a:cs typeface="Calibri" pitchFamily="34" charset="-120"/>
                        </a:rPr>
                        <a:t>DRIFT-SCHEMA, DRIFT-PROVENANCE</a:t>
                      </a:r>
                      <a:endParaRPr lang="en-US" sz="11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b="1" dirty="0">
                          <a:solidFill>
                            <a:srgbClr val="334155"/>
                          </a:solidFill>
                          <a:latin typeface="Calibri" pitchFamily="34" charset="0"/>
                          <a:ea typeface="Calibri" pitchFamily="34" charset="-122"/>
                          <a:cs typeface="Calibri" pitchFamily="34" charset="-120"/>
                        </a:rPr>
                        <a:t>Shipped</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685800">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Identity authority</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Who does a claim's issuer resolve to here?</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00" dirty="0">
                          <a:solidFill>
                            <a:srgbClr val="334155"/>
                          </a:solidFill>
                          <a:latin typeface="Calibri" pitchFamily="34" charset="0"/>
                          <a:ea typeface="Calibri" pitchFamily="34" charset="-122"/>
                          <a:cs typeface="Calibri" pitchFamily="34" charset="-120"/>
                        </a:rPr>
                        <a:t>DRIFT-IDENTITY</a:t>
                      </a:r>
                      <a:endParaRPr lang="en-US" sz="11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b="1" dirty="0">
                          <a:solidFill>
                            <a:srgbClr val="334155"/>
                          </a:solidFill>
                          <a:latin typeface="Calibri" pitchFamily="34" charset="0"/>
                          <a:ea typeface="Calibri" pitchFamily="34" charset="-122"/>
                          <a:cs typeface="Calibri" pitchFamily="34" charset="-120"/>
                        </a:rPr>
                        <a:t>Design only</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685800">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Enforcement responsibility</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Platform or agency: who enforces it?</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00" dirty="0">
                          <a:solidFill>
                            <a:srgbClr val="334155"/>
                          </a:solidFill>
                          <a:latin typeface="Calibri" pitchFamily="34" charset="0"/>
                          <a:ea typeface="Calibri" pitchFamily="34" charset="-122"/>
                          <a:cs typeface="Calibri" pitchFamily="34" charset="-120"/>
                        </a:rPr>
                        <a:t>DRIFT-AUTHZ</a:t>
                      </a:r>
                      <a:endParaRPr lang="en-US" sz="11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b="1" dirty="0">
                          <a:solidFill>
                            <a:srgbClr val="334155"/>
                          </a:solidFill>
                          <a:latin typeface="Calibri" pitchFamily="34" charset="0"/>
                          <a:ea typeface="Calibri" pitchFamily="34" charset="-122"/>
                          <a:cs typeface="Calibri" pitchFamily="34" charset="-120"/>
                        </a:rPr>
                        <a:t>Design only</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685800">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Provenance classification</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Still authoritative, or only derived?</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00" dirty="0">
                          <a:solidFill>
                            <a:srgbClr val="334155"/>
                          </a:solidFill>
                          <a:latin typeface="Calibri" pitchFamily="34" charset="0"/>
                          <a:ea typeface="Calibri" pitchFamily="34" charset="-122"/>
                          <a:cs typeface="Calibri" pitchFamily="34" charset="-120"/>
                        </a:rPr>
                        <a:t>DRIFT-SEMANTIC</a:t>
                      </a:r>
                      <a:endParaRPr lang="en-US" sz="11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b="1" dirty="0">
                          <a:solidFill>
                            <a:srgbClr val="334155"/>
                          </a:solidFill>
                          <a:latin typeface="Calibri" pitchFamily="34" charset="0"/>
                          <a:ea typeface="Calibri" pitchFamily="34" charset="-122"/>
                          <a:cs typeface="Calibri" pitchFamily="34" charset="-120"/>
                        </a:rPr>
                        <a:t>Partial</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bl>
          </a:graphicData>
        </a:graphic>
      </p:graphicFrame>
      <p:sp>
        <p:nvSpPr>
          <p:cNvPr id="6" name="GCC box">
            <a:extLst>
              <a:ext uri="{C183D7F6-B498-43B3-948B-1728B52AA6E4}">
                <adec:decorative xmlns:adec="http://schemas.microsoft.com/office/drawing/2017/decorative" val="1"/>
              </a:ext>
            </a:extLst>
          </p:cNvPr>
          <p:cNvSpPr/>
          <p:nvPr/>
        </p:nvSpPr>
        <p:spPr>
          <a:xfrm>
            <a:off x="7178040" y="1417320"/>
            <a:ext cx="4480560" cy="3200400"/>
          </a:xfrm>
          <a:prstGeom prst="roundRect">
            <a:avLst>
              <a:gd name="adj" fmla="val 2286"/>
            </a:avLst>
          </a:prstGeom>
          <a:solidFill>
            <a:srgbClr val="DCEFEC"/>
          </a:solidFill>
          <a:ln w="12700">
            <a:solidFill>
              <a:srgbClr val="DCEFEC"/>
            </a:solidFill>
            <a:prstDash val="solid"/>
          </a:ln>
          <a:effectLst>
            <a:outerShdw blurRad="76200" dist="25400" dir="5400000" algn="bl" rotWithShape="0">
              <a:srgbClr val="64748B">
                <a:alpha val="22000"/>
              </a:srgbClr>
            </a:outerShdw>
          </a:effectLst>
        </p:spPr>
      </p:sp>
      <p:sp>
        <p:nvSpPr>
          <p:cNvPr id="7" name="Icon FaCloud">
            <a:extLst>
              <a:ext uri="{C183D7F6-B498-43B3-948B-1728B52AA6E4}">
                <adec:decorative xmlns:adec="http://schemas.microsoft.com/office/drawing/2017/decorative" val="1"/>
              </a:ext>
            </a:extLst>
          </p:cNvPr>
          <p:cNvSpPr/>
          <p:nvPr/>
        </p:nvSpPr>
        <p:spPr>
          <a:xfrm>
            <a:off x="7406640" y="1572768"/>
            <a:ext cx="548640" cy="548640"/>
          </a:xfrm>
          <a:prstGeom prst="ellipse">
            <a:avLst/>
          </a:prstGeom>
          <a:solidFill>
            <a:srgbClr val="0F766E"/>
          </a:solidFill>
          <a:ln w="12700">
            <a:solidFill>
              <a:srgbClr val="0F766E"/>
            </a:solidFill>
            <a:prstDash val="solid"/>
          </a:ln>
        </p:spPr>
      </p:sp>
      <p:pic>
        <p:nvPicPr>
          <p:cNvPr id="8" name="Image 0">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7538314" y="1704442"/>
            <a:ext cx="285293" cy="285293"/>
          </a:xfrm>
          <a:prstGeom prst="rect">
            <a:avLst/>
          </a:prstGeom>
        </p:spPr>
      </p:pic>
      <p:sp>
        <p:nvSpPr>
          <p:cNvPr id="9" name="GCC head"/>
          <p:cNvSpPr txBox="1"/>
          <p:nvPr/>
        </p:nvSpPr>
        <p:spPr>
          <a:xfrm>
            <a:off x="8092440" y="1572768"/>
            <a:ext cx="3474720" cy="548640"/>
          </a:xfrm>
          <a:prstGeom prst="rect">
            <a:avLst/>
          </a:prstGeom>
          <a:noFill/>
          <a:ln/>
        </p:spPr>
        <p:txBody>
          <a:bodyPr wrap="square" lIns="0" tIns="0" rIns="0" bIns="0" rtlCol="0" anchor="ctr"/>
          <a:lstStyle/>
          <a:p>
            <a:pPr marL="0" indent="0">
              <a:buNone/>
            </a:pPr>
            <a:r>
              <a:rPr lang="en-US" sz="1700" b="1" dirty="0">
                <a:solidFill>
                  <a:srgbClr val="0F766E"/>
                </a:solidFill>
                <a:latin typeface="Cambria" pitchFamily="34" charset="0"/>
                <a:ea typeface="Cambria" pitchFamily="34" charset="-122"/>
                <a:cs typeface="Cambria" pitchFamily="34" charset="-120"/>
              </a:rPr>
              <a:t>In GCC, from documented facts</a:t>
            </a:r>
            <a:endParaRPr lang="en-US" sz="1700" dirty="0"/>
          </a:p>
        </p:txBody>
      </p:sp>
      <p:sp>
        <p:nvSpPr>
          <p:cNvPr id="10" name="GCC list"/>
          <p:cNvSpPr txBox="1"/>
          <p:nvPr/>
        </p:nvSpPr>
        <p:spPr>
          <a:xfrm>
            <a:off x="7406640" y="2240280"/>
            <a:ext cx="4114800" cy="2286000"/>
          </a:xfrm>
          <a:prstGeom prst="rect">
            <a:avLst/>
          </a:prstGeom>
          <a:noFill/>
          <a:ln/>
        </p:spPr>
        <p:txBody>
          <a:bodyPr wrap="square" lIns="0" tIns="0" rIns="0" bIns="0" rtlCol="0" anchor="t"/>
          <a:lstStyle/>
          <a:p>
            <a:pPr marL="342900" indent="-342900">
              <a:spcAft>
                <a:spcPts val="600"/>
              </a:spcAft>
              <a:buSzPct val="100000"/>
              <a:buChar char="•"/>
            </a:pPr>
            <a:r>
              <a:rPr lang="en-US" sz="1350" dirty="0">
                <a:solidFill>
                  <a:schemeClr val="tx2"/>
                </a:solidFill>
              </a:rPr>
              <a:t>Telemetry: network connectivity, INR and Adoption Score absent</a:t>
            </a:r>
            <a:endParaRPr lang="en-US" sz="1400" dirty="0"/>
          </a:p>
          <a:p>
            <a:pPr marL="342900" indent="-342900">
              <a:spcAft>
                <a:spcPts val="600"/>
              </a:spcAft>
              <a:buSzPct val="100000"/>
              <a:buChar char="•"/>
            </a:pPr>
            <a:r>
              <a:rPr lang="en-US" sz="1350" dirty="0">
                <a:solidFill>
                  <a:schemeClr val="tx2"/>
                </a:solidFill>
              </a:rPr>
              <a:t>Identity: GCC pairs with Entra ID in commercial Azure</a:t>
            </a:r>
            <a:endParaRPr lang="en-US" sz="1400" dirty="0"/>
          </a:p>
          <a:p>
            <a:pPr marL="342900" indent="-342900">
              <a:spcAft>
                <a:spcPts val="600"/>
              </a:spcAft>
              <a:buSzPct val="100000"/>
              <a:buChar char="•"/>
            </a:pPr>
            <a:r>
              <a:rPr lang="en-US" sz="1350" dirty="0">
                <a:solidFill>
                  <a:schemeClr val="tx2"/>
                </a:solidFill>
              </a:rPr>
              <a:t>Enforcement: path choice rests on agency SD-WAN data</a:t>
            </a:r>
            <a:endParaRPr lang="en-US" sz="1400" dirty="0"/>
          </a:p>
          <a:p>
            <a:pPr marL="342900" indent="-342900">
              <a:spcAft>
                <a:spcPts val="600"/>
              </a:spcAft>
              <a:buSzPct val="100000"/>
              <a:buChar char="•"/>
            </a:pPr>
            <a:r>
              <a:rPr lang="en-US" sz="1350" dirty="0">
                <a:solidFill>
                  <a:schemeClr val="tx2"/>
                </a:solidFill>
              </a:rPr>
              <a:t>Provenance: every substitute signal labeled derived</a:t>
            </a:r>
            <a:endParaRPr lang="en-US" sz="1400" dirty="0"/>
          </a:p>
        </p:txBody>
      </p:sp>
      <p:sp>
        <p:nvSpPr>
          <p:cNvPr id="11" name="No promise">
            <a:extLst>
              <a:ext uri="{C183D7F6-B498-43B3-948B-1728B52AA6E4}">
                <adec:decorative xmlns:adec="http://schemas.microsoft.com/office/drawing/2017/decorative" val="1"/>
              </a:ext>
            </a:extLst>
          </p:cNvPr>
          <p:cNvSpPr/>
          <p:nvPr/>
        </p:nvSpPr>
        <p:spPr>
          <a:xfrm>
            <a:off x="548640" y="4846320"/>
            <a:ext cx="11109960" cy="1097280"/>
          </a:xfrm>
          <a:prstGeom prst="roundRect">
            <a:avLst>
              <a:gd name="adj" fmla="val 6667"/>
            </a:avLst>
          </a:prstGeom>
          <a:solidFill>
            <a:srgbClr val="FFFFFF"/>
          </a:solidFill>
          <a:ln w="12700">
            <a:solidFill>
              <a:srgbClr val="B91C1C"/>
            </a:solidFill>
            <a:prstDash val="solid"/>
          </a:ln>
          <a:effectLst>
            <a:outerShdw blurRad="76200" dist="25400" dir="5400000" algn="bl" rotWithShape="0">
              <a:srgbClr val="64748B">
                <a:alpha val="22000"/>
              </a:srgbClr>
            </a:outerShdw>
          </a:effectLst>
        </p:spPr>
      </p:sp>
      <p:sp>
        <p:nvSpPr>
          <p:cNvPr id="12" name="Icon FaFileShield">
            <a:extLst>
              <a:ext uri="{C183D7F6-B498-43B3-948B-1728B52AA6E4}">
                <adec:decorative xmlns:adec="http://schemas.microsoft.com/office/drawing/2017/decorative" val="1"/>
              </a:ext>
            </a:extLst>
          </p:cNvPr>
          <p:cNvSpPr/>
          <p:nvPr/>
        </p:nvSpPr>
        <p:spPr>
          <a:xfrm>
            <a:off x="777240" y="5029200"/>
            <a:ext cx="731520" cy="731520"/>
          </a:xfrm>
          <a:prstGeom prst="ellipse">
            <a:avLst/>
          </a:prstGeom>
          <a:solidFill>
            <a:srgbClr val="B91C1C"/>
          </a:solidFill>
          <a:ln w="12700">
            <a:solidFill>
              <a:srgbClr val="B91C1C"/>
            </a:solidFill>
            <a:prstDash val="solid"/>
          </a:ln>
        </p:spPr>
      </p:sp>
      <p:pic>
        <p:nvPicPr>
          <p:cNvPr id="13" name="Image 1">
            <a:extLst>
              <a:ext uri="{C183D7F6-B498-43B3-948B-1728B52AA6E4}">
                <adec:decorative xmlns:adec="http://schemas.microsoft.com/office/drawing/2017/decorative" val="1"/>
              </a:ext>
            </a:extLst>
          </p:cNvPr>
          <p:cNvPicPr>
            <a:picLocks noChangeAspect="1"/>
          </p:cNvPicPr>
          <p:nvPr/>
        </p:nvPicPr>
        <p:blipFill>
          <a:blip r:embed="rId6"/>
          <a:stretch>
            <a:fillRect/>
          </a:stretch>
        </p:blipFill>
        <p:spPr>
          <a:xfrm>
            <a:off x="952805" y="5204765"/>
            <a:ext cx="380390" cy="380390"/>
          </a:xfrm>
          <a:prstGeom prst="rect">
            <a:avLst/>
          </a:prstGeom>
        </p:spPr>
      </p:pic>
      <p:sp>
        <p:nvSpPr>
          <p:cNvPr id="14" name="No promise text"/>
          <p:cNvSpPr txBox="1"/>
          <p:nvPr/>
        </p:nvSpPr>
        <p:spPr>
          <a:xfrm>
            <a:off x="1737360" y="4892040"/>
            <a:ext cx="9738360" cy="1005840"/>
          </a:xfrm>
          <a:prstGeom prst="rect">
            <a:avLst/>
          </a:prstGeom>
          <a:noFill/>
          <a:ln/>
        </p:spPr>
        <p:txBody>
          <a:bodyPr wrap="square" lIns="0" tIns="0" rIns="0" bIns="0" rtlCol="0" anchor="ctr"/>
          <a:lstStyle/>
          <a:p>
            <a:pPr marL="0" indent="0">
              <a:buNone/>
            </a:pPr>
            <a:r>
              <a:rPr lang="en-US" sz="1650" b="1" dirty="0">
                <a:solidFill>
                  <a:srgbClr val="B91C1C"/>
                </a:solidFill>
              </a:rPr>
              <a:t>No certification promises a signal: </a:t>
            </a:r>
            <a:r>
              <a:rPr lang="en-US" sz="1650" dirty="0">
                <a:solidFill>
                  <a:schemeClr val="tx2"/>
                </a:solidFill>
              </a:rPr>
              <a:t>FedRAMP's 2026 definition of federal customer data excludes analytics and telemetry the provider generates, so whether a signal arrives is the agency's question to model.</a:t>
            </a:r>
            <a:endParaRPr lang="en-US" sz="1650" dirty="0"/>
          </a:p>
        </p:txBody>
      </p:sp>
      <p:sp>
        <p:nvSpPr>
          <p:cNvPr id="15"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FedRAMP Consolidated Rules for 2026 — Definitions, Minimum Assessment Scope; Microsoft Learn — cloud feature availability for US Government, network connectivity, informed network routing. Book 10, Chapter 02.</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4</a:t>
            </a:fld>
            <a:endParaRPr lang="en-US"/>
          </a:p>
        </p:txBody>
      </p:sp>
      <p:pic>
        <p:nvPicPr>
          <p:cNvPr id="16" name="Narration" descr="Narration for this slide; captions available">
            <a:hlinkClick r:id="" action="ppaction://media"/>
            <a:extLst>
              <a:ext uri="{FF2B5EF4-FFF2-40B4-BE49-F238E27FC236}">
                <a16:creationId xmlns:a16="http://schemas.microsoft.com/office/drawing/2014/main" id="{2AFB2C31-8C7A-0F8A-6DEE-C7150A75C288}"/>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B4F346DD-AE2D-43D5-BAA3-F9BAAA77DE6B}" label="English (captions)" lang="en-US" r:embed="rId8"/>
                        </p173:trackLst>
                      </p173:tracksInfo>
                    </p:ext>
                  </p14:extLst>
                </p14:media>
              </p:ext>
            </p:extLst>
          </p:nvPr>
        </p:nvPicPr>
        <p:blipFill>
          <a:blip r:embed="rId7"/>
          <a:stretch>
            <a:fillRect/>
          </a:stretch>
        </p:blipFill>
        <p:spPr>
          <a:xfrm>
            <a:off x="127000" y="6350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57180"/>
    </mc:Choice>
    <mc:Fallback>
      <p:transition spd="slow" advTm="5718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53184" fill="hold"/>
                                        <p:tgtEl>
                                          <p:spTgt spid="16"/>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FedRAMP 2026: classes, obligations, business days</a:t>
            </a:r>
            <a:endParaRPr lang="en-US" sz="3000" dirty="0"/>
          </a:p>
        </p:txBody>
      </p:sp>
      <p:sp>
        <p:nvSpPr>
          <p:cNvPr id="3" name="Tag What">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WHAT</a:t>
            </a:r>
            <a:endParaRPr lang="en-US" sz="1100" dirty="0"/>
          </a:p>
        </p:txBody>
      </p:sp>
      <p:sp>
        <p:nvSpPr>
          <p:cNvPr id="5" name="Rules card 1">
            <a:extLst>
              <a:ext uri="{C183D7F6-B498-43B3-948B-1728B52AA6E4}">
                <adec:decorative xmlns:adec="http://schemas.microsoft.com/office/drawing/2017/decorative" val="1"/>
              </a:ext>
            </a:extLst>
          </p:cNvPr>
          <p:cNvSpPr/>
          <p:nvPr/>
        </p:nvSpPr>
        <p:spPr>
          <a:xfrm>
            <a:off x="548640" y="1417320"/>
            <a:ext cx="3611880" cy="3246120"/>
          </a:xfrm>
          <a:prstGeom prst="roundRect">
            <a:avLst>
              <a:gd name="adj" fmla="val 2254"/>
            </a:avLst>
          </a:prstGeom>
          <a:solidFill>
            <a:srgbClr val="E4EAF4"/>
          </a:solidFill>
          <a:ln w="12700">
            <a:solidFill>
              <a:srgbClr val="E4EAF4"/>
            </a:solidFill>
            <a:prstDash val="solid"/>
          </a:ln>
          <a:effectLst>
            <a:outerShdw blurRad="76200" dist="25400" dir="5400000" algn="bl" rotWithShape="0">
              <a:srgbClr val="64748B">
                <a:alpha val="22000"/>
              </a:srgbClr>
            </a:outerShdw>
          </a:effectLst>
        </p:spPr>
      </p:sp>
      <p:sp>
        <p:nvSpPr>
          <p:cNvPr id="6" name="Icon FaLandmark">
            <a:extLst>
              <a:ext uri="{C183D7F6-B498-43B3-948B-1728B52AA6E4}">
                <adec:decorative xmlns:adec="http://schemas.microsoft.com/office/drawing/2017/decorative" val="1"/>
              </a:ext>
            </a:extLst>
          </p:cNvPr>
          <p:cNvSpPr/>
          <p:nvPr/>
        </p:nvSpPr>
        <p:spPr>
          <a:xfrm>
            <a:off x="749808" y="1572768"/>
            <a:ext cx="566928" cy="566928"/>
          </a:xfrm>
          <a:prstGeom prst="ellipse">
            <a:avLst/>
          </a:prstGeom>
          <a:solidFill>
            <a:srgbClr val="1F2A44"/>
          </a:solidFill>
          <a:ln w="12700">
            <a:solidFill>
              <a:srgbClr val="1F2A44"/>
            </a:solidFill>
            <a:prstDash val="solid"/>
          </a:ln>
        </p:spPr>
      </p:sp>
      <p:pic>
        <p:nvPicPr>
          <p:cNvPr id="7" name="Image 0">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885871" y="1708831"/>
            <a:ext cx="294803" cy="294803"/>
          </a:xfrm>
          <a:prstGeom prst="rect">
            <a:avLst/>
          </a:prstGeom>
        </p:spPr>
      </p:pic>
      <p:sp>
        <p:nvSpPr>
          <p:cNvPr id="8" name="Rules head 1"/>
          <p:cNvSpPr txBox="1"/>
          <p:nvPr/>
        </p:nvSpPr>
        <p:spPr>
          <a:xfrm>
            <a:off x="1463040" y="1572768"/>
            <a:ext cx="2560320" cy="566928"/>
          </a:xfrm>
          <a:prstGeom prst="rect">
            <a:avLst/>
          </a:prstGeom>
          <a:noFill/>
          <a:ln/>
        </p:spPr>
        <p:txBody>
          <a:bodyPr wrap="square" lIns="0" tIns="0" rIns="0" bIns="0" rtlCol="0" anchor="ctr"/>
          <a:lstStyle/>
          <a:p>
            <a:pPr marL="0" indent="0">
              <a:buNone/>
            </a:pPr>
            <a:r>
              <a:rPr lang="en-US" sz="1700" b="1" dirty="0">
                <a:solidFill>
                  <a:srgbClr val="1F2A44"/>
                </a:solidFill>
                <a:latin typeface="Cambria" pitchFamily="34" charset="0"/>
                <a:ea typeface="Cambria" pitchFamily="34" charset="-122"/>
                <a:cs typeface="Cambria" pitchFamily="34" charset="-120"/>
              </a:rPr>
              <a:t>Certified, Classes A to D</a:t>
            </a:r>
            <a:endParaRPr lang="en-US" sz="1700" dirty="0"/>
          </a:p>
        </p:txBody>
      </p:sp>
      <p:sp>
        <p:nvSpPr>
          <p:cNvPr id="9" name="Rules text 1"/>
          <p:cNvSpPr txBox="1"/>
          <p:nvPr/>
        </p:nvSpPr>
        <p:spPr>
          <a:xfrm>
            <a:off x="777240" y="2286000"/>
            <a:ext cx="3200400" cy="2286000"/>
          </a:xfrm>
          <a:prstGeom prst="rect">
            <a:avLst/>
          </a:prstGeom>
          <a:noFill/>
          <a:ln/>
        </p:spPr>
        <p:txBody>
          <a:bodyPr wrap="square" lIns="0" tIns="0" rIns="0" bIns="0" rtlCol="0" anchor="t"/>
          <a:lstStyle/>
          <a:p>
            <a:pPr marL="342900" indent="-342900">
              <a:spcAft>
                <a:spcPts val="600"/>
              </a:spcAft>
              <a:buSzPct val="100000"/>
              <a:buChar char="•"/>
            </a:pPr>
            <a:r>
              <a:rPr lang="en-US" sz="1300" dirty="0">
                <a:solidFill>
                  <a:schemeClr val="tx2"/>
                </a:solidFill>
              </a:rPr>
              <a:t>Class C includes the Moderate baseline</a:t>
            </a:r>
            <a:endParaRPr lang="en-US" sz="1400" dirty="0"/>
          </a:p>
          <a:p>
            <a:pPr marL="342900" indent="-342900">
              <a:spcAft>
                <a:spcPts val="600"/>
              </a:spcAft>
              <a:buSzPct val="100000"/>
              <a:buChar char="•"/>
            </a:pPr>
            <a:r>
              <a:rPr lang="en-US" sz="1300" dirty="0">
                <a:solidFill>
                  <a:schemeClr val="tx2"/>
                </a:solidFill>
              </a:rPr>
              <a:t>Class D includes the High baseline</a:t>
            </a:r>
            <a:endParaRPr lang="en-US" sz="1400" dirty="0"/>
          </a:p>
          <a:p>
            <a:pPr marL="342900" indent="-342900">
              <a:spcAft>
                <a:spcPts val="600"/>
              </a:spcAft>
              <a:buSzPct val="100000"/>
              <a:buChar char="•"/>
            </a:pPr>
            <a:r>
              <a:rPr lang="en-US" sz="1300" dirty="0">
                <a:solidFill>
                  <a:schemeClr val="tx2"/>
                </a:solidFill>
              </a:rPr>
              <a:t>Agencies authorize at the security category they deem appropriate</a:t>
            </a:r>
            <a:endParaRPr lang="en-US" sz="1400" dirty="0"/>
          </a:p>
        </p:txBody>
      </p:sp>
      <p:sp>
        <p:nvSpPr>
          <p:cNvPr id="10" name="Rules card 2">
            <a:extLst>
              <a:ext uri="{C183D7F6-B498-43B3-948B-1728B52AA6E4}">
                <adec:decorative xmlns:adec="http://schemas.microsoft.com/office/drawing/2017/decorative" val="1"/>
              </a:ext>
            </a:extLst>
          </p:cNvPr>
          <p:cNvSpPr/>
          <p:nvPr/>
        </p:nvSpPr>
        <p:spPr>
          <a:xfrm>
            <a:off x="4297680" y="1417320"/>
            <a:ext cx="3611880" cy="3246120"/>
          </a:xfrm>
          <a:prstGeom prst="roundRect">
            <a:avLst>
              <a:gd name="adj" fmla="val 2254"/>
            </a:avLst>
          </a:prstGeom>
          <a:solidFill>
            <a:srgbClr val="DCEFEC"/>
          </a:solidFill>
          <a:ln w="12700">
            <a:solidFill>
              <a:srgbClr val="DCEFEC"/>
            </a:solidFill>
            <a:prstDash val="solid"/>
          </a:ln>
          <a:effectLst>
            <a:outerShdw blurRad="76200" dist="25400" dir="5400000" algn="bl" rotWithShape="0">
              <a:srgbClr val="64748B">
                <a:alpha val="22000"/>
              </a:srgbClr>
            </a:outerShdw>
          </a:effectLst>
        </p:spPr>
      </p:sp>
      <p:sp>
        <p:nvSpPr>
          <p:cNvPr id="11" name="Icon FaFileShield">
            <a:extLst>
              <a:ext uri="{C183D7F6-B498-43B3-948B-1728B52AA6E4}">
                <adec:decorative xmlns:adec="http://schemas.microsoft.com/office/drawing/2017/decorative" val="1"/>
              </a:ext>
            </a:extLst>
          </p:cNvPr>
          <p:cNvSpPr/>
          <p:nvPr/>
        </p:nvSpPr>
        <p:spPr>
          <a:xfrm>
            <a:off x="4498848" y="1572768"/>
            <a:ext cx="566928" cy="566928"/>
          </a:xfrm>
          <a:prstGeom prst="ellipse">
            <a:avLst/>
          </a:prstGeom>
          <a:solidFill>
            <a:srgbClr val="0F766E"/>
          </a:solidFill>
          <a:ln w="12700">
            <a:solidFill>
              <a:srgbClr val="0F766E"/>
            </a:solidFill>
            <a:prstDash val="solid"/>
          </a:ln>
        </p:spPr>
      </p:sp>
      <p:pic>
        <p:nvPicPr>
          <p:cNvPr id="12" name="Image 1">
            <a:extLst>
              <a:ext uri="{C183D7F6-B498-43B3-948B-1728B52AA6E4}">
                <adec:decorative xmlns:adec="http://schemas.microsoft.com/office/drawing/2017/decorative" val="1"/>
              </a:ext>
            </a:extLst>
          </p:cNvPr>
          <p:cNvPicPr>
            <a:picLocks noChangeAspect="1"/>
          </p:cNvPicPr>
          <p:nvPr/>
        </p:nvPicPr>
        <p:blipFill>
          <a:blip r:embed="rId6"/>
          <a:stretch>
            <a:fillRect/>
          </a:stretch>
        </p:blipFill>
        <p:spPr>
          <a:xfrm>
            <a:off x="4634911" y="1708831"/>
            <a:ext cx="294803" cy="294803"/>
          </a:xfrm>
          <a:prstGeom prst="rect">
            <a:avLst/>
          </a:prstGeom>
        </p:spPr>
      </p:pic>
      <p:sp>
        <p:nvSpPr>
          <p:cNvPr id="13" name="Rules head 2"/>
          <p:cNvSpPr txBox="1"/>
          <p:nvPr/>
        </p:nvSpPr>
        <p:spPr>
          <a:xfrm>
            <a:off x="5212080" y="1572768"/>
            <a:ext cx="2560320" cy="566928"/>
          </a:xfrm>
          <a:prstGeom prst="rect">
            <a:avLst/>
          </a:prstGeom>
          <a:noFill/>
          <a:ln/>
        </p:spPr>
        <p:txBody>
          <a:bodyPr wrap="square" lIns="0" tIns="0" rIns="0" bIns="0" rtlCol="0" anchor="ctr"/>
          <a:lstStyle/>
          <a:p>
            <a:pPr marL="0" indent="0">
              <a:buNone/>
            </a:pPr>
            <a:r>
              <a:rPr lang="en-US" sz="1700" b="1" dirty="0">
                <a:solidFill>
                  <a:srgbClr val="0F766E"/>
                </a:solidFill>
                <a:latin typeface="Cambria" pitchFamily="34" charset="0"/>
                <a:ea typeface="Cambria" pitchFamily="34" charset="-122"/>
                <a:cs typeface="Cambria" pitchFamily="34" charset="-120"/>
              </a:rPr>
              <a:t>No provider boundary</a:t>
            </a:r>
            <a:endParaRPr lang="en-US" sz="1700" dirty="0"/>
          </a:p>
        </p:txBody>
      </p:sp>
      <p:sp>
        <p:nvSpPr>
          <p:cNvPr id="14" name="Rules text 2"/>
          <p:cNvSpPr txBox="1"/>
          <p:nvPr/>
        </p:nvSpPr>
        <p:spPr>
          <a:xfrm>
            <a:off x="4526280" y="2286000"/>
            <a:ext cx="3200400" cy="2286000"/>
          </a:xfrm>
          <a:prstGeom prst="rect">
            <a:avLst/>
          </a:prstGeom>
          <a:noFill/>
          <a:ln/>
        </p:spPr>
        <p:txBody>
          <a:bodyPr wrap="square" lIns="0" tIns="0" rIns="0" bIns="0" rtlCol="0" anchor="t"/>
          <a:lstStyle/>
          <a:p>
            <a:pPr marL="342900" indent="-342900">
              <a:spcAft>
                <a:spcPts val="600"/>
              </a:spcAft>
              <a:buSzPct val="100000"/>
              <a:buChar char="•"/>
            </a:pPr>
            <a:r>
              <a:rPr lang="en-US" sz="1300" dirty="0">
                <a:solidFill>
                  <a:schemeClr val="tx2"/>
                </a:solidFill>
              </a:rPr>
              <a:t>"Authorization boundary": zero times in ruleset 2026.10.13.01</a:t>
            </a:r>
            <a:endParaRPr lang="en-US" sz="1400" dirty="0"/>
          </a:p>
          <a:p>
            <a:pPr marL="342900" indent="-342900">
              <a:spcAft>
                <a:spcPts val="600"/>
              </a:spcAft>
              <a:buSzPct val="100000"/>
              <a:buChar char="•"/>
            </a:pPr>
            <a:r>
              <a:rPr lang="en-US" sz="1300" dirty="0">
                <a:solidFill>
                  <a:schemeClr val="tx2"/>
                </a:solidFill>
              </a:rPr>
              <a:t>Families tagged boundary: MAS, CMU, VDR, CDS</a:t>
            </a:r>
            <a:endParaRPr lang="en-US" sz="1400" dirty="0"/>
          </a:p>
          <a:p>
            <a:pPr marL="342900" indent="-342900">
              <a:spcAft>
                <a:spcPts val="600"/>
              </a:spcAft>
              <a:buSzPct val="100000"/>
              <a:buChar char="•"/>
            </a:pPr>
            <a:r>
              <a:rPr lang="en-US" sz="1300" dirty="0">
                <a:solidFill>
                  <a:schemeClr val="tx2"/>
                </a:solidFill>
              </a:rPr>
              <a:t>Security category may vary by resource</a:t>
            </a:r>
            <a:endParaRPr lang="en-US" sz="1400" dirty="0"/>
          </a:p>
        </p:txBody>
      </p:sp>
      <p:sp>
        <p:nvSpPr>
          <p:cNvPr id="15" name="Rules card 3">
            <a:extLst>
              <a:ext uri="{C183D7F6-B498-43B3-948B-1728B52AA6E4}">
                <adec:decorative xmlns:adec="http://schemas.microsoft.com/office/drawing/2017/decorative" val="1"/>
              </a:ext>
            </a:extLst>
          </p:cNvPr>
          <p:cNvSpPr/>
          <p:nvPr/>
        </p:nvSpPr>
        <p:spPr>
          <a:xfrm>
            <a:off x="8046720" y="1417320"/>
            <a:ext cx="3611880" cy="3246120"/>
          </a:xfrm>
          <a:prstGeom prst="roundRect">
            <a:avLst>
              <a:gd name="adj" fmla="val 2254"/>
            </a:avLst>
          </a:prstGeom>
          <a:solidFill>
            <a:srgbClr val="FBEEDC"/>
          </a:solidFill>
          <a:ln w="12700">
            <a:solidFill>
              <a:srgbClr val="FBEEDC"/>
            </a:solidFill>
            <a:prstDash val="solid"/>
          </a:ln>
          <a:effectLst>
            <a:outerShdw blurRad="76200" dist="25400" dir="5400000" algn="bl" rotWithShape="0">
              <a:srgbClr val="64748B">
                <a:alpha val="22000"/>
              </a:srgbClr>
            </a:outerShdw>
          </a:effectLst>
        </p:spPr>
      </p:sp>
      <p:sp>
        <p:nvSpPr>
          <p:cNvPr id="16" name="Icon FaArrowsRotate">
            <a:extLst>
              <a:ext uri="{C183D7F6-B498-43B3-948B-1728B52AA6E4}">
                <adec:decorative xmlns:adec="http://schemas.microsoft.com/office/drawing/2017/decorative" val="1"/>
              </a:ext>
            </a:extLst>
          </p:cNvPr>
          <p:cNvSpPr/>
          <p:nvPr/>
        </p:nvSpPr>
        <p:spPr>
          <a:xfrm>
            <a:off x="8247888" y="1572768"/>
            <a:ext cx="566928" cy="566928"/>
          </a:xfrm>
          <a:prstGeom prst="ellipse">
            <a:avLst/>
          </a:prstGeom>
          <a:solidFill>
            <a:srgbClr val="B45309"/>
          </a:solidFill>
          <a:ln w="12700">
            <a:solidFill>
              <a:srgbClr val="B45309"/>
            </a:solidFill>
            <a:prstDash val="solid"/>
          </a:ln>
        </p:spPr>
      </p:sp>
      <p:pic>
        <p:nvPicPr>
          <p:cNvPr id="17" name="Image 2">
            <a:extLst>
              <a:ext uri="{C183D7F6-B498-43B3-948B-1728B52AA6E4}">
                <adec:decorative xmlns:adec="http://schemas.microsoft.com/office/drawing/2017/decorative" val="1"/>
              </a:ext>
            </a:extLst>
          </p:cNvPr>
          <p:cNvPicPr>
            <a:picLocks noChangeAspect="1"/>
          </p:cNvPicPr>
          <p:nvPr/>
        </p:nvPicPr>
        <p:blipFill>
          <a:blip r:embed="rId7"/>
          <a:stretch>
            <a:fillRect/>
          </a:stretch>
        </p:blipFill>
        <p:spPr>
          <a:xfrm>
            <a:off x="8383951" y="1708831"/>
            <a:ext cx="294803" cy="294803"/>
          </a:xfrm>
          <a:prstGeom prst="rect">
            <a:avLst/>
          </a:prstGeom>
        </p:spPr>
      </p:pic>
      <p:sp>
        <p:nvSpPr>
          <p:cNvPr id="18" name="Rules head 3"/>
          <p:cNvSpPr txBox="1"/>
          <p:nvPr/>
        </p:nvSpPr>
        <p:spPr>
          <a:xfrm>
            <a:off x="8961120" y="1572768"/>
            <a:ext cx="2560320" cy="566928"/>
          </a:xfrm>
          <a:prstGeom prst="rect">
            <a:avLst/>
          </a:prstGeom>
          <a:noFill/>
          <a:ln/>
        </p:spPr>
        <p:txBody>
          <a:bodyPr wrap="square" lIns="0" tIns="0" rIns="0" bIns="0" rtlCol="0" anchor="ctr"/>
          <a:lstStyle/>
          <a:p>
            <a:pPr marL="0" indent="0">
              <a:buNone/>
            </a:pPr>
            <a:r>
              <a:rPr lang="en-US" sz="1700" b="1" dirty="0">
                <a:solidFill>
                  <a:srgbClr val="B45309"/>
                </a:solidFill>
                <a:latin typeface="Cambria" pitchFamily="34" charset="0"/>
                <a:ea typeface="Cambria" pitchFamily="34" charset="-122"/>
                <a:cs typeface="Cambria" pitchFamily="34" charset="-120"/>
              </a:rPr>
              <a:t>Notice, in business days</a:t>
            </a:r>
            <a:endParaRPr lang="en-US" sz="1700" dirty="0"/>
          </a:p>
        </p:txBody>
      </p:sp>
      <p:sp>
        <p:nvSpPr>
          <p:cNvPr id="19" name="Rules text 3"/>
          <p:cNvSpPr txBox="1"/>
          <p:nvPr/>
        </p:nvSpPr>
        <p:spPr>
          <a:xfrm>
            <a:off x="8275320" y="2286000"/>
            <a:ext cx="3200400" cy="2286000"/>
          </a:xfrm>
          <a:prstGeom prst="rect">
            <a:avLst/>
          </a:prstGeom>
          <a:noFill/>
          <a:ln/>
        </p:spPr>
        <p:txBody>
          <a:bodyPr wrap="square" lIns="0" tIns="0" rIns="0" bIns="0" rtlCol="0" anchor="t"/>
          <a:lstStyle/>
          <a:p>
            <a:pPr marL="342900" indent="-342900">
              <a:spcAft>
                <a:spcPts val="600"/>
              </a:spcAft>
              <a:buSzPct val="100000"/>
              <a:buChar char="•"/>
            </a:pPr>
            <a:r>
              <a:rPr lang="en-US" sz="1300" dirty="0">
                <a:solidFill>
                  <a:schemeClr val="tx2"/>
                </a:solidFill>
              </a:rPr>
              <a:t>Routine recurring: no notice</a:t>
            </a:r>
            <a:endParaRPr lang="en-US" sz="1400" dirty="0"/>
          </a:p>
          <a:p>
            <a:pPr marL="342900" indent="-342900">
              <a:spcAft>
                <a:spcPts val="600"/>
              </a:spcAft>
              <a:buSzPct val="100000"/>
              <a:buChar char="•"/>
            </a:pPr>
            <a:r>
              <a:rPr lang="en-US" sz="1300" dirty="0">
                <a:solidFill>
                  <a:schemeClr val="tx2"/>
                </a:solidFill>
              </a:rPr>
              <a:t>Adaptive: within 10 after finishing</a:t>
            </a:r>
            <a:endParaRPr lang="en-US" sz="1400" dirty="0"/>
          </a:p>
          <a:p>
            <a:pPr marL="342900" indent="-342900">
              <a:spcAft>
                <a:spcPts val="600"/>
              </a:spcAft>
              <a:buSzPct val="100000"/>
              <a:buChar char="•"/>
            </a:pPr>
            <a:r>
              <a:rPr lang="en-US" sz="1300" dirty="0">
                <a:solidFill>
                  <a:schemeClr val="tx2"/>
                </a:solidFill>
              </a:rPr>
              <a:t>Transformative: 30 and 10 before, 5 after</a:t>
            </a:r>
            <a:endParaRPr lang="en-US" sz="1400" dirty="0"/>
          </a:p>
          <a:p>
            <a:pPr marL="342900" indent="-342900">
              <a:spcAft>
                <a:spcPts val="600"/>
              </a:spcAft>
              <a:buSzPct val="100000"/>
              <a:buChar char="•"/>
            </a:pPr>
            <a:r>
              <a:rPr lang="en-US" sz="1300" dirty="0">
                <a:solidFill>
                  <a:schemeClr val="tx2"/>
                </a:solidFill>
              </a:rPr>
              <a:t>Class change: a new assessment</a:t>
            </a:r>
            <a:endParaRPr lang="en-US" sz="1400" dirty="0"/>
          </a:p>
        </p:txBody>
      </p:sp>
      <p:sp>
        <p:nvSpPr>
          <p:cNvPr id="20" name="Vocabularies">
            <a:extLst>
              <a:ext uri="{C183D7F6-B498-43B3-948B-1728B52AA6E4}">
                <adec:decorative xmlns:adec="http://schemas.microsoft.com/office/drawing/2017/decorative" val="1"/>
              </a:ext>
            </a:extLst>
          </p:cNvPr>
          <p:cNvSpPr/>
          <p:nvPr/>
        </p:nvSpPr>
        <p:spPr>
          <a:xfrm>
            <a:off x="548640" y="4846320"/>
            <a:ext cx="11109960" cy="1097280"/>
          </a:xfrm>
          <a:prstGeom prst="roundRect">
            <a:avLst>
              <a:gd name="adj" fmla="val 6667"/>
            </a:avLst>
          </a:prstGeom>
          <a:solidFill>
            <a:srgbClr val="FFFFFF"/>
          </a:solidFill>
          <a:ln w="12700">
            <a:solidFill>
              <a:srgbClr val="1F2A44"/>
            </a:solidFill>
            <a:prstDash val="solid"/>
          </a:ln>
          <a:effectLst>
            <a:outerShdw blurRad="76200" dist="25400" dir="5400000" algn="bl" rotWithShape="0">
              <a:srgbClr val="64748B">
                <a:alpha val="22000"/>
              </a:srgbClr>
            </a:outerShdw>
          </a:effectLst>
        </p:spPr>
      </p:sp>
      <p:sp>
        <p:nvSpPr>
          <p:cNvPr id="21" name="Icon FaBook">
            <a:extLst>
              <a:ext uri="{C183D7F6-B498-43B3-948B-1728B52AA6E4}">
                <adec:decorative xmlns:adec="http://schemas.microsoft.com/office/drawing/2017/decorative" val="1"/>
              </a:ext>
            </a:extLst>
          </p:cNvPr>
          <p:cNvSpPr/>
          <p:nvPr/>
        </p:nvSpPr>
        <p:spPr>
          <a:xfrm>
            <a:off x="777240" y="5029200"/>
            <a:ext cx="731520" cy="731520"/>
          </a:xfrm>
          <a:prstGeom prst="ellipse">
            <a:avLst/>
          </a:prstGeom>
          <a:solidFill>
            <a:srgbClr val="1F2A44"/>
          </a:solidFill>
          <a:ln w="12700">
            <a:solidFill>
              <a:srgbClr val="1F2A44"/>
            </a:solidFill>
            <a:prstDash val="solid"/>
          </a:ln>
        </p:spPr>
      </p:sp>
      <p:pic>
        <p:nvPicPr>
          <p:cNvPr id="22" name="Image 3">
            <a:extLst>
              <a:ext uri="{C183D7F6-B498-43B3-948B-1728B52AA6E4}">
                <adec:decorative xmlns:adec="http://schemas.microsoft.com/office/drawing/2017/decorative" val="1"/>
              </a:ext>
            </a:extLst>
          </p:cNvPr>
          <p:cNvPicPr>
            <a:picLocks noChangeAspect="1"/>
          </p:cNvPicPr>
          <p:nvPr/>
        </p:nvPicPr>
        <p:blipFill>
          <a:blip r:embed="rId8"/>
          <a:stretch>
            <a:fillRect/>
          </a:stretch>
        </p:blipFill>
        <p:spPr>
          <a:xfrm>
            <a:off x="952805" y="5204765"/>
            <a:ext cx="380390" cy="380390"/>
          </a:xfrm>
          <a:prstGeom prst="rect">
            <a:avLst/>
          </a:prstGeom>
        </p:spPr>
      </p:pic>
      <p:sp>
        <p:nvSpPr>
          <p:cNvPr id="23" name="Vocabularies text"/>
          <p:cNvSpPr txBox="1"/>
          <p:nvPr/>
        </p:nvSpPr>
        <p:spPr>
          <a:xfrm>
            <a:off x="1737360" y="4892040"/>
            <a:ext cx="9738360" cy="1005840"/>
          </a:xfrm>
          <a:prstGeom prst="rect">
            <a:avLst/>
          </a:prstGeom>
          <a:noFill/>
          <a:ln/>
        </p:spPr>
        <p:txBody>
          <a:bodyPr wrap="square" lIns="0" tIns="0" rIns="0" bIns="0" rtlCol="0" anchor="ctr"/>
          <a:lstStyle/>
          <a:p>
            <a:pPr marL="0" indent="0">
              <a:buNone/>
            </a:pPr>
            <a:r>
              <a:rPr lang="en-US" sz="1650" b="1" dirty="0">
                <a:solidFill>
                  <a:srgbClr val="1F2A44"/>
                </a:solidFill>
              </a:rPr>
              <a:t>Two vocabularies for years: </a:t>
            </a:r>
            <a:r>
              <a:rPr lang="en-US" sz="1650" dirty="0">
                <a:solidFill>
                  <a:schemeClr val="tx2"/>
                </a:solidFill>
              </a:rPr>
              <a:t>adoption is mandatory January 1, 2027; new Rev5 requests stop June 11, 2027; existing Rev5 certifications end "likely no later than 2029." Rev5 packages describe boundaries; 20x packages describe scope.</a:t>
            </a:r>
            <a:endParaRPr lang="en-US" sz="1650" dirty="0"/>
          </a:p>
        </p:txBody>
      </p:sp>
      <p:sp>
        <p:nvSpPr>
          <p:cNvPr id="24"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FedRAMP Consolidated Rules for 2026 — ruleset 2026.10.13.01, Minimum Assessment Scope, Significant Change Notification, Important Dates; Notices NTC-0004 and NTC-0013. Book 10, Chapter 03.</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5</a:t>
            </a:fld>
            <a:endParaRPr lang="en-US"/>
          </a:p>
        </p:txBody>
      </p:sp>
      <p:pic>
        <p:nvPicPr>
          <p:cNvPr id="26" name="Narration" descr="Narration for this slide; captions available">
            <a:hlinkClick r:id="" action="ppaction://media"/>
            <a:extLst>
              <a:ext uri="{FF2B5EF4-FFF2-40B4-BE49-F238E27FC236}">
                <a16:creationId xmlns:a16="http://schemas.microsoft.com/office/drawing/2014/main" id="{B56EB5E6-37FE-A611-CFFD-0580C701C71B}"/>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057CA2D7-1CD1-4878-8319-F895AD7B8BFC}" label="English (captions)" lang="en-US" r:embed="rId10"/>
                        </p173:trackLst>
                      </p173:tracksInfo>
                    </p:ext>
                  </p14:extLst>
                </p14:media>
              </p:ext>
            </p:extLst>
          </p:nvPr>
        </p:nvPicPr>
        <p:blipFill>
          <a:blip r:embed="rId9"/>
          <a:stretch>
            <a:fillRect/>
          </a:stretch>
        </p:blipFill>
        <p:spPr>
          <a:xfrm>
            <a:off x="127000" y="6350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58940"/>
    </mc:Choice>
    <mc:Fallback>
      <p:transition spd="slow" advTm="5894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54936" fill="hold"/>
                                        <p:tgtEl>
                                          <p:spTgt spid="26"/>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GCC is the worldwide service, minus a list</a:t>
            </a:r>
            <a:endParaRPr lang="en-US" sz="3000" dirty="0"/>
          </a:p>
        </p:txBody>
      </p:sp>
      <p:sp>
        <p:nvSpPr>
          <p:cNvPr id="3" name="Tag What">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WHAT</a:t>
            </a:r>
            <a:endParaRPr lang="en-US" sz="11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548640" y="1417320"/>
          <a:ext cx="9144000" cy="914400"/>
        </p:xfrm>
        <a:graphic>
          <a:graphicData uri="http://schemas.openxmlformats.org/drawingml/2006/table">
            <a:tbl>
              <a:tblPr firstRow="1" bandRow="1"/>
              <a:tblGrid>
                <a:gridCol w="3200400">
                  <a:extLst>
                    <a:ext uri="{9D8B030D-6E8A-4147-A177-3AD203B41FA5}">
                      <a16:colId xmlns:a16="http://schemas.microsoft.com/office/drawing/2014/main" val="20000"/>
                    </a:ext>
                  </a:extLst>
                </a:gridCol>
                <a:gridCol w="914400">
                  <a:extLst>
                    <a:ext uri="{9D8B030D-6E8A-4147-A177-3AD203B41FA5}">
                      <a16:colId xmlns:a16="http://schemas.microsoft.com/office/drawing/2014/main" val="20001"/>
                    </a:ext>
                  </a:extLst>
                </a:gridCol>
                <a:gridCol w="1097280">
                  <a:extLst>
                    <a:ext uri="{9D8B030D-6E8A-4147-A177-3AD203B41FA5}">
                      <a16:colId xmlns:a16="http://schemas.microsoft.com/office/drawing/2014/main" val="20002"/>
                    </a:ext>
                  </a:extLst>
                </a:gridCol>
                <a:gridCol w="914400">
                  <a:extLst>
                    <a:ext uri="{9D8B030D-6E8A-4147-A177-3AD203B41FA5}">
                      <a16:colId xmlns:a16="http://schemas.microsoft.com/office/drawing/2014/main" val="20003"/>
                    </a:ext>
                  </a:extLst>
                </a:gridCol>
              </a:tblGrid>
              <a:tr h="384048">
                <a:tc>
                  <a:txBody>
                    <a:bodyPr/>
                    <a:lstStyle/>
                    <a:p>
                      <a:pPr marL="0" indent="0">
                        <a:buNone/>
                      </a:pPr>
                      <a:r>
                        <a:rPr lang="en-US" sz="1300" b="1" dirty="0">
                          <a:solidFill>
                            <a:srgbClr val="FFFFFF"/>
                          </a:solidFill>
                          <a:latin typeface="Calibri" pitchFamily="34" charset="0"/>
                          <a:ea typeface="Calibri" pitchFamily="34" charset="-122"/>
                          <a:cs typeface="Calibri" pitchFamily="34" charset="-120"/>
                        </a:rPr>
                        <a:t>Feature</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300" b="1" dirty="0">
                          <a:solidFill>
                            <a:srgbClr val="FFFFFF"/>
                          </a:solidFill>
                          <a:latin typeface="Calibri" pitchFamily="34" charset="0"/>
                          <a:ea typeface="Calibri" pitchFamily="34" charset="-122"/>
                          <a:cs typeface="Calibri" pitchFamily="34" charset="-120"/>
                        </a:rPr>
                        <a:t>GCC</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300" b="1" dirty="0">
                          <a:solidFill>
                            <a:srgbClr val="FFFFFF"/>
                          </a:solidFill>
                          <a:latin typeface="Calibri" pitchFamily="34" charset="0"/>
                          <a:ea typeface="Calibri" pitchFamily="34" charset="-122"/>
                          <a:cs typeface="Calibri" pitchFamily="34" charset="-120"/>
                        </a:rPr>
                        <a:t>GCC High</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300" b="1" dirty="0">
                          <a:solidFill>
                            <a:srgbClr val="FFFFFF"/>
                          </a:solidFill>
                          <a:latin typeface="Calibri" pitchFamily="34" charset="0"/>
                          <a:ea typeface="Calibri" pitchFamily="34" charset="-122"/>
                          <a:cs typeface="Calibri" pitchFamily="34" charset="-120"/>
                        </a:rPr>
                        <a:t>DoD</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457200">
                <a:tc>
                  <a:txBody>
                    <a:bodyPr/>
                    <a:lstStyle/>
                    <a:p>
                      <a:pPr marL="0" indent="0">
                        <a:buNone/>
                      </a:pPr>
                      <a:r>
                        <a:rPr lang="en-US" sz="1300" b="1" dirty="0">
                          <a:solidFill>
                            <a:srgbClr val="1F2A44"/>
                          </a:solidFill>
                          <a:latin typeface="Calibri" pitchFamily="34" charset="0"/>
                          <a:ea typeface="Calibri" pitchFamily="34" charset="-122"/>
                          <a:cs typeface="Calibri" pitchFamily="34" charset="-120"/>
                        </a:rPr>
                        <a:t>Admin center network connectivity</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1300" b="1" dirty="0">
                          <a:solidFill>
                            <a:srgbClr val="B91C1C"/>
                          </a:solidFill>
                          <a:latin typeface="Calibri" pitchFamily="34" charset="0"/>
                          <a:ea typeface="Calibri" pitchFamily="34" charset="-122"/>
                          <a:cs typeface="Calibri" pitchFamily="34" charset="-120"/>
                        </a:rPr>
                        <a:t>No</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1300" b="1" dirty="0">
                          <a:solidFill>
                            <a:srgbClr val="B91C1C"/>
                          </a:solidFill>
                          <a:latin typeface="Calibri" pitchFamily="34" charset="0"/>
                          <a:ea typeface="Calibri" pitchFamily="34" charset="-122"/>
                          <a:cs typeface="Calibri" pitchFamily="34" charset="-120"/>
                        </a:rPr>
                        <a:t>No</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1300" b="1" dirty="0">
                          <a:solidFill>
                            <a:srgbClr val="B91C1C"/>
                          </a:solidFill>
                          <a:latin typeface="Calibri" pitchFamily="34" charset="0"/>
                          <a:ea typeface="Calibri" pitchFamily="34" charset="-122"/>
                          <a:cs typeface="Calibri" pitchFamily="34" charset="-120"/>
                        </a:rPr>
                        <a:t>No</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57200">
                <a:tc>
                  <a:txBody>
                    <a:bodyPr/>
                    <a:lstStyle/>
                    <a:p>
                      <a:pPr marL="0" indent="0">
                        <a:buNone/>
                      </a:pPr>
                      <a:r>
                        <a:rPr lang="en-US" sz="1300" b="1" dirty="0">
                          <a:solidFill>
                            <a:srgbClr val="1F2A44"/>
                          </a:solidFill>
                          <a:latin typeface="Calibri" pitchFamily="34" charset="0"/>
                          <a:ea typeface="Calibri" pitchFamily="34" charset="-122"/>
                          <a:cs typeface="Calibri" pitchFamily="34" charset="-120"/>
                        </a:rPr>
                        <a:t>Adoption Score</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1300" b="1" dirty="0">
                          <a:solidFill>
                            <a:srgbClr val="B91C1C"/>
                          </a:solidFill>
                          <a:latin typeface="Calibri" pitchFamily="34" charset="0"/>
                          <a:ea typeface="Calibri" pitchFamily="34" charset="-122"/>
                          <a:cs typeface="Calibri" pitchFamily="34" charset="-120"/>
                        </a:rPr>
                        <a:t>No</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1300" b="1" dirty="0">
                          <a:solidFill>
                            <a:srgbClr val="B91C1C"/>
                          </a:solidFill>
                          <a:latin typeface="Calibri" pitchFamily="34" charset="0"/>
                          <a:ea typeface="Calibri" pitchFamily="34" charset="-122"/>
                          <a:cs typeface="Calibri" pitchFamily="34" charset="-120"/>
                        </a:rPr>
                        <a:t>No</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1300" b="1" dirty="0">
                          <a:solidFill>
                            <a:srgbClr val="B91C1C"/>
                          </a:solidFill>
                          <a:latin typeface="Calibri" pitchFamily="34" charset="0"/>
                          <a:ea typeface="Calibri" pitchFamily="34" charset="-122"/>
                          <a:cs typeface="Calibri" pitchFamily="34" charset="-120"/>
                        </a:rPr>
                        <a:t>No</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457200">
                <a:tc>
                  <a:txBody>
                    <a:bodyPr/>
                    <a:lstStyle/>
                    <a:p>
                      <a:pPr marL="0" indent="0">
                        <a:buNone/>
                      </a:pPr>
                      <a:r>
                        <a:rPr lang="en-US" sz="1300" b="1" dirty="0">
                          <a:solidFill>
                            <a:srgbClr val="1F2A44"/>
                          </a:solidFill>
                          <a:latin typeface="Calibri" pitchFamily="34" charset="0"/>
                          <a:ea typeface="Calibri" pitchFamily="34" charset="-122"/>
                          <a:cs typeface="Calibri" pitchFamily="34" charset="-120"/>
                        </a:rPr>
                        <a:t>Office 365 CDN for SharePoint</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1300" b="1" dirty="0">
                          <a:solidFill>
                            <a:srgbClr val="B91C1C"/>
                          </a:solidFill>
                          <a:latin typeface="Calibri" pitchFamily="34" charset="0"/>
                          <a:ea typeface="Calibri" pitchFamily="34" charset="-122"/>
                          <a:cs typeface="Calibri" pitchFamily="34" charset="-120"/>
                        </a:rPr>
                        <a:t>No</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1300" b="1" dirty="0">
                          <a:solidFill>
                            <a:srgbClr val="B91C1C"/>
                          </a:solidFill>
                          <a:latin typeface="Calibri" pitchFamily="34" charset="0"/>
                          <a:ea typeface="Calibri" pitchFamily="34" charset="-122"/>
                          <a:cs typeface="Calibri" pitchFamily="34" charset="-120"/>
                        </a:rPr>
                        <a:t>No</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1300" b="1" dirty="0">
                          <a:solidFill>
                            <a:srgbClr val="B91C1C"/>
                          </a:solidFill>
                          <a:latin typeface="Calibri" pitchFamily="34" charset="0"/>
                          <a:ea typeface="Calibri" pitchFamily="34" charset="-122"/>
                          <a:cs typeface="Calibri" pitchFamily="34" charset="-120"/>
                        </a:rPr>
                        <a:t>No</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57200">
                <a:tc>
                  <a:txBody>
                    <a:bodyPr/>
                    <a:lstStyle/>
                    <a:p>
                      <a:pPr marL="0" indent="0">
                        <a:buNone/>
                      </a:pPr>
                      <a:r>
                        <a:rPr lang="en-US" sz="1300" b="1" dirty="0">
                          <a:solidFill>
                            <a:srgbClr val="1F2A44"/>
                          </a:solidFill>
                          <a:latin typeface="Calibri" pitchFamily="34" charset="0"/>
                          <a:ea typeface="Calibri" pitchFamily="34" charset="-122"/>
                          <a:cs typeface="Calibri" pitchFamily="34" charset="-120"/>
                        </a:rPr>
                        <a:t>Informed network routing</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1300" b="1" dirty="0">
                          <a:solidFill>
                            <a:srgbClr val="B91C1C"/>
                          </a:solidFill>
                          <a:latin typeface="Calibri" pitchFamily="34" charset="0"/>
                          <a:ea typeface="Calibri" pitchFamily="34" charset="-122"/>
                          <a:cs typeface="Calibri" pitchFamily="34" charset="-120"/>
                        </a:rPr>
                        <a:t>No</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1300" b="1" dirty="0">
                          <a:solidFill>
                            <a:srgbClr val="B91C1C"/>
                          </a:solidFill>
                          <a:latin typeface="Calibri" pitchFamily="34" charset="0"/>
                          <a:ea typeface="Calibri" pitchFamily="34" charset="-122"/>
                          <a:cs typeface="Calibri" pitchFamily="34" charset="-120"/>
                        </a:rPr>
                        <a:t>No</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1300" b="1" dirty="0">
                          <a:solidFill>
                            <a:srgbClr val="B91C1C"/>
                          </a:solidFill>
                          <a:latin typeface="Calibri" pitchFamily="34" charset="0"/>
                          <a:ea typeface="Calibri" pitchFamily="34" charset="-122"/>
                          <a:cs typeface="Calibri" pitchFamily="34" charset="-120"/>
                        </a:rPr>
                        <a:t>No</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457200">
                <a:tc>
                  <a:txBody>
                    <a:bodyPr/>
                    <a:lstStyle/>
                    <a:p>
                      <a:pPr marL="0" indent="0">
                        <a:buNone/>
                      </a:pPr>
                      <a:r>
                        <a:rPr lang="en-US" sz="1300" b="1" dirty="0">
                          <a:solidFill>
                            <a:srgbClr val="1F2A44"/>
                          </a:solidFill>
                          <a:latin typeface="Calibri" pitchFamily="34" charset="0"/>
                          <a:ea typeface="Calibri" pitchFamily="34" charset="-122"/>
                          <a:cs typeface="Calibri" pitchFamily="34" charset="-120"/>
                        </a:rPr>
                        <a:t>Windows release health</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1300" b="1" dirty="0">
                          <a:solidFill>
                            <a:srgbClr val="0F766E"/>
                          </a:solidFill>
                          <a:latin typeface="Calibri" pitchFamily="34" charset="0"/>
                          <a:ea typeface="Calibri" pitchFamily="34" charset="-122"/>
                          <a:cs typeface="Calibri" pitchFamily="34" charset="-120"/>
                        </a:rPr>
                        <a:t>Yes</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1300" b="1" dirty="0">
                          <a:solidFill>
                            <a:srgbClr val="B91C1C"/>
                          </a:solidFill>
                          <a:latin typeface="Calibri" pitchFamily="34" charset="0"/>
                          <a:ea typeface="Calibri" pitchFamily="34" charset="-122"/>
                          <a:cs typeface="Calibri" pitchFamily="34" charset="-120"/>
                        </a:rPr>
                        <a:t>No</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1300" b="1" dirty="0">
                          <a:solidFill>
                            <a:srgbClr val="B91C1C"/>
                          </a:solidFill>
                          <a:latin typeface="Calibri" pitchFamily="34" charset="0"/>
                          <a:ea typeface="Calibri" pitchFamily="34" charset="-122"/>
                          <a:cs typeface="Calibri" pitchFamily="34" charset="-120"/>
                        </a:rPr>
                        <a:t>No</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457200">
                <a:tc>
                  <a:txBody>
                    <a:bodyPr/>
                    <a:lstStyle/>
                    <a:p>
                      <a:pPr marL="0" indent="0">
                        <a:buNone/>
                      </a:pPr>
                      <a:r>
                        <a:rPr lang="en-US" sz="1300" b="1" dirty="0">
                          <a:solidFill>
                            <a:srgbClr val="1F2A44"/>
                          </a:solidFill>
                          <a:latin typeface="Calibri" pitchFamily="34" charset="0"/>
                          <a:ea typeface="Calibri" pitchFamily="34" charset="-122"/>
                          <a:cs typeface="Calibri" pitchFamily="34" charset="-120"/>
                        </a:rPr>
                        <a:t>Excel Office Scripts</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1300" b="1" dirty="0">
                          <a:solidFill>
                            <a:srgbClr val="0F766E"/>
                          </a:solidFill>
                          <a:latin typeface="Calibri" pitchFamily="34" charset="0"/>
                          <a:ea typeface="Calibri" pitchFamily="34" charset="-122"/>
                          <a:cs typeface="Calibri" pitchFamily="34" charset="-120"/>
                        </a:rPr>
                        <a:t>Yes</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1300" b="1" dirty="0">
                          <a:solidFill>
                            <a:srgbClr val="B91C1C"/>
                          </a:solidFill>
                          <a:latin typeface="Calibri" pitchFamily="34" charset="0"/>
                          <a:ea typeface="Calibri" pitchFamily="34" charset="-122"/>
                          <a:cs typeface="Calibri" pitchFamily="34" charset="-120"/>
                        </a:rPr>
                        <a:t>No</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1300" b="1" dirty="0">
                          <a:solidFill>
                            <a:srgbClr val="B91C1C"/>
                          </a:solidFill>
                          <a:latin typeface="Calibri" pitchFamily="34" charset="0"/>
                          <a:ea typeface="Calibri" pitchFamily="34" charset="-122"/>
                          <a:cs typeface="Calibri" pitchFamily="34" charset="-120"/>
                        </a:rPr>
                        <a:t>No</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bl>
          </a:graphicData>
        </a:graphic>
      </p:graphicFrame>
      <p:sp>
        <p:nvSpPr>
          <p:cNvPr id="6" name="Packages box">
            <a:extLst>
              <a:ext uri="{C183D7F6-B498-43B3-948B-1728B52AA6E4}">
                <adec:decorative xmlns:adec="http://schemas.microsoft.com/office/drawing/2017/decorative" val="1"/>
              </a:ext>
            </a:extLst>
          </p:cNvPr>
          <p:cNvSpPr/>
          <p:nvPr/>
        </p:nvSpPr>
        <p:spPr>
          <a:xfrm>
            <a:off x="6949440" y="1417320"/>
            <a:ext cx="4709160" cy="3200400"/>
          </a:xfrm>
          <a:prstGeom prst="roundRect">
            <a:avLst>
              <a:gd name="adj" fmla="val 2286"/>
            </a:avLst>
          </a:prstGeom>
          <a:solidFill>
            <a:srgbClr val="E4EAF4"/>
          </a:solidFill>
          <a:ln w="12700">
            <a:solidFill>
              <a:srgbClr val="E4EAF4"/>
            </a:solidFill>
            <a:prstDash val="solid"/>
          </a:ln>
          <a:effectLst>
            <a:outerShdw blurRad="76200" dist="25400" dir="5400000" algn="bl" rotWithShape="0">
              <a:srgbClr val="64748B">
                <a:alpha val="22000"/>
              </a:srgbClr>
            </a:outerShdw>
          </a:effectLst>
        </p:spPr>
      </p:sp>
      <p:sp>
        <p:nvSpPr>
          <p:cNvPr id="5" name="Icon FaLandmark">
            <a:extLst>
              <a:ext uri="{C183D7F6-B498-43B3-948B-1728B52AA6E4}">
                <adec:decorative xmlns:adec="http://schemas.microsoft.com/office/drawing/2017/decorative" val="1"/>
              </a:ext>
            </a:extLst>
          </p:cNvPr>
          <p:cNvSpPr/>
          <p:nvPr/>
        </p:nvSpPr>
        <p:spPr>
          <a:xfrm>
            <a:off x="7178040" y="1572768"/>
            <a:ext cx="548640" cy="548640"/>
          </a:xfrm>
          <a:prstGeom prst="ellipse">
            <a:avLst/>
          </a:prstGeom>
          <a:solidFill>
            <a:srgbClr val="1F2A44"/>
          </a:solidFill>
          <a:ln w="12700">
            <a:solidFill>
              <a:srgbClr val="1F2A44"/>
            </a:solidFill>
            <a:prstDash val="solid"/>
          </a:ln>
        </p:spPr>
      </p:sp>
      <p:pic>
        <p:nvPicPr>
          <p:cNvPr id="8" name="Image 0">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7309714" y="1704442"/>
            <a:ext cx="285293" cy="285293"/>
          </a:xfrm>
          <a:prstGeom prst="rect">
            <a:avLst/>
          </a:prstGeom>
        </p:spPr>
      </p:pic>
      <p:sp>
        <p:nvSpPr>
          <p:cNvPr id="9" name="Packages head"/>
          <p:cNvSpPr txBox="1"/>
          <p:nvPr/>
        </p:nvSpPr>
        <p:spPr>
          <a:xfrm>
            <a:off x="7863840" y="1572768"/>
            <a:ext cx="3703320" cy="548640"/>
          </a:xfrm>
          <a:prstGeom prst="rect">
            <a:avLst/>
          </a:prstGeom>
          <a:noFill/>
          <a:ln/>
        </p:spPr>
        <p:txBody>
          <a:bodyPr wrap="square" lIns="0" tIns="0" rIns="0" bIns="0" rtlCol="0" anchor="ctr"/>
          <a:lstStyle/>
          <a:p>
            <a:pPr marL="0" indent="0">
              <a:buNone/>
            </a:pPr>
            <a:r>
              <a:rPr lang="en-US" sz="1700" b="1" dirty="0">
                <a:solidFill>
                  <a:srgbClr val="1F2A44"/>
                </a:solidFill>
                <a:latin typeface="Cambria" pitchFamily="34" charset="0"/>
                <a:ea typeface="Cambria" pitchFamily="34" charset="-122"/>
                <a:cs typeface="Cambria" pitchFamily="34" charset="-120"/>
              </a:rPr>
              <a:t>Marketplace, October 21, 2026</a:t>
            </a:r>
            <a:endParaRPr lang="en-US" sz="1700" dirty="0"/>
          </a:p>
        </p:txBody>
      </p:sp>
      <p:sp>
        <p:nvSpPr>
          <p:cNvPr id="10" name="Packages list"/>
          <p:cNvSpPr txBox="1"/>
          <p:nvPr/>
        </p:nvSpPr>
        <p:spPr>
          <a:xfrm>
            <a:off x="7178040" y="2240280"/>
            <a:ext cx="4343400" cy="2331720"/>
          </a:xfrm>
          <a:prstGeom prst="rect">
            <a:avLst/>
          </a:prstGeom>
          <a:noFill/>
          <a:ln/>
        </p:spPr>
        <p:txBody>
          <a:bodyPr wrap="square" lIns="0" tIns="0" rIns="0" bIns="0" rtlCol="0" anchor="t"/>
          <a:lstStyle/>
          <a:p>
            <a:pPr marL="342900" indent="-342900">
              <a:spcAft>
                <a:spcPts val="600"/>
              </a:spcAft>
              <a:buSzPct val="100000"/>
              <a:buChar char="•"/>
            </a:pPr>
            <a:r>
              <a:rPr lang="en-US" sz="1350" dirty="0">
                <a:solidFill>
                  <a:schemeClr val="tx2"/>
                </a:solidFill>
              </a:rPr>
              <a:t>MSO365MT (GCC): Certified, Class C (Moderate), 100 authorizations</a:t>
            </a:r>
            <a:endParaRPr lang="en-US" sz="1400" dirty="0"/>
          </a:p>
          <a:p>
            <a:pPr marL="342900" indent="-342900">
              <a:spcAft>
                <a:spcPts val="600"/>
              </a:spcAft>
              <a:buSzPct val="100000"/>
              <a:buChar char="•"/>
            </a:pPr>
            <a:r>
              <a:rPr lang="en-US" sz="1350" dirty="0">
                <a:solidFill>
                  <a:schemeClr val="tx2"/>
                </a:solidFill>
              </a:rPr>
              <a:t>MSO365MTA, the same name: In Process, Class D, 0 authorizations</a:t>
            </a:r>
            <a:endParaRPr lang="en-US" sz="1400" dirty="0"/>
          </a:p>
          <a:p>
            <a:pPr marL="342900" indent="-342900">
              <a:spcAft>
                <a:spcPts val="600"/>
              </a:spcAft>
              <a:buSzPct val="100000"/>
              <a:buChar char="•"/>
            </a:pPr>
            <a:r>
              <a:rPr lang="en-US" sz="1350" dirty="0">
                <a:solidFill>
                  <a:schemeClr val="tx2"/>
                </a:solidFill>
              </a:rPr>
              <a:t>FR1824057433 (GCC High): Certified, Class D, 5 authorizations</a:t>
            </a:r>
            <a:endParaRPr lang="en-US" sz="1400" dirty="0"/>
          </a:p>
          <a:p>
            <a:pPr marL="342900" indent="-342900">
              <a:spcAft>
                <a:spcPts val="600"/>
              </a:spcAft>
              <a:buSzPct val="100000"/>
              <a:buChar char="•"/>
            </a:pPr>
            <a:r>
              <a:rPr lang="en-US" sz="1350" dirty="0">
                <a:solidFill>
                  <a:schemeClr val="tx2"/>
                </a:solidFill>
              </a:rPr>
              <a:t>How the two GCC packages relate: not stated</a:t>
            </a:r>
            <a:endParaRPr lang="en-US" sz="1400" dirty="0"/>
          </a:p>
        </p:txBody>
      </p:sp>
      <p:sp>
        <p:nvSpPr>
          <p:cNvPr id="11" name="Axes">
            <a:extLst>
              <a:ext uri="{C183D7F6-B498-43B3-948B-1728B52AA6E4}">
                <adec:decorative xmlns:adec="http://schemas.microsoft.com/office/drawing/2017/decorative" val="1"/>
              </a:ext>
            </a:extLst>
          </p:cNvPr>
          <p:cNvSpPr/>
          <p:nvPr/>
        </p:nvSpPr>
        <p:spPr>
          <a:xfrm>
            <a:off x="548640" y="4846320"/>
            <a:ext cx="11109960" cy="1097280"/>
          </a:xfrm>
          <a:prstGeom prst="roundRect">
            <a:avLst>
              <a:gd name="adj" fmla="val 6667"/>
            </a:avLst>
          </a:prstGeom>
          <a:solidFill>
            <a:srgbClr val="FFFFFF"/>
          </a:solidFill>
          <a:ln w="12700">
            <a:solidFill>
              <a:srgbClr val="B91C1C"/>
            </a:solidFill>
            <a:prstDash val="solid"/>
          </a:ln>
          <a:effectLst>
            <a:outerShdw blurRad="76200" dist="25400" dir="5400000" algn="bl" rotWithShape="0">
              <a:srgbClr val="64748B">
                <a:alpha val="22000"/>
              </a:srgbClr>
            </a:outerShdw>
          </a:effectLst>
        </p:spPr>
      </p:sp>
      <p:sp>
        <p:nvSpPr>
          <p:cNvPr id="12" name="Icon FaTriangleExclamation">
            <a:extLst>
              <a:ext uri="{C183D7F6-B498-43B3-948B-1728B52AA6E4}">
                <adec:decorative xmlns:adec="http://schemas.microsoft.com/office/drawing/2017/decorative" val="1"/>
              </a:ext>
            </a:extLst>
          </p:cNvPr>
          <p:cNvSpPr/>
          <p:nvPr/>
        </p:nvSpPr>
        <p:spPr>
          <a:xfrm>
            <a:off x="777240" y="5029200"/>
            <a:ext cx="731520" cy="731520"/>
          </a:xfrm>
          <a:prstGeom prst="ellipse">
            <a:avLst/>
          </a:prstGeom>
          <a:solidFill>
            <a:srgbClr val="B91C1C"/>
          </a:solidFill>
          <a:ln w="12700">
            <a:solidFill>
              <a:srgbClr val="B91C1C"/>
            </a:solidFill>
            <a:prstDash val="solid"/>
          </a:ln>
        </p:spPr>
      </p:sp>
      <p:pic>
        <p:nvPicPr>
          <p:cNvPr id="13" name="Image 1">
            <a:extLst>
              <a:ext uri="{C183D7F6-B498-43B3-948B-1728B52AA6E4}">
                <adec:decorative xmlns:adec="http://schemas.microsoft.com/office/drawing/2017/decorative" val="1"/>
              </a:ext>
            </a:extLst>
          </p:cNvPr>
          <p:cNvPicPr>
            <a:picLocks noChangeAspect="1"/>
          </p:cNvPicPr>
          <p:nvPr/>
        </p:nvPicPr>
        <p:blipFill>
          <a:blip r:embed="rId6"/>
          <a:stretch>
            <a:fillRect/>
          </a:stretch>
        </p:blipFill>
        <p:spPr>
          <a:xfrm>
            <a:off x="952805" y="5204765"/>
            <a:ext cx="380390" cy="380390"/>
          </a:xfrm>
          <a:prstGeom prst="rect">
            <a:avLst/>
          </a:prstGeom>
        </p:spPr>
      </p:pic>
      <p:sp>
        <p:nvSpPr>
          <p:cNvPr id="14" name="Axes text"/>
          <p:cNvSpPr txBox="1"/>
          <p:nvPr/>
        </p:nvSpPr>
        <p:spPr>
          <a:xfrm>
            <a:off x="1737360" y="4892040"/>
            <a:ext cx="9738360" cy="1005840"/>
          </a:xfrm>
          <a:prstGeom prst="rect">
            <a:avLst/>
          </a:prstGeom>
          <a:noFill/>
          <a:ln/>
        </p:spPr>
        <p:txBody>
          <a:bodyPr wrap="square" lIns="0" tIns="0" rIns="0" bIns="0" rtlCol="0" anchor="ctr"/>
          <a:lstStyle/>
          <a:p>
            <a:pPr marL="0" indent="0">
              <a:buNone/>
            </a:pPr>
            <a:r>
              <a:rPr lang="en-US" sz="1650" b="1" dirty="0">
                <a:solidFill>
                  <a:srgbClr val="B91C1C"/>
                </a:solidFill>
              </a:rPr>
              <a:t>A higher class doesn't restore a feature: </a:t>
            </a:r>
            <a:r>
              <a:rPr lang="en-US" sz="1650" dirty="0">
                <a:solidFill>
                  <a:schemeClr val="tx2"/>
                </a:solidFill>
              </a:rPr>
              <a:t>network connectivity is missing in GCC High too, and GCC High is already Class D. It's the largest documented loss: per-location assessments and network provider attribution.</a:t>
            </a:r>
            <a:endParaRPr lang="en-US" sz="1650" dirty="0"/>
          </a:p>
        </p:txBody>
      </p:sp>
      <p:sp>
        <p:nvSpPr>
          <p:cNvPr id="15"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FedRAMP Marketplace, products.json (October 21, 2026); Microsoft Learn — network connectivity and assessment, Adoption Score, Office 365 CDN, informed network routing, Windows release health, Office in Government plans. Book 10, Chapter 04.</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6</a:t>
            </a:fld>
            <a:endParaRPr lang="en-US"/>
          </a:p>
        </p:txBody>
      </p:sp>
      <p:pic>
        <p:nvPicPr>
          <p:cNvPr id="16" name="Narration" descr="Narration for this slide; captions available">
            <a:hlinkClick r:id="" action="ppaction://media"/>
            <a:extLst>
              <a:ext uri="{FF2B5EF4-FFF2-40B4-BE49-F238E27FC236}">
                <a16:creationId xmlns:a16="http://schemas.microsoft.com/office/drawing/2014/main" id="{FE8BBFC1-0B9A-3341-21AC-D99BD3E5A159}"/>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1F301466-3651-4044-8882-F522AFADDC57}" label="English (captions)" lang="en-US" r:embed="rId8"/>
                        </p173:trackLst>
                      </p173:tracksInfo>
                    </p:ext>
                  </p14:extLst>
                </p14:media>
              </p:ext>
            </p:extLst>
          </p:nvPr>
        </p:nvPicPr>
        <p:blipFill>
          <a:blip r:embed="rId7"/>
          <a:stretch>
            <a:fillRect/>
          </a:stretch>
        </p:blipFill>
        <p:spPr>
          <a:xfrm>
            <a:off x="127000" y="6350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59800"/>
    </mc:Choice>
    <mc:Fallback>
      <p:transition spd="slow" advTm="598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55800" fill="hold"/>
                                        <p:tgtEl>
                                          <p:spTgt spid="16"/>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The landing zone turns the boundary into policy</a:t>
            </a:r>
            <a:endParaRPr lang="en-US" sz="3000" dirty="0"/>
          </a:p>
        </p:txBody>
      </p:sp>
      <p:sp>
        <p:nvSpPr>
          <p:cNvPr id="3" name="Tag What">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WHAT</a:t>
            </a:r>
            <a:endParaRPr lang="en-US" sz="1100" dirty="0"/>
          </a:p>
        </p:txBody>
      </p:sp>
      <p:sp>
        <p:nvSpPr>
          <p:cNvPr id="5" name="MG head"/>
          <p:cNvSpPr txBox="1"/>
          <p:nvPr/>
        </p:nvSpPr>
        <p:spPr>
          <a:xfrm>
            <a:off x="548640" y="1417320"/>
            <a:ext cx="5669280" cy="274320"/>
          </a:xfrm>
          <a:prstGeom prst="rect">
            <a:avLst/>
          </a:prstGeom>
          <a:noFill/>
          <a:ln/>
        </p:spPr>
        <p:txBody>
          <a:bodyPr wrap="square" lIns="0" tIns="0" rIns="0" bIns="0" rtlCol="0" anchor="t"/>
          <a:lstStyle/>
          <a:p>
            <a:pPr marL="0" indent="0">
              <a:buNone/>
            </a:pPr>
            <a:r>
              <a:rPr lang="en-US" sz="1200" b="1" dirty="0">
                <a:solidFill>
                  <a:srgbClr val="64748B"/>
                </a:solidFill>
              </a:rPr>
              <a:t>THE BASELINE MANAGEMENT GROUP HIERARCHY</a:t>
            </a:r>
            <a:endParaRPr lang="en-US" sz="1200" dirty="0"/>
          </a:p>
        </p:txBody>
      </p:sp>
      <p:sp>
        <p:nvSpPr>
          <p:cNvPr id="6" name="MG 0">
            <a:extLst>
              <a:ext uri="{C183D7F6-B498-43B3-948B-1728B52AA6E4}">
                <adec:decorative xmlns:adec="http://schemas.microsoft.com/office/drawing/2017/decorative" val="1"/>
              </a:ext>
            </a:extLst>
          </p:cNvPr>
          <p:cNvSpPr/>
          <p:nvPr/>
        </p:nvSpPr>
        <p:spPr>
          <a:xfrm>
            <a:off x="548640" y="1755648"/>
            <a:ext cx="5669280" cy="493776"/>
          </a:xfrm>
          <a:prstGeom prst="roundRect">
            <a:avLst>
              <a:gd name="adj" fmla="val 14815"/>
            </a:avLst>
          </a:prstGeom>
          <a:solidFill>
            <a:srgbClr val="E9EEF4"/>
          </a:solidFill>
          <a:ln w="12700">
            <a:solidFill>
              <a:srgbClr val="E9EEF4"/>
            </a:solidFill>
            <a:prstDash val="solid"/>
          </a:ln>
          <a:effectLst>
            <a:outerShdw blurRad="76200" dist="25400" dir="5400000" algn="bl" rotWithShape="0">
              <a:srgbClr val="64748B">
                <a:alpha val="22000"/>
              </a:srgbClr>
            </a:outerShdw>
          </a:effectLst>
        </p:spPr>
      </p:sp>
      <p:sp>
        <p:nvSpPr>
          <p:cNvPr id="7" name="MG 0 text"/>
          <p:cNvSpPr txBox="1"/>
          <p:nvPr/>
        </p:nvSpPr>
        <p:spPr>
          <a:xfrm>
            <a:off x="731520" y="1755648"/>
            <a:ext cx="5394960" cy="493776"/>
          </a:xfrm>
          <a:prstGeom prst="rect">
            <a:avLst/>
          </a:prstGeom>
          <a:noFill/>
          <a:ln/>
        </p:spPr>
        <p:txBody>
          <a:bodyPr wrap="square" lIns="0" tIns="0" rIns="0" bIns="0" rtlCol="0" anchor="ctr"/>
          <a:lstStyle/>
          <a:p>
            <a:pPr marL="0" indent="0">
              <a:buNone/>
            </a:pPr>
            <a:r>
              <a:rPr lang="en-US" sz="1400" b="1" dirty="0">
                <a:solidFill>
                  <a:srgbClr val="1F2A44"/>
                </a:solidFill>
              </a:rPr>
              <a:t>Intermediate root   </a:t>
            </a:r>
            <a:r>
              <a:rPr lang="en-US" sz="1400" dirty="0">
                <a:solidFill>
                  <a:schemeClr val="tx2"/>
                </a:solidFill>
              </a:rPr>
              <a:t>Agency-wide boundary policy assigned here</a:t>
            </a:r>
            <a:endParaRPr lang="en-US" sz="1400" dirty="0"/>
          </a:p>
        </p:txBody>
      </p:sp>
      <p:sp>
        <p:nvSpPr>
          <p:cNvPr id="8" name="MG 1">
            <a:extLst>
              <a:ext uri="{C183D7F6-B498-43B3-948B-1728B52AA6E4}">
                <adec:decorative xmlns:adec="http://schemas.microsoft.com/office/drawing/2017/decorative" val="1"/>
              </a:ext>
            </a:extLst>
          </p:cNvPr>
          <p:cNvSpPr/>
          <p:nvPr/>
        </p:nvSpPr>
        <p:spPr>
          <a:xfrm>
            <a:off x="548640" y="2322576"/>
            <a:ext cx="5669280" cy="493776"/>
          </a:xfrm>
          <a:prstGeom prst="roundRect">
            <a:avLst>
              <a:gd name="adj" fmla="val 14815"/>
            </a:avLst>
          </a:prstGeom>
          <a:solidFill>
            <a:srgbClr val="E4EAF4"/>
          </a:solidFill>
          <a:ln w="12700">
            <a:solidFill>
              <a:srgbClr val="E4EAF4"/>
            </a:solidFill>
            <a:prstDash val="solid"/>
          </a:ln>
          <a:effectLst>
            <a:outerShdw blurRad="76200" dist="25400" dir="5400000" algn="bl" rotWithShape="0">
              <a:srgbClr val="64748B">
                <a:alpha val="22000"/>
              </a:srgbClr>
            </a:outerShdw>
          </a:effectLst>
        </p:spPr>
      </p:sp>
      <p:sp>
        <p:nvSpPr>
          <p:cNvPr id="9" name="MG 1 text"/>
          <p:cNvSpPr txBox="1"/>
          <p:nvPr/>
        </p:nvSpPr>
        <p:spPr>
          <a:xfrm>
            <a:off x="731520" y="2322576"/>
            <a:ext cx="5394960" cy="493776"/>
          </a:xfrm>
          <a:prstGeom prst="rect">
            <a:avLst/>
          </a:prstGeom>
          <a:noFill/>
          <a:ln/>
        </p:spPr>
        <p:txBody>
          <a:bodyPr wrap="square" lIns="0" tIns="0" rIns="0" bIns="0" rtlCol="0" anchor="ctr"/>
          <a:lstStyle/>
          <a:p>
            <a:pPr marL="0" indent="0">
              <a:buNone/>
            </a:pPr>
            <a:r>
              <a:rPr lang="en-US" sz="1400" b="1" dirty="0">
                <a:solidFill>
                  <a:srgbClr val="1F2A44"/>
                </a:solidFill>
              </a:rPr>
              <a:t>Platform   </a:t>
            </a:r>
            <a:r>
              <a:rPr lang="en-US" sz="1400" dirty="0">
                <a:solidFill>
                  <a:schemeClr val="tx2"/>
                </a:solidFill>
              </a:rPr>
              <a:t>Security, Management, Connectivity, Identity</a:t>
            </a:r>
            <a:endParaRPr lang="en-US" sz="1400" dirty="0"/>
          </a:p>
        </p:txBody>
      </p:sp>
      <p:sp>
        <p:nvSpPr>
          <p:cNvPr id="10" name="MG 2">
            <a:extLst>
              <a:ext uri="{C183D7F6-B498-43B3-948B-1728B52AA6E4}">
                <adec:decorative xmlns:adec="http://schemas.microsoft.com/office/drawing/2017/decorative" val="1"/>
              </a:ext>
            </a:extLst>
          </p:cNvPr>
          <p:cNvSpPr/>
          <p:nvPr/>
        </p:nvSpPr>
        <p:spPr>
          <a:xfrm>
            <a:off x="548640" y="2889504"/>
            <a:ext cx="5669280" cy="493776"/>
          </a:xfrm>
          <a:prstGeom prst="roundRect">
            <a:avLst>
              <a:gd name="adj" fmla="val 14815"/>
            </a:avLst>
          </a:prstGeom>
          <a:solidFill>
            <a:srgbClr val="E9EEF4"/>
          </a:solidFill>
          <a:ln w="12700">
            <a:solidFill>
              <a:srgbClr val="E9EEF4"/>
            </a:solidFill>
            <a:prstDash val="solid"/>
          </a:ln>
          <a:effectLst>
            <a:outerShdw blurRad="76200" dist="25400" dir="5400000" algn="bl" rotWithShape="0">
              <a:srgbClr val="64748B">
                <a:alpha val="22000"/>
              </a:srgbClr>
            </a:outerShdw>
          </a:effectLst>
        </p:spPr>
      </p:sp>
      <p:sp>
        <p:nvSpPr>
          <p:cNvPr id="11" name="MG 2 text"/>
          <p:cNvSpPr txBox="1"/>
          <p:nvPr/>
        </p:nvSpPr>
        <p:spPr>
          <a:xfrm>
            <a:off x="731520" y="2889504"/>
            <a:ext cx="5394960" cy="493776"/>
          </a:xfrm>
          <a:prstGeom prst="rect">
            <a:avLst/>
          </a:prstGeom>
          <a:noFill/>
          <a:ln/>
        </p:spPr>
        <p:txBody>
          <a:bodyPr wrap="square" lIns="0" tIns="0" rIns="0" bIns="0" rtlCol="0" anchor="ctr"/>
          <a:lstStyle/>
          <a:p>
            <a:pPr marL="0" indent="0">
              <a:buNone/>
            </a:pPr>
            <a:r>
              <a:rPr lang="en-US" sz="1400" b="1" dirty="0">
                <a:solidFill>
                  <a:srgbClr val="1F2A44"/>
                </a:solidFill>
              </a:rPr>
              <a:t>Landing zones   </a:t>
            </a:r>
            <a:r>
              <a:rPr lang="en-US" sz="1400" dirty="0">
                <a:solidFill>
                  <a:schemeClr val="tx2"/>
                </a:solidFill>
              </a:rPr>
              <a:t>Corp, Online and Local workloads</a:t>
            </a:r>
            <a:endParaRPr lang="en-US" sz="1400" dirty="0"/>
          </a:p>
        </p:txBody>
      </p:sp>
      <p:sp>
        <p:nvSpPr>
          <p:cNvPr id="12" name="MG 3">
            <a:extLst>
              <a:ext uri="{C183D7F6-B498-43B3-948B-1728B52AA6E4}">
                <adec:decorative xmlns:adec="http://schemas.microsoft.com/office/drawing/2017/decorative" val="1"/>
              </a:ext>
            </a:extLst>
          </p:cNvPr>
          <p:cNvSpPr/>
          <p:nvPr/>
        </p:nvSpPr>
        <p:spPr>
          <a:xfrm>
            <a:off x="548640" y="3456432"/>
            <a:ext cx="5669280" cy="493776"/>
          </a:xfrm>
          <a:prstGeom prst="roundRect">
            <a:avLst>
              <a:gd name="adj" fmla="val 14815"/>
            </a:avLst>
          </a:prstGeom>
          <a:solidFill>
            <a:srgbClr val="E4EAF4"/>
          </a:solidFill>
          <a:ln w="12700">
            <a:solidFill>
              <a:srgbClr val="E4EAF4"/>
            </a:solidFill>
            <a:prstDash val="solid"/>
          </a:ln>
          <a:effectLst>
            <a:outerShdw blurRad="76200" dist="25400" dir="5400000" algn="bl" rotWithShape="0">
              <a:srgbClr val="64748B">
                <a:alpha val="22000"/>
              </a:srgbClr>
            </a:outerShdw>
          </a:effectLst>
        </p:spPr>
      </p:sp>
      <p:sp>
        <p:nvSpPr>
          <p:cNvPr id="13" name="MG 3 text"/>
          <p:cNvSpPr txBox="1"/>
          <p:nvPr/>
        </p:nvSpPr>
        <p:spPr>
          <a:xfrm>
            <a:off x="731520" y="3456432"/>
            <a:ext cx="5394960" cy="493776"/>
          </a:xfrm>
          <a:prstGeom prst="rect">
            <a:avLst/>
          </a:prstGeom>
          <a:noFill/>
          <a:ln/>
        </p:spPr>
        <p:txBody>
          <a:bodyPr wrap="square" lIns="0" tIns="0" rIns="0" bIns="0" rtlCol="0" anchor="ctr"/>
          <a:lstStyle/>
          <a:p>
            <a:pPr marL="0" indent="0">
              <a:buNone/>
            </a:pPr>
            <a:r>
              <a:rPr lang="en-US" sz="1400" b="1" dirty="0">
                <a:solidFill>
                  <a:srgbClr val="1F2A44"/>
                </a:solidFill>
              </a:rPr>
              <a:t>Sandbox   </a:t>
            </a:r>
            <a:r>
              <a:rPr lang="en-US" sz="1400" dirty="0">
                <a:solidFill>
                  <a:schemeClr val="tx2"/>
                </a:solidFill>
              </a:rPr>
              <a:t>Looser policy; default for new subscriptions</a:t>
            </a:r>
            <a:endParaRPr lang="en-US" sz="1400" dirty="0"/>
          </a:p>
        </p:txBody>
      </p:sp>
      <p:sp>
        <p:nvSpPr>
          <p:cNvPr id="14" name="MG 4">
            <a:extLst>
              <a:ext uri="{C183D7F6-B498-43B3-948B-1728B52AA6E4}">
                <adec:decorative xmlns:adec="http://schemas.microsoft.com/office/drawing/2017/decorative" val="1"/>
              </a:ext>
            </a:extLst>
          </p:cNvPr>
          <p:cNvSpPr/>
          <p:nvPr/>
        </p:nvSpPr>
        <p:spPr>
          <a:xfrm>
            <a:off x="548640" y="4023360"/>
            <a:ext cx="5669280" cy="493776"/>
          </a:xfrm>
          <a:prstGeom prst="roundRect">
            <a:avLst>
              <a:gd name="adj" fmla="val 14815"/>
            </a:avLst>
          </a:prstGeom>
          <a:solidFill>
            <a:srgbClr val="E9EEF4"/>
          </a:solidFill>
          <a:ln w="12700">
            <a:solidFill>
              <a:srgbClr val="E9EEF4"/>
            </a:solidFill>
            <a:prstDash val="solid"/>
          </a:ln>
          <a:effectLst>
            <a:outerShdw blurRad="76200" dist="25400" dir="5400000" algn="bl" rotWithShape="0">
              <a:srgbClr val="64748B">
                <a:alpha val="22000"/>
              </a:srgbClr>
            </a:outerShdw>
          </a:effectLst>
        </p:spPr>
      </p:sp>
      <p:sp>
        <p:nvSpPr>
          <p:cNvPr id="15" name="MG 4 text"/>
          <p:cNvSpPr txBox="1"/>
          <p:nvPr/>
        </p:nvSpPr>
        <p:spPr>
          <a:xfrm>
            <a:off x="731520" y="4023360"/>
            <a:ext cx="5394960" cy="493776"/>
          </a:xfrm>
          <a:prstGeom prst="rect">
            <a:avLst/>
          </a:prstGeom>
          <a:noFill/>
          <a:ln/>
        </p:spPr>
        <p:txBody>
          <a:bodyPr wrap="square" lIns="0" tIns="0" rIns="0" bIns="0" rtlCol="0" anchor="ctr"/>
          <a:lstStyle/>
          <a:p>
            <a:pPr marL="0" indent="0">
              <a:buNone/>
            </a:pPr>
            <a:r>
              <a:rPr lang="en-US" sz="1400" b="1" dirty="0">
                <a:solidFill>
                  <a:srgbClr val="1F2A44"/>
                </a:solidFill>
              </a:rPr>
              <a:t>Decommissioned   </a:t>
            </a:r>
            <a:r>
              <a:rPr lang="en-US" sz="1400" dirty="0">
                <a:solidFill>
                  <a:schemeClr val="tx2"/>
                </a:solidFill>
              </a:rPr>
              <a:t>Cancelled; deleted after 30 to 60 days</a:t>
            </a:r>
            <a:endParaRPr lang="en-US" sz="1400" dirty="0"/>
          </a:p>
        </p:txBody>
      </p:sp>
      <p:sp>
        <p:nvSpPr>
          <p:cNvPr id="16" name="Decisions box">
            <a:extLst>
              <a:ext uri="{C183D7F6-B498-43B3-948B-1728B52AA6E4}">
                <adec:decorative xmlns:adec="http://schemas.microsoft.com/office/drawing/2017/decorative" val="1"/>
              </a:ext>
            </a:extLst>
          </p:cNvPr>
          <p:cNvSpPr/>
          <p:nvPr/>
        </p:nvSpPr>
        <p:spPr>
          <a:xfrm>
            <a:off x="6492240" y="1417320"/>
            <a:ext cx="5166360" cy="3337560"/>
          </a:xfrm>
          <a:prstGeom prst="roundRect">
            <a:avLst>
              <a:gd name="adj" fmla="val 2192"/>
            </a:avLst>
          </a:prstGeom>
          <a:solidFill>
            <a:srgbClr val="DCEFEC"/>
          </a:solidFill>
          <a:ln w="12700">
            <a:solidFill>
              <a:srgbClr val="DCEFEC"/>
            </a:solidFill>
            <a:prstDash val="solid"/>
          </a:ln>
          <a:effectLst>
            <a:outerShdw blurRad="76200" dist="25400" dir="5400000" algn="bl" rotWithShape="0">
              <a:srgbClr val="64748B">
                <a:alpha val="22000"/>
              </a:srgbClr>
            </a:outerShdw>
          </a:effectLst>
        </p:spPr>
      </p:sp>
      <p:sp>
        <p:nvSpPr>
          <p:cNvPr id="17" name="Icon FaSitemap">
            <a:extLst>
              <a:ext uri="{C183D7F6-B498-43B3-948B-1728B52AA6E4}">
                <adec:decorative xmlns:adec="http://schemas.microsoft.com/office/drawing/2017/decorative" val="1"/>
              </a:ext>
            </a:extLst>
          </p:cNvPr>
          <p:cNvSpPr/>
          <p:nvPr/>
        </p:nvSpPr>
        <p:spPr>
          <a:xfrm>
            <a:off x="6720840" y="1600200"/>
            <a:ext cx="658368" cy="658368"/>
          </a:xfrm>
          <a:prstGeom prst="ellipse">
            <a:avLst/>
          </a:prstGeom>
          <a:solidFill>
            <a:srgbClr val="0F766E"/>
          </a:solidFill>
          <a:ln w="12700">
            <a:solidFill>
              <a:srgbClr val="0F766E"/>
            </a:solidFill>
            <a:prstDash val="solid"/>
          </a:ln>
        </p:spPr>
      </p:sp>
      <p:pic>
        <p:nvPicPr>
          <p:cNvPr id="18" name="Image 0">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6878848" y="1758208"/>
            <a:ext cx="342351" cy="342351"/>
          </a:xfrm>
          <a:prstGeom prst="rect">
            <a:avLst/>
          </a:prstGeom>
        </p:spPr>
      </p:pic>
      <p:sp>
        <p:nvSpPr>
          <p:cNvPr id="19" name="Decisions head"/>
          <p:cNvSpPr txBox="1"/>
          <p:nvPr/>
        </p:nvSpPr>
        <p:spPr>
          <a:xfrm>
            <a:off x="7543800" y="1572768"/>
            <a:ext cx="4023360" cy="822960"/>
          </a:xfrm>
          <a:prstGeom prst="rect">
            <a:avLst/>
          </a:prstGeom>
          <a:noFill/>
          <a:ln/>
        </p:spPr>
        <p:txBody>
          <a:bodyPr wrap="square" lIns="0" tIns="0" rIns="0" bIns="0" rtlCol="0" anchor="ctr"/>
          <a:lstStyle/>
          <a:p>
            <a:pPr marL="0" indent="0">
              <a:buNone/>
            </a:pPr>
            <a:r>
              <a:rPr lang="en-US" sz="1200" b="1" dirty="0">
                <a:solidFill>
                  <a:srgbClr val="64748B"/>
                </a:solidFill>
              </a:rPr>
              <a:t>FIVE BOUNDARY DECISIONS</a:t>
            </a:r>
            <a:endParaRPr lang="en-US" sz="1400" dirty="0"/>
          </a:p>
          <a:p>
            <a:pPr marL="0" indent="0">
              <a:buNone/>
            </a:pPr>
            <a:r>
              <a:rPr lang="en-US" sz="1800" b="1" dirty="0">
                <a:solidFill>
                  <a:srgbClr val="0F766E"/>
                </a:solidFill>
                <a:latin typeface="Cambria" pitchFamily="34" charset="0"/>
                <a:ea typeface="Cambria" pitchFamily="34" charset="-122"/>
                <a:cs typeface="Cambria" pitchFamily="34" charset="-120"/>
              </a:rPr>
              <a:t>Each one gets a mechanism</a:t>
            </a:r>
            <a:endParaRPr lang="en-US" sz="1400" dirty="0"/>
          </a:p>
        </p:txBody>
      </p:sp>
      <p:sp>
        <p:nvSpPr>
          <p:cNvPr id="20" name="Decisions list"/>
          <p:cNvSpPr txBox="1"/>
          <p:nvPr/>
        </p:nvSpPr>
        <p:spPr>
          <a:xfrm>
            <a:off x="6720840" y="2514600"/>
            <a:ext cx="4800600" cy="2194560"/>
          </a:xfrm>
          <a:prstGeom prst="rect">
            <a:avLst/>
          </a:prstGeom>
          <a:noFill/>
          <a:ln/>
        </p:spPr>
        <p:txBody>
          <a:bodyPr wrap="square" lIns="0" tIns="0" rIns="0" bIns="0" rtlCol="0" anchor="t"/>
          <a:lstStyle/>
          <a:p>
            <a:pPr marL="342900" indent="-342900">
              <a:spcAft>
                <a:spcPts val="600"/>
              </a:spcAft>
              <a:buSzPct val="100000"/>
              <a:buChar char="•"/>
            </a:pPr>
            <a:r>
              <a:rPr lang="en-US" sz="1350" dirty="0">
                <a:solidFill>
                  <a:schemeClr val="tx2"/>
                </a:solidFill>
              </a:rPr>
              <a:t>Cloud: Azure or Azure Government, both Class D</a:t>
            </a:r>
            <a:endParaRPr lang="en-US" sz="1400" dirty="0"/>
          </a:p>
          <a:p>
            <a:pPr marL="342900" indent="-342900">
              <a:spcAft>
                <a:spcPts val="600"/>
              </a:spcAft>
              <a:buSzPct val="100000"/>
              <a:buChar char="•"/>
            </a:pPr>
            <a:r>
              <a:rPr lang="en-US" sz="1350" dirty="0">
                <a:solidFill>
                  <a:schemeClr val="tx2"/>
                </a:solidFill>
              </a:rPr>
              <a:t>Regions: Allowed locations, Deny at the intermediate root</a:t>
            </a:r>
            <a:endParaRPr lang="en-US" sz="1400" dirty="0"/>
          </a:p>
          <a:p>
            <a:pPr marL="342900" indent="-342900">
              <a:spcAft>
                <a:spcPts val="600"/>
              </a:spcAft>
              <a:buSzPct val="100000"/>
              <a:buChar char="•"/>
            </a:pPr>
            <a:r>
              <a:rPr lang="en-US" sz="1350" dirty="0">
                <a:solidFill>
                  <a:schemeClr val="tx2"/>
                </a:solidFill>
              </a:rPr>
              <a:t>Services: allowed resource types, against audit scope</a:t>
            </a:r>
            <a:endParaRPr lang="en-US" sz="1400" dirty="0"/>
          </a:p>
          <a:p>
            <a:pPr marL="342900" indent="-342900">
              <a:spcAft>
                <a:spcPts val="600"/>
              </a:spcAft>
              <a:buSzPct val="100000"/>
              <a:buChar char="•"/>
            </a:pPr>
            <a:r>
              <a:rPr lang="en-US" sz="1350" dirty="0">
                <a:solidFill>
                  <a:schemeClr val="tx2"/>
                </a:solidFill>
              </a:rPr>
              <a:t>Settings: FedRAMP initiative, "a partial view"</a:t>
            </a:r>
            <a:endParaRPr lang="en-US" sz="1400" dirty="0"/>
          </a:p>
          <a:p>
            <a:pPr marL="342900" indent="-342900">
              <a:spcAft>
                <a:spcPts val="600"/>
              </a:spcAft>
              <a:buSzPct val="100000"/>
              <a:buChar char="•"/>
            </a:pPr>
            <a:r>
              <a:rPr lang="en-US" sz="1350" dirty="0">
                <a:solidFill>
                  <a:schemeClr val="tx2"/>
                </a:solidFill>
              </a:rPr>
              <a:t>Exceptions: an exemption with an expiry date</a:t>
            </a:r>
            <a:endParaRPr lang="en-US" sz="1400" dirty="0"/>
          </a:p>
        </p:txBody>
      </p:sp>
      <p:sp>
        <p:nvSpPr>
          <p:cNvPr id="21" name="Gov">
            <a:extLst>
              <a:ext uri="{C183D7F6-B498-43B3-948B-1728B52AA6E4}">
                <adec:decorative xmlns:adec="http://schemas.microsoft.com/office/drawing/2017/decorative" val="1"/>
              </a:ext>
            </a:extLst>
          </p:cNvPr>
          <p:cNvSpPr/>
          <p:nvPr/>
        </p:nvSpPr>
        <p:spPr>
          <a:xfrm>
            <a:off x="548640" y="4892040"/>
            <a:ext cx="11109960" cy="1051560"/>
          </a:xfrm>
          <a:prstGeom prst="roundRect">
            <a:avLst>
              <a:gd name="adj" fmla="val 6957"/>
            </a:avLst>
          </a:prstGeom>
          <a:solidFill>
            <a:srgbClr val="FFFFFF"/>
          </a:solidFill>
          <a:ln w="12700">
            <a:solidFill>
              <a:srgbClr val="B45309"/>
            </a:solidFill>
            <a:prstDash val="solid"/>
          </a:ln>
          <a:effectLst>
            <a:outerShdw blurRad="76200" dist="25400" dir="5400000" algn="bl" rotWithShape="0">
              <a:srgbClr val="64748B">
                <a:alpha val="22000"/>
              </a:srgbClr>
            </a:outerShdw>
          </a:effectLst>
        </p:spPr>
      </p:sp>
      <p:sp>
        <p:nvSpPr>
          <p:cNvPr id="22" name="Icon FaTriangleExclamation">
            <a:extLst>
              <a:ext uri="{C183D7F6-B498-43B3-948B-1728B52AA6E4}">
                <adec:decorative xmlns:adec="http://schemas.microsoft.com/office/drawing/2017/decorative" val="1"/>
              </a:ext>
            </a:extLst>
          </p:cNvPr>
          <p:cNvSpPr/>
          <p:nvPr/>
        </p:nvSpPr>
        <p:spPr>
          <a:xfrm>
            <a:off x="777240" y="5052060"/>
            <a:ext cx="731520" cy="731520"/>
          </a:xfrm>
          <a:prstGeom prst="ellipse">
            <a:avLst/>
          </a:prstGeom>
          <a:solidFill>
            <a:srgbClr val="B45309"/>
          </a:solidFill>
          <a:ln w="12700">
            <a:solidFill>
              <a:srgbClr val="B45309"/>
            </a:solidFill>
            <a:prstDash val="solid"/>
          </a:ln>
        </p:spPr>
      </p:sp>
      <p:pic>
        <p:nvPicPr>
          <p:cNvPr id="23" name="Image 1">
            <a:extLst>
              <a:ext uri="{C183D7F6-B498-43B3-948B-1728B52AA6E4}">
                <adec:decorative xmlns:adec="http://schemas.microsoft.com/office/drawing/2017/decorative" val="1"/>
              </a:ext>
            </a:extLst>
          </p:cNvPr>
          <p:cNvPicPr>
            <a:picLocks noChangeAspect="1"/>
          </p:cNvPicPr>
          <p:nvPr/>
        </p:nvPicPr>
        <p:blipFill>
          <a:blip r:embed="rId6"/>
          <a:stretch>
            <a:fillRect/>
          </a:stretch>
        </p:blipFill>
        <p:spPr>
          <a:xfrm>
            <a:off x="952805" y="5227625"/>
            <a:ext cx="380390" cy="380390"/>
          </a:xfrm>
          <a:prstGeom prst="rect">
            <a:avLst/>
          </a:prstGeom>
        </p:spPr>
      </p:pic>
      <p:sp>
        <p:nvSpPr>
          <p:cNvPr id="24" name="Gov text"/>
          <p:cNvSpPr txBox="1"/>
          <p:nvPr/>
        </p:nvSpPr>
        <p:spPr>
          <a:xfrm>
            <a:off x="1737360" y="4937760"/>
            <a:ext cx="9738360" cy="960120"/>
          </a:xfrm>
          <a:prstGeom prst="rect">
            <a:avLst/>
          </a:prstGeom>
          <a:noFill/>
          <a:ln/>
        </p:spPr>
        <p:txBody>
          <a:bodyPr wrap="square" lIns="0" tIns="0" rIns="0" bIns="0" rtlCol="0" anchor="ctr"/>
          <a:lstStyle/>
          <a:p>
            <a:pPr marL="0" indent="0">
              <a:buNone/>
            </a:pPr>
            <a:r>
              <a:rPr lang="en-US" sz="1650" b="1" dirty="0">
                <a:solidFill>
                  <a:srgbClr val="B45309"/>
                </a:solidFill>
              </a:rPr>
              <a:t>Azure Government needs hand work: </a:t>
            </a:r>
            <a:r>
              <a:rPr lang="en-US" sz="1650" dirty="0">
                <a:solidFill>
                  <a:schemeClr val="tx2"/>
                </a:solidFill>
              </a:rPr>
              <a:t>Microsoft's portal, Bicep and Terraform accelerators are supported only in public Azure, so the platform team adapts the code. Roll every policy out in audit mode before Deny.</a:t>
            </a:r>
            <a:endParaRPr lang="en-US" sz="1650" dirty="0"/>
          </a:p>
        </p:txBody>
      </p:sp>
      <p:sp>
        <p:nvSpPr>
          <p:cNvPr id="25"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Microsoft Learn — Azure landing zones, management groups, deploy Azure landing zones, Azure Policy built-ins, exemptions, FedRAMP Moderate initiative, FedRAMP audit scope; FedRAMP Marketplace. Book 10, Chapter 05.</a:t>
            </a:r>
            <a:endParaRPr lang="en-US" sz="1000" dirty="0"/>
          </a:p>
        </p:txBody>
      </p:sp>
      <p:sp>
        <p:nvSpPr>
          <p:cNvPr id="26"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7</a:t>
            </a:fld>
            <a:endParaRPr lang="en-US"/>
          </a:p>
        </p:txBody>
      </p:sp>
      <p:pic>
        <p:nvPicPr>
          <p:cNvPr id="27" name="Narration" descr="Narration for this slide; captions available">
            <a:hlinkClick r:id="" action="ppaction://media"/>
            <a:extLst>
              <a:ext uri="{FF2B5EF4-FFF2-40B4-BE49-F238E27FC236}">
                <a16:creationId xmlns:a16="http://schemas.microsoft.com/office/drawing/2014/main" id="{72852A1A-5008-646B-DFAA-CDA20C831A5C}"/>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B0BD525C-04F9-48FB-8286-319C7C84E7EE}" label="English (captions)" lang="en-US" r:embed="rId8"/>
                        </p173:trackLst>
                      </p173:tracksInfo>
                    </p:ext>
                  </p14:extLst>
                </p14:media>
              </p:ext>
            </p:extLst>
          </p:nvPr>
        </p:nvPicPr>
        <p:blipFill>
          <a:blip r:embed="rId7"/>
          <a:stretch>
            <a:fillRect/>
          </a:stretch>
        </p:blipFill>
        <p:spPr>
          <a:xfrm>
            <a:off x="127000" y="6350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54860"/>
    </mc:Choice>
    <mc:Fallback>
      <p:transition spd="slow" advTm="5486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50856" fill="hold"/>
                                        <p:tgtEl>
                                          <p:spTgt spid="27"/>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The address plan is the join key the evidence needs</a:t>
            </a:r>
            <a:endParaRPr lang="en-US" sz="3000" dirty="0"/>
          </a:p>
        </p:txBody>
      </p:sp>
      <p:sp>
        <p:nvSpPr>
          <p:cNvPr id="3" name="Tag What">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WHAT</a:t>
            </a:r>
            <a:endParaRPr lang="en-US" sz="1100" dirty="0"/>
          </a:p>
        </p:txBody>
      </p:sp>
      <p:sp>
        <p:nvSpPr>
          <p:cNvPr id="5" name="IPAM head"/>
          <p:cNvSpPr txBox="1"/>
          <p:nvPr/>
        </p:nvSpPr>
        <p:spPr>
          <a:xfrm>
            <a:off x="548640" y="1417320"/>
            <a:ext cx="5669280" cy="274320"/>
          </a:xfrm>
          <a:prstGeom prst="rect">
            <a:avLst/>
          </a:prstGeom>
          <a:noFill/>
          <a:ln/>
        </p:spPr>
        <p:txBody>
          <a:bodyPr wrap="square" lIns="0" tIns="0" rIns="0" bIns="0" rtlCol="0" anchor="t"/>
          <a:lstStyle/>
          <a:p>
            <a:pPr marL="0" indent="0">
              <a:buNone/>
            </a:pPr>
            <a:r>
              <a:rPr lang="en-US" sz="1200" b="1" dirty="0">
                <a:solidFill>
                  <a:srgbClr val="64748B"/>
                </a:solidFill>
              </a:rPr>
              <a:t>THE ENTERPRISE IPAM STAYS THE AUTHORITY</a:t>
            </a:r>
            <a:endParaRPr lang="en-US" sz="1200" dirty="0"/>
          </a:p>
        </p:txBody>
      </p:sp>
      <p:sp>
        <p:nvSpPr>
          <p:cNvPr id="6" name="IPAM 0">
            <a:extLst>
              <a:ext uri="{C183D7F6-B498-43B3-948B-1728B52AA6E4}">
                <adec:decorative xmlns:adec="http://schemas.microsoft.com/office/drawing/2017/decorative" val="1"/>
              </a:ext>
            </a:extLst>
          </p:cNvPr>
          <p:cNvSpPr/>
          <p:nvPr/>
        </p:nvSpPr>
        <p:spPr>
          <a:xfrm>
            <a:off x="548640" y="1755648"/>
            <a:ext cx="5669280" cy="603504"/>
          </a:xfrm>
          <a:prstGeom prst="roundRect">
            <a:avLst>
              <a:gd name="adj" fmla="val 12121"/>
            </a:avLst>
          </a:prstGeom>
          <a:solidFill>
            <a:srgbClr val="E9EEF4"/>
          </a:solidFill>
          <a:ln w="12700">
            <a:solidFill>
              <a:srgbClr val="E9EEF4"/>
            </a:solidFill>
            <a:prstDash val="solid"/>
          </a:ln>
          <a:effectLst>
            <a:outerShdw blurRad="76200" dist="25400" dir="5400000" algn="bl" rotWithShape="0">
              <a:srgbClr val="64748B">
                <a:alpha val="22000"/>
              </a:srgbClr>
            </a:outerShdw>
          </a:effectLst>
        </p:spPr>
      </p:sp>
      <p:sp>
        <p:nvSpPr>
          <p:cNvPr id="7" name="IPAM 0 text"/>
          <p:cNvSpPr txBox="1"/>
          <p:nvPr/>
        </p:nvSpPr>
        <p:spPr>
          <a:xfrm>
            <a:off x="731520" y="1755648"/>
            <a:ext cx="5394960" cy="603504"/>
          </a:xfrm>
          <a:prstGeom prst="rect">
            <a:avLst/>
          </a:prstGeom>
          <a:noFill/>
          <a:ln/>
        </p:spPr>
        <p:txBody>
          <a:bodyPr wrap="square" lIns="0" tIns="0" rIns="0" bIns="0" rtlCol="0" anchor="ctr"/>
          <a:lstStyle/>
          <a:p>
            <a:pPr marL="0" indent="0">
              <a:buNone/>
            </a:pPr>
            <a:r>
              <a:rPr lang="en-US" sz="1400" b="1" dirty="0">
                <a:solidFill>
                  <a:srgbClr val="1F2A44"/>
                </a:solidFill>
              </a:rPr>
              <a:t>1  Reserve   </a:t>
            </a:r>
            <a:r>
              <a:rPr lang="en-US" sz="1400" dirty="0">
                <a:solidFill>
                  <a:schemeClr val="tx2"/>
                </a:solidFill>
              </a:rPr>
              <a:t>The Azure block, in the enterprise IPAM first</a:t>
            </a:r>
            <a:endParaRPr lang="en-US" sz="1400" dirty="0"/>
          </a:p>
        </p:txBody>
      </p:sp>
      <p:sp>
        <p:nvSpPr>
          <p:cNvPr id="8" name="IPAM 1">
            <a:extLst>
              <a:ext uri="{C183D7F6-B498-43B3-948B-1728B52AA6E4}">
                <adec:decorative xmlns:adec="http://schemas.microsoft.com/office/drawing/2017/decorative" val="1"/>
              </a:ext>
            </a:extLst>
          </p:cNvPr>
          <p:cNvSpPr/>
          <p:nvPr/>
        </p:nvSpPr>
        <p:spPr>
          <a:xfrm>
            <a:off x="548640" y="2468880"/>
            <a:ext cx="5669280" cy="603504"/>
          </a:xfrm>
          <a:prstGeom prst="roundRect">
            <a:avLst>
              <a:gd name="adj" fmla="val 12121"/>
            </a:avLst>
          </a:prstGeom>
          <a:solidFill>
            <a:srgbClr val="E4EAF4"/>
          </a:solidFill>
          <a:ln w="12700">
            <a:solidFill>
              <a:srgbClr val="E4EAF4"/>
            </a:solidFill>
            <a:prstDash val="solid"/>
          </a:ln>
          <a:effectLst>
            <a:outerShdw blurRad="76200" dist="25400" dir="5400000" algn="bl" rotWithShape="0">
              <a:srgbClr val="64748B">
                <a:alpha val="22000"/>
              </a:srgbClr>
            </a:outerShdw>
          </a:effectLst>
        </p:spPr>
      </p:sp>
      <p:sp>
        <p:nvSpPr>
          <p:cNvPr id="9" name="IPAM 1 text"/>
          <p:cNvSpPr txBox="1"/>
          <p:nvPr/>
        </p:nvSpPr>
        <p:spPr>
          <a:xfrm>
            <a:off x="731520" y="2468880"/>
            <a:ext cx="5394960" cy="603504"/>
          </a:xfrm>
          <a:prstGeom prst="rect">
            <a:avLst/>
          </a:prstGeom>
          <a:noFill/>
          <a:ln/>
        </p:spPr>
        <p:txBody>
          <a:bodyPr wrap="square" lIns="0" tIns="0" rIns="0" bIns="0" rtlCol="0" anchor="ctr"/>
          <a:lstStyle/>
          <a:p>
            <a:pPr marL="0" indent="0">
              <a:buNone/>
            </a:pPr>
            <a:r>
              <a:rPr lang="en-US" sz="1400" b="1" dirty="0">
                <a:solidFill>
                  <a:srgbClr val="1F2A44"/>
                </a:solidFill>
              </a:rPr>
              <a:t>2  Mirror   </a:t>
            </a:r>
            <a:r>
              <a:rPr lang="en-US" sz="1400" dirty="0">
                <a:solidFill>
                  <a:schemeClr val="tx2"/>
                </a:solidFill>
              </a:rPr>
              <a:t>Into Virtual Network Manager pools; static CIDRs</a:t>
            </a:r>
            <a:endParaRPr lang="en-US" sz="1400" dirty="0"/>
          </a:p>
        </p:txBody>
      </p:sp>
      <p:sp>
        <p:nvSpPr>
          <p:cNvPr id="10" name="IPAM 2">
            <a:extLst>
              <a:ext uri="{C183D7F6-B498-43B3-948B-1728B52AA6E4}">
                <adec:decorative xmlns:adec="http://schemas.microsoft.com/office/drawing/2017/decorative" val="1"/>
              </a:ext>
            </a:extLst>
          </p:cNvPr>
          <p:cNvSpPr/>
          <p:nvPr/>
        </p:nvSpPr>
        <p:spPr>
          <a:xfrm>
            <a:off x="548640" y="3182112"/>
            <a:ext cx="5669280" cy="603504"/>
          </a:xfrm>
          <a:prstGeom prst="roundRect">
            <a:avLst>
              <a:gd name="adj" fmla="val 12121"/>
            </a:avLst>
          </a:prstGeom>
          <a:solidFill>
            <a:srgbClr val="E9EEF4"/>
          </a:solidFill>
          <a:ln w="12700">
            <a:solidFill>
              <a:srgbClr val="E9EEF4"/>
            </a:solidFill>
            <a:prstDash val="solid"/>
          </a:ln>
          <a:effectLst>
            <a:outerShdw blurRad="76200" dist="25400" dir="5400000" algn="bl" rotWithShape="0">
              <a:srgbClr val="64748B">
                <a:alpha val="22000"/>
              </a:srgbClr>
            </a:outerShdw>
          </a:effectLst>
        </p:spPr>
      </p:sp>
      <p:sp>
        <p:nvSpPr>
          <p:cNvPr id="11" name="IPAM 2 text"/>
          <p:cNvSpPr txBox="1"/>
          <p:nvPr/>
        </p:nvSpPr>
        <p:spPr>
          <a:xfrm>
            <a:off x="731520" y="3182112"/>
            <a:ext cx="5394960" cy="603504"/>
          </a:xfrm>
          <a:prstGeom prst="rect">
            <a:avLst/>
          </a:prstGeom>
          <a:noFill/>
          <a:ln/>
        </p:spPr>
        <p:txBody>
          <a:bodyPr wrap="square" lIns="0" tIns="0" rIns="0" bIns="0" rtlCol="0" anchor="ctr"/>
          <a:lstStyle/>
          <a:p>
            <a:pPr marL="0" indent="0">
              <a:buNone/>
            </a:pPr>
            <a:r>
              <a:rPr lang="en-US" sz="1400" b="1" dirty="0">
                <a:solidFill>
                  <a:srgbClr val="1F2A44"/>
                </a:solidFill>
              </a:rPr>
              <a:t>3  Enforce   </a:t>
            </a:r>
            <a:r>
              <a:rPr lang="en-US" sz="1400" dirty="0">
                <a:solidFill>
                  <a:schemeClr val="tx2"/>
                </a:solidFill>
              </a:rPr>
              <a:t>Azure Policy denies a VNet without a pool</a:t>
            </a:r>
            <a:endParaRPr lang="en-US" sz="1400" dirty="0"/>
          </a:p>
        </p:txBody>
      </p:sp>
      <p:sp>
        <p:nvSpPr>
          <p:cNvPr id="12" name="IPAM 3">
            <a:extLst>
              <a:ext uri="{C183D7F6-B498-43B3-948B-1728B52AA6E4}">
                <adec:decorative xmlns:adec="http://schemas.microsoft.com/office/drawing/2017/decorative" val="1"/>
              </a:ext>
            </a:extLst>
          </p:cNvPr>
          <p:cNvSpPr/>
          <p:nvPr/>
        </p:nvSpPr>
        <p:spPr>
          <a:xfrm>
            <a:off x="548640" y="3895344"/>
            <a:ext cx="5669280" cy="603504"/>
          </a:xfrm>
          <a:prstGeom prst="roundRect">
            <a:avLst>
              <a:gd name="adj" fmla="val 12121"/>
            </a:avLst>
          </a:prstGeom>
          <a:solidFill>
            <a:srgbClr val="E4EAF4"/>
          </a:solidFill>
          <a:ln w="12700">
            <a:solidFill>
              <a:srgbClr val="E4EAF4"/>
            </a:solidFill>
            <a:prstDash val="solid"/>
          </a:ln>
          <a:effectLst>
            <a:outerShdw blurRad="76200" dist="25400" dir="5400000" algn="bl" rotWithShape="0">
              <a:srgbClr val="64748B">
                <a:alpha val="22000"/>
              </a:srgbClr>
            </a:outerShdw>
          </a:effectLst>
        </p:spPr>
      </p:sp>
      <p:sp>
        <p:nvSpPr>
          <p:cNvPr id="13" name="IPAM 3 text"/>
          <p:cNvSpPr txBox="1"/>
          <p:nvPr/>
        </p:nvSpPr>
        <p:spPr>
          <a:xfrm>
            <a:off x="731520" y="3895344"/>
            <a:ext cx="5394960" cy="603504"/>
          </a:xfrm>
          <a:prstGeom prst="rect">
            <a:avLst/>
          </a:prstGeom>
          <a:noFill/>
          <a:ln/>
        </p:spPr>
        <p:txBody>
          <a:bodyPr wrap="square" lIns="0" tIns="0" rIns="0" bIns="0" rtlCol="0" anchor="ctr"/>
          <a:lstStyle/>
          <a:p>
            <a:pPr marL="0" indent="0">
              <a:buNone/>
            </a:pPr>
            <a:r>
              <a:rPr lang="en-US" sz="1400" b="1" dirty="0">
                <a:solidFill>
                  <a:srgbClr val="1F2A44"/>
                </a:solidFill>
              </a:rPr>
              <a:t>4  Reconcile   </a:t>
            </a:r>
            <a:r>
              <a:rPr lang="en-US" sz="1400" dirty="0">
                <a:solidFill>
                  <a:schemeClr val="tx2"/>
                </a:solidFill>
              </a:rPr>
              <a:t>Discovery compares; a mismatch is a finding</a:t>
            </a:r>
            <a:endParaRPr lang="en-US" sz="1400" dirty="0"/>
          </a:p>
        </p:txBody>
      </p:sp>
      <p:sp>
        <p:nvSpPr>
          <p:cNvPr id="14" name="Inputs box">
            <a:extLst>
              <a:ext uri="{C183D7F6-B498-43B3-948B-1728B52AA6E4}">
                <adec:decorative xmlns:adec="http://schemas.microsoft.com/office/drawing/2017/decorative" val="1"/>
              </a:ext>
            </a:extLst>
          </p:cNvPr>
          <p:cNvSpPr/>
          <p:nvPr/>
        </p:nvSpPr>
        <p:spPr>
          <a:xfrm>
            <a:off x="6492240" y="1417320"/>
            <a:ext cx="5166360" cy="3337560"/>
          </a:xfrm>
          <a:prstGeom prst="roundRect">
            <a:avLst>
              <a:gd name="adj" fmla="val 2192"/>
            </a:avLst>
          </a:prstGeom>
          <a:solidFill>
            <a:srgbClr val="E4EAF4"/>
          </a:solidFill>
          <a:ln w="12700">
            <a:solidFill>
              <a:srgbClr val="E4EAF4"/>
            </a:solidFill>
            <a:prstDash val="solid"/>
          </a:ln>
          <a:effectLst>
            <a:outerShdw blurRad="76200" dist="25400" dir="5400000" algn="bl" rotWithShape="0">
              <a:srgbClr val="64748B">
                <a:alpha val="22000"/>
              </a:srgbClr>
            </a:outerShdw>
          </a:effectLst>
        </p:spPr>
      </p:sp>
      <p:sp>
        <p:nvSpPr>
          <p:cNvPr id="15" name="Icon FaHashtag">
            <a:extLst>
              <a:ext uri="{C183D7F6-B498-43B3-948B-1728B52AA6E4}">
                <adec:decorative xmlns:adec="http://schemas.microsoft.com/office/drawing/2017/decorative" val="1"/>
              </a:ext>
            </a:extLst>
          </p:cNvPr>
          <p:cNvSpPr/>
          <p:nvPr/>
        </p:nvSpPr>
        <p:spPr>
          <a:xfrm>
            <a:off x="6720840" y="1600200"/>
            <a:ext cx="658368" cy="658368"/>
          </a:xfrm>
          <a:prstGeom prst="ellipse">
            <a:avLst/>
          </a:prstGeom>
          <a:solidFill>
            <a:srgbClr val="1F2A44"/>
          </a:solidFill>
          <a:ln w="12700">
            <a:solidFill>
              <a:srgbClr val="1F2A44"/>
            </a:solidFill>
            <a:prstDash val="solid"/>
          </a:ln>
        </p:spPr>
      </p:sp>
      <p:pic>
        <p:nvPicPr>
          <p:cNvPr id="16" name="Image 0">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6878848" y="1758208"/>
            <a:ext cx="342351" cy="342351"/>
          </a:xfrm>
          <a:prstGeom prst="rect">
            <a:avLst/>
          </a:prstGeom>
        </p:spPr>
      </p:pic>
      <p:sp>
        <p:nvSpPr>
          <p:cNvPr id="17" name="Inputs head"/>
          <p:cNvSpPr txBox="1"/>
          <p:nvPr/>
        </p:nvSpPr>
        <p:spPr>
          <a:xfrm>
            <a:off x="7543800" y="1572768"/>
            <a:ext cx="4023360" cy="822960"/>
          </a:xfrm>
          <a:prstGeom prst="rect">
            <a:avLst/>
          </a:prstGeom>
          <a:noFill/>
          <a:ln/>
        </p:spPr>
        <p:txBody>
          <a:bodyPr wrap="square" lIns="0" tIns="0" rIns="0" bIns="0" rtlCol="0" anchor="ctr"/>
          <a:lstStyle/>
          <a:p>
            <a:pPr marL="0" indent="0">
              <a:buNone/>
            </a:pPr>
            <a:r>
              <a:rPr lang="en-US" sz="1200" b="1" dirty="0">
                <a:solidFill>
                  <a:srgbClr val="64748B"/>
                </a:solidFill>
              </a:rPr>
              <a:t>INPUTS AND CAVEATS</a:t>
            </a:r>
            <a:endParaRPr lang="en-US" sz="1400" dirty="0"/>
          </a:p>
          <a:p>
            <a:pPr marL="0" indent="0">
              <a:buNone/>
            </a:pPr>
            <a:r>
              <a:rPr lang="en-US" sz="1800" b="1" dirty="0">
                <a:solidFill>
                  <a:srgbClr val="1F2A44"/>
                </a:solidFill>
                <a:latin typeface="Cambria" pitchFamily="34" charset="0"/>
                <a:ea typeface="Cambria" pitchFamily="34" charset="-122"/>
                <a:cs typeface="Cambria" pitchFamily="34" charset="-120"/>
              </a:rPr>
              <a:t>Check the boundary of IPAM too</a:t>
            </a:r>
            <a:endParaRPr lang="en-US" sz="1400" dirty="0"/>
          </a:p>
        </p:txBody>
      </p:sp>
      <p:sp>
        <p:nvSpPr>
          <p:cNvPr id="18" name="Inputs list"/>
          <p:cNvSpPr txBox="1"/>
          <p:nvPr/>
        </p:nvSpPr>
        <p:spPr>
          <a:xfrm>
            <a:off x="6720840" y="2514600"/>
            <a:ext cx="4800600" cy="2194560"/>
          </a:xfrm>
          <a:prstGeom prst="rect">
            <a:avLst/>
          </a:prstGeom>
          <a:noFill/>
          <a:ln/>
        </p:spPr>
        <p:txBody>
          <a:bodyPr wrap="square" lIns="0" tIns="0" rIns="0" bIns="0" rtlCol="0" anchor="t"/>
          <a:lstStyle/>
          <a:p>
            <a:pPr marL="342900" indent="-342900">
              <a:spcAft>
                <a:spcPts val="600"/>
              </a:spcAft>
              <a:buSzPct val="100000"/>
              <a:buChar char="•"/>
            </a:pPr>
            <a:r>
              <a:rPr lang="en-US" sz="1350" dirty="0">
                <a:solidFill>
                  <a:schemeClr val="tx2"/>
                </a:solidFill>
              </a:rPr>
              <a:t>BOD 23-01: discovery every 7 days, the entire IPv4 space</a:t>
            </a:r>
            <a:endParaRPr lang="en-US" sz="1400" dirty="0"/>
          </a:p>
          <a:p>
            <a:pPr marL="342900" indent="-342900">
              <a:spcAft>
                <a:spcPts val="600"/>
              </a:spcAft>
              <a:buSzPct val="100000"/>
              <a:buChar char="•"/>
            </a:pPr>
            <a:r>
              <a:rPr lang="en-US" sz="1350" dirty="0">
                <a:solidFill>
                  <a:schemeClr val="tx2"/>
                </a:solidFill>
              </a:rPr>
              <a:t>Virtual Network Manager: not named in FedRAMP audit scope</a:t>
            </a:r>
            <a:endParaRPr lang="en-US" sz="1400" dirty="0"/>
          </a:p>
          <a:p>
            <a:pPr marL="342900" indent="-342900">
              <a:spcAft>
                <a:spcPts val="600"/>
              </a:spcAft>
              <a:buSzPct val="100000"/>
              <a:buChar char="•"/>
            </a:pPr>
            <a:r>
              <a:rPr lang="en-US" sz="1350" dirty="0">
                <a:solidFill>
                  <a:schemeClr val="tx2"/>
                </a:solidFill>
              </a:rPr>
              <a:t>No separate GCC endpoint list: GCC uses Worldwide</a:t>
            </a:r>
            <a:endParaRPr lang="en-US" sz="1400" dirty="0"/>
          </a:p>
          <a:p>
            <a:pPr marL="342900" indent="-342900">
              <a:spcAft>
                <a:spcPts val="600"/>
              </a:spcAft>
              <a:buSzPct val="100000"/>
              <a:buChar char="•"/>
            </a:pPr>
            <a:r>
              <a:rPr lang="en-US" sz="1350" dirty="0">
                <a:solidFill>
                  <a:schemeClr val="tx2"/>
                </a:solidFill>
              </a:rPr>
              <a:t>Endpoints change monthly, with 30 days' notice</a:t>
            </a:r>
            <a:endParaRPr lang="en-US" sz="1400" dirty="0"/>
          </a:p>
        </p:txBody>
      </p:sp>
      <p:sp>
        <p:nvSpPr>
          <p:cNvPr id="19" name="Modules">
            <a:extLst>
              <a:ext uri="{C183D7F6-B498-43B3-948B-1728B52AA6E4}">
                <adec:decorative xmlns:adec="http://schemas.microsoft.com/office/drawing/2017/decorative" val="1"/>
              </a:ext>
            </a:extLst>
          </p:cNvPr>
          <p:cNvSpPr/>
          <p:nvPr/>
        </p:nvSpPr>
        <p:spPr>
          <a:xfrm>
            <a:off x="548640" y="4892040"/>
            <a:ext cx="11109960" cy="1051560"/>
          </a:xfrm>
          <a:prstGeom prst="roundRect">
            <a:avLst>
              <a:gd name="adj" fmla="val 6957"/>
            </a:avLst>
          </a:prstGeom>
          <a:solidFill>
            <a:srgbClr val="FFFFFF"/>
          </a:solidFill>
          <a:ln w="12700">
            <a:solidFill>
              <a:srgbClr val="0F766E"/>
            </a:solidFill>
            <a:prstDash val="solid"/>
          </a:ln>
          <a:effectLst>
            <a:outerShdw blurRad="76200" dist="25400" dir="5400000" algn="bl" rotWithShape="0">
              <a:srgbClr val="64748B">
                <a:alpha val="22000"/>
              </a:srgbClr>
            </a:outerShdw>
          </a:effectLst>
        </p:spPr>
      </p:sp>
      <p:sp>
        <p:nvSpPr>
          <p:cNvPr id="20" name="Icon FaCubes">
            <a:extLst>
              <a:ext uri="{C183D7F6-B498-43B3-948B-1728B52AA6E4}">
                <adec:decorative xmlns:adec="http://schemas.microsoft.com/office/drawing/2017/decorative" val="1"/>
              </a:ext>
            </a:extLst>
          </p:cNvPr>
          <p:cNvSpPr/>
          <p:nvPr/>
        </p:nvSpPr>
        <p:spPr>
          <a:xfrm>
            <a:off x="777240" y="5052060"/>
            <a:ext cx="731520" cy="731520"/>
          </a:xfrm>
          <a:prstGeom prst="ellipse">
            <a:avLst/>
          </a:prstGeom>
          <a:solidFill>
            <a:srgbClr val="0F766E"/>
          </a:solidFill>
          <a:ln w="12700">
            <a:solidFill>
              <a:srgbClr val="0F766E"/>
            </a:solidFill>
            <a:prstDash val="solid"/>
          </a:ln>
        </p:spPr>
      </p:sp>
      <p:pic>
        <p:nvPicPr>
          <p:cNvPr id="21" name="Image 1">
            <a:extLst>
              <a:ext uri="{C183D7F6-B498-43B3-948B-1728B52AA6E4}">
                <adec:decorative xmlns:adec="http://schemas.microsoft.com/office/drawing/2017/decorative" val="1"/>
              </a:ext>
            </a:extLst>
          </p:cNvPr>
          <p:cNvPicPr>
            <a:picLocks noChangeAspect="1"/>
          </p:cNvPicPr>
          <p:nvPr/>
        </p:nvPicPr>
        <p:blipFill>
          <a:blip r:embed="rId6"/>
          <a:stretch>
            <a:fillRect/>
          </a:stretch>
        </p:blipFill>
        <p:spPr>
          <a:xfrm>
            <a:off x="952805" y="5227625"/>
            <a:ext cx="380390" cy="380390"/>
          </a:xfrm>
          <a:prstGeom prst="rect">
            <a:avLst/>
          </a:prstGeom>
        </p:spPr>
      </p:pic>
      <p:sp>
        <p:nvSpPr>
          <p:cNvPr id="22" name="Modules text"/>
          <p:cNvSpPr txBox="1"/>
          <p:nvPr/>
        </p:nvSpPr>
        <p:spPr>
          <a:xfrm>
            <a:off x="1737360" y="4937760"/>
            <a:ext cx="9738360" cy="960120"/>
          </a:xfrm>
          <a:prstGeom prst="rect">
            <a:avLst/>
          </a:prstGeom>
          <a:noFill/>
          <a:ln/>
        </p:spPr>
        <p:txBody>
          <a:bodyPr wrap="square" lIns="0" tIns="0" rIns="0" bIns="0" rtlCol="0" anchor="ctr"/>
          <a:lstStyle/>
          <a:p>
            <a:pPr marL="0" indent="0">
              <a:buNone/>
            </a:pPr>
            <a:r>
              <a:rPr lang="en-US" sz="1650" b="1" dirty="0">
                <a:solidFill>
                  <a:srgbClr val="0F766E"/>
                </a:solidFill>
              </a:rPr>
              <a:t>Five modules, in dependency order: </a:t>
            </a:r>
            <a:r>
              <a:rPr lang="en-US" sz="1650" dirty="0">
                <a:solidFill>
                  <a:schemeClr val="tx2"/>
                </a:solidFill>
              </a:rPr>
              <a:t>platform, address plan, then naming and network, then the enforcement edge, through a change-controlled pipeline. Each writes its deployed state as evidence.</a:t>
            </a:r>
            <a:endParaRPr lang="en-US" sz="1650" dirty="0"/>
          </a:p>
        </p:txBody>
      </p:sp>
      <p:sp>
        <p:nvSpPr>
          <p:cNvPr id="23"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NIST SP 800-53 CM-8; CISA BOD 23-01; Microsoft Learn — Virtual Network Manager IPAM, overlapping address spaces, FedRAMP audit scope, Microsoft 365 IP Address and URL web service. Book 10, Chapter 06.</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8</a:t>
            </a:fld>
            <a:endParaRPr lang="en-US"/>
          </a:p>
        </p:txBody>
      </p:sp>
      <p:pic>
        <p:nvPicPr>
          <p:cNvPr id="24" name="Narration" descr="Narration for this slide; captions available">
            <a:hlinkClick r:id="" action="ppaction://media"/>
            <a:extLst>
              <a:ext uri="{FF2B5EF4-FFF2-40B4-BE49-F238E27FC236}">
                <a16:creationId xmlns:a16="http://schemas.microsoft.com/office/drawing/2014/main" id="{CE8AFEAA-D370-D15C-BB91-8D92073190F8}"/>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24028CC8-3762-4FA0-AEFC-28C4E0FADE40}" label="English (captions)" lang="en-US" r:embed="rId8"/>
                        </p173:trackLst>
                      </p173:tracksInfo>
                    </p:ext>
                  </p14:extLst>
                </p14:media>
              </p:ext>
            </p:extLst>
          </p:nvPr>
        </p:nvPicPr>
        <p:blipFill>
          <a:blip r:embed="rId7"/>
          <a:stretch>
            <a:fillRect/>
          </a:stretch>
        </p:blipFill>
        <p:spPr>
          <a:xfrm>
            <a:off x="127000" y="6350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58700"/>
    </mc:Choice>
    <mc:Fallback>
      <p:transition spd="slow" advTm="587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54696" fill="hold"/>
                                        <p:tgtEl>
                                          <p:spTgt spid="24"/>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The front door: no landing zone without a request</a:t>
            </a:r>
            <a:endParaRPr lang="en-US" sz="3000" dirty="0"/>
          </a:p>
        </p:txBody>
      </p:sp>
      <p:sp>
        <p:nvSpPr>
          <p:cNvPr id="3" name="Tag What">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WHAT</a:t>
            </a:r>
            <a:endParaRPr lang="en-US" sz="1100" dirty="0"/>
          </a:p>
        </p:txBody>
      </p:sp>
      <p:sp>
        <p:nvSpPr>
          <p:cNvPr id="5" name="Step 1">
            <a:extLst>
              <a:ext uri="{C183D7F6-B498-43B3-948B-1728B52AA6E4}">
                <adec:decorative xmlns:adec="http://schemas.microsoft.com/office/drawing/2017/decorative" val="1"/>
              </a:ext>
            </a:extLst>
          </p:cNvPr>
          <p:cNvSpPr/>
          <p:nvPr/>
        </p:nvSpPr>
        <p:spPr>
          <a:xfrm>
            <a:off x="548640" y="1371600"/>
            <a:ext cx="1755648" cy="1234440"/>
          </a:xfrm>
          <a:prstGeom prst="roundRect">
            <a:avLst>
              <a:gd name="adj" fmla="val 5926"/>
            </a:avLst>
          </a:prstGeom>
          <a:solidFill>
            <a:srgbClr val="E9EEF4"/>
          </a:solidFill>
          <a:ln w="12700">
            <a:solidFill>
              <a:srgbClr val="E9EEF4"/>
            </a:solidFill>
            <a:prstDash val="solid"/>
          </a:ln>
          <a:effectLst>
            <a:outerShdw blurRad="76200" dist="25400" dir="5400000" algn="bl" rotWithShape="0">
              <a:srgbClr val="64748B">
                <a:alpha val="22000"/>
              </a:srgbClr>
            </a:outerShdw>
          </a:effectLst>
        </p:spPr>
      </p:sp>
      <p:sp>
        <p:nvSpPr>
          <p:cNvPr id="6" name="Step 1 text"/>
          <p:cNvSpPr txBox="1"/>
          <p:nvPr/>
        </p:nvSpPr>
        <p:spPr>
          <a:xfrm>
            <a:off x="658368" y="1417320"/>
            <a:ext cx="1554480" cy="1143000"/>
          </a:xfrm>
          <a:prstGeom prst="rect">
            <a:avLst/>
          </a:prstGeom>
          <a:noFill/>
          <a:ln/>
        </p:spPr>
        <p:txBody>
          <a:bodyPr wrap="square" lIns="0" tIns="0" rIns="0" bIns="0" rtlCol="0" anchor="ctr"/>
          <a:lstStyle/>
          <a:p>
            <a:pPr marL="0" indent="0">
              <a:buNone/>
            </a:pPr>
            <a:r>
              <a:rPr lang="en-US" sz="2000" b="1" dirty="0">
                <a:solidFill>
                  <a:srgbClr val="B45309"/>
                </a:solidFill>
                <a:latin typeface="Cambria" pitchFamily="34" charset="0"/>
                <a:ea typeface="Cambria" pitchFamily="34" charset="-122"/>
                <a:cs typeface="Cambria" pitchFamily="34" charset="-120"/>
              </a:rPr>
              <a:t>1</a:t>
            </a:r>
            <a:endParaRPr lang="en-US" sz="1400" dirty="0"/>
          </a:p>
          <a:p>
            <a:pPr marL="0" indent="0">
              <a:buNone/>
            </a:pPr>
            <a:r>
              <a:rPr lang="en-US" sz="1500" b="1" dirty="0">
                <a:solidFill>
                  <a:srgbClr val="1F2A44"/>
                </a:solidFill>
              </a:rPr>
              <a:t>Request</a:t>
            </a:r>
            <a:endParaRPr lang="en-US" sz="1400" dirty="0"/>
          </a:p>
          <a:p>
            <a:pPr marL="0" indent="0">
              <a:buNone/>
            </a:pPr>
            <a:r>
              <a:rPr lang="en-US" sz="1250" dirty="0">
                <a:solidFill>
                  <a:schemeClr val="tx2"/>
                </a:solidFill>
              </a:rPr>
              <a:t>Typed variables</a:t>
            </a:r>
            <a:endParaRPr lang="en-US" sz="1400" dirty="0"/>
          </a:p>
        </p:txBody>
      </p:sp>
      <p:sp>
        <p:nvSpPr>
          <p:cNvPr id="7" name="Step 2">
            <a:extLst>
              <a:ext uri="{C183D7F6-B498-43B3-948B-1728B52AA6E4}">
                <adec:decorative xmlns:adec="http://schemas.microsoft.com/office/drawing/2017/decorative" val="1"/>
              </a:ext>
            </a:extLst>
          </p:cNvPr>
          <p:cNvSpPr/>
          <p:nvPr/>
        </p:nvSpPr>
        <p:spPr>
          <a:xfrm>
            <a:off x="2418588" y="1371600"/>
            <a:ext cx="1755648" cy="1234440"/>
          </a:xfrm>
          <a:prstGeom prst="roundRect">
            <a:avLst>
              <a:gd name="adj" fmla="val 5926"/>
            </a:avLst>
          </a:prstGeom>
          <a:solidFill>
            <a:srgbClr val="FBEEDC"/>
          </a:solidFill>
          <a:ln w="12700">
            <a:solidFill>
              <a:srgbClr val="FBEEDC"/>
            </a:solidFill>
            <a:prstDash val="solid"/>
          </a:ln>
          <a:effectLst>
            <a:outerShdw blurRad="76200" dist="25400" dir="5400000" algn="bl" rotWithShape="0">
              <a:srgbClr val="64748B">
                <a:alpha val="22000"/>
              </a:srgbClr>
            </a:outerShdw>
          </a:effectLst>
        </p:spPr>
      </p:sp>
      <p:sp>
        <p:nvSpPr>
          <p:cNvPr id="8" name="Step 2 text"/>
          <p:cNvSpPr txBox="1"/>
          <p:nvPr/>
        </p:nvSpPr>
        <p:spPr>
          <a:xfrm>
            <a:off x="2528316" y="1417320"/>
            <a:ext cx="1554480" cy="1143000"/>
          </a:xfrm>
          <a:prstGeom prst="rect">
            <a:avLst/>
          </a:prstGeom>
          <a:noFill/>
          <a:ln/>
        </p:spPr>
        <p:txBody>
          <a:bodyPr wrap="square" lIns="0" tIns="0" rIns="0" bIns="0" rtlCol="0" anchor="ctr"/>
          <a:lstStyle/>
          <a:p>
            <a:pPr marL="0" indent="0">
              <a:buNone/>
            </a:pPr>
            <a:r>
              <a:rPr lang="en-US" sz="2000" b="1" dirty="0">
                <a:solidFill>
                  <a:srgbClr val="B45309"/>
                </a:solidFill>
                <a:latin typeface="Cambria" pitchFamily="34" charset="0"/>
                <a:ea typeface="Cambria" pitchFamily="34" charset="-122"/>
                <a:cs typeface="Cambria" pitchFamily="34" charset="-120"/>
              </a:rPr>
              <a:t>2</a:t>
            </a:r>
            <a:endParaRPr lang="en-US" sz="1400" dirty="0"/>
          </a:p>
          <a:p>
            <a:pPr marL="0" indent="0">
              <a:buNone/>
            </a:pPr>
            <a:r>
              <a:rPr lang="en-US" sz="1500" b="1" dirty="0">
                <a:solidFill>
                  <a:srgbClr val="1F2A44"/>
                </a:solidFill>
              </a:rPr>
              <a:t>Approve</a:t>
            </a:r>
            <a:endParaRPr lang="en-US" sz="1400" dirty="0"/>
          </a:p>
          <a:p>
            <a:pPr marL="0" indent="0">
              <a:buNone/>
            </a:pPr>
            <a:r>
              <a:rPr lang="en-US" sz="1250" dirty="0">
                <a:solidFill>
                  <a:schemeClr val="tx2"/>
                </a:solidFill>
              </a:rPr>
              <a:t>Not the requester</a:t>
            </a:r>
            <a:endParaRPr lang="en-US" sz="1400" dirty="0"/>
          </a:p>
        </p:txBody>
      </p:sp>
      <p:sp>
        <p:nvSpPr>
          <p:cNvPr id="9" name="Step 3">
            <a:extLst>
              <a:ext uri="{C183D7F6-B498-43B3-948B-1728B52AA6E4}">
                <adec:decorative xmlns:adec="http://schemas.microsoft.com/office/drawing/2017/decorative" val="1"/>
              </a:ext>
            </a:extLst>
          </p:cNvPr>
          <p:cNvSpPr/>
          <p:nvPr/>
        </p:nvSpPr>
        <p:spPr>
          <a:xfrm>
            <a:off x="4288536" y="1371600"/>
            <a:ext cx="1755648" cy="1234440"/>
          </a:xfrm>
          <a:prstGeom prst="roundRect">
            <a:avLst>
              <a:gd name="adj" fmla="val 5926"/>
            </a:avLst>
          </a:prstGeom>
          <a:solidFill>
            <a:srgbClr val="FBEEDC"/>
          </a:solidFill>
          <a:ln w="12700">
            <a:solidFill>
              <a:srgbClr val="FBEEDC"/>
            </a:solidFill>
            <a:prstDash val="solid"/>
          </a:ln>
          <a:effectLst>
            <a:outerShdw blurRad="76200" dist="25400" dir="5400000" algn="bl" rotWithShape="0">
              <a:srgbClr val="64748B">
                <a:alpha val="22000"/>
              </a:srgbClr>
            </a:outerShdw>
          </a:effectLst>
        </p:spPr>
      </p:sp>
      <p:sp>
        <p:nvSpPr>
          <p:cNvPr id="10" name="Step 3 text"/>
          <p:cNvSpPr txBox="1"/>
          <p:nvPr/>
        </p:nvSpPr>
        <p:spPr>
          <a:xfrm>
            <a:off x="4398264" y="1417320"/>
            <a:ext cx="1554480" cy="1143000"/>
          </a:xfrm>
          <a:prstGeom prst="rect">
            <a:avLst/>
          </a:prstGeom>
          <a:noFill/>
          <a:ln/>
        </p:spPr>
        <p:txBody>
          <a:bodyPr wrap="square" lIns="0" tIns="0" rIns="0" bIns="0" rtlCol="0" anchor="ctr"/>
          <a:lstStyle/>
          <a:p>
            <a:pPr marL="0" indent="0">
              <a:buNone/>
            </a:pPr>
            <a:r>
              <a:rPr lang="en-US" sz="2000" b="1" dirty="0">
                <a:solidFill>
                  <a:srgbClr val="B45309"/>
                </a:solidFill>
                <a:latin typeface="Cambria" pitchFamily="34" charset="0"/>
                <a:ea typeface="Cambria" pitchFamily="34" charset="-122"/>
                <a:cs typeface="Cambria" pitchFamily="34" charset="-120"/>
              </a:rPr>
              <a:t>3</a:t>
            </a:r>
            <a:endParaRPr lang="en-US" sz="1400" dirty="0"/>
          </a:p>
          <a:p>
            <a:pPr marL="0" indent="0">
              <a:buNone/>
            </a:pPr>
            <a:r>
              <a:rPr lang="en-US" sz="1500" b="1" dirty="0">
                <a:solidFill>
                  <a:srgbClr val="1F2A44"/>
                </a:solidFill>
              </a:rPr>
              <a:t>Plan</a:t>
            </a:r>
            <a:endParaRPr lang="en-US" sz="1400" dirty="0"/>
          </a:p>
          <a:p>
            <a:pPr marL="0" indent="0">
              <a:buNone/>
            </a:pPr>
            <a:r>
              <a:rPr lang="en-US" sz="1250" dirty="0">
                <a:solidFill>
                  <a:schemeClr val="tx2"/>
                </a:solidFill>
              </a:rPr>
              <a:t>Reviewed first</a:t>
            </a:r>
            <a:endParaRPr lang="en-US" sz="1400" dirty="0"/>
          </a:p>
        </p:txBody>
      </p:sp>
      <p:sp>
        <p:nvSpPr>
          <p:cNvPr id="11" name="Step 4">
            <a:extLst>
              <a:ext uri="{C183D7F6-B498-43B3-948B-1728B52AA6E4}">
                <adec:decorative xmlns:adec="http://schemas.microsoft.com/office/drawing/2017/decorative" val="1"/>
              </a:ext>
            </a:extLst>
          </p:cNvPr>
          <p:cNvSpPr/>
          <p:nvPr/>
        </p:nvSpPr>
        <p:spPr>
          <a:xfrm>
            <a:off x="6158484" y="1371600"/>
            <a:ext cx="1755648" cy="1234440"/>
          </a:xfrm>
          <a:prstGeom prst="roundRect">
            <a:avLst>
              <a:gd name="adj" fmla="val 5926"/>
            </a:avLst>
          </a:prstGeom>
          <a:solidFill>
            <a:srgbClr val="E9EEF4"/>
          </a:solidFill>
          <a:ln w="12700">
            <a:solidFill>
              <a:srgbClr val="E9EEF4"/>
            </a:solidFill>
            <a:prstDash val="solid"/>
          </a:ln>
          <a:effectLst>
            <a:outerShdw blurRad="76200" dist="25400" dir="5400000" algn="bl" rotWithShape="0">
              <a:srgbClr val="64748B">
                <a:alpha val="22000"/>
              </a:srgbClr>
            </a:outerShdw>
          </a:effectLst>
        </p:spPr>
      </p:sp>
      <p:sp>
        <p:nvSpPr>
          <p:cNvPr id="12" name="Step 4 text"/>
          <p:cNvSpPr txBox="1"/>
          <p:nvPr/>
        </p:nvSpPr>
        <p:spPr>
          <a:xfrm>
            <a:off x="6268212" y="1417320"/>
            <a:ext cx="1554480" cy="1143000"/>
          </a:xfrm>
          <a:prstGeom prst="rect">
            <a:avLst/>
          </a:prstGeom>
          <a:noFill/>
          <a:ln/>
        </p:spPr>
        <p:txBody>
          <a:bodyPr wrap="square" lIns="0" tIns="0" rIns="0" bIns="0" rtlCol="0" anchor="ctr"/>
          <a:lstStyle/>
          <a:p>
            <a:pPr marL="0" indent="0">
              <a:buNone/>
            </a:pPr>
            <a:r>
              <a:rPr lang="en-US" sz="2000" b="1" dirty="0">
                <a:solidFill>
                  <a:srgbClr val="B45309"/>
                </a:solidFill>
                <a:latin typeface="Cambria" pitchFamily="34" charset="0"/>
                <a:ea typeface="Cambria" pitchFamily="34" charset="-122"/>
                <a:cs typeface="Cambria" pitchFamily="34" charset="-120"/>
              </a:rPr>
              <a:t>4</a:t>
            </a:r>
            <a:endParaRPr lang="en-US" sz="1400" dirty="0"/>
          </a:p>
          <a:p>
            <a:pPr marL="0" indent="0">
              <a:buNone/>
            </a:pPr>
            <a:r>
              <a:rPr lang="en-US" sz="1500" b="1" dirty="0">
                <a:solidFill>
                  <a:srgbClr val="1F2A44"/>
                </a:solidFill>
              </a:rPr>
              <a:t>Apply</a:t>
            </a:r>
            <a:endParaRPr lang="en-US" sz="1400" dirty="0"/>
          </a:p>
          <a:p>
            <a:pPr marL="0" indent="0">
              <a:buNone/>
            </a:pPr>
            <a:r>
              <a:rPr lang="en-US" sz="1250" dirty="0">
                <a:solidFill>
                  <a:schemeClr val="tx2"/>
                </a:solidFill>
              </a:rPr>
              <a:t>Reviewed source</a:t>
            </a:r>
            <a:endParaRPr lang="en-US" sz="1400" dirty="0"/>
          </a:p>
        </p:txBody>
      </p:sp>
      <p:sp>
        <p:nvSpPr>
          <p:cNvPr id="13" name="Step 5">
            <a:extLst>
              <a:ext uri="{C183D7F6-B498-43B3-948B-1728B52AA6E4}">
                <adec:decorative xmlns:adec="http://schemas.microsoft.com/office/drawing/2017/decorative" val="1"/>
              </a:ext>
            </a:extLst>
          </p:cNvPr>
          <p:cNvSpPr/>
          <p:nvPr/>
        </p:nvSpPr>
        <p:spPr>
          <a:xfrm>
            <a:off x="8028432" y="1371600"/>
            <a:ext cx="1755648" cy="1234440"/>
          </a:xfrm>
          <a:prstGeom prst="roundRect">
            <a:avLst>
              <a:gd name="adj" fmla="val 5926"/>
            </a:avLst>
          </a:prstGeom>
          <a:solidFill>
            <a:srgbClr val="DCEFEC"/>
          </a:solidFill>
          <a:ln w="12700">
            <a:solidFill>
              <a:srgbClr val="DCEFEC"/>
            </a:solidFill>
            <a:prstDash val="solid"/>
          </a:ln>
          <a:effectLst>
            <a:outerShdw blurRad="76200" dist="25400" dir="5400000" algn="bl" rotWithShape="0">
              <a:srgbClr val="64748B">
                <a:alpha val="22000"/>
              </a:srgbClr>
            </a:outerShdw>
          </a:effectLst>
        </p:spPr>
      </p:sp>
      <p:sp>
        <p:nvSpPr>
          <p:cNvPr id="14" name="Step 5 text"/>
          <p:cNvSpPr txBox="1"/>
          <p:nvPr/>
        </p:nvSpPr>
        <p:spPr>
          <a:xfrm>
            <a:off x="8138160" y="1417320"/>
            <a:ext cx="1554480" cy="1143000"/>
          </a:xfrm>
          <a:prstGeom prst="rect">
            <a:avLst/>
          </a:prstGeom>
          <a:noFill/>
          <a:ln/>
        </p:spPr>
        <p:txBody>
          <a:bodyPr wrap="square" lIns="0" tIns="0" rIns="0" bIns="0" rtlCol="0" anchor="ctr"/>
          <a:lstStyle/>
          <a:p>
            <a:pPr marL="0" indent="0">
              <a:buNone/>
            </a:pPr>
            <a:r>
              <a:rPr lang="en-US" sz="2000" b="1" dirty="0">
                <a:solidFill>
                  <a:srgbClr val="B45309"/>
                </a:solidFill>
                <a:latin typeface="Cambria" pitchFamily="34" charset="0"/>
                <a:ea typeface="Cambria" pitchFamily="34" charset="-122"/>
                <a:cs typeface="Cambria" pitchFamily="34" charset="-120"/>
              </a:rPr>
              <a:t>5</a:t>
            </a:r>
            <a:endParaRPr lang="en-US" sz="1400" dirty="0"/>
          </a:p>
          <a:p>
            <a:pPr marL="0" indent="0">
              <a:buNone/>
            </a:pPr>
            <a:r>
              <a:rPr lang="en-US" sz="1500" b="1" dirty="0">
                <a:solidFill>
                  <a:srgbClr val="1F2A44"/>
                </a:solidFill>
              </a:rPr>
              <a:t>Reconcile</a:t>
            </a:r>
            <a:endParaRPr lang="en-US" sz="1400" dirty="0"/>
          </a:p>
          <a:p>
            <a:pPr marL="0" indent="0">
              <a:buNone/>
            </a:pPr>
            <a:r>
              <a:rPr lang="en-US" sz="1250" dirty="0">
                <a:solidFill>
                  <a:schemeClr val="tx2"/>
                </a:solidFill>
              </a:rPr>
              <a:t>IPAM and CMDB</a:t>
            </a:r>
            <a:endParaRPr lang="en-US" sz="1400" dirty="0"/>
          </a:p>
        </p:txBody>
      </p:sp>
      <p:sp>
        <p:nvSpPr>
          <p:cNvPr id="15" name="Step 6">
            <a:extLst>
              <a:ext uri="{C183D7F6-B498-43B3-948B-1728B52AA6E4}">
                <adec:decorative xmlns:adec="http://schemas.microsoft.com/office/drawing/2017/decorative" val="1"/>
              </a:ext>
            </a:extLst>
          </p:cNvPr>
          <p:cNvSpPr/>
          <p:nvPr/>
        </p:nvSpPr>
        <p:spPr>
          <a:xfrm>
            <a:off x="9898380" y="1371600"/>
            <a:ext cx="1755648" cy="1234440"/>
          </a:xfrm>
          <a:prstGeom prst="roundRect">
            <a:avLst>
              <a:gd name="adj" fmla="val 5926"/>
            </a:avLst>
          </a:prstGeom>
          <a:solidFill>
            <a:srgbClr val="E9EEF4"/>
          </a:solidFill>
          <a:ln w="12700">
            <a:solidFill>
              <a:srgbClr val="E9EEF4"/>
            </a:solidFill>
            <a:prstDash val="solid"/>
          </a:ln>
          <a:effectLst>
            <a:outerShdw blurRad="76200" dist="25400" dir="5400000" algn="bl" rotWithShape="0">
              <a:srgbClr val="64748B">
                <a:alpha val="22000"/>
              </a:srgbClr>
            </a:outerShdw>
          </a:effectLst>
        </p:spPr>
      </p:sp>
      <p:sp>
        <p:nvSpPr>
          <p:cNvPr id="16" name="Step 6 text"/>
          <p:cNvSpPr txBox="1"/>
          <p:nvPr/>
        </p:nvSpPr>
        <p:spPr>
          <a:xfrm>
            <a:off x="10008108" y="1417320"/>
            <a:ext cx="1554480" cy="1143000"/>
          </a:xfrm>
          <a:prstGeom prst="rect">
            <a:avLst/>
          </a:prstGeom>
          <a:noFill/>
          <a:ln/>
        </p:spPr>
        <p:txBody>
          <a:bodyPr wrap="square" lIns="0" tIns="0" rIns="0" bIns="0" rtlCol="0" anchor="ctr"/>
          <a:lstStyle/>
          <a:p>
            <a:pPr marL="0" indent="0">
              <a:buNone/>
            </a:pPr>
            <a:r>
              <a:rPr lang="en-US" sz="2000" b="1" dirty="0">
                <a:solidFill>
                  <a:srgbClr val="B45309"/>
                </a:solidFill>
                <a:latin typeface="Cambria" pitchFamily="34" charset="0"/>
                <a:ea typeface="Cambria" pitchFamily="34" charset="-122"/>
                <a:cs typeface="Cambria" pitchFamily="34" charset="-120"/>
              </a:rPr>
              <a:t>6</a:t>
            </a:r>
            <a:endParaRPr lang="en-US" sz="1400" dirty="0"/>
          </a:p>
          <a:p>
            <a:pPr marL="0" indent="0">
              <a:buNone/>
            </a:pPr>
            <a:r>
              <a:rPr lang="en-US" sz="1500" b="1" dirty="0">
                <a:solidFill>
                  <a:srgbClr val="1F2A44"/>
                </a:solidFill>
              </a:rPr>
              <a:t>Close</a:t>
            </a:r>
            <a:endParaRPr lang="en-US" sz="1400" dirty="0"/>
          </a:p>
          <a:p>
            <a:pPr marL="0" indent="0">
              <a:buNone/>
            </a:pPr>
            <a:r>
              <a:rPr lang="en-US" sz="1250" dirty="0">
                <a:solidFill>
                  <a:schemeClr val="tx2"/>
                </a:solidFill>
              </a:rPr>
              <a:t>Gate verdict</a:t>
            </a:r>
            <a:endParaRPr lang="en-US" sz="1400" dirty="0"/>
          </a:p>
        </p:txBody>
      </p:sp>
      <p:sp>
        <p:nvSpPr>
          <p:cNvPr id="17" name="Panel 1">
            <a:extLst>
              <a:ext uri="{C183D7F6-B498-43B3-948B-1728B52AA6E4}">
                <adec:decorative xmlns:adec="http://schemas.microsoft.com/office/drawing/2017/decorative" val="1"/>
              </a:ext>
            </a:extLst>
          </p:cNvPr>
          <p:cNvSpPr/>
          <p:nvPr/>
        </p:nvSpPr>
        <p:spPr>
          <a:xfrm>
            <a:off x="548640" y="2788920"/>
            <a:ext cx="5486400" cy="1828800"/>
          </a:xfrm>
          <a:prstGeom prst="roundRect">
            <a:avLst>
              <a:gd name="adj" fmla="val 4000"/>
            </a:avLst>
          </a:prstGeom>
          <a:solidFill>
            <a:srgbClr val="DCEFEC"/>
          </a:solidFill>
          <a:ln w="12700">
            <a:solidFill>
              <a:srgbClr val="DCEFEC"/>
            </a:solidFill>
            <a:prstDash val="solid"/>
          </a:ln>
          <a:effectLst>
            <a:outerShdw blurRad="76200" dist="25400" dir="5400000" algn="bl" rotWithShape="0">
              <a:srgbClr val="64748B">
                <a:alpha val="22000"/>
              </a:srgbClr>
            </a:outerShdw>
          </a:effectLst>
        </p:spPr>
      </p:sp>
      <p:sp>
        <p:nvSpPr>
          <p:cNvPr id="18" name="Icon FaHashtag">
            <a:extLst>
              <a:ext uri="{C183D7F6-B498-43B3-948B-1728B52AA6E4}">
                <adec:decorative xmlns:adec="http://schemas.microsoft.com/office/drawing/2017/decorative" val="1"/>
              </a:ext>
            </a:extLst>
          </p:cNvPr>
          <p:cNvSpPr/>
          <p:nvPr/>
        </p:nvSpPr>
        <p:spPr>
          <a:xfrm>
            <a:off x="731520" y="2862072"/>
            <a:ext cx="512064" cy="512064"/>
          </a:xfrm>
          <a:prstGeom prst="ellipse">
            <a:avLst/>
          </a:prstGeom>
          <a:solidFill>
            <a:srgbClr val="0F766E"/>
          </a:solidFill>
          <a:ln w="12700">
            <a:solidFill>
              <a:srgbClr val="0F766E"/>
            </a:solidFill>
            <a:prstDash val="solid"/>
          </a:ln>
        </p:spPr>
      </p:sp>
      <p:pic>
        <p:nvPicPr>
          <p:cNvPr id="19" name="Image 0">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854415" y="2984967"/>
            <a:ext cx="266273" cy="266273"/>
          </a:xfrm>
          <a:prstGeom prst="rect">
            <a:avLst/>
          </a:prstGeom>
        </p:spPr>
      </p:pic>
      <p:sp>
        <p:nvSpPr>
          <p:cNvPr id="20" name="Panel head 1"/>
          <p:cNvSpPr txBox="1"/>
          <p:nvPr/>
        </p:nvSpPr>
        <p:spPr>
          <a:xfrm>
            <a:off x="1417320" y="2862072"/>
            <a:ext cx="4480560" cy="512064"/>
          </a:xfrm>
          <a:prstGeom prst="rect">
            <a:avLst/>
          </a:prstGeom>
          <a:noFill/>
          <a:ln/>
        </p:spPr>
        <p:txBody>
          <a:bodyPr wrap="square" lIns="0" tIns="0" rIns="0" bIns="0" rtlCol="0" anchor="ctr"/>
          <a:lstStyle/>
          <a:p>
            <a:pPr marL="0" indent="0">
              <a:buNone/>
            </a:pPr>
            <a:r>
              <a:rPr lang="en-US" sz="1700" b="1" dirty="0">
                <a:solidFill>
                  <a:srgbClr val="0F766E"/>
                </a:solidFill>
                <a:latin typeface="Cambria" pitchFamily="34" charset="0"/>
                <a:ea typeface="Cambria" pitchFamily="34" charset="-122"/>
                <a:cs typeface="Cambria" pitchFamily="34" charset="-120"/>
              </a:rPr>
              <a:t>Step 5 carries the most weight</a:t>
            </a:r>
            <a:endParaRPr lang="en-US" sz="1700" dirty="0"/>
          </a:p>
        </p:txBody>
      </p:sp>
      <p:sp>
        <p:nvSpPr>
          <p:cNvPr id="21" name="Panel text 1"/>
          <p:cNvSpPr txBox="1"/>
          <p:nvPr/>
        </p:nvSpPr>
        <p:spPr>
          <a:xfrm>
            <a:off x="777240" y="3429000"/>
            <a:ext cx="5120640" cy="1161288"/>
          </a:xfrm>
          <a:prstGeom prst="rect">
            <a:avLst/>
          </a:prstGeom>
          <a:noFill/>
          <a:ln/>
        </p:spPr>
        <p:txBody>
          <a:bodyPr wrap="square" lIns="0" tIns="0" rIns="0" bIns="0" rtlCol="0" anchor="t"/>
          <a:lstStyle/>
          <a:p>
            <a:pPr marL="342900" indent="-342900">
              <a:spcAft>
                <a:spcPts val="200"/>
              </a:spcAft>
              <a:buSzPct val="100000"/>
              <a:buChar char="•"/>
            </a:pPr>
            <a:r>
              <a:rPr lang="en-US" sz="1300" dirty="0">
                <a:solidFill>
                  <a:schemeClr val="tx2"/>
                </a:solidFill>
              </a:rPr>
              <a:t>Write the allocation back to the enterprise IPAM</a:t>
            </a:r>
            <a:endParaRPr lang="en-US" sz="1400" dirty="0"/>
          </a:p>
          <a:p>
            <a:pPr marL="342900" indent="-342900">
              <a:spcAft>
                <a:spcPts val="200"/>
              </a:spcAft>
              <a:buSzPct val="100000"/>
              <a:buChar char="•"/>
            </a:pPr>
            <a:r>
              <a:rPr lang="en-US" sz="1300" dirty="0">
                <a:solidFill>
                  <a:schemeClr val="tx2"/>
                </a:solidFill>
              </a:rPr>
              <a:t>Fail the run if the two disagree</a:t>
            </a:r>
            <a:endParaRPr lang="en-US" sz="1400" dirty="0"/>
          </a:p>
          <a:p>
            <a:pPr marL="342900" indent="-342900">
              <a:spcAft>
                <a:spcPts val="200"/>
              </a:spcAft>
              <a:buSzPct val="100000"/>
              <a:buChar char="•"/>
            </a:pPr>
            <a:r>
              <a:rPr lang="en-US" sz="1300" dirty="0">
                <a:solidFill>
                  <a:schemeClr val="tx2"/>
                </a:solidFill>
              </a:rPr>
              <a:t>An unreconciled block is shadow inventory</a:t>
            </a:r>
            <a:endParaRPr lang="en-US" sz="1400" dirty="0"/>
          </a:p>
        </p:txBody>
      </p:sp>
      <p:sp>
        <p:nvSpPr>
          <p:cNvPr id="22" name="Panel 2">
            <a:extLst>
              <a:ext uri="{C183D7F6-B498-43B3-948B-1728B52AA6E4}">
                <adec:decorative xmlns:adec="http://schemas.microsoft.com/office/drawing/2017/decorative" val="1"/>
              </a:ext>
            </a:extLst>
          </p:cNvPr>
          <p:cNvSpPr/>
          <p:nvPr/>
        </p:nvSpPr>
        <p:spPr>
          <a:xfrm>
            <a:off x="6172200" y="2788920"/>
            <a:ext cx="5486400" cy="1828800"/>
          </a:xfrm>
          <a:prstGeom prst="roundRect">
            <a:avLst>
              <a:gd name="adj" fmla="val 4000"/>
            </a:avLst>
          </a:prstGeom>
          <a:solidFill>
            <a:srgbClr val="FBE4E4"/>
          </a:solidFill>
          <a:ln w="12700">
            <a:solidFill>
              <a:srgbClr val="FBE4E4"/>
            </a:solidFill>
            <a:prstDash val="solid"/>
          </a:ln>
          <a:effectLst>
            <a:outerShdw blurRad="76200" dist="25400" dir="5400000" algn="bl" rotWithShape="0">
              <a:srgbClr val="64748B">
                <a:alpha val="22000"/>
              </a:srgbClr>
            </a:outerShdw>
          </a:effectLst>
        </p:spPr>
      </p:sp>
      <p:sp>
        <p:nvSpPr>
          <p:cNvPr id="23" name="Icon FaLock">
            <a:extLst>
              <a:ext uri="{C183D7F6-B498-43B3-948B-1728B52AA6E4}">
                <adec:decorative xmlns:adec="http://schemas.microsoft.com/office/drawing/2017/decorative" val="1"/>
              </a:ext>
            </a:extLst>
          </p:cNvPr>
          <p:cNvSpPr/>
          <p:nvPr/>
        </p:nvSpPr>
        <p:spPr>
          <a:xfrm>
            <a:off x="6355080" y="2862072"/>
            <a:ext cx="512064" cy="512064"/>
          </a:xfrm>
          <a:prstGeom prst="ellipse">
            <a:avLst/>
          </a:prstGeom>
          <a:solidFill>
            <a:srgbClr val="B91C1C"/>
          </a:solidFill>
          <a:ln w="12700">
            <a:solidFill>
              <a:srgbClr val="B91C1C"/>
            </a:solidFill>
            <a:prstDash val="solid"/>
          </a:ln>
        </p:spPr>
      </p:sp>
      <p:pic>
        <p:nvPicPr>
          <p:cNvPr id="24" name="Image 1">
            <a:extLst>
              <a:ext uri="{C183D7F6-B498-43B3-948B-1728B52AA6E4}">
                <adec:decorative xmlns:adec="http://schemas.microsoft.com/office/drawing/2017/decorative" val="1"/>
              </a:ext>
            </a:extLst>
          </p:cNvPr>
          <p:cNvPicPr>
            <a:picLocks noChangeAspect="1"/>
          </p:cNvPicPr>
          <p:nvPr/>
        </p:nvPicPr>
        <p:blipFill>
          <a:blip r:embed="rId6"/>
          <a:stretch>
            <a:fillRect/>
          </a:stretch>
        </p:blipFill>
        <p:spPr>
          <a:xfrm>
            <a:off x="6477975" y="2984967"/>
            <a:ext cx="266273" cy="266273"/>
          </a:xfrm>
          <a:prstGeom prst="rect">
            <a:avLst/>
          </a:prstGeom>
        </p:spPr>
      </p:pic>
      <p:sp>
        <p:nvSpPr>
          <p:cNvPr id="25" name="Panel head 2"/>
          <p:cNvSpPr txBox="1"/>
          <p:nvPr/>
        </p:nvSpPr>
        <p:spPr>
          <a:xfrm>
            <a:off x="7040880" y="2862072"/>
            <a:ext cx="4480560" cy="512064"/>
          </a:xfrm>
          <a:prstGeom prst="rect">
            <a:avLst/>
          </a:prstGeom>
          <a:noFill/>
          <a:ln/>
        </p:spPr>
        <p:txBody>
          <a:bodyPr wrap="square" lIns="0" tIns="0" rIns="0" bIns="0" rtlCol="0" anchor="ctr"/>
          <a:lstStyle/>
          <a:p>
            <a:pPr marL="0" indent="0">
              <a:buNone/>
            </a:pPr>
            <a:r>
              <a:rPr lang="en-US" sz="1700" b="1" dirty="0">
                <a:solidFill>
                  <a:srgbClr val="B91C1C"/>
                </a:solidFill>
                <a:latin typeface="Cambria" pitchFamily="34" charset="0"/>
                <a:ea typeface="Cambria" pitchFamily="34" charset="-122"/>
                <a:cs typeface="Cambria" pitchFamily="34" charset="-120"/>
              </a:rPr>
              <a:t>The pipeline is in the boundary</a:t>
            </a:r>
            <a:endParaRPr lang="en-US" sz="1700" dirty="0"/>
          </a:p>
        </p:txBody>
      </p:sp>
      <p:sp>
        <p:nvSpPr>
          <p:cNvPr id="26" name="Panel text 2"/>
          <p:cNvSpPr txBox="1"/>
          <p:nvPr/>
        </p:nvSpPr>
        <p:spPr>
          <a:xfrm>
            <a:off x="6400800" y="3429000"/>
            <a:ext cx="5120640" cy="1161288"/>
          </a:xfrm>
          <a:prstGeom prst="rect">
            <a:avLst/>
          </a:prstGeom>
          <a:noFill/>
          <a:ln/>
        </p:spPr>
        <p:txBody>
          <a:bodyPr wrap="square" lIns="0" tIns="0" rIns="0" bIns="0" rtlCol="0" anchor="t"/>
          <a:lstStyle/>
          <a:p>
            <a:pPr marL="342900" indent="-342900">
              <a:spcAft>
                <a:spcPts val="200"/>
              </a:spcAft>
              <a:buSzPct val="100000"/>
              <a:buChar char="•"/>
            </a:pPr>
            <a:r>
              <a:rPr lang="en-US" sz="1300" dirty="0">
                <a:solidFill>
                  <a:schemeClr val="tx2"/>
                </a:solidFill>
              </a:rPr>
              <a:t>Terraform state is sensitive data</a:t>
            </a:r>
            <a:endParaRPr lang="en-US" sz="1400" dirty="0"/>
          </a:p>
          <a:p>
            <a:pPr marL="342900" indent="-342900">
              <a:spcAft>
                <a:spcPts val="200"/>
              </a:spcAft>
              <a:buSzPct val="100000"/>
              <a:buChar char="•"/>
            </a:pPr>
            <a:r>
              <a:rPr lang="en-US" sz="1300" dirty="0">
                <a:solidFill>
                  <a:schemeClr val="tx2"/>
                </a:solidFill>
              </a:rPr>
              <a:t>October 21, 2026: no HCP Terraform listing</a:t>
            </a:r>
            <a:endParaRPr lang="en-US" sz="1400" dirty="0"/>
          </a:p>
          <a:p>
            <a:pPr marL="342900" indent="-342900">
              <a:spcAft>
                <a:spcPts val="200"/>
              </a:spcAft>
              <a:buSzPct val="100000"/>
              <a:buChar char="•"/>
            </a:pPr>
            <a:r>
              <a:rPr lang="en-US" sz="1300" dirty="0">
                <a:solidFill>
                  <a:schemeClr val="tx2"/>
                </a:solidFill>
              </a:rPr>
              <a:t>GitHub Enterprise Cloud Class B; GitLab Dedicated Class C</a:t>
            </a:r>
            <a:endParaRPr lang="en-US" sz="1400" dirty="0"/>
          </a:p>
        </p:txBody>
      </p:sp>
      <p:sp>
        <p:nvSpPr>
          <p:cNvPr id="27" name="SoD">
            <a:extLst>
              <a:ext uri="{C183D7F6-B498-43B3-948B-1728B52AA6E4}">
                <adec:decorative xmlns:adec="http://schemas.microsoft.com/office/drawing/2017/decorative" val="1"/>
              </a:ext>
            </a:extLst>
          </p:cNvPr>
          <p:cNvSpPr/>
          <p:nvPr/>
        </p:nvSpPr>
        <p:spPr>
          <a:xfrm>
            <a:off x="548640" y="4800600"/>
            <a:ext cx="11109960" cy="1143000"/>
          </a:xfrm>
          <a:prstGeom prst="roundRect">
            <a:avLst>
              <a:gd name="adj" fmla="val 6400"/>
            </a:avLst>
          </a:prstGeom>
          <a:solidFill>
            <a:srgbClr val="FFFFFF"/>
          </a:solidFill>
          <a:ln w="12700">
            <a:solidFill>
              <a:srgbClr val="1F2A44"/>
            </a:solidFill>
            <a:prstDash val="solid"/>
          </a:ln>
          <a:effectLst>
            <a:outerShdw blurRad="76200" dist="25400" dir="5400000" algn="bl" rotWithShape="0">
              <a:srgbClr val="64748B">
                <a:alpha val="22000"/>
              </a:srgbClr>
            </a:outerShdw>
          </a:effectLst>
        </p:spPr>
      </p:sp>
      <p:sp>
        <p:nvSpPr>
          <p:cNvPr id="28" name="Icon FaUserShield">
            <a:extLst>
              <a:ext uri="{C183D7F6-B498-43B3-948B-1728B52AA6E4}">
                <adec:decorative xmlns:adec="http://schemas.microsoft.com/office/drawing/2017/decorative" val="1"/>
              </a:ext>
            </a:extLst>
          </p:cNvPr>
          <p:cNvSpPr/>
          <p:nvPr/>
        </p:nvSpPr>
        <p:spPr>
          <a:xfrm>
            <a:off x="777240" y="5006340"/>
            <a:ext cx="731520" cy="731520"/>
          </a:xfrm>
          <a:prstGeom prst="ellipse">
            <a:avLst/>
          </a:prstGeom>
          <a:solidFill>
            <a:srgbClr val="1F2A44"/>
          </a:solidFill>
          <a:ln w="12700">
            <a:solidFill>
              <a:srgbClr val="1F2A44"/>
            </a:solidFill>
            <a:prstDash val="solid"/>
          </a:ln>
        </p:spPr>
      </p:sp>
      <p:pic>
        <p:nvPicPr>
          <p:cNvPr id="29" name="Image 2">
            <a:extLst>
              <a:ext uri="{C183D7F6-B498-43B3-948B-1728B52AA6E4}">
                <adec:decorative xmlns:adec="http://schemas.microsoft.com/office/drawing/2017/decorative" val="1"/>
              </a:ext>
            </a:extLst>
          </p:cNvPr>
          <p:cNvPicPr>
            <a:picLocks noChangeAspect="1"/>
          </p:cNvPicPr>
          <p:nvPr/>
        </p:nvPicPr>
        <p:blipFill>
          <a:blip r:embed="rId7"/>
          <a:stretch>
            <a:fillRect/>
          </a:stretch>
        </p:blipFill>
        <p:spPr>
          <a:xfrm>
            <a:off x="952805" y="5181905"/>
            <a:ext cx="380390" cy="380390"/>
          </a:xfrm>
          <a:prstGeom prst="rect">
            <a:avLst/>
          </a:prstGeom>
        </p:spPr>
      </p:pic>
      <p:sp>
        <p:nvSpPr>
          <p:cNvPr id="30" name="SoD text"/>
          <p:cNvSpPr txBox="1"/>
          <p:nvPr/>
        </p:nvSpPr>
        <p:spPr>
          <a:xfrm>
            <a:off x="1737360" y="4846320"/>
            <a:ext cx="9738360" cy="1051560"/>
          </a:xfrm>
          <a:prstGeom prst="rect">
            <a:avLst/>
          </a:prstGeom>
          <a:noFill/>
          <a:ln/>
        </p:spPr>
        <p:txBody>
          <a:bodyPr wrap="square" lIns="0" tIns="0" rIns="0" bIns="0" rtlCol="0" anchor="ctr"/>
          <a:lstStyle/>
          <a:p>
            <a:pPr marL="0" indent="0">
              <a:buNone/>
            </a:pPr>
            <a:r>
              <a:rPr lang="en-US" sz="1650" b="1" dirty="0">
                <a:solidFill>
                  <a:srgbClr val="1F2A44"/>
                </a:solidFill>
              </a:rPr>
              <a:t>Separation of duties is AC-5: </a:t>
            </a:r>
            <a:r>
              <a:rPr lang="en-US" sz="1650" dirty="0">
                <a:solidFill>
                  <a:schemeClr val="tx2"/>
                </a:solidFill>
              </a:rPr>
              <a:t>the requester can't approve, and the approver sees the plan that will run. In HashiCorp's ServiceNow catalog 2.9, a rejected plan is discarded and nothing changes.</a:t>
            </a:r>
            <a:endParaRPr lang="en-US" sz="1650" dirty="0"/>
          </a:p>
        </p:txBody>
      </p:sp>
      <p:sp>
        <p:nvSpPr>
          <p:cNvPr id="31"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NIST SP 800-53 CM-3, CM-3(2), AC-5, CM-5, CM-8(1); Microsoft Learn — subscription vending; HashiCorp — ServiceNow Catalog for Terraform, sensitive data; FedRAMP Marketplace. Book 10, Chapter 07.</a:t>
            </a:r>
            <a:endParaRPr lang="en-US" sz="1000" dirty="0"/>
          </a:p>
        </p:txBody>
      </p:sp>
      <p:sp>
        <p:nvSpPr>
          <p:cNvPr id="32"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9</a:t>
            </a:fld>
            <a:endParaRPr lang="en-US"/>
          </a:p>
        </p:txBody>
      </p:sp>
      <p:pic>
        <p:nvPicPr>
          <p:cNvPr id="33" name="Narration" descr="Narration for this slide; captions available">
            <a:hlinkClick r:id="" action="ppaction://media"/>
            <a:extLst>
              <a:ext uri="{FF2B5EF4-FFF2-40B4-BE49-F238E27FC236}">
                <a16:creationId xmlns:a16="http://schemas.microsoft.com/office/drawing/2014/main" id="{514787E2-4B1F-7588-6FE5-E90CC4C12255}"/>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2E58F77D-8B51-4108-A509-DF810381EABE}" label="English (captions)" lang="en-US" r:embed="rId9"/>
                        </p173:trackLst>
                      </p173:tracksInfo>
                    </p:ext>
                  </p14:extLst>
                </p14:media>
              </p:ext>
            </p:extLst>
          </p:nvPr>
        </p:nvPicPr>
        <p:blipFill>
          <a:blip r:embed="rId8"/>
          <a:stretch>
            <a:fillRect/>
          </a:stretch>
        </p:blipFill>
        <p:spPr>
          <a:xfrm>
            <a:off x="127000" y="6350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58290"/>
    </mc:Choice>
    <mc:Fallback>
      <p:transition spd="slow" advTm="5829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54288" fill="hold"/>
                                        <p:tgtEl>
                                          <p:spTgt spid="33"/>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Who decides, who keeps the record, who does the work</a:t>
            </a:r>
            <a:endParaRPr lang="en-US" sz="3000" dirty="0"/>
          </a:p>
        </p:txBody>
      </p:sp>
      <p:sp>
        <p:nvSpPr>
          <p:cNvPr id="3" name="Tag Who">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0F766E"/>
          </a:solidFill>
          <a:ln w="12700">
            <a:solidFill>
              <a:srgbClr val="0F766E"/>
            </a:solidFill>
            <a:prstDash val="solid"/>
          </a:ln>
        </p:spPr>
      </p:sp>
      <p:sp>
        <p:nvSpPr>
          <p:cNvPr id="4" name="Tag Who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WHO</a:t>
            </a:r>
            <a:endParaRPr lang="en-US" sz="1100" dirty="0"/>
          </a:p>
        </p:txBody>
      </p:sp>
      <p:sp>
        <p:nvSpPr>
          <p:cNvPr id="5" name="Who col 1">
            <a:extLst>
              <a:ext uri="{C183D7F6-B498-43B3-948B-1728B52AA6E4}">
                <adec:decorative xmlns:adec="http://schemas.microsoft.com/office/drawing/2017/decorative" val="1"/>
              </a:ext>
            </a:extLst>
          </p:cNvPr>
          <p:cNvSpPr/>
          <p:nvPr/>
        </p:nvSpPr>
        <p:spPr>
          <a:xfrm>
            <a:off x="548640" y="1371600"/>
            <a:ext cx="3611880" cy="2514600"/>
          </a:xfrm>
          <a:prstGeom prst="roundRect">
            <a:avLst>
              <a:gd name="adj" fmla="val 2909"/>
            </a:avLst>
          </a:prstGeom>
          <a:solidFill>
            <a:srgbClr val="E4EAF4"/>
          </a:solidFill>
          <a:ln w="12700">
            <a:solidFill>
              <a:srgbClr val="E4EAF4"/>
            </a:solidFill>
            <a:prstDash val="solid"/>
          </a:ln>
          <a:effectLst>
            <a:outerShdw blurRad="76200" dist="25400" dir="5400000" algn="bl" rotWithShape="0">
              <a:srgbClr val="64748B">
                <a:alpha val="22000"/>
              </a:srgbClr>
            </a:outerShdw>
          </a:effectLst>
        </p:spPr>
      </p:sp>
      <p:sp>
        <p:nvSpPr>
          <p:cNvPr id="6" name="Icon FaBuildingColumns">
            <a:extLst>
              <a:ext uri="{C183D7F6-B498-43B3-948B-1728B52AA6E4}">
                <adec:decorative xmlns:adec="http://schemas.microsoft.com/office/drawing/2017/decorative" val="1"/>
              </a:ext>
            </a:extLst>
          </p:cNvPr>
          <p:cNvSpPr/>
          <p:nvPr/>
        </p:nvSpPr>
        <p:spPr>
          <a:xfrm>
            <a:off x="749808" y="1490472"/>
            <a:ext cx="512064" cy="512064"/>
          </a:xfrm>
          <a:prstGeom prst="ellipse">
            <a:avLst/>
          </a:prstGeom>
          <a:solidFill>
            <a:srgbClr val="1F2A44"/>
          </a:solidFill>
          <a:ln w="12700">
            <a:solidFill>
              <a:srgbClr val="1F2A44"/>
            </a:solidFill>
            <a:prstDash val="solid"/>
          </a:ln>
        </p:spPr>
      </p:sp>
      <p:pic>
        <p:nvPicPr>
          <p:cNvPr id="7" name="Image 0">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872703" y="1613367"/>
            <a:ext cx="266273" cy="266273"/>
          </a:xfrm>
          <a:prstGeom prst="rect">
            <a:avLst/>
          </a:prstGeom>
        </p:spPr>
      </p:pic>
      <p:sp>
        <p:nvSpPr>
          <p:cNvPr id="8" name="Who head 1"/>
          <p:cNvSpPr txBox="1"/>
          <p:nvPr/>
        </p:nvSpPr>
        <p:spPr>
          <a:xfrm>
            <a:off x="1417320" y="1490472"/>
            <a:ext cx="2651760" cy="512064"/>
          </a:xfrm>
          <a:prstGeom prst="rect">
            <a:avLst/>
          </a:prstGeom>
          <a:noFill/>
          <a:ln/>
        </p:spPr>
        <p:txBody>
          <a:bodyPr wrap="square" lIns="0" tIns="0" rIns="0" bIns="0" rtlCol="0" anchor="ctr"/>
          <a:lstStyle/>
          <a:p>
            <a:pPr marL="0" indent="0">
              <a:buNone/>
            </a:pPr>
            <a:r>
              <a:rPr lang="en-US" sz="1800" b="1" dirty="0">
                <a:solidFill>
                  <a:srgbClr val="1F2A44"/>
                </a:solidFill>
                <a:latin typeface="Cambria" pitchFamily="34" charset="0"/>
                <a:ea typeface="Cambria" pitchFamily="34" charset="-122"/>
                <a:cs typeface="Cambria" pitchFamily="34" charset="-120"/>
              </a:rPr>
              <a:t>Decide</a:t>
            </a:r>
            <a:endParaRPr lang="en-US" sz="1800" dirty="0"/>
          </a:p>
        </p:txBody>
      </p:sp>
      <p:sp>
        <p:nvSpPr>
          <p:cNvPr id="9" name="Who text 1"/>
          <p:cNvSpPr txBox="1"/>
          <p:nvPr/>
        </p:nvSpPr>
        <p:spPr>
          <a:xfrm>
            <a:off x="777240" y="2103120"/>
            <a:ext cx="3246120" cy="1737360"/>
          </a:xfrm>
          <a:prstGeom prst="rect">
            <a:avLst/>
          </a:prstGeom>
          <a:noFill/>
          <a:ln/>
        </p:spPr>
        <p:txBody>
          <a:bodyPr wrap="square" lIns="0" tIns="0" rIns="0" bIns="0" rtlCol="0" anchor="t"/>
          <a:lstStyle/>
          <a:p>
            <a:pPr marL="0" indent="0">
              <a:spcAft>
                <a:spcPts val="400"/>
              </a:spcAft>
              <a:buNone/>
            </a:pPr>
            <a:r>
              <a:rPr lang="en-US" sz="1300" b="1" dirty="0">
                <a:solidFill>
                  <a:srgbClr val="1F2A44"/>
                </a:solidFill>
              </a:rPr>
              <a:t>Authorizing official</a:t>
            </a:r>
            <a:endParaRPr lang="en-US" sz="1300" dirty="0"/>
          </a:p>
          <a:p>
            <a:pPr marL="0" indent="0">
              <a:spcAft>
                <a:spcPts val="400"/>
              </a:spcAft>
              <a:buNone/>
            </a:pPr>
            <a:r>
              <a:rPr lang="en-US" sz="1300" dirty="0">
                <a:solidFill>
                  <a:schemeClr val="tx2"/>
                </a:solidFill>
              </a:rPr>
              <a:t>The boundary; every exception; reauthorization</a:t>
            </a:r>
            <a:endParaRPr lang="en-US" sz="1300" dirty="0"/>
          </a:p>
          <a:p>
            <a:pPr marL="0" indent="0">
              <a:spcAft>
                <a:spcPts val="400"/>
              </a:spcAft>
              <a:buNone/>
            </a:pPr>
            <a:r>
              <a:rPr lang="en-US" sz="1300" b="1" dirty="0">
                <a:solidFill>
                  <a:srgbClr val="1F2A44"/>
                </a:solidFill>
              </a:rPr>
              <a:t>Sponsor and CIO</a:t>
            </a:r>
            <a:endParaRPr lang="en-US" sz="1300" dirty="0"/>
          </a:p>
          <a:p>
            <a:pPr marL="0" indent="0">
              <a:spcAft>
                <a:spcPts val="400"/>
              </a:spcAft>
              <a:buNone/>
            </a:pPr>
            <a:r>
              <a:rPr lang="en-US" sz="1300" dirty="0">
                <a:solidFill>
                  <a:schemeClr val="tx2"/>
                </a:solidFill>
              </a:rPr>
              <a:t>Which clouds, funding and sequence</a:t>
            </a:r>
            <a:endParaRPr lang="en-US" sz="1300" dirty="0"/>
          </a:p>
          <a:p>
            <a:pPr marL="0" indent="0">
              <a:spcAft>
                <a:spcPts val="400"/>
              </a:spcAft>
              <a:buNone/>
            </a:pPr>
            <a:r>
              <a:rPr lang="en-US" sz="1300" b="1" dirty="0">
                <a:solidFill>
                  <a:srgbClr val="1F2A44"/>
                </a:solidFill>
              </a:rPr>
              <a:t>CISO and ISSO</a:t>
            </a:r>
            <a:endParaRPr lang="en-US" sz="1300" dirty="0"/>
          </a:p>
          <a:p>
            <a:pPr marL="0" indent="0">
              <a:spcAft>
                <a:spcPts val="400"/>
              </a:spcAft>
              <a:buNone/>
            </a:pPr>
            <a:r>
              <a:rPr lang="en-US" sz="1300" dirty="0">
                <a:solidFill>
                  <a:schemeClr val="tx2"/>
                </a:solidFill>
              </a:rPr>
              <a:t>Control requirements; provider notices</a:t>
            </a:r>
            <a:endParaRPr lang="en-US" sz="1300" dirty="0"/>
          </a:p>
        </p:txBody>
      </p:sp>
      <p:sp>
        <p:nvSpPr>
          <p:cNvPr id="10" name="Who col 2">
            <a:extLst>
              <a:ext uri="{C183D7F6-B498-43B3-948B-1728B52AA6E4}">
                <adec:decorative xmlns:adec="http://schemas.microsoft.com/office/drawing/2017/decorative" val="1"/>
              </a:ext>
            </a:extLst>
          </p:cNvPr>
          <p:cNvSpPr/>
          <p:nvPr/>
        </p:nvSpPr>
        <p:spPr>
          <a:xfrm>
            <a:off x="4297680" y="1371600"/>
            <a:ext cx="3611880" cy="2514600"/>
          </a:xfrm>
          <a:prstGeom prst="roundRect">
            <a:avLst>
              <a:gd name="adj" fmla="val 2909"/>
            </a:avLst>
          </a:prstGeom>
          <a:solidFill>
            <a:srgbClr val="DCEFEC"/>
          </a:solidFill>
          <a:ln w="12700">
            <a:solidFill>
              <a:srgbClr val="DCEFEC"/>
            </a:solidFill>
            <a:prstDash val="solid"/>
          </a:ln>
          <a:effectLst>
            <a:outerShdw blurRad="76200" dist="25400" dir="5400000" algn="bl" rotWithShape="0">
              <a:srgbClr val="64748B">
                <a:alpha val="22000"/>
              </a:srgbClr>
            </a:outerShdw>
          </a:effectLst>
        </p:spPr>
      </p:sp>
      <p:sp>
        <p:nvSpPr>
          <p:cNvPr id="11" name="Icon FaClipboardCheck">
            <a:extLst>
              <a:ext uri="{C183D7F6-B498-43B3-948B-1728B52AA6E4}">
                <adec:decorative xmlns:adec="http://schemas.microsoft.com/office/drawing/2017/decorative" val="1"/>
              </a:ext>
            </a:extLst>
          </p:cNvPr>
          <p:cNvSpPr/>
          <p:nvPr/>
        </p:nvSpPr>
        <p:spPr>
          <a:xfrm>
            <a:off x="4498848" y="1490472"/>
            <a:ext cx="512064" cy="512064"/>
          </a:xfrm>
          <a:prstGeom prst="ellipse">
            <a:avLst/>
          </a:prstGeom>
          <a:solidFill>
            <a:srgbClr val="0F766E"/>
          </a:solidFill>
          <a:ln w="12700">
            <a:solidFill>
              <a:srgbClr val="0F766E"/>
            </a:solidFill>
            <a:prstDash val="solid"/>
          </a:ln>
        </p:spPr>
      </p:sp>
      <p:pic>
        <p:nvPicPr>
          <p:cNvPr id="12" name="Image 1">
            <a:extLst>
              <a:ext uri="{C183D7F6-B498-43B3-948B-1728B52AA6E4}">
                <adec:decorative xmlns:adec="http://schemas.microsoft.com/office/drawing/2017/decorative" val="1"/>
              </a:ext>
            </a:extLst>
          </p:cNvPr>
          <p:cNvPicPr>
            <a:picLocks noChangeAspect="1"/>
          </p:cNvPicPr>
          <p:nvPr/>
        </p:nvPicPr>
        <p:blipFill>
          <a:blip r:embed="rId6"/>
          <a:stretch>
            <a:fillRect/>
          </a:stretch>
        </p:blipFill>
        <p:spPr>
          <a:xfrm>
            <a:off x="4621743" y="1613367"/>
            <a:ext cx="266273" cy="266273"/>
          </a:xfrm>
          <a:prstGeom prst="rect">
            <a:avLst/>
          </a:prstGeom>
        </p:spPr>
      </p:pic>
      <p:sp>
        <p:nvSpPr>
          <p:cNvPr id="13" name="Who head 2"/>
          <p:cNvSpPr txBox="1"/>
          <p:nvPr/>
        </p:nvSpPr>
        <p:spPr>
          <a:xfrm>
            <a:off x="5166360" y="1490472"/>
            <a:ext cx="2651760" cy="512064"/>
          </a:xfrm>
          <a:prstGeom prst="rect">
            <a:avLst/>
          </a:prstGeom>
          <a:noFill/>
          <a:ln/>
        </p:spPr>
        <p:txBody>
          <a:bodyPr wrap="square" lIns="0" tIns="0" rIns="0" bIns="0" rtlCol="0" anchor="ctr"/>
          <a:lstStyle/>
          <a:p>
            <a:pPr marL="0" indent="0">
              <a:buNone/>
            </a:pPr>
            <a:r>
              <a:rPr lang="en-US" sz="1800" b="1" dirty="0">
                <a:solidFill>
                  <a:srgbClr val="0F766E"/>
                </a:solidFill>
                <a:latin typeface="Cambria" pitchFamily="34" charset="0"/>
                <a:ea typeface="Cambria" pitchFamily="34" charset="-122"/>
                <a:cs typeface="Cambria" pitchFamily="34" charset="-120"/>
              </a:rPr>
              <a:t>Keep the record</a:t>
            </a:r>
            <a:endParaRPr lang="en-US" sz="1800" dirty="0"/>
          </a:p>
        </p:txBody>
      </p:sp>
      <p:sp>
        <p:nvSpPr>
          <p:cNvPr id="14" name="Who text 2"/>
          <p:cNvSpPr txBox="1"/>
          <p:nvPr/>
        </p:nvSpPr>
        <p:spPr>
          <a:xfrm>
            <a:off x="4526280" y="2103120"/>
            <a:ext cx="3246120" cy="1737360"/>
          </a:xfrm>
          <a:prstGeom prst="rect">
            <a:avLst/>
          </a:prstGeom>
          <a:noFill/>
          <a:ln/>
        </p:spPr>
        <p:txBody>
          <a:bodyPr wrap="square" lIns="0" tIns="0" rIns="0" bIns="0" rtlCol="0" anchor="t"/>
          <a:lstStyle/>
          <a:p>
            <a:pPr marL="0" indent="0">
              <a:spcAft>
                <a:spcPts val="400"/>
              </a:spcAft>
              <a:buNone/>
            </a:pPr>
            <a:r>
              <a:rPr lang="en-US" sz="1300" b="1" dirty="0">
                <a:solidFill>
                  <a:srgbClr val="0F766E"/>
                </a:solidFill>
              </a:rPr>
              <a:t>System owner</a:t>
            </a:r>
            <a:endParaRPr lang="en-US" sz="1300" dirty="0"/>
          </a:p>
          <a:p>
            <a:pPr marL="0" indent="0">
              <a:spcAft>
                <a:spcPts val="400"/>
              </a:spcAft>
              <a:buNone/>
            </a:pPr>
            <a:r>
              <a:rPr lang="en-US" sz="1300" dirty="0">
                <a:solidFill>
                  <a:schemeClr val="tx2"/>
                </a:solidFill>
              </a:rPr>
              <a:t>Boundary record, package, placement</a:t>
            </a:r>
            <a:endParaRPr lang="en-US" sz="1300" dirty="0"/>
          </a:p>
          <a:p>
            <a:pPr marL="0" indent="0">
              <a:spcAft>
                <a:spcPts val="400"/>
              </a:spcAft>
              <a:buNone/>
            </a:pPr>
            <a:r>
              <a:rPr lang="en-US" sz="1300" b="1" dirty="0">
                <a:solidFill>
                  <a:srgbClr val="0F766E"/>
                </a:solidFill>
              </a:rPr>
              <a:t>Acquisition and CO</a:t>
            </a:r>
            <a:endParaRPr lang="en-US" sz="1300" dirty="0"/>
          </a:p>
          <a:p>
            <a:pPr marL="0" indent="0">
              <a:spcAft>
                <a:spcPts val="400"/>
              </a:spcAft>
              <a:buNone/>
            </a:pPr>
            <a:r>
              <a:rPr lang="en-US" sz="1300" dirty="0">
                <a:solidFill>
                  <a:schemeClr val="tx2"/>
                </a:solidFill>
              </a:rPr>
              <a:t>The contract and the GCC SKU</a:t>
            </a:r>
            <a:endParaRPr lang="en-US" sz="1300" dirty="0"/>
          </a:p>
          <a:p>
            <a:pPr marL="0" indent="0">
              <a:spcAft>
                <a:spcPts val="400"/>
              </a:spcAft>
              <a:buNone/>
            </a:pPr>
            <a:r>
              <a:rPr lang="en-US" sz="1300" b="1" dirty="0">
                <a:solidFill>
                  <a:srgbClr val="0F766E"/>
                </a:solidFill>
              </a:rPr>
              <a:t>FedRAMP</a:t>
            </a:r>
            <a:endParaRPr lang="en-US" sz="1300" dirty="0"/>
          </a:p>
          <a:p>
            <a:pPr marL="0" indent="0">
              <a:spcAft>
                <a:spcPts val="400"/>
              </a:spcAft>
              <a:buNone/>
            </a:pPr>
            <a:r>
              <a:rPr lang="en-US" sz="1300" dirty="0">
                <a:solidFill>
                  <a:schemeClr val="tx2"/>
                </a:solidFill>
              </a:rPr>
              <a:t>Consulted; receives the ATO letter</a:t>
            </a:r>
            <a:endParaRPr lang="en-US" sz="1300" dirty="0"/>
          </a:p>
        </p:txBody>
      </p:sp>
      <p:sp>
        <p:nvSpPr>
          <p:cNvPr id="15" name="Who col 3">
            <a:extLst>
              <a:ext uri="{C183D7F6-B498-43B3-948B-1728B52AA6E4}">
                <adec:decorative xmlns:adec="http://schemas.microsoft.com/office/drawing/2017/decorative" val="1"/>
              </a:ext>
            </a:extLst>
          </p:cNvPr>
          <p:cNvSpPr/>
          <p:nvPr/>
        </p:nvSpPr>
        <p:spPr>
          <a:xfrm>
            <a:off x="8046720" y="1371600"/>
            <a:ext cx="3611880" cy="2514600"/>
          </a:xfrm>
          <a:prstGeom prst="roundRect">
            <a:avLst>
              <a:gd name="adj" fmla="val 2909"/>
            </a:avLst>
          </a:prstGeom>
          <a:solidFill>
            <a:srgbClr val="FBEEDC"/>
          </a:solidFill>
          <a:ln w="12700">
            <a:solidFill>
              <a:srgbClr val="FBEEDC"/>
            </a:solidFill>
            <a:prstDash val="solid"/>
          </a:ln>
          <a:effectLst>
            <a:outerShdw blurRad="76200" dist="25400" dir="5400000" algn="bl" rotWithShape="0">
              <a:srgbClr val="64748B">
                <a:alpha val="22000"/>
              </a:srgbClr>
            </a:outerShdw>
          </a:effectLst>
        </p:spPr>
      </p:sp>
      <p:sp>
        <p:nvSpPr>
          <p:cNvPr id="16" name="Icon FaUsersGear">
            <a:extLst>
              <a:ext uri="{C183D7F6-B498-43B3-948B-1728B52AA6E4}">
                <adec:decorative xmlns:adec="http://schemas.microsoft.com/office/drawing/2017/decorative" val="1"/>
              </a:ext>
            </a:extLst>
          </p:cNvPr>
          <p:cNvSpPr/>
          <p:nvPr/>
        </p:nvSpPr>
        <p:spPr>
          <a:xfrm>
            <a:off x="8247888" y="1490472"/>
            <a:ext cx="512064" cy="512064"/>
          </a:xfrm>
          <a:prstGeom prst="ellipse">
            <a:avLst/>
          </a:prstGeom>
          <a:solidFill>
            <a:srgbClr val="B45309"/>
          </a:solidFill>
          <a:ln w="12700">
            <a:solidFill>
              <a:srgbClr val="B45309"/>
            </a:solidFill>
            <a:prstDash val="solid"/>
          </a:ln>
        </p:spPr>
      </p:sp>
      <p:pic>
        <p:nvPicPr>
          <p:cNvPr id="17" name="Image 2">
            <a:extLst>
              <a:ext uri="{C183D7F6-B498-43B3-948B-1728B52AA6E4}">
                <adec:decorative xmlns:adec="http://schemas.microsoft.com/office/drawing/2017/decorative" val="1"/>
              </a:ext>
            </a:extLst>
          </p:cNvPr>
          <p:cNvPicPr>
            <a:picLocks noChangeAspect="1"/>
          </p:cNvPicPr>
          <p:nvPr/>
        </p:nvPicPr>
        <p:blipFill>
          <a:blip r:embed="rId7"/>
          <a:stretch>
            <a:fillRect/>
          </a:stretch>
        </p:blipFill>
        <p:spPr>
          <a:xfrm>
            <a:off x="8370783" y="1613367"/>
            <a:ext cx="266273" cy="266273"/>
          </a:xfrm>
          <a:prstGeom prst="rect">
            <a:avLst/>
          </a:prstGeom>
        </p:spPr>
      </p:pic>
      <p:sp>
        <p:nvSpPr>
          <p:cNvPr id="18" name="Who head 3"/>
          <p:cNvSpPr txBox="1"/>
          <p:nvPr/>
        </p:nvSpPr>
        <p:spPr>
          <a:xfrm>
            <a:off x="8915400" y="1490472"/>
            <a:ext cx="2651760" cy="512064"/>
          </a:xfrm>
          <a:prstGeom prst="rect">
            <a:avLst/>
          </a:prstGeom>
          <a:noFill/>
          <a:ln/>
        </p:spPr>
        <p:txBody>
          <a:bodyPr wrap="square" lIns="0" tIns="0" rIns="0" bIns="0" rtlCol="0" anchor="ctr"/>
          <a:lstStyle/>
          <a:p>
            <a:pPr marL="0" indent="0">
              <a:buNone/>
            </a:pPr>
            <a:r>
              <a:rPr lang="en-US" sz="1800" b="1" dirty="0">
                <a:solidFill>
                  <a:srgbClr val="B45309"/>
                </a:solidFill>
                <a:latin typeface="Cambria" pitchFamily="34" charset="0"/>
                <a:ea typeface="Cambria" pitchFamily="34" charset="-122"/>
                <a:cs typeface="Cambria" pitchFamily="34" charset="-120"/>
              </a:rPr>
              <a:t>Do the work</a:t>
            </a:r>
            <a:endParaRPr lang="en-US" sz="1800" dirty="0"/>
          </a:p>
        </p:txBody>
      </p:sp>
      <p:sp>
        <p:nvSpPr>
          <p:cNvPr id="19" name="Who text 3"/>
          <p:cNvSpPr txBox="1"/>
          <p:nvPr/>
        </p:nvSpPr>
        <p:spPr>
          <a:xfrm>
            <a:off x="8275320" y="2103120"/>
            <a:ext cx="3246120" cy="1737360"/>
          </a:xfrm>
          <a:prstGeom prst="rect">
            <a:avLst/>
          </a:prstGeom>
          <a:noFill/>
          <a:ln/>
        </p:spPr>
        <p:txBody>
          <a:bodyPr wrap="square" lIns="0" tIns="0" rIns="0" bIns="0" rtlCol="0" anchor="t"/>
          <a:lstStyle/>
          <a:p>
            <a:pPr marL="0" indent="0">
              <a:spcAft>
                <a:spcPts val="400"/>
              </a:spcAft>
              <a:buNone/>
            </a:pPr>
            <a:r>
              <a:rPr lang="en-US" sz="1300" b="1" dirty="0">
                <a:solidFill>
                  <a:srgbClr val="B45309"/>
                </a:solidFill>
              </a:rPr>
              <a:t>Platform team</a:t>
            </a:r>
            <a:endParaRPr lang="en-US" sz="1300" dirty="0"/>
          </a:p>
          <a:p>
            <a:pPr marL="0" indent="0">
              <a:spcAft>
                <a:spcPts val="400"/>
              </a:spcAft>
              <a:buNone/>
            </a:pPr>
            <a:r>
              <a:rPr lang="en-US" sz="1300" dirty="0">
                <a:solidFill>
                  <a:schemeClr val="tx2"/>
                </a:solidFill>
              </a:rPr>
              <a:t>Hierarchy, policy, vending, probe</a:t>
            </a:r>
            <a:endParaRPr lang="en-US" sz="1300" dirty="0"/>
          </a:p>
          <a:p>
            <a:pPr marL="0" indent="0">
              <a:spcAft>
                <a:spcPts val="400"/>
              </a:spcAft>
              <a:buNone/>
            </a:pPr>
            <a:r>
              <a:rPr lang="en-US" sz="1300" b="1" dirty="0">
                <a:solidFill>
                  <a:srgbClr val="B45309"/>
                </a:solidFill>
              </a:rPr>
              <a:t>Workload owners</a:t>
            </a:r>
            <a:endParaRPr lang="en-US" sz="1300" dirty="0"/>
          </a:p>
          <a:p>
            <a:pPr marL="0" indent="0">
              <a:spcAft>
                <a:spcPts val="400"/>
              </a:spcAft>
              <a:buNone/>
            </a:pPr>
            <a:r>
              <a:rPr lang="en-US" sz="1300" dirty="0">
                <a:solidFill>
                  <a:schemeClr val="tx2"/>
                </a:solidFill>
              </a:rPr>
              <a:t>Feature dependencies; data class</a:t>
            </a:r>
            <a:endParaRPr lang="en-US" sz="1300" dirty="0"/>
          </a:p>
          <a:p>
            <a:pPr marL="0" indent="0">
              <a:spcAft>
                <a:spcPts val="400"/>
              </a:spcAft>
              <a:buNone/>
            </a:pPr>
            <a:r>
              <a:rPr lang="en-US" sz="1300" b="1" dirty="0">
                <a:solidFill>
                  <a:srgbClr val="B45309"/>
                </a:solidFill>
              </a:rPr>
              <a:t>Security operations</a:t>
            </a:r>
            <a:endParaRPr lang="en-US" sz="1300" dirty="0"/>
          </a:p>
          <a:p>
            <a:pPr marL="0" indent="0">
              <a:spcAft>
                <a:spcPts val="400"/>
              </a:spcAft>
              <a:buNone/>
            </a:pPr>
            <a:r>
              <a:rPr lang="en-US" sz="1300" dirty="0">
                <a:solidFill>
                  <a:schemeClr val="tx2"/>
                </a:solidFill>
              </a:rPr>
              <a:t>Drift findings; change notices</a:t>
            </a:r>
            <a:endParaRPr lang="en-US" sz="1300" dirty="0"/>
          </a:p>
        </p:txBody>
      </p:sp>
      <p:sp>
        <p:nvSpPr>
          <p:cNvPr id="20" name="Gates head"/>
          <p:cNvSpPr txBox="1"/>
          <p:nvPr/>
        </p:nvSpPr>
        <p:spPr>
          <a:xfrm>
            <a:off x="548640" y="4041648"/>
            <a:ext cx="10972800" cy="274320"/>
          </a:xfrm>
          <a:prstGeom prst="rect">
            <a:avLst/>
          </a:prstGeom>
          <a:noFill/>
          <a:ln/>
        </p:spPr>
        <p:txBody>
          <a:bodyPr wrap="square" lIns="0" tIns="0" rIns="0" bIns="0" rtlCol="0" anchor="t"/>
          <a:lstStyle/>
          <a:p>
            <a:pPr marL="0" indent="0">
              <a:buNone/>
            </a:pPr>
            <a:r>
              <a:rPr lang="en-US" sz="1200" b="1" dirty="0">
                <a:solidFill>
                  <a:srgbClr val="64748B"/>
                </a:solidFill>
              </a:rPr>
              <a:t>THREE DECISIONS THAT LOOK LIKE ENGINEERING</a:t>
            </a:r>
            <a:endParaRPr lang="en-US" sz="1200" dirty="0"/>
          </a:p>
        </p:txBody>
      </p:sp>
      <p:sp>
        <p:nvSpPr>
          <p:cNvPr id="21" name="Gate 1">
            <a:extLst>
              <a:ext uri="{C183D7F6-B498-43B3-948B-1728B52AA6E4}">
                <adec:decorative xmlns:adec="http://schemas.microsoft.com/office/drawing/2017/decorative" val="1"/>
              </a:ext>
            </a:extLst>
          </p:cNvPr>
          <p:cNvSpPr/>
          <p:nvPr/>
        </p:nvSpPr>
        <p:spPr>
          <a:xfrm>
            <a:off x="548640" y="4389120"/>
            <a:ext cx="3611880" cy="1463040"/>
          </a:xfrm>
          <a:prstGeom prst="roundRect">
            <a:avLst>
              <a:gd name="adj" fmla="val 5000"/>
            </a:avLst>
          </a:prstGeom>
          <a:solidFill>
            <a:srgbClr val="FFFFFF"/>
          </a:solidFill>
          <a:ln w="12700">
            <a:solidFill>
              <a:srgbClr val="0F766E"/>
            </a:solidFill>
            <a:prstDash val="solid"/>
          </a:ln>
          <a:effectLst>
            <a:outerShdw blurRad="76200" dist="25400" dir="5400000" algn="bl" rotWithShape="0">
              <a:srgbClr val="64748B">
                <a:alpha val="22000"/>
              </a:srgbClr>
            </a:outerShdw>
          </a:effectLst>
        </p:spPr>
      </p:sp>
      <p:sp>
        <p:nvSpPr>
          <p:cNvPr id="22" name="Gate 1 text"/>
          <p:cNvSpPr txBox="1"/>
          <p:nvPr/>
        </p:nvSpPr>
        <p:spPr>
          <a:xfrm>
            <a:off x="749808" y="4462272"/>
            <a:ext cx="3246120" cy="1316736"/>
          </a:xfrm>
          <a:prstGeom prst="rect">
            <a:avLst/>
          </a:prstGeom>
          <a:noFill/>
          <a:ln/>
        </p:spPr>
        <p:txBody>
          <a:bodyPr wrap="square" lIns="0" tIns="0" rIns="0" bIns="0" rtlCol="0" anchor="ctr"/>
          <a:lstStyle/>
          <a:p>
            <a:pPr marL="0" indent="0">
              <a:buNone/>
            </a:pPr>
            <a:r>
              <a:rPr lang="en-US" sz="1400" b="1" dirty="0">
                <a:solidFill>
                  <a:srgbClr val="0F766E"/>
                </a:solidFill>
              </a:rPr>
              <a:t>Placement — </a:t>
            </a:r>
            <a:r>
              <a:rPr lang="en-US" sz="1400" dirty="0">
                <a:solidFill>
                  <a:schemeClr val="tx2"/>
                </a:solidFill>
              </a:rPr>
              <a:t>the system owner decides; an unrecorded subscription makes an authorized system unauthorized</a:t>
            </a:r>
            <a:endParaRPr lang="en-US" sz="1400" dirty="0"/>
          </a:p>
        </p:txBody>
      </p:sp>
      <p:sp>
        <p:nvSpPr>
          <p:cNvPr id="23" name="Gate 2">
            <a:extLst>
              <a:ext uri="{C183D7F6-B498-43B3-948B-1728B52AA6E4}">
                <adec:decorative xmlns:adec="http://schemas.microsoft.com/office/drawing/2017/decorative" val="1"/>
              </a:ext>
            </a:extLst>
          </p:cNvPr>
          <p:cNvSpPr/>
          <p:nvPr/>
        </p:nvSpPr>
        <p:spPr>
          <a:xfrm>
            <a:off x="4297680" y="4389120"/>
            <a:ext cx="3611880" cy="1463040"/>
          </a:xfrm>
          <a:prstGeom prst="roundRect">
            <a:avLst>
              <a:gd name="adj" fmla="val 5000"/>
            </a:avLst>
          </a:prstGeom>
          <a:solidFill>
            <a:srgbClr val="FFFFFF"/>
          </a:solidFill>
          <a:ln w="12700">
            <a:solidFill>
              <a:srgbClr val="1F2A44"/>
            </a:solidFill>
            <a:prstDash val="solid"/>
          </a:ln>
          <a:effectLst>
            <a:outerShdw blurRad="76200" dist="25400" dir="5400000" algn="bl" rotWithShape="0">
              <a:srgbClr val="64748B">
                <a:alpha val="22000"/>
              </a:srgbClr>
            </a:outerShdw>
          </a:effectLst>
        </p:spPr>
      </p:sp>
      <p:sp>
        <p:nvSpPr>
          <p:cNvPr id="24" name="Gate 2 text"/>
          <p:cNvSpPr txBox="1"/>
          <p:nvPr/>
        </p:nvSpPr>
        <p:spPr>
          <a:xfrm>
            <a:off x="4498848" y="4462272"/>
            <a:ext cx="3246120" cy="1316736"/>
          </a:xfrm>
          <a:prstGeom prst="rect">
            <a:avLst/>
          </a:prstGeom>
          <a:noFill/>
          <a:ln/>
        </p:spPr>
        <p:txBody>
          <a:bodyPr wrap="square" lIns="0" tIns="0" rIns="0" bIns="0" rtlCol="0" anchor="ctr"/>
          <a:lstStyle/>
          <a:p>
            <a:pPr marL="0" indent="0">
              <a:buNone/>
            </a:pPr>
            <a:r>
              <a:rPr lang="en-US" sz="1400" b="1" dirty="0">
                <a:solidFill>
                  <a:srgbClr val="1F2A44"/>
                </a:solidFill>
              </a:rPr>
              <a:t>Risk acceptance — </a:t>
            </a:r>
            <a:r>
              <a:rPr lang="en-US" sz="1400" dirty="0">
                <a:solidFill>
                  <a:schemeClr val="tx2"/>
                </a:solidFill>
              </a:rPr>
              <a:t>the authorizing official only; it can't be delegated, and the role is for government personnel</a:t>
            </a:r>
            <a:endParaRPr lang="en-US" sz="1400" dirty="0"/>
          </a:p>
        </p:txBody>
      </p:sp>
      <p:sp>
        <p:nvSpPr>
          <p:cNvPr id="25" name="Gate 3">
            <a:extLst>
              <a:ext uri="{C183D7F6-B498-43B3-948B-1728B52AA6E4}">
                <adec:decorative xmlns:adec="http://schemas.microsoft.com/office/drawing/2017/decorative" val="1"/>
              </a:ext>
            </a:extLst>
          </p:cNvPr>
          <p:cNvSpPr/>
          <p:nvPr/>
        </p:nvSpPr>
        <p:spPr>
          <a:xfrm>
            <a:off x="8046720" y="4389120"/>
            <a:ext cx="3611880" cy="1463040"/>
          </a:xfrm>
          <a:prstGeom prst="roundRect">
            <a:avLst>
              <a:gd name="adj" fmla="val 5000"/>
            </a:avLst>
          </a:prstGeom>
          <a:solidFill>
            <a:srgbClr val="FFFFFF"/>
          </a:solidFill>
          <a:ln w="12700">
            <a:solidFill>
              <a:srgbClr val="B91C1C"/>
            </a:solidFill>
            <a:prstDash val="solid"/>
          </a:ln>
          <a:effectLst>
            <a:outerShdw blurRad="76200" dist="25400" dir="5400000" algn="bl" rotWithShape="0">
              <a:srgbClr val="64748B">
                <a:alpha val="22000"/>
              </a:srgbClr>
            </a:outerShdw>
          </a:effectLst>
        </p:spPr>
      </p:sp>
      <p:sp>
        <p:nvSpPr>
          <p:cNvPr id="26" name="Gate 3 text"/>
          <p:cNvSpPr txBox="1"/>
          <p:nvPr/>
        </p:nvSpPr>
        <p:spPr>
          <a:xfrm>
            <a:off x="8247888" y="4462272"/>
            <a:ext cx="3246120" cy="1316736"/>
          </a:xfrm>
          <a:prstGeom prst="rect">
            <a:avLst/>
          </a:prstGeom>
          <a:noFill/>
          <a:ln/>
        </p:spPr>
        <p:txBody>
          <a:bodyPr wrap="square" lIns="0" tIns="0" rIns="0" bIns="0" rtlCol="0" anchor="ctr"/>
          <a:lstStyle/>
          <a:p>
            <a:pPr marL="0" indent="0">
              <a:buNone/>
            </a:pPr>
            <a:r>
              <a:rPr lang="en-US" sz="1400" b="1" dirty="0">
                <a:solidFill>
                  <a:srgbClr val="B91C1C"/>
                </a:solidFill>
              </a:rPr>
              <a:t>The contract — </a:t>
            </a:r>
            <a:r>
              <a:rPr lang="en-US" sz="1400" dirty="0">
                <a:solidFill>
                  <a:schemeClr val="tx2"/>
                </a:solidFill>
              </a:rPr>
              <a:t>the contracting officer; customers must buy a GCC SKU to be covered by the GCC authorization</a:t>
            </a:r>
            <a:endParaRPr lang="en-US" sz="1400" dirty="0"/>
          </a:p>
        </p:txBody>
      </p:sp>
      <p:sp>
        <p:nvSpPr>
          <p:cNvPr id="27"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NIST SP 800-37 Rev. 2; SP 800-53 SA-4; FedRAMP Consolidated Rules for 2026 — Agency Use, agency responsibilities; Microsoft Learn — shared responsibility; FAR 1.602-1; FedRAMP Marketplace. Book 10, Chapter 08.</a:t>
            </a:r>
            <a:endParaRPr lang="en-US" sz="1000" dirty="0"/>
          </a:p>
        </p:txBody>
      </p:sp>
      <p:sp>
        <p:nvSpPr>
          <p:cNvPr id="28"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10</a:t>
            </a:fld>
            <a:endParaRPr lang="en-US"/>
          </a:p>
        </p:txBody>
      </p:sp>
      <p:pic>
        <p:nvPicPr>
          <p:cNvPr id="29" name="Narration" descr="Narration for this slide; captions available">
            <a:hlinkClick r:id="" action="ppaction://media"/>
            <a:extLst>
              <a:ext uri="{FF2B5EF4-FFF2-40B4-BE49-F238E27FC236}">
                <a16:creationId xmlns:a16="http://schemas.microsoft.com/office/drawing/2014/main" id="{BA795E28-BD02-C7D7-745F-429BEA04616F}"/>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DEEA287D-002F-48C2-8042-FB745ED7FADD}" label="English (captions)" lang="en-US" r:embed="rId9"/>
                        </p173:trackLst>
                      </p173:tracksInfo>
                    </p:ext>
                  </p14:extLst>
                </p14:media>
              </p:ext>
            </p:extLst>
          </p:nvPr>
        </p:nvPicPr>
        <p:blipFill>
          <a:blip r:embed="rId8"/>
          <a:stretch>
            <a:fillRect/>
          </a:stretch>
        </p:blipFill>
        <p:spPr>
          <a:xfrm>
            <a:off x="127000" y="6350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57210"/>
    </mc:Choice>
    <mc:Fallback>
      <p:transition spd="slow" advTm="5721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53208" fill="hold"/>
                                        <p:tgtEl>
                                          <p:spTgt spid="29"/>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Inventory, probe, then compensate or except</a:t>
            </a:r>
            <a:endParaRPr lang="en-US" sz="3000" dirty="0"/>
          </a:p>
        </p:txBody>
      </p:sp>
      <p:sp>
        <p:nvSpPr>
          <p:cNvPr id="3" name="Tag How">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HOW</a:t>
            </a:r>
            <a:endParaRPr lang="en-US" sz="1100" dirty="0"/>
          </a:p>
        </p:txBody>
      </p:sp>
      <p:sp>
        <p:nvSpPr>
          <p:cNvPr id="5" name="Play head"/>
          <p:cNvSpPr txBox="1"/>
          <p:nvPr/>
        </p:nvSpPr>
        <p:spPr>
          <a:xfrm>
            <a:off x="548640" y="1417320"/>
            <a:ext cx="5669280" cy="274320"/>
          </a:xfrm>
          <a:prstGeom prst="rect">
            <a:avLst/>
          </a:prstGeom>
          <a:noFill/>
          <a:ln/>
        </p:spPr>
        <p:txBody>
          <a:bodyPr wrap="square" lIns="0" tIns="0" rIns="0" bIns="0" rtlCol="0" anchor="t"/>
          <a:lstStyle/>
          <a:p>
            <a:pPr marL="0" indent="0">
              <a:buNone/>
            </a:pPr>
            <a:r>
              <a:rPr lang="en-US" sz="1200" b="1" dirty="0">
                <a:solidFill>
                  <a:srgbClr val="64748B"/>
                </a:solidFill>
              </a:rPr>
              <a:t>THE PLAYBOOK, ONE ROW AT A TIME</a:t>
            </a:r>
            <a:endParaRPr lang="en-US" sz="1200" dirty="0"/>
          </a:p>
        </p:txBody>
      </p:sp>
      <p:sp>
        <p:nvSpPr>
          <p:cNvPr id="6" name="Play 0">
            <a:extLst>
              <a:ext uri="{C183D7F6-B498-43B3-948B-1728B52AA6E4}">
                <adec:decorative xmlns:adec="http://schemas.microsoft.com/office/drawing/2017/decorative" val="1"/>
              </a:ext>
            </a:extLst>
          </p:cNvPr>
          <p:cNvSpPr/>
          <p:nvPr/>
        </p:nvSpPr>
        <p:spPr>
          <a:xfrm>
            <a:off x="548640" y="1755648"/>
            <a:ext cx="5669280" cy="493776"/>
          </a:xfrm>
          <a:prstGeom prst="roundRect">
            <a:avLst>
              <a:gd name="adj" fmla="val 14815"/>
            </a:avLst>
          </a:prstGeom>
          <a:solidFill>
            <a:srgbClr val="E9EEF4"/>
          </a:solidFill>
          <a:ln w="12700">
            <a:solidFill>
              <a:srgbClr val="E9EEF4"/>
            </a:solidFill>
            <a:prstDash val="solid"/>
          </a:ln>
          <a:effectLst>
            <a:outerShdw blurRad="76200" dist="25400" dir="5400000" algn="bl" rotWithShape="0">
              <a:srgbClr val="64748B">
                <a:alpha val="22000"/>
              </a:srgbClr>
            </a:outerShdw>
          </a:effectLst>
        </p:spPr>
      </p:sp>
      <p:sp>
        <p:nvSpPr>
          <p:cNvPr id="7" name="Play 0 text"/>
          <p:cNvSpPr txBox="1"/>
          <p:nvPr/>
        </p:nvSpPr>
        <p:spPr>
          <a:xfrm>
            <a:off x="731520" y="1755648"/>
            <a:ext cx="5394960" cy="493776"/>
          </a:xfrm>
          <a:prstGeom prst="rect">
            <a:avLst/>
          </a:prstGeom>
          <a:noFill/>
          <a:ln/>
        </p:spPr>
        <p:txBody>
          <a:bodyPr wrap="square" lIns="0" tIns="0" rIns="0" bIns="0" rtlCol="0" anchor="ctr"/>
          <a:lstStyle/>
          <a:p>
            <a:pPr marL="0" indent="0">
              <a:buNone/>
            </a:pPr>
            <a:r>
              <a:rPr lang="en-US" sz="1400" b="1" dirty="0">
                <a:solidFill>
                  <a:srgbClr val="1F2A44"/>
                </a:solidFill>
              </a:rPr>
              <a:t>Register   </a:t>
            </a:r>
            <a:r>
              <a:rPr lang="en-US" sz="1400" dirty="0">
                <a:solidFill>
                  <a:schemeClr val="tx2"/>
                </a:solidFill>
              </a:rPr>
              <a:t>One feature per row, with the provider's statement</a:t>
            </a:r>
            <a:endParaRPr lang="en-US" sz="1400" dirty="0"/>
          </a:p>
        </p:txBody>
      </p:sp>
      <p:sp>
        <p:nvSpPr>
          <p:cNvPr id="8" name="Play 1">
            <a:extLst>
              <a:ext uri="{C183D7F6-B498-43B3-948B-1728B52AA6E4}">
                <adec:decorative xmlns:adec="http://schemas.microsoft.com/office/drawing/2017/decorative" val="1"/>
              </a:ext>
            </a:extLst>
          </p:cNvPr>
          <p:cNvSpPr/>
          <p:nvPr/>
        </p:nvSpPr>
        <p:spPr>
          <a:xfrm>
            <a:off x="548640" y="2322576"/>
            <a:ext cx="5669280" cy="493776"/>
          </a:xfrm>
          <a:prstGeom prst="roundRect">
            <a:avLst>
              <a:gd name="adj" fmla="val 14815"/>
            </a:avLst>
          </a:prstGeom>
          <a:solidFill>
            <a:srgbClr val="E4EAF4"/>
          </a:solidFill>
          <a:ln w="12700">
            <a:solidFill>
              <a:srgbClr val="E4EAF4"/>
            </a:solidFill>
            <a:prstDash val="solid"/>
          </a:ln>
          <a:effectLst>
            <a:outerShdw blurRad="76200" dist="25400" dir="5400000" algn="bl" rotWithShape="0">
              <a:srgbClr val="64748B">
                <a:alpha val="22000"/>
              </a:srgbClr>
            </a:outerShdw>
          </a:effectLst>
        </p:spPr>
      </p:sp>
      <p:sp>
        <p:nvSpPr>
          <p:cNvPr id="9" name="Play 1 text"/>
          <p:cNvSpPr txBox="1"/>
          <p:nvPr/>
        </p:nvSpPr>
        <p:spPr>
          <a:xfrm>
            <a:off x="731520" y="2322576"/>
            <a:ext cx="5394960" cy="493776"/>
          </a:xfrm>
          <a:prstGeom prst="rect">
            <a:avLst/>
          </a:prstGeom>
          <a:noFill/>
          <a:ln/>
        </p:spPr>
        <p:txBody>
          <a:bodyPr wrap="square" lIns="0" tIns="0" rIns="0" bIns="0" rtlCol="0" anchor="ctr"/>
          <a:lstStyle/>
          <a:p>
            <a:pPr marL="0" indent="0">
              <a:buNone/>
            </a:pPr>
            <a:r>
              <a:rPr lang="en-US" sz="1400" b="1" dirty="0">
                <a:solidFill>
                  <a:srgbClr val="1F2A44"/>
                </a:solidFill>
              </a:rPr>
              <a:t>Probe   </a:t>
            </a:r>
            <a:r>
              <a:rPr lang="en-US" sz="1400" dirty="0">
                <a:solidFill>
                  <a:schemeClr val="tx2"/>
                </a:solidFill>
              </a:rPr>
              <a:t>Test the output, not the switch, on a schedule</a:t>
            </a:r>
            <a:endParaRPr lang="en-US" sz="1400" dirty="0"/>
          </a:p>
        </p:txBody>
      </p:sp>
      <p:sp>
        <p:nvSpPr>
          <p:cNvPr id="10" name="Play 2">
            <a:extLst>
              <a:ext uri="{C183D7F6-B498-43B3-948B-1728B52AA6E4}">
                <adec:decorative xmlns:adec="http://schemas.microsoft.com/office/drawing/2017/decorative" val="1"/>
              </a:ext>
            </a:extLst>
          </p:cNvPr>
          <p:cNvSpPr/>
          <p:nvPr/>
        </p:nvSpPr>
        <p:spPr>
          <a:xfrm>
            <a:off x="548640" y="2889504"/>
            <a:ext cx="5669280" cy="493776"/>
          </a:xfrm>
          <a:prstGeom prst="roundRect">
            <a:avLst>
              <a:gd name="adj" fmla="val 14815"/>
            </a:avLst>
          </a:prstGeom>
          <a:solidFill>
            <a:srgbClr val="E9EEF4"/>
          </a:solidFill>
          <a:ln w="12700">
            <a:solidFill>
              <a:srgbClr val="E9EEF4"/>
            </a:solidFill>
            <a:prstDash val="solid"/>
          </a:ln>
          <a:effectLst>
            <a:outerShdw blurRad="76200" dist="25400" dir="5400000" algn="bl" rotWithShape="0">
              <a:srgbClr val="64748B">
                <a:alpha val="22000"/>
              </a:srgbClr>
            </a:outerShdw>
          </a:effectLst>
        </p:spPr>
      </p:sp>
      <p:sp>
        <p:nvSpPr>
          <p:cNvPr id="11" name="Play 2 text"/>
          <p:cNvSpPr txBox="1"/>
          <p:nvPr/>
        </p:nvSpPr>
        <p:spPr>
          <a:xfrm>
            <a:off x="731520" y="2889504"/>
            <a:ext cx="5394960" cy="493776"/>
          </a:xfrm>
          <a:prstGeom prst="rect">
            <a:avLst/>
          </a:prstGeom>
          <a:noFill/>
          <a:ln/>
        </p:spPr>
        <p:txBody>
          <a:bodyPr wrap="square" lIns="0" tIns="0" rIns="0" bIns="0" rtlCol="0" anchor="ctr"/>
          <a:lstStyle/>
          <a:p>
            <a:pPr marL="0" indent="0">
              <a:buNone/>
            </a:pPr>
            <a:r>
              <a:rPr lang="en-US" sz="1400" b="1" dirty="0">
                <a:solidFill>
                  <a:srgbClr val="1F2A44"/>
                </a:solidFill>
              </a:rPr>
              <a:t>Equivalent   </a:t>
            </a:r>
            <a:r>
              <a:rPr lang="en-US" sz="1400" dirty="0">
                <a:solidFill>
                  <a:schemeClr val="tx2"/>
                </a:solidFill>
              </a:rPr>
              <a:t>Compensate inside the boundary; say it's derived</a:t>
            </a:r>
            <a:endParaRPr lang="en-US" sz="1400" dirty="0"/>
          </a:p>
        </p:txBody>
      </p:sp>
      <p:sp>
        <p:nvSpPr>
          <p:cNvPr id="12" name="Play 3">
            <a:extLst>
              <a:ext uri="{C183D7F6-B498-43B3-948B-1728B52AA6E4}">
                <adec:decorative xmlns:adec="http://schemas.microsoft.com/office/drawing/2017/decorative" val="1"/>
              </a:ext>
            </a:extLst>
          </p:cNvPr>
          <p:cNvSpPr/>
          <p:nvPr/>
        </p:nvSpPr>
        <p:spPr>
          <a:xfrm>
            <a:off x="548640" y="3456432"/>
            <a:ext cx="5669280" cy="493776"/>
          </a:xfrm>
          <a:prstGeom prst="roundRect">
            <a:avLst>
              <a:gd name="adj" fmla="val 14815"/>
            </a:avLst>
          </a:prstGeom>
          <a:solidFill>
            <a:srgbClr val="E4EAF4"/>
          </a:solidFill>
          <a:ln w="12700">
            <a:solidFill>
              <a:srgbClr val="E4EAF4"/>
            </a:solidFill>
            <a:prstDash val="solid"/>
          </a:ln>
          <a:effectLst>
            <a:outerShdw blurRad="76200" dist="25400" dir="5400000" algn="bl" rotWithShape="0">
              <a:srgbClr val="64748B">
                <a:alpha val="22000"/>
              </a:srgbClr>
            </a:outerShdw>
          </a:effectLst>
        </p:spPr>
      </p:sp>
      <p:sp>
        <p:nvSpPr>
          <p:cNvPr id="13" name="Play 3 text"/>
          <p:cNvSpPr txBox="1"/>
          <p:nvPr/>
        </p:nvSpPr>
        <p:spPr>
          <a:xfrm>
            <a:off x="731520" y="3456432"/>
            <a:ext cx="5394960" cy="493776"/>
          </a:xfrm>
          <a:prstGeom prst="rect">
            <a:avLst/>
          </a:prstGeom>
          <a:noFill/>
          <a:ln/>
        </p:spPr>
        <p:txBody>
          <a:bodyPr wrap="square" lIns="0" tIns="0" rIns="0" bIns="0" rtlCol="0" anchor="ctr"/>
          <a:lstStyle/>
          <a:p>
            <a:pPr marL="0" indent="0">
              <a:buNone/>
            </a:pPr>
            <a:r>
              <a:rPr lang="en-US" sz="1400" b="1" dirty="0">
                <a:solidFill>
                  <a:srgbClr val="1F2A44"/>
                </a:solidFill>
              </a:rPr>
              <a:t>Exception   </a:t>
            </a:r>
            <a:r>
              <a:rPr lang="en-US" sz="1400" dirty="0">
                <a:solidFill>
                  <a:schemeClr val="tx2"/>
                </a:solidFill>
              </a:rPr>
              <a:t>A provider path, or a dated AO risk acceptance</a:t>
            </a:r>
            <a:endParaRPr lang="en-US" sz="1400" dirty="0"/>
          </a:p>
        </p:txBody>
      </p:sp>
      <p:sp>
        <p:nvSpPr>
          <p:cNvPr id="14" name="Play 4">
            <a:extLst>
              <a:ext uri="{C183D7F6-B498-43B3-948B-1728B52AA6E4}">
                <adec:decorative xmlns:adec="http://schemas.microsoft.com/office/drawing/2017/decorative" val="1"/>
              </a:ext>
            </a:extLst>
          </p:cNvPr>
          <p:cNvSpPr/>
          <p:nvPr/>
        </p:nvSpPr>
        <p:spPr>
          <a:xfrm>
            <a:off x="548640" y="4023360"/>
            <a:ext cx="5669280" cy="493776"/>
          </a:xfrm>
          <a:prstGeom prst="roundRect">
            <a:avLst>
              <a:gd name="adj" fmla="val 14815"/>
            </a:avLst>
          </a:prstGeom>
          <a:solidFill>
            <a:srgbClr val="E9EEF4"/>
          </a:solidFill>
          <a:ln w="12700">
            <a:solidFill>
              <a:srgbClr val="E9EEF4"/>
            </a:solidFill>
            <a:prstDash val="solid"/>
          </a:ln>
          <a:effectLst>
            <a:outerShdw blurRad="76200" dist="25400" dir="5400000" algn="bl" rotWithShape="0">
              <a:srgbClr val="64748B">
                <a:alpha val="22000"/>
              </a:srgbClr>
            </a:outerShdw>
          </a:effectLst>
        </p:spPr>
      </p:sp>
      <p:sp>
        <p:nvSpPr>
          <p:cNvPr id="15" name="Play 4 text"/>
          <p:cNvSpPr txBox="1"/>
          <p:nvPr/>
        </p:nvSpPr>
        <p:spPr>
          <a:xfrm>
            <a:off x="731520" y="4023360"/>
            <a:ext cx="5394960" cy="493776"/>
          </a:xfrm>
          <a:prstGeom prst="rect">
            <a:avLst/>
          </a:prstGeom>
          <a:noFill/>
          <a:ln/>
        </p:spPr>
        <p:txBody>
          <a:bodyPr wrap="square" lIns="0" tIns="0" rIns="0" bIns="0" rtlCol="0" anchor="ctr"/>
          <a:lstStyle/>
          <a:p>
            <a:pPr marL="0" indent="0">
              <a:buNone/>
            </a:pPr>
            <a:r>
              <a:rPr lang="en-US" sz="1400" b="1" dirty="0">
                <a:solidFill>
                  <a:srgbClr val="1F2A44"/>
                </a:solidFill>
              </a:rPr>
              <a:t>Alternative   </a:t>
            </a:r>
            <a:r>
              <a:rPr lang="en-US" sz="1400" dirty="0">
                <a:solidFill>
                  <a:schemeClr val="tx2"/>
                </a:solidFill>
              </a:rPr>
              <a:t>A different service or path (Chapter 10)</a:t>
            </a:r>
            <a:endParaRPr lang="en-US" sz="1400" dirty="0"/>
          </a:p>
        </p:txBody>
      </p:sp>
      <p:sp>
        <p:nvSpPr>
          <p:cNvPr id="16" name="Scope box">
            <a:extLst>
              <a:ext uri="{C183D7F6-B498-43B3-948B-1728B52AA6E4}">
                <adec:decorative xmlns:adec="http://schemas.microsoft.com/office/drawing/2017/decorative" val="1"/>
              </a:ext>
            </a:extLst>
          </p:cNvPr>
          <p:cNvSpPr/>
          <p:nvPr/>
        </p:nvSpPr>
        <p:spPr>
          <a:xfrm>
            <a:off x="6492240" y="1417320"/>
            <a:ext cx="5166360" cy="3337560"/>
          </a:xfrm>
          <a:prstGeom prst="roundRect">
            <a:avLst>
              <a:gd name="adj" fmla="val 2192"/>
            </a:avLst>
          </a:prstGeom>
          <a:solidFill>
            <a:srgbClr val="FBEEDC"/>
          </a:solidFill>
          <a:ln w="12700">
            <a:solidFill>
              <a:srgbClr val="FBEEDC"/>
            </a:solidFill>
            <a:prstDash val="solid"/>
          </a:ln>
          <a:effectLst>
            <a:outerShdw blurRad="76200" dist="25400" dir="5400000" algn="bl" rotWithShape="0">
              <a:srgbClr val="64748B">
                <a:alpha val="22000"/>
              </a:srgbClr>
            </a:outerShdw>
          </a:effectLst>
        </p:spPr>
      </p:sp>
      <p:sp>
        <p:nvSpPr>
          <p:cNvPr id="17" name="Icon FaScaleBalanced">
            <a:extLst>
              <a:ext uri="{C183D7F6-B498-43B3-948B-1728B52AA6E4}">
                <adec:decorative xmlns:adec="http://schemas.microsoft.com/office/drawing/2017/decorative" val="1"/>
              </a:ext>
            </a:extLst>
          </p:cNvPr>
          <p:cNvSpPr/>
          <p:nvPr/>
        </p:nvSpPr>
        <p:spPr>
          <a:xfrm>
            <a:off x="6720840" y="1600200"/>
            <a:ext cx="658368" cy="658368"/>
          </a:xfrm>
          <a:prstGeom prst="ellipse">
            <a:avLst/>
          </a:prstGeom>
          <a:solidFill>
            <a:srgbClr val="B45309"/>
          </a:solidFill>
          <a:ln w="12700">
            <a:solidFill>
              <a:srgbClr val="B45309"/>
            </a:solidFill>
            <a:prstDash val="solid"/>
          </a:ln>
        </p:spPr>
      </p:sp>
      <p:pic>
        <p:nvPicPr>
          <p:cNvPr id="18" name="Image 0">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6878848" y="1758208"/>
            <a:ext cx="342351" cy="342351"/>
          </a:xfrm>
          <a:prstGeom prst="rect">
            <a:avLst/>
          </a:prstGeom>
        </p:spPr>
      </p:pic>
      <p:sp>
        <p:nvSpPr>
          <p:cNvPr id="19" name="Scope head"/>
          <p:cNvSpPr txBox="1"/>
          <p:nvPr/>
        </p:nvSpPr>
        <p:spPr>
          <a:xfrm>
            <a:off x="7543800" y="1572768"/>
            <a:ext cx="4023360" cy="822960"/>
          </a:xfrm>
          <a:prstGeom prst="rect">
            <a:avLst/>
          </a:prstGeom>
          <a:noFill/>
          <a:ln/>
        </p:spPr>
        <p:txBody>
          <a:bodyPr wrap="square" lIns="0" tIns="0" rIns="0" bIns="0" rtlCol="0" anchor="ctr"/>
          <a:lstStyle/>
          <a:p>
            <a:pPr marL="0" indent="0">
              <a:buNone/>
            </a:pPr>
            <a:r>
              <a:rPr lang="en-US" sz="1200" b="1" dirty="0">
                <a:solidFill>
                  <a:srgbClr val="64748B"/>
                </a:solidFill>
              </a:rPr>
              <a:t>WHAT THE 2026 RULES ALLOW</a:t>
            </a:r>
            <a:endParaRPr lang="en-US" sz="1400" dirty="0"/>
          </a:p>
          <a:p>
            <a:pPr marL="0" indent="0">
              <a:buNone/>
            </a:pPr>
            <a:r>
              <a:rPr lang="en-US" sz="1800" b="1" dirty="0">
                <a:solidFill>
                  <a:srgbClr val="B45309"/>
                </a:solidFill>
                <a:latin typeface="Cambria" pitchFamily="34" charset="0"/>
                <a:ea typeface="Cambria" pitchFamily="34" charset="-122"/>
                <a:cs typeface="Cambria" pitchFamily="34" charset="-120"/>
              </a:rPr>
              <a:t>Four scope arguments, four limits</a:t>
            </a:r>
            <a:endParaRPr lang="en-US" sz="1400" dirty="0"/>
          </a:p>
        </p:txBody>
      </p:sp>
      <p:sp>
        <p:nvSpPr>
          <p:cNvPr id="20" name="Scope list"/>
          <p:cNvSpPr txBox="1"/>
          <p:nvPr/>
        </p:nvSpPr>
        <p:spPr>
          <a:xfrm>
            <a:off x="6720840" y="2514600"/>
            <a:ext cx="4800600" cy="219456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tx2"/>
                </a:solidFill>
              </a:rPr>
              <a:t>Category varies by resource: it binds the provider</a:t>
            </a:r>
            <a:endParaRPr lang="en-US" sz="1400" dirty="0"/>
          </a:p>
          <a:p>
            <a:pPr marL="342900" indent="-342900">
              <a:spcAft>
                <a:spcPts val="600"/>
              </a:spcAft>
              <a:buSzPct val="100000"/>
              <a:buChar char="•"/>
            </a:pPr>
            <a:r>
              <a:rPr lang="en-US" sz="1400" dirty="0">
                <a:solidFill>
                  <a:schemeClr val="tx2"/>
                </a:solidFill>
              </a:rPr>
              <a:t>Agents are outside FedRAMP: still in your ATO</a:t>
            </a:r>
            <a:endParaRPr lang="en-US" sz="1400" dirty="0"/>
          </a:p>
          <a:p>
            <a:pPr marL="342900" indent="-342900">
              <a:spcAft>
                <a:spcPts val="600"/>
              </a:spcAft>
              <a:buSzPct val="100000"/>
              <a:buChar char="•"/>
            </a:pPr>
            <a:r>
              <a:rPr lang="en-US" sz="1400" dirty="0">
                <a:solidFill>
                  <a:schemeClr val="tx2"/>
                </a:solidFill>
              </a:rPr>
              <a:t>Routine changes go unnotified: you still review</a:t>
            </a:r>
            <a:endParaRPr lang="en-US" sz="1400" dirty="0"/>
          </a:p>
          <a:p>
            <a:pPr marL="342900" indent="-342900">
              <a:spcAft>
                <a:spcPts val="600"/>
              </a:spcAft>
              <a:buSzPct val="100000"/>
              <a:buChar char="•"/>
            </a:pPr>
            <a:r>
              <a:rPr lang="en-US" sz="1400" dirty="0">
                <a:solidFill>
                  <a:schemeClr val="tx2"/>
                </a:solidFill>
              </a:rPr>
              <a:t>Asking beyond FedRAMP needs the agency head</a:t>
            </a:r>
            <a:endParaRPr lang="en-US" sz="1400" dirty="0"/>
          </a:p>
        </p:txBody>
      </p:sp>
      <p:sp>
        <p:nvSpPr>
          <p:cNvPr id="21" name="Badge">
            <a:extLst>
              <a:ext uri="{C183D7F6-B498-43B3-948B-1728B52AA6E4}">
                <adec:decorative xmlns:adec="http://schemas.microsoft.com/office/drawing/2017/decorative" val="1"/>
              </a:ext>
            </a:extLst>
          </p:cNvPr>
          <p:cNvSpPr/>
          <p:nvPr/>
        </p:nvSpPr>
        <p:spPr>
          <a:xfrm>
            <a:off x="548640" y="4892040"/>
            <a:ext cx="11109960" cy="1051560"/>
          </a:xfrm>
          <a:prstGeom prst="roundRect">
            <a:avLst>
              <a:gd name="adj" fmla="val 6957"/>
            </a:avLst>
          </a:prstGeom>
          <a:solidFill>
            <a:srgbClr val="FFFFFF"/>
          </a:solidFill>
          <a:ln w="12700">
            <a:solidFill>
              <a:srgbClr val="B91C1C"/>
            </a:solidFill>
            <a:prstDash val="solid"/>
          </a:ln>
          <a:effectLst>
            <a:outerShdw blurRad="76200" dist="25400" dir="5400000" algn="bl" rotWithShape="0">
              <a:srgbClr val="64748B">
                <a:alpha val="22000"/>
              </a:srgbClr>
            </a:outerShdw>
          </a:effectLst>
        </p:spPr>
      </p:sp>
      <p:sp>
        <p:nvSpPr>
          <p:cNvPr id="22" name="Icon FaListCheck">
            <a:extLst>
              <a:ext uri="{C183D7F6-B498-43B3-948B-1728B52AA6E4}">
                <adec:decorative xmlns:adec="http://schemas.microsoft.com/office/drawing/2017/decorative" val="1"/>
              </a:ext>
            </a:extLst>
          </p:cNvPr>
          <p:cNvSpPr/>
          <p:nvPr/>
        </p:nvSpPr>
        <p:spPr>
          <a:xfrm>
            <a:off x="777240" y="5052060"/>
            <a:ext cx="731520" cy="731520"/>
          </a:xfrm>
          <a:prstGeom prst="ellipse">
            <a:avLst/>
          </a:prstGeom>
          <a:solidFill>
            <a:srgbClr val="B91C1C"/>
          </a:solidFill>
          <a:ln w="12700">
            <a:solidFill>
              <a:srgbClr val="B91C1C"/>
            </a:solidFill>
            <a:prstDash val="solid"/>
          </a:ln>
        </p:spPr>
      </p:sp>
      <p:pic>
        <p:nvPicPr>
          <p:cNvPr id="23" name="Image 1">
            <a:extLst>
              <a:ext uri="{C183D7F6-B498-43B3-948B-1728B52AA6E4}">
                <adec:decorative xmlns:adec="http://schemas.microsoft.com/office/drawing/2017/decorative" val="1"/>
              </a:ext>
            </a:extLst>
          </p:cNvPr>
          <p:cNvPicPr>
            <a:picLocks noChangeAspect="1"/>
          </p:cNvPicPr>
          <p:nvPr/>
        </p:nvPicPr>
        <p:blipFill>
          <a:blip r:embed="rId6"/>
          <a:stretch>
            <a:fillRect/>
          </a:stretch>
        </p:blipFill>
        <p:spPr>
          <a:xfrm>
            <a:off x="952805" y="5227625"/>
            <a:ext cx="380390" cy="380390"/>
          </a:xfrm>
          <a:prstGeom prst="rect">
            <a:avLst/>
          </a:prstGeom>
        </p:spPr>
      </p:pic>
      <p:sp>
        <p:nvSpPr>
          <p:cNvPr id="24" name="Badge text"/>
          <p:cNvSpPr txBox="1"/>
          <p:nvPr/>
        </p:nvSpPr>
        <p:spPr>
          <a:xfrm>
            <a:off x="1737360" y="4937760"/>
            <a:ext cx="9738360" cy="960120"/>
          </a:xfrm>
          <a:prstGeom prst="rect">
            <a:avLst/>
          </a:prstGeom>
          <a:noFill/>
          <a:ln/>
        </p:spPr>
        <p:txBody>
          <a:bodyPr wrap="square" lIns="0" tIns="0" rIns="0" bIns="0" rtlCol="0" anchor="ctr"/>
          <a:lstStyle/>
          <a:p>
            <a:pPr marL="0" indent="0">
              <a:buNone/>
            </a:pPr>
            <a:r>
              <a:rPr lang="en-US" sz="1650" b="1" dirty="0">
                <a:solidFill>
                  <a:srgbClr val="B91C1C"/>
                </a:solidFill>
              </a:rPr>
              <a:t>Buy the capability, not the badge: </a:t>
            </a:r>
            <a:r>
              <a:rPr lang="en-US" sz="1650" dirty="0">
                <a:solidFill>
                  <a:schemeClr val="tx2"/>
                </a:solidFill>
              </a:rPr>
              <a:t>ExpressRoute for Microsoft 365 needs a regulation that mandates it, and the book found no FedRAMP or FISMA rule that does. The Network Provider Program is closed to new providers.</a:t>
            </a:r>
            <a:endParaRPr lang="en-US" sz="1650" dirty="0"/>
          </a:p>
        </p:txBody>
      </p:sp>
      <p:sp>
        <p:nvSpPr>
          <p:cNvPr id="25"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NIST SP 800-37 Rev. 2, SP 800-53 CA-5; FedRAMP Consolidated Rules for 2026 — MAS, SCN, Agency Use; Microsoft Learn — ExpressRoute for Microsoft 365, network connectivity test tool, Network Provider Program. Book 10, Chapter 09.</a:t>
            </a:r>
            <a:endParaRPr lang="en-US" sz="1000" dirty="0"/>
          </a:p>
        </p:txBody>
      </p:sp>
      <p:sp>
        <p:nvSpPr>
          <p:cNvPr id="26"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11</a:t>
            </a:fld>
            <a:endParaRPr lang="en-US"/>
          </a:p>
        </p:txBody>
      </p:sp>
      <p:pic>
        <p:nvPicPr>
          <p:cNvPr id="27" name="Narration" descr="Narration for this slide; captions available">
            <a:hlinkClick r:id="" action="ppaction://media"/>
            <a:extLst>
              <a:ext uri="{FF2B5EF4-FFF2-40B4-BE49-F238E27FC236}">
                <a16:creationId xmlns:a16="http://schemas.microsoft.com/office/drawing/2014/main" id="{EC64D79C-A25D-8225-8380-8823C0A0622D}"/>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7F227EB7-4063-4C63-AE8A-8E47E9B3C848}" label="English (captions)" lang="en-US" r:embed="rId8"/>
                        </p173:trackLst>
                      </p173:tracksInfo>
                    </p:ext>
                  </p14:extLst>
                </p14:media>
              </p:ext>
            </p:extLst>
          </p:nvPr>
        </p:nvPicPr>
        <p:blipFill>
          <a:blip r:embed="rId7"/>
          <a:stretch>
            <a:fillRect/>
          </a:stretch>
        </p:blipFill>
        <p:spPr>
          <a:xfrm>
            <a:off x="127000" y="6350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52220"/>
    </mc:Choice>
    <mc:Fallback>
      <p:transition spd="slow" advTm="5222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48216" fill="hold"/>
                                        <p:tgtEl>
                                          <p:spTgt spid="27"/>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Change the suite, keep the identity plane</a:t>
            </a:r>
            <a:endParaRPr lang="en-US" sz="3000" dirty="0"/>
          </a:p>
        </p:txBody>
      </p:sp>
      <p:sp>
        <p:nvSpPr>
          <p:cNvPr id="3" name="Tag How">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HOW</a:t>
            </a:r>
            <a:endParaRPr lang="en-US" sz="11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548640" y="1417320"/>
          <a:ext cx="9144000" cy="914400"/>
        </p:xfrm>
        <a:graphic>
          <a:graphicData uri="http://schemas.openxmlformats.org/drawingml/2006/table">
            <a:tbl>
              <a:tblPr firstRow="1" bandRow="1"/>
              <a:tblGrid>
                <a:gridCol w="3566160">
                  <a:extLst>
                    <a:ext uri="{9D8B030D-6E8A-4147-A177-3AD203B41FA5}">
                      <a16:colId xmlns:a16="http://schemas.microsoft.com/office/drawing/2014/main" val="20000"/>
                    </a:ext>
                  </a:extLst>
                </a:gridCol>
                <a:gridCol w="2286000">
                  <a:extLst>
                    <a:ext uri="{9D8B030D-6E8A-4147-A177-3AD203B41FA5}">
                      <a16:colId xmlns:a16="http://schemas.microsoft.com/office/drawing/2014/main" val="20001"/>
                    </a:ext>
                  </a:extLst>
                </a:gridCol>
              </a:tblGrid>
              <a:tr h="384048">
                <a:tc>
                  <a:txBody>
                    <a:bodyPr/>
                    <a:lstStyle/>
                    <a:p>
                      <a:pPr marL="0" indent="0">
                        <a:buNone/>
                      </a:pPr>
                      <a:r>
                        <a:rPr lang="en-US" sz="1250" b="1" dirty="0">
                          <a:solidFill>
                            <a:srgbClr val="FFFFFF"/>
                          </a:solidFill>
                          <a:latin typeface="Calibri" pitchFamily="34" charset="0"/>
                          <a:ea typeface="Calibri" pitchFamily="34" charset="-122"/>
                          <a:cs typeface="Calibri" pitchFamily="34" charset="-120"/>
                        </a:rPr>
                        <a:t>FedRAMP Certified listing</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250" b="1" dirty="0">
                          <a:solidFill>
                            <a:srgbClr val="FFFFFF"/>
                          </a:solidFill>
                          <a:latin typeface="Calibri" pitchFamily="34" charset="0"/>
                          <a:ea typeface="Calibri" pitchFamily="34" charset="-122"/>
                          <a:cs typeface="Calibri" pitchFamily="34" charset="-120"/>
                        </a:rPr>
                        <a:t>Class (impact level)</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384048">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Microsoft 365 GCC (MSO365MT)</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Class C (Moderate)</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84048">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Google Workspace</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Class D (High)</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384048">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Gemini for Government</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Class B (Low)</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84048">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Zoom for Government</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Class C (Moderate)</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384048">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Webex for Government</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Class C (Moderate)</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384048">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GovSlack</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Class D (High)</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r h="384048">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Box Enterprise Cloud</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Class D (High)</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bl>
          </a:graphicData>
        </a:graphic>
      </p:graphicFrame>
      <p:sp>
        <p:nvSpPr>
          <p:cNvPr id="6" name="Identity box">
            <a:extLst>
              <a:ext uri="{C183D7F6-B498-43B3-948B-1728B52AA6E4}">
                <adec:decorative xmlns:adec="http://schemas.microsoft.com/office/drawing/2017/decorative" val="1"/>
              </a:ext>
            </a:extLst>
          </p:cNvPr>
          <p:cNvSpPr/>
          <p:nvPr/>
        </p:nvSpPr>
        <p:spPr>
          <a:xfrm>
            <a:off x="6492240" y="1417320"/>
            <a:ext cx="5166360" cy="3337560"/>
          </a:xfrm>
          <a:prstGeom prst="roundRect">
            <a:avLst>
              <a:gd name="adj" fmla="val 2192"/>
            </a:avLst>
          </a:prstGeom>
          <a:solidFill>
            <a:srgbClr val="DCEFEC"/>
          </a:solidFill>
          <a:ln w="12700">
            <a:solidFill>
              <a:srgbClr val="DCEFEC"/>
            </a:solidFill>
            <a:prstDash val="solid"/>
          </a:ln>
          <a:effectLst>
            <a:outerShdw blurRad="76200" dist="25400" dir="5400000" algn="bl" rotWithShape="0">
              <a:srgbClr val="64748B">
                <a:alpha val="22000"/>
              </a:srgbClr>
            </a:outerShdw>
          </a:effectLst>
        </p:spPr>
      </p:sp>
      <p:sp>
        <p:nvSpPr>
          <p:cNvPr id="7" name="Icon FaIdCard">
            <a:extLst>
              <a:ext uri="{C183D7F6-B498-43B3-948B-1728B52AA6E4}">
                <adec:decorative xmlns:adec="http://schemas.microsoft.com/office/drawing/2017/decorative" val="1"/>
              </a:ext>
            </a:extLst>
          </p:cNvPr>
          <p:cNvSpPr/>
          <p:nvPr/>
        </p:nvSpPr>
        <p:spPr>
          <a:xfrm>
            <a:off x="6720840" y="1600200"/>
            <a:ext cx="658368" cy="658368"/>
          </a:xfrm>
          <a:prstGeom prst="ellipse">
            <a:avLst/>
          </a:prstGeom>
          <a:solidFill>
            <a:srgbClr val="0F766E"/>
          </a:solidFill>
          <a:ln w="12700">
            <a:solidFill>
              <a:srgbClr val="0F766E"/>
            </a:solidFill>
            <a:prstDash val="solid"/>
          </a:ln>
        </p:spPr>
      </p:sp>
      <p:pic>
        <p:nvPicPr>
          <p:cNvPr id="8" name="Image 0">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6878848" y="1758208"/>
            <a:ext cx="342351" cy="342351"/>
          </a:xfrm>
          <a:prstGeom prst="rect">
            <a:avLst/>
          </a:prstGeom>
        </p:spPr>
      </p:pic>
      <p:sp>
        <p:nvSpPr>
          <p:cNvPr id="9" name="Identity head"/>
          <p:cNvSpPr txBox="1"/>
          <p:nvPr/>
        </p:nvSpPr>
        <p:spPr>
          <a:xfrm>
            <a:off x="7543800" y="1572768"/>
            <a:ext cx="4023360" cy="822960"/>
          </a:xfrm>
          <a:prstGeom prst="rect">
            <a:avLst/>
          </a:prstGeom>
          <a:noFill/>
          <a:ln/>
        </p:spPr>
        <p:txBody>
          <a:bodyPr wrap="square" lIns="0" tIns="0" rIns="0" bIns="0" rtlCol="0" anchor="ctr"/>
          <a:lstStyle/>
          <a:p>
            <a:pPr marL="0" indent="0">
              <a:buNone/>
            </a:pPr>
            <a:r>
              <a:rPr lang="en-US" sz="1200" b="1" dirty="0">
                <a:solidFill>
                  <a:srgbClr val="64748B"/>
                </a:solidFill>
              </a:rPr>
              <a:t>KEEP THE IDENTITY PLANE</a:t>
            </a:r>
            <a:endParaRPr lang="en-US" sz="1400" dirty="0"/>
          </a:p>
          <a:p>
            <a:pPr marL="0" indent="0">
              <a:buNone/>
            </a:pPr>
            <a:r>
              <a:rPr lang="en-US" sz="1800" b="1" dirty="0">
                <a:solidFill>
                  <a:srgbClr val="0F766E"/>
                </a:solidFill>
                <a:latin typeface="Cambria" pitchFamily="34" charset="0"/>
                <a:ea typeface="Cambria" pitchFamily="34" charset="-122"/>
                <a:cs typeface="Cambria" pitchFamily="34" charset="-120"/>
              </a:rPr>
              <a:t>Entra ID stays the source</a:t>
            </a:r>
            <a:endParaRPr lang="en-US" sz="1400" dirty="0"/>
          </a:p>
        </p:txBody>
      </p:sp>
      <p:sp>
        <p:nvSpPr>
          <p:cNvPr id="10" name="Identity list"/>
          <p:cNvSpPr txBox="1"/>
          <p:nvPr/>
        </p:nvSpPr>
        <p:spPr>
          <a:xfrm>
            <a:off x="6720840" y="2514600"/>
            <a:ext cx="4800600" cy="219456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tx2"/>
                </a:solidFill>
              </a:rPr>
              <a:t>Provision users and groups into the suite</a:t>
            </a:r>
            <a:endParaRPr lang="en-US" sz="1400" dirty="0"/>
          </a:p>
          <a:p>
            <a:pPr marL="342900" indent="-342900">
              <a:spcAft>
                <a:spcPts val="600"/>
              </a:spcAft>
              <a:buSzPct val="100000"/>
              <a:buChar char="•"/>
            </a:pPr>
            <a:r>
              <a:rPr lang="en-US" sz="1400" dirty="0">
                <a:solidFill>
                  <a:schemeClr val="tx2"/>
                </a:solidFill>
              </a:rPr>
              <a:t>Federate sign-in; Conditional Access applies there</a:t>
            </a:r>
            <a:endParaRPr lang="en-US" sz="1400" dirty="0"/>
          </a:p>
          <a:p>
            <a:pPr marL="342900" indent="-342900">
              <a:spcAft>
                <a:spcPts val="600"/>
              </a:spcAft>
              <a:buSzPct val="100000"/>
              <a:buChar char="•"/>
            </a:pPr>
            <a:r>
              <a:rPr lang="en-US" sz="1400" dirty="0">
                <a:solidFill>
                  <a:schemeClr val="tx2"/>
                </a:solidFill>
              </a:rPr>
              <a:t>Google super administrators sign in outside it</a:t>
            </a:r>
            <a:endParaRPr lang="en-US" sz="1400" dirty="0"/>
          </a:p>
          <a:p>
            <a:pPr marL="342900" indent="-342900">
              <a:spcAft>
                <a:spcPts val="600"/>
              </a:spcAft>
              <a:buSzPct val="100000"/>
              <a:buChar char="•"/>
            </a:pPr>
            <a:r>
              <a:rPr lang="en-US" sz="1400" dirty="0">
                <a:solidFill>
                  <a:schemeClr val="tx2"/>
                </a:solidFill>
              </a:rPr>
              <a:t>The suite's directory is derived: report drift</a:t>
            </a:r>
            <a:endParaRPr lang="en-US" sz="1400" dirty="0"/>
          </a:p>
        </p:txBody>
      </p:sp>
      <p:sp>
        <p:nvSpPr>
          <p:cNvPr id="11" name="Record">
            <a:extLst>
              <a:ext uri="{C183D7F6-B498-43B3-948B-1728B52AA6E4}">
                <adec:decorative xmlns:adec="http://schemas.microsoft.com/office/drawing/2017/decorative" val="1"/>
              </a:ext>
            </a:extLst>
          </p:cNvPr>
          <p:cNvSpPr/>
          <p:nvPr/>
        </p:nvSpPr>
        <p:spPr>
          <a:xfrm>
            <a:off x="548640" y="4892040"/>
            <a:ext cx="11109960" cy="1051560"/>
          </a:xfrm>
          <a:prstGeom prst="roundRect">
            <a:avLst>
              <a:gd name="adj" fmla="val 6957"/>
            </a:avLst>
          </a:prstGeom>
          <a:solidFill>
            <a:srgbClr val="FFFFFF"/>
          </a:solidFill>
          <a:ln w="12700">
            <a:solidFill>
              <a:srgbClr val="1F2A44"/>
            </a:solidFill>
            <a:prstDash val="solid"/>
          </a:ln>
          <a:effectLst>
            <a:outerShdw blurRad="76200" dist="25400" dir="5400000" algn="bl" rotWithShape="0">
              <a:srgbClr val="64748B">
                <a:alpha val="22000"/>
              </a:srgbClr>
            </a:outerShdw>
          </a:effectLst>
        </p:spPr>
      </p:sp>
      <p:sp>
        <p:nvSpPr>
          <p:cNvPr id="12" name="Icon FaPeopleArrows">
            <a:extLst>
              <a:ext uri="{C183D7F6-B498-43B3-948B-1728B52AA6E4}">
                <adec:decorative xmlns:adec="http://schemas.microsoft.com/office/drawing/2017/decorative" val="1"/>
              </a:ext>
            </a:extLst>
          </p:cNvPr>
          <p:cNvSpPr/>
          <p:nvPr/>
        </p:nvSpPr>
        <p:spPr>
          <a:xfrm>
            <a:off x="777240" y="5052060"/>
            <a:ext cx="731520" cy="731520"/>
          </a:xfrm>
          <a:prstGeom prst="ellipse">
            <a:avLst/>
          </a:prstGeom>
          <a:solidFill>
            <a:srgbClr val="1F2A44"/>
          </a:solidFill>
          <a:ln w="12700">
            <a:solidFill>
              <a:srgbClr val="1F2A44"/>
            </a:solidFill>
            <a:prstDash val="solid"/>
          </a:ln>
        </p:spPr>
      </p:sp>
      <p:pic>
        <p:nvPicPr>
          <p:cNvPr id="5" name="Image 1">
            <a:extLst>
              <a:ext uri="{C183D7F6-B498-43B3-948B-1728B52AA6E4}">
                <adec:decorative xmlns:adec="http://schemas.microsoft.com/office/drawing/2017/decorative" val="1"/>
              </a:ext>
            </a:extLst>
          </p:cNvPr>
          <p:cNvPicPr>
            <a:picLocks noChangeAspect="1"/>
          </p:cNvPicPr>
          <p:nvPr/>
        </p:nvPicPr>
        <p:blipFill>
          <a:blip r:embed="rId6"/>
          <a:stretch>
            <a:fillRect/>
          </a:stretch>
        </p:blipFill>
        <p:spPr>
          <a:xfrm>
            <a:off x="952805" y="5227625"/>
            <a:ext cx="380390" cy="380390"/>
          </a:xfrm>
          <a:prstGeom prst="rect">
            <a:avLst/>
          </a:prstGeom>
        </p:spPr>
      </p:pic>
      <p:sp>
        <p:nvSpPr>
          <p:cNvPr id="14" name="Record text"/>
          <p:cNvSpPr txBox="1"/>
          <p:nvPr/>
        </p:nvSpPr>
        <p:spPr>
          <a:xfrm>
            <a:off x="1737360" y="4937760"/>
            <a:ext cx="9738360" cy="960120"/>
          </a:xfrm>
          <a:prstGeom prst="rect">
            <a:avLst/>
          </a:prstGeom>
          <a:noFill/>
          <a:ln/>
        </p:spPr>
        <p:txBody>
          <a:bodyPr wrap="square" lIns="0" tIns="0" rIns="0" bIns="0" rtlCol="0" anchor="ctr"/>
          <a:lstStyle/>
          <a:p>
            <a:pPr marL="0" indent="0">
              <a:buNone/>
            </a:pPr>
            <a:r>
              <a:rPr lang="en-US" sz="1650" b="1" dirty="0">
                <a:solidFill>
                  <a:srgbClr val="1F2A44"/>
                </a:solidFill>
              </a:rPr>
              <a:t>The public record runs both ways: </a:t>
            </a:r>
            <a:r>
              <a:rPr lang="en-US" sz="1650" dirty="0">
                <a:solidFill>
                  <a:schemeClr val="tx2"/>
                </a:solidFill>
              </a:rPr>
              <a:t>a department's five-year deal of up to $89 million moved 50,000-plus staff to Google Workspace; a military department ended about 150,000 licenses at about 16% use.</a:t>
            </a:r>
            <a:endParaRPr lang="en-US" sz="1650" dirty="0"/>
          </a:p>
        </p:txBody>
      </p:sp>
      <p:sp>
        <p:nvSpPr>
          <p:cNvPr id="15"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FedRAMP Marketplace (October 21, 2026); Microsoft Learn — Google Workspace provisioning and SSO, Conditional Access targets; Google Workspace Admin Help; GSA (April 2025); Nextgov/FCW; Stars and Stripes. Book 10, Chapter 10.</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12</a:t>
            </a:fld>
            <a:endParaRPr lang="en-US"/>
          </a:p>
        </p:txBody>
      </p:sp>
      <p:pic>
        <p:nvPicPr>
          <p:cNvPr id="16" name="Narration" descr="Narration for this slide; captions available">
            <a:hlinkClick r:id="" action="ppaction://media"/>
            <a:extLst>
              <a:ext uri="{FF2B5EF4-FFF2-40B4-BE49-F238E27FC236}">
                <a16:creationId xmlns:a16="http://schemas.microsoft.com/office/drawing/2014/main" id="{83522185-48E5-8C69-5299-3316DDD8BCF2}"/>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47303A51-9487-4C5D-B683-7DD69B23A5B1}" label="English (captions)" lang="en-US" r:embed="rId8"/>
                        </p173:trackLst>
                      </p173:tracksInfo>
                    </p:ext>
                  </p14:extLst>
                </p14:media>
              </p:ext>
            </p:extLst>
          </p:nvPr>
        </p:nvPicPr>
        <p:blipFill>
          <a:blip r:embed="rId7"/>
          <a:stretch>
            <a:fillRect/>
          </a:stretch>
        </p:blipFill>
        <p:spPr>
          <a:xfrm>
            <a:off x="127000" y="6350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56250"/>
    </mc:Choice>
    <mc:Fallback>
      <p:transition spd="slow" advTm="5625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52248" fill="hold"/>
                                        <p:tgtEl>
                                          <p:spTgt spid="16"/>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Write the boundary once; cite it everywhere</a:t>
            </a:r>
            <a:endParaRPr lang="en-US" sz="3000" dirty="0"/>
          </a:p>
        </p:txBody>
      </p:sp>
      <p:sp>
        <p:nvSpPr>
          <p:cNvPr id="3" name="Tag How">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HOW</a:t>
            </a:r>
            <a:endParaRPr lang="en-US" sz="110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548640" y="1417320"/>
          <a:ext cx="9144000" cy="914400"/>
        </p:xfrm>
        <a:graphic>
          <a:graphicData uri="http://schemas.openxmlformats.org/drawingml/2006/table">
            <a:tbl>
              <a:tblPr firstRow="1" bandRow="1"/>
              <a:tblGrid>
                <a:gridCol w="2103120">
                  <a:extLst>
                    <a:ext uri="{9D8B030D-6E8A-4147-A177-3AD203B41FA5}">
                      <a16:colId xmlns:a16="http://schemas.microsoft.com/office/drawing/2014/main" val="20000"/>
                    </a:ext>
                  </a:extLst>
                </a:gridCol>
                <a:gridCol w="3063240">
                  <a:extLst>
                    <a:ext uri="{9D8B030D-6E8A-4147-A177-3AD203B41FA5}">
                      <a16:colId xmlns:a16="http://schemas.microsoft.com/office/drawing/2014/main" val="20001"/>
                    </a:ext>
                  </a:extLst>
                </a:gridCol>
                <a:gridCol w="1143000">
                  <a:extLst>
                    <a:ext uri="{9D8B030D-6E8A-4147-A177-3AD203B41FA5}">
                      <a16:colId xmlns:a16="http://schemas.microsoft.com/office/drawing/2014/main" val="20002"/>
                    </a:ext>
                  </a:extLst>
                </a:gridCol>
              </a:tblGrid>
              <a:tr h="384048">
                <a:tc>
                  <a:txBody>
                    <a:bodyPr/>
                    <a:lstStyle/>
                    <a:p>
                      <a:pPr marL="0" indent="0">
                        <a:buNone/>
                      </a:pPr>
                      <a:r>
                        <a:rPr lang="en-US" sz="1250" b="1" dirty="0">
                          <a:solidFill>
                            <a:srgbClr val="FFFFFF"/>
                          </a:solidFill>
                          <a:latin typeface="Calibri" pitchFamily="34" charset="0"/>
                          <a:ea typeface="Calibri" pitchFamily="34" charset="-122"/>
                          <a:cs typeface="Calibri" pitchFamily="34" charset="-120"/>
                        </a:rPr>
                        <a:t>Package artifact</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250" b="1" dirty="0">
                          <a:solidFill>
                            <a:srgbClr val="FFFFFF"/>
                          </a:solidFill>
                          <a:latin typeface="Calibri" pitchFamily="34" charset="0"/>
                          <a:ea typeface="Calibri" pitchFamily="34" charset="-122"/>
                          <a:cs typeface="Calibri" pitchFamily="34" charset="-120"/>
                        </a:rPr>
                        <a:t>What the boundary record adds</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250" b="1" dirty="0">
                          <a:solidFill>
                            <a:srgbClr val="FFFFFF"/>
                          </a:solidFill>
                          <a:latin typeface="Calibri" pitchFamily="34" charset="0"/>
                          <a:ea typeface="Calibri" pitchFamily="34" charset="-122"/>
                          <a:cs typeface="Calibri" pitchFamily="34" charset="-120"/>
                        </a:rPr>
                        <a:t>Basis</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475488">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SSP: the boundary</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Components, environment, connections</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b="1" dirty="0">
                          <a:solidFill>
                            <a:srgbClr val="334155"/>
                          </a:solidFill>
                          <a:latin typeface="Calibri" pitchFamily="34" charset="0"/>
                          <a:ea typeface="Calibri" pitchFamily="34" charset="-122"/>
                          <a:cs typeface="Calibri" pitchFamily="34" charset="-120"/>
                        </a:rPr>
                        <a:t>P-11, PL-2</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75488">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SSP: external services</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Package, class, SKU, oversight roles</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b="1" dirty="0">
                          <a:solidFill>
                            <a:srgbClr val="334155"/>
                          </a:solidFill>
                          <a:latin typeface="Calibri" pitchFamily="34" charset="0"/>
                          <a:ea typeface="Calibri" pitchFamily="34" charset="-122"/>
                          <a:cs typeface="Calibri" pitchFamily="34" charset="-120"/>
                        </a:rPr>
                        <a:t>SA-9</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475488">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SSP: exchanges</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Each crossing, with an agreement</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b="1" dirty="0">
                          <a:solidFill>
                            <a:srgbClr val="334155"/>
                          </a:solidFill>
                          <a:latin typeface="Calibri" pitchFamily="34" charset="0"/>
                          <a:ea typeface="Calibri" pitchFamily="34" charset="-122"/>
                          <a:cs typeface="Calibri" pitchFamily="34" charset="-120"/>
                        </a:rPr>
                        <a:t>CA-3</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75488">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POA&amp;M</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Gaps the agency will close; not provider findings</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b="1" dirty="0">
                          <a:solidFill>
                            <a:srgbClr val="334155"/>
                          </a:solidFill>
                          <a:latin typeface="Calibri" pitchFamily="34" charset="0"/>
                          <a:ea typeface="Calibri" pitchFamily="34" charset="-122"/>
                          <a:cs typeface="Calibri" pitchFamily="34" charset="-120"/>
                        </a:rPr>
                        <a:t>CA-5</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475488">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Component definition</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Each in-boundary equivalent</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b="1" dirty="0">
                          <a:solidFill>
                            <a:srgbClr val="334155"/>
                          </a:solidFill>
                          <a:latin typeface="Calibri" pitchFamily="34" charset="0"/>
                          <a:ea typeface="Calibri" pitchFamily="34" charset="-122"/>
                          <a:cs typeface="Calibri" pitchFamily="34" charset="-120"/>
                        </a:rPr>
                        <a:t>OSCAL</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475488">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Continuous monitoring</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Probe reruns, drift, provider notices</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b="1" dirty="0">
                          <a:solidFill>
                            <a:srgbClr val="334155"/>
                          </a:solidFill>
                          <a:latin typeface="Calibri" pitchFamily="34" charset="0"/>
                          <a:ea typeface="Calibri" pitchFamily="34" charset="-122"/>
                          <a:cs typeface="Calibri" pitchFamily="34" charset="-120"/>
                        </a:rPr>
                        <a:t>CA-7</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bl>
          </a:graphicData>
        </a:graphic>
      </p:graphicFrame>
      <p:sp>
        <p:nvSpPr>
          <p:cNvPr id="6" name="Package box">
            <a:extLst>
              <a:ext uri="{C183D7F6-B498-43B3-948B-1728B52AA6E4}">
                <adec:decorative xmlns:adec="http://schemas.microsoft.com/office/drawing/2017/decorative" val="1"/>
              </a:ext>
            </a:extLst>
          </p:cNvPr>
          <p:cNvSpPr/>
          <p:nvPr/>
        </p:nvSpPr>
        <p:spPr>
          <a:xfrm>
            <a:off x="7086600" y="1417320"/>
            <a:ext cx="4572000" cy="3200400"/>
          </a:xfrm>
          <a:prstGeom prst="roundRect">
            <a:avLst>
              <a:gd name="adj" fmla="val 2286"/>
            </a:avLst>
          </a:prstGeom>
          <a:solidFill>
            <a:srgbClr val="E4EAF4"/>
          </a:solidFill>
          <a:ln w="12700">
            <a:solidFill>
              <a:srgbClr val="E4EAF4"/>
            </a:solidFill>
            <a:prstDash val="solid"/>
          </a:ln>
          <a:effectLst>
            <a:outerShdw blurRad="76200" dist="25400" dir="5400000" algn="bl" rotWithShape="0">
              <a:srgbClr val="64748B">
                <a:alpha val="22000"/>
              </a:srgbClr>
            </a:outerShdw>
          </a:effectLst>
        </p:spPr>
      </p:sp>
      <p:sp>
        <p:nvSpPr>
          <p:cNvPr id="7" name="Icon FaBook">
            <a:extLst>
              <a:ext uri="{C183D7F6-B498-43B3-948B-1728B52AA6E4}">
                <adec:decorative xmlns:adec="http://schemas.microsoft.com/office/drawing/2017/decorative" val="1"/>
              </a:ext>
            </a:extLst>
          </p:cNvPr>
          <p:cNvSpPr/>
          <p:nvPr/>
        </p:nvSpPr>
        <p:spPr>
          <a:xfrm>
            <a:off x="7315200" y="1572768"/>
            <a:ext cx="548640" cy="548640"/>
          </a:xfrm>
          <a:prstGeom prst="ellipse">
            <a:avLst/>
          </a:prstGeom>
          <a:solidFill>
            <a:srgbClr val="1F2A44"/>
          </a:solidFill>
          <a:ln w="12700">
            <a:solidFill>
              <a:srgbClr val="1F2A44"/>
            </a:solidFill>
            <a:prstDash val="solid"/>
          </a:ln>
        </p:spPr>
      </p:sp>
      <p:pic>
        <p:nvPicPr>
          <p:cNvPr id="8" name="Image 0">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7446874" y="1704442"/>
            <a:ext cx="285293" cy="285293"/>
          </a:xfrm>
          <a:prstGeom prst="rect">
            <a:avLst/>
          </a:prstGeom>
        </p:spPr>
      </p:pic>
      <p:sp>
        <p:nvSpPr>
          <p:cNvPr id="9" name="Package head"/>
          <p:cNvSpPr txBox="1"/>
          <p:nvPr/>
        </p:nvSpPr>
        <p:spPr>
          <a:xfrm>
            <a:off x="8001000" y="1572768"/>
            <a:ext cx="3566160" cy="548640"/>
          </a:xfrm>
          <a:prstGeom prst="rect">
            <a:avLst/>
          </a:prstGeom>
          <a:noFill/>
          <a:ln/>
        </p:spPr>
        <p:txBody>
          <a:bodyPr wrap="square" lIns="0" tIns="0" rIns="0" bIns="0" rtlCol="0" anchor="ctr"/>
          <a:lstStyle/>
          <a:p>
            <a:pPr marL="0" indent="0">
              <a:buNone/>
            </a:pPr>
            <a:r>
              <a:rPr lang="en-US" sz="1700" b="1" dirty="0">
                <a:solidFill>
                  <a:srgbClr val="1F2A44"/>
                </a:solidFill>
                <a:latin typeface="Cambria" pitchFamily="34" charset="0"/>
                <a:ea typeface="Cambria" pitchFamily="34" charset="-122"/>
                <a:cs typeface="Cambria" pitchFamily="34" charset="-120"/>
              </a:rPr>
              <a:t>Know whose package you read</a:t>
            </a:r>
            <a:endParaRPr lang="en-US" sz="1700" dirty="0"/>
          </a:p>
        </p:txBody>
      </p:sp>
      <p:sp>
        <p:nvSpPr>
          <p:cNvPr id="10" name="Package list"/>
          <p:cNvSpPr txBox="1"/>
          <p:nvPr/>
        </p:nvSpPr>
        <p:spPr>
          <a:xfrm>
            <a:off x="7315200" y="2240280"/>
            <a:ext cx="4206240" cy="2331720"/>
          </a:xfrm>
          <a:prstGeom prst="rect">
            <a:avLst/>
          </a:prstGeom>
          <a:noFill/>
          <a:ln/>
        </p:spPr>
        <p:txBody>
          <a:bodyPr wrap="square" lIns="0" tIns="0" rIns="0" bIns="0" rtlCol="0" anchor="t"/>
          <a:lstStyle/>
          <a:p>
            <a:pPr marL="342900" indent="-342900">
              <a:spcAft>
                <a:spcPts val="600"/>
              </a:spcAft>
              <a:buSzPct val="100000"/>
              <a:buChar char="•"/>
            </a:pPr>
            <a:r>
              <a:rPr lang="en-US" sz="1350" dirty="0">
                <a:solidFill>
                  <a:schemeClr val="tx2"/>
                </a:solidFill>
              </a:rPr>
              <a:t>GCC leverages Azure Government as its IaaS and PaaS</a:t>
            </a:r>
            <a:endParaRPr lang="en-US" sz="1400" dirty="0"/>
          </a:p>
          <a:p>
            <a:pPr marL="342900" indent="-342900">
              <a:spcAft>
                <a:spcPts val="600"/>
              </a:spcAft>
              <a:buSzPct val="100000"/>
              <a:buChar char="•"/>
            </a:pPr>
            <a:r>
              <a:rPr lang="en-US" sz="1350" dirty="0">
                <a:solidFill>
                  <a:schemeClr val="tx2"/>
                </a:solidFill>
              </a:rPr>
              <a:t>A GCC SKU puts the tenant in scope</a:t>
            </a:r>
            <a:endParaRPr lang="en-US" sz="1400" dirty="0"/>
          </a:p>
          <a:p>
            <a:pPr marL="342900" indent="-342900">
              <a:spcAft>
                <a:spcPts val="600"/>
              </a:spcAft>
              <a:buSzPct val="100000"/>
              <a:buChar char="•"/>
            </a:pPr>
            <a:r>
              <a:rPr lang="en-US" sz="1350" dirty="0">
                <a:solidFill>
                  <a:schemeClr val="tx2"/>
                </a:solidFill>
              </a:rPr>
              <a:t>Don't copy provider controls into your SSP</a:t>
            </a:r>
            <a:endParaRPr lang="en-US" sz="1400" dirty="0"/>
          </a:p>
          <a:p>
            <a:pPr marL="342900" indent="-342900">
              <a:spcAft>
                <a:spcPts val="600"/>
              </a:spcAft>
              <a:buSzPct val="100000"/>
              <a:buChar char="•"/>
            </a:pPr>
            <a:r>
              <a:rPr lang="en-US" sz="1350" dirty="0">
                <a:solidFill>
                  <a:schemeClr val="tx2"/>
                </a:solidFill>
              </a:rPr>
              <a:t>The listing's trust-center and guide fields: empty</a:t>
            </a:r>
            <a:endParaRPr lang="en-US" sz="1400" dirty="0"/>
          </a:p>
        </p:txBody>
      </p:sp>
      <p:sp>
        <p:nvSpPr>
          <p:cNvPr id="11" name="Narrative">
            <a:extLst>
              <a:ext uri="{C183D7F6-B498-43B3-948B-1728B52AA6E4}">
                <adec:decorative xmlns:adec="http://schemas.microsoft.com/office/drawing/2017/decorative" val="1"/>
              </a:ext>
            </a:extLst>
          </p:cNvPr>
          <p:cNvSpPr/>
          <p:nvPr/>
        </p:nvSpPr>
        <p:spPr>
          <a:xfrm>
            <a:off x="548640" y="4846320"/>
            <a:ext cx="11109960" cy="1097280"/>
          </a:xfrm>
          <a:prstGeom prst="roundRect">
            <a:avLst>
              <a:gd name="adj" fmla="val 6667"/>
            </a:avLst>
          </a:prstGeom>
          <a:solidFill>
            <a:srgbClr val="FFFFFF"/>
          </a:solidFill>
          <a:ln w="12700">
            <a:solidFill>
              <a:srgbClr val="B45309"/>
            </a:solidFill>
            <a:prstDash val="solid"/>
          </a:ln>
          <a:effectLst>
            <a:outerShdw blurRad="76200" dist="25400" dir="5400000" algn="bl" rotWithShape="0">
              <a:srgbClr val="64748B">
                <a:alpha val="22000"/>
              </a:srgbClr>
            </a:outerShdw>
          </a:effectLst>
        </p:spPr>
      </p:sp>
      <p:sp>
        <p:nvSpPr>
          <p:cNvPr id="12" name="Icon FaFileShield">
            <a:extLst>
              <a:ext uri="{C183D7F6-B498-43B3-948B-1728B52AA6E4}">
                <adec:decorative xmlns:adec="http://schemas.microsoft.com/office/drawing/2017/decorative" val="1"/>
              </a:ext>
            </a:extLst>
          </p:cNvPr>
          <p:cNvSpPr/>
          <p:nvPr/>
        </p:nvSpPr>
        <p:spPr>
          <a:xfrm>
            <a:off x="777240" y="5029200"/>
            <a:ext cx="731520" cy="731520"/>
          </a:xfrm>
          <a:prstGeom prst="ellipse">
            <a:avLst/>
          </a:prstGeom>
          <a:solidFill>
            <a:srgbClr val="B45309"/>
          </a:solidFill>
          <a:ln w="12700">
            <a:solidFill>
              <a:srgbClr val="B45309"/>
            </a:solidFill>
            <a:prstDash val="solid"/>
          </a:ln>
        </p:spPr>
      </p:sp>
      <p:pic>
        <p:nvPicPr>
          <p:cNvPr id="13" name="Image 1">
            <a:extLst>
              <a:ext uri="{C183D7F6-B498-43B3-948B-1728B52AA6E4}">
                <adec:decorative xmlns:adec="http://schemas.microsoft.com/office/drawing/2017/decorative" val="1"/>
              </a:ext>
            </a:extLst>
          </p:cNvPr>
          <p:cNvPicPr>
            <a:picLocks noChangeAspect="1"/>
          </p:cNvPicPr>
          <p:nvPr/>
        </p:nvPicPr>
        <p:blipFill>
          <a:blip r:embed="rId6"/>
          <a:stretch>
            <a:fillRect/>
          </a:stretch>
        </p:blipFill>
        <p:spPr>
          <a:xfrm>
            <a:off x="952805" y="5204765"/>
            <a:ext cx="380390" cy="380390"/>
          </a:xfrm>
          <a:prstGeom prst="rect">
            <a:avLst/>
          </a:prstGeom>
        </p:spPr>
      </p:pic>
      <p:sp>
        <p:nvSpPr>
          <p:cNvPr id="5" name="Narrative text"/>
          <p:cNvSpPr txBox="1"/>
          <p:nvPr/>
        </p:nvSpPr>
        <p:spPr>
          <a:xfrm>
            <a:off x="1737360" y="4892040"/>
            <a:ext cx="9738360" cy="1005840"/>
          </a:xfrm>
          <a:prstGeom prst="rect">
            <a:avLst/>
          </a:prstGeom>
          <a:noFill/>
          <a:ln/>
        </p:spPr>
        <p:txBody>
          <a:bodyPr wrap="square" lIns="0" tIns="0" rIns="0" bIns="0" rtlCol="0" anchor="ctr"/>
          <a:lstStyle/>
          <a:p>
            <a:pPr marL="0" indent="0">
              <a:buNone/>
            </a:pPr>
            <a:r>
              <a:rPr lang="en-US" sz="1650" b="1" dirty="0">
                <a:solidFill>
                  <a:srgbClr val="B45309"/>
                </a:solidFill>
              </a:rPr>
              <a:t>A compensating narrative, in four sentences: </a:t>
            </a:r>
            <a:r>
              <a:rPr lang="en-US" sz="1650" dirty="0">
                <a:solidFill>
                  <a:schemeClr val="tx2"/>
                </a:solidFill>
              </a:rPr>
              <a:t>what the control needs; what's unavailable, with its citation; what runs instead, marked derived; and where the remaining gap is recorded.</a:t>
            </a:r>
            <a:endParaRPr lang="en-US" sz="1650" dirty="0"/>
          </a:p>
        </p:txBody>
      </p:sp>
      <p:sp>
        <p:nvSpPr>
          <p:cNvPr id="15"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NIST SP 800-37 Rev. 2; SP 800-53 PL-2, SA-9, CA-3, CA-5, CA-7; FedRAMP Consolidated Rules for 2026 — Rev5 Certification Packages, Agency Use; NIST OSCAL; FedRAMP Marketplace. Book 10, Chapter 11.</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13</a:t>
            </a:fld>
            <a:endParaRPr lang="en-US"/>
          </a:p>
        </p:txBody>
      </p:sp>
      <p:pic>
        <p:nvPicPr>
          <p:cNvPr id="16" name="Narration" descr="Narration for this slide; captions available">
            <a:hlinkClick r:id="" action="ppaction://media"/>
            <a:extLst>
              <a:ext uri="{FF2B5EF4-FFF2-40B4-BE49-F238E27FC236}">
                <a16:creationId xmlns:a16="http://schemas.microsoft.com/office/drawing/2014/main" id="{0C38F97D-1BAE-0ADE-A9BC-20316D090050}"/>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96FBA5C0-3834-4CFE-A079-62190BD9EAC8}" label="English (captions)" lang="en-US" r:embed="rId8"/>
                        </p173:trackLst>
                      </p173:tracksInfo>
                    </p:ext>
                  </p14:extLst>
                </p14:media>
              </p:ext>
            </p:extLst>
          </p:nvPr>
        </p:nvPicPr>
        <p:blipFill>
          <a:blip r:embed="rId7"/>
          <a:stretch>
            <a:fillRect/>
          </a:stretch>
        </p:blipFill>
        <p:spPr>
          <a:xfrm>
            <a:off x="127000" y="6350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56420"/>
    </mc:Choice>
    <mc:Fallback>
      <p:transition spd="slow" advTm="5642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52416" fill="hold"/>
                                        <p:tgtEl>
                                          <p:spTgt spid="16"/>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What to ask a cloud provider for</a:t>
            </a:r>
            <a:endParaRPr lang="en-US" sz="3000" dirty="0"/>
          </a:p>
        </p:txBody>
      </p:sp>
      <p:sp>
        <p:nvSpPr>
          <p:cNvPr id="3" name="Tag How">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HOW</a:t>
            </a:r>
            <a:endParaRPr lang="en-US" sz="1100" dirty="0"/>
          </a:p>
        </p:txBody>
      </p:sp>
      <p:sp>
        <p:nvSpPr>
          <p:cNvPr id="5" name="Ask A1">
            <a:extLst>
              <a:ext uri="{C183D7F6-B498-43B3-948B-1728B52AA6E4}">
                <adec:decorative xmlns:adec="http://schemas.microsoft.com/office/drawing/2017/decorative" val="1"/>
              </a:ext>
            </a:extLst>
          </p:cNvPr>
          <p:cNvSpPr/>
          <p:nvPr/>
        </p:nvSpPr>
        <p:spPr>
          <a:xfrm>
            <a:off x="548640" y="1371600"/>
            <a:ext cx="2697480" cy="1508760"/>
          </a:xfrm>
          <a:prstGeom prst="roundRect">
            <a:avLst>
              <a:gd name="adj" fmla="val 4848"/>
            </a:avLst>
          </a:prstGeom>
          <a:solidFill>
            <a:srgbClr val="E9EEF4"/>
          </a:solidFill>
          <a:ln w="12700">
            <a:solidFill>
              <a:srgbClr val="E9EEF4"/>
            </a:solidFill>
            <a:prstDash val="solid"/>
          </a:ln>
          <a:effectLst>
            <a:outerShdw blurRad="76200" dist="25400" dir="5400000" algn="bl" rotWithShape="0">
              <a:srgbClr val="64748B">
                <a:alpha val="22000"/>
              </a:srgbClr>
            </a:outerShdw>
          </a:effectLst>
        </p:spPr>
      </p:sp>
      <p:sp>
        <p:nvSpPr>
          <p:cNvPr id="6" name="Ask A1 text"/>
          <p:cNvSpPr txBox="1"/>
          <p:nvPr/>
        </p:nvSpPr>
        <p:spPr>
          <a:xfrm>
            <a:off x="685800" y="1444752"/>
            <a:ext cx="2468880" cy="1371600"/>
          </a:xfrm>
          <a:prstGeom prst="rect">
            <a:avLst/>
          </a:prstGeom>
          <a:noFill/>
          <a:ln/>
        </p:spPr>
        <p:txBody>
          <a:bodyPr wrap="square" lIns="0" tIns="0" rIns="0" bIns="0" rtlCol="0" anchor="ctr"/>
          <a:lstStyle/>
          <a:p>
            <a:pPr marL="0" indent="0">
              <a:spcAft>
                <a:spcPts val="200"/>
              </a:spcAft>
              <a:buNone/>
            </a:pPr>
            <a:r>
              <a:rPr lang="en-US" sz="1800" b="1" dirty="0">
                <a:solidFill>
                  <a:srgbClr val="B45309"/>
                </a:solidFill>
                <a:latin typeface="Cambria" pitchFamily="34" charset="0"/>
                <a:ea typeface="Cambria" pitchFamily="34" charset="-122"/>
                <a:cs typeface="Cambria" pitchFamily="34" charset="-120"/>
              </a:rPr>
              <a:t>A1</a:t>
            </a:r>
            <a:endParaRPr lang="en-US" sz="1400" dirty="0"/>
          </a:p>
          <a:p>
            <a:pPr marL="0" indent="0">
              <a:spcAft>
                <a:spcPts val="200"/>
              </a:spcAft>
              <a:buNone/>
            </a:pPr>
            <a:r>
              <a:rPr lang="en-US" sz="1450" b="1" dirty="0">
                <a:solidFill>
                  <a:srgbClr val="1F2A44"/>
                </a:solidFill>
              </a:rPr>
              <a:t>Exclusion list as data</a:t>
            </a:r>
            <a:endParaRPr lang="en-US" sz="1400" dirty="0"/>
          </a:p>
          <a:p>
            <a:pPr marL="0" indent="0">
              <a:spcAft>
                <a:spcPts val="200"/>
              </a:spcAft>
              <a:buNone/>
            </a:pPr>
            <a:r>
              <a:rPr lang="en-US" sz="1250" dirty="0">
                <a:solidFill>
                  <a:schemeClr val="tx2"/>
                </a:solidFill>
              </a:rPr>
              <a:t>Extends CDS-CSO-SVC</a:t>
            </a:r>
            <a:endParaRPr lang="en-US" sz="1400" dirty="0"/>
          </a:p>
        </p:txBody>
      </p:sp>
      <p:sp>
        <p:nvSpPr>
          <p:cNvPr id="7" name="Ask A2">
            <a:extLst>
              <a:ext uri="{C183D7F6-B498-43B3-948B-1728B52AA6E4}">
                <adec:decorative xmlns:adec="http://schemas.microsoft.com/office/drawing/2017/decorative" val="1"/>
              </a:ext>
            </a:extLst>
          </p:cNvPr>
          <p:cNvSpPr/>
          <p:nvPr/>
        </p:nvSpPr>
        <p:spPr>
          <a:xfrm>
            <a:off x="3360420" y="1371600"/>
            <a:ext cx="2697480" cy="1508760"/>
          </a:xfrm>
          <a:prstGeom prst="roundRect">
            <a:avLst>
              <a:gd name="adj" fmla="val 4848"/>
            </a:avLst>
          </a:prstGeom>
          <a:solidFill>
            <a:srgbClr val="E9EEF4"/>
          </a:solidFill>
          <a:ln w="12700">
            <a:solidFill>
              <a:srgbClr val="E9EEF4"/>
            </a:solidFill>
            <a:prstDash val="solid"/>
          </a:ln>
          <a:effectLst>
            <a:outerShdw blurRad="76200" dist="25400" dir="5400000" algn="bl" rotWithShape="0">
              <a:srgbClr val="64748B">
                <a:alpha val="22000"/>
              </a:srgbClr>
            </a:outerShdw>
          </a:effectLst>
        </p:spPr>
      </p:sp>
      <p:sp>
        <p:nvSpPr>
          <p:cNvPr id="8" name="Ask A2 text"/>
          <p:cNvSpPr txBox="1"/>
          <p:nvPr/>
        </p:nvSpPr>
        <p:spPr>
          <a:xfrm>
            <a:off x="3497580" y="1444752"/>
            <a:ext cx="2468880" cy="1371600"/>
          </a:xfrm>
          <a:prstGeom prst="rect">
            <a:avLst/>
          </a:prstGeom>
          <a:noFill/>
          <a:ln/>
        </p:spPr>
        <p:txBody>
          <a:bodyPr wrap="square" lIns="0" tIns="0" rIns="0" bIns="0" rtlCol="0" anchor="ctr"/>
          <a:lstStyle/>
          <a:p>
            <a:pPr marL="0" indent="0">
              <a:spcAft>
                <a:spcPts val="200"/>
              </a:spcAft>
              <a:buNone/>
            </a:pPr>
            <a:r>
              <a:rPr lang="en-US" sz="1800" b="1" dirty="0">
                <a:solidFill>
                  <a:srgbClr val="B45309"/>
                </a:solidFill>
                <a:latin typeface="Cambria" pitchFamily="34" charset="0"/>
                <a:ea typeface="Cambria" pitchFamily="34" charset="-122"/>
                <a:cs typeface="Cambria" pitchFamily="34" charset="-120"/>
              </a:rPr>
              <a:t>A2</a:t>
            </a:r>
            <a:endParaRPr lang="en-US" sz="1400" dirty="0"/>
          </a:p>
          <a:p>
            <a:pPr marL="0" indent="0">
              <a:spcAft>
                <a:spcPts val="200"/>
              </a:spcAft>
              <a:buNone/>
            </a:pPr>
            <a:r>
              <a:rPr lang="en-US" sz="1450" b="1" dirty="0">
                <a:solidFill>
                  <a:srgbClr val="1F2A44"/>
                </a:solidFill>
              </a:rPr>
              <a:t>Exception path per feature</a:t>
            </a:r>
            <a:endParaRPr lang="en-US" sz="1400" dirty="0"/>
          </a:p>
          <a:p>
            <a:pPr marL="0" indent="0">
              <a:spcAft>
                <a:spcPts val="200"/>
              </a:spcAft>
              <a:buNone/>
            </a:pPr>
            <a:r>
              <a:rPr lang="en-US" sz="1250" dirty="0">
                <a:solidFill>
                  <a:schemeClr val="tx2"/>
                </a:solidFill>
              </a:rPr>
              <a:t>The ExpressRoute model</a:t>
            </a:r>
            <a:endParaRPr lang="en-US" sz="1400" dirty="0"/>
          </a:p>
        </p:txBody>
      </p:sp>
      <p:sp>
        <p:nvSpPr>
          <p:cNvPr id="9" name="Ask A3">
            <a:extLst>
              <a:ext uri="{C183D7F6-B498-43B3-948B-1728B52AA6E4}">
                <adec:decorative xmlns:adec="http://schemas.microsoft.com/office/drawing/2017/decorative" val="1"/>
              </a:ext>
            </a:extLst>
          </p:cNvPr>
          <p:cNvSpPr/>
          <p:nvPr/>
        </p:nvSpPr>
        <p:spPr>
          <a:xfrm>
            <a:off x="6172200" y="1371600"/>
            <a:ext cx="2697480" cy="1508760"/>
          </a:xfrm>
          <a:prstGeom prst="roundRect">
            <a:avLst>
              <a:gd name="adj" fmla="val 4848"/>
            </a:avLst>
          </a:prstGeom>
          <a:solidFill>
            <a:srgbClr val="E9EEF4"/>
          </a:solidFill>
          <a:ln w="12700">
            <a:solidFill>
              <a:srgbClr val="E9EEF4"/>
            </a:solidFill>
            <a:prstDash val="solid"/>
          </a:ln>
          <a:effectLst>
            <a:outerShdw blurRad="76200" dist="25400" dir="5400000" algn="bl" rotWithShape="0">
              <a:srgbClr val="64748B">
                <a:alpha val="22000"/>
              </a:srgbClr>
            </a:outerShdw>
          </a:effectLst>
        </p:spPr>
      </p:sp>
      <p:sp>
        <p:nvSpPr>
          <p:cNvPr id="10" name="Ask A3 text"/>
          <p:cNvSpPr txBox="1"/>
          <p:nvPr/>
        </p:nvSpPr>
        <p:spPr>
          <a:xfrm>
            <a:off x="6309360" y="1444752"/>
            <a:ext cx="2468880" cy="1371600"/>
          </a:xfrm>
          <a:prstGeom prst="rect">
            <a:avLst/>
          </a:prstGeom>
          <a:noFill/>
          <a:ln/>
        </p:spPr>
        <p:txBody>
          <a:bodyPr wrap="square" lIns="0" tIns="0" rIns="0" bIns="0" rtlCol="0" anchor="ctr"/>
          <a:lstStyle/>
          <a:p>
            <a:pPr marL="0" indent="0">
              <a:spcAft>
                <a:spcPts val="200"/>
              </a:spcAft>
              <a:buNone/>
            </a:pPr>
            <a:r>
              <a:rPr lang="en-US" sz="1800" b="1" dirty="0">
                <a:solidFill>
                  <a:srgbClr val="B45309"/>
                </a:solidFill>
                <a:latin typeface="Cambria" pitchFamily="34" charset="0"/>
                <a:ea typeface="Cambria" pitchFamily="34" charset="-122"/>
                <a:cs typeface="Cambria" pitchFamily="34" charset="-120"/>
              </a:rPr>
              <a:t>A3</a:t>
            </a:r>
            <a:endParaRPr lang="en-US" sz="1400" dirty="0"/>
          </a:p>
          <a:p>
            <a:pPr marL="0" indent="0">
              <a:spcAft>
                <a:spcPts val="200"/>
              </a:spcAft>
              <a:buNone/>
            </a:pPr>
            <a:r>
              <a:rPr lang="en-US" sz="1450" b="1" dirty="0">
                <a:solidFill>
                  <a:srgbClr val="1F2A44"/>
                </a:solidFill>
              </a:rPr>
              <a:t>Network observability in GCC</a:t>
            </a:r>
            <a:endParaRPr lang="en-US" sz="1400" dirty="0"/>
          </a:p>
          <a:p>
            <a:pPr marL="0" indent="0">
              <a:spcAft>
                <a:spcPts val="200"/>
              </a:spcAft>
              <a:buNone/>
            </a:pPr>
            <a:r>
              <a:rPr lang="en-US" sz="1250" dirty="0">
                <a:solidFill>
                  <a:schemeClr val="tx2"/>
                </a:solidFill>
              </a:rPr>
              <a:t>Or the named obstacle</a:t>
            </a:r>
            <a:endParaRPr lang="en-US" sz="1400" dirty="0"/>
          </a:p>
        </p:txBody>
      </p:sp>
      <p:sp>
        <p:nvSpPr>
          <p:cNvPr id="11" name="Ask A4">
            <a:extLst>
              <a:ext uri="{C183D7F6-B498-43B3-948B-1728B52AA6E4}">
                <adec:decorative xmlns:adec="http://schemas.microsoft.com/office/drawing/2017/decorative" val="1"/>
              </a:ext>
            </a:extLst>
          </p:cNvPr>
          <p:cNvSpPr/>
          <p:nvPr/>
        </p:nvSpPr>
        <p:spPr>
          <a:xfrm>
            <a:off x="8983980" y="1371600"/>
            <a:ext cx="2697480" cy="1508760"/>
          </a:xfrm>
          <a:prstGeom prst="roundRect">
            <a:avLst>
              <a:gd name="adj" fmla="val 4848"/>
            </a:avLst>
          </a:prstGeom>
          <a:solidFill>
            <a:srgbClr val="E9EEF4"/>
          </a:solidFill>
          <a:ln w="12700">
            <a:solidFill>
              <a:srgbClr val="E9EEF4"/>
            </a:solidFill>
            <a:prstDash val="solid"/>
          </a:ln>
          <a:effectLst>
            <a:outerShdw blurRad="76200" dist="25400" dir="5400000" algn="bl" rotWithShape="0">
              <a:srgbClr val="64748B">
                <a:alpha val="22000"/>
              </a:srgbClr>
            </a:outerShdw>
          </a:effectLst>
        </p:spPr>
      </p:sp>
      <p:sp>
        <p:nvSpPr>
          <p:cNvPr id="12" name="Ask A4 text"/>
          <p:cNvSpPr txBox="1"/>
          <p:nvPr/>
        </p:nvSpPr>
        <p:spPr>
          <a:xfrm>
            <a:off x="9121140" y="1444752"/>
            <a:ext cx="2468880" cy="1371600"/>
          </a:xfrm>
          <a:prstGeom prst="rect">
            <a:avLst/>
          </a:prstGeom>
          <a:noFill/>
          <a:ln/>
        </p:spPr>
        <p:txBody>
          <a:bodyPr wrap="square" lIns="0" tIns="0" rIns="0" bIns="0" rtlCol="0" anchor="ctr"/>
          <a:lstStyle/>
          <a:p>
            <a:pPr marL="0" indent="0">
              <a:spcAft>
                <a:spcPts val="200"/>
              </a:spcAft>
              <a:buNone/>
            </a:pPr>
            <a:r>
              <a:rPr lang="en-US" sz="1800" b="1" dirty="0">
                <a:solidFill>
                  <a:srgbClr val="B45309"/>
                </a:solidFill>
                <a:latin typeface="Cambria" pitchFamily="34" charset="0"/>
                <a:ea typeface="Cambria" pitchFamily="34" charset="-122"/>
                <a:cs typeface="Cambria" pitchFamily="34" charset="-120"/>
              </a:rPr>
              <a:t>A4</a:t>
            </a:r>
            <a:endParaRPr lang="en-US" sz="1400" dirty="0"/>
          </a:p>
          <a:p>
            <a:pPr marL="0" indent="0">
              <a:spcAft>
                <a:spcPts val="200"/>
              </a:spcAft>
              <a:buNone/>
            </a:pPr>
            <a:r>
              <a:rPr lang="en-US" sz="1450" b="1" dirty="0">
                <a:solidFill>
                  <a:srgbClr val="1F2A44"/>
                </a:solidFill>
              </a:rPr>
              <a:t>The two GCC packages</a:t>
            </a:r>
            <a:endParaRPr lang="en-US" sz="1400" dirty="0"/>
          </a:p>
          <a:p>
            <a:pPr marL="0" indent="0">
              <a:spcAft>
                <a:spcPts val="200"/>
              </a:spcAft>
              <a:buNone/>
            </a:pPr>
            <a:r>
              <a:rPr lang="en-US" sz="1250" dirty="0">
                <a:solidFill>
                  <a:schemeClr val="tx2"/>
                </a:solidFill>
              </a:rPr>
              <a:t>What Class D would change</a:t>
            </a:r>
            <a:endParaRPr lang="en-US" sz="1400" dirty="0"/>
          </a:p>
        </p:txBody>
      </p:sp>
      <p:sp>
        <p:nvSpPr>
          <p:cNvPr id="13" name="Ask A5">
            <a:extLst>
              <a:ext uri="{C183D7F6-B498-43B3-948B-1728B52AA6E4}">
                <adec:decorative xmlns:adec="http://schemas.microsoft.com/office/drawing/2017/decorative" val="1"/>
              </a:ext>
            </a:extLst>
          </p:cNvPr>
          <p:cNvSpPr/>
          <p:nvPr/>
        </p:nvSpPr>
        <p:spPr>
          <a:xfrm>
            <a:off x="548640" y="3017520"/>
            <a:ext cx="2697480" cy="1508760"/>
          </a:xfrm>
          <a:prstGeom prst="roundRect">
            <a:avLst>
              <a:gd name="adj" fmla="val 4848"/>
            </a:avLst>
          </a:prstGeom>
          <a:solidFill>
            <a:srgbClr val="E4EAF4"/>
          </a:solidFill>
          <a:ln w="12700">
            <a:solidFill>
              <a:srgbClr val="E4EAF4"/>
            </a:solidFill>
            <a:prstDash val="solid"/>
          </a:ln>
          <a:effectLst>
            <a:outerShdw blurRad="76200" dist="25400" dir="5400000" algn="bl" rotWithShape="0">
              <a:srgbClr val="64748B">
                <a:alpha val="22000"/>
              </a:srgbClr>
            </a:outerShdw>
          </a:effectLst>
        </p:spPr>
      </p:sp>
      <p:sp>
        <p:nvSpPr>
          <p:cNvPr id="14" name="Ask A5 text"/>
          <p:cNvSpPr txBox="1"/>
          <p:nvPr/>
        </p:nvSpPr>
        <p:spPr>
          <a:xfrm>
            <a:off x="685800" y="3090672"/>
            <a:ext cx="2468880" cy="1371600"/>
          </a:xfrm>
          <a:prstGeom prst="rect">
            <a:avLst/>
          </a:prstGeom>
          <a:noFill/>
          <a:ln/>
        </p:spPr>
        <p:txBody>
          <a:bodyPr wrap="square" lIns="0" tIns="0" rIns="0" bIns="0" rtlCol="0" anchor="ctr"/>
          <a:lstStyle/>
          <a:p>
            <a:pPr marL="0" indent="0">
              <a:spcAft>
                <a:spcPts val="200"/>
              </a:spcAft>
              <a:buNone/>
            </a:pPr>
            <a:r>
              <a:rPr lang="en-US" sz="1800" b="1" dirty="0">
                <a:solidFill>
                  <a:srgbClr val="B45309"/>
                </a:solidFill>
                <a:latin typeface="Cambria" pitchFamily="34" charset="0"/>
                <a:ea typeface="Cambria" pitchFamily="34" charset="-122"/>
                <a:cs typeface="Cambria" pitchFamily="34" charset="-120"/>
              </a:rPr>
              <a:t>A5</a:t>
            </a:r>
            <a:endParaRPr lang="en-US" sz="1400" dirty="0"/>
          </a:p>
          <a:p>
            <a:pPr marL="0" indent="0">
              <a:spcAft>
                <a:spcPts val="200"/>
              </a:spcAft>
              <a:buNone/>
            </a:pPr>
            <a:r>
              <a:rPr lang="en-US" sz="1450" b="1" dirty="0">
                <a:solidFill>
                  <a:srgbClr val="1F2A44"/>
                </a:solidFill>
              </a:rPr>
              <a:t>Software outside the offering</a:t>
            </a:r>
            <a:endParaRPr lang="en-US" sz="1400" dirty="0"/>
          </a:p>
          <a:p>
            <a:pPr marL="0" indent="0">
              <a:spcAft>
                <a:spcPts val="200"/>
              </a:spcAft>
              <a:buNone/>
            </a:pPr>
            <a:r>
              <a:rPr lang="en-US" sz="1250" dirty="0">
                <a:solidFill>
                  <a:schemeClr val="tx2"/>
                </a:solidFill>
              </a:rPr>
              <a:t>MAS-CSO-IIR guidance</a:t>
            </a:r>
            <a:endParaRPr lang="en-US" sz="1400" dirty="0"/>
          </a:p>
        </p:txBody>
      </p:sp>
      <p:sp>
        <p:nvSpPr>
          <p:cNvPr id="15" name="Ask A6">
            <a:extLst>
              <a:ext uri="{C183D7F6-B498-43B3-948B-1728B52AA6E4}">
                <adec:decorative xmlns:adec="http://schemas.microsoft.com/office/drawing/2017/decorative" val="1"/>
              </a:ext>
            </a:extLst>
          </p:cNvPr>
          <p:cNvSpPr/>
          <p:nvPr/>
        </p:nvSpPr>
        <p:spPr>
          <a:xfrm>
            <a:off x="3360420" y="3017520"/>
            <a:ext cx="2697480" cy="1508760"/>
          </a:xfrm>
          <a:prstGeom prst="roundRect">
            <a:avLst>
              <a:gd name="adj" fmla="val 4848"/>
            </a:avLst>
          </a:prstGeom>
          <a:solidFill>
            <a:srgbClr val="E4EAF4"/>
          </a:solidFill>
          <a:ln w="12700">
            <a:solidFill>
              <a:srgbClr val="E4EAF4"/>
            </a:solidFill>
            <a:prstDash val="solid"/>
          </a:ln>
          <a:effectLst>
            <a:outerShdw blurRad="76200" dist="25400" dir="5400000" algn="bl" rotWithShape="0">
              <a:srgbClr val="64748B">
                <a:alpha val="22000"/>
              </a:srgbClr>
            </a:outerShdw>
          </a:effectLst>
        </p:spPr>
      </p:sp>
      <p:sp>
        <p:nvSpPr>
          <p:cNvPr id="16" name="Ask A6 text"/>
          <p:cNvSpPr txBox="1"/>
          <p:nvPr/>
        </p:nvSpPr>
        <p:spPr>
          <a:xfrm>
            <a:off x="3497580" y="3090672"/>
            <a:ext cx="2468880" cy="1371600"/>
          </a:xfrm>
          <a:prstGeom prst="rect">
            <a:avLst/>
          </a:prstGeom>
          <a:noFill/>
          <a:ln/>
        </p:spPr>
        <p:txBody>
          <a:bodyPr wrap="square" lIns="0" tIns="0" rIns="0" bIns="0" rtlCol="0" anchor="ctr"/>
          <a:lstStyle/>
          <a:p>
            <a:pPr marL="0" indent="0">
              <a:spcAft>
                <a:spcPts val="200"/>
              </a:spcAft>
              <a:buNone/>
            </a:pPr>
            <a:r>
              <a:rPr lang="en-US" sz="1800" b="1" dirty="0">
                <a:solidFill>
                  <a:srgbClr val="B45309"/>
                </a:solidFill>
                <a:latin typeface="Cambria" pitchFamily="34" charset="0"/>
                <a:ea typeface="Cambria" pitchFamily="34" charset="-122"/>
                <a:cs typeface="Cambria" pitchFamily="34" charset="-120"/>
              </a:rPr>
              <a:t>A6</a:t>
            </a:r>
            <a:endParaRPr lang="en-US" sz="1400" dirty="0"/>
          </a:p>
          <a:p>
            <a:pPr marL="0" indent="0">
              <a:spcAft>
                <a:spcPts val="200"/>
              </a:spcAft>
              <a:buNone/>
            </a:pPr>
            <a:r>
              <a:rPr lang="en-US" sz="1450" b="1" dirty="0">
                <a:solidFill>
                  <a:srgbClr val="1F2A44"/>
                </a:solidFill>
              </a:rPr>
              <a:t>A trust center with an API</a:t>
            </a:r>
            <a:endParaRPr lang="en-US" sz="1400" dirty="0"/>
          </a:p>
          <a:p>
            <a:pPr marL="0" indent="0">
              <a:spcAft>
                <a:spcPts val="200"/>
              </a:spcAft>
              <a:buNone/>
            </a:pPr>
            <a:r>
              <a:rPr lang="en-US" sz="1250" dirty="0">
                <a:solidFill>
                  <a:schemeClr val="tx2"/>
                </a:solidFill>
              </a:rPr>
              <a:t>CDS-CSO-UTC, CDS-TRC-PAC</a:t>
            </a:r>
            <a:endParaRPr lang="en-US" sz="1400" dirty="0"/>
          </a:p>
        </p:txBody>
      </p:sp>
      <p:sp>
        <p:nvSpPr>
          <p:cNvPr id="17" name="Ask A7">
            <a:extLst>
              <a:ext uri="{C183D7F6-B498-43B3-948B-1728B52AA6E4}">
                <adec:decorative xmlns:adec="http://schemas.microsoft.com/office/drawing/2017/decorative" val="1"/>
              </a:ext>
            </a:extLst>
          </p:cNvPr>
          <p:cNvSpPr/>
          <p:nvPr/>
        </p:nvSpPr>
        <p:spPr>
          <a:xfrm>
            <a:off x="6172200" y="3017520"/>
            <a:ext cx="2697480" cy="1508760"/>
          </a:xfrm>
          <a:prstGeom prst="roundRect">
            <a:avLst>
              <a:gd name="adj" fmla="val 4848"/>
            </a:avLst>
          </a:prstGeom>
          <a:solidFill>
            <a:srgbClr val="E4EAF4"/>
          </a:solidFill>
          <a:ln w="12700">
            <a:solidFill>
              <a:srgbClr val="E4EAF4"/>
            </a:solidFill>
            <a:prstDash val="solid"/>
          </a:ln>
          <a:effectLst>
            <a:outerShdw blurRad="76200" dist="25400" dir="5400000" algn="bl" rotWithShape="0">
              <a:srgbClr val="64748B">
                <a:alpha val="22000"/>
              </a:srgbClr>
            </a:outerShdw>
          </a:effectLst>
        </p:spPr>
      </p:sp>
      <p:sp>
        <p:nvSpPr>
          <p:cNvPr id="18" name="Ask A7 text"/>
          <p:cNvSpPr txBox="1"/>
          <p:nvPr/>
        </p:nvSpPr>
        <p:spPr>
          <a:xfrm>
            <a:off x="6309360" y="3090672"/>
            <a:ext cx="2468880" cy="1371600"/>
          </a:xfrm>
          <a:prstGeom prst="rect">
            <a:avLst/>
          </a:prstGeom>
          <a:noFill/>
          <a:ln/>
        </p:spPr>
        <p:txBody>
          <a:bodyPr wrap="square" lIns="0" tIns="0" rIns="0" bIns="0" rtlCol="0" anchor="ctr"/>
          <a:lstStyle/>
          <a:p>
            <a:pPr marL="0" indent="0">
              <a:spcAft>
                <a:spcPts val="200"/>
              </a:spcAft>
              <a:buNone/>
            </a:pPr>
            <a:r>
              <a:rPr lang="en-US" sz="1800" b="1" dirty="0">
                <a:solidFill>
                  <a:srgbClr val="B45309"/>
                </a:solidFill>
                <a:latin typeface="Cambria" pitchFamily="34" charset="0"/>
                <a:ea typeface="Cambria" pitchFamily="34" charset="-122"/>
                <a:cs typeface="Cambria" pitchFamily="34" charset="-120"/>
              </a:rPr>
              <a:t>A7</a:t>
            </a:r>
            <a:endParaRPr lang="en-US" sz="1400" dirty="0"/>
          </a:p>
          <a:p>
            <a:pPr marL="0" indent="0">
              <a:spcAft>
                <a:spcPts val="200"/>
              </a:spcAft>
              <a:buNone/>
            </a:pPr>
            <a:r>
              <a:rPr lang="en-US" sz="1450" b="1" dirty="0">
                <a:solidFill>
                  <a:srgbClr val="1F2A44"/>
                </a:solidFill>
              </a:rPr>
              <a:t>Change notices as a feed</a:t>
            </a:r>
            <a:endParaRPr lang="en-US" sz="1400" dirty="0"/>
          </a:p>
          <a:p>
            <a:pPr marL="0" indent="0">
              <a:spcAft>
                <a:spcPts val="200"/>
              </a:spcAft>
              <a:buNone/>
            </a:pPr>
            <a:r>
              <a:rPr lang="en-US" sz="1250" dirty="0">
                <a:solidFill>
                  <a:schemeClr val="tx2"/>
                </a:solidFill>
              </a:rPr>
              <a:t>SCN-CSO-HRM, -HIS, -NOM</a:t>
            </a:r>
            <a:endParaRPr lang="en-US" sz="1400" dirty="0"/>
          </a:p>
        </p:txBody>
      </p:sp>
      <p:sp>
        <p:nvSpPr>
          <p:cNvPr id="19" name="Ask A8">
            <a:extLst>
              <a:ext uri="{C183D7F6-B498-43B3-948B-1728B52AA6E4}">
                <adec:decorative xmlns:adec="http://schemas.microsoft.com/office/drawing/2017/decorative" val="1"/>
              </a:ext>
            </a:extLst>
          </p:cNvPr>
          <p:cNvSpPr/>
          <p:nvPr/>
        </p:nvSpPr>
        <p:spPr>
          <a:xfrm>
            <a:off x="8983980" y="3017520"/>
            <a:ext cx="2697480" cy="1508760"/>
          </a:xfrm>
          <a:prstGeom prst="roundRect">
            <a:avLst>
              <a:gd name="adj" fmla="val 4848"/>
            </a:avLst>
          </a:prstGeom>
          <a:solidFill>
            <a:srgbClr val="E4EAF4"/>
          </a:solidFill>
          <a:ln w="12700">
            <a:solidFill>
              <a:srgbClr val="E4EAF4"/>
            </a:solidFill>
            <a:prstDash val="solid"/>
          </a:ln>
          <a:effectLst>
            <a:outerShdw blurRad="76200" dist="25400" dir="5400000" algn="bl" rotWithShape="0">
              <a:srgbClr val="64748B">
                <a:alpha val="22000"/>
              </a:srgbClr>
            </a:outerShdw>
          </a:effectLst>
        </p:spPr>
      </p:sp>
      <p:sp>
        <p:nvSpPr>
          <p:cNvPr id="20" name="Ask A8 text"/>
          <p:cNvSpPr txBox="1"/>
          <p:nvPr/>
        </p:nvSpPr>
        <p:spPr>
          <a:xfrm>
            <a:off x="9121140" y="3090672"/>
            <a:ext cx="2468880" cy="1371600"/>
          </a:xfrm>
          <a:prstGeom prst="rect">
            <a:avLst/>
          </a:prstGeom>
          <a:noFill/>
          <a:ln/>
        </p:spPr>
        <p:txBody>
          <a:bodyPr wrap="square" lIns="0" tIns="0" rIns="0" bIns="0" rtlCol="0" anchor="ctr"/>
          <a:lstStyle/>
          <a:p>
            <a:pPr marL="0" indent="0">
              <a:spcAft>
                <a:spcPts val="200"/>
              </a:spcAft>
              <a:buNone/>
            </a:pPr>
            <a:r>
              <a:rPr lang="en-US" sz="1800" b="1" dirty="0">
                <a:solidFill>
                  <a:srgbClr val="B45309"/>
                </a:solidFill>
                <a:latin typeface="Cambria" pitchFamily="34" charset="0"/>
                <a:ea typeface="Cambria" pitchFamily="34" charset="-122"/>
                <a:cs typeface="Cambria" pitchFamily="34" charset="-120"/>
              </a:rPr>
              <a:t>A8</a:t>
            </a:r>
            <a:endParaRPr lang="en-US" sz="1400" dirty="0"/>
          </a:p>
          <a:p>
            <a:pPr marL="0" indent="0">
              <a:spcAft>
                <a:spcPts val="200"/>
              </a:spcAft>
              <a:buNone/>
            </a:pPr>
            <a:r>
              <a:rPr lang="en-US" sz="1450" b="1" dirty="0">
                <a:solidFill>
                  <a:srgbClr val="1F2A44"/>
                </a:solidFill>
              </a:rPr>
              <a:t>Crypto modules per service</a:t>
            </a:r>
            <a:endParaRPr lang="en-US" sz="1400" dirty="0"/>
          </a:p>
          <a:p>
            <a:pPr marL="0" indent="0">
              <a:spcAft>
                <a:spcPts val="200"/>
              </a:spcAft>
              <a:buNone/>
            </a:pPr>
            <a:r>
              <a:rPr lang="en-US" sz="1250" dirty="0">
                <a:solidFill>
                  <a:schemeClr val="tx2"/>
                </a:solidFill>
              </a:rPr>
              <a:t>CMU-CSO-CMD, -UVM, -CAT</a:t>
            </a:r>
            <a:endParaRPr lang="en-US" sz="1400" dirty="0"/>
          </a:p>
        </p:txBody>
      </p:sp>
      <p:sp>
        <p:nvSpPr>
          <p:cNvPr id="21" name="Ask">
            <a:extLst>
              <a:ext uri="{C183D7F6-B498-43B3-948B-1728B52AA6E4}">
                <adec:decorative xmlns:adec="http://schemas.microsoft.com/office/drawing/2017/decorative" val="1"/>
              </a:ext>
            </a:extLst>
          </p:cNvPr>
          <p:cNvSpPr/>
          <p:nvPr/>
        </p:nvSpPr>
        <p:spPr>
          <a:xfrm>
            <a:off x="548640" y="4846320"/>
            <a:ext cx="11109960" cy="1097280"/>
          </a:xfrm>
          <a:prstGeom prst="roundRect">
            <a:avLst>
              <a:gd name="adj" fmla="val 6667"/>
            </a:avLst>
          </a:prstGeom>
          <a:solidFill>
            <a:srgbClr val="FFFFFF"/>
          </a:solidFill>
          <a:ln w="12700">
            <a:solidFill>
              <a:srgbClr val="0F766E"/>
            </a:solidFill>
            <a:prstDash val="solid"/>
          </a:ln>
          <a:effectLst>
            <a:outerShdw blurRad="76200" dist="25400" dir="5400000" algn="bl" rotWithShape="0">
              <a:srgbClr val="64748B">
                <a:alpha val="22000"/>
              </a:srgbClr>
            </a:outerShdw>
          </a:effectLst>
        </p:spPr>
      </p:sp>
      <p:sp>
        <p:nvSpPr>
          <p:cNvPr id="22" name="Icon FaListCheck">
            <a:extLst>
              <a:ext uri="{C183D7F6-B498-43B3-948B-1728B52AA6E4}">
                <adec:decorative xmlns:adec="http://schemas.microsoft.com/office/drawing/2017/decorative" val="1"/>
              </a:ext>
            </a:extLst>
          </p:cNvPr>
          <p:cNvSpPr/>
          <p:nvPr/>
        </p:nvSpPr>
        <p:spPr>
          <a:xfrm>
            <a:off x="777240" y="5029200"/>
            <a:ext cx="731520" cy="731520"/>
          </a:xfrm>
          <a:prstGeom prst="ellipse">
            <a:avLst/>
          </a:prstGeom>
          <a:solidFill>
            <a:srgbClr val="0F766E"/>
          </a:solidFill>
          <a:ln w="12700">
            <a:solidFill>
              <a:srgbClr val="0F766E"/>
            </a:solidFill>
            <a:prstDash val="solid"/>
          </a:ln>
        </p:spPr>
      </p:sp>
      <p:pic>
        <p:nvPicPr>
          <p:cNvPr id="23" name="Image 0">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952805" y="5204765"/>
            <a:ext cx="380390" cy="380390"/>
          </a:xfrm>
          <a:prstGeom prst="rect">
            <a:avLst/>
          </a:prstGeom>
        </p:spPr>
      </p:pic>
      <p:sp>
        <p:nvSpPr>
          <p:cNvPr id="24" name="Ask text"/>
          <p:cNvSpPr txBox="1"/>
          <p:nvPr/>
        </p:nvSpPr>
        <p:spPr>
          <a:xfrm>
            <a:off x="1737360" y="4892040"/>
            <a:ext cx="9738360" cy="1005840"/>
          </a:xfrm>
          <a:prstGeom prst="rect">
            <a:avLst/>
          </a:prstGeom>
          <a:noFill/>
          <a:ln/>
        </p:spPr>
        <p:txBody>
          <a:bodyPr wrap="square" lIns="0" tIns="0" rIns="0" bIns="0" rtlCol="0" anchor="ctr"/>
          <a:lstStyle/>
          <a:p>
            <a:pPr marL="0" indent="0">
              <a:buNone/>
            </a:pPr>
            <a:r>
              <a:rPr lang="en-US" sz="1650" b="1" dirty="0">
                <a:solidFill>
                  <a:srgbClr val="0F766E"/>
                </a:solidFill>
              </a:rPr>
              <a:t>Name it, cite it, ask for data: </a:t>
            </a:r>
            <a:r>
              <a:rPr lang="en-US" sz="1650" dirty="0">
                <a:solidFill>
                  <a:schemeClr val="tx2"/>
                </a:solidFill>
              </a:rPr>
              <a:t>on October 21, 2026, 110 of 781 Marketplace listings had a trust-center entry, and none of the three Microsoft 365 government packages did. A documented no is evidence too.</a:t>
            </a:r>
            <a:endParaRPr lang="en-US" sz="1650" dirty="0"/>
          </a:p>
        </p:txBody>
      </p:sp>
      <p:sp>
        <p:nvSpPr>
          <p:cNvPr id="25"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FedRAMP Consolidated Rules for 2026 — CDS, SCN, CMU, MAS; Microsoft Learn — assessing network connectivity (ExpressRoute), network provider attribution; FedRAMP Marketplace (October 21, 2026). Book 10, Appendix A.</a:t>
            </a:r>
            <a:endParaRPr lang="en-US" sz="1000" dirty="0"/>
          </a:p>
        </p:txBody>
      </p:sp>
      <p:sp>
        <p:nvSpPr>
          <p:cNvPr id="26"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14</a:t>
            </a:fld>
            <a:endParaRPr lang="en-US"/>
          </a:p>
        </p:txBody>
      </p:sp>
      <p:pic>
        <p:nvPicPr>
          <p:cNvPr id="27" name="Narration" descr="Narration for this slide; captions available">
            <a:hlinkClick r:id="" action="ppaction://media"/>
            <a:extLst>
              <a:ext uri="{FF2B5EF4-FFF2-40B4-BE49-F238E27FC236}">
                <a16:creationId xmlns:a16="http://schemas.microsoft.com/office/drawing/2014/main" id="{25F2C2D2-E400-5665-9764-ADCC0D894E25}"/>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9BADAC6F-E919-42F2-B496-6FD9394E9E3D}" label="English (captions)" lang="en-US" r:embed="rId7"/>
                        </p173:trackLst>
                      </p173:tracksInfo>
                    </p:ext>
                  </p14:extLst>
                </p14:media>
              </p:ext>
            </p:extLst>
          </p:nvPr>
        </p:nvPicPr>
        <p:blipFill>
          <a:blip r:embed="rId6"/>
          <a:stretch>
            <a:fillRect/>
          </a:stretch>
        </p:blipFill>
        <p:spPr>
          <a:xfrm>
            <a:off x="127000" y="6350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44200"/>
    </mc:Choice>
    <mc:Fallback>
      <p:transition spd="slow" advTm="442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40200" fill="hold"/>
                                        <p:tgtEl>
                                          <p:spTgt spid="27"/>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Decisions to make, and next steps</a:t>
            </a:r>
            <a:endParaRPr lang="en-US" sz="3000" dirty="0"/>
          </a:p>
        </p:txBody>
      </p:sp>
      <p:sp>
        <p:nvSpPr>
          <p:cNvPr id="3" name="Tag How">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HOW</a:t>
            </a:r>
            <a:endParaRPr lang="en-US" sz="1100" dirty="0"/>
          </a:p>
        </p:txBody>
      </p:sp>
      <p:sp>
        <p:nvSpPr>
          <p:cNvPr id="5" name="Decision 1">
            <a:extLst>
              <a:ext uri="{C183D7F6-B498-43B3-948B-1728B52AA6E4}">
                <adec:decorative xmlns:adec="http://schemas.microsoft.com/office/drawing/2017/decorative" val="1"/>
              </a:ext>
            </a:extLst>
          </p:cNvPr>
          <p:cNvSpPr/>
          <p:nvPr/>
        </p:nvSpPr>
        <p:spPr>
          <a:xfrm>
            <a:off x="548640" y="1417320"/>
            <a:ext cx="5486400" cy="1417320"/>
          </a:xfrm>
          <a:prstGeom prst="roundRect">
            <a:avLst>
              <a:gd name="adj" fmla="val 5161"/>
            </a:avLst>
          </a:prstGeom>
          <a:solidFill>
            <a:srgbClr val="E4EAF4"/>
          </a:solidFill>
          <a:ln w="12700">
            <a:solidFill>
              <a:srgbClr val="E4EAF4"/>
            </a:solidFill>
            <a:prstDash val="solid"/>
          </a:ln>
          <a:effectLst>
            <a:outerShdw blurRad="76200" dist="25400" dir="5400000" algn="bl" rotWithShape="0">
              <a:srgbClr val="64748B">
                <a:alpha val="22000"/>
              </a:srgbClr>
            </a:outerShdw>
          </a:effectLst>
        </p:spPr>
      </p:sp>
      <p:sp>
        <p:nvSpPr>
          <p:cNvPr id="6" name="Icon FaTableList">
            <a:extLst>
              <a:ext uri="{C183D7F6-B498-43B3-948B-1728B52AA6E4}">
                <adec:decorative xmlns:adec="http://schemas.microsoft.com/office/drawing/2017/decorative" val="1"/>
              </a:ext>
            </a:extLst>
          </p:cNvPr>
          <p:cNvSpPr/>
          <p:nvPr/>
        </p:nvSpPr>
        <p:spPr>
          <a:xfrm>
            <a:off x="777240" y="1764792"/>
            <a:ext cx="685800" cy="685800"/>
          </a:xfrm>
          <a:prstGeom prst="ellipse">
            <a:avLst/>
          </a:prstGeom>
          <a:solidFill>
            <a:srgbClr val="1F2A44"/>
          </a:solidFill>
          <a:ln w="12700">
            <a:solidFill>
              <a:srgbClr val="1F2A44"/>
            </a:solidFill>
            <a:prstDash val="solid"/>
          </a:ln>
        </p:spPr>
      </p:sp>
      <p:pic>
        <p:nvPicPr>
          <p:cNvPr id="7" name="Image 0">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941832" y="1929384"/>
            <a:ext cx="356616" cy="356616"/>
          </a:xfrm>
          <a:prstGeom prst="rect">
            <a:avLst/>
          </a:prstGeom>
        </p:spPr>
      </p:pic>
      <p:sp>
        <p:nvSpPr>
          <p:cNvPr id="8" name="Decision 1 text"/>
          <p:cNvSpPr txBox="1"/>
          <p:nvPr/>
        </p:nvSpPr>
        <p:spPr>
          <a:xfrm>
            <a:off x="1645920" y="1554480"/>
            <a:ext cx="4206240" cy="1188720"/>
          </a:xfrm>
          <a:prstGeom prst="rect">
            <a:avLst/>
          </a:prstGeom>
          <a:noFill/>
          <a:ln/>
        </p:spPr>
        <p:txBody>
          <a:bodyPr wrap="square" lIns="0" tIns="0" rIns="0" bIns="0" rtlCol="0" anchor="t"/>
          <a:lstStyle/>
          <a:p>
            <a:pPr marL="0" indent="0">
              <a:buNone/>
            </a:pPr>
            <a:r>
              <a:rPr lang="en-US" sz="1800" b="1" dirty="0">
                <a:solidFill>
                  <a:srgbClr val="1F2A44"/>
                </a:solidFill>
                <a:latin typeface="Cambria" pitchFamily="34" charset="0"/>
                <a:ea typeface="Cambria" pitchFamily="34" charset="-122"/>
                <a:cs typeface="Cambria" pitchFamily="34" charset="-120"/>
              </a:rPr>
              <a:t>Build the register on cited rows</a:t>
            </a:r>
            <a:endParaRPr lang="en-US" sz="1400" dirty="0"/>
          </a:p>
          <a:p>
            <a:pPr marL="0" indent="0">
              <a:buNone/>
            </a:pPr>
            <a:r>
              <a:rPr lang="en-US" sz="1450" dirty="0">
                <a:solidFill>
                  <a:schemeClr val="tx2"/>
                </a:solidFill>
              </a:rPr>
              <a:t>One row per feature and environment; relabel anything uncited</a:t>
            </a:r>
            <a:endParaRPr lang="en-US" sz="1400" dirty="0"/>
          </a:p>
        </p:txBody>
      </p:sp>
      <p:sp>
        <p:nvSpPr>
          <p:cNvPr id="9" name="Decision 2">
            <a:extLst>
              <a:ext uri="{C183D7F6-B498-43B3-948B-1728B52AA6E4}">
                <adec:decorative xmlns:adec="http://schemas.microsoft.com/office/drawing/2017/decorative" val="1"/>
              </a:ext>
            </a:extLst>
          </p:cNvPr>
          <p:cNvSpPr/>
          <p:nvPr/>
        </p:nvSpPr>
        <p:spPr>
          <a:xfrm>
            <a:off x="6144768" y="1417320"/>
            <a:ext cx="5486400" cy="1417320"/>
          </a:xfrm>
          <a:prstGeom prst="roundRect">
            <a:avLst>
              <a:gd name="adj" fmla="val 5161"/>
            </a:avLst>
          </a:prstGeom>
          <a:solidFill>
            <a:srgbClr val="DCEFEC"/>
          </a:solidFill>
          <a:ln w="12700">
            <a:solidFill>
              <a:srgbClr val="DCEFEC"/>
            </a:solidFill>
            <a:prstDash val="solid"/>
          </a:ln>
          <a:effectLst>
            <a:outerShdw blurRad="76200" dist="25400" dir="5400000" algn="bl" rotWithShape="0">
              <a:srgbClr val="64748B">
                <a:alpha val="22000"/>
              </a:srgbClr>
            </a:outerShdw>
          </a:effectLst>
        </p:spPr>
      </p:sp>
      <p:sp>
        <p:nvSpPr>
          <p:cNvPr id="10" name="Icon FaUserCheck">
            <a:extLst>
              <a:ext uri="{C183D7F6-B498-43B3-948B-1728B52AA6E4}">
                <adec:decorative xmlns:adec="http://schemas.microsoft.com/office/drawing/2017/decorative" val="1"/>
              </a:ext>
            </a:extLst>
          </p:cNvPr>
          <p:cNvSpPr/>
          <p:nvPr/>
        </p:nvSpPr>
        <p:spPr>
          <a:xfrm>
            <a:off x="6373368" y="1764792"/>
            <a:ext cx="685800" cy="685800"/>
          </a:xfrm>
          <a:prstGeom prst="ellipse">
            <a:avLst/>
          </a:prstGeom>
          <a:solidFill>
            <a:srgbClr val="0F766E"/>
          </a:solidFill>
          <a:ln w="12700">
            <a:solidFill>
              <a:srgbClr val="0F766E"/>
            </a:solidFill>
            <a:prstDash val="solid"/>
          </a:ln>
        </p:spPr>
      </p:sp>
      <p:pic>
        <p:nvPicPr>
          <p:cNvPr id="11" name="Image 1">
            <a:extLst>
              <a:ext uri="{C183D7F6-B498-43B3-948B-1728B52AA6E4}">
                <adec:decorative xmlns:adec="http://schemas.microsoft.com/office/drawing/2017/decorative" val="1"/>
              </a:ext>
            </a:extLst>
          </p:cNvPr>
          <p:cNvPicPr>
            <a:picLocks noChangeAspect="1"/>
          </p:cNvPicPr>
          <p:nvPr/>
        </p:nvPicPr>
        <p:blipFill>
          <a:blip r:embed="rId6"/>
          <a:stretch>
            <a:fillRect/>
          </a:stretch>
        </p:blipFill>
        <p:spPr>
          <a:xfrm>
            <a:off x="6537960" y="1929384"/>
            <a:ext cx="356616" cy="356616"/>
          </a:xfrm>
          <a:prstGeom prst="rect">
            <a:avLst/>
          </a:prstGeom>
        </p:spPr>
      </p:pic>
      <p:sp>
        <p:nvSpPr>
          <p:cNvPr id="12" name="Decision 2 text"/>
          <p:cNvSpPr txBox="1"/>
          <p:nvPr/>
        </p:nvSpPr>
        <p:spPr>
          <a:xfrm>
            <a:off x="7242048" y="1554480"/>
            <a:ext cx="4206240" cy="1188720"/>
          </a:xfrm>
          <a:prstGeom prst="rect">
            <a:avLst/>
          </a:prstGeom>
          <a:noFill/>
          <a:ln/>
        </p:spPr>
        <p:txBody>
          <a:bodyPr wrap="square" lIns="0" tIns="0" rIns="0" bIns="0" rtlCol="0" anchor="t"/>
          <a:lstStyle/>
          <a:p>
            <a:pPr marL="0" indent="0">
              <a:buNone/>
            </a:pPr>
            <a:r>
              <a:rPr lang="en-US" sz="1800" b="1" dirty="0">
                <a:solidFill>
                  <a:srgbClr val="0F766E"/>
                </a:solidFill>
                <a:latin typeface="Cambria" pitchFamily="34" charset="0"/>
                <a:ea typeface="Cambria" pitchFamily="34" charset="-122"/>
                <a:cs typeface="Cambria" pitchFamily="34" charset="-120"/>
              </a:rPr>
              <a:t>Name the boundary owner</a:t>
            </a:r>
            <a:endParaRPr lang="en-US" sz="1400" dirty="0"/>
          </a:p>
          <a:p>
            <a:pPr marL="0" indent="0">
              <a:buNone/>
            </a:pPr>
            <a:r>
              <a:rPr lang="en-US" sz="1450" dirty="0">
                <a:solidFill>
                  <a:schemeClr val="tx2"/>
                </a:solidFill>
              </a:rPr>
              <a:t>The AO decides the boundary; the system owner gates every subscription</a:t>
            </a:r>
            <a:endParaRPr lang="en-US" sz="1400" dirty="0"/>
          </a:p>
        </p:txBody>
      </p:sp>
      <p:sp>
        <p:nvSpPr>
          <p:cNvPr id="13" name="Decision 3">
            <a:extLst>
              <a:ext uri="{C183D7F6-B498-43B3-948B-1728B52AA6E4}">
                <adec:decorative xmlns:adec="http://schemas.microsoft.com/office/drawing/2017/decorative" val="1"/>
              </a:ext>
            </a:extLst>
          </p:cNvPr>
          <p:cNvSpPr/>
          <p:nvPr/>
        </p:nvSpPr>
        <p:spPr>
          <a:xfrm>
            <a:off x="548640" y="2990088"/>
            <a:ext cx="5486400" cy="1417320"/>
          </a:xfrm>
          <a:prstGeom prst="roundRect">
            <a:avLst>
              <a:gd name="adj" fmla="val 5161"/>
            </a:avLst>
          </a:prstGeom>
          <a:solidFill>
            <a:srgbClr val="FBEEDC"/>
          </a:solidFill>
          <a:ln w="12700">
            <a:solidFill>
              <a:srgbClr val="FBEEDC"/>
            </a:solidFill>
            <a:prstDash val="solid"/>
          </a:ln>
          <a:effectLst>
            <a:outerShdw blurRad="76200" dist="25400" dir="5400000" algn="bl" rotWithShape="0">
              <a:srgbClr val="64748B">
                <a:alpha val="22000"/>
              </a:srgbClr>
            </a:outerShdw>
          </a:effectLst>
        </p:spPr>
      </p:sp>
      <p:sp>
        <p:nvSpPr>
          <p:cNvPr id="14" name="Icon FaSitemap">
            <a:extLst>
              <a:ext uri="{C183D7F6-B498-43B3-948B-1728B52AA6E4}">
                <adec:decorative xmlns:adec="http://schemas.microsoft.com/office/drawing/2017/decorative" val="1"/>
              </a:ext>
            </a:extLst>
          </p:cNvPr>
          <p:cNvSpPr/>
          <p:nvPr/>
        </p:nvSpPr>
        <p:spPr>
          <a:xfrm>
            <a:off x="777240" y="3337560"/>
            <a:ext cx="685800" cy="685800"/>
          </a:xfrm>
          <a:prstGeom prst="ellipse">
            <a:avLst/>
          </a:prstGeom>
          <a:solidFill>
            <a:srgbClr val="B45309"/>
          </a:solidFill>
          <a:ln w="12700">
            <a:solidFill>
              <a:srgbClr val="B45309"/>
            </a:solidFill>
            <a:prstDash val="solid"/>
          </a:ln>
        </p:spPr>
      </p:sp>
      <p:pic>
        <p:nvPicPr>
          <p:cNvPr id="15" name="Image 2">
            <a:extLst>
              <a:ext uri="{C183D7F6-B498-43B3-948B-1728B52AA6E4}">
                <adec:decorative xmlns:adec="http://schemas.microsoft.com/office/drawing/2017/decorative" val="1"/>
              </a:ext>
            </a:extLst>
          </p:cNvPr>
          <p:cNvPicPr>
            <a:picLocks noChangeAspect="1"/>
          </p:cNvPicPr>
          <p:nvPr/>
        </p:nvPicPr>
        <p:blipFill>
          <a:blip r:embed="rId7"/>
          <a:stretch>
            <a:fillRect/>
          </a:stretch>
        </p:blipFill>
        <p:spPr>
          <a:xfrm>
            <a:off x="941832" y="3502152"/>
            <a:ext cx="356616" cy="356616"/>
          </a:xfrm>
          <a:prstGeom prst="rect">
            <a:avLst/>
          </a:prstGeom>
        </p:spPr>
      </p:pic>
      <p:sp>
        <p:nvSpPr>
          <p:cNvPr id="16" name="Decision 3 text"/>
          <p:cNvSpPr txBox="1"/>
          <p:nvPr/>
        </p:nvSpPr>
        <p:spPr>
          <a:xfrm>
            <a:off x="1645920" y="3127248"/>
            <a:ext cx="4206240" cy="1188720"/>
          </a:xfrm>
          <a:prstGeom prst="rect">
            <a:avLst/>
          </a:prstGeom>
          <a:noFill/>
          <a:ln/>
        </p:spPr>
        <p:txBody>
          <a:bodyPr wrap="square" lIns="0" tIns="0" rIns="0" bIns="0" rtlCol="0" anchor="t"/>
          <a:lstStyle/>
          <a:p>
            <a:pPr marL="0" indent="0">
              <a:buNone/>
            </a:pPr>
            <a:r>
              <a:rPr lang="en-US" sz="1800" b="1" dirty="0">
                <a:solidFill>
                  <a:srgbClr val="B45309"/>
                </a:solidFill>
                <a:latin typeface="Cambria" pitchFamily="34" charset="0"/>
                <a:ea typeface="Cambria" pitchFamily="34" charset="-122"/>
                <a:cs typeface="Cambria" pitchFamily="34" charset="-120"/>
              </a:rPr>
              <a:t>Enforce it in the landing zone</a:t>
            </a:r>
            <a:endParaRPr lang="en-US" sz="1400" dirty="0"/>
          </a:p>
          <a:p>
            <a:pPr marL="0" indent="0">
              <a:buNone/>
            </a:pPr>
            <a:r>
              <a:rPr lang="en-US" sz="1450" dirty="0">
                <a:solidFill>
                  <a:schemeClr val="tx2"/>
                </a:solidFill>
              </a:rPr>
              <a:t>Policy at the intermediate root, audit before deny, the front door</a:t>
            </a:r>
            <a:endParaRPr lang="en-US" sz="1400" dirty="0"/>
          </a:p>
        </p:txBody>
      </p:sp>
      <p:sp>
        <p:nvSpPr>
          <p:cNvPr id="17" name="Decision 4">
            <a:extLst>
              <a:ext uri="{C183D7F6-B498-43B3-948B-1728B52AA6E4}">
                <adec:decorative xmlns:adec="http://schemas.microsoft.com/office/drawing/2017/decorative" val="1"/>
              </a:ext>
            </a:extLst>
          </p:cNvPr>
          <p:cNvSpPr/>
          <p:nvPr/>
        </p:nvSpPr>
        <p:spPr>
          <a:xfrm>
            <a:off x="6144768" y="2990088"/>
            <a:ext cx="5486400" cy="1417320"/>
          </a:xfrm>
          <a:prstGeom prst="roundRect">
            <a:avLst>
              <a:gd name="adj" fmla="val 5161"/>
            </a:avLst>
          </a:prstGeom>
          <a:solidFill>
            <a:srgbClr val="FBE4E4"/>
          </a:solidFill>
          <a:ln w="12700">
            <a:solidFill>
              <a:srgbClr val="FBE4E4"/>
            </a:solidFill>
            <a:prstDash val="solid"/>
          </a:ln>
          <a:effectLst>
            <a:outerShdw blurRad="76200" dist="25400" dir="5400000" algn="bl" rotWithShape="0">
              <a:srgbClr val="64748B">
                <a:alpha val="22000"/>
              </a:srgbClr>
            </a:outerShdw>
          </a:effectLst>
        </p:spPr>
      </p:sp>
      <p:sp>
        <p:nvSpPr>
          <p:cNvPr id="18" name="Icon FaFileShield">
            <a:extLst>
              <a:ext uri="{C183D7F6-B498-43B3-948B-1728B52AA6E4}">
                <adec:decorative xmlns:adec="http://schemas.microsoft.com/office/drawing/2017/decorative" val="1"/>
              </a:ext>
            </a:extLst>
          </p:cNvPr>
          <p:cNvSpPr/>
          <p:nvPr/>
        </p:nvSpPr>
        <p:spPr>
          <a:xfrm>
            <a:off x="6373368" y="3337560"/>
            <a:ext cx="685800" cy="685800"/>
          </a:xfrm>
          <a:prstGeom prst="ellipse">
            <a:avLst/>
          </a:prstGeom>
          <a:solidFill>
            <a:srgbClr val="B91C1C"/>
          </a:solidFill>
          <a:ln w="12700">
            <a:solidFill>
              <a:srgbClr val="B91C1C"/>
            </a:solidFill>
            <a:prstDash val="solid"/>
          </a:ln>
        </p:spPr>
      </p:sp>
      <p:pic>
        <p:nvPicPr>
          <p:cNvPr id="19" name="Image 3">
            <a:extLst>
              <a:ext uri="{C183D7F6-B498-43B3-948B-1728B52AA6E4}">
                <adec:decorative xmlns:adec="http://schemas.microsoft.com/office/drawing/2017/decorative" val="1"/>
              </a:ext>
            </a:extLst>
          </p:cNvPr>
          <p:cNvPicPr>
            <a:picLocks noChangeAspect="1"/>
          </p:cNvPicPr>
          <p:nvPr/>
        </p:nvPicPr>
        <p:blipFill>
          <a:blip r:embed="rId8"/>
          <a:stretch>
            <a:fillRect/>
          </a:stretch>
        </p:blipFill>
        <p:spPr>
          <a:xfrm>
            <a:off x="6537960" y="3502152"/>
            <a:ext cx="356616" cy="356616"/>
          </a:xfrm>
          <a:prstGeom prst="rect">
            <a:avLst/>
          </a:prstGeom>
        </p:spPr>
      </p:pic>
      <p:sp>
        <p:nvSpPr>
          <p:cNvPr id="20" name="Decision 4 text"/>
          <p:cNvSpPr txBox="1"/>
          <p:nvPr/>
        </p:nvSpPr>
        <p:spPr>
          <a:xfrm>
            <a:off x="7242048" y="3127248"/>
            <a:ext cx="4206240" cy="1188720"/>
          </a:xfrm>
          <a:prstGeom prst="rect">
            <a:avLst/>
          </a:prstGeom>
          <a:noFill/>
          <a:ln/>
        </p:spPr>
        <p:txBody>
          <a:bodyPr wrap="square" lIns="0" tIns="0" rIns="0" bIns="0" rtlCol="0" anchor="t"/>
          <a:lstStyle/>
          <a:p>
            <a:pPr marL="0" indent="0">
              <a:buNone/>
            </a:pPr>
            <a:r>
              <a:rPr lang="en-US" sz="1800" b="1" dirty="0">
                <a:solidFill>
                  <a:srgbClr val="B91C1C"/>
                </a:solidFill>
                <a:latin typeface="Cambria" pitchFamily="34" charset="0"/>
                <a:ea typeface="Cambria" pitchFamily="34" charset="-122"/>
                <a:cs typeface="Cambria" pitchFamily="34" charset="-120"/>
              </a:rPr>
              <a:t>Evidence every response</a:t>
            </a:r>
            <a:endParaRPr lang="en-US" sz="1400" dirty="0"/>
          </a:p>
          <a:p>
            <a:pPr marL="0" indent="0">
              <a:buNone/>
            </a:pPr>
            <a:r>
              <a:rPr lang="en-US" sz="1450" dirty="0">
                <a:solidFill>
                  <a:schemeClr val="tx2"/>
                </a:solidFill>
              </a:rPr>
              <a:t>Equivalent, exception or alternative path, in the agency's package</a:t>
            </a:r>
            <a:endParaRPr lang="en-US" sz="1400" dirty="0"/>
          </a:p>
        </p:txBody>
      </p:sp>
      <p:sp>
        <p:nvSpPr>
          <p:cNvPr id="21" name="Next">
            <a:extLst>
              <a:ext uri="{C183D7F6-B498-43B3-948B-1728B52AA6E4}">
                <adec:decorative xmlns:adec="http://schemas.microsoft.com/office/drawing/2017/decorative" val="1"/>
              </a:ext>
            </a:extLst>
          </p:cNvPr>
          <p:cNvSpPr/>
          <p:nvPr/>
        </p:nvSpPr>
        <p:spPr>
          <a:xfrm>
            <a:off x="548640" y="4709160"/>
            <a:ext cx="11109960" cy="1280160"/>
          </a:xfrm>
          <a:prstGeom prst="roundRect">
            <a:avLst>
              <a:gd name="adj" fmla="val 5714"/>
            </a:avLst>
          </a:prstGeom>
          <a:solidFill>
            <a:srgbClr val="FFFFFF"/>
          </a:solidFill>
          <a:ln w="12700">
            <a:solidFill>
              <a:srgbClr val="1F2A44"/>
            </a:solidFill>
            <a:prstDash val="solid"/>
          </a:ln>
          <a:effectLst>
            <a:outerShdw blurRad="76200" dist="25400" dir="5400000" algn="bl" rotWithShape="0">
              <a:srgbClr val="64748B">
                <a:alpha val="22000"/>
              </a:srgbClr>
            </a:outerShdw>
          </a:effectLst>
        </p:spPr>
      </p:sp>
      <p:sp>
        <p:nvSpPr>
          <p:cNvPr id="22" name="Icon FaRoute">
            <a:extLst>
              <a:ext uri="{C183D7F6-B498-43B3-948B-1728B52AA6E4}">
                <adec:decorative xmlns:adec="http://schemas.microsoft.com/office/drawing/2017/decorative" val="1"/>
              </a:ext>
            </a:extLst>
          </p:cNvPr>
          <p:cNvSpPr/>
          <p:nvPr/>
        </p:nvSpPr>
        <p:spPr>
          <a:xfrm>
            <a:off x="777240" y="4983480"/>
            <a:ext cx="731520" cy="731520"/>
          </a:xfrm>
          <a:prstGeom prst="ellipse">
            <a:avLst/>
          </a:prstGeom>
          <a:solidFill>
            <a:srgbClr val="1F2A44"/>
          </a:solidFill>
          <a:ln w="12700">
            <a:solidFill>
              <a:srgbClr val="1F2A44"/>
            </a:solidFill>
            <a:prstDash val="solid"/>
          </a:ln>
        </p:spPr>
      </p:sp>
      <p:pic>
        <p:nvPicPr>
          <p:cNvPr id="23" name="Image 4">
            <a:extLst>
              <a:ext uri="{C183D7F6-B498-43B3-948B-1728B52AA6E4}">
                <adec:decorative xmlns:adec="http://schemas.microsoft.com/office/drawing/2017/decorative" val="1"/>
              </a:ext>
            </a:extLst>
          </p:cNvPr>
          <p:cNvPicPr>
            <a:picLocks noChangeAspect="1"/>
          </p:cNvPicPr>
          <p:nvPr/>
        </p:nvPicPr>
        <p:blipFill>
          <a:blip r:embed="rId9"/>
          <a:stretch>
            <a:fillRect/>
          </a:stretch>
        </p:blipFill>
        <p:spPr>
          <a:xfrm>
            <a:off x="952805" y="5159045"/>
            <a:ext cx="380390" cy="380390"/>
          </a:xfrm>
          <a:prstGeom prst="rect">
            <a:avLst/>
          </a:prstGeom>
        </p:spPr>
      </p:pic>
      <p:sp>
        <p:nvSpPr>
          <p:cNvPr id="24" name="Next text"/>
          <p:cNvSpPr txBox="1"/>
          <p:nvPr/>
        </p:nvSpPr>
        <p:spPr>
          <a:xfrm>
            <a:off x="1737360" y="4754880"/>
            <a:ext cx="9738360" cy="1188720"/>
          </a:xfrm>
          <a:prstGeom prst="rect">
            <a:avLst/>
          </a:prstGeom>
          <a:noFill/>
          <a:ln/>
        </p:spPr>
        <p:txBody>
          <a:bodyPr wrap="square" lIns="0" tIns="0" rIns="0" bIns="0" rtlCol="0" anchor="ctr"/>
          <a:lstStyle/>
          <a:p>
            <a:pPr marL="0" indent="0">
              <a:buNone/>
            </a:pPr>
            <a:r>
              <a:rPr lang="en-US" sz="1650" b="1" dirty="0">
                <a:solidFill>
                  <a:srgbClr val="1F2A44"/>
                </a:solidFill>
              </a:rPr>
              <a:t>Next step, no award needed: </a:t>
            </a:r>
            <a:r>
              <a:rPr lang="en-US" sz="1650" dirty="0">
                <a:solidFill>
                  <a:schemeClr val="tx2"/>
                </a:solidFill>
              </a:rPr>
              <a:t>before the next architecture review, list every cloud feature your designs depend on, with its Marketplace package, its availability in your environment and the page that says so. Then put Appendix A's requests to your provider.</a:t>
            </a:r>
            <a:endParaRPr lang="en-US" sz="1650" dirty="0"/>
          </a:p>
        </p:txBody>
      </p:sp>
      <p:sp>
        <p:nvSpPr>
          <p:cNvPr id="25"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FedRAMP Consolidated Rules for 2026; FedRAMP Marketplace; NIST SP 800-37 Rev. 2; Microsoft Learn — Azure Policy, subscription vending. Book 10, Chapters 01, 05, 07, 08, 09 and 11; Appendix A.</a:t>
            </a:r>
            <a:endParaRPr lang="en-US" sz="1000" dirty="0"/>
          </a:p>
        </p:txBody>
      </p:sp>
      <p:sp>
        <p:nvSpPr>
          <p:cNvPr id="26"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15</a:t>
            </a:fld>
            <a:endParaRPr lang="en-US"/>
          </a:p>
        </p:txBody>
      </p:sp>
      <p:pic>
        <p:nvPicPr>
          <p:cNvPr id="27" name="Narration" descr="Narration for this slide; captions available">
            <a:hlinkClick r:id="" action="ppaction://media"/>
            <a:extLst>
              <a:ext uri="{FF2B5EF4-FFF2-40B4-BE49-F238E27FC236}">
                <a16:creationId xmlns:a16="http://schemas.microsoft.com/office/drawing/2014/main" id="{54DF807B-991F-BED3-8FAA-A1CACF2B80EB}"/>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3D7B1F07-C586-4397-905D-AFEBA3DBAAB0}" label="English (captions)" lang="en-US" r:embed="rId11"/>
                        </p173:trackLst>
                      </p173:tracksInfo>
                    </p:ext>
                  </p14:extLst>
                </p14:media>
              </p:ext>
            </p:extLst>
          </p:nvPr>
        </p:nvPicPr>
        <p:blipFill>
          <a:blip r:embed="rId10"/>
          <a:stretch>
            <a:fillRect/>
          </a:stretch>
        </p:blipFill>
        <p:spPr>
          <a:xfrm>
            <a:off x="127000" y="6350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57330"/>
    </mc:Choice>
    <mc:Fallback>
      <p:transition spd="slow" advTm="5733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53328" fill="hold"/>
                                        <p:tgtEl>
                                          <p:spTgt spid="27"/>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Federal Modernization Workbook">
  <a:themeElements>
    <a:clrScheme name="Federal Modernization Workbook">
      <a:dk1>
        <a:srgbClr val="1F2A44"/>
      </a:dk1>
      <a:lt1>
        <a:srgbClr val="FFFFFF"/>
      </a:lt1>
      <a:dk2>
        <a:srgbClr val="334155"/>
      </a:dk2>
      <a:lt2>
        <a:srgbClr val="F1F5F9"/>
      </a:lt2>
      <a:accent1>
        <a:srgbClr val="1F2A44"/>
      </a:accent1>
      <a:accent2>
        <a:srgbClr val="0F766E"/>
      </a:accent2>
      <a:accent3>
        <a:srgbClr val="B45309"/>
      </a:accent3>
      <a:accent4>
        <a:srgbClr val="B91C1C"/>
      </a:accent4>
      <a:accent5>
        <a:srgbClr val="64748B"/>
      </a:accent5>
      <a:accent6>
        <a:srgbClr val="E6F2F1"/>
      </a:accent6>
      <a:hlink>
        <a:srgbClr val="0F766E"/>
      </a:hlink>
      <a:folHlink>
        <a:srgbClr val="334155"/>
      </a:folHlink>
    </a:clrScheme>
    <a:fontScheme name="Federal Modernization Workbook">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5741</Words>
  <Application>Microsoft Office PowerPoint</Application>
  <PresentationFormat>Widescreen</PresentationFormat>
  <Paragraphs>374</Paragraphs>
  <Slides>15</Slides>
  <Notes>15</Notes>
  <HiddenSlides>0</HiddenSlides>
  <MMClips>15</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15</vt:i4>
      </vt:variant>
    </vt:vector>
  </HeadingPairs>
  <TitlesOfParts>
    <vt:vector size="19" baseType="lpstr">
      <vt:lpstr>Arial</vt:lpstr>
      <vt:lpstr>Calibri</vt:lpstr>
      <vt:lpstr>Cambria</vt:lpstr>
      <vt:lpstr>Federal Modernization Workbook</vt:lpstr>
      <vt:lpstr>Why Does the Authorization Boundary Decide What You Can Use?</vt:lpstr>
      <vt:lpstr>Three checks, three owners decide what you can use</vt:lpstr>
      <vt:lpstr>The invisible boundary, and the example corrected</vt:lpstr>
      <vt:lpstr>Four things change across any boundary</vt:lpstr>
      <vt:lpstr>FedRAMP 2026: classes, obligations, business days</vt:lpstr>
      <vt:lpstr>GCC is the worldwide service, minus a list</vt:lpstr>
      <vt:lpstr>The landing zone turns the boundary into policy</vt:lpstr>
      <vt:lpstr>The address plan is the join key the evidence needs</vt:lpstr>
      <vt:lpstr>The front door: no landing zone without a request</vt:lpstr>
      <vt:lpstr>Who decides, who keeps the record, who does the work</vt:lpstr>
      <vt:lpstr>Inventory, probe, then compensate or except</vt:lpstr>
      <vt:lpstr>Change the suite, keep the identity plane</vt:lpstr>
      <vt:lpstr>Write the boundary once; cite it everywhere</vt:lpstr>
      <vt:lpstr>What to ask a cloud provider for</vt:lpstr>
      <vt:lpstr>Decisions to make, and next steps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Book 10 — Cloud Boundary &amp; Landing Zone</dc:title>
  <dc:subject>PptxGenJS Presentation</dc:subject>
  <dc:creator>Michael F. Stratton</dc:creator>
  <cp:lastModifiedBy>Michael F. Stratton</cp:lastModifiedBy>
  <cp:revision>2</cp:revision>
  <dcterms:created xsi:type="dcterms:W3CDTF">2026-10-21T16:36:42Z</dcterms:created>
  <dcterms:modified xsi:type="dcterms:W3CDTF">2026-10-23T17:42:03Z</dcterms:modified>
</cp:coreProperties>
</file>