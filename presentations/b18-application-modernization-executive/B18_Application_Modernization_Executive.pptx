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notesMasterIdLst>
    <p:notesMasterId r:id="rId2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Why a portfolio, not a rewrite" id="{970bcf06-3ccb-baf6-c7d3-f2993a935af3}">
          <p14:sldIdLst>
            <p14:sldId id="256"/>
            <p14:sldId id="257"/>
            <p14:sldId id="258"/>
            <p14:sldId id="259"/>
          </p14:sldIdLst>
        </p14:section>
        <p14:section name="What each application becomes" id="{ec4c797a-14ab-ef18-7584-3e9d35f2a0e0}">
          <p14:sldIdLst>
            <p14:sldId id="260"/>
            <p14:sldId id="261"/>
            <p14:sldId id="262"/>
            <p14:sldId id="263"/>
            <p14:sldId id="264"/>
            <p14:sldId id="265"/>
            <p14:sldId id="266"/>
            <p14:sldId id="267"/>
            <p14:sldId id="268"/>
          </p14:sldIdLst>
        </p14:section>
        <p14:section name="Who governs the architecture" id="{3ea1f9f6-be53-523b-2534-24411a63ccaf}">
          <p14:sldIdLst>
            <p14:sldId id="269"/>
            <p14:sldId id="270"/>
          </p14:sldIdLst>
        </p14:section>
        <p14:section name="How to run it in waves" id="{badb8e4d-1e8f-9f28-08a6-b74b588b49d4}">
          <p14:sldIdLst>
            <p14:sldId id="271"/>
            <p14:sldId id="272"/>
            <p14:sldId id="273"/>
            <p14:sldId id="274"/>
            <p14:sldId id="275"/>
          </p14:sldIdLst>
        </p14:section>
        <p14:section name="Backup" id="{55f047f0-f4c6-6ba0-4c61-2e5ee6d7f1f0}">
          <p14:sldIdLst>
            <p14:sldId id="276"/>
            <p14:sldId id="277"/>
            <p14:sldId id="27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[0:00–1:35]  This is the executive briefing for Book 18 of the Federal Modernization Workbook, Application Modernization: about thirty minutes for the CIO, the CTO or chief architect, portfolio and application owners, the CISO, the privacy officer, authorizing officials and sponsors.
The argument in three sentences. An agency with thousands of legacy mission applications can't rewrite its way out: grand rewrites run years late, run beside the old system and lose the knowledge buried in the old code. So the unit of decision is the application: each gets a disposition from a scored triage, and only the ones that change are engineered, on one target reference architecture. Data moves with proof, AI joins only with an owner for every agent, and the portfolio runs in waves under gates that produce compliance evidence.
Four questions: why a portfolio and not a rewrite; what each application becomes; who governs the architecture; and how to run it at scale.
Three labels run through the deck, as through the book. The dispositions, the rubric, the stack, the gates and the wave design are program design, not federal requirements. Product versions, support windows and tool capabilities are dated observations, checked October 28 and 29, 2026. And the reference implementation is illustrative.
Each decision slide names the decision, its owner and when it's needed; undated timings are design guidance. The last slide gathers them.
Workbook: Book 18, index (Status — draft book; Why, what, who, how); Chapter 01 — A Portfolio, Not a Rewrite (The book's argument; Honest limits).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[1:35–3:08]  Start with the money. GAO's July 2025 review puts federal IT and cyber-related spending at more than $100 billion a year, with agencies typically reporting about 80 percent of it on operations and maintenance of existing IT. For fiscal year 2025 the IT Dashboard figure for the 24 CFO Act agencies was about $83 billion, 79 percent of planned IT spending.
GAO has twice ranked the most critical legacy systems. In 2019: 10 systems at 10 agencies, aged 8 to 51 years, and 8 of the 10 agencies lacked complete plans. In 2025: 11 systems, about 23 to 60 years old, costing about $754 million a year; only 3 had plans with every key element, and 2 had none. Seven run with vulnerabilities that can't be fixed without modernization.
Two features matter. The reviews measure the top of the list: eleven systems at $754 million are a small share of $83 billion, and the bulk sits in thousands of ordinary applications. And the gap GAO keeps finding is planning, not technology: milestones, a description of the work, and the disposition of the legacy system, each decided per system.
GAO also notes the extent of legacy IT is unknown, because OMB doesn't require investments to be flagged as legacy. The figures are government-wide and self-reported; each agency should measure its own.
Workbook: Book 18, Chapter 01 — A Portfolio, Not a Rewrite (opening; The scale of the problem; Honest limits).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[3:08–4:45]  The intuitive response is a replacement program: design, build, switch over. GAO's 2025 report recounts efforts abandoned over planning, cost and time to deliver, and investments that took more than a decade, partly because they weren't organized into manageable segments, contrary to OMB policy.
The reasons are structural. Value arrives only at the end, so the business case is tested when most of the money is spent. The specification is the old system: its real requirements are in its code, its data and its users' workarounds, and a rewrite must rediscover them all before go-live. Risk is concentrated in one cut-over with no easy way back. And a decade-long build ships technology chosen a decade earlier.
Federal policy points the other way. Circular A-130 asks agencies to structure major IT acquisitions into useful segments with a narrow scope and brief duration, with modular contracts awarded within 180 days of solicitation and IT delivered within 18 months. The FAR's modular contracting rule asks for increments that each deliver a workable system. Replacement isn't forbidden; it has to come in pieces that stand on their own.
Not every rewrite fails: a small, well-understood application with few integrations can be rebuilt in one step. The argument is against the whole-system rewrite as the default.
The decision sits with the CIO, who under FITARA, restated in OMB M-26-10, must approve IT contracts.
Workbook: Book 18, Chapter 01 (Why big-bang rewrites fail; Honest limits; What leadership should take from this, item 3); Chapter 07 — Who Governs the Architecture (What federal policy asks for: FITARA and M-26-10; responsibility matrix: approve IT contracts and licenses).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[4:45–6:19]  A portfolio program still has to decide what happens to each thing in it. The program or mission area is too coarse: it holds applications that should be retired next to ones that should be rebuilt. The platform can't be retired until every application on it has a decision. The application works: it has a mission owner, a data set, a code base, dependencies and an authorization boundary.
Federal policy is organized that way already. A-130 requires an inventory of major systems and an enterprise architecture with a baseline, a target and a transition plan that covers disposition of systems, and wants unsupported systems phased out as rapidly as possible. GAO's third key plan element is a disposition for each legacy system.
The figure is the book's argument: triage each application; retire or retain without engineering; rehost or replatform with little code change; refactor or rebuild onto one target, with data moved with proof and AI only with an owner; all of it governed and run in waves.
A recorded disposition, with its scores and the owner's agreement, is itself evidence for the transition plan, capital planning and an audit.
So the first deliverable is the inventory, not a target-state design. That's Phase 0, which the steward clears at gate G0; the share dispositioned is a metric the sponsor and CIO read.
Workbook: Book 18, Chapter 01 (The unit of decision is the application; What leadership should take from this, item 1); Chapter 10 — Running the Portfolio in Waves (The portfolio on the program's phases; Metrics: applications dispositioned).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[6:19–7:53]  Six dispositions, in rising order of cost and risk. Retire: switched off, its records kept, transferred or destroyed under the records schedule. Retain: kept on purpose, with a documented reason and a review date. Rehost: new infrastructure, no code change. Replatform: limited change, such as a new database engine, runtime or container. Refactor: restructured onto the target incrementally, behind a stable interface. Rebuild: written again on the target, still in increments.
The ordering is the rubric's first rule: the cheapest disposition that meets the mission need, with every step up justified by the scores.
The names come from Gartner's five options, which AWS dates to 2011, AWS's 7 Rs and the Cloud Adoption Framework's eight strategies; Microsoft's application modernization guidance uses the same six. Replace is treated as retire, because the new service is an acquisition with its own authorization, and A-130 says custom development should start only when no existing source can efficiently meet the need.
Two of the six are decisions, not projects. Retire and retain need an owner's agreement and, for retire, a decommissioning checklist, but no engineering team, and they're where most early savings are. A portfolio where nothing is retained has usually not been triaged.
The decision: fund decisions as well as projects, including decommissioning, through capital planning, where the CIO approves the IT components of agency plans.
Workbook: Book 18, Chapter 02 — Triaging the Portfolio (The six dispositions; Where the names come from; Where capital planning and the TMF fit: the CIO's approval; What leadership should take from this, item 2); Chapter 01 (What leadership should take from this, item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[7:53–9:25]  Triage of thousands can't be a study per application; a three-month assessment each would outlast most of the applications. It's a rubric applied to data, with judgment kept for exceptions.
Six criteria are scored 1 to 5: mission criticality, technical condition, data sensitivity, cost, skills and dependencies. FIPS 199 does much of the first pass: every federal system already has a categorization, and its availability and integrity impact stand in for mission criticality, confidentiality for data sensitivity. Dependencies decide sequence, not disposition.
The criteria combine into two axes, mission value and technical health, and each score carries a confidence flag: measured, attested or assumed. The decision table applies in order and the first match wins, from retire for low value to rebuild only after cheaper options are ruled out. Rule 7 sends any high-impact refactor or rebuild, and any contested result, to deep study. That's how a rubric covers thousands without becoming careless.
Owners get a fixed review window; a contested score is corrected, not argued around. Calibrate first on thirty to fifty applications experienced architects know, changing the weights, not their judgment, and again after the first wave.
The rubric is program design. Leadership agrees it once and rules on what rule 7 sends up; each disposition is signed by its application owner at Gate 1.
Workbook: Book 18, Chapter 02 (The six triage criteria; A scored rubric, not a study per application; Honest limits; What leadership should take from this, item 1); Chapter 07 (Four gates: Gate 1, disposition).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[9:25–11:00]  If each project picks its own language, framework and hosting, the agency ends the decade with as many stacks as it started with, only newer. One reference architecture makes the common choices once, so the platform team, the security team and the authorizing official review one pattern instead of hundreds.
The program's choices, checked October 28, 2026: Java on the current long-term support release, Java 25, with Spring Boot for services; React front ends kept thin, with business rules in services; Node.js only for thin backends-for-frontend, build tooling and event glue, on an LTS release; OpenAPI contracts written before the code; OCI containers on Kubernetes; PostgreSQL or SQL Server for data; secrets from a vault or, better, a workload identity. No federal rule names a stack; an agency with an established alternative, .NET for example, can substitute its own list.
The risk is the stack aging. Recent Spring Boot generations have had about thirteen months of open-source support: 3.5 is already outside it, and 4.0 leaves it at the end of 2026. Node.js release lines change this month, and Kubernetes maintains only its three newest minor releases. The approved list has to be maintained, not published once.
So the chief architect owns the approved list and its upgrade dates, and platform upgrades are budgeted as recurring work, or the modernized portfolio becomes the next legacy one.
Workbook: Book 18, Chapter 03 — The Target Reference Architecture (The layers and the choices; Services: Java and Spring Boot; Node.js where it fits; Containers, orchestration and configuration; Honest limits; What leadership should take from this, items 1 and 2); Chapter 07 (What it decides: approved-technology 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[11:00–12:30]  A refactor happens through the strangler-fig pattern: new functionality is built alongside the legacy system and behavior moves over piece by piece. The figure's four stages: a façade intercepts requests and sends most to the legacy application; functions move one at a time to new services behind the same contract, with an anti-corruption layer translating between old and new; the legacy application is decommissioned once nothing depends on it; and the façade is removed or kept as an adapter.
The guidance also says when a refactor is feasible, which belongs in rule 7's deep study. Requests must be interceptable: if the back end can't sit behind a façade and none of its integration points can change, the pattern doesn't fit. Shared data needs a plan: one domain at a time, copied, kept in sync with change data capture, validated, and only then made the system of record. The façade mustn't become a bottleneck. Rollback stays practical until a domain's legacy tables and procedures are removed, a deliberate last step. And a small system may be simpler to replace whole.
The decision is a question at design review: name the façade, the first function to move, the shared-data plan and when rollback ends. The chief architect or a delegate decides at Gate 2.
Workbook: Book 18, Chapter 03 (Replacing incrementally: the strangler fig; What leadership should take from this, item 3); Chapter 07 (What it decides: a design at Gate 2; Four gates).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[12:30–14:06]  Code can be replaced a piece at a time; data moves once, and it's where projects lose the most trust. A bad screen is visible the day it ships; a row that didn't arrive, or a date that lost its time of day, may surface months later in a beneficiary's record. So the move is three jobs, each with evidence: convert the schema, move the rows, prove the result.
The dangerous conversions are the ones that succeed. Oracle's DATE holds a time of day; map it to PostgreSQL's date type and the time disappears. Oracle treats an empty string as null and the targets don't. Sequences must be advanced past the highest migrated key before the first insert, and neither engine guarantees gapless numbers.
No single check proves the move, because each shares an assumption with what it checks. Row counts catch missing or duplicated rows, not wrong values. A checksum over canonicalized rows catches any changed value, but computed after the transform it shares the transform's mistakes. An aggregate reconciliation written against each database, such as sums of amounts and counts per status, catches what the checksum can't; choose totals the business owner recognizes.
Validation proves equivalence, not correctness.
The cut-over choice belongs to the application owner and the authorizing official, and every strategy ends at the same gate: three results, every mismatch explained, and a rehearsed rollback.
Workbook: Book 18, Chapter 04 — Moving the Data (opening; Type mapping: where meaning changes silently; Proving that nothing was lost; Cutting over; Honest limits; What leadership should take from this, item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[14:06–15:40]  Phased and parallel cut-overs keep old and new in step for weeks or months. The figure compares big-bang, with a freeze and one switch; phased, one module or table set at a time; and parallel run, reconciled until the outputs agree, which suits calculations such as eligibility or payment amounts.
Only one way of staying in step is safe by default. Change data capture reads committed changes from the source's log, so the target can lag but never receives a change the source rejected. Dual writes, where the application writes to both databases, fail because the two writes don't share a transaction; under load the stores drift, invisibly. The program's rule: one system of record per table at a time, no application dual writes, fallback by reverse replication, and validation on a schedule.
Two cautions. AWS's change data capture has no latency guarantee, and for Db2 for z/OS as a source DMS supports only full loads, so a mainframe DB2 system that must coexist needs a separate change-capture product or delta loads. And the engine chooses the tools: only AWS's tools convert DB2 to PostgreSQL, Microsoft's assistant targets only SQL Server and Azure SQL, and PostgreSQL 14 leaves community support on November 12, 2026.
The decisions: forbid dual writes as a standard, and settle the engine before the wave plan commits dates.
Workbook: Book 18, Chapter 04 (Choosing the target engine; The conversion tools, October 2026; Cutting over; Coexistence without dual writes; What leadership should take from this, items 2 and 3); Chapter 07 (Standards and patterns).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[15:40–17:21]  Generative AI fits the architecture as a component: a capability behind an interface, called by a service that owns the business rules, its output checked rather than obeyed. The federal rules are in Book 17; two points shape this design. M-25-21's AI risk acceptance is separate from system authorization, and M-25-22 requires an authorization to operate before deployment, so an AI feature is part of the application's system and boundary.
Assistive features and retrieval change nothing by themselves, and retrieval runs with the caller's permissions. Code modernization assistance produces drafts that pass the same review gates, never unattended on a production repository. An agent that calls tools can act. All of them call models through one provider-neutral interface owned by the platform: one call shape, a record of which model answered for which caller, a deterministic stub for tests, and limits in one place.
An agent's risk is what it can do. OWASP calls it Excessive Agency, and says of prompt injection that it's unclear whether fool-proof prevention exists. So the design assumes a steered agent and limits the harm: an identity and a human sponsor; a tool allow-list enforced outside the model, with denials audited; least privilege enforced by the systems it calls; a step limit; and no tool that writes to a system of record. A change becomes a pending proposal an authorized person approves.
Watch for approval fatigue. The chief architect makes these design standards.
Workbook: Book 18, Chapter 05 — Generative and Agentic AI in the Architecture (Where AI fits; One provider-neutral model interface; The guardrails an agent needs; Tool protocols: the Model Context Protocol; Honest limits; What leadership should take from this); Chapter 07 (Standards and patterns).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[17:21–19:00]  Compliance is usually a package assembled at the end. Modernization is the moment to change that, because the agency is choosing the architecture, platform and pipeline anyway. A control the target architecture implements once is inherited by every application on it; a pipeline that records its results produces evidence on every merge and release.
A-130 asks for exactly this: security, privacy, records, transparency and supply chain considered throughout the life cycle, with controls built into the enterprise architecture and development processes. It also asks agencies to plan for systems that can't be appropriately protected, including unsupported components, and give them high priority for upgrade, replacement or retirement; in the catalog that's SA-22. So a retained application on unsupported software without a plan is an open finding, not a neutral decision.
The figure places the controls: engineering principles and PII authority at design; developer testing, the SSDF practices and an SBOM at build; baseline, change control, inventory and encryption at deploy; logging, flaw remediation and account review, agents included, in operation.
M-26-05 rescinded the attestation mandate in January 2026 but kept the software inventory and lets agencies require SBOMs by contract. For software it builds, the agency is the producer, and SSDF version 1.1 is the practice set; 1.2 is still a draft. Inheritance is only as good as the platform's own authorization.
The application owner records the plan; the authorizing official alone accepts the risk.
Workbook: Book 18, Chapter 06 — Compliance by Design (opening; Legacy as a compliance finding; The controls application work touches most; Secure development after M-26-05; Evidence, not packages; Honest limits; What leadership should take from this, items 1 and 2); Chapter 07 (What it decides: residual risk).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[19:00–20:38]  Modernization changes how personal information flows, and privacy obligations attach to those changes. A-130 requires privacy impact assessments when developing or using IT, PII limited to what's authorized and necessary, and an inventory of systems that handle it, and says the senior agency official for privacy's review should begin at the earliest planning stages.
So the program names the events that reopen privacy work. A new data store or engine changes where PII lives and who administers it. A new data flow, from splitting a monolith, adding an API or change data capture, creates copies the old assessment didn't describe. An AI feature is a new use of the information. Test data should be synthetic or masked. And retirement is a disposition of the PII a system holds.
Data governance follows the data. Under the Evidence Act and OMB M-25-05, agencies keep a comprehensive data inventory under their chief data officers; when a data asset moves or splits, its entry moves with it, and that's on the cut-over checklist.
Records decisions come in disguise. A-130 builds retention and disposition in from design to decommissioning. Retiring an application means migrating, transferring or destroying its records under an approved schedule, and a migration that drops history or attachments may be destroying records. So the records officer reviews every retire disposition.
These judgments aren't automatable; they go to the privacy and records officials at Gate 2.
Workbook: Book 18, Chapter 06 (Privacy as a design input; Data governance: the Evidence Act and chief data officers; Records: from design to decommissioning; Honest limits; What leadership should take from this, item 3); Chapter 07 (What it decides; Who sits on it; Four gates: Gate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[20:38–22:14]  The earlier decisions survive a few hundred delivery teams only if they have owners. Otherwise defensible shortcuts add up to a second legacy estate.
No federal rule requires an architecture review board, but several require what one produces. A-130 requires an enterprise architecture, and SP 800-53's PM-7, PL-8 and SA-17 ask for it, each system's place in it and designs consistent with it. CM-3 asks for a named change control body with security and privacy representatives, and CM-4 for impact analysis. Under FITARA, restated in OMB M-26-10, the CIO must approve IT contracts. A board can recommend a technology; it can't buy one.
So the board is the change control body for the target architecture, ideally an existing forum. The table is the book's decision list: the chief architect, as chair, decides the approved list, patterns, exceptions with an end date and Gate 2 designs; application owners decide dispositions; the CISO and the senior agency official for privacy set control requirements; the authorizing official alone decides significance and accepts residual risk; the CIO approves contracts and charters the board.
The board reviews; it doesn't vote. The authorizing official observes but isn't a member. And an exception that touches a control goes to the authorizing official through the plan of action and milestones.
The CIO charters the board in Phase 1, when the gates stand up.
Workbook: Book 18, Chapter 07 — Who Governs the Architecture (What federal policy asks for; The architecture review board: what it decides, who sits on it; Responsibility matrix; Where governance goes wrong, item 5); Chapter 10 (The portfolio on the program's phases: Phase 1, Foundation).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[22:14–23:51]  The board governs through three artifacts kept in a repository and changed by pull request: an approved-technology list with tiers and supported versions, since SA-22 asks for unsupported components to be replaced; runnable reference patterns; and architecture decision records. A list without versions is a brochure. Teams that start from a pattern inherit the review it already passed, so Gate 2 for a standard service is short.
Every application the triage changes passes four gates; retire and retain pass only the first. Gate 1: a scored triage record the owner signed. Gate 2, before build: decision records, the interface contract, a data classification, a threat model and the privacy check. Gate 3, every change: a pull request reviewed by someone other than its author, passing tests and scans, and an SBOM. Gate 4, every release: a signed build with provenance, an impact analysis and a change record.
Two are meetings and two are automation, deliberately. Gates 3 and 4 run many times a day on protected branches; bind administrators too, because a rule they can skip is a standing exception. The gates belong in the definition of done, so agile delivery doesn't conflict.
No closure counts unless it carries its proof. And only the authorizing official decides when a change is significant enough to reopen the authorization; that threshold lives in the continuous monitoring strategy, and Gate 2 applies it.
Workbook: Book 18, Chapter 07 (Standards and patterns; Four gates; Git and pipeline practice; What SBOMs are for, after M-26-05; How the gates become evidence; Responsibility matrix: decide whether a change is significant).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[23:51–25:24]  Arguments about architecture are cheap; code that runs isn't. The workbook ships a small reference implementation beside the book: a case-management service with a front end, a legacy database it was moved from, and an AI agent that helps triage cases.
It shows each pattern in code. A Spring Boot service over PostgreSQL that owns its schema, with an OpenAPI contract a test checks against the code in both directions. A React front end with pending proposals to approve or reject. A migration tool that reads a synthetic DB2-style or Oracle schema, stops on any value it can't map rather than guessing, and validates with row counts, a checksum and independent aggregates. Its tests break things on purpose: change one amount and two checks fail; truncate a name and only the checksum catches it. And an agent with an identity and sponsor the service won't start without, a tool allow-list, a five-step limit and one write path: pending proposals.
Verified on October 28, 2026: the service and migration tests pass against real PostgreSQL 18.6, the contract test passes, and the guardrails hold against the stub and scripted misbehaving replies. Not verified: real DB2 or Oracle, since H2's compatibility modes stood in; a real model; the containers. It has no authentication and only synthetic data.
Copy the pattern, not the claim.
Workbook: Book 18, Chapter 08 — The Reference Implementation (What is in it; The service and its contract; The migration tool and its three checks; The agent and its guardrails; What was verified, and what wasn't); Chapter 07 (Standards and patterns: reference patterns).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[25:24–27:00]  Many agencies' enterprise architecture offices speak TOGAF or Zachman. The book maps its work onto both.
What's required: A-130 asks for an enterprise architecture with a baseline, a target and a transition plan, security and privacy built in, and names no framework. SP 800-53 carries it as PM-7 for the enterprise and PL-8 for each system. FEAF version 2, from 2013, is historical background on an archived page.
The current TOGAF Standard is the 10th Edition from The Open Group, announced April 2022, with a corrigendum applied in May 2025. Its Architecture Development Method is a cycle of phases around requirements management. The figure files each chapter under a phase: the portfolio argument is the vision; triage is business architecture and the choice of options; architecture, data and AI are information systems and technology; gates and validation are implementation governance; and re-triage is Phase H, which starts the next cycle.
Zachman's Framework, version 3.0, is a six-by-six grid of interrogatives and perspectives, explicitly not a methodology; it's the checklist. Read by column it shows the book's gaps: little on locations above the engineer row, and little on application timing such as batch windows, which belongs in design review.
File the artifacts, don't redo them; treat an empty cell as a question; and don't buy compliance with a framework. These mappings are the program's reading, unreviewed by either publisher.
Workbook: Book 18, Chapter 09 — Mapping the Work to TOGAF and Zachman (What federal policy requires; The TOGAF Standard today; The Zachman Framework today; Mapping the chapters and artifacts; Using the mappings; Key takeaways).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[27:00–28:38]  A disposition for every application is a list, not a plan. Waves solve both: each batch moves through the same steps and leaves the next a little cheaper.
The portfolio runs inside the program's existing phases and gates, G0 to G5. Phase 0: inventory and triage. Phase 1: build the factory and stand up the gates. Phase 2: the pilot. Phase 3: factory waves, extended as long as the portfolio needs. Phase 4: decommission what the waves replaced, including DB2 and Oracle instances and licenses. Before G5, no production application may still authenticate against Active Directory. Phase 6: the long tail and re-triage. Gate authorities don't change; the evidence each gate reads does.
AWS and Microsoft agree: start small and fail fast, but put one or two complex, representative workloads in early waves. So the pilot is three to five simple applications plus one hard case with a DB2 or Oracle database and a real interface contract. Group by what must move together, above all a shared database. Plan four to five waves ahead, only the next in detail.
The factory is the platform, patterns, pipelines, data tooling, runbooks and a small portfolio team; it works if the fifth wave costs less per application than the first. The classic failures: a pilot that's too easy, waves sized by the schedule, and nothing actually retired.
The steward and executive sponsor clear G2.
Workbook: Book 18, Chapter 10 — Running the Portfolio in Waves (The portfolio on the program's phases; Planning waves; Three kinds of wave; The modernization factory; Where wave programs go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[28:38–30:16]  Waves are also a funding structure: each a request small enough to approve, with results soon enough to show.
The Technology Modernization Fund funds proposals that improve, retire or replace existing systems. Competitive projects are typically under $25 million, on a five-year repayment timeline, with measurable outcomes ideally within 12 months, and money is released in stages at milestones. The 2026 call kept legacy modernization as a priority, with initial proposals due October 20, 2026. A wave plan fits: fund the pilot and first factory waves, with milestones that match the gates.
The MGT Act lets CFO Act agencies set up IT working capital funds to improve, retire or replace systems and repay TMF transfers. Deposits stay available three years, the fund can't supplant operations and maintenance money, and cost-savings activities the CIO approves come first. So one wave's retirement savings can pay for the next.
Waves still go through capital planning, and OMB M-26-10 restates that the CIO advises on whether to continue, modify or terminate IT programs; a disposition is that advice made specific, which is why the CIO should sign the wave plan.
The table's metrics are reported at the monthly gate review, each from a record. Report cost avoided only from retirement records.
Re-score on triggers, such as end of support, an incident, or a cost or mission change, and re-score the whole portfolio yearly with the budget cycle.
Workbook: Book 18, Chapter 10 (Metrics; Funding; Keeping the triage current; Where wave programs go wrong, item 3); Chapter 02 (Where capital planning and the TMF fit).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[30:16–31:57]  So, the decisions, with their owners.
The CIO approves no proposal that delivers nothing until a single cut-over; charters the architecture review board and names its chair in Phase 1; and, each budget cycle, funds retire and retain and the decommissioning behind them, signs the wave plan and has the portfolio re-scored.
The steward runs the inventory in Phase 0, with an owner and a proposed disposition for every application. Leadership agrees the rubric once and rules only on contested and high-stakes cases; application owners sign each disposition.
The chief architect owns one target stack, with upgrades budgeted; asks every refactor at Gate 2 for its façade, first function, shared-data plan and rollback end; makes no dual writes a standard, with each engine settled before the wave plan commits dates; and makes no-write agents, a federal sponsor for every agent and one model interface design standards.
The application owner and the authorizing official see three validation results before every cut-over. A retained application on unsupported software is a finding with a plan, a risk acceptance and a review date. The privacy and records officials hear about the named events at design review. The authorizing official sets, before the first wave, when a change reopens the authorization. And the steward and sponsor run a pilot with one hard case, sizing later waves by throughput.
None of these is a rewrite. Book 18 has the detail, with every claim footnoted. Thank you.
Workbook: Book 18, Chapter 01 (What leadership should take from this); Chapter 02 (What leadership should take from this); Chapters 03–06 (What leadership should take from this); Chapter 07 (Responsibility matrix; Key takeaways); Chapter 10 (Key takeaways; closing 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Title-image-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Content-image-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463040"/>
            <a:ext cx="6217920" cy="1920240"/>
          </a:xfrm>
          <a:prstGeom prst="rect">
            <a:avLst/>
          </a:prstGeom>
          <a:noFill/>
          <a:ln/>
        </p:spPr>
        <p:txBody>
          <a:bodyPr wrap="square" rtlCol="0"/>
          <a:lstStyle>
            <a:lvl1pPr algn="l" indent="0" marL="0">
              <a:buNone/>
              <a:defRPr lang="en-US" sz="4400" b="1" dirty="0">
                <a:solidFill>
                  <a:schemeClr val="tx1"/>
                </a:solidFill>
                <a:latin typeface="Cambria" pitchFamily="34" charset="0"/>
                <a:ea typeface="Cambria" pitchFamily="34" charset="-122"/>
                <a:cs typeface="Cambria" pitchFamily="34" charset="-120"/>
              </a:defRPr>
            </a:lvl1pPr>
          </a:lstStyle>
          <a:p>
            <a:pPr algn="l" indent="0" marL="0">
              <a:buNone/>
            </a:pPr>
            <a:endParaRPr lang="en-US" sz="4400" dirty="0"/>
          </a:p>
        </p:txBody>
      </p:sp>
      <p:sp>
        <p:nvSpPr>
          <p:cNvPr id="3" name="Text 0"/>
          <p:cNvSpPr/>
          <p:nvPr>
            <p:ph idx="101" type="body" hasCustomPrompt="1"/>
          </p:nvPr>
        </p:nvSpPr>
        <p:spPr>
          <a:xfrm>
            <a:off x="731520" y="3520440"/>
            <a:ext cx="6035040" cy="822960"/>
          </a:xfrm>
          <a:prstGeom prst="rect">
            <a:avLst/>
          </a:prstGeom>
          <a:noFill/>
          <a:ln/>
        </p:spPr>
        <p:txBody>
          <a:bodyPr wrap="square" rtlCol="0"/>
          <a:lstStyle>
            <a:lvl1pPr indent="0" marL="0">
              <a:buNone/>
              <a:defRPr lang="en-US" sz="2200" dirty="0">
                <a:solidFill>
                  <a:schemeClr val="accent2"/>
                </a:solidFill>
              </a:defRPr>
            </a:lvl1pPr>
          </a:lstStyle>
          <a:p>
            <a:pPr indent="0" marL="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rtlCol="0"/>
          <a:lstStyle>
            <a:lvl1pPr algn="ctr" indent="0" marL="0">
              <a:buNone/>
              <a:defRPr lang="en-US" sz="3000" b="1" dirty="0">
                <a:solidFill>
                  <a:schemeClr val="tx1"/>
                </a:solidFill>
                <a:latin typeface="Cambria" pitchFamily="34" charset="0"/>
                <a:ea typeface="Cambria" pitchFamily="34" charset="-122"/>
                <a:cs typeface="Cambria" pitchFamily="34" charset="-120"/>
              </a:defRPr>
            </a:lvl1pPr>
          </a:lstStyle>
          <a:p>
            <a:pPr algn="ctr" indent="0" marL="0">
              <a:buNone/>
            </a:pPr>
            <a:endParaRPr lang="en-US" sz="3000" dirty="0"/>
          </a:p>
        </p:txBody>
      </p:sp>
      <p:sp>
        <p:nvSpPr>
          <p:cNvPr id="3" name="Text 0"/>
          <p:cNvSpPr/>
          <p:nvPr/>
        </p:nvSpPr>
        <p:spPr>
          <a:xfrm>
            <a:off x="548640" y="6400800"/>
            <a:ext cx="8229600" cy="274320"/>
          </a:xfrm>
          <a:prstGeom prst="rect">
            <a:avLst/>
          </a:prstGeom>
          <a:noFill/>
          <a:ln/>
        </p:spPr>
        <p:txBody>
          <a:bodyPr wrap="square" lIns="0" tIns="0" rIns="0" bIns="0" rtlCol="0" anchor="ctr"/>
          <a:lstStyle/>
          <a:p>
            <a:pPr indent="0" marL="0">
              <a:buNone/>
            </a:pPr>
            <a:r>
              <a:rPr lang="en-US" sz="1000" dirty="0">
                <a:solidFill>
                  <a:schemeClr val="accent5"/>
                </a:solidFill>
              </a:rPr>
              <a:t>Federal Modernization Workbook  ·  Book 18 Application Modernization  ·  Executive briefing</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3.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3.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3.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3.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3.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3.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3.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3.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3.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slideLayout" Target="../slideLayouts/slideLayout3.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slideLayout" Target="../slideLayouts/slideLayout3.xml"/><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3.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3.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slideLayout" Target="../slideLayouts/slideLayout3.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slideLayout" Target="../slideLayouts/slideLayout3.xml"/><Relationship Id="rId5"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slideLayout" Target="../slideLayouts/slideLayout3.xml"/><Relationship Id="rId6"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slideLayout" Target="../slideLayouts/slideLayout3.xml"/><Relationship Id="rId6"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slideLayout" Target="../slideLayouts/slideLayout3.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1463040"/>
            <a:ext cx="6217920" cy="1920240"/>
          </a:xfrm>
          <a:prstGeom prst="rect">
            <a:avLst/>
          </a:prstGeom>
          <a:noFill/>
          <a:ln/>
        </p:spPr>
        <p:txBody>
          <a:bodyPr wrap="square" lIns="0" tIns="0" rIns="0" bIns="0" rtlCol="0" anchor="b"/>
          <a:lstStyle/>
          <a:p>
            <a:pPr algn="l" indent="0" marL="0">
              <a:buNone/>
            </a:pPr>
            <a:r>
              <a:rPr lang="en-US" sz="4400" b="1" dirty="0">
                <a:solidFill>
                  <a:schemeClr val="tx1"/>
                </a:solidFill>
                <a:latin typeface="Cambria" pitchFamily="34" charset="0"/>
                <a:ea typeface="Cambria" pitchFamily="34" charset="-122"/>
                <a:cs typeface="Cambria" pitchFamily="34" charset="-120"/>
              </a:rPr>
              <a:t>Application Modernization: the executive briefing</a:t>
            </a:r>
            <a:endParaRPr lang="en-US" sz="4400" dirty="0"/>
          </a:p>
        </p:txBody>
      </p:sp>
      <p:sp>
        <p:nvSpPr>
          <p:cNvPr id="3" name="Text 0"/>
          <p:cNvSpPr/>
          <p:nvPr>
            <p:ph idx="101" type="body" hasCustomPrompt="1"/>
          </p:nvPr>
        </p:nvSpPr>
        <p:spPr>
          <a:xfrm>
            <a:off x="731520" y="3520440"/>
            <a:ext cx="6035040" cy="822960"/>
          </a:xfrm>
          <a:prstGeom prst="rect">
            <a:avLst/>
          </a:prstGeom>
          <a:noFill/>
          <a:ln/>
        </p:spPr>
        <p:txBody>
          <a:bodyPr wrap="square" lIns="0" tIns="0" rIns="0" bIns="0" rtlCol="0" anchor="t"/>
          <a:lstStyle/>
          <a:p>
            <a:pPr indent="0" marL="0">
              <a:buNone/>
            </a:pPr>
            <a:r>
              <a:rPr lang="en-US" sz="2200" dirty="0">
                <a:solidFill>
                  <a:schemeClr val="accent2"/>
                </a:solidFill>
              </a:rPr>
              <a:t>Book 18 — Application Modernization  ·  Executive briefing</a:t>
            </a:r>
            <a:endParaRPr lang="en-US" sz="2200" dirty="0"/>
          </a:p>
        </p:txBody>
      </p:sp>
      <p:sp>
        <p:nvSpPr>
          <p:cNvPr id="4" name="Presenter"/>
          <p:cNvSpPr txBox="1"/>
          <p:nvPr/>
        </p:nvSpPr>
        <p:spPr>
          <a:xfrm>
            <a:off x="731520" y="5897880"/>
            <a:ext cx="6858000" cy="365760"/>
          </a:xfrm>
          <a:prstGeom prst="rect">
            <a:avLst/>
          </a:prstGeom>
          <a:noFill/>
          <a:ln/>
        </p:spPr>
        <p:txBody>
          <a:bodyPr wrap="square" lIns="0" tIns="0" rIns="0" bIns="0" rtlCol="0" anchor="ctr"/>
          <a:lstStyle/>
          <a:p>
            <a:pPr indent="0" marL="0">
              <a:buNone/>
            </a:pPr>
            <a:r>
              <a:rPr lang="en-US" sz="1600" dirty="0">
                <a:solidFill>
                  <a:srgbClr val="64748B"/>
                </a:solidFill>
              </a:rPr>
              <a:t>Presented by  </a:t>
            </a:r>
            <a:pPr indent="0" marL="0">
              <a:buNone/>
            </a:pPr>
            <a:r>
              <a:rPr lang="en-US" sz="1600" b="1" dirty="0">
                <a:solidFill>
                  <a:srgbClr val="1F2A44"/>
                </a:solidFill>
              </a:rPr>
              <a:t>Michael F. Stratton</a:t>
            </a:r>
            <a:endParaRPr lang="en-US" sz="1600" dirty="0"/>
          </a:p>
        </p:txBody>
      </p:sp>
      <p:sp>
        <p:nvSpPr>
          <p:cNvPr id="5" name="Disclaimer"/>
          <p:cNvSpPr txBox="1"/>
          <p:nvPr/>
        </p:nvSpPr>
        <p:spPr>
          <a:xfrm>
            <a:off x="731520" y="6309360"/>
            <a:ext cx="8686800" cy="274320"/>
          </a:xfrm>
          <a:prstGeom prst="rect">
            <a:avLst/>
          </a:prstGeom>
          <a:noFill/>
          <a:ln/>
        </p:spPr>
        <p:txBody>
          <a:bodyPr wrap="square" lIns="0" tIns="0" rIns="0" bIns="0" rtlCol="0" anchor="ctr"/>
          <a:lstStyle/>
          <a:p>
            <a:pPr indent="0" marL="0">
              <a:buNone/>
            </a:pPr>
            <a:r>
              <a:rPr lang="en-US" sz="1050" dirty="0">
                <a:solidFill>
                  <a:srgbClr val="64748B"/>
                </a:solidFill>
              </a:rPr>
              <a:t>Not an official U.S. government publication. Independent technical analysis; not reviewed or endorsed by any federal agency.</a:t>
            </a:r>
            <a:endParaRPr lang="en-US" sz="1050" dirty="0"/>
          </a:p>
        </p:txBody>
      </p:sp>
      <p:sp>
        <p:nvSpPr>
          <p:cNvPr id="6" name="Agenda line"/>
          <p:cNvSpPr txBox="1"/>
          <p:nvPr/>
        </p:nvSpPr>
        <p:spPr>
          <a:xfrm>
            <a:off x="731520" y="4389120"/>
            <a:ext cx="6035040" cy="457200"/>
          </a:xfrm>
          <a:prstGeom prst="rect">
            <a:avLst/>
          </a:prstGeom>
          <a:noFill/>
          <a:ln/>
        </p:spPr>
        <p:txBody>
          <a:bodyPr wrap="square" lIns="0" tIns="0" rIns="0" bIns="0" rtlCol="0" anchor="t"/>
          <a:lstStyle/>
          <a:p>
            <a:pPr indent="0" marL="0">
              <a:buNone/>
            </a:pPr>
            <a:r>
              <a:rPr lang="en-US" sz="2000" b="1" dirty="0">
                <a:solidFill>
                  <a:srgbClr val="B91C1C"/>
                </a:solidFill>
              </a:rPr>
              <a:t>Why</a:t>
            </a:r>
            <a:pPr indent="0" marL="0">
              <a:buNone/>
            </a:pPr>
            <a:r>
              <a:rPr lang="en-US" sz="2000" dirty="0">
                <a:solidFill>
                  <a:srgbClr val="64748B"/>
                </a:solidFill>
              </a:rPr>
              <a:t>   ·   </a:t>
            </a:r>
            <a:pPr indent="0" marL="0">
              <a:buNone/>
            </a:pPr>
            <a:r>
              <a:rPr lang="en-US" sz="2000" b="1" dirty="0">
                <a:solidFill>
                  <a:srgbClr val="1F2A44"/>
                </a:solidFill>
              </a:rPr>
              <a:t>What</a:t>
            </a:r>
            <a:pPr indent="0" marL="0">
              <a:buNone/>
            </a:pPr>
            <a:r>
              <a:rPr lang="en-US" sz="2000" dirty="0">
                <a:solidFill>
                  <a:srgbClr val="64748B"/>
                </a:solidFill>
              </a:rPr>
              <a:t>   ·   </a:t>
            </a:r>
            <a:pPr indent="0" marL="0">
              <a:buNone/>
            </a:pPr>
            <a:r>
              <a:rPr lang="en-US" sz="2000" b="1" dirty="0">
                <a:solidFill>
                  <a:srgbClr val="0F766E"/>
                </a:solidFill>
              </a:rPr>
              <a:t>Who</a:t>
            </a:r>
            <a:pPr indent="0" marL="0">
              <a:buNone/>
            </a:pPr>
            <a:r>
              <a:rPr lang="en-US" sz="2000" dirty="0">
                <a:solidFill>
                  <a:srgbClr val="64748B"/>
                </a:solidFill>
              </a:rPr>
              <a:t>   ·   </a:t>
            </a:r>
            <a:pPr indent="0" marL="0">
              <a:buNone/>
            </a:pPr>
            <a:r>
              <a:rPr lang="en-US" sz="2000" b="1" dirty="0">
                <a:solidFill>
                  <a:srgbClr val="B45309"/>
                </a:solidFill>
              </a:rPr>
              <a:t>How</a:t>
            </a:r>
            <a:endParaRPr lang="en-US" sz="2000" dirty="0"/>
          </a:p>
        </p:txBody>
      </p:sp>
      <p:sp>
        <p:nvSpPr>
          <p:cNvPr id="7" name="Series line"/>
          <p:cNvSpPr txBox="1"/>
          <p:nvPr/>
        </p:nvSpPr>
        <p:spPr>
          <a:xfrm>
            <a:off x="731520" y="4937760"/>
            <a:ext cx="8229600" cy="822960"/>
          </a:xfrm>
          <a:prstGeom prst="rect">
            <a:avLst/>
          </a:prstGeom>
          <a:noFill/>
          <a:ln/>
        </p:spPr>
        <p:txBody>
          <a:bodyPr wrap="square" lIns="0" tIns="0" rIns="0" bIns="0" rtlCol="0" anchor="t"/>
          <a:lstStyle/>
          <a:p>
            <a:pPr indent="0" marL="0">
              <a:buNone/>
            </a:pPr>
            <a:r>
              <a:rPr lang="en-US" sz="1600" b="1" dirty="0">
                <a:solidFill>
                  <a:srgbClr val="1F2A44"/>
                </a:solidFill>
              </a:rPr>
              <a:t>Federal Modernization Workbook</a:t>
            </a:r>
            <a:endParaRPr lang="en-US" sz="1600" dirty="0"/>
          </a:p>
          <a:p>
            <a:pPr indent="0" marL="0">
              <a:buNone/>
            </a:pPr>
            <a:r>
              <a:rPr lang="en-US" sz="1600" dirty="0">
                <a:solidFill>
                  <a:srgbClr val="64748B"/>
                </a:solidFill>
              </a:rPr>
              <a:t>30 minutes for the CIO, chief architect, portfolio owners, CISO, privacy officer, authorizing officials and sponsors</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Most IT money keeps existing systems running</a:t>
            </a:r>
            <a:endParaRPr lang="en-US" sz="3000" dirty="0"/>
          </a:p>
        </p:txBody>
      </p:sp>
      <p:sp>
        <p:nvSpPr>
          <p:cNvPr id="3" name="Tag Why"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WHY</a:t>
            </a:r>
            <a:endParaRPr lang="en-US" sz="11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6309360" cy="914400"/>
        </p:xfrm>
        <a:graphic>
          <a:graphicData uri="http://schemas.openxmlformats.org/drawingml/2006/table">
            <a:tbl>
              <a:tblPr firstRow="1" bandRow="1"/>
              <a:tblGrid>
                <a:gridCol w="2103120"/>
                <a:gridCol w="2103120"/>
                <a:gridCol w="2103120"/>
              </a:tblGrid>
              <a:tr h="384048">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GAO's reviews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June 2019</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July 2025</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548640">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Systems most in need</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10, at 10 agencies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11, at 10 agencies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48640">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Age of those systems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8 to 51 years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About 23 to 60 years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48640">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Complete plans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8 of 10 agencies lacked them</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3 of 11 had every key element</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48640">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IT spend; share on O&amp;M</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Over $90B; about 80%</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Over $100B; 79% planned</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Lists box" descr="">
            <a:extLst>
              <a:ext uri="{C183D7F6-B498-43B3-948B-1728B52AA6E4}">
                <adec:decorative xmlns:adec="http://schemas.microsoft.com/office/drawing/2017/decorative" val="1"/>
              </a:ext>
            </a:extLst>
          </p:cNvPr>
          <p:cNvSpPr/>
          <p:nvPr/>
        </p:nvSpPr>
        <p:spPr>
          <a:xfrm>
            <a:off x="7086600" y="1371600"/>
            <a:ext cx="4572000" cy="2770632"/>
          </a:xfrm>
          <a:prstGeom prst="roundRect">
            <a:avLst>
              <a:gd name="adj" fmla="val 2640"/>
            </a:avLst>
          </a:prstGeom>
          <a:solidFill>
            <a:srgbClr val="FBE4E4"/>
          </a:solidFill>
          <a:ln w="12700">
            <a:solidFill>
              <a:srgbClr val="FBE4E4"/>
            </a:solidFill>
            <a:prstDash val="solid"/>
          </a:ln>
          <a:effectLst>
            <a:outerShdw sx="100000" sy="100000" kx="0" ky="0" algn="bl" rotWithShape="0" blurRad="76200" dist="25400" dir="5400000">
              <a:srgbClr val="64748B">
                <a:alpha val="22000"/>
              </a:srgbClr>
            </a:outerShdw>
          </a:effectLst>
        </p:spPr>
      </p:sp>
      <p:sp>
        <p:nvSpPr>
          <p:cNvPr id="7" name="Icon FaTriangleExclamation" descr="">
            <a:extLst>
              <a:ext uri="{C183D7F6-B498-43B3-948B-1728B52AA6E4}">
                <adec:decorative xmlns:adec="http://schemas.microsoft.com/office/drawing/2017/decorative" val="1"/>
              </a:ext>
            </a:extLst>
          </p:cNvPr>
          <p:cNvSpPr/>
          <p:nvPr/>
        </p:nvSpPr>
        <p:spPr>
          <a:xfrm>
            <a:off x="7315200" y="1517904"/>
            <a:ext cx="548640" cy="548640"/>
          </a:xfrm>
          <a:prstGeom prst="ellipse">
            <a:avLst/>
          </a:prstGeom>
          <a:solidFill>
            <a:srgbClr val="B91C1C"/>
          </a:solidFill>
          <a:ln w="12700">
            <a:solidFill>
              <a:srgbClr val="B91C1C"/>
            </a:solidFill>
            <a:prstDash val="solid"/>
          </a:ln>
        </p:spPr>
      </p:sp>
      <p:pic>
        <p:nvPicPr>
          <p:cNvPr id="8"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7446874" y="1649578"/>
            <a:ext cx="285293" cy="285293"/>
          </a:xfrm>
          <a:prstGeom prst="rect">
            <a:avLst/>
          </a:prstGeom>
        </p:spPr>
      </p:pic>
      <p:sp>
        <p:nvSpPr>
          <p:cNvPr id="9" name="Lists head"/>
          <p:cNvSpPr txBox="1"/>
          <p:nvPr/>
        </p:nvSpPr>
        <p:spPr>
          <a:xfrm>
            <a:off x="8001000" y="1517904"/>
            <a:ext cx="3520440" cy="548640"/>
          </a:xfrm>
          <a:prstGeom prst="rect">
            <a:avLst/>
          </a:prstGeom>
          <a:noFill/>
          <a:ln/>
        </p:spPr>
        <p:txBody>
          <a:bodyPr wrap="square" lIns="0" tIns="0" rIns="0" bIns="0" rtlCol="0" anchor="ctr"/>
          <a:lstStyle/>
          <a:p>
            <a:pPr indent="0" marL="0">
              <a:buNone/>
            </a:pPr>
            <a:r>
              <a:rPr lang="en-US" sz="1650" b="1" dirty="0">
                <a:solidFill>
                  <a:srgbClr val="B91C1C"/>
                </a:solidFill>
                <a:latin typeface="Cambria" pitchFamily="34" charset="0"/>
                <a:ea typeface="Cambria" pitchFamily="34" charset="-122"/>
                <a:cs typeface="Cambria" pitchFamily="34" charset="-120"/>
              </a:rPr>
              <a:t>What the lists don't show</a:t>
            </a:r>
            <a:endParaRPr lang="en-US" sz="1650" dirty="0"/>
          </a:p>
        </p:txBody>
      </p:sp>
      <p:sp>
        <p:nvSpPr>
          <p:cNvPr id="10" name="Lists list"/>
          <p:cNvSpPr txBox="1"/>
          <p:nvPr/>
        </p:nvSpPr>
        <p:spPr>
          <a:xfrm>
            <a:off x="7315200" y="2212848"/>
            <a:ext cx="4160520" cy="183642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11 systems: about $754M of $83B in O&amp;M</a:t>
            </a:r>
            <a:endParaRPr lang="en-US" sz="1400" dirty="0"/>
          </a:p>
          <a:p>
            <a:pPr marL="342900" indent="-342900">
              <a:spcAft>
                <a:spcPts val="600"/>
              </a:spcAft>
              <a:buSzPct val="100000"/>
              <a:buChar char="•"/>
            </a:pPr>
            <a:r>
              <a:rPr lang="en-US" sz="1350" dirty="0">
                <a:solidFill>
                  <a:schemeClr val="tx2"/>
                </a:solidFill>
              </a:rPr>
              <a:t>The bulk: thousands of ordinary applications</a:t>
            </a:r>
            <a:endParaRPr lang="en-US" sz="1400" dirty="0"/>
          </a:p>
          <a:p>
            <a:pPr marL="342900" indent="-342900">
              <a:spcAft>
                <a:spcPts val="600"/>
              </a:spcAft>
              <a:buSzPct val="100000"/>
              <a:buChar char="•"/>
            </a:pPr>
            <a:r>
              <a:rPr lang="en-US" sz="1350" dirty="0">
                <a:solidFill>
                  <a:schemeClr val="tx2"/>
                </a:solidFill>
              </a:rPr>
              <a:t>Extent of legacy IT unknown; nothing flags it</a:t>
            </a:r>
            <a:endParaRPr lang="en-US" sz="1400" dirty="0"/>
          </a:p>
          <a:p>
            <a:pPr marL="342900" indent="-342900">
              <a:spcAft>
                <a:spcPts val="600"/>
              </a:spcAft>
              <a:buSzPct val="100000"/>
              <a:buChar char="•"/>
            </a:pPr>
            <a:r>
              <a:rPr lang="en-US" sz="1350" dirty="0">
                <a:solidFill>
                  <a:schemeClr val="tx2"/>
                </a:solidFill>
              </a:rPr>
              <a:t>The gap is planning: milestones, work, disposition</a:t>
            </a:r>
            <a:endParaRPr lang="en-US" sz="1400" dirty="0"/>
          </a:p>
        </p:txBody>
      </p:sp>
      <p:sp>
        <p:nvSpPr>
          <p:cNvPr id="11" name="Takeaway" desc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91C1C"/>
            </a:solidFill>
            <a:prstDash val="solid"/>
          </a:ln>
          <a:effectLst>
            <a:outerShdw sx="100000" sy="100000" kx="0" ky="0" algn="bl" rotWithShape="0" blurRad="76200" dist="25400" dir="5400000">
              <a:srgbClr val="64748B">
                <a:alpha val="22000"/>
              </a:srgbClr>
            </a:outerShdw>
          </a:effectLst>
        </p:spPr>
      </p:sp>
      <p:sp>
        <p:nvSpPr>
          <p:cNvPr id="12" name="Icon FaChartLine" descr="">
            <a:extLst>
              <a:ext uri="{C183D7F6-B498-43B3-948B-1728B52AA6E4}">
                <adec:decorative xmlns:adec="http://schemas.microsoft.com/office/drawing/2017/decorative" val="1"/>
              </a:ext>
            </a:extLst>
          </p:cNvPr>
          <p:cNvSpPr/>
          <p:nvPr/>
        </p:nvSpPr>
        <p:spPr>
          <a:xfrm>
            <a:off x="777240" y="5029200"/>
            <a:ext cx="731520" cy="731520"/>
          </a:xfrm>
          <a:prstGeom prst="ellipse">
            <a:avLst/>
          </a:prstGeom>
          <a:solidFill>
            <a:srgbClr val="B91C1C"/>
          </a:solidFill>
          <a:ln w="12700">
            <a:solidFill>
              <a:srgbClr val="B91C1C"/>
            </a:solidFill>
            <a:prstDash val="solid"/>
          </a:ln>
        </p:spPr>
      </p:sp>
      <p:pic>
        <p:nvPicPr>
          <p:cNvPr id="13"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952805" y="5204765"/>
            <a:ext cx="380390" cy="380390"/>
          </a:xfrm>
          <a:prstGeom prst="rect">
            <a:avLst/>
          </a:prstGeom>
        </p:spPr>
      </p:pic>
      <p:sp>
        <p:nvSpPr>
          <p:cNvPr id="14" name="Takeaway text"/>
          <p:cNvSpPr txBox="1"/>
          <p:nvPr/>
        </p:nvSpPr>
        <p:spPr>
          <a:xfrm>
            <a:off x="1737360" y="4892040"/>
            <a:ext cx="9738360" cy="1005840"/>
          </a:xfrm>
          <a:prstGeom prst="rect">
            <a:avLst/>
          </a:prstGeom>
          <a:noFill/>
          <a:ln/>
        </p:spPr>
        <p:txBody>
          <a:bodyPr wrap="square" lIns="0" tIns="0" rIns="0" bIns="0" rtlCol="0" anchor="ctr"/>
          <a:lstStyle/>
          <a:p>
            <a:pPr indent="0" marL="0">
              <a:buNone/>
            </a:pPr>
            <a:r>
              <a:rPr lang="en-US" sz="1650" b="1" dirty="0">
                <a:solidFill>
                  <a:srgbClr val="B91C1C"/>
                </a:solidFill>
              </a:rPr>
              <a:t>The problem is the whole portfolio, not the flagship systems.  </a:t>
            </a:r>
            <a:pPr indent="0" marL="0">
              <a:buNone/>
            </a:pPr>
            <a:r>
              <a:rPr lang="en-US" sz="1650" dirty="0">
                <a:solidFill>
                  <a:schemeClr val="tx2"/>
                </a:solidFill>
              </a:rPr>
              <a:t>A program built only for the systems on GAO's list leaves most of the operations and maintenance cost where it is.</a:t>
            </a:r>
            <a:endParaRPr lang="en-US" sz="1650" dirty="0"/>
          </a:p>
        </p:txBody>
      </p:sp>
      <p:sp>
        <p:nvSpPr>
          <p:cNvPr id="15" name="Sources"/>
          <p:cNvSpPr txBox="1"/>
          <p:nvPr/>
        </p:nvSpPr>
        <p:spPr>
          <a:xfrm>
            <a:off x="548640" y="6053328"/>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GAO-19-471 (June 11, 2019); GAO-25-107795 (July 17, 2025) and its product page (status as of February 2026). Book 18, Chapter 01.</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Big-bang rewrites fail; policy asks for segments</a:t>
            </a:r>
            <a:endParaRPr lang="en-US" sz="3000" dirty="0"/>
          </a:p>
        </p:txBody>
      </p:sp>
      <p:sp>
        <p:nvSpPr>
          <p:cNvPr id="3" name="Tag Why"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WHY</a:t>
            </a:r>
            <a:endParaRPr lang="en-US" sz="1100" dirty="0"/>
          </a:p>
        </p:txBody>
      </p:sp>
      <p:sp>
        <p:nvSpPr>
          <p:cNvPr id="5" name="Fails head"/>
          <p:cNvSpPr txBox="1"/>
          <p:nvPr/>
        </p:nvSpPr>
        <p:spPr>
          <a:xfrm>
            <a:off x="548640" y="1371600"/>
            <a:ext cx="5669280" cy="274320"/>
          </a:xfrm>
          <a:prstGeom prst="rect">
            <a:avLst/>
          </a:prstGeom>
          <a:noFill/>
          <a:ln/>
        </p:spPr>
        <p:txBody>
          <a:bodyPr wrap="square" lIns="0" tIns="0" rIns="0" bIns="0" rtlCol="0" anchor="t"/>
          <a:lstStyle/>
          <a:p>
            <a:pPr indent="0" marL="0">
              <a:buNone/>
            </a:pPr>
            <a:r>
              <a:rPr lang="en-US" sz="1200" b="1" dirty="0">
                <a:solidFill>
                  <a:srgbClr val="64748B"/>
                </a:solidFill>
              </a:rPr>
              <a:t>WHY A WHOLE-SYSTEM REWRITE FAILS</a:t>
            </a:r>
            <a:endParaRPr lang="en-US" sz="1200" dirty="0"/>
          </a:p>
        </p:txBody>
      </p:sp>
      <p:sp>
        <p:nvSpPr>
          <p:cNvPr id="6" name="Fails 0" descr="">
            <a:extLst>
              <a:ext uri="{C183D7F6-B498-43B3-948B-1728B52AA6E4}">
                <adec:decorative xmlns:adec="http://schemas.microsoft.com/office/drawing/2017/decorative" val="1"/>
              </a:ext>
            </a:extLst>
          </p:cNvPr>
          <p:cNvSpPr/>
          <p:nvPr/>
        </p:nvSpPr>
        <p:spPr>
          <a:xfrm>
            <a:off x="548640" y="1719072"/>
            <a:ext cx="5669280" cy="585216"/>
          </a:xfrm>
          <a:prstGeom prst="roundRect">
            <a:avLst>
              <a:gd name="adj" fmla="val 12500"/>
            </a:avLst>
          </a:prstGeom>
          <a:solidFill>
            <a:srgbClr val="E9EEF4"/>
          </a:solidFill>
          <a:ln w="12700">
            <a:solidFill>
              <a:srgbClr val="E9EEF4"/>
            </a:solidFill>
            <a:prstDash val="solid"/>
          </a:ln>
          <a:effectLst>
            <a:outerShdw sx="100000" sy="100000" kx="0" ky="0" algn="bl" rotWithShape="0" blurRad="76200" dist="25400" dir="5400000">
              <a:srgbClr val="64748B">
                <a:alpha val="22000"/>
              </a:srgbClr>
            </a:outerShdw>
          </a:effectLst>
        </p:spPr>
      </p:sp>
      <p:sp>
        <p:nvSpPr>
          <p:cNvPr id="7" name="Fails 0 text"/>
          <p:cNvSpPr txBox="1"/>
          <p:nvPr/>
        </p:nvSpPr>
        <p:spPr>
          <a:xfrm>
            <a:off x="731520" y="1719072"/>
            <a:ext cx="5394960" cy="585216"/>
          </a:xfrm>
          <a:prstGeom prst="rect">
            <a:avLst/>
          </a:prstGeom>
          <a:noFill/>
          <a:ln/>
        </p:spPr>
        <p:txBody>
          <a:bodyPr wrap="square" lIns="0" tIns="0" rIns="0" bIns="0" rtlCol="0" anchor="ctr"/>
          <a:lstStyle/>
          <a:p>
            <a:pPr indent="0" marL="0">
              <a:buNone/>
            </a:pPr>
            <a:r>
              <a:rPr lang="en-US" sz="1350" b="1" dirty="0">
                <a:solidFill>
                  <a:srgbClr val="1F2A44"/>
                </a:solidFill>
              </a:rPr>
              <a:t>Value   </a:t>
            </a:r>
            <a:pPr indent="0" marL="0">
              <a:buNone/>
            </a:pPr>
            <a:r>
              <a:rPr lang="en-US" sz="1350" dirty="0">
                <a:solidFill>
                  <a:schemeClr val="tx2"/>
                </a:solidFill>
              </a:rPr>
              <a:t>Nothing arrives until the single cut-over</a:t>
            </a:r>
            <a:endParaRPr lang="en-US" sz="1350" dirty="0"/>
          </a:p>
        </p:txBody>
      </p:sp>
      <p:sp>
        <p:nvSpPr>
          <p:cNvPr id="8" name="Fails 1" descr="">
            <a:extLst>
              <a:ext uri="{C183D7F6-B498-43B3-948B-1728B52AA6E4}">
                <adec:decorative xmlns:adec="http://schemas.microsoft.com/office/drawing/2017/decorative" val="1"/>
              </a:ext>
            </a:extLst>
          </p:cNvPr>
          <p:cNvSpPr/>
          <p:nvPr/>
        </p:nvSpPr>
        <p:spPr>
          <a:xfrm>
            <a:off x="548640" y="2414016"/>
            <a:ext cx="5669280" cy="585216"/>
          </a:xfrm>
          <a:prstGeom prst="roundRect">
            <a:avLst>
              <a:gd name="adj" fmla="val 12500"/>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9" name="Fails 1 text"/>
          <p:cNvSpPr txBox="1"/>
          <p:nvPr/>
        </p:nvSpPr>
        <p:spPr>
          <a:xfrm>
            <a:off x="731520" y="2414016"/>
            <a:ext cx="5394960" cy="585216"/>
          </a:xfrm>
          <a:prstGeom prst="rect">
            <a:avLst/>
          </a:prstGeom>
          <a:noFill/>
          <a:ln/>
        </p:spPr>
        <p:txBody>
          <a:bodyPr wrap="square" lIns="0" tIns="0" rIns="0" bIns="0" rtlCol="0" anchor="ctr"/>
          <a:lstStyle/>
          <a:p>
            <a:pPr indent="0" marL="0">
              <a:buNone/>
            </a:pPr>
            <a:r>
              <a:rPr lang="en-US" sz="1350" b="1" dirty="0">
                <a:solidFill>
                  <a:srgbClr val="1F2A44"/>
                </a:solidFill>
              </a:rPr>
              <a:t>Specification   </a:t>
            </a:r>
            <a:pPr indent="0" marL="0">
              <a:buNone/>
            </a:pPr>
            <a:r>
              <a:rPr lang="en-US" sz="1350" dirty="0">
                <a:solidFill>
                  <a:schemeClr val="tx2"/>
                </a:solidFill>
              </a:rPr>
              <a:t>The real requirements live in the old code</a:t>
            </a:r>
            <a:endParaRPr lang="en-US" sz="1350" dirty="0"/>
          </a:p>
        </p:txBody>
      </p:sp>
      <p:sp>
        <p:nvSpPr>
          <p:cNvPr id="10" name="Fails 2" descr="">
            <a:extLst>
              <a:ext uri="{C183D7F6-B498-43B3-948B-1728B52AA6E4}">
                <adec:decorative xmlns:adec="http://schemas.microsoft.com/office/drawing/2017/decorative" val="1"/>
              </a:ext>
            </a:extLst>
          </p:cNvPr>
          <p:cNvSpPr/>
          <p:nvPr/>
        </p:nvSpPr>
        <p:spPr>
          <a:xfrm>
            <a:off x="548640" y="3108960"/>
            <a:ext cx="5669280" cy="585216"/>
          </a:xfrm>
          <a:prstGeom prst="roundRect">
            <a:avLst>
              <a:gd name="adj" fmla="val 12500"/>
            </a:avLst>
          </a:prstGeom>
          <a:solidFill>
            <a:srgbClr val="E9EEF4"/>
          </a:solidFill>
          <a:ln w="12700">
            <a:solidFill>
              <a:srgbClr val="E9EEF4"/>
            </a:solidFill>
            <a:prstDash val="solid"/>
          </a:ln>
          <a:effectLst>
            <a:outerShdw sx="100000" sy="100000" kx="0" ky="0" algn="bl" rotWithShape="0" blurRad="76200" dist="25400" dir="5400000">
              <a:srgbClr val="64748B">
                <a:alpha val="22000"/>
              </a:srgbClr>
            </a:outerShdw>
          </a:effectLst>
        </p:spPr>
      </p:sp>
      <p:sp>
        <p:nvSpPr>
          <p:cNvPr id="11" name="Fails 2 text"/>
          <p:cNvSpPr txBox="1"/>
          <p:nvPr/>
        </p:nvSpPr>
        <p:spPr>
          <a:xfrm>
            <a:off x="731520" y="3108960"/>
            <a:ext cx="5394960" cy="585216"/>
          </a:xfrm>
          <a:prstGeom prst="rect">
            <a:avLst/>
          </a:prstGeom>
          <a:noFill/>
          <a:ln/>
        </p:spPr>
        <p:txBody>
          <a:bodyPr wrap="square" lIns="0" tIns="0" rIns="0" bIns="0" rtlCol="0" anchor="ctr"/>
          <a:lstStyle/>
          <a:p>
            <a:pPr indent="0" marL="0">
              <a:buNone/>
            </a:pPr>
            <a:r>
              <a:rPr lang="en-US" sz="1350" b="1" dirty="0">
                <a:solidFill>
                  <a:srgbClr val="1F2A44"/>
                </a:solidFill>
              </a:rPr>
              <a:t>Risk   </a:t>
            </a:r>
            <a:pPr indent="0" marL="0">
              <a:buNone/>
            </a:pPr>
            <a:r>
              <a:rPr lang="en-US" sz="1350" dirty="0">
                <a:solidFill>
                  <a:schemeClr val="tx2"/>
                </a:solidFill>
              </a:rPr>
              <a:t>All of it in one switch, with no easy way back</a:t>
            </a:r>
            <a:endParaRPr lang="en-US" sz="1350" dirty="0"/>
          </a:p>
        </p:txBody>
      </p:sp>
      <p:sp>
        <p:nvSpPr>
          <p:cNvPr id="12" name="Fails 3" descr="">
            <a:extLst>
              <a:ext uri="{C183D7F6-B498-43B3-948B-1728B52AA6E4}">
                <adec:decorative xmlns:adec="http://schemas.microsoft.com/office/drawing/2017/decorative" val="1"/>
              </a:ext>
            </a:extLst>
          </p:cNvPr>
          <p:cNvSpPr/>
          <p:nvPr/>
        </p:nvSpPr>
        <p:spPr>
          <a:xfrm>
            <a:off x="548640" y="3803904"/>
            <a:ext cx="5669280" cy="585216"/>
          </a:xfrm>
          <a:prstGeom prst="roundRect">
            <a:avLst>
              <a:gd name="adj" fmla="val 12500"/>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13" name="Fails 3 text"/>
          <p:cNvSpPr txBox="1"/>
          <p:nvPr/>
        </p:nvSpPr>
        <p:spPr>
          <a:xfrm>
            <a:off x="731520" y="3803904"/>
            <a:ext cx="5394960" cy="585216"/>
          </a:xfrm>
          <a:prstGeom prst="rect">
            <a:avLst/>
          </a:prstGeom>
          <a:noFill/>
          <a:ln/>
        </p:spPr>
        <p:txBody>
          <a:bodyPr wrap="square" lIns="0" tIns="0" rIns="0" bIns="0" rtlCol="0" anchor="ctr"/>
          <a:lstStyle/>
          <a:p>
            <a:pPr indent="0" marL="0">
              <a:buNone/>
            </a:pPr>
            <a:r>
              <a:rPr lang="en-US" sz="1350" b="1" dirty="0">
                <a:solidFill>
                  <a:srgbClr val="1F2A44"/>
                </a:solidFill>
              </a:rPr>
              <a:t>Time   </a:t>
            </a:r>
            <a:pPr indent="0" marL="0">
              <a:buNone/>
            </a:pPr>
            <a:r>
              <a:rPr lang="en-US" sz="1350" dirty="0">
                <a:solidFill>
                  <a:schemeClr val="tx2"/>
                </a:solidFill>
              </a:rPr>
              <a:t>A decade-long build ships decade-old choices</a:t>
            </a:r>
            <a:endParaRPr lang="en-US" sz="1350" dirty="0"/>
          </a:p>
        </p:txBody>
      </p:sp>
      <p:sp>
        <p:nvSpPr>
          <p:cNvPr id="14" name="Policy box" descr="">
            <a:extLst>
              <a:ext uri="{C183D7F6-B498-43B3-948B-1728B52AA6E4}">
                <adec:decorative xmlns:adec="http://schemas.microsoft.com/office/drawing/2017/decorative" val="1"/>
              </a:ext>
            </a:extLst>
          </p:cNvPr>
          <p:cNvSpPr/>
          <p:nvPr/>
        </p:nvSpPr>
        <p:spPr>
          <a:xfrm>
            <a:off x="7086600" y="1371600"/>
            <a:ext cx="4572000" cy="3255264"/>
          </a:xfrm>
          <a:prstGeom prst="roundRect">
            <a:avLst>
              <a:gd name="adj" fmla="val 2247"/>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15" name="Icon FaLandmark" descr="">
            <a:extLst>
              <a:ext uri="{C183D7F6-B498-43B3-948B-1728B52AA6E4}">
                <adec:decorative xmlns:adec="http://schemas.microsoft.com/office/drawing/2017/decorative" val="1"/>
              </a:ext>
            </a:extLst>
          </p:cNvPr>
          <p:cNvSpPr/>
          <p:nvPr/>
        </p:nvSpPr>
        <p:spPr>
          <a:xfrm>
            <a:off x="7315200" y="1517904"/>
            <a:ext cx="548640" cy="548640"/>
          </a:xfrm>
          <a:prstGeom prst="ellipse">
            <a:avLst/>
          </a:prstGeom>
          <a:solidFill>
            <a:srgbClr val="1F2A44"/>
          </a:solidFill>
          <a:ln w="12700">
            <a:solidFill>
              <a:srgbClr val="1F2A44"/>
            </a:solidFill>
            <a:prstDash val="solid"/>
          </a:ln>
        </p:spPr>
      </p:sp>
      <p:pic>
        <p:nvPicPr>
          <p:cNvPr id="16"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7446874" y="1649578"/>
            <a:ext cx="285293" cy="285293"/>
          </a:xfrm>
          <a:prstGeom prst="rect">
            <a:avLst/>
          </a:prstGeom>
        </p:spPr>
      </p:pic>
      <p:sp>
        <p:nvSpPr>
          <p:cNvPr id="17" name="Policy head"/>
          <p:cNvSpPr txBox="1"/>
          <p:nvPr/>
        </p:nvSpPr>
        <p:spPr>
          <a:xfrm>
            <a:off x="8001000" y="1517904"/>
            <a:ext cx="3520440" cy="548640"/>
          </a:xfrm>
          <a:prstGeom prst="rect">
            <a:avLst/>
          </a:prstGeom>
          <a:noFill/>
          <a:ln/>
        </p:spPr>
        <p:txBody>
          <a:bodyPr wrap="square" lIns="0" tIns="0" rIns="0" bIns="0" rtlCol="0" anchor="ctr"/>
          <a:lstStyle/>
          <a:p>
            <a:pPr indent="0" marL="0">
              <a:buNone/>
            </a:pPr>
            <a:r>
              <a:rPr lang="en-US" sz="1650" b="1" dirty="0">
                <a:solidFill>
                  <a:srgbClr val="1F2A44"/>
                </a:solidFill>
                <a:latin typeface="Cambria" pitchFamily="34" charset="0"/>
                <a:ea typeface="Cambria" pitchFamily="34" charset="-122"/>
                <a:cs typeface="Cambria" pitchFamily="34" charset="-120"/>
              </a:rPr>
              <a:t>What federal policy asks for</a:t>
            </a:r>
            <a:endParaRPr lang="en-US" sz="1650" dirty="0"/>
          </a:p>
        </p:txBody>
      </p:sp>
      <p:sp>
        <p:nvSpPr>
          <p:cNvPr id="18" name="Policy list"/>
          <p:cNvSpPr txBox="1"/>
          <p:nvPr/>
        </p:nvSpPr>
        <p:spPr>
          <a:xfrm>
            <a:off x="7315200" y="2212848"/>
            <a:ext cx="4160520" cy="232410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A-130: useful segments, narrow scope, brief duration</a:t>
            </a:r>
            <a:endParaRPr lang="en-US" sz="1400" dirty="0"/>
          </a:p>
          <a:p>
            <a:pPr marL="342900" indent="-342900">
              <a:spcAft>
                <a:spcPts val="600"/>
              </a:spcAft>
              <a:buSzPct val="100000"/>
              <a:buChar char="•"/>
            </a:pPr>
            <a:r>
              <a:rPr lang="en-US" sz="1350" dirty="0">
                <a:solidFill>
                  <a:schemeClr val="tx2"/>
                </a:solidFill>
              </a:rPr>
              <a:t>Modular contracts within 180 days of solicitation</a:t>
            </a:r>
            <a:endParaRPr lang="en-US" sz="1400" dirty="0"/>
          </a:p>
          <a:p>
            <a:pPr marL="342900" indent="-342900">
              <a:spcAft>
                <a:spcPts val="600"/>
              </a:spcAft>
              <a:buSzPct val="100000"/>
              <a:buChar char="•"/>
            </a:pPr>
            <a:r>
              <a:rPr lang="en-US" sz="1350" dirty="0">
                <a:solidFill>
                  <a:schemeClr val="tx2"/>
                </a:solidFill>
              </a:rPr>
              <a:t>IT delivered within 18 months</a:t>
            </a:r>
            <a:endParaRPr lang="en-US" sz="1400" dirty="0"/>
          </a:p>
          <a:p>
            <a:pPr marL="342900" indent="-342900">
              <a:spcAft>
                <a:spcPts val="600"/>
              </a:spcAft>
              <a:buSzPct val="100000"/>
              <a:buChar char="•"/>
            </a:pPr>
            <a:r>
              <a:rPr lang="en-US" sz="1350" dirty="0">
                <a:solidFill>
                  <a:schemeClr val="tx2"/>
                </a:solidFill>
              </a:rPr>
              <a:t>FAR 39.103: each increment a workable system</a:t>
            </a:r>
            <a:endParaRPr lang="en-US" sz="1400" dirty="0"/>
          </a:p>
          <a:p>
            <a:pPr marL="342900" indent="-342900">
              <a:spcAft>
                <a:spcPts val="600"/>
              </a:spcAft>
              <a:buSzPct val="100000"/>
              <a:buChar char="•"/>
            </a:pPr>
            <a:r>
              <a:rPr lang="en-US" sz="1350" dirty="0">
                <a:solidFill>
                  <a:schemeClr val="tx2"/>
                </a:solidFill>
              </a:rPr>
              <a:t>Replacement allowed, in pieces that stand alone</a:t>
            </a:r>
            <a:endParaRPr lang="en-US" sz="1400" dirty="0"/>
          </a:p>
        </p:txBody>
      </p:sp>
      <p:sp>
        <p:nvSpPr>
          <p:cNvPr id="19" name="Decision bar" desc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20" name="Icon FaScaleBalanced" descr="">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21"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903427" y="5228539"/>
            <a:ext cx="332842" cy="332842"/>
          </a:xfrm>
          <a:prstGeom prst="rect">
            <a:avLst/>
          </a:prstGeom>
        </p:spPr>
      </p:pic>
      <p:sp>
        <p:nvSpPr>
          <p:cNvPr id="22" name="Decision"/>
          <p:cNvSpPr txBox="1"/>
          <p:nvPr/>
        </p:nvSpPr>
        <p:spPr>
          <a:xfrm>
            <a:off x="1600200" y="4919472"/>
            <a:ext cx="5989320" cy="950976"/>
          </a:xfrm>
          <a:prstGeom prst="rect">
            <a:avLst/>
          </a:prstGeom>
          <a:noFill/>
          <a:ln/>
        </p:spPr>
        <p:txBody>
          <a:bodyPr wrap="square" lIns="0" tIns="0" rIns="0" bIns="0" rtlCol="0" anchor="ctr"/>
          <a:lstStyle/>
          <a:p>
            <a:pPr indent="0" marL="0">
              <a:buNone/>
            </a:pPr>
            <a:r>
              <a:rPr lang="en-US" sz="1100" b="1" spc="100" kern="0" dirty="0">
                <a:solidFill>
                  <a:srgbClr val="B45309"/>
                </a:solidFill>
              </a:rPr>
              <a:t>DECISION</a:t>
            </a:r>
            <a:endParaRPr lang="en-US" sz="1400" dirty="0"/>
          </a:p>
          <a:p>
            <a:pPr indent="0" marL="0">
              <a:buNone/>
            </a:pPr>
            <a:r>
              <a:rPr lang="en-US" sz="1400" dirty="0">
                <a:solidFill>
                  <a:srgbClr val="334155"/>
                </a:solidFill>
              </a:rPr>
              <a:t>Approve no modernization proposal that delivers nothing until a single cut-over: require useful segments that each stand on their own</a:t>
            </a:r>
            <a:endParaRPr lang="en-US" sz="1400" dirty="0"/>
          </a:p>
        </p:txBody>
      </p:sp>
      <p:sp>
        <p:nvSpPr>
          <p:cNvPr id="23" name="Owner"/>
          <p:cNvSpPr txBox="1"/>
          <p:nvPr/>
        </p:nvSpPr>
        <p:spPr>
          <a:xfrm>
            <a:off x="7772400" y="4919472"/>
            <a:ext cx="1920240" cy="950976"/>
          </a:xfrm>
          <a:prstGeom prst="rect">
            <a:avLst/>
          </a:prstGeom>
          <a:noFill/>
          <a:ln/>
        </p:spPr>
        <p:txBody>
          <a:bodyPr wrap="square" lIns="0" tIns="0" rIns="0" bIns="0" rtlCol="0" anchor="ctr"/>
          <a:lstStyle/>
          <a:p>
            <a:pPr indent="0" marL="0">
              <a:buNone/>
            </a:pPr>
            <a:r>
              <a:rPr lang="en-US" sz="1100" b="1" spc="100" kern="0" dirty="0">
                <a:solidFill>
                  <a:srgbClr val="0F766E"/>
                </a:solidFill>
              </a:rPr>
              <a:t>OWNER</a:t>
            </a:r>
            <a:endParaRPr lang="en-US" sz="1400" dirty="0"/>
          </a:p>
          <a:p>
            <a:pPr indent="0" marL="0">
              <a:buNone/>
            </a:pPr>
            <a:r>
              <a:rPr lang="en-US" sz="1400" dirty="0">
                <a:solidFill>
                  <a:srgbClr val="334155"/>
                </a:solidFill>
              </a:rPr>
              <a:t>CIO, who approves IT contracts</a:t>
            </a:r>
            <a:endParaRPr lang="en-US" sz="1400" dirty="0"/>
          </a:p>
        </p:txBody>
      </p:sp>
      <p:sp>
        <p:nvSpPr>
          <p:cNvPr id="24" name="When"/>
          <p:cNvSpPr txBox="1"/>
          <p:nvPr/>
        </p:nvSpPr>
        <p:spPr>
          <a:xfrm>
            <a:off x="9784080" y="4919472"/>
            <a:ext cx="1783080" cy="950976"/>
          </a:xfrm>
          <a:prstGeom prst="rect">
            <a:avLst/>
          </a:prstGeom>
          <a:noFill/>
          <a:ln/>
        </p:spPr>
        <p:txBody>
          <a:bodyPr wrap="square" lIns="0" tIns="0" rIns="0" bIns="0" rtlCol="0" anchor="ctr"/>
          <a:lstStyle/>
          <a:p>
            <a:pPr indent="0" marL="0">
              <a:buNone/>
            </a:pPr>
            <a:r>
              <a:rPr lang="en-US" sz="1100" b="1" spc="100" kern="0" dirty="0">
                <a:solidFill>
                  <a:srgbClr val="1F2A44"/>
                </a:solidFill>
              </a:rPr>
              <a:t>WHEN</a:t>
            </a:r>
            <a:endParaRPr lang="en-US" sz="1400" dirty="0"/>
          </a:p>
          <a:p>
            <a:pPr indent="0" marL="0">
              <a:buNone/>
            </a:pPr>
            <a:r>
              <a:rPr lang="en-US" sz="1400" dirty="0">
                <a:solidFill>
                  <a:srgbClr val="334155"/>
                </a:solidFill>
              </a:rPr>
              <a:t>Before any contract is approved</a:t>
            </a:r>
            <a:endParaRPr lang="en-US" sz="1400" dirty="0"/>
          </a:p>
        </p:txBody>
      </p:sp>
      <p:sp>
        <p:nvSpPr>
          <p:cNvPr id="25" name="Sources"/>
          <p:cNvSpPr txBox="1"/>
          <p:nvPr/>
        </p:nvSpPr>
        <p:spPr>
          <a:xfrm>
            <a:off x="548640" y="6053328"/>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GAO-25-107795; OMB Circular A-130 §5.d(1)(f)–(g); FAR 39.103 (FAC 2026-01); M. Fowler, Strangler Fig (2024); OMB M-26-10. Book 18, Chapters 01, 07.</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The application is the unit of decision</a:t>
            </a:r>
            <a:endParaRPr lang="en-US" sz="3000" dirty="0"/>
          </a:p>
        </p:txBody>
      </p:sp>
      <p:sp>
        <p:nvSpPr>
          <p:cNvPr id="3" name="Tag Why"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WHY</a:t>
            </a:r>
            <a:endParaRPr lang="en-US" sz="1100" dirty="0"/>
          </a:p>
        </p:txBody>
      </p:sp>
      <p:pic>
        <p:nvPicPr>
          <p:cNvPr id="5" name="Image 0" descr="A top-to-bottom flow. At the top, a slate card reads: the legacy portfolio, thousands of mission applications, mainframe, DB2 and Oracle, COBOL and PL/SQL. An amber card below reads: triage each application, a scored rubric, one disposition each. It branches into three cards on one row: a slate card, retire or retain, stop paying or keep on purpose; an amber card, rehost or replatform, move with little or no code change; a blue card, refactor or rebuild, change the code onto the target. The refactor or rebuild card leads to a blue card, one target reference architecture: Java and Spring Boot services, React front ends, OpenAPI contracts, containers, with data moved off DB2 and Oracle with proof and AI with an identity and an owner. A violet card at the bottom reads: governed and run in waves, review gates, compliance evidence, TOGAF and Zachman, pilot, factory and long tail. The rehost or replatform card also leads to the violet card.">    </p:cNvPr>
          <p:cNvPicPr>
            <a:picLocks noChangeAspect="1"/>
          </p:cNvPicPr>
          <p:nvPr/>
        </p:nvPicPr>
        <p:blipFill>
          <a:blip r:embed="rId1"/>
          <a:stretch>
            <a:fillRect/>
          </a:stretch>
        </p:blipFill>
        <p:spPr>
          <a:xfrm>
            <a:off x="634525" y="1371600"/>
            <a:ext cx="6137590" cy="3291840"/>
          </a:xfrm>
          <a:prstGeom prst="rect">
            <a:avLst/>
          </a:prstGeom>
        </p:spPr>
      </p:pic>
      <p:sp>
        <p:nvSpPr>
          <p:cNvPr id="6" name="Unit box" descr="">
            <a:extLst>
              <a:ext uri="{C183D7F6-B498-43B3-948B-1728B52AA6E4}">
                <adec:decorative xmlns:adec="http://schemas.microsoft.com/office/drawing/2017/decorative" val="1"/>
              </a:ext>
            </a:extLst>
          </p:cNvPr>
          <p:cNvSpPr/>
          <p:nvPr/>
        </p:nvSpPr>
        <p:spPr>
          <a:xfrm>
            <a:off x="7086600" y="1371600"/>
            <a:ext cx="4572000" cy="3255264"/>
          </a:xfrm>
          <a:prstGeom prst="roundRect">
            <a:avLst>
              <a:gd name="adj" fmla="val 2247"/>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7" name="Icon FaCubes" descr="">
            <a:extLst>
              <a:ext uri="{C183D7F6-B498-43B3-948B-1728B52AA6E4}">
                <adec:decorative xmlns:adec="http://schemas.microsoft.com/office/drawing/2017/decorative" val="1"/>
              </a:ext>
            </a:extLst>
          </p:cNvPr>
          <p:cNvSpPr/>
          <p:nvPr/>
        </p:nvSpPr>
        <p:spPr>
          <a:xfrm>
            <a:off x="7315200" y="1517904"/>
            <a:ext cx="548640" cy="548640"/>
          </a:xfrm>
          <a:prstGeom prst="ellipse">
            <a:avLst/>
          </a:prstGeom>
          <a:solidFill>
            <a:srgbClr val="0F766E"/>
          </a:solidFill>
          <a:ln w="12700">
            <a:solidFill>
              <a:srgbClr val="0F766E"/>
            </a:solidFill>
            <a:prstDash val="solid"/>
          </a:ln>
        </p:spPr>
      </p:sp>
      <p:pic>
        <p:nvPicPr>
          <p:cNvPr id="8"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7446874" y="1649578"/>
            <a:ext cx="285293" cy="285293"/>
          </a:xfrm>
          <a:prstGeom prst="rect">
            <a:avLst/>
          </a:prstGeom>
        </p:spPr>
      </p:pic>
      <p:sp>
        <p:nvSpPr>
          <p:cNvPr id="9" name="Unit head"/>
          <p:cNvSpPr txBox="1"/>
          <p:nvPr/>
        </p:nvSpPr>
        <p:spPr>
          <a:xfrm>
            <a:off x="8001000" y="1517904"/>
            <a:ext cx="3520440" cy="548640"/>
          </a:xfrm>
          <a:prstGeom prst="rect">
            <a:avLst/>
          </a:prstGeom>
          <a:noFill/>
          <a:ln/>
        </p:spPr>
        <p:txBody>
          <a:bodyPr wrap="square" lIns="0" tIns="0" rIns="0" bIns="0" rtlCol="0" anchor="ctr"/>
          <a:lstStyle/>
          <a:p>
            <a:pPr indent="0" marL="0">
              <a:buNone/>
            </a:pPr>
            <a:r>
              <a:rPr lang="en-US" sz="1650" b="1" dirty="0">
                <a:solidFill>
                  <a:srgbClr val="0F766E"/>
                </a:solidFill>
                <a:latin typeface="Cambria" pitchFamily="34" charset="0"/>
                <a:ea typeface="Cambria" pitchFamily="34" charset="-122"/>
                <a:cs typeface="Cambria" pitchFamily="34" charset="-120"/>
              </a:rPr>
              <a:t>Why the application</a:t>
            </a:r>
            <a:endParaRPr lang="en-US" sz="1650" dirty="0"/>
          </a:p>
        </p:txBody>
      </p:sp>
      <p:sp>
        <p:nvSpPr>
          <p:cNvPr id="10" name="Unit list"/>
          <p:cNvSpPr txBox="1"/>
          <p:nvPr/>
        </p:nvSpPr>
        <p:spPr>
          <a:xfrm>
            <a:off x="7315200" y="2212848"/>
            <a:ext cx="4160520" cy="232410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A program is too coarse: it mixes retire and rebuild</a:t>
            </a:r>
            <a:endParaRPr lang="en-US" sz="1400" dirty="0"/>
          </a:p>
          <a:p>
            <a:pPr marL="342900" indent="-342900">
              <a:spcAft>
                <a:spcPts val="600"/>
              </a:spcAft>
              <a:buSzPct val="100000"/>
              <a:buChar char="•"/>
            </a:pPr>
            <a:r>
              <a:rPr lang="en-US" sz="1350" dirty="0">
                <a:solidFill>
                  <a:schemeClr val="tx2"/>
                </a:solidFill>
              </a:rPr>
              <a:t>A platform can't retire until every app decides</a:t>
            </a:r>
            <a:endParaRPr lang="en-US" sz="1400" dirty="0"/>
          </a:p>
          <a:p>
            <a:pPr marL="342900" indent="-342900">
              <a:spcAft>
                <a:spcPts val="600"/>
              </a:spcAft>
              <a:buSzPct val="100000"/>
              <a:buChar char="•"/>
            </a:pPr>
            <a:r>
              <a:rPr lang="en-US" sz="1350" dirty="0">
                <a:solidFill>
                  <a:schemeClr val="tx2"/>
                </a:solidFill>
              </a:rPr>
              <a:t>An application has an owner, data, code, a boundary</a:t>
            </a:r>
            <a:endParaRPr lang="en-US" sz="1400" dirty="0"/>
          </a:p>
          <a:p>
            <a:pPr marL="342900" indent="-342900">
              <a:spcAft>
                <a:spcPts val="600"/>
              </a:spcAft>
              <a:buSzPct val="100000"/>
              <a:buChar char="•"/>
            </a:pPr>
            <a:r>
              <a:rPr lang="en-US" sz="1350" dirty="0">
                <a:solidFill>
                  <a:schemeClr val="tx2"/>
                </a:solidFill>
              </a:rPr>
              <a:t>A-130: inventory, EA transition plan, disposition</a:t>
            </a:r>
            <a:endParaRPr lang="en-US" sz="1400" dirty="0"/>
          </a:p>
          <a:p>
            <a:pPr marL="342900" indent="-342900">
              <a:spcAft>
                <a:spcPts val="600"/>
              </a:spcAft>
              <a:buSzPct val="100000"/>
              <a:buChar char="•"/>
            </a:pPr>
            <a:r>
              <a:rPr lang="en-US" sz="1350" dirty="0">
                <a:solidFill>
                  <a:schemeClr val="tx2"/>
                </a:solidFill>
              </a:rPr>
              <a:t>A recorded disposition is evidence</a:t>
            </a:r>
            <a:endParaRPr lang="en-US" sz="1400" dirty="0"/>
          </a:p>
        </p:txBody>
      </p:sp>
      <p:sp>
        <p:nvSpPr>
          <p:cNvPr id="11" name="Decision bar" desc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2" name="Icon FaScaleBalanced" descr="">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13" name="Image 2" descr="">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903427" y="5228539"/>
            <a:ext cx="332842" cy="332842"/>
          </a:xfrm>
          <a:prstGeom prst="rect">
            <a:avLst/>
          </a:prstGeom>
        </p:spPr>
      </p:pic>
      <p:sp>
        <p:nvSpPr>
          <p:cNvPr id="14" name="Decision"/>
          <p:cNvSpPr txBox="1"/>
          <p:nvPr/>
        </p:nvSpPr>
        <p:spPr>
          <a:xfrm>
            <a:off x="1600200" y="4919472"/>
            <a:ext cx="5989320" cy="950976"/>
          </a:xfrm>
          <a:prstGeom prst="rect">
            <a:avLst/>
          </a:prstGeom>
          <a:noFill/>
          <a:ln/>
        </p:spPr>
        <p:txBody>
          <a:bodyPr wrap="square" lIns="0" tIns="0" rIns="0" bIns="0" rtlCol="0" anchor="ctr"/>
          <a:lstStyle/>
          <a:p>
            <a:pPr indent="0" marL="0">
              <a:buNone/>
            </a:pPr>
            <a:r>
              <a:rPr lang="en-US" sz="1100" b="1" spc="100" kern="0" dirty="0">
                <a:solidFill>
                  <a:srgbClr val="B45309"/>
                </a:solidFill>
              </a:rPr>
              <a:t>DECISION</a:t>
            </a:r>
            <a:endParaRPr lang="en-US" sz="1400" dirty="0"/>
          </a:p>
          <a:p>
            <a:pPr indent="0" marL="0">
              <a:buNone/>
            </a:pPr>
            <a:r>
              <a:rPr lang="en-US" sz="1400" dirty="0">
                <a:solidFill>
                  <a:srgbClr val="334155"/>
                </a:solidFill>
              </a:rPr>
              <a:t>Ask for the inventory before the program: every application listed with an owner and a proposed disposition, not a target-state design</a:t>
            </a:r>
            <a:endParaRPr lang="en-US" sz="1400" dirty="0"/>
          </a:p>
        </p:txBody>
      </p:sp>
      <p:sp>
        <p:nvSpPr>
          <p:cNvPr id="15" name="Owner"/>
          <p:cNvSpPr txBox="1"/>
          <p:nvPr/>
        </p:nvSpPr>
        <p:spPr>
          <a:xfrm>
            <a:off x="7772400" y="4919472"/>
            <a:ext cx="1920240" cy="950976"/>
          </a:xfrm>
          <a:prstGeom prst="rect">
            <a:avLst/>
          </a:prstGeom>
          <a:noFill/>
          <a:ln/>
        </p:spPr>
        <p:txBody>
          <a:bodyPr wrap="square" lIns="0" tIns="0" rIns="0" bIns="0" rtlCol="0" anchor="ctr"/>
          <a:lstStyle/>
          <a:p>
            <a:pPr indent="0" marL="0">
              <a:buNone/>
            </a:pPr>
            <a:r>
              <a:rPr lang="en-US" sz="1100" b="1" spc="100" kern="0" dirty="0">
                <a:solidFill>
                  <a:srgbClr val="0F766E"/>
                </a:solidFill>
              </a:rPr>
              <a:t>OWNER</a:t>
            </a:r>
            <a:endParaRPr lang="en-US" sz="1400" dirty="0"/>
          </a:p>
          <a:p>
            <a:pPr indent="0" marL="0">
              <a:buNone/>
            </a:pPr>
            <a:r>
              <a:rPr lang="en-US" sz="1400" dirty="0">
                <a:solidFill>
                  <a:srgbClr val="334155"/>
                </a:solidFill>
              </a:rPr>
              <a:t>Steward runs it; sponsor and CIO read it</a:t>
            </a:r>
            <a:endParaRPr lang="en-US" sz="1400" dirty="0"/>
          </a:p>
        </p:txBody>
      </p:sp>
      <p:sp>
        <p:nvSpPr>
          <p:cNvPr id="16" name="When"/>
          <p:cNvSpPr txBox="1"/>
          <p:nvPr/>
        </p:nvSpPr>
        <p:spPr>
          <a:xfrm>
            <a:off x="9784080" y="4919472"/>
            <a:ext cx="1783080" cy="950976"/>
          </a:xfrm>
          <a:prstGeom prst="rect">
            <a:avLst/>
          </a:prstGeom>
          <a:noFill/>
          <a:ln/>
        </p:spPr>
        <p:txBody>
          <a:bodyPr wrap="square" lIns="0" tIns="0" rIns="0" bIns="0" rtlCol="0" anchor="ctr"/>
          <a:lstStyle/>
          <a:p>
            <a:pPr indent="0" marL="0">
              <a:buNone/>
            </a:pPr>
            <a:r>
              <a:rPr lang="en-US" sz="1100" b="1" spc="100" kern="0" dirty="0">
                <a:solidFill>
                  <a:srgbClr val="1F2A44"/>
                </a:solidFill>
              </a:rPr>
              <a:t>WHEN</a:t>
            </a:r>
            <a:endParaRPr lang="en-US" sz="1400" dirty="0"/>
          </a:p>
          <a:p>
            <a:pPr indent="0" marL="0">
              <a:buNone/>
            </a:pPr>
            <a:r>
              <a:rPr lang="en-US" sz="1400" dirty="0">
                <a:solidFill>
                  <a:srgbClr val="334155"/>
                </a:solidFill>
              </a:rPr>
              <a:t>Phase 0, before gate G0</a:t>
            </a:r>
            <a:endParaRPr lang="en-US" sz="1400" dirty="0"/>
          </a:p>
        </p:txBody>
      </p:sp>
      <p:sp>
        <p:nvSpPr>
          <p:cNvPr id="17" name="Sources"/>
          <p:cNvSpPr txBox="1"/>
          <p:nvPr/>
        </p:nvSpPr>
        <p:spPr>
          <a:xfrm>
            <a:off x="548640" y="6053328"/>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OMB Circular A-130 §5.a(1)–(3); GAO-25-107795 (key plan elements); AWS and Microsoft migration strategy guidance. Book 18, Chapters 01 and 10.</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Six dispositions, cheapest first</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6309360" cy="914400"/>
        </p:xfrm>
        <a:graphic>
          <a:graphicData uri="http://schemas.openxmlformats.org/drawingml/2006/table">
            <a:tbl>
              <a:tblPr firstRow="1" bandRow="1"/>
              <a:tblGrid>
                <a:gridCol w="1234440"/>
                <a:gridCol w="2514600"/>
                <a:gridCol w="2560320"/>
              </a:tblGrid>
              <a:tr h="347472">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Disposition</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What happens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What points to it</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457200">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Retire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Switched off; records dispositioned</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Few users; a service already does it</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57200">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Retain</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Kept on purpose, with a review date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Stable, supported, meets the need</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57200">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Rehost</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New infrastructure, no code change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Sound app on a platform being exited</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57200">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Replatform</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Limited change: engine or runtime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Logic sound; platform unsupported</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57200">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Refactor</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Onto the target, piece by piece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Valuable, but blocked by its structure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57200">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Rebuild</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Written again, still in increments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The code can't be salvaged</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Decisions box" descr="">
            <a:extLst>
              <a:ext uri="{C183D7F6-B498-43B3-948B-1728B52AA6E4}">
                <adec:decorative xmlns:adec="http://schemas.microsoft.com/office/drawing/2017/decorative" val="1"/>
              </a:ext>
            </a:extLst>
          </p:cNvPr>
          <p:cNvSpPr/>
          <p:nvPr/>
        </p:nvSpPr>
        <p:spPr>
          <a:xfrm>
            <a:off x="7086600" y="1371600"/>
            <a:ext cx="4572000" cy="3255264"/>
          </a:xfrm>
          <a:prstGeom prst="roundRect">
            <a:avLst>
              <a:gd name="adj" fmla="val 2247"/>
            </a:avLst>
          </a:prstGeom>
          <a:solidFill>
            <a:srgbClr val="FBEEDC"/>
          </a:solidFill>
          <a:ln w="12700">
            <a:solidFill>
              <a:srgbClr val="FBEEDC"/>
            </a:solidFill>
            <a:prstDash val="solid"/>
          </a:ln>
          <a:effectLst>
            <a:outerShdw sx="100000" sy="100000" kx="0" ky="0" algn="bl" rotWithShape="0" blurRad="76200" dist="25400" dir="5400000">
              <a:srgbClr val="64748B">
                <a:alpha val="22000"/>
              </a:srgbClr>
            </a:outerShdw>
          </a:effectLst>
        </p:spPr>
      </p:sp>
      <p:sp>
        <p:nvSpPr>
          <p:cNvPr id="7" name="Icon FaListCheck" descr="">
            <a:extLst>
              <a:ext uri="{C183D7F6-B498-43B3-948B-1728B52AA6E4}">
                <adec:decorative xmlns:adec="http://schemas.microsoft.com/office/drawing/2017/decorative" val="1"/>
              </a:ext>
            </a:extLst>
          </p:cNvPr>
          <p:cNvSpPr/>
          <p:nvPr/>
        </p:nvSpPr>
        <p:spPr>
          <a:xfrm>
            <a:off x="7315200" y="1517904"/>
            <a:ext cx="548640" cy="548640"/>
          </a:xfrm>
          <a:prstGeom prst="ellipse">
            <a:avLst/>
          </a:prstGeom>
          <a:solidFill>
            <a:srgbClr val="B45309"/>
          </a:solidFill>
          <a:ln w="12700">
            <a:solidFill>
              <a:srgbClr val="B45309"/>
            </a:solidFill>
            <a:prstDash val="solid"/>
          </a:ln>
        </p:spPr>
      </p:sp>
      <p:pic>
        <p:nvPicPr>
          <p:cNvPr id="8"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7446874" y="1649578"/>
            <a:ext cx="285293" cy="285293"/>
          </a:xfrm>
          <a:prstGeom prst="rect">
            <a:avLst/>
          </a:prstGeom>
        </p:spPr>
      </p:pic>
      <p:sp>
        <p:nvSpPr>
          <p:cNvPr id="9" name="Decisions head"/>
          <p:cNvSpPr txBox="1"/>
          <p:nvPr/>
        </p:nvSpPr>
        <p:spPr>
          <a:xfrm>
            <a:off x="8001000" y="1517904"/>
            <a:ext cx="3520440" cy="548640"/>
          </a:xfrm>
          <a:prstGeom prst="rect">
            <a:avLst/>
          </a:prstGeom>
          <a:noFill/>
          <a:ln/>
        </p:spPr>
        <p:txBody>
          <a:bodyPr wrap="square" lIns="0" tIns="0" rIns="0" bIns="0" rtlCol="0" anchor="ctr"/>
          <a:lstStyle/>
          <a:p>
            <a:pPr indent="0" marL="0">
              <a:buNone/>
            </a:pPr>
            <a:r>
              <a:rPr lang="en-US" sz="1650" b="1" dirty="0">
                <a:solidFill>
                  <a:srgbClr val="B45309"/>
                </a:solidFill>
                <a:latin typeface="Cambria" pitchFamily="34" charset="0"/>
                <a:ea typeface="Cambria" pitchFamily="34" charset="-122"/>
                <a:cs typeface="Cambria" pitchFamily="34" charset="-120"/>
              </a:rPr>
              <a:t>Two are decisions, not projects</a:t>
            </a:r>
            <a:endParaRPr lang="en-US" sz="1650" dirty="0"/>
          </a:p>
        </p:txBody>
      </p:sp>
      <p:sp>
        <p:nvSpPr>
          <p:cNvPr id="10" name="Decisions list"/>
          <p:cNvSpPr txBox="1"/>
          <p:nvPr/>
        </p:nvSpPr>
        <p:spPr>
          <a:xfrm>
            <a:off x="7315200" y="2212848"/>
            <a:ext cx="4160520" cy="232410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Retire and retain need an owner, not a team</a:t>
            </a:r>
            <a:endParaRPr lang="en-US" sz="1400" dirty="0"/>
          </a:p>
          <a:p>
            <a:pPr marL="342900" indent="-342900">
              <a:spcAft>
                <a:spcPts val="600"/>
              </a:spcAft>
              <a:buSzPct val="100000"/>
              <a:buChar char="•"/>
            </a:pPr>
            <a:r>
              <a:rPr lang="en-US" sz="1350" dirty="0">
                <a:solidFill>
                  <a:schemeClr val="tx2"/>
                </a:solidFill>
              </a:rPr>
              <a:t>Most early savings come from them</a:t>
            </a:r>
            <a:endParaRPr lang="en-US" sz="1400" dirty="0"/>
          </a:p>
          <a:p>
            <a:pPr marL="342900" indent="-342900">
              <a:spcAft>
                <a:spcPts val="600"/>
              </a:spcAft>
              <a:buSzPct val="100000"/>
              <a:buChar char="•"/>
            </a:pPr>
            <a:r>
              <a:rPr lang="en-US" sz="1350" dirty="0">
                <a:solidFill>
                  <a:schemeClr val="tx2"/>
                </a:solidFill>
              </a:rPr>
              <a:t>Replace counts as retire; the product is bought</a:t>
            </a:r>
            <a:endParaRPr lang="en-US" sz="1400" dirty="0"/>
          </a:p>
          <a:p>
            <a:pPr marL="342900" indent="-342900">
              <a:spcAft>
                <a:spcPts val="600"/>
              </a:spcAft>
              <a:buSzPct val="100000"/>
              <a:buChar char="•"/>
            </a:pPr>
            <a:r>
              <a:rPr lang="en-US" sz="1350" dirty="0">
                <a:solidFill>
                  <a:schemeClr val="tx2"/>
                </a:solidFill>
              </a:rPr>
              <a:t>A-130: custom build only if nothing else fits</a:t>
            </a:r>
            <a:endParaRPr lang="en-US" sz="1400" dirty="0"/>
          </a:p>
          <a:p>
            <a:pPr marL="342900" indent="-342900">
              <a:spcAft>
                <a:spcPts val="600"/>
              </a:spcAft>
              <a:buSzPct val="100000"/>
              <a:buChar char="•"/>
            </a:pPr>
            <a:r>
              <a:rPr lang="en-US" sz="1350" dirty="0">
                <a:solidFill>
                  <a:schemeClr val="tx2"/>
                </a:solidFill>
              </a:rPr>
              <a:t>The six names are the program's vocabulary</a:t>
            </a:r>
            <a:endParaRPr lang="en-US" sz="1400" dirty="0"/>
          </a:p>
        </p:txBody>
      </p:sp>
      <p:sp>
        <p:nvSpPr>
          <p:cNvPr id="11" name="Decision bar" desc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2" name="Icon FaScaleBalanced" descr="">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13"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903427" y="5228539"/>
            <a:ext cx="332842" cy="332842"/>
          </a:xfrm>
          <a:prstGeom prst="rect">
            <a:avLst/>
          </a:prstGeom>
        </p:spPr>
      </p:pic>
      <p:sp>
        <p:nvSpPr>
          <p:cNvPr id="14" name="Decision"/>
          <p:cNvSpPr txBox="1"/>
          <p:nvPr/>
        </p:nvSpPr>
        <p:spPr>
          <a:xfrm>
            <a:off x="1600200" y="4919472"/>
            <a:ext cx="5989320" cy="950976"/>
          </a:xfrm>
          <a:prstGeom prst="rect">
            <a:avLst/>
          </a:prstGeom>
          <a:noFill/>
          <a:ln/>
        </p:spPr>
        <p:txBody>
          <a:bodyPr wrap="square" lIns="0" tIns="0" rIns="0" bIns="0" rtlCol="0" anchor="ctr"/>
          <a:lstStyle/>
          <a:p>
            <a:pPr indent="0" marL="0">
              <a:buNone/>
            </a:pPr>
            <a:r>
              <a:rPr lang="en-US" sz="1100" b="1" spc="100" kern="0" dirty="0">
                <a:solidFill>
                  <a:srgbClr val="B45309"/>
                </a:solidFill>
              </a:rPr>
              <a:t>DECISION</a:t>
            </a:r>
            <a:endParaRPr lang="en-US" sz="1400" dirty="0"/>
          </a:p>
          <a:p>
            <a:pPr indent="0" marL="0">
              <a:buNone/>
            </a:pPr>
            <a:r>
              <a:rPr lang="en-US" sz="1400" dirty="0">
                <a:solidFill>
                  <a:srgbClr val="334155"/>
                </a:solidFill>
              </a:rPr>
              <a:t>Fund decisions as well as projects: retire and retain on purpose, and fund the decommissioning work that makes each retirement real</a:t>
            </a:r>
            <a:endParaRPr lang="en-US" sz="1400" dirty="0"/>
          </a:p>
        </p:txBody>
      </p:sp>
      <p:sp>
        <p:nvSpPr>
          <p:cNvPr id="15" name="Owner"/>
          <p:cNvSpPr txBox="1"/>
          <p:nvPr/>
        </p:nvSpPr>
        <p:spPr>
          <a:xfrm>
            <a:off x="7772400" y="4919472"/>
            <a:ext cx="1920240" cy="950976"/>
          </a:xfrm>
          <a:prstGeom prst="rect">
            <a:avLst/>
          </a:prstGeom>
          <a:noFill/>
          <a:ln/>
        </p:spPr>
        <p:txBody>
          <a:bodyPr wrap="square" lIns="0" tIns="0" rIns="0" bIns="0" rtlCol="0" anchor="ctr"/>
          <a:lstStyle/>
          <a:p>
            <a:pPr indent="0" marL="0">
              <a:buNone/>
            </a:pPr>
            <a:r>
              <a:rPr lang="en-US" sz="1100" b="1" spc="100" kern="0" dirty="0">
                <a:solidFill>
                  <a:srgbClr val="0F766E"/>
                </a:solidFill>
              </a:rPr>
              <a:t>OWNER</a:t>
            </a:r>
            <a:endParaRPr lang="en-US" sz="1400" dirty="0"/>
          </a:p>
          <a:p>
            <a:pPr indent="0" marL="0">
              <a:buNone/>
            </a:pPr>
            <a:r>
              <a:rPr lang="en-US" sz="1400" dirty="0">
                <a:solidFill>
                  <a:srgbClr val="334155"/>
                </a:solidFill>
              </a:rPr>
              <a:t>CIO, through capital planning</a:t>
            </a:r>
            <a:endParaRPr lang="en-US" sz="1400" dirty="0"/>
          </a:p>
        </p:txBody>
      </p:sp>
      <p:sp>
        <p:nvSpPr>
          <p:cNvPr id="16" name="When"/>
          <p:cNvSpPr txBox="1"/>
          <p:nvPr/>
        </p:nvSpPr>
        <p:spPr>
          <a:xfrm>
            <a:off x="9784080" y="4919472"/>
            <a:ext cx="1783080" cy="950976"/>
          </a:xfrm>
          <a:prstGeom prst="rect">
            <a:avLst/>
          </a:prstGeom>
          <a:noFill/>
          <a:ln/>
        </p:spPr>
        <p:txBody>
          <a:bodyPr wrap="square" lIns="0" tIns="0" rIns="0" bIns="0" rtlCol="0" anchor="ctr"/>
          <a:lstStyle/>
          <a:p>
            <a:pPr indent="0" marL="0">
              <a:buNone/>
            </a:pPr>
            <a:r>
              <a:rPr lang="en-US" sz="1100" b="1" spc="100" kern="0" dirty="0">
                <a:solidFill>
                  <a:srgbClr val="1F2A44"/>
                </a:solidFill>
              </a:rPr>
              <a:t>WHEN</a:t>
            </a:r>
            <a:endParaRPr lang="en-US" sz="1400" dirty="0"/>
          </a:p>
          <a:p>
            <a:pPr indent="0" marL="0">
              <a:buNone/>
            </a:pPr>
            <a:r>
              <a:rPr lang="en-US" sz="1400" dirty="0">
                <a:solidFill>
                  <a:srgbClr val="334155"/>
                </a:solidFill>
              </a:rPr>
              <a:t>Each budget cycle</a:t>
            </a:r>
            <a:endParaRPr lang="en-US" sz="1400" dirty="0"/>
          </a:p>
        </p:txBody>
      </p:sp>
      <p:sp>
        <p:nvSpPr>
          <p:cNvPr id="17" name="Sources"/>
          <p:cNvSpPr txBox="1"/>
          <p:nvPr/>
        </p:nvSpPr>
        <p:spPr>
          <a:xfrm>
            <a:off x="548640" y="6053328"/>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Gartner (as reported, 2011); AWS Prescriptive Guidance (7 Rs); Microsoft CAF and the 6 Rs; OMB Circular A-130 §5.a(3). Book 18, Chapters 01 and 02.</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Approve the rubric, not each decision</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pic>
        <p:nvPicPr>
          <p:cNvPr id="5" name="Image 0" descr="A top-to-bottom funnel of five cards. First, a slate card: the application inventory, every application with an owner, from the system inventory, configuration database and IT spending data. Second, an amber card: score from data, the six criteria filled in from existing sources, each with a confidence flag. Third, an amber card: owner review, the mission owner and system owner confirm or contest the scores in a fixed window. Fourth, an amber card: proposed disposition, the decision table applied to the scores, first matching rule wins. From here two paths: most applications go straight to a green card, record the decision, with the disposition, scores, rule, owner's agreement and review date; a red card beside it, deep study, reached by rule 7 for contested, high-cost or high-impact applications only, also leads to the green card. Below the green card, a violet card: feed capital planning and the waves, with the decision record going to the enterprise architecture transition plan, budget requests, TMF proposals and Chapter 10.">    </p:cNvPr>
          <p:cNvPicPr>
            <a:picLocks noChangeAspect="1"/>
          </p:cNvPicPr>
          <p:nvPr/>
        </p:nvPicPr>
        <p:blipFill>
          <a:blip r:embed="rId1"/>
          <a:stretch>
            <a:fillRect/>
          </a:stretch>
        </p:blipFill>
        <p:spPr>
          <a:xfrm>
            <a:off x="849866" y="1371600"/>
            <a:ext cx="5432589" cy="3291840"/>
          </a:xfrm>
          <a:prstGeom prst="rect">
            <a:avLst/>
          </a:prstGeom>
        </p:spPr>
      </p:pic>
      <p:sp>
        <p:nvSpPr>
          <p:cNvPr id="6" name="Rubric box" descr="">
            <a:extLst>
              <a:ext uri="{C183D7F6-B498-43B3-948B-1728B52AA6E4}">
                <adec:decorative xmlns:adec="http://schemas.microsoft.com/office/drawing/2017/decorative" val="1"/>
              </a:ext>
            </a:extLst>
          </p:cNvPr>
          <p:cNvSpPr/>
          <p:nvPr/>
        </p:nvSpPr>
        <p:spPr>
          <a:xfrm>
            <a:off x="6812280" y="1371600"/>
            <a:ext cx="4846320" cy="2642616"/>
          </a:xfrm>
          <a:prstGeom prst="roundRect">
            <a:avLst>
              <a:gd name="adj" fmla="val 2768"/>
            </a:avLst>
          </a:prstGeom>
          <a:solidFill>
            <a:srgbClr val="FBEEDC"/>
          </a:solidFill>
          <a:ln w="12700">
            <a:solidFill>
              <a:srgbClr val="FBEEDC"/>
            </a:solidFill>
            <a:prstDash val="solid"/>
          </a:ln>
          <a:effectLst>
            <a:outerShdw sx="100000" sy="100000" kx="0" ky="0" algn="bl" rotWithShape="0" blurRad="76200" dist="25400" dir="5400000">
              <a:srgbClr val="64748B">
                <a:alpha val="22000"/>
              </a:srgbClr>
            </a:outerShdw>
          </a:effectLst>
        </p:spPr>
      </p:sp>
      <p:sp>
        <p:nvSpPr>
          <p:cNvPr id="7" name="Icon FaTableList" descr="">
            <a:extLst>
              <a:ext uri="{C183D7F6-B498-43B3-948B-1728B52AA6E4}">
                <adec:decorative xmlns:adec="http://schemas.microsoft.com/office/drawing/2017/decorative" val="1"/>
              </a:ext>
            </a:extLst>
          </p:cNvPr>
          <p:cNvSpPr/>
          <p:nvPr/>
        </p:nvSpPr>
        <p:spPr>
          <a:xfrm>
            <a:off x="7040880" y="1517904"/>
            <a:ext cx="548640" cy="548640"/>
          </a:xfrm>
          <a:prstGeom prst="ellipse">
            <a:avLst/>
          </a:prstGeom>
          <a:solidFill>
            <a:srgbClr val="B45309"/>
          </a:solidFill>
          <a:ln w="12700">
            <a:solidFill>
              <a:srgbClr val="B45309"/>
            </a:solidFill>
            <a:prstDash val="solid"/>
          </a:ln>
        </p:spPr>
      </p:sp>
      <p:pic>
        <p:nvPicPr>
          <p:cNvPr id="8"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7172554" y="1649578"/>
            <a:ext cx="285293" cy="285293"/>
          </a:xfrm>
          <a:prstGeom prst="rect">
            <a:avLst/>
          </a:prstGeom>
        </p:spPr>
      </p:pic>
      <p:sp>
        <p:nvSpPr>
          <p:cNvPr id="9" name="Rubric head"/>
          <p:cNvSpPr txBox="1"/>
          <p:nvPr/>
        </p:nvSpPr>
        <p:spPr>
          <a:xfrm>
            <a:off x="7726680" y="1517904"/>
            <a:ext cx="3794760" cy="548640"/>
          </a:xfrm>
          <a:prstGeom prst="rect">
            <a:avLst/>
          </a:prstGeom>
          <a:noFill/>
          <a:ln/>
        </p:spPr>
        <p:txBody>
          <a:bodyPr wrap="square" lIns="0" tIns="0" rIns="0" bIns="0" rtlCol="0" anchor="ctr"/>
          <a:lstStyle/>
          <a:p>
            <a:pPr indent="0" marL="0">
              <a:buNone/>
            </a:pPr>
            <a:r>
              <a:rPr lang="en-US" sz="1650" b="1" dirty="0">
                <a:solidFill>
                  <a:srgbClr val="B45309"/>
                </a:solidFill>
                <a:latin typeface="Cambria" pitchFamily="34" charset="0"/>
                <a:ea typeface="Cambria" pitchFamily="34" charset="-122"/>
                <a:cs typeface="Cambria" pitchFamily="34" charset="-120"/>
              </a:rPr>
              <a:t>A score from data the agency holds</a:t>
            </a:r>
            <a:endParaRPr lang="en-US" sz="1650" dirty="0"/>
          </a:p>
        </p:txBody>
      </p:sp>
      <p:sp>
        <p:nvSpPr>
          <p:cNvPr id="10" name="Rubric list"/>
          <p:cNvSpPr txBox="1"/>
          <p:nvPr/>
        </p:nvSpPr>
        <p:spPr>
          <a:xfrm>
            <a:off x="7040880" y="2212848"/>
            <a:ext cx="4434840" cy="170688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Six criteria, from mission to dependencies</a:t>
            </a:r>
            <a:endParaRPr lang="en-US" sz="1400" dirty="0"/>
          </a:p>
          <a:p>
            <a:pPr marL="342900" indent="-342900">
              <a:spcAft>
                <a:spcPts val="600"/>
              </a:spcAft>
              <a:buSzPct val="100000"/>
              <a:buChar char="•"/>
            </a:pPr>
            <a:r>
              <a:rPr lang="en-US" sz="1350" dirty="0">
                <a:solidFill>
                  <a:schemeClr val="tx2"/>
                </a:solidFill>
              </a:rPr>
              <a:t>Two axes: mission value, technical health</a:t>
            </a:r>
            <a:endParaRPr lang="en-US" sz="1400" dirty="0"/>
          </a:p>
          <a:p>
            <a:pPr marL="342900" indent="-342900">
              <a:spcAft>
                <a:spcPts val="600"/>
              </a:spcAft>
              <a:buSzPct val="100000"/>
              <a:buChar char="•"/>
            </a:pPr>
            <a:r>
              <a:rPr lang="en-US" sz="1350" dirty="0">
                <a:solidFill>
                  <a:schemeClr val="tx2"/>
                </a:solidFill>
              </a:rPr>
              <a:t>First matching rule wins; cheapest that fits</a:t>
            </a:r>
            <a:endParaRPr lang="en-US" sz="1400" dirty="0"/>
          </a:p>
          <a:p>
            <a:pPr marL="342900" indent="-342900">
              <a:spcAft>
                <a:spcPts val="600"/>
              </a:spcAft>
              <a:buSzPct val="100000"/>
              <a:buChar char="•"/>
            </a:pPr>
            <a:r>
              <a:rPr lang="en-US" sz="1350" dirty="0">
                <a:solidFill>
                  <a:schemeClr val="tx2"/>
                </a:solidFill>
              </a:rPr>
              <a:t>Rule 7: deep study only where stakes are high</a:t>
            </a:r>
            <a:endParaRPr lang="en-US" sz="1400" dirty="0"/>
          </a:p>
          <a:p>
            <a:pPr marL="342900" indent="-342900">
              <a:spcAft>
                <a:spcPts val="600"/>
              </a:spcAft>
              <a:buSzPct val="100000"/>
              <a:buChar char="•"/>
            </a:pPr>
            <a:r>
              <a:rPr lang="en-US" sz="1350" dirty="0">
                <a:solidFill>
                  <a:schemeClr val="tx2"/>
                </a:solidFill>
              </a:rPr>
              <a:t>Calibrate on 30 to 50 applications first</a:t>
            </a:r>
            <a:endParaRPr lang="en-US" sz="1400" dirty="0"/>
          </a:p>
        </p:txBody>
      </p:sp>
      <p:sp>
        <p:nvSpPr>
          <p:cNvPr id="11" name="Decision bar" desc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2" name="Icon FaScaleBalanced" descr="">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13" name="Image 2" descr="">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903427" y="5228539"/>
            <a:ext cx="332842" cy="332842"/>
          </a:xfrm>
          <a:prstGeom prst="rect">
            <a:avLst/>
          </a:prstGeom>
        </p:spPr>
      </p:pic>
      <p:sp>
        <p:nvSpPr>
          <p:cNvPr id="14" name="Decision"/>
          <p:cNvSpPr txBox="1"/>
          <p:nvPr/>
        </p:nvSpPr>
        <p:spPr>
          <a:xfrm>
            <a:off x="1600200" y="4919472"/>
            <a:ext cx="5989320" cy="950976"/>
          </a:xfrm>
          <a:prstGeom prst="rect">
            <a:avLst/>
          </a:prstGeom>
          <a:noFill/>
          <a:ln/>
        </p:spPr>
        <p:txBody>
          <a:bodyPr wrap="square" lIns="0" tIns="0" rIns="0" bIns="0" rtlCol="0" anchor="ctr"/>
          <a:lstStyle/>
          <a:p>
            <a:pPr indent="0" marL="0">
              <a:buNone/>
            </a:pPr>
            <a:r>
              <a:rPr lang="en-US" sz="1100" b="1" spc="100" kern="0" dirty="0">
                <a:solidFill>
                  <a:srgbClr val="B45309"/>
                </a:solidFill>
              </a:rPr>
              <a:t>DECISION</a:t>
            </a:r>
            <a:endParaRPr lang="en-US" sz="1400" dirty="0"/>
          </a:p>
          <a:p>
            <a:pPr indent="0" marL="0">
              <a:buNone/>
            </a:pPr>
            <a:r>
              <a:rPr lang="en-US" sz="1400" dirty="0">
                <a:solidFill>
                  <a:srgbClr val="334155"/>
                </a:solidFill>
              </a:rPr>
              <a:t>Agree the criteria, weights and rules once; then rule only on the contested and high-stakes cases that rule 7 sends up (program design)</a:t>
            </a:r>
            <a:endParaRPr lang="en-US" sz="1400" dirty="0"/>
          </a:p>
        </p:txBody>
      </p:sp>
      <p:sp>
        <p:nvSpPr>
          <p:cNvPr id="15" name="Owner"/>
          <p:cNvSpPr txBox="1"/>
          <p:nvPr/>
        </p:nvSpPr>
        <p:spPr>
          <a:xfrm>
            <a:off x="7772400" y="4919472"/>
            <a:ext cx="1920240" cy="950976"/>
          </a:xfrm>
          <a:prstGeom prst="rect">
            <a:avLst/>
          </a:prstGeom>
          <a:noFill/>
          <a:ln/>
        </p:spPr>
        <p:txBody>
          <a:bodyPr wrap="square" lIns="0" tIns="0" rIns="0" bIns="0" rtlCol="0" anchor="ctr"/>
          <a:lstStyle/>
          <a:p>
            <a:pPr indent="0" marL="0">
              <a:buNone/>
            </a:pPr>
            <a:r>
              <a:rPr lang="en-US" sz="1100" b="1" spc="100" kern="0" dirty="0">
                <a:solidFill>
                  <a:srgbClr val="0F766E"/>
                </a:solidFill>
              </a:rPr>
              <a:t>OWNER</a:t>
            </a:r>
            <a:endParaRPr lang="en-US" sz="1400" dirty="0"/>
          </a:p>
          <a:p>
            <a:pPr indent="0" marL="0">
              <a:buNone/>
            </a:pPr>
            <a:r>
              <a:rPr lang="en-US" sz="1400" dirty="0">
                <a:solidFill>
                  <a:srgbClr val="334155"/>
                </a:solidFill>
              </a:rPr>
              <a:t>Program leadership; owners sign each disposition</a:t>
            </a:r>
            <a:endParaRPr lang="en-US" sz="1400" dirty="0"/>
          </a:p>
        </p:txBody>
      </p:sp>
      <p:sp>
        <p:nvSpPr>
          <p:cNvPr id="16" name="When"/>
          <p:cNvSpPr txBox="1"/>
          <p:nvPr/>
        </p:nvSpPr>
        <p:spPr>
          <a:xfrm>
            <a:off x="9784080" y="4919472"/>
            <a:ext cx="1783080" cy="950976"/>
          </a:xfrm>
          <a:prstGeom prst="rect">
            <a:avLst/>
          </a:prstGeom>
          <a:noFill/>
          <a:ln/>
        </p:spPr>
        <p:txBody>
          <a:bodyPr wrap="square" lIns="0" tIns="0" rIns="0" bIns="0" rtlCol="0" anchor="ctr"/>
          <a:lstStyle/>
          <a:p>
            <a:pPr indent="0" marL="0">
              <a:buNone/>
            </a:pPr>
            <a:r>
              <a:rPr lang="en-US" sz="1100" b="1" spc="100" kern="0" dirty="0">
                <a:solidFill>
                  <a:srgbClr val="1F2A44"/>
                </a:solidFill>
              </a:rPr>
              <a:t>WHEN</a:t>
            </a:r>
            <a:endParaRPr lang="en-US" sz="1400" dirty="0"/>
          </a:p>
          <a:p>
            <a:pPr indent="0" marL="0">
              <a:buNone/>
            </a:pPr>
            <a:r>
              <a:rPr lang="en-US" sz="1400" dirty="0">
                <a:solidFill>
                  <a:srgbClr val="334155"/>
                </a:solidFill>
              </a:rPr>
              <a:t>Before scoring the portfolio</a:t>
            </a:r>
            <a:endParaRPr lang="en-US" sz="1400" dirty="0"/>
          </a:p>
        </p:txBody>
      </p:sp>
      <p:sp>
        <p:nvSpPr>
          <p:cNvPr id="17" name="Sources"/>
          <p:cNvSpPr txBox="1"/>
          <p:nvPr/>
        </p:nvSpPr>
        <p:spPr>
          <a:xfrm>
            <a:off x="548640" y="6053328"/>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FIPS 199; OMB Circular A-130; 40 U.S.C. §11312; GAO-25-107795; AWS Prescriptive Guidance. Book 18, Chapters 02 and 07. The rubric is program design.</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One target architecture, and a budget to keep it current</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pic>
        <p:nvPicPr>
          <p:cNvPr id="5" name="Image 0" descr="A layered diagram, top to bottom. Top: a blue card, front ends, React 19, served as static assets, calls APIs only. Next row, two cards: a blue card, backend-for-frontend, Node.js LTS, one per front end where needed; and a blue card, API gateway, authentication, rate limits, routing, the strangler-fig façade. Next row, two cards: a blue card, domain services, Java 25 LTS and Spring Boot 4.1, each publishes an OpenAPI 3.2 contract; and a slate card, the legacy application, still serving the functions not yet moved. Next: a blue card, data, each service owns its schema, PostgreSQL or SQL Server, Chapter 04. Next: a blue card, platform, OCI images on Kubernetes, configuration from the environment, secrets from a vault or workload identity. At the bottom, joined to the platform by a dashed line, a violet card: security references, NIST SP 800-204 for microservices and SP 800-190 for containers. Arrows run from front ends to the backend-for-frontend and the gateway, from both to the services, from the gateway to the legacy application, and from services to data.">    </p:cNvPr>
          <p:cNvPicPr>
            <a:picLocks noChangeAspect="1"/>
          </p:cNvPicPr>
          <p:nvPr/>
        </p:nvPicPr>
        <p:blipFill>
          <a:blip r:embed="rId1"/>
          <a:stretch>
            <a:fillRect/>
          </a:stretch>
        </p:blipFill>
        <p:spPr>
          <a:xfrm>
            <a:off x="702095" y="1371600"/>
            <a:ext cx="4813729" cy="3291840"/>
          </a:xfrm>
          <a:prstGeom prst="rect">
            <a:avLst/>
          </a:prstGeom>
        </p:spPr>
      </p:pic>
      <p:sp>
        <p:nvSpPr>
          <p:cNvPr id="6" name="Stack box" descr="">
            <a:extLst>
              <a:ext uri="{C183D7F6-B498-43B3-948B-1728B52AA6E4}">
                <adec:decorative xmlns:adec="http://schemas.microsoft.com/office/drawing/2017/decorative" val="1"/>
              </a:ext>
            </a:extLst>
          </p:cNvPr>
          <p:cNvSpPr/>
          <p:nvPr/>
        </p:nvSpPr>
        <p:spPr>
          <a:xfrm>
            <a:off x="5897880" y="1371600"/>
            <a:ext cx="5760720" cy="2432304"/>
          </a:xfrm>
          <a:prstGeom prst="roundRect">
            <a:avLst>
              <a:gd name="adj" fmla="val 3008"/>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7" name="Icon FaCubes" descr="">
            <a:extLst>
              <a:ext uri="{C183D7F6-B498-43B3-948B-1728B52AA6E4}">
                <adec:decorative xmlns:adec="http://schemas.microsoft.com/office/drawing/2017/decorative" val="1"/>
              </a:ext>
            </a:extLst>
          </p:cNvPr>
          <p:cNvSpPr/>
          <p:nvPr/>
        </p:nvSpPr>
        <p:spPr>
          <a:xfrm>
            <a:off x="6126480" y="1517904"/>
            <a:ext cx="548640" cy="548640"/>
          </a:xfrm>
          <a:prstGeom prst="ellipse">
            <a:avLst/>
          </a:prstGeom>
          <a:solidFill>
            <a:srgbClr val="1F2A44"/>
          </a:solidFill>
          <a:ln w="12700">
            <a:solidFill>
              <a:srgbClr val="1F2A44"/>
            </a:solidFill>
            <a:prstDash val="solid"/>
          </a:ln>
        </p:spPr>
      </p:sp>
      <p:pic>
        <p:nvPicPr>
          <p:cNvPr id="8"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6258154" y="1649578"/>
            <a:ext cx="285293" cy="285293"/>
          </a:xfrm>
          <a:prstGeom prst="rect">
            <a:avLst/>
          </a:prstGeom>
        </p:spPr>
      </p:pic>
      <p:sp>
        <p:nvSpPr>
          <p:cNvPr id="9" name="Stack head"/>
          <p:cNvSpPr txBox="1"/>
          <p:nvPr/>
        </p:nvSpPr>
        <p:spPr>
          <a:xfrm>
            <a:off x="6812280" y="1517904"/>
            <a:ext cx="4709160" cy="548640"/>
          </a:xfrm>
          <a:prstGeom prst="rect">
            <a:avLst/>
          </a:prstGeom>
          <a:noFill/>
          <a:ln/>
        </p:spPr>
        <p:txBody>
          <a:bodyPr wrap="square" lIns="0" tIns="0" rIns="0" bIns="0" rtlCol="0" anchor="ctr"/>
          <a:lstStyle/>
          <a:p>
            <a:pPr indent="0" marL="0">
              <a:buNone/>
            </a:pPr>
            <a:r>
              <a:rPr lang="en-US" sz="1650" b="1" dirty="0">
                <a:solidFill>
                  <a:srgbClr val="1F2A44"/>
                </a:solidFill>
                <a:latin typeface="Cambria" pitchFamily="34" charset="0"/>
                <a:ea typeface="Cambria" pitchFamily="34" charset="-122"/>
                <a:cs typeface="Cambria" pitchFamily="34" charset="-120"/>
              </a:rPr>
              <a:t>The program's stack, October 2026</a:t>
            </a:r>
            <a:endParaRPr lang="en-US" sz="1650" dirty="0"/>
          </a:p>
        </p:txBody>
      </p:sp>
      <p:sp>
        <p:nvSpPr>
          <p:cNvPr id="10" name="Stack list"/>
          <p:cNvSpPr txBox="1"/>
          <p:nvPr/>
        </p:nvSpPr>
        <p:spPr>
          <a:xfrm>
            <a:off x="6126480" y="2212848"/>
            <a:ext cx="5349240" cy="150114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Java 25 LTS and Spring Boot 4.1 for services</a:t>
            </a:r>
            <a:endParaRPr lang="en-US" sz="1400" dirty="0"/>
          </a:p>
          <a:p>
            <a:pPr marL="342900" indent="-342900">
              <a:spcAft>
                <a:spcPts val="600"/>
              </a:spcAft>
              <a:buSzPct val="100000"/>
              <a:buChar char="•"/>
            </a:pPr>
            <a:r>
              <a:rPr lang="en-US" sz="1350" dirty="0">
                <a:solidFill>
                  <a:schemeClr val="tx2"/>
                </a:solidFill>
              </a:rPr>
              <a:t>React front ends; Node.js only where it fits</a:t>
            </a:r>
            <a:endParaRPr lang="en-US" sz="1400" dirty="0"/>
          </a:p>
          <a:p>
            <a:pPr marL="342900" indent="-342900">
              <a:spcAft>
                <a:spcPts val="600"/>
              </a:spcAft>
              <a:buSzPct val="100000"/>
              <a:buChar char="•"/>
            </a:pPr>
            <a:r>
              <a:rPr lang="en-US" sz="1350" dirty="0">
                <a:solidFill>
                  <a:schemeClr val="tx2"/>
                </a:solidFill>
              </a:rPr>
              <a:t>OpenAPI contracts first; OCI containers on Kubernetes</a:t>
            </a:r>
            <a:endParaRPr lang="en-US" sz="1400" dirty="0"/>
          </a:p>
          <a:p>
            <a:pPr marL="342900" indent="-342900">
              <a:spcAft>
                <a:spcPts val="600"/>
              </a:spcAft>
              <a:buSzPct val="100000"/>
              <a:buChar char="•"/>
            </a:pPr>
            <a:r>
              <a:rPr lang="en-US" sz="1350" dirty="0">
                <a:solidFill>
                  <a:schemeClr val="tx2"/>
                </a:solidFill>
              </a:rPr>
              <a:t>Spring Boot: about 13 months of open-source support</a:t>
            </a:r>
            <a:endParaRPr lang="en-US" sz="1400" dirty="0"/>
          </a:p>
          <a:p>
            <a:pPr marL="342900" indent="-342900">
              <a:spcAft>
                <a:spcPts val="600"/>
              </a:spcAft>
              <a:buSzPct val="100000"/>
              <a:buChar char="•"/>
            </a:pPr>
            <a:r>
              <a:rPr lang="en-US" sz="1350" dirty="0">
                <a:solidFill>
                  <a:schemeClr val="tx2"/>
                </a:solidFill>
              </a:rPr>
              <a:t>Program's choice: no federal rule names a stack</a:t>
            </a:r>
            <a:endParaRPr lang="en-US" sz="1400" dirty="0"/>
          </a:p>
        </p:txBody>
      </p:sp>
      <p:sp>
        <p:nvSpPr>
          <p:cNvPr id="11" name="Decision bar" desc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2" name="Icon FaScaleBalanced" descr="">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13" name="Image 2" descr="">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903427" y="5228539"/>
            <a:ext cx="332842" cy="332842"/>
          </a:xfrm>
          <a:prstGeom prst="rect">
            <a:avLst/>
          </a:prstGeom>
        </p:spPr>
      </p:pic>
      <p:sp>
        <p:nvSpPr>
          <p:cNvPr id="14" name="Decision"/>
          <p:cNvSpPr txBox="1"/>
          <p:nvPr/>
        </p:nvSpPr>
        <p:spPr>
          <a:xfrm>
            <a:off x="1600200" y="4919472"/>
            <a:ext cx="5989320" cy="950976"/>
          </a:xfrm>
          <a:prstGeom prst="rect">
            <a:avLst/>
          </a:prstGeom>
          <a:noFill/>
          <a:ln/>
        </p:spPr>
        <p:txBody>
          <a:bodyPr wrap="square" lIns="0" tIns="0" rIns="0" bIns="0" rtlCol="0" anchor="ctr"/>
          <a:lstStyle/>
          <a:p>
            <a:pPr indent="0" marL="0">
              <a:buNone/>
            </a:pPr>
            <a:r>
              <a:rPr lang="en-US" sz="1100" b="1" spc="100" kern="0" dirty="0">
                <a:solidFill>
                  <a:srgbClr val="B45309"/>
                </a:solidFill>
              </a:rPr>
              <a:t>DECISION</a:t>
            </a:r>
            <a:endParaRPr lang="en-US" sz="1400" dirty="0"/>
          </a:p>
          <a:p>
            <a:pPr indent="0" marL="0">
              <a:buNone/>
            </a:pPr>
            <a:r>
              <a:rPr lang="en-US" sz="1400" dirty="0">
                <a:solidFill>
                  <a:srgbClr val="334155"/>
                </a:solidFill>
              </a:rPr>
              <a:t>Approve one target stack and a way to change it, and budget platform upgrades as recurring work</a:t>
            </a:r>
            <a:endParaRPr lang="en-US" sz="1400" dirty="0"/>
          </a:p>
        </p:txBody>
      </p:sp>
      <p:sp>
        <p:nvSpPr>
          <p:cNvPr id="15" name="Owner"/>
          <p:cNvSpPr txBox="1"/>
          <p:nvPr/>
        </p:nvSpPr>
        <p:spPr>
          <a:xfrm>
            <a:off x="7772400" y="4919472"/>
            <a:ext cx="1920240" cy="950976"/>
          </a:xfrm>
          <a:prstGeom prst="rect">
            <a:avLst/>
          </a:prstGeom>
          <a:noFill/>
          <a:ln/>
        </p:spPr>
        <p:txBody>
          <a:bodyPr wrap="square" lIns="0" tIns="0" rIns="0" bIns="0" rtlCol="0" anchor="ctr"/>
          <a:lstStyle/>
          <a:p>
            <a:pPr indent="0" marL="0">
              <a:buNone/>
            </a:pPr>
            <a:r>
              <a:rPr lang="en-US" sz="1100" b="1" spc="100" kern="0" dirty="0">
                <a:solidFill>
                  <a:srgbClr val="0F766E"/>
                </a:solidFill>
              </a:rPr>
              <a:t>OWNER</a:t>
            </a:r>
            <a:endParaRPr lang="en-US" sz="1400" dirty="0"/>
          </a:p>
          <a:p>
            <a:pPr indent="0" marL="0">
              <a:buNone/>
            </a:pPr>
            <a:r>
              <a:rPr lang="en-US" sz="1400" dirty="0">
                <a:solidFill>
                  <a:srgbClr val="334155"/>
                </a:solidFill>
              </a:rPr>
              <a:t>Chief architect owns the list; CIO funds upgrades</a:t>
            </a:r>
            <a:endParaRPr lang="en-US" sz="1400" dirty="0"/>
          </a:p>
        </p:txBody>
      </p:sp>
      <p:sp>
        <p:nvSpPr>
          <p:cNvPr id="16" name="When"/>
          <p:cNvSpPr txBox="1"/>
          <p:nvPr/>
        </p:nvSpPr>
        <p:spPr>
          <a:xfrm>
            <a:off x="9784080" y="4919472"/>
            <a:ext cx="1783080" cy="950976"/>
          </a:xfrm>
          <a:prstGeom prst="rect">
            <a:avLst/>
          </a:prstGeom>
          <a:noFill/>
          <a:ln/>
        </p:spPr>
        <p:txBody>
          <a:bodyPr wrap="square" lIns="0" tIns="0" rIns="0" bIns="0" rtlCol="0" anchor="ctr"/>
          <a:lstStyle/>
          <a:p>
            <a:pPr indent="0" marL="0">
              <a:buNone/>
            </a:pPr>
            <a:r>
              <a:rPr lang="en-US" sz="1100" b="1" spc="100" kern="0" dirty="0">
                <a:solidFill>
                  <a:srgbClr val="1F2A44"/>
                </a:solidFill>
              </a:rPr>
              <a:t>WHEN</a:t>
            </a:r>
            <a:endParaRPr lang="en-US" sz="1400" dirty="0"/>
          </a:p>
          <a:p>
            <a:pPr indent="0" marL="0">
              <a:buNone/>
            </a:pPr>
            <a:r>
              <a:rPr lang="en-US" sz="1400" dirty="0">
                <a:solidFill>
                  <a:srgbClr val="334155"/>
                </a:solidFill>
              </a:rPr>
              <a:t>Before the first refactor starts</a:t>
            </a:r>
            <a:endParaRPr lang="en-US" sz="1400" dirty="0"/>
          </a:p>
        </p:txBody>
      </p:sp>
      <p:sp>
        <p:nvSpPr>
          <p:cNvPr id="17" name="Sources"/>
          <p:cNvSpPr txBox="1"/>
          <p:nvPr/>
        </p:nvSpPr>
        <p:spPr>
          <a:xfrm>
            <a:off x="548640" y="6053328"/>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OpenJDK; Microsoft Build of OpenJDK roadmap; Spring project generations; React; Node.js releases; OpenAPI 3.2.1; Kubernetes (Oct 28, 2026). Book 18, Ch. 03.</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Replace in increments behind a stable interface</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pic>
        <p:nvPicPr>
          <p:cNvPr id="5" name="Image 0" descr="Four stages left to right, each a card. Stage 1, amber: introduce the façade; clients call the façade, which sends most requests to the legacy application. Stage 2, amber: move functions; each function moves to a new service behind the same contract, and an anti-corruption layer translates between old and new. Stage 3, green: decommission the legacy application; all requests go to the new services and the legacy data is removed only after validation. Stage 4, blue: remove the façade or keep it as an adapter; clients call the new services directly. A red note under stage 2 reads: rollback stays possible until the legacy objects are removed.">    </p:cNvPr>
          <p:cNvPicPr>
            <a:picLocks noChangeAspect="1"/>
          </p:cNvPicPr>
          <p:nvPr/>
        </p:nvPicPr>
        <p:blipFill>
          <a:blip r:embed="rId1"/>
          <a:stretch>
            <a:fillRect/>
          </a:stretch>
        </p:blipFill>
        <p:spPr>
          <a:xfrm>
            <a:off x="2073503" y="1325880"/>
            <a:ext cx="8060233" cy="2103120"/>
          </a:xfrm>
          <a:prstGeom prst="rect">
            <a:avLst/>
          </a:prstGeom>
        </p:spPr>
      </p:pic>
      <p:sp>
        <p:nvSpPr>
          <p:cNvPr id="6" name="Fit 0" descr="">
            <a:extLst>
              <a:ext uri="{C183D7F6-B498-43B3-948B-1728B52AA6E4}">
                <adec:decorative xmlns:adec="http://schemas.microsoft.com/office/drawing/2017/decorative" val="1"/>
              </a:ext>
            </a:extLst>
          </p:cNvPr>
          <p:cNvSpPr/>
          <p:nvPr/>
        </p:nvSpPr>
        <p:spPr>
          <a:xfrm>
            <a:off x="548640" y="3611880"/>
            <a:ext cx="3566160" cy="1051560"/>
          </a:xfrm>
          <a:prstGeom prst="roundRect">
            <a:avLst>
              <a:gd name="adj" fmla="val 6957"/>
            </a:avLst>
          </a:prstGeom>
          <a:solidFill>
            <a:srgbClr val="E9EEF4"/>
          </a:solidFill>
          <a:ln w="12700">
            <a:solidFill>
              <a:srgbClr val="E9EEF4"/>
            </a:solidFill>
            <a:prstDash val="solid"/>
          </a:ln>
          <a:effectLst>
            <a:outerShdw sx="100000" sy="100000" kx="0" ky="0" algn="bl" rotWithShape="0" blurRad="76200" dist="25400" dir="5400000">
              <a:srgbClr val="64748B">
                <a:alpha val="22000"/>
              </a:srgbClr>
            </a:outerShdw>
          </a:effectLst>
        </p:spPr>
      </p:sp>
      <p:sp>
        <p:nvSpPr>
          <p:cNvPr id="7" name="Fit 0 text"/>
          <p:cNvSpPr txBox="1"/>
          <p:nvPr/>
        </p:nvSpPr>
        <p:spPr>
          <a:xfrm>
            <a:off x="685800" y="3657600"/>
            <a:ext cx="3291840" cy="960120"/>
          </a:xfrm>
          <a:prstGeom prst="rect">
            <a:avLst/>
          </a:prstGeom>
          <a:noFill/>
          <a:ln/>
        </p:spPr>
        <p:txBody>
          <a:bodyPr wrap="square" lIns="0" tIns="0" rIns="0" bIns="0" rtlCol="0" anchor="ctr"/>
          <a:lstStyle/>
          <a:p>
            <a:pPr indent="0" marL="0">
              <a:buNone/>
            </a:pPr>
            <a:r>
              <a:rPr lang="en-US" sz="1350" b="1" dirty="0">
                <a:solidFill>
                  <a:srgbClr val="1F2A44"/>
                </a:solidFill>
              </a:rPr>
              <a:t>Requests can be intercepted</a:t>
            </a:r>
            <a:endParaRPr lang="en-US" sz="1350" dirty="0"/>
          </a:p>
          <a:p>
            <a:pPr indent="0" marL="0">
              <a:buNone/>
            </a:pPr>
            <a:r>
              <a:rPr lang="en-US" sz="1350" dirty="0">
                <a:solidFill>
                  <a:schemeClr val="tx2"/>
                </a:solidFill>
              </a:rPr>
              <a:t>If nothing can sit in front of it, the pattern doesn't fit</a:t>
            </a:r>
            <a:endParaRPr lang="en-US" sz="1350" dirty="0"/>
          </a:p>
        </p:txBody>
      </p:sp>
      <p:sp>
        <p:nvSpPr>
          <p:cNvPr id="8" name="Fit 1" descr="">
            <a:extLst>
              <a:ext uri="{C183D7F6-B498-43B3-948B-1728B52AA6E4}">
                <adec:decorative xmlns:adec="http://schemas.microsoft.com/office/drawing/2017/decorative" val="1"/>
              </a:ext>
            </a:extLst>
          </p:cNvPr>
          <p:cNvSpPr/>
          <p:nvPr/>
        </p:nvSpPr>
        <p:spPr>
          <a:xfrm>
            <a:off x="4320540" y="3611880"/>
            <a:ext cx="3566160" cy="1051560"/>
          </a:xfrm>
          <a:prstGeom prst="roundRect">
            <a:avLst>
              <a:gd name="adj" fmla="val 6957"/>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9" name="Fit 1 text"/>
          <p:cNvSpPr txBox="1"/>
          <p:nvPr/>
        </p:nvSpPr>
        <p:spPr>
          <a:xfrm>
            <a:off x="4457700" y="3657600"/>
            <a:ext cx="3291840" cy="960120"/>
          </a:xfrm>
          <a:prstGeom prst="rect">
            <a:avLst/>
          </a:prstGeom>
          <a:noFill/>
          <a:ln/>
        </p:spPr>
        <p:txBody>
          <a:bodyPr wrap="square" lIns="0" tIns="0" rIns="0" bIns="0" rtlCol="0" anchor="ctr"/>
          <a:lstStyle/>
          <a:p>
            <a:pPr indent="0" marL="0">
              <a:buNone/>
            </a:pPr>
            <a:r>
              <a:rPr lang="en-US" sz="1350" b="1" dirty="0">
                <a:solidFill>
                  <a:srgbClr val="1F2A44"/>
                </a:solidFill>
              </a:rPr>
              <a:t>Shared data has a plan</a:t>
            </a:r>
            <a:endParaRPr lang="en-US" sz="1350" dirty="0"/>
          </a:p>
          <a:p>
            <a:pPr indent="0" marL="0">
              <a:buNone/>
            </a:pPr>
            <a:r>
              <a:rPr lang="en-US" sz="1350" dirty="0">
                <a:solidFill>
                  <a:schemeClr val="tx2"/>
                </a:solidFill>
              </a:rPr>
              <a:t>One domain at a time: copied, kept in sync, validated</a:t>
            </a:r>
            <a:endParaRPr lang="en-US" sz="1350" dirty="0"/>
          </a:p>
        </p:txBody>
      </p:sp>
      <p:sp>
        <p:nvSpPr>
          <p:cNvPr id="10" name="Fit 2" descr="">
            <a:extLst>
              <a:ext uri="{C183D7F6-B498-43B3-948B-1728B52AA6E4}">
                <adec:decorative xmlns:adec="http://schemas.microsoft.com/office/drawing/2017/decorative" val="1"/>
              </a:ext>
            </a:extLst>
          </p:cNvPr>
          <p:cNvSpPr/>
          <p:nvPr/>
        </p:nvSpPr>
        <p:spPr>
          <a:xfrm>
            <a:off x="8092440" y="3611880"/>
            <a:ext cx="3566160" cy="1051560"/>
          </a:xfrm>
          <a:prstGeom prst="roundRect">
            <a:avLst>
              <a:gd name="adj" fmla="val 6957"/>
            </a:avLst>
          </a:prstGeom>
          <a:solidFill>
            <a:srgbClr val="E9EEF4"/>
          </a:solidFill>
          <a:ln w="12700">
            <a:solidFill>
              <a:srgbClr val="E9EEF4"/>
            </a:solidFill>
            <a:prstDash val="solid"/>
          </a:ln>
          <a:effectLst>
            <a:outerShdw sx="100000" sy="100000" kx="0" ky="0" algn="bl" rotWithShape="0" blurRad="76200" dist="25400" dir="5400000">
              <a:srgbClr val="64748B">
                <a:alpha val="22000"/>
              </a:srgbClr>
            </a:outerShdw>
          </a:effectLst>
        </p:spPr>
      </p:sp>
      <p:sp>
        <p:nvSpPr>
          <p:cNvPr id="11" name="Fit 2 text"/>
          <p:cNvSpPr txBox="1"/>
          <p:nvPr/>
        </p:nvSpPr>
        <p:spPr>
          <a:xfrm>
            <a:off x="8229600" y="3657600"/>
            <a:ext cx="3291840" cy="960120"/>
          </a:xfrm>
          <a:prstGeom prst="rect">
            <a:avLst/>
          </a:prstGeom>
          <a:noFill/>
          <a:ln/>
        </p:spPr>
        <p:txBody>
          <a:bodyPr wrap="square" lIns="0" tIns="0" rIns="0" bIns="0" rtlCol="0" anchor="ctr"/>
          <a:lstStyle/>
          <a:p>
            <a:pPr indent="0" marL="0">
              <a:buNone/>
            </a:pPr>
            <a:r>
              <a:rPr lang="en-US" sz="1350" b="1" dirty="0">
                <a:solidFill>
                  <a:srgbClr val="1F2A44"/>
                </a:solidFill>
              </a:rPr>
              <a:t>Rollback has an end</a:t>
            </a:r>
            <a:endParaRPr lang="en-US" sz="1350" dirty="0"/>
          </a:p>
          <a:p>
            <a:pPr indent="0" marL="0">
              <a:buNone/>
            </a:pPr>
            <a:r>
              <a:rPr lang="en-US" sz="1350" dirty="0">
                <a:solidFill>
                  <a:schemeClr val="tx2"/>
                </a:solidFill>
              </a:rPr>
              <a:t>Practical until the legacy tables are removed, last</a:t>
            </a:r>
            <a:endParaRPr lang="en-US" sz="1350" dirty="0"/>
          </a:p>
        </p:txBody>
      </p:sp>
      <p:sp>
        <p:nvSpPr>
          <p:cNvPr id="12" name="Decision bar" desc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3" name="Icon FaScaleBalanced" descr="">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14"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903427" y="5228539"/>
            <a:ext cx="332842" cy="332842"/>
          </a:xfrm>
          <a:prstGeom prst="rect">
            <a:avLst/>
          </a:prstGeom>
        </p:spPr>
      </p:pic>
      <p:sp>
        <p:nvSpPr>
          <p:cNvPr id="15" name="Decision"/>
          <p:cNvSpPr txBox="1"/>
          <p:nvPr/>
        </p:nvSpPr>
        <p:spPr>
          <a:xfrm>
            <a:off x="1600200" y="4919472"/>
            <a:ext cx="5989320" cy="950976"/>
          </a:xfrm>
          <a:prstGeom prst="rect">
            <a:avLst/>
          </a:prstGeom>
          <a:noFill/>
          <a:ln/>
        </p:spPr>
        <p:txBody>
          <a:bodyPr wrap="square" lIns="0" tIns="0" rIns="0" bIns="0" rtlCol="0" anchor="ctr"/>
          <a:lstStyle/>
          <a:p>
            <a:pPr indent="0" marL="0">
              <a:buNone/>
            </a:pPr>
            <a:r>
              <a:rPr lang="en-US" sz="1100" b="1" spc="100" kern="0" dirty="0">
                <a:solidFill>
                  <a:srgbClr val="B45309"/>
                </a:solidFill>
              </a:rPr>
              <a:t>DECISION</a:t>
            </a:r>
            <a:endParaRPr lang="en-US" sz="1400" dirty="0"/>
          </a:p>
          <a:p>
            <a:pPr indent="0" marL="0">
              <a:buNone/>
            </a:pPr>
            <a:r>
              <a:rPr lang="en-US" sz="1400" dirty="0">
                <a:solidFill>
                  <a:srgbClr val="334155"/>
                </a:solidFill>
              </a:rPr>
              <a:t>Ask every refactor proposal to name its façade, its first function to move, its plan for shared data and when rollback ends</a:t>
            </a:r>
            <a:endParaRPr lang="en-US" sz="1400" dirty="0"/>
          </a:p>
        </p:txBody>
      </p:sp>
      <p:sp>
        <p:nvSpPr>
          <p:cNvPr id="16" name="Owner"/>
          <p:cNvSpPr txBox="1"/>
          <p:nvPr/>
        </p:nvSpPr>
        <p:spPr>
          <a:xfrm>
            <a:off x="7772400" y="4919472"/>
            <a:ext cx="1920240" cy="950976"/>
          </a:xfrm>
          <a:prstGeom prst="rect">
            <a:avLst/>
          </a:prstGeom>
          <a:noFill/>
          <a:ln/>
        </p:spPr>
        <p:txBody>
          <a:bodyPr wrap="square" lIns="0" tIns="0" rIns="0" bIns="0" rtlCol="0" anchor="ctr"/>
          <a:lstStyle/>
          <a:p>
            <a:pPr indent="0" marL="0">
              <a:buNone/>
            </a:pPr>
            <a:r>
              <a:rPr lang="en-US" sz="1100" b="1" spc="100" kern="0" dirty="0">
                <a:solidFill>
                  <a:srgbClr val="0F766E"/>
                </a:solidFill>
              </a:rPr>
              <a:t>OWNER</a:t>
            </a:r>
            <a:endParaRPr lang="en-US" sz="1400" dirty="0"/>
          </a:p>
          <a:p>
            <a:pPr indent="0" marL="0">
              <a:buNone/>
            </a:pPr>
            <a:r>
              <a:rPr lang="en-US" sz="1400" dirty="0">
                <a:solidFill>
                  <a:srgbClr val="334155"/>
                </a:solidFill>
              </a:rPr>
              <a:t>Chief architect or delegate</a:t>
            </a:r>
            <a:endParaRPr lang="en-US" sz="1400" dirty="0"/>
          </a:p>
        </p:txBody>
      </p:sp>
      <p:sp>
        <p:nvSpPr>
          <p:cNvPr id="17" name="When"/>
          <p:cNvSpPr txBox="1"/>
          <p:nvPr/>
        </p:nvSpPr>
        <p:spPr>
          <a:xfrm>
            <a:off x="9784080" y="4919472"/>
            <a:ext cx="1783080" cy="950976"/>
          </a:xfrm>
          <a:prstGeom prst="rect">
            <a:avLst/>
          </a:prstGeom>
          <a:noFill/>
          <a:ln/>
        </p:spPr>
        <p:txBody>
          <a:bodyPr wrap="square" lIns="0" tIns="0" rIns="0" bIns="0" rtlCol="0" anchor="ctr"/>
          <a:lstStyle/>
          <a:p>
            <a:pPr indent="0" marL="0">
              <a:buNone/>
            </a:pPr>
            <a:r>
              <a:rPr lang="en-US" sz="1100" b="1" spc="100" kern="0" dirty="0">
                <a:solidFill>
                  <a:srgbClr val="1F2A44"/>
                </a:solidFill>
              </a:rPr>
              <a:t>WHEN</a:t>
            </a:r>
            <a:endParaRPr lang="en-US" sz="1400" dirty="0"/>
          </a:p>
          <a:p>
            <a:pPr indent="0" marL="0">
              <a:buNone/>
            </a:pPr>
            <a:r>
              <a:rPr lang="en-US" sz="1400" dirty="0">
                <a:solidFill>
                  <a:srgbClr val="334155"/>
                </a:solidFill>
              </a:rPr>
              <a:t>Gate 2, before build</a:t>
            </a:r>
            <a:endParaRPr lang="en-US" sz="1400" dirty="0"/>
          </a:p>
        </p:txBody>
      </p:sp>
      <p:sp>
        <p:nvSpPr>
          <p:cNvPr id="18" name="Sources"/>
          <p:cNvSpPr txBox="1"/>
          <p:nvPr/>
        </p:nvSpPr>
        <p:spPr>
          <a:xfrm>
            <a:off x="548640" y="6053328"/>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Microsoft Learn, Azure Architecture Center, Strangler Fig pattern; M. Fowler, Strangler Fig (August 22, 2024). Book 18, Chapters 03 and 07.</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Data moves once, and the move must be proven</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pic>
        <p:nvPicPr>
          <p:cNvPr id="5" name="Image 0" descr="A top-to-bottom flow. A slate card at the top: the source database, DB2 or Oracle, with tables, stored procedures, packages and sequences. A blue arrow leads to a blue card, Convert the schema: type mapping, sequences and identity, procedures and packages, using a conversion tool and then human review. Next a blue card, Move the rows: a full load, then change data capture or delta loads while both systems run. Next a violet card, Prove the result, with three items: row counts per table, an order-independent checksum over canonicalized rows, and an independent aggregate reconciliation. An amber card, Cut-over decision, follows, offering big-bang, phased or parallel run. A green card at the bottom: the target, PostgreSQL or SQL Server, as the system of record. A dashed red arrow from Prove the result back to Convert the schema is labeled any mismatch: fix and rerun.">    </p:cNvPr>
          <p:cNvPicPr>
            <a:picLocks noChangeAspect="1"/>
          </p:cNvPicPr>
          <p:nvPr/>
        </p:nvPicPr>
        <p:blipFill>
          <a:blip r:embed="rId1"/>
          <a:stretch>
            <a:fillRect/>
          </a:stretch>
        </p:blipFill>
        <p:spPr>
          <a:xfrm>
            <a:off x="654518" y="1371600"/>
            <a:ext cx="3811604" cy="3291840"/>
          </a:xfrm>
          <a:prstGeom prst="rect">
            <a:avLst/>
          </a:prstGeom>
        </p:spPr>
      </p:pic>
      <p:sp>
        <p:nvSpPr>
          <p:cNvPr id="6" name="Checks box" descr="">
            <a:extLst>
              <a:ext uri="{C183D7F6-B498-43B3-948B-1728B52AA6E4}">
                <adec:decorative xmlns:adec="http://schemas.microsoft.com/office/drawing/2017/decorative" val="1"/>
              </a:ext>
            </a:extLst>
          </p:cNvPr>
          <p:cNvSpPr/>
          <p:nvPr/>
        </p:nvSpPr>
        <p:spPr>
          <a:xfrm>
            <a:off x="4846320" y="1371600"/>
            <a:ext cx="6812280" cy="2432304"/>
          </a:xfrm>
          <a:prstGeom prst="roundRect">
            <a:avLst>
              <a:gd name="adj" fmla="val 3008"/>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7" name="Icon FaClipboardCheck" descr="">
            <a:extLst>
              <a:ext uri="{C183D7F6-B498-43B3-948B-1728B52AA6E4}">
                <adec:decorative xmlns:adec="http://schemas.microsoft.com/office/drawing/2017/decorative" val="1"/>
              </a:ext>
            </a:extLst>
          </p:cNvPr>
          <p:cNvSpPr/>
          <p:nvPr/>
        </p:nvSpPr>
        <p:spPr>
          <a:xfrm>
            <a:off x="5074920" y="1517904"/>
            <a:ext cx="548640" cy="548640"/>
          </a:xfrm>
          <a:prstGeom prst="ellipse">
            <a:avLst/>
          </a:prstGeom>
          <a:solidFill>
            <a:srgbClr val="0F766E"/>
          </a:solidFill>
          <a:ln w="12700">
            <a:solidFill>
              <a:srgbClr val="0F766E"/>
            </a:solidFill>
            <a:prstDash val="solid"/>
          </a:ln>
        </p:spPr>
      </p:sp>
      <p:pic>
        <p:nvPicPr>
          <p:cNvPr id="8"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5206594" y="1649578"/>
            <a:ext cx="285293" cy="285293"/>
          </a:xfrm>
          <a:prstGeom prst="rect">
            <a:avLst/>
          </a:prstGeom>
        </p:spPr>
      </p:pic>
      <p:sp>
        <p:nvSpPr>
          <p:cNvPr id="9" name="Checks head"/>
          <p:cNvSpPr txBox="1"/>
          <p:nvPr/>
        </p:nvSpPr>
        <p:spPr>
          <a:xfrm>
            <a:off x="5760720" y="1517904"/>
            <a:ext cx="5760720" cy="548640"/>
          </a:xfrm>
          <a:prstGeom prst="rect">
            <a:avLst/>
          </a:prstGeom>
          <a:noFill/>
          <a:ln/>
        </p:spPr>
        <p:txBody>
          <a:bodyPr wrap="square" lIns="0" tIns="0" rIns="0" bIns="0" rtlCol="0" anchor="ctr"/>
          <a:lstStyle/>
          <a:p>
            <a:pPr indent="0" marL="0">
              <a:buNone/>
            </a:pPr>
            <a:r>
              <a:rPr lang="en-US" sz="1650" b="1" dirty="0">
                <a:solidFill>
                  <a:srgbClr val="0F766E"/>
                </a:solidFill>
                <a:latin typeface="Cambria" pitchFamily="34" charset="0"/>
                <a:ea typeface="Cambria" pitchFamily="34" charset="-122"/>
                <a:cs typeface="Cambria" pitchFamily="34" charset="-120"/>
              </a:rPr>
              <a:t>Three checks whose blind spots don't overlap</a:t>
            </a:r>
            <a:endParaRPr lang="en-US" sz="1650" dirty="0"/>
          </a:p>
        </p:txBody>
      </p:sp>
      <p:sp>
        <p:nvSpPr>
          <p:cNvPr id="10" name="Checks list"/>
          <p:cNvSpPr txBox="1"/>
          <p:nvPr/>
        </p:nvSpPr>
        <p:spPr>
          <a:xfrm>
            <a:off x="5074920" y="2212848"/>
            <a:ext cx="6400800" cy="150114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Row counts: missing or duplicated rows</a:t>
            </a:r>
            <a:endParaRPr lang="en-US" sz="1400" dirty="0"/>
          </a:p>
          <a:p>
            <a:pPr marL="342900" indent="-342900">
              <a:spcAft>
                <a:spcPts val="600"/>
              </a:spcAft>
              <a:buSzPct val="100000"/>
              <a:buChar char="•"/>
            </a:pPr>
            <a:r>
              <a:rPr lang="en-US" sz="1350" dirty="0">
                <a:solidFill>
                  <a:schemeClr val="tx2"/>
                </a:solidFill>
              </a:rPr>
              <a:t>Checksum: any changed value, in any order</a:t>
            </a:r>
            <a:endParaRPr lang="en-US" sz="1400" dirty="0"/>
          </a:p>
          <a:p>
            <a:pPr marL="342900" indent="-342900">
              <a:spcAft>
                <a:spcPts val="600"/>
              </a:spcAft>
              <a:buSzPct val="100000"/>
              <a:buChar char="•"/>
            </a:pPr>
            <a:r>
              <a:rPr lang="en-US" sz="1350" dirty="0">
                <a:solidFill>
                  <a:schemeClr val="tx2"/>
                </a:solidFill>
              </a:rPr>
              <a:t>Totals the business knows, computed on each side</a:t>
            </a:r>
            <a:endParaRPr lang="en-US" sz="1400" dirty="0"/>
          </a:p>
          <a:p>
            <a:pPr marL="342900" indent="-342900">
              <a:spcAft>
                <a:spcPts val="600"/>
              </a:spcAft>
              <a:buSzPct val="100000"/>
              <a:buChar char="•"/>
            </a:pPr>
            <a:r>
              <a:rPr lang="en-US" sz="1350" dirty="0">
                <a:solidFill>
                  <a:schemeClr val="tx2"/>
                </a:solidFill>
              </a:rPr>
              <a:t>Silent risks: dates losing their time, empty strings, keys</a:t>
            </a:r>
            <a:endParaRPr lang="en-US" sz="1400" dirty="0"/>
          </a:p>
          <a:p>
            <a:pPr marL="342900" indent="-342900">
              <a:spcAft>
                <a:spcPts val="600"/>
              </a:spcAft>
              <a:buSzPct val="100000"/>
              <a:buChar char="•"/>
            </a:pPr>
            <a:r>
              <a:rPr lang="en-US" sz="1350" dirty="0">
                <a:solidFill>
                  <a:schemeClr val="tx2"/>
                </a:solidFill>
              </a:rPr>
              <a:t>Validation proves equivalence, not correctness</a:t>
            </a:r>
            <a:endParaRPr lang="en-US" sz="1400" dirty="0"/>
          </a:p>
        </p:txBody>
      </p:sp>
      <p:sp>
        <p:nvSpPr>
          <p:cNvPr id="11" name="Decision bar" desc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2" name="Icon FaScaleBalanced" descr="">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13" name="Image 2" descr="">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903427" y="5228539"/>
            <a:ext cx="332842" cy="332842"/>
          </a:xfrm>
          <a:prstGeom prst="rect">
            <a:avLst/>
          </a:prstGeom>
        </p:spPr>
      </p:pic>
      <p:sp>
        <p:nvSpPr>
          <p:cNvPr id="14" name="Decision"/>
          <p:cNvSpPr txBox="1"/>
          <p:nvPr/>
        </p:nvSpPr>
        <p:spPr>
          <a:xfrm>
            <a:off x="1600200" y="4919472"/>
            <a:ext cx="5989320" cy="950976"/>
          </a:xfrm>
          <a:prstGeom prst="rect">
            <a:avLst/>
          </a:prstGeom>
          <a:noFill/>
          <a:ln/>
        </p:spPr>
        <p:txBody>
          <a:bodyPr wrap="square" lIns="0" tIns="0" rIns="0" bIns="0" rtlCol="0" anchor="ctr"/>
          <a:lstStyle/>
          <a:p>
            <a:pPr indent="0" marL="0">
              <a:buNone/>
            </a:pPr>
            <a:r>
              <a:rPr lang="en-US" sz="1100" b="1" spc="100" kern="0" dirty="0">
                <a:solidFill>
                  <a:srgbClr val="B45309"/>
                </a:solidFill>
              </a:rPr>
              <a:t>DECISION</a:t>
            </a:r>
            <a:endParaRPr lang="en-US" sz="1400" dirty="0"/>
          </a:p>
          <a:p>
            <a:pPr indent="0" marL="0">
              <a:buNone/>
            </a:pPr>
            <a:r>
              <a:rPr lang="en-US" sz="1400" dirty="0">
                <a:solidFill>
                  <a:srgbClr val="334155"/>
                </a:solidFill>
              </a:rPr>
              <a:t>Before any cut-over, see row counts, a checksum and a reconciliation of totals the business recognizes, with every mismatch explained</a:t>
            </a:r>
            <a:endParaRPr lang="en-US" sz="1400" dirty="0"/>
          </a:p>
        </p:txBody>
      </p:sp>
      <p:sp>
        <p:nvSpPr>
          <p:cNvPr id="15" name="Owner"/>
          <p:cNvSpPr txBox="1"/>
          <p:nvPr/>
        </p:nvSpPr>
        <p:spPr>
          <a:xfrm>
            <a:off x="7772400" y="4919472"/>
            <a:ext cx="1920240" cy="950976"/>
          </a:xfrm>
          <a:prstGeom prst="rect">
            <a:avLst/>
          </a:prstGeom>
          <a:noFill/>
          <a:ln/>
        </p:spPr>
        <p:txBody>
          <a:bodyPr wrap="square" lIns="0" tIns="0" rIns="0" bIns="0" rtlCol="0" anchor="ctr"/>
          <a:lstStyle/>
          <a:p>
            <a:pPr indent="0" marL="0">
              <a:buNone/>
            </a:pPr>
            <a:r>
              <a:rPr lang="en-US" sz="1100" b="1" spc="100" kern="0" dirty="0">
                <a:solidFill>
                  <a:srgbClr val="0F766E"/>
                </a:solidFill>
              </a:rPr>
              <a:t>OWNER</a:t>
            </a:r>
            <a:endParaRPr lang="en-US" sz="1400" dirty="0"/>
          </a:p>
          <a:p>
            <a:pPr indent="0" marL="0">
              <a:buNone/>
            </a:pPr>
            <a:r>
              <a:rPr lang="en-US" sz="1400" dirty="0">
                <a:solidFill>
                  <a:srgbClr val="334155"/>
                </a:solidFill>
              </a:rPr>
              <a:t>Application owner and authorizing official</a:t>
            </a:r>
            <a:endParaRPr lang="en-US" sz="1400" dirty="0"/>
          </a:p>
        </p:txBody>
      </p:sp>
      <p:sp>
        <p:nvSpPr>
          <p:cNvPr id="16" name="When"/>
          <p:cNvSpPr txBox="1"/>
          <p:nvPr/>
        </p:nvSpPr>
        <p:spPr>
          <a:xfrm>
            <a:off x="9784080" y="4919472"/>
            <a:ext cx="1783080" cy="950976"/>
          </a:xfrm>
          <a:prstGeom prst="rect">
            <a:avLst/>
          </a:prstGeom>
          <a:noFill/>
          <a:ln/>
        </p:spPr>
        <p:txBody>
          <a:bodyPr wrap="square" lIns="0" tIns="0" rIns="0" bIns="0" rtlCol="0" anchor="ctr"/>
          <a:lstStyle/>
          <a:p>
            <a:pPr indent="0" marL="0">
              <a:buNone/>
            </a:pPr>
            <a:r>
              <a:rPr lang="en-US" sz="1100" b="1" spc="100" kern="0" dirty="0">
                <a:solidFill>
                  <a:srgbClr val="1F2A44"/>
                </a:solidFill>
              </a:rPr>
              <a:t>WHEN</a:t>
            </a:r>
            <a:endParaRPr lang="en-US" sz="1400" dirty="0"/>
          </a:p>
          <a:p>
            <a:pPr indent="0" marL="0">
              <a:buNone/>
            </a:pPr>
            <a:r>
              <a:rPr lang="en-US" sz="1400" dirty="0">
                <a:solidFill>
                  <a:srgbClr val="334155"/>
                </a:solidFill>
              </a:rPr>
              <a:t>Before cut-over</a:t>
            </a:r>
            <a:endParaRPr lang="en-US" sz="1400" dirty="0"/>
          </a:p>
        </p:txBody>
      </p:sp>
      <p:sp>
        <p:nvSpPr>
          <p:cNvPr id="17" name="Sources"/>
          <p:cNvSpPr txBox="1"/>
          <p:nvPr/>
        </p:nvSpPr>
        <p:spPr>
          <a:xfrm>
            <a:off x="548640" y="6053328"/>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Oracle SQL Language Reference 23ai; PostgreSQL 18 docs; AWS DMS data validation; Microsoft Learn, sequence numbers. Book 18, Chapters 04 and 07.</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Coexist without dual writes; settle the engine early</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pic>
        <p:nvPicPr>
          <p:cNvPr id="5" name="Image 0" descr="Three amber cards side by side. Big-bang: freeze writes, run a final load, validate and switch everyone; fits small or batch systems; rollback means reverting to the frozen source. Phased: one module or table set at a time, with change data capture keeping the rest in step; fits separable domains. Parallel run: both systems live with outputs reconciled until they agree for an agreed period; fits high-consequence calculations. Arrows from all three lead to a wide violet card, One gate for every strategy: three validation results for the final state and a rehearsed rollback plan. Below it, a wide red card: never dual-write from the application; one writer per table; replicate, don't write twice.">    </p:cNvPr>
          <p:cNvPicPr>
            <a:picLocks noChangeAspect="1"/>
          </p:cNvPicPr>
          <p:nvPr/>
        </p:nvPicPr>
        <p:blipFill>
          <a:blip r:embed="rId1"/>
          <a:stretch>
            <a:fillRect/>
          </a:stretch>
        </p:blipFill>
        <p:spPr>
          <a:xfrm>
            <a:off x="548640" y="1912353"/>
            <a:ext cx="6035040" cy="2210333"/>
          </a:xfrm>
          <a:prstGeom prst="rect">
            <a:avLst/>
          </a:prstGeom>
        </p:spPr>
      </p:pic>
      <p:sp>
        <p:nvSpPr>
          <p:cNvPr id="6" name="Engine box" descr="">
            <a:extLst>
              <a:ext uri="{C183D7F6-B498-43B3-948B-1728B52AA6E4}">
                <adec:decorative xmlns:adec="http://schemas.microsoft.com/office/drawing/2017/decorative" val="1"/>
              </a:ext>
            </a:extLst>
          </p:cNvPr>
          <p:cNvSpPr/>
          <p:nvPr/>
        </p:nvSpPr>
        <p:spPr>
          <a:xfrm>
            <a:off x="6766560" y="1371600"/>
            <a:ext cx="4892040" cy="3054096"/>
          </a:xfrm>
          <a:prstGeom prst="roundRect">
            <a:avLst>
              <a:gd name="adj" fmla="val 2395"/>
            </a:avLst>
          </a:prstGeom>
          <a:solidFill>
            <a:srgbClr val="FBEEDC"/>
          </a:solidFill>
          <a:ln w="12700">
            <a:solidFill>
              <a:srgbClr val="FBEEDC"/>
            </a:solidFill>
            <a:prstDash val="solid"/>
          </a:ln>
          <a:effectLst>
            <a:outerShdw sx="100000" sy="100000" kx="0" ky="0" algn="bl" rotWithShape="0" blurRad="76200" dist="25400" dir="5400000">
              <a:srgbClr val="64748B">
                <a:alpha val="22000"/>
              </a:srgbClr>
            </a:outerShdw>
          </a:effectLst>
        </p:spPr>
      </p:sp>
      <p:sp>
        <p:nvSpPr>
          <p:cNvPr id="7" name="Icon FaDatabase" descr="">
            <a:extLst>
              <a:ext uri="{C183D7F6-B498-43B3-948B-1728B52AA6E4}">
                <adec:decorative xmlns:adec="http://schemas.microsoft.com/office/drawing/2017/decorative" val="1"/>
              </a:ext>
            </a:extLst>
          </p:cNvPr>
          <p:cNvSpPr/>
          <p:nvPr/>
        </p:nvSpPr>
        <p:spPr>
          <a:xfrm>
            <a:off x="6995160" y="1517904"/>
            <a:ext cx="548640" cy="548640"/>
          </a:xfrm>
          <a:prstGeom prst="ellipse">
            <a:avLst/>
          </a:prstGeom>
          <a:solidFill>
            <a:srgbClr val="B45309"/>
          </a:solidFill>
          <a:ln w="12700">
            <a:solidFill>
              <a:srgbClr val="B45309"/>
            </a:solidFill>
            <a:prstDash val="solid"/>
          </a:ln>
        </p:spPr>
      </p:sp>
      <p:pic>
        <p:nvPicPr>
          <p:cNvPr id="8"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7126834" y="1649578"/>
            <a:ext cx="285293" cy="285293"/>
          </a:xfrm>
          <a:prstGeom prst="rect">
            <a:avLst/>
          </a:prstGeom>
        </p:spPr>
      </p:pic>
      <p:sp>
        <p:nvSpPr>
          <p:cNvPr id="9" name="Engine head"/>
          <p:cNvSpPr txBox="1"/>
          <p:nvPr/>
        </p:nvSpPr>
        <p:spPr>
          <a:xfrm>
            <a:off x="7680960" y="1517904"/>
            <a:ext cx="3840480" cy="548640"/>
          </a:xfrm>
          <a:prstGeom prst="rect">
            <a:avLst/>
          </a:prstGeom>
          <a:noFill/>
          <a:ln/>
        </p:spPr>
        <p:txBody>
          <a:bodyPr wrap="square" lIns="0" tIns="0" rIns="0" bIns="0" rtlCol="0" anchor="ctr"/>
          <a:lstStyle/>
          <a:p>
            <a:pPr indent="0" marL="0">
              <a:buNone/>
            </a:pPr>
            <a:r>
              <a:rPr lang="en-US" sz="1650" b="1" dirty="0">
                <a:solidFill>
                  <a:srgbClr val="B45309"/>
                </a:solidFill>
                <a:latin typeface="Cambria" pitchFamily="34" charset="0"/>
                <a:ea typeface="Cambria" pitchFamily="34" charset="-122"/>
                <a:cs typeface="Cambria" pitchFamily="34" charset="-120"/>
              </a:rPr>
              <a:t>The engine picks the tools</a:t>
            </a:r>
            <a:endParaRPr lang="en-US" sz="1650" dirty="0"/>
          </a:p>
        </p:txBody>
      </p:sp>
      <p:sp>
        <p:nvSpPr>
          <p:cNvPr id="10" name="Engine list"/>
          <p:cNvSpPr txBox="1"/>
          <p:nvPr/>
        </p:nvSpPr>
        <p:spPr>
          <a:xfrm>
            <a:off x="6995160" y="2212848"/>
            <a:ext cx="4480560" cy="211836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Only AWS's tools convert DB2 to PostgreSQL</a:t>
            </a:r>
            <a:endParaRPr lang="en-US" sz="1400" dirty="0"/>
          </a:p>
          <a:p>
            <a:pPr marL="342900" indent="-342900">
              <a:spcAft>
                <a:spcPts val="600"/>
              </a:spcAft>
              <a:buSzPct val="100000"/>
              <a:buChar char="•"/>
            </a:pPr>
            <a:r>
              <a:rPr lang="en-US" sz="1350" dirty="0">
                <a:solidFill>
                  <a:schemeClr val="tx2"/>
                </a:solidFill>
              </a:rPr>
              <a:t>Microsoft's assistant targets only SQL Server</a:t>
            </a:r>
            <a:endParaRPr lang="en-US" sz="1400" dirty="0"/>
          </a:p>
          <a:p>
            <a:pPr marL="342900" indent="-342900">
              <a:spcAft>
                <a:spcPts val="600"/>
              </a:spcAft>
              <a:buSzPct val="100000"/>
              <a:buChar char="•"/>
            </a:pPr>
            <a:r>
              <a:rPr lang="en-US" sz="1350" dirty="0">
                <a:solidFill>
                  <a:schemeClr val="tx2"/>
                </a:solidFill>
              </a:rPr>
              <a:t>DMS can't capture changes from Db2 for z/OS</a:t>
            </a:r>
            <a:endParaRPr lang="en-US" sz="1400" dirty="0"/>
          </a:p>
          <a:p>
            <a:pPr marL="342900" indent="-342900">
              <a:spcAft>
                <a:spcPts val="600"/>
              </a:spcAft>
              <a:buSzPct val="100000"/>
              <a:buChar char="•"/>
            </a:pPr>
            <a:r>
              <a:rPr lang="en-US" sz="1350" dirty="0">
                <a:solidFill>
                  <a:schemeClr val="tx2"/>
                </a:solidFill>
              </a:rPr>
              <a:t>PostgreSQL 14 leaves support November 12, 2026</a:t>
            </a:r>
            <a:endParaRPr lang="en-US" sz="1400" dirty="0"/>
          </a:p>
          <a:p>
            <a:pPr marL="342900" indent="-342900">
              <a:spcAft>
                <a:spcPts val="600"/>
              </a:spcAft>
              <a:buSzPct val="100000"/>
              <a:buChar char="•"/>
            </a:pPr>
            <a:r>
              <a:rPr lang="en-US" sz="1350" dirty="0">
                <a:solidFill>
                  <a:schemeClr val="tx2"/>
                </a:solidFill>
              </a:rPr>
              <a:t>AI conversion is a draft; its endpoint is in scope</a:t>
            </a:r>
            <a:endParaRPr lang="en-US" sz="1400" dirty="0"/>
          </a:p>
        </p:txBody>
      </p:sp>
      <p:sp>
        <p:nvSpPr>
          <p:cNvPr id="11" name="Decision bar" desc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2" name="Icon FaScaleBalanced" descr="">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13" name="Image 2" descr="">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903427" y="5228539"/>
            <a:ext cx="332842" cy="332842"/>
          </a:xfrm>
          <a:prstGeom prst="rect">
            <a:avLst/>
          </a:prstGeom>
        </p:spPr>
      </p:pic>
      <p:sp>
        <p:nvSpPr>
          <p:cNvPr id="14" name="Decision"/>
          <p:cNvSpPr txBox="1"/>
          <p:nvPr/>
        </p:nvSpPr>
        <p:spPr>
          <a:xfrm>
            <a:off x="1600200" y="4919472"/>
            <a:ext cx="5989320" cy="950976"/>
          </a:xfrm>
          <a:prstGeom prst="rect">
            <a:avLst/>
          </a:prstGeom>
          <a:noFill/>
          <a:ln/>
        </p:spPr>
        <p:txBody>
          <a:bodyPr wrap="square" lIns="0" tIns="0" rIns="0" bIns="0" rtlCol="0" anchor="ctr"/>
          <a:lstStyle/>
          <a:p>
            <a:pPr indent="0" marL="0">
              <a:buNone/>
            </a:pPr>
            <a:r>
              <a:rPr lang="en-US" sz="1100" b="1" spc="100" kern="0" dirty="0">
                <a:solidFill>
                  <a:srgbClr val="B45309"/>
                </a:solidFill>
              </a:rPr>
              <a:t>DECISION</a:t>
            </a:r>
            <a:endParaRPr lang="en-US" sz="1400" dirty="0"/>
          </a:p>
          <a:p>
            <a:pPr indent="0" marL="0">
              <a:buNone/>
            </a:pPr>
            <a:r>
              <a:rPr lang="en-US" sz="1400" dirty="0">
                <a:solidFill>
                  <a:srgbClr val="334155"/>
                </a:solidFill>
              </a:rPr>
              <a:t>Forbid application dual writes: one writer per table, replicated, never written twice; and settle each target engine before the wave plan commits dates</a:t>
            </a:r>
            <a:endParaRPr lang="en-US" sz="1400" dirty="0"/>
          </a:p>
        </p:txBody>
      </p:sp>
      <p:sp>
        <p:nvSpPr>
          <p:cNvPr id="15" name="Owner"/>
          <p:cNvSpPr txBox="1"/>
          <p:nvPr/>
        </p:nvSpPr>
        <p:spPr>
          <a:xfrm>
            <a:off x="7772400" y="4919472"/>
            <a:ext cx="1920240" cy="950976"/>
          </a:xfrm>
          <a:prstGeom prst="rect">
            <a:avLst/>
          </a:prstGeom>
          <a:noFill/>
          <a:ln/>
        </p:spPr>
        <p:txBody>
          <a:bodyPr wrap="square" lIns="0" tIns="0" rIns="0" bIns="0" rtlCol="0" anchor="ctr"/>
          <a:lstStyle/>
          <a:p>
            <a:pPr indent="0" marL="0">
              <a:buNone/>
            </a:pPr>
            <a:r>
              <a:rPr lang="en-US" sz="1100" b="1" spc="100" kern="0" dirty="0">
                <a:solidFill>
                  <a:srgbClr val="0F766E"/>
                </a:solidFill>
              </a:rPr>
              <a:t>OWNER</a:t>
            </a:r>
            <a:endParaRPr lang="en-US" sz="1400" dirty="0"/>
          </a:p>
          <a:p>
            <a:pPr indent="0" marL="0">
              <a:buNone/>
            </a:pPr>
            <a:r>
              <a:rPr lang="en-US" sz="1400" dirty="0">
                <a:solidFill>
                  <a:srgbClr val="334155"/>
                </a:solidFill>
              </a:rPr>
              <a:t>Chief architect, as a standard</a:t>
            </a:r>
            <a:endParaRPr lang="en-US" sz="1400" dirty="0"/>
          </a:p>
        </p:txBody>
      </p:sp>
      <p:sp>
        <p:nvSpPr>
          <p:cNvPr id="16" name="When"/>
          <p:cNvSpPr txBox="1"/>
          <p:nvPr/>
        </p:nvSpPr>
        <p:spPr>
          <a:xfrm>
            <a:off x="9784080" y="4919472"/>
            <a:ext cx="1783080" cy="950976"/>
          </a:xfrm>
          <a:prstGeom prst="rect">
            <a:avLst/>
          </a:prstGeom>
          <a:noFill/>
          <a:ln/>
        </p:spPr>
        <p:txBody>
          <a:bodyPr wrap="square" lIns="0" tIns="0" rIns="0" bIns="0" rtlCol="0" anchor="ctr"/>
          <a:lstStyle/>
          <a:p>
            <a:pPr indent="0" marL="0">
              <a:buNone/>
            </a:pPr>
            <a:r>
              <a:rPr lang="en-US" sz="1100" b="1" spc="100" kern="0" dirty="0">
                <a:solidFill>
                  <a:srgbClr val="1F2A44"/>
                </a:solidFill>
              </a:rPr>
              <a:t>WHEN</a:t>
            </a:r>
            <a:endParaRPr lang="en-US" sz="1400" dirty="0"/>
          </a:p>
          <a:p>
            <a:pPr indent="0" marL="0">
              <a:buNone/>
            </a:pPr>
            <a:r>
              <a:rPr lang="en-US" sz="1400" dirty="0">
                <a:solidFill>
                  <a:srgbClr val="334155"/>
                </a:solidFill>
              </a:rPr>
              <a:t>Before the wave plan commits dates</a:t>
            </a:r>
            <a:endParaRPr lang="en-US" sz="1400" dirty="0"/>
          </a:p>
        </p:txBody>
      </p:sp>
      <p:sp>
        <p:nvSpPr>
          <p:cNvPr id="17" name="Sources"/>
          <p:cNvSpPr txBox="1"/>
          <p:nvPr/>
        </p:nvSpPr>
        <p:spPr>
          <a:xfrm>
            <a:off x="548640" y="6053328"/>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AWS SCT, DMS Schema Conversion, DMS CDC and Db2 for z/OS limits; Microsoft SSMA; PostgreSQL versioning (Oct 2026). Book 18, Chapters 04 and 07.</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AI with an owner: agents read and propose</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pic>
        <p:nvPicPr>
          <p:cNvPr id="5" name="Image 0" descr="A top-to-bottom flow. A blue card, Agent identity: agent ID, human sponsor and allowed tools, leads to a slate card, Agent loop: the model proposes the next tool call. Next a violet card, Step limit check, with a dashed red arrow labeled limit reached to a red card, Stop and audit. Under the limit, the flow reaches a violet card, Allow-list check: is this tool on this agent's list? A dashed red arrow labeled not allowed leads to a red card, Denied and audited. A green arrow labeled read leads to a green card, Read tool runs with least privilege. An amber arrow labeled changes a record leads to an amber card, propose_action: records a PENDING proposal and changes nothing; from it a violet card, Human approval, then a green card, Service applies the change under its own authorization and rules. Dashed violet arrows from the read tool and from the applied change lead to a violet card at the bottom, Audit log: every call, denial, proposal and decision.">    </p:cNvPr>
          <p:cNvPicPr>
            <a:picLocks noChangeAspect="1"/>
          </p:cNvPicPr>
          <p:nvPr/>
        </p:nvPicPr>
        <p:blipFill>
          <a:blip r:embed="rId1"/>
          <a:stretch>
            <a:fillRect/>
          </a:stretch>
        </p:blipFill>
        <p:spPr>
          <a:xfrm>
            <a:off x="617325" y="1371600"/>
            <a:ext cx="3977430" cy="3291840"/>
          </a:xfrm>
          <a:prstGeom prst="rect">
            <a:avLst/>
          </a:prstGeom>
        </p:spPr>
      </p:pic>
      <p:sp>
        <p:nvSpPr>
          <p:cNvPr id="6" name="Guard box" descr="">
            <a:extLst>
              <a:ext uri="{C183D7F6-B498-43B3-948B-1728B52AA6E4}">
                <adec:decorative xmlns:adec="http://schemas.microsoft.com/office/drawing/2017/decorative" val="1"/>
              </a:ext>
            </a:extLst>
          </p:cNvPr>
          <p:cNvSpPr/>
          <p:nvPr/>
        </p:nvSpPr>
        <p:spPr>
          <a:xfrm>
            <a:off x="4937760" y="1371600"/>
            <a:ext cx="6720840" cy="2715768"/>
          </a:xfrm>
          <a:prstGeom prst="roundRect">
            <a:avLst>
              <a:gd name="adj" fmla="val 2694"/>
            </a:avLst>
          </a:prstGeom>
          <a:solidFill>
            <a:srgbClr val="FBE4E4"/>
          </a:solidFill>
          <a:ln w="12700">
            <a:solidFill>
              <a:srgbClr val="FBE4E4"/>
            </a:solidFill>
            <a:prstDash val="solid"/>
          </a:ln>
          <a:effectLst>
            <a:outerShdw sx="100000" sy="100000" kx="0" ky="0" algn="bl" rotWithShape="0" blurRad="76200" dist="25400" dir="5400000">
              <a:srgbClr val="64748B">
                <a:alpha val="22000"/>
              </a:srgbClr>
            </a:outerShdw>
          </a:effectLst>
        </p:spPr>
      </p:sp>
      <p:sp>
        <p:nvSpPr>
          <p:cNvPr id="7" name="Icon FaUserShield" descr="">
            <a:extLst>
              <a:ext uri="{C183D7F6-B498-43B3-948B-1728B52AA6E4}">
                <adec:decorative xmlns:adec="http://schemas.microsoft.com/office/drawing/2017/decorative" val="1"/>
              </a:ext>
            </a:extLst>
          </p:cNvPr>
          <p:cNvSpPr/>
          <p:nvPr/>
        </p:nvSpPr>
        <p:spPr>
          <a:xfrm>
            <a:off x="5166360" y="1517904"/>
            <a:ext cx="548640" cy="548640"/>
          </a:xfrm>
          <a:prstGeom prst="ellipse">
            <a:avLst/>
          </a:prstGeom>
          <a:solidFill>
            <a:srgbClr val="B91C1C"/>
          </a:solidFill>
          <a:ln w="12700">
            <a:solidFill>
              <a:srgbClr val="B91C1C"/>
            </a:solidFill>
            <a:prstDash val="solid"/>
          </a:ln>
        </p:spPr>
      </p:sp>
      <p:pic>
        <p:nvPicPr>
          <p:cNvPr id="8"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5298034" y="1649578"/>
            <a:ext cx="285293" cy="285293"/>
          </a:xfrm>
          <a:prstGeom prst="rect">
            <a:avLst/>
          </a:prstGeom>
        </p:spPr>
      </p:pic>
      <p:sp>
        <p:nvSpPr>
          <p:cNvPr id="9" name="Guard head"/>
          <p:cNvSpPr txBox="1"/>
          <p:nvPr/>
        </p:nvSpPr>
        <p:spPr>
          <a:xfrm>
            <a:off x="5852160" y="1517904"/>
            <a:ext cx="5669280" cy="548640"/>
          </a:xfrm>
          <a:prstGeom prst="rect">
            <a:avLst/>
          </a:prstGeom>
          <a:noFill/>
          <a:ln/>
        </p:spPr>
        <p:txBody>
          <a:bodyPr wrap="square" lIns="0" tIns="0" rIns="0" bIns="0" rtlCol="0" anchor="ctr"/>
          <a:lstStyle/>
          <a:p>
            <a:pPr indent="0" marL="0">
              <a:buNone/>
            </a:pPr>
            <a:r>
              <a:rPr lang="en-US" sz="1650" b="1" dirty="0">
                <a:solidFill>
                  <a:srgbClr val="B91C1C"/>
                </a:solidFill>
                <a:latin typeface="Cambria" pitchFamily="34" charset="0"/>
                <a:ea typeface="Cambria" pitchFamily="34" charset="-122"/>
                <a:cs typeface="Cambria" pitchFamily="34" charset="-120"/>
              </a:rPr>
              <a:t>One interface, and guardrails for every agent</a:t>
            </a:r>
            <a:endParaRPr lang="en-US" sz="1650" dirty="0"/>
          </a:p>
        </p:txBody>
      </p:sp>
      <p:sp>
        <p:nvSpPr>
          <p:cNvPr id="10" name="Guard list"/>
          <p:cNvSpPr txBox="1"/>
          <p:nvPr/>
        </p:nvSpPr>
        <p:spPr>
          <a:xfrm>
            <a:off x="5166360" y="2212848"/>
            <a:ext cx="6309360" cy="178308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Assistive and retrieval features change nothing alone</a:t>
            </a:r>
            <a:endParaRPr lang="en-US" sz="1400" dirty="0"/>
          </a:p>
          <a:p>
            <a:pPr marL="342900" indent="-342900">
              <a:spcAft>
                <a:spcPts val="600"/>
              </a:spcAft>
              <a:buSzPct val="100000"/>
              <a:buChar char="•"/>
            </a:pPr>
            <a:r>
              <a:rPr lang="en-US" sz="1350" dirty="0">
                <a:solidFill>
                  <a:schemeClr val="tx2"/>
                </a:solidFill>
              </a:rPr>
              <a:t>One provider-neutral model interface; calls recorded</a:t>
            </a:r>
            <a:endParaRPr lang="en-US" sz="1400" dirty="0"/>
          </a:p>
          <a:p>
            <a:pPr marL="342900" indent="-342900">
              <a:spcAft>
                <a:spcPts val="600"/>
              </a:spcAft>
              <a:buSzPct val="100000"/>
              <a:buChar char="•"/>
            </a:pPr>
            <a:r>
              <a:rPr lang="en-US" sz="1350" dirty="0">
                <a:solidFill>
                  <a:schemeClr val="tx2"/>
                </a:solidFill>
              </a:rPr>
              <a:t>Each agent: an identity, a sponsor, a tool allow-list</a:t>
            </a:r>
            <a:endParaRPr lang="en-US" sz="1400" dirty="0"/>
          </a:p>
          <a:p>
            <a:pPr marL="342900" indent="-342900">
              <a:spcAft>
                <a:spcPts val="600"/>
              </a:spcAft>
              <a:buSzPct val="100000"/>
              <a:buChar char="•"/>
            </a:pPr>
            <a:r>
              <a:rPr lang="en-US" sz="1350" dirty="0">
                <a:solidFill>
                  <a:schemeClr val="tx2"/>
                </a:solidFill>
              </a:rPr>
              <a:t>Least privilege enforced by the systems it calls</a:t>
            </a:r>
            <a:endParaRPr lang="en-US" sz="1400" dirty="0"/>
          </a:p>
          <a:p>
            <a:pPr marL="342900" indent="-342900">
              <a:spcAft>
                <a:spcPts val="600"/>
              </a:spcAft>
              <a:buSzPct val="100000"/>
              <a:buChar char="•"/>
            </a:pPr>
            <a:r>
              <a:rPr lang="en-US" sz="1350" dirty="0">
                <a:solidFill>
                  <a:schemeClr val="tx2"/>
                </a:solidFill>
              </a:rPr>
              <a:t>A step limit, and an audit of every call</a:t>
            </a:r>
            <a:endParaRPr lang="en-US" sz="1400" dirty="0"/>
          </a:p>
          <a:p>
            <a:pPr marL="342900" indent="-342900">
              <a:spcAft>
                <a:spcPts val="600"/>
              </a:spcAft>
              <a:buSzPct val="100000"/>
              <a:buChar char="•"/>
            </a:pPr>
            <a:r>
              <a:rPr lang="en-US" sz="1350" dirty="0">
                <a:solidFill>
                  <a:schemeClr val="tx2"/>
                </a:solidFill>
              </a:rPr>
              <a:t>A change to a record is a proposal a person approves</a:t>
            </a:r>
            <a:endParaRPr lang="en-US" sz="1400" dirty="0"/>
          </a:p>
        </p:txBody>
      </p:sp>
      <p:sp>
        <p:nvSpPr>
          <p:cNvPr id="11" name="Decision bar" desc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2" name="Icon FaScaleBalanced" descr="">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13" name="Image 2" descr="">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903427" y="5228539"/>
            <a:ext cx="332842" cy="332842"/>
          </a:xfrm>
          <a:prstGeom prst="rect">
            <a:avLst/>
          </a:prstGeom>
        </p:spPr>
      </p:pic>
      <p:sp>
        <p:nvSpPr>
          <p:cNvPr id="14" name="Decision"/>
          <p:cNvSpPr txBox="1"/>
          <p:nvPr/>
        </p:nvSpPr>
        <p:spPr>
          <a:xfrm>
            <a:off x="1600200" y="4919472"/>
            <a:ext cx="5989320" cy="950976"/>
          </a:xfrm>
          <a:prstGeom prst="rect">
            <a:avLst/>
          </a:prstGeom>
          <a:noFill/>
          <a:ln/>
        </p:spPr>
        <p:txBody>
          <a:bodyPr wrap="square" lIns="0" tIns="0" rIns="0" bIns="0" rtlCol="0" anchor="ctr"/>
          <a:lstStyle/>
          <a:p>
            <a:pPr indent="0" marL="0">
              <a:buNone/>
            </a:pPr>
            <a:r>
              <a:rPr lang="en-US" sz="1100" b="1" spc="100" kern="0" dirty="0">
                <a:solidFill>
                  <a:srgbClr val="B45309"/>
                </a:solidFill>
              </a:rPr>
              <a:t>DECISION</a:t>
            </a:r>
            <a:endParaRPr lang="en-US" sz="1400" dirty="0"/>
          </a:p>
          <a:p>
            <a:pPr indent="0" marL="0">
              <a:buNone/>
            </a:pPr>
            <a:r>
              <a:rPr lang="en-US" sz="1400" dirty="0">
                <a:solidFill>
                  <a:srgbClr val="334155"/>
                </a:solidFill>
              </a:rPr>
              <a:t>No agent writes to a system of record, and none runs without a federal employee as its sponsor; fund one provider-neutral model interface</a:t>
            </a:r>
            <a:endParaRPr lang="en-US" sz="1400" dirty="0"/>
          </a:p>
        </p:txBody>
      </p:sp>
      <p:sp>
        <p:nvSpPr>
          <p:cNvPr id="15" name="Owner"/>
          <p:cNvSpPr txBox="1"/>
          <p:nvPr/>
        </p:nvSpPr>
        <p:spPr>
          <a:xfrm>
            <a:off x="7772400" y="4919472"/>
            <a:ext cx="1920240" cy="950976"/>
          </a:xfrm>
          <a:prstGeom prst="rect">
            <a:avLst/>
          </a:prstGeom>
          <a:noFill/>
          <a:ln/>
        </p:spPr>
        <p:txBody>
          <a:bodyPr wrap="square" lIns="0" tIns="0" rIns="0" bIns="0" rtlCol="0" anchor="ctr"/>
          <a:lstStyle/>
          <a:p>
            <a:pPr indent="0" marL="0">
              <a:buNone/>
            </a:pPr>
            <a:r>
              <a:rPr lang="en-US" sz="1100" b="1" spc="100" kern="0" dirty="0">
                <a:solidFill>
                  <a:srgbClr val="0F766E"/>
                </a:solidFill>
              </a:rPr>
              <a:t>OWNER</a:t>
            </a:r>
            <a:endParaRPr lang="en-US" sz="1400" dirty="0"/>
          </a:p>
          <a:p>
            <a:pPr indent="0" marL="0">
              <a:buNone/>
            </a:pPr>
            <a:r>
              <a:rPr lang="en-US" sz="1400" dirty="0">
                <a:solidFill>
                  <a:srgbClr val="334155"/>
                </a:solidFill>
              </a:rPr>
              <a:t>Chief architect, as design standards</a:t>
            </a:r>
            <a:endParaRPr lang="en-US" sz="1400" dirty="0"/>
          </a:p>
        </p:txBody>
      </p:sp>
      <p:sp>
        <p:nvSpPr>
          <p:cNvPr id="16" name="When"/>
          <p:cNvSpPr txBox="1"/>
          <p:nvPr/>
        </p:nvSpPr>
        <p:spPr>
          <a:xfrm>
            <a:off x="9784080" y="4919472"/>
            <a:ext cx="1783080" cy="950976"/>
          </a:xfrm>
          <a:prstGeom prst="rect">
            <a:avLst/>
          </a:prstGeom>
          <a:noFill/>
          <a:ln/>
        </p:spPr>
        <p:txBody>
          <a:bodyPr wrap="square" lIns="0" tIns="0" rIns="0" bIns="0" rtlCol="0" anchor="ctr"/>
          <a:lstStyle/>
          <a:p>
            <a:pPr indent="0" marL="0">
              <a:buNone/>
            </a:pPr>
            <a:r>
              <a:rPr lang="en-US" sz="1100" b="1" spc="100" kern="0" dirty="0">
                <a:solidFill>
                  <a:srgbClr val="1F2A44"/>
                </a:solidFill>
              </a:rPr>
              <a:t>WHEN</a:t>
            </a:r>
            <a:endParaRPr lang="en-US" sz="1400" dirty="0"/>
          </a:p>
          <a:p>
            <a:pPr indent="0" marL="0">
              <a:buNone/>
            </a:pPr>
            <a:r>
              <a:rPr lang="en-US" sz="1400" dirty="0">
                <a:solidFill>
                  <a:srgbClr val="334155"/>
                </a:solidFill>
              </a:rPr>
              <a:t>Before the first agent runs</a:t>
            </a:r>
            <a:endParaRPr lang="en-US" sz="1400" dirty="0"/>
          </a:p>
        </p:txBody>
      </p:sp>
      <p:sp>
        <p:nvSpPr>
          <p:cNvPr id="17" name="Sources"/>
          <p:cNvSpPr txBox="1"/>
          <p:nvPr/>
        </p:nvSpPr>
        <p:spPr>
          <a:xfrm>
            <a:off x="548640" y="6053328"/>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OMB M-25-21 fn. 22; M-25-22 §4(e)(i); OWASP LLM01, LLM06, LLM10 (2025); MCP specification 2026-07-28; Spring AI 2.0.2. Book 18, Chapters 05 and 07.</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Compliance carried by the platform, not each app</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pic>
        <p:nvPicPr>
          <p:cNvPr id="5" name="Image 0" descr="A red card at the top, Unsupported components: SA-22 and the A-130 plan to upgrade, replace or retire, with a red arrow labeled modernization plan into the first of four blue stage cards stacked top to bottom. Design: SA-8 engineering principles; PT-2 and PT-3 authority and purpose and the privacy impact assessment; architecture decision records. Build: SA-11 and SA-15 and the SSDF practices; code review and testing; an SBOM for SR-4 provenance. Deploy: CM-2 and CM-3 baseline and change control; CM-8 component inventory; SC-8 and SC-28 encryption. Operate: AU-2 and AU-12 logging; SI-2 flaw remediation; AC-2 and AC-6 account review with agents included. A dashed violet arrow labeled evidence from every stage leads to a violet card at the bottom: the system's authorization record, assembled from evidence that already exists, where the authorizing official decides as Book 14 describes.">    </p:cNvPr>
          <p:cNvPicPr>
            <a:picLocks noChangeAspect="1"/>
          </p:cNvPicPr>
          <p:nvPr/>
        </p:nvPicPr>
        <p:blipFill>
          <a:blip r:embed="rId1"/>
          <a:stretch>
            <a:fillRect/>
          </a:stretch>
        </p:blipFill>
        <p:spPr>
          <a:xfrm>
            <a:off x="669979" y="1371600"/>
            <a:ext cx="2134763" cy="3291840"/>
          </a:xfrm>
          <a:prstGeom prst="rect">
            <a:avLst/>
          </a:prstGeom>
        </p:spPr>
      </p:pic>
      <p:sp>
        <p:nvSpPr>
          <p:cNvPr id="6" name="Legacy box" descr="">
            <a:extLst>
              <a:ext uri="{C183D7F6-B498-43B3-948B-1728B52AA6E4}">
                <adec:decorative xmlns:adec="http://schemas.microsoft.com/office/drawing/2017/decorative" val="1"/>
              </a:ext>
            </a:extLst>
          </p:cNvPr>
          <p:cNvSpPr/>
          <p:nvPr/>
        </p:nvSpPr>
        <p:spPr>
          <a:xfrm>
            <a:off x="3154680" y="1371600"/>
            <a:ext cx="4160520" cy="3108960"/>
          </a:xfrm>
          <a:prstGeom prst="roundRect">
            <a:avLst>
              <a:gd name="adj" fmla="val 2353"/>
            </a:avLst>
          </a:prstGeom>
          <a:solidFill>
            <a:srgbClr val="FBE4E4"/>
          </a:solidFill>
          <a:ln w="12700">
            <a:solidFill>
              <a:srgbClr val="FBE4E4"/>
            </a:solidFill>
            <a:prstDash val="solid"/>
          </a:ln>
          <a:effectLst>
            <a:outerShdw sx="100000" sy="100000" kx="0" ky="0" algn="bl" rotWithShape="0" blurRad="76200" dist="25400" dir="5400000">
              <a:srgbClr val="64748B">
                <a:alpha val="22000"/>
              </a:srgbClr>
            </a:outerShdw>
          </a:effectLst>
        </p:spPr>
      </p:sp>
      <p:sp>
        <p:nvSpPr>
          <p:cNvPr id="7" name="Icon FaTriangleExclamation" descr="">
            <a:extLst>
              <a:ext uri="{C183D7F6-B498-43B3-948B-1728B52AA6E4}">
                <adec:decorative xmlns:adec="http://schemas.microsoft.com/office/drawing/2017/decorative" val="1"/>
              </a:ext>
            </a:extLst>
          </p:cNvPr>
          <p:cNvSpPr/>
          <p:nvPr/>
        </p:nvSpPr>
        <p:spPr>
          <a:xfrm>
            <a:off x="3383280" y="1517904"/>
            <a:ext cx="548640" cy="548640"/>
          </a:xfrm>
          <a:prstGeom prst="ellipse">
            <a:avLst/>
          </a:prstGeom>
          <a:solidFill>
            <a:srgbClr val="B91C1C"/>
          </a:solidFill>
          <a:ln w="12700">
            <a:solidFill>
              <a:srgbClr val="B91C1C"/>
            </a:solidFill>
            <a:prstDash val="solid"/>
          </a:ln>
        </p:spPr>
      </p:sp>
      <p:pic>
        <p:nvPicPr>
          <p:cNvPr id="8"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3514954" y="1649578"/>
            <a:ext cx="285293" cy="285293"/>
          </a:xfrm>
          <a:prstGeom prst="rect">
            <a:avLst/>
          </a:prstGeom>
        </p:spPr>
      </p:pic>
      <p:sp>
        <p:nvSpPr>
          <p:cNvPr id="9" name="Legacy head"/>
          <p:cNvSpPr txBox="1"/>
          <p:nvPr/>
        </p:nvSpPr>
        <p:spPr>
          <a:xfrm>
            <a:off x="4069080" y="1517904"/>
            <a:ext cx="3108960" cy="548640"/>
          </a:xfrm>
          <a:prstGeom prst="rect">
            <a:avLst/>
          </a:prstGeom>
          <a:noFill/>
          <a:ln/>
        </p:spPr>
        <p:txBody>
          <a:bodyPr wrap="square" lIns="0" tIns="0" rIns="0" bIns="0" rtlCol="0" anchor="ctr"/>
          <a:lstStyle/>
          <a:p>
            <a:pPr indent="0" marL="0">
              <a:buNone/>
            </a:pPr>
            <a:r>
              <a:rPr lang="en-US" sz="1650" b="1" dirty="0">
                <a:solidFill>
                  <a:srgbClr val="B91C1C"/>
                </a:solidFill>
                <a:latin typeface="Cambria" pitchFamily="34" charset="0"/>
                <a:ea typeface="Cambria" pitchFamily="34" charset="-122"/>
                <a:cs typeface="Cambria" pitchFamily="34" charset="-120"/>
              </a:rPr>
              <a:t>Legacy is a compliance finding</a:t>
            </a:r>
            <a:endParaRPr lang="en-US" sz="1650" dirty="0"/>
          </a:p>
        </p:txBody>
      </p:sp>
      <p:sp>
        <p:nvSpPr>
          <p:cNvPr id="10" name="Legacy list"/>
          <p:cNvSpPr txBox="1"/>
          <p:nvPr/>
        </p:nvSpPr>
        <p:spPr>
          <a:xfrm>
            <a:off x="3383280" y="2212848"/>
            <a:ext cx="3749040" cy="204216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A-130: systems that can't be secured go first</a:t>
            </a:r>
            <a:endParaRPr lang="en-US" sz="1400" dirty="0"/>
          </a:p>
          <a:p>
            <a:pPr marL="342900" indent="-342900">
              <a:spcAft>
                <a:spcPts val="600"/>
              </a:spcAft>
              <a:buSzPct val="100000"/>
              <a:buChar char="•"/>
            </a:pPr>
            <a:r>
              <a:rPr lang="en-US" sz="1350" dirty="0">
                <a:solidFill>
                  <a:schemeClr val="tx2"/>
                </a:solidFill>
              </a:rPr>
              <a:t>SA-22: replace unsupported components</a:t>
            </a:r>
            <a:endParaRPr lang="en-US" sz="1400" dirty="0"/>
          </a:p>
          <a:p>
            <a:pPr marL="342900" indent="-342900">
              <a:spcAft>
                <a:spcPts val="600"/>
              </a:spcAft>
              <a:buSzPct val="100000"/>
              <a:buChar char="•"/>
            </a:pPr>
            <a:r>
              <a:rPr lang="en-US" sz="1350" dirty="0">
                <a:solidFill>
                  <a:schemeClr val="tx2"/>
                </a:solidFill>
              </a:rPr>
              <a:t>Retain without a plan is an open finding</a:t>
            </a:r>
            <a:endParaRPr lang="en-US" sz="1400" dirty="0"/>
          </a:p>
          <a:p>
            <a:pPr marL="342900" indent="-342900">
              <a:spcAft>
                <a:spcPts val="600"/>
              </a:spcAft>
              <a:buSzPct val="100000"/>
              <a:buChar char="•"/>
            </a:pPr>
            <a:r>
              <a:rPr lang="en-US" sz="1350" dirty="0">
                <a:solidFill>
                  <a:schemeClr val="tx2"/>
                </a:solidFill>
              </a:rPr>
              <a:t>Inheritance is only as good as the platform's ATO</a:t>
            </a:r>
            <a:endParaRPr lang="en-US" sz="1400" dirty="0"/>
          </a:p>
        </p:txBody>
      </p:sp>
      <p:sp>
        <p:nvSpPr>
          <p:cNvPr id="11" name="Evidence box" descr="">
            <a:extLst>
              <a:ext uri="{C183D7F6-B498-43B3-948B-1728B52AA6E4}">
                <adec:decorative xmlns:adec="http://schemas.microsoft.com/office/drawing/2017/decorative" val="1"/>
              </a:ext>
            </a:extLst>
          </p:cNvPr>
          <p:cNvSpPr/>
          <p:nvPr/>
        </p:nvSpPr>
        <p:spPr>
          <a:xfrm>
            <a:off x="7498080" y="1371600"/>
            <a:ext cx="4160520" cy="3108960"/>
          </a:xfrm>
          <a:prstGeom prst="roundRect">
            <a:avLst>
              <a:gd name="adj" fmla="val 2353"/>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12" name="Icon FaFileShield" descr="">
            <a:extLst>
              <a:ext uri="{C183D7F6-B498-43B3-948B-1728B52AA6E4}">
                <adec:decorative xmlns:adec="http://schemas.microsoft.com/office/drawing/2017/decorative" val="1"/>
              </a:ext>
            </a:extLst>
          </p:cNvPr>
          <p:cNvSpPr/>
          <p:nvPr/>
        </p:nvSpPr>
        <p:spPr>
          <a:xfrm>
            <a:off x="7726680" y="1517904"/>
            <a:ext cx="548640" cy="548640"/>
          </a:xfrm>
          <a:prstGeom prst="ellipse">
            <a:avLst/>
          </a:prstGeom>
          <a:solidFill>
            <a:srgbClr val="1F2A44"/>
          </a:solidFill>
          <a:ln w="12700">
            <a:solidFill>
              <a:srgbClr val="1F2A44"/>
            </a:solidFill>
            <a:prstDash val="solid"/>
          </a:ln>
        </p:spPr>
      </p:sp>
      <p:pic>
        <p:nvPicPr>
          <p:cNvPr id="13" name="Image 2" descr="">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7858354" y="1649578"/>
            <a:ext cx="285293" cy="285293"/>
          </a:xfrm>
          <a:prstGeom prst="rect">
            <a:avLst/>
          </a:prstGeom>
        </p:spPr>
      </p:pic>
      <p:sp>
        <p:nvSpPr>
          <p:cNvPr id="14" name="Evidence head"/>
          <p:cNvSpPr txBox="1"/>
          <p:nvPr/>
        </p:nvSpPr>
        <p:spPr>
          <a:xfrm>
            <a:off x="8412480" y="1517904"/>
            <a:ext cx="3108960" cy="548640"/>
          </a:xfrm>
          <a:prstGeom prst="rect">
            <a:avLst/>
          </a:prstGeom>
          <a:noFill/>
          <a:ln/>
        </p:spPr>
        <p:txBody>
          <a:bodyPr wrap="square" lIns="0" tIns="0" rIns="0" bIns="0" rtlCol="0" anchor="ctr"/>
          <a:lstStyle/>
          <a:p>
            <a:pPr indent="0" marL="0">
              <a:buNone/>
            </a:pPr>
            <a:r>
              <a:rPr lang="en-US" sz="1650" b="1" dirty="0">
                <a:solidFill>
                  <a:srgbClr val="1F2A44"/>
                </a:solidFill>
                <a:latin typeface="Cambria" pitchFamily="34" charset="0"/>
                <a:ea typeface="Cambria" pitchFamily="34" charset="-122"/>
                <a:cs typeface="Cambria" pitchFamily="34" charset="-120"/>
              </a:rPr>
              <a:t>Evidence the pipeline writes</a:t>
            </a:r>
            <a:endParaRPr lang="en-US" sz="1650" dirty="0"/>
          </a:p>
        </p:txBody>
      </p:sp>
      <p:sp>
        <p:nvSpPr>
          <p:cNvPr id="15" name="Evidence list"/>
          <p:cNvSpPr txBox="1"/>
          <p:nvPr/>
        </p:nvSpPr>
        <p:spPr>
          <a:xfrm>
            <a:off x="7726680" y="2212848"/>
            <a:ext cx="3749040" cy="183642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Test and scan results for every release</a:t>
            </a:r>
            <a:endParaRPr lang="en-US" sz="1400" dirty="0"/>
          </a:p>
          <a:p>
            <a:pPr marL="342900" indent="-342900">
              <a:spcAft>
                <a:spcPts val="600"/>
              </a:spcAft>
              <a:buSzPct val="100000"/>
              <a:buChar char="•"/>
            </a:pPr>
            <a:r>
              <a:rPr lang="en-US" sz="1350" dirty="0">
                <a:solidFill>
                  <a:schemeClr val="tx2"/>
                </a:solidFill>
              </a:rPr>
              <a:t>A software bill of materials for every build</a:t>
            </a:r>
            <a:endParaRPr lang="en-US" sz="1400" dirty="0"/>
          </a:p>
          <a:p>
            <a:pPr marL="342900" indent="-342900">
              <a:spcAft>
                <a:spcPts val="600"/>
              </a:spcAft>
              <a:buSzPct val="100000"/>
              <a:buChar char="•"/>
            </a:pPr>
            <a:r>
              <a:rPr lang="en-US" sz="1350" dirty="0">
                <a:solidFill>
                  <a:schemeClr val="tx2"/>
                </a:solidFill>
              </a:rPr>
              <a:t>Pull requests as change records</a:t>
            </a:r>
            <a:endParaRPr lang="en-US" sz="1400" dirty="0"/>
          </a:p>
          <a:p>
            <a:pPr marL="342900" indent="-342900">
              <a:spcAft>
                <a:spcPts val="600"/>
              </a:spcAft>
              <a:buSzPct val="100000"/>
              <a:buChar char="•"/>
            </a:pPr>
            <a:r>
              <a:rPr lang="en-US" sz="1350" dirty="0">
                <a:solidFill>
                  <a:schemeClr val="tx2"/>
                </a:solidFill>
              </a:rPr>
              <a:t>SSDF 1.1 is final; version 1.2 is a draft</a:t>
            </a:r>
            <a:endParaRPr lang="en-US" sz="1400" dirty="0"/>
          </a:p>
        </p:txBody>
      </p:sp>
      <p:sp>
        <p:nvSpPr>
          <p:cNvPr id="16" name="Decision bar" desc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7" name="Icon FaScaleBalanced" descr="">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18" name="Image 3"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903427" y="5228539"/>
            <a:ext cx="332842" cy="332842"/>
          </a:xfrm>
          <a:prstGeom prst="rect">
            <a:avLst/>
          </a:prstGeom>
        </p:spPr>
      </p:pic>
      <p:sp>
        <p:nvSpPr>
          <p:cNvPr id="19" name="Decision"/>
          <p:cNvSpPr txBox="1"/>
          <p:nvPr/>
        </p:nvSpPr>
        <p:spPr>
          <a:xfrm>
            <a:off x="1600200" y="4919472"/>
            <a:ext cx="5989320" cy="950976"/>
          </a:xfrm>
          <a:prstGeom prst="rect">
            <a:avLst/>
          </a:prstGeom>
          <a:noFill/>
          <a:ln/>
        </p:spPr>
        <p:txBody>
          <a:bodyPr wrap="square" lIns="0" tIns="0" rIns="0" bIns="0" rtlCol="0" anchor="ctr"/>
          <a:lstStyle/>
          <a:p>
            <a:pPr indent="0" marL="0">
              <a:buNone/>
            </a:pPr>
            <a:r>
              <a:rPr lang="en-US" sz="1100" b="1" spc="100" kern="0" dirty="0">
                <a:solidFill>
                  <a:srgbClr val="B45309"/>
                </a:solidFill>
              </a:rPr>
              <a:t>DECISION</a:t>
            </a:r>
            <a:endParaRPr lang="en-US" sz="1400" dirty="0"/>
          </a:p>
          <a:p>
            <a:pPr indent="0" marL="0">
              <a:buNone/>
            </a:pPr>
            <a:r>
              <a:rPr lang="en-US" sz="1400" dirty="0">
                <a:solidFill>
                  <a:srgbClr val="334155"/>
                </a:solidFill>
              </a:rPr>
              <a:t>Treat every retained application on unsupported software as a finding: record a plan, compensating controls, a risk acceptance and a review date</a:t>
            </a:r>
            <a:endParaRPr lang="en-US" sz="1400" dirty="0"/>
          </a:p>
        </p:txBody>
      </p:sp>
      <p:sp>
        <p:nvSpPr>
          <p:cNvPr id="20" name="Owner"/>
          <p:cNvSpPr txBox="1"/>
          <p:nvPr/>
        </p:nvSpPr>
        <p:spPr>
          <a:xfrm>
            <a:off x="7772400" y="4919472"/>
            <a:ext cx="1920240" cy="950976"/>
          </a:xfrm>
          <a:prstGeom prst="rect">
            <a:avLst/>
          </a:prstGeom>
          <a:noFill/>
          <a:ln/>
        </p:spPr>
        <p:txBody>
          <a:bodyPr wrap="square" lIns="0" tIns="0" rIns="0" bIns="0" rtlCol="0" anchor="ctr"/>
          <a:lstStyle/>
          <a:p>
            <a:pPr indent="0" marL="0">
              <a:buNone/>
            </a:pPr>
            <a:r>
              <a:rPr lang="en-US" sz="1100" b="1" spc="100" kern="0" dirty="0">
                <a:solidFill>
                  <a:srgbClr val="0F766E"/>
                </a:solidFill>
              </a:rPr>
              <a:t>OWNER</a:t>
            </a:r>
            <a:endParaRPr lang="en-US" sz="1400" dirty="0"/>
          </a:p>
          <a:p>
            <a:pPr indent="0" marL="0">
              <a:buNone/>
            </a:pPr>
            <a:r>
              <a:rPr lang="en-US" sz="1400" dirty="0">
                <a:solidFill>
                  <a:srgbClr val="334155"/>
                </a:solidFill>
              </a:rPr>
              <a:t>Application owner; the AO accepts the risk</a:t>
            </a:r>
            <a:endParaRPr lang="en-US" sz="1400" dirty="0"/>
          </a:p>
        </p:txBody>
      </p:sp>
      <p:sp>
        <p:nvSpPr>
          <p:cNvPr id="21" name="When"/>
          <p:cNvSpPr txBox="1"/>
          <p:nvPr/>
        </p:nvSpPr>
        <p:spPr>
          <a:xfrm>
            <a:off x="9784080" y="4919472"/>
            <a:ext cx="1783080" cy="950976"/>
          </a:xfrm>
          <a:prstGeom prst="rect">
            <a:avLst/>
          </a:prstGeom>
          <a:noFill/>
          <a:ln/>
        </p:spPr>
        <p:txBody>
          <a:bodyPr wrap="square" lIns="0" tIns="0" rIns="0" bIns="0" rtlCol="0" anchor="ctr"/>
          <a:lstStyle/>
          <a:p>
            <a:pPr indent="0" marL="0">
              <a:buNone/>
            </a:pPr>
            <a:r>
              <a:rPr lang="en-US" sz="1100" b="1" spc="100" kern="0" dirty="0">
                <a:solidFill>
                  <a:srgbClr val="1F2A44"/>
                </a:solidFill>
              </a:rPr>
              <a:t>WHEN</a:t>
            </a:r>
            <a:endParaRPr lang="en-US" sz="1400" dirty="0"/>
          </a:p>
          <a:p>
            <a:pPr indent="0" marL="0">
              <a:buNone/>
            </a:pPr>
            <a:r>
              <a:rPr lang="en-US" sz="1400" dirty="0">
                <a:solidFill>
                  <a:srgbClr val="334155"/>
                </a:solidFill>
              </a:rPr>
              <a:t>At triage, and at each review date</a:t>
            </a:r>
            <a:endParaRPr lang="en-US" sz="1400" dirty="0"/>
          </a:p>
        </p:txBody>
      </p:sp>
      <p:sp>
        <p:nvSpPr>
          <p:cNvPr id="22" name="Sources"/>
          <p:cNvSpPr txBox="1"/>
          <p:nvPr/>
        </p:nvSpPr>
        <p:spPr>
          <a:xfrm>
            <a:off x="548640" y="6053328"/>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OMB Circular A-130 §5.a and Appendix I; SP 800-53 Rev. 5 (release 5.2.0); OMB M-26-05; SP 800-218 and its Rev. 1 draft. Book 18, Chapters 06 and 07.</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Privacy and records come in at design review</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sp>
        <p:nvSpPr>
          <p:cNvPr id="5" name="Events head"/>
          <p:cNvSpPr txBox="1"/>
          <p:nvPr/>
        </p:nvSpPr>
        <p:spPr>
          <a:xfrm>
            <a:off x="548640" y="1371600"/>
            <a:ext cx="5669280" cy="274320"/>
          </a:xfrm>
          <a:prstGeom prst="rect">
            <a:avLst/>
          </a:prstGeom>
          <a:noFill/>
          <a:ln/>
        </p:spPr>
        <p:txBody>
          <a:bodyPr wrap="square" lIns="0" tIns="0" rIns="0" bIns="0" rtlCol="0" anchor="t"/>
          <a:lstStyle/>
          <a:p>
            <a:pPr indent="0" marL="0">
              <a:buNone/>
            </a:pPr>
            <a:r>
              <a:rPr lang="en-US" sz="1200" b="1" dirty="0">
                <a:solidFill>
                  <a:srgbClr val="64748B"/>
                </a:solidFill>
              </a:rPr>
              <a:t>EVENTS THAT REOPEN PRIVACY AND RECORDS WORK</a:t>
            </a:r>
            <a:endParaRPr lang="en-US" sz="1200" dirty="0"/>
          </a:p>
        </p:txBody>
      </p:sp>
      <p:sp>
        <p:nvSpPr>
          <p:cNvPr id="6" name="Events 0" descr="">
            <a:extLst>
              <a:ext uri="{C183D7F6-B498-43B3-948B-1728B52AA6E4}">
                <adec:decorative xmlns:adec="http://schemas.microsoft.com/office/drawing/2017/decorative" val="1"/>
              </a:ext>
            </a:extLst>
          </p:cNvPr>
          <p:cNvSpPr/>
          <p:nvPr/>
        </p:nvSpPr>
        <p:spPr>
          <a:xfrm>
            <a:off x="548640" y="1719072"/>
            <a:ext cx="5669280" cy="493776"/>
          </a:xfrm>
          <a:prstGeom prst="roundRect">
            <a:avLst>
              <a:gd name="adj" fmla="val 14815"/>
            </a:avLst>
          </a:prstGeom>
          <a:solidFill>
            <a:srgbClr val="E9EEF4"/>
          </a:solidFill>
          <a:ln w="12700">
            <a:solidFill>
              <a:srgbClr val="E9EEF4"/>
            </a:solidFill>
            <a:prstDash val="solid"/>
          </a:ln>
          <a:effectLst>
            <a:outerShdw sx="100000" sy="100000" kx="0" ky="0" algn="bl" rotWithShape="0" blurRad="76200" dist="25400" dir="5400000">
              <a:srgbClr val="64748B">
                <a:alpha val="22000"/>
              </a:srgbClr>
            </a:outerShdw>
          </a:effectLst>
        </p:spPr>
      </p:sp>
      <p:sp>
        <p:nvSpPr>
          <p:cNvPr id="7" name="Events 0 text"/>
          <p:cNvSpPr txBox="1"/>
          <p:nvPr/>
        </p:nvSpPr>
        <p:spPr>
          <a:xfrm>
            <a:off x="731520" y="1719072"/>
            <a:ext cx="5394960" cy="493776"/>
          </a:xfrm>
          <a:prstGeom prst="rect">
            <a:avLst/>
          </a:prstGeom>
          <a:noFill/>
          <a:ln/>
        </p:spPr>
        <p:txBody>
          <a:bodyPr wrap="square" lIns="0" tIns="0" rIns="0" bIns="0" rtlCol="0" anchor="ctr"/>
          <a:lstStyle/>
          <a:p>
            <a:pPr indent="0" marL="0">
              <a:buNone/>
            </a:pPr>
            <a:r>
              <a:rPr lang="en-US" sz="1350" b="1" dirty="0">
                <a:solidFill>
                  <a:srgbClr val="1F2A44"/>
                </a:solidFill>
              </a:rPr>
              <a:t>New store   </a:t>
            </a:r>
            <a:pPr indent="0" marL="0">
              <a:buNone/>
            </a:pPr>
            <a:r>
              <a:rPr lang="en-US" sz="1350" dirty="0">
                <a:solidFill>
                  <a:schemeClr val="tx2"/>
                </a:solidFill>
              </a:rPr>
              <a:t>A new engine changes where PII lives</a:t>
            </a:r>
            <a:endParaRPr lang="en-US" sz="1350" dirty="0"/>
          </a:p>
        </p:txBody>
      </p:sp>
      <p:sp>
        <p:nvSpPr>
          <p:cNvPr id="8" name="Events 1" descr="">
            <a:extLst>
              <a:ext uri="{C183D7F6-B498-43B3-948B-1728B52AA6E4}">
                <adec:decorative xmlns:adec="http://schemas.microsoft.com/office/drawing/2017/decorative" val="1"/>
              </a:ext>
            </a:extLst>
          </p:cNvPr>
          <p:cNvSpPr/>
          <p:nvPr/>
        </p:nvSpPr>
        <p:spPr>
          <a:xfrm>
            <a:off x="548640" y="2304288"/>
            <a:ext cx="5669280" cy="493776"/>
          </a:xfrm>
          <a:prstGeom prst="roundRect">
            <a:avLst>
              <a:gd name="adj" fmla="val 14815"/>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9" name="Events 1 text"/>
          <p:cNvSpPr txBox="1"/>
          <p:nvPr/>
        </p:nvSpPr>
        <p:spPr>
          <a:xfrm>
            <a:off x="731520" y="2304288"/>
            <a:ext cx="5394960" cy="493776"/>
          </a:xfrm>
          <a:prstGeom prst="rect">
            <a:avLst/>
          </a:prstGeom>
          <a:noFill/>
          <a:ln/>
        </p:spPr>
        <p:txBody>
          <a:bodyPr wrap="square" lIns="0" tIns="0" rIns="0" bIns="0" rtlCol="0" anchor="ctr"/>
          <a:lstStyle/>
          <a:p>
            <a:pPr indent="0" marL="0">
              <a:buNone/>
            </a:pPr>
            <a:r>
              <a:rPr lang="en-US" sz="1350" b="1" dirty="0">
                <a:solidFill>
                  <a:srgbClr val="1F2A44"/>
                </a:solidFill>
              </a:rPr>
              <a:t>New flow   </a:t>
            </a:r>
            <a:pPr indent="0" marL="0">
              <a:buNone/>
            </a:pPr>
            <a:r>
              <a:rPr lang="en-US" sz="1350" dirty="0">
                <a:solidFill>
                  <a:schemeClr val="tx2"/>
                </a:solidFill>
              </a:rPr>
              <a:t>Services, APIs and replication copy data</a:t>
            </a:r>
            <a:endParaRPr lang="en-US" sz="1350" dirty="0"/>
          </a:p>
        </p:txBody>
      </p:sp>
      <p:sp>
        <p:nvSpPr>
          <p:cNvPr id="10" name="Events 2" descr="">
            <a:extLst>
              <a:ext uri="{C183D7F6-B498-43B3-948B-1728B52AA6E4}">
                <adec:decorative xmlns:adec="http://schemas.microsoft.com/office/drawing/2017/decorative" val="1"/>
              </a:ext>
            </a:extLst>
          </p:cNvPr>
          <p:cNvSpPr/>
          <p:nvPr/>
        </p:nvSpPr>
        <p:spPr>
          <a:xfrm>
            <a:off x="548640" y="2889504"/>
            <a:ext cx="5669280" cy="493776"/>
          </a:xfrm>
          <a:prstGeom prst="roundRect">
            <a:avLst>
              <a:gd name="adj" fmla="val 14815"/>
            </a:avLst>
          </a:prstGeom>
          <a:solidFill>
            <a:srgbClr val="E9EEF4"/>
          </a:solidFill>
          <a:ln w="12700">
            <a:solidFill>
              <a:srgbClr val="E9EEF4"/>
            </a:solidFill>
            <a:prstDash val="solid"/>
          </a:ln>
          <a:effectLst>
            <a:outerShdw sx="100000" sy="100000" kx="0" ky="0" algn="bl" rotWithShape="0" blurRad="76200" dist="25400" dir="5400000">
              <a:srgbClr val="64748B">
                <a:alpha val="22000"/>
              </a:srgbClr>
            </a:outerShdw>
          </a:effectLst>
        </p:spPr>
      </p:sp>
      <p:sp>
        <p:nvSpPr>
          <p:cNvPr id="11" name="Events 2 text"/>
          <p:cNvSpPr txBox="1"/>
          <p:nvPr/>
        </p:nvSpPr>
        <p:spPr>
          <a:xfrm>
            <a:off x="731520" y="2889504"/>
            <a:ext cx="5394960" cy="493776"/>
          </a:xfrm>
          <a:prstGeom prst="rect">
            <a:avLst/>
          </a:prstGeom>
          <a:noFill/>
          <a:ln/>
        </p:spPr>
        <p:txBody>
          <a:bodyPr wrap="square" lIns="0" tIns="0" rIns="0" bIns="0" rtlCol="0" anchor="ctr"/>
          <a:lstStyle/>
          <a:p>
            <a:pPr indent="0" marL="0">
              <a:buNone/>
            </a:pPr>
            <a:r>
              <a:rPr lang="en-US" sz="1350" b="1" dirty="0">
                <a:solidFill>
                  <a:srgbClr val="1F2A44"/>
                </a:solidFill>
              </a:rPr>
              <a:t>AI feature   </a:t>
            </a:r>
            <a:pPr indent="0" marL="0">
              <a:buNone/>
            </a:pPr>
            <a:r>
              <a:rPr lang="en-US" sz="1350" dirty="0">
                <a:solidFill>
                  <a:schemeClr val="tx2"/>
                </a:solidFill>
              </a:rPr>
              <a:t>Sending records to a model is a new use</a:t>
            </a:r>
            <a:endParaRPr lang="en-US" sz="1350" dirty="0"/>
          </a:p>
        </p:txBody>
      </p:sp>
      <p:sp>
        <p:nvSpPr>
          <p:cNvPr id="12" name="Events 3" descr="">
            <a:extLst>
              <a:ext uri="{C183D7F6-B498-43B3-948B-1728B52AA6E4}">
                <adec:decorative xmlns:adec="http://schemas.microsoft.com/office/drawing/2017/decorative" val="1"/>
              </a:ext>
            </a:extLst>
          </p:cNvPr>
          <p:cNvSpPr/>
          <p:nvPr/>
        </p:nvSpPr>
        <p:spPr>
          <a:xfrm>
            <a:off x="548640" y="3474720"/>
            <a:ext cx="5669280" cy="493776"/>
          </a:xfrm>
          <a:prstGeom prst="roundRect">
            <a:avLst>
              <a:gd name="adj" fmla="val 14815"/>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13" name="Events 3 text"/>
          <p:cNvSpPr txBox="1"/>
          <p:nvPr/>
        </p:nvSpPr>
        <p:spPr>
          <a:xfrm>
            <a:off x="731520" y="3474720"/>
            <a:ext cx="5394960" cy="493776"/>
          </a:xfrm>
          <a:prstGeom prst="rect">
            <a:avLst/>
          </a:prstGeom>
          <a:noFill/>
          <a:ln/>
        </p:spPr>
        <p:txBody>
          <a:bodyPr wrap="square" lIns="0" tIns="0" rIns="0" bIns="0" rtlCol="0" anchor="ctr"/>
          <a:lstStyle/>
          <a:p>
            <a:pPr indent="0" marL="0">
              <a:buNone/>
            </a:pPr>
            <a:r>
              <a:rPr lang="en-US" sz="1350" b="1" dirty="0">
                <a:solidFill>
                  <a:srgbClr val="1F2A44"/>
                </a:solidFill>
              </a:rPr>
              <a:t>Test data   </a:t>
            </a:r>
            <a:pPr indent="0" marL="0">
              <a:buNone/>
            </a:pPr>
            <a:r>
              <a:rPr lang="en-US" sz="1350" dirty="0">
                <a:solidFill>
                  <a:schemeClr val="tx2"/>
                </a:solidFill>
              </a:rPr>
              <a:t>Production PII outside production; mask it</a:t>
            </a:r>
            <a:endParaRPr lang="en-US" sz="1350" dirty="0"/>
          </a:p>
        </p:txBody>
      </p:sp>
      <p:sp>
        <p:nvSpPr>
          <p:cNvPr id="14" name="Events 4" descr="">
            <a:extLst>
              <a:ext uri="{C183D7F6-B498-43B3-948B-1728B52AA6E4}">
                <adec:decorative xmlns:adec="http://schemas.microsoft.com/office/drawing/2017/decorative" val="1"/>
              </a:ext>
            </a:extLst>
          </p:cNvPr>
          <p:cNvSpPr/>
          <p:nvPr/>
        </p:nvSpPr>
        <p:spPr>
          <a:xfrm>
            <a:off x="548640" y="4059936"/>
            <a:ext cx="5669280" cy="493776"/>
          </a:xfrm>
          <a:prstGeom prst="roundRect">
            <a:avLst>
              <a:gd name="adj" fmla="val 14815"/>
            </a:avLst>
          </a:prstGeom>
          <a:solidFill>
            <a:srgbClr val="E9EEF4"/>
          </a:solidFill>
          <a:ln w="12700">
            <a:solidFill>
              <a:srgbClr val="E9EEF4"/>
            </a:solidFill>
            <a:prstDash val="solid"/>
          </a:ln>
          <a:effectLst>
            <a:outerShdw sx="100000" sy="100000" kx="0" ky="0" algn="bl" rotWithShape="0" blurRad="76200" dist="25400" dir="5400000">
              <a:srgbClr val="64748B">
                <a:alpha val="22000"/>
              </a:srgbClr>
            </a:outerShdw>
          </a:effectLst>
        </p:spPr>
      </p:sp>
      <p:sp>
        <p:nvSpPr>
          <p:cNvPr id="15" name="Events 4 text"/>
          <p:cNvSpPr txBox="1"/>
          <p:nvPr/>
        </p:nvSpPr>
        <p:spPr>
          <a:xfrm>
            <a:off x="731520" y="4059936"/>
            <a:ext cx="5394960" cy="493776"/>
          </a:xfrm>
          <a:prstGeom prst="rect">
            <a:avLst/>
          </a:prstGeom>
          <a:noFill/>
          <a:ln/>
        </p:spPr>
        <p:txBody>
          <a:bodyPr wrap="square" lIns="0" tIns="0" rIns="0" bIns="0" rtlCol="0" anchor="ctr"/>
          <a:lstStyle/>
          <a:p>
            <a:pPr indent="0" marL="0">
              <a:buNone/>
            </a:pPr>
            <a:r>
              <a:rPr lang="en-US" sz="1350" b="1" dirty="0">
                <a:solidFill>
                  <a:srgbClr val="1F2A44"/>
                </a:solidFill>
              </a:rPr>
              <a:t>Retirement   </a:t>
            </a:r>
            <a:pPr indent="0" marL="0">
              <a:buNone/>
            </a:pPr>
            <a:r>
              <a:rPr lang="en-US" sz="1350" dirty="0">
                <a:solidFill>
                  <a:schemeClr val="tx2"/>
                </a:solidFill>
              </a:rPr>
              <a:t>Records migrated, transferred or destroyed</a:t>
            </a:r>
            <a:endParaRPr lang="en-US" sz="1350" dirty="0"/>
          </a:p>
        </p:txBody>
      </p:sp>
      <p:sp>
        <p:nvSpPr>
          <p:cNvPr id="16" name="Records box" descr="">
            <a:extLst>
              <a:ext uri="{C183D7F6-B498-43B3-948B-1728B52AA6E4}">
                <adec:decorative xmlns:adec="http://schemas.microsoft.com/office/drawing/2017/decorative" val="1"/>
              </a:ext>
            </a:extLst>
          </p:cNvPr>
          <p:cNvSpPr/>
          <p:nvPr/>
        </p:nvSpPr>
        <p:spPr>
          <a:xfrm>
            <a:off x="7086600" y="1371600"/>
            <a:ext cx="4572000" cy="3255264"/>
          </a:xfrm>
          <a:prstGeom prst="roundRect">
            <a:avLst>
              <a:gd name="adj" fmla="val 2247"/>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17" name="Icon FaBuildingColumns" descr="">
            <a:extLst>
              <a:ext uri="{C183D7F6-B498-43B3-948B-1728B52AA6E4}">
                <adec:decorative xmlns:adec="http://schemas.microsoft.com/office/drawing/2017/decorative" val="1"/>
              </a:ext>
            </a:extLst>
          </p:cNvPr>
          <p:cNvSpPr/>
          <p:nvPr/>
        </p:nvSpPr>
        <p:spPr>
          <a:xfrm>
            <a:off x="7315200" y="1517904"/>
            <a:ext cx="548640" cy="548640"/>
          </a:xfrm>
          <a:prstGeom prst="ellipse">
            <a:avLst/>
          </a:prstGeom>
          <a:solidFill>
            <a:srgbClr val="0F766E"/>
          </a:solidFill>
          <a:ln w="12700">
            <a:solidFill>
              <a:srgbClr val="0F766E"/>
            </a:solidFill>
            <a:prstDash val="solid"/>
          </a:ln>
        </p:spPr>
      </p:sp>
      <p:pic>
        <p:nvPicPr>
          <p:cNvPr id="18"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7446874" y="1649578"/>
            <a:ext cx="285293" cy="285293"/>
          </a:xfrm>
          <a:prstGeom prst="rect">
            <a:avLst/>
          </a:prstGeom>
        </p:spPr>
      </p:pic>
      <p:sp>
        <p:nvSpPr>
          <p:cNvPr id="19" name="Records head"/>
          <p:cNvSpPr txBox="1"/>
          <p:nvPr/>
        </p:nvSpPr>
        <p:spPr>
          <a:xfrm>
            <a:off x="8001000" y="1517904"/>
            <a:ext cx="3520440" cy="548640"/>
          </a:xfrm>
          <a:prstGeom prst="rect">
            <a:avLst/>
          </a:prstGeom>
          <a:noFill/>
          <a:ln/>
        </p:spPr>
        <p:txBody>
          <a:bodyPr wrap="square" lIns="0" tIns="0" rIns="0" bIns="0" rtlCol="0" anchor="ctr"/>
          <a:lstStyle/>
          <a:p>
            <a:pPr indent="0" marL="0">
              <a:buNone/>
            </a:pPr>
            <a:r>
              <a:rPr lang="en-US" sz="1650" b="1" dirty="0">
                <a:solidFill>
                  <a:srgbClr val="0F766E"/>
                </a:solidFill>
                <a:latin typeface="Cambria" pitchFamily="34" charset="0"/>
                <a:ea typeface="Cambria" pitchFamily="34" charset="-122"/>
                <a:cs typeface="Cambria" pitchFamily="34" charset="-120"/>
              </a:rPr>
              <a:t>Data governance and records</a:t>
            </a:r>
            <a:endParaRPr lang="en-US" sz="1650" dirty="0"/>
          </a:p>
        </p:txBody>
      </p:sp>
      <p:sp>
        <p:nvSpPr>
          <p:cNvPr id="20" name="Records list"/>
          <p:cNvSpPr txBox="1"/>
          <p:nvPr/>
        </p:nvSpPr>
        <p:spPr>
          <a:xfrm>
            <a:off x="7315200" y="2212848"/>
            <a:ext cx="4160520" cy="232410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Privacy review begins at the earliest planning</a:t>
            </a:r>
            <a:endParaRPr lang="en-US" sz="1400" dirty="0"/>
          </a:p>
          <a:p>
            <a:pPr marL="342900" indent="-342900">
              <a:spcAft>
                <a:spcPts val="600"/>
              </a:spcAft>
              <a:buSzPct val="100000"/>
              <a:buChar char="•"/>
            </a:pPr>
            <a:r>
              <a:rPr lang="en-US" sz="1350" dirty="0">
                <a:solidFill>
                  <a:schemeClr val="tx2"/>
                </a:solidFill>
              </a:rPr>
              <a:t>The data inventory entry moves with the data</a:t>
            </a:r>
            <a:endParaRPr lang="en-US" sz="1400" dirty="0"/>
          </a:p>
          <a:p>
            <a:pPr marL="342900" indent="-342900">
              <a:spcAft>
                <a:spcPts val="600"/>
              </a:spcAft>
              <a:buSzPct val="100000"/>
              <a:buChar char="•"/>
            </a:pPr>
            <a:r>
              <a:rPr lang="en-US" sz="1350" dirty="0">
                <a:solidFill>
                  <a:schemeClr val="tx2"/>
                </a:solidFill>
              </a:rPr>
              <a:t>The chief data officer's body sees the change</a:t>
            </a:r>
            <a:endParaRPr lang="en-US" sz="1400" dirty="0"/>
          </a:p>
          <a:p>
            <a:pPr marL="342900" indent="-342900">
              <a:spcAft>
                <a:spcPts val="600"/>
              </a:spcAft>
              <a:buSzPct val="100000"/>
              <a:buChar char="•"/>
            </a:pPr>
            <a:r>
              <a:rPr lang="en-US" sz="1350" dirty="0">
                <a:solidFill>
                  <a:schemeClr val="tx2"/>
                </a:solidFill>
              </a:rPr>
              <a:t>The records officer reviews every retire</a:t>
            </a:r>
            <a:endParaRPr lang="en-US" sz="1400" dirty="0"/>
          </a:p>
          <a:p>
            <a:pPr marL="342900" indent="-342900">
              <a:spcAft>
                <a:spcPts val="600"/>
              </a:spcAft>
              <a:buSzPct val="100000"/>
              <a:buChar char="•"/>
            </a:pPr>
            <a:r>
              <a:rPr lang="en-US" sz="1350" dirty="0">
                <a:solidFill>
                  <a:schemeClr val="tx2"/>
                </a:solidFill>
              </a:rPr>
              <a:t>Dropping history may be destroying records</a:t>
            </a:r>
            <a:endParaRPr lang="en-US" sz="1400" dirty="0"/>
          </a:p>
        </p:txBody>
      </p:sp>
      <p:sp>
        <p:nvSpPr>
          <p:cNvPr id="21" name="Decision bar" desc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22" name="Icon FaScaleBalanced" descr="">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23"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903427" y="5228539"/>
            <a:ext cx="332842" cy="332842"/>
          </a:xfrm>
          <a:prstGeom prst="rect">
            <a:avLst/>
          </a:prstGeom>
        </p:spPr>
      </p:pic>
      <p:sp>
        <p:nvSpPr>
          <p:cNvPr id="24" name="Decision"/>
          <p:cNvSpPr txBox="1"/>
          <p:nvPr/>
        </p:nvSpPr>
        <p:spPr>
          <a:xfrm>
            <a:off x="1600200" y="4919472"/>
            <a:ext cx="5989320" cy="950976"/>
          </a:xfrm>
          <a:prstGeom prst="rect">
            <a:avLst/>
          </a:prstGeom>
          <a:noFill/>
          <a:ln/>
        </p:spPr>
        <p:txBody>
          <a:bodyPr wrap="square" lIns="0" tIns="0" rIns="0" bIns="0" rtlCol="0" anchor="ctr"/>
          <a:lstStyle/>
          <a:p>
            <a:pPr indent="0" marL="0">
              <a:buNone/>
            </a:pPr>
            <a:r>
              <a:rPr lang="en-US" sz="1100" b="1" spc="100" kern="0" dirty="0">
                <a:solidFill>
                  <a:srgbClr val="B45309"/>
                </a:solidFill>
              </a:rPr>
              <a:t>DECISION</a:t>
            </a:r>
            <a:endParaRPr lang="en-US" sz="1400" dirty="0"/>
          </a:p>
          <a:p>
            <a:pPr indent="0" marL="0">
              <a:buNone/>
            </a:pPr>
            <a:r>
              <a:rPr lang="en-US" sz="1400" dirty="0">
                <a:solidFill>
                  <a:srgbClr val="334155"/>
                </a:solidFill>
              </a:rPr>
              <a:t>Route the named events to the privacy and records officials at design review, before anything is built</a:t>
            </a:r>
            <a:endParaRPr lang="en-US" sz="1400" dirty="0"/>
          </a:p>
        </p:txBody>
      </p:sp>
      <p:sp>
        <p:nvSpPr>
          <p:cNvPr id="25" name="Owner"/>
          <p:cNvSpPr txBox="1"/>
          <p:nvPr/>
        </p:nvSpPr>
        <p:spPr>
          <a:xfrm>
            <a:off x="7772400" y="4919472"/>
            <a:ext cx="1920240" cy="950976"/>
          </a:xfrm>
          <a:prstGeom prst="rect">
            <a:avLst/>
          </a:prstGeom>
          <a:noFill/>
          <a:ln/>
        </p:spPr>
        <p:txBody>
          <a:bodyPr wrap="square" lIns="0" tIns="0" rIns="0" bIns="0" rtlCol="0" anchor="ctr"/>
          <a:lstStyle/>
          <a:p>
            <a:pPr indent="0" marL="0">
              <a:buNone/>
            </a:pPr>
            <a:r>
              <a:rPr lang="en-US" sz="1100" b="1" spc="100" kern="0" dirty="0">
                <a:solidFill>
                  <a:srgbClr val="0F766E"/>
                </a:solidFill>
              </a:rPr>
              <a:t>OWNER</a:t>
            </a:r>
            <a:endParaRPr lang="en-US" sz="1400" dirty="0"/>
          </a:p>
          <a:p>
            <a:pPr indent="0" marL="0">
              <a:buNone/>
            </a:pPr>
            <a:r>
              <a:rPr lang="en-US" sz="1400" dirty="0">
                <a:solidFill>
                  <a:srgbClr val="334155"/>
                </a:solidFill>
              </a:rPr>
              <a:t>Senior privacy official; records officer</a:t>
            </a:r>
            <a:endParaRPr lang="en-US" sz="1400" dirty="0"/>
          </a:p>
        </p:txBody>
      </p:sp>
      <p:sp>
        <p:nvSpPr>
          <p:cNvPr id="26" name="When"/>
          <p:cNvSpPr txBox="1"/>
          <p:nvPr/>
        </p:nvSpPr>
        <p:spPr>
          <a:xfrm>
            <a:off x="9784080" y="4919472"/>
            <a:ext cx="1783080" cy="950976"/>
          </a:xfrm>
          <a:prstGeom prst="rect">
            <a:avLst/>
          </a:prstGeom>
          <a:noFill/>
          <a:ln/>
        </p:spPr>
        <p:txBody>
          <a:bodyPr wrap="square" lIns="0" tIns="0" rIns="0" bIns="0" rtlCol="0" anchor="ctr"/>
          <a:lstStyle/>
          <a:p>
            <a:pPr indent="0" marL="0">
              <a:buNone/>
            </a:pPr>
            <a:r>
              <a:rPr lang="en-US" sz="1100" b="1" spc="100" kern="0" dirty="0">
                <a:solidFill>
                  <a:srgbClr val="1F2A44"/>
                </a:solidFill>
              </a:rPr>
              <a:t>WHEN</a:t>
            </a:r>
            <a:endParaRPr lang="en-US" sz="1400" dirty="0"/>
          </a:p>
          <a:p>
            <a:pPr indent="0" marL="0">
              <a:buNone/>
            </a:pPr>
            <a:r>
              <a:rPr lang="en-US" sz="1400" dirty="0">
                <a:solidFill>
                  <a:srgbClr val="334155"/>
                </a:solidFill>
              </a:rPr>
              <a:t>Gate 2, before build</a:t>
            </a:r>
            <a:endParaRPr lang="en-US" sz="1400" dirty="0"/>
          </a:p>
        </p:txBody>
      </p:sp>
      <p:sp>
        <p:nvSpPr>
          <p:cNvPr id="27" name="Sources"/>
          <p:cNvSpPr txBox="1"/>
          <p:nvPr/>
        </p:nvSpPr>
        <p:spPr>
          <a:xfrm>
            <a:off x="548640" y="6053328"/>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OMB Circular A-130 §5.f, §5.h and Appendix II; Evidence Act (Pub. L. 115-435); OMB M-25-05; SP 800-53 PT family. Book 18, Chapters 06 and 07.</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One decider for every architecture decision</a:t>
            </a:r>
            <a:endParaRPr lang="en-US" sz="3000" dirty="0"/>
          </a:p>
        </p:txBody>
      </p:sp>
      <p:sp>
        <p:nvSpPr>
          <p:cNvPr id="3" name="Tag Who"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0F766E"/>
          </a:solidFill>
          <a:ln w="12700">
            <a:solidFill>
              <a:srgbClr val="0F766E"/>
            </a:solidFill>
            <a:prstDash val="solid"/>
          </a:ln>
        </p:spPr>
      </p:sp>
      <p:sp>
        <p:nvSpPr>
          <p:cNvPr id="4" name="Tag Who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WHO</a:t>
            </a:r>
            <a:endParaRPr lang="en-US" sz="11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6309360" cy="914400"/>
        </p:xfrm>
        <a:graphic>
          <a:graphicData uri="http://schemas.openxmlformats.org/drawingml/2006/table">
            <a:tbl>
              <a:tblPr firstRow="1" bandRow="1"/>
              <a:tblGrid>
                <a:gridCol w="3657600"/>
                <a:gridCol w="2651760"/>
              </a:tblGrid>
              <a:tr h="329184">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Decision</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Decides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329184">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Approved-technology list and patterns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b="1" dirty="0">
                          <a:solidFill>
                            <a:srgbClr val="0F766E"/>
                          </a:solidFill>
                          <a:latin typeface="Calibri" pitchFamily="34" charset="0"/>
                          <a:ea typeface="Calibri" pitchFamily="34" charset="-122"/>
                          <a:cs typeface="Calibri" pitchFamily="34" charset="-120"/>
                        </a:rPr>
                        <a:t>Chief architect</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29184">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An exception, with an end date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b="1" dirty="0">
                          <a:solidFill>
                            <a:srgbClr val="0F766E"/>
                          </a:solidFill>
                          <a:latin typeface="Calibri" pitchFamily="34" charset="0"/>
                          <a:ea typeface="Calibri" pitchFamily="34" charset="-122"/>
                          <a:cs typeface="Calibri" pitchFamily="34" charset="-120"/>
                        </a:rPr>
                        <a:t>Chief architect</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29184">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A design at Gate 2</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b="1" dirty="0">
                          <a:solidFill>
                            <a:srgbClr val="0F766E"/>
                          </a:solidFill>
                          <a:latin typeface="Calibri" pitchFamily="34" charset="0"/>
                          <a:ea typeface="Calibri" pitchFamily="34" charset="-122"/>
                          <a:cs typeface="Calibri" pitchFamily="34" charset="-120"/>
                        </a:rPr>
                        <a:t>Chief architect or delegate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29184">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An application's disposition</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b="1" dirty="0">
                          <a:solidFill>
                            <a:srgbClr val="0F766E"/>
                          </a:solidFill>
                          <a:latin typeface="Calibri" pitchFamily="34" charset="0"/>
                          <a:ea typeface="Calibri" pitchFamily="34" charset="-122"/>
                          <a:cs typeface="Calibri" pitchFamily="34" charset="-120"/>
                        </a:rPr>
                        <a:t>Application owner</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29184">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Security and privacy control requirements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b="1" dirty="0">
                          <a:solidFill>
                            <a:srgbClr val="0F766E"/>
                          </a:solidFill>
                          <a:latin typeface="Calibri" pitchFamily="34" charset="0"/>
                          <a:ea typeface="Calibri" pitchFamily="34" charset="-122"/>
                          <a:cs typeface="Calibri" pitchFamily="34" charset="-120"/>
                        </a:rPr>
                        <a:t>CISO; senior privacy official</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29184">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Whether a change is significant</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b="1" dirty="0">
                          <a:solidFill>
                            <a:srgbClr val="B45309"/>
                          </a:solidFill>
                          <a:latin typeface="Calibri" pitchFamily="34" charset="0"/>
                          <a:ea typeface="Calibri" pitchFamily="34" charset="-122"/>
                          <a:cs typeface="Calibri" pitchFamily="34" charset="-120"/>
                        </a:rPr>
                        <a:t>Authorizing official</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29184">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Residual risk for the system</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b="1" dirty="0">
                          <a:solidFill>
                            <a:srgbClr val="B45309"/>
                          </a:solidFill>
                          <a:latin typeface="Calibri" pitchFamily="34" charset="0"/>
                          <a:ea typeface="Calibri" pitchFamily="34" charset="-122"/>
                          <a:cs typeface="Calibri" pitchFamily="34" charset="-120"/>
                        </a:rPr>
                        <a:t>Authorizing official</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29184">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Contracts and licenses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b="1" dirty="0">
                          <a:solidFill>
                            <a:srgbClr val="0F766E"/>
                          </a:solidFill>
                          <a:latin typeface="Calibri" pitchFamily="34" charset="0"/>
                          <a:ea typeface="Calibri" pitchFamily="34" charset="-122"/>
                          <a:cs typeface="Calibri" pitchFamily="34" charset="-120"/>
                        </a:rPr>
                        <a:t>CIO (FITARA)</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29184">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Charter the board and name its chair</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b="1" dirty="0">
                          <a:solidFill>
                            <a:srgbClr val="0F766E"/>
                          </a:solidFill>
                          <a:latin typeface="Calibri" pitchFamily="34" charset="0"/>
                          <a:ea typeface="Calibri" pitchFamily="34" charset="-122"/>
                          <a:cs typeface="Calibri" pitchFamily="34" charset="-120"/>
                        </a:rPr>
                        <a:t>CIO</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Board box" descr="">
            <a:extLst>
              <a:ext uri="{C183D7F6-B498-43B3-948B-1728B52AA6E4}">
                <adec:decorative xmlns:adec="http://schemas.microsoft.com/office/drawing/2017/decorative" val="1"/>
              </a:ext>
            </a:extLst>
          </p:cNvPr>
          <p:cNvSpPr/>
          <p:nvPr/>
        </p:nvSpPr>
        <p:spPr>
          <a:xfrm>
            <a:off x="7086600" y="1371600"/>
            <a:ext cx="4572000" cy="2843784"/>
          </a:xfrm>
          <a:prstGeom prst="roundRect">
            <a:avLst>
              <a:gd name="adj" fmla="val 2572"/>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7" name="Icon FaUsersGear" descr="">
            <a:extLst>
              <a:ext uri="{C183D7F6-B498-43B3-948B-1728B52AA6E4}">
                <adec:decorative xmlns:adec="http://schemas.microsoft.com/office/drawing/2017/decorative" val="1"/>
              </a:ext>
            </a:extLst>
          </p:cNvPr>
          <p:cNvSpPr/>
          <p:nvPr/>
        </p:nvSpPr>
        <p:spPr>
          <a:xfrm>
            <a:off x="7315200" y="1517904"/>
            <a:ext cx="548640" cy="548640"/>
          </a:xfrm>
          <a:prstGeom prst="ellipse">
            <a:avLst/>
          </a:prstGeom>
          <a:solidFill>
            <a:srgbClr val="0F766E"/>
          </a:solidFill>
          <a:ln w="12700">
            <a:solidFill>
              <a:srgbClr val="0F766E"/>
            </a:solidFill>
            <a:prstDash val="solid"/>
          </a:ln>
        </p:spPr>
      </p:sp>
      <p:pic>
        <p:nvPicPr>
          <p:cNvPr id="8"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7446874" y="1649578"/>
            <a:ext cx="285293" cy="285293"/>
          </a:xfrm>
          <a:prstGeom prst="rect">
            <a:avLst/>
          </a:prstGeom>
        </p:spPr>
      </p:pic>
      <p:sp>
        <p:nvSpPr>
          <p:cNvPr id="9" name="Board head"/>
          <p:cNvSpPr txBox="1"/>
          <p:nvPr/>
        </p:nvSpPr>
        <p:spPr>
          <a:xfrm>
            <a:off x="8001000" y="1517904"/>
            <a:ext cx="3520440" cy="548640"/>
          </a:xfrm>
          <a:prstGeom prst="rect">
            <a:avLst/>
          </a:prstGeom>
          <a:noFill/>
          <a:ln/>
        </p:spPr>
        <p:txBody>
          <a:bodyPr wrap="square" lIns="0" tIns="0" rIns="0" bIns="0" rtlCol="0" anchor="ctr"/>
          <a:lstStyle/>
          <a:p>
            <a:pPr indent="0" marL="0">
              <a:buNone/>
            </a:pPr>
            <a:r>
              <a:rPr lang="en-US" sz="1650" b="1" dirty="0">
                <a:solidFill>
                  <a:srgbClr val="0F766E"/>
                </a:solidFill>
                <a:latin typeface="Cambria" pitchFamily="34" charset="0"/>
                <a:ea typeface="Cambria" pitchFamily="34" charset="-122"/>
                <a:cs typeface="Cambria" pitchFamily="34" charset="-120"/>
              </a:rPr>
              <a:t>How the board works</a:t>
            </a:r>
            <a:endParaRPr lang="en-US" sz="1650" dirty="0"/>
          </a:p>
        </p:txBody>
      </p:sp>
      <p:sp>
        <p:nvSpPr>
          <p:cNvPr id="10" name="Board list"/>
          <p:cNvSpPr txBox="1"/>
          <p:nvPr/>
        </p:nvSpPr>
        <p:spPr>
          <a:xfrm>
            <a:off x="7315200" y="2212848"/>
            <a:ext cx="4160520" cy="191262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The board reviews; it doesn't vote</a:t>
            </a:r>
            <a:endParaRPr lang="en-US" sz="1400" dirty="0"/>
          </a:p>
          <a:p>
            <a:pPr marL="342900" indent="-342900">
              <a:spcAft>
                <a:spcPts val="600"/>
              </a:spcAft>
              <a:buSzPct val="100000"/>
              <a:buChar char="•"/>
            </a:pPr>
            <a:r>
              <a:rPr lang="en-US" sz="1350" dirty="0">
                <a:solidFill>
                  <a:schemeClr val="tx2"/>
                </a:solidFill>
              </a:rPr>
              <a:t>Security and privacy members, as CM-3(4) asks</a:t>
            </a:r>
            <a:endParaRPr lang="en-US" sz="1400" dirty="0"/>
          </a:p>
          <a:p>
            <a:pPr marL="342900" indent="-342900">
              <a:spcAft>
                <a:spcPts val="600"/>
              </a:spcAft>
              <a:buSzPct val="100000"/>
              <a:buChar char="•"/>
            </a:pPr>
            <a:r>
              <a:rPr lang="en-US" sz="1350" dirty="0">
                <a:solidFill>
                  <a:schemeClr val="tx2"/>
                </a:solidFill>
              </a:rPr>
              <a:t>The AO observes; never a member</a:t>
            </a:r>
            <a:endParaRPr lang="en-US" sz="1400" dirty="0"/>
          </a:p>
          <a:p>
            <a:pPr marL="342900" indent="-342900">
              <a:spcAft>
                <a:spcPts val="600"/>
              </a:spcAft>
              <a:buSzPct val="100000"/>
              <a:buChar char="•"/>
            </a:pPr>
            <a:r>
              <a:rPr lang="en-US" sz="1350" dirty="0">
                <a:solidFill>
                  <a:schemeClr val="tx2"/>
                </a:solidFill>
              </a:rPr>
              <a:t>It recommends technology; the CIO buys</a:t>
            </a:r>
            <a:endParaRPr lang="en-US" sz="1400" dirty="0"/>
          </a:p>
          <a:p>
            <a:pPr marL="342900" indent="-342900">
              <a:spcAft>
                <a:spcPts val="600"/>
              </a:spcAft>
              <a:buSzPct val="100000"/>
              <a:buChar char="•"/>
            </a:pPr>
            <a:r>
              <a:rPr lang="en-US" sz="1350" dirty="0">
                <a:solidFill>
                  <a:schemeClr val="tx2"/>
                </a:solidFill>
              </a:rPr>
              <a:t>An exception touching a control goes to the AO</a:t>
            </a:r>
            <a:endParaRPr lang="en-US" sz="1400" dirty="0"/>
          </a:p>
        </p:txBody>
      </p:sp>
      <p:sp>
        <p:nvSpPr>
          <p:cNvPr id="11" name="Decision bar" desc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2" name="Icon FaScaleBalanced" descr="">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13"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903427" y="5228539"/>
            <a:ext cx="332842" cy="332842"/>
          </a:xfrm>
          <a:prstGeom prst="rect">
            <a:avLst/>
          </a:prstGeom>
        </p:spPr>
      </p:pic>
      <p:sp>
        <p:nvSpPr>
          <p:cNvPr id="14" name="Decision"/>
          <p:cNvSpPr txBox="1"/>
          <p:nvPr/>
        </p:nvSpPr>
        <p:spPr>
          <a:xfrm>
            <a:off x="1600200" y="4919472"/>
            <a:ext cx="5989320" cy="950976"/>
          </a:xfrm>
          <a:prstGeom prst="rect">
            <a:avLst/>
          </a:prstGeom>
          <a:noFill/>
          <a:ln/>
        </p:spPr>
        <p:txBody>
          <a:bodyPr wrap="square" lIns="0" tIns="0" rIns="0" bIns="0" rtlCol="0" anchor="ctr"/>
          <a:lstStyle/>
          <a:p>
            <a:pPr indent="0" marL="0">
              <a:buNone/>
            </a:pPr>
            <a:r>
              <a:rPr lang="en-US" sz="1100" b="1" spc="100" kern="0" dirty="0">
                <a:solidFill>
                  <a:srgbClr val="B45309"/>
                </a:solidFill>
              </a:rPr>
              <a:t>DECISION</a:t>
            </a:r>
            <a:endParaRPr lang="en-US" sz="1400" dirty="0"/>
          </a:p>
          <a:p>
            <a:pPr indent="0" marL="0">
              <a:buNone/>
            </a:pPr>
            <a:r>
              <a:rPr lang="en-US" sz="1400" dirty="0">
                <a:solidFill>
                  <a:srgbClr val="334155"/>
                </a:solidFill>
              </a:rPr>
              <a:t>Charter the architecture review board in an existing forum, name the chief architect as its chair, and give every decision one decider</a:t>
            </a:r>
            <a:endParaRPr lang="en-US" sz="1400" dirty="0"/>
          </a:p>
        </p:txBody>
      </p:sp>
      <p:sp>
        <p:nvSpPr>
          <p:cNvPr id="15" name="Owner"/>
          <p:cNvSpPr txBox="1"/>
          <p:nvPr/>
        </p:nvSpPr>
        <p:spPr>
          <a:xfrm>
            <a:off x="7772400" y="4919472"/>
            <a:ext cx="1920240" cy="950976"/>
          </a:xfrm>
          <a:prstGeom prst="rect">
            <a:avLst/>
          </a:prstGeom>
          <a:noFill/>
          <a:ln/>
        </p:spPr>
        <p:txBody>
          <a:bodyPr wrap="square" lIns="0" tIns="0" rIns="0" bIns="0" rtlCol="0" anchor="ctr"/>
          <a:lstStyle/>
          <a:p>
            <a:pPr indent="0" marL="0">
              <a:buNone/>
            </a:pPr>
            <a:r>
              <a:rPr lang="en-US" sz="1100" b="1" spc="100" kern="0" dirty="0">
                <a:solidFill>
                  <a:srgbClr val="0F766E"/>
                </a:solidFill>
              </a:rPr>
              <a:t>OWNER</a:t>
            </a:r>
            <a:endParaRPr lang="en-US" sz="1400" dirty="0"/>
          </a:p>
          <a:p>
            <a:pPr indent="0" marL="0">
              <a:buNone/>
            </a:pPr>
            <a:r>
              <a:rPr lang="en-US" sz="1400" dirty="0">
                <a:solidFill>
                  <a:srgbClr val="334155"/>
                </a:solidFill>
              </a:rPr>
              <a:t>CIO</a:t>
            </a:r>
            <a:endParaRPr lang="en-US" sz="1400" dirty="0"/>
          </a:p>
        </p:txBody>
      </p:sp>
      <p:sp>
        <p:nvSpPr>
          <p:cNvPr id="16" name="When"/>
          <p:cNvSpPr txBox="1"/>
          <p:nvPr/>
        </p:nvSpPr>
        <p:spPr>
          <a:xfrm>
            <a:off x="9784080" y="4919472"/>
            <a:ext cx="1783080" cy="950976"/>
          </a:xfrm>
          <a:prstGeom prst="rect">
            <a:avLst/>
          </a:prstGeom>
          <a:noFill/>
          <a:ln/>
        </p:spPr>
        <p:txBody>
          <a:bodyPr wrap="square" lIns="0" tIns="0" rIns="0" bIns="0" rtlCol="0" anchor="ctr"/>
          <a:lstStyle/>
          <a:p>
            <a:pPr indent="0" marL="0">
              <a:buNone/>
            </a:pPr>
            <a:r>
              <a:rPr lang="en-US" sz="1100" b="1" spc="100" kern="0" dirty="0">
                <a:solidFill>
                  <a:srgbClr val="1F2A44"/>
                </a:solidFill>
              </a:rPr>
              <a:t>WHEN</a:t>
            </a:r>
            <a:endParaRPr lang="en-US" sz="1400" dirty="0"/>
          </a:p>
          <a:p>
            <a:pPr indent="0" marL="0">
              <a:buNone/>
            </a:pPr>
            <a:r>
              <a:rPr lang="en-US" sz="1400" dirty="0">
                <a:solidFill>
                  <a:srgbClr val="334155"/>
                </a:solidFill>
              </a:rPr>
              <a:t>Phase 1, before Gate 2 runs</a:t>
            </a:r>
            <a:endParaRPr lang="en-US" sz="1400" dirty="0"/>
          </a:p>
        </p:txBody>
      </p:sp>
      <p:sp>
        <p:nvSpPr>
          <p:cNvPr id="17" name="Sources"/>
          <p:cNvSpPr txBox="1"/>
          <p:nvPr/>
        </p:nvSpPr>
        <p:spPr>
          <a:xfrm>
            <a:off x="548640" y="6053328"/>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OMB Circular A-130 §5.a(2); SP 800-53 Rev. 5 CM-3, CM-3(4), CM-4, PL-8, PM-7; OMB M-26-10 (FITARA). Book 18, Chapters 07 and 10.</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Four gates, and each one leaves proof</a:t>
            </a:r>
            <a:endParaRPr lang="en-US" sz="3000" dirty="0"/>
          </a:p>
        </p:txBody>
      </p:sp>
      <p:sp>
        <p:nvSpPr>
          <p:cNvPr id="3" name="Tag Who"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0F766E"/>
          </a:solidFill>
          <a:ln w="12700">
            <a:solidFill>
              <a:srgbClr val="0F766E"/>
            </a:solidFill>
            <a:prstDash val="solid"/>
          </a:ln>
        </p:spPr>
      </p:sp>
      <p:sp>
        <p:nvSpPr>
          <p:cNvPr id="4" name="Tag Who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WHO</a:t>
            </a:r>
            <a:endParaRPr lang="en-US" sz="1100" dirty="0"/>
          </a:p>
        </p:txBody>
      </p:sp>
      <p:pic>
        <p:nvPicPr>
          <p:cNvPr id="5" name="Image 0" descr="A vertical chain. At the top, a violet card for the architecture review board, standards and patterns: approved-technology list, reference patterns, decision records and exceptions. A dashed violet arrow labeled checks against leads to four gates in order. Gate 1, amber, disposition: triage score and the chosen R, with the owner's sign-off. Gate 2, amber, design review: decision record, interface contract, threat model, privacy check. Gate 3, blue, every change, pull request and CI: required reviewer, passing tests, scans, SBOM. Gate 4, blue, release: signed build with provenance, impact analysis, change record. An arrow leads to a green card, evidence store: each gate's output, kept with the system's authorization package. A dashed arrow leads to a violet pill: authorizing official accepts residual risk.">    </p:cNvPr>
          <p:cNvPicPr>
            <a:picLocks noChangeAspect="1"/>
          </p:cNvPicPr>
          <p:nvPr/>
        </p:nvPicPr>
        <p:blipFill>
          <a:blip r:embed="rId1"/>
          <a:stretch>
            <a:fillRect/>
          </a:stretch>
        </p:blipFill>
        <p:spPr>
          <a:xfrm>
            <a:off x="651352" y="1371600"/>
            <a:ext cx="1531937" cy="3291840"/>
          </a:xfrm>
          <a:prstGeom prst="rect">
            <a:avLst/>
          </a:prstGeom>
        </p:spPr>
      </p:pic>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2468880" y="1371600"/>
          <a:ext cx="9189720" cy="914400"/>
        </p:xfrm>
        <a:graphic>
          <a:graphicData uri="http://schemas.openxmlformats.org/drawingml/2006/table">
            <a:tbl>
              <a:tblPr firstRow="1" bandRow="1"/>
              <a:tblGrid>
                <a:gridCol w="1737360"/>
                <a:gridCol w="1965960"/>
                <a:gridCol w="2194560"/>
                <a:gridCol w="3291840"/>
              </a:tblGrid>
              <a:tr h="365760">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Gate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When</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Who decides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What it leaves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530352">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1. Disposition</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Once per app; each re-triage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Application owner</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A signed, scored triage record</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30352">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2. Design review</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Before build</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Chief architect or delegate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Decision records, contract, threat model, privacy check</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30352">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3. Pull request and CI</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Every change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Code owner</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Independent review, tests, scans, an SBOM</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30352">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4. Release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Every deployment</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Release owner</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Signed build, provenance, change record</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7" name="Gates note"/>
          <p:cNvSpPr txBox="1"/>
          <p:nvPr/>
        </p:nvSpPr>
        <p:spPr>
          <a:xfrm>
            <a:off x="2468880" y="4023360"/>
            <a:ext cx="9189720" cy="640080"/>
          </a:xfrm>
          <a:prstGeom prst="rect">
            <a:avLst/>
          </a:prstGeom>
          <a:noFill/>
          <a:ln/>
        </p:spPr>
        <p:txBody>
          <a:bodyPr wrap="square" lIns="0" tIns="0" rIns="0" bIns="0" rtlCol="0" anchor="ctr"/>
          <a:lstStyle/>
          <a:p>
            <a:pPr indent="0" marL="0">
              <a:buNone/>
            </a:pPr>
            <a:r>
              <a:rPr lang="en-US" sz="1400" b="1" dirty="0">
                <a:solidFill>
                  <a:srgbClr val="1F2A44"/>
                </a:solidFill>
              </a:rPr>
              <a:t>Two gates are meetings and two are automation.  </a:t>
            </a:r>
            <a:pPr indent="0" marL="0">
              <a:buNone/>
            </a:pPr>
            <a:r>
              <a:rPr lang="en-US" sz="1400" dirty="0">
                <a:solidFill>
                  <a:schemeClr val="tx2"/>
                </a:solidFill>
              </a:rPr>
              <a:t>Gates 3 and 4 run many times a day on protected branches that bind administrators too; a missing artifact is a failed gate.</a:t>
            </a:r>
            <a:endParaRPr lang="en-US" sz="1400" dirty="0"/>
          </a:p>
        </p:txBody>
      </p:sp>
      <p:sp>
        <p:nvSpPr>
          <p:cNvPr id="8" name="Decision bar" desc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9" name="Icon FaScaleBalanced" descr="">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10"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903427" y="5228539"/>
            <a:ext cx="332842" cy="332842"/>
          </a:xfrm>
          <a:prstGeom prst="rect">
            <a:avLst/>
          </a:prstGeom>
        </p:spPr>
      </p:pic>
      <p:sp>
        <p:nvSpPr>
          <p:cNvPr id="11" name="Decision"/>
          <p:cNvSpPr txBox="1"/>
          <p:nvPr/>
        </p:nvSpPr>
        <p:spPr>
          <a:xfrm>
            <a:off x="1600200" y="4919472"/>
            <a:ext cx="5989320" cy="950976"/>
          </a:xfrm>
          <a:prstGeom prst="rect">
            <a:avLst/>
          </a:prstGeom>
          <a:noFill/>
          <a:ln/>
        </p:spPr>
        <p:txBody>
          <a:bodyPr wrap="square" lIns="0" tIns="0" rIns="0" bIns="0" rtlCol="0" anchor="ctr"/>
          <a:lstStyle/>
          <a:p>
            <a:pPr indent="0" marL="0">
              <a:buNone/>
            </a:pPr>
            <a:r>
              <a:rPr lang="en-US" sz="1100" b="1" spc="100" kern="0" dirty="0">
                <a:solidFill>
                  <a:srgbClr val="B45309"/>
                </a:solidFill>
              </a:rPr>
              <a:t>DECISION</a:t>
            </a:r>
            <a:endParaRPr lang="en-US" sz="1400" dirty="0"/>
          </a:p>
          <a:p>
            <a:pPr indent="0" marL="0">
              <a:buNone/>
            </a:pPr>
            <a:r>
              <a:rPr lang="en-US" sz="1400" dirty="0">
                <a:solidFill>
                  <a:srgbClr val="334155"/>
                </a:solidFill>
              </a:rPr>
              <a:t>Set the threshold for when a change is significant enough to reopen the authorization; Gate 2 applies it and records the answer</a:t>
            </a:r>
            <a:endParaRPr lang="en-US" sz="1400" dirty="0"/>
          </a:p>
        </p:txBody>
      </p:sp>
      <p:sp>
        <p:nvSpPr>
          <p:cNvPr id="12" name="Owner"/>
          <p:cNvSpPr txBox="1"/>
          <p:nvPr/>
        </p:nvSpPr>
        <p:spPr>
          <a:xfrm>
            <a:off x="7772400" y="4919472"/>
            <a:ext cx="1920240" cy="950976"/>
          </a:xfrm>
          <a:prstGeom prst="rect">
            <a:avLst/>
          </a:prstGeom>
          <a:noFill/>
          <a:ln/>
        </p:spPr>
        <p:txBody>
          <a:bodyPr wrap="square" lIns="0" tIns="0" rIns="0" bIns="0" rtlCol="0" anchor="ctr"/>
          <a:lstStyle/>
          <a:p>
            <a:pPr indent="0" marL="0">
              <a:buNone/>
            </a:pPr>
            <a:r>
              <a:rPr lang="en-US" sz="1100" b="1" spc="100" kern="0" dirty="0">
                <a:solidFill>
                  <a:srgbClr val="0F766E"/>
                </a:solidFill>
              </a:rPr>
              <a:t>OWNER</a:t>
            </a:r>
            <a:endParaRPr lang="en-US" sz="1400" dirty="0"/>
          </a:p>
          <a:p>
            <a:pPr indent="0" marL="0">
              <a:buNone/>
            </a:pPr>
            <a:r>
              <a:rPr lang="en-US" sz="1400" dirty="0">
                <a:solidFill>
                  <a:srgbClr val="334155"/>
                </a:solidFill>
              </a:rPr>
              <a:t>Authorizing official</a:t>
            </a:r>
            <a:endParaRPr lang="en-US" sz="1400" dirty="0"/>
          </a:p>
        </p:txBody>
      </p:sp>
      <p:sp>
        <p:nvSpPr>
          <p:cNvPr id="13" name="When"/>
          <p:cNvSpPr txBox="1"/>
          <p:nvPr/>
        </p:nvSpPr>
        <p:spPr>
          <a:xfrm>
            <a:off x="9784080" y="4919472"/>
            <a:ext cx="1783080" cy="950976"/>
          </a:xfrm>
          <a:prstGeom prst="rect">
            <a:avLst/>
          </a:prstGeom>
          <a:noFill/>
          <a:ln/>
        </p:spPr>
        <p:txBody>
          <a:bodyPr wrap="square" lIns="0" tIns="0" rIns="0" bIns="0" rtlCol="0" anchor="ctr"/>
          <a:lstStyle/>
          <a:p>
            <a:pPr indent="0" marL="0">
              <a:buNone/>
            </a:pPr>
            <a:r>
              <a:rPr lang="en-US" sz="1100" b="1" spc="100" kern="0" dirty="0">
                <a:solidFill>
                  <a:srgbClr val="1F2A44"/>
                </a:solidFill>
              </a:rPr>
              <a:t>WHEN</a:t>
            </a:r>
            <a:endParaRPr lang="en-US" sz="1400" dirty="0"/>
          </a:p>
          <a:p>
            <a:pPr indent="0" marL="0">
              <a:buNone/>
            </a:pPr>
            <a:r>
              <a:rPr lang="en-US" sz="1400" dirty="0">
                <a:solidFill>
                  <a:srgbClr val="334155"/>
                </a:solidFill>
              </a:rPr>
              <a:t>In the monitoring strategy, before wave one</a:t>
            </a:r>
            <a:endParaRPr lang="en-US" sz="1400" dirty="0"/>
          </a:p>
        </p:txBody>
      </p:sp>
      <p:sp>
        <p:nvSpPr>
          <p:cNvPr id="14" name="Sources"/>
          <p:cNvSpPr txBox="1"/>
          <p:nvPr/>
        </p:nvSpPr>
        <p:spPr>
          <a:xfrm>
            <a:off x="548640" y="6053328"/>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SP 800-53 Rev. 5 CM-3, CM-4, SA-11, SR-4; SP 800-218 PW.7, PO.3.3, PS.3.2; OMB M-26-05; CISA SBOM minimum elements (2026). Book 18, Chapter 07.</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A reference implementation that states its limits</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pic>
        <p:nvPicPr>
          <p:cNvPr id="5" name="Image 0" descr="Eight cards. On the left, a blue card for the React front end in the web folder (case list, triage, approve or reject) has an arrow labeled /api to a blue card for the Spring Boot REST service in the service folder (OpenAPI contract checked by a test; problem details for errors). The service has an arrow labeled triage to a violet card for the triage agent (identity, sponsor, tool allow-list; step limit, every call audited; writes only PENDING proposals). The agent has a green arrow labeled proposal to a green card, a person decides (only an approval changes a case), and a dashed arrow to a slate card, ModelClient (provider-neutral, stub by default). On the right, a slate card for the synthetic legacy DB2 or Oracle schema (H2 stand-in in tests) has an arrow to an amber card for the migration tool (transform, upsert, delta mode; row counts, checksum, aggregates), which has an arrow labeled load and prove to a blue card for PostgreSQL (schema owned by the service through Flyway, file V1 baseline). The service also has an arrow to PostgreSQL.">    </p:cNvPr>
          <p:cNvPicPr>
            <a:picLocks noChangeAspect="1"/>
          </p:cNvPicPr>
          <p:nvPr/>
        </p:nvPicPr>
        <p:blipFill>
          <a:blip r:embed="rId1"/>
          <a:stretch>
            <a:fillRect/>
          </a:stretch>
        </p:blipFill>
        <p:spPr>
          <a:xfrm>
            <a:off x="610296" y="1371600"/>
            <a:ext cx="4357249" cy="3291840"/>
          </a:xfrm>
          <a:prstGeom prst="rect">
            <a:avLst/>
          </a:prstGeom>
        </p:spPr>
      </p:pic>
      <p:sp>
        <p:nvSpPr>
          <p:cNvPr id="6" name="Proved box" descr="">
            <a:extLst>
              <a:ext uri="{C183D7F6-B498-43B3-948B-1728B52AA6E4}">
                <adec:decorative xmlns:adec="http://schemas.microsoft.com/office/drawing/2017/decorative" val="1"/>
              </a:ext>
            </a:extLst>
          </p:cNvPr>
          <p:cNvSpPr/>
          <p:nvPr/>
        </p:nvSpPr>
        <p:spPr>
          <a:xfrm>
            <a:off x="5257800" y="1371600"/>
            <a:ext cx="6400800" cy="2432304"/>
          </a:xfrm>
          <a:prstGeom prst="roundRect">
            <a:avLst>
              <a:gd name="adj" fmla="val 3008"/>
            </a:avLst>
          </a:prstGeom>
          <a:solidFill>
            <a:srgbClr val="FBEEDC"/>
          </a:solidFill>
          <a:ln w="12700">
            <a:solidFill>
              <a:srgbClr val="FBEEDC"/>
            </a:solidFill>
            <a:prstDash val="solid"/>
          </a:ln>
          <a:effectLst>
            <a:outerShdw sx="100000" sy="100000" kx="0" ky="0" algn="bl" rotWithShape="0" blurRad="76200" dist="25400" dir="5400000">
              <a:srgbClr val="64748B">
                <a:alpha val="22000"/>
              </a:srgbClr>
            </a:outerShdw>
          </a:effectLst>
        </p:spPr>
      </p:sp>
      <p:sp>
        <p:nvSpPr>
          <p:cNvPr id="7" name="Icon FaClipboardCheck" descr="">
            <a:extLst>
              <a:ext uri="{C183D7F6-B498-43B3-948B-1728B52AA6E4}">
                <adec:decorative xmlns:adec="http://schemas.microsoft.com/office/drawing/2017/decorative" val="1"/>
              </a:ext>
            </a:extLst>
          </p:cNvPr>
          <p:cNvSpPr/>
          <p:nvPr/>
        </p:nvSpPr>
        <p:spPr>
          <a:xfrm>
            <a:off x="5486400" y="1517904"/>
            <a:ext cx="548640" cy="548640"/>
          </a:xfrm>
          <a:prstGeom prst="ellipse">
            <a:avLst/>
          </a:prstGeom>
          <a:solidFill>
            <a:srgbClr val="B45309"/>
          </a:solidFill>
          <a:ln w="12700">
            <a:solidFill>
              <a:srgbClr val="B45309"/>
            </a:solidFill>
            <a:prstDash val="solid"/>
          </a:ln>
        </p:spPr>
      </p:sp>
      <p:pic>
        <p:nvPicPr>
          <p:cNvPr id="8"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5618074" y="1649578"/>
            <a:ext cx="285293" cy="285293"/>
          </a:xfrm>
          <a:prstGeom prst="rect">
            <a:avLst/>
          </a:prstGeom>
        </p:spPr>
      </p:pic>
      <p:sp>
        <p:nvSpPr>
          <p:cNvPr id="9" name="Proved head"/>
          <p:cNvSpPr txBox="1"/>
          <p:nvPr/>
        </p:nvSpPr>
        <p:spPr>
          <a:xfrm>
            <a:off x="6172200" y="1517904"/>
            <a:ext cx="5349240" cy="548640"/>
          </a:xfrm>
          <a:prstGeom prst="rect">
            <a:avLst/>
          </a:prstGeom>
          <a:noFill/>
          <a:ln/>
        </p:spPr>
        <p:txBody>
          <a:bodyPr wrap="square" lIns="0" tIns="0" rIns="0" bIns="0" rtlCol="0" anchor="ctr"/>
          <a:lstStyle/>
          <a:p>
            <a:pPr indent="0" marL="0">
              <a:buNone/>
            </a:pPr>
            <a:r>
              <a:rPr lang="en-US" sz="1650" b="1" dirty="0">
                <a:solidFill>
                  <a:srgbClr val="B45309"/>
                </a:solidFill>
                <a:latin typeface="Cambria" pitchFamily="34" charset="0"/>
                <a:ea typeface="Cambria" pitchFamily="34" charset="-122"/>
                <a:cs typeface="Cambria" pitchFamily="34" charset="-120"/>
              </a:rPr>
              <a:t>What its tests prove, October 28, 2026</a:t>
            </a:r>
            <a:endParaRPr lang="en-US" sz="1650" dirty="0"/>
          </a:p>
        </p:txBody>
      </p:sp>
      <p:sp>
        <p:nvSpPr>
          <p:cNvPr id="10" name="Proved list"/>
          <p:cNvSpPr txBox="1"/>
          <p:nvPr/>
        </p:nvSpPr>
        <p:spPr>
          <a:xfrm>
            <a:off x="5486400" y="2212848"/>
            <a:ext cx="5989320" cy="150114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Verified: service and migration on real PostgreSQL</a:t>
            </a:r>
            <a:endParaRPr lang="en-US" sz="1400" dirty="0"/>
          </a:p>
          <a:p>
            <a:pPr marL="342900" indent="-342900">
              <a:spcAft>
                <a:spcPts val="600"/>
              </a:spcAft>
              <a:buSzPct val="100000"/>
              <a:buChar char="•"/>
            </a:pPr>
            <a:r>
              <a:rPr lang="en-US" sz="1350" dirty="0">
                <a:solidFill>
                  <a:schemeClr val="tx2"/>
                </a:solidFill>
              </a:rPr>
              <a:t>Verified: the contract matches the code, both ways</a:t>
            </a:r>
            <a:endParaRPr lang="en-US" sz="1400" dirty="0"/>
          </a:p>
          <a:p>
            <a:pPr marL="342900" indent="-342900">
              <a:spcAft>
                <a:spcPts val="600"/>
              </a:spcAft>
              <a:buSzPct val="100000"/>
              <a:buChar char="•"/>
            </a:pPr>
            <a:r>
              <a:rPr lang="en-US" sz="1350" dirty="0">
                <a:solidFill>
                  <a:schemeClr val="tx2"/>
                </a:solidFill>
              </a:rPr>
              <a:t>Verified: guardrails hold against a scripted stub</a:t>
            </a:r>
            <a:endParaRPr lang="en-US" sz="1400" dirty="0"/>
          </a:p>
          <a:p>
            <a:pPr marL="342900" indent="-342900">
              <a:spcAft>
                <a:spcPts val="600"/>
              </a:spcAft>
              <a:buSzPct val="100000"/>
              <a:buChar char="•"/>
            </a:pPr>
            <a:r>
              <a:rPr lang="en-US" sz="1350" dirty="0">
                <a:solidFill>
                  <a:schemeClr val="tx2"/>
                </a:solidFill>
              </a:rPr>
              <a:t>Not verified: real DB2 or Oracle, or a real model</a:t>
            </a:r>
            <a:endParaRPr lang="en-US" sz="1400" dirty="0"/>
          </a:p>
          <a:p>
            <a:pPr marL="342900" indent="-342900">
              <a:spcAft>
                <a:spcPts val="600"/>
              </a:spcAft>
              <a:buSzPct val="100000"/>
              <a:buChar char="•"/>
            </a:pPr>
            <a:r>
              <a:rPr lang="en-US" sz="1350" dirty="0">
                <a:solidFill>
                  <a:schemeClr val="tx2"/>
                </a:solidFill>
              </a:rPr>
              <a:t>Not verified: the containers; it has no sign-in</a:t>
            </a:r>
            <a:endParaRPr lang="en-US" sz="1400" dirty="0"/>
          </a:p>
        </p:txBody>
      </p:sp>
      <p:sp>
        <p:nvSpPr>
          <p:cNvPr id="11" name="Takeaway" desc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2" name="Icon FaLightbulb" descr="">
            <a:extLst>
              <a:ext uri="{C183D7F6-B498-43B3-948B-1728B52AA6E4}">
                <adec:decorative xmlns:adec="http://schemas.microsoft.com/office/drawing/2017/decorative" val="1"/>
              </a:ext>
            </a:extLst>
          </p:cNvPr>
          <p:cNvSpPr/>
          <p:nvPr/>
        </p:nvSpPr>
        <p:spPr>
          <a:xfrm>
            <a:off x="777240" y="5029200"/>
            <a:ext cx="731520" cy="731520"/>
          </a:xfrm>
          <a:prstGeom prst="ellipse">
            <a:avLst/>
          </a:prstGeom>
          <a:solidFill>
            <a:srgbClr val="B45309"/>
          </a:solidFill>
          <a:ln w="12700">
            <a:solidFill>
              <a:srgbClr val="B45309"/>
            </a:solidFill>
            <a:prstDash val="solid"/>
          </a:ln>
        </p:spPr>
      </p:sp>
      <p:pic>
        <p:nvPicPr>
          <p:cNvPr id="13" name="Image 2" descr="">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952805" y="5204765"/>
            <a:ext cx="380390" cy="380390"/>
          </a:xfrm>
          <a:prstGeom prst="rect">
            <a:avLst/>
          </a:prstGeom>
        </p:spPr>
      </p:pic>
      <p:sp>
        <p:nvSpPr>
          <p:cNvPr id="14" name="Takeaway text"/>
          <p:cNvSpPr txBox="1"/>
          <p:nvPr/>
        </p:nvSpPr>
        <p:spPr>
          <a:xfrm>
            <a:off x="1737360" y="4892040"/>
            <a:ext cx="9738360" cy="1005840"/>
          </a:xfrm>
          <a:prstGeom prst="rect">
            <a:avLst/>
          </a:prstGeom>
          <a:noFill/>
          <a:ln/>
        </p:spPr>
        <p:txBody>
          <a:bodyPr wrap="square" lIns="0" tIns="0" rIns="0" bIns="0" rtlCol="0" anchor="ctr"/>
          <a:lstStyle/>
          <a:p>
            <a:pPr indent="0" marL="0">
              <a:buNone/>
            </a:pPr>
            <a:r>
              <a:rPr lang="en-US" sz="1650" b="1" dirty="0">
                <a:solidFill>
                  <a:srgbClr val="B45309"/>
                </a:solidFill>
              </a:rPr>
              <a:t>Illustrative, not production.  </a:t>
            </a:r>
            <a:pPr indent="0" marL="0">
              <a:buNone/>
            </a:pPr>
            <a:r>
              <a:rPr lang="en-US" sz="1650" dirty="0">
                <a:solidFill>
                  <a:schemeClr val="tx2"/>
                </a:solidFill>
              </a:rPr>
              <a:t>Teams that start from a pattern inherit its review, but this one has never run against a real DB2 or Oracle database, a real model, or production.</a:t>
            </a:r>
            <a:endParaRPr lang="en-US" sz="1650" dirty="0"/>
          </a:p>
        </p:txBody>
      </p:sp>
      <p:sp>
        <p:nvSpPr>
          <p:cNvPr id="15" name="Sources"/>
          <p:cNvSpPr txBox="1"/>
          <p:nvPr/>
        </p:nvSpPr>
        <p:spPr>
          <a:xfrm>
            <a:off x="548640" y="6053328"/>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Maven Central (Spring Boot 4.1.2); PostgreSQL versioning (18.6); npm registry (React 19.3.1); RFC 9457; Zonky embedded-postgres. Book 18, Chapter 08.</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TOGAF is the order; Zachman is the checklist</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pic>
        <p:nvPicPr>
          <p:cNvPr id="5" name="Image 0" descr="A vertical chain of ten cards following the ADM cycle. Preliminary, violet: capability and governance, Chapter 07 board, standards, gates. Phase A, slate: Architecture Vision, Chapter 01 the portfolio argument. Phase B, slate: Business Architecture, Chapter 02 mission criticality and owners. Beside Phase B, a violet card at the center: Requirements Management, Chapter 06 controls, privacy, records, with dashed arrows to Phase C and Phase F. Phase C, blue: Information Systems, Chapter 03 applications, Chapter 04 data, Chapter 05 AI. Phase D, blue: Technology Architecture, Chapter 03 runtime and containers, Chapter 08. Phase E, amber: Opportunities and Solutions, Chapter 02 dispositions, Chapter 10 move groups. Phase F, amber: Migration Planning, Chapter 10 waves and funding. Phase G, green: Implementation Governance, Chapter 07 gates, Chapter 04 validation, Chapter 08. Phase H, violet: Architecture Change Management, Chapter 10 keeping the triage current. A dashed violet arrow labeled next cycle returns from Phase H to Phase A.">    </p:cNvPr>
          <p:cNvPicPr>
            <a:picLocks noChangeAspect="1"/>
          </p:cNvPicPr>
          <p:nvPr/>
        </p:nvPicPr>
        <p:blipFill>
          <a:blip r:embed="rId1"/>
          <a:stretch>
            <a:fillRect/>
          </a:stretch>
        </p:blipFill>
        <p:spPr>
          <a:xfrm>
            <a:off x="652539" y="1371600"/>
            <a:ext cx="2535401" cy="3291840"/>
          </a:xfrm>
          <a:prstGeom prst="rect">
            <a:avLst/>
          </a:prstGeom>
        </p:spPr>
      </p:pic>
      <p:sp>
        <p:nvSpPr>
          <p:cNvPr id="6" name="Require box" descr="">
            <a:extLst>
              <a:ext uri="{C183D7F6-B498-43B3-948B-1728B52AA6E4}">
                <adec:decorative xmlns:adec="http://schemas.microsoft.com/office/drawing/2017/decorative" val="1"/>
              </a:ext>
            </a:extLst>
          </p:cNvPr>
          <p:cNvSpPr/>
          <p:nvPr/>
        </p:nvSpPr>
        <p:spPr>
          <a:xfrm>
            <a:off x="3474720" y="1371600"/>
            <a:ext cx="4023360" cy="2926080"/>
          </a:xfrm>
          <a:prstGeom prst="roundRect">
            <a:avLst>
              <a:gd name="adj" fmla="val 2500"/>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7" name="Icon FaLandmark" descr="">
            <a:extLst>
              <a:ext uri="{C183D7F6-B498-43B3-948B-1728B52AA6E4}">
                <adec:decorative xmlns:adec="http://schemas.microsoft.com/office/drawing/2017/decorative" val="1"/>
              </a:ext>
            </a:extLst>
          </p:cNvPr>
          <p:cNvSpPr/>
          <p:nvPr/>
        </p:nvSpPr>
        <p:spPr>
          <a:xfrm>
            <a:off x="3703320" y="1517904"/>
            <a:ext cx="548640" cy="548640"/>
          </a:xfrm>
          <a:prstGeom prst="ellipse">
            <a:avLst/>
          </a:prstGeom>
          <a:solidFill>
            <a:srgbClr val="1F2A44"/>
          </a:solidFill>
          <a:ln w="12700">
            <a:solidFill>
              <a:srgbClr val="1F2A44"/>
            </a:solidFill>
            <a:prstDash val="solid"/>
          </a:ln>
        </p:spPr>
      </p:sp>
      <p:pic>
        <p:nvPicPr>
          <p:cNvPr id="8"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3834994" y="1649578"/>
            <a:ext cx="285293" cy="285293"/>
          </a:xfrm>
          <a:prstGeom prst="rect">
            <a:avLst/>
          </a:prstGeom>
        </p:spPr>
      </p:pic>
      <p:sp>
        <p:nvSpPr>
          <p:cNvPr id="9" name="Require head"/>
          <p:cNvSpPr txBox="1"/>
          <p:nvPr/>
        </p:nvSpPr>
        <p:spPr>
          <a:xfrm>
            <a:off x="4389120" y="1517904"/>
            <a:ext cx="2971800" cy="548640"/>
          </a:xfrm>
          <a:prstGeom prst="rect">
            <a:avLst/>
          </a:prstGeom>
          <a:noFill/>
          <a:ln/>
        </p:spPr>
        <p:txBody>
          <a:bodyPr wrap="square" lIns="0" tIns="0" rIns="0" bIns="0" rtlCol="0" anchor="ctr"/>
          <a:lstStyle/>
          <a:p>
            <a:pPr indent="0" marL="0">
              <a:buNone/>
            </a:pPr>
            <a:r>
              <a:rPr lang="en-US" sz="1650" b="1" dirty="0">
                <a:solidFill>
                  <a:srgbClr val="1F2A44"/>
                </a:solidFill>
                <a:latin typeface="Cambria" pitchFamily="34" charset="0"/>
                <a:ea typeface="Cambria" pitchFamily="34" charset="-122"/>
                <a:cs typeface="Cambria" pitchFamily="34" charset="-120"/>
              </a:rPr>
              <a:t>What federal policy requires</a:t>
            </a:r>
            <a:endParaRPr lang="en-US" sz="1650" dirty="0"/>
          </a:p>
        </p:txBody>
      </p:sp>
      <p:sp>
        <p:nvSpPr>
          <p:cNvPr id="10" name="Require list"/>
          <p:cNvSpPr txBox="1"/>
          <p:nvPr/>
        </p:nvSpPr>
        <p:spPr>
          <a:xfrm>
            <a:off x="3703320" y="2212848"/>
            <a:ext cx="3611880" cy="183642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A-130: baseline, target, transition plan</a:t>
            </a:r>
            <a:endParaRPr lang="en-US" sz="1400" dirty="0"/>
          </a:p>
          <a:p>
            <a:pPr marL="342900" indent="-342900">
              <a:spcAft>
                <a:spcPts val="600"/>
              </a:spcAft>
              <a:buSzPct val="100000"/>
              <a:buChar char="•"/>
            </a:pPr>
            <a:r>
              <a:rPr lang="en-US" sz="1350" dirty="0">
                <a:solidFill>
                  <a:schemeClr val="tx2"/>
                </a:solidFill>
              </a:rPr>
              <a:t>SP 800-53 PM-7 and PL-8</a:t>
            </a:r>
            <a:endParaRPr lang="en-US" sz="1400" dirty="0"/>
          </a:p>
          <a:p>
            <a:pPr marL="342900" indent="-342900">
              <a:spcAft>
                <a:spcPts val="600"/>
              </a:spcAft>
              <a:buSzPct val="100000"/>
              <a:buChar char="•"/>
            </a:pPr>
            <a:r>
              <a:rPr lang="en-US" sz="1350" dirty="0">
                <a:solidFill>
                  <a:schemeClr val="tx2"/>
                </a:solidFill>
              </a:rPr>
              <a:t>No framework named; FEAF v2 is historical</a:t>
            </a:r>
            <a:endParaRPr lang="en-US" sz="1400" dirty="0"/>
          </a:p>
          <a:p>
            <a:pPr marL="342900" indent="-342900">
              <a:spcAft>
                <a:spcPts val="600"/>
              </a:spcAft>
              <a:buSzPct val="100000"/>
              <a:buChar char="•"/>
            </a:pPr>
            <a:r>
              <a:rPr lang="en-US" sz="1350" dirty="0">
                <a:solidFill>
                  <a:schemeClr val="tx2"/>
                </a:solidFill>
              </a:rPr>
              <a:t>Triage, architecture and waves: the triad</a:t>
            </a:r>
            <a:endParaRPr lang="en-US" sz="1400" dirty="0"/>
          </a:p>
        </p:txBody>
      </p:sp>
      <p:sp>
        <p:nvSpPr>
          <p:cNvPr id="11" name="Use box" descr="">
            <a:extLst>
              <a:ext uri="{C183D7F6-B498-43B3-948B-1728B52AA6E4}">
                <adec:decorative xmlns:adec="http://schemas.microsoft.com/office/drawing/2017/decorative" val="1"/>
              </a:ext>
            </a:extLst>
          </p:cNvPr>
          <p:cNvSpPr/>
          <p:nvPr/>
        </p:nvSpPr>
        <p:spPr>
          <a:xfrm>
            <a:off x="7635240" y="1371600"/>
            <a:ext cx="4023360" cy="2926080"/>
          </a:xfrm>
          <a:prstGeom prst="roundRect">
            <a:avLst>
              <a:gd name="adj" fmla="val 2500"/>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12" name="Icon FaSitemap" descr="">
            <a:extLst>
              <a:ext uri="{C183D7F6-B498-43B3-948B-1728B52AA6E4}">
                <adec:decorative xmlns:adec="http://schemas.microsoft.com/office/drawing/2017/decorative" val="1"/>
              </a:ext>
            </a:extLst>
          </p:cNvPr>
          <p:cNvSpPr/>
          <p:nvPr/>
        </p:nvSpPr>
        <p:spPr>
          <a:xfrm>
            <a:off x="7863840" y="1517904"/>
            <a:ext cx="548640" cy="548640"/>
          </a:xfrm>
          <a:prstGeom prst="ellipse">
            <a:avLst/>
          </a:prstGeom>
          <a:solidFill>
            <a:srgbClr val="0F766E"/>
          </a:solidFill>
          <a:ln w="12700">
            <a:solidFill>
              <a:srgbClr val="0F766E"/>
            </a:solidFill>
            <a:prstDash val="solid"/>
          </a:ln>
        </p:spPr>
      </p:sp>
      <p:pic>
        <p:nvPicPr>
          <p:cNvPr id="13" name="Image 2" descr="">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7995514" y="1649578"/>
            <a:ext cx="285293" cy="285293"/>
          </a:xfrm>
          <a:prstGeom prst="rect">
            <a:avLst/>
          </a:prstGeom>
        </p:spPr>
      </p:pic>
      <p:sp>
        <p:nvSpPr>
          <p:cNvPr id="14" name="Use head"/>
          <p:cNvSpPr txBox="1"/>
          <p:nvPr/>
        </p:nvSpPr>
        <p:spPr>
          <a:xfrm>
            <a:off x="8549640" y="1517904"/>
            <a:ext cx="2971800" cy="548640"/>
          </a:xfrm>
          <a:prstGeom prst="rect">
            <a:avLst/>
          </a:prstGeom>
          <a:noFill/>
          <a:ln/>
        </p:spPr>
        <p:txBody>
          <a:bodyPr wrap="square" lIns="0" tIns="0" rIns="0" bIns="0" rtlCol="0" anchor="ctr"/>
          <a:lstStyle/>
          <a:p>
            <a:pPr indent="0" marL="0">
              <a:buNone/>
            </a:pPr>
            <a:r>
              <a:rPr lang="en-US" sz="1650" b="1" dirty="0">
                <a:solidFill>
                  <a:srgbClr val="0F766E"/>
                </a:solidFill>
                <a:latin typeface="Cambria" pitchFamily="34" charset="0"/>
                <a:ea typeface="Cambria" pitchFamily="34" charset="-122"/>
                <a:cs typeface="Cambria" pitchFamily="34" charset="-120"/>
              </a:rPr>
              <a:t>Using the mappings</a:t>
            </a:r>
            <a:endParaRPr lang="en-US" sz="1650" dirty="0"/>
          </a:p>
        </p:txBody>
      </p:sp>
      <p:sp>
        <p:nvSpPr>
          <p:cNvPr id="15" name="Use list"/>
          <p:cNvSpPr txBox="1"/>
          <p:nvPr/>
        </p:nvSpPr>
        <p:spPr>
          <a:xfrm>
            <a:off x="7863840" y="2212848"/>
            <a:ext cx="3611880" cy="142494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File the artifacts; don't redo them</a:t>
            </a:r>
            <a:endParaRPr lang="en-US" sz="1400" dirty="0"/>
          </a:p>
          <a:p>
            <a:pPr marL="342900" indent="-342900">
              <a:spcAft>
                <a:spcPts val="600"/>
              </a:spcAft>
              <a:buSzPct val="100000"/>
              <a:buChar char="•"/>
            </a:pPr>
            <a:r>
              <a:rPr lang="en-US" sz="1350" dirty="0">
                <a:solidFill>
                  <a:schemeClr val="tx2"/>
                </a:solidFill>
              </a:rPr>
              <a:t>Zachman finds gaps; an empty cell is a question</a:t>
            </a:r>
            <a:endParaRPr lang="en-US" sz="1400" dirty="0"/>
          </a:p>
          <a:p>
            <a:pPr marL="342900" indent="-342900">
              <a:spcAft>
                <a:spcPts val="600"/>
              </a:spcAft>
              <a:buSzPct val="100000"/>
              <a:buChar char="•"/>
            </a:pPr>
            <a:r>
              <a:rPr lang="en-US" sz="1350" dirty="0">
                <a:solidFill>
                  <a:schemeClr val="tx2"/>
                </a:solidFill>
              </a:rPr>
              <a:t>TOGAF's Phase H is the re-triage</a:t>
            </a:r>
            <a:endParaRPr lang="en-US" sz="1400" dirty="0"/>
          </a:p>
          <a:p>
            <a:pPr marL="342900" indent="-342900">
              <a:spcAft>
                <a:spcPts val="600"/>
              </a:spcAft>
              <a:buSzPct val="100000"/>
              <a:buChar char="•"/>
            </a:pPr>
            <a:r>
              <a:rPr lang="en-US" sz="1350" dirty="0">
                <a:solidFill>
                  <a:schemeClr val="tx2"/>
                </a:solidFill>
              </a:rPr>
              <a:t>No framework buys compliance</a:t>
            </a:r>
            <a:endParaRPr lang="en-US" sz="1400" dirty="0"/>
          </a:p>
        </p:txBody>
      </p:sp>
      <p:sp>
        <p:nvSpPr>
          <p:cNvPr id="16" name="Takeaway" desc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17" name="Icon FaBook" descr="">
            <a:extLst>
              <a:ext uri="{C183D7F6-B498-43B3-948B-1728B52AA6E4}">
                <adec:decorative xmlns:adec="http://schemas.microsoft.com/office/drawing/2017/decorative" val="1"/>
              </a:ext>
            </a:extLst>
          </p:cNvPr>
          <p:cNvSpPr/>
          <p:nvPr/>
        </p:nvSpPr>
        <p:spPr>
          <a:xfrm>
            <a:off x="777240" y="5029200"/>
            <a:ext cx="731520" cy="731520"/>
          </a:xfrm>
          <a:prstGeom prst="ellipse">
            <a:avLst/>
          </a:prstGeom>
          <a:solidFill>
            <a:srgbClr val="1F2A44"/>
          </a:solidFill>
          <a:ln w="12700">
            <a:solidFill>
              <a:srgbClr val="1F2A44"/>
            </a:solidFill>
            <a:prstDash val="solid"/>
          </a:ln>
        </p:spPr>
      </p:sp>
      <p:pic>
        <p:nvPicPr>
          <p:cNvPr id="18" name="Image 3"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952805" y="5204765"/>
            <a:ext cx="380390" cy="380390"/>
          </a:xfrm>
          <a:prstGeom prst="rect">
            <a:avLst/>
          </a:prstGeom>
        </p:spPr>
      </p:pic>
      <p:sp>
        <p:nvSpPr>
          <p:cNvPr id="19" name="Takeaway text"/>
          <p:cNvSpPr txBox="1"/>
          <p:nvPr/>
        </p:nvSpPr>
        <p:spPr>
          <a:xfrm>
            <a:off x="1737360" y="4892040"/>
            <a:ext cx="9738360" cy="1005840"/>
          </a:xfrm>
          <a:prstGeom prst="rect">
            <a:avLst/>
          </a:prstGeom>
          <a:noFill/>
          <a:ln/>
        </p:spPr>
        <p:txBody>
          <a:bodyPr wrap="square" lIns="0" tIns="0" rIns="0" bIns="0" rtlCol="0" anchor="ctr"/>
          <a:lstStyle/>
          <a:p>
            <a:pPr indent="0" marL="0">
              <a:buNone/>
            </a:pPr>
            <a:r>
              <a:rPr lang="en-US" sz="1650" b="1" dirty="0">
                <a:solidFill>
                  <a:srgbClr val="1F2A44"/>
                </a:solidFill>
              </a:rPr>
              <a:t>The requirement is the architecture, not the framework.  </a:t>
            </a:r>
            <a:pPr indent="0" marL="0">
              <a:buNone/>
            </a:pPr>
            <a:r>
              <a:rPr lang="en-US" sz="1650" dirty="0">
                <a:solidFill>
                  <a:schemeClr val="tx2"/>
                </a:solidFill>
              </a:rPr>
              <a:t>Answer the assessor with the baseline, target and transition plan the book already produces, filed under the phase and cell the architecture office knows.</a:t>
            </a:r>
            <a:endParaRPr lang="en-US" sz="1650" dirty="0"/>
          </a:p>
        </p:txBody>
      </p:sp>
      <p:sp>
        <p:nvSpPr>
          <p:cNvPr id="20" name="Sources"/>
          <p:cNvSpPr txBox="1"/>
          <p:nvPr/>
        </p:nvSpPr>
        <p:spPr>
          <a:xfrm>
            <a:off x="548640" y="6053328"/>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OMB Circular A-130 §5.a(2); SP 800-53 PM-7, PL-8; The Open Group, TOGAF Standard, 10th Ed.; Zachman Framework 3.0; FEAF v2 (archived). Book 18, Chapter 09.</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Run the portfolio in waves on the program's gates</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pic>
        <p:nvPicPr>
          <p:cNvPr id="5" name="Image 0" descr="A vertical chain of six cards. Phase 0, Pre-flight, gate G0, slate: inventory and triage, every application scored and given a disposition. Phase 1, Foundation, gate G1, blue: build the factory, platform, patterns, pipelines, validation tooling. Phase 2, Pilot, gate G2, amber: pilot wave, a few low-complexity applications plus one representative hard one. An arrow labeled lessons into runbooks leads to Phase 3, General rollout, gate G3, blue: factory waves, move groups by shared data and owner, plan four to five waves ahead. Phase 4, Legacy retirement, gate G4, red: decommission, retire replaced applications, DB2 and Oracle instances, licenses. Phase 6, Steady state, green: long tail and re-triage, retain with end dates, re-score on triggers. A dashed violet arrow leads from Phase 6 to a violet card, re-triage triggers: end of support, incident or finding, cost or mission change, and another dashed arrow labeled re-score returns to Phase 0.">    </p:cNvPr>
          <p:cNvPicPr>
            <a:picLocks noChangeAspect="1"/>
          </p:cNvPicPr>
          <p:nvPr/>
        </p:nvPicPr>
        <p:blipFill>
          <a:blip r:embed="rId1"/>
          <a:stretch>
            <a:fillRect/>
          </a:stretch>
        </p:blipFill>
        <p:spPr>
          <a:xfrm>
            <a:off x="683656" y="1371600"/>
            <a:ext cx="2015968" cy="3291840"/>
          </a:xfrm>
          <a:prstGeom prst="rect">
            <a:avLst/>
          </a:prstGeom>
        </p:spPr>
      </p:pic>
      <p:sp>
        <p:nvSpPr>
          <p:cNvPr id="6" name="Waves box" descr="">
            <a:extLst>
              <a:ext uri="{C183D7F6-B498-43B3-948B-1728B52AA6E4}">
                <adec:decorative xmlns:adec="http://schemas.microsoft.com/office/drawing/2017/decorative" val="1"/>
              </a:ext>
            </a:extLst>
          </p:cNvPr>
          <p:cNvSpPr/>
          <p:nvPr/>
        </p:nvSpPr>
        <p:spPr>
          <a:xfrm>
            <a:off x="3017520" y="1371600"/>
            <a:ext cx="4251960" cy="2971800"/>
          </a:xfrm>
          <a:prstGeom prst="roundRect">
            <a:avLst>
              <a:gd name="adj" fmla="val 2462"/>
            </a:avLst>
          </a:prstGeom>
          <a:solidFill>
            <a:srgbClr val="FBEEDC"/>
          </a:solidFill>
          <a:ln w="12700">
            <a:solidFill>
              <a:srgbClr val="FBEEDC"/>
            </a:solidFill>
            <a:prstDash val="solid"/>
          </a:ln>
          <a:effectLst>
            <a:outerShdw sx="100000" sy="100000" kx="0" ky="0" algn="bl" rotWithShape="0" blurRad="76200" dist="25400" dir="5400000">
              <a:srgbClr val="64748B">
                <a:alpha val="22000"/>
              </a:srgbClr>
            </a:outerShdw>
          </a:effectLst>
        </p:spPr>
      </p:sp>
      <p:sp>
        <p:nvSpPr>
          <p:cNvPr id="7" name="Icon FaRoute" descr="">
            <a:extLst>
              <a:ext uri="{C183D7F6-B498-43B3-948B-1728B52AA6E4}">
                <adec:decorative xmlns:adec="http://schemas.microsoft.com/office/drawing/2017/decorative" val="1"/>
              </a:ext>
            </a:extLst>
          </p:cNvPr>
          <p:cNvSpPr/>
          <p:nvPr/>
        </p:nvSpPr>
        <p:spPr>
          <a:xfrm>
            <a:off x="3246120" y="1517904"/>
            <a:ext cx="548640" cy="548640"/>
          </a:xfrm>
          <a:prstGeom prst="ellipse">
            <a:avLst/>
          </a:prstGeom>
          <a:solidFill>
            <a:srgbClr val="B45309"/>
          </a:solidFill>
          <a:ln w="12700">
            <a:solidFill>
              <a:srgbClr val="B45309"/>
            </a:solidFill>
            <a:prstDash val="solid"/>
          </a:ln>
        </p:spPr>
      </p:sp>
      <p:pic>
        <p:nvPicPr>
          <p:cNvPr id="8"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3377794" y="1649578"/>
            <a:ext cx="285293" cy="285293"/>
          </a:xfrm>
          <a:prstGeom prst="rect">
            <a:avLst/>
          </a:prstGeom>
        </p:spPr>
      </p:pic>
      <p:sp>
        <p:nvSpPr>
          <p:cNvPr id="9" name="Waves head"/>
          <p:cNvSpPr txBox="1"/>
          <p:nvPr/>
        </p:nvSpPr>
        <p:spPr>
          <a:xfrm>
            <a:off x="3931920" y="1517904"/>
            <a:ext cx="3200400" cy="548640"/>
          </a:xfrm>
          <a:prstGeom prst="rect">
            <a:avLst/>
          </a:prstGeom>
          <a:noFill/>
          <a:ln/>
        </p:spPr>
        <p:txBody>
          <a:bodyPr wrap="square" lIns="0" tIns="0" rIns="0" bIns="0" rtlCol="0" anchor="ctr"/>
          <a:lstStyle/>
          <a:p>
            <a:pPr indent="0" marL="0">
              <a:buNone/>
            </a:pPr>
            <a:r>
              <a:rPr lang="en-US" sz="1650" b="1" dirty="0">
                <a:solidFill>
                  <a:srgbClr val="B45309"/>
                </a:solidFill>
                <a:latin typeface="Cambria" pitchFamily="34" charset="0"/>
                <a:ea typeface="Cambria" pitchFamily="34" charset="-122"/>
                <a:cs typeface="Cambria" pitchFamily="34" charset="-120"/>
              </a:rPr>
              <a:t>Three kinds of wave</a:t>
            </a:r>
            <a:endParaRPr lang="en-US" sz="1650" dirty="0"/>
          </a:p>
        </p:txBody>
      </p:sp>
      <p:sp>
        <p:nvSpPr>
          <p:cNvPr id="10" name="Waves list"/>
          <p:cNvSpPr txBox="1"/>
          <p:nvPr/>
        </p:nvSpPr>
        <p:spPr>
          <a:xfrm>
            <a:off x="3246120" y="2212848"/>
            <a:ext cx="3840480" cy="204216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Pilot: a few simple apps plus one hard case</a:t>
            </a:r>
            <a:endParaRPr lang="en-US" sz="1400" dirty="0"/>
          </a:p>
          <a:p>
            <a:pPr marL="342900" indent="-342900">
              <a:spcAft>
                <a:spcPts val="600"/>
              </a:spcAft>
              <a:buSzPct val="100000"/>
              <a:buChar char="•"/>
            </a:pPr>
            <a:r>
              <a:rPr lang="en-US" sz="1350" dirty="0">
                <a:solidFill>
                  <a:schemeClr val="tx2"/>
                </a:solidFill>
              </a:rPr>
              <a:t>Factory waves: move groups by shared database</a:t>
            </a:r>
            <a:endParaRPr lang="en-US" sz="1400" dirty="0"/>
          </a:p>
          <a:p>
            <a:pPr marL="342900" indent="-342900">
              <a:spcAft>
                <a:spcPts val="600"/>
              </a:spcAft>
              <a:buSzPct val="100000"/>
              <a:buChar char="•"/>
            </a:pPr>
            <a:r>
              <a:rPr lang="en-US" sz="1350" dirty="0">
                <a:solidFill>
                  <a:schemeClr val="tx2"/>
                </a:solidFill>
              </a:rPr>
              <a:t>Plan five waves ahead; detail only the next</a:t>
            </a:r>
            <a:endParaRPr lang="en-US" sz="1400" dirty="0"/>
          </a:p>
          <a:p>
            <a:pPr marL="342900" indent="-342900">
              <a:spcAft>
                <a:spcPts val="600"/>
              </a:spcAft>
              <a:buSzPct val="100000"/>
              <a:buChar char="•"/>
            </a:pPr>
            <a:r>
              <a:rPr lang="en-US" sz="1350" dirty="0">
                <a:solidFill>
                  <a:schemeClr val="tx2"/>
                </a:solidFill>
              </a:rPr>
              <a:t>Long tail: an owner, a reason, a review date</a:t>
            </a:r>
            <a:endParaRPr lang="en-US" sz="1400" dirty="0"/>
          </a:p>
        </p:txBody>
      </p:sp>
      <p:sp>
        <p:nvSpPr>
          <p:cNvPr id="11" name="Factory box" descr="">
            <a:extLst>
              <a:ext uri="{C183D7F6-B498-43B3-948B-1728B52AA6E4}">
                <adec:decorative xmlns:adec="http://schemas.microsoft.com/office/drawing/2017/decorative" val="1"/>
              </a:ext>
            </a:extLst>
          </p:cNvPr>
          <p:cNvSpPr/>
          <p:nvPr/>
        </p:nvSpPr>
        <p:spPr>
          <a:xfrm>
            <a:off x="7406640" y="1371600"/>
            <a:ext cx="4251960" cy="2971800"/>
          </a:xfrm>
          <a:prstGeom prst="roundRect">
            <a:avLst>
              <a:gd name="adj" fmla="val 2462"/>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12" name="Icon FaUsersGear" descr="">
            <a:extLst>
              <a:ext uri="{C183D7F6-B498-43B3-948B-1728B52AA6E4}">
                <adec:decorative xmlns:adec="http://schemas.microsoft.com/office/drawing/2017/decorative" val="1"/>
              </a:ext>
            </a:extLst>
          </p:cNvPr>
          <p:cNvSpPr/>
          <p:nvPr/>
        </p:nvSpPr>
        <p:spPr>
          <a:xfrm>
            <a:off x="7635240" y="1517904"/>
            <a:ext cx="548640" cy="548640"/>
          </a:xfrm>
          <a:prstGeom prst="ellipse">
            <a:avLst/>
          </a:prstGeom>
          <a:solidFill>
            <a:srgbClr val="1F2A44"/>
          </a:solidFill>
          <a:ln w="12700">
            <a:solidFill>
              <a:srgbClr val="1F2A44"/>
            </a:solidFill>
            <a:prstDash val="solid"/>
          </a:ln>
        </p:spPr>
      </p:sp>
      <p:pic>
        <p:nvPicPr>
          <p:cNvPr id="13" name="Image 2" descr="">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7766914" y="1649578"/>
            <a:ext cx="285293" cy="285293"/>
          </a:xfrm>
          <a:prstGeom prst="rect">
            <a:avLst/>
          </a:prstGeom>
        </p:spPr>
      </p:pic>
      <p:sp>
        <p:nvSpPr>
          <p:cNvPr id="14" name="Factory head"/>
          <p:cNvSpPr txBox="1"/>
          <p:nvPr/>
        </p:nvSpPr>
        <p:spPr>
          <a:xfrm>
            <a:off x="8321040" y="1517904"/>
            <a:ext cx="3200400" cy="548640"/>
          </a:xfrm>
          <a:prstGeom prst="rect">
            <a:avLst/>
          </a:prstGeom>
          <a:noFill/>
          <a:ln/>
        </p:spPr>
        <p:txBody>
          <a:bodyPr wrap="square" lIns="0" tIns="0" rIns="0" bIns="0" rtlCol="0" anchor="ctr"/>
          <a:lstStyle/>
          <a:p>
            <a:pPr indent="0" marL="0">
              <a:buNone/>
            </a:pPr>
            <a:r>
              <a:rPr lang="en-US" sz="1650" b="1" dirty="0">
                <a:solidFill>
                  <a:srgbClr val="1F2A44"/>
                </a:solidFill>
                <a:latin typeface="Cambria" pitchFamily="34" charset="0"/>
                <a:ea typeface="Cambria" pitchFamily="34" charset="-122"/>
                <a:cs typeface="Cambria" pitchFamily="34" charset="-120"/>
              </a:rPr>
              <a:t>The modernization factory</a:t>
            </a:r>
            <a:endParaRPr lang="en-US" sz="1650" dirty="0"/>
          </a:p>
        </p:txBody>
      </p:sp>
      <p:sp>
        <p:nvSpPr>
          <p:cNvPr id="15" name="Factory list"/>
          <p:cNvSpPr txBox="1"/>
          <p:nvPr/>
        </p:nvSpPr>
        <p:spPr>
          <a:xfrm>
            <a:off x="7635240" y="2212848"/>
            <a:ext cx="3840480" cy="163068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Platform, patterns, pipelines, data tooling</a:t>
            </a:r>
            <a:endParaRPr lang="en-US" sz="1400" dirty="0"/>
          </a:p>
          <a:p>
            <a:pPr marL="342900" indent="-342900">
              <a:spcAft>
                <a:spcPts val="600"/>
              </a:spcAft>
              <a:buSzPct val="100000"/>
              <a:buChar char="•"/>
            </a:pPr>
            <a:r>
              <a:rPr lang="en-US" sz="1350" dirty="0">
                <a:solidFill>
                  <a:schemeClr val="tx2"/>
                </a:solidFill>
              </a:rPr>
              <a:t>Runbooks and a small portfolio team</a:t>
            </a:r>
            <a:endParaRPr lang="en-US" sz="1400" dirty="0"/>
          </a:p>
          <a:p>
            <a:pPr marL="342900" indent="-342900">
              <a:spcAft>
                <a:spcPts val="600"/>
              </a:spcAft>
              <a:buSzPct val="100000"/>
              <a:buChar char="•"/>
            </a:pPr>
            <a:r>
              <a:rPr lang="en-US" sz="1350" dirty="0">
                <a:solidFill>
                  <a:schemeClr val="tx2"/>
                </a:solidFill>
              </a:rPr>
              <a:t>Waves sized by measured throughput</a:t>
            </a:r>
            <a:endParaRPr lang="en-US" sz="1400" dirty="0"/>
          </a:p>
          <a:p>
            <a:pPr marL="342900" indent="-342900">
              <a:spcAft>
                <a:spcPts val="600"/>
              </a:spcAft>
              <a:buSzPct val="100000"/>
              <a:buChar char="•"/>
            </a:pPr>
            <a:r>
              <a:rPr lang="en-US" sz="1350" dirty="0">
                <a:solidFill>
                  <a:schemeClr val="tx2"/>
                </a:solidFill>
              </a:rPr>
              <a:t>Wave five costs less per app than wave one</a:t>
            </a:r>
            <a:endParaRPr lang="en-US" sz="1400" dirty="0"/>
          </a:p>
        </p:txBody>
      </p:sp>
      <p:sp>
        <p:nvSpPr>
          <p:cNvPr id="16" name="Decision bar" desc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7" name="Icon FaScaleBalanced" descr="">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18" name="Image 3"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903427" y="5228539"/>
            <a:ext cx="332842" cy="332842"/>
          </a:xfrm>
          <a:prstGeom prst="rect">
            <a:avLst/>
          </a:prstGeom>
        </p:spPr>
      </p:pic>
      <p:sp>
        <p:nvSpPr>
          <p:cNvPr id="19" name="Decision"/>
          <p:cNvSpPr txBox="1"/>
          <p:nvPr/>
        </p:nvSpPr>
        <p:spPr>
          <a:xfrm>
            <a:off x="1600200" y="4919472"/>
            <a:ext cx="5989320" cy="950976"/>
          </a:xfrm>
          <a:prstGeom prst="rect">
            <a:avLst/>
          </a:prstGeom>
          <a:noFill/>
          <a:ln/>
        </p:spPr>
        <p:txBody>
          <a:bodyPr wrap="square" lIns="0" tIns="0" rIns="0" bIns="0" rtlCol="0" anchor="ctr"/>
          <a:lstStyle/>
          <a:p>
            <a:pPr indent="0" marL="0">
              <a:buNone/>
            </a:pPr>
            <a:r>
              <a:rPr lang="en-US" sz="1100" b="1" spc="100" kern="0" dirty="0">
                <a:solidFill>
                  <a:srgbClr val="B45309"/>
                </a:solidFill>
              </a:rPr>
              <a:t>DECISION</a:t>
            </a:r>
            <a:endParaRPr lang="en-US" sz="1400" dirty="0"/>
          </a:p>
          <a:p>
            <a:pPr indent="0" marL="0">
              <a:buNone/>
            </a:pPr>
            <a:r>
              <a:rPr lang="en-US" sz="1400" dirty="0">
                <a:solidFill>
                  <a:srgbClr val="334155"/>
                </a:solidFill>
              </a:rPr>
              <a:t>Run a pilot wave of three to five simple applications plus one representative hard case, and size later waves by measured throughput</a:t>
            </a:r>
            <a:endParaRPr lang="en-US" sz="1400" dirty="0"/>
          </a:p>
        </p:txBody>
      </p:sp>
      <p:sp>
        <p:nvSpPr>
          <p:cNvPr id="20" name="Owner"/>
          <p:cNvSpPr txBox="1"/>
          <p:nvPr/>
        </p:nvSpPr>
        <p:spPr>
          <a:xfrm>
            <a:off x="7772400" y="4919472"/>
            <a:ext cx="1920240" cy="950976"/>
          </a:xfrm>
          <a:prstGeom prst="rect">
            <a:avLst/>
          </a:prstGeom>
          <a:noFill/>
          <a:ln/>
        </p:spPr>
        <p:txBody>
          <a:bodyPr wrap="square" lIns="0" tIns="0" rIns="0" bIns="0" rtlCol="0" anchor="ctr"/>
          <a:lstStyle/>
          <a:p>
            <a:pPr indent="0" marL="0">
              <a:buNone/>
            </a:pPr>
            <a:r>
              <a:rPr lang="en-US" sz="1100" b="1" spc="100" kern="0" dirty="0">
                <a:solidFill>
                  <a:srgbClr val="0F766E"/>
                </a:solidFill>
              </a:rPr>
              <a:t>OWNER</a:t>
            </a:r>
            <a:endParaRPr lang="en-US" sz="1400" dirty="0"/>
          </a:p>
          <a:p>
            <a:pPr indent="0" marL="0">
              <a:buNone/>
            </a:pPr>
            <a:r>
              <a:rPr lang="en-US" sz="1400" dirty="0">
                <a:solidFill>
                  <a:srgbClr val="334155"/>
                </a:solidFill>
              </a:rPr>
              <a:t>Steward and executive sponsor clear G2</a:t>
            </a:r>
            <a:endParaRPr lang="en-US" sz="1400" dirty="0"/>
          </a:p>
        </p:txBody>
      </p:sp>
      <p:sp>
        <p:nvSpPr>
          <p:cNvPr id="21" name="When"/>
          <p:cNvSpPr txBox="1"/>
          <p:nvPr/>
        </p:nvSpPr>
        <p:spPr>
          <a:xfrm>
            <a:off x="9784080" y="4919472"/>
            <a:ext cx="1783080" cy="950976"/>
          </a:xfrm>
          <a:prstGeom prst="rect">
            <a:avLst/>
          </a:prstGeom>
          <a:noFill/>
          <a:ln/>
        </p:spPr>
        <p:txBody>
          <a:bodyPr wrap="square" lIns="0" tIns="0" rIns="0" bIns="0" rtlCol="0" anchor="ctr"/>
          <a:lstStyle/>
          <a:p>
            <a:pPr indent="0" marL="0">
              <a:buNone/>
            </a:pPr>
            <a:r>
              <a:rPr lang="en-US" sz="1100" b="1" spc="100" kern="0" dirty="0">
                <a:solidFill>
                  <a:srgbClr val="1F2A44"/>
                </a:solidFill>
              </a:rPr>
              <a:t>WHEN</a:t>
            </a:r>
            <a:endParaRPr lang="en-US" sz="1400" dirty="0"/>
          </a:p>
          <a:p>
            <a:pPr indent="0" marL="0">
              <a:buNone/>
            </a:pPr>
            <a:r>
              <a:rPr lang="en-US" sz="1400" dirty="0">
                <a:solidFill>
                  <a:srgbClr val="334155"/>
                </a:solidFill>
              </a:rPr>
              <a:t>Phase 2, at gate G2</a:t>
            </a:r>
            <a:endParaRPr lang="en-US" sz="1400" dirty="0"/>
          </a:p>
        </p:txBody>
      </p:sp>
      <p:sp>
        <p:nvSpPr>
          <p:cNvPr id="22" name="Sources"/>
          <p:cNvSpPr txBox="1"/>
          <p:nvPr/>
        </p:nvSpPr>
        <p:spPr>
          <a:xfrm>
            <a:off x="548640" y="6053328"/>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AWS Prescriptive Guidance (wave planning; large-migration phases); Microsoft CAF (wave planning; plan your migration). Book 18, Chapter 10.</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Fund by wave, and measure from records</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6309360" cy="914400"/>
        </p:xfrm>
        <a:graphic>
          <a:graphicData uri="http://schemas.openxmlformats.org/drawingml/2006/table">
            <a:tbl>
              <a:tblPr firstRow="1" bandRow="1"/>
              <a:tblGrid>
                <a:gridCol w="2377440"/>
                <a:gridCol w="2103120"/>
                <a:gridCol w="1828800"/>
              </a:tblGrid>
              <a:tr h="347472">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Metric</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Source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Read by</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365760">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Applications dispositioned</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Triage record</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Sponsor, CIO</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65760">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Applications retired</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Retirement records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Sponsor, CFO</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65760">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Applications modernized</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Gate records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Steering committee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65760">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First-run validations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Validation reports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Data lead, steward</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65760">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O&amp;M cost avoided</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Budget data</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Sponsor, CFO, TMF</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65760">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Time to authorization</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Gate and ATO records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CISO, AO</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65760">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Long-tail health</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Triage record</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Steward</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Fund box" descr="">
            <a:extLst>
              <a:ext uri="{C183D7F6-B498-43B3-948B-1728B52AA6E4}">
                <adec:decorative xmlns:adec="http://schemas.microsoft.com/office/drawing/2017/decorative" val="1"/>
              </a:ext>
            </a:extLst>
          </p:cNvPr>
          <p:cNvSpPr/>
          <p:nvPr/>
        </p:nvSpPr>
        <p:spPr>
          <a:xfrm>
            <a:off x="7086600" y="1371600"/>
            <a:ext cx="4572000" cy="2971800"/>
          </a:xfrm>
          <a:prstGeom prst="roundRect">
            <a:avLst>
              <a:gd name="adj" fmla="val 2462"/>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7" name="Icon FaBuildingColumns" descr="">
            <a:extLst>
              <a:ext uri="{C183D7F6-B498-43B3-948B-1728B52AA6E4}">
                <adec:decorative xmlns:adec="http://schemas.microsoft.com/office/drawing/2017/decorative" val="1"/>
              </a:ext>
            </a:extLst>
          </p:cNvPr>
          <p:cNvSpPr/>
          <p:nvPr/>
        </p:nvSpPr>
        <p:spPr>
          <a:xfrm>
            <a:off x="7315200" y="1517904"/>
            <a:ext cx="548640" cy="548640"/>
          </a:xfrm>
          <a:prstGeom prst="ellipse">
            <a:avLst/>
          </a:prstGeom>
          <a:solidFill>
            <a:srgbClr val="0F766E"/>
          </a:solidFill>
          <a:ln w="12700">
            <a:solidFill>
              <a:srgbClr val="0F766E"/>
            </a:solidFill>
            <a:prstDash val="solid"/>
          </a:ln>
        </p:spPr>
      </p:sp>
      <p:pic>
        <p:nvPicPr>
          <p:cNvPr id="8"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7446874" y="1649578"/>
            <a:ext cx="285293" cy="285293"/>
          </a:xfrm>
          <a:prstGeom prst="rect">
            <a:avLst/>
          </a:prstGeom>
        </p:spPr>
      </p:pic>
      <p:sp>
        <p:nvSpPr>
          <p:cNvPr id="9" name="Fund head"/>
          <p:cNvSpPr txBox="1"/>
          <p:nvPr/>
        </p:nvSpPr>
        <p:spPr>
          <a:xfrm>
            <a:off x="8001000" y="1517904"/>
            <a:ext cx="3520440" cy="548640"/>
          </a:xfrm>
          <a:prstGeom prst="rect">
            <a:avLst/>
          </a:prstGeom>
          <a:noFill/>
          <a:ln/>
        </p:spPr>
        <p:txBody>
          <a:bodyPr wrap="square" lIns="0" tIns="0" rIns="0" bIns="0" rtlCol="0" anchor="ctr"/>
          <a:lstStyle/>
          <a:p>
            <a:pPr indent="0" marL="0">
              <a:buNone/>
            </a:pPr>
            <a:r>
              <a:rPr lang="en-US" sz="1650" b="1" dirty="0">
                <a:solidFill>
                  <a:srgbClr val="0F766E"/>
                </a:solidFill>
                <a:latin typeface="Cambria" pitchFamily="34" charset="0"/>
                <a:ea typeface="Cambria" pitchFamily="34" charset="-122"/>
                <a:cs typeface="Cambria" pitchFamily="34" charset="-120"/>
              </a:rPr>
              <a:t>Paying for the waves</a:t>
            </a:r>
            <a:endParaRPr lang="en-US" sz="1650" dirty="0"/>
          </a:p>
        </p:txBody>
      </p:sp>
      <p:sp>
        <p:nvSpPr>
          <p:cNvPr id="10" name="Fund list"/>
          <p:cNvSpPr txBox="1"/>
          <p:nvPr/>
        </p:nvSpPr>
        <p:spPr>
          <a:xfrm>
            <a:off x="7315200" y="2212848"/>
            <a:ext cx="4160520" cy="204216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TMF: improve, retire or replace; usually under $25M</a:t>
            </a:r>
            <a:endParaRPr lang="en-US" sz="1400" dirty="0"/>
          </a:p>
          <a:p>
            <a:pPr marL="342900" indent="-342900">
              <a:spcAft>
                <a:spcPts val="600"/>
              </a:spcAft>
              <a:buSzPct val="100000"/>
              <a:buChar char="•"/>
            </a:pPr>
            <a:r>
              <a:rPr lang="en-US" sz="1350" dirty="0">
                <a:solidFill>
                  <a:schemeClr val="tx2"/>
                </a:solidFill>
              </a:rPr>
              <a:t>Five-year repayment; results within 12 months</a:t>
            </a:r>
            <a:endParaRPr lang="en-US" sz="1400" dirty="0"/>
          </a:p>
          <a:p>
            <a:pPr marL="342900" indent="-342900">
              <a:spcAft>
                <a:spcPts val="600"/>
              </a:spcAft>
              <a:buSzPct val="100000"/>
              <a:buChar char="•"/>
            </a:pPr>
            <a:r>
              <a:rPr lang="en-US" sz="1350" dirty="0">
                <a:solidFill>
                  <a:schemeClr val="tx2"/>
                </a:solidFill>
              </a:rPr>
              <a:t>Working capital funds: savings pay the next wave</a:t>
            </a:r>
            <a:endParaRPr lang="en-US" sz="1400" dirty="0"/>
          </a:p>
          <a:p>
            <a:pPr marL="342900" indent="-342900">
              <a:spcAft>
                <a:spcPts val="600"/>
              </a:spcAft>
              <a:buSzPct val="100000"/>
              <a:buChar char="•"/>
            </a:pPr>
            <a:r>
              <a:rPr lang="en-US" sz="1350" dirty="0">
                <a:solidFill>
                  <a:schemeClr val="tx2"/>
                </a:solidFill>
              </a:rPr>
              <a:t>Cost avoided counts once the old system is off</a:t>
            </a:r>
            <a:endParaRPr lang="en-US" sz="1400" dirty="0"/>
          </a:p>
        </p:txBody>
      </p:sp>
      <p:sp>
        <p:nvSpPr>
          <p:cNvPr id="11" name="Decision bar" desc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2" name="Icon FaScaleBalanced" descr="">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13"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903427" y="5228539"/>
            <a:ext cx="332842" cy="332842"/>
          </a:xfrm>
          <a:prstGeom prst="rect">
            <a:avLst/>
          </a:prstGeom>
        </p:spPr>
      </p:pic>
      <p:sp>
        <p:nvSpPr>
          <p:cNvPr id="14" name="Decision"/>
          <p:cNvSpPr txBox="1"/>
          <p:nvPr/>
        </p:nvSpPr>
        <p:spPr>
          <a:xfrm>
            <a:off x="1600200" y="4919472"/>
            <a:ext cx="5989320" cy="950976"/>
          </a:xfrm>
          <a:prstGeom prst="rect">
            <a:avLst/>
          </a:prstGeom>
          <a:noFill/>
          <a:ln/>
        </p:spPr>
        <p:txBody>
          <a:bodyPr wrap="square" lIns="0" tIns="0" rIns="0" bIns="0" rtlCol="0" anchor="ctr"/>
          <a:lstStyle/>
          <a:p>
            <a:pPr indent="0" marL="0">
              <a:buNone/>
            </a:pPr>
            <a:r>
              <a:rPr lang="en-US" sz="1100" b="1" spc="100" kern="0" dirty="0">
                <a:solidFill>
                  <a:srgbClr val="B45309"/>
                </a:solidFill>
              </a:rPr>
              <a:t>DECISION</a:t>
            </a:r>
            <a:endParaRPr lang="en-US" sz="1400" dirty="0"/>
          </a:p>
          <a:p>
            <a:pPr indent="0" marL="0">
              <a:buNone/>
            </a:pPr>
            <a:r>
              <a:rPr lang="en-US" sz="1400" dirty="0">
                <a:solidFill>
                  <a:srgbClr val="334155"/>
                </a:solidFill>
              </a:rPr>
              <a:t>Sign the wave plan, fund it wave by wave, and re-score the whole portfolio every year in step with the budget cycle</a:t>
            </a:r>
            <a:endParaRPr lang="en-US" sz="1400" dirty="0"/>
          </a:p>
        </p:txBody>
      </p:sp>
      <p:sp>
        <p:nvSpPr>
          <p:cNvPr id="15" name="Owner"/>
          <p:cNvSpPr txBox="1"/>
          <p:nvPr/>
        </p:nvSpPr>
        <p:spPr>
          <a:xfrm>
            <a:off x="7772400" y="4919472"/>
            <a:ext cx="1920240" cy="950976"/>
          </a:xfrm>
          <a:prstGeom prst="rect">
            <a:avLst/>
          </a:prstGeom>
          <a:noFill/>
          <a:ln/>
        </p:spPr>
        <p:txBody>
          <a:bodyPr wrap="square" lIns="0" tIns="0" rIns="0" bIns="0" rtlCol="0" anchor="ctr"/>
          <a:lstStyle/>
          <a:p>
            <a:pPr indent="0" marL="0">
              <a:buNone/>
            </a:pPr>
            <a:r>
              <a:rPr lang="en-US" sz="1100" b="1" spc="100" kern="0" dirty="0">
                <a:solidFill>
                  <a:srgbClr val="0F766E"/>
                </a:solidFill>
              </a:rPr>
              <a:t>OWNER</a:t>
            </a:r>
            <a:endParaRPr lang="en-US" sz="1400" dirty="0"/>
          </a:p>
          <a:p>
            <a:pPr indent="0" marL="0">
              <a:buNone/>
            </a:pPr>
            <a:r>
              <a:rPr lang="en-US" sz="1400" dirty="0">
                <a:solidFill>
                  <a:srgbClr val="334155"/>
                </a:solidFill>
              </a:rPr>
              <a:t>CIO</a:t>
            </a:r>
            <a:endParaRPr lang="en-US" sz="1400" dirty="0"/>
          </a:p>
        </p:txBody>
      </p:sp>
      <p:sp>
        <p:nvSpPr>
          <p:cNvPr id="16" name="When"/>
          <p:cNvSpPr txBox="1"/>
          <p:nvPr/>
        </p:nvSpPr>
        <p:spPr>
          <a:xfrm>
            <a:off x="9784080" y="4919472"/>
            <a:ext cx="1783080" cy="950976"/>
          </a:xfrm>
          <a:prstGeom prst="rect">
            <a:avLst/>
          </a:prstGeom>
          <a:noFill/>
          <a:ln/>
        </p:spPr>
        <p:txBody>
          <a:bodyPr wrap="square" lIns="0" tIns="0" rIns="0" bIns="0" rtlCol="0" anchor="ctr"/>
          <a:lstStyle/>
          <a:p>
            <a:pPr indent="0" marL="0">
              <a:buNone/>
            </a:pPr>
            <a:r>
              <a:rPr lang="en-US" sz="1100" b="1" spc="100" kern="0" dirty="0">
                <a:solidFill>
                  <a:srgbClr val="1F2A44"/>
                </a:solidFill>
              </a:rPr>
              <a:t>WHEN</a:t>
            </a:r>
            <a:endParaRPr lang="en-US" sz="1400" dirty="0"/>
          </a:p>
          <a:p>
            <a:pPr indent="0" marL="0">
              <a:buNone/>
            </a:pPr>
            <a:r>
              <a:rPr lang="en-US" sz="1400" dirty="0">
                <a:solidFill>
                  <a:srgbClr val="334155"/>
                </a:solidFill>
              </a:rPr>
              <a:t>Each budget cycle</a:t>
            </a:r>
            <a:endParaRPr lang="en-US" sz="1400" dirty="0"/>
          </a:p>
        </p:txBody>
      </p:sp>
      <p:sp>
        <p:nvSpPr>
          <p:cNvPr id="17" name="Sources"/>
          <p:cNvSpPr txBox="1"/>
          <p:nvPr/>
        </p:nvSpPr>
        <p:spPr>
          <a:xfrm>
            <a:off x="548640" y="6053328"/>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TMF fit, process and 2026 call; MGT Act (Pub. L. 115-91 §1077); 40 U.S.C. §11312; OMB M-26-10; DORA metrics. Book 18, Chapters 02 and 10.</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Decisions to make, owners and timing</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11109960" cy="914400"/>
        </p:xfrm>
        <a:graphic>
          <a:graphicData uri="http://schemas.openxmlformats.org/drawingml/2006/table">
            <a:tbl>
              <a:tblPr firstRow="1" bandRow="1"/>
              <a:tblGrid>
                <a:gridCol w="6035040"/>
                <a:gridCol w="2926080"/>
                <a:gridCol w="2148840"/>
              </a:tblGrid>
              <a:tr h="310896">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Decision</a:t>
                      </a:r>
                      <a:endParaRPr lang="en-US" sz="1150" dirty="0">
                        <a:latin typeface="Calibri" charset="0"/>
                        <a:ea typeface="Calibri" charset="0"/>
                        <a:cs typeface="Calibri" charset="0"/>
                      </a:endParaRPr>
                    </a:p>
                  </a:txBody>
                  <a:tcPr marL="91440" marR="91440" marT="27432" marB="27432"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Owner</a:t>
                      </a:r>
                      <a:endParaRPr lang="en-US" sz="1150" dirty="0">
                        <a:latin typeface="Calibri" charset="0"/>
                        <a:ea typeface="Calibri" charset="0"/>
                        <a:cs typeface="Calibri" charset="0"/>
                      </a:endParaRPr>
                    </a:p>
                  </a:txBody>
                  <a:tcPr marL="91440" marR="91440" marT="27432" marB="27432"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When</a:t>
                      </a:r>
                      <a:endParaRPr lang="en-US" sz="1150" dirty="0">
                        <a:latin typeface="Calibri" charset="0"/>
                        <a:ea typeface="Calibri" charset="0"/>
                        <a:cs typeface="Calibri" charset="0"/>
                      </a:endParaRPr>
                    </a:p>
                  </a:txBody>
                  <a:tcPr marL="91440" marR="91440" marT="27432" marB="27432"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265176">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Approve no proposal that waits on a single cut-over</a:t>
                      </a:r>
                      <a:endParaRPr lang="en-US" sz="1150" dirty="0">
                        <a:latin typeface="Calibri" charset="0"/>
                        <a:ea typeface="Calibri" charset="0"/>
                        <a:cs typeface="Calibri" charset="0"/>
                      </a:endParaRPr>
                    </a:p>
                  </a:txBody>
                  <a:tcPr marL="91440" marR="91440" marT="27432" marB="27432"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b="1" dirty="0">
                          <a:solidFill>
                            <a:srgbClr val="0F766E"/>
                          </a:solidFill>
                          <a:latin typeface="Calibri" pitchFamily="34" charset="0"/>
                          <a:ea typeface="Calibri" pitchFamily="34" charset="-122"/>
                          <a:cs typeface="Calibri" pitchFamily="34" charset="-120"/>
                        </a:rPr>
                        <a:t>CIO</a:t>
                      </a:r>
                      <a:endParaRPr lang="en-US" sz="1150" dirty="0">
                        <a:latin typeface="Calibri" charset="0"/>
                        <a:ea typeface="Calibri" charset="0"/>
                        <a:cs typeface="Calibri" charset="0"/>
                      </a:endParaRPr>
                    </a:p>
                  </a:txBody>
                  <a:tcPr marL="91440" marR="91440" marT="27432" marB="27432"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Before any contract</a:t>
                      </a:r>
                      <a:endParaRPr lang="en-US" sz="1150" dirty="0">
                        <a:latin typeface="Calibri" charset="0"/>
                        <a:ea typeface="Calibri" charset="0"/>
                        <a:cs typeface="Calibri" charset="0"/>
                      </a:endParaRPr>
                    </a:p>
                  </a:txBody>
                  <a:tcPr marL="91440" marR="91440" marT="27432" marB="27432"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265176">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Start with the inventory: an owner and a disposition for each</a:t>
                      </a:r>
                      <a:endParaRPr lang="en-US" sz="1150" dirty="0">
                        <a:latin typeface="Calibri" charset="0"/>
                        <a:ea typeface="Calibri" charset="0"/>
                        <a:cs typeface="Calibri" charset="0"/>
                      </a:endParaRPr>
                    </a:p>
                  </a:txBody>
                  <a:tcPr marL="91440" marR="91440" marT="27432" marB="27432"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b="1" dirty="0">
                          <a:solidFill>
                            <a:srgbClr val="0F766E"/>
                          </a:solidFill>
                          <a:latin typeface="Calibri" pitchFamily="34" charset="0"/>
                          <a:ea typeface="Calibri" pitchFamily="34" charset="-122"/>
                          <a:cs typeface="Calibri" pitchFamily="34" charset="-120"/>
                        </a:rPr>
                        <a:t>Steward; sponsor and CIO</a:t>
                      </a:r>
                      <a:endParaRPr lang="en-US" sz="1150" dirty="0">
                        <a:latin typeface="Calibri" charset="0"/>
                        <a:ea typeface="Calibri" charset="0"/>
                        <a:cs typeface="Calibri" charset="0"/>
                      </a:endParaRPr>
                    </a:p>
                  </a:txBody>
                  <a:tcPr marL="91440" marR="91440" marT="27432" marB="27432"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Phase 0, gate G0</a:t>
                      </a:r>
                      <a:endParaRPr lang="en-US" sz="1150" dirty="0">
                        <a:latin typeface="Calibri" charset="0"/>
                        <a:ea typeface="Calibri" charset="0"/>
                        <a:cs typeface="Calibri" charset="0"/>
                      </a:endParaRPr>
                    </a:p>
                  </a:txBody>
                  <a:tcPr marL="91440" marR="91440" marT="27432" marB="27432"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265176">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Agree the rubric once; rule only on the contested cases</a:t>
                      </a:r>
                      <a:endParaRPr lang="en-US" sz="1150" dirty="0">
                        <a:latin typeface="Calibri" charset="0"/>
                        <a:ea typeface="Calibri" charset="0"/>
                        <a:cs typeface="Calibri" charset="0"/>
                      </a:endParaRPr>
                    </a:p>
                  </a:txBody>
                  <a:tcPr marL="91440" marR="91440" marT="27432" marB="27432"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b="1" dirty="0">
                          <a:solidFill>
                            <a:srgbClr val="0F766E"/>
                          </a:solidFill>
                          <a:latin typeface="Calibri" pitchFamily="34" charset="0"/>
                          <a:ea typeface="Calibri" pitchFamily="34" charset="-122"/>
                          <a:cs typeface="Calibri" pitchFamily="34" charset="-120"/>
                        </a:rPr>
                        <a:t>Leadership; app owners sign</a:t>
                      </a:r>
                      <a:endParaRPr lang="en-US" sz="1150" dirty="0">
                        <a:latin typeface="Calibri" charset="0"/>
                        <a:ea typeface="Calibri" charset="0"/>
                        <a:cs typeface="Calibri" charset="0"/>
                      </a:endParaRPr>
                    </a:p>
                  </a:txBody>
                  <a:tcPr marL="91440" marR="91440" marT="27432" marB="27432"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Before scoring</a:t>
                      </a:r>
                      <a:endParaRPr lang="en-US" sz="1150" dirty="0">
                        <a:latin typeface="Calibri" charset="0"/>
                        <a:ea typeface="Calibri" charset="0"/>
                        <a:cs typeface="Calibri" charset="0"/>
                      </a:endParaRPr>
                    </a:p>
                  </a:txBody>
                  <a:tcPr marL="91440" marR="91440" marT="27432" marB="27432"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265176">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One target stack, with platform upgrades budgeted</a:t>
                      </a:r>
                      <a:endParaRPr lang="en-US" sz="1150" dirty="0">
                        <a:latin typeface="Calibri" charset="0"/>
                        <a:ea typeface="Calibri" charset="0"/>
                        <a:cs typeface="Calibri" charset="0"/>
                      </a:endParaRPr>
                    </a:p>
                  </a:txBody>
                  <a:tcPr marL="91440" marR="91440" marT="27432" marB="27432"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b="1" dirty="0">
                          <a:solidFill>
                            <a:srgbClr val="0F766E"/>
                          </a:solidFill>
                          <a:latin typeface="Calibri" pitchFamily="34" charset="0"/>
                          <a:ea typeface="Calibri" pitchFamily="34" charset="-122"/>
                          <a:cs typeface="Calibri" pitchFamily="34" charset="-120"/>
                        </a:rPr>
                        <a:t>Chief architect; CIO</a:t>
                      </a:r>
                      <a:endParaRPr lang="en-US" sz="1150" dirty="0">
                        <a:latin typeface="Calibri" charset="0"/>
                        <a:ea typeface="Calibri" charset="0"/>
                        <a:cs typeface="Calibri" charset="0"/>
                      </a:endParaRPr>
                    </a:p>
                  </a:txBody>
                  <a:tcPr marL="91440" marR="91440" marT="27432" marB="27432"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Before first refactor</a:t>
                      </a:r>
                      <a:endParaRPr lang="en-US" sz="1150" dirty="0">
                        <a:latin typeface="Calibri" charset="0"/>
                        <a:ea typeface="Calibri" charset="0"/>
                        <a:cs typeface="Calibri" charset="0"/>
                      </a:endParaRPr>
                    </a:p>
                  </a:txBody>
                  <a:tcPr marL="91440" marR="91440" marT="27432" marB="27432"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265176">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Every refactor names its façade and when rollback ends</a:t>
                      </a:r>
                      <a:endParaRPr lang="en-US" sz="1150" dirty="0">
                        <a:latin typeface="Calibri" charset="0"/>
                        <a:ea typeface="Calibri" charset="0"/>
                        <a:cs typeface="Calibri" charset="0"/>
                      </a:endParaRPr>
                    </a:p>
                  </a:txBody>
                  <a:tcPr marL="91440" marR="91440" marT="27432" marB="27432"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b="1" dirty="0">
                          <a:solidFill>
                            <a:srgbClr val="0F766E"/>
                          </a:solidFill>
                          <a:latin typeface="Calibri" pitchFamily="34" charset="0"/>
                          <a:ea typeface="Calibri" pitchFamily="34" charset="-122"/>
                          <a:cs typeface="Calibri" pitchFamily="34" charset="-120"/>
                        </a:rPr>
                        <a:t>Chief architect or delegate</a:t>
                      </a:r>
                      <a:endParaRPr lang="en-US" sz="1150" dirty="0">
                        <a:latin typeface="Calibri" charset="0"/>
                        <a:ea typeface="Calibri" charset="0"/>
                        <a:cs typeface="Calibri" charset="0"/>
                      </a:endParaRPr>
                    </a:p>
                  </a:txBody>
                  <a:tcPr marL="91440" marR="91440" marT="27432" marB="27432"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Gate 2</a:t>
                      </a:r>
                      <a:endParaRPr lang="en-US" sz="1150" dirty="0">
                        <a:latin typeface="Calibri" charset="0"/>
                        <a:ea typeface="Calibri" charset="0"/>
                        <a:cs typeface="Calibri" charset="0"/>
                      </a:endParaRPr>
                    </a:p>
                  </a:txBody>
                  <a:tcPr marL="91440" marR="91440" marT="27432" marB="27432"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265176">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Three validation results before every cut-over</a:t>
                      </a:r>
                      <a:endParaRPr lang="en-US" sz="1150" dirty="0">
                        <a:latin typeface="Calibri" charset="0"/>
                        <a:ea typeface="Calibri" charset="0"/>
                        <a:cs typeface="Calibri" charset="0"/>
                      </a:endParaRPr>
                    </a:p>
                  </a:txBody>
                  <a:tcPr marL="91440" marR="91440" marT="27432" marB="27432"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b="1" dirty="0">
                          <a:solidFill>
                            <a:srgbClr val="0F766E"/>
                          </a:solidFill>
                          <a:latin typeface="Calibri" pitchFamily="34" charset="0"/>
                          <a:ea typeface="Calibri" pitchFamily="34" charset="-122"/>
                          <a:cs typeface="Calibri" pitchFamily="34" charset="-120"/>
                        </a:rPr>
                        <a:t>App owner and the AO</a:t>
                      </a:r>
                      <a:endParaRPr lang="en-US" sz="1150" dirty="0">
                        <a:latin typeface="Calibri" charset="0"/>
                        <a:ea typeface="Calibri" charset="0"/>
                        <a:cs typeface="Calibri" charset="0"/>
                      </a:endParaRPr>
                    </a:p>
                  </a:txBody>
                  <a:tcPr marL="91440" marR="91440" marT="27432" marB="27432"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Before cut-over</a:t>
                      </a:r>
                      <a:endParaRPr lang="en-US" sz="1150" dirty="0">
                        <a:latin typeface="Calibri" charset="0"/>
                        <a:ea typeface="Calibri" charset="0"/>
                        <a:cs typeface="Calibri" charset="0"/>
                      </a:endParaRPr>
                    </a:p>
                  </a:txBody>
                  <a:tcPr marL="91440" marR="91440" marT="27432" marB="27432"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265176">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No dual writes; settle each engine before dates</a:t>
                      </a:r>
                      <a:endParaRPr lang="en-US" sz="1150" dirty="0">
                        <a:latin typeface="Calibri" charset="0"/>
                        <a:ea typeface="Calibri" charset="0"/>
                        <a:cs typeface="Calibri" charset="0"/>
                      </a:endParaRPr>
                    </a:p>
                  </a:txBody>
                  <a:tcPr marL="91440" marR="91440" marT="27432" marB="27432"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b="1" dirty="0">
                          <a:solidFill>
                            <a:srgbClr val="0F766E"/>
                          </a:solidFill>
                          <a:latin typeface="Calibri" pitchFamily="34" charset="0"/>
                          <a:ea typeface="Calibri" pitchFamily="34" charset="-122"/>
                          <a:cs typeface="Calibri" pitchFamily="34" charset="-120"/>
                        </a:rPr>
                        <a:t>Chief architect</a:t>
                      </a:r>
                      <a:endParaRPr lang="en-US" sz="1150" dirty="0">
                        <a:latin typeface="Calibri" charset="0"/>
                        <a:ea typeface="Calibri" charset="0"/>
                        <a:cs typeface="Calibri" charset="0"/>
                      </a:endParaRPr>
                    </a:p>
                  </a:txBody>
                  <a:tcPr marL="91440" marR="91440" marT="27432" marB="27432"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Before the wave plan</a:t>
                      </a:r>
                      <a:endParaRPr lang="en-US" sz="1150" dirty="0">
                        <a:latin typeface="Calibri" charset="0"/>
                        <a:ea typeface="Calibri" charset="0"/>
                        <a:cs typeface="Calibri" charset="0"/>
                      </a:endParaRPr>
                    </a:p>
                  </a:txBody>
                  <a:tcPr marL="91440" marR="91440" marT="27432" marB="27432"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265176">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Agents propose, never write; every agent has a sponsor</a:t>
                      </a:r>
                      <a:endParaRPr lang="en-US" sz="1150" dirty="0">
                        <a:latin typeface="Calibri" charset="0"/>
                        <a:ea typeface="Calibri" charset="0"/>
                        <a:cs typeface="Calibri" charset="0"/>
                      </a:endParaRPr>
                    </a:p>
                  </a:txBody>
                  <a:tcPr marL="91440" marR="91440" marT="27432" marB="27432"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b="1" dirty="0">
                          <a:solidFill>
                            <a:srgbClr val="0F766E"/>
                          </a:solidFill>
                          <a:latin typeface="Calibri" pitchFamily="34" charset="0"/>
                          <a:ea typeface="Calibri" pitchFamily="34" charset="-122"/>
                          <a:cs typeface="Calibri" pitchFamily="34" charset="-120"/>
                        </a:rPr>
                        <a:t>Chief architect</a:t>
                      </a:r>
                      <a:endParaRPr lang="en-US" sz="1150" dirty="0">
                        <a:latin typeface="Calibri" charset="0"/>
                        <a:ea typeface="Calibri" charset="0"/>
                        <a:cs typeface="Calibri" charset="0"/>
                      </a:endParaRPr>
                    </a:p>
                  </a:txBody>
                  <a:tcPr marL="91440" marR="91440" marT="27432" marB="27432"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Before the first agent</a:t>
                      </a:r>
                      <a:endParaRPr lang="en-US" sz="1150" dirty="0">
                        <a:latin typeface="Calibri" charset="0"/>
                        <a:ea typeface="Calibri" charset="0"/>
                        <a:cs typeface="Calibri" charset="0"/>
                      </a:endParaRPr>
                    </a:p>
                  </a:txBody>
                  <a:tcPr marL="91440" marR="91440" marT="27432" marB="27432"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265176">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Unsupported software is a finding with a plan and a date</a:t>
                      </a:r>
                      <a:endParaRPr lang="en-US" sz="1150" dirty="0">
                        <a:latin typeface="Calibri" charset="0"/>
                        <a:ea typeface="Calibri" charset="0"/>
                        <a:cs typeface="Calibri" charset="0"/>
                      </a:endParaRPr>
                    </a:p>
                  </a:txBody>
                  <a:tcPr marL="91440" marR="91440" marT="27432" marB="27432"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b="1" dirty="0">
                          <a:solidFill>
                            <a:srgbClr val="0F766E"/>
                          </a:solidFill>
                          <a:latin typeface="Calibri" pitchFamily="34" charset="0"/>
                          <a:ea typeface="Calibri" pitchFamily="34" charset="-122"/>
                          <a:cs typeface="Calibri" pitchFamily="34" charset="-120"/>
                        </a:rPr>
                        <a:t>App owner; the AO accepts</a:t>
                      </a:r>
                      <a:endParaRPr lang="en-US" sz="1150" dirty="0">
                        <a:latin typeface="Calibri" charset="0"/>
                        <a:ea typeface="Calibri" charset="0"/>
                        <a:cs typeface="Calibri" charset="0"/>
                      </a:endParaRPr>
                    </a:p>
                  </a:txBody>
                  <a:tcPr marL="91440" marR="91440" marT="27432" marB="27432"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Triage; review dates</a:t>
                      </a:r>
                      <a:endParaRPr lang="en-US" sz="1150" dirty="0">
                        <a:latin typeface="Calibri" charset="0"/>
                        <a:ea typeface="Calibri" charset="0"/>
                        <a:cs typeface="Calibri" charset="0"/>
                      </a:endParaRPr>
                    </a:p>
                  </a:txBody>
                  <a:tcPr marL="91440" marR="91440" marT="27432" marB="27432"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265176">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Privacy and records events go to design review</a:t>
                      </a:r>
                      <a:endParaRPr lang="en-US" sz="1150" dirty="0">
                        <a:latin typeface="Calibri" charset="0"/>
                        <a:ea typeface="Calibri" charset="0"/>
                        <a:cs typeface="Calibri" charset="0"/>
                      </a:endParaRPr>
                    </a:p>
                  </a:txBody>
                  <a:tcPr marL="91440" marR="91440" marT="27432" marB="27432"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b="1" dirty="0">
                          <a:solidFill>
                            <a:srgbClr val="0F766E"/>
                          </a:solidFill>
                          <a:latin typeface="Calibri" pitchFamily="34" charset="0"/>
                          <a:ea typeface="Calibri" pitchFamily="34" charset="-122"/>
                          <a:cs typeface="Calibri" pitchFamily="34" charset="-120"/>
                        </a:rPr>
                        <a:t>Privacy and records officials</a:t>
                      </a:r>
                      <a:endParaRPr lang="en-US" sz="1150" dirty="0">
                        <a:latin typeface="Calibri" charset="0"/>
                        <a:ea typeface="Calibri" charset="0"/>
                        <a:cs typeface="Calibri" charset="0"/>
                      </a:endParaRPr>
                    </a:p>
                  </a:txBody>
                  <a:tcPr marL="91440" marR="91440" marT="27432" marB="27432"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Gate 2</a:t>
                      </a:r>
                      <a:endParaRPr lang="en-US" sz="1150" dirty="0">
                        <a:latin typeface="Calibri" charset="0"/>
                        <a:ea typeface="Calibri" charset="0"/>
                        <a:cs typeface="Calibri" charset="0"/>
                      </a:endParaRPr>
                    </a:p>
                  </a:txBody>
                  <a:tcPr marL="91440" marR="91440" marT="27432" marB="27432"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265176">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Charter the board; one decider per decision</a:t>
                      </a:r>
                      <a:endParaRPr lang="en-US" sz="1150" dirty="0">
                        <a:latin typeface="Calibri" charset="0"/>
                        <a:ea typeface="Calibri" charset="0"/>
                        <a:cs typeface="Calibri" charset="0"/>
                      </a:endParaRPr>
                    </a:p>
                  </a:txBody>
                  <a:tcPr marL="91440" marR="91440" marT="27432" marB="27432"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b="1" dirty="0">
                          <a:solidFill>
                            <a:srgbClr val="0F766E"/>
                          </a:solidFill>
                          <a:latin typeface="Calibri" pitchFamily="34" charset="0"/>
                          <a:ea typeface="Calibri" pitchFamily="34" charset="-122"/>
                          <a:cs typeface="Calibri" pitchFamily="34" charset="-120"/>
                        </a:rPr>
                        <a:t>CIO</a:t>
                      </a:r>
                      <a:endParaRPr lang="en-US" sz="1150" dirty="0">
                        <a:latin typeface="Calibri" charset="0"/>
                        <a:ea typeface="Calibri" charset="0"/>
                        <a:cs typeface="Calibri" charset="0"/>
                      </a:endParaRPr>
                    </a:p>
                  </a:txBody>
                  <a:tcPr marL="91440" marR="91440" marT="27432" marB="27432"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Phase 1</a:t>
                      </a:r>
                      <a:endParaRPr lang="en-US" sz="1150" dirty="0">
                        <a:latin typeface="Calibri" charset="0"/>
                        <a:ea typeface="Calibri" charset="0"/>
                        <a:cs typeface="Calibri" charset="0"/>
                      </a:endParaRPr>
                    </a:p>
                  </a:txBody>
                  <a:tcPr marL="91440" marR="91440" marT="27432" marB="27432"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265176">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Set when a change reopens the authorization</a:t>
                      </a:r>
                      <a:endParaRPr lang="en-US" sz="1150" dirty="0">
                        <a:latin typeface="Calibri" charset="0"/>
                        <a:ea typeface="Calibri" charset="0"/>
                        <a:cs typeface="Calibri" charset="0"/>
                      </a:endParaRPr>
                    </a:p>
                  </a:txBody>
                  <a:tcPr marL="91440" marR="91440" marT="27432" marB="27432"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b="1" dirty="0">
                          <a:solidFill>
                            <a:srgbClr val="0F766E"/>
                          </a:solidFill>
                          <a:latin typeface="Calibri" pitchFamily="34" charset="0"/>
                          <a:ea typeface="Calibri" pitchFamily="34" charset="-122"/>
                          <a:cs typeface="Calibri" pitchFamily="34" charset="-120"/>
                        </a:rPr>
                        <a:t>Authorizing official</a:t>
                      </a:r>
                      <a:endParaRPr lang="en-US" sz="1150" dirty="0">
                        <a:latin typeface="Calibri" charset="0"/>
                        <a:ea typeface="Calibri" charset="0"/>
                        <a:cs typeface="Calibri" charset="0"/>
                      </a:endParaRPr>
                    </a:p>
                  </a:txBody>
                  <a:tcPr marL="91440" marR="91440" marT="27432" marB="27432"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Before wave one</a:t>
                      </a:r>
                      <a:endParaRPr lang="en-US" sz="1150" dirty="0">
                        <a:latin typeface="Calibri" charset="0"/>
                        <a:ea typeface="Calibri" charset="0"/>
                        <a:cs typeface="Calibri" charset="0"/>
                      </a:endParaRPr>
                    </a:p>
                  </a:txBody>
                  <a:tcPr marL="91440" marR="91440" marT="27432" marB="27432"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265176">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Pilot with one hard case; size waves by throughput</a:t>
                      </a:r>
                      <a:endParaRPr lang="en-US" sz="1150" dirty="0">
                        <a:latin typeface="Calibri" charset="0"/>
                        <a:ea typeface="Calibri" charset="0"/>
                        <a:cs typeface="Calibri" charset="0"/>
                      </a:endParaRPr>
                    </a:p>
                  </a:txBody>
                  <a:tcPr marL="91440" marR="91440" marT="27432" marB="27432"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b="1" dirty="0">
                          <a:solidFill>
                            <a:srgbClr val="0F766E"/>
                          </a:solidFill>
                          <a:latin typeface="Calibri" pitchFamily="34" charset="0"/>
                          <a:ea typeface="Calibri" pitchFamily="34" charset="-122"/>
                          <a:cs typeface="Calibri" pitchFamily="34" charset="-120"/>
                        </a:rPr>
                        <a:t>Steward and sponsor</a:t>
                      </a:r>
                      <a:endParaRPr lang="en-US" sz="1150" dirty="0">
                        <a:latin typeface="Calibri" charset="0"/>
                        <a:ea typeface="Calibri" charset="0"/>
                        <a:cs typeface="Calibri" charset="0"/>
                      </a:endParaRPr>
                    </a:p>
                  </a:txBody>
                  <a:tcPr marL="91440" marR="91440" marT="27432" marB="27432"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Phase 2, gate G2</a:t>
                      </a:r>
                      <a:endParaRPr lang="en-US" sz="1150" dirty="0">
                        <a:latin typeface="Calibri" charset="0"/>
                        <a:ea typeface="Calibri" charset="0"/>
                        <a:cs typeface="Calibri" charset="0"/>
                      </a:endParaRPr>
                    </a:p>
                  </a:txBody>
                  <a:tcPr marL="91440" marR="91440" marT="27432" marB="27432"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265176">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Fund retire and retain; sign the wave plan; re-score yearly</a:t>
                      </a:r>
                      <a:endParaRPr lang="en-US" sz="1150" dirty="0">
                        <a:latin typeface="Calibri" charset="0"/>
                        <a:ea typeface="Calibri" charset="0"/>
                        <a:cs typeface="Calibri" charset="0"/>
                      </a:endParaRPr>
                    </a:p>
                  </a:txBody>
                  <a:tcPr marL="91440" marR="91440" marT="27432" marB="27432"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b="1" dirty="0">
                          <a:solidFill>
                            <a:srgbClr val="0F766E"/>
                          </a:solidFill>
                          <a:latin typeface="Calibri" pitchFamily="34" charset="0"/>
                          <a:ea typeface="Calibri" pitchFamily="34" charset="-122"/>
                          <a:cs typeface="Calibri" pitchFamily="34" charset="-120"/>
                        </a:rPr>
                        <a:t>CIO</a:t>
                      </a:r>
                      <a:endParaRPr lang="en-US" sz="1150" dirty="0">
                        <a:latin typeface="Calibri" charset="0"/>
                        <a:ea typeface="Calibri" charset="0"/>
                        <a:cs typeface="Calibri" charset="0"/>
                      </a:endParaRPr>
                    </a:p>
                  </a:txBody>
                  <a:tcPr marL="91440" marR="91440" marT="27432" marB="27432"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Each budget cycle</a:t>
                      </a:r>
                      <a:endParaRPr lang="en-US" sz="1150" dirty="0">
                        <a:latin typeface="Calibri" charset="0"/>
                        <a:ea typeface="Calibri" charset="0"/>
                        <a:cs typeface="Calibri" charset="0"/>
                      </a:endParaRPr>
                    </a:p>
                  </a:txBody>
                  <a:tcPr marL="91440" marR="91440" marT="27432" marB="27432"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Close line"/>
          <p:cNvSpPr txBox="1"/>
          <p:nvPr/>
        </p:nvSpPr>
        <p:spPr>
          <a:xfrm>
            <a:off x="548640" y="5486400"/>
            <a:ext cx="11109960" cy="512064"/>
          </a:xfrm>
          <a:prstGeom prst="rect">
            <a:avLst/>
          </a:prstGeom>
          <a:noFill/>
          <a:ln/>
        </p:spPr>
        <p:txBody>
          <a:bodyPr wrap="square" lIns="0" tIns="0" rIns="0" bIns="0" rtlCol="0" anchor="ctr"/>
          <a:lstStyle/>
          <a:p>
            <a:pPr algn="ctr" indent="0" marL="0">
              <a:buNone/>
            </a:pPr>
            <a:r>
              <a:rPr lang="en-US" sz="1400" b="1" dirty="0">
                <a:solidFill>
                  <a:srgbClr val="B45309"/>
                </a:solidFill>
              </a:rPr>
              <a:t>None of these is a rewrite.  </a:t>
            </a:r>
            <a:pPr algn="ctr" indent="0" marL="0">
              <a:buNone/>
            </a:pPr>
            <a:r>
              <a:rPr lang="en-US" sz="1400" dirty="0">
                <a:solidFill>
                  <a:schemeClr val="tx2"/>
                </a:solidFill>
              </a:rPr>
              <a:t>Decide application by application, build the changed ones on one architecture, prove the data, govern the AI, and let the gates write the evidence.</a:t>
            </a:r>
            <a:endParaRPr lang="en-US" sz="1400" dirty="0"/>
          </a:p>
        </p:txBody>
      </p:sp>
      <p:sp>
        <p:nvSpPr>
          <p:cNvPr id="7" name="Sources"/>
          <p:cNvSpPr txBox="1"/>
          <p:nvPr/>
        </p:nvSpPr>
        <p:spPr>
          <a:xfrm>
            <a:off x="548640" y="6053328"/>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GAO-25-107795; OMB Circular A-130; SP 800-53 Rev. 5; OMB M-26-10; TMF; vendor docs (Oct 2026). Book 18, Chapters 01–10. Undated timings are design guidance.</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Backup</a:t>
            </a:r>
            <a:endParaRPr lang="en-US" sz="3000" dirty="0"/>
          </a:p>
        </p:txBody>
      </p:sp>
      <p:sp>
        <p:nvSpPr>
          <p:cNvPr id="3" name="Backup note"/>
          <p:cNvSpPr txBox="1"/>
          <p:nvPr/>
        </p:nvSpPr>
        <p:spPr>
          <a:xfrm>
            <a:off x="548640" y="2926080"/>
            <a:ext cx="11064240" cy="548640"/>
          </a:xfrm>
          <a:prstGeom prst="rect">
            <a:avLst/>
          </a:prstGeom>
          <a:noFill/>
          <a:ln/>
        </p:spPr>
        <p:txBody>
          <a:bodyPr wrap="square" lIns="0" tIns="0" rIns="0" bIns="0" rtlCol="0" anchor="t"/>
          <a:lstStyle/>
          <a:p>
            <a:pPr algn="ctr" indent="0" marL="0">
              <a:buNone/>
            </a:pPr>
            <a:r>
              <a:rPr lang="en-US" sz="1800" dirty="0">
                <a:solidFill>
                  <a:srgbClr val="64748B"/>
                </a:solidFill>
              </a:rPr>
              <a:t>The slides after this one are reference material and are not narrated.</a:t>
            </a:r>
            <a:endParaRPr lang="en-US" sz="18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Sources: federal policy, GAO and NIST</a:t>
            </a:r>
            <a:endParaRPr lang="en-US" sz="3000" dirty="0"/>
          </a:p>
        </p:txBody>
      </p:sp>
      <p:sp>
        <p:nvSpPr>
          <p:cNvPr id="3" name="Source list"/>
          <p:cNvSpPr txBox="1"/>
          <p:nvPr/>
        </p:nvSpPr>
        <p:spPr>
          <a:xfrm>
            <a:off x="548640" y="1371600"/>
            <a:ext cx="11064240" cy="4572000"/>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chemeClr val="tx2"/>
                </a:solidFill>
              </a:rPr>
              <a:t>GAO-19-471, Agencies Need to Develop Modernization Plans for Critical Legacy Systems (June 11, 2019).  ·  GAO-25-107795, Agencies Need to Plan for Modernizing Critical Decades-Old Legacy Systems (July 17, 2025), and its product page (status as of February 2026).</a:t>
            </a:r>
            <a:endParaRPr lang="en-US" sz="1400" dirty="0"/>
          </a:p>
          <a:p>
            <a:pPr marL="342900" indent="-342900">
              <a:spcAft>
                <a:spcPts val="800"/>
              </a:spcAft>
              <a:buSzPct val="100000"/>
              <a:buChar char="•"/>
            </a:pPr>
            <a:r>
              <a:rPr lang="en-US" sz="1300" dirty="0">
                <a:solidFill>
                  <a:schemeClr val="tx2"/>
                </a:solidFill>
              </a:rPr>
              <a:t>OMB Circular A-130 (2016 revision), §5 and Appendices I and II.  ·  FAR 39.103, modular contracting (FAC 2026-01).  ·  40 U.S.C. §11312.  ·  Modernizing Government Technology Act, Pub. L. 115-91 §1077.  ·  Evidence Act, Pub. L. 115-435.</a:t>
            </a:r>
            <a:endParaRPr lang="en-US" sz="1400" dirty="0"/>
          </a:p>
          <a:p>
            <a:pPr marL="342900" indent="-342900">
              <a:spcAft>
                <a:spcPts val="800"/>
              </a:spcAft>
              <a:buSzPct val="100000"/>
              <a:buChar char="•"/>
            </a:pPr>
            <a:r>
              <a:rPr lang="en-US" sz="1300" dirty="0">
                <a:solidFill>
                  <a:schemeClr val="tx2"/>
                </a:solidFill>
              </a:rPr>
              <a:t>OMB M-25-05 (January 15, 2025); M-25-21 and M-25-22 (April 3, 2025); M-26-05 (January 23, 2026); M-26-10 (March 31, 2026).  ·  Technology Modernization Fund: agency and project fit; process; 2026 call for proposals.</a:t>
            </a:r>
            <a:endParaRPr lang="en-US" sz="1400" dirty="0"/>
          </a:p>
          <a:p>
            <a:pPr marL="342900" indent="-342900">
              <a:spcAft>
                <a:spcPts val="800"/>
              </a:spcAft>
              <a:buSzPct val="100000"/>
              <a:buChar char="•"/>
            </a:pPr>
            <a:r>
              <a:rPr lang="en-US" sz="1300" dirty="0">
                <a:solidFill>
                  <a:schemeClr val="tx2"/>
                </a:solidFill>
              </a:rPr>
              <a:t>NIST FIPS 199; SP 800-53 Rev. 5, release 5.2.0, and SP 800-53B; SP 800-218 (SSDF 1.1) and its Rev. 1 draft; SP 800-218A; SP 800-204 and 800-204A to D; SP 800-190; NIST AI 600-1.</a:t>
            </a:r>
            <a:endParaRPr lang="en-US" sz="1400" dirty="0"/>
          </a:p>
          <a:p>
            <a:pPr marL="342900" indent="-342900">
              <a:spcAft>
                <a:spcPts val="800"/>
              </a:spcAft>
              <a:buSzPct val="100000"/>
              <a:buChar char="•"/>
            </a:pPr>
            <a:r>
              <a:rPr lang="en-US" sz="1300" dirty="0">
                <a:solidFill>
                  <a:schemeClr val="tx2"/>
                </a:solidFill>
              </a:rPr>
              <a:t>CISA, Careful Adoption of Agentic AI Services (May 1, 2026); 2026 Minimum Elements for a Software Bill of Materials (July 29, 2026).  ·  OWASP Top 10 for LLM Applications (2025) and for Agentic Applications (2026).  ·  FEAF v2 (archived, January 29, 2013).</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Sources: frameworks, products and patterns</a:t>
            </a:r>
            <a:endParaRPr lang="en-US" sz="3000" dirty="0"/>
          </a:p>
        </p:txBody>
      </p:sp>
      <p:sp>
        <p:nvSpPr>
          <p:cNvPr id="3" name="Source list"/>
          <p:cNvSpPr txBox="1"/>
          <p:nvPr/>
        </p:nvSpPr>
        <p:spPr>
          <a:xfrm>
            <a:off x="548640" y="1371600"/>
            <a:ext cx="11064240" cy="4572000"/>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chemeClr val="tx2"/>
                </a:solidFill>
              </a:rPr>
              <a:t>AWS Prescriptive Guidance: migration strategies; large-migration portfolio playbook (wave planning); phases of a large migration.  ·  Microsoft Cloud Adoption Framework: migration strategies, wave planning, plan your migration; the 6 Rs of application modernization.  ·  Gartner's five options, as reported (2011).</a:t>
            </a:r>
            <a:endParaRPr lang="en-US" sz="1400" dirty="0"/>
          </a:p>
          <a:p>
            <a:pPr marL="342900" indent="-342900">
              <a:spcAft>
                <a:spcPts val="800"/>
              </a:spcAft>
              <a:buSzPct val="100000"/>
              <a:buChar char="•"/>
            </a:pPr>
            <a:r>
              <a:rPr lang="en-US" sz="1300" dirty="0">
                <a:solidFill>
                  <a:schemeClr val="tx2"/>
                </a:solidFill>
              </a:rPr>
              <a:t>OpenJDK; Microsoft Build of OpenJDK roadmap; Spring Boot generations and system requirements; Spring AI 2.0.2; React versions; Node.js releases; OpenAPI 3.2.1; OCI specifications; Kubernetes releases; The Twelve-Factor App; PostgreSQL versioning (all as of October 28, 2026).</a:t>
            </a:r>
            <a:endParaRPr lang="en-US" sz="1400" dirty="0"/>
          </a:p>
          <a:p>
            <a:pPr marL="342900" indent="-342900">
              <a:spcAft>
                <a:spcPts val="800"/>
              </a:spcAft>
              <a:buSzPct val="100000"/>
              <a:buChar char="•"/>
            </a:pPr>
            <a:r>
              <a:rPr lang="en-US" sz="1300" dirty="0">
                <a:solidFill>
                  <a:schemeClr val="tx2"/>
                </a:solidFill>
              </a:rPr>
              <a:t>Oracle SQL Language Reference 23ai; PostgreSQL 18 documentation; AWS SCT, DMS Schema Conversion, DMS validation and CDC; Microsoft SSMA for Db2 and for Oracle; Ora2Pg.  ·  Azure Architecture Center: Strangler Fig, Backends for Frontends, Transactional Outbox, Scheduler Agent Supervisor.  ·  M. Fowler, Strangler Fig (2024).</a:t>
            </a:r>
            <a:endParaRPr lang="en-US" sz="1400" dirty="0"/>
          </a:p>
          <a:p>
            <a:pPr marL="342900" indent="-342900">
              <a:spcAft>
                <a:spcPts val="800"/>
              </a:spcAft>
              <a:buSzPct val="100000"/>
              <a:buChar char="•"/>
            </a:pPr>
            <a:r>
              <a:rPr lang="en-US" sz="1300" dirty="0">
                <a:solidFill>
                  <a:schemeClr val="tx2"/>
                </a:solidFill>
              </a:rPr>
              <a:t>Model Context Protocol specification 2026-07-28; GitHub Copilot modernization and AWS Transform (examples only).  ·  M. Nygard, Documenting Architecture Decisions (2011); DORA; GitHub protected branches; SLSA 1.2.  ·  The Open Group, TOGAF Standard, 10th Edition; Zachman Framework 3.0.</a:t>
            </a:r>
            <a:endParaRPr lang="en-US" sz="1400" dirty="0"/>
          </a:p>
          <a:p>
            <a:pPr marL="342900" indent="-342900">
              <a:spcAft>
                <a:spcPts val="800"/>
              </a:spcAft>
              <a:buSzPct val="100000"/>
              <a:buChar char="•"/>
            </a:pPr>
            <a:r>
              <a:rPr lang="en-US" sz="1300" dirty="0">
                <a:solidFill>
                  <a:schemeClr val="tx2"/>
                </a:solidFill>
              </a:rPr>
              <a:t>Full footnotes with links and access dates (October 28–29, 2026): Book 18, every chapter (whalermike.github.io/modernization-workbook/docs/books/b18-application-modernization/).</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23</a:t>
            </a:fld>
            <a:endParaRPr lang="en-US"/>
          </a:p>
        </p:txBody>
      </p:sp>
    </p:spTree>
  </p:cSld>
  <p:clrMapOvr>
    <a:masterClrMapping/>
  </p:clrMapOvr>
</p:sld>
</file>

<file path=ppt/theme/theme1.xml><?xml version="1.0" encoding="utf-8"?>
<a:theme xmlns:a="http://schemas.openxmlformats.org/drawingml/2006/main" name="Federal Modernization Workbook">
  <a:themeElements>
    <a:clrScheme name="Federal Modernization Workbook">
      <a:dk1>
        <a:srgbClr val="1F2A44"/>
      </a:dk1>
      <a:lt1>
        <a:srgbClr val="FFFFFF"/>
      </a:lt1>
      <a:dk2>
        <a:srgbClr val="334155"/>
      </a:dk2>
      <a:lt2>
        <a:srgbClr val="F1F5F9"/>
      </a:lt2>
      <a:accent1>
        <a:srgbClr val="1F2A44"/>
      </a:accent1>
      <a:accent2>
        <a:srgbClr val="0F766E"/>
      </a:accent2>
      <a:accent3>
        <a:srgbClr val="B45309"/>
      </a:accent3>
      <a:accent4>
        <a:srgbClr val="B91C1C"/>
      </a:accent4>
      <a:accent5>
        <a:srgbClr val="64748B"/>
      </a:accent5>
      <a:accent6>
        <a:srgbClr val="E6F2F1"/>
      </a:accent6>
      <a:hlink>
        <a:srgbClr val="0F766E"/>
      </a:hlink>
      <a:folHlink>
        <a:srgbClr val="334155"/>
      </a:folHlink>
    </a:clrScheme>
    <a:fontScheme name="Federal Modernization Workbook">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Book 18 — Application Modernization</dc:title>
  <dc:subject>PptxGenJS Presentation</dc:subject>
  <dc:creator>Michael F. Stratton</dc:creator>
  <cp:lastModifiedBy>Michael F. Stratton</cp:lastModifiedBy>
  <cp:revision>1</cp:revision>
  <dcterms:created xsi:type="dcterms:W3CDTF">2026-10-29T05:21:28Z</dcterms:created>
  <dcterms:modified xsi:type="dcterms:W3CDTF">2026-10-29T05:21:28Z</dcterms:modified>
</cp:coreProperties>
</file>