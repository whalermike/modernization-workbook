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ccess is a policy decision" id="{1A2473C1-485F-7985-3AFE-9C2F7E5BBA0A}">
          <p14:sldIdLst>
            <p14:sldId id="256"/>
            <p14:sldId id="257"/>
            <p14:sldId id="258"/>
            <p14:sldId id="259"/>
            <p14:sldId id="260"/>
          </p14:sldIdLst>
        </p14:section>
        <p14:section name="What the baseline and privilege model require" id="{DE4CA099-48A4-6340-25AC-AA5E88CF7900}">
          <p14:sldIdLst>
            <p14:sldId id="261"/>
            <p14:sldId id="262"/>
            <p14:sldId id="263"/>
            <p14:sldId id="264"/>
            <p14:sldId id="265"/>
            <p14:sldId id="266"/>
            <p14:sldId id="267"/>
          </p14:sldIdLst>
        </p14:section>
        <p14:section name="Who decides access" id="{AB2E8D7C-5BAD-183D-426F-750CB53044A0}">
          <p14:sldIdLst>
            <p14:sldId id="268"/>
            <p14:sldId id="269"/>
            <p14:sldId id="270"/>
            <p14:sldId id="271"/>
          </p14:sldIdLst>
        </p14:section>
        <p14:section name="How to govern and evidence it" id="{31675776-4901-3DC8-2FAF-FADBCA37A907}">
          <p14:sldIdLst>
            <p14:sldId id="272"/>
            <p14:sldId id="273"/>
            <p14:sldId id="274"/>
          </p14:sldIdLst>
        </p14:section>
        <p14:section name="Backup" id="{10B11AF1-8873-A015-E111-FF3F030511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8310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[0:00–1:36]  This is the executive briefing for Book 04 of the Federal Modernization Workbook, Access and Privilege. It runs about thirty minutes, for the people who make the calls on access: the CISO, the CIO, the identity governance officer and the authorizing officials.
The argument fits in three sentences. Under Zero Trust, every access request is evaluated against policy, so the Conditional Access policy set becomes the agency's access control in practice. Standing administrator rights are the shortest path from one stolen credential to control of the tenant, and stronger sign-in doesn't narrow them. And because the platform doesn't separate deciding from doing, the agency has to design that separation into its roles, its tickets and its reviews.
I'll take four questions. Why access is a policy decision, and why standing privilege fails. What the access baseline and the privilege model require. Who decides access, from administrative consent to exceptions. And how to govern it, manage it as code, and keep the evidence.
Two labels run through the deck, as they do through the book. The tiers, durations, cadences and approval chains are program design: a starting posture each agency adapts, not a federal requirement. And product statements are as the book checked them, on October 20, 2026.
Every decision slide names the decision, its owner and when it's needed, and the last slide gathers them into one table.
Workbook: Book 04, index; Chapter 01 — Access Is a Policy Decision (The argument in brief); Chapter 02 — Why Standing Privilege Fails (The argument in brief); Chapter 06 — Who Decides Access (Deciding isn't doing).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[1:36–3:15]  In the directory era, access was settled in advance. Someone put a person in a group, the group was on an access list, and the workstation sat inside the perimeter. From then on, every request was approved by default.
Federal policy no longer accepts that. OMB M-22-09 says applications can't rely on the network perimeter, that users should log into applications rather than networks, and that every request for access should be evaluated. NIST SP 800-207 gives the architecture: a policy decision point, separate from the places where access is enforced, with network location conferring no trust and access granted per session.
In Microsoft Entra ID the decision point is Conditional Access, which Microsoft calls its Zero Trust policy engine. The book reads token issuance as the policy administrator and the applications as enforcement points; that mapping is the program's interpretation. Continuous Access Evaluation re-checks a session when an account is disabled or a condition changes.
The rules are few. Every applicable policy must be satisfied; there's no priority order. A block wins. And an exclusion overrides everything, which is why each exclusion is a standing hole. The only permanent one is the emergency access group; every other exclusion needs an owner, a reason and an expiry. And because a policy for all users can lock out everyone, administrators included, every new policy runs in report-only first, and enforcement is a separate, reviewed change.
Workbook: Book 04, Chapter 01 — Access Is a Policy Decision (Every request is a decision; The decision point and the enforcement point; Conditional Access as the policy engine; How the decision is computed; Deploy as a decision, not a switch); Chapter 03 — The Conditional Access Model (Exclusions).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[3:15–4:53]  Most estates still grant access the old way, even after they move to Entra ID. Two habits survive the migration: treating the network as proof of trust, and treating group membership as a permanent grant.
Inside means trusted, so a compromised device or a stolen session inside the perimeter inherits the trust of the building. Membership is decided once and outlives the need, so people who change jobs keep what they had, and nobody can say why a given person holds a given access. Policy replaces both: location becomes one signal among several, and membership is computed from authoritative attributes, reviewed, and only one condition of a policy.
That raises the stakes on the data. The program targets policies at dynamic groups built from organizational attributes, the way Group Policy was once targeted at organizational units (OUs). A user whose attribute is empty falls outside every policy that includes only that group: an exclusion nobody approved. And Microsoft says dynamic membership changes typically take a few hours and can take more than 24, so urgent removals, a leaver or a compromised account, use account disablement and session revocation, not group recalculation.
So the decision: baseline policies include all users and exclude narrowly, and no attribute-scoped policy is enforced until its attributes are populated and verified. The CISO sets that requirement, and HR owns the attribute values behind it, as Book 03 describes.
Workbook: Book 04, Chapter 01 — Access Is a Policy Decision (What goes wrong when membership and location decide; Attribute-driven targeting has its own failure mode); Chapter 03 (Exclusions; The program's baseline principles); Book 02, Chapter 06 — Who Owns the Migration (responsibility matrix: control requirements; authoritative worker attributes).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[4:53–6:32]  Privileged access is where the policy argument matters most, and where it's most often abandoned. A Global Administrator can change the Conditional Access policies that make every other decision. If that right is always on, the policy engine protects everything except the accounts that control it.
Standing means the assignment persists and is always active: no activation, no reason, no approval, no time limit. That's 8,760 hours a year of tenant-wide control, nearly all of them hours when no administrative work is being done but a stolen session would still carry the full role. NSA and CISA list improper separation of user and administrator privilege second in their October 2023 top ten misconfigurations. And it isn't only people: in the attack Microsoft disclosed in January 2024, Midnight Blizzard took over a forgotten test application with elevated access.
Stronger sign-in answers one question: is this really the account's owner? It doesn't answer the second: what can that identity do, and for how long? An administrator with a FIDO2 key and standing Global Administrator is a strongly authenticated standing target.
An eligible assignment carries the same rights, but only after an activation that checks authentication, justification and approval, and it expires on its own. So the decision: every human administrative role is eligible, through PIM. The CISO sets that model; anything that has to stay standing is documented residual risk, which the authorizing official accepts.
Workbook: Book 04, Chapter 02 — Why Standing Privilege Fails (Administrative identity is the root of the root; Strong authentication doesn't reduce scope; Just in time and just enough; The privileged-access project: phases and risks); Book 02, Chapter 06 (responsibility matrix: privileged role mapping and PIM settings; accept residual risk).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[6:32–8:09]  What does least privilege actually require? The control baseline is explicit. AC-6 allows only the access needed for assigned tasks, and its enhancements make that testable: security functions authorized only for named roles; separate non-privileged accounts for everyday work; privileged accounts restricted to defined people; privileges reviewed on a schedule; privileged functions logged; and non-privileged users prevented from running them. All six are in NIST's Moderate baseline, along with separation of duties.
The strategy documents are often quoted beyond what they say. M-22-09 doesn't mandate time-bound privilege; it asks agencies to evaluate every request and move beyond static roles. SP 800-207 grants access per session, with least privilege. CISA's Zero Trust Maturity Model is the most specific, and the figure shows its four stages: from permanent access with periodic review, through access that expires, to need-based access, and finally automated just-in-time, just-enough access. Most estates that still have standing administrators are at the traditional stage for privileged access, whatever their maturity elsewhere.
Microsoft frames least privilege in three dimensions: permissions, scope and time. Its numbers are short: fewer than five Global Administrators, and fewer than ten privileged role assignments.
None of the controls says "just in time" in so many words. The book's position is that time is the dimension most estates have never limited, and that just-in-time activation limits it while producing the review and logging evidence AC-6 asks for.
Workbook: Book 04, Chapter 02 — Why Standing Privilege Fails (What least privilege requires: NIST SP 800-53 AC-6 and its enhancements; What federal Zero Trust policy says, precisely; Just in time and just enough); Chapter 04 — Privileged Roles and Tiers (Built-in roles and the privileged label).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[8:09–9:46]  Now the what. The book's Conditional Access library is one policy set, numbered once: Book 02's baseline, CA001 to CA017, kept, and twenty-two more for risk, privileged workstations, segmented applications and workload identities, including a report-only probe that never enforces.
It's built to CISA's Binding Operational Directive 25-01, which requires federal civilian agencies to implement CISA's mandatory configurations for in-scope cloud tenants; the deadline for the configurations effective at issuance was June 20, 2025. The table shows the Entra ID requirements that Conditional Access answers: block legacy authentication; block high-risk users; block high-risk sign-ins; phishing-resistant MFA for all users, with another method only until then; and phishing-resistant MFA for highly privileged roles.
One choice needs an executive's attention. Microsoft's current recommendation for high-risk users is to require risk remediation. CISA's required configuration says block. The two can't both win, so in any tenant within the directive's scope the program blocks, and recovery goes through the help desk.
The policies reach production in five waves: the foundation, then administrators, then everyone, then risk and workload identities, then segments and the end state. Every policy passes report-only, a pilot ring and expanding rings, and a wave starts only after the previous one has run a week without incident.
The decision belongs to the CISO, who sets the Conditional Access baseline: adopt the library and its waves before the first wave is enforced.
Workbook: Book 04, Chapter 07 — The Conditional Access Policy Library (Conventions; Wave 4: CA013 has two forms; Rollout: from report-only to enforcement; What the library answers in federal requirements: CISA BOD 25-01); Book 02, Chapter 06 (responsibility matrix: control requirements, Conditional Access baseline).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[9:46–11:26]  The library's end state is phishing-resistant MFA for everyone, which BOD 25-01 makes mandatory for federal civilian tenants. Other MFA is allowed only until phishing-resistant MFA is enforced, so every policy that accepts ordinary MFA is transitional.
Conditional Access expresses this as authentication strengths. Microsoft's three built-in strengths are MFA, which still accepts a password with a second factor; passwordless MFA, which adds Authenticator phone sign-in; and phishing-resistant MFA: Windows Hello for Business, a FIDO2 passkey, or certificate-based authentication. For administrators the program uses a custom strength, FIDO2 or certificates on a separate device, and leaves Windows Hello out on purpose. It also procures FIPS 140 validated keys for privileged accounts.
Two limits matter. A strength doesn't stop a user typing a password first; it demands a qualifying method before access. And guests who sign in with an emailed one-time passcode can't satisfy any strength, so their policies use plain MFA.
How to get there: the end-state policy, CA022, is created in report-only on the program's first day, before any enrollment campaign, so the logs build a history of who would have been blocked. That's Microsoft's own advice. Enforcement then follows readiness: the program's gates are 95 percent of users registered and 90 percent of devices compliant, and a shrinking not-ready group in which every member has an expiry. When it's empty, the security plan stops describing an interim state. The CISO owns that schedule.
Workbook: Book 04, Chapter 03 — The Conditional Access Model (Authentication strengths; The program's baseline principles, 5); Chapter 07 — The Conditional Access Policy Library (Prerequisites: readiness gates; Wave 5: CA022; Government cloud notes); Book 02, Chapter 06 (control requirements).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[11:26–13:08]  Two behaviors of the platform catch out executives and engineers alike.
First, policies come in pairs. Access tokens are issued when no policy's conditions trigger a control. A policy that says Finance users reaching payroll must use phishing-resistant MFA and a compliant device says nothing about anyone else: a non-Finance user gets a token for payroll with no controls at all. To restrict an application to a population, the program writes a second policy that blocks everyone except that population, and reviews the two together. Requiring assignment on the application is the cleaner first gate; the block is defense in depth for sensitive apps.
Second, Microsoft creates some policies in eligible tenants itself: blocking legacy authentication and device code flow, MFA for administrators and for all users, and policies for risky sign-ins and users. Each arrives in report-only mode, and Microsoft turns it on no less than 30 days later unless an administrator sets it to Off. They can be excluded, but not renamed or deleted. A policy Microsoft enables on a schedule is a change the agency didn't make.
So the identity team records one of two decisions for each: adopt it, with the emergency access exclusion added, or supersede it with a library policy and turn it off. Either way it's written down, within the window.
Two more platform facts: a tenant holds at most 240 policies in any state, and the old approved-client-app grant became read-only on June 30, 2026.
Workbook: Book 04, Chapter 03 — The Conditional Access Model (Grant controls; How policies combine: policies come in pairs; Microsoft-managed policies; The program's baseline principles, 9); Chapter 07 (Conventions; Wave 2 and Wave 3 notes on superseded managed policies).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[13:08–14:49]  The book places each role in a tier by what its holder could take over. The higher the tier, the stricter the gate before the role is active, and the fewer people hold it at all.
The tiers build on Microsoft's enterprise access model, which builds on the old Active Directory tier model rather than discarding it: prevent anything in a lower plane from controlling a higher one. Tier 0 is the control plane: Global, Privileged Role, Privileged Authentication, Security and Conditional Access Administrator. Tier 1 runs a whole service: Exchange, SharePoint, Intune, Teams, applications and the sync bridge. Tier 2 acts inside a bounded population, scoped to administrative units (AUs). And readers get a tier of their own. The tier boundaries are program design; the hours are a starting posture.
Three placements need explaining. Conditional Access Administrator is Tier 0, because once activation is gated through Conditional Access, whoever edits it can weaken the gate. Exchange Administrator doesn't carry Microsoft's privileged label but can reach every mailbox, so it's Tier 1 regardless; the label describes directory permissions, not what a role does inside its workload. And Global Reader is tiered because reading the whole security setup is reconnaissance.
Most requests for Global Administrator are requests for one task, so the first step of any role request is Microsoft's least-privileged-role-by-task reference, and scoping comes before gating. The CISO, who owns the privileged-role mapping, approves each placement before roles convert.
Workbook: Book 04, Chapter 04 — Privileged Roles and Tiers (Built-in roles and the privileged label; Least-privileged choices; What Microsoft's model says; The program's privilege tiers); Book 02, Chapter 06 (responsibility matrix: privileged role mapping and PIM settings).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[14:49–16:31]  Privileged Identity Management turns privilege into a governed request. Every human administrative assignment is eligible, not active. To use it, the administrator asks for the role with a justification and a ticket, satisfies a fresh sign-in, waits for an approver, and holds the role only for the window requested.
The table is the program's design, by tier. Tier 0 activations last at most four hours and need a Tier 0 approver; Tier 1, eight hours with a Tier 1 approver; Tier 2, eight hours, with approval optional only under a documented risk acceptance; readers, no approval. Eligibility itself expires after 90, 180 or 365 days, so it has to be re-authorized, not just reviewed.
Three details make the gate real. PIM's built-in MFA can be satisfied by an earlier sign-in in the same session, so the program forces a fresh phishing-resistant proof through a Conditional Access authentication context. Approvers can't approve their own requests, but the platform doesn't stop an agency making the approver group the same people as the requesters, so a tier's approvers sit outside that tier, and Tier 0's are a security function, not peer administrators. And approvers have 24 hours, a window that can't be configured, so a Tier 0 path staffed by two people in one time zone strands out-of-hours requests.
So the CISO staffs each approver group from outside its tier, at least two people, sized for real hours, before approval is switched on.
Workbook: Book 04, Chapter 08 — PIM Self-Request with Approval (Eligible, not active; The activation controls; Settings by tier; The 24-hour window; Approver design and separation of duties); Appendix B; Book 02, Chapter 06 (privileged role mapping and PIM settings).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[16:31–18:07]  A well-built gate can still be undone quietly, and the book names four ways.
Licensing. When a P2, Governance or trial license expires, eligible role assignments are removed, PIM's settings are removed, and active time-bound assignments become active permanent and no longer expire. A lapse removes the just-in-time path and turns every expiring grant into standing access. The gate is only as durable as the subscription behind it.
The policy editors. Once activation runs through a Conditional Access authentication context, whoever can edit Conditional Access can weaken it, remove it or block activation. That's why those roles are Tier 0, and why protected actions require a fresh strong sign-in to change Conditional Access policies at all, whichever role granted the permission.
Approvers. If approval is required and no approvers are named, the defaults are the active Global and Privileged Role Administrators, exactly the people this design makes eligible. Microsoft documents that as a tenant lockout. Name the approver group every time, and build the emergency accounts first.
And automation. Microsoft retires the older PIM API on October 28, 2026; from that date it returns no data, and any script or connector still calling it is broken.
The first is a funding decision. The sponsor and CIO treat these licenses as a control dependency: renew without a gap, and keep the role inventory exported so eligibility can be restored.
Workbook: Book 04, Chapter 08 — PIM Self-Request with Approval (License continuity is a control dependency; The authentication context creates a privilege dependency; The documented lockout; Never leave the approver list empty; Step 6 — protected actions; Microsoft retires the legacy PIM API); Chapter 04 (Tier 0 placement); Book 02, Chapter 06 (migration scope, funding and sequence).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[18:07–19:48]  Every control that blocks an administrative path also creates a way to lock the agency out of its own tenant: federation down, every administrator's MFA device unavailable, a misconfigured policy, or every privileged role eligible with no approver able to act. Emergency access, or break-glass, accounts are the answer, and they're the only standing privilege the program accepts by design.
Microsoft's current guidance changes older designs. Two or more cloud-only accounts on the tenant's own onmicrosoft domain, not tied to a person. Global Administrator as a permanent active assignment, because PIM may be what failed. Passwordless, phishing-resistant authentication with methods separate from the normal administrators', because mandatory MFA applies to these accounts too; a password alone no longer signs in to the admin portals. Excluded only from policies that block or restrict sign-in. Alerted on every use, and validated at least every 90 days.
Using them is strict. All three conditions hold: PIM isn't available, the incident can't wait, and two senior administrators know. They retrieve the credential together, do only what the emergency needs, end the session within four hours, and every action is reviewed within 24.
Two decisions. Order: the accounts exist and pass a test before any role is made eligible. And honesty: NIST's AC-2(2) expects emergency accounts to be disabled automatically, so the security plan records these as a deviation with compensating controls. The CISO owns the build; the authorizing official accepts the deviation.
Workbook: Book 04, Chapter 02 — Why Standing Privilege Fails (Break-glass: the one governed exception); Chapter 04 (Emergency access accounts); Chapter 06 — Who Decides Access (Emergency access); Chapter 08 (Step 0 — Establish emergency access accounts first); Book 02, Chapter 06 (accept residual risk).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[19:48–21:34]  Who decides access? Every day someone asks for an application, an application asks for permission to an API, or an owner leaves. Each is a policy decision. It has to be made by someone with the authority to make it and carried out by someone with the rights to carry it out, and in a well-run tenant those are different people. NIST's AC-5 asks for exactly that separation.
The program applies it in three rules. Approvers don't execute. Executors, the help desk, cloud services and automation, don't approve, and act only on an approved, assigned ticket. And nobody approves their own access.
The trouble is that Entra ID doesn't enforce any of this. Application Administrator can consent to delegated permissions and to application permissions for every API except Microsoft Graph, and can add a credential to any app and act as it. Microsoft calls that a potential elevation of privilege. A help desk that activates that role can technically grant most consents, so "the help desk never approves consent" is only a procedural rule unless the role is narrowed.
So the help desk works under a custom role that manages group-to-application assignments only, plus the narrowest group and authentication roles its other tasks need. Application Administrator stays with identity engineering, eligible only, behind approval. Requests are triaged by the authority they need: the requester's manager for changes to their own account, the application owner and governance officer for owner-governed access and consent. The identity governance officer decides the help desk role's scope.
Workbook: Book 04, Chapter 06 — Who Decides Access (Deciding isn't doing; The roles; Help desk and cloud services; What each Entra role can actually do; The help desk and cloud services authority split; The responsibility matrix: help desk PAG membership and role scope).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[21:34–23:21]  For applications, the approval chain follows risk. Every enterprise application gets a risk tier from the identity governance officer, the IGO, before anyone is given access to it. An app qualifies for Tier 1 if it meets any one high-risk criterion: any application permission; personal, health, financial, HR or tenant-wide data; an external or vendor operator, or no owner; all users; or internet exposure. It's Tier 3 only if it meets every low-risk criterion.
The tier sets everything else, as the table shows. Access to a Tier 1 app is approved by its owner, with the IGO able to place a hold; Tier 3 by the business approver alone. Administrative consent for a Tier 1 app is the IGO's, with the CISO notified. Reviews run quarterly, twice a year or annually. These values are program design.
Administrative consent is the highest-risk request in the catalog, because a grant applies to the whole tenant immediately and stays until someone revokes it. So any application permission is handled as Tier 1 whatever the app's tier, and the scopes the program rates critical need the IGO and the CISO together. Even then, the person who grants the consent in Entra ID is never the person who approved it.
Two rules catch what slips through. An app discovered without a tier, including the ones that appear on their own through user consent, is Tier 1 until classified. And an ownerless app goes to the IGO, who has 30 days to find an owner before it's suspended.
Workbook: Book 04, Chapter 06 — Who Decides Access (Risk tiers set the approval chain; Who approves admin consent; Ownership changes and orphaned apps); Chapter 05 — Applications and Workload Identities (Two objects for one application; Admin consent).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[23:21–25:04]  Applications hold privilege without a person behind them, so the book governs an app registration the way Book 03 governs a person: a request, a scoped consent, a credential, rotation, attestation and retirement, which is the stage most often skipped.
Three facts drive the design. First, consent grants don't expire, and revoking one isn't instant: tokens already issued stay valid for their lifetime, and users can consent again unless the app stops asking. Second, an owner isn't a contact field. An owner can manage the app's configuration and add a credential to act as the app, which Microsoft calls an elevation of privilege. So the Owners list holds two named technical people, and the business owner who approves access is recorded in the application registry instead. Third, credentials. Microsoft's order is a managed identity, then a federated credential, then a certificate, and never a client secret.
Policy turns that order into tenant rules. Application management policies can block new secrets and cap certificate lifetimes; Microsoft recommends blocking secrets outright and a 180-day cap, and the program adopts that for every app created after its effective date. Where an app genuinely can't use a certificate, the exception is time-limited and needs the IGO and the CISO. The program also turns off user app registration and limits user consent to verified publishers and low-risk permissions, one of the two ways CISA's baseline allows.
The CISO sets these rules; application owners decide each app's credential within them.
Workbook: Book 04, Chapter 05 — Applications and Workload Identities (Who can create applications; User consent and the consent policy; Admin consent: four behaviors of grants; Ownership; Credentials; Enforcing the order with app management policies; Governing app registrations); Chapter 06 (Exceptions; responsibility matrix: credential type and rotation).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[25:04–26:52]  Here's the responsibility model in one view, with one decider per row. Book 04 keeps the migration-era roles from Book 02 and adds the daily ones.
The CISO decides the control requirements, the Conditional Access baseline, and the privileged-role mapping and PIM settings. The identity governance officer decides each application's risk tier, administrative consent above Tier 3, ownership assignments and exceptions within policy. The application owner decides who gets access to a Tier 1 or Tier 2 app; the business approver decides whether a requester has a business need, and Tier 3 access. Security operations decides incident-driven revocation, because speed matters more than the chain. The authorizing official decides residual risk. And the sponsor and CIO decide scope, funding and sequence.
Global Administrator isn't on the list. In the program's design it's held permanently only by the emergency accounts and used by nobody for routine work.
Exceptions run on a clock. An exception authorizes one specific deviation, with compensating controls, for a fixed time, and it never lasts more than six months or renews automatically. An expired one moves the app up a risk tier. Renewed more than twice, it goes to the CISO and the authorizing official, as a sign that the requirement or the system needs to change. Keeping audit logs for less than the minimum needs the CISO and CIO, with the authorizing official accepting the risk.
The decision: any exception that leaves a control unmet with no compensating control goes to the authorizing official, because accepting that risk is an authorization decision.
Workbook: Book 04, Chapter 06 — Who Decides Access (The roles; Exceptions; The responsibility matrix and its comments); Book 02, Chapter 06 — Who Owns the Migration (The roles;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[26:52–28:39]  Now the how. A well-configured tenant can still fail an account-management audit. Conditional Access decides whether a session proceeds, and PIM whether a role is active, but neither decides whether a person should still hold what they were given last year. AC-2 and AC-6(7) ask for exactly that.
The program closes the gap with three mechanisms that run without anyone opening a ticket. Requests come through access packages: a bundle of access, named approvers, and an expiry from the moment it's granted. The program never uses "never": 90 days for Tier 1 application access, 180 for Tier 2, a year for Tier 3, and no more than a year for external users. Reviews run on a calendar set by risk: Tier 0 roles monthly, other roles quarterly, guests quarterly by their sponsors, with denied access removed automatically. And lifecycle events act on access: a mover loses the old department's packages and requests the new, and a leaver loses everything.
One trap matters. Because access is assigned through groups, reviewing an application doesn't remove the members of its groups; they keep access. So the program reviews the groups.
The licensing is the executive call. As of October 2026, Microsoft licenses entitlement management and reviews by Entra ID Governance for every member user in scope, including reviewers, and adds no new governance features to P2. It's available in the government clouds. Partial licensing produces a program that governs some people and leaves the rest ungoverned, so the sponsor and CIO fund it for the whole workforce.
Workbook: Book 04, Chapter 09 — Access Governance: Packages, Reviews and Lifecycle (opening; Licensing: what needs Entra ID Governance; Expiration and extension; What can be reviewed; Cadence; Lifecycle Workflows at the access level; Guest access governance); Book 02, Chapter 06 (funding).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[28:39–30:31]  The last how is about how these decisions are held. A Conditional Access estate nobody can compare against intent is a control no assessor can trace.
The invariant: every access decision has a reviewable source of truth, a pipeline applies it, and a monitor checks the tenant against it. Conditional Access, PIM settings, groups, packages and reviews each have a file in a repository. A change is a pull request, and its author can't approve it; Tier 0 changes need a second approver from security. New and changed policies deploy as report-only for at least a week. The pipeline signs in with workload identity federation, no stored secret, and because it can change every access policy, it's a Tier 0 asset. In an incident, an administrator may change a policy in the portal under PIM, but the change is back in code within a business day, and until then the drift monitor reports it.
Drift is closed at the source. Microsoft's configuration monitor checks the tenant every six hours, and drift on a Tier 0 object, such as a relaxed approval rule, is a security incident.
Then the evidence. Entra keeps audit and sign-in logs for seven days on Free and 30 on P1 or P2, and upgrading doesn't recover older data. The program keeps audit, sign-in and PIM logs at least a year, and consent and break-glass records at least three. A gap in forwarding is reported to the CISO within 24 hours.
The CISO, who owns the monitoring evidence, makes the repository the only normal path before the first policy is enforced.
Workbook: Book 04, Chapter 10 — Access as Code, and the Evidence It Produces (opening; What goes in the repository; Change control; Drift detection and closure; What the assessor reads; Honest limits); Chapter 09 (Retention: the logs don't keep themselves); Book 02, Chapter 06 (continuous monitoring evidence).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[30:31–32:16]  So, the decisions, with their owners.
The CISO sets the access baseline: baseline policies include all users, and attribute-scoped policies wait for verified data, with HR owning the attributes; the library and its five waves are adopted before the first is enforced, blocking high-risk users in any BOD 25-01 tenant; and phishing-resistant MFA runs in report-only from day one and is enforced as users are ready.
The CISO also owns the privilege model: every human administrative role eligible through PIM, each role's tier approved, approvers drawn from outside the tier, and the emergency accounts built and tested before any role converts. The authorizing official accepts the standing privilege that remains and the break-glass deviation. The identity team records an adopt-or-supersede decision for each Microsoft-managed policy within its 30-day window.
The sponsor and CIO fund P2 and Governance licensing for the whole workforce, renewed without a gap.
The identity governance officer narrows the help desk to an assignments-only role, and tiers every application before anyone gets access. The CISO sets the credential rules for new apps, and application owners apply them. Uncompensated exceptions go to the authorizing official, for six months at most. And the repository becomes the only normal path, with every log streamed from day one.
In Zero Trust, every access decision is a policy decision. Writing the policy down, testing it and proving it ran is how an agency knows who can reach what, and why. Book 04 has the detail, with every claim footnoted. Thank you.
Workbook: Book 04, Chapter 01 and Chapter 02 (The argument in brief); Chapter 06 — Who Decides Access (The responsibility matrix); Chapters 07–10; Book 02, Chapter 06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04 Access &amp; Privilege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5.png"/><Relationship Id="rId5" Type="http://schemas.openxmlformats.org/officeDocument/2006/relationships/image" Target="../media/image22.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10.png"/><Relationship Id="rId5" Type="http://schemas.openxmlformats.org/officeDocument/2006/relationships/image" Target="../media/image27.png"/><Relationship Id="rId10" Type="http://schemas.openxmlformats.org/officeDocument/2006/relationships/image" Target="../media/image3.png"/><Relationship Id="rId4" Type="http://schemas.openxmlformats.org/officeDocument/2006/relationships/notesSlide" Target="../notesSlides/notesSlide15.xml"/><Relationship Id="rId9" Type="http://schemas.openxmlformats.org/officeDocument/2006/relationships/image" Target="../media/image5.png"/><Relationship Id="rId11"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notesSlide" Target="../notesSlides/notesSlide16.xml"/><Relationship Id="rId8"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15.png"/><Relationship Id="rId5" Type="http://schemas.openxmlformats.org/officeDocument/2006/relationships/image" Target="../media/image28.png"/><Relationship Id="rId4" Type="http://schemas.openxmlformats.org/officeDocument/2006/relationships/notesSlide" Target="../notesSlides/notesSlide17.xml"/><Relationship Id="rId9"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31.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18.xml"/><Relationship Id="rId9" Type="http://schemas.openxmlformats.org/officeDocument/2006/relationships/image" Target="../media/image3.png"/><Relationship Id="rId10"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Access &amp; Privilege: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04 — Access &amp; Privilege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30 minutes for the CISO, CIO, identity governance officer and authorizing officials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704F32AF-909E-C589-382C-214985B1D22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552E7A-975D-47B9-AC7C-DB036DAA962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900"/>
    </mc:Choice>
    <mc:Fallback>
      <p:transition spd="slow" advTm="44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89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access decision is a policy decision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Left to right. A grey box, signals per request: user, group and attributes; device and its compliance; location, labelled one signal and not a grant; the application requested; sign-in and user risk. An arrow labelled evaluated leads to a blue box, the policy decision point, Conditional Access, where every policy that applies is evaluated and all must be satisfied. It leads to a violet box, the decision: block wins over any grant; require an MFA strength, a compliant device or terms of use; limit the session. An arrow labelled token or denial leads to a green box, the policy enforcement point, the application and data, which accepts only the token the decision produced."/>
          <p:cNvPicPr>
            <a:picLocks noChangeAspect="1"/>
          </p:cNvPicPr>
          <p:nvPr/>
        </p:nvPicPr>
        <p:blipFill>
          <a:blip r:embed="rId5"/>
          <a:stretch>
            <a:fillRect/>
          </a:stretch>
        </p:blipFill>
        <p:spPr>
          <a:xfrm>
            <a:off x="548640" y="1523808"/>
            <a:ext cx="6217920" cy="2987424"/>
          </a:xfrm>
          <a:prstGeom prst="rect">
            <a:avLst/>
          </a:prstGeom>
        </p:spPr>
      </p:pic>
      <p:sp>
        <p:nvSpPr>
          <p:cNvPr id="6" name="Rules box">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Rul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How Conditional Access decides</a:t>
            </a:r>
            <a:endParaRPr lang="en-US" sz="1650" dirty="0"/>
          </a:p>
        </p:txBody>
      </p:sp>
      <p:sp>
        <p:nvSpPr>
          <p:cNvPr id="10" name="Rule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policy that applies must be met</a:t>
            </a:r>
            <a:endParaRPr lang="en-US" sz="1400" dirty="0"/>
          </a:p>
          <a:p>
            <a:pPr marL="342900" indent="-342900">
              <a:spcAft>
                <a:spcPts val="600"/>
              </a:spcAft>
              <a:buSzPct val="100000"/>
              <a:buChar char="•"/>
            </a:pPr>
            <a:r>
              <a:rPr lang="en-US" sz="1350" dirty="0">
                <a:solidFill>
                  <a:schemeClr val="tx2"/>
                </a:solidFill>
              </a:rPr>
              <a:t>A block wins over any grant</a:t>
            </a:r>
            <a:endParaRPr lang="en-US" sz="1400" dirty="0"/>
          </a:p>
          <a:p>
            <a:pPr marL="342900" indent="-342900">
              <a:spcAft>
                <a:spcPts val="600"/>
              </a:spcAft>
              <a:buSzPct val="100000"/>
              <a:buChar char="•"/>
            </a:pPr>
            <a:r>
              <a:rPr lang="en-US" sz="1350" dirty="0">
                <a:solidFill>
                  <a:schemeClr val="tx2"/>
                </a:solidFill>
              </a:rPr>
              <a:t>An exclusion overrides everything</a:t>
            </a:r>
            <a:endParaRPr lang="en-US" sz="1400" dirty="0"/>
          </a:p>
          <a:p>
            <a:pPr marL="342900" indent="-342900">
              <a:spcAft>
                <a:spcPts val="600"/>
              </a:spcAft>
              <a:buSzPct val="100000"/>
              <a:buChar char="•"/>
            </a:pPr>
            <a:r>
              <a:rPr lang="en-US" sz="1350" dirty="0">
                <a:solidFill>
                  <a:schemeClr val="tx2"/>
                </a:solidFill>
              </a:rPr>
              <a:t>Sessions re-checked on critical events</a:t>
            </a:r>
            <a:endParaRPr lang="en-US" sz="1400" dirty="0"/>
          </a:p>
          <a:p>
            <a:pPr marL="342900" indent="-342900">
              <a:spcAft>
                <a:spcPts val="600"/>
              </a:spcAft>
              <a:buSzPct val="100000"/>
              <a:buChar char="•"/>
            </a:pPr>
            <a:r>
              <a:rPr lang="en-US" sz="1350" dirty="0">
                <a:solidFill>
                  <a:schemeClr val="tx2"/>
                </a:solidFill>
              </a:rPr>
              <a:t>Report-only first; enforcing is a change</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Every exclusion is a standing hole.  </a:t>
            </a:r>
            <a:r>
              <a:rPr lang="en-US" sz="1650" dirty="0">
                <a:solidFill>
                  <a:schemeClr val="tx2"/>
                </a:solidFill>
              </a:rPr>
              <a:t>Only the emergency access group is excluded by design; every other exclusion needs an owner, a reason and an expiry.</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(tenets 2–4); CISA ZTMM v2.0; Microsoft Learn — Conditional Access overview and policy evaluation. Book 04,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321D1E2-674E-53DA-902A-A6236A86F9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510CAE5-D7B9-45EF-BE40-E19E0C421616}"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900"/>
    </mc:Choice>
    <mc:Fallback>
      <p:transition spd="slow" advTm="4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9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Membership and location decide once; policy, every time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grey box on the left, the access request: may this person, on this device, reach this resource now? Two arrows leave it. The upper arrow, labelled inherited model, leads to a red box, granted by membership and location, decided once and trusted after: inside the network, so trusted; in the group, so allowed; membership outlives the need; nothing re-checks the session. The lower arrow, labelled Zero Trust model, leads to a green box, decided by policy, evaluated on every request: identity, device, risk and resource together; network location is one signal; conditions change, so the answer changes; every decision is logged."/>
          <p:cNvPicPr>
            <a:picLocks noChangeAspect="1"/>
          </p:cNvPicPr>
          <p:nvPr/>
        </p:nvPicPr>
        <p:blipFill>
          <a:blip r:embed="rId5"/>
          <a:stretch>
            <a:fillRect/>
          </a:stretch>
        </p:blipFill>
        <p:spPr>
          <a:xfrm>
            <a:off x="612033" y="1371600"/>
            <a:ext cx="5633933" cy="3291840"/>
          </a:xfrm>
          <a:prstGeom prst="rect">
            <a:avLst/>
          </a:prstGeom>
        </p:spPr>
      </p:pic>
      <p:sp>
        <p:nvSpPr>
          <p:cNvPr id="6" name="Data box">
            <a:extLst>
              <a:ext uri="{C183D7F6-B498-43B3-948B-1728B52AA6E4}">
                <adec:decorative xmlns:adec="http://schemas.microsoft.com/office/drawing/2017/decorative" val="1"/>
              </a:ext>
            </a:extLst>
          </p:cNvPr>
          <p:cNvSpPr/>
          <p:nvPr/>
        </p:nvSpPr>
        <p:spPr>
          <a:xfrm>
            <a:off x="6537960" y="1371600"/>
            <a:ext cx="5120640" cy="2148840"/>
          </a:xfrm>
          <a:prstGeom prst="roundRect">
            <a:avLst>
              <a:gd name="adj" fmla="val 340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98234" y="1649578"/>
            <a:ext cx="285293" cy="285293"/>
          </a:xfrm>
          <a:prstGeom prst="rect">
            <a:avLst/>
          </a:prstGeom>
        </p:spPr>
      </p:pic>
      <p:sp>
        <p:nvSpPr>
          <p:cNvPr id="9" name="Data head"/>
          <p:cNvSpPr txBox="1"/>
          <p:nvPr/>
        </p:nvSpPr>
        <p:spPr>
          <a:xfrm>
            <a:off x="7452360" y="1517904"/>
            <a:ext cx="406908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Policy is only as good as its data</a:t>
            </a:r>
            <a:endParaRPr lang="en-US" sz="1650" dirty="0"/>
          </a:p>
        </p:txBody>
      </p:sp>
      <p:sp>
        <p:nvSpPr>
          <p:cNvPr id="10" name="Data list"/>
          <p:cNvSpPr txBox="1"/>
          <p:nvPr/>
        </p:nvSpPr>
        <p:spPr>
          <a:xfrm>
            <a:off x="6766560" y="2212848"/>
            <a:ext cx="470916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empty attribute falls outside the policy</a:t>
            </a:r>
            <a:endParaRPr lang="en-US" sz="1400" dirty="0"/>
          </a:p>
          <a:p>
            <a:pPr marL="342900" indent="-342900">
              <a:spcAft>
                <a:spcPts val="600"/>
              </a:spcAft>
              <a:buSzPct val="100000"/>
              <a:buChar char="•"/>
            </a:pPr>
            <a:r>
              <a:rPr lang="en-US" sz="1350" dirty="0">
                <a:solidFill>
                  <a:schemeClr val="tx2"/>
                </a:solidFill>
              </a:rPr>
              <a:t>Dynamic groups can lag past 24 hours</a:t>
            </a:r>
            <a:endParaRPr lang="en-US" sz="1400" dirty="0"/>
          </a:p>
          <a:p>
            <a:pPr marL="342900" indent="-342900">
              <a:spcAft>
                <a:spcPts val="600"/>
              </a:spcAft>
              <a:buSzPct val="100000"/>
              <a:buChar char="•"/>
            </a:pPr>
            <a:r>
              <a:rPr lang="en-US" sz="1350" dirty="0">
                <a:solidFill>
                  <a:schemeClr val="tx2"/>
                </a:solidFill>
              </a:rPr>
              <a:t>Urgent removals: disable, revoke sessions</a:t>
            </a:r>
            <a:endParaRPr lang="en-US" sz="1400" dirty="0"/>
          </a:p>
          <a:p>
            <a:pPr marL="342900" indent="-342900">
              <a:spcAft>
                <a:spcPts val="600"/>
              </a:spcAft>
              <a:buSzPct val="100000"/>
              <a:buChar char="•"/>
            </a:pPr>
            <a:r>
              <a:rPr lang="en-US" sz="1350" dirty="0">
                <a:solidFill>
                  <a:schemeClr val="tx2"/>
                </a:solidFill>
              </a:rPr>
              <a:t>Baselines include all users, exclude narrowly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Enforce no attribute-scoped policy until its attributes are populated and verified; baseline policies include all users and exclude narrowly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HR owns the attribute values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each such policy is enforced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Microsoft Learn — dynamic membership processing, Continuous Access Evaluation. Book 04, Chapters 01 and 03;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DEFDCF2-A538-D570-3AB8-FE464E87CF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E7AAE5-4185-4F79-837D-2AC015BA77B7}"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20"/>
    </mc:Choice>
    <mc:Fallback>
      <p:transition spd="slow" advTm="51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1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Standing privilege is an open door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grey box on the left, an administrator's credential: phished, sprayed, replayed or stolen. Two arrows labelled compromised leave it. The red one leads to a red box, standing assignment, always active: role usable at once and at any hour; no justification and no approval; exposure every hour of the year; the attacker becomes the administrator. The amber one leads to a green box, eligible assignment, activated just in time: the same rights, but only after activation; strong authentication, justification and approval; time-limited and expires without action; every activation is logged."/>
          <p:cNvPicPr>
            <a:picLocks noChangeAspect="1"/>
          </p:cNvPicPr>
          <p:nvPr/>
        </p:nvPicPr>
        <p:blipFill>
          <a:blip r:embed="rId5"/>
          <a:stretch>
            <a:fillRect/>
          </a:stretch>
        </p:blipFill>
        <p:spPr>
          <a:xfrm>
            <a:off x="638092" y="1371600"/>
            <a:ext cx="5581816" cy="3291840"/>
          </a:xfrm>
          <a:prstGeom prst="rect">
            <a:avLst/>
          </a:prstGeom>
        </p:spPr>
      </p:pic>
      <p:sp>
        <p:nvSpPr>
          <p:cNvPr id="6" name="Scope box">
            <a:extLst>
              <a:ext uri="{C183D7F6-B498-43B3-948B-1728B52AA6E4}">
                <adec:decorative xmlns:adec="http://schemas.microsoft.com/office/drawing/2017/decorative" val="1"/>
              </a:ext>
            </a:extLst>
          </p:cNvPr>
          <p:cNvSpPr/>
          <p:nvPr/>
        </p:nvSpPr>
        <p:spPr>
          <a:xfrm>
            <a:off x="6537960" y="1371600"/>
            <a:ext cx="5120640" cy="2359152"/>
          </a:xfrm>
          <a:prstGeom prst="roundRect">
            <a:avLst>
              <a:gd name="adj" fmla="val 310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98234" y="1649578"/>
            <a:ext cx="285293" cy="285293"/>
          </a:xfrm>
          <a:prstGeom prst="rect">
            <a:avLst/>
          </a:prstGeom>
        </p:spPr>
      </p:pic>
      <p:sp>
        <p:nvSpPr>
          <p:cNvPr id="9" name="Scope head"/>
          <p:cNvSpPr txBox="1"/>
          <p:nvPr/>
        </p:nvSpPr>
        <p:spPr>
          <a:xfrm>
            <a:off x="7452360" y="1517904"/>
            <a:ext cx="406908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A strong sign-in doesn't narrow scope</a:t>
            </a:r>
            <a:endParaRPr lang="en-US" sz="1650" dirty="0"/>
          </a:p>
        </p:txBody>
      </p:sp>
      <p:sp>
        <p:nvSpPr>
          <p:cNvPr id="10" name="Scope list"/>
          <p:cNvSpPr txBox="1"/>
          <p:nvPr/>
        </p:nvSpPr>
        <p:spPr>
          <a:xfrm>
            <a:off x="6766560" y="2212848"/>
            <a:ext cx="470916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standing role is exposed 8,760 hours a year</a:t>
            </a:r>
            <a:endParaRPr lang="en-US" sz="1400" dirty="0"/>
          </a:p>
          <a:p>
            <a:pPr marL="342900" indent="-342900">
              <a:spcAft>
                <a:spcPts val="600"/>
              </a:spcAft>
              <a:buSzPct val="100000"/>
              <a:buChar char="•"/>
            </a:pPr>
            <a:r>
              <a:rPr lang="en-US" sz="1350" dirty="0">
                <a:solidFill>
                  <a:schemeClr val="tx2"/>
                </a:solidFill>
              </a:rPr>
              <a:t>NSA and CISA rank it second of ten</a:t>
            </a:r>
            <a:endParaRPr lang="en-US" sz="1400" dirty="0"/>
          </a:p>
          <a:p>
            <a:pPr marL="342900" indent="-342900">
              <a:spcAft>
                <a:spcPts val="600"/>
              </a:spcAft>
              <a:buSzPct val="100000"/>
              <a:buChar char="•"/>
            </a:pPr>
            <a:r>
              <a:rPr lang="en-US" sz="1350" dirty="0">
                <a:solidFill>
                  <a:schemeClr val="tx2"/>
                </a:solidFill>
              </a:rPr>
              <a:t>Midnight Blizzard: a forgotten app, still privileged</a:t>
            </a:r>
            <a:endParaRPr lang="en-US" sz="1400" dirty="0"/>
          </a:p>
          <a:p>
            <a:pPr marL="342900" indent="-342900">
              <a:spcAft>
                <a:spcPts val="600"/>
              </a:spcAft>
              <a:buSzPct val="100000"/>
              <a:buChar char="•"/>
            </a:pPr>
            <a:r>
              <a:rPr lang="en-US" sz="1350" dirty="0">
                <a:solidFill>
                  <a:schemeClr val="tx2"/>
                </a:solidFill>
              </a:rPr>
              <a:t>A FIDO2 key verifies; it doesn't limit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Hold every human administrative role as eligible, activated through PIM; record any standing privilege that remains as residual risk with an owner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sets the model; the AO accepts what remains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first high-risk role class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NSA/CISA AA23-278A (Oct 2023); Microsoft, Midnight Blizzard disclosure (Jan 2024); Microsoft Learn — PIM. Book 04, Chapter 02;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B99BF70-D539-A352-F379-EE8D4E5A12A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ACDC86E-A500-4D38-BE0A-C66C2C75BFF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90"/>
    </mc:Choice>
    <mc:Fallback>
      <p:transition spd="slow" advTm="48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8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least privilege requires, and what policy says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Four boxes left to right joined by arrows. Red, traditional: permanent access; privileged and unprivileged access granted permanently and reviewed periodically. Amber, initial: access that expires, including privileged requests, with automated review. Blue, advanced: need-based and session-based access tailored to actions and resources, privileged requests included. Green, optimal: just-in-time, just-enough access, automated and tailored to individual actions and resources."/>
          <p:cNvPicPr>
            <a:picLocks noChangeAspect="1"/>
          </p:cNvPicPr>
          <p:nvPr/>
        </p:nvPicPr>
        <p:blipFill>
          <a:blip r:embed="rId5"/>
          <a:stretch>
            <a:fillRect/>
          </a:stretch>
        </p:blipFill>
        <p:spPr>
          <a:xfrm>
            <a:off x="3062136" y="1371600"/>
            <a:ext cx="6082967" cy="1188720"/>
          </a:xfrm>
          <a:prstGeom prst="rect">
            <a:avLst/>
          </a:prstGeom>
        </p:spPr>
      </p:pic>
      <p:sp>
        <p:nvSpPr>
          <p:cNvPr id="6" name="NIST box">
            <a:extLst>
              <a:ext uri="{C183D7F6-B498-43B3-948B-1728B52AA6E4}">
                <adec:decorative xmlns:adec="http://schemas.microsoft.com/office/drawing/2017/decorative" val="1"/>
              </a:ext>
            </a:extLst>
          </p:cNvPr>
          <p:cNvSpPr/>
          <p:nvPr/>
        </p:nvSpPr>
        <p:spPr>
          <a:xfrm>
            <a:off x="548640" y="2697480"/>
            <a:ext cx="5440680" cy="1874520"/>
          </a:xfrm>
          <a:prstGeom prst="roundRect">
            <a:avLst>
              <a:gd name="adj" fmla="val 390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77240" y="284378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8914" y="2975458"/>
            <a:ext cx="285293" cy="285293"/>
          </a:xfrm>
          <a:prstGeom prst="rect">
            <a:avLst/>
          </a:prstGeom>
        </p:spPr>
      </p:pic>
      <p:sp>
        <p:nvSpPr>
          <p:cNvPr id="9" name="NIST head"/>
          <p:cNvSpPr txBox="1"/>
          <p:nvPr/>
        </p:nvSpPr>
        <p:spPr>
          <a:xfrm>
            <a:off x="1463040" y="2843784"/>
            <a:ext cx="438912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the Moderate baseline asks</a:t>
            </a:r>
            <a:endParaRPr lang="en-US" sz="1650" dirty="0"/>
          </a:p>
        </p:txBody>
      </p:sp>
      <p:sp>
        <p:nvSpPr>
          <p:cNvPr id="10" name="NIST list"/>
          <p:cNvSpPr txBox="1"/>
          <p:nvPr/>
        </p:nvSpPr>
        <p:spPr>
          <a:xfrm>
            <a:off x="777240" y="3538728"/>
            <a:ext cx="5029200" cy="9372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AC-6: only the access a task needs</a:t>
            </a:r>
            <a:endParaRPr lang="en-US" sz="1400" dirty="0"/>
          </a:p>
          <a:p>
            <a:pPr marL="342900" indent="-342900">
              <a:spcAft>
                <a:spcPts val="600"/>
              </a:spcAft>
              <a:buSzPct val="100000"/>
              <a:buChar char="•"/>
            </a:pPr>
            <a:r>
              <a:rPr lang="en-US" sz="1350" dirty="0">
                <a:solidFill>
                  <a:schemeClr val="tx2"/>
                </a:solidFill>
              </a:rPr>
              <a:t>AC-6(7): review privileges on a schedule</a:t>
            </a:r>
            <a:endParaRPr lang="en-US" sz="1400" dirty="0"/>
          </a:p>
          <a:p>
            <a:pPr marL="342900" indent="-342900">
              <a:spcAft>
                <a:spcPts val="600"/>
              </a:spcAft>
              <a:buSzPct val="100000"/>
              <a:buChar char="•"/>
            </a:pPr>
            <a:r>
              <a:rPr lang="en-US" sz="1350" dirty="0">
                <a:solidFill>
                  <a:schemeClr val="tx2"/>
                </a:solidFill>
              </a:rPr>
              <a:t>AC-6(9): log every privileged function</a:t>
            </a:r>
            <a:endParaRPr lang="en-US" sz="1400" dirty="0"/>
          </a:p>
        </p:txBody>
      </p:sp>
      <p:sp>
        <p:nvSpPr>
          <p:cNvPr id="11" name="Policy box">
            <a:extLst>
              <a:ext uri="{C183D7F6-B498-43B3-948B-1728B52AA6E4}">
                <adec:decorative xmlns:adec="http://schemas.microsoft.com/office/drawing/2017/decorative" val="1"/>
              </a:ext>
            </a:extLst>
          </p:cNvPr>
          <p:cNvSpPr/>
          <p:nvPr/>
        </p:nvSpPr>
        <p:spPr>
          <a:xfrm>
            <a:off x="6217920" y="2697480"/>
            <a:ext cx="5440680" cy="1874520"/>
          </a:xfrm>
          <a:prstGeom prst="roundRect">
            <a:avLst>
              <a:gd name="adj" fmla="val 390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Landmark">
            <a:extLst>
              <a:ext uri="{C183D7F6-B498-43B3-948B-1728B52AA6E4}">
                <adec:decorative xmlns:adec="http://schemas.microsoft.com/office/drawing/2017/decorative" val="1"/>
              </a:ext>
            </a:extLst>
          </p:cNvPr>
          <p:cNvSpPr/>
          <p:nvPr/>
        </p:nvSpPr>
        <p:spPr>
          <a:xfrm>
            <a:off x="6446520" y="2843784"/>
            <a:ext cx="548640" cy="548640"/>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578194" y="2975458"/>
            <a:ext cx="285293" cy="285293"/>
          </a:xfrm>
          <a:prstGeom prst="rect">
            <a:avLst/>
          </a:prstGeom>
        </p:spPr>
      </p:pic>
      <p:sp>
        <p:nvSpPr>
          <p:cNvPr id="14" name="Policy head"/>
          <p:cNvSpPr txBox="1"/>
          <p:nvPr/>
        </p:nvSpPr>
        <p:spPr>
          <a:xfrm>
            <a:off x="7132320" y="2843784"/>
            <a:ext cx="438912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What federal policy says, precisely</a:t>
            </a:r>
            <a:endParaRPr lang="en-US" sz="1650" dirty="0"/>
          </a:p>
        </p:txBody>
      </p:sp>
      <p:sp>
        <p:nvSpPr>
          <p:cNvPr id="15" name="Policy list"/>
          <p:cNvSpPr txBox="1"/>
          <p:nvPr/>
        </p:nvSpPr>
        <p:spPr>
          <a:xfrm>
            <a:off x="6446520" y="3538728"/>
            <a:ext cx="5029200" cy="9372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doesn't mandate time-bound privilege</a:t>
            </a:r>
            <a:endParaRPr lang="en-US" sz="1400" dirty="0"/>
          </a:p>
          <a:p>
            <a:pPr marL="342900" indent="-342900">
              <a:spcAft>
                <a:spcPts val="600"/>
              </a:spcAft>
              <a:buSzPct val="100000"/>
              <a:buChar char="•"/>
            </a:pPr>
            <a:r>
              <a:rPr lang="en-US" sz="1350" dirty="0">
                <a:solidFill>
                  <a:schemeClr val="tx2"/>
                </a:solidFill>
              </a:rPr>
              <a:t>SP 800-207: least privilege, per session</a:t>
            </a:r>
            <a:endParaRPr lang="en-US" sz="1400" dirty="0"/>
          </a:p>
          <a:p>
            <a:pPr marL="342900" indent="-342900">
              <a:spcAft>
                <a:spcPts val="600"/>
              </a:spcAft>
              <a:buSzPct val="100000"/>
              <a:buChar char="•"/>
            </a:pPr>
            <a:r>
              <a:rPr lang="en-US" sz="1350" dirty="0">
                <a:solidFill>
                  <a:schemeClr val="tx2"/>
                </a:solidFill>
              </a:rPr>
              <a:t>Microsoft: fewer than five Global Admins</a:t>
            </a:r>
            <a:endParaRPr lang="en-US" sz="1400" dirty="0"/>
          </a:p>
        </p:txBody>
      </p:sp>
      <p:sp>
        <p:nvSpPr>
          <p:cNvPr id="16"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Icon FaUserClo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19"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Time is the dimension most estates never limited.  </a:t>
            </a:r>
            <a:r>
              <a:rPr lang="en-US" sz="1650" dirty="0">
                <a:solidFill>
                  <a:schemeClr val="tx2"/>
                </a:solidFill>
              </a:rPr>
              <a:t>Just-in-time activation limits it, and produces the review and log records AC-6 asks for as a by-product.</a:t>
            </a:r>
            <a:endParaRPr lang="en-US" sz="16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and SP 800-53B (AC-5, AC-6 and enhancements, AC-2(2)); OMB M-22-09; NIST SP 800-207; CISA ZTMM v2.0. Book 04, Chapters 02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DC50A500-968B-AB18-A0EC-9E4D4CFF96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60434E3-94E7-42DA-AC10-DAF0CBBD7DBD}"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740"/>
    </mc:Choice>
    <mc:Fallback>
      <p:transition spd="slow" advTm="49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744"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Conditional Access baseline, built to BOD 25-01</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4297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CISA required configuration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Library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062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MS.AAD.1.1  Block legacy authentication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CA001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MS.AAD.2.1  Block high-risk users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CA013, block 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MS.AAD.2.3  Block high-risk sign-ins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CA019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MS.AAD.3.1  Phishing-resistant MFA, all users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CA022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MS.AAD.3.2  Other MFA only until then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CA006, CA009, CA018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MS.AAD.3.6  Phishing-resistant MFA, privileged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CA003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Waves box">
            <a:extLst>
              <a:ext uri="{C183D7F6-B498-43B3-948B-1728B52AA6E4}">
                <adec:decorative xmlns:adec="http://schemas.microsoft.com/office/drawing/2017/decorative" val="1"/>
              </a:ext>
            </a:extLst>
          </p:cNvPr>
          <p:cNvSpPr/>
          <p:nvPr/>
        </p:nvSpPr>
        <p:spPr>
          <a:xfrm>
            <a:off x="7086600" y="1371600"/>
            <a:ext cx="4572000" cy="2642616"/>
          </a:xfrm>
          <a:prstGeom prst="roundRect">
            <a:avLst>
              <a:gd name="adj" fmla="val 276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5"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Wav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Five waves, each gated</a:t>
            </a:r>
            <a:endParaRPr lang="en-US" sz="1650" dirty="0"/>
          </a:p>
        </p:txBody>
      </p:sp>
      <p:sp>
        <p:nvSpPr>
          <p:cNvPr id="10" name="Waves list"/>
          <p:cNvSpPr txBox="1"/>
          <p:nvPr/>
        </p:nvSpPr>
        <p:spPr>
          <a:xfrm>
            <a:off x="7315200" y="2212848"/>
            <a:ext cx="416052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 Foundation: block legacy sign-in</a:t>
            </a:r>
            <a:endParaRPr lang="en-US" sz="1400" dirty="0"/>
          </a:p>
          <a:p>
            <a:pPr marL="342900" indent="-342900">
              <a:spcAft>
                <a:spcPts val="600"/>
              </a:spcAft>
              <a:buSzPct val="100000"/>
              <a:buChar char="•"/>
            </a:pPr>
            <a:r>
              <a:rPr lang="en-US" sz="1350" dirty="0">
                <a:solidFill>
                  <a:schemeClr val="tx2"/>
                </a:solidFill>
              </a:rPr>
              <a:t>2. Administrators: phishing-resistant, PAW</a:t>
            </a:r>
            <a:endParaRPr lang="en-US" sz="1400" dirty="0"/>
          </a:p>
          <a:p>
            <a:pPr marL="342900" indent="-342900">
              <a:spcAft>
                <a:spcPts val="600"/>
              </a:spcAft>
              <a:buSzPct val="100000"/>
              <a:buChar char="•"/>
            </a:pPr>
            <a:r>
              <a:rPr lang="en-US" sz="1350" dirty="0">
                <a:solidFill>
                  <a:schemeClr val="tx2"/>
                </a:solidFill>
              </a:rPr>
              <a:t>3. Everyone: MFA and managed devices</a:t>
            </a:r>
            <a:endParaRPr lang="en-US" sz="1400" dirty="0"/>
          </a:p>
          <a:p>
            <a:pPr marL="342900" indent="-342900">
              <a:spcAft>
                <a:spcPts val="600"/>
              </a:spcAft>
              <a:buSzPct val="100000"/>
              <a:buChar char="•"/>
            </a:pPr>
            <a:r>
              <a:rPr lang="en-US" sz="1350" dirty="0">
                <a:solidFill>
                  <a:schemeClr val="tx2"/>
                </a:solidFill>
              </a:rPr>
              <a:t>4. Risk and workload identities</a:t>
            </a:r>
            <a:endParaRPr lang="en-US" sz="1400" dirty="0"/>
          </a:p>
          <a:p>
            <a:pPr marL="342900" indent="-342900">
              <a:spcAft>
                <a:spcPts val="600"/>
              </a:spcAft>
              <a:buSzPct val="100000"/>
              <a:buChar char="•"/>
            </a:pPr>
            <a:r>
              <a:rPr lang="en-US" sz="1350" dirty="0">
                <a:solidFill>
                  <a:schemeClr val="tx2"/>
                </a:solidFill>
              </a:rPr>
              <a:t>5. Segments and the end state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Adopt the library and its five waves as the agency's access baseline; in a BOD 25-01 tenant, block high-risk users rather than ask them to remediate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wave 1 is enforced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required configurations; SCuBA Entra ID baseline; Microsoft Learn — Conditional Access. Book 04, Chapter 07;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51B4EAD-86D7-F01F-9A18-C6DAD34A48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4C2B85C-ED8A-4477-8E16-13B323BAFEBA}"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700"/>
    </mc:Choice>
    <mc:Fallback>
      <p:transition spd="slow" advTm="53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70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Phishing-resistant MFA is the end state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rength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BUILT-IN AUTHENTICATION STRENGTHS, AND THE PROGRAM'S USE</a:t>
            </a:r>
            <a:endParaRPr lang="en-US" sz="1200" dirty="0"/>
          </a:p>
        </p:txBody>
      </p:sp>
      <p:sp>
        <p:nvSpPr>
          <p:cNvPr id="6" name="Strength 0">
            <a:extLst>
              <a:ext uri="{C183D7F6-B498-43B3-948B-1728B52AA6E4}">
                <adec:decorative xmlns:adec="http://schemas.microsoft.com/office/drawing/2017/decorative" val="1"/>
              </a:ext>
            </a:extLst>
          </p:cNvPr>
          <p:cNvSpPr/>
          <p:nvPr/>
        </p:nvSpPr>
        <p:spPr>
          <a:xfrm>
            <a:off x="548640" y="1737360"/>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Strength 0 text"/>
          <p:cNvSpPr txBox="1"/>
          <p:nvPr/>
        </p:nvSpPr>
        <p:spPr>
          <a:xfrm>
            <a:off x="731520" y="1737360"/>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MFA   </a:t>
            </a:r>
            <a:r>
              <a:rPr lang="en-US" sz="1350" dirty="0">
                <a:solidFill>
                  <a:schemeClr val="tx2"/>
                </a:solidFill>
              </a:rPr>
              <a:t>Transitional: a password plus a second factor</a:t>
            </a:r>
            <a:endParaRPr lang="en-US" sz="1350" dirty="0"/>
          </a:p>
        </p:txBody>
      </p:sp>
      <p:sp>
        <p:nvSpPr>
          <p:cNvPr id="8" name="Strength 1">
            <a:extLst>
              <a:ext uri="{C183D7F6-B498-43B3-948B-1728B52AA6E4}">
                <adec:decorative xmlns:adec="http://schemas.microsoft.com/office/drawing/2017/decorative" val="1"/>
              </a:ext>
            </a:extLst>
          </p:cNvPr>
          <p:cNvSpPr/>
          <p:nvPr/>
        </p:nvSpPr>
        <p:spPr>
          <a:xfrm>
            <a:off x="548640" y="2450592"/>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Strength 1 text"/>
          <p:cNvSpPr txBox="1"/>
          <p:nvPr/>
        </p:nvSpPr>
        <p:spPr>
          <a:xfrm>
            <a:off x="731520" y="2450592"/>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Passwordless   </a:t>
            </a:r>
            <a:r>
              <a:rPr lang="en-US" sz="1350" dirty="0">
                <a:solidFill>
                  <a:schemeClr val="tx2"/>
                </a:solidFill>
              </a:rPr>
              <a:t>Adds Authenticator phone sign-in</a:t>
            </a:r>
            <a:endParaRPr lang="en-US" sz="1350" dirty="0"/>
          </a:p>
        </p:txBody>
      </p:sp>
      <p:sp>
        <p:nvSpPr>
          <p:cNvPr id="10" name="Strength 2">
            <a:extLst>
              <a:ext uri="{C183D7F6-B498-43B3-948B-1728B52AA6E4}">
                <adec:decorative xmlns:adec="http://schemas.microsoft.com/office/drawing/2017/decorative" val="1"/>
              </a:ext>
            </a:extLst>
          </p:cNvPr>
          <p:cNvSpPr/>
          <p:nvPr/>
        </p:nvSpPr>
        <p:spPr>
          <a:xfrm>
            <a:off x="548640" y="3163824"/>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Strength 2 text"/>
          <p:cNvSpPr txBox="1"/>
          <p:nvPr/>
        </p:nvSpPr>
        <p:spPr>
          <a:xfrm>
            <a:off x="731520" y="3163824"/>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Phishing-resistant   </a:t>
            </a:r>
            <a:r>
              <a:rPr lang="en-US" sz="1350" dirty="0">
                <a:solidFill>
                  <a:schemeClr val="tx2"/>
                </a:solidFill>
              </a:rPr>
              <a:t>Windows Hello, FIDO2 passkey, certificates</a:t>
            </a:r>
            <a:endParaRPr lang="en-US" sz="1350" dirty="0"/>
          </a:p>
        </p:txBody>
      </p:sp>
      <p:sp>
        <p:nvSpPr>
          <p:cNvPr id="12" name="Strength 3">
            <a:extLst>
              <a:ext uri="{C183D7F6-B498-43B3-948B-1728B52AA6E4}">
                <adec:decorative xmlns:adec="http://schemas.microsoft.com/office/drawing/2017/decorative" val="1"/>
              </a:ext>
            </a:extLst>
          </p:cNvPr>
          <p:cNvSpPr/>
          <p:nvPr/>
        </p:nvSpPr>
        <p:spPr>
          <a:xfrm>
            <a:off x="548640" y="3877056"/>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Strength 3 text"/>
          <p:cNvSpPr txBox="1"/>
          <p:nvPr/>
        </p:nvSpPr>
        <p:spPr>
          <a:xfrm>
            <a:off x="731520" y="3877056"/>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Admins (custom)   </a:t>
            </a:r>
            <a:r>
              <a:rPr lang="en-US" sz="1350" dirty="0">
                <a:solidFill>
                  <a:schemeClr val="tx2"/>
                </a:solidFill>
              </a:rPr>
              <a:t>FIDO2 or certificate, on a separate device</a:t>
            </a:r>
            <a:endParaRPr lang="en-US" sz="1350" dirty="0"/>
          </a:p>
        </p:txBody>
      </p:sp>
      <p:sp>
        <p:nvSpPr>
          <p:cNvPr id="14" name="Ready box">
            <a:extLst>
              <a:ext uri="{C183D7F6-B498-43B3-948B-1728B52AA6E4}">
                <adec:decorative xmlns:adec="http://schemas.microsoft.com/office/drawing/2017/decorative" val="1"/>
              </a:ext>
            </a:extLst>
          </p:cNvPr>
          <p:cNvSpPr/>
          <p:nvPr/>
        </p:nvSpPr>
        <p:spPr>
          <a:xfrm>
            <a:off x="7086600" y="1371600"/>
            <a:ext cx="4572000" cy="2843784"/>
          </a:xfrm>
          <a:prstGeom prst="roundRect">
            <a:avLst>
              <a:gd name="adj" fmla="val 257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Clipboard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Ready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Getting there on measured readiness</a:t>
            </a:r>
            <a:endParaRPr lang="en-US" sz="1650" dirty="0"/>
          </a:p>
        </p:txBody>
      </p:sp>
      <p:sp>
        <p:nvSpPr>
          <p:cNvPr id="18" name="Ready list"/>
          <p:cNvSpPr txBox="1"/>
          <p:nvPr/>
        </p:nvSpPr>
        <p:spPr>
          <a:xfrm>
            <a:off x="7315200" y="2212848"/>
            <a:ext cx="416052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Report-only from the program's first day</a:t>
            </a:r>
            <a:endParaRPr lang="en-US" sz="1400" dirty="0"/>
          </a:p>
          <a:p>
            <a:pPr marL="342900" indent="-342900">
              <a:spcAft>
                <a:spcPts val="600"/>
              </a:spcAft>
              <a:buSzPct val="100000"/>
              <a:buChar char="•"/>
            </a:pPr>
            <a:r>
              <a:rPr lang="en-US" sz="1350" dirty="0">
                <a:solidFill>
                  <a:schemeClr val="tx2"/>
                </a:solidFill>
              </a:rPr>
              <a:t>95% of users registered before enforcing</a:t>
            </a:r>
            <a:endParaRPr lang="en-US" sz="1400" dirty="0"/>
          </a:p>
          <a:p>
            <a:pPr marL="342900" indent="-342900">
              <a:spcAft>
                <a:spcPts val="600"/>
              </a:spcAft>
              <a:buSzPct val="100000"/>
              <a:buChar char="•"/>
            </a:pPr>
            <a:r>
              <a:rPr lang="en-US" sz="1350" dirty="0">
                <a:solidFill>
                  <a:schemeClr val="tx2"/>
                </a:solidFill>
              </a:rPr>
              <a:t>90% of devices enrolled and compliant</a:t>
            </a:r>
            <a:endParaRPr lang="en-US" sz="1400" dirty="0"/>
          </a:p>
          <a:p>
            <a:pPr marL="342900" indent="-342900">
              <a:spcAft>
                <a:spcPts val="600"/>
              </a:spcAft>
              <a:buSzPct val="100000"/>
              <a:buChar char="•"/>
            </a:pPr>
            <a:r>
              <a:rPr lang="en-US" sz="1350" dirty="0">
                <a:solidFill>
                  <a:schemeClr val="tx2"/>
                </a:solidFill>
              </a:rPr>
              <a:t>Not-ready group shrinks; each entry expires</a:t>
            </a:r>
            <a:endParaRPr lang="en-US" sz="1400" dirty="0"/>
          </a:p>
          <a:p>
            <a:pPr marL="342900" indent="-342900">
              <a:spcAft>
                <a:spcPts val="600"/>
              </a:spcAft>
              <a:buSzPct val="100000"/>
              <a:buChar char="•"/>
            </a:pPr>
            <a:r>
              <a:rPr lang="en-US" sz="1350" dirty="0">
                <a:solidFill>
                  <a:schemeClr val="tx2"/>
                </a:solidFill>
              </a:rPr>
              <a:t>FIPS 140 validated keys for privileged use</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Turn the phishing-resistant MFA policy on in report-only on day one, and enforce it as users enroll, with an expiry on every not-ready exception</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Report-only on day one; enforce on readiness</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(MS.AAD.3.1, 3.2, 3.6); OMB M-22-09; Microsoft Learn — authentication strengths, passwordless deployment. Book 04, Chapters 03, 07.</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59A129D0-4E75-F3D0-7D0B-522197CA55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FDCCBB7-601E-468B-8919-E769B285CAA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640"/>
    </mc:Choice>
    <mc:Fallback>
      <p:transition spd="slow" advTm="48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64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Policies come in pairs, and Microsoft adds its own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wo rows, left to right. Top row: a Finance user signing in to the payroll app reaches a blue box, policy 1, grant: Finance group to payroll app, require phishing-resistant MFA and a compliant device, and then a green box: token, with controls met. Bottom row: anyone else signing in to the payroll app reaches a red box, policy 2, block: all users except Finance to payroll app, block access, and then a red box: blocked, noting that without policy 2 they'd get a token with no controls."/>
          <p:cNvPicPr>
            <a:picLocks noChangeAspect="1"/>
          </p:cNvPicPr>
          <p:nvPr/>
        </p:nvPicPr>
        <p:blipFill>
          <a:blip r:embed="rId5"/>
          <a:stretch>
            <a:fillRect/>
          </a:stretch>
        </p:blipFill>
        <p:spPr>
          <a:xfrm>
            <a:off x="548640" y="1993392"/>
            <a:ext cx="6309360" cy="2048256"/>
          </a:xfrm>
          <a:prstGeom prst="rect">
            <a:avLst/>
          </a:prstGeom>
        </p:spPr>
      </p:pic>
      <p:sp>
        <p:nvSpPr>
          <p:cNvPr id="6" name="Managed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Managed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Microsoft-managed policies</a:t>
            </a:r>
            <a:endParaRPr lang="en-US" sz="1650" dirty="0"/>
          </a:p>
        </p:txBody>
      </p:sp>
      <p:sp>
        <p:nvSpPr>
          <p:cNvPr id="10" name="Managed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Arrive in your tenant in report-only</a:t>
            </a:r>
            <a:endParaRPr lang="en-US" sz="1400" dirty="0"/>
          </a:p>
          <a:p>
            <a:pPr marL="342900" indent="-342900">
              <a:spcAft>
                <a:spcPts val="600"/>
              </a:spcAft>
              <a:buSzPct val="100000"/>
              <a:buChar char="•"/>
            </a:pPr>
            <a:r>
              <a:rPr lang="en-US" sz="1350" dirty="0">
                <a:solidFill>
                  <a:schemeClr val="tx2"/>
                </a:solidFill>
              </a:rPr>
              <a:t>Turned on 30 or more days later, unless Off</a:t>
            </a:r>
            <a:endParaRPr lang="en-US" sz="1400" dirty="0"/>
          </a:p>
          <a:p>
            <a:pPr marL="342900" indent="-342900">
              <a:spcAft>
                <a:spcPts val="600"/>
              </a:spcAft>
              <a:buSzPct val="100000"/>
              <a:buChar char="•"/>
            </a:pPr>
            <a:r>
              <a:rPr lang="en-US" sz="1350" dirty="0">
                <a:solidFill>
                  <a:schemeClr val="tx2"/>
                </a:solidFill>
              </a:rPr>
              <a:t>Can be excluded; never renamed or deleted</a:t>
            </a:r>
            <a:endParaRPr lang="en-US" sz="1400" dirty="0"/>
          </a:p>
          <a:p>
            <a:pPr marL="342900" indent="-342900">
              <a:spcAft>
                <a:spcPts val="600"/>
              </a:spcAft>
              <a:buSzPct val="100000"/>
              <a:buChar char="•"/>
            </a:pPr>
            <a:r>
              <a:rPr lang="en-US" sz="1350" dirty="0">
                <a:solidFill>
                  <a:schemeClr val="tx2"/>
                </a:solidFill>
              </a:rPr>
              <a:t>Each needs a recorded adopt or supersede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Record an adopt-or-supersede decision for every Microsoft-managed policy before Microsoft turns it on, and cite the library policy it duplicates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Identity team, under the CISO's baseline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Within 30 days of each one's arrival</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policy planning, Microsoft-managed policies, approved client app retirement, service limits. Book 04, Chapters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E55BD81-EE8B-17DC-784B-F42CA9B371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E587F5-8B27-4A21-90CE-1AAB729AEC6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660"/>
    </mc:Choice>
    <mc:Fallback>
      <p:transition spd="slow" advTm="47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6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Privileged roles are tiered by what they can take over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stack of four cards. Tier 0, control plane, tenant-wide control: Global, Privileged Role, Privileged Authentication, Security and Conditional Access Administrator; gate of a Tier 0 approver group, a phishing-resistant authentication context, and 4 hours. A red arrow labeled can take over leads to Tier 1, management plane, service-wide administration: Exchange, SharePoint, Intune, Teams, Application, Cloud Application and Hybrid Identity Administrator; gate of a Tier 1 approver group, the authentication context, and 8 hours. Another red arrow labeled can take over leads to Tier 2, scoped operations, administration inside an administrative unit: User, Groups, Helpdesk, Password and Authentication Administrator scoped to an administrative unit (AU); gate of the authentication context and justification, approval optional with a risk acceptance, 8 hours. A dashed line leads to a slate read-only card: Global Reader, Security Reader, Reports Reader; the authentication context and justification, no approval, 8 hours. Beside Tier 0, an amber card, outside the tiers, standing active by exception: two emergency access accounts with permanent Global Administrator, and service principals that can't perform an activation; a dashed amber arrow labeled bypasses the gate points to Tier 0. Beside Tier 1, a violet card, approver groups: one group per tier, members outside the tier they approve, membership reviewed like a privileged object; a dashed violet arrow labeled approve activation points to Tier 1."/>
          <p:cNvPicPr>
            <a:picLocks noChangeAspect="1"/>
          </p:cNvPicPr>
          <p:nvPr/>
        </p:nvPicPr>
        <p:blipFill>
          <a:blip r:embed="rId5"/>
          <a:stretch>
            <a:fillRect/>
          </a:stretch>
        </p:blipFill>
        <p:spPr>
          <a:xfrm>
            <a:off x="692371" y="1371600"/>
            <a:ext cx="3553019" cy="3291840"/>
          </a:xfrm>
          <a:prstGeom prst="rect">
            <a:avLst/>
          </a:prstGeom>
        </p:spPr>
      </p:pic>
      <p:sp>
        <p:nvSpPr>
          <p:cNvPr id="6" name="Surprise box">
            <a:extLst>
              <a:ext uri="{C183D7F6-B498-43B3-948B-1728B52AA6E4}">
                <adec:decorative xmlns:adec="http://schemas.microsoft.com/office/drawing/2017/decorative" val="1"/>
              </a:ext>
            </a:extLst>
          </p:cNvPr>
          <p:cNvSpPr/>
          <p:nvPr/>
        </p:nvSpPr>
        <p:spPr>
          <a:xfrm>
            <a:off x="4663440" y="1371600"/>
            <a:ext cx="6995160" cy="2560320"/>
          </a:xfrm>
          <a:prstGeom prst="roundRect">
            <a:avLst>
              <a:gd name="adj" fmla="val 285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48920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23714" y="1649578"/>
            <a:ext cx="285293" cy="285293"/>
          </a:xfrm>
          <a:prstGeom prst="rect">
            <a:avLst/>
          </a:prstGeom>
        </p:spPr>
      </p:pic>
      <p:sp>
        <p:nvSpPr>
          <p:cNvPr id="9" name="Surprise head"/>
          <p:cNvSpPr txBox="1"/>
          <p:nvPr/>
        </p:nvSpPr>
        <p:spPr>
          <a:xfrm>
            <a:off x="5577840" y="1517904"/>
            <a:ext cx="59436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Placements that surprise people</a:t>
            </a:r>
            <a:endParaRPr lang="en-US" sz="1650" dirty="0"/>
          </a:p>
        </p:txBody>
      </p:sp>
      <p:sp>
        <p:nvSpPr>
          <p:cNvPr id="10" name="Surprise list"/>
          <p:cNvSpPr txBox="1"/>
          <p:nvPr/>
        </p:nvSpPr>
        <p:spPr>
          <a:xfrm>
            <a:off x="4892040" y="2212848"/>
            <a:ext cx="658368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Conditional Access Administrator is Tier 0: it can weaken the gate on elevation</a:t>
            </a:r>
            <a:endParaRPr lang="en-US" sz="1400" dirty="0"/>
          </a:p>
          <a:p>
            <a:pPr marL="342900" indent="-342900">
              <a:spcAft>
                <a:spcPts val="600"/>
              </a:spcAft>
              <a:buSzPct val="100000"/>
              <a:buChar char="•"/>
            </a:pPr>
            <a:r>
              <a:rPr lang="en-US" sz="1350" dirty="0">
                <a:solidFill>
                  <a:schemeClr val="tx2"/>
                </a:solidFill>
              </a:rPr>
              <a:t>Exchange Administrator carries no privileged label, yet reaches every mailbox: Tier 1</a:t>
            </a:r>
            <a:endParaRPr lang="en-US" sz="1400" dirty="0"/>
          </a:p>
          <a:p>
            <a:pPr marL="342900" indent="-342900">
              <a:spcAft>
                <a:spcPts val="600"/>
              </a:spcAft>
              <a:buSzPct val="100000"/>
              <a:buChar char="•"/>
            </a:pPr>
            <a:r>
              <a:rPr lang="en-US" sz="1350" dirty="0">
                <a:solidFill>
                  <a:schemeClr val="tx2"/>
                </a:solidFill>
              </a:rPr>
              <a:t>Readers are tiered too: the security setup is reconnaissance</a:t>
            </a:r>
            <a:endParaRPr lang="en-US" sz="1400" dirty="0"/>
          </a:p>
          <a:p>
            <a:pPr marL="342900" indent="-342900">
              <a:spcAft>
                <a:spcPts val="600"/>
              </a:spcAft>
              <a:buSzPct val="100000"/>
              <a:buChar char="•"/>
            </a:pPr>
            <a:r>
              <a:rPr lang="en-US" sz="1350" dirty="0">
                <a:solidFill>
                  <a:schemeClr val="tx2"/>
                </a:solidFill>
              </a:rPr>
              <a:t>Sync servers are run as control-plane assets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Approve the tier of every privileged role and the gate each tier passes, and keep Global Administrators under five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(privileged-role mapping)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any role converts to eligible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privileged roles; least privileged roles by task; enterprise access model; PIM role settings. Book 04, Chapter 04;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57C6E5F-AA40-8D6D-CE51-D3777435B5F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711225-5AC5-4AC7-BB05-9723926ABA11}"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140"/>
    </mc:Choice>
    <mc:Fallback>
      <p:transition spd="slow" advTm="52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14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Just in time, approved from outside the tier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90956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Privilege tier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Max activation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Approval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Eligible 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Tier 0, control plane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Tier 0 approver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90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Tier 1, management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Tier 1 approver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180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Tier 2, scoped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Optional, with a risk acceptance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180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Read-only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365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Every tier"/>
          <p:cNvSpPr txBox="1"/>
          <p:nvPr/>
        </p:nvSpPr>
        <p:spPr>
          <a:xfrm>
            <a:off x="548640" y="3794760"/>
            <a:ext cx="7909560" cy="777240"/>
          </a:xfrm>
          <a:prstGeom prst="rect">
            <a:avLst/>
          </a:prstGeom>
          <a:noFill/>
          <a:ln/>
        </p:spPr>
        <p:txBody>
          <a:bodyPr wrap="square" lIns="0" tIns="0" rIns="0" bIns="0" rtlCol="0" anchor="ctr"/>
          <a:lstStyle/>
          <a:p>
            <a:pPr marL="0" indent="0">
              <a:buNone/>
            </a:pPr>
            <a:r>
              <a:rPr lang="en-US" sz="1400" b="1" dirty="0">
                <a:solidFill>
                  <a:srgbClr val="1F2A44"/>
                </a:solidFill>
              </a:rPr>
              <a:t>Every activation:  </a:t>
            </a:r>
            <a:r>
              <a:rPr lang="en-US" sz="1400" dirty="0">
                <a:solidFill>
                  <a:schemeClr val="tx2"/>
                </a:solidFill>
              </a:rPr>
              <a:t>a fresh phishing-resistant sign-in through an authentication context and a justification, plus a ticket above read-only. Approvers have 24 hours, a fixed window.</a:t>
            </a:r>
            <a:endParaRPr lang="en-US" sz="1400" dirty="0"/>
          </a:p>
        </p:txBody>
      </p:sp>
      <p:pic>
        <p:nvPicPr>
          <p:cNvPr id="7" name="Image 0" descr="A sequence diagram with four participants: an eligible administrator on a standard account and a PAW, Privileged Identity Management with the role's settings, Conditional Access with the authentication context policy, and an approver group outside the requester's tier. Step 1, the administrator asks PIM to activate the role, with a duration within the maximum, a justification and a ticket number. Step 2, PIM tells Conditional Access an authentication context is required. Step 3, Conditional Access requires a fresh phishing-resistant sign-in with sign-in frequency every time. Step 4, the administrator resubmits the request with the new claim. PIM marks the request pending approval. Step 5, PIM sends the approval request by email and in Approve requests. A green frame, approved within 24 hours: step 6, the approver approves with their own justification; step 7, the role is active until the requested end time; at expiry it returns to eligible with no action needed. An amber frame, denied or no decision in 24 hours: step 6, the approver denies with justification or the request expires; step 7, the role stays eligible and a new request is needed. A violet note across the bottom says every step lands in the Microsoft Entra audit log, which keeps 30 days, and diagnostic settings export it to the log workspace for the retention AU-11 requires."/>
          <p:cNvPicPr>
            <a:picLocks noChangeAspect="1"/>
          </p:cNvPicPr>
          <p:nvPr/>
        </p:nvPicPr>
        <p:blipFill>
          <a:blip r:embed="rId5"/>
          <a:stretch>
            <a:fillRect/>
          </a:stretch>
        </p:blipFill>
        <p:spPr>
          <a:xfrm>
            <a:off x="8879494" y="1371600"/>
            <a:ext cx="2632132" cy="3291840"/>
          </a:xfrm>
          <a:prstGeom prst="rect">
            <a:avLst/>
          </a:prstGeom>
        </p:spPr>
      </p:pic>
      <p:sp>
        <p:nvSpPr>
          <p:cNvPr id="8"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9"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Staff each tier's approver group from outside that tier, Tier 0 in the security office, with at least two approvers sized for real operating hours</a:t>
            </a:r>
            <a:endParaRPr lang="en-US" sz="1400" dirty="0"/>
          </a:p>
        </p:txBody>
      </p:sp>
      <p:sp>
        <p:nvSpPr>
          <p:cNvPr id="12"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a:t>
            </a:r>
            <a:endParaRPr lang="en-US" sz="1400" dirty="0"/>
          </a:p>
        </p:txBody>
      </p:sp>
      <p:sp>
        <p:nvSpPr>
          <p:cNvPr id="13"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approval is switched on</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role settings, approval, activation. Book 04, Chapter 08 and Appendix B; Book 02, Chapter 06. Durations and approvers: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D1871386-8094-4DEA-0D66-09013E6F4D9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669FF1-B969-4CFB-963D-98EB3FD8487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630"/>
    </mc:Choice>
    <mc:Fallback>
      <p:transition spd="slow" advTm="47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63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things that can quietly undo the gate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isk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BREAKS JUST-IN-TIME ACCESS WITHOUT ANYONE NOTICING</a:t>
            </a:r>
            <a:endParaRPr lang="en-US" sz="1200" dirty="0"/>
          </a:p>
        </p:txBody>
      </p:sp>
      <p:sp>
        <p:nvSpPr>
          <p:cNvPr id="6" name="Risk 0">
            <a:extLst>
              <a:ext uri="{C183D7F6-B498-43B3-948B-1728B52AA6E4}">
                <adec:decorative xmlns:adec="http://schemas.microsoft.com/office/drawing/2017/decorative" val="1"/>
              </a:ext>
            </a:extLst>
          </p:cNvPr>
          <p:cNvSpPr/>
          <p:nvPr/>
        </p:nvSpPr>
        <p:spPr>
          <a:xfrm>
            <a:off x="548640" y="1737360"/>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isk 0 text"/>
          <p:cNvSpPr txBox="1"/>
          <p:nvPr/>
        </p:nvSpPr>
        <p:spPr>
          <a:xfrm>
            <a:off x="731520" y="1737360"/>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License lapse   </a:t>
            </a:r>
            <a:r>
              <a:rPr lang="en-US" sz="1350" dirty="0">
                <a:solidFill>
                  <a:schemeClr val="tx2"/>
                </a:solidFill>
              </a:rPr>
              <a:t>Eligible roles removed; expiring grants turn permanent</a:t>
            </a:r>
            <a:endParaRPr lang="en-US" sz="1350" dirty="0"/>
          </a:p>
        </p:txBody>
      </p:sp>
      <p:sp>
        <p:nvSpPr>
          <p:cNvPr id="8" name="Risk 1">
            <a:extLst>
              <a:ext uri="{C183D7F6-B498-43B3-948B-1728B52AA6E4}">
                <adec:decorative xmlns:adec="http://schemas.microsoft.com/office/drawing/2017/decorative" val="1"/>
              </a:ext>
            </a:extLst>
          </p:cNvPr>
          <p:cNvSpPr/>
          <p:nvPr/>
        </p:nvSpPr>
        <p:spPr>
          <a:xfrm>
            <a:off x="548640" y="2450592"/>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Risk 1 text"/>
          <p:cNvSpPr txBox="1"/>
          <p:nvPr/>
        </p:nvSpPr>
        <p:spPr>
          <a:xfrm>
            <a:off x="731520" y="2450592"/>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Policy editors   </a:t>
            </a:r>
            <a:r>
              <a:rPr lang="en-US" sz="1350" dirty="0">
                <a:solidFill>
                  <a:schemeClr val="tx2"/>
                </a:solidFill>
              </a:rPr>
              <a:t>Conditional Access admins can weaken the gate</a:t>
            </a:r>
            <a:endParaRPr lang="en-US" sz="1350" dirty="0"/>
          </a:p>
        </p:txBody>
      </p:sp>
      <p:sp>
        <p:nvSpPr>
          <p:cNvPr id="10" name="Risk 2">
            <a:extLst>
              <a:ext uri="{C183D7F6-B498-43B3-948B-1728B52AA6E4}">
                <adec:decorative xmlns:adec="http://schemas.microsoft.com/office/drawing/2017/decorative" val="1"/>
              </a:ext>
            </a:extLst>
          </p:cNvPr>
          <p:cNvSpPr/>
          <p:nvPr/>
        </p:nvSpPr>
        <p:spPr>
          <a:xfrm>
            <a:off x="548640" y="3163824"/>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Risk 2 text"/>
          <p:cNvSpPr txBox="1"/>
          <p:nvPr/>
        </p:nvSpPr>
        <p:spPr>
          <a:xfrm>
            <a:off x="731520" y="3163824"/>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No approvers   </a:t>
            </a:r>
            <a:r>
              <a:rPr lang="en-US" sz="1350" dirty="0">
                <a:solidFill>
                  <a:schemeClr val="tx2"/>
                </a:solidFill>
              </a:rPr>
              <a:t>The default falls to admins you made eligible</a:t>
            </a:r>
            <a:endParaRPr lang="en-US" sz="1350" dirty="0"/>
          </a:p>
        </p:txBody>
      </p:sp>
      <p:sp>
        <p:nvSpPr>
          <p:cNvPr id="12" name="Risk 3">
            <a:extLst>
              <a:ext uri="{C183D7F6-B498-43B3-948B-1728B52AA6E4}">
                <adec:decorative xmlns:adec="http://schemas.microsoft.com/office/drawing/2017/decorative" val="1"/>
              </a:ext>
            </a:extLst>
          </p:cNvPr>
          <p:cNvSpPr/>
          <p:nvPr/>
        </p:nvSpPr>
        <p:spPr>
          <a:xfrm>
            <a:off x="548640" y="3877056"/>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Risk 3 text"/>
          <p:cNvSpPr txBox="1"/>
          <p:nvPr/>
        </p:nvSpPr>
        <p:spPr>
          <a:xfrm>
            <a:off x="731520" y="3877056"/>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Old scripts   </a:t>
            </a:r>
            <a:r>
              <a:rPr lang="en-US" sz="1350" dirty="0">
                <a:solidFill>
                  <a:schemeClr val="tx2"/>
                </a:solidFill>
              </a:rPr>
              <a:t>The legacy PIM API stops on October 28, 2026</a:t>
            </a:r>
            <a:endParaRPr lang="en-US" sz="1350" dirty="0"/>
          </a:p>
        </p:txBody>
      </p:sp>
      <p:sp>
        <p:nvSpPr>
          <p:cNvPr id="14" name="Fix box">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ShieldHalve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Fix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Closing each one</a:t>
            </a:r>
            <a:endParaRPr lang="en-US" sz="1650" dirty="0"/>
          </a:p>
        </p:txBody>
      </p:sp>
      <p:sp>
        <p:nvSpPr>
          <p:cNvPr id="18" name="Fix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Renew licenses as a control dependency</a:t>
            </a:r>
            <a:endParaRPr lang="en-US" sz="1400" dirty="0"/>
          </a:p>
          <a:p>
            <a:pPr marL="342900" indent="-342900">
              <a:spcAft>
                <a:spcPts val="600"/>
              </a:spcAft>
              <a:buSzPct val="100000"/>
              <a:buChar char="•"/>
            </a:pPr>
            <a:r>
              <a:rPr lang="en-US" sz="1350" dirty="0">
                <a:solidFill>
                  <a:schemeClr val="tx2"/>
                </a:solidFill>
              </a:rPr>
              <a:t>Conditional Access roles in Tier 0</a:t>
            </a:r>
            <a:endParaRPr lang="en-US" sz="1400" dirty="0"/>
          </a:p>
          <a:p>
            <a:pPr marL="342900" indent="-342900">
              <a:spcAft>
                <a:spcPts val="600"/>
              </a:spcAft>
              <a:buSzPct val="100000"/>
              <a:buChar char="•"/>
            </a:pPr>
            <a:r>
              <a:rPr lang="en-US" sz="1350" dirty="0">
                <a:solidFill>
                  <a:schemeClr val="tx2"/>
                </a:solidFill>
              </a:rPr>
              <a:t>Protected actions on policy changes</a:t>
            </a:r>
            <a:endParaRPr lang="en-US" sz="1400" dirty="0"/>
          </a:p>
          <a:p>
            <a:pPr marL="342900" indent="-342900">
              <a:spcAft>
                <a:spcPts val="600"/>
              </a:spcAft>
              <a:buSzPct val="100000"/>
              <a:buChar char="•"/>
            </a:pPr>
            <a:r>
              <a:rPr lang="en-US" sz="1350" dirty="0">
                <a:solidFill>
                  <a:schemeClr val="tx2"/>
                </a:solidFill>
              </a:rPr>
              <a:t>Named approvers on every role</a:t>
            </a:r>
            <a:endParaRPr lang="en-US" sz="1400" dirty="0"/>
          </a:p>
          <a:p>
            <a:pPr marL="342900" indent="-342900">
              <a:spcAft>
                <a:spcPts val="600"/>
              </a:spcAft>
              <a:buSzPct val="100000"/>
              <a:buChar char="•"/>
            </a:pPr>
            <a:r>
              <a:rPr lang="en-US" sz="1350" dirty="0">
                <a:solidFill>
                  <a:schemeClr val="tx2"/>
                </a:solidFill>
              </a:rPr>
              <a:t>Keep the role inventory exported</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Treat P2 and Governance licensing as a control dependency: renew without a gap, and keep the role inventory exported so eligibility can be restored</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(funding)</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every renewal date</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licensing and FAQ; role settings; protected actions; PIM API retirement. Book 04, Chapters 04 and 08; Book 02, Chapter 06.</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BA9A6540-5B81-2080-9145-DA972462A6F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FA6353-0536-40CD-91EC-D85F2F7566D5}"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420"/>
    </mc:Choice>
    <mc:Fallback>
      <p:transition spd="slow" advTm="48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2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Break-glass: the one governed exception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Built box">
            <a:extLst>
              <a:ext uri="{C183D7F6-B498-43B3-948B-1728B52AA6E4}">
                <adec:decorative xmlns:adec="http://schemas.microsoft.com/office/drawing/2017/decorative" val="1"/>
              </a:ext>
            </a:extLst>
          </p:cNvPr>
          <p:cNvSpPr/>
          <p:nvPr/>
        </p:nvSpPr>
        <p:spPr>
          <a:xfrm>
            <a:off x="548640" y="1371600"/>
            <a:ext cx="54406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ock">
            <a:extLst>
              <a:ext uri="{C183D7F6-B498-43B3-948B-1728B52AA6E4}">
                <adec:decorative xmlns:adec="http://schemas.microsoft.com/office/drawing/2017/decorative" val="1"/>
              </a:ext>
            </a:extLst>
          </p:cNvPr>
          <p:cNvSpPr/>
          <p:nvPr/>
        </p:nvSpPr>
        <p:spPr>
          <a:xfrm>
            <a:off x="777240" y="1517904"/>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8914" y="1649578"/>
            <a:ext cx="285293" cy="285293"/>
          </a:xfrm>
          <a:prstGeom prst="rect">
            <a:avLst/>
          </a:prstGeom>
        </p:spPr>
      </p:pic>
      <p:sp>
        <p:nvSpPr>
          <p:cNvPr id="8" name="Built head"/>
          <p:cNvSpPr txBox="1"/>
          <p:nvPr/>
        </p:nvSpPr>
        <p:spPr>
          <a:xfrm>
            <a:off x="1463040" y="1517904"/>
            <a:ext cx="438912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How the accounts are built</a:t>
            </a:r>
            <a:endParaRPr lang="en-US" sz="1650" dirty="0"/>
          </a:p>
        </p:txBody>
      </p:sp>
      <p:sp>
        <p:nvSpPr>
          <p:cNvPr id="9" name="Built list"/>
          <p:cNvSpPr txBox="1"/>
          <p:nvPr/>
        </p:nvSpPr>
        <p:spPr>
          <a:xfrm>
            <a:off x="777240" y="2212848"/>
            <a:ext cx="50292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Two or more cloud-only accounts</a:t>
            </a:r>
            <a:endParaRPr lang="en-US" sz="1400" dirty="0"/>
          </a:p>
          <a:p>
            <a:pPr marL="342900" indent="-342900">
              <a:spcAft>
                <a:spcPts val="600"/>
              </a:spcAft>
              <a:buSzPct val="100000"/>
              <a:buChar char="•"/>
            </a:pPr>
            <a:r>
              <a:rPr lang="en-US" sz="1350" dirty="0">
                <a:solidFill>
                  <a:schemeClr val="tx2"/>
                </a:solidFill>
              </a:rPr>
              <a:t>Permanent active Global Administrator</a:t>
            </a:r>
            <a:endParaRPr lang="en-US" sz="1400" dirty="0"/>
          </a:p>
          <a:p>
            <a:pPr marL="342900" indent="-342900">
              <a:spcAft>
                <a:spcPts val="600"/>
              </a:spcAft>
              <a:buSzPct val="100000"/>
              <a:buChar char="•"/>
            </a:pPr>
            <a:r>
              <a:rPr lang="en-US" sz="1350" dirty="0">
                <a:solidFill>
                  <a:schemeClr val="tx2"/>
                </a:solidFill>
              </a:rPr>
              <a:t>Passkey or certificate, methods of their own</a:t>
            </a:r>
            <a:endParaRPr lang="en-US" sz="1400" dirty="0"/>
          </a:p>
          <a:p>
            <a:pPr marL="342900" indent="-342900">
              <a:spcAft>
                <a:spcPts val="600"/>
              </a:spcAft>
              <a:buSzPct val="100000"/>
              <a:buChar char="•"/>
            </a:pPr>
            <a:r>
              <a:rPr lang="en-US" sz="1350" dirty="0">
                <a:solidFill>
                  <a:schemeClr val="tx2"/>
                </a:solidFill>
              </a:rPr>
              <a:t>Excluded only from blocking policies</a:t>
            </a:r>
            <a:endParaRPr lang="en-US" sz="1400" dirty="0"/>
          </a:p>
          <a:p>
            <a:pPr marL="342900" indent="-342900">
              <a:spcAft>
                <a:spcPts val="600"/>
              </a:spcAft>
              <a:buSzPct val="100000"/>
              <a:buChar char="•"/>
            </a:pPr>
            <a:r>
              <a:rPr lang="en-US" sz="1350" dirty="0">
                <a:solidFill>
                  <a:schemeClr val="tx2"/>
                </a:solidFill>
              </a:rPr>
              <a:t>Alerted on every sign-in and change</a:t>
            </a:r>
            <a:endParaRPr lang="en-US" sz="1400" dirty="0"/>
          </a:p>
        </p:txBody>
      </p:sp>
      <p:sp>
        <p:nvSpPr>
          <p:cNvPr id="10" name="Used box">
            <a:extLst>
              <a:ext uri="{C183D7F6-B498-43B3-948B-1728B52AA6E4}">
                <adec:decorative xmlns:adec="http://schemas.microsoft.com/office/drawing/2017/decorative" val="1"/>
              </a:ext>
            </a:extLst>
          </p:cNvPr>
          <p:cNvSpPr/>
          <p:nvPr/>
        </p:nvSpPr>
        <p:spPr>
          <a:xfrm>
            <a:off x="6217920" y="1371600"/>
            <a:ext cx="5440680" cy="2514600"/>
          </a:xfrm>
          <a:prstGeom prst="roundRect">
            <a:avLst>
              <a:gd name="adj" fmla="val 2909"/>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DoorOpen">
            <a:extLst>
              <a:ext uri="{C183D7F6-B498-43B3-948B-1728B52AA6E4}">
                <adec:decorative xmlns:adec="http://schemas.microsoft.com/office/drawing/2017/decorative" val="1"/>
              </a:ext>
            </a:extLst>
          </p:cNvPr>
          <p:cNvSpPr/>
          <p:nvPr/>
        </p:nvSpPr>
        <p:spPr>
          <a:xfrm>
            <a:off x="6446520" y="1517904"/>
            <a:ext cx="548640" cy="548640"/>
          </a:xfrm>
          <a:prstGeom prst="ellipse">
            <a:avLst/>
          </a:prstGeom>
          <a:solidFill>
            <a:srgbClr val="B91C1C"/>
          </a:solidFill>
          <a:ln w="12700">
            <a:solidFill>
              <a:srgbClr val="B91C1C"/>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78194" y="1649578"/>
            <a:ext cx="285293" cy="285293"/>
          </a:xfrm>
          <a:prstGeom prst="rect">
            <a:avLst/>
          </a:prstGeom>
        </p:spPr>
      </p:pic>
      <p:sp>
        <p:nvSpPr>
          <p:cNvPr id="13" name="Used head"/>
          <p:cNvSpPr txBox="1"/>
          <p:nvPr/>
        </p:nvSpPr>
        <p:spPr>
          <a:xfrm>
            <a:off x="7132320" y="1517904"/>
            <a:ext cx="438912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How they're used</a:t>
            </a:r>
            <a:endParaRPr lang="en-US" sz="1650" dirty="0"/>
          </a:p>
        </p:txBody>
      </p:sp>
      <p:sp>
        <p:nvSpPr>
          <p:cNvPr id="14" name="Used list"/>
          <p:cNvSpPr txBox="1"/>
          <p:nvPr/>
        </p:nvSpPr>
        <p:spPr>
          <a:xfrm>
            <a:off x="6446520" y="2212848"/>
            <a:ext cx="50292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Only when PIM is down and it can't wait</a:t>
            </a:r>
            <a:endParaRPr lang="en-US" sz="1400" dirty="0"/>
          </a:p>
          <a:p>
            <a:pPr marL="342900" indent="-342900">
              <a:spcAft>
                <a:spcPts val="600"/>
              </a:spcAft>
              <a:buSzPct val="100000"/>
              <a:buChar char="•"/>
            </a:pPr>
            <a:r>
              <a:rPr lang="en-US" sz="1350" dirty="0">
                <a:solidFill>
                  <a:schemeClr val="tx2"/>
                </a:solidFill>
              </a:rPr>
              <a:t>Two senior administrators, dual custody</a:t>
            </a:r>
            <a:endParaRPr lang="en-US" sz="1400" dirty="0"/>
          </a:p>
          <a:p>
            <a:pPr marL="342900" indent="-342900">
              <a:spcAft>
                <a:spcPts val="600"/>
              </a:spcAft>
              <a:buSzPct val="100000"/>
              <a:buChar char="•"/>
            </a:pPr>
            <a:r>
              <a:rPr lang="en-US" sz="1350" dirty="0">
                <a:solidFill>
                  <a:schemeClr val="tx2"/>
                </a:solidFill>
              </a:rPr>
              <a:t>Session ends within four hours</a:t>
            </a:r>
            <a:endParaRPr lang="en-US" sz="1400" dirty="0"/>
          </a:p>
          <a:p>
            <a:pPr marL="342900" indent="-342900">
              <a:spcAft>
                <a:spcPts val="600"/>
              </a:spcAft>
              <a:buSzPct val="100000"/>
              <a:buChar char="•"/>
            </a:pPr>
            <a:r>
              <a:rPr lang="en-US" sz="1350" dirty="0">
                <a:solidFill>
                  <a:schemeClr val="tx2"/>
                </a:solidFill>
              </a:rPr>
              <a:t>Every action reviewed within 24 hours</a:t>
            </a:r>
            <a:endParaRPr lang="en-US" sz="1400" dirty="0"/>
          </a:p>
          <a:p>
            <a:pPr marL="342900" indent="-342900">
              <a:spcAft>
                <a:spcPts val="600"/>
              </a:spcAft>
              <a:buSzPct val="100000"/>
              <a:buChar char="•"/>
            </a:pPr>
            <a:r>
              <a:rPr lang="en-US" sz="1350" dirty="0">
                <a:solidFill>
                  <a:schemeClr val="tx2"/>
                </a:solidFill>
              </a:rPr>
              <a:t>Sign-in and a task tested every 90 days</a:t>
            </a:r>
            <a:endParaRPr lang="en-US" sz="1400" dirty="0"/>
          </a:p>
        </p:txBody>
      </p:sp>
      <p:sp>
        <p:nvSpPr>
          <p:cNvPr id="15" name="Order"/>
          <p:cNvSpPr txBox="1"/>
          <p:nvPr/>
        </p:nvSpPr>
        <p:spPr>
          <a:xfrm>
            <a:off x="548640" y="4023360"/>
            <a:ext cx="11109960" cy="548640"/>
          </a:xfrm>
          <a:prstGeom prst="rect">
            <a:avLst/>
          </a:prstGeom>
          <a:noFill/>
          <a:ln/>
        </p:spPr>
        <p:txBody>
          <a:bodyPr wrap="square" lIns="0" tIns="0" rIns="0" bIns="0" rtlCol="0" anchor="ctr"/>
          <a:lstStyle/>
          <a:p>
            <a:pPr marL="0" indent="0">
              <a:buNone/>
            </a:pPr>
            <a:r>
              <a:rPr lang="en-US" sz="1450" b="1" dirty="0">
                <a:solidFill>
                  <a:srgbClr val="B91C1C"/>
                </a:solidFill>
              </a:rPr>
              <a:t>Order matters:  </a:t>
            </a:r>
            <a:r>
              <a:rPr lang="en-US" sz="1450" dirty="0">
                <a:solidFill>
                  <a:schemeClr val="tx2"/>
                </a:solidFill>
              </a:rPr>
              <a:t>the accounts exist and pass a test before any role is made eligible or any approval is switched on.</a:t>
            </a:r>
            <a:endParaRPr lang="en-US" sz="145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Build and test the emergency accounts before any role goes eligible, and record them in the security plan as a deviation from AC-2(2), with compensating controls</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the AO accepts the deviation</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role converts</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emergency access accounts; mandatory MFA for Azure; NIST SP 800-53 AC-2(2). Book 04, Chapters 02, 04, 06 and 08;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42E5658D-8323-E771-C9CC-F64F4E3571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F63049-543E-459E-8550-BF3C6DAB8B25}"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10"/>
    </mc:Choice>
    <mc:Fallback>
      <p:transition spd="slow" advTm="54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20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Deciding isn't doing: rules Entra doesn't enforce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A top-to-bottom flow. A slate intake card, one front door, turns a catalog item or redirected email into a ticket. It leads to an amber triage card that classifies by required authority, A0 to A3 or out of scope, with mail from Microsoft forced to A3. Triage branches three ways: a blue card for A0 and A1, the ITSM pipeline, where the requester's manager approves; a violet card for A2 and A3, the IGA pipeline, where the application owner approves and the governance officer approves A3; and a red card for out of scope, escalate, covering Conditional Access, directory roles and service principals. The ITSM and IGA cards each have a green arrow labeled approved into a green execute card: automation first, help desk for gaps, PIM activation before any change, no approval authority. That leads to a violet evidence card: closed ticket plus audit log, with approver, executor, object IDs and the audit reference."/>
          <p:cNvPicPr>
            <a:picLocks noChangeAspect="1"/>
          </p:cNvPicPr>
          <p:nvPr/>
        </p:nvPicPr>
        <p:blipFill>
          <a:blip r:embed="rId5"/>
          <a:stretch>
            <a:fillRect/>
          </a:stretch>
        </p:blipFill>
        <p:spPr>
          <a:xfrm>
            <a:off x="583809" y="1371600"/>
            <a:ext cx="4135902" cy="3291840"/>
          </a:xfrm>
          <a:prstGeom prst="rect">
            <a:avLst/>
          </a:prstGeom>
        </p:spPr>
      </p:pic>
      <p:sp>
        <p:nvSpPr>
          <p:cNvPr id="6" name="Rules box">
            <a:extLst>
              <a:ext uri="{C183D7F6-B498-43B3-948B-1728B52AA6E4}">
                <adec:decorative xmlns:adec="http://schemas.microsoft.com/office/drawing/2017/decorative" val="1"/>
              </a:ext>
            </a:extLst>
          </p:cNvPr>
          <p:cNvSpPr/>
          <p:nvPr/>
        </p:nvSpPr>
        <p:spPr>
          <a:xfrm>
            <a:off x="4937760" y="1371600"/>
            <a:ext cx="6720840" cy="2642616"/>
          </a:xfrm>
          <a:prstGeom prst="roundRect">
            <a:avLst>
              <a:gd name="adj" fmla="val 276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PeopleArrows">
            <a:extLst>
              <a:ext uri="{C183D7F6-B498-43B3-948B-1728B52AA6E4}">
                <adec:decorative xmlns:adec="http://schemas.microsoft.com/office/drawing/2017/decorative" val="1"/>
              </a:ext>
            </a:extLst>
          </p:cNvPr>
          <p:cNvSpPr/>
          <p:nvPr/>
        </p:nvSpPr>
        <p:spPr>
          <a:xfrm>
            <a:off x="516636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298034" y="1649578"/>
            <a:ext cx="285293" cy="285293"/>
          </a:xfrm>
          <a:prstGeom prst="rect">
            <a:avLst/>
          </a:prstGeom>
        </p:spPr>
      </p:pic>
      <p:sp>
        <p:nvSpPr>
          <p:cNvPr id="9" name="Rules head"/>
          <p:cNvSpPr txBox="1"/>
          <p:nvPr/>
        </p:nvSpPr>
        <p:spPr>
          <a:xfrm>
            <a:off x="5852160" y="1517904"/>
            <a:ext cx="566928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Three rules, designed in</a:t>
            </a:r>
            <a:endParaRPr lang="en-US" sz="1650" dirty="0"/>
          </a:p>
        </p:txBody>
      </p:sp>
      <p:sp>
        <p:nvSpPr>
          <p:cNvPr id="10" name="Rules list"/>
          <p:cNvSpPr txBox="1"/>
          <p:nvPr/>
        </p:nvSpPr>
        <p:spPr>
          <a:xfrm>
            <a:off x="5166360" y="2212848"/>
            <a:ext cx="630936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Approvers don't execute; executors don't approve</a:t>
            </a:r>
            <a:endParaRPr lang="en-US" sz="1400" dirty="0"/>
          </a:p>
          <a:p>
            <a:pPr marL="342900" indent="-342900">
              <a:spcAft>
                <a:spcPts val="600"/>
              </a:spcAft>
              <a:buSzPct val="100000"/>
              <a:buChar char="•"/>
            </a:pPr>
            <a:r>
              <a:rPr lang="en-US" sz="1350" dirty="0">
                <a:solidFill>
                  <a:schemeClr val="tx2"/>
                </a:solidFill>
              </a:rPr>
              <a:t>Nobody approves their own access</a:t>
            </a:r>
            <a:endParaRPr lang="en-US" sz="1400" dirty="0"/>
          </a:p>
          <a:p>
            <a:pPr marL="342900" indent="-342900">
              <a:spcAft>
                <a:spcPts val="600"/>
              </a:spcAft>
              <a:buSzPct val="100000"/>
              <a:buChar char="•"/>
            </a:pPr>
            <a:r>
              <a:rPr lang="en-US" sz="1350" dirty="0">
                <a:solidFill>
                  <a:schemeClr val="tx2"/>
                </a:solidFill>
              </a:rPr>
              <a:t>Application Administrator can grant most consent and act as any app</a:t>
            </a:r>
            <a:endParaRPr lang="en-US" sz="1400" dirty="0"/>
          </a:p>
          <a:p>
            <a:pPr marL="342900" indent="-342900">
              <a:spcAft>
                <a:spcPts val="600"/>
              </a:spcAft>
              <a:buSzPct val="100000"/>
              <a:buChar char="•"/>
            </a:pPr>
            <a:r>
              <a:rPr lang="en-US" sz="1350" dirty="0">
                <a:solidFill>
                  <a:schemeClr val="tx2"/>
                </a:solidFill>
              </a:rPr>
              <a:t>So the help desk gets an assignments-only role</a:t>
            </a:r>
            <a:endParaRPr lang="en-US" sz="1400" dirty="0"/>
          </a:p>
          <a:p>
            <a:pPr marL="342900" indent="-342900">
              <a:spcAft>
                <a:spcPts val="600"/>
              </a:spcAft>
              <a:buSzPct val="100000"/>
              <a:buChar char="•"/>
            </a:pPr>
            <a:r>
              <a:rPr lang="en-US" sz="1350" dirty="0">
                <a:solidFill>
                  <a:schemeClr val="tx2"/>
                </a:solidFill>
              </a:rPr>
              <a:t>Every request triaged by the authority it needs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Give the help desk a custom role that manages application assignments only; Application Administrator stays with identity engineering, eligible behind approval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help desk takes access tickets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AC-5; Microsoft Learn — Entra built-in and custom roles, admin consent. Book 04, Chapter 06. Roles and routing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C3D4C5C-EC71-7A48-EF22-2CF982974A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A2369E5-189E-4579-B68E-253D2095861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260"/>
    </mc:Choice>
    <mc:Fallback>
      <p:transition spd="slow" advTm="46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26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Application risk tiers set the approval chain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55080" cy="914400"/>
        </p:xfrm>
        <a:graphic>
          <a:graphicData uri="http://schemas.openxmlformats.org/drawingml/2006/table">
            <a:tbl>
              <a:tblPr firstRow="1" bandRow="1"/>
              <a:tblGrid>
                <a:gridCol w="15087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84048">
                <a:tc>
                  <a:txBody>
                    <a:bodyPr/>
                    <a:lstStyle/>
                    <a:p>
                      <a:pPr marL="0" indent="0">
                        <a:buNone/>
                      </a:pP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Tier 1,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Tier 2,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Tier 3, low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Access approver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 owner; IGO may hold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Business approver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Admin consent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IGO; CISO notified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 owner and IGO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 owner; IGO told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Access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Twice a year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Annual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Owner and backup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Owner; backup advised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Gaps box">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Gap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Rules that close the gaps</a:t>
            </a:r>
            <a:endParaRPr lang="en-US" sz="1650" dirty="0"/>
          </a:p>
        </p:txBody>
      </p:sp>
      <p:sp>
        <p:nvSpPr>
          <p:cNvPr id="10" name="Gap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Untiered or discovered apps are Tier 1</a:t>
            </a:r>
            <a:endParaRPr lang="en-US" sz="1400" dirty="0"/>
          </a:p>
          <a:p>
            <a:pPr marL="342900" indent="-342900">
              <a:spcAft>
                <a:spcPts val="600"/>
              </a:spcAft>
              <a:buSzPct val="100000"/>
              <a:buChar char="•"/>
            </a:pPr>
            <a:r>
              <a:rPr lang="en-US" sz="1350" dirty="0">
                <a:solidFill>
                  <a:schemeClr val="tx2"/>
                </a:solidFill>
              </a:rPr>
              <a:t>Any application permission: Tier 1</a:t>
            </a:r>
            <a:endParaRPr lang="en-US" sz="1400" dirty="0"/>
          </a:p>
          <a:p>
            <a:pPr marL="342900" indent="-342900">
              <a:spcAft>
                <a:spcPts val="600"/>
              </a:spcAft>
              <a:buSzPct val="100000"/>
              <a:buChar char="•"/>
            </a:pPr>
            <a:r>
              <a:rPr lang="en-US" sz="1350" dirty="0">
                <a:solidFill>
                  <a:schemeClr val="tx2"/>
                </a:solidFill>
              </a:rPr>
              <a:t>Critical scopes need the IGO and CISO</a:t>
            </a:r>
            <a:endParaRPr lang="en-US" sz="1400" dirty="0"/>
          </a:p>
          <a:p>
            <a:pPr marL="342900" indent="-342900">
              <a:spcAft>
                <a:spcPts val="600"/>
              </a:spcAft>
              <a:buSzPct val="100000"/>
              <a:buChar char="•"/>
            </a:pPr>
            <a:r>
              <a:rPr lang="en-US" sz="1350" dirty="0">
                <a:solidFill>
                  <a:schemeClr val="tx2"/>
                </a:solidFill>
              </a:rPr>
              <a:t>Ownerless: 30 days, then suspended</a:t>
            </a:r>
            <a:endParaRPr lang="en-US" sz="1400" dirty="0"/>
          </a:p>
          <a:p>
            <a:pPr marL="342900" indent="-342900">
              <a:spcAft>
                <a:spcPts val="600"/>
              </a:spcAft>
              <a:buSzPct val="100000"/>
              <a:buChar char="•"/>
            </a:pPr>
            <a:r>
              <a:rPr lang="en-US" sz="1350" dirty="0">
                <a:solidFill>
                  <a:schemeClr val="tx2"/>
                </a:solidFill>
              </a:rPr>
              <a:t>The grant is made by someone else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Assign a risk tier to every enterprise application before anyone gets access to it; an untiered or ownerless app is handled as Tier 1</a:t>
            </a:r>
            <a:endParaRPr lang="en-US" sz="1400" dirty="0"/>
          </a:p>
        </p:txBody>
      </p:sp>
      <p:sp>
        <p:nvSpPr>
          <p:cNvPr id="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access grant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admin consent workflow; tenant-wide consent; app ownership. Book 04, Chapters 05, 06. Tiers, chains and cadences: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CF87A3F-0343-AAAE-0C05-7C69DB971FC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64D0E73-5E2A-411D-84DC-7EB65F72E942}"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60"/>
    </mc:Choice>
    <mc:Fallback>
      <p:transition spd="slow" advTm="49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Applications are identities, with owners and an end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Six cards in two rows of three. Top row, left to right: amber card 1, Request, owner and purpose, with two human owners, specific scopes named and risk tier assigned; amber card 2, Consent, scoped consent, delegated before application, tiered approver, no blanket grants; blue card 3, Credential, no stored secret, managed identity or federation, otherwise a short-lived certificate, secrets blocked by policy. Bottom row: blue card 4, Rotate, before expiry, raised automatically and approved by the owner; violet card 5, Attest, review on a cadence, owners still valid, permissions still needed, unused credentials removed; red card 6, Retire, deactivate then delete, revoke grants, remove credentials, record the decision. Arrows connect the stages in order. A red arrow labeled orphaned or unused runs from Attest to Retire, and a dashed violet arrow labeled scope change runs from Attest back to Consent."/>
          <p:cNvPicPr>
            <a:picLocks noChangeAspect="1"/>
          </p:cNvPicPr>
          <p:nvPr/>
        </p:nvPicPr>
        <p:blipFill>
          <a:blip r:embed="rId5"/>
          <a:stretch>
            <a:fillRect/>
          </a:stretch>
        </p:blipFill>
        <p:spPr>
          <a:xfrm>
            <a:off x="2047956" y="1371600"/>
            <a:ext cx="8102184" cy="2103120"/>
          </a:xfrm>
          <a:prstGeom prst="rect">
            <a:avLst/>
          </a:prstGeom>
        </p:spPr>
      </p:pic>
      <p:sp>
        <p:nvSpPr>
          <p:cNvPr id="6" name="Facts 0">
            <a:extLst>
              <a:ext uri="{C183D7F6-B498-43B3-948B-1728B52AA6E4}">
                <adec:decorative xmlns:adec="http://schemas.microsoft.com/office/drawing/2017/decorative" val="1"/>
              </a:ext>
            </a:extLst>
          </p:cNvPr>
          <p:cNvSpPr/>
          <p:nvPr/>
        </p:nvSpPr>
        <p:spPr>
          <a:xfrm>
            <a:off x="548640" y="3611880"/>
            <a:ext cx="3581400" cy="1051560"/>
          </a:xfrm>
          <a:prstGeom prst="roundRect">
            <a:avLst>
              <a:gd name="adj" fmla="val 695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731520" y="3794760"/>
            <a:ext cx="502920" cy="50292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52221" y="3915461"/>
            <a:ext cx="261518" cy="261518"/>
          </a:xfrm>
          <a:prstGeom prst="rect">
            <a:avLst/>
          </a:prstGeom>
        </p:spPr>
      </p:pic>
      <p:sp>
        <p:nvSpPr>
          <p:cNvPr id="9" name="Facts 0 text"/>
          <p:cNvSpPr txBox="1"/>
          <p:nvPr/>
        </p:nvSpPr>
        <p:spPr>
          <a:xfrm>
            <a:off x="1417320" y="3703320"/>
            <a:ext cx="2575560" cy="868680"/>
          </a:xfrm>
          <a:prstGeom prst="rect">
            <a:avLst/>
          </a:prstGeom>
          <a:noFill/>
          <a:ln/>
        </p:spPr>
        <p:txBody>
          <a:bodyPr wrap="square" lIns="0" tIns="0" rIns="0" bIns="0" rtlCol="0" anchor="ctr"/>
          <a:lstStyle/>
          <a:p>
            <a:pPr marL="0" indent="0">
              <a:buNone/>
            </a:pPr>
            <a:r>
              <a:rPr lang="en-US" sz="1350" b="1" dirty="0">
                <a:solidFill>
                  <a:srgbClr val="B91C1C"/>
                </a:solidFill>
              </a:rPr>
              <a:t>Grants don't expire.</a:t>
            </a:r>
            <a:endParaRPr lang="en-US" sz="1350" dirty="0"/>
          </a:p>
          <a:p>
            <a:pPr marL="0" indent="0">
              <a:buNone/>
            </a:pPr>
            <a:r>
              <a:rPr lang="en-US" sz="1350" dirty="0">
                <a:solidFill>
                  <a:schemeClr val="tx2"/>
                </a:solidFill>
              </a:rPr>
              <a:t>Revoking one leaves issued tokens valid.</a:t>
            </a:r>
            <a:endParaRPr lang="en-US" sz="1350" dirty="0"/>
          </a:p>
        </p:txBody>
      </p:sp>
      <p:sp>
        <p:nvSpPr>
          <p:cNvPr id="10" name="Facts 1">
            <a:extLst>
              <a:ext uri="{C183D7F6-B498-43B3-948B-1728B52AA6E4}">
                <adec:decorative xmlns:adec="http://schemas.microsoft.com/office/drawing/2017/decorative" val="1"/>
              </a:ext>
            </a:extLst>
          </p:cNvPr>
          <p:cNvSpPr/>
          <p:nvPr/>
        </p:nvSpPr>
        <p:spPr>
          <a:xfrm>
            <a:off x="4312920" y="3611880"/>
            <a:ext cx="3581400" cy="1051560"/>
          </a:xfrm>
          <a:prstGeom prst="roundRect">
            <a:avLst>
              <a:gd name="adj" fmla="val 695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UserShield">
            <a:extLst>
              <a:ext uri="{C183D7F6-B498-43B3-948B-1728B52AA6E4}">
                <adec:decorative xmlns:adec="http://schemas.microsoft.com/office/drawing/2017/decorative" val="1"/>
              </a:ext>
            </a:extLst>
          </p:cNvPr>
          <p:cNvSpPr/>
          <p:nvPr/>
        </p:nvSpPr>
        <p:spPr>
          <a:xfrm>
            <a:off x="4495800" y="3794760"/>
            <a:ext cx="502920" cy="502920"/>
          </a:xfrm>
          <a:prstGeom prst="ellipse">
            <a:avLst/>
          </a:prstGeom>
          <a:solidFill>
            <a:srgbClr val="B45309"/>
          </a:solidFill>
          <a:ln w="12700">
            <a:solidFill>
              <a:srgbClr val="B45309"/>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616501" y="3915461"/>
            <a:ext cx="261518" cy="261518"/>
          </a:xfrm>
          <a:prstGeom prst="rect">
            <a:avLst/>
          </a:prstGeom>
        </p:spPr>
      </p:pic>
      <p:sp>
        <p:nvSpPr>
          <p:cNvPr id="13" name="Facts 1 text"/>
          <p:cNvSpPr txBox="1"/>
          <p:nvPr/>
        </p:nvSpPr>
        <p:spPr>
          <a:xfrm>
            <a:off x="5181600" y="3703320"/>
            <a:ext cx="2575560" cy="868680"/>
          </a:xfrm>
          <a:prstGeom prst="rect">
            <a:avLst/>
          </a:prstGeom>
          <a:noFill/>
          <a:ln/>
        </p:spPr>
        <p:txBody>
          <a:bodyPr wrap="square" lIns="0" tIns="0" rIns="0" bIns="0" rtlCol="0" anchor="ctr"/>
          <a:lstStyle/>
          <a:p>
            <a:pPr marL="0" indent="0">
              <a:buNone/>
            </a:pPr>
            <a:r>
              <a:rPr lang="en-US" sz="1350" b="1" dirty="0">
                <a:solidFill>
                  <a:srgbClr val="B45309"/>
                </a:solidFill>
              </a:rPr>
              <a:t>Owners can become the app.</a:t>
            </a:r>
            <a:endParaRPr lang="en-US" sz="1350" dirty="0"/>
          </a:p>
          <a:p>
            <a:pPr marL="0" indent="0">
              <a:buNone/>
            </a:pPr>
            <a:r>
              <a:rPr lang="en-US" sz="1350" dirty="0">
                <a:solidFill>
                  <a:schemeClr val="tx2"/>
                </a:solidFill>
              </a:rPr>
              <a:t>An owner can add a credential and act as it.</a:t>
            </a:r>
            <a:endParaRPr lang="en-US" sz="1350" dirty="0"/>
          </a:p>
        </p:txBody>
      </p:sp>
      <p:sp>
        <p:nvSpPr>
          <p:cNvPr id="14" name="Facts 2">
            <a:extLst>
              <a:ext uri="{C183D7F6-B498-43B3-948B-1728B52AA6E4}">
                <adec:decorative xmlns:adec="http://schemas.microsoft.com/office/drawing/2017/decorative" val="1"/>
              </a:ext>
            </a:extLst>
          </p:cNvPr>
          <p:cNvSpPr/>
          <p:nvPr/>
        </p:nvSpPr>
        <p:spPr>
          <a:xfrm>
            <a:off x="8077200" y="3611880"/>
            <a:ext cx="3581400" cy="1051560"/>
          </a:xfrm>
          <a:prstGeom prst="roundRect">
            <a:avLst>
              <a:gd name="adj" fmla="val 695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Lock">
            <a:extLst>
              <a:ext uri="{C183D7F6-B498-43B3-948B-1728B52AA6E4}">
                <adec:decorative xmlns:adec="http://schemas.microsoft.com/office/drawing/2017/decorative" val="1"/>
              </a:ext>
            </a:extLst>
          </p:cNvPr>
          <p:cNvSpPr/>
          <p:nvPr/>
        </p:nvSpPr>
        <p:spPr>
          <a:xfrm>
            <a:off x="8260080" y="3794760"/>
            <a:ext cx="502920" cy="502920"/>
          </a:xfrm>
          <a:prstGeom prst="ellipse">
            <a:avLst/>
          </a:prstGeom>
          <a:solidFill>
            <a:srgbClr val="0F766E"/>
          </a:solidFill>
          <a:ln w="12700">
            <a:solidFill>
              <a:srgbClr val="0F766E"/>
            </a:solidFill>
            <a:prstDash val="solid"/>
          </a:ln>
        </p:spPr>
      </p:sp>
      <p:pic>
        <p:nvPicPr>
          <p:cNvPr id="16"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380781" y="3915461"/>
            <a:ext cx="261518" cy="261518"/>
          </a:xfrm>
          <a:prstGeom prst="rect">
            <a:avLst/>
          </a:prstGeom>
        </p:spPr>
      </p:pic>
      <p:sp>
        <p:nvSpPr>
          <p:cNvPr id="17" name="Facts 2 text"/>
          <p:cNvSpPr txBox="1"/>
          <p:nvPr/>
        </p:nvSpPr>
        <p:spPr>
          <a:xfrm>
            <a:off x="8945880" y="3703320"/>
            <a:ext cx="2575560" cy="868680"/>
          </a:xfrm>
          <a:prstGeom prst="rect">
            <a:avLst/>
          </a:prstGeom>
          <a:noFill/>
          <a:ln/>
        </p:spPr>
        <p:txBody>
          <a:bodyPr wrap="square" lIns="0" tIns="0" rIns="0" bIns="0" rtlCol="0" anchor="ctr"/>
          <a:lstStyle/>
          <a:p>
            <a:pPr marL="0" indent="0">
              <a:buNone/>
            </a:pPr>
            <a:r>
              <a:rPr lang="en-US" sz="1350" b="1" dirty="0">
                <a:solidFill>
                  <a:srgbClr val="0F766E"/>
                </a:solidFill>
              </a:rPr>
              <a:t>No stored secrets.</a:t>
            </a:r>
            <a:endParaRPr lang="en-US" sz="1350" dirty="0"/>
          </a:p>
          <a:p>
            <a:pPr marL="0" indent="0">
              <a:buNone/>
            </a:pPr>
            <a:r>
              <a:rPr lang="en-US" sz="1350" dirty="0">
                <a:solidFill>
                  <a:schemeClr val="tx2"/>
                </a:solidFill>
              </a:rPr>
              <a:t>Managed identity or federation; else a short-lived certificate.</a:t>
            </a:r>
            <a:endParaRPr lang="en-US" sz="1350" dirty="0"/>
          </a:p>
        </p:txBody>
      </p:sp>
      <p:sp>
        <p:nvSpPr>
          <p:cNvPr id="18"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9"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0"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03427" y="5228539"/>
            <a:ext cx="332842" cy="332842"/>
          </a:xfrm>
          <a:prstGeom prst="rect">
            <a:avLst/>
          </a:prstGeom>
        </p:spPr>
      </p:pic>
      <p:sp>
        <p:nvSpPr>
          <p:cNvPr id="21"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Block new client secrets, cap certificates at 180 days, and require two named technical owners on every app registration</a:t>
            </a:r>
            <a:endParaRPr lang="en-US" sz="1400" dirty="0"/>
          </a:p>
        </p:txBody>
      </p:sp>
      <p:sp>
        <p:nvSpPr>
          <p:cNvPr id="22"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secret exceptions IGO and CISO</a:t>
            </a:r>
            <a:endParaRPr lang="en-US" sz="1400" dirty="0"/>
          </a:p>
        </p:txBody>
      </p:sp>
      <p:sp>
        <p:nvSpPr>
          <p:cNvPr id="23"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For every app created after the effective date</a:t>
            </a:r>
            <a:endParaRPr lang="en-US" sz="140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app and service principal objects; consent; ownership; app management policies; SCuBA MS.AAD.5.2. Book 04, Chapters 05,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C54E4E4E-34AD-E564-CEE8-7F56477D07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8DC7C7-069A-4033-BF67-E7BFFF42CE4A}"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180"/>
    </mc:Choice>
    <mc:Fallback>
      <p:transition spd="slow" advTm="48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18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what for access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8404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Access control requirements and baseline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Privileged-role tiers and PIM settings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 risk tier; consent above Tier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Who gets access to a Tier 1 or 2 app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Business need; Tier 3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Business approver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Revoking consent during an incident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Security operations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Exceptions within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Residual risk; uncompensated exceptions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Funding, licenses and sequence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Clock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Clock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Exceptions run on a clock</a:t>
            </a:r>
            <a:endParaRPr lang="en-US" sz="1650" dirty="0"/>
          </a:p>
        </p:txBody>
      </p:sp>
      <p:sp>
        <p:nvSpPr>
          <p:cNvPr id="10" name="Clock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Six months at most; never renewed automatically</a:t>
            </a:r>
            <a:endParaRPr lang="en-US" sz="1400" dirty="0"/>
          </a:p>
          <a:p>
            <a:pPr marL="342900" indent="-342900">
              <a:spcAft>
                <a:spcPts val="600"/>
              </a:spcAft>
              <a:buSzPct val="100000"/>
              <a:buChar char="•"/>
            </a:pPr>
            <a:r>
              <a:rPr lang="en-US" sz="1350" dirty="0">
                <a:solidFill>
                  <a:schemeClr val="tx2"/>
                </a:solidFill>
              </a:rPr>
              <a:t>Expired: the app moves up one risk tier</a:t>
            </a:r>
            <a:endParaRPr lang="en-US" sz="1400" dirty="0"/>
          </a:p>
          <a:p>
            <a:pPr marL="342900" indent="-342900">
              <a:spcAft>
                <a:spcPts val="600"/>
              </a:spcAft>
              <a:buSzPct val="100000"/>
              <a:buChar char="•"/>
            </a:pPr>
            <a:r>
              <a:rPr lang="en-US" sz="1350" dirty="0">
                <a:solidFill>
                  <a:schemeClr val="tx2"/>
                </a:solidFill>
              </a:rPr>
              <a:t>Renewed more than twice: CISO and AO</a:t>
            </a:r>
            <a:endParaRPr lang="en-US" sz="1400" dirty="0"/>
          </a:p>
          <a:p>
            <a:pPr marL="342900" indent="-342900">
              <a:spcAft>
                <a:spcPts val="600"/>
              </a:spcAft>
              <a:buSzPct val="100000"/>
              <a:buChar char="•"/>
            </a:pPr>
            <a:r>
              <a:rPr lang="en-US" sz="1350" dirty="0">
                <a:solidFill>
                  <a:schemeClr val="tx2"/>
                </a:solidFill>
              </a:rPr>
              <a:t>Short log retention: CISO, CIO and the AO</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Send every exception that leaves a control unmet without a compensating control to the authorizing official; no exception lasts more than six months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 after the IGO and 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At each request and renewal</a:t>
            </a:r>
            <a:endParaRPr lang="en-US" sz="1400" dirty="0"/>
          </a:p>
        </p:txBody>
      </p:sp>
      <p:sp>
        <p:nvSpPr>
          <p:cNvPr id="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(roles); NIST SP 800-53 AC-5; CISA BOD 25-01 (deviations). Book 04, Chapter 06 (responsibility matrix; Exceptions);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EF34D7B-A454-815C-8F71-722366A14D3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5D98C4-56C8-49FF-8D51-971B9E3533E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690"/>
    </mc:Choice>
    <mc:Fallback>
      <p:transition spd="slow" advTm="48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68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Govern access with packages, reviews and expiry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 violet box, catalog, owned by a catalog owner, contains resources the owner added. It feeds a blue box, access package, which bundles resource roles: group membership, application role, SharePoint site role. The package feeds a blue box, assignment policy, listing who can request, approval stages one to three, requestor questions, expiration and extension, and separation-of-duties checks. The policy feeds a green box, assignment, with an expiry date. Two dashed violet arrows return from the assignment: one labeled access review, deny removes; one labeled expiry removes."/>
          <p:cNvPicPr>
            <a:picLocks noChangeAspect="1"/>
          </p:cNvPicPr>
          <p:nvPr/>
        </p:nvPicPr>
        <p:blipFill>
          <a:blip r:embed="rId5"/>
          <a:stretch>
            <a:fillRect/>
          </a:stretch>
        </p:blipFill>
        <p:spPr>
          <a:xfrm>
            <a:off x="548640" y="1952913"/>
            <a:ext cx="6309360" cy="2129213"/>
          </a:xfrm>
          <a:prstGeom prst="rect">
            <a:avLst/>
          </a:prstGeom>
        </p:spPr>
      </p:pic>
      <p:sp>
        <p:nvSpPr>
          <p:cNvPr id="6" name="Gov box">
            <a:extLst>
              <a:ext uri="{C183D7F6-B498-43B3-948B-1728B52AA6E4}">
                <adec:decorative xmlns:adec="http://schemas.microsoft.com/office/drawing/2017/decorative" val="1"/>
              </a:ext>
            </a:extLst>
          </p:cNvPr>
          <p:cNvSpPr/>
          <p:nvPr/>
        </p:nvSpPr>
        <p:spPr>
          <a:xfrm>
            <a:off x="7086600" y="1371600"/>
            <a:ext cx="4572000" cy="2843784"/>
          </a:xfrm>
          <a:prstGeom prst="roundRect">
            <a:avLst>
              <a:gd name="adj" fmla="val 257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Gov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The program's defaults</a:t>
            </a:r>
            <a:endParaRPr lang="en-US" sz="1650" dirty="0"/>
          </a:p>
        </p:txBody>
      </p:sp>
      <p:sp>
        <p:nvSpPr>
          <p:cNvPr id="10" name="Gov list"/>
          <p:cNvSpPr txBox="1"/>
          <p:nvPr/>
        </p:nvSpPr>
        <p:spPr>
          <a:xfrm>
            <a:off x="7315200" y="2212848"/>
            <a:ext cx="416052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grant without an end: 90, 180, 365 days</a:t>
            </a:r>
            <a:endParaRPr lang="en-US" sz="1400" dirty="0"/>
          </a:p>
          <a:p>
            <a:pPr marL="342900" indent="-342900">
              <a:spcAft>
                <a:spcPts val="600"/>
              </a:spcAft>
              <a:buSzPct val="100000"/>
              <a:buChar char="•"/>
            </a:pPr>
            <a:r>
              <a:rPr lang="en-US" sz="1350" dirty="0">
                <a:solidFill>
                  <a:schemeClr val="tx2"/>
                </a:solidFill>
              </a:rPr>
              <a:t>Tier 0 roles reviewed monthly, others quarterly</a:t>
            </a:r>
            <a:endParaRPr lang="en-US" sz="1400" dirty="0"/>
          </a:p>
          <a:p>
            <a:pPr marL="342900" indent="-342900">
              <a:spcAft>
                <a:spcPts val="600"/>
              </a:spcAft>
              <a:buSzPct val="100000"/>
              <a:buChar char="•"/>
            </a:pPr>
            <a:r>
              <a:rPr lang="en-US" sz="1350" dirty="0">
                <a:solidFill>
                  <a:schemeClr val="tx2"/>
                </a:solidFill>
              </a:rPr>
              <a:t>Guests reviewed quarterly by sponsors</a:t>
            </a:r>
            <a:endParaRPr lang="en-US" sz="1400" dirty="0"/>
          </a:p>
          <a:p>
            <a:pPr marL="342900" indent="-342900">
              <a:spcAft>
                <a:spcPts val="600"/>
              </a:spcAft>
              <a:buSzPct val="100000"/>
              <a:buChar char="•"/>
            </a:pPr>
            <a:r>
              <a:rPr lang="en-US" sz="1350" dirty="0">
                <a:solidFill>
                  <a:schemeClr val="tx2"/>
                </a:solidFill>
              </a:rPr>
              <a:t>Review the groups, not just the apps</a:t>
            </a:r>
            <a:endParaRPr lang="en-US" sz="1400" dirty="0"/>
          </a:p>
          <a:p>
            <a:pPr marL="342900" indent="-342900">
              <a:spcAft>
                <a:spcPts val="600"/>
              </a:spcAft>
              <a:buSzPct val="100000"/>
              <a:buChar char="•"/>
            </a:pPr>
            <a:r>
              <a:rPr lang="en-US" sz="1350" dirty="0">
                <a:solidFill>
                  <a:schemeClr val="tx2"/>
                </a:solidFill>
              </a:rPr>
              <a:t>Movers lose old access; leavers lose all</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License Entra ID Governance for the whole workforce, so every person is in scope of access packages, reviews and lifecycle workflows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(funding)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review program starts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AC-2, AC-6(7); Microsoft Learn — entitlement management, access reviews, Lifecycle Workflows, licensing. Book 04,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8999DAC-E124-0CAB-709A-201A24858D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48F7AE-CA3C-461E-8599-6A8D3E41C84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300"/>
    </mc:Choice>
    <mc:Fallback>
      <p:transition spd="slow" advTm="4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30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Access as code, and the evidence it leaves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 slate box, repository, holds Conditional Access, PIM settings, groups, access packages and reviews as files. It feeds an amber box, pull request, with author and a different reviewer and automated checks such as the emergency-access exclusion. That feeds a blue box, pipeline, which applies through Microsoft Graph with a federated workload identity, report-only first. That feeds a blue box, Entra ID tenant. A violet box, drift monitor, compares the tenant with the baseline every six hours. A dashed red arrow labeled drift goes from the monitor back to the repository as an issue. A slate box, evidence store, receives commits, pipeline runs, audit records and drift results."/>
          <p:cNvPicPr>
            <a:picLocks noChangeAspect="1"/>
          </p:cNvPicPr>
          <p:nvPr/>
        </p:nvPicPr>
        <p:blipFill>
          <a:blip r:embed="rId5"/>
          <a:stretch>
            <a:fillRect/>
          </a:stretch>
        </p:blipFill>
        <p:spPr>
          <a:xfrm>
            <a:off x="676993" y="1371600"/>
            <a:ext cx="1846415" cy="3291840"/>
          </a:xfrm>
          <a:prstGeom prst="rect">
            <a:avLst/>
          </a:prstGeom>
        </p:spPr>
      </p:pic>
      <p:sp>
        <p:nvSpPr>
          <p:cNvPr id="6" name="Change box">
            <a:extLst>
              <a:ext uri="{C183D7F6-B498-43B3-948B-1728B52AA6E4}">
                <adec:decorative xmlns:adec="http://schemas.microsoft.com/office/drawing/2017/decorative" val="1"/>
              </a:ext>
            </a:extLst>
          </p:cNvPr>
          <p:cNvSpPr/>
          <p:nvPr/>
        </p:nvSpPr>
        <p:spPr>
          <a:xfrm>
            <a:off x="2880360" y="1371600"/>
            <a:ext cx="4251960" cy="2697480"/>
          </a:xfrm>
          <a:prstGeom prst="roundRect">
            <a:avLst>
              <a:gd name="adj" fmla="val 271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odeBranch">
            <a:extLst>
              <a:ext uri="{C183D7F6-B498-43B3-948B-1728B52AA6E4}">
                <adec:decorative xmlns:adec="http://schemas.microsoft.com/office/drawing/2017/decorative" val="1"/>
              </a:ext>
            </a:extLst>
          </p:cNvPr>
          <p:cNvSpPr/>
          <p:nvPr/>
        </p:nvSpPr>
        <p:spPr>
          <a:xfrm>
            <a:off x="310896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240634" y="1649578"/>
            <a:ext cx="285293" cy="285293"/>
          </a:xfrm>
          <a:prstGeom prst="rect">
            <a:avLst/>
          </a:prstGeom>
        </p:spPr>
      </p:pic>
      <p:sp>
        <p:nvSpPr>
          <p:cNvPr id="9" name="Change head"/>
          <p:cNvSpPr txBox="1"/>
          <p:nvPr/>
        </p:nvSpPr>
        <p:spPr>
          <a:xfrm>
            <a:off x="3794760" y="1517904"/>
            <a:ext cx="32004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Change control</a:t>
            </a:r>
            <a:endParaRPr lang="en-US" sz="1650" dirty="0"/>
          </a:p>
        </p:txBody>
      </p:sp>
      <p:sp>
        <p:nvSpPr>
          <p:cNvPr id="10" name="Change list"/>
          <p:cNvSpPr txBox="1"/>
          <p:nvPr/>
        </p:nvSpPr>
        <p:spPr>
          <a:xfrm>
            <a:off x="3108960" y="2212848"/>
            <a:ext cx="384048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Two people per change</a:t>
            </a:r>
            <a:endParaRPr lang="en-US" sz="1400" dirty="0"/>
          </a:p>
          <a:p>
            <a:pPr marL="342900" indent="-342900">
              <a:spcAft>
                <a:spcPts val="600"/>
              </a:spcAft>
              <a:buSzPct val="100000"/>
              <a:buChar char="•"/>
            </a:pPr>
            <a:r>
              <a:rPr lang="en-US" sz="1350" dirty="0">
                <a:solidFill>
                  <a:schemeClr val="tx2"/>
                </a:solidFill>
              </a:rPr>
              <a:t>Report-only first, a week at least</a:t>
            </a:r>
            <a:endParaRPr lang="en-US" sz="1400" dirty="0"/>
          </a:p>
          <a:p>
            <a:pPr marL="342900" indent="-342900">
              <a:spcAft>
                <a:spcPts val="600"/>
              </a:spcAft>
              <a:buSzPct val="100000"/>
              <a:buChar char="•"/>
            </a:pPr>
            <a:r>
              <a:rPr lang="en-US" sz="1350" dirty="0">
                <a:solidFill>
                  <a:schemeClr val="tx2"/>
                </a:solidFill>
              </a:rPr>
              <a:t>A pipeline with no stored secret</a:t>
            </a:r>
            <a:endParaRPr lang="en-US" sz="1400" dirty="0"/>
          </a:p>
          <a:p>
            <a:pPr marL="342900" indent="-342900">
              <a:spcAft>
                <a:spcPts val="600"/>
              </a:spcAft>
              <a:buSzPct val="100000"/>
              <a:buChar char="•"/>
            </a:pPr>
            <a:r>
              <a:rPr lang="en-US" sz="1350" dirty="0">
                <a:solidFill>
                  <a:schemeClr val="tx2"/>
                </a:solidFill>
              </a:rPr>
              <a:t>Emergency edits back in code in a day</a:t>
            </a:r>
            <a:endParaRPr lang="en-US" sz="1400" dirty="0"/>
          </a:p>
        </p:txBody>
      </p:sp>
      <p:sp>
        <p:nvSpPr>
          <p:cNvPr id="11" name="Keep box">
            <a:extLst>
              <a:ext uri="{C183D7F6-B498-43B3-948B-1728B52AA6E4}">
                <adec:decorative xmlns:adec="http://schemas.microsoft.com/office/drawing/2017/decorative" val="1"/>
              </a:ext>
            </a:extLst>
          </p:cNvPr>
          <p:cNvSpPr/>
          <p:nvPr/>
        </p:nvSpPr>
        <p:spPr>
          <a:xfrm>
            <a:off x="7269480" y="1371600"/>
            <a:ext cx="4389120" cy="2697480"/>
          </a:xfrm>
          <a:prstGeom prst="roundRect">
            <a:avLst>
              <a:gd name="adj" fmla="val 271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7498080" y="1517904"/>
            <a:ext cx="548640" cy="54864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629754" y="1649578"/>
            <a:ext cx="285293" cy="285293"/>
          </a:xfrm>
          <a:prstGeom prst="rect">
            <a:avLst/>
          </a:prstGeom>
        </p:spPr>
      </p:pic>
      <p:sp>
        <p:nvSpPr>
          <p:cNvPr id="14" name="Keep head"/>
          <p:cNvSpPr txBox="1"/>
          <p:nvPr/>
        </p:nvSpPr>
        <p:spPr>
          <a:xfrm>
            <a:off x="8183880" y="1517904"/>
            <a:ext cx="333756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Evidence outlasts 30 days</a:t>
            </a:r>
            <a:endParaRPr lang="en-US" sz="1650" dirty="0"/>
          </a:p>
        </p:txBody>
      </p:sp>
      <p:sp>
        <p:nvSpPr>
          <p:cNvPr id="15" name="Keep list"/>
          <p:cNvSpPr txBox="1"/>
          <p:nvPr/>
        </p:nvSpPr>
        <p:spPr>
          <a:xfrm>
            <a:off x="7498080" y="2212848"/>
            <a:ext cx="39776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keeps logs 30 days on P1 or P2</a:t>
            </a:r>
            <a:endParaRPr lang="en-US" sz="1400" dirty="0"/>
          </a:p>
          <a:p>
            <a:pPr marL="342900" indent="-342900">
              <a:spcAft>
                <a:spcPts val="600"/>
              </a:spcAft>
              <a:buSzPct val="100000"/>
              <a:buChar char="•"/>
            </a:pPr>
            <a:r>
              <a:rPr lang="en-US" sz="1350" dirty="0">
                <a:solidFill>
                  <a:schemeClr val="tx2"/>
                </a:solidFill>
              </a:rPr>
              <a:t>Audit, sign-in and PIM: one year</a:t>
            </a:r>
            <a:endParaRPr lang="en-US" sz="1400" dirty="0"/>
          </a:p>
          <a:p>
            <a:pPr marL="342900" indent="-342900">
              <a:spcAft>
                <a:spcPts val="600"/>
              </a:spcAft>
              <a:buSzPct val="100000"/>
              <a:buChar char="•"/>
            </a:pPr>
            <a:r>
              <a:rPr lang="en-US" sz="1350" dirty="0">
                <a:solidFill>
                  <a:schemeClr val="tx2"/>
                </a:solidFill>
              </a:rPr>
              <a:t>Consent and break-glass: three years</a:t>
            </a:r>
            <a:endParaRPr lang="en-US" sz="1400" dirty="0"/>
          </a:p>
          <a:p>
            <a:pPr marL="342900" indent="-342900">
              <a:spcAft>
                <a:spcPts val="600"/>
              </a:spcAft>
              <a:buSzPct val="100000"/>
              <a:buChar char="•"/>
            </a:pPr>
            <a:r>
              <a:rPr lang="en-US" sz="1350" dirty="0">
                <a:solidFill>
                  <a:schemeClr val="tx2"/>
                </a:solidFill>
              </a:rPr>
              <a:t>Tier 0 drift is a security incident</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Make the repository the only normal path to production for access policy, and stream every access log to the agency's own store from day one</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(monitoring evidence)</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policy is enforced</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AC-2, AC-3, AC-6, IA-2, CA-7, CM-3; FedRAMP 20x KSIs; Microsoft Learn — configuration management, retention. Book 04, Chapters 09,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4B0910B9-1715-1DE0-1E0B-730F187AFA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133C711-27AD-4ED6-9C34-676D3E302964}"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790"/>
    </mc:Choice>
    <mc:Fallback>
      <p:transition spd="slow" advTm="46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792"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35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Include all users; enforce attribute policies only on verified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HR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such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Make every human admin role eligible through PIM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the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First role 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Adopt the library and waves; block high-risk users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wave 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Phishing-resistant MFA report-only day one; enforce on readiness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Day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Adopt or supersede each Microsoft-managed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Identity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Within 30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 each role's tier; approvers from outside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roles convert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Build and test break-glass; record it as a deviation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the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roles convert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Fund P2 and Governance for everyone, with no lapse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renewal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Help desk: an assignments-only custom 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IGO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help desk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Tier every app; untiered or ownerless is Tier 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IGO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First access grant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new secrets; 180-day certificates; two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app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New apps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Uncompensated exceptions to the AO; six months at most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request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Repository the only path; stream logs from day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First enforced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6" name="Close line"/>
          <p:cNvSpPr txBox="1"/>
          <p:nvPr/>
        </p:nvSpPr>
        <p:spPr>
          <a:xfrm>
            <a:off x="548640" y="5486400"/>
            <a:ext cx="11109960" cy="457200"/>
          </a:xfrm>
          <a:prstGeom prst="rect">
            <a:avLst/>
          </a:prstGeom>
          <a:noFill/>
          <a:ln/>
        </p:spPr>
        <p:txBody>
          <a:bodyPr wrap="square" lIns="0" tIns="0" rIns="0" bIns="0" rtlCol="0" anchor="ctr"/>
          <a:lstStyle/>
          <a:p>
            <a:pPr marL="0" indent="0" algn="ctr">
              <a:buNone/>
            </a:pPr>
            <a:r>
              <a:rPr lang="en-US" sz="1500" b="1" dirty="0">
                <a:solidFill>
                  <a:srgbClr val="B45309"/>
                </a:solidFill>
              </a:rPr>
              <a:t>Write the policy down, test it, prove it ran.  </a:t>
            </a:r>
            <a:r>
              <a:rPr lang="en-US" sz="1500" dirty="0">
                <a:solidFill>
                  <a:schemeClr val="tx2"/>
                </a:solidFill>
              </a:rPr>
              <a:t>That's how an agency knows who can reach what, and why.</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CISA BOD 25-01; NIST SP 800-53 Rev. 5; Microsoft Learn, Oct 2026. Book 04, Chapters 01–10; Book 02, Chapter 06.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EB40CAF-3DF5-33DA-A52B-AEEA6F323A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2E323F-B379-496C-865D-E763AC36283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430"/>
    </mc:Choice>
    <mc:Fallback>
      <p:transition spd="slow" advTm="55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4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9351</Words>
  <Application>Microsoft Office PowerPoint</Application>
  <PresentationFormat>Widescreen</PresentationFormat>
  <Paragraphs>440</Paragraphs>
  <Slides>19</Slides>
  <Notes>19</Notes>
  <HiddenSlides>0</HiddenSlides>
  <MMClips>19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Federal Modernization Workbook</vt:lpstr>
      <vt:lpstr>Access &amp; Privilege: the executive briefing</vt:lpstr>
      <vt:lpstr>Every access decision is a policy decision</vt:lpstr>
      <vt:lpstr>Membership and location decide once; policy, every time</vt:lpstr>
      <vt:lpstr>Standing privilege is an open door</vt:lpstr>
      <vt:lpstr>What least privilege requires, and what policy says</vt:lpstr>
      <vt:lpstr>The Conditional Access baseline, built to BOD 25-01</vt:lpstr>
      <vt:lpstr>Phishing-resistant MFA is the end state</vt:lpstr>
      <vt:lpstr>Policies come in pairs, and Microsoft adds its own</vt:lpstr>
      <vt:lpstr>Privileged roles are tiered by what they can take over</vt:lpstr>
      <vt:lpstr>Just in time, approved from outside the tier</vt:lpstr>
      <vt:lpstr>Four things that can quietly undo the gate</vt:lpstr>
      <vt:lpstr>Break-glass: the one governed exception</vt:lpstr>
      <vt:lpstr>Deciding isn't doing: rules Entra doesn't enforce</vt:lpstr>
      <vt:lpstr>Application risk tiers set the approval chain</vt:lpstr>
      <vt:lpstr>Applications are identities, with owners and an end</vt:lpstr>
      <vt:lpstr>Who decides what for access</vt:lpstr>
      <vt:lpstr>Govern access with packages, reviews and expiry</vt:lpstr>
      <vt:lpstr>Access as code, and the evidence it leaves</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04 — Access &amp; Privilege</dc:title>
  <dc:subject>PptxGenJS Presentation</dc:subject>
  <dc:creator>Michael F. Stratton</dc:creator>
  <cp:lastModifiedBy>Michael F. Stratton</cp:lastModifiedBy>
  <cp:revision>2</cp:revision>
  <dcterms:created xsi:type="dcterms:W3CDTF">2026-10-25T11:55:03Z</dcterms:created>
  <dcterms:modified xsi:type="dcterms:W3CDTF">2026-10-25T12:15:50Z</dcterms:modified>
</cp:coreProperties>
</file>