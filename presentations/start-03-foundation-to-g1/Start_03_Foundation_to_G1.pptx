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pisode 3" id="{5761cc8b-cd9b-e9c4-4bb1-222fab4ae84f}">
          <p14:sldIdLst>
            <p14:sldId id="256"/>
            <p14:sldId id="257"/>
            <p14:sldId id="258"/>
            <p14:sldId id="259"/>
            <p14:sldId id="260"/>
            <p14:sldId id="261"/>
            <p14:sldId id="262"/>
            <p14:sldId id="263"/>
            <p14:sldId id="264"/>
            <p14:sldId id="265"/>
          </p14:sldIdLst>
        </p14:section>
        <p14:section name="Backup" id="{786bf530-fdf6-d46c-154d-553158ac1e3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[0:00–0:33]  Welcome to Episode 3 of the Start series from the Federal Modernization Workbook. Episode 2 ended at gate G zero, with the estate inventoried and the plans about to be generated. Now the work reaches the live environment. Over roughly four weeks, Phase one puts the identity building blocks in place: groups and scoped administration, a sign-in baseline, emergency accounts, the first HR feed, address management, and the first servers under cloud management. Then gate G one checks all of it from data. Let's see how the pieces fit.
Detail: Episode 3 of the Start series. Episode 2 ended at Gate G0, Ready to Plan: platform host operational, assessment committed, no open priority-one findings (Book 01 Chapter 12; Book 00 Chapter 08). Phase 1 — Foundation, weeks 5 to 8 in Book 01's illustrative calendar, has one goal: "put the identity primitives in place before anything else moves." This episode walks through enterprise dynamic groups and administrative units (Book 02), the Conditional Access baseline and emergency access accounts (Book 04), the first HR-to-cloud feed for a foundation scope (Book 03 Chapter 12), IPAM for Tier 0 (Book 01 Chapter 06; Book 08), pilot servers on Azure Arc (Book 05 Chapter 09), each Gate G1 criterion and how it is measured from data, and the common failure modes. The workbook is independent analysis, not an official publication of any agency.
Sources: Book 01, Chapter 12 (Phase 1 — Foundation); Book 00,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[0:33–1:03]  Phase one has one goal: put the identity basics in place before anything else moves. It opens with the plans approved, and then five workstreams move together, not one after another. Identity builds groups, scoped administration and the HR feed. Policy sets the sign-in baseline. Services brings the core infrastructure under address management. Compute connects the first servers. And access opens strong sign-in for the most privileged administrators. Running them in parallel is the point. First, groups and scope.
Detail: Book 01 Chapter 12, Phase 1 — Foundation (weeks 5–8). Goal: put the identity primitives in place before anything else moves. Identity: enterprise-level dynamic groups; administrative units for Tier 1 and selected Tier 2 scopes; the HR-to-cloud provisioning feed for the foundation scope (Book 03, Chapter 12). Policy: the enterprise Conditional Access baseline (MFA for all users, legacy authentication blocked, emergency access accounts excluded from every policy that blocks or restricts sign-in). Services: IP address management covering the platform host and Tier 0 infrastructure. Compute: the platform host and pilot servers connected through Azure Arc. Access: single sign-on configured; FIDO2 security keys and passkeys open for registration to Tier 0 administrators. "Parallel, not sequential. The five workstreams run together. Finishing one before starting the next doubles the duration and produces worse outcomes." Book 00 Chapter 09: Phase 1 opens with the eight plans generated, reviewed and approved by the steward; then two halves run together: designing every surface from the approved plans (M-014 to M-021), and building the shared primitives the pilot needs.
Sources: Book 01, Chapter 12 (Phase 1; The program claim); Book 00, Chapter 09 (Phase 1 —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[1:03–1:37]  In the old directory, where an account sat in the tree decided who could manage it. The cloud directory is flat, so scope has to be declared on purpose. Phase one does that with dynamic groups and administrative units (AUs), whose membership comes from attributes like department, fed by HR. Two things to know. AUs limit who can change an account, not who can see it. And membership updates take hours, sometimes more than a day, so plan in hours, not minutes. Next, the baseline every sign-in has to meet.
Detail: Book 02 Chapter 05: in Active Directory the OU tree was the delegation model; Microsoft Entra ID's directory is flat, and administrative units (AUs) create scope boundaries inside it. AUs can't be nested; they scope management, not visibility ("Treat AUs as a write boundary, not a confidentiality boundary"); only some roles can be AU-scoped. Dynamic AUs maintain membership by rule from the same attributes as dynamic groups, which lets the program derive scope from HR-sourced attributes; dynamic AUs are available in the global Azure cloud, not in specialized clouds such as Azure Government, so a tenant in a Microsoft government cloud may have to maintain membership another way. Role-assignable groups can't be dynamic; the program keeps the *-Admins groups assigned and makes members eligible through Privileged Identity Management. Restricted management is a per-AU decision, default no. Book 00 Chapter 09: dynamic membership groups need Entra ID P1 per unique member; membership changes are usually processed within a few hours and can take more than 24, so waves are planned around hours, not minutes. Book 01 Chapter 12: administrative units for Tier 1 and selected Tier 2 scopes.
Sources: Book 02, Chapter 05 (Delegation Without OUs); Book 00, Chapter 09 (Dynamic groups, policy and access); Book 01,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[1:37–2:10]  The sign-in baseline is short: multifactor authentication for everyone, legacy sign-in methods blocked, and emergency accounts excluded from anything that could lock them out. Blocking legacy authentication is also a mandatory federal cloud baseline. What matters most is how it's switched on. Every policy runs in report-only mode first, for at least a week, so you can see who would be blocked before anyone is. Then it's enforced ring by ring, and rolled back by turning it off, never by deleting it. That makes the emergency accounts critical.
Detail: Book 01 Chapter 12, Phase 1 policy: the enterprise Conditional Access baseline: MFA for all users, legacy authentication blocked, emergency access accounts excluded from every policy that blocks or restricts sign-in; Microsoft's procedure starts the legacy-authentication block in report-only mode. Book 04 Chapter 03, baseline principles: every sign-in meets at least one policy; report-only first, and enforcement is a separate change; never delete during an incident. Exclusions: one permanent exclusion, the emergency access group, from every policy that blocks or restricts sign-in. Book 04 Chapter 07, Wave 1 (foundation): CA001 blocks legacy authentication and meets MS.AAD.1.1, which CISA lists as mandatory under BOD 25-01; CA090 is a permanent report-only coverage probe that never moves to On. Rollout: every policy is created in report-only, measured for at least seven days with two to four weeks preferred (Microsoft recommends at least a week as a deployment tip), enforced for a pilot ring (IT and security staff), then expanded ring by ring with 48 hours of watching after each. Rollback: report-only, scope reduction, Off, or wave rollback; never delete a policy. Book 00 Chapter 09's G1 checklist: baseline enforced after at least seven days in report-only with no unexpected impact.
Sources: Book 01, Chapter 12; Book 04, Chapters 03 and 07; Book 00,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[2:10–2:43]  Emergency access accounts are how you get back in when everything else fails: sign-in, multifactor, or a policy mistake. They're the only standing administrator rights the program accepts by design, so they're governed tightly. At least two cloud-only accounts, with phishing-resistant sign-in, excluded from blocking policies through one group, and an alert on every use. They're tested at least every ninety days. And they must work before any administrator role becomes just-in-time, or the agency can lock itself out of its own tenant. Next, the first HR feed.
Detail: Book 04 Chapter 02: emergency access ("break-glass") accounts "are the only standing privilege the program accepts by design." Microsoft's current guidance: two or more cloud-only accounts in the onmicrosoft.com domain using passwordless, phishing-resistant authentication (a FIDO2 passkey, recommended, or certificate-based authentication); exclude a dedicated group from every policy that blocks or restricts sign-in; Global Administrator as a permanent active assignment in PIM; validate sign-in and an administrative task at least every 90 days and after staff changes; alert on every sign-in and audit event and review every use. Microsoft lists the lockout case where all Global Administrator and Privileged Role Administrator assignments are eligible, activation requires approval and no approvers are available. Because NIST's AC-2(2) expects emergency accounts to be disabled automatically after a defined period, the system security plan records the permanent accounts as a documented deviation with compensating controls. Book 04 Chapter 04: the accounts must exist and be tested before any role is converted to eligible or any approval requirement is switched on. Book 01 Chapter 12: Microsoft recommends at least two cloud-only emergency access accounts using phishing-resistant methods, monitored on every use and tested at least every 90 days; Gate G1 requires them vaulted and tested.
Sources: Book 04, Chapters 02 and 04; Book 01,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[2:43–3:18]  This is where HR starts to drive identity, for a first, limited group of people. The order matters. The feed is named as one of the agency's HR integration points. The attribute authority map is signed, and HR data is checked against reality and fixed at the source, because a drifted feed produces drifted access faster than any ticket queue. Joiner, mover and leaver are proven end to end in a test tenant. Then the pilot group runs in shadow mode, where the feed shows what it would do, before it's allowed to act.
Detail: Book 03 Chapter 12 has its own phase numbering (0 to 6) for the HR-driven identity program; Book 01 Chapter 12 points to it for "the HR-to-cloud provisioning feed for the foundation scope." The order: Phase 0, program alignment: inventory integration points and name the HR-driven identity feed as one of them, with the agency's HR 2.0 points of contact. Phase 1, attribute authority and schema: record the enterprise identifier decision; sign the attribute authority map; baseline HR data against reality and fix errors at the source; gate includes correlation-key population on the pilot cohort (proposed starting point: at least 99%). Phase 2, pipeline build and test: joiner, mover and leaver each run end to end in a test tenant with a provenance record and a workflow run. Phase 3, hybrid go-live (pilot): the pilot cohort runs in shadow mode first, every pipeline-versus-directory difference explained and fixed; zero unmatched-record creations. Sequencing principle: "the source must be correct, not just designated. A drifted HR feed produces drifted access faster than any ticket queue could." Thresholds are proposed starting criteria the agency approves or replaces. Book 00 Chapter 09's G1 checklist: HR-to-cloud provisioning operational for the foundation scope, and the attribute slots in use confirmed free and single-writer.
Sources: Book 03, Chapter 12 (Execution Plan); Book 00, Chapter 09 (Gate G1); Book 01,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[3:18–3:51]  Two infrastructure pieces join the foundation. First, address management. Many agencies track IP ranges in a spreadsheet, and that's where conflicts and ghost records come from. Phase one puts the platform host and the most critical infrastructure under one governed address authority, so DNS and DHCP can later derive from it. Second, servers. Intune doesn't manage Windows Server, so the platform host and a few pilot servers connect through Azure Arc. Each gets a cloud identity, a security baseline, patching and protection, without changing its domain membership.
Detail: Book 01 Chapter 06: many organizations discover they have no real IPAM, "a spreadsheet one person maintains, a stale wiki page, or partial tools"; moving DNS and DHCP but leaving IPAM in a spreadsheet produces conflicts and ghost records; the program treats the three as one domain, with IPAM owning addressing and DNS and DHCP deriving from it. Book 01 Chapter 12: Phase 1 services, IP address management covering the platform host and Tier 0 infrastructure; Gate G1, Tier 0 covered by IPAM. Book 08 Chapter 07: treat the enterprise IPAM as the authoritative source for address blocks across on-premises, cloud and VMware environments. Book 05 Chapter 09: Intune's supported platforms don't include Windows Server; a server running the Connected Machine agent appears in Azure as a resource with a resource ID and a system-assigned managed identity; attach Azure Policy machine configuration, Azure Update Manager and Defender for Servers on the same change; onboarding doesn't change domain membership; an Arc outage impairs management only, not the workload; the agent sends a heartbeat every five minutes. Windows Server 2016 reaches end of support January 12, 2027; ESUs through Arc for up to three years, billing beginning January 13, 2027. Book 00 Chapter 09: the platform host and pilot servers connected through Arc with machine configuration compliant (M-007) by G1.
Sources: Book 01, Chapters 06 and 12; Book 08, Chapter 07; Book 05, Chapter 09; Book 00,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[3:51–4:23]  Gate G one has a short list, and each line is a query, not an opinion. Groups and administrative units match their registry, with no drift. The sign-in logs show no one outside multifactor except the emergency accounts. The emergency accounts have recent, logged tests. The address inventory covers the critical infrastructure. The provisioning logs show the HR feed running for the foundation group. And high findings are fixed and re-scanned. The steward decides, but only after the data says green. So what can go wrong?
Detail: Book 01 Chapter 12, Gate G1, Foundation Complete: enterprise groups and administrative units drift-clean; baseline Conditional Access enforced, with no user outside the MFA requirement other than the documented emergency access accounts; Tier 0 covered by IPAM; emergency access accounts vaulted and tested; HR-to-cloud provisioning operational for the foundation scope; zero drift across the foundation. "Every gate criterion is evaluated from the repository and the drift reports... The engine reports green, the steward concurs, and the pull request merges. A gate the engine can't evaluate needs a better criterion." G1 authority: the steward. Book 00 Chapter 09 adds to the checklist: all eight plans and every design APPROVED; baseline enforced after at least seven days in report-only with no unexpected impact; emergency accounts vaulted, monitored and tested; platform host and pilot servers on Arc with machine configuration compliant; attribute slots confirmed free and single-writer; every High finding remediated and verified by re-scan; pilot scope and staged pilot objects in place. Book 02 Chapter 05: drift detection compares the AU registry and role matrix with the tenant on a schedule. Book 04 Chapter 07: CA090, the report-only coverage probe. Book 04 Chapter 04: alert on every sign-in and audit event; validate at least every 90 days. Book 05 Chapter 09: the heartbeat makes connection state evidence.
Sources: Book 01, Chapter 12; Book 00, Chapter 09; Book 02, Chapter 05; Book 04, Chapters 04 and 07; Book 05,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[4:23–4:56]  Most foundation failures are predictable. A broad multifactor policy blocks an unusual but critical sign-in, which is why everything runs report-only first. An administrator role goes just-in-time before the emergency accounts work, and the tenant locks itself out. A policy aimed at a group silently misses everyone whose attribute is empty. The HR feed automates on data nobody checked. And if the HR connector breaks mid-rollout, the program stalls, which is why the gate requires the feed first. Rollback triggers halt the work before a problem spreads.
Detail: Book 01 Chapter 12, common failure modes: half-finished identity (the HR connector breaks mid-rollout and the program stalls; mitigation: G1 requires HR provisioning before rollout); unscoped Conditional Access (a broad MFA policy blocks critical edge-case sign-ins; mitigation: attribute scoping, report-only first, pilot groups first). Rollback triggers are thresholds, not judgment calls, with values the agency sets: drift above threshold for more than 24 hours halts the phase with no new deliveries until clean; Conditional Access blocking more than a set share of legitimate sign-ins reverts the policy and authorizes a replacement. "Pilots exist to catch problems before they become rollbacks." Book 04 Chapter 03: "A policy that includes a dynamic group misses every user whose attribute is empty, so incomplete attributes are an exclusion nobody approved"; baseline policies include all users and exclude narrowly, and attribute completeness is checked before any attribute-scoped policy is enforced. Book 04 Chapter 04: emergency accounts must exist and be tested before any role is converted to eligible. Book 03 Chapter 12: data quality at the source is Phase 1 work; Phases 1 and 2 produce no visible change for end users, "which is exactly why estates skip them."
Sources: Book 01, Chapter 12 (Common failure modes; Gates, rollback and authority); Book 04, Chapters 03 and 04; Book 03,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[4:56–5:31]  When gate G one passes, leadership can see a foundation that holds. Everyone signs in with multifactor. Administration is scoped by attributes instead of a tree nobody wrote down. Emergency access is governed and tested. HR is driving identity for a first group of people, and the core servers and addresses are under management, all with zero drift. That's what the pilot division builds on next. The last episode steps back from the mechanics to the meeting itself. Episode 4, Making the Case at Your Agency, turns all of this into a one-page ask.
Detail: What G1 shows, from Book 01 Chapter 12's criteria: baseline Conditional Access enforced with no user outside MFA other than the documented emergency access accounts, which are vaulted and tested; enterprise groups and administrative units drift-clean (scope from attributes, Book 02 Chapter 05); HR-to-cloud provisioning operational for the foundation scope; Tier 0 covered by IPAM; platform host and pilot servers on Arc (Book 00 Chapter 09); zero drift across the foundation. Next in the roadmap: Phase 2 — Pilot division (weeks 9–16), proving the full pattern on one division, typically IT, which tolerates disruption best; Gate G2, Pilot Clean, co-signed by the steward and the executive sponsor. Next in the Start series: Episode 4, Making the Case at Your Agency.
Sources: Book 01, Chapter 12; Book 00,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Start series, Episode 3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Foundation to Gate G1: Weeks Five to Eight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Executive briefing  ·  Start series, Episode 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PHASE 1 IN PRACTICE  ·  ABOUT 6 MINUTES</a:t>
            </a:r>
            <a:endParaRPr lang="en-US" sz="1500" dirty="0"/>
          </a:p>
          <a:p>
            <a:pPr indent="0" marL="0">
              <a:spcAft>
                <a:spcPts val="200"/>
              </a:spcAft>
              <a:buNone/>
            </a:pPr>
            <a:r>
              <a:rPr lang="en-US" sz="1500" dirty="0">
                <a:solidFill>
                  <a:srgbClr val="334155"/>
                </a:solidFill>
              </a:rPr>
              <a:t>Groups and administrative units  ·  The sign-in baseline  ·  Emergency access</a:t>
            </a:r>
            <a:endParaRPr lang="en-US" sz="1500" dirty="0"/>
          </a:p>
          <a:p>
            <a:pPr indent="0" marL="0">
              <a:spcAft>
                <a:spcPts val="200"/>
              </a:spcAft>
              <a:buNone/>
            </a:pPr>
            <a:r>
              <a:rPr lang="en-US" sz="1500" dirty="0">
                <a:solidFill>
                  <a:srgbClr val="334155"/>
                </a:solidFill>
              </a:rPr>
              <a:t>The first HR feed  ·  IPAM and Arc  ·  Gate G1 from data  ·  What can go wrong</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06 and 12; Book 00, Ch 09; Books 02, 03, 04, 05 and 08 (cited per slide). Facts as of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workstreams, one foundation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Workstreams 1" descr="">
            <a:extLst>
              <a:ext uri="{C183D7F6-B498-43B3-948B-1728B52AA6E4}">
                <adec:decorative xmlns:adec="http://schemas.microsoft.com/office/drawing/2017/decorative" val="1"/>
              </a:ext>
            </a:extLst>
          </p:cNvPr>
          <p:cNvSpPr/>
          <p:nvPr/>
        </p:nvSpPr>
        <p:spPr>
          <a:xfrm>
            <a:off x="548640" y="1463040"/>
            <a:ext cx="2017166" cy="1965960"/>
          </a:xfrm>
          <a:prstGeom prst="roundRect">
            <a:avLst>
              <a:gd name="adj" fmla="val 37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Workstreams 1 text"/>
          <p:cNvSpPr txBox="1"/>
          <p:nvPr/>
        </p:nvSpPr>
        <p:spPr>
          <a:xfrm>
            <a:off x="640080" y="1536192"/>
            <a:ext cx="1834286" cy="181965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Identity</a:t>
            </a:r>
            <a:endParaRPr lang="en-US" sz="1250" dirty="0"/>
          </a:p>
          <a:p>
            <a:pPr indent="0" marL="0">
              <a:spcAft>
                <a:spcPts val="200"/>
              </a:spcAft>
              <a:buNone/>
            </a:pPr>
            <a:r>
              <a:rPr lang="en-US" sz="1250" dirty="0">
                <a:solidFill>
                  <a:schemeClr val="tx2"/>
                </a:solidFill>
              </a:rPr>
              <a:t>Enterprise dynamic groups; administrative units for Tier 1 and selected Tier 2 scopes; the HR feed</a:t>
            </a:r>
            <a:endParaRPr lang="en-US" sz="1250" dirty="0"/>
          </a:p>
        </p:txBody>
      </p:sp>
      <p:sp>
        <p:nvSpPr>
          <p:cNvPr id="7" name="Workstreams arrow 1" descr="">
            <a:extLst>
              <a:ext uri="{C183D7F6-B498-43B3-948B-1728B52AA6E4}">
                <adec:decorative xmlns:adec="http://schemas.microsoft.com/office/drawing/2017/decorative" val="1"/>
              </a:ext>
            </a:extLst>
          </p:cNvPr>
          <p:cNvSpPr/>
          <p:nvPr/>
        </p:nvSpPr>
        <p:spPr>
          <a:xfrm>
            <a:off x="2593238" y="2345436"/>
            <a:ext cx="201168" cy="201168"/>
          </a:xfrm>
          <a:prstGeom prst="rightArrow">
            <a:avLst/>
          </a:prstGeom>
          <a:solidFill>
            <a:srgbClr val="64748B"/>
          </a:solidFill>
          <a:ln w="12700">
            <a:solidFill>
              <a:srgbClr val="64748B"/>
            </a:solidFill>
            <a:prstDash val="solid"/>
          </a:ln>
        </p:spPr>
      </p:sp>
      <p:sp>
        <p:nvSpPr>
          <p:cNvPr id="8" name="Workstreams 2" descr="">
            <a:extLst>
              <a:ext uri="{C183D7F6-B498-43B3-948B-1728B52AA6E4}">
                <adec:decorative xmlns:adec="http://schemas.microsoft.com/office/drawing/2017/decorative" val="1"/>
              </a:ext>
            </a:extLst>
          </p:cNvPr>
          <p:cNvSpPr/>
          <p:nvPr/>
        </p:nvSpPr>
        <p:spPr>
          <a:xfrm>
            <a:off x="2821838" y="1463040"/>
            <a:ext cx="2017166" cy="1965960"/>
          </a:xfrm>
          <a:prstGeom prst="roundRect">
            <a:avLst>
              <a:gd name="adj" fmla="val 372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Workstreams 2 text"/>
          <p:cNvSpPr txBox="1"/>
          <p:nvPr/>
        </p:nvSpPr>
        <p:spPr>
          <a:xfrm>
            <a:off x="2913278" y="1536192"/>
            <a:ext cx="1834286" cy="181965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Policy</a:t>
            </a:r>
            <a:endParaRPr lang="en-US" sz="1250" dirty="0"/>
          </a:p>
          <a:p>
            <a:pPr indent="0" marL="0">
              <a:spcAft>
                <a:spcPts val="200"/>
              </a:spcAft>
              <a:buNone/>
            </a:pPr>
            <a:r>
              <a:rPr lang="en-US" sz="1250" dirty="0">
                <a:solidFill>
                  <a:schemeClr val="tx2"/>
                </a:solidFill>
              </a:rPr>
              <a:t>The enterprise Conditional Access baseline, with emergency access excluded</a:t>
            </a:r>
            <a:endParaRPr lang="en-US" sz="1250" dirty="0"/>
          </a:p>
        </p:txBody>
      </p:sp>
      <p:sp>
        <p:nvSpPr>
          <p:cNvPr id="10" name="Workstreams arrow 2" descr="">
            <a:extLst>
              <a:ext uri="{C183D7F6-B498-43B3-948B-1728B52AA6E4}">
                <adec:decorative xmlns:adec="http://schemas.microsoft.com/office/drawing/2017/decorative" val="1"/>
              </a:ext>
            </a:extLst>
          </p:cNvPr>
          <p:cNvSpPr/>
          <p:nvPr/>
        </p:nvSpPr>
        <p:spPr>
          <a:xfrm>
            <a:off x="4866437" y="2345436"/>
            <a:ext cx="201168" cy="201168"/>
          </a:xfrm>
          <a:prstGeom prst="rightArrow">
            <a:avLst/>
          </a:prstGeom>
          <a:solidFill>
            <a:srgbClr val="64748B"/>
          </a:solidFill>
          <a:ln w="12700">
            <a:solidFill>
              <a:srgbClr val="64748B"/>
            </a:solidFill>
            <a:prstDash val="solid"/>
          </a:ln>
        </p:spPr>
      </p:sp>
      <p:sp>
        <p:nvSpPr>
          <p:cNvPr id="11" name="Workstreams 3" descr="">
            <a:extLst>
              <a:ext uri="{C183D7F6-B498-43B3-948B-1728B52AA6E4}">
                <adec:decorative xmlns:adec="http://schemas.microsoft.com/office/drawing/2017/decorative" val="1"/>
              </a:ext>
            </a:extLst>
          </p:cNvPr>
          <p:cNvSpPr/>
          <p:nvPr/>
        </p:nvSpPr>
        <p:spPr>
          <a:xfrm>
            <a:off x="5095037" y="1463040"/>
            <a:ext cx="2017166" cy="1965960"/>
          </a:xfrm>
          <a:prstGeom prst="roundRect">
            <a:avLst>
              <a:gd name="adj" fmla="val 37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Workstreams 3 text"/>
          <p:cNvSpPr txBox="1"/>
          <p:nvPr/>
        </p:nvSpPr>
        <p:spPr>
          <a:xfrm>
            <a:off x="5186477" y="1536192"/>
            <a:ext cx="1834286" cy="181965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Services</a:t>
            </a:r>
            <a:endParaRPr lang="en-US" sz="1250" dirty="0"/>
          </a:p>
          <a:p>
            <a:pPr indent="0" marL="0">
              <a:spcAft>
                <a:spcPts val="200"/>
              </a:spcAft>
              <a:buNone/>
            </a:pPr>
            <a:r>
              <a:rPr lang="en-US" sz="1250" dirty="0">
                <a:solidFill>
                  <a:schemeClr val="tx2"/>
                </a:solidFill>
              </a:rPr>
              <a:t>IP address management covering the platform host and Tier 0 infrastructure</a:t>
            </a:r>
            <a:endParaRPr lang="en-US" sz="1250" dirty="0"/>
          </a:p>
        </p:txBody>
      </p:sp>
      <p:sp>
        <p:nvSpPr>
          <p:cNvPr id="13" name="Workstreams arrow 3" descr="">
            <a:extLst>
              <a:ext uri="{C183D7F6-B498-43B3-948B-1728B52AA6E4}">
                <adec:decorative xmlns:adec="http://schemas.microsoft.com/office/drawing/2017/decorative" val="1"/>
              </a:ext>
            </a:extLst>
          </p:cNvPr>
          <p:cNvSpPr/>
          <p:nvPr/>
        </p:nvSpPr>
        <p:spPr>
          <a:xfrm>
            <a:off x="7139635" y="2345436"/>
            <a:ext cx="201168" cy="201168"/>
          </a:xfrm>
          <a:prstGeom prst="rightArrow">
            <a:avLst/>
          </a:prstGeom>
          <a:solidFill>
            <a:srgbClr val="64748B"/>
          </a:solidFill>
          <a:ln w="12700">
            <a:solidFill>
              <a:srgbClr val="64748B"/>
            </a:solidFill>
            <a:prstDash val="solid"/>
          </a:ln>
        </p:spPr>
      </p:sp>
      <p:sp>
        <p:nvSpPr>
          <p:cNvPr id="14" name="Workstreams 4" descr="">
            <a:extLst>
              <a:ext uri="{C183D7F6-B498-43B3-948B-1728B52AA6E4}">
                <adec:decorative xmlns:adec="http://schemas.microsoft.com/office/drawing/2017/decorative" val="1"/>
              </a:ext>
            </a:extLst>
          </p:cNvPr>
          <p:cNvSpPr/>
          <p:nvPr/>
        </p:nvSpPr>
        <p:spPr>
          <a:xfrm>
            <a:off x="7368235" y="1463040"/>
            <a:ext cx="2017166" cy="1965960"/>
          </a:xfrm>
          <a:prstGeom prst="roundRect">
            <a:avLst>
              <a:gd name="adj" fmla="val 372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Workstreams 4 text"/>
          <p:cNvSpPr txBox="1"/>
          <p:nvPr/>
        </p:nvSpPr>
        <p:spPr>
          <a:xfrm>
            <a:off x="7459675" y="1536192"/>
            <a:ext cx="1834286" cy="181965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Compute</a:t>
            </a:r>
            <a:endParaRPr lang="en-US" sz="1250" dirty="0"/>
          </a:p>
          <a:p>
            <a:pPr indent="0" marL="0">
              <a:spcAft>
                <a:spcPts val="200"/>
              </a:spcAft>
              <a:buNone/>
            </a:pPr>
            <a:r>
              <a:rPr lang="en-US" sz="1250" dirty="0">
                <a:solidFill>
                  <a:schemeClr val="tx2"/>
                </a:solidFill>
              </a:rPr>
              <a:t>The platform host and pilot servers connected through Azure Arc</a:t>
            </a:r>
            <a:endParaRPr lang="en-US" sz="1250" dirty="0"/>
          </a:p>
        </p:txBody>
      </p:sp>
      <p:sp>
        <p:nvSpPr>
          <p:cNvPr id="16" name="Workstreams arrow 4" descr="">
            <a:extLst>
              <a:ext uri="{C183D7F6-B498-43B3-948B-1728B52AA6E4}">
                <adec:decorative xmlns:adec="http://schemas.microsoft.com/office/drawing/2017/decorative" val="1"/>
              </a:ext>
            </a:extLst>
          </p:cNvPr>
          <p:cNvSpPr/>
          <p:nvPr/>
        </p:nvSpPr>
        <p:spPr>
          <a:xfrm>
            <a:off x="9412834" y="2345436"/>
            <a:ext cx="201168" cy="201168"/>
          </a:xfrm>
          <a:prstGeom prst="rightArrow">
            <a:avLst/>
          </a:prstGeom>
          <a:solidFill>
            <a:srgbClr val="64748B"/>
          </a:solidFill>
          <a:ln w="12700">
            <a:solidFill>
              <a:srgbClr val="64748B"/>
            </a:solidFill>
            <a:prstDash val="solid"/>
          </a:ln>
        </p:spPr>
      </p:sp>
      <p:sp>
        <p:nvSpPr>
          <p:cNvPr id="17" name="Workstreams 5" descr="">
            <a:extLst>
              <a:ext uri="{C183D7F6-B498-43B3-948B-1728B52AA6E4}">
                <adec:decorative xmlns:adec="http://schemas.microsoft.com/office/drawing/2017/decorative" val="1"/>
              </a:ext>
            </a:extLst>
          </p:cNvPr>
          <p:cNvSpPr/>
          <p:nvPr/>
        </p:nvSpPr>
        <p:spPr>
          <a:xfrm>
            <a:off x="9641434" y="1463040"/>
            <a:ext cx="2017166" cy="1965960"/>
          </a:xfrm>
          <a:prstGeom prst="roundRect">
            <a:avLst>
              <a:gd name="adj" fmla="val 37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Workstreams 5 text"/>
          <p:cNvSpPr txBox="1"/>
          <p:nvPr/>
        </p:nvSpPr>
        <p:spPr>
          <a:xfrm>
            <a:off x="9732874" y="1536192"/>
            <a:ext cx="1834286" cy="181965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Access</a:t>
            </a:r>
            <a:endParaRPr lang="en-US" sz="1250" dirty="0"/>
          </a:p>
          <a:p>
            <a:pPr indent="0" marL="0">
              <a:spcAft>
                <a:spcPts val="200"/>
              </a:spcAft>
              <a:buNone/>
            </a:pPr>
            <a:r>
              <a:rPr lang="en-US" sz="1250" dirty="0">
                <a:solidFill>
                  <a:schemeClr val="tx2"/>
                </a:solidFill>
              </a:rPr>
              <a:t>Single sign-on; FIDO2 keys and passkeys open to Tier 0 administrators</a:t>
            </a:r>
            <a:endParaRPr lang="en-US" sz="1250" dirty="0"/>
          </a:p>
        </p:txBody>
      </p:sp>
      <p:sp>
        <p:nvSpPr>
          <p:cNvPr id="19" name="Plans first" descr="">
            <a:extLst>
              <a:ext uri="{C183D7F6-B498-43B3-948B-1728B52AA6E4}">
                <adec:decorative xmlns:adec="http://schemas.microsoft.com/office/drawing/2017/decorative" val="1"/>
              </a:ext>
            </a:extLst>
          </p:cNvPr>
          <p:cNvSpPr/>
          <p:nvPr/>
        </p:nvSpPr>
        <p:spPr>
          <a:xfrm>
            <a:off x="548640" y="370332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Icon FaListCheck" descr="">
            <a:extLst>
              <a:ext uri="{C183D7F6-B498-43B3-948B-1728B52AA6E4}">
                <adec:decorative xmlns:adec="http://schemas.microsoft.com/office/drawing/2017/decorative" val="1"/>
              </a:ext>
            </a:extLst>
          </p:cNvPr>
          <p:cNvSpPr/>
          <p:nvPr/>
        </p:nvSpPr>
        <p:spPr>
          <a:xfrm>
            <a:off x="777240" y="3840480"/>
            <a:ext cx="731520" cy="731520"/>
          </a:xfrm>
          <a:prstGeom prst="ellipse">
            <a:avLst/>
          </a:prstGeom>
          <a:solidFill>
            <a:srgbClr val="1F2A44"/>
          </a:solidFill>
          <a:ln w="12700">
            <a:solidFill>
              <a:srgbClr val="1F2A44"/>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016045"/>
            <a:ext cx="380390" cy="380390"/>
          </a:xfrm>
          <a:prstGeom prst="rect">
            <a:avLst/>
          </a:prstGeom>
        </p:spPr>
      </p:pic>
      <p:sp>
        <p:nvSpPr>
          <p:cNvPr id="22" name="Plans first text"/>
          <p:cNvSpPr txBox="1"/>
          <p:nvPr/>
        </p:nvSpPr>
        <p:spPr>
          <a:xfrm>
            <a:off x="1737360" y="374904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It opens with the plans: </a:t>
            </a:r>
            <a:pPr indent="0" marL="0">
              <a:buNone/>
            </a:pPr>
            <a:r>
              <a:rPr lang="en-US" sz="1650" dirty="0">
                <a:solidFill>
                  <a:schemeClr val="tx2"/>
                </a:solidFill>
              </a:rPr>
              <a:t>the eight plans from the assessment are approved first, and the designs are reviewed while the shared foundation is built.</a:t>
            </a:r>
            <a:endParaRPr lang="en-US" sz="1650" dirty="0"/>
          </a:p>
        </p:txBody>
      </p:sp>
      <p:sp>
        <p:nvSpPr>
          <p:cNvPr id="23" name="Parallel"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Icon FaRoute"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6" name="Parallel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Parallel, not sequential: </a:t>
            </a:r>
            <a:pPr indent="0" marL="0">
              <a:buNone/>
            </a:pPr>
            <a:r>
              <a:rPr lang="en-US" sz="1650" dirty="0">
                <a:solidFill>
                  <a:schemeClr val="tx2"/>
                </a:solidFill>
              </a:rPr>
              <a:t>finishing one workstream before starting the next doubles the duration and produces worse outcomes.</a:t>
            </a:r>
            <a:endParaRPr lang="en-US" sz="165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(Phase 1 — Foundation; two properties define the program); Book 00, Ch 09 (Phase 1 — Foundation).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Groups and administrative units: scope from attributes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e three-tier delegation model from Book 02: Tier 1 at tenant scope holds Global Reader, Security Reader and Reports Reader; Tier 2 department administrative units (IT, HR, Finance) carry User and Groups Administrator; Tier 3 division administrative units (CyberOps, InfraOps, created on demand) carry Helpdesk, Password and Authentication Administrator. Division units relate to departments by naming only, not nesting.">    </p:cNvPr>
          <p:cNvPicPr>
            <a:picLocks noChangeAspect="1"/>
          </p:cNvPicPr>
          <p:nvPr/>
        </p:nvPicPr>
        <p:blipFill>
          <a:blip r:embed="rId1"/>
          <a:stretch>
            <a:fillRect/>
          </a:stretch>
        </p:blipFill>
        <p:spPr>
          <a:xfrm>
            <a:off x="548640" y="1325880"/>
            <a:ext cx="5486400" cy="2939143"/>
          </a:xfrm>
          <a:prstGeom prst="rect">
            <a:avLst/>
          </a:prstGeom>
        </p:spPr>
      </p:pic>
      <p:sp>
        <p:nvSpPr>
          <p:cNvPr id="6" name="Scope" descr="">
            <a:extLst>
              <a:ext uri="{C183D7F6-B498-43B3-948B-1728B52AA6E4}">
                <adec:decorative xmlns:adec="http://schemas.microsoft.com/office/drawing/2017/decorative" val="1"/>
              </a:ext>
            </a:extLst>
          </p:cNvPr>
          <p:cNvSpPr/>
          <p:nvPr/>
        </p:nvSpPr>
        <p:spPr>
          <a:xfrm>
            <a:off x="6263640" y="1371600"/>
            <a:ext cx="5394960" cy="2560320"/>
          </a:xfrm>
          <a:prstGeom prst="roundRect">
            <a:avLst>
              <a:gd name="adj" fmla="val 285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cope head"/>
          <p:cNvSpPr txBox="1"/>
          <p:nvPr/>
        </p:nvSpPr>
        <p:spPr>
          <a:xfrm>
            <a:off x="6446520" y="1481328"/>
            <a:ext cx="5029200" cy="640080"/>
          </a:xfrm>
          <a:prstGeom prst="rect">
            <a:avLst/>
          </a:prstGeom>
          <a:noFill/>
          <a:ln/>
        </p:spPr>
        <p:txBody>
          <a:bodyPr wrap="square" lIns="0" tIns="0" rIns="0" bIns="0" rtlCol="0" anchor="t"/>
          <a:lstStyle/>
          <a:p>
            <a:pPr indent="0" marL="0">
              <a:buNone/>
            </a:pPr>
            <a:r>
              <a:rPr lang="en-US" sz="1100" b="1" dirty="0">
                <a:solidFill>
                  <a:srgbClr val="64748B"/>
                </a:solidFill>
              </a:rPr>
              <a:t>IDENTITY · WEEKS 5–8</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Scope is declared on purpose</a:t>
            </a:r>
            <a:endParaRPr lang="en-US" sz="1400" dirty="0"/>
          </a:p>
        </p:txBody>
      </p:sp>
      <p:sp>
        <p:nvSpPr>
          <p:cNvPr id="8" name="Scope list"/>
          <p:cNvSpPr txBox="1"/>
          <p:nvPr/>
        </p:nvSpPr>
        <p:spPr>
          <a:xfrm>
            <a:off x="6446520" y="2121408"/>
            <a:ext cx="5074920" cy="17373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Entra ID is flat: dynamic groups and AUs take membership from HR-sourced attributes such as department</a:t>
            </a:r>
            <a:endParaRPr lang="en-US" sz="1400" dirty="0"/>
          </a:p>
          <a:p>
            <a:pPr marL="342900" indent="-342900">
              <a:spcAft>
                <a:spcPts val="300"/>
              </a:spcAft>
              <a:buSzPct val="100000"/>
              <a:buChar char="•"/>
            </a:pPr>
            <a:r>
              <a:rPr lang="en-US" sz="1350" dirty="0">
                <a:solidFill>
                  <a:schemeClr val="tx2"/>
                </a:solidFill>
              </a:rPr>
              <a:t>AUs limit who can change an account, not who can see it, and they can't be nested</a:t>
            </a:r>
            <a:endParaRPr lang="en-US" sz="1400" dirty="0"/>
          </a:p>
          <a:p>
            <a:pPr marL="342900" indent="-342900">
              <a:spcAft>
                <a:spcPts val="300"/>
              </a:spcAft>
              <a:buSzPct val="100000"/>
              <a:buChar char="•"/>
            </a:pPr>
            <a:r>
              <a:rPr lang="en-US" sz="1350" dirty="0">
                <a:solidFill>
                  <a:schemeClr val="tx2"/>
                </a:solidFill>
              </a:rPr>
              <a:t>Groups that hold admin roles stay assigned; members are made eligible through PIM</a:t>
            </a:r>
            <a:endParaRPr lang="en-US" sz="1400" dirty="0"/>
          </a:p>
        </p:txBody>
      </p:sp>
      <p:sp>
        <p:nvSpPr>
          <p:cNvPr id="9" name="Hours" descr="">
            <a:extLst>
              <a:ext uri="{C183D7F6-B498-43B3-948B-1728B52AA6E4}">
                <adec:decorative xmlns:adec="http://schemas.microsoft.com/office/drawing/2017/decorative" val="1"/>
              </a:ext>
            </a:extLst>
          </p:cNvPr>
          <p:cNvSpPr/>
          <p:nvPr/>
        </p:nvSpPr>
        <p:spPr>
          <a:xfrm>
            <a:off x="548640" y="46177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UserClock" descr="">
            <a:extLst>
              <a:ext uri="{C183D7F6-B498-43B3-948B-1728B52AA6E4}">
                <adec:decorative xmlns:adec="http://schemas.microsoft.com/office/drawing/2017/decorative" val="1"/>
              </a:ext>
            </a:extLst>
          </p:cNvPr>
          <p:cNvSpPr/>
          <p:nvPr/>
        </p:nvSpPr>
        <p:spPr>
          <a:xfrm>
            <a:off x="777240" y="4800600"/>
            <a:ext cx="731520" cy="731520"/>
          </a:xfrm>
          <a:prstGeom prst="ellipse">
            <a:avLst/>
          </a:prstGeom>
          <a:solidFill>
            <a:srgbClr val="B45309"/>
          </a:solidFill>
          <a:ln w="12700">
            <a:solidFill>
              <a:srgbClr val="B45309"/>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4976165"/>
            <a:ext cx="380390" cy="380390"/>
          </a:xfrm>
          <a:prstGeom prst="rect">
            <a:avLst/>
          </a:prstGeom>
        </p:spPr>
      </p:pic>
      <p:sp>
        <p:nvSpPr>
          <p:cNvPr id="12" name="Hours text"/>
          <p:cNvSpPr txBox="1"/>
          <p:nvPr/>
        </p:nvSpPr>
        <p:spPr>
          <a:xfrm>
            <a:off x="1737360" y="46634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Plan in hours, not minutes: </a:t>
            </a:r>
            <a:pPr indent="0" marL="0">
              <a:buNone/>
            </a:pPr>
            <a:r>
              <a:rPr lang="en-US" sz="1650" dirty="0">
                <a:solidFill>
                  <a:schemeClr val="tx2"/>
                </a:solidFill>
              </a:rPr>
              <a:t>dynamic membership changes usually process within a few hours and can take more than 24. Dynamic AUs aren't offered in specialized clouds such as Azure Government.</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05 (what administrative units are; dynamic AUs; role assignment matrix); Book 00, Ch 09 (dynamic groups).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Conditional Access baseline, report-only first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Baselin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26080"/>
                <a:gridCol w="81838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Baseline 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MFA for all users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sign-in meets at least one policy; nobody sits outside the MFA requirement except the emergency accounts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Legacy authentication blocked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Removes protocols that can't do MFA; blocking it is a mandatory BOD 25-01 configuration (MS.AAD.1.1)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Emergency access excluded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dedicated group is excluded from every policy that blocks or restricts sign-in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coverage probe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permanent report-only policy that shows, for every sign-in, who couldn't yet meet the end-state requirement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ollout 1" descr="">
            <a:extLst>
              <a:ext uri="{C183D7F6-B498-43B3-948B-1728B52AA6E4}">
                <adec:decorative xmlns:adec="http://schemas.microsoft.com/office/drawing/2017/decorative" val="1"/>
              </a:ext>
            </a:extLst>
          </p:cNvPr>
          <p:cNvSpPr/>
          <p:nvPr/>
        </p:nvSpPr>
        <p:spPr>
          <a:xfrm>
            <a:off x="548640" y="3573780"/>
            <a:ext cx="2585466" cy="1143000"/>
          </a:xfrm>
          <a:prstGeom prst="roundRect">
            <a:avLst>
              <a:gd name="adj" fmla="val 64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Rollout 1 text"/>
          <p:cNvSpPr txBox="1"/>
          <p:nvPr/>
        </p:nvSpPr>
        <p:spPr>
          <a:xfrm>
            <a:off x="640080" y="3646932"/>
            <a:ext cx="2402586" cy="996696"/>
          </a:xfrm>
          <a:prstGeom prst="rect">
            <a:avLst/>
          </a:prstGeom>
          <a:noFill/>
          <a:ln/>
        </p:spPr>
        <p:txBody>
          <a:bodyPr wrap="square" lIns="0" tIns="0" rIns="0" bIns="0" rtlCol="0" anchor="t"/>
          <a:lstStyle/>
          <a:p>
            <a:pPr indent="0" marL="0">
              <a:spcAft>
                <a:spcPts val="200"/>
              </a:spcAft>
              <a:buNone/>
            </a:pPr>
            <a:r>
              <a:rPr lang="en-US" sz="1400" b="1" dirty="0">
                <a:solidFill>
                  <a:srgbClr val="B45309"/>
                </a:solidFill>
                <a:latin typeface="Cambria" pitchFamily="34" charset="0"/>
                <a:ea typeface="Cambria" pitchFamily="34" charset="-122"/>
                <a:cs typeface="Cambria" pitchFamily="34" charset="-120"/>
              </a:rPr>
              <a:t>Report-only</a:t>
            </a:r>
            <a:endParaRPr lang="en-US" sz="1250" dirty="0"/>
          </a:p>
          <a:p>
            <a:pPr indent="0" marL="0">
              <a:spcAft>
                <a:spcPts val="200"/>
              </a:spcAft>
              <a:buNone/>
            </a:pPr>
            <a:r>
              <a:rPr lang="en-US" sz="1250" dirty="0">
                <a:solidFill>
                  <a:schemeClr val="tx2"/>
                </a:solidFill>
              </a:rPr>
              <a:t>At least seven days; two to four weeks preferred</a:t>
            </a:r>
            <a:endParaRPr lang="en-US" sz="1250" dirty="0"/>
          </a:p>
        </p:txBody>
      </p:sp>
      <p:sp>
        <p:nvSpPr>
          <p:cNvPr id="8" name="Rollout arrow 1" descr="">
            <a:extLst>
              <a:ext uri="{C183D7F6-B498-43B3-948B-1728B52AA6E4}">
                <adec:decorative xmlns:adec="http://schemas.microsoft.com/office/drawing/2017/decorative" val="1"/>
              </a:ext>
            </a:extLst>
          </p:cNvPr>
          <p:cNvSpPr/>
          <p:nvPr/>
        </p:nvSpPr>
        <p:spPr>
          <a:xfrm>
            <a:off x="3161538" y="4044696"/>
            <a:ext cx="201168" cy="201168"/>
          </a:xfrm>
          <a:prstGeom prst="rightArrow">
            <a:avLst/>
          </a:prstGeom>
          <a:solidFill>
            <a:srgbClr val="64748B"/>
          </a:solidFill>
          <a:ln w="12700">
            <a:solidFill>
              <a:srgbClr val="64748B"/>
            </a:solidFill>
            <a:prstDash val="solid"/>
          </a:ln>
        </p:spPr>
      </p:sp>
      <p:sp>
        <p:nvSpPr>
          <p:cNvPr id="9" name="Rollout 2" descr="">
            <a:extLst>
              <a:ext uri="{C183D7F6-B498-43B3-948B-1728B52AA6E4}">
                <adec:decorative xmlns:adec="http://schemas.microsoft.com/office/drawing/2017/decorative" val="1"/>
              </a:ext>
            </a:extLst>
          </p:cNvPr>
          <p:cNvSpPr/>
          <p:nvPr/>
        </p:nvSpPr>
        <p:spPr>
          <a:xfrm>
            <a:off x="3390138" y="3573780"/>
            <a:ext cx="2585466" cy="1143000"/>
          </a:xfrm>
          <a:prstGeom prst="roundRect">
            <a:avLst>
              <a:gd name="adj" fmla="val 64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Rollout 2 text"/>
          <p:cNvSpPr txBox="1"/>
          <p:nvPr/>
        </p:nvSpPr>
        <p:spPr>
          <a:xfrm>
            <a:off x="3481578" y="3646932"/>
            <a:ext cx="2402586" cy="99669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Pilot ring</a:t>
            </a:r>
            <a:endParaRPr lang="en-US" sz="1250" dirty="0"/>
          </a:p>
          <a:p>
            <a:pPr indent="0" marL="0">
              <a:spcAft>
                <a:spcPts val="200"/>
              </a:spcAft>
              <a:buNone/>
            </a:pPr>
            <a:r>
              <a:rPr lang="en-US" sz="1250" dirty="0">
                <a:solidFill>
                  <a:schemeClr val="tx2"/>
                </a:solidFill>
              </a:rPr>
              <a:t>IT and security staff first</a:t>
            </a:r>
            <a:endParaRPr lang="en-US" sz="1250" dirty="0"/>
          </a:p>
        </p:txBody>
      </p:sp>
      <p:sp>
        <p:nvSpPr>
          <p:cNvPr id="11" name="Rollout arrow 2" descr="">
            <a:extLst>
              <a:ext uri="{C183D7F6-B498-43B3-948B-1728B52AA6E4}">
                <adec:decorative xmlns:adec="http://schemas.microsoft.com/office/drawing/2017/decorative" val="1"/>
              </a:ext>
            </a:extLst>
          </p:cNvPr>
          <p:cNvSpPr/>
          <p:nvPr/>
        </p:nvSpPr>
        <p:spPr>
          <a:xfrm>
            <a:off x="6003036" y="4044696"/>
            <a:ext cx="201168" cy="201168"/>
          </a:xfrm>
          <a:prstGeom prst="rightArrow">
            <a:avLst/>
          </a:prstGeom>
          <a:solidFill>
            <a:srgbClr val="64748B"/>
          </a:solidFill>
          <a:ln w="12700">
            <a:solidFill>
              <a:srgbClr val="64748B"/>
            </a:solidFill>
            <a:prstDash val="solid"/>
          </a:ln>
        </p:spPr>
      </p:sp>
      <p:sp>
        <p:nvSpPr>
          <p:cNvPr id="12" name="Rollout 3" descr="">
            <a:extLst>
              <a:ext uri="{C183D7F6-B498-43B3-948B-1728B52AA6E4}">
                <adec:decorative xmlns:adec="http://schemas.microsoft.com/office/drawing/2017/decorative" val="1"/>
              </a:ext>
            </a:extLst>
          </p:cNvPr>
          <p:cNvSpPr/>
          <p:nvPr/>
        </p:nvSpPr>
        <p:spPr>
          <a:xfrm>
            <a:off x="6231636" y="3573780"/>
            <a:ext cx="2585466" cy="1143000"/>
          </a:xfrm>
          <a:prstGeom prst="roundRect">
            <a:avLst>
              <a:gd name="adj" fmla="val 64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Rollout 3 text"/>
          <p:cNvSpPr txBox="1"/>
          <p:nvPr/>
        </p:nvSpPr>
        <p:spPr>
          <a:xfrm>
            <a:off x="6323076" y="3646932"/>
            <a:ext cx="2402586" cy="99669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Expanding rings</a:t>
            </a:r>
            <a:endParaRPr lang="en-US" sz="1250" dirty="0"/>
          </a:p>
          <a:p>
            <a:pPr indent="0" marL="0">
              <a:spcAft>
                <a:spcPts val="200"/>
              </a:spcAft>
              <a:buNone/>
            </a:pPr>
            <a:r>
              <a:rPr lang="en-US" sz="1250" dirty="0">
                <a:solidFill>
                  <a:schemeClr val="tx2"/>
                </a:solidFill>
              </a:rPr>
              <a:t>Ring by ring, watched for 48 hours each</a:t>
            </a:r>
            <a:endParaRPr lang="en-US" sz="1250" dirty="0"/>
          </a:p>
        </p:txBody>
      </p:sp>
      <p:sp>
        <p:nvSpPr>
          <p:cNvPr id="14" name="Rollout arrow 3" descr="">
            <a:extLst>
              <a:ext uri="{C183D7F6-B498-43B3-948B-1728B52AA6E4}">
                <adec:decorative xmlns:adec="http://schemas.microsoft.com/office/drawing/2017/decorative" val="1"/>
              </a:ext>
            </a:extLst>
          </p:cNvPr>
          <p:cNvSpPr/>
          <p:nvPr/>
        </p:nvSpPr>
        <p:spPr>
          <a:xfrm>
            <a:off x="8844534" y="4044696"/>
            <a:ext cx="201168" cy="201168"/>
          </a:xfrm>
          <a:prstGeom prst="rightArrow">
            <a:avLst/>
          </a:prstGeom>
          <a:solidFill>
            <a:srgbClr val="64748B"/>
          </a:solidFill>
          <a:ln w="12700">
            <a:solidFill>
              <a:srgbClr val="64748B"/>
            </a:solidFill>
            <a:prstDash val="solid"/>
          </a:ln>
        </p:spPr>
      </p:sp>
      <p:sp>
        <p:nvSpPr>
          <p:cNvPr id="15" name="Rollout 4" descr="">
            <a:extLst>
              <a:ext uri="{C183D7F6-B498-43B3-948B-1728B52AA6E4}">
                <adec:decorative xmlns:adec="http://schemas.microsoft.com/office/drawing/2017/decorative" val="1"/>
              </a:ext>
            </a:extLst>
          </p:cNvPr>
          <p:cNvSpPr/>
          <p:nvPr/>
        </p:nvSpPr>
        <p:spPr>
          <a:xfrm>
            <a:off x="9073134" y="3573780"/>
            <a:ext cx="2585466" cy="1143000"/>
          </a:xfrm>
          <a:prstGeom prst="roundRect">
            <a:avLst>
              <a:gd name="adj" fmla="val 64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Rollout 4 text"/>
          <p:cNvSpPr txBox="1"/>
          <p:nvPr/>
        </p:nvSpPr>
        <p:spPr>
          <a:xfrm>
            <a:off x="9164574" y="3646932"/>
            <a:ext cx="2402586" cy="99669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Enforced</a:t>
            </a:r>
            <a:endParaRPr lang="en-US" sz="1250" dirty="0"/>
          </a:p>
          <a:p>
            <a:pPr indent="0" marL="0">
              <a:spcAft>
                <a:spcPts val="200"/>
              </a:spcAft>
              <a:buNone/>
            </a:pPr>
            <a:r>
              <a:rPr lang="en-US" sz="1250" dirty="0">
                <a:solidFill>
                  <a:schemeClr val="tx2"/>
                </a:solidFill>
              </a:rPr>
              <a:t>Rollback by Off or report-only, never by deleting</a:t>
            </a:r>
            <a:endParaRPr lang="en-US" sz="125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(Phase 1 policy); Book 04, Ch 03 (baseline principles; exclusions) and Ch 07 (Wave 1; rollout; rollback).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Emergency access: the one standing exception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Standard" descr="">
            <a:extLst>
              <a:ext uri="{C183D7F6-B498-43B3-948B-1728B52AA6E4}">
                <adec:decorative xmlns:adec="http://schemas.microsoft.com/office/drawing/2017/decorative" val="1"/>
              </a:ext>
            </a:extLst>
          </p:cNvPr>
          <p:cNvSpPr/>
          <p:nvPr/>
        </p:nvSpPr>
        <p:spPr>
          <a:xfrm>
            <a:off x="548640" y="1371600"/>
            <a:ext cx="6400800" cy="3017520"/>
          </a:xfrm>
          <a:prstGeom prst="roundRect">
            <a:avLst>
              <a:gd name="adj" fmla="val 24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tandard head"/>
          <p:cNvSpPr txBox="1"/>
          <p:nvPr/>
        </p:nvSpPr>
        <p:spPr>
          <a:xfrm>
            <a:off x="731520" y="1481328"/>
            <a:ext cx="6035040" cy="640080"/>
          </a:xfrm>
          <a:prstGeom prst="rect">
            <a:avLst/>
          </a:prstGeom>
          <a:noFill/>
          <a:ln/>
        </p:spPr>
        <p:txBody>
          <a:bodyPr wrap="square" lIns="0" tIns="0" rIns="0" bIns="0" rtlCol="0" anchor="t"/>
          <a:lstStyle/>
          <a:p>
            <a:pPr indent="0" marL="0">
              <a:buNone/>
            </a:pPr>
            <a:r>
              <a:rPr lang="en-US" sz="1100" b="1" dirty="0">
                <a:solidFill>
                  <a:srgbClr val="64748B"/>
                </a:solidFill>
              </a:rPr>
              <a:t>THE PROGRAM'S STANDARD</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Governed, not forgotten</a:t>
            </a:r>
            <a:endParaRPr lang="en-US" sz="1400" dirty="0"/>
          </a:p>
        </p:txBody>
      </p:sp>
      <p:sp>
        <p:nvSpPr>
          <p:cNvPr id="7" name="Standard list"/>
          <p:cNvSpPr txBox="1"/>
          <p:nvPr/>
        </p:nvSpPr>
        <p:spPr>
          <a:xfrm>
            <a:off x="731520" y="2121408"/>
            <a:ext cx="608076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Two or more cloud-only accounts, not tied to any individual</a:t>
            </a:r>
            <a:endParaRPr lang="en-US" sz="1400" dirty="0"/>
          </a:p>
          <a:p>
            <a:pPr marL="342900" indent="-342900">
              <a:spcAft>
                <a:spcPts val="300"/>
              </a:spcAft>
              <a:buSzPct val="100000"/>
              <a:buChar char="•"/>
            </a:pPr>
            <a:r>
              <a:rPr lang="en-US" sz="1350" dirty="0">
                <a:solidFill>
                  <a:schemeClr val="tx2"/>
                </a:solidFill>
              </a:rPr>
              <a:t>Permanent active Global Administrator, assigned in PIM</a:t>
            </a:r>
            <a:endParaRPr lang="en-US" sz="1400" dirty="0"/>
          </a:p>
          <a:p>
            <a:pPr marL="342900" indent="-342900">
              <a:spcAft>
                <a:spcPts val="300"/>
              </a:spcAft>
              <a:buSzPct val="100000"/>
              <a:buChar char="•"/>
            </a:pPr>
            <a:r>
              <a:rPr lang="en-US" sz="1350" dirty="0">
                <a:solidFill>
                  <a:schemeClr val="tx2"/>
                </a:solidFill>
              </a:rPr>
              <a:t>Phishing-resistant sign-in: a FIDO2 passkey or certificate-based authentication</a:t>
            </a:r>
            <a:endParaRPr lang="en-US" sz="1400" dirty="0"/>
          </a:p>
          <a:p>
            <a:pPr marL="342900" indent="-342900">
              <a:spcAft>
                <a:spcPts val="300"/>
              </a:spcAft>
              <a:buSzPct val="100000"/>
              <a:buChar char="•"/>
            </a:pPr>
            <a:r>
              <a:rPr lang="en-US" sz="1350" dirty="0">
                <a:solidFill>
                  <a:schemeClr val="tx2"/>
                </a:solidFill>
              </a:rPr>
              <a:t>Excluded from blocking policies through one dedicated group</a:t>
            </a:r>
            <a:endParaRPr lang="en-US" sz="1400" dirty="0"/>
          </a:p>
          <a:p>
            <a:pPr marL="342900" indent="-342900">
              <a:spcAft>
                <a:spcPts val="300"/>
              </a:spcAft>
              <a:buSzPct val="100000"/>
              <a:buChar char="•"/>
            </a:pPr>
            <a:r>
              <a:rPr lang="en-US" sz="1350" dirty="0">
                <a:solidFill>
                  <a:schemeClr val="tx2"/>
                </a:solidFill>
              </a:rPr>
              <a:t>An alert on every sign-in; every use reviewed afterward</a:t>
            </a:r>
            <a:endParaRPr lang="en-US" sz="1400" dirty="0"/>
          </a:p>
          <a:p>
            <a:pPr marL="342900" indent="-342900">
              <a:spcAft>
                <a:spcPts val="300"/>
              </a:spcAft>
              <a:buSzPct val="100000"/>
              <a:buChar char="•"/>
            </a:pPr>
            <a:r>
              <a:rPr lang="en-US" sz="1350" dirty="0">
                <a:solidFill>
                  <a:schemeClr val="tx2"/>
                </a:solidFill>
              </a:rPr>
              <a:t>Validated at least every 90 days, and after staff changes</a:t>
            </a:r>
            <a:endParaRPr lang="en-US" sz="1400" dirty="0"/>
          </a:p>
        </p:txBody>
      </p:sp>
      <p:sp>
        <p:nvSpPr>
          <p:cNvPr id="8" name="Order" descr="">
            <a:extLst>
              <a:ext uri="{C183D7F6-B498-43B3-948B-1728B52AA6E4}">
                <adec:decorative xmlns:adec="http://schemas.microsoft.com/office/drawing/2017/decorative" val="1"/>
              </a:ext>
            </a:extLst>
          </p:cNvPr>
          <p:cNvSpPr/>
          <p:nvPr/>
        </p:nvSpPr>
        <p:spPr>
          <a:xfrm>
            <a:off x="7178040" y="1371600"/>
            <a:ext cx="4480560" cy="3017520"/>
          </a:xfrm>
          <a:prstGeom prst="roundRect">
            <a:avLst>
              <a:gd name="adj" fmla="val 24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Order head"/>
          <p:cNvSpPr txBox="1"/>
          <p:nvPr/>
        </p:nvSpPr>
        <p:spPr>
          <a:xfrm>
            <a:off x="7360920" y="1481328"/>
            <a:ext cx="4114800" cy="640080"/>
          </a:xfrm>
          <a:prstGeom prst="rect">
            <a:avLst/>
          </a:prstGeom>
          <a:noFill/>
          <a:ln/>
        </p:spPr>
        <p:txBody>
          <a:bodyPr wrap="square" lIns="0" tIns="0" rIns="0" bIns="0" rtlCol="0" anchor="t"/>
          <a:lstStyle/>
          <a:p>
            <a:pPr indent="0" marL="0">
              <a:buNone/>
            </a:pPr>
            <a:r>
              <a:rPr lang="en-US" sz="1100" b="1" dirty="0">
                <a:solidFill>
                  <a:srgbClr val="64748B"/>
                </a:solidFill>
              </a:rPr>
              <a:t>THE ORDERING RULE</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Before anything goes just-in-time</a:t>
            </a:r>
            <a:endParaRPr lang="en-US" sz="1400" dirty="0"/>
          </a:p>
        </p:txBody>
      </p:sp>
      <p:sp>
        <p:nvSpPr>
          <p:cNvPr id="10" name="Order list"/>
          <p:cNvSpPr txBox="1"/>
          <p:nvPr/>
        </p:nvSpPr>
        <p:spPr>
          <a:xfrm>
            <a:off x="7360920" y="2121408"/>
            <a:ext cx="416052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accounts exist and are tested before any role is made eligible or any approval is switched on</a:t>
            </a:r>
            <a:endParaRPr lang="en-US" sz="1400" dirty="0"/>
          </a:p>
          <a:p>
            <a:pPr marL="342900" indent="-342900">
              <a:spcAft>
                <a:spcPts val="300"/>
              </a:spcAft>
              <a:buSzPct val="100000"/>
              <a:buChar char="•"/>
            </a:pPr>
            <a:r>
              <a:rPr lang="en-US" sz="1350" dirty="0">
                <a:solidFill>
                  <a:schemeClr val="tx2"/>
                </a:solidFill>
              </a:rPr>
              <a:t>Otherwise, eligible roles with no available approver can lock the agency out of its own tenant</a:t>
            </a:r>
            <a:endParaRPr lang="en-US" sz="1400" dirty="0"/>
          </a:p>
          <a:p>
            <a:pPr marL="342900" indent="-342900">
              <a:spcAft>
                <a:spcPts val="300"/>
              </a:spcAft>
              <a:buSzPct val="100000"/>
              <a:buChar char="•"/>
            </a:pPr>
            <a:r>
              <a:rPr lang="en-US" sz="1350" dirty="0">
                <a:solidFill>
                  <a:schemeClr val="tx2"/>
                </a:solidFill>
              </a:rPr>
              <a:t>The security plan records them as a documented deviation from AC-2(2), with compensating controls</a:t>
            </a:r>
            <a:endParaRPr lang="en-US" sz="1400" dirty="0"/>
          </a:p>
        </p:txBody>
      </p:sp>
      <p:sp>
        <p:nvSpPr>
          <p:cNvPr id="11" name="Worst case" descr="">
            <a:extLst>
              <a:ext uri="{C183D7F6-B498-43B3-948B-1728B52AA6E4}">
                <adec:decorative xmlns:adec="http://schemas.microsoft.com/office/drawing/2017/decorative" val="1"/>
              </a:ext>
            </a:extLst>
          </p:cNvPr>
          <p:cNvSpPr/>
          <p:nvPr/>
        </p:nvSpPr>
        <p:spPr>
          <a:xfrm>
            <a:off x="548640" y="4663440"/>
            <a:ext cx="11109960" cy="1051560"/>
          </a:xfrm>
          <a:prstGeom prst="roundRect">
            <a:avLst>
              <a:gd name="adj" fmla="val 695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99025"/>
            <a:ext cx="380390" cy="380390"/>
          </a:xfrm>
          <a:prstGeom prst="rect">
            <a:avLst/>
          </a:prstGeom>
        </p:spPr>
      </p:pic>
      <p:sp>
        <p:nvSpPr>
          <p:cNvPr id="14" name="Worst case text"/>
          <p:cNvSpPr txBox="1"/>
          <p:nvPr/>
        </p:nvSpPr>
        <p:spPr>
          <a:xfrm>
            <a:off x="1737360" y="4709160"/>
            <a:ext cx="9738360" cy="960120"/>
          </a:xfrm>
          <a:prstGeom prst="rect">
            <a:avLst/>
          </a:prstGeom>
          <a:noFill/>
          <a:ln/>
        </p:spPr>
        <p:txBody>
          <a:bodyPr wrap="square" lIns="0" tIns="0" rIns="0" bIns="0" rtlCol="0" anchor="ctr"/>
          <a:lstStyle/>
          <a:p>
            <a:pPr indent="0" marL="0">
              <a:buNone/>
            </a:pPr>
            <a:r>
              <a:rPr lang="en-US" sz="1650" b="1" dirty="0">
                <a:solidFill>
                  <a:srgbClr val="B91C1C"/>
                </a:solidFill>
              </a:rPr>
              <a:t>The worst standing privilege of all: </a:t>
            </a:r>
            <a:pPr indent="0" marL="0">
              <a:buNone/>
            </a:pPr>
            <a:r>
              <a:rPr lang="en-US" sz="1650" dirty="0">
                <a:solidFill>
                  <a:schemeClr val="tx2"/>
                </a:solidFill>
              </a:rPr>
              <a:t>an undocumented, untested or shared emergency account, with full control, excluded from policy and owned by nobody.</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 02 (break-glass: the one governed exception) and Ch 04 (emergency access accounts); Book 01, Ch 12 (Phase 1; Gate G1).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first HR feed, for a foundation scope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HR feed 1" descr="">
            <a:extLst>
              <a:ext uri="{C183D7F6-B498-43B3-948B-1728B52AA6E4}">
                <adec:decorative xmlns:adec="http://schemas.microsoft.com/office/drawing/2017/decorative" val="1"/>
              </a:ext>
            </a:extLst>
          </p:cNvPr>
          <p:cNvSpPr/>
          <p:nvPr/>
        </p:nvSpPr>
        <p:spPr>
          <a:xfrm>
            <a:off x="548640" y="1463040"/>
            <a:ext cx="2585466" cy="2148840"/>
          </a:xfrm>
          <a:prstGeom prst="roundRect">
            <a:avLst>
              <a:gd name="adj" fmla="val 340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HR feed 1 text"/>
          <p:cNvSpPr txBox="1"/>
          <p:nvPr/>
        </p:nvSpPr>
        <p:spPr>
          <a:xfrm>
            <a:off x="640080" y="1536192"/>
            <a:ext cx="2402586" cy="2002536"/>
          </a:xfrm>
          <a:prstGeom prst="rect">
            <a:avLst/>
          </a:prstGeom>
          <a:noFill/>
          <a:ln/>
        </p:spPr>
        <p:txBody>
          <a:bodyPr wrap="square" lIns="0" tIns="0" rIns="0" bIns="0" rtlCol="0" anchor="t"/>
          <a:lstStyle/>
          <a:p>
            <a:pPr indent="0" marL="0">
              <a:spcAft>
                <a:spcPts val="200"/>
              </a:spcAft>
              <a:buNone/>
            </a:pPr>
            <a:r>
              <a:rPr lang="en-US" sz="1450" b="1" dirty="0">
                <a:solidFill>
                  <a:srgbClr val="1F2A44"/>
                </a:solidFill>
                <a:latin typeface="Cambria" pitchFamily="34" charset="0"/>
                <a:ea typeface="Cambria" pitchFamily="34" charset="-122"/>
                <a:cs typeface="Cambria" pitchFamily="34" charset="-120"/>
              </a:rPr>
              <a:t>1  Name the feed</a:t>
            </a:r>
            <a:endParaRPr lang="en-US" sz="1300" dirty="0"/>
          </a:p>
          <a:p>
            <a:pPr indent="0" marL="0">
              <a:spcAft>
                <a:spcPts val="200"/>
              </a:spcAft>
              <a:buNone/>
            </a:pPr>
            <a:r>
              <a:rPr lang="en-US" sz="1300" dirty="0">
                <a:solidFill>
                  <a:schemeClr val="tx2"/>
                </a:solidFill>
              </a:rPr>
              <a:t>List the HR-driven identity feed among the agency's HR 2.0 integration points, with a point of contact</a:t>
            </a:r>
            <a:endParaRPr lang="en-US" sz="1300" dirty="0"/>
          </a:p>
        </p:txBody>
      </p:sp>
      <p:sp>
        <p:nvSpPr>
          <p:cNvPr id="7" name="HR feed arrow 1" descr="">
            <a:extLst>
              <a:ext uri="{C183D7F6-B498-43B3-948B-1728B52AA6E4}">
                <adec:decorative xmlns:adec="http://schemas.microsoft.com/office/drawing/2017/decorative" val="1"/>
              </a:ext>
            </a:extLst>
          </p:cNvPr>
          <p:cNvSpPr/>
          <p:nvPr/>
        </p:nvSpPr>
        <p:spPr>
          <a:xfrm>
            <a:off x="3161538" y="2436876"/>
            <a:ext cx="201168" cy="201168"/>
          </a:xfrm>
          <a:prstGeom prst="rightArrow">
            <a:avLst/>
          </a:prstGeom>
          <a:solidFill>
            <a:srgbClr val="64748B"/>
          </a:solidFill>
          <a:ln w="12700">
            <a:solidFill>
              <a:srgbClr val="64748B"/>
            </a:solidFill>
            <a:prstDash val="solid"/>
          </a:ln>
        </p:spPr>
      </p:sp>
      <p:sp>
        <p:nvSpPr>
          <p:cNvPr id="8" name="HR feed 2" descr="">
            <a:extLst>
              <a:ext uri="{C183D7F6-B498-43B3-948B-1728B52AA6E4}">
                <adec:decorative xmlns:adec="http://schemas.microsoft.com/office/drawing/2017/decorative" val="1"/>
              </a:ext>
            </a:extLst>
          </p:cNvPr>
          <p:cNvSpPr/>
          <p:nvPr/>
        </p:nvSpPr>
        <p:spPr>
          <a:xfrm>
            <a:off x="3390138" y="1463040"/>
            <a:ext cx="2585466" cy="2148840"/>
          </a:xfrm>
          <a:prstGeom prst="roundRect">
            <a:avLst>
              <a:gd name="adj" fmla="val 340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9" name="HR feed 2 text"/>
          <p:cNvSpPr txBox="1"/>
          <p:nvPr/>
        </p:nvSpPr>
        <p:spPr>
          <a:xfrm>
            <a:off x="3481578" y="1536192"/>
            <a:ext cx="2402586" cy="2002536"/>
          </a:xfrm>
          <a:prstGeom prst="rect">
            <a:avLst/>
          </a:prstGeom>
          <a:noFill/>
          <a:ln/>
        </p:spPr>
        <p:txBody>
          <a:bodyPr wrap="square" lIns="0" tIns="0" rIns="0" bIns="0" rtlCol="0" anchor="t"/>
          <a:lstStyle/>
          <a:p>
            <a:pPr indent="0" marL="0">
              <a:spcAft>
                <a:spcPts val="200"/>
              </a:spcAft>
              <a:buNone/>
            </a:pPr>
            <a:r>
              <a:rPr lang="en-US" sz="1450" b="1" dirty="0">
                <a:solidFill>
                  <a:srgbClr val="B45309"/>
                </a:solidFill>
                <a:latin typeface="Cambria" pitchFamily="34" charset="0"/>
                <a:ea typeface="Cambria" pitchFamily="34" charset="-122"/>
                <a:cs typeface="Cambria" pitchFamily="34" charset="-120"/>
              </a:rPr>
              <a:t>2  Correct the source</a:t>
            </a:r>
            <a:endParaRPr lang="en-US" sz="1300" dirty="0"/>
          </a:p>
          <a:p>
            <a:pPr indent="0" marL="0">
              <a:spcAft>
                <a:spcPts val="200"/>
              </a:spcAft>
              <a:buNone/>
            </a:pPr>
            <a:r>
              <a:rPr lang="en-US" sz="1300" dirty="0">
                <a:solidFill>
                  <a:schemeClr val="tx2"/>
                </a:solidFill>
              </a:rPr>
              <a:t>Sign the attribute authority map; fix HR data at the source; correlate the pilot cohort (proposed: 99%)</a:t>
            </a:r>
            <a:endParaRPr lang="en-US" sz="1300" dirty="0"/>
          </a:p>
        </p:txBody>
      </p:sp>
      <p:sp>
        <p:nvSpPr>
          <p:cNvPr id="10" name="HR feed arrow 2" descr="">
            <a:extLst>
              <a:ext uri="{C183D7F6-B498-43B3-948B-1728B52AA6E4}">
                <adec:decorative xmlns:adec="http://schemas.microsoft.com/office/drawing/2017/decorative" val="1"/>
              </a:ext>
            </a:extLst>
          </p:cNvPr>
          <p:cNvSpPr/>
          <p:nvPr/>
        </p:nvSpPr>
        <p:spPr>
          <a:xfrm>
            <a:off x="6003036" y="2436876"/>
            <a:ext cx="201168" cy="201168"/>
          </a:xfrm>
          <a:prstGeom prst="rightArrow">
            <a:avLst/>
          </a:prstGeom>
          <a:solidFill>
            <a:srgbClr val="64748B"/>
          </a:solidFill>
          <a:ln w="12700">
            <a:solidFill>
              <a:srgbClr val="64748B"/>
            </a:solidFill>
            <a:prstDash val="solid"/>
          </a:ln>
        </p:spPr>
      </p:sp>
      <p:sp>
        <p:nvSpPr>
          <p:cNvPr id="11" name="HR feed 3" descr="">
            <a:extLst>
              <a:ext uri="{C183D7F6-B498-43B3-948B-1728B52AA6E4}">
                <adec:decorative xmlns:adec="http://schemas.microsoft.com/office/drawing/2017/decorative" val="1"/>
              </a:ext>
            </a:extLst>
          </p:cNvPr>
          <p:cNvSpPr/>
          <p:nvPr/>
        </p:nvSpPr>
        <p:spPr>
          <a:xfrm>
            <a:off x="6231636" y="1463040"/>
            <a:ext cx="2585466" cy="2148840"/>
          </a:xfrm>
          <a:prstGeom prst="roundRect">
            <a:avLst>
              <a:gd name="adj" fmla="val 340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HR feed 3 text"/>
          <p:cNvSpPr txBox="1"/>
          <p:nvPr/>
        </p:nvSpPr>
        <p:spPr>
          <a:xfrm>
            <a:off x="6323076" y="1536192"/>
            <a:ext cx="2402586" cy="2002536"/>
          </a:xfrm>
          <a:prstGeom prst="rect">
            <a:avLst/>
          </a:prstGeom>
          <a:noFill/>
          <a:ln/>
        </p:spPr>
        <p:txBody>
          <a:bodyPr wrap="square" lIns="0" tIns="0" rIns="0" bIns="0" rtlCol="0" anchor="t"/>
          <a:lstStyle/>
          <a:p>
            <a:pPr indent="0" marL="0">
              <a:spcAft>
                <a:spcPts val="200"/>
              </a:spcAft>
              <a:buNone/>
            </a:pPr>
            <a:r>
              <a:rPr lang="en-US" sz="1450" b="1" dirty="0">
                <a:solidFill>
                  <a:srgbClr val="1F2A44"/>
                </a:solidFill>
                <a:latin typeface="Cambria" pitchFamily="34" charset="0"/>
                <a:ea typeface="Cambria" pitchFamily="34" charset="-122"/>
                <a:cs typeface="Cambria" pitchFamily="34" charset="-120"/>
              </a:rPr>
              <a:t>3  Prove the pipe</a:t>
            </a:r>
            <a:endParaRPr lang="en-US" sz="1300" dirty="0"/>
          </a:p>
          <a:p>
            <a:pPr indent="0" marL="0">
              <a:spcAft>
                <a:spcPts val="200"/>
              </a:spcAft>
              <a:buNone/>
            </a:pPr>
            <a:r>
              <a:rPr lang="en-US" sz="1300" dirty="0">
                <a:solidFill>
                  <a:schemeClr val="tx2"/>
                </a:solidFill>
              </a:rPr>
              <a:t>Joiner, mover and leaver run end to end in a test tenant, with provenance</a:t>
            </a:r>
            <a:endParaRPr lang="en-US" sz="1300" dirty="0"/>
          </a:p>
        </p:txBody>
      </p:sp>
      <p:sp>
        <p:nvSpPr>
          <p:cNvPr id="13" name="HR feed arrow 3" descr="">
            <a:extLst>
              <a:ext uri="{C183D7F6-B498-43B3-948B-1728B52AA6E4}">
                <adec:decorative xmlns:adec="http://schemas.microsoft.com/office/drawing/2017/decorative" val="1"/>
              </a:ext>
            </a:extLst>
          </p:cNvPr>
          <p:cNvSpPr/>
          <p:nvPr/>
        </p:nvSpPr>
        <p:spPr>
          <a:xfrm>
            <a:off x="8844534" y="2436876"/>
            <a:ext cx="201168" cy="201168"/>
          </a:xfrm>
          <a:prstGeom prst="rightArrow">
            <a:avLst/>
          </a:prstGeom>
          <a:solidFill>
            <a:srgbClr val="64748B"/>
          </a:solidFill>
          <a:ln w="12700">
            <a:solidFill>
              <a:srgbClr val="64748B"/>
            </a:solidFill>
            <a:prstDash val="solid"/>
          </a:ln>
        </p:spPr>
      </p:sp>
      <p:sp>
        <p:nvSpPr>
          <p:cNvPr id="14" name="HR feed 4" descr="">
            <a:extLst>
              <a:ext uri="{C183D7F6-B498-43B3-948B-1728B52AA6E4}">
                <adec:decorative xmlns:adec="http://schemas.microsoft.com/office/drawing/2017/decorative" val="1"/>
              </a:ext>
            </a:extLst>
          </p:cNvPr>
          <p:cNvSpPr/>
          <p:nvPr/>
        </p:nvSpPr>
        <p:spPr>
          <a:xfrm>
            <a:off x="9073134" y="1463040"/>
            <a:ext cx="2585466" cy="2148840"/>
          </a:xfrm>
          <a:prstGeom prst="roundRect">
            <a:avLst>
              <a:gd name="adj" fmla="val 340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HR feed 4 text"/>
          <p:cNvSpPr txBox="1"/>
          <p:nvPr/>
        </p:nvSpPr>
        <p:spPr>
          <a:xfrm>
            <a:off x="9164574" y="1536192"/>
            <a:ext cx="2402586" cy="2002536"/>
          </a:xfrm>
          <a:prstGeom prst="rect">
            <a:avLst/>
          </a:prstGeom>
          <a:noFill/>
          <a:ln/>
        </p:spPr>
        <p:txBody>
          <a:bodyPr wrap="square" lIns="0" tIns="0" rIns="0" bIns="0" rtlCol="0" anchor="t"/>
          <a:lstStyle/>
          <a:p>
            <a:pPr indent="0" marL="0">
              <a:spcAft>
                <a:spcPts val="200"/>
              </a:spcAft>
              <a:buNone/>
            </a:pPr>
            <a:r>
              <a:rPr lang="en-US" sz="1450" b="1" dirty="0">
                <a:solidFill>
                  <a:srgbClr val="0F766E"/>
                </a:solidFill>
                <a:latin typeface="Cambria" pitchFamily="34" charset="0"/>
                <a:ea typeface="Cambria" pitchFamily="34" charset="-122"/>
                <a:cs typeface="Cambria" pitchFamily="34" charset="-120"/>
              </a:rPr>
              <a:t>4  Shadow, then act</a:t>
            </a:r>
            <a:endParaRPr lang="en-US" sz="1300" dirty="0"/>
          </a:p>
          <a:p>
            <a:pPr indent="0" marL="0">
              <a:spcAft>
                <a:spcPts val="200"/>
              </a:spcAft>
              <a:buNone/>
            </a:pPr>
            <a:r>
              <a:rPr lang="en-US" sz="1300" dirty="0">
                <a:solidFill>
                  <a:schemeClr val="tx2"/>
                </a:solidFill>
              </a:rPr>
              <a:t>The pilot cohort runs in shadow mode first; every difference is explained</a:t>
            </a:r>
            <a:endParaRPr lang="en-US" sz="1300" dirty="0"/>
          </a:p>
        </p:txBody>
      </p:sp>
      <p:sp>
        <p:nvSpPr>
          <p:cNvPr id="16" name="Correct" descr="">
            <a:extLst>
              <a:ext uri="{C183D7F6-B498-43B3-948B-1728B52AA6E4}">
                <adec:decorative xmlns:adec="http://schemas.microsoft.com/office/drawing/2017/decorative" val="1"/>
              </a:ext>
            </a:extLst>
          </p:cNvPr>
          <p:cNvSpPr/>
          <p:nvPr/>
        </p:nvSpPr>
        <p:spPr>
          <a:xfrm>
            <a:off x="548640" y="388620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Icon FaTriangleExclamation" descr="">
            <a:extLst>
              <a:ext uri="{C183D7F6-B498-43B3-948B-1728B52AA6E4}">
                <adec:decorative xmlns:adec="http://schemas.microsoft.com/office/drawing/2017/decorative" val="1"/>
              </a:ext>
            </a:extLst>
          </p:cNvPr>
          <p:cNvSpPr/>
          <p:nvPr/>
        </p:nvSpPr>
        <p:spPr>
          <a:xfrm>
            <a:off x="777240" y="4000500"/>
            <a:ext cx="731520" cy="731520"/>
          </a:xfrm>
          <a:prstGeom prst="ellipse">
            <a:avLst/>
          </a:prstGeom>
          <a:solidFill>
            <a:srgbClr val="B91C1C"/>
          </a:solidFill>
          <a:ln w="12700">
            <a:solidFill>
              <a:srgbClr val="B91C1C"/>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176065"/>
            <a:ext cx="380390" cy="380390"/>
          </a:xfrm>
          <a:prstGeom prst="rect">
            <a:avLst/>
          </a:prstGeom>
        </p:spPr>
      </p:pic>
      <p:sp>
        <p:nvSpPr>
          <p:cNvPr id="19" name="Correct text"/>
          <p:cNvSpPr txBox="1"/>
          <p:nvPr/>
        </p:nvSpPr>
        <p:spPr>
          <a:xfrm>
            <a:off x="1737360" y="393192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Correct, not just designated: </a:t>
            </a:r>
            <a:pPr indent="0" marL="0">
              <a:buNone/>
            </a:pPr>
            <a:r>
              <a:rPr lang="en-US" sz="1650" dirty="0">
                <a:solidFill>
                  <a:schemeClr val="tx2"/>
                </a:solidFill>
              </a:rPr>
              <a:t>a drifted HR feed produces drifted access faster than any ticket queue could.</a:t>
            </a:r>
            <a:endParaRPr lang="en-US" sz="1650" dirty="0"/>
          </a:p>
        </p:txBody>
      </p:sp>
      <p:sp>
        <p:nvSpPr>
          <p:cNvPr id="20" name="G1 asks" descr="">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1" name="Icon FaPeopleArrows" descr="">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0F766E"/>
          </a:solidFill>
          <a:ln w="12700">
            <a:solidFill>
              <a:srgbClr val="0F766E"/>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96205"/>
            <a:ext cx="380390" cy="380390"/>
          </a:xfrm>
          <a:prstGeom prst="rect">
            <a:avLst/>
          </a:prstGeom>
        </p:spPr>
      </p:pic>
      <p:sp>
        <p:nvSpPr>
          <p:cNvPr id="23" name="G1 asks text"/>
          <p:cNvSpPr txBox="1"/>
          <p:nvPr/>
        </p:nvSpPr>
        <p:spPr>
          <a:xfrm>
            <a:off x="1737360" y="5074920"/>
            <a:ext cx="9738360" cy="822960"/>
          </a:xfrm>
          <a:prstGeom prst="rect">
            <a:avLst/>
          </a:prstGeom>
          <a:noFill/>
          <a:ln/>
        </p:spPr>
        <p:txBody>
          <a:bodyPr wrap="square" lIns="0" tIns="0" rIns="0" bIns="0" rtlCol="0" anchor="ctr"/>
          <a:lstStyle/>
          <a:p>
            <a:pPr indent="0" marL="0">
              <a:buNone/>
            </a:pPr>
            <a:r>
              <a:rPr lang="en-US" sz="1650" b="1" dirty="0">
                <a:solidFill>
                  <a:srgbClr val="0F766E"/>
                </a:solidFill>
              </a:rPr>
              <a:t>Gate G1 asks: </a:t>
            </a:r>
            <a:pPr indent="0" marL="0">
              <a:buNone/>
            </a:pPr>
            <a:r>
              <a:rPr lang="en-US" sz="1650" dirty="0">
                <a:solidFill>
                  <a:schemeClr val="tx2"/>
                </a:solidFill>
              </a:rPr>
              <a:t>HR-to-cloud provisioning operational for the foundation scope, with the attribute slots in use confirmed free and single-writer.</a:t>
            </a:r>
            <a:endParaRPr lang="en-US" sz="16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12 (sequencing principle; Phases 0 to 3; the numbers in the gates); Book 00, Ch 09 (Gate G1); Book 01,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Address management for Tier 0, Arc for pilot servers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IPAM" descr="">
            <a:extLst>
              <a:ext uri="{C183D7F6-B498-43B3-948B-1728B52AA6E4}">
                <adec:decorative xmlns:adec="http://schemas.microsoft.com/office/drawing/2017/decorative" val="1"/>
              </a:ext>
            </a:extLst>
          </p:cNvPr>
          <p:cNvSpPr/>
          <p:nvPr/>
        </p:nvSpPr>
        <p:spPr>
          <a:xfrm>
            <a:off x="548640" y="1371600"/>
            <a:ext cx="5440680" cy="2788920"/>
          </a:xfrm>
          <a:prstGeom prst="roundRect">
            <a:avLst>
              <a:gd name="adj" fmla="val 262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IPAM head"/>
          <p:cNvSpPr txBox="1"/>
          <p:nvPr/>
        </p:nvSpPr>
        <p:spPr>
          <a:xfrm>
            <a:off x="73152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SERVICES · IPAM FOR TIER 0</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One governed address authority</a:t>
            </a:r>
            <a:endParaRPr lang="en-US" sz="1400" dirty="0"/>
          </a:p>
        </p:txBody>
      </p:sp>
      <p:sp>
        <p:nvSpPr>
          <p:cNvPr id="7" name="IPAM list"/>
          <p:cNvSpPr txBox="1"/>
          <p:nvPr/>
        </p:nvSpPr>
        <p:spPr>
          <a:xfrm>
            <a:off x="731520" y="2121408"/>
            <a:ext cx="5120640" cy="19659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A spreadsheet one person maintains produces conflicts and ghost records</a:t>
            </a:r>
            <a:endParaRPr lang="en-US" sz="1400" dirty="0"/>
          </a:p>
          <a:p>
            <a:pPr marL="342900" indent="-342900">
              <a:spcAft>
                <a:spcPts val="300"/>
              </a:spcAft>
              <a:buSzPct val="100000"/>
              <a:buChar char="•"/>
            </a:pPr>
            <a:r>
              <a:rPr lang="en-US" sz="1350" dirty="0">
                <a:solidFill>
                  <a:schemeClr val="tx2"/>
                </a:solidFill>
              </a:rPr>
              <a:t>IPAM owns addressing; DNS and DHCP derive their records from it</a:t>
            </a:r>
            <a:endParaRPr lang="en-US" sz="1400" dirty="0"/>
          </a:p>
          <a:p>
            <a:pPr marL="342900" indent="-342900">
              <a:spcAft>
                <a:spcPts val="300"/>
              </a:spcAft>
              <a:buSzPct val="100000"/>
              <a:buChar char="•"/>
            </a:pPr>
            <a:r>
              <a:rPr lang="en-US" sz="1350" dirty="0">
                <a:solidFill>
                  <a:schemeClr val="tx2"/>
                </a:solidFill>
              </a:rPr>
              <a:t>Phase 1 covers the platform host and Tier 0 infrastructure first</a:t>
            </a:r>
            <a:endParaRPr lang="en-US" sz="1400" dirty="0"/>
          </a:p>
          <a:p>
            <a:pPr marL="342900" indent="-342900">
              <a:spcAft>
                <a:spcPts val="300"/>
              </a:spcAft>
              <a:buSzPct val="100000"/>
              <a:buChar char="•"/>
            </a:pPr>
            <a:r>
              <a:rPr lang="en-US" sz="1350" dirty="0">
                <a:solidFill>
                  <a:schemeClr val="tx2"/>
                </a:solidFill>
              </a:rPr>
              <a:t>The enterprise IPAM stays authoritative across on-premises, cloud and VMware</a:t>
            </a:r>
            <a:endParaRPr lang="en-US" sz="1400" dirty="0"/>
          </a:p>
        </p:txBody>
      </p:sp>
      <p:sp>
        <p:nvSpPr>
          <p:cNvPr id="8" name="Arc" descr="">
            <a:extLst>
              <a:ext uri="{C183D7F6-B498-43B3-948B-1728B52AA6E4}">
                <adec:decorative xmlns:adec="http://schemas.microsoft.com/office/drawing/2017/decorative" val="1"/>
              </a:ext>
            </a:extLst>
          </p:cNvPr>
          <p:cNvSpPr/>
          <p:nvPr/>
        </p:nvSpPr>
        <p:spPr>
          <a:xfrm>
            <a:off x="6217920" y="1371600"/>
            <a:ext cx="5440680" cy="2788920"/>
          </a:xfrm>
          <a:prstGeom prst="roundRect">
            <a:avLst>
              <a:gd name="adj" fmla="val 262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Arc head"/>
          <p:cNvSpPr txBox="1"/>
          <p:nvPr/>
        </p:nvSpPr>
        <p:spPr>
          <a:xfrm>
            <a:off x="640080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COMPUTE · PILOT SERVERS ON ARC</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A cloud address for each server</a:t>
            </a:r>
            <a:endParaRPr lang="en-US" sz="1400" dirty="0"/>
          </a:p>
        </p:txBody>
      </p:sp>
      <p:sp>
        <p:nvSpPr>
          <p:cNvPr id="10" name="Arc list"/>
          <p:cNvSpPr txBox="1"/>
          <p:nvPr/>
        </p:nvSpPr>
        <p:spPr>
          <a:xfrm>
            <a:off x="6400800" y="2121408"/>
            <a:ext cx="5120640" cy="19659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Intune doesn't manage Windows Server; Arc gives each server an Azure resource and a managed identity</a:t>
            </a:r>
            <a:endParaRPr lang="en-US" sz="1400" dirty="0"/>
          </a:p>
          <a:p>
            <a:pPr marL="342900" indent="-342900">
              <a:spcAft>
                <a:spcPts val="300"/>
              </a:spcAft>
              <a:buSzPct val="100000"/>
              <a:buChar char="•"/>
            </a:pPr>
            <a:r>
              <a:rPr lang="en-US" sz="1350" dirty="0">
                <a:solidFill>
                  <a:schemeClr val="tx2"/>
                </a:solidFill>
              </a:rPr>
              <a:t>Day-one baseline on the same change: machine configuration, Update Manager, Defender for Servers</a:t>
            </a:r>
            <a:endParaRPr lang="en-US" sz="1400" dirty="0"/>
          </a:p>
          <a:p>
            <a:pPr marL="342900" indent="-342900">
              <a:spcAft>
                <a:spcPts val="300"/>
              </a:spcAft>
              <a:buSzPct val="100000"/>
              <a:buChar char="•"/>
            </a:pPr>
            <a:r>
              <a:rPr lang="en-US" sz="1350" dirty="0">
                <a:solidFill>
                  <a:schemeClr val="tx2"/>
                </a:solidFill>
              </a:rPr>
              <a:t>Onboarding doesn't change domain membership; an Arc outage affects management, not the workload</a:t>
            </a:r>
            <a:endParaRPr lang="en-US" sz="1400" dirty="0"/>
          </a:p>
        </p:txBody>
      </p:sp>
      <p:sp>
        <p:nvSpPr>
          <p:cNvPr id="11" name="ESU" descr="">
            <a:extLst>
              <a:ext uri="{C183D7F6-B498-43B3-948B-1728B52AA6E4}">
                <adec:decorative xmlns:adec="http://schemas.microsoft.com/office/drawing/2017/decorative" val="1"/>
              </a:ext>
            </a:extLst>
          </p:cNvPr>
          <p:cNvSpPr/>
          <p:nvPr/>
        </p:nvSpPr>
        <p:spPr>
          <a:xfrm>
            <a:off x="548640" y="443484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erver" descr="">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47565"/>
            <a:ext cx="380390" cy="380390"/>
          </a:xfrm>
          <a:prstGeom prst="rect">
            <a:avLst/>
          </a:prstGeom>
        </p:spPr>
      </p:pic>
      <p:sp>
        <p:nvSpPr>
          <p:cNvPr id="14" name="ESU text"/>
          <p:cNvSpPr txBox="1"/>
          <p:nvPr/>
        </p:nvSpPr>
        <p:spPr>
          <a:xfrm>
            <a:off x="1737360" y="448056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Windows Server 2016 hosts: </a:t>
            </a:r>
            <a:pPr indent="0" marL="0">
              <a:buNone/>
            </a:pPr>
            <a:r>
              <a:rPr lang="en-US" sz="1650" dirty="0">
                <a:solidFill>
                  <a:schemeClr val="tx2"/>
                </a:solidFill>
              </a:rPr>
              <a:t>Arc can deliver Extended Security Updates for up to three years; billing begins January 13, 2027.</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06 (IPAM, informal to governed) and Ch 12; Book 08, Ch 07 (SDN–IPAM consistency); Book 05, Ch 09 (servers under Arc; ESUs).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G1 is measured from data, not signature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9" name="G1"/>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937760"/>
                <a:gridCol w="617220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 G1 passes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Measured from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Enterprise groups and administrative units are drift-clean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drift report: the registry and role matrix compared with the tenant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Baseline Conditional Access enforced; nobody outside MFA but the emergency accounts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Sign-in logs and the coverage probe, after at least seven days in report-only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Emergency access accounts vaulted, monitored and tested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Sign-in and audit alerts; the logged validation sign-in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Tier 0 infrastructure covered by IPAM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IPAM entries for the platform host and Tier 0 infrastructure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Platform host and pilot servers connected through Arc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Agent heartbeat; machine configuration compliance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HR-to-cloud provisioning operational for the foundation scope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Provisioning logs; attribute slots confirmed free and single-writer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High findings remediated; zero drift across the foundation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Re-scan results; the drift report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eward" descr="">
            <a:extLst>
              <a:ext uri="{C183D7F6-B498-43B3-948B-1728B52AA6E4}">
                <adec:decorative xmlns:adec="http://schemas.microsoft.com/office/drawing/2017/decorative" val="1"/>
              </a:ext>
            </a:extLst>
          </p:cNvPr>
          <p:cNvSpPr/>
          <p:nvPr/>
        </p:nvSpPr>
        <p:spPr>
          <a:xfrm>
            <a:off x="548640" y="4078224"/>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146804"/>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22369"/>
            <a:ext cx="380390" cy="380390"/>
          </a:xfrm>
          <a:prstGeom prst="rect">
            <a:avLst/>
          </a:prstGeom>
        </p:spPr>
      </p:pic>
      <p:sp>
        <p:nvSpPr>
          <p:cNvPr id="9" name="Steward text"/>
          <p:cNvSpPr txBox="1"/>
          <p:nvPr/>
        </p:nvSpPr>
        <p:spPr>
          <a:xfrm>
            <a:off x="1737360" y="4123944"/>
            <a:ext cx="9738360" cy="777240"/>
          </a:xfrm>
          <a:prstGeom prst="rect">
            <a:avLst/>
          </a:prstGeom>
          <a:noFill/>
          <a:ln/>
        </p:spPr>
        <p:txBody>
          <a:bodyPr wrap="square" lIns="0" tIns="0" rIns="0" bIns="0" rtlCol="0" anchor="ctr"/>
          <a:lstStyle/>
          <a:p>
            <a:pPr indent="0" marL="0">
              <a:buNone/>
            </a:pPr>
            <a:r>
              <a:rPr lang="en-US" sz="1650" b="1" dirty="0">
                <a:solidFill>
                  <a:srgbClr val="0F766E"/>
                </a:solidFill>
              </a:rPr>
              <a:t>The steward decides G1: </a:t>
            </a:r>
            <a:pPr indent="0" marL="0">
              <a:buNone/>
            </a:pPr>
            <a:r>
              <a:rPr lang="en-US" sz="1650" dirty="0">
                <a:solidFill>
                  <a:schemeClr val="tx2"/>
                </a:solidFill>
              </a:rPr>
              <a:t>the engine reports green, the steward concurs. A gate the engine can't evaluate needs a better criterion.</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(Gate G1; gates, rollback and authority); Book 00, Ch 09 (Gate G1 checklist); Book 02, Ch 05 (drift detection).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can go wrong in weeks five to eight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10" name="Failur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120640"/>
                <a:gridCol w="598932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goes wrong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broad MFA policy blocks critical edge-case sign-ins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Attribute scoping, report-only first, pilot groups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Roles go just-in-time before emergency access works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Emergency accounts created and tested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policy aimed at a group misses everyone whose attribute is empty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Include all users and exclude narrowly; check attribute completeness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HR feed automates on data nobody verified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Data quality is Phase 1 work; shadow mode before the feed acts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HR connector breaks mid-rollout and the program stalls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G1 requires HR provisioning before rollout begins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Conditional Access blocks too many legitimate sign-ins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rollback trigger: revert the policy, then authorize a replacement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Drift stays above threshold for more than 24 hours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rollback trigger: halt; no new deliveries until clean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hresholds" descr="">
            <a:extLst>
              <a:ext uri="{C183D7F6-B498-43B3-948B-1728B52AA6E4}">
                <adec:decorative xmlns:adec="http://schemas.microsoft.com/office/drawing/2017/decorative" val="1"/>
              </a:ext>
            </a:extLst>
          </p:cNvPr>
          <p:cNvSpPr/>
          <p:nvPr/>
        </p:nvSpPr>
        <p:spPr>
          <a:xfrm>
            <a:off x="548640" y="4238244"/>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77240" y="4375404"/>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50969"/>
            <a:ext cx="380390" cy="380390"/>
          </a:xfrm>
          <a:prstGeom prst="rect">
            <a:avLst/>
          </a:prstGeom>
        </p:spPr>
      </p:pic>
      <p:sp>
        <p:nvSpPr>
          <p:cNvPr id="9" name="Thresholds text"/>
          <p:cNvSpPr txBox="1"/>
          <p:nvPr/>
        </p:nvSpPr>
        <p:spPr>
          <a:xfrm>
            <a:off x="1737360" y="4283964"/>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Thresholds, not judgment calls: </a:t>
            </a:r>
            <a:pPr indent="0" marL="0">
              <a:buNone/>
            </a:pPr>
            <a:r>
              <a:rPr lang="en-US" sz="1650" dirty="0">
                <a:solidFill>
                  <a:schemeClr val="tx2"/>
                </a:solidFill>
              </a:rPr>
              <a:t>the agency sets each trigger's value in advance. Pilots exist to catch problems before they become rollbacks.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(common failure modes; rollback triggers); Book 04, Ch 03 (exclusions) and Ch 04; Book 03, Ch 12 (sequencing principle).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leadership sees at Gate G1</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ees" descr="">
            <a:extLst>
              <a:ext uri="{C183D7F6-B498-43B3-948B-1728B52AA6E4}">
                <adec:decorative xmlns:adec="http://schemas.microsoft.com/office/drawing/2017/decorative" val="1"/>
              </a:ext>
            </a:extLst>
          </p:cNvPr>
          <p:cNvSpPr/>
          <p:nvPr/>
        </p:nvSpPr>
        <p:spPr>
          <a:xfrm>
            <a:off x="548640" y="1371600"/>
            <a:ext cx="6035040" cy="2743200"/>
          </a:xfrm>
          <a:prstGeom prst="roundRect">
            <a:avLst>
              <a:gd name="adj" fmla="val 266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ees head"/>
          <p:cNvSpPr txBox="1"/>
          <p:nvPr/>
        </p:nvSpPr>
        <p:spPr>
          <a:xfrm>
            <a:off x="731520" y="1481328"/>
            <a:ext cx="5669280" cy="640080"/>
          </a:xfrm>
          <a:prstGeom prst="rect">
            <a:avLst/>
          </a:prstGeom>
          <a:noFill/>
          <a:ln/>
        </p:spPr>
        <p:txBody>
          <a:bodyPr wrap="square" lIns="0" tIns="0" rIns="0" bIns="0" rtlCol="0" anchor="t"/>
          <a:lstStyle/>
          <a:p>
            <a:pPr indent="0" marL="0">
              <a:buNone/>
            </a:pPr>
            <a:r>
              <a:rPr lang="en-US" sz="1100" b="1" dirty="0">
                <a:solidFill>
                  <a:srgbClr val="64748B"/>
                </a:solidFill>
              </a:rPr>
              <a:t>AT GATE G1, LEADERSHIP CAN SEE</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A foundation that holds</a:t>
            </a:r>
            <a:endParaRPr lang="en-US" sz="1400" dirty="0"/>
          </a:p>
        </p:txBody>
      </p:sp>
      <p:sp>
        <p:nvSpPr>
          <p:cNvPr id="7" name="Sees list"/>
          <p:cNvSpPr txBox="1"/>
          <p:nvPr/>
        </p:nvSpPr>
        <p:spPr>
          <a:xfrm>
            <a:off x="731520" y="2121408"/>
            <a:ext cx="5715000" cy="19202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Everyone under MFA, except governed, tested emergency accounts</a:t>
            </a:r>
            <a:endParaRPr lang="en-US" sz="1400" dirty="0"/>
          </a:p>
          <a:p>
            <a:pPr marL="342900" indent="-342900">
              <a:spcAft>
                <a:spcPts val="300"/>
              </a:spcAft>
              <a:buSzPct val="100000"/>
              <a:buChar char="•"/>
            </a:pPr>
            <a:r>
              <a:rPr lang="en-US" sz="1350" dirty="0">
                <a:solidFill>
                  <a:schemeClr val="tx2"/>
                </a:solidFill>
              </a:rPr>
              <a:t>Administration scoped by attributes, not by an undocumented tree</a:t>
            </a:r>
            <a:endParaRPr lang="en-US" sz="1400" dirty="0"/>
          </a:p>
          <a:p>
            <a:pPr marL="342900" indent="-342900">
              <a:spcAft>
                <a:spcPts val="300"/>
              </a:spcAft>
              <a:buSzPct val="100000"/>
              <a:buChar char="•"/>
            </a:pPr>
            <a:r>
              <a:rPr lang="en-US" sz="1350" dirty="0">
                <a:solidFill>
                  <a:schemeClr val="tx2"/>
                </a:solidFill>
              </a:rPr>
              <a:t>HR driving identity for a first, foundation scope</a:t>
            </a:r>
            <a:endParaRPr lang="en-US" sz="1400" dirty="0"/>
          </a:p>
          <a:p>
            <a:pPr marL="342900" indent="-342900">
              <a:spcAft>
                <a:spcPts val="300"/>
              </a:spcAft>
              <a:buSzPct val="100000"/>
              <a:buChar char="•"/>
            </a:pPr>
            <a:r>
              <a:rPr lang="en-US" sz="1350" dirty="0">
                <a:solidFill>
                  <a:schemeClr val="tx2"/>
                </a:solidFill>
              </a:rPr>
              <a:t>Tier 0 addresses and the first servers under management</a:t>
            </a:r>
            <a:endParaRPr lang="en-US" sz="1400" dirty="0"/>
          </a:p>
          <a:p>
            <a:pPr marL="342900" indent="-342900">
              <a:spcAft>
                <a:spcPts val="300"/>
              </a:spcAft>
              <a:buSzPct val="100000"/>
              <a:buChar char="•"/>
            </a:pPr>
            <a:r>
              <a:rPr lang="en-US" sz="1350" dirty="0">
                <a:solidFill>
                  <a:schemeClr val="tx2"/>
                </a:solidFill>
              </a:rPr>
              <a:t>Zero drift across the foundation, shown by data</a:t>
            </a:r>
            <a:endParaRPr lang="en-US" sz="1400" dirty="0"/>
          </a:p>
        </p:txBody>
      </p:sp>
      <p:sp>
        <p:nvSpPr>
          <p:cNvPr id="8" name="Next phase" descr="">
            <a:extLst>
              <a:ext uri="{C183D7F6-B498-43B3-948B-1728B52AA6E4}">
                <adec:decorative xmlns:adec="http://schemas.microsoft.com/office/drawing/2017/decorative" val="1"/>
              </a:ext>
            </a:extLst>
          </p:cNvPr>
          <p:cNvSpPr/>
          <p:nvPr/>
        </p:nvSpPr>
        <p:spPr>
          <a:xfrm>
            <a:off x="6812280" y="1371600"/>
            <a:ext cx="4846320" cy="2743200"/>
          </a:xfrm>
          <a:prstGeom prst="roundRect">
            <a:avLst>
              <a:gd name="adj" fmla="val 2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Next phase head"/>
          <p:cNvSpPr txBox="1"/>
          <p:nvPr/>
        </p:nvSpPr>
        <p:spPr>
          <a:xfrm>
            <a:off x="6995160" y="1481328"/>
            <a:ext cx="4480560" cy="640080"/>
          </a:xfrm>
          <a:prstGeom prst="rect">
            <a:avLst/>
          </a:prstGeom>
          <a:noFill/>
          <a:ln/>
        </p:spPr>
        <p:txBody>
          <a:bodyPr wrap="square" lIns="0" tIns="0" rIns="0" bIns="0" rtlCol="0" anchor="t"/>
          <a:lstStyle/>
          <a:p>
            <a:pPr indent="0" marL="0">
              <a:buNone/>
            </a:pPr>
            <a:r>
              <a:rPr lang="en-US" sz="1100" b="1" dirty="0">
                <a:solidFill>
                  <a:srgbClr val="64748B"/>
                </a:solidFill>
              </a:rPr>
              <a:t>NEXT IN THE ROADMAP</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Phase 2, the pilot division</a:t>
            </a:r>
            <a:endParaRPr lang="en-US" sz="1400" dirty="0"/>
          </a:p>
        </p:txBody>
      </p:sp>
      <p:sp>
        <p:nvSpPr>
          <p:cNvPr id="10" name="Next phase list"/>
          <p:cNvSpPr txBox="1"/>
          <p:nvPr/>
        </p:nvSpPr>
        <p:spPr>
          <a:xfrm>
            <a:off x="6995160" y="2121408"/>
            <a:ext cx="4526280" cy="192024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whole pattern on one division, typically IT, which tolerates disruption best</a:t>
            </a:r>
            <a:endParaRPr lang="en-US" sz="1400" dirty="0"/>
          </a:p>
          <a:p>
            <a:pPr marL="342900" indent="-342900">
              <a:spcAft>
                <a:spcPts val="300"/>
              </a:spcAft>
              <a:buSzPct val="100000"/>
              <a:buChar char="•"/>
            </a:pPr>
            <a:r>
              <a:rPr lang="en-US" sz="1350" dirty="0">
                <a:solidFill>
                  <a:schemeClr val="tx2"/>
                </a:solidFill>
              </a:rPr>
              <a:t>Ends at Gate G2, Pilot Clean, co-signed by the steward and the executive sponsor</a:t>
            </a:r>
            <a:endParaRPr lang="en-US" sz="1400" dirty="0"/>
          </a:p>
          <a:p>
            <a:pPr marL="342900" indent="-342900">
              <a:spcAft>
                <a:spcPts val="300"/>
              </a:spcAft>
              <a:buSzPct val="100000"/>
              <a:buChar char="•"/>
            </a:pPr>
            <a:r>
              <a:rPr lang="en-US" sz="1350" dirty="0">
                <a:solidFill>
                  <a:schemeClr val="tx2"/>
                </a:solidFill>
              </a:rPr>
              <a:t>Each phase opens only when the last gate is green</a:t>
            </a:r>
            <a:endParaRPr lang="en-US" sz="1400" dirty="0"/>
          </a:p>
        </p:txBody>
      </p:sp>
      <p:sp>
        <p:nvSpPr>
          <p:cNvPr id="11" name="Next" descr="">
            <a:extLst>
              <a:ext uri="{C183D7F6-B498-43B3-948B-1728B52AA6E4}">
                <adec:decorative xmlns:adec="http://schemas.microsoft.com/office/drawing/2017/decorative" val="1"/>
              </a:ext>
            </a:extLst>
          </p:cNvPr>
          <p:cNvSpPr/>
          <p:nvPr/>
        </p:nvSpPr>
        <p:spPr>
          <a:xfrm>
            <a:off x="548640" y="438912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77240" y="452628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01845"/>
            <a:ext cx="380390" cy="380390"/>
          </a:xfrm>
          <a:prstGeom prst="rect">
            <a:avLst/>
          </a:prstGeom>
        </p:spPr>
      </p:pic>
      <p:sp>
        <p:nvSpPr>
          <p:cNvPr id="14" name="Next text"/>
          <p:cNvSpPr txBox="1"/>
          <p:nvPr/>
        </p:nvSpPr>
        <p:spPr>
          <a:xfrm>
            <a:off x="1737360" y="443484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Next in the Start series: </a:t>
            </a:r>
            <a:pPr indent="0" marL="0">
              <a:buNone/>
            </a:pPr>
            <a:r>
              <a:rPr lang="en-US" sz="1650" dirty="0">
                <a:solidFill>
                  <a:schemeClr val="tx2"/>
                </a:solidFill>
              </a:rPr>
              <a:t>Episode 4, Making the Case at Your Agency, turns all of this into a one-page ask.</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(Gate G1; Phase 2 — Pilot division; gate authority); Book 00,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 after this one is reference material and is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this briefing</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Book 01, Chapter 06 — Network services (IPAM, informal to governed); Chapter 12 — Migration roadmap (Phase 1, Gate G1, gates and rollback, common failure modes; Microsoft Learn on legacy authentication and emergency access).</a:t>
            </a:r>
            <a:endParaRPr lang="en-US" sz="1300" dirty="0"/>
          </a:p>
          <a:p>
            <a:pPr marL="342900" indent="-342900">
              <a:spcAft>
                <a:spcPts val="600"/>
              </a:spcAft>
              <a:buSzPct val="100000"/>
              <a:buChar char="•"/>
            </a:pPr>
            <a:r>
              <a:rPr lang="en-US" sz="1300" dirty="0">
                <a:solidFill>
                  <a:schemeClr val="tx2"/>
                </a:solidFill>
              </a:rPr>
              <a:t>Book 00, Chapter 09 — Design, pilot and rollout (Phase 1 milestones, dynamic group processing, Gate G1 checklist; Microsoft Learn).</a:t>
            </a:r>
            <a:endParaRPr lang="en-US" sz="1300" dirty="0"/>
          </a:p>
          <a:p>
            <a:pPr marL="342900" indent="-342900">
              <a:spcAft>
                <a:spcPts val="600"/>
              </a:spcAft>
              <a:buSzPct val="100000"/>
              <a:buChar char="•"/>
            </a:pPr>
            <a:r>
              <a:rPr lang="en-US" sz="1300" dirty="0">
                <a:solidFill>
                  <a:schemeClr val="tx2"/>
                </a:solidFill>
              </a:rPr>
              <a:t>Book 02, Chapter 05 — Delegation without OUs (administrative units, dynamic and restricted AUs, role-assignable groups, drift). Book 03, Chapter 12 — Execution plan (Phases 0 to 3; OMB/OPM Federal HR 2.0 memo).</a:t>
            </a:r>
            <a:endParaRPr lang="en-US" sz="1300" dirty="0"/>
          </a:p>
          <a:p>
            <a:pPr marL="342900" indent="-342900">
              <a:spcAft>
                <a:spcPts val="600"/>
              </a:spcAft>
              <a:buSzPct val="100000"/>
              <a:buChar char="•"/>
            </a:pPr>
            <a:r>
              <a:rPr lang="en-US" sz="1300" dirty="0">
                <a:solidFill>
                  <a:schemeClr val="tx2"/>
                </a:solidFill>
              </a:rPr>
              <a:t>Book 04, Chapters 02 and 04 (emergency access; NIST SP 800-53 AC-2(2)), Chapter 03 (baseline principles, exclusions) and Chapter 07 (Wave 1, rollout, rollback; CISA BOD 25-01 MS.AAD.1.1).</a:t>
            </a:r>
            <a:endParaRPr lang="en-US" sz="1300" dirty="0"/>
          </a:p>
          <a:p>
            <a:pPr marL="342900" indent="-342900">
              <a:spcAft>
                <a:spcPts val="600"/>
              </a:spcAft>
              <a:buSzPct val="100000"/>
              <a:buChar char="•"/>
            </a:pPr>
            <a:r>
              <a:rPr lang="en-US" sz="1300" dirty="0">
                <a:solidFill>
                  <a:schemeClr val="tx2"/>
                </a:solidFill>
              </a:rPr>
              <a:t>Book 05, Chapter 09 — Servers under Azure Arc (day-one baseline; ESUs). Book 08, Chapter 07 — SDN–IPAM consistency. Full footnotes are in each chapter at whalermike.github.io/modernization-workbook.</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Facts as of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03 — Foundation to Gate G1</dc:title>
  <dc:subject>PptxGenJS Presentation</dc:subject>
  <dc:creator>Michael F. Stratton</dc:creator>
  <cp:lastModifiedBy>Michael F. Stratton</cp:lastModifiedBy>
  <cp:revision>1</cp:revision>
  <dcterms:created xsi:type="dcterms:W3CDTF">2026-10-23T23:43:05Z</dcterms:created>
  <dcterms:modified xsi:type="dcterms:W3CDTF">2026-10-23T23:43:05Z</dcterms:modified>
</cp:coreProperties>
</file>