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the whole agency" id="{85534559-B495-9014-0469-44ACFF44472B}">
          <p14:sldIdLst>
            <p14:sldId id="256"/>
            <p14:sldId id="257"/>
            <p14:sldId id="258"/>
            <p14:sldId id="259"/>
          </p14:sldIdLst>
        </p14:section>
        <p14:section name="What the mandates cover" id="{83550C46-767B-E3EC-55BB-FDC09D35121A}">
          <p14:sldIdLst>
            <p14:sldId id="260"/>
            <p14:sldId id="261"/>
            <p14:sldId id="262"/>
            <p14:sldId id="263"/>
          </p14:sldIdLst>
        </p14:section>
        <p14:section name="Who owns it" id="{CF4730B6-5FB8-2A5C-93FC-AF632EAC48B5}">
          <p14:sldIdLst>
            <p14:sldId id="264"/>
          </p14:sldIdLst>
        </p14:section>
        <p14:section name="How to assess" id="{D6476755-9FF4-998F-922D-27EE06DD4C44}">
          <p14:sldIdLst>
            <p14:sldId id="265"/>
            <p14:sldId id="266"/>
            <p14:sldId id="267"/>
            <p14:sldId id="268"/>
            <p14:sldId id="269"/>
          </p14:sldIdLst>
        </p14:section>
        <p14:section name="Backup" id="{0EFA330D-B5D2-1742-B6E0-706EC61E664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2308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[0:00–0:34]  This briefing comes from Book 11 of the Federal Modernization Workbook, Zero Trust and Assessment: how an agency measures its Zero Trust posture across every estate it runs, and turns what the tools find into a program.
I'll take four questions: why Zero Trust is a whole-agency property, what the mandates and tools actually cover, who owns the posture, and how to assess it.
The short version: unify first, assess second, and treat every tool as evidence, never as the verdict.
Workbook: Book 11, index; Chapter 01 — Zero Trust Is a Whole-Agency Property.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[0:34–1:46]  Why is Zero Trust a whole-agency property? Look at the usual assessment calendar. The network team reviews the boundary, keyed by address. The cloud team runs each provider's posture scan, keyed by resource tags. The virtualization team works a hypervisor checklist, keyed by whatever the management plane calls a machine. At year end someone puts the three reports behind one cover page and calls it the agency's maturity. It's three partial assessments with one title.
The failure is architectural. A database server that runs as a virtual machine, sits on an agency subnet and backs up to a cloud bucket can appear as three unrelated objects, scored by three tools. A total across them counts objects, not architecture.
The guidance describes the enterprise, not a tenant. Executive Order 14028 says throughout all aspects of the infrastructure, and NIST SP 800-207 grants no implicit trust from network location or ownership. So unify first, then assess, and defend the unified plane, because it becomes a complete map of the attack surface.
Workbook: Book 11, Chapter 01 — Zero Trust Is a Whole-Agency Property (The question this book answers; What the federal guidance actually describes; Three partial assessments are not one score); Chapter 03 (EO 14028 definition).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[1:46–2:52]  Two documented incidents show why the whole-agency view is a security property, not a reporting preference. In May and June 2023, an actor used a Microsoft consumer signing key to forge tokens and read Exchange Online mail. The Cyber Safety Review Board counted 22 enterprise organizations and 503 related personal accounts, with access to some mailboxes for at least six weeks. The tokens were valid to every system that checked them. What caught the intrusion was a custom alert one federal department had built on mailbox logs it paid for.
The second sits beneath the guest. ESXiArgs compromised more than 3,800 ESXi servers in February 2023. In 2024, CVE-2024-37085 gave full hypervisor control to members of a directory group named ESX Admins, matched by name.
Even one vendor's two tools don't add up. ScubaGear is CISA's, the Zero Trust Assessment is Microsoft's, and neither sees past Microsoft's platform. Tools are evidence inputs. The agency owns the verdict.
Workbook: Book 11, Chapter 01 — Zero Trust Is a Whole-Agency Property (Two incidents that sat beneath any single tool; Even one vendor's two tools don't add up; Tools are evidence inputs, not verdicts).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[2:52–3:59]  Chapter 02 explains why programs stall at Initial or low Advanced. They read CISA's maturity model as a five-pillar shopping list. But the model runs those pillars through three cross-cutting capabilities, and the one programs fund least is Governance, which the model defines as the definition and enforcement of policy within and across pillars. Its Traditional stage reads like the failure list: siloed pillars of policy enforcement, and limited correlation of logs and telemetry.
Five principles answer it. Identity is the anchor, but it isn't self-authenticating, so sessions are re-evaluated and the identity plane is defended. Privileged identity gets controls of its own: Microsoft's guidance is zero permanently active assignments other than emergency accounts, which are tested at least every 90 days. Evidence must be reproducible, machine-readable and regenerable. Governance enforces: a policy that only produces next quarter's finding is a report. And the cloud boundary is modeled, with each government-cloud feature gap recorded as a governed finding.
Workbook: Book 11, Chapter 02 — Governance Principles for Zero Trust.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[3:59–5:05]  What do the mandates actually require? Four documents get cited as if they were one. Executive Order 14028 is binding, and required each agency to develop a plan to implement Zero Trust Architecture. OMB M-22-09 is binding and sets specific actions by pillar: phishing-resistant MFA for staff, contractors and partners, reliable device inventories through CDM, encrypted DNS and HTTPS, and an environmental isolation plan. CISA's Zero Trust Maturity Model, version 2.0, is guidance. It says it should not be viewed as a strict set of requirements but as a general guide, and CISA's page for it is now marked archived, with no later version. NIST SP 800-207 supplies the architecture.
M-22-09's FY 2024 deadlines have passed, but OMB hasn't rescinded it, and a passed deadline doesn't retire an action. One adjustment: its logging action pointed to M-21-31, which M-26-14 rescinded on May 22, 2026.
And no federal document defines a Zero Trust score, or requires a maturity stage.
Workbook: Book 11, Chapter 03 — What CISA's Maturity Model and M-22-09 Actually Require; Appendix 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[5:05–6:12]  BOD 25-01 is narrower and more concrete. CISA issued it on December 17, 2024, for every production cloud tenant with a finalized SCuBA baseline. It has six required actions: inventory the tenants by February 21, 2025; deploy the SCuBA tools and report by April 25; implement the mandatory policies by June 20; keep up with updates; baseline every new tenant before its ATO; and explain deviations with each report.
The mandatory list is a subset of the baselines. For Microsoft 365, CISA's Required Configurations page lists 50 policies; in Entra ID, that's 20 of the 30 in ScubaGear's baseline. Google Workspace is now in scope too, with its policies due December 1, 2026. CISA's guidance limits scope to software as a service, so Azure subscriptions are out even when they share the tenant, and on-premises Active Directory is untouched.
Inventory, deployment and explanations take days. Implementing the policies is architecture, and that's what the directive exists for.
Workbook: Book 11, Chapter 04 — SCuBA and BOD 25-01.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[6:12–7:16]  Agencies run two free, read-only assessments of their Microsoft cloud, and often drop one because it covers identity. They answer different questions. ScubaGear is CISA's tool, and asks whether the tenant meets the federal baseline. Version 1.8.0 shipped May 7, 2026, with 2.0.0 in preview. Microsoft's Zero Trust Assessment asks how mature the environment is against Microsoft's guidance. Release 3.1.0 shipped October 20, 2026, with 364 tests. It's a community project maintained by Microsoft employees, not an official product, and no Microsoft support program covers it.
They overlap on Entra ID identity and, in 3.1.0, on Defender threat policies. Only ScubaGear covers Exchange Online, Teams, SharePoint and Power Platform, and 22 of the 50 mandatory policies sit in those four products. Dropping ScubaGear leaves mandatory policies unassessed and stops the reporting the directive requires.
So run both, and reconcile at the control level: the tenant setting and the SP 800-53 control it supports.
Workbook: Book 11, Chapter 05 — ScubaGear and Microsoft's Zero Trust Assessment; Chapter 09 (community project, not supported).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[7:16–8:27]  Everything so far stops at the edge of Microsoft 365. Nothing on BOD 25-01's list covers infrastructure accounts, the agency network or the virtualized estate. So the whole-agency argument rests on the Zero Trust documents, and on the SP 800-53 controls every system security plan asserts.
Three things get reconciled before assessing. One inventory: CM-8 forbids duplicate accounting of components, and BOD 23-01 requires asset discovery every 7 days. One naming authority, because each cloud provider and VMware ships its own private DNS. And no implicit trust from any boundary: a site-to-site VPN, a default virtual network and a flat virtualized segment are the same mistake.
The hypervisor is a distinct threat class, so its management plane is assessed as its own surface, not inferred from its guests.
And every provider's tool answers for its own platform. AWS says its NIST standard supports a subset of requirements. Microsoft calls Azure Policy compliance only a partial view. FedRAMP certifies the service; the agency authorizes its own use of it.
Workbook: Book 11, Chapter 06 — Beyond Microsoft 365: Networks, Other Clouds and Virtualized Estates.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[8:27–9:38]  Who owns it? Every pillar already has an owner. What most agencies lack is an owner for the posture itself. M-22-09 required each agency to designate a zero trust strategy implementation lead within 30 days, and many will give this role to that person.
The program lead owns the definition of the whole-agency score, what it covers and what it excludes, plus cross-pillar correlation and the assessment calendar. The lead decides priority but doesn't accept risk, and shouldn't also own the agency's relationship with its largest cloud vendor.
The CIO decides scope and sequence. The CISO sets the evidence standard and approves the tools and the accounts that run them. The authorizing official accepts residual risk and approves each plan of action and milestones.
Exceptions split on time. An omission with an expiration date is a CISO decision; one with no end date is a standing risk acceptance for the authorizing official. Pillar owners decide how to fix a finding, never that it doesn't need fixing.
Workbook: Book 11, Chapter 07 — Who Owns Zero Trust.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[9:38–10:46]  How do you get there? First, close before you assess. Agencies met BOD 25-01's early dates: tenants inventoried, ScubaGear deployed and reporting. Many now treat that as the answer. But ScubaGear measures deviation from a baseline; it doesn't close any, and neither does the Zero Trust Assessment. A thermometer that reports a fever every day isn't a treatment plan.
So the program's six-phase sequence puts the assessors at step five, as confirmation rather than discovery: understand, design, implement, govern, then validate, and then the authorizing official decides. That's the Risk Management Framework's own order: implement, assess, authorize, monitor.
Before validating, build the layers a finding depends on: naming and certificates, device and workload identity, a phased retirement of legacy authentication, and governed exceptions.
Meanwhile, route every current finding to exactly one response: a configuration change now, architectural work with an owner and a date, or a risk acceptance by the authorizing official. A finding with no response is the only failure.
Workbook: Book 11, Chapter 08 — Close Before You Assess.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[10:46–12:00]  Then run the assessment and keep the evidence. Five things are decided before either tool touches a production tenant. Scope comes from the BOD 25-01 tenant inventory. The host is a dedicated Windows machine inside the authorization boundary, a separate one for each tool, because their dependencies conflict. Each tool gets a reader account, with consent granted once, separately. Output is handled as controlled data. And the assessment accounts belong in the M-26-14 Agency Logging Plan, due 90 days after CISA's August 20 reference architecture.
ScubaGear runs in Windows PowerShell 5.1. Its configuration file is the exception record: annotations, omissions with a rationale and an expiration date, and exclusions for emergency accounts. It's versioned in the repository, and its hash is recorded with every run, like the tool version. The results file is never renamed or edited, only hashed and copied.
The Zero Trust Assessment needs PowerShell 7 and can take more than 24 hours. And install the program's toolkit only from its own repository: a package named fmp on the public Python index is unrelated.
Workbook: Book 11, Chapter 09 — Running the Assessment and Ingesting the Evidence (Before the first run; Running ScubaGear; Running the Zero Trust Assessment; Ingesting the Zero Trust Assessment).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[12:00–13:14]  Most agencies run ScubaGear, save the HTML report, and reopen it when an assessor asks. The program instead treats each tool as an adapter, one input to one evidence chain, and leaves the tools exactly as their publishers ship them.
Each run flows through four stages. The tool writes its own unaltered output. Each result becomes a claim in a provenance envelope: who issued it, when it was extracted, and a lineage hash. Claims from one interval are assembled into a sealed bundle. And the bundle emits OSCAL assessment results and plan of action and milestones items.
Take MS.AAD.1.1v1, legacy authentication shall be blocked, which CISA maps to CM-7. Say it fails. The claim's lineage hash ties it to the raw result, and the bundle opens a POA&amp;M item. Months later an assessor can rebuild the bundle, check its hash, and walk back to the raw output without re-running the tool.
The limits are stated. ScubaGear runs on an interval, not continuously. And there's no ScubaGoggles adapter yet, so Google Workspace is a gap.
Workbook: Book 11, Chapter 09 — Running the Assessment and Ingesting the Evidence (The four-stage pipeline; A worked trace; Honest limits).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[13:14–14:29]  Last, turn findings into a program. Read each result before counting it. Only ScubaGear's Fail and Warning, and the Zero Trust Assessment's Failed and Investigate, are findings. A skipped check isn't a gap and isn't a pass. It's absence of evidence, recorded with the reason, which is often a license or a government-cloud feature that isn't available in the boundary.
The program scores findings with a documented method: severity from 0 to 100, priority as severity divided by effort, and buckets from P1 at 50 or above down to P4. Quick wins go into the next change window; major projects go onto a pillar owner's roadmap. Both tools' findings are reconciled against the same SP 800-53 control, so two pieces of evidence become one finding for one owner.
Anything not fixed and not excepted becomes a plan of action and milestones item, which the authorizing official approves. Drift between intervals goes to the authorizing official too, not only to security operations. And re-run after every remediation wave, so a finding is closed by evidence, not by a ticket status.
Workbook: Book 11, Chapter 10 — Evidence, Not Verdicts: From Findings to a Program.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[14:29–15:27]  So, four decisions.
Name an agency-level owner of the Zero Trust posture, separate from every cloud provider relationship.
Reconcile the network, every cloud and the virtualization estate to one authoritative record before scoring any of them.
Close the BOD 25-01 mandatory findings before measuring maturity, with Google Workspace due December 1, 2026.
And move every exception into the versioned configuration file, with an expiration, and route each standing one to the authorizing official.
The next step needs no procurement. Find out, pillar by pillar, which evidence can be re-run without the operator's help, because every no is the adoption boundary. And put the assessment hosts and accounts in the Agency Logging Plan now.
Unify first, assess second, and let named people make the decisions the evidence supports. Book 11 has the detail, every claim footnoted. Thank you.
Workbook: Book 11, Chapters 02, 06, 07, 08, 09 and 10; Appendix 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11 Zero Trust &amp; Assessment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3.xml"/><Relationship Id="rId9" Type="http://schemas.openxmlformats.org/officeDocument/2006/relationships/image" Target="../media/image3.png"/><Relationship Id="rId10"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4.xml"/><Relationship Id="rId8"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5.xml"/><Relationship Id="rId8"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6.xml"/><Relationship Id="rId8"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6.png"/><Relationship Id="rId5" Type="http://schemas.openxmlformats.org/officeDocument/2006/relationships/image" Target="../media/image8.png"/><Relationship Id="rId4" Type="http://schemas.openxmlformats.org/officeDocument/2006/relationships/notesSlide" Target="../notesSlides/notesSlide7.xml"/><Relationship Id="rId8"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slideLayout" Target="../slideLayouts/slideLayout3.xml"/><Relationship Id="rId7" Type="http://schemas.openxmlformats.org/officeDocument/2006/relationships/image" Target="../media/image7.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notesSlide" Target="../notesSlides/notesSlide8.xml"/><Relationship Id="rId9" Type="http://schemas.openxmlformats.org/officeDocument/2006/relationships/image" Target="../media/image3.png"/><Relationship Id="rId10"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1.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5.png"/><Relationship Id="rId5" Type="http://schemas.openxmlformats.org/officeDocument/2006/relationships/image" Target="../media/image20.png"/><Relationship Id="rId4" Type="http://schemas.openxmlformats.org/officeDocument/2006/relationships/notesSlide" Target="../notesSlides/notesSlide9.xml"/><Relationship Id="rId9" Type="http://schemas.microsoft.com/office/2017/04/relationships/track" Target="../media/captions_slide09.vtt"/></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3.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4.png"/><Relationship Id="rId5" Type="http://schemas.openxmlformats.org/officeDocument/2006/relationships/image" Target="../media/image22.png"/><Relationship Id="rId4" Type="http://schemas.openxmlformats.org/officeDocument/2006/relationships/notesSlide" Target="../notesSlides/notesSlide10.xml"/><Relationship Id="rId9"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10.png"/><Relationship Id="rId5" Type="http://schemas.openxmlformats.org/officeDocument/2006/relationships/image" Target="../media/image24.png"/><Relationship Id="rId4" Type="http://schemas.openxmlformats.org/officeDocument/2006/relationships/notesSlide" Target="../notesSlides/notesSlide11.xml"/><Relationship Id="rId8"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6.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10.png"/><Relationship Id="rId5" Type="http://schemas.openxmlformats.org/officeDocument/2006/relationships/image" Target="../media/image25.png"/><Relationship Id="rId4" Type="http://schemas.openxmlformats.org/officeDocument/2006/relationships/notesSlide" Target="../notesSlides/notesSlide12.xml"/><Relationship Id="rId9"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notesSlide" Target="../notesSlides/notesSlide13.xml"/><Relationship Id="rId8" Type="http://schemas.microsoft.com/office/2017/04/relationships/track" Target="../media/captions_slide13.vtt"/></Relationships>
</file>

<file path=ppt/slides/_rels/slide1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3.xml"/><Relationship Id="rId7" Type="http://schemas.openxmlformats.org/officeDocument/2006/relationships/image" Target="../media/image14.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5.png"/><Relationship Id="rId5" Type="http://schemas.openxmlformats.org/officeDocument/2006/relationships/image" Target="../media/image29.png"/><Relationship Id="rId10" Type="http://schemas.openxmlformats.org/officeDocument/2006/relationships/image" Target="../media/image3.png"/><Relationship Id="rId4" Type="http://schemas.openxmlformats.org/officeDocument/2006/relationships/notesSlide" Target="../notesSlides/notesSlide14.xml"/><Relationship Id="rId9" Type="http://schemas.openxmlformats.org/officeDocument/2006/relationships/image" Target="../media/image15.png"/><Relationship Id="rId11" Type="http://schemas.microsoft.com/office/2017/04/relationships/track" Target="../media/captions_slide14.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Why Is Zero Trust a Whole-Agency Property, Not a Product?</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11 — Zero Trust &amp; Assessment</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15-minute briefing on the book's argument and plan</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52BECC87-9277-7FBF-6FAE-1B04D2D56BA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2BC4DA3-591F-4C09-B42E-7C2355BD4DE4}"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1700"/>
    </mc:Choice>
    <mc:Fallback>
      <p:transition spd="slow" advTm="31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69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reports stapled together are not one score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Calendar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THE USUAL ASSESSMENT CALENDAR</a:t>
            </a:r>
            <a:endParaRPr lang="en-US" sz="1200" dirty="0"/>
          </a:p>
        </p:txBody>
      </p:sp>
      <p:sp>
        <p:nvSpPr>
          <p:cNvPr id="6" name="Calendar 0">
            <a:extLst>
              <a:ext uri="{C183D7F6-B498-43B3-948B-1728B52AA6E4}">
                <adec:decorative xmlns:adec="http://schemas.microsoft.com/office/drawing/2017/decorative" val="1"/>
              </a:ext>
            </a:extLst>
          </p:cNvPr>
          <p:cNvSpPr/>
          <p:nvPr/>
        </p:nvSpPr>
        <p:spPr>
          <a:xfrm>
            <a:off x="548640" y="1755648"/>
            <a:ext cx="5669280" cy="621792"/>
          </a:xfrm>
          <a:prstGeom prst="roundRect">
            <a:avLst>
              <a:gd name="adj" fmla="val 1176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Calendar 0 text"/>
          <p:cNvSpPr txBox="1"/>
          <p:nvPr/>
        </p:nvSpPr>
        <p:spPr>
          <a:xfrm>
            <a:off x="731520" y="175564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Network review   </a:t>
            </a:r>
            <a:r>
              <a:rPr lang="en-US" sz="1400" dirty="0">
                <a:solidFill>
                  <a:schemeClr val="tx2"/>
                </a:solidFill>
              </a:rPr>
              <a:t>Keyed by address</a:t>
            </a:r>
            <a:endParaRPr lang="en-US" sz="1400" dirty="0"/>
          </a:p>
        </p:txBody>
      </p:sp>
      <p:sp>
        <p:nvSpPr>
          <p:cNvPr id="8" name="Calendar 1">
            <a:extLst>
              <a:ext uri="{C183D7F6-B498-43B3-948B-1728B52AA6E4}">
                <adec:decorative xmlns:adec="http://schemas.microsoft.com/office/drawing/2017/decorative" val="1"/>
              </a:ext>
            </a:extLst>
          </p:cNvPr>
          <p:cNvSpPr/>
          <p:nvPr/>
        </p:nvSpPr>
        <p:spPr>
          <a:xfrm>
            <a:off x="548640" y="2487168"/>
            <a:ext cx="5669280" cy="621792"/>
          </a:xfrm>
          <a:prstGeom prst="roundRect">
            <a:avLst>
              <a:gd name="adj" fmla="val 117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Calendar 1 text"/>
          <p:cNvSpPr txBox="1"/>
          <p:nvPr/>
        </p:nvSpPr>
        <p:spPr>
          <a:xfrm>
            <a:off x="731520" y="248716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Per-cloud scans   </a:t>
            </a:r>
            <a:r>
              <a:rPr lang="en-US" sz="1400" dirty="0">
                <a:solidFill>
                  <a:schemeClr val="tx2"/>
                </a:solidFill>
              </a:rPr>
              <a:t>Keyed by each provider's resource tags</a:t>
            </a:r>
            <a:endParaRPr lang="en-US" sz="1400" dirty="0"/>
          </a:p>
        </p:txBody>
      </p:sp>
      <p:sp>
        <p:nvSpPr>
          <p:cNvPr id="10" name="Calendar 2">
            <a:extLst>
              <a:ext uri="{C183D7F6-B498-43B3-948B-1728B52AA6E4}">
                <adec:decorative xmlns:adec="http://schemas.microsoft.com/office/drawing/2017/decorative" val="1"/>
              </a:ext>
            </a:extLst>
          </p:cNvPr>
          <p:cNvSpPr/>
          <p:nvPr/>
        </p:nvSpPr>
        <p:spPr>
          <a:xfrm>
            <a:off x="548640" y="3218688"/>
            <a:ext cx="5669280" cy="621792"/>
          </a:xfrm>
          <a:prstGeom prst="roundRect">
            <a:avLst>
              <a:gd name="adj" fmla="val 1176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Calendar 2 text"/>
          <p:cNvSpPr txBox="1"/>
          <p:nvPr/>
        </p:nvSpPr>
        <p:spPr>
          <a:xfrm>
            <a:off x="731520" y="321868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Hypervisor checklist   </a:t>
            </a:r>
            <a:r>
              <a:rPr lang="en-US" sz="1400" dirty="0">
                <a:solidFill>
                  <a:schemeClr val="tx2"/>
                </a:solidFill>
              </a:rPr>
              <a:t>Keyed by the management plane's names</a:t>
            </a:r>
            <a:endParaRPr lang="en-US" sz="1400" dirty="0"/>
          </a:p>
        </p:txBody>
      </p:sp>
      <p:sp>
        <p:nvSpPr>
          <p:cNvPr id="12" name="Calendar 3">
            <a:extLst>
              <a:ext uri="{C183D7F6-B498-43B3-948B-1728B52AA6E4}">
                <adec:decorative xmlns:adec="http://schemas.microsoft.com/office/drawing/2017/decorative" val="1"/>
              </a:ext>
            </a:extLst>
          </p:cNvPr>
          <p:cNvSpPr/>
          <p:nvPr/>
        </p:nvSpPr>
        <p:spPr>
          <a:xfrm>
            <a:off x="548640" y="3950208"/>
            <a:ext cx="5669280" cy="621792"/>
          </a:xfrm>
          <a:prstGeom prst="roundRect">
            <a:avLst>
              <a:gd name="adj" fmla="val 117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Calendar 3 text"/>
          <p:cNvSpPr txBox="1"/>
          <p:nvPr/>
        </p:nvSpPr>
        <p:spPr>
          <a:xfrm>
            <a:off x="731520" y="395020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Cover page   </a:t>
            </a:r>
            <a:r>
              <a:rPr lang="en-US" sz="1400" dirty="0">
                <a:solidFill>
                  <a:schemeClr val="tx2"/>
                </a:solidFill>
              </a:rPr>
              <a:t>Three partial assessments, one title</a:t>
            </a:r>
            <a:endParaRPr lang="en-US" sz="1400" dirty="0"/>
          </a:p>
        </p:txBody>
      </p:sp>
      <p:sp>
        <p:nvSpPr>
          <p:cNvPr id="14" name="Guidance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5" name="Icon FaBook">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1F2A44"/>
          </a:solidFill>
          <a:ln w="12700">
            <a:solidFill>
              <a:srgbClr val="1F2A44"/>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7" name="Guidance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WHAT THE GUIDANCE DESCRIBES</a:t>
            </a:r>
            <a:endParaRPr lang="en-US" sz="1400" dirty="0"/>
          </a:p>
          <a:p>
            <a:pPr marL="0" indent="0">
              <a:buNone/>
            </a:pPr>
            <a:r>
              <a:rPr lang="en-US" sz="1800" b="1" dirty="0">
                <a:solidFill>
                  <a:srgbClr val="1F2A44"/>
                </a:solidFill>
                <a:latin typeface="Cambria" pitchFamily="34" charset="0"/>
                <a:ea typeface="Cambria" pitchFamily="34" charset="-122"/>
                <a:cs typeface="Cambria" pitchFamily="34" charset="-120"/>
              </a:rPr>
              <a:t>Written for the enterprise</a:t>
            </a:r>
            <a:endParaRPr lang="en-US" sz="1400" dirty="0"/>
          </a:p>
        </p:txBody>
      </p:sp>
      <p:sp>
        <p:nvSpPr>
          <p:cNvPr id="18" name="Guidance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EO 14028: “throughout all aspects of the infrastructure”</a:t>
            </a:r>
            <a:endParaRPr lang="en-US" sz="1400" dirty="0"/>
          </a:p>
          <a:p>
            <a:pPr marL="342900" indent="-342900">
              <a:spcAft>
                <a:spcPts val="600"/>
              </a:spcAft>
              <a:buSzPct val="100000"/>
              <a:buChar char="•"/>
            </a:pPr>
            <a:r>
              <a:rPr lang="en-US" sz="1400" dirty="0">
                <a:solidFill>
                  <a:schemeClr val="tx2"/>
                </a:solidFill>
              </a:rPr>
              <a:t>M-22-09: enterprise-managed identities; a complete device inventory</a:t>
            </a:r>
            <a:endParaRPr lang="en-US" sz="1400" dirty="0"/>
          </a:p>
          <a:p>
            <a:pPr marL="342900" indent="-342900">
              <a:spcAft>
                <a:spcPts val="600"/>
              </a:spcAft>
              <a:buSzPct val="100000"/>
              <a:buChar char="•"/>
            </a:pPr>
            <a:r>
              <a:rPr lang="en-US" sz="1400" dirty="0">
                <a:solidFill>
                  <a:schemeClr val="tx2"/>
                </a:solidFill>
              </a:rPr>
              <a:t>ZTMM v2.0: agency-wide buy-in for one architecture</a:t>
            </a:r>
            <a:endParaRPr lang="en-US" sz="1400" dirty="0"/>
          </a:p>
          <a:p>
            <a:pPr marL="342900" indent="-342900">
              <a:spcAft>
                <a:spcPts val="600"/>
              </a:spcAft>
              <a:buSzPct val="100000"/>
              <a:buChar char="•"/>
            </a:pPr>
            <a:r>
              <a:rPr lang="en-US" sz="1400" dirty="0">
                <a:solidFill>
                  <a:schemeClr val="tx2"/>
                </a:solidFill>
              </a:rPr>
              <a:t>SP 800-207: no implicit trust from location or ownership</a:t>
            </a:r>
            <a:endParaRPr lang="en-US" sz="1400" dirty="0"/>
          </a:p>
        </p:txBody>
      </p:sp>
      <p:sp>
        <p:nvSpPr>
          <p:cNvPr id="19" name="Unify">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0" name="Icon FaSitemap">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50485"/>
            <a:ext cx="380390" cy="380390"/>
          </a:xfrm>
          <a:prstGeom prst="rect">
            <a:avLst/>
          </a:prstGeom>
        </p:spPr>
      </p:pic>
      <p:sp>
        <p:nvSpPr>
          <p:cNvPr id="22" name="Unify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B91C1C"/>
                </a:solidFill>
              </a:rPr>
              <a:t>Unify first, assess second: </a:t>
            </a:r>
            <a:r>
              <a:rPr lang="en-US" sz="1650" dirty="0">
                <a:solidFill>
                  <a:schemeClr val="tx2"/>
                </a:solidFill>
              </a:rPr>
              <a:t>one naming and identity plane across the network, every cloud and the virtualization estate. Once it exists it maps the whole attack surface, so defend it as a high-value target.</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Executive Order 14028; OMB M-22-09; CISA Zero Trust Maturity Model v2.0; NIST SP 800-207. Book 11,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E49A9454-AA6A-FF18-5685-24E38023C0B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C3CE1C2-6520-4955-9F94-25DB93E0804C}"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9520"/>
    </mc:Choice>
    <mc:Fallback>
      <p:transition spd="slow" advTm="695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8520"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Evidence, not verdicts: failures beneath any one tool</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Incidents card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Icon FaKey">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Incidents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A forged token, 2023</a:t>
            </a:r>
            <a:endParaRPr lang="en-US" sz="1700" dirty="0"/>
          </a:p>
        </p:txBody>
      </p:sp>
      <p:sp>
        <p:nvSpPr>
          <p:cNvPr id="9" name="Incidents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Tokens forged with a provider's consumer signing key</a:t>
            </a:r>
            <a:endParaRPr lang="en-US" sz="1400" dirty="0"/>
          </a:p>
          <a:p>
            <a:pPr marL="342900" indent="-342900">
              <a:spcAft>
                <a:spcPts val="600"/>
              </a:spcAft>
              <a:buSzPct val="100000"/>
              <a:buChar char="•"/>
            </a:pPr>
            <a:r>
              <a:rPr lang="en-US" sz="1350" dirty="0">
                <a:solidFill>
                  <a:schemeClr val="tx2"/>
                </a:solidFill>
              </a:rPr>
              <a:t>22 enterprise organizations, 503 personal accounts</a:t>
            </a:r>
            <a:endParaRPr lang="en-US" sz="1400" dirty="0"/>
          </a:p>
          <a:p>
            <a:pPr marL="342900" indent="-342900">
              <a:spcAft>
                <a:spcPts val="600"/>
              </a:spcAft>
              <a:buSzPct val="100000"/>
              <a:buChar char="•"/>
            </a:pPr>
            <a:r>
              <a:rPr lang="en-US" sz="1350" dirty="0">
                <a:solidFill>
                  <a:schemeClr val="tx2"/>
                </a:solidFill>
              </a:rPr>
              <a:t>Access for at least six weeks</a:t>
            </a:r>
            <a:endParaRPr lang="en-US" sz="1400" dirty="0"/>
          </a:p>
          <a:p>
            <a:pPr marL="342900" indent="-342900">
              <a:spcAft>
                <a:spcPts val="600"/>
              </a:spcAft>
              <a:buSzPct val="100000"/>
              <a:buChar char="•"/>
            </a:pPr>
            <a:r>
              <a:rPr lang="en-US" sz="1350" dirty="0">
                <a:solidFill>
                  <a:schemeClr val="tx2"/>
                </a:solidFill>
              </a:rPr>
              <a:t>Caught by an agency's own log alert</a:t>
            </a:r>
            <a:endParaRPr lang="en-US" sz="1400" dirty="0"/>
          </a:p>
        </p:txBody>
      </p:sp>
      <p:sp>
        <p:nvSpPr>
          <p:cNvPr id="10" name="Incidents card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1" name="Icon FaServe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B45309"/>
          </a:solidFill>
          <a:ln w="12700">
            <a:solidFill>
              <a:srgbClr val="B45309"/>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Incidents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Beneath the guest</a:t>
            </a:r>
            <a:endParaRPr lang="en-US" sz="1700" dirty="0"/>
          </a:p>
        </p:txBody>
      </p:sp>
      <p:sp>
        <p:nvSpPr>
          <p:cNvPr id="14" name="Incidents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ESXiArgs, February 2023: over 3,800 ESXi servers</a:t>
            </a:r>
            <a:endParaRPr lang="en-US" sz="1400" dirty="0"/>
          </a:p>
          <a:p>
            <a:pPr marL="342900" indent="-342900">
              <a:spcAft>
                <a:spcPts val="600"/>
              </a:spcAft>
              <a:buSzPct val="100000"/>
              <a:buChar char="•"/>
            </a:pPr>
            <a:r>
              <a:rPr lang="en-US" sz="1350" dirty="0">
                <a:solidFill>
                  <a:schemeClr val="tx2"/>
                </a:solidFill>
              </a:rPr>
              <a:t>CVE-2024-37085: “ESX Admins” trusted by name</a:t>
            </a:r>
            <a:endParaRPr lang="en-US" sz="1400" dirty="0"/>
          </a:p>
          <a:p>
            <a:pPr marL="342900" indent="-342900">
              <a:spcAft>
                <a:spcPts val="600"/>
              </a:spcAft>
              <a:buSzPct val="100000"/>
              <a:buChar char="•"/>
            </a:pPr>
            <a:r>
              <a:rPr lang="en-US" sz="1350" dirty="0">
                <a:solidFill>
                  <a:schemeClr val="tx2"/>
                </a:solidFill>
              </a:rPr>
              <a:t>Many security products barely see the hypervisor</a:t>
            </a:r>
            <a:endParaRPr lang="en-US" sz="1400" dirty="0"/>
          </a:p>
        </p:txBody>
      </p:sp>
      <p:sp>
        <p:nvSpPr>
          <p:cNvPr id="15" name="Incidents card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Filte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1F2A44"/>
          </a:solidFill>
          <a:ln w="12700">
            <a:solidFill>
              <a:srgbClr val="1F2A44"/>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Incidents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One vendor, two tools</a:t>
            </a:r>
            <a:endParaRPr lang="en-US" sz="1700" dirty="0"/>
          </a:p>
        </p:txBody>
      </p:sp>
      <p:sp>
        <p:nvSpPr>
          <p:cNvPr id="19" name="Incidents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ScubaGear is CISA's, for the BOD 25-01 baselines</a:t>
            </a:r>
            <a:endParaRPr lang="en-US" sz="1400" dirty="0"/>
          </a:p>
          <a:p>
            <a:pPr marL="342900" indent="-342900">
              <a:spcAft>
                <a:spcPts val="600"/>
              </a:spcAft>
              <a:buSzPct val="100000"/>
              <a:buChar char="•"/>
            </a:pPr>
            <a:r>
              <a:rPr lang="en-US" sz="1350" dirty="0">
                <a:solidFill>
                  <a:schemeClr val="tx2"/>
                </a:solidFill>
              </a:rPr>
              <a:t>The Zero Trust Assessment is Microsoft's guidance</a:t>
            </a:r>
            <a:endParaRPr lang="en-US" sz="1400" dirty="0"/>
          </a:p>
          <a:p>
            <a:pPr marL="342900" indent="-342900">
              <a:spcAft>
                <a:spcPts val="600"/>
              </a:spcAft>
              <a:buSzPct val="100000"/>
              <a:buChar char="•"/>
            </a:pPr>
            <a:r>
              <a:rPr lang="en-US" sz="1350" dirty="0">
                <a:solidFill>
                  <a:schemeClr val="tx2"/>
                </a:solidFill>
              </a:rPr>
              <a:t>Neither sees other clouds, the network or hypervisors</a:t>
            </a:r>
            <a:endParaRPr lang="en-US" sz="1400" dirty="0"/>
          </a:p>
        </p:txBody>
      </p:sp>
      <p:sp>
        <p:nvSpPr>
          <p:cNvPr id="20" name="Verdict">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1" name="Icon FaScaleBalanced">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Verdict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The agency owns the verdict: </a:t>
            </a:r>
            <a:r>
              <a:rPr lang="en-US" sz="1650" dirty="0">
                <a:solidFill>
                  <a:schemeClr val="tx2"/>
                </a:solidFill>
              </a:rPr>
              <a:t>every tool is an evidence input, reconciled at the control level with NIST SP 800-53 as the common vocabulary. No provider's tool can hold one posture across every platform.</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Cyber Safety Review Board, Summer 2023 Exchange Online intrusion; CISA and FBI AA23-039A; Microsoft Threat Intelligence, CVE-2024-37085; CISA SCuBA; Microsoft Learn. Book 11,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E32E142A-C905-F6E0-011F-AF7FF3391BF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CF1A78A-4E9C-425B-A453-C68980993AFC}"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0380"/>
    </mc:Choice>
    <mc:Fallback>
      <p:transition spd="slow" advTm="70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9384"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Five governance principles, none of them a purchase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Principle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FIVE PRINCIPLES THAT MOVE A PROGRAM PAST INITIAL</a:t>
            </a:r>
            <a:endParaRPr lang="en-US" sz="1200" dirty="0"/>
          </a:p>
        </p:txBody>
      </p:sp>
      <p:sp>
        <p:nvSpPr>
          <p:cNvPr id="6" name="Principle 0">
            <a:extLst>
              <a:ext uri="{C183D7F6-B498-43B3-948B-1728B52AA6E4}">
                <adec:decorative xmlns:adec="http://schemas.microsoft.com/office/drawing/2017/decorative" val="1"/>
              </a:ext>
            </a:extLst>
          </p:cNvPr>
          <p:cNvSpPr/>
          <p:nvPr/>
        </p:nvSpPr>
        <p:spPr>
          <a:xfrm>
            <a:off x="548640" y="1755648"/>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Principle 0 text"/>
          <p:cNvSpPr txBox="1"/>
          <p:nvPr/>
        </p:nvSpPr>
        <p:spPr>
          <a:xfrm>
            <a:off x="731520" y="1755648"/>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1  Identity anchors   </a:t>
            </a:r>
            <a:r>
              <a:rPr lang="en-US" sz="1400" dirty="0">
                <a:solidFill>
                  <a:schemeClr val="tx2"/>
                </a:solidFill>
              </a:rPr>
              <a:t>Re-evaluated in session; the plane defended</a:t>
            </a:r>
            <a:endParaRPr lang="en-US" sz="1400" dirty="0"/>
          </a:p>
        </p:txBody>
      </p:sp>
      <p:sp>
        <p:nvSpPr>
          <p:cNvPr id="8" name="Principle 1">
            <a:extLst>
              <a:ext uri="{C183D7F6-B498-43B3-948B-1728B52AA6E4}">
                <adec:decorative xmlns:adec="http://schemas.microsoft.com/office/drawing/2017/decorative" val="1"/>
              </a:ext>
            </a:extLst>
          </p:cNvPr>
          <p:cNvSpPr/>
          <p:nvPr/>
        </p:nvSpPr>
        <p:spPr>
          <a:xfrm>
            <a:off x="548640" y="2359152"/>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Principle 1 text"/>
          <p:cNvSpPr txBox="1"/>
          <p:nvPr/>
        </p:nvSpPr>
        <p:spPr>
          <a:xfrm>
            <a:off x="731520" y="2359152"/>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2  Privilege apart   </a:t>
            </a:r>
            <a:r>
              <a:rPr lang="en-US" sz="1400" dirty="0">
                <a:solidFill>
                  <a:schemeClr val="tx2"/>
                </a:solidFill>
              </a:rPr>
              <a:t>Zero permanently active admin roles</a:t>
            </a:r>
            <a:endParaRPr lang="en-US" sz="1400" dirty="0"/>
          </a:p>
        </p:txBody>
      </p:sp>
      <p:sp>
        <p:nvSpPr>
          <p:cNvPr id="10" name="Principle 2">
            <a:extLst>
              <a:ext uri="{C183D7F6-B498-43B3-948B-1728B52AA6E4}">
                <adec:decorative xmlns:adec="http://schemas.microsoft.com/office/drawing/2017/decorative" val="1"/>
              </a:ext>
            </a:extLst>
          </p:cNvPr>
          <p:cNvSpPr/>
          <p:nvPr/>
        </p:nvSpPr>
        <p:spPr>
          <a:xfrm>
            <a:off x="548640" y="2962656"/>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Principle 2 text"/>
          <p:cNvSpPr txBox="1"/>
          <p:nvPr/>
        </p:nvSpPr>
        <p:spPr>
          <a:xfrm>
            <a:off x="731520" y="2962656"/>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3  Evidence   </a:t>
            </a:r>
            <a:r>
              <a:rPr lang="en-US" sz="1400" dirty="0">
                <a:solidFill>
                  <a:schemeClr val="tx2"/>
                </a:solidFill>
              </a:rPr>
              <a:t>Reproducible, machine-readable, regenerable</a:t>
            </a:r>
            <a:endParaRPr lang="en-US" sz="1400" dirty="0"/>
          </a:p>
        </p:txBody>
      </p:sp>
      <p:sp>
        <p:nvSpPr>
          <p:cNvPr id="12" name="Principle 3">
            <a:extLst>
              <a:ext uri="{C183D7F6-B498-43B3-948B-1728B52AA6E4}">
                <adec:decorative xmlns:adec="http://schemas.microsoft.com/office/drawing/2017/decorative" val="1"/>
              </a:ext>
            </a:extLst>
          </p:cNvPr>
          <p:cNvSpPr/>
          <p:nvPr/>
        </p:nvSpPr>
        <p:spPr>
          <a:xfrm>
            <a:off x="548640" y="3566160"/>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Principle 3 text"/>
          <p:cNvSpPr txBox="1"/>
          <p:nvPr/>
        </p:nvSpPr>
        <p:spPr>
          <a:xfrm>
            <a:off x="731520" y="3566160"/>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4  Enforcement   </a:t>
            </a:r>
            <a:r>
              <a:rPr lang="en-US" sz="1400" dirty="0">
                <a:solidFill>
                  <a:schemeClr val="tx2"/>
                </a:solidFill>
              </a:rPr>
              <a:t>Block, reapply or expire; don't just report</a:t>
            </a:r>
            <a:endParaRPr lang="en-US" sz="1400" dirty="0"/>
          </a:p>
        </p:txBody>
      </p:sp>
      <p:sp>
        <p:nvSpPr>
          <p:cNvPr id="14" name="Principle 4">
            <a:extLst>
              <a:ext uri="{C183D7F6-B498-43B3-948B-1728B52AA6E4}">
                <adec:decorative xmlns:adec="http://schemas.microsoft.com/office/drawing/2017/decorative" val="1"/>
              </a:ext>
            </a:extLst>
          </p:cNvPr>
          <p:cNvSpPr/>
          <p:nvPr/>
        </p:nvSpPr>
        <p:spPr>
          <a:xfrm>
            <a:off x="548640" y="4169664"/>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Principle 4 text"/>
          <p:cNvSpPr txBox="1"/>
          <p:nvPr/>
        </p:nvSpPr>
        <p:spPr>
          <a:xfrm>
            <a:off x="731520" y="4169664"/>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5  The boundary   </a:t>
            </a:r>
            <a:r>
              <a:rPr lang="en-US" sz="1400" dirty="0">
                <a:solidFill>
                  <a:schemeClr val="tx2"/>
                </a:solidFill>
              </a:rPr>
              <a:t>Each cloud gap recorded as a governed finding</a:t>
            </a:r>
            <a:endParaRPr lang="en-US" sz="1400" dirty="0"/>
          </a:p>
        </p:txBody>
      </p:sp>
      <p:sp>
        <p:nvSpPr>
          <p:cNvPr id="16" name="Stall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7" name="Icon FaTriangleExclamation">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B91C1C"/>
          </a:solidFill>
          <a:ln w="12700">
            <a:solidFill>
              <a:srgbClr val="B91C1C"/>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9" name="Stall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WHY PROGRAMS STALL BELOW ADVANCED</a:t>
            </a:r>
            <a:endParaRPr lang="en-US" sz="1400" dirty="0"/>
          </a:p>
          <a:p>
            <a:pPr marL="0" indent="0">
              <a:buNone/>
            </a:pPr>
            <a:r>
              <a:rPr lang="en-US" sz="1800" b="1" dirty="0">
                <a:solidFill>
                  <a:srgbClr val="B91C1C"/>
                </a:solidFill>
                <a:latin typeface="Cambria" pitchFamily="34" charset="0"/>
                <a:ea typeface="Cambria" pitchFamily="34" charset="-122"/>
                <a:cs typeface="Cambria" pitchFamily="34" charset="-120"/>
              </a:rPr>
              <a:t>The model is not a shopping list</a:t>
            </a:r>
            <a:endParaRPr lang="en-US" sz="1400" dirty="0"/>
          </a:p>
        </p:txBody>
      </p:sp>
      <p:sp>
        <p:nvSpPr>
          <p:cNvPr id="20" name="Stall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Five pillars run through three cross-cutting capabilities</a:t>
            </a:r>
            <a:endParaRPr lang="en-US" sz="1400" dirty="0"/>
          </a:p>
          <a:p>
            <a:pPr marL="342900" indent="-342900">
              <a:spcAft>
                <a:spcPts val="600"/>
              </a:spcAft>
              <a:buSzPct val="100000"/>
              <a:buChar char="•"/>
            </a:pPr>
            <a:r>
              <a:rPr lang="en-US" sz="1400" dirty="0">
                <a:solidFill>
                  <a:schemeClr val="tx2"/>
                </a:solidFill>
              </a:rPr>
              <a:t>Governance: definition and enforcement, within and across pillars</a:t>
            </a:r>
            <a:endParaRPr lang="en-US" sz="1400" dirty="0"/>
          </a:p>
          <a:p>
            <a:pPr marL="342900" indent="-342900">
              <a:spcAft>
                <a:spcPts val="600"/>
              </a:spcAft>
              <a:buSzPct val="100000"/>
              <a:buChar char="•"/>
            </a:pPr>
            <a:r>
              <a:rPr lang="en-US" sz="1400" dirty="0">
                <a:solidFill>
                  <a:schemeClr val="tx2"/>
                </a:solidFill>
              </a:rPr>
              <a:t>Traditional: “siloed pillars of policy enforcement”</a:t>
            </a:r>
            <a:endParaRPr lang="en-US" sz="1400" dirty="0"/>
          </a:p>
          <a:p>
            <a:pPr marL="342900" indent="-342900">
              <a:spcAft>
                <a:spcPts val="600"/>
              </a:spcAft>
              <a:buSzPct val="100000"/>
              <a:buChar char="•"/>
            </a:pPr>
            <a:r>
              <a:rPr lang="en-US" sz="1400" dirty="0">
                <a:solidFill>
                  <a:schemeClr val="tx2"/>
                </a:solidFill>
              </a:rPr>
              <a:t>Drift is found at audit time, months late</a:t>
            </a:r>
            <a:endParaRPr lang="en-US" sz="1400" dirty="0"/>
          </a:p>
        </p:txBody>
      </p:sp>
      <p:sp>
        <p:nvSpPr>
          <p:cNvPr id="21" name="Break glass">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2" name="Icon FaUserShield">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45309"/>
          </a:solidFill>
          <a:ln w="12700">
            <a:solidFill>
              <a:srgbClr val="B45309"/>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50485"/>
            <a:ext cx="380390" cy="380390"/>
          </a:xfrm>
          <a:prstGeom prst="rect">
            <a:avLst/>
          </a:prstGeom>
        </p:spPr>
      </p:pic>
      <p:sp>
        <p:nvSpPr>
          <p:cNvPr id="24" name="Break glass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B45309"/>
                </a:solidFill>
              </a:rPr>
              <a:t>Emergency accounts are governed too: </a:t>
            </a:r>
            <a:r>
              <a:rPr lang="en-US" sz="1650" dirty="0">
                <a:solidFill>
                  <a:schemeClr val="tx2"/>
                </a:solidFill>
              </a:rPr>
              <a:t>two or more, monitored, and tested at least every 90 days. And revocation comes from continuous access evaluation, not short tokens: its tokens can last up to 28 hours.</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Zero Trust Maturity Model v2.0; OMB M-22-09; NIST SP 800-207; Microsoft Learn — continuous access evaluation, PIM, emergency access accounts; NIST OSCAL. Book 11, Chapter 02.</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77AB0A2D-3B8A-2945-F78C-907272133FC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ABCC064-8E91-40F3-BB23-D5EB019224CC}"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7310"/>
    </mc:Choice>
    <mc:Fallback>
      <p:transition spd="slow" advTm="673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6312"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Only one Zero Trust document sets requirements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Document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Authority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does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2179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EO 14028 (May 2021)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Binding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Required each agency to plan a Zero Trust Architecture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179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OMB M-22-09 (Jan 2022)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Binding; in force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Specific actions by pillar; FY 2024 deadlines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179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CISA ZTMM v2.0 (Apr 2023)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Guidance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general guide,” not a strict set of requirements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179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NIST SP 800-207 (Aug 2020)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Guidance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Tenets; policy engine, administrator, enforcement point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Reading box">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Landmark">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Reading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Reading them in October 2026</a:t>
            </a:r>
            <a:endParaRPr lang="en-US" sz="1700" dirty="0"/>
          </a:p>
        </p:txBody>
      </p:sp>
      <p:sp>
        <p:nvSpPr>
          <p:cNvPr id="10" name="Reading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M-22-09 isn't rescinded; passed deadlines don't retire actions</a:t>
            </a:r>
            <a:endParaRPr lang="en-US" sz="1400" dirty="0"/>
          </a:p>
          <a:p>
            <a:pPr marL="342900" indent="-342900">
              <a:spcAft>
                <a:spcPts val="600"/>
              </a:spcAft>
              <a:buSzPct val="100000"/>
              <a:buChar char="•"/>
            </a:pPr>
            <a:r>
              <a:rPr lang="en-US" sz="1350" dirty="0">
                <a:solidFill>
                  <a:schemeClr val="tx2"/>
                </a:solidFill>
              </a:rPr>
              <a:t>Its logging action now reads through M-26-14 (May 22, 2026)</a:t>
            </a:r>
            <a:endParaRPr lang="en-US" sz="1400" dirty="0"/>
          </a:p>
          <a:p>
            <a:pPr marL="342900" indent="-342900">
              <a:spcAft>
                <a:spcPts val="600"/>
              </a:spcAft>
              <a:buSzPct val="100000"/>
              <a:buChar char="•"/>
            </a:pPr>
            <a:r>
              <a:rPr lang="en-US" sz="1350" dirty="0">
                <a:solidFill>
                  <a:schemeClr val="tx2"/>
                </a:solidFill>
              </a:rPr>
              <a:t>CISA's ZTMM page is marked archived; no later version</a:t>
            </a:r>
            <a:endParaRPr lang="en-US" sz="1400" dirty="0"/>
          </a:p>
          <a:p>
            <a:pPr marL="342900" indent="-342900">
              <a:spcAft>
                <a:spcPts val="600"/>
              </a:spcAft>
              <a:buSzPct val="100000"/>
              <a:buChar char="•"/>
            </a:pPr>
            <a:r>
              <a:rPr lang="en-US" sz="1350" dirty="0">
                <a:solidFill>
                  <a:schemeClr val="tx2"/>
                </a:solidFill>
              </a:rPr>
              <a:t>M-22-09 sets actions, not a maturity stage</a:t>
            </a:r>
            <a:endParaRPr lang="en-US" sz="1400" dirty="0"/>
          </a:p>
        </p:txBody>
      </p:sp>
      <p:sp>
        <p:nvSpPr>
          <p:cNvPr id="11" name="No scor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Hashtag">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No scor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No federal document defines a Zero Trust score: </a:t>
            </a:r>
            <a:r>
              <a:rPr lang="en-US" sz="1650" dirty="0">
                <a:solidFill>
                  <a:schemeClr val="tx2"/>
                </a:solidFill>
              </a:rPr>
              <a:t>the model describes stages per function, M-22-09 sets actions, and neither requires a stage. A tool whose output “certifies maturity” is citing a requirement that doesn't exist.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Executive Order 14028; OMB M-22-09, M-26-14 and memoranda index; CISA Zero Trust Maturity Model v2.0 and landing page; NIST SP 800-207. Book 11, Chapter 03;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688E8C4C-FDC6-2A69-C688-9165332FE29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EFCB3EC-7475-4F6B-8ABC-82BA80879934}"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7010"/>
    </mc:Choice>
    <mc:Fallback>
      <p:transition spd="slow" advTm="770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600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BOD 25-01: six actions and 50 required policies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Required action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Deadline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Inventory in-scope tenants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Feb 21, 2025; yearly in Q1</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Deploy the SCuBA tools; report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Apr 25, 2025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Implement the mandatory policies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Jun 20, 2025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Implement later policy updates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CISA's timelines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Baseline every new tenant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Before its ATO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Explain deviations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With each report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Policies box">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5" name="Icon FaListCheck">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Policies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50 Microsoft 365 policies</a:t>
            </a:r>
            <a:endParaRPr lang="en-US" sz="1700" dirty="0"/>
          </a:p>
        </p:txBody>
      </p:sp>
      <p:sp>
        <p:nvSpPr>
          <p:cNvPr id="10" name="Policies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Entra ID: 20 of the baseline's 30; Exchange Online: 10 of 40</a:t>
            </a:r>
            <a:endParaRPr lang="en-US" sz="1400" dirty="0"/>
          </a:p>
          <a:p>
            <a:pPr marL="342900" indent="-342900">
              <a:spcAft>
                <a:spcPts val="600"/>
              </a:spcAft>
              <a:buSzPct val="100000"/>
              <a:buChar char="•"/>
            </a:pPr>
            <a:r>
              <a:rPr lang="en-US" sz="1350" dirty="0">
                <a:solidFill>
                  <a:schemeClr val="tx2"/>
                </a:solidFill>
              </a:rPr>
              <a:t>Defender 8; Power Platform, SharePoint, Teams 4 each</a:t>
            </a:r>
            <a:endParaRPr lang="en-US" sz="1400" dirty="0"/>
          </a:p>
          <a:p>
            <a:pPr marL="342900" indent="-342900">
              <a:spcAft>
                <a:spcPts val="600"/>
              </a:spcAft>
              <a:buSzPct val="100000"/>
              <a:buChar char="•"/>
            </a:pPr>
            <a:r>
              <a:rPr lang="en-US" sz="1350" dirty="0">
                <a:solidFill>
                  <a:schemeClr val="tx2"/>
                </a:solidFill>
              </a:rPr>
              <a:t>Google Workspace policies due December 1, 2026</a:t>
            </a:r>
            <a:endParaRPr lang="en-US" sz="1400" dirty="0"/>
          </a:p>
          <a:p>
            <a:pPr marL="342900" indent="-342900">
              <a:spcAft>
                <a:spcPts val="600"/>
              </a:spcAft>
              <a:buSzPct val="100000"/>
              <a:buChar char="•"/>
            </a:pPr>
            <a:r>
              <a:rPr lang="en-US" sz="1350" dirty="0">
                <a:solidFill>
                  <a:schemeClr val="tx2"/>
                </a:solidFill>
              </a:rPr>
              <a:t>SaaS only: Azure subscriptions and on-premises AD are out</a:t>
            </a:r>
            <a:endParaRPr lang="en-US" sz="1400" dirty="0"/>
          </a:p>
        </p:txBody>
      </p:sp>
      <p:sp>
        <p:nvSpPr>
          <p:cNvPr id="11" name="Substantiv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ClipboardChe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Substantiv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Half the actions are administrative: </a:t>
            </a:r>
            <a:r>
              <a:rPr lang="en-US" sz="1650" dirty="0">
                <a:solidFill>
                  <a:schemeClr val="tx2"/>
                </a:solidFill>
              </a:rPr>
              <a:t>inventory, deployment and explanations take days. Actions 3 to 5, implementing the policies, keeping up and baselining new tenants, are architecture, and they're what the directive exists for.</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25-01 (December 17, 2024), Required Configurations page, Implementation Guidance (updated July 27, 2026); ScubaGear v1.8.0 baselines; ScubaGoggles releases. Book 11,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69062C89-10F1-20D1-FCF9-8254ACB0CB9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D972AA8-E7AE-4405-AA95-B4D4B822A6F4}"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2280"/>
    </mc:Choice>
    <mc:Fallback>
      <p:transition spd="slow" advTm="72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128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Two assessment tools answer two different questions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09728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tblGrid>
              <a:tr h="384048">
                <a:tc>
                  <a:txBody>
                    <a:bodyPr/>
                    <a:lstStyle/>
                    <a:p>
                      <a:pPr marL="0" indent="0">
                        <a:buNone/>
                      </a:pP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ScubaGear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Zero Trust Assessment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Question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Does the tenant meet the federal baseline?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How mature against Zero Trust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CISA; the tool BOD 25-01 names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Microsoft staff; a community project, unsupported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Version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1.8.0, May 7, 2026; 2.0.0 in preview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3.1.0, October 20, 2026; 364 tests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Runs 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Windows PowerShell 5.1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PowerShell 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Finding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Policy ID; SHALL or SHOULD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Numeric test ID; High, Medium, Low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Overlap box">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Filte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45309"/>
          </a:solidFill>
          <a:ln w="12700">
            <a:solidFill>
              <a:srgbClr val="B45309"/>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Overlap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Where they overlap</a:t>
            </a:r>
            <a:endParaRPr lang="en-US" sz="1700" dirty="0"/>
          </a:p>
        </p:txBody>
      </p:sp>
      <p:sp>
        <p:nvSpPr>
          <p:cNvPr id="10" name="Overlap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Both: Entra ID identity; Defender threat policies</a:t>
            </a:r>
            <a:endParaRPr lang="en-US" sz="1400" dirty="0"/>
          </a:p>
          <a:p>
            <a:pPr marL="342900" indent="-342900">
              <a:spcAft>
                <a:spcPts val="600"/>
              </a:spcAft>
              <a:buSzPct val="100000"/>
              <a:buChar char="•"/>
            </a:pPr>
            <a:r>
              <a:rPr lang="en-US" sz="1350" dirty="0">
                <a:solidFill>
                  <a:schemeClr val="tx2"/>
                </a:solidFill>
              </a:rPr>
              <a:t>ScubaGear only: Exchange, Teams, SharePoint, Power Platform</a:t>
            </a:r>
            <a:endParaRPr lang="en-US" sz="1400" dirty="0"/>
          </a:p>
          <a:p>
            <a:pPr marL="342900" indent="-342900">
              <a:spcAft>
                <a:spcPts val="600"/>
              </a:spcAft>
              <a:buSzPct val="100000"/>
              <a:buChar char="•"/>
            </a:pPr>
            <a:r>
              <a:rPr lang="en-US" sz="1350" dirty="0">
                <a:solidFill>
                  <a:schemeClr val="tx2"/>
                </a:solidFill>
              </a:rPr>
              <a:t>Zero Trust Assessment only: Intune, Azure, Purview, SecOps</a:t>
            </a:r>
            <a:endParaRPr lang="en-US" sz="1400" dirty="0"/>
          </a:p>
          <a:p>
            <a:pPr marL="342900" indent="-342900">
              <a:spcAft>
                <a:spcPts val="600"/>
              </a:spcAft>
              <a:buSzPct val="100000"/>
              <a:buChar char="•"/>
            </a:pPr>
            <a:r>
              <a:rPr lang="en-US" sz="1350" dirty="0">
                <a:solidFill>
                  <a:schemeClr val="tx2"/>
                </a:solidFill>
              </a:rPr>
              <a:t>22 of the 50 mandatory policies have no ZTA counterpart</a:t>
            </a:r>
            <a:endParaRPr lang="en-US" sz="1400" dirty="0"/>
          </a:p>
        </p:txBody>
      </p:sp>
      <p:sp>
        <p:nvSpPr>
          <p:cNvPr id="11" name="Both">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Icon FaCodeBranch">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Both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0F766E"/>
                </a:solidFill>
              </a:rPr>
              <a:t>Run both; reconcile at the control: </a:t>
            </a:r>
            <a:r>
              <a:rPr lang="en-US" sz="1650" dirty="0">
                <a:solidFill>
                  <a:schemeClr val="tx2"/>
                </a:solidFill>
              </a:rPr>
              <a:t>match findings through the tenant setting and its NIST SP 800-53 control, never tool to tool. Both outputs map where the tenant is weak, so keep them inside the boundary.</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ScubaGear v1.8.0 README and baselines; PowerShell Gallery; Zero Trust Assessment 3.1.0 release, source and repository README; Microsoft Learn — Zero Trust Assessment. Book 11, Chapters 05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E3E916E3-9770-677D-A47C-318F9C93AD9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06E979B-07FC-4904-9656-0E9767FCD238}"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5900"/>
    </mc:Choice>
    <mc:Fallback>
      <p:transition spd="slow" advTm="75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490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Beyond Microsoft 365: networks, clouds, hypervisors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Estate card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Database">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Estate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One inventory</a:t>
            </a:r>
            <a:endParaRPr lang="en-US" sz="1700" dirty="0"/>
          </a:p>
        </p:txBody>
      </p:sp>
      <p:sp>
        <p:nvSpPr>
          <p:cNvPr id="9" name="Estate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CM-8: no duplicate accounting of components</a:t>
            </a:r>
            <a:endParaRPr lang="en-US" sz="1400" dirty="0"/>
          </a:p>
          <a:p>
            <a:pPr marL="342900" indent="-342900">
              <a:spcAft>
                <a:spcPts val="600"/>
              </a:spcAft>
              <a:buSzPct val="100000"/>
              <a:buChar char="•"/>
            </a:pPr>
            <a:r>
              <a:rPr lang="en-US" sz="1350" dirty="0">
                <a:solidFill>
                  <a:schemeClr val="tx2"/>
                </a:solidFill>
              </a:rPr>
              <a:t>BOD 23-01: discovery every 7 days</a:t>
            </a:r>
            <a:endParaRPr lang="en-US" sz="1400" dirty="0"/>
          </a:p>
          <a:p>
            <a:pPr marL="342900" indent="-342900">
              <a:spcAft>
                <a:spcPts val="600"/>
              </a:spcAft>
              <a:buSzPct val="100000"/>
              <a:buChar char="•"/>
            </a:pPr>
            <a:r>
              <a:rPr lang="en-US" sz="1350" dirty="0">
                <a:solidFill>
                  <a:schemeClr val="tx2"/>
                </a:solidFill>
              </a:rPr>
              <a:t>Every cloud account and cluster resolves to one record</a:t>
            </a:r>
            <a:endParaRPr lang="en-US" sz="1400" dirty="0"/>
          </a:p>
        </p:txBody>
      </p:sp>
      <p:sp>
        <p:nvSpPr>
          <p:cNvPr id="10" name="Estate card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Globe">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Estate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One naming authority</a:t>
            </a:r>
            <a:endParaRPr lang="en-US" sz="1700" dirty="0"/>
          </a:p>
        </p:txBody>
      </p:sp>
      <p:sp>
        <p:nvSpPr>
          <p:cNvPr id="14" name="Estate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SC-20 to SC-22 apply to the whole service</a:t>
            </a:r>
            <a:endParaRPr lang="en-US" sz="1400" dirty="0"/>
          </a:p>
          <a:p>
            <a:pPr marL="342900" indent="-342900">
              <a:spcAft>
                <a:spcPts val="600"/>
              </a:spcAft>
              <a:buSzPct val="100000"/>
              <a:buChar char="•"/>
            </a:pPr>
            <a:r>
              <a:rPr lang="en-US" sz="1350" dirty="0">
                <a:solidFill>
                  <a:schemeClr val="tx2"/>
                </a:solidFill>
              </a:rPr>
              <a:t>Each cloud and VMware ships its own private DNS</a:t>
            </a:r>
            <a:endParaRPr lang="en-US" sz="1400" dirty="0"/>
          </a:p>
          <a:p>
            <a:pPr marL="342900" indent="-342900">
              <a:spcAft>
                <a:spcPts val="600"/>
              </a:spcAft>
              <a:buSzPct val="100000"/>
              <a:buChar char="•"/>
            </a:pPr>
            <a:r>
              <a:rPr lang="en-US" sz="1350" dirty="0">
                <a:solidFill>
                  <a:schemeClr val="tx2"/>
                </a:solidFill>
              </a:rPr>
              <a:t>No implicit trust from a VPN or flat segment</a:t>
            </a:r>
            <a:endParaRPr lang="en-US" sz="1400" dirty="0"/>
          </a:p>
        </p:txBody>
      </p:sp>
      <p:sp>
        <p:nvSpPr>
          <p:cNvPr id="15" name="Estate card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Serve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Estate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The hypervisor</a:t>
            </a:r>
            <a:endParaRPr lang="en-US" sz="1700" dirty="0"/>
          </a:p>
        </p:txBody>
      </p:sp>
      <p:sp>
        <p:nvSpPr>
          <p:cNvPr id="19" name="Estate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distinct threat class beneath every guest</a:t>
            </a:r>
            <a:endParaRPr lang="en-US" sz="1400" dirty="0"/>
          </a:p>
          <a:p>
            <a:pPr marL="342900" indent="-342900">
              <a:spcAft>
                <a:spcPts val="600"/>
              </a:spcAft>
              <a:buSzPct val="100000"/>
              <a:buChar char="•"/>
            </a:pPr>
            <a:r>
              <a:rPr lang="en-US" sz="1350" dirty="0">
                <a:solidFill>
                  <a:schemeClr val="tx2"/>
                </a:solidFill>
              </a:rPr>
              <a:t>Assess the management plane as its own surface</a:t>
            </a:r>
            <a:endParaRPr lang="en-US" sz="1400" dirty="0"/>
          </a:p>
          <a:p>
            <a:pPr marL="342900" indent="-342900">
              <a:spcAft>
                <a:spcPts val="600"/>
              </a:spcAft>
              <a:buSzPct val="100000"/>
              <a:buChar char="•"/>
            </a:pPr>
            <a:r>
              <a:rPr lang="en-US" sz="1350" dirty="0">
                <a:solidFill>
                  <a:schemeClr val="tx2"/>
                </a:solidFill>
              </a:rPr>
              <a:t>Bind identities by verified identifier, not name</a:t>
            </a:r>
            <a:endParaRPr lang="en-US" sz="1400" dirty="0"/>
          </a:p>
        </p:txBody>
      </p:sp>
      <p:sp>
        <p:nvSpPr>
          <p:cNvPr id="20" name="Provider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1" name="Icon FaCloud">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Provider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Each provider's tool answers for its own platform: </a:t>
            </a:r>
            <a:r>
              <a:rPr lang="en-US" sz="1650" dirty="0">
                <a:solidFill>
                  <a:schemeClr val="tx2"/>
                </a:solidFill>
              </a:rPr>
              <a:t>AWS's NIST standard supports “a subset” of requirements; Azure Policy is “only a partial view.” FedRAMP certifies the service; the agency authorizes its own use of it.</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(CM-8, SC-20 to SC-22); CISA BOD 23-01; Microsoft Threat Intelligence; AWS Security Hub; Azure Policy; FedRAMP Consolidated Rules for 2026. Book 11,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17E30813-0301-3E38-51EE-7666B0C702A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CA85B91-9951-486A-84EA-BBC6A1737EDA}"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5710"/>
    </mc:Choice>
    <mc:Fallback>
      <p:transition spd="slow" advTm="757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4712"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owns the posture, not just the pillars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ho col 1">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uildingColumns">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Decide</a:t>
            </a:r>
            <a:endParaRPr lang="en-US" sz="1800" dirty="0"/>
          </a:p>
        </p:txBody>
      </p:sp>
      <p:sp>
        <p:nvSpPr>
          <p:cNvPr id="9" name="Who text 1"/>
          <p:cNvSpPr txBox="1"/>
          <p:nvPr/>
        </p:nvSpPr>
        <p:spPr>
          <a:xfrm>
            <a:off x="77724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1F2A44"/>
                </a:solidFill>
              </a:rPr>
              <a:t>CIO and sponsor</a:t>
            </a:r>
            <a:endParaRPr lang="en-US" sz="1300" dirty="0"/>
          </a:p>
          <a:p>
            <a:pPr marL="0" indent="0">
              <a:spcAft>
                <a:spcPts val="400"/>
              </a:spcAft>
              <a:buNone/>
            </a:pPr>
            <a:r>
              <a:rPr lang="en-US" sz="1300" dirty="0">
                <a:solidFill>
                  <a:schemeClr val="tx2"/>
                </a:solidFill>
              </a:rPr>
              <a:t>Scope, sequence, funding, tie-breaks</a:t>
            </a:r>
            <a:endParaRPr lang="en-US" sz="1300" dirty="0"/>
          </a:p>
          <a:p>
            <a:pPr marL="0" indent="0">
              <a:spcAft>
                <a:spcPts val="400"/>
              </a:spcAft>
              <a:buNone/>
            </a:pPr>
            <a:r>
              <a:rPr lang="en-US" sz="1300" b="1" dirty="0">
                <a:solidFill>
                  <a:srgbClr val="1F2A44"/>
                </a:solidFill>
              </a:rPr>
              <a:t>Zero Trust program lead</a:t>
            </a:r>
            <a:endParaRPr lang="en-US" sz="1300" dirty="0"/>
          </a:p>
          <a:p>
            <a:pPr marL="0" indent="0">
              <a:spcAft>
                <a:spcPts val="400"/>
              </a:spcAft>
              <a:buNone/>
            </a:pPr>
            <a:r>
              <a:rPr lang="en-US" sz="1300" dirty="0">
                <a:solidFill>
                  <a:schemeClr val="tx2"/>
                </a:solidFill>
              </a:rPr>
              <a:t>What the score covers; priority</a:t>
            </a:r>
            <a:endParaRPr lang="en-US" sz="1300" dirty="0"/>
          </a:p>
          <a:p>
            <a:pPr marL="0" indent="0">
              <a:spcAft>
                <a:spcPts val="400"/>
              </a:spcAft>
              <a:buNone/>
            </a:pPr>
            <a:r>
              <a:rPr lang="en-US" sz="1300" b="1" dirty="0">
                <a:solidFill>
                  <a:srgbClr val="1F2A44"/>
                </a:solidFill>
              </a:rPr>
              <a:t>Authorizing official</a:t>
            </a:r>
            <a:endParaRPr lang="en-US" sz="1300" dirty="0"/>
          </a:p>
          <a:p>
            <a:pPr marL="0" indent="0">
              <a:spcAft>
                <a:spcPts val="400"/>
              </a:spcAft>
              <a:buNone/>
            </a:pPr>
            <a:r>
              <a:rPr lang="en-US" sz="1300" dirty="0">
                <a:solidFill>
                  <a:schemeClr val="tx2"/>
                </a:solidFill>
              </a:rPr>
              <a:t>Residual risk; every POA&amp;M</a:t>
            </a:r>
            <a:endParaRPr lang="en-US" sz="1300" dirty="0"/>
          </a:p>
        </p:txBody>
      </p:sp>
      <p:sp>
        <p:nvSpPr>
          <p:cNvPr id="10" name="Who col 2">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ClipboardCheck">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Set the rules</a:t>
            </a:r>
            <a:endParaRPr lang="en-US" sz="1800" dirty="0"/>
          </a:p>
        </p:txBody>
      </p:sp>
      <p:sp>
        <p:nvSpPr>
          <p:cNvPr id="14" name="Who text 2"/>
          <p:cNvSpPr txBox="1"/>
          <p:nvPr/>
        </p:nvSpPr>
        <p:spPr>
          <a:xfrm>
            <a:off x="452628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0F766E"/>
                </a:solidFill>
              </a:rPr>
              <a:t>CISO and ISSO</a:t>
            </a:r>
            <a:endParaRPr lang="en-US" sz="1300" dirty="0"/>
          </a:p>
          <a:p>
            <a:pPr marL="0" indent="0">
              <a:spcAft>
                <a:spcPts val="400"/>
              </a:spcAft>
              <a:buNone/>
            </a:pPr>
            <a:r>
              <a:rPr lang="en-US" sz="1300" dirty="0">
                <a:solidFill>
                  <a:schemeClr val="tx2"/>
                </a:solidFill>
              </a:rPr>
              <a:t>Evidence standard; tools; accounts</a:t>
            </a:r>
            <a:endParaRPr lang="en-US" sz="1300" dirty="0"/>
          </a:p>
          <a:p>
            <a:pPr marL="0" indent="0">
              <a:spcAft>
                <a:spcPts val="400"/>
              </a:spcAft>
              <a:buNone/>
            </a:pPr>
            <a:r>
              <a:rPr lang="en-US" sz="1300" b="1" dirty="0">
                <a:solidFill>
                  <a:srgbClr val="0F766E"/>
                </a:solidFill>
              </a:rPr>
              <a:t>Identity-plane owner</a:t>
            </a:r>
            <a:endParaRPr lang="en-US" sz="1300" dirty="0"/>
          </a:p>
          <a:p>
            <a:pPr marL="0" indent="0">
              <a:spcAft>
                <a:spcPts val="400"/>
              </a:spcAft>
              <a:buNone/>
            </a:pPr>
            <a:r>
              <a:rPr lang="en-US" sz="1300" dirty="0">
                <a:solidFill>
                  <a:schemeClr val="tx2"/>
                </a:solidFill>
              </a:rPr>
              <a:t>The unified record, as Tier 0</a:t>
            </a:r>
            <a:endParaRPr lang="en-US" sz="1300" dirty="0"/>
          </a:p>
          <a:p>
            <a:pPr marL="0" indent="0">
              <a:spcAft>
                <a:spcPts val="400"/>
              </a:spcAft>
              <a:buNone/>
            </a:pPr>
            <a:r>
              <a:rPr lang="en-US" sz="1300" b="1" dirty="0">
                <a:solidFill>
                  <a:srgbClr val="0F766E"/>
                </a:solidFill>
              </a:rPr>
              <a:t>Control assessors</a:t>
            </a:r>
            <a:endParaRPr lang="en-US" sz="1300" dirty="0"/>
          </a:p>
          <a:p>
            <a:pPr marL="0" indent="0">
              <a:spcAft>
                <a:spcPts val="400"/>
              </a:spcAft>
              <a:buNone/>
            </a:pPr>
            <a:r>
              <a:rPr lang="en-US" sz="1300" dirty="0">
                <a:solidFill>
                  <a:schemeClr val="tx2"/>
                </a:solidFill>
              </a:rPr>
              <a:t>Independence the AO sets</a:t>
            </a:r>
            <a:endParaRPr lang="en-US" sz="1300" dirty="0"/>
          </a:p>
        </p:txBody>
      </p:sp>
      <p:sp>
        <p:nvSpPr>
          <p:cNvPr id="15" name="Who col 3">
            <a:extLst>
              <a:ext uri="{C183D7F6-B498-43B3-948B-1728B52AA6E4}">
                <adec:decorative xmlns:adec="http://schemas.microsoft.com/office/drawing/2017/decorative" val="1"/>
              </a:ext>
            </a:extLst>
          </p:cNvPr>
          <p:cNvSpPr/>
          <p:nvPr/>
        </p:nvSpPr>
        <p:spPr>
          <a:xfrm>
            <a:off x="8046720" y="1371600"/>
            <a:ext cx="3611880" cy="2514600"/>
          </a:xfrm>
          <a:prstGeom prst="roundRect">
            <a:avLst>
              <a:gd name="adj" fmla="val 2909"/>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UsersGea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Do the work</a:t>
            </a:r>
            <a:endParaRPr lang="en-US" sz="1800" dirty="0"/>
          </a:p>
        </p:txBody>
      </p:sp>
      <p:sp>
        <p:nvSpPr>
          <p:cNvPr id="19" name="Who text 3"/>
          <p:cNvSpPr txBox="1"/>
          <p:nvPr/>
        </p:nvSpPr>
        <p:spPr>
          <a:xfrm>
            <a:off x="827532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B45309"/>
                </a:solidFill>
              </a:rPr>
              <a:t>Pillar owners</a:t>
            </a:r>
            <a:endParaRPr lang="en-US" sz="1300" dirty="0"/>
          </a:p>
          <a:p>
            <a:pPr marL="0" indent="0">
              <a:spcAft>
                <a:spcPts val="400"/>
              </a:spcAft>
              <a:buNone/>
            </a:pPr>
            <a:r>
              <a:rPr lang="en-US" sz="1300" dirty="0">
                <a:solidFill>
                  <a:schemeClr val="tx2"/>
                </a:solidFill>
              </a:rPr>
              <a:t>Remediate through change control</a:t>
            </a:r>
            <a:endParaRPr lang="en-US" sz="1300" dirty="0"/>
          </a:p>
          <a:p>
            <a:pPr marL="0" indent="0">
              <a:spcAft>
                <a:spcPts val="400"/>
              </a:spcAft>
              <a:buNone/>
            </a:pPr>
            <a:r>
              <a:rPr lang="en-US" sz="1300" b="1" dirty="0">
                <a:solidFill>
                  <a:srgbClr val="B45309"/>
                </a:solidFill>
              </a:rPr>
              <a:t>Assessment operators</a:t>
            </a:r>
            <a:endParaRPr lang="en-US" sz="1300" dirty="0"/>
          </a:p>
          <a:p>
            <a:pPr marL="0" indent="0">
              <a:spcAft>
                <a:spcPts val="400"/>
              </a:spcAft>
              <a:buNone/>
            </a:pPr>
            <a:r>
              <a:rPr lang="en-US" sz="1300" dirty="0">
                <a:solidFill>
                  <a:schemeClr val="tx2"/>
                </a:solidFill>
              </a:rPr>
              <a:t>Run the tools; never edit results</a:t>
            </a:r>
            <a:endParaRPr lang="en-US" sz="1300" dirty="0"/>
          </a:p>
          <a:p>
            <a:pPr marL="0" indent="0">
              <a:spcAft>
                <a:spcPts val="400"/>
              </a:spcAft>
              <a:buNone/>
            </a:pPr>
            <a:r>
              <a:rPr lang="en-US" sz="1300" b="1" dirty="0">
                <a:solidFill>
                  <a:srgbClr val="B45309"/>
                </a:solidFill>
              </a:rPr>
              <a:t>Security operations</a:t>
            </a:r>
            <a:endParaRPr lang="en-US" sz="1300" dirty="0"/>
          </a:p>
          <a:p>
            <a:pPr marL="0" indent="0">
              <a:spcAft>
                <a:spcPts val="400"/>
              </a:spcAft>
              <a:buNone/>
            </a:pPr>
            <a:r>
              <a:rPr lang="en-US" sz="1300" dirty="0">
                <a:solidFill>
                  <a:schemeClr val="tx2"/>
                </a:solidFill>
              </a:rPr>
              <a:t>Drift; the assessment accounts</a:t>
            </a:r>
            <a:endParaRPr lang="en-US" sz="1300" dirty="0"/>
          </a:p>
        </p:txBody>
      </p:sp>
      <p:sp>
        <p:nvSpPr>
          <p:cNvPr id="20" name="Gates head"/>
          <p:cNvSpPr txBox="1"/>
          <p:nvPr/>
        </p:nvSpPr>
        <p:spPr>
          <a:xfrm>
            <a:off x="548640" y="4041648"/>
            <a:ext cx="10972800" cy="274320"/>
          </a:xfrm>
          <a:prstGeom prst="rect">
            <a:avLst/>
          </a:prstGeom>
          <a:noFill/>
          <a:ln/>
        </p:spPr>
        <p:txBody>
          <a:bodyPr wrap="square" lIns="0" tIns="0" rIns="0" bIns="0" rtlCol="0" anchor="t"/>
          <a:lstStyle/>
          <a:p>
            <a:pPr marL="0" indent="0">
              <a:buNone/>
            </a:pPr>
            <a:r>
              <a:rPr lang="en-US" sz="1200" b="1" dirty="0">
                <a:solidFill>
                  <a:srgbClr val="64748B"/>
                </a:solidFill>
              </a:rPr>
              <a:t>THREE DECISIONS THAT OFTEN GO TO THE WRONG PERSON</a:t>
            </a:r>
            <a:endParaRPr lang="en-US" sz="1200" dirty="0"/>
          </a:p>
        </p:txBody>
      </p:sp>
      <p:sp>
        <p:nvSpPr>
          <p:cNvPr id="21" name="Gate 1">
            <a:extLst>
              <a:ext uri="{C183D7F6-B498-43B3-948B-1728B52AA6E4}">
                <adec:decorative xmlns:adec="http://schemas.microsoft.com/office/drawing/2017/decorative" val="1"/>
              </a:ext>
            </a:extLst>
          </p:cNvPr>
          <p:cNvSpPr/>
          <p:nvPr/>
        </p:nvSpPr>
        <p:spPr>
          <a:xfrm>
            <a:off x="548640" y="4389120"/>
            <a:ext cx="3611880" cy="1463040"/>
          </a:xfrm>
          <a:prstGeom prst="roundRect">
            <a:avLst>
              <a:gd name="adj" fmla="val 5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2" name="Gate 1 text"/>
          <p:cNvSpPr txBox="1"/>
          <p:nvPr/>
        </p:nvSpPr>
        <p:spPr>
          <a:xfrm>
            <a:off x="749808" y="4462272"/>
            <a:ext cx="3246120" cy="1316736"/>
          </a:xfrm>
          <a:prstGeom prst="rect">
            <a:avLst/>
          </a:prstGeom>
          <a:noFill/>
          <a:ln/>
        </p:spPr>
        <p:txBody>
          <a:bodyPr wrap="square" lIns="0" tIns="0" rIns="0" bIns="0" rtlCol="0" anchor="ctr"/>
          <a:lstStyle/>
          <a:p>
            <a:pPr marL="0" indent="0">
              <a:buNone/>
            </a:pPr>
            <a:r>
              <a:rPr lang="en-US" sz="1400" b="1" dirty="0">
                <a:solidFill>
                  <a:srgbClr val="0F766E"/>
                </a:solidFill>
              </a:rPr>
              <a:t>Omission with an end date — </a:t>
            </a:r>
            <a:r>
              <a:rPr lang="en-US" sz="1400" dirty="0">
                <a:solidFill>
                  <a:schemeClr val="tx2"/>
                </a:solidFill>
              </a:rPr>
              <a:t>the CISO, recorded in the configuration file with its expiry</a:t>
            </a:r>
            <a:endParaRPr lang="en-US" sz="1400" dirty="0"/>
          </a:p>
        </p:txBody>
      </p:sp>
      <p:sp>
        <p:nvSpPr>
          <p:cNvPr id="23" name="Gate 2">
            <a:extLst>
              <a:ext uri="{C183D7F6-B498-43B3-948B-1728B52AA6E4}">
                <adec:decorative xmlns:adec="http://schemas.microsoft.com/office/drawing/2017/decorative" val="1"/>
              </a:ext>
            </a:extLst>
          </p:cNvPr>
          <p:cNvSpPr/>
          <p:nvPr/>
        </p:nvSpPr>
        <p:spPr>
          <a:xfrm>
            <a:off x="4297680" y="4389120"/>
            <a:ext cx="3611880" cy="1463040"/>
          </a:xfrm>
          <a:prstGeom prst="roundRect">
            <a:avLst>
              <a:gd name="adj" fmla="val 50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4" name="Gate 2 text"/>
          <p:cNvSpPr txBox="1"/>
          <p:nvPr/>
        </p:nvSpPr>
        <p:spPr>
          <a:xfrm>
            <a:off x="4498848" y="4462272"/>
            <a:ext cx="3246120" cy="1316736"/>
          </a:xfrm>
          <a:prstGeom prst="rect">
            <a:avLst/>
          </a:prstGeom>
          <a:noFill/>
          <a:ln/>
        </p:spPr>
        <p:txBody>
          <a:bodyPr wrap="square" lIns="0" tIns="0" rIns="0" bIns="0" rtlCol="0" anchor="ctr"/>
          <a:lstStyle/>
          <a:p>
            <a:pPr marL="0" indent="0">
              <a:buNone/>
            </a:pPr>
            <a:r>
              <a:rPr lang="en-US" sz="1400" b="1" dirty="0">
                <a:solidFill>
                  <a:srgbClr val="1F2A44"/>
                </a:solidFill>
              </a:rPr>
              <a:t>Exception with no end date — </a:t>
            </a:r>
            <a:r>
              <a:rPr lang="en-US" sz="1400" dirty="0">
                <a:solidFill>
                  <a:schemeClr val="tx2"/>
                </a:solidFill>
              </a:rPr>
              <a:t>the authorizing official: a standing risk acceptance</a:t>
            </a:r>
            <a:endParaRPr lang="en-US" sz="1400" dirty="0"/>
          </a:p>
        </p:txBody>
      </p:sp>
      <p:sp>
        <p:nvSpPr>
          <p:cNvPr id="25" name="Gate 3">
            <a:extLst>
              <a:ext uri="{C183D7F6-B498-43B3-948B-1728B52AA6E4}">
                <adec:decorative xmlns:adec="http://schemas.microsoft.com/office/drawing/2017/decorative" val="1"/>
              </a:ext>
            </a:extLst>
          </p:cNvPr>
          <p:cNvSpPr/>
          <p:nvPr/>
        </p:nvSpPr>
        <p:spPr>
          <a:xfrm>
            <a:off x="8046720" y="4389120"/>
            <a:ext cx="3611880" cy="1463040"/>
          </a:xfrm>
          <a:prstGeom prst="roundRect">
            <a:avLst>
              <a:gd name="adj" fmla="val 5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6" name="Gate 3 text"/>
          <p:cNvSpPr txBox="1"/>
          <p:nvPr/>
        </p:nvSpPr>
        <p:spPr>
          <a:xfrm>
            <a:off x="8247888" y="4462272"/>
            <a:ext cx="3246120" cy="1316736"/>
          </a:xfrm>
          <a:prstGeom prst="rect">
            <a:avLst/>
          </a:prstGeom>
          <a:noFill/>
          <a:ln/>
        </p:spPr>
        <p:txBody>
          <a:bodyPr wrap="square" lIns="0" tIns="0" rIns="0" bIns="0" rtlCol="0" anchor="ctr"/>
          <a:lstStyle/>
          <a:p>
            <a:pPr marL="0" indent="0">
              <a:buNone/>
            </a:pPr>
            <a:r>
              <a:rPr lang="en-US" sz="1400" b="1" dirty="0">
                <a:solidFill>
                  <a:srgbClr val="B91C1C"/>
                </a:solidFill>
              </a:rPr>
              <a:t>A native tool's score — </a:t>
            </a:r>
            <a:r>
              <a:rPr lang="en-US" sz="1400" dirty="0">
                <a:solidFill>
                  <a:schemeClr val="tx2"/>
                </a:solidFill>
              </a:rPr>
              <a:t>the program lead admits it as evidence for its platform, never as the agency's score</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NIST SP 800-37 Rev. 2, Appendix D; CISA BOD 25-01; ScubaGear v1.8.0 configuration file documentation; OMB M-26-14. Book 11, Chapter 07.</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44A98832-18FD-9DD9-E017-85471E5240C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3F548D6-4706-4F6B-93EC-4F76800C82F6}"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3810"/>
    </mc:Choice>
    <mc:Fallback>
      <p:transition spd="slow" advTm="638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2808"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Close before you assess: assessors run at step five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hase 1">
            <a:extLst>
              <a:ext uri="{C183D7F6-B498-43B3-948B-1728B52AA6E4}">
                <adec:decorative xmlns:adec="http://schemas.microsoft.com/office/drawing/2017/decorative" val="1"/>
              </a:ext>
            </a:extLst>
          </p:cNvPr>
          <p:cNvSpPr/>
          <p:nvPr/>
        </p:nvSpPr>
        <p:spPr>
          <a:xfrm>
            <a:off x="548640" y="1371600"/>
            <a:ext cx="1756410"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Phase 1 text"/>
          <p:cNvSpPr txBox="1"/>
          <p:nvPr/>
        </p:nvSpPr>
        <p:spPr>
          <a:xfrm>
            <a:off x="65836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marL="0" indent="0">
              <a:buNone/>
            </a:pPr>
            <a:r>
              <a:rPr lang="en-US" sz="1400" b="1" dirty="0">
                <a:solidFill>
                  <a:srgbClr val="1F2A44"/>
                </a:solidFill>
              </a:rPr>
              <a:t>Understand</a:t>
            </a:r>
            <a:endParaRPr lang="en-US" sz="1400" dirty="0"/>
          </a:p>
          <a:p>
            <a:pPr marL="0" indent="0">
              <a:buNone/>
            </a:pPr>
            <a:r>
              <a:rPr lang="en-US" sz="1200" dirty="0">
                <a:solidFill>
                  <a:schemeClr val="tx2"/>
                </a:solidFill>
              </a:rPr>
              <a:t>Gaps and root causes</a:t>
            </a:r>
            <a:endParaRPr lang="en-US" sz="1400" dirty="0"/>
          </a:p>
        </p:txBody>
      </p:sp>
      <p:sp>
        <p:nvSpPr>
          <p:cNvPr id="7" name="Phase 2">
            <a:extLst>
              <a:ext uri="{C183D7F6-B498-43B3-948B-1728B52AA6E4}">
                <adec:decorative xmlns:adec="http://schemas.microsoft.com/office/drawing/2017/decorative" val="1"/>
              </a:ext>
            </a:extLst>
          </p:cNvPr>
          <p:cNvSpPr/>
          <p:nvPr/>
        </p:nvSpPr>
        <p:spPr>
          <a:xfrm>
            <a:off x="2419350" y="1371600"/>
            <a:ext cx="1756410"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8" name="Phase 2 text"/>
          <p:cNvSpPr txBox="1"/>
          <p:nvPr/>
        </p:nvSpPr>
        <p:spPr>
          <a:xfrm>
            <a:off x="252907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marL="0" indent="0">
              <a:buNone/>
            </a:pPr>
            <a:r>
              <a:rPr lang="en-US" sz="1400" b="1" dirty="0">
                <a:solidFill>
                  <a:srgbClr val="1F2A44"/>
                </a:solidFill>
              </a:rPr>
              <a:t>Design</a:t>
            </a:r>
            <a:endParaRPr lang="en-US" sz="1400" dirty="0"/>
          </a:p>
          <a:p>
            <a:pPr marL="0" indent="0">
              <a:buNone/>
            </a:pPr>
            <a:r>
              <a:rPr lang="en-US" sz="1200" dirty="0">
                <a:solidFill>
                  <a:schemeClr val="tx2"/>
                </a:solidFill>
              </a:rPr>
              <a:t>The closure pattern</a:t>
            </a:r>
            <a:endParaRPr lang="en-US" sz="1400" dirty="0"/>
          </a:p>
        </p:txBody>
      </p:sp>
      <p:sp>
        <p:nvSpPr>
          <p:cNvPr id="9" name="Phase 3">
            <a:extLst>
              <a:ext uri="{C183D7F6-B498-43B3-948B-1728B52AA6E4}">
                <adec:decorative xmlns:adec="http://schemas.microsoft.com/office/drawing/2017/decorative" val="1"/>
              </a:ext>
            </a:extLst>
          </p:cNvPr>
          <p:cNvSpPr/>
          <p:nvPr/>
        </p:nvSpPr>
        <p:spPr>
          <a:xfrm>
            <a:off x="4290060" y="1371600"/>
            <a:ext cx="1756410"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0" name="Phase 3 text"/>
          <p:cNvSpPr txBox="1"/>
          <p:nvPr/>
        </p:nvSpPr>
        <p:spPr>
          <a:xfrm>
            <a:off x="439978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marL="0" indent="0">
              <a:buNone/>
            </a:pPr>
            <a:r>
              <a:rPr lang="en-US" sz="1400" b="1" dirty="0">
                <a:solidFill>
                  <a:srgbClr val="1F2A44"/>
                </a:solidFill>
              </a:rPr>
              <a:t>Implement</a:t>
            </a:r>
            <a:endParaRPr lang="en-US" sz="1400" dirty="0"/>
          </a:p>
          <a:p>
            <a:pPr marL="0" indent="0">
              <a:buNone/>
            </a:pPr>
            <a:r>
              <a:rPr lang="en-US" sz="1200" dirty="0">
                <a:solidFill>
                  <a:schemeClr val="tx2"/>
                </a:solidFill>
              </a:rPr>
              <a:t>Runbooks, integrations</a:t>
            </a:r>
            <a:endParaRPr lang="en-US" sz="1400" dirty="0"/>
          </a:p>
        </p:txBody>
      </p:sp>
      <p:sp>
        <p:nvSpPr>
          <p:cNvPr id="11" name="Phase 4">
            <a:extLst>
              <a:ext uri="{C183D7F6-B498-43B3-948B-1728B52AA6E4}">
                <adec:decorative xmlns:adec="http://schemas.microsoft.com/office/drawing/2017/decorative" val="1"/>
              </a:ext>
            </a:extLst>
          </p:cNvPr>
          <p:cNvSpPr/>
          <p:nvPr/>
        </p:nvSpPr>
        <p:spPr>
          <a:xfrm>
            <a:off x="6160770" y="1371600"/>
            <a:ext cx="1756410"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2" name="Phase 4 text"/>
          <p:cNvSpPr txBox="1"/>
          <p:nvPr/>
        </p:nvSpPr>
        <p:spPr>
          <a:xfrm>
            <a:off x="627049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marL="0" indent="0">
              <a:buNone/>
            </a:pPr>
            <a:r>
              <a:rPr lang="en-US" sz="1400" b="1" dirty="0">
                <a:solidFill>
                  <a:srgbClr val="1F2A44"/>
                </a:solidFill>
              </a:rPr>
              <a:t>Govern</a:t>
            </a:r>
            <a:endParaRPr lang="en-US" sz="1400" dirty="0"/>
          </a:p>
          <a:p>
            <a:pPr marL="0" indent="0">
              <a:buNone/>
            </a:pPr>
            <a:r>
              <a:rPr lang="en-US" sz="1200" dirty="0">
                <a:solidFill>
                  <a:schemeClr val="tx2"/>
                </a:solidFill>
              </a:rPr>
              <a:t>Owners, POA&amp;Ms</a:t>
            </a:r>
            <a:endParaRPr lang="en-US" sz="1400" dirty="0"/>
          </a:p>
        </p:txBody>
      </p:sp>
      <p:sp>
        <p:nvSpPr>
          <p:cNvPr id="13" name="Phase 5">
            <a:extLst>
              <a:ext uri="{C183D7F6-B498-43B3-948B-1728B52AA6E4}">
                <adec:decorative xmlns:adec="http://schemas.microsoft.com/office/drawing/2017/decorative" val="1"/>
              </a:ext>
            </a:extLst>
          </p:cNvPr>
          <p:cNvSpPr/>
          <p:nvPr/>
        </p:nvSpPr>
        <p:spPr>
          <a:xfrm>
            <a:off x="8031480" y="1371600"/>
            <a:ext cx="1756410"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4" name="Phase 5 text"/>
          <p:cNvSpPr txBox="1"/>
          <p:nvPr/>
        </p:nvSpPr>
        <p:spPr>
          <a:xfrm>
            <a:off x="814120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marL="0" indent="0">
              <a:buNone/>
            </a:pPr>
            <a:r>
              <a:rPr lang="en-US" sz="1400" b="1" dirty="0">
                <a:solidFill>
                  <a:srgbClr val="1F2A44"/>
                </a:solidFill>
              </a:rPr>
              <a:t>Validate</a:t>
            </a:r>
            <a:endParaRPr lang="en-US" sz="1400" dirty="0"/>
          </a:p>
          <a:p>
            <a:pPr marL="0" indent="0">
              <a:buNone/>
            </a:pPr>
            <a:r>
              <a:rPr lang="en-US" sz="1200" dirty="0">
                <a:solidFill>
                  <a:schemeClr val="tx2"/>
                </a:solidFill>
              </a:rPr>
              <a:t>The assessors run here</a:t>
            </a:r>
            <a:endParaRPr lang="en-US" sz="1400" dirty="0"/>
          </a:p>
        </p:txBody>
      </p:sp>
      <p:sp>
        <p:nvSpPr>
          <p:cNvPr id="15" name="Phase 6">
            <a:extLst>
              <a:ext uri="{C183D7F6-B498-43B3-948B-1728B52AA6E4}">
                <adec:decorative xmlns:adec="http://schemas.microsoft.com/office/drawing/2017/decorative" val="1"/>
              </a:ext>
            </a:extLst>
          </p:cNvPr>
          <p:cNvSpPr/>
          <p:nvPr/>
        </p:nvSpPr>
        <p:spPr>
          <a:xfrm>
            <a:off x="9902190" y="1371600"/>
            <a:ext cx="1756410"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Phase 6 text"/>
          <p:cNvSpPr txBox="1"/>
          <p:nvPr/>
        </p:nvSpPr>
        <p:spPr>
          <a:xfrm>
            <a:off x="1001191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6</a:t>
            </a:r>
            <a:endParaRPr lang="en-US" sz="1400" dirty="0"/>
          </a:p>
          <a:p>
            <a:pPr marL="0" indent="0">
              <a:buNone/>
            </a:pPr>
            <a:r>
              <a:rPr lang="en-US" sz="1400" b="1" dirty="0">
                <a:solidFill>
                  <a:srgbClr val="1F2A44"/>
                </a:solidFill>
              </a:rPr>
              <a:t>Authorize</a:t>
            </a:r>
            <a:endParaRPr lang="en-US" sz="1400" dirty="0"/>
          </a:p>
          <a:p>
            <a:pPr marL="0" indent="0">
              <a:buNone/>
            </a:pPr>
            <a:r>
              <a:rPr lang="en-US" sz="1200" dirty="0">
                <a:solidFill>
                  <a:schemeClr val="tx2"/>
                </a:solidFill>
              </a:rPr>
              <a:t>The AO decides</a:t>
            </a:r>
            <a:endParaRPr lang="en-US" sz="1400" dirty="0"/>
          </a:p>
        </p:txBody>
      </p:sp>
      <p:sp>
        <p:nvSpPr>
          <p:cNvPr id="17"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Icon FaCubes">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20"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Build these layers first</a:t>
            </a:r>
            <a:endParaRPr lang="en-US" sz="1700" dirty="0"/>
          </a:p>
        </p:txBody>
      </p:sp>
      <p:sp>
        <p:nvSpPr>
          <p:cNvPr id="21"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Naming, addressing and certificates</a:t>
            </a:r>
            <a:endParaRPr lang="en-US" sz="1400" dirty="0"/>
          </a:p>
          <a:p>
            <a:pPr marL="342900" indent="-342900">
              <a:spcAft>
                <a:spcPts val="200"/>
              </a:spcAft>
              <a:buSzPct val="100000"/>
              <a:buChar char="•"/>
            </a:pPr>
            <a:r>
              <a:rPr lang="en-US" sz="1300" dirty="0">
                <a:solidFill>
                  <a:schemeClr val="tx2"/>
                </a:solidFill>
              </a:rPr>
              <a:t>Device and workload identity</a:t>
            </a:r>
            <a:endParaRPr lang="en-US" sz="1400" dirty="0"/>
          </a:p>
          <a:p>
            <a:pPr marL="342900" indent="-342900">
              <a:spcAft>
                <a:spcPts val="200"/>
              </a:spcAft>
              <a:buSzPct val="100000"/>
              <a:buChar char="•"/>
            </a:pPr>
            <a:r>
              <a:rPr lang="en-US" sz="1300" dirty="0">
                <a:solidFill>
                  <a:schemeClr val="tx2"/>
                </a:solidFill>
              </a:rPr>
              <a:t>Legacy authentication retired in phases</a:t>
            </a:r>
            <a:endParaRPr lang="en-US" sz="1400" dirty="0"/>
          </a:p>
          <a:p>
            <a:pPr marL="342900" indent="-342900">
              <a:spcAft>
                <a:spcPts val="200"/>
              </a:spcAft>
              <a:buSzPct val="100000"/>
              <a:buChar char="•"/>
            </a:pPr>
            <a:r>
              <a:rPr lang="en-US" sz="1300" dirty="0">
                <a:solidFill>
                  <a:schemeClr val="tx2"/>
                </a:solidFill>
              </a:rPr>
              <a:t>Exceptions governed, dated and owned</a:t>
            </a:r>
            <a:endParaRPr lang="en-US" sz="1400" dirty="0"/>
          </a:p>
        </p:txBody>
      </p:sp>
      <p:sp>
        <p:nvSpPr>
          <p:cNvPr id="22"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3" name="Icon FaListCheck">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5"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One response per finding</a:t>
            </a:r>
            <a:endParaRPr lang="en-US" sz="1700" dirty="0"/>
          </a:p>
        </p:txBody>
      </p:sp>
      <p:sp>
        <p:nvSpPr>
          <p:cNvPr id="26"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Configuration change: closes now</a:t>
            </a:r>
            <a:endParaRPr lang="en-US" sz="1400" dirty="0"/>
          </a:p>
          <a:p>
            <a:pPr marL="342900" indent="-342900">
              <a:spcAft>
                <a:spcPts val="200"/>
              </a:spcAft>
              <a:buSzPct val="100000"/>
              <a:buChar char="•"/>
            </a:pPr>
            <a:r>
              <a:rPr lang="en-US" sz="1300" dirty="0">
                <a:solidFill>
                  <a:schemeClr val="tx2"/>
                </a:solidFill>
              </a:rPr>
              <a:t>Architectural work: an owner and a date</a:t>
            </a:r>
            <a:endParaRPr lang="en-US" sz="1400" dirty="0"/>
          </a:p>
          <a:p>
            <a:pPr marL="342900" indent="-342900">
              <a:spcAft>
                <a:spcPts val="200"/>
              </a:spcAft>
              <a:buSzPct val="100000"/>
              <a:buChar char="•"/>
            </a:pPr>
            <a:r>
              <a:rPr lang="en-US" sz="1300" dirty="0">
                <a:solidFill>
                  <a:schemeClr val="tx2"/>
                </a:solidFill>
              </a:rPr>
              <a:t>Risk acceptance: the AO decides; marked Omitted</a:t>
            </a:r>
            <a:endParaRPr lang="en-US" sz="1400" dirty="0"/>
          </a:p>
          <a:p>
            <a:pPr marL="342900" indent="-342900">
              <a:spcAft>
                <a:spcPts val="200"/>
              </a:spcAft>
              <a:buSzPct val="100000"/>
              <a:buChar char="•"/>
            </a:pPr>
            <a:r>
              <a:rPr lang="en-US" sz="1300" dirty="0">
                <a:solidFill>
                  <a:schemeClr val="tx2"/>
                </a:solidFill>
              </a:rPr>
              <a:t>No response recorded: the only failure</a:t>
            </a:r>
            <a:endParaRPr lang="en-US" sz="1400" dirty="0"/>
          </a:p>
        </p:txBody>
      </p:sp>
      <p:sp>
        <p:nvSpPr>
          <p:cNvPr id="27" name="Thermomete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8" name="Icon FaChartLine">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29"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30" name="Thermometer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B45309"/>
                </a:solidFill>
              </a:rPr>
              <a:t>A thermometer isn't a treatment plan: </a:t>
            </a:r>
            <a:r>
              <a:rPr lang="en-US" sz="1650" dirty="0">
                <a:solidFill>
                  <a:schemeClr val="tx2"/>
                </a:solidFill>
              </a:rPr>
              <a:t>ScubaGear measures deviation and closes none. Run it as the program before the architecture exists and it reports the same growing list to CISA, faithfully, indefinitely.</a:t>
            </a:r>
            <a:endParaRPr lang="en-US" sz="1650" dirty="0"/>
          </a:p>
        </p:txBody>
      </p:sp>
      <p:sp>
        <p:nvSpPr>
          <p:cNvPr id="3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25-01 and Implementation Guidance; NIST SP 800-37 Rev. 2; ScubaGear v1.8.0 Exchange Online baseline; Microsoft Learn — Zero Trust Assessment. Book 11, Chapter 08.</a:t>
            </a:r>
            <a:endParaRPr lang="en-US" sz="1000" dirty="0"/>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33" name="Narration" descr="Narration for this slide; captions available">
            <a:hlinkClick r:id="" action="ppaction://media"/>
            <a:extLst>
              <a:ext uri="{FF2B5EF4-FFF2-40B4-BE49-F238E27FC236}">
                <a16:creationId xmlns:a16="http://schemas.microsoft.com/office/drawing/2014/main" id="{6DEEDCD7-42B9-071B-4343-B3B51342B12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9E0325C-A9CB-4E38-81F3-C2F90009998C}"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2620"/>
    </mc:Choice>
    <mc:Fallback>
      <p:transition spd="slow" advTm="72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1616"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Run the assessment: pin it, record it, never edit it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rep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FIVE DECISIONS BEFORE THE FIRST RUN</a:t>
            </a:r>
            <a:endParaRPr lang="en-US" sz="1200" dirty="0"/>
          </a:p>
        </p:txBody>
      </p:sp>
      <p:sp>
        <p:nvSpPr>
          <p:cNvPr id="6" name="Prep 0">
            <a:extLst>
              <a:ext uri="{C183D7F6-B498-43B3-948B-1728B52AA6E4}">
                <adec:decorative xmlns:adec="http://schemas.microsoft.com/office/drawing/2017/decorative" val="1"/>
              </a:ext>
            </a:extLst>
          </p:cNvPr>
          <p:cNvSpPr/>
          <p:nvPr/>
        </p:nvSpPr>
        <p:spPr>
          <a:xfrm>
            <a:off x="548640" y="1755648"/>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Prep 0 text"/>
          <p:cNvSpPr txBox="1"/>
          <p:nvPr/>
        </p:nvSpPr>
        <p:spPr>
          <a:xfrm>
            <a:off x="731520" y="1755648"/>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Scope   </a:t>
            </a:r>
            <a:r>
              <a:rPr lang="en-US" sz="1400" dirty="0">
                <a:solidFill>
                  <a:schemeClr val="tx2"/>
                </a:solidFill>
              </a:rPr>
              <a:t>The BOD 25-01 tenant inventory</a:t>
            </a:r>
            <a:endParaRPr lang="en-US" sz="1400" dirty="0"/>
          </a:p>
        </p:txBody>
      </p:sp>
      <p:sp>
        <p:nvSpPr>
          <p:cNvPr id="8" name="Prep 1">
            <a:extLst>
              <a:ext uri="{C183D7F6-B498-43B3-948B-1728B52AA6E4}">
                <adec:decorative xmlns:adec="http://schemas.microsoft.com/office/drawing/2017/decorative" val="1"/>
              </a:ext>
            </a:extLst>
          </p:cNvPr>
          <p:cNvSpPr/>
          <p:nvPr/>
        </p:nvSpPr>
        <p:spPr>
          <a:xfrm>
            <a:off x="548640" y="2359152"/>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Prep 1 text"/>
          <p:cNvSpPr txBox="1"/>
          <p:nvPr/>
        </p:nvSpPr>
        <p:spPr>
          <a:xfrm>
            <a:off x="731520" y="2359152"/>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Host   </a:t>
            </a:r>
            <a:r>
              <a:rPr lang="en-US" sz="1400" dirty="0">
                <a:solidFill>
                  <a:schemeClr val="tx2"/>
                </a:solidFill>
              </a:rPr>
              <a:t>Dedicated Windows hosts inside the boundary</a:t>
            </a:r>
            <a:endParaRPr lang="en-US" sz="1400" dirty="0"/>
          </a:p>
        </p:txBody>
      </p:sp>
      <p:sp>
        <p:nvSpPr>
          <p:cNvPr id="10" name="Prep 2">
            <a:extLst>
              <a:ext uri="{C183D7F6-B498-43B3-948B-1728B52AA6E4}">
                <adec:decorative xmlns:adec="http://schemas.microsoft.com/office/drawing/2017/decorative" val="1"/>
              </a:ext>
            </a:extLst>
          </p:cNvPr>
          <p:cNvSpPr/>
          <p:nvPr/>
        </p:nvSpPr>
        <p:spPr>
          <a:xfrm>
            <a:off x="548640" y="2962656"/>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Prep 2 text"/>
          <p:cNvSpPr txBox="1"/>
          <p:nvPr/>
        </p:nvSpPr>
        <p:spPr>
          <a:xfrm>
            <a:off x="731520" y="2962656"/>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Accounts   </a:t>
            </a:r>
            <a:r>
              <a:rPr lang="en-US" sz="1400" dirty="0">
                <a:solidFill>
                  <a:schemeClr val="tx2"/>
                </a:solidFill>
              </a:rPr>
              <a:t>Reader accounts; consent granted separately</a:t>
            </a:r>
            <a:endParaRPr lang="en-US" sz="1400" dirty="0"/>
          </a:p>
        </p:txBody>
      </p:sp>
      <p:sp>
        <p:nvSpPr>
          <p:cNvPr id="12" name="Prep 3">
            <a:extLst>
              <a:ext uri="{C183D7F6-B498-43B3-948B-1728B52AA6E4}">
                <adec:decorative xmlns:adec="http://schemas.microsoft.com/office/drawing/2017/decorative" val="1"/>
              </a:ext>
            </a:extLst>
          </p:cNvPr>
          <p:cNvSpPr/>
          <p:nvPr/>
        </p:nvSpPr>
        <p:spPr>
          <a:xfrm>
            <a:off x="548640" y="3566160"/>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Prep 3 text"/>
          <p:cNvSpPr txBox="1"/>
          <p:nvPr/>
        </p:nvSpPr>
        <p:spPr>
          <a:xfrm>
            <a:off x="731520" y="3566160"/>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Output   </a:t>
            </a:r>
            <a:r>
              <a:rPr lang="en-US" sz="1400" dirty="0">
                <a:solidFill>
                  <a:schemeClr val="tx2"/>
                </a:solidFill>
              </a:rPr>
              <a:t>Controlled data, moved unaltered</a:t>
            </a:r>
            <a:endParaRPr lang="en-US" sz="1400" dirty="0"/>
          </a:p>
        </p:txBody>
      </p:sp>
      <p:sp>
        <p:nvSpPr>
          <p:cNvPr id="14" name="Prep 4">
            <a:extLst>
              <a:ext uri="{C183D7F6-B498-43B3-948B-1728B52AA6E4}">
                <adec:decorative xmlns:adec="http://schemas.microsoft.com/office/drawing/2017/decorative" val="1"/>
              </a:ext>
            </a:extLst>
          </p:cNvPr>
          <p:cNvSpPr/>
          <p:nvPr/>
        </p:nvSpPr>
        <p:spPr>
          <a:xfrm>
            <a:off x="548640" y="4169664"/>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Prep 4 text"/>
          <p:cNvSpPr txBox="1"/>
          <p:nvPr/>
        </p:nvSpPr>
        <p:spPr>
          <a:xfrm>
            <a:off x="731520" y="4169664"/>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Logging   </a:t>
            </a:r>
            <a:r>
              <a:rPr lang="en-US" sz="1400" dirty="0">
                <a:solidFill>
                  <a:schemeClr val="tx2"/>
                </a:solidFill>
              </a:rPr>
              <a:t>Assessment accounts in the logging plan</a:t>
            </a:r>
            <a:endParaRPr lang="en-US" sz="1400" dirty="0"/>
          </a:p>
        </p:txBody>
      </p:sp>
      <p:sp>
        <p:nvSpPr>
          <p:cNvPr id="16" name="Run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7" name="Icon FaFileShield">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9" name="Run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THE RUN ITSELF</a:t>
            </a:r>
            <a:endParaRPr lang="en-US" sz="1400" dirty="0"/>
          </a:p>
          <a:p>
            <a:pPr marL="0" indent="0">
              <a:buNone/>
            </a:pPr>
            <a:r>
              <a:rPr lang="en-US" sz="1800" b="1" dirty="0">
                <a:solidFill>
                  <a:srgbClr val="0F766E"/>
                </a:solidFill>
                <a:latin typeface="Cambria" pitchFamily="34" charset="0"/>
                <a:ea typeface="Cambria" pitchFamily="34" charset="-122"/>
                <a:cs typeface="Cambria" pitchFamily="34" charset="-120"/>
              </a:rPr>
              <a:t>The config file is the exception record</a:t>
            </a:r>
            <a:endParaRPr lang="en-US" sz="1400" dirty="0"/>
          </a:p>
        </p:txBody>
      </p:sp>
      <p:sp>
        <p:nvSpPr>
          <p:cNvPr id="20" name="Run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Annotations, omissions with expiry dates, exclusions</a:t>
            </a:r>
            <a:endParaRPr lang="en-US" sz="1400" dirty="0"/>
          </a:p>
          <a:p>
            <a:pPr marL="342900" indent="-342900">
              <a:spcAft>
                <a:spcPts val="600"/>
              </a:spcAft>
              <a:buSzPct val="100000"/>
              <a:buChar char="•"/>
            </a:pPr>
            <a:r>
              <a:rPr lang="en-US" sz="1400" dirty="0">
                <a:solidFill>
                  <a:schemeClr val="tx2"/>
                </a:solidFill>
              </a:rPr>
              <a:t>Versioned in the repository; hashed with every run</a:t>
            </a:r>
            <a:endParaRPr lang="en-US" sz="1400" dirty="0"/>
          </a:p>
          <a:p>
            <a:pPr marL="342900" indent="-342900">
              <a:spcAft>
                <a:spcPts val="600"/>
              </a:spcAft>
              <a:buSzPct val="100000"/>
              <a:buChar char="•"/>
            </a:pPr>
            <a:r>
              <a:rPr lang="en-US" sz="1400" dirty="0">
                <a:solidFill>
                  <a:schemeClr val="tx2"/>
                </a:solidFill>
              </a:rPr>
              <a:t>ScubaResults JSON is never renamed or edited</a:t>
            </a:r>
            <a:endParaRPr lang="en-US" sz="1400" dirty="0"/>
          </a:p>
          <a:p>
            <a:pPr marL="342900" indent="-342900">
              <a:spcAft>
                <a:spcPts val="600"/>
              </a:spcAft>
              <a:buSzPct val="100000"/>
              <a:buChar char="•"/>
            </a:pPr>
            <a:r>
              <a:rPr lang="en-US" sz="1400" dirty="0">
                <a:solidFill>
                  <a:schemeClr val="tx2"/>
                </a:solidFill>
              </a:rPr>
              <a:t>Zero Trust Assessment: a skipped check isn't a pass</a:t>
            </a:r>
            <a:endParaRPr lang="en-US" sz="1400" dirty="0"/>
          </a:p>
        </p:txBody>
      </p:sp>
      <p:sp>
        <p:nvSpPr>
          <p:cNvPr id="21" name="Toolkit">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2" name="Icon FaTriangleExclamation">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50485"/>
            <a:ext cx="380390" cy="380390"/>
          </a:xfrm>
          <a:prstGeom prst="rect">
            <a:avLst/>
          </a:prstGeom>
        </p:spPr>
      </p:pic>
      <p:sp>
        <p:nvSpPr>
          <p:cNvPr id="24" name="Toolkit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B91C1C"/>
                </a:solidFill>
              </a:rPr>
              <a:t>Install the toolkit only from the program's repository: </a:t>
            </a:r>
            <a:r>
              <a:rPr lang="en-US" sz="1650" dirty="0">
                <a:solidFill>
                  <a:schemeClr val="tx2"/>
                </a:solidFill>
              </a:rPr>
              <a:t>never “pip install fmp.” The fmp package on the public index is an unrelated import formatter, and it would run someone else's code on a host holding tenant data.</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ScubaGear v1.8.0 documentation (dependencies, configuration file, reports); BOD 25-01 Implementation Guidance; Zero Trust Assessment guide; OMB M-26-14; CISA Logging Reference Architecture; PyPI. Book 11, Chapter 09.</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75863977-D8C4-3562-6844-6A5797721E8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3BB93B8-F00D-42D5-82C1-87B1440687A8}"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5570"/>
    </mc:Choice>
    <mc:Fallback>
      <p:transition spd="slow" advTm="755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4568"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Ingest the evidence: four stages to OSCAL</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age 1">
            <a:extLst>
              <a:ext uri="{C183D7F6-B498-43B3-948B-1728B52AA6E4}">
                <adec:decorative xmlns:adec="http://schemas.microsoft.com/office/drawing/2017/decorative" val="1"/>
              </a:ext>
            </a:extLst>
          </p:cNvPr>
          <p:cNvSpPr/>
          <p:nvPr/>
        </p:nvSpPr>
        <p:spPr>
          <a:xfrm>
            <a:off x="548640" y="1371600"/>
            <a:ext cx="2691765"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Stage 1 text"/>
          <p:cNvSpPr txBox="1"/>
          <p:nvPr/>
        </p:nvSpPr>
        <p:spPr>
          <a:xfrm>
            <a:off x="658368"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marL="0" indent="0">
              <a:buNone/>
            </a:pPr>
            <a:r>
              <a:rPr lang="en-US" sz="1400" b="1" dirty="0">
                <a:solidFill>
                  <a:srgbClr val="1F2A44"/>
                </a:solidFill>
              </a:rPr>
              <a:t>Tool run</a:t>
            </a:r>
            <a:endParaRPr lang="en-US" sz="1400" dirty="0"/>
          </a:p>
          <a:p>
            <a:pPr marL="0" indent="0">
              <a:buNone/>
            </a:pPr>
            <a:r>
              <a:rPr lang="en-US" sz="1200" dirty="0">
                <a:solidFill>
                  <a:schemeClr val="tx2"/>
                </a:solidFill>
              </a:rPr>
              <a:t>Unaltered output</a:t>
            </a:r>
            <a:endParaRPr lang="en-US" sz="1400" dirty="0"/>
          </a:p>
        </p:txBody>
      </p:sp>
      <p:sp>
        <p:nvSpPr>
          <p:cNvPr id="7" name="Stage 2">
            <a:extLst>
              <a:ext uri="{C183D7F6-B498-43B3-948B-1728B52AA6E4}">
                <adec:decorative xmlns:adec="http://schemas.microsoft.com/office/drawing/2017/decorative" val="1"/>
              </a:ext>
            </a:extLst>
          </p:cNvPr>
          <p:cNvSpPr/>
          <p:nvPr/>
        </p:nvSpPr>
        <p:spPr>
          <a:xfrm>
            <a:off x="3354705" y="1371600"/>
            <a:ext cx="2691765"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Stage 2 text"/>
          <p:cNvSpPr txBox="1"/>
          <p:nvPr/>
        </p:nvSpPr>
        <p:spPr>
          <a:xfrm>
            <a:off x="3464433"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marL="0" indent="0">
              <a:buNone/>
            </a:pPr>
            <a:r>
              <a:rPr lang="en-US" sz="1400" b="1" dirty="0">
                <a:solidFill>
                  <a:srgbClr val="1F2A44"/>
                </a:solidFill>
              </a:rPr>
              <a:t>Claim</a:t>
            </a:r>
            <a:endParaRPr lang="en-US" sz="1400" dirty="0"/>
          </a:p>
          <a:p>
            <a:pPr marL="0" indent="0">
              <a:buNone/>
            </a:pPr>
            <a:r>
              <a:rPr lang="en-US" sz="1200" dirty="0">
                <a:solidFill>
                  <a:schemeClr val="tx2"/>
                </a:solidFill>
              </a:rPr>
              <a:t>Provenance envelope</a:t>
            </a:r>
            <a:endParaRPr lang="en-US" sz="1400" dirty="0"/>
          </a:p>
        </p:txBody>
      </p:sp>
      <p:sp>
        <p:nvSpPr>
          <p:cNvPr id="9" name="Stage 3">
            <a:extLst>
              <a:ext uri="{C183D7F6-B498-43B3-948B-1728B52AA6E4}">
                <adec:decorative xmlns:adec="http://schemas.microsoft.com/office/drawing/2017/decorative" val="1"/>
              </a:ext>
            </a:extLst>
          </p:cNvPr>
          <p:cNvSpPr/>
          <p:nvPr/>
        </p:nvSpPr>
        <p:spPr>
          <a:xfrm>
            <a:off x="6160770" y="1371600"/>
            <a:ext cx="2691765"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Stage 3 text"/>
          <p:cNvSpPr txBox="1"/>
          <p:nvPr/>
        </p:nvSpPr>
        <p:spPr>
          <a:xfrm>
            <a:off x="6270498"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marL="0" indent="0">
              <a:buNone/>
            </a:pPr>
            <a:r>
              <a:rPr lang="en-US" sz="1400" b="1" dirty="0">
                <a:solidFill>
                  <a:srgbClr val="1F2A44"/>
                </a:solidFill>
              </a:rPr>
              <a:t>Bundle and seal</a:t>
            </a:r>
            <a:endParaRPr lang="en-US" sz="1400" dirty="0"/>
          </a:p>
          <a:p>
            <a:pPr marL="0" indent="0">
              <a:buNone/>
            </a:pPr>
            <a:r>
              <a:rPr lang="en-US" sz="1200" dirty="0">
                <a:solidFill>
                  <a:schemeClr val="tx2"/>
                </a:solidFill>
              </a:rPr>
              <a:t>Deterministic, hashed</a:t>
            </a:r>
            <a:endParaRPr lang="en-US" sz="1400" dirty="0"/>
          </a:p>
        </p:txBody>
      </p:sp>
      <p:sp>
        <p:nvSpPr>
          <p:cNvPr id="11" name="Stage 4">
            <a:extLst>
              <a:ext uri="{C183D7F6-B498-43B3-948B-1728B52AA6E4}">
                <adec:decorative xmlns:adec="http://schemas.microsoft.com/office/drawing/2017/decorative" val="1"/>
              </a:ext>
            </a:extLst>
          </p:cNvPr>
          <p:cNvSpPr/>
          <p:nvPr/>
        </p:nvSpPr>
        <p:spPr>
          <a:xfrm>
            <a:off x="8966835" y="1371600"/>
            <a:ext cx="2691765"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Stage 4 text"/>
          <p:cNvSpPr txBox="1"/>
          <p:nvPr/>
        </p:nvSpPr>
        <p:spPr>
          <a:xfrm>
            <a:off x="9076563"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marL="0" indent="0">
              <a:buNone/>
            </a:pPr>
            <a:r>
              <a:rPr lang="en-US" sz="1400" b="1" dirty="0">
                <a:solidFill>
                  <a:srgbClr val="1F2A44"/>
                </a:solidFill>
              </a:rPr>
              <a:t>OSCAL artifact</a:t>
            </a:r>
            <a:endParaRPr lang="en-US" sz="1400" dirty="0"/>
          </a:p>
          <a:p>
            <a:pPr marL="0" indent="0">
              <a:buNone/>
            </a:pPr>
            <a:r>
              <a:rPr lang="en-US" sz="1200" dirty="0">
                <a:solidFill>
                  <a:schemeClr val="tx2"/>
                </a:solidFill>
              </a:rPr>
              <a:t>Observations; POA&amp;M items</a:t>
            </a:r>
            <a:endParaRPr lang="en-US" sz="1400" dirty="0"/>
          </a:p>
        </p:txBody>
      </p:sp>
      <p:sp>
        <p:nvSpPr>
          <p:cNvPr id="13"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Icon FaFingerprint">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16"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One finding, traced</a:t>
            </a:r>
            <a:endParaRPr lang="en-US" sz="1700" dirty="0"/>
          </a:p>
        </p:txBody>
      </p:sp>
      <p:sp>
        <p:nvSpPr>
          <p:cNvPr id="17"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MS.AAD.1.1v1 fails; CISA maps it to CM-7</a:t>
            </a:r>
            <a:endParaRPr lang="en-US" sz="1400" dirty="0"/>
          </a:p>
          <a:p>
            <a:pPr marL="342900" indent="-342900">
              <a:spcAft>
                <a:spcPts val="200"/>
              </a:spcAft>
              <a:buSzPct val="100000"/>
              <a:buChar char="•"/>
            </a:pPr>
            <a:r>
              <a:rPr lang="en-US" sz="1300" dirty="0">
                <a:solidFill>
                  <a:schemeClr val="tx2"/>
                </a:solidFill>
              </a:rPr>
              <a:t>Claim carries a SHA-256 lineage hash</a:t>
            </a:r>
            <a:endParaRPr lang="en-US" sz="1400" dirty="0"/>
          </a:p>
          <a:p>
            <a:pPr marL="342900" indent="-342900">
              <a:spcAft>
                <a:spcPts val="200"/>
              </a:spcAft>
              <a:buSzPct val="100000"/>
              <a:buChar char="•"/>
            </a:pPr>
            <a:r>
              <a:rPr lang="en-US" sz="1300" dirty="0">
                <a:solidFill>
                  <a:schemeClr val="tx2"/>
                </a:solidFill>
              </a:rPr>
              <a:t>The bundle opens a POA&amp;M item, then seals</a:t>
            </a:r>
            <a:endParaRPr lang="en-US" sz="1400" dirty="0"/>
          </a:p>
          <a:p>
            <a:pPr marL="342900" indent="-342900">
              <a:spcAft>
                <a:spcPts val="200"/>
              </a:spcAft>
              <a:buSzPct val="100000"/>
              <a:buChar char="•"/>
            </a:pPr>
            <a:r>
              <a:rPr lang="en-US" sz="1300" dirty="0">
                <a:solidFill>
                  <a:schemeClr val="tx2"/>
                </a:solidFill>
              </a:rPr>
              <a:t>An assessor walks back without re-running</a:t>
            </a:r>
            <a:endParaRPr lang="en-US" sz="1400" dirty="0"/>
          </a:p>
        </p:txBody>
      </p:sp>
      <p:sp>
        <p:nvSpPr>
          <p:cNvPr id="18"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9" name="Icon FaTriangleExclamation">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B91C1C"/>
          </a:solidFill>
          <a:ln w="12700">
            <a:solidFill>
              <a:srgbClr val="B91C1C"/>
            </a:solidFill>
            <a:prstDash val="solid"/>
          </a:ln>
        </p:spPr>
      </p:sp>
      <p:pic>
        <p:nvPicPr>
          <p:cNvPr id="2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1"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Limits, stated</a:t>
            </a:r>
            <a:endParaRPr lang="en-US" sz="1700" dirty="0"/>
          </a:p>
        </p:txBody>
      </p:sp>
      <p:sp>
        <p:nvSpPr>
          <p:cNvPr id="22"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Same inputs give a byte-identical bundle</a:t>
            </a:r>
            <a:endParaRPr lang="en-US" sz="1400" dirty="0"/>
          </a:p>
          <a:p>
            <a:pPr marL="342900" indent="-342900">
              <a:spcAft>
                <a:spcPts val="200"/>
              </a:spcAft>
              <a:buSzPct val="100000"/>
              <a:buChar char="•"/>
            </a:pPr>
            <a:r>
              <a:rPr lang="en-US" sz="1300" dirty="0">
                <a:solidFill>
                  <a:schemeClr val="tx2"/>
                </a:solidFill>
              </a:rPr>
              <a:t>Interval evidence, not continuous capture</a:t>
            </a:r>
            <a:endParaRPr lang="en-US" sz="1400" dirty="0"/>
          </a:p>
          <a:p>
            <a:pPr marL="342900" indent="-342900">
              <a:spcAft>
                <a:spcPts val="200"/>
              </a:spcAft>
              <a:buSzPct val="100000"/>
              <a:buChar char="•"/>
            </a:pPr>
            <a:r>
              <a:rPr lang="en-US" sz="1300" dirty="0">
                <a:solidFill>
                  <a:schemeClr val="tx2"/>
                </a:solidFill>
              </a:rPr>
              <a:t>No ScubaGoggles adapter: Workspace is a gap</a:t>
            </a:r>
            <a:endParaRPr lang="en-US" sz="1400" dirty="0"/>
          </a:p>
          <a:p>
            <a:pPr marL="342900" indent="-342900">
              <a:spcAft>
                <a:spcPts val="200"/>
              </a:spcAft>
              <a:buSzPct val="100000"/>
              <a:buChar char="•"/>
            </a:pPr>
            <a:r>
              <a:rPr lang="en-US" sz="1300" dirty="0">
                <a:solidFill>
                  <a:schemeClr val="tx2"/>
                </a:solidFill>
              </a:rPr>
              <a:t>Compare ZTA scores on one version only</a:t>
            </a:r>
            <a:endParaRPr lang="en-US" sz="1400" dirty="0"/>
          </a:p>
        </p:txBody>
      </p:sp>
      <p:sp>
        <p:nvSpPr>
          <p:cNvPr id="23" name="Opinion">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4" name="Icon FaLock">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0F766E"/>
          </a:solidFill>
          <a:ln w="12700">
            <a:solidFill>
              <a:srgbClr val="0F766E"/>
            </a:solidFill>
            <a:prstDash val="solid"/>
          </a:ln>
        </p:spPr>
      </p:sp>
      <p:pic>
        <p:nvPicPr>
          <p:cNvPr id="2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26" name="Opinion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0F766E"/>
                </a:solidFill>
              </a:rPr>
              <a:t>Evidence, not opinion: </a:t>
            </a:r>
            <a:r>
              <a:rPr lang="en-US" sz="1650" dirty="0">
                <a:solidFill>
                  <a:schemeClr val="tx2"/>
                </a:solidFill>
              </a:rPr>
              <a:t>an archived report is a point-in-time opinion. The same output, wrapped with its provenance and sealed into a bundle an assessor can rebuild months later, is evidence.</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ScubaGear tool output schema and SP 800-53 mappings; NIST OSCAL Layers and Models Reference; ScubaGoggles v1.0.0; Zero Trust Assessment 3.1.0. Book 11, Chapter 09.</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602F4CC7-D960-84CD-23C7-C2F31B2D472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03FADD5-BCE6-422F-BCF0-D3024ABEB776}"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8900"/>
    </mc:Choice>
    <mc:Fallback>
      <p:transition spd="slow" advTm="68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7896"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From findings to a program the AO can see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5544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ScubaGear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Zero Trust Assessment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How the program reads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Fail, Warning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Failed, Investigate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A 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manual check, not a pass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Error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Error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Absence of evidence; re-run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Skipped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Absence of evidence, with reason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Omitted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decision with an owner and expiry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core box">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TableList">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Score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Score, reconcile, own</a:t>
            </a:r>
            <a:endParaRPr lang="en-US" sz="1700" dirty="0"/>
          </a:p>
        </p:txBody>
      </p:sp>
      <p:sp>
        <p:nvSpPr>
          <p:cNvPr id="10" name="Score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Severity 0 to 100; priority is severity over effort</a:t>
            </a:r>
            <a:endParaRPr lang="en-US" sz="1400" dirty="0"/>
          </a:p>
          <a:p>
            <a:pPr marL="342900" indent="-342900">
              <a:spcAft>
                <a:spcPts val="600"/>
              </a:spcAft>
              <a:buSzPct val="100000"/>
              <a:buChar char="•"/>
            </a:pPr>
            <a:r>
              <a:rPr lang="en-US" sz="1350" dirty="0">
                <a:solidFill>
                  <a:schemeClr val="tx2"/>
                </a:solidFill>
              </a:rPr>
              <a:t>P1 at 50 or above, P2 at 30, P3 at 15, P4 above zero</a:t>
            </a:r>
            <a:endParaRPr lang="en-US" sz="1400" dirty="0"/>
          </a:p>
          <a:p>
            <a:pPr marL="342900" indent="-342900">
              <a:spcAft>
                <a:spcPts val="600"/>
              </a:spcAft>
              <a:buSzPct val="100000"/>
              <a:buChar char="•"/>
            </a:pPr>
            <a:r>
              <a:rPr lang="en-US" sz="1350" dirty="0">
                <a:solidFill>
                  <a:schemeClr val="tx2"/>
                </a:solidFill>
              </a:rPr>
              <a:t>Both tools reconciled to the same SP 800-53 control</a:t>
            </a:r>
            <a:endParaRPr lang="en-US" sz="1400" dirty="0"/>
          </a:p>
          <a:p>
            <a:pPr marL="342900" indent="-342900">
              <a:spcAft>
                <a:spcPts val="600"/>
              </a:spcAft>
              <a:buSzPct val="100000"/>
              <a:buChar char="•"/>
            </a:pPr>
            <a:r>
              <a:rPr lang="en-US" sz="1350" dirty="0">
                <a:solidFill>
                  <a:schemeClr val="tx2"/>
                </a:solidFill>
              </a:rPr>
              <a:t>Unfixed, unexcepted findings become POA&amp;M items</a:t>
            </a:r>
            <a:endParaRPr lang="en-US" sz="1400" dirty="0"/>
          </a:p>
        </p:txBody>
      </p:sp>
      <p:sp>
        <p:nvSpPr>
          <p:cNvPr id="11" name="Drift">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ArrowsRotate">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5" name="Drift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Drift goes to the authorizing official: </a:t>
            </a:r>
            <a:r>
              <a:rPr lang="en-US" sz="1650" dirty="0">
                <a:solidFill>
                  <a:schemeClr val="tx2"/>
                </a:solidFill>
              </a:rPr>
              <a:t>a control that passed every interval and failed the last one is a change to an authorized system. Re-run after every remediation wave, so evidence, not a ticket, closes a finding.</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ScubaGear tool output schema and configuration file; Zero Trust Assessment status code and terminology; NIST SP 800-53 (CA-5, CA-7, RA-7); SP 800-37 Rev. 2; BOD 25-01 Implementation Guidance. Book 11,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6EBC7EBD-CB4A-8FC0-EFF9-F597C4098F0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BE2EF64-7616-4903-B8C9-9812A4467116}"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1660"/>
    </mc:Choice>
    <mc:Fallback>
      <p:transition spd="slow" advTm="71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065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sk 1">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UserCheck">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marL="0" indent="0">
              <a:buNone/>
            </a:pPr>
            <a:r>
              <a:rPr lang="en-US" sz="1800" b="1" dirty="0">
                <a:solidFill>
                  <a:srgbClr val="1F2A44"/>
                </a:solidFill>
                <a:latin typeface="Cambria" pitchFamily="34" charset="0"/>
                <a:ea typeface="Cambria" pitchFamily="34" charset="-122"/>
                <a:cs typeface="Cambria" pitchFamily="34" charset="-120"/>
              </a:rPr>
              <a:t>Name the posture owner</a:t>
            </a:r>
            <a:endParaRPr lang="en-US" sz="1400" dirty="0"/>
          </a:p>
          <a:p>
            <a:pPr marL="0" indent="0">
              <a:buNone/>
            </a:pPr>
            <a:r>
              <a:rPr lang="en-US" sz="1450" dirty="0">
                <a:solidFill>
                  <a:schemeClr val="tx2"/>
                </a:solidFill>
              </a:rPr>
              <a:t>A program lead separate from every cloud provider relationship</a:t>
            </a:r>
            <a:endParaRPr lang="en-US" sz="1400" dirty="0"/>
          </a:p>
        </p:txBody>
      </p:sp>
      <p:sp>
        <p:nvSpPr>
          <p:cNvPr id="9" name="Ask 2">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Icon FaSitemap">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marL="0" indent="0">
              <a:buNone/>
            </a:pPr>
            <a:r>
              <a:rPr lang="en-US" sz="1800" b="1" dirty="0">
                <a:solidFill>
                  <a:srgbClr val="0F766E"/>
                </a:solidFill>
                <a:latin typeface="Cambria" pitchFamily="34" charset="0"/>
                <a:ea typeface="Cambria" pitchFamily="34" charset="-122"/>
                <a:cs typeface="Cambria" pitchFamily="34" charset="-120"/>
              </a:rPr>
              <a:t>Reconcile before scoring</a:t>
            </a:r>
            <a:endParaRPr lang="en-US" sz="1400" dirty="0"/>
          </a:p>
          <a:p>
            <a:pPr marL="0" indent="0">
              <a:buNone/>
            </a:pPr>
            <a:r>
              <a:rPr lang="en-US" sz="1450" dirty="0">
                <a:solidFill>
                  <a:schemeClr val="tx2"/>
                </a:solidFill>
              </a:rPr>
              <a:t>The network, every cloud and the hypervisors to one record</a:t>
            </a:r>
            <a:endParaRPr lang="en-US" sz="1400" dirty="0"/>
          </a:p>
        </p:txBody>
      </p:sp>
      <p:sp>
        <p:nvSpPr>
          <p:cNvPr id="13" name="Ask 3">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Icon FaListCheck">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marL="0" indent="0">
              <a:buNone/>
            </a:pPr>
            <a:r>
              <a:rPr lang="en-US" sz="1800" b="1" dirty="0">
                <a:solidFill>
                  <a:srgbClr val="B45309"/>
                </a:solidFill>
                <a:latin typeface="Cambria" pitchFamily="34" charset="0"/>
                <a:ea typeface="Cambria" pitchFamily="34" charset="-122"/>
                <a:cs typeface="Cambria" pitchFamily="34" charset="-120"/>
              </a:rPr>
              <a:t>Close BOD 25-01 findings first</a:t>
            </a:r>
            <a:endParaRPr lang="en-US" sz="1400" dirty="0"/>
          </a:p>
          <a:p>
            <a:pPr marL="0" indent="0">
              <a:buNone/>
            </a:pPr>
            <a:r>
              <a:rPr lang="en-US" sz="1450" dirty="0">
                <a:solidFill>
                  <a:schemeClr val="tx2"/>
                </a:solidFill>
              </a:rPr>
              <a:t>Mandatory policies before maturity; Workspace by December 1, 2026</a:t>
            </a:r>
            <a:endParaRPr lang="en-US" sz="1400" dirty="0"/>
          </a:p>
        </p:txBody>
      </p:sp>
      <p:sp>
        <p:nvSpPr>
          <p:cNvPr id="17" name="Ask 4">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8" name="Icon FaScaleBalanced">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marL="0" indent="0">
              <a:buNone/>
            </a:pPr>
            <a:r>
              <a:rPr lang="en-US" sz="1800" b="1" dirty="0">
                <a:solidFill>
                  <a:srgbClr val="B91C1C"/>
                </a:solidFill>
                <a:latin typeface="Cambria" pitchFamily="34" charset="0"/>
                <a:ea typeface="Cambria" pitchFamily="34" charset="-122"/>
                <a:cs typeface="Cambria" pitchFamily="34" charset="-120"/>
              </a:rPr>
              <a:t>Put exceptions in the file</a:t>
            </a:r>
            <a:endParaRPr lang="en-US" sz="1400" dirty="0"/>
          </a:p>
          <a:p>
            <a:pPr marL="0" indent="0">
              <a:buNone/>
            </a:pPr>
            <a:r>
              <a:rPr lang="en-US" sz="1450" dirty="0">
                <a:solidFill>
                  <a:schemeClr val="tx2"/>
                </a:solidFill>
              </a:rPr>
              <a:t>With expirations; standing ones go to the authorizing official</a:t>
            </a:r>
            <a:endParaRPr lang="en-US" sz="1400" dirty="0"/>
          </a:p>
        </p:txBody>
      </p:sp>
      <p:sp>
        <p:nvSpPr>
          <p:cNvPr id="21" name="Next">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Icon FaClipboardCheck">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marL="0" indent="0">
              <a:buNone/>
            </a:pPr>
            <a:r>
              <a:rPr lang="en-US" sz="1650" b="1" dirty="0">
                <a:solidFill>
                  <a:srgbClr val="1F2A44"/>
                </a:solidFill>
              </a:rPr>
              <a:t>Next step, no procurement: </a:t>
            </a:r>
            <a:r>
              <a:rPr lang="en-US" sz="1650" dirty="0">
                <a:solidFill>
                  <a:schemeClr val="tx2"/>
                </a:solidFill>
              </a:rPr>
              <a:t>find out which pillar evidence can be re-run without the operator's help, since every no marks the adoption boundary, and put the assessment hosts and accounts in the Agency Logging Plan now.</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25-01 and Required Configurations; ScubaGear v1.8.0 configuration file; NIST SP 800-37 Rev. 2; OMB M-26-14. Book 11, Chapters 02, 06, 07, 08, 09 and 10.</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78B6F88D-4034-FB3E-0D81-84885888B8E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04D37C2-D456-4818-B06F-98D4291F0FA3}"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1430"/>
    </mc:Choice>
    <mc:Fallback>
      <p:transition spd="slow" advTm="61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432"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5455</Words>
  <Application>Microsoft Office PowerPoint</Application>
  <PresentationFormat>Widescreen</PresentationFormat>
  <Paragraphs>333</Paragraphs>
  <Slides>14</Slides>
  <Notes>14</Notes>
  <HiddenSlides>0</HiddenSlides>
  <MMClips>14</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Federal Modernization Workbook</vt:lpstr>
      <vt:lpstr>Why Is Zero Trust a Whole-Agency Property, Not a Product?</vt:lpstr>
      <vt:lpstr>Three reports stapled together are not one score</vt:lpstr>
      <vt:lpstr>Evidence, not verdicts: failures beneath any one tool</vt:lpstr>
      <vt:lpstr>Five governance principles, none of them a purchase</vt:lpstr>
      <vt:lpstr>Only one Zero Trust document sets requirements</vt:lpstr>
      <vt:lpstr>BOD 25-01: six actions and 50 required policies</vt:lpstr>
      <vt:lpstr>Two assessment tools answer two different questions</vt:lpstr>
      <vt:lpstr>Beyond Microsoft 365: networks, clouds, hypervisors</vt:lpstr>
      <vt:lpstr>Who owns the posture, not just the pillars</vt:lpstr>
      <vt:lpstr>Close before you assess: assessors run at step five</vt:lpstr>
      <vt:lpstr>Run the assessment: pin it, record it, never edit it</vt:lpstr>
      <vt:lpstr>Ingest the evidence: four stages to OSCAL</vt:lpstr>
      <vt:lpstr>From findings to a program the AO can see</vt:lpstr>
      <vt:lpstr>Decisions to make,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11 — Zero Trust &amp; Assessment</dc:title>
  <dc:subject>PptxGenJS Presentation</dc:subject>
  <dc:creator>Michael F. Stratton</dc:creator>
  <cp:lastModifiedBy>Michael F. Stratton</cp:lastModifiedBy>
  <cp:revision>2</cp:revision>
  <dcterms:created xsi:type="dcterms:W3CDTF">2026-10-21T16:41:09Z</dcterms:created>
  <dcterms:modified xsi:type="dcterms:W3CDTF">2026-10-22T22:32:43Z</dcterms:modified>
</cp:coreProperties>
</file>