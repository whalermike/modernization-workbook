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c728609-41f8-2ae3-54a8-4456a2b8271f}">
          <p14:sldIdLst>
            <p14:sldId id="256"/>
          </p14:sldIdLst>
        </p14:section>
        <p14:section name="Why" id="{c7e7d7e4-cbb0-b1dc-9226-f251a65e3493}">
          <p14:sldIdLst>
            <p14:sldId id="257"/>
            <p14:sldId id="258"/>
            <p14:sldId id="259"/>
          </p14:sldIdLst>
        </p14:section>
        <p14:section name="What" id="{b6b40bfd-ab90-9a4e-6365-34149a56061a}">
          <p14:sldIdLst>
            <p14:sldId id="260"/>
            <p14:sldId id="261"/>
            <p14:sldId id="262"/>
            <p14:sldId id="263"/>
            <p14:sldId id="264"/>
            <p14:sldId id="265"/>
            <p14:sldId id="266"/>
            <p14:sldId id="267"/>
          </p14:sldIdLst>
        </p14:section>
        <p14:section name="Who" id="{17ce9dd7-bb36-b073-0ec7-021db0045290}">
          <p14:sldIdLst>
            <p14:sldId id="268"/>
          </p14:sldIdLst>
        </p14:section>
        <p14:section name="How" id="{cf5cddd3-7f9b-1229-d094-fba9a58aa677}">
          <p14:sldIdLst>
            <p14:sldId id="269"/>
            <p14:sldId id="270"/>
            <p14:sldId id="271"/>
            <p14:sldId id="272"/>
            <p14:sldId id="273"/>
          </p14:sldIdLst>
        </p14:section>
        <p14:section name="Backup" id="{8a0d5731-2bbf-24f0-c276-b1fcced997a9}">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the Attribute-Driven Migration. This is Chapter 9: drift pipelines and evidence to the ISSO. A check that runs when someone remembers is a spot check. A check that runs every day, says what moved since yesterday, and leaves evidence nobody can edit afterward is continuous monitoring. We'll start from Learn's sample workflows for signing in from GitHub Actions without a secret, see what they leave out, then walk the comparison, the findings, the evidence package, two labs and the dangers. One note before we begin: the code is illustrative, tested against fixtures.
Detail: How the read-only checks from Chapter 03 become a scheduled pipeline. You start from Learn's sample workflows for signing in to Azure from GitHub Actions with a federated credential, which the repository keeps as a pinned copy, and check them offline. Then you build on examples/drift-pipeline for what they leave to you: a schedule, pinned actions, the right sign-in and Graph host for GCC, GCC High and DoD, a comparison of each run with the last, findings opened and closed by fingerprint, and an evidence package for the ISSO with a SHA-256 per file, the other kits' provenance and a hash chain to the previous package. Lab 1 runs on a laptop with no tenant; Lab 2 uses a test tenant and a test subscription. Goal: by the end of this chapter you can run the validation kit on a schedule with no secret stored anywhere, explain every line of the drift report it produces, open and close findings without leaking names into the issue tracker, and hand the ISSO a package they can verify with sha256sum and nothing else. For each rule in the code you can say whether it is Microsoft's contract, Microsoft's sample, GitHub's documentation, or the program's own design.
Sources: Microsoft Learn, "Use the Azure Login action with OpenID Connect," https://learn.microsoft.com/azure/developer/github/connect-from-azure-openid-connect (accessed Oct 30, 2026). · Microsoft, MicrosoftDocs/azure-dev-docs, articles/github/connect-from-azure-openid-connect.md at commit 23900ce00d955ff876f1a2df6a00d52f1a2f3df3 (October 28, 2026), code under the MIT License, https://github.com/MicrosoftDocs/azure-dev-docs/blob/23900ce00d955ff876f1a2df6a00d52f1a2f3df3/articles/github/connect-from-azure-openid-connect.md (accessed Oct 30, 2026); pinned copy in examples/third_party/azure-login-oidc-sample.
Workbook: Building the Attribute-Driven Migration, Chapter 09 —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build a pipeline at all? Because three earlier books already say what continuous monitoring must produce: drift measured against a versioned record, no closure without its proof, and a finding closed only when a later look shows it fixed. Each validation kit check already compares the tenant with the program's record. The pipeline adds one more comparison: today's run against yesterday's. That finds change. And it puts the closing rule into code. A finding is resolved only if the same check read the tenant again and didn't see it. A check that errored proves nothing.
Detail: Three pages already say what this pipeline must produce. This chapter builds it and doesn't repeat them. Book 13, Chapter 06 defines the drift engine: drift is measured against a versioned record, not a snapshot, and each check's cadence is set by the book that owns it. Book 13, Chapter 04 says no closure counts unless it carries its proof, and that reports are derivations that can be re-run. Book 12, Chapter 02 defines the evidence contract, and says a finding closes only when a later observation shows the fixed state. The pipeline is a small part of that design. Each validation kit check already compares the tenant with the program's record or rule: VK-HR-01 with the HR join, VK-DG-01 with the guards, VK-CA-01 with the governed-group list. The pipeline adds the second comparison: this run against the last. That finds change. Whether a change is drift from the record is still the check's answer, not the pipeline's. A finding that was there yesterday and is still there today is not new, but it is still open. The comparison also enforces Book 12's closing rule in code. A finding is resolved only when the same check read the tenant again and didn't report it. A check that ended in Error proves nothing, so its findings stay open as unverified.
Sources: Building the Attribute-Driven Migration, Chapter 09, docs/project-plans/developer-workbooks/attribute-driven-migration/09-drift-pipelines-and-evidence.md
Workbook: Building the Attribute-Driven Migration, Chapter 09 — Opening; “Where the pipeline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GitHub Actions? Learn documents two ways to run a scheduled job that signs in to Azure with no stored secret. The chapter picks GitHub Actions for three reasons. Learn publishes complete sample workflows for it, including the US Government sign-in. The sign-in action is Microsoft's own, with its source published. And for the other option, Azure Pipelines, the automatic setup doesn't work in Azure Government. For this estate either would do, but one path that also documents the higher clouds is easier to hand on. And the comparator and packager work the same under either.
Detail: Learn documents two ways to run a scheduled job that signs in to Azure without a secret: GitHub Actions with the Azure Login action, and Azure Pipelines with a workload identity federation service connection. This chapter uses GitHub Actions, for three reasons. Learn publishes complete sample workflows for it, including the Azure US Government sign-in, on one page. That is the sample this chapter starts from. The Azure Login action is Microsoft's own, published with its source and its declared inputs. For Azure Pipelines, Learn's automatic app registration with workload identity federation doesn't apply to the Azure US Government environment; that needs the manual method. The estate in this chapter is GCC with commercial Azure, so either would work there, but one pipeline that also documents the GCC High and DoD path is simpler to hand on. Design guidance: an agency standardized on Azure Pipelines can use the same comparator, packager and tests. Only the workflow file changes. GitHub Actions details that Learn doesn't cover (the schedule, the token's claims, action pinning, artifact retention) are cited to GitHub's own documentation, which Learn's page itself points to.
Sources: Microsoft Learn, "Use the Azure Login action with OpenID Connect," https://learn.microsoft.com/azure/developer/github/connect-from-azure-openid-connect (accessed Oct 30, 2026). · Microsoft, Azure/login, action.yml at release v3.1.0, commit a641126d1b8aa4d1fa005f4f92df94a3a4c4c906 (September 10, 2026), MIT License, https://github.com/Azure/login/blob/a641126d1b8aa4d1fa005f4f92df94a3a4c4c906/action.yml, and its releases page, https://github.com/Azure/login/releases (accessed Oct 30, 2026); pinned copy in examples/third_party/azure-login-action. Learn has no page for the action's inputs beyond the sample. · Microsoft Learn, "Connect to Azure with an Azure Resource Manager service connection," https://learn.microsoft.com/azure/devops/pipelines/library/connect-to-azure?view=azure-devops (accessed Oct 30, 2026).
Workbook: Building the Attribute-Driven Migration, Chapter 09 — “Why GitHub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cloud matters at every step: the sign-in authority, the Graph host, the Azure environment, the token audience and the Graph PowerShell environment all have to agree. For a GCC tenant like this estate's, Learn says apps keep using the worldwide endpoints. The higher clouds share a government sign-in authority, and here's the trap: the Azure sign-in environment is the same for GCC High and the Defense cloud, but their Graph hosts differ. So the Graph host must come from the cloud profile, never from the sign-in. An unknown cloud name is refused outright.
Detail: cloud_profile() holds one row per cloud. An unknown name is refused, never mapped to worldwide. gcc: sign-in authority login.microsoftonline.com; Graph host graph.microsoft.com; Azure Login environment AzureCloud; audience api://AzureADTokenExchange; Connect-MgGraph -Environment Global. gcchigh: login.microsoftonline.us; graph.microsoft.us; AzureUSGovernment; api://AzureADTokenExchangeUSGov; USGov. dod: login.microsoftonline.us; dod-graph.microsoft.us; AzureUSGovernment; api://AzureADTokenExchangeUSGov; USGovDoD. Learn says an app in a Microsoft 365 GCC environment keeps using the worldwide endpoints, and lists the GCC High and DoD Graph hosts. The audiences per cloud are on Learn's federated credential pages (Global api://AzureADTokenExchange; US Government api://AzureADTokenExchangeUSGov; China api://AzureADTokenExchangeChina), and the Graph PowerShell environment names on Connect-MgGraph's page. Tokens for one cloud don't work in another. The trap is DoD: Azure Login's AzureUSGovernment covers both GCC High and DoD, so the Graph host has to come from the profile, not from the sign-in. WF-12 checks the workflow's Graph host against its cloud. The estate in this chapter is GCC with commercial Azure.
Sources: Microsoft Learn, "Microsoft Graph national cloud deployments," https://learn.microsoft.com/graph/deployments (accessed Oct 30, 2026). · Microsoft Learn, "Configure an application to trust a managed identity," https://learn.microsoft.com/entra/workload-id/workload-identity-federation-config-app-trust-managed-identity (accessed Oct 30, 2026). · Microsoft Learn, "Connect-MgGraph," https://learn.microsoft.com/powershell/module/microsoft.graph.authentication/connect-mggraph?view=graph-powershell-1.0 (accessed Oct 30, 2026).
Workbook: Building the Attribute-Driven Migration, Chapter 09 — “Clouds”; “Why GitHub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Learn gives you: one page with three workflows. One signs in and runs a single Azure command, one adds PowerShell, and one signs in to Azure Government. Each job asks for exactly one permission, the right to request a sign-in token, and keeps its identifiers in secrets. Before any of it works, the app needs a federated credential that trusts the repository. Those workflows only exist inside the web page, so the repository pins the page and the action's own definition, and a linter checks each workflow offline against twelve rules. Nothing runs, nothing signs in.
Detail: Learn's page "Use the Azure Login action with OpenID Connect" has three workflows. Azure CLI only: signs in with azure/login@v2 and runs az account show with azure/cli@v2. Azure CLI and Azure PowerShell: the same, with enable-AzPSSession: true and azure/powershell@v2 running Get-AzContext. Azure US Government: one step, azure/login@v2 with environment: 'AzureUSGovernment' and audience: api://AzureADTokenExchangeUSGov. Each job asks for id-token: write and nothing else. The client ID, tenant ID and subscription ID come from GitHub secrets, which Learn recommends "for security reasons". The audience input defaults to api://AzureADTokenExchange for public clouds and must be changed for the others. Before the workflow runs, the app registration (or a user-assigned managed identity) needs a federated credential that trusts the repository. The pinned copy: the workflows exist only inside the Learn page, so the repository pins the page itself: connect-from-azure-openid-connect.md from MicrosoftDocs/azure-dev-docs at commit 23900ce (October 28, 2026), unmodified, with the repository's MIT code license. It also pins the Azure Login action's action.yml at release v3.1.0, because the offline checks read its declared inputs and defaults. Each copy has a snapshot.json with a SHA-256 per file, checked by a unit test, and a source-watch feed that reports new upstream commits. Updating either is a reviewed pull request, as in Chapter 01. python/workflow_lint.py extracts each workflow from the pinned page at test time and parses it as YAML. Nothing runs and nothing signs in. Twelve rules (WF-01 to WF-12) check what Learn, the action and GitHub's documentation require of a workflow that runs unattended.
Sources: Microsoft Learn, "Use the Azure Login action with OpenID Connect," https://learn.microsoft.com/azure/developer/github/connect-from-azure-openid-connect (accessed Oct 30, 2026). · Microsoft, MicrosoftDocs/azure-dev-docs, articles/github/connect-from-azure-openid-connect.md at commit 23900ce00d955ff876f1a2df6a00d52f1a2f3df3 (October 28, 2026), code under the MIT License, https://github.com/MicrosoftDocs/azure-dev-docs/blob/23900ce00d955ff876f1a2df6a00d52f1a2f3df3/articles/github/connect-from-azure-openid-connect.md (accessed Oct 30, 2026); pinned copy in examples/third_party/azure-login-oidc-sample. · Microsoft, Azure/login, action.yml at release v3.1.0, commit a641126d1b8aa4d1fa005f4f92df94a3a4c4c906 (September 10, 2026), MIT License, https://github.com/Azure/login/blob/a641126d1b8aa4d1fa005f4f92df94a3a4c4c906/action.yml, and its releases page, https://github.com/Azure/login/releases (accessed Oct 30, 2026); pinned copy in examples/third_party/azure-login-action. Learn has no page for the action's inputs beyond the sample. · Microsoft Learn, "Configure an app to trust an external identity provider," https://learn.microsoft.com/entra/workload-id/workload-identity-federation-create-trust (accessed Oct 30, 2026).
Workbook: Building the Attribute-Driven Migration, Chapter 09 — “What Learn gives you”; “The pinned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Checking the samples offline shows what they do well, and the pipeline keeps all of it: the same sign-in, the same secrets, the single grant. What they leave out starts with timing: they run when someone pushes a commit, and drift doesn't wait for a commit. Their actions are referenced by tags that can be moved, and an older major version at that, so the pipeline pins each action to a commit. Tool versions say latest, so the tool that produced the evidence could change unreviewed. And the US Government sample, copied as is, doesn't even parse.
Detail: Checking the three samples offline shows what they do well and what they leave to you. Each row is pinned by a test in tests/test_workflow_lint.py or tests/test_drift_pipeline.py. Sign in with OIDC; id-token: write on the job and nothing else; IDs in secrets; inputs the action declares: kept as the model: the same sign-in, the same secrets, the same single grant on the job that signs in. They run on push; there is no schedule (WF-02): drift isn't found because someone pushed a commit: schedule once a day and workflow_dispatch. azure/login@v2, azure/cli@v2 and azure/powershell@v2 are tags (WF-05), and v2 is an older major version than the current Azure Login release, v3.1.0 (WF-08): a tag can be moved; GitHub advises pinning an action to a full commit SHA: every action pinned to a commit, Azure Login to v3.1.0's. azcliversion: latest and azPSVersion: latest (WF-09): the tool that produced the evidence changes without a review: exact versions from repository variables. The US Government sample doesn't parse as YAML: with: is indented under uses: (WF-01): copied as is, the workflow can't run. Its environment and audience pair is right once the indentation is fixed (a test does that in memory): the linter catches it; a cloud table gives each cloud's values.
Sources: Microsoft Learn, "Use the Azure Login action with OpenID Connect," https://learn.microsoft.com/azure/developer/github/connect-from-azure-openid-connect (accessed Oct 30, 2026). · Microsoft, Azure/login, action.yml at release v3.1.0, commit a641126d1b8aa4d1fa005f4f92df94a3a4c4c906 (September 10, 2026), MIT License, https://github.com/Azure/login/blob/a641126d1b8aa4d1fa005f4f92df94a3a4c4c906/action.yml, and its releases page, https://github.com/Azure/login/releases (accessed Oct 30, 2026); pinned copy in examples/third_party/azure-login-action. Learn has no page for the action's inputs beyond the sample. · GitHub Docs, "Secure use reference," https://docs.github.com/en/actions/reference/security/secure-use (accessed Oct 30, 2026).
Workbook: Building the Attribute-Driven Migration, Chapter 09 — “What it leaves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gaps are about identity and scope. The sample jobs name no environment, so the token's subject changes with the branch or event, and a federated credential matches one subject exactly. The pipeline runs in a named environment, so the subject is fixed. The samples stop right after signing in to Azure: no Graph token, nothing on the higher clouds. They don't stop two runs overlapping. And after sign-in there's nothing at all. The verdict: use Learn's sign-in exactly as published, pin it, schedule it, and put everything else behind it.
Detail: The job names no environment (WF-10): the token's subject then depends on the branch or event, and a federated credential matches one subject exactly: the job runs in the drift-gcc environment; the credential's subject is that environment. They stop at az account show: no Graph token, and nothing about GCC High and DoD, which share a sign-in authority and Azure environment but have different Graph hosts: a cloud table for GCC, GCC High and DoD, checked against the workflow (WF-12); a Graph token for the profile's host. No workflow-level permissions, no concurrency group, no timeout (WF-03, WF-11 warnings): two runs can overlap and compare against each other: permissions: {} at the top, a concurrency group, timeouts. Nothing after sign-in: no comparison, no findings, no evidence: compare, issues, package and verify. The verdict: use Learn's sign-in exactly: the federated credential, the action, the secrets, the single grant. Pin it, schedule it, and put the rest of the pipeline behind it. Fix the US Government sample's indentation before you copy it.
Sources: GitHub Docs, "OpenID Connect reference," https://docs.github.com/en/actions/reference/security/oidc (accessed Oct 30, 2026). Learn's Azure Login page points here for the token's claims. · Microsoft Learn, "Configure an app to trust an external identity provider," https://learn.microsoft.com/entra/workload-id/workload-identity-federation-create-trust (accessed Oct 30, 2026). · Microsoft Learn, "Microsoft Graph national cloud deployments," https://learn.microsoft.com/graph/deployments (accessed Oct 30, 2026).
Workbook: Building the Attribute-Driven Migration, Chapter 09 — “What it leaves to you”;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example is two Python files, one sample workflow and two test files. The workflow has two jobs with a deliberate wall between them. The first can read the tenant: it signs in, gets a Graph token for the right host, runs the validation kit, compares with the previous package and writes new evidence. The second can write to the issue tracker, but has no Azure access at all. So the identity that reads the tenant never writes to the tracker. One check is delegated only, so it's honestly listed as unverified on every run.
Detail: examples/drift-pipeline is two Python files, one sample workflow and two test files. drift_pipeline.py uses only the standard library; workflow_lint.py needs PyYAML. workflow/drift-pipeline.yml is a sample for a GCC tenant with commercial Azure. It isn't active in this repository: it sits under examples/, not .github/workflows/, and has never run against Azure. It has two jobs. check runs in the drift-gcc environment with contents: read and id-token: write. It signs in with Azure Login, gets a Graph token for the profile's Graph host with Get-AzAccessToken -AsSecureString (the URL must match the current Azure environment), connects Microsoft Graph PowerShell with it, and runs the validation kit with -SkipConnect. Then it fetches and verifies the previous evidence package, compares, packages, and writes the package to an immutable container. findings has contents: read and issues: write, and no Azure access at all. It downloads the drift report and opens or closes issues. Design guidance: the identity that can read the tenant never writes to the tracker, and the job that writes to the tracker can't request a token. WF-04 fails a workflow that puts both grants on one job. The validation kit's own sign-in supports a certificate or a managed identity (Chapter 03). A federated credential reaches it through -SkipConnect, after Connect-MgGraph -AccessToken. VK-DG-03 is delegated only, so an app-only run reports it as Error every time, as the kit's README says. The pipeline lists it as unverified on every run, which is the truth: nothing app-only can prove it.
Sources: Microsoft Learn, "Get-AzAccessToken," https://learn.microsoft.com/powershell/module/az.accounts/get-azaccesstoken (accessed Oct 30, 2026). · Microsoft Learn, "Connect-MgGraph," https://learn.microsoft.com/powershell/module/microsoft.graph.authentication/connect-mggraph?view=graph-powershell-1.0 (accessed Oct 30, 2026).
Workbook: Building the Attribute-Driven Migration, Chapter 09 — “The code”;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comparing anything, the pipeline makes sure the comparison means something. It checks each run against the kit's own manifest, so a run edited after the fact is refused. Then it refuses to compare runs from different modes or clouds, or out of order. The subtle one is tenants: a test tenant and production can share a cloud and look alike. The kit records the tenant the token was issued for, and the pipeline refuses to compare two different tenants, or a run with no tenant recorded at all, unless someone records a reviewed exception.
Detail: load_run() reads a kit run and checks it against the kit's own ValidationManifest.json: every listed file with the same SHA-256, nothing missing, nothing added, and ReadOnly: true. A run edited after the kit wrote it is refused. compare() takes the Finding and Warn rows (the kit's Count; Info rows don't count) and keys each by check, object ID and issue. It refuses to compare runs from different modes or clouds, or a "current" run that isn't later. It also refuses two runs from different tenants, which share a cloud and look alike: the kit's manifest records TenantId, taken from the Graph session, which the Graph PowerShell SDK fills from the access token's tid claim, the tenant that issued the token. A run whose manifest has no tenant ID is refused too, because nothing shows which tenant it read. --allow-tenant-mismatch overrides both refusals for a reviewed exception and writes the reason into the report's notes (design guidance). The drift report and the evidence manifest carry each run's tenant ID. A changed -Option value, such as MaxSecretDays, is noted, because it can move findings without the tenant moving. The SDK source (JwtHelpers.cs) sets authContext.TenantId from the token's tid, applied to a token passed with -AccessToken as well; Learn's Get-MgContext page lists TenantID without saying where it comes from.
Sources: Microsoft Learn, "Access token claims reference," tid in "Payload claims," https://learn.microsoft.com/entra/identity-platform/access-token-claims-reference#payload-claims (accessed Oct 30, 2026). · Microsoft, microsoftgraph/msgraph-sdk-powershell, src/Authentication/Authentication.Core/Utilities/JwtHelpers.cs (authContext.TenantId = jwtPayload?.Tid ?? …, applied to a token passed with -AccessToken as well), last changed in commit 0fceedbba17c1dec4d9bb292910a5f286cd7454e (October 30, 2023), read with gh api (accessed Oct 30, 2026). Not a Learn page: Learn's Get-MgContext page lists TenantID among the session details without saying where it comes from.
Workbook: Building the Attribute-Driven Migration, Chapter 09 —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difference between runs lands in one of five results. New and changed findings open issues. A change only in the detail is recorded but opens nothing. A finding is resolved only when its check actually read the tenant this run. And anything from a check that errored or didn't run is unverified, so earlier findings stay open. Each finding has a fingerprint that's the same every run, so there are never duplicate issues. Issues carry object identifiers, not people's names, because the tracker has a wider audience than the evidence store.
Detail: Results: new, a row the previous run didn't have: opens an issue. changed, same check and object, different severity or issue text: opens an issue (or comments, when only the severity moved); the old one closes as superseded. detail only, same finding, different Detail (a count of days, a list of policies): nothing; recorded in the report. resolved, gone from a check that read the tenant this run: closes the issue, citing the run and the kit manifest's hash. unverified, the check ended in Error or NotApplicable, or didn't run: opens one issue per check; earlier findings stay open. Each finding has a fingerprint: the first 16 hex characters of a SHA-256 over check, object and issue. The same finding gets the same fingerprint in every run, so the findings job can find its open issue and never opens a duplicate. Findings without names: issue_drafts() writes the check, the severity, the object ID, the issue and the fingerprint. It leaves out the object's name, which for most checks is a user principal name. Design guidance: the evidence store is access-controlled and holds the names; the tracker is read by more people and doesn't need them. --include-names turns them on. A first run is a baseline: it records every finding and opens one summary issue, not hundreds.
Sources: Building the Attribute-Driven Migration, Chapter 09, docs/project-plans/developer-workbooks/attribute-driven-migration/09-drift-pipelines-and-evidence.md
Workbook: Building the Attribute-Driven Migration, Chapter 09 — “Compare” — results; “Findings without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run becomes an evidence package: the kit's run as written, the drift report, the latest provenance from the other kits, a manifest, and a list of file hashes the security officer can check with a standard tool and nothing else. Each manifest records the hash of the previous one, so the packages form a chain: a replaced package or a missing day shows up as a break. The packager doesn't sign, though. Locked retention stops changes after the fact, and signing with a key the pipeline holds is a choice left to the security officer.
Detail: package() writes &lt;run-id&gt;/ with: kit-run/, the validation kit run as written, including its own manifest; drift/drift-report.json and drift/drift-summary.md; provenance/&lt;kind&gt;/, the latest provenance from the other kits, recognized by schema and summarized: provenance.json from examples/hcm-entra (Chapter 01), provenance.json from examples/machine-configuration (Chapter 07), and check-results.json from examples/dynamic-rules (Chapter 04); an unknown file is refused, and one older than 30 days is noted; EVIDENCE-MANIFEST.json: the run, the cloud, the kit manifest's hash, the drift counts, the provenance summaries, the GitHub run identifiers, a SHA-256 and size for every file, and the previous package's run ID and manifest hash; SHA256SUMS: every file, the manifest included, in the format sha256sum -c reads. The previous package's manifest hash makes the packages a chain. A package that was replaced, or a day that is missing, shows up as a break. The same inputs give the same bytes, so a package can be rebuilt from its inputs and compared, which is Book 13's "reports are derivations". verify() is what the ISSO runs; sha256sum -c SHA256SUMS gives the same answer without our code. The packager doesn't sign. The hashes show that nothing changed after packaging; the container's locked time-based retention policy keeps it from changing afterwards: blobs can be created and read, but not modified or deleted, until the retention interval ends. Neither binds the package to the pipeline's identity. Microsoft documents two ways to add that, and the choice of method and key custody stays with the ISSO. Azure Key Vault's Sign operation creates a signature from a digest with a key that never leaves the vault, and Verify checks it; the caller needs the keys/sign permission, and the SHA-256 of EVIDENCE-MANIFEST.json is the digest to sign. Azure Artifact Signing is Microsoft's managed signing service, at FIPS 140-3 Level 3, with a GitHub Action, and signs the file types SignTool supports, or OCI artifacts through Notation; an evidence package is neither, so it would need a signable wrapper such as a catalog file. Signing stays open in the verification log. The tests: tests/test_drift_pipeline.py has 54 tests: loading and refusing runs (including runs of different or unrecorded tenants, and the override), every result type, issue drafts, provenance, packaging, the hash chain, verification and the cloud table. tests/test_workflow_lint.py has 20: Learn's three samples as published, the pinned action, and the sample workflow with one defect introduced at a time. Neither needs a tenant or a network. The fixtures are two fictional kit runs for contoso.example, one day apart, written by tests/make_fixtures.py, and the provenance files the other kits wrote from their own fixtures.
Sources: Microsoft Learn, "Store business-critical blob data with immutable storage in a write once, read many (WORM) state," https://learn.microsoft.com/azure/storage/blobs/immutable-storage-overview (accessed Oct 30, 2026). · Microsoft Learn, "Azure Key Vault REST API reference," key operations Sign and Verify, https://learn.microsoft.com/rest/api/keyvault/; "az keyvault key sign," https://learn.microsoft.com/cli/azure/keyvault/key; CryptographyClient sign (keys/sign permission), https://learn.microsoft.com/java/api/com.azure.security.keyvault.keys.cryptography.cryptographyclient (accessed Oct 30, 2026). · Microsoft Learn, "Set up signing integrations to use Artifact Signing," https://learn.microsoft.com/azure/artifact-signing/how-to-signing-integrations; "Overview of signing and verifying OCI artifacts," https://learn.microsoft.com/azure/container-registry/overview-sign-verify-artifacts (accessed Oct 30, 2026). · Microsoft Learn, "Artifact Signing FAQ," https://learn.microsoft.com/azure/artifact-signing/faq (accessed Oct 30, 2026).
Workbook: Building the Attribute-Driven Migration, Chapter 09 — “The evidence package”;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records three places where sources disagree, so nobody quietly loosens the code later. The biggest is the type of the Graph token: the reference page says one thing, a troubleshooting article says another, and the module's own source sides with the reference. The pipeline passes the safer form and confirms it in the second lab. The other two are small: a trailing slash on the issuer, and how a pull-request subject is spelled. The action version and the one preview feature, which isn't used, are on the slide.
Detail: Three places where sources state things differently, recorded so a later edit doesn't loosen the code. Graph token type: Connect-MgGraph's reference page types -AccessToken as SecureString; a Learn troubleshooting article says Microsoft Graph PowerShell 2.28.0 and later accept only a plain string. The module's own source still declares the parameter SecureString (rechecked October 30, 2026, release v2.41.1). The workflow passes the SecureString, which keeps the token out of plain text, and Lab 2 step 5 confirms it on the pinned version. Issuer with a trailing slash: Learn's federated credential page shows the GitHub issuer both with and without a trailing slash in its examples. It also says the issuer must match the token's iss claim, which GitHub documents without the slash. The lab uses the form without the slash. Pull request subject: Learn writes the pull request subject as repo:&lt;org&gt;/&lt;repo&gt;:pull-request; GitHub documents pull_request. The pipeline doesn't run on pull requests, so it uses neither. Release stage: Azure Login v3.1.0 (September 10, 2026), runs on Node 24; flexible federated identity credentials are a preview and aren't used here. Limits: 20 federated credentials per app or user-assigned managed identity; issuer and subject unique per app; propagation can take minutes (AADSTS70021). Federated credential for GitHub: issuer https://token.actions.githubusercontent.com; subject repo:&lt;org&gt;/&lt;repo&gt;:environment:&lt;name&gt; for a job with an environment; one audience; no wildcards.
Sources: Microsoft Learn, "Connect-MgGraph," https://learn.microsoft.com/powershell/module/microsoft.graph.authentication/connect-mggraph?view=graph-powershell-1.0 (accessed Oct 30, 2026). · Microsoft Learn, "Microsoft Graph PowerShell throws error 'IDX14102: Unable to decode the header'," https://learn.microsoft.com/troubleshoot/entra/entra-id/users-groups-entra-apis/unable-to-decode-header-error (accessed Oct 30, 2026). · Microsoft, microsoftgraph/msgraph-sdk-powershell, src/Authentication/Authentication/Cmdlets/ConnectMgGraph.cs (public SecureString AccessToken), last changed in commit 34e2549948690924ff403975de39603c1d4043bc (July 22, 2026), read with gh api (accessed Oct 30, 2026). Not a Learn page. · Microsoft Learn, "Configure an app to trust an external identity provider," https://learn.microsoft.com/entra/workload-id/workload-identity-federation-create-trust (accessed Oct 30, 2026). · GitHub Docs, "OpenID Connect reference," https://docs.github.com/en/actions/reference/security/oidc (accessed Oct 30, 2026). Learn's Azure Login page points here for the token's claims. · Microsoft, Azure/login, action.yml at release v3.1.0, commit a641126d1b8aa4d1fa005f4f92df94a3a4c4c906 (September 10, 2026), MIT License, https://github.com/Azure/login/blob/a641126d1b8aa4d1fa005f4f92df94a3a4c4c906/action.yml, and its releases page, https://github.com/Azure/login/releases (accessed Oct 30, 2026); pinned copy in examples/third_party/azure-login-action. Learn has no page for the action's inputs beyond the sample. · Microsoft Learn, "Important considerations and restrictions for federated identity credentials," https://learn.microsoft.com/entra/workload-id/workload-identity-federation-considerations (accessed Oct 30, 2026).
Workbook: Building the Attribute-Driven Migration, Chapter 09 — “Verified facts” — the three places where sources differ; release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 involved? The platform and pipeline engineers who own the scheduled checks, and the security officers and reviewers who receive the evidence and verify it. The permissions are deliberately split. A handful of administrator roles, or the app's owner, can add the federated credential. The pipeline's identity gets only the read permissions its checks need, plus write access to one evidence container. And only the second job, which has no Azure access at all, can write issues. No identity both reads the tenant and writes to the tracker.
Detail: Audience: platform and pipeline engineers who own the scheduled checks, and the ISSOs and reviewers who receive the evidence. You should be comfortable with Python and GitHub Actions. You don't need a tenant until Lab 2. Who can add a federated credential: the app's owner, Application Administrator, Cloud Application Administrator, Global Administrator or Hybrid Identity Administrator. Grant the app the Graph application permissions the app-capable checks need, with admin consent; Get-VkRequiredScope prints them (Chapter 03). Assign Reader on the test subscription for the Arc checks. Writing evidence: Storage Blob Data Contributor on the container; az storage blob data commands with --auth-mode login. The findings job has contents: read and issues: write, and no Azure access. The ISSO chooses the signing method and key custody.
Sources: Microsoft Learn, "Configure an app to trust an external identity provider," https://learn.microsoft.com/entra/workload-id/workload-identity-federation-create-trust (accessed Oct 30, 2026). · Microsoft Learn, "Quickstart: Create, download, and list blobs with Azure CLI," https://learn.microsoft.com/azure/storage/blobs/storage-quickstart-blobs-cli (accessed Oct 30, 2026).
Workbook: Building the Attribute-Driven Migration, Chapter 09 — “Goal and audience”; “Lab 2”; “Verified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laptop with Python and no tenant. First, lint Learn's three samples as published: the first two have several findings each, unpinned actions and latest versions among them, and the Government sample fails because it isn't valid at all. Then lint the chapter's own workflow, and it's clean. Print the Defense cloud's profile to see its hosts, and try a cloud name that doesn't exist: refused. Then record the first day's run as a baseline and package it. Note the manifest hash; the next package will point back to it.
Detail: You need Python 3.10 or later with PyYAML and pytest, and a shell with sha256sum (Linux, macOS or Git Bash). Work in examples/drift-pipeline. Step 1, check Learn's samples offline: python python/workflow_lint.py --learn-samples. Exit 2. Sample 1 has five findings (WF-02, WF-05 twice, WF-08, WF-09) and four warnings; sample 2 has seven findings, including three unpinned actions and two latest versions; sample 3 has one: WF-01 Not valid YAML (mapping values are not allowed here). Step 2, check the sample workflow: python python/workflow_lint.py workflow/drift-pipeline.yml. Exit 0: 0 finding(s), 0 warning(s). Step 3, print a cloud's hosts: python python/drift_pipeline.py cloud --name dod. The authority is https://login.microsoftonline.us, the Graph host https://dod-graph.microsoft.us, the Azure environment AzureUSGovernment. Try --name usgov: exit 1, unknown cloud. Step 4, record a baseline and package it: PREV=tests/fixtures/runs/previous/2026-10-28-0617-fixture-runner-fixture; CURR=tests/fixtures/runs/current/2026-10-29-0617-fixture-runner-fixture; P is the three --provenance arguments for hcm-entra, machine-configuration and dynamic-rules from tests/fixtures/provenance; python python/drift_pipeline.py compare --current $PREV --out out/day1; python python/drift_pipeline.py package --kit-run $PREV --diff out/day1/drift-report.json $P --out out/evidence. The compare exits 2 with "baseline": true and ten new findings. The package's evidence_manifest_sha256 is 6d9fffbc…. Illustrative code: the commands check Learn's pinned samples offline and run the example against fixtures. The sample workflow has been parsed and linted, not run: nothing in this chapter has signed in to Azure. Review the code, and run Lab 2 in a test tenant and a test subscription, before it produces evidence anyone relies on.
Sources: Microsoft, MicrosoftDocs/azure-dev-docs, articles/github/connect-from-azure-openid-connect.md at commit 23900ce00d955ff876f1a2df6a00d52f1a2f3df3 (October 28, 2026), code under the MIT License, https://github.com/MicrosoftDocs/azure-dev-docs/blob/23900ce00d955ff876f1a2df6a00d52f1a2f3df3/articles/github/connect-from-azure-openid-connect.md (accessed Oct 30, 2026); pinned copy in examples/third_party/azure-login-oidc-sample.
Workbook: Building the Attribute-Driven Migration, Chapter 09 — “Lab 1: fixtures, no tenant,” steps 1–4;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compare the second day with the first. You'll see each kind of result, and one matters most: a check whose read failed with an access-denied error. Its finding isn't resolved; it's unverified, and stays open. Draft the issues and search for a person's name: it isn't there, only the object identifier. Package the second run, chained to the first, and verify it with the pipeline and with the standard tool. Then tamper with one file, and verification fails. Swap the runs, and the comparison refuses. Run the tests, and seventy-four pass.
Detail: Step 5, compare the next day: python python/drift_pipeline.py compare --previous $PREV --current $CURR --out out/day2; cat out/day2/drift-summary.md. Exit 2: new 3, resolved 1, changed 1, detail only 1, unchanged 6, unverified checks 2. The table shows VK-CA-01 Pass to Fail, VK-NPI-03 Fail to Error, and VK-PIV-01 Pass to not run. VK-NPI-03's finding is unverified, not resolved: its read failed with a 403. Step 6, draft the findings: python python/drift_pipeline.py issues --diff out/day2/drift-report.json --out out/day2/issues.json gives {"close": 2, "comment": 0, "open": 6}: three new findings, one changed (VK-ARC-02, whose issue text moved from the agent version to "Status Disconnected"), two unverified checks, and two closes, one for frank (resolved) and one for the superseded VK-ARC-02 row. Search issues.json for gina@contoso.example: it isn't there. Her object ID is. Step 7, package and verify the second run, chained to the first: python python/drift_pipeline.py package --kit-run $CURR --diff out/day2/drift-report.json $P --previous-manifest out/evidence/2026-10-28-0617-fixture-runner-fixture/EVIDENCE-MANIFEST.json --out out/evidence; python python/drift_pipeline.py verify out/evidence/2026-10-29-0617-fixture-runner-fixture; (cd out/evidence/2026-10-29-0617-fixture-runner-fixture &amp;&amp; sha256sum -c --quiet SHA256SUMS). The manifest hash is 0932f0a3…, verify reports 16 files, and sha256sum exits 0. Open EVIDENCE-MANIFEST.json: previous.evidence_manifest_sha256 is the day 1 hash, 6d9fffbc…, and tenant_id is the fixture tenant's placeholder, 11111111-1111-4111-8111-111111111111. Step 8, break it on purpose: append a line to out/evidence/2026-10-29-0617-fixture-runner-fixture/drift/drift-summary.md and run verify again: exit 1, drift/drift-summary.md doesn't match its SHA-256. Then swap the runs: compare --previous $CURR --current $PREV exits 1: the current run isn't later than the previous one. Step 9, run the tests: python -m pytest tests -q. Expected result: 74 tests passing, and each row of the gap table seen with your own eyes.
Sources: Building the Attribute-Driven Migration, Chapter 09, docs/project-plans/developer-workbooks/attribute-driven-migration/09-drift-pipelines-and-evidence.md
Workbook: Building the Attribute-Driven Migration, Chapter 09 — “Lab 1: fixtures, no tenant,” steps 5–9;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uses a test tenant, a test subscription and a private test repository, never production. Register an app and give it a federated credential that trusts exactly one environment in the repository; Learn warns that a wrong subject is accepted silently and only fails at sign-in. Grant only the reads, and write access to one evidence container whose retention policy stays unlocked, so the lab can be cleaned up. Run it by hand to set the baseline, make one change, run again, and check the chain. Then let the schedule run, and back everything out.
Detail: Use a test tenant and a test subscription, never production, and a private test repository, contoso-example/estate-checks, holding the validation kit and this example. 1 Register the app and trust the repository: register an app in the test tenant. With Application Administrator, Cloud Application Administrator or ownership of the app, add a federated credential with Learn's command, az ad app federated-credential create --id &lt;app-object-id&gt; --parameters credential.json, where credential.json has the issuer https://token.actions.githubusercontent.com, the subject repo:contoso-example/estate-checks:environment:drift-gcc and the audience api://AzureADTokenExchange. In GCC High or DoD, the audience is api://AzureADTokenExchangeUSGov. Learn warns that a wrong subject is accepted without error and only fails at sign-in, and that a new credential can take a few minutes to propagate (AADSTS70021). 2 Grant only the reads: grant the app the Graph application permissions the app-capable checks need, with admin consent; Get-VkRequiredScope prints them (Chapter 03). Assign Reader on the test subscription for the Arc checks. 3 Make the evidence container: in the test subscription, create a storage account and a container, drift-evidence, and assign Storage Blob Data Contributor on the container to the app; the upload uses --auth-mode login. Add a time-based retention policy to the container and leave it unlocked. Learn says an unlocked policy is for testing and can be deleted; a locked one can't be deleted or shortened, and blocks deleting the account while any blob is retained. Time-based retention runs 1 to 146,000 days; a container policy can be extended at most five times. 4 Set up the repository: create the drift-gcc environment, limited to the default branch. Add the secrets AZURE_CLIENT_ID, AZURE_TENANT_ID and AZURE_SUBSCRIPTION_ID, the variables EVIDENCE_STORAGE_ACCOUNT, AZ_PS_VERSION and GRAPH_PS_VERSION (exact versions), and the labels drift, new, changed, unverified and baseline. Copy the workflow to .github/workflows/drift.yml in the test repository, and run workflow_lint.py on the copy. 5 Run it by hand: start it from the Actions tab (workflow_dispatch). The first run is the baseline: one package in the container, one issue. Confirm that the Graph sign-in works with the SecureString token on the pinned Graph PowerShell version: Learn's pages disagree on that parameter's type. 6 Make a change and run again: create an enabled test member with no employeeId (VK-HR-01 reports it), then run the workflow. Expect one new finding and one issue, and a second package whose previous points at the first. Download it and run sha256sum -c SHA256SUMS. 7 Let the schedule run: GitHub runs a scheduled workflow on the latest commit of the default branch (every 5 minutes at most, UTC by default), may delay it under load, and, in a public repository, disables it after 60 days with no activity. Check the next day that a package arrived; a missing day is a break in the chain. Artifact retention-days can't exceed the repository, organization or enterprise limit. 8 Back it out: delete the federated credential (az ad app federated-credential delete), the app registration and its role assignments. Delete the unlocked retention policy, then the container. Close the test issues, and delete the test repository or its workflow and environment. In production, lock the retention policy once Lab 2 passes. Learn recommends locking it within a reasonable time, typically less than 24 hours, and says an unlocked policy is only for short-term testing.
Sources: Microsoft Learn, "Configure an app to trust an external identity provider," https://learn.microsoft.com/entra/workload-id/workload-identity-federation-create-trust (accessed Oct 30, 2026). · Microsoft Learn, "Important considerations and restrictions for federated identity credentials," https://learn.microsoft.com/entra/workload-id/workload-identity-federation-considerations (accessed Oct 30, 2026). · Microsoft Learn, "Configure an application to trust a managed identity," https://learn.microsoft.com/entra/workload-id/workload-identity-federation-config-app-trust-managed-identity (accessed Oct 30, 2026). · Microsoft Learn, "Quickstart: Create, download, and list blobs with Azure CLI," https://learn.microsoft.com/azure/storage/blobs/storage-quickstart-blobs-cli (accessed Oct 30, 2026). · Microsoft Learn, "Store business-critical blob data with immutable storage in a write once, read many (WORM) state," https://learn.microsoft.com/azure/storage/blobs/immutable-storage-overview (accessed Oct 30, 2026). · Microsoft Learn, "Configure immutability policies for containers," https://learn.microsoft.com/azure/storage/blobs/immutable-policy-configure-container-scope (accessed Oct 30, 2026). · GitHub Docs, "Events that trigger workflows" (schedule, workflow_dispatch), https://docs.github.com/en/actions/reference/workflows-and-actions/events-that-trigger-workflows (accessed Oct 30, 2026). Learn doesn't cover GitHub's scheduler. · GitHub Docs, "Store and share data with workflow artifacts," https://docs.github.com/en/actions/how-tos/writing-workflows/choosing-what-your-workflow-does/storing-and-sharing-data-from-a-workflow (accessed Oct 30, 2026).
Workbook: Building the Attribute-Driven Migration, Chapter 09 — “Lab 2: test tenant and test subscription”.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danger is the first: a failed read reported as a fix. An access error makes yesterday's findings disappear, and without a guard their issues would close. Here they stay unverified. The rest follow from the same habit of not trusting what you can't prove: refuse runs that can't be compared, keep secrets out entirely, pin every action, take the Graph host from the profile, keep reading and writing in separate jobs, keep names out of the tracker, and make the evidence unchangeable, chained, and checked every day.
Detail: A failed read reported as a fix: a 403 makes yesterday's findings disappear, and their issues close; guard: Error, NotApplicable and "not run" leave findings unverified; only a check that read the tenant resolves them. A run edited after the kit wrote it: the comparison, and the evidence, describe a run that never happened; guard: load_run() checks every file against the kit's own manifest; verify() checks the package. Comparing a fixture run with a live one, or two clouds: every finding looks new or resolved; guard: compare() refuses a different mode or cloud, or runs out of order. Comparing two tenants in one cloud: a test tenant's run is diffed against production's, and every finding opens or closes; guard: the kit records TenantId; compare() refuses different or missing tenant IDs unless --allow-tenant-mismatch, which the report notes. A threshold changed between runs: findings move with no change in the tenant; guard: changed options are noted in the report. A secret in the pipeline: it leaks, or expires and the checks stop; guard: a federated credential; WF-06 fails creds; no secret is stored. A moved action tag: code you didn't review signs in to your tenant; guard: actions pinned to commits (WF-05); source watch on Azure Login. The wrong Graph host in DoD: the run signs in to Azure Government and calls the GCC High Graph host; guard: cloud table; WF-12 checks the workflow's host against its cloud. A subject that doesn't match: sign-in fails, and Learn says the credential was created without error; guard: an environment-scoped subject; Lab 2 step 5 run by hand first. The token that reads the tenant can write elsewhere: a compromised step edits issues, or more; guard: two jobs; WF-04 fails a job with id-token: write and another write grant. Names in the tracker: user principal names reach everyone with read access to the repository; guard: object IDs only, unless --include-names. Evidence changed or deleted later: the ISSO can't rely on it; guard: --overwrite never used; a locked retention policy in production; the hash chain. A day without a run: a schedule delayed, dropped or disabled leaves a gap nobody notices; guard: the chain records the previous run; check the newest package's date. Stale provenance: a package cites a build or HR run from months ago; guard: provenance older than 30 days is noted in the manifest. A locked policy in a test account: the test account can't be deleted until retention ends; guard: Lab 2 leaves the policy unlocked.
Sources: Microsoft Learn, "Store business-critical blob data with immutable storage in a write once, read many (WORM) state," https://learn.microsoft.com/azure/storage/blobs/immutable-storage-overview (accessed Oct 30, 2026). · Microsoft Learn, "Configure an app to trust an external identity provider," https://learn.microsoft.com/entra/workload-id/workload-identity-federation-create-trust (accessed Oct 30, 2026). · GitHub Docs, "Events that trigger workflows" (schedule, workflow_dispatch), https://docs.github.com/en/actions/reference/workflows-and-actions/events-that-trigger-workflows (accessed Oct 30, 2026). Learn doesn't cover GitHub's scheduler.
Workbook: Building the Attribute-Driven Migration, Chapter 09 —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The workflow lints clean, with every action pinned. The app signs in with a federated credential and nothing stored, holds only the reads it needs, and the cloud settings all agree. Reading and writing stay in separate jobs. Findings from a failed check stay open, and issues carry identifiers, not names. Every package verifies with a standard tool and chains to the one before, retention is locked in production, and someone checks every day that a package arrived. That's the last chapter of the workbook. Thanks for watching.
Detail: Checklist: the workflow passes workflow_lint.py with no findings, and every action is pinned to a commit. The app has a federated credential whose subject is the pipeline's environment, and no client secret or certificate. The app has only the Graph read permissions and Azure Reader the selected checks need. The cloud in the workflow, the Azure environment, the audience and the Graph host agree (cloud --name prints them). The job that signs in has no write grant besides id-token; the job that writes issues has no Azure access. A check that errors leaves its findings open; issues close only on a run that read the tenant. Issue bodies carry object IDs, not names. Each package verifies with sha256sum -c SHA256SUMS, and its previous hash matches the package before it. The evidence container has a locked time-based retention policy in production, and the pipeline never overwrites. Someone checks that a package arrived every day. The pinned Learn page and action.yml match their manifests, and every upstream commit since the pin has been reviewed. This is the workbook's last chapter: "Continue the book" links back to Chapter 08 and the workbook index.
Sources: Microsoft Learn, "Store business-critical blob data with immutable storage in a write once, read many (WORM) state," https://learn.microsoft.com/azure/storage/blobs/immutable-storage-overview (accessed Oct 30, 2026). · Microsoft, Azure/login, action.yml at release v3.1.0, commit a641126d1b8aa4d1fa005f4f92df94a3a4c4c906 (September 10, 2026), MIT License, https://github.com/Azure/login/blob/a641126d1b8aa4d1fa005f4f92df94a3a4c4c906/action.yml, and its releases page, https://github.com/Azure/login/releases (accessed Oct 30, 2026); pinned copy in examples/third_party/azure-login-action. Learn has no page for the action's inputs beyond the sample.
Workbook: Building the Attribute-Driven Migration, Chapter 09 — “Checklist”; “Continue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docs/project-plans/developer-workbooks/attribute-driven-migration/09-drift-pipelines-and-evidence.md.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docs/project-plans/developer-workbooks/attribute-driven-migration/09-drift-pipelines-and-evidence.md.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Building the Attribute-Driven Migration  ·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Chapter 09: Drift Pipelines and Evidence to the ISSO</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Building the Attribute-Driven Migration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indent="0" marL="0">
              <a:spcAft>
                <a:spcPts val="400"/>
              </a:spcAft>
              <a:buNone/>
            </a:pPr>
            <a:r>
              <a:rPr lang="en-US" sz="1400" b="1" dirty="0">
                <a:solidFill>
                  <a:srgbClr val="1F2A44"/>
                </a:solidFill>
              </a:rPr>
              <a:t>Why a schedule · which cloud · Learn's sign-in sample and its gaps · compare, findings, evidence · who · two labs</a:t>
            </a:r>
            <a:endParaRPr lang="en-US" sz="1400" dirty="0"/>
          </a:p>
          <a:p>
            <a:pPr indent="0" marL="0">
              <a:spcAft>
                <a:spcPts val="400"/>
              </a:spcAft>
              <a:buNone/>
            </a:pPr>
            <a:r>
              <a:rPr lang="en-US" sz="1400" dirty="0">
                <a:solidFill>
                  <a:srgbClr val="334155"/>
                </a:solidFill>
              </a:rPr>
              <a:t>Chapter review status: approved  ·  Illustrative code, tested against fixtures</a:t>
            </a:r>
            <a:endParaRPr lang="en-US" sz="1400" dirty="0"/>
          </a:p>
          <a:p>
            <a:pPr indent="0" marL="0">
              <a:spcAft>
                <a:spcPts val="400"/>
              </a:spcAft>
              <a:buNone/>
            </a:pPr>
            <a:r>
              <a:rPr lang="en-US" sz="1400" b="1" dirty="0">
                <a:solidFill>
                  <a:srgbClr val="0F766E"/>
                </a:solidFill>
              </a:rPr>
              <a:t>Date Code 2026-10-31 10:16 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From spot check to continuous monitoring</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Each kit check compares the tenant with the record. The pipeline adds the second comparison: this run against the last.</a:t>
            </a:r>
            <a:endParaRPr lang="en-US" sz="1800" dirty="0"/>
          </a:p>
        </p:txBody>
      </p:sp>
      <p:sp>
        <p:nvSpPr>
          <p:cNvPr id="6" name="Panel Three pages already say what it must produce" descr="">
            <a:extLst>
              <a:ext uri="{C183D7F6-B498-43B3-948B-1728B52AA6E4}">
                <adec:decorative xmlns:adec="http://schemas.microsoft.com/office/drawing/2017/decorative" val="1"/>
              </a:ext>
            </a:extLst>
          </p:cNvPr>
          <p:cNvSpPr/>
          <p:nvPr/>
        </p:nvSpPr>
        <p:spPr>
          <a:xfrm>
            <a:off x="548640" y="2112264"/>
            <a:ext cx="5417820" cy="2871216"/>
          </a:xfrm>
          <a:prstGeom prst="roundRect">
            <a:avLst>
              <a:gd name="adj" fmla="val 254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Three pages already say what it must produce label"/>
          <p:cNvSpPr txBox="1"/>
          <p:nvPr/>
        </p:nvSpPr>
        <p:spPr>
          <a:xfrm>
            <a:off x="731520" y="2221992"/>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THREE PAGES ALREADY SAY WHAT IT MUST PRODUCE</a:t>
            </a:r>
            <a:endParaRPr lang="en-US" sz="1100" dirty="0"/>
          </a:p>
        </p:txBody>
      </p:sp>
      <p:sp>
        <p:nvSpPr>
          <p:cNvPr id="8" name="Panel Three pages already say what it must produce list"/>
          <p:cNvSpPr txBox="1"/>
          <p:nvPr/>
        </p:nvSpPr>
        <p:spPr>
          <a:xfrm>
            <a:off x="731520" y="2523744"/>
            <a:ext cx="5097780" cy="2414016"/>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Book 13, Ch 06: drift is measured against a versioned record, not a snapshot; each check's cadence is set by the book that owns it</a:t>
            </a:r>
            <a:endParaRPr lang="en-US" sz="1500" dirty="0"/>
          </a:p>
          <a:p>
            <a:pPr marL="342900" indent="-342900">
              <a:spcAft>
                <a:spcPts val="400"/>
              </a:spcAft>
              <a:buSzPct val="100000"/>
              <a:buChar char="•"/>
            </a:pPr>
            <a:r>
              <a:rPr lang="en-US" sz="1500" dirty="0">
                <a:solidFill>
                  <a:srgbClr val="334155"/>
                </a:solidFill>
              </a:rPr>
              <a:t>Book 13, Ch 04: no closure counts unless it carries its proof; reports are derivations that can be re-run</a:t>
            </a:r>
            <a:endParaRPr lang="en-US" sz="1500" dirty="0"/>
          </a:p>
          <a:p>
            <a:pPr marL="342900" indent="-342900">
              <a:spcAft>
                <a:spcPts val="400"/>
              </a:spcAft>
              <a:buSzPct val="100000"/>
              <a:buChar char="•"/>
            </a:pPr>
            <a:r>
              <a:rPr lang="en-US" sz="1500" dirty="0">
                <a:solidFill>
                  <a:srgbClr val="334155"/>
                </a:solidFill>
              </a:rPr>
              <a:t>Book 12, Ch 02: the evidence contract; a finding closes only when a later observation shows the fixed state</a:t>
            </a:r>
            <a:endParaRPr lang="en-US" sz="1500" dirty="0"/>
          </a:p>
        </p:txBody>
      </p:sp>
      <p:sp>
        <p:nvSpPr>
          <p:cNvPr id="9" name="Panel What the pipeline adds" descr="">
            <a:extLst>
              <a:ext uri="{C183D7F6-B498-43B3-948B-1728B52AA6E4}">
                <adec:decorative xmlns:adec="http://schemas.microsoft.com/office/drawing/2017/decorative" val="1"/>
              </a:ext>
            </a:extLst>
          </p:cNvPr>
          <p:cNvSpPr/>
          <p:nvPr/>
        </p:nvSpPr>
        <p:spPr>
          <a:xfrm>
            <a:off x="6240780" y="2112264"/>
            <a:ext cx="5417820" cy="2871216"/>
          </a:xfrm>
          <a:prstGeom prst="roundRect">
            <a:avLst>
              <a:gd name="adj" fmla="val 254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Panel What the pipeline adds label"/>
          <p:cNvSpPr txBox="1"/>
          <p:nvPr/>
        </p:nvSpPr>
        <p:spPr>
          <a:xfrm>
            <a:off x="6423660" y="2221992"/>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WHAT THE PIPELINE ADDS</a:t>
            </a:r>
            <a:endParaRPr lang="en-US" sz="1100" dirty="0"/>
          </a:p>
        </p:txBody>
      </p:sp>
      <p:sp>
        <p:nvSpPr>
          <p:cNvPr id="11" name="Panel What the pipeline adds list"/>
          <p:cNvSpPr txBox="1"/>
          <p:nvPr/>
        </p:nvSpPr>
        <p:spPr>
          <a:xfrm>
            <a:off x="6423660" y="2523744"/>
            <a:ext cx="5097780" cy="2414016"/>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The run-to-run comparison finds </a:t>
            </a:r>
            <a:pPr indent="0" marL="0">
              <a:spcAft>
                <a:spcPts val="400"/>
              </a:spcAft>
              <a:buNone/>
            </a:pPr>
            <a:r>
              <a:rPr lang="en-US" sz="1500" b="1" dirty="0">
                <a:solidFill>
                  <a:srgbClr val="1F2A44"/>
                </a:solidFill>
              </a:rPr>
              <a:t>change</a:t>
            </a:r>
            <a:pPr indent="0" marL="0">
              <a:spcAft>
                <a:spcPts val="400"/>
              </a:spcAft>
              <a:buNone/>
            </a:pPr>
            <a:r>
              <a:rPr lang="en-US" sz="1500" dirty="0">
                <a:solidFill>
                  <a:srgbClr val="334155"/>
                </a:solidFill>
              </a:rPr>
              <a:t>; whether it is drift from the record is still the check's answer</a:t>
            </a:r>
            <a:endParaRPr lang="en-US" sz="1500" dirty="0"/>
          </a:p>
          <a:p>
            <a:pPr marL="342900" indent="-342900">
              <a:spcAft>
                <a:spcPts val="400"/>
              </a:spcAft>
              <a:buSzPct val="100000"/>
              <a:buChar char="•"/>
            </a:pPr>
            <a:r>
              <a:rPr lang="en-US" sz="1500" dirty="0">
                <a:solidFill>
                  <a:srgbClr val="334155"/>
                </a:solidFill>
              </a:rPr>
              <a:t>A finding there yesterday and today isn't new, but it is still open</a:t>
            </a:r>
            <a:endParaRPr lang="en-US" sz="1500" dirty="0"/>
          </a:p>
          <a:p>
            <a:pPr marL="342900" indent="-342900">
              <a:spcAft>
                <a:spcPts val="400"/>
              </a:spcAft>
              <a:buSzPct val="100000"/>
              <a:buChar char="•"/>
            </a:pPr>
            <a:r>
              <a:rPr lang="en-US" sz="1500" dirty="0">
                <a:solidFill>
                  <a:srgbClr val="334155"/>
                </a:solidFill>
              </a:rPr>
              <a:t>Resolved only when the same check read the tenant again and didn't report it</a:t>
            </a:r>
            <a:endParaRPr lang="en-US" sz="1500" dirty="0"/>
          </a:p>
          <a:p>
            <a:pPr marL="342900" indent="-342900">
              <a:spcAft>
                <a:spcPts val="400"/>
              </a:spcAft>
              <a:buSzPct val="100000"/>
              <a:buChar char="•"/>
            </a:pPr>
            <a:r>
              <a:rPr lang="en-US" sz="1500" dirty="0">
                <a:solidFill>
                  <a:srgbClr val="334155"/>
                </a:solidFill>
              </a:rPr>
              <a:t>A check that ended in Error proves nothing: its findings stay open as </a:t>
            </a:r>
            <a:pPr indent="0" marL="0">
              <a:spcAft>
                <a:spcPts val="400"/>
              </a:spcAft>
              <a:buNone/>
            </a:pPr>
            <a:r>
              <a:rPr lang="en-US" sz="1500" b="1" dirty="0">
                <a:solidFill>
                  <a:srgbClr val="1F2A44"/>
                </a:solidFill>
              </a:rPr>
              <a:t>unverified</a:t>
            </a:r>
            <a:endParaRPr lang="en-US" sz="15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13, Ch 06, the drift engine; Book 13, Ch 04, change control and provenance; Book 12, Ch 02, the evidence contract. Chapter 09, “Where the pipeline sits.”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GitHub Actions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Learn documents two secretless scheduled options: GitHub Actions with Azure Login, and Azure Pipelines with workload identity federation.</a:t>
            </a:r>
            <a:endParaRPr lang="en-US" sz="1800" dirty="0"/>
          </a:p>
        </p:txBody>
      </p:sp>
      <p:sp>
        <p:nvSpPr>
          <p:cNvPr id="6" name="Card 1" descr="">
            <a:extLst>
              <a:ext uri="{C183D7F6-B498-43B3-948B-1728B52AA6E4}">
                <adec:decorative xmlns:adec="http://schemas.microsoft.com/office/drawing/2017/decorative" val="1"/>
              </a:ext>
            </a:extLst>
          </p:cNvPr>
          <p:cNvSpPr/>
          <p:nvPr/>
        </p:nvSpPr>
        <p:spPr>
          <a:xfrm>
            <a:off x="548640" y="2112264"/>
            <a:ext cx="3550920" cy="1844040"/>
          </a:xfrm>
          <a:prstGeom prst="roundRect">
            <a:avLst>
              <a:gd name="adj" fmla="val 39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Card 1 bar" descr="">
            <a:extLst>
              <a:ext uri="{C183D7F6-B498-43B3-948B-1728B52AA6E4}">
                <adec:decorative xmlns:adec="http://schemas.microsoft.com/office/drawing/2017/decorative" val="1"/>
              </a:ext>
            </a:extLst>
          </p:cNvPr>
          <p:cNvSpPr/>
          <p:nvPr/>
        </p:nvSpPr>
        <p:spPr>
          <a:xfrm>
            <a:off x="548640" y="2112264"/>
            <a:ext cx="82296" cy="1844040"/>
          </a:xfrm>
          <a:prstGeom prst="rect">
            <a:avLst/>
          </a:prstGeom>
          <a:solidFill>
            <a:srgbClr val="1F2A44"/>
          </a:solidFill>
          <a:ln w="12700">
            <a:solidFill>
              <a:srgbClr val="1F2A44"/>
            </a:solidFill>
            <a:prstDash val="solid"/>
          </a:ln>
        </p:spPr>
      </p:sp>
      <p:sp>
        <p:nvSpPr>
          <p:cNvPr id="8" name="Card 1 text"/>
          <p:cNvSpPr txBox="1"/>
          <p:nvPr/>
        </p:nvSpPr>
        <p:spPr>
          <a:xfrm>
            <a:off x="777240" y="2249424"/>
            <a:ext cx="3185160" cy="161544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A complete sample</a:t>
            </a:r>
            <a:endParaRPr lang="en-US" sz="1400" dirty="0"/>
          </a:p>
          <a:p>
            <a:pPr indent="0" marL="0">
              <a:spcAft>
                <a:spcPts val="300"/>
              </a:spcAft>
              <a:buNone/>
            </a:pPr>
            <a:r>
              <a:rPr lang="en-US" sz="1500" dirty="0">
                <a:solidFill>
                  <a:srgbClr val="334155"/>
                </a:solidFill>
              </a:rPr>
              <a:t>Learn publishes full sample workflows, including the Azure US Government sign-in, on one page. That is this chapter's starting point</a:t>
            </a:r>
            <a:endParaRPr lang="en-US" sz="1400" dirty="0"/>
          </a:p>
        </p:txBody>
      </p:sp>
      <p:sp>
        <p:nvSpPr>
          <p:cNvPr id="9" name="Card 2" descr="">
            <a:extLst>
              <a:ext uri="{C183D7F6-B498-43B3-948B-1728B52AA6E4}">
                <adec:decorative xmlns:adec="http://schemas.microsoft.com/office/drawing/2017/decorative" val="1"/>
              </a:ext>
            </a:extLst>
          </p:cNvPr>
          <p:cNvSpPr/>
          <p:nvPr/>
        </p:nvSpPr>
        <p:spPr>
          <a:xfrm>
            <a:off x="4328160" y="2112264"/>
            <a:ext cx="3550920" cy="1844040"/>
          </a:xfrm>
          <a:prstGeom prst="roundRect">
            <a:avLst>
              <a:gd name="adj" fmla="val 396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Card 2 bar" descr="">
            <a:extLst>
              <a:ext uri="{C183D7F6-B498-43B3-948B-1728B52AA6E4}">
                <adec:decorative xmlns:adec="http://schemas.microsoft.com/office/drawing/2017/decorative" val="1"/>
              </a:ext>
            </a:extLst>
          </p:cNvPr>
          <p:cNvSpPr/>
          <p:nvPr/>
        </p:nvSpPr>
        <p:spPr>
          <a:xfrm>
            <a:off x="4328160" y="2112264"/>
            <a:ext cx="82296" cy="1844040"/>
          </a:xfrm>
          <a:prstGeom prst="rect">
            <a:avLst/>
          </a:prstGeom>
          <a:solidFill>
            <a:srgbClr val="0F766E"/>
          </a:solidFill>
          <a:ln w="12700">
            <a:solidFill>
              <a:srgbClr val="0F766E"/>
            </a:solidFill>
            <a:prstDash val="solid"/>
          </a:ln>
        </p:spPr>
      </p:sp>
      <p:sp>
        <p:nvSpPr>
          <p:cNvPr id="11" name="Card 2 text"/>
          <p:cNvSpPr txBox="1"/>
          <p:nvPr/>
        </p:nvSpPr>
        <p:spPr>
          <a:xfrm>
            <a:off x="4556760" y="2249424"/>
            <a:ext cx="3185160" cy="161544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Microsoft's own action</a:t>
            </a:r>
            <a:endParaRPr lang="en-US" sz="1400" dirty="0"/>
          </a:p>
          <a:p>
            <a:pPr indent="0" marL="0">
              <a:spcAft>
                <a:spcPts val="300"/>
              </a:spcAft>
              <a:buNone/>
            </a:pPr>
            <a:r>
              <a:rPr lang="en-US" sz="1500" dirty="0">
                <a:solidFill>
                  <a:srgbClr val="334155"/>
                </a:solidFill>
              </a:rPr>
              <a:t>Azure Login is published with its source and its declared inputs</a:t>
            </a:r>
            <a:endParaRPr lang="en-US" sz="1400" dirty="0"/>
          </a:p>
        </p:txBody>
      </p:sp>
      <p:sp>
        <p:nvSpPr>
          <p:cNvPr id="12" name="Card 3" descr="">
            <a:extLst>
              <a:ext uri="{C183D7F6-B498-43B3-948B-1728B52AA6E4}">
                <adec:decorative xmlns:adec="http://schemas.microsoft.com/office/drawing/2017/decorative" val="1"/>
              </a:ext>
            </a:extLst>
          </p:cNvPr>
          <p:cNvSpPr/>
          <p:nvPr/>
        </p:nvSpPr>
        <p:spPr>
          <a:xfrm>
            <a:off x="8107680" y="2112264"/>
            <a:ext cx="3550920" cy="1844040"/>
          </a:xfrm>
          <a:prstGeom prst="roundRect">
            <a:avLst>
              <a:gd name="adj" fmla="val 39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Card 3 bar" descr="">
            <a:extLst>
              <a:ext uri="{C183D7F6-B498-43B3-948B-1728B52AA6E4}">
                <adec:decorative xmlns:adec="http://schemas.microsoft.com/office/drawing/2017/decorative" val="1"/>
              </a:ext>
            </a:extLst>
          </p:cNvPr>
          <p:cNvSpPr/>
          <p:nvPr/>
        </p:nvSpPr>
        <p:spPr>
          <a:xfrm>
            <a:off x="8107680" y="2112264"/>
            <a:ext cx="82296" cy="1844040"/>
          </a:xfrm>
          <a:prstGeom prst="rect">
            <a:avLst/>
          </a:prstGeom>
          <a:solidFill>
            <a:srgbClr val="B45309"/>
          </a:solidFill>
          <a:ln w="12700">
            <a:solidFill>
              <a:srgbClr val="B45309"/>
            </a:solidFill>
            <a:prstDash val="solid"/>
          </a:ln>
        </p:spPr>
      </p:sp>
      <p:sp>
        <p:nvSpPr>
          <p:cNvPr id="14" name="Card 3 text"/>
          <p:cNvSpPr txBox="1"/>
          <p:nvPr/>
        </p:nvSpPr>
        <p:spPr>
          <a:xfrm>
            <a:off x="8336280" y="2249424"/>
            <a:ext cx="3185160" cy="161544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One path for every cloud</a:t>
            </a:r>
            <a:endParaRPr lang="en-US" sz="1400" dirty="0"/>
          </a:p>
          <a:p>
            <a:pPr indent="0" marL="0">
              <a:spcAft>
                <a:spcPts val="300"/>
              </a:spcAft>
              <a:buNone/>
            </a:pPr>
            <a:r>
              <a:rPr lang="en-US" sz="1500" dirty="0">
                <a:solidFill>
                  <a:srgbClr val="334155"/>
                </a:solidFill>
              </a:rPr>
              <a:t>Azure Pipelines' automatic app registration doesn't apply to Azure US Government; it needs the manual method. Either works for GCC with commercial Azure</a:t>
            </a:r>
            <a:endParaRPr lang="en-US" sz="1400" dirty="0"/>
          </a:p>
        </p:txBody>
      </p:sp>
      <p:sp>
        <p:nvSpPr>
          <p:cNvPr id="15" name="Callout" descr="">
            <a:extLst>
              <a:ext uri="{C183D7F6-B498-43B3-948B-1728B52AA6E4}">
                <adec:decorative xmlns:adec="http://schemas.microsoft.com/office/drawing/2017/decorative" val="1"/>
              </a:ext>
            </a:extLst>
          </p:cNvPr>
          <p:cNvSpPr/>
          <p:nvPr/>
        </p:nvSpPr>
        <p:spPr>
          <a:xfrm>
            <a:off x="548640" y="4139184"/>
            <a:ext cx="11109960" cy="1019556"/>
          </a:xfrm>
          <a:prstGeom prst="roundRect">
            <a:avLst>
              <a:gd name="adj" fmla="val 7175"/>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6" name="Icon FaCodeBranch" descr="">
            <a:extLst>
              <a:ext uri="{C183D7F6-B498-43B3-948B-1728B52AA6E4}">
                <adec:decorative xmlns:adec="http://schemas.microsoft.com/office/drawing/2017/decorative" val="1"/>
              </a:ext>
            </a:extLst>
          </p:cNvPr>
          <p:cNvSpPr/>
          <p:nvPr/>
        </p:nvSpPr>
        <p:spPr>
          <a:xfrm>
            <a:off x="749808" y="4328922"/>
            <a:ext cx="640080" cy="640080"/>
          </a:xfrm>
          <a:prstGeom prst="ellipse">
            <a:avLst/>
          </a:prstGeom>
          <a:solidFill>
            <a:srgbClr val="1F2A44"/>
          </a:solidFill>
          <a:ln w="12700">
            <a:solidFill>
              <a:srgbClr val="1F2A44"/>
            </a:solidFill>
            <a:prstDash val="solid"/>
          </a:ln>
        </p:spPr>
      </p:sp>
      <p:pic>
        <p:nvPicPr>
          <p:cNvPr id="1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482541"/>
            <a:ext cx="332842" cy="332842"/>
          </a:xfrm>
          <a:prstGeom prst="rect">
            <a:avLst/>
          </a:prstGeom>
        </p:spPr>
      </p:pic>
      <p:sp>
        <p:nvSpPr>
          <p:cNvPr id="18" name="Callout text"/>
          <p:cNvSpPr txBox="1"/>
          <p:nvPr/>
        </p:nvSpPr>
        <p:spPr>
          <a:xfrm>
            <a:off x="1600200" y="4194048"/>
            <a:ext cx="9875520" cy="909828"/>
          </a:xfrm>
          <a:prstGeom prst="rect">
            <a:avLst/>
          </a:prstGeom>
          <a:noFill/>
          <a:ln/>
        </p:spPr>
        <p:txBody>
          <a:bodyPr wrap="square" lIns="0" tIns="0" rIns="0" bIns="0" rtlCol="0" anchor="ctr"/>
          <a:lstStyle/>
          <a:p>
            <a:pPr indent="0" marL="0">
              <a:buNone/>
            </a:pPr>
            <a:r>
              <a:rPr lang="en-US" sz="1750" b="1" dirty="0">
                <a:solidFill>
                  <a:srgbClr val="1F2A44"/>
                </a:solidFill>
              </a:rPr>
              <a:t>Design guidance: </a:t>
            </a:r>
            <a:pPr indent="0" marL="0">
              <a:buNone/>
            </a:pPr>
            <a:r>
              <a:rPr lang="en-US" sz="1750" dirty="0">
                <a:solidFill>
                  <a:srgbClr val="334155"/>
                </a:solidFill>
              </a:rPr>
              <a:t>an agency standardized on Azure Pipelines can use the same comparator, packager and tests; only the workflow file changes. GitHub details Learn doesn't cover are cited to GitHub's documentation.</a:t>
            </a:r>
            <a:endParaRPr lang="en-US" sz="17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Use the Azure Login action with OpenID Connect; Azure/login v3.1.0; Learn, Azure Resource Manager service connection. Chapter 09, “Why GitHub Actions.”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Which cloud: authority, Graph host, audience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145792"/>
        </p:xfrm>
        <a:graphic>
          <a:graphicData uri="http://schemas.openxmlformats.org/drawingml/2006/table">
            <a:tbl>
              <a:tblPr firstRow="1" bandRow="1"/>
              <a:tblGrid>
                <a:gridCol w="1088323"/>
                <a:gridCol w="2358032"/>
                <a:gridCol w="2176645"/>
                <a:gridCol w="1949911"/>
                <a:gridCol w="2358032"/>
                <a:gridCol w="1179016"/>
              </a:tblGrid>
              <a:tr h="53644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Cloud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Sign-in authority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Graph host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Azure Login environment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audience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Connect-MgGraph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gcc</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login.microsoftonline.com</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graph.microsoft.com</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AzureCloud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api://AzureADTokenExchange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Global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gcchigh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login.microsoftonline.us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graph.microsoft.us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AzureUSGovernment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api://AzureADTokenExchangeUSGov</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USGov</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dod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login.microsoftonline.us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dod-graph.microsoft.us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AzureUSGovernment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api://AzureADTokenExchangeUSGov</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USGovDoD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nel The rules" descr="">
            <a:extLst>
              <a:ext uri="{C183D7F6-B498-43B3-948B-1728B52AA6E4}">
                <adec:decorative xmlns:adec="http://schemas.microsoft.com/office/drawing/2017/decorative" val="1"/>
              </a:ext>
            </a:extLst>
          </p:cNvPr>
          <p:cNvSpPr/>
          <p:nvPr/>
        </p:nvSpPr>
        <p:spPr>
          <a:xfrm>
            <a:off x="548640" y="3654552"/>
            <a:ext cx="5417820" cy="1956816"/>
          </a:xfrm>
          <a:prstGeom prst="roundRect">
            <a:avLst>
              <a:gd name="adj" fmla="val 373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The rules label"/>
          <p:cNvSpPr txBox="1"/>
          <p:nvPr/>
        </p:nvSpPr>
        <p:spPr>
          <a:xfrm>
            <a:off x="731520" y="3764280"/>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RULES</a:t>
            </a:r>
            <a:endParaRPr lang="en-US" sz="1100" dirty="0"/>
          </a:p>
        </p:txBody>
      </p:sp>
      <p:sp>
        <p:nvSpPr>
          <p:cNvPr id="8" name="Panel The rules list"/>
          <p:cNvSpPr txBox="1"/>
          <p:nvPr/>
        </p:nvSpPr>
        <p:spPr>
          <a:xfrm>
            <a:off x="731520" y="4066032"/>
            <a:ext cx="5097780" cy="1499616"/>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Learn: an app in Microsoft 365 GCC keeps using the worldwide endpoints</a:t>
            </a:r>
            <a:endParaRPr lang="en-US" sz="1500" dirty="0"/>
          </a:p>
          <a:p>
            <a:pPr marL="342900" indent="-342900">
              <a:spcAft>
                <a:spcPts val="400"/>
              </a:spcAft>
              <a:buSzPct val="100000"/>
              <a:buChar char="•"/>
            </a:pPr>
            <a:r>
              <a:rPr lang="en-US" sz="1500" dirty="0">
                <a:solidFill>
                  <a:srgbClr val="334155"/>
                </a:solidFill>
              </a:rPr>
              <a:t>Tokens for one cloud don't work in another</a:t>
            </a:r>
            <a:endParaRPr lang="en-US" sz="1500" dirty="0"/>
          </a:p>
          <a:p>
            <a:pPr marL="342900" indent="-342900">
              <a:spcAft>
                <a:spcPts val="400"/>
              </a:spcAft>
              <a:buSzPct val="100000"/>
              <a:buChar char="•"/>
            </a:pPr>
            <a:r>
              <a:rPr lang="en-US" sz="1500" dirty="0">
                <a:solidFill>
                  <a:srgbClr val="334155"/>
                </a:solidFill>
              </a:rPr>
              <a:t>cloud_profile() refuses an unknown name; it is never mapped to worldwide</a:t>
            </a:r>
            <a:endParaRPr lang="en-US" sz="1500" dirty="0"/>
          </a:p>
        </p:txBody>
      </p:sp>
      <p:sp>
        <p:nvSpPr>
          <p:cNvPr id="9" name="Panel The trap: DoD" descr="">
            <a:extLst>
              <a:ext uri="{C183D7F6-B498-43B3-948B-1728B52AA6E4}">
                <adec:decorative xmlns:adec="http://schemas.microsoft.com/office/drawing/2017/decorative" val="1"/>
              </a:ext>
            </a:extLst>
          </p:cNvPr>
          <p:cNvSpPr/>
          <p:nvPr/>
        </p:nvSpPr>
        <p:spPr>
          <a:xfrm>
            <a:off x="6240780" y="3654552"/>
            <a:ext cx="5417820" cy="1956816"/>
          </a:xfrm>
          <a:prstGeom prst="roundRect">
            <a:avLst>
              <a:gd name="adj" fmla="val 3738"/>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Panel The trap: DoD label"/>
          <p:cNvSpPr txBox="1"/>
          <p:nvPr/>
        </p:nvSpPr>
        <p:spPr>
          <a:xfrm>
            <a:off x="6423660" y="3764280"/>
            <a:ext cx="5052060" cy="274320"/>
          </a:xfrm>
          <a:prstGeom prst="rect">
            <a:avLst/>
          </a:prstGeom>
          <a:noFill/>
          <a:ln/>
        </p:spPr>
        <p:txBody>
          <a:bodyPr wrap="square" lIns="0" tIns="0" rIns="0" bIns="0" rtlCol="0" anchor="t"/>
          <a:lstStyle/>
          <a:p>
            <a:pPr indent="0" marL="0">
              <a:buNone/>
            </a:pPr>
            <a:r>
              <a:rPr lang="en-US" sz="1100" b="1" spc="50" kern="0" dirty="0">
                <a:solidFill>
                  <a:srgbClr val="B91C1C"/>
                </a:solidFill>
              </a:rPr>
              <a:t>THE TRAP: DOD</a:t>
            </a:r>
            <a:endParaRPr lang="en-US" sz="1100" dirty="0"/>
          </a:p>
        </p:txBody>
      </p:sp>
      <p:sp>
        <p:nvSpPr>
          <p:cNvPr id="11" name="Panel The trap: DoD list"/>
          <p:cNvSpPr txBox="1"/>
          <p:nvPr/>
        </p:nvSpPr>
        <p:spPr>
          <a:xfrm>
            <a:off x="6423660" y="4066032"/>
            <a:ext cx="5097780" cy="1499616"/>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Azure Login's AzureUSGovernment covers both GCC High and DoD</a:t>
            </a:r>
            <a:endParaRPr lang="en-US" sz="1500" dirty="0"/>
          </a:p>
          <a:p>
            <a:pPr marL="342900" indent="-342900">
              <a:spcAft>
                <a:spcPts val="400"/>
              </a:spcAft>
              <a:buSzPct val="100000"/>
              <a:buChar char="•"/>
            </a:pPr>
            <a:r>
              <a:rPr lang="en-US" sz="1500" dirty="0">
                <a:solidFill>
                  <a:srgbClr val="334155"/>
                </a:solidFill>
              </a:rPr>
              <a:t>So the Graph host has to come from the profile, not from the sign-in</a:t>
            </a:r>
            <a:endParaRPr lang="en-US" sz="1500" dirty="0"/>
          </a:p>
          <a:p>
            <a:pPr marL="342900" indent="-342900">
              <a:spcAft>
                <a:spcPts val="400"/>
              </a:spcAft>
              <a:buSzPct val="100000"/>
              <a:buChar char="•"/>
            </a:pPr>
            <a:r>
              <a:rPr lang="en-US" sz="1500" dirty="0">
                <a:solidFill>
                  <a:srgbClr val="334155"/>
                </a:solidFill>
              </a:rPr>
              <a:t>WF-12 checks the workflow's host against its cloud</a:t>
            </a:r>
            <a:endParaRPr lang="en-US" sz="15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Graph national cloud deployments; Configure an app to trust a managed identity (audiences); Connect-MgGraph. Chapter 09, “Clouds.”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Learn's sample workflows, pinned and linted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1543812"/>
        </p:xfrm>
        <a:graphic>
          <a:graphicData uri="http://schemas.openxmlformats.org/drawingml/2006/table">
            <a:tbl>
              <a:tblPr firstRow="1" bandRow="1"/>
              <a:tblGrid>
                <a:gridCol w="3017520"/>
                <a:gridCol w="809244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Sample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it does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Azure CLI only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Signs in with azure/login@v2; runs az account show with azure/cli@v2</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Azure CLI and PowerShell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same, with enable-AzPSSession: true and azure/powershell@v2 running Get-AzContext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Azure US Government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One step: azure/login@v2 with environment AzureUSGovernment and audience api://AzureADTokenExchangeUSGov</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nel What Learn's page says" descr="">
            <a:extLst>
              <a:ext uri="{C183D7F6-B498-43B3-948B-1728B52AA6E4}">
                <adec:decorative xmlns:adec="http://schemas.microsoft.com/office/drawing/2017/decorative" val="1"/>
              </a:ext>
            </a:extLst>
          </p:cNvPr>
          <p:cNvSpPr/>
          <p:nvPr/>
        </p:nvSpPr>
        <p:spPr>
          <a:xfrm>
            <a:off x="548640" y="3052572"/>
            <a:ext cx="5417820" cy="2866644"/>
          </a:xfrm>
          <a:prstGeom prst="roundRect">
            <a:avLst>
              <a:gd name="adj" fmla="val 255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What Learn&amp;apos;s page says label"/>
          <p:cNvSpPr txBox="1"/>
          <p:nvPr/>
        </p:nvSpPr>
        <p:spPr>
          <a:xfrm>
            <a:off x="731520" y="3162300"/>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LEARN'S PAGE SAYS</a:t>
            </a:r>
            <a:endParaRPr lang="en-US" sz="1100" dirty="0"/>
          </a:p>
        </p:txBody>
      </p:sp>
      <p:sp>
        <p:nvSpPr>
          <p:cNvPr id="8" name="Panel What Learn's page says list"/>
          <p:cNvSpPr txBox="1"/>
          <p:nvPr/>
        </p:nvSpPr>
        <p:spPr>
          <a:xfrm>
            <a:off x="731520" y="3464052"/>
            <a:ext cx="5097780" cy="240944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Each job asks for id-token: write and nothing else</a:t>
            </a:r>
            <a:endParaRPr lang="en-US" sz="1450" dirty="0"/>
          </a:p>
          <a:p>
            <a:pPr marL="342900" indent="-342900">
              <a:spcAft>
                <a:spcPts val="400"/>
              </a:spcAft>
              <a:buSzPct val="100000"/>
              <a:buChar char="•"/>
            </a:pPr>
            <a:r>
              <a:rPr lang="en-US" sz="1450" dirty="0">
                <a:solidFill>
                  <a:srgbClr val="334155"/>
                </a:solidFill>
              </a:rPr>
              <a:t>Client, tenant and subscription IDs from GitHub secrets, "for security reasons"</a:t>
            </a:r>
            <a:endParaRPr lang="en-US" sz="1450" dirty="0"/>
          </a:p>
          <a:p>
            <a:pPr marL="342900" indent="-342900">
              <a:spcAft>
                <a:spcPts val="400"/>
              </a:spcAft>
              <a:buSzPct val="100000"/>
              <a:buChar char="•"/>
            </a:pPr>
            <a:r>
              <a:rPr lang="en-US" sz="1450" dirty="0">
                <a:solidFill>
                  <a:srgbClr val="334155"/>
                </a:solidFill>
              </a:rPr>
              <a:t>audience defaults to api://AzureADTokenExchange for public clouds; change it for others</a:t>
            </a:r>
            <a:endParaRPr lang="en-US" sz="1450" dirty="0"/>
          </a:p>
          <a:p>
            <a:pPr marL="342900" indent="-342900">
              <a:spcAft>
                <a:spcPts val="400"/>
              </a:spcAft>
              <a:buSzPct val="100000"/>
              <a:buChar char="•"/>
            </a:pPr>
            <a:r>
              <a:rPr lang="en-US" sz="1450" dirty="0">
                <a:solidFill>
                  <a:srgbClr val="334155"/>
                </a:solidFill>
              </a:rPr>
              <a:t>First, a federated credential that trusts the repository</a:t>
            </a:r>
            <a:endParaRPr lang="en-US" sz="1450" dirty="0"/>
          </a:p>
        </p:txBody>
      </p:sp>
      <p:sp>
        <p:nvSpPr>
          <p:cNvPr id="9" name="Panel The pinned copy and the linter" descr="">
            <a:extLst>
              <a:ext uri="{C183D7F6-B498-43B3-948B-1728B52AA6E4}">
                <adec:decorative xmlns:adec="http://schemas.microsoft.com/office/drawing/2017/decorative" val="1"/>
              </a:ext>
            </a:extLst>
          </p:cNvPr>
          <p:cNvSpPr/>
          <p:nvPr/>
        </p:nvSpPr>
        <p:spPr>
          <a:xfrm>
            <a:off x="6240780" y="3052572"/>
            <a:ext cx="5417820" cy="2866644"/>
          </a:xfrm>
          <a:prstGeom prst="roundRect">
            <a:avLst>
              <a:gd name="adj" fmla="val 255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Panel The pinned copy and the linter label"/>
          <p:cNvSpPr txBox="1"/>
          <p:nvPr/>
        </p:nvSpPr>
        <p:spPr>
          <a:xfrm>
            <a:off x="6423660" y="3162300"/>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PINNED COPY AND THE LINTER</a:t>
            </a:r>
            <a:endParaRPr lang="en-US" sz="1100" dirty="0"/>
          </a:p>
        </p:txBody>
      </p:sp>
      <p:sp>
        <p:nvSpPr>
          <p:cNvPr id="11" name="Panel The pinned copy and the linter list"/>
          <p:cNvSpPr txBox="1"/>
          <p:nvPr/>
        </p:nvSpPr>
        <p:spPr>
          <a:xfrm>
            <a:off x="6423660" y="3464052"/>
            <a:ext cx="5097780" cy="240944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The page itself, from MicrosoftDocs/azure-dev-docs at 23900ce (Oct 28, 2026), MIT code license</a:t>
            </a:r>
            <a:endParaRPr lang="en-US" sz="1450" dirty="0"/>
          </a:p>
          <a:p>
            <a:pPr marL="342900" indent="-342900">
              <a:spcAft>
                <a:spcPts val="400"/>
              </a:spcAft>
              <a:buSzPct val="100000"/>
              <a:buChar char="•"/>
            </a:pPr>
            <a:r>
              <a:rPr lang="en-US" sz="1450" dirty="0">
                <a:solidFill>
                  <a:srgbClr val="334155"/>
                </a:solidFill>
              </a:rPr>
              <a:t>Azure Login's action.yml at v3.1.0, for its declared inputs and defaults</a:t>
            </a:r>
            <a:endParaRPr lang="en-US" sz="1450" dirty="0"/>
          </a:p>
          <a:p>
            <a:pPr marL="342900" indent="-342900">
              <a:spcAft>
                <a:spcPts val="400"/>
              </a:spcAft>
              <a:buSzPct val="100000"/>
              <a:buChar char="•"/>
            </a:pPr>
            <a:r>
              <a:rPr lang="en-US" sz="1450" dirty="0">
                <a:solidFill>
                  <a:srgbClr val="334155"/>
                </a:solidFill>
              </a:rPr>
              <a:t>snapshot.json per copy, tested; a source-watch feed for upstream commits</a:t>
            </a:r>
            <a:endParaRPr lang="en-US" sz="1450" dirty="0"/>
          </a:p>
          <a:p>
            <a:pPr marL="342900" indent="-342900">
              <a:spcAft>
                <a:spcPts val="400"/>
              </a:spcAft>
              <a:buSzPct val="100000"/>
              <a:buChar char="•"/>
            </a:pPr>
            <a:r>
              <a:rPr lang="en-US" sz="1450" dirty="0">
                <a:solidFill>
                  <a:srgbClr val="334155"/>
                </a:solidFill>
              </a:rPr>
              <a:t>workflow_lint.py extracts each workflow at test time; nothing runs or signs in. Twelve rules, WF-01 to WF-12</a:t>
            </a:r>
            <a:endParaRPr lang="en-US" sz="14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Azure Login action with OpenID Connect; azure-dev-docs at 23900ce; Azure/login v3.1.0; Learn, trust an external IdP. Chapter 09, “What Learn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samples leave to you: schedule and pins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645408"/>
        </p:xfrm>
        <a:graphic>
          <a:graphicData uri="http://schemas.openxmlformats.org/drawingml/2006/table">
            <a:tbl>
              <a:tblPr firstRow="1" bandRow="1"/>
              <a:tblGrid>
                <a:gridCol w="3931920"/>
                <a:gridCol w="3566160"/>
                <a:gridCol w="361188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Learn's samples, checked as published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examples/drift-pipeline adds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OIDC sign-in; id-token: write on the job and nothing else; IDs in secrets; inputs the action declares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Kept as the model: the same sign-in, secrets and single grant on the job that signs in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Run on push; no schedule (WF-02)</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Drift isn't found because someone pushed a commit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schedule once a day, and workflow_dispatch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azure/login@v2 and the others are tags (WF-05); v2 is older than Azure Login v3.1.0 (WF-08)</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tag can be moved; GitHub advises pinning to a full commit SHA</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Every action pinned to a commit, Azure Login to v3.1.0's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azcliversion and azPSVersion: latest (WF-09)</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tool that produced the evidence changes without review</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Exact versions from repository variables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The US Government sample doesn't parse: with: is indented under uses: (WF-01)</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Copied as is, it can't run; its environment and audience pair is right once fixed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linter catches it; a cloud table gives each cloud's values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Use the Azure Login action with OpenID Connect; Azure/login releases (v3.1.0); GitHub Docs, Secure use reference. Chapter 09, “What it leaves to you” (rows 1–5).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samples leave to you: subject and scope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200400"/>
        </p:xfrm>
        <a:graphic>
          <a:graphicData uri="http://schemas.openxmlformats.org/drawingml/2006/table">
            <a:tbl>
              <a:tblPr firstRow="1" bandRow="1"/>
              <a:tblGrid>
                <a:gridCol w="3931920"/>
                <a:gridCol w="3566160"/>
                <a:gridCol w="361188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Learn's samples, checked as published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examples/drift-pipeline adds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The job names no environment (WF-10)</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token's subject depends on branch or event; a federated credential matches one subject exactly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job runs in drift-gcc; the credential's subject is that environment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99364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They stop at az account show</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No Graph token; nothing on GCC High and DoD, which share an authority and Azure environment but not a Graph host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cloud table checked against the workflow (WF-12); a Graph token for the profile's host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No workflow-level permissions, concurrency group or timeout (WF-03, WF-11)</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Two runs can overlap and compare against each other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permissions: {} at the top, a concurrency group, timeouts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Nothing after sign-in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No comparison, no findings, no evidence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compare, issues, package and verify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709160"/>
            <a:ext cx="11109960" cy="1019556"/>
          </a:xfrm>
          <a:prstGeom prst="roundRect">
            <a:avLst>
              <a:gd name="adj" fmla="val 7175"/>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ScaleBalanced" descr="">
            <a:extLst>
              <a:ext uri="{C183D7F6-B498-43B3-948B-1728B52AA6E4}">
                <adec:decorative xmlns:adec="http://schemas.microsoft.com/office/drawing/2017/decorative" val="1"/>
              </a:ext>
            </a:extLst>
          </p:cNvPr>
          <p:cNvSpPr/>
          <p:nvPr/>
        </p:nvSpPr>
        <p:spPr>
          <a:xfrm>
            <a:off x="749808" y="4898898"/>
            <a:ext cx="640080" cy="64008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052517"/>
            <a:ext cx="332842" cy="332842"/>
          </a:xfrm>
          <a:prstGeom prst="rect">
            <a:avLst/>
          </a:prstGeom>
        </p:spPr>
      </p:pic>
      <p:sp>
        <p:nvSpPr>
          <p:cNvPr id="9" name="Callout text"/>
          <p:cNvSpPr txBox="1"/>
          <p:nvPr/>
        </p:nvSpPr>
        <p:spPr>
          <a:xfrm>
            <a:off x="1600200" y="4764024"/>
            <a:ext cx="9875520" cy="909828"/>
          </a:xfrm>
          <a:prstGeom prst="rect">
            <a:avLst/>
          </a:prstGeom>
          <a:noFill/>
          <a:ln/>
        </p:spPr>
        <p:txBody>
          <a:bodyPr wrap="square" lIns="0" tIns="0" rIns="0" bIns="0" rtlCol="0" anchor="ctr"/>
          <a:lstStyle/>
          <a:p>
            <a:pPr indent="0" marL="0">
              <a:buNone/>
            </a:pPr>
            <a:r>
              <a:rPr lang="en-US" sz="1750" b="1" dirty="0">
                <a:solidFill>
                  <a:srgbClr val="1F2A44"/>
                </a:solidFill>
              </a:rPr>
              <a:t>Verdict: </a:t>
            </a:r>
            <a:pPr indent="0" marL="0">
              <a:buNone/>
            </a:pPr>
            <a:r>
              <a:rPr lang="en-US" sz="1750" dirty="0">
                <a:solidFill>
                  <a:srgbClr val="334155"/>
                </a:solidFill>
              </a:rPr>
              <a:t>use Learn's sign-in exactly: the federated credential, the action, the secrets, the single grant. Pin it, schedule it, and put the rest of the pipeline behind it. Fix the US Government sample's indentation before you copy it.</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GitHub Docs, OpenID Connect reference; Learn, trust an external IdP; Graph national cloud deployments. Chapter 09, “What it leaves to you” (rows 6–9), “The verdict.”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workflow: one job reads, one job writes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check" descr="">
            <a:extLst>
              <a:ext uri="{C183D7F6-B498-43B3-948B-1728B52AA6E4}">
                <adec:decorative xmlns:adec="http://schemas.microsoft.com/office/drawing/2017/decorative" val="1"/>
              </a:ext>
            </a:extLst>
          </p:cNvPr>
          <p:cNvSpPr/>
          <p:nvPr/>
        </p:nvSpPr>
        <p:spPr>
          <a:xfrm>
            <a:off x="548640" y="1325880"/>
            <a:ext cx="5417820" cy="2706624"/>
          </a:xfrm>
          <a:prstGeom prst="roundRect">
            <a:avLst>
              <a:gd name="adj" fmla="val 270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check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CHECK</a:t>
            </a:r>
            <a:endParaRPr lang="en-US" sz="1100" dirty="0"/>
          </a:p>
        </p:txBody>
      </p:sp>
      <p:sp>
        <p:nvSpPr>
          <p:cNvPr id="7" name="Panel check list"/>
          <p:cNvSpPr txBox="1"/>
          <p:nvPr/>
        </p:nvSpPr>
        <p:spPr>
          <a:xfrm>
            <a:off x="731520" y="1737360"/>
            <a:ext cx="5097780" cy="22494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Runs in drift-gcc with contents: read and id-token: write</a:t>
            </a:r>
            <a:endParaRPr lang="en-US" sz="1500" dirty="0"/>
          </a:p>
          <a:p>
            <a:pPr marL="342900" indent="-342900">
              <a:spcAft>
                <a:spcPts val="400"/>
              </a:spcAft>
              <a:buSzPct val="100000"/>
              <a:buChar char="•"/>
            </a:pPr>
            <a:r>
              <a:rPr lang="en-US" sz="1500" dirty="0">
                <a:solidFill>
                  <a:srgbClr val="334155"/>
                </a:solidFill>
              </a:rPr>
              <a:t>Signs in with Azure Login; Get-AzAccessToken -AsSecureString for the profile's Graph host; Connect-MgGraph with it</a:t>
            </a:r>
            <a:endParaRPr lang="en-US" sz="1500" dirty="0"/>
          </a:p>
          <a:p>
            <a:pPr marL="342900" indent="-342900">
              <a:spcAft>
                <a:spcPts val="400"/>
              </a:spcAft>
              <a:buSzPct val="100000"/>
              <a:buChar char="•"/>
            </a:pPr>
            <a:r>
              <a:rPr lang="en-US" sz="1500" dirty="0">
                <a:solidFill>
                  <a:srgbClr val="334155"/>
                </a:solidFill>
              </a:rPr>
              <a:t>Runs the validation kit with -SkipConnect</a:t>
            </a:r>
            <a:endParaRPr lang="en-US" sz="1500" dirty="0"/>
          </a:p>
          <a:p>
            <a:pPr marL="342900" indent="-342900">
              <a:spcAft>
                <a:spcPts val="400"/>
              </a:spcAft>
              <a:buSzPct val="100000"/>
              <a:buChar char="•"/>
            </a:pPr>
            <a:r>
              <a:rPr lang="en-US" sz="1500" dirty="0">
                <a:solidFill>
                  <a:srgbClr val="334155"/>
                </a:solidFill>
              </a:rPr>
              <a:t>Fetches and verifies the previous package, compares, packages, writes to an immutable container</a:t>
            </a:r>
            <a:endParaRPr lang="en-US" sz="1500" dirty="0"/>
          </a:p>
        </p:txBody>
      </p:sp>
      <p:sp>
        <p:nvSpPr>
          <p:cNvPr id="8" name="Panel findings" descr="">
            <a:extLst>
              <a:ext uri="{C183D7F6-B498-43B3-948B-1728B52AA6E4}">
                <adec:decorative xmlns:adec="http://schemas.microsoft.com/office/drawing/2017/decorative" val="1"/>
              </a:ext>
            </a:extLst>
          </p:cNvPr>
          <p:cNvSpPr/>
          <p:nvPr/>
        </p:nvSpPr>
        <p:spPr>
          <a:xfrm>
            <a:off x="6240780" y="1325880"/>
            <a:ext cx="5417820" cy="2706624"/>
          </a:xfrm>
          <a:prstGeom prst="roundRect">
            <a:avLst>
              <a:gd name="adj" fmla="val 270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findings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FINDINGS</a:t>
            </a:r>
            <a:endParaRPr lang="en-US" sz="1100" dirty="0"/>
          </a:p>
        </p:txBody>
      </p:sp>
      <p:sp>
        <p:nvSpPr>
          <p:cNvPr id="10" name="Panel findings list"/>
          <p:cNvSpPr txBox="1"/>
          <p:nvPr/>
        </p:nvSpPr>
        <p:spPr>
          <a:xfrm>
            <a:off x="6423660" y="1737360"/>
            <a:ext cx="5097780" cy="22494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contents: read and issues: write, and no Azure access at all</a:t>
            </a:r>
            <a:endParaRPr lang="en-US" sz="1500" dirty="0"/>
          </a:p>
          <a:p>
            <a:pPr marL="342900" indent="-342900">
              <a:spcAft>
                <a:spcPts val="400"/>
              </a:spcAft>
              <a:buSzPct val="100000"/>
              <a:buChar char="•"/>
            </a:pPr>
            <a:r>
              <a:rPr lang="en-US" sz="1500" dirty="0">
                <a:solidFill>
                  <a:srgbClr val="334155"/>
                </a:solidFill>
              </a:rPr>
              <a:t>Downloads the drift report, opens or closes issues</a:t>
            </a:r>
            <a:endParaRPr lang="en-US" sz="1500" dirty="0"/>
          </a:p>
          <a:p>
            <a:pPr marL="342900" indent="-342900">
              <a:spcAft>
                <a:spcPts val="400"/>
              </a:spcAft>
              <a:buSzPct val="100000"/>
              <a:buChar char="•"/>
            </a:pPr>
            <a:r>
              <a:rPr lang="en-US" sz="1500" dirty="0">
                <a:solidFill>
                  <a:srgbClr val="334155"/>
                </a:solidFill>
              </a:rPr>
              <a:t>WF-04 fails a workflow that puts both grants on one job (design guidance)</a:t>
            </a:r>
            <a:endParaRPr lang="en-US" sz="1500" dirty="0"/>
          </a:p>
        </p:txBody>
      </p:sp>
      <p:sp>
        <p:nvSpPr>
          <p:cNvPr id="11" name="Callout" descr="">
            <a:extLst>
              <a:ext uri="{C183D7F6-B498-43B3-948B-1728B52AA6E4}">
                <adec:decorative xmlns:adec="http://schemas.microsoft.com/office/drawing/2017/decorative" val="1"/>
              </a:ext>
            </a:extLst>
          </p:cNvPr>
          <p:cNvSpPr/>
          <p:nvPr/>
        </p:nvSpPr>
        <p:spPr>
          <a:xfrm>
            <a:off x="548640" y="4215384"/>
            <a:ext cx="11109960" cy="1019556"/>
          </a:xfrm>
          <a:prstGeom prst="roundRect">
            <a:avLst>
              <a:gd name="adj" fmla="val 7175"/>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749808" y="4405122"/>
            <a:ext cx="640080" cy="640080"/>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558741"/>
            <a:ext cx="332842" cy="332842"/>
          </a:xfrm>
          <a:prstGeom prst="rect">
            <a:avLst/>
          </a:prstGeom>
        </p:spPr>
      </p:pic>
      <p:sp>
        <p:nvSpPr>
          <p:cNvPr id="14" name="Callout text"/>
          <p:cNvSpPr txBox="1"/>
          <p:nvPr/>
        </p:nvSpPr>
        <p:spPr>
          <a:xfrm>
            <a:off x="1600200" y="4270248"/>
            <a:ext cx="9875520" cy="909828"/>
          </a:xfrm>
          <a:prstGeom prst="rect">
            <a:avLst/>
          </a:prstGeom>
          <a:noFill/>
          <a:ln/>
        </p:spPr>
        <p:txBody>
          <a:bodyPr wrap="square" lIns="0" tIns="0" rIns="0" bIns="0" rtlCol="0" anchor="ctr"/>
          <a:lstStyle/>
          <a:p>
            <a:pPr indent="0" marL="0">
              <a:buNone/>
            </a:pPr>
            <a:r>
              <a:rPr lang="en-US" sz="1750" b="1" dirty="0">
                <a:solidFill>
                  <a:srgbClr val="B45309"/>
                </a:solidFill>
              </a:rPr>
              <a:t>Note: </a:t>
            </a:r>
            <a:pPr indent="0" marL="0">
              <a:buNone/>
            </a:pPr>
            <a:r>
              <a:rPr lang="en-US" sz="1750" dirty="0">
                <a:solidFill>
                  <a:srgbClr val="334155"/>
                </a:solidFill>
              </a:rPr>
              <a:t>workflow/drift-pipeline.yml is a sample for GCC with commercial Azure, under examples/, not .github/workflows/; it has never run against Azure. VK-DG-03 is delegated only, so an app-only run lists it as unverified every time: the truth.</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Get-AzAccessToken; Connect-MgGraph. Chapter 09, “The workflow”; Chapter 03, the validation kit's sign-in.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Compare: refuse what can't be compared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Load, then key" descr="">
            <a:extLst>
              <a:ext uri="{C183D7F6-B498-43B3-948B-1728B52AA6E4}">
                <adec:decorative xmlns:adec="http://schemas.microsoft.com/office/drawing/2017/decorative" val="1"/>
              </a:ext>
            </a:extLst>
          </p:cNvPr>
          <p:cNvSpPr/>
          <p:nvPr/>
        </p:nvSpPr>
        <p:spPr>
          <a:xfrm>
            <a:off x="548640" y="1325880"/>
            <a:ext cx="5417820" cy="3163824"/>
          </a:xfrm>
          <a:prstGeom prst="roundRect">
            <a:avLst>
              <a:gd name="adj" fmla="val 231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Load, then key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LOAD, THEN KEY</a:t>
            </a:r>
            <a:endParaRPr lang="en-US" sz="1100" dirty="0"/>
          </a:p>
        </p:txBody>
      </p:sp>
      <p:sp>
        <p:nvSpPr>
          <p:cNvPr id="7" name="Panel Load, then key list"/>
          <p:cNvSpPr txBox="1"/>
          <p:nvPr/>
        </p:nvSpPr>
        <p:spPr>
          <a:xfrm>
            <a:off x="731520" y="1737360"/>
            <a:ext cx="5097780" cy="2706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load_run() checks a kit run against the kit's ValidationManifest.json: every file's SHA-256, nothing missing or added, ReadOnly: true</a:t>
            </a:r>
            <a:endParaRPr lang="en-US" sz="1500" dirty="0"/>
          </a:p>
          <a:p>
            <a:pPr marL="342900" indent="-342900">
              <a:spcAft>
                <a:spcPts val="400"/>
              </a:spcAft>
              <a:buSzPct val="100000"/>
              <a:buChar char="•"/>
            </a:pPr>
            <a:r>
              <a:rPr lang="en-US" sz="1500" dirty="0">
                <a:solidFill>
                  <a:srgbClr val="334155"/>
                </a:solidFill>
              </a:rPr>
              <a:t>A run edited after the kit wrote it is refused</a:t>
            </a:r>
            <a:endParaRPr lang="en-US" sz="1500" dirty="0"/>
          </a:p>
          <a:p>
            <a:pPr marL="342900" indent="-342900">
              <a:spcAft>
                <a:spcPts val="400"/>
              </a:spcAft>
              <a:buSzPct val="100000"/>
              <a:buChar char="•"/>
            </a:pPr>
            <a:r>
              <a:rPr lang="en-US" sz="1500" dirty="0">
                <a:solidFill>
                  <a:srgbClr val="334155"/>
                </a:solidFill>
              </a:rPr>
              <a:t>compare() keys Finding and Warn rows by check, object ID and issue (Info doesn't count)</a:t>
            </a:r>
            <a:endParaRPr lang="en-US" sz="1500" dirty="0"/>
          </a:p>
        </p:txBody>
      </p:sp>
      <p:sp>
        <p:nvSpPr>
          <p:cNvPr id="8" name="Panel It refuses" descr="">
            <a:extLst>
              <a:ext uri="{C183D7F6-B498-43B3-948B-1728B52AA6E4}">
                <adec:decorative xmlns:adec="http://schemas.microsoft.com/office/drawing/2017/decorative" val="1"/>
              </a:ext>
            </a:extLst>
          </p:cNvPr>
          <p:cNvSpPr/>
          <p:nvPr/>
        </p:nvSpPr>
        <p:spPr>
          <a:xfrm>
            <a:off x="6240780" y="1325880"/>
            <a:ext cx="5417820" cy="3163824"/>
          </a:xfrm>
          <a:prstGeom prst="roundRect">
            <a:avLst>
              <a:gd name="adj" fmla="val 2312"/>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Panel It refuses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B91C1C"/>
                </a:solidFill>
              </a:rPr>
              <a:t>IT REFUSES</a:t>
            </a:r>
            <a:endParaRPr lang="en-US" sz="1100" dirty="0"/>
          </a:p>
        </p:txBody>
      </p:sp>
      <p:sp>
        <p:nvSpPr>
          <p:cNvPr id="10" name="Panel It refuses list"/>
          <p:cNvSpPr txBox="1"/>
          <p:nvPr/>
        </p:nvSpPr>
        <p:spPr>
          <a:xfrm>
            <a:off x="6423660" y="1737360"/>
            <a:ext cx="5097780" cy="2706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Different modes or clouds, or a current run that isn't later</a:t>
            </a:r>
            <a:endParaRPr lang="en-US" sz="1500" dirty="0"/>
          </a:p>
          <a:p>
            <a:pPr marL="342900" indent="-342900">
              <a:spcAft>
                <a:spcPts val="400"/>
              </a:spcAft>
              <a:buSzPct val="100000"/>
              <a:buChar char="•"/>
            </a:pPr>
            <a:r>
              <a:rPr lang="en-US" sz="1500" dirty="0">
                <a:solidFill>
                  <a:srgbClr val="334155"/>
                </a:solidFill>
              </a:rPr>
              <a:t>Different tenants: the manifest's TenantId comes from the Graph session, which the SDK fills from the token's tid claim</a:t>
            </a:r>
            <a:endParaRPr lang="en-US" sz="1500" dirty="0"/>
          </a:p>
          <a:p>
            <a:pPr marL="342900" indent="-342900">
              <a:spcAft>
                <a:spcPts val="400"/>
              </a:spcAft>
              <a:buSzPct val="100000"/>
              <a:buChar char="•"/>
            </a:pPr>
            <a:r>
              <a:rPr lang="en-US" sz="1500" dirty="0">
                <a:solidFill>
                  <a:srgbClr val="334155"/>
                </a:solidFill>
              </a:rPr>
              <a:t>A run with no tenant ID: nothing shows which tenant it read</a:t>
            </a:r>
            <a:endParaRPr lang="en-US" sz="1500" dirty="0"/>
          </a:p>
          <a:p>
            <a:pPr marL="342900" indent="-342900">
              <a:spcAft>
                <a:spcPts val="400"/>
              </a:spcAft>
              <a:buSzPct val="100000"/>
              <a:buChar char="•"/>
            </a:pPr>
            <a:r>
              <a:rPr lang="en-US" sz="1500" dirty="0">
                <a:solidFill>
                  <a:srgbClr val="334155"/>
                </a:solidFill>
              </a:rPr>
              <a:t>--allow-tenant-mismatch overrides for a reviewed exception, and the reason goes in the report (design guidance)</a:t>
            </a:r>
            <a:endParaRPr lang="en-US" sz="1500" dirty="0"/>
          </a:p>
        </p:txBody>
      </p:sp>
      <p:sp>
        <p:nvSpPr>
          <p:cNvPr id="11" name="Callout" descr="">
            <a:extLst>
              <a:ext uri="{C183D7F6-B498-43B3-948B-1728B52AA6E4}">
                <adec:decorative xmlns:adec="http://schemas.microsoft.com/office/drawing/2017/decorative" val="1"/>
              </a:ext>
            </a:extLst>
          </p:cNvPr>
          <p:cNvSpPr/>
          <p:nvPr/>
        </p:nvSpPr>
        <p:spPr>
          <a:xfrm>
            <a:off x="548640" y="4672584"/>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Icon FaListCheck" descr="">
            <a:extLst>
              <a:ext uri="{C183D7F6-B498-43B3-948B-1728B52AA6E4}">
                <adec:decorative xmlns:adec="http://schemas.microsoft.com/office/drawing/2017/decorative" val="1"/>
              </a:ext>
            </a:extLst>
          </p:cNvPr>
          <p:cNvSpPr/>
          <p:nvPr/>
        </p:nvSpPr>
        <p:spPr>
          <a:xfrm>
            <a:off x="749808" y="4745736"/>
            <a:ext cx="606552" cy="606552"/>
          </a:xfrm>
          <a:prstGeom prst="ellipse">
            <a:avLst/>
          </a:prstGeom>
          <a:solidFill>
            <a:srgbClr val="0F766E"/>
          </a:solidFill>
          <a:ln w="12700">
            <a:solidFill>
              <a:srgbClr val="0F766E"/>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891308"/>
            <a:ext cx="315407" cy="315407"/>
          </a:xfrm>
          <a:prstGeom prst="rect">
            <a:avLst/>
          </a:prstGeom>
        </p:spPr>
      </p:pic>
      <p:sp>
        <p:nvSpPr>
          <p:cNvPr id="14" name="Callout text"/>
          <p:cNvSpPr txBox="1"/>
          <p:nvPr/>
        </p:nvSpPr>
        <p:spPr>
          <a:xfrm>
            <a:off x="1600200" y="4727448"/>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And: </a:t>
            </a:r>
            <a:pPr indent="0" marL="0">
              <a:buNone/>
            </a:pPr>
            <a:r>
              <a:rPr lang="en-US" sz="1750" dirty="0">
                <a:solidFill>
                  <a:srgbClr val="334155"/>
                </a:solidFill>
              </a:rPr>
              <a:t>a changed -Option value, such as MaxSecretDays, is noted in the report, because it can move findings without the tenant moving.</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Access token claims reference (tid); msgraph-sdk-powershell JwtHelpers.cs (not Learn). Chapter 09, “Compare.”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Five results, fingerprints, and no names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868168"/>
        </p:xfrm>
        <a:graphic>
          <a:graphicData uri="http://schemas.openxmlformats.org/drawingml/2006/table">
            <a:tbl>
              <a:tblPr firstRow="1" bandRow="1"/>
              <a:tblGrid>
                <a:gridCol w="1737360"/>
                <a:gridCol w="5212080"/>
                <a:gridCol w="416052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Result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Meaning</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In the tracker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new</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row the previous run didn't have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Opens an issue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changed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Same check and object, different severity or issue text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Opens an issue (or comments if only severity moved); the old one closes as superseded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detail only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Same finding, different Detail (a count of days, a list of policies)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Nothing; recorded in the report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resolved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Gone from a check that read the tenant this run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Closes the issue, citing the run and the kit manifest's hash</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unverified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check ended in Error or NotApplicable, or didn't run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One issue per check; earlier findings stay open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ist"/>
          <p:cNvSpPr txBox="1"/>
          <p:nvPr/>
        </p:nvSpPr>
        <p:spPr>
          <a:xfrm>
            <a:off x="548640" y="4376928"/>
            <a:ext cx="11109960" cy="1315212"/>
          </a:xfrm>
          <a:prstGeom prst="rect">
            <a:avLst/>
          </a:prstGeom>
          <a:noFill/>
          <a:ln/>
        </p:spPr>
        <p:txBody>
          <a:bodyPr wrap="square" lIns="0" tIns="0" rIns="0" bIns="0" rtlCol="0" anchor="t"/>
          <a:lstStyle/>
          <a:p>
            <a:pPr marL="342900" indent="-342900">
              <a:spcAft>
                <a:spcPts val="400"/>
              </a:spcAft>
              <a:buSzPct val="100000"/>
              <a:buChar char="•"/>
            </a:pPr>
            <a:r>
              <a:rPr lang="en-US" sz="1450" b="1" dirty="0">
                <a:solidFill>
                  <a:srgbClr val="1F2A44"/>
                </a:solidFill>
              </a:rPr>
              <a:t>Fingerprint</a:t>
            </a:r>
            <a:pPr indent="0" marL="0">
              <a:spcAft>
                <a:spcPts val="400"/>
              </a:spcAft>
              <a:buNone/>
            </a:pPr>
            <a:r>
              <a:rPr lang="en-US" sz="1450" dirty="0">
                <a:solidFill>
                  <a:srgbClr val="334155"/>
                </a:solidFill>
              </a:rPr>
              <a:t>: the first 16 hex characters of a SHA-256 over check, object and issue; the same in every run, so no duplicate issues</a:t>
            </a:r>
            <a:endParaRPr lang="en-US" sz="1450" dirty="0"/>
          </a:p>
          <a:p>
            <a:pPr marL="342900" indent="-342900">
              <a:spcAft>
                <a:spcPts val="400"/>
              </a:spcAft>
              <a:buSzPct val="100000"/>
              <a:buChar char="•"/>
            </a:pPr>
            <a:r>
              <a:rPr lang="en-US" sz="1450" b="1" dirty="0">
                <a:solidFill>
                  <a:srgbClr val="1F2A44"/>
                </a:solidFill>
              </a:rPr>
              <a:t>No names</a:t>
            </a:r>
            <a:pPr indent="0" marL="0">
              <a:spcAft>
                <a:spcPts val="400"/>
              </a:spcAft>
              <a:buNone/>
            </a:pPr>
            <a:r>
              <a:rPr lang="en-US" sz="1450" dirty="0">
                <a:solidFill>
                  <a:srgbClr val="334155"/>
                </a:solidFill>
              </a:rPr>
              <a:t>: issue drafts carry check, severity, object ID, issue and fingerprint, not the UPN; the access-controlled evidence store holds names (design guidance); --include-names turns them on</a:t>
            </a:r>
            <a:endParaRPr lang="en-US" sz="1450" dirty="0"/>
          </a:p>
          <a:p>
            <a:pPr marL="342900" indent="-342900">
              <a:spcAft>
                <a:spcPts val="400"/>
              </a:spcAft>
              <a:buSzPct val="100000"/>
              <a:buChar char="•"/>
            </a:pPr>
            <a:r>
              <a:rPr lang="en-US" sz="1450" b="1" dirty="0">
                <a:solidFill>
                  <a:srgbClr val="1F2A44"/>
                </a:solidFill>
              </a:rPr>
              <a:t>Baseline</a:t>
            </a:r>
            <a:pPr indent="0" marL="0">
              <a:spcAft>
                <a:spcPts val="400"/>
              </a:spcAft>
              <a:buNone/>
            </a:pPr>
            <a:r>
              <a:rPr lang="en-US" sz="1450" dirty="0">
                <a:solidFill>
                  <a:srgbClr val="334155"/>
                </a:solidFill>
              </a:rPr>
              <a:t>: a first run records every finding and opens one summary issue, not hundreds</a:t>
            </a:r>
            <a:endParaRPr lang="en-US" sz="145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09, “Compare,” “Findings without names”; Book 12, Ch 02, the evidence contract (closing rule).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evidence package and its hash chain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5742889" cy="1703832"/>
          </a:xfrm>
          <a:prstGeom prst="roundRect">
            <a:avLst>
              <a:gd name="adj" fmla="val 4293"/>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5413705" cy="228600"/>
          </a:xfrm>
          <a:prstGeom prst="rect">
            <a:avLst/>
          </a:prstGeom>
          <a:noFill/>
          <a:ln/>
        </p:spPr>
        <p:txBody>
          <a:bodyPr wrap="square" lIns="0" tIns="0" rIns="0" bIns="0" rtlCol="0" anchor="t"/>
          <a:lstStyle/>
          <a:p>
            <a:pPr indent="0" marL="0">
              <a:buNone/>
            </a:pPr>
            <a:r>
              <a:rPr lang="en-US" sz="1050" b="1" dirty="0">
                <a:solidFill>
                  <a:srgbClr val="64748B"/>
                </a:solidFill>
              </a:rPr>
              <a:t>package() writes</a:t>
            </a:r>
            <a:endParaRPr lang="en-US" sz="1050" dirty="0"/>
          </a:p>
        </p:txBody>
      </p:sp>
      <p:sp>
        <p:nvSpPr>
          <p:cNvPr id="7" name="Code"/>
          <p:cNvSpPr txBox="1"/>
          <p:nvPr/>
        </p:nvSpPr>
        <p:spPr>
          <a:xfrm>
            <a:off x="713232" y="1664208"/>
            <a:ext cx="5468569" cy="1319784"/>
          </a:xfrm>
          <a:prstGeom prst="rect">
            <a:avLst/>
          </a:prstGeom>
          <a:noFill/>
          <a:ln/>
        </p:spPr>
        <p:txBody>
          <a:bodyPr wrap="square" lIns="0" tIns="0" rIns="0" bIns="0" rtlCol="0" anchor="t"/>
          <a:lstStyle/>
          <a:p>
            <a:pPr indent="0" marL="0">
              <a:buNone/>
            </a:pPr>
            <a:r>
              <a:rPr lang="en-US" sz="1000" dirty="0">
                <a:solidFill>
                  <a:srgbClr val="334155"/>
                </a:solidFill>
                <a:latin typeface="Consolas" pitchFamily="34" charset="0"/>
                <a:ea typeface="Consolas" pitchFamily="34" charset="-122"/>
                <a:cs typeface="Consolas" pitchFamily="34" charset="-120"/>
              </a:rPr>
              <a:t>&lt;run-id&gt;/</a:t>
            </a:r>
            <a:endParaRPr lang="en-US" sz="1000" dirty="0"/>
          </a:p>
          <a:p>
            <a:pPr indent="0" marL="0">
              <a:buNone/>
            </a:pPr>
            <a:r>
              <a:rPr lang="en-US" sz="1000" dirty="0">
                <a:solidFill>
                  <a:srgbClr val="334155"/>
                </a:solidFill>
                <a:latin typeface="Consolas" pitchFamily="34" charset="0"/>
                <a:ea typeface="Consolas" pitchFamily="34" charset="-122"/>
                <a:cs typeface="Consolas" pitchFamily="34" charset="-120"/>
              </a:rPr>
              <a:t>  kit-run/                  # the kit run as written, with its manifest</a:t>
            </a:r>
            <a:endParaRPr lang="en-US" sz="1000" dirty="0"/>
          </a:p>
          <a:p>
            <a:pPr indent="0" marL="0">
              <a:buNone/>
            </a:pPr>
            <a:r>
              <a:rPr lang="en-US" sz="1000" dirty="0">
                <a:solidFill>
                  <a:srgbClr val="334155"/>
                </a:solidFill>
                <a:latin typeface="Consolas" pitchFamily="34" charset="0"/>
                <a:ea typeface="Consolas" pitchFamily="34" charset="-122"/>
                <a:cs typeface="Consolas" pitchFamily="34" charset="-120"/>
              </a:rPr>
              <a:t>  drift/drift-report.json</a:t>
            </a:r>
            <a:endParaRPr lang="en-US" sz="1000" dirty="0"/>
          </a:p>
          <a:p>
            <a:pPr indent="0" marL="0">
              <a:buNone/>
            </a:pPr>
            <a:r>
              <a:rPr lang="en-US" sz="1000" dirty="0">
                <a:solidFill>
                  <a:srgbClr val="334155"/>
                </a:solidFill>
                <a:latin typeface="Consolas" pitchFamily="34" charset="0"/>
                <a:ea typeface="Consolas" pitchFamily="34" charset="-122"/>
                <a:cs typeface="Consolas" pitchFamily="34" charset="-120"/>
              </a:rPr>
              <a:t>  drift/drift-summary.md</a:t>
            </a:r>
            <a:endParaRPr lang="en-US" sz="1000" dirty="0"/>
          </a:p>
          <a:p>
            <a:pPr indent="0" marL="0">
              <a:buNone/>
            </a:pPr>
            <a:r>
              <a:rPr lang="en-US" sz="1000" dirty="0">
                <a:solidFill>
                  <a:srgbClr val="334155"/>
                </a:solidFill>
                <a:latin typeface="Consolas" pitchFamily="34" charset="0"/>
                <a:ea typeface="Consolas" pitchFamily="34" charset="-122"/>
                <a:cs typeface="Consolas" pitchFamily="34" charset="-120"/>
              </a:rPr>
              <a:t>  provenance/&lt;kind&gt;/        # hcm-entra, machine-configuration,</a:t>
            </a:r>
            <a:endParaRPr lang="en-US" sz="1000" dirty="0"/>
          </a:p>
          <a:p>
            <a:pPr indent="0" marL="0">
              <a:buNone/>
            </a:pPr>
            <a:r>
              <a:rPr lang="en-US" sz="1000" dirty="0">
                <a:solidFill>
                  <a:srgbClr val="0F766E"/>
                </a:solidFill>
                <a:latin typeface="Consolas" pitchFamily="34" charset="0"/>
                <a:ea typeface="Consolas" pitchFamily="34" charset="-122"/>
                <a:cs typeface="Consolas" pitchFamily="34" charset="-120"/>
              </a:rPr>
              <a:t>                            # dynamic-rules; unknown refused, &gt;30 days noted</a:t>
            </a:r>
            <a:endParaRPr lang="en-US" sz="1000" dirty="0"/>
          </a:p>
          <a:p>
            <a:pPr indent="0" marL="0">
              <a:buNone/>
            </a:pPr>
            <a:r>
              <a:rPr lang="en-US" sz="1000" dirty="0">
                <a:solidFill>
                  <a:srgbClr val="334155"/>
                </a:solidFill>
                <a:latin typeface="Consolas" pitchFamily="34" charset="0"/>
                <a:ea typeface="Consolas" pitchFamily="34" charset="-122"/>
                <a:cs typeface="Consolas" pitchFamily="34" charset="-120"/>
              </a:rPr>
              <a:t>  EVIDENCE-MANIFEST.json    # run, cloud, counts, file hashes, previous</a:t>
            </a:r>
            <a:endParaRPr lang="en-US" sz="1000" dirty="0"/>
          </a:p>
          <a:p>
            <a:pPr indent="0" marL="0">
              <a:buNone/>
            </a:pPr>
            <a:r>
              <a:rPr lang="en-US" sz="1000" dirty="0">
                <a:solidFill>
                  <a:srgbClr val="334155"/>
                </a:solidFill>
                <a:latin typeface="Consolas" pitchFamily="34" charset="0"/>
                <a:ea typeface="Consolas" pitchFamily="34" charset="-122"/>
                <a:cs typeface="Consolas" pitchFamily="34" charset="-120"/>
              </a:rPr>
              <a:t>  SHA256SUMS                # every file, for sha256sum -c</a:t>
            </a:r>
            <a:endParaRPr lang="en-US" sz="1000" dirty="0"/>
          </a:p>
        </p:txBody>
      </p:sp>
      <p:sp>
        <p:nvSpPr>
          <p:cNvPr id="8" name="Panel Why it holds" descr="">
            <a:extLst>
              <a:ext uri="{C183D7F6-B498-43B3-948B-1728B52AA6E4}">
                <adec:decorative xmlns:adec="http://schemas.microsoft.com/office/drawing/2017/decorative" val="1"/>
              </a:ext>
            </a:extLst>
          </p:cNvPr>
          <p:cNvSpPr/>
          <p:nvPr/>
        </p:nvSpPr>
        <p:spPr>
          <a:xfrm>
            <a:off x="6565849" y="1325880"/>
            <a:ext cx="5092751" cy="2581656"/>
          </a:xfrm>
          <a:prstGeom prst="roundRect">
            <a:avLst>
              <a:gd name="adj" fmla="val 283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Why it holds label"/>
          <p:cNvSpPr txBox="1"/>
          <p:nvPr/>
        </p:nvSpPr>
        <p:spPr>
          <a:xfrm>
            <a:off x="6748729" y="1435608"/>
            <a:ext cx="4726991" cy="274320"/>
          </a:xfrm>
          <a:prstGeom prst="rect">
            <a:avLst/>
          </a:prstGeom>
          <a:noFill/>
          <a:ln/>
        </p:spPr>
        <p:txBody>
          <a:bodyPr wrap="square" lIns="0" tIns="0" rIns="0" bIns="0" rtlCol="0" anchor="t"/>
          <a:lstStyle/>
          <a:p>
            <a:pPr indent="0" marL="0">
              <a:buNone/>
            </a:pPr>
            <a:r>
              <a:rPr lang="en-US" sz="1100" b="1" spc="50" kern="0" dirty="0">
                <a:solidFill>
                  <a:srgbClr val="0F766E"/>
                </a:solidFill>
              </a:rPr>
              <a:t>WHY IT HOLDS</a:t>
            </a:r>
            <a:endParaRPr lang="en-US" sz="1100" dirty="0"/>
          </a:p>
        </p:txBody>
      </p:sp>
      <p:sp>
        <p:nvSpPr>
          <p:cNvPr id="10" name="Panel Why it holds list"/>
          <p:cNvSpPr txBox="1"/>
          <p:nvPr/>
        </p:nvSpPr>
        <p:spPr>
          <a:xfrm>
            <a:off x="6748729" y="1737360"/>
            <a:ext cx="4772711" cy="2124456"/>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The previous package's manifest hash makes a chain: a replaced package or missing day shows as a break</a:t>
            </a:r>
            <a:endParaRPr lang="en-US" sz="1450" dirty="0"/>
          </a:p>
          <a:p>
            <a:pPr marL="342900" indent="-342900">
              <a:spcAft>
                <a:spcPts val="400"/>
              </a:spcAft>
              <a:buSzPct val="100000"/>
              <a:buChar char="•"/>
            </a:pPr>
            <a:r>
              <a:rPr lang="en-US" sz="1450" dirty="0">
                <a:solidFill>
                  <a:srgbClr val="334155"/>
                </a:solidFill>
              </a:rPr>
              <a:t>Same inputs, same bytes: a package can be rebuilt and compared (Book 13's "reports are derivations")</a:t>
            </a:r>
            <a:endParaRPr lang="en-US" sz="1450" dirty="0"/>
          </a:p>
          <a:p>
            <a:pPr marL="342900" indent="-342900">
              <a:spcAft>
                <a:spcPts val="400"/>
              </a:spcAft>
              <a:buSzPct val="100000"/>
              <a:buChar char="•"/>
            </a:pPr>
            <a:r>
              <a:rPr lang="en-US" sz="1450" dirty="0">
                <a:solidFill>
                  <a:srgbClr val="334155"/>
                </a:solidFill>
              </a:rPr>
              <a:t>The ISSO runs verify(), or sha256sum -c SHA256SUMS without our code</a:t>
            </a:r>
            <a:endParaRPr lang="en-US" sz="1450" dirty="0"/>
          </a:p>
        </p:txBody>
      </p:sp>
      <p:sp>
        <p:nvSpPr>
          <p:cNvPr id="11" name="Callout" descr="">
            <a:extLst>
              <a:ext uri="{C183D7F6-B498-43B3-948B-1728B52AA6E4}">
                <adec:decorative xmlns:adec="http://schemas.microsoft.com/office/drawing/2017/decorative" val="1"/>
              </a:ext>
            </a:extLst>
          </p:cNvPr>
          <p:cNvSpPr/>
          <p:nvPr/>
        </p:nvSpPr>
        <p:spPr>
          <a:xfrm>
            <a:off x="548640" y="4090416"/>
            <a:ext cx="11109960" cy="1286256"/>
          </a:xfrm>
          <a:prstGeom prst="roundRect">
            <a:avLst>
              <a:gd name="adj" fmla="val 568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Fingerprint" descr="">
            <a:extLst>
              <a:ext uri="{C183D7F6-B498-43B3-948B-1728B52AA6E4}">
                <adec:decorative xmlns:adec="http://schemas.microsoft.com/office/drawing/2017/decorative" val="1"/>
              </a:ext>
            </a:extLst>
          </p:cNvPr>
          <p:cNvSpPr/>
          <p:nvPr/>
        </p:nvSpPr>
        <p:spPr>
          <a:xfrm>
            <a:off x="749808" y="4413504"/>
            <a:ext cx="640080" cy="640080"/>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567123"/>
            <a:ext cx="332842" cy="332842"/>
          </a:xfrm>
          <a:prstGeom prst="rect">
            <a:avLst/>
          </a:prstGeom>
        </p:spPr>
      </p:pic>
      <p:sp>
        <p:nvSpPr>
          <p:cNvPr id="14" name="Callout text"/>
          <p:cNvSpPr txBox="1"/>
          <p:nvPr/>
        </p:nvSpPr>
        <p:spPr>
          <a:xfrm>
            <a:off x="1600200" y="4145280"/>
            <a:ext cx="9875520" cy="1176528"/>
          </a:xfrm>
          <a:prstGeom prst="rect">
            <a:avLst/>
          </a:prstGeom>
          <a:noFill/>
          <a:ln/>
        </p:spPr>
        <p:txBody>
          <a:bodyPr wrap="square" lIns="0" tIns="0" rIns="0" bIns="0" rtlCol="0" anchor="ctr"/>
          <a:lstStyle/>
          <a:p>
            <a:pPr indent="0" marL="0">
              <a:buNone/>
            </a:pPr>
            <a:r>
              <a:rPr lang="en-US" sz="1750" b="1" dirty="0">
                <a:solidFill>
                  <a:srgbClr val="B45309"/>
                </a:solidFill>
              </a:rPr>
              <a:t>Not signed: </a:t>
            </a:r>
            <a:pPr indent="0" marL="0">
              <a:buNone/>
            </a:pPr>
            <a:r>
              <a:rPr lang="en-US" sz="1750" dirty="0">
                <a:solidFill>
                  <a:srgbClr val="334155"/>
                </a:solidFill>
              </a:rPr>
              <a:t>a locked time-based retention policy keeps blobs from being modified or deleted until it ends. Neither binds the package to the pipeline's identity: Key Vault Sign and Verify, or Azure Artifact Signing (which would need a signable wrapper), are the ISSO's choice. Signing stays open.</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Immutable storage for blob data; Key Vault Sign and Verify; Artifact Signing integrations and FAQ. Chapter 09, “The evidence package.”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Where the sources differ, and release stage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359152"/>
        </p:xfrm>
        <a:graphic>
          <a:graphicData uri="http://schemas.openxmlformats.org/drawingml/2006/table">
            <a:tbl>
              <a:tblPr firstRow="1" bandRow="1"/>
              <a:tblGrid>
                <a:gridCol w="2103120"/>
                <a:gridCol w="5623560"/>
                <a:gridCol w="338328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Question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the sources say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the code does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96316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Graph token type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Connect-MgGraph's page types -AccessToken as SecureString; a Learn troubleshooting article says 2.28.0 and later accept only a plain string; the module's source still declares SecureString (v2.41.1)</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Passes the SecureString; Lab 2 step 5 confirms it on the pinned version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Issuer trailing slash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Learn's credential page shows both; the issuer must match the token's iss, which GitHub documents without the slash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Uses the form without the slash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Pull request subject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Learn: pull-request; GitHub: pull_request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Doesn't run on pull requests; uses neither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nel Release stage and limits" descr="">
            <a:extLst>
              <a:ext uri="{C183D7F6-B498-43B3-948B-1728B52AA6E4}">
                <adec:decorative xmlns:adec="http://schemas.microsoft.com/office/drawing/2017/decorative" val="1"/>
              </a:ext>
            </a:extLst>
          </p:cNvPr>
          <p:cNvSpPr/>
          <p:nvPr/>
        </p:nvSpPr>
        <p:spPr>
          <a:xfrm>
            <a:off x="548640" y="3867912"/>
            <a:ext cx="11109960" cy="1412748"/>
          </a:xfrm>
          <a:prstGeom prst="roundRect">
            <a:avLst>
              <a:gd name="adj" fmla="val 517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Panel Release stage and limits label"/>
          <p:cNvSpPr txBox="1"/>
          <p:nvPr/>
        </p:nvSpPr>
        <p:spPr>
          <a:xfrm>
            <a:off x="731520" y="3977640"/>
            <a:ext cx="10744200" cy="274320"/>
          </a:xfrm>
          <a:prstGeom prst="rect">
            <a:avLst/>
          </a:prstGeom>
          <a:noFill/>
          <a:ln/>
        </p:spPr>
        <p:txBody>
          <a:bodyPr wrap="square" lIns="0" tIns="0" rIns="0" bIns="0" rtlCol="0" anchor="t"/>
          <a:lstStyle/>
          <a:p>
            <a:pPr indent="0" marL="0">
              <a:buNone/>
            </a:pPr>
            <a:r>
              <a:rPr lang="en-US" sz="1100" b="1" spc="50" kern="0" dirty="0">
                <a:solidFill>
                  <a:srgbClr val="0F766E"/>
                </a:solidFill>
              </a:rPr>
              <a:t>RELEASE STAGE AND LIMITS</a:t>
            </a:r>
            <a:endParaRPr lang="en-US" sz="1100" dirty="0"/>
          </a:p>
        </p:txBody>
      </p:sp>
      <p:sp>
        <p:nvSpPr>
          <p:cNvPr id="8" name="Panel Release stage and limits list"/>
          <p:cNvSpPr txBox="1"/>
          <p:nvPr/>
        </p:nvSpPr>
        <p:spPr>
          <a:xfrm>
            <a:off x="731520" y="4279392"/>
            <a:ext cx="10789920" cy="955548"/>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Azure Login v3.1.0 (Sept 10, 2026), on Node 24; flexible federated identity credentials are a preview and aren't used</a:t>
            </a:r>
            <a:endParaRPr lang="en-US" sz="1450" dirty="0"/>
          </a:p>
          <a:p>
            <a:pPr marL="342900" indent="-342900">
              <a:spcAft>
                <a:spcPts val="400"/>
              </a:spcAft>
              <a:buSzPct val="100000"/>
              <a:buChar char="•"/>
            </a:pPr>
            <a:r>
              <a:rPr lang="en-US" sz="1450" dirty="0">
                <a:solidFill>
                  <a:srgbClr val="334155"/>
                </a:solidFill>
              </a:rPr>
              <a:t>Limits: 20 federated credentials per app or user-assigned managed identity; issuer and subject unique per app</a:t>
            </a:r>
            <a:endParaRPr lang="en-US" sz="145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Connect-MgGraph; IDX14102 troubleshooting; msgraph-sdk-powershell source; trust an external IdP; GitHub OIDC reference. Chapter 09,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owns the pipeline, who receives the evidence</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5440680" cy="1173480"/>
          </a:xfrm>
          <a:prstGeom prst="roundRect">
            <a:avLst>
              <a:gd name="adj" fmla="val 623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117348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5074920" cy="94488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Platform and pipeline engineers</a:t>
            </a:r>
            <a:endParaRPr lang="en-US" sz="1400" dirty="0"/>
          </a:p>
          <a:p>
            <a:pPr indent="0" marL="0">
              <a:spcAft>
                <a:spcPts val="300"/>
              </a:spcAft>
              <a:buNone/>
            </a:pPr>
            <a:r>
              <a:rPr lang="en-US" sz="1550" dirty="0">
                <a:solidFill>
                  <a:srgbClr val="334155"/>
                </a:solidFill>
              </a:rPr>
              <a:t>Own the scheduled checks; comfortable with Python and GitHub Actions; no tenant until Lab 2</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6217920" y="1325880"/>
            <a:ext cx="5440680" cy="1173480"/>
          </a:xfrm>
          <a:prstGeom prst="roundRect">
            <a:avLst>
              <a:gd name="adj" fmla="val 6234"/>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6217920" y="1325880"/>
            <a:ext cx="82296" cy="1173480"/>
          </a:xfrm>
          <a:prstGeom prst="rect">
            <a:avLst/>
          </a:prstGeom>
          <a:solidFill>
            <a:srgbClr val="0F766E"/>
          </a:solidFill>
          <a:ln w="12700">
            <a:solidFill>
              <a:srgbClr val="0F766E"/>
            </a:solidFill>
            <a:prstDash val="solid"/>
          </a:ln>
        </p:spPr>
      </p:sp>
      <p:sp>
        <p:nvSpPr>
          <p:cNvPr id="10" name="Card 2 text"/>
          <p:cNvSpPr txBox="1"/>
          <p:nvPr/>
        </p:nvSpPr>
        <p:spPr>
          <a:xfrm>
            <a:off x="6446520" y="1463040"/>
            <a:ext cx="5074920" cy="94488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ISSOs and reviewers</a:t>
            </a:r>
            <a:endParaRPr lang="en-US" sz="1400" dirty="0"/>
          </a:p>
          <a:p>
            <a:pPr indent="0" marL="0">
              <a:spcAft>
                <a:spcPts val="300"/>
              </a:spcAft>
              <a:buNone/>
            </a:pPr>
            <a:r>
              <a:rPr lang="en-US" sz="1550" dirty="0">
                <a:solidFill>
                  <a:srgbClr val="334155"/>
                </a:solidFill>
              </a:rPr>
              <a:t>Receive the evidence; verify each package with sha256sum; choose signing method and key custody</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2682240"/>
          <a:ext cx="11109960" cy="2316480"/>
        </p:xfrm>
        <a:graphic>
          <a:graphicData uri="http://schemas.openxmlformats.org/drawingml/2006/table">
            <a:tbl>
              <a:tblPr firstRow="1" bandRow="1"/>
              <a:tblGrid>
                <a:gridCol w="3200400"/>
                <a:gridCol w="790956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Who or which permission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Add a federated credential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app's owner, Application Administrator, Cloud Application Administrator, Global Administrator or Hybrid Identity Administrator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The pipeline's reads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Only the Graph application permissions the selected checks need (Get-VkRequiredScope), and Reader on the subscription for Arc</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Write evidence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Storage Blob Data Contributor on the container; az storage blob with --auth-mode login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Write issues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findings job only: issues: write, no Azure access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Configure an app to trust an external identity provider; Quickstart, blobs with Azure CLI. Chapter 09, “Goal and audience,” “Lab 2,”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lint the samples, record a baseline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1719072"/>
          </a:xfrm>
          <a:prstGeom prst="roundRect">
            <a:avLst>
              <a:gd name="adj" fmla="val 4255"/>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PYTHON 3.10+, PyYAML, pytest, sha256sum; IN examples/drift-pipeline</a:t>
            </a:r>
            <a:endParaRPr lang="en-US" sz="1050" dirty="0"/>
          </a:p>
        </p:txBody>
      </p:sp>
      <p:sp>
        <p:nvSpPr>
          <p:cNvPr id="7" name="Code"/>
          <p:cNvSpPr txBox="1"/>
          <p:nvPr/>
        </p:nvSpPr>
        <p:spPr>
          <a:xfrm>
            <a:off x="713232" y="1664208"/>
            <a:ext cx="10835640" cy="1335024"/>
          </a:xfrm>
          <a:prstGeom prst="rect">
            <a:avLst/>
          </a:prstGeom>
          <a:noFill/>
          <a:ln/>
        </p:spPr>
        <p:txBody>
          <a:bodyPr wrap="square" lIns="0" tIns="0" rIns="0" bIns="0" rtlCol="0" anchor="t"/>
          <a:lstStyle/>
          <a:p>
            <a:pPr indent="0" marL="0">
              <a:buNone/>
            </a:pPr>
            <a:r>
              <a:rPr lang="en-US" sz="1350" dirty="0">
                <a:solidFill>
                  <a:srgbClr val="334155"/>
                </a:solidFill>
                <a:latin typeface="Consolas" pitchFamily="34" charset="0"/>
                <a:ea typeface="Consolas" pitchFamily="34" charset="-122"/>
                <a:cs typeface="Consolas" pitchFamily="34" charset="-120"/>
              </a:rPr>
              <a:t>python python/workflow_lint.py --learn-samples                   # 1</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python python/workflow_lint.py workflow/drift-pipeline.yml       # 2</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python python/drift_pipeline.py cloud --name dod                 # 3</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python python/drift_pipeline.py compare --current $PREV --out out/day1                    # 4</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python python/drift_pipeline.py package --kit-run $PREV --diff out/day1/drift-report.json $P \</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    --out out/evidence</a:t>
            </a:r>
            <a:endParaRPr lang="en-US" sz="135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3227832"/>
          <a:ext cx="11109960" cy="1828800"/>
        </p:xfrm>
        <a:graphic>
          <a:graphicData uri="http://schemas.openxmlformats.org/drawingml/2006/table">
            <a:tbl>
              <a:tblPr firstRow="1" bandRow="1"/>
              <a:tblGrid>
                <a:gridCol w="1097280"/>
                <a:gridCol w="1001268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Step</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Expected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Exit 2. Sample 1: five findings (WF-02, WF-05 twice, WF-08, WF-09), four warnings; sample 2: seven findings; sample 3: WF-01, not valid YAML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Exit 0: 0 findings, 0 warnings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Authority login.microsoftonline.us, Graph dod-graph.microsoft.us, AzureUSGovernment; --name usgov exits 1</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Compare exits 2 with baseline true and ten new findings; the package's manifest hash is 6d9fffbc…</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azure-dev-docs at 23900ce (pinned Learn page); examples/drift-pipeline fixtures (fictional). Chapter 09, “Lab 1: fixtures, no tenant,” steps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the next day, issues, chain, tamper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1673352"/>
          </a:xfrm>
          <a:prstGeom prst="roundRect">
            <a:avLst>
              <a:gd name="adj" fmla="val 4372"/>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IN examples/drift-pipeline (abridged)</a:t>
            </a:r>
            <a:endParaRPr lang="en-US" sz="1050" dirty="0"/>
          </a:p>
        </p:txBody>
      </p:sp>
      <p:sp>
        <p:nvSpPr>
          <p:cNvPr id="7" name="Code"/>
          <p:cNvSpPr txBox="1"/>
          <p:nvPr/>
        </p:nvSpPr>
        <p:spPr>
          <a:xfrm>
            <a:off x="713232" y="1664208"/>
            <a:ext cx="10835640" cy="1289304"/>
          </a:xfrm>
          <a:prstGeom prst="rect">
            <a:avLst/>
          </a:prstGeom>
          <a:noFill/>
          <a:ln/>
        </p:spPr>
        <p:txBody>
          <a:bodyPr wrap="square" lIns="0" tIns="0" rIns="0" bIns="0" rtlCol="0" anchor="t"/>
          <a:lstStyle/>
          <a:p>
            <a:pPr indent="0" marL="0">
              <a:buNone/>
            </a:pPr>
            <a:r>
              <a:rPr lang="en-US" sz="1300" dirty="0">
                <a:solidFill>
                  <a:srgbClr val="334155"/>
                </a:solidFill>
                <a:latin typeface="Consolas" pitchFamily="34" charset="0"/>
                <a:ea typeface="Consolas" pitchFamily="34" charset="-122"/>
                <a:cs typeface="Consolas" pitchFamily="34" charset="-120"/>
              </a:rPr>
              <a:t>python python/drift_pipeline.py compare --previous $PREV --current $CURR --out out/day2   # 5</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python python/drift_pipeline.py issues --diff out/day2/drift-report.json \</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--out out/day2/issues.json                                                       # 6</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python python/drift_pipeline.py package --kit-run $CURR … --previous-manifest …       # 7</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python python/drift_pipeline.py verify out/evidence/2026-10-29-0617-fixture-runner-fixture</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python -m pytest tests -q                                                            # 9</a:t>
            </a:r>
            <a:endParaRPr lang="en-US" sz="13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3182112"/>
          <a:ext cx="11109960" cy="2304288"/>
        </p:xfrm>
        <a:graphic>
          <a:graphicData uri="http://schemas.openxmlformats.org/drawingml/2006/table">
            <a:tbl>
              <a:tblPr firstRow="1" bandRow="1"/>
              <a:tblGrid>
                <a:gridCol w="1097280"/>
                <a:gridCol w="1001268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Step</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Expected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5</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Exit 2: new 3, resolved 1, changed 1, detail only 1, unchanged 6, unverified checks 2. VK-NPI-03 went Fail to Error (a 403): its finding is unverified, not resolved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6</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Open 6, close 2, comment 0. gina@contoso.example isn't in issues.json; her object ID is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Manifest 0932f0a3…; verify reports 16 files; sha256sum exits 0; previous is 6d9fffbc…; tenant_id is the fixture placeholder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8</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Append a line to drift-summary.md: verify exits 1. Swap the runs: compare exits 1, not later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9</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74 tests passing: 54 drift pipeline, 20 workflow lint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examples/drift-pipeline (two fictional kit runs for contoso.example, one day apart). Chapter 09, “Lab 1: fixtures, no tenant,” steps 5–9; “The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2: a test tenant, a federated credential</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74320" cy="274320"/>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749808"/>
          </a:xfrm>
          <a:prstGeom prst="rect">
            <a:avLst/>
          </a:prstGeom>
          <a:noFill/>
          <a:ln/>
        </p:spPr>
        <p:txBody>
          <a:bodyPr wrap="square" lIns="0" tIns="0" rIns="0" bIns="0" rtlCol="0" anchor="t"/>
          <a:lstStyle/>
          <a:p>
            <a:pPr indent="0" marL="0">
              <a:buNone/>
            </a:pPr>
            <a:r>
              <a:rPr lang="en-US" sz="1400" b="1" dirty="0">
                <a:solidFill>
                  <a:srgbClr val="1F2A44"/>
                </a:solidFill>
              </a:rPr>
              <a:t>Trust the repository: </a:t>
            </a:r>
            <a:pPr indent="0" marL="0">
              <a:buNone/>
            </a:pPr>
            <a:r>
              <a:rPr lang="en-US" sz="1400" dirty="0">
                <a:solidFill>
                  <a:srgbClr val="334155"/>
                </a:solidFill>
              </a:rPr>
              <a:t>az ad app federated-credential create: issuer token.actions.githubusercontent.com, subject repo:contoso-example/estate-checks:environment:drift-gcc, audience api://AzureADTokenExchange. A wrong subject is accepted, then fails at sign-in</a:t>
            </a:r>
            <a:endParaRPr lang="en-US" sz="1400" dirty="0"/>
          </a:p>
        </p:txBody>
      </p:sp>
      <p:sp>
        <p:nvSpPr>
          <p:cNvPr id="8" name="Step 2 dot" descr="">
            <a:extLst>
              <a:ext uri="{C183D7F6-B498-43B3-948B-1728B52AA6E4}">
                <adec:decorative xmlns:adec="http://schemas.microsoft.com/office/drawing/2017/decorative" val="1"/>
              </a:ext>
            </a:extLst>
          </p:cNvPr>
          <p:cNvSpPr/>
          <p:nvPr/>
        </p:nvSpPr>
        <p:spPr>
          <a:xfrm>
            <a:off x="548640" y="2093976"/>
            <a:ext cx="274320" cy="274320"/>
          </a:xfrm>
          <a:prstGeom prst="ellipse">
            <a:avLst/>
          </a:prstGeom>
          <a:solidFill>
            <a:srgbClr val="B45309"/>
          </a:solidFill>
          <a:ln w="12700">
            <a:solidFill>
              <a:srgbClr val="B45309"/>
            </a:solidFill>
            <a:prstDash val="solid"/>
          </a:ln>
        </p:spPr>
      </p:sp>
      <p:sp>
        <p:nvSpPr>
          <p:cNvPr id="9" name="Step 2 number"/>
          <p:cNvSpPr txBox="1"/>
          <p:nvPr/>
        </p:nvSpPr>
        <p:spPr>
          <a:xfrm>
            <a:off x="548640" y="2093976"/>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2075688"/>
            <a:ext cx="10561320" cy="323088"/>
          </a:xfrm>
          <a:prstGeom prst="rect">
            <a:avLst/>
          </a:prstGeom>
          <a:noFill/>
          <a:ln/>
        </p:spPr>
        <p:txBody>
          <a:bodyPr wrap="square" lIns="0" tIns="0" rIns="0" bIns="0" rtlCol="0" anchor="t"/>
          <a:lstStyle/>
          <a:p>
            <a:pPr indent="0" marL="0">
              <a:buNone/>
            </a:pPr>
            <a:r>
              <a:rPr lang="en-US" sz="1400" b="1" dirty="0">
                <a:solidFill>
                  <a:srgbClr val="1F2A44"/>
                </a:solidFill>
              </a:rPr>
              <a:t>Grant only the reads: </a:t>
            </a:r>
            <a:pPr indent="0" marL="0">
              <a:buNone/>
            </a:pPr>
            <a:r>
              <a:rPr lang="en-US" sz="1400" dirty="0">
                <a:solidFill>
                  <a:srgbClr val="334155"/>
                </a:solidFill>
              </a:rPr>
              <a:t>The checks' Graph application permissions, with consent; Reader for Arc</a:t>
            </a:r>
            <a:endParaRPr lang="en-US" sz="1400" dirty="0"/>
          </a:p>
        </p:txBody>
      </p:sp>
      <p:sp>
        <p:nvSpPr>
          <p:cNvPr id="11" name="Step 3 dot" descr="">
            <a:extLst>
              <a:ext uri="{C183D7F6-B498-43B3-948B-1728B52AA6E4}">
                <adec:decorative xmlns:adec="http://schemas.microsoft.com/office/drawing/2017/decorative" val="1"/>
              </a:ext>
            </a:extLst>
          </p:cNvPr>
          <p:cNvSpPr/>
          <p:nvPr/>
        </p:nvSpPr>
        <p:spPr>
          <a:xfrm>
            <a:off x="548640" y="2417064"/>
            <a:ext cx="274320" cy="274320"/>
          </a:xfrm>
          <a:prstGeom prst="ellipse">
            <a:avLst/>
          </a:prstGeom>
          <a:solidFill>
            <a:srgbClr val="B45309"/>
          </a:solidFill>
          <a:ln w="12700">
            <a:solidFill>
              <a:srgbClr val="B45309"/>
            </a:solidFill>
            <a:prstDash val="solid"/>
          </a:ln>
        </p:spPr>
      </p:sp>
      <p:sp>
        <p:nvSpPr>
          <p:cNvPr id="12" name="Step 3 number"/>
          <p:cNvSpPr txBox="1"/>
          <p:nvPr/>
        </p:nvSpPr>
        <p:spPr>
          <a:xfrm>
            <a:off x="548640" y="2417064"/>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398776"/>
            <a:ext cx="10561320" cy="536448"/>
          </a:xfrm>
          <a:prstGeom prst="rect">
            <a:avLst/>
          </a:prstGeom>
          <a:noFill/>
          <a:ln/>
        </p:spPr>
        <p:txBody>
          <a:bodyPr wrap="square" lIns="0" tIns="0" rIns="0" bIns="0" rtlCol="0" anchor="t"/>
          <a:lstStyle/>
          <a:p>
            <a:pPr indent="0" marL="0">
              <a:buNone/>
            </a:pPr>
            <a:r>
              <a:rPr lang="en-US" sz="1400" b="1" dirty="0">
                <a:solidFill>
                  <a:srgbClr val="1F2A44"/>
                </a:solidFill>
              </a:rPr>
              <a:t>Evidence container: </a:t>
            </a:r>
            <a:pPr indent="0" marL="0">
              <a:buNone/>
            </a:pPr>
            <a:r>
              <a:rPr lang="en-US" sz="1400" dirty="0">
                <a:solidFill>
                  <a:srgbClr val="334155"/>
                </a:solidFill>
              </a:rPr>
              <a:t>drift-evidence, Storage Blob Data Contributor to the app; a time-based retention policy, left unlocked</a:t>
            </a:r>
            <a:endParaRPr lang="en-US" sz="1400" dirty="0"/>
          </a:p>
        </p:txBody>
      </p:sp>
      <p:sp>
        <p:nvSpPr>
          <p:cNvPr id="14" name="Step 4 dot" descr="">
            <a:extLst>
              <a:ext uri="{C183D7F6-B498-43B3-948B-1728B52AA6E4}">
                <adec:decorative xmlns:adec="http://schemas.microsoft.com/office/drawing/2017/decorative" val="1"/>
              </a:ext>
            </a:extLst>
          </p:cNvPr>
          <p:cNvSpPr/>
          <p:nvPr/>
        </p:nvSpPr>
        <p:spPr>
          <a:xfrm>
            <a:off x="548640" y="2953512"/>
            <a:ext cx="274320" cy="274320"/>
          </a:xfrm>
          <a:prstGeom prst="ellipse">
            <a:avLst/>
          </a:prstGeom>
          <a:solidFill>
            <a:srgbClr val="B45309"/>
          </a:solidFill>
          <a:ln w="12700">
            <a:solidFill>
              <a:srgbClr val="B45309"/>
            </a:solidFill>
            <a:prstDash val="solid"/>
          </a:ln>
        </p:spPr>
      </p:sp>
      <p:sp>
        <p:nvSpPr>
          <p:cNvPr id="15" name="Step 4 number"/>
          <p:cNvSpPr txBox="1"/>
          <p:nvPr/>
        </p:nvSpPr>
        <p:spPr>
          <a:xfrm>
            <a:off x="548640" y="2953512"/>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2935224"/>
            <a:ext cx="10561320" cy="536448"/>
          </a:xfrm>
          <a:prstGeom prst="rect">
            <a:avLst/>
          </a:prstGeom>
          <a:noFill/>
          <a:ln/>
        </p:spPr>
        <p:txBody>
          <a:bodyPr wrap="square" lIns="0" tIns="0" rIns="0" bIns="0" rtlCol="0" anchor="t"/>
          <a:lstStyle/>
          <a:p>
            <a:pPr indent="0" marL="0">
              <a:buNone/>
            </a:pPr>
            <a:r>
              <a:rPr lang="en-US" sz="1400" b="1" dirty="0">
                <a:solidFill>
                  <a:srgbClr val="1F2A44"/>
                </a:solidFill>
              </a:rPr>
              <a:t>Repository: </a:t>
            </a:r>
            <a:pPr indent="0" marL="0">
              <a:buNone/>
            </a:pPr>
            <a:r>
              <a:rPr lang="en-US" sz="1400" dirty="0">
                <a:solidFill>
                  <a:srgbClr val="334155"/>
                </a:solidFill>
              </a:rPr>
              <a:t>drift-gcc environment on the default branch; the three ID secrets; exact versions as variables; labels; lint the copied workflow</a:t>
            </a:r>
            <a:endParaRPr lang="en-US" sz="1400" dirty="0"/>
          </a:p>
        </p:txBody>
      </p:sp>
      <p:sp>
        <p:nvSpPr>
          <p:cNvPr id="17" name="Step 5 dot" descr="">
            <a:extLst>
              <a:ext uri="{C183D7F6-B498-43B3-948B-1728B52AA6E4}">
                <adec:decorative xmlns:adec="http://schemas.microsoft.com/office/drawing/2017/decorative" val="1"/>
              </a:ext>
            </a:extLst>
          </p:cNvPr>
          <p:cNvSpPr/>
          <p:nvPr/>
        </p:nvSpPr>
        <p:spPr>
          <a:xfrm>
            <a:off x="548640" y="3489960"/>
            <a:ext cx="274320" cy="274320"/>
          </a:xfrm>
          <a:prstGeom prst="ellipse">
            <a:avLst/>
          </a:prstGeom>
          <a:solidFill>
            <a:srgbClr val="B45309"/>
          </a:solidFill>
          <a:ln w="12700">
            <a:solidFill>
              <a:srgbClr val="B45309"/>
            </a:solidFill>
            <a:prstDash val="solid"/>
          </a:ln>
        </p:spPr>
      </p:sp>
      <p:sp>
        <p:nvSpPr>
          <p:cNvPr id="18" name="Step 5 number"/>
          <p:cNvSpPr txBox="1"/>
          <p:nvPr/>
        </p:nvSpPr>
        <p:spPr>
          <a:xfrm>
            <a:off x="548640" y="3489960"/>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471672"/>
            <a:ext cx="10561320" cy="536448"/>
          </a:xfrm>
          <a:prstGeom prst="rect">
            <a:avLst/>
          </a:prstGeom>
          <a:noFill/>
          <a:ln/>
        </p:spPr>
        <p:txBody>
          <a:bodyPr wrap="square" lIns="0" tIns="0" rIns="0" bIns="0" rtlCol="0" anchor="t"/>
          <a:lstStyle/>
          <a:p>
            <a:pPr indent="0" marL="0">
              <a:buNone/>
            </a:pPr>
            <a:r>
              <a:rPr lang="en-US" sz="1400" b="1" dirty="0">
                <a:solidFill>
                  <a:srgbClr val="1F2A44"/>
                </a:solidFill>
              </a:rPr>
              <a:t>Run by hand, then change something: </a:t>
            </a:r>
            <a:pPr indent="0" marL="0">
              <a:buNone/>
            </a:pPr>
            <a:r>
              <a:rPr lang="en-US" sz="1400" dirty="0">
                <a:solidFill>
                  <a:srgbClr val="334155"/>
                </a:solidFill>
              </a:rPr>
              <a:t>The first run is the baseline: one package, one issue; confirm the SecureString Graph sign-in. Add a member with no employeeId: one new finding, a chained package; sha256sum -c</a:t>
            </a:r>
            <a:endParaRPr lang="en-US" sz="1400" dirty="0"/>
          </a:p>
        </p:txBody>
      </p:sp>
      <p:sp>
        <p:nvSpPr>
          <p:cNvPr id="20" name="Step 6 dot" descr="">
            <a:extLst>
              <a:ext uri="{C183D7F6-B498-43B3-948B-1728B52AA6E4}">
                <adec:decorative xmlns:adec="http://schemas.microsoft.com/office/drawing/2017/decorative" val="1"/>
              </a:ext>
            </a:extLst>
          </p:cNvPr>
          <p:cNvSpPr/>
          <p:nvPr/>
        </p:nvSpPr>
        <p:spPr>
          <a:xfrm>
            <a:off x="548640" y="4026408"/>
            <a:ext cx="274320" cy="274320"/>
          </a:xfrm>
          <a:prstGeom prst="ellipse">
            <a:avLst/>
          </a:prstGeom>
          <a:solidFill>
            <a:srgbClr val="B45309"/>
          </a:solidFill>
          <a:ln w="12700">
            <a:solidFill>
              <a:srgbClr val="B45309"/>
            </a:solidFill>
            <a:prstDash val="solid"/>
          </a:ln>
        </p:spPr>
      </p:sp>
      <p:sp>
        <p:nvSpPr>
          <p:cNvPr id="21" name="Step 6 number"/>
          <p:cNvSpPr txBox="1"/>
          <p:nvPr/>
        </p:nvSpPr>
        <p:spPr>
          <a:xfrm>
            <a:off x="548640" y="4026408"/>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2" name="Step 6"/>
          <p:cNvSpPr txBox="1"/>
          <p:nvPr/>
        </p:nvSpPr>
        <p:spPr>
          <a:xfrm>
            <a:off x="1097280" y="4008120"/>
            <a:ext cx="10561320" cy="536448"/>
          </a:xfrm>
          <a:prstGeom prst="rect">
            <a:avLst/>
          </a:prstGeom>
          <a:noFill/>
          <a:ln/>
        </p:spPr>
        <p:txBody>
          <a:bodyPr wrap="square" lIns="0" tIns="0" rIns="0" bIns="0" rtlCol="0" anchor="t"/>
          <a:lstStyle/>
          <a:p>
            <a:pPr indent="0" marL="0">
              <a:buNone/>
            </a:pPr>
            <a:r>
              <a:rPr lang="en-US" sz="1400" b="1" dirty="0">
                <a:solidFill>
                  <a:srgbClr val="1F2A44"/>
                </a:solidFill>
              </a:rPr>
              <a:t>Schedule, then back out: </a:t>
            </a:r>
            <a:pPr indent="0" marL="0">
              <a:buNone/>
            </a:pPr>
            <a:r>
              <a:rPr lang="en-US" sz="1400" dirty="0">
                <a:solidFill>
                  <a:srgbClr val="334155"/>
                </a:solidFill>
              </a:rPr>
              <a:t>Check a package arrives daily. Delete the credential, app, roles, unlocked policy, container, issues and test repository</a:t>
            </a:r>
            <a:endParaRPr lang="en-US" sz="1400" dirty="0"/>
          </a:p>
        </p:txBody>
      </p:sp>
      <p:sp>
        <p:nvSpPr>
          <p:cNvPr id="23" name="Callout" descr="">
            <a:extLst>
              <a:ext uri="{C183D7F6-B498-43B3-948B-1728B52AA6E4}">
                <adec:decorative xmlns:adec="http://schemas.microsoft.com/office/drawing/2017/decorative" val="1"/>
              </a:ext>
            </a:extLst>
          </p:cNvPr>
          <p:cNvSpPr/>
          <p:nvPr/>
        </p:nvSpPr>
        <p:spPr>
          <a:xfrm>
            <a:off x="548640" y="4727448"/>
            <a:ext cx="11109960" cy="1019556"/>
          </a:xfrm>
          <a:prstGeom prst="roundRect">
            <a:avLst>
              <a:gd name="adj" fmla="val 7175"/>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49808" y="4917186"/>
            <a:ext cx="640080" cy="640080"/>
          </a:xfrm>
          <a:prstGeom prst="ellipse">
            <a:avLst/>
          </a:prstGeom>
          <a:solidFill>
            <a:srgbClr val="B91C1C"/>
          </a:solidFill>
          <a:ln w="12700">
            <a:solidFill>
              <a:srgbClr val="B91C1C"/>
            </a:solidFill>
            <a:prstDash val="solid"/>
          </a:ln>
        </p:spPr>
      </p:sp>
      <p:pic>
        <p:nvPicPr>
          <p:cNvPr id="2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070805"/>
            <a:ext cx="332842" cy="332842"/>
          </a:xfrm>
          <a:prstGeom prst="rect">
            <a:avLst/>
          </a:prstGeom>
        </p:spPr>
      </p:pic>
      <p:sp>
        <p:nvSpPr>
          <p:cNvPr id="26" name="Callout text"/>
          <p:cNvSpPr txBox="1"/>
          <p:nvPr/>
        </p:nvSpPr>
        <p:spPr>
          <a:xfrm>
            <a:off x="1600200" y="4782312"/>
            <a:ext cx="9875520" cy="909828"/>
          </a:xfrm>
          <a:prstGeom prst="rect">
            <a:avLst/>
          </a:prstGeom>
          <a:noFill/>
          <a:ln/>
        </p:spPr>
        <p:txBody>
          <a:bodyPr wrap="square" lIns="0" tIns="0" rIns="0" bIns="0" rtlCol="0" anchor="ctr"/>
          <a:lstStyle/>
          <a:p>
            <a:pPr indent="0" marL="0">
              <a:buNone/>
            </a:pPr>
            <a:r>
              <a:rPr lang="en-US" sz="1750" b="1" dirty="0">
                <a:solidFill>
                  <a:srgbClr val="B91C1C"/>
                </a:solidFill>
              </a:rPr>
              <a:t>Watch: </a:t>
            </a:r>
            <a:pPr indent="0" marL="0">
              <a:buNone/>
            </a:pPr>
            <a:r>
              <a:rPr lang="en-US" sz="1750" dirty="0">
                <a:solidFill>
                  <a:srgbClr val="334155"/>
                </a:solidFill>
              </a:rPr>
              <a:t>the schedule runs the default branch's latest commit, may be delayed under load, and in a public repository is disabled after 60 days without activity. In production, lock retention once Lab 2 passes; Learn: typically within 24 hours.</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trust an external IdP; credential limits; trust a managed identity; blobs with CLI; immutable storage; GitHub Docs, workflow events, artifacts. Chapter 09, “Lab 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65320"/>
        </p:xfrm>
        <a:graphic>
          <a:graphicData uri="http://schemas.openxmlformats.org/drawingml/2006/table">
            <a:tbl>
              <a:tblPr firstRow="1" bandRow="1"/>
              <a:tblGrid>
                <a:gridCol w="3017520"/>
                <a:gridCol w="4114800"/>
                <a:gridCol w="397764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Danger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happens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The guard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failed read reported as a fix</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403 makes findings vanish and issues close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Error, NotApplicable and not run leave findings unverified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An edited run; mismatched runs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Evidence of a run that never happened; every finding looks new</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load_run() and verify(); compare() refuses other modes, clouds, tenants, order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threshold changed between runs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Findings move with no change in the tenant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Changed options noted in the report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secret in the pipeline; a moved tag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It leaks or expires; unreviewed code signs in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federated credential, WF-06 fails creds; commits pinned (WF-05)</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The wrong Graph host in DoD; a wrong subject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GCC High host is called; sign-in fails after a silent create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Cloud table and WF-12; an environment subject; Lab 2 by hand first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The reading token can write elsewhere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compromised step edits issues, or more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Two jobs; WF-04</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Names in the tracker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UPNs reach everyone who can read the repository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Object IDs only, unless --include-names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Evidence changed, or a day missing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ISSO can't rely on it; a gap nobody notices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No --overwrite; locked retention; the hash chain; check the newest date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Stale provenance; a locked test policy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Months-old builds cited; a test account that can't be deleted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Over 30 days noted; Lab 2 leaves it unlocked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09, “Dangers”; Learn, immutable storage; trust an external IdP; GitHub Docs, workflow events.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Identity and workflow" descr="">
            <a:extLst>
              <a:ext uri="{C183D7F6-B498-43B3-948B-1728B52AA6E4}">
                <adec:decorative xmlns:adec="http://schemas.microsoft.com/office/drawing/2017/decorative" val="1"/>
              </a:ext>
            </a:extLst>
          </p:cNvPr>
          <p:cNvSpPr/>
          <p:nvPr/>
        </p:nvSpPr>
        <p:spPr>
          <a:xfrm>
            <a:off x="548640" y="1325880"/>
            <a:ext cx="5417820" cy="3151632"/>
          </a:xfrm>
          <a:prstGeom prst="roundRect">
            <a:avLst>
              <a:gd name="adj" fmla="val 232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Identity and workflow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IDENTITY AND WORKFLOW</a:t>
            </a:r>
            <a:endParaRPr lang="en-US" sz="1100" dirty="0"/>
          </a:p>
        </p:txBody>
      </p:sp>
      <p:sp>
        <p:nvSpPr>
          <p:cNvPr id="7" name="Panel Identity and workflow list"/>
          <p:cNvSpPr txBox="1"/>
          <p:nvPr/>
        </p:nvSpPr>
        <p:spPr>
          <a:xfrm>
            <a:off x="731520" y="1737360"/>
            <a:ext cx="5097780" cy="269443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workflow_lint.py: no findings; every action pinned to a commit</a:t>
            </a:r>
            <a:endParaRPr lang="en-US" sz="1450" dirty="0"/>
          </a:p>
          <a:p>
            <a:pPr marL="342900" indent="-342900">
              <a:spcAft>
                <a:spcPts val="400"/>
              </a:spcAft>
              <a:buSzPct val="100000"/>
              <a:buChar char="•"/>
            </a:pPr>
            <a:r>
              <a:rPr lang="en-US" sz="1450" dirty="0">
                <a:solidFill>
                  <a:srgbClr val="334155"/>
                </a:solidFill>
              </a:rPr>
              <a:t>A federated credential whose subject is the pipeline's environment; no client secret or certificate</a:t>
            </a:r>
            <a:endParaRPr lang="en-US" sz="1450" dirty="0"/>
          </a:p>
          <a:p>
            <a:pPr marL="342900" indent="-342900">
              <a:spcAft>
                <a:spcPts val="400"/>
              </a:spcAft>
              <a:buSzPct val="100000"/>
              <a:buChar char="•"/>
            </a:pPr>
            <a:r>
              <a:rPr lang="en-US" sz="1450" dirty="0">
                <a:solidFill>
                  <a:srgbClr val="334155"/>
                </a:solidFill>
              </a:rPr>
              <a:t>Only the Graph reads and Azure Reader the selected checks need</a:t>
            </a:r>
            <a:endParaRPr lang="en-US" sz="1450" dirty="0"/>
          </a:p>
          <a:p>
            <a:pPr marL="342900" indent="-342900">
              <a:spcAft>
                <a:spcPts val="400"/>
              </a:spcAft>
              <a:buSzPct val="100000"/>
              <a:buChar char="•"/>
            </a:pPr>
            <a:r>
              <a:rPr lang="en-US" sz="1450" dirty="0">
                <a:solidFill>
                  <a:srgbClr val="334155"/>
                </a:solidFill>
              </a:rPr>
              <a:t>Cloud, Azure environment, audience and Graph host agree (cloud --name prints them)</a:t>
            </a:r>
            <a:endParaRPr lang="en-US" sz="1450" dirty="0"/>
          </a:p>
          <a:p>
            <a:pPr marL="342900" indent="-342900">
              <a:spcAft>
                <a:spcPts val="400"/>
              </a:spcAft>
              <a:buSzPct val="100000"/>
              <a:buChar char="•"/>
            </a:pPr>
            <a:r>
              <a:rPr lang="en-US" sz="1450" dirty="0">
                <a:solidFill>
                  <a:srgbClr val="334155"/>
                </a:solidFill>
              </a:rPr>
              <a:t>The signing-in job has no write grant besides id-token; the issues job has no Azure access</a:t>
            </a:r>
            <a:endParaRPr lang="en-US" sz="1450" dirty="0"/>
          </a:p>
        </p:txBody>
      </p:sp>
      <p:sp>
        <p:nvSpPr>
          <p:cNvPr id="8" name="Panel Findings and evidence" descr="">
            <a:extLst>
              <a:ext uri="{C183D7F6-B498-43B3-948B-1728B52AA6E4}">
                <adec:decorative xmlns:adec="http://schemas.microsoft.com/office/drawing/2017/decorative" val="1"/>
              </a:ext>
            </a:extLst>
          </p:cNvPr>
          <p:cNvSpPr/>
          <p:nvPr/>
        </p:nvSpPr>
        <p:spPr>
          <a:xfrm>
            <a:off x="6240780" y="1325880"/>
            <a:ext cx="5417820" cy="3151632"/>
          </a:xfrm>
          <a:prstGeom prst="roundRect">
            <a:avLst>
              <a:gd name="adj" fmla="val 232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Findings and evidence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FINDINGS AND EVIDENCE</a:t>
            </a:r>
            <a:endParaRPr lang="en-US" sz="1100" dirty="0"/>
          </a:p>
        </p:txBody>
      </p:sp>
      <p:sp>
        <p:nvSpPr>
          <p:cNvPr id="10" name="Panel Findings and evidence list"/>
          <p:cNvSpPr txBox="1"/>
          <p:nvPr/>
        </p:nvSpPr>
        <p:spPr>
          <a:xfrm>
            <a:off x="6423660" y="1737360"/>
            <a:ext cx="5097780" cy="269443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An erroring check leaves its findings open; issues close only on a run that read the tenant</a:t>
            </a:r>
            <a:endParaRPr lang="en-US" sz="1450" dirty="0"/>
          </a:p>
          <a:p>
            <a:pPr marL="342900" indent="-342900">
              <a:spcAft>
                <a:spcPts val="400"/>
              </a:spcAft>
              <a:buSzPct val="100000"/>
              <a:buChar char="•"/>
            </a:pPr>
            <a:r>
              <a:rPr lang="en-US" sz="1450" dirty="0">
                <a:solidFill>
                  <a:srgbClr val="334155"/>
                </a:solidFill>
              </a:rPr>
              <a:t>Issue bodies carry object IDs, not names</a:t>
            </a:r>
            <a:endParaRPr lang="en-US" sz="1450" dirty="0"/>
          </a:p>
          <a:p>
            <a:pPr marL="342900" indent="-342900">
              <a:spcAft>
                <a:spcPts val="400"/>
              </a:spcAft>
              <a:buSzPct val="100000"/>
              <a:buChar char="•"/>
            </a:pPr>
            <a:r>
              <a:rPr lang="en-US" sz="1450" dirty="0">
                <a:solidFill>
                  <a:srgbClr val="334155"/>
                </a:solidFill>
              </a:rPr>
              <a:t>Each package verifies with sha256sum -c, and its previous hash matches the package before</a:t>
            </a:r>
            <a:endParaRPr lang="en-US" sz="1450" dirty="0"/>
          </a:p>
          <a:p>
            <a:pPr marL="342900" indent="-342900">
              <a:spcAft>
                <a:spcPts val="400"/>
              </a:spcAft>
              <a:buSzPct val="100000"/>
              <a:buChar char="•"/>
            </a:pPr>
            <a:r>
              <a:rPr lang="en-US" sz="1450" dirty="0">
                <a:solidFill>
                  <a:srgbClr val="334155"/>
                </a:solidFill>
              </a:rPr>
              <a:t>Locked retention in production; the pipeline never overwrites; someone checks a package arrived each day</a:t>
            </a:r>
            <a:endParaRPr lang="en-US" sz="1450" dirty="0"/>
          </a:p>
          <a:p>
            <a:pPr marL="342900" indent="-342900">
              <a:spcAft>
                <a:spcPts val="400"/>
              </a:spcAft>
              <a:buSzPct val="100000"/>
              <a:buChar char="•"/>
            </a:pPr>
            <a:r>
              <a:rPr lang="en-US" sz="1450" dirty="0">
                <a:solidFill>
                  <a:srgbClr val="334155"/>
                </a:solidFill>
              </a:rPr>
              <a:t>The pinned Learn page and action.yml match their manifests; upstream commits reviewed</a:t>
            </a:r>
            <a:endParaRPr lang="en-US" sz="1450" dirty="0"/>
          </a:p>
        </p:txBody>
      </p:sp>
      <p:sp>
        <p:nvSpPr>
          <p:cNvPr id="11" name="Callout" descr="">
            <a:extLst>
              <a:ext uri="{C183D7F6-B498-43B3-948B-1728B52AA6E4}">
                <adec:decorative xmlns:adec="http://schemas.microsoft.com/office/drawing/2017/decorative" val="1"/>
              </a:ext>
            </a:extLst>
          </p:cNvPr>
          <p:cNvSpPr/>
          <p:nvPr/>
        </p:nvSpPr>
        <p:spPr>
          <a:xfrm>
            <a:off x="548640" y="4660392"/>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Book" descr="">
            <a:extLst>
              <a:ext uri="{C183D7F6-B498-43B3-948B-1728B52AA6E4}">
                <adec:decorative xmlns:adec="http://schemas.microsoft.com/office/drawing/2017/decorative" val="1"/>
              </a:ext>
            </a:extLst>
          </p:cNvPr>
          <p:cNvSpPr/>
          <p:nvPr/>
        </p:nvSpPr>
        <p:spPr>
          <a:xfrm>
            <a:off x="749808" y="4733544"/>
            <a:ext cx="606552" cy="606552"/>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879116"/>
            <a:ext cx="315407" cy="315407"/>
          </a:xfrm>
          <a:prstGeom prst="rect">
            <a:avLst/>
          </a:prstGeom>
        </p:spPr>
      </p:pic>
      <p:sp>
        <p:nvSpPr>
          <p:cNvPr id="14" name="Callout text"/>
          <p:cNvSpPr txBox="1"/>
          <p:nvPr/>
        </p:nvSpPr>
        <p:spPr>
          <a:xfrm>
            <a:off x="1600200" y="4715256"/>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End of the workbook: </a:t>
            </a:r>
            <a:pPr indent="0" marL="0">
              <a:buNone/>
            </a:pPr>
            <a:r>
              <a:rPr lang="en-US" sz="1750" dirty="0">
                <a:solidFill>
                  <a:srgbClr val="334155"/>
                </a:solidFill>
              </a:rPr>
              <a:t>this is the workbook's last chapter. The workbook index lists all nine.</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09, “Checklist”; Learn, immutable storage (locked retention); Azure/login v3.1.0.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c09-oidc  </a:t>
            </a:r>
            <a:pPr indent="0" marL="0">
              <a:spcAft>
                <a:spcPts val="300"/>
              </a:spcAft>
              <a:buNone/>
            </a:pPr>
            <a:r>
              <a:rPr lang="en-US" sz="1050" dirty="0">
                <a:solidFill>
                  <a:srgbClr val="334155"/>
                </a:solidFill>
              </a:rPr>
              <a:t>Microsoft Learn, "Use the Azure Login action with OpenID Connect," https://learn.microsoft.com/azure/developer/github/connect-from-azure-openid-connect (accessed Oct 30, 2026).</a:t>
            </a:r>
            <a:endParaRPr lang="en-US" sz="1050" dirty="0"/>
          </a:p>
          <a:p>
            <a:pPr indent="0" marL="0">
              <a:spcAft>
                <a:spcPts val="300"/>
              </a:spcAft>
              <a:buNone/>
            </a:pPr>
            <a:r>
              <a:rPr lang="en-US" sz="1050" b="1" dirty="0">
                <a:solidFill>
                  <a:srgbClr val="1F2A44"/>
                </a:solidFill>
              </a:rPr>
              <a:t>c09-oidc-code  </a:t>
            </a:r>
            <a:pPr indent="0" marL="0">
              <a:spcAft>
                <a:spcPts val="300"/>
              </a:spcAft>
              <a:buNone/>
            </a:pPr>
            <a:r>
              <a:rPr lang="en-US" sz="1050" dirty="0">
                <a:solidFill>
                  <a:srgbClr val="334155"/>
                </a:solidFill>
              </a:rPr>
              <a:t>Microsoft, MicrosoftDocs/azure-dev-docs, articles/github/connect-from-azure-openid-connect.md at commit 23900ce00d955ff876f1a2df6a00d52f1a2f3df3 (October 28, 2026), code under the MIT License, https://github.com/MicrosoftDocs/azure-dev-docs/blob/23900ce00d955ff876f1a2df6a00d52f1a2f3df3/articles/github/connect-from-azure-openid-connect.md (accessed Oct 30, 2026); pinned copy in examples/third_party/azure-login-oidc-sample.</a:t>
            </a:r>
            <a:endParaRPr lang="en-US" sz="1050" dirty="0"/>
          </a:p>
          <a:p>
            <a:pPr indent="0" marL="0">
              <a:spcAft>
                <a:spcPts val="300"/>
              </a:spcAft>
              <a:buNone/>
            </a:pPr>
            <a:r>
              <a:rPr lang="en-US" sz="1050" b="1" dirty="0">
                <a:solidFill>
                  <a:srgbClr val="1F2A44"/>
                </a:solidFill>
              </a:rPr>
              <a:t>c09-login-action  </a:t>
            </a:r>
            <a:pPr indent="0" marL="0">
              <a:spcAft>
                <a:spcPts val="300"/>
              </a:spcAft>
              <a:buNone/>
            </a:pPr>
            <a:r>
              <a:rPr lang="en-US" sz="1050" dirty="0">
                <a:solidFill>
                  <a:srgbClr val="334155"/>
                </a:solidFill>
              </a:rPr>
              <a:t>Microsoft, Azure/login, action.yml at release v3.1.0, commit a641126d1b8aa4d1fa005f4f92df94a3a4c4c906 (September 10, 2026), MIT License, https://github.com/Azure/login/blob/a641126d1b8aa4d1fa005f4f92df94a3a4c4c906/action.yml, and its releases page, https://github.com/Azure/login/releases (accessed Oct 30, 2026); pinned copy in examples/third_party/azure-login-action. Learn has no page for the action's inputs beyond the sample.</a:t>
            </a:r>
            <a:endParaRPr lang="en-US" sz="1050" dirty="0"/>
          </a:p>
          <a:p>
            <a:pPr indent="0" marL="0">
              <a:spcAft>
                <a:spcPts val="300"/>
              </a:spcAft>
              <a:buNone/>
            </a:pPr>
            <a:r>
              <a:rPr lang="en-US" sz="1050" b="1" dirty="0">
                <a:solidFill>
                  <a:srgbClr val="1F2A44"/>
                </a:solidFill>
              </a:rPr>
              <a:t>c09-fic  </a:t>
            </a:r>
            <a:pPr indent="0" marL="0">
              <a:spcAft>
                <a:spcPts val="300"/>
              </a:spcAft>
              <a:buNone/>
            </a:pPr>
            <a:r>
              <a:rPr lang="en-US" sz="1050" dirty="0">
                <a:solidFill>
                  <a:srgbClr val="334155"/>
                </a:solidFill>
              </a:rPr>
              <a:t>Microsoft Learn, "Configure an app to trust an external identity provider," https://learn.microsoft.com/entra/workload-id/workload-identity-federation-create-trust (accessed Oct 30, 2026).</a:t>
            </a:r>
            <a:endParaRPr lang="en-US" sz="1050" dirty="0"/>
          </a:p>
          <a:p>
            <a:pPr indent="0" marL="0">
              <a:spcAft>
                <a:spcPts val="300"/>
              </a:spcAft>
              <a:buNone/>
            </a:pPr>
            <a:r>
              <a:rPr lang="en-US" sz="1050" b="1" dirty="0">
                <a:solidFill>
                  <a:srgbClr val="1F2A44"/>
                </a:solidFill>
              </a:rPr>
              <a:t>c09-fic-limits  </a:t>
            </a:r>
            <a:pPr indent="0" marL="0">
              <a:spcAft>
                <a:spcPts val="300"/>
              </a:spcAft>
              <a:buNone/>
            </a:pPr>
            <a:r>
              <a:rPr lang="en-US" sz="1050" dirty="0">
                <a:solidFill>
                  <a:srgbClr val="334155"/>
                </a:solidFill>
              </a:rPr>
              <a:t>Microsoft Learn, "Important considerations and restrictions for federated identity credentials," https://learn.microsoft.com/entra/workload-id/workload-identity-federation-considerations (accessed Oct 30, 2026).</a:t>
            </a:r>
            <a:endParaRPr lang="en-US" sz="1050" dirty="0"/>
          </a:p>
          <a:p>
            <a:pPr indent="0" marL="0">
              <a:spcAft>
                <a:spcPts val="300"/>
              </a:spcAft>
              <a:buNone/>
            </a:pPr>
            <a:r>
              <a:rPr lang="en-US" sz="1050" b="1" dirty="0">
                <a:solidFill>
                  <a:srgbClr val="1F2A44"/>
                </a:solidFill>
              </a:rPr>
              <a:t>c09-mi-trust  </a:t>
            </a:r>
            <a:pPr indent="0" marL="0">
              <a:spcAft>
                <a:spcPts val="300"/>
              </a:spcAft>
              <a:buNone/>
            </a:pPr>
            <a:r>
              <a:rPr lang="en-US" sz="1050" dirty="0">
                <a:solidFill>
                  <a:srgbClr val="334155"/>
                </a:solidFill>
              </a:rPr>
              <a:t>Microsoft Learn, "Configure an application to trust a managed identity," https://learn.microsoft.com/entra/workload-id/workload-identity-federation-config-app-trust-managed-identity (accessed Oct 30, 2026).</a:t>
            </a:r>
            <a:endParaRPr lang="en-US" sz="1050" dirty="0"/>
          </a:p>
          <a:p>
            <a:pPr indent="0" marL="0">
              <a:spcAft>
                <a:spcPts val="300"/>
              </a:spcAft>
              <a:buNone/>
            </a:pPr>
            <a:r>
              <a:rPr lang="en-US" sz="1050" b="1" dirty="0">
                <a:solidFill>
                  <a:srgbClr val="1F2A44"/>
                </a:solidFill>
              </a:rPr>
              <a:t>c09-graph-clouds  </a:t>
            </a:r>
            <a:pPr indent="0" marL="0">
              <a:spcAft>
                <a:spcPts val="300"/>
              </a:spcAft>
              <a:buNone/>
            </a:pPr>
            <a:r>
              <a:rPr lang="en-US" sz="1050" dirty="0">
                <a:solidFill>
                  <a:srgbClr val="334155"/>
                </a:solidFill>
              </a:rPr>
              <a:t>Microsoft Learn, "Microsoft Graph national cloud deployments," https://learn.microsoft.com/graph/deployments (accessed Oct 30, 2026).</a:t>
            </a:r>
            <a:endParaRPr lang="en-US" sz="1050" dirty="0"/>
          </a:p>
          <a:p>
            <a:pPr indent="0" marL="0">
              <a:spcAft>
                <a:spcPts val="300"/>
              </a:spcAft>
              <a:buNone/>
            </a:pPr>
            <a:r>
              <a:rPr lang="en-US" sz="1050" b="1" dirty="0">
                <a:solidFill>
                  <a:srgbClr val="1F2A44"/>
                </a:solidFill>
              </a:rPr>
              <a:t>c09-mggraph  </a:t>
            </a:r>
            <a:pPr indent="0" marL="0">
              <a:spcAft>
                <a:spcPts val="300"/>
              </a:spcAft>
              <a:buNone/>
            </a:pPr>
            <a:r>
              <a:rPr lang="en-US" sz="1050" dirty="0">
                <a:solidFill>
                  <a:srgbClr val="334155"/>
                </a:solidFill>
              </a:rPr>
              <a:t>Microsoft Learn, "Connect-MgGraph," https://learn.microsoft.com/powershell/module/microsoft.graph.authentication/connect-mggraph?view=graph-powershell-1.0 (accessed Oct 30, 2026).</a:t>
            </a:r>
            <a:endParaRPr lang="en-US" sz="1050" dirty="0"/>
          </a:p>
          <a:p>
            <a:pPr indent="0" marL="0">
              <a:spcAft>
                <a:spcPts val="300"/>
              </a:spcAft>
              <a:buNone/>
            </a:pPr>
            <a:r>
              <a:rPr lang="en-US" sz="1050" b="1" dirty="0">
                <a:solidFill>
                  <a:srgbClr val="1F2A44"/>
                </a:solidFill>
              </a:rPr>
              <a:t>c09-azaccesstoken  </a:t>
            </a:r>
            <a:pPr indent="0" marL="0">
              <a:spcAft>
                <a:spcPts val="300"/>
              </a:spcAft>
              <a:buNone/>
            </a:pPr>
            <a:r>
              <a:rPr lang="en-US" sz="1050" dirty="0">
                <a:solidFill>
                  <a:srgbClr val="334155"/>
                </a:solidFill>
              </a:rPr>
              <a:t>Microsoft Learn, "Get-AzAccessToken," https://learn.microsoft.com/powershell/module/az.accounts/get-azaccesstoken (accessed Oct 30, 2026).</a:t>
            </a:r>
            <a:endParaRPr lang="en-US" sz="1050" dirty="0"/>
          </a:p>
          <a:p>
            <a:pPr indent="0" marL="0">
              <a:spcAft>
                <a:spcPts val="300"/>
              </a:spcAft>
              <a:buNone/>
            </a:pPr>
            <a:r>
              <a:rPr lang="en-US" sz="1050" b="1" dirty="0">
                <a:solidFill>
                  <a:srgbClr val="1F2A44"/>
                </a:solidFill>
              </a:rPr>
              <a:t>c09-tid  </a:t>
            </a:r>
            <a:pPr indent="0" marL="0">
              <a:spcAft>
                <a:spcPts val="300"/>
              </a:spcAft>
              <a:buNone/>
            </a:pPr>
            <a:r>
              <a:rPr lang="en-US" sz="1050" dirty="0">
                <a:solidFill>
                  <a:srgbClr val="334155"/>
                </a:solidFill>
              </a:rPr>
              <a:t>Microsoft Learn, "Access token claims reference," tid in "Payload claims," https://learn.microsoft.com/entra/identity-platform/access-token-claims-reference#payload-claims (accessed Oct 30, 2026).</a:t>
            </a:r>
            <a:endParaRPr lang="en-US" sz="1050" dirty="0"/>
          </a:p>
          <a:p>
            <a:pPr indent="0" marL="0">
              <a:spcAft>
                <a:spcPts val="300"/>
              </a:spcAft>
              <a:buNone/>
            </a:pPr>
            <a:r>
              <a:rPr lang="en-US" sz="1050" b="1" dirty="0">
                <a:solidFill>
                  <a:srgbClr val="1F2A44"/>
                </a:solidFill>
              </a:rPr>
              <a:t>c09-mg-tid  </a:t>
            </a:r>
            <a:pPr indent="0" marL="0">
              <a:spcAft>
                <a:spcPts val="300"/>
              </a:spcAft>
              <a:buNone/>
            </a:pPr>
            <a:r>
              <a:rPr lang="en-US" sz="1050" dirty="0">
                <a:solidFill>
                  <a:srgbClr val="334155"/>
                </a:solidFill>
              </a:rPr>
              <a:t>Microsoft, microsoftgraph/msgraph-sdk-powershell, src/Authentication/Authentication.Core/Utilities/JwtHelpers.cs (authContext.TenantId = jwtPayload?.Tid ?? …, applied to a token passed with -AccessToken as well), last changed in commit 0fceedbba17c1dec4d9bb292910a5f286cd7454e (October 30, 2023), read with gh api (accessed Oct 30, 2026). Not a Learn page: Learn's Get-MgContext page lists TenantID among the session details without saying where it comes from.</a:t>
            </a:r>
            <a:endParaRPr lang="en-US" sz="1050" dirty="0"/>
          </a:p>
          <a:p>
            <a:pPr indent="0" marL="0">
              <a:spcAft>
                <a:spcPts val="300"/>
              </a:spcAft>
              <a:buNone/>
            </a:pPr>
            <a:r>
              <a:rPr lang="en-US" sz="1050" b="1" dirty="0">
                <a:solidFill>
                  <a:srgbClr val="1F2A44"/>
                </a:solidFill>
              </a:rPr>
              <a:t>c09-mggraph-src  </a:t>
            </a:r>
            <a:pPr indent="0" marL="0">
              <a:spcAft>
                <a:spcPts val="300"/>
              </a:spcAft>
              <a:buNone/>
            </a:pPr>
            <a:r>
              <a:rPr lang="en-US" sz="1050" dirty="0">
                <a:solidFill>
                  <a:srgbClr val="334155"/>
                </a:solidFill>
              </a:rPr>
              <a:t>Microsoft, microsoftgraph/msgraph-sdk-powershell, src/Authentication/Authentication/Cmdlets/ConnectMgGraph.cs (public SecureString AccessToken), last changed in commit 34e2549948690924ff403975de39603c1d4043bc (July 22, 2026), read with gh api (accessed Oct 30, 2026). Not a Learn page.</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(2)</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c09-kv-sign  </a:t>
            </a:r>
            <a:pPr indent="0" marL="0">
              <a:spcAft>
                <a:spcPts val="300"/>
              </a:spcAft>
              <a:buNone/>
            </a:pPr>
            <a:r>
              <a:rPr lang="en-US" sz="1050" dirty="0">
                <a:solidFill>
                  <a:srgbClr val="334155"/>
                </a:solidFill>
              </a:rPr>
              <a:t>Microsoft Learn, "Azure Key Vault REST API reference," key operations Sign and Verify, https://learn.microsoft.com/rest/api/keyvault/; "az keyvault key sign," https://learn.microsoft.com/cli/azure/keyvault/key; CryptographyClient sign (keys/sign permission), https://learn.microsoft.com/java/api/com.azure.security.keyvault.keys.cryptography.cryptographyclient (accessed Oct 30, 2026).</a:t>
            </a:r>
            <a:endParaRPr lang="en-US" sz="1050" dirty="0"/>
          </a:p>
          <a:p>
            <a:pPr indent="0" marL="0">
              <a:spcAft>
                <a:spcPts val="300"/>
              </a:spcAft>
              <a:buNone/>
            </a:pPr>
            <a:r>
              <a:rPr lang="en-US" sz="1050" b="1" dirty="0">
                <a:solidFill>
                  <a:srgbClr val="1F2A44"/>
                </a:solidFill>
              </a:rPr>
              <a:t>c09-artifact-signing  </a:t>
            </a:r>
            <a:pPr indent="0" marL="0">
              <a:spcAft>
                <a:spcPts val="300"/>
              </a:spcAft>
              <a:buNone/>
            </a:pPr>
            <a:r>
              <a:rPr lang="en-US" sz="1050" dirty="0">
                <a:solidFill>
                  <a:srgbClr val="334155"/>
                </a:solidFill>
              </a:rPr>
              <a:t>Microsoft Learn, "Set up signing integrations to use Artifact Signing," https://learn.microsoft.com/azure/artifact-signing/how-to-signing-integrations; "Overview of signing and verifying OCI artifacts," https://learn.microsoft.com/azure/container-registry/overview-sign-verify-artifacts (accessed Oct 30, 2026).</a:t>
            </a:r>
            <a:endParaRPr lang="en-US" sz="1050" dirty="0"/>
          </a:p>
          <a:p>
            <a:pPr indent="0" marL="0">
              <a:spcAft>
                <a:spcPts val="300"/>
              </a:spcAft>
              <a:buNone/>
            </a:pPr>
            <a:r>
              <a:rPr lang="en-US" sz="1050" b="1" dirty="0">
                <a:solidFill>
                  <a:srgbClr val="1F2A44"/>
                </a:solidFill>
              </a:rPr>
              <a:t>c09-artifact-signing-faq  </a:t>
            </a:r>
            <a:pPr indent="0" marL="0">
              <a:spcAft>
                <a:spcPts val="300"/>
              </a:spcAft>
              <a:buNone/>
            </a:pPr>
            <a:r>
              <a:rPr lang="en-US" sz="1050" dirty="0">
                <a:solidFill>
                  <a:srgbClr val="334155"/>
                </a:solidFill>
              </a:rPr>
              <a:t>Microsoft Learn, "Artifact Signing FAQ," https://learn.microsoft.com/azure/artifact-signing/faq (accessed Oct 30, 2026).</a:t>
            </a:r>
            <a:endParaRPr lang="en-US" sz="1050" dirty="0"/>
          </a:p>
          <a:p>
            <a:pPr indent="0" marL="0">
              <a:spcAft>
                <a:spcPts val="300"/>
              </a:spcAft>
              <a:buNone/>
            </a:pPr>
            <a:r>
              <a:rPr lang="en-US" sz="1050" b="1" dirty="0">
                <a:solidFill>
                  <a:srgbClr val="1F2A44"/>
                </a:solidFill>
              </a:rPr>
              <a:t>c09-idx14102  </a:t>
            </a:r>
            <a:pPr indent="0" marL="0">
              <a:spcAft>
                <a:spcPts val="300"/>
              </a:spcAft>
              <a:buNone/>
            </a:pPr>
            <a:r>
              <a:rPr lang="en-US" sz="1050" dirty="0">
                <a:solidFill>
                  <a:srgbClr val="334155"/>
                </a:solidFill>
              </a:rPr>
              <a:t>Microsoft Learn, "Microsoft Graph PowerShell throws error 'IDX14102: Unable to decode the header'," https://learn.microsoft.com/troubleshoot/entra/entra-id/users-groups-entra-apis/unable-to-decode-header-error (accessed Oct 30, 2026).</a:t>
            </a:r>
            <a:endParaRPr lang="en-US" sz="1050" dirty="0"/>
          </a:p>
          <a:p>
            <a:pPr indent="0" marL="0">
              <a:spcAft>
                <a:spcPts val="300"/>
              </a:spcAft>
              <a:buNone/>
            </a:pPr>
            <a:r>
              <a:rPr lang="en-US" sz="1050" b="1" dirty="0">
                <a:solidFill>
                  <a:srgbClr val="1F2A44"/>
                </a:solidFill>
              </a:rPr>
              <a:t>c09-ado-wif  </a:t>
            </a:r>
            <a:pPr indent="0" marL="0">
              <a:spcAft>
                <a:spcPts val="300"/>
              </a:spcAft>
              <a:buNone/>
            </a:pPr>
            <a:r>
              <a:rPr lang="en-US" sz="1050" dirty="0">
                <a:solidFill>
                  <a:srgbClr val="334155"/>
                </a:solidFill>
              </a:rPr>
              <a:t>Microsoft Learn, "Connect to Azure with an Azure Resource Manager service connection," https://learn.microsoft.com/azure/devops/pipelines/library/connect-to-azure?view=azure-devops (accessed Oct 30, 2026).</a:t>
            </a:r>
            <a:endParaRPr lang="en-US" sz="1050" dirty="0"/>
          </a:p>
          <a:p>
            <a:pPr indent="0" marL="0">
              <a:spcAft>
                <a:spcPts val="300"/>
              </a:spcAft>
              <a:buNone/>
            </a:pPr>
            <a:r>
              <a:rPr lang="en-US" sz="1050" b="1" dirty="0">
                <a:solidFill>
                  <a:srgbClr val="1F2A44"/>
                </a:solidFill>
              </a:rPr>
              <a:t>c09-immutable  </a:t>
            </a:r>
            <a:pPr indent="0" marL="0">
              <a:spcAft>
                <a:spcPts val="300"/>
              </a:spcAft>
              <a:buNone/>
            </a:pPr>
            <a:r>
              <a:rPr lang="en-US" sz="1050" dirty="0">
                <a:solidFill>
                  <a:srgbClr val="334155"/>
                </a:solidFill>
              </a:rPr>
              <a:t>Microsoft Learn, "Store business-critical blob data with immutable storage in a write once, read many (WORM) state," https://learn.microsoft.com/azure/storage/blobs/immutable-storage-overview (accessed Oct 30, 2026).</a:t>
            </a:r>
            <a:endParaRPr lang="en-US" sz="1050" dirty="0"/>
          </a:p>
          <a:p>
            <a:pPr indent="0" marL="0">
              <a:spcAft>
                <a:spcPts val="300"/>
              </a:spcAft>
              <a:buNone/>
            </a:pPr>
            <a:r>
              <a:rPr lang="en-US" sz="1050" b="1" dirty="0">
                <a:solidFill>
                  <a:srgbClr val="1F2A44"/>
                </a:solidFill>
              </a:rPr>
              <a:t>c09-immutable-container  </a:t>
            </a:r>
            <a:pPr indent="0" marL="0">
              <a:spcAft>
                <a:spcPts val="300"/>
              </a:spcAft>
              <a:buNone/>
            </a:pPr>
            <a:r>
              <a:rPr lang="en-US" sz="1050" dirty="0">
                <a:solidFill>
                  <a:srgbClr val="334155"/>
                </a:solidFill>
              </a:rPr>
              <a:t>Microsoft Learn, "Configure immutability policies for containers," https://learn.microsoft.com/azure/storage/blobs/immutable-policy-configure-container-scope (accessed Oct 30, 2026).</a:t>
            </a:r>
            <a:endParaRPr lang="en-US" sz="1050" dirty="0"/>
          </a:p>
          <a:p>
            <a:pPr indent="0" marL="0">
              <a:spcAft>
                <a:spcPts val="300"/>
              </a:spcAft>
              <a:buNone/>
            </a:pPr>
            <a:r>
              <a:rPr lang="en-US" sz="1050" b="1" dirty="0">
                <a:solidFill>
                  <a:srgbClr val="1F2A44"/>
                </a:solidFill>
              </a:rPr>
              <a:t>c09-blob-cli  </a:t>
            </a:r>
            <a:pPr indent="0" marL="0">
              <a:spcAft>
                <a:spcPts val="300"/>
              </a:spcAft>
              <a:buNone/>
            </a:pPr>
            <a:r>
              <a:rPr lang="en-US" sz="1050" dirty="0">
                <a:solidFill>
                  <a:srgbClr val="334155"/>
                </a:solidFill>
              </a:rPr>
              <a:t>Microsoft Learn, "Quickstart: Create, download, and list blobs with Azure CLI," https://learn.microsoft.com/azure/storage/blobs/storage-quickstart-blobs-cli (accessed Oct 30, 2026).</a:t>
            </a:r>
            <a:endParaRPr lang="en-US" sz="1050" dirty="0"/>
          </a:p>
          <a:p>
            <a:pPr indent="0" marL="0">
              <a:spcAft>
                <a:spcPts val="300"/>
              </a:spcAft>
              <a:buNone/>
            </a:pPr>
            <a:r>
              <a:rPr lang="en-US" sz="1050" b="1" dirty="0">
                <a:solidFill>
                  <a:srgbClr val="1F2A44"/>
                </a:solidFill>
              </a:rPr>
              <a:t>c09-gh-events  </a:t>
            </a:r>
            <a:pPr indent="0" marL="0">
              <a:spcAft>
                <a:spcPts val="300"/>
              </a:spcAft>
              <a:buNone/>
            </a:pPr>
            <a:r>
              <a:rPr lang="en-US" sz="1050" dirty="0">
                <a:solidFill>
                  <a:srgbClr val="334155"/>
                </a:solidFill>
              </a:rPr>
              <a:t>GitHub Docs, "Events that trigger workflows" (schedule, workflow_dispatch), https://docs.github.com/en/actions/reference/workflows-and-actions/events-that-trigger-workflows (accessed Oct 30, 2026). Learn doesn't cover GitHub's scheduler.</a:t>
            </a:r>
            <a:endParaRPr lang="en-US" sz="1050" dirty="0"/>
          </a:p>
          <a:p>
            <a:pPr indent="0" marL="0">
              <a:spcAft>
                <a:spcPts val="300"/>
              </a:spcAft>
              <a:buNone/>
            </a:pPr>
            <a:r>
              <a:rPr lang="en-US" sz="1050" b="1" dirty="0">
                <a:solidFill>
                  <a:srgbClr val="1F2A44"/>
                </a:solidFill>
              </a:rPr>
              <a:t>c09-gh-oidc  </a:t>
            </a:r>
            <a:pPr indent="0" marL="0">
              <a:spcAft>
                <a:spcPts val="300"/>
              </a:spcAft>
              <a:buNone/>
            </a:pPr>
            <a:r>
              <a:rPr lang="en-US" sz="1050" dirty="0">
                <a:solidFill>
                  <a:srgbClr val="334155"/>
                </a:solidFill>
              </a:rPr>
              <a:t>GitHub Docs, "OpenID Connect reference," https://docs.github.com/en/actions/reference/security/oidc (accessed Oct 30, 2026). Learn's Azure Login page points here for the token's claims.</a:t>
            </a:r>
            <a:endParaRPr lang="en-US" sz="1050" dirty="0"/>
          </a:p>
          <a:p>
            <a:pPr indent="0" marL="0">
              <a:spcAft>
                <a:spcPts val="300"/>
              </a:spcAft>
              <a:buNone/>
            </a:pPr>
            <a:r>
              <a:rPr lang="en-US" sz="1050" b="1" dirty="0">
                <a:solidFill>
                  <a:srgbClr val="1F2A44"/>
                </a:solidFill>
              </a:rPr>
              <a:t>c09-gh-secure  </a:t>
            </a:r>
            <a:pPr indent="0" marL="0">
              <a:spcAft>
                <a:spcPts val="300"/>
              </a:spcAft>
              <a:buNone/>
            </a:pPr>
            <a:r>
              <a:rPr lang="en-US" sz="1050" dirty="0">
                <a:solidFill>
                  <a:srgbClr val="334155"/>
                </a:solidFill>
              </a:rPr>
              <a:t>GitHub Docs, "Secure use reference," https://docs.github.com/en/actions/reference/security/secure-use (accessed Oct 30, 2026).</a:t>
            </a:r>
            <a:endParaRPr lang="en-US" sz="1050" dirty="0"/>
          </a:p>
          <a:p>
            <a:pPr indent="0" marL="0">
              <a:spcAft>
                <a:spcPts val="300"/>
              </a:spcAft>
              <a:buNone/>
            </a:pPr>
            <a:r>
              <a:rPr lang="en-US" sz="1050" b="1" dirty="0">
                <a:solidFill>
                  <a:srgbClr val="1F2A44"/>
                </a:solidFill>
              </a:rPr>
              <a:t>c09-gh-artifacts  </a:t>
            </a:r>
            <a:pPr indent="0" marL="0">
              <a:spcAft>
                <a:spcPts val="300"/>
              </a:spcAft>
              <a:buNone/>
            </a:pPr>
            <a:r>
              <a:rPr lang="en-US" sz="1050" dirty="0">
                <a:solidFill>
                  <a:srgbClr val="334155"/>
                </a:solidFill>
              </a:rPr>
              <a:t>GitHub Docs, "Store and share data with workflow artifacts," https://docs.github.com/en/actions/how-tos/writing-workflows/choosing-what-your-workflow-does/storing-and-sharing-data-from-a-workflow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the Attribute-Driven Migration, Chapter 09 — Drift Pipelines and Evidence to the ISSO</dc:title>
  <dc:subject>PptxGenJS Presentation</dc:subject>
  <dc:creator>Michael F. Stratton</dc:creator>
  <cp:lastModifiedBy>Michael F. Stratton</cp:lastModifiedBy>
  <cp:revision>1</cp:revision>
  <dcterms:created xsi:type="dcterms:W3CDTF">2026-10-31T14:33:38Z</dcterms:created>
  <dcterms:modified xsi:type="dcterms:W3CDTF">2026-10-31T14:33:38Z</dcterms:modified>
</cp:coreProperties>
</file>