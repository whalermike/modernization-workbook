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decision" id="{463EAD17-D28B-3D2C-2BAA-425E1EB8C5A8}">
          <p14:sldIdLst>
            <p14:sldId id="256"/>
            <p14:sldId id="257"/>
            <p14:sldId id="258"/>
            <p14:sldId id="259"/>
          </p14:sldIdLst>
        </p14:section>
        <p14:section name="Making it real" id="{4EC0EB88-6DAB-6D55-9B84-7F87094F8288}">
          <p14:sldIdLst>
            <p14:sldId id="260"/>
            <p14:sldId id="261"/>
            <p14:sldId id="262"/>
          </p14:sldIdLst>
        </p14:section>
        <p14:section name="Backup" id="{BFA4E24B-C96E-F08B-7BE4-AD82FD670C2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62435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Good morning, and thank you.
I have one proposal, and I'll take it through four questions, the way I'd take it to leadership: why it matters, what we should do, who has to be involved, and how we'd carry it out and know it's working.
Workbook: HR-Driven Identity, Chapter 00 — Overview and Applicability.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[0:20–2:30]  Why. Today, nothing connects HR to identity at SSA. Accounts, access and credentials are created and removed by ticket, and that costs us three ways.
Access outlives the job: when someone leaves or changes roles, removal waits for a ticket, and a stale account is a security violation that can enable a breach of the public's records. This isn't hypothetical. Last month OIG's Insider Threat audit sampled people who separated over a year and found deficiencies in disabling their access and revoking their credentials. And when a PIV card can't be collected, the federal standard is to terminate it within eighteen hours. Records we can't trust: I've lived this at DITM. The phone book was wrong until someone filed a ticket, and every time I changed managers, my organization, my manager and my access to tools like SAM were updated by hand. Approvals route through that same data. And cost and delay: every joiner, mover and leaver is help-desk work.
But the bigger why is where the mission is heading. One idea that's been discussed is a shared call center: one front door for SSA and IRS customers. The hard part of an idea like that isn't the phones — SSA's phones already run on a cloud contact center, Amazon Connect, since 2024. It's the back end. Who is this agent? Which agency's records may they see? And does their access end the day they leave, in both agencies? Today each agency answers those questions by hand, and differently. A standardized, HR-driven identity answers them by rule, the same way everywhere.
And if we do nothing, HR moves to Core HCM, identity moves to Entra ID, and we rebuild the same manual process twice, on new platforms.
Workbook: HR-Driven Identity, Chapter 01 — Why the agency needs HR-driven ICAM now.</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[2:30–5:30]  What should we do? There are four realistic options, and I've weighed each against what leadership actually has to balance: the mission and the public we serve, security, cost and resilience. Compliance matters, but on its own it isn't a reason to invest.
Option A is to keep ticket-driven identity. It needs no new investment, but the risk and the recurring manual work stay exactly where they are. That's the cost of doing nothing.
Option B is to automate inside the directories, with scripts and exports. It's quick and cheap, but it automates a source that isn't authoritative, so it spreads bad data faster, and it has to be rebuilt when HR changes platforms.
Option C is to wait for HR 2.0 and integrate afterward. That's defensible: it's less work this year. But the interconnection decisions are made during onboarding, about five months in. Waiting means retrofitting after go-live, and the Entra ID migration carries the tickets forward in the meantime.
Option D is to start now: make HR the source of truth, expressed in OPM's standard personnel data, and design it into both the HR onboarding and the Entra ID migration. It costs design effort up front and needs shared governance, which is why it scores only partial on cost.
The judgment call: if HR 2.0 slipped a long way, C becomes reasonable. But D's first step — data standards, ownership and the person key — is no-regret either way, and it can start today from the HR operational data store SSA already runs, with the source switched to Core HCM when it arrives.
Workbook: HR-Driven Identity, Chapter 00 — Why now; Why together; Chapter 02 — Why this is the opportunity, not the project.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[5:30–8:00]  My recommendation is option D, phased, starting with the no-regret steps. Four reasons.
Mission and the public: access to the public's records should end when a person's role ends, automatically, the same day; the people who serve the public should have the right access on day one; and shared services like the call center become possible, because every agency describes its people the same way.
Cost: we build it once, while both platforms are being rebuilt anyway, and retire ticket work for routine joiners, movers and leavers.
Security: modern access, Zero Trust, is decided by attributes: organization, position, status, supervisor. So the accuracy of HR data becomes the accuracy of access. The federal mandates point the same way, but they're the floor, not the reason. And it builds on real progress: this year's FISMA audit moved identity and access management up to Level 4, and its open recommendation is to keep improving user-account oversight. This is how.
Resilience: by building on OPM's standard data rather than one vendor's fields, and on a person key we control — the Mainframe PIN, which is already our person ID and employee ID — the design survives the next platform change.
Two honest limits. HR 2.0 covers federal employees only, so contractors need their own source: Core HCM's contingent worker record, or PIV sponsorship. And we should build only what HR is authoritative for.
The upside: every agency is moving to the same HR platform on the same standards, so one identity standard can serve them all, and the services they share.
Workbook: HR-Driven Identity, Chapter 01 — Why the agency needs HR-driven ICAM now; Chapter 03 — Attribute Authority; Chapter 05 — Contractors and vendors.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[8:00–10:00]  Who has to be involved. This is an organizational change as much as a technical one, so it matters who owns what.
HR owns the personnel data and its quality, at the source. When the data is wrong, it gets fixed in HR, not patched in the directory. And the OPM HR 2.0 program owns the platform, the standards and the interconnection.
The CIO's identity team uses that data to run Entra ID, Active Directory and access. Security sets the Zero Trust policy and owns the leaver path. And the help desk moves from routine tickets to handling the exceptions.
Then the guards and partners. The privacy office is in from the start, because using HR data for identity is a disclosure that needs a routine use and minimization. Contractor sponsors and the PIV office are the source for people HR doesn't cover. And partner agencies, like IRS for a shared call center, need the same standard if we're going to share services.
My role, as an enterprise data architect, is to own the standards, the crosswalk and the person key; to make sure every attribute has one accountable owner; and to carry the standard to the interagency committees and working groups where it gets adopted. It also contributes to a FY2026 FISMA finding: SSA lacks a comprehensive inventory of its data and metadata, and the person model and its attributes are a governed piece of that inventory.
Workbook: HR-Driven Identity, Chapter 03 — Attribute Authority; Appendix B — Security and Privacy Assessment.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[10:00–13:00]  How we'd carry it out.
Data — this is where data architecture earns its keep. One governed crosswalk maps OPM's standard data elements into a canonical person model, keyed on the Mainframe PIN, so a person stays the same person across rehire, conversion and reorganization, and when HR changes platforms only the source key changes. Personnel actions then drive the identity events — joiner, mover, leaver — by code, not by ticket. Contractors come from their own source into the same model.
Security. The leaver path blocks access first, within hours, and cleans up afterward. The integration runs with least privilege and no stored secrets. And anything that fails goes to a quarantine with an owner; nothing resolves itself silently.
Operations. We start now, from the HR Operational Data Store SSA already runs, and switch the source to Core HCM when it arrives. We run in shadow mode first, comparing what HR says with what the directories hold, and fixing the gaps. We cut over one population at a time. And we close the ticket path for a population only when the data proves HR is the sole source.
The technology is the example, not the point. Here it's Oracle Core HCM feeding Microsoft's HR-driven provisioning into Entra ID and Active Directory, with access packages, lifecycle workflows and PIV downstream. If the vendors change, the design holds.
Workbook: HR-Driven Identity, Chapter 04 — Logical architecture and Microsoft realization; Chapter 05 — The standard-attribute layer; Chapter 07 — The canonical leaver sequence; Chapter 10 — Execution Plan.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[13:00–15:00]  How we'll know it's working, and what I'd need.
Five measures, each baselined in the first phase, and each one a business measure leadership can read: time from separation to blocked access, in hours, well inside the eighteen-hour federal standard for terminating a PIV card; accounts tied to a person, with orphaned accounts trending to zero; joiner and mover tickets going down, with access ready on day one; the manager and organization in the directory matching HR; and every exception with an owner and an age. As a byproduct, the same data is evidence for the controls auditors ask about.
What I'd need from leadership is one decision: start HR-driven identity now, as a design requirement of the HR 2.0 onboarding and the Entra ID migration. And to act on it: a sponsor across HR, the CIO's identity team and privacy; identity named as a consumer in the HR 2.0 interconnection plan; data owners designated, and the Mainframe PIN confirmed as the enterprise person key; and a small team for the pre-onboarding data work.
Thank you. I look forward to your questions.
Workbook: HR-Driven Identity, Chapter 09 — Drift, Metrics and Evidence; Chapter 10 — Execution Plan.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737360"/>
            <a:ext cx="6035040" cy="164592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5852160" cy="118872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rtlCol="0"/>
          <a:lstStyle>
            <a:lvl1pPr marL="0" indent="0">
              <a:buNone/>
              <a:defRPr lang="en-US" sz="3000" b="1" dirty="0">
                <a:solidFill>
                  <a:schemeClr val="tx1"/>
                </a:solidFill>
                <a:latin typeface="Cambria" pitchFamily="34" charset="0"/>
                <a:ea typeface="Cambria" pitchFamily="34" charset="-122"/>
                <a:cs typeface="Cambria" pitchFamily="34" charset="-120"/>
              </a:defRPr>
            </a:lvl1pPr>
          </a:lstStyle>
          <a:p>
            <a:pPr marL="0" indent="0">
              <a:buNone/>
            </a:pPr>
            <a:endParaRPr lang="en-US" sz="30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chemeClr val="accent5"/>
                </a:solidFill>
              </a:rPr>
              <a:t>HR-Driven Identity  ·  Mike Stratton  ·  SSA edition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3.png"/><Relationship Id="rId4" Type="http://schemas.openxmlformats.org/officeDocument/2006/relationships/notesSlide" Target="../notesSlides/notesSlide2.xml"/><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slideLayout" Target="../slideLayouts/slideLayout3.xml"/><Relationship Id="rId7" Type="http://schemas.openxmlformats.org/officeDocument/2006/relationships/image" Target="../media/image12.png"/><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notesSlide" Target="../notesSlides/notesSlide4.xml"/><Relationship Id="rId9"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slideLayout" Target="../slideLayouts/slideLayout3.xml"/><Relationship Id="rId7" Type="http://schemas.openxmlformats.org/officeDocument/2006/relationships/image" Target="../media/image12.png"/><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10.png"/><Relationship Id="rId5" Type="http://schemas.openxmlformats.org/officeDocument/2006/relationships/image" Target="../media/image14.png"/><Relationship Id="rId4" Type="http://schemas.openxmlformats.org/officeDocument/2006/relationships/notesSlide" Target="../notesSlides/notesSlide5.xml"/><Relationship Id="rId9" Type="http://schemas.openxmlformats.org/officeDocument/2006/relationships/image" Target="../media/image3.png"/></Relationships>
</file>

<file path=ppt/slides/_rels/slide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18.png"/><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19.png"/><Relationship Id="rId11" Type="http://schemas.openxmlformats.org/officeDocument/2006/relationships/image" Target="../media/image3.png"/><Relationship Id="rId5" Type="http://schemas.openxmlformats.org/officeDocument/2006/relationships/image" Target="../media/image4.png"/><Relationship Id="rId10" Type="http://schemas.openxmlformats.org/officeDocument/2006/relationships/image" Target="../media/image20.png"/><Relationship Id="rId4" Type="http://schemas.openxmlformats.org/officeDocument/2006/relationships/notesSlide" Target="../notesSlides/notesSlide7.xml"/><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737360"/>
            <a:ext cx="6035040" cy="164592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HR-Driven Identity Modernization</a:t>
            </a:r>
            <a:endParaRPr lang="en-US" sz="4400" dirty="0"/>
          </a:p>
        </p:txBody>
      </p:sp>
      <p:sp>
        <p:nvSpPr>
          <p:cNvPr id="3" name="Text 0"/>
          <p:cNvSpPr>
            <a:spLocks noGrp="1"/>
          </p:cNvSpPr>
          <p:nvPr>
            <p:ph type="body" idx="101" hasCustomPrompt="1"/>
          </p:nvPr>
        </p:nvSpPr>
        <p:spPr>
          <a:xfrm>
            <a:off x="731520" y="3520440"/>
            <a:ext cx="5852160" cy="1188720"/>
          </a:xfrm>
          <a:prstGeom prst="rect">
            <a:avLst/>
          </a:prstGeom>
          <a:noFill/>
          <a:ln/>
        </p:spPr>
        <p:txBody>
          <a:bodyPr wrap="square" lIns="0" tIns="0" rIns="0" bIns="0" rtlCol="0" anchor="t"/>
          <a:lstStyle/>
          <a:p>
            <a:pPr marL="0" indent="0">
              <a:buNone/>
            </a:pPr>
            <a:r>
              <a:rPr lang="en-US" sz="2200" dirty="0">
                <a:solidFill>
                  <a:schemeClr val="accent2"/>
                </a:solidFill>
              </a:rPr>
              <a:t>Making HR the source of truth for who gets access</a:t>
            </a:r>
            <a:endParaRPr lang="en-US" sz="2200" dirty="0"/>
          </a:p>
        </p:txBody>
      </p:sp>
      <p:sp>
        <p:nvSpPr>
          <p:cNvPr id="4" name="Agenda line"/>
          <p:cNvSpPr txBox="1"/>
          <p:nvPr/>
        </p:nvSpPr>
        <p:spPr>
          <a:xfrm>
            <a:off x="731520" y="4069080"/>
            <a:ext cx="6035040" cy="457200"/>
          </a:xfrm>
          <a:prstGeom prst="rect">
            <a:avLst/>
          </a:prstGeom>
          <a:noFill/>
          <a:ln/>
        </p:spPr>
        <p:txBody>
          <a:bodyPr wrap="square" lIns="0" tIns="0" rIns="0" bIns="0" rtlCol="0" anchor="t"/>
          <a:lstStyle/>
          <a:p>
            <a:pPr marL="0" indent="0">
              <a:buNone/>
            </a:pPr>
            <a:r>
              <a:rPr lang="en-US" sz="2000" b="1" dirty="0">
                <a:solidFill>
                  <a:srgbClr val="B91C1C"/>
                </a:solidFill>
              </a:rPr>
              <a:t>Why</a:t>
            </a:r>
            <a:r>
              <a:rPr lang="en-US" sz="2000" dirty="0">
                <a:solidFill>
                  <a:srgbClr val="64748B"/>
                </a:solidFill>
              </a:rPr>
              <a:t>   ·   </a:t>
            </a:r>
            <a:r>
              <a:rPr lang="en-US" sz="2000" b="1" dirty="0">
                <a:solidFill>
                  <a:srgbClr val="1F2A44"/>
                </a:solidFill>
              </a:rPr>
              <a:t>What</a:t>
            </a:r>
            <a:r>
              <a:rPr lang="en-US" sz="2000" dirty="0">
                <a:solidFill>
                  <a:srgbClr val="64748B"/>
                </a:solidFill>
              </a:rPr>
              <a:t>   ·   </a:t>
            </a:r>
            <a:r>
              <a:rPr lang="en-US" sz="2000" b="1" dirty="0">
                <a:solidFill>
                  <a:srgbClr val="0F766E"/>
                </a:solidFill>
              </a:rPr>
              <a:t>Who</a:t>
            </a:r>
            <a:r>
              <a:rPr lang="en-US" sz="2000" dirty="0">
                <a:solidFill>
                  <a:srgbClr val="64748B"/>
                </a:solidFill>
              </a:rPr>
              <a:t>   ·   </a:t>
            </a:r>
            <a:r>
              <a:rPr lang="en-US" sz="2000" b="1" dirty="0">
                <a:solidFill>
                  <a:srgbClr val="B45309"/>
                </a:solidFill>
              </a:rPr>
              <a:t>How</a:t>
            </a:r>
            <a:endParaRPr lang="en-US" sz="2000" dirty="0"/>
          </a:p>
        </p:txBody>
      </p:sp>
      <p:sp>
        <p:nvSpPr>
          <p:cNvPr id="5" name="Presenter"/>
          <p:cNvSpPr txBox="1"/>
          <p:nvPr/>
        </p:nvSpPr>
        <p:spPr>
          <a:xfrm>
            <a:off x="731520" y="5120640"/>
            <a:ext cx="10698480" cy="731520"/>
          </a:xfrm>
          <a:prstGeom prst="rect">
            <a:avLst/>
          </a:prstGeom>
          <a:noFill/>
          <a:ln/>
        </p:spPr>
        <p:txBody>
          <a:bodyPr wrap="square" lIns="0" tIns="0" rIns="0" bIns="0" rtlCol="0" anchor="t"/>
          <a:lstStyle/>
          <a:p>
            <a:pPr marL="0" indent="0">
              <a:buNone/>
            </a:pPr>
            <a:r>
              <a:rPr lang="en-US" sz="1600" b="1" dirty="0">
                <a:solidFill>
                  <a:srgbClr val="1F2A44"/>
                </a:solidFill>
              </a:rPr>
              <a:t>Mike Stratton</a:t>
            </a:r>
            <a:endParaRPr lang="en-US" sz="1600" dirty="0"/>
          </a:p>
          <a:p>
            <a:pPr marL="0" indent="0">
              <a:buNone/>
            </a:pPr>
            <a:r>
              <a:rPr lang="en-US" sz="1600" dirty="0">
                <a:solidFill>
                  <a:srgbClr val="64748B"/>
                </a:solidFill>
              </a:rPr>
              <a:t>Digital Identity line of business  ·  GS-14 Enterprise Data Architect  ·  Data Strategy and Enablement</a:t>
            </a:r>
            <a:endParaRPr lang="en-US" sz="1600" dirty="0"/>
          </a:p>
        </p:txBody>
      </p:sp>
      <p:pic>
        <p:nvPicPr>
          <p:cNvPr id="6" name="Narration">
            <a:hlinkClick r:id="" action="ppaction://media"/>
            <a:extLst>
              <a:ext uri="{FF2B5EF4-FFF2-40B4-BE49-F238E27FC236}">
                <a16:creationId xmlns:a16="http://schemas.microsoft.com/office/drawing/2014/main" id="{AAB8AB6C-B2B4-BED1-FFBB-F9238839AD7C}"/>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4320"/>
    </mc:Choice>
    <mc:Fallback>
      <p:transition spd="slow" advTm="143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332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Identity is built by hand — and the mission is outgrowing it</a:t>
            </a:r>
            <a:endParaRPr lang="en-US" sz="3000" dirty="0"/>
          </a:p>
        </p:txBody>
      </p:sp>
      <p:sp>
        <p:nvSpPr>
          <p:cNvPr id="3" name="Tag Why"/>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Today head"/>
          <p:cNvSpPr txBox="1"/>
          <p:nvPr/>
        </p:nvSpPr>
        <p:spPr>
          <a:xfrm>
            <a:off x="548640" y="1280160"/>
            <a:ext cx="5852160" cy="320040"/>
          </a:xfrm>
          <a:prstGeom prst="rect">
            <a:avLst/>
          </a:prstGeom>
          <a:noFill/>
          <a:ln/>
        </p:spPr>
        <p:txBody>
          <a:bodyPr wrap="square" lIns="0" tIns="0" rIns="0" bIns="0" rtlCol="0" anchor="t"/>
          <a:lstStyle/>
          <a:p>
            <a:pPr marL="0" indent="0">
              <a:buNone/>
            </a:pPr>
            <a:r>
              <a:rPr lang="en-US" sz="1200" b="1" dirty="0">
                <a:solidFill>
                  <a:srgbClr val="64748B"/>
                </a:solidFill>
              </a:rPr>
              <a:t>TODAY AT SSA: NOTHING CONNECTS HR TO IDENTITY</a:t>
            </a:r>
            <a:endParaRPr lang="en-US" sz="1200" dirty="0"/>
          </a:p>
        </p:txBody>
      </p:sp>
      <p:sp>
        <p:nvSpPr>
          <p:cNvPr id="6" name="Icon FaUserXmark"/>
          <p:cNvSpPr/>
          <p:nvPr/>
        </p:nvSpPr>
        <p:spPr>
          <a:xfrm>
            <a:off x="548640" y="1737360"/>
            <a:ext cx="566928" cy="566928"/>
          </a:xfrm>
          <a:prstGeom prst="ellipse">
            <a:avLst/>
          </a:prstGeom>
          <a:solidFill>
            <a:srgbClr val="B91C1C"/>
          </a:solidFill>
          <a:ln w="12700">
            <a:solidFill>
              <a:srgbClr val="B91C1C"/>
            </a:solidFill>
            <a:prstDash val="solid"/>
          </a:ln>
        </p:spPr>
      </p:sp>
      <p:pic>
        <p:nvPicPr>
          <p:cNvPr id="7" name="Image 0" descr="C:\Users\whale\AppData\Local\Temp\claude\C--Users-whale-git-uiao-inbox\cbd5b766-acc0-4006-9202-a9bb6b23e97b\scratchpad\deck\icons\FaUserXmark.png"/>
          <p:cNvPicPr>
            <a:picLocks noChangeAspect="1"/>
          </p:cNvPicPr>
          <p:nvPr/>
        </p:nvPicPr>
        <p:blipFill>
          <a:blip r:embed="rId5"/>
          <a:stretch>
            <a:fillRect/>
          </a:stretch>
        </p:blipFill>
        <p:spPr>
          <a:xfrm>
            <a:off x="684703" y="1873423"/>
            <a:ext cx="294803" cy="294803"/>
          </a:xfrm>
          <a:prstGeom prst="rect">
            <a:avLst/>
          </a:prstGeom>
        </p:spPr>
      </p:pic>
      <p:sp>
        <p:nvSpPr>
          <p:cNvPr id="8" name="Today 1"/>
          <p:cNvSpPr txBox="1"/>
          <p:nvPr/>
        </p:nvSpPr>
        <p:spPr>
          <a:xfrm>
            <a:off x="1280160" y="1691640"/>
            <a:ext cx="5074920" cy="960120"/>
          </a:xfrm>
          <a:prstGeom prst="rect">
            <a:avLst/>
          </a:prstGeom>
          <a:noFill/>
          <a:ln/>
        </p:spPr>
        <p:txBody>
          <a:bodyPr wrap="square" lIns="0" tIns="0" rIns="0" bIns="0" rtlCol="0" anchor="t"/>
          <a:lstStyle/>
          <a:p>
            <a:pPr marL="0" indent="0">
              <a:spcAft>
                <a:spcPts val="200"/>
              </a:spcAft>
              <a:buNone/>
            </a:pPr>
            <a:r>
              <a:rPr lang="en-US" sz="1650" b="1" dirty="0">
                <a:solidFill>
                  <a:srgbClr val="B91C1C"/>
                </a:solidFill>
              </a:rPr>
              <a:t>Access outlives the job</a:t>
            </a:r>
            <a:endParaRPr lang="en-US" sz="1400" dirty="0"/>
          </a:p>
          <a:p>
            <a:pPr marL="0" indent="0">
              <a:spcAft>
                <a:spcPts val="200"/>
              </a:spcAft>
              <a:buNone/>
            </a:pPr>
            <a:r>
              <a:rPr lang="en-US" sz="1400" dirty="0">
                <a:solidFill>
                  <a:schemeClr val="tx2"/>
                </a:solidFill>
              </a:rPr>
              <a:t>Removal waits for a ticket. A 2026 OIG audit of separated staff found deficiencies in revoking access.</a:t>
            </a:r>
            <a:endParaRPr lang="en-US" sz="1400" dirty="0"/>
          </a:p>
        </p:txBody>
      </p:sp>
      <p:sp>
        <p:nvSpPr>
          <p:cNvPr id="9" name="Icon FaAddressBook"/>
          <p:cNvSpPr/>
          <p:nvPr/>
        </p:nvSpPr>
        <p:spPr>
          <a:xfrm>
            <a:off x="548640" y="2761488"/>
            <a:ext cx="566928" cy="566928"/>
          </a:xfrm>
          <a:prstGeom prst="ellipse">
            <a:avLst/>
          </a:prstGeom>
          <a:solidFill>
            <a:srgbClr val="1F2A44"/>
          </a:solidFill>
          <a:ln w="12700">
            <a:solidFill>
              <a:srgbClr val="1F2A44"/>
            </a:solidFill>
            <a:prstDash val="solid"/>
          </a:ln>
        </p:spPr>
      </p:sp>
      <p:pic>
        <p:nvPicPr>
          <p:cNvPr id="10" name="Image 1" descr="C:\Users\whale\AppData\Local\Temp\claude\C--Users-whale-git-uiao-inbox\cbd5b766-acc0-4006-9202-a9bb6b23e97b\scratchpad\deck\icons\FaAddressBook.png"/>
          <p:cNvPicPr>
            <a:picLocks noChangeAspect="1"/>
          </p:cNvPicPr>
          <p:nvPr/>
        </p:nvPicPr>
        <p:blipFill>
          <a:blip r:embed="rId6"/>
          <a:stretch>
            <a:fillRect/>
          </a:stretch>
        </p:blipFill>
        <p:spPr>
          <a:xfrm>
            <a:off x="684703" y="2897551"/>
            <a:ext cx="294803" cy="294803"/>
          </a:xfrm>
          <a:prstGeom prst="rect">
            <a:avLst/>
          </a:prstGeom>
        </p:spPr>
      </p:pic>
      <p:sp>
        <p:nvSpPr>
          <p:cNvPr id="11" name="Today 2"/>
          <p:cNvSpPr txBox="1"/>
          <p:nvPr/>
        </p:nvSpPr>
        <p:spPr>
          <a:xfrm>
            <a:off x="1280160" y="2715768"/>
            <a:ext cx="5074920" cy="960120"/>
          </a:xfrm>
          <a:prstGeom prst="rect">
            <a:avLst/>
          </a:prstGeom>
          <a:noFill/>
          <a:ln/>
        </p:spPr>
        <p:txBody>
          <a:bodyPr wrap="square" lIns="0" tIns="0" rIns="0" bIns="0" rtlCol="0" anchor="t"/>
          <a:lstStyle/>
          <a:p>
            <a:pPr marL="0" indent="0">
              <a:spcAft>
                <a:spcPts val="200"/>
              </a:spcAft>
              <a:buNone/>
            </a:pPr>
            <a:r>
              <a:rPr lang="en-US" sz="1650" b="1" dirty="0">
                <a:solidFill>
                  <a:srgbClr val="1F2A44"/>
                </a:solidFill>
              </a:rPr>
              <a:t>Records we can’t trust</a:t>
            </a:r>
            <a:endParaRPr lang="en-US" sz="1400" dirty="0"/>
          </a:p>
          <a:p>
            <a:pPr marL="0" indent="0">
              <a:spcAft>
                <a:spcPts val="200"/>
              </a:spcAft>
              <a:buNone/>
            </a:pPr>
            <a:r>
              <a:rPr lang="en-US" sz="1400" dirty="0">
                <a:solidFill>
                  <a:schemeClr val="tx2"/>
                </a:solidFill>
              </a:rPr>
              <a:t>Phone book, managers and approvals drift from HR. I’ve lived it at DITM.</a:t>
            </a:r>
            <a:endParaRPr lang="en-US" sz="1400" dirty="0"/>
          </a:p>
        </p:txBody>
      </p:sp>
      <p:sp>
        <p:nvSpPr>
          <p:cNvPr id="12" name="Icon FaUserClock"/>
          <p:cNvSpPr/>
          <p:nvPr/>
        </p:nvSpPr>
        <p:spPr>
          <a:xfrm>
            <a:off x="548640" y="3785616"/>
            <a:ext cx="566928" cy="566928"/>
          </a:xfrm>
          <a:prstGeom prst="ellipse">
            <a:avLst/>
          </a:prstGeom>
          <a:solidFill>
            <a:srgbClr val="0F766E"/>
          </a:solidFill>
          <a:ln w="12700">
            <a:solidFill>
              <a:srgbClr val="0F766E"/>
            </a:solidFill>
            <a:prstDash val="solid"/>
          </a:ln>
        </p:spPr>
      </p:sp>
      <p:pic>
        <p:nvPicPr>
          <p:cNvPr id="13" name="Image 2" descr="C:\Users\whale\AppData\Local\Temp\claude\C--Users-whale-git-uiao-inbox\cbd5b766-acc0-4006-9202-a9bb6b23e97b\scratchpad\deck\icons\FaUserClock.png"/>
          <p:cNvPicPr>
            <a:picLocks noChangeAspect="1"/>
          </p:cNvPicPr>
          <p:nvPr/>
        </p:nvPicPr>
        <p:blipFill>
          <a:blip r:embed="rId7"/>
          <a:stretch>
            <a:fillRect/>
          </a:stretch>
        </p:blipFill>
        <p:spPr>
          <a:xfrm>
            <a:off x="684703" y="3921679"/>
            <a:ext cx="294803" cy="294803"/>
          </a:xfrm>
          <a:prstGeom prst="rect">
            <a:avLst/>
          </a:prstGeom>
        </p:spPr>
      </p:pic>
      <p:sp>
        <p:nvSpPr>
          <p:cNvPr id="14" name="Today 3"/>
          <p:cNvSpPr txBox="1"/>
          <p:nvPr/>
        </p:nvSpPr>
        <p:spPr>
          <a:xfrm>
            <a:off x="1280160" y="3739896"/>
            <a:ext cx="5074920" cy="960120"/>
          </a:xfrm>
          <a:prstGeom prst="rect">
            <a:avLst/>
          </a:prstGeom>
          <a:noFill/>
          <a:ln/>
        </p:spPr>
        <p:txBody>
          <a:bodyPr wrap="square" lIns="0" tIns="0" rIns="0" bIns="0" rtlCol="0" anchor="t"/>
          <a:lstStyle/>
          <a:p>
            <a:pPr marL="0" indent="0">
              <a:spcAft>
                <a:spcPts val="200"/>
              </a:spcAft>
              <a:buNone/>
            </a:pPr>
            <a:r>
              <a:rPr lang="en-US" sz="1650" b="1" dirty="0">
                <a:solidFill>
                  <a:srgbClr val="0F766E"/>
                </a:solidFill>
              </a:rPr>
              <a:t>Cost and delay</a:t>
            </a:r>
            <a:endParaRPr lang="en-US" sz="1400" dirty="0"/>
          </a:p>
          <a:p>
            <a:pPr marL="0" indent="0">
              <a:spcAft>
                <a:spcPts val="200"/>
              </a:spcAft>
              <a:buNone/>
            </a:pPr>
            <a:r>
              <a:rPr lang="en-US" sz="1400" dirty="0">
                <a:solidFill>
                  <a:schemeClr val="tx2"/>
                </a:solidFill>
              </a:rPr>
              <a:t>Every joiner, mover and leaver is help-desk work.</a:t>
            </a:r>
            <a:endParaRPr lang="en-US" sz="1400" dirty="0"/>
          </a:p>
        </p:txBody>
      </p:sp>
      <p:sp>
        <p:nvSpPr>
          <p:cNvPr id="15" name="Mission box"/>
          <p:cNvSpPr/>
          <p:nvPr/>
        </p:nvSpPr>
        <p:spPr>
          <a:xfrm>
            <a:off x="6583680" y="1280160"/>
            <a:ext cx="5074920" cy="3520440"/>
          </a:xfrm>
          <a:prstGeom prst="roundRect">
            <a:avLst>
              <a:gd name="adj" fmla="val 2078"/>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6" name="Icon FaPeopleArrows"/>
          <p:cNvSpPr/>
          <p:nvPr/>
        </p:nvSpPr>
        <p:spPr>
          <a:xfrm>
            <a:off x="6812280" y="1463040"/>
            <a:ext cx="685800" cy="685800"/>
          </a:xfrm>
          <a:prstGeom prst="ellipse">
            <a:avLst/>
          </a:prstGeom>
          <a:solidFill>
            <a:srgbClr val="0F766E"/>
          </a:solidFill>
          <a:ln w="12700">
            <a:solidFill>
              <a:srgbClr val="0F766E"/>
            </a:solidFill>
            <a:prstDash val="solid"/>
          </a:ln>
        </p:spPr>
      </p:sp>
      <p:pic>
        <p:nvPicPr>
          <p:cNvPr id="17" name="Image 3" descr="C:\Users\whale\AppData\Local\Temp\claude\C--Users-whale-git-uiao-inbox\cbd5b766-acc0-4006-9202-a9bb6b23e97b\scratchpad\deck\icons\FaPeopleArrows.png"/>
          <p:cNvPicPr>
            <a:picLocks noChangeAspect="1"/>
          </p:cNvPicPr>
          <p:nvPr/>
        </p:nvPicPr>
        <p:blipFill>
          <a:blip r:embed="rId8"/>
          <a:stretch>
            <a:fillRect/>
          </a:stretch>
        </p:blipFill>
        <p:spPr>
          <a:xfrm>
            <a:off x="6976872" y="1627632"/>
            <a:ext cx="356616" cy="356616"/>
          </a:xfrm>
          <a:prstGeom prst="rect">
            <a:avLst/>
          </a:prstGeom>
        </p:spPr>
      </p:pic>
      <p:sp>
        <p:nvSpPr>
          <p:cNvPr id="18" name="Mission head"/>
          <p:cNvSpPr txBox="1"/>
          <p:nvPr/>
        </p:nvSpPr>
        <p:spPr>
          <a:xfrm>
            <a:off x="7680960" y="1444752"/>
            <a:ext cx="3840480" cy="777240"/>
          </a:xfrm>
          <a:prstGeom prst="rect">
            <a:avLst/>
          </a:prstGeom>
          <a:noFill/>
          <a:ln/>
        </p:spPr>
        <p:txBody>
          <a:bodyPr wrap="square" lIns="0" tIns="0" rIns="0" bIns="0" rtlCol="0" anchor="ctr"/>
          <a:lstStyle/>
          <a:p>
            <a:pPr marL="0" indent="0">
              <a:buNone/>
            </a:pPr>
            <a:r>
              <a:rPr lang="en-US" sz="1200" b="1" dirty="0">
                <a:solidFill>
                  <a:srgbClr val="64748B"/>
                </a:solidFill>
              </a:rPr>
              <a:t>WHERE THE MISSION IS HEADING</a:t>
            </a:r>
            <a:endParaRPr lang="en-US" sz="1400" dirty="0"/>
          </a:p>
          <a:p>
            <a:pPr marL="0" indent="0">
              <a:buNone/>
            </a:pPr>
            <a:r>
              <a:rPr lang="en-US" sz="1900" b="1" dirty="0">
                <a:solidFill>
                  <a:srgbClr val="0F766E"/>
                </a:solidFill>
                <a:latin typeface="Cambria" pitchFamily="34" charset="0"/>
                <a:ea typeface="Cambria" pitchFamily="34" charset="-122"/>
                <a:cs typeface="Cambria" pitchFamily="34" charset="-120"/>
              </a:rPr>
              <a:t>Shared services to the public</a:t>
            </a:r>
            <a:endParaRPr lang="en-US" sz="1400" dirty="0"/>
          </a:p>
        </p:txBody>
      </p:sp>
      <p:sp>
        <p:nvSpPr>
          <p:cNvPr id="19" name="Mission text"/>
          <p:cNvSpPr txBox="1"/>
          <p:nvPr/>
        </p:nvSpPr>
        <p:spPr>
          <a:xfrm>
            <a:off x="6858000" y="2286000"/>
            <a:ext cx="4617720" cy="2011680"/>
          </a:xfrm>
          <a:prstGeom prst="rect">
            <a:avLst/>
          </a:prstGeom>
          <a:noFill/>
          <a:ln/>
        </p:spPr>
        <p:txBody>
          <a:bodyPr wrap="square" lIns="0" tIns="0" rIns="0" bIns="0" rtlCol="0" anchor="t"/>
          <a:lstStyle/>
          <a:p>
            <a:pPr marL="0" indent="0">
              <a:spcAft>
                <a:spcPts val="300"/>
              </a:spcAft>
              <a:buNone/>
            </a:pPr>
            <a:r>
              <a:rPr lang="en-US" sz="1450" b="1" dirty="0">
                <a:solidFill>
                  <a:schemeClr val="tx2"/>
                </a:solidFill>
              </a:rPr>
              <a:t>Example: one call center serving SSA and IRS customers. </a:t>
            </a:r>
            <a:endParaRPr lang="en-US" sz="1450" dirty="0"/>
          </a:p>
          <a:p>
            <a:pPr marL="0" indent="0">
              <a:spcAft>
                <a:spcPts val="300"/>
              </a:spcAft>
              <a:buNone/>
            </a:pPr>
            <a:r>
              <a:rPr lang="en-US" sz="1450" dirty="0">
                <a:solidFill>
                  <a:schemeClr val="tx2"/>
                </a:solidFill>
              </a:rPr>
              <a:t>The phones already run in the cloud (Amazon Connect). The hard part is the back end:</a:t>
            </a:r>
            <a:endParaRPr lang="en-US" sz="1450" dirty="0"/>
          </a:p>
          <a:p>
            <a:pPr marL="342900" indent="-342900">
              <a:spcAft>
                <a:spcPts val="300"/>
              </a:spcAft>
              <a:buSzPct val="100000"/>
              <a:buChar char="•"/>
            </a:pPr>
            <a:r>
              <a:rPr lang="en-US" sz="1500" dirty="0">
                <a:solidFill>
                  <a:schemeClr val="tx2"/>
                </a:solidFill>
              </a:rPr>
              <a:t>Who is this agent?</a:t>
            </a:r>
            <a:endParaRPr lang="en-US" sz="1450" dirty="0"/>
          </a:p>
          <a:p>
            <a:pPr marL="342900" indent="-342900">
              <a:spcAft>
                <a:spcPts val="300"/>
              </a:spcAft>
              <a:buSzPct val="100000"/>
              <a:buChar char="•"/>
            </a:pPr>
            <a:r>
              <a:rPr lang="en-US" sz="1500" dirty="0">
                <a:solidFill>
                  <a:schemeClr val="tx2"/>
                </a:solidFill>
              </a:rPr>
              <a:t>Which agency’s records may they see?</a:t>
            </a:r>
            <a:endParaRPr lang="en-US" sz="1450" dirty="0"/>
          </a:p>
          <a:p>
            <a:pPr marL="342900" indent="-342900">
              <a:spcAft>
                <a:spcPts val="300"/>
              </a:spcAft>
              <a:buSzPct val="100000"/>
              <a:buChar char="•"/>
            </a:pPr>
            <a:r>
              <a:rPr lang="en-US" sz="1500" dirty="0">
                <a:solidFill>
                  <a:schemeClr val="tx2"/>
                </a:solidFill>
              </a:rPr>
              <a:t>Does access end the day they leave — everywhere?</a:t>
            </a:r>
            <a:endParaRPr lang="en-US" sz="1450" dirty="0"/>
          </a:p>
        </p:txBody>
      </p:sp>
      <p:sp>
        <p:nvSpPr>
          <p:cNvPr id="20" name="Mission answer"/>
          <p:cNvSpPr txBox="1"/>
          <p:nvPr/>
        </p:nvSpPr>
        <p:spPr>
          <a:xfrm>
            <a:off x="6858000" y="4279392"/>
            <a:ext cx="4617720" cy="457200"/>
          </a:xfrm>
          <a:prstGeom prst="rect">
            <a:avLst/>
          </a:prstGeom>
          <a:noFill/>
          <a:ln/>
        </p:spPr>
        <p:txBody>
          <a:bodyPr wrap="square" lIns="0" tIns="0" rIns="0" bIns="0" rtlCol="0" anchor="t"/>
          <a:lstStyle/>
          <a:p>
            <a:pPr marL="0" indent="0">
              <a:buNone/>
            </a:pPr>
            <a:r>
              <a:rPr lang="en-US" sz="1450" b="1" dirty="0">
                <a:solidFill>
                  <a:srgbClr val="0F766E"/>
                </a:solidFill>
              </a:rPr>
              <a:t>A standardized, HR-driven identity answers all three by rule.</a:t>
            </a:r>
            <a:endParaRPr lang="en-US" sz="1450" dirty="0"/>
          </a:p>
        </p:txBody>
      </p:sp>
      <p:sp>
        <p:nvSpPr>
          <p:cNvPr id="21" name="Why source"/>
          <p:cNvSpPr txBox="1"/>
          <p:nvPr/>
        </p:nvSpPr>
        <p:spPr>
          <a:xfrm>
            <a:off x="548640" y="4663440"/>
            <a:ext cx="5852160" cy="274320"/>
          </a:xfrm>
          <a:prstGeom prst="rect">
            <a:avLst/>
          </a:prstGeom>
          <a:noFill/>
          <a:ln/>
        </p:spPr>
        <p:txBody>
          <a:bodyPr wrap="square" lIns="0" tIns="0" rIns="0" bIns="0" rtlCol="0" anchor="t"/>
          <a:lstStyle/>
          <a:p>
            <a:pPr marL="0" indent="0">
              <a:buNone/>
            </a:pPr>
            <a:r>
              <a:rPr lang="en-US" sz="1050" i="1" dirty="0">
                <a:solidFill>
                  <a:srgbClr val="64748B"/>
                </a:solidFill>
              </a:rPr>
              <a:t>Source: SSA OIG, Insider Threat Program (142302), Sept. 2026; standard: FIPS 201-3.</a:t>
            </a:r>
            <a:endParaRPr lang="en-US" sz="1050" dirty="0"/>
          </a:p>
        </p:txBody>
      </p:sp>
      <p:sp>
        <p:nvSpPr>
          <p:cNvPr id="22" name="Do nothing"/>
          <p:cNvSpPr/>
          <p:nvPr/>
        </p:nvSpPr>
        <p:spPr>
          <a:xfrm>
            <a:off x="548640" y="5029200"/>
            <a:ext cx="11109960" cy="1051560"/>
          </a:xfrm>
          <a:prstGeom prst="roundRect">
            <a:avLst>
              <a:gd name="adj" fmla="val 695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3" name="Icon FaTriangleExclamation"/>
          <p:cNvSpPr/>
          <p:nvPr/>
        </p:nvSpPr>
        <p:spPr>
          <a:xfrm>
            <a:off x="777240" y="5175504"/>
            <a:ext cx="749808" cy="749808"/>
          </a:xfrm>
          <a:prstGeom prst="ellipse">
            <a:avLst/>
          </a:prstGeom>
          <a:solidFill>
            <a:srgbClr val="B45309"/>
          </a:solidFill>
          <a:ln w="12700">
            <a:solidFill>
              <a:srgbClr val="B45309"/>
            </a:solidFill>
            <a:prstDash val="solid"/>
          </a:ln>
        </p:spPr>
      </p:sp>
      <p:pic>
        <p:nvPicPr>
          <p:cNvPr id="24" name="Image 4" descr="C:\Users\whale\AppData\Local\Temp\claude\C--Users-whale-git-uiao-inbox\cbd5b766-acc0-4006-9202-a9bb6b23e97b\scratchpad\deck\icons\FaTriangleExclamation.png"/>
          <p:cNvPicPr>
            <a:picLocks noChangeAspect="1"/>
          </p:cNvPicPr>
          <p:nvPr/>
        </p:nvPicPr>
        <p:blipFill>
          <a:blip r:embed="rId9"/>
          <a:stretch>
            <a:fillRect/>
          </a:stretch>
        </p:blipFill>
        <p:spPr>
          <a:xfrm>
            <a:off x="957194" y="5355458"/>
            <a:ext cx="389900" cy="389900"/>
          </a:xfrm>
          <a:prstGeom prst="rect">
            <a:avLst/>
          </a:prstGeom>
        </p:spPr>
      </p:pic>
      <p:sp>
        <p:nvSpPr>
          <p:cNvPr id="25" name="Do nothing text"/>
          <p:cNvSpPr txBox="1"/>
          <p:nvPr/>
        </p:nvSpPr>
        <p:spPr>
          <a:xfrm>
            <a:off x="1737360" y="5074920"/>
            <a:ext cx="9738360" cy="960120"/>
          </a:xfrm>
          <a:prstGeom prst="rect">
            <a:avLst/>
          </a:prstGeom>
          <a:noFill/>
          <a:ln/>
        </p:spPr>
        <p:txBody>
          <a:bodyPr wrap="square" lIns="0" tIns="0" rIns="0" bIns="0" rtlCol="0" anchor="ctr"/>
          <a:lstStyle/>
          <a:p>
            <a:pPr marL="0" indent="0">
              <a:buNone/>
            </a:pPr>
            <a:r>
              <a:rPr lang="en-US" sz="1700" b="1" dirty="0">
                <a:solidFill>
                  <a:srgbClr val="B45309"/>
                </a:solidFill>
              </a:rPr>
              <a:t>If we do nothing: </a:t>
            </a:r>
            <a:r>
              <a:rPr lang="en-US" sz="1700" dirty="0">
                <a:solidFill>
                  <a:schemeClr val="tx2"/>
                </a:solidFill>
              </a:rPr>
              <a:t>HR moves to Oracle Core HCM, identity moves to Entra ID — and we rebuild the same manual process twice, on new platforms.</a:t>
            </a:r>
            <a:endParaRPr lang="en-US" sz="17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27" name="Narration">
            <a:hlinkClick r:id="" action="ppaction://media"/>
            <a:extLst>
              <a:ext uri="{FF2B5EF4-FFF2-40B4-BE49-F238E27FC236}">
                <a16:creationId xmlns:a16="http://schemas.microsoft.com/office/drawing/2014/main" id="{91BD721D-C5AC-E810-9EEF-44227D27D95A}"/>
              </a:ext>
            </a:extLst>
          </p:cNvPr>
          <p:cNvPicPr>
            <a:picLocks noChangeAspect="1"/>
          </p:cNvPicPr>
          <p:nvPr>
            <a:audioFile r:link="rId2"/>
            <p:extLst>
              <p:ext uri="{DAA4B4D4-6D71-4841-9C94-3DE7FCFB9230}">
                <p14:media xmlns:p14="http://schemas.microsoft.com/office/powerpoint/2010/main" r:embed="rId1"/>
              </p:ext>
            </p:extLst>
          </p:nvPr>
        </p:nvPicPr>
        <p:blipFill>
          <a:blip r:embed="rId10"/>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07630"/>
    </mc:Choice>
    <mc:Fallback>
      <p:transition spd="slow" advTm="1076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06632"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Four options, weighed against what leadership must balance</a:t>
            </a:r>
            <a:endParaRPr lang="en-US" sz="3000" dirty="0"/>
          </a:p>
        </p:txBody>
      </p:sp>
      <p:sp>
        <p:nvSpPr>
          <p:cNvPr id="3" name="Tag What"/>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a:tblGrid>
                <a:gridCol w="34290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1325880">
                  <a:extLst>
                    <a:ext uri="{9D8B030D-6E8A-4147-A177-3AD203B41FA5}">
                      <a16:colId xmlns:a16="http://schemas.microsoft.com/office/drawing/2014/main" val="20004"/>
                    </a:ext>
                  </a:extLst>
                </a:gridCol>
                <a:gridCol w="2286000">
                  <a:extLst>
                    <a:ext uri="{9D8B030D-6E8A-4147-A177-3AD203B41FA5}">
                      <a16:colId xmlns:a16="http://schemas.microsoft.com/office/drawing/2014/main" val="20005"/>
                    </a:ext>
                  </a:extLst>
                </a:gridCol>
              </a:tblGrid>
              <a:tr h="45720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Option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Mission and the public</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Security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Cost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Resilience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Bottom line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  Keep ticket-driven identity</a:t>
                      </a:r>
                      <a:endParaRPr lang="en-US" sz="1400" dirty="0">
                        <a:latin typeface="Calibri" charset="0"/>
                        <a:ea typeface="Calibri" charset="0"/>
                        <a:cs typeface="Calibri" charset="0"/>
                      </a:endParaRPr>
                    </a:p>
                    <a:p>
                      <a:pPr marL="0" indent="0">
                        <a:buNone/>
                      </a:pPr>
                      <a:r>
                        <a:rPr lang="en-US" sz="1200" dirty="0">
                          <a:solidFill>
                            <a:srgbClr val="64748B"/>
                          </a:solidFill>
                          <a:latin typeface="Calibri" pitchFamily="34" charset="0"/>
                          <a:ea typeface="Calibri" pitchFamily="34" charset="-122"/>
                          <a:cs typeface="Calibri" pitchFamily="34" charset="-120"/>
                        </a:rPr>
                        <a:t>No new investment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B91C1C"/>
                          </a:solidFill>
                          <a:latin typeface="Calibri" pitchFamily="34" charset="0"/>
                          <a:ea typeface="Calibri" pitchFamily="34" charset="-122"/>
                          <a:cs typeface="Calibri" pitchFamily="34" charset="-120"/>
                        </a:rPr>
                        <a:t>Weak</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4E4"/>
                    </a:solidFill>
                  </a:tcPr>
                </a:tc>
                <a:tc>
                  <a:txBody>
                    <a:bodyPr/>
                    <a:lstStyle/>
                    <a:p>
                      <a:pPr marL="0" indent="0" algn="ctr">
                        <a:buNone/>
                      </a:pPr>
                      <a:r>
                        <a:rPr lang="en-US" sz="1400" b="1" dirty="0">
                          <a:solidFill>
                            <a:srgbClr val="B91C1C"/>
                          </a:solidFill>
                          <a:latin typeface="Calibri" pitchFamily="34" charset="0"/>
                          <a:ea typeface="Calibri" pitchFamily="34" charset="-122"/>
                          <a:cs typeface="Calibri" pitchFamily="34" charset="-120"/>
                        </a:rPr>
                        <a:t>Weak</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4E4"/>
                    </a:solidFill>
                  </a:tcPr>
                </a:tc>
                <a:tc>
                  <a:txBody>
                    <a:bodyPr/>
                    <a:lstStyle/>
                    <a:p>
                      <a:pPr marL="0" indent="0" algn="ctr">
                        <a:buNone/>
                      </a:pPr>
                      <a:r>
                        <a:rPr lang="en-US" sz="1400" b="1" dirty="0">
                          <a:solidFill>
                            <a:srgbClr val="B45309"/>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EDC"/>
                    </a:solidFill>
                  </a:tcPr>
                </a:tc>
                <a:tc>
                  <a:txBody>
                    <a:bodyPr/>
                    <a:lstStyle/>
                    <a:p>
                      <a:pPr marL="0" indent="0" algn="ctr">
                        <a:buNone/>
                      </a:pPr>
                      <a:r>
                        <a:rPr lang="en-US" sz="1400" b="1" dirty="0">
                          <a:solidFill>
                            <a:srgbClr val="B45309"/>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EDC"/>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The cost of doing nothing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B  Automate inside the directories</a:t>
                      </a:r>
                      <a:endParaRPr lang="en-US" sz="1400" dirty="0">
                        <a:latin typeface="Calibri" charset="0"/>
                        <a:ea typeface="Calibri" charset="0"/>
                        <a:cs typeface="Calibri" charset="0"/>
                      </a:endParaRPr>
                    </a:p>
                    <a:p>
                      <a:pPr marL="0" indent="0">
                        <a:buNone/>
                      </a:pPr>
                      <a:r>
                        <a:rPr lang="en-US" sz="1200" dirty="0">
                          <a:solidFill>
                            <a:srgbClr val="64748B"/>
                          </a:solidFill>
                          <a:latin typeface="Calibri" pitchFamily="34" charset="0"/>
                          <a:ea typeface="Calibri" pitchFamily="34" charset="-122"/>
                          <a:cs typeface="Calibri" pitchFamily="34" charset="-120"/>
                        </a:rPr>
                        <a:t>Scripts and exports, no HR authority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B45309"/>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EDC"/>
                    </a:solidFill>
                  </a:tcPr>
                </a:tc>
                <a:tc>
                  <a:txBody>
                    <a:bodyPr/>
                    <a:lstStyle/>
                    <a:p>
                      <a:pPr marL="0" indent="0" algn="ctr">
                        <a:buNone/>
                      </a:pPr>
                      <a:r>
                        <a:rPr lang="en-US" sz="1400" b="1" dirty="0">
                          <a:solidFill>
                            <a:srgbClr val="B45309"/>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EDC"/>
                    </a:solidFill>
                  </a:tcPr>
                </a:tc>
                <a:tc>
                  <a:txBody>
                    <a:bodyPr/>
                    <a:lstStyle/>
                    <a:p>
                      <a:pPr marL="0" indent="0" algn="ctr">
                        <a:buNone/>
                      </a:pPr>
                      <a:r>
                        <a:rPr lang="en-US" sz="1400" b="1" dirty="0">
                          <a:solidFill>
                            <a:srgbClr val="B45309"/>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EDC"/>
                    </a:solidFill>
                  </a:tcPr>
                </a:tc>
                <a:tc>
                  <a:txBody>
                    <a:bodyPr/>
                    <a:lstStyle/>
                    <a:p>
                      <a:pPr marL="0" indent="0" algn="ctr">
                        <a:buNone/>
                      </a:pPr>
                      <a:r>
                        <a:rPr lang="en-US" sz="1400" b="1" dirty="0">
                          <a:solidFill>
                            <a:srgbClr val="B91C1C"/>
                          </a:solidFill>
                          <a:latin typeface="Calibri" pitchFamily="34" charset="0"/>
                          <a:ea typeface="Calibri" pitchFamily="34" charset="-122"/>
                          <a:cs typeface="Calibri" pitchFamily="34" charset="-120"/>
                        </a:rPr>
                        <a:t>Weak</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4E4"/>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Automates a source that isn’t authoritative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C  Wait for HR 2.0, integrate later</a:t>
                      </a:r>
                      <a:endParaRPr lang="en-US" sz="1400" dirty="0">
                        <a:latin typeface="Calibri" charset="0"/>
                        <a:ea typeface="Calibri" charset="0"/>
                        <a:cs typeface="Calibri" charset="0"/>
                      </a:endParaRPr>
                    </a:p>
                    <a:p>
                      <a:pPr marL="0" indent="0">
                        <a:buNone/>
                      </a:pPr>
                      <a:r>
                        <a:rPr lang="en-US" sz="1200" dirty="0">
                          <a:solidFill>
                            <a:srgbClr val="64748B"/>
                          </a:solidFill>
                          <a:latin typeface="Calibri" pitchFamily="34" charset="0"/>
                          <a:ea typeface="Calibri" pitchFamily="34" charset="-122"/>
                          <a:cs typeface="Calibri" pitchFamily="34" charset="-120"/>
                        </a:rPr>
                        <a:t>Less work this year</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B45309"/>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EDC"/>
                    </a:solidFill>
                  </a:tcPr>
                </a:tc>
                <a:tc>
                  <a:txBody>
                    <a:bodyPr/>
                    <a:lstStyle/>
                    <a:p>
                      <a:pPr marL="0" indent="0" algn="ctr">
                        <a:buNone/>
                      </a:pPr>
                      <a:r>
                        <a:rPr lang="en-US" sz="1400" b="1" dirty="0">
                          <a:solidFill>
                            <a:srgbClr val="B91C1C"/>
                          </a:solidFill>
                          <a:latin typeface="Calibri" pitchFamily="34" charset="0"/>
                          <a:ea typeface="Calibri" pitchFamily="34" charset="-122"/>
                          <a:cs typeface="Calibri" pitchFamily="34" charset="-120"/>
                        </a:rPr>
                        <a:t>Weak</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4E4"/>
                    </a:solidFill>
                  </a:tcPr>
                </a:tc>
                <a:tc>
                  <a:txBody>
                    <a:bodyPr/>
                    <a:lstStyle/>
                    <a:p>
                      <a:pPr marL="0" indent="0" algn="ctr">
                        <a:buNone/>
                      </a:pPr>
                      <a:r>
                        <a:rPr lang="en-US" sz="1400" b="1" dirty="0">
                          <a:solidFill>
                            <a:srgbClr val="B45309"/>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EDC"/>
                    </a:solidFill>
                  </a:tcPr>
                </a:tc>
                <a:tc>
                  <a:txBody>
                    <a:bodyPr/>
                    <a:lstStyle/>
                    <a:p>
                      <a:pPr marL="0" indent="0" algn="ctr">
                        <a:buNone/>
                      </a:pPr>
                      <a:r>
                        <a:rPr lang="en-US" sz="1400" b="1" dirty="0">
                          <a:solidFill>
                            <a:srgbClr val="0F766E"/>
                          </a:solidFill>
                          <a:latin typeface="Calibri" pitchFamily="34" charset="0"/>
                          <a:ea typeface="Calibri" pitchFamily="34" charset="-122"/>
                          <a:cs typeface="Calibri" pitchFamily="34" charset="-120"/>
                        </a:rPr>
                        <a:t>Strong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FEC"/>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Defensible — but misses the design window</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D  Start now: HR is the source of truth</a:t>
                      </a:r>
                      <a:endParaRPr lang="en-US" sz="1400" dirty="0">
                        <a:latin typeface="Calibri" charset="0"/>
                        <a:ea typeface="Calibri" charset="0"/>
                        <a:cs typeface="Calibri" charset="0"/>
                      </a:endParaRPr>
                    </a:p>
                    <a:p>
                      <a:pPr marL="0" indent="0">
                        <a:buNone/>
                      </a:pPr>
                      <a:r>
                        <a:rPr lang="en-US" sz="1200" dirty="0">
                          <a:solidFill>
                            <a:srgbClr val="64748B"/>
                          </a:solidFill>
                          <a:latin typeface="Calibri" pitchFamily="34" charset="0"/>
                          <a:ea typeface="Calibri" pitchFamily="34" charset="-122"/>
                          <a:cs typeface="Calibri" pitchFamily="34" charset="-120"/>
                        </a:rPr>
                        <a:t>On OPM standard data, built into both migrations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0F766E"/>
                          </a:solidFill>
                          <a:latin typeface="Calibri" pitchFamily="34" charset="0"/>
                          <a:ea typeface="Calibri" pitchFamily="34" charset="-122"/>
                          <a:cs typeface="Calibri" pitchFamily="34" charset="-120"/>
                        </a:rPr>
                        <a:t>Strong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FEC"/>
                    </a:solidFill>
                  </a:tcPr>
                </a:tc>
                <a:tc>
                  <a:txBody>
                    <a:bodyPr/>
                    <a:lstStyle/>
                    <a:p>
                      <a:pPr marL="0" indent="0" algn="ctr">
                        <a:buNone/>
                      </a:pPr>
                      <a:r>
                        <a:rPr lang="en-US" sz="1400" b="1" dirty="0">
                          <a:solidFill>
                            <a:srgbClr val="0F766E"/>
                          </a:solidFill>
                          <a:latin typeface="Calibri" pitchFamily="34" charset="0"/>
                          <a:ea typeface="Calibri" pitchFamily="34" charset="-122"/>
                          <a:cs typeface="Calibri" pitchFamily="34" charset="-120"/>
                        </a:rPr>
                        <a:t>Strong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FEC"/>
                    </a:solidFill>
                  </a:tcPr>
                </a:tc>
                <a:tc>
                  <a:txBody>
                    <a:bodyPr/>
                    <a:lstStyle/>
                    <a:p>
                      <a:pPr marL="0" indent="0" algn="ctr">
                        <a:buNone/>
                      </a:pPr>
                      <a:r>
                        <a:rPr lang="en-US" sz="1400" b="1" dirty="0">
                          <a:solidFill>
                            <a:srgbClr val="B45309"/>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EDC"/>
                    </a:solidFill>
                  </a:tcPr>
                </a:tc>
                <a:tc>
                  <a:txBody>
                    <a:bodyPr/>
                    <a:lstStyle/>
                    <a:p>
                      <a:pPr marL="0" indent="0" algn="ctr">
                        <a:buNone/>
                      </a:pPr>
                      <a:r>
                        <a:rPr lang="en-US" sz="1400" b="1" dirty="0">
                          <a:solidFill>
                            <a:srgbClr val="0F766E"/>
                          </a:solidFill>
                          <a:latin typeface="Calibri" pitchFamily="34" charset="0"/>
                          <a:ea typeface="Calibri" pitchFamily="34" charset="-122"/>
                          <a:cs typeface="Calibri" pitchFamily="34" charset="-120"/>
                        </a:rPr>
                        <a:t>Strong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FEC"/>
                    </a:solidFill>
                  </a:tcPr>
                </a:tc>
                <a:tc>
                  <a:txBody>
                    <a:bodyPr/>
                    <a:lstStyle/>
                    <a:p>
                      <a:pPr marL="0" indent="0">
                        <a:buNone/>
                      </a:pPr>
                      <a:r>
                        <a:rPr lang="en-US" sz="1400" b="1" dirty="0">
                          <a:solidFill>
                            <a:srgbClr val="0F766E"/>
                          </a:solidFill>
                          <a:latin typeface="Calibri" pitchFamily="34" charset="0"/>
                          <a:ea typeface="Calibri" pitchFamily="34" charset="-122"/>
                          <a:cs typeface="Calibri" pitchFamily="34" charset="-120"/>
                        </a:rPr>
                        <a:t>Recommended, phased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Judgment"/>
          <p:cNvSpPr/>
          <p:nvPr/>
        </p:nvSpPr>
        <p:spPr>
          <a:xfrm>
            <a:off x="548640" y="5074920"/>
            <a:ext cx="11109960" cy="1051560"/>
          </a:xfrm>
          <a:prstGeom prst="roundRect">
            <a:avLst>
              <a:gd name="adj" fmla="val 695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7" name="Icon FaScaleBalanced"/>
          <p:cNvSpPr/>
          <p:nvPr/>
        </p:nvSpPr>
        <p:spPr>
          <a:xfrm>
            <a:off x="777240" y="5239512"/>
            <a:ext cx="731520" cy="731520"/>
          </a:xfrm>
          <a:prstGeom prst="ellipse">
            <a:avLst/>
          </a:prstGeom>
          <a:solidFill>
            <a:srgbClr val="B45309"/>
          </a:solidFill>
          <a:ln w="12700">
            <a:solidFill>
              <a:srgbClr val="B45309"/>
            </a:solidFill>
            <a:prstDash val="solid"/>
          </a:ln>
        </p:spPr>
      </p:sp>
      <p:pic>
        <p:nvPicPr>
          <p:cNvPr id="8" name="Image 0" descr="C:\Users\whale\AppData\Local\Temp\claude\C--Users-whale-git-uiao-inbox\cbd5b766-acc0-4006-9202-a9bb6b23e97b\scratchpad\deck\icons\FaScaleBalanced.png"/>
          <p:cNvPicPr>
            <a:picLocks noChangeAspect="1"/>
          </p:cNvPicPr>
          <p:nvPr/>
        </p:nvPicPr>
        <p:blipFill>
          <a:blip r:embed="rId5"/>
          <a:stretch>
            <a:fillRect/>
          </a:stretch>
        </p:blipFill>
        <p:spPr>
          <a:xfrm>
            <a:off x="952805" y="5415077"/>
            <a:ext cx="380390" cy="380390"/>
          </a:xfrm>
          <a:prstGeom prst="rect">
            <a:avLst/>
          </a:prstGeom>
        </p:spPr>
      </p:pic>
      <p:sp>
        <p:nvSpPr>
          <p:cNvPr id="9" name="Judgment text"/>
          <p:cNvSpPr txBox="1"/>
          <p:nvPr/>
        </p:nvSpPr>
        <p:spPr>
          <a:xfrm>
            <a:off x="1737360" y="5120640"/>
            <a:ext cx="9738360" cy="960120"/>
          </a:xfrm>
          <a:prstGeom prst="rect">
            <a:avLst/>
          </a:prstGeom>
          <a:noFill/>
          <a:ln/>
        </p:spPr>
        <p:txBody>
          <a:bodyPr wrap="square" lIns="0" tIns="0" rIns="0" bIns="0" rtlCol="0" anchor="ctr"/>
          <a:lstStyle/>
          <a:p>
            <a:pPr marL="0" indent="0">
              <a:buNone/>
            </a:pPr>
            <a:r>
              <a:rPr lang="en-US" sz="1700" b="1" dirty="0">
                <a:solidFill>
                  <a:srgbClr val="B45309"/>
                </a:solidFill>
              </a:rPr>
              <a:t>The judgment call: </a:t>
            </a:r>
            <a:r>
              <a:rPr lang="en-US" sz="1700" dirty="0">
                <a:solidFill>
                  <a:schemeClr val="tx2"/>
                </a:solidFill>
              </a:rPr>
              <a:t>if HR 2.0 slipped a long way, C becomes reasonable. But D’s first step — data standards, ownership and the person key — is no-regret either way.</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0" name="Narration">
            <a:hlinkClick r:id="" action="ppaction://media"/>
            <a:extLst>
              <a:ext uri="{FF2B5EF4-FFF2-40B4-BE49-F238E27FC236}">
                <a16:creationId xmlns:a16="http://schemas.microsoft.com/office/drawing/2014/main" id="{C47ED518-D1F5-BF35-D15E-7189032363A6}"/>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98870"/>
    </mc:Choice>
    <mc:Fallback>
      <p:transition spd="slow" advTm="988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97872"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Recommendation: HR as the source of truth, starting now</a:t>
            </a:r>
            <a:endParaRPr lang="en-US" sz="3000" dirty="0"/>
          </a:p>
        </p:txBody>
      </p:sp>
      <p:sp>
        <p:nvSpPr>
          <p:cNvPr id="3" name="Tag What"/>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Reason 1"/>
          <p:cNvSpPr/>
          <p:nvPr/>
        </p:nvSpPr>
        <p:spPr>
          <a:xfrm>
            <a:off x="548640" y="1325880"/>
            <a:ext cx="5486400" cy="1600200"/>
          </a:xfrm>
          <a:prstGeom prst="roundRect">
            <a:avLst>
              <a:gd name="adj" fmla="val 457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UsersGear"/>
          <p:cNvSpPr/>
          <p:nvPr/>
        </p:nvSpPr>
        <p:spPr>
          <a:xfrm>
            <a:off x="777240" y="1600200"/>
            <a:ext cx="685800" cy="685800"/>
          </a:xfrm>
          <a:prstGeom prst="ellipse">
            <a:avLst/>
          </a:prstGeom>
          <a:solidFill>
            <a:srgbClr val="1F2A44"/>
          </a:solidFill>
          <a:ln w="12700">
            <a:solidFill>
              <a:srgbClr val="1F2A44"/>
            </a:solidFill>
            <a:prstDash val="solid"/>
          </a:ln>
        </p:spPr>
      </p:sp>
      <p:pic>
        <p:nvPicPr>
          <p:cNvPr id="7" name="Image 0" descr="C:\Users\whale\AppData\Local\Temp\claude\C--Users-whale-git-uiao-inbox\cbd5b766-acc0-4006-9202-a9bb6b23e97b\scratchpad\deck\icons\FaUsersGear.png"/>
          <p:cNvPicPr>
            <a:picLocks noChangeAspect="1"/>
          </p:cNvPicPr>
          <p:nvPr/>
        </p:nvPicPr>
        <p:blipFill>
          <a:blip r:embed="rId5"/>
          <a:stretch>
            <a:fillRect/>
          </a:stretch>
        </p:blipFill>
        <p:spPr>
          <a:xfrm>
            <a:off x="941832" y="1764792"/>
            <a:ext cx="356616" cy="356616"/>
          </a:xfrm>
          <a:prstGeom prst="rect">
            <a:avLst/>
          </a:prstGeom>
        </p:spPr>
      </p:pic>
      <p:sp>
        <p:nvSpPr>
          <p:cNvPr id="8" name="Reason 1 text"/>
          <p:cNvSpPr txBox="1"/>
          <p:nvPr/>
        </p:nvSpPr>
        <p:spPr>
          <a:xfrm>
            <a:off x="1645920" y="1481328"/>
            <a:ext cx="4206240" cy="1325880"/>
          </a:xfrm>
          <a:prstGeom prst="rect">
            <a:avLst/>
          </a:prstGeom>
          <a:noFill/>
          <a:ln/>
        </p:spPr>
        <p:txBody>
          <a:bodyPr wrap="square" lIns="0" tIns="0" rIns="0" bIns="0" rtlCol="0" anchor="t"/>
          <a:lstStyle/>
          <a:p>
            <a:pPr marL="0" indent="0">
              <a:spcAft>
                <a:spcPts val="300"/>
              </a:spcAft>
              <a:buNone/>
            </a:pPr>
            <a:r>
              <a:rPr lang="en-US" sz="1800" b="1" dirty="0">
                <a:solidFill>
                  <a:srgbClr val="1F2A44"/>
                </a:solidFill>
                <a:latin typeface="Cambria" pitchFamily="34" charset="0"/>
                <a:ea typeface="Cambria" pitchFamily="34" charset="-122"/>
                <a:cs typeface="Cambria" pitchFamily="34" charset="-120"/>
              </a:rPr>
              <a:t>Mission and the public</a:t>
            </a:r>
            <a:endParaRPr lang="en-US" sz="1400" dirty="0"/>
          </a:p>
          <a:p>
            <a:pPr marL="0" indent="0">
              <a:spcAft>
                <a:spcPts val="300"/>
              </a:spcAft>
              <a:buNone/>
            </a:pPr>
            <a:r>
              <a:rPr lang="en-US" sz="1500" dirty="0">
                <a:solidFill>
                  <a:schemeClr val="tx2"/>
                </a:solidFill>
              </a:rPr>
              <a:t>Access to the public’s records ends when the role ends. Staff have the right access on day one. Shared services become possible.</a:t>
            </a:r>
            <a:endParaRPr lang="en-US" sz="1400" dirty="0"/>
          </a:p>
        </p:txBody>
      </p:sp>
      <p:sp>
        <p:nvSpPr>
          <p:cNvPr id="9" name="Reason 2"/>
          <p:cNvSpPr/>
          <p:nvPr/>
        </p:nvSpPr>
        <p:spPr>
          <a:xfrm>
            <a:off x="6144768" y="1325880"/>
            <a:ext cx="5486400" cy="1600200"/>
          </a:xfrm>
          <a:prstGeom prst="roundRect">
            <a:avLst>
              <a:gd name="adj" fmla="val 4571"/>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0" name="Icon FaChartLine"/>
          <p:cNvSpPr/>
          <p:nvPr/>
        </p:nvSpPr>
        <p:spPr>
          <a:xfrm>
            <a:off x="6373368" y="1600200"/>
            <a:ext cx="685800" cy="685800"/>
          </a:xfrm>
          <a:prstGeom prst="ellipse">
            <a:avLst/>
          </a:prstGeom>
          <a:solidFill>
            <a:srgbClr val="0F766E"/>
          </a:solidFill>
          <a:ln w="12700">
            <a:solidFill>
              <a:srgbClr val="0F766E"/>
            </a:solidFill>
            <a:prstDash val="solid"/>
          </a:ln>
        </p:spPr>
      </p:sp>
      <p:pic>
        <p:nvPicPr>
          <p:cNvPr id="11" name="Image 1" descr="C:\Users\whale\AppData\Local\Temp\claude\C--Users-whale-git-uiao-inbox\cbd5b766-acc0-4006-9202-a9bb6b23e97b\scratchpad\deck\icons\FaChartLine.png"/>
          <p:cNvPicPr>
            <a:picLocks noChangeAspect="1"/>
          </p:cNvPicPr>
          <p:nvPr/>
        </p:nvPicPr>
        <p:blipFill>
          <a:blip r:embed="rId6"/>
          <a:stretch>
            <a:fillRect/>
          </a:stretch>
        </p:blipFill>
        <p:spPr>
          <a:xfrm>
            <a:off x="6537960" y="1764792"/>
            <a:ext cx="356616" cy="356616"/>
          </a:xfrm>
          <a:prstGeom prst="rect">
            <a:avLst/>
          </a:prstGeom>
        </p:spPr>
      </p:pic>
      <p:sp>
        <p:nvSpPr>
          <p:cNvPr id="12" name="Reason 2 text"/>
          <p:cNvSpPr txBox="1"/>
          <p:nvPr/>
        </p:nvSpPr>
        <p:spPr>
          <a:xfrm>
            <a:off x="7242048" y="1481328"/>
            <a:ext cx="4206240" cy="1325880"/>
          </a:xfrm>
          <a:prstGeom prst="rect">
            <a:avLst/>
          </a:prstGeom>
          <a:noFill/>
          <a:ln/>
        </p:spPr>
        <p:txBody>
          <a:bodyPr wrap="square" lIns="0" tIns="0" rIns="0" bIns="0" rtlCol="0" anchor="t"/>
          <a:lstStyle/>
          <a:p>
            <a:pPr marL="0" indent="0">
              <a:spcAft>
                <a:spcPts val="300"/>
              </a:spcAft>
              <a:buNone/>
            </a:pPr>
            <a:r>
              <a:rPr lang="en-US" sz="1800" b="1" dirty="0">
                <a:solidFill>
                  <a:srgbClr val="0F766E"/>
                </a:solidFill>
                <a:latin typeface="Cambria" pitchFamily="34" charset="0"/>
                <a:ea typeface="Cambria" pitchFamily="34" charset="-122"/>
                <a:cs typeface="Cambria" pitchFamily="34" charset="-120"/>
              </a:rPr>
              <a:t>Cost</a:t>
            </a:r>
            <a:endParaRPr lang="en-US" sz="1400" dirty="0"/>
          </a:p>
          <a:p>
            <a:pPr marL="0" indent="0">
              <a:spcAft>
                <a:spcPts val="300"/>
              </a:spcAft>
              <a:buNone/>
            </a:pPr>
            <a:r>
              <a:rPr lang="en-US" sz="1500" dirty="0">
                <a:solidFill>
                  <a:schemeClr val="tx2"/>
                </a:solidFill>
              </a:rPr>
              <a:t>Build it once, while both platforms are rebuilt anyway. Retire ticket work for routine joiners, movers and leavers.</a:t>
            </a:r>
            <a:endParaRPr lang="en-US" sz="1400" dirty="0"/>
          </a:p>
        </p:txBody>
      </p:sp>
      <p:sp>
        <p:nvSpPr>
          <p:cNvPr id="13" name="Reason 3"/>
          <p:cNvSpPr/>
          <p:nvPr/>
        </p:nvSpPr>
        <p:spPr>
          <a:xfrm>
            <a:off x="548640" y="3063240"/>
            <a:ext cx="5486400" cy="1600200"/>
          </a:xfrm>
          <a:prstGeom prst="roundRect">
            <a:avLst>
              <a:gd name="adj" fmla="val 4571"/>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4" name="Icon FaShieldHalved"/>
          <p:cNvSpPr/>
          <p:nvPr/>
        </p:nvSpPr>
        <p:spPr>
          <a:xfrm>
            <a:off x="777240" y="3337560"/>
            <a:ext cx="685800" cy="685800"/>
          </a:xfrm>
          <a:prstGeom prst="ellipse">
            <a:avLst/>
          </a:prstGeom>
          <a:solidFill>
            <a:srgbClr val="B91C1C"/>
          </a:solidFill>
          <a:ln w="12700">
            <a:solidFill>
              <a:srgbClr val="B91C1C"/>
            </a:solidFill>
            <a:prstDash val="solid"/>
          </a:ln>
        </p:spPr>
      </p:sp>
      <p:pic>
        <p:nvPicPr>
          <p:cNvPr id="15" name="Image 2" descr="C:\Users\whale\AppData\Local\Temp\claude\C--Users-whale-git-uiao-inbox\cbd5b766-acc0-4006-9202-a9bb6b23e97b\scratchpad\deck\icons\FaShieldHalved.png"/>
          <p:cNvPicPr>
            <a:picLocks noChangeAspect="1"/>
          </p:cNvPicPr>
          <p:nvPr/>
        </p:nvPicPr>
        <p:blipFill>
          <a:blip r:embed="rId7"/>
          <a:stretch>
            <a:fillRect/>
          </a:stretch>
        </p:blipFill>
        <p:spPr>
          <a:xfrm>
            <a:off x="941832" y="3502152"/>
            <a:ext cx="356616" cy="356616"/>
          </a:xfrm>
          <a:prstGeom prst="rect">
            <a:avLst/>
          </a:prstGeom>
        </p:spPr>
      </p:pic>
      <p:sp>
        <p:nvSpPr>
          <p:cNvPr id="16" name="Reason 3 text"/>
          <p:cNvSpPr txBox="1"/>
          <p:nvPr/>
        </p:nvSpPr>
        <p:spPr>
          <a:xfrm>
            <a:off x="1645920" y="3218688"/>
            <a:ext cx="4206240" cy="1325880"/>
          </a:xfrm>
          <a:prstGeom prst="rect">
            <a:avLst/>
          </a:prstGeom>
          <a:noFill/>
          <a:ln/>
        </p:spPr>
        <p:txBody>
          <a:bodyPr wrap="square" lIns="0" tIns="0" rIns="0" bIns="0" rtlCol="0" anchor="t"/>
          <a:lstStyle/>
          <a:p>
            <a:pPr marL="0" indent="0">
              <a:spcAft>
                <a:spcPts val="300"/>
              </a:spcAft>
              <a:buNone/>
            </a:pPr>
            <a:r>
              <a:rPr lang="en-US" sz="1800" b="1" dirty="0">
                <a:solidFill>
                  <a:srgbClr val="B91C1C"/>
                </a:solidFill>
                <a:latin typeface="Cambria" pitchFamily="34" charset="0"/>
                <a:ea typeface="Cambria" pitchFamily="34" charset="-122"/>
                <a:cs typeface="Cambria" pitchFamily="34" charset="-120"/>
              </a:rPr>
              <a:t>Security</a:t>
            </a:r>
            <a:endParaRPr lang="en-US" sz="1400" dirty="0"/>
          </a:p>
          <a:p>
            <a:pPr marL="0" indent="0">
              <a:spcAft>
                <a:spcPts val="300"/>
              </a:spcAft>
              <a:buNone/>
            </a:pPr>
            <a:r>
              <a:rPr lang="en-US" sz="1500" dirty="0">
                <a:solidFill>
                  <a:schemeClr val="tx2"/>
                </a:solidFill>
              </a:rPr>
              <a:t>Modern access is decided by attributes, so accurate HR data becomes accurate access. Mandates are the floor, not the reason.</a:t>
            </a:r>
            <a:endParaRPr lang="en-US" sz="1400" dirty="0"/>
          </a:p>
        </p:txBody>
      </p:sp>
      <p:sp>
        <p:nvSpPr>
          <p:cNvPr id="17" name="Reason 4"/>
          <p:cNvSpPr/>
          <p:nvPr/>
        </p:nvSpPr>
        <p:spPr>
          <a:xfrm>
            <a:off x="6144768" y="3063240"/>
            <a:ext cx="5486400" cy="1600200"/>
          </a:xfrm>
          <a:prstGeom prst="roundRect">
            <a:avLst>
              <a:gd name="adj" fmla="val 4571"/>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8" name="Icon FaArrowsRotate"/>
          <p:cNvSpPr/>
          <p:nvPr/>
        </p:nvSpPr>
        <p:spPr>
          <a:xfrm>
            <a:off x="6373368" y="3337560"/>
            <a:ext cx="685800" cy="685800"/>
          </a:xfrm>
          <a:prstGeom prst="ellipse">
            <a:avLst/>
          </a:prstGeom>
          <a:solidFill>
            <a:srgbClr val="B45309"/>
          </a:solidFill>
          <a:ln w="12700">
            <a:solidFill>
              <a:srgbClr val="B45309"/>
            </a:solidFill>
            <a:prstDash val="solid"/>
          </a:ln>
        </p:spPr>
      </p:sp>
      <p:pic>
        <p:nvPicPr>
          <p:cNvPr id="19" name="Image 3" descr="C:\Users\whale\AppData\Local\Temp\claude\C--Users-whale-git-uiao-inbox\cbd5b766-acc0-4006-9202-a9bb6b23e97b\scratchpad\deck\icons\FaArrowsRotate.png"/>
          <p:cNvPicPr>
            <a:picLocks noChangeAspect="1"/>
          </p:cNvPicPr>
          <p:nvPr/>
        </p:nvPicPr>
        <p:blipFill>
          <a:blip r:embed="rId8"/>
          <a:stretch>
            <a:fillRect/>
          </a:stretch>
        </p:blipFill>
        <p:spPr>
          <a:xfrm>
            <a:off x="6537960" y="3502152"/>
            <a:ext cx="356616" cy="356616"/>
          </a:xfrm>
          <a:prstGeom prst="rect">
            <a:avLst/>
          </a:prstGeom>
        </p:spPr>
      </p:pic>
      <p:sp>
        <p:nvSpPr>
          <p:cNvPr id="20" name="Reason 4 text"/>
          <p:cNvSpPr txBox="1"/>
          <p:nvPr/>
        </p:nvSpPr>
        <p:spPr>
          <a:xfrm>
            <a:off x="7242048" y="3218688"/>
            <a:ext cx="4206240" cy="1325880"/>
          </a:xfrm>
          <a:prstGeom prst="rect">
            <a:avLst/>
          </a:prstGeom>
          <a:noFill/>
          <a:ln/>
        </p:spPr>
        <p:txBody>
          <a:bodyPr wrap="square" lIns="0" tIns="0" rIns="0" bIns="0" rtlCol="0" anchor="t"/>
          <a:lstStyle/>
          <a:p>
            <a:pPr marL="0" indent="0">
              <a:spcAft>
                <a:spcPts val="300"/>
              </a:spcAft>
              <a:buNone/>
            </a:pPr>
            <a:r>
              <a:rPr lang="en-US" sz="1800" b="1" dirty="0">
                <a:solidFill>
                  <a:srgbClr val="B45309"/>
                </a:solidFill>
                <a:latin typeface="Cambria" pitchFamily="34" charset="0"/>
                <a:ea typeface="Cambria" pitchFamily="34" charset="-122"/>
                <a:cs typeface="Cambria" pitchFamily="34" charset="-120"/>
              </a:rPr>
              <a:t>Resilience</a:t>
            </a:r>
            <a:endParaRPr lang="en-US" sz="1400" dirty="0"/>
          </a:p>
          <a:p>
            <a:pPr marL="0" indent="0">
              <a:spcAft>
                <a:spcPts val="300"/>
              </a:spcAft>
              <a:buNone/>
            </a:pPr>
            <a:r>
              <a:rPr lang="en-US" sz="1500" dirty="0">
                <a:solidFill>
                  <a:schemeClr val="tx2"/>
                </a:solidFill>
              </a:rPr>
              <a:t>OPM’s standard data and a person key we control — the Mainframe PIN — survive the next platform change.</a:t>
            </a:r>
            <a:endParaRPr lang="en-US" sz="1400" dirty="0"/>
          </a:p>
        </p:txBody>
      </p:sp>
      <p:sp>
        <p:nvSpPr>
          <p:cNvPr id="21" name="Limits"/>
          <p:cNvSpPr/>
          <p:nvPr/>
        </p:nvSpPr>
        <p:spPr>
          <a:xfrm>
            <a:off x="548640" y="4892040"/>
            <a:ext cx="5486400" cy="1234440"/>
          </a:xfrm>
          <a:prstGeom prst="roundRect">
            <a:avLst>
              <a:gd name="adj" fmla="val 5926"/>
            </a:avLst>
          </a:prstGeom>
          <a:solidFill>
            <a:srgbClr val="FFFFFF"/>
          </a:solidFill>
          <a:ln w="12700">
            <a:solidFill>
              <a:srgbClr val="64748B"/>
            </a:solidFill>
            <a:prstDash val="solid"/>
          </a:ln>
          <a:effectLst>
            <a:outerShdw blurRad="76200" dist="25400" dir="5400000" algn="bl" rotWithShape="0">
              <a:srgbClr val="64748B">
                <a:alpha val="22000"/>
              </a:srgbClr>
            </a:outerShdw>
          </a:effectLst>
        </p:spPr>
      </p:sp>
      <p:sp>
        <p:nvSpPr>
          <p:cNvPr id="22" name="Limits text"/>
          <p:cNvSpPr txBox="1"/>
          <p:nvPr/>
        </p:nvSpPr>
        <p:spPr>
          <a:xfrm>
            <a:off x="777240" y="4937760"/>
            <a:ext cx="5120640" cy="1143000"/>
          </a:xfrm>
          <a:prstGeom prst="rect">
            <a:avLst/>
          </a:prstGeom>
          <a:noFill/>
          <a:ln/>
        </p:spPr>
        <p:txBody>
          <a:bodyPr wrap="square" lIns="0" tIns="0" rIns="0" bIns="0" rtlCol="0" anchor="ctr"/>
          <a:lstStyle/>
          <a:p>
            <a:pPr marL="0" indent="0">
              <a:buNone/>
            </a:pPr>
            <a:r>
              <a:rPr lang="en-US" sz="1400" b="1" dirty="0">
                <a:solidFill>
                  <a:srgbClr val="64748B"/>
                </a:solidFill>
              </a:rPr>
              <a:t>Honest limits: </a:t>
            </a:r>
            <a:r>
              <a:rPr lang="en-US" sz="1400" dirty="0">
                <a:solidFill>
                  <a:schemeClr val="tx2"/>
                </a:solidFill>
              </a:rPr>
              <a:t>HR 2.0 covers federal employees only — contractors need their own source (Core HCM contingent worker, or PIV sponsorship). Build only what HR is authoritative for.</a:t>
            </a:r>
            <a:endParaRPr lang="en-US" sz="1400" dirty="0"/>
          </a:p>
        </p:txBody>
      </p:sp>
      <p:sp>
        <p:nvSpPr>
          <p:cNvPr id="23" name="Upside"/>
          <p:cNvSpPr/>
          <p:nvPr/>
        </p:nvSpPr>
        <p:spPr>
          <a:xfrm>
            <a:off x="6144768" y="4892040"/>
            <a:ext cx="5513832" cy="1234440"/>
          </a:xfrm>
          <a:prstGeom prst="roundRect">
            <a:avLst>
              <a:gd name="adj" fmla="val 5926"/>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24" name="Upside text"/>
          <p:cNvSpPr txBox="1"/>
          <p:nvPr/>
        </p:nvSpPr>
        <p:spPr>
          <a:xfrm>
            <a:off x="6373368" y="4937760"/>
            <a:ext cx="5120640" cy="1143000"/>
          </a:xfrm>
          <a:prstGeom prst="rect">
            <a:avLst/>
          </a:prstGeom>
          <a:noFill/>
          <a:ln/>
        </p:spPr>
        <p:txBody>
          <a:bodyPr wrap="square" lIns="0" tIns="0" rIns="0" bIns="0" rtlCol="0" anchor="ctr"/>
          <a:lstStyle/>
          <a:p>
            <a:pPr marL="0" indent="0">
              <a:buNone/>
            </a:pPr>
            <a:r>
              <a:rPr lang="en-US" sz="1400" b="1" dirty="0">
                <a:solidFill>
                  <a:srgbClr val="0F766E"/>
                </a:solidFill>
              </a:rPr>
              <a:t>The upside: </a:t>
            </a:r>
            <a:r>
              <a:rPr lang="en-US" sz="1400" dirty="0">
                <a:solidFill>
                  <a:schemeClr val="tx2"/>
                </a:solidFill>
              </a:rPr>
              <a:t>every agency is moving to the same HR platform on the same standards — one identity standard can serve them all, and the services they share.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26" name="Narration">
            <a:hlinkClick r:id="" action="ppaction://media"/>
            <a:extLst>
              <a:ext uri="{FF2B5EF4-FFF2-40B4-BE49-F238E27FC236}">
                <a16:creationId xmlns:a16="http://schemas.microsoft.com/office/drawing/2014/main" id="{57EB898E-7197-ED5B-6757-55408FEA8CFA}"/>
              </a:ext>
            </a:extLst>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02980"/>
    </mc:Choice>
    <mc:Fallback>
      <p:transition spd="slow" advTm="1029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01976"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Who: the owners, the partners, and my role</a:t>
            </a:r>
            <a:endParaRPr lang="en-US" sz="3000" dirty="0"/>
          </a:p>
        </p:txBody>
      </p:sp>
      <p:sp>
        <p:nvSpPr>
          <p:cNvPr id="3" name="Tag Who"/>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Who col 1"/>
          <p:cNvSpPr/>
          <p:nvPr/>
        </p:nvSpPr>
        <p:spPr>
          <a:xfrm>
            <a:off x="548640" y="1280160"/>
            <a:ext cx="3611880" cy="3520440"/>
          </a:xfrm>
          <a:prstGeom prst="roundRect">
            <a:avLst>
              <a:gd name="adj" fmla="val 2078"/>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BuildingColumns"/>
          <p:cNvSpPr/>
          <p:nvPr/>
        </p:nvSpPr>
        <p:spPr>
          <a:xfrm>
            <a:off x="749808" y="1444752"/>
            <a:ext cx="566928" cy="566928"/>
          </a:xfrm>
          <a:prstGeom prst="ellipse">
            <a:avLst/>
          </a:prstGeom>
          <a:solidFill>
            <a:srgbClr val="1F2A44"/>
          </a:solidFill>
          <a:ln w="12700">
            <a:solidFill>
              <a:srgbClr val="1F2A44"/>
            </a:solidFill>
            <a:prstDash val="solid"/>
          </a:ln>
        </p:spPr>
      </p:sp>
      <p:pic>
        <p:nvPicPr>
          <p:cNvPr id="7" name="Image 0" descr="C:\Users\whale\AppData\Local\Temp\claude\C--Users-whale-git-uiao-inbox\cbd5b766-acc0-4006-9202-a9bb6b23e97b\scratchpad\deck\icons\FaBuildingColumns.png"/>
          <p:cNvPicPr>
            <a:picLocks noChangeAspect="1"/>
          </p:cNvPicPr>
          <p:nvPr/>
        </p:nvPicPr>
        <p:blipFill>
          <a:blip r:embed="rId5"/>
          <a:stretch>
            <a:fillRect/>
          </a:stretch>
        </p:blipFill>
        <p:spPr>
          <a:xfrm>
            <a:off x="885871" y="1580815"/>
            <a:ext cx="294803" cy="294803"/>
          </a:xfrm>
          <a:prstGeom prst="rect">
            <a:avLst/>
          </a:prstGeom>
        </p:spPr>
      </p:pic>
      <p:sp>
        <p:nvSpPr>
          <p:cNvPr id="8" name="Who head 1"/>
          <p:cNvSpPr txBox="1"/>
          <p:nvPr/>
        </p:nvSpPr>
        <p:spPr>
          <a:xfrm>
            <a:off x="1463040" y="1444752"/>
            <a:ext cx="2560320" cy="566928"/>
          </a:xfrm>
          <a:prstGeom prst="rect">
            <a:avLst/>
          </a:prstGeom>
          <a:noFill/>
          <a:ln/>
        </p:spPr>
        <p:txBody>
          <a:bodyPr wrap="square" lIns="0" tIns="0" rIns="0" bIns="0" rtlCol="0" anchor="ctr"/>
          <a:lstStyle/>
          <a:p>
            <a:pPr marL="0" indent="0">
              <a:buNone/>
            </a:pPr>
            <a:r>
              <a:rPr lang="en-US" sz="1800" b="1" dirty="0">
                <a:solidFill>
                  <a:srgbClr val="1F2A44"/>
                </a:solidFill>
                <a:latin typeface="Cambria" pitchFamily="34" charset="0"/>
                <a:ea typeface="Cambria" pitchFamily="34" charset="-122"/>
                <a:cs typeface="Cambria" pitchFamily="34" charset="-120"/>
              </a:rPr>
              <a:t>Owns the data</a:t>
            </a:r>
            <a:endParaRPr lang="en-US" sz="1800" dirty="0"/>
          </a:p>
        </p:txBody>
      </p:sp>
      <p:sp>
        <p:nvSpPr>
          <p:cNvPr id="9" name="Who text 1"/>
          <p:cNvSpPr txBox="1"/>
          <p:nvPr/>
        </p:nvSpPr>
        <p:spPr>
          <a:xfrm>
            <a:off x="777240" y="2148840"/>
            <a:ext cx="3200400" cy="2560320"/>
          </a:xfrm>
          <a:prstGeom prst="rect">
            <a:avLst/>
          </a:prstGeom>
          <a:noFill/>
          <a:ln/>
        </p:spPr>
        <p:txBody>
          <a:bodyPr wrap="square" lIns="0" tIns="0" rIns="0" bIns="0" rtlCol="0" anchor="t"/>
          <a:lstStyle/>
          <a:p>
            <a:pPr marL="0" indent="0">
              <a:spcAft>
                <a:spcPts val="600"/>
              </a:spcAft>
              <a:buNone/>
            </a:pPr>
            <a:r>
              <a:rPr lang="en-US" sz="1450" b="1" dirty="0">
                <a:solidFill>
                  <a:srgbClr val="1F2A44"/>
                </a:solidFill>
              </a:rPr>
              <a:t>HR</a:t>
            </a:r>
            <a:endParaRPr lang="en-US" sz="1450" dirty="0"/>
          </a:p>
          <a:p>
            <a:pPr marL="0" indent="0">
              <a:spcAft>
                <a:spcPts val="600"/>
              </a:spcAft>
              <a:buNone/>
            </a:pPr>
            <a:r>
              <a:rPr lang="en-US" sz="1450" dirty="0">
                <a:solidFill>
                  <a:schemeClr val="tx2"/>
                </a:solidFill>
              </a:rPr>
              <a:t>Personnel data and its quality, at the source</a:t>
            </a:r>
            <a:endParaRPr lang="en-US" sz="1450" dirty="0"/>
          </a:p>
          <a:p>
            <a:pPr marL="0" indent="0">
              <a:spcAft>
                <a:spcPts val="600"/>
              </a:spcAft>
              <a:buNone/>
            </a:pPr>
            <a:r>
              <a:rPr lang="en-US" sz="1450" b="1" dirty="0">
                <a:solidFill>
                  <a:srgbClr val="1F2A44"/>
                </a:solidFill>
              </a:rPr>
              <a:t>OPM HR 2.0 program</a:t>
            </a:r>
            <a:endParaRPr lang="en-US" sz="1450" dirty="0"/>
          </a:p>
          <a:p>
            <a:pPr marL="0" indent="0">
              <a:spcAft>
                <a:spcPts val="600"/>
              </a:spcAft>
              <a:buNone/>
            </a:pPr>
            <a:r>
              <a:rPr lang="en-US" sz="1450" dirty="0">
                <a:solidFill>
                  <a:schemeClr val="tx2"/>
                </a:solidFill>
              </a:rPr>
              <a:t>The platform, the standards, the interconnection</a:t>
            </a:r>
            <a:endParaRPr lang="en-US" sz="1450" dirty="0"/>
          </a:p>
        </p:txBody>
      </p:sp>
      <p:sp>
        <p:nvSpPr>
          <p:cNvPr id="10" name="Who col 2"/>
          <p:cNvSpPr/>
          <p:nvPr/>
        </p:nvSpPr>
        <p:spPr>
          <a:xfrm>
            <a:off x="4297680" y="1280160"/>
            <a:ext cx="3611880" cy="3520440"/>
          </a:xfrm>
          <a:prstGeom prst="roundRect">
            <a:avLst>
              <a:gd name="adj" fmla="val 2078"/>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UsersGear"/>
          <p:cNvSpPr/>
          <p:nvPr/>
        </p:nvSpPr>
        <p:spPr>
          <a:xfrm>
            <a:off x="4498848" y="1444752"/>
            <a:ext cx="566928" cy="566928"/>
          </a:xfrm>
          <a:prstGeom prst="ellipse">
            <a:avLst/>
          </a:prstGeom>
          <a:solidFill>
            <a:srgbClr val="0F766E"/>
          </a:solidFill>
          <a:ln w="12700">
            <a:solidFill>
              <a:srgbClr val="0F766E"/>
            </a:solidFill>
            <a:prstDash val="solid"/>
          </a:ln>
        </p:spPr>
      </p:sp>
      <p:pic>
        <p:nvPicPr>
          <p:cNvPr id="12" name="Image 1" descr="C:\Users\whale\AppData\Local\Temp\claude\C--Users-whale-git-uiao-inbox\cbd5b766-acc0-4006-9202-a9bb6b23e97b\scratchpad\deck\icons\FaUsersGear.png"/>
          <p:cNvPicPr>
            <a:picLocks noChangeAspect="1"/>
          </p:cNvPicPr>
          <p:nvPr/>
        </p:nvPicPr>
        <p:blipFill>
          <a:blip r:embed="rId6"/>
          <a:stretch>
            <a:fillRect/>
          </a:stretch>
        </p:blipFill>
        <p:spPr>
          <a:xfrm>
            <a:off x="4634911" y="1580815"/>
            <a:ext cx="294803" cy="294803"/>
          </a:xfrm>
          <a:prstGeom prst="rect">
            <a:avLst/>
          </a:prstGeom>
        </p:spPr>
      </p:pic>
      <p:sp>
        <p:nvSpPr>
          <p:cNvPr id="13" name="Who head 2"/>
          <p:cNvSpPr txBox="1"/>
          <p:nvPr/>
        </p:nvSpPr>
        <p:spPr>
          <a:xfrm>
            <a:off x="5212080" y="1444752"/>
            <a:ext cx="2560320" cy="566928"/>
          </a:xfrm>
          <a:prstGeom prst="rect">
            <a:avLst/>
          </a:prstGeom>
          <a:noFill/>
          <a:ln/>
        </p:spPr>
        <p:txBody>
          <a:bodyPr wrap="square" lIns="0" tIns="0" rIns="0" bIns="0" rtlCol="0" anchor="ctr"/>
          <a:lstStyle/>
          <a:p>
            <a:pPr marL="0" indent="0">
              <a:buNone/>
            </a:pPr>
            <a:r>
              <a:rPr lang="en-US" sz="1800" b="1" dirty="0">
                <a:solidFill>
                  <a:srgbClr val="0F766E"/>
                </a:solidFill>
                <a:latin typeface="Cambria" pitchFamily="34" charset="0"/>
                <a:ea typeface="Cambria" pitchFamily="34" charset="-122"/>
                <a:cs typeface="Cambria" pitchFamily="34" charset="-120"/>
              </a:rPr>
              <a:t>Uses the data</a:t>
            </a:r>
            <a:endParaRPr lang="en-US" sz="1800" dirty="0"/>
          </a:p>
        </p:txBody>
      </p:sp>
      <p:sp>
        <p:nvSpPr>
          <p:cNvPr id="14" name="Who text 2"/>
          <p:cNvSpPr txBox="1"/>
          <p:nvPr/>
        </p:nvSpPr>
        <p:spPr>
          <a:xfrm>
            <a:off x="4526280" y="2148840"/>
            <a:ext cx="3200400" cy="2560320"/>
          </a:xfrm>
          <a:prstGeom prst="rect">
            <a:avLst/>
          </a:prstGeom>
          <a:noFill/>
          <a:ln/>
        </p:spPr>
        <p:txBody>
          <a:bodyPr wrap="square" lIns="0" tIns="0" rIns="0" bIns="0" rtlCol="0" anchor="t"/>
          <a:lstStyle/>
          <a:p>
            <a:pPr marL="0" indent="0">
              <a:spcAft>
                <a:spcPts val="600"/>
              </a:spcAft>
              <a:buNone/>
            </a:pPr>
            <a:r>
              <a:rPr lang="en-US" sz="1450" b="1" dirty="0">
                <a:solidFill>
                  <a:srgbClr val="0F766E"/>
                </a:solidFill>
              </a:rPr>
              <a:t>CIO identity team</a:t>
            </a:r>
            <a:endParaRPr lang="en-US" sz="1450" dirty="0"/>
          </a:p>
          <a:p>
            <a:pPr marL="0" indent="0">
              <a:spcAft>
                <a:spcPts val="600"/>
              </a:spcAft>
              <a:buNone/>
            </a:pPr>
            <a:r>
              <a:rPr lang="en-US" sz="1450" dirty="0">
                <a:solidFill>
                  <a:schemeClr val="tx2"/>
                </a:solidFill>
              </a:rPr>
              <a:t>Entra ID, Active Directory and access</a:t>
            </a:r>
            <a:endParaRPr lang="en-US" sz="1450" dirty="0"/>
          </a:p>
          <a:p>
            <a:pPr marL="0" indent="0">
              <a:spcAft>
                <a:spcPts val="600"/>
              </a:spcAft>
              <a:buNone/>
            </a:pPr>
            <a:r>
              <a:rPr lang="en-US" sz="1450" b="1" dirty="0">
                <a:solidFill>
                  <a:srgbClr val="0F766E"/>
                </a:solidFill>
              </a:rPr>
              <a:t>Security</a:t>
            </a:r>
            <a:endParaRPr lang="en-US" sz="1450" dirty="0"/>
          </a:p>
          <a:p>
            <a:pPr marL="0" indent="0">
              <a:spcAft>
                <a:spcPts val="600"/>
              </a:spcAft>
              <a:buNone/>
            </a:pPr>
            <a:r>
              <a:rPr lang="en-US" sz="1450" dirty="0">
                <a:solidFill>
                  <a:schemeClr val="tx2"/>
                </a:solidFill>
              </a:rPr>
              <a:t>Zero Trust policy and the leaver path</a:t>
            </a:r>
            <a:endParaRPr lang="en-US" sz="1450" dirty="0"/>
          </a:p>
          <a:p>
            <a:pPr marL="0" indent="0">
              <a:spcAft>
                <a:spcPts val="600"/>
              </a:spcAft>
              <a:buNone/>
            </a:pPr>
            <a:r>
              <a:rPr lang="en-US" sz="1450" b="1" dirty="0">
                <a:solidFill>
                  <a:srgbClr val="0F766E"/>
                </a:solidFill>
              </a:rPr>
              <a:t>Help desk</a:t>
            </a:r>
            <a:endParaRPr lang="en-US" sz="1450" dirty="0"/>
          </a:p>
          <a:p>
            <a:pPr marL="0" indent="0">
              <a:spcAft>
                <a:spcPts val="600"/>
              </a:spcAft>
              <a:buNone/>
            </a:pPr>
            <a:r>
              <a:rPr lang="en-US" sz="1450" dirty="0">
                <a:solidFill>
                  <a:schemeClr val="tx2"/>
                </a:solidFill>
              </a:rPr>
              <a:t>Exceptions, not routine tickets</a:t>
            </a:r>
            <a:endParaRPr lang="en-US" sz="1450" dirty="0"/>
          </a:p>
        </p:txBody>
      </p:sp>
      <p:sp>
        <p:nvSpPr>
          <p:cNvPr id="15" name="Who col 3"/>
          <p:cNvSpPr/>
          <p:nvPr/>
        </p:nvSpPr>
        <p:spPr>
          <a:xfrm>
            <a:off x="8046720" y="1280160"/>
            <a:ext cx="3611880" cy="3520440"/>
          </a:xfrm>
          <a:prstGeom prst="roundRect">
            <a:avLst>
              <a:gd name="adj" fmla="val 2078"/>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6" name="Icon FaShieldHalved"/>
          <p:cNvSpPr/>
          <p:nvPr/>
        </p:nvSpPr>
        <p:spPr>
          <a:xfrm>
            <a:off x="8247888" y="1444752"/>
            <a:ext cx="566928" cy="566928"/>
          </a:xfrm>
          <a:prstGeom prst="ellipse">
            <a:avLst/>
          </a:prstGeom>
          <a:solidFill>
            <a:srgbClr val="B45309"/>
          </a:solidFill>
          <a:ln w="12700">
            <a:solidFill>
              <a:srgbClr val="B45309"/>
            </a:solidFill>
            <a:prstDash val="solid"/>
          </a:ln>
        </p:spPr>
      </p:sp>
      <p:pic>
        <p:nvPicPr>
          <p:cNvPr id="17" name="Image 2" descr="C:\Users\whale\AppData\Local\Temp\claude\C--Users-whale-git-uiao-inbox\cbd5b766-acc0-4006-9202-a9bb6b23e97b\scratchpad\deck\icons\FaShieldHalved.png"/>
          <p:cNvPicPr>
            <a:picLocks noChangeAspect="1"/>
          </p:cNvPicPr>
          <p:nvPr/>
        </p:nvPicPr>
        <p:blipFill>
          <a:blip r:embed="rId7"/>
          <a:stretch>
            <a:fillRect/>
          </a:stretch>
        </p:blipFill>
        <p:spPr>
          <a:xfrm>
            <a:off x="8383951" y="1580815"/>
            <a:ext cx="294803" cy="294803"/>
          </a:xfrm>
          <a:prstGeom prst="rect">
            <a:avLst/>
          </a:prstGeom>
        </p:spPr>
      </p:pic>
      <p:sp>
        <p:nvSpPr>
          <p:cNvPr id="18" name="Who head 3"/>
          <p:cNvSpPr txBox="1"/>
          <p:nvPr/>
        </p:nvSpPr>
        <p:spPr>
          <a:xfrm>
            <a:off x="8961120" y="1444752"/>
            <a:ext cx="2560320" cy="566928"/>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Guards and partners</a:t>
            </a:r>
            <a:endParaRPr lang="en-US" sz="1800" dirty="0"/>
          </a:p>
        </p:txBody>
      </p:sp>
      <p:sp>
        <p:nvSpPr>
          <p:cNvPr id="19" name="Who text 3"/>
          <p:cNvSpPr txBox="1"/>
          <p:nvPr/>
        </p:nvSpPr>
        <p:spPr>
          <a:xfrm>
            <a:off x="8275320" y="2148840"/>
            <a:ext cx="3200400" cy="2560320"/>
          </a:xfrm>
          <a:prstGeom prst="rect">
            <a:avLst/>
          </a:prstGeom>
          <a:noFill/>
          <a:ln/>
        </p:spPr>
        <p:txBody>
          <a:bodyPr wrap="square" lIns="0" tIns="0" rIns="0" bIns="0" rtlCol="0" anchor="t"/>
          <a:lstStyle/>
          <a:p>
            <a:pPr marL="0" indent="0">
              <a:spcAft>
                <a:spcPts val="600"/>
              </a:spcAft>
              <a:buNone/>
            </a:pPr>
            <a:r>
              <a:rPr lang="en-US" sz="1450" b="1" dirty="0">
                <a:solidFill>
                  <a:srgbClr val="B45309"/>
                </a:solidFill>
              </a:rPr>
              <a:t>Privacy office</a:t>
            </a:r>
            <a:endParaRPr lang="en-US" sz="1450" dirty="0"/>
          </a:p>
          <a:p>
            <a:pPr marL="0" indent="0">
              <a:spcAft>
                <a:spcPts val="600"/>
              </a:spcAft>
              <a:buNone/>
            </a:pPr>
            <a:r>
              <a:rPr lang="en-US" sz="1450" dirty="0">
                <a:solidFill>
                  <a:schemeClr val="tx2"/>
                </a:solidFill>
              </a:rPr>
              <a:t>Routine use and minimization, from the start</a:t>
            </a:r>
            <a:endParaRPr lang="en-US" sz="1450" dirty="0"/>
          </a:p>
          <a:p>
            <a:pPr marL="0" indent="0">
              <a:spcAft>
                <a:spcPts val="600"/>
              </a:spcAft>
              <a:buNone/>
            </a:pPr>
            <a:r>
              <a:rPr lang="en-US" sz="1450" b="1" dirty="0">
                <a:solidFill>
                  <a:srgbClr val="B45309"/>
                </a:solidFill>
              </a:rPr>
              <a:t>Contractor sponsors and PIV</a:t>
            </a:r>
            <a:endParaRPr lang="en-US" sz="1450" dirty="0"/>
          </a:p>
          <a:p>
            <a:pPr marL="0" indent="0">
              <a:spcAft>
                <a:spcPts val="600"/>
              </a:spcAft>
              <a:buNone/>
            </a:pPr>
            <a:r>
              <a:rPr lang="en-US" sz="1450" dirty="0">
                <a:solidFill>
                  <a:schemeClr val="tx2"/>
                </a:solidFill>
              </a:rPr>
              <a:t>The source for non-employees</a:t>
            </a:r>
            <a:endParaRPr lang="en-US" sz="1450" dirty="0"/>
          </a:p>
          <a:p>
            <a:pPr marL="0" indent="0">
              <a:spcAft>
                <a:spcPts val="600"/>
              </a:spcAft>
              <a:buNone/>
            </a:pPr>
            <a:r>
              <a:rPr lang="en-US" sz="1450" b="1" dirty="0">
                <a:solidFill>
                  <a:srgbClr val="B45309"/>
                </a:solidFill>
              </a:rPr>
              <a:t>Partner agencies</a:t>
            </a:r>
            <a:endParaRPr lang="en-US" sz="1450" dirty="0"/>
          </a:p>
          <a:p>
            <a:pPr marL="0" indent="0">
              <a:spcAft>
                <a:spcPts val="600"/>
              </a:spcAft>
              <a:buNone/>
            </a:pPr>
            <a:r>
              <a:rPr lang="en-US" sz="1450" dirty="0">
                <a:solidFill>
                  <a:schemeClr val="tx2"/>
                </a:solidFill>
              </a:rPr>
              <a:t>One standard for shared services — e.g. IRS</a:t>
            </a:r>
            <a:endParaRPr lang="en-US" sz="1450" dirty="0"/>
          </a:p>
        </p:txBody>
      </p:sp>
      <p:sp>
        <p:nvSpPr>
          <p:cNvPr id="20" name="My role"/>
          <p:cNvSpPr/>
          <p:nvPr/>
        </p:nvSpPr>
        <p:spPr>
          <a:xfrm>
            <a:off x="548640" y="4983480"/>
            <a:ext cx="11109960" cy="1143000"/>
          </a:xfrm>
          <a:prstGeom prst="roundRect">
            <a:avLst>
              <a:gd name="adj" fmla="val 6400"/>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1" name="Icon FaSitemap"/>
          <p:cNvSpPr/>
          <p:nvPr/>
        </p:nvSpPr>
        <p:spPr>
          <a:xfrm>
            <a:off x="777240" y="5175504"/>
            <a:ext cx="749808" cy="749808"/>
          </a:xfrm>
          <a:prstGeom prst="ellipse">
            <a:avLst/>
          </a:prstGeom>
          <a:solidFill>
            <a:srgbClr val="1F2A44"/>
          </a:solidFill>
          <a:ln w="12700">
            <a:solidFill>
              <a:srgbClr val="1F2A44"/>
            </a:solidFill>
            <a:prstDash val="solid"/>
          </a:ln>
        </p:spPr>
      </p:sp>
      <p:pic>
        <p:nvPicPr>
          <p:cNvPr id="22" name="Image 3" descr="C:\Users\whale\AppData\Local\Temp\claude\C--Users-whale-git-uiao-inbox\cbd5b766-acc0-4006-9202-a9bb6b23e97b\scratchpad\deck\icons\FaSitemap.png"/>
          <p:cNvPicPr>
            <a:picLocks noChangeAspect="1"/>
          </p:cNvPicPr>
          <p:nvPr/>
        </p:nvPicPr>
        <p:blipFill>
          <a:blip r:embed="rId8"/>
          <a:stretch>
            <a:fillRect/>
          </a:stretch>
        </p:blipFill>
        <p:spPr>
          <a:xfrm>
            <a:off x="957194" y="5355458"/>
            <a:ext cx="389900" cy="389900"/>
          </a:xfrm>
          <a:prstGeom prst="rect">
            <a:avLst/>
          </a:prstGeom>
        </p:spPr>
      </p:pic>
      <p:sp>
        <p:nvSpPr>
          <p:cNvPr id="23" name="My role text"/>
          <p:cNvSpPr txBox="1"/>
          <p:nvPr/>
        </p:nvSpPr>
        <p:spPr>
          <a:xfrm>
            <a:off x="1737360" y="5029200"/>
            <a:ext cx="9738360" cy="1051560"/>
          </a:xfrm>
          <a:prstGeom prst="rect">
            <a:avLst/>
          </a:prstGeom>
          <a:noFill/>
          <a:ln/>
        </p:spPr>
        <p:txBody>
          <a:bodyPr wrap="square" lIns="0" tIns="0" rIns="0" bIns="0" rtlCol="0" anchor="ctr"/>
          <a:lstStyle/>
          <a:p>
            <a:pPr marL="0" indent="0">
              <a:buNone/>
            </a:pPr>
            <a:r>
              <a:rPr lang="en-US" sz="1600" b="1" dirty="0">
                <a:solidFill>
                  <a:srgbClr val="1F2A44"/>
                </a:solidFill>
              </a:rPr>
              <a:t>My role as enterprise data architect: </a:t>
            </a:r>
            <a:r>
              <a:rPr lang="en-US" sz="1600" dirty="0">
                <a:solidFill>
                  <a:schemeClr val="tx2"/>
                </a:solidFill>
              </a:rPr>
              <a:t>own the standards, the crosswalk and the person key; give every attribute one accountable owner; and carry the standard to interagency committees and working groups.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24" name="Narration">
            <a:hlinkClick r:id="" action="ppaction://media"/>
            <a:extLst>
              <a:ext uri="{FF2B5EF4-FFF2-40B4-BE49-F238E27FC236}">
                <a16:creationId xmlns:a16="http://schemas.microsoft.com/office/drawing/2014/main" id="{E21FE261-3DF6-6FF3-1D93-24C5D2CE7F73}"/>
              </a:ext>
            </a:extLst>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87640"/>
    </mc:Choice>
    <mc:Fallback>
      <p:transition spd="slow" advTm="876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86640" fill="hold"/>
                                        <p:tgtEl>
                                          <p:spTgt spid="2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How: data, security and operations</a:t>
            </a:r>
            <a:endParaRPr lang="en-US" sz="3000" dirty="0"/>
          </a:p>
        </p:txBody>
      </p:sp>
      <p:sp>
        <p:nvSpPr>
          <p:cNvPr id="3" name="Tag How"/>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How col 1"/>
          <p:cNvSpPr/>
          <p:nvPr/>
        </p:nvSpPr>
        <p:spPr>
          <a:xfrm>
            <a:off x="548640" y="1280160"/>
            <a:ext cx="3611880" cy="3429000"/>
          </a:xfrm>
          <a:prstGeom prst="roundRect">
            <a:avLst>
              <a:gd name="adj" fmla="val 2133"/>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6" name="Icon FaDatabase"/>
          <p:cNvSpPr/>
          <p:nvPr/>
        </p:nvSpPr>
        <p:spPr>
          <a:xfrm>
            <a:off x="749808" y="1444752"/>
            <a:ext cx="566928" cy="566928"/>
          </a:xfrm>
          <a:prstGeom prst="ellipse">
            <a:avLst/>
          </a:prstGeom>
          <a:solidFill>
            <a:srgbClr val="0F766E"/>
          </a:solidFill>
          <a:ln w="12700">
            <a:solidFill>
              <a:srgbClr val="0F766E"/>
            </a:solidFill>
            <a:prstDash val="solid"/>
          </a:ln>
        </p:spPr>
      </p:sp>
      <p:pic>
        <p:nvPicPr>
          <p:cNvPr id="7" name="Image 0" descr="C:\Users\whale\AppData\Local\Temp\claude\C--Users-whale-git-uiao-inbox\cbd5b766-acc0-4006-9202-a9bb6b23e97b\scratchpad\deck\icons\FaDatabase.png"/>
          <p:cNvPicPr>
            <a:picLocks noChangeAspect="1"/>
          </p:cNvPicPr>
          <p:nvPr/>
        </p:nvPicPr>
        <p:blipFill>
          <a:blip r:embed="rId5"/>
          <a:stretch>
            <a:fillRect/>
          </a:stretch>
        </p:blipFill>
        <p:spPr>
          <a:xfrm>
            <a:off x="885871" y="1580815"/>
            <a:ext cx="294803" cy="294803"/>
          </a:xfrm>
          <a:prstGeom prst="rect">
            <a:avLst/>
          </a:prstGeom>
        </p:spPr>
      </p:pic>
      <p:sp>
        <p:nvSpPr>
          <p:cNvPr id="8" name="How head 1"/>
          <p:cNvSpPr txBox="1"/>
          <p:nvPr/>
        </p:nvSpPr>
        <p:spPr>
          <a:xfrm>
            <a:off x="1463040" y="1444752"/>
            <a:ext cx="2560320" cy="566928"/>
          </a:xfrm>
          <a:prstGeom prst="rect">
            <a:avLst/>
          </a:prstGeom>
          <a:noFill/>
          <a:ln/>
        </p:spPr>
        <p:txBody>
          <a:bodyPr wrap="square" lIns="0" tIns="0" rIns="0" bIns="0" rtlCol="0" anchor="ctr"/>
          <a:lstStyle/>
          <a:p>
            <a:pPr marL="0" indent="0">
              <a:buNone/>
            </a:pPr>
            <a:r>
              <a:rPr lang="en-US" sz="1900" b="1" dirty="0">
                <a:solidFill>
                  <a:srgbClr val="0F766E"/>
                </a:solidFill>
                <a:latin typeface="Cambria" pitchFamily="34" charset="0"/>
                <a:ea typeface="Cambria" pitchFamily="34" charset="-122"/>
                <a:cs typeface="Cambria" pitchFamily="34" charset="-120"/>
              </a:rPr>
              <a:t>Data</a:t>
            </a:r>
            <a:endParaRPr lang="en-US" sz="1900" dirty="0"/>
          </a:p>
        </p:txBody>
      </p:sp>
      <p:sp>
        <p:nvSpPr>
          <p:cNvPr id="9" name="How text 1"/>
          <p:cNvSpPr txBox="1"/>
          <p:nvPr/>
        </p:nvSpPr>
        <p:spPr>
          <a:xfrm>
            <a:off x="777240" y="2194560"/>
            <a:ext cx="3200400" cy="24231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2"/>
                </a:solidFill>
              </a:rPr>
              <a:t>One governed crosswalk: OPM standard data to a person model</a:t>
            </a:r>
            <a:endParaRPr lang="en-US" sz="1400" dirty="0"/>
          </a:p>
          <a:p>
            <a:pPr marL="342900" indent="-342900">
              <a:spcAft>
                <a:spcPts val="600"/>
              </a:spcAft>
              <a:buSzPct val="100000"/>
              <a:buChar char="•"/>
            </a:pPr>
            <a:r>
              <a:rPr lang="en-US" sz="1500" dirty="0">
                <a:solidFill>
                  <a:schemeClr val="tx2"/>
                </a:solidFill>
              </a:rPr>
              <a:t>Keyed on the Mainframe PIN, so a person stays one person</a:t>
            </a:r>
            <a:endParaRPr lang="en-US" sz="1400" dirty="0"/>
          </a:p>
          <a:p>
            <a:pPr marL="342900" indent="-342900">
              <a:spcAft>
                <a:spcPts val="600"/>
              </a:spcAft>
              <a:buSzPct val="100000"/>
              <a:buChar char="•"/>
            </a:pPr>
            <a:r>
              <a:rPr lang="en-US" sz="1500" dirty="0">
                <a:solidFill>
                  <a:schemeClr val="tx2"/>
                </a:solidFill>
              </a:rPr>
              <a:t>Personnel actions drive joiner, mover, leaver by code</a:t>
            </a:r>
            <a:endParaRPr lang="en-US" sz="1400" dirty="0"/>
          </a:p>
          <a:p>
            <a:pPr marL="342900" indent="-342900">
              <a:spcAft>
                <a:spcPts val="600"/>
              </a:spcAft>
              <a:buSzPct val="100000"/>
              <a:buChar char="•"/>
            </a:pPr>
            <a:r>
              <a:rPr lang="en-US" sz="1500" dirty="0">
                <a:solidFill>
                  <a:schemeClr val="tx2"/>
                </a:solidFill>
              </a:rPr>
              <a:t>Contractors from their own source, same model</a:t>
            </a:r>
            <a:endParaRPr lang="en-US" sz="1400" dirty="0"/>
          </a:p>
        </p:txBody>
      </p:sp>
      <p:sp>
        <p:nvSpPr>
          <p:cNvPr id="10" name="How col 2"/>
          <p:cNvSpPr/>
          <p:nvPr/>
        </p:nvSpPr>
        <p:spPr>
          <a:xfrm>
            <a:off x="4297680" y="1280160"/>
            <a:ext cx="3611880" cy="3429000"/>
          </a:xfrm>
          <a:prstGeom prst="roundRect">
            <a:avLst>
              <a:gd name="adj" fmla="val 2133"/>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1" name="Icon FaLock"/>
          <p:cNvSpPr/>
          <p:nvPr/>
        </p:nvSpPr>
        <p:spPr>
          <a:xfrm>
            <a:off x="4498848" y="1444752"/>
            <a:ext cx="566928" cy="566928"/>
          </a:xfrm>
          <a:prstGeom prst="ellipse">
            <a:avLst/>
          </a:prstGeom>
          <a:solidFill>
            <a:srgbClr val="B91C1C"/>
          </a:solidFill>
          <a:ln w="12700">
            <a:solidFill>
              <a:srgbClr val="B91C1C"/>
            </a:solidFill>
            <a:prstDash val="solid"/>
          </a:ln>
        </p:spPr>
      </p:sp>
      <p:pic>
        <p:nvPicPr>
          <p:cNvPr id="12" name="Image 1" descr="C:\Users\whale\AppData\Local\Temp\claude\C--Users-whale-git-uiao-inbox\cbd5b766-acc0-4006-9202-a9bb6b23e97b\scratchpad\deck\icons\FaLock.png"/>
          <p:cNvPicPr>
            <a:picLocks noChangeAspect="1"/>
          </p:cNvPicPr>
          <p:nvPr/>
        </p:nvPicPr>
        <p:blipFill>
          <a:blip r:embed="rId6"/>
          <a:stretch>
            <a:fillRect/>
          </a:stretch>
        </p:blipFill>
        <p:spPr>
          <a:xfrm>
            <a:off x="4634911" y="1580815"/>
            <a:ext cx="294803" cy="294803"/>
          </a:xfrm>
          <a:prstGeom prst="rect">
            <a:avLst/>
          </a:prstGeom>
        </p:spPr>
      </p:pic>
      <p:sp>
        <p:nvSpPr>
          <p:cNvPr id="13" name="How head 2"/>
          <p:cNvSpPr txBox="1"/>
          <p:nvPr/>
        </p:nvSpPr>
        <p:spPr>
          <a:xfrm>
            <a:off x="5212080" y="1444752"/>
            <a:ext cx="2560320" cy="566928"/>
          </a:xfrm>
          <a:prstGeom prst="rect">
            <a:avLst/>
          </a:prstGeom>
          <a:noFill/>
          <a:ln/>
        </p:spPr>
        <p:txBody>
          <a:bodyPr wrap="square" lIns="0" tIns="0" rIns="0" bIns="0" rtlCol="0" anchor="ctr"/>
          <a:lstStyle/>
          <a:p>
            <a:pPr marL="0" indent="0">
              <a:buNone/>
            </a:pPr>
            <a:r>
              <a:rPr lang="en-US" sz="1900" b="1" dirty="0">
                <a:solidFill>
                  <a:srgbClr val="B91C1C"/>
                </a:solidFill>
                <a:latin typeface="Cambria" pitchFamily="34" charset="0"/>
                <a:ea typeface="Cambria" pitchFamily="34" charset="-122"/>
                <a:cs typeface="Cambria" pitchFamily="34" charset="-120"/>
              </a:rPr>
              <a:t>Security</a:t>
            </a:r>
            <a:endParaRPr lang="en-US" sz="1900" dirty="0"/>
          </a:p>
        </p:txBody>
      </p:sp>
      <p:sp>
        <p:nvSpPr>
          <p:cNvPr id="14" name="How text 2"/>
          <p:cNvSpPr txBox="1"/>
          <p:nvPr/>
        </p:nvSpPr>
        <p:spPr>
          <a:xfrm>
            <a:off x="4526280" y="2194560"/>
            <a:ext cx="3200400" cy="24231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2"/>
                </a:solidFill>
              </a:rPr>
              <a:t>Leavers: block access first, within hours, then clean up</a:t>
            </a:r>
            <a:endParaRPr lang="en-US" sz="1400" dirty="0"/>
          </a:p>
          <a:p>
            <a:pPr marL="342900" indent="-342900">
              <a:spcAft>
                <a:spcPts val="600"/>
              </a:spcAft>
              <a:buSzPct val="100000"/>
              <a:buChar char="•"/>
            </a:pPr>
            <a:r>
              <a:rPr lang="en-US" sz="1500" dirty="0">
                <a:solidFill>
                  <a:schemeClr val="tx2"/>
                </a:solidFill>
              </a:rPr>
              <a:t>Least privilege; no stored secrets</a:t>
            </a:r>
            <a:endParaRPr lang="en-US" sz="1400" dirty="0"/>
          </a:p>
          <a:p>
            <a:pPr marL="342900" indent="-342900">
              <a:spcAft>
                <a:spcPts val="600"/>
              </a:spcAft>
              <a:buSzPct val="100000"/>
              <a:buChar char="•"/>
            </a:pPr>
            <a:r>
              <a:rPr lang="en-US" sz="1500" dirty="0">
                <a:solidFill>
                  <a:schemeClr val="tx2"/>
                </a:solidFill>
              </a:rPr>
              <a:t>Failures quarantined with an owner — nothing auto-resolves</a:t>
            </a:r>
            <a:endParaRPr lang="en-US" sz="1400" dirty="0"/>
          </a:p>
        </p:txBody>
      </p:sp>
      <p:sp>
        <p:nvSpPr>
          <p:cNvPr id="15" name="How col 3"/>
          <p:cNvSpPr/>
          <p:nvPr/>
        </p:nvSpPr>
        <p:spPr>
          <a:xfrm>
            <a:off x="8046720" y="1280160"/>
            <a:ext cx="3611880" cy="3429000"/>
          </a:xfrm>
          <a:prstGeom prst="roundRect">
            <a:avLst>
              <a:gd name="adj" fmla="val 2133"/>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6" name="Icon FaRoute"/>
          <p:cNvSpPr/>
          <p:nvPr/>
        </p:nvSpPr>
        <p:spPr>
          <a:xfrm>
            <a:off x="8247888" y="1444752"/>
            <a:ext cx="566928" cy="566928"/>
          </a:xfrm>
          <a:prstGeom prst="ellipse">
            <a:avLst/>
          </a:prstGeom>
          <a:solidFill>
            <a:srgbClr val="B45309"/>
          </a:solidFill>
          <a:ln w="12700">
            <a:solidFill>
              <a:srgbClr val="B45309"/>
            </a:solidFill>
            <a:prstDash val="solid"/>
          </a:ln>
        </p:spPr>
      </p:sp>
      <p:pic>
        <p:nvPicPr>
          <p:cNvPr id="17" name="Image 2" descr="C:\Users\whale\AppData\Local\Temp\claude\C--Users-whale-git-uiao-inbox\cbd5b766-acc0-4006-9202-a9bb6b23e97b\scratchpad\deck\icons\FaRoute.png"/>
          <p:cNvPicPr>
            <a:picLocks noChangeAspect="1"/>
          </p:cNvPicPr>
          <p:nvPr/>
        </p:nvPicPr>
        <p:blipFill>
          <a:blip r:embed="rId7"/>
          <a:stretch>
            <a:fillRect/>
          </a:stretch>
        </p:blipFill>
        <p:spPr>
          <a:xfrm>
            <a:off x="8383951" y="1580815"/>
            <a:ext cx="294803" cy="294803"/>
          </a:xfrm>
          <a:prstGeom prst="rect">
            <a:avLst/>
          </a:prstGeom>
        </p:spPr>
      </p:pic>
      <p:sp>
        <p:nvSpPr>
          <p:cNvPr id="18" name="How head 3"/>
          <p:cNvSpPr txBox="1"/>
          <p:nvPr/>
        </p:nvSpPr>
        <p:spPr>
          <a:xfrm>
            <a:off x="8961120" y="1444752"/>
            <a:ext cx="2560320" cy="566928"/>
          </a:xfrm>
          <a:prstGeom prst="rect">
            <a:avLst/>
          </a:prstGeom>
          <a:noFill/>
          <a:ln/>
        </p:spPr>
        <p:txBody>
          <a:bodyPr wrap="square" lIns="0" tIns="0" rIns="0" bIns="0" rtlCol="0" anchor="ctr"/>
          <a:lstStyle/>
          <a:p>
            <a:pPr marL="0" indent="0">
              <a:buNone/>
            </a:pPr>
            <a:r>
              <a:rPr lang="en-US" sz="1900" b="1" dirty="0">
                <a:solidFill>
                  <a:srgbClr val="B45309"/>
                </a:solidFill>
                <a:latin typeface="Cambria" pitchFamily="34" charset="0"/>
                <a:ea typeface="Cambria" pitchFamily="34" charset="-122"/>
                <a:cs typeface="Cambria" pitchFamily="34" charset="-120"/>
              </a:rPr>
              <a:t>Operations</a:t>
            </a:r>
            <a:endParaRPr lang="en-US" sz="1900" dirty="0"/>
          </a:p>
        </p:txBody>
      </p:sp>
      <p:sp>
        <p:nvSpPr>
          <p:cNvPr id="19" name="How text 3"/>
          <p:cNvSpPr txBox="1"/>
          <p:nvPr/>
        </p:nvSpPr>
        <p:spPr>
          <a:xfrm>
            <a:off x="8275320" y="2194560"/>
            <a:ext cx="3200400" cy="24231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2"/>
                </a:solidFill>
              </a:rPr>
              <a:t>Start now from the HR Operational Data Store; switch the source at Core HCM</a:t>
            </a:r>
            <a:endParaRPr lang="en-US" sz="1400" dirty="0"/>
          </a:p>
          <a:p>
            <a:pPr marL="342900" indent="-342900">
              <a:spcAft>
                <a:spcPts val="600"/>
              </a:spcAft>
              <a:buSzPct val="100000"/>
              <a:buChar char="•"/>
            </a:pPr>
            <a:r>
              <a:rPr lang="en-US" sz="1500" dirty="0">
                <a:solidFill>
                  <a:schemeClr val="tx2"/>
                </a:solidFill>
              </a:rPr>
              <a:t>Shadow mode first: compare HR with the directories</a:t>
            </a:r>
            <a:endParaRPr lang="en-US" sz="1400" dirty="0"/>
          </a:p>
          <a:p>
            <a:pPr marL="342900" indent="-342900">
              <a:spcAft>
                <a:spcPts val="600"/>
              </a:spcAft>
              <a:buSzPct val="100000"/>
              <a:buChar char="•"/>
            </a:pPr>
            <a:r>
              <a:rPr lang="en-US" sz="1500" dirty="0">
                <a:solidFill>
                  <a:schemeClr val="tx2"/>
                </a:solidFill>
              </a:rPr>
              <a:t>Cut over one population at a time</a:t>
            </a:r>
            <a:endParaRPr lang="en-US" sz="1400" dirty="0"/>
          </a:p>
          <a:p>
            <a:pPr marL="342900" indent="-342900">
              <a:spcAft>
                <a:spcPts val="600"/>
              </a:spcAft>
              <a:buSzPct val="100000"/>
              <a:buChar char="•"/>
            </a:pPr>
            <a:r>
              <a:rPr lang="en-US" sz="1500" dirty="0">
                <a:solidFill>
                  <a:schemeClr val="tx2"/>
                </a:solidFill>
              </a:rPr>
              <a:t>Close the ticket path only when the data proves it</a:t>
            </a:r>
            <a:endParaRPr lang="en-US" sz="1400" dirty="0"/>
          </a:p>
        </p:txBody>
      </p:sp>
      <p:sp>
        <p:nvSpPr>
          <p:cNvPr id="20" name="Stack label"/>
          <p:cNvSpPr txBox="1"/>
          <p:nvPr/>
        </p:nvSpPr>
        <p:spPr>
          <a:xfrm>
            <a:off x="548640" y="5120640"/>
            <a:ext cx="1463040" cy="548640"/>
          </a:xfrm>
          <a:prstGeom prst="rect">
            <a:avLst/>
          </a:prstGeom>
          <a:noFill/>
          <a:ln/>
        </p:spPr>
        <p:txBody>
          <a:bodyPr wrap="square" lIns="0" tIns="0" rIns="0" bIns="0" rtlCol="0" anchor="ctr"/>
          <a:lstStyle/>
          <a:p>
            <a:pPr marL="0" indent="0">
              <a:buNone/>
            </a:pPr>
            <a:r>
              <a:rPr lang="en-US" sz="1100" b="1" dirty="0">
                <a:solidFill>
                  <a:srgbClr val="64748B"/>
                </a:solidFill>
              </a:rPr>
              <a:t>EXAMPLE STACK</a:t>
            </a:r>
            <a:endParaRPr lang="en-US" sz="1100" dirty="0"/>
          </a:p>
        </p:txBody>
      </p:sp>
      <p:sp>
        <p:nvSpPr>
          <p:cNvPr id="21" name="Stack 1"/>
          <p:cNvSpPr/>
          <p:nvPr/>
        </p:nvSpPr>
        <p:spPr>
          <a:xfrm>
            <a:off x="2011680" y="5166360"/>
            <a:ext cx="2148840" cy="502920"/>
          </a:xfrm>
          <a:prstGeom prst="roundRect">
            <a:avLst>
              <a:gd name="adj" fmla="val 14545"/>
            </a:avLst>
          </a:prstGeom>
          <a:solidFill>
            <a:srgbClr val="FFFFFF"/>
          </a:solidFill>
          <a:ln w="12700">
            <a:solidFill>
              <a:srgbClr val="CBD5E1"/>
            </a:solidFill>
            <a:prstDash val="solid"/>
          </a:ln>
          <a:effectLst>
            <a:outerShdw blurRad="76200" dist="25400" dir="5400000" algn="bl" rotWithShape="0">
              <a:srgbClr val="64748B">
                <a:alpha val="22000"/>
              </a:srgbClr>
            </a:outerShdw>
          </a:effectLst>
        </p:spPr>
      </p:sp>
      <p:sp>
        <p:nvSpPr>
          <p:cNvPr id="22" name="Stack 1 text"/>
          <p:cNvSpPr txBox="1"/>
          <p:nvPr/>
        </p:nvSpPr>
        <p:spPr>
          <a:xfrm>
            <a:off x="2084832" y="5166360"/>
            <a:ext cx="2002536" cy="502920"/>
          </a:xfrm>
          <a:prstGeom prst="rect">
            <a:avLst/>
          </a:prstGeom>
          <a:noFill/>
          <a:ln/>
        </p:spPr>
        <p:txBody>
          <a:bodyPr wrap="square" lIns="0" tIns="0" rIns="0" bIns="0" rtlCol="0" anchor="ctr"/>
          <a:lstStyle/>
          <a:p>
            <a:pPr marL="0" indent="0" algn="ctr">
              <a:buNone/>
            </a:pPr>
            <a:r>
              <a:rPr lang="en-US" sz="1200" dirty="0">
                <a:solidFill>
                  <a:srgbClr val="334155"/>
                </a:solidFill>
              </a:rPr>
              <a:t>Oracle Core HCM</a:t>
            </a:r>
            <a:endParaRPr lang="en-US" sz="1200" dirty="0"/>
          </a:p>
        </p:txBody>
      </p:sp>
      <p:sp>
        <p:nvSpPr>
          <p:cNvPr id="23" name="Shape 18"/>
          <p:cNvSpPr/>
          <p:nvPr/>
        </p:nvSpPr>
        <p:spPr>
          <a:xfrm>
            <a:off x="4187952" y="5417820"/>
            <a:ext cx="237744" cy="0"/>
          </a:xfrm>
          <a:prstGeom prst="line">
            <a:avLst/>
          </a:prstGeom>
          <a:noFill/>
          <a:ln w="22225">
            <a:solidFill>
              <a:srgbClr val="64748B"/>
            </a:solidFill>
            <a:prstDash val="solid"/>
            <a:tailEnd type="triangle"/>
          </a:ln>
        </p:spPr>
      </p:sp>
      <p:sp>
        <p:nvSpPr>
          <p:cNvPr id="24" name="Stack 2"/>
          <p:cNvSpPr/>
          <p:nvPr/>
        </p:nvSpPr>
        <p:spPr>
          <a:xfrm>
            <a:off x="4453128" y="5166360"/>
            <a:ext cx="2148840" cy="502920"/>
          </a:xfrm>
          <a:prstGeom prst="roundRect">
            <a:avLst>
              <a:gd name="adj" fmla="val 14545"/>
            </a:avLst>
          </a:prstGeom>
          <a:solidFill>
            <a:srgbClr val="FFFFFF"/>
          </a:solidFill>
          <a:ln w="12700">
            <a:solidFill>
              <a:srgbClr val="CBD5E1"/>
            </a:solidFill>
            <a:prstDash val="solid"/>
          </a:ln>
          <a:effectLst>
            <a:outerShdw blurRad="76200" dist="25400" dir="5400000" algn="bl" rotWithShape="0">
              <a:srgbClr val="64748B">
                <a:alpha val="22000"/>
              </a:srgbClr>
            </a:outerShdw>
          </a:effectLst>
        </p:spPr>
      </p:sp>
      <p:sp>
        <p:nvSpPr>
          <p:cNvPr id="25" name="Stack 2 text"/>
          <p:cNvSpPr txBox="1"/>
          <p:nvPr/>
        </p:nvSpPr>
        <p:spPr>
          <a:xfrm>
            <a:off x="4526280" y="5166360"/>
            <a:ext cx="2002536" cy="502920"/>
          </a:xfrm>
          <a:prstGeom prst="rect">
            <a:avLst/>
          </a:prstGeom>
          <a:noFill/>
          <a:ln/>
        </p:spPr>
        <p:txBody>
          <a:bodyPr wrap="square" lIns="0" tIns="0" rIns="0" bIns="0" rtlCol="0" anchor="ctr"/>
          <a:lstStyle/>
          <a:p>
            <a:pPr marL="0" indent="0" algn="ctr">
              <a:buNone/>
            </a:pPr>
            <a:r>
              <a:rPr lang="en-US" sz="1200" dirty="0">
                <a:solidFill>
                  <a:srgbClr val="334155"/>
                </a:solidFill>
              </a:rPr>
              <a:t>Entra ID HR-driven provisioning</a:t>
            </a:r>
            <a:endParaRPr lang="en-US" sz="1200" dirty="0"/>
          </a:p>
        </p:txBody>
      </p:sp>
      <p:sp>
        <p:nvSpPr>
          <p:cNvPr id="26" name="Shape 21"/>
          <p:cNvSpPr/>
          <p:nvPr/>
        </p:nvSpPr>
        <p:spPr>
          <a:xfrm>
            <a:off x="6629400" y="5417820"/>
            <a:ext cx="237744" cy="0"/>
          </a:xfrm>
          <a:prstGeom prst="line">
            <a:avLst/>
          </a:prstGeom>
          <a:noFill/>
          <a:ln w="22225">
            <a:solidFill>
              <a:srgbClr val="64748B"/>
            </a:solidFill>
            <a:prstDash val="solid"/>
            <a:tailEnd type="triangle"/>
          </a:ln>
        </p:spPr>
      </p:sp>
      <p:sp>
        <p:nvSpPr>
          <p:cNvPr id="27" name="Stack 3"/>
          <p:cNvSpPr/>
          <p:nvPr/>
        </p:nvSpPr>
        <p:spPr>
          <a:xfrm>
            <a:off x="6894576" y="5166360"/>
            <a:ext cx="2148840" cy="502920"/>
          </a:xfrm>
          <a:prstGeom prst="roundRect">
            <a:avLst>
              <a:gd name="adj" fmla="val 14545"/>
            </a:avLst>
          </a:prstGeom>
          <a:solidFill>
            <a:srgbClr val="FFFFFF"/>
          </a:solidFill>
          <a:ln w="12700">
            <a:solidFill>
              <a:srgbClr val="CBD5E1"/>
            </a:solidFill>
            <a:prstDash val="solid"/>
          </a:ln>
          <a:effectLst>
            <a:outerShdw blurRad="76200" dist="25400" dir="5400000" algn="bl" rotWithShape="0">
              <a:srgbClr val="64748B">
                <a:alpha val="22000"/>
              </a:srgbClr>
            </a:outerShdw>
          </a:effectLst>
        </p:spPr>
      </p:sp>
      <p:sp>
        <p:nvSpPr>
          <p:cNvPr id="28" name="Stack 3 text"/>
          <p:cNvSpPr txBox="1"/>
          <p:nvPr/>
        </p:nvSpPr>
        <p:spPr>
          <a:xfrm>
            <a:off x="6967728" y="5166360"/>
            <a:ext cx="2002536" cy="502920"/>
          </a:xfrm>
          <a:prstGeom prst="rect">
            <a:avLst/>
          </a:prstGeom>
          <a:noFill/>
          <a:ln/>
        </p:spPr>
        <p:txBody>
          <a:bodyPr wrap="square" lIns="0" tIns="0" rIns="0" bIns="0" rtlCol="0" anchor="ctr"/>
          <a:lstStyle/>
          <a:p>
            <a:pPr marL="0" indent="0" algn="ctr">
              <a:buNone/>
            </a:pPr>
            <a:r>
              <a:rPr lang="en-US" sz="1200" dirty="0">
                <a:solidFill>
                  <a:srgbClr val="334155"/>
                </a:solidFill>
              </a:rPr>
              <a:t>Entra ID and Active Directory</a:t>
            </a:r>
            <a:endParaRPr lang="en-US" sz="1200" dirty="0"/>
          </a:p>
        </p:txBody>
      </p:sp>
      <p:sp>
        <p:nvSpPr>
          <p:cNvPr id="29" name="Shape 24"/>
          <p:cNvSpPr/>
          <p:nvPr/>
        </p:nvSpPr>
        <p:spPr>
          <a:xfrm>
            <a:off x="9070848" y="5417820"/>
            <a:ext cx="237744" cy="0"/>
          </a:xfrm>
          <a:prstGeom prst="line">
            <a:avLst/>
          </a:prstGeom>
          <a:noFill/>
          <a:ln w="22225">
            <a:solidFill>
              <a:srgbClr val="64748B"/>
            </a:solidFill>
            <a:prstDash val="solid"/>
            <a:tailEnd type="triangle"/>
          </a:ln>
        </p:spPr>
      </p:sp>
      <p:sp>
        <p:nvSpPr>
          <p:cNvPr id="30" name="Stack 4"/>
          <p:cNvSpPr/>
          <p:nvPr/>
        </p:nvSpPr>
        <p:spPr>
          <a:xfrm>
            <a:off x="9336024" y="5166360"/>
            <a:ext cx="2148840" cy="502920"/>
          </a:xfrm>
          <a:prstGeom prst="roundRect">
            <a:avLst>
              <a:gd name="adj" fmla="val 14545"/>
            </a:avLst>
          </a:prstGeom>
          <a:solidFill>
            <a:srgbClr val="FFFFFF"/>
          </a:solidFill>
          <a:ln w="12700">
            <a:solidFill>
              <a:srgbClr val="CBD5E1"/>
            </a:solidFill>
            <a:prstDash val="solid"/>
          </a:ln>
          <a:effectLst>
            <a:outerShdw blurRad="76200" dist="25400" dir="5400000" algn="bl" rotWithShape="0">
              <a:srgbClr val="64748B">
                <a:alpha val="22000"/>
              </a:srgbClr>
            </a:outerShdw>
          </a:effectLst>
        </p:spPr>
      </p:sp>
      <p:sp>
        <p:nvSpPr>
          <p:cNvPr id="31" name="Stack 4 text"/>
          <p:cNvSpPr txBox="1"/>
          <p:nvPr/>
        </p:nvSpPr>
        <p:spPr>
          <a:xfrm>
            <a:off x="9409176" y="5166360"/>
            <a:ext cx="2002536" cy="502920"/>
          </a:xfrm>
          <a:prstGeom prst="rect">
            <a:avLst/>
          </a:prstGeom>
          <a:noFill/>
          <a:ln/>
        </p:spPr>
        <p:txBody>
          <a:bodyPr wrap="square" lIns="0" tIns="0" rIns="0" bIns="0" rtlCol="0" anchor="ctr"/>
          <a:lstStyle/>
          <a:p>
            <a:pPr marL="0" indent="0" algn="ctr">
              <a:buNone/>
            </a:pPr>
            <a:r>
              <a:rPr lang="en-US" sz="1200" dirty="0">
                <a:solidFill>
                  <a:srgbClr val="334155"/>
                </a:solidFill>
              </a:rPr>
              <a:t>Access packages, lifecycle workflows, PIV</a:t>
            </a:r>
            <a:endParaRPr lang="en-US" sz="1200" dirty="0"/>
          </a:p>
        </p:txBody>
      </p:sp>
      <p:sp>
        <p:nvSpPr>
          <p:cNvPr id="32"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33" name="Narration">
            <a:hlinkClick r:id="" action="ppaction://media"/>
            <a:extLst>
              <a:ext uri="{FF2B5EF4-FFF2-40B4-BE49-F238E27FC236}">
                <a16:creationId xmlns:a16="http://schemas.microsoft.com/office/drawing/2014/main" id="{6CAA2D7F-01D2-1E64-01C3-56E460BE968F}"/>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90140"/>
    </mc:Choice>
    <mc:Fallback>
      <p:transition spd="slow" advTm="901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89136" fill="hold"/>
                                        <p:tgtEl>
                                          <p:spTgt spid="3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buNone/>
            </a:pPr>
            <a:r>
              <a:rPr lang="en-US" sz="3000" b="1" dirty="0">
                <a:solidFill>
                  <a:schemeClr val="tx1"/>
                </a:solidFill>
                <a:latin typeface="Cambria" pitchFamily="34" charset="0"/>
                <a:ea typeface="Cambria" pitchFamily="34" charset="-122"/>
                <a:cs typeface="Cambria" pitchFamily="34" charset="-120"/>
              </a:rPr>
              <a:t>How we’ll know it works — and what I need</a:t>
            </a:r>
            <a:endParaRPr lang="en-US" sz="3000" dirty="0"/>
          </a:p>
        </p:txBody>
      </p:sp>
      <p:sp>
        <p:nvSpPr>
          <p:cNvPr id="3" name="Tag How"/>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Measures head"/>
          <p:cNvSpPr txBox="1"/>
          <p:nvPr/>
        </p:nvSpPr>
        <p:spPr>
          <a:xfrm>
            <a:off x="548640" y="1280160"/>
            <a:ext cx="6035040" cy="320040"/>
          </a:xfrm>
          <a:prstGeom prst="rect">
            <a:avLst/>
          </a:prstGeom>
          <a:noFill/>
          <a:ln/>
        </p:spPr>
        <p:txBody>
          <a:bodyPr wrap="square" lIns="0" tIns="0" rIns="0" bIns="0" rtlCol="0" anchor="t"/>
          <a:lstStyle/>
          <a:p>
            <a:pPr marL="0" indent="0">
              <a:buNone/>
            </a:pPr>
            <a:r>
              <a:rPr lang="en-US" sz="1200" b="1" dirty="0">
                <a:solidFill>
                  <a:srgbClr val="64748B"/>
                </a:solidFill>
              </a:rPr>
              <a:t>MEASURES, BASELINED IN THE FIRST PHASE</a:t>
            </a:r>
            <a:endParaRPr lang="en-US" sz="1200" dirty="0"/>
          </a:p>
        </p:txBody>
      </p:sp>
      <p:sp>
        <p:nvSpPr>
          <p:cNvPr id="6" name="Measure 1"/>
          <p:cNvSpPr/>
          <p:nvPr/>
        </p:nvSpPr>
        <p:spPr>
          <a:xfrm>
            <a:off x="548640" y="1691640"/>
            <a:ext cx="6035040" cy="694944"/>
          </a:xfrm>
          <a:prstGeom prst="roundRect">
            <a:avLst>
              <a:gd name="adj" fmla="val 10526"/>
            </a:avLst>
          </a:prstGeom>
          <a:solidFill>
            <a:srgbClr val="E9EEF4"/>
          </a:solidFill>
          <a:ln w="12700">
            <a:solidFill>
              <a:srgbClr val="CBD5E1"/>
            </a:solidFill>
            <a:prstDash val="solid"/>
          </a:ln>
          <a:effectLst>
            <a:outerShdw blurRad="76200" dist="25400" dir="5400000" algn="bl" rotWithShape="0">
              <a:srgbClr val="64748B">
                <a:alpha val="22000"/>
              </a:srgbClr>
            </a:outerShdw>
          </a:effectLst>
        </p:spPr>
      </p:sp>
      <p:sp>
        <p:nvSpPr>
          <p:cNvPr id="7" name="Icon FaUserXmark"/>
          <p:cNvSpPr/>
          <p:nvPr/>
        </p:nvSpPr>
        <p:spPr>
          <a:xfrm>
            <a:off x="685800" y="1792224"/>
            <a:ext cx="493776" cy="493776"/>
          </a:xfrm>
          <a:prstGeom prst="ellipse">
            <a:avLst/>
          </a:prstGeom>
          <a:solidFill>
            <a:srgbClr val="B91C1C"/>
          </a:solidFill>
          <a:ln w="12700">
            <a:solidFill>
              <a:srgbClr val="B91C1C"/>
            </a:solidFill>
            <a:prstDash val="solid"/>
          </a:ln>
        </p:spPr>
      </p:sp>
      <p:pic>
        <p:nvPicPr>
          <p:cNvPr id="8" name="Image 0" descr="C:\Users\whale\AppData\Local\Temp\claude\C--Users-whale-git-uiao-inbox\cbd5b766-acc0-4006-9202-a9bb6b23e97b\scratchpad\deck\icons\FaUserXmark.png"/>
          <p:cNvPicPr>
            <a:picLocks noChangeAspect="1"/>
          </p:cNvPicPr>
          <p:nvPr/>
        </p:nvPicPr>
        <p:blipFill>
          <a:blip r:embed="rId5"/>
          <a:stretch>
            <a:fillRect/>
          </a:stretch>
        </p:blipFill>
        <p:spPr>
          <a:xfrm>
            <a:off x="804306" y="1910730"/>
            <a:ext cx="256764" cy="256764"/>
          </a:xfrm>
          <a:prstGeom prst="rect">
            <a:avLst/>
          </a:prstGeom>
        </p:spPr>
      </p:pic>
      <p:sp>
        <p:nvSpPr>
          <p:cNvPr id="9" name="Measure 1 text"/>
          <p:cNvSpPr txBox="1"/>
          <p:nvPr/>
        </p:nvSpPr>
        <p:spPr>
          <a:xfrm>
            <a:off x="1325880" y="1728216"/>
            <a:ext cx="5120640" cy="640080"/>
          </a:xfrm>
          <a:prstGeom prst="rect">
            <a:avLst/>
          </a:prstGeom>
          <a:noFill/>
          <a:ln/>
        </p:spPr>
        <p:txBody>
          <a:bodyPr wrap="square" lIns="0" tIns="0" rIns="0" bIns="0" rtlCol="0" anchor="ctr"/>
          <a:lstStyle/>
          <a:p>
            <a:pPr marL="0" indent="0">
              <a:buNone/>
            </a:pPr>
            <a:r>
              <a:rPr lang="en-US" sz="1550" b="1" dirty="0">
                <a:solidFill>
                  <a:srgbClr val="B91C1C"/>
                </a:solidFill>
              </a:rPr>
              <a:t>Separation to blocked access</a:t>
            </a:r>
            <a:endParaRPr lang="en-US" sz="1400" dirty="0"/>
          </a:p>
          <a:p>
            <a:pPr marL="0" indent="0">
              <a:buNone/>
            </a:pPr>
            <a:r>
              <a:rPr lang="en-US" sz="1350" dirty="0">
                <a:solidFill>
                  <a:schemeClr val="tx2"/>
                </a:solidFill>
              </a:rPr>
              <a:t>Within hours — PIV termination standard is 18 hours</a:t>
            </a:r>
            <a:endParaRPr lang="en-US" sz="1400" dirty="0"/>
          </a:p>
        </p:txBody>
      </p:sp>
      <p:sp>
        <p:nvSpPr>
          <p:cNvPr id="10" name="Measure 2"/>
          <p:cNvSpPr/>
          <p:nvPr/>
        </p:nvSpPr>
        <p:spPr>
          <a:xfrm>
            <a:off x="548640" y="2478024"/>
            <a:ext cx="6035040" cy="694944"/>
          </a:xfrm>
          <a:prstGeom prst="roundRect">
            <a:avLst>
              <a:gd name="adj" fmla="val 10526"/>
            </a:avLst>
          </a:prstGeom>
          <a:solidFill>
            <a:srgbClr val="FFFFFF"/>
          </a:solidFill>
          <a:ln w="12700">
            <a:solidFill>
              <a:srgbClr val="CBD5E1"/>
            </a:solidFill>
            <a:prstDash val="solid"/>
          </a:ln>
          <a:effectLst>
            <a:outerShdw blurRad="76200" dist="25400" dir="5400000" algn="bl" rotWithShape="0">
              <a:srgbClr val="64748B">
                <a:alpha val="22000"/>
              </a:srgbClr>
            </a:outerShdw>
          </a:effectLst>
        </p:spPr>
      </p:sp>
      <p:sp>
        <p:nvSpPr>
          <p:cNvPr id="11" name="Icon FaFingerprint"/>
          <p:cNvSpPr/>
          <p:nvPr/>
        </p:nvSpPr>
        <p:spPr>
          <a:xfrm>
            <a:off x="685800" y="2578608"/>
            <a:ext cx="493776" cy="493776"/>
          </a:xfrm>
          <a:prstGeom prst="ellipse">
            <a:avLst/>
          </a:prstGeom>
          <a:solidFill>
            <a:srgbClr val="1F2A44"/>
          </a:solidFill>
          <a:ln w="12700">
            <a:solidFill>
              <a:srgbClr val="1F2A44"/>
            </a:solidFill>
            <a:prstDash val="solid"/>
          </a:ln>
        </p:spPr>
      </p:sp>
      <p:pic>
        <p:nvPicPr>
          <p:cNvPr id="12" name="Image 1" descr="C:\Users\whale\AppData\Local\Temp\claude\C--Users-whale-git-uiao-inbox\cbd5b766-acc0-4006-9202-a9bb6b23e97b\scratchpad\deck\icons\FaFingerprint.png"/>
          <p:cNvPicPr>
            <a:picLocks noChangeAspect="1"/>
          </p:cNvPicPr>
          <p:nvPr/>
        </p:nvPicPr>
        <p:blipFill>
          <a:blip r:embed="rId6"/>
          <a:stretch>
            <a:fillRect/>
          </a:stretch>
        </p:blipFill>
        <p:spPr>
          <a:xfrm>
            <a:off x="804306" y="2697114"/>
            <a:ext cx="256764" cy="256764"/>
          </a:xfrm>
          <a:prstGeom prst="rect">
            <a:avLst/>
          </a:prstGeom>
        </p:spPr>
      </p:pic>
      <p:sp>
        <p:nvSpPr>
          <p:cNvPr id="13" name="Measure 2 text"/>
          <p:cNvSpPr txBox="1"/>
          <p:nvPr/>
        </p:nvSpPr>
        <p:spPr>
          <a:xfrm>
            <a:off x="1325880" y="2514600"/>
            <a:ext cx="5120640" cy="640080"/>
          </a:xfrm>
          <a:prstGeom prst="rect">
            <a:avLst/>
          </a:prstGeom>
          <a:noFill/>
          <a:ln/>
        </p:spPr>
        <p:txBody>
          <a:bodyPr wrap="square" lIns="0" tIns="0" rIns="0" bIns="0" rtlCol="0" anchor="ctr"/>
          <a:lstStyle/>
          <a:p>
            <a:pPr marL="0" indent="0">
              <a:buNone/>
            </a:pPr>
            <a:r>
              <a:rPr lang="en-US" sz="1550" b="1" dirty="0">
                <a:solidFill>
                  <a:srgbClr val="1F2A44"/>
                </a:solidFill>
              </a:rPr>
              <a:t>Accounts tied to a person</a:t>
            </a:r>
            <a:endParaRPr lang="en-US" sz="1400" dirty="0"/>
          </a:p>
          <a:p>
            <a:pPr marL="0" indent="0">
              <a:buNone/>
            </a:pPr>
            <a:r>
              <a:rPr lang="en-US" sz="1350" dirty="0">
                <a:solidFill>
                  <a:schemeClr val="tx2"/>
                </a:solidFill>
              </a:rPr>
              <a:t>Orphaned accounts trend to zero</a:t>
            </a:r>
            <a:endParaRPr lang="en-US" sz="1400" dirty="0"/>
          </a:p>
        </p:txBody>
      </p:sp>
      <p:sp>
        <p:nvSpPr>
          <p:cNvPr id="14" name="Measure 3"/>
          <p:cNvSpPr/>
          <p:nvPr/>
        </p:nvSpPr>
        <p:spPr>
          <a:xfrm>
            <a:off x="548640" y="3264408"/>
            <a:ext cx="6035040" cy="694944"/>
          </a:xfrm>
          <a:prstGeom prst="roundRect">
            <a:avLst>
              <a:gd name="adj" fmla="val 10526"/>
            </a:avLst>
          </a:prstGeom>
          <a:solidFill>
            <a:srgbClr val="E9EEF4"/>
          </a:solidFill>
          <a:ln w="12700">
            <a:solidFill>
              <a:srgbClr val="CBD5E1"/>
            </a:solidFill>
            <a:prstDash val="solid"/>
          </a:ln>
          <a:effectLst>
            <a:outerShdw blurRad="76200" dist="25400" dir="5400000" algn="bl" rotWithShape="0">
              <a:srgbClr val="64748B">
                <a:alpha val="22000"/>
              </a:srgbClr>
            </a:outerShdw>
          </a:effectLst>
        </p:spPr>
      </p:sp>
      <p:sp>
        <p:nvSpPr>
          <p:cNvPr id="15" name="Icon FaUserClock"/>
          <p:cNvSpPr/>
          <p:nvPr/>
        </p:nvSpPr>
        <p:spPr>
          <a:xfrm>
            <a:off x="685800" y="3364992"/>
            <a:ext cx="493776" cy="493776"/>
          </a:xfrm>
          <a:prstGeom prst="ellipse">
            <a:avLst/>
          </a:prstGeom>
          <a:solidFill>
            <a:srgbClr val="0F766E"/>
          </a:solidFill>
          <a:ln w="12700">
            <a:solidFill>
              <a:srgbClr val="0F766E"/>
            </a:solidFill>
            <a:prstDash val="solid"/>
          </a:ln>
        </p:spPr>
      </p:sp>
      <p:pic>
        <p:nvPicPr>
          <p:cNvPr id="16" name="Image 2" descr="C:\Users\whale\AppData\Local\Temp\claude\C--Users-whale-git-uiao-inbox\cbd5b766-acc0-4006-9202-a9bb6b23e97b\scratchpad\deck\icons\FaUserClock.png"/>
          <p:cNvPicPr>
            <a:picLocks noChangeAspect="1"/>
          </p:cNvPicPr>
          <p:nvPr/>
        </p:nvPicPr>
        <p:blipFill>
          <a:blip r:embed="rId7"/>
          <a:stretch>
            <a:fillRect/>
          </a:stretch>
        </p:blipFill>
        <p:spPr>
          <a:xfrm>
            <a:off x="804306" y="3483498"/>
            <a:ext cx="256764" cy="256764"/>
          </a:xfrm>
          <a:prstGeom prst="rect">
            <a:avLst/>
          </a:prstGeom>
        </p:spPr>
      </p:pic>
      <p:sp>
        <p:nvSpPr>
          <p:cNvPr id="17" name="Measure 3 text"/>
          <p:cNvSpPr txBox="1"/>
          <p:nvPr/>
        </p:nvSpPr>
        <p:spPr>
          <a:xfrm>
            <a:off x="1325880" y="3300984"/>
            <a:ext cx="5120640" cy="640080"/>
          </a:xfrm>
          <a:prstGeom prst="rect">
            <a:avLst/>
          </a:prstGeom>
          <a:noFill/>
          <a:ln/>
        </p:spPr>
        <p:txBody>
          <a:bodyPr wrap="square" lIns="0" tIns="0" rIns="0" bIns="0" rtlCol="0" anchor="ctr"/>
          <a:lstStyle/>
          <a:p>
            <a:pPr marL="0" indent="0">
              <a:buNone/>
            </a:pPr>
            <a:r>
              <a:rPr lang="en-US" sz="1550" b="1" dirty="0">
                <a:solidFill>
                  <a:srgbClr val="0F766E"/>
                </a:solidFill>
              </a:rPr>
              <a:t>Joiner and mover tickets</a:t>
            </a:r>
            <a:endParaRPr lang="en-US" sz="1400" dirty="0"/>
          </a:p>
          <a:p>
            <a:pPr marL="0" indent="0">
              <a:buNone/>
            </a:pPr>
            <a:r>
              <a:rPr lang="en-US" sz="1350" dirty="0">
                <a:solidFill>
                  <a:schemeClr val="tx2"/>
                </a:solidFill>
              </a:rPr>
              <a:t>Volume down; access on day one</a:t>
            </a:r>
            <a:endParaRPr lang="en-US" sz="1400" dirty="0"/>
          </a:p>
        </p:txBody>
      </p:sp>
      <p:sp>
        <p:nvSpPr>
          <p:cNvPr id="18" name="Measure 4"/>
          <p:cNvSpPr/>
          <p:nvPr/>
        </p:nvSpPr>
        <p:spPr>
          <a:xfrm>
            <a:off x="548640" y="4050792"/>
            <a:ext cx="6035040" cy="694944"/>
          </a:xfrm>
          <a:prstGeom prst="roundRect">
            <a:avLst>
              <a:gd name="adj" fmla="val 10526"/>
            </a:avLst>
          </a:prstGeom>
          <a:solidFill>
            <a:srgbClr val="FFFFFF"/>
          </a:solidFill>
          <a:ln w="12700">
            <a:solidFill>
              <a:srgbClr val="CBD5E1"/>
            </a:solidFill>
            <a:prstDash val="solid"/>
          </a:ln>
          <a:effectLst>
            <a:outerShdw blurRad="76200" dist="25400" dir="5400000" algn="bl" rotWithShape="0">
              <a:srgbClr val="64748B">
                <a:alpha val="22000"/>
              </a:srgbClr>
            </a:outerShdw>
          </a:effectLst>
        </p:spPr>
      </p:sp>
      <p:sp>
        <p:nvSpPr>
          <p:cNvPr id="19" name="Icon FaAddressBook"/>
          <p:cNvSpPr/>
          <p:nvPr/>
        </p:nvSpPr>
        <p:spPr>
          <a:xfrm>
            <a:off x="685800" y="4151376"/>
            <a:ext cx="493776" cy="493776"/>
          </a:xfrm>
          <a:prstGeom prst="ellipse">
            <a:avLst/>
          </a:prstGeom>
          <a:solidFill>
            <a:srgbClr val="1F2A44"/>
          </a:solidFill>
          <a:ln w="12700">
            <a:solidFill>
              <a:srgbClr val="1F2A44"/>
            </a:solidFill>
            <a:prstDash val="solid"/>
          </a:ln>
        </p:spPr>
      </p:sp>
      <p:pic>
        <p:nvPicPr>
          <p:cNvPr id="20" name="Image 3" descr="C:\Users\whale\AppData\Local\Temp\claude\C--Users-whale-git-uiao-inbox\cbd5b766-acc0-4006-9202-a9bb6b23e97b\scratchpad\deck\icons\FaAddressBook.png"/>
          <p:cNvPicPr>
            <a:picLocks noChangeAspect="1"/>
          </p:cNvPicPr>
          <p:nvPr/>
        </p:nvPicPr>
        <p:blipFill>
          <a:blip r:embed="rId8"/>
          <a:stretch>
            <a:fillRect/>
          </a:stretch>
        </p:blipFill>
        <p:spPr>
          <a:xfrm>
            <a:off x="804306" y="4269882"/>
            <a:ext cx="256764" cy="256764"/>
          </a:xfrm>
          <a:prstGeom prst="rect">
            <a:avLst/>
          </a:prstGeom>
        </p:spPr>
      </p:pic>
      <p:sp>
        <p:nvSpPr>
          <p:cNvPr id="21" name="Measure 4 text"/>
          <p:cNvSpPr txBox="1"/>
          <p:nvPr/>
        </p:nvSpPr>
        <p:spPr>
          <a:xfrm>
            <a:off x="1325880" y="4087368"/>
            <a:ext cx="5120640" cy="640080"/>
          </a:xfrm>
          <a:prstGeom prst="rect">
            <a:avLst/>
          </a:prstGeom>
          <a:noFill/>
          <a:ln/>
        </p:spPr>
        <p:txBody>
          <a:bodyPr wrap="square" lIns="0" tIns="0" rIns="0" bIns="0" rtlCol="0" anchor="ctr"/>
          <a:lstStyle/>
          <a:p>
            <a:pPr marL="0" indent="0">
              <a:buNone/>
            </a:pPr>
            <a:r>
              <a:rPr lang="en-US" sz="1550" b="1" dirty="0">
                <a:solidFill>
                  <a:srgbClr val="1F2A44"/>
                </a:solidFill>
              </a:rPr>
              <a:t>Directory accuracy</a:t>
            </a:r>
            <a:endParaRPr lang="en-US" sz="1400" dirty="0"/>
          </a:p>
          <a:p>
            <a:pPr marL="0" indent="0">
              <a:buNone/>
            </a:pPr>
            <a:r>
              <a:rPr lang="en-US" sz="1350" dirty="0">
                <a:solidFill>
                  <a:schemeClr val="tx2"/>
                </a:solidFill>
              </a:rPr>
              <a:t>Manager and organization match HR</a:t>
            </a:r>
            <a:endParaRPr lang="en-US" sz="1400" dirty="0"/>
          </a:p>
        </p:txBody>
      </p:sp>
      <p:sp>
        <p:nvSpPr>
          <p:cNvPr id="22" name="Measure 5"/>
          <p:cNvSpPr/>
          <p:nvPr/>
        </p:nvSpPr>
        <p:spPr>
          <a:xfrm>
            <a:off x="548640" y="4837176"/>
            <a:ext cx="6035040" cy="694944"/>
          </a:xfrm>
          <a:prstGeom prst="roundRect">
            <a:avLst>
              <a:gd name="adj" fmla="val 10526"/>
            </a:avLst>
          </a:prstGeom>
          <a:solidFill>
            <a:srgbClr val="E9EEF4"/>
          </a:solidFill>
          <a:ln w="12700">
            <a:solidFill>
              <a:srgbClr val="CBD5E1"/>
            </a:solidFill>
            <a:prstDash val="solid"/>
          </a:ln>
          <a:effectLst>
            <a:outerShdw blurRad="76200" dist="25400" dir="5400000" algn="bl" rotWithShape="0">
              <a:srgbClr val="64748B">
                <a:alpha val="22000"/>
              </a:srgbClr>
            </a:outerShdw>
          </a:effectLst>
        </p:spPr>
      </p:sp>
      <p:sp>
        <p:nvSpPr>
          <p:cNvPr id="23" name="Icon FaTriangleExclamation"/>
          <p:cNvSpPr/>
          <p:nvPr/>
        </p:nvSpPr>
        <p:spPr>
          <a:xfrm>
            <a:off x="685800" y="4937760"/>
            <a:ext cx="493776" cy="493776"/>
          </a:xfrm>
          <a:prstGeom prst="ellipse">
            <a:avLst/>
          </a:prstGeom>
          <a:solidFill>
            <a:srgbClr val="B45309"/>
          </a:solidFill>
          <a:ln w="12700">
            <a:solidFill>
              <a:srgbClr val="B45309"/>
            </a:solidFill>
            <a:prstDash val="solid"/>
          </a:ln>
        </p:spPr>
      </p:sp>
      <p:pic>
        <p:nvPicPr>
          <p:cNvPr id="24" name="Image 4" descr="C:\Users\whale\AppData\Local\Temp\claude\C--Users-whale-git-uiao-inbox\cbd5b766-acc0-4006-9202-a9bb6b23e97b\scratchpad\deck\icons\FaTriangleExclamation.png"/>
          <p:cNvPicPr>
            <a:picLocks noChangeAspect="1"/>
          </p:cNvPicPr>
          <p:nvPr/>
        </p:nvPicPr>
        <p:blipFill>
          <a:blip r:embed="rId9"/>
          <a:stretch>
            <a:fillRect/>
          </a:stretch>
        </p:blipFill>
        <p:spPr>
          <a:xfrm>
            <a:off x="804306" y="5056266"/>
            <a:ext cx="256764" cy="256764"/>
          </a:xfrm>
          <a:prstGeom prst="rect">
            <a:avLst/>
          </a:prstGeom>
        </p:spPr>
      </p:pic>
      <p:sp>
        <p:nvSpPr>
          <p:cNvPr id="25" name="Measure 5 text"/>
          <p:cNvSpPr txBox="1"/>
          <p:nvPr/>
        </p:nvSpPr>
        <p:spPr>
          <a:xfrm>
            <a:off x="1325880" y="4873752"/>
            <a:ext cx="5120640" cy="640080"/>
          </a:xfrm>
          <a:prstGeom prst="rect">
            <a:avLst/>
          </a:prstGeom>
          <a:noFill/>
          <a:ln/>
        </p:spPr>
        <p:txBody>
          <a:bodyPr wrap="square" lIns="0" tIns="0" rIns="0" bIns="0" rtlCol="0" anchor="ctr"/>
          <a:lstStyle/>
          <a:p>
            <a:pPr marL="0" indent="0">
              <a:buNone/>
            </a:pPr>
            <a:r>
              <a:rPr lang="en-US" sz="1550" b="1" dirty="0">
                <a:solidFill>
                  <a:srgbClr val="B45309"/>
                </a:solidFill>
              </a:rPr>
              <a:t>Exceptions</a:t>
            </a:r>
            <a:endParaRPr lang="en-US" sz="1400" dirty="0"/>
          </a:p>
          <a:p>
            <a:pPr marL="0" indent="0">
              <a:buNone/>
            </a:pPr>
            <a:r>
              <a:rPr lang="en-US" sz="1350" dirty="0">
                <a:solidFill>
                  <a:schemeClr val="tx2"/>
                </a:solidFill>
              </a:rPr>
              <a:t>Each has an owner and an age</a:t>
            </a:r>
            <a:endParaRPr lang="en-US" sz="1400" dirty="0"/>
          </a:p>
        </p:txBody>
      </p:sp>
      <p:sp>
        <p:nvSpPr>
          <p:cNvPr id="26" name="Ask box"/>
          <p:cNvSpPr/>
          <p:nvPr/>
        </p:nvSpPr>
        <p:spPr>
          <a:xfrm>
            <a:off x="6812280" y="1280160"/>
            <a:ext cx="4846320" cy="4846320"/>
          </a:xfrm>
          <a:prstGeom prst="roundRect">
            <a:avLst>
              <a:gd name="adj" fmla="val 1509"/>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27" name="Icon FaLightbulb"/>
          <p:cNvSpPr/>
          <p:nvPr/>
        </p:nvSpPr>
        <p:spPr>
          <a:xfrm>
            <a:off x="7040880" y="1463040"/>
            <a:ext cx="685800" cy="685800"/>
          </a:xfrm>
          <a:prstGeom prst="ellipse">
            <a:avLst/>
          </a:prstGeom>
          <a:solidFill>
            <a:srgbClr val="B45309"/>
          </a:solidFill>
          <a:ln w="12700">
            <a:solidFill>
              <a:srgbClr val="B45309"/>
            </a:solidFill>
            <a:prstDash val="solid"/>
          </a:ln>
        </p:spPr>
      </p:sp>
      <p:pic>
        <p:nvPicPr>
          <p:cNvPr id="28" name="Image 5" descr="C:\Users\whale\AppData\Local\Temp\claude\C--Users-whale-git-uiao-inbox\cbd5b766-acc0-4006-9202-a9bb6b23e97b\scratchpad\deck\icons\FaLightbulb.png"/>
          <p:cNvPicPr>
            <a:picLocks noChangeAspect="1"/>
          </p:cNvPicPr>
          <p:nvPr/>
        </p:nvPicPr>
        <p:blipFill>
          <a:blip r:embed="rId10"/>
          <a:stretch>
            <a:fillRect/>
          </a:stretch>
        </p:blipFill>
        <p:spPr>
          <a:xfrm>
            <a:off x="7205472" y="1627632"/>
            <a:ext cx="356616" cy="356616"/>
          </a:xfrm>
          <a:prstGeom prst="rect">
            <a:avLst/>
          </a:prstGeom>
        </p:spPr>
      </p:pic>
      <p:sp>
        <p:nvSpPr>
          <p:cNvPr id="29" name="Ask head"/>
          <p:cNvSpPr txBox="1"/>
          <p:nvPr/>
        </p:nvSpPr>
        <p:spPr>
          <a:xfrm>
            <a:off x="7863840" y="1463040"/>
            <a:ext cx="3657600" cy="685800"/>
          </a:xfrm>
          <a:prstGeom prst="rect">
            <a:avLst/>
          </a:prstGeom>
          <a:noFill/>
          <a:ln/>
        </p:spPr>
        <p:txBody>
          <a:bodyPr wrap="square" lIns="0" tIns="0" rIns="0" bIns="0" rtlCol="0" anchor="ctr"/>
          <a:lstStyle/>
          <a:p>
            <a:pPr marL="0" indent="0">
              <a:buNone/>
            </a:pPr>
            <a:r>
              <a:rPr lang="en-US" sz="1900" b="1" dirty="0">
                <a:solidFill>
                  <a:srgbClr val="B45309"/>
                </a:solidFill>
                <a:latin typeface="Cambria" pitchFamily="34" charset="0"/>
                <a:ea typeface="Cambria" pitchFamily="34" charset="-122"/>
                <a:cs typeface="Cambria" pitchFamily="34" charset="-120"/>
              </a:rPr>
              <a:t>What I’d need from leadership</a:t>
            </a:r>
            <a:endParaRPr lang="en-US" sz="1900" dirty="0"/>
          </a:p>
        </p:txBody>
      </p:sp>
      <p:sp>
        <p:nvSpPr>
          <p:cNvPr id="30" name="Ask text"/>
          <p:cNvSpPr txBox="1"/>
          <p:nvPr/>
        </p:nvSpPr>
        <p:spPr>
          <a:xfrm>
            <a:off x="7040880" y="2331720"/>
            <a:ext cx="4434840" cy="3657600"/>
          </a:xfrm>
          <a:prstGeom prst="rect">
            <a:avLst/>
          </a:prstGeom>
          <a:noFill/>
          <a:ln/>
        </p:spPr>
        <p:txBody>
          <a:bodyPr wrap="square" lIns="0" tIns="0" rIns="0" bIns="0" rtlCol="0" anchor="t"/>
          <a:lstStyle/>
          <a:p>
            <a:pPr marL="0" indent="0">
              <a:spcAft>
                <a:spcPts val="600"/>
              </a:spcAft>
              <a:buNone/>
            </a:pPr>
            <a:r>
              <a:rPr lang="en-US" sz="1500" b="1" dirty="0">
                <a:solidFill>
                  <a:srgbClr val="1F2A44"/>
                </a:solidFill>
              </a:rPr>
              <a:t>One decision: </a:t>
            </a:r>
            <a:r>
              <a:rPr lang="en-US" sz="1500" dirty="0">
                <a:solidFill>
                  <a:schemeClr val="tx2"/>
                </a:solidFill>
              </a:rPr>
              <a:t>start HR-driven identity now, as a design requirement of the HR 2.0 onboarding and the Entra ID migration.</a:t>
            </a:r>
            <a:endParaRPr lang="en-US" sz="1500" dirty="0"/>
          </a:p>
          <a:p>
            <a:pPr marL="342900" indent="-342900">
              <a:spcAft>
                <a:spcPts val="600"/>
              </a:spcAft>
              <a:buSzPct val="100000"/>
              <a:buChar char="•"/>
            </a:pPr>
            <a:r>
              <a:rPr lang="en-US" sz="1450" dirty="0">
                <a:solidFill>
                  <a:schemeClr val="tx2"/>
                </a:solidFill>
              </a:rPr>
              <a:t>A sponsor across HR, the CIO’s identity team and privacy</a:t>
            </a:r>
            <a:endParaRPr lang="en-US" sz="1500" dirty="0"/>
          </a:p>
          <a:p>
            <a:pPr marL="342900" indent="-342900">
              <a:spcAft>
                <a:spcPts val="600"/>
              </a:spcAft>
              <a:buSzPct val="100000"/>
              <a:buChar char="•"/>
            </a:pPr>
            <a:r>
              <a:rPr lang="en-US" sz="1450" dirty="0">
                <a:solidFill>
                  <a:schemeClr val="tx2"/>
                </a:solidFill>
              </a:rPr>
              <a:t>Identity named as a consumer in the HR 2.0 interconnection plan</a:t>
            </a:r>
            <a:endParaRPr lang="en-US" sz="1500" dirty="0"/>
          </a:p>
          <a:p>
            <a:pPr marL="342900" indent="-342900">
              <a:spcAft>
                <a:spcPts val="600"/>
              </a:spcAft>
              <a:buSzPct val="100000"/>
              <a:buChar char="•"/>
            </a:pPr>
            <a:r>
              <a:rPr lang="en-US" sz="1450" dirty="0">
                <a:solidFill>
                  <a:schemeClr val="tx2"/>
                </a:solidFill>
              </a:rPr>
              <a:t>Data owners designated; the Mainframe PIN confirmed as the person key</a:t>
            </a:r>
            <a:endParaRPr lang="en-US" sz="1500" dirty="0"/>
          </a:p>
          <a:p>
            <a:pPr marL="342900" indent="-342900">
              <a:spcAft>
                <a:spcPts val="600"/>
              </a:spcAft>
              <a:buSzPct val="100000"/>
              <a:buChar char="•"/>
            </a:pPr>
            <a:r>
              <a:rPr lang="en-US" sz="1450" dirty="0">
                <a:solidFill>
                  <a:schemeClr val="tx2"/>
                </a:solidFill>
              </a:rPr>
              <a:t>A small team for the pre-onboarding data work</a:t>
            </a:r>
            <a:endParaRPr lang="en-US" sz="1500" dirty="0"/>
          </a:p>
        </p:txBody>
      </p:sp>
      <p:sp>
        <p:nvSpPr>
          <p:cNvPr id="31"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32" name="Narration">
            <a:hlinkClick r:id="" action="ppaction://media"/>
            <a:extLst>
              <a:ext uri="{FF2B5EF4-FFF2-40B4-BE49-F238E27FC236}">
                <a16:creationId xmlns:a16="http://schemas.microsoft.com/office/drawing/2014/main" id="{EFDCDF59-6B65-28D9-2F9A-45E6BD5B2BAF}"/>
              </a:ext>
            </a:extLst>
          </p:cNvPr>
          <p:cNvPicPr>
            <a:picLocks noChangeAspect="1"/>
          </p:cNvPicPr>
          <p:nvPr>
            <a:audioFile r:link="rId2"/>
            <p:extLst>
              <p:ext uri="{DAA4B4D4-6D71-4841-9C94-3DE7FCFB9230}">
                <p14:media xmlns:p14="http://schemas.microsoft.com/office/powerpoint/2010/main" r:embed="rId1"/>
              </p:ext>
            </p:extLst>
          </p:nvPr>
        </p:nvPicPr>
        <p:blipFill>
          <a:blip r:embed="rId11"/>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0310"/>
    </mc:Choice>
    <mc:Fallback>
      <p:transition spd="slow" advTm="703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9312" fill="hold"/>
                                        <p:tgtEl>
                                          <p:spTgt spid="3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HR-Driven Identity">
  <a:themeElements>
    <a:clrScheme name="HR-Driven Identity">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HR-Driven Identit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2958</Words>
  <Application>Microsoft Office PowerPoint</Application>
  <PresentationFormat>Widescreen</PresentationFormat>
  <Paragraphs>155</Paragraphs>
  <Slides>7</Slides>
  <Notes>7</Notes>
  <HiddenSlides>0</HiddenSlides>
  <MMClips>7</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Cambria</vt:lpstr>
      <vt:lpstr>HR-Driven Identity</vt:lpstr>
      <vt:lpstr>HR-Driven Identity Modernization</vt:lpstr>
      <vt:lpstr>Identity is built by hand — and the mission is outgrowing it</vt:lpstr>
      <vt:lpstr>Four options, weighed against what leadership must balance</vt:lpstr>
      <vt:lpstr>Recommendation: HR as the source of truth, starting now</vt:lpstr>
      <vt:lpstr>Who: the owners, the partners, and my role</vt:lpstr>
      <vt:lpstr>How: data, security and operations</vt:lpstr>
      <vt:lpstr>How we’ll know it works — and what I need</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HR-Driven Identity</dc:title>
  <dc:subject>PptxGenJS Presentation</dc:subject>
  <dc:creator>Mike Stratton</dc:creator>
  <cp:lastModifiedBy>Michael Stratton</cp:lastModifiedBy>
  <cp:revision>2</cp:revision>
  <dcterms:created xsi:type="dcterms:W3CDTF">2026-10-20T01:44:47Z</dcterms:created>
  <dcterms:modified xsi:type="dcterms:W3CDTF">2026-10-20T02:02:17Z</dcterms:modified>
</cp:coreProperties>
</file>