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91176a99-c8a7-fadb-a1f1-ce6ce953cf29}">
          <p14:sldIdLst>
            <p14:sldId id="256"/>
            <p14:sldId id="257"/>
          </p14:sldIdLst>
        </p14:section>
        <p14:section name="Options" id="{3b1f1646-2dc6-1d16-0854-85814b3d61dd}">
          <p14:sldIdLst>
            <p14:sldId id="258"/>
            <p14:sldId id="259"/>
          </p14:sldIdLst>
        </p14:section>
        <p14:section name="Position" id="{71055f10-fc87-a86f-25d7-59a147a4c7ce}">
          <p14:sldIdLst>
            <p14:sldId id="260"/>
            <p14:sldId id="261"/>
          </p14:sldIdLst>
        </p14:section>
        <p14:section name="Sequence" id="{08d8d70d-7030-7ab7-d43f-04123420329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published Federal HR 2.0 scope centers on the federal employee lifecycle,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maintain contractor information in several operational contexts. Evaluate them as candidate authorities, give each fact one authority, and hang the record on an accountable federal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establishes contractor treatment in the sources reviewed.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Federal lifecycle guidance, including GSA's ILM Playbook, calls for an authoritative personnel source for identity creation and termination, and CDM's master user record must include contractors. Employee HR may not carry them, so contractors need an equivalent authoritative personnel source. Something else has to be the authority, and it needs the same rigor as the HR record.
Sources: OMB/OPM, Creating Federal HR 2.0 (2025-12-10); GSA ILM Playbook v2.0; FIPS 201-3 and OMB M-19-17 cover employees and contractors; NIST SP 800-53 PS-7 (external personnel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Contractor information usually appears in several operational contexts.
COR spreadsheets: real, but kept per COR, with no common format or timing. They're evidence, not a source.
The contractor suitability register: many agencies keep one, under personnel security or contracting. It typically holds contractors working on agency contracts, with the suitability determination and its date. Its coverage, contract identifiers, lifecycle fields, owner, interface and update cadence require validation.
PIV enrollment: the credentialing system enrolls employees, contractors and other personnel. It covers identity proofing and background-investigation workflows, and the card management system issues the credential. That makes it a candidate source for proofing and credential status; its authoritative fields and population coverage require confirmation.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an explicit authoritative assignment; the sponsor's organization is a default only where policy confirms that relationship.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proposed sponsored-identity pattern, with an accountable sponsor, a governed engagement record, identity linkage, recertification and explicit end conditions. The PIV cross-check follows FIPS 201-3; separation follows NIST SP 800-53 PS-4 and PS-7.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may already get the enterprise key with their PIV card, confirm coverage and timing. The question is also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unmatched accounts, unmatched contractor records, credential mismatches, and any records the available source shows as expired or inactive.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indent="0" marL="0">
              <a:buNone/>
            </a:pPr>
            <a:r>
              <a:rPr lang="en-US" sz="1600" dirty="0">
                <a:solidFill>
                  <a:srgbClr val="334155"/>
                </a:solidFill>
              </a:rPr>
              <a:t>Published Federal HR 2.0 scope centers on federal employees. Most agencies hold several partial contractor records: evaluate them as candidate authorities for a governed sponsored-identity model.</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Companion to HR-Driven Identity  ·  leave-behind and Q&amp;A backup, not part of the 15-minute talk</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Contractors need an equivalent personnel authority</a:t>
            </a:r>
            <a:endParaRPr lang="en-US" sz="3000" dirty="0"/>
          </a:p>
        </p:txBody>
      </p:sp>
      <p:sp>
        <p:nvSpPr>
          <p:cNvPr id="3" name="Core HCM scope card"/>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BuildingColumns"/>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BuildingColumns.png">    </p:cNvPr>
          <p:cNvPicPr>
            <a:picLocks noChangeAspect="1"/>
          </p:cNvPicPr>
          <p:nvPr/>
        </p:nvPicPr>
        <p:blipFill>
          <a:blip r:embed="rId1"/>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Contractor treatment not established in the sources reviewed</a:t>
            </a:r>
            <a:endParaRPr lang="en-US" sz="1600" dirty="0"/>
          </a:p>
        </p:txBody>
      </p:sp>
      <p:sp>
        <p:nvSpPr>
          <p:cNvPr id="8" name="Today (observed) card"/>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9" name="Icon FaTableList"/>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descr="C:\Users\whale\git\uiao\inbox\SSA-Interview\build\icons\FaTableList.png">    </p:cNvPr>
          <p:cNvPicPr>
            <a:picLocks noChangeAspect="1"/>
          </p:cNvPicPr>
          <p:nvPr/>
        </p:nvPicPr>
        <p:blipFill>
          <a:blip r:embed="rId2"/>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caleBalanced"/>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descr="C:\Users\whale\git\uiao\inbox\SSA-Interview\build\icons\FaScaleBalanced.png">    </p:cNvPr>
          <p:cNvPicPr>
            <a:picLocks noChangeAspect="1"/>
          </p:cNvPicPr>
          <p:nvPr/>
        </p:nvPicPr>
        <p:blipFill>
          <a:blip r:embed="rId3"/>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lifecycle guidance: an authoritative personnel source for identity creation and termination</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Employee HR may not carry them</a:t>
            </a:r>
            <a:endParaRPr lang="en-US" sz="1600" dirty="0"/>
          </a:p>
        </p:txBody>
      </p:sp>
      <p:sp>
        <p:nvSpPr>
          <p:cNvPr id="18" name="Question band"/>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The design question: </a:t>
            </a:r>
            <a:pPr indent="0" marL="0">
              <a:buNone/>
            </a:pP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Three operational contexts hold contractor information</a:t>
            </a:r>
            <a:endParaRPr lang="en-US" sz="3000" dirty="0"/>
          </a:p>
        </p:txBody>
      </p:sp>
      <p:sp>
        <p:nvSpPr>
          <p:cNvPr id="3" name="COR spreadsheets box"/>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4" name="Icon FaTableList"/>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descr="C:\Users\whale\git\uiao\inbox\SSA-Interview\build\icons\FaTableList.png">    </p:cNvPr>
          <p:cNvPicPr>
            <a:picLocks noChangeAspect="1"/>
          </p:cNvPicPr>
          <p:nvPr/>
        </p:nvPicPr>
        <p:blipFill>
          <a:blip r:embed="rId1"/>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indent="0" marL="0">
              <a:buNone/>
            </a:pPr>
            <a:r>
              <a:rPr lang="en-US" sz="1400" dirty="0">
                <a:solidFill>
                  <a:schemeClr val="tx2"/>
                </a:solidFill>
              </a:rPr>
              <a:t>Kept per COR. Completeness, format and update timing vary.</a:t>
            </a:r>
            <a:endParaRPr lang="en-US" sz="1400" dirty="0"/>
          </a:p>
        </p:txBody>
      </p:sp>
      <p:sp>
        <p:nvSpPr>
          <p:cNvPr id="8" name="Shape 5"/>
          <p:cNvSpPr/>
          <p:nvPr/>
        </p:nvSpPr>
        <p:spPr>
          <a:xfrm>
            <a:off x="6035040" y="2034540"/>
            <a:ext cx="731520" cy="0"/>
          </a:xfrm>
          <a:prstGeom prst="line">
            <a:avLst/>
          </a:prstGeom>
          <a:noFill/>
          <a:ln w="22225">
            <a:solidFill>
              <a:srgbClr val="B91C1C"/>
            </a:solidFill>
            <a:prstDash val="dash"/>
          </a:ln>
        </p:spPr>
      </p:sp>
      <p:sp>
        <p:nvSpPr>
          <p:cNvPr id="9" name="Contractor suitability register box"/>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FileContract"/>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descr="C:\Users\whale\git\uiao\inbox\SSA-Interview\build\icons\FaFileContract.png">    </p:cNvPr>
          <p:cNvPicPr>
            <a:picLocks noChangeAspect="1"/>
          </p:cNvPicPr>
          <p:nvPr/>
        </p:nvPicPr>
        <p:blipFill>
          <a:blip r:embed="rId2"/>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indent="0" marL="0">
              <a:buNone/>
            </a:pPr>
            <a:r>
              <a:rPr lang="en-US" sz="1400" dirty="0">
                <a:solidFill>
                  <a:schemeClr val="tx2"/>
                </a:solidFill>
              </a:rPr>
              <a:t>Per public metadata: contractors on agency contracts, with suitability determination and date. Coverage to validate.</a:t>
            </a:r>
            <a:endParaRPr lang="en-US" sz="1400" dirty="0"/>
          </a:p>
        </p:txBody>
      </p:sp>
      <p:sp>
        <p:nvSpPr>
          <p:cNvPr id="14" name="Shape 10"/>
          <p:cNvSpPr/>
          <p:nvPr/>
        </p:nvSpPr>
        <p:spPr>
          <a:xfrm>
            <a:off x="6035040" y="3360420"/>
            <a:ext cx="731520" cy="0"/>
          </a:xfrm>
          <a:prstGeom prst="line">
            <a:avLst/>
          </a:prstGeom>
          <a:noFill/>
          <a:ln w="22225">
            <a:solidFill>
              <a:srgbClr val="B91C1C"/>
            </a:solidFill>
            <a:prstDash val="dash"/>
          </a:ln>
        </p:spPr>
      </p:sp>
      <p:sp>
        <p:nvSpPr>
          <p:cNvPr id="15" name="PIV enrollment box"/>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IdCard"/>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descr="C:\Users\whale\git\uiao\inbox\SSA-Interview\build\icons\FaIdCard.png">    </p:cNvPr>
          <p:cNvPicPr>
            <a:picLocks noChangeAspect="1"/>
          </p:cNvPicPr>
          <p:nvPr/>
        </p:nvPicPr>
        <p:blipFill>
          <a:blip r:embed="rId3"/>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indent="0" marL="0">
              <a:buNone/>
            </a:pPr>
            <a:r>
              <a:rPr lang="en-US" sz="1400" dirty="0">
                <a:solidFill>
                  <a:schemeClr val="tx2"/>
                </a:solidFill>
              </a:rPr>
              <a:t>Candidate source for proofing and credential status; authoritative fields and coverage to confirm.</a:t>
            </a:r>
            <a:endParaRPr lang="en-US" sz="1400" dirty="0"/>
          </a:p>
        </p:txBody>
      </p:sp>
      <p:sp>
        <p:nvSpPr>
          <p:cNvPr id="20" name="Shape 15"/>
          <p:cNvSpPr/>
          <p:nvPr/>
        </p:nvSpPr>
        <p:spPr>
          <a:xfrm>
            <a:off x="6035040" y="4686300"/>
            <a:ext cx="731520" cy="0"/>
          </a:xfrm>
          <a:prstGeom prst="line">
            <a:avLst/>
          </a:prstGeom>
          <a:noFill/>
          <a:ln w="22225">
            <a:solidFill>
              <a:srgbClr val="B91C1C"/>
            </a:solidFill>
            <a:prstDash val="dash"/>
          </a:ln>
        </p:spPr>
      </p:sp>
      <p:sp>
        <p:nvSpPr>
          <p:cNvPr id="21" name="Shape 16"/>
          <p:cNvSpPr/>
          <p:nvPr/>
        </p:nvSpPr>
        <p:spPr>
          <a:xfrm>
            <a:off x="6766560" y="2034540"/>
            <a:ext cx="0" cy="2651760"/>
          </a:xfrm>
          <a:prstGeom prst="line">
            <a:avLst/>
          </a:prstGeom>
          <a:noFill/>
          <a:ln w="22225">
            <a:solidFill>
              <a:srgbClr val="B91C1C"/>
            </a:solidFill>
            <a:prstDash val="dash"/>
          </a:ln>
        </p:spPr>
      </p:sp>
      <p:sp>
        <p:nvSpPr>
          <p:cNvPr id="22" name="Shape 17"/>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indent="0" marL="0">
              <a:buNone/>
            </a:pPr>
            <a:r>
              <a:rPr lang="en-US" sz="1300" b="1" dirty="0">
                <a:solidFill>
                  <a:srgbClr val="B91C1C"/>
                </a:solidFill>
              </a:rPr>
              <a:t>no feed today</a:t>
            </a:r>
            <a:endParaRPr lang="en-US" sz="1300" dirty="0"/>
          </a:p>
        </p:txBody>
      </p:sp>
      <p:sp>
        <p:nvSpPr>
          <p:cNvPr id="24" name="Directory box"/>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5" name="Icon FaCloud"/>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descr="C:\Users\whale\git\uiao\inbox\SSA-Interview\build\icons\FaCloud.png">    </p:cNvPr>
          <p:cNvPicPr>
            <a:picLocks noChangeAspect="1"/>
          </p:cNvPicPr>
          <p:nvPr/>
        </p:nvPicPr>
        <p:blipFill>
          <a:blip r:embed="rId4"/>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indent="0" marL="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indent="0" marL="0">
              <a:buNone/>
            </a:pPr>
            <a:r>
              <a:rPr lang="en-US" sz="1600" b="1" dirty="0">
                <a:solidFill>
                  <a:srgbClr val="64748B"/>
                </a:solidFill>
              </a:rPr>
              <a:t>Later, maybe: </a:t>
            </a:r>
            <a:pPr indent="0" marL="0">
              <a:buNone/>
            </a:pPr>
            <a:r>
              <a:rPr lang="en-US" sz="1600" dirty="0">
                <a:solidFill>
                  <a:schemeClr val="tx2"/>
                </a:solidFill>
              </a:rPr>
              <a:t>Core HCM’s Contingent Worker type, only if the agency configures it at Core HCM onboarding.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240280"/>
                <a:gridCol w="1691640"/>
                <a:gridCol w="1920240"/>
                <a:gridCol w="1783080"/>
                <a:gridCol w="16002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Contractors on agency contracts (coverage to validate)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 linkage, per metadata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r>
              <a:tr h="868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Takeaway band"/>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5" name="Takeaway band text"/>
          <p:cNvSpPr txBox="1"/>
          <p:nvPr/>
        </p:nvSpPr>
        <p:spPr>
          <a:xfrm>
            <a:off x="822960" y="564184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No single source is complete. </a:t>
            </a:r>
            <a:pPr indent="0" marL="0">
              <a:buNone/>
            </a:pPr>
            <a:r>
              <a:rPr lang="en-US" sz="1600" dirty="0">
                <a:solidFill>
                  <a:schemeClr val="tx2"/>
                </a:solidFill>
              </a:rPr>
              <a:t>Only a suitability register, where one exists, ties a person to an agency contract; validate it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017520"/>
                <a:gridCol w="47548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Explicit authoritative assignment; sponsor’s organization as a default only where policy confirms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issued to PIV-enabled contractors (confirm)</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Leaver card"/>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5" name="Icon FaUserXmark"/>
          <p:cNvSpPr/>
          <p:nvPr/>
        </p:nvSpPr>
        <p:spPr>
          <a:xfrm>
            <a:off x="8732520" y="1572768"/>
            <a:ext cx="502920" cy="502920"/>
          </a:xfrm>
          <a:prstGeom prst="ellipse">
            <a:avLst/>
          </a:prstGeom>
          <a:solidFill>
            <a:srgbClr val="B91C1C"/>
          </a:solidFill>
          <a:ln w="12700">
            <a:solidFill>
              <a:srgbClr val="B91C1C"/>
            </a:solidFill>
            <a:prstDash val="solid"/>
          </a:ln>
        </p:spPr>
      </p:sp>
      <p:pic>
        <p:nvPicPr>
          <p:cNvPr id="6" name="Image 0" descr="C:\Users\whale\git\uiao\inbox\SSA-Interview\build\icons\FaUserXmark.png">    </p:cNvPr>
          <p:cNvPicPr>
            <a:picLocks noChangeAspect="1"/>
          </p:cNvPicPr>
          <p:nvPr/>
        </p:nvPicPr>
        <p:blipFill>
          <a:blip r:embed="rId1"/>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indent="0" marL="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departs without timely reassignment</a:t>
            </a:r>
            <a:endParaRPr lang="en-US" sz="1500" dirty="0"/>
          </a:p>
          <a:p>
            <a:pPr marL="342900" indent="-342900">
              <a:spcAft>
                <a:spcPts val="800"/>
              </a:spcAft>
              <a:buSzPct val="100000"/>
              <a:buChar char="•"/>
            </a:pPr>
            <a:r>
              <a:rPr lang="en-US" sz="1500" dirty="0">
                <a:solidFill>
                  <a:schemeClr val="tx2"/>
                </a:solidFill>
              </a:rPr>
              <a:t>Sponsor recertification overdue under the approved interval</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200" i="1" dirty="0">
                <a:solidFill>
                  <a:srgbClr val="64748B"/>
                </a:solidFill>
              </a:rPr>
              <a:t>Proposed pattern: a sponsored identity record, with the suitability register as the candidate for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4" name="Icon FaUserTie"/>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descr="C:\Users\whale\git\uiao\inbox\SSA-Interview\build\icons\FaUserTie.png">    </p:cNvPr>
          <p:cNvPicPr>
            <a:picLocks noChangeAspect="1"/>
          </p:cNvPicPr>
          <p:nvPr/>
        </p:nvPicPr>
        <p:blipFill>
          <a:blip r:embed="rId1"/>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indent="0" marL="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leContract"/>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descr="C:\Users\whale\git\uiao\inbox\SSA-Interview\build\icons\FaFileContract.png">    </p:cNvPr>
          <p:cNvPicPr>
            <a:picLocks noChangeAspect="1"/>
          </p:cNvPicPr>
          <p:nvPr/>
        </p:nvPicPr>
        <p:blipFill>
          <a:blip r:embed="rId2"/>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indent="0" marL="0">
              <a:buNone/>
            </a:pPr>
            <a:r>
              <a:rPr lang="en-US" sz="1450" dirty="0">
                <a:solidFill>
                  <a:schemeClr val="tx2"/>
                </a:solidFill>
              </a:rPr>
              <a:t>Does it hold contract end dates and departures, or only the suitability decision?</a:t>
            </a:r>
            <a:endParaRPr lang="en-US" sz="1450" dirty="0"/>
          </a:p>
        </p:txBody>
      </p:sp>
      <p:sp>
        <p:nvSpPr>
          <p:cNvPr id="13" name="Freshness card"/>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Icon FaChartLine"/>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descr="C:\Users\whale\git\uiao\inbox\SSA-Interview\build\icons\FaChartLine.png">    </p:cNvPr>
          <p:cNvPicPr>
            <a:picLocks noChangeAspect="1"/>
          </p:cNvPicPr>
          <p:nvPr/>
        </p:nvPicPr>
        <p:blipFill>
          <a:blip r:embed="rId3"/>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indent="0" marL="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Icon FaLock"/>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descr="C:\Users\whale\git\uiao\inbox\SSA-Interview\build\icons\FaLock.png">    </p:cNvPr>
          <p:cNvPicPr>
            <a:picLocks noChangeAspect="1"/>
          </p:cNvPicPr>
          <p:nvPr/>
        </p:nvPicPr>
        <p:blipFill>
          <a:blip r:embed="rId4"/>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indent="0" marL="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4" name="Icon FaHashtag"/>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descr="C:\Users\whale\git\uiao\inbox\SSA-Interview\build\icons\FaHashtag.png">    </p:cNvPr>
          <p:cNvPicPr>
            <a:picLocks noChangeAspect="1"/>
          </p:cNvPicPr>
          <p:nvPr/>
        </p:nvPicPr>
        <p:blipFill>
          <a:blip r:embed="rId5"/>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indent="0" marL="0">
              <a:buNone/>
            </a:pPr>
            <a:r>
              <a:rPr lang="en-US" sz="1450" dirty="0">
                <a:solidFill>
                  <a:schemeClr val="tx2"/>
                </a:solidFill>
              </a:rPr>
              <a:t>If contractors may already hold the enterprise key, confirm coverage, and whether the register records it.</a:t>
            </a:r>
            <a:endParaRPr lang="en-US" sz="1450" dirty="0"/>
          </a:p>
        </p:txBody>
      </p:sp>
      <p:sp>
        <p:nvSpPr>
          <p:cNvPr id="28" name="Coverage card"/>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9" name="Icon FaCircleQuestion"/>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descr="C:\Users\whale\git\uiao\inbox\SSA-Interview\build\icons\FaCircleQuestion.png">    </p:cNvPr>
          <p:cNvPicPr>
            <a:picLocks noChangeAspect="1"/>
          </p:cNvPicPr>
          <p:nvPr/>
        </p:nvPicPr>
        <p:blipFill>
          <a:blip r:embed="rId6"/>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indent="0" marL="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200" i="1" dirty="0">
                <a:solidFill>
                  <a:srgbClr val="64748B"/>
                </a:solidFill>
              </a:rPr>
              <a:t>Ask the register’s owner: few agencies publish its backend, retention or interfaces.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4" name="Icon FaListCheck"/>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descr="C:\Users\whale\git\uiao\inbox\SSA-Interview\build\icons\FaListCheck.png">    </p:cNvPr>
          <p:cNvPicPr>
            <a:picLocks noChangeAspect="1"/>
          </p:cNvPicPr>
          <p:nvPr/>
        </p:nvPicPr>
        <p:blipFill>
          <a:blip r:embed="rId1"/>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unmatched accounts, records and credential mismatches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Icon FaUserShield"/>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descr="C:\Users\whale\git\uiao\inbox\SSA-Interview\build\icons\FaUserShield.png">    </p:cNvPr>
          <p:cNvPicPr>
            <a:picLocks noChangeAspect="1"/>
          </p:cNvPicPr>
          <p:nvPr/>
        </p:nvPicPr>
        <p:blipFill>
          <a:blip r:embed="rId2"/>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descr="C:\Users\whale\git\uiao\inbox\SSA-Interview\build\icons\FaRoute.png">    </p:cNvPr>
          <p:cNvPicPr>
            <a:picLocks noChangeAspect="1"/>
          </p:cNvPicPr>
          <p:nvPr/>
        </p:nvPicPr>
        <p:blipFill>
          <a:blip r:embed="rId3"/>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indent="0" marL="0">
              <a:buNone/>
            </a:pPr>
            <a:r>
              <a:rPr lang="en-US" sz="1600" b="1" dirty="0">
                <a:solidFill>
                  <a:srgbClr val="0F766E"/>
                </a:solidFill>
              </a:rPr>
              <a:t>The ask: </a:t>
            </a:r>
            <a:pPr indent="0" marL="0">
              <a:buNone/>
            </a:pP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Mike Stratton</dc:creator>
  <cp:lastModifiedBy>Mike Stratton</cp:lastModifiedBy>
  <cp:revision>1</cp:revision>
  <dcterms:created xsi:type="dcterms:W3CDTF">2026-10-20T23:05:21Z</dcterms:created>
  <dcterms:modified xsi:type="dcterms:W3CDTF">2026-10-20T23:05:21Z</dcterms:modified>
</cp:coreProperties>
</file>