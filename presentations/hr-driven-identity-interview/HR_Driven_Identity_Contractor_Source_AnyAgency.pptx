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id="{dee6256c-2413-05bd-f673-436907860122}">
          <p14:sldIdLst>
            <p14:sldId id="256"/>
            <p14:sldId id="257"/>
          </p14:sldIdLst>
        </p14:section>
        <p14:section name="Options" id="{c011b7a5-91e8-24e9-ea63-5b3062f51204}">
          <p14:sldIdLst>
            <p14:sldId id="258"/>
            <p14:sldId id="259"/>
          </p14:sldIdLst>
        </p14:section>
        <p14:section name="Position" id="{7e3e94fa-82f8-859d-7d76-ccd4c27594a9}">
          <p14:sldIdLst>
            <p14:sldId id="260"/>
            <p14:sldId id="261"/>
          </p14:sldIdLst>
        </p14:section>
        <p14:section name="Sequence" id="{81a783c1-df6c-1bb6-de95-1be9e220ebc2}">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deck. Not presented in the 15-minute interview. Use it if the panel asks about contractors, or leave it behind.]
The interview deck makes one honest limit explicit: HRIT covers federal employees only, so a contractor authority decision is required. In the processes I have observed, contractors are tracked in COR spreadsheets. This companion goes one step further. It asks which record should be authoritative for a contractor, and it adds an option the main deck doesn't name: the agency's contractor suitability register.
The one-sentence version: don't wait for one contractor feed. Most agencies already hold three contractor records. Give each fact one authority, and hang the whole record on an accountable federal sponsor.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facts that don't fit together.
First, scope. The Federal HR 2.0 memo of December 10, 2025 scopes Core HCM to personnel action processing, the employee system of record and the federal employee lifecycle. The June 2026 Oracle award covers civilian employees. Neither mentions contractors. Oracle Fusion HCM can hold contingent workers as a product, but the program doesn't commit to it.
Second, what I have observed. In the processes I have observed, contractors are tracked in COR spreadsheets, and many of their accounts come from tickets. Based on current visibility, nothing authoritative tells identity that a contractor's engagement has ended.
Third, guidance. GSA's ILM Playbook says the HR or personnel system is the sole driver of identity creation and termination, and CDM's master user record must include contractors. But the HR system won't carry them. Something else has to be the authority, and it needs the same rigor as the HR record.
Sources: OMB/OPM, Creating Federal HR 2.0 (2025-12-10); GSA ILM Playbook v2.0; FIPS 201-3 and OMB M-19-17 cover employees and contractors; NIST SP 800-53 PS-7 (external personnel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useful finding: most agencies aren't starting from zero. There are usually three contractor records already.
COR spreadsheets: real, but kept per COR, with no common format or timing. They're evidence, not a source.
The contractor suitability register: many agencies keep one, under personnel security or contracting. It holds the contractors working on agency contracts, with the suitability determination and its date. That is often the one record that already ties a person to a contract under agency authority.
PIV enrollment: the credentialing system enrolls employees, contractors and other personnel. It covers identity proofing and background-investigation workflows, and the card management system issues the credential.
What's usually missing is any link from these to Entra ID or Active Directory: contractor accounts come from tickets.
Core HCM's Contingent Worker type is a possible fourth source later, if the agency chooses to configure it. It won't exist before the agency's Core HCM onboarding wave.
Sources: FIPS 201-3 and OMB M-19-17 (PIV for employees and contractors); NIST SP 800-53 Rev. 5, PS-7 (external personnel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sources, against the facts identity needs.
COR spreadsheets exist now, but they're not a governed record. Use them to reconcile, not as a source.
Core HCM's Contingent Worker type would give a person record and an assignment with dates, like an employee's. But it has no contract or vetting data, it sits outside the Federal HR 2.0 program scope, and current planning puts it no earlier than 2027.
Where an agency keeps a contractor suitability register, it is the only one that links a person to an agency contract with a suitability decision. What varies by agency: who owns it, how it's accessed, how fast it's updated, and whether it records the end of an engagement.
PIV enrollment covers everyone with a badge and carries proofing and background-investigation status. But it manages a card, not an identity with an organization and entitlements, and it misses anyone who works without a PIV card.
So the answer isn't to pick one. It's to give each fact one authority.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this working position; it is not yet a decision. It's the same discipline as the employee design: a named authority for every fact.
I propose the contractor suitability register as the candidate authority for existence, the contract link and suitability, subject to the questions on the next slide. If it also records the end of the engagement, it becomes the contractor's leaver signal, the equivalent of a separation action. That's the first thing to confirm.
PIV enrollment is the authority for proofing and credential status. Identity reads it and cross-checks it. A badge with no contractor record, or a contractor record with no badge, is a finding.
The accountable party is a federal employee sponsor, normally the COR, mastered in HR. The contractor's organization placement is derived from the sponsor, so it follows accountability and changes when the sponsor moves.
I propose the enterprise person key, the same as for employees, proposed for confirmation. Many agencies already issue it to contractors along with their PIV card, for example as a Mainframe PIN. Where they do, a contractor is keyed exactly like an employee, and keeps the same key on a new contract; in the proposed canonical model, conversion to federal employment creates a new affiliation for the same person.
On the right: access ends at the earliest of five events. The last two close the gap the Digital Worker playbook leaves open: what happens when the sponsor leaves. The sponsor is a live reference into HR, not a name on a form.
Design reference: the sponsored identity record pattern. The suitability register fills its engagement and vetting facts. The PIV cross-check follows FIPS 201-3; separation follows NIST SP 800-53 PS-4 and PS-7.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things to establish before calling a suitability register an authority. The first two decide whether it can be the leaver signal at all.
Owner: is it contracting or personnel security? The owner has to accept identity as a named consumer, just as I'm asking HR to.
Content: if the register records only the suitability decision and its date, it's a vetting source, not a lifecycle source. Then the end date has to come from the contract record or from the sponsor.
Freshness: if the register is keyed by hand from COR spreadsheets, it inherits their lag, and every separation delay carries over to contractors.
Privacy: which SORN covers the register, and does a routine use cover disclosure to identity systems? It's the same question the main deck asks for HR data.
Join on the key: if contractors already get the enterprise key with their PIV card, the key exists. The question is whether the register records it. If it does, the register, PIV enrollment and the directories join on one key. If not, the first job is a crosswalk from the register to the key.
Coverage: who works without a PIV card and isn't in the register? Those people still need a sponsor-only path.
Source: the register's owner, and the agency's SORN and PIA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already exists, and start read-only.
Now: reconcile the register and PIV enrollment against the contractor accounts in AD and Entra ID. The output is a list of orphans, meaning accounts with no contractor record, and accounts whose engagement has ended. Nothing is written to any directory. That measures the problem before anyone is asked to change a process.
Before Core HCM: I propose that the register plus sponsor attestation become the contractor source, once the contractor authority decision is made. Ship the leaver trigger first, because that's where the risk is, then the joiner. Mismatches between badges and records become findings.
At Core HCM go-live: decide whether to configure the Contingent Worker type. If the agency adopts it, it holds the person and the assignment, and the register stays the authority for the contract and suitability. Either way, the identity pipeline doesn't change. It reads one canonical record whatever the source.
The ask is small: make the contractor authority decision, evaluating the suitability register, sponsorship, and contingent-worker records; name its owner; validate the planning assumptions with the data owners; and give read access to the register for a shadow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Contractor identity source  ·  companion to HR-Driven Identity  ·  Any Agency edition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200" b="1" dirty="0">
                <a:solidFill>
                  <a:schemeClr val="tx1"/>
                </a:solidFill>
                <a:latin typeface="Cambria" pitchFamily="34" charset="0"/>
                <a:ea typeface="Cambria" pitchFamily="34" charset="-122"/>
                <a:cs typeface="Cambria" pitchFamily="34" charset="-120"/>
              </a:rPr>
              <a:t>Who is authoritative for a contractor?</a:t>
            </a:r>
            <a:endParaRPr lang="en-US" sz="42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000" dirty="0">
                <a:solidFill>
                  <a:schemeClr val="accent2"/>
                </a:solidFill>
              </a:rPr>
              <a:t>The contractor identity source, Any Agency edition</a:t>
            </a:r>
            <a:endParaRPr lang="en-US" sz="2000" dirty="0"/>
          </a:p>
        </p:txBody>
      </p:sp>
      <p:sp>
        <p:nvSpPr>
          <p:cNvPr id="4" name="Thesis line"/>
          <p:cNvSpPr txBox="1"/>
          <p:nvPr/>
        </p:nvSpPr>
        <p:spPr>
          <a:xfrm>
            <a:off x="731520" y="4114800"/>
            <a:ext cx="6035040" cy="914400"/>
          </a:xfrm>
          <a:prstGeom prst="rect">
            <a:avLst/>
          </a:prstGeom>
          <a:noFill/>
          <a:ln/>
        </p:spPr>
        <p:txBody>
          <a:bodyPr wrap="square" lIns="0" tIns="0" rIns="0" bIns="0" rtlCol="0" anchor="t"/>
          <a:lstStyle/>
          <a:p>
            <a:pPr indent="0" marL="0">
              <a:buNone/>
            </a:pPr>
            <a:r>
              <a:rPr lang="en-US" sz="1600" dirty="0">
                <a:solidFill>
                  <a:srgbClr val="334155"/>
                </a:solidFill>
              </a:rPr>
              <a:t>HRIT will carry federal employees only. Most agencies already hold three contractor records. Compose them under an accountable federal sponsor instead of waiting for one feed.</a:t>
            </a:r>
            <a:endParaRPr lang="en-US" sz="1600" dirty="0"/>
          </a:p>
        </p:txBody>
      </p:sp>
      <p:sp>
        <p:nvSpPr>
          <p:cNvPr id="5" name="Presenter"/>
          <p:cNvSpPr txBox="1"/>
          <p:nvPr/>
        </p:nvSpPr>
        <p:spPr>
          <a:xfrm>
            <a:off x="731520" y="5257800"/>
            <a:ext cx="10698480" cy="731520"/>
          </a:xfrm>
          <a:prstGeom prst="rect">
            <a:avLst/>
          </a:prstGeom>
          <a:noFill/>
          <a:ln/>
        </p:spPr>
        <p:txBody>
          <a:bodyPr wrap="square" lIns="0" tIns="0" rIns="0" bIns="0" rtlCol="0" anchor="t"/>
          <a:lstStyle/>
          <a:p>
            <a:pPr indent="0" marL="0">
              <a:buNone/>
            </a:pPr>
            <a:r>
              <a:rPr lang="en-US" sz="1600" b="1" dirty="0">
                <a:solidFill>
                  <a:srgbClr val="1F2A44"/>
                </a:solidFill>
              </a:rPr>
              <a:t>Mike Stratton</a:t>
            </a:r>
            <a:endParaRPr lang="en-US" sz="1600" dirty="0"/>
          </a:p>
          <a:p>
            <a:pPr indent="0" marL="0">
              <a:buNone/>
            </a:pPr>
            <a:r>
              <a:rPr lang="en-US" sz="1600" dirty="0">
                <a:solidFill>
                  <a:srgbClr val="64748B"/>
                </a:solidFill>
              </a:rPr>
              <a:t>Companion to HR-Driven Identity  ·  leave-behind and Q&amp;A backup, not part of the 15-minute talk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HRIT carries employees; contractors need their own authority</a:t>
            </a:r>
            <a:endParaRPr lang="en-US" sz="3000" dirty="0"/>
          </a:p>
        </p:txBody>
      </p:sp>
      <p:sp>
        <p:nvSpPr>
          <p:cNvPr id="3" name="Core HCM scope card"/>
          <p:cNvSpPr/>
          <p:nvPr/>
        </p:nvSpPr>
        <p:spPr>
          <a:xfrm>
            <a:off x="548640" y="1463040"/>
            <a:ext cx="361188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4" name="Icon FaBuildingColumns"/>
          <p:cNvSpPr/>
          <p:nvPr/>
        </p:nvSpPr>
        <p:spPr>
          <a:xfrm>
            <a:off x="777240" y="1691640"/>
            <a:ext cx="548640" cy="548640"/>
          </a:xfrm>
          <a:prstGeom prst="ellipse">
            <a:avLst/>
          </a:prstGeom>
          <a:solidFill>
            <a:srgbClr val="1F2A44"/>
          </a:solidFill>
          <a:ln w="12700">
            <a:solidFill>
              <a:srgbClr val="1F2A44"/>
            </a:solidFill>
            <a:prstDash val="solid"/>
          </a:ln>
        </p:spPr>
      </p:sp>
      <p:pic>
        <p:nvPicPr>
          <p:cNvPr id="5" name="Image 0" descr="C:\Users\whale\git\uiao\inbox\SSA-Interview\build\icons\FaBuildingColumns.png">    </p:cNvPr>
          <p:cNvPicPr>
            <a:picLocks noChangeAspect="1"/>
          </p:cNvPicPr>
          <p:nvPr/>
        </p:nvPicPr>
        <p:blipFill>
          <a:blip r:embed="rId1"/>
          <a:stretch>
            <a:fillRect/>
          </a:stretch>
        </p:blipFill>
        <p:spPr>
          <a:xfrm>
            <a:off x="908914" y="1823314"/>
            <a:ext cx="285293" cy="285293"/>
          </a:xfrm>
          <a:prstGeom prst="rect">
            <a:avLst/>
          </a:prstGeom>
        </p:spPr>
      </p:pic>
      <p:sp>
        <p:nvSpPr>
          <p:cNvPr id="6" name="Core HCM scope heading"/>
          <p:cNvSpPr txBox="1"/>
          <p:nvPr/>
        </p:nvSpPr>
        <p:spPr>
          <a:xfrm>
            <a:off x="1463040" y="1691640"/>
            <a:ext cx="2560320" cy="548640"/>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Core HCM scope</a:t>
            </a:r>
            <a:endParaRPr lang="en-US" sz="1900" dirty="0"/>
          </a:p>
        </p:txBody>
      </p:sp>
      <p:sp>
        <p:nvSpPr>
          <p:cNvPr id="7" name="Core HCM scope text"/>
          <p:cNvSpPr txBox="1"/>
          <p:nvPr/>
        </p:nvSpPr>
        <p:spPr>
          <a:xfrm>
            <a:off x="77724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Federal HR 2.0 scopes Core HCM to the federal employee lifecycle</a:t>
            </a:r>
            <a:endParaRPr lang="en-US" sz="1600" dirty="0"/>
          </a:p>
          <a:p>
            <a:pPr marL="342900" indent="-342900">
              <a:spcAft>
                <a:spcPts val="800"/>
              </a:spcAft>
              <a:buSzPct val="100000"/>
              <a:buChar char="•"/>
            </a:pPr>
            <a:r>
              <a:rPr lang="en-US" sz="1600" dirty="0">
                <a:solidFill>
                  <a:schemeClr val="tx2"/>
                </a:solidFill>
              </a:rPr>
              <a:t>The Oracle award covers civilian employees</a:t>
            </a:r>
            <a:endParaRPr lang="en-US" sz="1600" dirty="0"/>
          </a:p>
          <a:p>
            <a:pPr marL="342900" indent="-342900">
              <a:spcAft>
                <a:spcPts val="800"/>
              </a:spcAft>
              <a:buSzPct val="100000"/>
              <a:buChar char="•"/>
            </a:pPr>
            <a:r>
              <a:rPr lang="en-US" sz="1600" dirty="0">
                <a:solidFill>
                  <a:schemeClr val="tx2"/>
                </a:solidFill>
              </a:rPr>
              <a:t>Neither document mentions contractors</a:t>
            </a:r>
            <a:endParaRPr lang="en-US" sz="1600" dirty="0"/>
          </a:p>
        </p:txBody>
      </p:sp>
      <p:sp>
        <p:nvSpPr>
          <p:cNvPr id="8" name="Today (observed) card"/>
          <p:cNvSpPr/>
          <p:nvPr/>
        </p:nvSpPr>
        <p:spPr>
          <a:xfrm>
            <a:off x="4297680" y="1463040"/>
            <a:ext cx="3611880" cy="3200400"/>
          </a:xfrm>
          <a:prstGeom prst="roundRect">
            <a:avLst>
              <a:gd name="adj" fmla="val 228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Icon FaTableList"/>
          <p:cNvSpPr/>
          <p:nvPr/>
        </p:nvSpPr>
        <p:spPr>
          <a:xfrm>
            <a:off x="4526280" y="1691640"/>
            <a:ext cx="548640" cy="548640"/>
          </a:xfrm>
          <a:prstGeom prst="ellipse">
            <a:avLst/>
          </a:prstGeom>
          <a:solidFill>
            <a:srgbClr val="B45309"/>
          </a:solidFill>
          <a:ln w="12700">
            <a:solidFill>
              <a:srgbClr val="B45309"/>
            </a:solidFill>
            <a:prstDash val="solid"/>
          </a:ln>
        </p:spPr>
      </p:sp>
      <p:pic>
        <p:nvPicPr>
          <p:cNvPr id="10" name="Image 1" descr="C:\Users\whale\git\uiao\inbox\SSA-Interview\build\icons\FaTableList.png">    </p:cNvPr>
          <p:cNvPicPr>
            <a:picLocks noChangeAspect="1"/>
          </p:cNvPicPr>
          <p:nvPr/>
        </p:nvPicPr>
        <p:blipFill>
          <a:blip r:embed="rId2"/>
          <a:stretch>
            <a:fillRect/>
          </a:stretch>
        </p:blipFill>
        <p:spPr>
          <a:xfrm>
            <a:off x="4657954" y="1823314"/>
            <a:ext cx="285293" cy="285293"/>
          </a:xfrm>
          <a:prstGeom prst="rect">
            <a:avLst/>
          </a:prstGeom>
        </p:spPr>
      </p:pic>
      <p:sp>
        <p:nvSpPr>
          <p:cNvPr id="11" name="Today (observed) heading"/>
          <p:cNvSpPr txBox="1"/>
          <p:nvPr/>
        </p:nvSpPr>
        <p:spPr>
          <a:xfrm>
            <a:off x="5212080" y="1691640"/>
            <a:ext cx="2560320" cy="548640"/>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Today (observed)</a:t>
            </a:r>
            <a:endParaRPr lang="en-US" sz="1900" dirty="0"/>
          </a:p>
        </p:txBody>
      </p:sp>
      <p:sp>
        <p:nvSpPr>
          <p:cNvPr id="12" name="Today (observed) text"/>
          <p:cNvSpPr txBox="1"/>
          <p:nvPr/>
        </p:nvSpPr>
        <p:spPr>
          <a:xfrm>
            <a:off x="452628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In the processes observed, contractors are tracked in COR spreadsheets</a:t>
            </a:r>
            <a:endParaRPr lang="en-US" sz="1600" dirty="0"/>
          </a:p>
          <a:p>
            <a:pPr marL="342900" indent="-342900">
              <a:spcAft>
                <a:spcPts val="800"/>
              </a:spcAft>
              <a:buSzPct val="100000"/>
              <a:buChar char="•"/>
            </a:pPr>
            <a:r>
              <a:rPr lang="en-US" sz="1600" dirty="0">
                <a:solidFill>
                  <a:schemeClr val="tx2"/>
                </a:solidFill>
              </a:rPr>
              <a:t>Many contractor accounts are created from tickets</a:t>
            </a:r>
            <a:endParaRPr lang="en-US" sz="1600" dirty="0"/>
          </a:p>
          <a:p>
            <a:pPr marL="342900" indent="-342900">
              <a:spcAft>
                <a:spcPts val="800"/>
              </a:spcAft>
              <a:buSzPct val="100000"/>
              <a:buChar char="•"/>
            </a:pPr>
            <a:r>
              <a:rPr lang="en-US" sz="1600" dirty="0">
                <a:solidFill>
                  <a:schemeClr val="tx2"/>
                </a:solidFill>
              </a:rPr>
              <a:t>No identified source record ends a contractor’s access</a:t>
            </a:r>
            <a:endParaRPr lang="en-US" sz="1600" dirty="0"/>
          </a:p>
        </p:txBody>
      </p:sp>
      <p:sp>
        <p:nvSpPr>
          <p:cNvPr id="13" name="Guidance conflict card"/>
          <p:cNvSpPr/>
          <p:nvPr/>
        </p:nvSpPr>
        <p:spPr>
          <a:xfrm>
            <a:off x="8046720" y="1463040"/>
            <a:ext cx="3611880" cy="3200400"/>
          </a:xfrm>
          <a:prstGeom prst="roundRect">
            <a:avLst>
              <a:gd name="adj" fmla="val 2286"/>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4" name="Icon FaScaleBalanced"/>
          <p:cNvSpPr/>
          <p:nvPr/>
        </p:nvSpPr>
        <p:spPr>
          <a:xfrm>
            <a:off x="8275320" y="1691640"/>
            <a:ext cx="548640" cy="548640"/>
          </a:xfrm>
          <a:prstGeom prst="ellipse">
            <a:avLst/>
          </a:prstGeom>
          <a:solidFill>
            <a:srgbClr val="B91C1C"/>
          </a:solidFill>
          <a:ln w="12700">
            <a:solidFill>
              <a:srgbClr val="B91C1C"/>
            </a:solidFill>
            <a:prstDash val="solid"/>
          </a:ln>
        </p:spPr>
      </p:sp>
      <p:pic>
        <p:nvPicPr>
          <p:cNvPr id="15" name="Image 2" descr="C:\Users\whale\git\uiao\inbox\SSA-Interview\build\icons\FaScaleBalanced.png">    </p:cNvPr>
          <p:cNvPicPr>
            <a:picLocks noChangeAspect="1"/>
          </p:cNvPicPr>
          <p:nvPr/>
        </p:nvPicPr>
        <p:blipFill>
          <a:blip r:embed="rId3"/>
          <a:stretch>
            <a:fillRect/>
          </a:stretch>
        </p:blipFill>
        <p:spPr>
          <a:xfrm>
            <a:off x="8406994" y="1823314"/>
            <a:ext cx="285293" cy="285293"/>
          </a:xfrm>
          <a:prstGeom prst="rect">
            <a:avLst/>
          </a:prstGeom>
        </p:spPr>
      </p:pic>
      <p:sp>
        <p:nvSpPr>
          <p:cNvPr id="16" name="Guidance conflict heading"/>
          <p:cNvSpPr txBox="1"/>
          <p:nvPr/>
        </p:nvSpPr>
        <p:spPr>
          <a:xfrm>
            <a:off x="8961120" y="1691640"/>
            <a:ext cx="2560320" cy="548640"/>
          </a:xfrm>
          <a:prstGeom prst="rect">
            <a:avLst/>
          </a:prstGeom>
          <a:noFill/>
          <a:ln/>
        </p:spPr>
        <p:txBody>
          <a:bodyPr wrap="square" lIns="0" tIns="0" rIns="0" bIns="0" rtlCol="0" anchor="ctr"/>
          <a:lstStyle/>
          <a:p>
            <a:pPr indent="0" marL="0">
              <a:buNone/>
            </a:pPr>
            <a:r>
              <a:rPr lang="en-US" sz="1900" b="1" dirty="0">
                <a:solidFill>
                  <a:srgbClr val="B91C1C"/>
                </a:solidFill>
                <a:latin typeface="Cambria" pitchFamily="34" charset="0"/>
                <a:ea typeface="Cambria" pitchFamily="34" charset="-122"/>
                <a:cs typeface="Cambria" pitchFamily="34" charset="-120"/>
              </a:rPr>
              <a:t>Guidance conflict</a:t>
            </a:r>
            <a:endParaRPr lang="en-US" sz="1900" dirty="0"/>
          </a:p>
        </p:txBody>
      </p:sp>
      <p:sp>
        <p:nvSpPr>
          <p:cNvPr id="17" name="Guidance conflict text"/>
          <p:cNvSpPr txBox="1"/>
          <p:nvPr/>
        </p:nvSpPr>
        <p:spPr>
          <a:xfrm>
            <a:off x="8275320" y="2468880"/>
            <a:ext cx="3154680" cy="2057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GSA ILM Playbook: HR is the sole driver of identity</a:t>
            </a:r>
            <a:endParaRPr lang="en-US" sz="1600" dirty="0"/>
          </a:p>
          <a:p>
            <a:pPr marL="342900" indent="-342900">
              <a:spcAft>
                <a:spcPts val="800"/>
              </a:spcAft>
              <a:buSzPct val="100000"/>
              <a:buChar char="•"/>
            </a:pPr>
            <a:r>
              <a:rPr lang="en-US" sz="1600" dirty="0">
                <a:solidFill>
                  <a:schemeClr val="tx2"/>
                </a:solidFill>
              </a:rPr>
              <a:t>CDM’s master user record must include contractors</a:t>
            </a:r>
            <a:endParaRPr lang="en-US" sz="1600" dirty="0"/>
          </a:p>
          <a:p>
            <a:pPr marL="342900" indent="-342900">
              <a:spcAft>
                <a:spcPts val="800"/>
              </a:spcAft>
              <a:buSzPct val="100000"/>
              <a:buChar char="•"/>
            </a:pPr>
            <a:r>
              <a:rPr lang="en-US" sz="1600" dirty="0">
                <a:solidFill>
                  <a:schemeClr val="tx2"/>
                </a:solidFill>
              </a:rPr>
              <a:t>The HR system will not carry them</a:t>
            </a:r>
            <a:endParaRPr lang="en-US" sz="1600" dirty="0"/>
          </a:p>
        </p:txBody>
      </p:sp>
      <p:sp>
        <p:nvSpPr>
          <p:cNvPr id="18" name="Question band"/>
          <p:cNvSpPr/>
          <p:nvPr/>
        </p:nvSpPr>
        <p:spPr>
          <a:xfrm>
            <a:off x="548640" y="5029200"/>
            <a:ext cx="11109960" cy="640080"/>
          </a:xfrm>
          <a:prstGeom prst="roundRect">
            <a:avLst>
              <a:gd name="adj" fmla="val 1142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9" name="Question band text"/>
          <p:cNvSpPr txBox="1"/>
          <p:nvPr/>
        </p:nvSpPr>
        <p:spPr>
          <a:xfrm>
            <a:off x="822960" y="5047488"/>
            <a:ext cx="10607040" cy="603504"/>
          </a:xfrm>
          <a:prstGeom prst="rect">
            <a:avLst/>
          </a:prstGeom>
          <a:noFill/>
          <a:ln/>
        </p:spPr>
        <p:txBody>
          <a:bodyPr wrap="square" lIns="0" tIns="0" rIns="0" bIns="0" rtlCol="0" anchor="ctr"/>
          <a:lstStyle/>
          <a:p>
            <a:pPr indent="0" marL="0">
              <a:buNone/>
            </a:pPr>
            <a:r>
              <a:rPr lang="en-US" sz="1600" b="1" dirty="0">
                <a:solidFill>
                  <a:srgbClr val="0F766E"/>
                </a:solidFill>
              </a:rPr>
              <a:t>The design question: </a:t>
            </a:r>
            <a:pPr indent="0" marL="0">
              <a:buNone/>
            </a:pPr>
            <a:r>
              <a:rPr lang="en-US" sz="1600" dirty="0">
                <a:solidFill>
                  <a:schemeClr val="tx2"/>
                </a:solidFill>
              </a:rPr>
              <a:t>which record, for which fact, starts and ends a contractor’s access?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Three contractor records already exist; no feed to identity yet</a:t>
            </a:r>
            <a:endParaRPr lang="en-US" sz="3000" dirty="0"/>
          </a:p>
        </p:txBody>
      </p:sp>
      <p:sp>
        <p:nvSpPr>
          <p:cNvPr id="3" name="COR spreadsheets box"/>
          <p:cNvSpPr/>
          <p:nvPr/>
        </p:nvSpPr>
        <p:spPr>
          <a:xfrm>
            <a:off x="548640" y="1463040"/>
            <a:ext cx="5486400" cy="1143000"/>
          </a:xfrm>
          <a:prstGeom prst="roundRect">
            <a:avLst>
              <a:gd name="adj" fmla="val 64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4" name="Icon FaTableList"/>
          <p:cNvSpPr/>
          <p:nvPr/>
        </p:nvSpPr>
        <p:spPr>
          <a:xfrm>
            <a:off x="731520" y="1737360"/>
            <a:ext cx="566928" cy="566928"/>
          </a:xfrm>
          <a:prstGeom prst="ellipse">
            <a:avLst/>
          </a:prstGeom>
          <a:solidFill>
            <a:srgbClr val="B45309"/>
          </a:solidFill>
          <a:ln w="12700">
            <a:solidFill>
              <a:srgbClr val="B45309"/>
            </a:solidFill>
            <a:prstDash val="solid"/>
          </a:ln>
        </p:spPr>
      </p:sp>
      <p:pic>
        <p:nvPicPr>
          <p:cNvPr id="5" name="Image 0" descr="C:\Users\whale\git\uiao\inbox\SSA-Interview\build\icons\FaTableList.png">    </p:cNvPr>
          <p:cNvPicPr>
            <a:picLocks noChangeAspect="1"/>
          </p:cNvPicPr>
          <p:nvPr/>
        </p:nvPicPr>
        <p:blipFill>
          <a:blip r:embed="rId1"/>
          <a:stretch>
            <a:fillRect/>
          </a:stretch>
        </p:blipFill>
        <p:spPr>
          <a:xfrm>
            <a:off x="867583" y="1873423"/>
            <a:ext cx="294803" cy="294803"/>
          </a:xfrm>
          <a:prstGeom prst="rect">
            <a:avLst/>
          </a:prstGeom>
        </p:spPr>
      </p:pic>
      <p:sp>
        <p:nvSpPr>
          <p:cNvPr id="6" name="COR spreadsheets heading"/>
          <p:cNvSpPr txBox="1"/>
          <p:nvPr/>
        </p:nvSpPr>
        <p:spPr>
          <a:xfrm>
            <a:off x="1481328" y="1572768"/>
            <a:ext cx="4434840" cy="384048"/>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COR spreadsheets</a:t>
            </a:r>
            <a:endParaRPr lang="en-US" sz="1700" dirty="0"/>
          </a:p>
        </p:txBody>
      </p:sp>
      <p:sp>
        <p:nvSpPr>
          <p:cNvPr id="7" name="COR spreadsheets text"/>
          <p:cNvSpPr txBox="1"/>
          <p:nvPr/>
        </p:nvSpPr>
        <p:spPr>
          <a:xfrm>
            <a:off x="1481328" y="1965960"/>
            <a:ext cx="4434840" cy="594360"/>
          </a:xfrm>
          <a:prstGeom prst="rect">
            <a:avLst/>
          </a:prstGeom>
          <a:noFill/>
          <a:ln/>
        </p:spPr>
        <p:txBody>
          <a:bodyPr wrap="square" lIns="0" tIns="0" rIns="0" bIns="0" rtlCol="0" anchor="t"/>
          <a:lstStyle/>
          <a:p>
            <a:pPr indent="0" marL="0">
              <a:buNone/>
            </a:pPr>
            <a:r>
              <a:rPr lang="en-US" sz="1400" dirty="0">
                <a:solidFill>
                  <a:schemeClr val="tx2"/>
                </a:solidFill>
              </a:rPr>
              <a:t>Kept per COR. Completeness, format and update timing vary.</a:t>
            </a:r>
            <a:endParaRPr lang="en-US" sz="1400" dirty="0"/>
          </a:p>
        </p:txBody>
      </p:sp>
      <p:sp>
        <p:nvSpPr>
          <p:cNvPr id="8" name="Shape 5"/>
          <p:cNvSpPr/>
          <p:nvPr/>
        </p:nvSpPr>
        <p:spPr>
          <a:xfrm>
            <a:off x="6035040" y="2034540"/>
            <a:ext cx="731520" cy="0"/>
          </a:xfrm>
          <a:prstGeom prst="line">
            <a:avLst/>
          </a:prstGeom>
          <a:noFill/>
          <a:ln w="22225">
            <a:solidFill>
              <a:srgbClr val="B91C1C"/>
            </a:solidFill>
            <a:prstDash val="dash"/>
          </a:ln>
        </p:spPr>
      </p:sp>
      <p:sp>
        <p:nvSpPr>
          <p:cNvPr id="9" name="Contractor suitability register box"/>
          <p:cNvSpPr/>
          <p:nvPr/>
        </p:nvSpPr>
        <p:spPr>
          <a:xfrm>
            <a:off x="548640" y="2788920"/>
            <a:ext cx="5486400" cy="1143000"/>
          </a:xfrm>
          <a:prstGeom prst="roundRect">
            <a:avLst>
              <a:gd name="adj" fmla="val 64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Icon FaFileContract"/>
          <p:cNvSpPr/>
          <p:nvPr/>
        </p:nvSpPr>
        <p:spPr>
          <a:xfrm>
            <a:off x="731520" y="3063240"/>
            <a:ext cx="566928" cy="566928"/>
          </a:xfrm>
          <a:prstGeom prst="ellipse">
            <a:avLst/>
          </a:prstGeom>
          <a:solidFill>
            <a:srgbClr val="0F766E"/>
          </a:solidFill>
          <a:ln w="12700">
            <a:solidFill>
              <a:srgbClr val="0F766E"/>
            </a:solidFill>
            <a:prstDash val="solid"/>
          </a:ln>
        </p:spPr>
      </p:sp>
      <p:pic>
        <p:nvPicPr>
          <p:cNvPr id="11" name="Image 1" descr="C:\Users\whale\git\uiao\inbox\SSA-Interview\build\icons\FaFileContract.png">    </p:cNvPr>
          <p:cNvPicPr>
            <a:picLocks noChangeAspect="1"/>
          </p:cNvPicPr>
          <p:nvPr/>
        </p:nvPicPr>
        <p:blipFill>
          <a:blip r:embed="rId2"/>
          <a:stretch>
            <a:fillRect/>
          </a:stretch>
        </p:blipFill>
        <p:spPr>
          <a:xfrm>
            <a:off x="867583" y="3199303"/>
            <a:ext cx="294803" cy="294803"/>
          </a:xfrm>
          <a:prstGeom prst="rect">
            <a:avLst/>
          </a:prstGeom>
        </p:spPr>
      </p:pic>
      <p:sp>
        <p:nvSpPr>
          <p:cNvPr id="12" name="Contractor suitability register heading"/>
          <p:cNvSpPr txBox="1"/>
          <p:nvPr/>
        </p:nvSpPr>
        <p:spPr>
          <a:xfrm>
            <a:off x="1481328" y="2898648"/>
            <a:ext cx="4434840" cy="384048"/>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Contractor suitability register</a:t>
            </a:r>
            <a:endParaRPr lang="en-US" sz="1700" dirty="0"/>
          </a:p>
        </p:txBody>
      </p:sp>
      <p:sp>
        <p:nvSpPr>
          <p:cNvPr id="13" name="Contractor suitability register text"/>
          <p:cNvSpPr txBox="1"/>
          <p:nvPr/>
        </p:nvSpPr>
        <p:spPr>
          <a:xfrm>
            <a:off x="1481328" y="3291840"/>
            <a:ext cx="4434840" cy="594360"/>
          </a:xfrm>
          <a:prstGeom prst="rect">
            <a:avLst/>
          </a:prstGeom>
          <a:noFill/>
          <a:ln/>
        </p:spPr>
        <p:txBody>
          <a:bodyPr wrap="square" lIns="0" tIns="0" rIns="0" bIns="0" rtlCol="0" anchor="t"/>
          <a:lstStyle/>
          <a:p>
            <a:pPr indent="0" marL="0">
              <a:buNone/>
            </a:pPr>
            <a:r>
              <a:rPr lang="en-US" sz="1400" dirty="0">
                <a:solidFill>
                  <a:schemeClr val="tx2"/>
                </a:solidFill>
              </a:rPr>
              <a:t>Each contractor on an agency contract, with the suitability determination and its date.</a:t>
            </a:r>
            <a:endParaRPr lang="en-US" sz="1400" dirty="0"/>
          </a:p>
        </p:txBody>
      </p:sp>
      <p:sp>
        <p:nvSpPr>
          <p:cNvPr id="14" name="Shape 10"/>
          <p:cNvSpPr/>
          <p:nvPr/>
        </p:nvSpPr>
        <p:spPr>
          <a:xfrm>
            <a:off x="6035040" y="3360420"/>
            <a:ext cx="731520" cy="0"/>
          </a:xfrm>
          <a:prstGeom prst="line">
            <a:avLst/>
          </a:prstGeom>
          <a:noFill/>
          <a:ln w="22225">
            <a:solidFill>
              <a:srgbClr val="B91C1C"/>
            </a:solidFill>
            <a:prstDash val="dash"/>
          </a:ln>
        </p:spPr>
      </p:sp>
      <p:sp>
        <p:nvSpPr>
          <p:cNvPr id="15" name="PIV enrollment box"/>
          <p:cNvSpPr/>
          <p:nvPr/>
        </p:nvSpPr>
        <p:spPr>
          <a:xfrm>
            <a:off x="548640" y="4114800"/>
            <a:ext cx="5486400" cy="1143000"/>
          </a:xfrm>
          <a:prstGeom prst="roundRect">
            <a:avLst>
              <a:gd name="adj" fmla="val 64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Icon FaIdCard"/>
          <p:cNvSpPr/>
          <p:nvPr/>
        </p:nvSpPr>
        <p:spPr>
          <a:xfrm>
            <a:off x="731520" y="4389120"/>
            <a:ext cx="566928" cy="566928"/>
          </a:xfrm>
          <a:prstGeom prst="ellipse">
            <a:avLst/>
          </a:prstGeom>
          <a:solidFill>
            <a:srgbClr val="1F2A44"/>
          </a:solidFill>
          <a:ln w="12700">
            <a:solidFill>
              <a:srgbClr val="1F2A44"/>
            </a:solidFill>
            <a:prstDash val="solid"/>
          </a:ln>
        </p:spPr>
      </p:sp>
      <p:pic>
        <p:nvPicPr>
          <p:cNvPr id="17" name="Image 2" descr="C:\Users\whale\git\uiao\inbox\SSA-Interview\build\icons\FaIdCard.png">    </p:cNvPr>
          <p:cNvPicPr>
            <a:picLocks noChangeAspect="1"/>
          </p:cNvPicPr>
          <p:nvPr/>
        </p:nvPicPr>
        <p:blipFill>
          <a:blip r:embed="rId3"/>
          <a:stretch>
            <a:fillRect/>
          </a:stretch>
        </p:blipFill>
        <p:spPr>
          <a:xfrm>
            <a:off x="867583" y="4525183"/>
            <a:ext cx="294803" cy="294803"/>
          </a:xfrm>
          <a:prstGeom prst="rect">
            <a:avLst/>
          </a:prstGeom>
        </p:spPr>
      </p:pic>
      <p:sp>
        <p:nvSpPr>
          <p:cNvPr id="18" name="PIV enrollment heading"/>
          <p:cNvSpPr txBox="1"/>
          <p:nvPr/>
        </p:nvSpPr>
        <p:spPr>
          <a:xfrm>
            <a:off x="1481328" y="4224528"/>
            <a:ext cx="4434840" cy="38404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PIV enrollment</a:t>
            </a:r>
            <a:endParaRPr lang="en-US" sz="1700" dirty="0"/>
          </a:p>
        </p:txBody>
      </p:sp>
      <p:sp>
        <p:nvSpPr>
          <p:cNvPr id="19" name="PIV enrollment text"/>
          <p:cNvSpPr txBox="1"/>
          <p:nvPr/>
        </p:nvSpPr>
        <p:spPr>
          <a:xfrm>
            <a:off x="1481328" y="4617720"/>
            <a:ext cx="4434840" cy="594360"/>
          </a:xfrm>
          <a:prstGeom prst="rect">
            <a:avLst/>
          </a:prstGeom>
          <a:noFill/>
          <a:ln/>
        </p:spPr>
        <p:txBody>
          <a:bodyPr wrap="square" lIns="0" tIns="0" rIns="0" bIns="0" rtlCol="0" anchor="t"/>
          <a:lstStyle/>
          <a:p>
            <a:pPr indent="0" marL="0">
              <a:buNone/>
            </a:pPr>
            <a:r>
              <a:rPr lang="en-US" sz="1400" dirty="0">
                <a:solidFill>
                  <a:schemeClr val="tx2"/>
                </a:solidFill>
              </a:rPr>
              <a:t>Enrolls employees and contractors: identity proofing, background investigation, credential lifecycle.</a:t>
            </a:r>
            <a:endParaRPr lang="en-US" sz="1400" dirty="0"/>
          </a:p>
        </p:txBody>
      </p:sp>
      <p:sp>
        <p:nvSpPr>
          <p:cNvPr id="20" name="Shape 15"/>
          <p:cNvSpPr/>
          <p:nvPr/>
        </p:nvSpPr>
        <p:spPr>
          <a:xfrm>
            <a:off x="6035040" y="4686300"/>
            <a:ext cx="731520" cy="0"/>
          </a:xfrm>
          <a:prstGeom prst="line">
            <a:avLst/>
          </a:prstGeom>
          <a:noFill/>
          <a:ln w="22225">
            <a:solidFill>
              <a:srgbClr val="B91C1C"/>
            </a:solidFill>
            <a:prstDash val="dash"/>
          </a:ln>
        </p:spPr>
      </p:sp>
      <p:sp>
        <p:nvSpPr>
          <p:cNvPr id="21" name="Shape 16"/>
          <p:cNvSpPr/>
          <p:nvPr/>
        </p:nvSpPr>
        <p:spPr>
          <a:xfrm>
            <a:off x="6766560" y="2034540"/>
            <a:ext cx="0" cy="2651760"/>
          </a:xfrm>
          <a:prstGeom prst="line">
            <a:avLst/>
          </a:prstGeom>
          <a:noFill/>
          <a:ln w="22225">
            <a:solidFill>
              <a:srgbClr val="B91C1C"/>
            </a:solidFill>
            <a:prstDash val="dash"/>
          </a:ln>
        </p:spPr>
      </p:sp>
      <p:sp>
        <p:nvSpPr>
          <p:cNvPr id="22" name="Shape 17"/>
          <p:cNvSpPr/>
          <p:nvPr/>
        </p:nvSpPr>
        <p:spPr>
          <a:xfrm>
            <a:off x="6766560" y="3360420"/>
            <a:ext cx="1463040" cy="0"/>
          </a:xfrm>
          <a:prstGeom prst="line">
            <a:avLst/>
          </a:prstGeom>
          <a:noFill/>
          <a:ln w="22225">
            <a:solidFill>
              <a:srgbClr val="B91C1C"/>
            </a:solidFill>
            <a:prstDash val="dash"/>
          </a:ln>
        </p:spPr>
      </p:sp>
      <p:sp>
        <p:nvSpPr>
          <p:cNvPr id="23" name="No feed label"/>
          <p:cNvSpPr txBox="1"/>
          <p:nvPr/>
        </p:nvSpPr>
        <p:spPr>
          <a:xfrm>
            <a:off x="6949440" y="2834640"/>
            <a:ext cx="1234440" cy="457200"/>
          </a:xfrm>
          <a:prstGeom prst="rect">
            <a:avLst/>
          </a:prstGeom>
          <a:noFill/>
          <a:ln/>
        </p:spPr>
        <p:txBody>
          <a:bodyPr wrap="square" lIns="0" tIns="0" rIns="0" bIns="0" rtlCol="0" anchor="b"/>
          <a:lstStyle/>
          <a:p>
            <a:pPr indent="0" marL="0">
              <a:buNone/>
            </a:pPr>
            <a:r>
              <a:rPr lang="en-US" sz="1300" b="1" dirty="0">
                <a:solidFill>
                  <a:srgbClr val="B91C1C"/>
                </a:solidFill>
              </a:rPr>
              <a:t>no feed today</a:t>
            </a:r>
            <a:endParaRPr lang="en-US" sz="1300" dirty="0"/>
          </a:p>
        </p:txBody>
      </p:sp>
      <p:sp>
        <p:nvSpPr>
          <p:cNvPr id="24" name="Directory box"/>
          <p:cNvSpPr/>
          <p:nvPr/>
        </p:nvSpPr>
        <p:spPr>
          <a:xfrm>
            <a:off x="8229600" y="2377440"/>
            <a:ext cx="3429000" cy="1965960"/>
          </a:xfrm>
          <a:prstGeom prst="roundRect">
            <a:avLst>
              <a:gd name="adj" fmla="val 37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5" name="Icon FaCloud"/>
          <p:cNvSpPr/>
          <p:nvPr/>
        </p:nvSpPr>
        <p:spPr>
          <a:xfrm>
            <a:off x="8412480" y="2560320"/>
            <a:ext cx="566928" cy="566928"/>
          </a:xfrm>
          <a:prstGeom prst="ellipse">
            <a:avLst/>
          </a:prstGeom>
          <a:solidFill>
            <a:srgbClr val="1F2A44"/>
          </a:solidFill>
          <a:ln w="12700">
            <a:solidFill>
              <a:srgbClr val="1F2A44"/>
            </a:solidFill>
            <a:prstDash val="solid"/>
          </a:ln>
        </p:spPr>
      </p:sp>
      <p:pic>
        <p:nvPicPr>
          <p:cNvPr id="26" name="Image 3" descr="C:\Users\whale\git\uiao\inbox\SSA-Interview\build\icons\FaCloud.png">    </p:cNvPr>
          <p:cNvPicPr>
            <a:picLocks noChangeAspect="1"/>
          </p:cNvPicPr>
          <p:nvPr/>
        </p:nvPicPr>
        <p:blipFill>
          <a:blip r:embed="rId4"/>
          <a:stretch>
            <a:fillRect/>
          </a:stretch>
        </p:blipFill>
        <p:spPr>
          <a:xfrm>
            <a:off x="8548543" y="2696383"/>
            <a:ext cx="294803" cy="294803"/>
          </a:xfrm>
          <a:prstGeom prst="rect">
            <a:avLst/>
          </a:prstGeom>
        </p:spPr>
      </p:pic>
      <p:sp>
        <p:nvSpPr>
          <p:cNvPr id="27" name="Directory heading"/>
          <p:cNvSpPr txBox="1"/>
          <p:nvPr/>
        </p:nvSpPr>
        <p:spPr>
          <a:xfrm>
            <a:off x="9098280" y="2560320"/>
            <a:ext cx="2468880" cy="566928"/>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Entra ID and AD</a:t>
            </a:r>
            <a:endParaRPr lang="en-US" sz="1700" dirty="0"/>
          </a:p>
        </p:txBody>
      </p:sp>
      <p:sp>
        <p:nvSpPr>
          <p:cNvPr id="28" name="Directory text"/>
          <p:cNvSpPr txBox="1"/>
          <p:nvPr/>
        </p:nvSpPr>
        <p:spPr>
          <a:xfrm>
            <a:off x="8412480" y="3291840"/>
            <a:ext cx="3108960" cy="914400"/>
          </a:xfrm>
          <a:prstGeom prst="rect">
            <a:avLst/>
          </a:prstGeom>
          <a:noFill/>
          <a:ln/>
        </p:spPr>
        <p:txBody>
          <a:bodyPr wrap="square" lIns="0" tIns="0" rIns="0" bIns="0" rtlCol="0" anchor="t"/>
          <a:lstStyle/>
          <a:p>
            <a:pPr indent="0" marL="0">
              <a:buNone/>
            </a:pPr>
            <a:r>
              <a:rPr lang="en-US" sz="1500" dirty="0">
                <a:solidFill>
                  <a:schemeClr val="tx2"/>
                </a:solidFill>
              </a:rPr>
              <a:t>In the processes observed, contractor accounts come from tickets; no documented upstream source ends them.</a:t>
            </a:r>
            <a:endParaRPr lang="en-US" sz="1500" dirty="0"/>
          </a:p>
        </p:txBody>
      </p:sp>
      <p:sp>
        <p:nvSpPr>
          <p:cNvPr id="29" name="Later band"/>
          <p:cNvSpPr/>
          <p:nvPr/>
        </p:nvSpPr>
        <p:spPr>
          <a:xfrm>
            <a:off x="548640" y="5486400"/>
            <a:ext cx="11109960" cy="640080"/>
          </a:xfrm>
          <a:prstGeom prst="roundRect">
            <a:avLst>
              <a:gd name="adj" fmla="val 11429"/>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30" name="Later band text"/>
          <p:cNvSpPr txBox="1"/>
          <p:nvPr/>
        </p:nvSpPr>
        <p:spPr>
          <a:xfrm>
            <a:off x="822960" y="5504688"/>
            <a:ext cx="10607040" cy="603504"/>
          </a:xfrm>
          <a:prstGeom prst="rect">
            <a:avLst/>
          </a:prstGeom>
          <a:noFill/>
          <a:ln/>
        </p:spPr>
        <p:txBody>
          <a:bodyPr wrap="square" lIns="0" tIns="0" rIns="0" bIns="0" rtlCol="0" anchor="ctr"/>
          <a:lstStyle/>
          <a:p>
            <a:pPr indent="0" marL="0">
              <a:buNone/>
            </a:pPr>
            <a:r>
              <a:rPr lang="en-US" sz="1600" b="1" dirty="0">
                <a:solidFill>
                  <a:srgbClr val="64748B"/>
                </a:solidFill>
              </a:rPr>
              <a:t>Later, maybe: </a:t>
            </a:r>
            <a:pPr indent="0" marL="0">
              <a:buNone/>
            </a:pPr>
            <a:r>
              <a:rPr lang="en-US" sz="1600" dirty="0">
                <a:solidFill>
                  <a:schemeClr val="tx2"/>
                </a:solidFill>
              </a:rPr>
              <a:t>Core HCM’s Contingent Worker type, only if the agency configures it at Core HCM onboarding.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Four candidate sources, compared</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2240280"/>
                <a:gridCol w="1691640"/>
                <a:gridCol w="1920240"/>
                <a:gridCol w="1783080"/>
                <a:gridCol w="1600200"/>
                <a:gridCol w="18288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Available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Covers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Contract and end 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Vetting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Main gap</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68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COR spreadsheets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Per COR; completeness unknown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Informal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a governed record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Core HCM Contingent Worker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At Core HCM onboarding, if configured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Whoever HR enters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Assignment dates; no contract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Outside Federal HR 2.0 scope; no vendor layer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68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Now, in many agencies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Contractors on agency contracts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Contract linkage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Suitability and 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Owner, interface and cadence vary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r>
              <a:tr h="86868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PIV enrollment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Badged employees and contractors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Not described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Background investigation workflow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Manages a card; misses unbadged staff</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Takeaway band"/>
          <p:cNvSpPr/>
          <p:nvPr/>
        </p:nvSpPr>
        <p:spPr>
          <a:xfrm>
            <a:off x="548640" y="5623560"/>
            <a:ext cx="11109960" cy="640080"/>
          </a:xfrm>
          <a:prstGeom prst="roundRect">
            <a:avLst>
              <a:gd name="adj" fmla="val 1142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5" name="Takeaway band text"/>
          <p:cNvSpPr txBox="1"/>
          <p:nvPr/>
        </p:nvSpPr>
        <p:spPr>
          <a:xfrm>
            <a:off x="822960" y="5641848"/>
            <a:ext cx="10607040" cy="603504"/>
          </a:xfrm>
          <a:prstGeom prst="rect">
            <a:avLst/>
          </a:prstGeom>
          <a:noFill/>
          <a:ln/>
        </p:spPr>
        <p:txBody>
          <a:bodyPr wrap="square" lIns="0" tIns="0" rIns="0" bIns="0" rtlCol="0" anchor="ctr"/>
          <a:lstStyle/>
          <a:p>
            <a:pPr indent="0" marL="0">
              <a:buNone/>
            </a:pPr>
            <a:r>
              <a:rPr lang="en-US" sz="1600" b="1" dirty="0">
                <a:solidFill>
                  <a:srgbClr val="0F766E"/>
                </a:solidFill>
              </a:rPr>
              <a:t>No single source is complete. </a:t>
            </a:r>
            <a:pPr indent="0" marL="0">
              <a:buNone/>
            </a:pPr>
            <a:r>
              <a:rPr lang="en-US" sz="1600" dirty="0">
                <a:solidFill>
                  <a:schemeClr val="tx2"/>
                </a:solidFill>
              </a:rPr>
              <a:t>Only a suitability register, where one exists, ties a person to an agency contract.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Working position: one fact, one authority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a:tblGrid>
                <a:gridCol w="3017520"/>
                <a:gridCol w="47548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Fact identity needs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Proposed authority (to validate)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Existence and contract link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End of engagement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Contract record, through the register (confirm it carries end dates)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Suitability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Contractor suitability register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Proofing and credential status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PIV enrollment and card management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Accountable sponsor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COR or another federal employee, mastered in HR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Organization placement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Derived from the sponsor; explicit override if needed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4864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Person key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Enterprise person key, proposed for confirmation; often already issued to contractors with their PIV card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Leaver card"/>
          <p:cNvSpPr/>
          <p:nvPr/>
        </p:nvSpPr>
        <p:spPr>
          <a:xfrm>
            <a:off x="8549640" y="1417320"/>
            <a:ext cx="3108960" cy="4023360"/>
          </a:xfrm>
          <a:prstGeom prst="roundRect">
            <a:avLst>
              <a:gd name="adj" fmla="val 235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5" name="Icon FaUserXmark"/>
          <p:cNvSpPr/>
          <p:nvPr/>
        </p:nvSpPr>
        <p:spPr>
          <a:xfrm>
            <a:off x="8732520" y="1572768"/>
            <a:ext cx="502920" cy="502920"/>
          </a:xfrm>
          <a:prstGeom prst="ellipse">
            <a:avLst/>
          </a:prstGeom>
          <a:solidFill>
            <a:srgbClr val="B91C1C"/>
          </a:solidFill>
          <a:ln w="12700">
            <a:solidFill>
              <a:srgbClr val="B91C1C"/>
            </a:solidFill>
            <a:prstDash val="solid"/>
          </a:ln>
        </p:spPr>
      </p:sp>
      <p:pic>
        <p:nvPicPr>
          <p:cNvPr id="6" name="Image 0" descr="C:\Users\whale\git\uiao\inbox\SSA-Interview\build\icons\FaUserXmark.png">    </p:cNvPr>
          <p:cNvPicPr>
            <a:picLocks noChangeAspect="1"/>
          </p:cNvPicPr>
          <p:nvPr/>
        </p:nvPicPr>
        <p:blipFill>
          <a:blip r:embed="rId1"/>
          <a:stretch>
            <a:fillRect/>
          </a:stretch>
        </p:blipFill>
        <p:spPr>
          <a:xfrm>
            <a:off x="8853221" y="1693469"/>
            <a:ext cx="261518" cy="261518"/>
          </a:xfrm>
          <a:prstGeom prst="rect">
            <a:avLst/>
          </a:prstGeom>
        </p:spPr>
      </p:pic>
      <p:sp>
        <p:nvSpPr>
          <p:cNvPr id="7" name="Leaver heading"/>
          <p:cNvSpPr txBox="1"/>
          <p:nvPr/>
        </p:nvSpPr>
        <p:spPr>
          <a:xfrm>
            <a:off x="9326880" y="1517904"/>
            <a:ext cx="2240280" cy="676656"/>
          </a:xfrm>
          <a:prstGeom prst="rect">
            <a:avLst/>
          </a:prstGeom>
          <a:noFill/>
          <a:ln/>
        </p:spPr>
        <p:txBody>
          <a:bodyPr wrap="square" lIns="0" tIns="0" rIns="0" bIns="0" rtlCol="0" anchor="ctr"/>
          <a:lstStyle/>
          <a:p>
            <a:pPr indent="0" marL="0">
              <a:buNone/>
            </a:pPr>
            <a:r>
              <a:rPr lang="en-US" sz="1400" b="1" dirty="0">
                <a:solidFill>
                  <a:srgbClr val="B91C1C"/>
                </a:solidFill>
                <a:latin typeface="Cambria" pitchFamily="34" charset="0"/>
                <a:ea typeface="Cambria" pitchFamily="34" charset="-122"/>
                <a:cs typeface="Cambria" pitchFamily="34" charset="-120"/>
              </a:rPr>
              <a:t>Proposed: access ends at the earliest of</a:t>
            </a:r>
            <a:endParaRPr lang="en-US" sz="1400" dirty="0"/>
          </a:p>
        </p:txBody>
      </p:sp>
      <p:sp>
        <p:nvSpPr>
          <p:cNvPr id="8" name="Leaver list"/>
          <p:cNvSpPr txBox="1"/>
          <p:nvPr/>
        </p:nvSpPr>
        <p:spPr>
          <a:xfrm>
            <a:off x="8732520" y="2331720"/>
            <a:ext cx="2788920" cy="2971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Contract end date passes</a:t>
            </a:r>
            <a:endParaRPr lang="en-US" sz="1500" dirty="0"/>
          </a:p>
          <a:p>
            <a:pPr marL="342900" indent="-342900">
              <a:spcAft>
                <a:spcPts val="800"/>
              </a:spcAft>
              <a:buSzPct val="100000"/>
              <a:buChar char="•"/>
            </a:pPr>
            <a:r>
              <a:rPr lang="en-US" sz="1500" dirty="0">
                <a:solidFill>
                  <a:schemeClr val="tx2"/>
                </a:solidFill>
              </a:rPr>
              <a:t>Suitability withdrawn</a:t>
            </a:r>
            <a:endParaRPr lang="en-US" sz="1500" dirty="0"/>
          </a:p>
          <a:p>
            <a:pPr marL="342900" indent="-342900">
              <a:spcAft>
                <a:spcPts val="800"/>
              </a:spcAft>
              <a:buSzPct val="100000"/>
              <a:buChar char="•"/>
            </a:pPr>
            <a:r>
              <a:rPr lang="en-US" sz="1500" dirty="0">
                <a:solidFill>
                  <a:schemeClr val="tx2"/>
                </a:solidFill>
              </a:rPr>
              <a:t>PIV credential revoked</a:t>
            </a:r>
            <a:endParaRPr lang="en-US" sz="1500" dirty="0"/>
          </a:p>
          <a:p>
            <a:pPr marL="342900" indent="-342900">
              <a:spcAft>
                <a:spcPts val="800"/>
              </a:spcAft>
              <a:buSzPct val="100000"/>
              <a:buChar char="•"/>
            </a:pPr>
            <a:r>
              <a:rPr lang="en-US" sz="1500" dirty="0">
                <a:solidFill>
                  <a:schemeClr val="tx2"/>
                </a:solidFill>
              </a:rPr>
              <a:t>Sponsor leaves; nobody takes over within 14 days</a:t>
            </a:r>
            <a:endParaRPr lang="en-US" sz="1500" dirty="0"/>
          </a:p>
          <a:p>
            <a:pPr marL="342900" indent="-342900">
              <a:spcAft>
                <a:spcPts val="800"/>
              </a:spcAft>
              <a:buSzPct val="100000"/>
              <a:buChar char="•"/>
            </a:pPr>
            <a:r>
              <a:rPr lang="en-US" sz="1500" dirty="0">
                <a:solidFill>
                  <a:schemeClr val="tx2"/>
                </a:solidFill>
              </a:rPr>
              <a:t>Sponsor misses the 180-day recertification</a:t>
            </a:r>
            <a:endParaRPr lang="en-US" sz="1500" dirty="0"/>
          </a:p>
        </p:txBody>
      </p:sp>
      <p:sp>
        <p:nvSpPr>
          <p:cNvPr id="9" name="Pattern note"/>
          <p:cNvSpPr txBox="1"/>
          <p:nvPr/>
        </p:nvSpPr>
        <p:spPr>
          <a:xfrm>
            <a:off x="548640" y="5852160"/>
            <a:ext cx="11064240" cy="365760"/>
          </a:xfrm>
          <a:prstGeom prst="rect">
            <a:avLst/>
          </a:prstGeom>
          <a:noFill/>
          <a:ln/>
        </p:spPr>
        <p:txBody>
          <a:bodyPr wrap="square" lIns="0" tIns="0" rIns="0" bIns="0" rtlCol="0" anchor="t"/>
          <a:lstStyle/>
          <a:p>
            <a:pPr indent="0" marL="0">
              <a:buNone/>
            </a:pPr>
            <a:r>
              <a:rPr lang="en-US" sz="1200" i="1" dirty="0">
                <a:solidFill>
                  <a:srgbClr val="64748B"/>
                </a:solidFill>
              </a:rPr>
              <a:t>Proposed pattern: a sponsored identity record, with the suitability register supplying the contract and vetting facts.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must be true before a register can be an authority</a:t>
            </a:r>
            <a:endParaRPr lang="en-US" sz="3000" dirty="0"/>
          </a:p>
        </p:txBody>
      </p:sp>
      <p:sp>
        <p:nvSpPr>
          <p:cNvPr id="3" name="Owner card"/>
          <p:cNvSpPr/>
          <p:nvPr/>
        </p:nvSpPr>
        <p:spPr>
          <a:xfrm>
            <a:off x="548640" y="1463040"/>
            <a:ext cx="548640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4" name="Icon FaUserTie"/>
          <p:cNvSpPr/>
          <p:nvPr/>
        </p:nvSpPr>
        <p:spPr>
          <a:xfrm>
            <a:off x="749808" y="1810512"/>
            <a:ext cx="566928" cy="566928"/>
          </a:xfrm>
          <a:prstGeom prst="ellipse">
            <a:avLst/>
          </a:prstGeom>
          <a:solidFill>
            <a:srgbClr val="0F766E"/>
          </a:solidFill>
          <a:ln w="12700">
            <a:solidFill>
              <a:srgbClr val="0F766E"/>
            </a:solidFill>
            <a:prstDash val="solid"/>
          </a:ln>
        </p:spPr>
      </p:sp>
      <p:pic>
        <p:nvPicPr>
          <p:cNvPr id="5" name="Image 0" descr="C:\Users\whale\git\uiao\inbox\SSA-Interview\build\icons\FaUserTie.png">    </p:cNvPr>
          <p:cNvPicPr>
            <a:picLocks noChangeAspect="1"/>
          </p:cNvPicPr>
          <p:nvPr/>
        </p:nvPicPr>
        <p:blipFill>
          <a:blip r:embed="rId1"/>
          <a:stretch>
            <a:fillRect/>
          </a:stretch>
        </p:blipFill>
        <p:spPr>
          <a:xfrm>
            <a:off x="885871" y="1946575"/>
            <a:ext cx="294803" cy="294803"/>
          </a:xfrm>
          <a:prstGeom prst="rect">
            <a:avLst/>
          </a:prstGeom>
        </p:spPr>
      </p:pic>
      <p:sp>
        <p:nvSpPr>
          <p:cNvPr id="6" name="Owner heading"/>
          <p:cNvSpPr txBox="1"/>
          <p:nvPr/>
        </p:nvSpPr>
        <p:spPr>
          <a:xfrm>
            <a:off x="1508760" y="1591056"/>
            <a:ext cx="4389120" cy="36576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Owner</a:t>
            </a:r>
            <a:endParaRPr lang="en-US" sz="1700" dirty="0"/>
          </a:p>
        </p:txBody>
      </p:sp>
      <p:sp>
        <p:nvSpPr>
          <p:cNvPr id="7" name="Owner text"/>
          <p:cNvSpPr txBox="1"/>
          <p:nvPr/>
        </p:nvSpPr>
        <p:spPr>
          <a:xfrm>
            <a:off x="1508760" y="1975104"/>
            <a:ext cx="4389120" cy="731520"/>
          </a:xfrm>
          <a:prstGeom prst="rect">
            <a:avLst/>
          </a:prstGeom>
          <a:noFill/>
          <a:ln/>
        </p:spPr>
        <p:txBody>
          <a:bodyPr wrap="square" lIns="0" tIns="0" rIns="0" bIns="0" rtlCol="0" anchor="t"/>
          <a:lstStyle/>
          <a:p>
            <a:pPr indent="0" marL="0">
              <a:buNone/>
            </a:pPr>
            <a:r>
              <a:rPr lang="en-US" sz="1450" dirty="0">
                <a:solidFill>
                  <a:schemeClr val="tx2"/>
                </a:solidFill>
              </a:rPr>
              <a:t>Who owns it: contracting or personnel security? Will they accept identity as a named consumer?</a:t>
            </a:r>
            <a:endParaRPr lang="en-US" sz="1450" dirty="0"/>
          </a:p>
        </p:txBody>
      </p:sp>
      <p:sp>
        <p:nvSpPr>
          <p:cNvPr id="8" name="Content card"/>
          <p:cNvSpPr/>
          <p:nvPr/>
        </p:nvSpPr>
        <p:spPr>
          <a:xfrm>
            <a:off x="6172200" y="1463040"/>
            <a:ext cx="5486400" cy="1280160"/>
          </a:xfrm>
          <a:prstGeom prst="roundRect">
            <a:avLst>
              <a:gd name="adj" fmla="val 571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Icon FaFileContract"/>
          <p:cNvSpPr/>
          <p:nvPr/>
        </p:nvSpPr>
        <p:spPr>
          <a:xfrm>
            <a:off x="6373368" y="1810512"/>
            <a:ext cx="566928" cy="566928"/>
          </a:xfrm>
          <a:prstGeom prst="ellipse">
            <a:avLst/>
          </a:prstGeom>
          <a:solidFill>
            <a:srgbClr val="0F766E"/>
          </a:solidFill>
          <a:ln w="12700">
            <a:solidFill>
              <a:srgbClr val="0F766E"/>
            </a:solidFill>
            <a:prstDash val="solid"/>
          </a:ln>
        </p:spPr>
      </p:sp>
      <p:pic>
        <p:nvPicPr>
          <p:cNvPr id="10" name="Image 1" descr="C:\Users\whale\git\uiao\inbox\SSA-Interview\build\icons\FaFileContract.png">    </p:cNvPr>
          <p:cNvPicPr>
            <a:picLocks noChangeAspect="1"/>
          </p:cNvPicPr>
          <p:nvPr/>
        </p:nvPicPr>
        <p:blipFill>
          <a:blip r:embed="rId2"/>
          <a:stretch>
            <a:fillRect/>
          </a:stretch>
        </p:blipFill>
        <p:spPr>
          <a:xfrm>
            <a:off x="6509431" y="1946575"/>
            <a:ext cx="294803" cy="294803"/>
          </a:xfrm>
          <a:prstGeom prst="rect">
            <a:avLst/>
          </a:prstGeom>
        </p:spPr>
      </p:pic>
      <p:sp>
        <p:nvSpPr>
          <p:cNvPr id="11" name="Content heading"/>
          <p:cNvSpPr txBox="1"/>
          <p:nvPr/>
        </p:nvSpPr>
        <p:spPr>
          <a:xfrm>
            <a:off x="7132320" y="1591056"/>
            <a:ext cx="4389120" cy="36576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Content</a:t>
            </a:r>
            <a:endParaRPr lang="en-US" sz="1700" dirty="0"/>
          </a:p>
        </p:txBody>
      </p:sp>
      <p:sp>
        <p:nvSpPr>
          <p:cNvPr id="12" name="Content text"/>
          <p:cNvSpPr txBox="1"/>
          <p:nvPr/>
        </p:nvSpPr>
        <p:spPr>
          <a:xfrm>
            <a:off x="7132320" y="1975104"/>
            <a:ext cx="4389120" cy="731520"/>
          </a:xfrm>
          <a:prstGeom prst="rect">
            <a:avLst/>
          </a:prstGeom>
          <a:noFill/>
          <a:ln/>
        </p:spPr>
        <p:txBody>
          <a:bodyPr wrap="square" lIns="0" tIns="0" rIns="0" bIns="0" rtlCol="0" anchor="t"/>
          <a:lstStyle/>
          <a:p>
            <a:pPr indent="0" marL="0">
              <a:buNone/>
            </a:pPr>
            <a:r>
              <a:rPr lang="en-US" sz="1450" dirty="0">
                <a:solidFill>
                  <a:schemeClr val="tx2"/>
                </a:solidFill>
              </a:rPr>
              <a:t>Does it hold contract end dates and departures, or only the suitability decision?</a:t>
            </a:r>
            <a:endParaRPr lang="en-US" sz="1450" dirty="0"/>
          </a:p>
        </p:txBody>
      </p:sp>
      <p:sp>
        <p:nvSpPr>
          <p:cNvPr id="13" name="Freshness card"/>
          <p:cNvSpPr/>
          <p:nvPr/>
        </p:nvSpPr>
        <p:spPr>
          <a:xfrm>
            <a:off x="548640" y="2926080"/>
            <a:ext cx="548640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Icon FaChartLine"/>
          <p:cNvSpPr/>
          <p:nvPr/>
        </p:nvSpPr>
        <p:spPr>
          <a:xfrm>
            <a:off x="749808" y="3273552"/>
            <a:ext cx="566928" cy="566928"/>
          </a:xfrm>
          <a:prstGeom prst="ellipse">
            <a:avLst/>
          </a:prstGeom>
          <a:solidFill>
            <a:srgbClr val="1F2A44"/>
          </a:solidFill>
          <a:ln w="12700">
            <a:solidFill>
              <a:srgbClr val="1F2A44"/>
            </a:solidFill>
            <a:prstDash val="solid"/>
          </a:ln>
        </p:spPr>
      </p:sp>
      <p:pic>
        <p:nvPicPr>
          <p:cNvPr id="15" name="Image 2" descr="C:\Users\whale\git\uiao\inbox\SSA-Interview\build\icons\FaChartLine.png">    </p:cNvPr>
          <p:cNvPicPr>
            <a:picLocks noChangeAspect="1"/>
          </p:cNvPicPr>
          <p:nvPr/>
        </p:nvPicPr>
        <p:blipFill>
          <a:blip r:embed="rId3"/>
          <a:stretch>
            <a:fillRect/>
          </a:stretch>
        </p:blipFill>
        <p:spPr>
          <a:xfrm>
            <a:off x="885871" y="3409615"/>
            <a:ext cx="294803" cy="294803"/>
          </a:xfrm>
          <a:prstGeom prst="rect">
            <a:avLst/>
          </a:prstGeom>
        </p:spPr>
      </p:pic>
      <p:sp>
        <p:nvSpPr>
          <p:cNvPr id="16" name="Freshness heading"/>
          <p:cNvSpPr txBox="1"/>
          <p:nvPr/>
        </p:nvSpPr>
        <p:spPr>
          <a:xfrm>
            <a:off x="1508760" y="3054096"/>
            <a:ext cx="4389120" cy="36576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Freshness</a:t>
            </a:r>
            <a:endParaRPr lang="en-US" sz="1700" dirty="0"/>
          </a:p>
        </p:txBody>
      </p:sp>
      <p:sp>
        <p:nvSpPr>
          <p:cNvPr id="17" name="Freshness text"/>
          <p:cNvSpPr txBox="1"/>
          <p:nvPr/>
        </p:nvSpPr>
        <p:spPr>
          <a:xfrm>
            <a:off x="1508760" y="3438144"/>
            <a:ext cx="4389120" cy="731520"/>
          </a:xfrm>
          <a:prstGeom prst="rect">
            <a:avLst/>
          </a:prstGeom>
          <a:noFill/>
          <a:ln/>
        </p:spPr>
        <p:txBody>
          <a:bodyPr wrap="square" lIns="0" tIns="0" rIns="0" bIns="0" rtlCol="0" anchor="t"/>
          <a:lstStyle/>
          <a:p>
            <a:pPr indent="0" marL="0">
              <a:buNone/>
            </a:pPr>
            <a:r>
              <a:rPr lang="en-US" sz="1450" dirty="0">
                <a:solidFill>
                  <a:schemeClr val="tx2"/>
                </a:solidFill>
              </a:rPr>
              <a:t>How fast is a departure recorded? If it’s keyed from COR spreadsheets, it inherits their lag.</a:t>
            </a:r>
            <a:endParaRPr lang="en-US" sz="1450" dirty="0"/>
          </a:p>
        </p:txBody>
      </p:sp>
      <p:sp>
        <p:nvSpPr>
          <p:cNvPr id="18" name="Privacy basis card"/>
          <p:cNvSpPr/>
          <p:nvPr/>
        </p:nvSpPr>
        <p:spPr>
          <a:xfrm>
            <a:off x="6172200" y="2926080"/>
            <a:ext cx="548640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9" name="Icon FaLock"/>
          <p:cNvSpPr/>
          <p:nvPr/>
        </p:nvSpPr>
        <p:spPr>
          <a:xfrm>
            <a:off x="6373368" y="3273552"/>
            <a:ext cx="566928" cy="566928"/>
          </a:xfrm>
          <a:prstGeom prst="ellipse">
            <a:avLst/>
          </a:prstGeom>
          <a:solidFill>
            <a:srgbClr val="1F2A44"/>
          </a:solidFill>
          <a:ln w="12700">
            <a:solidFill>
              <a:srgbClr val="1F2A44"/>
            </a:solidFill>
            <a:prstDash val="solid"/>
          </a:ln>
        </p:spPr>
      </p:sp>
      <p:pic>
        <p:nvPicPr>
          <p:cNvPr id="20" name="Image 3" descr="C:\Users\whale\git\uiao\inbox\SSA-Interview\build\icons\FaLock.png">    </p:cNvPr>
          <p:cNvPicPr>
            <a:picLocks noChangeAspect="1"/>
          </p:cNvPicPr>
          <p:nvPr/>
        </p:nvPicPr>
        <p:blipFill>
          <a:blip r:embed="rId4"/>
          <a:stretch>
            <a:fillRect/>
          </a:stretch>
        </p:blipFill>
        <p:spPr>
          <a:xfrm>
            <a:off x="6509431" y="3409615"/>
            <a:ext cx="294803" cy="294803"/>
          </a:xfrm>
          <a:prstGeom prst="rect">
            <a:avLst/>
          </a:prstGeom>
        </p:spPr>
      </p:pic>
      <p:sp>
        <p:nvSpPr>
          <p:cNvPr id="21" name="Privacy basis heading"/>
          <p:cNvSpPr txBox="1"/>
          <p:nvPr/>
        </p:nvSpPr>
        <p:spPr>
          <a:xfrm>
            <a:off x="7132320" y="3054096"/>
            <a:ext cx="4389120" cy="36576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Privacy basis</a:t>
            </a:r>
            <a:endParaRPr lang="en-US" sz="1700" dirty="0"/>
          </a:p>
        </p:txBody>
      </p:sp>
      <p:sp>
        <p:nvSpPr>
          <p:cNvPr id="22" name="Privacy basis text"/>
          <p:cNvSpPr txBox="1"/>
          <p:nvPr/>
        </p:nvSpPr>
        <p:spPr>
          <a:xfrm>
            <a:off x="7132320" y="3438144"/>
            <a:ext cx="4389120" cy="731520"/>
          </a:xfrm>
          <a:prstGeom prst="rect">
            <a:avLst/>
          </a:prstGeom>
          <a:noFill/>
          <a:ln/>
        </p:spPr>
        <p:txBody>
          <a:bodyPr wrap="square" lIns="0" tIns="0" rIns="0" bIns="0" rtlCol="0" anchor="t"/>
          <a:lstStyle/>
          <a:p>
            <a:pPr indent="0" marL="0">
              <a:buNone/>
            </a:pPr>
            <a:r>
              <a:rPr lang="en-US" sz="1450" dirty="0">
                <a:solidFill>
                  <a:schemeClr val="tx2"/>
                </a:solidFill>
              </a:rPr>
              <a:t>Which system-of-records notice covers it, and does a routine use allow disclosure to identity?</a:t>
            </a:r>
            <a:endParaRPr lang="en-US" sz="1450" dirty="0"/>
          </a:p>
        </p:txBody>
      </p:sp>
      <p:sp>
        <p:nvSpPr>
          <p:cNvPr id="23" name="Join on the key card"/>
          <p:cNvSpPr/>
          <p:nvPr/>
        </p:nvSpPr>
        <p:spPr>
          <a:xfrm>
            <a:off x="548640" y="4389120"/>
            <a:ext cx="548640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4" name="Icon FaHashtag"/>
          <p:cNvSpPr/>
          <p:nvPr/>
        </p:nvSpPr>
        <p:spPr>
          <a:xfrm>
            <a:off x="749808" y="4736592"/>
            <a:ext cx="566928" cy="566928"/>
          </a:xfrm>
          <a:prstGeom prst="ellipse">
            <a:avLst/>
          </a:prstGeom>
          <a:solidFill>
            <a:srgbClr val="1F2A44"/>
          </a:solidFill>
          <a:ln w="12700">
            <a:solidFill>
              <a:srgbClr val="1F2A44"/>
            </a:solidFill>
            <a:prstDash val="solid"/>
          </a:ln>
        </p:spPr>
      </p:sp>
      <p:pic>
        <p:nvPicPr>
          <p:cNvPr id="25" name="Image 4" descr="C:\Users\whale\git\uiao\inbox\SSA-Interview\build\icons\FaHashtag.png">    </p:cNvPr>
          <p:cNvPicPr>
            <a:picLocks noChangeAspect="1"/>
          </p:cNvPicPr>
          <p:nvPr/>
        </p:nvPicPr>
        <p:blipFill>
          <a:blip r:embed="rId5"/>
          <a:stretch>
            <a:fillRect/>
          </a:stretch>
        </p:blipFill>
        <p:spPr>
          <a:xfrm>
            <a:off x="885871" y="4872655"/>
            <a:ext cx="294803" cy="294803"/>
          </a:xfrm>
          <a:prstGeom prst="rect">
            <a:avLst/>
          </a:prstGeom>
        </p:spPr>
      </p:pic>
      <p:sp>
        <p:nvSpPr>
          <p:cNvPr id="26" name="Join on the key heading"/>
          <p:cNvSpPr txBox="1"/>
          <p:nvPr/>
        </p:nvSpPr>
        <p:spPr>
          <a:xfrm>
            <a:off x="1508760" y="4517136"/>
            <a:ext cx="4389120" cy="36576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Join on the key</a:t>
            </a:r>
            <a:endParaRPr lang="en-US" sz="1700" dirty="0"/>
          </a:p>
        </p:txBody>
      </p:sp>
      <p:sp>
        <p:nvSpPr>
          <p:cNvPr id="27" name="Join on the key text"/>
          <p:cNvSpPr txBox="1"/>
          <p:nvPr/>
        </p:nvSpPr>
        <p:spPr>
          <a:xfrm>
            <a:off x="1508760" y="4901184"/>
            <a:ext cx="4389120" cy="731520"/>
          </a:xfrm>
          <a:prstGeom prst="rect">
            <a:avLst/>
          </a:prstGeom>
          <a:noFill/>
          <a:ln/>
        </p:spPr>
        <p:txBody>
          <a:bodyPr wrap="square" lIns="0" tIns="0" rIns="0" bIns="0" rtlCol="0" anchor="t"/>
          <a:lstStyle/>
          <a:p>
            <a:pPr indent="0" marL="0">
              <a:buNone/>
            </a:pPr>
            <a:r>
              <a:rPr lang="en-US" sz="1450" dirty="0">
                <a:solidFill>
                  <a:schemeClr val="tx2"/>
                </a:solidFill>
              </a:rPr>
              <a:t>If contractors already hold the enterprise key, does the register record it?</a:t>
            </a:r>
            <a:endParaRPr lang="en-US" sz="1450" dirty="0"/>
          </a:p>
        </p:txBody>
      </p:sp>
      <p:sp>
        <p:nvSpPr>
          <p:cNvPr id="28" name="Coverage card"/>
          <p:cNvSpPr/>
          <p:nvPr/>
        </p:nvSpPr>
        <p:spPr>
          <a:xfrm>
            <a:off x="6172200" y="4389120"/>
            <a:ext cx="548640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9" name="Icon FaCircleQuestion"/>
          <p:cNvSpPr/>
          <p:nvPr/>
        </p:nvSpPr>
        <p:spPr>
          <a:xfrm>
            <a:off x="6373368" y="4736592"/>
            <a:ext cx="566928" cy="566928"/>
          </a:xfrm>
          <a:prstGeom prst="ellipse">
            <a:avLst/>
          </a:prstGeom>
          <a:solidFill>
            <a:srgbClr val="1F2A44"/>
          </a:solidFill>
          <a:ln w="12700">
            <a:solidFill>
              <a:srgbClr val="1F2A44"/>
            </a:solidFill>
            <a:prstDash val="solid"/>
          </a:ln>
        </p:spPr>
      </p:sp>
      <p:pic>
        <p:nvPicPr>
          <p:cNvPr id="30" name="Image 5" descr="C:\Users\whale\git\uiao\inbox\SSA-Interview\build\icons\FaCircleQuestion.png">    </p:cNvPr>
          <p:cNvPicPr>
            <a:picLocks noChangeAspect="1"/>
          </p:cNvPicPr>
          <p:nvPr/>
        </p:nvPicPr>
        <p:blipFill>
          <a:blip r:embed="rId6"/>
          <a:stretch>
            <a:fillRect/>
          </a:stretch>
        </p:blipFill>
        <p:spPr>
          <a:xfrm>
            <a:off x="6509431" y="4872655"/>
            <a:ext cx="294803" cy="294803"/>
          </a:xfrm>
          <a:prstGeom prst="rect">
            <a:avLst/>
          </a:prstGeom>
        </p:spPr>
      </p:pic>
      <p:sp>
        <p:nvSpPr>
          <p:cNvPr id="31" name="Coverage heading"/>
          <p:cNvSpPr txBox="1"/>
          <p:nvPr/>
        </p:nvSpPr>
        <p:spPr>
          <a:xfrm>
            <a:off x="7132320" y="4517136"/>
            <a:ext cx="4389120" cy="36576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Coverage</a:t>
            </a:r>
            <a:endParaRPr lang="en-US" sz="1700" dirty="0"/>
          </a:p>
        </p:txBody>
      </p:sp>
      <p:sp>
        <p:nvSpPr>
          <p:cNvPr id="32" name="Coverage text"/>
          <p:cNvSpPr txBox="1"/>
          <p:nvPr/>
        </p:nvSpPr>
        <p:spPr>
          <a:xfrm>
            <a:off x="7132320" y="4901184"/>
            <a:ext cx="4389120" cy="731520"/>
          </a:xfrm>
          <a:prstGeom prst="rect">
            <a:avLst/>
          </a:prstGeom>
          <a:noFill/>
          <a:ln/>
        </p:spPr>
        <p:txBody>
          <a:bodyPr wrap="square" lIns="0" tIns="0" rIns="0" bIns="0" rtlCol="0" anchor="t"/>
          <a:lstStyle/>
          <a:p>
            <a:pPr indent="0" marL="0">
              <a:buNone/>
            </a:pPr>
            <a:r>
              <a:rPr lang="en-US" sz="1450" dirty="0">
                <a:solidFill>
                  <a:schemeClr val="tx2"/>
                </a:solidFill>
              </a:rPr>
              <a:t>Who isn’t in it: short-term, remote or vendor-support staff without a PIV card?</a:t>
            </a:r>
            <a:endParaRPr lang="en-US" sz="1450" dirty="0"/>
          </a:p>
        </p:txBody>
      </p:sp>
      <p:sp>
        <p:nvSpPr>
          <p:cNvPr id="33" name="Source note"/>
          <p:cNvSpPr txBox="1"/>
          <p:nvPr/>
        </p:nvSpPr>
        <p:spPr>
          <a:xfrm>
            <a:off x="548640" y="5897880"/>
            <a:ext cx="11064240" cy="320040"/>
          </a:xfrm>
          <a:prstGeom prst="rect">
            <a:avLst/>
          </a:prstGeom>
          <a:noFill/>
          <a:ln/>
        </p:spPr>
        <p:txBody>
          <a:bodyPr wrap="square" lIns="0" tIns="0" rIns="0" bIns="0" rtlCol="0" anchor="t"/>
          <a:lstStyle/>
          <a:p>
            <a:pPr indent="0" marL="0">
              <a:buNone/>
            </a:pPr>
            <a:r>
              <a:rPr lang="en-US" sz="1200" i="1" dirty="0">
                <a:solidFill>
                  <a:srgbClr val="64748B"/>
                </a:solidFill>
              </a:rPr>
              <a:t>Ask the register’s owner: few agencies publish its backend, retention or interfaces.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Sequence: start with what already exists</a:t>
            </a:r>
            <a:endParaRPr lang="en-US" sz="3000" dirty="0"/>
          </a:p>
        </p:txBody>
      </p:sp>
      <p:sp>
        <p:nvSpPr>
          <p:cNvPr id="3" name="Now: read only card"/>
          <p:cNvSpPr/>
          <p:nvPr/>
        </p:nvSpPr>
        <p:spPr>
          <a:xfrm>
            <a:off x="548640" y="1463040"/>
            <a:ext cx="352044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4" name="Icon FaListCheck"/>
          <p:cNvSpPr/>
          <p:nvPr/>
        </p:nvSpPr>
        <p:spPr>
          <a:xfrm>
            <a:off x="777240" y="1691640"/>
            <a:ext cx="548640" cy="548640"/>
          </a:xfrm>
          <a:prstGeom prst="ellipse">
            <a:avLst/>
          </a:prstGeom>
          <a:solidFill>
            <a:srgbClr val="0F766E"/>
          </a:solidFill>
          <a:ln w="12700">
            <a:solidFill>
              <a:srgbClr val="0F766E"/>
            </a:solidFill>
            <a:prstDash val="solid"/>
          </a:ln>
        </p:spPr>
      </p:sp>
      <p:pic>
        <p:nvPicPr>
          <p:cNvPr id="5" name="Image 0" descr="C:\Users\whale\git\uiao\inbox\SSA-Interview\build\icons\FaListCheck.png">    </p:cNvPr>
          <p:cNvPicPr>
            <a:picLocks noChangeAspect="1"/>
          </p:cNvPicPr>
          <p:nvPr/>
        </p:nvPicPr>
        <p:blipFill>
          <a:blip r:embed="rId1"/>
          <a:stretch>
            <a:fillRect/>
          </a:stretch>
        </p:blipFill>
        <p:spPr>
          <a:xfrm>
            <a:off x="908914" y="1823314"/>
            <a:ext cx="285293" cy="285293"/>
          </a:xfrm>
          <a:prstGeom prst="rect">
            <a:avLst/>
          </a:prstGeom>
        </p:spPr>
      </p:pic>
      <p:sp>
        <p:nvSpPr>
          <p:cNvPr id="6" name="Now: read only heading"/>
          <p:cNvSpPr txBox="1"/>
          <p:nvPr/>
        </p:nvSpPr>
        <p:spPr>
          <a:xfrm>
            <a:off x="1463040" y="1691640"/>
            <a:ext cx="2468880" cy="54864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Now: read only</a:t>
            </a:r>
            <a:endParaRPr lang="en-US" sz="1800" dirty="0"/>
          </a:p>
        </p:txBody>
      </p:sp>
      <p:sp>
        <p:nvSpPr>
          <p:cNvPr id="7" name="Now: read only text"/>
          <p:cNvSpPr txBox="1"/>
          <p:nvPr/>
        </p:nvSpPr>
        <p:spPr>
          <a:xfrm>
            <a:off x="77724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Reconcile the register and PIV enrollment against contractor accounts in AD and Entra ID</a:t>
            </a:r>
            <a:endParaRPr lang="en-US" sz="1550" dirty="0"/>
          </a:p>
          <a:p>
            <a:pPr marL="342900" indent="-342900">
              <a:spcAft>
                <a:spcPts val="800"/>
              </a:spcAft>
              <a:buSzPct val="100000"/>
              <a:buChar char="•"/>
            </a:pPr>
            <a:r>
              <a:rPr lang="en-US" sz="1550" dirty="0">
                <a:solidFill>
                  <a:schemeClr val="tx2"/>
                </a:solidFill>
              </a:rPr>
              <a:t>Report orphans and expired engagements</a:t>
            </a:r>
            <a:endParaRPr lang="en-US" sz="1550" dirty="0"/>
          </a:p>
          <a:p>
            <a:pPr marL="342900" indent="-342900">
              <a:spcAft>
                <a:spcPts val="800"/>
              </a:spcAft>
              <a:buSzPct val="100000"/>
              <a:buChar char="•"/>
            </a:pPr>
            <a:r>
              <a:rPr lang="en-US" sz="1550" dirty="0">
                <a:solidFill>
                  <a:schemeClr val="tx2"/>
                </a:solidFill>
              </a:rPr>
              <a:t>No writes to any directory</a:t>
            </a:r>
            <a:endParaRPr lang="en-US" sz="1550" dirty="0"/>
          </a:p>
        </p:txBody>
      </p:sp>
      <p:sp>
        <p:nvSpPr>
          <p:cNvPr id="8" name="Shape 5"/>
          <p:cNvSpPr/>
          <p:nvPr/>
        </p:nvSpPr>
        <p:spPr>
          <a:xfrm>
            <a:off x="4087368" y="3086100"/>
            <a:ext cx="237744" cy="0"/>
          </a:xfrm>
          <a:prstGeom prst="line">
            <a:avLst/>
          </a:prstGeom>
          <a:noFill/>
          <a:ln w="22225">
            <a:solidFill>
              <a:srgbClr val="64748B"/>
            </a:solidFill>
            <a:prstDash val="solid"/>
            <a:tailEnd type="triangle"/>
          </a:ln>
        </p:spPr>
      </p:sp>
      <p:sp>
        <p:nvSpPr>
          <p:cNvPr id="9" name="Before Core HCM card"/>
          <p:cNvSpPr/>
          <p:nvPr/>
        </p:nvSpPr>
        <p:spPr>
          <a:xfrm>
            <a:off x="4343400" y="1463040"/>
            <a:ext cx="352044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Icon FaUserShield"/>
          <p:cNvSpPr/>
          <p:nvPr/>
        </p:nvSpPr>
        <p:spPr>
          <a:xfrm>
            <a:off x="4572000" y="1691640"/>
            <a:ext cx="548640" cy="548640"/>
          </a:xfrm>
          <a:prstGeom prst="ellipse">
            <a:avLst/>
          </a:prstGeom>
          <a:solidFill>
            <a:srgbClr val="1F2A44"/>
          </a:solidFill>
          <a:ln w="12700">
            <a:solidFill>
              <a:srgbClr val="1F2A44"/>
            </a:solidFill>
            <a:prstDash val="solid"/>
          </a:ln>
        </p:spPr>
      </p:sp>
      <p:pic>
        <p:nvPicPr>
          <p:cNvPr id="11" name="Image 1" descr="C:\Users\whale\git\uiao\inbox\SSA-Interview\build\icons\FaUserShield.png">    </p:cNvPr>
          <p:cNvPicPr>
            <a:picLocks noChangeAspect="1"/>
          </p:cNvPicPr>
          <p:nvPr/>
        </p:nvPicPr>
        <p:blipFill>
          <a:blip r:embed="rId2"/>
          <a:stretch>
            <a:fillRect/>
          </a:stretch>
        </p:blipFill>
        <p:spPr>
          <a:xfrm>
            <a:off x="4703674" y="1823314"/>
            <a:ext cx="285293" cy="285293"/>
          </a:xfrm>
          <a:prstGeom prst="rect">
            <a:avLst/>
          </a:prstGeom>
        </p:spPr>
      </p:pic>
      <p:sp>
        <p:nvSpPr>
          <p:cNvPr id="12" name="Before Core HCM heading"/>
          <p:cNvSpPr txBox="1"/>
          <p:nvPr/>
        </p:nvSpPr>
        <p:spPr>
          <a:xfrm>
            <a:off x="5257800" y="1691640"/>
            <a:ext cx="2468880" cy="54864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Before Core HCM</a:t>
            </a:r>
            <a:endParaRPr lang="en-US" sz="1800" dirty="0"/>
          </a:p>
        </p:txBody>
      </p:sp>
      <p:sp>
        <p:nvSpPr>
          <p:cNvPr id="13" name="Before Core HCM text"/>
          <p:cNvSpPr txBox="1"/>
          <p:nvPr/>
        </p:nvSpPr>
        <p:spPr>
          <a:xfrm>
            <a:off x="457200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Proposed: the register plus sponsor attestation, after the authority decision</a:t>
            </a:r>
            <a:endParaRPr lang="en-US" sz="1550" dirty="0"/>
          </a:p>
          <a:p>
            <a:pPr marL="342900" indent="-342900">
              <a:spcAft>
                <a:spcPts val="800"/>
              </a:spcAft>
              <a:buSzPct val="100000"/>
              <a:buChar char="•"/>
            </a:pPr>
            <a:r>
              <a:rPr lang="en-US" sz="1550" dirty="0">
                <a:solidFill>
                  <a:schemeClr val="tx2"/>
                </a:solidFill>
              </a:rPr>
              <a:t>Ship the leaver trigger first, then the joiner</a:t>
            </a:r>
            <a:endParaRPr lang="en-US" sz="1550" dirty="0"/>
          </a:p>
          <a:p>
            <a:pPr marL="342900" indent="-342900">
              <a:spcAft>
                <a:spcPts val="800"/>
              </a:spcAft>
              <a:buSzPct val="100000"/>
              <a:buChar char="•"/>
            </a:pPr>
            <a:r>
              <a:rPr lang="en-US" sz="1550" dirty="0">
                <a:solidFill>
                  <a:schemeClr val="tx2"/>
                </a:solidFill>
              </a:rPr>
              <a:t>Badge and record mismatches become findings</a:t>
            </a:r>
            <a:endParaRPr lang="en-US" sz="1550" dirty="0"/>
          </a:p>
        </p:txBody>
      </p:sp>
      <p:sp>
        <p:nvSpPr>
          <p:cNvPr id="14" name="Shape 10"/>
          <p:cNvSpPr/>
          <p:nvPr/>
        </p:nvSpPr>
        <p:spPr>
          <a:xfrm>
            <a:off x="7882128" y="3086100"/>
            <a:ext cx="237744" cy="0"/>
          </a:xfrm>
          <a:prstGeom prst="line">
            <a:avLst/>
          </a:prstGeom>
          <a:noFill/>
          <a:ln w="22225">
            <a:solidFill>
              <a:srgbClr val="64748B"/>
            </a:solidFill>
            <a:prstDash val="solid"/>
            <a:tailEnd type="triangle"/>
          </a:ln>
        </p:spPr>
      </p:sp>
      <p:sp>
        <p:nvSpPr>
          <p:cNvPr id="15" name="At Core HCM go-live card"/>
          <p:cNvSpPr/>
          <p:nvPr/>
        </p:nvSpPr>
        <p:spPr>
          <a:xfrm>
            <a:off x="8138160" y="1463040"/>
            <a:ext cx="352044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Route"/>
          <p:cNvSpPr/>
          <p:nvPr/>
        </p:nvSpPr>
        <p:spPr>
          <a:xfrm>
            <a:off x="8366760" y="1691640"/>
            <a:ext cx="548640" cy="548640"/>
          </a:xfrm>
          <a:prstGeom prst="ellipse">
            <a:avLst/>
          </a:prstGeom>
          <a:solidFill>
            <a:srgbClr val="B45309"/>
          </a:solidFill>
          <a:ln w="12700">
            <a:solidFill>
              <a:srgbClr val="B45309"/>
            </a:solidFill>
            <a:prstDash val="solid"/>
          </a:ln>
        </p:spPr>
      </p:sp>
      <p:pic>
        <p:nvPicPr>
          <p:cNvPr id="17" name="Image 2" descr="C:\Users\whale\git\uiao\inbox\SSA-Interview\build\icons\FaRoute.png">    </p:cNvPr>
          <p:cNvPicPr>
            <a:picLocks noChangeAspect="1"/>
          </p:cNvPicPr>
          <p:nvPr/>
        </p:nvPicPr>
        <p:blipFill>
          <a:blip r:embed="rId3"/>
          <a:stretch>
            <a:fillRect/>
          </a:stretch>
        </p:blipFill>
        <p:spPr>
          <a:xfrm>
            <a:off x="8498434" y="1823314"/>
            <a:ext cx="285293" cy="285293"/>
          </a:xfrm>
          <a:prstGeom prst="rect">
            <a:avLst/>
          </a:prstGeom>
        </p:spPr>
      </p:pic>
      <p:sp>
        <p:nvSpPr>
          <p:cNvPr id="18" name="At Core HCM go-live heading"/>
          <p:cNvSpPr txBox="1"/>
          <p:nvPr/>
        </p:nvSpPr>
        <p:spPr>
          <a:xfrm>
            <a:off x="9052560" y="1691640"/>
            <a:ext cx="2468880" cy="548640"/>
          </a:xfrm>
          <a:prstGeom prst="rect">
            <a:avLst/>
          </a:prstGeom>
          <a:noFill/>
          <a:ln/>
        </p:spPr>
        <p:txBody>
          <a:bodyPr wrap="square" lIns="0" tIns="0" rIns="0" bIns="0" rtlCol="0" anchor="ctr"/>
          <a:lstStyle/>
          <a:p>
            <a:pPr indent="0" marL="0">
              <a:buNone/>
            </a:pPr>
            <a:r>
              <a:rPr lang="en-US" sz="1800" b="1" dirty="0">
                <a:solidFill>
                  <a:srgbClr val="B45309"/>
                </a:solidFill>
                <a:latin typeface="Cambria" pitchFamily="34" charset="0"/>
                <a:ea typeface="Cambria" pitchFamily="34" charset="-122"/>
                <a:cs typeface="Cambria" pitchFamily="34" charset="-120"/>
              </a:rPr>
              <a:t>At Core HCM go-live</a:t>
            </a:r>
            <a:endParaRPr lang="en-US" sz="1800" dirty="0"/>
          </a:p>
        </p:txBody>
      </p:sp>
      <p:sp>
        <p:nvSpPr>
          <p:cNvPr id="19" name="At Core HCM go-live text"/>
          <p:cNvSpPr txBox="1"/>
          <p:nvPr/>
        </p:nvSpPr>
        <p:spPr>
          <a:xfrm>
            <a:off x="8366760" y="2468880"/>
            <a:ext cx="3063240" cy="210312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Decide on the Contingent Worker type</a:t>
            </a:r>
            <a:endParaRPr lang="en-US" sz="1550" dirty="0"/>
          </a:p>
          <a:p>
            <a:pPr marL="342900" indent="-342900">
              <a:spcAft>
                <a:spcPts val="800"/>
              </a:spcAft>
              <a:buSzPct val="100000"/>
              <a:buChar char="•"/>
            </a:pPr>
            <a:r>
              <a:rPr lang="en-US" sz="1550" dirty="0">
                <a:solidFill>
                  <a:schemeClr val="tx2"/>
                </a:solidFill>
              </a:rPr>
              <a:t>If adopted, it holds the person and assignment</a:t>
            </a:r>
            <a:endParaRPr lang="en-US" sz="1550" dirty="0"/>
          </a:p>
          <a:p>
            <a:pPr marL="342900" indent="-342900">
              <a:spcAft>
                <a:spcPts val="800"/>
              </a:spcAft>
              <a:buSzPct val="100000"/>
              <a:buChar char="•"/>
            </a:pPr>
            <a:r>
              <a:rPr lang="en-US" sz="1550" dirty="0">
                <a:solidFill>
                  <a:schemeClr val="tx2"/>
                </a:solidFill>
              </a:rPr>
              <a:t>The register remains the proposed contract and suitability authority</a:t>
            </a:r>
            <a:endParaRPr lang="en-US" sz="1550" dirty="0"/>
          </a:p>
        </p:txBody>
      </p:sp>
      <p:sp>
        <p:nvSpPr>
          <p:cNvPr id="20" name="Ask band"/>
          <p:cNvSpPr/>
          <p:nvPr/>
        </p:nvSpPr>
        <p:spPr>
          <a:xfrm>
            <a:off x="548640" y="5074920"/>
            <a:ext cx="11109960" cy="640080"/>
          </a:xfrm>
          <a:prstGeom prst="roundRect">
            <a:avLst>
              <a:gd name="adj" fmla="val 1142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1" name="Ask band text"/>
          <p:cNvSpPr txBox="1"/>
          <p:nvPr/>
        </p:nvSpPr>
        <p:spPr>
          <a:xfrm>
            <a:off x="822960" y="5093208"/>
            <a:ext cx="10607040" cy="603504"/>
          </a:xfrm>
          <a:prstGeom prst="rect">
            <a:avLst/>
          </a:prstGeom>
          <a:noFill/>
          <a:ln/>
        </p:spPr>
        <p:txBody>
          <a:bodyPr wrap="square" lIns="0" tIns="0" rIns="0" bIns="0" rtlCol="0" anchor="ctr"/>
          <a:lstStyle/>
          <a:p>
            <a:pPr indent="0" marL="0">
              <a:buNone/>
            </a:pPr>
            <a:r>
              <a:rPr lang="en-US" sz="1600" b="1" dirty="0">
                <a:solidFill>
                  <a:srgbClr val="0F766E"/>
                </a:solidFill>
              </a:rPr>
              <a:t>The ask: </a:t>
            </a:r>
            <a:pPr indent="0" marL="0">
              <a:buNone/>
            </a:pPr>
            <a:r>
              <a:rPr lang="en-US" sz="1600" dirty="0">
                <a:solidFill>
                  <a:schemeClr val="tx2"/>
                </a:solidFill>
              </a:rPr>
              <a:t>make the contractor authority decision (evaluate the suitability register, sponsorship, and contingent-worker records), name its owner, and get read access to the register for a shadow reconciliation.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HR-Driven Identity">
  <a:themeElements>
    <a:clrScheme name="HR-Driven Identity">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HR-Driven Ident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Contractor Identity Source</dc:title>
  <dc:subject>PptxGenJS Presentation</dc:subject>
  <dc:creator>Mike Stratton</dc:creator>
  <cp:lastModifiedBy>Mike Stratton</cp:lastModifiedBy>
  <cp:revision>1</cp:revision>
  <dcterms:created xsi:type="dcterms:W3CDTF">2026-10-20T20:36:22Z</dcterms:created>
  <dcterms:modified xsi:type="dcterms:W3CDTF">2026-10-20T20:36:22Z</dcterms:modified>
</cp:coreProperties>
</file>