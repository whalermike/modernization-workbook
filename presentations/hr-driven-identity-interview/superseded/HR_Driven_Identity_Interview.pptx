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0a7d49-7144-814d-b55f-914f47241fe6}">
          <p14:sldIdLst>
            <p14:sldId id="256"/>
          </p14:sldIdLst>
        </p14:section>
        <p14:section name="The case" id="{ff31fc98-8202-290d-e428-4cfdad99f4a9}">
          <p14:sldIdLst>
            <p14:sldId id="257"/>
            <p14:sldId id="258"/>
            <p14:sldId id="259"/>
          </p14:sldIdLst>
        </p14:section>
        <p14:section name="The data" id="{6b9ccba2-3bde-9ffb-6394-1585c0c9b0b1}">
          <p14:sldIdLst>
            <p14:sldId id="260"/>
            <p14:sldId id="261"/>
            <p14:sldId id="262"/>
          </p14:sldIdLst>
        </p14:section>
        <p14:section name="Lifecycle and access" id="{150ff577-0799-b977-74eb-7b66a5a530b2}">
          <p14:sldIdLst>
            <p14:sldId id="263"/>
            <p14:sldId id="264"/>
            <p14:sldId id="265"/>
          </p14:sldIdLst>
        </p14:section>
        <p14:section name="Measurement and delivery" id="{e302bc30-ade5-0264-76d0-7b15543d83d7}">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Good morning, and thank you.
I chose the Digital Identity line of business, and I'm going to present work I've written up as a twelve-chapter modernization workbook: HR-Driven Identity — how hire, transfer and separation records in the HR system of record become accounts, access and evidence.
It's directly relevant to SSA: SSA is a Wave 2 agency in Federal HR 2.0, moving to Oracle Fusion Cloud HCM in fiscal 2027, and the identity feed has to be ready when SSA's interconnection goes live.
I'll follow the workbook's order: the problem, the federal program, the data — authority, the logical model and the physical crosswalk — then lifecycle, credentials, access, measurement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[0:40–1:50]  Chapter 00 — the overview.
The problem: workforce events are recorded in HR as effective-dated facts, and identity services find out late — by ticket, email, a periodic reconciliation, or an audit finding. The results are day-one access gaps, stale attributes, access kept after a move, duplicate identities after a conversion or rehire, and accounts that outlive their justification.
Swapping connectors doesn't fix that. The work is to establish a governed workforce identity model, connect authoritative events to the services that act on them, make those actions resilient and observable, and measure business-event-to-outcome time.
So the workbook is organized around these eight outcomes. The model, the pipeline and the workflows are the means; these are the objectives — and every one of them is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[1:50–3:00]  Chapter 01 — why HR is the source of authority.
A token proves who signed a claim. It can't tell you whether the person still works here, still holds the position, still reports to the approver. Those are employment facts, and they originate in one system: the human capital system of record.
The orphan timeline shows what happens without a channel from that system. HR knows two weeks early. On day zero everything is still live. A ticket disables the directory account on day three, nine application accounts stay on, a review finds two, and six months later a pen test signs in with one of the rest.
That's not a diligence failure — it's the design working as built. And the three usual patches don't fix it: cleanup produces a snapshot with no event source, making the directory the master just recreates tickets as the source of truth, and reviews sample state but can't see transitions. The fix is to designate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[3:00–4:10]  Chapter 02 — the federal program, and why the timing matters for SSA.
The December 10, 2025 OMB/OPM memo directs one government-wide Core HCM platform, and agencies pause their own Core HCM modernization. Oracle Fusion Cloud HCM was awarded on June 11, 2026. First Wave 1 go-lives are January to March 2027. SSA is in Wave 2, fully in fiscal 2027: each agency's onboarding runs about eight months, with interconnections live around month five. The government-wide goal is fiscal 2028, and EHRI and eOPF are then decommissioned.
Three consequences. The deadline isn't ours to set — the identity feed has to be ready at SSA's interconnection slot, so we plan backward from it. Anything built against EHRI-shaped feeds has an expiry date; the durable interface is Core HCM's own — extracts, ATOM feeds, REST and SCIM 2.0, which the solicitation requires. And no OPM document mandates Entra ID integration: OPM fixes the HR side, and the identity design is SSA's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[4:10–5:20]  Chapter 03 — attribute authority. This is the programmatic data knowledge.
For every attribute an access decision reads, the authority map names one owning system. Identifiers, legal name, worker type, status, position, organizational placement and supervisor are created by business acts in HR. UPN, mail and group memberships are derived by rule in the identity platform. Device identity and certificates belong to device management and PKI.
The operating rules make it work. One master per attribute — writeback, if used, carries only identity-platform values like work email back to HR, and never an HR-mastered fact. No manual edits to HR-derived attributes: an IT write to one is a drift event. Corrections flow upstream. And effective dating matters: HR records state transitions with timestamps, which is what lets us have accounts waiting on day one and revoke on the effective date.
The chapter also defines layered identifiers — enterprise person key, source key, affiliation key, directory ID, credential IDs — so a source change like the Core HCM cutover doesn't break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[5:20–6:30]  Chapter 05 — the canonical workforce identity model. This is the logical-to-physical modeling.
Logically, the model is the person, their affiliations and assignments, and the identifiers that link them — independent of any product. Physically, it becomes this crosswalk: one canonical field, and its name in every system — the Oracle HCM source, the SCIM payload, on-premises Active Directory, and Entra ID. It's the only crosswalk in the workbook; every other chapter links to it.
Three physical design rules. Native attributes first — employeeId, department, manager, employeeHireDate already mean what HR means, and other features understand them. Codes, never display strings, in anything that grants access. And the same carrier in both directories, so one rule works through years of coexistence.
Two details a data architect has to own: AD has no native hire or leave date, so the model chooses carriers; and the person number is a source correlation key, subject to the enterprise identifier decision — not automatically the universal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[6:30–7:40]  Chapter 04 — provisioning services, how the data moves.
The shape is: authoritative source, a boundary transformation that's source-specific and replaceable, the governed identity model as the durable contract, one provisioning service, and the target directories. In the Microsoft implementation that's middleware calling Graph's /bulkUpload endpoint, and the Entra provisioning service writing to Entra ID or, through the provisioning agent, to on-premises AD.
Oracle HCM has no native Entra connector, so this API-driven path is Microsoft's own Oracle guidance — and it matches the solicitation's SCIM 2.0 requirement. If the source changes, only the boundary changes.
Every event gets five duties: validate and fail closed; sequence, because an out-of-order mover and leaver is a correctness bug; normalize to one SCIM payload; write provenance before the call returns; and reconcile — read the provisioning logs, retry transient failures, and give permanent ones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[7:40–8:50]  Chapter 06 — joiner, mover, leaver.
The lifecycle is an event stream with five events — the three everyone names plus rehire and conversion, the two estates forget until they hurt. Each is an effective-dated HR record, and each maps to a fixed set of identity actions.
A joiner's account exists before the start date. A mover's attributes are re-stamped, so the old organization's access leaves as the new one's arrives, and what remains gets a review — that's PS-5. A leaver's logical access is blocked immediately. A rehire re-links the prior identifier instead of minting a second identity, and a conversion keeps the identifier and re-derives access.
The property that matters is the direction of causation: nobody remembers to disable a leaver — the separation record causes it. And the division of labor: inbound provisioning creates and updates accounts; Lifecycle Workflows act on users who already exist. A workflow never creates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[8:50–10:00]  Chapter 07 — credentials and the leaver sequence. This is the operational-safety core.
Block logical access first. At the effective separation time, disable the account in Entra ID and AD, then revoke sessions and refresh tokens — that's Microsoft's documented emergency-revocation order, and it matters because Entra caches certificate revocation lists: revoking a PIV certificate closes certificate sign-in only eventually; disabling and revoking tokens closes it now.
Then, in parallel: revoke the PIV and derived credentials through the card management system — FIPS 201-3 sets an 18-hour clock for a card that can't be collected — retire or wipe devices through Intune, and remove access packages, groups, licenses and privileged eligibility. Lifecycle Workflows has no built-in task for PIV or devices, so those run as custom task extensions, idempotent with bounded retry, and every failure escalates until revocation is confirmed.
Disposal comes last, because deleting a user leaves Intune SCEP certificates valid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[10:00–11:10]  Chapter 08 — from attributes to access.
The derivation chain: worker record, stamped attributes, dynamic groups, entitlements. Rules evaluate the coded access attributes from the canonical model — here, an organization code and a worker-type code — so nobody joins these groups and nobody forgets to leave one.
Every entitlement has a "because": access exists because an attribute satisfied a rule, the attribute exists because an HR record asserted it, and that record has an author, a date and a business act. That chain is queryable evidence.
It also has limits I'm deliberate about. In a dynamic group, whoever writes the attribute controls access — so the provisioning service is the only writer. And dynamic membership stops at privilege: privileged roles use assigned role-assignable groups, PIM for Groups doesn't accept dynamic groups, and break-glass accounts depend on none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[11:10–12:20]  Chapter 09 — drift, metrics and evidence.
An event-driven lifecycle is a measured one. Six metrics: separation-to-block and separation-to-revocation, transfer-to-review, joiner readiness, correlation coverage — the orphan population as a query instead of a hunt — and derivation purity, how much access still runs on hand assignment.
Drift is any difference between the HR record and the directory, and each class — missing identity, stale access, orphans, attribute drift, unauthorized writes, credential drift, schema drift — has a detection signal and a severity.
On the right, what the architecture contributes to AC-2, AC-2(1), PS-4, PS-5, IA-4 and SI-12. I'm careful with the claim: the architecture supplies mechanisms and evidence; it doesn't close the controls on its own. Agency policy, organization-defined parameters, procedures and assessment still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[12:20–13:40]  Chapters 10 and 11 — the execution plan and an illustrative deployment.
Seven phases, each gate the next phase's precondition. Phase 0 executes the HR 2.0 memo's preparation actions. Phase 1 — in amber — is the data architect's phase: sign the authority map and schema, record the identifier decision, fix data at the source. Phase 2 proves joiner, mover, leaver in a test tenant with evidence. Phase 3 pilots in shadow mode. Phase 4 automates, leavers first. Phase 5, in teal, cuts populations over to cloud-mastered as the Core HCM interconnection goes live. Phase 6 is sustained measurement. The thresholds in the gates are proposed starting criteria that agency risk governance approves.
Chapter 11 runs that plan against an illustrative Wave 2 agency of about fifty thousand employees: a bespoke HR-to-AD connector, two-thirds of users still AD-mastered, no drift detection. The phases surface the usual findings. And what survives the engagement belongs to the agency: the schema, code lists, workflows, rules and evidence — so the Core HCM cutover is a new source contract on the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[13:40–14:40]  To close, how this maps to what you asked me to cover.
Line-of-business knowledge: workforce digital identity, the Federal HR 2.0 program, and SSA's Wave 2 timeline — chapters 00 through 02. Programmatic data knowledge: the authority map — one owner for every attribute, and corrections that flow upstream — chapter 03. Logical and physical data modeling: the canonical workforce identity model and the single crosswalk from Oracle HCM through SCIM to AD and Entra ID — chapter 05. And data in motion and data quality: provenance on every event, drift classes and six lifecycle metrics — chapters 04 and 09.
The whole workbook is published and downloadable as one Word document, and I'm glad to go deeper on any chapter in the questions.
Thank you.
[Stop by 15:00. If running long, skip the rule example on slide 10 and the controls table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10698480" cy="91440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a:t>
            </a:r>
            <a:endParaRPr lang="en-US" sz="4400" dirty="0"/>
          </a:p>
        </p:txBody>
      </p:sp>
      <p:sp>
        <p:nvSpPr>
          <p:cNvPr id="3" name="Text 0"/>
          <p:cNvSpPr/>
          <p:nvPr>
            <p:ph idx="101" type="body" hasCustomPrompt="1"/>
          </p:nvPr>
        </p:nvSpPr>
        <p:spPr>
          <a:xfrm>
            <a:off x="731520" y="3520440"/>
            <a:ext cx="10698480" cy="914400"/>
          </a:xfrm>
          <a:prstGeom prst="rect">
            <a:avLst/>
          </a:prstGeom>
          <a:noFill/>
          <a:ln/>
        </p:spPr>
        <p:txBody>
          <a:bodyPr wrap="square" lIns="0" tIns="0" rIns="0" bIns="0" rtlCol="0" anchor="t"/>
          <a:lstStyle/>
          <a:p>
            <a:pPr indent="0" marL="0">
              <a:buNone/>
            </a:pPr>
            <a:r>
              <a:rPr lang="en-US" sz="2200" dirty="0">
                <a:solidFill>
                  <a:schemeClr val="accent2"/>
                </a:solidFill>
              </a:rPr>
              <a:t>From the HR system of record to Entra ID — authoritative workforce identity, automated lifecycle, governed access, and measurable evidence</a:t>
            </a:r>
            <a:endParaRPr lang="en-US" sz="2200" dirty="0"/>
          </a:p>
        </p:txBody>
      </p:sp>
      <p:sp>
        <p:nvSpPr>
          <p:cNvPr id="4"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Digital Identity line of business  ·  GS-14 Enterprise Data Architect  ·  Data Strategy and Enablement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goal is not a better HR connector</a:t>
            </a:r>
            <a:endParaRPr lang="en-US" sz="3000" dirty="0"/>
          </a:p>
        </p:txBody>
      </p:sp>
      <p:sp>
        <p:nvSpPr>
          <p:cNvPr id="3" name="Problem card"/>
          <p:cNvSpPr/>
          <p:nvPr/>
        </p:nvSpPr>
        <p:spPr>
          <a:xfrm>
            <a:off x="548640" y="1417320"/>
            <a:ext cx="4572000" cy="4709160"/>
          </a:xfrm>
          <a:prstGeom prst="roundRect">
            <a:avLst>
              <a:gd name="adj" fmla="val 1600"/>
            </a:avLst>
          </a:prstGeom>
          <a:solidFill>
            <a:srgbClr val="F1F5F9"/>
          </a:solidFill>
          <a:ln w="12700">
            <a:solidFill>
              <a:srgbClr val="F1F5F9"/>
            </a:solidFill>
            <a:prstDash val="solid"/>
          </a:ln>
        </p:spPr>
      </p:sp>
      <p:sp>
        <p:nvSpPr>
          <p:cNvPr id="4" name="Problem text"/>
          <p:cNvSpPr txBox="1"/>
          <p:nvPr/>
        </p:nvSpPr>
        <p:spPr>
          <a:xfrm>
            <a:off x="822960" y="1645920"/>
            <a:ext cx="4069080" cy="3291840"/>
          </a:xfrm>
          <a:prstGeom prst="rect">
            <a:avLst/>
          </a:prstGeom>
          <a:noFill/>
          <a:ln/>
        </p:spPr>
        <p:txBody>
          <a:bodyPr wrap="square" lIns="0" tIns="0" rIns="0" bIns="0" rtlCol="0" anchor="t"/>
          <a:lstStyle/>
          <a:p>
            <a:pPr indent="0" marL="0">
              <a:spcAft>
                <a:spcPts val="1000"/>
              </a:spcAft>
              <a:buNone/>
            </a:pPr>
            <a:r>
              <a:rPr lang="en-US" sz="2000" b="1" dirty="0">
                <a:solidFill>
                  <a:srgbClr val="1F2A44"/>
                </a:solidFill>
                <a:latin typeface="Cambria" pitchFamily="34" charset="0"/>
                <a:ea typeface="Cambria" pitchFamily="34" charset="-122"/>
                <a:cs typeface="Cambria" pitchFamily="34" charset="-120"/>
              </a:rPr>
              <a:t>The problem</a:t>
            </a:r>
            <a:endParaRPr lang="en-US" sz="1500" dirty="0"/>
          </a:p>
          <a:p>
            <a:pPr indent="0" marL="0">
              <a:spcAft>
                <a:spcPts val="1000"/>
              </a:spcAft>
              <a:buNone/>
            </a:pPr>
            <a:r>
              <a:rPr lang="en-US" sz="1500" dirty="0">
                <a:solidFill>
                  <a:schemeClr val="tx2"/>
                </a:solidFill>
              </a:rPr>
              <a:t>Hire, transfer, conversion, leave and separation are recorded as effective-dated workforce events. Identity services learn about them later — by ticket, email, periodic reconciliation or audit finding.</a:t>
            </a:r>
            <a:endParaRPr lang="en-US" sz="1500" dirty="0"/>
          </a:p>
          <a:p>
            <a:pPr indent="0" marL="0">
              <a:spcAft>
                <a:spcPts val="1000"/>
              </a:spcAft>
              <a:buNone/>
            </a:pPr>
            <a:r>
              <a:rPr lang="en-US" sz="1500" dirty="0">
                <a:solidFill>
                  <a:schemeClr val="tx2"/>
                </a:solidFill>
              </a:rPr>
              <a:t>Replacing one connector with another doesn’t solve that. The task is a governed workforce identity model, resilient and observable actions, and measured time from business event to verified identity outcome.</a:t>
            </a:r>
            <a:endParaRPr lang="en-US" sz="1500" dirty="0"/>
          </a:p>
        </p:txBody>
      </p:sp>
      <p:sp>
        <p:nvSpPr>
          <p:cNvPr id="5" name="Tagline"/>
          <p:cNvSpPr txBox="1"/>
          <p:nvPr/>
        </p:nvSpPr>
        <p:spPr>
          <a:xfrm>
            <a:off x="822960" y="5074920"/>
            <a:ext cx="4069080" cy="868680"/>
          </a:xfrm>
          <a:prstGeom prst="rect">
            <a:avLst/>
          </a:prstGeom>
          <a:noFill/>
          <a:ln/>
        </p:spPr>
        <p:txBody>
          <a:bodyPr wrap="square" lIns="0" tIns="0" rIns="0" bIns="0" rtlCol="0" anchor="t"/>
          <a:lstStyle/>
          <a:p>
            <a:pPr indent="0" marL="0">
              <a:buNone/>
            </a:pPr>
            <a:r>
              <a:rPr lang="en-US" sz="1600" b="1" i="1" dirty="0">
                <a:solidFill>
                  <a:srgbClr val="0F766E"/>
                </a:solidFill>
                <a:latin typeface="Cambria" pitchFamily="34" charset="0"/>
                <a:ea typeface="Cambria" pitchFamily="34" charset="-122"/>
                <a:cs typeface="Cambria" pitchFamily="34" charset="-120"/>
              </a:rPr>
              <a:t>The goal is workforce identity changes that are timely, explainable and measurable.</a:t>
            </a:r>
            <a:endParaRPr lang="en-US" sz="1600" dirty="0"/>
          </a:p>
        </p:txBody>
      </p:sp>
      <p:sp>
        <p:nvSpPr>
          <p:cNvPr id="6" name="Outcomes heading"/>
          <p:cNvSpPr txBox="1"/>
          <p:nvPr/>
        </p:nvSpPr>
        <p:spPr>
          <a:xfrm>
            <a:off x="5440680" y="1417320"/>
            <a:ext cx="6217920" cy="411480"/>
          </a:xfrm>
          <a:prstGeom prst="rect">
            <a:avLst/>
          </a:prstGeom>
          <a:noFill/>
          <a:ln/>
        </p:spPr>
        <p:txBody>
          <a:bodyPr wrap="square" lIns="0" tIns="0" rIns="0" bIns="0" rtlCol="0" anchor="t"/>
          <a:lstStyle/>
          <a:p>
            <a:pPr indent="0" marL="0">
              <a:buNone/>
            </a:pPr>
            <a:r>
              <a:rPr lang="en-US" sz="2000" b="1" dirty="0">
                <a:solidFill>
                  <a:srgbClr val="0F766E"/>
                </a:solidFill>
                <a:latin typeface="Cambria" pitchFamily="34" charset="0"/>
                <a:ea typeface="Cambria" pitchFamily="34" charset="-122"/>
                <a:cs typeface="Cambria" pitchFamily="34" charset="-120"/>
              </a:rPr>
              <a:t>Modernization outcomes</a:t>
            </a:r>
            <a:endParaRPr lang="en-US" sz="2000" dirty="0"/>
          </a:p>
        </p:txBody>
      </p:sp>
      <p:sp>
        <p:nvSpPr>
          <p:cNvPr id="7" name="Outcome 1"/>
          <p:cNvSpPr/>
          <p:nvPr/>
        </p:nvSpPr>
        <p:spPr>
          <a:xfrm>
            <a:off x="5440680" y="1965960"/>
            <a:ext cx="3017520" cy="914400"/>
          </a:xfrm>
          <a:prstGeom prst="roundRect">
            <a:avLst>
              <a:gd name="adj" fmla="val 8000"/>
            </a:avLst>
          </a:prstGeom>
          <a:solidFill>
            <a:srgbClr val="E6F2F1"/>
          </a:solidFill>
          <a:ln w="12700">
            <a:solidFill>
              <a:srgbClr val="E6F2F1"/>
            </a:solidFill>
            <a:prstDash val="solid"/>
          </a:ln>
        </p:spPr>
      </p:sp>
      <p:sp>
        <p:nvSpPr>
          <p:cNvPr id="8" name="Outcome 1 text"/>
          <p:cNvSpPr txBox="1"/>
          <p:nvPr/>
        </p:nvSpPr>
        <p:spPr>
          <a:xfrm>
            <a:off x="5577840" y="203911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Day-one readiness</a:t>
            </a:r>
            <a:endParaRPr lang="en-US" sz="1500" dirty="0"/>
          </a:p>
          <a:p>
            <a:pPr indent="0" marL="0">
              <a:buNone/>
            </a:pPr>
            <a:r>
              <a:rPr lang="en-US" sz="1250" dirty="0">
                <a:solidFill>
                  <a:schemeClr val="tx2"/>
                </a:solidFill>
              </a:rPr>
              <a:t>Accounts and baseline access ready at start</a:t>
            </a:r>
            <a:endParaRPr lang="en-US" sz="1500" dirty="0"/>
          </a:p>
        </p:txBody>
      </p:sp>
      <p:sp>
        <p:nvSpPr>
          <p:cNvPr id="9" name="Outcome 2"/>
          <p:cNvSpPr/>
          <p:nvPr/>
        </p:nvSpPr>
        <p:spPr>
          <a:xfrm>
            <a:off x="8595360" y="1965960"/>
            <a:ext cx="3017520" cy="914400"/>
          </a:xfrm>
          <a:prstGeom prst="roundRect">
            <a:avLst>
              <a:gd name="adj" fmla="val 8000"/>
            </a:avLst>
          </a:prstGeom>
          <a:solidFill>
            <a:srgbClr val="E6F2F1"/>
          </a:solidFill>
          <a:ln w="12700">
            <a:solidFill>
              <a:srgbClr val="E6F2F1"/>
            </a:solidFill>
            <a:prstDash val="solid"/>
          </a:ln>
        </p:spPr>
      </p:sp>
      <p:sp>
        <p:nvSpPr>
          <p:cNvPr id="10" name="Outcome 2 text"/>
          <p:cNvSpPr txBox="1"/>
          <p:nvPr/>
        </p:nvSpPr>
        <p:spPr>
          <a:xfrm>
            <a:off x="8732520" y="203911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Separation-to-block</a:t>
            </a:r>
            <a:endParaRPr lang="en-US" sz="1500" dirty="0"/>
          </a:p>
          <a:p>
            <a:pPr indent="0" marL="0">
              <a:buNone/>
            </a:pPr>
            <a:r>
              <a:rPr lang="en-US" sz="1250" dirty="0">
                <a:solidFill>
                  <a:schemeClr val="tx2"/>
                </a:solidFill>
              </a:rPr>
              <a:t>Logical access blocked at the effective time</a:t>
            </a:r>
            <a:endParaRPr lang="en-US" sz="1500" dirty="0"/>
          </a:p>
        </p:txBody>
      </p:sp>
      <p:sp>
        <p:nvSpPr>
          <p:cNvPr id="11" name="Outcome 3"/>
          <p:cNvSpPr/>
          <p:nvPr/>
        </p:nvSpPr>
        <p:spPr>
          <a:xfrm>
            <a:off x="5440680" y="3017520"/>
            <a:ext cx="3017520" cy="914400"/>
          </a:xfrm>
          <a:prstGeom prst="roundRect">
            <a:avLst>
              <a:gd name="adj" fmla="val 8000"/>
            </a:avLst>
          </a:prstGeom>
          <a:solidFill>
            <a:srgbClr val="E6F2F1"/>
          </a:solidFill>
          <a:ln w="12700">
            <a:solidFill>
              <a:srgbClr val="E6F2F1"/>
            </a:solidFill>
            <a:prstDash val="solid"/>
          </a:ln>
        </p:spPr>
      </p:sp>
      <p:sp>
        <p:nvSpPr>
          <p:cNvPr id="12" name="Outcome 3 text"/>
          <p:cNvSpPr txBox="1"/>
          <p:nvPr/>
        </p:nvSpPr>
        <p:spPr>
          <a:xfrm>
            <a:off x="5577840" y="309067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Revocation completion</a:t>
            </a:r>
            <a:endParaRPr lang="en-US" sz="1500" dirty="0"/>
          </a:p>
          <a:p>
            <a:pPr indent="0" marL="0">
              <a:buNone/>
            </a:pPr>
            <a:r>
              <a:rPr lang="en-US" sz="1250" dirty="0">
                <a:solidFill>
                  <a:schemeClr val="tx2"/>
                </a:solidFill>
              </a:rPr>
              <a:t>PIV, devices, sessions reconciled to completion</a:t>
            </a:r>
            <a:endParaRPr lang="en-US" sz="1500" dirty="0"/>
          </a:p>
        </p:txBody>
      </p:sp>
      <p:sp>
        <p:nvSpPr>
          <p:cNvPr id="13" name="Outcome 4"/>
          <p:cNvSpPr/>
          <p:nvPr/>
        </p:nvSpPr>
        <p:spPr>
          <a:xfrm>
            <a:off x="8595360" y="3017520"/>
            <a:ext cx="3017520" cy="914400"/>
          </a:xfrm>
          <a:prstGeom prst="roundRect">
            <a:avLst>
              <a:gd name="adj" fmla="val 8000"/>
            </a:avLst>
          </a:prstGeom>
          <a:solidFill>
            <a:srgbClr val="E6F2F1"/>
          </a:solidFill>
          <a:ln w="12700">
            <a:solidFill>
              <a:srgbClr val="E6F2F1"/>
            </a:solidFill>
            <a:prstDash val="solid"/>
          </a:ln>
        </p:spPr>
      </p:sp>
      <p:sp>
        <p:nvSpPr>
          <p:cNvPr id="14" name="Outcome 4 text"/>
          <p:cNvSpPr txBox="1"/>
          <p:nvPr/>
        </p:nvSpPr>
        <p:spPr>
          <a:xfrm>
            <a:off x="8732520" y="309067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Mover convergence</a:t>
            </a:r>
            <a:endParaRPr lang="en-US" sz="1500" dirty="0"/>
          </a:p>
          <a:p>
            <a:pPr indent="0" marL="0">
              <a:buNone/>
            </a:pPr>
            <a:r>
              <a:rPr lang="en-US" sz="1250" dirty="0">
                <a:solidFill>
                  <a:schemeClr val="tx2"/>
                </a:solidFill>
              </a:rPr>
              <a:t>Prior-assignment access removed and reviewed</a:t>
            </a:r>
            <a:endParaRPr lang="en-US" sz="1500" dirty="0"/>
          </a:p>
        </p:txBody>
      </p:sp>
      <p:sp>
        <p:nvSpPr>
          <p:cNvPr id="15" name="Outcome 5"/>
          <p:cNvSpPr/>
          <p:nvPr/>
        </p:nvSpPr>
        <p:spPr>
          <a:xfrm>
            <a:off x="5440680" y="4069080"/>
            <a:ext cx="3017520" cy="914400"/>
          </a:xfrm>
          <a:prstGeom prst="roundRect">
            <a:avLst>
              <a:gd name="adj" fmla="val 8000"/>
            </a:avLst>
          </a:prstGeom>
          <a:solidFill>
            <a:srgbClr val="E6F2F1"/>
          </a:solidFill>
          <a:ln w="12700">
            <a:solidFill>
              <a:srgbClr val="E6F2F1"/>
            </a:solidFill>
            <a:prstDash val="solid"/>
          </a:ln>
        </p:spPr>
      </p:sp>
      <p:sp>
        <p:nvSpPr>
          <p:cNvPr id="16" name="Outcome 5 text"/>
          <p:cNvSpPr txBox="1"/>
          <p:nvPr/>
        </p:nvSpPr>
        <p:spPr>
          <a:xfrm>
            <a:off x="5577840" y="414223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Correlation coverage</a:t>
            </a:r>
            <a:endParaRPr lang="en-US" sz="1500" dirty="0"/>
          </a:p>
          <a:p>
            <a:pPr indent="0" marL="0">
              <a:buNone/>
            </a:pPr>
            <a:r>
              <a:rPr lang="en-US" sz="1250" dirty="0">
                <a:solidFill>
                  <a:schemeClr val="tx2"/>
                </a:solidFill>
              </a:rPr>
              <a:t>Enabled accounts reconcile to workforce records</a:t>
            </a:r>
            <a:endParaRPr lang="en-US" sz="1500" dirty="0"/>
          </a:p>
        </p:txBody>
      </p:sp>
      <p:sp>
        <p:nvSpPr>
          <p:cNvPr id="17" name="Outcome 6"/>
          <p:cNvSpPr/>
          <p:nvPr/>
        </p:nvSpPr>
        <p:spPr>
          <a:xfrm>
            <a:off x="8595360" y="4069080"/>
            <a:ext cx="3017520" cy="914400"/>
          </a:xfrm>
          <a:prstGeom prst="roundRect">
            <a:avLst>
              <a:gd name="adj" fmla="val 8000"/>
            </a:avLst>
          </a:prstGeom>
          <a:solidFill>
            <a:srgbClr val="E6F2F1"/>
          </a:solidFill>
          <a:ln w="12700">
            <a:solidFill>
              <a:srgbClr val="E6F2F1"/>
            </a:solidFill>
            <a:prstDash val="solid"/>
          </a:ln>
        </p:spPr>
      </p:sp>
      <p:sp>
        <p:nvSpPr>
          <p:cNvPr id="18" name="Outcome 6 text"/>
          <p:cNvSpPr txBox="1"/>
          <p:nvPr/>
        </p:nvSpPr>
        <p:spPr>
          <a:xfrm>
            <a:off x="8732520" y="414223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Orphan reduction</a:t>
            </a:r>
            <a:endParaRPr lang="en-US" sz="1500" dirty="0"/>
          </a:p>
          <a:p>
            <a:pPr indent="0" marL="0">
              <a:buNone/>
            </a:pPr>
            <a:r>
              <a:rPr lang="en-US" sz="1250" dirty="0">
                <a:solidFill>
                  <a:schemeClr val="tx2"/>
                </a:solidFill>
              </a:rPr>
              <a:t>Accounts with no authority record found and resolved</a:t>
            </a:r>
            <a:endParaRPr lang="en-US" sz="1500" dirty="0"/>
          </a:p>
        </p:txBody>
      </p:sp>
      <p:sp>
        <p:nvSpPr>
          <p:cNvPr id="19" name="Outcome 7"/>
          <p:cNvSpPr/>
          <p:nvPr/>
        </p:nvSpPr>
        <p:spPr>
          <a:xfrm>
            <a:off x="5440680" y="5120640"/>
            <a:ext cx="3017520" cy="914400"/>
          </a:xfrm>
          <a:prstGeom prst="roundRect">
            <a:avLst>
              <a:gd name="adj" fmla="val 8000"/>
            </a:avLst>
          </a:prstGeom>
          <a:solidFill>
            <a:srgbClr val="E6F2F1"/>
          </a:solidFill>
          <a:ln w="12700">
            <a:solidFill>
              <a:srgbClr val="E6F2F1"/>
            </a:solidFill>
            <a:prstDash val="solid"/>
          </a:ln>
        </p:spPr>
      </p:sp>
      <p:sp>
        <p:nvSpPr>
          <p:cNvPr id="20" name="Outcome 7 text"/>
          <p:cNvSpPr txBox="1"/>
          <p:nvPr/>
        </p:nvSpPr>
        <p:spPr>
          <a:xfrm>
            <a:off x="5577840" y="519379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Explainable access</a:t>
            </a:r>
            <a:endParaRPr lang="en-US" sz="1500" dirty="0"/>
          </a:p>
          <a:p>
            <a:pPr indent="0" marL="0">
              <a:buNone/>
            </a:pPr>
            <a:r>
              <a:rPr lang="en-US" sz="1250" dirty="0">
                <a:solidFill>
                  <a:schemeClr val="tx2"/>
                </a:solidFill>
              </a:rPr>
              <a:t>Every entitlement traces to a rule or exception</a:t>
            </a:r>
            <a:endParaRPr lang="en-US" sz="1500" dirty="0"/>
          </a:p>
        </p:txBody>
      </p:sp>
      <p:sp>
        <p:nvSpPr>
          <p:cNvPr id="21" name="Outcome 8"/>
          <p:cNvSpPr/>
          <p:nvPr/>
        </p:nvSpPr>
        <p:spPr>
          <a:xfrm>
            <a:off x="8595360" y="5120640"/>
            <a:ext cx="3017520" cy="914400"/>
          </a:xfrm>
          <a:prstGeom prst="roundRect">
            <a:avLst>
              <a:gd name="adj" fmla="val 8000"/>
            </a:avLst>
          </a:prstGeom>
          <a:solidFill>
            <a:srgbClr val="E6F2F1"/>
          </a:solidFill>
          <a:ln w="12700">
            <a:solidFill>
              <a:srgbClr val="E6F2F1"/>
            </a:solidFill>
            <a:prstDash val="solid"/>
          </a:ln>
        </p:spPr>
      </p:sp>
      <p:sp>
        <p:nvSpPr>
          <p:cNvPr id="22" name="Outcome 8 text"/>
          <p:cNvSpPr txBox="1"/>
          <p:nvPr/>
        </p:nvSpPr>
        <p:spPr>
          <a:xfrm>
            <a:off x="8732520" y="5193792"/>
            <a:ext cx="2788920" cy="786384"/>
          </a:xfrm>
          <a:prstGeom prst="rect">
            <a:avLst/>
          </a:prstGeom>
          <a:noFill/>
          <a:ln/>
        </p:spPr>
        <p:txBody>
          <a:bodyPr wrap="square" lIns="0" tIns="0" rIns="0" bIns="0" rtlCol="0" anchor="ctr"/>
          <a:lstStyle/>
          <a:p>
            <a:pPr indent="0" marL="0">
              <a:buNone/>
            </a:pPr>
            <a:r>
              <a:rPr lang="en-US" sz="1500" b="1" dirty="0">
                <a:solidFill>
                  <a:srgbClr val="0F766E"/>
                </a:solidFill>
              </a:rPr>
              <a:t>Continuous evidence</a:t>
            </a:r>
            <a:endParaRPr lang="en-US" sz="1500" dirty="0"/>
          </a:p>
          <a:p>
            <a:pPr indent="0" marL="0">
              <a:buNone/>
            </a:pPr>
            <a:r>
              <a:rPr lang="en-US" sz="1250" dirty="0">
                <a:solidFill>
                  <a:schemeClr val="tx2"/>
                </a:solidFill>
              </a:rPr>
              <a:t>Produced by normal operation, not assembled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HR is the source of authority</a:t>
            </a:r>
            <a:endParaRPr lang="en-US" sz="3000" dirty="0"/>
          </a:p>
        </p:txBody>
      </p:sp>
      <p:sp>
        <p:nvSpPr>
          <p:cNvPr id="3" name="Shape 1"/>
          <p:cNvSpPr/>
          <p:nvPr/>
        </p:nvSpPr>
        <p:spPr>
          <a:xfrm>
            <a:off x="1691640" y="2377440"/>
            <a:ext cx="8778240" cy="0"/>
          </a:xfrm>
          <a:prstGeom prst="line">
            <a:avLst/>
          </a:prstGeom>
          <a:noFill/>
          <a:ln w="19050">
            <a:solidFill>
              <a:srgbClr val="64748B"/>
            </a:solidFill>
            <a:prstDash val="solid"/>
          </a:ln>
        </p:spPr>
      </p:sp>
      <p:sp>
        <p:nvSpPr>
          <p:cNvPr id="4" name="Timeline dot 1"/>
          <p:cNvSpPr/>
          <p:nvPr/>
        </p:nvSpPr>
        <p:spPr>
          <a:xfrm>
            <a:off x="1490472" y="2176272"/>
            <a:ext cx="402336" cy="402336"/>
          </a:xfrm>
          <a:prstGeom prst="ellipse">
            <a:avLst/>
          </a:prstGeom>
          <a:solidFill>
            <a:srgbClr val="0F766E"/>
          </a:solidFill>
          <a:ln w="25400">
            <a:solidFill>
              <a:srgbClr val="FFFFFF"/>
            </a:solidFill>
            <a:prstDash val="solid"/>
          </a:ln>
        </p:spPr>
      </p:sp>
      <p:sp>
        <p:nvSpPr>
          <p:cNvPr id="5" name="Timeline day 1"/>
          <p:cNvSpPr txBox="1"/>
          <p:nvPr/>
        </p:nvSpPr>
        <p:spPr>
          <a:xfrm>
            <a:off x="594360" y="1554480"/>
            <a:ext cx="2194560" cy="457200"/>
          </a:xfrm>
          <a:prstGeom prst="rect">
            <a:avLst/>
          </a:prstGeom>
          <a:noFill/>
          <a:ln/>
        </p:spPr>
        <p:txBody>
          <a:bodyPr wrap="square" lIns="0" tIns="0" rIns="0" bIns="0" rtlCol="0" anchor="t"/>
          <a:lstStyle/>
          <a:p>
            <a:pPr algn="ctr" indent="0" marL="0">
              <a:buNone/>
            </a:pPr>
            <a:r>
              <a:rPr lang="en-US" sz="2000" b="1" dirty="0">
                <a:solidFill>
                  <a:srgbClr val="0F766E"/>
                </a:solidFill>
                <a:latin typeface="Cambria" pitchFamily="34" charset="0"/>
                <a:ea typeface="Cambria" pitchFamily="34" charset="-122"/>
                <a:cs typeface="Cambria" pitchFamily="34" charset="-120"/>
              </a:rPr>
              <a:t>Day −14</a:t>
            </a:r>
            <a:endParaRPr lang="en-US" sz="2000" dirty="0"/>
          </a:p>
        </p:txBody>
      </p:sp>
      <p:sp>
        <p:nvSpPr>
          <p:cNvPr id="6" name="Timeline event 1"/>
          <p:cNvSpPr txBox="1"/>
          <p:nvPr/>
        </p:nvSpPr>
        <p:spPr>
          <a:xfrm>
            <a:off x="70408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HR records the separation</a:t>
            </a:r>
            <a:endParaRPr lang="en-US" sz="1400" dirty="0"/>
          </a:p>
          <a:p>
            <a:pPr algn="ctr" indent="0" marL="0">
              <a:buNone/>
            </a:pPr>
            <a:r>
              <a:rPr lang="en-US" sz="1400" dirty="0">
                <a:solidFill>
                  <a:schemeClr val="tx2"/>
                </a:solidFill>
              </a:rPr>
              <a:t>No other system is listening</a:t>
            </a:r>
            <a:endParaRPr lang="en-US" sz="1400" dirty="0"/>
          </a:p>
        </p:txBody>
      </p:sp>
      <p:sp>
        <p:nvSpPr>
          <p:cNvPr id="7" name="Timeline dot 2"/>
          <p:cNvSpPr/>
          <p:nvPr/>
        </p:nvSpPr>
        <p:spPr>
          <a:xfrm>
            <a:off x="3685032" y="2176272"/>
            <a:ext cx="402336" cy="402336"/>
          </a:xfrm>
          <a:prstGeom prst="ellipse">
            <a:avLst/>
          </a:prstGeom>
          <a:solidFill>
            <a:srgbClr val="B45309"/>
          </a:solidFill>
          <a:ln w="25400">
            <a:solidFill>
              <a:srgbClr val="FFFFFF"/>
            </a:solidFill>
            <a:prstDash val="solid"/>
          </a:ln>
        </p:spPr>
      </p:sp>
      <p:sp>
        <p:nvSpPr>
          <p:cNvPr id="8" name="Timeline day 2"/>
          <p:cNvSpPr txBox="1"/>
          <p:nvPr/>
        </p:nvSpPr>
        <p:spPr>
          <a:xfrm>
            <a:off x="2788920" y="1554480"/>
            <a:ext cx="2194560" cy="45720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Day 0</a:t>
            </a:r>
            <a:endParaRPr lang="en-US" sz="2000" dirty="0"/>
          </a:p>
        </p:txBody>
      </p:sp>
      <p:sp>
        <p:nvSpPr>
          <p:cNvPr id="9" name="Timeline event 2"/>
          <p:cNvSpPr txBox="1"/>
          <p:nvPr/>
        </p:nvSpPr>
        <p:spPr>
          <a:xfrm>
            <a:off x="289864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Separation takes effect</a:t>
            </a:r>
            <a:endParaRPr lang="en-US" sz="1400" dirty="0"/>
          </a:p>
          <a:p>
            <a:pPr algn="ctr" indent="0" marL="0">
              <a:buNone/>
            </a:pPr>
            <a:r>
              <a:rPr lang="en-US" sz="1400" dirty="0">
                <a:solidFill>
                  <a:schemeClr val="tx2"/>
                </a:solidFill>
              </a:rPr>
              <a:t>Account, app logins and badge all still live</a:t>
            </a:r>
            <a:endParaRPr lang="en-US" sz="1400" dirty="0"/>
          </a:p>
        </p:txBody>
      </p:sp>
      <p:sp>
        <p:nvSpPr>
          <p:cNvPr id="10" name="Timeline dot 3"/>
          <p:cNvSpPr/>
          <p:nvPr/>
        </p:nvSpPr>
        <p:spPr>
          <a:xfrm>
            <a:off x="5879592" y="2176272"/>
            <a:ext cx="402336" cy="402336"/>
          </a:xfrm>
          <a:prstGeom prst="ellipse">
            <a:avLst/>
          </a:prstGeom>
          <a:solidFill>
            <a:srgbClr val="B45309"/>
          </a:solidFill>
          <a:ln w="25400">
            <a:solidFill>
              <a:srgbClr val="FFFFFF"/>
            </a:solidFill>
            <a:prstDash val="solid"/>
          </a:ln>
        </p:spPr>
      </p:sp>
      <p:sp>
        <p:nvSpPr>
          <p:cNvPr id="11" name="Timeline day 3"/>
          <p:cNvSpPr txBox="1"/>
          <p:nvPr/>
        </p:nvSpPr>
        <p:spPr>
          <a:xfrm>
            <a:off x="4983480" y="1554480"/>
            <a:ext cx="2194560" cy="45720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Day +3</a:t>
            </a:r>
            <a:endParaRPr lang="en-US" sz="2000" dirty="0"/>
          </a:p>
        </p:txBody>
      </p:sp>
      <p:sp>
        <p:nvSpPr>
          <p:cNvPr id="12" name="Timeline event 3"/>
          <p:cNvSpPr txBox="1"/>
          <p:nvPr/>
        </p:nvSpPr>
        <p:spPr>
          <a:xfrm>
            <a:off x="509320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A ticket disables the account</a:t>
            </a:r>
            <a:endParaRPr lang="en-US" sz="1400" dirty="0"/>
          </a:p>
          <a:p>
            <a:pPr algn="ctr" indent="0" marL="0">
              <a:buNone/>
            </a:pPr>
            <a:r>
              <a:rPr lang="en-US" sz="1400" dirty="0">
                <a:solidFill>
                  <a:schemeClr val="tx2"/>
                </a:solidFill>
              </a:rPr>
              <a:t>Nine application accounts stay enabled</a:t>
            </a:r>
            <a:endParaRPr lang="en-US" sz="1400" dirty="0"/>
          </a:p>
        </p:txBody>
      </p:sp>
      <p:sp>
        <p:nvSpPr>
          <p:cNvPr id="13" name="Timeline dot 4"/>
          <p:cNvSpPr/>
          <p:nvPr/>
        </p:nvSpPr>
        <p:spPr>
          <a:xfrm>
            <a:off x="8074152" y="2176272"/>
            <a:ext cx="402336" cy="402336"/>
          </a:xfrm>
          <a:prstGeom prst="ellipse">
            <a:avLst/>
          </a:prstGeom>
          <a:solidFill>
            <a:srgbClr val="B91C1C"/>
          </a:solidFill>
          <a:ln w="25400">
            <a:solidFill>
              <a:srgbClr val="FFFFFF"/>
            </a:solidFill>
            <a:prstDash val="solid"/>
          </a:ln>
        </p:spPr>
      </p:sp>
      <p:sp>
        <p:nvSpPr>
          <p:cNvPr id="14" name="Timeline day 4"/>
          <p:cNvSpPr txBox="1"/>
          <p:nvPr/>
        </p:nvSpPr>
        <p:spPr>
          <a:xfrm>
            <a:off x="7178040" y="1554480"/>
            <a:ext cx="2194560" cy="457200"/>
          </a:xfrm>
          <a:prstGeom prst="rect">
            <a:avLst/>
          </a:prstGeom>
          <a:noFill/>
          <a:ln/>
        </p:spPr>
        <p:txBody>
          <a:bodyPr wrap="square" lIns="0" tIns="0" rIns="0" bIns="0" rtlCol="0" anchor="t"/>
          <a:lstStyle/>
          <a:p>
            <a:pPr algn="ctr" indent="0" marL="0">
              <a:buNone/>
            </a:pPr>
            <a:r>
              <a:rPr lang="en-US" sz="2000" b="1" dirty="0">
                <a:solidFill>
                  <a:srgbClr val="B91C1C"/>
                </a:solidFill>
                <a:latin typeface="Cambria" pitchFamily="34" charset="0"/>
                <a:ea typeface="Cambria" pitchFamily="34" charset="-122"/>
                <a:cs typeface="Cambria" pitchFamily="34" charset="-120"/>
              </a:rPr>
              <a:t>Day +45</a:t>
            </a:r>
            <a:endParaRPr lang="en-US" sz="2000" dirty="0"/>
          </a:p>
        </p:txBody>
      </p:sp>
      <p:sp>
        <p:nvSpPr>
          <p:cNvPr id="15" name="Timeline event 4"/>
          <p:cNvSpPr txBox="1"/>
          <p:nvPr/>
        </p:nvSpPr>
        <p:spPr>
          <a:xfrm>
            <a:off x="728776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Quarterly review flags two</a:t>
            </a:r>
            <a:endParaRPr lang="en-US" sz="1400" dirty="0"/>
          </a:p>
          <a:p>
            <a:pPr algn="ctr" indent="0" marL="0">
              <a:buNone/>
            </a:pPr>
            <a:r>
              <a:rPr lang="en-US" sz="1400" dirty="0">
                <a:solidFill>
                  <a:schemeClr val="tx2"/>
                </a:solidFill>
              </a:rPr>
              <a:t>Nobody owns the other seven</a:t>
            </a:r>
            <a:endParaRPr lang="en-US" sz="1400" dirty="0"/>
          </a:p>
        </p:txBody>
      </p:sp>
      <p:sp>
        <p:nvSpPr>
          <p:cNvPr id="16" name="Timeline dot 5"/>
          <p:cNvSpPr/>
          <p:nvPr/>
        </p:nvSpPr>
        <p:spPr>
          <a:xfrm>
            <a:off x="10268712" y="2176272"/>
            <a:ext cx="402336" cy="402336"/>
          </a:xfrm>
          <a:prstGeom prst="ellipse">
            <a:avLst/>
          </a:prstGeom>
          <a:solidFill>
            <a:srgbClr val="B91C1C"/>
          </a:solidFill>
          <a:ln w="25400">
            <a:solidFill>
              <a:srgbClr val="FFFFFF"/>
            </a:solidFill>
            <a:prstDash val="solid"/>
          </a:ln>
        </p:spPr>
      </p:sp>
      <p:sp>
        <p:nvSpPr>
          <p:cNvPr id="17" name="Timeline day 5"/>
          <p:cNvSpPr txBox="1"/>
          <p:nvPr/>
        </p:nvSpPr>
        <p:spPr>
          <a:xfrm>
            <a:off x="9372600" y="1554480"/>
            <a:ext cx="2194560" cy="457200"/>
          </a:xfrm>
          <a:prstGeom prst="rect">
            <a:avLst/>
          </a:prstGeom>
          <a:noFill/>
          <a:ln/>
        </p:spPr>
        <p:txBody>
          <a:bodyPr wrap="square" lIns="0" tIns="0" rIns="0" bIns="0" rtlCol="0" anchor="t"/>
          <a:lstStyle/>
          <a:p>
            <a:pPr algn="ctr" indent="0" marL="0">
              <a:buNone/>
            </a:pPr>
            <a:r>
              <a:rPr lang="en-US" sz="2000" b="1" dirty="0">
                <a:solidFill>
                  <a:srgbClr val="B91C1C"/>
                </a:solidFill>
                <a:latin typeface="Cambria" pitchFamily="34" charset="0"/>
                <a:ea typeface="Cambria" pitchFamily="34" charset="-122"/>
                <a:cs typeface="Cambria" pitchFamily="34" charset="-120"/>
              </a:rPr>
              <a:t>Day +180</a:t>
            </a:r>
            <a:endParaRPr lang="en-US" sz="2000" dirty="0"/>
          </a:p>
        </p:txBody>
      </p:sp>
      <p:sp>
        <p:nvSpPr>
          <p:cNvPr id="18" name="Timeline event 5"/>
          <p:cNvSpPr txBox="1"/>
          <p:nvPr/>
        </p:nvSpPr>
        <p:spPr>
          <a:xfrm>
            <a:off x="948232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Pen test signs in with one</a:t>
            </a:r>
            <a:endParaRPr lang="en-US" sz="1400" dirty="0"/>
          </a:p>
          <a:p>
            <a:pPr algn="ctr" indent="0" marL="0">
              <a:buNone/>
            </a:pPr>
            <a:r>
              <a:rPr lang="en-US" sz="1400" dirty="0">
                <a:solidFill>
                  <a:schemeClr val="tx2"/>
                </a:solidFill>
              </a:rPr>
              <a:t>The gap is now an incident</a:t>
            </a:r>
            <a:endParaRPr lang="en-US" sz="1400" dirty="0"/>
          </a:p>
        </p:txBody>
      </p:sp>
      <p:sp>
        <p:nvSpPr>
          <p:cNvPr id="19" name="Takeaway"/>
          <p:cNvSpPr/>
          <p:nvPr/>
        </p:nvSpPr>
        <p:spPr>
          <a:xfrm>
            <a:off x="548640" y="4343400"/>
            <a:ext cx="11109960" cy="1737360"/>
          </a:xfrm>
          <a:prstGeom prst="roundRect">
            <a:avLst>
              <a:gd name="adj" fmla="val 4211"/>
            </a:avLst>
          </a:prstGeom>
          <a:solidFill>
            <a:srgbClr val="F1F5F9"/>
          </a:solidFill>
          <a:ln w="12700">
            <a:solidFill>
              <a:srgbClr val="F1F5F9"/>
            </a:solidFill>
            <a:prstDash val="solid"/>
          </a:ln>
        </p:spPr>
      </p:sp>
      <p:sp>
        <p:nvSpPr>
          <p:cNvPr id="20" name="Takeaway text"/>
          <p:cNvSpPr txBox="1"/>
          <p:nvPr/>
        </p:nvSpPr>
        <p:spPr>
          <a:xfrm>
            <a:off x="868680" y="4526280"/>
            <a:ext cx="10515600" cy="1417320"/>
          </a:xfrm>
          <a:prstGeom prst="rect">
            <a:avLst/>
          </a:prstGeom>
          <a:noFill/>
          <a:ln/>
        </p:spPr>
        <p:txBody>
          <a:bodyPr wrap="square" lIns="0" tIns="0" rIns="0" bIns="0" rtlCol="0" anchor="ctr"/>
          <a:lstStyle/>
          <a:p>
            <a:pPr indent="0" marL="0">
              <a:spcAft>
                <a:spcPts val="600"/>
              </a:spcAft>
              <a:buNone/>
            </a:pPr>
            <a:r>
              <a:rPr lang="en-US" sz="2000" b="1" dirty="0">
                <a:solidFill>
                  <a:srgbClr val="1F2A44"/>
                </a:solidFill>
              </a:rPr>
              <a:t>A credential proves who signed a claim — not whether the claim is still true.</a:t>
            </a:r>
            <a:endParaRPr lang="en-US" sz="1400" dirty="0"/>
          </a:p>
          <a:p>
            <a:pPr indent="0" marL="0">
              <a:spcAft>
                <a:spcPts val="600"/>
              </a:spcAft>
              <a:buNone/>
            </a:pPr>
            <a:r>
              <a:rPr lang="en-US" sz="1600" dirty="0">
                <a:solidFill>
                  <a:schemeClr val="tx2"/>
                </a:solidFill>
              </a:rPr>
              <a:t>Employment, position and supervisor are facts only the human capital system originates. Cleanup, directory mastery and access reviews can’t substitute for designating it as the source.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Federal HR 2.0 sets the clock — SSA is in Wave 2</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 agencies pause their own</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FY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Wave 2 incl. SSA</a:t>
            </a:r>
            <a:endParaRPr lang="en-US" sz="1400" dirty="0"/>
          </a:p>
          <a:p>
            <a:pPr algn="ctr" indent="0" marL="0">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made redundant and decommissioned</a:t>
            </a:r>
            <a:endParaRPr lang="en-US" sz="1400" dirty="0"/>
          </a:p>
        </p:txBody>
      </p:sp>
      <p:sp>
        <p:nvSpPr>
          <p:cNvPr id="19" name="Consequence 1"/>
          <p:cNvSpPr/>
          <p:nvPr/>
        </p:nvSpPr>
        <p:spPr>
          <a:xfrm>
            <a:off x="548640" y="4526280"/>
            <a:ext cx="3611880" cy="1463040"/>
          </a:xfrm>
          <a:prstGeom prst="roundRect">
            <a:avLst>
              <a:gd name="adj" fmla="val 5000"/>
            </a:avLst>
          </a:prstGeom>
          <a:solidFill>
            <a:srgbClr val="FDF3E7"/>
          </a:solidFill>
          <a:ln w="12700">
            <a:solidFill>
              <a:srgbClr val="FDF3E7"/>
            </a:solidFill>
            <a:prstDash val="solid"/>
          </a:ln>
        </p:spPr>
      </p:sp>
      <p:sp>
        <p:nvSpPr>
          <p:cNvPr id="20" name="Consequence 1 text"/>
          <p:cNvSpPr txBox="1"/>
          <p:nvPr/>
        </p:nvSpPr>
        <p:spPr>
          <a:xfrm>
            <a:off x="777240" y="4645152"/>
            <a:ext cx="3200400" cy="1280160"/>
          </a:xfrm>
          <a:prstGeom prst="rect">
            <a:avLst/>
          </a:prstGeom>
          <a:noFill/>
          <a:ln/>
        </p:spPr>
        <p:txBody>
          <a:bodyPr wrap="square" lIns="0" tIns="0" rIns="0" bIns="0" rtlCol="0" anchor="t"/>
          <a:lstStyle/>
          <a:p>
            <a:pPr indent="0" marL="0">
              <a:spcAft>
                <a:spcPts val="600"/>
              </a:spcAft>
              <a:buNone/>
            </a:pPr>
            <a:r>
              <a:rPr lang="en-US" sz="1600" b="1" dirty="0">
                <a:solidFill>
                  <a:srgbClr val="B45309"/>
                </a:solidFill>
              </a:rPr>
              <a:t>The deadline isn’t the agency’s to set.</a:t>
            </a:r>
            <a:endParaRPr lang="en-US" sz="1600" dirty="0"/>
          </a:p>
          <a:p>
            <a:pPr indent="0" marL="0">
              <a:spcAft>
                <a:spcPts val="600"/>
              </a:spcAft>
              <a:buNone/>
            </a:pPr>
            <a:r>
              <a:rPr lang="en-US" sz="1400" dirty="0">
                <a:solidFill>
                  <a:schemeClr val="tx2"/>
                </a:solidFill>
              </a:rPr>
              <a:t>The provisioning feed must be ready at the interconnection slot. Build backward from it.</a:t>
            </a:r>
            <a:endParaRPr lang="en-US" sz="1600" dirty="0"/>
          </a:p>
        </p:txBody>
      </p:sp>
      <p:sp>
        <p:nvSpPr>
          <p:cNvPr id="21" name="Consequence 2"/>
          <p:cNvSpPr/>
          <p:nvPr/>
        </p:nvSpPr>
        <p:spPr>
          <a:xfrm>
            <a:off x="4297680" y="4526280"/>
            <a:ext cx="3611880" cy="1463040"/>
          </a:xfrm>
          <a:prstGeom prst="roundRect">
            <a:avLst>
              <a:gd name="adj" fmla="val 5000"/>
            </a:avLst>
          </a:prstGeom>
          <a:solidFill>
            <a:srgbClr val="EEF1F7"/>
          </a:solidFill>
          <a:ln w="12700">
            <a:solidFill>
              <a:srgbClr val="EEF1F7"/>
            </a:solidFill>
            <a:prstDash val="solid"/>
          </a:ln>
        </p:spPr>
      </p:sp>
      <p:sp>
        <p:nvSpPr>
          <p:cNvPr id="22" name="Consequence 2 text"/>
          <p:cNvSpPr txBox="1"/>
          <p:nvPr/>
        </p:nvSpPr>
        <p:spPr>
          <a:xfrm>
            <a:off x="4526280" y="4645152"/>
            <a:ext cx="3200400" cy="1280160"/>
          </a:xfrm>
          <a:prstGeom prst="rect">
            <a:avLst/>
          </a:prstGeom>
          <a:noFill/>
          <a:ln/>
        </p:spPr>
        <p:txBody>
          <a:bodyPr wrap="square" lIns="0" tIns="0" rIns="0" bIns="0" rtlCol="0" anchor="t"/>
          <a:lstStyle/>
          <a:p>
            <a:pPr indent="0" marL="0">
              <a:spcAft>
                <a:spcPts val="600"/>
              </a:spcAft>
              <a:buNone/>
            </a:pPr>
            <a:r>
              <a:rPr lang="en-US" sz="1600" b="1" dirty="0">
                <a:solidFill>
                  <a:srgbClr val="1F2A44"/>
                </a:solidFill>
              </a:rPr>
              <a:t>EHRI-shaped integrations expire.</a:t>
            </a:r>
            <a:endParaRPr lang="en-US" sz="1600" dirty="0"/>
          </a:p>
          <a:p>
            <a:pPr indent="0" marL="0">
              <a:spcAft>
                <a:spcPts val="600"/>
              </a:spcAft>
              <a:buNone/>
            </a:pPr>
            <a:r>
              <a:rPr lang="en-US" sz="1400" dirty="0">
                <a:solidFill>
                  <a:schemeClr val="tx2"/>
                </a:solidFill>
              </a:rPr>
              <a:t>The durable interface is Core HCM’s own: HCM Extracts, ATOM feeds, REST and SCIM 2.0.</a:t>
            </a:r>
            <a:endParaRPr lang="en-US" sz="1600" dirty="0"/>
          </a:p>
        </p:txBody>
      </p:sp>
      <p:sp>
        <p:nvSpPr>
          <p:cNvPr id="23" name="Consequence 3"/>
          <p:cNvSpPr/>
          <p:nvPr/>
        </p:nvSpPr>
        <p:spPr>
          <a:xfrm>
            <a:off x="8046720" y="4526280"/>
            <a:ext cx="3611880" cy="1463040"/>
          </a:xfrm>
          <a:prstGeom prst="roundRect">
            <a:avLst>
              <a:gd name="adj" fmla="val 5000"/>
            </a:avLst>
          </a:prstGeom>
          <a:solidFill>
            <a:srgbClr val="E6F2F1"/>
          </a:solidFill>
          <a:ln w="12700">
            <a:solidFill>
              <a:srgbClr val="E6F2F1"/>
            </a:solidFill>
            <a:prstDash val="solid"/>
          </a:ln>
        </p:spPr>
      </p:sp>
      <p:sp>
        <p:nvSpPr>
          <p:cNvPr id="24" name="Consequence 3 text"/>
          <p:cNvSpPr txBox="1"/>
          <p:nvPr/>
        </p:nvSpPr>
        <p:spPr>
          <a:xfrm>
            <a:off x="8275320" y="4645152"/>
            <a:ext cx="3200400" cy="1280160"/>
          </a:xfrm>
          <a:prstGeom prst="rect">
            <a:avLst/>
          </a:prstGeom>
          <a:noFill/>
          <a:ln/>
        </p:spPr>
        <p:txBody>
          <a:bodyPr wrap="square" lIns="0" tIns="0" rIns="0" bIns="0" rtlCol="0" anchor="t"/>
          <a:lstStyle/>
          <a:p>
            <a:pPr indent="0" marL="0">
              <a:spcAft>
                <a:spcPts val="600"/>
              </a:spcAft>
              <a:buNone/>
            </a:pPr>
            <a:r>
              <a:rPr lang="en-US" sz="1600" b="1" dirty="0">
                <a:solidFill>
                  <a:srgbClr val="0F766E"/>
                </a:solidFill>
              </a:rPr>
              <a:t>No OPM mandate for Entra ID.</a:t>
            </a:r>
            <a:endParaRPr lang="en-US" sz="1600" dirty="0"/>
          </a:p>
          <a:p>
            <a:pPr indent="0" marL="0">
              <a:spcAft>
                <a:spcPts val="600"/>
              </a:spcAft>
              <a:buNone/>
            </a:pPr>
            <a:r>
              <a:rPr lang="en-US" sz="1400" dirty="0">
                <a:solidFill>
                  <a:schemeClr val="tx2"/>
                </a:solidFill>
              </a:rPr>
              <a:t>OPM fixes the HR side; the identity design is the agency’s decision.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Attribute authority: one master per attribute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480560"/>
        </p:xfrm>
        <a:graphic>
          <a:graphicData uri="http://schemas.openxmlformats.org/drawingml/2006/table">
            <a:tbl>
              <a:tblPr/>
              <a:tblGrid>
                <a:gridCol w="2697480"/>
                <a:gridCol w="2514600"/>
                <a:gridCol w="2606040"/>
              </a:tblGrid>
              <a:tr h="56007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Attribute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Authoritative system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Derived consumers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Person and affiliation identifiers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system of record (source keys)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Correlation key, audit joins, account linkage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Legal name, worker type, status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system of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Display name, enable/disable state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Position, title, grade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system of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Role-eligible access packages, approvals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Organizational placement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system of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Dynamic groups, ABAC attributes, chargeback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Supervisor / reporting line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system of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manager attribute, approvals, attestations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UPN, mail, group memberships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 platform — derived by 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Applications, token claims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007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Device identity and certificates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Device management and PKI</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Network admission, TLS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Rules card"/>
          <p:cNvSpPr/>
          <p:nvPr/>
        </p:nvSpPr>
        <p:spPr>
          <a:xfrm>
            <a:off x="8595360" y="1417320"/>
            <a:ext cx="3063240" cy="4480560"/>
          </a:xfrm>
          <a:prstGeom prst="roundRect">
            <a:avLst>
              <a:gd name="adj" fmla="val 2388"/>
            </a:avLst>
          </a:prstGeom>
          <a:solidFill>
            <a:srgbClr val="E6F2F1"/>
          </a:solidFill>
          <a:ln w="12700">
            <a:solidFill>
              <a:srgbClr val="E6F2F1"/>
            </a:solidFill>
            <a:prstDash val="solid"/>
          </a:ln>
        </p:spPr>
      </p:sp>
      <p:sp>
        <p:nvSpPr>
          <p:cNvPr id="5" name="Rules heading"/>
          <p:cNvSpPr txBox="1"/>
          <p:nvPr/>
        </p:nvSpPr>
        <p:spPr>
          <a:xfrm>
            <a:off x="8823960" y="1600200"/>
            <a:ext cx="2651760" cy="457200"/>
          </a:xfrm>
          <a:prstGeom prst="rect">
            <a:avLst/>
          </a:prstGeom>
          <a:noFill/>
          <a:ln/>
        </p:spPr>
        <p:txBody>
          <a:bodyPr wrap="square" lIns="0" tIns="0" rIns="0" bIns="0" rtlCol="0" anchor="t"/>
          <a:lstStyle/>
          <a:p>
            <a:pPr indent="0" marL="0">
              <a:buNone/>
            </a:pPr>
            <a:r>
              <a:rPr lang="en-US" sz="2000" b="1" dirty="0">
                <a:solidFill>
                  <a:srgbClr val="0F766E"/>
                </a:solidFill>
                <a:latin typeface="Cambria" pitchFamily="34" charset="0"/>
                <a:ea typeface="Cambria" pitchFamily="34" charset="-122"/>
                <a:cs typeface="Cambria" pitchFamily="34" charset="-120"/>
              </a:rPr>
              <a:t>Operating rules</a:t>
            </a:r>
            <a:endParaRPr lang="en-US" sz="2000" dirty="0"/>
          </a:p>
        </p:txBody>
      </p:sp>
      <p:sp>
        <p:nvSpPr>
          <p:cNvPr id="6" name="Rules list"/>
          <p:cNvSpPr txBox="1"/>
          <p:nvPr/>
        </p:nvSpPr>
        <p:spPr>
          <a:xfrm>
            <a:off x="8823960" y="2148840"/>
            <a:ext cx="2651760" cy="36576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b="1" dirty="0">
                <a:solidFill>
                  <a:srgbClr val="1F2A44"/>
                </a:solidFill>
              </a:rPr>
              <a:t>One master per attribute. </a:t>
            </a:r>
            <a:pPr indent="0" marL="0">
              <a:spcAft>
                <a:spcPts val="800"/>
              </a:spcAft>
              <a:buNone/>
            </a:pPr>
            <a:r>
              <a:rPr lang="en-US" sz="1400" dirty="0">
                <a:solidFill>
                  <a:schemeClr val="tx2"/>
                </a:solidFill>
              </a:rPr>
              <a:t>Writeback never touches an HR-mastered fact.</a:t>
            </a:r>
            <a:endParaRPr lang="en-US" sz="1400" dirty="0"/>
          </a:p>
          <a:p>
            <a:pPr marL="342900" indent="-342900">
              <a:spcAft>
                <a:spcPts val="800"/>
              </a:spcAft>
              <a:buSzPct val="100000"/>
              <a:buFont typeface="+mj-lt"/>
              <a:buAutoNum type="arabicPeriod" startAt="1"/>
            </a:pPr>
            <a:r>
              <a:rPr lang="en-US" sz="1400" b="1" dirty="0">
                <a:solidFill>
                  <a:srgbClr val="1F2A44"/>
                </a:solidFill>
              </a:rPr>
              <a:t>No manual edits </a:t>
            </a:r>
            <a:pPr indent="0" marL="0">
              <a:spcAft>
                <a:spcPts val="800"/>
              </a:spcAft>
              <a:buNone/>
            </a:pPr>
            <a:r>
              <a:rPr lang="en-US" sz="1400" dirty="0">
                <a:solidFill>
                  <a:schemeClr val="tx2"/>
                </a:solidFill>
              </a:rPr>
              <a:t>to HR-derived attributes; an IT write is drift.</a:t>
            </a:r>
            <a:endParaRPr lang="en-US" sz="1400" dirty="0"/>
          </a:p>
          <a:p>
            <a:pPr marL="342900" indent="-342900">
              <a:spcAft>
                <a:spcPts val="800"/>
              </a:spcAft>
              <a:buSzPct val="100000"/>
              <a:buFont typeface="+mj-lt"/>
              <a:buAutoNum type="arabicPeriod" startAt="1"/>
            </a:pPr>
            <a:r>
              <a:rPr lang="en-US" sz="1400" b="1" dirty="0">
                <a:solidFill>
                  <a:srgbClr val="1F2A44"/>
                </a:solidFill>
              </a:rPr>
              <a:t>Corrections flow upstream, </a:t>
            </a:r>
            <a:pPr indent="0" marL="0">
              <a:spcAft>
                <a:spcPts val="800"/>
              </a:spcAft>
              <a:buNone/>
            </a:pPr>
            <a:r>
              <a:rPr lang="en-US" sz="1400" dirty="0">
                <a:solidFill>
                  <a:schemeClr val="tx2"/>
                </a:solidFill>
              </a:rPr>
              <a:t>to the HR record or the rule.</a:t>
            </a:r>
            <a:endParaRPr lang="en-US" sz="1400" dirty="0"/>
          </a:p>
          <a:p>
            <a:pPr marL="342900" indent="-342900">
              <a:spcAft>
                <a:spcPts val="800"/>
              </a:spcAft>
              <a:buSzPct val="100000"/>
              <a:buFont typeface="+mj-lt"/>
              <a:buAutoNum type="arabicPeriod" startAt="1"/>
            </a:pPr>
            <a:r>
              <a:rPr lang="en-US" sz="1400" b="1" dirty="0">
                <a:solidFill>
                  <a:srgbClr val="1F2A44"/>
                </a:solidFill>
              </a:rPr>
              <a:t>Effective dating </a:t>
            </a:r>
            <a:pPr indent="0" marL="0">
              <a:spcAft>
                <a:spcPts val="800"/>
              </a:spcAft>
              <a:buNone/>
            </a:pPr>
            <a:r>
              <a:rPr lang="en-US" sz="1400" dirty="0">
                <a:solidFill>
                  <a:schemeClr val="tx2"/>
                </a:solidFill>
              </a:rPr>
              <a:t>makes day-one and same-day revocation possible.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canonical workforce identity model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291840"/>
        </p:xfrm>
        <a:graphic>
          <a:graphicData uri="http://schemas.openxmlformats.org/drawingml/2006/table">
            <a:tbl>
              <a:tblPr/>
              <a:tblGrid>
                <a:gridCol w="2103120"/>
                <a:gridCol w="2514600"/>
                <a:gridCol w="1965960"/>
                <a:gridCol w="2240280"/>
                <a:gridCol w="2286000"/>
              </a:tblGrid>
              <a:tr h="470263">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Canonical field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Oracle HCM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SCIM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Active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Entra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Person number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workers.PersonNumber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externalId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Employment active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Assignment 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active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accountDisabled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accountEnabled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Manager’s person number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 (DN)</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Hire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Effective start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HireDate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extensionAttribute2</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employeeHireDate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Leave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Termination effective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TermDate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extensionAttribute3</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employeeLeaveDateTime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Organization code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Department ID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orgCode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extensionAttribute10</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extensionAttribute10</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Design rule 1"/>
          <p:cNvSpPr/>
          <p:nvPr/>
        </p:nvSpPr>
        <p:spPr>
          <a:xfrm>
            <a:off x="548640" y="4983480"/>
            <a:ext cx="3611880" cy="1143000"/>
          </a:xfrm>
          <a:prstGeom prst="roundRect">
            <a:avLst>
              <a:gd name="adj" fmla="val 6400"/>
            </a:avLst>
          </a:prstGeom>
          <a:solidFill>
            <a:srgbClr val="F1F5F9"/>
          </a:solidFill>
          <a:ln w="12700">
            <a:solidFill>
              <a:srgbClr val="F1F5F9"/>
            </a:solidFill>
            <a:prstDash val="solid"/>
          </a:ln>
        </p:spPr>
      </p:sp>
      <p:sp>
        <p:nvSpPr>
          <p:cNvPr id="5" name="Design rule 1 text"/>
          <p:cNvSpPr txBox="1"/>
          <p:nvPr/>
        </p:nvSpPr>
        <p:spPr>
          <a:xfrm>
            <a:off x="77724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Native attributes first</a:t>
            </a:r>
            <a:endParaRPr lang="en-US" sz="1600" dirty="0"/>
          </a:p>
          <a:p>
            <a:pPr indent="0" marL="0">
              <a:buNone/>
            </a:pPr>
            <a:r>
              <a:rPr lang="en-US" sz="1400" dirty="0">
                <a:solidFill>
                  <a:schemeClr val="tx2"/>
                </a:solidFill>
              </a:rPr>
              <a:t>Add an extension only where a rule can’t read a native property.</a:t>
            </a:r>
            <a:endParaRPr lang="en-US" sz="1600" dirty="0"/>
          </a:p>
        </p:txBody>
      </p:sp>
      <p:sp>
        <p:nvSpPr>
          <p:cNvPr id="6" name="Design rule 2"/>
          <p:cNvSpPr/>
          <p:nvPr/>
        </p:nvSpPr>
        <p:spPr>
          <a:xfrm>
            <a:off x="4297680" y="4983480"/>
            <a:ext cx="3611880" cy="1143000"/>
          </a:xfrm>
          <a:prstGeom prst="roundRect">
            <a:avLst>
              <a:gd name="adj" fmla="val 6400"/>
            </a:avLst>
          </a:prstGeom>
          <a:solidFill>
            <a:srgbClr val="F1F5F9"/>
          </a:solidFill>
          <a:ln w="12700">
            <a:solidFill>
              <a:srgbClr val="F1F5F9"/>
            </a:solidFill>
            <a:prstDash val="solid"/>
          </a:ln>
        </p:spPr>
      </p:sp>
      <p:sp>
        <p:nvSpPr>
          <p:cNvPr id="7" name="Design rule 2 text"/>
          <p:cNvSpPr txBox="1"/>
          <p:nvPr/>
        </p:nvSpPr>
        <p:spPr>
          <a:xfrm>
            <a:off x="452628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Codes, not display strings</a:t>
            </a:r>
            <a:endParaRPr lang="en-US" sz="1600" dirty="0"/>
          </a:p>
          <a:p>
            <a:pPr indent="0" marL="0">
              <a:buNone/>
            </a:pPr>
            <a:r>
              <a:rPr lang="en-US" sz="1400" dirty="0">
                <a:solidFill>
                  <a:schemeClr val="tx2"/>
                </a:solidFill>
              </a:rPr>
              <a:t>A code changes only when the business fact changes.</a:t>
            </a:r>
            <a:endParaRPr lang="en-US" sz="1600" dirty="0"/>
          </a:p>
        </p:txBody>
      </p:sp>
      <p:sp>
        <p:nvSpPr>
          <p:cNvPr id="8" name="Design rule 3"/>
          <p:cNvSpPr/>
          <p:nvPr/>
        </p:nvSpPr>
        <p:spPr>
          <a:xfrm>
            <a:off x="8046720" y="4983480"/>
            <a:ext cx="3611880" cy="1143000"/>
          </a:xfrm>
          <a:prstGeom prst="roundRect">
            <a:avLst>
              <a:gd name="adj" fmla="val 6400"/>
            </a:avLst>
          </a:prstGeom>
          <a:solidFill>
            <a:srgbClr val="F1F5F9"/>
          </a:solidFill>
          <a:ln w="12700">
            <a:solidFill>
              <a:srgbClr val="F1F5F9"/>
            </a:solidFill>
            <a:prstDash val="solid"/>
          </a:ln>
        </p:spPr>
      </p:sp>
      <p:sp>
        <p:nvSpPr>
          <p:cNvPr id="9" name="Design rule 3 text"/>
          <p:cNvSpPr txBox="1"/>
          <p:nvPr/>
        </p:nvSpPr>
        <p:spPr>
          <a:xfrm>
            <a:off x="827532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Same carrier, both directories</a:t>
            </a:r>
            <a:endParaRPr lang="en-US" sz="1600" dirty="0"/>
          </a:p>
          <a:p>
            <a:pPr indent="0" marL="0">
              <a:buNone/>
            </a:pPr>
            <a:r>
              <a:rPr lang="en-US" sz="1400" dirty="0">
                <a:solidFill>
                  <a:schemeClr val="tx2"/>
                </a:solidFill>
              </a:rPr>
              <a:t>extensionAttribute1–15 exist in AD and in Entra ID.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Provisioning services: one door, five duties per event</a:t>
            </a:r>
            <a:endParaRPr lang="en-US" sz="3000" dirty="0"/>
          </a:p>
        </p:txBody>
      </p:sp>
      <p:sp>
        <p:nvSpPr>
          <p:cNvPr id="3" name="Stage 1"/>
          <p:cNvSpPr/>
          <p:nvPr/>
        </p:nvSpPr>
        <p:spPr>
          <a:xfrm>
            <a:off x="548640" y="1463040"/>
            <a:ext cx="1920240" cy="1325880"/>
          </a:xfrm>
          <a:prstGeom prst="roundRect">
            <a:avLst>
              <a:gd name="adj" fmla="val 5517"/>
            </a:avLst>
          </a:prstGeom>
          <a:solidFill>
            <a:srgbClr val="EEF1F7"/>
          </a:solidFill>
          <a:ln w="12700">
            <a:solidFill>
              <a:srgbClr val="1F2A44"/>
            </a:solidFill>
            <a:prstDash val="solid"/>
          </a:ln>
        </p:spPr>
      </p:sp>
      <p:sp>
        <p:nvSpPr>
          <p:cNvPr id="4" name="Stage 1 text"/>
          <p:cNvSpPr txBox="1"/>
          <p:nvPr/>
        </p:nvSpPr>
        <p:spPr>
          <a:xfrm>
            <a:off x="685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Authoritative source</a:t>
            </a:r>
            <a:endParaRPr lang="en-US" sz="1500" dirty="0"/>
          </a:p>
          <a:p>
            <a:pPr algn="ctr" indent="0" marL="0">
              <a:buNone/>
            </a:pPr>
            <a:r>
              <a:rPr lang="en-US" sz="1300" dirty="0">
                <a:solidFill>
                  <a:srgbClr val="334155"/>
                </a:solidFill>
              </a:rPr>
              <a:t>Oracle Fusion Cloud HCM</a:t>
            </a:r>
            <a:endParaRPr lang="en-US" sz="1500" dirty="0"/>
          </a:p>
        </p:txBody>
      </p:sp>
      <p:sp>
        <p:nvSpPr>
          <p:cNvPr id="5" name="Shape 3"/>
          <p:cNvSpPr/>
          <p:nvPr/>
        </p:nvSpPr>
        <p:spPr>
          <a:xfrm>
            <a:off x="2468880" y="2125980"/>
            <a:ext cx="365760" cy="0"/>
          </a:xfrm>
          <a:prstGeom prst="line">
            <a:avLst/>
          </a:prstGeom>
          <a:noFill/>
          <a:ln w="22225">
            <a:solidFill>
              <a:srgbClr val="64748B"/>
            </a:solidFill>
            <a:prstDash val="solid"/>
            <a:tailEnd type="triangle"/>
          </a:ln>
        </p:spPr>
      </p:sp>
      <p:sp>
        <p:nvSpPr>
          <p:cNvPr id="6" name="Stage 2"/>
          <p:cNvSpPr/>
          <p:nvPr/>
        </p:nvSpPr>
        <p:spPr>
          <a:xfrm>
            <a:off x="2834640" y="1463040"/>
            <a:ext cx="1920240" cy="1325880"/>
          </a:xfrm>
          <a:prstGeom prst="roundRect">
            <a:avLst>
              <a:gd name="adj" fmla="val 5517"/>
            </a:avLst>
          </a:prstGeom>
          <a:solidFill>
            <a:srgbClr val="EEF1F7"/>
          </a:solidFill>
          <a:ln w="12700">
            <a:solidFill>
              <a:srgbClr val="1F2A44"/>
            </a:solidFill>
            <a:prstDash val="solid"/>
          </a:ln>
        </p:spPr>
      </p:sp>
      <p:sp>
        <p:nvSpPr>
          <p:cNvPr id="7" name="Stage 2 text"/>
          <p:cNvSpPr txBox="1"/>
          <p:nvPr/>
        </p:nvSpPr>
        <p:spPr>
          <a:xfrm>
            <a:off x="2971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Boundary transformation</a:t>
            </a:r>
            <a:endParaRPr lang="en-US" sz="1500" dirty="0"/>
          </a:p>
          <a:p>
            <a:pPr algn="ctr" indent="0" marL="0">
              <a:buNone/>
            </a:pPr>
            <a:r>
              <a:rPr lang="en-US" sz="1300" dirty="0">
                <a:solidFill>
                  <a:srgbClr val="334155"/>
                </a:solidFill>
              </a:rPr>
              <a:t>Source-specific, replaceable</a:t>
            </a:r>
            <a:endParaRPr lang="en-US" sz="1500" dirty="0"/>
          </a:p>
        </p:txBody>
      </p:sp>
      <p:sp>
        <p:nvSpPr>
          <p:cNvPr id="8" name="Shape 6"/>
          <p:cNvSpPr/>
          <p:nvPr/>
        </p:nvSpPr>
        <p:spPr>
          <a:xfrm>
            <a:off x="4754880" y="2125980"/>
            <a:ext cx="365760" cy="0"/>
          </a:xfrm>
          <a:prstGeom prst="line">
            <a:avLst/>
          </a:prstGeom>
          <a:noFill/>
          <a:ln w="22225">
            <a:solidFill>
              <a:srgbClr val="64748B"/>
            </a:solidFill>
            <a:prstDash val="solid"/>
            <a:tailEnd type="triangle"/>
          </a:ln>
        </p:spPr>
      </p:sp>
      <p:sp>
        <p:nvSpPr>
          <p:cNvPr id="9" name="Stage 3"/>
          <p:cNvSpPr/>
          <p:nvPr/>
        </p:nvSpPr>
        <p:spPr>
          <a:xfrm>
            <a:off x="5120640" y="1463040"/>
            <a:ext cx="1920240" cy="1325880"/>
          </a:xfrm>
          <a:prstGeom prst="roundRect">
            <a:avLst>
              <a:gd name="adj" fmla="val 5517"/>
            </a:avLst>
          </a:prstGeom>
          <a:solidFill>
            <a:srgbClr val="0F766E"/>
          </a:solidFill>
          <a:ln w="12700">
            <a:solidFill>
              <a:srgbClr val="0F766E"/>
            </a:solidFill>
            <a:prstDash val="solid"/>
          </a:ln>
        </p:spPr>
      </p:sp>
      <p:sp>
        <p:nvSpPr>
          <p:cNvPr id="10" name="Stage 3 text"/>
          <p:cNvSpPr txBox="1"/>
          <p:nvPr/>
        </p:nvSpPr>
        <p:spPr>
          <a:xfrm>
            <a:off x="5257800" y="1572768"/>
            <a:ext cx="1645920" cy="1143000"/>
          </a:xfrm>
          <a:prstGeom prst="rect">
            <a:avLst/>
          </a:prstGeom>
          <a:noFill/>
          <a:ln/>
        </p:spPr>
        <p:txBody>
          <a:bodyPr wrap="square" lIns="0" tIns="0" rIns="0" bIns="0" rtlCol="0" anchor="ctr"/>
          <a:lstStyle/>
          <a:p>
            <a:pPr algn="ctr" indent="0" marL="0">
              <a:buNone/>
            </a:pPr>
            <a:r>
              <a:rPr lang="en-US" sz="1500" b="1" dirty="0">
                <a:solidFill>
                  <a:srgbClr val="FFFFFF"/>
                </a:solidFill>
              </a:rPr>
              <a:t>Governed identity model</a:t>
            </a:r>
            <a:endParaRPr lang="en-US" sz="1500" dirty="0"/>
          </a:p>
          <a:p>
            <a:pPr algn="ctr" indent="0" marL="0">
              <a:buNone/>
            </a:pPr>
            <a:r>
              <a:rPr lang="en-US" sz="1300" dirty="0">
                <a:solidFill>
                  <a:srgbClr val="FFFFFF"/>
                </a:solidFill>
              </a:rPr>
              <a:t>The durable contract</a:t>
            </a:r>
            <a:endParaRPr lang="en-US" sz="1500" dirty="0"/>
          </a:p>
        </p:txBody>
      </p:sp>
      <p:sp>
        <p:nvSpPr>
          <p:cNvPr id="11" name="Shape 9"/>
          <p:cNvSpPr/>
          <p:nvPr/>
        </p:nvSpPr>
        <p:spPr>
          <a:xfrm>
            <a:off x="7040880" y="2125980"/>
            <a:ext cx="365760" cy="0"/>
          </a:xfrm>
          <a:prstGeom prst="line">
            <a:avLst/>
          </a:prstGeom>
          <a:noFill/>
          <a:ln w="22225">
            <a:solidFill>
              <a:srgbClr val="64748B"/>
            </a:solidFill>
            <a:prstDash val="solid"/>
            <a:tailEnd type="triangle"/>
          </a:ln>
        </p:spPr>
      </p:sp>
      <p:sp>
        <p:nvSpPr>
          <p:cNvPr id="12" name="Stage 4"/>
          <p:cNvSpPr/>
          <p:nvPr/>
        </p:nvSpPr>
        <p:spPr>
          <a:xfrm>
            <a:off x="7406640" y="1463040"/>
            <a:ext cx="1920240" cy="1325880"/>
          </a:xfrm>
          <a:prstGeom prst="roundRect">
            <a:avLst>
              <a:gd name="adj" fmla="val 5517"/>
            </a:avLst>
          </a:prstGeom>
          <a:solidFill>
            <a:srgbClr val="EEF1F7"/>
          </a:solidFill>
          <a:ln w="12700">
            <a:solidFill>
              <a:srgbClr val="1F2A44"/>
            </a:solidFill>
            <a:prstDash val="solid"/>
          </a:ln>
        </p:spPr>
      </p:sp>
      <p:sp>
        <p:nvSpPr>
          <p:cNvPr id="13" name="Stage 4 text"/>
          <p:cNvSpPr txBox="1"/>
          <p:nvPr/>
        </p:nvSpPr>
        <p:spPr>
          <a:xfrm>
            <a:off x="7543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Provisioning service</a:t>
            </a:r>
            <a:endParaRPr lang="en-US" sz="1500" dirty="0"/>
          </a:p>
          <a:p>
            <a:pPr algn="ctr" indent="0" marL="0">
              <a:buNone/>
            </a:pPr>
            <a:r>
              <a:rPr lang="en-US" sz="1300" dirty="0">
                <a:solidFill>
                  <a:srgbClr val="334155"/>
                </a:solidFill>
              </a:rPr>
              <a:t>Graph /bulkUpload</a:t>
            </a:r>
            <a:endParaRPr lang="en-US" sz="1500" dirty="0"/>
          </a:p>
        </p:txBody>
      </p:sp>
      <p:sp>
        <p:nvSpPr>
          <p:cNvPr id="14" name="Shape 12"/>
          <p:cNvSpPr/>
          <p:nvPr/>
        </p:nvSpPr>
        <p:spPr>
          <a:xfrm>
            <a:off x="9326880" y="2125980"/>
            <a:ext cx="365760" cy="0"/>
          </a:xfrm>
          <a:prstGeom prst="line">
            <a:avLst/>
          </a:prstGeom>
          <a:noFill/>
          <a:ln w="22225">
            <a:solidFill>
              <a:srgbClr val="64748B"/>
            </a:solidFill>
            <a:prstDash val="solid"/>
            <a:tailEnd type="triangle"/>
          </a:ln>
        </p:spPr>
      </p:sp>
      <p:sp>
        <p:nvSpPr>
          <p:cNvPr id="15" name="Stage 5"/>
          <p:cNvSpPr/>
          <p:nvPr/>
        </p:nvSpPr>
        <p:spPr>
          <a:xfrm>
            <a:off x="9692640" y="1463040"/>
            <a:ext cx="1920240" cy="1325880"/>
          </a:xfrm>
          <a:prstGeom prst="roundRect">
            <a:avLst>
              <a:gd name="adj" fmla="val 5517"/>
            </a:avLst>
          </a:prstGeom>
          <a:solidFill>
            <a:srgbClr val="EEF1F7"/>
          </a:solidFill>
          <a:ln w="12700">
            <a:solidFill>
              <a:srgbClr val="1F2A44"/>
            </a:solidFill>
            <a:prstDash val="solid"/>
          </a:ln>
        </p:spPr>
      </p:sp>
      <p:sp>
        <p:nvSpPr>
          <p:cNvPr id="16" name="Stage 5 text"/>
          <p:cNvSpPr txBox="1"/>
          <p:nvPr/>
        </p:nvSpPr>
        <p:spPr>
          <a:xfrm>
            <a:off x="9829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Target services</a:t>
            </a:r>
            <a:endParaRPr lang="en-US" sz="1500" dirty="0"/>
          </a:p>
          <a:p>
            <a:pPr algn="ctr" indent="0" marL="0">
              <a:buNone/>
            </a:pPr>
            <a:r>
              <a:rPr lang="en-US" sz="1300" dirty="0">
                <a:solidFill>
                  <a:srgbClr val="334155"/>
                </a:solidFill>
              </a:rPr>
              <a:t>Entra ID or on-prem AD</a:t>
            </a:r>
            <a:endParaRPr lang="en-US" sz="1500" dirty="0"/>
          </a:p>
        </p:txBody>
      </p:sp>
      <p:sp>
        <p:nvSpPr>
          <p:cNvPr id="17" name="Duty 1 badge"/>
          <p:cNvSpPr/>
          <p:nvPr/>
        </p:nvSpPr>
        <p:spPr>
          <a:xfrm>
            <a:off x="548640" y="3200400"/>
            <a:ext cx="502920" cy="502920"/>
          </a:xfrm>
          <a:prstGeom prst="ellipse">
            <a:avLst/>
          </a:prstGeom>
          <a:solidFill>
            <a:srgbClr val="B45309"/>
          </a:solidFill>
          <a:ln w="12700">
            <a:solidFill>
              <a:srgbClr val="B45309"/>
            </a:solidFill>
            <a:prstDash val="solid"/>
          </a:ln>
        </p:spPr>
      </p:sp>
      <p:sp>
        <p:nvSpPr>
          <p:cNvPr id="18" name="Duty 1 number"/>
          <p:cNvSpPr txBox="1"/>
          <p:nvPr/>
        </p:nvSpPr>
        <p:spPr>
          <a:xfrm>
            <a:off x="548640" y="3200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9" name="Duty 1 text"/>
          <p:cNvSpPr txBox="1"/>
          <p:nvPr/>
        </p:nvSpPr>
        <p:spPr>
          <a:xfrm>
            <a:off x="548640" y="3794760"/>
            <a:ext cx="2057400" cy="146304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Validate</a:t>
            </a:r>
            <a:endParaRPr lang="en-US" sz="1400" dirty="0"/>
          </a:p>
          <a:p>
            <a:pPr indent="0" marL="0">
              <a:spcAft>
                <a:spcPts val="400"/>
              </a:spcAft>
              <a:buNone/>
            </a:pPr>
            <a:r>
              <a:rPr lang="en-US" sz="1400" dirty="0">
                <a:solidFill>
                  <a:schemeClr val="tx2"/>
                </a:solidFill>
              </a:rPr>
              <a:t>Required attributes present; unknown worker types refused. Fail closed.</a:t>
            </a:r>
            <a:endParaRPr lang="en-US" sz="1400" dirty="0"/>
          </a:p>
        </p:txBody>
      </p:sp>
      <p:sp>
        <p:nvSpPr>
          <p:cNvPr id="20" name="Duty 2 badge"/>
          <p:cNvSpPr/>
          <p:nvPr/>
        </p:nvSpPr>
        <p:spPr>
          <a:xfrm>
            <a:off x="2834640" y="3200400"/>
            <a:ext cx="502920" cy="502920"/>
          </a:xfrm>
          <a:prstGeom prst="ellipse">
            <a:avLst/>
          </a:prstGeom>
          <a:solidFill>
            <a:srgbClr val="B45309"/>
          </a:solidFill>
          <a:ln w="12700">
            <a:solidFill>
              <a:srgbClr val="B45309"/>
            </a:solidFill>
            <a:prstDash val="solid"/>
          </a:ln>
        </p:spPr>
      </p:sp>
      <p:sp>
        <p:nvSpPr>
          <p:cNvPr id="21" name="Duty 2 number"/>
          <p:cNvSpPr txBox="1"/>
          <p:nvPr/>
        </p:nvSpPr>
        <p:spPr>
          <a:xfrm>
            <a:off x="2834640" y="3200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2" name="Duty 2 text"/>
          <p:cNvSpPr txBox="1"/>
          <p:nvPr/>
        </p:nvSpPr>
        <p:spPr>
          <a:xfrm>
            <a:off x="2834640" y="3794760"/>
            <a:ext cx="2057400" cy="146304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Sequence</a:t>
            </a:r>
            <a:endParaRPr lang="en-US" sz="1400" dirty="0"/>
          </a:p>
          <a:p>
            <a:pPr indent="0" marL="0">
              <a:spcAft>
                <a:spcPts val="400"/>
              </a:spcAft>
              <a:buNone/>
            </a:pPr>
            <a:r>
              <a:rPr lang="en-US" sz="1400" dirty="0">
                <a:solidFill>
                  <a:schemeClr val="tx2"/>
                </a:solidFill>
              </a:rPr>
              <a:t>Apply events in order; a dropped event is silent drift.</a:t>
            </a:r>
            <a:endParaRPr lang="en-US" sz="1400" dirty="0"/>
          </a:p>
        </p:txBody>
      </p:sp>
      <p:sp>
        <p:nvSpPr>
          <p:cNvPr id="23" name="Duty 3 badge"/>
          <p:cNvSpPr/>
          <p:nvPr/>
        </p:nvSpPr>
        <p:spPr>
          <a:xfrm>
            <a:off x="5120640" y="3200400"/>
            <a:ext cx="502920" cy="502920"/>
          </a:xfrm>
          <a:prstGeom prst="ellipse">
            <a:avLst/>
          </a:prstGeom>
          <a:solidFill>
            <a:srgbClr val="B45309"/>
          </a:solidFill>
          <a:ln w="12700">
            <a:solidFill>
              <a:srgbClr val="B45309"/>
            </a:solidFill>
            <a:prstDash val="solid"/>
          </a:ln>
        </p:spPr>
      </p:sp>
      <p:sp>
        <p:nvSpPr>
          <p:cNvPr id="24" name="Duty 3 number"/>
          <p:cNvSpPr txBox="1"/>
          <p:nvPr/>
        </p:nvSpPr>
        <p:spPr>
          <a:xfrm>
            <a:off x="5120640" y="3200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5" name="Duty 3 text"/>
          <p:cNvSpPr txBox="1"/>
          <p:nvPr/>
        </p:nvSpPr>
        <p:spPr>
          <a:xfrm>
            <a:off x="5120640" y="3794760"/>
            <a:ext cx="2057400" cy="146304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Normalize</a:t>
            </a:r>
            <a:endParaRPr lang="en-US" sz="1400" dirty="0"/>
          </a:p>
          <a:p>
            <a:pPr indent="0" marL="0">
              <a:spcAft>
                <a:spcPts val="400"/>
              </a:spcAft>
              <a:buNone/>
            </a:pPr>
            <a:r>
              <a:rPr lang="en-US" sz="1400" dirty="0">
                <a:solidFill>
                  <a:schemeClr val="tx2"/>
                </a:solidFill>
              </a:rPr>
              <a:t>One SCIM bulk payload from the canonical model.</a:t>
            </a:r>
            <a:endParaRPr lang="en-US" sz="1400" dirty="0"/>
          </a:p>
        </p:txBody>
      </p:sp>
      <p:sp>
        <p:nvSpPr>
          <p:cNvPr id="26" name="Duty 4 badge"/>
          <p:cNvSpPr/>
          <p:nvPr/>
        </p:nvSpPr>
        <p:spPr>
          <a:xfrm>
            <a:off x="7406640" y="3200400"/>
            <a:ext cx="502920" cy="502920"/>
          </a:xfrm>
          <a:prstGeom prst="ellipse">
            <a:avLst/>
          </a:prstGeom>
          <a:solidFill>
            <a:srgbClr val="B45309"/>
          </a:solidFill>
          <a:ln w="12700">
            <a:solidFill>
              <a:srgbClr val="B45309"/>
            </a:solidFill>
            <a:prstDash val="solid"/>
          </a:ln>
        </p:spPr>
      </p:sp>
      <p:sp>
        <p:nvSpPr>
          <p:cNvPr id="27" name="Duty 4 number"/>
          <p:cNvSpPr txBox="1"/>
          <p:nvPr/>
        </p:nvSpPr>
        <p:spPr>
          <a:xfrm>
            <a:off x="7406640" y="3200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8" name="Duty 4 text"/>
          <p:cNvSpPr txBox="1"/>
          <p:nvPr/>
        </p:nvSpPr>
        <p:spPr>
          <a:xfrm>
            <a:off x="7406640" y="3794760"/>
            <a:ext cx="2057400" cy="146304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Provenance</a:t>
            </a:r>
            <a:endParaRPr lang="en-US" sz="1400" dirty="0"/>
          </a:p>
          <a:p>
            <a:pPr indent="0" marL="0">
              <a:spcAft>
                <a:spcPts val="400"/>
              </a:spcAft>
              <a:buNone/>
            </a:pPr>
            <a:r>
              <a:rPr lang="en-US" sz="1400" dirty="0">
                <a:solidFill>
                  <a:schemeClr val="tx2"/>
                </a:solidFill>
              </a:rPr>
              <a:t>One record per event, before the Graph call returns.</a:t>
            </a:r>
            <a:endParaRPr lang="en-US" sz="1400" dirty="0"/>
          </a:p>
        </p:txBody>
      </p:sp>
      <p:sp>
        <p:nvSpPr>
          <p:cNvPr id="29" name="Duty 5 badge"/>
          <p:cNvSpPr/>
          <p:nvPr/>
        </p:nvSpPr>
        <p:spPr>
          <a:xfrm>
            <a:off x="9692640" y="3200400"/>
            <a:ext cx="502920" cy="502920"/>
          </a:xfrm>
          <a:prstGeom prst="ellipse">
            <a:avLst/>
          </a:prstGeom>
          <a:solidFill>
            <a:srgbClr val="B45309"/>
          </a:solidFill>
          <a:ln w="12700">
            <a:solidFill>
              <a:srgbClr val="B45309"/>
            </a:solidFill>
            <a:prstDash val="solid"/>
          </a:ln>
        </p:spPr>
      </p:sp>
      <p:sp>
        <p:nvSpPr>
          <p:cNvPr id="30" name="Duty 5 number"/>
          <p:cNvSpPr txBox="1"/>
          <p:nvPr/>
        </p:nvSpPr>
        <p:spPr>
          <a:xfrm>
            <a:off x="9692640" y="3200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1" name="Duty 5 text"/>
          <p:cNvSpPr txBox="1"/>
          <p:nvPr/>
        </p:nvSpPr>
        <p:spPr>
          <a:xfrm>
            <a:off x="9692640" y="3794760"/>
            <a:ext cx="2057400" cy="146304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Reconcile</a:t>
            </a:r>
            <a:endParaRPr lang="en-US" sz="1400" dirty="0"/>
          </a:p>
          <a:p>
            <a:pPr indent="0" marL="0">
              <a:spcAft>
                <a:spcPts val="400"/>
              </a:spcAft>
              <a:buNone/>
            </a:pPr>
            <a:r>
              <a:rPr lang="en-US" sz="1400" dirty="0">
                <a:solidFill>
                  <a:schemeClr val="tx2"/>
                </a:solidFill>
              </a:rPr>
              <a:t>Read the provisioning logs; exceptions get an owner.</a:t>
            </a:r>
            <a:endParaRPr lang="en-US" sz="1400" dirty="0"/>
          </a:p>
        </p:txBody>
      </p:sp>
      <p:sp>
        <p:nvSpPr>
          <p:cNvPr id="32" name="Contract note"/>
          <p:cNvSpPr/>
          <p:nvPr/>
        </p:nvSpPr>
        <p:spPr>
          <a:xfrm>
            <a:off x="548640" y="5394960"/>
            <a:ext cx="11109960" cy="731520"/>
          </a:xfrm>
          <a:prstGeom prst="roundRect">
            <a:avLst>
              <a:gd name="adj" fmla="val 10000"/>
            </a:avLst>
          </a:prstGeom>
          <a:solidFill>
            <a:srgbClr val="F1F5F9"/>
          </a:solidFill>
          <a:ln w="12700">
            <a:solidFill>
              <a:srgbClr val="F1F5F9"/>
            </a:solidFill>
            <a:prstDash val="solid"/>
          </a:ln>
        </p:spPr>
      </p:sp>
      <p:sp>
        <p:nvSpPr>
          <p:cNvPr id="33" name="Contract note text"/>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500" b="1" dirty="0">
                <a:solidFill>
                  <a:srgbClr val="0F766E"/>
                </a:solidFill>
              </a:rPr>
              <a:t>/bulkUpload: </a:t>
            </a:r>
            <a:pPr indent="0" marL="0">
              <a:buNone/>
            </a:pPr>
            <a:r>
              <a:rPr lang="en-US" sz="1500" dirty="0">
                <a:solidFill>
                  <a:schemeClr val="tx2"/>
                </a:solidFill>
              </a:rPr>
              <a:t>SCIM bulk request, up to 50 operations per call; asynchronous (202 Accepted); least-privilege upload permission; one provisioning app per source.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Joiner, mover, leaver: the hire causes the account</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429000"/>
        </p:xfrm>
        <a:graphic>
          <a:graphicData uri="http://schemas.openxmlformats.org/drawingml/2006/table">
            <a:tbl>
              <a:tblPr/>
              <a:tblGrid>
                <a:gridCol w="1645920"/>
                <a:gridCol w="2377440"/>
                <a:gridCol w="7086600"/>
              </a:tblGrid>
              <a:tr h="5715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 event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Recorded fact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Identity actions derived from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7150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Joiner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Future-dated hire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Account created before the start date; licenses and baseline access derived from attributes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7150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Mover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Assignment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Attributes re-stamped; old access leaves as new arrives; review of what remains (PS-5)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7150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Leaver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Effective-dated separation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Block logical access immediately, then reconcile credentials, devices and access (PS-4)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7150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Rehire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Matched to the prior record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Prior identifier re-linked; no second identity (IA-4)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7150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Conversion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Worker type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Same identifier; access re-derived from the new worker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Division 1"/>
          <p:cNvSpPr/>
          <p:nvPr/>
        </p:nvSpPr>
        <p:spPr>
          <a:xfrm>
            <a:off x="548640" y="5029200"/>
            <a:ext cx="5486400" cy="1097280"/>
          </a:xfrm>
          <a:prstGeom prst="roundRect">
            <a:avLst>
              <a:gd name="adj" fmla="val 6667"/>
            </a:avLst>
          </a:prstGeom>
          <a:solidFill>
            <a:srgbClr val="EEF1F7"/>
          </a:solidFill>
          <a:ln w="12700">
            <a:solidFill>
              <a:srgbClr val="EEF1F7"/>
            </a:solidFill>
            <a:prstDash val="solid"/>
          </a:ln>
        </p:spPr>
      </p:sp>
      <p:sp>
        <p:nvSpPr>
          <p:cNvPr id="5" name="Division 1 text"/>
          <p:cNvSpPr txBox="1"/>
          <p:nvPr/>
        </p:nvSpPr>
        <p:spPr>
          <a:xfrm>
            <a:off x="777240" y="5102352"/>
            <a:ext cx="5029200" cy="960120"/>
          </a:xfrm>
          <a:prstGeom prst="rect">
            <a:avLst/>
          </a:prstGeom>
          <a:noFill/>
          <a:ln/>
        </p:spPr>
        <p:txBody>
          <a:bodyPr wrap="square" lIns="0" tIns="0" rIns="0" bIns="0" rtlCol="0" anchor="ctr"/>
          <a:lstStyle/>
          <a:p>
            <a:pPr indent="0" marL="0">
              <a:buNone/>
            </a:pPr>
            <a:r>
              <a:rPr lang="en-US" sz="1500" b="1" dirty="0">
                <a:solidFill>
                  <a:srgbClr val="1F2A44"/>
                </a:solidFill>
              </a:rPr>
              <a:t>Inbound provisioning creates and updates accounts </a:t>
            </a:r>
            <a:pPr indent="0" marL="0">
              <a:buNone/>
            </a:pPr>
            <a:r>
              <a:rPr lang="en-US" sz="1500" dirty="0">
                <a:solidFill>
                  <a:schemeClr val="tx2"/>
                </a:solidFill>
              </a:rPr>
              <a:t>and enables or disables them from HR status.</a:t>
            </a:r>
            <a:endParaRPr lang="en-US" sz="1500" dirty="0"/>
          </a:p>
        </p:txBody>
      </p:sp>
      <p:sp>
        <p:nvSpPr>
          <p:cNvPr id="6" name="Division 2"/>
          <p:cNvSpPr/>
          <p:nvPr/>
        </p:nvSpPr>
        <p:spPr>
          <a:xfrm>
            <a:off x="6172200" y="5029200"/>
            <a:ext cx="5486400" cy="1097280"/>
          </a:xfrm>
          <a:prstGeom prst="roundRect">
            <a:avLst>
              <a:gd name="adj" fmla="val 6667"/>
            </a:avLst>
          </a:prstGeom>
          <a:solidFill>
            <a:srgbClr val="E6F2F1"/>
          </a:solidFill>
          <a:ln w="12700">
            <a:solidFill>
              <a:srgbClr val="E6F2F1"/>
            </a:solidFill>
            <a:prstDash val="solid"/>
          </a:ln>
        </p:spPr>
      </p:sp>
      <p:sp>
        <p:nvSpPr>
          <p:cNvPr id="7" name="Division 2 text"/>
          <p:cNvSpPr txBox="1"/>
          <p:nvPr/>
        </p:nvSpPr>
        <p:spPr>
          <a:xfrm>
            <a:off x="6400800" y="5102352"/>
            <a:ext cx="5029200" cy="960120"/>
          </a:xfrm>
          <a:prstGeom prst="rect">
            <a:avLst/>
          </a:prstGeom>
          <a:noFill/>
          <a:ln/>
        </p:spPr>
        <p:txBody>
          <a:bodyPr wrap="square" lIns="0" tIns="0" rIns="0" bIns="0" rtlCol="0" anchor="ctr"/>
          <a:lstStyle/>
          <a:p>
            <a:pPr indent="0" marL="0">
              <a:buNone/>
            </a:pPr>
            <a:r>
              <a:rPr lang="en-US" sz="1500" b="1" dirty="0">
                <a:solidFill>
                  <a:srgbClr val="0F766E"/>
                </a:solidFill>
              </a:rPr>
              <a:t>Lifecycle Workflows act on users who already exist </a:t>
            </a:r>
            <a:pPr indent="0" marL="0">
              <a:buNone/>
            </a:pPr>
            <a:r>
              <a:rPr lang="en-US" sz="1500" dirty="0">
                <a:solidFill>
                  <a:schemeClr val="tx2"/>
                </a:solidFill>
              </a:rPr>
              <a:t>— scheduled triggers on hire and leave dates, plus on-demand for emergency termination.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leaver sequence: block first, reconcile to completion</a:t>
            </a:r>
            <a:endParaRPr lang="en-US" sz="3000" dirty="0"/>
          </a:p>
        </p:txBody>
      </p:sp>
      <p:pic>
        <p:nvPicPr>
          <p:cNvPr id="3" name="Leaver sequence diagram" descr="Leaver sequence: disable the account and revoke sessions first; then revoke PIV, retire devices and remove access in parallel; reconcile every result; dispose of the directory object last.">    </p:cNvPr>
          <p:cNvPicPr>
            <a:picLocks noChangeAspect="1"/>
          </p:cNvPicPr>
          <p:nvPr/>
        </p:nvPicPr>
        <p:blipFill>
          <a:blip r:embed="rId1"/>
          <a:stretch>
            <a:fillRect/>
          </a:stretch>
        </p:blipFill>
        <p:spPr>
          <a:xfrm>
            <a:off x="548640" y="1325880"/>
            <a:ext cx="5120640" cy="4800600"/>
          </a:xfrm>
          <a:prstGeom prst="rect">
            <a:avLst/>
          </a:prstGeom>
        </p:spPr>
      </p:pic>
      <p:sp>
        <p:nvSpPr>
          <p:cNvPr id="4" name="Leaver point 1 badge"/>
          <p:cNvSpPr/>
          <p:nvPr/>
        </p:nvSpPr>
        <p:spPr>
          <a:xfrm>
            <a:off x="6035040" y="1463040"/>
            <a:ext cx="457200" cy="457200"/>
          </a:xfrm>
          <a:prstGeom prst="ellipse">
            <a:avLst/>
          </a:prstGeom>
          <a:solidFill>
            <a:srgbClr val="1F2A44"/>
          </a:solidFill>
          <a:ln w="12700">
            <a:solidFill>
              <a:srgbClr val="FFFFFF"/>
            </a:solidFill>
            <a:prstDash val="solid"/>
          </a:ln>
        </p:spPr>
      </p:sp>
      <p:sp>
        <p:nvSpPr>
          <p:cNvPr id="5" name="Leaver point 1 number"/>
          <p:cNvSpPr txBox="1"/>
          <p:nvPr/>
        </p:nvSpPr>
        <p:spPr>
          <a:xfrm>
            <a:off x="603504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Leaver point 1 text"/>
          <p:cNvSpPr txBox="1"/>
          <p:nvPr/>
        </p:nvSpPr>
        <p:spPr>
          <a:xfrm>
            <a:off x="6675120" y="1417320"/>
            <a:ext cx="4983480" cy="1097280"/>
          </a:xfrm>
          <a:prstGeom prst="rect">
            <a:avLst/>
          </a:prstGeom>
          <a:noFill/>
          <a:ln/>
        </p:spPr>
        <p:txBody>
          <a:bodyPr wrap="square" lIns="0" tIns="0" rIns="0" bIns="0" rtlCol="0" anchor="t"/>
          <a:lstStyle/>
          <a:p>
            <a:pPr indent="0" marL="0">
              <a:buNone/>
            </a:pPr>
            <a:r>
              <a:rPr lang="en-US" sz="1600" b="1" dirty="0">
                <a:solidFill>
                  <a:srgbClr val="1F2A44"/>
                </a:solidFill>
              </a:rPr>
              <a:t>Disable, then revoke sessions.</a:t>
            </a:r>
            <a:endParaRPr lang="en-US" sz="1600" dirty="0"/>
          </a:p>
          <a:p>
            <a:pPr indent="0" marL="0">
              <a:buNone/>
            </a:pPr>
            <a:r>
              <a:rPr lang="en-US" sz="1400" dirty="0">
                <a:solidFill>
                  <a:schemeClr val="tx2"/>
                </a:solidFill>
              </a:rPr>
              <a:t>Microsoft’s emergency-revocation order; it closes certificate sign-in now, not at the next CRL refresh.</a:t>
            </a:r>
            <a:endParaRPr lang="en-US" sz="1600" dirty="0"/>
          </a:p>
        </p:txBody>
      </p:sp>
      <p:sp>
        <p:nvSpPr>
          <p:cNvPr id="7" name="Leaver point 2 badge"/>
          <p:cNvSpPr/>
          <p:nvPr/>
        </p:nvSpPr>
        <p:spPr>
          <a:xfrm>
            <a:off x="6035040" y="2651760"/>
            <a:ext cx="457200" cy="457200"/>
          </a:xfrm>
          <a:prstGeom prst="ellipse">
            <a:avLst/>
          </a:prstGeom>
          <a:solidFill>
            <a:srgbClr val="64748B"/>
          </a:solidFill>
          <a:ln w="12700">
            <a:solidFill>
              <a:srgbClr val="FFFFFF"/>
            </a:solidFill>
            <a:prstDash val="solid"/>
          </a:ln>
        </p:spPr>
      </p:sp>
      <p:sp>
        <p:nvSpPr>
          <p:cNvPr id="8" name="Leaver point 2 number"/>
          <p:cNvSpPr txBox="1"/>
          <p:nvPr/>
        </p:nvSpPr>
        <p:spPr>
          <a:xfrm>
            <a:off x="6035040"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Leaver point 2 text"/>
          <p:cNvSpPr txBox="1"/>
          <p:nvPr/>
        </p:nvSpPr>
        <p:spPr>
          <a:xfrm>
            <a:off x="6675120" y="2606040"/>
            <a:ext cx="4983480" cy="1097280"/>
          </a:xfrm>
          <a:prstGeom prst="rect">
            <a:avLst/>
          </a:prstGeom>
          <a:noFill/>
          <a:ln/>
        </p:spPr>
        <p:txBody>
          <a:bodyPr wrap="square" lIns="0" tIns="0" rIns="0" bIns="0" rtlCol="0" anchor="t"/>
          <a:lstStyle/>
          <a:p>
            <a:pPr indent="0" marL="0">
              <a:buNone/>
            </a:pPr>
            <a:r>
              <a:rPr lang="en-US" sz="1600" b="1" dirty="0">
                <a:solidFill>
                  <a:srgbClr val="1F2A44"/>
                </a:solidFill>
              </a:rPr>
              <a:t>Then revoke in parallel.</a:t>
            </a:r>
            <a:endParaRPr lang="en-US" sz="1600" dirty="0"/>
          </a:p>
          <a:p>
            <a:pPr indent="0" marL="0">
              <a:buNone/>
            </a:pPr>
            <a:r>
              <a:rPr lang="en-US" sz="1400" dirty="0">
                <a:solidFill>
                  <a:schemeClr val="tx2"/>
                </a:solidFill>
              </a:rPr>
              <a:t>PIV and derived credentials through the CMS; Intune retire or wipe; access packages, groups, licenses, privileged eligibility.</a:t>
            </a:r>
            <a:endParaRPr lang="en-US" sz="1600" dirty="0"/>
          </a:p>
        </p:txBody>
      </p:sp>
      <p:sp>
        <p:nvSpPr>
          <p:cNvPr id="10" name="Leaver point 3 badge"/>
          <p:cNvSpPr/>
          <p:nvPr/>
        </p:nvSpPr>
        <p:spPr>
          <a:xfrm>
            <a:off x="6035040" y="3840480"/>
            <a:ext cx="457200" cy="457200"/>
          </a:xfrm>
          <a:prstGeom prst="ellipse">
            <a:avLst/>
          </a:prstGeom>
          <a:solidFill>
            <a:srgbClr val="64748B"/>
          </a:solidFill>
          <a:ln w="12700">
            <a:solidFill>
              <a:srgbClr val="FFFFFF"/>
            </a:solidFill>
            <a:prstDash val="solid"/>
          </a:ln>
        </p:spPr>
      </p:sp>
      <p:sp>
        <p:nvSpPr>
          <p:cNvPr id="11" name="Leaver point 3 number"/>
          <p:cNvSpPr txBox="1"/>
          <p:nvPr/>
        </p:nvSpPr>
        <p:spPr>
          <a:xfrm>
            <a:off x="60350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Leaver point 3 text"/>
          <p:cNvSpPr txBox="1"/>
          <p:nvPr/>
        </p:nvSpPr>
        <p:spPr>
          <a:xfrm>
            <a:off x="6675120" y="3794760"/>
            <a:ext cx="4983480" cy="1097280"/>
          </a:xfrm>
          <a:prstGeom prst="rect">
            <a:avLst/>
          </a:prstGeom>
          <a:noFill/>
          <a:ln/>
        </p:spPr>
        <p:txBody>
          <a:bodyPr wrap="square" lIns="0" tIns="0" rIns="0" bIns="0" rtlCol="0" anchor="t"/>
          <a:lstStyle/>
          <a:p>
            <a:pPr indent="0" marL="0">
              <a:buNone/>
            </a:pPr>
            <a:r>
              <a:rPr lang="en-US" sz="1600" b="1" dirty="0">
                <a:solidFill>
                  <a:srgbClr val="1F2A44"/>
                </a:solidFill>
              </a:rPr>
              <a:t>Reconcile every result.</a:t>
            </a:r>
            <a:endParaRPr lang="en-US" sz="1600" dirty="0"/>
          </a:p>
          <a:p>
            <a:pPr indent="0" marL="0">
              <a:buNone/>
            </a:pPr>
            <a:r>
              <a:rPr lang="en-US" sz="1400" dirty="0">
                <a:solidFill>
                  <a:schemeClr val="tx2"/>
                </a:solidFill>
              </a:rPr>
              <a:t>Custom task extensions are idempotent with bounded retry; failures escalate until revocation is confirmed.</a:t>
            </a:r>
            <a:endParaRPr lang="en-US" sz="1600" dirty="0"/>
          </a:p>
        </p:txBody>
      </p:sp>
      <p:sp>
        <p:nvSpPr>
          <p:cNvPr id="13" name="Leaver point 4 badge"/>
          <p:cNvSpPr/>
          <p:nvPr/>
        </p:nvSpPr>
        <p:spPr>
          <a:xfrm>
            <a:off x="6035040" y="5029200"/>
            <a:ext cx="457200" cy="457200"/>
          </a:xfrm>
          <a:prstGeom prst="ellipse">
            <a:avLst/>
          </a:prstGeom>
          <a:solidFill>
            <a:srgbClr val="0F766E"/>
          </a:solidFill>
          <a:ln w="12700">
            <a:solidFill>
              <a:srgbClr val="FFFFFF"/>
            </a:solidFill>
            <a:prstDash val="solid"/>
          </a:ln>
        </p:spPr>
      </p:sp>
      <p:sp>
        <p:nvSpPr>
          <p:cNvPr id="14" name="Leaver point 4 number"/>
          <p:cNvSpPr txBox="1"/>
          <p:nvPr/>
        </p:nvSpPr>
        <p:spPr>
          <a:xfrm>
            <a:off x="6035040" y="5029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5" name="Leaver point 4 text"/>
          <p:cNvSpPr txBox="1"/>
          <p:nvPr/>
        </p:nvSpPr>
        <p:spPr>
          <a:xfrm>
            <a:off x="6675120" y="4983480"/>
            <a:ext cx="4983480" cy="1097280"/>
          </a:xfrm>
          <a:prstGeom prst="rect">
            <a:avLst/>
          </a:prstGeom>
          <a:noFill/>
          <a:ln/>
        </p:spPr>
        <p:txBody>
          <a:bodyPr wrap="square" lIns="0" tIns="0" rIns="0" bIns="0" rtlCol="0" anchor="t"/>
          <a:lstStyle/>
          <a:p>
            <a:pPr indent="0" marL="0">
              <a:buNone/>
            </a:pPr>
            <a:r>
              <a:rPr lang="en-US" sz="1600" b="1" dirty="0">
                <a:solidFill>
                  <a:srgbClr val="1F2A44"/>
                </a:solidFill>
              </a:rPr>
              <a:t>Dispose last.</a:t>
            </a:r>
            <a:endParaRPr lang="en-US" sz="1600" dirty="0"/>
          </a:p>
          <a:p>
            <a:pPr indent="0" marL="0">
              <a:buNone/>
            </a:pPr>
            <a:r>
              <a:rPr lang="en-US" sz="1400" dirty="0">
                <a:solidFill>
                  <a:schemeClr val="tx2"/>
                </a:solidFill>
              </a:rPr>
              <a:t>Deleting the user leaves Intune SCEP certificates valid on the device.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From attributes to access: every entitlement has a “because”</a:t>
            </a:r>
            <a:endParaRPr lang="en-US" sz="3000" dirty="0"/>
          </a:p>
        </p:txBody>
      </p:sp>
      <p:sp>
        <p:nvSpPr>
          <p:cNvPr id="3" name="Chain 1"/>
          <p:cNvSpPr/>
          <p:nvPr/>
        </p:nvSpPr>
        <p:spPr>
          <a:xfrm>
            <a:off x="548640" y="1463040"/>
            <a:ext cx="2514600" cy="914400"/>
          </a:xfrm>
          <a:prstGeom prst="roundRect">
            <a:avLst>
              <a:gd name="adj" fmla="val 8000"/>
            </a:avLst>
          </a:prstGeom>
          <a:solidFill>
            <a:srgbClr val="1F2A44"/>
          </a:solidFill>
          <a:ln w="12700">
            <a:solidFill>
              <a:srgbClr val="1F2A44"/>
            </a:solidFill>
            <a:prstDash val="solid"/>
          </a:ln>
        </p:spPr>
      </p:sp>
      <p:sp>
        <p:nvSpPr>
          <p:cNvPr id="4" name="Chain 1 text"/>
          <p:cNvSpPr txBox="1"/>
          <p:nvPr/>
        </p:nvSpPr>
        <p:spPr>
          <a:xfrm>
            <a:off x="640080" y="1463040"/>
            <a:ext cx="2331720" cy="914400"/>
          </a:xfrm>
          <a:prstGeom prst="rect">
            <a:avLst/>
          </a:prstGeom>
          <a:noFill/>
          <a:ln/>
        </p:spPr>
        <p:txBody>
          <a:bodyPr wrap="square" lIns="0" tIns="0" rIns="0" bIns="0" rtlCol="0" anchor="ctr"/>
          <a:lstStyle/>
          <a:p>
            <a:pPr algn="ctr" indent="0" marL="0">
              <a:buNone/>
            </a:pPr>
            <a:r>
              <a:rPr lang="en-US" sz="1700" b="1" dirty="0">
                <a:solidFill>
                  <a:srgbClr val="FFFFFF"/>
                </a:solidFill>
              </a:rPr>
              <a:t>Worker record</a:t>
            </a:r>
            <a:endParaRPr lang="en-US" sz="1700" dirty="0"/>
          </a:p>
        </p:txBody>
      </p:sp>
      <p:sp>
        <p:nvSpPr>
          <p:cNvPr id="5" name="Shape 3"/>
          <p:cNvSpPr/>
          <p:nvPr/>
        </p:nvSpPr>
        <p:spPr>
          <a:xfrm>
            <a:off x="3063240" y="1920240"/>
            <a:ext cx="365760" cy="0"/>
          </a:xfrm>
          <a:prstGeom prst="line">
            <a:avLst/>
          </a:prstGeom>
          <a:noFill/>
          <a:ln w="22225">
            <a:solidFill>
              <a:srgbClr val="64748B"/>
            </a:solidFill>
            <a:prstDash val="solid"/>
            <a:tailEnd type="triangle"/>
          </a:ln>
        </p:spPr>
      </p:sp>
      <p:sp>
        <p:nvSpPr>
          <p:cNvPr id="6" name="Chain 2"/>
          <p:cNvSpPr/>
          <p:nvPr/>
        </p:nvSpPr>
        <p:spPr>
          <a:xfrm>
            <a:off x="3410712" y="1463040"/>
            <a:ext cx="2514600" cy="914400"/>
          </a:xfrm>
          <a:prstGeom prst="roundRect">
            <a:avLst>
              <a:gd name="adj" fmla="val 8000"/>
            </a:avLst>
          </a:prstGeom>
          <a:solidFill>
            <a:srgbClr val="EEF1F7"/>
          </a:solidFill>
          <a:ln w="12700">
            <a:solidFill>
              <a:srgbClr val="1F2A44"/>
            </a:solidFill>
            <a:prstDash val="solid"/>
          </a:ln>
        </p:spPr>
      </p:sp>
      <p:sp>
        <p:nvSpPr>
          <p:cNvPr id="7" name="Chain 2 text"/>
          <p:cNvSpPr txBox="1"/>
          <p:nvPr/>
        </p:nvSpPr>
        <p:spPr>
          <a:xfrm>
            <a:off x="3502152" y="1463040"/>
            <a:ext cx="2331720" cy="914400"/>
          </a:xfrm>
          <a:prstGeom prst="rect">
            <a:avLst/>
          </a:prstGeom>
          <a:noFill/>
          <a:ln/>
        </p:spPr>
        <p:txBody>
          <a:bodyPr wrap="square" lIns="0" tIns="0" rIns="0" bIns="0" rtlCol="0" anchor="ctr"/>
          <a:lstStyle/>
          <a:p>
            <a:pPr algn="ctr" indent="0" marL="0">
              <a:buNone/>
            </a:pPr>
            <a:r>
              <a:rPr lang="en-US" sz="1700" b="1" dirty="0">
                <a:solidFill>
                  <a:srgbClr val="1F2A44"/>
                </a:solidFill>
              </a:rPr>
              <a:t>Stamped attributes</a:t>
            </a:r>
            <a:endParaRPr lang="en-US" sz="1700" dirty="0"/>
          </a:p>
        </p:txBody>
      </p:sp>
      <p:sp>
        <p:nvSpPr>
          <p:cNvPr id="8" name="Shape 6"/>
          <p:cNvSpPr/>
          <p:nvPr/>
        </p:nvSpPr>
        <p:spPr>
          <a:xfrm>
            <a:off x="5925312" y="1920240"/>
            <a:ext cx="365760" cy="0"/>
          </a:xfrm>
          <a:prstGeom prst="line">
            <a:avLst/>
          </a:prstGeom>
          <a:noFill/>
          <a:ln w="22225">
            <a:solidFill>
              <a:srgbClr val="64748B"/>
            </a:solidFill>
            <a:prstDash val="solid"/>
            <a:tailEnd type="triangle"/>
          </a:ln>
        </p:spPr>
      </p:sp>
      <p:sp>
        <p:nvSpPr>
          <p:cNvPr id="9" name="Chain 3"/>
          <p:cNvSpPr/>
          <p:nvPr/>
        </p:nvSpPr>
        <p:spPr>
          <a:xfrm>
            <a:off x="6272784" y="1463040"/>
            <a:ext cx="2514600" cy="914400"/>
          </a:xfrm>
          <a:prstGeom prst="roundRect">
            <a:avLst>
              <a:gd name="adj" fmla="val 8000"/>
            </a:avLst>
          </a:prstGeom>
          <a:solidFill>
            <a:srgbClr val="EEF1F7"/>
          </a:solidFill>
          <a:ln w="12700">
            <a:solidFill>
              <a:srgbClr val="1F2A44"/>
            </a:solidFill>
            <a:prstDash val="solid"/>
          </a:ln>
        </p:spPr>
      </p:sp>
      <p:sp>
        <p:nvSpPr>
          <p:cNvPr id="10" name="Chain 3 text"/>
          <p:cNvSpPr txBox="1"/>
          <p:nvPr/>
        </p:nvSpPr>
        <p:spPr>
          <a:xfrm>
            <a:off x="6364224" y="1463040"/>
            <a:ext cx="2331720" cy="914400"/>
          </a:xfrm>
          <a:prstGeom prst="rect">
            <a:avLst/>
          </a:prstGeom>
          <a:noFill/>
          <a:ln/>
        </p:spPr>
        <p:txBody>
          <a:bodyPr wrap="square" lIns="0" tIns="0" rIns="0" bIns="0" rtlCol="0" anchor="ctr"/>
          <a:lstStyle/>
          <a:p>
            <a:pPr algn="ctr" indent="0" marL="0">
              <a:buNone/>
            </a:pPr>
            <a:r>
              <a:rPr lang="en-US" sz="1700" b="1" dirty="0">
                <a:solidFill>
                  <a:srgbClr val="1F2A44"/>
                </a:solidFill>
              </a:rPr>
              <a:t>Dynamic groups</a:t>
            </a:r>
            <a:endParaRPr lang="en-US" sz="1700" dirty="0"/>
          </a:p>
        </p:txBody>
      </p:sp>
      <p:sp>
        <p:nvSpPr>
          <p:cNvPr id="11" name="Shape 9"/>
          <p:cNvSpPr/>
          <p:nvPr/>
        </p:nvSpPr>
        <p:spPr>
          <a:xfrm>
            <a:off x="8787384" y="1920240"/>
            <a:ext cx="365760" cy="0"/>
          </a:xfrm>
          <a:prstGeom prst="line">
            <a:avLst/>
          </a:prstGeom>
          <a:noFill/>
          <a:ln w="22225">
            <a:solidFill>
              <a:srgbClr val="64748B"/>
            </a:solidFill>
            <a:prstDash val="solid"/>
            <a:tailEnd type="triangle"/>
          </a:ln>
        </p:spPr>
      </p:sp>
      <p:sp>
        <p:nvSpPr>
          <p:cNvPr id="12" name="Chain 4"/>
          <p:cNvSpPr/>
          <p:nvPr/>
        </p:nvSpPr>
        <p:spPr>
          <a:xfrm>
            <a:off x="9134856" y="1463040"/>
            <a:ext cx="2514600" cy="914400"/>
          </a:xfrm>
          <a:prstGeom prst="roundRect">
            <a:avLst>
              <a:gd name="adj" fmla="val 8000"/>
            </a:avLst>
          </a:prstGeom>
          <a:solidFill>
            <a:srgbClr val="EEF1F7"/>
          </a:solidFill>
          <a:ln w="12700">
            <a:solidFill>
              <a:srgbClr val="1F2A44"/>
            </a:solidFill>
            <a:prstDash val="solid"/>
          </a:ln>
        </p:spPr>
      </p:sp>
      <p:sp>
        <p:nvSpPr>
          <p:cNvPr id="13" name="Chain 4 text"/>
          <p:cNvSpPr txBox="1"/>
          <p:nvPr/>
        </p:nvSpPr>
        <p:spPr>
          <a:xfrm>
            <a:off x="9226296" y="1463040"/>
            <a:ext cx="2331720" cy="914400"/>
          </a:xfrm>
          <a:prstGeom prst="rect">
            <a:avLst/>
          </a:prstGeom>
          <a:noFill/>
          <a:ln/>
        </p:spPr>
        <p:txBody>
          <a:bodyPr wrap="square" lIns="0" tIns="0" rIns="0" bIns="0" rtlCol="0" anchor="ctr"/>
          <a:lstStyle/>
          <a:p>
            <a:pPr algn="ctr" indent="0" marL="0">
              <a:buNone/>
            </a:pPr>
            <a:r>
              <a:rPr lang="en-US" sz="1700" b="1" dirty="0">
                <a:solidFill>
                  <a:srgbClr val="1F2A44"/>
                </a:solidFill>
              </a:rPr>
              <a:t>Entitlements</a:t>
            </a:r>
            <a:endParaRPr lang="en-US" sz="1700" dirty="0"/>
          </a:p>
        </p:txBody>
      </p:sp>
      <p:sp>
        <p:nvSpPr>
          <p:cNvPr id="14" name="Rule example"/>
          <p:cNvSpPr/>
          <p:nvPr/>
        </p:nvSpPr>
        <p:spPr>
          <a:xfrm>
            <a:off x="548640" y="2697480"/>
            <a:ext cx="11109960" cy="777240"/>
          </a:xfrm>
          <a:prstGeom prst="roundRect">
            <a:avLst>
              <a:gd name="adj" fmla="val 9412"/>
            </a:avLst>
          </a:prstGeom>
          <a:solidFill>
            <a:srgbClr val="F1F5F9"/>
          </a:solidFill>
          <a:ln w="12700">
            <a:solidFill>
              <a:srgbClr val="F1F5F9"/>
            </a:solidFill>
            <a:prstDash val="solid"/>
          </a:ln>
        </p:spPr>
      </p:sp>
      <p:sp>
        <p:nvSpPr>
          <p:cNvPr id="15" name="Rule example text"/>
          <p:cNvSpPr txBox="1"/>
          <p:nvPr/>
        </p:nvSpPr>
        <p:spPr>
          <a:xfrm>
            <a:off x="822960" y="2743200"/>
            <a:ext cx="10607040" cy="6858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Example rule:  </a:t>
            </a:r>
            <a:pPr indent="0" marL="0">
              <a:buNone/>
            </a:pPr>
            <a:r>
              <a:rPr lang="en-US" sz="1400" dirty="0">
                <a:solidFill>
                  <a:schemeClr val="tx2"/>
                </a:solidFill>
                <a:latin typeface="Consolas" pitchFamily="34" charset="0"/>
                <a:ea typeface="Consolas" pitchFamily="34" charset="-122"/>
                <a:cs typeface="Consolas" pitchFamily="34" charset="-120"/>
              </a:rPr>
              <a:t>(user.accountEnabled -eq true) -and (user.extensionAttribute10 -eq "FIN-LED") -and (user.extensionAttribute11 -eq "EMP")</a:t>
            </a:r>
            <a:endParaRPr lang="en-US" sz="1500" dirty="0"/>
          </a:p>
        </p:txBody>
      </p:sp>
      <p:sp>
        <p:nvSpPr>
          <p:cNvPr id="16" name="What it gives you card"/>
          <p:cNvSpPr/>
          <p:nvPr/>
        </p:nvSpPr>
        <p:spPr>
          <a:xfrm>
            <a:off x="548640" y="3703320"/>
            <a:ext cx="5486400" cy="2103120"/>
          </a:xfrm>
          <a:prstGeom prst="roundRect">
            <a:avLst>
              <a:gd name="adj" fmla="val 3478"/>
            </a:avLst>
          </a:prstGeom>
          <a:solidFill>
            <a:srgbClr val="E6F2F1"/>
          </a:solidFill>
          <a:ln w="12700">
            <a:solidFill>
              <a:srgbClr val="E6F2F1"/>
            </a:solidFill>
            <a:prstDash val="solid"/>
          </a:ln>
        </p:spPr>
      </p:sp>
      <p:sp>
        <p:nvSpPr>
          <p:cNvPr id="17" name="What it gives you heading"/>
          <p:cNvSpPr txBox="1"/>
          <p:nvPr/>
        </p:nvSpPr>
        <p:spPr>
          <a:xfrm>
            <a:off x="822960" y="3840480"/>
            <a:ext cx="4937760" cy="41148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What it gives you</a:t>
            </a:r>
            <a:endParaRPr lang="en-US" sz="1800" dirty="0"/>
          </a:p>
        </p:txBody>
      </p:sp>
      <p:sp>
        <p:nvSpPr>
          <p:cNvPr id="18" name="What it gives you list"/>
          <p:cNvSpPr txBox="1"/>
          <p:nvPr/>
        </p:nvSpPr>
        <p:spPr>
          <a:xfrm>
            <a:off x="822960" y="4315968"/>
            <a:ext cx="498348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Membership is computed: no group owner to lobby, no offboarding step to forget</a:t>
            </a:r>
            <a:endParaRPr lang="en-US" sz="1500" dirty="0"/>
          </a:p>
          <a:p>
            <a:pPr marL="342900" indent="-342900">
              <a:spcAft>
                <a:spcPts val="600"/>
              </a:spcAft>
              <a:buSzPct val="100000"/>
              <a:buChar char="•"/>
            </a:pPr>
            <a:r>
              <a:rPr lang="en-US" sz="1500" dirty="0">
                <a:solidFill>
                  <a:schemeClr val="tx2"/>
                </a:solidFill>
              </a:rPr>
              <a:t>Access packages route approvals to the supervisor of record</a:t>
            </a:r>
            <a:endParaRPr lang="en-US" sz="1500" dirty="0"/>
          </a:p>
          <a:p>
            <a:pPr marL="342900" indent="-342900">
              <a:spcAft>
                <a:spcPts val="600"/>
              </a:spcAft>
              <a:buSzPct val="100000"/>
              <a:buChar char="•"/>
            </a:pPr>
            <a:r>
              <a:rPr lang="en-US" sz="1500" dirty="0">
                <a:solidFill>
                  <a:schemeClr val="tx2"/>
                </a:solidFill>
              </a:rPr>
              <a:t>Reviews scoped to exceptions, not 400 rows approved in bulk</a:t>
            </a:r>
            <a:endParaRPr lang="en-US" sz="1500" dirty="0"/>
          </a:p>
        </p:txBody>
      </p:sp>
      <p:sp>
        <p:nvSpPr>
          <p:cNvPr id="19" name="Where it stops card"/>
          <p:cNvSpPr/>
          <p:nvPr/>
        </p:nvSpPr>
        <p:spPr>
          <a:xfrm>
            <a:off x="6172200" y="3703320"/>
            <a:ext cx="5486400" cy="2103120"/>
          </a:xfrm>
          <a:prstGeom prst="roundRect">
            <a:avLst>
              <a:gd name="adj" fmla="val 3478"/>
            </a:avLst>
          </a:prstGeom>
          <a:solidFill>
            <a:srgbClr val="FDECEC"/>
          </a:solidFill>
          <a:ln w="12700">
            <a:solidFill>
              <a:srgbClr val="FDECEC"/>
            </a:solidFill>
            <a:prstDash val="solid"/>
          </a:ln>
        </p:spPr>
      </p:sp>
      <p:sp>
        <p:nvSpPr>
          <p:cNvPr id="20" name="Where it stops heading"/>
          <p:cNvSpPr txBox="1"/>
          <p:nvPr/>
        </p:nvSpPr>
        <p:spPr>
          <a:xfrm>
            <a:off x="6446520" y="3840480"/>
            <a:ext cx="4937760" cy="41148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Where it stops</a:t>
            </a:r>
            <a:endParaRPr lang="en-US" sz="1800" dirty="0"/>
          </a:p>
        </p:txBody>
      </p:sp>
      <p:sp>
        <p:nvSpPr>
          <p:cNvPr id="21" name="Where it stops list"/>
          <p:cNvSpPr txBox="1"/>
          <p:nvPr/>
        </p:nvSpPr>
        <p:spPr>
          <a:xfrm>
            <a:off x="6446520" y="4315968"/>
            <a:ext cx="498348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Privileged roles use assigned, role-assignable groups</a:t>
            </a:r>
            <a:endParaRPr lang="en-US" sz="1500" dirty="0"/>
          </a:p>
          <a:p>
            <a:pPr marL="342900" indent="-342900">
              <a:spcAft>
                <a:spcPts val="600"/>
              </a:spcAft>
              <a:buSzPct val="100000"/>
              <a:buChar char="•"/>
            </a:pPr>
            <a:r>
              <a:rPr lang="en-US" sz="1500" dirty="0">
                <a:solidFill>
                  <a:schemeClr val="tx2"/>
                </a:solidFill>
              </a:rPr>
              <a:t>PIM for Groups doesn’t take dynamic groups</a:t>
            </a:r>
            <a:endParaRPr lang="en-US" sz="1500" dirty="0"/>
          </a:p>
          <a:p>
            <a:pPr marL="342900" indent="-342900">
              <a:spcAft>
                <a:spcPts val="600"/>
              </a:spcAft>
              <a:buSzPct val="100000"/>
              <a:buChar char="•"/>
            </a:pPr>
            <a:r>
              <a:rPr lang="en-US" sz="1500" dirty="0">
                <a:solidFill>
                  <a:schemeClr val="tx2"/>
                </a:solidFill>
              </a:rPr>
              <a:t>Break-glass accounts depend on none of this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Drift, metrics and evidence</a:t>
            </a:r>
            <a:endParaRPr lang="en-US" sz="3000" dirty="0"/>
          </a:p>
        </p:txBody>
      </p:sp>
      <p:sp>
        <p:nvSpPr>
          <p:cNvPr id="3" name="Metric 1"/>
          <p:cNvSpPr/>
          <p:nvPr/>
        </p:nvSpPr>
        <p:spPr>
          <a:xfrm>
            <a:off x="548640" y="1417320"/>
            <a:ext cx="2697480" cy="1097280"/>
          </a:xfrm>
          <a:prstGeom prst="roundRect">
            <a:avLst>
              <a:gd name="adj" fmla="val 6667"/>
            </a:avLst>
          </a:prstGeom>
          <a:solidFill>
            <a:srgbClr val="E6F2F1"/>
          </a:solidFill>
          <a:ln w="12700">
            <a:solidFill>
              <a:srgbClr val="E6F2F1"/>
            </a:solidFill>
            <a:prstDash val="solid"/>
          </a:ln>
        </p:spPr>
      </p:sp>
      <p:sp>
        <p:nvSpPr>
          <p:cNvPr id="4" name="Metric 1 text"/>
          <p:cNvSpPr txBox="1"/>
          <p:nvPr/>
        </p:nvSpPr>
        <p:spPr>
          <a:xfrm>
            <a:off x="731520" y="150876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Separation-to-block</a:t>
            </a:r>
            <a:endParaRPr lang="en-US" sz="1400" dirty="0"/>
          </a:p>
          <a:p>
            <a:pPr indent="0" marL="0">
              <a:buNone/>
            </a:pPr>
            <a:r>
              <a:rPr lang="en-US" sz="1300" dirty="0">
                <a:solidFill>
                  <a:schemeClr val="tx2"/>
                </a:solidFill>
              </a:rPr>
              <a:t>HR effective time → disabled and sessions revoked</a:t>
            </a:r>
            <a:endParaRPr lang="en-US" sz="1400" dirty="0"/>
          </a:p>
        </p:txBody>
      </p:sp>
      <p:sp>
        <p:nvSpPr>
          <p:cNvPr id="5" name="Metric 2"/>
          <p:cNvSpPr/>
          <p:nvPr/>
        </p:nvSpPr>
        <p:spPr>
          <a:xfrm>
            <a:off x="3383280" y="1417320"/>
            <a:ext cx="2697480" cy="1097280"/>
          </a:xfrm>
          <a:prstGeom prst="roundRect">
            <a:avLst>
              <a:gd name="adj" fmla="val 6667"/>
            </a:avLst>
          </a:prstGeom>
          <a:solidFill>
            <a:srgbClr val="E6F2F1"/>
          </a:solidFill>
          <a:ln w="12700">
            <a:solidFill>
              <a:srgbClr val="E6F2F1"/>
            </a:solidFill>
            <a:prstDash val="solid"/>
          </a:ln>
        </p:spPr>
      </p:sp>
      <p:sp>
        <p:nvSpPr>
          <p:cNvPr id="6" name="Metric 2 text"/>
          <p:cNvSpPr txBox="1"/>
          <p:nvPr/>
        </p:nvSpPr>
        <p:spPr>
          <a:xfrm>
            <a:off x="3566160" y="150876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Separation-to-revocation</a:t>
            </a:r>
            <a:endParaRPr lang="en-US" sz="1400" dirty="0"/>
          </a:p>
          <a:p>
            <a:pPr indent="0" marL="0">
              <a:buNone/>
            </a:pPr>
            <a:r>
              <a:rPr lang="en-US" sz="1300" dirty="0">
                <a:solidFill>
                  <a:schemeClr val="tx2"/>
                </a:solidFill>
              </a:rPr>
              <a:t>HR effective time → last confirmed revocation</a:t>
            </a:r>
            <a:endParaRPr lang="en-US" sz="1400" dirty="0"/>
          </a:p>
        </p:txBody>
      </p:sp>
      <p:sp>
        <p:nvSpPr>
          <p:cNvPr id="7" name="Metric 3"/>
          <p:cNvSpPr/>
          <p:nvPr/>
        </p:nvSpPr>
        <p:spPr>
          <a:xfrm>
            <a:off x="548640" y="2651760"/>
            <a:ext cx="2697480" cy="1097280"/>
          </a:xfrm>
          <a:prstGeom prst="roundRect">
            <a:avLst>
              <a:gd name="adj" fmla="val 6667"/>
            </a:avLst>
          </a:prstGeom>
          <a:solidFill>
            <a:srgbClr val="E6F2F1"/>
          </a:solidFill>
          <a:ln w="12700">
            <a:solidFill>
              <a:srgbClr val="E6F2F1"/>
            </a:solidFill>
            <a:prstDash val="solid"/>
          </a:ln>
        </p:spPr>
      </p:sp>
      <p:sp>
        <p:nvSpPr>
          <p:cNvPr id="8" name="Metric 3 text"/>
          <p:cNvSpPr txBox="1"/>
          <p:nvPr/>
        </p:nvSpPr>
        <p:spPr>
          <a:xfrm>
            <a:off x="731520" y="274320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Transfer-to-review</a:t>
            </a:r>
            <a:endParaRPr lang="en-US" sz="1400" dirty="0"/>
          </a:p>
          <a:p>
            <a:pPr indent="0" marL="0">
              <a:buNone/>
            </a:pPr>
            <a:r>
              <a:rPr lang="en-US" sz="1300" dirty="0">
                <a:solidFill>
                  <a:schemeClr val="tx2"/>
                </a:solidFill>
              </a:rPr>
              <a:t>Transfer date → review of residual access</a:t>
            </a:r>
            <a:endParaRPr lang="en-US" sz="1400" dirty="0"/>
          </a:p>
        </p:txBody>
      </p:sp>
      <p:sp>
        <p:nvSpPr>
          <p:cNvPr id="9" name="Metric 4"/>
          <p:cNvSpPr/>
          <p:nvPr/>
        </p:nvSpPr>
        <p:spPr>
          <a:xfrm>
            <a:off x="3383280" y="2651760"/>
            <a:ext cx="2697480" cy="1097280"/>
          </a:xfrm>
          <a:prstGeom prst="roundRect">
            <a:avLst>
              <a:gd name="adj" fmla="val 6667"/>
            </a:avLst>
          </a:prstGeom>
          <a:solidFill>
            <a:srgbClr val="E6F2F1"/>
          </a:solidFill>
          <a:ln w="12700">
            <a:solidFill>
              <a:srgbClr val="E6F2F1"/>
            </a:solidFill>
            <a:prstDash val="solid"/>
          </a:ln>
        </p:spPr>
      </p:sp>
      <p:sp>
        <p:nvSpPr>
          <p:cNvPr id="10" name="Metric 4 text"/>
          <p:cNvSpPr txBox="1"/>
          <p:nvPr/>
        </p:nvSpPr>
        <p:spPr>
          <a:xfrm>
            <a:off x="3566160" y="274320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Joiner readiness</a:t>
            </a:r>
            <a:endParaRPr lang="en-US" sz="1400" dirty="0"/>
          </a:p>
          <a:p>
            <a:pPr indent="0" marL="0">
              <a:buNone/>
            </a:pPr>
            <a:r>
              <a:rPr lang="en-US" sz="1300" dirty="0">
                <a:solidFill>
                  <a:schemeClr val="tx2"/>
                </a:solidFill>
              </a:rPr>
              <a:t>Account and baseline access on day one</a:t>
            </a:r>
            <a:endParaRPr lang="en-US" sz="1400" dirty="0"/>
          </a:p>
        </p:txBody>
      </p:sp>
      <p:sp>
        <p:nvSpPr>
          <p:cNvPr id="11" name="Metric 5"/>
          <p:cNvSpPr/>
          <p:nvPr/>
        </p:nvSpPr>
        <p:spPr>
          <a:xfrm>
            <a:off x="548640" y="3886200"/>
            <a:ext cx="2697480" cy="1097280"/>
          </a:xfrm>
          <a:prstGeom prst="roundRect">
            <a:avLst>
              <a:gd name="adj" fmla="val 6667"/>
            </a:avLst>
          </a:prstGeom>
          <a:solidFill>
            <a:srgbClr val="E6F2F1"/>
          </a:solidFill>
          <a:ln w="12700">
            <a:solidFill>
              <a:srgbClr val="E6F2F1"/>
            </a:solidFill>
            <a:prstDash val="solid"/>
          </a:ln>
        </p:spPr>
      </p:sp>
      <p:sp>
        <p:nvSpPr>
          <p:cNvPr id="12" name="Metric 5 text"/>
          <p:cNvSpPr txBox="1"/>
          <p:nvPr/>
        </p:nvSpPr>
        <p:spPr>
          <a:xfrm>
            <a:off x="731520" y="397764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Correlation coverage</a:t>
            </a:r>
            <a:endParaRPr lang="en-US" sz="1400" dirty="0"/>
          </a:p>
          <a:p>
            <a:pPr indent="0" marL="0">
              <a:buNone/>
            </a:pPr>
            <a:r>
              <a:rPr lang="en-US" sz="1300" dirty="0">
                <a:solidFill>
                  <a:schemeClr val="tx2"/>
                </a:solidFill>
              </a:rPr>
              <a:t>Enabled accounts that resolve to a worker record</a:t>
            </a:r>
            <a:endParaRPr lang="en-US" sz="1400" dirty="0"/>
          </a:p>
        </p:txBody>
      </p:sp>
      <p:sp>
        <p:nvSpPr>
          <p:cNvPr id="13" name="Metric 6"/>
          <p:cNvSpPr/>
          <p:nvPr/>
        </p:nvSpPr>
        <p:spPr>
          <a:xfrm>
            <a:off x="3383280" y="3886200"/>
            <a:ext cx="2697480" cy="1097280"/>
          </a:xfrm>
          <a:prstGeom prst="roundRect">
            <a:avLst>
              <a:gd name="adj" fmla="val 6667"/>
            </a:avLst>
          </a:prstGeom>
          <a:solidFill>
            <a:srgbClr val="E6F2F1"/>
          </a:solidFill>
          <a:ln w="12700">
            <a:solidFill>
              <a:srgbClr val="E6F2F1"/>
            </a:solidFill>
            <a:prstDash val="solid"/>
          </a:ln>
        </p:spPr>
      </p:sp>
      <p:sp>
        <p:nvSpPr>
          <p:cNvPr id="14" name="Metric 6 text"/>
          <p:cNvSpPr txBox="1"/>
          <p:nvPr/>
        </p:nvSpPr>
        <p:spPr>
          <a:xfrm>
            <a:off x="3566160" y="3977640"/>
            <a:ext cx="2377440" cy="914400"/>
          </a:xfrm>
          <a:prstGeom prst="rect">
            <a:avLst/>
          </a:prstGeom>
          <a:noFill/>
          <a:ln/>
        </p:spPr>
        <p:txBody>
          <a:bodyPr wrap="square" lIns="0" tIns="0" rIns="0" bIns="0" rtlCol="0" anchor="ctr"/>
          <a:lstStyle/>
          <a:p>
            <a:pPr indent="0" marL="0">
              <a:buNone/>
            </a:pPr>
            <a:r>
              <a:rPr lang="en-US" sz="1500" b="1" dirty="0">
                <a:solidFill>
                  <a:srgbClr val="0F766E"/>
                </a:solidFill>
              </a:rPr>
              <a:t>Derivation purity</a:t>
            </a:r>
            <a:endParaRPr lang="en-US" sz="1400" dirty="0"/>
          </a:p>
          <a:p>
            <a:pPr indent="0" marL="0">
              <a:buNone/>
            </a:pPr>
            <a:r>
              <a:rPr lang="en-US" sz="1300" dirty="0">
                <a:solidFill>
                  <a:schemeClr val="tx2"/>
                </a:solidFill>
              </a:rPr>
              <a:t>Access granted by rule rather than by hand</a:t>
            </a:r>
            <a:endParaRPr lang="en-US" sz="1400" dirty="0"/>
          </a:p>
        </p:txBody>
      </p:sp>
      <p:sp>
        <p:nvSpPr>
          <p:cNvPr id="15" name="Drift card"/>
          <p:cNvSpPr/>
          <p:nvPr/>
        </p:nvSpPr>
        <p:spPr>
          <a:xfrm>
            <a:off x="548640" y="5166360"/>
            <a:ext cx="5532120" cy="960120"/>
          </a:xfrm>
          <a:prstGeom prst="roundRect">
            <a:avLst>
              <a:gd name="adj" fmla="val 7619"/>
            </a:avLst>
          </a:prstGeom>
          <a:solidFill>
            <a:srgbClr val="FDECEC"/>
          </a:solidFill>
          <a:ln w="12700">
            <a:solidFill>
              <a:srgbClr val="FDECEC"/>
            </a:solidFill>
            <a:prstDash val="solid"/>
          </a:ln>
        </p:spPr>
      </p:sp>
      <p:sp>
        <p:nvSpPr>
          <p:cNvPr id="16" name="Drift text"/>
          <p:cNvSpPr txBox="1"/>
          <p:nvPr/>
        </p:nvSpPr>
        <p:spPr>
          <a:xfrm>
            <a:off x="777240" y="5230368"/>
            <a:ext cx="5120640" cy="822960"/>
          </a:xfrm>
          <a:prstGeom prst="rect">
            <a:avLst/>
          </a:prstGeom>
          <a:noFill/>
          <a:ln/>
        </p:spPr>
        <p:txBody>
          <a:bodyPr wrap="square" lIns="0" tIns="0" rIns="0" bIns="0" rtlCol="0" anchor="ctr"/>
          <a:lstStyle/>
          <a:p>
            <a:pPr indent="0" marL="0">
              <a:buNone/>
            </a:pPr>
            <a:r>
              <a:rPr lang="en-US" sz="1400" b="1" dirty="0">
                <a:solidFill>
                  <a:srgbClr val="B91C1C"/>
                </a:solidFill>
              </a:rPr>
              <a:t>Drift classes: </a:t>
            </a:r>
            <a:pPr indent="0" marL="0">
              <a:buNone/>
            </a:pPr>
            <a:r>
              <a:rPr lang="en-US" sz="1400" dirty="0">
                <a:solidFill>
                  <a:schemeClr val="tx2"/>
                </a:solidFill>
              </a:rPr>
              <a:t>missing identity · stale access · orphan account · attribute drift · unauthorized write · credential drift · schema drift</a:t>
            </a:r>
            <a:endParaRPr lang="en-US" sz="1400" dirty="0"/>
          </a:p>
        </p:txBody>
      </p:sp>
      <p:sp>
        <p:nvSpPr>
          <p:cNvPr id="17" name="Controls heading"/>
          <p:cNvSpPr txBox="1"/>
          <p:nvPr/>
        </p:nvSpPr>
        <p:spPr>
          <a:xfrm>
            <a:off x="6355080" y="1417320"/>
            <a:ext cx="5303520" cy="41148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Control support, NIST SP 800-53 Rev. 5</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55080" y="1920240"/>
          <a:ext cx="9144000" cy="3108960"/>
        </p:xfrm>
        <a:graphic>
          <a:graphicData uri="http://schemas.openxmlformats.org/drawingml/2006/table">
            <a:tbl>
              <a:tblPr/>
              <a:tblGrid>
                <a:gridCol w="1143000"/>
                <a:gridCol w="4160520"/>
              </a:tblGrid>
              <a:tr h="444137">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Control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Architecture contribution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AC-2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account traces to a worker record and a 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AC-2(1)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Lifecycle runs from effective-dated HR events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PS-4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Separation starts a timed, reconciled leaver sequence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PS-5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transfer re-derives access and opens a review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IA-4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Layered keys survive rehire and conversion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44137">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SI-12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Lineage from the HR record to every consumer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19" name="Controls caveat"/>
          <p:cNvSpPr txBox="1"/>
          <p:nvPr/>
        </p:nvSpPr>
        <p:spPr>
          <a:xfrm>
            <a:off x="6355080" y="5212080"/>
            <a:ext cx="5303520" cy="822960"/>
          </a:xfrm>
          <a:prstGeom prst="rect">
            <a:avLst/>
          </a:prstGeom>
          <a:noFill/>
          <a:ln/>
        </p:spPr>
        <p:txBody>
          <a:bodyPr wrap="square" lIns="0" tIns="0" rIns="0" bIns="0" rtlCol="0" anchor="t"/>
          <a:lstStyle/>
          <a:p>
            <a:pPr indent="0" marL="0">
              <a:buNone/>
            </a:pPr>
            <a:r>
              <a:rPr lang="en-US" sz="1400" b="1" dirty="0">
                <a:solidFill>
                  <a:srgbClr val="B45309"/>
                </a:solidFill>
              </a:rPr>
              <a:t>Supports the controls; doesn’t close them. </a:t>
            </a:r>
            <a:pPr indent="0" marL="0">
              <a:buNone/>
            </a:pPr>
            <a:r>
              <a:rPr lang="en-US" sz="1400" dirty="0">
                <a:solidFill>
                  <a:schemeClr val="tx2"/>
                </a:solidFill>
              </a:rPr>
              <a:t>Agency policy, parameters, procedures and assessment still apply.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Execution plan: gated phases to the Core HCM cutover</a:t>
            </a:r>
            <a:endParaRPr lang="en-US" sz="3000" dirty="0"/>
          </a:p>
        </p:txBody>
      </p:sp>
      <p:sp>
        <p:nvSpPr>
          <p:cNvPr id="3" name="Shape 1"/>
          <p:cNvSpPr/>
          <p:nvPr/>
        </p:nvSpPr>
        <p:spPr>
          <a:xfrm>
            <a:off x="1280160" y="1783080"/>
            <a:ext cx="9628632" cy="0"/>
          </a:xfrm>
          <a:prstGeom prst="line">
            <a:avLst/>
          </a:prstGeom>
          <a:noFill/>
          <a:ln w="19050">
            <a:solidFill>
              <a:srgbClr val="64748B"/>
            </a:solidFill>
            <a:prstDash val="solid"/>
          </a:ln>
        </p:spPr>
      </p:sp>
      <p:sp>
        <p:nvSpPr>
          <p:cNvPr id="4" name="Phase 0 badge"/>
          <p:cNvSpPr/>
          <p:nvPr/>
        </p:nvSpPr>
        <p:spPr>
          <a:xfrm>
            <a:off x="987552" y="1490472"/>
            <a:ext cx="585216" cy="585216"/>
          </a:xfrm>
          <a:prstGeom prst="ellipse">
            <a:avLst/>
          </a:prstGeom>
          <a:solidFill>
            <a:srgbClr val="1F2A44"/>
          </a:solidFill>
          <a:ln w="25400">
            <a:solidFill>
              <a:srgbClr val="FFFFFF"/>
            </a:solidFill>
            <a:prstDash val="solid"/>
          </a:ln>
        </p:spPr>
      </p:sp>
      <p:sp>
        <p:nvSpPr>
          <p:cNvPr id="5" name="Phase 0 number"/>
          <p:cNvSpPr txBox="1"/>
          <p:nvPr/>
        </p:nvSpPr>
        <p:spPr>
          <a:xfrm>
            <a:off x="987552"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6" name="Phase 0 text"/>
          <p:cNvSpPr txBox="1"/>
          <p:nvPr/>
        </p:nvSpPr>
        <p:spPr>
          <a:xfrm>
            <a:off x="548640"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1F2A44"/>
                </a:solidFill>
              </a:rPr>
              <a:t>Program alignment</a:t>
            </a:r>
            <a:endParaRPr lang="en-US" sz="1400" dirty="0"/>
          </a:p>
          <a:p>
            <a:pPr algn="ctr" indent="0" marL="0">
              <a:spcAft>
                <a:spcPts val="400"/>
              </a:spcAft>
              <a:buNone/>
            </a:pPr>
            <a:r>
              <a:rPr lang="en-US" sz="1300" dirty="0">
                <a:solidFill>
                  <a:schemeClr val="tx2"/>
                </a:solidFill>
              </a:rPr>
              <a:t>Integration inventory signed</a:t>
            </a:r>
            <a:endParaRPr lang="en-US" sz="1400" dirty="0"/>
          </a:p>
        </p:txBody>
      </p:sp>
      <p:sp>
        <p:nvSpPr>
          <p:cNvPr id="7" name="Phase 1 badge"/>
          <p:cNvSpPr/>
          <p:nvPr/>
        </p:nvSpPr>
        <p:spPr>
          <a:xfrm>
            <a:off x="2592324" y="1490472"/>
            <a:ext cx="585216" cy="585216"/>
          </a:xfrm>
          <a:prstGeom prst="ellipse">
            <a:avLst/>
          </a:prstGeom>
          <a:solidFill>
            <a:srgbClr val="B45309"/>
          </a:solidFill>
          <a:ln w="25400">
            <a:solidFill>
              <a:srgbClr val="FFFFFF"/>
            </a:solidFill>
            <a:prstDash val="solid"/>
          </a:ln>
        </p:spPr>
      </p:sp>
      <p:sp>
        <p:nvSpPr>
          <p:cNvPr id="8" name="Phase 1 number"/>
          <p:cNvSpPr txBox="1"/>
          <p:nvPr/>
        </p:nvSpPr>
        <p:spPr>
          <a:xfrm>
            <a:off x="2592324"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Phase 1 text"/>
          <p:cNvSpPr txBox="1"/>
          <p:nvPr/>
        </p:nvSpPr>
        <p:spPr>
          <a:xfrm>
            <a:off x="2153412"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B45309"/>
                </a:solidFill>
              </a:rPr>
              <a:t>Authority and schema</a:t>
            </a:r>
            <a:endParaRPr lang="en-US" sz="1400" dirty="0"/>
          </a:p>
          <a:p>
            <a:pPr algn="ctr" indent="0" marL="0">
              <a:spcAft>
                <a:spcPts val="400"/>
              </a:spcAft>
              <a:buNone/>
            </a:pPr>
            <a:r>
              <a:rPr lang="en-US" sz="1300" dirty="0">
                <a:solidFill>
                  <a:schemeClr val="tx2"/>
                </a:solidFill>
              </a:rPr>
              <a:t>Authority map, identifier decision, data fixed at source</a:t>
            </a:r>
            <a:endParaRPr lang="en-US" sz="1400" dirty="0"/>
          </a:p>
        </p:txBody>
      </p:sp>
      <p:sp>
        <p:nvSpPr>
          <p:cNvPr id="10" name="Phase 2 badge"/>
          <p:cNvSpPr/>
          <p:nvPr/>
        </p:nvSpPr>
        <p:spPr>
          <a:xfrm>
            <a:off x="4197096" y="1490472"/>
            <a:ext cx="585216" cy="585216"/>
          </a:xfrm>
          <a:prstGeom prst="ellipse">
            <a:avLst/>
          </a:prstGeom>
          <a:solidFill>
            <a:srgbClr val="1F2A44"/>
          </a:solidFill>
          <a:ln w="25400">
            <a:solidFill>
              <a:srgbClr val="FFFFFF"/>
            </a:solidFill>
            <a:prstDash val="solid"/>
          </a:ln>
        </p:spPr>
      </p:sp>
      <p:sp>
        <p:nvSpPr>
          <p:cNvPr id="11" name="Phase 2 number"/>
          <p:cNvSpPr txBox="1"/>
          <p:nvPr/>
        </p:nvSpPr>
        <p:spPr>
          <a:xfrm>
            <a:off x="4197096"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Phase 2 text"/>
          <p:cNvSpPr txBox="1"/>
          <p:nvPr/>
        </p:nvSpPr>
        <p:spPr>
          <a:xfrm>
            <a:off x="3758184"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1F2A44"/>
                </a:solidFill>
              </a:rPr>
              <a:t>Build and test</a:t>
            </a:r>
            <a:endParaRPr lang="en-US" sz="1400" dirty="0"/>
          </a:p>
          <a:p>
            <a:pPr algn="ctr" indent="0" marL="0">
              <a:spcAft>
                <a:spcPts val="400"/>
              </a:spcAft>
              <a:buNone/>
            </a:pPr>
            <a:r>
              <a:rPr lang="en-US" sz="1300" dirty="0">
                <a:solidFill>
                  <a:schemeClr val="tx2"/>
                </a:solidFill>
              </a:rPr>
              <a:t>Joiner, mover, leaver end to end with evidence</a:t>
            </a:r>
            <a:endParaRPr lang="en-US" sz="1400" dirty="0"/>
          </a:p>
        </p:txBody>
      </p:sp>
      <p:sp>
        <p:nvSpPr>
          <p:cNvPr id="13" name="Phase 3 badge"/>
          <p:cNvSpPr/>
          <p:nvPr/>
        </p:nvSpPr>
        <p:spPr>
          <a:xfrm>
            <a:off x="5801868" y="1490472"/>
            <a:ext cx="585216" cy="585216"/>
          </a:xfrm>
          <a:prstGeom prst="ellipse">
            <a:avLst/>
          </a:prstGeom>
          <a:solidFill>
            <a:srgbClr val="1F2A44"/>
          </a:solidFill>
          <a:ln w="25400">
            <a:solidFill>
              <a:srgbClr val="FFFFFF"/>
            </a:solidFill>
            <a:prstDash val="solid"/>
          </a:ln>
        </p:spPr>
      </p:sp>
      <p:sp>
        <p:nvSpPr>
          <p:cNvPr id="14" name="Phase 3 number"/>
          <p:cNvSpPr txBox="1"/>
          <p:nvPr/>
        </p:nvSpPr>
        <p:spPr>
          <a:xfrm>
            <a:off x="5801868"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Phase 3 text"/>
          <p:cNvSpPr txBox="1"/>
          <p:nvPr/>
        </p:nvSpPr>
        <p:spPr>
          <a:xfrm>
            <a:off x="5362956"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1F2A44"/>
                </a:solidFill>
              </a:rPr>
              <a:t>Hybrid pilot</a:t>
            </a:r>
            <a:endParaRPr lang="en-US" sz="1400" dirty="0"/>
          </a:p>
          <a:p>
            <a:pPr algn="ctr" indent="0" marL="0">
              <a:spcAft>
                <a:spcPts val="400"/>
              </a:spcAft>
              <a:buNone/>
            </a:pPr>
            <a:r>
              <a:rPr lang="en-US" sz="1300" dirty="0">
                <a:solidFill>
                  <a:schemeClr val="tx2"/>
                </a:solidFill>
              </a:rPr>
              <a:t>Shadow mode; every difference explained</a:t>
            </a:r>
            <a:endParaRPr lang="en-US" sz="1400" dirty="0"/>
          </a:p>
        </p:txBody>
      </p:sp>
      <p:sp>
        <p:nvSpPr>
          <p:cNvPr id="16" name="Phase 4 badge"/>
          <p:cNvSpPr/>
          <p:nvPr/>
        </p:nvSpPr>
        <p:spPr>
          <a:xfrm>
            <a:off x="7406640" y="1490472"/>
            <a:ext cx="585216" cy="585216"/>
          </a:xfrm>
          <a:prstGeom prst="ellipse">
            <a:avLst/>
          </a:prstGeom>
          <a:solidFill>
            <a:srgbClr val="1F2A44"/>
          </a:solidFill>
          <a:ln w="25400">
            <a:solidFill>
              <a:srgbClr val="FFFFFF"/>
            </a:solidFill>
            <a:prstDash val="solid"/>
          </a:ln>
        </p:spPr>
      </p:sp>
      <p:sp>
        <p:nvSpPr>
          <p:cNvPr id="17" name="Phase 4 number"/>
          <p:cNvSpPr txBox="1"/>
          <p:nvPr/>
        </p:nvSpPr>
        <p:spPr>
          <a:xfrm>
            <a:off x="7406640"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Phase 4 text"/>
          <p:cNvSpPr txBox="1"/>
          <p:nvPr/>
        </p:nvSpPr>
        <p:spPr>
          <a:xfrm>
            <a:off x="6967728"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1F2A44"/>
                </a:solidFill>
              </a:rPr>
              <a:t>Lifecycle automation</a:t>
            </a:r>
            <a:endParaRPr lang="en-US" sz="1400" dirty="0"/>
          </a:p>
          <a:p>
            <a:pPr algn="ctr" indent="0" marL="0">
              <a:spcAft>
                <a:spcPts val="400"/>
              </a:spcAft>
              <a:buNone/>
            </a:pPr>
            <a:r>
              <a:rPr lang="en-US" sz="1300" dirty="0">
                <a:solidFill>
                  <a:schemeClr val="tx2"/>
                </a:solidFill>
              </a:rPr>
              <a:t>Leavers first; access derived by rule</a:t>
            </a:r>
            <a:endParaRPr lang="en-US" sz="1400" dirty="0"/>
          </a:p>
        </p:txBody>
      </p:sp>
      <p:sp>
        <p:nvSpPr>
          <p:cNvPr id="19" name="Phase 5 badge"/>
          <p:cNvSpPr/>
          <p:nvPr/>
        </p:nvSpPr>
        <p:spPr>
          <a:xfrm>
            <a:off x="9011412" y="1490472"/>
            <a:ext cx="585216" cy="585216"/>
          </a:xfrm>
          <a:prstGeom prst="ellipse">
            <a:avLst/>
          </a:prstGeom>
          <a:solidFill>
            <a:srgbClr val="0F766E"/>
          </a:solidFill>
          <a:ln w="25400">
            <a:solidFill>
              <a:srgbClr val="FFFFFF"/>
            </a:solidFill>
            <a:prstDash val="solid"/>
          </a:ln>
        </p:spPr>
      </p:sp>
      <p:sp>
        <p:nvSpPr>
          <p:cNvPr id="20" name="Phase 5 number"/>
          <p:cNvSpPr txBox="1"/>
          <p:nvPr/>
        </p:nvSpPr>
        <p:spPr>
          <a:xfrm>
            <a:off x="9011412"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1" name="Phase 5 text"/>
          <p:cNvSpPr txBox="1"/>
          <p:nvPr/>
        </p:nvSpPr>
        <p:spPr>
          <a:xfrm>
            <a:off x="8572500"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0F766E"/>
                </a:solidFill>
              </a:rPr>
              <a:t>Cloud-mastered cutover</a:t>
            </a:r>
            <a:endParaRPr lang="en-US" sz="1400" dirty="0"/>
          </a:p>
          <a:p>
            <a:pPr algn="ctr" indent="0" marL="0">
              <a:spcAft>
                <a:spcPts val="400"/>
              </a:spcAft>
              <a:buNone/>
            </a:pPr>
            <a:r>
              <a:rPr lang="en-US" sz="1300" dirty="0">
                <a:solidFill>
                  <a:schemeClr val="tx2"/>
                </a:solidFill>
              </a:rPr>
              <a:t>Per population, as Core HCM goes live</a:t>
            </a:r>
            <a:endParaRPr lang="en-US" sz="1400" dirty="0"/>
          </a:p>
        </p:txBody>
      </p:sp>
      <p:sp>
        <p:nvSpPr>
          <p:cNvPr id="22" name="Phase 6 badge"/>
          <p:cNvSpPr/>
          <p:nvPr/>
        </p:nvSpPr>
        <p:spPr>
          <a:xfrm>
            <a:off x="10616184" y="1490472"/>
            <a:ext cx="585216" cy="585216"/>
          </a:xfrm>
          <a:prstGeom prst="ellipse">
            <a:avLst/>
          </a:prstGeom>
          <a:solidFill>
            <a:srgbClr val="1F2A44"/>
          </a:solidFill>
          <a:ln w="25400">
            <a:solidFill>
              <a:srgbClr val="FFFFFF"/>
            </a:solidFill>
            <a:prstDash val="solid"/>
          </a:ln>
        </p:spPr>
      </p:sp>
      <p:sp>
        <p:nvSpPr>
          <p:cNvPr id="23" name="Phase 6 number"/>
          <p:cNvSpPr txBox="1"/>
          <p:nvPr/>
        </p:nvSpPr>
        <p:spPr>
          <a:xfrm>
            <a:off x="10616184" y="14904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4" name="Phase 6 text"/>
          <p:cNvSpPr txBox="1"/>
          <p:nvPr/>
        </p:nvSpPr>
        <p:spPr>
          <a:xfrm>
            <a:off x="10177272" y="2240280"/>
            <a:ext cx="1463040" cy="1463040"/>
          </a:xfrm>
          <a:prstGeom prst="rect">
            <a:avLst/>
          </a:prstGeom>
          <a:noFill/>
          <a:ln/>
        </p:spPr>
        <p:txBody>
          <a:bodyPr wrap="square" lIns="0" tIns="0" rIns="0" bIns="0" rtlCol="0" anchor="t"/>
          <a:lstStyle/>
          <a:p>
            <a:pPr algn="ctr" indent="0" marL="0">
              <a:spcAft>
                <a:spcPts val="400"/>
              </a:spcAft>
              <a:buNone/>
            </a:pPr>
            <a:r>
              <a:rPr lang="en-US" sz="1400" b="1" dirty="0">
                <a:solidFill>
                  <a:srgbClr val="1F2A44"/>
                </a:solidFill>
              </a:rPr>
              <a:t>Sustained posture</a:t>
            </a:r>
            <a:endParaRPr lang="en-US" sz="1400" dirty="0"/>
          </a:p>
          <a:p>
            <a:pPr algn="ctr" indent="0" marL="0">
              <a:spcAft>
                <a:spcPts val="400"/>
              </a:spcAft>
              <a:buNone/>
            </a:pPr>
            <a:r>
              <a:rPr lang="en-US" sz="1300" dirty="0">
                <a:solidFill>
                  <a:schemeClr val="tx2"/>
                </a:solidFill>
              </a:rPr>
              <a:t>Metrics on the ConMon cadence</a:t>
            </a:r>
            <a:endParaRPr lang="en-US" sz="1400" dirty="0"/>
          </a:p>
        </p:txBody>
      </p:sp>
      <p:sp>
        <p:nvSpPr>
          <p:cNvPr id="25" name="Reference deployment"/>
          <p:cNvSpPr/>
          <p:nvPr/>
        </p:nvSpPr>
        <p:spPr>
          <a:xfrm>
            <a:off x="548640" y="3931920"/>
            <a:ext cx="11109960" cy="2194560"/>
          </a:xfrm>
          <a:prstGeom prst="roundRect">
            <a:avLst>
              <a:gd name="adj" fmla="val 3333"/>
            </a:avLst>
          </a:prstGeom>
          <a:solidFill>
            <a:srgbClr val="F1F5F9"/>
          </a:solidFill>
          <a:ln w="12700">
            <a:solidFill>
              <a:srgbClr val="F1F5F9"/>
            </a:solidFill>
            <a:prstDash val="solid"/>
          </a:ln>
        </p:spPr>
      </p:sp>
      <p:sp>
        <p:nvSpPr>
          <p:cNvPr id="26" name="Reference heading"/>
          <p:cNvSpPr txBox="1"/>
          <p:nvPr/>
        </p:nvSpPr>
        <p:spPr>
          <a:xfrm>
            <a:off x="822960" y="4069080"/>
            <a:ext cx="10607040" cy="41148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Reference deployment (illustrative): a Wave 2 agency</a:t>
            </a:r>
            <a:endParaRPr lang="en-US" sz="1800" dirty="0"/>
          </a:p>
        </p:txBody>
      </p:sp>
      <p:sp>
        <p:nvSpPr>
          <p:cNvPr id="27" name="Reference col 1"/>
          <p:cNvSpPr txBox="1"/>
          <p:nvPr/>
        </p:nvSpPr>
        <p:spPr>
          <a:xfrm>
            <a:off x="822960" y="4572000"/>
            <a:ext cx="3383280" cy="1463040"/>
          </a:xfrm>
          <a:prstGeom prst="rect">
            <a:avLst/>
          </a:prstGeom>
          <a:noFill/>
          <a:ln/>
        </p:spPr>
        <p:txBody>
          <a:bodyPr wrap="square" lIns="0" tIns="0" rIns="0" bIns="0" rtlCol="0" anchor="t"/>
          <a:lstStyle/>
          <a:p>
            <a:pPr indent="0" marL="0">
              <a:spcAft>
                <a:spcPts val="400"/>
              </a:spcAft>
              <a:buNone/>
            </a:pPr>
            <a:r>
              <a:rPr lang="en-US" sz="1500" b="1" dirty="0">
                <a:solidFill>
                  <a:srgbClr val="0F766E"/>
                </a:solidFill>
              </a:rPr>
              <a:t>Starting estate</a:t>
            </a:r>
            <a:endParaRPr lang="en-US" sz="1500" dirty="0"/>
          </a:p>
          <a:p>
            <a:pPr indent="0" marL="0">
              <a:spcAft>
                <a:spcPts val="400"/>
              </a:spcAft>
              <a:buNone/>
            </a:pPr>
            <a:r>
              <a:rPr lang="en-US" sz="1300" dirty="0">
                <a:solidFill>
                  <a:schemeClr val="tx2"/>
                </a:solidFill>
              </a:rPr>
              <a:t>~50,000 employees and several thousand contractors; GCC tenant; a bespoke HR-to-AD connector; two-thirds of users AD-mastered; no drift detection or provisioning evidence</a:t>
            </a:r>
            <a:endParaRPr lang="en-US" sz="1500" dirty="0"/>
          </a:p>
        </p:txBody>
      </p:sp>
      <p:sp>
        <p:nvSpPr>
          <p:cNvPr id="28" name="Reference col 2"/>
          <p:cNvSpPr txBox="1"/>
          <p:nvPr/>
        </p:nvSpPr>
        <p:spPr>
          <a:xfrm>
            <a:off x="4434840" y="4572000"/>
            <a:ext cx="3383280" cy="1463040"/>
          </a:xfrm>
          <a:prstGeom prst="rect">
            <a:avLst/>
          </a:prstGeom>
          <a:noFill/>
          <a:ln/>
        </p:spPr>
        <p:txBody>
          <a:bodyPr wrap="square" lIns="0" tIns="0" rIns="0" bIns="0" rtlCol="0" anchor="t"/>
          <a:lstStyle/>
          <a:p>
            <a:pPr indent="0" marL="0">
              <a:spcAft>
                <a:spcPts val="400"/>
              </a:spcAft>
              <a:buNone/>
            </a:pPr>
            <a:r>
              <a:rPr lang="en-US" sz="1500" b="1" dirty="0">
                <a:solidFill>
                  <a:srgbClr val="0F766E"/>
                </a:solidFill>
              </a:rPr>
              <a:t>What the phases find</a:t>
            </a:r>
            <a:endParaRPr lang="en-US" sz="1500" dirty="0"/>
          </a:p>
          <a:p>
            <a:pPr indent="0" marL="0">
              <a:spcAft>
                <a:spcPts val="400"/>
              </a:spcAft>
              <a:buNone/>
            </a:pPr>
            <a:r>
              <a:rPr lang="en-US" sz="1300" dirty="0">
                <a:solidFill>
                  <a:schemeClr val="tx2"/>
                </a:solidFill>
              </a:rPr>
              <a:t>Accounts with no employeeId, duplicate identities from conversions, managers who left years ago, and separated workers the manual process never reached</a:t>
            </a:r>
            <a:endParaRPr lang="en-US" sz="1500" dirty="0"/>
          </a:p>
        </p:txBody>
      </p:sp>
      <p:sp>
        <p:nvSpPr>
          <p:cNvPr id="29" name="Reference col 3"/>
          <p:cNvSpPr txBox="1"/>
          <p:nvPr/>
        </p:nvSpPr>
        <p:spPr>
          <a:xfrm>
            <a:off x="8046720" y="4572000"/>
            <a:ext cx="3383280" cy="1463040"/>
          </a:xfrm>
          <a:prstGeom prst="rect">
            <a:avLst/>
          </a:prstGeom>
          <a:noFill/>
          <a:ln/>
        </p:spPr>
        <p:txBody>
          <a:bodyPr wrap="square" lIns="0" tIns="0" rIns="0" bIns="0" rtlCol="0" anchor="t"/>
          <a:lstStyle/>
          <a:p>
            <a:pPr indent="0" marL="0">
              <a:spcAft>
                <a:spcPts val="400"/>
              </a:spcAft>
              <a:buNone/>
            </a:pPr>
            <a:r>
              <a:rPr lang="en-US" sz="1500" b="1" dirty="0">
                <a:solidFill>
                  <a:srgbClr val="0F766E"/>
                </a:solidFill>
              </a:rPr>
              <a:t>What survives</a:t>
            </a:r>
            <a:endParaRPr lang="en-US" sz="1500" dirty="0"/>
          </a:p>
          <a:p>
            <a:pPr indent="0" marL="0">
              <a:spcAft>
                <a:spcPts val="400"/>
              </a:spcAft>
              <a:buNone/>
            </a:pPr>
            <a:r>
              <a:rPr lang="en-US" sz="1300" dirty="0">
                <a:solidFill>
                  <a:schemeClr val="tx2"/>
                </a:solidFill>
              </a:rPr>
              <a:t>The schema, code lists, workflows, rules and evidence belong to the agency — the Core HCM cutover plugs a new source into the same model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this maps to the role</a:t>
            </a:r>
            <a:endParaRPr lang="en-US" sz="3000" dirty="0"/>
          </a:p>
        </p:txBody>
      </p:sp>
      <p:sp>
        <p:nvSpPr>
          <p:cNvPr id="3" name="Fit 1"/>
          <p:cNvSpPr/>
          <p:nvPr/>
        </p:nvSpPr>
        <p:spPr>
          <a:xfrm>
            <a:off x="548640" y="1417320"/>
            <a:ext cx="5486400" cy="1463040"/>
          </a:xfrm>
          <a:prstGeom prst="roundRect">
            <a:avLst>
              <a:gd name="adj" fmla="val 5000"/>
            </a:avLst>
          </a:prstGeom>
          <a:solidFill>
            <a:srgbClr val="EEF1F7"/>
          </a:solidFill>
          <a:ln w="12700">
            <a:solidFill>
              <a:srgbClr val="EEF1F7"/>
            </a:solidFill>
            <a:prstDash val="solid"/>
          </a:ln>
        </p:spPr>
      </p:sp>
      <p:sp>
        <p:nvSpPr>
          <p:cNvPr id="4" name="Fit 1 text"/>
          <p:cNvSpPr txBox="1"/>
          <p:nvPr/>
        </p:nvSpPr>
        <p:spPr>
          <a:xfrm>
            <a:off x="822960" y="1554480"/>
            <a:ext cx="4983480" cy="123444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rPr>
              <a:t>Line-of-business knowledge</a:t>
            </a:r>
            <a:endParaRPr lang="en-US" sz="1400" dirty="0"/>
          </a:p>
          <a:p>
            <a:pPr indent="0" marL="0">
              <a:spcAft>
                <a:spcPts val="400"/>
              </a:spcAft>
              <a:buNone/>
            </a:pPr>
            <a:r>
              <a:rPr lang="en-US" sz="1500" dirty="0">
                <a:solidFill>
                  <a:schemeClr val="tx2"/>
                </a:solidFill>
              </a:rPr>
              <a:t>Workforce digital identity, Federal HR 2.0, and SSA’s Wave 2 timeline</a:t>
            </a:r>
            <a:endParaRPr lang="en-US" sz="1400" dirty="0"/>
          </a:p>
          <a:p>
            <a:pPr indent="0" marL="0">
              <a:spcAft>
                <a:spcPts val="400"/>
              </a:spcAft>
              <a:buNone/>
            </a:pPr>
            <a:r>
              <a:rPr lang="en-US" sz="1200" dirty="0">
                <a:solidFill>
                  <a:srgbClr val="64748B"/>
                </a:solidFill>
              </a:rPr>
              <a:t>Ch 00–02</a:t>
            </a:r>
            <a:endParaRPr lang="en-US" sz="1400" dirty="0"/>
          </a:p>
        </p:txBody>
      </p:sp>
      <p:sp>
        <p:nvSpPr>
          <p:cNvPr id="5" name="Fit 2"/>
          <p:cNvSpPr/>
          <p:nvPr/>
        </p:nvSpPr>
        <p:spPr>
          <a:xfrm>
            <a:off x="6172200" y="1417320"/>
            <a:ext cx="5486400" cy="1463040"/>
          </a:xfrm>
          <a:prstGeom prst="roundRect">
            <a:avLst>
              <a:gd name="adj" fmla="val 5000"/>
            </a:avLst>
          </a:prstGeom>
          <a:solidFill>
            <a:srgbClr val="E6F2F1"/>
          </a:solidFill>
          <a:ln w="12700">
            <a:solidFill>
              <a:srgbClr val="E6F2F1"/>
            </a:solidFill>
            <a:prstDash val="solid"/>
          </a:ln>
        </p:spPr>
      </p:sp>
      <p:sp>
        <p:nvSpPr>
          <p:cNvPr id="6" name="Fit 2 text"/>
          <p:cNvSpPr txBox="1"/>
          <p:nvPr/>
        </p:nvSpPr>
        <p:spPr>
          <a:xfrm>
            <a:off x="6446520" y="1554480"/>
            <a:ext cx="4983480" cy="123444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Programmatic data knowledge</a:t>
            </a:r>
            <a:endParaRPr lang="en-US" sz="1400" dirty="0"/>
          </a:p>
          <a:p>
            <a:pPr indent="0" marL="0">
              <a:spcAft>
                <a:spcPts val="400"/>
              </a:spcAft>
              <a:buNone/>
            </a:pPr>
            <a:r>
              <a:rPr lang="en-US" sz="1500" dirty="0">
                <a:solidFill>
                  <a:schemeClr val="tx2"/>
                </a:solidFill>
              </a:rPr>
              <a:t>An authority map: one owner for every attribute, corrections upstream</a:t>
            </a:r>
            <a:endParaRPr lang="en-US" sz="1400" dirty="0"/>
          </a:p>
          <a:p>
            <a:pPr indent="0" marL="0">
              <a:spcAft>
                <a:spcPts val="400"/>
              </a:spcAft>
              <a:buNone/>
            </a:pPr>
            <a:r>
              <a:rPr lang="en-US" sz="1200" dirty="0">
                <a:solidFill>
                  <a:srgbClr val="64748B"/>
                </a:solidFill>
              </a:rPr>
              <a:t>Ch 03</a:t>
            </a:r>
            <a:endParaRPr lang="en-US" sz="1400" dirty="0"/>
          </a:p>
        </p:txBody>
      </p:sp>
      <p:sp>
        <p:nvSpPr>
          <p:cNvPr id="7" name="Fit 3"/>
          <p:cNvSpPr/>
          <p:nvPr/>
        </p:nvSpPr>
        <p:spPr>
          <a:xfrm>
            <a:off x="548640" y="3063240"/>
            <a:ext cx="5486400" cy="1463040"/>
          </a:xfrm>
          <a:prstGeom prst="roundRect">
            <a:avLst>
              <a:gd name="adj" fmla="val 5000"/>
            </a:avLst>
          </a:prstGeom>
          <a:solidFill>
            <a:srgbClr val="E6F2F1"/>
          </a:solidFill>
          <a:ln w="12700">
            <a:solidFill>
              <a:srgbClr val="E6F2F1"/>
            </a:solidFill>
            <a:prstDash val="solid"/>
          </a:ln>
        </p:spPr>
      </p:sp>
      <p:sp>
        <p:nvSpPr>
          <p:cNvPr id="8" name="Fit 3 text"/>
          <p:cNvSpPr txBox="1"/>
          <p:nvPr/>
        </p:nvSpPr>
        <p:spPr>
          <a:xfrm>
            <a:off x="822960" y="3200400"/>
            <a:ext cx="4983480" cy="123444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Logical and physical modeling</a:t>
            </a:r>
            <a:endParaRPr lang="en-US" sz="1400" dirty="0"/>
          </a:p>
          <a:p>
            <a:pPr indent="0" marL="0">
              <a:spcAft>
                <a:spcPts val="400"/>
              </a:spcAft>
              <a:buNone/>
            </a:pPr>
            <a:r>
              <a:rPr lang="en-US" sz="1500" dirty="0">
                <a:solidFill>
                  <a:schemeClr val="tx2"/>
                </a:solidFill>
              </a:rPr>
              <a:t>A canonical model and one crosswalk from Oracle HCM to SCIM, AD and Entra ID</a:t>
            </a:r>
            <a:endParaRPr lang="en-US" sz="1400" dirty="0"/>
          </a:p>
          <a:p>
            <a:pPr indent="0" marL="0">
              <a:spcAft>
                <a:spcPts val="400"/>
              </a:spcAft>
              <a:buNone/>
            </a:pPr>
            <a:r>
              <a:rPr lang="en-US" sz="1200" dirty="0">
                <a:solidFill>
                  <a:srgbClr val="64748B"/>
                </a:solidFill>
              </a:rPr>
              <a:t>Ch 05</a:t>
            </a:r>
            <a:endParaRPr lang="en-US" sz="1400" dirty="0"/>
          </a:p>
        </p:txBody>
      </p:sp>
      <p:sp>
        <p:nvSpPr>
          <p:cNvPr id="9" name="Fit 4"/>
          <p:cNvSpPr/>
          <p:nvPr/>
        </p:nvSpPr>
        <p:spPr>
          <a:xfrm>
            <a:off x="6172200" y="3063240"/>
            <a:ext cx="5486400" cy="1463040"/>
          </a:xfrm>
          <a:prstGeom prst="roundRect">
            <a:avLst>
              <a:gd name="adj" fmla="val 5000"/>
            </a:avLst>
          </a:prstGeom>
          <a:solidFill>
            <a:srgbClr val="EEF1F7"/>
          </a:solidFill>
          <a:ln w="12700">
            <a:solidFill>
              <a:srgbClr val="EEF1F7"/>
            </a:solidFill>
            <a:prstDash val="solid"/>
          </a:ln>
        </p:spPr>
      </p:sp>
      <p:sp>
        <p:nvSpPr>
          <p:cNvPr id="10" name="Fit 4 text"/>
          <p:cNvSpPr txBox="1"/>
          <p:nvPr/>
        </p:nvSpPr>
        <p:spPr>
          <a:xfrm>
            <a:off x="6446520" y="3200400"/>
            <a:ext cx="4983480" cy="123444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rPr>
              <a:t>Data in motion and quality</a:t>
            </a:r>
            <a:endParaRPr lang="en-US" sz="1400" dirty="0"/>
          </a:p>
          <a:p>
            <a:pPr indent="0" marL="0">
              <a:spcAft>
                <a:spcPts val="400"/>
              </a:spcAft>
              <a:buNone/>
            </a:pPr>
            <a:r>
              <a:rPr lang="en-US" sz="1500" dirty="0">
                <a:solidFill>
                  <a:schemeClr val="tx2"/>
                </a:solidFill>
              </a:rPr>
              <a:t>Provenance per event, drift classes and six lifecycle metrics</a:t>
            </a:r>
            <a:endParaRPr lang="en-US" sz="1400" dirty="0"/>
          </a:p>
          <a:p>
            <a:pPr indent="0" marL="0">
              <a:spcAft>
                <a:spcPts val="400"/>
              </a:spcAft>
              <a:buNone/>
            </a:pPr>
            <a:r>
              <a:rPr lang="en-US" sz="1200" dirty="0">
                <a:solidFill>
                  <a:srgbClr val="64748B"/>
                </a:solidFill>
              </a:rPr>
              <a:t>Ch 04, 09</a:t>
            </a:r>
            <a:endParaRPr lang="en-US" sz="1400" dirty="0"/>
          </a:p>
        </p:txBody>
      </p:sp>
      <p:sp>
        <p:nvSpPr>
          <p:cNvPr id="11" name="Closing line"/>
          <p:cNvSpPr/>
          <p:nvPr/>
        </p:nvSpPr>
        <p:spPr>
          <a:xfrm>
            <a:off x="548640" y="4937760"/>
            <a:ext cx="11109960" cy="868680"/>
          </a:xfrm>
          <a:prstGeom prst="roundRect">
            <a:avLst>
              <a:gd name="adj" fmla="val 8421"/>
            </a:avLst>
          </a:prstGeom>
          <a:solidFill>
            <a:srgbClr val="FFFFFF"/>
          </a:solidFill>
          <a:ln w="12700">
            <a:solidFill>
              <a:srgbClr val="B45309"/>
            </a:solidFill>
            <a:prstDash val="solid"/>
          </a:ln>
        </p:spPr>
      </p:sp>
      <p:sp>
        <p:nvSpPr>
          <p:cNvPr id="12" name="Closing line text"/>
          <p:cNvSpPr txBox="1"/>
          <p:nvPr/>
        </p:nvSpPr>
        <p:spPr>
          <a:xfrm>
            <a:off x="822960" y="5001768"/>
            <a:ext cx="10607040" cy="731520"/>
          </a:xfrm>
          <a:prstGeom prst="rect">
            <a:avLst/>
          </a:prstGeom>
          <a:noFill/>
          <a:ln/>
        </p:spPr>
        <p:txBody>
          <a:bodyPr wrap="square" lIns="0" tIns="0" rIns="0" bIns="0" rtlCol="0" anchor="ctr"/>
          <a:lstStyle/>
          <a:p>
            <a:pPr indent="0" marL="0">
              <a:buNone/>
            </a:pPr>
            <a:r>
              <a:rPr lang="en-US" sz="1700" b="1" dirty="0">
                <a:solidFill>
                  <a:srgbClr val="B45309"/>
                </a:solidFill>
              </a:rPr>
              <a:t>The full workbook: </a:t>
            </a:r>
            <a:pPr indent="0" marL="0">
              <a:buNone/>
            </a:pPr>
            <a:r>
              <a:rPr lang="en-US" sz="1700" dirty="0">
                <a:solidFill>
                  <a:schemeClr val="tx2"/>
                </a:solidFill>
              </a:rPr>
              <a:t>twelve chapters, published and downloadable as one Word document — happy to walk any chapter in depth.</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Mike Stratton</cp:lastModifiedBy>
  <cp:revision>1</cp:revision>
  <dcterms:created xsi:type="dcterms:W3CDTF">2026-10-19T18:39:39Z</dcterms:created>
  <dcterms:modified xsi:type="dcterms:W3CDTF">2026-10-19T18:39:39Z</dcterms:modified>
</cp:coreProperties>
</file>