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sis" id="{156DA5FC-F181-B49E-E8E3-24CD9C515110}">
          <p14:sldIdLst>
            <p14:sldId id="256"/>
            <p14:sldId id="257"/>
            <p14:sldId id="258"/>
            <p14:sldId id="259"/>
            <p14:sldId id="260"/>
          </p14:sldIdLst>
        </p14:section>
        <p14:section name="The data" id="{14892F28-ED51-6544-9161-06584E3F87DF}">
          <p14:sldIdLst>
            <p14:sldId id="261"/>
            <p14:sldId id="262"/>
            <p14:sldId id="263"/>
            <p14:sldId id="264"/>
          </p14:sldIdLst>
        </p14:section>
        <p14:section name="Identity and ICAM" id="{365202C0-8F16-C898-A245-E8BBE7DBF72F}">
          <p14:sldIdLst>
            <p14:sldId id="265"/>
            <p14:sldId id="266"/>
            <p14:sldId id="267"/>
          </p14:sldIdLst>
        </p14:section>
        <p14:section name="Delivery" id="{79E6EBA9-53FC-D699-EB98-956D282854BE}">
          <p14:sldIdLst>
            <p14:sldId id="268"/>
            <p14:sldId id="269"/>
          </p14:sldIdLst>
        </p14:section>
        <p14:section name="Beyond" id="{A750AB42-8864-6548-9AE5-F48080C2C061}">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7224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[0:00–0:55]  Good morning, and thank you.
I chose the Digital Identity line of business, and I want to make one proposal.
Today SSA has no HR-driven identity. Accounts in Active Directory and Entra ID, and the access and credentials that hang off them, come from tickets and manual process.
Two changes are coming regardless: Federal HR 2.0 moves SSA's HR onto Oracle Core HCM in Wave 2, scheduled for the second half of 2027, and SSA's identity is moving from Active Directory toward Entra ID. My proposal is to use the two together to start HR-driven identity — HR, through OPM's standard personnel data, as the source of authority for Entra ID, Active Directory and the rest of ICAM. That's Microsoft's own term: HR-driven provisioning.
Workbook: HR-Driven Identity, Chapter 00 — Overview and Applicability: The proposal; Why now; Why together.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[0:55–1:48]  The thesis in one slide.
On the left, two migrations that happen regardless: HR moves to Core HCM, and identity moves from Active Directory toward Entra ID. Meanwhile nothing connects HR to identity today — accounts come from tickets.
In the middle, what OPM leaves to us. OPM fixes the HR side; how SSA's directories and ICAM consume that data is SSA's decision. And the solicitation requires SCIM 2.0 provisioning — exactly what Entra ID consumes.
On the right, the proposal: start HR-driven identity, with HR as the source of authority, expressed in OPM's standard attributes.
So the real choice is: carry ticket-driven identity through both migrations, or start HR-driven identity once, while both platforms are being rebuilt anyway.
Workbook: HR-Driven Identity, Chapter 00 — The proposal; Chapter 02 — Why this is the opportunity, not the project.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[1:48–3:09]  Why we need HR-driven ICAM at all — and why now.
Zero Trust is federal strategy — OMB M-22-09, with NIST SP 800-207 as the architecture and CISA's maturity model as the yardstick. SASE is how it's delivered: security enforced at a cloud edge close to the user, which TIC 3.0 opens up for agencies, instead of at our network perimeter. And SASE's decisions are driven by ICAM: the user presents a token from a PIV card or phishing-resistant MFA, and Entra ID decides access through Conditional Access and dynamic groups that read the user's attributes.
In the perimeter era, a wrong department meant a wrong phone-book entry. Now it means the wrong groups, and so the wrong access — and a stale status is worse than ever. In the perimeter era an orphaned account was already a standing security violation that could enable a breach. Now it's a valid token for someone who has left, usable from anywhere, because there is no perimeter left to stop it. When access is decided by attributes, the accuracy of employee data is the accuracy of access.
Workbook: HR-Driven Identity, Chapter 01 — Why the agency needs HR-driven ICAM now; Chapter 08 — The derivation chain.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[3:09–4:11]  Why this matters to me personally: I've lived the impact of manually provisioned ICAM at the agency.
At DITM I watched the agency phone book come out of Active Directory — and nothing fed Active Directory from HR. Titles, offices, phone numbers and managers stayed wrong until someone noticed and filed a ticket.
And every time I've changed management, my organization, my manager, and my access to tools like SAM had to be updated by hand, after the fact, by ticket.
HR already knew all of it. With HR-driven IT, the personnel action that records the reassignment updates my organization and manager in Entra ID and Active Directory, and the phone book, the approval chain and SAM access follow from the authoritative source — instead of each of us, and the help desk, keeping them current by hand.
Workbook: HR-Driven Identity, Chapter 01 — What HR-driven provisioning means; Chapter 08 — Access packages and access reviews.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[4:11–5:18]  The window.
The December 10, 2025 OMB/OPM memo directs one government-wide Core HCM platform. Oracle Fusion Cloud HCM was awarded June 11, 2026. First go-lives are January to March 2027. SSA is in Wave 2, scheduled for the second half of 2027 — so we aren't on the platform yet, and that's the point: about eight months of onboarding, with interconnections live around month five, lie ahead of us. By fiscal 2028 EHRI and eOPF are decommissioned.
I'd describe that not as a deadline but as a window. Inside it, the data standards, the cleanup, the interconnection design — and, on our side, the Entra ID migration plan — are all being decided, and an HR-driven identity feed can be written into them. After it closes, both migrations finish with ticket-driven identity carried forward, and adding HR-driven identity later means reopening both.
(Verify SSA's current Wave 2 onboarding dates before presenting.)
Workbook: HR-Driven Identity, Chapter 02 — The program facts; Why this is the opportunity, not the 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[5:18–6:49]  This is the heart of the proposal, and it's the programmatic data knowledge.
OPM already defines the personnel data every agency records. Agency and subelement give the legal employer and component. Duty station is the location of record. Series, pay plan and grade give a position category for role-based access. Supervisory status tells us who can approve and review. Tenure and appointment type drive the worker type. And the nature-of-action code, with its effective date, tells us what just happened — next slide.
Why build on OPM's standard rather than on Oracle's field names? Because OPM defines these elements and their codes the same way for every agency. We map them to Entra ID and AD once, for every employee population — and if the HR vendor ever changes, the mapping still holds.
One honest limit: HRIT covers federal employees only. Contractors and vendors live in COR spreadsheets today. My best bet is Core HCM's Contingent Worker type — a person record, an assignment and a lifecycle much like an employee's, though it has no vendor-management layer. The alternative is to source them from PIV sponsorship. That's a decision to put in front of the program early.
(Confirm element names against OPM's current data standards.)
Workbook: HR-Driven Identity, Chapter 05 — The standard-attribute layer; Contractors and vendors.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[6:49–7:43]  Personnel actions drive the lifecycle.
For federal employees, every personnel action carries a nature-of-action code, and the families map cleanly to identity events: the 100 series are joiners, the 700 series movers, the 500 series conversions, the 300 series separations. Contractors have no SF-50; their events come from contract start and end dates.
Two families matter more than people expect. The 400 series — furlough, leave without pay, suspension — is not a leaver; the person is still employed and policy restricts the account. The 200 series, return to duty, lifts those restrictions. Getting this wrong either locks out people on leave or leaves access open for people who've left.
The codes also settle precedence — a separation wins — and rescinded offers.
Workbook: HR-Driven Identity, Chapter 06 — Personnel actions are the triggers; Appendix A — Lifecycle Rules.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[7:43–8:48]  Identifiers are where data architecture earns its keep.
A common design says the employee ID is the person, for life. It breaks the moment the source changes, a contractor converts, or someone is rehired. So I model identifiers in layers: an enterprise person key the agency controls; a source key per HR system; an affiliation key per employment or contract; a directory ID per account; and credential identifiers per PIV or certificate.
The person is the tracked entity, not the account. That's what survives rehire, conversion and reorganization. And SSA already has its enterprise person key: the Mainframe PIN, which today is our person ID and employee ID. So the decision is to confirm the Mainframe PIN as the enterprise key and map Core HCM's PersonNumber to it — then when SSA moves to Core HCM, only the source key changes, and nothing downstream has to.
Workbook: HR-Driven Identity, Chapter 03 — One person, layered identifiers.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[8:48–9:39]  Logical and physical modeling, following the data from HR to ICAM.
In the middle is the logical model: a person keyed by the Mainframe PIN — carried in employee ID in both directories — their assignments, and the lifecycle events that change them. On the left, the OPM element that feeds each field; then where it lands in Entra ID and Active Directory; and on the right, what ICAM does with it — component scope, location policy, role-based access, approvals, and the joiner, mover and leaver actions, including PIV.
Three physical rules: native attributes first; codes, never display strings, in anything that grants access; and one governed crosswalk as the only place mappings live.
Workbook: HR-Driven Identity, Chapter 05 — The standard-attribute layer; The schema.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[9:39–10:27]  Logical architecture and Microsoft realization.
The top row is the architecture, and it's stable: an authoritative source, a boundary transformation, the governed identity model, a provisioning service, and the targets and ICAM. The bottom row is how Microsoft realizes it today: Oracle Core HCM, Azure Functions, the canonical model and provenance store, Graph and the Entra provisioning service, then Entra ID, AD, Intune and card management. Products in the bottom row can change; the top row doesn't.
The table is why the two migrations belong together. Done separately, the Entra ID migration moves ticket-created accounts as they are. Done together, each population arrives in Entra ID already HR-sourced.
Workbook: HR-Driven Identity, Chapter 04 — Logical architecture and Microsoft realization; Two landing zones; Over the Entra ID migration.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[10:27–11:23]  ICAM — beyond accounts.
Credentials: the joiner event schedules PIV enrollment. The leaver event blocks sign-in and revokes sessions first — Microsoft's documented order, and the step that closes certificate sign-in immediately rather than at the next revocation-list refresh — then revokes PIV, derived credentials and device certificates in parallel, reconciled to completion.
Assurance: record each person's proofing level and authenticator assurance as governed attributes, treat missing proofing evidence as a finding, and enforce phishing-resistant MFA under M-22-09.
Access: baseline access derived by rule from the standard attributes; privileged eligibility by position, through PIM, never standing; and any activity from a separated person is an alert.
The result: every entitlement has a "because" — a rule, an attribute, and the personnel action that set it.
Workbook: HR-Driven Identity, Chapter 07 — The canonical leaver sequence; Assurance as data; Chapter 08 — Where dynamic membership stops.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[11:23–12:23]  Privacy — which is where a data architect earns trust with HR.
Moving HR attributes into a directory is a disclosure of personnel records. So: confirm the routine-use basis under the governing system-of-records notices — OPM/GOVT-1 for general personnel records, plus SSA's own — before anything flows. Minimize: send only attributes an identity decision actually reads, as codes rather than narrative, and never use the SSN as a join key. Update the privacy impact assessment for the new flow and its consumers. And protect the flow: encrypt every leg, and keep logs to the person key and a payload hash rather than the record itself.
The principle underneath: HR remains the system of records; identity is a governed consumer that never writes an HR-mastered fact back.
(Confirm the applicable SORNs and routine uses with SSA's privacy office.)
Workbook: HR-Driven Identity, Chapter 03 — Privacy: identity is a routine-use consumer; Appendix B — Security and Privacy Assessment.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[12:23–13:17]  The governance I'd bring to deliver it safely.
The data foundation first: an authority map with one owner per attribute, and an enterprise person key SSA controls. A security assessment of the data flow. An acceptance gate with a signed validation before cutover. And a cutover that proves HR is the sole source for a population before the ticket path closes for it.
Then the operating rules: leave versus leaver, precedence and rescinded offers; a quarantine where failures never auto-resolve; drift detection and metrics; and change control on the crosswalk and code lists.
Together that produces evidence for AC-2, PS-4, PS-5, IA-4 and SI-12 as a byproduct of operating — supporting those controls, not claiming to close them on its own.
Workbook: HR-Driven Identity, Chapter 09 — Drift, Metrics and Evidence; Chapter 10 — Execution Plan; Appendices A–C.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[13:17–14:24]  The roadmap and the ask.
Now: align with SSA's HR 2.0 team so identity is named as a consumer of the new interconnection. Before onboarding: the standards crosswalk, the authority map, the contractor source and the privacy basis — the data architecture work. During onboarding: build and prove joiner, mover and leaver, in shadow mode first. At go-live: cut each population over as it moves to Entra ID, and close the ticket path for it. After: sustain it with metrics.
So the ask is simple: decide now to start HR-driven identity, and build it into both the HR 2.0 onboarding and the Entra ID migration — so that Zero Trust and SASE decide access on accurate data.
My contribution as an enterprise data architect: establish authority, identifiers, standards, lineage and evidence, so workforce events produce measurable identity outcomes.
Thank you — I look forward to your questions.
[Stop by 15:00.]
Workbook: HR-Driven Identity, Chapter 10 — Execution Plan; Appendix C — Acceptance and Cutover.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questions — about 20 seconds]
HR-driven identity is one piece of a larger set of modernizations I've designed for the agency over the last several years: the AD to Entra ID migration, next-generation DNS and IP address management, field office WAN and data-center consolidation, the TIC 3.0 branch edge, the client-server to hybrid cloud path, SQL Server identity, the move from Group Policy to Intune and Azure Arc, and continuous compliance against SCuBA, BOD 25-01 and FedRAMP 20x.
They share the same data discipline you just saw: a named authority for every fact, a governed model, and evidence produced by operation. I'm happy to go into any of them.
Workbook: HR-Driven Identity, the same site's Whitepapers, Next-Generation DDI, Client-Server to Hybrid Cloud and Operational Guides sections.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6035040" cy="164592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5852160" cy="118872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buNone/>
              <a:defRPr lang="en-US" sz="3000" b="1" dirty="0">
                <a:solidFill>
                  <a:schemeClr val="tx1"/>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HR-Driven Identity  ·  Mike Stratton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0.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slideLayout" Target="../slideLayouts/slideLayout3.xml"/><Relationship Id="rId7" Type="http://schemas.openxmlformats.org/officeDocument/2006/relationships/image" Target="../media/image26.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2.xml"/><Relationship Id="rId9"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17.png"/><Relationship Id="rId10" Type="http://schemas.openxmlformats.org/officeDocument/2006/relationships/image" Target="../media/image32.png"/><Relationship Id="rId4" Type="http://schemas.openxmlformats.org/officeDocument/2006/relationships/notesSlide" Target="../notesSlides/notesSlide13.xml"/><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notesSlide" Target="../notesSlides/notesSlide15.xml"/><Relationship Id="rId9"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6035040" cy="164592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HR-Driven Identity Modernization</a:t>
            </a:r>
            <a:endParaRPr lang="en-US" sz="4400" dirty="0"/>
          </a:p>
        </p:txBody>
      </p:sp>
      <p:sp>
        <p:nvSpPr>
          <p:cNvPr id="3" name="Text 0"/>
          <p:cNvSpPr>
            <a:spLocks noGrp="1"/>
          </p:cNvSpPr>
          <p:nvPr>
            <p:ph type="body" idx="101" hasCustomPrompt="1"/>
          </p:nvPr>
        </p:nvSpPr>
        <p:spPr>
          <a:xfrm>
            <a:off x="731520" y="3520440"/>
            <a:ext cx="5852160" cy="1188720"/>
          </a:xfrm>
          <a:prstGeom prst="rect">
            <a:avLst/>
          </a:prstGeom>
          <a:noFill/>
          <a:ln/>
        </p:spPr>
        <p:txBody>
          <a:bodyPr wrap="square" lIns="0" tIns="0" rIns="0" bIns="0" rtlCol="0" anchor="t"/>
          <a:lstStyle/>
          <a:p>
            <a:pPr marL="0" indent="0">
              <a:buNone/>
            </a:pPr>
            <a:r>
              <a:rPr lang="en-US" sz="2200" dirty="0">
                <a:solidFill>
                  <a:schemeClr val="accent2"/>
                </a:solidFill>
              </a:rPr>
              <a:t>An Enterprise Data Architecture Case Study</a:t>
            </a:r>
            <a:endParaRPr lang="en-US" sz="2200" dirty="0"/>
          </a:p>
        </p:txBody>
      </p:sp>
      <p:sp>
        <p:nvSpPr>
          <p:cNvPr id="4" name="Thesis line"/>
          <p:cNvSpPr txBox="1"/>
          <p:nvPr/>
        </p:nvSpPr>
        <p:spPr>
          <a:xfrm>
            <a:off x="731520" y="4069080"/>
            <a:ext cx="5852160" cy="822960"/>
          </a:xfrm>
          <a:prstGeom prst="rect">
            <a:avLst/>
          </a:prstGeom>
          <a:noFill/>
          <a:ln/>
        </p:spPr>
        <p:txBody>
          <a:bodyPr wrap="square" lIns="0" tIns="0" rIns="0" bIns="0" rtlCol="0" anchor="t"/>
          <a:lstStyle/>
          <a:p>
            <a:pPr marL="0" indent="0">
              <a:buNone/>
            </a:pPr>
            <a:r>
              <a:rPr lang="en-US" sz="1600" dirty="0">
                <a:solidFill>
                  <a:srgbClr val="334155"/>
                </a:solidFill>
              </a:rPr>
              <a:t>Using Federal HR 2.0 and the Entra ID migration to start HR-driven Entra ID, Active Directory and ICAM on OPM standard attributes</a:t>
            </a:r>
            <a:endParaRPr lang="en-US" sz="1600" dirty="0"/>
          </a:p>
        </p:txBody>
      </p:sp>
      <p:sp>
        <p:nvSpPr>
          <p:cNvPr id="5" name="Presenter"/>
          <p:cNvSpPr txBox="1"/>
          <p:nvPr/>
        </p:nvSpPr>
        <p:spPr>
          <a:xfrm>
            <a:off x="731520" y="5120640"/>
            <a:ext cx="10698480" cy="731520"/>
          </a:xfrm>
          <a:prstGeom prst="rect">
            <a:avLst/>
          </a:prstGeom>
          <a:noFill/>
          <a:ln/>
        </p:spPr>
        <p:txBody>
          <a:bodyPr wrap="square" lIns="0" tIns="0" rIns="0" bIns="0" rtlCol="0" anchor="t"/>
          <a:lstStyle/>
          <a:p>
            <a:pPr marL="0" indent="0">
              <a:buNone/>
            </a:pPr>
            <a:r>
              <a:rPr lang="en-US" sz="1600" b="1" dirty="0">
                <a:solidFill>
                  <a:srgbClr val="1F2A44"/>
                </a:solidFill>
              </a:rPr>
              <a:t>Mike Stratton</a:t>
            </a:r>
            <a:endParaRPr lang="en-US" sz="1600" dirty="0"/>
          </a:p>
          <a:p>
            <a:pPr marL="0" indent="0">
              <a:buNone/>
            </a:pPr>
            <a:r>
              <a:rPr lang="en-US" sz="1600" dirty="0">
                <a:solidFill>
                  <a:srgbClr val="64748B"/>
                </a:solidFill>
              </a:rPr>
              <a:t>Digital Identity line of business  ·  GS-14 Enterprise Data Architect  ·  Data Strategy and Enablement</a:t>
            </a:r>
            <a:endParaRPr lang="en-US" sz="1600" dirty="0"/>
          </a:p>
        </p:txBody>
      </p:sp>
      <p:pic>
        <p:nvPicPr>
          <p:cNvPr id="6" name="Narration">
            <a:hlinkClick r:id="" action="ppaction://media"/>
            <a:extLst>
              <a:ext uri="{FF2B5EF4-FFF2-40B4-BE49-F238E27FC236}">
                <a16:creationId xmlns:a16="http://schemas.microsoft.com/office/drawing/2014/main" id="{8426F13D-039F-B8F6-D5C5-F04AE0521E6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330"/>
    </mc:Choice>
    <mc:Fallback>
      <p:transition spd="slow" advTm="51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32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HRIT arrives in late 2027 — build identity into it</a:t>
            </a:r>
            <a:endParaRPr lang="en-US" sz="3000" dirty="0"/>
          </a:p>
        </p:txBody>
      </p:sp>
      <p:sp>
        <p:nvSpPr>
          <p:cNvPr id="3" name="Two migrations, regardless card"/>
          <p:cNvSpPr/>
          <p:nvPr/>
        </p:nvSpPr>
        <p:spPr>
          <a:xfrm>
            <a:off x="548640" y="1417320"/>
            <a:ext cx="3611880" cy="3063240"/>
          </a:xfrm>
          <a:prstGeom prst="roundRect">
            <a:avLst>
              <a:gd name="adj" fmla="val 238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ArrowsRotate"/>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ArrowsRotate.png"/>
          <p:cNvPicPr>
            <a:picLocks noChangeAspect="1"/>
          </p:cNvPicPr>
          <p:nvPr/>
        </p:nvPicPr>
        <p:blipFill>
          <a:blip r:embed="rId5"/>
          <a:stretch>
            <a:fillRect/>
          </a:stretch>
        </p:blipFill>
        <p:spPr>
          <a:xfrm>
            <a:off x="908914" y="1750162"/>
            <a:ext cx="285293" cy="285293"/>
          </a:xfrm>
          <a:prstGeom prst="rect">
            <a:avLst/>
          </a:prstGeom>
        </p:spPr>
      </p:pic>
      <p:sp>
        <p:nvSpPr>
          <p:cNvPr id="6" name="Two migrations, regardless heading"/>
          <p:cNvSpPr txBox="1"/>
          <p:nvPr/>
        </p:nvSpPr>
        <p:spPr>
          <a:xfrm>
            <a:off x="1463040" y="1618488"/>
            <a:ext cx="2560320" cy="548640"/>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Two migrations, regardless</a:t>
            </a:r>
            <a:endParaRPr lang="en-US" sz="1800" dirty="0"/>
          </a:p>
        </p:txBody>
      </p:sp>
      <p:sp>
        <p:nvSpPr>
          <p:cNvPr id="7" name="Two migrations, regardless text"/>
          <p:cNvSpPr txBox="1"/>
          <p:nvPr/>
        </p:nvSpPr>
        <p:spPr>
          <a:xfrm>
            <a:off x="77724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HR moves to Core HCM: new interconnections, cleaned data</a:t>
            </a:r>
            <a:endParaRPr lang="en-US" sz="1550" dirty="0"/>
          </a:p>
          <a:p>
            <a:pPr marL="342900" indent="-342900">
              <a:spcAft>
                <a:spcPts val="500"/>
              </a:spcAft>
              <a:buSzPct val="100000"/>
              <a:buChar char="•"/>
            </a:pPr>
            <a:r>
              <a:rPr lang="en-US" sz="1550" dirty="0">
                <a:solidFill>
                  <a:schemeClr val="tx2"/>
                </a:solidFill>
              </a:rPr>
              <a:t>Identity moves from AD toward Entra ID</a:t>
            </a:r>
            <a:endParaRPr lang="en-US" sz="1550" dirty="0"/>
          </a:p>
          <a:p>
            <a:pPr marL="342900" indent="-342900">
              <a:spcAft>
                <a:spcPts val="500"/>
              </a:spcAft>
              <a:buSzPct val="100000"/>
              <a:buChar char="•"/>
            </a:pPr>
            <a:r>
              <a:rPr lang="en-US" sz="1550" dirty="0">
                <a:solidFill>
                  <a:schemeClr val="tx2"/>
                </a:solidFill>
              </a:rPr>
              <a:t>Today: no HR-driven identity; accounts come from tickets</a:t>
            </a:r>
            <a:endParaRPr lang="en-US" sz="1550" dirty="0"/>
          </a:p>
        </p:txBody>
      </p:sp>
      <p:sp>
        <p:nvSpPr>
          <p:cNvPr id="8" name="Identity is SSA’s call card"/>
          <p:cNvSpPr/>
          <p:nvPr/>
        </p:nvSpPr>
        <p:spPr>
          <a:xfrm>
            <a:off x="4297680" y="1417320"/>
            <a:ext cx="3611880" cy="3063240"/>
          </a:xfrm>
          <a:prstGeom prst="roundRect">
            <a:avLst>
              <a:gd name="adj" fmla="val 238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Icon FaLandmark"/>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descr="C:\Users\whale\AppData\Local\Temp\claude\C--Users-whale-git-uiao-inbox\cbd5b766-acc0-4006-9202-a9bb6b23e97b\scratchpad\deck\icons\FaLandmark.png"/>
          <p:cNvPicPr>
            <a:picLocks noChangeAspect="1"/>
          </p:cNvPicPr>
          <p:nvPr/>
        </p:nvPicPr>
        <p:blipFill>
          <a:blip r:embed="rId6"/>
          <a:stretch>
            <a:fillRect/>
          </a:stretch>
        </p:blipFill>
        <p:spPr>
          <a:xfrm>
            <a:off x="4657954" y="1750162"/>
            <a:ext cx="285293" cy="285293"/>
          </a:xfrm>
          <a:prstGeom prst="rect">
            <a:avLst/>
          </a:prstGeom>
        </p:spPr>
      </p:pic>
      <p:sp>
        <p:nvSpPr>
          <p:cNvPr id="11" name="Identity is SSA’s call heading"/>
          <p:cNvSpPr txBox="1"/>
          <p:nvPr/>
        </p:nvSpPr>
        <p:spPr>
          <a:xfrm>
            <a:off x="5212080" y="1618488"/>
            <a:ext cx="2560320" cy="54864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Identity is SSA’s call</a:t>
            </a:r>
            <a:endParaRPr lang="en-US" sz="1800" dirty="0"/>
          </a:p>
        </p:txBody>
      </p:sp>
      <p:sp>
        <p:nvSpPr>
          <p:cNvPr id="12" name="Identity is SSA’s call text"/>
          <p:cNvSpPr txBox="1"/>
          <p:nvPr/>
        </p:nvSpPr>
        <p:spPr>
          <a:xfrm>
            <a:off x="452628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OPM fixes the HR side: platform, waves, interfaces</a:t>
            </a:r>
            <a:endParaRPr lang="en-US" sz="1550" dirty="0"/>
          </a:p>
          <a:p>
            <a:pPr marL="342900" indent="-342900">
              <a:spcAft>
                <a:spcPts val="500"/>
              </a:spcAft>
              <a:buSzPct val="100000"/>
              <a:buChar char="•"/>
            </a:pPr>
            <a:r>
              <a:rPr lang="en-US" sz="1550" dirty="0">
                <a:solidFill>
                  <a:schemeClr val="tx2"/>
                </a:solidFill>
              </a:rPr>
              <a:t>The agency’s directory and ICAM design is SSA’s decision</a:t>
            </a:r>
            <a:endParaRPr lang="en-US" sz="1550" dirty="0"/>
          </a:p>
          <a:p>
            <a:pPr marL="342900" indent="-342900">
              <a:spcAft>
                <a:spcPts val="500"/>
              </a:spcAft>
              <a:buSzPct val="100000"/>
              <a:buChar char="•"/>
            </a:pPr>
            <a:r>
              <a:rPr lang="en-US" sz="1550" dirty="0">
                <a:solidFill>
                  <a:schemeClr val="tx2"/>
                </a:solidFill>
              </a:rPr>
              <a:t>The solicitation requires SCIM 2.0 provisioning — the protocol Entra ID consumes</a:t>
            </a:r>
            <a:endParaRPr lang="en-US" sz="1550" dirty="0"/>
          </a:p>
        </p:txBody>
      </p:sp>
      <p:sp>
        <p:nvSpPr>
          <p:cNvPr id="13" name="The proposal card"/>
          <p:cNvSpPr/>
          <p:nvPr/>
        </p:nvSpPr>
        <p:spPr>
          <a:xfrm>
            <a:off x="8046720" y="1417320"/>
            <a:ext cx="3611880" cy="3063240"/>
          </a:xfrm>
          <a:prstGeom prst="roundRect">
            <a:avLst>
              <a:gd name="adj" fmla="val 238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Lightbulb"/>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descr="C:\Users\whale\AppData\Local\Temp\claude\C--Users-whale-git-uiao-inbox\cbd5b766-acc0-4006-9202-a9bb6b23e97b\scratchpad\deck\icons\FaLightbulb.png"/>
          <p:cNvPicPr>
            <a:picLocks noChangeAspect="1"/>
          </p:cNvPicPr>
          <p:nvPr/>
        </p:nvPicPr>
        <p:blipFill>
          <a:blip r:embed="rId7"/>
          <a:stretch>
            <a:fillRect/>
          </a:stretch>
        </p:blipFill>
        <p:spPr>
          <a:xfrm>
            <a:off x="8406994" y="1750162"/>
            <a:ext cx="285293" cy="285293"/>
          </a:xfrm>
          <a:prstGeom prst="rect">
            <a:avLst/>
          </a:prstGeom>
        </p:spPr>
      </p:pic>
      <p:sp>
        <p:nvSpPr>
          <p:cNvPr id="16" name="The proposal heading"/>
          <p:cNvSpPr txBox="1"/>
          <p:nvPr/>
        </p:nvSpPr>
        <p:spPr>
          <a:xfrm>
            <a:off x="8961120" y="1618488"/>
            <a:ext cx="2560320" cy="54864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The proposal</a:t>
            </a:r>
            <a:endParaRPr lang="en-US" sz="1800" dirty="0"/>
          </a:p>
        </p:txBody>
      </p:sp>
      <p:sp>
        <p:nvSpPr>
          <p:cNvPr id="17" name="The proposal text"/>
          <p:cNvSpPr txBox="1"/>
          <p:nvPr/>
        </p:nvSpPr>
        <p:spPr>
          <a:xfrm>
            <a:off x="827532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Start HR-driven identity: HR becomes the source of authority</a:t>
            </a:r>
            <a:endParaRPr lang="en-US" sz="1550" dirty="0"/>
          </a:p>
          <a:p>
            <a:pPr marL="342900" indent="-342900">
              <a:spcAft>
                <a:spcPts val="500"/>
              </a:spcAft>
              <a:buSzPct val="100000"/>
              <a:buChar char="•"/>
            </a:pPr>
            <a:r>
              <a:rPr lang="en-US" sz="1550" dirty="0">
                <a:solidFill>
                  <a:schemeClr val="tx2"/>
                </a:solidFill>
              </a:rPr>
              <a:t>Expressed in OPM standard attributes</a:t>
            </a:r>
            <a:endParaRPr lang="en-US" sz="1550" dirty="0"/>
          </a:p>
          <a:p>
            <a:pPr marL="342900" indent="-342900">
              <a:spcAft>
                <a:spcPts val="500"/>
              </a:spcAft>
              <a:buSzPct val="100000"/>
              <a:buChar char="•"/>
            </a:pPr>
            <a:r>
              <a:rPr lang="en-US" sz="1550" dirty="0">
                <a:solidFill>
                  <a:schemeClr val="tx2"/>
                </a:solidFill>
              </a:rPr>
              <a:t>Driving Entra ID, AD and ICAM by rule, with evidence</a:t>
            </a:r>
            <a:endParaRPr lang="en-US" sz="1550" dirty="0"/>
          </a:p>
        </p:txBody>
      </p:sp>
      <p:sp>
        <p:nvSpPr>
          <p:cNvPr id="18" name="Choice"/>
          <p:cNvSpPr/>
          <p:nvPr/>
        </p:nvSpPr>
        <p:spPr>
          <a:xfrm>
            <a:off x="548640" y="4663440"/>
            <a:ext cx="11109960" cy="1234440"/>
          </a:xfrm>
          <a:prstGeom prst="roundRect">
            <a:avLst>
              <a:gd name="adj" fmla="val 592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9" name="Choice text"/>
          <p:cNvSpPr txBox="1"/>
          <p:nvPr/>
        </p:nvSpPr>
        <p:spPr>
          <a:xfrm>
            <a:off x="868680" y="4754880"/>
            <a:ext cx="10515600" cy="1051560"/>
          </a:xfrm>
          <a:prstGeom prst="rect">
            <a:avLst/>
          </a:prstGeom>
          <a:noFill/>
          <a:ln/>
        </p:spPr>
        <p:txBody>
          <a:bodyPr wrap="square" lIns="0" tIns="0" rIns="0" bIns="0" rtlCol="0" anchor="ctr"/>
          <a:lstStyle/>
          <a:p>
            <a:pPr marL="0" indent="0">
              <a:buNone/>
            </a:pPr>
            <a:r>
              <a:rPr lang="en-US" sz="1800" b="1" dirty="0">
                <a:solidFill>
                  <a:srgbClr val="B45309"/>
                </a:solidFill>
              </a:rPr>
              <a:t>The choice: </a:t>
            </a:r>
            <a:r>
              <a:rPr lang="en-US" sz="1800" dirty="0">
                <a:solidFill>
                  <a:schemeClr val="tx2"/>
                </a:solidFill>
              </a:rPr>
              <a:t>carry ticket-driven identity through both migrations — or use them to start HR-driven identity, once, while both platforms are being rebuilt anyway.</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0" name="Narration">
            <a:hlinkClick r:id="" action="ppaction://media"/>
            <a:extLst>
              <a:ext uri="{FF2B5EF4-FFF2-40B4-BE49-F238E27FC236}">
                <a16:creationId xmlns:a16="http://schemas.microsoft.com/office/drawing/2014/main" id="{8FB48615-8379-C9FC-5B41-4A48DEBDD676}"/>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580"/>
    </mc:Choice>
    <mc:Fallback>
      <p:transition spd="slow" advTm="53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58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Why we need HR-driven ICAM now</a:t>
            </a:r>
            <a:endParaRPr lang="en-US" sz="3000" dirty="0"/>
          </a:p>
        </p:txBody>
      </p:sp>
      <p:sp>
        <p:nvSpPr>
          <p:cNvPr id="3" name="Chain 1"/>
          <p:cNvSpPr/>
          <p:nvPr/>
        </p:nvSpPr>
        <p:spPr>
          <a:xfrm>
            <a:off x="548640" y="1371600"/>
            <a:ext cx="2468880" cy="1691640"/>
          </a:xfrm>
          <a:prstGeom prst="roundRect">
            <a:avLst>
              <a:gd name="adj" fmla="val 4324"/>
            </a:avLst>
          </a:prstGeom>
          <a:solidFill>
            <a:srgbClr val="E9EEF4"/>
          </a:solidFill>
          <a:ln w="12700">
            <a:solidFill>
              <a:srgbClr val="64748B"/>
            </a:solidFill>
            <a:prstDash val="solid"/>
          </a:ln>
          <a:effectLst>
            <a:outerShdw blurRad="76200" dist="25400" dir="5400000" algn="bl" rotWithShape="0">
              <a:srgbClr val="64748B">
                <a:alpha val="22000"/>
              </a:srgbClr>
            </a:outerShdw>
          </a:effectLst>
        </p:spPr>
      </p:sp>
      <p:sp>
        <p:nvSpPr>
          <p:cNvPr id="4" name="Chain 1 text"/>
          <p:cNvSpPr txBox="1"/>
          <p:nvPr/>
        </p:nvSpPr>
        <p:spPr>
          <a:xfrm>
            <a:off x="731520" y="1481328"/>
            <a:ext cx="2103120" cy="1508760"/>
          </a:xfrm>
          <a:prstGeom prst="rect">
            <a:avLst/>
          </a:prstGeom>
          <a:noFill/>
          <a:ln/>
        </p:spPr>
        <p:txBody>
          <a:bodyPr wrap="square" lIns="0" tIns="0" rIns="0" bIns="0" rtlCol="0" anchor="t"/>
          <a:lstStyle/>
          <a:p>
            <a:pPr marL="0" indent="0">
              <a:spcAft>
                <a:spcPts val="400"/>
              </a:spcAft>
              <a:buNone/>
            </a:pPr>
            <a:r>
              <a:rPr lang="en-US" sz="1100" b="1" dirty="0">
                <a:solidFill>
                  <a:srgbClr val="64748B"/>
                </a:solidFill>
              </a:rPr>
              <a:t>THE STRATEGY</a:t>
            </a:r>
            <a:endParaRPr lang="en-US" sz="1400" dirty="0"/>
          </a:p>
          <a:p>
            <a:pPr marL="0" indent="0">
              <a:spcAft>
                <a:spcPts val="400"/>
              </a:spcAft>
              <a:buNone/>
            </a:pPr>
            <a:r>
              <a:rPr lang="en-US" sz="1900" b="1" dirty="0">
                <a:solidFill>
                  <a:srgbClr val="64748B"/>
                </a:solidFill>
                <a:latin typeface="Cambria" pitchFamily="34" charset="0"/>
                <a:ea typeface="Cambria" pitchFamily="34" charset="-122"/>
                <a:cs typeface="Cambria" pitchFamily="34" charset="-120"/>
              </a:rPr>
              <a:t>Zero Trust</a:t>
            </a:r>
            <a:endParaRPr lang="en-US" sz="1400" dirty="0"/>
          </a:p>
          <a:p>
            <a:pPr marL="0" indent="0">
              <a:spcAft>
                <a:spcPts val="400"/>
              </a:spcAft>
              <a:buNone/>
            </a:pPr>
            <a:r>
              <a:rPr lang="en-US" sz="1350" dirty="0">
                <a:solidFill>
                  <a:schemeClr val="tx2"/>
                </a:solidFill>
              </a:rPr>
              <a:t>OMB M‑22‑09 · NIST SP 800‑207 · CISA ZTMM</a:t>
            </a:r>
            <a:endParaRPr lang="en-US" sz="1400" dirty="0"/>
          </a:p>
        </p:txBody>
      </p:sp>
      <p:sp>
        <p:nvSpPr>
          <p:cNvPr id="5" name="Chain 2"/>
          <p:cNvSpPr/>
          <p:nvPr/>
        </p:nvSpPr>
        <p:spPr>
          <a:xfrm>
            <a:off x="3429000" y="1371600"/>
            <a:ext cx="2468880" cy="1691640"/>
          </a:xfrm>
          <a:prstGeom prst="roundRect">
            <a:avLst>
              <a:gd name="adj" fmla="val 43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hain 2 text"/>
          <p:cNvSpPr txBox="1"/>
          <p:nvPr/>
        </p:nvSpPr>
        <p:spPr>
          <a:xfrm>
            <a:off x="3611880" y="1481328"/>
            <a:ext cx="2103120" cy="1508760"/>
          </a:xfrm>
          <a:prstGeom prst="rect">
            <a:avLst/>
          </a:prstGeom>
          <a:noFill/>
          <a:ln/>
        </p:spPr>
        <p:txBody>
          <a:bodyPr wrap="square" lIns="0" tIns="0" rIns="0" bIns="0" rtlCol="0" anchor="t"/>
          <a:lstStyle/>
          <a:p>
            <a:pPr marL="0" indent="0">
              <a:spcAft>
                <a:spcPts val="400"/>
              </a:spcAft>
              <a:buNone/>
            </a:pPr>
            <a:r>
              <a:rPr lang="en-US" sz="1100" b="1" dirty="0">
                <a:solidFill>
                  <a:srgbClr val="1F2A44"/>
                </a:solidFill>
              </a:rPr>
              <a:t>THE DELIVERY</a:t>
            </a:r>
            <a:endParaRPr lang="en-US" sz="1400" dirty="0"/>
          </a:p>
          <a:p>
            <a:pPr marL="0" indent="0">
              <a:spcAft>
                <a:spcPts val="400"/>
              </a:spcAft>
              <a:buNone/>
            </a:pPr>
            <a:r>
              <a:rPr lang="en-US" sz="1900" b="1" dirty="0">
                <a:solidFill>
                  <a:srgbClr val="1F2A44"/>
                </a:solidFill>
                <a:latin typeface="Cambria" pitchFamily="34" charset="0"/>
                <a:ea typeface="Cambria" pitchFamily="34" charset="-122"/>
                <a:cs typeface="Cambria" pitchFamily="34" charset="-120"/>
              </a:rPr>
              <a:t>SASE</a:t>
            </a:r>
            <a:endParaRPr lang="en-US" sz="1400" dirty="0"/>
          </a:p>
          <a:p>
            <a:pPr marL="0" indent="0">
              <a:spcAft>
                <a:spcPts val="400"/>
              </a:spcAft>
              <a:buNone/>
            </a:pPr>
            <a:r>
              <a:rPr lang="en-US" sz="1350" dirty="0">
                <a:solidFill>
                  <a:schemeClr val="tx2"/>
                </a:solidFill>
              </a:rPr>
              <a:t>Each request enforced at the cloud edge (TIC 3.0)</a:t>
            </a:r>
            <a:endParaRPr lang="en-US" sz="1400" dirty="0"/>
          </a:p>
        </p:txBody>
      </p:sp>
      <p:sp>
        <p:nvSpPr>
          <p:cNvPr id="7" name="Chain 3"/>
          <p:cNvSpPr/>
          <p:nvPr/>
        </p:nvSpPr>
        <p:spPr>
          <a:xfrm>
            <a:off x="6309360" y="1371600"/>
            <a:ext cx="2468880" cy="1691640"/>
          </a:xfrm>
          <a:prstGeom prst="roundRect">
            <a:avLst>
              <a:gd name="adj" fmla="val 43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Chain 3 text"/>
          <p:cNvSpPr txBox="1"/>
          <p:nvPr/>
        </p:nvSpPr>
        <p:spPr>
          <a:xfrm>
            <a:off x="6492240" y="1481328"/>
            <a:ext cx="2103120" cy="1508760"/>
          </a:xfrm>
          <a:prstGeom prst="rect">
            <a:avLst/>
          </a:prstGeom>
          <a:noFill/>
          <a:ln/>
        </p:spPr>
        <p:txBody>
          <a:bodyPr wrap="square" lIns="0" tIns="0" rIns="0" bIns="0" rtlCol="0" anchor="t"/>
          <a:lstStyle/>
          <a:p>
            <a:pPr marL="0" indent="0">
              <a:spcAft>
                <a:spcPts val="400"/>
              </a:spcAft>
              <a:buNone/>
            </a:pPr>
            <a:r>
              <a:rPr lang="en-US" sz="1100" b="1" dirty="0">
                <a:solidFill>
                  <a:srgbClr val="0F766E"/>
                </a:solidFill>
              </a:rPr>
              <a:t>THE DECISION</a:t>
            </a:r>
            <a:endParaRPr lang="en-US" sz="1400" dirty="0"/>
          </a:p>
          <a:p>
            <a:pPr marL="0" indent="0">
              <a:spcAft>
                <a:spcPts val="400"/>
              </a:spcAft>
              <a:buNone/>
            </a:pPr>
            <a:r>
              <a:rPr lang="en-US" sz="1900" b="1" dirty="0">
                <a:solidFill>
                  <a:srgbClr val="0F766E"/>
                </a:solidFill>
                <a:latin typeface="Cambria" pitchFamily="34" charset="0"/>
                <a:ea typeface="Cambria" pitchFamily="34" charset="-122"/>
                <a:cs typeface="Cambria" pitchFamily="34" charset="-120"/>
              </a:rPr>
              <a:t>ICAM in Entra ID</a:t>
            </a:r>
            <a:endParaRPr lang="en-US" sz="1400" dirty="0"/>
          </a:p>
          <a:p>
            <a:pPr marL="0" indent="0">
              <a:spcAft>
                <a:spcPts val="400"/>
              </a:spcAft>
              <a:buNone/>
            </a:pPr>
            <a:r>
              <a:rPr lang="en-US" sz="1350" dirty="0">
                <a:solidFill>
                  <a:schemeClr val="tx2"/>
                </a:solidFill>
              </a:rPr>
              <a:t>Token from PIV or phishing-resistant MFA; dynamic groups read attributes</a:t>
            </a:r>
            <a:endParaRPr lang="en-US" sz="1400" dirty="0"/>
          </a:p>
        </p:txBody>
      </p:sp>
      <p:sp>
        <p:nvSpPr>
          <p:cNvPr id="9" name="Chain 4"/>
          <p:cNvSpPr/>
          <p:nvPr/>
        </p:nvSpPr>
        <p:spPr>
          <a:xfrm>
            <a:off x="9189720" y="1371600"/>
            <a:ext cx="2468880" cy="1691640"/>
          </a:xfrm>
          <a:prstGeom prst="roundRect">
            <a:avLst>
              <a:gd name="adj" fmla="val 432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Chain 4 text"/>
          <p:cNvSpPr txBox="1"/>
          <p:nvPr/>
        </p:nvSpPr>
        <p:spPr>
          <a:xfrm>
            <a:off x="9372600" y="1481328"/>
            <a:ext cx="2103120" cy="1508760"/>
          </a:xfrm>
          <a:prstGeom prst="rect">
            <a:avLst/>
          </a:prstGeom>
          <a:noFill/>
          <a:ln/>
        </p:spPr>
        <p:txBody>
          <a:bodyPr wrap="square" lIns="0" tIns="0" rIns="0" bIns="0" rtlCol="0" anchor="t"/>
          <a:lstStyle/>
          <a:p>
            <a:pPr marL="0" indent="0">
              <a:spcAft>
                <a:spcPts val="400"/>
              </a:spcAft>
              <a:buNone/>
            </a:pPr>
            <a:r>
              <a:rPr lang="en-US" sz="1100" b="1" dirty="0">
                <a:solidFill>
                  <a:srgbClr val="B45309"/>
                </a:solidFill>
              </a:rPr>
              <a:t>ACCURACY DECIDES ACCESS</a:t>
            </a:r>
            <a:endParaRPr lang="en-US" sz="1400" dirty="0"/>
          </a:p>
          <a:p>
            <a:pPr marL="0" indent="0">
              <a:spcAft>
                <a:spcPts val="400"/>
              </a:spcAft>
              <a:buNone/>
            </a:pPr>
            <a:r>
              <a:rPr lang="en-US" sz="1900" b="1" dirty="0">
                <a:solidFill>
                  <a:srgbClr val="B45309"/>
                </a:solidFill>
                <a:latin typeface="Cambria" pitchFamily="34" charset="0"/>
                <a:ea typeface="Cambria" pitchFamily="34" charset="-122"/>
                <a:cs typeface="Cambria" pitchFamily="34" charset="-120"/>
              </a:rPr>
              <a:t>Employee data</a:t>
            </a:r>
            <a:endParaRPr lang="en-US" sz="1400" dirty="0"/>
          </a:p>
          <a:p>
            <a:pPr marL="0" indent="0">
              <a:spcAft>
                <a:spcPts val="400"/>
              </a:spcAft>
              <a:buNone/>
            </a:pPr>
            <a:r>
              <a:rPr lang="en-US" sz="1350" dirty="0">
                <a:solidFill>
                  <a:schemeClr val="tx2"/>
                </a:solidFill>
              </a:rPr>
              <a:t>Organization, position, status, supervisor</a:t>
            </a:r>
            <a:endParaRPr lang="en-US" sz="1400" dirty="0"/>
          </a:p>
        </p:txBody>
      </p:sp>
      <p:sp>
        <p:nvSpPr>
          <p:cNvPr id="11" name="Shape 9"/>
          <p:cNvSpPr/>
          <p:nvPr/>
        </p:nvSpPr>
        <p:spPr>
          <a:xfrm>
            <a:off x="3017520" y="2212848"/>
            <a:ext cx="411480" cy="0"/>
          </a:xfrm>
          <a:prstGeom prst="line">
            <a:avLst/>
          </a:prstGeom>
          <a:noFill/>
          <a:ln w="22225">
            <a:solidFill>
              <a:srgbClr val="64748B"/>
            </a:solidFill>
            <a:prstDash val="solid"/>
            <a:tailEnd type="triangle"/>
          </a:ln>
        </p:spPr>
      </p:sp>
      <p:sp>
        <p:nvSpPr>
          <p:cNvPr id="12" name="Shape 10"/>
          <p:cNvSpPr/>
          <p:nvPr/>
        </p:nvSpPr>
        <p:spPr>
          <a:xfrm>
            <a:off x="5897880" y="2212848"/>
            <a:ext cx="411480" cy="0"/>
          </a:xfrm>
          <a:prstGeom prst="line">
            <a:avLst/>
          </a:prstGeom>
          <a:noFill/>
          <a:ln w="22225">
            <a:solidFill>
              <a:srgbClr val="64748B"/>
            </a:solidFill>
            <a:prstDash val="solid"/>
            <a:tailEnd type="triangle"/>
          </a:ln>
        </p:spPr>
      </p:sp>
      <p:sp>
        <p:nvSpPr>
          <p:cNvPr id="13" name="Shape 11"/>
          <p:cNvSpPr/>
          <p:nvPr/>
        </p:nvSpPr>
        <p:spPr>
          <a:xfrm>
            <a:off x="8778240" y="2212848"/>
            <a:ext cx="411480" cy="0"/>
          </a:xfrm>
          <a:prstGeom prst="line">
            <a:avLst/>
          </a:prstGeom>
          <a:noFill/>
          <a:ln w="22225">
            <a:solidFill>
              <a:srgbClr val="B45309"/>
            </a:solidFill>
            <a:prstDash val="solid"/>
            <a:headEnd type="triangle"/>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9144000" cy="1508760"/>
        </p:xfrm>
        <a:graphic>
          <a:graphicData uri="http://schemas.openxmlformats.org/drawingml/2006/table">
            <a:tbl>
              <a:tblPr/>
              <a:tblGrid>
                <a:gridCol w="23774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892040">
                  <a:extLst>
                    <a:ext uri="{9D8B030D-6E8A-4147-A177-3AD203B41FA5}">
                      <a16:colId xmlns:a16="http://schemas.microsoft.com/office/drawing/2014/main" val="20002"/>
                    </a:ext>
                  </a:extLst>
                </a:gridCol>
              </a:tblGrid>
              <a:tr h="377190">
                <a:tc>
                  <a:txBody>
                    <a:bodyPr/>
                    <a:lstStyle/>
                    <a:p>
                      <a:pPr marL="0" indent="0">
                        <a:buNone/>
                      </a:pP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Perimeter era</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Zero Trust, delivered through SASE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7719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What decides access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Network location, then static groups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token evaluated against attributes and dynamic groups, every session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719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wrong department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wrong phone-book entry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wrong groups — and the wrong access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719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stale status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orphaned account: a standing security violation that can enable a breach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valid token for a separated person, usable from anywhere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Takeaway"/>
          <p:cNvSpPr/>
          <p:nvPr/>
        </p:nvSpPr>
        <p:spPr>
          <a:xfrm>
            <a:off x="548640" y="5349240"/>
            <a:ext cx="11109960" cy="777240"/>
          </a:xfrm>
          <a:prstGeom prst="roundRect">
            <a:avLst>
              <a:gd name="adj" fmla="val 941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Takeaway text"/>
          <p:cNvSpPr txBox="1"/>
          <p:nvPr/>
        </p:nvSpPr>
        <p:spPr>
          <a:xfrm>
            <a:off x="868680" y="5394960"/>
            <a:ext cx="10515600" cy="685800"/>
          </a:xfrm>
          <a:prstGeom prst="rect">
            <a:avLst/>
          </a:prstGeom>
          <a:noFill/>
          <a:ln/>
        </p:spPr>
        <p:txBody>
          <a:bodyPr wrap="square" lIns="0" tIns="0" rIns="0" bIns="0" rtlCol="0" anchor="ctr"/>
          <a:lstStyle/>
          <a:p>
            <a:pPr marL="0" indent="0">
              <a:buNone/>
            </a:pPr>
            <a:r>
              <a:rPr lang="en-US" sz="1800" b="1" dirty="0">
                <a:solidFill>
                  <a:srgbClr val="B45309"/>
                </a:solidFill>
              </a:rPr>
              <a:t>When access is decided by attributes, </a:t>
            </a:r>
            <a:r>
              <a:rPr lang="en-US" sz="1800" dirty="0">
                <a:solidFill>
                  <a:schemeClr val="tx2"/>
                </a:solidFill>
              </a:rPr>
              <a:t>the accuracy of employee data is the accuracy of access.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7" name="Narration">
            <a:hlinkClick r:id="" action="ppaction://media"/>
            <a:extLst>
              <a:ext uri="{FF2B5EF4-FFF2-40B4-BE49-F238E27FC236}">
                <a16:creationId xmlns:a16="http://schemas.microsoft.com/office/drawing/2014/main" id="{AE46E981-4F17-E6C4-0BFB-0421E93EECC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380"/>
    </mc:Choice>
    <mc:Fallback>
      <p:transition spd="slow" advTm="70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384"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I’ve lived the impact of manually provisioned ICAM</a:t>
            </a:r>
            <a:endParaRPr lang="en-US" sz="3000" dirty="0"/>
          </a:p>
        </p:txBody>
      </p:sp>
      <p:sp>
        <p:nvSpPr>
          <p:cNvPr id="3" name="Story 1"/>
          <p:cNvSpPr/>
          <p:nvPr/>
        </p:nvSpPr>
        <p:spPr>
          <a:xfrm>
            <a:off x="548640" y="1417320"/>
            <a:ext cx="5760720" cy="2057400"/>
          </a:xfrm>
          <a:prstGeom prst="roundRect">
            <a:avLst>
              <a:gd name="adj" fmla="val 355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4" name="Icon FaAddressBook"/>
          <p:cNvSpPr/>
          <p:nvPr/>
        </p:nvSpPr>
        <p:spPr>
          <a:xfrm>
            <a:off x="777240" y="1645920"/>
            <a:ext cx="640080" cy="640080"/>
          </a:xfrm>
          <a:prstGeom prst="ellipse">
            <a:avLst/>
          </a:prstGeom>
          <a:solidFill>
            <a:srgbClr val="B91C1C"/>
          </a:solidFill>
          <a:ln w="12700">
            <a:solidFill>
              <a:srgbClr val="B91C1C"/>
            </a:solidFill>
            <a:prstDash val="solid"/>
          </a:ln>
        </p:spPr>
      </p:sp>
      <p:pic>
        <p:nvPicPr>
          <p:cNvPr id="5" name="Image 0" descr="C:\Users\whale\AppData\Local\Temp\claude\C--Users-whale-git-uiao-inbox\cbd5b766-acc0-4006-9202-a9bb6b23e97b\scratchpad\deck\icons\FaAddressBook.png"/>
          <p:cNvPicPr>
            <a:picLocks noChangeAspect="1"/>
          </p:cNvPicPr>
          <p:nvPr/>
        </p:nvPicPr>
        <p:blipFill>
          <a:blip r:embed="rId5"/>
          <a:stretch>
            <a:fillRect/>
          </a:stretch>
        </p:blipFill>
        <p:spPr>
          <a:xfrm>
            <a:off x="930859" y="1799539"/>
            <a:ext cx="332842" cy="332842"/>
          </a:xfrm>
          <a:prstGeom prst="rect">
            <a:avLst/>
          </a:prstGeom>
        </p:spPr>
      </p:pic>
      <p:sp>
        <p:nvSpPr>
          <p:cNvPr id="6" name="Story 1 text"/>
          <p:cNvSpPr txBox="1"/>
          <p:nvPr/>
        </p:nvSpPr>
        <p:spPr>
          <a:xfrm>
            <a:off x="1645920" y="1618488"/>
            <a:ext cx="4480560" cy="1737360"/>
          </a:xfrm>
          <a:prstGeom prst="rect">
            <a:avLst/>
          </a:prstGeom>
          <a:noFill/>
          <a:ln/>
        </p:spPr>
        <p:txBody>
          <a:bodyPr wrap="square" lIns="0" tIns="0" rIns="0" bIns="0" rtlCol="0" anchor="t"/>
          <a:lstStyle/>
          <a:p>
            <a:pPr marL="0" indent="0">
              <a:spcAft>
                <a:spcPts val="600"/>
              </a:spcAft>
              <a:buNone/>
            </a:pPr>
            <a:r>
              <a:rPr lang="en-US" sz="1900" b="1" dirty="0">
                <a:solidFill>
                  <a:srgbClr val="B91C1C"/>
                </a:solidFill>
                <a:latin typeface="Cambria" pitchFamily="34" charset="0"/>
                <a:ea typeface="Cambria" pitchFamily="34" charset="-122"/>
                <a:cs typeface="Cambria" pitchFamily="34" charset="-120"/>
              </a:rPr>
              <a:t>The phone book (DITM)</a:t>
            </a:r>
            <a:endParaRPr lang="en-US" sz="1400" dirty="0"/>
          </a:p>
          <a:p>
            <a:pPr marL="0" indent="0">
              <a:spcAft>
                <a:spcPts val="600"/>
              </a:spcAft>
              <a:buNone/>
            </a:pPr>
            <a:r>
              <a:rPr lang="en-US" sz="1500" dirty="0">
                <a:solidFill>
                  <a:schemeClr val="tx2"/>
                </a:solidFill>
              </a:rPr>
              <a:t>Active Directory fed the agency phone book, but nothing fed Active Directory from HR. Titles, offices, phone numbers and managers stayed wrong until someone filed a ticket.</a:t>
            </a:r>
            <a:endParaRPr lang="en-US" sz="1400" dirty="0"/>
          </a:p>
        </p:txBody>
      </p:sp>
      <p:sp>
        <p:nvSpPr>
          <p:cNvPr id="7" name="Story 2"/>
          <p:cNvSpPr/>
          <p:nvPr/>
        </p:nvSpPr>
        <p:spPr>
          <a:xfrm>
            <a:off x="548640" y="3657600"/>
            <a:ext cx="5760720" cy="2057400"/>
          </a:xfrm>
          <a:prstGeom prst="roundRect">
            <a:avLst>
              <a:gd name="adj" fmla="val 355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8" name="Icon FaUserTie"/>
          <p:cNvSpPr/>
          <p:nvPr/>
        </p:nvSpPr>
        <p:spPr>
          <a:xfrm>
            <a:off x="777240" y="3886200"/>
            <a:ext cx="640080" cy="640080"/>
          </a:xfrm>
          <a:prstGeom prst="ellipse">
            <a:avLst/>
          </a:prstGeom>
          <a:solidFill>
            <a:srgbClr val="B91C1C"/>
          </a:solidFill>
          <a:ln w="12700">
            <a:solidFill>
              <a:srgbClr val="B91C1C"/>
            </a:solidFill>
            <a:prstDash val="solid"/>
          </a:ln>
        </p:spPr>
      </p:sp>
      <p:pic>
        <p:nvPicPr>
          <p:cNvPr id="9" name="Image 1" descr="C:\Users\whale\AppData\Local\Temp\claude\C--Users-whale-git-uiao-inbox\cbd5b766-acc0-4006-9202-a9bb6b23e97b\scratchpad\deck\icons\FaUserTie.png"/>
          <p:cNvPicPr>
            <a:picLocks noChangeAspect="1"/>
          </p:cNvPicPr>
          <p:nvPr/>
        </p:nvPicPr>
        <p:blipFill>
          <a:blip r:embed="rId6"/>
          <a:stretch>
            <a:fillRect/>
          </a:stretch>
        </p:blipFill>
        <p:spPr>
          <a:xfrm>
            <a:off x="930859" y="4039819"/>
            <a:ext cx="332842" cy="332842"/>
          </a:xfrm>
          <a:prstGeom prst="rect">
            <a:avLst/>
          </a:prstGeom>
        </p:spPr>
      </p:pic>
      <p:sp>
        <p:nvSpPr>
          <p:cNvPr id="10" name="Story 2 text"/>
          <p:cNvSpPr txBox="1"/>
          <p:nvPr/>
        </p:nvSpPr>
        <p:spPr>
          <a:xfrm>
            <a:off x="1645920" y="3858768"/>
            <a:ext cx="4480560" cy="1737360"/>
          </a:xfrm>
          <a:prstGeom prst="rect">
            <a:avLst/>
          </a:prstGeom>
          <a:noFill/>
          <a:ln/>
        </p:spPr>
        <p:txBody>
          <a:bodyPr wrap="square" lIns="0" tIns="0" rIns="0" bIns="0" rtlCol="0" anchor="t"/>
          <a:lstStyle/>
          <a:p>
            <a:pPr marL="0" indent="0">
              <a:spcAft>
                <a:spcPts val="600"/>
              </a:spcAft>
              <a:buNone/>
            </a:pPr>
            <a:r>
              <a:rPr lang="en-US" sz="1900" b="1" dirty="0">
                <a:solidFill>
                  <a:srgbClr val="B91C1C"/>
                </a:solidFill>
                <a:latin typeface="Cambria" pitchFamily="34" charset="0"/>
                <a:ea typeface="Cambria" pitchFamily="34" charset="-122"/>
                <a:cs typeface="Cambria" pitchFamily="34" charset="-120"/>
              </a:rPr>
              <a:t>Every change of management</a:t>
            </a:r>
            <a:endParaRPr lang="en-US" sz="1400" dirty="0"/>
          </a:p>
          <a:p>
            <a:pPr marL="0" indent="0">
              <a:spcAft>
                <a:spcPts val="600"/>
              </a:spcAft>
              <a:buNone/>
            </a:pPr>
            <a:r>
              <a:rPr lang="en-US" sz="1500" dirty="0">
                <a:solidFill>
                  <a:schemeClr val="tx2"/>
                </a:solidFill>
              </a:rPr>
              <a:t>My organization, my manager, and my access to tools such as SAM were updated by hand — by ticket, after the fact, every time.</a:t>
            </a:r>
            <a:endParaRPr lang="en-US" sz="1400" dirty="0"/>
          </a:p>
        </p:txBody>
      </p:sp>
      <p:sp>
        <p:nvSpPr>
          <p:cNvPr id="11" name="HR-driven panel"/>
          <p:cNvSpPr/>
          <p:nvPr/>
        </p:nvSpPr>
        <p:spPr>
          <a:xfrm>
            <a:off x="6583680" y="1417320"/>
            <a:ext cx="5074920" cy="4297680"/>
          </a:xfrm>
          <a:prstGeom prst="roundRect">
            <a:avLst>
              <a:gd name="adj" fmla="val 170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RightLeft"/>
          <p:cNvSpPr/>
          <p:nvPr/>
        </p:nvSpPr>
        <p:spPr>
          <a:xfrm>
            <a:off x="6812280" y="1600200"/>
            <a:ext cx="548640" cy="548640"/>
          </a:xfrm>
          <a:prstGeom prst="ellipse">
            <a:avLst/>
          </a:prstGeom>
          <a:solidFill>
            <a:srgbClr val="0F766E"/>
          </a:solidFill>
          <a:ln w="12700">
            <a:solidFill>
              <a:srgbClr val="0F766E"/>
            </a:solidFill>
            <a:prstDash val="solid"/>
          </a:ln>
        </p:spPr>
      </p:sp>
      <p:pic>
        <p:nvPicPr>
          <p:cNvPr id="13" name="Image 2" descr="C:\Users\whale\AppData\Local\Temp\claude\C--Users-whale-git-uiao-inbox\cbd5b766-acc0-4006-9202-a9bb6b23e97b\scratchpad\deck\icons\FaRightLeft.png"/>
          <p:cNvPicPr>
            <a:picLocks noChangeAspect="1"/>
          </p:cNvPicPr>
          <p:nvPr/>
        </p:nvPicPr>
        <p:blipFill>
          <a:blip r:embed="rId7"/>
          <a:stretch>
            <a:fillRect/>
          </a:stretch>
        </p:blipFill>
        <p:spPr>
          <a:xfrm>
            <a:off x="6943954" y="1731874"/>
            <a:ext cx="285293" cy="285293"/>
          </a:xfrm>
          <a:prstGeom prst="rect">
            <a:avLst/>
          </a:prstGeom>
        </p:spPr>
      </p:pic>
      <p:sp>
        <p:nvSpPr>
          <p:cNvPr id="14" name="HR-driven heading"/>
          <p:cNvSpPr txBox="1"/>
          <p:nvPr/>
        </p:nvSpPr>
        <p:spPr>
          <a:xfrm>
            <a:off x="7498080" y="1600200"/>
            <a:ext cx="3931920" cy="548640"/>
          </a:xfrm>
          <a:prstGeom prst="rect">
            <a:avLst/>
          </a:prstGeom>
          <a:noFill/>
          <a:ln/>
        </p:spPr>
        <p:txBody>
          <a:bodyPr wrap="square" lIns="0" tIns="0" rIns="0" bIns="0" rtlCol="0" anchor="ctr"/>
          <a:lstStyle/>
          <a:p>
            <a:pPr marL="0" indent="0">
              <a:buNone/>
            </a:pPr>
            <a:r>
              <a:rPr lang="en-US" sz="2000" b="1" dirty="0">
                <a:solidFill>
                  <a:srgbClr val="0F766E"/>
                </a:solidFill>
                <a:latin typeface="Cambria" pitchFamily="34" charset="0"/>
                <a:ea typeface="Cambria" pitchFamily="34" charset="-122"/>
                <a:cs typeface="Cambria" pitchFamily="34" charset="-120"/>
              </a:rPr>
              <a:t>With HR-driven IT</a:t>
            </a:r>
            <a:endParaRPr lang="en-US" sz="2000" dirty="0"/>
          </a:p>
        </p:txBody>
      </p:sp>
      <p:sp>
        <p:nvSpPr>
          <p:cNvPr id="15" name="Step 1 badge"/>
          <p:cNvSpPr/>
          <p:nvPr/>
        </p:nvSpPr>
        <p:spPr>
          <a:xfrm>
            <a:off x="6858000" y="2423160"/>
            <a:ext cx="457200" cy="457200"/>
          </a:xfrm>
          <a:prstGeom prst="ellipse">
            <a:avLst/>
          </a:prstGeom>
          <a:solidFill>
            <a:srgbClr val="0F766E"/>
          </a:solidFill>
          <a:ln w="12700">
            <a:solidFill>
              <a:srgbClr val="0F766E"/>
            </a:solidFill>
            <a:prstDash val="solid"/>
          </a:ln>
        </p:spPr>
      </p:sp>
      <p:sp>
        <p:nvSpPr>
          <p:cNvPr id="16" name="Step 1 number"/>
          <p:cNvSpPr txBox="1"/>
          <p:nvPr/>
        </p:nvSpPr>
        <p:spPr>
          <a:xfrm>
            <a:off x="6858000" y="2423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17" name="Step 1 text"/>
          <p:cNvSpPr txBox="1"/>
          <p:nvPr/>
        </p:nvSpPr>
        <p:spPr>
          <a:xfrm>
            <a:off x="7498080" y="2377440"/>
            <a:ext cx="3977640" cy="868680"/>
          </a:xfrm>
          <a:prstGeom prst="rect">
            <a:avLst/>
          </a:prstGeom>
          <a:noFill/>
          <a:ln/>
        </p:spPr>
        <p:txBody>
          <a:bodyPr wrap="square" lIns="0" tIns="0" rIns="0" bIns="0" rtlCol="0" anchor="t"/>
          <a:lstStyle/>
          <a:p>
            <a:pPr marL="0" indent="0">
              <a:buNone/>
            </a:pPr>
            <a:r>
              <a:rPr lang="en-US" sz="1550" dirty="0">
                <a:solidFill>
                  <a:srgbClr val="1F2A44"/>
                </a:solidFill>
              </a:rPr>
              <a:t>The personnel action records the reassignment</a:t>
            </a:r>
            <a:endParaRPr lang="en-US" sz="1550" dirty="0"/>
          </a:p>
        </p:txBody>
      </p:sp>
      <p:sp>
        <p:nvSpPr>
          <p:cNvPr id="18" name="Shape 13"/>
          <p:cNvSpPr/>
          <p:nvPr/>
        </p:nvSpPr>
        <p:spPr>
          <a:xfrm>
            <a:off x="7086600" y="2880360"/>
            <a:ext cx="0" cy="594360"/>
          </a:xfrm>
          <a:prstGeom prst="line">
            <a:avLst/>
          </a:prstGeom>
          <a:noFill/>
          <a:ln w="19050">
            <a:solidFill>
              <a:srgbClr val="0F766E"/>
            </a:solidFill>
            <a:prstDash val="solid"/>
            <a:tailEnd type="triangle"/>
          </a:ln>
        </p:spPr>
      </p:sp>
      <p:sp>
        <p:nvSpPr>
          <p:cNvPr id="19" name="Step 2 badge"/>
          <p:cNvSpPr/>
          <p:nvPr/>
        </p:nvSpPr>
        <p:spPr>
          <a:xfrm>
            <a:off x="6858000" y="3474720"/>
            <a:ext cx="457200" cy="457200"/>
          </a:xfrm>
          <a:prstGeom prst="ellipse">
            <a:avLst/>
          </a:prstGeom>
          <a:solidFill>
            <a:srgbClr val="0F766E"/>
          </a:solidFill>
          <a:ln w="12700">
            <a:solidFill>
              <a:srgbClr val="0F766E"/>
            </a:solidFill>
            <a:prstDash val="solid"/>
          </a:ln>
        </p:spPr>
      </p:sp>
      <p:sp>
        <p:nvSpPr>
          <p:cNvPr id="20" name="Step 2 number"/>
          <p:cNvSpPr txBox="1"/>
          <p:nvPr/>
        </p:nvSpPr>
        <p:spPr>
          <a:xfrm>
            <a:off x="6858000" y="3474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21" name="Step 2 text"/>
          <p:cNvSpPr txBox="1"/>
          <p:nvPr/>
        </p:nvSpPr>
        <p:spPr>
          <a:xfrm>
            <a:off x="7498080" y="3429000"/>
            <a:ext cx="3977640" cy="868680"/>
          </a:xfrm>
          <a:prstGeom prst="rect">
            <a:avLst/>
          </a:prstGeom>
          <a:noFill/>
          <a:ln/>
        </p:spPr>
        <p:txBody>
          <a:bodyPr wrap="square" lIns="0" tIns="0" rIns="0" bIns="0" rtlCol="0" anchor="t"/>
          <a:lstStyle/>
          <a:p>
            <a:pPr marL="0" indent="0">
              <a:buNone/>
            </a:pPr>
            <a:r>
              <a:rPr lang="en-US" sz="1550" dirty="0">
                <a:solidFill>
                  <a:srgbClr val="1F2A44"/>
                </a:solidFill>
              </a:rPr>
              <a:t>Organization and manager update in Entra ID and AD</a:t>
            </a:r>
            <a:endParaRPr lang="en-US" sz="1550" dirty="0"/>
          </a:p>
        </p:txBody>
      </p:sp>
      <p:sp>
        <p:nvSpPr>
          <p:cNvPr id="22" name="Shape 17"/>
          <p:cNvSpPr/>
          <p:nvPr/>
        </p:nvSpPr>
        <p:spPr>
          <a:xfrm>
            <a:off x="7086600" y="3931920"/>
            <a:ext cx="0" cy="594360"/>
          </a:xfrm>
          <a:prstGeom prst="line">
            <a:avLst/>
          </a:prstGeom>
          <a:noFill/>
          <a:ln w="19050">
            <a:solidFill>
              <a:srgbClr val="0F766E"/>
            </a:solidFill>
            <a:prstDash val="solid"/>
            <a:tailEnd type="triangle"/>
          </a:ln>
        </p:spPr>
      </p:sp>
      <p:sp>
        <p:nvSpPr>
          <p:cNvPr id="23" name="Step 3 badge"/>
          <p:cNvSpPr/>
          <p:nvPr/>
        </p:nvSpPr>
        <p:spPr>
          <a:xfrm>
            <a:off x="6858000" y="4526280"/>
            <a:ext cx="457200" cy="457200"/>
          </a:xfrm>
          <a:prstGeom prst="ellipse">
            <a:avLst/>
          </a:prstGeom>
          <a:solidFill>
            <a:srgbClr val="0F766E"/>
          </a:solidFill>
          <a:ln w="12700">
            <a:solidFill>
              <a:srgbClr val="0F766E"/>
            </a:solidFill>
            <a:prstDash val="solid"/>
          </a:ln>
        </p:spPr>
      </p:sp>
      <p:sp>
        <p:nvSpPr>
          <p:cNvPr id="24" name="Step 3 number"/>
          <p:cNvSpPr txBox="1"/>
          <p:nvPr/>
        </p:nvSpPr>
        <p:spPr>
          <a:xfrm>
            <a:off x="6858000" y="45262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25" name="Step 3 text"/>
          <p:cNvSpPr txBox="1"/>
          <p:nvPr/>
        </p:nvSpPr>
        <p:spPr>
          <a:xfrm>
            <a:off x="7498080" y="4480560"/>
            <a:ext cx="3977640" cy="868680"/>
          </a:xfrm>
          <a:prstGeom prst="rect">
            <a:avLst/>
          </a:prstGeom>
          <a:noFill/>
          <a:ln/>
        </p:spPr>
        <p:txBody>
          <a:bodyPr wrap="square" lIns="0" tIns="0" rIns="0" bIns="0" rtlCol="0" anchor="t"/>
          <a:lstStyle/>
          <a:p>
            <a:pPr marL="0" indent="0">
              <a:buNone/>
            </a:pPr>
            <a:r>
              <a:rPr lang="en-US" sz="1550" dirty="0">
                <a:solidFill>
                  <a:srgbClr val="1F2A44"/>
                </a:solidFill>
              </a:rPr>
              <a:t>The phone book, approvals and SAM access follow — from the authoritative source, not a ticket</a:t>
            </a:r>
            <a:endParaRPr lang="en-US" sz="155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7" name="Narration">
            <a:hlinkClick r:id="" action="ppaction://media"/>
            <a:extLst>
              <a:ext uri="{FF2B5EF4-FFF2-40B4-BE49-F238E27FC236}">
                <a16:creationId xmlns:a16="http://schemas.microsoft.com/office/drawing/2014/main" id="{AE070AD8-8F15-8033-82A7-59690223E09B}"/>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840"/>
    </mc:Choice>
    <mc:Fallback>
      <p:transition spd="slow" advTm="49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840"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The window closes at SSA’s interconnection go-live</a:t>
            </a:r>
            <a:endParaRPr lang="en-US" sz="3000" dirty="0"/>
          </a:p>
        </p:txBody>
      </p:sp>
      <p:sp>
        <p:nvSpPr>
          <p:cNvPr id="3" name="Shape 1"/>
          <p:cNvSpPr/>
          <p:nvPr/>
        </p:nvSpPr>
        <p:spPr>
          <a:xfrm>
            <a:off x="1691640" y="2240280"/>
            <a:ext cx="8778240" cy="0"/>
          </a:xfrm>
          <a:prstGeom prst="line">
            <a:avLst/>
          </a:prstGeom>
          <a:noFill/>
          <a:ln w="19050">
            <a:solidFill>
              <a:srgbClr val="64748B"/>
            </a:solidFill>
            <a:prstDash val="solid"/>
          </a:ln>
        </p:spPr>
      </p:sp>
      <p:sp>
        <p:nvSpPr>
          <p:cNvPr id="4" name="Milestone dot 1"/>
          <p:cNvSpPr/>
          <p:nvPr/>
        </p:nvSpPr>
        <p:spPr>
          <a:xfrm>
            <a:off x="1508760" y="2057400"/>
            <a:ext cx="365760" cy="365760"/>
          </a:xfrm>
          <a:prstGeom prst="ellipse">
            <a:avLst/>
          </a:prstGeom>
          <a:solidFill>
            <a:srgbClr val="1F2A44"/>
          </a:solidFill>
          <a:ln w="25400">
            <a:solidFill>
              <a:srgbClr val="FFFFFF"/>
            </a:solidFill>
            <a:prstDash val="solid"/>
          </a:ln>
        </p:spPr>
      </p:sp>
      <p:sp>
        <p:nvSpPr>
          <p:cNvPr id="5" name="Milestone date 1"/>
          <p:cNvSpPr txBox="1"/>
          <p:nvPr/>
        </p:nvSpPr>
        <p:spPr>
          <a:xfrm>
            <a:off x="685800" y="1463040"/>
            <a:ext cx="2011680" cy="411480"/>
          </a:xfrm>
          <a:prstGeom prst="rect">
            <a:avLst/>
          </a:prstGeom>
          <a:noFill/>
          <a:ln/>
        </p:spPr>
        <p:txBody>
          <a:bodyPr wrap="square" lIns="0" tIns="0" rIns="0" bIns="0" rtlCol="0" anchor="t"/>
          <a:lstStyle/>
          <a:p>
            <a:pPr marL="0" indent="0" algn="ctr">
              <a:buNone/>
            </a:pPr>
            <a:r>
              <a:rPr lang="en-US" sz="1800" b="1" dirty="0">
                <a:solidFill>
                  <a:srgbClr val="1F2A44"/>
                </a:solidFill>
                <a:latin typeface="Cambria" pitchFamily="34" charset="0"/>
                <a:ea typeface="Cambria" pitchFamily="34" charset="-122"/>
                <a:cs typeface="Cambria" pitchFamily="34" charset="-120"/>
              </a:rPr>
              <a:t>Dec 10, 2025</a:t>
            </a:r>
            <a:endParaRPr lang="en-US" sz="1800" dirty="0"/>
          </a:p>
        </p:txBody>
      </p:sp>
      <p:sp>
        <p:nvSpPr>
          <p:cNvPr id="6" name="Milestone text 1"/>
          <p:cNvSpPr txBox="1"/>
          <p:nvPr/>
        </p:nvSpPr>
        <p:spPr>
          <a:xfrm>
            <a:off x="704088" y="2606040"/>
            <a:ext cx="1975104" cy="1371600"/>
          </a:xfrm>
          <a:prstGeom prst="rect">
            <a:avLst/>
          </a:prstGeom>
          <a:noFill/>
          <a:ln/>
        </p:spPr>
        <p:txBody>
          <a:bodyPr wrap="square" lIns="0" tIns="0" rIns="0" bIns="0" rtlCol="0" anchor="t"/>
          <a:lstStyle/>
          <a:p>
            <a:pPr marL="0" indent="0" algn="ctr">
              <a:buNone/>
            </a:pPr>
            <a:r>
              <a:rPr lang="en-US" sz="1400" b="1" dirty="0">
                <a:solidFill>
                  <a:srgbClr val="1F2A44"/>
                </a:solidFill>
              </a:rPr>
              <a:t>OMB/OPM memo</a:t>
            </a:r>
            <a:endParaRPr lang="en-US" sz="1400" dirty="0"/>
          </a:p>
          <a:p>
            <a:pPr marL="0" indent="0" algn="ctr">
              <a:buNone/>
            </a:pPr>
            <a:r>
              <a:rPr lang="en-US" sz="1400" dirty="0">
                <a:solidFill>
                  <a:schemeClr val="tx2"/>
                </a:solidFill>
              </a:rPr>
              <a:t>One government-wide Core HCM platform</a:t>
            </a:r>
            <a:endParaRPr lang="en-US" sz="1400" dirty="0"/>
          </a:p>
        </p:txBody>
      </p:sp>
      <p:sp>
        <p:nvSpPr>
          <p:cNvPr id="7" name="Milestone dot 2"/>
          <p:cNvSpPr/>
          <p:nvPr/>
        </p:nvSpPr>
        <p:spPr>
          <a:xfrm>
            <a:off x="3703320" y="2057400"/>
            <a:ext cx="365760" cy="365760"/>
          </a:xfrm>
          <a:prstGeom prst="ellipse">
            <a:avLst/>
          </a:prstGeom>
          <a:solidFill>
            <a:srgbClr val="1F2A44"/>
          </a:solidFill>
          <a:ln w="25400">
            <a:solidFill>
              <a:srgbClr val="FFFFFF"/>
            </a:solidFill>
            <a:prstDash val="solid"/>
          </a:ln>
        </p:spPr>
      </p:sp>
      <p:sp>
        <p:nvSpPr>
          <p:cNvPr id="8" name="Milestone date 2"/>
          <p:cNvSpPr txBox="1"/>
          <p:nvPr/>
        </p:nvSpPr>
        <p:spPr>
          <a:xfrm>
            <a:off x="2880360" y="1463040"/>
            <a:ext cx="2011680" cy="411480"/>
          </a:xfrm>
          <a:prstGeom prst="rect">
            <a:avLst/>
          </a:prstGeom>
          <a:noFill/>
          <a:ln/>
        </p:spPr>
        <p:txBody>
          <a:bodyPr wrap="square" lIns="0" tIns="0" rIns="0" bIns="0" rtlCol="0" anchor="t"/>
          <a:lstStyle/>
          <a:p>
            <a:pPr marL="0" indent="0" algn="ctr">
              <a:buNone/>
            </a:pPr>
            <a:r>
              <a:rPr lang="en-US" sz="1800" b="1" dirty="0">
                <a:solidFill>
                  <a:srgbClr val="1F2A44"/>
                </a:solidFill>
                <a:latin typeface="Cambria" pitchFamily="34" charset="0"/>
                <a:ea typeface="Cambria" pitchFamily="34" charset="-122"/>
                <a:cs typeface="Cambria" pitchFamily="34" charset="-120"/>
              </a:rPr>
              <a:t>Jun 11, 2026</a:t>
            </a:r>
            <a:endParaRPr lang="en-US" sz="1800" dirty="0"/>
          </a:p>
        </p:txBody>
      </p:sp>
      <p:sp>
        <p:nvSpPr>
          <p:cNvPr id="9" name="Milestone text 2"/>
          <p:cNvSpPr txBox="1"/>
          <p:nvPr/>
        </p:nvSpPr>
        <p:spPr>
          <a:xfrm>
            <a:off x="2898648" y="2606040"/>
            <a:ext cx="1975104" cy="1371600"/>
          </a:xfrm>
          <a:prstGeom prst="rect">
            <a:avLst/>
          </a:prstGeom>
          <a:noFill/>
          <a:ln/>
        </p:spPr>
        <p:txBody>
          <a:bodyPr wrap="square" lIns="0" tIns="0" rIns="0" bIns="0" rtlCol="0" anchor="t"/>
          <a:lstStyle/>
          <a:p>
            <a:pPr marL="0" indent="0" algn="ctr">
              <a:buNone/>
            </a:pPr>
            <a:r>
              <a:rPr lang="en-US" sz="1400" b="1" dirty="0">
                <a:solidFill>
                  <a:srgbClr val="1F2A44"/>
                </a:solidFill>
              </a:rPr>
              <a:t>Core HCM award</a:t>
            </a:r>
            <a:endParaRPr lang="en-US" sz="1400" dirty="0"/>
          </a:p>
          <a:p>
            <a:pPr marL="0" indent="0" algn="ctr">
              <a:buNone/>
            </a:pPr>
            <a:r>
              <a:rPr lang="en-US" sz="1400" dirty="0">
                <a:solidFill>
                  <a:schemeClr val="tx2"/>
                </a:solidFill>
              </a:rPr>
              <a:t>Oracle Fusion Cloud HCM (SaaS)</a:t>
            </a:r>
            <a:endParaRPr lang="en-US" sz="1400" dirty="0"/>
          </a:p>
        </p:txBody>
      </p:sp>
      <p:sp>
        <p:nvSpPr>
          <p:cNvPr id="10" name="Milestone dot 3"/>
          <p:cNvSpPr/>
          <p:nvPr/>
        </p:nvSpPr>
        <p:spPr>
          <a:xfrm>
            <a:off x="5897880" y="2057400"/>
            <a:ext cx="365760" cy="365760"/>
          </a:xfrm>
          <a:prstGeom prst="ellipse">
            <a:avLst/>
          </a:prstGeom>
          <a:solidFill>
            <a:srgbClr val="1F2A44"/>
          </a:solidFill>
          <a:ln w="25400">
            <a:solidFill>
              <a:srgbClr val="FFFFFF"/>
            </a:solidFill>
            <a:prstDash val="solid"/>
          </a:ln>
        </p:spPr>
      </p:sp>
      <p:sp>
        <p:nvSpPr>
          <p:cNvPr id="11" name="Milestone date 3"/>
          <p:cNvSpPr txBox="1"/>
          <p:nvPr/>
        </p:nvSpPr>
        <p:spPr>
          <a:xfrm>
            <a:off x="5074920" y="1463040"/>
            <a:ext cx="2011680" cy="411480"/>
          </a:xfrm>
          <a:prstGeom prst="rect">
            <a:avLst/>
          </a:prstGeom>
          <a:noFill/>
          <a:ln/>
        </p:spPr>
        <p:txBody>
          <a:bodyPr wrap="square" lIns="0" tIns="0" rIns="0" bIns="0" rtlCol="0" anchor="t"/>
          <a:lstStyle/>
          <a:p>
            <a:pPr marL="0" indent="0" algn="ctr">
              <a:buNone/>
            </a:pPr>
            <a:r>
              <a:rPr lang="en-US" sz="1800" b="1" dirty="0">
                <a:solidFill>
                  <a:srgbClr val="1F2A44"/>
                </a:solidFill>
                <a:latin typeface="Cambria" pitchFamily="34" charset="0"/>
                <a:ea typeface="Cambria" pitchFamily="34" charset="-122"/>
                <a:cs typeface="Cambria" pitchFamily="34" charset="-120"/>
              </a:rPr>
              <a:t>Jan–Mar 2027</a:t>
            </a:r>
            <a:endParaRPr lang="en-US" sz="1800" dirty="0"/>
          </a:p>
        </p:txBody>
      </p:sp>
      <p:sp>
        <p:nvSpPr>
          <p:cNvPr id="12" name="Milestone text 3"/>
          <p:cNvSpPr txBox="1"/>
          <p:nvPr/>
        </p:nvSpPr>
        <p:spPr>
          <a:xfrm>
            <a:off x="5093208" y="2606040"/>
            <a:ext cx="1975104" cy="1371600"/>
          </a:xfrm>
          <a:prstGeom prst="rect">
            <a:avLst/>
          </a:prstGeom>
          <a:noFill/>
          <a:ln/>
        </p:spPr>
        <p:txBody>
          <a:bodyPr wrap="square" lIns="0" tIns="0" rIns="0" bIns="0" rtlCol="0" anchor="t"/>
          <a:lstStyle/>
          <a:p>
            <a:pPr marL="0" indent="0" algn="ctr">
              <a:buNone/>
            </a:pPr>
            <a:r>
              <a:rPr lang="en-US" sz="1400" b="1" dirty="0">
                <a:solidFill>
                  <a:srgbClr val="1F2A44"/>
                </a:solidFill>
              </a:rPr>
              <a:t>First go-lives</a:t>
            </a:r>
            <a:endParaRPr lang="en-US" sz="1400" dirty="0"/>
          </a:p>
          <a:p>
            <a:pPr marL="0" indent="0" algn="ctr">
              <a:buNone/>
            </a:pPr>
            <a:r>
              <a:rPr lang="en-US" sz="1400" dirty="0">
                <a:solidFill>
                  <a:schemeClr val="tx2"/>
                </a:solidFill>
              </a:rPr>
              <a:t>Wave 1 agencies</a:t>
            </a:r>
            <a:endParaRPr lang="en-US" sz="1400" dirty="0"/>
          </a:p>
        </p:txBody>
      </p:sp>
      <p:sp>
        <p:nvSpPr>
          <p:cNvPr id="13" name="Milestone dot 4"/>
          <p:cNvSpPr/>
          <p:nvPr/>
        </p:nvSpPr>
        <p:spPr>
          <a:xfrm>
            <a:off x="8092440" y="2057400"/>
            <a:ext cx="365760" cy="365760"/>
          </a:xfrm>
          <a:prstGeom prst="ellipse">
            <a:avLst/>
          </a:prstGeom>
          <a:solidFill>
            <a:srgbClr val="B45309"/>
          </a:solidFill>
          <a:ln w="25400">
            <a:solidFill>
              <a:srgbClr val="FFFFFF"/>
            </a:solidFill>
            <a:prstDash val="solid"/>
          </a:ln>
        </p:spPr>
      </p:sp>
      <p:sp>
        <p:nvSpPr>
          <p:cNvPr id="14" name="Milestone date 4"/>
          <p:cNvSpPr txBox="1"/>
          <p:nvPr/>
        </p:nvSpPr>
        <p:spPr>
          <a:xfrm>
            <a:off x="7269480" y="1463040"/>
            <a:ext cx="2011680" cy="411480"/>
          </a:xfrm>
          <a:prstGeom prst="rect">
            <a:avLst/>
          </a:prstGeom>
          <a:noFill/>
          <a:ln/>
        </p:spPr>
        <p:txBody>
          <a:bodyPr wrap="square" lIns="0" tIns="0" rIns="0" bIns="0" rtlCol="0" anchor="t"/>
          <a:lstStyle/>
          <a:p>
            <a:pPr marL="0" indent="0" algn="ctr">
              <a:buNone/>
            </a:pPr>
            <a:r>
              <a:rPr lang="en-US" sz="1800" b="1" dirty="0">
                <a:solidFill>
                  <a:srgbClr val="B45309"/>
                </a:solidFill>
                <a:latin typeface="Cambria" pitchFamily="34" charset="0"/>
                <a:ea typeface="Cambria" pitchFamily="34" charset="-122"/>
                <a:cs typeface="Cambria" pitchFamily="34" charset="-120"/>
              </a:rPr>
              <a:t>2nd half 2027</a:t>
            </a:r>
            <a:endParaRPr lang="en-US" sz="1800" dirty="0"/>
          </a:p>
        </p:txBody>
      </p:sp>
      <p:sp>
        <p:nvSpPr>
          <p:cNvPr id="15" name="Milestone text 4"/>
          <p:cNvSpPr txBox="1"/>
          <p:nvPr/>
        </p:nvSpPr>
        <p:spPr>
          <a:xfrm>
            <a:off x="7287768" y="2606040"/>
            <a:ext cx="1975104" cy="1371600"/>
          </a:xfrm>
          <a:prstGeom prst="rect">
            <a:avLst/>
          </a:prstGeom>
          <a:noFill/>
          <a:ln/>
        </p:spPr>
        <p:txBody>
          <a:bodyPr wrap="square" lIns="0" tIns="0" rIns="0" bIns="0" rtlCol="0" anchor="t"/>
          <a:lstStyle/>
          <a:p>
            <a:pPr marL="0" indent="0" algn="ctr">
              <a:buNone/>
            </a:pPr>
            <a:r>
              <a:rPr lang="en-US" sz="1400" b="1" dirty="0">
                <a:solidFill>
                  <a:srgbClr val="B45309"/>
                </a:solidFill>
              </a:rPr>
              <a:t>SSA’s Core HCM (Wave 2)</a:t>
            </a:r>
            <a:endParaRPr lang="en-US" sz="1400" dirty="0"/>
          </a:p>
          <a:p>
            <a:pPr marL="0" indent="0" algn="ctr">
              <a:buNone/>
            </a:pPr>
            <a:r>
              <a:rPr lang="en-US" sz="1400" dirty="0">
                <a:solidFill>
                  <a:schemeClr val="tx2"/>
                </a:solidFill>
              </a:rPr>
              <a:t>~8-month onboarding; interconnections live ~month 5</a:t>
            </a:r>
            <a:endParaRPr lang="en-US" sz="1400" dirty="0"/>
          </a:p>
        </p:txBody>
      </p:sp>
      <p:sp>
        <p:nvSpPr>
          <p:cNvPr id="16" name="Milestone dot 5"/>
          <p:cNvSpPr/>
          <p:nvPr/>
        </p:nvSpPr>
        <p:spPr>
          <a:xfrm>
            <a:off x="10287000" y="2057400"/>
            <a:ext cx="365760" cy="365760"/>
          </a:xfrm>
          <a:prstGeom prst="ellipse">
            <a:avLst/>
          </a:prstGeom>
          <a:solidFill>
            <a:srgbClr val="1F2A44"/>
          </a:solidFill>
          <a:ln w="25400">
            <a:solidFill>
              <a:srgbClr val="FFFFFF"/>
            </a:solidFill>
            <a:prstDash val="solid"/>
          </a:ln>
        </p:spPr>
      </p:sp>
      <p:sp>
        <p:nvSpPr>
          <p:cNvPr id="17" name="Milestone date 5"/>
          <p:cNvSpPr txBox="1"/>
          <p:nvPr/>
        </p:nvSpPr>
        <p:spPr>
          <a:xfrm>
            <a:off x="9464040" y="1463040"/>
            <a:ext cx="2011680" cy="411480"/>
          </a:xfrm>
          <a:prstGeom prst="rect">
            <a:avLst/>
          </a:prstGeom>
          <a:noFill/>
          <a:ln/>
        </p:spPr>
        <p:txBody>
          <a:bodyPr wrap="square" lIns="0" tIns="0" rIns="0" bIns="0" rtlCol="0" anchor="t"/>
          <a:lstStyle/>
          <a:p>
            <a:pPr marL="0" indent="0" algn="ctr">
              <a:buNone/>
            </a:pPr>
            <a:r>
              <a:rPr lang="en-US" sz="1800" b="1" dirty="0">
                <a:solidFill>
                  <a:srgbClr val="1F2A44"/>
                </a:solidFill>
                <a:latin typeface="Cambria" pitchFamily="34" charset="0"/>
                <a:ea typeface="Cambria" pitchFamily="34" charset="-122"/>
                <a:cs typeface="Cambria" pitchFamily="34" charset="-120"/>
              </a:rPr>
              <a:t>FY 2028</a:t>
            </a:r>
            <a:endParaRPr lang="en-US" sz="1800" dirty="0"/>
          </a:p>
        </p:txBody>
      </p:sp>
      <p:sp>
        <p:nvSpPr>
          <p:cNvPr id="18" name="Milestone text 5"/>
          <p:cNvSpPr txBox="1"/>
          <p:nvPr/>
        </p:nvSpPr>
        <p:spPr>
          <a:xfrm>
            <a:off x="9482328" y="2606040"/>
            <a:ext cx="1975104" cy="1371600"/>
          </a:xfrm>
          <a:prstGeom prst="rect">
            <a:avLst/>
          </a:prstGeom>
          <a:noFill/>
          <a:ln/>
        </p:spPr>
        <p:txBody>
          <a:bodyPr wrap="square" lIns="0" tIns="0" rIns="0" bIns="0" rtlCol="0" anchor="t"/>
          <a:lstStyle/>
          <a:p>
            <a:pPr marL="0" indent="0" algn="ctr">
              <a:buNone/>
            </a:pPr>
            <a:r>
              <a:rPr lang="en-US" sz="1400" b="1" dirty="0">
                <a:solidFill>
                  <a:srgbClr val="1F2A44"/>
                </a:solidFill>
              </a:rPr>
              <a:t>One system</a:t>
            </a:r>
            <a:endParaRPr lang="en-US" sz="1400" dirty="0"/>
          </a:p>
          <a:p>
            <a:pPr marL="0" indent="0" algn="ctr">
              <a:buNone/>
            </a:pPr>
            <a:r>
              <a:rPr lang="en-US" sz="1400" dirty="0">
                <a:solidFill>
                  <a:schemeClr val="tx2"/>
                </a:solidFill>
              </a:rPr>
              <a:t>EHRI and eOPF decommissioned</a:t>
            </a:r>
            <a:endParaRPr lang="en-US" sz="1400" dirty="0"/>
          </a:p>
        </p:txBody>
      </p:sp>
      <p:sp>
        <p:nvSpPr>
          <p:cNvPr id="19" name="Window 1"/>
          <p:cNvSpPr/>
          <p:nvPr/>
        </p:nvSpPr>
        <p:spPr>
          <a:xfrm>
            <a:off x="548640" y="4434840"/>
            <a:ext cx="5486400" cy="1691640"/>
          </a:xfrm>
          <a:prstGeom prst="roundRect">
            <a:avLst>
              <a:gd name="adj" fmla="val 432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0" name="Icon FaDoorOpen"/>
          <p:cNvSpPr/>
          <p:nvPr/>
        </p:nvSpPr>
        <p:spPr>
          <a:xfrm>
            <a:off x="822960" y="4617720"/>
            <a:ext cx="594360" cy="594360"/>
          </a:xfrm>
          <a:prstGeom prst="ellipse">
            <a:avLst/>
          </a:prstGeom>
          <a:solidFill>
            <a:srgbClr val="0F766E"/>
          </a:solidFill>
          <a:ln w="12700">
            <a:solidFill>
              <a:srgbClr val="0F766E"/>
            </a:solidFill>
            <a:prstDash val="solid"/>
          </a:ln>
        </p:spPr>
      </p:sp>
      <p:pic>
        <p:nvPicPr>
          <p:cNvPr id="21" name="Image 0" descr="C:\Users\whale\AppData\Local\Temp\claude\C--Users-whale-git-uiao-inbox\cbd5b766-acc0-4006-9202-a9bb6b23e97b\scratchpad\deck\icons\FaDoorOpen.png"/>
          <p:cNvPicPr>
            <a:picLocks noChangeAspect="1"/>
          </p:cNvPicPr>
          <p:nvPr/>
        </p:nvPicPr>
        <p:blipFill>
          <a:blip r:embed="rId5"/>
          <a:stretch>
            <a:fillRect/>
          </a:stretch>
        </p:blipFill>
        <p:spPr>
          <a:xfrm>
            <a:off x="965606" y="4760366"/>
            <a:ext cx="309067" cy="309067"/>
          </a:xfrm>
          <a:prstGeom prst="rect">
            <a:avLst/>
          </a:prstGeom>
        </p:spPr>
      </p:pic>
      <p:sp>
        <p:nvSpPr>
          <p:cNvPr id="22" name="Window 1 text"/>
          <p:cNvSpPr txBox="1"/>
          <p:nvPr/>
        </p:nvSpPr>
        <p:spPr>
          <a:xfrm>
            <a:off x="1600200" y="4572000"/>
            <a:ext cx="4251960" cy="1463040"/>
          </a:xfrm>
          <a:prstGeom prst="rect">
            <a:avLst/>
          </a:prstGeom>
          <a:noFill/>
          <a:ln/>
        </p:spPr>
        <p:txBody>
          <a:bodyPr wrap="square" lIns="0" tIns="0" rIns="0" bIns="0" rtlCol="0" anchor="t"/>
          <a:lstStyle/>
          <a:p>
            <a:pPr marL="0" indent="0">
              <a:spcAft>
                <a:spcPts val="600"/>
              </a:spcAft>
              <a:buNone/>
            </a:pPr>
            <a:r>
              <a:rPr lang="en-US" sz="1800" b="1" dirty="0">
                <a:solidFill>
                  <a:srgbClr val="0F766E"/>
                </a:solidFill>
                <a:latin typeface="Cambria" pitchFamily="34" charset="0"/>
                <a:ea typeface="Cambria" pitchFamily="34" charset="-122"/>
                <a:cs typeface="Cambria" pitchFamily="34" charset="-120"/>
              </a:rPr>
              <a:t>Inside the window</a:t>
            </a:r>
            <a:endParaRPr lang="en-US" sz="1400" dirty="0"/>
          </a:p>
          <a:p>
            <a:pPr marL="0" indent="0">
              <a:spcAft>
                <a:spcPts val="600"/>
              </a:spcAft>
              <a:buNone/>
            </a:pPr>
            <a:r>
              <a:rPr lang="en-US" sz="1500" dirty="0">
                <a:solidFill>
                  <a:schemeClr val="tx2"/>
                </a:solidFill>
              </a:rPr>
              <a:t>Data standards, cleanup, interconnection design and the Entra ID migration plan are all being decided. An HR-driven feed can be written into them.</a:t>
            </a:r>
            <a:endParaRPr lang="en-US" sz="1400" dirty="0"/>
          </a:p>
        </p:txBody>
      </p:sp>
      <p:sp>
        <p:nvSpPr>
          <p:cNvPr id="23" name="Window 2"/>
          <p:cNvSpPr/>
          <p:nvPr/>
        </p:nvSpPr>
        <p:spPr>
          <a:xfrm>
            <a:off x="6172200" y="4434840"/>
            <a:ext cx="5486400" cy="1691640"/>
          </a:xfrm>
          <a:prstGeom prst="roundRect">
            <a:avLst>
              <a:gd name="adj" fmla="val 432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4" name="Icon FaDoorClosed"/>
          <p:cNvSpPr/>
          <p:nvPr/>
        </p:nvSpPr>
        <p:spPr>
          <a:xfrm>
            <a:off x="6446520" y="4617720"/>
            <a:ext cx="594360" cy="594360"/>
          </a:xfrm>
          <a:prstGeom prst="ellipse">
            <a:avLst/>
          </a:prstGeom>
          <a:solidFill>
            <a:srgbClr val="B91C1C"/>
          </a:solidFill>
          <a:ln w="12700">
            <a:solidFill>
              <a:srgbClr val="B91C1C"/>
            </a:solidFill>
            <a:prstDash val="solid"/>
          </a:ln>
        </p:spPr>
      </p:sp>
      <p:pic>
        <p:nvPicPr>
          <p:cNvPr id="25" name="Image 1" descr="C:\Users\whale\AppData\Local\Temp\claude\C--Users-whale-git-uiao-inbox\cbd5b766-acc0-4006-9202-a9bb6b23e97b\scratchpad\deck\icons\FaDoorClosed.png"/>
          <p:cNvPicPr>
            <a:picLocks noChangeAspect="1"/>
          </p:cNvPicPr>
          <p:nvPr/>
        </p:nvPicPr>
        <p:blipFill>
          <a:blip r:embed="rId6"/>
          <a:stretch>
            <a:fillRect/>
          </a:stretch>
        </p:blipFill>
        <p:spPr>
          <a:xfrm>
            <a:off x="6589166" y="4760366"/>
            <a:ext cx="309067" cy="309067"/>
          </a:xfrm>
          <a:prstGeom prst="rect">
            <a:avLst/>
          </a:prstGeom>
        </p:spPr>
      </p:pic>
      <p:sp>
        <p:nvSpPr>
          <p:cNvPr id="26" name="Window 2 text"/>
          <p:cNvSpPr txBox="1"/>
          <p:nvPr/>
        </p:nvSpPr>
        <p:spPr>
          <a:xfrm>
            <a:off x="7223760" y="4572000"/>
            <a:ext cx="4251960" cy="1463040"/>
          </a:xfrm>
          <a:prstGeom prst="rect">
            <a:avLst/>
          </a:prstGeom>
          <a:noFill/>
          <a:ln/>
        </p:spPr>
        <p:txBody>
          <a:bodyPr wrap="square" lIns="0" tIns="0" rIns="0" bIns="0" rtlCol="0" anchor="t"/>
          <a:lstStyle/>
          <a:p>
            <a:pPr marL="0" indent="0">
              <a:spcAft>
                <a:spcPts val="600"/>
              </a:spcAft>
              <a:buNone/>
            </a:pPr>
            <a:r>
              <a:rPr lang="en-US" sz="1800" b="1" dirty="0">
                <a:solidFill>
                  <a:srgbClr val="B91C1C"/>
                </a:solidFill>
                <a:latin typeface="Cambria" pitchFamily="34" charset="0"/>
                <a:ea typeface="Cambria" pitchFamily="34" charset="-122"/>
                <a:cs typeface="Cambria" pitchFamily="34" charset="-120"/>
              </a:rPr>
              <a:t>After it closes</a:t>
            </a:r>
            <a:endParaRPr lang="en-US" sz="1400" dirty="0"/>
          </a:p>
          <a:p>
            <a:pPr marL="0" indent="0">
              <a:spcAft>
                <a:spcPts val="600"/>
              </a:spcAft>
              <a:buNone/>
            </a:pPr>
            <a:r>
              <a:rPr lang="en-US" sz="1500" dirty="0">
                <a:solidFill>
                  <a:schemeClr val="tx2"/>
                </a:solidFill>
              </a:rPr>
              <a:t>Both migrations finish with ticket-driven identity carried forward, and retrofitting HR-driven identity costs far more.</a:t>
            </a:r>
            <a:endParaRPr lang="en-US" sz="14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8" name="Narration">
            <a:hlinkClick r:id="" action="ppaction://media"/>
            <a:extLst>
              <a:ext uri="{FF2B5EF4-FFF2-40B4-BE49-F238E27FC236}">
                <a16:creationId xmlns:a16="http://schemas.microsoft.com/office/drawing/2014/main" id="{E158BA0D-50AB-BD68-B5AF-6102BED69D72}"/>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990"/>
    </mc:Choice>
    <mc:Fallback>
      <p:transition spd="slow" advTm="62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992"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Drive identity from OPM’s standard HR data</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4251960"/>
        </p:xfrm>
        <a:graphic>
          <a:graphicData uri="http://schemas.openxmlformats.org/drawingml/2006/table">
            <a:tbl>
              <a:tblPr/>
              <a:tblGrid>
                <a:gridCol w="35661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531495">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OPM standard data element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Identity use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Agency / subelement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Legal employer and component scope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Personnel office identifier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Servicing HR office; delegated administration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Duty station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Location of record; location-based policy scoping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Occupational series, pay plan, grade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Position category; role-eligible access packages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Supervisory status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Approver and reviewer eligibility; manager-chain integrity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Tenure, appointment type, work schedule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Worker type and lifecycle profile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Nature of action + effective date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Lifecycle trigger (next slide)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Why card"/>
          <p:cNvSpPr/>
          <p:nvPr/>
        </p:nvSpPr>
        <p:spPr>
          <a:xfrm>
            <a:off x="8549640" y="1417320"/>
            <a:ext cx="3108960" cy="2011680"/>
          </a:xfrm>
          <a:prstGeom prst="roundRect">
            <a:avLst>
              <a:gd name="adj" fmla="val 363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5" name="Icon FaBook"/>
          <p:cNvSpPr/>
          <p:nvPr/>
        </p:nvSpPr>
        <p:spPr>
          <a:xfrm>
            <a:off x="8732520" y="1572768"/>
            <a:ext cx="457200" cy="45720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Book.png"/>
          <p:cNvPicPr>
            <a:picLocks noChangeAspect="1"/>
          </p:cNvPicPr>
          <p:nvPr/>
        </p:nvPicPr>
        <p:blipFill>
          <a:blip r:embed="rId5"/>
          <a:stretch>
            <a:fillRect/>
          </a:stretch>
        </p:blipFill>
        <p:spPr>
          <a:xfrm>
            <a:off x="8842248" y="1682496"/>
            <a:ext cx="237744" cy="237744"/>
          </a:xfrm>
          <a:prstGeom prst="rect">
            <a:avLst/>
          </a:prstGeom>
        </p:spPr>
      </p:pic>
      <p:sp>
        <p:nvSpPr>
          <p:cNvPr id="3" name="Why heading"/>
          <p:cNvSpPr txBox="1"/>
          <p:nvPr/>
        </p:nvSpPr>
        <p:spPr>
          <a:xfrm>
            <a:off x="9281160" y="1572768"/>
            <a:ext cx="2286000" cy="45720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Why standards</a:t>
            </a:r>
            <a:endParaRPr lang="en-US" sz="1800" dirty="0"/>
          </a:p>
        </p:txBody>
      </p:sp>
      <p:sp>
        <p:nvSpPr>
          <p:cNvPr id="8" name="Why text"/>
          <p:cNvSpPr txBox="1"/>
          <p:nvPr/>
        </p:nvSpPr>
        <p:spPr>
          <a:xfrm>
            <a:off x="8732520" y="2121408"/>
            <a:ext cx="2788920" cy="1234440"/>
          </a:xfrm>
          <a:prstGeom prst="rect">
            <a:avLst/>
          </a:prstGeom>
          <a:noFill/>
          <a:ln/>
        </p:spPr>
        <p:txBody>
          <a:bodyPr wrap="square" lIns="0" tIns="0" rIns="0" bIns="0" rtlCol="0" anchor="t"/>
          <a:lstStyle/>
          <a:p>
            <a:pPr marL="0" indent="0">
              <a:buNone/>
            </a:pPr>
            <a:r>
              <a:rPr lang="en-US" sz="1350" dirty="0">
                <a:solidFill>
                  <a:schemeClr val="tx2"/>
                </a:solidFill>
              </a:rPr>
              <a:t>OPM defines these elements and codes the same way for every agency. Map them to Entra ID and AD once, and the mapping still works if the HR vendor changes.</a:t>
            </a:r>
            <a:endParaRPr lang="en-US" sz="1350" dirty="0"/>
          </a:p>
        </p:txBody>
      </p:sp>
      <p:sp>
        <p:nvSpPr>
          <p:cNvPr id="9" name="CWK card"/>
          <p:cNvSpPr/>
          <p:nvPr/>
        </p:nvSpPr>
        <p:spPr>
          <a:xfrm>
            <a:off x="8549640" y="3611880"/>
            <a:ext cx="3108960" cy="2057400"/>
          </a:xfrm>
          <a:prstGeom prst="roundRect">
            <a:avLst>
              <a:gd name="adj" fmla="val 355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0" name="Icon FaPeopleArrows"/>
          <p:cNvSpPr/>
          <p:nvPr/>
        </p:nvSpPr>
        <p:spPr>
          <a:xfrm>
            <a:off x="8732520" y="3767328"/>
            <a:ext cx="457200" cy="457200"/>
          </a:xfrm>
          <a:prstGeom prst="ellipse">
            <a:avLst/>
          </a:prstGeom>
          <a:solidFill>
            <a:srgbClr val="B45309"/>
          </a:solidFill>
          <a:ln w="12700">
            <a:solidFill>
              <a:srgbClr val="B45309"/>
            </a:solidFill>
            <a:prstDash val="solid"/>
          </a:ln>
        </p:spPr>
      </p:sp>
      <p:pic>
        <p:nvPicPr>
          <p:cNvPr id="11" name="Image 1" descr="C:\Users\whale\AppData\Local\Temp\claude\C--Users-whale-git-uiao-inbox\cbd5b766-acc0-4006-9202-a9bb6b23e97b\scratchpad\deck\icons\FaPeopleArrows.png"/>
          <p:cNvPicPr>
            <a:picLocks noChangeAspect="1"/>
          </p:cNvPicPr>
          <p:nvPr/>
        </p:nvPicPr>
        <p:blipFill>
          <a:blip r:embed="rId6"/>
          <a:stretch>
            <a:fillRect/>
          </a:stretch>
        </p:blipFill>
        <p:spPr>
          <a:xfrm>
            <a:off x="8842248" y="3877056"/>
            <a:ext cx="237744" cy="237744"/>
          </a:xfrm>
          <a:prstGeom prst="rect">
            <a:avLst/>
          </a:prstGeom>
        </p:spPr>
      </p:pic>
      <p:sp>
        <p:nvSpPr>
          <p:cNvPr id="12" name="CWK heading"/>
          <p:cNvSpPr txBox="1"/>
          <p:nvPr/>
        </p:nvSpPr>
        <p:spPr>
          <a:xfrm>
            <a:off x="9281160" y="3767328"/>
            <a:ext cx="2286000" cy="45720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Contractors, vendors</a:t>
            </a:r>
            <a:endParaRPr lang="en-US" sz="1800" dirty="0"/>
          </a:p>
        </p:txBody>
      </p:sp>
      <p:sp>
        <p:nvSpPr>
          <p:cNvPr id="13" name="CWK text"/>
          <p:cNvSpPr txBox="1"/>
          <p:nvPr/>
        </p:nvSpPr>
        <p:spPr>
          <a:xfrm>
            <a:off x="8732520" y="4315968"/>
            <a:ext cx="2788920" cy="1280160"/>
          </a:xfrm>
          <a:prstGeom prst="rect">
            <a:avLst/>
          </a:prstGeom>
          <a:noFill/>
          <a:ln/>
        </p:spPr>
        <p:txBody>
          <a:bodyPr wrap="square" lIns="0" tIns="0" rIns="0" bIns="0" rtlCol="0" anchor="t"/>
          <a:lstStyle/>
          <a:p>
            <a:pPr marL="0" indent="0">
              <a:buNone/>
            </a:pPr>
            <a:r>
              <a:rPr lang="en-US" sz="1350" b="1" dirty="0">
                <a:solidFill>
                  <a:srgbClr val="1F2A44"/>
                </a:solidFill>
              </a:rPr>
              <a:t>Not in HRIT; today in COR spreadsheets. </a:t>
            </a:r>
            <a:r>
              <a:rPr lang="en-US" sz="1350" dirty="0">
                <a:solidFill>
                  <a:schemeClr val="tx2"/>
                </a:solidFill>
              </a:rPr>
              <a:t>Best bet: Core HCM’s Contingent Worker type. Alternative: PIV sponsorship as the source.</a:t>
            </a:r>
            <a:endParaRPr lang="en-US" sz="1350" dirty="0"/>
          </a:p>
        </p:txBody>
      </p:sp>
      <p:sp>
        <p:nvSpPr>
          <p:cNvPr id="14" name="Source note"/>
          <p:cNvSpPr txBox="1"/>
          <p:nvPr/>
        </p:nvSpPr>
        <p:spPr>
          <a:xfrm>
            <a:off x="548640" y="5806440"/>
            <a:ext cx="11064240" cy="320040"/>
          </a:xfrm>
          <a:prstGeom prst="rect">
            <a:avLst/>
          </a:prstGeom>
          <a:noFill/>
          <a:ln/>
        </p:spPr>
        <p:txBody>
          <a:bodyPr wrap="square" lIns="0" tIns="0" rIns="0" bIns="0" rtlCol="0" anchor="t"/>
          <a:lstStyle/>
          <a:p>
            <a:pPr marL="0" indent="0">
              <a:buNone/>
            </a:pPr>
            <a:r>
              <a:rPr lang="en-US" sz="1100" i="1" dirty="0">
                <a:solidFill>
                  <a:srgbClr val="64748B"/>
                </a:solidFill>
              </a:rPr>
              <a:t>Elements per OPM’s Guide to Data Standards; confirm against the current edition and how Core HCM exposes them.</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5" name="Narration">
            <a:hlinkClick r:id="" action="ppaction://media"/>
            <a:extLst>
              <a:ext uri="{FF2B5EF4-FFF2-40B4-BE49-F238E27FC236}">
                <a16:creationId xmlns:a16="http://schemas.microsoft.com/office/drawing/2014/main" id="{8FBA68C8-D020-0004-374C-3F19FD81E73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7540"/>
    </mc:Choice>
    <mc:Fallback>
      <p:transition spd="slow" advTm="77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653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Personnel actions drive the lifecycle — by code, not by ticket</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3566160"/>
        </p:xfrm>
        <a:graphic>
          <a:graphicData uri="http://schemas.openxmlformats.org/drawingml/2006/table">
            <a:tbl>
              <a:tblPr/>
              <a:tblGrid>
                <a:gridCol w="2743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4846320">
                  <a:extLst>
                    <a:ext uri="{9D8B030D-6E8A-4147-A177-3AD203B41FA5}">
                      <a16:colId xmlns:a16="http://schemas.microsoft.com/office/drawing/2014/main" val="20003"/>
                    </a:ext>
                  </a:extLst>
                </a:gridCol>
              </a:tblGrid>
              <a:tr h="509451">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Action family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NOA codes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Lifecycle event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Identity action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Accessions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100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0F766E"/>
                          </a:solidFill>
                          <a:latin typeface="Calibri" pitchFamily="34" charset="0"/>
                          <a:ea typeface="Calibri" pitchFamily="34" charset="-122"/>
                          <a:cs typeface="Calibri" pitchFamily="34" charset="-120"/>
                        </a:rPr>
                        <a:t>Joiner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Account before day one; baseline access derived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Position changes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700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0F766E"/>
                          </a:solidFill>
                          <a:latin typeface="Calibri" pitchFamily="34" charset="0"/>
                          <a:ea typeface="Calibri" pitchFamily="34" charset="-122"/>
                          <a:cs typeface="Calibri" pitchFamily="34" charset="-120"/>
                        </a:rPr>
                        <a:t>Mover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Re-derive access; review what remains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Conversions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500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0F766E"/>
                          </a:solidFill>
                          <a:latin typeface="Calibri" pitchFamily="34" charset="0"/>
                          <a:ea typeface="Calibri" pitchFamily="34" charset="-122"/>
                          <a:cs typeface="Calibri" pitchFamily="34" charset="-120"/>
                        </a:rPr>
                        <a:t>Conversion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Same person and key; access re-derived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Nonpay / nonduty status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400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B45309"/>
                          </a:solidFill>
                          <a:latin typeface="Calibri" pitchFamily="34" charset="0"/>
                          <a:ea typeface="Calibri" pitchFamily="34" charset="-122"/>
                          <a:cs typeface="Calibri" pitchFamily="34" charset="-120"/>
                        </a:rPr>
                        <a:t>Not a leaver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Account kept; restricted by policy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Return to duty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200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0F766E"/>
                          </a:solidFill>
                          <a:latin typeface="Calibri" pitchFamily="34" charset="0"/>
                          <a:ea typeface="Calibri" pitchFamily="34" charset="-122"/>
                          <a:cs typeface="Calibri" pitchFamily="34" charset="-120"/>
                        </a:rPr>
                        <a:t>Reinstate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Restrictions lifted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Separations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300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B91C1C"/>
                          </a:solidFill>
                          <a:latin typeface="Calibri" pitchFamily="34" charset="0"/>
                          <a:ea typeface="Calibri" pitchFamily="34" charset="-122"/>
                          <a:cs typeface="Calibri" pitchFamily="34" charset="-120"/>
                        </a:rPr>
                        <a:t>Leaver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Block first, then revoke and reconcile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NOA rule 1"/>
          <p:cNvSpPr/>
          <p:nvPr/>
        </p:nvSpPr>
        <p:spPr>
          <a:xfrm>
            <a:off x="548640" y="5166360"/>
            <a:ext cx="3611880" cy="960120"/>
          </a:xfrm>
          <a:prstGeom prst="roundRect">
            <a:avLst>
              <a:gd name="adj" fmla="val 761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5" name="Icon FaUserClock"/>
          <p:cNvSpPr/>
          <p:nvPr/>
        </p:nvSpPr>
        <p:spPr>
          <a:xfrm>
            <a:off x="713232" y="5376672"/>
            <a:ext cx="548640" cy="548640"/>
          </a:xfrm>
          <a:prstGeom prst="ellipse">
            <a:avLst/>
          </a:prstGeom>
          <a:solidFill>
            <a:srgbClr val="B45309"/>
          </a:solidFill>
          <a:ln w="12700">
            <a:solidFill>
              <a:srgbClr val="B45309"/>
            </a:solidFill>
            <a:prstDash val="solid"/>
          </a:ln>
        </p:spPr>
      </p:sp>
      <p:pic>
        <p:nvPicPr>
          <p:cNvPr id="6" name="Image 0" descr="C:\Users\whale\AppData\Local\Temp\claude\C--Users-whale-git-uiao-inbox\cbd5b766-acc0-4006-9202-a9bb6b23e97b\scratchpad\deck\icons\FaUserClock.png"/>
          <p:cNvPicPr>
            <a:picLocks noChangeAspect="1"/>
          </p:cNvPicPr>
          <p:nvPr/>
        </p:nvPicPr>
        <p:blipFill>
          <a:blip r:embed="rId5"/>
          <a:stretch>
            <a:fillRect/>
          </a:stretch>
        </p:blipFill>
        <p:spPr>
          <a:xfrm>
            <a:off x="844906" y="5508346"/>
            <a:ext cx="285293" cy="285293"/>
          </a:xfrm>
          <a:prstGeom prst="rect">
            <a:avLst/>
          </a:prstGeom>
        </p:spPr>
      </p:pic>
      <p:sp>
        <p:nvSpPr>
          <p:cNvPr id="7" name="NOA rule 1 text"/>
          <p:cNvSpPr txBox="1"/>
          <p:nvPr/>
        </p:nvSpPr>
        <p:spPr>
          <a:xfrm>
            <a:off x="1417320" y="5212080"/>
            <a:ext cx="2651760" cy="868680"/>
          </a:xfrm>
          <a:prstGeom prst="rect">
            <a:avLst/>
          </a:prstGeom>
          <a:noFill/>
          <a:ln/>
        </p:spPr>
        <p:txBody>
          <a:bodyPr wrap="square" lIns="0" tIns="0" rIns="0" bIns="0" rtlCol="0" anchor="ctr"/>
          <a:lstStyle/>
          <a:p>
            <a:pPr marL="0" indent="0">
              <a:buNone/>
            </a:pPr>
            <a:r>
              <a:rPr lang="en-US" sz="1400" b="1" dirty="0">
                <a:solidFill>
                  <a:srgbClr val="1F2A44"/>
                </a:solidFill>
              </a:rPr>
              <a:t>Leave is not a leaver. </a:t>
            </a:r>
            <a:r>
              <a:rPr lang="en-US" sz="1400" dirty="0">
                <a:solidFill>
                  <a:schemeClr val="tx2"/>
                </a:solidFill>
              </a:rPr>
              <a:t>Furlough, LWOP and suspension keep the person; policy restricts the account.</a:t>
            </a:r>
            <a:endParaRPr lang="en-US" sz="1400" dirty="0"/>
          </a:p>
        </p:txBody>
      </p:sp>
      <p:sp>
        <p:nvSpPr>
          <p:cNvPr id="3" name="NOA rule 2"/>
          <p:cNvSpPr/>
          <p:nvPr/>
        </p:nvSpPr>
        <p:spPr>
          <a:xfrm>
            <a:off x="4297680" y="5166360"/>
            <a:ext cx="3611880" cy="960120"/>
          </a:xfrm>
          <a:prstGeom prst="roundRect">
            <a:avLst>
              <a:gd name="adj" fmla="val 761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9" name="Icon FaArrowDownWideShort"/>
          <p:cNvSpPr/>
          <p:nvPr/>
        </p:nvSpPr>
        <p:spPr>
          <a:xfrm>
            <a:off x="4462272" y="5376672"/>
            <a:ext cx="548640" cy="548640"/>
          </a:xfrm>
          <a:prstGeom prst="ellipse">
            <a:avLst/>
          </a:prstGeom>
          <a:solidFill>
            <a:srgbClr val="1F2A44"/>
          </a:solidFill>
          <a:ln w="12700">
            <a:solidFill>
              <a:srgbClr val="1F2A44"/>
            </a:solidFill>
            <a:prstDash val="solid"/>
          </a:ln>
        </p:spPr>
      </p:sp>
      <p:pic>
        <p:nvPicPr>
          <p:cNvPr id="10" name="Image 1" descr="C:\Users\whale\AppData\Local\Temp\claude\C--Users-whale-git-uiao-inbox\cbd5b766-acc0-4006-9202-a9bb6b23e97b\scratchpad\deck\icons\FaArrowDownWideShort.png"/>
          <p:cNvPicPr>
            <a:picLocks noChangeAspect="1"/>
          </p:cNvPicPr>
          <p:nvPr/>
        </p:nvPicPr>
        <p:blipFill>
          <a:blip r:embed="rId6"/>
          <a:stretch>
            <a:fillRect/>
          </a:stretch>
        </p:blipFill>
        <p:spPr>
          <a:xfrm>
            <a:off x="4593946" y="5508346"/>
            <a:ext cx="285293" cy="285293"/>
          </a:xfrm>
          <a:prstGeom prst="rect">
            <a:avLst/>
          </a:prstGeom>
        </p:spPr>
      </p:pic>
      <p:sp>
        <p:nvSpPr>
          <p:cNvPr id="11" name="NOA rule 2 text"/>
          <p:cNvSpPr txBox="1"/>
          <p:nvPr/>
        </p:nvSpPr>
        <p:spPr>
          <a:xfrm>
            <a:off x="5166360" y="5212080"/>
            <a:ext cx="2651760" cy="868680"/>
          </a:xfrm>
          <a:prstGeom prst="rect">
            <a:avLst/>
          </a:prstGeom>
          <a:noFill/>
          <a:ln/>
        </p:spPr>
        <p:txBody>
          <a:bodyPr wrap="square" lIns="0" tIns="0" rIns="0" bIns="0" rtlCol="0" anchor="ctr"/>
          <a:lstStyle/>
          <a:p>
            <a:pPr marL="0" indent="0">
              <a:buNone/>
            </a:pPr>
            <a:r>
              <a:rPr lang="en-US" sz="1400" b="1" dirty="0">
                <a:solidFill>
                  <a:srgbClr val="1F2A44"/>
                </a:solidFill>
              </a:rPr>
              <a:t>Precedence is a rule. </a:t>
            </a:r>
            <a:r>
              <a:rPr lang="en-US" sz="1400" dirty="0">
                <a:solidFill>
                  <a:schemeClr val="tx2"/>
                </a:solidFill>
              </a:rPr>
              <a:t>A separation wins; a conversion is applied before a mover.</a:t>
            </a:r>
            <a:endParaRPr lang="en-US" sz="1400" dirty="0"/>
          </a:p>
        </p:txBody>
      </p:sp>
      <p:sp>
        <p:nvSpPr>
          <p:cNvPr id="12" name="NOA rule 3"/>
          <p:cNvSpPr/>
          <p:nvPr/>
        </p:nvSpPr>
        <p:spPr>
          <a:xfrm>
            <a:off x="8046720" y="5166360"/>
            <a:ext cx="3611880" cy="960120"/>
          </a:xfrm>
          <a:prstGeom prst="roundRect">
            <a:avLst>
              <a:gd name="adj" fmla="val 761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3" name="Icon FaUserXmark"/>
          <p:cNvSpPr/>
          <p:nvPr/>
        </p:nvSpPr>
        <p:spPr>
          <a:xfrm>
            <a:off x="8211312" y="5376672"/>
            <a:ext cx="548640" cy="548640"/>
          </a:xfrm>
          <a:prstGeom prst="ellipse">
            <a:avLst/>
          </a:prstGeom>
          <a:solidFill>
            <a:srgbClr val="B91C1C"/>
          </a:solidFill>
          <a:ln w="12700">
            <a:solidFill>
              <a:srgbClr val="B91C1C"/>
            </a:solidFill>
            <a:prstDash val="solid"/>
          </a:ln>
        </p:spPr>
      </p:sp>
      <p:pic>
        <p:nvPicPr>
          <p:cNvPr id="14" name="Image 2" descr="C:\Users\whale\AppData\Local\Temp\claude\C--Users-whale-git-uiao-inbox\cbd5b766-acc0-4006-9202-a9bb6b23e97b\scratchpad\deck\icons\FaUserXmark.png"/>
          <p:cNvPicPr>
            <a:picLocks noChangeAspect="1"/>
          </p:cNvPicPr>
          <p:nvPr/>
        </p:nvPicPr>
        <p:blipFill>
          <a:blip r:embed="rId7"/>
          <a:stretch>
            <a:fillRect/>
          </a:stretch>
        </p:blipFill>
        <p:spPr>
          <a:xfrm>
            <a:off x="8342986" y="5508346"/>
            <a:ext cx="285293" cy="285293"/>
          </a:xfrm>
          <a:prstGeom prst="rect">
            <a:avLst/>
          </a:prstGeom>
        </p:spPr>
      </p:pic>
      <p:sp>
        <p:nvSpPr>
          <p:cNvPr id="15" name="NOA rule 3 text"/>
          <p:cNvSpPr txBox="1"/>
          <p:nvPr/>
        </p:nvSpPr>
        <p:spPr>
          <a:xfrm>
            <a:off x="8915400" y="5212080"/>
            <a:ext cx="2651760" cy="868680"/>
          </a:xfrm>
          <a:prstGeom prst="rect">
            <a:avLst/>
          </a:prstGeom>
          <a:noFill/>
          <a:ln/>
        </p:spPr>
        <p:txBody>
          <a:bodyPr wrap="square" lIns="0" tIns="0" rIns="0" bIns="0" rtlCol="0" anchor="ctr"/>
          <a:lstStyle/>
          <a:p>
            <a:pPr marL="0" indent="0">
              <a:buNone/>
            </a:pPr>
            <a:r>
              <a:rPr lang="en-US" sz="1400" b="1" dirty="0">
                <a:solidFill>
                  <a:srgbClr val="1F2A44"/>
                </a:solidFill>
              </a:rPr>
              <a:t>Rescinded offers clean up </a:t>
            </a:r>
            <a:r>
              <a:rPr lang="en-US" sz="1400" dirty="0">
                <a:solidFill>
                  <a:schemeClr val="tx2"/>
                </a:solidFill>
              </a:rPr>
              <a:t>the account created before day one.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a:hlinkClick r:id="" action="ppaction://media"/>
            <a:extLst>
              <a:ext uri="{FF2B5EF4-FFF2-40B4-BE49-F238E27FC236}">
                <a16:creationId xmlns:a16="http://schemas.microsoft.com/office/drawing/2014/main" id="{501A4419-C1D3-E54B-86CC-0165C5DC568E}"/>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650"/>
    </mc:Choice>
    <mc:Fallback>
      <p:transition spd="slow" advTm="52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64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Model the person, not the account: layered identifiers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a:tblGrid>
                <a:gridCol w="19659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59436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Key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Identifies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Assigned by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Changes when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94360">
                <a:tc>
                  <a:txBody>
                    <a:bodyPr/>
                    <a:lstStyle/>
                    <a:p>
                      <a:pPr marL="0" indent="0">
                        <a:buNone/>
                      </a:pPr>
                      <a:r>
                        <a:rPr lang="en-US" sz="1300" b="1" dirty="0">
                          <a:solidFill>
                            <a:srgbClr val="B45309"/>
                          </a:solidFill>
                          <a:latin typeface="Calibri" pitchFamily="34" charset="0"/>
                          <a:ea typeface="Calibri" pitchFamily="34" charset="-122"/>
                          <a:cs typeface="Calibri" pitchFamily="34" charset="-120"/>
                        </a:rPr>
                        <a:t>Enterprise person key (Mainframe PIN)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person, across every affiliation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SSA — the existing Mainframe PIN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Never, once assigned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Source person key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person in one HR source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Core HCM (or the contractor source)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source system changes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Affiliation key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employment, contract or appointment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HR system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new affiliation begins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Directory object ID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account in one directory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Entra ID or AD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account is recreated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Credential identifiers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authenticator (PIV, certificate)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Card management or CA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credential is reissued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EDA card"/>
          <p:cNvSpPr/>
          <p:nvPr/>
        </p:nvSpPr>
        <p:spPr>
          <a:xfrm>
            <a:off x="9144000" y="1371600"/>
            <a:ext cx="2514600" cy="356616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5" name="Icon FaSitemap"/>
          <p:cNvSpPr/>
          <p:nvPr/>
        </p:nvSpPr>
        <p:spPr>
          <a:xfrm>
            <a:off x="9326880" y="1536192"/>
            <a:ext cx="457200" cy="45720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Sitemap.png"/>
          <p:cNvPicPr>
            <a:picLocks noChangeAspect="1"/>
          </p:cNvPicPr>
          <p:nvPr/>
        </p:nvPicPr>
        <p:blipFill>
          <a:blip r:embed="rId5"/>
          <a:stretch>
            <a:fillRect/>
          </a:stretch>
        </p:blipFill>
        <p:spPr>
          <a:xfrm>
            <a:off x="9436608" y="1645920"/>
            <a:ext cx="237744" cy="237744"/>
          </a:xfrm>
          <a:prstGeom prst="rect">
            <a:avLst/>
          </a:prstGeom>
        </p:spPr>
      </p:pic>
      <p:sp>
        <p:nvSpPr>
          <p:cNvPr id="7" name="EDA heading"/>
          <p:cNvSpPr txBox="1"/>
          <p:nvPr/>
        </p:nvSpPr>
        <p:spPr>
          <a:xfrm>
            <a:off x="9875520" y="1536192"/>
            <a:ext cx="1737360" cy="45720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Why it matters</a:t>
            </a:r>
            <a:endParaRPr lang="en-US" sz="1700" dirty="0"/>
          </a:p>
        </p:txBody>
      </p:sp>
      <p:sp>
        <p:nvSpPr>
          <p:cNvPr id="8" name="EDA list"/>
          <p:cNvSpPr txBox="1"/>
          <p:nvPr/>
        </p:nvSpPr>
        <p:spPr>
          <a:xfrm>
            <a:off x="9326880" y="2148840"/>
            <a:ext cx="2194560" cy="2697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Entity modeling: the person is the tracked entity</a:t>
            </a:r>
            <a:endParaRPr lang="en-US" sz="1350" dirty="0"/>
          </a:p>
          <a:p>
            <a:pPr marL="342900" indent="-342900">
              <a:spcAft>
                <a:spcPts val="600"/>
              </a:spcAft>
              <a:buSzPct val="100000"/>
              <a:buChar char="•"/>
            </a:pPr>
            <a:r>
              <a:rPr lang="en-US" sz="1350" dirty="0">
                <a:solidFill>
                  <a:schemeClr val="tx2"/>
                </a:solidFill>
              </a:rPr>
              <a:t>Survives rehire, conversion and reorganization</a:t>
            </a:r>
            <a:endParaRPr lang="en-US" sz="1350" dirty="0"/>
          </a:p>
          <a:p>
            <a:pPr marL="342900" indent="-342900">
              <a:spcAft>
                <a:spcPts val="600"/>
              </a:spcAft>
              <a:buSzPct val="100000"/>
              <a:buChar char="•"/>
            </a:pPr>
            <a:r>
              <a:rPr lang="en-US" sz="1350" dirty="0">
                <a:solidFill>
                  <a:schemeClr val="tx2"/>
                </a:solidFill>
              </a:rPr>
              <a:t>The Core HCM cutover changes only the source key</a:t>
            </a:r>
            <a:endParaRPr lang="en-US" sz="1350" dirty="0"/>
          </a:p>
          <a:p>
            <a:pPr marL="342900" indent="-342900">
              <a:spcAft>
                <a:spcPts val="600"/>
              </a:spcAft>
              <a:buSzPct val="100000"/>
              <a:buChar char="•"/>
            </a:pPr>
            <a:r>
              <a:rPr lang="en-US" sz="1350" dirty="0">
                <a:solidFill>
                  <a:schemeClr val="tx2"/>
                </a:solidFill>
              </a:rPr>
              <a:t>No SSN as a join key</a:t>
            </a:r>
            <a:endParaRPr lang="en-US" sz="1350" dirty="0"/>
          </a:p>
        </p:txBody>
      </p:sp>
      <p:sp>
        <p:nvSpPr>
          <p:cNvPr id="3" name="Decision"/>
          <p:cNvSpPr/>
          <p:nvPr/>
        </p:nvSpPr>
        <p:spPr>
          <a:xfrm>
            <a:off x="548640" y="5166360"/>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Decision text"/>
          <p:cNvSpPr txBox="1"/>
          <p:nvPr/>
        </p:nvSpPr>
        <p:spPr>
          <a:xfrm>
            <a:off x="868680" y="5212080"/>
            <a:ext cx="10515600" cy="777240"/>
          </a:xfrm>
          <a:prstGeom prst="rect">
            <a:avLst/>
          </a:prstGeom>
          <a:noFill/>
          <a:ln/>
        </p:spPr>
        <p:txBody>
          <a:bodyPr wrap="square" lIns="0" tIns="0" rIns="0" bIns="0" rtlCol="0" anchor="ctr"/>
          <a:lstStyle/>
          <a:p>
            <a:pPr marL="0" indent="0">
              <a:buNone/>
            </a:pPr>
            <a:r>
              <a:rPr lang="en-US" sz="1700" b="1" dirty="0">
                <a:solidFill>
                  <a:srgbClr val="B45309"/>
                </a:solidFill>
              </a:rPr>
              <a:t>SSA already has the key: </a:t>
            </a:r>
            <a:r>
              <a:rPr lang="en-US" sz="1700" dirty="0">
                <a:solidFill>
                  <a:schemeClr val="tx2"/>
                </a:solidFill>
              </a:rPr>
              <a:t>the Mainframe PIN. Confirm it as the enterprise person key, and map Core HCM’s PersonNumber and every directory and credential key to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a:hlinkClick r:id="" action="ppaction://media"/>
            <a:extLst>
              <a:ext uri="{FF2B5EF4-FFF2-40B4-BE49-F238E27FC236}">
                <a16:creationId xmlns:a16="http://schemas.microsoft.com/office/drawing/2014/main" id="{6C15917B-07EF-236E-3012-DD0C3E1C1F7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260"/>
    </mc:Choice>
    <mc:Fallback>
      <p:transition spd="slow" advTm="58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726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HR → canonical model → Entra ID and AD → ICAM</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a:tblGrid>
                <a:gridCol w="20574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509451">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HR (OPM standard element)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Canonical model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Entra 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Active Directory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ICAM use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Person (Mainframe PIN)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personKey = Mainframe PIN</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Audit and SIEM joins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Agency / subelement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legalEmployer, orgCode</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companyName; extensionAttribute10</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company; extensionAttribute10</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Component scope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Duty station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locationCode, country</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officeLocation; usageLocation</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physicalDeliveryOfficeName; co</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Location 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Occupational series + pay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positionCategory</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Role-based access packages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Supervisory status; supervisor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isSupervisor; manager</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manager (+ supervisor group)</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manager (DN)</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Approvals and reviews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Nature of action + 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lifecycle event</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hire and leave dates; accountEnabled</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extensionAttribute2/3; enabled</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Joiner, mover, leaver; PIV</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Model rule 1"/>
          <p:cNvSpPr/>
          <p:nvPr/>
        </p:nvSpPr>
        <p:spPr>
          <a:xfrm>
            <a:off x="548640" y="5257800"/>
            <a:ext cx="3611880"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5" name="Icon FaCubes"/>
          <p:cNvSpPr/>
          <p:nvPr/>
        </p:nvSpPr>
        <p:spPr>
          <a:xfrm>
            <a:off x="713232" y="5440680"/>
            <a:ext cx="548640" cy="54864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Cubes.png"/>
          <p:cNvPicPr>
            <a:picLocks noChangeAspect="1"/>
          </p:cNvPicPr>
          <p:nvPr/>
        </p:nvPicPr>
        <p:blipFill>
          <a:blip r:embed="rId5"/>
          <a:stretch>
            <a:fillRect/>
          </a:stretch>
        </p:blipFill>
        <p:spPr>
          <a:xfrm>
            <a:off x="844906" y="5572354"/>
            <a:ext cx="285293" cy="285293"/>
          </a:xfrm>
          <a:prstGeom prst="rect">
            <a:avLst/>
          </a:prstGeom>
        </p:spPr>
      </p:pic>
      <p:sp>
        <p:nvSpPr>
          <p:cNvPr id="7" name="Model rule 1 text"/>
          <p:cNvSpPr txBox="1"/>
          <p:nvPr/>
        </p:nvSpPr>
        <p:spPr>
          <a:xfrm>
            <a:off x="1417320" y="5303520"/>
            <a:ext cx="2651760" cy="822960"/>
          </a:xfrm>
          <a:prstGeom prst="rect">
            <a:avLst/>
          </a:prstGeom>
          <a:noFill/>
          <a:ln/>
        </p:spPr>
        <p:txBody>
          <a:bodyPr wrap="square" lIns="0" tIns="0" rIns="0" bIns="0" rtlCol="0" anchor="t"/>
          <a:lstStyle/>
          <a:p>
            <a:pPr marL="0" indent="0">
              <a:buNone/>
            </a:pPr>
            <a:r>
              <a:rPr lang="en-US" sz="1500" b="1" dirty="0">
                <a:solidFill>
                  <a:srgbClr val="0F766E"/>
                </a:solidFill>
              </a:rPr>
              <a:t>Native attributes first</a:t>
            </a:r>
            <a:endParaRPr lang="en-US" sz="1500" dirty="0"/>
          </a:p>
          <a:p>
            <a:pPr marL="0" indent="0">
              <a:buNone/>
            </a:pPr>
            <a:r>
              <a:rPr lang="en-US" sz="1350" dirty="0">
                <a:solidFill>
                  <a:schemeClr val="tx2"/>
                </a:solidFill>
              </a:rPr>
              <a:t>Extensions only where a rule can’t read a native property.</a:t>
            </a:r>
            <a:endParaRPr lang="en-US" sz="1500" dirty="0"/>
          </a:p>
        </p:txBody>
      </p:sp>
      <p:sp>
        <p:nvSpPr>
          <p:cNvPr id="8" name="Model rule 2"/>
          <p:cNvSpPr/>
          <p:nvPr/>
        </p:nvSpPr>
        <p:spPr>
          <a:xfrm>
            <a:off x="4297680" y="5257800"/>
            <a:ext cx="3611880"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Icon FaHashtag"/>
          <p:cNvSpPr/>
          <p:nvPr/>
        </p:nvSpPr>
        <p:spPr>
          <a:xfrm>
            <a:off x="4462272" y="5440680"/>
            <a:ext cx="548640" cy="548640"/>
          </a:xfrm>
          <a:prstGeom prst="ellipse">
            <a:avLst/>
          </a:prstGeom>
          <a:solidFill>
            <a:srgbClr val="0F766E"/>
          </a:solidFill>
          <a:ln w="12700">
            <a:solidFill>
              <a:srgbClr val="0F766E"/>
            </a:solidFill>
            <a:prstDash val="solid"/>
          </a:ln>
        </p:spPr>
      </p:sp>
      <p:pic>
        <p:nvPicPr>
          <p:cNvPr id="3" name="Image 1" descr="C:\Users\whale\AppData\Local\Temp\claude\C--Users-whale-git-uiao-inbox\cbd5b766-acc0-4006-9202-a9bb6b23e97b\scratchpad\deck\icons\FaHashtag.png"/>
          <p:cNvPicPr>
            <a:picLocks noChangeAspect="1"/>
          </p:cNvPicPr>
          <p:nvPr/>
        </p:nvPicPr>
        <p:blipFill>
          <a:blip r:embed="rId6"/>
          <a:stretch>
            <a:fillRect/>
          </a:stretch>
        </p:blipFill>
        <p:spPr>
          <a:xfrm>
            <a:off x="4593946" y="5572354"/>
            <a:ext cx="285293" cy="285293"/>
          </a:xfrm>
          <a:prstGeom prst="rect">
            <a:avLst/>
          </a:prstGeom>
        </p:spPr>
      </p:pic>
      <p:sp>
        <p:nvSpPr>
          <p:cNvPr id="11" name="Model rule 2 text"/>
          <p:cNvSpPr txBox="1"/>
          <p:nvPr/>
        </p:nvSpPr>
        <p:spPr>
          <a:xfrm>
            <a:off x="5166360" y="5303520"/>
            <a:ext cx="2651760" cy="822960"/>
          </a:xfrm>
          <a:prstGeom prst="rect">
            <a:avLst/>
          </a:prstGeom>
          <a:noFill/>
          <a:ln/>
        </p:spPr>
        <p:txBody>
          <a:bodyPr wrap="square" lIns="0" tIns="0" rIns="0" bIns="0" rtlCol="0" anchor="t"/>
          <a:lstStyle/>
          <a:p>
            <a:pPr marL="0" indent="0">
              <a:buNone/>
            </a:pPr>
            <a:r>
              <a:rPr lang="en-US" sz="1500" b="1" dirty="0">
                <a:solidFill>
                  <a:srgbClr val="0F766E"/>
                </a:solidFill>
              </a:rPr>
              <a:t>Codes, not display strings</a:t>
            </a:r>
            <a:endParaRPr lang="en-US" sz="1500" dirty="0"/>
          </a:p>
          <a:p>
            <a:pPr marL="0" indent="0">
              <a:buNone/>
            </a:pPr>
            <a:r>
              <a:rPr lang="en-US" sz="1350" dirty="0">
                <a:solidFill>
                  <a:schemeClr val="tx2"/>
                </a:solidFill>
              </a:rPr>
              <a:t>Access rules read codes that change only when the fact does.</a:t>
            </a:r>
            <a:endParaRPr lang="en-US" sz="1500" dirty="0"/>
          </a:p>
        </p:txBody>
      </p:sp>
      <p:sp>
        <p:nvSpPr>
          <p:cNvPr id="12" name="Model rule 3"/>
          <p:cNvSpPr/>
          <p:nvPr/>
        </p:nvSpPr>
        <p:spPr>
          <a:xfrm>
            <a:off x="8046720" y="5257800"/>
            <a:ext cx="3611880"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3" name="Icon FaTableList"/>
          <p:cNvSpPr/>
          <p:nvPr/>
        </p:nvSpPr>
        <p:spPr>
          <a:xfrm>
            <a:off x="8211312" y="5440680"/>
            <a:ext cx="548640" cy="548640"/>
          </a:xfrm>
          <a:prstGeom prst="ellipse">
            <a:avLst/>
          </a:prstGeom>
          <a:solidFill>
            <a:srgbClr val="0F766E"/>
          </a:solidFill>
          <a:ln w="12700">
            <a:solidFill>
              <a:srgbClr val="0F766E"/>
            </a:solidFill>
            <a:prstDash val="solid"/>
          </a:ln>
        </p:spPr>
      </p:sp>
      <p:pic>
        <p:nvPicPr>
          <p:cNvPr id="14" name="Image 2" descr="C:\Users\whale\AppData\Local\Temp\claude\C--Users-whale-git-uiao-inbox\cbd5b766-acc0-4006-9202-a9bb6b23e97b\scratchpad\deck\icons\FaTableList.png"/>
          <p:cNvPicPr>
            <a:picLocks noChangeAspect="1"/>
          </p:cNvPicPr>
          <p:nvPr/>
        </p:nvPicPr>
        <p:blipFill>
          <a:blip r:embed="rId7"/>
          <a:stretch>
            <a:fillRect/>
          </a:stretch>
        </p:blipFill>
        <p:spPr>
          <a:xfrm>
            <a:off x="8342986" y="5572354"/>
            <a:ext cx="285293" cy="285293"/>
          </a:xfrm>
          <a:prstGeom prst="rect">
            <a:avLst/>
          </a:prstGeom>
        </p:spPr>
      </p:pic>
      <p:sp>
        <p:nvSpPr>
          <p:cNvPr id="15" name="Model rule 3 text"/>
          <p:cNvSpPr txBox="1"/>
          <p:nvPr/>
        </p:nvSpPr>
        <p:spPr>
          <a:xfrm>
            <a:off x="8915400" y="5303520"/>
            <a:ext cx="2651760" cy="822960"/>
          </a:xfrm>
          <a:prstGeom prst="rect">
            <a:avLst/>
          </a:prstGeom>
          <a:noFill/>
          <a:ln/>
        </p:spPr>
        <p:txBody>
          <a:bodyPr wrap="square" lIns="0" tIns="0" rIns="0" bIns="0" rtlCol="0" anchor="t"/>
          <a:lstStyle/>
          <a:p>
            <a:pPr marL="0" indent="0">
              <a:buNone/>
            </a:pPr>
            <a:r>
              <a:rPr lang="en-US" sz="1500" b="1" dirty="0">
                <a:solidFill>
                  <a:srgbClr val="0F766E"/>
                </a:solidFill>
              </a:rPr>
              <a:t>One crosswalk, governed</a:t>
            </a:r>
            <a:endParaRPr lang="en-US" sz="1500" dirty="0"/>
          </a:p>
          <a:p>
            <a:pPr marL="0" indent="0">
              <a:buNone/>
            </a:pPr>
            <a:r>
              <a:rPr lang="en-US" sz="1350" dirty="0">
                <a:solidFill>
                  <a:schemeClr val="tx2"/>
                </a:solidFill>
              </a:rPr>
              <a:t>Versioned, change-controlled, and the only place mappings live.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6" name="Narration">
            <a:hlinkClick r:id="" action="ppaction://media"/>
            <a:extLst>
              <a:ext uri="{FF2B5EF4-FFF2-40B4-BE49-F238E27FC236}">
                <a16:creationId xmlns:a16="http://schemas.microsoft.com/office/drawing/2014/main" id="{B7402A7D-44ED-C371-708D-433A55B754BB}"/>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940"/>
    </mc:Choice>
    <mc:Fallback>
      <p:transition spd="slow" advTm="46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93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Logical architecture and Microsoft realization</a:t>
            </a:r>
            <a:endParaRPr lang="en-US" sz="3000" dirty="0"/>
          </a:p>
        </p:txBody>
      </p:sp>
      <p:sp>
        <p:nvSpPr>
          <p:cNvPr id="3" name="Row label 1"/>
          <p:cNvSpPr txBox="1"/>
          <p:nvPr/>
        </p:nvSpPr>
        <p:spPr>
          <a:xfrm>
            <a:off x="548640" y="1307592"/>
            <a:ext cx="7315200" cy="320040"/>
          </a:xfrm>
          <a:prstGeom prst="rect">
            <a:avLst/>
          </a:prstGeom>
          <a:noFill/>
          <a:ln/>
        </p:spPr>
        <p:txBody>
          <a:bodyPr wrap="square" lIns="0" tIns="0" rIns="0" bIns="0" rtlCol="0" anchor="t"/>
          <a:lstStyle/>
          <a:p>
            <a:pPr marL="0" indent="0">
              <a:buNone/>
            </a:pPr>
            <a:r>
              <a:rPr lang="en-US" sz="1400" b="1" dirty="0">
                <a:solidFill>
                  <a:srgbClr val="1F2A44"/>
                </a:solidFill>
              </a:rPr>
              <a:t>Logical architecture — stable</a:t>
            </a:r>
            <a:endParaRPr lang="en-US" sz="1400" dirty="0"/>
          </a:p>
        </p:txBody>
      </p:sp>
      <p:sp>
        <p:nvSpPr>
          <p:cNvPr id="4" name="LM 1.1"/>
          <p:cNvSpPr/>
          <p:nvPr/>
        </p:nvSpPr>
        <p:spPr>
          <a:xfrm>
            <a:off x="54864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5" name="LM 1.1 text"/>
          <p:cNvSpPr txBox="1"/>
          <p:nvPr/>
        </p:nvSpPr>
        <p:spPr>
          <a:xfrm>
            <a:off x="64008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Authoritative source</a:t>
            </a:r>
            <a:endParaRPr lang="en-US" sz="1350" dirty="0"/>
          </a:p>
        </p:txBody>
      </p:sp>
      <p:sp>
        <p:nvSpPr>
          <p:cNvPr id="6" name="Shape 4"/>
          <p:cNvSpPr/>
          <p:nvPr/>
        </p:nvSpPr>
        <p:spPr>
          <a:xfrm>
            <a:off x="2606040" y="2148840"/>
            <a:ext cx="205740" cy="0"/>
          </a:xfrm>
          <a:prstGeom prst="line">
            <a:avLst/>
          </a:prstGeom>
          <a:noFill/>
          <a:ln w="22225">
            <a:solidFill>
              <a:srgbClr val="1F2A44"/>
            </a:solidFill>
            <a:prstDash val="solid"/>
            <a:tailEnd type="triangle"/>
          </a:ln>
        </p:spPr>
      </p:sp>
      <p:sp>
        <p:nvSpPr>
          <p:cNvPr id="7" name="LM 1.2"/>
          <p:cNvSpPr/>
          <p:nvPr/>
        </p:nvSpPr>
        <p:spPr>
          <a:xfrm>
            <a:off x="281178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LM 1.2 text"/>
          <p:cNvSpPr txBox="1"/>
          <p:nvPr/>
        </p:nvSpPr>
        <p:spPr>
          <a:xfrm>
            <a:off x="290322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Boundary transformation</a:t>
            </a:r>
            <a:endParaRPr lang="en-US" sz="1350" dirty="0"/>
          </a:p>
        </p:txBody>
      </p:sp>
      <p:sp>
        <p:nvSpPr>
          <p:cNvPr id="9" name="Shape 7"/>
          <p:cNvSpPr/>
          <p:nvPr/>
        </p:nvSpPr>
        <p:spPr>
          <a:xfrm>
            <a:off x="4869180" y="2148840"/>
            <a:ext cx="205740" cy="0"/>
          </a:xfrm>
          <a:prstGeom prst="line">
            <a:avLst/>
          </a:prstGeom>
          <a:noFill/>
          <a:ln w="22225">
            <a:solidFill>
              <a:srgbClr val="1F2A44"/>
            </a:solidFill>
            <a:prstDash val="solid"/>
            <a:tailEnd type="triangle"/>
          </a:ln>
        </p:spPr>
      </p:sp>
      <p:sp>
        <p:nvSpPr>
          <p:cNvPr id="10" name="LM 1.3"/>
          <p:cNvSpPr/>
          <p:nvPr/>
        </p:nvSpPr>
        <p:spPr>
          <a:xfrm>
            <a:off x="507492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LM 1.3 text"/>
          <p:cNvSpPr txBox="1"/>
          <p:nvPr/>
        </p:nvSpPr>
        <p:spPr>
          <a:xfrm>
            <a:off x="516636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Governed identity model</a:t>
            </a:r>
            <a:endParaRPr lang="en-US" sz="1350" dirty="0"/>
          </a:p>
        </p:txBody>
      </p:sp>
      <p:sp>
        <p:nvSpPr>
          <p:cNvPr id="12" name="Shape 10"/>
          <p:cNvSpPr/>
          <p:nvPr/>
        </p:nvSpPr>
        <p:spPr>
          <a:xfrm>
            <a:off x="7132320" y="2148840"/>
            <a:ext cx="205740" cy="0"/>
          </a:xfrm>
          <a:prstGeom prst="line">
            <a:avLst/>
          </a:prstGeom>
          <a:noFill/>
          <a:ln w="22225">
            <a:solidFill>
              <a:srgbClr val="1F2A44"/>
            </a:solidFill>
            <a:prstDash val="solid"/>
            <a:tailEnd type="triangle"/>
          </a:ln>
        </p:spPr>
      </p:sp>
      <p:sp>
        <p:nvSpPr>
          <p:cNvPr id="13" name="LM 1.4"/>
          <p:cNvSpPr/>
          <p:nvPr/>
        </p:nvSpPr>
        <p:spPr>
          <a:xfrm>
            <a:off x="733806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4" name="LM 1.4 text"/>
          <p:cNvSpPr txBox="1"/>
          <p:nvPr/>
        </p:nvSpPr>
        <p:spPr>
          <a:xfrm>
            <a:off x="742950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Provisioning service</a:t>
            </a:r>
            <a:endParaRPr lang="en-US" sz="1350" dirty="0"/>
          </a:p>
        </p:txBody>
      </p:sp>
      <p:sp>
        <p:nvSpPr>
          <p:cNvPr id="15" name="Shape 13"/>
          <p:cNvSpPr/>
          <p:nvPr/>
        </p:nvSpPr>
        <p:spPr>
          <a:xfrm>
            <a:off x="9395460" y="2148840"/>
            <a:ext cx="205740" cy="0"/>
          </a:xfrm>
          <a:prstGeom prst="line">
            <a:avLst/>
          </a:prstGeom>
          <a:noFill/>
          <a:ln w="22225">
            <a:solidFill>
              <a:srgbClr val="1F2A44"/>
            </a:solidFill>
            <a:prstDash val="solid"/>
            <a:tailEnd type="triangle"/>
          </a:ln>
        </p:spPr>
      </p:sp>
      <p:sp>
        <p:nvSpPr>
          <p:cNvPr id="16" name="LM 1.5"/>
          <p:cNvSpPr/>
          <p:nvPr/>
        </p:nvSpPr>
        <p:spPr>
          <a:xfrm>
            <a:off x="960120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7" name="LM 1.5 text"/>
          <p:cNvSpPr txBox="1"/>
          <p:nvPr/>
        </p:nvSpPr>
        <p:spPr>
          <a:xfrm>
            <a:off x="969264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Targets and ICAM</a:t>
            </a:r>
            <a:endParaRPr lang="en-US" sz="1350" dirty="0"/>
          </a:p>
        </p:txBody>
      </p:sp>
      <p:sp>
        <p:nvSpPr>
          <p:cNvPr id="18" name="Row label 2"/>
          <p:cNvSpPr txBox="1"/>
          <p:nvPr/>
        </p:nvSpPr>
        <p:spPr>
          <a:xfrm>
            <a:off x="548640" y="2724912"/>
            <a:ext cx="7315200" cy="320040"/>
          </a:xfrm>
          <a:prstGeom prst="rect">
            <a:avLst/>
          </a:prstGeom>
          <a:noFill/>
          <a:ln/>
        </p:spPr>
        <p:txBody>
          <a:bodyPr wrap="square" lIns="0" tIns="0" rIns="0" bIns="0" rtlCol="0" anchor="t"/>
          <a:lstStyle/>
          <a:p>
            <a:pPr marL="0" indent="0">
              <a:buNone/>
            </a:pPr>
            <a:r>
              <a:rPr lang="en-US" sz="1400" b="1" dirty="0">
                <a:solidFill>
                  <a:srgbClr val="0F766E"/>
                </a:solidFill>
              </a:rPr>
              <a:t>Microsoft realization — replaceable</a:t>
            </a:r>
            <a:endParaRPr lang="en-US" sz="1400" dirty="0"/>
          </a:p>
        </p:txBody>
      </p:sp>
      <p:sp>
        <p:nvSpPr>
          <p:cNvPr id="19" name="LM 2.1"/>
          <p:cNvSpPr/>
          <p:nvPr/>
        </p:nvSpPr>
        <p:spPr>
          <a:xfrm>
            <a:off x="54864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0" name="LM 2.1 text"/>
          <p:cNvSpPr txBox="1"/>
          <p:nvPr/>
        </p:nvSpPr>
        <p:spPr>
          <a:xfrm>
            <a:off x="64008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Oracle Core HCM</a:t>
            </a:r>
            <a:endParaRPr lang="en-US" sz="1350" dirty="0"/>
          </a:p>
        </p:txBody>
      </p:sp>
      <p:sp>
        <p:nvSpPr>
          <p:cNvPr id="21" name="Shape 19"/>
          <p:cNvSpPr/>
          <p:nvPr/>
        </p:nvSpPr>
        <p:spPr>
          <a:xfrm>
            <a:off x="2606040" y="3566160"/>
            <a:ext cx="205740" cy="0"/>
          </a:xfrm>
          <a:prstGeom prst="line">
            <a:avLst/>
          </a:prstGeom>
          <a:noFill/>
          <a:ln w="22225">
            <a:solidFill>
              <a:srgbClr val="0F766E"/>
            </a:solidFill>
            <a:prstDash val="solid"/>
            <a:tailEnd type="triangle"/>
          </a:ln>
        </p:spPr>
      </p:sp>
      <p:sp>
        <p:nvSpPr>
          <p:cNvPr id="22" name="LM 2.2"/>
          <p:cNvSpPr/>
          <p:nvPr/>
        </p:nvSpPr>
        <p:spPr>
          <a:xfrm>
            <a:off x="281178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3" name="LM 2.2 text"/>
          <p:cNvSpPr txBox="1"/>
          <p:nvPr/>
        </p:nvSpPr>
        <p:spPr>
          <a:xfrm>
            <a:off x="290322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Azure Functions or Logic Apps</a:t>
            </a:r>
            <a:endParaRPr lang="en-US" sz="1350" dirty="0"/>
          </a:p>
        </p:txBody>
      </p:sp>
      <p:sp>
        <p:nvSpPr>
          <p:cNvPr id="24" name="Shape 22"/>
          <p:cNvSpPr/>
          <p:nvPr/>
        </p:nvSpPr>
        <p:spPr>
          <a:xfrm>
            <a:off x="4869180" y="3566160"/>
            <a:ext cx="205740" cy="0"/>
          </a:xfrm>
          <a:prstGeom prst="line">
            <a:avLst/>
          </a:prstGeom>
          <a:noFill/>
          <a:ln w="22225">
            <a:solidFill>
              <a:srgbClr val="0F766E"/>
            </a:solidFill>
            <a:prstDash val="solid"/>
            <a:tailEnd type="triangle"/>
          </a:ln>
        </p:spPr>
      </p:sp>
      <p:sp>
        <p:nvSpPr>
          <p:cNvPr id="25" name="LM 2.3"/>
          <p:cNvSpPr/>
          <p:nvPr/>
        </p:nvSpPr>
        <p:spPr>
          <a:xfrm>
            <a:off x="507492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6" name="LM 2.3 text"/>
          <p:cNvSpPr txBox="1"/>
          <p:nvPr/>
        </p:nvSpPr>
        <p:spPr>
          <a:xfrm>
            <a:off x="516636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Canonical model and provenance store</a:t>
            </a:r>
            <a:endParaRPr lang="en-US" sz="1350" dirty="0"/>
          </a:p>
        </p:txBody>
      </p:sp>
      <p:sp>
        <p:nvSpPr>
          <p:cNvPr id="27" name="Shape 25"/>
          <p:cNvSpPr/>
          <p:nvPr/>
        </p:nvSpPr>
        <p:spPr>
          <a:xfrm>
            <a:off x="7132320" y="3566160"/>
            <a:ext cx="205740" cy="0"/>
          </a:xfrm>
          <a:prstGeom prst="line">
            <a:avLst/>
          </a:prstGeom>
          <a:noFill/>
          <a:ln w="22225">
            <a:solidFill>
              <a:srgbClr val="0F766E"/>
            </a:solidFill>
            <a:prstDash val="solid"/>
            <a:tailEnd type="triangle"/>
          </a:ln>
        </p:spPr>
      </p:sp>
      <p:sp>
        <p:nvSpPr>
          <p:cNvPr id="28" name="LM 2.4"/>
          <p:cNvSpPr/>
          <p:nvPr/>
        </p:nvSpPr>
        <p:spPr>
          <a:xfrm>
            <a:off x="733806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9" name="LM 2.4 text"/>
          <p:cNvSpPr txBox="1"/>
          <p:nvPr/>
        </p:nvSpPr>
        <p:spPr>
          <a:xfrm>
            <a:off x="742950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Graph /bulkUpload; Entra provisioning</a:t>
            </a:r>
            <a:endParaRPr lang="en-US" sz="1350" dirty="0"/>
          </a:p>
        </p:txBody>
      </p:sp>
      <p:sp>
        <p:nvSpPr>
          <p:cNvPr id="30" name="Shape 28"/>
          <p:cNvSpPr/>
          <p:nvPr/>
        </p:nvSpPr>
        <p:spPr>
          <a:xfrm>
            <a:off x="9395460" y="3566160"/>
            <a:ext cx="205740" cy="0"/>
          </a:xfrm>
          <a:prstGeom prst="line">
            <a:avLst/>
          </a:prstGeom>
          <a:noFill/>
          <a:ln w="22225">
            <a:solidFill>
              <a:srgbClr val="0F766E"/>
            </a:solidFill>
            <a:prstDash val="solid"/>
            <a:tailEnd type="triangle"/>
          </a:ln>
        </p:spPr>
      </p:sp>
      <p:sp>
        <p:nvSpPr>
          <p:cNvPr id="31" name="LM 2.5"/>
          <p:cNvSpPr/>
          <p:nvPr/>
        </p:nvSpPr>
        <p:spPr>
          <a:xfrm>
            <a:off x="960120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32" name="LM 2.5 text"/>
          <p:cNvSpPr txBox="1"/>
          <p:nvPr/>
        </p:nvSpPr>
        <p:spPr>
          <a:xfrm>
            <a:off x="969264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Entra ID, AD, Intune, card management</a:t>
            </a:r>
            <a:endParaRPr lang="en-US" sz="13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9144000" cy="1463040"/>
        </p:xfrm>
        <a:graphic>
          <a:graphicData uri="http://schemas.openxmlformats.org/drawingml/2006/table">
            <a:tbl>
              <a:tblPr/>
              <a:tblGrid>
                <a:gridCol w="21031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487680">
                <a:tc>
                  <a:txBody>
                    <a:bodyPr/>
                    <a:lstStyle/>
                    <a:p>
                      <a:pPr marL="0" indent="0">
                        <a:buNone/>
                      </a:pP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Directory migration (AD → Entra 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HR-driven identity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8768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What changes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Users’ source of authority moves from AD to Entra 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HR becomes the start of authority for both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768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Without the other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Ticket-created accounts, migrated as they are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HR feed into a directory about to change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35" name="Narration">
            <a:hlinkClick r:id="" action="ppaction://media"/>
            <a:extLst>
              <a:ext uri="{FF2B5EF4-FFF2-40B4-BE49-F238E27FC236}">
                <a16:creationId xmlns:a16="http://schemas.microsoft.com/office/drawing/2014/main" id="{2879BAD9-B842-E4E3-A0B5-04E6A1C8924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570"/>
    </mc:Choice>
    <mc:Fallback>
      <p:transition spd="slow" advTm="48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568"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ICAM: attributes drive credentials, assurance and access</a:t>
            </a:r>
            <a:endParaRPr lang="en-US" sz="3000" dirty="0"/>
          </a:p>
        </p:txBody>
      </p:sp>
      <p:sp>
        <p:nvSpPr>
          <p:cNvPr id="3" name="Credentials card"/>
          <p:cNvSpPr/>
          <p:nvPr/>
        </p:nvSpPr>
        <p:spPr>
          <a:xfrm>
            <a:off x="548640" y="1417320"/>
            <a:ext cx="3611880" cy="3337560"/>
          </a:xfrm>
          <a:prstGeom prst="roundRect">
            <a:avLst>
              <a:gd name="adj" fmla="val 219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IdCard"/>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IdCard.png"/>
          <p:cNvPicPr>
            <a:picLocks noChangeAspect="1"/>
          </p:cNvPicPr>
          <p:nvPr/>
        </p:nvPicPr>
        <p:blipFill>
          <a:blip r:embed="rId5"/>
          <a:stretch>
            <a:fillRect/>
          </a:stretch>
        </p:blipFill>
        <p:spPr>
          <a:xfrm>
            <a:off x="908914" y="1750162"/>
            <a:ext cx="285293" cy="285293"/>
          </a:xfrm>
          <a:prstGeom prst="rect">
            <a:avLst/>
          </a:prstGeom>
        </p:spPr>
      </p:pic>
      <p:sp>
        <p:nvSpPr>
          <p:cNvPr id="6" name="Credentials heading"/>
          <p:cNvSpPr txBox="1"/>
          <p:nvPr/>
        </p:nvSpPr>
        <p:spPr>
          <a:xfrm>
            <a:off x="1463040" y="1618488"/>
            <a:ext cx="2560320" cy="548640"/>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Credentials</a:t>
            </a:r>
            <a:endParaRPr lang="en-US" sz="1800" dirty="0"/>
          </a:p>
        </p:txBody>
      </p:sp>
      <p:sp>
        <p:nvSpPr>
          <p:cNvPr id="7" name="Credentials text"/>
          <p:cNvSpPr txBox="1"/>
          <p:nvPr/>
        </p:nvSpPr>
        <p:spPr>
          <a:xfrm>
            <a:off x="77724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Joiner schedules PIV enrollment</a:t>
            </a:r>
            <a:endParaRPr lang="en-US" sz="1550" dirty="0"/>
          </a:p>
          <a:p>
            <a:pPr marL="342900" indent="-342900">
              <a:spcAft>
                <a:spcPts val="500"/>
              </a:spcAft>
              <a:buSzPct val="100000"/>
              <a:buChar char="•"/>
            </a:pPr>
            <a:r>
              <a:rPr lang="en-US" sz="1550" dirty="0">
                <a:solidFill>
                  <a:schemeClr val="tx2"/>
                </a:solidFill>
              </a:rPr>
              <a:t>Leaver: block sign-in and sessions first, then revoke PIV, derived credentials and devices in parallel</a:t>
            </a:r>
            <a:endParaRPr lang="en-US" sz="1550" dirty="0"/>
          </a:p>
          <a:p>
            <a:pPr marL="342900" indent="-342900">
              <a:spcAft>
                <a:spcPts val="500"/>
              </a:spcAft>
              <a:buSzPct val="100000"/>
              <a:buChar char="•"/>
            </a:pPr>
            <a:r>
              <a:rPr lang="en-US" sz="1550" dirty="0">
                <a:solidFill>
                  <a:schemeClr val="tx2"/>
                </a:solidFill>
              </a:rPr>
              <a:t>Every revocation reconciled to completion</a:t>
            </a:r>
            <a:endParaRPr lang="en-US" sz="1550" dirty="0"/>
          </a:p>
        </p:txBody>
      </p:sp>
      <p:sp>
        <p:nvSpPr>
          <p:cNvPr id="8" name="Assurance card"/>
          <p:cNvSpPr/>
          <p:nvPr/>
        </p:nvSpPr>
        <p:spPr>
          <a:xfrm>
            <a:off x="4297680" y="1417320"/>
            <a:ext cx="361188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Icon FaFingerprint"/>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descr="C:\Users\whale\AppData\Local\Temp\claude\C--Users-whale-git-uiao-inbox\cbd5b766-acc0-4006-9202-a9bb6b23e97b\scratchpad\deck\icons\FaFingerprint.png"/>
          <p:cNvPicPr>
            <a:picLocks noChangeAspect="1"/>
          </p:cNvPicPr>
          <p:nvPr/>
        </p:nvPicPr>
        <p:blipFill>
          <a:blip r:embed="rId6"/>
          <a:stretch>
            <a:fillRect/>
          </a:stretch>
        </p:blipFill>
        <p:spPr>
          <a:xfrm>
            <a:off x="4657954" y="1750162"/>
            <a:ext cx="285293" cy="285293"/>
          </a:xfrm>
          <a:prstGeom prst="rect">
            <a:avLst/>
          </a:prstGeom>
        </p:spPr>
      </p:pic>
      <p:sp>
        <p:nvSpPr>
          <p:cNvPr id="11" name="Assurance heading"/>
          <p:cNvSpPr txBox="1"/>
          <p:nvPr/>
        </p:nvSpPr>
        <p:spPr>
          <a:xfrm>
            <a:off x="5212080" y="1618488"/>
            <a:ext cx="2560320" cy="54864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Assurance</a:t>
            </a:r>
            <a:endParaRPr lang="en-US" sz="1800" dirty="0"/>
          </a:p>
        </p:txBody>
      </p:sp>
      <p:sp>
        <p:nvSpPr>
          <p:cNvPr id="12" name="Assurance text"/>
          <p:cNvSpPr txBox="1"/>
          <p:nvPr/>
        </p:nvSpPr>
        <p:spPr>
          <a:xfrm>
            <a:off x="452628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Record proofing (IAL) and authenticator assurance (AAL) per person</a:t>
            </a:r>
            <a:endParaRPr lang="en-US" sz="1550" dirty="0"/>
          </a:p>
          <a:p>
            <a:pPr marL="342900" indent="-342900">
              <a:spcAft>
                <a:spcPts val="500"/>
              </a:spcAft>
              <a:buSzPct val="100000"/>
              <a:buChar char="•"/>
            </a:pPr>
            <a:r>
              <a:rPr lang="en-US" sz="1550" dirty="0">
                <a:solidFill>
                  <a:schemeClr val="tx2"/>
                </a:solidFill>
              </a:rPr>
              <a:t>Missing proofing evidence is itself a finding</a:t>
            </a:r>
            <a:endParaRPr lang="en-US" sz="1550" dirty="0"/>
          </a:p>
          <a:p>
            <a:pPr marL="342900" indent="-342900">
              <a:spcAft>
                <a:spcPts val="500"/>
              </a:spcAft>
              <a:buSzPct val="100000"/>
              <a:buChar char="•"/>
            </a:pPr>
            <a:r>
              <a:rPr lang="en-US" sz="1550" dirty="0">
                <a:solidFill>
                  <a:schemeClr val="tx2"/>
                </a:solidFill>
              </a:rPr>
              <a:t>Phishing-resistant MFA per OMB M‑22‑09</a:t>
            </a:r>
            <a:endParaRPr lang="en-US" sz="1550" dirty="0"/>
          </a:p>
        </p:txBody>
      </p:sp>
      <p:sp>
        <p:nvSpPr>
          <p:cNvPr id="13" name="Access card"/>
          <p:cNvSpPr/>
          <p:nvPr/>
        </p:nvSpPr>
        <p:spPr>
          <a:xfrm>
            <a:off x="8046720" y="1417320"/>
            <a:ext cx="3611880" cy="3337560"/>
          </a:xfrm>
          <a:prstGeom prst="roundRect">
            <a:avLst>
              <a:gd name="adj" fmla="val 219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Key"/>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descr="C:\Users\whale\AppData\Local\Temp\claude\C--Users-whale-git-uiao-inbox\cbd5b766-acc0-4006-9202-a9bb6b23e97b\scratchpad\deck\icons\FaKey.png"/>
          <p:cNvPicPr>
            <a:picLocks noChangeAspect="1"/>
          </p:cNvPicPr>
          <p:nvPr/>
        </p:nvPicPr>
        <p:blipFill>
          <a:blip r:embed="rId7"/>
          <a:stretch>
            <a:fillRect/>
          </a:stretch>
        </p:blipFill>
        <p:spPr>
          <a:xfrm>
            <a:off x="8406994" y="1750162"/>
            <a:ext cx="285293" cy="285293"/>
          </a:xfrm>
          <a:prstGeom prst="rect">
            <a:avLst/>
          </a:prstGeom>
        </p:spPr>
      </p:pic>
      <p:sp>
        <p:nvSpPr>
          <p:cNvPr id="16" name="Access heading"/>
          <p:cNvSpPr txBox="1"/>
          <p:nvPr/>
        </p:nvSpPr>
        <p:spPr>
          <a:xfrm>
            <a:off x="8961120" y="1618488"/>
            <a:ext cx="2560320" cy="54864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Access</a:t>
            </a:r>
            <a:endParaRPr lang="en-US" sz="1800" dirty="0"/>
          </a:p>
        </p:txBody>
      </p:sp>
      <p:sp>
        <p:nvSpPr>
          <p:cNvPr id="17" name="Access text"/>
          <p:cNvSpPr txBox="1"/>
          <p:nvPr/>
        </p:nvSpPr>
        <p:spPr>
          <a:xfrm>
            <a:off x="827532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Baseline access derived by rule from standard attributes</a:t>
            </a:r>
            <a:endParaRPr lang="en-US" sz="1550" dirty="0"/>
          </a:p>
          <a:p>
            <a:pPr marL="342900" indent="-342900">
              <a:spcAft>
                <a:spcPts val="500"/>
              </a:spcAft>
              <a:buSzPct val="100000"/>
              <a:buChar char="•"/>
            </a:pPr>
            <a:r>
              <a:rPr lang="en-US" sz="1550" dirty="0">
                <a:solidFill>
                  <a:schemeClr val="tx2"/>
                </a:solidFill>
              </a:rPr>
              <a:t>Privileged eligibility by position, through PIM — never standing</a:t>
            </a:r>
            <a:endParaRPr lang="en-US" sz="1550" dirty="0"/>
          </a:p>
          <a:p>
            <a:pPr marL="342900" indent="-342900">
              <a:spcAft>
                <a:spcPts val="500"/>
              </a:spcAft>
              <a:buSzPct val="100000"/>
              <a:buChar char="•"/>
            </a:pPr>
            <a:r>
              <a:rPr lang="en-US" sz="1550" dirty="0">
                <a:solidFill>
                  <a:schemeClr val="tx2"/>
                </a:solidFill>
              </a:rPr>
              <a:t>Activity from a separated person is an alert</a:t>
            </a:r>
            <a:endParaRPr lang="en-US" sz="1550" dirty="0"/>
          </a:p>
        </p:txBody>
      </p:sp>
      <p:sp>
        <p:nvSpPr>
          <p:cNvPr id="18" name="ICAM takeaway"/>
          <p:cNvSpPr/>
          <p:nvPr/>
        </p:nvSpPr>
        <p:spPr>
          <a:xfrm>
            <a:off x="548640" y="4983480"/>
            <a:ext cx="11109960" cy="822960"/>
          </a:xfrm>
          <a:prstGeom prst="roundRect">
            <a:avLst>
              <a:gd name="adj" fmla="val 888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9" name="ICAM takeaway text"/>
          <p:cNvSpPr txBox="1"/>
          <p:nvPr/>
        </p:nvSpPr>
        <p:spPr>
          <a:xfrm>
            <a:off x="868680" y="5029200"/>
            <a:ext cx="10515600" cy="731520"/>
          </a:xfrm>
          <a:prstGeom prst="rect">
            <a:avLst/>
          </a:prstGeom>
          <a:noFill/>
          <a:ln/>
        </p:spPr>
        <p:txBody>
          <a:bodyPr wrap="square" lIns="0" tIns="0" rIns="0" bIns="0" rtlCol="0" anchor="ctr"/>
          <a:lstStyle/>
          <a:p>
            <a:pPr marL="0" indent="0">
              <a:buNone/>
            </a:pPr>
            <a:r>
              <a:rPr lang="en-US" sz="1700" b="1" dirty="0">
                <a:solidFill>
                  <a:srgbClr val="1F2A44"/>
                </a:solidFill>
              </a:rPr>
              <a:t>Every entitlement has a “because”: </a:t>
            </a:r>
            <a:r>
              <a:rPr lang="en-US" sz="1700" dirty="0">
                <a:solidFill>
                  <a:schemeClr val="tx2"/>
                </a:solidFill>
              </a:rPr>
              <a:t>a rule, an attribute, and the personnel action that set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0" name="Narration">
            <a:hlinkClick r:id="" action="ppaction://media"/>
            <a:extLst>
              <a:ext uri="{FF2B5EF4-FFF2-40B4-BE49-F238E27FC236}">
                <a16:creationId xmlns:a16="http://schemas.microsoft.com/office/drawing/2014/main" id="{74C6BF8A-C8F9-9574-2151-AAFB3CF647B5}"/>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100"/>
    </mc:Choice>
    <mc:Fallback>
      <p:transition spd="slow" advTm="58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7096"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Privacy by design: HR data in identity is a disclosure</a:t>
            </a:r>
            <a:endParaRPr lang="en-US" sz="3000" dirty="0"/>
          </a:p>
        </p:txBody>
      </p:sp>
      <p:sp>
        <p:nvSpPr>
          <p:cNvPr id="3" name="Privacy 1"/>
          <p:cNvSpPr/>
          <p:nvPr/>
        </p:nvSpPr>
        <p:spPr>
          <a:xfrm>
            <a:off x="548640" y="1417320"/>
            <a:ext cx="5486400" cy="1645920"/>
          </a:xfrm>
          <a:prstGeom prst="roundRect">
            <a:avLst>
              <a:gd name="adj" fmla="val 444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ScaleBalanced"/>
          <p:cNvSpPr/>
          <p:nvPr/>
        </p:nvSpPr>
        <p:spPr>
          <a:xfrm>
            <a:off x="822960" y="1691640"/>
            <a:ext cx="640080" cy="64008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ScaleBalanced.png"/>
          <p:cNvPicPr>
            <a:picLocks noChangeAspect="1"/>
          </p:cNvPicPr>
          <p:nvPr/>
        </p:nvPicPr>
        <p:blipFill>
          <a:blip r:embed="rId5"/>
          <a:stretch>
            <a:fillRect/>
          </a:stretch>
        </p:blipFill>
        <p:spPr>
          <a:xfrm>
            <a:off x="976579" y="1845259"/>
            <a:ext cx="332842" cy="332842"/>
          </a:xfrm>
          <a:prstGeom prst="rect">
            <a:avLst/>
          </a:prstGeom>
        </p:spPr>
      </p:pic>
      <p:sp>
        <p:nvSpPr>
          <p:cNvPr id="6" name="Privacy 1 text"/>
          <p:cNvSpPr txBox="1"/>
          <p:nvPr/>
        </p:nvSpPr>
        <p:spPr>
          <a:xfrm>
            <a:off x="1691640" y="1581912"/>
            <a:ext cx="4160520" cy="1371600"/>
          </a:xfrm>
          <a:prstGeom prst="rect">
            <a:avLst/>
          </a:prstGeom>
          <a:noFill/>
          <a:ln/>
        </p:spPr>
        <p:txBody>
          <a:bodyPr wrap="square" lIns="0" tIns="0" rIns="0" bIns="0" rtlCol="0" anchor="t"/>
          <a:lstStyle/>
          <a:p>
            <a:pPr marL="0" indent="0">
              <a:spcAft>
                <a:spcPts val="600"/>
              </a:spcAft>
              <a:buNone/>
            </a:pPr>
            <a:r>
              <a:rPr lang="en-US" sz="1900" b="1" dirty="0">
                <a:solidFill>
                  <a:srgbClr val="1F2A44"/>
                </a:solidFill>
                <a:latin typeface="Cambria" pitchFamily="34" charset="0"/>
                <a:ea typeface="Cambria" pitchFamily="34" charset="-122"/>
                <a:cs typeface="Cambria" pitchFamily="34" charset="-120"/>
              </a:rPr>
              <a:t>Routine use</a:t>
            </a:r>
            <a:endParaRPr lang="en-US" sz="1400" dirty="0"/>
          </a:p>
          <a:p>
            <a:pPr marL="0" indent="0">
              <a:spcAft>
                <a:spcPts val="600"/>
              </a:spcAft>
              <a:buNone/>
            </a:pPr>
            <a:r>
              <a:rPr lang="en-US" sz="1500" dirty="0">
                <a:solidFill>
                  <a:schemeClr val="tx2"/>
                </a:solidFill>
              </a:rPr>
              <a:t>Confirm the routine-use basis under the governing SORNs (e.g., OPM/GOVT-1) before any HR attribute flows to a directory.</a:t>
            </a:r>
            <a:endParaRPr lang="en-US" sz="1400" dirty="0"/>
          </a:p>
        </p:txBody>
      </p:sp>
      <p:sp>
        <p:nvSpPr>
          <p:cNvPr id="7" name="Privacy 2"/>
          <p:cNvSpPr/>
          <p:nvPr/>
        </p:nvSpPr>
        <p:spPr>
          <a:xfrm>
            <a:off x="6172200" y="1417320"/>
            <a:ext cx="5486400" cy="1645920"/>
          </a:xfrm>
          <a:prstGeom prst="roundRect">
            <a:avLst>
              <a:gd name="adj" fmla="val 444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Icon FaFilter"/>
          <p:cNvSpPr/>
          <p:nvPr/>
        </p:nvSpPr>
        <p:spPr>
          <a:xfrm>
            <a:off x="6446520" y="1691640"/>
            <a:ext cx="640080" cy="640080"/>
          </a:xfrm>
          <a:prstGeom prst="ellipse">
            <a:avLst/>
          </a:prstGeom>
          <a:solidFill>
            <a:srgbClr val="0F766E"/>
          </a:solidFill>
          <a:ln w="12700">
            <a:solidFill>
              <a:srgbClr val="0F766E"/>
            </a:solidFill>
            <a:prstDash val="solid"/>
          </a:ln>
        </p:spPr>
      </p:sp>
      <p:pic>
        <p:nvPicPr>
          <p:cNvPr id="9" name="Image 1" descr="C:\Users\whale\AppData\Local\Temp\claude\C--Users-whale-git-uiao-inbox\cbd5b766-acc0-4006-9202-a9bb6b23e97b\scratchpad\deck\icons\FaFilter.png"/>
          <p:cNvPicPr>
            <a:picLocks noChangeAspect="1"/>
          </p:cNvPicPr>
          <p:nvPr/>
        </p:nvPicPr>
        <p:blipFill>
          <a:blip r:embed="rId6"/>
          <a:stretch>
            <a:fillRect/>
          </a:stretch>
        </p:blipFill>
        <p:spPr>
          <a:xfrm>
            <a:off x="6600139" y="1845259"/>
            <a:ext cx="332842" cy="332842"/>
          </a:xfrm>
          <a:prstGeom prst="rect">
            <a:avLst/>
          </a:prstGeom>
        </p:spPr>
      </p:pic>
      <p:sp>
        <p:nvSpPr>
          <p:cNvPr id="10" name="Privacy 2 text"/>
          <p:cNvSpPr txBox="1"/>
          <p:nvPr/>
        </p:nvSpPr>
        <p:spPr>
          <a:xfrm>
            <a:off x="7315200" y="1581912"/>
            <a:ext cx="4160520" cy="1371600"/>
          </a:xfrm>
          <a:prstGeom prst="rect">
            <a:avLst/>
          </a:prstGeom>
          <a:noFill/>
          <a:ln/>
        </p:spPr>
        <p:txBody>
          <a:bodyPr wrap="square" lIns="0" tIns="0" rIns="0" bIns="0" rtlCol="0" anchor="t"/>
          <a:lstStyle/>
          <a:p>
            <a:pPr marL="0" indent="0">
              <a:spcAft>
                <a:spcPts val="600"/>
              </a:spcAft>
              <a:buNone/>
            </a:pPr>
            <a:r>
              <a:rPr lang="en-US" sz="1900" b="1" dirty="0">
                <a:solidFill>
                  <a:srgbClr val="0F766E"/>
                </a:solidFill>
                <a:latin typeface="Cambria" pitchFamily="34" charset="0"/>
                <a:ea typeface="Cambria" pitchFamily="34" charset="-122"/>
                <a:cs typeface="Cambria" pitchFamily="34" charset="-120"/>
              </a:rPr>
              <a:t>Minimize</a:t>
            </a:r>
            <a:endParaRPr lang="en-US" sz="1400" dirty="0"/>
          </a:p>
          <a:p>
            <a:pPr marL="0" indent="0">
              <a:spcAft>
                <a:spcPts val="600"/>
              </a:spcAft>
              <a:buNone/>
            </a:pPr>
            <a:r>
              <a:rPr lang="en-US" sz="1500" dirty="0">
                <a:solidFill>
                  <a:schemeClr val="tx2"/>
                </a:solidFill>
              </a:rPr>
              <a:t>Send only the attributes an identity decision reads. Codes, not narrative; no SSN as a join key.</a:t>
            </a:r>
            <a:endParaRPr lang="en-US" sz="1400" dirty="0"/>
          </a:p>
        </p:txBody>
      </p:sp>
      <p:sp>
        <p:nvSpPr>
          <p:cNvPr id="11" name="Privacy 3"/>
          <p:cNvSpPr/>
          <p:nvPr/>
        </p:nvSpPr>
        <p:spPr>
          <a:xfrm>
            <a:off x="548640" y="3246120"/>
            <a:ext cx="5486400" cy="1645920"/>
          </a:xfrm>
          <a:prstGeom prst="roundRect">
            <a:avLst>
              <a:gd name="adj" fmla="val 444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FileShield"/>
          <p:cNvSpPr/>
          <p:nvPr/>
        </p:nvSpPr>
        <p:spPr>
          <a:xfrm>
            <a:off x="822960" y="3520440"/>
            <a:ext cx="640080" cy="640080"/>
          </a:xfrm>
          <a:prstGeom prst="ellipse">
            <a:avLst/>
          </a:prstGeom>
          <a:solidFill>
            <a:srgbClr val="0F766E"/>
          </a:solidFill>
          <a:ln w="12700">
            <a:solidFill>
              <a:srgbClr val="0F766E"/>
            </a:solidFill>
            <a:prstDash val="solid"/>
          </a:ln>
        </p:spPr>
      </p:sp>
      <p:pic>
        <p:nvPicPr>
          <p:cNvPr id="13" name="Image 2" descr="C:\Users\whale\AppData\Local\Temp\claude\C--Users-whale-git-uiao-inbox\cbd5b766-acc0-4006-9202-a9bb6b23e97b\scratchpad\deck\icons\FaFileShield.png"/>
          <p:cNvPicPr>
            <a:picLocks noChangeAspect="1"/>
          </p:cNvPicPr>
          <p:nvPr/>
        </p:nvPicPr>
        <p:blipFill>
          <a:blip r:embed="rId7"/>
          <a:stretch>
            <a:fillRect/>
          </a:stretch>
        </p:blipFill>
        <p:spPr>
          <a:xfrm>
            <a:off x="976579" y="3674059"/>
            <a:ext cx="332842" cy="332842"/>
          </a:xfrm>
          <a:prstGeom prst="rect">
            <a:avLst/>
          </a:prstGeom>
        </p:spPr>
      </p:pic>
      <p:sp>
        <p:nvSpPr>
          <p:cNvPr id="14" name="Privacy 3 text"/>
          <p:cNvSpPr txBox="1"/>
          <p:nvPr/>
        </p:nvSpPr>
        <p:spPr>
          <a:xfrm>
            <a:off x="1691640" y="3410712"/>
            <a:ext cx="4160520" cy="1371600"/>
          </a:xfrm>
          <a:prstGeom prst="rect">
            <a:avLst/>
          </a:prstGeom>
          <a:noFill/>
          <a:ln/>
        </p:spPr>
        <p:txBody>
          <a:bodyPr wrap="square" lIns="0" tIns="0" rIns="0" bIns="0" rtlCol="0" anchor="t"/>
          <a:lstStyle/>
          <a:p>
            <a:pPr marL="0" indent="0">
              <a:spcAft>
                <a:spcPts val="600"/>
              </a:spcAft>
              <a:buNone/>
            </a:pPr>
            <a:r>
              <a:rPr lang="en-US" sz="1900" b="1" dirty="0">
                <a:solidFill>
                  <a:srgbClr val="0F766E"/>
                </a:solidFill>
                <a:latin typeface="Cambria" pitchFamily="34" charset="0"/>
                <a:ea typeface="Cambria" pitchFamily="34" charset="-122"/>
                <a:cs typeface="Cambria" pitchFamily="34" charset="-120"/>
              </a:rPr>
              <a:t>PIA</a:t>
            </a:r>
            <a:endParaRPr lang="en-US" sz="1400" dirty="0"/>
          </a:p>
          <a:p>
            <a:pPr marL="0" indent="0">
              <a:spcAft>
                <a:spcPts val="600"/>
              </a:spcAft>
              <a:buNone/>
            </a:pPr>
            <a:r>
              <a:rPr lang="en-US" sz="1500" dirty="0">
                <a:solidFill>
                  <a:schemeClr val="tx2"/>
                </a:solidFill>
              </a:rPr>
              <a:t>Update the privacy impact assessment for the new data flow and its consumers.</a:t>
            </a:r>
            <a:endParaRPr lang="en-US" sz="1400" dirty="0"/>
          </a:p>
        </p:txBody>
      </p:sp>
      <p:sp>
        <p:nvSpPr>
          <p:cNvPr id="15" name="Privacy 4"/>
          <p:cNvSpPr/>
          <p:nvPr/>
        </p:nvSpPr>
        <p:spPr>
          <a:xfrm>
            <a:off x="6172200" y="3246120"/>
            <a:ext cx="5486400" cy="1645920"/>
          </a:xfrm>
          <a:prstGeom prst="roundRect">
            <a:avLst>
              <a:gd name="adj" fmla="val 444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Lock"/>
          <p:cNvSpPr/>
          <p:nvPr/>
        </p:nvSpPr>
        <p:spPr>
          <a:xfrm>
            <a:off x="6446520" y="3520440"/>
            <a:ext cx="640080" cy="64008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Lock.png"/>
          <p:cNvPicPr>
            <a:picLocks noChangeAspect="1"/>
          </p:cNvPicPr>
          <p:nvPr/>
        </p:nvPicPr>
        <p:blipFill>
          <a:blip r:embed="rId8"/>
          <a:stretch>
            <a:fillRect/>
          </a:stretch>
        </p:blipFill>
        <p:spPr>
          <a:xfrm>
            <a:off x="6600139" y="3674059"/>
            <a:ext cx="332842" cy="332842"/>
          </a:xfrm>
          <a:prstGeom prst="rect">
            <a:avLst/>
          </a:prstGeom>
        </p:spPr>
      </p:pic>
      <p:sp>
        <p:nvSpPr>
          <p:cNvPr id="18" name="Privacy 4 text"/>
          <p:cNvSpPr txBox="1"/>
          <p:nvPr/>
        </p:nvSpPr>
        <p:spPr>
          <a:xfrm>
            <a:off x="7315200" y="3410712"/>
            <a:ext cx="4160520" cy="1371600"/>
          </a:xfrm>
          <a:prstGeom prst="rect">
            <a:avLst/>
          </a:prstGeom>
          <a:noFill/>
          <a:ln/>
        </p:spPr>
        <p:txBody>
          <a:bodyPr wrap="square" lIns="0" tIns="0" rIns="0" bIns="0" rtlCol="0" anchor="t"/>
          <a:lstStyle/>
          <a:p>
            <a:pPr marL="0" indent="0">
              <a:spcAft>
                <a:spcPts val="600"/>
              </a:spcAft>
              <a:buNone/>
            </a:pPr>
            <a:r>
              <a:rPr lang="en-US" sz="1900" b="1" dirty="0">
                <a:solidFill>
                  <a:srgbClr val="1F2A44"/>
                </a:solidFill>
                <a:latin typeface="Cambria" pitchFamily="34" charset="0"/>
                <a:ea typeface="Cambria" pitchFamily="34" charset="-122"/>
                <a:cs typeface="Cambria" pitchFamily="34" charset="-120"/>
              </a:rPr>
              <a:t>Protect the flow</a:t>
            </a:r>
            <a:endParaRPr lang="en-US" sz="1400" dirty="0"/>
          </a:p>
          <a:p>
            <a:pPr marL="0" indent="0">
              <a:spcAft>
                <a:spcPts val="600"/>
              </a:spcAft>
              <a:buNone/>
            </a:pPr>
            <a:r>
              <a:rPr lang="en-US" sz="1500" dirty="0">
                <a:solidFill>
                  <a:schemeClr val="tx2"/>
                </a:solidFill>
              </a:rPr>
              <a:t>Encrypt every leg; logs carry the person key and a payload hash, not the record.</a:t>
            </a:r>
            <a:endParaRPr lang="en-US" sz="1400" dirty="0"/>
          </a:p>
        </p:txBody>
      </p:sp>
      <p:sp>
        <p:nvSpPr>
          <p:cNvPr id="19" name="Privacy takeaway"/>
          <p:cNvSpPr/>
          <p:nvPr/>
        </p:nvSpPr>
        <p:spPr>
          <a:xfrm>
            <a:off x="548640" y="5166360"/>
            <a:ext cx="11109960" cy="960120"/>
          </a:xfrm>
          <a:prstGeom prst="roundRect">
            <a:avLst>
              <a:gd name="adj" fmla="val 761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Privacy takeaway text"/>
          <p:cNvSpPr txBox="1"/>
          <p:nvPr/>
        </p:nvSpPr>
        <p:spPr>
          <a:xfrm>
            <a:off x="868680" y="5230368"/>
            <a:ext cx="10515600" cy="822960"/>
          </a:xfrm>
          <a:prstGeom prst="rect">
            <a:avLst/>
          </a:prstGeom>
          <a:noFill/>
          <a:ln/>
        </p:spPr>
        <p:txBody>
          <a:bodyPr wrap="square" lIns="0" tIns="0" rIns="0" bIns="0" rtlCol="0" anchor="ctr"/>
          <a:lstStyle/>
          <a:p>
            <a:pPr marL="0" indent="0">
              <a:buNone/>
            </a:pPr>
            <a:r>
              <a:rPr lang="en-US" sz="1700" b="1" dirty="0">
                <a:solidFill>
                  <a:srgbClr val="B45309"/>
                </a:solidFill>
              </a:rPr>
              <a:t>HR remains the system of records. </a:t>
            </a:r>
            <a:r>
              <a:rPr lang="en-US" sz="1700" dirty="0">
                <a:solidFill>
                  <a:schemeClr val="tx2"/>
                </a:solidFill>
              </a:rPr>
              <a:t>Identity is a governed consumer that never writes an HR-mastered fact back.</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1" name="Narration">
            <a:hlinkClick r:id="" action="ppaction://media"/>
            <a:extLst>
              <a:ext uri="{FF2B5EF4-FFF2-40B4-BE49-F238E27FC236}">
                <a16:creationId xmlns:a16="http://schemas.microsoft.com/office/drawing/2014/main" id="{539ED788-8041-A675-5EBE-C08D60551B82}"/>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780"/>
    </mc:Choice>
    <mc:Fallback>
      <p:transition spd="slow" advTm="53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776"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The governance I’d bring to deliver it safely</a:t>
            </a:r>
            <a:endParaRPr lang="en-US" sz="3000" dirty="0"/>
          </a:p>
        </p:txBody>
      </p:sp>
      <p:sp>
        <p:nvSpPr>
          <p:cNvPr id="3" name="Gov 1"/>
          <p:cNvSpPr/>
          <p:nvPr/>
        </p:nvSpPr>
        <p:spPr>
          <a:xfrm>
            <a:off x="548640" y="1371600"/>
            <a:ext cx="2670048" cy="2057400"/>
          </a:xfrm>
          <a:prstGeom prst="roundRect">
            <a:avLst>
              <a:gd name="adj" fmla="val 35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Sitemap"/>
          <p:cNvSpPr/>
          <p:nvPr/>
        </p:nvSpPr>
        <p:spPr>
          <a:xfrm>
            <a:off x="731520" y="1536192"/>
            <a:ext cx="457200" cy="45720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Sitemap.png"/>
          <p:cNvPicPr>
            <a:picLocks noChangeAspect="1"/>
          </p:cNvPicPr>
          <p:nvPr/>
        </p:nvPicPr>
        <p:blipFill>
          <a:blip r:embed="rId5"/>
          <a:stretch>
            <a:fillRect/>
          </a:stretch>
        </p:blipFill>
        <p:spPr>
          <a:xfrm>
            <a:off x="841248" y="1645920"/>
            <a:ext cx="237744" cy="237744"/>
          </a:xfrm>
          <a:prstGeom prst="rect">
            <a:avLst/>
          </a:prstGeom>
        </p:spPr>
      </p:pic>
      <p:sp>
        <p:nvSpPr>
          <p:cNvPr id="6" name="Gov 1 text"/>
          <p:cNvSpPr txBox="1"/>
          <p:nvPr/>
        </p:nvSpPr>
        <p:spPr>
          <a:xfrm>
            <a:off x="731520" y="210312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1F2A44"/>
                </a:solidFill>
              </a:rPr>
              <a:t>Authority map and identifier decision</a:t>
            </a:r>
            <a:endParaRPr lang="en-US" sz="1400" dirty="0"/>
          </a:p>
          <a:p>
            <a:pPr marL="0" indent="0">
              <a:spcAft>
                <a:spcPts val="400"/>
              </a:spcAft>
              <a:buNone/>
            </a:pPr>
            <a:r>
              <a:rPr lang="en-US" sz="1350" dirty="0">
                <a:solidFill>
                  <a:schemeClr val="tx2"/>
                </a:solidFill>
              </a:rPr>
              <a:t>One owner per attribute; an enterprise person key SSA controls</a:t>
            </a:r>
            <a:endParaRPr lang="en-US" sz="1400" dirty="0"/>
          </a:p>
        </p:txBody>
      </p:sp>
      <p:sp>
        <p:nvSpPr>
          <p:cNvPr id="7" name="Gov 2"/>
          <p:cNvSpPr/>
          <p:nvPr/>
        </p:nvSpPr>
        <p:spPr>
          <a:xfrm>
            <a:off x="3355848" y="1371600"/>
            <a:ext cx="2670048" cy="2057400"/>
          </a:xfrm>
          <a:prstGeom prst="roundRect">
            <a:avLst>
              <a:gd name="adj" fmla="val 35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Icon FaUserShield"/>
          <p:cNvSpPr/>
          <p:nvPr/>
        </p:nvSpPr>
        <p:spPr>
          <a:xfrm>
            <a:off x="3538728" y="1536192"/>
            <a:ext cx="457200" cy="457200"/>
          </a:xfrm>
          <a:prstGeom prst="ellipse">
            <a:avLst/>
          </a:prstGeom>
          <a:solidFill>
            <a:srgbClr val="1F2A44"/>
          </a:solidFill>
          <a:ln w="12700">
            <a:solidFill>
              <a:srgbClr val="1F2A44"/>
            </a:solidFill>
            <a:prstDash val="solid"/>
          </a:ln>
        </p:spPr>
      </p:sp>
      <p:pic>
        <p:nvPicPr>
          <p:cNvPr id="9" name="Image 1" descr="C:\Users\whale\AppData\Local\Temp\claude\C--Users-whale-git-uiao-inbox\cbd5b766-acc0-4006-9202-a9bb6b23e97b\scratchpad\deck\icons\FaUserShield.png"/>
          <p:cNvPicPr>
            <a:picLocks noChangeAspect="1"/>
          </p:cNvPicPr>
          <p:nvPr/>
        </p:nvPicPr>
        <p:blipFill>
          <a:blip r:embed="rId6"/>
          <a:stretch>
            <a:fillRect/>
          </a:stretch>
        </p:blipFill>
        <p:spPr>
          <a:xfrm>
            <a:off x="3648456" y="1645920"/>
            <a:ext cx="237744" cy="237744"/>
          </a:xfrm>
          <a:prstGeom prst="rect">
            <a:avLst/>
          </a:prstGeom>
        </p:spPr>
      </p:pic>
      <p:sp>
        <p:nvSpPr>
          <p:cNvPr id="10" name="Gov 2 text"/>
          <p:cNvSpPr txBox="1"/>
          <p:nvPr/>
        </p:nvSpPr>
        <p:spPr>
          <a:xfrm>
            <a:off x="3538728" y="210312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1F2A44"/>
                </a:solidFill>
              </a:rPr>
              <a:t>Security assessment</a:t>
            </a:r>
            <a:endParaRPr lang="en-US" sz="1400" dirty="0"/>
          </a:p>
          <a:p>
            <a:pPr marL="0" indent="0">
              <a:spcAft>
                <a:spcPts val="400"/>
              </a:spcAft>
              <a:buNone/>
            </a:pPr>
            <a:r>
              <a:rPr lang="en-US" sz="1350" dirty="0">
                <a:solidFill>
                  <a:schemeClr val="tx2"/>
                </a:solidFill>
              </a:rPr>
              <a:t>Data flow, service identities without secrets, least privilege</a:t>
            </a:r>
            <a:endParaRPr lang="en-US" sz="1400" dirty="0"/>
          </a:p>
        </p:txBody>
      </p:sp>
      <p:sp>
        <p:nvSpPr>
          <p:cNvPr id="11" name="Gov 3"/>
          <p:cNvSpPr/>
          <p:nvPr/>
        </p:nvSpPr>
        <p:spPr>
          <a:xfrm>
            <a:off x="6163056" y="1371600"/>
            <a:ext cx="2670048" cy="2057400"/>
          </a:xfrm>
          <a:prstGeom prst="roundRect">
            <a:avLst>
              <a:gd name="adj" fmla="val 35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Icon FaClipboardCheck"/>
          <p:cNvSpPr/>
          <p:nvPr/>
        </p:nvSpPr>
        <p:spPr>
          <a:xfrm>
            <a:off x="6345936" y="1536192"/>
            <a:ext cx="457200" cy="457200"/>
          </a:xfrm>
          <a:prstGeom prst="ellipse">
            <a:avLst/>
          </a:prstGeom>
          <a:solidFill>
            <a:srgbClr val="1F2A44"/>
          </a:solidFill>
          <a:ln w="12700">
            <a:solidFill>
              <a:srgbClr val="1F2A44"/>
            </a:solidFill>
            <a:prstDash val="solid"/>
          </a:ln>
        </p:spPr>
      </p:sp>
      <p:pic>
        <p:nvPicPr>
          <p:cNvPr id="13" name="Image 2" descr="C:\Users\whale\AppData\Local\Temp\claude\C--Users-whale-git-uiao-inbox\cbd5b766-acc0-4006-9202-a9bb6b23e97b\scratchpad\deck\icons\FaClipboardCheck.png"/>
          <p:cNvPicPr>
            <a:picLocks noChangeAspect="1"/>
          </p:cNvPicPr>
          <p:nvPr/>
        </p:nvPicPr>
        <p:blipFill>
          <a:blip r:embed="rId7"/>
          <a:stretch>
            <a:fillRect/>
          </a:stretch>
        </p:blipFill>
        <p:spPr>
          <a:xfrm>
            <a:off x="6455664" y="1645920"/>
            <a:ext cx="237744" cy="237744"/>
          </a:xfrm>
          <a:prstGeom prst="rect">
            <a:avLst/>
          </a:prstGeom>
        </p:spPr>
      </p:pic>
      <p:sp>
        <p:nvSpPr>
          <p:cNvPr id="14" name="Gov 3 text"/>
          <p:cNvSpPr txBox="1"/>
          <p:nvPr/>
        </p:nvSpPr>
        <p:spPr>
          <a:xfrm>
            <a:off x="6345936" y="210312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1F2A44"/>
                </a:solidFill>
              </a:rPr>
              <a:t>Acceptance gate</a:t>
            </a:r>
            <a:endParaRPr lang="en-US" sz="1400" dirty="0"/>
          </a:p>
          <a:p>
            <a:pPr marL="0" indent="0">
              <a:spcAft>
                <a:spcPts val="400"/>
              </a:spcAft>
              <a:buNone/>
            </a:pPr>
            <a:r>
              <a:rPr lang="en-US" sz="1350" dirty="0">
                <a:solidFill>
                  <a:schemeClr val="tx2"/>
                </a:solidFill>
              </a:rPr>
              <a:t>Business-language test cases; signed validation before cutover</a:t>
            </a:r>
            <a:endParaRPr lang="en-US" sz="1400" dirty="0"/>
          </a:p>
        </p:txBody>
      </p:sp>
      <p:sp>
        <p:nvSpPr>
          <p:cNvPr id="15" name="Gov 4"/>
          <p:cNvSpPr/>
          <p:nvPr/>
        </p:nvSpPr>
        <p:spPr>
          <a:xfrm>
            <a:off x="8970264" y="1371600"/>
            <a:ext cx="2670048" cy="2057400"/>
          </a:xfrm>
          <a:prstGeom prst="roundRect">
            <a:avLst>
              <a:gd name="adj" fmla="val 35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PlugCircleXmark"/>
          <p:cNvSpPr/>
          <p:nvPr/>
        </p:nvSpPr>
        <p:spPr>
          <a:xfrm>
            <a:off x="9153144" y="1536192"/>
            <a:ext cx="457200" cy="45720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PlugCircleXmark.png"/>
          <p:cNvPicPr>
            <a:picLocks noChangeAspect="1"/>
          </p:cNvPicPr>
          <p:nvPr/>
        </p:nvPicPr>
        <p:blipFill>
          <a:blip r:embed="rId8"/>
          <a:stretch>
            <a:fillRect/>
          </a:stretch>
        </p:blipFill>
        <p:spPr>
          <a:xfrm>
            <a:off x="9262872" y="1645920"/>
            <a:ext cx="237744" cy="237744"/>
          </a:xfrm>
          <a:prstGeom prst="rect">
            <a:avLst/>
          </a:prstGeom>
        </p:spPr>
      </p:pic>
      <p:sp>
        <p:nvSpPr>
          <p:cNvPr id="18" name="Gov 4 text"/>
          <p:cNvSpPr txBox="1"/>
          <p:nvPr/>
        </p:nvSpPr>
        <p:spPr>
          <a:xfrm>
            <a:off x="9153144" y="210312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1F2A44"/>
                </a:solidFill>
              </a:rPr>
              <a:t>Cutover from tickets</a:t>
            </a:r>
            <a:endParaRPr lang="en-US" sz="1400" dirty="0"/>
          </a:p>
          <a:p>
            <a:pPr marL="0" indent="0">
              <a:spcAft>
                <a:spcPts val="400"/>
              </a:spcAft>
              <a:buNone/>
            </a:pPr>
            <a:r>
              <a:rPr lang="en-US" sz="1350" dirty="0">
                <a:solidFill>
                  <a:schemeClr val="tx2"/>
                </a:solidFill>
              </a:rPr>
              <a:t>Prove HR is the sole source; then close manual account creation</a:t>
            </a:r>
            <a:endParaRPr lang="en-US" sz="1400" dirty="0"/>
          </a:p>
        </p:txBody>
      </p:sp>
      <p:sp>
        <p:nvSpPr>
          <p:cNvPr id="19" name="Gov 5"/>
          <p:cNvSpPr/>
          <p:nvPr/>
        </p:nvSpPr>
        <p:spPr>
          <a:xfrm>
            <a:off x="548640" y="3566160"/>
            <a:ext cx="2670048" cy="2057400"/>
          </a:xfrm>
          <a:prstGeom prst="roundRect">
            <a:avLst>
              <a:gd name="adj" fmla="val 35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0" name="Icon FaListCheck"/>
          <p:cNvSpPr/>
          <p:nvPr/>
        </p:nvSpPr>
        <p:spPr>
          <a:xfrm>
            <a:off x="731520" y="3730752"/>
            <a:ext cx="457200" cy="457200"/>
          </a:xfrm>
          <a:prstGeom prst="ellipse">
            <a:avLst/>
          </a:prstGeom>
          <a:solidFill>
            <a:srgbClr val="0F766E"/>
          </a:solidFill>
          <a:ln w="12700">
            <a:solidFill>
              <a:srgbClr val="0F766E"/>
            </a:solidFill>
            <a:prstDash val="solid"/>
          </a:ln>
        </p:spPr>
      </p:sp>
      <p:pic>
        <p:nvPicPr>
          <p:cNvPr id="21" name="Image 4" descr="C:\Users\whale\AppData\Local\Temp\claude\C--Users-whale-git-uiao-inbox\cbd5b766-acc0-4006-9202-a9bb6b23e97b\scratchpad\deck\icons\FaListCheck.png"/>
          <p:cNvPicPr>
            <a:picLocks noChangeAspect="1"/>
          </p:cNvPicPr>
          <p:nvPr/>
        </p:nvPicPr>
        <p:blipFill>
          <a:blip r:embed="rId9"/>
          <a:stretch>
            <a:fillRect/>
          </a:stretch>
        </p:blipFill>
        <p:spPr>
          <a:xfrm>
            <a:off x="841248" y="3840480"/>
            <a:ext cx="237744" cy="237744"/>
          </a:xfrm>
          <a:prstGeom prst="rect">
            <a:avLst/>
          </a:prstGeom>
        </p:spPr>
      </p:pic>
      <p:sp>
        <p:nvSpPr>
          <p:cNvPr id="22" name="Gov 5 text"/>
          <p:cNvSpPr txBox="1"/>
          <p:nvPr/>
        </p:nvSpPr>
        <p:spPr>
          <a:xfrm>
            <a:off x="731520" y="429768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0F766E"/>
                </a:solidFill>
              </a:rPr>
              <a:t>Lifecycle rules</a:t>
            </a:r>
            <a:endParaRPr lang="en-US" sz="1400" dirty="0"/>
          </a:p>
          <a:p>
            <a:pPr marL="0" indent="0">
              <a:spcAft>
                <a:spcPts val="400"/>
              </a:spcAft>
              <a:buNone/>
            </a:pPr>
            <a:r>
              <a:rPr lang="en-US" sz="1350" dirty="0">
                <a:solidFill>
                  <a:schemeClr val="tx2"/>
                </a:solidFill>
              </a:rPr>
              <a:t>Scope filters, leave vs leaver, precedence, rescinded offers</a:t>
            </a:r>
            <a:endParaRPr lang="en-US" sz="1400" dirty="0"/>
          </a:p>
        </p:txBody>
      </p:sp>
      <p:sp>
        <p:nvSpPr>
          <p:cNvPr id="23" name="Gov 6"/>
          <p:cNvSpPr/>
          <p:nvPr/>
        </p:nvSpPr>
        <p:spPr>
          <a:xfrm>
            <a:off x="3355848" y="3566160"/>
            <a:ext cx="2670048" cy="2057400"/>
          </a:xfrm>
          <a:prstGeom prst="roundRect">
            <a:avLst>
              <a:gd name="adj" fmla="val 35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4" name="Icon FaTriangleExclamation"/>
          <p:cNvSpPr/>
          <p:nvPr/>
        </p:nvSpPr>
        <p:spPr>
          <a:xfrm>
            <a:off x="3538728" y="3730752"/>
            <a:ext cx="457200" cy="457200"/>
          </a:xfrm>
          <a:prstGeom prst="ellipse">
            <a:avLst/>
          </a:prstGeom>
          <a:solidFill>
            <a:srgbClr val="0F766E"/>
          </a:solidFill>
          <a:ln w="12700">
            <a:solidFill>
              <a:srgbClr val="0F766E"/>
            </a:solidFill>
            <a:prstDash val="solid"/>
          </a:ln>
        </p:spPr>
      </p:sp>
      <p:pic>
        <p:nvPicPr>
          <p:cNvPr id="25" name="Image 5" descr="C:\Users\whale\AppData\Local\Temp\claude\C--Users-whale-git-uiao-inbox\cbd5b766-acc0-4006-9202-a9bb6b23e97b\scratchpad\deck\icons\FaTriangleExclamation.png"/>
          <p:cNvPicPr>
            <a:picLocks noChangeAspect="1"/>
          </p:cNvPicPr>
          <p:nvPr/>
        </p:nvPicPr>
        <p:blipFill>
          <a:blip r:embed="rId10"/>
          <a:stretch>
            <a:fillRect/>
          </a:stretch>
        </p:blipFill>
        <p:spPr>
          <a:xfrm>
            <a:off x="3648456" y="3840480"/>
            <a:ext cx="237744" cy="237744"/>
          </a:xfrm>
          <a:prstGeom prst="rect">
            <a:avLst/>
          </a:prstGeom>
        </p:spPr>
      </p:pic>
      <p:sp>
        <p:nvSpPr>
          <p:cNvPr id="26" name="Gov 6 text"/>
          <p:cNvSpPr txBox="1"/>
          <p:nvPr/>
        </p:nvSpPr>
        <p:spPr>
          <a:xfrm>
            <a:off x="3538728" y="429768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0F766E"/>
                </a:solidFill>
              </a:rPr>
              <a:t>Quarantine and reconciliation</a:t>
            </a:r>
            <a:endParaRPr lang="en-US" sz="1400" dirty="0"/>
          </a:p>
          <a:p>
            <a:pPr marL="0" indent="0">
              <a:spcAft>
                <a:spcPts val="400"/>
              </a:spcAft>
              <a:buNone/>
            </a:pPr>
            <a:r>
              <a:rPr lang="en-US" sz="1350" dirty="0">
                <a:solidFill>
                  <a:schemeClr val="tx2"/>
                </a:solidFill>
              </a:rPr>
              <a:t>Failures never auto-resolve; every exception has an owner</a:t>
            </a:r>
            <a:endParaRPr lang="en-US" sz="1400" dirty="0"/>
          </a:p>
        </p:txBody>
      </p:sp>
      <p:sp>
        <p:nvSpPr>
          <p:cNvPr id="27" name="Gov 7"/>
          <p:cNvSpPr/>
          <p:nvPr/>
        </p:nvSpPr>
        <p:spPr>
          <a:xfrm>
            <a:off x="6163056" y="3566160"/>
            <a:ext cx="2670048" cy="2057400"/>
          </a:xfrm>
          <a:prstGeom prst="roundRect">
            <a:avLst>
              <a:gd name="adj" fmla="val 35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8" name="Icon FaChartLine"/>
          <p:cNvSpPr/>
          <p:nvPr/>
        </p:nvSpPr>
        <p:spPr>
          <a:xfrm>
            <a:off x="6345936" y="3730752"/>
            <a:ext cx="457200" cy="457200"/>
          </a:xfrm>
          <a:prstGeom prst="ellipse">
            <a:avLst/>
          </a:prstGeom>
          <a:solidFill>
            <a:srgbClr val="0F766E"/>
          </a:solidFill>
          <a:ln w="12700">
            <a:solidFill>
              <a:srgbClr val="0F766E"/>
            </a:solidFill>
            <a:prstDash val="solid"/>
          </a:ln>
        </p:spPr>
      </p:sp>
      <p:pic>
        <p:nvPicPr>
          <p:cNvPr id="29" name="Image 6" descr="C:\Users\whale\AppData\Local\Temp\claude\C--Users-whale-git-uiao-inbox\cbd5b766-acc0-4006-9202-a9bb6b23e97b\scratchpad\deck\icons\FaChartLine.png"/>
          <p:cNvPicPr>
            <a:picLocks noChangeAspect="1"/>
          </p:cNvPicPr>
          <p:nvPr/>
        </p:nvPicPr>
        <p:blipFill>
          <a:blip r:embed="rId11"/>
          <a:stretch>
            <a:fillRect/>
          </a:stretch>
        </p:blipFill>
        <p:spPr>
          <a:xfrm>
            <a:off x="6455664" y="3840480"/>
            <a:ext cx="237744" cy="237744"/>
          </a:xfrm>
          <a:prstGeom prst="rect">
            <a:avLst/>
          </a:prstGeom>
        </p:spPr>
      </p:pic>
      <p:sp>
        <p:nvSpPr>
          <p:cNvPr id="30" name="Gov 7 text"/>
          <p:cNvSpPr txBox="1"/>
          <p:nvPr/>
        </p:nvSpPr>
        <p:spPr>
          <a:xfrm>
            <a:off x="6345936" y="429768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0F766E"/>
                </a:solidFill>
              </a:rPr>
              <a:t>Drift and metrics</a:t>
            </a:r>
            <a:endParaRPr lang="en-US" sz="1400" dirty="0"/>
          </a:p>
          <a:p>
            <a:pPr marL="0" indent="0">
              <a:spcAft>
                <a:spcPts val="400"/>
              </a:spcAft>
              <a:buNone/>
            </a:pPr>
            <a:r>
              <a:rPr lang="en-US" sz="1350" dirty="0">
                <a:solidFill>
                  <a:schemeClr val="tx2"/>
                </a:solidFill>
              </a:rPr>
              <a:t>Separation-to-block, correlation coverage, derivation purity</a:t>
            </a:r>
            <a:endParaRPr lang="en-US" sz="1400" dirty="0"/>
          </a:p>
        </p:txBody>
      </p:sp>
      <p:sp>
        <p:nvSpPr>
          <p:cNvPr id="31" name="Gov 8"/>
          <p:cNvSpPr/>
          <p:nvPr/>
        </p:nvSpPr>
        <p:spPr>
          <a:xfrm>
            <a:off x="8970264" y="3566160"/>
            <a:ext cx="2670048" cy="2057400"/>
          </a:xfrm>
          <a:prstGeom prst="roundRect">
            <a:avLst>
              <a:gd name="adj" fmla="val 35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32" name="Icon FaCodeBranch"/>
          <p:cNvSpPr/>
          <p:nvPr/>
        </p:nvSpPr>
        <p:spPr>
          <a:xfrm>
            <a:off x="9153144" y="3730752"/>
            <a:ext cx="457200" cy="457200"/>
          </a:xfrm>
          <a:prstGeom prst="ellipse">
            <a:avLst/>
          </a:prstGeom>
          <a:solidFill>
            <a:srgbClr val="0F766E"/>
          </a:solidFill>
          <a:ln w="12700">
            <a:solidFill>
              <a:srgbClr val="0F766E"/>
            </a:solidFill>
            <a:prstDash val="solid"/>
          </a:ln>
        </p:spPr>
      </p:sp>
      <p:pic>
        <p:nvPicPr>
          <p:cNvPr id="33" name="Image 7" descr="C:\Users\whale\AppData\Local\Temp\claude\C--Users-whale-git-uiao-inbox\cbd5b766-acc0-4006-9202-a9bb6b23e97b\scratchpad\deck\icons\FaCodeBranch.png"/>
          <p:cNvPicPr>
            <a:picLocks noChangeAspect="1"/>
          </p:cNvPicPr>
          <p:nvPr/>
        </p:nvPicPr>
        <p:blipFill>
          <a:blip r:embed="rId12"/>
          <a:stretch>
            <a:fillRect/>
          </a:stretch>
        </p:blipFill>
        <p:spPr>
          <a:xfrm>
            <a:off x="9262872" y="3840480"/>
            <a:ext cx="237744" cy="237744"/>
          </a:xfrm>
          <a:prstGeom prst="rect">
            <a:avLst/>
          </a:prstGeom>
        </p:spPr>
      </p:pic>
      <p:sp>
        <p:nvSpPr>
          <p:cNvPr id="34" name="Gov 8 text"/>
          <p:cNvSpPr txBox="1"/>
          <p:nvPr/>
        </p:nvSpPr>
        <p:spPr>
          <a:xfrm>
            <a:off x="9153144" y="429768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0F766E"/>
                </a:solidFill>
              </a:rPr>
              <a:t>Change control</a:t>
            </a:r>
            <a:endParaRPr lang="en-US" sz="1400" dirty="0"/>
          </a:p>
          <a:p>
            <a:pPr marL="0" indent="0">
              <a:spcAft>
                <a:spcPts val="400"/>
              </a:spcAft>
              <a:buNone/>
            </a:pPr>
            <a:r>
              <a:rPr lang="en-US" sz="1350" dirty="0">
                <a:solidFill>
                  <a:schemeClr val="tx2"/>
                </a:solidFill>
              </a:rPr>
              <a:t>Crosswalk and code lists versioned; shadow-tested before they act</a:t>
            </a:r>
            <a:endParaRPr lang="en-US" sz="1400" dirty="0"/>
          </a:p>
        </p:txBody>
      </p:sp>
      <p:sp>
        <p:nvSpPr>
          <p:cNvPr id="35" name="Gov note"/>
          <p:cNvSpPr txBox="1"/>
          <p:nvPr/>
        </p:nvSpPr>
        <p:spPr>
          <a:xfrm>
            <a:off x="548640" y="5806440"/>
            <a:ext cx="11064240" cy="320040"/>
          </a:xfrm>
          <a:prstGeom prst="rect">
            <a:avLst/>
          </a:prstGeom>
          <a:noFill/>
          <a:ln/>
        </p:spPr>
        <p:txBody>
          <a:bodyPr wrap="square" lIns="0" tIns="0" rIns="0" bIns="0" rtlCol="0" anchor="t"/>
          <a:lstStyle/>
          <a:p>
            <a:pPr marL="0" indent="0">
              <a:buNone/>
            </a:pPr>
            <a:r>
              <a:rPr lang="en-US" sz="1300" i="1" dirty="0">
                <a:solidFill>
                  <a:srgbClr val="64748B"/>
                </a:solidFill>
              </a:rPr>
              <a:t>Control support for AC-2, PS-4, PS-5, IA-4 and SI-12 — evidence produced by operation, not assembled for the audit.</a:t>
            </a:r>
            <a:endParaRPr lang="en-US" sz="1300" dirty="0"/>
          </a:p>
        </p:txBody>
      </p:sp>
      <p:sp>
        <p:nvSpPr>
          <p:cNvPr id="3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37" name="Narration">
            <a:hlinkClick r:id="" action="ppaction://media"/>
            <a:extLst>
              <a:ext uri="{FF2B5EF4-FFF2-40B4-BE49-F238E27FC236}">
                <a16:creationId xmlns:a16="http://schemas.microsoft.com/office/drawing/2014/main" id="{043F5469-500D-7D6C-7A3F-E61D6BBB37FB}"/>
              </a:ext>
            </a:extLst>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320"/>
    </mc:Choice>
    <mc:Fallback>
      <p:transition spd="slow" advTm="50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320"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Roadmap and the ask</a:t>
            </a:r>
            <a:endParaRPr lang="en-US" sz="3000" dirty="0"/>
          </a:p>
        </p:txBody>
      </p:sp>
      <p:sp>
        <p:nvSpPr>
          <p:cNvPr id="3" name="Shape 1"/>
          <p:cNvSpPr/>
          <p:nvPr/>
        </p:nvSpPr>
        <p:spPr>
          <a:xfrm>
            <a:off x="1691640" y="1828800"/>
            <a:ext cx="8778240" cy="0"/>
          </a:xfrm>
          <a:prstGeom prst="line">
            <a:avLst/>
          </a:prstGeom>
          <a:noFill/>
          <a:ln w="19050">
            <a:solidFill>
              <a:srgbClr val="64748B"/>
            </a:solidFill>
            <a:prstDash val="solid"/>
          </a:ln>
        </p:spPr>
      </p:sp>
      <p:sp>
        <p:nvSpPr>
          <p:cNvPr id="4" name="Roadmap dot 1"/>
          <p:cNvSpPr/>
          <p:nvPr/>
        </p:nvSpPr>
        <p:spPr>
          <a:xfrm>
            <a:off x="1490472" y="1627632"/>
            <a:ext cx="402336" cy="402336"/>
          </a:xfrm>
          <a:prstGeom prst="ellipse">
            <a:avLst/>
          </a:prstGeom>
          <a:solidFill>
            <a:srgbClr val="1F2A44"/>
          </a:solidFill>
          <a:ln w="25400">
            <a:solidFill>
              <a:srgbClr val="FFFFFF"/>
            </a:solidFill>
            <a:prstDash val="solid"/>
          </a:ln>
        </p:spPr>
      </p:sp>
      <p:sp>
        <p:nvSpPr>
          <p:cNvPr id="5" name="Roadmap when 1"/>
          <p:cNvSpPr txBox="1"/>
          <p:nvPr/>
        </p:nvSpPr>
        <p:spPr>
          <a:xfrm>
            <a:off x="68580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Now</a:t>
            </a:r>
            <a:endParaRPr lang="en-US" sz="1400" dirty="0"/>
          </a:p>
        </p:txBody>
      </p:sp>
      <p:sp>
        <p:nvSpPr>
          <p:cNvPr id="6" name="Roadmap text 1"/>
          <p:cNvSpPr txBox="1"/>
          <p:nvPr/>
        </p:nvSpPr>
        <p:spPr>
          <a:xfrm>
            <a:off x="70408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1F2A44"/>
                </a:solidFill>
              </a:rPr>
              <a:t>Align with HR 2.0</a:t>
            </a:r>
            <a:endParaRPr lang="en-US" sz="1400" dirty="0"/>
          </a:p>
          <a:p>
            <a:pPr marL="0" indent="0" algn="ctr">
              <a:spcAft>
                <a:spcPts val="300"/>
              </a:spcAft>
              <a:buNone/>
            </a:pPr>
            <a:r>
              <a:rPr lang="en-US" sz="1350" dirty="0">
                <a:solidFill>
                  <a:schemeClr val="tx2"/>
                </a:solidFill>
              </a:rPr>
              <a:t>Identity named as an interconnection consumer</a:t>
            </a:r>
            <a:endParaRPr lang="en-US" sz="1400" dirty="0"/>
          </a:p>
        </p:txBody>
      </p:sp>
      <p:sp>
        <p:nvSpPr>
          <p:cNvPr id="7" name="Roadmap dot 2"/>
          <p:cNvSpPr/>
          <p:nvPr/>
        </p:nvSpPr>
        <p:spPr>
          <a:xfrm>
            <a:off x="3685032" y="1627632"/>
            <a:ext cx="402336" cy="402336"/>
          </a:xfrm>
          <a:prstGeom prst="ellipse">
            <a:avLst/>
          </a:prstGeom>
          <a:solidFill>
            <a:srgbClr val="B45309"/>
          </a:solidFill>
          <a:ln w="25400">
            <a:solidFill>
              <a:srgbClr val="FFFFFF"/>
            </a:solidFill>
            <a:prstDash val="solid"/>
          </a:ln>
        </p:spPr>
      </p:sp>
      <p:sp>
        <p:nvSpPr>
          <p:cNvPr id="8" name="Roadmap when 2"/>
          <p:cNvSpPr txBox="1"/>
          <p:nvPr/>
        </p:nvSpPr>
        <p:spPr>
          <a:xfrm>
            <a:off x="288036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Pre-onboarding</a:t>
            </a:r>
            <a:endParaRPr lang="en-US" sz="1400" dirty="0"/>
          </a:p>
        </p:txBody>
      </p:sp>
      <p:sp>
        <p:nvSpPr>
          <p:cNvPr id="9" name="Roadmap text 2"/>
          <p:cNvSpPr txBox="1"/>
          <p:nvPr/>
        </p:nvSpPr>
        <p:spPr>
          <a:xfrm>
            <a:off x="289864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B45309"/>
                </a:solidFill>
              </a:rPr>
              <a:t>Standards and authority</a:t>
            </a:r>
            <a:endParaRPr lang="en-US" sz="1400" dirty="0"/>
          </a:p>
          <a:p>
            <a:pPr marL="0" indent="0" algn="ctr">
              <a:spcAft>
                <a:spcPts val="300"/>
              </a:spcAft>
              <a:buNone/>
            </a:pPr>
            <a:r>
              <a:rPr lang="en-US" sz="1350" dirty="0">
                <a:solidFill>
                  <a:schemeClr val="tx2"/>
                </a:solidFill>
              </a:rPr>
              <a:t>Crosswalk, authority map, contractor source, privacy basis</a:t>
            </a:r>
            <a:endParaRPr lang="en-US" sz="1400" dirty="0"/>
          </a:p>
        </p:txBody>
      </p:sp>
      <p:sp>
        <p:nvSpPr>
          <p:cNvPr id="10" name="Roadmap dot 3"/>
          <p:cNvSpPr/>
          <p:nvPr/>
        </p:nvSpPr>
        <p:spPr>
          <a:xfrm>
            <a:off x="5879592" y="1627632"/>
            <a:ext cx="402336" cy="402336"/>
          </a:xfrm>
          <a:prstGeom prst="ellipse">
            <a:avLst/>
          </a:prstGeom>
          <a:solidFill>
            <a:srgbClr val="1F2A44"/>
          </a:solidFill>
          <a:ln w="25400">
            <a:solidFill>
              <a:srgbClr val="FFFFFF"/>
            </a:solidFill>
            <a:prstDash val="solid"/>
          </a:ln>
        </p:spPr>
      </p:sp>
      <p:sp>
        <p:nvSpPr>
          <p:cNvPr id="11" name="Roadmap when 3"/>
          <p:cNvSpPr txBox="1"/>
          <p:nvPr/>
        </p:nvSpPr>
        <p:spPr>
          <a:xfrm>
            <a:off x="507492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Onboarding</a:t>
            </a:r>
            <a:endParaRPr lang="en-US" sz="1400" dirty="0"/>
          </a:p>
        </p:txBody>
      </p:sp>
      <p:sp>
        <p:nvSpPr>
          <p:cNvPr id="12" name="Roadmap text 3"/>
          <p:cNvSpPr txBox="1"/>
          <p:nvPr/>
        </p:nvSpPr>
        <p:spPr>
          <a:xfrm>
            <a:off x="509320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1F2A44"/>
                </a:solidFill>
              </a:rPr>
              <a:t>Build and prove</a:t>
            </a:r>
            <a:endParaRPr lang="en-US" sz="1400" dirty="0"/>
          </a:p>
          <a:p>
            <a:pPr marL="0" indent="0" algn="ctr">
              <a:spcAft>
                <a:spcPts val="300"/>
              </a:spcAft>
              <a:buNone/>
            </a:pPr>
            <a:r>
              <a:rPr lang="en-US" sz="1350" dirty="0">
                <a:solidFill>
                  <a:schemeClr val="tx2"/>
                </a:solidFill>
              </a:rPr>
              <a:t>Joiner, mover, leaver end to end; shadow mode</a:t>
            </a:r>
            <a:endParaRPr lang="en-US" sz="1400" dirty="0"/>
          </a:p>
        </p:txBody>
      </p:sp>
      <p:sp>
        <p:nvSpPr>
          <p:cNvPr id="13" name="Roadmap dot 4"/>
          <p:cNvSpPr/>
          <p:nvPr/>
        </p:nvSpPr>
        <p:spPr>
          <a:xfrm>
            <a:off x="8074152" y="1627632"/>
            <a:ext cx="402336" cy="402336"/>
          </a:xfrm>
          <a:prstGeom prst="ellipse">
            <a:avLst/>
          </a:prstGeom>
          <a:solidFill>
            <a:srgbClr val="0F766E"/>
          </a:solidFill>
          <a:ln w="25400">
            <a:solidFill>
              <a:srgbClr val="FFFFFF"/>
            </a:solidFill>
            <a:prstDash val="solid"/>
          </a:ln>
        </p:spPr>
      </p:sp>
      <p:sp>
        <p:nvSpPr>
          <p:cNvPr id="14" name="Roadmap when 4"/>
          <p:cNvSpPr txBox="1"/>
          <p:nvPr/>
        </p:nvSpPr>
        <p:spPr>
          <a:xfrm>
            <a:off x="726948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Interconnection live</a:t>
            </a:r>
            <a:endParaRPr lang="en-US" sz="1400" dirty="0"/>
          </a:p>
        </p:txBody>
      </p:sp>
      <p:sp>
        <p:nvSpPr>
          <p:cNvPr id="15" name="Roadmap text 4"/>
          <p:cNvSpPr txBox="1"/>
          <p:nvPr/>
        </p:nvSpPr>
        <p:spPr>
          <a:xfrm>
            <a:off x="728776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0F766E"/>
                </a:solidFill>
              </a:rPr>
              <a:t>Cut over</a:t>
            </a:r>
            <a:endParaRPr lang="en-US" sz="1400" dirty="0"/>
          </a:p>
          <a:p>
            <a:pPr marL="0" indent="0" algn="ctr">
              <a:spcAft>
                <a:spcPts val="300"/>
              </a:spcAft>
              <a:buNone/>
            </a:pPr>
            <a:r>
              <a:rPr lang="en-US" sz="1350" dirty="0">
                <a:solidFill>
                  <a:schemeClr val="tx2"/>
                </a:solidFill>
              </a:rPr>
              <a:t>HR-driven for each population as it moves to Entra ID</a:t>
            </a:r>
            <a:endParaRPr lang="en-US" sz="1400" dirty="0"/>
          </a:p>
        </p:txBody>
      </p:sp>
      <p:sp>
        <p:nvSpPr>
          <p:cNvPr id="16" name="Roadmap dot 5"/>
          <p:cNvSpPr/>
          <p:nvPr/>
        </p:nvSpPr>
        <p:spPr>
          <a:xfrm>
            <a:off x="10268712" y="1627632"/>
            <a:ext cx="402336" cy="402336"/>
          </a:xfrm>
          <a:prstGeom prst="ellipse">
            <a:avLst/>
          </a:prstGeom>
          <a:solidFill>
            <a:srgbClr val="1F2A44"/>
          </a:solidFill>
          <a:ln w="25400">
            <a:solidFill>
              <a:srgbClr val="FFFFFF"/>
            </a:solidFill>
            <a:prstDash val="solid"/>
          </a:ln>
        </p:spPr>
      </p:sp>
      <p:sp>
        <p:nvSpPr>
          <p:cNvPr id="17" name="Roadmap when 5"/>
          <p:cNvSpPr txBox="1"/>
          <p:nvPr/>
        </p:nvSpPr>
        <p:spPr>
          <a:xfrm>
            <a:off x="946404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After</a:t>
            </a:r>
            <a:endParaRPr lang="en-US" sz="1400" dirty="0"/>
          </a:p>
        </p:txBody>
      </p:sp>
      <p:sp>
        <p:nvSpPr>
          <p:cNvPr id="18" name="Roadmap text 5"/>
          <p:cNvSpPr txBox="1"/>
          <p:nvPr/>
        </p:nvSpPr>
        <p:spPr>
          <a:xfrm>
            <a:off x="948232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1F2A44"/>
                </a:solidFill>
              </a:rPr>
              <a:t>Sustain</a:t>
            </a:r>
            <a:endParaRPr lang="en-US" sz="1400" dirty="0"/>
          </a:p>
          <a:p>
            <a:pPr marL="0" indent="0" algn="ctr">
              <a:spcAft>
                <a:spcPts val="300"/>
              </a:spcAft>
              <a:buNone/>
            </a:pPr>
            <a:r>
              <a:rPr lang="en-US" sz="1350" dirty="0">
                <a:solidFill>
                  <a:schemeClr val="tx2"/>
                </a:solidFill>
              </a:rPr>
              <a:t>Metrics and drift on the ConMon cadence</a:t>
            </a:r>
            <a:endParaRPr lang="en-US" sz="1400" dirty="0"/>
          </a:p>
        </p:txBody>
      </p:sp>
      <p:sp>
        <p:nvSpPr>
          <p:cNvPr id="19" name="Ask"/>
          <p:cNvSpPr/>
          <p:nvPr/>
        </p:nvSpPr>
        <p:spPr>
          <a:xfrm>
            <a:off x="548640" y="3886200"/>
            <a:ext cx="11109960" cy="1280160"/>
          </a:xfrm>
          <a:prstGeom prst="roundRect">
            <a:avLst>
              <a:gd name="adj" fmla="val 571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0" name="Icon FaLightbulb"/>
          <p:cNvSpPr/>
          <p:nvPr/>
        </p:nvSpPr>
        <p:spPr>
          <a:xfrm>
            <a:off x="777240" y="4114800"/>
            <a:ext cx="822960" cy="822960"/>
          </a:xfrm>
          <a:prstGeom prst="ellipse">
            <a:avLst/>
          </a:prstGeom>
          <a:solidFill>
            <a:srgbClr val="B45309"/>
          </a:solidFill>
          <a:ln w="12700">
            <a:solidFill>
              <a:srgbClr val="B45309"/>
            </a:solidFill>
            <a:prstDash val="solid"/>
          </a:ln>
        </p:spPr>
      </p:sp>
      <p:pic>
        <p:nvPicPr>
          <p:cNvPr id="21" name="Image 0" descr="C:\Users\whale\AppData\Local\Temp\claude\C--Users-whale-git-uiao-inbox\cbd5b766-acc0-4006-9202-a9bb6b23e97b\scratchpad\deck\icons\FaLightbulb.png"/>
          <p:cNvPicPr>
            <a:picLocks noChangeAspect="1"/>
          </p:cNvPicPr>
          <p:nvPr/>
        </p:nvPicPr>
        <p:blipFill>
          <a:blip r:embed="rId5"/>
          <a:stretch>
            <a:fillRect/>
          </a:stretch>
        </p:blipFill>
        <p:spPr>
          <a:xfrm>
            <a:off x="974750" y="4312310"/>
            <a:ext cx="427939" cy="427939"/>
          </a:xfrm>
          <a:prstGeom prst="rect">
            <a:avLst/>
          </a:prstGeom>
        </p:spPr>
      </p:pic>
      <p:sp>
        <p:nvSpPr>
          <p:cNvPr id="22" name="Ask text"/>
          <p:cNvSpPr txBox="1"/>
          <p:nvPr/>
        </p:nvSpPr>
        <p:spPr>
          <a:xfrm>
            <a:off x="1828800" y="3977640"/>
            <a:ext cx="9601200" cy="1097280"/>
          </a:xfrm>
          <a:prstGeom prst="rect">
            <a:avLst/>
          </a:prstGeom>
          <a:noFill/>
          <a:ln/>
        </p:spPr>
        <p:txBody>
          <a:bodyPr wrap="square" lIns="0" tIns="0" rIns="0" bIns="0" rtlCol="0" anchor="ctr"/>
          <a:lstStyle/>
          <a:p>
            <a:pPr marL="0" indent="0">
              <a:buNone/>
            </a:pPr>
            <a:r>
              <a:rPr lang="en-US" sz="2000" b="1" dirty="0">
                <a:solidFill>
                  <a:srgbClr val="B45309"/>
                </a:solidFill>
              </a:rPr>
              <a:t>The ask: </a:t>
            </a:r>
            <a:r>
              <a:rPr lang="en-US" sz="1700" dirty="0">
                <a:solidFill>
                  <a:schemeClr val="tx2"/>
                </a:solidFill>
              </a:rPr>
              <a:t>decide now to start HR-driven identity — HR, through OPM standard attributes, as the source of authority for Entra ID, AD and ICAM — and build it into both the HR 2.0 onboarding and the Entra ID migration, so Zero Trust and SASE decide access on accurate data.</a:t>
            </a:r>
            <a:endParaRPr lang="en-US" sz="1400" dirty="0"/>
          </a:p>
        </p:txBody>
      </p:sp>
      <p:sp>
        <p:nvSpPr>
          <p:cNvPr id="23" name="EDA contribution"/>
          <p:cNvSpPr/>
          <p:nvPr/>
        </p:nvSpPr>
        <p:spPr>
          <a:xfrm>
            <a:off x="548640" y="5349240"/>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EDA contribution text"/>
          <p:cNvSpPr txBox="1"/>
          <p:nvPr/>
        </p:nvSpPr>
        <p:spPr>
          <a:xfrm>
            <a:off x="868680" y="5394960"/>
            <a:ext cx="10515600" cy="685800"/>
          </a:xfrm>
          <a:prstGeom prst="rect">
            <a:avLst/>
          </a:prstGeom>
          <a:noFill/>
          <a:ln/>
        </p:spPr>
        <p:txBody>
          <a:bodyPr wrap="square" lIns="0" tIns="0" rIns="0" bIns="0" rtlCol="0" anchor="ctr"/>
          <a:lstStyle/>
          <a:p>
            <a:pPr marL="0" indent="0">
              <a:buNone/>
            </a:pPr>
            <a:r>
              <a:rPr lang="en-US" sz="1700" b="1" dirty="0">
                <a:solidFill>
                  <a:srgbClr val="1F2A44"/>
                </a:solidFill>
              </a:rPr>
              <a:t>EDA contribution: </a:t>
            </a:r>
            <a:r>
              <a:rPr lang="en-US" sz="1700" dirty="0">
                <a:solidFill>
                  <a:schemeClr val="tx2"/>
                </a:solidFill>
              </a:rPr>
              <a:t>establish authority, identifiers, standards, lineage and evidence — so workforce events produce measurable identity outcomes.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6" name="Narration">
            <a:hlinkClick r:id="" action="ppaction://media"/>
            <a:extLst>
              <a:ext uri="{FF2B5EF4-FFF2-40B4-BE49-F238E27FC236}">
                <a16:creationId xmlns:a16="http://schemas.microsoft.com/office/drawing/2014/main" id="{A8365F91-F30E-3D9F-712D-223DDD0293A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980"/>
    </mc:Choice>
    <mc:Fallback>
      <p:transition spd="slow" advTm="61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984"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More modernizations I’ve designed for the agency</a:t>
            </a:r>
            <a:endParaRPr lang="en-US" sz="3000" dirty="0"/>
          </a:p>
        </p:txBody>
      </p:sp>
      <p:sp>
        <p:nvSpPr>
          <p:cNvPr id="3" name="Teaser 1"/>
          <p:cNvSpPr/>
          <p:nvPr/>
        </p:nvSpPr>
        <p:spPr>
          <a:xfrm>
            <a:off x="548640" y="1325880"/>
            <a:ext cx="2670048" cy="1920240"/>
          </a:xfrm>
          <a:prstGeom prst="roundRect">
            <a:avLst>
              <a:gd name="adj" fmla="val 381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CloudArrowUp"/>
          <p:cNvSpPr/>
          <p:nvPr/>
        </p:nvSpPr>
        <p:spPr>
          <a:xfrm>
            <a:off x="731520" y="1490472"/>
            <a:ext cx="457200" cy="45720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CloudArrowUp.png"/>
          <p:cNvPicPr>
            <a:picLocks noChangeAspect="1"/>
          </p:cNvPicPr>
          <p:nvPr/>
        </p:nvPicPr>
        <p:blipFill>
          <a:blip r:embed="rId5"/>
          <a:stretch>
            <a:fillRect/>
          </a:stretch>
        </p:blipFill>
        <p:spPr>
          <a:xfrm>
            <a:off x="841248" y="1600200"/>
            <a:ext cx="237744" cy="237744"/>
          </a:xfrm>
          <a:prstGeom prst="rect">
            <a:avLst/>
          </a:prstGeom>
        </p:spPr>
      </p:pic>
      <p:sp>
        <p:nvSpPr>
          <p:cNvPr id="6" name="Teaser 1 text"/>
          <p:cNvSpPr txBox="1"/>
          <p:nvPr/>
        </p:nvSpPr>
        <p:spPr>
          <a:xfrm>
            <a:off x="731520" y="20391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AD → Entra ID migration</a:t>
            </a:r>
            <a:endParaRPr lang="en-US" sz="1400" dirty="0"/>
          </a:p>
          <a:p>
            <a:pPr marL="0" indent="0">
              <a:spcAft>
                <a:spcPts val="300"/>
              </a:spcAft>
              <a:buNone/>
            </a:pPr>
            <a:r>
              <a:rPr lang="en-US" sz="1350" dirty="0">
                <a:solidFill>
                  <a:schemeClr val="tx2"/>
                </a:solidFill>
              </a:rPr>
              <a:t>Directory move with drift detection and evidence</a:t>
            </a:r>
            <a:endParaRPr lang="en-US" sz="1400" dirty="0"/>
          </a:p>
        </p:txBody>
      </p:sp>
      <p:sp>
        <p:nvSpPr>
          <p:cNvPr id="7" name="Teaser 2"/>
          <p:cNvSpPr/>
          <p:nvPr/>
        </p:nvSpPr>
        <p:spPr>
          <a:xfrm>
            <a:off x="3355848" y="1325880"/>
            <a:ext cx="2670048" cy="1920240"/>
          </a:xfrm>
          <a:prstGeom prst="roundRect">
            <a:avLst>
              <a:gd name="adj" fmla="val 381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Icon FaGlobe"/>
          <p:cNvSpPr/>
          <p:nvPr/>
        </p:nvSpPr>
        <p:spPr>
          <a:xfrm>
            <a:off x="3538728" y="1490472"/>
            <a:ext cx="457200" cy="457200"/>
          </a:xfrm>
          <a:prstGeom prst="ellipse">
            <a:avLst/>
          </a:prstGeom>
          <a:solidFill>
            <a:srgbClr val="1F2A44"/>
          </a:solidFill>
          <a:ln w="12700">
            <a:solidFill>
              <a:srgbClr val="1F2A44"/>
            </a:solidFill>
            <a:prstDash val="solid"/>
          </a:ln>
        </p:spPr>
      </p:sp>
      <p:pic>
        <p:nvPicPr>
          <p:cNvPr id="9" name="Image 1" descr="C:\Users\whale\AppData\Local\Temp\claude\C--Users-whale-git-uiao-inbox\cbd5b766-acc0-4006-9202-a9bb6b23e97b\scratchpad\deck\icons\FaGlobe.png"/>
          <p:cNvPicPr>
            <a:picLocks noChangeAspect="1"/>
          </p:cNvPicPr>
          <p:nvPr/>
        </p:nvPicPr>
        <p:blipFill>
          <a:blip r:embed="rId6"/>
          <a:stretch>
            <a:fillRect/>
          </a:stretch>
        </p:blipFill>
        <p:spPr>
          <a:xfrm>
            <a:off x="3648456" y="1600200"/>
            <a:ext cx="237744" cy="237744"/>
          </a:xfrm>
          <a:prstGeom prst="rect">
            <a:avLst/>
          </a:prstGeom>
        </p:spPr>
      </p:pic>
      <p:sp>
        <p:nvSpPr>
          <p:cNvPr id="10" name="Teaser 2 text"/>
          <p:cNvSpPr txBox="1"/>
          <p:nvPr/>
        </p:nvSpPr>
        <p:spPr>
          <a:xfrm>
            <a:off x="3538728" y="20391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Next-generation DNS and IPAM</a:t>
            </a:r>
            <a:endParaRPr lang="en-US" sz="1400" dirty="0"/>
          </a:p>
          <a:p>
            <a:pPr marL="0" indent="0">
              <a:spcAft>
                <a:spcPts val="300"/>
              </a:spcAft>
              <a:buNone/>
            </a:pPr>
            <a:r>
              <a:rPr lang="en-US" sz="1350" dirty="0">
                <a:solidFill>
                  <a:schemeClr val="tx2"/>
                </a:solidFill>
              </a:rPr>
              <a:t>One DDI control plane across on-premises and clouds</a:t>
            </a:r>
            <a:endParaRPr lang="en-US" sz="1400" dirty="0"/>
          </a:p>
        </p:txBody>
      </p:sp>
      <p:sp>
        <p:nvSpPr>
          <p:cNvPr id="11" name="Teaser 3"/>
          <p:cNvSpPr/>
          <p:nvPr/>
        </p:nvSpPr>
        <p:spPr>
          <a:xfrm>
            <a:off x="6163056" y="1325880"/>
            <a:ext cx="2670048" cy="1920240"/>
          </a:xfrm>
          <a:prstGeom prst="roundRect">
            <a:avLst>
              <a:gd name="adj" fmla="val 381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Icon FaBuilding"/>
          <p:cNvSpPr/>
          <p:nvPr/>
        </p:nvSpPr>
        <p:spPr>
          <a:xfrm>
            <a:off x="6345936" y="1490472"/>
            <a:ext cx="457200" cy="457200"/>
          </a:xfrm>
          <a:prstGeom prst="ellipse">
            <a:avLst/>
          </a:prstGeom>
          <a:solidFill>
            <a:srgbClr val="1F2A44"/>
          </a:solidFill>
          <a:ln w="12700">
            <a:solidFill>
              <a:srgbClr val="1F2A44"/>
            </a:solidFill>
            <a:prstDash val="solid"/>
          </a:ln>
        </p:spPr>
      </p:sp>
      <p:pic>
        <p:nvPicPr>
          <p:cNvPr id="13" name="Image 2" descr="C:\Users\whale\AppData\Local\Temp\claude\C--Users-whale-git-uiao-inbox\cbd5b766-acc0-4006-9202-a9bb6b23e97b\scratchpad\deck\icons\FaBuilding.png"/>
          <p:cNvPicPr>
            <a:picLocks noChangeAspect="1"/>
          </p:cNvPicPr>
          <p:nvPr/>
        </p:nvPicPr>
        <p:blipFill>
          <a:blip r:embed="rId7"/>
          <a:stretch>
            <a:fillRect/>
          </a:stretch>
        </p:blipFill>
        <p:spPr>
          <a:xfrm>
            <a:off x="6455664" y="1600200"/>
            <a:ext cx="237744" cy="237744"/>
          </a:xfrm>
          <a:prstGeom prst="rect">
            <a:avLst/>
          </a:prstGeom>
        </p:spPr>
      </p:pic>
      <p:sp>
        <p:nvSpPr>
          <p:cNvPr id="14" name="Teaser 3 text"/>
          <p:cNvSpPr txBox="1"/>
          <p:nvPr/>
        </p:nvSpPr>
        <p:spPr>
          <a:xfrm>
            <a:off x="6345936" y="20391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Field office WAN and data centers</a:t>
            </a:r>
            <a:endParaRPr lang="en-US" sz="1400" dirty="0"/>
          </a:p>
          <a:p>
            <a:pPr marL="0" indent="0">
              <a:spcAft>
                <a:spcPts val="300"/>
              </a:spcAft>
              <a:buNone/>
            </a:pPr>
            <a:r>
              <a:rPr lang="en-US" sz="1350" dirty="0">
                <a:solidFill>
                  <a:schemeClr val="tx2"/>
                </a:solidFill>
              </a:rPr>
              <a:t>Office network transformation and consolidation</a:t>
            </a:r>
            <a:endParaRPr lang="en-US" sz="1400" dirty="0"/>
          </a:p>
        </p:txBody>
      </p:sp>
      <p:sp>
        <p:nvSpPr>
          <p:cNvPr id="15" name="Teaser 4"/>
          <p:cNvSpPr/>
          <p:nvPr/>
        </p:nvSpPr>
        <p:spPr>
          <a:xfrm>
            <a:off x="8970264" y="1325880"/>
            <a:ext cx="2670048" cy="1920240"/>
          </a:xfrm>
          <a:prstGeom prst="roundRect">
            <a:avLst>
              <a:gd name="adj" fmla="val 381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Route"/>
          <p:cNvSpPr/>
          <p:nvPr/>
        </p:nvSpPr>
        <p:spPr>
          <a:xfrm>
            <a:off x="9153144" y="1490472"/>
            <a:ext cx="457200" cy="45720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Route.png"/>
          <p:cNvPicPr>
            <a:picLocks noChangeAspect="1"/>
          </p:cNvPicPr>
          <p:nvPr/>
        </p:nvPicPr>
        <p:blipFill>
          <a:blip r:embed="rId8"/>
          <a:stretch>
            <a:fillRect/>
          </a:stretch>
        </p:blipFill>
        <p:spPr>
          <a:xfrm>
            <a:off x="9262872" y="1600200"/>
            <a:ext cx="237744" cy="237744"/>
          </a:xfrm>
          <a:prstGeom prst="rect">
            <a:avLst/>
          </a:prstGeom>
        </p:spPr>
      </p:pic>
      <p:sp>
        <p:nvSpPr>
          <p:cNvPr id="18" name="Teaser 4 text"/>
          <p:cNvSpPr txBox="1"/>
          <p:nvPr/>
        </p:nvSpPr>
        <p:spPr>
          <a:xfrm>
            <a:off x="9153144" y="20391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TIC 3.0 branch edge</a:t>
            </a:r>
            <a:endParaRPr lang="en-US" sz="1400" dirty="0"/>
          </a:p>
          <a:p>
            <a:pPr marL="0" indent="0">
              <a:spcAft>
                <a:spcPts val="300"/>
              </a:spcAft>
              <a:buNone/>
            </a:pPr>
            <a:r>
              <a:rPr lang="en-US" sz="1350" dirty="0">
                <a:solidFill>
                  <a:schemeClr val="tx2"/>
                </a:solidFill>
              </a:rPr>
              <a:t>SD-WAN versus direct internet access</a:t>
            </a:r>
            <a:endParaRPr lang="en-US" sz="1400" dirty="0"/>
          </a:p>
        </p:txBody>
      </p:sp>
      <p:sp>
        <p:nvSpPr>
          <p:cNvPr id="19" name="Teaser 5"/>
          <p:cNvSpPr/>
          <p:nvPr/>
        </p:nvSpPr>
        <p:spPr>
          <a:xfrm>
            <a:off x="548640" y="3383280"/>
            <a:ext cx="2670048" cy="1920240"/>
          </a:xfrm>
          <a:prstGeom prst="roundRect">
            <a:avLst>
              <a:gd name="adj" fmla="val 381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0" name="Icon FaServer"/>
          <p:cNvSpPr/>
          <p:nvPr/>
        </p:nvSpPr>
        <p:spPr>
          <a:xfrm>
            <a:off x="731520" y="3547872"/>
            <a:ext cx="457200" cy="457200"/>
          </a:xfrm>
          <a:prstGeom prst="ellipse">
            <a:avLst/>
          </a:prstGeom>
          <a:solidFill>
            <a:srgbClr val="0F766E"/>
          </a:solidFill>
          <a:ln w="12700">
            <a:solidFill>
              <a:srgbClr val="0F766E"/>
            </a:solidFill>
            <a:prstDash val="solid"/>
          </a:ln>
        </p:spPr>
      </p:sp>
      <p:pic>
        <p:nvPicPr>
          <p:cNvPr id="21" name="Image 4" descr="C:\Users\whale\AppData\Local\Temp\claude\C--Users-whale-git-uiao-inbox\cbd5b766-acc0-4006-9202-a9bb6b23e97b\scratchpad\deck\icons\FaServer.png"/>
          <p:cNvPicPr>
            <a:picLocks noChangeAspect="1"/>
          </p:cNvPicPr>
          <p:nvPr/>
        </p:nvPicPr>
        <p:blipFill>
          <a:blip r:embed="rId9"/>
          <a:stretch>
            <a:fillRect/>
          </a:stretch>
        </p:blipFill>
        <p:spPr>
          <a:xfrm>
            <a:off x="841248" y="3657600"/>
            <a:ext cx="237744" cy="237744"/>
          </a:xfrm>
          <a:prstGeom prst="rect">
            <a:avLst/>
          </a:prstGeom>
        </p:spPr>
      </p:pic>
      <p:sp>
        <p:nvSpPr>
          <p:cNvPr id="22" name="Teaser 5 text"/>
          <p:cNvSpPr txBox="1"/>
          <p:nvPr/>
        </p:nvSpPr>
        <p:spPr>
          <a:xfrm>
            <a:off x="731520" y="40965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Client-server to hybrid cloud</a:t>
            </a:r>
            <a:endParaRPr lang="en-US" sz="1400" dirty="0"/>
          </a:p>
          <a:p>
            <a:pPr marL="0" indent="0">
              <a:spcAft>
                <a:spcPts val="300"/>
              </a:spcAft>
              <a:buNone/>
            </a:pPr>
            <a:r>
              <a:rPr lang="en-US" sz="1350" dirty="0">
                <a:solidFill>
                  <a:schemeClr val="tx2"/>
                </a:solidFill>
              </a:rPr>
              <a:t>Application path from on-premises to cloud</a:t>
            </a:r>
            <a:endParaRPr lang="en-US" sz="1400" dirty="0"/>
          </a:p>
        </p:txBody>
      </p:sp>
      <p:sp>
        <p:nvSpPr>
          <p:cNvPr id="23" name="Teaser 6"/>
          <p:cNvSpPr/>
          <p:nvPr/>
        </p:nvSpPr>
        <p:spPr>
          <a:xfrm>
            <a:off x="3355848" y="3383280"/>
            <a:ext cx="2670048" cy="1920240"/>
          </a:xfrm>
          <a:prstGeom prst="roundRect">
            <a:avLst>
              <a:gd name="adj" fmla="val 381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4" name="Icon FaDatabase"/>
          <p:cNvSpPr/>
          <p:nvPr/>
        </p:nvSpPr>
        <p:spPr>
          <a:xfrm>
            <a:off x="3538728" y="3547872"/>
            <a:ext cx="457200" cy="457200"/>
          </a:xfrm>
          <a:prstGeom prst="ellipse">
            <a:avLst/>
          </a:prstGeom>
          <a:solidFill>
            <a:srgbClr val="0F766E"/>
          </a:solidFill>
          <a:ln w="12700">
            <a:solidFill>
              <a:srgbClr val="0F766E"/>
            </a:solidFill>
            <a:prstDash val="solid"/>
          </a:ln>
        </p:spPr>
      </p:sp>
      <p:pic>
        <p:nvPicPr>
          <p:cNvPr id="25" name="Image 5" descr="C:\Users\whale\AppData\Local\Temp\claude\C--Users-whale-git-uiao-inbox\cbd5b766-acc0-4006-9202-a9bb6b23e97b\scratchpad\deck\icons\FaDatabase.png"/>
          <p:cNvPicPr>
            <a:picLocks noChangeAspect="1"/>
          </p:cNvPicPr>
          <p:nvPr/>
        </p:nvPicPr>
        <p:blipFill>
          <a:blip r:embed="rId10"/>
          <a:stretch>
            <a:fillRect/>
          </a:stretch>
        </p:blipFill>
        <p:spPr>
          <a:xfrm>
            <a:off x="3648456" y="3657600"/>
            <a:ext cx="237744" cy="237744"/>
          </a:xfrm>
          <a:prstGeom prst="rect">
            <a:avLst/>
          </a:prstGeom>
        </p:spPr>
      </p:pic>
      <p:sp>
        <p:nvSpPr>
          <p:cNvPr id="26" name="Teaser 6 text"/>
          <p:cNvSpPr txBox="1"/>
          <p:nvPr/>
        </p:nvSpPr>
        <p:spPr>
          <a:xfrm>
            <a:off x="3538728" y="40965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SQL Server identity</a:t>
            </a:r>
            <a:endParaRPr lang="en-US" sz="1400" dirty="0"/>
          </a:p>
          <a:p>
            <a:pPr marL="0" indent="0">
              <a:spcAft>
                <a:spcPts val="300"/>
              </a:spcAft>
              <a:buNone/>
            </a:pPr>
            <a:r>
              <a:rPr lang="en-US" sz="1350" dirty="0">
                <a:solidFill>
                  <a:schemeClr val="tx2"/>
                </a:solidFill>
              </a:rPr>
              <a:t>Database logins moved to governed identity</a:t>
            </a:r>
            <a:endParaRPr lang="en-US" sz="1400" dirty="0"/>
          </a:p>
        </p:txBody>
      </p:sp>
      <p:sp>
        <p:nvSpPr>
          <p:cNvPr id="27" name="Teaser 7"/>
          <p:cNvSpPr/>
          <p:nvPr/>
        </p:nvSpPr>
        <p:spPr>
          <a:xfrm>
            <a:off x="6163056" y="3383280"/>
            <a:ext cx="2670048" cy="1920240"/>
          </a:xfrm>
          <a:prstGeom prst="roundRect">
            <a:avLst>
              <a:gd name="adj" fmla="val 381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8" name="Icon FaLaptop"/>
          <p:cNvSpPr/>
          <p:nvPr/>
        </p:nvSpPr>
        <p:spPr>
          <a:xfrm>
            <a:off x="6345936" y="3547872"/>
            <a:ext cx="457200" cy="457200"/>
          </a:xfrm>
          <a:prstGeom prst="ellipse">
            <a:avLst/>
          </a:prstGeom>
          <a:solidFill>
            <a:srgbClr val="0F766E"/>
          </a:solidFill>
          <a:ln w="12700">
            <a:solidFill>
              <a:srgbClr val="0F766E"/>
            </a:solidFill>
            <a:prstDash val="solid"/>
          </a:ln>
        </p:spPr>
      </p:sp>
      <p:pic>
        <p:nvPicPr>
          <p:cNvPr id="29" name="Image 6" descr="C:\Users\whale\AppData\Local\Temp\claude\C--Users-whale-git-uiao-inbox\cbd5b766-acc0-4006-9202-a9bb6b23e97b\scratchpad\deck\icons\FaLaptop.png"/>
          <p:cNvPicPr>
            <a:picLocks noChangeAspect="1"/>
          </p:cNvPicPr>
          <p:nvPr/>
        </p:nvPicPr>
        <p:blipFill>
          <a:blip r:embed="rId11"/>
          <a:stretch>
            <a:fillRect/>
          </a:stretch>
        </p:blipFill>
        <p:spPr>
          <a:xfrm>
            <a:off x="6455664" y="3657600"/>
            <a:ext cx="237744" cy="237744"/>
          </a:xfrm>
          <a:prstGeom prst="rect">
            <a:avLst/>
          </a:prstGeom>
        </p:spPr>
      </p:pic>
      <p:sp>
        <p:nvSpPr>
          <p:cNvPr id="30" name="Teaser 7 text"/>
          <p:cNvSpPr txBox="1"/>
          <p:nvPr/>
        </p:nvSpPr>
        <p:spPr>
          <a:xfrm>
            <a:off x="6345936" y="40965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GPO sunset to Intune and Arc</a:t>
            </a:r>
            <a:endParaRPr lang="en-US" sz="1400" dirty="0"/>
          </a:p>
          <a:p>
            <a:pPr marL="0" indent="0">
              <a:spcAft>
                <a:spcPts val="300"/>
              </a:spcAft>
              <a:buNone/>
            </a:pPr>
            <a:r>
              <a:rPr lang="en-US" sz="1350" dirty="0">
                <a:solidFill>
                  <a:schemeClr val="tx2"/>
                </a:solidFill>
              </a:rPr>
              <a:t>Policy and device management in the cloud</a:t>
            </a:r>
            <a:endParaRPr lang="en-US" sz="1400" dirty="0"/>
          </a:p>
        </p:txBody>
      </p:sp>
      <p:sp>
        <p:nvSpPr>
          <p:cNvPr id="31" name="Teaser 8"/>
          <p:cNvSpPr/>
          <p:nvPr/>
        </p:nvSpPr>
        <p:spPr>
          <a:xfrm>
            <a:off x="8970264" y="3383280"/>
            <a:ext cx="2670048" cy="1920240"/>
          </a:xfrm>
          <a:prstGeom prst="roundRect">
            <a:avLst>
              <a:gd name="adj" fmla="val 381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32" name="Icon FaShieldHalved"/>
          <p:cNvSpPr/>
          <p:nvPr/>
        </p:nvSpPr>
        <p:spPr>
          <a:xfrm>
            <a:off x="9153144" y="3547872"/>
            <a:ext cx="457200" cy="457200"/>
          </a:xfrm>
          <a:prstGeom prst="ellipse">
            <a:avLst/>
          </a:prstGeom>
          <a:solidFill>
            <a:srgbClr val="0F766E"/>
          </a:solidFill>
          <a:ln w="12700">
            <a:solidFill>
              <a:srgbClr val="0F766E"/>
            </a:solidFill>
            <a:prstDash val="solid"/>
          </a:ln>
        </p:spPr>
      </p:sp>
      <p:pic>
        <p:nvPicPr>
          <p:cNvPr id="33" name="Image 7" descr="C:\Users\whale\AppData\Local\Temp\claude\C--Users-whale-git-uiao-inbox\cbd5b766-acc0-4006-9202-a9bb6b23e97b\scratchpad\deck\icons\FaShieldHalved.png"/>
          <p:cNvPicPr>
            <a:picLocks noChangeAspect="1"/>
          </p:cNvPicPr>
          <p:nvPr/>
        </p:nvPicPr>
        <p:blipFill>
          <a:blip r:embed="rId12"/>
          <a:stretch>
            <a:fillRect/>
          </a:stretch>
        </p:blipFill>
        <p:spPr>
          <a:xfrm>
            <a:off x="9262872" y="3657600"/>
            <a:ext cx="237744" cy="237744"/>
          </a:xfrm>
          <a:prstGeom prst="rect">
            <a:avLst/>
          </a:prstGeom>
        </p:spPr>
      </p:pic>
      <p:sp>
        <p:nvSpPr>
          <p:cNvPr id="34" name="Teaser 8 text"/>
          <p:cNvSpPr txBox="1"/>
          <p:nvPr/>
        </p:nvSpPr>
        <p:spPr>
          <a:xfrm>
            <a:off x="9153144" y="40965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Continuous compliance</a:t>
            </a:r>
            <a:endParaRPr lang="en-US" sz="1400" dirty="0"/>
          </a:p>
          <a:p>
            <a:pPr marL="0" indent="0">
              <a:spcAft>
                <a:spcPts val="300"/>
              </a:spcAft>
              <a:buNone/>
            </a:pPr>
            <a:r>
              <a:rPr lang="en-US" sz="1350" dirty="0">
                <a:solidFill>
                  <a:schemeClr val="tx2"/>
                </a:solidFill>
              </a:rPr>
              <a:t>SCuBA baselines, BOD 25-01, FedRAMP 20x</a:t>
            </a:r>
            <a:endParaRPr lang="en-US" sz="1400" dirty="0"/>
          </a:p>
        </p:txBody>
      </p:sp>
      <p:sp>
        <p:nvSpPr>
          <p:cNvPr id="35" name="Teaser footer"/>
          <p:cNvSpPr/>
          <p:nvPr/>
        </p:nvSpPr>
        <p:spPr>
          <a:xfrm>
            <a:off x="548640" y="5486400"/>
            <a:ext cx="11109960" cy="640080"/>
          </a:xfrm>
          <a:prstGeom prst="roundRect">
            <a:avLst>
              <a:gd name="adj" fmla="val 1142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36" name="Teaser footer text"/>
          <p:cNvSpPr txBox="1"/>
          <p:nvPr/>
        </p:nvSpPr>
        <p:spPr>
          <a:xfrm>
            <a:off x="822960" y="5504688"/>
            <a:ext cx="10607040" cy="603504"/>
          </a:xfrm>
          <a:prstGeom prst="rect">
            <a:avLst/>
          </a:prstGeom>
          <a:noFill/>
          <a:ln/>
        </p:spPr>
        <p:txBody>
          <a:bodyPr wrap="square" lIns="0" tIns="0" rIns="0" bIns="0" rtlCol="0" anchor="ctr"/>
          <a:lstStyle/>
          <a:p>
            <a:pPr marL="0" indent="0">
              <a:buNone/>
            </a:pPr>
            <a:r>
              <a:rPr lang="en-US" sz="1600" b="1" dirty="0">
                <a:solidFill>
                  <a:srgbClr val="B45309"/>
                </a:solidFill>
              </a:rPr>
              <a:t>Also: </a:t>
            </a:r>
            <a:r>
              <a:rPr lang="en-US" sz="1600" dirty="0">
                <a:solidFill>
                  <a:schemeClr val="tx2"/>
                </a:solidFill>
              </a:rPr>
              <a:t>Zero Trust whole-agency unification · AI identity governance · help desk Entra operations</a:t>
            </a:r>
            <a:endParaRPr lang="en-US" sz="16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38" name="Narration">
            <a:hlinkClick r:id="" action="ppaction://media"/>
            <a:extLst>
              <a:ext uri="{FF2B5EF4-FFF2-40B4-BE49-F238E27FC236}">
                <a16:creationId xmlns:a16="http://schemas.microsoft.com/office/drawing/2014/main" id="{FCAD363C-29F7-8CAC-D218-8D1EED357A8A}"/>
              </a:ext>
            </a:extLst>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860"/>
    </mc:Choice>
    <mc:Fallback>
      <p:transition spd="slow" advTm="43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864"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HR-Driven Identity">
  <a:themeElements>
    <a:clrScheme name="HR-Driven Identity">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HR-Driven Ident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4824</Words>
  <Application>Microsoft Office PowerPoint</Application>
  <PresentationFormat>Widescreen</PresentationFormat>
  <Paragraphs>346</Paragraphs>
  <Slides>15</Slides>
  <Notes>15</Notes>
  <HiddenSlides>0</HiddenSlides>
  <MMClips>15</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Consolas</vt:lpstr>
      <vt:lpstr>HR-Driven Identity</vt:lpstr>
      <vt:lpstr>HR-Driven Identity Modernization</vt:lpstr>
      <vt:lpstr>HRIT arrives in late 2027 — build identity into it</vt:lpstr>
      <vt:lpstr>Why we need HR-driven ICAM now</vt:lpstr>
      <vt:lpstr>I’ve lived the impact of manually provisioned ICAM</vt:lpstr>
      <vt:lpstr>The window closes at SSA’s interconnection go-live</vt:lpstr>
      <vt:lpstr>Drive identity from OPM’s standard HR data</vt:lpstr>
      <vt:lpstr>Personnel actions drive the lifecycle — by code, not by ticket</vt:lpstr>
      <vt:lpstr>Model the person, not the account: layered identifiers</vt:lpstr>
      <vt:lpstr>HR → canonical model → Entra ID and AD → ICAM</vt:lpstr>
      <vt:lpstr>Logical architecture and Microsoft realization</vt:lpstr>
      <vt:lpstr>ICAM: attributes drive credentials, assurance and access</vt:lpstr>
      <vt:lpstr>Privacy by design: HR data in identity is a disclosure</vt:lpstr>
      <vt:lpstr>The governance I’d bring to deliver it safely</vt:lpstr>
      <vt:lpstr>Roadmap and the ask</vt:lpstr>
      <vt:lpstr>More modernizations I’ve designed for the agency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HR-Driven Identity</dc:title>
  <dc:subject>PptxGenJS Presentation</dc:subject>
  <dc:creator>Mike Stratton</dc:creator>
  <cp:lastModifiedBy>Michael Stratton</cp:lastModifiedBy>
  <cp:revision>2</cp:revision>
  <dcterms:created xsi:type="dcterms:W3CDTF">2026-10-19T21:21:31Z</dcterms:created>
  <dcterms:modified xsi:type="dcterms:W3CDTF">2026-10-19T21:25:37Z</dcterms:modified>
</cp:coreProperties>
</file>