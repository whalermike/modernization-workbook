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ecision" id="{61DADBBE-95B2-A09F-2F4D-65EBD12449A6}">
          <p14:sldIdLst>
            <p14:sldId id="256"/>
            <p14:sldId id="257"/>
            <p14:sldId id="258"/>
            <p14:sldId id="259"/>
          </p14:sldIdLst>
        </p14:section>
        <p14:section name="Making it real" id="{F92649BA-1E8D-F9C5-69DF-039C4AF00C85}">
          <p14:sldIdLst>
            <p14:sldId id="260"/>
            <p14:sldId id="261"/>
            <p14:sldId id="262"/>
            <p14:sldId id="263"/>
            <p14:sldId id="264"/>
          </p14:sldIdLst>
        </p14:section>
        <p14:section name="Backup" id="{8D6E474E-3FF0-E0A2-3E44-9A92834CBC0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574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[0:00–0:50]  Good morning, and thank you.
Digital identity has two faces: the public who sign in to an agency's services, and the workforce who serve them. Both rest on the same data discipline: one person, one key the agency controls, and every fact owned by one authoritative source. I'll show that discipline through the workforce face, because Federal HR 2.0 puts it on every agency's calendar.
I have one proposal, and I'll take it through four questions, the way I'd take it to leadership: why it matters, what we should do, who has to be involved, and how we'd carry it out and know it's working.
Workbook: HR-Driven Identity, Chapter 00 — Overview and Applicability.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[0:50–2:40]  Why. Based on current visibility, many agencies do not operate a comprehensive enterprise HR-driven identity lifecycle. In the processes I have observed, many workforce identity changes remain dependent on tickets or manual coordination, and that costs three ways.
Access outlives the job: when someone leaves or changes roles, removal can wait for a ticket, and a stale account is a security violation that can enable a breach of the public's records. Federal standards require revoking a separated person's credentials, and a ticket-dependent process struggles to meet that. Records we can't trust: in the processes I have observed, the phone book is wrong until someone files a ticket, and every change of manager means the organization, the manager and tool access are updated by hand. Approvals route through that same data. And cost and delay: many joiners, movers and leavers become help-desk work.
But the bigger why is where the mission is heading. Take an illustrative shared-service scenario: a cross-agency contact center, one front door for two agencies' customers. It's an example, not an approved program. The hard part of an idea like that isn't the phones: cloud contact centers make the front end easy. It's the back end. Who is this agent? Which agency's records may they see? And does their access end the day they leave, in both agencies? A standardized, HR-driven identity answers those questions by rule, the same way everywhere.
And if we do nothing, HR moves to Core HCM, identity moves to Entra ID, and we rebuild the same manual process twice, on new platforms.
Workbook: HR-Driven Identity, Chapter 01 — Why the agency needs HR-driven ICAM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[2:40–4:30]  What should we do? I've weighed four realistic options against what leadership actually has to balance: the mission and the public we serve, security, cost and resilience. Compliance matters, but on its own it isn't a reason to invest.
A, keep ticket-driven identity: no new investment, but the risk and the manual work stay where they are. That's the cost of doing nothing.
B, automate inside the directories with scripts and exports: quick and cheap, but it automates a source that isn't authoritative, so it spreads bad data faster, and it's rebuilt when HR changes platforms.
C, wait for HR 2.0 and integrate afterward: defensible, and less work this year. But program material describes interconnections occurring during the onboarding period, so waiting means retrofitting after go-live.
D, start now: HR as the source of truth, in OPM's standard personnel data, designed into both the HR onboarding and the Entra ID migration. It costs design effort up front and needs shared governance, which is why it's only partial on cost.
The judgment call: if HR 2.0 slipped a long way, C becomes reasonable. But D's first step — data standards, ownership and the person key — is no-regret either way, and it can start now from the HR data the agency already has, subject to data profiling, with the source switched to Core HCM when it arrives.
Workbook: HR-Driven Identity, Chapter 00 — Why now; Why together; Chapter 02 —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[4:30–6:40]  I propose option D, phased, starting with the no-regret steps. Four reasons.
Mission and the public: access to the public's records should end when a person's role ends, automatically, the same day; the people who serve the public should have the right access on day one; and shared services like the illustrative contact center become possible, because every agency describes its people the same way.
Cost: we build it once, while both platforms are being rebuilt anyway, and retire ticket work for routine joiners, movers and leavers.
Security: modern access decisions, Zero Trust, increasingly depend on authoritative identity, device and contextual attributes, and the identity attributes, organization, position, status and supervisor, come from HR. So the accuracy of HR data drives the accuracy of access. The federal mandates point the same way, but they're the floor, not the reason. And it gives the inspector general's perennial question — how do you know every account belongs to a current person? — a standing answer.
Resilience: by building on OPM's standard data rather than one vendor's fields, and on a person key the agency controls, the design survives the next platform change. I propose an existing enterprise ID, such as a Mainframe PIN, as the candidate, subject to validating its uniqueness, persistence, non-reassignment, population coverage, privacy constraints and historical behavior.
Two honest limits. HR 2.0 covers federal employees only, so a contractor authority decision is required: I propose evaluating suitability records, PIV sponsorship and Core HCM's contingent-worker records as candidate sources. And we should build only what HR is authoritative for.
The upside: every agency is moving to the same HR platform on the same standards, so one identity standard can serve them all, and the services they share.
Workbook: HR-Driven Identity, Chapter 01 — Why the agency needs HR-driven ICAM now; Chapter 03 — Attribute Authority; Chapter 05 — Contractors and vendors.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[6:40–8:20]  Who has to be involved. This is an organizational change as much as a technical one, so it matters who owns what.
HR owns the personnel data and its quality, at the source. When the data is wrong, it gets fixed in HR, not patched in the directory. And the OPM HR 2.0 program owns the platform, the standards and the interconnection.
The CIO's identity team uses that data to run Entra ID, Active Directory and access. Security sets the Zero Trust policy and owns the leaver path. And the help desk moves from routine tickets to handling the exceptions.
Then the guards and partners. The privacy office is in from the start, because using HR data for identity is a disclosure that needs a routine use and minimization. Contractor sponsors and the PIV office are the source for people HR doesn't cover. And partner agencies need the same standard if we're going to share services.
My role, as an enterprise data architect, is to own the data standards, the logical model and the person key: every attribute gets one name, one definition and one accountable owner. I'd chair the data working group for the effort, review the HR 2.0 integrator's design artifacts against those standards, and carry the standard to the interagency committees and working groups where it gets adopted. The person model and its attributes also become a governed piece of the agency's data and metadata inventory, which auditors increasingly ask for.
Workbook: HR-Driven Identity, Chapter 03 — Attribute Authority; Appendix B — Security and Privacy Assessment.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[8:20–10:00]  This is the data architecture underneath, and one principle carries it: the person is the durable entity. Accounts, affiliations, assignments, identifiers and credentials have different lifecycles but resolve to the same governed person.
I propose keying that person on an enterprise person key the agency controls. In the proposed canonical model, conversion creates a new affiliation for the same person, so history survives. The right-hand side shows where each piece would live; the backup slides carry the detail.
The standard behind it: one name, one definition and one owner per attribute, and the DBAs build from the logical model, not from a vendor's fields.
Workbook: HR-Driven Identity, Chapter 03 — Attribute Authority; Chapter 05 — The Canonical Workforce Identity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[10:00–12:20]  Here is how I propose we carry it out.
Data. One governed crosswalk maps OPM's standard data elements into that person model, so when HR changes platforms only the crosswalk's source side changes. Personnel actions then drive the identity events — joiner, mover, leaver — by code, using a proposed classification that the data owners validate first. Contractors come into the same model once the contractor authority decision is made.
Security. The leaver path blocks access first, within hours, and cleans up afterward. The integration runs with least privilege and no stored secrets. And anything that fails goes to a quarantine with an owner; nothing resolves itself silently.
Operations. We start now, from the HR data the agency already has, subject to data profiling, and switch the source to Core HCM when it arrives. We run in shadow mode first, comparing what HR says with what the directories hold, and fixing the gaps. We cut over one population at a time. And we close the ticket path for a population only when the data proves HR is the sole source.
The technology is the example, not the point. Here it's Oracle Core HCM feeding Microsoft's HR-driven provisioning into Entra ID and Active Directory, with access packages, lifecycle workflows and PIV downstream. If the vendors change, the design holds.
Workbook: HR-Driven Identity, Chapter 04 — Logical architecture and Microsoft realization; Chapter 05 — The standard-attribute layer; Chapter 07 — The canonical leaver sequence; Chapter 10 — Execution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[12:20–14:40]  How we'll know it's working, and what I'd need.
Six measures, each baselined in the first phase, and each one a business measure leadership can read: time from separation to blocked access, in hours, against an agency-approved threshold; credential and access revocation, reconciled to verified completion, where one credential-specific constraint is the federal requirement to terminate a PIV card that can't be collected within eighteen hours; accounts tied to a person, with orphaned accounts trending to zero; joiner and mover tickets going down, with access ready on day one; the manager and organization in the directory matching HR; and every exception with an owner and an age. As a byproduct, the same data is evidence for the controls auditors ask about.
What I'd need from leadership is one decision: start HR-driven identity now, as a design requirement of the HR 2.0 onboarding and the Entra ID migration. And to act on it: a sponsor across HR, the CIO's identity team and privacy; identity named as a consumer in the HR 2.0 interconnection plan; data owners designated, and the enterprise person key confirmed; a small team for the pre-onboarding data work; and the planning assumptions validated, with authoritative owners designated, before implementation.
Thank you. I look forward to your questions.
Workbook: HR-Driven Identity, Chapter 09 — Drift, Metrics and Evidence; Chapter 10 — Execution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over the last several years: Entra ID migration, next-generation DNS and IP address management, field office WAN and data-center consolidation, the TIC 3.0 Cloud and Branch Office cases,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Two companion decks go deeper on this one: the Contractor Identity Source deck, on who is authoritative for a contractor, and the original HR-Driven Identity deck, with the full model, lifecycle and plan.
Workbook: HR-Driven Identity, the same site's Whitepapers, Next-Generation DDI, Client-Server to Hybrid Cloud and Operational Guides sections.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HR-Driven Identity  ·  Mike Stratton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notesSlide" Target="../notesSlides/notesSlide5.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20.png"/><Relationship Id="rId12"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11" Type="http://schemas.openxmlformats.org/officeDocument/2006/relationships/image" Target="../media/image21.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notesSlide" Target="../notesSlides/notesSlide8.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4.png"/><Relationship Id="rId12" Type="http://schemas.openxmlformats.org/officeDocument/2006/relationships/image" Target="../media/image12.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3.png"/><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16.png"/><Relationship Id="rId4" Type="http://schemas.openxmlformats.org/officeDocument/2006/relationships/notesSlide" Target="../notesSlides/notesSlide9.xml"/><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lIns="0" tIns="0" rIns="0" bIns="0" rtlCol="0" anchor="t"/>
          <a:lstStyle/>
          <a:p>
            <a:pPr marL="0" indent="0">
              <a:buNone/>
            </a:pPr>
            <a:r>
              <a:rPr lang="en-US" sz="2200" dirty="0">
                <a:solidFill>
                  <a:schemeClr val="accent2"/>
                </a:solidFill>
              </a:rPr>
              <a:t>Making HR the source of truth for who gets access</a:t>
            </a:r>
            <a:endParaRPr lang="en-US" sz="2200" dirty="0"/>
          </a:p>
        </p:txBody>
      </p:sp>
      <p:sp>
        <p:nvSpPr>
          <p:cNvPr id="4" name="Agenda line"/>
          <p:cNvSpPr txBox="1"/>
          <p:nvPr/>
        </p:nvSpPr>
        <p:spPr>
          <a:xfrm>
            <a:off x="731520" y="40690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Mike Stratton</a:t>
            </a:r>
            <a:endParaRPr lang="en-US" sz="1600" dirty="0"/>
          </a:p>
          <a:p>
            <a:pPr marL="0" indent="0">
              <a:buNone/>
            </a:pPr>
            <a:r>
              <a:rPr lang="en-US" sz="1600" dirty="0">
                <a:solidFill>
                  <a:srgbClr val="64748B"/>
                </a:solidFill>
              </a:rPr>
              <a:t>Enterprise data architecture  ·  Digital identity modernization</a:t>
            </a:r>
            <a:endParaRPr lang="en-US" sz="1600" dirty="0"/>
          </a:p>
        </p:txBody>
      </p:sp>
      <p:pic>
        <p:nvPicPr>
          <p:cNvPr id="6" name="Narration">
            <a:hlinkClick r:id="" action="ppaction://media"/>
            <a:extLst>
              <a:ext uri="{FF2B5EF4-FFF2-40B4-BE49-F238E27FC236}">
                <a16:creationId xmlns:a16="http://schemas.microsoft.com/office/drawing/2014/main" id="{4C94E369-61A5-7E8D-146F-C6B146D637F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Identity is built by hand — and the mission is outgrowing it</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day head"/>
          <p:cNvSpPr txBox="1"/>
          <p:nvPr/>
        </p:nvSpPr>
        <p:spPr>
          <a:xfrm>
            <a:off x="548640" y="1280160"/>
            <a:ext cx="5943600" cy="320040"/>
          </a:xfrm>
          <a:prstGeom prst="rect">
            <a:avLst/>
          </a:prstGeom>
          <a:noFill/>
          <a:ln/>
        </p:spPr>
        <p:txBody>
          <a:bodyPr wrap="square" lIns="0" tIns="0" rIns="0" bIns="0" rtlCol="0" anchor="t"/>
          <a:lstStyle/>
          <a:p>
            <a:pPr marL="0" indent="0">
              <a:buNone/>
            </a:pPr>
            <a:r>
              <a:rPr lang="en-US" sz="1050" b="1" dirty="0">
                <a:solidFill>
                  <a:srgbClr val="64748B"/>
                </a:solidFill>
              </a:rPr>
              <a:t>TODAY: THE ENTERPRISE LIFECYCLE REMAINS SUBSTANTIALLY MANUAL AND FRAGMENTED</a:t>
            </a:r>
            <a:endParaRPr lang="en-US" sz="1050" dirty="0"/>
          </a:p>
        </p:txBody>
      </p:sp>
      <p:sp>
        <p:nvSpPr>
          <p:cNvPr id="6" name="Icon FaUserXmark"/>
          <p:cNvSpPr/>
          <p:nvPr/>
        </p:nvSpPr>
        <p:spPr>
          <a:xfrm>
            <a:off x="548640" y="1737360"/>
            <a:ext cx="566928" cy="566928"/>
          </a:xfrm>
          <a:prstGeom prst="ellipse">
            <a:avLst/>
          </a:prstGeom>
          <a:solidFill>
            <a:srgbClr val="B91C1C"/>
          </a:solidFill>
          <a:ln w="12700">
            <a:solidFill>
              <a:srgbClr val="B91C1C"/>
            </a:solidFill>
            <a:prstDash val="solid"/>
          </a:ln>
        </p:spPr>
      </p:sp>
      <p:pic>
        <p:nvPicPr>
          <p:cNvPr id="7" name="Image 0" descr="C:\Users\whale\git\uiao\inbox\SSA-Interview\build\icons\FaUserXmark.png"/>
          <p:cNvPicPr>
            <a:picLocks noChangeAspect="1"/>
          </p:cNvPicPr>
          <p:nvPr/>
        </p:nvPicPr>
        <p:blipFill>
          <a:blip r:embed="rId5"/>
          <a:stretch>
            <a:fillRect/>
          </a:stretch>
        </p:blipFill>
        <p:spPr>
          <a:xfrm>
            <a:off x="684703" y="1873423"/>
            <a:ext cx="294803" cy="294803"/>
          </a:xfrm>
          <a:prstGeom prst="rect">
            <a:avLst/>
          </a:prstGeom>
        </p:spPr>
      </p:pic>
      <p:sp>
        <p:nvSpPr>
          <p:cNvPr id="8" name="Today 1"/>
          <p:cNvSpPr txBox="1"/>
          <p:nvPr/>
        </p:nvSpPr>
        <p:spPr>
          <a:xfrm>
            <a:off x="1280160" y="1691640"/>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B91C1C"/>
                </a:solidFill>
              </a:rPr>
              <a:t>Access outlives the job</a:t>
            </a:r>
            <a:endParaRPr lang="en-US" sz="1400" dirty="0"/>
          </a:p>
          <a:p>
            <a:pPr marL="0" indent="0">
              <a:spcAft>
                <a:spcPts val="200"/>
              </a:spcAft>
              <a:buNone/>
            </a:pPr>
            <a:r>
              <a:rPr lang="en-US" sz="1400" dirty="0">
                <a:solidFill>
                  <a:schemeClr val="tx2"/>
                </a:solidFill>
              </a:rPr>
              <a:t>Many routine identity changes remain ticket-dependent, yet federal standards require revoking credentials at separation.</a:t>
            </a:r>
            <a:endParaRPr lang="en-US" sz="1400" dirty="0"/>
          </a:p>
        </p:txBody>
      </p:sp>
      <p:sp>
        <p:nvSpPr>
          <p:cNvPr id="9" name="Icon FaAddressBook"/>
          <p:cNvSpPr/>
          <p:nvPr/>
        </p:nvSpPr>
        <p:spPr>
          <a:xfrm>
            <a:off x="548640" y="2761488"/>
            <a:ext cx="566928" cy="566928"/>
          </a:xfrm>
          <a:prstGeom prst="ellipse">
            <a:avLst/>
          </a:prstGeom>
          <a:solidFill>
            <a:srgbClr val="1F2A44"/>
          </a:solidFill>
          <a:ln w="12700">
            <a:solidFill>
              <a:srgbClr val="1F2A44"/>
            </a:solidFill>
            <a:prstDash val="solid"/>
          </a:ln>
        </p:spPr>
      </p:sp>
      <p:pic>
        <p:nvPicPr>
          <p:cNvPr id="10" name="Image 1" descr="C:\Users\whale\git\uiao\inbox\SSA-Interview\build\icons\FaAddressBook.png"/>
          <p:cNvPicPr>
            <a:picLocks noChangeAspect="1"/>
          </p:cNvPicPr>
          <p:nvPr/>
        </p:nvPicPr>
        <p:blipFill>
          <a:blip r:embed="rId6"/>
          <a:stretch>
            <a:fillRect/>
          </a:stretch>
        </p:blipFill>
        <p:spPr>
          <a:xfrm>
            <a:off x="684703" y="2897551"/>
            <a:ext cx="294803" cy="294803"/>
          </a:xfrm>
          <a:prstGeom prst="rect">
            <a:avLst/>
          </a:prstGeom>
        </p:spPr>
      </p:pic>
      <p:sp>
        <p:nvSpPr>
          <p:cNvPr id="11" name="Today 2"/>
          <p:cNvSpPr txBox="1"/>
          <p:nvPr/>
        </p:nvSpPr>
        <p:spPr>
          <a:xfrm>
            <a:off x="1280160" y="2715768"/>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1F2A44"/>
                </a:solidFill>
              </a:rPr>
              <a:t>Records we can’t trust</a:t>
            </a:r>
            <a:endParaRPr lang="en-US" sz="1400" dirty="0"/>
          </a:p>
          <a:p>
            <a:pPr marL="0" indent="0">
              <a:spcAft>
                <a:spcPts val="200"/>
              </a:spcAft>
              <a:buNone/>
            </a:pPr>
            <a:r>
              <a:rPr lang="en-US" sz="1400" dirty="0">
                <a:solidFill>
                  <a:schemeClr val="tx2"/>
                </a:solidFill>
              </a:rPr>
              <a:t>In the processes observed, phone book, managers and approvals drift from HR.</a:t>
            </a:r>
            <a:endParaRPr lang="en-US" sz="1400" dirty="0"/>
          </a:p>
        </p:txBody>
      </p:sp>
      <p:sp>
        <p:nvSpPr>
          <p:cNvPr id="12" name="Icon FaUserClock"/>
          <p:cNvSpPr/>
          <p:nvPr/>
        </p:nvSpPr>
        <p:spPr>
          <a:xfrm>
            <a:off x="548640" y="3785616"/>
            <a:ext cx="566928" cy="566928"/>
          </a:xfrm>
          <a:prstGeom prst="ellipse">
            <a:avLst/>
          </a:prstGeom>
          <a:solidFill>
            <a:srgbClr val="0F766E"/>
          </a:solidFill>
          <a:ln w="12700">
            <a:solidFill>
              <a:srgbClr val="0F766E"/>
            </a:solidFill>
            <a:prstDash val="solid"/>
          </a:ln>
        </p:spPr>
      </p:sp>
      <p:pic>
        <p:nvPicPr>
          <p:cNvPr id="13" name="Image 2" descr="C:\Users\whale\git\uiao\inbox\SSA-Interview\build\icons\FaUserClock.png"/>
          <p:cNvPicPr>
            <a:picLocks noChangeAspect="1"/>
          </p:cNvPicPr>
          <p:nvPr/>
        </p:nvPicPr>
        <p:blipFill>
          <a:blip r:embed="rId7"/>
          <a:stretch>
            <a:fillRect/>
          </a:stretch>
        </p:blipFill>
        <p:spPr>
          <a:xfrm>
            <a:off x="684703" y="3921679"/>
            <a:ext cx="294803" cy="294803"/>
          </a:xfrm>
          <a:prstGeom prst="rect">
            <a:avLst/>
          </a:prstGeom>
        </p:spPr>
      </p:pic>
      <p:sp>
        <p:nvSpPr>
          <p:cNvPr id="14" name="Today 3"/>
          <p:cNvSpPr txBox="1"/>
          <p:nvPr/>
        </p:nvSpPr>
        <p:spPr>
          <a:xfrm>
            <a:off x="1280160" y="3739896"/>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0F766E"/>
                </a:solidFill>
              </a:rPr>
              <a:t>Cost and delay</a:t>
            </a:r>
            <a:endParaRPr lang="en-US" sz="1400" dirty="0"/>
          </a:p>
          <a:p>
            <a:pPr marL="0" indent="0">
              <a:spcAft>
                <a:spcPts val="200"/>
              </a:spcAft>
              <a:buNone/>
            </a:pPr>
            <a:r>
              <a:rPr lang="en-US" sz="1400" dirty="0">
                <a:solidFill>
                  <a:schemeClr val="tx2"/>
                </a:solidFill>
              </a:rPr>
              <a:t>Many joiners, movers and leavers become help-desk work.</a:t>
            </a:r>
            <a:endParaRPr lang="en-US" sz="1400" dirty="0"/>
          </a:p>
        </p:txBody>
      </p:sp>
      <p:sp>
        <p:nvSpPr>
          <p:cNvPr id="15" name="Mission box"/>
          <p:cNvSpPr/>
          <p:nvPr/>
        </p:nvSpPr>
        <p:spPr>
          <a:xfrm>
            <a:off x="6583680" y="1280160"/>
            <a:ext cx="5074920" cy="3520440"/>
          </a:xfrm>
          <a:prstGeom prst="roundRect">
            <a:avLst>
              <a:gd name="adj" fmla="val 20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PeopleArrows"/>
          <p:cNvSpPr/>
          <p:nvPr/>
        </p:nvSpPr>
        <p:spPr>
          <a:xfrm>
            <a:off x="6812280" y="1463040"/>
            <a:ext cx="685800" cy="685800"/>
          </a:xfrm>
          <a:prstGeom prst="ellipse">
            <a:avLst/>
          </a:prstGeom>
          <a:solidFill>
            <a:srgbClr val="0F766E"/>
          </a:solidFill>
          <a:ln w="12700">
            <a:solidFill>
              <a:srgbClr val="0F766E"/>
            </a:solidFill>
            <a:prstDash val="solid"/>
          </a:ln>
        </p:spPr>
      </p:sp>
      <p:pic>
        <p:nvPicPr>
          <p:cNvPr id="17" name="Image 3" descr="C:\Users\whale\git\uiao\inbox\SSA-Interview\build\icons\FaPeopleArrows.png"/>
          <p:cNvPicPr>
            <a:picLocks noChangeAspect="1"/>
          </p:cNvPicPr>
          <p:nvPr/>
        </p:nvPicPr>
        <p:blipFill>
          <a:blip r:embed="rId8"/>
          <a:stretch>
            <a:fillRect/>
          </a:stretch>
        </p:blipFill>
        <p:spPr>
          <a:xfrm>
            <a:off x="6976872" y="1627632"/>
            <a:ext cx="356616" cy="356616"/>
          </a:xfrm>
          <a:prstGeom prst="rect">
            <a:avLst/>
          </a:prstGeom>
        </p:spPr>
      </p:pic>
      <p:sp>
        <p:nvSpPr>
          <p:cNvPr id="18" name="Mission head"/>
          <p:cNvSpPr txBox="1"/>
          <p:nvPr/>
        </p:nvSpPr>
        <p:spPr>
          <a:xfrm>
            <a:off x="7680960" y="1444752"/>
            <a:ext cx="3840480" cy="777240"/>
          </a:xfrm>
          <a:prstGeom prst="rect">
            <a:avLst/>
          </a:prstGeom>
          <a:noFill/>
          <a:ln/>
        </p:spPr>
        <p:txBody>
          <a:bodyPr wrap="square" lIns="0" tIns="0" rIns="0" bIns="0" rtlCol="0" anchor="ctr"/>
          <a:lstStyle/>
          <a:p>
            <a:pPr marL="0" indent="0">
              <a:buNone/>
            </a:pPr>
            <a:r>
              <a:rPr lang="en-US" sz="1200" b="1" dirty="0">
                <a:solidFill>
                  <a:srgbClr val="64748B"/>
                </a:solidFill>
              </a:rPr>
              <a:t>WHERE THE MISSION IS HEADING</a:t>
            </a:r>
            <a:endParaRPr lang="en-US" sz="1400" dirty="0"/>
          </a:p>
          <a:p>
            <a:pPr marL="0" indent="0">
              <a:buNone/>
            </a:pPr>
            <a:r>
              <a:rPr lang="en-US" sz="1900" b="1" dirty="0">
                <a:solidFill>
                  <a:srgbClr val="0F766E"/>
                </a:solidFill>
                <a:latin typeface="Cambria" pitchFamily="34" charset="0"/>
                <a:ea typeface="Cambria" pitchFamily="34" charset="-122"/>
                <a:cs typeface="Cambria" pitchFamily="34" charset="-120"/>
              </a:rPr>
              <a:t>Shared services to the public</a:t>
            </a:r>
            <a:endParaRPr lang="en-US" sz="1400" dirty="0"/>
          </a:p>
        </p:txBody>
      </p:sp>
      <p:sp>
        <p:nvSpPr>
          <p:cNvPr id="19" name="Mission text"/>
          <p:cNvSpPr txBox="1"/>
          <p:nvPr/>
        </p:nvSpPr>
        <p:spPr>
          <a:xfrm>
            <a:off x="6858000" y="2286000"/>
            <a:ext cx="4617720" cy="2011680"/>
          </a:xfrm>
          <a:prstGeom prst="rect">
            <a:avLst/>
          </a:prstGeom>
          <a:noFill/>
          <a:ln/>
        </p:spPr>
        <p:txBody>
          <a:bodyPr wrap="square" lIns="0" tIns="0" rIns="0" bIns="0" rtlCol="0" anchor="t"/>
          <a:lstStyle/>
          <a:p>
            <a:pPr marL="0" indent="0">
              <a:spcAft>
                <a:spcPts val="300"/>
              </a:spcAft>
              <a:buNone/>
            </a:pPr>
            <a:r>
              <a:rPr lang="en-US" sz="1450" b="1" dirty="0">
                <a:solidFill>
                  <a:schemeClr val="tx2"/>
                </a:solidFill>
              </a:rPr>
              <a:t>Illustrative shared-service scenario: a cross-agency contact center. </a:t>
            </a:r>
            <a:endParaRPr lang="en-US" sz="1450" dirty="0"/>
          </a:p>
          <a:p>
            <a:pPr marL="0" indent="0">
              <a:spcAft>
                <a:spcPts val="300"/>
              </a:spcAft>
              <a:buNone/>
            </a:pPr>
            <a:r>
              <a:rPr lang="en-US" sz="1450" dirty="0">
                <a:solidFill>
                  <a:schemeClr val="tx2"/>
                </a:solidFill>
              </a:rPr>
              <a:t>Cloud contact centers make the front end easy. The hard part is the back end:</a:t>
            </a:r>
            <a:endParaRPr lang="en-US" sz="1450" dirty="0"/>
          </a:p>
          <a:p>
            <a:pPr marL="342900" indent="-342900">
              <a:spcAft>
                <a:spcPts val="300"/>
              </a:spcAft>
              <a:buSzPct val="100000"/>
              <a:buChar char="•"/>
            </a:pPr>
            <a:r>
              <a:rPr lang="en-US" sz="1500" dirty="0">
                <a:solidFill>
                  <a:schemeClr val="tx2"/>
                </a:solidFill>
              </a:rPr>
              <a:t>Who is this agent?</a:t>
            </a:r>
            <a:endParaRPr lang="en-US" sz="1450" dirty="0"/>
          </a:p>
          <a:p>
            <a:pPr marL="342900" indent="-342900">
              <a:spcAft>
                <a:spcPts val="300"/>
              </a:spcAft>
              <a:buSzPct val="100000"/>
              <a:buChar char="•"/>
            </a:pPr>
            <a:r>
              <a:rPr lang="en-US" sz="1500" dirty="0">
                <a:solidFill>
                  <a:schemeClr val="tx2"/>
                </a:solidFill>
              </a:rPr>
              <a:t>Which agency’s records may they see?</a:t>
            </a:r>
            <a:endParaRPr lang="en-US" sz="1450" dirty="0"/>
          </a:p>
          <a:p>
            <a:pPr marL="342900" indent="-342900">
              <a:spcAft>
                <a:spcPts val="300"/>
              </a:spcAft>
              <a:buSzPct val="100000"/>
              <a:buChar char="•"/>
            </a:pPr>
            <a:r>
              <a:rPr lang="en-US" sz="1500" dirty="0">
                <a:solidFill>
                  <a:schemeClr val="tx2"/>
                </a:solidFill>
              </a:rPr>
              <a:t>Does access end the day they leave — everywhere?</a:t>
            </a:r>
            <a:endParaRPr lang="en-US" sz="1450" dirty="0"/>
          </a:p>
        </p:txBody>
      </p:sp>
      <p:sp>
        <p:nvSpPr>
          <p:cNvPr id="20" name="Mission answer"/>
          <p:cNvSpPr txBox="1"/>
          <p:nvPr/>
        </p:nvSpPr>
        <p:spPr>
          <a:xfrm>
            <a:off x="6858000" y="4279392"/>
            <a:ext cx="4617720" cy="457200"/>
          </a:xfrm>
          <a:prstGeom prst="rect">
            <a:avLst/>
          </a:prstGeom>
          <a:noFill/>
          <a:ln/>
        </p:spPr>
        <p:txBody>
          <a:bodyPr wrap="square" lIns="0" tIns="0" rIns="0" bIns="0" rtlCol="0" anchor="t"/>
          <a:lstStyle/>
          <a:p>
            <a:pPr marL="0" indent="0">
              <a:buNone/>
            </a:pPr>
            <a:r>
              <a:rPr lang="en-US" sz="1450" b="1" dirty="0">
                <a:solidFill>
                  <a:srgbClr val="0F766E"/>
                </a:solidFill>
              </a:rPr>
              <a:t>A standardized, HR-driven identity answers all three by rule.</a:t>
            </a:r>
            <a:endParaRPr lang="en-US" sz="1450" dirty="0"/>
          </a:p>
        </p:txBody>
      </p:sp>
      <p:sp>
        <p:nvSpPr>
          <p:cNvPr id="21" name="Do nothing"/>
          <p:cNvSpPr/>
          <p:nvPr/>
        </p:nvSpPr>
        <p:spPr>
          <a:xfrm>
            <a:off x="548640" y="502920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TriangleExclamation"/>
          <p:cNvSpPr/>
          <p:nvPr/>
        </p:nvSpPr>
        <p:spPr>
          <a:xfrm>
            <a:off x="777240" y="5175504"/>
            <a:ext cx="749808" cy="749808"/>
          </a:xfrm>
          <a:prstGeom prst="ellipse">
            <a:avLst/>
          </a:prstGeom>
          <a:solidFill>
            <a:srgbClr val="B45309"/>
          </a:solidFill>
          <a:ln w="12700">
            <a:solidFill>
              <a:srgbClr val="B45309"/>
            </a:solidFill>
            <a:prstDash val="solid"/>
          </a:ln>
        </p:spPr>
      </p:sp>
      <p:pic>
        <p:nvPicPr>
          <p:cNvPr id="23" name="Image 4" descr="C:\Users\whale\git\uiao\inbox\SSA-Interview\build\icons\FaTriangleExclamation.png"/>
          <p:cNvPicPr>
            <a:picLocks noChangeAspect="1"/>
          </p:cNvPicPr>
          <p:nvPr/>
        </p:nvPicPr>
        <p:blipFill>
          <a:blip r:embed="rId9"/>
          <a:stretch>
            <a:fillRect/>
          </a:stretch>
        </p:blipFill>
        <p:spPr>
          <a:xfrm>
            <a:off x="957194" y="5355458"/>
            <a:ext cx="389900" cy="389900"/>
          </a:xfrm>
          <a:prstGeom prst="rect">
            <a:avLst/>
          </a:prstGeom>
        </p:spPr>
      </p:pic>
      <p:sp>
        <p:nvSpPr>
          <p:cNvPr id="24" name="Do nothing text"/>
          <p:cNvSpPr txBox="1"/>
          <p:nvPr/>
        </p:nvSpPr>
        <p:spPr>
          <a:xfrm>
            <a:off x="1737360" y="5074920"/>
            <a:ext cx="9738360" cy="960120"/>
          </a:xfrm>
          <a:prstGeom prst="rect">
            <a:avLst/>
          </a:prstGeom>
          <a:noFill/>
          <a:ln/>
        </p:spPr>
        <p:txBody>
          <a:bodyPr wrap="square" lIns="0" tIns="0" rIns="0" bIns="0" rtlCol="0" anchor="ctr"/>
          <a:lstStyle/>
          <a:p>
            <a:pPr marL="0" indent="0">
              <a:buNone/>
            </a:pPr>
            <a:r>
              <a:rPr lang="en-US" sz="1700" b="1" dirty="0">
                <a:solidFill>
                  <a:srgbClr val="B45309"/>
                </a:solidFill>
              </a:rPr>
              <a:t>If we do nothing: </a:t>
            </a:r>
            <a:r>
              <a:rPr lang="en-US" sz="1700" dirty="0">
                <a:solidFill>
                  <a:schemeClr val="tx2"/>
                </a:solidFill>
              </a:rPr>
              <a:t>HR moves to Oracle Core HCM, identity moves to Entra ID — and we rebuild the same manual process twice, on new platforms.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6" name="Narration">
            <a:hlinkClick r:id="" action="ppaction://media"/>
            <a:extLst>
              <a:ext uri="{FF2B5EF4-FFF2-40B4-BE49-F238E27FC236}">
                <a16:creationId xmlns:a16="http://schemas.microsoft.com/office/drawing/2014/main" id="{6C94A997-2A15-E779-B8E3-3D0F9C96036B}"/>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0650"/>
    </mc:Choice>
    <mc:Fallback>
      <p:transition spd="slow" advTm="100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964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Mission and the public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Scripts and exports, no HR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Automates a source that isn’t authoritative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Judgment"/>
          <p:cNvSpPr/>
          <p:nvPr/>
        </p:nvSpPr>
        <p:spPr>
          <a:xfrm>
            <a:off x="548640" y="507492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p:cNvSpPr/>
          <p:nvPr/>
        </p:nvSpPr>
        <p:spPr>
          <a:xfrm>
            <a:off x="777240" y="5239512"/>
            <a:ext cx="731520" cy="731520"/>
          </a:xfrm>
          <a:prstGeom prst="ellipse">
            <a:avLst/>
          </a:prstGeom>
          <a:solidFill>
            <a:srgbClr val="B45309"/>
          </a:solidFill>
          <a:ln w="12700">
            <a:solidFill>
              <a:srgbClr val="B45309"/>
            </a:solidFill>
            <a:prstDash val="solid"/>
          </a:ln>
        </p:spPr>
      </p:sp>
      <p:pic>
        <p:nvPicPr>
          <p:cNvPr id="8" name="Image 0" descr="C:\Users\whale\git\uiao\inbox\SSA-Interview\build\icons\FaScaleBalanced.png"/>
          <p:cNvPicPr>
            <a:picLocks noChangeAspect="1"/>
          </p:cNvPicPr>
          <p:nvPr/>
        </p:nvPicPr>
        <p:blipFill>
          <a:blip r:embed="rId5"/>
          <a:stretch>
            <a:fillRect/>
          </a:stretch>
        </p:blipFill>
        <p:spPr>
          <a:xfrm>
            <a:off x="952805" y="5415077"/>
            <a:ext cx="380390" cy="380390"/>
          </a:xfrm>
          <a:prstGeom prst="rect">
            <a:avLst/>
          </a:prstGeom>
        </p:spPr>
      </p:pic>
      <p:sp>
        <p:nvSpPr>
          <p:cNvPr id="9" name="Judgment text"/>
          <p:cNvSpPr txBox="1"/>
          <p:nvPr/>
        </p:nvSpPr>
        <p:spPr>
          <a:xfrm>
            <a:off x="1737360" y="5120640"/>
            <a:ext cx="9738360" cy="960120"/>
          </a:xfrm>
          <a:prstGeom prst="rect">
            <a:avLst/>
          </a:prstGeom>
          <a:noFill/>
          <a:ln/>
        </p:spPr>
        <p:txBody>
          <a:bodyPr wrap="square" lIns="0" tIns="0" rIns="0" bIns="0" rtlCol="0" anchor="ctr"/>
          <a:lstStyle/>
          <a:p>
            <a:pPr marL="0" indent="0">
              <a:buNone/>
            </a:pPr>
            <a:r>
              <a:rPr lang="en-US" sz="1700" b="1" dirty="0">
                <a:solidFill>
                  <a:srgbClr val="B45309"/>
                </a:solidFill>
              </a:rPr>
              <a:t>The judgment call: </a:t>
            </a:r>
            <a:r>
              <a:rPr lang="en-US" sz="1700" dirty="0">
                <a:solidFill>
                  <a:schemeClr val="tx2"/>
                </a:solidFill>
              </a:rPr>
              <a:t>if HR 2.0 slipped a long way, C becomes reasonable. But D’s first step — data standards, ownership and the person key — is no-regret either way.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a:hlinkClick r:id="" action="ppaction://media"/>
            <a:extLst>
              <a:ext uri="{FF2B5EF4-FFF2-40B4-BE49-F238E27FC236}">
                <a16:creationId xmlns:a16="http://schemas.microsoft.com/office/drawing/2014/main" id="{CADC356F-180C-4FCD-B1DD-AFF38AC7770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360"/>
    </mc:Choice>
    <mc:Fallback>
      <p:transition spd="slow" advTm="88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36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Recommendation: HR as the source of truth, starting now</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eason 1"/>
          <p:cNvSpPr/>
          <p:nvPr/>
        </p:nvSpPr>
        <p:spPr>
          <a:xfrm>
            <a:off x="548640" y="1325880"/>
            <a:ext cx="5486400"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Gear"/>
          <p:cNvSpPr/>
          <p:nvPr/>
        </p:nvSpPr>
        <p:spPr>
          <a:xfrm>
            <a:off x="777240" y="1600200"/>
            <a:ext cx="685800" cy="685800"/>
          </a:xfrm>
          <a:prstGeom prst="ellipse">
            <a:avLst/>
          </a:prstGeom>
          <a:solidFill>
            <a:srgbClr val="1F2A44"/>
          </a:solidFill>
          <a:ln w="12700">
            <a:solidFill>
              <a:srgbClr val="1F2A44"/>
            </a:solidFill>
            <a:prstDash val="solid"/>
          </a:ln>
        </p:spPr>
      </p:sp>
      <p:pic>
        <p:nvPicPr>
          <p:cNvPr id="7" name="Image 0" descr="C:\Users\whale\git\uiao\inbox\SSA-Interview\build\icons\FaUsersGear.png"/>
          <p:cNvPicPr>
            <a:picLocks noChangeAspect="1"/>
          </p:cNvPicPr>
          <p:nvPr/>
        </p:nvPicPr>
        <p:blipFill>
          <a:blip r:embed="rId5"/>
          <a:stretch>
            <a:fillRect/>
          </a:stretch>
        </p:blipFill>
        <p:spPr>
          <a:xfrm>
            <a:off x="941832" y="1764792"/>
            <a:ext cx="356616" cy="356616"/>
          </a:xfrm>
          <a:prstGeom prst="rect">
            <a:avLst/>
          </a:prstGeom>
        </p:spPr>
      </p:pic>
      <p:sp>
        <p:nvSpPr>
          <p:cNvPr id="8" name="Reason 1 text"/>
          <p:cNvSpPr txBox="1"/>
          <p:nvPr/>
        </p:nvSpPr>
        <p:spPr>
          <a:xfrm>
            <a:off x="1645920" y="148132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1F2A44"/>
                </a:solidFill>
                <a:latin typeface="Cambria" pitchFamily="34" charset="0"/>
                <a:ea typeface="Cambria" pitchFamily="34" charset="-122"/>
                <a:cs typeface="Cambria" pitchFamily="34" charset="-120"/>
              </a:rPr>
              <a:t>Mission and the public</a:t>
            </a:r>
            <a:endParaRPr lang="en-US" sz="1400" dirty="0"/>
          </a:p>
          <a:p>
            <a:pPr marL="0" indent="0">
              <a:spcAft>
                <a:spcPts val="300"/>
              </a:spcAft>
              <a:buNone/>
            </a:pPr>
            <a:r>
              <a:rPr lang="en-US" sz="1500" dirty="0">
                <a:solidFill>
                  <a:schemeClr val="tx2"/>
                </a:solidFill>
              </a:rPr>
              <a:t>Access to the public’s records ends when the role ends. Staff have the right access on day one. Shared services become possible.</a:t>
            </a:r>
            <a:endParaRPr lang="en-US" sz="1400" dirty="0"/>
          </a:p>
        </p:txBody>
      </p:sp>
      <p:sp>
        <p:nvSpPr>
          <p:cNvPr id="9" name="Reason 2"/>
          <p:cNvSpPr/>
          <p:nvPr/>
        </p:nvSpPr>
        <p:spPr>
          <a:xfrm>
            <a:off x="6144768" y="1325880"/>
            <a:ext cx="54864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ChartLine"/>
          <p:cNvSpPr/>
          <p:nvPr/>
        </p:nvSpPr>
        <p:spPr>
          <a:xfrm>
            <a:off x="6373368" y="1600200"/>
            <a:ext cx="685800" cy="685800"/>
          </a:xfrm>
          <a:prstGeom prst="ellipse">
            <a:avLst/>
          </a:prstGeom>
          <a:solidFill>
            <a:srgbClr val="0F766E"/>
          </a:solidFill>
          <a:ln w="12700">
            <a:solidFill>
              <a:srgbClr val="0F766E"/>
            </a:solidFill>
            <a:prstDash val="solid"/>
          </a:ln>
        </p:spPr>
      </p:sp>
      <p:pic>
        <p:nvPicPr>
          <p:cNvPr id="11" name="Image 1" descr="C:\Users\whale\git\uiao\inbox\SSA-Interview\build\icons\FaChartLine.png"/>
          <p:cNvPicPr>
            <a:picLocks noChangeAspect="1"/>
          </p:cNvPicPr>
          <p:nvPr/>
        </p:nvPicPr>
        <p:blipFill>
          <a:blip r:embed="rId6"/>
          <a:stretch>
            <a:fillRect/>
          </a:stretch>
        </p:blipFill>
        <p:spPr>
          <a:xfrm>
            <a:off x="6537960" y="1764792"/>
            <a:ext cx="356616" cy="356616"/>
          </a:xfrm>
          <a:prstGeom prst="rect">
            <a:avLst/>
          </a:prstGeom>
        </p:spPr>
      </p:pic>
      <p:sp>
        <p:nvSpPr>
          <p:cNvPr id="12" name="Reason 2 text"/>
          <p:cNvSpPr txBox="1"/>
          <p:nvPr/>
        </p:nvSpPr>
        <p:spPr>
          <a:xfrm>
            <a:off x="7242048" y="148132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0F766E"/>
                </a:solidFill>
                <a:latin typeface="Cambria" pitchFamily="34" charset="0"/>
                <a:ea typeface="Cambria" pitchFamily="34" charset="-122"/>
                <a:cs typeface="Cambria" pitchFamily="34" charset="-120"/>
              </a:rPr>
              <a:t>Cost</a:t>
            </a:r>
            <a:endParaRPr lang="en-US" sz="1400" dirty="0"/>
          </a:p>
          <a:p>
            <a:pPr marL="0" indent="0">
              <a:spcAft>
                <a:spcPts val="300"/>
              </a:spcAft>
              <a:buNone/>
            </a:pPr>
            <a:r>
              <a:rPr lang="en-US" sz="1500" dirty="0">
                <a:solidFill>
                  <a:schemeClr val="tx2"/>
                </a:solidFill>
              </a:rPr>
              <a:t>Build it once, while both platforms are rebuilt anyway. Retire ticket work for routine joiners, movers and leavers.</a:t>
            </a:r>
            <a:endParaRPr lang="en-US" sz="1400" dirty="0"/>
          </a:p>
        </p:txBody>
      </p:sp>
      <p:sp>
        <p:nvSpPr>
          <p:cNvPr id="13" name="Reason 3"/>
          <p:cNvSpPr/>
          <p:nvPr/>
        </p:nvSpPr>
        <p:spPr>
          <a:xfrm>
            <a:off x="548640" y="3063240"/>
            <a:ext cx="5486400" cy="1600200"/>
          </a:xfrm>
          <a:prstGeom prst="roundRect">
            <a:avLst>
              <a:gd name="adj" fmla="val 457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Icon FaShieldHalved"/>
          <p:cNvSpPr/>
          <p:nvPr/>
        </p:nvSpPr>
        <p:spPr>
          <a:xfrm>
            <a:off x="777240" y="3337560"/>
            <a:ext cx="685800" cy="685800"/>
          </a:xfrm>
          <a:prstGeom prst="ellipse">
            <a:avLst/>
          </a:prstGeom>
          <a:solidFill>
            <a:srgbClr val="B91C1C"/>
          </a:solidFill>
          <a:ln w="12700">
            <a:solidFill>
              <a:srgbClr val="B91C1C"/>
            </a:solidFill>
            <a:prstDash val="solid"/>
          </a:ln>
        </p:spPr>
      </p:sp>
      <p:pic>
        <p:nvPicPr>
          <p:cNvPr id="15" name="Image 2" descr="C:\Users\whale\git\uiao\inbox\SSA-Interview\build\icons\FaShieldHalved.png"/>
          <p:cNvPicPr>
            <a:picLocks noChangeAspect="1"/>
          </p:cNvPicPr>
          <p:nvPr/>
        </p:nvPicPr>
        <p:blipFill>
          <a:blip r:embed="rId7"/>
          <a:stretch>
            <a:fillRect/>
          </a:stretch>
        </p:blipFill>
        <p:spPr>
          <a:xfrm>
            <a:off x="941832" y="3502152"/>
            <a:ext cx="356616" cy="356616"/>
          </a:xfrm>
          <a:prstGeom prst="rect">
            <a:avLst/>
          </a:prstGeom>
        </p:spPr>
      </p:pic>
      <p:sp>
        <p:nvSpPr>
          <p:cNvPr id="16" name="Reason 3 text"/>
          <p:cNvSpPr txBox="1"/>
          <p:nvPr/>
        </p:nvSpPr>
        <p:spPr>
          <a:xfrm>
            <a:off x="1645920" y="321868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B91C1C"/>
                </a:solidFill>
                <a:latin typeface="Cambria" pitchFamily="34" charset="0"/>
                <a:ea typeface="Cambria" pitchFamily="34" charset="-122"/>
                <a:cs typeface="Cambria" pitchFamily="34" charset="-120"/>
              </a:rPr>
              <a:t>Security</a:t>
            </a:r>
            <a:endParaRPr lang="en-US" sz="1400" dirty="0"/>
          </a:p>
          <a:p>
            <a:pPr marL="0" indent="0">
              <a:spcAft>
                <a:spcPts val="300"/>
              </a:spcAft>
              <a:buNone/>
            </a:pPr>
            <a:r>
              <a:rPr lang="en-US" sz="1500" dirty="0">
                <a:solidFill>
                  <a:schemeClr val="tx2"/>
                </a:solidFill>
              </a:rPr>
              <a:t>Access decisions increasingly depend on authoritative identity, device and context attributes. Mandates are the floor, not the reason.</a:t>
            </a:r>
            <a:endParaRPr lang="en-US" sz="1400" dirty="0"/>
          </a:p>
        </p:txBody>
      </p:sp>
      <p:sp>
        <p:nvSpPr>
          <p:cNvPr id="17" name="Reason 4"/>
          <p:cNvSpPr/>
          <p:nvPr/>
        </p:nvSpPr>
        <p:spPr>
          <a:xfrm>
            <a:off x="6144768" y="3063240"/>
            <a:ext cx="5486400" cy="1600200"/>
          </a:xfrm>
          <a:prstGeom prst="roundRect">
            <a:avLst>
              <a:gd name="adj" fmla="val 457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ArrowsRotate"/>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C:\Users\whale\git\uiao\inbox\SSA-Interview\build\icons\FaArrowsRotate.png"/>
          <p:cNvPicPr>
            <a:picLocks noChangeAspect="1"/>
          </p:cNvPicPr>
          <p:nvPr/>
        </p:nvPicPr>
        <p:blipFill>
          <a:blip r:embed="rId8"/>
          <a:stretch>
            <a:fillRect/>
          </a:stretch>
        </p:blipFill>
        <p:spPr>
          <a:xfrm>
            <a:off x="6537960" y="3502152"/>
            <a:ext cx="356616" cy="356616"/>
          </a:xfrm>
          <a:prstGeom prst="rect">
            <a:avLst/>
          </a:prstGeom>
        </p:spPr>
      </p:pic>
      <p:sp>
        <p:nvSpPr>
          <p:cNvPr id="20" name="Reason 4 text"/>
          <p:cNvSpPr txBox="1"/>
          <p:nvPr/>
        </p:nvSpPr>
        <p:spPr>
          <a:xfrm>
            <a:off x="7242048" y="321868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B45309"/>
                </a:solidFill>
                <a:latin typeface="Cambria" pitchFamily="34" charset="0"/>
                <a:ea typeface="Cambria" pitchFamily="34" charset="-122"/>
                <a:cs typeface="Cambria" pitchFamily="34" charset="-120"/>
              </a:rPr>
              <a:t>Resilience</a:t>
            </a:r>
            <a:endParaRPr lang="en-US" sz="1400" dirty="0"/>
          </a:p>
          <a:p>
            <a:pPr marL="0" indent="0">
              <a:spcAft>
                <a:spcPts val="300"/>
              </a:spcAft>
              <a:buNone/>
            </a:pPr>
            <a:r>
              <a:rPr lang="en-US" sz="1500" dirty="0">
                <a:solidFill>
                  <a:schemeClr val="tx2"/>
                </a:solidFill>
              </a:rPr>
              <a:t>OPM’s standard data and a person key the agency controls survive the next platform change.</a:t>
            </a:r>
            <a:endParaRPr lang="en-US" sz="1400" dirty="0"/>
          </a:p>
        </p:txBody>
      </p:sp>
      <p:sp>
        <p:nvSpPr>
          <p:cNvPr id="21" name="Limits"/>
          <p:cNvSpPr/>
          <p:nvPr/>
        </p:nvSpPr>
        <p:spPr>
          <a:xfrm>
            <a:off x="548640" y="4892040"/>
            <a:ext cx="5486400" cy="1234440"/>
          </a:xfrm>
          <a:prstGeom prst="roundRect">
            <a:avLst>
              <a:gd name="adj" fmla="val 5926"/>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2" name="Limits text"/>
          <p:cNvSpPr txBox="1"/>
          <p:nvPr/>
        </p:nvSpPr>
        <p:spPr>
          <a:xfrm>
            <a:off x="777240" y="4937760"/>
            <a:ext cx="5120640" cy="1143000"/>
          </a:xfrm>
          <a:prstGeom prst="rect">
            <a:avLst/>
          </a:prstGeom>
          <a:noFill/>
          <a:ln/>
        </p:spPr>
        <p:txBody>
          <a:bodyPr wrap="square" lIns="0" tIns="0" rIns="0" bIns="0" rtlCol="0" anchor="ctr"/>
          <a:lstStyle/>
          <a:p>
            <a:pPr marL="0" indent="0">
              <a:buNone/>
            </a:pPr>
            <a:r>
              <a:rPr lang="en-US" sz="1400" b="1" dirty="0">
                <a:solidFill>
                  <a:srgbClr val="64748B"/>
                </a:solidFill>
              </a:rPr>
              <a:t>Honest limits: </a:t>
            </a:r>
            <a:r>
              <a:rPr lang="en-US" sz="1400" dirty="0">
                <a:solidFill>
                  <a:schemeClr val="tx2"/>
                </a:solidFill>
              </a:rPr>
              <a:t>HR 2.0 covers federal employees only. Contractor authority decision required: evaluate suitability, sponsorship, and contingent-worker records. Build only what HR is authoritative for.</a:t>
            </a:r>
            <a:endParaRPr lang="en-US" sz="1400" dirty="0"/>
          </a:p>
        </p:txBody>
      </p:sp>
      <p:sp>
        <p:nvSpPr>
          <p:cNvPr id="23" name="Upside"/>
          <p:cNvSpPr/>
          <p:nvPr/>
        </p:nvSpPr>
        <p:spPr>
          <a:xfrm>
            <a:off x="6144768" y="4892040"/>
            <a:ext cx="5513832" cy="1234440"/>
          </a:xfrm>
          <a:prstGeom prst="roundRect">
            <a:avLst>
              <a:gd name="adj" fmla="val 592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Upside text"/>
          <p:cNvSpPr txBox="1"/>
          <p:nvPr/>
        </p:nvSpPr>
        <p:spPr>
          <a:xfrm>
            <a:off x="6373368" y="4937760"/>
            <a:ext cx="5120640" cy="1143000"/>
          </a:xfrm>
          <a:prstGeom prst="rect">
            <a:avLst/>
          </a:prstGeom>
          <a:noFill/>
          <a:ln/>
        </p:spPr>
        <p:txBody>
          <a:bodyPr wrap="square" lIns="0" tIns="0" rIns="0" bIns="0" rtlCol="0" anchor="ctr"/>
          <a:lstStyle/>
          <a:p>
            <a:pPr marL="0" indent="0">
              <a:buNone/>
            </a:pPr>
            <a:r>
              <a:rPr lang="en-US" sz="1400" b="1" dirty="0">
                <a:solidFill>
                  <a:srgbClr val="0F766E"/>
                </a:solidFill>
              </a:rPr>
              <a:t>The upside: </a:t>
            </a:r>
            <a:r>
              <a:rPr lang="en-US" sz="1400" dirty="0">
                <a:solidFill>
                  <a:schemeClr val="tx2"/>
                </a:solidFill>
              </a:rPr>
              <a:t>every agency is moving to the same HR platform on the same standards — one identity standard can serve them all, and the services they share.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a:hlinkClick r:id="" action="ppaction://media"/>
            <a:extLst>
              <a:ext uri="{FF2B5EF4-FFF2-40B4-BE49-F238E27FC236}">
                <a16:creationId xmlns:a16="http://schemas.microsoft.com/office/drawing/2014/main" id="{7E567087-54C3-C842-BB13-76657E54098D}"/>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820"/>
    </mc:Choice>
    <mc:Fallback>
      <p:transition spd="slow" advTm="11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82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Who: the owners, the partners, and my role</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p:cNvSpPr/>
          <p:nvPr/>
        </p:nvSpPr>
        <p:spPr>
          <a:xfrm>
            <a:off x="548640" y="1280160"/>
            <a:ext cx="3611880" cy="3520440"/>
          </a:xfrm>
          <a:prstGeom prst="roundRect">
            <a:avLst>
              <a:gd name="adj" fmla="val 20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p:cNvSpPr/>
          <p:nvPr/>
        </p:nvSpPr>
        <p:spPr>
          <a:xfrm>
            <a:off x="749808" y="1444752"/>
            <a:ext cx="566928" cy="566928"/>
          </a:xfrm>
          <a:prstGeom prst="ellipse">
            <a:avLst/>
          </a:prstGeom>
          <a:solidFill>
            <a:srgbClr val="1F2A44"/>
          </a:solidFill>
          <a:ln w="12700">
            <a:solidFill>
              <a:srgbClr val="1F2A44"/>
            </a:solidFill>
            <a:prstDash val="solid"/>
          </a:ln>
        </p:spPr>
      </p:sp>
      <p:pic>
        <p:nvPicPr>
          <p:cNvPr id="7" name="Image 0" descr="C:\Users\whale\git\uiao\inbox\SSA-Interview\build\icons\FaBuildingColumns.png"/>
          <p:cNvPicPr>
            <a:picLocks noChangeAspect="1"/>
          </p:cNvPicPr>
          <p:nvPr/>
        </p:nvPicPr>
        <p:blipFill>
          <a:blip r:embed="rId5"/>
          <a:stretch>
            <a:fillRect/>
          </a:stretch>
        </p:blipFill>
        <p:spPr>
          <a:xfrm>
            <a:off x="885871" y="1580815"/>
            <a:ext cx="294803" cy="294803"/>
          </a:xfrm>
          <a:prstGeom prst="rect">
            <a:avLst/>
          </a:prstGeom>
        </p:spPr>
      </p:pic>
      <p:sp>
        <p:nvSpPr>
          <p:cNvPr id="8" name="Who head 1"/>
          <p:cNvSpPr txBox="1"/>
          <p:nvPr/>
        </p:nvSpPr>
        <p:spPr>
          <a:xfrm>
            <a:off x="1463040" y="1444752"/>
            <a:ext cx="256032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Owns the data</a:t>
            </a:r>
            <a:endParaRPr lang="en-US" sz="1800" dirty="0"/>
          </a:p>
        </p:txBody>
      </p:sp>
      <p:sp>
        <p:nvSpPr>
          <p:cNvPr id="9" name="Who text 1"/>
          <p:cNvSpPr txBox="1"/>
          <p:nvPr/>
        </p:nvSpPr>
        <p:spPr>
          <a:xfrm>
            <a:off x="77724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HR</a:t>
            </a:r>
            <a:endParaRPr lang="en-US" sz="1450" dirty="0"/>
          </a:p>
          <a:p>
            <a:pPr marL="0" indent="0">
              <a:spcAft>
                <a:spcPts val="600"/>
              </a:spcAft>
              <a:buNone/>
            </a:pPr>
            <a:r>
              <a:rPr lang="en-US" sz="1450" dirty="0">
                <a:solidFill>
                  <a:schemeClr val="tx2"/>
                </a:solidFill>
              </a:rPr>
              <a:t>Personnel data and its quality, at the source</a:t>
            </a:r>
            <a:endParaRPr lang="en-US" sz="1450" dirty="0"/>
          </a:p>
          <a:p>
            <a:pPr marL="0" indent="0">
              <a:spcAft>
                <a:spcPts val="600"/>
              </a:spcAft>
              <a:buNone/>
            </a:pPr>
            <a:r>
              <a:rPr lang="en-US" sz="1450" b="1" dirty="0">
                <a:solidFill>
                  <a:srgbClr val="1F2A44"/>
                </a:solidFill>
              </a:rPr>
              <a:t>OPM HR 2.0 program</a:t>
            </a:r>
            <a:endParaRPr lang="en-US" sz="1450" dirty="0"/>
          </a:p>
          <a:p>
            <a:pPr marL="0" indent="0">
              <a:spcAft>
                <a:spcPts val="600"/>
              </a:spcAft>
              <a:buNone/>
            </a:pPr>
            <a:r>
              <a:rPr lang="en-US" sz="1450" dirty="0">
                <a:solidFill>
                  <a:schemeClr val="tx2"/>
                </a:solidFill>
              </a:rPr>
              <a:t>The platform, the standards, the interconnection</a:t>
            </a:r>
            <a:endParaRPr lang="en-US" sz="1450" dirty="0"/>
          </a:p>
        </p:txBody>
      </p:sp>
      <p:sp>
        <p:nvSpPr>
          <p:cNvPr id="10" name="Who col 2"/>
          <p:cNvSpPr/>
          <p:nvPr/>
        </p:nvSpPr>
        <p:spPr>
          <a:xfrm>
            <a:off x="4297680" y="1280160"/>
            <a:ext cx="3611880" cy="3520440"/>
          </a:xfrm>
          <a:prstGeom prst="roundRect">
            <a:avLst>
              <a:gd name="adj" fmla="val 20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p:cNvSpPr/>
          <p:nvPr/>
        </p:nvSpPr>
        <p:spPr>
          <a:xfrm>
            <a:off x="4498848" y="1444752"/>
            <a:ext cx="566928" cy="566928"/>
          </a:xfrm>
          <a:prstGeom prst="ellipse">
            <a:avLst/>
          </a:prstGeom>
          <a:solidFill>
            <a:srgbClr val="0F766E"/>
          </a:solidFill>
          <a:ln w="12700">
            <a:solidFill>
              <a:srgbClr val="0F766E"/>
            </a:solidFill>
            <a:prstDash val="solid"/>
          </a:ln>
        </p:spPr>
      </p:sp>
      <p:pic>
        <p:nvPicPr>
          <p:cNvPr id="12" name="Image 1" descr="C:\Users\whale\git\uiao\inbox\SSA-Interview\build\icons\FaUsersGear.png"/>
          <p:cNvPicPr>
            <a:picLocks noChangeAspect="1"/>
          </p:cNvPicPr>
          <p:nvPr/>
        </p:nvPicPr>
        <p:blipFill>
          <a:blip r:embed="rId6"/>
          <a:stretch>
            <a:fillRect/>
          </a:stretch>
        </p:blipFill>
        <p:spPr>
          <a:xfrm>
            <a:off x="4634911" y="1580815"/>
            <a:ext cx="294803" cy="294803"/>
          </a:xfrm>
          <a:prstGeom prst="rect">
            <a:avLst/>
          </a:prstGeom>
        </p:spPr>
      </p:pic>
      <p:sp>
        <p:nvSpPr>
          <p:cNvPr id="13" name="Who head 2"/>
          <p:cNvSpPr txBox="1"/>
          <p:nvPr/>
        </p:nvSpPr>
        <p:spPr>
          <a:xfrm>
            <a:off x="5212080" y="1444752"/>
            <a:ext cx="2560320" cy="566928"/>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Uses the data</a:t>
            </a:r>
            <a:endParaRPr lang="en-US" sz="1800" dirty="0"/>
          </a:p>
        </p:txBody>
      </p:sp>
      <p:sp>
        <p:nvSpPr>
          <p:cNvPr id="14" name="Who text 2"/>
          <p:cNvSpPr txBox="1"/>
          <p:nvPr/>
        </p:nvSpPr>
        <p:spPr>
          <a:xfrm>
            <a:off x="452628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CIO identity team</a:t>
            </a:r>
            <a:endParaRPr lang="en-US" sz="1450" dirty="0"/>
          </a:p>
          <a:p>
            <a:pPr marL="0" indent="0">
              <a:spcAft>
                <a:spcPts val="600"/>
              </a:spcAft>
              <a:buNone/>
            </a:pPr>
            <a:r>
              <a:rPr lang="en-US" sz="1450" dirty="0">
                <a:solidFill>
                  <a:schemeClr val="tx2"/>
                </a:solidFill>
              </a:rPr>
              <a:t>Entra ID, Active Directory and access</a:t>
            </a:r>
            <a:endParaRPr lang="en-US" sz="1450" dirty="0"/>
          </a:p>
          <a:p>
            <a:pPr marL="0" indent="0">
              <a:spcAft>
                <a:spcPts val="600"/>
              </a:spcAft>
              <a:buNone/>
            </a:pPr>
            <a:r>
              <a:rPr lang="en-US" sz="1450" b="1" dirty="0">
                <a:solidFill>
                  <a:srgbClr val="0F766E"/>
                </a:solidFill>
              </a:rPr>
              <a:t>Security</a:t>
            </a:r>
            <a:endParaRPr lang="en-US" sz="1450" dirty="0"/>
          </a:p>
          <a:p>
            <a:pPr marL="0" indent="0">
              <a:spcAft>
                <a:spcPts val="600"/>
              </a:spcAft>
              <a:buNone/>
            </a:pPr>
            <a:r>
              <a:rPr lang="en-US" sz="1450" dirty="0">
                <a:solidFill>
                  <a:schemeClr val="tx2"/>
                </a:solidFill>
              </a:rPr>
              <a:t>Zero Trust policy and the leaver path</a:t>
            </a:r>
            <a:endParaRPr lang="en-US" sz="1450" dirty="0"/>
          </a:p>
          <a:p>
            <a:pPr marL="0" indent="0">
              <a:spcAft>
                <a:spcPts val="600"/>
              </a:spcAft>
              <a:buNone/>
            </a:pPr>
            <a:r>
              <a:rPr lang="en-US" sz="1450" b="1" dirty="0">
                <a:solidFill>
                  <a:srgbClr val="0F766E"/>
                </a:solidFill>
              </a:rPr>
              <a:t>Help desk</a:t>
            </a:r>
            <a:endParaRPr lang="en-US" sz="1450" dirty="0"/>
          </a:p>
          <a:p>
            <a:pPr marL="0" indent="0">
              <a:spcAft>
                <a:spcPts val="600"/>
              </a:spcAft>
              <a:buNone/>
            </a:pPr>
            <a:r>
              <a:rPr lang="en-US" sz="1450" dirty="0">
                <a:solidFill>
                  <a:schemeClr val="tx2"/>
                </a:solidFill>
              </a:rPr>
              <a:t>Exceptions, not routine tickets</a:t>
            </a:r>
            <a:endParaRPr lang="en-US" sz="1450" dirty="0"/>
          </a:p>
        </p:txBody>
      </p:sp>
      <p:sp>
        <p:nvSpPr>
          <p:cNvPr id="15" name="Who col 3"/>
          <p:cNvSpPr/>
          <p:nvPr/>
        </p:nvSpPr>
        <p:spPr>
          <a:xfrm>
            <a:off x="8046720" y="1280160"/>
            <a:ext cx="3611880" cy="3520440"/>
          </a:xfrm>
          <a:prstGeom prst="roundRect">
            <a:avLst>
              <a:gd name="adj" fmla="val 20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hieldHalved"/>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git\uiao\inbox\SSA-Interview\build\icons\FaShieldHalved.png"/>
          <p:cNvPicPr>
            <a:picLocks noChangeAspect="1"/>
          </p:cNvPicPr>
          <p:nvPr/>
        </p:nvPicPr>
        <p:blipFill>
          <a:blip r:embed="rId7"/>
          <a:stretch>
            <a:fillRect/>
          </a:stretch>
        </p:blipFill>
        <p:spPr>
          <a:xfrm>
            <a:off x="8383951" y="1580815"/>
            <a:ext cx="294803" cy="294803"/>
          </a:xfrm>
          <a:prstGeom prst="rect">
            <a:avLst/>
          </a:prstGeom>
        </p:spPr>
      </p:pic>
      <p:sp>
        <p:nvSpPr>
          <p:cNvPr id="18" name="Who head 3"/>
          <p:cNvSpPr txBox="1"/>
          <p:nvPr/>
        </p:nvSpPr>
        <p:spPr>
          <a:xfrm>
            <a:off x="8961120" y="1444752"/>
            <a:ext cx="2560320" cy="566928"/>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Guards and partners</a:t>
            </a:r>
            <a:endParaRPr lang="en-US" sz="1800" dirty="0"/>
          </a:p>
        </p:txBody>
      </p:sp>
      <p:sp>
        <p:nvSpPr>
          <p:cNvPr id="19" name="Who text 3"/>
          <p:cNvSpPr txBox="1"/>
          <p:nvPr/>
        </p:nvSpPr>
        <p:spPr>
          <a:xfrm>
            <a:off x="827532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Privacy office</a:t>
            </a:r>
            <a:endParaRPr lang="en-US" sz="1450" dirty="0"/>
          </a:p>
          <a:p>
            <a:pPr marL="0" indent="0">
              <a:spcAft>
                <a:spcPts val="600"/>
              </a:spcAft>
              <a:buNone/>
            </a:pPr>
            <a:r>
              <a:rPr lang="en-US" sz="1450" dirty="0">
                <a:solidFill>
                  <a:schemeClr val="tx2"/>
                </a:solidFill>
              </a:rPr>
              <a:t>Routine use and minimization, from the start</a:t>
            </a:r>
            <a:endParaRPr lang="en-US" sz="1450" dirty="0"/>
          </a:p>
          <a:p>
            <a:pPr marL="0" indent="0">
              <a:spcAft>
                <a:spcPts val="600"/>
              </a:spcAft>
              <a:buNone/>
            </a:pPr>
            <a:r>
              <a:rPr lang="en-US" sz="1450" b="1" dirty="0">
                <a:solidFill>
                  <a:srgbClr val="B45309"/>
                </a:solidFill>
              </a:rPr>
              <a:t>Contractor sponsors and PIV</a:t>
            </a:r>
            <a:endParaRPr lang="en-US" sz="1450" dirty="0"/>
          </a:p>
          <a:p>
            <a:pPr marL="0" indent="0">
              <a:spcAft>
                <a:spcPts val="600"/>
              </a:spcAft>
              <a:buNone/>
            </a:pPr>
            <a:r>
              <a:rPr lang="en-US" sz="1450" dirty="0">
                <a:solidFill>
                  <a:schemeClr val="tx2"/>
                </a:solidFill>
              </a:rPr>
              <a:t>The source for non-employees</a:t>
            </a:r>
            <a:endParaRPr lang="en-US" sz="1450" dirty="0"/>
          </a:p>
          <a:p>
            <a:pPr marL="0" indent="0">
              <a:spcAft>
                <a:spcPts val="600"/>
              </a:spcAft>
              <a:buNone/>
            </a:pPr>
            <a:r>
              <a:rPr lang="en-US" sz="1450" b="1" dirty="0">
                <a:solidFill>
                  <a:srgbClr val="B45309"/>
                </a:solidFill>
              </a:rPr>
              <a:t>Partner agencies</a:t>
            </a:r>
            <a:endParaRPr lang="en-US" sz="1450" dirty="0"/>
          </a:p>
          <a:p>
            <a:pPr marL="0" indent="0">
              <a:spcAft>
                <a:spcPts val="600"/>
              </a:spcAft>
              <a:buNone/>
            </a:pPr>
            <a:r>
              <a:rPr lang="en-US" sz="1450" dirty="0">
                <a:solidFill>
                  <a:schemeClr val="tx2"/>
                </a:solidFill>
              </a:rPr>
              <a:t>One standard for shared services</a:t>
            </a:r>
            <a:endParaRPr lang="en-US" sz="1450" dirty="0"/>
          </a:p>
        </p:txBody>
      </p:sp>
      <p:sp>
        <p:nvSpPr>
          <p:cNvPr id="20" name="My role"/>
          <p:cNvSpPr/>
          <p:nvPr/>
        </p:nvSpPr>
        <p:spPr>
          <a:xfrm>
            <a:off x="548640" y="498348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itemap"/>
          <p:cNvSpPr/>
          <p:nvPr/>
        </p:nvSpPr>
        <p:spPr>
          <a:xfrm>
            <a:off x="777240" y="5175504"/>
            <a:ext cx="749808" cy="749808"/>
          </a:xfrm>
          <a:prstGeom prst="ellipse">
            <a:avLst/>
          </a:prstGeom>
          <a:solidFill>
            <a:srgbClr val="1F2A44"/>
          </a:solidFill>
          <a:ln w="12700">
            <a:solidFill>
              <a:srgbClr val="1F2A44"/>
            </a:solidFill>
            <a:prstDash val="solid"/>
          </a:ln>
        </p:spPr>
      </p:sp>
      <p:pic>
        <p:nvPicPr>
          <p:cNvPr id="22" name="Image 3" descr="C:\Users\whale\git\uiao\inbox\SSA-Interview\build\icons\FaSitemap.png"/>
          <p:cNvPicPr>
            <a:picLocks noChangeAspect="1"/>
          </p:cNvPicPr>
          <p:nvPr/>
        </p:nvPicPr>
        <p:blipFill>
          <a:blip r:embed="rId8"/>
          <a:stretch>
            <a:fillRect/>
          </a:stretch>
        </p:blipFill>
        <p:spPr>
          <a:xfrm>
            <a:off x="957194" y="5355458"/>
            <a:ext cx="389900" cy="389900"/>
          </a:xfrm>
          <a:prstGeom prst="rect">
            <a:avLst/>
          </a:prstGeom>
        </p:spPr>
      </p:pic>
      <p:sp>
        <p:nvSpPr>
          <p:cNvPr id="23" name="My role text"/>
          <p:cNvSpPr txBox="1"/>
          <p:nvPr/>
        </p:nvSpPr>
        <p:spPr>
          <a:xfrm>
            <a:off x="1737360" y="5029200"/>
            <a:ext cx="9738360" cy="1051560"/>
          </a:xfrm>
          <a:prstGeom prst="rect">
            <a:avLst/>
          </a:prstGeom>
          <a:noFill/>
          <a:ln/>
        </p:spPr>
        <p:txBody>
          <a:bodyPr wrap="square" lIns="0" tIns="0" rIns="0" bIns="0" rtlCol="0" anchor="ctr"/>
          <a:lstStyle/>
          <a:p>
            <a:pPr marL="0" indent="0">
              <a:buNone/>
            </a:pPr>
            <a:r>
              <a:rPr lang="en-US" sz="1500" b="1" dirty="0">
                <a:solidFill>
                  <a:srgbClr val="1F2A44"/>
                </a:solidFill>
              </a:rPr>
              <a:t>My role as enterprise data architect: </a:t>
            </a:r>
            <a:r>
              <a:rPr lang="en-US" sz="1500" dirty="0">
                <a:solidFill>
                  <a:schemeClr val="tx2"/>
                </a:solidFill>
              </a:rPr>
              <a:t>own the data standards (one name, definition and owner per attribute), the logical model and the person key; review the integrator’s designs against them; carry the standard to interagency working groups.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4" name="Narration">
            <a:hlinkClick r:id="" action="ppaction://media"/>
            <a:extLst>
              <a:ext uri="{FF2B5EF4-FFF2-40B4-BE49-F238E27FC236}">
                <a16:creationId xmlns:a16="http://schemas.microsoft.com/office/drawing/2014/main" id="{150AE182-4067-056C-429C-8DD13248CBEF}"/>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1100"/>
    </mc:Choice>
    <mc:Fallback>
      <p:transition spd="slow" advTm="9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09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How: the data model, logical to physical</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Logical head"/>
          <p:cNvSpPr txBox="1"/>
          <p:nvPr/>
        </p:nvSpPr>
        <p:spPr>
          <a:xfrm>
            <a:off x="548640" y="123444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LOGICAL MODEL: TRACK THE PERSON, NOT THE ACCOUNT</a:t>
            </a:r>
            <a:endParaRPr lang="en-US" sz="1200" dirty="0"/>
          </a:p>
        </p:txBody>
      </p:sp>
      <p:sp>
        <p:nvSpPr>
          <p:cNvPr id="6" name="Entity Person"/>
          <p:cNvSpPr/>
          <p:nvPr/>
        </p:nvSpPr>
        <p:spPr>
          <a:xfrm>
            <a:off x="548640" y="1600200"/>
            <a:ext cx="2697480" cy="932688"/>
          </a:xfrm>
          <a:prstGeom prst="roundRect">
            <a:avLst>
              <a:gd name="adj" fmla="val 784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ntity Person text"/>
          <p:cNvSpPr txBox="1"/>
          <p:nvPr/>
        </p:nvSpPr>
        <p:spPr>
          <a:xfrm>
            <a:off x="658368" y="1655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1F2A44"/>
                </a:solidFill>
              </a:rPr>
              <a:t>Person</a:t>
            </a:r>
            <a:endParaRPr lang="en-US" sz="1400" dirty="0"/>
          </a:p>
          <a:p>
            <a:pPr marL="0" indent="0">
              <a:spcAft>
                <a:spcPts val="100"/>
              </a:spcAft>
              <a:buNone/>
            </a:pPr>
            <a:r>
              <a:rPr lang="en-US" sz="1150" dirty="0">
                <a:solidFill>
                  <a:schemeClr val="tx2"/>
                </a:solidFill>
              </a:rPr>
              <a:t>PK: enterprise person key, controlled by the agency.</a:t>
            </a:r>
            <a:endParaRPr lang="en-US" sz="1400" dirty="0"/>
          </a:p>
        </p:txBody>
      </p:sp>
      <p:sp>
        <p:nvSpPr>
          <p:cNvPr id="8" name="Entity Identifier"/>
          <p:cNvSpPr/>
          <p:nvPr/>
        </p:nvSpPr>
        <p:spPr>
          <a:xfrm>
            <a:off x="3611880" y="1600200"/>
            <a:ext cx="2697480" cy="932688"/>
          </a:xfrm>
          <a:prstGeom prst="roundRect">
            <a:avLst>
              <a:gd name="adj" fmla="val 784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9" name="Entity Identifier text"/>
          <p:cNvSpPr txBox="1"/>
          <p:nvPr/>
        </p:nvSpPr>
        <p:spPr>
          <a:xfrm>
            <a:off x="3721608" y="1655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1F2A44"/>
                </a:solidFill>
              </a:rPr>
              <a:t>Identifier</a:t>
            </a:r>
            <a:r>
              <a:rPr lang="en-US" sz="1100" dirty="0">
                <a:solidFill>
                  <a:srgbClr val="64748B"/>
                </a:solidFill>
              </a:rPr>
              <a:t>  N per person</a:t>
            </a:r>
            <a:endParaRPr lang="en-US" sz="1400" dirty="0"/>
          </a:p>
          <a:p>
            <a:pPr marL="0" indent="0">
              <a:spcAft>
                <a:spcPts val="100"/>
              </a:spcAft>
              <a:buNone/>
            </a:pPr>
            <a:r>
              <a:rPr lang="en-US" sz="1150" dirty="0">
                <a:solidFill>
                  <a:schemeClr val="tx2"/>
                </a:solidFill>
              </a:rPr>
              <a:t>HR person no., Entra and AD IDs, PIV. SSN: protected, never a join key.</a:t>
            </a:r>
            <a:endParaRPr lang="en-US" sz="1400" dirty="0"/>
          </a:p>
        </p:txBody>
      </p:sp>
      <p:sp>
        <p:nvSpPr>
          <p:cNvPr id="10" name="Entity Affiliation"/>
          <p:cNvSpPr/>
          <p:nvPr/>
        </p:nvSpPr>
        <p:spPr>
          <a:xfrm>
            <a:off x="548640" y="2743200"/>
            <a:ext cx="2697480" cy="932688"/>
          </a:xfrm>
          <a:prstGeom prst="roundRect">
            <a:avLst>
              <a:gd name="adj" fmla="val 784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Entity Affiliation text"/>
          <p:cNvSpPr txBox="1"/>
          <p:nvPr/>
        </p:nvSpPr>
        <p:spPr>
          <a:xfrm>
            <a:off x="658368" y="2798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0F766E"/>
                </a:solidFill>
              </a:rPr>
              <a:t>Affiliation</a:t>
            </a:r>
            <a:r>
              <a:rPr lang="en-US" sz="1100" dirty="0">
                <a:solidFill>
                  <a:srgbClr val="64748B"/>
                </a:solidFill>
              </a:rPr>
              <a:t>  N per person</a:t>
            </a:r>
            <a:endParaRPr lang="en-US" sz="1400" dirty="0"/>
          </a:p>
          <a:p>
            <a:pPr marL="0" indent="0">
              <a:spcAft>
                <a:spcPts val="100"/>
              </a:spcAft>
              <a:buNone/>
            </a:pPr>
            <a:r>
              <a:rPr lang="en-US" sz="1150" dirty="0">
                <a:solidFill>
                  <a:schemeClr val="tx2"/>
                </a:solidFill>
              </a:rPr>
              <a:t>Employee, contractor, intern. Own source; start and end dates.</a:t>
            </a:r>
            <a:endParaRPr lang="en-US" sz="1400" dirty="0"/>
          </a:p>
        </p:txBody>
      </p:sp>
      <p:sp>
        <p:nvSpPr>
          <p:cNvPr id="12" name="Entity Account"/>
          <p:cNvSpPr/>
          <p:nvPr/>
        </p:nvSpPr>
        <p:spPr>
          <a:xfrm>
            <a:off x="3611880" y="2743200"/>
            <a:ext cx="2697480" cy="932688"/>
          </a:xfrm>
          <a:prstGeom prst="roundRect">
            <a:avLst>
              <a:gd name="adj" fmla="val 784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Entity Account text"/>
          <p:cNvSpPr txBox="1"/>
          <p:nvPr/>
        </p:nvSpPr>
        <p:spPr>
          <a:xfrm>
            <a:off x="3721608" y="2798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0F766E"/>
                </a:solidFill>
              </a:rPr>
              <a:t>Account</a:t>
            </a:r>
            <a:r>
              <a:rPr lang="en-US" sz="1100" dirty="0">
                <a:solidFill>
                  <a:srgbClr val="64748B"/>
                </a:solidFill>
              </a:rPr>
              <a:t>  N per person</a:t>
            </a:r>
            <a:endParaRPr lang="en-US" sz="1400" dirty="0"/>
          </a:p>
          <a:p>
            <a:pPr marL="0" indent="0">
              <a:spcAft>
                <a:spcPts val="100"/>
              </a:spcAft>
              <a:buNone/>
            </a:pPr>
            <a:r>
              <a:rPr lang="en-US" sz="1150" dirty="0">
                <a:solidFill>
                  <a:schemeClr val="tx2"/>
                </a:solidFill>
              </a:rPr>
              <a:t>Entra ID, Active Directory. Always tied to the person key.</a:t>
            </a:r>
            <a:endParaRPr lang="en-US" sz="1400" dirty="0"/>
          </a:p>
        </p:txBody>
      </p:sp>
      <p:sp>
        <p:nvSpPr>
          <p:cNvPr id="14" name="Entity Assignment"/>
          <p:cNvSpPr/>
          <p:nvPr/>
        </p:nvSpPr>
        <p:spPr>
          <a:xfrm>
            <a:off x="548640" y="3886200"/>
            <a:ext cx="2697480" cy="932688"/>
          </a:xfrm>
          <a:prstGeom prst="roundRect">
            <a:avLst>
              <a:gd name="adj" fmla="val 784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5" name="Entity Assignment text"/>
          <p:cNvSpPr txBox="1"/>
          <p:nvPr/>
        </p:nvSpPr>
        <p:spPr>
          <a:xfrm>
            <a:off x="658368" y="3941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B45309"/>
                </a:solidFill>
              </a:rPr>
              <a:t>Assignment</a:t>
            </a:r>
            <a:r>
              <a:rPr lang="en-US" sz="1100" dirty="0">
                <a:solidFill>
                  <a:srgbClr val="64748B"/>
                </a:solidFill>
              </a:rPr>
              <a:t>  N per affiliation</a:t>
            </a:r>
            <a:endParaRPr lang="en-US" sz="1400" dirty="0"/>
          </a:p>
          <a:p>
            <a:pPr marL="0" indent="0">
              <a:spcAft>
                <a:spcPts val="100"/>
              </a:spcAft>
              <a:buNone/>
            </a:pPr>
            <a:r>
              <a:rPr lang="en-US" sz="1150" dirty="0">
                <a:solidFill>
                  <a:schemeClr val="tx2"/>
                </a:solidFill>
              </a:rPr>
              <a:t>Position, status, supervisor (a Person). Effective-dated.</a:t>
            </a:r>
            <a:endParaRPr lang="en-US" sz="1400" dirty="0"/>
          </a:p>
        </p:txBody>
      </p:sp>
      <p:sp>
        <p:nvSpPr>
          <p:cNvPr id="16" name="Entity Org unit"/>
          <p:cNvSpPr/>
          <p:nvPr/>
        </p:nvSpPr>
        <p:spPr>
          <a:xfrm>
            <a:off x="3611880" y="3886200"/>
            <a:ext cx="2697480" cy="932688"/>
          </a:xfrm>
          <a:prstGeom prst="roundRect">
            <a:avLst>
              <a:gd name="adj" fmla="val 784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Entity Org unit text"/>
          <p:cNvSpPr txBox="1"/>
          <p:nvPr/>
        </p:nvSpPr>
        <p:spPr>
          <a:xfrm>
            <a:off x="3721608" y="3941064"/>
            <a:ext cx="2478024" cy="822960"/>
          </a:xfrm>
          <a:prstGeom prst="rect">
            <a:avLst/>
          </a:prstGeom>
          <a:noFill/>
          <a:ln/>
        </p:spPr>
        <p:txBody>
          <a:bodyPr wrap="square" lIns="0" tIns="0" rIns="0" bIns="0" rtlCol="0" anchor="t"/>
          <a:lstStyle/>
          <a:p>
            <a:pPr marL="0" indent="0">
              <a:spcAft>
                <a:spcPts val="100"/>
              </a:spcAft>
              <a:buNone/>
            </a:pPr>
            <a:r>
              <a:rPr lang="en-US" sz="1450" b="1" dirty="0">
                <a:solidFill>
                  <a:srgbClr val="B45309"/>
                </a:solidFill>
              </a:rPr>
              <a:t>Org unit</a:t>
            </a:r>
            <a:r>
              <a:rPr lang="en-US" sz="1100" dirty="0">
                <a:solidFill>
                  <a:srgbClr val="64748B"/>
                </a:solidFill>
              </a:rPr>
              <a:t>  hierarchy</a:t>
            </a:r>
            <a:endParaRPr lang="en-US" sz="1400" dirty="0"/>
          </a:p>
          <a:p>
            <a:pPr marL="0" indent="0">
              <a:spcAft>
                <a:spcPts val="100"/>
              </a:spcAft>
              <a:buNone/>
            </a:pPr>
            <a:r>
              <a:rPr lang="en-US" sz="1150" dirty="0">
                <a:solidFill>
                  <a:schemeClr val="tx2"/>
                </a:solidFill>
              </a:rPr>
              <a:t>Parent org unit; agency organization codes.</a:t>
            </a:r>
            <a:endParaRPr lang="en-US" sz="1400" dirty="0"/>
          </a:p>
        </p:txBody>
      </p:sp>
      <p:sp>
        <p:nvSpPr>
          <p:cNvPr id="18" name="Shape 16"/>
          <p:cNvSpPr/>
          <p:nvPr/>
        </p:nvSpPr>
        <p:spPr>
          <a:xfrm>
            <a:off x="3246120" y="2066544"/>
            <a:ext cx="365760" cy="0"/>
          </a:xfrm>
          <a:prstGeom prst="line">
            <a:avLst/>
          </a:prstGeom>
          <a:noFill/>
          <a:ln w="19050">
            <a:solidFill>
              <a:srgbClr val="64748B"/>
            </a:solidFill>
            <a:prstDash val="solid"/>
          </a:ln>
        </p:spPr>
      </p:sp>
      <p:sp>
        <p:nvSpPr>
          <p:cNvPr id="19" name="Shape 17"/>
          <p:cNvSpPr/>
          <p:nvPr/>
        </p:nvSpPr>
        <p:spPr>
          <a:xfrm>
            <a:off x="1897380" y="2532888"/>
            <a:ext cx="0" cy="210312"/>
          </a:xfrm>
          <a:prstGeom prst="line">
            <a:avLst/>
          </a:prstGeom>
          <a:noFill/>
          <a:ln w="19050">
            <a:solidFill>
              <a:srgbClr val="64748B"/>
            </a:solidFill>
            <a:prstDash val="solid"/>
          </a:ln>
        </p:spPr>
      </p:sp>
      <p:sp>
        <p:nvSpPr>
          <p:cNvPr id="20" name="Shape 18"/>
          <p:cNvSpPr/>
          <p:nvPr/>
        </p:nvSpPr>
        <p:spPr>
          <a:xfrm>
            <a:off x="3246120" y="2395728"/>
            <a:ext cx="365760" cy="484632"/>
          </a:xfrm>
          <a:prstGeom prst="line">
            <a:avLst/>
          </a:prstGeom>
          <a:noFill/>
          <a:ln w="19050">
            <a:solidFill>
              <a:srgbClr val="64748B"/>
            </a:solidFill>
            <a:prstDash val="solid"/>
          </a:ln>
        </p:spPr>
      </p:sp>
      <p:sp>
        <p:nvSpPr>
          <p:cNvPr id="21" name="Shape 19"/>
          <p:cNvSpPr/>
          <p:nvPr/>
        </p:nvSpPr>
        <p:spPr>
          <a:xfrm>
            <a:off x="1897380" y="3675888"/>
            <a:ext cx="0" cy="210312"/>
          </a:xfrm>
          <a:prstGeom prst="line">
            <a:avLst/>
          </a:prstGeom>
          <a:noFill/>
          <a:ln w="19050">
            <a:solidFill>
              <a:srgbClr val="64748B"/>
            </a:solidFill>
            <a:prstDash val="solid"/>
          </a:ln>
        </p:spPr>
      </p:sp>
      <p:sp>
        <p:nvSpPr>
          <p:cNvPr id="22" name="Shape 20"/>
          <p:cNvSpPr/>
          <p:nvPr/>
        </p:nvSpPr>
        <p:spPr>
          <a:xfrm>
            <a:off x="3246120" y="4352544"/>
            <a:ext cx="365760" cy="0"/>
          </a:xfrm>
          <a:prstGeom prst="line">
            <a:avLst/>
          </a:prstGeom>
          <a:noFill/>
          <a:ln w="19050">
            <a:solidFill>
              <a:srgbClr val="64748B"/>
            </a:solidFill>
            <a:prstDash val="solid"/>
          </a:ln>
        </p:spPr>
      </p:sp>
      <p:sp>
        <p:nvSpPr>
          <p:cNvPr id="23" name="Model cases"/>
          <p:cNvSpPr txBox="1"/>
          <p:nvPr/>
        </p:nvSpPr>
        <p:spPr>
          <a:xfrm>
            <a:off x="548640" y="4892040"/>
            <a:ext cx="5760720" cy="548640"/>
          </a:xfrm>
          <a:prstGeom prst="rect">
            <a:avLst/>
          </a:prstGeom>
          <a:noFill/>
          <a:ln/>
        </p:spPr>
        <p:txBody>
          <a:bodyPr wrap="square" lIns="0" tIns="0" rIns="0" bIns="0" rtlCol="0" anchor="t"/>
          <a:lstStyle/>
          <a:p>
            <a:pPr marL="0" indent="0">
              <a:buNone/>
            </a:pPr>
            <a:r>
              <a:rPr lang="en-US" sz="1250" b="1" dirty="0">
                <a:solidFill>
                  <a:srgbClr val="1F2A44"/>
                </a:solidFill>
              </a:rPr>
              <a:t>Proposed canonical model: </a:t>
            </a:r>
            <a:r>
              <a:rPr lang="en-US" sz="1250" dirty="0">
                <a:solidFill>
                  <a:schemeClr val="tx2"/>
                </a:solidFill>
              </a:rPr>
              <a:t>a rehire or conversion creates a new affiliation for the same person; a reorganization adds assignment rows, and nothing is overwritten.</a:t>
            </a:r>
            <a:endParaRPr lang="en-US" sz="1250" dirty="0"/>
          </a:p>
        </p:txBody>
      </p:sp>
      <p:sp>
        <p:nvSpPr>
          <p:cNvPr id="24" name="Physical head"/>
          <p:cNvSpPr txBox="1"/>
          <p:nvPr/>
        </p:nvSpPr>
        <p:spPr>
          <a:xfrm>
            <a:off x="6537960" y="1234440"/>
            <a:ext cx="5120640" cy="274320"/>
          </a:xfrm>
          <a:prstGeom prst="rect">
            <a:avLst/>
          </a:prstGeom>
          <a:noFill/>
          <a:ln/>
        </p:spPr>
        <p:txBody>
          <a:bodyPr wrap="square" lIns="0" tIns="0" rIns="0" bIns="0" rtlCol="0" anchor="t"/>
          <a:lstStyle/>
          <a:p>
            <a:pPr marL="0" indent="0">
              <a:buNone/>
            </a:pPr>
            <a:r>
              <a:rPr lang="en-US" sz="1200" b="1" dirty="0">
                <a:solidFill>
                  <a:srgbClr val="64748B"/>
                </a:solidFill>
              </a:rPr>
              <a:t>PHYSICAL REALIZATION</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537960" y="1572768"/>
          <a:ext cx="91440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Logical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it lives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Person, Identifier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Agency-controlled person-key registry. The SSN stays in HR; it is not sent to directories.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680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Affiliation, Assignment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Interim: the current HR system, subject to data profiling and authority review. At go-live: Core HCM 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 transit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SCIM 2.0 (core and enterprise user schemas) through Entra ID inbound provisioning.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ID: employeeId = person key; employee type, hire and leave dates, manager. AD: employeeID.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History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Effective-dated rows; retained under the applicable approved schedules and legal holds.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6" name="Standards"/>
          <p:cNvSpPr/>
          <p:nvPr/>
        </p:nvSpPr>
        <p:spPr>
          <a:xfrm>
            <a:off x="548640" y="5486400"/>
            <a:ext cx="11109960" cy="640080"/>
          </a:xfrm>
          <a:prstGeom prst="roundRect">
            <a:avLst>
              <a:gd name="adj" fmla="val 1142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7" name="Standards text"/>
          <p:cNvSpPr txBox="1"/>
          <p:nvPr/>
        </p:nvSpPr>
        <p:spPr>
          <a:xfrm>
            <a:off x="777240" y="5513832"/>
            <a:ext cx="10698480" cy="585216"/>
          </a:xfrm>
          <a:prstGeom prst="rect">
            <a:avLst/>
          </a:prstGeom>
          <a:noFill/>
          <a:ln/>
        </p:spPr>
        <p:txBody>
          <a:bodyPr wrap="square" lIns="0" tIns="0" rIns="0" bIns="0" rtlCol="0" anchor="ctr"/>
          <a:lstStyle/>
          <a:p>
            <a:pPr marL="0" indent="0">
              <a:buNone/>
            </a:pPr>
            <a:r>
              <a:rPr lang="en-US" sz="1450" b="1" dirty="0">
                <a:solidFill>
                  <a:srgbClr val="1F2A44"/>
                </a:solidFill>
              </a:rPr>
              <a:t>The standard behind it: </a:t>
            </a:r>
            <a:r>
              <a:rPr lang="en-US" sz="1450" dirty="0">
                <a:solidFill>
                  <a:schemeClr val="tx2"/>
                </a:solidFill>
              </a:rPr>
              <a:t>one name, one definition, one owner per attribute, in the data dictionary. DBAs build from the logical model, not from a vendor’s fields.</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a:hlinkClick r:id="" action="ppaction://media"/>
            <a:extLst>
              <a:ext uri="{FF2B5EF4-FFF2-40B4-BE49-F238E27FC236}">
                <a16:creationId xmlns:a16="http://schemas.microsoft.com/office/drawing/2014/main" id="{2B21F7E6-2198-61CE-EDDC-E41FC6CBE80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330"/>
    </mc:Choice>
    <mc:Fallback>
      <p:transition spd="slow" advTm="42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2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How: data, security and operations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ow col 1"/>
          <p:cNvSpPr/>
          <p:nvPr/>
        </p:nvSpPr>
        <p:spPr>
          <a:xfrm>
            <a:off x="548640" y="1280160"/>
            <a:ext cx="3611880" cy="3429000"/>
          </a:xfrm>
          <a:prstGeom prst="roundRect">
            <a:avLst>
              <a:gd name="adj" fmla="val 21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Database"/>
          <p:cNvSpPr/>
          <p:nvPr/>
        </p:nvSpPr>
        <p:spPr>
          <a:xfrm>
            <a:off x="749808" y="1444752"/>
            <a:ext cx="566928" cy="566928"/>
          </a:xfrm>
          <a:prstGeom prst="ellipse">
            <a:avLst/>
          </a:prstGeom>
          <a:solidFill>
            <a:srgbClr val="0F766E"/>
          </a:solidFill>
          <a:ln w="12700">
            <a:solidFill>
              <a:srgbClr val="0F766E"/>
            </a:solidFill>
            <a:prstDash val="solid"/>
          </a:ln>
        </p:spPr>
      </p:sp>
      <p:pic>
        <p:nvPicPr>
          <p:cNvPr id="7" name="Image 0" descr="C:\Users\whale\git\uiao\inbox\SSA-Interview\build\icons\FaDatabase.png"/>
          <p:cNvPicPr>
            <a:picLocks noChangeAspect="1"/>
          </p:cNvPicPr>
          <p:nvPr/>
        </p:nvPicPr>
        <p:blipFill>
          <a:blip r:embed="rId5"/>
          <a:stretch>
            <a:fillRect/>
          </a:stretch>
        </p:blipFill>
        <p:spPr>
          <a:xfrm>
            <a:off x="885871" y="1580815"/>
            <a:ext cx="294803" cy="294803"/>
          </a:xfrm>
          <a:prstGeom prst="rect">
            <a:avLst/>
          </a:prstGeom>
        </p:spPr>
      </p:pic>
      <p:sp>
        <p:nvSpPr>
          <p:cNvPr id="8" name="How head 1"/>
          <p:cNvSpPr txBox="1"/>
          <p:nvPr/>
        </p:nvSpPr>
        <p:spPr>
          <a:xfrm>
            <a:off x="1463040" y="1444752"/>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Data</a:t>
            </a:r>
            <a:endParaRPr lang="en-US" sz="1900" dirty="0"/>
          </a:p>
        </p:txBody>
      </p:sp>
      <p:sp>
        <p:nvSpPr>
          <p:cNvPr id="9" name="How text 1"/>
          <p:cNvSpPr txBox="1"/>
          <p:nvPr/>
        </p:nvSpPr>
        <p:spPr>
          <a:xfrm>
            <a:off x="77724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One governed crosswalk: OPM standard data to a person model</a:t>
            </a:r>
            <a:endParaRPr lang="en-US" sz="1400" dirty="0"/>
          </a:p>
          <a:p>
            <a:pPr marL="342900" indent="-342900">
              <a:spcAft>
                <a:spcPts val="600"/>
              </a:spcAft>
              <a:buSzPct val="100000"/>
              <a:buChar char="•"/>
            </a:pPr>
            <a:r>
              <a:rPr lang="en-US" sz="1500" dirty="0">
                <a:solidFill>
                  <a:schemeClr val="tx2"/>
                </a:solidFill>
              </a:rPr>
              <a:t>Keyed on an enterprise ID the agency controls</a:t>
            </a:r>
            <a:endParaRPr lang="en-US" sz="1400" dirty="0"/>
          </a:p>
          <a:p>
            <a:pPr marL="342900" indent="-342900">
              <a:spcAft>
                <a:spcPts val="600"/>
              </a:spcAft>
              <a:buSzPct val="100000"/>
              <a:buChar char="•"/>
            </a:pPr>
            <a:r>
              <a:rPr lang="en-US" sz="1500" dirty="0">
                <a:solidFill>
                  <a:schemeClr val="tx2"/>
                </a:solidFill>
              </a:rPr>
              <a:t>Personnel actions drive joiner, mover, leaver by code</a:t>
            </a:r>
            <a:endParaRPr lang="en-US" sz="1400" dirty="0"/>
          </a:p>
          <a:p>
            <a:pPr marL="342900" indent="-342900">
              <a:spcAft>
                <a:spcPts val="600"/>
              </a:spcAft>
              <a:buSzPct val="100000"/>
              <a:buChar char="•"/>
            </a:pPr>
            <a:r>
              <a:rPr lang="en-US" sz="1500" dirty="0">
                <a:solidFill>
                  <a:schemeClr val="tx2"/>
                </a:solidFill>
              </a:rPr>
              <a:t>Contractors: authority decision first, same model</a:t>
            </a:r>
            <a:endParaRPr lang="en-US" sz="1400" dirty="0"/>
          </a:p>
        </p:txBody>
      </p:sp>
      <p:sp>
        <p:nvSpPr>
          <p:cNvPr id="10" name="How col 2"/>
          <p:cNvSpPr/>
          <p:nvPr/>
        </p:nvSpPr>
        <p:spPr>
          <a:xfrm>
            <a:off x="4297680" y="1280160"/>
            <a:ext cx="3611880" cy="3429000"/>
          </a:xfrm>
          <a:prstGeom prst="roundRect">
            <a:avLst>
              <a:gd name="adj" fmla="val 213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Lock"/>
          <p:cNvSpPr/>
          <p:nvPr/>
        </p:nvSpPr>
        <p:spPr>
          <a:xfrm>
            <a:off x="4498848" y="1444752"/>
            <a:ext cx="566928" cy="566928"/>
          </a:xfrm>
          <a:prstGeom prst="ellipse">
            <a:avLst/>
          </a:prstGeom>
          <a:solidFill>
            <a:srgbClr val="B91C1C"/>
          </a:solidFill>
          <a:ln w="12700">
            <a:solidFill>
              <a:srgbClr val="B91C1C"/>
            </a:solidFill>
            <a:prstDash val="solid"/>
          </a:ln>
        </p:spPr>
      </p:sp>
      <p:pic>
        <p:nvPicPr>
          <p:cNvPr id="12" name="Image 1" descr="C:\Users\whale\git\uiao\inbox\SSA-Interview\build\icons\FaLock.png"/>
          <p:cNvPicPr>
            <a:picLocks noChangeAspect="1"/>
          </p:cNvPicPr>
          <p:nvPr/>
        </p:nvPicPr>
        <p:blipFill>
          <a:blip r:embed="rId6"/>
          <a:stretch>
            <a:fillRect/>
          </a:stretch>
        </p:blipFill>
        <p:spPr>
          <a:xfrm>
            <a:off x="4634911" y="1580815"/>
            <a:ext cx="294803" cy="294803"/>
          </a:xfrm>
          <a:prstGeom prst="rect">
            <a:avLst/>
          </a:prstGeom>
        </p:spPr>
      </p:pic>
      <p:sp>
        <p:nvSpPr>
          <p:cNvPr id="13" name="How head 2"/>
          <p:cNvSpPr txBox="1"/>
          <p:nvPr/>
        </p:nvSpPr>
        <p:spPr>
          <a:xfrm>
            <a:off x="5212080" y="1444752"/>
            <a:ext cx="2560320" cy="566928"/>
          </a:xfrm>
          <a:prstGeom prst="rect">
            <a:avLst/>
          </a:prstGeom>
          <a:noFill/>
          <a:ln/>
        </p:spPr>
        <p:txBody>
          <a:bodyPr wrap="square" lIns="0" tIns="0" rIns="0" bIns="0" rtlCol="0" anchor="ctr"/>
          <a:lstStyle/>
          <a:p>
            <a:pPr marL="0" indent="0">
              <a:buNone/>
            </a:pPr>
            <a:r>
              <a:rPr lang="en-US" sz="1900" b="1" dirty="0">
                <a:solidFill>
                  <a:srgbClr val="B91C1C"/>
                </a:solidFill>
                <a:latin typeface="Cambria" pitchFamily="34" charset="0"/>
                <a:ea typeface="Cambria" pitchFamily="34" charset="-122"/>
                <a:cs typeface="Cambria" pitchFamily="34" charset="-120"/>
              </a:rPr>
              <a:t>Security</a:t>
            </a:r>
            <a:endParaRPr lang="en-US" sz="1900" dirty="0"/>
          </a:p>
        </p:txBody>
      </p:sp>
      <p:sp>
        <p:nvSpPr>
          <p:cNvPr id="14" name="How text 2"/>
          <p:cNvSpPr txBox="1"/>
          <p:nvPr/>
        </p:nvSpPr>
        <p:spPr>
          <a:xfrm>
            <a:off x="452628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Leavers: block access first, within hours, then clean up</a:t>
            </a:r>
            <a:endParaRPr lang="en-US" sz="1400" dirty="0"/>
          </a:p>
          <a:p>
            <a:pPr marL="342900" indent="-342900">
              <a:spcAft>
                <a:spcPts val="600"/>
              </a:spcAft>
              <a:buSzPct val="100000"/>
              <a:buChar char="•"/>
            </a:pPr>
            <a:r>
              <a:rPr lang="en-US" sz="1500" dirty="0">
                <a:solidFill>
                  <a:schemeClr val="tx2"/>
                </a:solidFill>
              </a:rPr>
              <a:t>Least privilege; no stored secrets</a:t>
            </a:r>
            <a:endParaRPr lang="en-US" sz="1400" dirty="0"/>
          </a:p>
          <a:p>
            <a:pPr marL="342900" indent="-342900">
              <a:spcAft>
                <a:spcPts val="600"/>
              </a:spcAft>
              <a:buSzPct val="100000"/>
              <a:buChar char="•"/>
            </a:pPr>
            <a:r>
              <a:rPr lang="en-US" sz="1500" dirty="0">
                <a:solidFill>
                  <a:schemeClr val="tx2"/>
                </a:solidFill>
              </a:rPr>
              <a:t>Failures quarantined with an owner — nothing auto-resolves</a:t>
            </a:r>
            <a:endParaRPr lang="en-US" sz="1400" dirty="0"/>
          </a:p>
        </p:txBody>
      </p:sp>
      <p:sp>
        <p:nvSpPr>
          <p:cNvPr id="15" name="How col 3"/>
          <p:cNvSpPr/>
          <p:nvPr/>
        </p:nvSpPr>
        <p:spPr>
          <a:xfrm>
            <a:off x="8046720" y="1280160"/>
            <a:ext cx="3611880" cy="3429000"/>
          </a:xfrm>
          <a:prstGeom prst="roundRect">
            <a:avLst>
              <a:gd name="adj" fmla="val 21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Route"/>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git\uiao\inbox\SSA-Interview\build\icons\FaRoute.png"/>
          <p:cNvPicPr>
            <a:picLocks noChangeAspect="1"/>
          </p:cNvPicPr>
          <p:nvPr/>
        </p:nvPicPr>
        <p:blipFill>
          <a:blip r:embed="rId7"/>
          <a:stretch>
            <a:fillRect/>
          </a:stretch>
        </p:blipFill>
        <p:spPr>
          <a:xfrm>
            <a:off x="8383951" y="1580815"/>
            <a:ext cx="294803" cy="294803"/>
          </a:xfrm>
          <a:prstGeom prst="rect">
            <a:avLst/>
          </a:prstGeom>
        </p:spPr>
      </p:pic>
      <p:sp>
        <p:nvSpPr>
          <p:cNvPr id="18" name="How head 3"/>
          <p:cNvSpPr txBox="1"/>
          <p:nvPr/>
        </p:nvSpPr>
        <p:spPr>
          <a:xfrm>
            <a:off x="8961120" y="1444752"/>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Operations</a:t>
            </a:r>
            <a:endParaRPr lang="en-US" sz="1900" dirty="0"/>
          </a:p>
        </p:txBody>
      </p:sp>
      <p:sp>
        <p:nvSpPr>
          <p:cNvPr id="19" name="How text 3"/>
          <p:cNvSpPr txBox="1"/>
          <p:nvPr/>
        </p:nvSpPr>
        <p:spPr>
          <a:xfrm>
            <a:off x="827532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from today's HR data, after profiling; switch at Core HCM</a:t>
            </a:r>
            <a:endParaRPr lang="en-US" sz="1400" dirty="0"/>
          </a:p>
          <a:p>
            <a:pPr marL="342900" indent="-342900">
              <a:spcAft>
                <a:spcPts val="600"/>
              </a:spcAft>
              <a:buSzPct val="100000"/>
              <a:buChar char="•"/>
            </a:pPr>
            <a:r>
              <a:rPr lang="en-US" sz="1500" dirty="0">
                <a:solidFill>
                  <a:schemeClr val="tx2"/>
                </a:solidFill>
              </a:rPr>
              <a:t>Shadow mode first: compare HR with the directories</a:t>
            </a:r>
            <a:endParaRPr lang="en-US" sz="1400" dirty="0"/>
          </a:p>
          <a:p>
            <a:pPr marL="342900" indent="-342900">
              <a:spcAft>
                <a:spcPts val="600"/>
              </a:spcAft>
              <a:buSzPct val="100000"/>
              <a:buChar char="•"/>
            </a:pPr>
            <a:r>
              <a:rPr lang="en-US" sz="1500" dirty="0">
                <a:solidFill>
                  <a:schemeClr val="tx2"/>
                </a:solidFill>
              </a:rPr>
              <a:t>Cut over one population at a time</a:t>
            </a:r>
            <a:endParaRPr lang="en-US" sz="1400" dirty="0"/>
          </a:p>
          <a:p>
            <a:pPr marL="342900" indent="-342900">
              <a:spcAft>
                <a:spcPts val="600"/>
              </a:spcAft>
              <a:buSzPct val="100000"/>
              <a:buChar char="•"/>
            </a:pPr>
            <a:r>
              <a:rPr lang="en-US" sz="1500" dirty="0">
                <a:solidFill>
                  <a:schemeClr val="tx2"/>
                </a:solidFill>
              </a:rPr>
              <a:t>Close the ticket path only when the data proves it</a:t>
            </a:r>
            <a:endParaRPr lang="en-US" sz="1400" dirty="0"/>
          </a:p>
        </p:txBody>
      </p:sp>
      <p:sp>
        <p:nvSpPr>
          <p:cNvPr id="20" name="Stack label"/>
          <p:cNvSpPr txBox="1"/>
          <p:nvPr/>
        </p:nvSpPr>
        <p:spPr>
          <a:xfrm>
            <a:off x="548640" y="5120640"/>
            <a:ext cx="1463040" cy="548640"/>
          </a:xfrm>
          <a:prstGeom prst="rect">
            <a:avLst/>
          </a:prstGeom>
          <a:noFill/>
          <a:ln/>
        </p:spPr>
        <p:txBody>
          <a:bodyPr wrap="square" lIns="0" tIns="0" rIns="0" bIns="0" rtlCol="0" anchor="ctr"/>
          <a:lstStyle/>
          <a:p>
            <a:pPr marL="0" indent="0">
              <a:buNone/>
            </a:pPr>
            <a:r>
              <a:rPr lang="en-US" sz="1100" b="1" dirty="0">
                <a:solidFill>
                  <a:srgbClr val="64748B"/>
                </a:solidFill>
              </a:rPr>
              <a:t>EXAMPLE STACK</a:t>
            </a:r>
            <a:endParaRPr lang="en-US" sz="1100" dirty="0"/>
          </a:p>
        </p:txBody>
      </p:sp>
      <p:sp>
        <p:nvSpPr>
          <p:cNvPr id="21" name="Stack 1"/>
          <p:cNvSpPr/>
          <p:nvPr/>
        </p:nvSpPr>
        <p:spPr>
          <a:xfrm>
            <a:off x="2011680"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2" name="Stack 1 text"/>
          <p:cNvSpPr txBox="1"/>
          <p:nvPr/>
        </p:nvSpPr>
        <p:spPr>
          <a:xfrm>
            <a:off x="2084832"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Oracle Core HCM</a:t>
            </a:r>
            <a:endParaRPr lang="en-US" sz="1200" dirty="0"/>
          </a:p>
        </p:txBody>
      </p:sp>
      <p:sp>
        <p:nvSpPr>
          <p:cNvPr id="23" name="Shape 18"/>
          <p:cNvSpPr/>
          <p:nvPr/>
        </p:nvSpPr>
        <p:spPr>
          <a:xfrm>
            <a:off x="4187952" y="5417820"/>
            <a:ext cx="237744" cy="0"/>
          </a:xfrm>
          <a:prstGeom prst="line">
            <a:avLst/>
          </a:prstGeom>
          <a:noFill/>
          <a:ln w="22225">
            <a:solidFill>
              <a:srgbClr val="64748B"/>
            </a:solidFill>
            <a:prstDash val="solid"/>
            <a:tailEnd type="triangle"/>
          </a:ln>
        </p:spPr>
      </p:sp>
      <p:sp>
        <p:nvSpPr>
          <p:cNvPr id="24" name="Stack 2"/>
          <p:cNvSpPr/>
          <p:nvPr/>
        </p:nvSpPr>
        <p:spPr>
          <a:xfrm>
            <a:off x="4453128"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5" name="Stack 2 text"/>
          <p:cNvSpPr txBox="1"/>
          <p:nvPr/>
        </p:nvSpPr>
        <p:spPr>
          <a:xfrm>
            <a:off x="4526280"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Entra ID HR-driven provisioning</a:t>
            </a:r>
            <a:endParaRPr lang="en-US" sz="1200" dirty="0"/>
          </a:p>
        </p:txBody>
      </p:sp>
      <p:sp>
        <p:nvSpPr>
          <p:cNvPr id="26" name="Shape 21"/>
          <p:cNvSpPr/>
          <p:nvPr/>
        </p:nvSpPr>
        <p:spPr>
          <a:xfrm>
            <a:off x="6629400" y="5417820"/>
            <a:ext cx="237744" cy="0"/>
          </a:xfrm>
          <a:prstGeom prst="line">
            <a:avLst/>
          </a:prstGeom>
          <a:noFill/>
          <a:ln w="22225">
            <a:solidFill>
              <a:srgbClr val="64748B"/>
            </a:solidFill>
            <a:prstDash val="solid"/>
            <a:tailEnd type="triangle"/>
          </a:ln>
        </p:spPr>
      </p:sp>
      <p:sp>
        <p:nvSpPr>
          <p:cNvPr id="27" name="Stack 3"/>
          <p:cNvSpPr/>
          <p:nvPr/>
        </p:nvSpPr>
        <p:spPr>
          <a:xfrm>
            <a:off x="6894576"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8" name="Stack 3 text"/>
          <p:cNvSpPr txBox="1"/>
          <p:nvPr/>
        </p:nvSpPr>
        <p:spPr>
          <a:xfrm>
            <a:off x="6967728"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Entra ID and Active Directory</a:t>
            </a:r>
            <a:endParaRPr lang="en-US" sz="1200" dirty="0"/>
          </a:p>
        </p:txBody>
      </p:sp>
      <p:sp>
        <p:nvSpPr>
          <p:cNvPr id="29" name="Shape 24"/>
          <p:cNvSpPr/>
          <p:nvPr/>
        </p:nvSpPr>
        <p:spPr>
          <a:xfrm>
            <a:off x="9070848" y="5417820"/>
            <a:ext cx="237744" cy="0"/>
          </a:xfrm>
          <a:prstGeom prst="line">
            <a:avLst/>
          </a:prstGeom>
          <a:noFill/>
          <a:ln w="22225">
            <a:solidFill>
              <a:srgbClr val="64748B"/>
            </a:solidFill>
            <a:prstDash val="solid"/>
            <a:tailEnd type="triangle"/>
          </a:ln>
        </p:spPr>
      </p:sp>
      <p:sp>
        <p:nvSpPr>
          <p:cNvPr id="30" name="Stack 4"/>
          <p:cNvSpPr/>
          <p:nvPr/>
        </p:nvSpPr>
        <p:spPr>
          <a:xfrm>
            <a:off x="9336024"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31" name="Stack 4 text"/>
          <p:cNvSpPr txBox="1"/>
          <p:nvPr/>
        </p:nvSpPr>
        <p:spPr>
          <a:xfrm>
            <a:off x="9409176"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Access packages, lifecycle workflows, PIV</a:t>
            </a:r>
            <a:endParaRPr lang="en-US" sz="12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3" name="Narration">
            <a:hlinkClick r:id="" action="ppaction://media"/>
            <a:extLst>
              <a:ext uri="{FF2B5EF4-FFF2-40B4-BE49-F238E27FC236}">
                <a16:creationId xmlns:a16="http://schemas.microsoft.com/office/drawing/2014/main" id="{147E0256-1466-2CD8-684C-2952E2822917}"/>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7470"/>
    </mc:Choice>
    <mc:Fallback>
      <p:transition spd="slow" advTm="87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6472"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How we’ll know it works — and what I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easures head"/>
          <p:cNvSpPr txBox="1"/>
          <p:nvPr/>
        </p:nvSpPr>
        <p:spPr>
          <a:xfrm>
            <a:off x="548640" y="1280160"/>
            <a:ext cx="6035040" cy="320040"/>
          </a:xfrm>
          <a:prstGeom prst="rect">
            <a:avLst/>
          </a:prstGeom>
          <a:noFill/>
          <a:ln/>
        </p:spPr>
        <p:txBody>
          <a:bodyPr wrap="square" lIns="0" tIns="0" rIns="0" bIns="0" rtlCol="0" anchor="t"/>
          <a:lstStyle/>
          <a:p>
            <a:pPr marL="0" indent="0">
              <a:buNone/>
            </a:pPr>
            <a:r>
              <a:rPr lang="en-US" sz="1200" b="1" dirty="0">
                <a:solidFill>
                  <a:srgbClr val="64748B"/>
                </a:solidFill>
              </a:rPr>
              <a:t>MEASURES, BASELINED IN THE FIRST PHASE</a:t>
            </a:r>
            <a:endParaRPr lang="en-US" sz="1200" dirty="0"/>
          </a:p>
        </p:txBody>
      </p:sp>
      <p:sp>
        <p:nvSpPr>
          <p:cNvPr id="6" name="Measure 1"/>
          <p:cNvSpPr/>
          <p:nvPr/>
        </p:nvSpPr>
        <p:spPr>
          <a:xfrm>
            <a:off x="548640" y="1645920"/>
            <a:ext cx="6035040" cy="658368"/>
          </a:xfrm>
          <a:prstGeom prst="roundRect">
            <a:avLst>
              <a:gd name="adj" fmla="val 11111"/>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7" name="Icon FaUserXmark"/>
          <p:cNvSpPr/>
          <p:nvPr/>
        </p:nvSpPr>
        <p:spPr>
          <a:xfrm>
            <a:off x="685800" y="1737360"/>
            <a:ext cx="475488" cy="475488"/>
          </a:xfrm>
          <a:prstGeom prst="ellipse">
            <a:avLst/>
          </a:prstGeom>
          <a:solidFill>
            <a:srgbClr val="B91C1C"/>
          </a:solidFill>
          <a:ln w="12700">
            <a:solidFill>
              <a:srgbClr val="B91C1C"/>
            </a:solidFill>
            <a:prstDash val="solid"/>
          </a:ln>
        </p:spPr>
      </p:sp>
      <p:pic>
        <p:nvPicPr>
          <p:cNvPr id="8" name="Image 0" descr="C:\Users\whale\git\uiao\inbox\SSA-Interview\build\icons\FaUserXmark.png"/>
          <p:cNvPicPr>
            <a:picLocks noChangeAspect="1"/>
          </p:cNvPicPr>
          <p:nvPr/>
        </p:nvPicPr>
        <p:blipFill>
          <a:blip r:embed="rId5"/>
          <a:stretch>
            <a:fillRect/>
          </a:stretch>
        </p:blipFill>
        <p:spPr>
          <a:xfrm>
            <a:off x="799917" y="1851477"/>
            <a:ext cx="247254" cy="247254"/>
          </a:xfrm>
          <a:prstGeom prst="rect">
            <a:avLst/>
          </a:prstGeom>
        </p:spPr>
      </p:pic>
      <p:sp>
        <p:nvSpPr>
          <p:cNvPr id="9" name="Measure 1 text"/>
          <p:cNvSpPr txBox="1"/>
          <p:nvPr/>
        </p:nvSpPr>
        <p:spPr>
          <a:xfrm>
            <a:off x="1325880" y="1673352"/>
            <a:ext cx="5120640" cy="603504"/>
          </a:xfrm>
          <a:prstGeom prst="rect">
            <a:avLst/>
          </a:prstGeom>
          <a:noFill/>
          <a:ln/>
        </p:spPr>
        <p:txBody>
          <a:bodyPr wrap="square" lIns="0" tIns="0" rIns="0" bIns="0" rtlCol="0" anchor="ctr"/>
          <a:lstStyle/>
          <a:p>
            <a:pPr marL="0" indent="0">
              <a:buNone/>
            </a:pPr>
            <a:r>
              <a:rPr lang="en-US" sz="1550" b="1" dirty="0">
                <a:solidFill>
                  <a:srgbClr val="B91C1C"/>
                </a:solidFill>
              </a:rPr>
              <a:t>Separation to blocked access</a:t>
            </a:r>
            <a:endParaRPr lang="en-US" sz="1400" dirty="0"/>
          </a:p>
          <a:p>
            <a:pPr marL="0" indent="0">
              <a:buNone/>
            </a:pPr>
            <a:r>
              <a:rPr lang="en-US" sz="1350" dirty="0">
                <a:solidFill>
                  <a:schemeClr val="tx2"/>
                </a:solidFill>
              </a:rPr>
              <a:t>Agency-approved threshold, measured in hours</a:t>
            </a:r>
            <a:endParaRPr lang="en-US" sz="1400" dirty="0"/>
          </a:p>
        </p:txBody>
      </p:sp>
      <p:sp>
        <p:nvSpPr>
          <p:cNvPr id="10" name="Measure 2"/>
          <p:cNvSpPr/>
          <p:nvPr/>
        </p:nvSpPr>
        <p:spPr>
          <a:xfrm>
            <a:off x="548640" y="2377440"/>
            <a:ext cx="6035040" cy="658368"/>
          </a:xfrm>
          <a:prstGeom prst="roundRect">
            <a:avLst>
              <a:gd name="adj" fmla="val 11111"/>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1" name="Icon FaIdCard"/>
          <p:cNvSpPr/>
          <p:nvPr/>
        </p:nvSpPr>
        <p:spPr>
          <a:xfrm>
            <a:off x="685800" y="2468880"/>
            <a:ext cx="475488" cy="475488"/>
          </a:xfrm>
          <a:prstGeom prst="ellipse">
            <a:avLst/>
          </a:prstGeom>
          <a:solidFill>
            <a:srgbClr val="B91C1C"/>
          </a:solidFill>
          <a:ln w="12700">
            <a:solidFill>
              <a:srgbClr val="B91C1C"/>
            </a:solidFill>
            <a:prstDash val="solid"/>
          </a:ln>
        </p:spPr>
      </p:sp>
      <p:pic>
        <p:nvPicPr>
          <p:cNvPr id="12" name="Image 1" descr="C:\Users\whale\git\uiao\inbox\SSA-Interview\build\icons\FaIdCard.png"/>
          <p:cNvPicPr>
            <a:picLocks noChangeAspect="1"/>
          </p:cNvPicPr>
          <p:nvPr/>
        </p:nvPicPr>
        <p:blipFill>
          <a:blip r:embed="rId6"/>
          <a:stretch>
            <a:fillRect/>
          </a:stretch>
        </p:blipFill>
        <p:spPr>
          <a:xfrm>
            <a:off x="799917" y="2582997"/>
            <a:ext cx="247254" cy="247254"/>
          </a:xfrm>
          <a:prstGeom prst="rect">
            <a:avLst/>
          </a:prstGeom>
        </p:spPr>
      </p:pic>
      <p:sp>
        <p:nvSpPr>
          <p:cNvPr id="13" name="Measure 2 text"/>
          <p:cNvSpPr txBox="1"/>
          <p:nvPr/>
        </p:nvSpPr>
        <p:spPr>
          <a:xfrm>
            <a:off x="1325880" y="2404872"/>
            <a:ext cx="5120640" cy="603504"/>
          </a:xfrm>
          <a:prstGeom prst="rect">
            <a:avLst/>
          </a:prstGeom>
          <a:noFill/>
          <a:ln/>
        </p:spPr>
        <p:txBody>
          <a:bodyPr wrap="square" lIns="0" tIns="0" rIns="0" bIns="0" rtlCol="0" anchor="ctr"/>
          <a:lstStyle/>
          <a:p>
            <a:pPr marL="0" indent="0">
              <a:buNone/>
            </a:pPr>
            <a:r>
              <a:rPr lang="en-US" sz="1550" b="1" dirty="0">
                <a:solidFill>
                  <a:srgbClr val="B91C1C"/>
                </a:solidFill>
              </a:rPr>
              <a:t>Credential and access revocation</a:t>
            </a:r>
            <a:endParaRPr lang="en-US" sz="1400" dirty="0"/>
          </a:p>
          <a:p>
            <a:pPr marL="0" indent="0">
              <a:buNone/>
            </a:pPr>
            <a:r>
              <a:rPr lang="en-US" sz="1350" dirty="0">
                <a:solidFill>
                  <a:schemeClr val="tx2"/>
                </a:solidFill>
              </a:rPr>
              <a:t>Reconciled to verified completion</a:t>
            </a:r>
            <a:endParaRPr lang="en-US" sz="1400" dirty="0"/>
          </a:p>
        </p:txBody>
      </p:sp>
      <p:sp>
        <p:nvSpPr>
          <p:cNvPr id="14" name="Measure 3"/>
          <p:cNvSpPr/>
          <p:nvPr/>
        </p:nvSpPr>
        <p:spPr>
          <a:xfrm>
            <a:off x="548640" y="3108960"/>
            <a:ext cx="6035040" cy="658368"/>
          </a:xfrm>
          <a:prstGeom prst="roundRect">
            <a:avLst>
              <a:gd name="adj" fmla="val 11111"/>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15" name="Icon FaFingerprint"/>
          <p:cNvSpPr/>
          <p:nvPr/>
        </p:nvSpPr>
        <p:spPr>
          <a:xfrm>
            <a:off x="685800" y="3200400"/>
            <a:ext cx="475488" cy="475488"/>
          </a:xfrm>
          <a:prstGeom prst="ellipse">
            <a:avLst/>
          </a:prstGeom>
          <a:solidFill>
            <a:srgbClr val="1F2A44"/>
          </a:solidFill>
          <a:ln w="12700">
            <a:solidFill>
              <a:srgbClr val="1F2A44"/>
            </a:solidFill>
            <a:prstDash val="solid"/>
          </a:ln>
        </p:spPr>
      </p:sp>
      <p:pic>
        <p:nvPicPr>
          <p:cNvPr id="16" name="Image 2" descr="C:\Users\whale\git\uiao\inbox\SSA-Interview\build\icons\FaFingerprint.png"/>
          <p:cNvPicPr>
            <a:picLocks noChangeAspect="1"/>
          </p:cNvPicPr>
          <p:nvPr/>
        </p:nvPicPr>
        <p:blipFill>
          <a:blip r:embed="rId7"/>
          <a:stretch>
            <a:fillRect/>
          </a:stretch>
        </p:blipFill>
        <p:spPr>
          <a:xfrm>
            <a:off x="799917" y="3314517"/>
            <a:ext cx="247254" cy="247254"/>
          </a:xfrm>
          <a:prstGeom prst="rect">
            <a:avLst/>
          </a:prstGeom>
        </p:spPr>
      </p:pic>
      <p:sp>
        <p:nvSpPr>
          <p:cNvPr id="17" name="Measure 3 text"/>
          <p:cNvSpPr txBox="1"/>
          <p:nvPr/>
        </p:nvSpPr>
        <p:spPr>
          <a:xfrm>
            <a:off x="1325880" y="3136392"/>
            <a:ext cx="5120640" cy="603504"/>
          </a:xfrm>
          <a:prstGeom prst="rect">
            <a:avLst/>
          </a:prstGeom>
          <a:noFill/>
          <a:ln/>
        </p:spPr>
        <p:txBody>
          <a:bodyPr wrap="square" lIns="0" tIns="0" rIns="0" bIns="0" rtlCol="0" anchor="ctr"/>
          <a:lstStyle/>
          <a:p>
            <a:pPr marL="0" indent="0">
              <a:buNone/>
            </a:pPr>
            <a:r>
              <a:rPr lang="en-US" sz="1550" b="1" dirty="0">
                <a:solidFill>
                  <a:srgbClr val="1F2A44"/>
                </a:solidFill>
              </a:rPr>
              <a:t>Accounts tied to a person</a:t>
            </a:r>
            <a:endParaRPr lang="en-US" sz="1400" dirty="0"/>
          </a:p>
          <a:p>
            <a:pPr marL="0" indent="0">
              <a:buNone/>
            </a:pPr>
            <a:r>
              <a:rPr lang="en-US" sz="1350" dirty="0">
                <a:solidFill>
                  <a:schemeClr val="tx2"/>
                </a:solidFill>
              </a:rPr>
              <a:t>Orphaned accounts trend to zero</a:t>
            </a:r>
            <a:endParaRPr lang="en-US" sz="1400" dirty="0"/>
          </a:p>
        </p:txBody>
      </p:sp>
      <p:sp>
        <p:nvSpPr>
          <p:cNvPr id="18" name="Measure 4"/>
          <p:cNvSpPr/>
          <p:nvPr/>
        </p:nvSpPr>
        <p:spPr>
          <a:xfrm>
            <a:off x="548640" y="3840480"/>
            <a:ext cx="6035040" cy="658368"/>
          </a:xfrm>
          <a:prstGeom prst="roundRect">
            <a:avLst>
              <a:gd name="adj" fmla="val 11111"/>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9" name="Icon FaUserClock"/>
          <p:cNvSpPr/>
          <p:nvPr/>
        </p:nvSpPr>
        <p:spPr>
          <a:xfrm>
            <a:off x="685800" y="3931920"/>
            <a:ext cx="475488" cy="475488"/>
          </a:xfrm>
          <a:prstGeom prst="ellipse">
            <a:avLst/>
          </a:prstGeom>
          <a:solidFill>
            <a:srgbClr val="0F766E"/>
          </a:solidFill>
          <a:ln w="12700">
            <a:solidFill>
              <a:srgbClr val="0F766E"/>
            </a:solidFill>
            <a:prstDash val="solid"/>
          </a:ln>
        </p:spPr>
      </p:sp>
      <p:pic>
        <p:nvPicPr>
          <p:cNvPr id="20" name="Image 3" descr="C:\Users\whale\git\uiao\inbox\SSA-Interview\build\icons\FaUserClock.png"/>
          <p:cNvPicPr>
            <a:picLocks noChangeAspect="1"/>
          </p:cNvPicPr>
          <p:nvPr/>
        </p:nvPicPr>
        <p:blipFill>
          <a:blip r:embed="rId8"/>
          <a:stretch>
            <a:fillRect/>
          </a:stretch>
        </p:blipFill>
        <p:spPr>
          <a:xfrm>
            <a:off x="799917" y="4046037"/>
            <a:ext cx="247254" cy="247254"/>
          </a:xfrm>
          <a:prstGeom prst="rect">
            <a:avLst/>
          </a:prstGeom>
        </p:spPr>
      </p:pic>
      <p:sp>
        <p:nvSpPr>
          <p:cNvPr id="21" name="Measure 4 text"/>
          <p:cNvSpPr txBox="1"/>
          <p:nvPr/>
        </p:nvSpPr>
        <p:spPr>
          <a:xfrm>
            <a:off x="1325880" y="3867912"/>
            <a:ext cx="5120640" cy="603504"/>
          </a:xfrm>
          <a:prstGeom prst="rect">
            <a:avLst/>
          </a:prstGeom>
          <a:noFill/>
          <a:ln/>
        </p:spPr>
        <p:txBody>
          <a:bodyPr wrap="square" lIns="0" tIns="0" rIns="0" bIns="0" rtlCol="0" anchor="ctr"/>
          <a:lstStyle/>
          <a:p>
            <a:pPr marL="0" indent="0">
              <a:buNone/>
            </a:pPr>
            <a:r>
              <a:rPr lang="en-US" sz="1550" b="1" dirty="0">
                <a:solidFill>
                  <a:srgbClr val="0F766E"/>
                </a:solidFill>
              </a:rPr>
              <a:t>Joiner and mover tickets</a:t>
            </a:r>
            <a:endParaRPr lang="en-US" sz="1400" dirty="0"/>
          </a:p>
          <a:p>
            <a:pPr marL="0" indent="0">
              <a:buNone/>
            </a:pPr>
            <a:r>
              <a:rPr lang="en-US" sz="1350" dirty="0">
                <a:solidFill>
                  <a:schemeClr val="tx2"/>
                </a:solidFill>
              </a:rPr>
              <a:t>Volume down; access on day one</a:t>
            </a:r>
            <a:endParaRPr lang="en-US" sz="1400" dirty="0"/>
          </a:p>
        </p:txBody>
      </p:sp>
      <p:sp>
        <p:nvSpPr>
          <p:cNvPr id="22" name="Measure 5"/>
          <p:cNvSpPr/>
          <p:nvPr/>
        </p:nvSpPr>
        <p:spPr>
          <a:xfrm>
            <a:off x="548640" y="4572000"/>
            <a:ext cx="6035040" cy="658368"/>
          </a:xfrm>
          <a:prstGeom prst="roundRect">
            <a:avLst>
              <a:gd name="adj" fmla="val 11111"/>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23" name="Icon FaAddressBook"/>
          <p:cNvSpPr/>
          <p:nvPr/>
        </p:nvSpPr>
        <p:spPr>
          <a:xfrm>
            <a:off x="685800" y="4663440"/>
            <a:ext cx="475488" cy="475488"/>
          </a:xfrm>
          <a:prstGeom prst="ellipse">
            <a:avLst/>
          </a:prstGeom>
          <a:solidFill>
            <a:srgbClr val="1F2A44"/>
          </a:solidFill>
          <a:ln w="12700">
            <a:solidFill>
              <a:srgbClr val="1F2A44"/>
            </a:solidFill>
            <a:prstDash val="solid"/>
          </a:ln>
        </p:spPr>
      </p:sp>
      <p:pic>
        <p:nvPicPr>
          <p:cNvPr id="24" name="Image 4" descr="C:\Users\whale\git\uiao\inbox\SSA-Interview\build\icons\FaAddressBook.png"/>
          <p:cNvPicPr>
            <a:picLocks noChangeAspect="1"/>
          </p:cNvPicPr>
          <p:nvPr/>
        </p:nvPicPr>
        <p:blipFill>
          <a:blip r:embed="rId9"/>
          <a:stretch>
            <a:fillRect/>
          </a:stretch>
        </p:blipFill>
        <p:spPr>
          <a:xfrm>
            <a:off x="799917" y="4777557"/>
            <a:ext cx="247254" cy="247254"/>
          </a:xfrm>
          <a:prstGeom prst="rect">
            <a:avLst/>
          </a:prstGeom>
        </p:spPr>
      </p:pic>
      <p:sp>
        <p:nvSpPr>
          <p:cNvPr id="25" name="Measure 5 text"/>
          <p:cNvSpPr txBox="1"/>
          <p:nvPr/>
        </p:nvSpPr>
        <p:spPr>
          <a:xfrm>
            <a:off x="1325880" y="4599432"/>
            <a:ext cx="5120640" cy="603504"/>
          </a:xfrm>
          <a:prstGeom prst="rect">
            <a:avLst/>
          </a:prstGeom>
          <a:noFill/>
          <a:ln/>
        </p:spPr>
        <p:txBody>
          <a:bodyPr wrap="square" lIns="0" tIns="0" rIns="0" bIns="0" rtlCol="0" anchor="ctr"/>
          <a:lstStyle/>
          <a:p>
            <a:pPr marL="0" indent="0">
              <a:buNone/>
            </a:pPr>
            <a:r>
              <a:rPr lang="en-US" sz="1550" b="1" dirty="0">
                <a:solidFill>
                  <a:srgbClr val="1F2A44"/>
                </a:solidFill>
              </a:rPr>
              <a:t>Directory accuracy</a:t>
            </a:r>
            <a:endParaRPr lang="en-US" sz="1400" dirty="0"/>
          </a:p>
          <a:p>
            <a:pPr marL="0" indent="0">
              <a:buNone/>
            </a:pPr>
            <a:r>
              <a:rPr lang="en-US" sz="1350" dirty="0">
                <a:solidFill>
                  <a:schemeClr val="tx2"/>
                </a:solidFill>
              </a:rPr>
              <a:t>Manager and organization match HR</a:t>
            </a:r>
            <a:endParaRPr lang="en-US" sz="1400" dirty="0"/>
          </a:p>
        </p:txBody>
      </p:sp>
      <p:sp>
        <p:nvSpPr>
          <p:cNvPr id="26" name="Measure 6"/>
          <p:cNvSpPr/>
          <p:nvPr/>
        </p:nvSpPr>
        <p:spPr>
          <a:xfrm>
            <a:off x="548640" y="5303520"/>
            <a:ext cx="6035040" cy="658368"/>
          </a:xfrm>
          <a:prstGeom prst="roundRect">
            <a:avLst>
              <a:gd name="adj" fmla="val 11111"/>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7" name="Icon FaTriangleExclamation"/>
          <p:cNvSpPr/>
          <p:nvPr/>
        </p:nvSpPr>
        <p:spPr>
          <a:xfrm>
            <a:off x="685800" y="5394960"/>
            <a:ext cx="475488" cy="475488"/>
          </a:xfrm>
          <a:prstGeom prst="ellipse">
            <a:avLst/>
          </a:prstGeom>
          <a:solidFill>
            <a:srgbClr val="B45309"/>
          </a:solidFill>
          <a:ln w="12700">
            <a:solidFill>
              <a:srgbClr val="B45309"/>
            </a:solidFill>
            <a:prstDash val="solid"/>
          </a:ln>
        </p:spPr>
      </p:sp>
      <p:pic>
        <p:nvPicPr>
          <p:cNvPr id="28" name="Image 5" descr="C:\Users\whale\git\uiao\inbox\SSA-Interview\build\icons\FaTriangleExclamation.png"/>
          <p:cNvPicPr>
            <a:picLocks noChangeAspect="1"/>
          </p:cNvPicPr>
          <p:nvPr/>
        </p:nvPicPr>
        <p:blipFill>
          <a:blip r:embed="rId10"/>
          <a:stretch>
            <a:fillRect/>
          </a:stretch>
        </p:blipFill>
        <p:spPr>
          <a:xfrm>
            <a:off x="799917" y="5509077"/>
            <a:ext cx="247254" cy="247254"/>
          </a:xfrm>
          <a:prstGeom prst="rect">
            <a:avLst/>
          </a:prstGeom>
        </p:spPr>
      </p:pic>
      <p:sp>
        <p:nvSpPr>
          <p:cNvPr id="29" name="Measure 6 text"/>
          <p:cNvSpPr txBox="1"/>
          <p:nvPr/>
        </p:nvSpPr>
        <p:spPr>
          <a:xfrm>
            <a:off x="1325880" y="5330952"/>
            <a:ext cx="5120640" cy="603504"/>
          </a:xfrm>
          <a:prstGeom prst="rect">
            <a:avLst/>
          </a:prstGeom>
          <a:noFill/>
          <a:ln/>
        </p:spPr>
        <p:txBody>
          <a:bodyPr wrap="square" lIns="0" tIns="0" rIns="0" bIns="0" rtlCol="0" anchor="ctr"/>
          <a:lstStyle/>
          <a:p>
            <a:pPr marL="0" indent="0">
              <a:buNone/>
            </a:pPr>
            <a:r>
              <a:rPr lang="en-US" sz="1550" b="1" dirty="0">
                <a:solidFill>
                  <a:srgbClr val="B45309"/>
                </a:solidFill>
              </a:rPr>
              <a:t>Exceptions</a:t>
            </a:r>
            <a:endParaRPr lang="en-US" sz="1400" dirty="0"/>
          </a:p>
          <a:p>
            <a:pPr marL="0" indent="0">
              <a:buNone/>
            </a:pPr>
            <a:r>
              <a:rPr lang="en-US" sz="1350" dirty="0">
                <a:solidFill>
                  <a:schemeClr val="tx2"/>
                </a:solidFill>
              </a:rPr>
              <a:t>Each has an owner and an age</a:t>
            </a:r>
            <a:endParaRPr lang="en-US" sz="1400" dirty="0"/>
          </a:p>
        </p:txBody>
      </p:sp>
      <p:sp>
        <p:nvSpPr>
          <p:cNvPr id="30" name="Ask box"/>
          <p:cNvSpPr/>
          <p:nvPr/>
        </p:nvSpPr>
        <p:spPr>
          <a:xfrm>
            <a:off x="6812280" y="1280160"/>
            <a:ext cx="4846320" cy="4846320"/>
          </a:xfrm>
          <a:prstGeom prst="roundRect">
            <a:avLst>
              <a:gd name="adj" fmla="val 15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31" name="Icon FaLightbulb"/>
          <p:cNvSpPr/>
          <p:nvPr/>
        </p:nvSpPr>
        <p:spPr>
          <a:xfrm>
            <a:off x="7040880" y="1463040"/>
            <a:ext cx="685800" cy="685800"/>
          </a:xfrm>
          <a:prstGeom prst="ellipse">
            <a:avLst/>
          </a:prstGeom>
          <a:solidFill>
            <a:srgbClr val="B45309"/>
          </a:solidFill>
          <a:ln w="12700">
            <a:solidFill>
              <a:srgbClr val="B45309"/>
            </a:solidFill>
            <a:prstDash val="solid"/>
          </a:ln>
        </p:spPr>
      </p:sp>
      <p:pic>
        <p:nvPicPr>
          <p:cNvPr id="32" name="Image 6" descr="C:\Users\whale\git\uiao\inbox\SSA-Interview\build\icons\FaLightbulb.png"/>
          <p:cNvPicPr>
            <a:picLocks noChangeAspect="1"/>
          </p:cNvPicPr>
          <p:nvPr/>
        </p:nvPicPr>
        <p:blipFill>
          <a:blip r:embed="rId11"/>
          <a:stretch>
            <a:fillRect/>
          </a:stretch>
        </p:blipFill>
        <p:spPr>
          <a:xfrm>
            <a:off x="7205472" y="1627632"/>
            <a:ext cx="356616" cy="356616"/>
          </a:xfrm>
          <a:prstGeom prst="rect">
            <a:avLst/>
          </a:prstGeom>
        </p:spPr>
      </p:pic>
      <p:sp>
        <p:nvSpPr>
          <p:cNvPr id="33" name="Ask head"/>
          <p:cNvSpPr txBox="1"/>
          <p:nvPr/>
        </p:nvSpPr>
        <p:spPr>
          <a:xfrm>
            <a:off x="7863840" y="1463040"/>
            <a:ext cx="3657600" cy="685800"/>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What I’d need from leadership</a:t>
            </a:r>
            <a:endParaRPr lang="en-US" sz="1900" dirty="0"/>
          </a:p>
        </p:txBody>
      </p:sp>
      <p:sp>
        <p:nvSpPr>
          <p:cNvPr id="34" name="Ask text"/>
          <p:cNvSpPr txBox="1"/>
          <p:nvPr/>
        </p:nvSpPr>
        <p:spPr>
          <a:xfrm>
            <a:off x="7040880" y="2240280"/>
            <a:ext cx="4434840" cy="3794760"/>
          </a:xfrm>
          <a:prstGeom prst="rect">
            <a:avLst/>
          </a:prstGeom>
          <a:noFill/>
          <a:ln/>
        </p:spPr>
        <p:txBody>
          <a:bodyPr wrap="square" lIns="0" tIns="0" rIns="0" bIns="0" rtlCol="0" anchor="t"/>
          <a:lstStyle/>
          <a:p>
            <a:pPr marL="0" indent="0">
              <a:spcAft>
                <a:spcPts val="500"/>
              </a:spcAft>
              <a:buNone/>
            </a:pPr>
            <a:r>
              <a:rPr lang="en-US" sz="1450" b="1" dirty="0">
                <a:solidFill>
                  <a:srgbClr val="1F2A44"/>
                </a:solidFill>
              </a:rPr>
              <a:t>One decision: </a:t>
            </a:r>
            <a:r>
              <a:rPr lang="en-US" sz="1450" dirty="0">
                <a:solidFill>
                  <a:schemeClr val="tx2"/>
                </a:solidFill>
              </a:rPr>
              <a:t>start HR-driven identity now, as a design requirement of the HR 2.0 onboarding and the Entra ID migration.</a:t>
            </a:r>
            <a:endParaRPr lang="en-US" sz="1450" dirty="0"/>
          </a:p>
          <a:p>
            <a:pPr marL="342900" indent="-342900">
              <a:spcAft>
                <a:spcPts val="500"/>
              </a:spcAft>
              <a:buSzPct val="100000"/>
              <a:buChar char="•"/>
            </a:pPr>
            <a:r>
              <a:rPr lang="en-US" sz="1400" dirty="0">
                <a:solidFill>
                  <a:schemeClr val="tx2"/>
                </a:solidFill>
              </a:rPr>
              <a:t>A sponsor across HR, the CIO’s identity team and privacy</a:t>
            </a:r>
            <a:endParaRPr lang="en-US" sz="1450" dirty="0"/>
          </a:p>
          <a:p>
            <a:pPr marL="342900" indent="-342900">
              <a:spcAft>
                <a:spcPts val="500"/>
              </a:spcAft>
              <a:buSzPct val="100000"/>
              <a:buChar char="•"/>
            </a:pPr>
            <a:r>
              <a:rPr lang="en-US" sz="1400" dirty="0">
                <a:solidFill>
                  <a:schemeClr val="tx2"/>
                </a:solidFill>
              </a:rPr>
              <a:t>Identity named as a consumer in the HR 2.0 interconnection plan</a:t>
            </a:r>
            <a:endParaRPr lang="en-US" sz="1450" dirty="0"/>
          </a:p>
          <a:p>
            <a:pPr marL="342900" indent="-342900">
              <a:spcAft>
                <a:spcPts val="500"/>
              </a:spcAft>
              <a:buSzPct val="100000"/>
              <a:buChar char="•"/>
            </a:pPr>
            <a:r>
              <a:rPr lang="en-US" sz="1400" dirty="0">
                <a:solidFill>
                  <a:schemeClr val="tx2"/>
                </a:solidFill>
              </a:rPr>
              <a:t>Data owners designated; the enterprise person key confirmed</a:t>
            </a:r>
            <a:endParaRPr lang="en-US" sz="1450" dirty="0"/>
          </a:p>
          <a:p>
            <a:pPr marL="342900" indent="-342900">
              <a:spcAft>
                <a:spcPts val="500"/>
              </a:spcAft>
              <a:buSzPct val="100000"/>
              <a:buChar char="•"/>
            </a:pPr>
            <a:r>
              <a:rPr lang="en-US" sz="1400" dirty="0">
                <a:solidFill>
                  <a:schemeClr val="tx2"/>
                </a:solidFill>
              </a:rPr>
              <a:t>A small team for the pre-onboarding data work</a:t>
            </a:r>
            <a:endParaRPr lang="en-US" sz="1450" dirty="0"/>
          </a:p>
          <a:p>
            <a:pPr marL="342900" indent="-342900">
              <a:spcAft>
                <a:spcPts val="500"/>
              </a:spcAft>
              <a:buSzPct val="100000"/>
              <a:buChar char="•"/>
            </a:pPr>
            <a:r>
              <a:rPr lang="en-US" sz="1400" dirty="0">
                <a:solidFill>
                  <a:schemeClr val="tx2"/>
                </a:solidFill>
              </a:rPr>
              <a:t>Validate planning assumptions and designate authoritative owners before implementation</a:t>
            </a:r>
            <a:endParaRPr lang="en-US" sz="145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6" name="Narration">
            <a:hlinkClick r:id="" action="ppaction://media"/>
            <a:extLst>
              <a:ext uri="{FF2B5EF4-FFF2-40B4-BE49-F238E27FC236}">
                <a16:creationId xmlns:a16="http://schemas.microsoft.com/office/drawing/2014/main" id="{EF592F0E-9819-5B98-96B8-6FEA7F0A4CAD}"/>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5650"/>
    </mc:Choice>
    <mc:Fallback>
      <p:transition spd="slow" advTm="85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4648"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More modernizations I’ve designed</a:t>
            </a:r>
            <a:endParaRPr lang="en-US" sz="3000" dirty="0"/>
          </a:p>
        </p:txBody>
      </p:sp>
      <p:sp>
        <p:nvSpPr>
          <p:cNvPr id="3" name="Teaser 1"/>
          <p:cNvSpPr/>
          <p:nvPr/>
        </p:nvSpPr>
        <p:spPr>
          <a:xfrm>
            <a:off x="548640"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loudArrowUp"/>
          <p:cNvSpPr/>
          <p:nvPr/>
        </p:nvSpPr>
        <p:spPr>
          <a:xfrm>
            <a:off x="731520" y="1417320"/>
            <a:ext cx="457200" cy="457200"/>
          </a:xfrm>
          <a:prstGeom prst="ellipse">
            <a:avLst/>
          </a:prstGeom>
          <a:solidFill>
            <a:srgbClr val="1F2A44"/>
          </a:solidFill>
          <a:ln w="12700">
            <a:solidFill>
              <a:srgbClr val="1F2A44"/>
            </a:solidFill>
            <a:prstDash val="solid"/>
          </a:ln>
        </p:spPr>
      </p:sp>
      <p:pic>
        <p:nvPicPr>
          <p:cNvPr id="5" name="Image 0" descr="C:\Users\whale\git\uiao\inbox\SSA-Interview\build\icons\FaCloudArrowUp.png"/>
          <p:cNvPicPr>
            <a:picLocks noChangeAspect="1"/>
          </p:cNvPicPr>
          <p:nvPr/>
        </p:nvPicPr>
        <p:blipFill>
          <a:blip r:embed="rId5"/>
          <a:stretch>
            <a:fillRect/>
          </a:stretch>
        </p:blipFill>
        <p:spPr>
          <a:xfrm>
            <a:off x="841248" y="1527048"/>
            <a:ext cx="237744" cy="237744"/>
          </a:xfrm>
          <a:prstGeom prst="rect">
            <a:avLst/>
          </a:prstGeom>
        </p:spPr>
      </p:pic>
      <p:sp>
        <p:nvSpPr>
          <p:cNvPr id="6" name="Teaser 1 text"/>
          <p:cNvSpPr txBox="1"/>
          <p:nvPr/>
        </p:nvSpPr>
        <p:spPr>
          <a:xfrm>
            <a:off x="731520"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Entra ID migration</a:t>
            </a:r>
            <a:endParaRPr lang="en-US" sz="1400" dirty="0"/>
          </a:p>
          <a:p>
            <a:pPr marL="0" indent="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Globe"/>
          <p:cNvSpPr/>
          <p:nvPr/>
        </p:nvSpPr>
        <p:spPr>
          <a:xfrm>
            <a:off x="3538728" y="1417320"/>
            <a:ext cx="457200" cy="457200"/>
          </a:xfrm>
          <a:prstGeom prst="ellipse">
            <a:avLst/>
          </a:prstGeom>
          <a:solidFill>
            <a:srgbClr val="1F2A44"/>
          </a:solidFill>
          <a:ln w="12700">
            <a:solidFill>
              <a:srgbClr val="1F2A44"/>
            </a:solidFill>
            <a:prstDash val="solid"/>
          </a:ln>
        </p:spPr>
      </p:sp>
      <p:pic>
        <p:nvPicPr>
          <p:cNvPr id="9" name="Image 1" descr="C:\Users\whale\git\uiao\inbox\SSA-Interview\build\icons\FaGlobe.png"/>
          <p:cNvPicPr>
            <a:picLocks noChangeAspect="1"/>
          </p:cNvPicPr>
          <p:nvPr/>
        </p:nvPicPr>
        <p:blipFill>
          <a:blip r:embed="rId6"/>
          <a:stretch>
            <a:fillRect/>
          </a:stretch>
        </p:blipFill>
        <p:spPr>
          <a:xfrm>
            <a:off x="3648456" y="1527048"/>
            <a:ext cx="237744" cy="237744"/>
          </a:xfrm>
          <a:prstGeom prst="rect">
            <a:avLst/>
          </a:prstGeom>
        </p:spPr>
      </p:pic>
      <p:sp>
        <p:nvSpPr>
          <p:cNvPr id="10" name="Teaser 2 text"/>
          <p:cNvSpPr txBox="1"/>
          <p:nvPr/>
        </p:nvSpPr>
        <p:spPr>
          <a:xfrm>
            <a:off x="3538728"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Next-generation DNS and IPAM</a:t>
            </a:r>
            <a:endParaRPr lang="en-US" sz="1400" dirty="0"/>
          </a:p>
          <a:p>
            <a:pPr marL="0" indent="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Building"/>
          <p:cNvSpPr/>
          <p:nvPr/>
        </p:nvSpPr>
        <p:spPr>
          <a:xfrm>
            <a:off x="6345936" y="1417320"/>
            <a:ext cx="457200" cy="457200"/>
          </a:xfrm>
          <a:prstGeom prst="ellipse">
            <a:avLst/>
          </a:prstGeom>
          <a:solidFill>
            <a:srgbClr val="1F2A44"/>
          </a:solidFill>
          <a:ln w="12700">
            <a:solidFill>
              <a:srgbClr val="1F2A44"/>
            </a:solidFill>
            <a:prstDash val="solid"/>
          </a:ln>
        </p:spPr>
      </p:sp>
      <p:pic>
        <p:nvPicPr>
          <p:cNvPr id="13" name="Image 2" descr="C:\Users\whale\git\uiao\inbox\SSA-Interview\build\icons\FaBuilding.png"/>
          <p:cNvPicPr>
            <a:picLocks noChangeAspect="1"/>
          </p:cNvPicPr>
          <p:nvPr/>
        </p:nvPicPr>
        <p:blipFill>
          <a:blip r:embed="rId7"/>
          <a:stretch>
            <a:fillRect/>
          </a:stretch>
        </p:blipFill>
        <p:spPr>
          <a:xfrm>
            <a:off x="6455664" y="1527048"/>
            <a:ext cx="237744" cy="237744"/>
          </a:xfrm>
          <a:prstGeom prst="rect">
            <a:avLst/>
          </a:prstGeom>
        </p:spPr>
      </p:pic>
      <p:sp>
        <p:nvSpPr>
          <p:cNvPr id="14" name="Teaser 3 text"/>
          <p:cNvSpPr txBox="1"/>
          <p:nvPr/>
        </p:nvSpPr>
        <p:spPr>
          <a:xfrm>
            <a:off x="6345936"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Field office WAN and data centers</a:t>
            </a:r>
            <a:endParaRPr lang="en-US" sz="1400" dirty="0"/>
          </a:p>
          <a:p>
            <a:pPr marL="0" indent="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Route"/>
          <p:cNvSpPr/>
          <p:nvPr/>
        </p:nvSpPr>
        <p:spPr>
          <a:xfrm>
            <a:off x="9153144" y="1417320"/>
            <a:ext cx="457200" cy="457200"/>
          </a:xfrm>
          <a:prstGeom prst="ellipse">
            <a:avLst/>
          </a:prstGeom>
          <a:solidFill>
            <a:srgbClr val="1F2A44"/>
          </a:solidFill>
          <a:ln w="12700">
            <a:solidFill>
              <a:srgbClr val="1F2A44"/>
            </a:solidFill>
            <a:prstDash val="solid"/>
          </a:ln>
        </p:spPr>
      </p:sp>
      <p:pic>
        <p:nvPicPr>
          <p:cNvPr id="17" name="Image 3" descr="C:\Users\whale\git\uiao\inbox\SSA-Interview\build\icons\FaRoute.png"/>
          <p:cNvPicPr>
            <a:picLocks noChangeAspect="1"/>
          </p:cNvPicPr>
          <p:nvPr/>
        </p:nvPicPr>
        <p:blipFill>
          <a:blip r:embed="rId8"/>
          <a:stretch>
            <a:fillRect/>
          </a:stretch>
        </p:blipFill>
        <p:spPr>
          <a:xfrm>
            <a:off x="9262872" y="1527048"/>
            <a:ext cx="237744" cy="237744"/>
          </a:xfrm>
          <a:prstGeom prst="rect">
            <a:avLst/>
          </a:prstGeom>
        </p:spPr>
      </p:pic>
      <p:sp>
        <p:nvSpPr>
          <p:cNvPr id="18" name="Teaser 4 text"/>
          <p:cNvSpPr txBox="1"/>
          <p:nvPr/>
        </p:nvSpPr>
        <p:spPr>
          <a:xfrm>
            <a:off x="9153144"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TIC 3.0 Cloud and Branch Office cases</a:t>
            </a:r>
            <a:endParaRPr lang="en-US" sz="1400" dirty="0"/>
          </a:p>
          <a:p>
            <a:pPr marL="0" indent="0">
              <a:spcAft>
                <a:spcPts val="300"/>
              </a:spcAft>
              <a:buNone/>
            </a:pPr>
            <a:r>
              <a:rPr lang="en-US" sz="1350" dirty="0">
                <a:solidFill>
                  <a:schemeClr val="tx2"/>
                </a:solidFill>
              </a:rPr>
              <a:t>Trusted Internet Connections use cases</a:t>
            </a:r>
            <a:endParaRPr lang="en-US" sz="1400" dirty="0"/>
          </a:p>
        </p:txBody>
      </p:sp>
      <p:sp>
        <p:nvSpPr>
          <p:cNvPr id="19" name="Teaser 5"/>
          <p:cNvSpPr/>
          <p:nvPr/>
        </p:nvSpPr>
        <p:spPr>
          <a:xfrm>
            <a:off x="548640"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Server"/>
          <p:cNvSpPr/>
          <p:nvPr/>
        </p:nvSpPr>
        <p:spPr>
          <a:xfrm>
            <a:off x="731520" y="3246120"/>
            <a:ext cx="457200" cy="457200"/>
          </a:xfrm>
          <a:prstGeom prst="ellipse">
            <a:avLst/>
          </a:prstGeom>
          <a:solidFill>
            <a:srgbClr val="0F766E"/>
          </a:solidFill>
          <a:ln w="12700">
            <a:solidFill>
              <a:srgbClr val="0F766E"/>
            </a:solidFill>
            <a:prstDash val="solid"/>
          </a:ln>
        </p:spPr>
      </p:sp>
      <p:pic>
        <p:nvPicPr>
          <p:cNvPr id="21" name="Image 4" descr="C:\Users\whale\git\uiao\inbox\SSA-Interview\build\icons\FaServer.png"/>
          <p:cNvPicPr>
            <a:picLocks noChangeAspect="1"/>
          </p:cNvPicPr>
          <p:nvPr/>
        </p:nvPicPr>
        <p:blipFill>
          <a:blip r:embed="rId9"/>
          <a:stretch>
            <a:fillRect/>
          </a:stretch>
        </p:blipFill>
        <p:spPr>
          <a:xfrm>
            <a:off x="841248" y="3355848"/>
            <a:ext cx="237744" cy="237744"/>
          </a:xfrm>
          <a:prstGeom prst="rect">
            <a:avLst/>
          </a:prstGeom>
        </p:spPr>
      </p:pic>
      <p:sp>
        <p:nvSpPr>
          <p:cNvPr id="22" name="Teaser 5 text"/>
          <p:cNvSpPr txBox="1"/>
          <p:nvPr/>
        </p:nvSpPr>
        <p:spPr>
          <a:xfrm>
            <a:off x="731520"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Client-server to hybrid cloud</a:t>
            </a:r>
            <a:endParaRPr lang="en-US" sz="1400" dirty="0"/>
          </a:p>
          <a:p>
            <a:pPr marL="0" indent="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Database"/>
          <p:cNvSpPr/>
          <p:nvPr/>
        </p:nvSpPr>
        <p:spPr>
          <a:xfrm>
            <a:off x="3538728" y="3246120"/>
            <a:ext cx="457200" cy="457200"/>
          </a:xfrm>
          <a:prstGeom prst="ellipse">
            <a:avLst/>
          </a:prstGeom>
          <a:solidFill>
            <a:srgbClr val="0F766E"/>
          </a:solidFill>
          <a:ln w="12700">
            <a:solidFill>
              <a:srgbClr val="0F766E"/>
            </a:solidFill>
            <a:prstDash val="solid"/>
          </a:ln>
        </p:spPr>
      </p:sp>
      <p:pic>
        <p:nvPicPr>
          <p:cNvPr id="25" name="Image 5" descr="C:\Users\whale\git\uiao\inbox\SSA-Interview\build\icons\FaDatabase.png"/>
          <p:cNvPicPr>
            <a:picLocks noChangeAspect="1"/>
          </p:cNvPicPr>
          <p:nvPr/>
        </p:nvPicPr>
        <p:blipFill>
          <a:blip r:embed="rId10"/>
          <a:stretch>
            <a:fillRect/>
          </a:stretch>
        </p:blipFill>
        <p:spPr>
          <a:xfrm>
            <a:off x="3648456" y="3355848"/>
            <a:ext cx="237744" cy="237744"/>
          </a:xfrm>
          <a:prstGeom prst="rect">
            <a:avLst/>
          </a:prstGeom>
        </p:spPr>
      </p:pic>
      <p:sp>
        <p:nvSpPr>
          <p:cNvPr id="26" name="Teaser 6 text"/>
          <p:cNvSpPr txBox="1"/>
          <p:nvPr/>
        </p:nvSpPr>
        <p:spPr>
          <a:xfrm>
            <a:off x="3538728"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SQL Server identity</a:t>
            </a:r>
            <a:endParaRPr lang="en-US" sz="1400" dirty="0"/>
          </a:p>
          <a:p>
            <a:pPr marL="0" indent="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Laptop"/>
          <p:cNvSpPr/>
          <p:nvPr/>
        </p:nvSpPr>
        <p:spPr>
          <a:xfrm>
            <a:off x="6345936" y="3246120"/>
            <a:ext cx="457200" cy="457200"/>
          </a:xfrm>
          <a:prstGeom prst="ellipse">
            <a:avLst/>
          </a:prstGeom>
          <a:solidFill>
            <a:srgbClr val="0F766E"/>
          </a:solidFill>
          <a:ln w="12700">
            <a:solidFill>
              <a:srgbClr val="0F766E"/>
            </a:solidFill>
            <a:prstDash val="solid"/>
          </a:ln>
        </p:spPr>
      </p:sp>
      <p:pic>
        <p:nvPicPr>
          <p:cNvPr id="29" name="Image 6" descr="C:\Users\whale\git\uiao\inbox\SSA-Interview\build\icons\FaLaptop.png"/>
          <p:cNvPicPr>
            <a:picLocks noChangeAspect="1"/>
          </p:cNvPicPr>
          <p:nvPr/>
        </p:nvPicPr>
        <p:blipFill>
          <a:blip r:embed="rId11"/>
          <a:stretch>
            <a:fillRect/>
          </a:stretch>
        </p:blipFill>
        <p:spPr>
          <a:xfrm>
            <a:off x="6455664" y="3355848"/>
            <a:ext cx="237744" cy="237744"/>
          </a:xfrm>
          <a:prstGeom prst="rect">
            <a:avLst/>
          </a:prstGeom>
        </p:spPr>
      </p:pic>
      <p:sp>
        <p:nvSpPr>
          <p:cNvPr id="30" name="Teaser 7 text"/>
          <p:cNvSpPr txBox="1"/>
          <p:nvPr/>
        </p:nvSpPr>
        <p:spPr>
          <a:xfrm>
            <a:off x="6345936"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GPO sunset to Intune and Arc</a:t>
            </a:r>
            <a:endParaRPr lang="en-US" sz="1400" dirty="0"/>
          </a:p>
          <a:p>
            <a:pPr marL="0" indent="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ShieldHalved"/>
          <p:cNvSpPr/>
          <p:nvPr/>
        </p:nvSpPr>
        <p:spPr>
          <a:xfrm>
            <a:off x="9153144" y="3246120"/>
            <a:ext cx="457200" cy="457200"/>
          </a:xfrm>
          <a:prstGeom prst="ellipse">
            <a:avLst/>
          </a:prstGeom>
          <a:solidFill>
            <a:srgbClr val="0F766E"/>
          </a:solidFill>
          <a:ln w="12700">
            <a:solidFill>
              <a:srgbClr val="0F766E"/>
            </a:solidFill>
            <a:prstDash val="solid"/>
          </a:ln>
        </p:spPr>
      </p:sp>
      <p:pic>
        <p:nvPicPr>
          <p:cNvPr id="33" name="Image 7" descr="C:\Users\whale\git\uiao\inbox\SSA-Interview\build\icons\FaShieldHalved.png"/>
          <p:cNvPicPr>
            <a:picLocks noChangeAspect="1"/>
          </p:cNvPicPr>
          <p:nvPr/>
        </p:nvPicPr>
        <p:blipFill>
          <a:blip r:embed="rId12"/>
          <a:stretch>
            <a:fillRect/>
          </a:stretch>
        </p:blipFill>
        <p:spPr>
          <a:xfrm>
            <a:off x="9262872" y="3355848"/>
            <a:ext cx="237744" cy="237744"/>
          </a:xfrm>
          <a:prstGeom prst="rect">
            <a:avLst/>
          </a:prstGeom>
        </p:spPr>
      </p:pic>
      <p:sp>
        <p:nvSpPr>
          <p:cNvPr id="34" name="Teaser 8 text"/>
          <p:cNvSpPr txBox="1"/>
          <p:nvPr/>
        </p:nvSpPr>
        <p:spPr>
          <a:xfrm>
            <a:off x="9153144"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Continuous compliance</a:t>
            </a:r>
            <a:endParaRPr lang="en-US" sz="1400" dirty="0"/>
          </a:p>
          <a:p>
            <a:pPr marL="0" indent="0">
              <a:spcAft>
                <a:spcPts val="300"/>
              </a:spcAft>
              <a:buNone/>
            </a:pPr>
            <a:r>
              <a:rPr lang="en-US" sz="1350" dirty="0">
                <a:solidFill>
                  <a:schemeClr val="tx2"/>
                </a:solidFill>
              </a:rPr>
              <a:t>SCuBA baselines, BOD 25-01, FedRAMP 20x</a:t>
            </a:r>
            <a:endParaRPr lang="en-US" sz="1400" dirty="0"/>
          </a:p>
        </p:txBody>
      </p:sp>
      <p:sp>
        <p:nvSpPr>
          <p:cNvPr id="35" name="Teaser companions"/>
          <p:cNvSpPr/>
          <p:nvPr/>
        </p:nvSpPr>
        <p:spPr>
          <a:xfrm>
            <a:off x="548640" y="4937760"/>
            <a:ext cx="11109960" cy="566928"/>
          </a:xfrm>
          <a:prstGeom prst="roundRect">
            <a:avLst>
              <a:gd name="adj" fmla="val 129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36" name="Teaser companions text"/>
          <p:cNvSpPr txBox="1"/>
          <p:nvPr/>
        </p:nvSpPr>
        <p:spPr>
          <a:xfrm>
            <a:off x="822960" y="4956048"/>
            <a:ext cx="10607040" cy="530352"/>
          </a:xfrm>
          <a:prstGeom prst="rect">
            <a:avLst/>
          </a:prstGeom>
          <a:noFill/>
          <a:ln/>
        </p:spPr>
        <p:txBody>
          <a:bodyPr wrap="square" lIns="0" tIns="0" rIns="0" bIns="0" rtlCol="0" anchor="ctr"/>
          <a:lstStyle/>
          <a:p>
            <a:pPr marL="0" indent="0">
              <a:buNone/>
            </a:pPr>
            <a:r>
              <a:rPr lang="en-US" sz="1450" b="1" dirty="0">
                <a:solidFill>
                  <a:srgbClr val="1F2A44"/>
                </a:solidFill>
              </a:rPr>
              <a:t>Companion decks: </a:t>
            </a:r>
            <a:r>
              <a:rPr lang="en-US" sz="1450" b="1" dirty="0">
                <a:solidFill>
                  <a:schemeClr val="tx2"/>
                </a:solidFill>
              </a:rPr>
              <a:t>Contractor Identity Source</a:t>
            </a:r>
            <a:r>
              <a:rPr lang="en-US" sz="1450" dirty="0">
                <a:solidFill>
                  <a:schemeClr val="tx2"/>
                </a:solidFill>
              </a:rPr>
              <a:t> (who is authoritative for a contractor)  ·  </a:t>
            </a:r>
            <a:r>
              <a:rPr lang="en-US" sz="1450" b="1" dirty="0">
                <a:solidFill>
                  <a:schemeClr val="tx2"/>
                </a:solidFill>
              </a:rPr>
              <a:t>Original HR-Driven Identity</a:t>
            </a:r>
            <a:r>
              <a:rPr lang="en-US" sz="1450" dirty="0">
                <a:solidFill>
                  <a:schemeClr val="tx2"/>
                </a:solidFill>
              </a:rPr>
              <a:t> (full model, lifecycle, plan)</a:t>
            </a:r>
            <a:endParaRPr lang="en-US" sz="1450" dirty="0"/>
          </a:p>
        </p:txBody>
      </p:sp>
      <p:sp>
        <p:nvSpPr>
          <p:cNvPr id="37" name="Teaser footer"/>
          <p:cNvSpPr/>
          <p:nvPr/>
        </p:nvSpPr>
        <p:spPr>
          <a:xfrm>
            <a:off x="548640" y="5596128"/>
            <a:ext cx="11109960" cy="548640"/>
          </a:xfrm>
          <a:prstGeom prst="roundRect">
            <a:avLst>
              <a:gd name="adj" fmla="val 13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8" name="Teaser footer text"/>
          <p:cNvSpPr txBox="1"/>
          <p:nvPr/>
        </p:nvSpPr>
        <p:spPr>
          <a:xfrm>
            <a:off x="822960" y="5614416"/>
            <a:ext cx="10607040" cy="512064"/>
          </a:xfrm>
          <a:prstGeom prst="rect">
            <a:avLst/>
          </a:prstGeom>
          <a:noFill/>
          <a:ln/>
        </p:spPr>
        <p:txBody>
          <a:bodyPr wrap="square" lIns="0" tIns="0" rIns="0" bIns="0" rtlCol="0" anchor="ctr"/>
          <a:lstStyle/>
          <a:p>
            <a:pPr marL="0" indent="0">
              <a:buNone/>
            </a:pPr>
            <a:r>
              <a:rPr lang="en-US" sz="1500" b="1" dirty="0">
                <a:solidFill>
                  <a:srgbClr val="B45309"/>
                </a:solidFill>
              </a:rPr>
              <a:t>Also: </a:t>
            </a:r>
            <a:r>
              <a:rPr lang="en-US" sz="1500" dirty="0">
                <a:solidFill>
                  <a:schemeClr val="tx2"/>
                </a:solidFill>
              </a:rPr>
              <a:t>Zero Trust whole-agency unification · AI identity governance · help desk Entra operations</a:t>
            </a:r>
            <a:endParaRPr lang="en-US" sz="15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40" name="Narration">
            <a:hlinkClick r:id="" action="ppaction://media"/>
            <a:extLst>
              <a:ext uri="{FF2B5EF4-FFF2-40B4-BE49-F238E27FC236}">
                <a16:creationId xmlns:a16="http://schemas.microsoft.com/office/drawing/2014/main" id="{AF5E5F6D-723D-44F4-226A-FBBE48B19772}"/>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00"/>
    </mc:Choice>
    <mc:Fallback>
      <p:transition spd="slow" advTm="5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296"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3757</Words>
  <Application>Microsoft Office PowerPoint</Application>
  <PresentationFormat>Widescreen</PresentationFormat>
  <Paragraphs>212</Paragraphs>
  <Slides>9</Slides>
  <Notes>9</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HR-Driven Identity</vt:lpstr>
      <vt:lpstr>HR-Driven Identity Modernization</vt:lpstr>
      <vt:lpstr>Identity is built by hand — and the mission is outgrowing it</vt:lpstr>
      <vt:lpstr>Four options, weighed against what leadership must balance</vt:lpstr>
      <vt:lpstr>Recommendation: HR as the source of truth, starting now</vt:lpstr>
      <vt:lpstr>Who: the owners, the partners, and my role</vt:lpstr>
      <vt:lpstr>How: the data model, logical to physical</vt:lpstr>
      <vt:lpstr>How: data, security and operations</vt:lpstr>
      <vt:lpstr>How we’ll know it works — and what I need</vt:lpstr>
      <vt:lpstr>More modernizations I’ve designed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Michael Stratton</cp:lastModifiedBy>
  <cp:revision>2</cp:revision>
  <dcterms:created xsi:type="dcterms:W3CDTF">2026-10-20T20:37:36Z</dcterms:created>
  <dcterms:modified xsi:type="dcterms:W3CDTF">2026-10-20T21:08:00Z</dcterms:modified>
</cp:coreProperties>
</file>