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3D600FF1-E064-2CA8-1311-871E3316B19C}">
          <p14:sldIdLst>
            <p14:sldId id="256"/>
            <p14:sldId id="257"/>
            <p14:sldId id="258"/>
            <p14:sldId id="259"/>
            <p14:sldId id="260"/>
          </p14:sldIdLst>
        </p14:section>
        <p14:section name="The data" id="{2231609D-F9EC-9C53-F42D-423399B8A0AA}">
          <p14:sldIdLst>
            <p14:sldId id="261"/>
            <p14:sldId id="262"/>
            <p14:sldId id="263"/>
            <p14:sldId id="264"/>
          </p14:sldIdLst>
        </p14:section>
        <p14:section name="Identity and ICAM" id="{3CBDB440-B8E1-8437-1BC4-B6B002F554A1}">
          <p14:sldIdLst>
            <p14:sldId id="265"/>
            <p14:sldId id="266"/>
            <p14:sldId id="267"/>
          </p14:sldIdLst>
        </p14:section>
        <p14:section name="Delivery" id="{9D518470-F160-B170-1844-3E1FF983573C}">
          <p14:sldIdLst>
            <p14:sldId id="268"/>
            <p14:sldId id="269"/>
            <p14:sldId id="270"/>
          </p14:sldIdLst>
        </p14:section>
        <p14:section name="Beyond" id="{95FDCCDE-50A5-BF23-1464-03A6C819C64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746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Based on current visibility, many agencies do not operate a comprehensive enterprise HR-driven identity lifecycle. In the processes I have observed, many workforce identity changes in Active Directory and Entra ID, and the access and credentials that hang off them, remain dependent on tickets or manual coordination.
Two changes are coming regardless: Federal HR 2.0 moves each agency's HR onto Oracle Core HCM in waves, and current planning assumes onboarding through 2027;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one way these controls can be delivered near users and cloud resources, which TIC 3.0 opens up for agencies, instead of only at our network perimeter. Reliable ICAM supplies critical identity signals to those decisions: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standards provide a common federal vocabulary that agencies can map into a shared canonical model.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can initiate the lifecycle, after their identity interpretations and exceptions are approved.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position attributes scoping candidates for privileged eligibility, with explicit approval and PIM still required;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Participating civilian agencies are moving toward shared Core HCM capabilities and common federal personnel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offer the model for interagency evaluation and reuse.
Workbook: HR-Driven Identity, Chapter 02 — Federal HR 2.0; Chapter 05 —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17.png"/><Relationship Id="rId10" Type="http://schemas.openxmlformats.org/officeDocument/2006/relationships/image" Target="../media/image32.png"/><Relationship Id="rId4" Type="http://schemas.openxmlformats.org/officeDocument/2006/relationships/notesSlide" Target="../notesSlides/notesSlide13.xml"/><Relationship Id="rId9" Type="http://schemas.openxmlformats.org/officeDocument/2006/relationships/image" Target="../media/image31.png"/><Relationship Id="rId14"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3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9.png"/><Relationship Id="rId11" Type="http://schemas.openxmlformats.org/officeDocument/2006/relationships/image" Target="../media/image3.png"/><Relationship Id="rId5" Type="http://schemas.openxmlformats.org/officeDocument/2006/relationships/image" Target="../media/image35.png"/><Relationship Id="rId10" Type="http://schemas.openxmlformats.org/officeDocument/2006/relationships/image" Target="../media/image36.png"/><Relationship Id="rId4" Type="http://schemas.openxmlformats.org/officeDocument/2006/relationships/notesSlide" Target="../notesSlides/notesSlide14.xml"/><Relationship Id="rId9" Type="http://schemas.openxmlformats.org/officeDocument/2006/relationships/image" Target="../media/image24.png"/><Relationship Id="rId12"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notesSlide" Target="../notesSlides/notesSlide16.xml"/><Relationship Id="rId9" Type="http://schemas.openxmlformats.org/officeDocument/2006/relationships/image" Target="../media/image41.png"/><Relationship Id="rId14"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marL="0" indent="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Michael F.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descr="Narration for this slide; captions available" title="Narration">
            <a:hlinkClick r:id="" action="ppaction://media"/>
            <a:extLst>
              <a:ext uri="{FF2B5EF4-FFF2-40B4-BE49-F238E27FC236}">
                <a16:creationId xmlns:a16="http://schemas.microsoft.com/office/drawing/2014/main" id="{55B82C26-EAC7-F0ED-5BEC-A483403678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1AC606-5A54-4811-8A30-6BF3C0CF173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80"/>
    </mc:Choice>
    <mc:Fallback>
      <p:transition spd="slow" advTm="57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Use the onboarding window to design HR-driven identity</a:t>
            </a:r>
            <a:endParaRPr lang="en-US" sz="3000" dirty="0"/>
          </a:p>
        </p:txBody>
      </p:sp>
      <p:sp>
        <p:nvSpPr>
          <p:cNvPr id="3" name="Two migrations, regardless card" descr="">
            <a:extLst>
              <a:ext uri="{C183D7F6-B498-43B3-948B-1728B52AA6E4}">
                <adec:decorative xmlns:adec="http://schemas.microsoft.com/office/drawing/2017/decorative" val="1"/>
              </a:ext>
            </a:extLst>
          </p:cNvPr>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ArrowsRotate" descr="">
            <a:extLst>
              <a:ext uri="{C183D7F6-B498-43B3-948B-1728B52AA6E4}">
                <adec:decorative xmlns:adec="http://schemas.microsoft.com/office/drawing/2017/decorative" val="1"/>
              </a:ext>
            </a:extLst>
          </p:cNvPr>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lifecycle substantially manual; many changes ticket-dependent</a:t>
            </a:r>
            <a:endParaRPr lang="en-US" sz="1550" dirty="0"/>
          </a:p>
        </p:txBody>
      </p:sp>
      <p:sp>
        <p:nvSpPr>
          <p:cNvPr id="8" name="The agency’s call card" descr="">
            <a:extLst>
              <a:ext uri="{C183D7F6-B498-43B3-948B-1728B52AA6E4}">
                <adec:decorative xmlns:adec="http://schemas.microsoft.com/office/drawing/2017/decorative" val="1"/>
              </a:ext>
            </a:extLst>
          </p:cNvPr>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Landmark" descr="">
            <a:extLst>
              <a:ext uri="{C183D7F6-B498-43B3-948B-1728B52AA6E4}">
                <adec:decorative xmlns:adec="http://schemas.microsoft.com/office/drawing/2017/decorative" val="1"/>
              </a:ext>
            </a:extLst>
          </p:cNvPr>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descr="">
            <a:extLst>
              <a:ext uri="{C183D7F6-B498-43B3-948B-1728B52AA6E4}">
                <adec:decorative xmlns:adec="http://schemas.microsoft.com/office/drawing/2017/decorative" val="1"/>
              </a:ext>
            </a:extLst>
          </p:cNvPr>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ghtbulb" descr="">
            <a:extLst>
              <a:ext uri="{C183D7F6-B498-43B3-948B-1728B52AA6E4}">
                <adec:decorative xmlns:adec="http://schemas.microsoft.com/office/drawing/2017/decorative" val="1"/>
              </a:ext>
            </a:extLst>
          </p:cNvPr>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descr="">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marL="0" indent="0">
              <a:buNone/>
            </a:pPr>
            <a:r>
              <a:rPr lang="en-US" sz="1800" b="1" dirty="0">
                <a:solidFill>
                  <a:srgbClr val="B45309"/>
                </a:solidFill>
              </a:rPr>
              <a:t>The choice: </a:t>
            </a: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title="Narration">
            <a:hlinkClick r:id="" action="ppaction://media"/>
            <a:extLst>
              <a:ext uri="{FF2B5EF4-FFF2-40B4-BE49-F238E27FC236}">
                <a16:creationId xmlns:a16="http://schemas.microsoft.com/office/drawing/2014/main" id="{2637A585-9E75-2152-5022-336D367EB4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940E1C-E226-4EAD-B946-130A90E3935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descr="">
            <a:extLst>
              <a:ext uri="{C183D7F6-B498-43B3-948B-1728B52AA6E4}">
                <adec:decorative xmlns:adec="http://schemas.microsoft.com/office/drawing/2017/decorative" val="1"/>
              </a:ext>
            </a:extLst>
          </p:cNvPr>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64748B"/>
                </a:solidFill>
              </a:rPr>
              <a:t>THE STRATEGY</a:t>
            </a:r>
            <a:endParaRPr lang="en-US" sz="1400" dirty="0"/>
          </a:p>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marL="0" indent="0">
              <a:spcAft>
                <a:spcPts val="400"/>
              </a:spcAft>
              <a:buNone/>
            </a:pPr>
            <a:r>
              <a:rPr lang="en-US" sz="1350" dirty="0">
                <a:solidFill>
                  <a:schemeClr val="tx2"/>
                </a:solidFill>
              </a:rPr>
              <a:t>OMB M‑22‑09 · NIST SP 800‑207 · CISA ZTMM</a:t>
            </a:r>
            <a:endParaRPr lang="en-US" sz="1400" dirty="0"/>
          </a:p>
        </p:txBody>
      </p:sp>
      <p:sp>
        <p:nvSpPr>
          <p:cNvPr id="5" name="Chain 2" descr="">
            <a:extLst>
              <a:ext uri="{C183D7F6-B498-43B3-948B-1728B52AA6E4}">
                <adec:decorative xmlns:adec="http://schemas.microsoft.com/office/drawing/2017/decorative" val="1"/>
              </a:ext>
            </a:extLst>
          </p:cNvPr>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1F2A44"/>
                </a:solidFill>
              </a:rPr>
              <a:t>ONE DELIVERY MODEL</a:t>
            </a:r>
            <a:endParaRPr lang="en-US" sz="1400" dirty="0"/>
          </a:p>
          <a:p>
            <a:pPr marL="0" indent="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marL="0" indent="0">
              <a:spcAft>
                <a:spcPts val="400"/>
              </a:spcAft>
              <a:buNone/>
            </a:pPr>
            <a:r>
              <a:rPr lang="en-US" sz="1350" dirty="0">
                <a:solidFill>
                  <a:schemeClr val="tx2"/>
                </a:solidFill>
              </a:rPr>
              <a:t>Zero Trust controls enforced near users and cloud resources (TIC 3.0)</a:t>
            </a:r>
            <a:endParaRPr lang="en-US" sz="1400" dirty="0"/>
          </a:p>
        </p:txBody>
      </p:sp>
      <p:sp>
        <p:nvSpPr>
          <p:cNvPr id="7" name="Chain 3" descr="">
            <a:extLst>
              <a:ext uri="{C183D7F6-B498-43B3-948B-1728B52AA6E4}">
                <adec:decorative xmlns:adec="http://schemas.microsoft.com/office/drawing/2017/decorative" val="1"/>
              </a:ext>
            </a:extLst>
          </p:cNvPr>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0F766E"/>
                </a:solidFill>
              </a:rPr>
              <a:t>THE DECISION</a:t>
            </a:r>
            <a:endParaRPr lang="en-US" sz="1400" dirty="0"/>
          </a:p>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marL="0" indent="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descr="">
            <a:extLst>
              <a:ext uri="{C183D7F6-B498-43B3-948B-1728B52AA6E4}">
                <adec:decorative xmlns:adec="http://schemas.microsoft.com/office/drawing/2017/decorative" val="1"/>
              </a:ext>
            </a:extLst>
          </p:cNvPr>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B45309"/>
                </a:solidFill>
              </a:rPr>
              <a:t>ACCURACY DECIDES ACCESS</a:t>
            </a:r>
            <a:endParaRPr lang="en-US" sz="1400" dirty="0"/>
          </a:p>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marL="0" indent="0">
              <a:spcAft>
                <a:spcPts val="400"/>
              </a:spcAft>
              <a:buNone/>
            </a:pPr>
            <a:r>
              <a:rPr lang="en-US" sz="1350" dirty="0">
                <a:solidFill>
                  <a:schemeClr val="tx2"/>
                </a:solidFill>
              </a:rPr>
              <a:t>Organization, position, status, supervisor</a:t>
            </a:r>
            <a:endParaRPr lang="en-US" sz="1400" dirty="0"/>
          </a:p>
        </p:txBody>
      </p:sp>
      <p:sp>
        <p:nvSpPr>
          <p:cNvPr id="11" name="Shape 9" descr="">
            <a:extLst>
              <a:ext uri="{C183D7F6-B498-43B3-948B-1728B52AA6E4}">
                <adec:decorative xmlns:adec="http://schemas.microsoft.com/office/drawing/2017/decorative" val="1"/>
              </a:ext>
            </a:extLst>
          </p:cNvPr>
          <p:cNvSpPr/>
          <p:nvPr/>
        </p:nvSpPr>
        <p:spPr>
          <a:xfrm>
            <a:off x="3017520" y="2212848"/>
            <a:ext cx="411480" cy="0"/>
          </a:xfrm>
          <a:prstGeom prst="line">
            <a:avLst/>
          </a:prstGeom>
          <a:noFill/>
          <a:ln w="22225">
            <a:solidFill>
              <a:srgbClr val="64748B"/>
            </a:solidFill>
            <a:prstDash val="solid"/>
            <a:tailEnd type="triangle"/>
          </a:ln>
        </p:spPr>
      </p:sp>
      <p:sp>
        <p:nvSpPr>
          <p:cNvPr id="12" name="Shape 10" descr="">
            <a:extLst>
              <a:ext uri="{C183D7F6-B498-43B3-948B-1728B52AA6E4}">
                <adec:decorative xmlns:adec="http://schemas.microsoft.com/office/drawing/2017/decorative" val="1"/>
              </a:ext>
            </a:extLst>
          </p:cNvPr>
          <p:cNvSpPr/>
          <p:nvPr/>
        </p:nvSpPr>
        <p:spPr>
          <a:xfrm>
            <a:off x="5897880" y="2212848"/>
            <a:ext cx="411480" cy="0"/>
          </a:xfrm>
          <a:prstGeom prst="line">
            <a:avLst/>
          </a:prstGeom>
          <a:noFill/>
          <a:ln w="22225">
            <a:solidFill>
              <a:srgbClr val="64748B"/>
            </a:solidFill>
            <a:prstDash val="solid"/>
            <a:tailEnd type="triangle"/>
          </a:ln>
        </p:spPr>
      </p:sp>
      <p:sp>
        <p:nvSpPr>
          <p:cNvPr id="13" name="Shape 11" descr="">
            <a:extLst>
              <a:ext uri="{C183D7F6-B498-43B3-948B-1728B52AA6E4}">
                <adec:decorative xmlns:adec="http://schemas.microsoft.com/office/drawing/2017/decorative" val="1"/>
              </a:ext>
            </a:extLst>
          </p:cNvPr>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892040">
                  <a:extLst>
                    <a:ext uri="{9D8B030D-6E8A-4147-A177-3AD203B41FA5}">
                      <a16:colId xmlns:a16="http://schemas.microsoft.com/office/drawing/2014/main" val="20002"/>
                    </a:ext>
                  </a:extLst>
                </a:gridCol>
              </a:tblGrid>
              <a:tr h="37719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Zero Trust (for example, through SASE)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akeaway" descr="">
            <a:extLst>
              <a:ext uri="{C183D7F6-B498-43B3-948B-1728B52AA6E4}">
                <adec:decorative xmlns:adec="http://schemas.microsoft.com/office/drawing/2017/decorative" val="1"/>
              </a:ext>
            </a:extLst>
          </p:cNvPr>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800" b="1" dirty="0">
                <a:solidFill>
                  <a:srgbClr val="B45309"/>
                </a:solidFill>
              </a:rPr>
              <a:t>When access decisions depend on attributes, </a:t>
            </a: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descr="Narration for this slide; captions available" title="Narration">
            <a:hlinkClick r:id="" action="ppaction://media"/>
            <a:extLst>
              <a:ext uri="{FF2B5EF4-FFF2-40B4-BE49-F238E27FC236}">
                <a16:creationId xmlns:a16="http://schemas.microsoft.com/office/drawing/2014/main" id="{94C3E7A3-1A1D-B9DA-F842-845AB5F6D1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307E90-2433-45DB-A22F-7FAFC0D217E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760"/>
    </mc:Choice>
    <mc:Fallback>
      <p:transition spd="slow" advTm="72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76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descr="">
            <a:extLst>
              <a:ext uri="{C183D7F6-B498-43B3-948B-1728B52AA6E4}">
                <adec:decorative xmlns:adec="http://schemas.microsoft.com/office/drawing/2017/decorative" val="1"/>
              </a:ext>
            </a:extLst>
          </p:cNvPr>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4" name="Icon FaAddressBook" descr="">
            <a:extLst>
              <a:ext uri="{C183D7F6-B498-43B3-948B-1728B52AA6E4}">
                <adec:decorative xmlns:adec="http://schemas.microsoft.com/office/drawing/2017/decorative" val="1"/>
              </a:ext>
            </a:extLst>
          </p:cNvPr>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marL="0" indent="0">
              <a:spcAft>
                <a:spcPts val="600"/>
              </a:spcAft>
              <a:buNone/>
            </a:pPr>
            <a:r>
              <a:rPr lang="en-US" sz="1500" dirty="0">
                <a:solidFill>
                  <a:schemeClr val="tx2"/>
                </a:solidFill>
              </a:rPr>
              <a:t>In many agencies, HR changes are not automatically reflected in Active Directory, which feeds the phone book. Titles, offices, phone numbers and managers stay wrong until someone files a ticket.</a:t>
            </a:r>
            <a:endParaRPr lang="en-US" sz="1400" dirty="0"/>
          </a:p>
        </p:txBody>
      </p:sp>
      <p:sp>
        <p:nvSpPr>
          <p:cNvPr id="7" name="Story 2" descr="">
            <a:extLst>
              <a:ext uri="{C183D7F6-B498-43B3-948B-1728B52AA6E4}">
                <adec:decorative xmlns:adec="http://schemas.microsoft.com/office/drawing/2017/decorative" val="1"/>
              </a:ext>
            </a:extLst>
          </p:cNvPr>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Icon FaUserTie" descr="">
            <a:extLst>
              <a:ext uri="{C183D7F6-B498-43B3-948B-1728B52AA6E4}">
                <adec:decorative xmlns:adec="http://schemas.microsoft.com/office/drawing/2017/decorative" val="1"/>
              </a:ext>
            </a:extLst>
          </p:cNvPr>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marL="0" indent="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descr="">
            <a:extLst>
              <a:ext uri="{C183D7F6-B498-43B3-948B-1728B52AA6E4}">
                <adec:decorative xmlns:adec="http://schemas.microsoft.com/office/drawing/2017/decorative" val="1"/>
              </a:ext>
            </a:extLst>
          </p:cNvPr>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RightLeft" descr="">
            <a:extLst>
              <a:ext uri="{C183D7F6-B498-43B3-948B-1728B52AA6E4}">
                <adec:decorative xmlns:adec="http://schemas.microsoft.com/office/drawing/2017/decorative" val="1"/>
              </a:ext>
            </a:extLst>
          </p:cNvPr>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descr="">
            <a:extLst>
              <a:ext uri="{C183D7F6-B498-43B3-948B-1728B52AA6E4}">
                <adec:decorative xmlns:adec="http://schemas.microsoft.com/office/drawing/2017/decorative" val="1"/>
              </a:ext>
            </a:extLst>
          </p:cNvPr>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personnel action records the reassignment</a:t>
            </a:r>
            <a:endParaRPr lang="en-US" sz="1550" dirty="0"/>
          </a:p>
        </p:txBody>
      </p:sp>
      <p:sp>
        <p:nvSpPr>
          <p:cNvPr id="18" name="Shape 13" descr="">
            <a:extLst>
              <a:ext uri="{C183D7F6-B498-43B3-948B-1728B52AA6E4}">
                <adec:decorative xmlns:adec="http://schemas.microsoft.com/office/drawing/2017/decorative" val="1"/>
              </a:ext>
            </a:extLst>
          </p:cNvPr>
          <p:cNvSpPr/>
          <p:nvPr/>
        </p:nvSpPr>
        <p:spPr>
          <a:xfrm>
            <a:off x="7086600" y="2880360"/>
            <a:ext cx="0" cy="594360"/>
          </a:xfrm>
          <a:prstGeom prst="line">
            <a:avLst/>
          </a:prstGeom>
          <a:noFill/>
          <a:ln w="19050">
            <a:solidFill>
              <a:srgbClr val="0F766E"/>
            </a:solidFill>
            <a:prstDash val="solid"/>
            <a:tailEnd type="triangle"/>
          </a:ln>
        </p:spPr>
      </p:sp>
      <p:sp>
        <p:nvSpPr>
          <p:cNvPr id="19" name="Step 2 badge" descr="">
            <a:extLst>
              <a:ext uri="{C183D7F6-B498-43B3-948B-1728B52AA6E4}">
                <adec:decorative xmlns:adec="http://schemas.microsoft.com/office/drawing/2017/decorative" val="1"/>
              </a:ext>
            </a:extLst>
          </p:cNvPr>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marL="0" indent="0">
              <a:buNone/>
            </a:pPr>
            <a:r>
              <a:rPr lang="en-US" sz="1550" dirty="0">
                <a:solidFill>
                  <a:srgbClr val="1F2A44"/>
                </a:solidFill>
              </a:rPr>
              <a:t>Organization and manager update in Entra ID and AD</a:t>
            </a:r>
            <a:endParaRPr lang="en-US" sz="1550" dirty="0"/>
          </a:p>
        </p:txBody>
      </p:sp>
      <p:sp>
        <p:nvSpPr>
          <p:cNvPr id="22" name="Shape 17" descr="">
            <a:extLst>
              <a:ext uri="{C183D7F6-B498-43B3-948B-1728B52AA6E4}">
                <adec:decorative xmlns:adec="http://schemas.microsoft.com/office/drawing/2017/decorative" val="1"/>
              </a:ext>
            </a:extLst>
          </p:cNvPr>
          <p:cNvSpPr/>
          <p:nvPr/>
        </p:nvSpPr>
        <p:spPr>
          <a:xfrm>
            <a:off x="7086600" y="3931920"/>
            <a:ext cx="0" cy="594360"/>
          </a:xfrm>
          <a:prstGeom prst="line">
            <a:avLst/>
          </a:prstGeom>
          <a:noFill/>
          <a:ln w="19050">
            <a:solidFill>
              <a:srgbClr val="0F766E"/>
            </a:solidFill>
            <a:prstDash val="solid"/>
            <a:tailEnd type="triangle"/>
          </a:ln>
        </p:spPr>
      </p:sp>
      <p:sp>
        <p:nvSpPr>
          <p:cNvPr id="23" name="Step 3 badge" descr="">
            <a:extLst>
              <a:ext uri="{C183D7F6-B498-43B3-948B-1728B52AA6E4}">
                <adec:decorative xmlns:adec="http://schemas.microsoft.com/office/drawing/2017/decorative" val="1"/>
              </a:ext>
            </a:extLst>
          </p:cNvPr>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phone book, approvals and tool access follow — from the authoritative source, not a ticket</a:t>
            </a:r>
            <a:endParaRPr lang="en-US" sz="155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title="Narration">
            <a:hlinkClick r:id="" action="ppaction://media"/>
            <a:extLst>
              <a:ext uri="{FF2B5EF4-FFF2-40B4-BE49-F238E27FC236}">
                <a16:creationId xmlns:a16="http://schemas.microsoft.com/office/drawing/2014/main" id="{999FA623-39D3-90B4-3332-7D8803CEF6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78F709-02E6-4A50-B4A0-3ED667605CD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60"/>
    </mc:Choice>
    <mc:Fallback>
      <p:transition spd="slow" advTm="46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descr="">
            <a:extLst>
              <a:ext uri="{C183D7F6-B498-43B3-948B-1728B52AA6E4}">
                <adec:decorative xmlns:adec="http://schemas.microsoft.com/office/drawing/2017/decorative" val="1"/>
              </a:ext>
            </a:extLst>
          </p:cNvPr>
          <p:cNvSpPr/>
          <p:nvPr/>
        </p:nvSpPr>
        <p:spPr>
          <a:xfrm>
            <a:off x="1691640" y="2240280"/>
            <a:ext cx="8778240" cy="0"/>
          </a:xfrm>
          <a:prstGeom prst="line">
            <a:avLst/>
          </a:prstGeom>
          <a:noFill/>
          <a:ln w="19050">
            <a:solidFill>
              <a:srgbClr val="64748B"/>
            </a:solidFill>
            <a:prstDash val="solid"/>
          </a:ln>
        </p:spPr>
      </p:sp>
      <p:sp>
        <p:nvSpPr>
          <p:cNvPr id="4" name="Milestone dot 1" descr="">
            <a:extLst>
              <a:ext uri="{C183D7F6-B498-43B3-948B-1728B52AA6E4}">
                <adec:decorative xmlns:adec="http://schemas.microsoft.com/office/drawing/2017/decorative" val="1"/>
              </a:ext>
            </a:extLst>
          </p:cNvPr>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OMB/OPM memo</a:t>
            </a:r>
            <a:endParaRPr lang="en-US" sz="1400" dirty="0"/>
          </a:p>
          <a:p>
            <a:pPr marL="0" indent="0" algn="ctr">
              <a:buNone/>
            </a:pPr>
            <a:r>
              <a:rPr lang="en-US" sz="1400" dirty="0">
                <a:solidFill>
                  <a:schemeClr val="tx2"/>
                </a:solidFill>
              </a:rPr>
              <a:t>One government-wide Core HCM platform</a:t>
            </a:r>
            <a:endParaRPr lang="en-US" sz="1400" dirty="0"/>
          </a:p>
        </p:txBody>
      </p:sp>
      <p:sp>
        <p:nvSpPr>
          <p:cNvPr id="7" name="Milestone dot 2" descr="">
            <a:extLst>
              <a:ext uri="{C183D7F6-B498-43B3-948B-1728B52AA6E4}">
                <adec:decorative xmlns:adec="http://schemas.microsoft.com/office/drawing/2017/decorative" val="1"/>
              </a:ext>
            </a:extLst>
          </p:cNvPr>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Core HCM award</a:t>
            </a:r>
            <a:endParaRPr lang="en-US" sz="1400" dirty="0"/>
          </a:p>
          <a:p>
            <a:pPr marL="0" indent="0" algn="ctr">
              <a:buNone/>
            </a:pPr>
            <a:r>
              <a:rPr lang="en-US" sz="1400" dirty="0">
                <a:solidFill>
                  <a:schemeClr val="tx2"/>
                </a:solidFill>
              </a:rPr>
              <a:t>Oracle Fusion Cloud HCM (SaaS)</a:t>
            </a:r>
            <a:endParaRPr lang="en-US" sz="1400" dirty="0"/>
          </a:p>
        </p:txBody>
      </p:sp>
      <p:sp>
        <p:nvSpPr>
          <p:cNvPr id="10" name="Milestone dot 3" descr="">
            <a:extLst>
              <a:ext uri="{C183D7F6-B498-43B3-948B-1728B52AA6E4}">
                <adec:decorative xmlns:adec="http://schemas.microsoft.com/office/drawing/2017/decorative" val="1"/>
              </a:ext>
            </a:extLst>
          </p:cNvPr>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First go-lives</a:t>
            </a:r>
            <a:endParaRPr lang="en-US" sz="1400" dirty="0"/>
          </a:p>
          <a:p>
            <a:pPr marL="0" indent="0" algn="ctr">
              <a:buNone/>
            </a:pPr>
            <a:r>
              <a:rPr lang="en-US" sz="1400" dirty="0">
                <a:solidFill>
                  <a:schemeClr val="tx2"/>
                </a:solidFill>
              </a:rPr>
              <a:t>Wave 1 agencies</a:t>
            </a:r>
            <a:endParaRPr lang="en-US" sz="1400" dirty="0"/>
          </a:p>
        </p:txBody>
      </p:sp>
      <p:sp>
        <p:nvSpPr>
          <p:cNvPr id="13" name="Milestone dot 4" descr="">
            <a:extLst>
              <a:ext uri="{C183D7F6-B498-43B3-948B-1728B52AA6E4}">
                <adec:decorative xmlns:adec="http://schemas.microsoft.com/office/drawing/2017/decorative" val="1"/>
              </a:ext>
            </a:extLst>
          </p:cNvPr>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marL="0" indent="0" algn="ctr">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marL="0" indent="0" algn="ctr">
              <a:buNone/>
            </a:pPr>
            <a:r>
              <a:rPr lang="en-US" sz="1400" b="1" dirty="0">
                <a:solidFill>
                  <a:srgbClr val="B45309"/>
                </a:solidFill>
              </a:rPr>
              <a:t>Wave 2 agencies (planning assumption)</a:t>
            </a:r>
            <a:endParaRPr lang="en-US" sz="1400" dirty="0"/>
          </a:p>
          <a:p>
            <a:pPr marL="0" indent="0" algn="ctr">
              <a:buNone/>
            </a:pPr>
            <a:r>
              <a:rPr lang="en-US" sz="1400" dirty="0">
                <a:solidFill>
                  <a:schemeClr val="tx2"/>
                </a:solidFill>
              </a:rPr>
              <a:t>Interconnections during onboarding; confirm agency milestones</a:t>
            </a:r>
            <a:endParaRPr lang="en-US" sz="1400" dirty="0"/>
          </a:p>
        </p:txBody>
      </p:sp>
      <p:sp>
        <p:nvSpPr>
          <p:cNvPr id="16" name="Milestone dot 5" descr="">
            <a:extLst>
              <a:ext uri="{C183D7F6-B498-43B3-948B-1728B52AA6E4}">
                <adec:decorative xmlns:adec="http://schemas.microsoft.com/office/drawing/2017/decorative" val="1"/>
              </a:ext>
            </a:extLst>
          </p:cNvPr>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One system</a:t>
            </a:r>
            <a:endParaRPr lang="en-US" sz="1400" dirty="0"/>
          </a:p>
          <a:p>
            <a:pPr marL="0" indent="0" algn="ctr">
              <a:buNone/>
            </a:pPr>
            <a:r>
              <a:rPr lang="en-US" sz="1400" dirty="0">
                <a:solidFill>
                  <a:schemeClr val="tx2"/>
                </a:solidFill>
              </a:rPr>
              <a:t>EHRI and eOPF decommissioned</a:t>
            </a:r>
            <a:endParaRPr lang="en-US" sz="1400" dirty="0"/>
          </a:p>
        </p:txBody>
      </p:sp>
      <p:sp>
        <p:nvSpPr>
          <p:cNvPr id="19" name="Window 1" descr="">
            <a:extLst>
              <a:ext uri="{C183D7F6-B498-43B3-948B-1728B52AA6E4}">
                <adec:decorative xmlns:adec="http://schemas.microsoft.com/office/drawing/2017/decorative" val="1"/>
              </a:ext>
            </a:extLst>
          </p:cNvPr>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DoorOpen" descr="">
            <a:extLst>
              <a:ext uri="{C183D7F6-B498-43B3-948B-1728B52AA6E4}">
                <adec:decorative xmlns:adec="http://schemas.microsoft.com/office/drawing/2017/decorative" val="1"/>
              </a:ext>
            </a:extLst>
          </p:cNvPr>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marL="0" indent="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descr="">
            <a:extLst>
              <a:ext uri="{C183D7F6-B498-43B3-948B-1728B52AA6E4}">
                <adec:decorative xmlns:adec="http://schemas.microsoft.com/office/drawing/2017/decorative" val="1"/>
              </a:ext>
            </a:extLst>
          </p:cNvPr>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4" name="Icon FaDoorClosed" descr="">
            <a:extLst>
              <a:ext uri="{C183D7F6-B498-43B3-948B-1728B52AA6E4}">
                <adec:decorative xmlns:adec="http://schemas.microsoft.com/office/drawing/2017/decorative" val="1"/>
              </a:ext>
            </a:extLst>
          </p:cNvPr>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marL="0" indent="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title="Narration">
            <a:hlinkClick r:id="" action="ppaction://media"/>
            <a:extLst>
              <a:ext uri="{FF2B5EF4-FFF2-40B4-BE49-F238E27FC236}">
                <a16:creationId xmlns:a16="http://schemas.microsoft.com/office/drawing/2014/main" id="{8E097049-01C8-C9B9-7C22-DED6332491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C0ED79-CCEF-40A1-8B90-A6E1BEBE57D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220"/>
    </mc:Choice>
    <mc:Fallback>
      <p:transition spd="slow" advTm="7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2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531495">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Why card" descr="">
            <a:extLst>
              <a:ext uri="{C183D7F6-B498-43B3-948B-1728B52AA6E4}">
                <adec:decorative xmlns:adec="http://schemas.microsoft.com/office/drawing/2017/decorative" val="1"/>
              </a:ext>
            </a:extLst>
          </p:cNvPr>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Book" descr="">
            <a:extLst>
              <a:ext uri="{C183D7F6-B498-43B3-948B-1728B52AA6E4}">
                <adec:decorative xmlns:adec="http://schemas.microsoft.com/office/drawing/2017/decorative" val="1"/>
              </a:ext>
            </a:extLst>
          </p:cNvPr>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42248" y="1682496"/>
            <a:ext cx="237744" cy="237744"/>
          </a:xfrm>
          <a:prstGeom prst="rect">
            <a:avLst/>
          </a:prstGeom>
        </p:spPr>
      </p:pic>
      <p:sp>
        <p:nvSpPr>
          <p:cNvPr id="3" name="Why heading"/>
          <p:cNvSpPr txBox="1"/>
          <p:nvPr/>
        </p:nvSpPr>
        <p:spPr>
          <a:xfrm>
            <a:off x="9281160" y="1572768"/>
            <a:ext cx="2286000" cy="4572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marL="0" indent="0">
              <a:buNone/>
            </a:pPr>
            <a:r>
              <a:rPr lang="en-US" sz="1350" dirty="0">
                <a:solidFill>
                  <a:schemeClr val="tx2"/>
                </a:solidFill>
              </a:rPr>
              <a:t>OPM standards give a common federal vocabulary that agencies map into a shared canonical model; the mapping holds if the HR vendor changes.</a:t>
            </a:r>
            <a:endParaRPr lang="en-US" sz="1350" dirty="0"/>
          </a:p>
        </p:txBody>
      </p:sp>
      <p:sp>
        <p:nvSpPr>
          <p:cNvPr id="9" name="CWK card" descr="">
            <a:extLst>
              <a:ext uri="{C183D7F6-B498-43B3-948B-1728B52AA6E4}">
                <adec:decorative xmlns:adec="http://schemas.microsoft.com/office/drawing/2017/decorative" val="1"/>
              </a:ext>
            </a:extLst>
          </p:cNvPr>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Icon FaPeopleArrows" descr="">
            <a:extLst>
              <a:ext uri="{C183D7F6-B498-43B3-948B-1728B52AA6E4}">
                <adec:decorative xmlns:adec="http://schemas.microsoft.com/office/drawing/2017/decorative" val="1"/>
              </a:ext>
            </a:extLst>
          </p:cNvPr>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marL="0" indent="0">
              <a:buNone/>
            </a:pPr>
            <a:r>
              <a:rPr lang="en-US" sz="1250" b="1" dirty="0">
                <a:solidFill>
                  <a:srgbClr val="1F2A44"/>
                </a:solidFill>
              </a:rPr>
              <a:t>Not in HRIT; tracked in COR spreadsheets in the processes observed. </a:t>
            </a: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5" name="Narration" descr="Narration for this slide; captions available" title="Narration">
            <a:hlinkClick r:id="" action="ppaction://media"/>
            <a:extLst>
              <a:ext uri="{FF2B5EF4-FFF2-40B4-BE49-F238E27FC236}">
                <a16:creationId xmlns:a16="http://schemas.microsoft.com/office/drawing/2014/main" id="{366B0033-8CEA-6862-02FA-DD3C5094D2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C13A28-2FB9-4BDF-A521-9031FA2D494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300"/>
    </mc:Choice>
    <mc:Fallback>
      <p:transition spd="slow" advTm="9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30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846320">
                  <a:extLst>
                    <a:ext uri="{9D8B030D-6E8A-4147-A177-3AD203B41FA5}">
                      <a16:colId xmlns:a16="http://schemas.microsoft.com/office/drawing/2014/main" val="20003"/>
                    </a:ext>
                  </a:extLst>
                </a:gridCol>
              </a:tblGrid>
              <a:tr h="509451">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NOA rule 1" descr="">
            <a:extLst>
              <a:ext uri="{C183D7F6-B498-43B3-948B-1728B52AA6E4}">
                <adec:decorative xmlns:adec="http://schemas.microsoft.com/office/drawing/2017/decorative" val="1"/>
              </a:ext>
            </a:extLst>
          </p:cNvPr>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5" name="Icon FaUserClock" descr="">
            <a:extLst>
              <a:ext uri="{C183D7F6-B498-43B3-948B-1728B52AA6E4}">
                <adec:decorative xmlns:adec="http://schemas.microsoft.com/office/drawing/2017/decorative" val="1"/>
              </a:ext>
            </a:extLst>
          </p:cNvPr>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Leave is not a leaver. </a:t>
            </a:r>
            <a:r>
              <a:rPr lang="en-US" sz="1400" dirty="0">
                <a:solidFill>
                  <a:schemeClr val="tx2"/>
                </a:solidFill>
              </a:rPr>
              <a:t>Furlough, LWOP and suspension keep the person; policy restricts the account.</a:t>
            </a:r>
            <a:endParaRPr lang="en-US" sz="1400" dirty="0"/>
          </a:p>
        </p:txBody>
      </p:sp>
      <p:sp>
        <p:nvSpPr>
          <p:cNvPr id="3" name="NOA rule 2" descr="">
            <a:extLst>
              <a:ext uri="{C183D7F6-B498-43B3-948B-1728B52AA6E4}">
                <adec:decorative xmlns:adec="http://schemas.microsoft.com/office/drawing/2017/decorative" val="1"/>
              </a:ext>
            </a:extLst>
          </p:cNvPr>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Icon FaArrowDownWideShort" descr="">
            <a:extLst>
              <a:ext uri="{C183D7F6-B498-43B3-948B-1728B52AA6E4}">
                <adec:decorative xmlns:adec="http://schemas.microsoft.com/office/drawing/2017/decorative" val="1"/>
              </a:ext>
            </a:extLst>
          </p:cNvPr>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Precedence is a rule. </a:t>
            </a:r>
            <a:r>
              <a:rPr lang="en-US" sz="1400" dirty="0">
                <a:solidFill>
                  <a:schemeClr val="tx2"/>
                </a:solidFill>
              </a:rPr>
              <a:t>A separation wins; a conversion is applied before a mover.</a:t>
            </a:r>
            <a:endParaRPr lang="en-US" sz="1400" dirty="0"/>
          </a:p>
        </p:txBody>
      </p:sp>
      <p:sp>
        <p:nvSpPr>
          <p:cNvPr id="12" name="NOA rule 3" descr="">
            <a:extLst>
              <a:ext uri="{C183D7F6-B498-43B3-948B-1728B52AA6E4}">
                <adec:decorative xmlns:adec="http://schemas.microsoft.com/office/drawing/2017/decorative" val="1"/>
              </a:ext>
            </a:extLst>
          </p:cNvPr>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Icon FaUserXmark" descr="">
            <a:extLst>
              <a:ext uri="{C183D7F6-B498-43B3-948B-1728B52AA6E4}">
                <adec:decorative xmlns:adec="http://schemas.microsoft.com/office/drawing/2017/decorative" val="1"/>
              </a:ext>
            </a:extLst>
          </p:cNvPr>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Rescinded offers clean up </a:t>
            </a: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title="Narration">
            <a:hlinkClick r:id="" action="ppaction://media"/>
            <a:extLst>
              <a:ext uri="{FF2B5EF4-FFF2-40B4-BE49-F238E27FC236}">
                <a16:creationId xmlns:a16="http://schemas.microsoft.com/office/drawing/2014/main" id="{57578B82-2B56-8E41-223E-B300C536DF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0B05D1-AF1C-4D77-88ED-BE001830B22B}"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700"/>
    </mc:Choice>
    <mc:Fallback>
      <p:transition spd="slow" advTm="6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6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5943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EDA card" descr="">
            <a:extLst>
              <a:ext uri="{C183D7F6-B498-43B3-948B-1728B52AA6E4}">
                <adec:decorative xmlns:adec="http://schemas.microsoft.com/office/drawing/2017/decorative" val="1"/>
              </a:ext>
            </a:extLst>
          </p:cNvPr>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Sitemap" descr="">
            <a:extLst>
              <a:ext uri="{C183D7F6-B498-43B3-948B-1728B52AA6E4}">
                <adec:decorative xmlns:adec="http://schemas.microsoft.com/office/drawing/2017/decorative" val="1"/>
              </a:ext>
            </a:extLst>
          </p:cNvPr>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3" name="Decision" descr="">
            <a:extLst>
              <a:ext uri="{C183D7F6-B498-43B3-948B-1728B52AA6E4}">
                <adec:decorative xmlns:adec="http://schemas.microsoft.com/office/drawing/2017/decorative" val="1"/>
              </a:ext>
            </a:extLst>
          </p:cNvPr>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marL="0" indent="0">
              <a:buNone/>
            </a:pPr>
            <a:r>
              <a:rPr lang="en-US" sz="1400" b="1" dirty="0">
                <a:solidFill>
                  <a:srgbClr val="B45309"/>
                </a:solidFill>
              </a:rPr>
              <a:t>Often the key already exists: </a:t>
            </a: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title="Narration">
            <a:hlinkClick r:id="" action="ppaction://media"/>
            <a:extLst>
              <a:ext uri="{FF2B5EF4-FFF2-40B4-BE49-F238E27FC236}">
                <a16:creationId xmlns:a16="http://schemas.microsoft.com/office/drawing/2014/main" id="{EA8D2C99-EB0C-18E2-990F-7E4D82DF54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FE42E9-44C7-4C01-A123-FA7E8259E33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90"/>
    </mc:Choice>
    <mc:Fallback>
      <p:transition spd="slow" advTm="6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Proposed physical mapping: HR to Entra ID and AD</a:t>
            </a:r>
            <a:endParaRPr lang="en-US" sz="3000" dirty="0"/>
          </a:p>
        </p:txBody>
      </p:sp>
      <p:sp>
        <p:nvSpPr>
          <p:cNvPr id="3" name="Mapping caveat"/>
          <p:cNvSpPr txBox="1"/>
          <p:nvPr/>
        </p:nvSpPr>
        <p:spPr>
          <a:xfrm>
            <a:off x="548640" y="6144768"/>
            <a:ext cx="11064240" cy="228600"/>
          </a:xfrm>
          <a:prstGeom prst="rect">
            <a:avLst/>
          </a:prstGeom>
          <a:noFill/>
          <a:ln/>
        </p:spPr>
        <p:txBody>
          <a:bodyPr wrap="square" lIns="0" tIns="0" rIns="0" bIns="0" rtlCol="0" anchor="t"/>
          <a:lstStyle/>
          <a:p>
            <a:pPr marL="0" indent="0">
              <a:buNone/>
            </a:pPr>
            <a:r>
              <a:rPr lang="en-US" sz="1050" i="1" dirty="0">
                <a:solidFill>
                  <a:srgbClr val="64748B"/>
                </a:solidFill>
              </a:rPr>
              <a:t>Target attributes are implementation proposals subject to existing-use inventory, security review and tenant validation.</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509451">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Model rule 1" descr="">
            <a:extLst>
              <a:ext uri="{C183D7F6-B498-43B3-948B-1728B52AA6E4}">
                <adec:decorative xmlns:adec="http://schemas.microsoft.com/office/drawing/2017/decorative" val="1"/>
              </a:ext>
            </a:extLst>
          </p:cNvPr>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Cubes" descr="">
            <a:extLst>
              <a:ext uri="{C183D7F6-B498-43B3-948B-1728B52AA6E4}">
                <adec:decorative xmlns:adec="http://schemas.microsoft.com/office/drawing/2017/decorative" val="1"/>
              </a:ext>
            </a:extLst>
          </p:cNvPr>
          <p:cNvSpPr/>
          <p:nvPr/>
        </p:nvSpPr>
        <p:spPr>
          <a:xfrm>
            <a:off x="713232" y="5440680"/>
            <a:ext cx="548640" cy="548640"/>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4906" y="5572354"/>
            <a:ext cx="285293" cy="285293"/>
          </a:xfrm>
          <a:prstGeom prst="rect">
            <a:avLst/>
          </a:prstGeom>
        </p:spPr>
      </p:pic>
      <p:sp>
        <p:nvSpPr>
          <p:cNvPr id="8" name="Model rule 1 text"/>
          <p:cNvSpPr txBox="1"/>
          <p:nvPr/>
        </p:nvSpPr>
        <p:spPr>
          <a:xfrm>
            <a:off x="141732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Native attributes first</a:t>
            </a:r>
            <a:endParaRPr lang="en-US" sz="1500" dirty="0"/>
          </a:p>
          <a:p>
            <a:pPr marL="0" indent="0">
              <a:buNone/>
            </a:pPr>
            <a:r>
              <a:rPr lang="en-US" sz="1350" dirty="0">
                <a:solidFill>
                  <a:schemeClr val="tx2"/>
                </a:solidFill>
              </a:rPr>
              <a:t>Extensions only where a rule can’t read a native property.</a:t>
            </a:r>
            <a:endParaRPr lang="en-US" sz="1500" dirty="0"/>
          </a:p>
        </p:txBody>
      </p:sp>
      <p:sp>
        <p:nvSpPr>
          <p:cNvPr id="9" name="Model rule 2" descr="">
            <a:extLst>
              <a:ext uri="{C183D7F6-B498-43B3-948B-1728B52AA6E4}">
                <adec:decorative xmlns:adec="http://schemas.microsoft.com/office/drawing/2017/decorative" val="1"/>
              </a:ext>
            </a:extLst>
          </p:cNvPr>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Hashtag" descr="">
            <a:extLst>
              <a:ext uri="{C183D7F6-B498-43B3-948B-1728B52AA6E4}">
                <adec:decorative xmlns:adec="http://schemas.microsoft.com/office/drawing/2017/decorative" val="1"/>
              </a:ext>
            </a:extLst>
          </p:cNvPr>
          <p:cNvSpPr/>
          <p:nvPr/>
        </p:nvSpPr>
        <p:spPr>
          <a:xfrm>
            <a:off x="4462272" y="5440680"/>
            <a:ext cx="548640" cy="54864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93946" y="5572354"/>
            <a:ext cx="285293" cy="285293"/>
          </a:xfrm>
          <a:prstGeom prst="rect">
            <a:avLst/>
          </a:prstGeom>
        </p:spPr>
      </p:pic>
      <p:sp>
        <p:nvSpPr>
          <p:cNvPr id="12" name="Model rule 2 text"/>
          <p:cNvSpPr txBox="1"/>
          <p:nvPr/>
        </p:nvSpPr>
        <p:spPr>
          <a:xfrm>
            <a:off x="516636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Codes, not display strings</a:t>
            </a:r>
            <a:endParaRPr lang="en-US" sz="1500" dirty="0"/>
          </a:p>
          <a:p>
            <a:pPr marL="0" indent="0">
              <a:buNone/>
            </a:pPr>
            <a:r>
              <a:rPr lang="en-US" sz="1350" dirty="0">
                <a:solidFill>
                  <a:schemeClr val="tx2"/>
                </a:solidFill>
              </a:rPr>
              <a:t>Access rules read codes that change only when the fact does.</a:t>
            </a:r>
            <a:endParaRPr lang="en-US" sz="1500" dirty="0"/>
          </a:p>
        </p:txBody>
      </p:sp>
      <p:sp>
        <p:nvSpPr>
          <p:cNvPr id="13" name="Model rule 3" descr="">
            <a:extLst>
              <a:ext uri="{C183D7F6-B498-43B3-948B-1728B52AA6E4}">
                <adec:decorative xmlns:adec="http://schemas.microsoft.com/office/drawing/2017/decorative" val="1"/>
              </a:ext>
            </a:extLst>
          </p:cNvPr>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TableList" descr="">
            <a:extLst>
              <a:ext uri="{C183D7F6-B498-43B3-948B-1728B52AA6E4}">
                <adec:decorative xmlns:adec="http://schemas.microsoft.com/office/drawing/2017/decorative" val="1"/>
              </a:ext>
            </a:extLst>
          </p:cNvPr>
          <p:cNvSpPr/>
          <p:nvPr/>
        </p:nvSpPr>
        <p:spPr>
          <a:xfrm>
            <a:off x="8211312" y="5440680"/>
            <a:ext cx="548640" cy="548640"/>
          </a:xfrm>
          <a:prstGeom prst="ellipse">
            <a:avLst/>
          </a:prstGeom>
          <a:solidFill>
            <a:srgbClr val="0F766E"/>
          </a:solidFill>
          <a:ln w="12700">
            <a:solidFill>
              <a:srgbClr val="0F766E"/>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42986" y="5572354"/>
            <a:ext cx="285293" cy="285293"/>
          </a:xfrm>
          <a:prstGeom prst="rect">
            <a:avLst/>
          </a:prstGeom>
        </p:spPr>
      </p:pic>
      <p:sp>
        <p:nvSpPr>
          <p:cNvPr id="16" name="Model rule 3 text"/>
          <p:cNvSpPr txBox="1"/>
          <p:nvPr/>
        </p:nvSpPr>
        <p:spPr>
          <a:xfrm>
            <a:off x="891540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One crosswalk, governed</a:t>
            </a:r>
            <a:endParaRPr lang="en-US" sz="1500" dirty="0"/>
          </a:p>
          <a:p>
            <a:pPr marL="0" indent="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7" name="Narration" descr="Narration for this slide; captions available" title="Narration">
            <a:hlinkClick r:id="" action="ppaction://media"/>
            <a:extLst>
              <a:ext uri="{FF2B5EF4-FFF2-40B4-BE49-F238E27FC236}">
                <a16:creationId xmlns:a16="http://schemas.microsoft.com/office/drawing/2014/main" id="{018BAB61-1592-1C03-B70F-6837772856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8387F5-E88E-4F29-BF35-3467812D7F1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40"/>
    </mc:Choice>
    <mc:Fallback>
      <p:transition spd="slow" advTm="45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marL="0" indent="0">
              <a:buNone/>
            </a:pPr>
            <a:r>
              <a:rPr lang="en-US" sz="1400" b="1" dirty="0">
                <a:solidFill>
                  <a:srgbClr val="1F2A44"/>
                </a:solidFill>
              </a:rPr>
              <a:t>Logical architecture — stable</a:t>
            </a:r>
            <a:endParaRPr lang="en-US" sz="1400" dirty="0"/>
          </a:p>
        </p:txBody>
      </p:sp>
      <p:sp>
        <p:nvSpPr>
          <p:cNvPr id="4" name="LM 1.1" descr="">
            <a:extLst>
              <a:ext uri="{C183D7F6-B498-43B3-948B-1728B52AA6E4}">
                <adec:decorative xmlns:adec="http://schemas.microsoft.com/office/drawing/2017/decorative" val="1"/>
              </a:ext>
            </a:extLst>
          </p:cNvPr>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Authoritative source</a:t>
            </a:r>
            <a:endParaRPr lang="en-US" sz="1350" dirty="0"/>
          </a:p>
        </p:txBody>
      </p:sp>
      <p:sp>
        <p:nvSpPr>
          <p:cNvPr id="6" name="Shape 4" descr="">
            <a:extLst>
              <a:ext uri="{C183D7F6-B498-43B3-948B-1728B52AA6E4}">
                <adec:decorative xmlns:adec="http://schemas.microsoft.com/office/drawing/2017/decorative" val="1"/>
              </a:ext>
            </a:extLst>
          </p:cNvPr>
          <p:cNvSpPr/>
          <p:nvPr/>
        </p:nvSpPr>
        <p:spPr>
          <a:xfrm>
            <a:off x="2606040" y="2148840"/>
            <a:ext cx="205740" cy="0"/>
          </a:xfrm>
          <a:prstGeom prst="line">
            <a:avLst/>
          </a:prstGeom>
          <a:noFill/>
          <a:ln w="22225">
            <a:solidFill>
              <a:srgbClr val="1F2A44"/>
            </a:solidFill>
            <a:prstDash val="solid"/>
            <a:tailEnd type="triangle"/>
          </a:ln>
        </p:spPr>
      </p:sp>
      <p:sp>
        <p:nvSpPr>
          <p:cNvPr id="7" name="LM 1.2" descr="">
            <a:extLst>
              <a:ext uri="{C183D7F6-B498-43B3-948B-1728B52AA6E4}">
                <adec:decorative xmlns:adec="http://schemas.microsoft.com/office/drawing/2017/decorative" val="1"/>
              </a:ext>
            </a:extLst>
          </p:cNvPr>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Boundary transformation</a:t>
            </a:r>
            <a:endParaRPr lang="en-US" sz="1350" dirty="0"/>
          </a:p>
        </p:txBody>
      </p:sp>
      <p:sp>
        <p:nvSpPr>
          <p:cNvPr id="9" name="Shape 7" descr="">
            <a:extLst>
              <a:ext uri="{C183D7F6-B498-43B3-948B-1728B52AA6E4}">
                <adec:decorative xmlns:adec="http://schemas.microsoft.com/office/drawing/2017/decorative" val="1"/>
              </a:ext>
            </a:extLst>
          </p:cNvPr>
          <p:cNvSpPr/>
          <p:nvPr/>
        </p:nvSpPr>
        <p:spPr>
          <a:xfrm>
            <a:off x="4869180" y="2148840"/>
            <a:ext cx="205740" cy="0"/>
          </a:xfrm>
          <a:prstGeom prst="line">
            <a:avLst/>
          </a:prstGeom>
          <a:noFill/>
          <a:ln w="22225">
            <a:solidFill>
              <a:srgbClr val="1F2A44"/>
            </a:solidFill>
            <a:prstDash val="solid"/>
            <a:tailEnd type="triangle"/>
          </a:ln>
        </p:spPr>
      </p:sp>
      <p:sp>
        <p:nvSpPr>
          <p:cNvPr id="10" name="LM 1.3" descr="">
            <a:extLst>
              <a:ext uri="{C183D7F6-B498-43B3-948B-1728B52AA6E4}">
                <adec:decorative xmlns:adec="http://schemas.microsoft.com/office/drawing/2017/decorative" val="1"/>
              </a:ext>
            </a:extLst>
          </p:cNvPr>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Governed identity model</a:t>
            </a:r>
            <a:endParaRPr lang="en-US" sz="1350" dirty="0"/>
          </a:p>
        </p:txBody>
      </p:sp>
      <p:sp>
        <p:nvSpPr>
          <p:cNvPr id="12" name="Shape 10" descr="">
            <a:extLst>
              <a:ext uri="{C183D7F6-B498-43B3-948B-1728B52AA6E4}">
                <adec:decorative xmlns:adec="http://schemas.microsoft.com/office/drawing/2017/decorative" val="1"/>
              </a:ext>
            </a:extLst>
          </p:cNvPr>
          <p:cNvSpPr/>
          <p:nvPr/>
        </p:nvSpPr>
        <p:spPr>
          <a:xfrm>
            <a:off x="7132320" y="2148840"/>
            <a:ext cx="205740" cy="0"/>
          </a:xfrm>
          <a:prstGeom prst="line">
            <a:avLst/>
          </a:prstGeom>
          <a:noFill/>
          <a:ln w="22225">
            <a:solidFill>
              <a:srgbClr val="1F2A44"/>
            </a:solidFill>
            <a:prstDash val="solid"/>
            <a:tailEnd type="triangle"/>
          </a:ln>
        </p:spPr>
      </p:sp>
      <p:sp>
        <p:nvSpPr>
          <p:cNvPr id="13" name="LM 1.4" descr="">
            <a:extLst>
              <a:ext uri="{C183D7F6-B498-43B3-948B-1728B52AA6E4}">
                <adec:decorative xmlns:adec="http://schemas.microsoft.com/office/drawing/2017/decorative" val="1"/>
              </a:ext>
            </a:extLst>
          </p:cNvPr>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Provisioning service</a:t>
            </a:r>
            <a:endParaRPr lang="en-US" sz="1350" dirty="0"/>
          </a:p>
        </p:txBody>
      </p:sp>
      <p:sp>
        <p:nvSpPr>
          <p:cNvPr id="15" name="Shape 13" descr="">
            <a:extLst>
              <a:ext uri="{C183D7F6-B498-43B3-948B-1728B52AA6E4}">
                <adec:decorative xmlns:adec="http://schemas.microsoft.com/office/drawing/2017/decorative" val="1"/>
              </a:ext>
            </a:extLst>
          </p:cNvPr>
          <p:cNvSpPr/>
          <p:nvPr/>
        </p:nvSpPr>
        <p:spPr>
          <a:xfrm>
            <a:off x="9395460" y="2148840"/>
            <a:ext cx="205740" cy="0"/>
          </a:xfrm>
          <a:prstGeom prst="line">
            <a:avLst/>
          </a:prstGeom>
          <a:noFill/>
          <a:ln w="22225">
            <a:solidFill>
              <a:srgbClr val="1F2A44"/>
            </a:solidFill>
            <a:prstDash val="solid"/>
            <a:tailEnd type="triangle"/>
          </a:ln>
        </p:spPr>
      </p:sp>
      <p:sp>
        <p:nvSpPr>
          <p:cNvPr id="16" name="LM 1.5" descr="">
            <a:extLst>
              <a:ext uri="{C183D7F6-B498-43B3-948B-1728B52AA6E4}">
                <adec:decorative xmlns:adec="http://schemas.microsoft.com/office/drawing/2017/decorative" val="1"/>
              </a:ext>
            </a:extLst>
          </p:cNvPr>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marL="0" indent="0">
              <a:buNone/>
            </a:pPr>
            <a:r>
              <a:rPr lang="en-US" sz="1400" b="1" dirty="0">
                <a:solidFill>
                  <a:srgbClr val="0F766E"/>
                </a:solidFill>
              </a:rPr>
              <a:t>Microsoft realization — replaceable</a:t>
            </a:r>
            <a:endParaRPr lang="en-US" sz="1400" dirty="0"/>
          </a:p>
        </p:txBody>
      </p:sp>
      <p:sp>
        <p:nvSpPr>
          <p:cNvPr id="19" name="LM 2.1" descr="">
            <a:extLst>
              <a:ext uri="{C183D7F6-B498-43B3-948B-1728B52AA6E4}">
                <adec:decorative xmlns:adec="http://schemas.microsoft.com/office/drawing/2017/decorative" val="1"/>
              </a:ext>
            </a:extLst>
          </p:cNvPr>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Oracle Core HCM</a:t>
            </a:r>
            <a:endParaRPr lang="en-US" sz="1350" dirty="0"/>
          </a:p>
        </p:txBody>
      </p:sp>
      <p:sp>
        <p:nvSpPr>
          <p:cNvPr id="21" name="Shape 19" descr="">
            <a:extLst>
              <a:ext uri="{C183D7F6-B498-43B3-948B-1728B52AA6E4}">
                <adec:decorative xmlns:adec="http://schemas.microsoft.com/office/drawing/2017/decorative" val="1"/>
              </a:ext>
            </a:extLst>
          </p:cNvPr>
          <p:cNvSpPr/>
          <p:nvPr/>
        </p:nvSpPr>
        <p:spPr>
          <a:xfrm>
            <a:off x="2606040" y="3566160"/>
            <a:ext cx="205740" cy="0"/>
          </a:xfrm>
          <a:prstGeom prst="line">
            <a:avLst/>
          </a:prstGeom>
          <a:noFill/>
          <a:ln w="22225">
            <a:solidFill>
              <a:srgbClr val="0F766E"/>
            </a:solidFill>
            <a:prstDash val="solid"/>
            <a:tailEnd type="triangle"/>
          </a:ln>
        </p:spPr>
      </p:sp>
      <p:sp>
        <p:nvSpPr>
          <p:cNvPr id="22" name="LM 2.2" descr="">
            <a:extLst>
              <a:ext uri="{C183D7F6-B498-43B3-948B-1728B52AA6E4}">
                <adec:decorative xmlns:adec="http://schemas.microsoft.com/office/drawing/2017/decorative" val="1"/>
              </a:ext>
            </a:extLst>
          </p:cNvPr>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Azure Functions or Logic Apps</a:t>
            </a:r>
            <a:endParaRPr lang="en-US" sz="1350" dirty="0"/>
          </a:p>
        </p:txBody>
      </p:sp>
      <p:sp>
        <p:nvSpPr>
          <p:cNvPr id="24" name="Shape 22" descr="">
            <a:extLst>
              <a:ext uri="{C183D7F6-B498-43B3-948B-1728B52AA6E4}">
                <adec:decorative xmlns:adec="http://schemas.microsoft.com/office/drawing/2017/decorative" val="1"/>
              </a:ext>
            </a:extLst>
          </p:cNvPr>
          <p:cNvSpPr/>
          <p:nvPr/>
        </p:nvSpPr>
        <p:spPr>
          <a:xfrm>
            <a:off x="4869180" y="3566160"/>
            <a:ext cx="205740" cy="0"/>
          </a:xfrm>
          <a:prstGeom prst="line">
            <a:avLst/>
          </a:prstGeom>
          <a:noFill/>
          <a:ln w="22225">
            <a:solidFill>
              <a:srgbClr val="0F766E"/>
            </a:solidFill>
            <a:prstDash val="solid"/>
            <a:tailEnd type="triangle"/>
          </a:ln>
        </p:spPr>
      </p:sp>
      <p:sp>
        <p:nvSpPr>
          <p:cNvPr id="25" name="LM 2.3" descr="">
            <a:extLst>
              <a:ext uri="{C183D7F6-B498-43B3-948B-1728B52AA6E4}">
                <adec:decorative xmlns:adec="http://schemas.microsoft.com/office/drawing/2017/decorative" val="1"/>
              </a:ext>
            </a:extLst>
          </p:cNvPr>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Canonical model and provenance store</a:t>
            </a:r>
            <a:endParaRPr lang="en-US" sz="1350" dirty="0"/>
          </a:p>
        </p:txBody>
      </p:sp>
      <p:sp>
        <p:nvSpPr>
          <p:cNvPr id="27" name="Shape 25" descr="">
            <a:extLst>
              <a:ext uri="{C183D7F6-B498-43B3-948B-1728B52AA6E4}">
                <adec:decorative xmlns:adec="http://schemas.microsoft.com/office/drawing/2017/decorative" val="1"/>
              </a:ext>
            </a:extLst>
          </p:cNvPr>
          <p:cNvSpPr/>
          <p:nvPr/>
        </p:nvSpPr>
        <p:spPr>
          <a:xfrm>
            <a:off x="7132320" y="3566160"/>
            <a:ext cx="205740" cy="0"/>
          </a:xfrm>
          <a:prstGeom prst="line">
            <a:avLst/>
          </a:prstGeom>
          <a:noFill/>
          <a:ln w="22225">
            <a:solidFill>
              <a:srgbClr val="0F766E"/>
            </a:solidFill>
            <a:prstDash val="solid"/>
            <a:tailEnd type="triangle"/>
          </a:ln>
        </p:spPr>
      </p:sp>
      <p:sp>
        <p:nvSpPr>
          <p:cNvPr id="28" name="LM 2.4" descr="">
            <a:extLst>
              <a:ext uri="{C183D7F6-B498-43B3-948B-1728B52AA6E4}">
                <adec:decorative xmlns:adec="http://schemas.microsoft.com/office/drawing/2017/decorative" val="1"/>
              </a:ext>
            </a:extLst>
          </p:cNvPr>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Graph /bulkUpload; Entra provisioning</a:t>
            </a:r>
            <a:endParaRPr lang="en-US" sz="1350" dirty="0"/>
          </a:p>
        </p:txBody>
      </p:sp>
      <p:sp>
        <p:nvSpPr>
          <p:cNvPr id="30" name="Shape 28" descr="">
            <a:extLst>
              <a:ext uri="{C183D7F6-B498-43B3-948B-1728B52AA6E4}">
                <adec:decorative xmlns:adec="http://schemas.microsoft.com/office/drawing/2017/decorative" val="1"/>
              </a:ext>
            </a:extLst>
          </p:cNvPr>
          <p:cNvSpPr/>
          <p:nvPr/>
        </p:nvSpPr>
        <p:spPr>
          <a:xfrm>
            <a:off x="9395460" y="3566160"/>
            <a:ext cx="205740" cy="0"/>
          </a:xfrm>
          <a:prstGeom prst="line">
            <a:avLst/>
          </a:prstGeom>
          <a:noFill/>
          <a:ln w="22225">
            <a:solidFill>
              <a:srgbClr val="0F766E"/>
            </a:solidFill>
            <a:prstDash val="solid"/>
            <a:tailEnd type="triangle"/>
          </a:ln>
        </p:spPr>
      </p:sp>
      <p:sp>
        <p:nvSpPr>
          <p:cNvPr id="31" name="LM 2.5" descr="">
            <a:extLst>
              <a:ext uri="{C183D7F6-B498-43B3-948B-1728B52AA6E4}">
                <adec:decorative xmlns:adec="http://schemas.microsoft.com/office/drawing/2017/decorative" val="1"/>
              </a:ext>
            </a:extLst>
          </p:cNvPr>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Entra ID, AD, Intune, card management</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8768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5" name="Narration" descr="Narration for this slide; captions available" title="Narration">
            <a:hlinkClick r:id="" action="ppaction://media"/>
            <a:extLst>
              <a:ext uri="{FF2B5EF4-FFF2-40B4-BE49-F238E27FC236}">
                <a16:creationId xmlns:a16="http://schemas.microsoft.com/office/drawing/2014/main" id="{0A1ACB59-DECE-677C-85AC-9E3A255C95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0B3CBE-02E0-4933-8D6E-26C8134F56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descr="">
            <a:extLst>
              <a:ext uri="{C183D7F6-B498-43B3-948B-1728B52AA6E4}">
                <adec:decorative xmlns:adec="http://schemas.microsoft.com/office/drawing/2017/decorative" val="1"/>
              </a:ext>
            </a:extLst>
          </p:cNvPr>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IdCard" descr="">
            <a:extLst>
              <a:ext uri="{C183D7F6-B498-43B3-948B-1728B52AA6E4}">
                <adec:decorative xmlns:adec="http://schemas.microsoft.com/office/drawing/2017/decorative" val="1"/>
              </a:ext>
            </a:extLst>
          </p:cNvPr>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descr="">
            <a:extLst>
              <a:ext uri="{C183D7F6-B498-43B3-948B-1728B52AA6E4}">
                <adec:decorative xmlns:adec="http://schemas.microsoft.com/office/drawing/2017/decorative" val="1"/>
              </a:ext>
            </a:extLst>
          </p:cNvPr>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ngerprint" descr="">
            <a:extLst>
              <a:ext uri="{C183D7F6-B498-43B3-948B-1728B52AA6E4}">
                <adec:decorative xmlns:adec="http://schemas.microsoft.com/office/drawing/2017/decorative" val="1"/>
              </a:ext>
            </a:extLst>
          </p:cNvPr>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descr="">
            <a:extLst>
              <a:ext uri="{C183D7F6-B498-43B3-948B-1728B52AA6E4}">
                <adec:decorative xmlns:adec="http://schemas.microsoft.com/office/drawing/2017/decorative" val="1"/>
              </a:ext>
            </a:extLst>
          </p:cNvPr>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Key" descr="">
            <a:extLst>
              <a:ext uri="{C183D7F6-B498-43B3-948B-1728B52AA6E4}">
                <adec:decorative xmlns:adec="http://schemas.microsoft.com/office/drawing/2017/decorative" val="1"/>
              </a:ext>
            </a:extLst>
          </p:cNvPr>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Position scopes candidates for privileged eligibility; explicit approval and PIM still required</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descr="">
            <a:extLst>
              <a:ext uri="{C183D7F6-B498-43B3-948B-1728B52AA6E4}">
                <adec:decorative xmlns:adec="http://schemas.microsoft.com/office/drawing/2017/decorative" val="1"/>
              </a:ext>
            </a:extLst>
          </p:cNvPr>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marL="0" indent="0">
              <a:buNone/>
            </a:pPr>
            <a:r>
              <a:rPr lang="en-US" sz="1700" b="1" dirty="0">
                <a:solidFill>
                  <a:srgbClr val="1F2A44"/>
                </a:solidFill>
              </a:rPr>
              <a:t>Every entitlement has a “because”: </a:t>
            </a: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0" name="Narration" descr="Narration for this slide; captions available" title="Narration">
            <a:hlinkClick r:id="" action="ppaction://media"/>
            <a:extLst>
              <a:ext uri="{FF2B5EF4-FFF2-40B4-BE49-F238E27FC236}">
                <a16:creationId xmlns:a16="http://schemas.microsoft.com/office/drawing/2014/main" id="{DD4F6B6E-B0C7-1482-3764-241EB741CC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127B5E-FD22-4A90-BE88-E8AB85B99626}"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20"/>
    </mc:Choice>
    <mc:Fallback>
      <p:transition spd="slow" advTm="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6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descr="">
            <a:extLst>
              <a:ext uri="{C183D7F6-B498-43B3-948B-1728B52AA6E4}">
                <adec:decorative xmlns:adec="http://schemas.microsoft.com/office/drawing/2017/decorative" val="1"/>
              </a:ext>
            </a:extLst>
          </p:cNvPr>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caleBalanced" descr="">
            <a:extLst>
              <a:ext uri="{C183D7F6-B498-43B3-948B-1728B52AA6E4}">
                <adec:decorative xmlns:adec="http://schemas.microsoft.com/office/drawing/2017/decorative" val="1"/>
              </a:ext>
            </a:extLst>
          </p:cNvPr>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marL="0" indent="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descr="">
            <a:extLst>
              <a:ext uri="{C183D7F6-B498-43B3-948B-1728B52AA6E4}">
                <adec:decorative xmlns:adec="http://schemas.microsoft.com/office/drawing/2017/decorative" val="1"/>
              </a:ext>
            </a:extLst>
          </p:cNvPr>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Filter" descr="">
            <a:extLst>
              <a:ext uri="{C183D7F6-B498-43B3-948B-1728B52AA6E4}">
                <adec:decorative xmlns:adec="http://schemas.microsoft.com/office/drawing/2017/decorative" val="1"/>
              </a:ext>
            </a:extLst>
          </p:cNvP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marL="0" indent="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descr="">
            <a:extLst>
              <a:ext uri="{C183D7F6-B498-43B3-948B-1728B52AA6E4}">
                <adec:decorative xmlns:adec="http://schemas.microsoft.com/office/drawing/2017/decorative" val="1"/>
              </a:ext>
            </a:extLst>
          </p:cNvPr>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eShield" descr="">
            <a:extLst>
              <a:ext uri="{C183D7F6-B498-43B3-948B-1728B52AA6E4}">
                <adec:decorative xmlns:adec="http://schemas.microsoft.com/office/drawing/2017/decorative" val="1"/>
              </a:ext>
            </a:extLst>
          </p:cNvPr>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marL="0" indent="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descr="">
            <a:extLst>
              <a:ext uri="{C183D7F6-B498-43B3-948B-1728B52AA6E4}">
                <adec:decorative xmlns:adec="http://schemas.microsoft.com/office/drawing/2017/decorative" val="1"/>
              </a:ext>
            </a:extLst>
          </p:cNvPr>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descr="">
            <a:extLst>
              <a:ext uri="{C183D7F6-B498-43B3-948B-1728B52AA6E4}">
                <adec:decorative xmlns:adec="http://schemas.microsoft.com/office/drawing/2017/decorative" val="1"/>
              </a:ext>
            </a:extLst>
          </p:cNvPr>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marL="0" indent="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descr="">
            <a:extLst>
              <a:ext uri="{C183D7F6-B498-43B3-948B-1728B52AA6E4}">
                <adec:decorative xmlns:adec="http://schemas.microsoft.com/office/drawing/2017/decorative" val="1"/>
              </a:ext>
            </a:extLst>
          </p:cNvPr>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marL="0" indent="0">
              <a:buNone/>
            </a:pPr>
            <a:r>
              <a:rPr lang="en-US" sz="1700" b="1" dirty="0">
                <a:solidFill>
                  <a:srgbClr val="B45309"/>
                </a:solidFill>
              </a:rPr>
              <a:t>HR remains the system of records. </a:t>
            </a: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1" name="Narration" descr="Narration for this slide; captions available" title="Narration">
            <a:hlinkClick r:id="" action="ppaction://media"/>
            <a:extLst>
              <a:ext uri="{FF2B5EF4-FFF2-40B4-BE49-F238E27FC236}">
                <a16:creationId xmlns:a16="http://schemas.microsoft.com/office/drawing/2014/main" id="{7687CCC1-58EA-CD2C-E0A3-D698F71980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3331D7-F208-416F-8909-17DD04D0AEB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descr="">
            <a:extLst>
              <a:ext uri="{C183D7F6-B498-43B3-948B-1728B52AA6E4}">
                <adec:decorative xmlns:adec="http://schemas.microsoft.com/office/drawing/2017/decorative" val="1"/>
              </a:ext>
            </a:extLst>
          </p:cNvPr>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itemap" descr="">
            <a:extLst>
              <a:ext uri="{C183D7F6-B498-43B3-948B-1728B52AA6E4}">
                <adec:decorative xmlns:adec="http://schemas.microsoft.com/office/drawing/2017/decorative" val="1"/>
              </a:ext>
            </a:extLst>
          </p:cNvPr>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Authority map and identifier decision</a:t>
            </a:r>
            <a:endParaRPr lang="en-US" sz="1400" dirty="0"/>
          </a:p>
          <a:p>
            <a:pPr marL="0" indent="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descr="">
            <a:extLst>
              <a:ext uri="{C183D7F6-B498-43B3-948B-1728B52AA6E4}">
                <adec:decorative xmlns:adec="http://schemas.microsoft.com/office/drawing/2017/decorative" val="1"/>
              </a:ext>
            </a:extLst>
          </p:cNvPr>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UserShield" descr="">
            <a:extLst>
              <a:ext uri="{C183D7F6-B498-43B3-948B-1728B52AA6E4}">
                <adec:decorative xmlns:adec="http://schemas.microsoft.com/office/drawing/2017/decorative" val="1"/>
              </a:ext>
            </a:extLst>
          </p:cNvPr>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Security assessment</a:t>
            </a:r>
            <a:endParaRPr lang="en-US" sz="1400" dirty="0"/>
          </a:p>
          <a:p>
            <a:pPr marL="0" indent="0">
              <a:spcAft>
                <a:spcPts val="400"/>
              </a:spcAft>
              <a:buNone/>
            </a:pPr>
            <a:r>
              <a:rPr lang="en-US" sz="1350" dirty="0">
                <a:solidFill>
                  <a:schemeClr val="tx2"/>
                </a:solidFill>
              </a:rPr>
              <a:t>Data flow, service identities without secrets, least privilege</a:t>
            </a:r>
            <a:endParaRPr lang="en-US" sz="1400" dirty="0"/>
          </a:p>
        </p:txBody>
      </p:sp>
      <p:sp>
        <p:nvSpPr>
          <p:cNvPr id="11" name="Gov 3" descr="">
            <a:extLst>
              <a:ext uri="{C183D7F6-B498-43B3-948B-1728B52AA6E4}">
                <adec:decorative xmlns:adec="http://schemas.microsoft.com/office/drawing/2017/decorative" val="1"/>
              </a:ext>
            </a:extLst>
          </p:cNvPr>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ClipboardCheck" descr="">
            <a:extLst>
              <a:ext uri="{C183D7F6-B498-43B3-948B-1728B52AA6E4}">
                <adec:decorative xmlns:adec="http://schemas.microsoft.com/office/drawing/2017/decorative" val="1"/>
              </a:ext>
            </a:extLst>
          </p:cNvPr>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Acceptance gate</a:t>
            </a:r>
            <a:endParaRPr lang="en-US" sz="1400" dirty="0"/>
          </a:p>
          <a:p>
            <a:pPr marL="0" indent="0">
              <a:spcAft>
                <a:spcPts val="400"/>
              </a:spcAft>
              <a:buNone/>
            </a:pPr>
            <a:r>
              <a:rPr lang="en-US" sz="1350" dirty="0">
                <a:solidFill>
                  <a:schemeClr val="tx2"/>
                </a:solidFill>
              </a:rPr>
              <a:t>Business-language test cases; signed validation before cutover</a:t>
            </a:r>
            <a:endParaRPr lang="en-US" sz="1400" dirty="0"/>
          </a:p>
        </p:txBody>
      </p:sp>
      <p:sp>
        <p:nvSpPr>
          <p:cNvPr id="15" name="Gov 4" descr="">
            <a:extLst>
              <a:ext uri="{C183D7F6-B498-43B3-948B-1728B52AA6E4}">
                <adec:decorative xmlns:adec="http://schemas.microsoft.com/office/drawing/2017/decorative" val="1"/>
              </a:ext>
            </a:extLst>
          </p:cNvPr>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PlugCircleXmark" descr="">
            <a:extLst>
              <a:ext uri="{C183D7F6-B498-43B3-948B-1728B52AA6E4}">
                <adec:decorative xmlns:adec="http://schemas.microsoft.com/office/drawing/2017/decorative" val="1"/>
              </a:ext>
            </a:extLst>
          </p:cNvPr>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Cutover from tickets</a:t>
            </a:r>
            <a:endParaRPr lang="en-US" sz="1400" dirty="0"/>
          </a:p>
          <a:p>
            <a:pPr marL="0" indent="0">
              <a:spcAft>
                <a:spcPts val="400"/>
              </a:spcAft>
              <a:buNone/>
            </a:pPr>
            <a:r>
              <a:rPr lang="en-US" sz="1350" dirty="0">
                <a:solidFill>
                  <a:schemeClr val="tx2"/>
                </a:solidFill>
              </a:rPr>
              <a:t>Prove HR is the sole source; then close manual account creation</a:t>
            </a:r>
            <a:endParaRPr lang="en-US" sz="1400" dirty="0"/>
          </a:p>
        </p:txBody>
      </p:sp>
      <p:sp>
        <p:nvSpPr>
          <p:cNvPr id="19" name="Gov 5" descr="">
            <a:extLst>
              <a:ext uri="{C183D7F6-B498-43B3-948B-1728B52AA6E4}">
                <adec:decorative xmlns:adec="http://schemas.microsoft.com/office/drawing/2017/decorative" val="1"/>
              </a:ext>
            </a:extLst>
          </p:cNvPr>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ListCheck" descr="">
            <a:extLst>
              <a:ext uri="{C183D7F6-B498-43B3-948B-1728B52AA6E4}">
                <adec:decorative xmlns:adec="http://schemas.microsoft.com/office/drawing/2017/decorative" val="1"/>
              </a:ext>
            </a:extLst>
          </p:cNvPr>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Lifecycle rules</a:t>
            </a:r>
            <a:endParaRPr lang="en-US" sz="1400" dirty="0"/>
          </a:p>
          <a:p>
            <a:pPr marL="0" indent="0">
              <a:spcAft>
                <a:spcPts val="400"/>
              </a:spcAft>
              <a:buNone/>
            </a:pPr>
            <a:r>
              <a:rPr lang="en-US" sz="1350" dirty="0">
                <a:solidFill>
                  <a:schemeClr val="tx2"/>
                </a:solidFill>
              </a:rPr>
              <a:t>Scope filters, leave vs leaver, precedence, rescinded offers</a:t>
            </a:r>
            <a:endParaRPr lang="en-US" sz="1400" dirty="0"/>
          </a:p>
        </p:txBody>
      </p:sp>
      <p:sp>
        <p:nvSpPr>
          <p:cNvPr id="23" name="Gov 6" descr="">
            <a:extLst>
              <a:ext uri="{C183D7F6-B498-43B3-948B-1728B52AA6E4}">
                <adec:decorative xmlns:adec="http://schemas.microsoft.com/office/drawing/2017/decorative" val="1"/>
              </a:ext>
            </a:extLst>
          </p:cNvPr>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TriangleExclamation" descr="">
            <a:extLst>
              <a:ext uri="{C183D7F6-B498-43B3-948B-1728B52AA6E4}">
                <adec:decorative xmlns:adec="http://schemas.microsoft.com/office/drawing/2017/decorative" val="1"/>
              </a:ext>
            </a:extLst>
          </p:cNvPr>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Quarantine and reconciliation</a:t>
            </a:r>
            <a:endParaRPr lang="en-US" sz="1400" dirty="0"/>
          </a:p>
          <a:p>
            <a:pPr marL="0" indent="0">
              <a:spcAft>
                <a:spcPts val="400"/>
              </a:spcAft>
              <a:buNone/>
            </a:pPr>
            <a:r>
              <a:rPr lang="en-US" sz="1350" dirty="0">
                <a:solidFill>
                  <a:schemeClr val="tx2"/>
                </a:solidFill>
              </a:rPr>
              <a:t>Failures never auto-resolve; every exception has an owner</a:t>
            </a:r>
            <a:endParaRPr lang="en-US" sz="1400" dirty="0"/>
          </a:p>
        </p:txBody>
      </p:sp>
      <p:sp>
        <p:nvSpPr>
          <p:cNvPr id="27" name="Gov 7" descr="">
            <a:extLst>
              <a:ext uri="{C183D7F6-B498-43B3-948B-1728B52AA6E4}">
                <adec:decorative xmlns:adec="http://schemas.microsoft.com/office/drawing/2017/decorative" val="1"/>
              </a:ext>
            </a:extLst>
          </p:cNvPr>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ChartLine" descr="">
            <a:extLst>
              <a:ext uri="{C183D7F6-B498-43B3-948B-1728B52AA6E4}">
                <adec:decorative xmlns:adec="http://schemas.microsoft.com/office/drawing/2017/decorative" val="1"/>
              </a:ext>
            </a:extLst>
          </p:cNvPr>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Drift and metrics</a:t>
            </a:r>
            <a:endParaRPr lang="en-US" sz="1400" dirty="0"/>
          </a:p>
          <a:p>
            <a:pPr marL="0" indent="0">
              <a:spcAft>
                <a:spcPts val="400"/>
              </a:spcAft>
              <a:buNone/>
            </a:pPr>
            <a:r>
              <a:rPr lang="en-US" sz="1350" dirty="0">
                <a:solidFill>
                  <a:schemeClr val="tx2"/>
                </a:solidFill>
              </a:rPr>
              <a:t>Separation-to-block, correlation coverage, derivation purity</a:t>
            </a:r>
            <a:endParaRPr lang="en-US" sz="1400" dirty="0"/>
          </a:p>
        </p:txBody>
      </p:sp>
      <p:sp>
        <p:nvSpPr>
          <p:cNvPr id="31" name="Gov 8" descr="">
            <a:extLst>
              <a:ext uri="{C183D7F6-B498-43B3-948B-1728B52AA6E4}">
                <adec:decorative xmlns:adec="http://schemas.microsoft.com/office/drawing/2017/decorative" val="1"/>
              </a:ext>
            </a:extLst>
          </p:cNvPr>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CodeBranch" descr="">
            <a:extLst>
              <a:ext uri="{C183D7F6-B498-43B3-948B-1728B52AA6E4}">
                <adec:decorative xmlns:adec="http://schemas.microsoft.com/office/drawing/2017/decorative" val="1"/>
              </a:ext>
            </a:extLst>
          </p:cNvPr>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Change control</a:t>
            </a:r>
            <a:endParaRPr lang="en-US" sz="1400" dirty="0"/>
          </a:p>
          <a:p>
            <a:pPr marL="0" indent="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300" i="1" dirty="0">
                <a:solidFill>
                  <a:srgbClr val="64748B"/>
                </a:solidFill>
              </a:rPr>
              <a:t>Control support for AC-2, PS-4, PS-5, IA-4 and SI-12 — evidence produced by operation, not assembled for the audit.</a:t>
            </a:r>
            <a:endParaRPr lang="en-US" sz="13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7" name="Narration" descr="Narration for this slide; captions available" title="Narration">
            <a:hlinkClick r:id="" action="ppaction://media"/>
            <a:extLst>
              <a:ext uri="{FF2B5EF4-FFF2-40B4-BE49-F238E27FC236}">
                <a16:creationId xmlns:a16="http://schemas.microsoft.com/office/drawing/2014/main" id="{1764A81F-82C9-FA30-58D3-5A28B07C34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859E57-C2C9-4E86-8D44-373BA9211FB4}" label="English (captions)" lang="en-US" r:embed="rId14"/>
                        </p173:trackLst>
                      </p173:tracksInfo>
                    </p:ext>
                  </p14:extLst>
                </p14:media>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A reusable HR-driven ICAM model for interagency evaluation</a:t>
            </a:r>
            <a:endParaRPr lang="en-US" sz="3000" dirty="0"/>
          </a:p>
        </p:txBody>
      </p:sp>
      <p:sp>
        <p:nvSpPr>
          <p:cNvPr id="3" name="Cross col 1" descr="">
            <a:extLst>
              <a:ext uri="{C183D7F6-B498-43B3-948B-1728B52AA6E4}">
                <adec:decorative xmlns:adec="http://schemas.microsoft.com/office/drawing/2017/decorative" val="1"/>
              </a:ext>
            </a:extLst>
          </p:cNvPr>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marL="0" indent="0">
              <a:buNone/>
            </a:pPr>
            <a:r>
              <a:rPr lang="en-US" sz="1800" b="1" dirty="0">
                <a:solidFill>
                  <a:srgbClr val="1F2A44"/>
                </a:solidFill>
              </a:rPr>
              <a:t>Why a shared standard</a:t>
            </a:r>
            <a:endParaRPr lang="en-US" sz="1800" dirty="0"/>
          </a:p>
        </p:txBody>
      </p:sp>
      <p:sp>
        <p:nvSpPr>
          <p:cNvPr id="5" name="Icon FaBuildingColumns" descr="">
            <a:extLst>
              <a:ext uri="{C183D7F6-B498-43B3-948B-1728B52AA6E4}">
                <adec:decorative xmlns:adec="http://schemas.microsoft.com/office/drawing/2017/decorative" val="1"/>
              </a:ext>
            </a:extLst>
          </p:cNvPr>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Shared platform, common standards</a:t>
            </a:r>
            <a:endParaRPr lang="en-US" sz="1400" dirty="0"/>
          </a:p>
          <a:p>
            <a:pPr marL="0" indent="0">
              <a:spcAft>
                <a:spcPts val="200"/>
              </a:spcAft>
              <a:buNone/>
            </a:pPr>
            <a:r>
              <a:rPr lang="en-US" sz="1300" dirty="0">
                <a:solidFill>
                  <a:schemeClr val="tx2"/>
                </a:solidFill>
              </a:rPr>
              <a:t>Participating civilian agencies move toward shared Core HCM capabilities and OPM’s data standards — a crosswalk and canonical model others can evaluate and reuse</a:t>
            </a:r>
            <a:endParaRPr lang="en-US" sz="1400" dirty="0"/>
          </a:p>
        </p:txBody>
      </p:sp>
      <p:sp>
        <p:nvSpPr>
          <p:cNvPr id="8" name="Icon FaRightLeft" descr="">
            <a:extLst>
              <a:ext uri="{C183D7F6-B498-43B3-948B-1728B52AA6E4}">
                <adec:decorative xmlns:adec="http://schemas.microsoft.com/office/drawing/2017/decorative" val="1"/>
              </a:ext>
            </a:extLst>
          </p:cNvPr>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Attributes that travel</a:t>
            </a:r>
            <a:endParaRPr lang="en-US" sz="1400" dirty="0"/>
          </a:p>
          <a:p>
            <a:pPr marL="0" indent="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descr="">
            <a:extLst>
              <a:ext uri="{C183D7F6-B498-43B3-948B-1728B52AA6E4}">
                <adec:decorative xmlns:adec="http://schemas.microsoft.com/office/drawing/2017/decorative" val="1"/>
              </a:ext>
            </a:extLst>
          </p:cNvPr>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Comparable evidence</a:t>
            </a:r>
            <a:endParaRPr lang="en-US" sz="1400" dirty="0"/>
          </a:p>
          <a:p>
            <a:pPr marL="0" indent="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descr="">
            <a:extLst>
              <a:ext uri="{C183D7F6-B498-43B3-948B-1728B52AA6E4}">
                <adec:decorative xmlns:adec="http://schemas.microsoft.com/office/drawing/2017/decorative" val="1"/>
              </a:ext>
            </a:extLst>
          </p:cNvPr>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marL="0" indent="0">
              <a:buNone/>
            </a:pPr>
            <a:r>
              <a:rPr lang="en-US" sz="1800" b="1" dirty="0">
                <a:solidFill>
                  <a:srgbClr val="0F766E"/>
                </a:solidFill>
              </a:rPr>
              <a:t>How I’d carry it across agencies</a:t>
            </a:r>
            <a:endParaRPr lang="en-US" sz="1800" dirty="0"/>
          </a:p>
        </p:txBody>
      </p:sp>
      <p:sp>
        <p:nvSpPr>
          <p:cNvPr id="16" name="Icon FaPeopleArrows" descr="">
            <a:extLst>
              <a:ext uri="{C183D7F6-B498-43B3-948B-1728B52AA6E4}">
                <adec:decorative xmlns:adec="http://schemas.microsoft.com/office/drawing/2017/decorative" val="1"/>
              </a:ext>
            </a:extLst>
          </p:cNvPr>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Work the issues together</a:t>
            </a:r>
            <a:endParaRPr lang="en-US" sz="1400" dirty="0"/>
          </a:p>
          <a:p>
            <a:pPr marL="0" indent="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descr="">
            <a:extLst>
              <a:ext uri="{C183D7F6-B498-43B3-948B-1728B52AA6E4}">
                <adec:decorative xmlns:adec="http://schemas.microsoft.com/office/drawing/2017/decorative" val="1"/>
              </a:ext>
            </a:extLst>
          </p:cNvPr>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Options and their impact</a:t>
            </a:r>
            <a:endParaRPr lang="en-US" sz="1400" dirty="0"/>
          </a:p>
          <a:p>
            <a:pPr marL="0" indent="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descr="">
            <a:extLst>
              <a:ext uri="{C183D7F6-B498-43B3-948B-1728B52AA6E4}">
                <adec:decorative xmlns:adec="http://schemas.microsoft.com/office/drawing/2017/decorative" val="1"/>
              </a:ext>
            </a:extLst>
          </p:cNvP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Committees and working groups</a:t>
            </a:r>
            <a:endParaRPr lang="en-US" sz="1400" dirty="0"/>
          </a:p>
          <a:p>
            <a:pPr marL="0" indent="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descr="">
            <a:extLst>
              <a:ext uri="{C183D7F6-B498-43B3-948B-1728B52AA6E4}">
                <adec:decorative xmlns:adec="http://schemas.microsoft.com/office/drawing/2017/decorative" val="1"/>
              </a:ext>
            </a:extLst>
          </p:cNvP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marL="0" indent="0">
              <a:buNone/>
            </a:pPr>
            <a:r>
              <a:rPr lang="en-US" sz="1700" b="1" dirty="0">
                <a:solidFill>
                  <a:srgbClr val="B45309"/>
                </a:solidFill>
              </a:rPr>
              <a:t>The goal: </a:t>
            </a:r>
            <a:r>
              <a:rPr lang="en-US" sz="1700" dirty="0">
                <a:solidFill>
                  <a:schemeClr val="tx2"/>
                </a:solidFill>
              </a:rPr>
              <a:t>offer the model for interagency evaluation and reuse as participating agencies onboard to HR 2.0.</a:t>
            </a:r>
            <a:endParaRPr lang="en-US" sz="17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8" name="Narration" descr="Narration for this slide; captions available" title="Narration">
            <a:hlinkClick r:id="" action="ppaction://media"/>
            <a:extLst>
              <a:ext uri="{FF2B5EF4-FFF2-40B4-BE49-F238E27FC236}">
                <a16:creationId xmlns:a16="http://schemas.microsoft.com/office/drawing/2014/main" id="{B986517F-F409-F45B-EEB3-5A6C683BFC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6C5613-0A42-425D-A7B9-84C85DE2B0EE}"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00"/>
    </mc:Choice>
    <mc:Fallback>
      <p:transition spd="slow" advTm="4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descr="">
            <a:extLst>
              <a:ext uri="{C183D7F6-B498-43B3-948B-1728B52AA6E4}">
                <adec:decorative xmlns:adec="http://schemas.microsoft.com/office/drawing/2017/decorative" val="1"/>
              </a:ext>
            </a:extLst>
          </p:cNvPr>
          <p:cNvSpPr/>
          <p:nvPr/>
        </p:nvSpPr>
        <p:spPr>
          <a:xfrm>
            <a:off x="1691640" y="1828800"/>
            <a:ext cx="8778240" cy="0"/>
          </a:xfrm>
          <a:prstGeom prst="line">
            <a:avLst/>
          </a:prstGeom>
          <a:noFill/>
          <a:ln w="19050">
            <a:solidFill>
              <a:srgbClr val="64748B"/>
            </a:solidFill>
            <a:prstDash val="solid"/>
          </a:ln>
        </p:spPr>
      </p:sp>
      <p:sp>
        <p:nvSpPr>
          <p:cNvPr id="4" name="Roadmap dot 1" descr="">
            <a:extLst>
              <a:ext uri="{C183D7F6-B498-43B3-948B-1728B52AA6E4}">
                <adec:decorative xmlns:adec="http://schemas.microsoft.com/office/drawing/2017/decorative" val="1"/>
              </a:ext>
            </a:extLst>
          </p:cNvPr>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Align with HR 2.0</a:t>
            </a:r>
            <a:endParaRPr lang="en-US" sz="1400" dirty="0"/>
          </a:p>
          <a:p>
            <a:pPr marL="0" indent="0" algn="ctr">
              <a:spcAft>
                <a:spcPts val="300"/>
              </a:spcAft>
              <a:buNone/>
            </a:pPr>
            <a:r>
              <a:rPr lang="en-US" sz="1350" dirty="0">
                <a:solidFill>
                  <a:schemeClr val="tx2"/>
                </a:solidFill>
              </a:rPr>
              <a:t>Identity named as an interconnection consumer</a:t>
            </a:r>
            <a:endParaRPr lang="en-US" sz="1400" dirty="0"/>
          </a:p>
        </p:txBody>
      </p:sp>
      <p:sp>
        <p:nvSpPr>
          <p:cNvPr id="7" name="Roadmap dot 2" descr="">
            <a:extLst>
              <a:ext uri="{C183D7F6-B498-43B3-948B-1728B52AA6E4}">
                <adec:decorative xmlns:adec="http://schemas.microsoft.com/office/drawing/2017/decorative" val="1"/>
              </a:ext>
            </a:extLst>
          </p:cNvPr>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B45309"/>
                </a:solidFill>
              </a:rPr>
              <a:t>Standards and authority</a:t>
            </a:r>
            <a:endParaRPr lang="en-US" sz="1400" dirty="0"/>
          </a:p>
          <a:p>
            <a:pPr marL="0" indent="0" algn="ctr">
              <a:spcAft>
                <a:spcPts val="300"/>
              </a:spcAft>
              <a:buNone/>
            </a:pPr>
            <a:r>
              <a:rPr lang="en-US" sz="1350" dirty="0">
                <a:solidFill>
                  <a:schemeClr val="tx2"/>
                </a:solidFill>
              </a:rPr>
              <a:t>Crosswalk, authority map, contractor source, privacy basis</a:t>
            </a:r>
            <a:endParaRPr lang="en-US" sz="1400" dirty="0"/>
          </a:p>
        </p:txBody>
      </p:sp>
      <p:sp>
        <p:nvSpPr>
          <p:cNvPr id="10" name="Roadmap dot 3" descr="">
            <a:extLst>
              <a:ext uri="{C183D7F6-B498-43B3-948B-1728B52AA6E4}">
                <adec:decorative xmlns:adec="http://schemas.microsoft.com/office/drawing/2017/decorative" val="1"/>
              </a:ext>
            </a:extLst>
          </p:cNvPr>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Build and prove</a:t>
            </a:r>
            <a:endParaRPr lang="en-US" sz="1400" dirty="0"/>
          </a:p>
          <a:p>
            <a:pPr marL="0" indent="0" algn="ctr">
              <a:spcAft>
                <a:spcPts val="300"/>
              </a:spcAft>
              <a:buNone/>
            </a:pPr>
            <a:r>
              <a:rPr lang="en-US" sz="1350" dirty="0">
                <a:solidFill>
                  <a:schemeClr val="tx2"/>
                </a:solidFill>
              </a:rPr>
              <a:t>Joiner, mover, leaver end to end; shadow mode</a:t>
            </a:r>
            <a:endParaRPr lang="en-US" sz="1400" dirty="0"/>
          </a:p>
        </p:txBody>
      </p:sp>
      <p:sp>
        <p:nvSpPr>
          <p:cNvPr id="13" name="Roadmap dot 4" descr="">
            <a:extLst>
              <a:ext uri="{C183D7F6-B498-43B3-948B-1728B52AA6E4}">
                <adec:decorative xmlns:adec="http://schemas.microsoft.com/office/drawing/2017/decorative" val="1"/>
              </a:ext>
            </a:extLst>
          </p:cNvPr>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0F766E"/>
                </a:solidFill>
              </a:rPr>
              <a:t>Cut over</a:t>
            </a:r>
            <a:endParaRPr lang="en-US" sz="1400" dirty="0"/>
          </a:p>
          <a:p>
            <a:pPr marL="0" indent="0" algn="ctr">
              <a:spcAft>
                <a:spcPts val="300"/>
              </a:spcAft>
              <a:buNone/>
            </a:pPr>
            <a:r>
              <a:rPr lang="en-US" sz="1350" dirty="0">
                <a:solidFill>
                  <a:schemeClr val="tx2"/>
                </a:solidFill>
              </a:rPr>
              <a:t>HR-driven for each population as it moves to Entra ID</a:t>
            </a:r>
            <a:endParaRPr lang="en-US" sz="1400" dirty="0"/>
          </a:p>
        </p:txBody>
      </p:sp>
      <p:sp>
        <p:nvSpPr>
          <p:cNvPr id="16" name="Roadmap dot 5" descr="">
            <a:extLst>
              <a:ext uri="{C183D7F6-B498-43B3-948B-1728B52AA6E4}">
                <adec:decorative xmlns:adec="http://schemas.microsoft.com/office/drawing/2017/decorative" val="1"/>
              </a:ext>
            </a:extLst>
          </p:cNvPr>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Sustain</a:t>
            </a:r>
            <a:endParaRPr lang="en-US" sz="1400" dirty="0"/>
          </a:p>
          <a:p>
            <a:pPr marL="0" indent="0" algn="ctr">
              <a:spcAft>
                <a:spcPts val="300"/>
              </a:spcAft>
              <a:buNone/>
            </a:pPr>
            <a:r>
              <a:rPr lang="en-US" sz="1350" dirty="0">
                <a:solidFill>
                  <a:schemeClr val="tx2"/>
                </a:solidFill>
              </a:rPr>
              <a:t>Metrics and drift on the ConMon cadence</a:t>
            </a:r>
            <a:endParaRPr lang="en-US" sz="1400" dirty="0"/>
          </a:p>
        </p:txBody>
      </p:sp>
      <p:sp>
        <p:nvSpPr>
          <p:cNvPr id="19" name="Ask" descr="">
            <a:extLst>
              <a:ext uri="{C183D7F6-B498-43B3-948B-1728B52AA6E4}">
                <adec:decorative xmlns:adec="http://schemas.microsoft.com/office/drawing/2017/decorative" val="1"/>
              </a:ext>
            </a:extLst>
          </p:cNvPr>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Lightbulb" descr="">
            <a:extLst>
              <a:ext uri="{C183D7F6-B498-43B3-948B-1728B52AA6E4}">
                <adec:decorative xmlns:adec="http://schemas.microsoft.com/office/drawing/2017/decorative" val="1"/>
              </a:ext>
            </a:extLst>
          </p:cNvPr>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marL="0" indent="0">
              <a:buNone/>
            </a:pPr>
            <a:r>
              <a:rPr lang="en-US" sz="2000" b="1" dirty="0">
                <a:solidFill>
                  <a:srgbClr val="B45309"/>
                </a:solidFill>
              </a:rPr>
              <a:t>The ask: </a:t>
            </a: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descr="">
            <a:extLst>
              <a:ext uri="{C183D7F6-B498-43B3-948B-1728B52AA6E4}">
                <adec:decorative xmlns:adec="http://schemas.microsoft.com/office/drawing/2017/decorative" val="1"/>
              </a:ext>
            </a:extLst>
          </p:cNvPr>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700" b="1" dirty="0">
                <a:solidFill>
                  <a:srgbClr val="1F2A44"/>
                </a:solidFill>
              </a:rPr>
              <a:t>EDA contribution: </a:t>
            </a: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title="Narration">
            <a:hlinkClick r:id="" action="ppaction://media"/>
            <a:extLst>
              <a:ext uri="{FF2B5EF4-FFF2-40B4-BE49-F238E27FC236}">
                <a16:creationId xmlns:a16="http://schemas.microsoft.com/office/drawing/2014/main" id="{8A6A272F-A20A-4729-3780-86F14AEF20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BC5D6F-FB34-4ADD-A6FF-2A5A4710477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descr="">
            <a:extLst>
              <a:ext uri="{C183D7F6-B498-43B3-948B-1728B52AA6E4}">
                <adec:decorative xmlns:adec="http://schemas.microsoft.com/office/drawing/2017/decorative" val="1"/>
              </a:ext>
            </a:extLst>
          </p:cNvPr>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descr="">
            <a:extLst>
              <a:ext uri="{C183D7F6-B498-43B3-948B-1728B52AA6E4}">
                <adec:decorative xmlns:adec="http://schemas.microsoft.com/office/drawing/2017/decorative" val="1"/>
              </a:ext>
            </a:extLst>
          </p:cNvPr>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descr="">
            <a:extLst>
              <a:ext uri="{C183D7F6-B498-43B3-948B-1728B52AA6E4}">
                <adec:decorative xmlns:adec="http://schemas.microsoft.com/office/drawing/2017/decorative" val="1"/>
              </a:ext>
            </a:extLst>
          </p:cNvPr>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descr="">
            <a:extLst>
              <a:ext uri="{C183D7F6-B498-43B3-948B-1728B52AA6E4}">
                <adec:decorative xmlns:adec="http://schemas.microsoft.com/office/drawing/2017/decorative" val="1"/>
              </a:ext>
            </a:extLst>
          </p:cNvPr>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descr="">
            <a:extLst>
              <a:ext uri="{C183D7F6-B498-43B3-948B-1728B52AA6E4}">
                <adec:decorative xmlns:adec="http://schemas.microsoft.com/office/drawing/2017/decorative" val="1"/>
              </a:ext>
            </a:extLst>
          </p:cNvPr>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descr="">
            <a:extLst>
              <a:ext uri="{C183D7F6-B498-43B3-948B-1728B52AA6E4}">
                <adec:decorative xmlns:adec="http://schemas.microsoft.com/office/drawing/2017/decorative" val="1"/>
              </a:ext>
            </a:extLst>
          </p:cNvPr>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descr="">
            <a:extLst>
              <a:ext uri="{C183D7F6-B498-43B3-948B-1728B52AA6E4}">
                <adec:decorative xmlns:adec="http://schemas.microsoft.com/office/drawing/2017/decorative" val="1"/>
              </a:ext>
            </a:extLst>
          </p:cNvPr>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descr="">
            <a:extLst>
              <a:ext uri="{C183D7F6-B498-43B3-948B-1728B52AA6E4}">
                <adec:decorative xmlns:adec="http://schemas.microsoft.com/office/drawing/2017/decorative" val="1"/>
              </a:ext>
            </a:extLst>
          </p:cNvPr>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descr="">
            <a:extLst>
              <a:ext uri="{C183D7F6-B498-43B3-948B-1728B52AA6E4}">
                <adec:decorative xmlns:adec="http://schemas.microsoft.com/office/drawing/2017/decorative" val="1"/>
              </a:ext>
            </a:extLst>
          </p:cNvP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descr="">
            <a:extLst>
              <a:ext uri="{C183D7F6-B498-43B3-948B-1728B52AA6E4}">
                <adec:decorative xmlns:adec="http://schemas.microsoft.com/office/drawing/2017/decorative" val="1"/>
              </a:ext>
            </a:extLst>
          </p:cNvPr>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descr="">
            <a:extLst>
              <a:ext uri="{C183D7F6-B498-43B3-948B-1728B52AA6E4}">
                <adec:decorative xmlns:adec="http://schemas.microsoft.com/office/drawing/2017/decorative" val="1"/>
              </a:ext>
            </a:extLst>
          </p:cNvPr>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descr="">
            <a:extLst>
              <a:ext uri="{C183D7F6-B498-43B3-948B-1728B52AA6E4}">
                <adec:decorative xmlns:adec="http://schemas.microsoft.com/office/drawing/2017/decorative" val="1"/>
              </a:ext>
            </a:extLst>
          </p:cNvPr>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descr="">
            <a:extLst>
              <a:ext uri="{C183D7F6-B498-43B3-948B-1728B52AA6E4}">
                <adec:decorative xmlns:adec="http://schemas.microsoft.com/office/drawing/2017/decorative" val="1"/>
              </a:ext>
            </a:extLst>
          </p:cNvPr>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descr="">
            <a:extLst>
              <a:ext uri="{C183D7F6-B498-43B3-948B-1728B52AA6E4}">
                <adec:decorative xmlns:adec="http://schemas.microsoft.com/office/drawing/2017/decorative" val="1"/>
              </a:ext>
            </a:extLst>
          </p:cNvPr>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descr="">
            <a:extLst>
              <a:ext uri="{C183D7F6-B498-43B3-948B-1728B52AA6E4}">
                <adec:decorative xmlns:adec="http://schemas.microsoft.com/office/drawing/2017/decorative" val="1"/>
              </a:ext>
            </a:extLst>
          </p:cNvPr>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descr="">
            <a:extLst>
              <a:ext uri="{C183D7F6-B498-43B3-948B-1728B52AA6E4}">
                <adec:decorative xmlns:adec="http://schemas.microsoft.com/office/drawing/2017/decorative" val="1"/>
              </a:ext>
            </a:extLst>
          </p:cNvPr>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descr="">
            <a:extLst>
              <a:ext uri="{C183D7F6-B498-43B3-948B-1728B52AA6E4}">
                <adec:decorative xmlns:adec="http://schemas.microsoft.com/office/drawing/2017/decorative" val="1"/>
              </a:ext>
            </a:extLst>
          </p:cNvP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40" name="Narration" descr="Narration for this slide; captions available" title="Narration">
            <a:hlinkClick r:id="" action="ppaction://media"/>
            <a:extLst>
              <a:ext uri="{FF2B5EF4-FFF2-40B4-BE49-F238E27FC236}">
                <a16:creationId xmlns:a16="http://schemas.microsoft.com/office/drawing/2014/main" id="{A4D6662C-31CD-1810-5A99-AD95CD8391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60D6E8-B5D9-4C76-AB4A-B86ADD7E4557}" label="English (captions)" lang="en-US" r:embed="rId14"/>
                        </p173:trackLst>
                      </p173:tracksInfo>
                    </p:ext>
                  </p14:extLst>
                </p14:media>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5261</Words>
  <Application>Microsoft Office PowerPoint</Application>
  <PresentationFormat>Widescreen</PresentationFormat>
  <Paragraphs>367</Paragraphs>
  <Slides>16</Slides>
  <Notes>16</Notes>
  <HiddenSlides>0</HiddenSlides>
  <MMClips>16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HR-Driven Identity</vt:lpstr>
      <vt:lpstr>HR-Driven Identity Modernization</vt:lpstr>
      <vt:lpstr>Use the onboarding window to design HR-driven identity</vt:lpstr>
      <vt:lpstr>Why we need HR-driven ICAM now</vt:lpstr>
      <vt:lpstr>The everyday impact of manually provisioned ICAM</vt:lpstr>
      <vt:lpstr>The window closes at the agency’s interconnection go-live</vt:lpstr>
      <vt:lpstr>Drive identity from OPM’s standard HR data</vt:lpstr>
      <vt:lpstr>Proposed identity interpretation of OPM nature-of-action families</vt:lpstr>
      <vt:lpstr>Model the person, not the account: layered identifiers</vt:lpstr>
      <vt:lpstr>Proposed physical mapping: HR to Entra ID and AD</vt:lpstr>
      <vt:lpstr>Logical architecture and Microsoft realization</vt:lpstr>
      <vt:lpstr>ICAM: attributes drive credentials, assurance and access</vt:lpstr>
      <vt:lpstr>Privacy by design: HR data in identity is a disclosure</vt:lpstr>
      <vt:lpstr>The governance I’d bring to deliver it safely</vt:lpstr>
      <vt:lpstr>A reusable HR-driven ICAM model for interagency evaluation</vt:lpstr>
      <vt:lpstr>Roadmap and the ask</vt:lpstr>
      <vt:lpstr>More modernizations I’ve designed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Michael F. Stratton</dc:creator>
  <cp:lastModifiedBy>Michael F. Stratton</cp:lastModifiedBy>
  <cp:revision>2</cp:revision>
  <dcterms:created xsi:type="dcterms:W3CDTF">2026-10-20T23:05:25Z</dcterms:created>
  <dcterms:modified xsi:type="dcterms:W3CDTF">2026-10-20T23:16:24Z</dcterms:modified>
</cp:coreProperties>
</file>