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sis" id="{3D600FF1-E064-2CA8-1311-871E3316B19C}">
          <p14:sldIdLst>
            <p14:sldId id="256"/>
            <p14:sldId id="257"/>
            <p14:sldId id="258"/>
            <p14:sldId id="259"/>
            <p14:sldId id="260"/>
          </p14:sldIdLst>
        </p14:section>
        <p14:section name="The data" id="{2231609D-F9EC-9C53-F42D-423399B8A0AA}">
          <p14:sldIdLst>
            <p14:sldId id="261"/>
            <p14:sldId id="262"/>
            <p14:sldId id="263"/>
            <p14:sldId id="264"/>
          </p14:sldIdLst>
        </p14:section>
        <p14:section name="Identity and ICAM" id="{3CBDB440-B8E1-8437-1BC4-B6B002F554A1}">
          <p14:sldIdLst>
            <p14:sldId id="265"/>
            <p14:sldId id="266"/>
            <p14:sldId id="267"/>
          </p14:sldIdLst>
        </p14:section>
        <p14:section name="Delivery" id="{9D518470-F160-B170-1844-3E1FF983573C}">
          <p14:sldIdLst>
            <p14:sldId id="268"/>
            <p14:sldId id="269"/>
            <p14:sldId id="270"/>
          </p14:sldIdLst>
        </p14:section>
        <p14:section name="Beyond" id="{95FDCCDE-50A5-BF23-1464-03A6C819C64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7462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[0:00–0:55]  Good morning, and thank you.
I want to make one proposal.
Based on current visibility, many agencies do not operate a comprehensive enterprise HR-driven identity lifecycle. In the processes I have observed, many workforce identity changes in Active Directory and Entra ID, and the access and credentials that hang off them, remain dependent on tickets or manual coordination.
Two changes are coming regardless: Federal HR 2.0 moves each agency's HR onto Oracle Core HCM in waves, and current planning assumes onboarding through 2027; agency identity is moving from Active Directory toward Entra ID. My proposal is to use the two together to start HR-driven identity — HR, through OPM's standard personnel data, as the source of authority for Entra ID, Active Directory and the rest of ICAM. That's Microsoft's own term: HR-driven provisioning.
Workbook: HR-Driven Identity, Chapter 00 — Overview and Applicability: The proposal; Why now; Why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[0:55–1:48]  The thesis in one slide.
On the left, two migrations that happen regardless: HR moves to Core HCM, and identity moves from Active Directory toward Entra ID. Meanwhile, the enterprise lifecycle remains substantially manual and fragmented.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[1:48–3:09]  Why we need HR-driven ICAM at all — and why now.
Zero Trust is federal strategy — OMB M-22-09, with NIST SP 800-207 as the architecture and CISA's maturity model as the yardstick. SASE is one way these controls can be delivered near users and cloud resources, which TIC 3.0 opens up for agencies, instead of only at our network perimeter. Reliable ICAM supplies critical identity signals to those decisions: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decisions depend on attributes, the accuracy of employee data drives the accuracy of access.
Workbook: HR-Driven Identity, Chapter 01 — Why the agency needs HR-driven ICAM now; Chapter 08 — The derivation chain.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[3:09–4:11]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[4:11–5:18]  The window.
The December 10, 2025 OMB/OPM memo directs one government-wide Core HCM platform. Oracle Fusion Cloud HCM was awarded June 11, 2026. First go-lives are January to March 2027. Current planning, based on published Federal HR 2.0 material, has Wave 2 agencies following in fiscal 2027; agency-specific milestones are confirmed with the program office. Program material describes interconnections occurring during the onboarding period, and for an agency not yet on the platform, that onboarding still lies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[5:18–6:49]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standards provide a common federal vocabulary that agencies can map into a shared canonical model. We map them to Entra ID and AD once, for every employee population — and if the HR vendor ever changes, the mapping still holds.
One honest limit: HRIT covers federal employees only. In the processes I have observed, contractors and vendors are tracked in COR spreadsheets. A contractor authority decision is required, and I propose evaluating three candidate sources: Core HCM's Contingent Worker type — a person record, an assignment and a lifecycle much like an employee's, though with no vendor-management layer; PIV sponsorship; and a contractor suitability register, which ties each contractor to an agency contract with a suitability decision. That's a decision to put in front of the program early.
(Confirm element names against OPM's current data standards.)
Workbook: HR-Driven Identity, Chapter 05 — The standard-attribute layer;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[6:49–7:43]  Personnel actions can initiate the lifecycle, after their identity interpretations and exceptions are approved.
For federal employees, every personnel action carries a nature-of-action code, and I propose mapping the families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HR, security, labor-relations, privacy, and personnel-policy owners would validate the mappings, exceptions, precedence rules, and actions before automation.
Workbook: HR-Driven Identity, Chapter 06 — Personnel actions are the triggers;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[7:43–8:48]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a strong candidate — for example, a Mainframe PIN that already serves as the person ID and employee ID. I propose it for confirmation as the enterprise person key; adoption requires validating its uniqueness, persistence, non-reassignment, population coverage, privacy constraints and historical behavior. Once it's confirmed, map Core HCM's PersonNumber to it — so when the agency moves to Core HCM, only the source key changes, and nothing downstream has to.
Workbook: HR-Driven Identity, Chapter 03 — One person, layered identifiers.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[8:48–9:39]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[9:39–10:27]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[10:27–11:23]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position attributes scoping candidates for privileged eligibility, with explicit approval and PIM still required;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[11:23–12:23]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[12:23–13:10]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[13:10–13:58]  One standard, shared across agencies.
Participating civilian agencies are moving toward shared Core HCM capabilities and common federal personnel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offer the model for interagency evaluation and reuse.
Workbook: HR-Driven Identity, Chapter 02 — Federal HR 2.0; Chapter 05 — The standard-attribute layer.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[13:58–14:53]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2.xml"/><Relationship Id="rId9"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9.png"/><Relationship Id="rId12" Type="http://schemas.openxmlformats.org/officeDocument/2006/relationships/image" Target="../media/image3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11" Type="http://schemas.openxmlformats.org/officeDocument/2006/relationships/image" Target="../media/image33.png"/><Relationship Id="rId5" Type="http://schemas.openxmlformats.org/officeDocument/2006/relationships/image" Target="../media/image17.png"/><Relationship Id="rId10" Type="http://schemas.openxmlformats.org/officeDocument/2006/relationships/image" Target="../media/image32.png"/><Relationship Id="rId4" Type="http://schemas.openxmlformats.org/officeDocument/2006/relationships/notesSlide" Target="../notesSlides/notesSlide13.xml"/><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3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9.png"/><Relationship Id="rId11" Type="http://schemas.openxmlformats.org/officeDocument/2006/relationships/image" Target="../media/image3.png"/><Relationship Id="rId5" Type="http://schemas.openxmlformats.org/officeDocument/2006/relationships/image" Target="../media/image35.png"/><Relationship Id="rId10" Type="http://schemas.openxmlformats.org/officeDocument/2006/relationships/image" Target="../media/image36.png"/><Relationship Id="rId4" Type="http://schemas.openxmlformats.org/officeDocument/2006/relationships/notesSlide" Target="../notesSlides/notesSlide14.xml"/><Relationship Id="rId9"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notesSlide" Target="../notesSlides/notesSlide16.xml"/><Relationship Id="rId9"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An Enterprise Data Architecture Case Study</a:t>
            </a:r>
            <a:endParaRPr lang="en-US" sz="2200" dirty="0"/>
          </a:p>
        </p:txBody>
      </p:sp>
      <p:sp>
        <p:nvSpPr>
          <p:cNvPr id="4" name="Thesis line"/>
          <p:cNvSpPr txBox="1"/>
          <p:nvPr/>
        </p:nvSpPr>
        <p:spPr>
          <a:xfrm>
            <a:off x="731520" y="4069080"/>
            <a:ext cx="5852160" cy="822960"/>
          </a:xfrm>
          <a:prstGeom prst="rect">
            <a:avLst/>
          </a:prstGeom>
          <a:noFill/>
          <a:ln/>
        </p:spPr>
        <p:txBody>
          <a:bodyPr wrap="square" lIns="0" tIns="0" rIns="0" bIns="0" rtlCol="0" anchor="t"/>
          <a:lstStyle/>
          <a:p>
            <a:pPr marL="0" indent="0">
              <a:buNone/>
            </a:pPr>
            <a:r>
              <a:rPr lang="en-US" sz="1600" dirty="0">
                <a:solidFill>
                  <a:srgbClr val="334155"/>
                </a:solidFill>
              </a:rPr>
              <a:t>Using Federal HR 2.0 and the Entra ID migration to start HR-driven Entra ID, Active Directory and ICAM on OPM standard attributes</a:t>
            </a:r>
            <a:endParaRPr lang="en-US" sz="16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Mike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a:hlinkClick r:id="" action="ppaction://media"/>
            <a:extLst>
              <a:ext uri="{FF2B5EF4-FFF2-40B4-BE49-F238E27FC236}">
                <a16:creationId xmlns:a16="http://schemas.microsoft.com/office/drawing/2014/main" id="{55B82C26-EAC7-F0ED-5BEC-A48340367874}"/>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80"/>
    </mc:Choice>
    <mc:Fallback>
      <p:transition spd="slow" advTm="57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Use the onboarding window to design HR-driven identity</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ArrowsRotate.png"/>
          <p:cNvPicPr>
            <a:picLocks noChangeAspect="1"/>
          </p:cNvPicPr>
          <p:nvPr/>
        </p:nvPicPr>
        <p:blipFill>
          <a:blip r:embed="rId5"/>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lifecycle substantially manual; many changes ticket-dependent</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Landmark.png"/>
          <p:cNvPicPr>
            <a:picLocks noChangeAspect="1"/>
          </p:cNvPicPr>
          <p:nvPr/>
        </p:nvPicPr>
        <p:blipFill>
          <a:blip r:embed="rId6"/>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Lightbulb.png"/>
          <p:cNvPicPr>
            <a:picLocks noChangeAspect="1"/>
          </p:cNvPicPr>
          <p:nvPr/>
        </p:nvPicPr>
        <p:blipFill>
          <a:blip r:embed="rId7"/>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marL="0" indent="0">
              <a:buNone/>
            </a:pPr>
            <a:r>
              <a:rPr lang="en-US" sz="1800" b="1" dirty="0">
                <a:solidFill>
                  <a:srgbClr val="B45309"/>
                </a:solidFill>
              </a:rPr>
              <a:t>The choice: </a:t>
            </a: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a:hlinkClick r:id="" action="ppaction://media"/>
            <a:extLst>
              <a:ext uri="{FF2B5EF4-FFF2-40B4-BE49-F238E27FC236}">
                <a16:creationId xmlns:a16="http://schemas.microsoft.com/office/drawing/2014/main" id="{2637A585-9E75-2152-5022-336D367EB49A}"/>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00"/>
    </mc:Choice>
    <mc:Fallback>
      <p:transition spd="slow" advTm="53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blurRad="76200" dist="25400" dir="5400000" algn="bl" rotWithShape="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64748B"/>
                </a:solidFill>
              </a:rPr>
              <a:t>THE STRATEGY</a:t>
            </a:r>
            <a:endParaRPr lang="en-US" sz="1400" dirty="0"/>
          </a:p>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marL="0" indent="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1F2A44"/>
                </a:solidFill>
              </a:rPr>
              <a:t>ONE DELIVERY MODEL</a:t>
            </a:r>
            <a:endParaRPr lang="en-US" sz="1400" dirty="0"/>
          </a:p>
          <a:p>
            <a:pPr marL="0" indent="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marL="0" indent="0">
              <a:spcAft>
                <a:spcPts val="400"/>
              </a:spcAft>
              <a:buNone/>
            </a:pPr>
            <a:r>
              <a:rPr lang="en-US" sz="1350" dirty="0">
                <a:solidFill>
                  <a:schemeClr val="tx2"/>
                </a:solidFill>
              </a:rPr>
              <a:t>Zero Trust controls enforced near users and cloud resources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0F766E"/>
                </a:solidFill>
              </a:rPr>
              <a:t>THE DECISION</a:t>
            </a:r>
            <a:endParaRPr lang="en-US" sz="1400" dirty="0"/>
          </a:p>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marL="0" indent="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marL="0" indent="0">
              <a:spcAft>
                <a:spcPts val="400"/>
              </a:spcAft>
              <a:buNone/>
            </a:pPr>
            <a:r>
              <a:rPr lang="en-US" sz="1100" b="1" dirty="0">
                <a:solidFill>
                  <a:srgbClr val="B45309"/>
                </a:solidFill>
              </a:rPr>
              <a:t>ACCURACY DECIDES ACCESS</a:t>
            </a:r>
            <a:endParaRPr lang="en-US" sz="1400" dirty="0"/>
          </a:p>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marL="0" indent="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892040">
                  <a:extLst>
                    <a:ext uri="{9D8B030D-6E8A-4147-A177-3AD203B41FA5}">
                      <a16:colId xmlns:a16="http://schemas.microsoft.com/office/drawing/2014/main" val="20002"/>
                    </a:ext>
                  </a:extLst>
                </a:gridCol>
              </a:tblGrid>
              <a:tr h="37719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Zero Trust (for example, through SASE)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719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800" b="1" dirty="0">
                <a:solidFill>
                  <a:srgbClr val="B45309"/>
                </a:solidFill>
              </a:rPr>
              <a:t>When access decisions depend on attributes, </a:t>
            </a:r>
            <a:r>
              <a:rPr lang="en-US" sz="1800" dirty="0">
                <a:solidFill>
                  <a:schemeClr val="tx2"/>
                </a:solidFill>
              </a:rPr>
              <a:t>the accuracy of employee data drives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7" name="Narration">
            <a:hlinkClick r:id="" action="ppaction://media"/>
            <a:extLst>
              <a:ext uri="{FF2B5EF4-FFF2-40B4-BE49-F238E27FC236}">
                <a16:creationId xmlns:a16="http://schemas.microsoft.com/office/drawing/2014/main" id="{94C3E7A3-1A1D-B9DA-F842-845AB5F6D13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760"/>
    </mc:Choice>
    <mc:Fallback>
      <p:transition spd="slow" advTm="72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76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git\uiao\inbox\SSA-Interview\build\icons\FaAddressBook.png"/>
          <p:cNvPicPr>
            <a:picLocks noChangeAspect="1"/>
          </p:cNvPicPr>
          <p:nvPr/>
        </p:nvPicPr>
        <p:blipFill>
          <a:blip r:embed="rId5"/>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marL="0" indent="0">
              <a:spcAft>
                <a:spcPts val="600"/>
              </a:spcAft>
              <a:buNone/>
            </a:pPr>
            <a:r>
              <a:rPr lang="en-US" sz="1500" dirty="0">
                <a:solidFill>
                  <a:schemeClr val="tx2"/>
                </a:solidFill>
              </a:rPr>
              <a:t>In many agencies, HR changes are not automatically reflected in Active Directory, which feeds the phone book.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git\uiao\inbox\SSA-Interview\build\icons\FaUserTie.png"/>
          <p:cNvPicPr>
            <a:picLocks noChangeAspect="1"/>
          </p:cNvPicPr>
          <p:nvPr/>
        </p:nvPicPr>
        <p:blipFill>
          <a:blip r:embed="rId6"/>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marL="0" indent="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marL="0" indent="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git\uiao\inbox\SSA-Interview\build\icons\FaRightLeft.png"/>
          <p:cNvPicPr>
            <a:picLocks noChangeAspect="1"/>
          </p:cNvPicPr>
          <p:nvPr/>
        </p:nvPicPr>
        <p:blipFill>
          <a:blip r:embed="rId7"/>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marL="0" indent="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marL="0" indent="0">
              <a:buNone/>
            </a:pPr>
            <a:r>
              <a:rPr lang="en-US" sz="1550" dirty="0">
                <a:solidFill>
                  <a:srgbClr val="1F2A44"/>
                </a:solidFill>
              </a:rPr>
              <a:t>The phone book, approvals and tool access follow — from the authoritative source, not a ticket</a:t>
            </a:r>
            <a:endParaRPr lang="en-US" sz="155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a:hlinkClick r:id="" action="ppaction://media"/>
            <a:extLst>
              <a:ext uri="{FF2B5EF4-FFF2-40B4-BE49-F238E27FC236}">
                <a16:creationId xmlns:a16="http://schemas.microsoft.com/office/drawing/2014/main" id="{999FA623-39D3-90B4-3332-7D8803CEF646}"/>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60"/>
    </mc:Choice>
    <mc:Fallback>
      <p:transition spd="slow" advTm="46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6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OMB/OPM memo</a:t>
            </a:r>
            <a:endParaRPr lang="en-US" sz="1400" dirty="0"/>
          </a:p>
          <a:p>
            <a:pPr marL="0" indent="0" algn="ctr">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Core HCM award</a:t>
            </a:r>
            <a:endParaRPr lang="en-US" sz="1400" dirty="0"/>
          </a:p>
          <a:p>
            <a:pPr marL="0" indent="0" algn="ctr">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First go-lives</a:t>
            </a:r>
            <a:endParaRPr lang="en-US" sz="1400" dirty="0"/>
          </a:p>
          <a:p>
            <a:pPr marL="0" indent="0" algn="ctr">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marL="0" indent="0" algn="ctr">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marL="0" indent="0" algn="ctr">
              <a:buNone/>
            </a:pPr>
            <a:r>
              <a:rPr lang="en-US" sz="1400" b="1" dirty="0">
                <a:solidFill>
                  <a:srgbClr val="B45309"/>
                </a:solidFill>
              </a:rPr>
              <a:t>Wave 2 agencies (planning assumption)</a:t>
            </a:r>
            <a:endParaRPr lang="en-US" sz="1400" dirty="0"/>
          </a:p>
          <a:p>
            <a:pPr marL="0" indent="0" algn="ctr">
              <a:buNone/>
            </a:pPr>
            <a:r>
              <a:rPr lang="en-US" sz="1400" dirty="0">
                <a:solidFill>
                  <a:schemeClr val="tx2"/>
                </a:solidFill>
              </a:rPr>
              <a:t>Interconnections during onboarding; confirm agency milestones</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marL="0" indent="0" algn="ctr">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marL="0" indent="0" algn="ctr">
              <a:buNone/>
            </a:pPr>
            <a:r>
              <a:rPr lang="en-US" sz="1400" b="1" dirty="0">
                <a:solidFill>
                  <a:srgbClr val="1F2A44"/>
                </a:solidFill>
              </a:rPr>
              <a:t>One system</a:t>
            </a:r>
            <a:endParaRPr lang="en-US" sz="1400" dirty="0"/>
          </a:p>
          <a:p>
            <a:pPr marL="0" indent="0" algn="ctr">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git\uiao\inbox\SSA-Interview\build\icons\FaDoorOpen.png"/>
          <p:cNvPicPr>
            <a:picLocks noChangeAspect="1"/>
          </p:cNvPicPr>
          <p:nvPr/>
        </p:nvPicPr>
        <p:blipFill>
          <a:blip r:embed="rId5"/>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marL="0" indent="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git\uiao\inbox\SSA-Interview\build\icons\FaDoorClosed.png"/>
          <p:cNvPicPr>
            <a:picLocks noChangeAspect="1"/>
          </p:cNvPicPr>
          <p:nvPr/>
        </p:nvPicPr>
        <p:blipFill>
          <a:blip r:embed="rId6"/>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marL="0" indent="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marL="0" indent="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a:hlinkClick r:id="" action="ppaction://media"/>
            <a:extLst>
              <a:ext uri="{FF2B5EF4-FFF2-40B4-BE49-F238E27FC236}">
                <a16:creationId xmlns:a16="http://schemas.microsoft.com/office/drawing/2014/main" id="{8E097049-01C8-C9B9-7C22-DED6332491AE}"/>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220"/>
    </mc:Choice>
    <mc:Fallback>
      <p:transition spd="slow" advTm="71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22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531495">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1495">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Book.png"/>
          <p:cNvPicPr>
            <a:picLocks noChangeAspect="1"/>
          </p:cNvPicPr>
          <p:nvPr/>
        </p:nvPicPr>
        <p:blipFill>
          <a:blip r:embed="rId5"/>
          <a:stretch>
            <a:fillRect/>
          </a:stretch>
        </p:blipFill>
        <p:spPr>
          <a:xfrm>
            <a:off x="8842248" y="1682496"/>
            <a:ext cx="237744" cy="237744"/>
          </a:xfrm>
          <a:prstGeom prst="rect">
            <a:avLst/>
          </a:prstGeom>
        </p:spPr>
      </p:pic>
      <p:sp>
        <p:nvSpPr>
          <p:cNvPr id="3" name="Why heading"/>
          <p:cNvSpPr txBox="1"/>
          <p:nvPr/>
        </p:nvSpPr>
        <p:spPr>
          <a:xfrm>
            <a:off x="9281160" y="1572768"/>
            <a:ext cx="2286000" cy="45720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marL="0" indent="0">
              <a:buNone/>
            </a:pPr>
            <a:r>
              <a:rPr lang="en-US" sz="1350" dirty="0">
                <a:solidFill>
                  <a:schemeClr val="tx2"/>
                </a:solidFill>
              </a:rPr>
              <a:t>OPM standards give a common federal vocabulary that agencies map into a shared canonical model; the mapping holds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git\uiao\inbox\SSA-Interview\build\icons\FaPeopleArrows.png"/>
          <p:cNvPicPr>
            <a:picLocks noChangeAspect="1"/>
          </p:cNvPicPr>
          <p:nvPr/>
        </p:nvPicPr>
        <p:blipFill>
          <a:blip r:embed="rId6"/>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279392"/>
            <a:ext cx="2788920" cy="1353312"/>
          </a:xfrm>
          <a:prstGeom prst="rect">
            <a:avLst/>
          </a:prstGeom>
          <a:noFill/>
          <a:ln/>
        </p:spPr>
        <p:txBody>
          <a:bodyPr wrap="square" lIns="0" tIns="0" rIns="0" bIns="0" rtlCol="0" anchor="t"/>
          <a:lstStyle/>
          <a:p>
            <a:pPr marL="0" indent="0">
              <a:buNone/>
            </a:pPr>
            <a:r>
              <a:rPr lang="en-US" sz="1250" b="1" dirty="0">
                <a:solidFill>
                  <a:srgbClr val="1F2A44"/>
                </a:solidFill>
              </a:rPr>
              <a:t>Not in HRIT; tracked in COR spreadsheets in the processes observed. </a:t>
            </a:r>
            <a:r>
              <a:rPr lang="en-US" sz="1250" dirty="0">
                <a:solidFill>
                  <a:schemeClr val="tx2"/>
                </a:solidFill>
              </a:rPr>
              <a:t>Contractor authority decision required: evaluate suitability, sponsorship, and contingent-worker records.</a:t>
            </a:r>
            <a:endParaRPr lang="en-US" sz="12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5" name="Narration">
            <a:hlinkClick r:id="" action="ppaction://media"/>
            <a:extLst>
              <a:ext uri="{FF2B5EF4-FFF2-40B4-BE49-F238E27FC236}">
                <a16:creationId xmlns:a16="http://schemas.microsoft.com/office/drawing/2014/main" id="{366B0033-8CEA-6862-02FA-DD3C5094D29B}"/>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0300"/>
    </mc:Choice>
    <mc:Fallback>
      <p:transition spd="slow" advTm="9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930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Proposed identity interpretation of OPM nature-of-action families</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4846320">
                  <a:extLst>
                    <a:ext uri="{9D8B030D-6E8A-4147-A177-3AD203B41FA5}">
                      <a16:colId xmlns:a16="http://schemas.microsoft.com/office/drawing/2014/main" val="20003"/>
                    </a:ext>
                  </a:extLst>
                </a:gridCol>
              </a:tblGrid>
              <a:tr h="509451">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git\uiao\inbox\SSA-Interview\build\icons\FaUserClock.png"/>
          <p:cNvPicPr>
            <a:picLocks noChangeAspect="1"/>
          </p:cNvPicPr>
          <p:nvPr/>
        </p:nvPicPr>
        <p:blipFill>
          <a:blip r:embed="rId5"/>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Leave is not a leaver. </a:t>
            </a:r>
            <a:r>
              <a:rPr lang="en-US" sz="1400" dirty="0">
                <a:solidFill>
                  <a:schemeClr val="tx2"/>
                </a:solidFill>
              </a:rPr>
              <a:t>Furlough, LWOP and suspension keep the person; policy restricts the account.</a:t>
            </a:r>
            <a:endParaRPr lang="en-US" sz="1400" dirty="0"/>
          </a:p>
        </p:txBody>
      </p:sp>
      <p:sp>
        <p:nvSpPr>
          <p:cNvPr id="3"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git\uiao\inbox\SSA-Interview\build\icons\FaArrowDownWideShort.png"/>
          <p:cNvPicPr>
            <a:picLocks noChangeAspect="1"/>
          </p:cNvPicPr>
          <p:nvPr/>
        </p:nvPicPr>
        <p:blipFill>
          <a:blip r:embed="rId6"/>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Precedence is a rule. </a:t>
            </a: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git\uiao\inbox\SSA-Interview\build\icons\FaUserXmark.png"/>
          <p:cNvPicPr>
            <a:picLocks noChangeAspect="1"/>
          </p:cNvPicPr>
          <p:nvPr/>
        </p:nvPicPr>
        <p:blipFill>
          <a:blip r:embed="rId7"/>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marL="0" indent="0">
              <a:buNone/>
            </a:pPr>
            <a:r>
              <a:rPr lang="en-US" sz="1400" b="1" dirty="0">
                <a:solidFill>
                  <a:srgbClr val="1F2A44"/>
                </a:solidFill>
              </a:rPr>
              <a:t>Rescinded offers clean up </a:t>
            </a: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a:hlinkClick r:id="" action="ppaction://media"/>
            <a:extLst>
              <a:ext uri="{FF2B5EF4-FFF2-40B4-BE49-F238E27FC236}">
                <a16:creationId xmlns:a16="http://schemas.microsoft.com/office/drawing/2014/main" id="{57578B82-2B56-8E41-223E-B300C536DFC4}"/>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700"/>
    </mc:Choice>
    <mc:Fallback>
      <p:transition spd="slow" advTm="67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6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tblGrid>
              <a:tr h="5943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Never, by design (to validate)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git\uiao\inbox\SSA-Interview\build\icons\FaSitemap.png"/>
          <p:cNvPicPr>
            <a:picLocks noChangeAspect="1"/>
          </p:cNvPicPr>
          <p:nvPr/>
        </p:nvPicPr>
        <p:blipFill>
          <a:blip r:embed="rId5"/>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3"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marL="0" indent="0">
              <a:buNone/>
            </a:pPr>
            <a:r>
              <a:rPr lang="en-US" sz="1400" b="1" dirty="0">
                <a:solidFill>
                  <a:srgbClr val="B45309"/>
                </a:solidFill>
              </a:rPr>
              <a:t>Often the key already exists: </a:t>
            </a:r>
            <a:r>
              <a:rPr lang="en-US" sz="1400" dirty="0">
                <a:solidFill>
                  <a:schemeClr val="tx2"/>
                </a:solidFill>
              </a:rPr>
              <a:t>for example, a Mainframe PIN, proposed for confirmation as the enterprise person key. Validate uniqueness, persistence, non-reassignment, coverage, privacy and history; then map Core HCM’s PersonNumber and every directory and credential key to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a:hlinkClick r:id="" action="ppaction://media"/>
            <a:extLst>
              <a:ext uri="{FF2B5EF4-FFF2-40B4-BE49-F238E27FC236}">
                <a16:creationId xmlns:a16="http://schemas.microsoft.com/office/drawing/2014/main" id="{EA8D2C99-EB0C-18E2-990F-7E4D82DF54F2}"/>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90"/>
    </mc:Choice>
    <mc:Fallback>
      <p:transition spd="slow" advTm="69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Proposed physical mapping: HR to Entra ID and AD</a:t>
            </a:r>
            <a:endParaRPr lang="en-US" sz="3000" dirty="0"/>
          </a:p>
        </p:txBody>
      </p:sp>
      <p:sp>
        <p:nvSpPr>
          <p:cNvPr id="3" name="Mapping caveat"/>
          <p:cNvSpPr txBox="1"/>
          <p:nvPr/>
        </p:nvSpPr>
        <p:spPr>
          <a:xfrm>
            <a:off x="548640" y="6144768"/>
            <a:ext cx="11064240" cy="228600"/>
          </a:xfrm>
          <a:prstGeom prst="rect">
            <a:avLst/>
          </a:prstGeom>
          <a:noFill/>
          <a:ln/>
        </p:spPr>
        <p:txBody>
          <a:bodyPr wrap="square" lIns="0" tIns="0" rIns="0" bIns="0" rtlCol="0" anchor="t"/>
          <a:lstStyle/>
          <a:p>
            <a:pPr marL="0" indent="0">
              <a:buNone/>
            </a:pPr>
            <a:r>
              <a:rPr lang="en-US" sz="1050" i="1" dirty="0">
                <a:solidFill>
                  <a:srgbClr val="64748B"/>
                </a:solidFill>
              </a:rPr>
              <a:t>Target attributes are implementation proposals subject to existing-use inventory, security review and tenant validation.</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26060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509451">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9451">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7" name="Image 0" descr="C:\Users\whale\git\uiao\inbox\SSA-Interview\build\icons\FaCubes.png"/>
          <p:cNvPicPr>
            <a:picLocks noChangeAspect="1"/>
          </p:cNvPicPr>
          <p:nvPr/>
        </p:nvPicPr>
        <p:blipFill>
          <a:blip r:embed="rId5"/>
          <a:stretch>
            <a:fillRect/>
          </a:stretch>
        </p:blipFill>
        <p:spPr>
          <a:xfrm>
            <a:off x="844906" y="5572354"/>
            <a:ext cx="285293" cy="285293"/>
          </a:xfrm>
          <a:prstGeom prst="rect">
            <a:avLst/>
          </a:prstGeom>
        </p:spPr>
      </p:pic>
      <p:sp>
        <p:nvSpPr>
          <p:cNvPr id="8" name="Model rule 1 text"/>
          <p:cNvSpPr txBox="1"/>
          <p:nvPr/>
        </p:nvSpPr>
        <p:spPr>
          <a:xfrm>
            <a:off x="141732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Native attributes first</a:t>
            </a:r>
            <a:endParaRPr lang="en-US" sz="1500" dirty="0"/>
          </a:p>
          <a:p>
            <a:pPr marL="0" indent="0">
              <a:buNone/>
            </a:pPr>
            <a:r>
              <a:rPr lang="en-US" sz="1350" dirty="0">
                <a:solidFill>
                  <a:schemeClr val="tx2"/>
                </a:solidFill>
              </a:rPr>
              <a:t>Extensions only where a rule can’t read a native property.</a:t>
            </a:r>
            <a:endParaRPr lang="en-US" sz="1500" dirty="0"/>
          </a:p>
        </p:txBody>
      </p:sp>
      <p:sp>
        <p:nvSpPr>
          <p:cNvPr id="9"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11" name="Image 1" descr="C:\Users\whale\git\uiao\inbox\SSA-Interview\build\icons\FaHashtag.png"/>
          <p:cNvPicPr>
            <a:picLocks noChangeAspect="1"/>
          </p:cNvPicPr>
          <p:nvPr/>
        </p:nvPicPr>
        <p:blipFill>
          <a:blip r:embed="rId6"/>
          <a:stretch>
            <a:fillRect/>
          </a:stretch>
        </p:blipFill>
        <p:spPr>
          <a:xfrm>
            <a:off x="4593946" y="5572354"/>
            <a:ext cx="285293" cy="285293"/>
          </a:xfrm>
          <a:prstGeom prst="rect">
            <a:avLst/>
          </a:prstGeom>
        </p:spPr>
      </p:pic>
      <p:sp>
        <p:nvSpPr>
          <p:cNvPr id="12" name="Model rule 2 text"/>
          <p:cNvSpPr txBox="1"/>
          <p:nvPr/>
        </p:nvSpPr>
        <p:spPr>
          <a:xfrm>
            <a:off x="516636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Codes, not display strings</a:t>
            </a:r>
            <a:endParaRPr lang="en-US" sz="1500" dirty="0"/>
          </a:p>
          <a:p>
            <a:pPr marL="0" indent="0">
              <a:buNone/>
            </a:pPr>
            <a:r>
              <a:rPr lang="en-US" sz="1350" dirty="0">
                <a:solidFill>
                  <a:schemeClr val="tx2"/>
                </a:solidFill>
              </a:rPr>
              <a:t>Access rules read codes that change only when the fact does.</a:t>
            </a:r>
            <a:endParaRPr lang="en-US" sz="1500" dirty="0"/>
          </a:p>
        </p:txBody>
      </p:sp>
      <p:sp>
        <p:nvSpPr>
          <p:cNvPr id="13"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5" name="Image 2" descr="C:\Users\whale\git\uiao\inbox\SSA-Interview\build\icons\FaTableList.png"/>
          <p:cNvPicPr>
            <a:picLocks noChangeAspect="1"/>
          </p:cNvPicPr>
          <p:nvPr/>
        </p:nvPicPr>
        <p:blipFill>
          <a:blip r:embed="rId7"/>
          <a:stretch>
            <a:fillRect/>
          </a:stretch>
        </p:blipFill>
        <p:spPr>
          <a:xfrm>
            <a:off x="8342986" y="5572354"/>
            <a:ext cx="285293" cy="285293"/>
          </a:xfrm>
          <a:prstGeom prst="rect">
            <a:avLst/>
          </a:prstGeom>
        </p:spPr>
      </p:pic>
      <p:sp>
        <p:nvSpPr>
          <p:cNvPr id="16" name="Model rule 3 text"/>
          <p:cNvSpPr txBox="1"/>
          <p:nvPr/>
        </p:nvSpPr>
        <p:spPr>
          <a:xfrm>
            <a:off x="8915400" y="5303520"/>
            <a:ext cx="2651760" cy="822960"/>
          </a:xfrm>
          <a:prstGeom prst="rect">
            <a:avLst/>
          </a:prstGeom>
          <a:noFill/>
          <a:ln/>
        </p:spPr>
        <p:txBody>
          <a:bodyPr wrap="square" lIns="0" tIns="0" rIns="0" bIns="0" rtlCol="0" anchor="t"/>
          <a:lstStyle/>
          <a:p>
            <a:pPr marL="0" indent="0">
              <a:buNone/>
            </a:pPr>
            <a:r>
              <a:rPr lang="en-US" sz="1500" b="1" dirty="0">
                <a:solidFill>
                  <a:srgbClr val="0F766E"/>
                </a:solidFill>
              </a:rPr>
              <a:t>One crosswalk, governed</a:t>
            </a:r>
            <a:endParaRPr lang="en-US" sz="1500" dirty="0"/>
          </a:p>
          <a:p>
            <a:pPr marL="0" indent="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7" name="Narration">
            <a:hlinkClick r:id="" action="ppaction://media"/>
            <a:extLst>
              <a:ext uri="{FF2B5EF4-FFF2-40B4-BE49-F238E27FC236}">
                <a16:creationId xmlns:a16="http://schemas.microsoft.com/office/drawing/2014/main" id="{018BAB61-1592-1C03-B70F-6837772856F6}"/>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40"/>
    </mc:Choice>
    <mc:Fallback>
      <p:transition spd="slow" advTm="45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marL="0" indent="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marL="0" indent="0" algn="ctr">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marL="0" indent="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marL="0" indent="0" algn="ctr">
              <a:buNone/>
            </a:pPr>
            <a:r>
              <a:rPr lang="en-US" sz="1350" dirty="0">
                <a:solidFill>
                  <a:srgbClr val="1F2A44"/>
                </a:solidFill>
              </a:rPr>
              <a:t>Entra ID, AD, Intune, card management</a:t>
            </a:r>
            <a:endParaRPr lang="en-US" sz="13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487680">
                <a:tc>
                  <a:txBody>
                    <a:bodyPr/>
                    <a:lstStyle/>
                    <a:p>
                      <a:pPr marL="0" indent="0">
                        <a:buNone/>
                      </a:pP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7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35" name="Narration">
            <a:hlinkClick r:id="" action="ppaction://media"/>
            <a:extLst>
              <a:ext uri="{FF2B5EF4-FFF2-40B4-BE49-F238E27FC236}">
                <a16:creationId xmlns:a16="http://schemas.microsoft.com/office/drawing/2014/main" id="{0A1ACB59-DECE-677C-85AC-9E3A255C9518}"/>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70"/>
    </mc:Choice>
    <mc:Fallback>
      <p:transition spd="slow" advTm="4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IdCard.png"/>
          <p:cNvPicPr>
            <a:picLocks noChangeAspect="1"/>
          </p:cNvPicPr>
          <p:nvPr/>
        </p:nvPicPr>
        <p:blipFill>
          <a:blip r:embed="rId5"/>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git\uiao\inbox\SSA-Interview\build\icons\FaFingerprint.png"/>
          <p:cNvPicPr>
            <a:picLocks noChangeAspect="1"/>
          </p:cNvPicPr>
          <p:nvPr/>
        </p:nvPicPr>
        <p:blipFill>
          <a:blip r:embed="rId6"/>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git\uiao\inbox\SSA-Interview\build\icons\FaKey.png"/>
          <p:cNvPicPr>
            <a:picLocks noChangeAspect="1"/>
          </p:cNvPicPr>
          <p:nvPr/>
        </p:nvPicPr>
        <p:blipFill>
          <a:blip r:embed="rId7"/>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Position scopes candidates for privileged eligibility; explicit approval and PIM still required</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marL="0" indent="0">
              <a:buNone/>
            </a:pPr>
            <a:r>
              <a:rPr lang="en-US" sz="1700" b="1" dirty="0">
                <a:solidFill>
                  <a:srgbClr val="1F2A44"/>
                </a:solidFill>
              </a:rPr>
              <a:t>Every entitlement has a “because”: </a:t>
            </a: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0" name="Narration">
            <a:hlinkClick r:id="" action="ppaction://media"/>
            <a:extLst>
              <a:ext uri="{FF2B5EF4-FFF2-40B4-BE49-F238E27FC236}">
                <a16:creationId xmlns:a16="http://schemas.microsoft.com/office/drawing/2014/main" id="{DD4F6B6E-B0C7-1482-3764-241EB741CCE0}"/>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20"/>
    </mc:Choice>
    <mc:Fallback>
      <p:transition spd="slow" advTm="6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61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git\uiao\inbox\SSA-Interview\build\icons\FaScaleBalanced.png"/>
          <p:cNvPicPr>
            <a:picLocks noChangeAspect="1"/>
          </p:cNvPicPr>
          <p:nvPr/>
        </p:nvPicPr>
        <p:blipFill>
          <a:blip r:embed="rId5"/>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marL="0" indent="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git\uiao\inbox\SSA-Interview\build\icons\FaFilter.png"/>
          <p:cNvPicPr>
            <a:picLocks noChangeAspect="1"/>
          </p:cNvPicPr>
          <p:nvPr/>
        </p:nvPicPr>
        <p:blipFill>
          <a:blip r:embed="rId6"/>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marL="0" indent="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git\uiao\inbox\SSA-Interview\build\icons\FaFileShield.png"/>
          <p:cNvPicPr>
            <a:picLocks noChangeAspect="1"/>
          </p:cNvPicPr>
          <p:nvPr/>
        </p:nvPicPr>
        <p:blipFill>
          <a:blip r:embed="rId7"/>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marL="0" indent="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git\uiao\inbox\SSA-Interview\build\icons\FaLock.png"/>
          <p:cNvPicPr>
            <a:picLocks noChangeAspect="1"/>
          </p:cNvPicPr>
          <p:nvPr/>
        </p:nvPicPr>
        <p:blipFill>
          <a:blip r:embed="rId8"/>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marL="0" indent="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marL="0" indent="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marL="0" indent="0">
              <a:buNone/>
            </a:pPr>
            <a:r>
              <a:rPr lang="en-US" sz="1700" b="1" dirty="0">
                <a:solidFill>
                  <a:srgbClr val="B45309"/>
                </a:solidFill>
              </a:rPr>
              <a:t>HR remains the system of records. </a:t>
            </a: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1" name="Narration">
            <a:hlinkClick r:id="" action="ppaction://media"/>
            <a:extLst>
              <a:ext uri="{FF2B5EF4-FFF2-40B4-BE49-F238E27FC236}">
                <a16:creationId xmlns:a16="http://schemas.microsoft.com/office/drawing/2014/main" id="{7687CCC1-58EA-CD2C-E0A3-D698F719804C}"/>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Sitemap.png"/>
          <p:cNvPicPr>
            <a:picLocks noChangeAspect="1"/>
          </p:cNvPicPr>
          <p:nvPr/>
        </p:nvPicPr>
        <p:blipFill>
          <a:blip r:embed="rId5"/>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Authority map and identifier decision</a:t>
            </a:r>
            <a:endParaRPr lang="en-US" sz="1400" dirty="0"/>
          </a:p>
          <a:p>
            <a:pPr marL="0" indent="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UserShield.png"/>
          <p:cNvPicPr>
            <a:picLocks noChangeAspect="1"/>
          </p:cNvPicPr>
          <p:nvPr/>
        </p:nvPicPr>
        <p:blipFill>
          <a:blip r:embed="rId6"/>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Security assessment</a:t>
            </a:r>
            <a:endParaRPr lang="en-US" sz="1400" dirty="0"/>
          </a:p>
          <a:p>
            <a:pPr marL="0" indent="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ClipboardCheck.png"/>
          <p:cNvPicPr>
            <a:picLocks noChangeAspect="1"/>
          </p:cNvPicPr>
          <p:nvPr/>
        </p:nvPicPr>
        <p:blipFill>
          <a:blip r:embed="rId7"/>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Acceptance gate</a:t>
            </a:r>
            <a:endParaRPr lang="en-US" sz="1400" dirty="0"/>
          </a:p>
          <a:p>
            <a:pPr marL="0" indent="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PlugCircleXmark.png"/>
          <p:cNvPicPr>
            <a:picLocks noChangeAspect="1"/>
          </p:cNvPicPr>
          <p:nvPr/>
        </p:nvPicPr>
        <p:blipFill>
          <a:blip r:embed="rId8"/>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1F2A44"/>
                </a:solidFill>
              </a:rPr>
              <a:t>Cutover from tickets</a:t>
            </a:r>
            <a:endParaRPr lang="en-US" sz="1400" dirty="0"/>
          </a:p>
          <a:p>
            <a:pPr marL="0" indent="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ListCheck.png"/>
          <p:cNvPicPr>
            <a:picLocks noChangeAspect="1"/>
          </p:cNvPicPr>
          <p:nvPr/>
        </p:nvPicPr>
        <p:blipFill>
          <a:blip r:embed="rId9"/>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Lifecycle rules</a:t>
            </a:r>
            <a:endParaRPr lang="en-US" sz="1400" dirty="0"/>
          </a:p>
          <a:p>
            <a:pPr marL="0" indent="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TriangleExclamation.png"/>
          <p:cNvPicPr>
            <a:picLocks noChangeAspect="1"/>
          </p:cNvPicPr>
          <p:nvPr/>
        </p:nvPicPr>
        <p:blipFill>
          <a:blip r:embed="rId10"/>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Quarantine and reconciliation</a:t>
            </a:r>
            <a:endParaRPr lang="en-US" sz="1400" dirty="0"/>
          </a:p>
          <a:p>
            <a:pPr marL="0" indent="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ChartLine.png"/>
          <p:cNvPicPr>
            <a:picLocks noChangeAspect="1"/>
          </p:cNvPicPr>
          <p:nvPr/>
        </p:nvPicPr>
        <p:blipFill>
          <a:blip r:embed="rId11"/>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Drift and metrics</a:t>
            </a:r>
            <a:endParaRPr lang="en-US" sz="1400" dirty="0"/>
          </a:p>
          <a:p>
            <a:pPr marL="0" indent="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CodeBranch.png"/>
          <p:cNvPicPr>
            <a:picLocks noChangeAspect="1"/>
          </p:cNvPicPr>
          <p:nvPr/>
        </p:nvPicPr>
        <p:blipFill>
          <a:blip r:embed="rId12"/>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marL="0" indent="0">
              <a:spcAft>
                <a:spcPts val="400"/>
              </a:spcAft>
              <a:buNone/>
            </a:pPr>
            <a:r>
              <a:rPr lang="en-US" sz="1600" b="1" dirty="0">
                <a:solidFill>
                  <a:srgbClr val="0F766E"/>
                </a:solidFill>
              </a:rPr>
              <a:t>Change control</a:t>
            </a:r>
            <a:endParaRPr lang="en-US" sz="1400" dirty="0"/>
          </a:p>
          <a:p>
            <a:pPr marL="0" indent="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marL="0" indent="0">
              <a:buNone/>
            </a:pPr>
            <a:r>
              <a:rPr lang="en-US" sz="1300" i="1" dirty="0">
                <a:solidFill>
                  <a:srgbClr val="64748B"/>
                </a:solidFill>
              </a:rPr>
              <a:t>Control support for AC-2, PS-4, PS-5, IA-4 and SI-12 — evidence produced by operation, not assembled for the audit.</a:t>
            </a:r>
            <a:endParaRPr lang="en-US" sz="13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37" name="Narration">
            <a:hlinkClick r:id="" action="ppaction://media"/>
            <a:extLst>
              <a:ext uri="{FF2B5EF4-FFF2-40B4-BE49-F238E27FC236}">
                <a16:creationId xmlns:a16="http://schemas.microsoft.com/office/drawing/2014/main" id="{1764A81F-82C9-FA30-58D3-5A28B07C3402}"/>
              </a:ext>
            </a:extLst>
          </p:cNvPr>
          <p:cNvPicPr>
            <a:picLocks noChangeAspect="1"/>
          </p:cNvPicPr>
          <p:nvPr>
            <a:audioFile r:link="rId2"/>
            <p:extLst>
              <p:ext uri="{DAA4B4D4-6D71-4841-9C94-3DE7FCFB9230}">
                <p14:media xmlns:p14="http://schemas.microsoft.com/office/powerpoint/2010/main" r:embed="rId1"/>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60"/>
    </mc:Choice>
    <mc:Fallback>
      <p:transition spd="slow" advTm="4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64"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A reusable HR-driven ICAM model for interagency evaluation</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marL="0" indent="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git\uiao\inbox\SSA-Interview\build\icons\FaBuildingColumns.png"/>
          <p:cNvPicPr>
            <a:picLocks noChangeAspect="1"/>
          </p:cNvPicPr>
          <p:nvPr/>
        </p:nvPicPr>
        <p:blipFill>
          <a:blip r:embed="rId5"/>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Shared platform, common standards</a:t>
            </a:r>
            <a:endParaRPr lang="en-US" sz="1400" dirty="0"/>
          </a:p>
          <a:p>
            <a:pPr marL="0" indent="0">
              <a:spcAft>
                <a:spcPts val="200"/>
              </a:spcAft>
              <a:buNone/>
            </a:pPr>
            <a:r>
              <a:rPr lang="en-US" sz="1300" dirty="0">
                <a:solidFill>
                  <a:schemeClr val="tx2"/>
                </a:solidFill>
              </a:rPr>
              <a:t>Participating civilian agencies move toward shared Core HCM capabilities and OPM’s data standards — a crosswalk and canonical model others can evaluate and reuse</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git\uiao\inbox\SSA-Interview\build\icons\FaRightLeft.png"/>
          <p:cNvPicPr>
            <a:picLocks noChangeAspect="1"/>
          </p:cNvPicPr>
          <p:nvPr/>
        </p:nvPicPr>
        <p:blipFill>
          <a:blip r:embed="rId6"/>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Attributes that travel</a:t>
            </a:r>
            <a:endParaRPr lang="en-US" sz="1400" dirty="0"/>
          </a:p>
          <a:p>
            <a:pPr marL="0" indent="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git\uiao\inbox\SSA-Interview\build\icons\FaChartLine.png"/>
          <p:cNvPicPr>
            <a:picLocks noChangeAspect="1"/>
          </p:cNvPicPr>
          <p:nvPr/>
        </p:nvPicPr>
        <p:blipFill>
          <a:blip r:embed="rId7"/>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1F2A44"/>
                </a:solidFill>
              </a:rPr>
              <a:t>Comparable evidence</a:t>
            </a:r>
            <a:endParaRPr lang="en-US" sz="1400" dirty="0"/>
          </a:p>
          <a:p>
            <a:pPr marL="0" indent="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marL="0" indent="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git\uiao\inbox\SSA-Interview\build\icons\FaPeopleArrows.png"/>
          <p:cNvPicPr>
            <a:picLocks noChangeAspect="1"/>
          </p:cNvPicPr>
          <p:nvPr/>
        </p:nvPicPr>
        <p:blipFill>
          <a:blip r:embed="rId8"/>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Work the issues together</a:t>
            </a:r>
            <a:endParaRPr lang="en-US" sz="1400" dirty="0"/>
          </a:p>
          <a:p>
            <a:pPr marL="0" indent="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git\uiao\inbox\SSA-Interview\build\icons\FaScaleBalanced.png"/>
          <p:cNvPicPr>
            <a:picLocks noChangeAspect="1"/>
          </p:cNvPicPr>
          <p:nvPr/>
        </p:nvPicPr>
        <p:blipFill>
          <a:blip r:embed="rId9"/>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Options and their impact</a:t>
            </a:r>
            <a:endParaRPr lang="en-US" sz="1400" dirty="0"/>
          </a:p>
          <a:p>
            <a:pPr marL="0" indent="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git\uiao\inbox\SSA-Interview\build\icons\FaUsersGear.png"/>
          <p:cNvPicPr>
            <a:picLocks noChangeAspect="1"/>
          </p:cNvPicPr>
          <p:nvPr/>
        </p:nvPicPr>
        <p:blipFill>
          <a:blip r:embed="rId10"/>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marL="0" indent="0">
              <a:spcAft>
                <a:spcPts val="200"/>
              </a:spcAft>
              <a:buNone/>
            </a:pPr>
            <a:r>
              <a:rPr lang="en-US" sz="1550" b="1" dirty="0">
                <a:solidFill>
                  <a:srgbClr val="0F766E"/>
                </a:solidFill>
              </a:rPr>
              <a:t>Committees and working groups</a:t>
            </a:r>
            <a:endParaRPr lang="en-US" sz="1400" dirty="0"/>
          </a:p>
          <a:p>
            <a:pPr marL="0" indent="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marL="0" indent="0">
              <a:buNone/>
            </a:pPr>
            <a:r>
              <a:rPr lang="en-US" sz="1700" b="1" dirty="0">
                <a:solidFill>
                  <a:srgbClr val="B45309"/>
                </a:solidFill>
              </a:rPr>
              <a:t>The goal: </a:t>
            </a:r>
            <a:r>
              <a:rPr lang="en-US" sz="1700" dirty="0">
                <a:solidFill>
                  <a:schemeClr val="tx2"/>
                </a:solidFill>
              </a:rPr>
              <a:t>offer the model for interagency evaluation and reuse as participating agencies onboard to HR 2.0.</a:t>
            </a:r>
            <a:endParaRPr lang="en-US" sz="17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8" name="Narration">
            <a:hlinkClick r:id="" action="ppaction://media"/>
            <a:extLst>
              <a:ext uri="{FF2B5EF4-FFF2-40B4-BE49-F238E27FC236}">
                <a16:creationId xmlns:a16="http://schemas.microsoft.com/office/drawing/2014/main" id="{B986517F-F409-F45B-EEB3-5A6C683BFC7C}"/>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500"/>
    </mc:Choice>
    <mc:Fallback>
      <p:transition spd="slow" advTm="4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04"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Align with HR 2.0</a:t>
            </a:r>
            <a:endParaRPr lang="en-US" sz="1400" dirty="0"/>
          </a:p>
          <a:p>
            <a:pPr marL="0" indent="0" algn="ctr">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B45309"/>
                </a:solidFill>
              </a:rPr>
              <a:t>Standards and authority</a:t>
            </a:r>
            <a:endParaRPr lang="en-US" sz="1400" dirty="0"/>
          </a:p>
          <a:p>
            <a:pPr marL="0" indent="0" algn="ctr">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Build and prove</a:t>
            </a:r>
            <a:endParaRPr lang="en-US" sz="1400" dirty="0"/>
          </a:p>
          <a:p>
            <a:pPr marL="0" indent="0" algn="ctr">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0F766E"/>
                </a:solidFill>
              </a:rPr>
              <a:t>Cut over</a:t>
            </a:r>
            <a:endParaRPr lang="en-US" sz="1400" dirty="0"/>
          </a:p>
          <a:p>
            <a:pPr marL="0" indent="0" algn="ctr">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marL="0" indent="0" algn="ctr">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marL="0" indent="0" algn="ctr">
              <a:spcAft>
                <a:spcPts val="300"/>
              </a:spcAft>
              <a:buNone/>
            </a:pPr>
            <a:r>
              <a:rPr lang="en-US" sz="1600" b="1" dirty="0">
                <a:solidFill>
                  <a:srgbClr val="1F2A44"/>
                </a:solidFill>
              </a:rPr>
              <a:t>Sustain</a:t>
            </a:r>
            <a:endParaRPr lang="en-US" sz="1400" dirty="0"/>
          </a:p>
          <a:p>
            <a:pPr marL="0" indent="0" algn="ctr">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git\uiao\inbox\SSA-Interview\build\icons\FaLightbulb.png"/>
          <p:cNvPicPr>
            <a:picLocks noChangeAspect="1"/>
          </p:cNvPicPr>
          <p:nvPr/>
        </p:nvPicPr>
        <p:blipFill>
          <a:blip r:embed="rId5"/>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marL="0" indent="0">
              <a:buNone/>
            </a:pPr>
            <a:r>
              <a:rPr lang="en-US" sz="2000" b="1" dirty="0">
                <a:solidFill>
                  <a:srgbClr val="B45309"/>
                </a:solidFill>
              </a:rPr>
              <a:t>The ask: </a:t>
            </a: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marL="0" indent="0">
              <a:buNone/>
            </a:pPr>
            <a:r>
              <a:rPr lang="en-US" sz="1700" b="1" dirty="0">
                <a:solidFill>
                  <a:srgbClr val="1F2A44"/>
                </a:solidFill>
              </a:rPr>
              <a:t>EDA contribution: </a:t>
            </a: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a:hlinkClick r:id="" action="ppaction://media"/>
            <a:extLst>
              <a:ext uri="{FF2B5EF4-FFF2-40B4-BE49-F238E27FC236}">
                <a16:creationId xmlns:a16="http://schemas.microsoft.com/office/drawing/2014/main" id="{8A6A272F-A20A-4729-3780-86F14AEF2067}"/>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80"/>
    </mc:Choice>
    <mc:Fallback>
      <p:transition spd="slow" advTm="51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oudArrowUp"/>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C:\Users\whale\git\uiao\inbox\SSA-Interview\build\icons\FaCloudArrowUp.png"/>
          <p:cNvPicPr>
            <a:picLocks noChangeAspect="1"/>
          </p:cNvPicPr>
          <p:nvPr/>
        </p:nvPicPr>
        <p:blipFill>
          <a:blip r:embed="rId5"/>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Entra ID migration</a:t>
            </a:r>
            <a:endParaRPr lang="en-US" sz="1400" dirty="0"/>
          </a:p>
          <a:p>
            <a:pPr marL="0" indent="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Globe"/>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C:\Users\whale\git\uiao\inbox\SSA-Interview\build\icons\FaGlobe.png"/>
          <p:cNvPicPr>
            <a:picLocks noChangeAspect="1"/>
          </p:cNvPicPr>
          <p:nvPr/>
        </p:nvPicPr>
        <p:blipFill>
          <a:blip r:embed="rId6"/>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Next-generation DNS and IPAM</a:t>
            </a:r>
            <a:endParaRPr lang="en-US" sz="1400" dirty="0"/>
          </a:p>
          <a:p>
            <a:pPr marL="0" indent="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Building"/>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C:\Users\whale\git\uiao\inbox\SSA-Interview\build\icons\FaBuilding.png"/>
          <p:cNvPicPr>
            <a:picLocks noChangeAspect="1"/>
          </p:cNvPicPr>
          <p:nvPr/>
        </p:nvPicPr>
        <p:blipFill>
          <a:blip r:embed="rId7"/>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Field office WAN and data centers</a:t>
            </a:r>
            <a:endParaRPr lang="en-US" sz="1400" dirty="0"/>
          </a:p>
          <a:p>
            <a:pPr marL="0" indent="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Route"/>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C:\Users\whale\git\uiao\inbox\SSA-Interview\build\icons\FaRoute.png"/>
          <p:cNvPicPr>
            <a:picLocks noChangeAspect="1"/>
          </p:cNvPicPr>
          <p:nvPr/>
        </p:nvPicPr>
        <p:blipFill>
          <a:blip r:embed="rId8"/>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TIC 3.0 Cloud and Branch Office cases</a:t>
            </a:r>
            <a:endParaRPr lang="en-US" sz="1400" dirty="0"/>
          </a:p>
          <a:p>
            <a:pPr marL="0" indent="0">
              <a:spcAft>
                <a:spcPts val="300"/>
              </a:spcAft>
              <a:buNone/>
            </a:pPr>
            <a:r>
              <a:rPr lang="en-US" sz="1350" dirty="0">
                <a:solidFill>
                  <a:schemeClr val="tx2"/>
                </a:solidFill>
              </a:rPr>
              <a:t>Trusted Internet Connections use cases</a:t>
            </a:r>
            <a:endParaRPr lang="en-US" sz="1400" dirty="0"/>
          </a:p>
        </p:txBody>
      </p:sp>
      <p:sp>
        <p:nvSpPr>
          <p:cNvPr id="19" name="Teaser 5"/>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Serve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C:\Users\whale\git\uiao\inbox\SSA-Interview\build\icons\FaServer.png"/>
          <p:cNvPicPr>
            <a:picLocks noChangeAspect="1"/>
          </p:cNvPicPr>
          <p:nvPr/>
        </p:nvPicPr>
        <p:blipFill>
          <a:blip r:embed="rId9"/>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Client-server to hybrid cloud</a:t>
            </a:r>
            <a:endParaRPr lang="en-US" sz="1400" dirty="0"/>
          </a:p>
          <a:p>
            <a:pPr marL="0" indent="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Database"/>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C:\Users\whale\git\uiao\inbox\SSA-Interview\build\icons\FaDatabase.png"/>
          <p:cNvPicPr>
            <a:picLocks noChangeAspect="1"/>
          </p:cNvPicPr>
          <p:nvPr/>
        </p:nvPicPr>
        <p:blipFill>
          <a:blip r:embed="rId10"/>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SQL Server identity</a:t>
            </a:r>
            <a:endParaRPr lang="en-US" sz="1400" dirty="0"/>
          </a:p>
          <a:p>
            <a:pPr marL="0" indent="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Laptop"/>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C:\Users\whale\git\uiao\inbox\SSA-Interview\build\icons\FaLaptop.png"/>
          <p:cNvPicPr>
            <a:picLocks noChangeAspect="1"/>
          </p:cNvPicPr>
          <p:nvPr/>
        </p:nvPicPr>
        <p:blipFill>
          <a:blip r:embed="rId11"/>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GPO sunset to Intune and Arc</a:t>
            </a:r>
            <a:endParaRPr lang="en-US" sz="1400" dirty="0"/>
          </a:p>
          <a:p>
            <a:pPr marL="0" indent="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ShieldHalved"/>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C:\Users\whale\git\uiao\inbox\SSA-Interview\build\icons\FaShieldHalved.png"/>
          <p:cNvPicPr>
            <a:picLocks noChangeAspect="1"/>
          </p:cNvPicPr>
          <p:nvPr/>
        </p:nvPicPr>
        <p:blipFill>
          <a:blip r:embed="rId12"/>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Continuous compliance</a:t>
            </a:r>
            <a:endParaRPr lang="en-US" sz="1400" dirty="0"/>
          </a:p>
          <a:p>
            <a:pPr marL="0" indent="0">
              <a:spcAft>
                <a:spcPts val="300"/>
              </a:spcAft>
              <a:buNone/>
            </a:pPr>
            <a:r>
              <a:rPr lang="en-US" sz="1350" dirty="0">
                <a:solidFill>
                  <a:schemeClr val="tx2"/>
                </a:solidFill>
              </a:rPr>
              <a:t>SCuBA baselines, BOD 25-01, FedRAMP 20x</a:t>
            </a:r>
            <a:endParaRPr lang="en-US" sz="1400" dirty="0"/>
          </a:p>
        </p:txBody>
      </p:sp>
      <p:sp>
        <p:nvSpPr>
          <p:cNvPr id="35" name="Teaser companions"/>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marL="0" indent="0">
              <a:buNone/>
            </a:pPr>
            <a:r>
              <a:rPr lang="en-US" sz="1450" b="1" dirty="0">
                <a:solidFill>
                  <a:srgbClr val="1F2A44"/>
                </a:solidFill>
              </a:rPr>
              <a:t>Companion decks: </a:t>
            </a:r>
            <a:r>
              <a:rPr lang="en-US" sz="1450" b="1" dirty="0">
                <a:solidFill>
                  <a:schemeClr val="tx2"/>
                </a:solidFill>
              </a:rPr>
              <a:t>Contractor Identity Source</a:t>
            </a:r>
            <a:r>
              <a:rPr lang="en-US" sz="1450" dirty="0">
                <a:solidFill>
                  <a:schemeClr val="tx2"/>
                </a:solidFill>
              </a:rPr>
              <a:t> (who is authoritative for a contractor)  ·  </a:t>
            </a:r>
            <a:r>
              <a:rPr lang="en-US" sz="1450" b="1" dirty="0">
                <a:solidFill>
                  <a:schemeClr val="tx2"/>
                </a:solidFill>
              </a:rPr>
              <a:t>Original HR-Driven Identity</a:t>
            </a:r>
            <a:r>
              <a:rPr lang="en-US" sz="1450" dirty="0">
                <a:solidFill>
                  <a:schemeClr val="tx2"/>
                </a:solidFill>
              </a:rPr>
              <a:t> (full model, lifecycle, plan)</a:t>
            </a:r>
            <a:endParaRPr lang="en-US" sz="1450" dirty="0"/>
          </a:p>
        </p:txBody>
      </p:sp>
      <p:sp>
        <p:nvSpPr>
          <p:cNvPr id="37" name="Teaser foote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marL="0" indent="0">
              <a:buNone/>
            </a:pPr>
            <a:r>
              <a:rPr lang="en-US" sz="1500" b="1" dirty="0">
                <a:solidFill>
                  <a:srgbClr val="B45309"/>
                </a:solidFill>
              </a:rPr>
              <a:t>Also: </a:t>
            </a:r>
            <a:r>
              <a:rPr lang="en-US" sz="1500" dirty="0">
                <a:solidFill>
                  <a:schemeClr val="tx2"/>
                </a:solidFill>
              </a:rPr>
              <a:t>Zero Trust whole-agency unification · AI identity governance · help desk Entra operations</a:t>
            </a:r>
            <a:endParaRPr lang="en-US" sz="15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40" name="Narration">
            <a:hlinkClick r:id="" action="ppaction://media"/>
            <a:extLst>
              <a:ext uri="{FF2B5EF4-FFF2-40B4-BE49-F238E27FC236}">
                <a16:creationId xmlns:a16="http://schemas.microsoft.com/office/drawing/2014/main" id="{A4D6662C-31CD-1810-5A99-AD95CD839159}"/>
              </a:ext>
            </a:extLst>
          </p:cNvPr>
          <p:cNvPicPr>
            <a:picLocks noChangeAspect="1"/>
          </p:cNvPicPr>
          <p:nvPr>
            <a:audioFile r:link="rId2"/>
            <p:extLst>
              <p:ext uri="{DAA4B4D4-6D71-4841-9C94-3DE7FCFB9230}">
                <p14:media xmlns:p14="http://schemas.microsoft.com/office/powerpoint/2010/main" r:embed="rId1"/>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00"/>
    </mc:Choice>
    <mc:Fallback>
      <p:transition spd="slow" advTm="5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96"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5261</Words>
  <Application>Microsoft Office PowerPoint</Application>
  <PresentationFormat>Widescreen</PresentationFormat>
  <Paragraphs>367</Paragraphs>
  <Slides>16</Slides>
  <Notes>16</Notes>
  <HiddenSlides>0</HiddenSlides>
  <MMClips>16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Cambria</vt:lpstr>
      <vt:lpstr>Consolas</vt:lpstr>
      <vt:lpstr>HR-Driven Identity</vt:lpstr>
      <vt:lpstr>HR-Driven Identity Modernization</vt:lpstr>
      <vt:lpstr>Use the onboarding window to design HR-driven identity</vt:lpstr>
      <vt:lpstr>Why we need HR-driven ICAM now</vt:lpstr>
      <vt:lpstr>The everyday impact of manually provisioned ICAM</vt:lpstr>
      <vt:lpstr>The window closes at the agency’s interconnection go-live</vt:lpstr>
      <vt:lpstr>Drive identity from OPM’s standard HR data</vt:lpstr>
      <vt:lpstr>Proposed identity interpretation of OPM nature-of-action families</vt:lpstr>
      <vt:lpstr>Model the person, not the account: layered identifiers</vt:lpstr>
      <vt:lpstr>Proposed physical mapping: HR to Entra ID and AD</vt:lpstr>
      <vt:lpstr>Logical architecture and Microsoft realization</vt:lpstr>
      <vt:lpstr>ICAM: attributes drive credentials, assurance and access</vt:lpstr>
      <vt:lpstr>Privacy by design: HR data in identity is a disclosure</vt:lpstr>
      <vt:lpstr>The governance I’d bring to deliver it safely</vt:lpstr>
      <vt:lpstr>A reusable HR-driven ICAM model for interagency evaluation</vt:lpstr>
      <vt:lpstr>Roadmap and the ask</vt:lpstr>
      <vt:lpstr>More modernizations I’ve designed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Michael Stratton</cp:lastModifiedBy>
  <cp:revision>2</cp:revision>
  <dcterms:created xsi:type="dcterms:W3CDTF">2026-10-20T23:05:25Z</dcterms:created>
  <dcterms:modified xsi:type="dcterms:W3CDTF">2026-10-20T23:16:24Z</dcterms:modified>
</cp:coreProperties>
</file>