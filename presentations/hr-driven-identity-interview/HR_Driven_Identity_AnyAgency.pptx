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sis" id="{3d600ff1-e064-2ca8-1311-871e3316b19c}">
          <p14:sldIdLst>
            <p14:sldId id="256"/>
            <p14:sldId id="257"/>
            <p14:sldId id="258"/>
            <p14:sldId id="259"/>
            <p14:sldId id="260"/>
          </p14:sldIdLst>
        </p14:section>
        <p14:section name="The data" id="{2231609d-f9ec-9c53-f42d-423399b8a0aa}">
          <p14:sldIdLst>
            <p14:sldId id="261"/>
            <p14:sldId id="262"/>
            <p14:sldId id="263"/>
            <p14:sldId id="264"/>
          </p14:sldIdLst>
        </p14:section>
        <p14:section name="Identity and ICAM" id="{3cbdb440-b8e1-8437-1bc4-b6b002f554a1}">
          <p14:sldIdLst>
            <p14:sldId id="265"/>
            <p14:sldId id="266"/>
            <p14:sldId id="267"/>
          </p14:sldIdLst>
        </p14:section>
        <p14:section name="Delivery" id="{9d518470-f160-b170-1844-3e1ff983573c}">
          <p14:sldIdLst>
            <p14:sldId id="268"/>
            <p14:sldId id="269"/>
            <p14:sldId id="270"/>
          </p14:sldIdLst>
        </p14:section>
        <p14:section name="Beyond" id="{95fdccde-50a5-bf23-1464-03a6c819c647}">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Good morning, and thank you.
I want to make one proposal.
Based on current visibility, many agencies do not operate a comprehensive enterprise HR-driven identity lifecycle. In the processes I have observed, many workforce identity changes in Active Directory and Entra ID, and the access and credentials that hang off them, remain dependent on tickets or manual coordination.
Two changes are coming regardless: Federal HR 2.0 moves each agency's HR onto Oracle Core HCM in waves, and current planning assumes onboarding through 2027; agency identity is moving from Active Directory toward Entra ID. My proposal is to use the two together to start HR-driven identity — HR, through OPM's standard personnel data, as the source of authority for Entra ID, Active Directory and the rest of ICAM. That's Microsoft's own term: HR-driven provisioning.
Workbook: HR-Driven Identity, Chapter 00 — Overview and Applicability: The proposal; Why now; Why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[0:55–1:48]  The thesis in one slide.
On the left, two migrations that happen regardless: HR moves to Core HCM, and identity moves from Active Directory toward Entra ID. Meanwhile, the enterprise lifecycle remains substantially manual and fragmented.
In the middle, what OPM leaves to us. OPM fixes the HR side; how the agency's directories and ICAM consume that data is the agency's decision. And the solicitation requires SCIM 2.0 provisioning — exactly what Entra ID consumes.
On the right, the proposal: start HR-driven identity, with HR as the source of authority, expressed in OPM's standard attributes.
So the real choice is: carry ticket-driven identity through both migrations, or start HR-driven identity once, while both platforms are being rebuilt anyway.
Workbook: HR-Driven Identity, Chapter 00 — The proposal; Chapter 02 —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[1:48–3:09]  Why we need HR-driven ICAM at all — and why now.
Zero Trust is federal strategy — OMB M-22-09, with NIST SP 800-207 as the architecture and CISA's maturity model as the yardstick. SASE is one way these controls can be delivered near users and cloud resources, which TIC 3.0 opens up for agencies, instead of only at our network perimeter. Reliable ICAM supplies critical identity signals to those decisions: the user presents a token from a PIV card or phishing-resistant MFA, and Entra ID decides access through Conditional Access and dynamic groups that read the user's attributes.
In the perimeter era, a wrong department meant a wrong phone-book entry. Now it means the wrong groups, and so the wrong access — and a stale status is worse than ever. In the perimeter era an orphaned account was already a standing security violation that could enable a breach. Now it's a valid token for someone who has left, usable from anywhere, because there is no perimeter left to stop it. When access decisions depend on attributes, the accuracy of employee data drives the accuracy of access.
Workbook: HR-Driven Identity, Chapter 01 — Why the agency needs HR-driven ICAM now; Chapter 08 — The derivation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[3:09–4:11]  Why this matters to everyone who works in an agency.
In many agencies Active Directory feeds the phone book, and nothing feeds Active Directory from HR. Titles, offices, phone numbers and managers stay wrong until someone notices and files a ticket.
And every time someone changes management, their organization, their manager and their access to tools have to be updated by hand, after the fact, by ticket.
HR already knows all of it. With HR-driven IT, the personnel action that records the reassignment updates the organization and manager in Entra ID and Active Directory, and the phone book, the approval chain and tool access follow from the authoritative source — instead of each person, and the help desk, keeping them current by hand.
Workbook: HR-Driven Identity, Chapter 01 — What HR-driven provisioning means; Chapter 08 — Access packages and access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[4:11–5:18]  The window.
The December 10, 2025 OMB/OPM memo directs one government-wide Core HCM platform. Oracle Fusion Cloud HCM was awarded June 11, 2026. First go-lives are January to March 2027. Current planning, based on published Federal HR 2.0 material, has Wave 2 agencies following in fiscal 2027; agency-specific milestones are confirmed with the program office. Program material describes interconnections occurring during the onboarding period, and for an agency not yet on the platform, that onboarding still lies ahead. By fiscal 2028 EHRI and eOPF are decommissioned.
I'd describe that not as a deadline but as a window. Inside it, the data standards, the cleanup, the interconnection design — and, on our side, the Entra ID migration plan — are all being decided, and an HR-driven identity feed can be written into them. After it closes, both migrations finish with ticket-driven identity carried forward, and adding HR-driven identity later means reopening both.
(Verify the agency's onboarding dates before presenting.)
Workbook: HR-Driven Identity, Chapter 02 — The program facts;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[5:18–6:49]  This is the heart of the proposal, and it's the programmatic data knowledge.
OPM already defines the personnel data every agency records. Agency and subelement give the legal employer and component. Duty station is the location of record. Series, pay plan and grade give a position category for role-based access. Supervisory status tells us who can approve and review. Tenure and appointment type drive the worker type. And the nature-of-action code, with its effective date, tells us what just happened — next slide.
Why build on OPM's standard rather than on Oracle's field names? Because OPM standards provide a common federal vocabulary that agencies can map into a shared canonical model. We map them to Entra ID and AD once, for every employee population — and if the HR vendor ever changes, the mapping still holds.
One honest limit: HRIT covers federal employees only. In the processes I have observed, contractors and vendors are tracked in COR spreadsheets. A contractor authority decision is required, and I propose evaluating three candidate sources: Core HCM's Contingent Worker type — a person record, an assignment and a lifecycle much like an employee's, though with no vendor-management layer; PIV sponsorship; and a contractor suitability register, which ties each contractor to an agency contract with a suitability decision. That's a decision to put in front of the program early.
(Confirm element names against OPM's current data standards.)
Workbook: HR-Driven Identity, Chapter 05 — The standard-attribute layer; Contractors and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[6:49–7:43]  Personnel actions can initiate the lifecycle, after their identity interpretations and exceptions are approved.
For federal employees, every personnel action carries a nature-of-action code, and I propose mapping the families to identity events: the 100 series are joiners, the 700 series movers, the 500 series conversions, the 300 series separations. Contractors have no SF-50; their events come from contract start and end dates.
Two families matter more than people expect. The 400 series — furlough, leave without pay, suspension — is not a leaver; the person is still employed and policy restricts the account. The 200 series, return to duty, lifts those restrictions. Getting this wrong either locks out people on leave or leaves access open for people who've left.
The codes also settle precedence — a separation wins — and rescinded offers. HR, security, labor-relations, privacy, and personnel-policy owners would validate the mappings, exceptions, precedence rules, and actions before automation.
Workbook: HR-Driven Identity, Chapter 06 — Personnel actions are the triggers; Appendix A — Lifecycle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[7:43–8:48]  Identifiers are where data architecture earns its keep.
A common design says the employee ID is the person, for life. It breaks the moment the source changes, a contractor converts, or someone is rehired. So I model identifiers in layers: an enterprise person key the agency controls; a source key per HR system; an affiliation key per employment or contract; a directory ID per account; and credential identifiers per PIV or certificate.
The person is the tracked entity, not the account. That's what survives rehire, conversion and reorganization. And many agencies already have a strong candidate — for example, a Mainframe PIN that already serves as the person ID and employee ID. I propose it for confirmation as the enterprise person key; adoption requires validating its uniqueness, persistence, non-reassignment, population coverage, privacy constraints and historical behavior. Once it's confirmed, map Core HCM's PersonNumber to it — so when the agency moves to Core HCM, only the source key changes, and nothing downstream has to.
Workbook: HR-Driven Identity, Chapter 03 — One person, layered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[8:48–9:39]  Logical and physical modeling, following the data from HR to ICAM.
In the middle is the logical model: a person with an enterprise key the agency controls — their assignments, and the lifecycle events that change them. On the left, the OPM element that feeds each field; then where it lands in Entra ID and Active Directory; and on the right, what ICAM does with it — component scope, location policy, role-based access, approvals, and the joiner, mover and leaver actions, including PIV.
Three physical rules: native attributes first; codes, never display strings, in anything that grants access; and one governed crosswalk as the only place mappings live.
Workbook: HR-Driven Identity, Chapter 05 — The standard-attribute layer;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[9:39–10:27]  Logical architecture and Microsoft realization.
The top row is the architecture, and it's stable: an authoritative source, a boundary transformation, the governed identity model, a provisioning service, and the targets and ICAM. The bottom row is how Microsoft realizes it today: Oracle Core HCM, Azure Functions, the canonical model and provenance store, Graph and the Entra provisioning service, then Entra ID, AD, Intune and card management. Products in the bottom row can change; the top row doesn't.
The table is why the two migrations belong together. Done separately, the Entra ID migration moves ticket-created accounts as they are. Done together, each population arrives in Entra ID already HR-sourced.
Workbook: HR-Driven Identity, Chapter 04 — Logical architecture and Microsoft realization; Two landing zones; Over the Entra ID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[10:27–11:23]  ICAM — beyond accounts.
Credentials: the joiner event schedules PIV enrollment. The leaver event blocks sign-in and revokes sessions first — Microsoft's documented order, and the step that closes certificate sign-in immediately rather than at the next revocation-list refresh — then revokes PIV, derived credentials and device certificates in parallel, reconciled to completion.
Assurance: record each person's proofing level and authenticator assurance as governed attributes, treat missing proofing evidence as a finding, and enforce phishing-resistant MFA under M-22-09.
Access: baseline access derived by rule from the standard attributes; position attributes scoping candidates for privileged eligibility, with explicit approval and PIM still required; and any activity from a separated person is an alert.
The result: every entitlement has a "because" — a rule, an attribute, and the personnel action that set it.
Workbook: HR-Driven Identity, Chapter 07 — The canonical leaver sequence; Assurance as data; Chapter 08 — Where dynamic membership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[11:23–12:23]  Privacy — which is where a data architect earns trust with HR.
Moving HR attributes into a directory is a disclosure of personnel records. So: confirm the routine-use basis under the governing system-of-records notices — OPM/GOVT-1 for general personnel records, plus the agency's own — before anything flows. Minimize: send only attributes an identity decision actually reads, as codes rather than narrative, and never use the SSN as a join key. Update the privacy impact assessment for the new flow and its consumers. And protect the flow: encrypt every leg, and keep logs to the person key and a payload hash rather than the record itself.
The principle underneath: HR remains the system of records; identity is a governed consumer that never writes an HR-mastered fact back.
(Confirm the applicable SORNs and routine uses with the agency's privacy office.)
Workbook: HR-Driven Identity, Chapter 03 — Privacy: identity is a routine-use consumer; Appendix B — Security and Privacy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[12:23–13:10]  The governance I'd bring to deliver it safely.
The data foundation first: an authority map with one owner per attribute, and an enterprise person key the agency controls. A security assessment of the data flow. An acceptance gate with a signed validation before cutover. And a cutover that proves HR is the sole source for a population before the ticket path closes for it.
Then the operating rules on the bottom row, from lifecycle rules through change control.
Together that produces evidence for AC-2, PS-4, PS-5, IA-4 and SI-12 as a byproduct of operating — supporting those controls, not claiming to close them on its own.
Workbook: HR-Driven Identity, Chapter 09 — Drift, Metrics and Evidence; Chapter 10 — Execution Plan; Appendices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[13:10–13:58]  One standard, shared across agencies.
Participating civilian agencies are moving toward shared Core HCM capabilities and common federal personnel standards. If one agency defines HR-driven ICAM as a standard — crosswalk, canonical model, identifiers and evidence — other agencies can reuse it instead of building their own. And attributes that mean the same thing everywhere make details, transfers, shared services and cross-agency access easier.
That's the work an enterprise data architect does: working the issues with other agencies and industry, developing options and predicting their impact, and serving as the data expert on interagency committees and working groups. The goal: offer the model for interagency evaluation and reuse.
Workbook: HR-Driven Identity, Chapter 02 — Federal HR 2.0; Chapter 05 — The standard-attribute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[13:58–14:53]  The roadmap and the ask.
Now: align with the agency's HR 2.0 team so identity is a named consumer of the interconnection. Before onboarding: the crosswalk, authority map, contractor source and privacy basis. Then build and prove in shadow mode, cut each population over as it moves to Entra ID, and sustain it with metrics.
So the ask is simple: decide now to start HR-driven identity, and build it into both the HR 2.0 onboarding and the Entra ID migration — so that Zero Trust and SASE decide access on accurate data.
My contribution as an enterprise data architect: establish authority, identifiers, standards, lineage and evidence, so workforce events produce measurable identity outcomes.
Thank you — I look forward to your questions.
[Stop by 15:00.]
Workbook: HR-Driven Identity, Chapter 10 — Execution Plan; Appendix C — Acceptance and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over the last several years: Entra ID migration, next-generation DNS and IP address management, field office WAN and data-center consolidation, the TIC 3.0 Cloud and Branch Office cases,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Two companion decks go deeper on this one: the Contractor Identity Source deck, on who is authoritative for a contractor, and the original HR-Driven Identity deck, with the full model, lifecycle and plan.
Workbook: HR-Driven Identity, the same site's Whitepapers, Next-Generation DDI, Client-Server to Hybrid Cloud and Operational Guides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HR-Driven Identity  ·  Mike Stratton  ·  Any Agency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lIns="0" tIns="0" rIns="0" bIns="0" rtlCol="0" anchor="t"/>
          <a:lstStyle/>
          <a:p>
            <a:pPr indent="0" marL="0">
              <a:buNone/>
            </a:pPr>
            <a:r>
              <a:rPr lang="en-US" sz="2200" dirty="0">
                <a:solidFill>
                  <a:schemeClr val="accent2"/>
                </a:solidFill>
              </a:rPr>
              <a:t>An Enterprise Data Architecture Case Study</a:t>
            </a:r>
            <a:endParaRPr lang="en-US" sz="2200" dirty="0"/>
          </a:p>
        </p:txBody>
      </p:sp>
      <p:sp>
        <p:nvSpPr>
          <p:cNvPr id="4" name="Thesis line"/>
          <p:cNvSpPr txBox="1"/>
          <p:nvPr/>
        </p:nvSpPr>
        <p:spPr>
          <a:xfrm>
            <a:off x="731520" y="4069080"/>
            <a:ext cx="5852160" cy="822960"/>
          </a:xfrm>
          <a:prstGeom prst="rect">
            <a:avLst/>
          </a:prstGeom>
          <a:noFill/>
          <a:ln/>
        </p:spPr>
        <p:txBody>
          <a:bodyPr wrap="square" lIns="0" tIns="0" rIns="0" bIns="0" rtlCol="0" anchor="t"/>
          <a:lstStyle/>
          <a:p>
            <a:pPr indent="0" marL="0">
              <a:buNone/>
            </a:pPr>
            <a:r>
              <a:rPr lang="en-US" sz="1600" dirty="0">
                <a:solidFill>
                  <a:srgbClr val="334155"/>
                </a:solidFill>
              </a:rPr>
              <a:t>Using Federal HR 2.0 and the Entra ID migration to start HR-driven Entra ID, Active Directory and ICAM on OPM standard attributes</a:t>
            </a:r>
            <a:endParaRPr lang="en-US" sz="16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indent="0" marL="0">
              <a:buNone/>
            </a:pPr>
            <a:r>
              <a:rPr lang="en-US" sz="1600" b="1" dirty="0">
                <a:solidFill>
                  <a:srgbClr val="1F2A44"/>
                </a:solidFill>
              </a:rPr>
              <a:t>Michael F. Stratton</a:t>
            </a:r>
            <a:endParaRPr lang="en-US" sz="1600" dirty="0"/>
          </a:p>
          <a:p>
            <a:pPr indent="0" marL="0">
              <a:buNone/>
            </a:pPr>
            <a:r>
              <a:rPr lang="en-US" sz="1600" dirty="0">
                <a:solidFill>
                  <a:srgbClr val="64748B"/>
                </a:solidFill>
              </a:rPr>
              <a:t>Enterprise data architecture  ·  Digital identity modernization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Use the onboarding window to design HR-driven identity</a:t>
            </a:r>
            <a:endParaRPr lang="en-US" sz="3000" dirty="0"/>
          </a:p>
        </p:txBody>
      </p:sp>
      <p:sp>
        <p:nvSpPr>
          <p:cNvPr id="3" name="Two migrations, regardless card" descr="">
            <a:extLst>
              <a:ext uri="{C183D7F6-B498-43B3-948B-1728B52AA6E4}">
                <adec:decorative xmlns:adec="http://schemas.microsoft.com/office/drawing/2017/decorative" val="1"/>
              </a:ext>
            </a:extLst>
          </p:cNvPr>
          <p:cNvSpPr/>
          <p:nvPr/>
        </p:nvSpPr>
        <p:spPr>
          <a:xfrm>
            <a:off x="548640" y="1417320"/>
            <a:ext cx="3611880" cy="3063240"/>
          </a:xfrm>
          <a:prstGeom prst="roundRect">
            <a:avLst>
              <a:gd name="adj" fmla="val 238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ArrowsRotate" descr="">
            <a:extLst>
              <a:ext uri="{C183D7F6-B498-43B3-948B-1728B52AA6E4}">
                <adec:decorative xmlns:adec="http://schemas.microsoft.com/office/drawing/2017/decorative" val="1"/>
              </a:ext>
            </a:extLst>
          </p:cNvPr>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8914" y="1750162"/>
            <a:ext cx="285293" cy="285293"/>
          </a:xfrm>
          <a:prstGeom prst="rect">
            <a:avLst/>
          </a:prstGeom>
        </p:spPr>
      </p:pic>
      <p:sp>
        <p:nvSpPr>
          <p:cNvPr id="6" name="Two migrations, regardles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Two migrations, regardless</a:t>
            </a:r>
            <a:endParaRPr lang="en-US" sz="1800" dirty="0"/>
          </a:p>
        </p:txBody>
      </p:sp>
      <p:sp>
        <p:nvSpPr>
          <p:cNvPr id="7" name="Two migrations, regardless text"/>
          <p:cNvSpPr txBox="1"/>
          <p:nvPr/>
        </p:nvSpPr>
        <p:spPr>
          <a:xfrm>
            <a:off x="77724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HR moves to Core HCM: new interconnections, cleaned data</a:t>
            </a:r>
            <a:endParaRPr lang="en-US" sz="1550" dirty="0"/>
          </a:p>
          <a:p>
            <a:pPr marL="342900" indent="-342900">
              <a:spcAft>
                <a:spcPts val="500"/>
              </a:spcAft>
              <a:buSzPct val="100000"/>
              <a:buChar char="•"/>
            </a:pPr>
            <a:r>
              <a:rPr lang="en-US" sz="1550" dirty="0">
                <a:solidFill>
                  <a:schemeClr val="tx2"/>
                </a:solidFill>
              </a:rPr>
              <a:t>Identity moves from AD toward Entra ID</a:t>
            </a:r>
            <a:endParaRPr lang="en-US" sz="1550" dirty="0"/>
          </a:p>
          <a:p>
            <a:pPr marL="342900" indent="-342900">
              <a:spcAft>
                <a:spcPts val="500"/>
              </a:spcAft>
              <a:buSzPct val="100000"/>
              <a:buChar char="•"/>
            </a:pPr>
            <a:r>
              <a:rPr lang="en-US" sz="1550" dirty="0">
                <a:solidFill>
                  <a:schemeClr val="tx2"/>
                </a:solidFill>
              </a:rPr>
              <a:t>Today: lifecycle substantially manual; many changes ticket-dependent</a:t>
            </a:r>
            <a:endParaRPr lang="en-US" sz="1550" dirty="0"/>
          </a:p>
        </p:txBody>
      </p:sp>
      <p:sp>
        <p:nvSpPr>
          <p:cNvPr id="8" name="The agency’s call card" descr="">
            <a:extLst>
              <a:ext uri="{C183D7F6-B498-43B3-948B-1728B52AA6E4}">
                <adec:decorative xmlns:adec="http://schemas.microsoft.com/office/drawing/2017/decorative" val="1"/>
              </a:ext>
            </a:extLst>
          </p:cNvPr>
          <p:cNvSpPr/>
          <p:nvPr/>
        </p:nvSpPr>
        <p:spPr>
          <a:xfrm>
            <a:off x="4297680" y="1417320"/>
            <a:ext cx="3611880" cy="3063240"/>
          </a:xfrm>
          <a:prstGeom prst="roundRect">
            <a:avLst>
              <a:gd name="adj" fmla="val 238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Landmark" descr="">
            <a:extLst>
              <a:ext uri="{C183D7F6-B498-43B3-948B-1728B52AA6E4}">
                <adec:decorative xmlns:adec="http://schemas.microsoft.com/office/drawing/2017/decorative" val="1"/>
              </a:ext>
            </a:extLst>
          </p:cNvPr>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57954" y="1750162"/>
            <a:ext cx="285293" cy="285293"/>
          </a:xfrm>
          <a:prstGeom prst="rect">
            <a:avLst/>
          </a:prstGeom>
        </p:spPr>
      </p:pic>
      <p:sp>
        <p:nvSpPr>
          <p:cNvPr id="11" name="The agency’s call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The agency’s call</a:t>
            </a:r>
            <a:endParaRPr lang="en-US" sz="1800" dirty="0"/>
          </a:p>
        </p:txBody>
      </p:sp>
      <p:sp>
        <p:nvSpPr>
          <p:cNvPr id="12" name="The agency’s call text"/>
          <p:cNvSpPr txBox="1"/>
          <p:nvPr/>
        </p:nvSpPr>
        <p:spPr>
          <a:xfrm>
            <a:off x="452628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OPM fixes the HR side: platform, waves, interfaces</a:t>
            </a:r>
            <a:endParaRPr lang="en-US" sz="1550" dirty="0"/>
          </a:p>
          <a:p>
            <a:pPr marL="342900" indent="-342900">
              <a:spcAft>
                <a:spcPts val="500"/>
              </a:spcAft>
              <a:buSzPct val="100000"/>
              <a:buChar char="•"/>
            </a:pPr>
            <a:r>
              <a:rPr lang="en-US" sz="1550" dirty="0">
                <a:solidFill>
                  <a:schemeClr val="tx2"/>
                </a:solidFill>
              </a:rPr>
              <a:t>The agency’s directory and ICAM design is its own decision</a:t>
            </a:r>
            <a:endParaRPr lang="en-US" sz="1550" dirty="0"/>
          </a:p>
          <a:p>
            <a:pPr marL="342900" indent="-342900">
              <a:spcAft>
                <a:spcPts val="500"/>
              </a:spcAft>
              <a:buSzPct val="100000"/>
              <a:buChar char="•"/>
            </a:pPr>
            <a:r>
              <a:rPr lang="en-US" sz="1550" dirty="0">
                <a:solidFill>
                  <a:schemeClr val="tx2"/>
                </a:solidFill>
              </a:rPr>
              <a:t>The solicitation requires SCIM 2.0 provisioning — the protocol Entra ID consumes</a:t>
            </a:r>
            <a:endParaRPr lang="en-US" sz="1550" dirty="0"/>
          </a:p>
        </p:txBody>
      </p:sp>
      <p:sp>
        <p:nvSpPr>
          <p:cNvPr id="13" name="The proposal card" descr="">
            <a:extLst>
              <a:ext uri="{C183D7F6-B498-43B3-948B-1728B52AA6E4}">
                <adec:decorative xmlns:adec="http://schemas.microsoft.com/office/drawing/2017/decorative" val="1"/>
              </a:ext>
            </a:extLst>
          </p:cNvPr>
          <p:cNvSpPr/>
          <p:nvPr/>
        </p:nvSpPr>
        <p:spPr>
          <a:xfrm>
            <a:off x="8046720" y="1417320"/>
            <a:ext cx="3611880" cy="3063240"/>
          </a:xfrm>
          <a:prstGeom prst="roundRect">
            <a:avLst>
              <a:gd name="adj" fmla="val 238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Lightbulb" descr="">
            <a:extLst>
              <a:ext uri="{C183D7F6-B498-43B3-948B-1728B52AA6E4}">
                <adec:decorative xmlns:adec="http://schemas.microsoft.com/office/drawing/2017/decorative" val="1"/>
              </a:ext>
            </a:extLst>
          </p:cNvPr>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06994" y="1750162"/>
            <a:ext cx="285293" cy="285293"/>
          </a:xfrm>
          <a:prstGeom prst="rect">
            <a:avLst/>
          </a:prstGeom>
        </p:spPr>
      </p:pic>
      <p:sp>
        <p:nvSpPr>
          <p:cNvPr id="16" name="The proposal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The proposal</a:t>
            </a:r>
            <a:endParaRPr lang="en-US" sz="1800" dirty="0"/>
          </a:p>
        </p:txBody>
      </p:sp>
      <p:sp>
        <p:nvSpPr>
          <p:cNvPr id="17" name="The proposal text"/>
          <p:cNvSpPr txBox="1"/>
          <p:nvPr/>
        </p:nvSpPr>
        <p:spPr>
          <a:xfrm>
            <a:off x="827532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Start HR-driven identity: HR becomes the source of authority</a:t>
            </a:r>
            <a:endParaRPr lang="en-US" sz="1550" dirty="0"/>
          </a:p>
          <a:p>
            <a:pPr marL="342900" indent="-342900">
              <a:spcAft>
                <a:spcPts val="500"/>
              </a:spcAft>
              <a:buSzPct val="100000"/>
              <a:buChar char="•"/>
            </a:pPr>
            <a:r>
              <a:rPr lang="en-US" sz="1550" dirty="0">
                <a:solidFill>
                  <a:schemeClr val="tx2"/>
                </a:solidFill>
              </a:rPr>
              <a:t>Expressed in OPM standard attributes</a:t>
            </a:r>
            <a:endParaRPr lang="en-US" sz="1550" dirty="0"/>
          </a:p>
          <a:p>
            <a:pPr marL="342900" indent="-342900">
              <a:spcAft>
                <a:spcPts val="500"/>
              </a:spcAft>
              <a:buSzPct val="100000"/>
              <a:buChar char="•"/>
            </a:pPr>
            <a:r>
              <a:rPr lang="en-US" sz="1550" dirty="0">
                <a:solidFill>
                  <a:schemeClr val="tx2"/>
                </a:solidFill>
              </a:rPr>
              <a:t>Driving Entra ID, AD and ICAM by rule, with evidence</a:t>
            </a:r>
            <a:endParaRPr lang="en-US" sz="1550" dirty="0"/>
          </a:p>
        </p:txBody>
      </p:sp>
      <p:sp>
        <p:nvSpPr>
          <p:cNvPr id="18" name="Choice" descr="">
            <a:extLst>
              <a:ext uri="{C183D7F6-B498-43B3-948B-1728B52AA6E4}">
                <adec:decorative xmlns:adec="http://schemas.microsoft.com/office/drawing/2017/decorative" val="1"/>
              </a:ext>
            </a:extLst>
          </p:cNvPr>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Choice text"/>
          <p:cNvSpPr txBox="1"/>
          <p:nvPr/>
        </p:nvSpPr>
        <p:spPr>
          <a:xfrm>
            <a:off x="868680" y="4754880"/>
            <a:ext cx="10515600" cy="1051560"/>
          </a:xfrm>
          <a:prstGeom prst="rect">
            <a:avLst/>
          </a:prstGeom>
          <a:noFill/>
          <a:ln/>
        </p:spPr>
        <p:txBody>
          <a:bodyPr wrap="square" lIns="0" tIns="0" rIns="0" bIns="0" rtlCol="0" anchor="ctr"/>
          <a:lstStyle/>
          <a:p>
            <a:pPr indent="0" marL="0">
              <a:buNone/>
            </a:pPr>
            <a:r>
              <a:rPr lang="en-US" sz="1800" b="1" dirty="0">
                <a:solidFill>
                  <a:srgbClr val="B45309"/>
                </a:solidFill>
              </a:rPr>
              <a:t>The choice: </a:t>
            </a:r>
            <a:pPr indent="0" marL="0">
              <a:buNone/>
            </a:pPr>
            <a:r>
              <a:rPr lang="en-US" sz="1800" dirty="0">
                <a:solidFill>
                  <a:schemeClr val="tx2"/>
                </a:solidFill>
              </a:rPr>
              <a:t>carry ticket-driven identity through both migrations — or use them to start HR-driven identity, once, while both platforms are being rebuilt anyway.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Why we need HR-driven ICAM now</a:t>
            </a:r>
            <a:endParaRPr lang="en-US" sz="3000" dirty="0"/>
          </a:p>
        </p:txBody>
      </p:sp>
      <p:sp>
        <p:nvSpPr>
          <p:cNvPr id="3" name="Chain 1" descr="">
            <a:extLst>
              <a:ext uri="{C183D7F6-B498-43B3-948B-1728B52AA6E4}">
                <adec:decorative xmlns:adec="http://schemas.microsoft.com/office/drawing/2017/decorative" val="1"/>
              </a:ext>
            </a:extLst>
          </p:cNvPr>
          <p:cNvSpPr/>
          <p:nvPr/>
        </p:nvSpPr>
        <p:spPr>
          <a:xfrm>
            <a:off x="548640" y="1371600"/>
            <a:ext cx="2468880" cy="1691640"/>
          </a:xfrm>
          <a:prstGeom prst="roundRect">
            <a:avLst>
              <a:gd name="adj" fmla="val 4324"/>
            </a:avLst>
          </a:prstGeom>
          <a:solidFill>
            <a:srgbClr val="E9EEF4"/>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4" name="Chain 1 text"/>
          <p:cNvSpPr txBox="1"/>
          <p:nvPr/>
        </p:nvSpPr>
        <p:spPr>
          <a:xfrm>
            <a:off x="73152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64748B"/>
                </a:solidFill>
              </a:rPr>
              <a:t>THE STRATEGY</a:t>
            </a:r>
            <a:endParaRPr lang="en-US" sz="1400" dirty="0"/>
          </a:p>
          <a:p>
            <a:pPr indent="0" marL="0">
              <a:spcAft>
                <a:spcPts val="400"/>
              </a:spcAft>
              <a:buNone/>
            </a:pPr>
            <a:r>
              <a:rPr lang="en-US" sz="1900" b="1" dirty="0">
                <a:solidFill>
                  <a:srgbClr val="64748B"/>
                </a:solidFill>
                <a:latin typeface="Cambria" pitchFamily="34" charset="0"/>
                <a:ea typeface="Cambria" pitchFamily="34" charset="-122"/>
                <a:cs typeface="Cambria" pitchFamily="34" charset="-120"/>
              </a:rPr>
              <a:t>Zero Trust</a:t>
            </a:r>
            <a:endParaRPr lang="en-US" sz="1400" dirty="0"/>
          </a:p>
          <a:p>
            <a:pPr indent="0" marL="0">
              <a:spcAft>
                <a:spcPts val="400"/>
              </a:spcAft>
              <a:buNone/>
            </a:pPr>
            <a:r>
              <a:rPr lang="en-US" sz="1350" dirty="0">
                <a:solidFill>
                  <a:schemeClr val="tx2"/>
                </a:solidFill>
              </a:rPr>
              <a:t>OMB M‑22‑09 · NIST SP 800‑207 · CISA ZTMM</a:t>
            </a:r>
            <a:endParaRPr lang="en-US" sz="1400" dirty="0"/>
          </a:p>
        </p:txBody>
      </p:sp>
      <p:sp>
        <p:nvSpPr>
          <p:cNvPr id="5" name="Chain 2" descr="">
            <a:extLst>
              <a:ext uri="{C183D7F6-B498-43B3-948B-1728B52AA6E4}">
                <adec:decorative xmlns:adec="http://schemas.microsoft.com/office/drawing/2017/decorative" val="1"/>
              </a:ext>
            </a:extLst>
          </p:cNvPr>
          <p:cNvSpPr/>
          <p:nvPr/>
        </p:nvSpPr>
        <p:spPr>
          <a:xfrm>
            <a:off x="3429000" y="1371600"/>
            <a:ext cx="246888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hain 2 text"/>
          <p:cNvSpPr txBox="1"/>
          <p:nvPr/>
        </p:nvSpPr>
        <p:spPr>
          <a:xfrm>
            <a:off x="361188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1F2A44"/>
                </a:solidFill>
              </a:rPr>
              <a:t>ONE DELIVERY MODEL</a:t>
            </a:r>
            <a:endParaRPr lang="en-US" sz="1400" dirty="0"/>
          </a:p>
          <a:p>
            <a:pPr indent="0" marL="0">
              <a:spcAft>
                <a:spcPts val="400"/>
              </a:spcAft>
              <a:buNone/>
            </a:pPr>
            <a:r>
              <a:rPr lang="en-US" sz="1900" b="1" dirty="0">
                <a:solidFill>
                  <a:srgbClr val="1F2A44"/>
                </a:solidFill>
                <a:latin typeface="Cambria" pitchFamily="34" charset="0"/>
                <a:ea typeface="Cambria" pitchFamily="34" charset="-122"/>
                <a:cs typeface="Cambria" pitchFamily="34" charset="-120"/>
              </a:rPr>
              <a:t>SASE</a:t>
            </a:r>
            <a:endParaRPr lang="en-US" sz="1400" dirty="0"/>
          </a:p>
          <a:p>
            <a:pPr indent="0" marL="0">
              <a:spcAft>
                <a:spcPts val="400"/>
              </a:spcAft>
              <a:buNone/>
            </a:pPr>
            <a:r>
              <a:rPr lang="en-US" sz="1350" dirty="0">
                <a:solidFill>
                  <a:schemeClr val="tx2"/>
                </a:solidFill>
              </a:rPr>
              <a:t>Zero Trust controls enforced near users and cloud resources (TIC 3.0)</a:t>
            </a:r>
            <a:endParaRPr lang="en-US" sz="1400" dirty="0"/>
          </a:p>
        </p:txBody>
      </p:sp>
      <p:sp>
        <p:nvSpPr>
          <p:cNvPr id="7" name="Chain 3" descr="">
            <a:extLst>
              <a:ext uri="{C183D7F6-B498-43B3-948B-1728B52AA6E4}">
                <adec:decorative xmlns:adec="http://schemas.microsoft.com/office/drawing/2017/decorative" val="1"/>
              </a:ext>
            </a:extLst>
          </p:cNvPr>
          <p:cNvSpPr/>
          <p:nvPr/>
        </p:nvSpPr>
        <p:spPr>
          <a:xfrm>
            <a:off x="6309360" y="1371600"/>
            <a:ext cx="246888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Chain 3 text"/>
          <p:cNvSpPr txBox="1"/>
          <p:nvPr/>
        </p:nvSpPr>
        <p:spPr>
          <a:xfrm>
            <a:off x="649224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0F766E"/>
                </a:solidFill>
              </a:rPr>
              <a:t>THE DECISION</a:t>
            </a:r>
            <a:endParaRPr lang="en-US" sz="1400" dirty="0"/>
          </a:p>
          <a:p>
            <a:pPr indent="0" marL="0">
              <a:spcAft>
                <a:spcPts val="400"/>
              </a:spcAft>
              <a:buNone/>
            </a:pPr>
            <a:r>
              <a:rPr lang="en-US" sz="1900" b="1" dirty="0">
                <a:solidFill>
                  <a:srgbClr val="0F766E"/>
                </a:solidFill>
                <a:latin typeface="Cambria" pitchFamily="34" charset="0"/>
                <a:ea typeface="Cambria" pitchFamily="34" charset="-122"/>
                <a:cs typeface="Cambria" pitchFamily="34" charset="-120"/>
              </a:rPr>
              <a:t>ICAM in Entra ID</a:t>
            </a:r>
            <a:endParaRPr lang="en-US" sz="1400" dirty="0"/>
          </a:p>
          <a:p>
            <a:pPr indent="0" marL="0">
              <a:spcAft>
                <a:spcPts val="400"/>
              </a:spcAft>
              <a:buNone/>
            </a:pPr>
            <a:r>
              <a:rPr lang="en-US" sz="1350" dirty="0">
                <a:solidFill>
                  <a:schemeClr val="tx2"/>
                </a:solidFill>
              </a:rPr>
              <a:t>Token from PIV or phishing-resistant MFA; dynamic groups read attributes</a:t>
            </a:r>
            <a:endParaRPr lang="en-US" sz="1400" dirty="0"/>
          </a:p>
        </p:txBody>
      </p:sp>
      <p:sp>
        <p:nvSpPr>
          <p:cNvPr id="9" name="Chain 4" descr="">
            <a:extLst>
              <a:ext uri="{C183D7F6-B498-43B3-948B-1728B52AA6E4}">
                <adec:decorative xmlns:adec="http://schemas.microsoft.com/office/drawing/2017/decorative" val="1"/>
              </a:ext>
            </a:extLst>
          </p:cNvPr>
          <p:cNvSpPr/>
          <p:nvPr/>
        </p:nvSpPr>
        <p:spPr>
          <a:xfrm>
            <a:off x="9189720" y="1371600"/>
            <a:ext cx="246888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Chain 4 text"/>
          <p:cNvSpPr txBox="1"/>
          <p:nvPr/>
        </p:nvSpPr>
        <p:spPr>
          <a:xfrm>
            <a:off x="937260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B45309"/>
                </a:solidFill>
              </a:rPr>
              <a:t>ACCURACY DECIDES ACCESS</a:t>
            </a:r>
            <a:endParaRPr lang="en-US" sz="1400" dirty="0"/>
          </a:p>
          <a:p>
            <a:pPr indent="0" marL="0">
              <a:spcAft>
                <a:spcPts val="400"/>
              </a:spcAft>
              <a:buNone/>
            </a:pPr>
            <a:r>
              <a:rPr lang="en-US" sz="1900" b="1" dirty="0">
                <a:solidFill>
                  <a:srgbClr val="B45309"/>
                </a:solidFill>
                <a:latin typeface="Cambria" pitchFamily="34" charset="0"/>
                <a:ea typeface="Cambria" pitchFamily="34" charset="-122"/>
                <a:cs typeface="Cambria" pitchFamily="34" charset="-120"/>
              </a:rPr>
              <a:t>Employee data</a:t>
            </a:r>
            <a:endParaRPr lang="en-US" sz="1400" dirty="0"/>
          </a:p>
          <a:p>
            <a:pPr indent="0" marL="0">
              <a:spcAft>
                <a:spcPts val="400"/>
              </a:spcAft>
              <a:buNone/>
            </a:pPr>
            <a:r>
              <a:rPr lang="en-US" sz="1350" dirty="0">
                <a:solidFill>
                  <a:schemeClr val="tx2"/>
                </a:solidFill>
              </a:rPr>
              <a:t>Organization, position, status, supervisor</a:t>
            </a:r>
            <a:endParaRPr lang="en-US" sz="1400" dirty="0"/>
          </a:p>
        </p:txBody>
      </p:sp>
      <p:sp>
        <p:nvSpPr>
          <p:cNvPr id="11" name="Shape 9" descr="">
            <a:extLst>
              <a:ext uri="{C183D7F6-B498-43B3-948B-1728B52AA6E4}">
                <adec:decorative xmlns:adec="http://schemas.microsoft.com/office/drawing/2017/decorative" val="1"/>
              </a:ext>
            </a:extLst>
          </p:cNvPr>
          <p:cNvSpPr/>
          <p:nvPr/>
        </p:nvSpPr>
        <p:spPr>
          <a:xfrm>
            <a:off x="3017520" y="2212848"/>
            <a:ext cx="411480" cy="0"/>
          </a:xfrm>
          <a:prstGeom prst="line">
            <a:avLst/>
          </a:prstGeom>
          <a:noFill/>
          <a:ln w="22225">
            <a:solidFill>
              <a:srgbClr val="64748B"/>
            </a:solidFill>
            <a:prstDash val="solid"/>
            <a:tailEnd type="triangle"/>
          </a:ln>
        </p:spPr>
      </p:sp>
      <p:sp>
        <p:nvSpPr>
          <p:cNvPr id="12" name="Shape 10" descr="">
            <a:extLst>
              <a:ext uri="{C183D7F6-B498-43B3-948B-1728B52AA6E4}">
                <adec:decorative xmlns:adec="http://schemas.microsoft.com/office/drawing/2017/decorative" val="1"/>
              </a:ext>
            </a:extLst>
          </p:cNvPr>
          <p:cNvSpPr/>
          <p:nvPr/>
        </p:nvSpPr>
        <p:spPr>
          <a:xfrm>
            <a:off x="5897880" y="2212848"/>
            <a:ext cx="411480" cy="0"/>
          </a:xfrm>
          <a:prstGeom prst="line">
            <a:avLst/>
          </a:prstGeom>
          <a:noFill/>
          <a:ln w="22225">
            <a:solidFill>
              <a:srgbClr val="64748B"/>
            </a:solidFill>
            <a:prstDash val="solid"/>
            <a:tailEnd type="triangle"/>
          </a:ln>
        </p:spPr>
      </p:sp>
      <p:sp>
        <p:nvSpPr>
          <p:cNvPr id="13" name="Shape 11" descr="">
            <a:extLst>
              <a:ext uri="{C183D7F6-B498-43B3-948B-1728B52AA6E4}">
                <adec:decorative xmlns:adec="http://schemas.microsoft.com/office/drawing/2017/decorative" val="1"/>
              </a:ext>
            </a:extLst>
          </p:cNvPr>
          <p:cNvSpPr/>
          <p:nvPr/>
        </p:nvSpPr>
        <p:spPr>
          <a:xfrm>
            <a:off x="8778240" y="2212848"/>
            <a:ext cx="411480" cy="0"/>
          </a:xfrm>
          <a:prstGeom prst="line">
            <a:avLst/>
          </a:prstGeom>
          <a:noFill/>
          <a:ln w="22225">
            <a:solidFill>
              <a:srgbClr val="B45309"/>
            </a:solidFill>
            <a:prstDash val="solid"/>
            <a:headEnd type="triangle"/>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1508760"/>
        </p:xfrm>
        <a:graphic>
          <a:graphicData uri="http://schemas.openxmlformats.org/drawingml/2006/table">
            <a:tbl>
              <a:tblPr firstRow="1" bandRow="1"/>
              <a:tblGrid>
                <a:gridCol w="2377440"/>
                <a:gridCol w="3840480"/>
                <a:gridCol w="4892040"/>
              </a:tblGrid>
              <a:tr h="37719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Perimeter era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Zero Trust (for example, through SASE)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decides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Network location, then static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token evaluated against attributes and dynamic groups, every session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wrong department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wrong phone-book entry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wrong groups — and the wrong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stale status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orphaned account: a standing security violation that can enable a breach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Takeaway" descr="">
            <a:extLst>
              <a:ext uri="{C183D7F6-B498-43B3-948B-1728B52AA6E4}">
                <adec:decorative xmlns:adec="http://schemas.microsoft.com/office/drawing/2017/decorative" val="1"/>
              </a:ext>
            </a:extLst>
          </p:cNvPr>
          <p:cNvSpPr/>
          <p:nvPr/>
        </p:nvSpPr>
        <p:spPr>
          <a:xfrm>
            <a:off x="548640" y="534924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Takeaway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800" b="1" dirty="0">
                <a:solidFill>
                  <a:srgbClr val="B45309"/>
                </a:solidFill>
              </a:rPr>
              <a:t>When access decisions depend on attributes, </a:t>
            </a:r>
            <a:pPr indent="0" marL="0">
              <a:buNone/>
            </a:pPr>
            <a:r>
              <a:rPr lang="en-US" sz="1800" dirty="0">
                <a:solidFill>
                  <a:schemeClr val="tx2"/>
                </a:solidFill>
              </a:rPr>
              <a:t>the accuracy of employee data drives the accuracy of access.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everyday impact of manually provisioned ICAM</a:t>
            </a:r>
            <a:endParaRPr lang="en-US" sz="3000" dirty="0"/>
          </a:p>
        </p:txBody>
      </p:sp>
      <p:sp>
        <p:nvSpPr>
          <p:cNvPr id="3" name="Story 1" descr="">
            <a:extLst>
              <a:ext uri="{C183D7F6-B498-43B3-948B-1728B52AA6E4}">
                <adec:decorative xmlns:adec="http://schemas.microsoft.com/office/drawing/2017/decorative" val="1"/>
              </a:ext>
            </a:extLst>
          </p:cNvPr>
          <p:cNvSpPr/>
          <p:nvPr/>
        </p:nvSpPr>
        <p:spPr>
          <a:xfrm>
            <a:off x="548640" y="141732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4" name="Icon FaAddressBook" descr="">
            <a:extLst>
              <a:ext uri="{C183D7F6-B498-43B3-948B-1728B52AA6E4}">
                <adec:decorative xmlns:adec="http://schemas.microsoft.com/office/drawing/2017/decorative" val="1"/>
              </a:ext>
            </a:extLst>
          </p:cNvPr>
          <p:cNvSpPr/>
          <p:nvPr/>
        </p:nvSpPr>
        <p:spPr>
          <a:xfrm>
            <a:off x="777240" y="1645920"/>
            <a:ext cx="640080" cy="640080"/>
          </a:xfrm>
          <a:prstGeom prst="ellipse">
            <a:avLst/>
          </a:prstGeom>
          <a:solidFill>
            <a:srgbClr val="B91C1C"/>
          </a:solidFill>
          <a:ln w="12700">
            <a:solidFill>
              <a:srgbClr val="B91C1C"/>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1799539"/>
            <a:ext cx="332842" cy="332842"/>
          </a:xfrm>
          <a:prstGeom prst="rect">
            <a:avLst/>
          </a:prstGeom>
        </p:spPr>
      </p:pic>
      <p:sp>
        <p:nvSpPr>
          <p:cNvPr id="6" name="Story 1 text"/>
          <p:cNvSpPr txBox="1"/>
          <p:nvPr/>
        </p:nvSpPr>
        <p:spPr>
          <a:xfrm>
            <a:off x="1645920" y="161848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The phone book</a:t>
            </a:r>
            <a:endParaRPr lang="en-US" sz="1400" dirty="0"/>
          </a:p>
          <a:p>
            <a:pPr indent="0" marL="0">
              <a:spcAft>
                <a:spcPts val="600"/>
              </a:spcAft>
              <a:buNone/>
            </a:pPr>
            <a:r>
              <a:rPr lang="en-US" sz="1500" dirty="0">
                <a:solidFill>
                  <a:schemeClr val="tx2"/>
                </a:solidFill>
              </a:rPr>
              <a:t>In many agencies, HR changes are not automatically reflected in Active Directory, which feeds the phone book. Titles, offices, phone numbers and managers stay wrong until someone files a ticket.</a:t>
            </a:r>
            <a:endParaRPr lang="en-US" sz="1400" dirty="0"/>
          </a:p>
        </p:txBody>
      </p:sp>
      <p:sp>
        <p:nvSpPr>
          <p:cNvPr id="7" name="Story 2" descr="">
            <a:extLst>
              <a:ext uri="{C183D7F6-B498-43B3-948B-1728B52AA6E4}">
                <adec:decorative xmlns:adec="http://schemas.microsoft.com/office/drawing/2017/decorative" val="1"/>
              </a:ext>
            </a:extLst>
          </p:cNvPr>
          <p:cNvSpPr/>
          <p:nvPr/>
        </p:nvSpPr>
        <p:spPr>
          <a:xfrm>
            <a:off x="548640" y="365760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Icon FaUserTie" descr="">
            <a:extLst>
              <a:ext uri="{C183D7F6-B498-43B3-948B-1728B52AA6E4}">
                <adec:decorative xmlns:adec="http://schemas.microsoft.com/office/drawing/2017/decorative" val="1"/>
              </a:ext>
            </a:extLst>
          </p:cNvPr>
          <p:cNvSpPr/>
          <p:nvPr/>
        </p:nvSpPr>
        <p:spPr>
          <a:xfrm>
            <a:off x="777240" y="3886200"/>
            <a:ext cx="640080" cy="640080"/>
          </a:xfrm>
          <a:prstGeom prst="ellipse">
            <a:avLst/>
          </a:prstGeom>
          <a:solidFill>
            <a:srgbClr val="B91C1C"/>
          </a:solidFill>
          <a:ln w="12700">
            <a:solidFill>
              <a:srgbClr val="B91C1C"/>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30859" y="4039819"/>
            <a:ext cx="332842" cy="332842"/>
          </a:xfrm>
          <a:prstGeom prst="rect">
            <a:avLst/>
          </a:prstGeom>
        </p:spPr>
      </p:pic>
      <p:sp>
        <p:nvSpPr>
          <p:cNvPr id="10" name="Story 2 text"/>
          <p:cNvSpPr txBox="1"/>
          <p:nvPr/>
        </p:nvSpPr>
        <p:spPr>
          <a:xfrm>
            <a:off x="1645920" y="385876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Every change of management</a:t>
            </a:r>
            <a:endParaRPr lang="en-US" sz="1400" dirty="0"/>
          </a:p>
          <a:p>
            <a:pPr indent="0" marL="0">
              <a:spcAft>
                <a:spcPts val="600"/>
              </a:spcAft>
              <a:buNone/>
            </a:pPr>
            <a:r>
              <a:rPr lang="en-US" sz="1500" dirty="0">
                <a:solidFill>
                  <a:schemeClr val="tx2"/>
                </a:solidFill>
              </a:rPr>
              <a:t>A person’s organization, manager and access to tools are updated by hand — by ticket, after the fact, every time.</a:t>
            </a:r>
            <a:endParaRPr lang="en-US" sz="1400" dirty="0"/>
          </a:p>
        </p:txBody>
      </p:sp>
      <p:sp>
        <p:nvSpPr>
          <p:cNvPr id="11" name="HR-driven panel" descr="">
            <a:extLst>
              <a:ext uri="{C183D7F6-B498-43B3-948B-1728B52AA6E4}">
                <adec:decorative xmlns:adec="http://schemas.microsoft.com/office/drawing/2017/decorative" val="1"/>
              </a:ext>
            </a:extLst>
          </p:cNvPr>
          <p:cNvSpPr/>
          <p:nvPr/>
        </p:nvSpPr>
        <p:spPr>
          <a:xfrm>
            <a:off x="6583680" y="1417320"/>
            <a:ext cx="5074920" cy="4297680"/>
          </a:xfrm>
          <a:prstGeom prst="roundRect">
            <a:avLst>
              <a:gd name="adj" fmla="val 170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RightLeft" descr="">
            <a:extLst>
              <a:ext uri="{C183D7F6-B498-43B3-948B-1728B52AA6E4}">
                <adec:decorative xmlns:adec="http://schemas.microsoft.com/office/drawing/2017/decorative" val="1"/>
              </a:ext>
            </a:extLst>
          </p:cNvPr>
          <p:cNvSpPr/>
          <p:nvPr/>
        </p:nvSpPr>
        <p:spPr>
          <a:xfrm>
            <a:off x="6812280" y="1600200"/>
            <a:ext cx="548640" cy="548640"/>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43954" y="1731874"/>
            <a:ext cx="285293" cy="285293"/>
          </a:xfrm>
          <a:prstGeom prst="rect">
            <a:avLst/>
          </a:prstGeom>
        </p:spPr>
      </p:pic>
      <p:sp>
        <p:nvSpPr>
          <p:cNvPr id="14" name="HR-driven heading"/>
          <p:cNvSpPr txBox="1"/>
          <p:nvPr/>
        </p:nvSpPr>
        <p:spPr>
          <a:xfrm>
            <a:off x="7498080" y="1600200"/>
            <a:ext cx="3931920" cy="54864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With HR-driven IT</a:t>
            </a:r>
            <a:endParaRPr lang="en-US" sz="2000" dirty="0"/>
          </a:p>
        </p:txBody>
      </p:sp>
      <p:sp>
        <p:nvSpPr>
          <p:cNvPr id="15" name="Step 1 badge" descr="">
            <a:extLst>
              <a:ext uri="{C183D7F6-B498-43B3-948B-1728B52AA6E4}">
                <adec:decorative xmlns:adec="http://schemas.microsoft.com/office/drawing/2017/decorative" val="1"/>
              </a:ext>
            </a:extLst>
          </p:cNvPr>
          <p:cNvSpPr/>
          <p:nvPr/>
        </p:nvSpPr>
        <p:spPr>
          <a:xfrm>
            <a:off x="6858000" y="2423160"/>
            <a:ext cx="457200" cy="457200"/>
          </a:xfrm>
          <a:prstGeom prst="ellipse">
            <a:avLst/>
          </a:prstGeom>
          <a:solidFill>
            <a:srgbClr val="0F766E"/>
          </a:solidFill>
          <a:ln w="12700">
            <a:solidFill>
              <a:srgbClr val="0F766E"/>
            </a:solidFill>
            <a:prstDash val="solid"/>
          </a:ln>
        </p:spPr>
      </p:sp>
      <p:sp>
        <p:nvSpPr>
          <p:cNvPr id="16" name="Step 1 number"/>
          <p:cNvSpPr txBox="1"/>
          <p:nvPr/>
        </p:nvSpPr>
        <p:spPr>
          <a:xfrm>
            <a:off x="6858000" y="2423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7" name="Step 1 text"/>
          <p:cNvSpPr txBox="1"/>
          <p:nvPr/>
        </p:nvSpPr>
        <p:spPr>
          <a:xfrm>
            <a:off x="7498080" y="237744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personnel action records the reassignment</a:t>
            </a:r>
            <a:endParaRPr lang="en-US" sz="1550" dirty="0"/>
          </a:p>
        </p:txBody>
      </p:sp>
      <p:sp>
        <p:nvSpPr>
          <p:cNvPr id="18" name="Shape 13" descr="">
            <a:extLst>
              <a:ext uri="{C183D7F6-B498-43B3-948B-1728B52AA6E4}">
                <adec:decorative xmlns:adec="http://schemas.microsoft.com/office/drawing/2017/decorative" val="1"/>
              </a:ext>
            </a:extLst>
          </p:cNvPr>
          <p:cNvSpPr/>
          <p:nvPr/>
        </p:nvSpPr>
        <p:spPr>
          <a:xfrm>
            <a:off x="7086600" y="2880360"/>
            <a:ext cx="0" cy="594360"/>
          </a:xfrm>
          <a:prstGeom prst="line">
            <a:avLst/>
          </a:prstGeom>
          <a:noFill/>
          <a:ln w="19050">
            <a:solidFill>
              <a:srgbClr val="0F766E"/>
            </a:solidFill>
            <a:prstDash val="solid"/>
            <a:tailEnd type="triangle"/>
          </a:ln>
        </p:spPr>
      </p:sp>
      <p:sp>
        <p:nvSpPr>
          <p:cNvPr id="19" name="Step 2 badge" descr="">
            <a:extLst>
              <a:ext uri="{C183D7F6-B498-43B3-948B-1728B52AA6E4}">
                <adec:decorative xmlns:adec="http://schemas.microsoft.com/office/drawing/2017/decorative" val="1"/>
              </a:ext>
            </a:extLst>
          </p:cNvPr>
          <p:cNvSpPr/>
          <p:nvPr/>
        </p:nvSpPr>
        <p:spPr>
          <a:xfrm>
            <a:off x="6858000" y="3474720"/>
            <a:ext cx="457200" cy="457200"/>
          </a:xfrm>
          <a:prstGeom prst="ellipse">
            <a:avLst/>
          </a:prstGeom>
          <a:solidFill>
            <a:srgbClr val="0F766E"/>
          </a:solidFill>
          <a:ln w="12700">
            <a:solidFill>
              <a:srgbClr val="0F766E"/>
            </a:solidFill>
            <a:prstDash val="solid"/>
          </a:ln>
        </p:spPr>
      </p:sp>
      <p:sp>
        <p:nvSpPr>
          <p:cNvPr id="20" name="Step 2 number"/>
          <p:cNvSpPr txBox="1"/>
          <p:nvPr/>
        </p:nvSpPr>
        <p:spPr>
          <a:xfrm>
            <a:off x="685800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1" name="Step 2 text"/>
          <p:cNvSpPr txBox="1"/>
          <p:nvPr/>
        </p:nvSpPr>
        <p:spPr>
          <a:xfrm>
            <a:off x="7498080" y="3429000"/>
            <a:ext cx="3977640" cy="868680"/>
          </a:xfrm>
          <a:prstGeom prst="rect">
            <a:avLst/>
          </a:prstGeom>
          <a:noFill/>
          <a:ln/>
        </p:spPr>
        <p:txBody>
          <a:bodyPr wrap="square" lIns="0" tIns="0" rIns="0" bIns="0" rtlCol="0" anchor="t"/>
          <a:lstStyle/>
          <a:p>
            <a:pPr indent="0" marL="0">
              <a:buNone/>
            </a:pPr>
            <a:r>
              <a:rPr lang="en-US" sz="1550" dirty="0">
                <a:solidFill>
                  <a:srgbClr val="1F2A44"/>
                </a:solidFill>
              </a:rPr>
              <a:t>Organization and manager update in Entra ID and AD</a:t>
            </a:r>
            <a:endParaRPr lang="en-US" sz="1550" dirty="0"/>
          </a:p>
        </p:txBody>
      </p:sp>
      <p:sp>
        <p:nvSpPr>
          <p:cNvPr id="22" name="Shape 17" descr="">
            <a:extLst>
              <a:ext uri="{C183D7F6-B498-43B3-948B-1728B52AA6E4}">
                <adec:decorative xmlns:adec="http://schemas.microsoft.com/office/drawing/2017/decorative" val="1"/>
              </a:ext>
            </a:extLst>
          </p:cNvPr>
          <p:cNvSpPr/>
          <p:nvPr/>
        </p:nvSpPr>
        <p:spPr>
          <a:xfrm>
            <a:off x="7086600" y="3931920"/>
            <a:ext cx="0" cy="594360"/>
          </a:xfrm>
          <a:prstGeom prst="line">
            <a:avLst/>
          </a:prstGeom>
          <a:noFill/>
          <a:ln w="19050">
            <a:solidFill>
              <a:srgbClr val="0F766E"/>
            </a:solidFill>
            <a:prstDash val="solid"/>
            <a:tailEnd type="triangle"/>
          </a:ln>
        </p:spPr>
      </p:sp>
      <p:sp>
        <p:nvSpPr>
          <p:cNvPr id="23" name="Step 3 badge" descr="">
            <a:extLst>
              <a:ext uri="{C183D7F6-B498-43B3-948B-1728B52AA6E4}">
                <adec:decorative xmlns:adec="http://schemas.microsoft.com/office/drawing/2017/decorative" val="1"/>
              </a:ext>
            </a:extLst>
          </p:cNvPr>
          <p:cNvSpPr/>
          <p:nvPr/>
        </p:nvSpPr>
        <p:spPr>
          <a:xfrm>
            <a:off x="6858000" y="4526280"/>
            <a:ext cx="457200" cy="457200"/>
          </a:xfrm>
          <a:prstGeom prst="ellipse">
            <a:avLst/>
          </a:prstGeom>
          <a:solidFill>
            <a:srgbClr val="0F766E"/>
          </a:solidFill>
          <a:ln w="12700">
            <a:solidFill>
              <a:srgbClr val="0F766E"/>
            </a:solidFill>
            <a:prstDash val="solid"/>
          </a:ln>
        </p:spPr>
      </p:sp>
      <p:sp>
        <p:nvSpPr>
          <p:cNvPr id="24" name="Step 3 number"/>
          <p:cNvSpPr txBox="1"/>
          <p:nvPr/>
        </p:nvSpPr>
        <p:spPr>
          <a:xfrm>
            <a:off x="685800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5" name="Step 3 text"/>
          <p:cNvSpPr txBox="1"/>
          <p:nvPr/>
        </p:nvSpPr>
        <p:spPr>
          <a:xfrm>
            <a:off x="7498080" y="448056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phone book, approvals and tool access follow — from the authoritative source, not a ticket</a:t>
            </a:r>
            <a:endParaRPr lang="en-US" sz="15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window closes at the agency’s interconnection go-live</a:t>
            </a:r>
            <a:endParaRPr lang="en-US" sz="3000" dirty="0"/>
          </a:p>
        </p:txBody>
      </p:sp>
      <p:sp>
        <p:nvSpPr>
          <p:cNvPr id="3" name="Shape 1" descr="">
            <a:extLst>
              <a:ext uri="{C183D7F6-B498-43B3-948B-1728B52AA6E4}">
                <adec:decorative xmlns:adec="http://schemas.microsoft.com/office/drawing/2017/decorative" val="1"/>
              </a:ext>
            </a:extLst>
          </p:cNvPr>
          <p:cNvSpPr/>
          <p:nvPr/>
        </p:nvSpPr>
        <p:spPr>
          <a:xfrm>
            <a:off x="1691640" y="2240280"/>
            <a:ext cx="8778240" cy="0"/>
          </a:xfrm>
          <a:prstGeom prst="line">
            <a:avLst/>
          </a:prstGeom>
          <a:noFill/>
          <a:ln w="19050">
            <a:solidFill>
              <a:srgbClr val="64748B"/>
            </a:solidFill>
            <a:prstDash val="solid"/>
          </a:ln>
        </p:spPr>
      </p:sp>
      <p:sp>
        <p:nvSpPr>
          <p:cNvPr id="4" name="Milestone dot 1" descr="">
            <a:extLst>
              <a:ext uri="{C183D7F6-B498-43B3-948B-1728B52AA6E4}">
                <adec:decorative xmlns:adec="http://schemas.microsoft.com/office/drawing/2017/decorative" val="1"/>
              </a:ext>
            </a:extLst>
          </p:cNvPr>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OMB/OPM memo</a:t>
            </a:r>
            <a:endParaRPr lang="en-US" sz="1400" dirty="0"/>
          </a:p>
          <a:p>
            <a:pPr algn="ctr" indent="0" marL="0">
              <a:buNone/>
            </a:pPr>
            <a:r>
              <a:rPr lang="en-US" sz="1400" dirty="0">
                <a:solidFill>
                  <a:schemeClr val="tx2"/>
                </a:solidFill>
              </a:rPr>
              <a:t>One government-wide Core HCM platform</a:t>
            </a:r>
            <a:endParaRPr lang="en-US" sz="1400" dirty="0"/>
          </a:p>
        </p:txBody>
      </p:sp>
      <p:sp>
        <p:nvSpPr>
          <p:cNvPr id="7" name="Milestone dot 2" descr="">
            <a:extLst>
              <a:ext uri="{C183D7F6-B498-43B3-948B-1728B52AA6E4}">
                <adec:decorative xmlns:adec="http://schemas.microsoft.com/office/drawing/2017/decorative" val="1"/>
              </a:ext>
            </a:extLst>
          </p:cNvPr>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Core HCM award</a:t>
            </a:r>
            <a:endParaRPr lang="en-US" sz="1400" dirty="0"/>
          </a:p>
          <a:p>
            <a:pPr algn="ctr" indent="0" marL="0">
              <a:buNone/>
            </a:pPr>
            <a:r>
              <a:rPr lang="en-US" sz="1400" dirty="0">
                <a:solidFill>
                  <a:schemeClr val="tx2"/>
                </a:solidFill>
              </a:rPr>
              <a:t>Oracle Fusion Cloud HCM (SaaS)</a:t>
            </a:r>
            <a:endParaRPr lang="en-US" sz="1400" dirty="0"/>
          </a:p>
        </p:txBody>
      </p:sp>
      <p:sp>
        <p:nvSpPr>
          <p:cNvPr id="10" name="Milestone dot 3" descr="">
            <a:extLst>
              <a:ext uri="{C183D7F6-B498-43B3-948B-1728B52AA6E4}">
                <adec:decorative xmlns:adec="http://schemas.microsoft.com/office/drawing/2017/decorative" val="1"/>
              </a:ext>
            </a:extLst>
          </p:cNvPr>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First go-lives</a:t>
            </a:r>
            <a:endParaRPr lang="en-US" sz="1400" dirty="0"/>
          </a:p>
          <a:p>
            <a:pPr algn="ctr" indent="0" marL="0">
              <a:buNone/>
            </a:pPr>
            <a:r>
              <a:rPr lang="en-US" sz="1400" dirty="0">
                <a:solidFill>
                  <a:schemeClr val="tx2"/>
                </a:solidFill>
              </a:rPr>
              <a:t>Wave 1 agencies</a:t>
            </a:r>
            <a:endParaRPr lang="en-US" sz="1400" dirty="0"/>
          </a:p>
        </p:txBody>
      </p:sp>
      <p:sp>
        <p:nvSpPr>
          <p:cNvPr id="13" name="Milestone dot 4" descr="">
            <a:extLst>
              <a:ext uri="{C183D7F6-B498-43B3-948B-1728B52AA6E4}">
                <adec:decorative xmlns:adec="http://schemas.microsoft.com/office/drawing/2017/decorative" val="1"/>
              </a:ext>
            </a:extLst>
          </p:cNvPr>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algn="ctr" indent="0" marL="0">
              <a:buNone/>
            </a:pPr>
            <a:r>
              <a:rPr lang="en-US" sz="1800" b="1" dirty="0">
                <a:solidFill>
                  <a:srgbClr val="B45309"/>
                </a:solidFill>
                <a:latin typeface="Cambria" pitchFamily="34" charset="0"/>
                <a:ea typeface="Cambria" pitchFamily="34" charset="-122"/>
                <a:cs typeface="Cambria" pitchFamily="34" charset="-120"/>
              </a:rPr>
              <a:t>FY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algn="ctr" indent="0" marL="0">
              <a:buNone/>
            </a:pPr>
            <a:r>
              <a:rPr lang="en-US" sz="1400" b="1" dirty="0">
                <a:solidFill>
                  <a:srgbClr val="B45309"/>
                </a:solidFill>
              </a:rPr>
              <a:t>Wave 2 agencies (planning assumption)</a:t>
            </a:r>
            <a:endParaRPr lang="en-US" sz="1400" dirty="0"/>
          </a:p>
          <a:p>
            <a:pPr algn="ctr" indent="0" marL="0">
              <a:buNone/>
            </a:pPr>
            <a:r>
              <a:rPr lang="en-US" sz="1400" dirty="0">
                <a:solidFill>
                  <a:schemeClr val="tx2"/>
                </a:solidFill>
              </a:rPr>
              <a:t>Interconnections during onboarding; confirm agency milestones</a:t>
            </a:r>
            <a:endParaRPr lang="en-US" sz="1400" dirty="0"/>
          </a:p>
        </p:txBody>
      </p:sp>
      <p:sp>
        <p:nvSpPr>
          <p:cNvPr id="16" name="Milestone dot 5" descr="">
            <a:extLst>
              <a:ext uri="{C183D7F6-B498-43B3-948B-1728B52AA6E4}">
                <adec:decorative xmlns:adec="http://schemas.microsoft.com/office/drawing/2017/decorative" val="1"/>
              </a:ext>
            </a:extLst>
          </p:cNvPr>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One system</a:t>
            </a:r>
            <a:endParaRPr lang="en-US" sz="1400" dirty="0"/>
          </a:p>
          <a:p>
            <a:pPr algn="ctr" indent="0" marL="0">
              <a:buNone/>
            </a:pPr>
            <a:r>
              <a:rPr lang="en-US" sz="1400" dirty="0">
                <a:solidFill>
                  <a:schemeClr val="tx2"/>
                </a:solidFill>
              </a:rPr>
              <a:t>EHRI and eOPF decommissioned</a:t>
            </a:r>
            <a:endParaRPr lang="en-US" sz="1400" dirty="0"/>
          </a:p>
        </p:txBody>
      </p:sp>
      <p:sp>
        <p:nvSpPr>
          <p:cNvPr id="19" name="Window 1" descr="">
            <a:extLst>
              <a:ext uri="{C183D7F6-B498-43B3-948B-1728B52AA6E4}">
                <adec:decorative xmlns:adec="http://schemas.microsoft.com/office/drawing/2017/decorative" val="1"/>
              </a:ext>
            </a:extLst>
          </p:cNvPr>
          <p:cNvSpPr/>
          <p:nvPr/>
        </p:nvSpPr>
        <p:spPr>
          <a:xfrm>
            <a:off x="548640" y="4434840"/>
            <a:ext cx="5486400" cy="1691640"/>
          </a:xfrm>
          <a:prstGeom prst="roundRect">
            <a:avLst>
              <a:gd name="adj" fmla="val 43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DoorOpen" descr="">
            <a:extLst>
              <a:ext uri="{C183D7F6-B498-43B3-948B-1728B52AA6E4}">
                <adec:decorative xmlns:adec="http://schemas.microsoft.com/office/drawing/2017/decorative" val="1"/>
              </a:ext>
            </a:extLst>
          </p:cNvPr>
          <p:cNvSpPr/>
          <p:nvPr/>
        </p:nvSpPr>
        <p:spPr>
          <a:xfrm>
            <a:off x="822960" y="4617720"/>
            <a:ext cx="594360" cy="594360"/>
          </a:xfrm>
          <a:prstGeom prst="ellipse">
            <a:avLst/>
          </a:prstGeom>
          <a:solidFill>
            <a:srgbClr val="0F766E"/>
          </a:solidFill>
          <a:ln w="12700">
            <a:solidFill>
              <a:srgbClr val="0F766E"/>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65606" y="4760366"/>
            <a:ext cx="309067" cy="309067"/>
          </a:xfrm>
          <a:prstGeom prst="rect">
            <a:avLst/>
          </a:prstGeom>
        </p:spPr>
      </p:pic>
      <p:sp>
        <p:nvSpPr>
          <p:cNvPr id="22" name="Window 1 text"/>
          <p:cNvSpPr txBox="1"/>
          <p:nvPr/>
        </p:nvSpPr>
        <p:spPr>
          <a:xfrm>
            <a:off x="160020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0F766E"/>
                </a:solidFill>
                <a:latin typeface="Cambria" pitchFamily="34" charset="0"/>
                <a:ea typeface="Cambria" pitchFamily="34" charset="-122"/>
                <a:cs typeface="Cambria" pitchFamily="34" charset="-120"/>
              </a:rPr>
              <a:t>Inside the window</a:t>
            </a:r>
            <a:endParaRPr lang="en-US" sz="1400" dirty="0"/>
          </a:p>
          <a:p>
            <a:pPr indent="0" marL="0">
              <a:spcAft>
                <a:spcPts val="600"/>
              </a:spcAft>
              <a:buNone/>
            </a:pPr>
            <a:r>
              <a:rPr lang="en-US" sz="1500" dirty="0">
                <a:solidFill>
                  <a:schemeClr val="tx2"/>
                </a:solidFill>
              </a:rPr>
              <a:t>Data standards, cleanup, interconnection design and the Entra ID migration plan are all being decided. An HR-driven feed can be written into them.</a:t>
            </a:r>
            <a:endParaRPr lang="en-US" sz="1400" dirty="0"/>
          </a:p>
        </p:txBody>
      </p:sp>
      <p:sp>
        <p:nvSpPr>
          <p:cNvPr id="23" name="Window 2" descr="">
            <a:extLst>
              <a:ext uri="{C183D7F6-B498-43B3-948B-1728B52AA6E4}">
                <adec:decorative xmlns:adec="http://schemas.microsoft.com/office/drawing/2017/decorative" val="1"/>
              </a:ext>
            </a:extLst>
          </p:cNvPr>
          <p:cNvSpPr/>
          <p:nvPr/>
        </p:nvSpPr>
        <p:spPr>
          <a:xfrm>
            <a:off x="6172200" y="4434840"/>
            <a:ext cx="5486400" cy="1691640"/>
          </a:xfrm>
          <a:prstGeom prst="roundRect">
            <a:avLst>
              <a:gd name="adj" fmla="val 432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4" name="Icon FaDoorClosed" descr="">
            <a:extLst>
              <a:ext uri="{C183D7F6-B498-43B3-948B-1728B52AA6E4}">
                <adec:decorative xmlns:adec="http://schemas.microsoft.com/office/drawing/2017/decorative" val="1"/>
              </a:ext>
            </a:extLst>
          </p:cNvPr>
          <p:cNvSpPr/>
          <p:nvPr/>
        </p:nvSpPr>
        <p:spPr>
          <a:xfrm>
            <a:off x="6446520" y="4617720"/>
            <a:ext cx="594360" cy="594360"/>
          </a:xfrm>
          <a:prstGeom prst="ellipse">
            <a:avLst/>
          </a:prstGeom>
          <a:solidFill>
            <a:srgbClr val="B91C1C"/>
          </a:solidFill>
          <a:ln w="12700">
            <a:solidFill>
              <a:srgbClr val="B91C1C"/>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9166" y="4760366"/>
            <a:ext cx="309067" cy="309067"/>
          </a:xfrm>
          <a:prstGeom prst="rect">
            <a:avLst/>
          </a:prstGeom>
        </p:spPr>
      </p:pic>
      <p:sp>
        <p:nvSpPr>
          <p:cNvPr id="26" name="Window 2 text"/>
          <p:cNvSpPr txBox="1"/>
          <p:nvPr/>
        </p:nvSpPr>
        <p:spPr>
          <a:xfrm>
            <a:off x="722376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B91C1C"/>
                </a:solidFill>
                <a:latin typeface="Cambria" pitchFamily="34" charset="0"/>
                <a:ea typeface="Cambria" pitchFamily="34" charset="-122"/>
                <a:cs typeface="Cambria" pitchFamily="34" charset="-120"/>
              </a:rPr>
              <a:t>After it closes</a:t>
            </a:r>
            <a:endParaRPr lang="en-US" sz="1400" dirty="0"/>
          </a:p>
          <a:p>
            <a:pPr indent="0" marL="0">
              <a:spcAft>
                <a:spcPts val="600"/>
              </a:spcAft>
              <a:buNone/>
            </a:pPr>
            <a:r>
              <a:rPr lang="en-US" sz="1500" dirty="0">
                <a:solidFill>
                  <a:schemeClr val="tx2"/>
                </a:solidFill>
              </a:rPr>
              <a:t>Both migrations finish with ticket-driven identity carried forward, and retrofitting HR-driven identity costs far more.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Drive identity from OPM’s standard HR data</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51960"/>
        </p:xfrm>
        <a:graphic>
          <a:graphicData uri="http://schemas.openxmlformats.org/drawingml/2006/table">
            <a:tbl>
              <a:tblPr firstRow="1" bandRow="1"/>
              <a:tblGrid>
                <a:gridCol w="3566160"/>
                <a:gridCol w="4206240"/>
              </a:tblGrid>
              <a:tr h="531495">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OPM standard data 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use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Agency / subelement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Legal employer and component scope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Personnel office identifier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Servicing HR office; delegated administration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Duty station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Location of record; location-based policy scoping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Occupational series, pay plan, grade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Position category; role-eligible access packages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Supervisory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Approver and reviewer eligibility; manager-chain integrity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Tenure, appointment type, work schedule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Worker type and lifecycle profile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Nature of action + effective date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Lifecycle trigger (next slide)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Why card" descr="">
            <a:extLst>
              <a:ext uri="{C183D7F6-B498-43B3-948B-1728B52AA6E4}">
                <adec:decorative xmlns:adec="http://schemas.microsoft.com/office/drawing/2017/decorative" val="1"/>
              </a:ext>
            </a:extLst>
          </p:cNvPr>
          <p:cNvSpPr/>
          <p:nvPr/>
        </p:nvSpPr>
        <p:spPr>
          <a:xfrm>
            <a:off x="8549640" y="1417320"/>
            <a:ext cx="3108960" cy="2011680"/>
          </a:xfrm>
          <a:prstGeom prst="roundRect">
            <a:avLst>
              <a:gd name="adj" fmla="val 363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Book" descr="">
            <a:extLst>
              <a:ext uri="{C183D7F6-B498-43B3-948B-1728B52AA6E4}">
                <adec:decorative xmlns:adec="http://schemas.microsoft.com/office/drawing/2017/decorative" val="1"/>
              </a:ext>
            </a:extLst>
          </p:cNvPr>
          <p:cNvSpPr/>
          <p:nvPr/>
        </p:nvSpPr>
        <p:spPr>
          <a:xfrm>
            <a:off x="8732520" y="1572768"/>
            <a:ext cx="457200" cy="457200"/>
          </a:xfrm>
          <a:prstGeom prst="ellipse">
            <a:avLst/>
          </a:prstGeom>
          <a:solidFill>
            <a:srgbClr val="0F766E"/>
          </a:solidFill>
          <a:ln w="12700">
            <a:solidFill>
              <a:srgbClr val="0F766E"/>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42248" y="1682496"/>
            <a:ext cx="237744" cy="237744"/>
          </a:xfrm>
          <a:prstGeom prst="rect">
            <a:avLst/>
          </a:prstGeom>
        </p:spPr>
      </p:pic>
      <p:sp>
        <p:nvSpPr>
          <p:cNvPr id="7" name="Why heading"/>
          <p:cNvSpPr txBox="1"/>
          <p:nvPr/>
        </p:nvSpPr>
        <p:spPr>
          <a:xfrm>
            <a:off x="9281160" y="1572768"/>
            <a:ext cx="2286000" cy="45720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Why standards</a:t>
            </a:r>
            <a:endParaRPr lang="en-US" sz="1800" dirty="0"/>
          </a:p>
        </p:txBody>
      </p:sp>
      <p:sp>
        <p:nvSpPr>
          <p:cNvPr id="8" name="Why text"/>
          <p:cNvSpPr txBox="1"/>
          <p:nvPr/>
        </p:nvSpPr>
        <p:spPr>
          <a:xfrm>
            <a:off x="8732520" y="2121408"/>
            <a:ext cx="2788920" cy="1234440"/>
          </a:xfrm>
          <a:prstGeom prst="rect">
            <a:avLst/>
          </a:prstGeom>
          <a:noFill/>
          <a:ln/>
        </p:spPr>
        <p:txBody>
          <a:bodyPr wrap="square" lIns="0" tIns="0" rIns="0" bIns="0" rtlCol="0" anchor="t"/>
          <a:lstStyle/>
          <a:p>
            <a:pPr indent="0" marL="0">
              <a:buNone/>
            </a:pPr>
            <a:r>
              <a:rPr lang="en-US" sz="1350" dirty="0">
                <a:solidFill>
                  <a:schemeClr val="tx2"/>
                </a:solidFill>
              </a:rPr>
              <a:t>OPM standards give a common federal vocabulary that agencies map into a shared canonical model; the mapping holds if the HR vendor changes.</a:t>
            </a:r>
            <a:endParaRPr lang="en-US" sz="1350" dirty="0"/>
          </a:p>
        </p:txBody>
      </p:sp>
      <p:sp>
        <p:nvSpPr>
          <p:cNvPr id="9" name="CWK card" descr="">
            <a:extLst>
              <a:ext uri="{C183D7F6-B498-43B3-948B-1728B52AA6E4}">
                <adec:decorative xmlns:adec="http://schemas.microsoft.com/office/drawing/2017/decorative" val="1"/>
              </a:ext>
            </a:extLst>
          </p:cNvPr>
          <p:cNvSpPr/>
          <p:nvPr/>
        </p:nvSpPr>
        <p:spPr>
          <a:xfrm>
            <a:off x="8549640" y="3611880"/>
            <a:ext cx="3108960" cy="2057400"/>
          </a:xfrm>
          <a:prstGeom prst="roundRect">
            <a:avLst>
              <a:gd name="adj" fmla="val 355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Icon FaPeopleArrows" descr="">
            <a:extLst>
              <a:ext uri="{C183D7F6-B498-43B3-948B-1728B52AA6E4}">
                <adec:decorative xmlns:adec="http://schemas.microsoft.com/office/drawing/2017/decorative" val="1"/>
              </a:ext>
            </a:extLst>
          </p:cNvPr>
          <p:cNvSpPr/>
          <p:nvPr/>
        </p:nvSpPr>
        <p:spPr>
          <a:xfrm>
            <a:off x="8732520" y="3767328"/>
            <a:ext cx="457200" cy="457200"/>
          </a:xfrm>
          <a:prstGeom prst="ellipse">
            <a:avLst/>
          </a:prstGeom>
          <a:solidFill>
            <a:srgbClr val="B45309"/>
          </a:solidFill>
          <a:ln w="12700">
            <a:solidFill>
              <a:srgbClr val="B45309"/>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42248" y="3877056"/>
            <a:ext cx="237744" cy="237744"/>
          </a:xfrm>
          <a:prstGeom prst="rect">
            <a:avLst/>
          </a:prstGeom>
        </p:spPr>
      </p:pic>
      <p:sp>
        <p:nvSpPr>
          <p:cNvPr id="12" name="CWK heading"/>
          <p:cNvSpPr txBox="1"/>
          <p:nvPr/>
        </p:nvSpPr>
        <p:spPr>
          <a:xfrm>
            <a:off x="9281160" y="3767328"/>
            <a:ext cx="2286000" cy="457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Contractors, vendors</a:t>
            </a:r>
            <a:endParaRPr lang="en-US" sz="1800" dirty="0"/>
          </a:p>
        </p:txBody>
      </p:sp>
      <p:sp>
        <p:nvSpPr>
          <p:cNvPr id="13" name="CWK text"/>
          <p:cNvSpPr txBox="1"/>
          <p:nvPr/>
        </p:nvSpPr>
        <p:spPr>
          <a:xfrm>
            <a:off x="8732520" y="4279392"/>
            <a:ext cx="2788920" cy="1353312"/>
          </a:xfrm>
          <a:prstGeom prst="rect">
            <a:avLst/>
          </a:prstGeom>
          <a:noFill/>
          <a:ln/>
        </p:spPr>
        <p:txBody>
          <a:bodyPr wrap="square" lIns="0" tIns="0" rIns="0" bIns="0" rtlCol="0" anchor="t"/>
          <a:lstStyle/>
          <a:p>
            <a:pPr indent="0" marL="0">
              <a:buNone/>
            </a:pPr>
            <a:r>
              <a:rPr lang="en-US" sz="1250" b="1" dirty="0">
                <a:solidFill>
                  <a:srgbClr val="1F2A44"/>
                </a:solidFill>
              </a:rPr>
              <a:t>Not in HRIT; tracked in COR spreadsheets in the processes observed. </a:t>
            </a:r>
            <a:pPr indent="0" marL="0">
              <a:buNone/>
            </a:pPr>
            <a:r>
              <a:rPr lang="en-US" sz="1250" dirty="0">
                <a:solidFill>
                  <a:schemeClr val="tx2"/>
                </a:solidFill>
              </a:rPr>
              <a:t>Contractor authority decision required: evaluate suitability, sponsorship, and contingent-worker records.</a:t>
            </a:r>
            <a:endParaRPr lang="en-US" sz="1250" dirty="0"/>
          </a:p>
        </p:txBody>
      </p:sp>
      <p:sp>
        <p:nvSpPr>
          <p:cNvPr id="14" name="Source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100" i="1" dirty="0">
                <a:solidFill>
                  <a:srgbClr val="64748B"/>
                </a:solidFill>
              </a:rPr>
              <a:t>Elements per OPM’s Guide to Data Standards; confirm against the current edition and how Core HCM exposes them.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Proposed identity interpretation of OPM nature-of-action families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566160"/>
        </p:xfrm>
        <a:graphic>
          <a:graphicData uri="http://schemas.openxmlformats.org/drawingml/2006/table">
            <a:tbl>
              <a:tblPr firstRow="1" bandRow="1"/>
              <a:tblGrid>
                <a:gridCol w="2743200"/>
                <a:gridCol w="1600200"/>
                <a:gridCol w="1920240"/>
                <a:gridCol w="4846320"/>
              </a:tblGrid>
              <a:tr h="509451">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Action family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NOA codes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Lifecycle event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action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Accessions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Joiner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before day one; baseline access 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Position changes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700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Mover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Re-derive access; review what remains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Conversions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500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Conversion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 person and key; access re-derived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Nonpay / nonduty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400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45309"/>
                          </a:solidFill>
                          <a:latin typeface="Calibri" pitchFamily="34" charset="0"/>
                          <a:ea typeface="Calibri" pitchFamily="34" charset="-122"/>
                          <a:cs typeface="Calibri" pitchFamily="34" charset="-120"/>
                        </a:rPr>
                        <a:t>Not a 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kept; restricted by policy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Return to duty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200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Reinstate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Restrictions lifted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Separations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300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91C1C"/>
                          </a:solidFill>
                          <a:latin typeface="Calibri" pitchFamily="34" charset="0"/>
                          <a:ea typeface="Calibri" pitchFamily="34" charset="-122"/>
                          <a:cs typeface="Calibri" pitchFamily="34" charset="-120"/>
                        </a:rPr>
                        <a:t>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Block first, then revoke and reconcile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NOA rule 1" descr="">
            <a:extLst>
              <a:ext uri="{C183D7F6-B498-43B3-948B-1728B52AA6E4}">
                <adec:decorative xmlns:adec="http://schemas.microsoft.com/office/drawing/2017/decorative" val="1"/>
              </a:ext>
            </a:extLst>
          </p:cNvPr>
          <p:cNvSpPr/>
          <p:nvPr/>
        </p:nvSpPr>
        <p:spPr>
          <a:xfrm>
            <a:off x="54864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5" name="Icon FaUserClock" descr="">
            <a:extLst>
              <a:ext uri="{C183D7F6-B498-43B3-948B-1728B52AA6E4}">
                <adec:decorative xmlns:adec="http://schemas.microsoft.com/office/drawing/2017/decorative" val="1"/>
              </a:ext>
            </a:extLst>
          </p:cNvPr>
          <p:cNvSpPr/>
          <p:nvPr/>
        </p:nvSpPr>
        <p:spPr>
          <a:xfrm>
            <a:off x="713232" y="5376672"/>
            <a:ext cx="548640" cy="548640"/>
          </a:xfrm>
          <a:prstGeom prst="ellipse">
            <a:avLst/>
          </a:prstGeom>
          <a:solidFill>
            <a:srgbClr val="B45309"/>
          </a:solidFill>
          <a:ln w="12700">
            <a:solidFill>
              <a:srgbClr val="B45309"/>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4906" y="5508346"/>
            <a:ext cx="285293" cy="285293"/>
          </a:xfrm>
          <a:prstGeom prst="rect">
            <a:avLst/>
          </a:prstGeom>
        </p:spPr>
      </p:pic>
      <p:sp>
        <p:nvSpPr>
          <p:cNvPr id="7" name="NOA rule 1 text"/>
          <p:cNvSpPr txBox="1"/>
          <p:nvPr/>
        </p:nvSpPr>
        <p:spPr>
          <a:xfrm>
            <a:off x="141732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Leave is not a leaver. </a:t>
            </a:r>
            <a:pPr indent="0" marL="0">
              <a:buNone/>
            </a:pPr>
            <a:r>
              <a:rPr lang="en-US" sz="1400" dirty="0">
                <a:solidFill>
                  <a:schemeClr val="tx2"/>
                </a:solidFill>
              </a:rPr>
              <a:t>Furlough, LWOP and suspension keep the person; policy restricts the account.</a:t>
            </a:r>
            <a:endParaRPr lang="en-US" sz="1400" dirty="0"/>
          </a:p>
        </p:txBody>
      </p:sp>
      <p:sp>
        <p:nvSpPr>
          <p:cNvPr id="8" name="NOA rule 2" descr="">
            <a:extLst>
              <a:ext uri="{C183D7F6-B498-43B3-948B-1728B52AA6E4}">
                <adec:decorative xmlns:adec="http://schemas.microsoft.com/office/drawing/2017/decorative" val="1"/>
              </a:ext>
            </a:extLst>
          </p:cNvPr>
          <p:cNvSpPr/>
          <p:nvPr/>
        </p:nvSpPr>
        <p:spPr>
          <a:xfrm>
            <a:off x="429768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9" name="Icon FaArrowDownWideShort" descr="">
            <a:extLst>
              <a:ext uri="{C183D7F6-B498-43B3-948B-1728B52AA6E4}">
                <adec:decorative xmlns:adec="http://schemas.microsoft.com/office/drawing/2017/decorative" val="1"/>
              </a:ext>
            </a:extLst>
          </p:cNvPr>
          <p:cNvSpPr/>
          <p:nvPr/>
        </p:nvSpPr>
        <p:spPr>
          <a:xfrm>
            <a:off x="4462272" y="5376672"/>
            <a:ext cx="548640" cy="548640"/>
          </a:xfrm>
          <a:prstGeom prst="ellipse">
            <a:avLst/>
          </a:prstGeom>
          <a:solidFill>
            <a:srgbClr val="1F2A44"/>
          </a:solidFill>
          <a:ln w="12700">
            <a:solidFill>
              <a:srgbClr val="1F2A44"/>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93946" y="5508346"/>
            <a:ext cx="285293" cy="285293"/>
          </a:xfrm>
          <a:prstGeom prst="rect">
            <a:avLst/>
          </a:prstGeom>
        </p:spPr>
      </p:pic>
      <p:sp>
        <p:nvSpPr>
          <p:cNvPr id="11" name="NOA rule 2 text"/>
          <p:cNvSpPr txBox="1"/>
          <p:nvPr/>
        </p:nvSpPr>
        <p:spPr>
          <a:xfrm>
            <a:off x="516636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Precedence is a rule. </a:t>
            </a:r>
            <a:pPr indent="0" marL="0">
              <a:buNone/>
            </a:pPr>
            <a:r>
              <a:rPr lang="en-US" sz="1400" dirty="0">
                <a:solidFill>
                  <a:schemeClr val="tx2"/>
                </a:solidFill>
              </a:rPr>
              <a:t>A separation wins; a conversion is applied before a mover.</a:t>
            </a:r>
            <a:endParaRPr lang="en-US" sz="1400" dirty="0"/>
          </a:p>
        </p:txBody>
      </p:sp>
      <p:sp>
        <p:nvSpPr>
          <p:cNvPr id="12" name="NOA rule 3" descr="">
            <a:extLst>
              <a:ext uri="{C183D7F6-B498-43B3-948B-1728B52AA6E4}">
                <adec:decorative xmlns:adec="http://schemas.microsoft.com/office/drawing/2017/decorative" val="1"/>
              </a:ext>
            </a:extLst>
          </p:cNvPr>
          <p:cNvSpPr/>
          <p:nvPr/>
        </p:nvSpPr>
        <p:spPr>
          <a:xfrm>
            <a:off x="804672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Icon FaUserXmark" descr="">
            <a:extLst>
              <a:ext uri="{C183D7F6-B498-43B3-948B-1728B52AA6E4}">
                <adec:decorative xmlns:adec="http://schemas.microsoft.com/office/drawing/2017/decorative" val="1"/>
              </a:ext>
            </a:extLst>
          </p:cNvPr>
          <p:cNvSpPr/>
          <p:nvPr/>
        </p:nvSpPr>
        <p:spPr>
          <a:xfrm>
            <a:off x="8211312" y="5376672"/>
            <a:ext cx="548640" cy="548640"/>
          </a:xfrm>
          <a:prstGeom prst="ellipse">
            <a:avLst/>
          </a:prstGeom>
          <a:solidFill>
            <a:srgbClr val="B91C1C"/>
          </a:solidFill>
          <a:ln w="12700">
            <a:solidFill>
              <a:srgbClr val="B91C1C"/>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42986" y="5508346"/>
            <a:ext cx="285293" cy="285293"/>
          </a:xfrm>
          <a:prstGeom prst="rect">
            <a:avLst/>
          </a:prstGeom>
        </p:spPr>
      </p:pic>
      <p:sp>
        <p:nvSpPr>
          <p:cNvPr id="15" name="NOA rule 3 text"/>
          <p:cNvSpPr txBox="1"/>
          <p:nvPr/>
        </p:nvSpPr>
        <p:spPr>
          <a:xfrm>
            <a:off x="891540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Rescinded offers clean up </a:t>
            </a:r>
            <a:pPr indent="0" marL="0">
              <a:buNone/>
            </a:pPr>
            <a:r>
              <a:rPr lang="en-US" sz="1400" dirty="0">
                <a:solidFill>
                  <a:schemeClr val="tx2"/>
                </a:solidFill>
              </a:rPr>
              <a:t>the account created before day 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Model the person, not the account: layered identifiers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firstRow="1" bandRow="1"/>
              <a:tblGrid>
                <a:gridCol w="1965960"/>
                <a:gridCol w="2377440"/>
                <a:gridCol w="2240280"/>
                <a:gridCol w="1783080"/>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Identifies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Assigned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Changes when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94360">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Enterprise person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across every affiliation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agency — often an existing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Never, by design (to validate)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Source person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in one HR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Core HCM (or the contractor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source system changes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Affiliation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employment, contract or appointment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HR system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new affiliation begins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Directory object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account in one 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Entra ID or 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account is recreated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Credential identifiers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authenticator (PIV, certificate)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Card management or CA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credential is reissued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EDA card" descr="">
            <a:extLst>
              <a:ext uri="{C183D7F6-B498-43B3-948B-1728B52AA6E4}">
                <adec:decorative xmlns:adec="http://schemas.microsoft.com/office/drawing/2017/decorative" val="1"/>
              </a:ext>
            </a:extLst>
          </p:cNvPr>
          <p:cNvSpPr/>
          <p:nvPr/>
        </p:nvSpPr>
        <p:spPr>
          <a:xfrm>
            <a:off x="9144000" y="1371600"/>
            <a:ext cx="2514600" cy="356616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Sitemap" descr="">
            <a:extLst>
              <a:ext uri="{C183D7F6-B498-43B3-948B-1728B52AA6E4}">
                <adec:decorative xmlns:adec="http://schemas.microsoft.com/office/drawing/2017/decorative" val="1"/>
              </a:ext>
            </a:extLst>
          </p:cNvPr>
          <p:cNvSpPr/>
          <p:nvPr/>
        </p:nvSpPr>
        <p:spPr>
          <a:xfrm>
            <a:off x="9326880" y="1536192"/>
            <a:ext cx="457200" cy="457200"/>
          </a:xfrm>
          <a:prstGeom prst="ellipse">
            <a:avLst/>
          </a:prstGeom>
          <a:solidFill>
            <a:srgbClr val="0F766E"/>
          </a:solidFill>
          <a:ln w="12700">
            <a:solidFill>
              <a:srgbClr val="0F766E"/>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36608" y="1645920"/>
            <a:ext cx="237744" cy="237744"/>
          </a:xfrm>
          <a:prstGeom prst="rect">
            <a:avLst/>
          </a:prstGeom>
        </p:spPr>
      </p:pic>
      <p:sp>
        <p:nvSpPr>
          <p:cNvPr id="7" name="EDA heading"/>
          <p:cNvSpPr txBox="1"/>
          <p:nvPr/>
        </p:nvSpPr>
        <p:spPr>
          <a:xfrm>
            <a:off x="9875520" y="1536192"/>
            <a:ext cx="1737360" cy="45720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Why it matters</a:t>
            </a:r>
            <a:endParaRPr lang="en-US" sz="1700" dirty="0"/>
          </a:p>
        </p:txBody>
      </p:sp>
      <p:sp>
        <p:nvSpPr>
          <p:cNvPr id="8" name="EDA list"/>
          <p:cNvSpPr txBox="1"/>
          <p:nvPr/>
        </p:nvSpPr>
        <p:spPr>
          <a:xfrm>
            <a:off x="9326880" y="2148840"/>
            <a:ext cx="2194560" cy="2697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Entity modeling: the person is the tracked entity</a:t>
            </a:r>
            <a:endParaRPr lang="en-US" sz="1350" dirty="0"/>
          </a:p>
          <a:p>
            <a:pPr marL="342900" indent="-342900">
              <a:spcAft>
                <a:spcPts val="600"/>
              </a:spcAft>
              <a:buSzPct val="100000"/>
              <a:buChar char="•"/>
            </a:pPr>
            <a:r>
              <a:rPr lang="en-US" sz="1350" dirty="0">
                <a:solidFill>
                  <a:schemeClr val="tx2"/>
                </a:solidFill>
              </a:rPr>
              <a:t>Survives rehire, conversion and reorganization</a:t>
            </a:r>
            <a:endParaRPr lang="en-US" sz="1350" dirty="0"/>
          </a:p>
          <a:p>
            <a:pPr marL="342900" indent="-342900">
              <a:spcAft>
                <a:spcPts val="600"/>
              </a:spcAft>
              <a:buSzPct val="100000"/>
              <a:buChar char="•"/>
            </a:pPr>
            <a:r>
              <a:rPr lang="en-US" sz="1350" dirty="0">
                <a:solidFill>
                  <a:schemeClr val="tx2"/>
                </a:solidFill>
              </a:rPr>
              <a:t>The Core HCM cutover changes only the source key</a:t>
            </a:r>
            <a:endParaRPr lang="en-US" sz="1350" dirty="0"/>
          </a:p>
          <a:p>
            <a:pPr marL="342900" indent="-342900">
              <a:spcAft>
                <a:spcPts val="600"/>
              </a:spcAft>
              <a:buSzPct val="100000"/>
              <a:buChar char="•"/>
            </a:pPr>
            <a:r>
              <a:rPr lang="en-US" sz="1350" dirty="0">
                <a:solidFill>
                  <a:schemeClr val="tx2"/>
                </a:solidFill>
              </a:rPr>
              <a:t>No SSN as a join key</a:t>
            </a:r>
            <a:endParaRPr lang="en-US" sz="1350" dirty="0"/>
          </a:p>
        </p:txBody>
      </p:sp>
      <p:sp>
        <p:nvSpPr>
          <p:cNvPr id="9" name="Decision" descr="">
            <a:extLst>
              <a:ext uri="{C183D7F6-B498-43B3-948B-1728B52AA6E4}">
                <adec:decorative xmlns:adec="http://schemas.microsoft.com/office/drawing/2017/decorative" val="1"/>
              </a:ext>
            </a:extLst>
          </p:cNvPr>
          <p:cNvSpPr/>
          <p:nvPr/>
        </p:nvSpPr>
        <p:spPr>
          <a:xfrm>
            <a:off x="548640" y="516636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Decision text"/>
          <p:cNvSpPr txBox="1"/>
          <p:nvPr/>
        </p:nvSpPr>
        <p:spPr>
          <a:xfrm>
            <a:off x="868680" y="5212080"/>
            <a:ext cx="10515600" cy="777240"/>
          </a:xfrm>
          <a:prstGeom prst="rect">
            <a:avLst/>
          </a:prstGeom>
          <a:noFill/>
          <a:ln/>
        </p:spPr>
        <p:txBody>
          <a:bodyPr wrap="square" lIns="0" tIns="0" rIns="0" bIns="0" rtlCol="0" anchor="ctr"/>
          <a:lstStyle/>
          <a:p>
            <a:pPr indent="0" marL="0">
              <a:buNone/>
            </a:pPr>
            <a:r>
              <a:rPr lang="en-US" sz="1400" b="1" dirty="0">
                <a:solidFill>
                  <a:srgbClr val="B45309"/>
                </a:solidFill>
              </a:rPr>
              <a:t>Often the key already exists: </a:t>
            </a:r>
            <a:pPr indent="0" marL="0">
              <a:buNone/>
            </a:pPr>
            <a:r>
              <a:rPr lang="en-US" sz="1400" dirty="0">
                <a:solidFill>
                  <a:schemeClr val="tx2"/>
                </a:solidFill>
              </a:rPr>
              <a:t>for example, a Mainframe PIN, proposed for confirmation as the enterprise person key. Validate uniqueness, persistence, non-reassignment, coverage, privacy and history; then map Core HCM’s PersonNumber and every directory and credential key to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Proposed physical mapping: HR to Entra ID and AD</a:t>
            </a:r>
            <a:endParaRPr lang="en-US" sz="3000" dirty="0"/>
          </a:p>
        </p:txBody>
      </p:sp>
      <p:sp>
        <p:nvSpPr>
          <p:cNvPr id="3" name="Mapping caveat"/>
          <p:cNvSpPr txBox="1"/>
          <p:nvPr/>
        </p:nvSpPr>
        <p:spPr>
          <a:xfrm>
            <a:off x="548640" y="6144768"/>
            <a:ext cx="11064240" cy="228600"/>
          </a:xfrm>
          <a:prstGeom prst="rect">
            <a:avLst/>
          </a:prstGeom>
          <a:noFill/>
          <a:ln/>
        </p:spPr>
        <p:txBody>
          <a:bodyPr wrap="square" lIns="0" tIns="0" rIns="0" bIns="0" rtlCol="0" anchor="t"/>
          <a:lstStyle/>
          <a:p>
            <a:pPr indent="0" marL="0">
              <a:buNone/>
            </a:pPr>
            <a:r>
              <a:rPr lang="en-US" sz="1050" i="1" dirty="0">
                <a:solidFill>
                  <a:srgbClr val="64748B"/>
                </a:solidFill>
              </a:rPr>
              <a:t>Target attributes are implementation proposals subject to existing-use inventory, security review and tenant validation.</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firstRow="1" bandRow="1"/>
              <a:tblGrid>
                <a:gridCol w="2057400"/>
                <a:gridCol w="1828800"/>
                <a:gridCol w="2697480"/>
                <a:gridCol w="2606040"/>
                <a:gridCol w="1920240"/>
              </a:tblGrid>
              <a:tr h="509451">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HR (OPM standard 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Canonical model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Active Directory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ICAM 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Person (enterprise key)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personKey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Audit and SIEM joins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Agency / subelement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legalEmployer, orgCode</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companyName;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Component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Duty 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locationCode, country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officeLocation; usageLocation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physicalDeliveryOfficeName; co</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Location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Occupational series + pay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positionCategory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Role-based access packages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Supervisory status; supervisor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isSupervisor; manager</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 supervisor group)</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(DN)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Approvals and reviews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Nature of action +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lifecycle event</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hire and leave dates; accountEnabled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extensionAttribute2/3; 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Joiner, mover, leaver; PIV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Model rule 1" descr="">
            <a:extLst>
              <a:ext uri="{C183D7F6-B498-43B3-948B-1728B52AA6E4}">
                <adec:decorative xmlns:adec="http://schemas.microsoft.com/office/drawing/2017/decorative" val="1"/>
              </a:ext>
            </a:extLst>
          </p:cNvPr>
          <p:cNvSpPr/>
          <p:nvPr/>
        </p:nvSpPr>
        <p:spPr>
          <a:xfrm>
            <a:off x="54864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Cubes" descr="">
            <a:extLst>
              <a:ext uri="{C183D7F6-B498-43B3-948B-1728B52AA6E4}">
                <adec:decorative xmlns:adec="http://schemas.microsoft.com/office/drawing/2017/decorative" val="1"/>
              </a:ext>
            </a:extLst>
          </p:cNvPr>
          <p:cNvSpPr/>
          <p:nvPr/>
        </p:nvSpPr>
        <p:spPr>
          <a:xfrm>
            <a:off x="713232" y="5440680"/>
            <a:ext cx="548640" cy="548640"/>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4906" y="5572354"/>
            <a:ext cx="285293" cy="285293"/>
          </a:xfrm>
          <a:prstGeom prst="rect">
            <a:avLst/>
          </a:prstGeom>
        </p:spPr>
      </p:pic>
      <p:sp>
        <p:nvSpPr>
          <p:cNvPr id="8" name="Model rule 1 text"/>
          <p:cNvSpPr txBox="1"/>
          <p:nvPr/>
        </p:nvSpPr>
        <p:spPr>
          <a:xfrm>
            <a:off x="141732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Native attributes first</a:t>
            </a:r>
            <a:endParaRPr lang="en-US" sz="1500" dirty="0"/>
          </a:p>
          <a:p>
            <a:pPr indent="0" marL="0">
              <a:buNone/>
            </a:pPr>
            <a:r>
              <a:rPr lang="en-US" sz="1350" dirty="0">
                <a:solidFill>
                  <a:schemeClr val="tx2"/>
                </a:solidFill>
              </a:rPr>
              <a:t>Extensions only where a rule can’t read a native property.</a:t>
            </a:r>
            <a:endParaRPr lang="en-US" sz="1500" dirty="0"/>
          </a:p>
        </p:txBody>
      </p:sp>
      <p:sp>
        <p:nvSpPr>
          <p:cNvPr id="9" name="Model rule 2" descr="">
            <a:extLst>
              <a:ext uri="{C183D7F6-B498-43B3-948B-1728B52AA6E4}">
                <adec:decorative xmlns:adec="http://schemas.microsoft.com/office/drawing/2017/decorative" val="1"/>
              </a:ext>
            </a:extLst>
          </p:cNvPr>
          <p:cNvSpPr/>
          <p:nvPr/>
        </p:nvSpPr>
        <p:spPr>
          <a:xfrm>
            <a:off x="429768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Hashtag" descr="">
            <a:extLst>
              <a:ext uri="{C183D7F6-B498-43B3-948B-1728B52AA6E4}">
                <adec:decorative xmlns:adec="http://schemas.microsoft.com/office/drawing/2017/decorative" val="1"/>
              </a:ext>
            </a:extLst>
          </p:cNvPr>
          <p:cNvSpPr/>
          <p:nvPr/>
        </p:nvSpPr>
        <p:spPr>
          <a:xfrm>
            <a:off x="4462272" y="5440680"/>
            <a:ext cx="548640" cy="54864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93946" y="5572354"/>
            <a:ext cx="285293" cy="285293"/>
          </a:xfrm>
          <a:prstGeom prst="rect">
            <a:avLst/>
          </a:prstGeom>
        </p:spPr>
      </p:pic>
      <p:sp>
        <p:nvSpPr>
          <p:cNvPr id="12" name="Model rule 2 text"/>
          <p:cNvSpPr txBox="1"/>
          <p:nvPr/>
        </p:nvSpPr>
        <p:spPr>
          <a:xfrm>
            <a:off x="516636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Codes, not display strings</a:t>
            </a:r>
            <a:endParaRPr lang="en-US" sz="1500" dirty="0"/>
          </a:p>
          <a:p>
            <a:pPr indent="0" marL="0">
              <a:buNone/>
            </a:pPr>
            <a:r>
              <a:rPr lang="en-US" sz="1350" dirty="0">
                <a:solidFill>
                  <a:schemeClr val="tx2"/>
                </a:solidFill>
              </a:rPr>
              <a:t>Access rules read codes that change only when the fact does.</a:t>
            </a:r>
            <a:endParaRPr lang="en-US" sz="1500" dirty="0"/>
          </a:p>
        </p:txBody>
      </p:sp>
      <p:sp>
        <p:nvSpPr>
          <p:cNvPr id="13" name="Model rule 3" descr="">
            <a:extLst>
              <a:ext uri="{C183D7F6-B498-43B3-948B-1728B52AA6E4}">
                <adec:decorative xmlns:adec="http://schemas.microsoft.com/office/drawing/2017/decorative" val="1"/>
              </a:ext>
            </a:extLst>
          </p:cNvPr>
          <p:cNvSpPr/>
          <p:nvPr/>
        </p:nvSpPr>
        <p:spPr>
          <a:xfrm>
            <a:off x="804672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TableList" descr="">
            <a:extLst>
              <a:ext uri="{C183D7F6-B498-43B3-948B-1728B52AA6E4}">
                <adec:decorative xmlns:adec="http://schemas.microsoft.com/office/drawing/2017/decorative" val="1"/>
              </a:ext>
            </a:extLst>
          </p:cNvPr>
          <p:cNvSpPr/>
          <p:nvPr/>
        </p:nvSpPr>
        <p:spPr>
          <a:xfrm>
            <a:off x="8211312" y="5440680"/>
            <a:ext cx="548640" cy="548640"/>
          </a:xfrm>
          <a:prstGeom prst="ellipse">
            <a:avLst/>
          </a:prstGeom>
          <a:solidFill>
            <a:srgbClr val="0F766E"/>
          </a:solidFill>
          <a:ln w="12700">
            <a:solidFill>
              <a:srgbClr val="0F766E"/>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42986" y="5572354"/>
            <a:ext cx="285293" cy="285293"/>
          </a:xfrm>
          <a:prstGeom prst="rect">
            <a:avLst/>
          </a:prstGeom>
        </p:spPr>
      </p:pic>
      <p:sp>
        <p:nvSpPr>
          <p:cNvPr id="16" name="Model rule 3 text"/>
          <p:cNvSpPr txBox="1"/>
          <p:nvPr/>
        </p:nvSpPr>
        <p:spPr>
          <a:xfrm>
            <a:off x="891540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One crosswalk, governed</a:t>
            </a:r>
            <a:endParaRPr lang="en-US" sz="1500" dirty="0"/>
          </a:p>
          <a:p>
            <a:pPr indent="0" marL="0">
              <a:buNone/>
            </a:pPr>
            <a:r>
              <a:rPr lang="en-US" sz="1350" dirty="0">
                <a:solidFill>
                  <a:schemeClr val="tx2"/>
                </a:solidFill>
              </a:rPr>
              <a:t>Versioned, change-controlled, and the only place mappings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Logical architecture and Microsoft realization</a:t>
            </a:r>
            <a:endParaRPr lang="en-US" sz="3000" dirty="0"/>
          </a:p>
        </p:txBody>
      </p:sp>
      <p:sp>
        <p:nvSpPr>
          <p:cNvPr id="3" name="Row label 1"/>
          <p:cNvSpPr txBox="1"/>
          <p:nvPr/>
        </p:nvSpPr>
        <p:spPr>
          <a:xfrm>
            <a:off x="548640" y="1307592"/>
            <a:ext cx="7315200" cy="320040"/>
          </a:xfrm>
          <a:prstGeom prst="rect">
            <a:avLst/>
          </a:prstGeom>
          <a:noFill/>
          <a:ln/>
        </p:spPr>
        <p:txBody>
          <a:bodyPr wrap="square" lIns="0" tIns="0" rIns="0" bIns="0" rtlCol="0" anchor="t"/>
          <a:lstStyle/>
          <a:p>
            <a:pPr indent="0" marL="0">
              <a:buNone/>
            </a:pPr>
            <a:r>
              <a:rPr lang="en-US" sz="1400" b="1" dirty="0">
                <a:solidFill>
                  <a:srgbClr val="1F2A44"/>
                </a:solidFill>
              </a:rPr>
              <a:t>Logical architecture — stable</a:t>
            </a:r>
            <a:endParaRPr lang="en-US" sz="1400" dirty="0"/>
          </a:p>
        </p:txBody>
      </p:sp>
      <p:sp>
        <p:nvSpPr>
          <p:cNvPr id="4" name="LM 1.1" descr="">
            <a:extLst>
              <a:ext uri="{C183D7F6-B498-43B3-948B-1728B52AA6E4}">
                <adec:decorative xmlns:adec="http://schemas.microsoft.com/office/drawing/2017/decorative" val="1"/>
              </a:ext>
            </a:extLst>
          </p:cNvPr>
          <p:cNvSpPr/>
          <p:nvPr/>
        </p:nvSpPr>
        <p:spPr>
          <a:xfrm>
            <a:off x="54864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5" name="LM 1.1 text"/>
          <p:cNvSpPr txBox="1"/>
          <p:nvPr/>
        </p:nvSpPr>
        <p:spPr>
          <a:xfrm>
            <a:off x="64008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Authoritative source</a:t>
            </a:r>
            <a:endParaRPr lang="en-US" sz="1350" dirty="0"/>
          </a:p>
        </p:txBody>
      </p:sp>
      <p:sp>
        <p:nvSpPr>
          <p:cNvPr id="6" name="Shape 4" descr="">
            <a:extLst>
              <a:ext uri="{C183D7F6-B498-43B3-948B-1728B52AA6E4}">
                <adec:decorative xmlns:adec="http://schemas.microsoft.com/office/drawing/2017/decorative" val="1"/>
              </a:ext>
            </a:extLst>
          </p:cNvPr>
          <p:cNvSpPr/>
          <p:nvPr/>
        </p:nvSpPr>
        <p:spPr>
          <a:xfrm>
            <a:off x="2606040" y="2148840"/>
            <a:ext cx="205740" cy="0"/>
          </a:xfrm>
          <a:prstGeom prst="line">
            <a:avLst/>
          </a:prstGeom>
          <a:noFill/>
          <a:ln w="22225">
            <a:solidFill>
              <a:srgbClr val="1F2A44"/>
            </a:solidFill>
            <a:prstDash val="solid"/>
            <a:tailEnd type="triangle"/>
          </a:ln>
        </p:spPr>
      </p:sp>
      <p:sp>
        <p:nvSpPr>
          <p:cNvPr id="7" name="LM 1.2" descr="">
            <a:extLst>
              <a:ext uri="{C183D7F6-B498-43B3-948B-1728B52AA6E4}">
                <adec:decorative xmlns:adec="http://schemas.microsoft.com/office/drawing/2017/decorative" val="1"/>
              </a:ext>
            </a:extLst>
          </p:cNvPr>
          <p:cNvSpPr/>
          <p:nvPr/>
        </p:nvSpPr>
        <p:spPr>
          <a:xfrm>
            <a:off x="281178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LM 1.2 text"/>
          <p:cNvSpPr txBox="1"/>
          <p:nvPr/>
        </p:nvSpPr>
        <p:spPr>
          <a:xfrm>
            <a:off x="290322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Boundary transformation</a:t>
            </a:r>
            <a:endParaRPr lang="en-US" sz="1350" dirty="0"/>
          </a:p>
        </p:txBody>
      </p:sp>
      <p:sp>
        <p:nvSpPr>
          <p:cNvPr id="9" name="Shape 7" descr="">
            <a:extLst>
              <a:ext uri="{C183D7F6-B498-43B3-948B-1728B52AA6E4}">
                <adec:decorative xmlns:adec="http://schemas.microsoft.com/office/drawing/2017/decorative" val="1"/>
              </a:ext>
            </a:extLst>
          </p:cNvPr>
          <p:cNvSpPr/>
          <p:nvPr/>
        </p:nvSpPr>
        <p:spPr>
          <a:xfrm>
            <a:off x="4869180" y="2148840"/>
            <a:ext cx="205740" cy="0"/>
          </a:xfrm>
          <a:prstGeom prst="line">
            <a:avLst/>
          </a:prstGeom>
          <a:noFill/>
          <a:ln w="22225">
            <a:solidFill>
              <a:srgbClr val="1F2A44"/>
            </a:solidFill>
            <a:prstDash val="solid"/>
            <a:tailEnd type="triangle"/>
          </a:ln>
        </p:spPr>
      </p:sp>
      <p:sp>
        <p:nvSpPr>
          <p:cNvPr id="10" name="LM 1.3" descr="">
            <a:extLst>
              <a:ext uri="{C183D7F6-B498-43B3-948B-1728B52AA6E4}">
                <adec:decorative xmlns:adec="http://schemas.microsoft.com/office/drawing/2017/decorative" val="1"/>
              </a:ext>
            </a:extLst>
          </p:cNvPr>
          <p:cNvSpPr/>
          <p:nvPr/>
        </p:nvSpPr>
        <p:spPr>
          <a:xfrm>
            <a:off x="507492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LM 1.3 text"/>
          <p:cNvSpPr txBox="1"/>
          <p:nvPr/>
        </p:nvSpPr>
        <p:spPr>
          <a:xfrm>
            <a:off x="516636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Governed identity model</a:t>
            </a:r>
            <a:endParaRPr lang="en-US" sz="1350" dirty="0"/>
          </a:p>
        </p:txBody>
      </p:sp>
      <p:sp>
        <p:nvSpPr>
          <p:cNvPr id="12" name="Shape 10" descr="">
            <a:extLst>
              <a:ext uri="{C183D7F6-B498-43B3-948B-1728B52AA6E4}">
                <adec:decorative xmlns:adec="http://schemas.microsoft.com/office/drawing/2017/decorative" val="1"/>
              </a:ext>
            </a:extLst>
          </p:cNvPr>
          <p:cNvSpPr/>
          <p:nvPr/>
        </p:nvSpPr>
        <p:spPr>
          <a:xfrm>
            <a:off x="7132320" y="2148840"/>
            <a:ext cx="205740" cy="0"/>
          </a:xfrm>
          <a:prstGeom prst="line">
            <a:avLst/>
          </a:prstGeom>
          <a:noFill/>
          <a:ln w="22225">
            <a:solidFill>
              <a:srgbClr val="1F2A44"/>
            </a:solidFill>
            <a:prstDash val="solid"/>
            <a:tailEnd type="triangle"/>
          </a:ln>
        </p:spPr>
      </p:sp>
      <p:sp>
        <p:nvSpPr>
          <p:cNvPr id="13" name="LM 1.4" descr="">
            <a:extLst>
              <a:ext uri="{C183D7F6-B498-43B3-948B-1728B52AA6E4}">
                <adec:decorative xmlns:adec="http://schemas.microsoft.com/office/drawing/2017/decorative" val="1"/>
              </a:ext>
            </a:extLst>
          </p:cNvPr>
          <p:cNvSpPr/>
          <p:nvPr/>
        </p:nvSpPr>
        <p:spPr>
          <a:xfrm>
            <a:off x="733806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4" name="LM 1.4 text"/>
          <p:cNvSpPr txBox="1"/>
          <p:nvPr/>
        </p:nvSpPr>
        <p:spPr>
          <a:xfrm>
            <a:off x="742950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Provisioning service</a:t>
            </a:r>
            <a:endParaRPr lang="en-US" sz="1350" dirty="0"/>
          </a:p>
        </p:txBody>
      </p:sp>
      <p:sp>
        <p:nvSpPr>
          <p:cNvPr id="15" name="Shape 13" descr="">
            <a:extLst>
              <a:ext uri="{C183D7F6-B498-43B3-948B-1728B52AA6E4}">
                <adec:decorative xmlns:adec="http://schemas.microsoft.com/office/drawing/2017/decorative" val="1"/>
              </a:ext>
            </a:extLst>
          </p:cNvPr>
          <p:cNvSpPr/>
          <p:nvPr/>
        </p:nvSpPr>
        <p:spPr>
          <a:xfrm>
            <a:off x="9395460" y="2148840"/>
            <a:ext cx="205740" cy="0"/>
          </a:xfrm>
          <a:prstGeom prst="line">
            <a:avLst/>
          </a:prstGeom>
          <a:noFill/>
          <a:ln w="22225">
            <a:solidFill>
              <a:srgbClr val="1F2A44"/>
            </a:solidFill>
            <a:prstDash val="solid"/>
            <a:tailEnd type="triangle"/>
          </a:ln>
        </p:spPr>
      </p:sp>
      <p:sp>
        <p:nvSpPr>
          <p:cNvPr id="16" name="LM 1.5" descr="">
            <a:extLst>
              <a:ext uri="{C183D7F6-B498-43B3-948B-1728B52AA6E4}">
                <adec:decorative xmlns:adec="http://schemas.microsoft.com/office/drawing/2017/decorative" val="1"/>
              </a:ext>
            </a:extLst>
          </p:cNvPr>
          <p:cNvSpPr/>
          <p:nvPr/>
        </p:nvSpPr>
        <p:spPr>
          <a:xfrm>
            <a:off x="960120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LM 1.5 text"/>
          <p:cNvSpPr txBox="1"/>
          <p:nvPr/>
        </p:nvSpPr>
        <p:spPr>
          <a:xfrm>
            <a:off x="969264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Targets and ICAM</a:t>
            </a:r>
            <a:endParaRPr lang="en-US" sz="1350" dirty="0"/>
          </a:p>
        </p:txBody>
      </p:sp>
      <p:sp>
        <p:nvSpPr>
          <p:cNvPr id="18" name="Row label 2"/>
          <p:cNvSpPr txBox="1"/>
          <p:nvPr/>
        </p:nvSpPr>
        <p:spPr>
          <a:xfrm>
            <a:off x="548640" y="2724912"/>
            <a:ext cx="7315200" cy="320040"/>
          </a:xfrm>
          <a:prstGeom prst="rect">
            <a:avLst/>
          </a:prstGeom>
          <a:noFill/>
          <a:ln/>
        </p:spPr>
        <p:txBody>
          <a:bodyPr wrap="square" lIns="0" tIns="0" rIns="0" bIns="0" rtlCol="0" anchor="t"/>
          <a:lstStyle/>
          <a:p>
            <a:pPr indent="0" marL="0">
              <a:buNone/>
            </a:pPr>
            <a:r>
              <a:rPr lang="en-US" sz="1400" b="1" dirty="0">
                <a:solidFill>
                  <a:srgbClr val="0F766E"/>
                </a:solidFill>
              </a:rPr>
              <a:t>Microsoft realization — replaceable</a:t>
            </a:r>
            <a:endParaRPr lang="en-US" sz="1400" dirty="0"/>
          </a:p>
        </p:txBody>
      </p:sp>
      <p:sp>
        <p:nvSpPr>
          <p:cNvPr id="19" name="LM 2.1" descr="">
            <a:extLst>
              <a:ext uri="{C183D7F6-B498-43B3-948B-1728B52AA6E4}">
                <adec:decorative xmlns:adec="http://schemas.microsoft.com/office/drawing/2017/decorative" val="1"/>
              </a:ext>
            </a:extLst>
          </p:cNvPr>
          <p:cNvSpPr/>
          <p:nvPr/>
        </p:nvSpPr>
        <p:spPr>
          <a:xfrm>
            <a:off x="54864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LM 2.1 text"/>
          <p:cNvSpPr txBox="1"/>
          <p:nvPr/>
        </p:nvSpPr>
        <p:spPr>
          <a:xfrm>
            <a:off x="64008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Oracle Core HCM</a:t>
            </a:r>
            <a:endParaRPr lang="en-US" sz="1350" dirty="0"/>
          </a:p>
        </p:txBody>
      </p:sp>
      <p:sp>
        <p:nvSpPr>
          <p:cNvPr id="21" name="Shape 19" descr="">
            <a:extLst>
              <a:ext uri="{C183D7F6-B498-43B3-948B-1728B52AA6E4}">
                <adec:decorative xmlns:adec="http://schemas.microsoft.com/office/drawing/2017/decorative" val="1"/>
              </a:ext>
            </a:extLst>
          </p:cNvPr>
          <p:cNvSpPr/>
          <p:nvPr/>
        </p:nvSpPr>
        <p:spPr>
          <a:xfrm>
            <a:off x="2606040" y="3566160"/>
            <a:ext cx="205740" cy="0"/>
          </a:xfrm>
          <a:prstGeom prst="line">
            <a:avLst/>
          </a:prstGeom>
          <a:noFill/>
          <a:ln w="22225">
            <a:solidFill>
              <a:srgbClr val="0F766E"/>
            </a:solidFill>
            <a:prstDash val="solid"/>
            <a:tailEnd type="triangle"/>
          </a:ln>
        </p:spPr>
      </p:sp>
      <p:sp>
        <p:nvSpPr>
          <p:cNvPr id="22" name="LM 2.2" descr="">
            <a:extLst>
              <a:ext uri="{C183D7F6-B498-43B3-948B-1728B52AA6E4}">
                <adec:decorative xmlns:adec="http://schemas.microsoft.com/office/drawing/2017/decorative" val="1"/>
              </a:ext>
            </a:extLst>
          </p:cNvPr>
          <p:cNvSpPr/>
          <p:nvPr/>
        </p:nvSpPr>
        <p:spPr>
          <a:xfrm>
            <a:off x="281178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LM 2.2 text"/>
          <p:cNvSpPr txBox="1"/>
          <p:nvPr/>
        </p:nvSpPr>
        <p:spPr>
          <a:xfrm>
            <a:off x="290322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Azure Functions or Logic Apps</a:t>
            </a:r>
            <a:endParaRPr lang="en-US" sz="1350" dirty="0"/>
          </a:p>
        </p:txBody>
      </p:sp>
      <p:sp>
        <p:nvSpPr>
          <p:cNvPr id="24" name="Shape 22" descr="">
            <a:extLst>
              <a:ext uri="{C183D7F6-B498-43B3-948B-1728B52AA6E4}">
                <adec:decorative xmlns:adec="http://schemas.microsoft.com/office/drawing/2017/decorative" val="1"/>
              </a:ext>
            </a:extLst>
          </p:cNvPr>
          <p:cNvSpPr/>
          <p:nvPr/>
        </p:nvSpPr>
        <p:spPr>
          <a:xfrm>
            <a:off x="4869180" y="3566160"/>
            <a:ext cx="205740" cy="0"/>
          </a:xfrm>
          <a:prstGeom prst="line">
            <a:avLst/>
          </a:prstGeom>
          <a:noFill/>
          <a:ln w="22225">
            <a:solidFill>
              <a:srgbClr val="0F766E"/>
            </a:solidFill>
            <a:prstDash val="solid"/>
            <a:tailEnd type="triangle"/>
          </a:ln>
        </p:spPr>
      </p:sp>
      <p:sp>
        <p:nvSpPr>
          <p:cNvPr id="25" name="LM 2.3" descr="">
            <a:extLst>
              <a:ext uri="{C183D7F6-B498-43B3-948B-1728B52AA6E4}">
                <adec:decorative xmlns:adec="http://schemas.microsoft.com/office/drawing/2017/decorative" val="1"/>
              </a:ext>
            </a:extLst>
          </p:cNvPr>
          <p:cNvSpPr/>
          <p:nvPr/>
        </p:nvSpPr>
        <p:spPr>
          <a:xfrm>
            <a:off x="507492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LM 2.3 text"/>
          <p:cNvSpPr txBox="1"/>
          <p:nvPr/>
        </p:nvSpPr>
        <p:spPr>
          <a:xfrm>
            <a:off x="516636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Canonical model and provenance store</a:t>
            </a:r>
            <a:endParaRPr lang="en-US" sz="1350" dirty="0"/>
          </a:p>
        </p:txBody>
      </p:sp>
      <p:sp>
        <p:nvSpPr>
          <p:cNvPr id="27" name="Shape 25" descr="">
            <a:extLst>
              <a:ext uri="{C183D7F6-B498-43B3-948B-1728B52AA6E4}">
                <adec:decorative xmlns:adec="http://schemas.microsoft.com/office/drawing/2017/decorative" val="1"/>
              </a:ext>
            </a:extLst>
          </p:cNvPr>
          <p:cNvSpPr/>
          <p:nvPr/>
        </p:nvSpPr>
        <p:spPr>
          <a:xfrm>
            <a:off x="7132320" y="3566160"/>
            <a:ext cx="205740" cy="0"/>
          </a:xfrm>
          <a:prstGeom prst="line">
            <a:avLst/>
          </a:prstGeom>
          <a:noFill/>
          <a:ln w="22225">
            <a:solidFill>
              <a:srgbClr val="0F766E"/>
            </a:solidFill>
            <a:prstDash val="solid"/>
            <a:tailEnd type="triangle"/>
          </a:ln>
        </p:spPr>
      </p:sp>
      <p:sp>
        <p:nvSpPr>
          <p:cNvPr id="28" name="LM 2.4" descr="">
            <a:extLst>
              <a:ext uri="{C183D7F6-B498-43B3-948B-1728B52AA6E4}">
                <adec:decorative xmlns:adec="http://schemas.microsoft.com/office/drawing/2017/decorative" val="1"/>
              </a:ext>
            </a:extLst>
          </p:cNvPr>
          <p:cNvSpPr/>
          <p:nvPr/>
        </p:nvSpPr>
        <p:spPr>
          <a:xfrm>
            <a:off x="733806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9" name="LM 2.4 text"/>
          <p:cNvSpPr txBox="1"/>
          <p:nvPr/>
        </p:nvSpPr>
        <p:spPr>
          <a:xfrm>
            <a:off x="742950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Graph /bulkUpload; Entra provisioning</a:t>
            </a:r>
            <a:endParaRPr lang="en-US" sz="1350" dirty="0"/>
          </a:p>
        </p:txBody>
      </p:sp>
      <p:sp>
        <p:nvSpPr>
          <p:cNvPr id="30" name="Shape 28" descr="">
            <a:extLst>
              <a:ext uri="{C183D7F6-B498-43B3-948B-1728B52AA6E4}">
                <adec:decorative xmlns:adec="http://schemas.microsoft.com/office/drawing/2017/decorative" val="1"/>
              </a:ext>
            </a:extLst>
          </p:cNvPr>
          <p:cNvSpPr/>
          <p:nvPr/>
        </p:nvSpPr>
        <p:spPr>
          <a:xfrm>
            <a:off x="9395460" y="3566160"/>
            <a:ext cx="205740" cy="0"/>
          </a:xfrm>
          <a:prstGeom prst="line">
            <a:avLst/>
          </a:prstGeom>
          <a:noFill/>
          <a:ln w="22225">
            <a:solidFill>
              <a:srgbClr val="0F766E"/>
            </a:solidFill>
            <a:prstDash val="solid"/>
            <a:tailEnd type="triangle"/>
          </a:ln>
        </p:spPr>
      </p:sp>
      <p:sp>
        <p:nvSpPr>
          <p:cNvPr id="31" name="LM 2.5" descr="">
            <a:extLst>
              <a:ext uri="{C183D7F6-B498-43B3-948B-1728B52AA6E4}">
                <adec:decorative xmlns:adec="http://schemas.microsoft.com/office/drawing/2017/decorative" val="1"/>
              </a:ext>
            </a:extLst>
          </p:cNvPr>
          <p:cNvSpPr/>
          <p:nvPr/>
        </p:nvSpPr>
        <p:spPr>
          <a:xfrm>
            <a:off x="960120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2" name="LM 2.5 text"/>
          <p:cNvSpPr txBox="1"/>
          <p:nvPr/>
        </p:nvSpPr>
        <p:spPr>
          <a:xfrm>
            <a:off x="969264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Entra ID, AD, Intune, card management</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9144000" cy="1463040"/>
        </p:xfrm>
        <a:graphic>
          <a:graphicData uri="http://schemas.openxmlformats.org/drawingml/2006/table">
            <a:tbl>
              <a:tblPr firstRow="1" bandRow="1"/>
              <a:tblGrid>
                <a:gridCol w="2103120"/>
                <a:gridCol w="4480560"/>
                <a:gridCol w="4526280"/>
              </a:tblGrid>
              <a:tr h="48768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Directory migration (AD →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HR-driven identity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Users’ source of authority moves from AD to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HR becomes the start of authority for both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Without the other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Ticket-created accounts, migrated as they are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HR feed into a directory about to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ICAM: attributes drive credentials, assurance and access</a:t>
            </a:r>
            <a:endParaRPr lang="en-US" sz="3000" dirty="0"/>
          </a:p>
        </p:txBody>
      </p:sp>
      <p:sp>
        <p:nvSpPr>
          <p:cNvPr id="3" name="Credentials card" descr="">
            <a:extLst>
              <a:ext uri="{C183D7F6-B498-43B3-948B-1728B52AA6E4}">
                <adec:decorative xmlns:adec="http://schemas.microsoft.com/office/drawing/2017/decorative" val="1"/>
              </a:ext>
            </a:extLst>
          </p:cNvPr>
          <p:cNvSpPr/>
          <p:nvPr/>
        </p:nvSpPr>
        <p:spPr>
          <a:xfrm>
            <a:off x="548640" y="1417320"/>
            <a:ext cx="361188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IdCard" descr="">
            <a:extLst>
              <a:ext uri="{C183D7F6-B498-43B3-948B-1728B52AA6E4}">
                <adec:decorative xmlns:adec="http://schemas.microsoft.com/office/drawing/2017/decorative" val="1"/>
              </a:ext>
            </a:extLst>
          </p:cNvPr>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8914" y="1750162"/>
            <a:ext cx="285293" cy="285293"/>
          </a:xfrm>
          <a:prstGeom prst="rect">
            <a:avLst/>
          </a:prstGeom>
        </p:spPr>
      </p:pic>
      <p:sp>
        <p:nvSpPr>
          <p:cNvPr id="6" name="Credential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Credentials</a:t>
            </a:r>
            <a:endParaRPr lang="en-US" sz="1800" dirty="0"/>
          </a:p>
        </p:txBody>
      </p:sp>
      <p:sp>
        <p:nvSpPr>
          <p:cNvPr id="7" name="Credentials text"/>
          <p:cNvSpPr txBox="1"/>
          <p:nvPr/>
        </p:nvSpPr>
        <p:spPr>
          <a:xfrm>
            <a:off x="77724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Joiner schedules PIV enrollment</a:t>
            </a:r>
            <a:endParaRPr lang="en-US" sz="1550" dirty="0"/>
          </a:p>
          <a:p>
            <a:pPr marL="342900" indent="-342900">
              <a:spcAft>
                <a:spcPts val="500"/>
              </a:spcAft>
              <a:buSzPct val="100000"/>
              <a:buChar char="•"/>
            </a:pPr>
            <a:r>
              <a:rPr lang="en-US" sz="1550" dirty="0">
                <a:solidFill>
                  <a:schemeClr val="tx2"/>
                </a:solidFill>
              </a:rPr>
              <a:t>Leaver: block sign-in and sessions first, then revoke PIV, derived credentials and devices in parallel</a:t>
            </a:r>
            <a:endParaRPr lang="en-US" sz="1550" dirty="0"/>
          </a:p>
          <a:p>
            <a:pPr marL="342900" indent="-342900">
              <a:spcAft>
                <a:spcPts val="500"/>
              </a:spcAft>
              <a:buSzPct val="100000"/>
              <a:buChar char="•"/>
            </a:pPr>
            <a:r>
              <a:rPr lang="en-US" sz="1550" dirty="0">
                <a:solidFill>
                  <a:schemeClr val="tx2"/>
                </a:solidFill>
              </a:rPr>
              <a:t>Every revocation reconciled to completion</a:t>
            </a:r>
            <a:endParaRPr lang="en-US" sz="1550" dirty="0"/>
          </a:p>
        </p:txBody>
      </p:sp>
      <p:sp>
        <p:nvSpPr>
          <p:cNvPr id="8" name="Assurance card" descr="">
            <a:extLst>
              <a:ext uri="{C183D7F6-B498-43B3-948B-1728B52AA6E4}">
                <adec:decorative xmlns:adec="http://schemas.microsoft.com/office/drawing/2017/decorative" val="1"/>
              </a:ext>
            </a:extLst>
          </p:cNvPr>
          <p:cNvSpPr/>
          <p:nvPr/>
        </p:nvSpPr>
        <p:spPr>
          <a:xfrm>
            <a:off x="4297680" y="1417320"/>
            <a:ext cx="361188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Fingerprint" descr="">
            <a:extLst>
              <a:ext uri="{C183D7F6-B498-43B3-948B-1728B52AA6E4}">
                <adec:decorative xmlns:adec="http://schemas.microsoft.com/office/drawing/2017/decorative" val="1"/>
              </a:ext>
            </a:extLst>
          </p:cNvPr>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57954" y="1750162"/>
            <a:ext cx="285293" cy="285293"/>
          </a:xfrm>
          <a:prstGeom prst="rect">
            <a:avLst/>
          </a:prstGeom>
        </p:spPr>
      </p:pic>
      <p:sp>
        <p:nvSpPr>
          <p:cNvPr id="11" name="Assurance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Assurance</a:t>
            </a:r>
            <a:endParaRPr lang="en-US" sz="1800" dirty="0"/>
          </a:p>
        </p:txBody>
      </p:sp>
      <p:sp>
        <p:nvSpPr>
          <p:cNvPr id="12" name="Assurance text"/>
          <p:cNvSpPr txBox="1"/>
          <p:nvPr/>
        </p:nvSpPr>
        <p:spPr>
          <a:xfrm>
            <a:off x="452628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Record proofing (IAL) and authenticator assurance (AAL) per person</a:t>
            </a:r>
            <a:endParaRPr lang="en-US" sz="1550" dirty="0"/>
          </a:p>
          <a:p>
            <a:pPr marL="342900" indent="-342900">
              <a:spcAft>
                <a:spcPts val="500"/>
              </a:spcAft>
              <a:buSzPct val="100000"/>
              <a:buChar char="•"/>
            </a:pPr>
            <a:r>
              <a:rPr lang="en-US" sz="1550" dirty="0">
                <a:solidFill>
                  <a:schemeClr val="tx2"/>
                </a:solidFill>
              </a:rPr>
              <a:t>Missing proofing evidence is itself a finding</a:t>
            </a:r>
            <a:endParaRPr lang="en-US" sz="1550" dirty="0"/>
          </a:p>
          <a:p>
            <a:pPr marL="342900" indent="-342900">
              <a:spcAft>
                <a:spcPts val="500"/>
              </a:spcAft>
              <a:buSzPct val="100000"/>
              <a:buChar char="•"/>
            </a:pPr>
            <a:r>
              <a:rPr lang="en-US" sz="1550" dirty="0">
                <a:solidFill>
                  <a:schemeClr val="tx2"/>
                </a:solidFill>
              </a:rPr>
              <a:t>Phishing-resistant MFA per OMB M‑22‑09</a:t>
            </a:r>
            <a:endParaRPr lang="en-US" sz="1550" dirty="0"/>
          </a:p>
        </p:txBody>
      </p:sp>
      <p:sp>
        <p:nvSpPr>
          <p:cNvPr id="13" name="Access card" descr="">
            <a:extLst>
              <a:ext uri="{C183D7F6-B498-43B3-948B-1728B52AA6E4}">
                <adec:decorative xmlns:adec="http://schemas.microsoft.com/office/drawing/2017/decorative" val="1"/>
              </a:ext>
            </a:extLst>
          </p:cNvPr>
          <p:cNvSpPr/>
          <p:nvPr/>
        </p:nvSpPr>
        <p:spPr>
          <a:xfrm>
            <a:off x="8046720" y="1417320"/>
            <a:ext cx="361188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Key" descr="">
            <a:extLst>
              <a:ext uri="{C183D7F6-B498-43B3-948B-1728B52AA6E4}">
                <adec:decorative xmlns:adec="http://schemas.microsoft.com/office/drawing/2017/decorative" val="1"/>
              </a:ext>
            </a:extLst>
          </p:cNvPr>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06994" y="1750162"/>
            <a:ext cx="285293" cy="285293"/>
          </a:xfrm>
          <a:prstGeom prst="rect">
            <a:avLst/>
          </a:prstGeom>
        </p:spPr>
      </p:pic>
      <p:sp>
        <p:nvSpPr>
          <p:cNvPr id="16" name="Access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Access</a:t>
            </a:r>
            <a:endParaRPr lang="en-US" sz="1800" dirty="0"/>
          </a:p>
        </p:txBody>
      </p:sp>
      <p:sp>
        <p:nvSpPr>
          <p:cNvPr id="17" name="Access text"/>
          <p:cNvSpPr txBox="1"/>
          <p:nvPr/>
        </p:nvSpPr>
        <p:spPr>
          <a:xfrm>
            <a:off x="827532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Baseline access derived by rule from standard attributes</a:t>
            </a:r>
            <a:endParaRPr lang="en-US" sz="1550" dirty="0"/>
          </a:p>
          <a:p>
            <a:pPr marL="342900" indent="-342900">
              <a:spcAft>
                <a:spcPts val="500"/>
              </a:spcAft>
              <a:buSzPct val="100000"/>
              <a:buChar char="•"/>
            </a:pPr>
            <a:r>
              <a:rPr lang="en-US" sz="1550" dirty="0">
                <a:solidFill>
                  <a:schemeClr val="tx2"/>
                </a:solidFill>
              </a:rPr>
              <a:t>Position scopes candidates for privileged eligibility; explicit approval and PIM still required</a:t>
            </a:r>
            <a:endParaRPr lang="en-US" sz="1550" dirty="0"/>
          </a:p>
          <a:p>
            <a:pPr marL="342900" indent="-342900">
              <a:spcAft>
                <a:spcPts val="500"/>
              </a:spcAft>
              <a:buSzPct val="100000"/>
              <a:buChar char="•"/>
            </a:pPr>
            <a:r>
              <a:rPr lang="en-US" sz="1550" dirty="0">
                <a:solidFill>
                  <a:schemeClr val="tx2"/>
                </a:solidFill>
              </a:rPr>
              <a:t>Activity from a separated person is an alert</a:t>
            </a:r>
            <a:endParaRPr lang="en-US" sz="1550" dirty="0"/>
          </a:p>
        </p:txBody>
      </p:sp>
      <p:sp>
        <p:nvSpPr>
          <p:cNvPr id="18" name="ICAM takeaway" descr="">
            <a:extLst>
              <a:ext uri="{C183D7F6-B498-43B3-948B-1728B52AA6E4}">
                <adec:decorative xmlns:adec="http://schemas.microsoft.com/office/drawing/2017/decorative" val="1"/>
              </a:ext>
            </a:extLst>
          </p:cNvPr>
          <p:cNvSpPr/>
          <p:nvPr/>
        </p:nvSpPr>
        <p:spPr>
          <a:xfrm>
            <a:off x="548640" y="4983480"/>
            <a:ext cx="11109960" cy="822960"/>
          </a:xfrm>
          <a:prstGeom prst="roundRect">
            <a:avLst>
              <a:gd name="adj" fmla="val 888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9" name="ICAM takeaway text"/>
          <p:cNvSpPr txBox="1"/>
          <p:nvPr/>
        </p:nvSpPr>
        <p:spPr>
          <a:xfrm>
            <a:off x="868680" y="5029200"/>
            <a:ext cx="10515600" cy="731520"/>
          </a:xfrm>
          <a:prstGeom prst="rect">
            <a:avLst/>
          </a:prstGeom>
          <a:noFill/>
          <a:ln/>
        </p:spPr>
        <p:txBody>
          <a:bodyPr wrap="square" lIns="0" tIns="0" rIns="0" bIns="0" rtlCol="0" anchor="ctr"/>
          <a:lstStyle/>
          <a:p>
            <a:pPr indent="0" marL="0">
              <a:buNone/>
            </a:pPr>
            <a:r>
              <a:rPr lang="en-US" sz="1700" b="1" dirty="0">
                <a:solidFill>
                  <a:srgbClr val="1F2A44"/>
                </a:solidFill>
              </a:rPr>
              <a:t>Every entitlement has a “because”: </a:t>
            </a:r>
            <a:pPr indent="0" marL="0">
              <a:buNone/>
            </a:pPr>
            <a:r>
              <a:rPr lang="en-US" sz="1700" dirty="0">
                <a:solidFill>
                  <a:schemeClr val="tx2"/>
                </a:solidFill>
              </a:rPr>
              <a:t>a rule, an attribute, and the personnel action that set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Privacy by design: HR data in identity is a disclosure</a:t>
            </a:r>
            <a:endParaRPr lang="en-US" sz="3000" dirty="0"/>
          </a:p>
        </p:txBody>
      </p:sp>
      <p:sp>
        <p:nvSpPr>
          <p:cNvPr id="3" name="Privacy 1" descr="">
            <a:extLst>
              <a:ext uri="{C183D7F6-B498-43B3-948B-1728B52AA6E4}">
                <adec:decorative xmlns:adec="http://schemas.microsoft.com/office/drawing/2017/decorative" val="1"/>
              </a:ext>
            </a:extLst>
          </p:cNvPr>
          <p:cNvSpPr/>
          <p:nvPr/>
        </p:nvSpPr>
        <p:spPr>
          <a:xfrm>
            <a:off x="548640" y="14173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caleBalanced" descr="">
            <a:extLst>
              <a:ext uri="{C183D7F6-B498-43B3-948B-1728B52AA6E4}">
                <adec:decorative xmlns:adec="http://schemas.microsoft.com/office/drawing/2017/decorative" val="1"/>
              </a:ext>
            </a:extLst>
          </p:cNvPr>
          <p:cNvSpPr/>
          <p:nvPr/>
        </p:nvSpPr>
        <p:spPr>
          <a:xfrm>
            <a:off x="822960" y="1691640"/>
            <a:ext cx="640080" cy="64008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6579" y="1845259"/>
            <a:ext cx="332842" cy="332842"/>
          </a:xfrm>
          <a:prstGeom prst="rect">
            <a:avLst/>
          </a:prstGeom>
        </p:spPr>
      </p:pic>
      <p:sp>
        <p:nvSpPr>
          <p:cNvPr id="6" name="Privacy 1 text"/>
          <p:cNvSpPr txBox="1"/>
          <p:nvPr/>
        </p:nvSpPr>
        <p:spPr>
          <a:xfrm>
            <a:off x="169164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Routine use</a:t>
            </a:r>
            <a:endParaRPr lang="en-US" sz="1400" dirty="0"/>
          </a:p>
          <a:p>
            <a:pPr indent="0" marL="0">
              <a:spcAft>
                <a:spcPts val="600"/>
              </a:spcAft>
              <a:buNone/>
            </a:pPr>
            <a:r>
              <a:rPr lang="en-US" sz="1500" dirty="0">
                <a:solidFill>
                  <a:schemeClr val="tx2"/>
                </a:solidFill>
              </a:rPr>
              <a:t>Confirm the routine-use basis under the governing SORNs (e.g., OPM/GOVT-1) before any HR attribute flows to a directory.</a:t>
            </a:r>
            <a:endParaRPr lang="en-US" sz="1400" dirty="0"/>
          </a:p>
        </p:txBody>
      </p:sp>
      <p:sp>
        <p:nvSpPr>
          <p:cNvPr id="7" name="Privacy 2" descr="">
            <a:extLst>
              <a:ext uri="{C183D7F6-B498-43B3-948B-1728B52AA6E4}">
                <adec:decorative xmlns:adec="http://schemas.microsoft.com/office/drawing/2017/decorative" val="1"/>
              </a:ext>
            </a:extLst>
          </p:cNvPr>
          <p:cNvSpPr/>
          <p:nvPr/>
        </p:nvSpPr>
        <p:spPr>
          <a:xfrm>
            <a:off x="6172200" y="14173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Filter" descr="">
            <a:extLst>
              <a:ext uri="{C183D7F6-B498-43B3-948B-1728B52AA6E4}">
                <adec:decorative xmlns:adec="http://schemas.microsoft.com/office/drawing/2017/decorative" val="1"/>
              </a:ext>
            </a:extLst>
          </p:cNvPr>
          <p:cNvSpPr/>
          <p:nvPr/>
        </p:nvSpPr>
        <p:spPr>
          <a:xfrm>
            <a:off x="6446520" y="1691640"/>
            <a:ext cx="640080" cy="640080"/>
          </a:xfrm>
          <a:prstGeom prst="ellipse">
            <a:avLst/>
          </a:prstGeom>
          <a:solidFill>
            <a:srgbClr val="0F766E"/>
          </a:solidFill>
          <a:ln w="12700">
            <a:solidFill>
              <a:srgbClr val="0F766E"/>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00139" y="1845259"/>
            <a:ext cx="332842" cy="332842"/>
          </a:xfrm>
          <a:prstGeom prst="rect">
            <a:avLst/>
          </a:prstGeom>
        </p:spPr>
      </p:pic>
      <p:sp>
        <p:nvSpPr>
          <p:cNvPr id="10" name="Privacy 2 text"/>
          <p:cNvSpPr txBox="1"/>
          <p:nvPr/>
        </p:nvSpPr>
        <p:spPr>
          <a:xfrm>
            <a:off x="731520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Minimize</a:t>
            </a:r>
            <a:endParaRPr lang="en-US" sz="1400" dirty="0"/>
          </a:p>
          <a:p>
            <a:pPr indent="0" marL="0">
              <a:spcAft>
                <a:spcPts val="600"/>
              </a:spcAft>
              <a:buNone/>
            </a:pPr>
            <a:r>
              <a:rPr lang="en-US" sz="1500" dirty="0">
                <a:solidFill>
                  <a:schemeClr val="tx2"/>
                </a:solidFill>
              </a:rPr>
              <a:t>Send only the attributes an identity decision reads. Codes, not narrative; no SSN as a join key.</a:t>
            </a:r>
            <a:endParaRPr lang="en-US" sz="1400" dirty="0"/>
          </a:p>
        </p:txBody>
      </p:sp>
      <p:sp>
        <p:nvSpPr>
          <p:cNvPr id="11" name="Privacy 3" descr="">
            <a:extLst>
              <a:ext uri="{C183D7F6-B498-43B3-948B-1728B52AA6E4}">
                <adec:decorative xmlns:adec="http://schemas.microsoft.com/office/drawing/2017/decorative" val="1"/>
              </a:ext>
            </a:extLst>
          </p:cNvPr>
          <p:cNvSpPr/>
          <p:nvPr/>
        </p:nvSpPr>
        <p:spPr>
          <a:xfrm>
            <a:off x="548640" y="32461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822960" y="3520440"/>
            <a:ext cx="640080" cy="640080"/>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6579" y="3674059"/>
            <a:ext cx="332842" cy="332842"/>
          </a:xfrm>
          <a:prstGeom prst="rect">
            <a:avLst/>
          </a:prstGeom>
        </p:spPr>
      </p:pic>
      <p:sp>
        <p:nvSpPr>
          <p:cNvPr id="14" name="Privacy 3 text"/>
          <p:cNvSpPr txBox="1"/>
          <p:nvPr/>
        </p:nvSpPr>
        <p:spPr>
          <a:xfrm>
            <a:off x="169164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PIA</a:t>
            </a:r>
            <a:endParaRPr lang="en-US" sz="1400" dirty="0"/>
          </a:p>
          <a:p>
            <a:pPr indent="0" marL="0">
              <a:spcAft>
                <a:spcPts val="600"/>
              </a:spcAft>
              <a:buNone/>
            </a:pPr>
            <a:r>
              <a:rPr lang="en-US" sz="1500" dirty="0">
                <a:solidFill>
                  <a:schemeClr val="tx2"/>
                </a:solidFill>
              </a:rPr>
              <a:t>Update the privacy impact assessment for the new data flow and its consumers.</a:t>
            </a:r>
            <a:endParaRPr lang="en-US" sz="1400" dirty="0"/>
          </a:p>
        </p:txBody>
      </p:sp>
      <p:sp>
        <p:nvSpPr>
          <p:cNvPr id="15" name="Privacy 4" descr="">
            <a:extLst>
              <a:ext uri="{C183D7F6-B498-43B3-948B-1728B52AA6E4}">
                <adec:decorative xmlns:adec="http://schemas.microsoft.com/office/drawing/2017/decorative" val="1"/>
              </a:ext>
            </a:extLst>
          </p:cNvPr>
          <p:cNvSpPr/>
          <p:nvPr/>
        </p:nvSpPr>
        <p:spPr>
          <a:xfrm>
            <a:off x="6172200" y="32461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Lock" descr="">
            <a:extLst>
              <a:ext uri="{C183D7F6-B498-43B3-948B-1728B52AA6E4}">
                <adec:decorative xmlns:adec="http://schemas.microsoft.com/office/drawing/2017/decorative" val="1"/>
              </a:ext>
            </a:extLst>
          </p:cNvPr>
          <p:cNvSpPr/>
          <p:nvPr/>
        </p:nvSpPr>
        <p:spPr>
          <a:xfrm>
            <a:off x="6446520" y="3520440"/>
            <a:ext cx="640080" cy="640080"/>
          </a:xfrm>
          <a:prstGeom prst="ellipse">
            <a:avLst/>
          </a:prstGeom>
          <a:solidFill>
            <a:srgbClr val="1F2A44"/>
          </a:solidFill>
          <a:ln w="12700">
            <a:solidFill>
              <a:srgbClr val="1F2A44"/>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00139" y="3674059"/>
            <a:ext cx="332842" cy="332842"/>
          </a:xfrm>
          <a:prstGeom prst="rect">
            <a:avLst/>
          </a:prstGeom>
        </p:spPr>
      </p:pic>
      <p:sp>
        <p:nvSpPr>
          <p:cNvPr id="18" name="Privacy 4 text"/>
          <p:cNvSpPr txBox="1"/>
          <p:nvPr/>
        </p:nvSpPr>
        <p:spPr>
          <a:xfrm>
            <a:off x="731520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Protect the flow</a:t>
            </a:r>
            <a:endParaRPr lang="en-US" sz="1400" dirty="0"/>
          </a:p>
          <a:p>
            <a:pPr indent="0" marL="0">
              <a:spcAft>
                <a:spcPts val="600"/>
              </a:spcAft>
              <a:buNone/>
            </a:pPr>
            <a:r>
              <a:rPr lang="en-US" sz="1500" dirty="0">
                <a:solidFill>
                  <a:schemeClr val="tx2"/>
                </a:solidFill>
              </a:rPr>
              <a:t>Encrypt every leg; logs carry the person key and a payload hash, not the record.</a:t>
            </a:r>
            <a:endParaRPr lang="en-US" sz="1400" dirty="0"/>
          </a:p>
        </p:txBody>
      </p:sp>
      <p:sp>
        <p:nvSpPr>
          <p:cNvPr id="19" name="Privacy takeaway" descr="">
            <a:extLst>
              <a:ext uri="{C183D7F6-B498-43B3-948B-1728B52AA6E4}">
                <adec:decorative xmlns:adec="http://schemas.microsoft.com/office/drawing/2017/decorative" val="1"/>
              </a:ext>
            </a:extLst>
          </p:cNvPr>
          <p:cNvSpPr/>
          <p:nvPr/>
        </p:nvSpPr>
        <p:spPr>
          <a:xfrm>
            <a:off x="548640" y="516636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Privacy takeaway text"/>
          <p:cNvSpPr txBox="1"/>
          <p:nvPr/>
        </p:nvSpPr>
        <p:spPr>
          <a:xfrm>
            <a:off x="868680" y="5230368"/>
            <a:ext cx="10515600" cy="822960"/>
          </a:xfrm>
          <a:prstGeom prst="rect">
            <a:avLst/>
          </a:prstGeom>
          <a:noFill/>
          <a:ln/>
        </p:spPr>
        <p:txBody>
          <a:bodyPr wrap="square" lIns="0" tIns="0" rIns="0" bIns="0" rtlCol="0" anchor="ctr"/>
          <a:lstStyle/>
          <a:p>
            <a:pPr indent="0" marL="0">
              <a:buNone/>
            </a:pPr>
            <a:r>
              <a:rPr lang="en-US" sz="1700" b="1" dirty="0">
                <a:solidFill>
                  <a:srgbClr val="B45309"/>
                </a:solidFill>
              </a:rPr>
              <a:t>HR remains the system of records. </a:t>
            </a:r>
            <a:pPr indent="0" marL="0">
              <a:buNone/>
            </a:pPr>
            <a:r>
              <a:rPr lang="en-US" sz="1700" dirty="0">
                <a:solidFill>
                  <a:schemeClr val="tx2"/>
                </a:solidFill>
              </a:rPr>
              <a:t>Identity is a governed consumer that never writes an HR-mastered fact back.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governance I’d bring to deliver it safely</a:t>
            </a:r>
            <a:endParaRPr lang="en-US" sz="3000" dirty="0"/>
          </a:p>
        </p:txBody>
      </p:sp>
      <p:sp>
        <p:nvSpPr>
          <p:cNvPr id="3" name="Gov 1" descr="">
            <a:extLst>
              <a:ext uri="{C183D7F6-B498-43B3-948B-1728B52AA6E4}">
                <adec:decorative xmlns:adec="http://schemas.microsoft.com/office/drawing/2017/decorative" val="1"/>
              </a:ext>
            </a:extLst>
          </p:cNvPr>
          <p:cNvSpPr/>
          <p:nvPr/>
        </p:nvSpPr>
        <p:spPr>
          <a:xfrm>
            <a:off x="548640"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itemap" descr="">
            <a:extLst>
              <a:ext uri="{C183D7F6-B498-43B3-948B-1728B52AA6E4}">
                <adec:decorative xmlns:adec="http://schemas.microsoft.com/office/drawing/2017/decorative" val="1"/>
              </a:ext>
            </a:extLst>
          </p:cNvPr>
          <p:cNvSpPr/>
          <p:nvPr/>
        </p:nvSpPr>
        <p:spPr>
          <a:xfrm>
            <a:off x="731520" y="1536192"/>
            <a:ext cx="457200" cy="45720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1248" y="1645920"/>
            <a:ext cx="237744" cy="237744"/>
          </a:xfrm>
          <a:prstGeom prst="rect">
            <a:avLst/>
          </a:prstGeom>
        </p:spPr>
      </p:pic>
      <p:sp>
        <p:nvSpPr>
          <p:cNvPr id="6" name="Gov 1 text"/>
          <p:cNvSpPr txBox="1"/>
          <p:nvPr/>
        </p:nvSpPr>
        <p:spPr>
          <a:xfrm>
            <a:off x="731520"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Authority map and identifier decision</a:t>
            </a:r>
            <a:endParaRPr lang="en-US" sz="1400" dirty="0"/>
          </a:p>
          <a:p>
            <a:pPr indent="0" marL="0">
              <a:spcAft>
                <a:spcPts val="400"/>
              </a:spcAft>
              <a:buNone/>
            </a:pPr>
            <a:r>
              <a:rPr lang="en-US" sz="1350" dirty="0">
                <a:solidFill>
                  <a:schemeClr val="tx2"/>
                </a:solidFill>
              </a:rPr>
              <a:t>One owner per attribute; an enterprise person key the agency controls</a:t>
            </a:r>
            <a:endParaRPr lang="en-US" sz="1400" dirty="0"/>
          </a:p>
        </p:txBody>
      </p:sp>
      <p:sp>
        <p:nvSpPr>
          <p:cNvPr id="7" name="Gov 2" descr="">
            <a:extLst>
              <a:ext uri="{C183D7F6-B498-43B3-948B-1728B52AA6E4}">
                <adec:decorative xmlns:adec="http://schemas.microsoft.com/office/drawing/2017/decorative" val="1"/>
              </a:ext>
            </a:extLst>
          </p:cNvPr>
          <p:cNvSpPr/>
          <p:nvPr/>
        </p:nvSpPr>
        <p:spPr>
          <a:xfrm>
            <a:off x="3355848"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UserShield" descr="">
            <a:extLst>
              <a:ext uri="{C183D7F6-B498-43B3-948B-1728B52AA6E4}">
                <adec:decorative xmlns:adec="http://schemas.microsoft.com/office/drawing/2017/decorative" val="1"/>
              </a:ext>
            </a:extLst>
          </p:cNvPr>
          <p:cNvSpPr/>
          <p:nvPr/>
        </p:nvSpPr>
        <p:spPr>
          <a:xfrm>
            <a:off x="3538728" y="1536192"/>
            <a:ext cx="457200" cy="457200"/>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48456" y="1645920"/>
            <a:ext cx="237744" cy="237744"/>
          </a:xfrm>
          <a:prstGeom prst="rect">
            <a:avLst/>
          </a:prstGeom>
        </p:spPr>
      </p:pic>
      <p:sp>
        <p:nvSpPr>
          <p:cNvPr id="10" name="Gov 2 text"/>
          <p:cNvSpPr txBox="1"/>
          <p:nvPr/>
        </p:nvSpPr>
        <p:spPr>
          <a:xfrm>
            <a:off x="3538728"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Security assessment</a:t>
            </a:r>
            <a:endParaRPr lang="en-US" sz="1400" dirty="0"/>
          </a:p>
          <a:p>
            <a:pPr indent="0" marL="0">
              <a:spcAft>
                <a:spcPts val="400"/>
              </a:spcAft>
              <a:buNone/>
            </a:pPr>
            <a:r>
              <a:rPr lang="en-US" sz="1350" dirty="0">
                <a:solidFill>
                  <a:schemeClr val="tx2"/>
                </a:solidFill>
              </a:rPr>
              <a:t>Data flow, service identities without secrets, least privilege</a:t>
            </a:r>
            <a:endParaRPr lang="en-US" sz="1400" dirty="0"/>
          </a:p>
        </p:txBody>
      </p:sp>
      <p:sp>
        <p:nvSpPr>
          <p:cNvPr id="11" name="Gov 3" descr="">
            <a:extLst>
              <a:ext uri="{C183D7F6-B498-43B3-948B-1728B52AA6E4}">
                <adec:decorative xmlns:adec="http://schemas.microsoft.com/office/drawing/2017/decorative" val="1"/>
              </a:ext>
            </a:extLst>
          </p:cNvPr>
          <p:cNvSpPr/>
          <p:nvPr/>
        </p:nvSpPr>
        <p:spPr>
          <a:xfrm>
            <a:off x="6163056"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6345936" y="1536192"/>
            <a:ext cx="457200" cy="45720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55664" y="1645920"/>
            <a:ext cx="237744" cy="237744"/>
          </a:xfrm>
          <a:prstGeom prst="rect">
            <a:avLst/>
          </a:prstGeom>
        </p:spPr>
      </p:pic>
      <p:sp>
        <p:nvSpPr>
          <p:cNvPr id="14" name="Gov 3 text"/>
          <p:cNvSpPr txBox="1"/>
          <p:nvPr/>
        </p:nvSpPr>
        <p:spPr>
          <a:xfrm>
            <a:off x="6345936"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Acceptance gate</a:t>
            </a:r>
            <a:endParaRPr lang="en-US" sz="1400" dirty="0"/>
          </a:p>
          <a:p>
            <a:pPr indent="0" marL="0">
              <a:spcAft>
                <a:spcPts val="400"/>
              </a:spcAft>
              <a:buNone/>
            </a:pPr>
            <a:r>
              <a:rPr lang="en-US" sz="1350" dirty="0">
                <a:solidFill>
                  <a:schemeClr val="tx2"/>
                </a:solidFill>
              </a:rPr>
              <a:t>Business-language test cases; signed validation before cutover</a:t>
            </a:r>
            <a:endParaRPr lang="en-US" sz="1400" dirty="0"/>
          </a:p>
        </p:txBody>
      </p:sp>
      <p:sp>
        <p:nvSpPr>
          <p:cNvPr id="15" name="Gov 4" descr="">
            <a:extLst>
              <a:ext uri="{C183D7F6-B498-43B3-948B-1728B52AA6E4}">
                <adec:decorative xmlns:adec="http://schemas.microsoft.com/office/drawing/2017/decorative" val="1"/>
              </a:ext>
            </a:extLst>
          </p:cNvPr>
          <p:cNvSpPr/>
          <p:nvPr/>
        </p:nvSpPr>
        <p:spPr>
          <a:xfrm>
            <a:off x="8970264"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PlugCircleXmark" descr="">
            <a:extLst>
              <a:ext uri="{C183D7F6-B498-43B3-948B-1728B52AA6E4}">
                <adec:decorative xmlns:adec="http://schemas.microsoft.com/office/drawing/2017/decorative" val="1"/>
              </a:ext>
            </a:extLst>
          </p:cNvPr>
          <p:cNvSpPr/>
          <p:nvPr/>
        </p:nvSpPr>
        <p:spPr>
          <a:xfrm>
            <a:off x="9153144" y="1536192"/>
            <a:ext cx="457200" cy="457200"/>
          </a:xfrm>
          <a:prstGeom prst="ellipse">
            <a:avLst/>
          </a:prstGeom>
          <a:solidFill>
            <a:srgbClr val="1F2A44"/>
          </a:solidFill>
          <a:ln w="12700">
            <a:solidFill>
              <a:srgbClr val="1F2A44"/>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62872" y="1645920"/>
            <a:ext cx="237744" cy="237744"/>
          </a:xfrm>
          <a:prstGeom prst="rect">
            <a:avLst/>
          </a:prstGeom>
        </p:spPr>
      </p:pic>
      <p:sp>
        <p:nvSpPr>
          <p:cNvPr id="18" name="Gov 4 text"/>
          <p:cNvSpPr txBox="1"/>
          <p:nvPr/>
        </p:nvSpPr>
        <p:spPr>
          <a:xfrm>
            <a:off x="9153144"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Cutover from tickets</a:t>
            </a:r>
            <a:endParaRPr lang="en-US" sz="1400" dirty="0"/>
          </a:p>
          <a:p>
            <a:pPr indent="0" marL="0">
              <a:spcAft>
                <a:spcPts val="400"/>
              </a:spcAft>
              <a:buNone/>
            </a:pPr>
            <a:r>
              <a:rPr lang="en-US" sz="1350" dirty="0">
                <a:solidFill>
                  <a:schemeClr val="tx2"/>
                </a:solidFill>
              </a:rPr>
              <a:t>Prove HR is the sole source; then close manual account creation</a:t>
            </a:r>
            <a:endParaRPr lang="en-US" sz="1400" dirty="0"/>
          </a:p>
        </p:txBody>
      </p:sp>
      <p:sp>
        <p:nvSpPr>
          <p:cNvPr id="19" name="Gov 5" descr="">
            <a:extLst>
              <a:ext uri="{C183D7F6-B498-43B3-948B-1728B52AA6E4}">
                <adec:decorative xmlns:adec="http://schemas.microsoft.com/office/drawing/2017/decorative" val="1"/>
              </a:ext>
            </a:extLst>
          </p:cNvPr>
          <p:cNvSpPr/>
          <p:nvPr/>
        </p:nvSpPr>
        <p:spPr>
          <a:xfrm>
            <a:off x="548640"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ListCheck" descr="">
            <a:extLst>
              <a:ext uri="{C183D7F6-B498-43B3-948B-1728B52AA6E4}">
                <adec:decorative xmlns:adec="http://schemas.microsoft.com/office/drawing/2017/decorative" val="1"/>
              </a:ext>
            </a:extLst>
          </p:cNvPr>
          <p:cNvSpPr/>
          <p:nvPr/>
        </p:nvSpPr>
        <p:spPr>
          <a:xfrm>
            <a:off x="731520" y="3730752"/>
            <a:ext cx="457200" cy="457200"/>
          </a:xfrm>
          <a:prstGeom prst="ellipse">
            <a:avLst/>
          </a:prstGeom>
          <a:solidFill>
            <a:srgbClr val="0F766E"/>
          </a:solidFill>
          <a:ln w="12700">
            <a:solidFill>
              <a:srgbClr val="0F766E"/>
            </a:solidFill>
            <a:prstDash val="solid"/>
          </a:ln>
        </p:spPr>
      </p:sp>
      <p:pic>
        <p:nvPicPr>
          <p:cNvPr id="21"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1248" y="3840480"/>
            <a:ext cx="237744" cy="237744"/>
          </a:xfrm>
          <a:prstGeom prst="rect">
            <a:avLst/>
          </a:prstGeom>
        </p:spPr>
      </p:pic>
      <p:sp>
        <p:nvSpPr>
          <p:cNvPr id="22" name="Gov 5 text"/>
          <p:cNvSpPr txBox="1"/>
          <p:nvPr/>
        </p:nvSpPr>
        <p:spPr>
          <a:xfrm>
            <a:off x="731520"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Lifecycle rules</a:t>
            </a:r>
            <a:endParaRPr lang="en-US" sz="1400" dirty="0"/>
          </a:p>
          <a:p>
            <a:pPr indent="0" marL="0">
              <a:spcAft>
                <a:spcPts val="400"/>
              </a:spcAft>
              <a:buNone/>
            </a:pPr>
            <a:r>
              <a:rPr lang="en-US" sz="1350" dirty="0">
                <a:solidFill>
                  <a:schemeClr val="tx2"/>
                </a:solidFill>
              </a:rPr>
              <a:t>Scope filters, leave vs leaver, precedence, rescinded offers</a:t>
            </a:r>
            <a:endParaRPr lang="en-US" sz="1400" dirty="0"/>
          </a:p>
        </p:txBody>
      </p:sp>
      <p:sp>
        <p:nvSpPr>
          <p:cNvPr id="23" name="Gov 6" descr="">
            <a:extLst>
              <a:ext uri="{C183D7F6-B498-43B3-948B-1728B52AA6E4}">
                <adec:decorative xmlns:adec="http://schemas.microsoft.com/office/drawing/2017/decorative" val="1"/>
              </a:ext>
            </a:extLst>
          </p:cNvPr>
          <p:cNvSpPr/>
          <p:nvPr/>
        </p:nvSpPr>
        <p:spPr>
          <a:xfrm>
            <a:off x="3355848"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3538728" y="3730752"/>
            <a:ext cx="457200" cy="457200"/>
          </a:xfrm>
          <a:prstGeom prst="ellipse">
            <a:avLst/>
          </a:prstGeom>
          <a:solidFill>
            <a:srgbClr val="0F766E"/>
          </a:solidFill>
          <a:ln w="12700">
            <a:solidFill>
              <a:srgbClr val="0F766E"/>
            </a:solidFill>
            <a:prstDash val="solid"/>
          </a:ln>
        </p:spPr>
      </p:sp>
      <p:pic>
        <p:nvPicPr>
          <p:cNvPr id="25"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48456" y="3840480"/>
            <a:ext cx="237744" cy="237744"/>
          </a:xfrm>
          <a:prstGeom prst="rect">
            <a:avLst/>
          </a:prstGeom>
        </p:spPr>
      </p:pic>
      <p:sp>
        <p:nvSpPr>
          <p:cNvPr id="26" name="Gov 6 text"/>
          <p:cNvSpPr txBox="1"/>
          <p:nvPr/>
        </p:nvSpPr>
        <p:spPr>
          <a:xfrm>
            <a:off x="3538728"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Quarantine and reconciliation</a:t>
            </a:r>
            <a:endParaRPr lang="en-US" sz="1400" dirty="0"/>
          </a:p>
          <a:p>
            <a:pPr indent="0" marL="0">
              <a:spcAft>
                <a:spcPts val="400"/>
              </a:spcAft>
              <a:buNone/>
            </a:pPr>
            <a:r>
              <a:rPr lang="en-US" sz="1350" dirty="0">
                <a:solidFill>
                  <a:schemeClr val="tx2"/>
                </a:solidFill>
              </a:rPr>
              <a:t>Failures never auto-resolve; every exception has an owner</a:t>
            </a:r>
            <a:endParaRPr lang="en-US" sz="1400" dirty="0"/>
          </a:p>
        </p:txBody>
      </p:sp>
      <p:sp>
        <p:nvSpPr>
          <p:cNvPr id="27" name="Gov 7" descr="">
            <a:extLst>
              <a:ext uri="{C183D7F6-B498-43B3-948B-1728B52AA6E4}">
                <adec:decorative xmlns:adec="http://schemas.microsoft.com/office/drawing/2017/decorative" val="1"/>
              </a:ext>
            </a:extLst>
          </p:cNvPr>
          <p:cNvSpPr/>
          <p:nvPr/>
        </p:nvSpPr>
        <p:spPr>
          <a:xfrm>
            <a:off x="6163056"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ChartLine" descr="">
            <a:extLst>
              <a:ext uri="{C183D7F6-B498-43B3-948B-1728B52AA6E4}">
                <adec:decorative xmlns:adec="http://schemas.microsoft.com/office/drawing/2017/decorative" val="1"/>
              </a:ext>
            </a:extLst>
          </p:cNvPr>
          <p:cNvSpPr/>
          <p:nvPr/>
        </p:nvSpPr>
        <p:spPr>
          <a:xfrm>
            <a:off x="6345936" y="3730752"/>
            <a:ext cx="457200" cy="457200"/>
          </a:xfrm>
          <a:prstGeom prst="ellipse">
            <a:avLst/>
          </a:prstGeom>
          <a:solidFill>
            <a:srgbClr val="0F766E"/>
          </a:solidFill>
          <a:ln w="12700">
            <a:solidFill>
              <a:srgbClr val="0F766E"/>
            </a:solidFill>
            <a:prstDash val="solid"/>
          </a:ln>
        </p:spPr>
      </p:sp>
      <p:pic>
        <p:nvPicPr>
          <p:cNvPr id="29"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55664" y="3840480"/>
            <a:ext cx="237744" cy="237744"/>
          </a:xfrm>
          <a:prstGeom prst="rect">
            <a:avLst/>
          </a:prstGeom>
        </p:spPr>
      </p:pic>
      <p:sp>
        <p:nvSpPr>
          <p:cNvPr id="30" name="Gov 7 text"/>
          <p:cNvSpPr txBox="1"/>
          <p:nvPr/>
        </p:nvSpPr>
        <p:spPr>
          <a:xfrm>
            <a:off x="6345936"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Drift and metrics</a:t>
            </a:r>
            <a:endParaRPr lang="en-US" sz="1400" dirty="0"/>
          </a:p>
          <a:p>
            <a:pPr indent="0" marL="0">
              <a:spcAft>
                <a:spcPts val="400"/>
              </a:spcAft>
              <a:buNone/>
            </a:pPr>
            <a:r>
              <a:rPr lang="en-US" sz="1350" dirty="0">
                <a:solidFill>
                  <a:schemeClr val="tx2"/>
                </a:solidFill>
              </a:rPr>
              <a:t>Separation-to-block, correlation coverage, derivation purity</a:t>
            </a:r>
            <a:endParaRPr lang="en-US" sz="1400" dirty="0"/>
          </a:p>
        </p:txBody>
      </p:sp>
      <p:sp>
        <p:nvSpPr>
          <p:cNvPr id="31" name="Gov 8" descr="">
            <a:extLst>
              <a:ext uri="{C183D7F6-B498-43B3-948B-1728B52AA6E4}">
                <adec:decorative xmlns:adec="http://schemas.microsoft.com/office/drawing/2017/decorative" val="1"/>
              </a:ext>
            </a:extLst>
          </p:cNvPr>
          <p:cNvSpPr/>
          <p:nvPr/>
        </p:nvSpPr>
        <p:spPr>
          <a:xfrm>
            <a:off x="8970264"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CodeBranch" descr="">
            <a:extLst>
              <a:ext uri="{C183D7F6-B498-43B3-948B-1728B52AA6E4}">
                <adec:decorative xmlns:adec="http://schemas.microsoft.com/office/drawing/2017/decorative" val="1"/>
              </a:ext>
            </a:extLst>
          </p:cNvPr>
          <p:cNvSpPr/>
          <p:nvPr/>
        </p:nvSpPr>
        <p:spPr>
          <a:xfrm>
            <a:off x="9153144" y="3730752"/>
            <a:ext cx="457200" cy="457200"/>
          </a:xfrm>
          <a:prstGeom prst="ellipse">
            <a:avLst/>
          </a:prstGeom>
          <a:solidFill>
            <a:srgbClr val="0F766E"/>
          </a:solidFill>
          <a:ln w="12700">
            <a:solidFill>
              <a:srgbClr val="0F766E"/>
            </a:solidFill>
            <a:prstDash val="solid"/>
          </a:ln>
        </p:spPr>
      </p:sp>
      <p:pic>
        <p:nvPicPr>
          <p:cNvPr id="33" name="Image 7"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62872" y="3840480"/>
            <a:ext cx="237744" cy="237744"/>
          </a:xfrm>
          <a:prstGeom prst="rect">
            <a:avLst/>
          </a:prstGeom>
        </p:spPr>
      </p:pic>
      <p:sp>
        <p:nvSpPr>
          <p:cNvPr id="34" name="Gov 8 text"/>
          <p:cNvSpPr txBox="1"/>
          <p:nvPr/>
        </p:nvSpPr>
        <p:spPr>
          <a:xfrm>
            <a:off x="9153144"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Change control</a:t>
            </a:r>
            <a:endParaRPr lang="en-US" sz="1400" dirty="0"/>
          </a:p>
          <a:p>
            <a:pPr indent="0" marL="0">
              <a:spcAft>
                <a:spcPts val="400"/>
              </a:spcAft>
              <a:buNone/>
            </a:pPr>
            <a:r>
              <a:rPr lang="en-US" sz="1350" dirty="0">
                <a:solidFill>
                  <a:schemeClr val="tx2"/>
                </a:solidFill>
              </a:rPr>
              <a:t>Crosswalk and code lists versioned; shadow-tested before they act</a:t>
            </a:r>
            <a:endParaRPr lang="en-US" sz="1400" dirty="0"/>
          </a:p>
        </p:txBody>
      </p:sp>
      <p:sp>
        <p:nvSpPr>
          <p:cNvPr id="35" name="Gov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300" i="1" dirty="0">
                <a:solidFill>
                  <a:srgbClr val="64748B"/>
                </a:solidFill>
              </a:rPr>
              <a:t>Control support for AC-2, PS-4, PS-5, IA-4 and SI-12 — evidence produced by operation, not assembled for the audit.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 reusable HR-driven ICAM model for interagency evaluation</a:t>
            </a:r>
            <a:endParaRPr lang="en-US" sz="3000" dirty="0"/>
          </a:p>
        </p:txBody>
      </p:sp>
      <p:sp>
        <p:nvSpPr>
          <p:cNvPr id="3" name="Cross col 1" descr="">
            <a:extLst>
              <a:ext uri="{C183D7F6-B498-43B3-948B-1728B52AA6E4}">
                <adec:decorative xmlns:adec="http://schemas.microsoft.com/office/drawing/2017/decorative" val="1"/>
              </a:ext>
            </a:extLst>
          </p:cNvPr>
          <p:cNvSpPr/>
          <p:nvPr/>
        </p:nvSpPr>
        <p:spPr>
          <a:xfrm>
            <a:off x="548640" y="1280160"/>
            <a:ext cx="5486400" cy="3931920"/>
          </a:xfrm>
          <a:prstGeom prst="roundRect">
            <a:avLst>
              <a:gd name="adj" fmla="val 186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Cross head 1"/>
          <p:cNvSpPr txBox="1"/>
          <p:nvPr/>
        </p:nvSpPr>
        <p:spPr>
          <a:xfrm>
            <a:off x="777240" y="1371600"/>
            <a:ext cx="5029200" cy="411480"/>
          </a:xfrm>
          <a:prstGeom prst="rect">
            <a:avLst/>
          </a:prstGeom>
          <a:noFill/>
          <a:ln/>
        </p:spPr>
        <p:txBody>
          <a:bodyPr wrap="square" lIns="0" tIns="0" rIns="0" bIns="0" rtlCol="0" anchor="t"/>
          <a:lstStyle/>
          <a:p>
            <a:pPr indent="0" marL="0">
              <a:buNone/>
            </a:pPr>
            <a:r>
              <a:rPr lang="en-US" sz="1800" b="1" dirty="0">
                <a:solidFill>
                  <a:srgbClr val="1F2A44"/>
                </a:solidFill>
              </a:rPr>
              <a:t>Why a shared standard</a:t>
            </a:r>
            <a:endParaRPr lang="en-US" sz="1800" dirty="0"/>
          </a:p>
        </p:txBody>
      </p:sp>
      <p:sp>
        <p:nvSpPr>
          <p:cNvPr id="5" name="Icon FaBuildingColumns" descr="">
            <a:extLst>
              <a:ext uri="{C183D7F6-B498-43B3-948B-1728B52AA6E4}">
                <adec:decorative xmlns:adec="http://schemas.microsoft.com/office/drawing/2017/decorative" val="1"/>
              </a:ext>
            </a:extLst>
          </p:cNvPr>
          <p:cNvSpPr/>
          <p:nvPr/>
        </p:nvSpPr>
        <p:spPr>
          <a:xfrm>
            <a:off x="777240" y="1920240"/>
            <a:ext cx="566928" cy="566928"/>
          </a:xfrm>
          <a:prstGeom prst="ellipse">
            <a:avLst/>
          </a:prstGeom>
          <a:solidFill>
            <a:srgbClr val="1F2A44"/>
          </a:solidFill>
          <a:ln w="12700">
            <a:solidFill>
              <a:srgbClr val="1F2A44"/>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13303" y="2056303"/>
            <a:ext cx="294803" cy="294803"/>
          </a:xfrm>
          <a:prstGeom prst="rect">
            <a:avLst/>
          </a:prstGeom>
        </p:spPr>
      </p:pic>
      <p:sp>
        <p:nvSpPr>
          <p:cNvPr id="7" name="Cross 1.1"/>
          <p:cNvSpPr txBox="1"/>
          <p:nvPr/>
        </p:nvSpPr>
        <p:spPr>
          <a:xfrm>
            <a:off x="1508760" y="187452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Shared platform, common standards</a:t>
            </a:r>
            <a:endParaRPr lang="en-US" sz="1400" dirty="0"/>
          </a:p>
          <a:p>
            <a:pPr indent="0" marL="0">
              <a:spcAft>
                <a:spcPts val="200"/>
              </a:spcAft>
              <a:buNone/>
            </a:pPr>
            <a:r>
              <a:rPr lang="en-US" sz="1300" dirty="0">
                <a:solidFill>
                  <a:schemeClr val="tx2"/>
                </a:solidFill>
              </a:rPr>
              <a:t>Participating civilian agencies move toward shared Core HCM capabilities and OPM’s data standards — a crosswalk and canonical model others can evaluate and reuse</a:t>
            </a:r>
            <a:endParaRPr lang="en-US" sz="1400" dirty="0"/>
          </a:p>
        </p:txBody>
      </p:sp>
      <p:sp>
        <p:nvSpPr>
          <p:cNvPr id="8" name="Icon FaRightLeft" descr="">
            <a:extLst>
              <a:ext uri="{C183D7F6-B498-43B3-948B-1728B52AA6E4}">
                <adec:decorative xmlns:adec="http://schemas.microsoft.com/office/drawing/2017/decorative" val="1"/>
              </a:ext>
            </a:extLst>
          </p:cNvPr>
          <p:cNvSpPr/>
          <p:nvPr/>
        </p:nvSpPr>
        <p:spPr>
          <a:xfrm>
            <a:off x="777240" y="3017520"/>
            <a:ext cx="566928" cy="566928"/>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13303" y="3153583"/>
            <a:ext cx="294803" cy="294803"/>
          </a:xfrm>
          <a:prstGeom prst="rect">
            <a:avLst/>
          </a:prstGeom>
        </p:spPr>
      </p:pic>
      <p:sp>
        <p:nvSpPr>
          <p:cNvPr id="10" name="Cross 1.2"/>
          <p:cNvSpPr txBox="1"/>
          <p:nvPr/>
        </p:nvSpPr>
        <p:spPr>
          <a:xfrm>
            <a:off x="1508760" y="297180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Attributes that travel</a:t>
            </a:r>
            <a:endParaRPr lang="en-US" sz="1400" dirty="0"/>
          </a:p>
          <a:p>
            <a:pPr indent="0" marL="0">
              <a:spcAft>
                <a:spcPts val="200"/>
              </a:spcAft>
              <a:buNone/>
            </a:pPr>
            <a:r>
              <a:rPr lang="en-US" sz="1300" dirty="0">
                <a:solidFill>
                  <a:schemeClr val="tx2"/>
                </a:solidFill>
              </a:rPr>
              <a:t>Details, transfers and shared services read the same coded attributes; cross-agency access can trust the data</a:t>
            </a:r>
            <a:endParaRPr lang="en-US" sz="1400" dirty="0"/>
          </a:p>
        </p:txBody>
      </p:sp>
      <p:sp>
        <p:nvSpPr>
          <p:cNvPr id="11" name="Icon FaChartLine" descr="">
            <a:extLst>
              <a:ext uri="{C183D7F6-B498-43B3-948B-1728B52AA6E4}">
                <adec:decorative xmlns:adec="http://schemas.microsoft.com/office/drawing/2017/decorative" val="1"/>
              </a:ext>
            </a:extLst>
          </p:cNvPr>
          <p:cNvSpPr/>
          <p:nvPr/>
        </p:nvSpPr>
        <p:spPr>
          <a:xfrm>
            <a:off x="777240" y="4114800"/>
            <a:ext cx="566928" cy="566928"/>
          </a:xfrm>
          <a:prstGeom prst="ellipse">
            <a:avLst/>
          </a:prstGeom>
          <a:solidFill>
            <a:srgbClr val="1F2A44"/>
          </a:solidFill>
          <a:ln w="12700">
            <a:solidFill>
              <a:srgbClr val="1F2A44"/>
            </a:solidFill>
            <a:prstDash val="solid"/>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13303" y="4250863"/>
            <a:ext cx="294803" cy="294803"/>
          </a:xfrm>
          <a:prstGeom prst="rect">
            <a:avLst/>
          </a:prstGeom>
        </p:spPr>
      </p:pic>
      <p:sp>
        <p:nvSpPr>
          <p:cNvPr id="13" name="Cross 1.3"/>
          <p:cNvSpPr txBox="1"/>
          <p:nvPr/>
        </p:nvSpPr>
        <p:spPr>
          <a:xfrm>
            <a:off x="1508760" y="406908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Comparable evidence</a:t>
            </a:r>
            <a:endParaRPr lang="en-US" sz="1400" dirty="0"/>
          </a:p>
          <a:p>
            <a:pPr indent="0" marL="0">
              <a:spcAft>
                <a:spcPts val="200"/>
              </a:spcAft>
              <a:buNone/>
            </a:pPr>
            <a:r>
              <a:rPr lang="en-US" sz="1300" dirty="0">
                <a:solidFill>
                  <a:schemeClr val="tx2"/>
                </a:solidFill>
              </a:rPr>
              <a:t>Common metrics for ICAM and Zero Trust maturity reporting across agencies</a:t>
            </a:r>
            <a:endParaRPr lang="en-US" sz="1400" dirty="0"/>
          </a:p>
        </p:txBody>
      </p:sp>
      <p:sp>
        <p:nvSpPr>
          <p:cNvPr id="14" name="Cross col 2" descr="">
            <a:extLst>
              <a:ext uri="{C183D7F6-B498-43B3-948B-1728B52AA6E4}">
                <adec:decorative xmlns:adec="http://schemas.microsoft.com/office/drawing/2017/decorative" val="1"/>
              </a:ext>
            </a:extLst>
          </p:cNvPr>
          <p:cNvSpPr/>
          <p:nvPr/>
        </p:nvSpPr>
        <p:spPr>
          <a:xfrm>
            <a:off x="6172200" y="1280160"/>
            <a:ext cx="5486400" cy="3931920"/>
          </a:xfrm>
          <a:prstGeom prst="roundRect">
            <a:avLst>
              <a:gd name="adj" fmla="val 186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Cross head 2"/>
          <p:cNvSpPr txBox="1"/>
          <p:nvPr/>
        </p:nvSpPr>
        <p:spPr>
          <a:xfrm>
            <a:off x="6400800" y="1371600"/>
            <a:ext cx="5029200" cy="411480"/>
          </a:xfrm>
          <a:prstGeom prst="rect">
            <a:avLst/>
          </a:prstGeom>
          <a:noFill/>
          <a:ln/>
        </p:spPr>
        <p:txBody>
          <a:bodyPr wrap="square" lIns="0" tIns="0" rIns="0" bIns="0" rtlCol="0" anchor="t"/>
          <a:lstStyle/>
          <a:p>
            <a:pPr indent="0" marL="0">
              <a:buNone/>
            </a:pPr>
            <a:r>
              <a:rPr lang="en-US" sz="1800" b="1" dirty="0">
                <a:solidFill>
                  <a:srgbClr val="0F766E"/>
                </a:solidFill>
              </a:rPr>
              <a:t>How I’d carry it across agencies</a:t>
            </a:r>
            <a:endParaRPr lang="en-US" sz="1800" dirty="0"/>
          </a:p>
        </p:txBody>
      </p:sp>
      <p:sp>
        <p:nvSpPr>
          <p:cNvPr id="16" name="Icon FaPeopleArrows" descr="">
            <a:extLst>
              <a:ext uri="{C183D7F6-B498-43B3-948B-1728B52AA6E4}">
                <adec:decorative xmlns:adec="http://schemas.microsoft.com/office/drawing/2017/decorative" val="1"/>
              </a:ext>
            </a:extLst>
          </p:cNvPr>
          <p:cNvSpPr/>
          <p:nvPr/>
        </p:nvSpPr>
        <p:spPr>
          <a:xfrm>
            <a:off x="6400800" y="1920240"/>
            <a:ext cx="566928" cy="566928"/>
          </a:xfrm>
          <a:prstGeom prst="ellipse">
            <a:avLst/>
          </a:prstGeom>
          <a:solidFill>
            <a:srgbClr val="0F766E"/>
          </a:solidFill>
          <a:ln w="12700">
            <a:solidFill>
              <a:srgbClr val="0F766E"/>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6863" y="2056303"/>
            <a:ext cx="294803" cy="294803"/>
          </a:xfrm>
          <a:prstGeom prst="rect">
            <a:avLst/>
          </a:prstGeom>
        </p:spPr>
      </p:pic>
      <p:sp>
        <p:nvSpPr>
          <p:cNvPr id="18" name="Cross 2.1"/>
          <p:cNvSpPr txBox="1"/>
          <p:nvPr/>
        </p:nvSpPr>
        <p:spPr>
          <a:xfrm>
            <a:off x="7132320" y="187452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Work the issues together</a:t>
            </a:r>
            <a:endParaRPr lang="en-US" sz="1400" dirty="0"/>
          </a:p>
          <a:p>
            <a:pPr indent="0" marL="0">
              <a:spcAft>
                <a:spcPts val="200"/>
              </a:spcAft>
              <a:buNone/>
            </a:pPr>
            <a:r>
              <a:rPr lang="en-US" sz="1300" dirty="0">
                <a:solidFill>
                  <a:schemeClr val="tx2"/>
                </a:solidFill>
              </a:rPr>
              <a:t>With other agencies and the private sector; track legislative and policy developments and trends</a:t>
            </a:r>
            <a:endParaRPr lang="en-US" sz="1400" dirty="0"/>
          </a:p>
        </p:txBody>
      </p:sp>
      <p:sp>
        <p:nvSpPr>
          <p:cNvPr id="19" name="Icon FaScaleBalanced" descr="">
            <a:extLst>
              <a:ext uri="{C183D7F6-B498-43B3-948B-1728B52AA6E4}">
                <adec:decorative xmlns:adec="http://schemas.microsoft.com/office/drawing/2017/decorative" val="1"/>
              </a:ext>
            </a:extLst>
          </p:cNvPr>
          <p:cNvSpPr/>
          <p:nvPr/>
        </p:nvSpPr>
        <p:spPr>
          <a:xfrm>
            <a:off x="6400800" y="3017520"/>
            <a:ext cx="566928" cy="566928"/>
          </a:xfrm>
          <a:prstGeom prst="ellipse">
            <a:avLst/>
          </a:prstGeom>
          <a:solidFill>
            <a:srgbClr val="0F766E"/>
          </a:solidFill>
          <a:ln w="12700">
            <a:solidFill>
              <a:srgbClr val="0F766E"/>
            </a:solidFill>
            <a:prstDash val="solid"/>
          </a:ln>
        </p:spPr>
      </p:sp>
      <p:pic>
        <p:nvPicPr>
          <p:cNvPr id="20"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536863" y="3153583"/>
            <a:ext cx="294803" cy="294803"/>
          </a:xfrm>
          <a:prstGeom prst="rect">
            <a:avLst/>
          </a:prstGeom>
        </p:spPr>
      </p:pic>
      <p:sp>
        <p:nvSpPr>
          <p:cNvPr id="21" name="Cross 2.2"/>
          <p:cNvSpPr txBox="1"/>
          <p:nvPr/>
        </p:nvSpPr>
        <p:spPr>
          <a:xfrm>
            <a:off x="7132320" y="297180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Options and their impact</a:t>
            </a:r>
            <a:endParaRPr lang="en-US" sz="1400" dirty="0"/>
          </a:p>
          <a:p>
            <a:pPr indent="0" marL="0">
              <a:spcAft>
                <a:spcPts val="200"/>
              </a:spcAft>
              <a:buNone/>
            </a:pPr>
            <a:r>
              <a:rPr lang="en-US" sz="1300" dirty="0">
                <a:solidFill>
                  <a:schemeClr val="tx2"/>
                </a:solidFill>
              </a:rPr>
              <a:t>Define the issues, develop options, predict the impact of alternatives, and present the findings</a:t>
            </a:r>
            <a:endParaRPr lang="en-US" sz="1400" dirty="0"/>
          </a:p>
        </p:txBody>
      </p:sp>
      <p:sp>
        <p:nvSpPr>
          <p:cNvPr id="22" name="Icon FaUsersGear" descr="">
            <a:extLst>
              <a:ext uri="{C183D7F6-B498-43B3-948B-1728B52AA6E4}">
                <adec:decorative xmlns:adec="http://schemas.microsoft.com/office/drawing/2017/decorative" val="1"/>
              </a:ext>
            </a:extLst>
          </p:cNvPr>
          <p:cNvSpPr/>
          <p:nvPr/>
        </p:nvSpPr>
        <p:spPr>
          <a:xfrm>
            <a:off x="6400800" y="4114800"/>
            <a:ext cx="566928" cy="566928"/>
          </a:xfrm>
          <a:prstGeom prst="ellipse">
            <a:avLst/>
          </a:prstGeom>
          <a:solidFill>
            <a:srgbClr val="0F766E"/>
          </a:solidFill>
          <a:ln w="12700">
            <a:solidFill>
              <a:srgbClr val="0F766E"/>
            </a:solidFill>
            <a:prstDash val="solid"/>
          </a:ln>
        </p:spPr>
      </p:sp>
      <p:pic>
        <p:nvPicPr>
          <p:cNvPr id="23"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6863" y="4250863"/>
            <a:ext cx="294803" cy="294803"/>
          </a:xfrm>
          <a:prstGeom prst="rect">
            <a:avLst/>
          </a:prstGeom>
        </p:spPr>
      </p:pic>
      <p:sp>
        <p:nvSpPr>
          <p:cNvPr id="24" name="Cross 2.3"/>
          <p:cNvSpPr txBox="1"/>
          <p:nvPr/>
        </p:nvSpPr>
        <p:spPr>
          <a:xfrm>
            <a:off x="7132320" y="406908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Committees and working groups</a:t>
            </a:r>
            <a:endParaRPr lang="en-US" sz="1400" dirty="0"/>
          </a:p>
          <a:p>
            <a:pPr indent="0" marL="0">
              <a:spcAft>
                <a:spcPts val="200"/>
              </a:spcAft>
              <a:buNone/>
            </a:pPr>
            <a:r>
              <a:rPr lang="en-US" sz="1300" dirty="0">
                <a:solidFill>
                  <a:schemeClr val="tx2"/>
                </a:solidFill>
              </a:rPr>
              <a:t>Chair agency data committees; serve as the data expert on interagency ICAM working groups; recommend data technology and architecture</a:t>
            </a:r>
            <a:endParaRPr lang="en-US" sz="1400" dirty="0"/>
          </a:p>
        </p:txBody>
      </p:sp>
      <p:sp>
        <p:nvSpPr>
          <p:cNvPr id="25" name="Cross banner" descr="">
            <a:extLst>
              <a:ext uri="{C183D7F6-B498-43B3-948B-1728B52AA6E4}">
                <adec:decorative xmlns:adec="http://schemas.microsoft.com/office/drawing/2017/decorative" val="1"/>
              </a:ext>
            </a:extLst>
          </p:cNvPr>
          <p:cNvSpPr/>
          <p:nvPr/>
        </p:nvSpPr>
        <p:spPr>
          <a:xfrm>
            <a:off x="548640" y="5394960"/>
            <a:ext cx="11109960" cy="731520"/>
          </a:xfrm>
          <a:prstGeom prst="roundRect">
            <a:avLst>
              <a:gd name="adj" fmla="val 10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6" name="Cross banner text"/>
          <p:cNvSpPr txBox="1"/>
          <p:nvPr/>
        </p:nvSpPr>
        <p:spPr>
          <a:xfrm>
            <a:off x="822960" y="5440680"/>
            <a:ext cx="10607040" cy="640080"/>
          </a:xfrm>
          <a:prstGeom prst="rect">
            <a:avLst/>
          </a:prstGeom>
          <a:noFill/>
          <a:ln/>
        </p:spPr>
        <p:txBody>
          <a:bodyPr wrap="square" lIns="0" tIns="0" rIns="0" bIns="0" rtlCol="0" anchor="ctr"/>
          <a:lstStyle/>
          <a:p>
            <a:pPr indent="0" marL="0">
              <a:buNone/>
            </a:pPr>
            <a:r>
              <a:rPr lang="en-US" sz="1700" b="1" dirty="0">
                <a:solidFill>
                  <a:srgbClr val="B45309"/>
                </a:solidFill>
              </a:rPr>
              <a:t>The goal: </a:t>
            </a:r>
            <a:pPr indent="0" marL="0">
              <a:buNone/>
            </a:pPr>
            <a:r>
              <a:rPr lang="en-US" sz="1700" dirty="0">
                <a:solidFill>
                  <a:schemeClr val="tx2"/>
                </a:solidFill>
              </a:rPr>
              <a:t>offer the model for interagency evaluation and reuse as participating agencies onboard to HR 2.0.</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Roadmap and the ask</a:t>
            </a:r>
            <a:endParaRPr lang="en-US" sz="3000" dirty="0"/>
          </a:p>
        </p:txBody>
      </p:sp>
      <p:sp>
        <p:nvSpPr>
          <p:cNvPr id="3" name="Shape 1" descr="">
            <a:extLst>
              <a:ext uri="{C183D7F6-B498-43B3-948B-1728B52AA6E4}">
                <adec:decorative xmlns:adec="http://schemas.microsoft.com/office/drawing/2017/decorative" val="1"/>
              </a:ext>
            </a:extLst>
          </p:cNvPr>
          <p:cNvSpPr/>
          <p:nvPr/>
        </p:nvSpPr>
        <p:spPr>
          <a:xfrm>
            <a:off x="1691640" y="1828800"/>
            <a:ext cx="8778240" cy="0"/>
          </a:xfrm>
          <a:prstGeom prst="line">
            <a:avLst/>
          </a:prstGeom>
          <a:noFill/>
          <a:ln w="19050">
            <a:solidFill>
              <a:srgbClr val="64748B"/>
            </a:solidFill>
            <a:prstDash val="solid"/>
          </a:ln>
        </p:spPr>
      </p:sp>
      <p:sp>
        <p:nvSpPr>
          <p:cNvPr id="4" name="Roadmap dot 1" descr="">
            <a:extLst>
              <a:ext uri="{C183D7F6-B498-43B3-948B-1728B52AA6E4}">
                <adec:decorative xmlns:adec="http://schemas.microsoft.com/office/drawing/2017/decorative" val="1"/>
              </a:ext>
            </a:extLst>
          </p:cNvPr>
          <p:cNvSpPr/>
          <p:nvPr/>
        </p:nvSpPr>
        <p:spPr>
          <a:xfrm>
            <a:off x="1490472" y="1627632"/>
            <a:ext cx="402336" cy="402336"/>
          </a:xfrm>
          <a:prstGeom prst="ellipse">
            <a:avLst/>
          </a:prstGeom>
          <a:solidFill>
            <a:srgbClr val="1F2A44"/>
          </a:solidFill>
          <a:ln w="25400">
            <a:solidFill>
              <a:srgbClr val="FFFFFF"/>
            </a:solidFill>
            <a:prstDash val="solid"/>
          </a:ln>
        </p:spPr>
      </p:sp>
      <p:sp>
        <p:nvSpPr>
          <p:cNvPr id="5" name="Roadmap when 1"/>
          <p:cNvSpPr txBox="1"/>
          <p:nvPr/>
        </p:nvSpPr>
        <p:spPr>
          <a:xfrm>
            <a:off x="68580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Now</a:t>
            </a:r>
            <a:endParaRPr lang="en-US" sz="1400" dirty="0"/>
          </a:p>
        </p:txBody>
      </p:sp>
      <p:sp>
        <p:nvSpPr>
          <p:cNvPr id="6" name="Roadmap text 1"/>
          <p:cNvSpPr txBox="1"/>
          <p:nvPr/>
        </p:nvSpPr>
        <p:spPr>
          <a:xfrm>
            <a:off x="70408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Align with HR 2.0</a:t>
            </a:r>
            <a:endParaRPr lang="en-US" sz="1400" dirty="0"/>
          </a:p>
          <a:p>
            <a:pPr algn="ctr" indent="0" marL="0">
              <a:spcAft>
                <a:spcPts val="300"/>
              </a:spcAft>
              <a:buNone/>
            </a:pPr>
            <a:r>
              <a:rPr lang="en-US" sz="1350" dirty="0">
                <a:solidFill>
                  <a:schemeClr val="tx2"/>
                </a:solidFill>
              </a:rPr>
              <a:t>Identity named as an interconnection consumer</a:t>
            </a:r>
            <a:endParaRPr lang="en-US" sz="1400" dirty="0"/>
          </a:p>
        </p:txBody>
      </p:sp>
      <p:sp>
        <p:nvSpPr>
          <p:cNvPr id="7" name="Roadmap dot 2" descr="">
            <a:extLst>
              <a:ext uri="{C183D7F6-B498-43B3-948B-1728B52AA6E4}">
                <adec:decorative xmlns:adec="http://schemas.microsoft.com/office/drawing/2017/decorative" val="1"/>
              </a:ext>
            </a:extLst>
          </p:cNvPr>
          <p:cNvSpPr/>
          <p:nvPr/>
        </p:nvSpPr>
        <p:spPr>
          <a:xfrm>
            <a:off x="3685032" y="1627632"/>
            <a:ext cx="402336" cy="402336"/>
          </a:xfrm>
          <a:prstGeom prst="ellipse">
            <a:avLst/>
          </a:prstGeom>
          <a:solidFill>
            <a:srgbClr val="B45309"/>
          </a:solidFill>
          <a:ln w="25400">
            <a:solidFill>
              <a:srgbClr val="FFFFFF"/>
            </a:solidFill>
            <a:prstDash val="solid"/>
          </a:ln>
        </p:spPr>
      </p:sp>
      <p:sp>
        <p:nvSpPr>
          <p:cNvPr id="8" name="Roadmap when 2"/>
          <p:cNvSpPr txBox="1"/>
          <p:nvPr/>
        </p:nvSpPr>
        <p:spPr>
          <a:xfrm>
            <a:off x="288036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Pre-onboarding</a:t>
            </a:r>
            <a:endParaRPr lang="en-US" sz="1400" dirty="0"/>
          </a:p>
        </p:txBody>
      </p:sp>
      <p:sp>
        <p:nvSpPr>
          <p:cNvPr id="9" name="Roadmap text 2"/>
          <p:cNvSpPr txBox="1"/>
          <p:nvPr/>
        </p:nvSpPr>
        <p:spPr>
          <a:xfrm>
            <a:off x="289864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B45309"/>
                </a:solidFill>
              </a:rPr>
              <a:t>Standards and authority</a:t>
            </a:r>
            <a:endParaRPr lang="en-US" sz="1400" dirty="0"/>
          </a:p>
          <a:p>
            <a:pPr algn="ctr" indent="0" marL="0">
              <a:spcAft>
                <a:spcPts val="300"/>
              </a:spcAft>
              <a:buNone/>
            </a:pPr>
            <a:r>
              <a:rPr lang="en-US" sz="1350" dirty="0">
                <a:solidFill>
                  <a:schemeClr val="tx2"/>
                </a:solidFill>
              </a:rPr>
              <a:t>Crosswalk, authority map, contractor source, privacy basis</a:t>
            </a:r>
            <a:endParaRPr lang="en-US" sz="1400" dirty="0"/>
          </a:p>
        </p:txBody>
      </p:sp>
      <p:sp>
        <p:nvSpPr>
          <p:cNvPr id="10" name="Roadmap dot 3" descr="">
            <a:extLst>
              <a:ext uri="{C183D7F6-B498-43B3-948B-1728B52AA6E4}">
                <adec:decorative xmlns:adec="http://schemas.microsoft.com/office/drawing/2017/decorative" val="1"/>
              </a:ext>
            </a:extLst>
          </p:cNvPr>
          <p:cNvSpPr/>
          <p:nvPr/>
        </p:nvSpPr>
        <p:spPr>
          <a:xfrm>
            <a:off x="5879592" y="1627632"/>
            <a:ext cx="402336" cy="402336"/>
          </a:xfrm>
          <a:prstGeom prst="ellipse">
            <a:avLst/>
          </a:prstGeom>
          <a:solidFill>
            <a:srgbClr val="1F2A44"/>
          </a:solidFill>
          <a:ln w="25400">
            <a:solidFill>
              <a:srgbClr val="FFFFFF"/>
            </a:solidFill>
            <a:prstDash val="solid"/>
          </a:ln>
        </p:spPr>
      </p:sp>
      <p:sp>
        <p:nvSpPr>
          <p:cNvPr id="11" name="Roadmap when 3"/>
          <p:cNvSpPr txBox="1"/>
          <p:nvPr/>
        </p:nvSpPr>
        <p:spPr>
          <a:xfrm>
            <a:off x="507492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Onboarding</a:t>
            </a:r>
            <a:endParaRPr lang="en-US" sz="1400" dirty="0"/>
          </a:p>
        </p:txBody>
      </p:sp>
      <p:sp>
        <p:nvSpPr>
          <p:cNvPr id="12" name="Roadmap text 3"/>
          <p:cNvSpPr txBox="1"/>
          <p:nvPr/>
        </p:nvSpPr>
        <p:spPr>
          <a:xfrm>
            <a:off x="509320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Build and prove</a:t>
            </a:r>
            <a:endParaRPr lang="en-US" sz="1400" dirty="0"/>
          </a:p>
          <a:p>
            <a:pPr algn="ctr" indent="0" marL="0">
              <a:spcAft>
                <a:spcPts val="300"/>
              </a:spcAft>
              <a:buNone/>
            </a:pPr>
            <a:r>
              <a:rPr lang="en-US" sz="1350" dirty="0">
                <a:solidFill>
                  <a:schemeClr val="tx2"/>
                </a:solidFill>
              </a:rPr>
              <a:t>Joiner, mover, leaver end to end; shadow mode</a:t>
            </a:r>
            <a:endParaRPr lang="en-US" sz="1400" dirty="0"/>
          </a:p>
        </p:txBody>
      </p:sp>
      <p:sp>
        <p:nvSpPr>
          <p:cNvPr id="13" name="Roadmap dot 4" descr="">
            <a:extLst>
              <a:ext uri="{C183D7F6-B498-43B3-948B-1728B52AA6E4}">
                <adec:decorative xmlns:adec="http://schemas.microsoft.com/office/drawing/2017/decorative" val="1"/>
              </a:ext>
            </a:extLst>
          </p:cNvPr>
          <p:cNvSpPr/>
          <p:nvPr/>
        </p:nvSpPr>
        <p:spPr>
          <a:xfrm>
            <a:off x="8074152" y="1627632"/>
            <a:ext cx="402336" cy="402336"/>
          </a:xfrm>
          <a:prstGeom prst="ellipse">
            <a:avLst/>
          </a:prstGeom>
          <a:solidFill>
            <a:srgbClr val="0F766E"/>
          </a:solidFill>
          <a:ln w="25400">
            <a:solidFill>
              <a:srgbClr val="FFFFFF"/>
            </a:solidFill>
            <a:prstDash val="solid"/>
          </a:ln>
        </p:spPr>
      </p:sp>
      <p:sp>
        <p:nvSpPr>
          <p:cNvPr id="14" name="Roadmap when 4"/>
          <p:cNvSpPr txBox="1"/>
          <p:nvPr/>
        </p:nvSpPr>
        <p:spPr>
          <a:xfrm>
            <a:off x="726948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Interconnection live</a:t>
            </a:r>
            <a:endParaRPr lang="en-US" sz="1400" dirty="0"/>
          </a:p>
        </p:txBody>
      </p:sp>
      <p:sp>
        <p:nvSpPr>
          <p:cNvPr id="15" name="Roadmap text 4"/>
          <p:cNvSpPr txBox="1"/>
          <p:nvPr/>
        </p:nvSpPr>
        <p:spPr>
          <a:xfrm>
            <a:off x="728776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0F766E"/>
                </a:solidFill>
              </a:rPr>
              <a:t>Cut over</a:t>
            </a:r>
            <a:endParaRPr lang="en-US" sz="1400" dirty="0"/>
          </a:p>
          <a:p>
            <a:pPr algn="ctr" indent="0" marL="0">
              <a:spcAft>
                <a:spcPts val="300"/>
              </a:spcAft>
              <a:buNone/>
            </a:pPr>
            <a:r>
              <a:rPr lang="en-US" sz="1350" dirty="0">
                <a:solidFill>
                  <a:schemeClr val="tx2"/>
                </a:solidFill>
              </a:rPr>
              <a:t>HR-driven for each population as it moves to Entra ID</a:t>
            </a:r>
            <a:endParaRPr lang="en-US" sz="1400" dirty="0"/>
          </a:p>
        </p:txBody>
      </p:sp>
      <p:sp>
        <p:nvSpPr>
          <p:cNvPr id="16" name="Roadmap dot 5" descr="">
            <a:extLst>
              <a:ext uri="{C183D7F6-B498-43B3-948B-1728B52AA6E4}">
                <adec:decorative xmlns:adec="http://schemas.microsoft.com/office/drawing/2017/decorative" val="1"/>
              </a:ext>
            </a:extLst>
          </p:cNvPr>
          <p:cNvSpPr/>
          <p:nvPr/>
        </p:nvSpPr>
        <p:spPr>
          <a:xfrm>
            <a:off x="10268712" y="1627632"/>
            <a:ext cx="402336" cy="402336"/>
          </a:xfrm>
          <a:prstGeom prst="ellipse">
            <a:avLst/>
          </a:prstGeom>
          <a:solidFill>
            <a:srgbClr val="1F2A44"/>
          </a:solidFill>
          <a:ln w="25400">
            <a:solidFill>
              <a:srgbClr val="FFFFFF"/>
            </a:solidFill>
            <a:prstDash val="solid"/>
          </a:ln>
        </p:spPr>
      </p:sp>
      <p:sp>
        <p:nvSpPr>
          <p:cNvPr id="17" name="Roadmap when 5"/>
          <p:cNvSpPr txBox="1"/>
          <p:nvPr/>
        </p:nvSpPr>
        <p:spPr>
          <a:xfrm>
            <a:off x="946404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After</a:t>
            </a:r>
            <a:endParaRPr lang="en-US" sz="1400" dirty="0"/>
          </a:p>
        </p:txBody>
      </p:sp>
      <p:sp>
        <p:nvSpPr>
          <p:cNvPr id="18" name="Roadmap text 5"/>
          <p:cNvSpPr txBox="1"/>
          <p:nvPr/>
        </p:nvSpPr>
        <p:spPr>
          <a:xfrm>
            <a:off x="948232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Sustain</a:t>
            </a:r>
            <a:endParaRPr lang="en-US" sz="1400" dirty="0"/>
          </a:p>
          <a:p>
            <a:pPr algn="ctr" indent="0" marL="0">
              <a:spcAft>
                <a:spcPts val="300"/>
              </a:spcAft>
              <a:buNone/>
            </a:pPr>
            <a:r>
              <a:rPr lang="en-US" sz="1350" dirty="0">
                <a:solidFill>
                  <a:schemeClr val="tx2"/>
                </a:solidFill>
              </a:rPr>
              <a:t>Metrics and drift on the ConMon cadence</a:t>
            </a:r>
            <a:endParaRPr lang="en-US" sz="1400" dirty="0"/>
          </a:p>
        </p:txBody>
      </p:sp>
      <p:sp>
        <p:nvSpPr>
          <p:cNvPr id="19" name="Ask" descr="">
            <a:extLst>
              <a:ext uri="{C183D7F6-B498-43B3-948B-1728B52AA6E4}">
                <adec:decorative xmlns:adec="http://schemas.microsoft.com/office/drawing/2017/decorative" val="1"/>
              </a:ext>
            </a:extLst>
          </p:cNvPr>
          <p:cNvSpPr/>
          <p:nvPr/>
        </p:nvSpPr>
        <p:spPr>
          <a:xfrm>
            <a:off x="548640" y="3886200"/>
            <a:ext cx="11109960" cy="1280160"/>
          </a:xfrm>
          <a:prstGeom prst="roundRect">
            <a:avLst>
              <a:gd name="adj" fmla="val 571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Icon FaLightbulb" descr="">
            <a:extLst>
              <a:ext uri="{C183D7F6-B498-43B3-948B-1728B52AA6E4}">
                <adec:decorative xmlns:adec="http://schemas.microsoft.com/office/drawing/2017/decorative" val="1"/>
              </a:ext>
            </a:extLst>
          </p:cNvPr>
          <p:cNvSpPr/>
          <p:nvPr/>
        </p:nvSpPr>
        <p:spPr>
          <a:xfrm>
            <a:off x="777240" y="4114800"/>
            <a:ext cx="822960" cy="822960"/>
          </a:xfrm>
          <a:prstGeom prst="ellipse">
            <a:avLst/>
          </a:prstGeom>
          <a:solidFill>
            <a:srgbClr val="B45309"/>
          </a:solidFill>
          <a:ln w="12700">
            <a:solidFill>
              <a:srgbClr val="B45309"/>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4750" y="4312310"/>
            <a:ext cx="427939" cy="427939"/>
          </a:xfrm>
          <a:prstGeom prst="rect">
            <a:avLst/>
          </a:prstGeom>
        </p:spPr>
      </p:pic>
      <p:sp>
        <p:nvSpPr>
          <p:cNvPr id="22" name="Ask text"/>
          <p:cNvSpPr txBox="1"/>
          <p:nvPr/>
        </p:nvSpPr>
        <p:spPr>
          <a:xfrm>
            <a:off x="1828800" y="3977640"/>
            <a:ext cx="9601200" cy="1097280"/>
          </a:xfrm>
          <a:prstGeom prst="rect">
            <a:avLst/>
          </a:prstGeom>
          <a:noFill/>
          <a:ln/>
        </p:spPr>
        <p:txBody>
          <a:bodyPr wrap="square" lIns="0" tIns="0" rIns="0" bIns="0" rtlCol="0" anchor="ctr"/>
          <a:lstStyle/>
          <a:p>
            <a:pPr indent="0" marL="0">
              <a:buNone/>
            </a:pPr>
            <a:r>
              <a:rPr lang="en-US" sz="2000" b="1" dirty="0">
                <a:solidFill>
                  <a:srgbClr val="B45309"/>
                </a:solidFill>
              </a:rPr>
              <a:t>The ask: </a:t>
            </a:r>
            <a:pPr indent="0" marL="0">
              <a:buNone/>
            </a:pPr>
            <a:r>
              <a:rPr lang="en-US" sz="1700" dirty="0">
                <a:solidFill>
                  <a:schemeClr val="tx2"/>
                </a:solidFill>
              </a:rPr>
              <a:t>decide now to start HR-driven identity — HR, through OPM standard attributes, as the source of authority for Entra ID, AD and ICAM — and build it into both the HR 2.0 onboarding and the Entra ID migration, so Zero Trust and SASE decide access on accurate data.</a:t>
            </a:r>
            <a:endParaRPr lang="en-US" sz="1400" dirty="0"/>
          </a:p>
        </p:txBody>
      </p:sp>
      <p:sp>
        <p:nvSpPr>
          <p:cNvPr id="23" name="EDA contribution" descr="">
            <a:extLst>
              <a:ext uri="{C183D7F6-B498-43B3-948B-1728B52AA6E4}">
                <adec:decorative xmlns:adec="http://schemas.microsoft.com/office/drawing/2017/decorative" val="1"/>
              </a:ext>
            </a:extLst>
          </p:cNvPr>
          <p:cNvSpPr/>
          <p:nvPr/>
        </p:nvSpPr>
        <p:spPr>
          <a:xfrm>
            <a:off x="548640" y="53492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EDA contribution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700" b="1" dirty="0">
                <a:solidFill>
                  <a:srgbClr val="1F2A44"/>
                </a:solidFill>
              </a:rPr>
              <a:t>EDA contribution: </a:t>
            </a:r>
            <a:pPr indent="0" marL="0">
              <a:buNone/>
            </a:pPr>
            <a:r>
              <a:rPr lang="en-US" sz="1700" dirty="0">
                <a:solidFill>
                  <a:schemeClr val="tx2"/>
                </a:solidFill>
              </a:rPr>
              <a:t>establish authority, identifiers, standards, lineage and evidence — so workforce events produce measurable identity outcomes.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More modernizations I’ve designed</a:t>
            </a:r>
            <a:endParaRPr lang="en-US" sz="3000" dirty="0"/>
          </a:p>
        </p:txBody>
      </p:sp>
      <p:sp>
        <p:nvSpPr>
          <p:cNvPr id="3" name="Teaser 1" descr="">
            <a:extLst>
              <a:ext uri="{C183D7F6-B498-43B3-948B-1728B52AA6E4}">
                <adec:decorative xmlns:adec="http://schemas.microsoft.com/office/drawing/2017/decorative" val="1"/>
              </a:ext>
            </a:extLst>
          </p:cNvPr>
          <p:cNvSpPr/>
          <p:nvPr/>
        </p:nvSpPr>
        <p:spPr>
          <a:xfrm>
            <a:off x="548640" y="1280160"/>
            <a:ext cx="2670048" cy="1719072"/>
          </a:xfrm>
          <a:prstGeom prst="roundRect">
            <a:avLst>
              <a:gd name="adj" fmla="val 425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CloudArrowUp" descr="">
            <a:extLst>
              <a:ext uri="{C183D7F6-B498-43B3-948B-1728B52AA6E4}">
                <adec:decorative xmlns:adec="http://schemas.microsoft.com/office/drawing/2017/decorative" val="1"/>
              </a:ext>
            </a:extLst>
          </p:cNvPr>
          <p:cNvSpPr/>
          <p:nvPr/>
        </p:nvSpPr>
        <p:spPr>
          <a:xfrm>
            <a:off x="731520" y="1417320"/>
            <a:ext cx="457200" cy="45720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1248" y="1527048"/>
            <a:ext cx="237744" cy="237744"/>
          </a:xfrm>
          <a:prstGeom prst="rect">
            <a:avLst/>
          </a:prstGeom>
        </p:spPr>
      </p:pic>
      <p:sp>
        <p:nvSpPr>
          <p:cNvPr id="6" name="Teaser 1 text"/>
          <p:cNvSpPr txBox="1"/>
          <p:nvPr/>
        </p:nvSpPr>
        <p:spPr>
          <a:xfrm>
            <a:off x="731520" y="19385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Entra ID migration</a:t>
            </a:r>
            <a:endParaRPr lang="en-US" sz="1400" dirty="0"/>
          </a:p>
          <a:p>
            <a:pPr indent="0" marL="0">
              <a:spcAft>
                <a:spcPts val="300"/>
              </a:spcAft>
              <a:buNone/>
            </a:pPr>
            <a:r>
              <a:rPr lang="en-US" sz="1350" dirty="0">
                <a:solidFill>
                  <a:schemeClr val="tx2"/>
                </a:solidFill>
              </a:rPr>
              <a:t>Directory move with drift detection and evidence</a:t>
            </a:r>
            <a:endParaRPr lang="en-US" sz="1400" dirty="0"/>
          </a:p>
        </p:txBody>
      </p:sp>
      <p:sp>
        <p:nvSpPr>
          <p:cNvPr id="7" name="Teaser 2" descr="">
            <a:extLst>
              <a:ext uri="{C183D7F6-B498-43B3-948B-1728B52AA6E4}">
                <adec:decorative xmlns:adec="http://schemas.microsoft.com/office/drawing/2017/decorative" val="1"/>
              </a:ext>
            </a:extLst>
          </p:cNvPr>
          <p:cNvSpPr/>
          <p:nvPr/>
        </p:nvSpPr>
        <p:spPr>
          <a:xfrm>
            <a:off x="3355848" y="1280160"/>
            <a:ext cx="2670048" cy="1719072"/>
          </a:xfrm>
          <a:prstGeom prst="roundRect">
            <a:avLst>
              <a:gd name="adj" fmla="val 425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Globe" descr="">
            <a:extLst>
              <a:ext uri="{C183D7F6-B498-43B3-948B-1728B52AA6E4}">
                <adec:decorative xmlns:adec="http://schemas.microsoft.com/office/drawing/2017/decorative" val="1"/>
              </a:ext>
            </a:extLst>
          </p:cNvPr>
          <p:cNvSpPr/>
          <p:nvPr/>
        </p:nvSpPr>
        <p:spPr>
          <a:xfrm>
            <a:off x="3538728" y="1417320"/>
            <a:ext cx="457200" cy="457200"/>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48456" y="1527048"/>
            <a:ext cx="237744" cy="237744"/>
          </a:xfrm>
          <a:prstGeom prst="rect">
            <a:avLst/>
          </a:prstGeom>
        </p:spPr>
      </p:pic>
      <p:sp>
        <p:nvSpPr>
          <p:cNvPr id="10" name="Teaser 2 text"/>
          <p:cNvSpPr txBox="1"/>
          <p:nvPr/>
        </p:nvSpPr>
        <p:spPr>
          <a:xfrm>
            <a:off x="3538728" y="19385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Next-generation DNS and IPAM</a:t>
            </a:r>
            <a:endParaRPr lang="en-US" sz="1400" dirty="0"/>
          </a:p>
          <a:p>
            <a:pPr indent="0" marL="0">
              <a:spcAft>
                <a:spcPts val="300"/>
              </a:spcAft>
              <a:buNone/>
            </a:pPr>
            <a:r>
              <a:rPr lang="en-US" sz="1350" dirty="0">
                <a:solidFill>
                  <a:schemeClr val="tx2"/>
                </a:solidFill>
              </a:rPr>
              <a:t>One DDI control plane across on-premises and clouds</a:t>
            </a:r>
            <a:endParaRPr lang="en-US" sz="1400" dirty="0"/>
          </a:p>
        </p:txBody>
      </p:sp>
      <p:sp>
        <p:nvSpPr>
          <p:cNvPr id="11" name="Teaser 3" descr="">
            <a:extLst>
              <a:ext uri="{C183D7F6-B498-43B3-948B-1728B52AA6E4}">
                <adec:decorative xmlns:adec="http://schemas.microsoft.com/office/drawing/2017/decorative" val="1"/>
              </a:ext>
            </a:extLst>
          </p:cNvPr>
          <p:cNvSpPr/>
          <p:nvPr/>
        </p:nvSpPr>
        <p:spPr>
          <a:xfrm>
            <a:off x="6163056" y="1280160"/>
            <a:ext cx="2670048" cy="1719072"/>
          </a:xfrm>
          <a:prstGeom prst="roundRect">
            <a:avLst>
              <a:gd name="adj" fmla="val 425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Building" descr="">
            <a:extLst>
              <a:ext uri="{C183D7F6-B498-43B3-948B-1728B52AA6E4}">
                <adec:decorative xmlns:adec="http://schemas.microsoft.com/office/drawing/2017/decorative" val="1"/>
              </a:ext>
            </a:extLst>
          </p:cNvPr>
          <p:cNvSpPr/>
          <p:nvPr/>
        </p:nvSpPr>
        <p:spPr>
          <a:xfrm>
            <a:off x="6345936" y="1417320"/>
            <a:ext cx="457200" cy="45720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55664" y="1527048"/>
            <a:ext cx="237744" cy="237744"/>
          </a:xfrm>
          <a:prstGeom prst="rect">
            <a:avLst/>
          </a:prstGeom>
        </p:spPr>
      </p:pic>
      <p:sp>
        <p:nvSpPr>
          <p:cNvPr id="14" name="Teaser 3 text"/>
          <p:cNvSpPr txBox="1"/>
          <p:nvPr/>
        </p:nvSpPr>
        <p:spPr>
          <a:xfrm>
            <a:off x="6345936" y="19385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Field office WAN and data centers</a:t>
            </a:r>
            <a:endParaRPr lang="en-US" sz="1400" dirty="0"/>
          </a:p>
          <a:p>
            <a:pPr indent="0" marL="0">
              <a:spcAft>
                <a:spcPts val="300"/>
              </a:spcAft>
              <a:buNone/>
            </a:pPr>
            <a:r>
              <a:rPr lang="en-US" sz="1350" dirty="0">
                <a:solidFill>
                  <a:schemeClr val="tx2"/>
                </a:solidFill>
              </a:rPr>
              <a:t>Office network transformation and consolidation</a:t>
            </a:r>
            <a:endParaRPr lang="en-US" sz="1400" dirty="0"/>
          </a:p>
        </p:txBody>
      </p:sp>
      <p:sp>
        <p:nvSpPr>
          <p:cNvPr id="15" name="Teaser 4" descr="">
            <a:extLst>
              <a:ext uri="{C183D7F6-B498-43B3-948B-1728B52AA6E4}">
                <adec:decorative xmlns:adec="http://schemas.microsoft.com/office/drawing/2017/decorative" val="1"/>
              </a:ext>
            </a:extLst>
          </p:cNvPr>
          <p:cNvSpPr/>
          <p:nvPr/>
        </p:nvSpPr>
        <p:spPr>
          <a:xfrm>
            <a:off x="8970264" y="1280160"/>
            <a:ext cx="2670048" cy="1719072"/>
          </a:xfrm>
          <a:prstGeom prst="roundRect">
            <a:avLst>
              <a:gd name="adj" fmla="val 425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Route" descr="">
            <a:extLst>
              <a:ext uri="{C183D7F6-B498-43B3-948B-1728B52AA6E4}">
                <adec:decorative xmlns:adec="http://schemas.microsoft.com/office/drawing/2017/decorative" val="1"/>
              </a:ext>
            </a:extLst>
          </p:cNvPr>
          <p:cNvSpPr/>
          <p:nvPr/>
        </p:nvSpPr>
        <p:spPr>
          <a:xfrm>
            <a:off x="9153144" y="1417320"/>
            <a:ext cx="457200" cy="457200"/>
          </a:xfrm>
          <a:prstGeom prst="ellipse">
            <a:avLst/>
          </a:prstGeom>
          <a:solidFill>
            <a:srgbClr val="1F2A44"/>
          </a:solidFill>
          <a:ln w="12700">
            <a:solidFill>
              <a:srgbClr val="1F2A44"/>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62872" y="1527048"/>
            <a:ext cx="237744" cy="237744"/>
          </a:xfrm>
          <a:prstGeom prst="rect">
            <a:avLst/>
          </a:prstGeom>
        </p:spPr>
      </p:pic>
      <p:sp>
        <p:nvSpPr>
          <p:cNvPr id="18" name="Teaser 4 text"/>
          <p:cNvSpPr txBox="1"/>
          <p:nvPr/>
        </p:nvSpPr>
        <p:spPr>
          <a:xfrm>
            <a:off x="9153144" y="19385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TIC 3.0 Cloud and Branch Office cases</a:t>
            </a:r>
            <a:endParaRPr lang="en-US" sz="1400" dirty="0"/>
          </a:p>
          <a:p>
            <a:pPr indent="0" marL="0">
              <a:spcAft>
                <a:spcPts val="300"/>
              </a:spcAft>
              <a:buNone/>
            </a:pPr>
            <a:r>
              <a:rPr lang="en-US" sz="1350" dirty="0">
                <a:solidFill>
                  <a:schemeClr val="tx2"/>
                </a:solidFill>
              </a:rPr>
              <a:t>Trusted Internet Connections use cases</a:t>
            </a:r>
            <a:endParaRPr lang="en-US" sz="1400" dirty="0"/>
          </a:p>
        </p:txBody>
      </p:sp>
      <p:sp>
        <p:nvSpPr>
          <p:cNvPr id="19" name="Teaser 5" descr="">
            <a:extLst>
              <a:ext uri="{C183D7F6-B498-43B3-948B-1728B52AA6E4}">
                <adec:decorative xmlns:adec="http://schemas.microsoft.com/office/drawing/2017/decorative" val="1"/>
              </a:ext>
            </a:extLst>
          </p:cNvPr>
          <p:cNvSpPr/>
          <p:nvPr/>
        </p:nvSpPr>
        <p:spPr>
          <a:xfrm>
            <a:off x="548640" y="3108960"/>
            <a:ext cx="2670048" cy="1719072"/>
          </a:xfrm>
          <a:prstGeom prst="roundRect">
            <a:avLst>
              <a:gd name="adj" fmla="val 425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Server" descr="">
            <a:extLst>
              <a:ext uri="{C183D7F6-B498-43B3-948B-1728B52AA6E4}">
                <adec:decorative xmlns:adec="http://schemas.microsoft.com/office/drawing/2017/decorative" val="1"/>
              </a:ext>
            </a:extLst>
          </p:cNvPr>
          <p:cNvSpPr/>
          <p:nvPr/>
        </p:nvSpPr>
        <p:spPr>
          <a:xfrm>
            <a:off x="731520" y="3246120"/>
            <a:ext cx="457200" cy="457200"/>
          </a:xfrm>
          <a:prstGeom prst="ellipse">
            <a:avLst/>
          </a:prstGeom>
          <a:solidFill>
            <a:srgbClr val="0F766E"/>
          </a:solidFill>
          <a:ln w="12700">
            <a:solidFill>
              <a:srgbClr val="0F766E"/>
            </a:solidFill>
            <a:prstDash val="solid"/>
          </a:ln>
        </p:spPr>
      </p:sp>
      <p:pic>
        <p:nvPicPr>
          <p:cNvPr id="21"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1248" y="3355848"/>
            <a:ext cx="237744" cy="237744"/>
          </a:xfrm>
          <a:prstGeom prst="rect">
            <a:avLst/>
          </a:prstGeom>
        </p:spPr>
      </p:pic>
      <p:sp>
        <p:nvSpPr>
          <p:cNvPr id="22" name="Teaser 5 text"/>
          <p:cNvSpPr txBox="1"/>
          <p:nvPr/>
        </p:nvSpPr>
        <p:spPr>
          <a:xfrm>
            <a:off x="731520" y="37673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Client-server to hybrid cloud</a:t>
            </a:r>
            <a:endParaRPr lang="en-US" sz="1400" dirty="0"/>
          </a:p>
          <a:p>
            <a:pPr indent="0" marL="0">
              <a:spcAft>
                <a:spcPts val="300"/>
              </a:spcAft>
              <a:buNone/>
            </a:pPr>
            <a:r>
              <a:rPr lang="en-US" sz="1350" dirty="0">
                <a:solidFill>
                  <a:schemeClr val="tx2"/>
                </a:solidFill>
              </a:rPr>
              <a:t>Application path from on-premises to cloud</a:t>
            </a:r>
            <a:endParaRPr lang="en-US" sz="1400" dirty="0"/>
          </a:p>
        </p:txBody>
      </p:sp>
      <p:sp>
        <p:nvSpPr>
          <p:cNvPr id="23" name="Teaser 6" descr="">
            <a:extLst>
              <a:ext uri="{C183D7F6-B498-43B3-948B-1728B52AA6E4}">
                <adec:decorative xmlns:adec="http://schemas.microsoft.com/office/drawing/2017/decorative" val="1"/>
              </a:ext>
            </a:extLst>
          </p:cNvPr>
          <p:cNvSpPr/>
          <p:nvPr/>
        </p:nvSpPr>
        <p:spPr>
          <a:xfrm>
            <a:off x="3355848" y="3108960"/>
            <a:ext cx="2670048" cy="1719072"/>
          </a:xfrm>
          <a:prstGeom prst="roundRect">
            <a:avLst>
              <a:gd name="adj" fmla="val 425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Database" descr="">
            <a:extLst>
              <a:ext uri="{C183D7F6-B498-43B3-948B-1728B52AA6E4}">
                <adec:decorative xmlns:adec="http://schemas.microsoft.com/office/drawing/2017/decorative" val="1"/>
              </a:ext>
            </a:extLst>
          </p:cNvPr>
          <p:cNvSpPr/>
          <p:nvPr/>
        </p:nvSpPr>
        <p:spPr>
          <a:xfrm>
            <a:off x="3538728" y="3246120"/>
            <a:ext cx="457200" cy="457200"/>
          </a:xfrm>
          <a:prstGeom prst="ellipse">
            <a:avLst/>
          </a:prstGeom>
          <a:solidFill>
            <a:srgbClr val="0F766E"/>
          </a:solidFill>
          <a:ln w="12700">
            <a:solidFill>
              <a:srgbClr val="0F766E"/>
            </a:solidFill>
            <a:prstDash val="solid"/>
          </a:ln>
        </p:spPr>
      </p:sp>
      <p:pic>
        <p:nvPicPr>
          <p:cNvPr id="25"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48456" y="3355848"/>
            <a:ext cx="237744" cy="237744"/>
          </a:xfrm>
          <a:prstGeom prst="rect">
            <a:avLst/>
          </a:prstGeom>
        </p:spPr>
      </p:pic>
      <p:sp>
        <p:nvSpPr>
          <p:cNvPr id="26" name="Teaser 6 text"/>
          <p:cNvSpPr txBox="1"/>
          <p:nvPr/>
        </p:nvSpPr>
        <p:spPr>
          <a:xfrm>
            <a:off x="3538728" y="37673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SQL Server identity</a:t>
            </a:r>
            <a:endParaRPr lang="en-US" sz="1400" dirty="0"/>
          </a:p>
          <a:p>
            <a:pPr indent="0" marL="0">
              <a:spcAft>
                <a:spcPts val="300"/>
              </a:spcAft>
              <a:buNone/>
            </a:pPr>
            <a:r>
              <a:rPr lang="en-US" sz="1350" dirty="0">
                <a:solidFill>
                  <a:schemeClr val="tx2"/>
                </a:solidFill>
              </a:rPr>
              <a:t>Database logins moved to governed identity</a:t>
            </a:r>
            <a:endParaRPr lang="en-US" sz="1400" dirty="0"/>
          </a:p>
        </p:txBody>
      </p:sp>
      <p:sp>
        <p:nvSpPr>
          <p:cNvPr id="27" name="Teaser 7" descr="">
            <a:extLst>
              <a:ext uri="{C183D7F6-B498-43B3-948B-1728B52AA6E4}">
                <adec:decorative xmlns:adec="http://schemas.microsoft.com/office/drawing/2017/decorative" val="1"/>
              </a:ext>
            </a:extLst>
          </p:cNvPr>
          <p:cNvSpPr/>
          <p:nvPr/>
        </p:nvSpPr>
        <p:spPr>
          <a:xfrm>
            <a:off x="6163056" y="3108960"/>
            <a:ext cx="2670048" cy="1719072"/>
          </a:xfrm>
          <a:prstGeom prst="roundRect">
            <a:avLst>
              <a:gd name="adj" fmla="val 425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Laptop" descr="">
            <a:extLst>
              <a:ext uri="{C183D7F6-B498-43B3-948B-1728B52AA6E4}">
                <adec:decorative xmlns:adec="http://schemas.microsoft.com/office/drawing/2017/decorative" val="1"/>
              </a:ext>
            </a:extLst>
          </p:cNvPr>
          <p:cNvSpPr/>
          <p:nvPr/>
        </p:nvSpPr>
        <p:spPr>
          <a:xfrm>
            <a:off x="6345936" y="3246120"/>
            <a:ext cx="457200" cy="457200"/>
          </a:xfrm>
          <a:prstGeom prst="ellipse">
            <a:avLst/>
          </a:prstGeom>
          <a:solidFill>
            <a:srgbClr val="0F766E"/>
          </a:solidFill>
          <a:ln w="12700">
            <a:solidFill>
              <a:srgbClr val="0F766E"/>
            </a:solidFill>
            <a:prstDash val="solid"/>
          </a:ln>
        </p:spPr>
      </p:sp>
      <p:pic>
        <p:nvPicPr>
          <p:cNvPr id="29"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55664" y="3355848"/>
            <a:ext cx="237744" cy="237744"/>
          </a:xfrm>
          <a:prstGeom prst="rect">
            <a:avLst/>
          </a:prstGeom>
        </p:spPr>
      </p:pic>
      <p:sp>
        <p:nvSpPr>
          <p:cNvPr id="30" name="Teaser 7 text"/>
          <p:cNvSpPr txBox="1"/>
          <p:nvPr/>
        </p:nvSpPr>
        <p:spPr>
          <a:xfrm>
            <a:off x="6345936" y="37673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GPO sunset to Intune and Arc</a:t>
            </a:r>
            <a:endParaRPr lang="en-US" sz="1400" dirty="0"/>
          </a:p>
          <a:p>
            <a:pPr indent="0" marL="0">
              <a:spcAft>
                <a:spcPts val="300"/>
              </a:spcAft>
              <a:buNone/>
            </a:pPr>
            <a:r>
              <a:rPr lang="en-US" sz="1350" dirty="0">
                <a:solidFill>
                  <a:schemeClr val="tx2"/>
                </a:solidFill>
              </a:rPr>
              <a:t>Policy and device management in the cloud</a:t>
            </a:r>
            <a:endParaRPr lang="en-US" sz="1400" dirty="0"/>
          </a:p>
        </p:txBody>
      </p:sp>
      <p:sp>
        <p:nvSpPr>
          <p:cNvPr id="31" name="Teaser 8" descr="">
            <a:extLst>
              <a:ext uri="{C183D7F6-B498-43B3-948B-1728B52AA6E4}">
                <adec:decorative xmlns:adec="http://schemas.microsoft.com/office/drawing/2017/decorative" val="1"/>
              </a:ext>
            </a:extLst>
          </p:cNvPr>
          <p:cNvSpPr/>
          <p:nvPr/>
        </p:nvSpPr>
        <p:spPr>
          <a:xfrm>
            <a:off x="8970264" y="3108960"/>
            <a:ext cx="2670048" cy="1719072"/>
          </a:xfrm>
          <a:prstGeom prst="roundRect">
            <a:avLst>
              <a:gd name="adj" fmla="val 425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ShieldHalved" descr="">
            <a:extLst>
              <a:ext uri="{C183D7F6-B498-43B3-948B-1728B52AA6E4}">
                <adec:decorative xmlns:adec="http://schemas.microsoft.com/office/drawing/2017/decorative" val="1"/>
              </a:ext>
            </a:extLst>
          </p:cNvPr>
          <p:cNvSpPr/>
          <p:nvPr/>
        </p:nvSpPr>
        <p:spPr>
          <a:xfrm>
            <a:off x="9153144" y="3246120"/>
            <a:ext cx="457200" cy="457200"/>
          </a:xfrm>
          <a:prstGeom prst="ellipse">
            <a:avLst/>
          </a:prstGeom>
          <a:solidFill>
            <a:srgbClr val="0F766E"/>
          </a:solidFill>
          <a:ln w="12700">
            <a:solidFill>
              <a:srgbClr val="0F766E"/>
            </a:solidFill>
            <a:prstDash val="solid"/>
          </a:ln>
        </p:spPr>
      </p:sp>
      <p:pic>
        <p:nvPicPr>
          <p:cNvPr id="33" name="Image 7"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62872" y="3355848"/>
            <a:ext cx="237744" cy="237744"/>
          </a:xfrm>
          <a:prstGeom prst="rect">
            <a:avLst/>
          </a:prstGeom>
        </p:spPr>
      </p:pic>
      <p:sp>
        <p:nvSpPr>
          <p:cNvPr id="34" name="Teaser 8 text"/>
          <p:cNvSpPr txBox="1"/>
          <p:nvPr/>
        </p:nvSpPr>
        <p:spPr>
          <a:xfrm>
            <a:off x="9153144" y="37673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Continuous compliance</a:t>
            </a:r>
            <a:endParaRPr lang="en-US" sz="1400" dirty="0"/>
          </a:p>
          <a:p>
            <a:pPr indent="0" marL="0">
              <a:spcAft>
                <a:spcPts val="300"/>
              </a:spcAft>
              <a:buNone/>
            </a:pPr>
            <a:r>
              <a:rPr lang="en-US" sz="1350" dirty="0">
                <a:solidFill>
                  <a:schemeClr val="tx2"/>
                </a:solidFill>
              </a:rPr>
              <a:t>SCuBA baselines, BOD 25-01, FedRAMP 20x</a:t>
            </a:r>
            <a:endParaRPr lang="en-US" sz="1400" dirty="0"/>
          </a:p>
        </p:txBody>
      </p:sp>
      <p:sp>
        <p:nvSpPr>
          <p:cNvPr id="35" name="Teaser companions" descr="">
            <a:extLst>
              <a:ext uri="{C183D7F6-B498-43B3-948B-1728B52AA6E4}">
                <adec:decorative xmlns:adec="http://schemas.microsoft.com/office/drawing/2017/decorative" val="1"/>
              </a:ext>
            </a:extLst>
          </p:cNvPr>
          <p:cNvSpPr/>
          <p:nvPr/>
        </p:nvSpPr>
        <p:spPr>
          <a:xfrm>
            <a:off x="548640" y="4937760"/>
            <a:ext cx="11109960" cy="566928"/>
          </a:xfrm>
          <a:prstGeom prst="roundRect">
            <a:avLst>
              <a:gd name="adj" fmla="val 129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6" name="Teaser companions text"/>
          <p:cNvSpPr txBox="1"/>
          <p:nvPr/>
        </p:nvSpPr>
        <p:spPr>
          <a:xfrm>
            <a:off x="822960" y="4956048"/>
            <a:ext cx="10607040" cy="530352"/>
          </a:xfrm>
          <a:prstGeom prst="rect">
            <a:avLst/>
          </a:prstGeom>
          <a:noFill/>
          <a:ln/>
        </p:spPr>
        <p:txBody>
          <a:bodyPr wrap="square" lIns="0" tIns="0" rIns="0" bIns="0" rtlCol="0" anchor="ctr"/>
          <a:lstStyle/>
          <a:p>
            <a:pPr indent="0" marL="0">
              <a:buNone/>
            </a:pPr>
            <a:r>
              <a:rPr lang="en-US" sz="1450" b="1" dirty="0">
                <a:solidFill>
                  <a:srgbClr val="1F2A44"/>
                </a:solidFill>
              </a:rPr>
              <a:t>Companion decks: </a:t>
            </a:r>
            <a:pPr indent="0" marL="0">
              <a:buNone/>
            </a:pPr>
            <a:r>
              <a:rPr lang="en-US" sz="1450" b="1" dirty="0">
                <a:solidFill>
                  <a:schemeClr val="tx2"/>
                </a:solidFill>
              </a:rPr>
              <a:t>Contractor Identity Source</a:t>
            </a:r>
            <a:pPr indent="0" marL="0">
              <a:buNone/>
            </a:pPr>
            <a:r>
              <a:rPr lang="en-US" sz="1450" dirty="0">
                <a:solidFill>
                  <a:schemeClr val="tx2"/>
                </a:solidFill>
              </a:rPr>
              <a:t> (who is authoritative for a contractor)  ·  </a:t>
            </a:r>
            <a:pPr indent="0" marL="0">
              <a:buNone/>
            </a:pPr>
            <a:r>
              <a:rPr lang="en-US" sz="1450" b="1" dirty="0">
                <a:solidFill>
                  <a:schemeClr val="tx2"/>
                </a:solidFill>
              </a:rPr>
              <a:t>Original HR-Driven Identity</a:t>
            </a:r>
            <a:pPr indent="0" marL="0">
              <a:buNone/>
            </a:pPr>
            <a:r>
              <a:rPr lang="en-US" sz="1450" dirty="0">
                <a:solidFill>
                  <a:schemeClr val="tx2"/>
                </a:solidFill>
              </a:rPr>
              <a:t> (full model, lifecycle, plan)</a:t>
            </a:r>
            <a:endParaRPr lang="en-US" sz="1450" dirty="0"/>
          </a:p>
        </p:txBody>
      </p:sp>
      <p:sp>
        <p:nvSpPr>
          <p:cNvPr id="37" name="Teaser footer" descr="">
            <a:extLst>
              <a:ext uri="{C183D7F6-B498-43B3-948B-1728B52AA6E4}">
                <adec:decorative xmlns:adec="http://schemas.microsoft.com/office/drawing/2017/decorative" val="1"/>
              </a:ext>
            </a:extLst>
          </p:cNvPr>
          <p:cNvSpPr/>
          <p:nvPr/>
        </p:nvSpPr>
        <p:spPr>
          <a:xfrm>
            <a:off x="548640" y="5596128"/>
            <a:ext cx="11109960" cy="548640"/>
          </a:xfrm>
          <a:prstGeom prst="roundRect">
            <a:avLst>
              <a:gd name="adj" fmla="val 1333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8" name="Teaser footer text"/>
          <p:cNvSpPr txBox="1"/>
          <p:nvPr/>
        </p:nvSpPr>
        <p:spPr>
          <a:xfrm>
            <a:off x="822960" y="5614416"/>
            <a:ext cx="10607040" cy="512064"/>
          </a:xfrm>
          <a:prstGeom prst="rect">
            <a:avLst/>
          </a:prstGeom>
          <a:noFill/>
          <a:ln/>
        </p:spPr>
        <p:txBody>
          <a:bodyPr wrap="square" lIns="0" tIns="0" rIns="0" bIns="0" rtlCol="0" anchor="ctr"/>
          <a:lstStyle/>
          <a:p>
            <a:pPr indent="0" marL="0">
              <a:buNone/>
            </a:pPr>
            <a:r>
              <a:rPr lang="en-US" sz="1500" b="1" dirty="0">
                <a:solidFill>
                  <a:srgbClr val="B45309"/>
                </a:solidFill>
              </a:rPr>
              <a:t>Also: </a:t>
            </a:r>
            <a:pPr indent="0" marL="0">
              <a:buNone/>
            </a:pPr>
            <a:r>
              <a:rPr lang="en-US" sz="1500" dirty="0">
                <a:solidFill>
                  <a:schemeClr val="tx2"/>
                </a:solidFill>
              </a:rPr>
              <a:t>Zero Trust whole-agency unification · AI identity governance · help desk Entra operations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Michael F. Stratton</dc:creator>
  <cp:lastModifiedBy>Michael F. Stratton</cp:lastModifiedBy>
  <cp:revision>1</cp:revision>
  <dcterms:created xsi:type="dcterms:W3CDTF">2026-10-20T23:05:25Z</dcterms:created>
  <dcterms:modified xsi:type="dcterms:W3CDTF">2026-10-20T23:05:25Z</dcterms:modified>
</cp:coreProperties>
</file>