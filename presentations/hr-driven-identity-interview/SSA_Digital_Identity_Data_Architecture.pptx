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a340d96-b050-acf7-c1fe-64cf94a3fca1}">
          <p14:sldIdLst>
            <p14:sldId id="256"/>
          </p14:sldIdLst>
        </p14:section>
        <p14:section name="Line of business" id="{293ac428-f2a1-d5d9-cb94-b524e7a70c4c}">
          <p14:sldIdLst>
            <p14:sldId id="257"/>
            <p14:sldId id="258"/>
          </p14:sldIdLst>
        </p14:section>
        <p14:section name="Data" id="{6f378e76-675b-4d53-685e-6705935fdab7}">
          <p14:sldIdLst>
            <p14:sldId id="259"/>
          </p14:sldIdLst>
        </p14:section>
        <p14:section name="Modeling" id="{a75675e1-cd02-9165-1be7-1ac6780592e9}">
          <p14:sldIdLst>
            <p14:sldId id="260"/>
            <p14:sldId id="261"/>
            <p14:sldId id="262"/>
          </p14:sldIdLst>
        </p14:section>
        <p14:section name="Operations" id="{62056fe0-559a-3e87-9889-720dea6d7613}">
          <p14:sldIdLst>
            <p14:sldId id="263"/>
            <p14:sldId id="264"/>
          </p14:sldIdLst>
        </p14:section>
        <p14:section name="Delivery" id="{f46fbc1c-5887-8e68-5a76-3996e47e3599}">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Good morning. Thank you for the time.
I chose the Digital Identity line of business, and I want to make one argument in the next fifteen minutes: digital identity is first a data problem, and only second a technology problem.
Every identity decision SSA makes — create an account, let someone sign in, grant access, take it away — rests on a fact that some authoritative record already holds. The architecture work is making those facts governed, modeled, moving and measured.
I'll walk through the business line, the data, the logical and physical models, how the data moves, how we measure it, and how I'd deliver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[0:45–2:15]  Programmatic line-of-business knowledge.
Digital Identity at SSA has two faces.
The public face starts with enumeration. SSA issues the Social Security number and maintains the Numident — the authoritative record of who holds which number. my Social accounts sit on top of that, with sign-in through external credential providers, and SSA's verification services answer whether a presented identity matches SSA's records. The data point here: identity proofing produces assertions about a person; it doesn't create a new source of truth that competes with the Numident.
The workforce face is SSA's own people. Under Federal HR 2.0, SSA is a Wave 2 agency moving to Oracle Fusion Cloud HCM in fiscal 2027. That is a real, dated forcing function for SSA's workforce identity data: every hire, transfer and separation becomes an effective-dated record in a new platform, and SSA's directories have to follow it.
The point of this slide: the same data discipline serves both sides. The worked example in the rest of the talk is the workforce side, because it's concrete and it's on SSA's calendar — but every principle carries to the public side.
(Verify before Wednesday: current my Social credential providers and the agency's Wave 2 onboarding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[2:15–3:30]  The problem, in one timeline.
A token can prove cryptographically who signed a claim. It can't tell you whether the claim is still true — whether this person still works here, still holds this position, still reports to the supervisor who approved the access.
Here's what happens without a channel from the authoritative record. HR records a separation two weeks ahead. On day zero, everything is still live. On day three a ticket disables the directory account, but nine application accounts stay enabled. A quarterly review finds two of them. Six months later a penetration test signs in with one of the rest.
At every point the truth was available — in one system. This is why I treat identity as a data problem: the failure is missing lineage from the authoritative record to every consumer, and cleanup sweeps can't fix that. They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[3:30–4:45]  Programmatic data knowledge.
The first artifact I build in any identity program is an authority map: for every fact an access decision reads, which system owns it.
SSN and enumeration facts are owned by enumeration — the Numident. Employment status, position and supervisor are owned by the HR system of record, which for SSA becomes Core HCM. The identity platform owns credentials and sessions; endpoint management and PKI own device identity.
Three rules make the map operable. A fact is authoritative where a business act creates it. Everywhere else it's derived — computed and read, never edited by hand. And corrections flow upstream: when a token carries the wrong department, we fix the HR record or the derivation rule, not the directory attribute, because a hand-edited copy is just a new fragment.
No system becomes authoritative because it received a copy, and no field drives access until it has an owner, a definition, controlled values and a correction path. That's data governance applied to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[4:45–6:15]  Logical data modeling.
This is the logical model, independent of any product.
The person is the tracked entity — not the account. A person has many identifiers, and many affiliations over time: employee, contractor, a rehire after a break in service. Each affiliation carries assignments: position, organization code, supervisor, all effective-dated.
A person has accounts — one directory object per system — and accounts carry credentials and entitlements. The key design decision is the arrow in amber: lifecycle events drive account state. Accounts are never the place where truth is entered.
And every event produces exactly one provenance record: which source event, which payload, which derivation inputs, what happened. That entity is what turns operations into audit evidence.
Why model the person rather than the account? Because directories forget. An account deleted at separation takes its history with it; a person record survives the rehire, the conversion from contractor to employee, the reorganization.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[6:15–7:30]  Still logical modeling — identifiers, because this is where most identity data models break.
A common design says "employee ID is the immutable anchor for life." It works until the source changes, or contractors come from a different system, or someone is rehired. Each of these keys has its own lifecycle, so I model them as layers: an enterprise person key the agency controls, a source key per HR system, an affiliation key per employment, a directory object ID per account, and credential identifiers per authenticator.
Two SSA-specific consequences. First, the SSN is a protected attribute, not a join key — federal policy has pushed for years to reduce unnecessary SSN use, and a layered key model is how you join records without spreading it. Second, the Core HCM cutover in Wave 2 changes the source key. With layered identifiers, that's a mapping change at the boundary; nothing downstream has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[7:30–8:45]  Physical data modeling.
The logical model becomes physical in a crosswalk: one canonical field, and its name in every system — the Oracle HCM source, the SCIM payload, on-premises Active Directory and Entra ID. This crosswalk is the single place those mappings live; every other document links to it instead of repeating it.
Three physical design rules. Use a native attribute wherever one exists, because other features — the org chart, Lifecycle Workflows, approvals — already understand it. Put codes in access attributes, never display strings, because a display name changes whenever someone retypes it. And use the same carrier in both directories, so one access rule works during the years when AD and the cloud coexist.
Notice the dates: Active Directory has no native hire or leave date, so the physical model has to choose carriers. That's the kind of decision a data architect documents and governs rather than leaving to whoever configures the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[8:45–10:00]  How the data moves.
One governed path. On the left, the authoritative source. Then a boundary transformation that's specific to that source and deliberately replaceable. In the middle — highlighted — the governed identity model, which is the durable contract. Then one provisioning service, and the target services.
The design point: a source change touches only the boundary. When SSA moves to Core HCM, the transformation changes; the model, the lifecycle rules and the access policy don't.
And every event gets five duties. Validate, failing closed. Sequence, because a mover applied after a leaver is a correctness bug. Normalize to one payload. Write a provenance record before the call returns — no record, no verifiable outcome. And reconcile: read the result back, match it to the event, and give every failure an owner and an alternate completion path.
On the Microsoft stack this is API-driven inbound provisioning into Entra ID and AD, with Lifecycle Workflows acting on the results — but the duties are product-neutral.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[10:00–11:15]  How we measure it.
Once events flow through one governed path, data quality stops being an annual cleanup and becomes a set of numbers. Four I'd report on the continuous-monitoring cadence: separation-to-block — the time from the HR effective date to sign-in disabled and sessions revoked; correlation coverage — what share of enabled accounts resolve to a current person; joiner readiness on day one; and derivation purity — how much access is granted by rule rather than by hand.
Drift is any difference between the authoritative record and a consumer: missing identities, stale access, orphan accounts, attribute drift, unauthorized writes. Each has a detection signal and an owner.
On the right, the evidence those same records produce for AC-2, PS-4, PS-5, IA-4 and SI-12. One thing I'm careful about: the architecture supports these controls — it doesn't close them on its own. Agency policy, organization-defined parameters, procedures and assessment still have to be there. I'd rather tell an assessor exactly what the data proves than overclaim.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[11:15–12:45]  How I'd deliver it.
Seven phases, each with an exit gate that is the next phase's precondition.
Phase 0 aligns with the Federal HR 2.0 preparation actions — that's compliance, not overhead. Phase 1, in amber, is the one that matters most to a data architect: sign the authority map, record the identifier decision, and fix data at the source. Phase 2 builds and proves joiner, mover and leaver end to end with evidence in a test tenant. Phase 3 runs a pilot in shadow mode — the pipeline computes what it would do, and every difference is explained before it's allowed to act. Phase 4 automates lifecycle, leavers first, because that's where the risk is. Phase 5, in teal, cuts populations over to cloud-mastered identity as SSA's Core HCM interconnections go live. Phase 6 is sustained measurement.
Two things I've learned. Phases 1 and 2 produce nothing users can see, which is exactly why programs skip them and end up automating against unverified data. And the numbers in the gates — 99 percent correlation, zero missed leavers — are proposed starting criteria. Agency risk governance approves them, ideally tiered so privileged and high-impact populations get tighter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[12:45–14:30]  How this maps to the position.
The position is about enterprise data architecture in service of SSA's lines of business, so let me close on what I'd bring.
Enterprise data models: logical and physical, with one governed crosswalk instead of connector-by-connector mappings. Data governance: authority maps with owners, definitions, controlled values and correction paths. Metadata and lineage: provenance designed in at the source, so lineage is emitted where data originates rather than reconstructed afterward. Data quality: drift classes, detection signals and metrics on the monitoring cadence. Architecture review: designs that are source-independent, so a platform change like Core HCM is a boundary change, not a redesign. And communication: I maintain a published modernization workbook written for program teams and leadership.
In the first ninety days I'd inventory the authoritative sources for one line of business, publish its authority map, and stand up one measured pilot — so the conversation moves from opinions to numbers.
Thank you. I'm looking forward to your questions.
[Stop by 15:00. If running long, shorten slide 9's control table to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10698480" cy="91440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Digital Identity as a Data Problem  ·  Mike Stratton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Digital Identity as a Data Problem</a:t>
            </a:r>
            <a:endParaRPr lang="en-US" sz="4400" dirty="0"/>
          </a:p>
        </p:txBody>
      </p:sp>
      <p:sp>
        <p:nvSpPr>
          <p:cNvPr id="3" name="Text 0"/>
          <p:cNvSpPr/>
          <p:nvPr>
            <p:ph idx="101" type="body" hasCustomPrompt="1"/>
          </p:nvPr>
        </p:nvSpPr>
        <p:spPr>
          <a:xfrm>
            <a:off x="731520" y="3520440"/>
            <a:ext cx="10698480" cy="914400"/>
          </a:xfrm>
          <a:prstGeom prst="rect">
            <a:avLst/>
          </a:prstGeom>
          <a:noFill/>
          <a:ln/>
        </p:spPr>
        <p:txBody>
          <a:bodyPr wrap="square" lIns="0" tIns="0" rIns="0" bIns="0" rtlCol="0" anchor="t"/>
          <a:lstStyle/>
          <a:p>
            <a:pPr indent="0" marL="0">
              <a:buNone/>
            </a:pPr>
            <a:r>
              <a:rPr lang="en-US" sz="2200" dirty="0">
                <a:solidFill>
                  <a:schemeClr val="accent2"/>
                </a:solidFill>
              </a:rPr>
              <a:t>Authoritative records, a governed identity model, and measurable outcomes</a:t>
            </a:r>
            <a:endParaRPr lang="en-US" sz="2200" dirty="0"/>
          </a:p>
        </p:txBody>
      </p:sp>
      <p:sp>
        <p:nvSpPr>
          <p:cNvPr id="4"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Interview presentation  ·  GS-14 Enterprise Data Architect  ·  Data Strategy and Enablement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Digital Identity rests on facts SSA already records</a:t>
            </a:r>
            <a:endParaRPr lang="en-US" sz="3000" dirty="0"/>
          </a:p>
        </p:txBody>
      </p:sp>
      <p:sp>
        <p:nvSpPr>
          <p:cNvPr id="3" name="Public digital identity card"/>
          <p:cNvSpPr/>
          <p:nvPr/>
        </p:nvSpPr>
        <p:spPr>
          <a:xfrm>
            <a:off x="548640" y="1417320"/>
            <a:ext cx="5440680" cy="3429000"/>
          </a:xfrm>
          <a:prstGeom prst="roundRect">
            <a:avLst>
              <a:gd name="adj" fmla="val 2133"/>
            </a:avLst>
          </a:prstGeom>
          <a:solidFill>
            <a:srgbClr val="E6F2F1"/>
          </a:solidFill>
          <a:ln w="12700">
            <a:solidFill>
              <a:srgbClr val="E6F2F1"/>
            </a:solidFill>
            <a:prstDash val="solid"/>
          </a:ln>
        </p:spPr>
      </p:sp>
      <p:sp>
        <p:nvSpPr>
          <p:cNvPr id="4" name="Public digital identity heading"/>
          <p:cNvSpPr txBox="1"/>
          <p:nvPr/>
        </p:nvSpPr>
        <p:spPr>
          <a:xfrm>
            <a:off x="868680" y="1645920"/>
            <a:ext cx="4846320" cy="457200"/>
          </a:xfrm>
          <a:prstGeom prst="rect">
            <a:avLst/>
          </a:prstGeom>
          <a:noFill/>
          <a:ln/>
        </p:spPr>
        <p:txBody>
          <a:bodyPr wrap="square" lIns="0" tIns="0" rIns="0" bIns="0" rtlCol="0" anchor="t"/>
          <a:lstStyle/>
          <a:p>
            <a:pPr indent="0" marL="0">
              <a:buNone/>
            </a:pPr>
            <a:r>
              <a:rPr lang="en-US" sz="2200" b="1" dirty="0">
                <a:solidFill>
                  <a:srgbClr val="0F766E"/>
                </a:solidFill>
                <a:latin typeface="Cambria" pitchFamily="34" charset="0"/>
                <a:ea typeface="Cambria" pitchFamily="34" charset="-122"/>
                <a:cs typeface="Cambria" pitchFamily="34" charset="-120"/>
              </a:rPr>
              <a:t>Public digital identity</a:t>
            </a:r>
            <a:endParaRPr lang="en-US" sz="2200" dirty="0"/>
          </a:p>
        </p:txBody>
      </p:sp>
      <p:sp>
        <p:nvSpPr>
          <p:cNvPr id="5" name="Public digital identity items"/>
          <p:cNvSpPr txBox="1"/>
          <p:nvPr/>
        </p:nvSpPr>
        <p:spPr>
          <a:xfrm>
            <a:off x="868680" y="2240280"/>
            <a:ext cx="484632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Enumeration: SSN issuance and the Numident record</a:t>
            </a:r>
            <a:endParaRPr lang="en-US" sz="1600" dirty="0"/>
          </a:p>
          <a:p>
            <a:pPr marL="342900" indent="-342900">
              <a:spcAft>
                <a:spcPts val="800"/>
              </a:spcAft>
              <a:buSzPct val="100000"/>
              <a:buChar char="•"/>
            </a:pPr>
            <a:r>
              <a:rPr lang="en-US" sz="1600" dirty="0">
                <a:solidFill>
                  <a:schemeClr val="tx2"/>
                </a:solidFill>
              </a:rPr>
              <a:t>my Social accounts, with external credential providers for sign-in</a:t>
            </a:r>
            <a:endParaRPr lang="en-US" sz="1600" dirty="0"/>
          </a:p>
          <a:p>
            <a:pPr marL="342900" indent="-342900">
              <a:spcAft>
                <a:spcPts val="800"/>
              </a:spcAft>
              <a:buSzPct val="100000"/>
              <a:buChar char="•"/>
            </a:pPr>
            <a:r>
              <a:rPr lang="en-US" sz="1600" dirty="0">
                <a:solidFill>
                  <a:schemeClr val="tx2"/>
                </a:solidFill>
              </a:rPr>
              <a:t>Verification services that answer “does this identity match?”</a:t>
            </a:r>
            <a:endParaRPr lang="en-US" sz="1600" dirty="0"/>
          </a:p>
          <a:p>
            <a:pPr marL="342900" indent="-342900">
              <a:spcAft>
                <a:spcPts val="800"/>
              </a:spcAft>
              <a:buSzPct val="100000"/>
              <a:buChar char="•"/>
            </a:pPr>
            <a:r>
              <a:rPr lang="en-US" sz="1600" dirty="0">
                <a:solidFill>
                  <a:schemeClr val="tx2"/>
                </a:solidFill>
              </a:rPr>
              <a:t>Identity proofing results as assertions, not new sources of truth</a:t>
            </a:r>
            <a:endParaRPr lang="en-US" sz="1600" dirty="0"/>
          </a:p>
        </p:txBody>
      </p:sp>
      <p:sp>
        <p:nvSpPr>
          <p:cNvPr id="6" name="Workforce digital identity card"/>
          <p:cNvSpPr/>
          <p:nvPr/>
        </p:nvSpPr>
        <p:spPr>
          <a:xfrm>
            <a:off x="6217920" y="1417320"/>
            <a:ext cx="5440680" cy="3429000"/>
          </a:xfrm>
          <a:prstGeom prst="roundRect">
            <a:avLst>
              <a:gd name="adj" fmla="val 2133"/>
            </a:avLst>
          </a:prstGeom>
          <a:solidFill>
            <a:srgbClr val="EEF1F7"/>
          </a:solidFill>
          <a:ln w="12700">
            <a:solidFill>
              <a:srgbClr val="EEF1F7"/>
            </a:solidFill>
            <a:prstDash val="solid"/>
          </a:ln>
        </p:spPr>
      </p:sp>
      <p:sp>
        <p:nvSpPr>
          <p:cNvPr id="7" name="Workforce digital identity heading"/>
          <p:cNvSpPr txBox="1"/>
          <p:nvPr/>
        </p:nvSpPr>
        <p:spPr>
          <a:xfrm>
            <a:off x="6537960" y="1645920"/>
            <a:ext cx="4846320" cy="457200"/>
          </a:xfrm>
          <a:prstGeom prst="rect">
            <a:avLst/>
          </a:prstGeom>
          <a:noFill/>
          <a:ln/>
        </p:spPr>
        <p:txBody>
          <a:bodyPr wrap="square" lIns="0" tIns="0" rIns="0" bIns="0" rtlCol="0" anchor="t"/>
          <a:lstStyle/>
          <a:p>
            <a:pPr indent="0" marL="0">
              <a:buNone/>
            </a:pPr>
            <a:r>
              <a:rPr lang="en-US" sz="2200" b="1" dirty="0">
                <a:solidFill>
                  <a:srgbClr val="1F2A44"/>
                </a:solidFill>
                <a:latin typeface="Cambria" pitchFamily="34" charset="0"/>
                <a:ea typeface="Cambria" pitchFamily="34" charset="-122"/>
                <a:cs typeface="Cambria" pitchFamily="34" charset="-120"/>
              </a:rPr>
              <a:t>Workforce digital identity</a:t>
            </a:r>
            <a:endParaRPr lang="en-US" sz="2200" dirty="0"/>
          </a:p>
        </p:txBody>
      </p:sp>
      <p:sp>
        <p:nvSpPr>
          <p:cNvPr id="8" name="Workforce digital identity items"/>
          <p:cNvSpPr txBox="1"/>
          <p:nvPr/>
        </p:nvSpPr>
        <p:spPr>
          <a:xfrm>
            <a:off x="6537960" y="2240280"/>
            <a:ext cx="484632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Employees and contractors: accounts, PIV, devices, access</a:t>
            </a:r>
            <a:endParaRPr lang="en-US" sz="1600" dirty="0"/>
          </a:p>
          <a:p>
            <a:pPr marL="342900" indent="-342900">
              <a:spcAft>
                <a:spcPts val="800"/>
              </a:spcAft>
              <a:buSzPct val="100000"/>
              <a:buChar char="•"/>
            </a:pPr>
            <a:r>
              <a:rPr lang="en-US" sz="1600" dirty="0">
                <a:solidFill>
                  <a:schemeClr val="tx2"/>
                </a:solidFill>
              </a:rPr>
              <a:t>Federal HR 2.0: SSA moves to Oracle Fusion Cloud HCM in Wave 2 (FY 2027)</a:t>
            </a:r>
            <a:endParaRPr lang="en-US" sz="1600" dirty="0"/>
          </a:p>
          <a:p>
            <a:pPr marL="342900" indent="-342900">
              <a:spcAft>
                <a:spcPts val="800"/>
              </a:spcAft>
              <a:buSzPct val="100000"/>
              <a:buChar char="•"/>
            </a:pPr>
            <a:r>
              <a:rPr lang="en-US" sz="1600" dirty="0">
                <a:solidFill>
                  <a:schemeClr val="tx2"/>
                </a:solidFill>
              </a:rPr>
              <a:t>Every hire, transfer and separation is an effective-dated HR record</a:t>
            </a:r>
            <a:endParaRPr lang="en-US" sz="1600" dirty="0"/>
          </a:p>
          <a:p>
            <a:pPr marL="342900" indent="-342900">
              <a:spcAft>
                <a:spcPts val="800"/>
              </a:spcAft>
              <a:buSzPct val="100000"/>
              <a:buChar char="•"/>
            </a:pPr>
            <a:r>
              <a:rPr lang="en-US" sz="1600" dirty="0">
                <a:solidFill>
                  <a:schemeClr val="tx2"/>
                </a:solidFill>
              </a:rPr>
              <a:t>Access must follow those records, not tickets</a:t>
            </a:r>
            <a:endParaRPr lang="en-US" sz="1600" dirty="0"/>
          </a:p>
        </p:txBody>
      </p:sp>
      <p:sp>
        <p:nvSpPr>
          <p:cNvPr id="9" name="Common discipline"/>
          <p:cNvSpPr/>
          <p:nvPr/>
        </p:nvSpPr>
        <p:spPr>
          <a:xfrm>
            <a:off x="548640" y="5074920"/>
            <a:ext cx="11109960" cy="1051560"/>
          </a:xfrm>
          <a:prstGeom prst="roundRect">
            <a:avLst>
              <a:gd name="adj" fmla="val 6957"/>
            </a:avLst>
          </a:prstGeom>
          <a:solidFill>
            <a:srgbClr val="FFFFFF"/>
          </a:solidFill>
          <a:ln w="12700">
            <a:solidFill>
              <a:srgbClr val="0F766E"/>
            </a:solidFill>
            <a:prstDash val="solid"/>
          </a:ln>
        </p:spPr>
      </p:sp>
      <p:sp>
        <p:nvSpPr>
          <p:cNvPr id="10" name="Common discipline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700" b="1" dirty="0">
                <a:solidFill>
                  <a:srgbClr val="0F766E"/>
                </a:solidFill>
              </a:rPr>
              <a:t>One discipline on both sides:  </a:t>
            </a:r>
            <a:pPr indent="0" marL="0">
              <a:buNone/>
            </a:pPr>
            <a:r>
              <a:rPr lang="en-US" sz="1700" dirty="0">
                <a:solidFill>
                  <a:schemeClr val="tx2"/>
                </a:solidFill>
              </a:rPr>
              <a:t>an authoritative source for every fact, a governed identity model, access derived by rule, and evidence produced by normal operation.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 credential proves who signed it — not whether it is still true</a:t>
            </a:r>
            <a:endParaRPr lang="en-US" sz="3000" dirty="0"/>
          </a:p>
        </p:txBody>
      </p:sp>
      <p:sp>
        <p:nvSpPr>
          <p:cNvPr id="3" name="Shape 1"/>
          <p:cNvSpPr/>
          <p:nvPr/>
        </p:nvSpPr>
        <p:spPr>
          <a:xfrm>
            <a:off x="1691640" y="2377440"/>
            <a:ext cx="8778240" cy="0"/>
          </a:xfrm>
          <a:prstGeom prst="line">
            <a:avLst/>
          </a:prstGeom>
          <a:noFill/>
          <a:ln w="19050">
            <a:solidFill>
              <a:srgbClr val="64748B"/>
            </a:solidFill>
            <a:prstDash val="solid"/>
          </a:ln>
        </p:spPr>
      </p:sp>
      <p:sp>
        <p:nvSpPr>
          <p:cNvPr id="4" name="Timeline dot 1"/>
          <p:cNvSpPr/>
          <p:nvPr/>
        </p:nvSpPr>
        <p:spPr>
          <a:xfrm>
            <a:off x="1490472" y="2176272"/>
            <a:ext cx="402336" cy="402336"/>
          </a:xfrm>
          <a:prstGeom prst="ellipse">
            <a:avLst/>
          </a:prstGeom>
          <a:solidFill>
            <a:srgbClr val="0F766E"/>
          </a:solidFill>
          <a:ln w="25400">
            <a:solidFill>
              <a:srgbClr val="FFFFFF"/>
            </a:solidFill>
            <a:prstDash val="solid"/>
          </a:ln>
        </p:spPr>
      </p:sp>
      <p:sp>
        <p:nvSpPr>
          <p:cNvPr id="5" name="Timeline day 1"/>
          <p:cNvSpPr txBox="1"/>
          <p:nvPr/>
        </p:nvSpPr>
        <p:spPr>
          <a:xfrm>
            <a:off x="594360" y="1554480"/>
            <a:ext cx="2194560" cy="457200"/>
          </a:xfrm>
          <a:prstGeom prst="rect">
            <a:avLst/>
          </a:prstGeom>
          <a:noFill/>
          <a:ln/>
        </p:spPr>
        <p:txBody>
          <a:bodyPr wrap="square" lIns="0" tIns="0" rIns="0" bIns="0" rtlCol="0" anchor="t"/>
          <a:lstStyle/>
          <a:p>
            <a:pPr algn="ctr" indent="0" marL="0">
              <a:buNone/>
            </a:pPr>
            <a:r>
              <a:rPr lang="en-US" sz="2000" b="1" dirty="0">
                <a:solidFill>
                  <a:srgbClr val="0F766E"/>
                </a:solidFill>
                <a:latin typeface="Cambria" pitchFamily="34" charset="0"/>
                <a:ea typeface="Cambria" pitchFamily="34" charset="-122"/>
                <a:cs typeface="Cambria" pitchFamily="34" charset="-120"/>
              </a:rPr>
              <a:t>Day −14</a:t>
            </a:r>
            <a:endParaRPr lang="en-US" sz="2000" dirty="0"/>
          </a:p>
        </p:txBody>
      </p:sp>
      <p:sp>
        <p:nvSpPr>
          <p:cNvPr id="6" name="Timeline event 1"/>
          <p:cNvSpPr txBox="1"/>
          <p:nvPr/>
        </p:nvSpPr>
        <p:spPr>
          <a:xfrm>
            <a:off x="70408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HR records the separation</a:t>
            </a:r>
            <a:endParaRPr lang="en-US" sz="1400" dirty="0"/>
          </a:p>
          <a:p>
            <a:pPr algn="ctr" indent="0" marL="0">
              <a:buNone/>
            </a:pPr>
            <a:r>
              <a:rPr lang="en-US" sz="1400" dirty="0">
                <a:solidFill>
                  <a:schemeClr val="tx2"/>
                </a:solidFill>
              </a:rPr>
              <a:t>No other system is listening</a:t>
            </a:r>
            <a:endParaRPr lang="en-US" sz="1400" dirty="0"/>
          </a:p>
        </p:txBody>
      </p:sp>
      <p:sp>
        <p:nvSpPr>
          <p:cNvPr id="7" name="Timeline dot 2"/>
          <p:cNvSpPr/>
          <p:nvPr/>
        </p:nvSpPr>
        <p:spPr>
          <a:xfrm>
            <a:off x="3685032" y="2176272"/>
            <a:ext cx="402336" cy="402336"/>
          </a:xfrm>
          <a:prstGeom prst="ellipse">
            <a:avLst/>
          </a:prstGeom>
          <a:solidFill>
            <a:srgbClr val="B45309"/>
          </a:solidFill>
          <a:ln w="25400">
            <a:solidFill>
              <a:srgbClr val="FFFFFF"/>
            </a:solidFill>
            <a:prstDash val="solid"/>
          </a:ln>
        </p:spPr>
      </p:sp>
      <p:sp>
        <p:nvSpPr>
          <p:cNvPr id="8" name="Timeline day 2"/>
          <p:cNvSpPr txBox="1"/>
          <p:nvPr/>
        </p:nvSpPr>
        <p:spPr>
          <a:xfrm>
            <a:off x="2788920" y="1554480"/>
            <a:ext cx="2194560" cy="45720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Day 0</a:t>
            </a:r>
            <a:endParaRPr lang="en-US" sz="2000" dirty="0"/>
          </a:p>
        </p:txBody>
      </p:sp>
      <p:sp>
        <p:nvSpPr>
          <p:cNvPr id="9" name="Timeline event 2"/>
          <p:cNvSpPr txBox="1"/>
          <p:nvPr/>
        </p:nvSpPr>
        <p:spPr>
          <a:xfrm>
            <a:off x="289864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Separation takes effect</a:t>
            </a:r>
            <a:endParaRPr lang="en-US" sz="1400" dirty="0"/>
          </a:p>
          <a:p>
            <a:pPr algn="ctr" indent="0" marL="0">
              <a:buNone/>
            </a:pPr>
            <a:r>
              <a:rPr lang="en-US" sz="1400" dirty="0">
                <a:solidFill>
                  <a:schemeClr val="tx2"/>
                </a:solidFill>
              </a:rPr>
              <a:t>Account, app logins and badge all still live</a:t>
            </a:r>
            <a:endParaRPr lang="en-US" sz="1400" dirty="0"/>
          </a:p>
        </p:txBody>
      </p:sp>
      <p:sp>
        <p:nvSpPr>
          <p:cNvPr id="10" name="Timeline dot 3"/>
          <p:cNvSpPr/>
          <p:nvPr/>
        </p:nvSpPr>
        <p:spPr>
          <a:xfrm>
            <a:off x="5879592" y="2176272"/>
            <a:ext cx="402336" cy="402336"/>
          </a:xfrm>
          <a:prstGeom prst="ellipse">
            <a:avLst/>
          </a:prstGeom>
          <a:solidFill>
            <a:srgbClr val="B45309"/>
          </a:solidFill>
          <a:ln w="25400">
            <a:solidFill>
              <a:srgbClr val="FFFFFF"/>
            </a:solidFill>
            <a:prstDash val="solid"/>
          </a:ln>
        </p:spPr>
      </p:sp>
      <p:sp>
        <p:nvSpPr>
          <p:cNvPr id="11" name="Timeline day 3"/>
          <p:cNvSpPr txBox="1"/>
          <p:nvPr/>
        </p:nvSpPr>
        <p:spPr>
          <a:xfrm>
            <a:off x="4983480" y="1554480"/>
            <a:ext cx="2194560" cy="45720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Day +3</a:t>
            </a:r>
            <a:endParaRPr lang="en-US" sz="2000" dirty="0"/>
          </a:p>
        </p:txBody>
      </p:sp>
      <p:sp>
        <p:nvSpPr>
          <p:cNvPr id="12" name="Timeline event 3"/>
          <p:cNvSpPr txBox="1"/>
          <p:nvPr/>
        </p:nvSpPr>
        <p:spPr>
          <a:xfrm>
            <a:off x="509320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A ticket disables the account</a:t>
            </a:r>
            <a:endParaRPr lang="en-US" sz="1400" dirty="0"/>
          </a:p>
          <a:p>
            <a:pPr algn="ctr" indent="0" marL="0">
              <a:buNone/>
            </a:pPr>
            <a:r>
              <a:rPr lang="en-US" sz="1400" dirty="0">
                <a:solidFill>
                  <a:schemeClr val="tx2"/>
                </a:solidFill>
              </a:rPr>
              <a:t>Nine application accounts stay enabled</a:t>
            </a:r>
            <a:endParaRPr lang="en-US" sz="1400" dirty="0"/>
          </a:p>
        </p:txBody>
      </p:sp>
      <p:sp>
        <p:nvSpPr>
          <p:cNvPr id="13" name="Timeline dot 4"/>
          <p:cNvSpPr/>
          <p:nvPr/>
        </p:nvSpPr>
        <p:spPr>
          <a:xfrm>
            <a:off x="8074152" y="2176272"/>
            <a:ext cx="402336" cy="402336"/>
          </a:xfrm>
          <a:prstGeom prst="ellipse">
            <a:avLst/>
          </a:prstGeom>
          <a:solidFill>
            <a:srgbClr val="B91C1C"/>
          </a:solidFill>
          <a:ln w="25400">
            <a:solidFill>
              <a:srgbClr val="FFFFFF"/>
            </a:solidFill>
            <a:prstDash val="solid"/>
          </a:ln>
        </p:spPr>
      </p:sp>
      <p:sp>
        <p:nvSpPr>
          <p:cNvPr id="14" name="Timeline day 4"/>
          <p:cNvSpPr txBox="1"/>
          <p:nvPr/>
        </p:nvSpPr>
        <p:spPr>
          <a:xfrm>
            <a:off x="7178040" y="1554480"/>
            <a:ext cx="2194560" cy="457200"/>
          </a:xfrm>
          <a:prstGeom prst="rect">
            <a:avLst/>
          </a:prstGeom>
          <a:noFill/>
          <a:ln/>
        </p:spPr>
        <p:txBody>
          <a:bodyPr wrap="square" lIns="0" tIns="0" rIns="0" bIns="0" rtlCol="0" anchor="t"/>
          <a:lstStyle/>
          <a:p>
            <a:pPr algn="ctr" indent="0" marL="0">
              <a:buNone/>
            </a:pPr>
            <a:r>
              <a:rPr lang="en-US" sz="2000" b="1" dirty="0">
                <a:solidFill>
                  <a:srgbClr val="B91C1C"/>
                </a:solidFill>
                <a:latin typeface="Cambria" pitchFamily="34" charset="0"/>
                <a:ea typeface="Cambria" pitchFamily="34" charset="-122"/>
                <a:cs typeface="Cambria" pitchFamily="34" charset="-120"/>
              </a:rPr>
              <a:t>Day +45</a:t>
            </a:r>
            <a:endParaRPr lang="en-US" sz="2000" dirty="0"/>
          </a:p>
        </p:txBody>
      </p:sp>
      <p:sp>
        <p:nvSpPr>
          <p:cNvPr id="15" name="Timeline event 4"/>
          <p:cNvSpPr txBox="1"/>
          <p:nvPr/>
        </p:nvSpPr>
        <p:spPr>
          <a:xfrm>
            <a:off x="728776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Quarterly review flags two</a:t>
            </a:r>
            <a:endParaRPr lang="en-US" sz="1400" dirty="0"/>
          </a:p>
          <a:p>
            <a:pPr algn="ctr" indent="0" marL="0">
              <a:buNone/>
            </a:pPr>
            <a:r>
              <a:rPr lang="en-US" sz="1400" dirty="0">
                <a:solidFill>
                  <a:schemeClr val="tx2"/>
                </a:solidFill>
              </a:rPr>
              <a:t>Nobody owns the other seven</a:t>
            </a:r>
            <a:endParaRPr lang="en-US" sz="1400" dirty="0"/>
          </a:p>
        </p:txBody>
      </p:sp>
      <p:sp>
        <p:nvSpPr>
          <p:cNvPr id="16" name="Timeline dot 5"/>
          <p:cNvSpPr/>
          <p:nvPr/>
        </p:nvSpPr>
        <p:spPr>
          <a:xfrm>
            <a:off x="10268712" y="2176272"/>
            <a:ext cx="402336" cy="402336"/>
          </a:xfrm>
          <a:prstGeom prst="ellipse">
            <a:avLst/>
          </a:prstGeom>
          <a:solidFill>
            <a:srgbClr val="B91C1C"/>
          </a:solidFill>
          <a:ln w="25400">
            <a:solidFill>
              <a:srgbClr val="FFFFFF"/>
            </a:solidFill>
            <a:prstDash val="solid"/>
          </a:ln>
        </p:spPr>
      </p:sp>
      <p:sp>
        <p:nvSpPr>
          <p:cNvPr id="17" name="Timeline day 5"/>
          <p:cNvSpPr txBox="1"/>
          <p:nvPr/>
        </p:nvSpPr>
        <p:spPr>
          <a:xfrm>
            <a:off x="9372600" y="1554480"/>
            <a:ext cx="2194560" cy="457200"/>
          </a:xfrm>
          <a:prstGeom prst="rect">
            <a:avLst/>
          </a:prstGeom>
          <a:noFill/>
          <a:ln/>
        </p:spPr>
        <p:txBody>
          <a:bodyPr wrap="square" lIns="0" tIns="0" rIns="0" bIns="0" rtlCol="0" anchor="t"/>
          <a:lstStyle/>
          <a:p>
            <a:pPr algn="ctr" indent="0" marL="0">
              <a:buNone/>
            </a:pPr>
            <a:r>
              <a:rPr lang="en-US" sz="2000" b="1" dirty="0">
                <a:solidFill>
                  <a:srgbClr val="B91C1C"/>
                </a:solidFill>
                <a:latin typeface="Cambria" pitchFamily="34" charset="0"/>
                <a:ea typeface="Cambria" pitchFamily="34" charset="-122"/>
                <a:cs typeface="Cambria" pitchFamily="34" charset="-120"/>
              </a:rPr>
              <a:t>Day +180</a:t>
            </a:r>
            <a:endParaRPr lang="en-US" sz="2000" dirty="0"/>
          </a:p>
        </p:txBody>
      </p:sp>
      <p:sp>
        <p:nvSpPr>
          <p:cNvPr id="18" name="Timeline event 5"/>
          <p:cNvSpPr txBox="1"/>
          <p:nvPr/>
        </p:nvSpPr>
        <p:spPr>
          <a:xfrm>
            <a:off x="9482328" y="2788920"/>
            <a:ext cx="1975104" cy="1280160"/>
          </a:xfrm>
          <a:prstGeom prst="rect">
            <a:avLst/>
          </a:prstGeom>
          <a:noFill/>
          <a:ln/>
        </p:spPr>
        <p:txBody>
          <a:bodyPr wrap="square" lIns="0" tIns="0" rIns="0" bIns="0" rtlCol="0" anchor="t"/>
          <a:lstStyle/>
          <a:p>
            <a:pPr algn="ctr" indent="0" marL="0">
              <a:buNone/>
            </a:pPr>
            <a:r>
              <a:rPr lang="en-US" sz="1400" b="1" dirty="0">
                <a:solidFill>
                  <a:srgbClr val="1F2A44"/>
                </a:solidFill>
              </a:rPr>
              <a:t>Pen test signs in with one</a:t>
            </a:r>
            <a:endParaRPr lang="en-US" sz="1400" dirty="0"/>
          </a:p>
          <a:p>
            <a:pPr algn="ctr" indent="0" marL="0">
              <a:buNone/>
            </a:pPr>
            <a:r>
              <a:rPr lang="en-US" sz="1400" dirty="0">
                <a:solidFill>
                  <a:schemeClr val="tx2"/>
                </a:solidFill>
              </a:rPr>
              <a:t>The gap is now an incident</a:t>
            </a:r>
            <a:endParaRPr lang="en-US" sz="1400" dirty="0"/>
          </a:p>
        </p:txBody>
      </p:sp>
      <p:sp>
        <p:nvSpPr>
          <p:cNvPr id="19" name="Takeaway"/>
          <p:cNvSpPr/>
          <p:nvPr/>
        </p:nvSpPr>
        <p:spPr>
          <a:xfrm>
            <a:off x="548640" y="4343400"/>
            <a:ext cx="11109960" cy="1737360"/>
          </a:xfrm>
          <a:prstGeom prst="roundRect">
            <a:avLst>
              <a:gd name="adj" fmla="val 4211"/>
            </a:avLst>
          </a:prstGeom>
          <a:solidFill>
            <a:srgbClr val="F1F5F9"/>
          </a:solidFill>
          <a:ln w="12700">
            <a:solidFill>
              <a:srgbClr val="F1F5F9"/>
            </a:solidFill>
            <a:prstDash val="solid"/>
          </a:ln>
        </p:spPr>
      </p:sp>
      <p:sp>
        <p:nvSpPr>
          <p:cNvPr id="20" name="Takeaway text"/>
          <p:cNvSpPr txBox="1"/>
          <p:nvPr/>
        </p:nvSpPr>
        <p:spPr>
          <a:xfrm>
            <a:off x="868680" y="4526280"/>
            <a:ext cx="10515600" cy="1417320"/>
          </a:xfrm>
          <a:prstGeom prst="rect">
            <a:avLst/>
          </a:prstGeom>
          <a:noFill/>
          <a:ln/>
        </p:spPr>
        <p:txBody>
          <a:bodyPr wrap="square" lIns="0" tIns="0" rIns="0" bIns="0" rtlCol="0" anchor="ctr"/>
          <a:lstStyle/>
          <a:p>
            <a:pPr indent="0" marL="0">
              <a:spcAft>
                <a:spcPts val="600"/>
              </a:spcAft>
              <a:buNone/>
            </a:pPr>
            <a:r>
              <a:rPr lang="en-US" sz="2000" b="1" dirty="0">
                <a:solidFill>
                  <a:srgbClr val="1F2A44"/>
                </a:solidFill>
              </a:rPr>
              <a:t>The fact existed on day −14. The other systems learned it by accident.</a:t>
            </a:r>
            <a:endParaRPr lang="en-US" sz="1400" dirty="0"/>
          </a:p>
          <a:p>
            <a:pPr indent="0" marL="0">
              <a:spcAft>
                <a:spcPts val="600"/>
              </a:spcAft>
              <a:buNone/>
            </a:pPr>
            <a:r>
              <a:rPr lang="en-US" sz="1600" dirty="0">
                <a:solidFill>
                  <a:schemeClr val="tx2"/>
                </a:solidFill>
              </a:rPr>
              <a:t>Orphaned accounts are not a diligence failure. They are what a design with one system that records the truth, many systems that need it, and no channel between them is guaranteed to produce.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Name the authoritative source for every fact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06240"/>
        </p:xfrm>
        <a:graphic>
          <a:graphicData uri="http://schemas.openxmlformats.org/drawingml/2006/table">
            <a:tbl>
              <a:tblPr/>
              <a:tblGrid>
                <a:gridCol w="2651760"/>
                <a:gridCol w="2377440"/>
                <a:gridCol w="2514600"/>
              </a:tblGrid>
              <a:tr h="7010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Authoritative 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Derived consumers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010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SSN and enumeration facts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Enumeration (the Numident)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Verification services, account linking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7010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Employment status, position, supervisor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system of record (Core HCM)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Account state, approvals, access rules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7010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Organizational placement (codes)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system of record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Dynamic groups, scoping, reporting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7010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Credentials, sessions, MFA methods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platform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Applications, token claims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7010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Device identity and certificates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Endpoint management and PKI</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admission, TLS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Rules card"/>
          <p:cNvSpPr/>
          <p:nvPr/>
        </p:nvSpPr>
        <p:spPr>
          <a:xfrm>
            <a:off x="8458200" y="1417320"/>
            <a:ext cx="3200400" cy="4206240"/>
          </a:xfrm>
          <a:prstGeom prst="roundRect">
            <a:avLst>
              <a:gd name="adj" fmla="val 2286"/>
            </a:avLst>
          </a:prstGeom>
          <a:solidFill>
            <a:srgbClr val="E6F2F1"/>
          </a:solidFill>
          <a:ln w="12700">
            <a:solidFill>
              <a:srgbClr val="E6F2F1"/>
            </a:solidFill>
            <a:prstDash val="solid"/>
          </a:ln>
        </p:spPr>
      </p:sp>
      <p:sp>
        <p:nvSpPr>
          <p:cNvPr id="5" name="Rules heading"/>
          <p:cNvSpPr txBox="1"/>
          <p:nvPr/>
        </p:nvSpPr>
        <p:spPr>
          <a:xfrm>
            <a:off x="8732520" y="1600200"/>
            <a:ext cx="2651760" cy="457200"/>
          </a:xfrm>
          <a:prstGeom prst="rect">
            <a:avLst/>
          </a:prstGeom>
          <a:noFill/>
          <a:ln/>
        </p:spPr>
        <p:txBody>
          <a:bodyPr wrap="square" lIns="0" tIns="0" rIns="0" bIns="0" rtlCol="0" anchor="t"/>
          <a:lstStyle/>
          <a:p>
            <a:pPr indent="0" marL="0">
              <a:buNone/>
            </a:pPr>
            <a:r>
              <a:rPr lang="en-US" sz="2000" b="1" dirty="0">
                <a:solidFill>
                  <a:srgbClr val="0F766E"/>
                </a:solidFill>
                <a:latin typeface="Cambria" pitchFamily="34" charset="0"/>
                <a:ea typeface="Cambria" pitchFamily="34" charset="-122"/>
                <a:cs typeface="Cambria" pitchFamily="34" charset="-120"/>
              </a:rPr>
              <a:t>Three rules</a:t>
            </a:r>
            <a:endParaRPr lang="en-US" sz="2000" dirty="0"/>
          </a:p>
        </p:txBody>
      </p:sp>
      <p:sp>
        <p:nvSpPr>
          <p:cNvPr id="6" name="Rules list"/>
          <p:cNvSpPr txBox="1"/>
          <p:nvPr/>
        </p:nvSpPr>
        <p:spPr>
          <a:xfrm>
            <a:off x="8732520" y="2148840"/>
            <a:ext cx="2697480" cy="32918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b="1" dirty="0">
                <a:solidFill>
                  <a:srgbClr val="1F2A44"/>
                </a:solidFill>
              </a:rPr>
              <a:t>Authoritative </a:t>
            </a:r>
            <a:pPr indent="0" marL="0">
              <a:spcAft>
                <a:spcPts val="1000"/>
              </a:spcAft>
              <a:buNone/>
            </a:pPr>
            <a:r>
              <a:rPr lang="en-US" sz="1500" dirty="0">
                <a:solidFill>
                  <a:schemeClr val="tx2"/>
                </a:solidFill>
              </a:rPr>
              <a:t>where a business act creates the fact.</a:t>
            </a:r>
            <a:endParaRPr lang="en-US" sz="1500" dirty="0"/>
          </a:p>
          <a:p>
            <a:pPr marL="342900" indent="-342900">
              <a:spcAft>
                <a:spcPts val="1000"/>
              </a:spcAft>
              <a:buSzPct val="100000"/>
              <a:buFont typeface="+mj-lt"/>
              <a:buAutoNum type="arabicPeriod" startAt="1"/>
            </a:pPr>
            <a:r>
              <a:rPr lang="en-US" sz="1500" b="1" dirty="0">
                <a:solidFill>
                  <a:srgbClr val="1F2A44"/>
                </a:solidFill>
              </a:rPr>
              <a:t>Derived </a:t>
            </a:r>
            <a:pPr indent="0" marL="0">
              <a:spcAft>
                <a:spcPts val="1000"/>
              </a:spcAft>
              <a:buNone/>
            </a:pPr>
            <a:r>
              <a:rPr lang="en-US" sz="1500" dirty="0">
                <a:solidFill>
                  <a:schemeClr val="tx2"/>
                </a:solidFill>
              </a:rPr>
              <a:t>everywhere else: computed and read, never hand-edited.</a:t>
            </a:r>
            <a:endParaRPr lang="en-US" sz="1500" dirty="0"/>
          </a:p>
          <a:p>
            <a:pPr marL="342900" indent="-342900">
              <a:spcAft>
                <a:spcPts val="1000"/>
              </a:spcAft>
              <a:buSzPct val="100000"/>
              <a:buFont typeface="+mj-lt"/>
              <a:buAutoNum type="arabicPeriod" startAt="1"/>
            </a:pPr>
            <a:r>
              <a:rPr lang="en-US" sz="1500" b="1" dirty="0">
                <a:solidFill>
                  <a:srgbClr val="1F2A44"/>
                </a:solidFill>
              </a:rPr>
              <a:t>Corrections flow upstream, </a:t>
            </a:r>
            <a:pPr indent="0" marL="0">
              <a:spcAft>
                <a:spcPts val="1000"/>
              </a:spcAft>
              <a:buNone/>
            </a:pPr>
            <a:r>
              <a:rPr lang="en-US" sz="1500" dirty="0">
                <a:solidFill>
                  <a:schemeClr val="tx2"/>
                </a:solidFill>
              </a:rPr>
              <a:t>to the record or the rule, never to the copy.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model: person, affiliation, account, evidence</a:t>
            </a:r>
            <a:endParaRPr lang="en-US" sz="3000" dirty="0"/>
          </a:p>
        </p:txBody>
      </p:sp>
      <p:sp>
        <p:nvSpPr>
          <p:cNvPr id="3" name="Entity Identifier"/>
          <p:cNvSpPr/>
          <p:nvPr/>
        </p:nvSpPr>
        <p:spPr>
          <a:xfrm>
            <a:off x="548640" y="1463040"/>
            <a:ext cx="3017520" cy="1143000"/>
          </a:xfrm>
          <a:prstGeom prst="roundRect">
            <a:avLst>
              <a:gd name="adj" fmla="val 6400"/>
            </a:avLst>
          </a:prstGeom>
          <a:solidFill>
            <a:srgbClr val="EEF1F7"/>
          </a:solidFill>
          <a:ln w="12700">
            <a:solidFill>
              <a:srgbClr val="1F2A44"/>
            </a:solidFill>
            <a:prstDash val="solid"/>
          </a:ln>
        </p:spPr>
      </p:sp>
      <p:sp>
        <p:nvSpPr>
          <p:cNvPr id="4" name="Entity Identifier text"/>
          <p:cNvSpPr txBox="1"/>
          <p:nvPr/>
        </p:nvSpPr>
        <p:spPr>
          <a:xfrm>
            <a:off x="731520" y="1572768"/>
            <a:ext cx="2651760" cy="960120"/>
          </a:xfrm>
          <a:prstGeom prst="rect">
            <a:avLst/>
          </a:prstGeom>
          <a:noFill/>
          <a:ln/>
        </p:spPr>
        <p:txBody>
          <a:bodyPr wrap="square" lIns="0" tIns="0" rIns="0" bIns="0" rtlCol="0" anchor="t"/>
          <a:lstStyle/>
          <a:p>
            <a:pPr indent="0" marL="0">
              <a:buNone/>
            </a:pPr>
            <a:r>
              <a:rPr lang="en-US" sz="1700" b="1" dirty="0">
                <a:solidFill>
                  <a:srgbClr val="1F2A44"/>
                </a:solidFill>
              </a:rPr>
              <a:t>Identifier</a:t>
            </a:r>
            <a:endParaRPr lang="en-US" sz="1400" dirty="0"/>
          </a:p>
          <a:p>
            <a:pPr indent="0" marL="0">
              <a:buNone/>
            </a:pPr>
            <a:r>
              <a:rPr lang="en-US" sz="1300" dirty="0">
                <a:solidFill>
                  <a:schemeClr val="tx2"/>
                </a:solidFill>
              </a:rPr>
              <a:t>Enterprise, source, affiliation, directory and credential keys</a:t>
            </a:r>
            <a:endParaRPr lang="en-US" sz="1400" dirty="0"/>
          </a:p>
        </p:txBody>
      </p:sp>
      <p:sp>
        <p:nvSpPr>
          <p:cNvPr id="5" name="Entity Person"/>
          <p:cNvSpPr/>
          <p:nvPr/>
        </p:nvSpPr>
        <p:spPr>
          <a:xfrm>
            <a:off x="4572000" y="1463040"/>
            <a:ext cx="3017520" cy="1143000"/>
          </a:xfrm>
          <a:prstGeom prst="roundRect">
            <a:avLst>
              <a:gd name="adj" fmla="val 6400"/>
            </a:avLst>
          </a:prstGeom>
          <a:solidFill>
            <a:srgbClr val="EEF1F7"/>
          </a:solidFill>
          <a:ln w="12700">
            <a:solidFill>
              <a:srgbClr val="1F2A44"/>
            </a:solidFill>
            <a:prstDash val="solid"/>
          </a:ln>
        </p:spPr>
      </p:sp>
      <p:sp>
        <p:nvSpPr>
          <p:cNvPr id="6" name="Entity Person text"/>
          <p:cNvSpPr txBox="1"/>
          <p:nvPr/>
        </p:nvSpPr>
        <p:spPr>
          <a:xfrm>
            <a:off x="4754880" y="1572768"/>
            <a:ext cx="2651760" cy="960120"/>
          </a:xfrm>
          <a:prstGeom prst="rect">
            <a:avLst/>
          </a:prstGeom>
          <a:noFill/>
          <a:ln/>
        </p:spPr>
        <p:txBody>
          <a:bodyPr wrap="square" lIns="0" tIns="0" rIns="0" bIns="0" rtlCol="0" anchor="t"/>
          <a:lstStyle/>
          <a:p>
            <a:pPr indent="0" marL="0">
              <a:buNone/>
            </a:pPr>
            <a:r>
              <a:rPr lang="en-US" sz="1700" b="1" dirty="0">
                <a:solidFill>
                  <a:srgbClr val="1F2A44"/>
                </a:solidFill>
              </a:rPr>
              <a:t>Person</a:t>
            </a:r>
            <a:endParaRPr lang="en-US" sz="1400" dirty="0"/>
          </a:p>
          <a:p>
            <a:pPr indent="0" marL="0">
              <a:buNone/>
            </a:pPr>
            <a:r>
              <a:rPr lang="en-US" sz="1300" dirty="0">
                <a:solidFill>
                  <a:schemeClr val="tx2"/>
                </a:solidFill>
              </a:rPr>
              <a:t>One governed record per human, across every affiliation</a:t>
            </a:r>
            <a:endParaRPr lang="en-US" sz="1400" dirty="0"/>
          </a:p>
        </p:txBody>
      </p:sp>
      <p:sp>
        <p:nvSpPr>
          <p:cNvPr id="7" name="Entity Affiliation"/>
          <p:cNvSpPr/>
          <p:nvPr/>
        </p:nvSpPr>
        <p:spPr>
          <a:xfrm>
            <a:off x="8595360" y="1463040"/>
            <a:ext cx="3017520" cy="1143000"/>
          </a:xfrm>
          <a:prstGeom prst="roundRect">
            <a:avLst>
              <a:gd name="adj" fmla="val 6400"/>
            </a:avLst>
          </a:prstGeom>
          <a:solidFill>
            <a:srgbClr val="EEF1F7"/>
          </a:solidFill>
          <a:ln w="12700">
            <a:solidFill>
              <a:srgbClr val="1F2A44"/>
            </a:solidFill>
            <a:prstDash val="solid"/>
          </a:ln>
        </p:spPr>
      </p:sp>
      <p:sp>
        <p:nvSpPr>
          <p:cNvPr id="8" name="Entity Affiliation text"/>
          <p:cNvSpPr txBox="1"/>
          <p:nvPr/>
        </p:nvSpPr>
        <p:spPr>
          <a:xfrm>
            <a:off x="8778240" y="1572768"/>
            <a:ext cx="2651760" cy="960120"/>
          </a:xfrm>
          <a:prstGeom prst="rect">
            <a:avLst/>
          </a:prstGeom>
          <a:noFill/>
          <a:ln/>
        </p:spPr>
        <p:txBody>
          <a:bodyPr wrap="square" lIns="0" tIns="0" rIns="0" bIns="0" rtlCol="0" anchor="t"/>
          <a:lstStyle/>
          <a:p>
            <a:pPr indent="0" marL="0">
              <a:buNone/>
            </a:pPr>
            <a:r>
              <a:rPr lang="en-US" sz="1700" b="1" dirty="0">
                <a:solidFill>
                  <a:srgbClr val="1F2A44"/>
                </a:solidFill>
              </a:rPr>
              <a:t>Affiliation</a:t>
            </a:r>
            <a:endParaRPr lang="en-US" sz="1400" dirty="0"/>
          </a:p>
          <a:p>
            <a:pPr indent="0" marL="0">
              <a:buNone/>
            </a:pPr>
            <a:r>
              <a:rPr lang="en-US" sz="1300" dirty="0">
                <a:solidFill>
                  <a:schemeClr val="tx2"/>
                </a:solidFill>
              </a:rPr>
              <a:t>Worker type, employer, effective dates; assignments with position, org code, supervisor</a:t>
            </a:r>
            <a:endParaRPr lang="en-US" sz="1400" dirty="0"/>
          </a:p>
        </p:txBody>
      </p:sp>
      <p:sp>
        <p:nvSpPr>
          <p:cNvPr id="9" name="Entity Credential"/>
          <p:cNvSpPr/>
          <p:nvPr/>
        </p:nvSpPr>
        <p:spPr>
          <a:xfrm>
            <a:off x="548640" y="3246120"/>
            <a:ext cx="3017520" cy="1143000"/>
          </a:xfrm>
          <a:prstGeom prst="roundRect">
            <a:avLst>
              <a:gd name="adj" fmla="val 6400"/>
            </a:avLst>
          </a:prstGeom>
          <a:solidFill>
            <a:srgbClr val="E6F2F1"/>
          </a:solidFill>
          <a:ln w="12700">
            <a:solidFill>
              <a:srgbClr val="0F766E"/>
            </a:solidFill>
            <a:prstDash val="solid"/>
          </a:ln>
        </p:spPr>
      </p:sp>
      <p:sp>
        <p:nvSpPr>
          <p:cNvPr id="10" name="Entity Credential text"/>
          <p:cNvSpPr txBox="1"/>
          <p:nvPr/>
        </p:nvSpPr>
        <p:spPr>
          <a:xfrm>
            <a:off x="731520" y="3355848"/>
            <a:ext cx="2651760" cy="960120"/>
          </a:xfrm>
          <a:prstGeom prst="rect">
            <a:avLst/>
          </a:prstGeom>
          <a:noFill/>
          <a:ln/>
        </p:spPr>
        <p:txBody>
          <a:bodyPr wrap="square" lIns="0" tIns="0" rIns="0" bIns="0" rtlCol="0" anchor="t"/>
          <a:lstStyle/>
          <a:p>
            <a:pPr indent="0" marL="0">
              <a:buNone/>
            </a:pPr>
            <a:r>
              <a:rPr lang="en-US" sz="1700" b="1" dirty="0">
                <a:solidFill>
                  <a:srgbClr val="0F766E"/>
                </a:solidFill>
              </a:rPr>
              <a:t>Credential</a:t>
            </a:r>
            <a:endParaRPr lang="en-US" sz="1400" dirty="0"/>
          </a:p>
          <a:p>
            <a:pPr indent="0" marL="0">
              <a:buNone/>
            </a:pPr>
            <a:r>
              <a:rPr lang="en-US" sz="1300" dirty="0">
                <a:solidFill>
                  <a:schemeClr val="tx2"/>
                </a:solidFill>
              </a:rPr>
              <a:t>PIV, derived PIV, device certificate; issued and revoked</a:t>
            </a:r>
            <a:endParaRPr lang="en-US" sz="1400" dirty="0"/>
          </a:p>
        </p:txBody>
      </p:sp>
      <p:sp>
        <p:nvSpPr>
          <p:cNvPr id="11" name="Entity Account"/>
          <p:cNvSpPr/>
          <p:nvPr/>
        </p:nvSpPr>
        <p:spPr>
          <a:xfrm>
            <a:off x="4572000" y="3246120"/>
            <a:ext cx="3017520" cy="1143000"/>
          </a:xfrm>
          <a:prstGeom prst="roundRect">
            <a:avLst>
              <a:gd name="adj" fmla="val 6400"/>
            </a:avLst>
          </a:prstGeom>
          <a:solidFill>
            <a:srgbClr val="E6F2F1"/>
          </a:solidFill>
          <a:ln w="12700">
            <a:solidFill>
              <a:srgbClr val="0F766E"/>
            </a:solidFill>
            <a:prstDash val="solid"/>
          </a:ln>
        </p:spPr>
      </p:sp>
      <p:sp>
        <p:nvSpPr>
          <p:cNvPr id="12" name="Entity Account text"/>
          <p:cNvSpPr txBox="1"/>
          <p:nvPr/>
        </p:nvSpPr>
        <p:spPr>
          <a:xfrm>
            <a:off x="4754880" y="3355848"/>
            <a:ext cx="2651760" cy="960120"/>
          </a:xfrm>
          <a:prstGeom prst="rect">
            <a:avLst/>
          </a:prstGeom>
          <a:noFill/>
          <a:ln/>
        </p:spPr>
        <p:txBody>
          <a:bodyPr wrap="square" lIns="0" tIns="0" rIns="0" bIns="0" rtlCol="0" anchor="t"/>
          <a:lstStyle/>
          <a:p>
            <a:pPr indent="0" marL="0">
              <a:buNone/>
            </a:pPr>
            <a:r>
              <a:rPr lang="en-US" sz="1700" b="1" dirty="0">
                <a:solidFill>
                  <a:srgbClr val="0F766E"/>
                </a:solidFill>
              </a:rPr>
              <a:t>Account</a:t>
            </a:r>
            <a:endParaRPr lang="en-US" sz="1400" dirty="0"/>
          </a:p>
          <a:p>
            <a:pPr indent="0" marL="0">
              <a:buNone/>
            </a:pPr>
            <a:r>
              <a:rPr lang="en-US" sz="1300" dirty="0">
                <a:solidFill>
                  <a:schemeClr val="tx2"/>
                </a:solidFill>
              </a:rPr>
              <a:t>One directory object per system; enabled state derived</a:t>
            </a:r>
            <a:endParaRPr lang="en-US" sz="1400" dirty="0"/>
          </a:p>
        </p:txBody>
      </p:sp>
      <p:sp>
        <p:nvSpPr>
          <p:cNvPr id="13" name="Entity Lifecycle event"/>
          <p:cNvSpPr/>
          <p:nvPr/>
        </p:nvSpPr>
        <p:spPr>
          <a:xfrm>
            <a:off x="8595360" y="3246120"/>
            <a:ext cx="3017520" cy="1143000"/>
          </a:xfrm>
          <a:prstGeom prst="roundRect">
            <a:avLst>
              <a:gd name="adj" fmla="val 6400"/>
            </a:avLst>
          </a:prstGeom>
          <a:solidFill>
            <a:srgbClr val="FDF3E7"/>
          </a:solidFill>
          <a:ln w="12700">
            <a:solidFill>
              <a:srgbClr val="B45309"/>
            </a:solidFill>
            <a:prstDash val="solid"/>
          </a:ln>
        </p:spPr>
      </p:sp>
      <p:sp>
        <p:nvSpPr>
          <p:cNvPr id="14" name="Entity Lifecycle event text"/>
          <p:cNvSpPr txBox="1"/>
          <p:nvPr/>
        </p:nvSpPr>
        <p:spPr>
          <a:xfrm>
            <a:off x="8778240" y="3355848"/>
            <a:ext cx="2651760" cy="960120"/>
          </a:xfrm>
          <a:prstGeom prst="rect">
            <a:avLst/>
          </a:prstGeom>
          <a:noFill/>
          <a:ln/>
        </p:spPr>
        <p:txBody>
          <a:bodyPr wrap="square" lIns="0" tIns="0" rIns="0" bIns="0" rtlCol="0" anchor="t"/>
          <a:lstStyle/>
          <a:p>
            <a:pPr indent="0" marL="0">
              <a:buNone/>
            </a:pPr>
            <a:r>
              <a:rPr lang="en-US" sz="1700" b="1" dirty="0">
                <a:solidFill>
                  <a:srgbClr val="B45309"/>
                </a:solidFill>
              </a:rPr>
              <a:t>Lifecycle event</a:t>
            </a:r>
            <a:endParaRPr lang="en-US" sz="1400" dirty="0"/>
          </a:p>
          <a:p>
            <a:pPr indent="0" marL="0">
              <a:buNone/>
            </a:pPr>
            <a:r>
              <a:rPr lang="en-US" sz="1300" dirty="0">
                <a:solidFill>
                  <a:schemeClr val="tx2"/>
                </a:solidFill>
              </a:rPr>
              <a:t>Joiner, mover, leaver, rehire, conversion; effective-dated</a:t>
            </a:r>
            <a:endParaRPr lang="en-US" sz="1400" dirty="0"/>
          </a:p>
        </p:txBody>
      </p:sp>
      <p:sp>
        <p:nvSpPr>
          <p:cNvPr id="15" name="Entity Entitlement"/>
          <p:cNvSpPr/>
          <p:nvPr/>
        </p:nvSpPr>
        <p:spPr>
          <a:xfrm>
            <a:off x="4572000" y="5029200"/>
            <a:ext cx="3017520" cy="1143000"/>
          </a:xfrm>
          <a:prstGeom prst="roundRect">
            <a:avLst>
              <a:gd name="adj" fmla="val 6400"/>
            </a:avLst>
          </a:prstGeom>
          <a:solidFill>
            <a:srgbClr val="E6F2F1"/>
          </a:solidFill>
          <a:ln w="12700">
            <a:solidFill>
              <a:srgbClr val="0F766E"/>
            </a:solidFill>
            <a:prstDash val="solid"/>
          </a:ln>
        </p:spPr>
      </p:sp>
      <p:sp>
        <p:nvSpPr>
          <p:cNvPr id="16" name="Entity Entitlement text"/>
          <p:cNvSpPr txBox="1"/>
          <p:nvPr/>
        </p:nvSpPr>
        <p:spPr>
          <a:xfrm>
            <a:off x="4754880" y="5138928"/>
            <a:ext cx="2651760" cy="960120"/>
          </a:xfrm>
          <a:prstGeom prst="rect">
            <a:avLst/>
          </a:prstGeom>
          <a:noFill/>
          <a:ln/>
        </p:spPr>
        <p:txBody>
          <a:bodyPr wrap="square" lIns="0" tIns="0" rIns="0" bIns="0" rtlCol="0" anchor="t"/>
          <a:lstStyle/>
          <a:p>
            <a:pPr indent="0" marL="0">
              <a:buNone/>
            </a:pPr>
            <a:r>
              <a:rPr lang="en-US" sz="1700" b="1" dirty="0">
                <a:solidFill>
                  <a:srgbClr val="0F766E"/>
                </a:solidFill>
              </a:rPr>
              <a:t>Entitlement</a:t>
            </a:r>
            <a:endParaRPr lang="en-US" sz="1400" dirty="0"/>
          </a:p>
          <a:p>
            <a:pPr indent="0" marL="0">
              <a:buNone/>
            </a:pPr>
            <a:r>
              <a:rPr lang="en-US" sz="1300" dirty="0">
                <a:solidFill>
                  <a:schemeClr val="tx2"/>
                </a:solidFill>
              </a:rPr>
              <a:t>Derived by rule, or an approved exception with an owner</a:t>
            </a:r>
            <a:endParaRPr lang="en-US" sz="1400" dirty="0"/>
          </a:p>
        </p:txBody>
      </p:sp>
      <p:sp>
        <p:nvSpPr>
          <p:cNvPr id="17" name="Entity Provenance record"/>
          <p:cNvSpPr/>
          <p:nvPr/>
        </p:nvSpPr>
        <p:spPr>
          <a:xfrm>
            <a:off x="8595360" y="5029200"/>
            <a:ext cx="3017520" cy="1143000"/>
          </a:xfrm>
          <a:prstGeom prst="roundRect">
            <a:avLst>
              <a:gd name="adj" fmla="val 6400"/>
            </a:avLst>
          </a:prstGeom>
          <a:solidFill>
            <a:srgbClr val="FDF3E7"/>
          </a:solidFill>
          <a:ln w="12700">
            <a:solidFill>
              <a:srgbClr val="B45309"/>
            </a:solidFill>
            <a:prstDash val="solid"/>
          </a:ln>
        </p:spPr>
      </p:sp>
      <p:sp>
        <p:nvSpPr>
          <p:cNvPr id="18" name="Entity Provenance record text"/>
          <p:cNvSpPr txBox="1"/>
          <p:nvPr/>
        </p:nvSpPr>
        <p:spPr>
          <a:xfrm>
            <a:off x="8778240" y="5138928"/>
            <a:ext cx="2651760" cy="960120"/>
          </a:xfrm>
          <a:prstGeom prst="rect">
            <a:avLst/>
          </a:prstGeom>
          <a:noFill/>
          <a:ln/>
        </p:spPr>
        <p:txBody>
          <a:bodyPr wrap="square" lIns="0" tIns="0" rIns="0" bIns="0" rtlCol="0" anchor="t"/>
          <a:lstStyle/>
          <a:p>
            <a:pPr indent="0" marL="0">
              <a:buNone/>
            </a:pPr>
            <a:r>
              <a:rPr lang="en-US" sz="1700" b="1" dirty="0">
                <a:solidFill>
                  <a:srgbClr val="B45309"/>
                </a:solidFill>
              </a:rPr>
              <a:t>Provenance record</a:t>
            </a:r>
            <a:endParaRPr lang="en-US" sz="1400" dirty="0"/>
          </a:p>
          <a:p>
            <a:pPr indent="0" marL="0">
              <a:buNone/>
            </a:pPr>
            <a:r>
              <a:rPr lang="en-US" sz="1300" dirty="0">
                <a:solidFill>
                  <a:schemeClr val="tx2"/>
                </a:solidFill>
              </a:rPr>
              <a:t>Source event, payload hash, inputs, outcome</a:t>
            </a:r>
            <a:endParaRPr lang="en-US" sz="1400" dirty="0"/>
          </a:p>
        </p:txBody>
      </p:sp>
      <p:sp>
        <p:nvSpPr>
          <p:cNvPr id="19" name="Shape 17"/>
          <p:cNvSpPr/>
          <p:nvPr/>
        </p:nvSpPr>
        <p:spPr>
          <a:xfrm>
            <a:off x="3566160" y="2034540"/>
            <a:ext cx="1005840" cy="0"/>
          </a:xfrm>
          <a:prstGeom prst="line">
            <a:avLst/>
          </a:prstGeom>
          <a:noFill/>
          <a:ln w="19050">
            <a:solidFill>
              <a:srgbClr val="64748B"/>
            </a:solidFill>
            <a:prstDash val="solid"/>
          </a:ln>
        </p:spPr>
      </p:sp>
      <p:sp>
        <p:nvSpPr>
          <p:cNvPr id="20" name="Shape 18"/>
          <p:cNvSpPr/>
          <p:nvPr/>
        </p:nvSpPr>
        <p:spPr>
          <a:xfrm>
            <a:off x="7589520" y="2034540"/>
            <a:ext cx="1005840" cy="0"/>
          </a:xfrm>
          <a:prstGeom prst="line">
            <a:avLst/>
          </a:prstGeom>
          <a:noFill/>
          <a:ln w="19050">
            <a:solidFill>
              <a:srgbClr val="64748B"/>
            </a:solidFill>
            <a:prstDash val="solid"/>
          </a:ln>
        </p:spPr>
      </p:sp>
      <p:sp>
        <p:nvSpPr>
          <p:cNvPr id="21" name="Shape 19"/>
          <p:cNvSpPr/>
          <p:nvPr/>
        </p:nvSpPr>
        <p:spPr>
          <a:xfrm>
            <a:off x="6080760" y="2606040"/>
            <a:ext cx="0" cy="640080"/>
          </a:xfrm>
          <a:prstGeom prst="line">
            <a:avLst/>
          </a:prstGeom>
          <a:noFill/>
          <a:ln w="19050">
            <a:solidFill>
              <a:srgbClr val="64748B"/>
            </a:solidFill>
            <a:prstDash val="solid"/>
          </a:ln>
        </p:spPr>
      </p:sp>
      <p:sp>
        <p:nvSpPr>
          <p:cNvPr id="22" name="Shape 20"/>
          <p:cNvSpPr/>
          <p:nvPr/>
        </p:nvSpPr>
        <p:spPr>
          <a:xfrm>
            <a:off x="3566160" y="3817620"/>
            <a:ext cx="1005840" cy="0"/>
          </a:xfrm>
          <a:prstGeom prst="line">
            <a:avLst/>
          </a:prstGeom>
          <a:noFill/>
          <a:ln w="19050">
            <a:solidFill>
              <a:srgbClr val="64748B"/>
            </a:solidFill>
            <a:prstDash val="solid"/>
          </a:ln>
        </p:spPr>
      </p:sp>
      <p:sp>
        <p:nvSpPr>
          <p:cNvPr id="23" name="Shape 21"/>
          <p:cNvSpPr/>
          <p:nvPr/>
        </p:nvSpPr>
        <p:spPr>
          <a:xfrm>
            <a:off x="10104120" y="2606040"/>
            <a:ext cx="0" cy="640080"/>
          </a:xfrm>
          <a:prstGeom prst="line">
            <a:avLst/>
          </a:prstGeom>
          <a:noFill/>
          <a:ln w="19050">
            <a:solidFill>
              <a:srgbClr val="64748B"/>
            </a:solidFill>
            <a:prstDash val="solid"/>
          </a:ln>
        </p:spPr>
      </p:sp>
      <p:sp>
        <p:nvSpPr>
          <p:cNvPr id="24" name="Shape 22"/>
          <p:cNvSpPr/>
          <p:nvPr/>
        </p:nvSpPr>
        <p:spPr>
          <a:xfrm>
            <a:off x="6080760" y="4389120"/>
            <a:ext cx="0" cy="640080"/>
          </a:xfrm>
          <a:prstGeom prst="line">
            <a:avLst/>
          </a:prstGeom>
          <a:noFill/>
          <a:ln w="19050">
            <a:solidFill>
              <a:srgbClr val="64748B"/>
            </a:solidFill>
            <a:prstDash val="solid"/>
          </a:ln>
        </p:spPr>
      </p:sp>
      <p:sp>
        <p:nvSpPr>
          <p:cNvPr id="25" name="Shape 23"/>
          <p:cNvSpPr/>
          <p:nvPr/>
        </p:nvSpPr>
        <p:spPr>
          <a:xfrm>
            <a:off x="10104120" y="4389120"/>
            <a:ext cx="0" cy="640080"/>
          </a:xfrm>
          <a:prstGeom prst="line">
            <a:avLst/>
          </a:prstGeom>
          <a:noFill/>
          <a:ln w="19050">
            <a:solidFill>
              <a:srgbClr val="64748B"/>
            </a:solidFill>
            <a:prstDash val="solid"/>
          </a:ln>
        </p:spPr>
      </p:sp>
      <p:sp>
        <p:nvSpPr>
          <p:cNvPr id="26" name="Shape 24"/>
          <p:cNvSpPr/>
          <p:nvPr/>
        </p:nvSpPr>
        <p:spPr>
          <a:xfrm>
            <a:off x="7589520" y="3817620"/>
            <a:ext cx="1005840" cy="0"/>
          </a:xfrm>
          <a:prstGeom prst="line">
            <a:avLst/>
          </a:prstGeom>
          <a:noFill/>
          <a:ln w="22225">
            <a:solidFill>
              <a:srgbClr val="B45309"/>
            </a:solidFill>
            <a:prstDash val="solid"/>
            <a:headEnd type="triangle"/>
          </a:ln>
        </p:spPr>
      </p:sp>
      <p:sp>
        <p:nvSpPr>
          <p:cNvPr id="27" name="Label 1 : many"/>
          <p:cNvSpPr txBox="1"/>
          <p:nvPr/>
        </p:nvSpPr>
        <p:spPr>
          <a:xfrm>
            <a:off x="3566160" y="171450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28" name="Label 1 : many"/>
          <p:cNvSpPr txBox="1"/>
          <p:nvPr/>
        </p:nvSpPr>
        <p:spPr>
          <a:xfrm>
            <a:off x="7589520" y="171450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29" name="Label 1 : many"/>
          <p:cNvSpPr txBox="1"/>
          <p:nvPr/>
        </p:nvSpPr>
        <p:spPr>
          <a:xfrm>
            <a:off x="6126480" y="283464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30" name="Label 1 : many"/>
          <p:cNvSpPr txBox="1"/>
          <p:nvPr/>
        </p:nvSpPr>
        <p:spPr>
          <a:xfrm>
            <a:off x="10149840" y="283464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31" name="Label 1 : many"/>
          <p:cNvSpPr txBox="1"/>
          <p:nvPr/>
        </p:nvSpPr>
        <p:spPr>
          <a:xfrm>
            <a:off x="3566160" y="349758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32" name="Label drives"/>
          <p:cNvSpPr txBox="1"/>
          <p:nvPr/>
        </p:nvSpPr>
        <p:spPr>
          <a:xfrm>
            <a:off x="7589520" y="3890772"/>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drives</a:t>
            </a:r>
            <a:endParaRPr lang="en-US" sz="1100" dirty="0"/>
          </a:p>
        </p:txBody>
      </p:sp>
      <p:sp>
        <p:nvSpPr>
          <p:cNvPr id="33" name="Label 1 : many"/>
          <p:cNvSpPr txBox="1"/>
          <p:nvPr/>
        </p:nvSpPr>
        <p:spPr>
          <a:xfrm>
            <a:off x="6126480" y="461772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many</a:t>
            </a:r>
            <a:endParaRPr lang="en-US" sz="1100" dirty="0"/>
          </a:p>
        </p:txBody>
      </p:sp>
      <p:sp>
        <p:nvSpPr>
          <p:cNvPr id="34" name="Label 1 : 1"/>
          <p:cNvSpPr txBox="1"/>
          <p:nvPr/>
        </p:nvSpPr>
        <p:spPr>
          <a:xfrm>
            <a:off x="10149840" y="4617720"/>
            <a:ext cx="1005840" cy="274320"/>
          </a:xfrm>
          <a:prstGeom prst="rect">
            <a:avLst/>
          </a:prstGeom>
          <a:noFill/>
          <a:ln/>
        </p:spPr>
        <p:txBody>
          <a:bodyPr wrap="square" lIns="0" tIns="0" rIns="0" bIns="0" rtlCol="0" anchor="t"/>
          <a:lstStyle/>
          <a:p>
            <a:pPr algn="ctr" indent="0" marL="0">
              <a:buNone/>
            </a:pPr>
            <a:r>
              <a:rPr lang="en-US" sz="1100" dirty="0">
                <a:solidFill>
                  <a:srgbClr val="64748B"/>
                </a:solidFill>
              </a:rPr>
              <a:t>1 : 1</a:t>
            </a:r>
            <a:endParaRPr lang="en-US" sz="1100" dirty="0"/>
          </a:p>
        </p:txBody>
      </p:sp>
      <p:sp>
        <p:nvSpPr>
          <p:cNvPr id="35" name="Legend"/>
          <p:cNvSpPr txBox="1"/>
          <p:nvPr/>
        </p:nvSpPr>
        <p:spPr>
          <a:xfrm>
            <a:off x="548640" y="5074920"/>
            <a:ext cx="3749040" cy="1005840"/>
          </a:xfrm>
          <a:prstGeom prst="rect">
            <a:avLst/>
          </a:prstGeom>
          <a:noFill/>
          <a:ln/>
        </p:spPr>
        <p:txBody>
          <a:bodyPr wrap="square" lIns="0" tIns="0" rIns="0" bIns="0" rtlCol="0" anchor="t"/>
          <a:lstStyle/>
          <a:p>
            <a:pPr indent="0" marL="0">
              <a:buNone/>
            </a:pPr>
            <a:r>
              <a:rPr lang="en-US" sz="1300" b="1" dirty="0">
                <a:solidFill>
                  <a:srgbClr val="1F2A44"/>
                </a:solidFill>
              </a:rPr>
              <a:t>Navy </a:t>
            </a:r>
            <a:pPr indent="0" marL="0">
              <a:buNone/>
            </a:pPr>
            <a:r>
              <a:rPr lang="en-US" sz="1300" dirty="0">
                <a:solidFill>
                  <a:schemeClr val="tx2"/>
                </a:solidFill>
              </a:rPr>
              <a:t>who the person is   </a:t>
            </a:r>
            <a:pPr indent="0" marL="0">
              <a:buNone/>
            </a:pPr>
            <a:r>
              <a:rPr lang="en-US" sz="1300" b="1" dirty="0">
                <a:solidFill>
                  <a:srgbClr val="0F766E"/>
                </a:solidFill>
              </a:rPr>
              <a:t>Teal </a:t>
            </a:r>
            <a:pPr indent="0" marL="0">
              <a:buNone/>
            </a:pPr>
            <a:r>
              <a:rPr lang="en-US" sz="1300" dirty="0">
                <a:solidFill>
                  <a:schemeClr val="tx2"/>
                </a:solidFill>
              </a:rPr>
              <a:t>what they can use   </a:t>
            </a:r>
            <a:pPr indent="0" marL="0">
              <a:buNone/>
            </a:pPr>
            <a:r>
              <a:rPr lang="en-US" sz="1300" b="1" dirty="0">
                <a:solidFill>
                  <a:srgbClr val="B45309"/>
                </a:solidFill>
              </a:rPr>
              <a:t>Amber </a:t>
            </a:r>
            <a:pPr indent="0" marL="0">
              <a:buNone/>
            </a:pPr>
            <a:r>
              <a:rPr lang="en-US" sz="1300" dirty="0">
                <a:solidFill>
                  <a:schemeClr val="tx2"/>
                </a:solidFill>
              </a:rPr>
              <a:t>what changed, and the proof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identifiers in layers, not as one “immutable” key</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383280"/>
        </p:xfrm>
        <a:graphic>
          <a:graphicData uri="http://schemas.openxmlformats.org/drawingml/2006/table">
            <a:tbl>
              <a:tblPr/>
              <a:tblGrid>
                <a:gridCol w="2560320"/>
                <a:gridCol w="3291840"/>
                <a:gridCol w="2834640"/>
                <a:gridCol w="2423160"/>
              </a:tblGrid>
              <a:tr h="5638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Identifies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Assigned by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Changes when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38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Enterprise person key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person, across every affiliation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agency’s identifier decision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Never, once assigned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38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Source person key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person in one HR 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HR system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source system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38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Affiliation key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employment, contract or appointment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HR system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new affiliation begins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38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Directory object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account in one 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directory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account is recreated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638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Credential identifiers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authenticator (PIV, certificate)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Credentialing system or CA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credential is reissued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SSN note"/>
          <p:cNvSpPr/>
          <p:nvPr/>
        </p:nvSpPr>
        <p:spPr>
          <a:xfrm>
            <a:off x="548640" y="5029200"/>
            <a:ext cx="5394960" cy="1097280"/>
          </a:xfrm>
          <a:prstGeom prst="roundRect">
            <a:avLst>
              <a:gd name="adj" fmla="val 6667"/>
            </a:avLst>
          </a:prstGeom>
          <a:solidFill>
            <a:srgbClr val="FDF3E7"/>
          </a:solidFill>
          <a:ln w="12700">
            <a:solidFill>
              <a:srgbClr val="FDF3E7"/>
            </a:solidFill>
            <a:prstDash val="solid"/>
          </a:ln>
        </p:spPr>
      </p:sp>
      <p:sp>
        <p:nvSpPr>
          <p:cNvPr id="5" name="SSN note text"/>
          <p:cNvSpPr txBox="1"/>
          <p:nvPr/>
        </p:nvSpPr>
        <p:spPr>
          <a:xfrm>
            <a:off x="822960" y="5138928"/>
            <a:ext cx="4892040" cy="868680"/>
          </a:xfrm>
          <a:prstGeom prst="rect">
            <a:avLst/>
          </a:prstGeom>
          <a:noFill/>
          <a:ln/>
        </p:spPr>
        <p:txBody>
          <a:bodyPr wrap="square" lIns="0" tIns="0" rIns="0" bIns="0" rtlCol="0" anchor="ctr"/>
          <a:lstStyle/>
          <a:p>
            <a:pPr indent="0" marL="0">
              <a:buNone/>
            </a:pPr>
            <a:r>
              <a:rPr lang="en-US" sz="1500" b="1" dirty="0">
                <a:solidFill>
                  <a:srgbClr val="B45309"/>
                </a:solidFill>
              </a:rPr>
              <a:t>The SSN is an attribute to protect, </a:t>
            </a:r>
            <a:pPr indent="0" marL="0">
              <a:buNone/>
            </a:pPr>
            <a:r>
              <a:rPr lang="en-US" sz="1500" dirty="0">
                <a:solidFill>
                  <a:schemeClr val="tx2"/>
                </a:solidFill>
              </a:rPr>
              <a:t>not a join key to copy into every system.</a:t>
            </a:r>
            <a:endParaRPr lang="en-US" sz="1500" dirty="0"/>
          </a:p>
        </p:txBody>
      </p:sp>
      <p:sp>
        <p:nvSpPr>
          <p:cNvPr id="6" name="Core HCM note"/>
          <p:cNvSpPr/>
          <p:nvPr/>
        </p:nvSpPr>
        <p:spPr>
          <a:xfrm>
            <a:off x="6263640" y="5029200"/>
            <a:ext cx="5394960" cy="1097280"/>
          </a:xfrm>
          <a:prstGeom prst="roundRect">
            <a:avLst>
              <a:gd name="adj" fmla="val 6667"/>
            </a:avLst>
          </a:prstGeom>
          <a:solidFill>
            <a:srgbClr val="E6F2F1"/>
          </a:solidFill>
          <a:ln w="12700">
            <a:solidFill>
              <a:srgbClr val="E6F2F1"/>
            </a:solidFill>
            <a:prstDash val="solid"/>
          </a:ln>
        </p:spPr>
      </p:sp>
      <p:sp>
        <p:nvSpPr>
          <p:cNvPr id="7" name="Core HCM note text"/>
          <p:cNvSpPr txBox="1"/>
          <p:nvPr/>
        </p:nvSpPr>
        <p:spPr>
          <a:xfrm>
            <a:off x="6537960" y="5138928"/>
            <a:ext cx="4892040" cy="868680"/>
          </a:xfrm>
          <a:prstGeom prst="rect">
            <a:avLst/>
          </a:prstGeom>
          <a:noFill/>
          <a:ln/>
        </p:spPr>
        <p:txBody>
          <a:bodyPr wrap="square" lIns="0" tIns="0" rIns="0" bIns="0" rtlCol="0" anchor="ctr"/>
          <a:lstStyle/>
          <a:p>
            <a:pPr indent="0" marL="0">
              <a:buNone/>
            </a:pPr>
            <a:r>
              <a:rPr lang="en-US" sz="1500" b="1" dirty="0">
                <a:solidFill>
                  <a:srgbClr val="0F766E"/>
                </a:solidFill>
              </a:rPr>
              <a:t>Core HCM cutover changes the source key. </a:t>
            </a:r>
            <a:pPr indent="0" marL="0">
              <a:buNone/>
            </a:pPr>
            <a:r>
              <a:rPr lang="en-US" sz="1500" dirty="0">
                <a:solidFill>
                  <a:schemeClr val="tx2"/>
                </a:solidFill>
              </a:rPr>
              <a:t>Layering means nothing downstream has to.</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Physical model: one canonical field, every target named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291840"/>
        </p:xfrm>
        <a:graphic>
          <a:graphicData uri="http://schemas.openxmlformats.org/drawingml/2006/table">
            <a:tbl>
              <a:tblPr/>
              <a:tblGrid>
                <a:gridCol w="2103120"/>
                <a:gridCol w="2514600"/>
                <a:gridCol w="1965960"/>
                <a:gridCol w="2240280"/>
                <a:gridCol w="2286000"/>
              </a:tblGrid>
              <a:tr h="470263">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Canonical field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Oracle HCM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SCIM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Active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Entra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Person number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workers.PersonNumber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externalId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employeeId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Employment active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Assignment status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active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accountDisabled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accountEnabled</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Manager’s person number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 (DN)</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manager</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Hire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Effective start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HireDate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extensionAttribute2</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employeeHireDate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Leave 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Termination effective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TermDate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extensionAttribute3</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employeeLeaveDateTime</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470263">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Organization code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Department ID (code)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orgCode (ext.)</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extensionAttribute10</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250" dirty="0">
                          <a:solidFill>
                            <a:srgbClr val="334155"/>
                          </a:solidFill>
                          <a:latin typeface="Consolas" pitchFamily="34" charset="0"/>
                          <a:ea typeface="Consolas" pitchFamily="34" charset="-122"/>
                          <a:cs typeface="Consolas" pitchFamily="34" charset="-120"/>
                        </a:rPr>
                        <a:t>extensionAttribute10</a:t>
                      </a:r>
                      <a:endParaRPr lang="en-US" sz="125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4" name="Design rule 1"/>
          <p:cNvSpPr/>
          <p:nvPr/>
        </p:nvSpPr>
        <p:spPr>
          <a:xfrm>
            <a:off x="548640" y="4983480"/>
            <a:ext cx="3611880" cy="1143000"/>
          </a:xfrm>
          <a:prstGeom prst="roundRect">
            <a:avLst>
              <a:gd name="adj" fmla="val 6400"/>
            </a:avLst>
          </a:prstGeom>
          <a:solidFill>
            <a:srgbClr val="F1F5F9"/>
          </a:solidFill>
          <a:ln w="12700">
            <a:solidFill>
              <a:srgbClr val="F1F5F9"/>
            </a:solidFill>
            <a:prstDash val="solid"/>
          </a:ln>
        </p:spPr>
      </p:sp>
      <p:sp>
        <p:nvSpPr>
          <p:cNvPr id="5" name="Design rule 1 text"/>
          <p:cNvSpPr txBox="1"/>
          <p:nvPr/>
        </p:nvSpPr>
        <p:spPr>
          <a:xfrm>
            <a:off x="77724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Native attributes first</a:t>
            </a:r>
            <a:endParaRPr lang="en-US" sz="1600" dirty="0"/>
          </a:p>
          <a:p>
            <a:pPr indent="0" marL="0">
              <a:buNone/>
            </a:pPr>
            <a:r>
              <a:rPr lang="en-US" sz="1400" dirty="0">
                <a:solidFill>
                  <a:schemeClr val="tx2"/>
                </a:solidFill>
              </a:rPr>
              <a:t>Use a built-in property wherever one means what the HR record means.</a:t>
            </a:r>
            <a:endParaRPr lang="en-US" sz="1600" dirty="0"/>
          </a:p>
        </p:txBody>
      </p:sp>
      <p:sp>
        <p:nvSpPr>
          <p:cNvPr id="6" name="Design rule 2"/>
          <p:cNvSpPr/>
          <p:nvPr/>
        </p:nvSpPr>
        <p:spPr>
          <a:xfrm>
            <a:off x="4297680" y="4983480"/>
            <a:ext cx="3611880" cy="1143000"/>
          </a:xfrm>
          <a:prstGeom prst="roundRect">
            <a:avLst>
              <a:gd name="adj" fmla="val 6400"/>
            </a:avLst>
          </a:prstGeom>
          <a:solidFill>
            <a:srgbClr val="F1F5F9"/>
          </a:solidFill>
          <a:ln w="12700">
            <a:solidFill>
              <a:srgbClr val="F1F5F9"/>
            </a:solidFill>
            <a:prstDash val="solid"/>
          </a:ln>
        </p:spPr>
      </p:sp>
      <p:sp>
        <p:nvSpPr>
          <p:cNvPr id="7" name="Design rule 2 text"/>
          <p:cNvSpPr txBox="1"/>
          <p:nvPr/>
        </p:nvSpPr>
        <p:spPr>
          <a:xfrm>
            <a:off x="452628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Codes, not display strings</a:t>
            </a:r>
            <a:endParaRPr lang="en-US" sz="1600" dirty="0"/>
          </a:p>
          <a:p>
            <a:pPr indent="0" marL="0">
              <a:buNone/>
            </a:pPr>
            <a:r>
              <a:rPr lang="en-US" sz="1400" dirty="0">
                <a:solidFill>
                  <a:schemeClr val="tx2"/>
                </a:solidFill>
              </a:rPr>
              <a:t>A code changes only when the business fact changes.</a:t>
            </a:r>
            <a:endParaRPr lang="en-US" sz="1600" dirty="0"/>
          </a:p>
        </p:txBody>
      </p:sp>
      <p:sp>
        <p:nvSpPr>
          <p:cNvPr id="8" name="Design rule 3"/>
          <p:cNvSpPr/>
          <p:nvPr/>
        </p:nvSpPr>
        <p:spPr>
          <a:xfrm>
            <a:off x="8046720" y="4983480"/>
            <a:ext cx="3611880" cy="1143000"/>
          </a:xfrm>
          <a:prstGeom prst="roundRect">
            <a:avLst>
              <a:gd name="adj" fmla="val 6400"/>
            </a:avLst>
          </a:prstGeom>
          <a:solidFill>
            <a:srgbClr val="F1F5F9"/>
          </a:solidFill>
          <a:ln w="12700">
            <a:solidFill>
              <a:srgbClr val="F1F5F9"/>
            </a:solidFill>
            <a:prstDash val="solid"/>
          </a:ln>
        </p:spPr>
      </p:sp>
      <p:sp>
        <p:nvSpPr>
          <p:cNvPr id="9" name="Design rule 3 text"/>
          <p:cNvSpPr txBox="1"/>
          <p:nvPr/>
        </p:nvSpPr>
        <p:spPr>
          <a:xfrm>
            <a:off x="8275320" y="5093208"/>
            <a:ext cx="3200400" cy="960120"/>
          </a:xfrm>
          <a:prstGeom prst="rect">
            <a:avLst/>
          </a:prstGeom>
          <a:noFill/>
          <a:ln/>
        </p:spPr>
        <p:txBody>
          <a:bodyPr wrap="square" lIns="0" tIns="0" rIns="0" bIns="0" rtlCol="0" anchor="t"/>
          <a:lstStyle/>
          <a:p>
            <a:pPr indent="0" marL="0">
              <a:buNone/>
            </a:pPr>
            <a:r>
              <a:rPr lang="en-US" sz="1600" b="1" dirty="0">
                <a:solidFill>
                  <a:srgbClr val="0F766E"/>
                </a:solidFill>
              </a:rPr>
              <a:t>Same carrier, both directories</a:t>
            </a:r>
            <a:endParaRPr lang="en-US" sz="1600" dirty="0"/>
          </a:p>
          <a:p>
            <a:pPr indent="0" marL="0">
              <a:buNone/>
            </a:pPr>
            <a:r>
              <a:rPr lang="en-US" sz="1400" dirty="0">
                <a:solidFill>
                  <a:schemeClr val="tx2"/>
                </a:solidFill>
              </a:rPr>
              <a:t>One rule reads the same field in AD and in Entra ID.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Data in motion: one governed path, five duties per event</a:t>
            </a:r>
            <a:endParaRPr lang="en-US" sz="3000" dirty="0"/>
          </a:p>
        </p:txBody>
      </p:sp>
      <p:sp>
        <p:nvSpPr>
          <p:cNvPr id="3" name="Stage 1"/>
          <p:cNvSpPr/>
          <p:nvPr/>
        </p:nvSpPr>
        <p:spPr>
          <a:xfrm>
            <a:off x="548640" y="1463040"/>
            <a:ext cx="1920240" cy="1325880"/>
          </a:xfrm>
          <a:prstGeom prst="roundRect">
            <a:avLst>
              <a:gd name="adj" fmla="val 5517"/>
            </a:avLst>
          </a:prstGeom>
          <a:solidFill>
            <a:srgbClr val="EEF1F7"/>
          </a:solidFill>
          <a:ln w="12700">
            <a:solidFill>
              <a:srgbClr val="1F2A44"/>
            </a:solidFill>
            <a:prstDash val="solid"/>
          </a:ln>
        </p:spPr>
      </p:sp>
      <p:sp>
        <p:nvSpPr>
          <p:cNvPr id="4" name="Stage 1 text"/>
          <p:cNvSpPr txBox="1"/>
          <p:nvPr/>
        </p:nvSpPr>
        <p:spPr>
          <a:xfrm>
            <a:off x="685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Authoritative source</a:t>
            </a:r>
            <a:endParaRPr lang="en-US" sz="1500" dirty="0"/>
          </a:p>
          <a:p>
            <a:pPr algn="ctr" indent="0" marL="0">
              <a:buNone/>
            </a:pPr>
            <a:r>
              <a:rPr lang="en-US" sz="1300" dirty="0">
                <a:solidFill>
                  <a:srgbClr val="334155"/>
                </a:solidFill>
              </a:rPr>
              <a:t>Core HCM, Numident</a:t>
            </a:r>
            <a:endParaRPr lang="en-US" sz="1500" dirty="0"/>
          </a:p>
        </p:txBody>
      </p:sp>
      <p:sp>
        <p:nvSpPr>
          <p:cNvPr id="5" name="Shape 3"/>
          <p:cNvSpPr/>
          <p:nvPr/>
        </p:nvSpPr>
        <p:spPr>
          <a:xfrm>
            <a:off x="2468880" y="2125980"/>
            <a:ext cx="365760" cy="0"/>
          </a:xfrm>
          <a:prstGeom prst="line">
            <a:avLst/>
          </a:prstGeom>
          <a:noFill/>
          <a:ln w="22225">
            <a:solidFill>
              <a:srgbClr val="64748B"/>
            </a:solidFill>
            <a:prstDash val="solid"/>
            <a:tailEnd type="triangle"/>
          </a:ln>
        </p:spPr>
      </p:sp>
      <p:sp>
        <p:nvSpPr>
          <p:cNvPr id="6" name="Stage 2"/>
          <p:cNvSpPr/>
          <p:nvPr/>
        </p:nvSpPr>
        <p:spPr>
          <a:xfrm>
            <a:off x="2834640" y="1463040"/>
            <a:ext cx="1920240" cy="1325880"/>
          </a:xfrm>
          <a:prstGeom prst="roundRect">
            <a:avLst>
              <a:gd name="adj" fmla="val 5517"/>
            </a:avLst>
          </a:prstGeom>
          <a:solidFill>
            <a:srgbClr val="EEF1F7"/>
          </a:solidFill>
          <a:ln w="12700">
            <a:solidFill>
              <a:srgbClr val="1F2A44"/>
            </a:solidFill>
            <a:prstDash val="solid"/>
          </a:ln>
        </p:spPr>
      </p:sp>
      <p:sp>
        <p:nvSpPr>
          <p:cNvPr id="7" name="Stage 2 text"/>
          <p:cNvSpPr txBox="1"/>
          <p:nvPr/>
        </p:nvSpPr>
        <p:spPr>
          <a:xfrm>
            <a:off x="2971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Boundary transformation</a:t>
            </a:r>
            <a:endParaRPr lang="en-US" sz="1500" dirty="0"/>
          </a:p>
          <a:p>
            <a:pPr algn="ctr" indent="0" marL="0">
              <a:buNone/>
            </a:pPr>
            <a:r>
              <a:rPr lang="en-US" sz="1300" dirty="0">
                <a:solidFill>
                  <a:srgbClr val="334155"/>
                </a:solidFill>
              </a:rPr>
              <a:t>Source-specific, replaceable</a:t>
            </a:r>
            <a:endParaRPr lang="en-US" sz="1500" dirty="0"/>
          </a:p>
        </p:txBody>
      </p:sp>
      <p:sp>
        <p:nvSpPr>
          <p:cNvPr id="8" name="Shape 6"/>
          <p:cNvSpPr/>
          <p:nvPr/>
        </p:nvSpPr>
        <p:spPr>
          <a:xfrm>
            <a:off x="4754880" y="2125980"/>
            <a:ext cx="365760" cy="0"/>
          </a:xfrm>
          <a:prstGeom prst="line">
            <a:avLst/>
          </a:prstGeom>
          <a:noFill/>
          <a:ln w="22225">
            <a:solidFill>
              <a:srgbClr val="64748B"/>
            </a:solidFill>
            <a:prstDash val="solid"/>
            <a:tailEnd type="triangle"/>
          </a:ln>
        </p:spPr>
      </p:sp>
      <p:sp>
        <p:nvSpPr>
          <p:cNvPr id="9" name="Stage 3"/>
          <p:cNvSpPr/>
          <p:nvPr/>
        </p:nvSpPr>
        <p:spPr>
          <a:xfrm>
            <a:off x="5120640" y="1463040"/>
            <a:ext cx="1920240" cy="1325880"/>
          </a:xfrm>
          <a:prstGeom prst="roundRect">
            <a:avLst>
              <a:gd name="adj" fmla="val 5517"/>
            </a:avLst>
          </a:prstGeom>
          <a:solidFill>
            <a:srgbClr val="0F766E"/>
          </a:solidFill>
          <a:ln w="12700">
            <a:solidFill>
              <a:srgbClr val="0F766E"/>
            </a:solidFill>
            <a:prstDash val="solid"/>
          </a:ln>
        </p:spPr>
      </p:sp>
      <p:sp>
        <p:nvSpPr>
          <p:cNvPr id="10" name="Stage 3 text"/>
          <p:cNvSpPr txBox="1"/>
          <p:nvPr/>
        </p:nvSpPr>
        <p:spPr>
          <a:xfrm>
            <a:off x="5257800" y="1572768"/>
            <a:ext cx="1645920" cy="1143000"/>
          </a:xfrm>
          <a:prstGeom prst="rect">
            <a:avLst/>
          </a:prstGeom>
          <a:noFill/>
          <a:ln/>
        </p:spPr>
        <p:txBody>
          <a:bodyPr wrap="square" lIns="0" tIns="0" rIns="0" bIns="0" rtlCol="0" anchor="ctr"/>
          <a:lstStyle/>
          <a:p>
            <a:pPr algn="ctr" indent="0" marL="0">
              <a:buNone/>
            </a:pPr>
            <a:r>
              <a:rPr lang="en-US" sz="1500" b="1" dirty="0">
                <a:solidFill>
                  <a:srgbClr val="FFFFFF"/>
                </a:solidFill>
              </a:rPr>
              <a:t>Governed identity model</a:t>
            </a:r>
            <a:endParaRPr lang="en-US" sz="1500" dirty="0"/>
          </a:p>
          <a:p>
            <a:pPr algn="ctr" indent="0" marL="0">
              <a:buNone/>
            </a:pPr>
            <a:r>
              <a:rPr lang="en-US" sz="1300" dirty="0">
                <a:solidFill>
                  <a:srgbClr val="FFFFFF"/>
                </a:solidFill>
              </a:rPr>
              <a:t>The durable contract</a:t>
            </a:r>
            <a:endParaRPr lang="en-US" sz="1500" dirty="0"/>
          </a:p>
        </p:txBody>
      </p:sp>
      <p:sp>
        <p:nvSpPr>
          <p:cNvPr id="11" name="Shape 9"/>
          <p:cNvSpPr/>
          <p:nvPr/>
        </p:nvSpPr>
        <p:spPr>
          <a:xfrm>
            <a:off x="7040880" y="2125980"/>
            <a:ext cx="365760" cy="0"/>
          </a:xfrm>
          <a:prstGeom prst="line">
            <a:avLst/>
          </a:prstGeom>
          <a:noFill/>
          <a:ln w="22225">
            <a:solidFill>
              <a:srgbClr val="64748B"/>
            </a:solidFill>
            <a:prstDash val="solid"/>
            <a:tailEnd type="triangle"/>
          </a:ln>
        </p:spPr>
      </p:sp>
      <p:sp>
        <p:nvSpPr>
          <p:cNvPr id="12" name="Stage 4"/>
          <p:cNvSpPr/>
          <p:nvPr/>
        </p:nvSpPr>
        <p:spPr>
          <a:xfrm>
            <a:off x="7406640" y="1463040"/>
            <a:ext cx="1920240" cy="1325880"/>
          </a:xfrm>
          <a:prstGeom prst="roundRect">
            <a:avLst>
              <a:gd name="adj" fmla="val 5517"/>
            </a:avLst>
          </a:prstGeom>
          <a:solidFill>
            <a:srgbClr val="EEF1F7"/>
          </a:solidFill>
          <a:ln w="12700">
            <a:solidFill>
              <a:srgbClr val="1F2A44"/>
            </a:solidFill>
            <a:prstDash val="solid"/>
          </a:ln>
        </p:spPr>
      </p:sp>
      <p:sp>
        <p:nvSpPr>
          <p:cNvPr id="13" name="Stage 4 text"/>
          <p:cNvSpPr txBox="1"/>
          <p:nvPr/>
        </p:nvSpPr>
        <p:spPr>
          <a:xfrm>
            <a:off x="7543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Provisioning service</a:t>
            </a:r>
            <a:endParaRPr lang="en-US" sz="1500" dirty="0"/>
          </a:p>
          <a:p>
            <a:pPr algn="ctr" indent="0" marL="0">
              <a:buNone/>
            </a:pPr>
            <a:r>
              <a:rPr lang="en-US" sz="1300" dirty="0">
                <a:solidFill>
                  <a:srgbClr val="334155"/>
                </a:solidFill>
              </a:rPr>
              <a:t>One door, one log</a:t>
            </a:r>
            <a:endParaRPr lang="en-US" sz="1500" dirty="0"/>
          </a:p>
        </p:txBody>
      </p:sp>
      <p:sp>
        <p:nvSpPr>
          <p:cNvPr id="14" name="Shape 12"/>
          <p:cNvSpPr/>
          <p:nvPr/>
        </p:nvSpPr>
        <p:spPr>
          <a:xfrm>
            <a:off x="9326880" y="2125980"/>
            <a:ext cx="365760" cy="0"/>
          </a:xfrm>
          <a:prstGeom prst="line">
            <a:avLst/>
          </a:prstGeom>
          <a:noFill/>
          <a:ln w="22225">
            <a:solidFill>
              <a:srgbClr val="64748B"/>
            </a:solidFill>
            <a:prstDash val="solid"/>
            <a:tailEnd type="triangle"/>
          </a:ln>
        </p:spPr>
      </p:sp>
      <p:sp>
        <p:nvSpPr>
          <p:cNvPr id="15" name="Stage 5"/>
          <p:cNvSpPr/>
          <p:nvPr/>
        </p:nvSpPr>
        <p:spPr>
          <a:xfrm>
            <a:off x="9692640" y="1463040"/>
            <a:ext cx="1920240" cy="1325880"/>
          </a:xfrm>
          <a:prstGeom prst="roundRect">
            <a:avLst>
              <a:gd name="adj" fmla="val 5517"/>
            </a:avLst>
          </a:prstGeom>
          <a:solidFill>
            <a:srgbClr val="EEF1F7"/>
          </a:solidFill>
          <a:ln w="12700">
            <a:solidFill>
              <a:srgbClr val="1F2A44"/>
            </a:solidFill>
            <a:prstDash val="solid"/>
          </a:ln>
        </p:spPr>
      </p:sp>
      <p:sp>
        <p:nvSpPr>
          <p:cNvPr id="16" name="Stage 5 text"/>
          <p:cNvSpPr txBox="1"/>
          <p:nvPr/>
        </p:nvSpPr>
        <p:spPr>
          <a:xfrm>
            <a:off x="9829800" y="1572768"/>
            <a:ext cx="1645920" cy="1143000"/>
          </a:xfrm>
          <a:prstGeom prst="rect">
            <a:avLst/>
          </a:prstGeom>
          <a:noFill/>
          <a:ln/>
        </p:spPr>
        <p:txBody>
          <a:bodyPr wrap="square" lIns="0" tIns="0" rIns="0" bIns="0" rtlCol="0" anchor="ctr"/>
          <a:lstStyle/>
          <a:p>
            <a:pPr algn="ctr" indent="0" marL="0">
              <a:buNone/>
            </a:pPr>
            <a:r>
              <a:rPr lang="en-US" sz="1500" b="1" dirty="0">
                <a:solidFill>
                  <a:srgbClr val="1F2A44"/>
                </a:solidFill>
              </a:rPr>
              <a:t>Target services</a:t>
            </a:r>
            <a:endParaRPr lang="en-US" sz="1500" dirty="0"/>
          </a:p>
          <a:p>
            <a:pPr algn="ctr" indent="0" marL="0">
              <a:buNone/>
            </a:pPr>
            <a:r>
              <a:rPr lang="en-US" sz="1300" dirty="0">
                <a:solidFill>
                  <a:srgbClr val="334155"/>
                </a:solidFill>
              </a:rPr>
              <a:t>AD, Entra ID, apps, PKI</a:t>
            </a:r>
            <a:endParaRPr lang="en-US" sz="1500" dirty="0"/>
          </a:p>
        </p:txBody>
      </p:sp>
      <p:sp>
        <p:nvSpPr>
          <p:cNvPr id="17" name="Duty 1 badge"/>
          <p:cNvSpPr/>
          <p:nvPr/>
        </p:nvSpPr>
        <p:spPr>
          <a:xfrm>
            <a:off x="548640" y="3291840"/>
            <a:ext cx="502920" cy="502920"/>
          </a:xfrm>
          <a:prstGeom prst="ellipse">
            <a:avLst/>
          </a:prstGeom>
          <a:solidFill>
            <a:srgbClr val="B45309"/>
          </a:solidFill>
          <a:ln w="12700">
            <a:solidFill>
              <a:srgbClr val="B45309"/>
            </a:solidFill>
            <a:prstDash val="solid"/>
          </a:ln>
        </p:spPr>
      </p:sp>
      <p:sp>
        <p:nvSpPr>
          <p:cNvPr id="18" name="Duty 1 number"/>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9" name="Duty 1 text"/>
          <p:cNvSpPr txBox="1"/>
          <p:nvPr/>
        </p:nvSpPr>
        <p:spPr>
          <a:xfrm>
            <a:off x="548640" y="3931920"/>
            <a:ext cx="2057400" cy="137160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Validate</a:t>
            </a:r>
            <a:endParaRPr lang="en-US" sz="1400" dirty="0"/>
          </a:p>
          <a:p>
            <a:pPr indent="0" marL="0">
              <a:spcAft>
                <a:spcPts val="400"/>
              </a:spcAft>
              <a:buNone/>
            </a:pPr>
            <a:r>
              <a:rPr lang="en-US" sz="1400" dirty="0">
                <a:solidFill>
                  <a:schemeClr val="tx2"/>
                </a:solidFill>
              </a:rPr>
              <a:t>Required fields present; unknown worker types refused. Fail closed.</a:t>
            </a:r>
            <a:endParaRPr lang="en-US" sz="1400" dirty="0"/>
          </a:p>
        </p:txBody>
      </p:sp>
      <p:sp>
        <p:nvSpPr>
          <p:cNvPr id="20" name="Duty 2 badge"/>
          <p:cNvSpPr/>
          <p:nvPr/>
        </p:nvSpPr>
        <p:spPr>
          <a:xfrm>
            <a:off x="2834640" y="3291840"/>
            <a:ext cx="502920" cy="502920"/>
          </a:xfrm>
          <a:prstGeom prst="ellipse">
            <a:avLst/>
          </a:prstGeom>
          <a:solidFill>
            <a:srgbClr val="B45309"/>
          </a:solidFill>
          <a:ln w="12700">
            <a:solidFill>
              <a:srgbClr val="B45309"/>
            </a:solidFill>
            <a:prstDash val="solid"/>
          </a:ln>
        </p:spPr>
      </p:sp>
      <p:sp>
        <p:nvSpPr>
          <p:cNvPr id="21" name="Duty 2 number"/>
          <p:cNvSpPr txBox="1"/>
          <p:nvPr/>
        </p:nvSpPr>
        <p:spPr>
          <a:xfrm>
            <a:off x="2834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2" name="Duty 2 text"/>
          <p:cNvSpPr txBox="1"/>
          <p:nvPr/>
        </p:nvSpPr>
        <p:spPr>
          <a:xfrm>
            <a:off x="2834640" y="3931920"/>
            <a:ext cx="2057400" cy="137160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Sequence</a:t>
            </a:r>
            <a:endParaRPr lang="en-US" sz="1400" dirty="0"/>
          </a:p>
          <a:p>
            <a:pPr indent="0" marL="0">
              <a:spcAft>
                <a:spcPts val="400"/>
              </a:spcAft>
              <a:buNone/>
            </a:pPr>
            <a:r>
              <a:rPr lang="en-US" sz="1400" dirty="0">
                <a:solidFill>
                  <a:schemeClr val="tx2"/>
                </a:solidFill>
              </a:rPr>
              <a:t>Apply events in order; a mover after a leaver is a correctness bug.</a:t>
            </a:r>
            <a:endParaRPr lang="en-US" sz="1400" dirty="0"/>
          </a:p>
        </p:txBody>
      </p:sp>
      <p:sp>
        <p:nvSpPr>
          <p:cNvPr id="23" name="Duty 3 badge"/>
          <p:cNvSpPr/>
          <p:nvPr/>
        </p:nvSpPr>
        <p:spPr>
          <a:xfrm>
            <a:off x="5120640" y="3291840"/>
            <a:ext cx="502920" cy="502920"/>
          </a:xfrm>
          <a:prstGeom prst="ellipse">
            <a:avLst/>
          </a:prstGeom>
          <a:solidFill>
            <a:srgbClr val="B45309"/>
          </a:solidFill>
          <a:ln w="12700">
            <a:solidFill>
              <a:srgbClr val="B45309"/>
            </a:solidFill>
            <a:prstDash val="solid"/>
          </a:ln>
        </p:spPr>
      </p:sp>
      <p:sp>
        <p:nvSpPr>
          <p:cNvPr id="24" name="Duty 3 number"/>
          <p:cNvSpPr txBox="1"/>
          <p:nvPr/>
        </p:nvSpPr>
        <p:spPr>
          <a:xfrm>
            <a:off x="5120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5" name="Duty 3 text"/>
          <p:cNvSpPr txBox="1"/>
          <p:nvPr/>
        </p:nvSpPr>
        <p:spPr>
          <a:xfrm>
            <a:off x="5120640" y="3931920"/>
            <a:ext cx="2057400" cy="137160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Normalize</a:t>
            </a:r>
            <a:endParaRPr lang="en-US" sz="1400" dirty="0"/>
          </a:p>
          <a:p>
            <a:pPr indent="0" marL="0">
              <a:spcAft>
                <a:spcPts val="400"/>
              </a:spcAft>
              <a:buNone/>
            </a:pPr>
            <a:r>
              <a:rPr lang="en-US" sz="1400" dirty="0">
                <a:solidFill>
                  <a:schemeClr val="tx2"/>
                </a:solidFill>
              </a:rPr>
              <a:t>Build one payload from the governed model, whatever the source.</a:t>
            </a:r>
            <a:endParaRPr lang="en-US" sz="1400" dirty="0"/>
          </a:p>
        </p:txBody>
      </p:sp>
      <p:sp>
        <p:nvSpPr>
          <p:cNvPr id="26" name="Duty 4 badge"/>
          <p:cNvSpPr/>
          <p:nvPr/>
        </p:nvSpPr>
        <p:spPr>
          <a:xfrm>
            <a:off x="7406640" y="3291840"/>
            <a:ext cx="502920" cy="502920"/>
          </a:xfrm>
          <a:prstGeom prst="ellipse">
            <a:avLst/>
          </a:prstGeom>
          <a:solidFill>
            <a:srgbClr val="B45309"/>
          </a:solidFill>
          <a:ln w="12700">
            <a:solidFill>
              <a:srgbClr val="B45309"/>
            </a:solidFill>
            <a:prstDash val="solid"/>
          </a:ln>
        </p:spPr>
      </p:sp>
      <p:sp>
        <p:nvSpPr>
          <p:cNvPr id="27" name="Duty 4 number"/>
          <p:cNvSpPr txBox="1"/>
          <p:nvPr/>
        </p:nvSpPr>
        <p:spPr>
          <a:xfrm>
            <a:off x="7406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8" name="Duty 4 text"/>
          <p:cNvSpPr txBox="1"/>
          <p:nvPr/>
        </p:nvSpPr>
        <p:spPr>
          <a:xfrm>
            <a:off x="7406640" y="3931920"/>
            <a:ext cx="2057400" cy="137160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Provenance</a:t>
            </a:r>
            <a:endParaRPr lang="en-US" sz="1400" dirty="0"/>
          </a:p>
          <a:p>
            <a:pPr indent="0" marL="0">
              <a:spcAft>
                <a:spcPts val="400"/>
              </a:spcAft>
              <a:buNone/>
            </a:pPr>
            <a:r>
              <a:rPr lang="en-US" sz="1400" dirty="0">
                <a:solidFill>
                  <a:schemeClr val="tx2"/>
                </a:solidFill>
              </a:rPr>
              <a:t>One record per event, written before the call returns.</a:t>
            </a:r>
            <a:endParaRPr lang="en-US" sz="1400" dirty="0"/>
          </a:p>
        </p:txBody>
      </p:sp>
      <p:sp>
        <p:nvSpPr>
          <p:cNvPr id="29" name="Duty 5 badge"/>
          <p:cNvSpPr/>
          <p:nvPr/>
        </p:nvSpPr>
        <p:spPr>
          <a:xfrm>
            <a:off x="9692640" y="3291840"/>
            <a:ext cx="502920" cy="502920"/>
          </a:xfrm>
          <a:prstGeom prst="ellipse">
            <a:avLst/>
          </a:prstGeom>
          <a:solidFill>
            <a:srgbClr val="B45309"/>
          </a:solidFill>
          <a:ln w="12700">
            <a:solidFill>
              <a:srgbClr val="B45309"/>
            </a:solidFill>
            <a:prstDash val="solid"/>
          </a:ln>
        </p:spPr>
      </p:sp>
      <p:sp>
        <p:nvSpPr>
          <p:cNvPr id="30" name="Duty 5 number"/>
          <p:cNvSpPr txBox="1"/>
          <p:nvPr/>
        </p:nvSpPr>
        <p:spPr>
          <a:xfrm>
            <a:off x="9692640"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1" name="Duty 5 text"/>
          <p:cNvSpPr txBox="1"/>
          <p:nvPr/>
        </p:nvSpPr>
        <p:spPr>
          <a:xfrm>
            <a:off x="9692640" y="3931920"/>
            <a:ext cx="2057400" cy="137160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rPr>
              <a:t>Reconcile</a:t>
            </a:r>
            <a:endParaRPr lang="en-US" sz="1400" dirty="0"/>
          </a:p>
          <a:p>
            <a:pPr indent="0" marL="0">
              <a:spcAft>
                <a:spcPts val="400"/>
              </a:spcAft>
              <a:buNone/>
            </a:pPr>
            <a:r>
              <a:rPr lang="en-US" sz="1400" dirty="0">
                <a:solidFill>
                  <a:schemeClr val="tx2"/>
                </a:solidFill>
              </a:rPr>
              <a:t>Match every result to its event; exceptions get an owner.</a:t>
            </a:r>
            <a:endParaRPr lang="en-US" sz="1400" dirty="0"/>
          </a:p>
        </p:txBody>
      </p:sp>
      <p:sp>
        <p:nvSpPr>
          <p:cNvPr id="32" name="Platform note"/>
          <p:cNvSpPr/>
          <p:nvPr/>
        </p:nvSpPr>
        <p:spPr>
          <a:xfrm>
            <a:off x="548640" y="5440680"/>
            <a:ext cx="11109960" cy="731520"/>
          </a:xfrm>
          <a:prstGeom prst="roundRect">
            <a:avLst>
              <a:gd name="adj" fmla="val 10000"/>
            </a:avLst>
          </a:prstGeom>
          <a:solidFill>
            <a:srgbClr val="F1F5F9"/>
          </a:solidFill>
          <a:ln w="12700">
            <a:solidFill>
              <a:srgbClr val="F1F5F9"/>
            </a:solidFill>
            <a:prstDash val="solid"/>
          </a:ln>
        </p:spPr>
      </p:sp>
      <p:sp>
        <p:nvSpPr>
          <p:cNvPr id="33" name="Platform note text"/>
          <p:cNvSpPr txBox="1"/>
          <p:nvPr/>
        </p:nvSpPr>
        <p:spPr>
          <a:xfrm>
            <a:off x="822960" y="5486400"/>
            <a:ext cx="10607040" cy="640080"/>
          </a:xfrm>
          <a:prstGeom prst="rect">
            <a:avLst/>
          </a:prstGeom>
          <a:noFill/>
          <a:ln/>
        </p:spPr>
        <p:txBody>
          <a:bodyPr wrap="square" lIns="0" tIns="0" rIns="0" bIns="0" rtlCol="0" anchor="ctr"/>
          <a:lstStyle/>
          <a:p>
            <a:pPr indent="0" marL="0">
              <a:buNone/>
            </a:pPr>
            <a:r>
              <a:rPr lang="en-US" sz="1500" b="1" dirty="0">
                <a:solidFill>
                  <a:srgbClr val="0F766E"/>
                </a:solidFill>
              </a:rPr>
              <a:t>On the Microsoft stack: </a:t>
            </a:r>
            <a:pPr indent="0" marL="0">
              <a:buNone/>
            </a:pPr>
            <a:r>
              <a:rPr lang="en-US" sz="1500" dirty="0">
                <a:solidFill>
                  <a:schemeClr val="tx2"/>
                </a:solidFill>
              </a:rPr>
              <a:t>API-driven inbound provisioning into Entra ID and AD, with Lifecycle Workflows acting on the results. A source change touches only the boundary.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Data quality becomes drift, metrics and evidence</a:t>
            </a:r>
            <a:endParaRPr lang="en-US" sz="3000" dirty="0"/>
          </a:p>
        </p:txBody>
      </p:sp>
      <p:sp>
        <p:nvSpPr>
          <p:cNvPr id="3" name="Metric 1"/>
          <p:cNvSpPr/>
          <p:nvPr/>
        </p:nvSpPr>
        <p:spPr>
          <a:xfrm>
            <a:off x="548640" y="1417320"/>
            <a:ext cx="2697480" cy="1417320"/>
          </a:xfrm>
          <a:prstGeom prst="roundRect">
            <a:avLst>
              <a:gd name="adj" fmla="val 5161"/>
            </a:avLst>
          </a:prstGeom>
          <a:solidFill>
            <a:srgbClr val="E6F2F1"/>
          </a:solidFill>
          <a:ln w="12700">
            <a:solidFill>
              <a:srgbClr val="E6F2F1"/>
            </a:solidFill>
            <a:prstDash val="solid"/>
          </a:ln>
        </p:spPr>
      </p:sp>
      <p:sp>
        <p:nvSpPr>
          <p:cNvPr id="4" name="Metric 1 text"/>
          <p:cNvSpPr txBox="1"/>
          <p:nvPr/>
        </p:nvSpPr>
        <p:spPr>
          <a:xfrm>
            <a:off x="777240" y="1554480"/>
            <a:ext cx="2286000" cy="118872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Separation-to-block</a:t>
            </a:r>
            <a:endParaRPr lang="en-US" sz="1400" dirty="0"/>
          </a:p>
          <a:p>
            <a:pPr indent="0" marL="0">
              <a:spcAft>
                <a:spcPts val="400"/>
              </a:spcAft>
              <a:buNone/>
            </a:pPr>
            <a:r>
              <a:rPr lang="en-US" sz="1400" dirty="0">
                <a:solidFill>
                  <a:schemeClr val="tx2"/>
                </a:solidFill>
              </a:rPr>
              <a:t>HR effective time → sign-in disabled and sessions revoked</a:t>
            </a:r>
            <a:endParaRPr lang="en-US" sz="1400" dirty="0"/>
          </a:p>
        </p:txBody>
      </p:sp>
      <p:sp>
        <p:nvSpPr>
          <p:cNvPr id="5" name="Metric 2"/>
          <p:cNvSpPr/>
          <p:nvPr/>
        </p:nvSpPr>
        <p:spPr>
          <a:xfrm>
            <a:off x="3383280" y="1417320"/>
            <a:ext cx="2697480" cy="1417320"/>
          </a:xfrm>
          <a:prstGeom prst="roundRect">
            <a:avLst>
              <a:gd name="adj" fmla="val 5161"/>
            </a:avLst>
          </a:prstGeom>
          <a:solidFill>
            <a:srgbClr val="E6F2F1"/>
          </a:solidFill>
          <a:ln w="12700">
            <a:solidFill>
              <a:srgbClr val="E6F2F1"/>
            </a:solidFill>
            <a:prstDash val="solid"/>
          </a:ln>
        </p:spPr>
      </p:sp>
      <p:sp>
        <p:nvSpPr>
          <p:cNvPr id="6" name="Metric 2 text"/>
          <p:cNvSpPr txBox="1"/>
          <p:nvPr/>
        </p:nvSpPr>
        <p:spPr>
          <a:xfrm>
            <a:off x="3611880" y="1554480"/>
            <a:ext cx="2286000" cy="118872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Correlation coverage</a:t>
            </a:r>
            <a:endParaRPr lang="en-US" sz="1400" dirty="0"/>
          </a:p>
          <a:p>
            <a:pPr indent="0" marL="0">
              <a:spcAft>
                <a:spcPts val="400"/>
              </a:spcAft>
              <a:buNone/>
            </a:pPr>
            <a:r>
              <a:rPr lang="en-US" sz="1400" dirty="0">
                <a:solidFill>
                  <a:schemeClr val="tx2"/>
                </a:solidFill>
              </a:rPr>
              <a:t>Enabled accounts that resolve to a current person record</a:t>
            </a:r>
            <a:endParaRPr lang="en-US" sz="1400" dirty="0"/>
          </a:p>
        </p:txBody>
      </p:sp>
      <p:sp>
        <p:nvSpPr>
          <p:cNvPr id="7" name="Metric 3"/>
          <p:cNvSpPr/>
          <p:nvPr/>
        </p:nvSpPr>
        <p:spPr>
          <a:xfrm>
            <a:off x="548640" y="2971800"/>
            <a:ext cx="2697480" cy="1417320"/>
          </a:xfrm>
          <a:prstGeom prst="roundRect">
            <a:avLst>
              <a:gd name="adj" fmla="val 5161"/>
            </a:avLst>
          </a:prstGeom>
          <a:solidFill>
            <a:srgbClr val="E6F2F1"/>
          </a:solidFill>
          <a:ln w="12700">
            <a:solidFill>
              <a:srgbClr val="E6F2F1"/>
            </a:solidFill>
            <a:prstDash val="solid"/>
          </a:ln>
        </p:spPr>
      </p:sp>
      <p:sp>
        <p:nvSpPr>
          <p:cNvPr id="8" name="Metric 3 text"/>
          <p:cNvSpPr txBox="1"/>
          <p:nvPr/>
        </p:nvSpPr>
        <p:spPr>
          <a:xfrm>
            <a:off x="777240" y="3108960"/>
            <a:ext cx="2286000" cy="118872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Joiner readiness</a:t>
            </a:r>
            <a:endParaRPr lang="en-US" sz="1400" dirty="0"/>
          </a:p>
          <a:p>
            <a:pPr indent="0" marL="0">
              <a:spcAft>
                <a:spcPts val="400"/>
              </a:spcAft>
              <a:buNone/>
            </a:pPr>
            <a:r>
              <a:rPr lang="en-US" sz="1400" dirty="0">
                <a:solidFill>
                  <a:schemeClr val="tx2"/>
                </a:solidFill>
              </a:rPr>
              <a:t>New hires with account and baseline access on day one</a:t>
            </a:r>
            <a:endParaRPr lang="en-US" sz="1400" dirty="0"/>
          </a:p>
        </p:txBody>
      </p:sp>
      <p:sp>
        <p:nvSpPr>
          <p:cNvPr id="9" name="Metric 4"/>
          <p:cNvSpPr/>
          <p:nvPr/>
        </p:nvSpPr>
        <p:spPr>
          <a:xfrm>
            <a:off x="3383280" y="2971800"/>
            <a:ext cx="2697480" cy="1417320"/>
          </a:xfrm>
          <a:prstGeom prst="roundRect">
            <a:avLst>
              <a:gd name="adj" fmla="val 5161"/>
            </a:avLst>
          </a:prstGeom>
          <a:solidFill>
            <a:srgbClr val="E6F2F1"/>
          </a:solidFill>
          <a:ln w="12700">
            <a:solidFill>
              <a:srgbClr val="E6F2F1"/>
            </a:solidFill>
            <a:prstDash val="solid"/>
          </a:ln>
        </p:spPr>
      </p:sp>
      <p:sp>
        <p:nvSpPr>
          <p:cNvPr id="10" name="Metric 4 text"/>
          <p:cNvSpPr txBox="1"/>
          <p:nvPr/>
        </p:nvSpPr>
        <p:spPr>
          <a:xfrm>
            <a:off x="3611880" y="3108960"/>
            <a:ext cx="2286000" cy="1188720"/>
          </a:xfrm>
          <a:prstGeom prst="rect">
            <a:avLst/>
          </a:prstGeom>
          <a:noFill/>
          <a:ln/>
        </p:spPr>
        <p:txBody>
          <a:bodyPr wrap="square" lIns="0" tIns="0" rIns="0" bIns="0" rtlCol="0" anchor="t"/>
          <a:lstStyle/>
          <a:p>
            <a:pPr indent="0" marL="0">
              <a:spcAft>
                <a:spcPts val="400"/>
              </a:spcAft>
              <a:buNone/>
            </a:pPr>
            <a:r>
              <a:rPr lang="en-US" sz="1800" b="1" dirty="0">
                <a:solidFill>
                  <a:srgbClr val="0F766E"/>
                </a:solidFill>
              </a:rPr>
              <a:t>Derivation purity</a:t>
            </a:r>
            <a:endParaRPr lang="en-US" sz="1400" dirty="0"/>
          </a:p>
          <a:p>
            <a:pPr indent="0" marL="0">
              <a:spcAft>
                <a:spcPts val="400"/>
              </a:spcAft>
              <a:buNone/>
            </a:pPr>
            <a:r>
              <a:rPr lang="en-US" sz="1400" dirty="0">
                <a:solidFill>
                  <a:schemeClr val="tx2"/>
                </a:solidFill>
              </a:rPr>
              <a:t>Access granted by rule rather than by hand</a:t>
            </a:r>
            <a:endParaRPr lang="en-US" sz="1400" dirty="0"/>
          </a:p>
        </p:txBody>
      </p:sp>
      <p:sp>
        <p:nvSpPr>
          <p:cNvPr id="11" name="Drift card"/>
          <p:cNvSpPr/>
          <p:nvPr/>
        </p:nvSpPr>
        <p:spPr>
          <a:xfrm>
            <a:off x="548640" y="4572000"/>
            <a:ext cx="5532120" cy="1554480"/>
          </a:xfrm>
          <a:prstGeom prst="roundRect">
            <a:avLst>
              <a:gd name="adj" fmla="val 4706"/>
            </a:avLst>
          </a:prstGeom>
          <a:solidFill>
            <a:srgbClr val="FDECEC"/>
          </a:solidFill>
          <a:ln w="12700">
            <a:solidFill>
              <a:srgbClr val="FDECEC"/>
            </a:solidFill>
            <a:prstDash val="solid"/>
          </a:ln>
        </p:spPr>
      </p:sp>
      <p:sp>
        <p:nvSpPr>
          <p:cNvPr id="12" name="Drift text"/>
          <p:cNvSpPr txBox="1"/>
          <p:nvPr/>
        </p:nvSpPr>
        <p:spPr>
          <a:xfrm>
            <a:off x="777240" y="4709160"/>
            <a:ext cx="5120640" cy="1325880"/>
          </a:xfrm>
          <a:prstGeom prst="rect">
            <a:avLst/>
          </a:prstGeom>
          <a:noFill/>
          <a:ln/>
        </p:spPr>
        <p:txBody>
          <a:bodyPr wrap="square" lIns="0" tIns="0" rIns="0" bIns="0" rtlCol="0" anchor="t"/>
          <a:lstStyle/>
          <a:p>
            <a:pPr indent="0" marL="0">
              <a:spcAft>
                <a:spcPts val="600"/>
              </a:spcAft>
              <a:buNone/>
            </a:pPr>
            <a:r>
              <a:rPr lang="en-US" sz="1600" b="1" dirty="0">
                <a:solidFill>
                  <a:srgbClr val="B91C1C"/>
                </a:solidFill>
              </a:rPr>
              <a:t>Drift classes, each with a signal and an owner</a:t>
            </a:r>
            <a:endParaRPr lang="en-US" sz="1400" dirty="0"/>
          </a:p>
          <a:p>
            <a:pPr indent="0" marL="0">
              <a:spcAft>
                <a:spcPts val="600"/>
              </a:spcAft>
              <a:buNone/>
            </a:pPr>
            <a:r>
              <a:rPr lang="en-US" sz="1400" dirty="0">
                <a:solidFill>
                  <a:schemeClr val="tx2"/>
                </a:solidFill>
              </a:rPr>
              <a:t>Missing identity  ·  Stale access  ·  Orphan account  ·  Attribute drift  ·  Unauthorized write  ·  Credential drift</a:t>
            </a:r>
            <a:endParaRPr lang="en-US" sz="1400" dirty="0"/>
          </a:p>
        </p:txBody>
      </p:sp>
      <p:sp>
        <p:nvSpPr>
          <p:cNvPr id="13" name="Controls heading"/>
          <p:cNvSpPr txBox="1"/>
          <p:nvPr/>
        </p:nvSpPr>
        <p:spPr>
          <a:xfrm>
            <a:off x="6355080" y="1417320"/>
            <a:ext cx="5303520" cy="41148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Evidence for NIST SP 800-53 controls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55080" y="1920240"/>
          <a:ext cx="9144000" cy="3017520"/>
        </p:xfrm>
        <a:graphic>
          <a:graphicData uri="http://schemas.openxmlformats.org/drawingml/2006/table">
            <a:tbl>
              <a:tblPr/>
              <a:tblGrid>
                <a:gridCol w="1143000"/>
                <a:gridCol w="416052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Control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Architecture contribution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AC-2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Every account traces to a person record and a 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PS-4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Separation starts a timed, reconciled leaver sequence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PS-5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transfer re-derives access and opens a 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IA-4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Layered keys survive rehire and conversion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029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SI-12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Lineage from the HR record to every consumer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15" name="Controls caveat"/>
          <p:cNvSpPr txBox="1"/>
          <p:nvPr/>
        </p:nvSpPr>
        <p:spPr>
          <a:xfrm>
            <a:off x="6355080" y="5120640"/>
            <a:ext cx="5303520" cy="822960"/>
          </a:xfrm>
          <a:prstGeom prst="rect">
            <a:avLst/>
          </a:prstGeom>
          <a:noFill/>
          <a:ln/>
        </p:spPr>
        <p:txBody>
          <a:bodyPr wrap="square" lIns="0" tIns="0" rIns="0" bIns="0" rtlCol="0" anchor="t"/>
          <a:lstStyle/>
          <a:p>
            <a:pPr indent="0" marL="0">
              <a:buNone/>
            </a:pPr>
            <a:r>
              <a:rPr lang="en-US" sz="1400" b="1" dirty="0">
                <a:solidFill>
                  <a:srgbClr val="B45309"/>
                </a:solidFill>
              </a:rPr>
              <a:t>Supports the controls; doesn’t close them. </a:t>
            </a:r>
            <a:pPr indent="0" marL="0">
              <a:buNone/>
            </a:pPr>
            <a:r>
              <a:rPr lang="en-US" sz="1400" dirty="0">
                <a:solidFill>
                  <a:schemeClr val="tx2"/>
                </a:solidFill>
              </a:rPr>
              <a:t>Agency policy, parameters, procedures and assessment still apply.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Deliver in gated phases, timed to SSA’s Wave 2 move</a:t>
            </a:r>
            <a:endParaRPr lang="en-US" sz="3000" dirty="0"/>
          </a:p>
        </p:txBody>
      </p:sp>
      <p:sp>
        <p:nvSpPr>
          <p:cNvPr id="3" name="Shape 1"/>
          <p:cNvSpPr/>
          <p:nvPr/>
        </p:nvSpPr>
        <p:spPr>
          <a:xfrm>
            <a:off x="1280160" y="2331720"/>
            <a:ext cx="9628632" cy="0"/>
          </a:xfrm>
          <a:prstGeom prst="line">
            <a:avLst/>
          </a:prstGeom>
          <a:noFill/>
          <a:ln w="19050">
            <a:solidFill>
              <a:srgbClr val="64748B"/>
            </a:solidFill>
            <a:prstDash val="solid"/>
          </a:ln>
        </p:spPr>
      </p:sp>
      <p:sp>
        <p:nvSpPr>
          <p:cNvPr id="4" name="Phase 0 badge"/>
          <p:cNvSpPr/>
          <p:nvPr/>
        </p:nvSpPr>
        <p:spPr>
          <a:xfrm>
            <a:off x="960120" y="2011680"/>
            <a:ext cx="640080" cy="640080"/>
          </a:xfrm>
          <a:prstGeom prst="ellipse">
            <a:avLst/>
          </a:prstGeom>
          <a:solidFill>
            <a:srgbClr val="1F2A44"/>
          </a:solidFill>
          <a:ln w="25400">
            <a:solidFill>
              <a:srgbClr val="FFFFFF"/>
            </a:solidFill>
            <a:prstDash val="solid"/>
          </a:ln>
        </p:spPr>
      </p:sp>
      <p:sp>
        <p:nvSpPr>
          <p:cNvPr id="5" name="Phase 0 number"/>
          <p:cNvSpPr txBox="1"/>
          <p:nvPr/>
        </p:nvSpPr>
        <p:spPr>
          <a:xfrm>
            <a:off x="96012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6" name="Phase 0 text"/>
          <p:cNvSpPr txBox="1"/>
          <p:nvPr/>
        </p:nvSpPr>
        <p:spPr>
          <a:xfrm>
            <a:off x="548640"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1F2A44"/>
                </a:solidFill>
              </a:rPr>
              <a:t>Align</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Integration inventory signed</a:t>
            </a:r>
            <a:endParaRPr lang="en-US" sz="1400" dirty="0"/>
          </a:p>
        </p:txBody>
      </p:sp>
      <p:sp>
        <p:nvSpPr>
          <p:cNvPr id="7" name="Phase 1 badge"/>
          <p:cNvSpPr/>
          <p:nvPr/>
        </p:nvSpPr>
        <p:spPr>
          <a:xfrm>
            <a:off x="2564892" y="2011680"/>
            <a:ext cx="640080" cy="640080"/>
          </a:xfrm>
          <a:prstGeom prst="ellipse">
            <a:avLst/>
          </a:prstGeom>
          <a:solidFill>
            <a:srgbClr val="B45309"/>
          </a:solidFill>
          <a:ln w="25400">
            <a:solidFill>
              <a:srgbClr val="FFFFFF"/>
            </a:solidFill>
            <a:prstDash val="solid"/>
          </a:ln>
        </p:spPr>
      </p:sp>
      <p:sp>
        <p:nvSpPr>
          <p:cNvPr id="8" name="Phase 1 number"/>
          <p:cNvSpPr txBox="1"/>
          <p:nvPr/>
        </p:nvSpPr>
        <p:spPr>
          <a:xfrm>
            <a:off x="2564892"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Phase 1 text"/>
          <p:cNvSpPr txBox="1"/>
          <p:nvPr/>
        </p:nvSpPr>
        <p:spPr>
          <a:xfrm>
            <a:off x="2153412"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B45309"/>
                </a:solidFill>
              </a:rPr>
              <a:t>Authority and schema</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Authority map, identifier decision, data fixed at source</a:t>
            </a:r>
            <a:endParaRPr lang="en-US" sz="1400" dirty="0"/>
          </a:p>
        </p:txBody>
      </p:sp>
      <p:sp>
        <p:nvSpPr>
          <p:cNvPr id="10" name="Phase 2 badge"/>
          <p:cNvSpPr/>
          <p:nvPr/>
        </p:nvSpPr>
        <p:spPr>
          <a:xfrm>
            <a:off x="4169664" y="2011680"/>
            <a:ext cx="640080" cy="640080"/>
          </a:xfrm>
          <a:prstGeom prst="ellipse">
            <a:avLst/>
          </a:prstGeom>
          <a:solidFill>
            <a:srgbClr val="1F2A44"/>
          </a:solidFill>
          <a:ln w="25400">
            <a:solidFill>
              <a:srgbClr val="FFFFFF"/>
            </a:solidFill>
            <a:prstDash val="solid"/>
          </a:ln>
        </p:spPr>
      </p:sp>
      <p:sp>
        <p:nvSpPr>
          <p:cNvPr id="11" name="Phase 2 number"/>
          <p:cNvSpPr txBox="1"/>
          <p:nvPr/>
        </p:nvSpPr>
        <p:spPr>
          <a:xfrm>
            <a:off x="4169664"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Phase 2 text"/>
          <p:cNvSpPr txBox="1"/>
          <p:nvPr/>
        </p:nvSpPr>
        <p:spPr>
          <a:xfrm>
            <a:off x="3758184"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1F2A44"/>
                </a:solidFill>
              </a:rPr>
              <a:t>Build and test</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Joiner, mover, leaver end to end with evidence</a:t>
            </a:r>
            <a:endParaRPr lang="en-US" sz="1400" dirty="0"/>
          </a:p>
        </p:txBody>
      </p:sp>
      <p:sp>
        <p:nvSpPr>
          <p:cNvPr id="13" name="Phase 3 badge"/>
          <p:cNvSpPr/>
          <p:nvPr/>
        </p:nvSpPr>
        <p:spPr>
          <a:xfrm>
            <a:off x="5774436" y="2011680"/>
            <a:ext cx="640080" cy="640080"/>
          </a:xfrm>
          <a:prstGeom prst="ellipse">
            <a:avLst/>
          </a:prstGeom>
          <a:solidFill>
            <a:srgbClr val="1F2A44"/>
          </a:solidFill>
          <a:ln w="25400">
            <a:solidFill>
              <a:srgbClr val="FFFFFF"/>
            </a:solidFill>
            <a:prstDash val="solid"/>
          </a:ln>
        </p:spPr>
      </p:sp>
      <p:sp>
        <p:nvSpPr>
          <p:cNvPr id="14" name="Phase 3 number"/>
          <p:cNvSpPr txBox="1"/>
          <p:nvPr/>
        </p:nvSpPr>
        <p:spPr>
          <a:xfrm>
            <a:off x="5774436"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Phase 3 text"/>
          <p:cNvSpPr txBox="1"/>
          <p:nvPr/>
        </p:nvSpPr>
        <p:spPr>
          <a:xfrm>
            <a:off x="5362956"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1F2A44"/>
                </a:solidFill>
              </a:rPr>
              <a:t>Pilot in shadow mode</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Every difference explained before it acts</a:t>
            </a:r>
            <a:endParaRPr lang="en-US" sz="1400" dirty="0"/>
          </a:p>
        </p:txBody>
      </p:sp>
      <p:sp>
        <p:nvSpPr>
          <p:cNvPr id="16" name="Phase 4 badge"/>
          <p:cNvSpPr/>
          <p:nvPr/>
        </p:nvSpPr>
        <p:spPr>
          <a:xfrm>
            <a:off x="7379208" y="2011680"/>
            <a:ext cx="640080" cy="640080"/>
          </a:xfrm>
          <a:prstGeom prst="ellipse">
            <a:avLst/>
          </a:prstGeom>
          <a:solidFill>
            <a:srgbClr val="1F2A44"/>
          </a:solidFill>
          <a:ln w="25400">
            <a:solidFill>
              <a:srgbClr val="FFFFFF"/>
            </a:solidFill>
            <a:prstDash val="solid"/>
          </a:ln>
        </p:spPr>
      </p:sp>
      <p:sp>
        <p:nvSpPr>
          <p:cNvPr id="17" name="Phase 4 number"/>
          <p:cNvSpPr txBox="1"/>
          <p:nvPr/>
        </p:nvSpPr>
        <p:spPr>
          <a:xfrm>
            <a:off x="7379208"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Phase 4 text"/>
          <p:cNvSpPr txBox="1"/>
          <p:nvPr/>
        </p:nvSpPr>
        <p:spPr>
          <a:xfrm>
            <a:off x="6967728"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1F2A44"/>
                </a:solidFill>
              </a:rPr>
              <a:t>Automate lifecycle</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Leavers first; access derived by rule</a:t>
            </a:r>
            <a:endParaRPr lang="en-US" sz="1400" dirty="0"/>
          </a:p>
        </p:txBody>
      </p:sp>
      <p:sp>
        <p:nvSpPr>
          <p:cNvPr id="19" name="Phase 5 badge"/>
          <p:cNvSpPr/>
          <p:nvPr/>
        </p:nvSpPr>
        <p:spPr>
          <a:xfrm>
            <a:off x="8983980" y="2011680"/>
            <a:ext cx="640080" cy="640080"/>
          </a:xfrm>
          <a:prstGeom prst="ellipse">
            <a:avLst/>
          </a:prstGeom>
          <a:solidFill>
            <a:srgbClr val="0F766E"/>
          </a:solidFill>
          <a:ln w="25400">
            <a:solidFill>
              <a:srgbClr val="FFFFFF"/>
            </a:solidFill>
            <a:prstDash val="solid"/>
          </a:ln>
        </p:spPr>
      </p:sp>
      <p:sp>
        <p:nvSpPr>
          <p:cNvPr id="20" name="Phase 5 number"/>
          <p:cNvSpPr txBox="1"/>
          <p:nvPr/>
        </p:nvSpPr>
        <p:spPr>
          <a:xfrm>
            <a:off x="898398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1" name="Phase 5 text"/>
          <p:cNvSpPr txBox="1"/>
          <p:nvPr/>
        </p:nvSpPr>
        <p:spPr>
          <a:xfrm>
            <a:off x="8572500"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0F766E"/>
                </a:solidFill>
              </a:rPr>
              <a:t>Cut over to cloud</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Per population, as Core HCM goes live</a:t>
            </a:r>
            <a:endParaRPr lang="en-US" sz="1400" dirty="0"/>
          </a:p>
        </p:txBody>
      </p:sp>
      <p:sp>
        <p:nvSpPr>
          <p:cNvPr id="22" name="Phase 6 badge"/>
          <p:cNvSpPr/>
          <p:nvPr/>
        </p:nvSpPr>
        <p:spPr>
          <a:xfrm>
            <a:off x="10588752" y="2011680"/>
            <a:ext cx="640080" cy="640080"/>
          </a:xfrm>
          <a:prstGeom prst="ellipse">
            <a:avLst/>
          </a:prstGeom>
          <a:solidFill>
            <a:srgbClr val="1F2A44"/>
          </a:solidFill>
          <a:ln w="25400">
            <a:solidFill>
              <a:srgbClr val="FFFFFF"/>
            </a:solidFill>
            <a:prstDash val="solid"/>
          </a:ln>
        </p:spPr>
      </p:sp>
      <p:sp>
        <p:nvSpPr>
          <p:cNvPr id="23" name="Phase 6 number"/>
          <p:cNvSpPr txBox="1"/>
          <p:nvPr/>
        </p:nvSpPr>
        <p:spPr>
          <a:xfrm>
            <a:off x="10588752"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4" name="Phase 6 text"/>
          <p:cNvSpPr txBox="1"/>
          <p:nvPr/>
        </p:nvSpPr>
        <p:spPr>
          <a:xfrm>
            <a:off x="10177272" y="2880360"/>
            <a:ext cx="1463040" cy="1737360"/>
          </a:xfrm>
          <a:prstGeom prst="rect">
            <a:avLst/>
          </a:prstGeom>
          <a:noFill/>
          <a:ln/>
        </p:spPr>
        <p:txBody>
          <a:bodyPr wrap="square" lIns="0" tIns="0" rIns="0" bIns="0" rtlCol="0" anchor="t"/>
          <a:lstStyle/>
          <a:p>
            <a:pPr algn="ctr" indent="0" marL="0">
              <a:spcAft>
                <a:spcPts val="400"/>
              </a:spcAft>
              <a:buNone/>
            </a:pPr>
            <a:r>
              <a:rPr lang="en-US" sz="1500" b="1" dirty="0">
                <a:solidFill>
                  <a:srgbClr val="1F2A44"/>
                </a:solidFill>
              </a:rPr>
              <a:t>Sustain</a:t>
            </a:r>
            <a:endParaRPr lang="en-US" sz="1400" dirty="0"/>
          </a:p>
          <a:p>
            <a:pPr algn="ctr" indent="0" marL="0">
              <a:spcAft>
                <a:spcPts val="400"/>
              </a:spcAft>
              <a:buNone/>
            </a:pPr>
            <a:r>
              <a:rPr lang="en-US" sz="1300" b="1" dirty="0">
                <a:solidFill>
                  <a:srgbClr val="64748B"/>
                </a:solidFill>
              </a:rPr>
              <a:t>Gate: </a:t>
            </a:r>
            <a:pPr algn="ctr" indent="0" marL="0">
              <a:spcAft>
                <a:spcPts val="400"/>
              </a:spcAft>
              <a:buNone/>
            </a:pPr>
            <a:r>
              <a:rPr lang="en-US" sz="1300" dirty="0">
                <a:solidFill>
                  <a:schemeClr val="tx2"/>
                </a:solidFill>
              </a:rPr>
              <a:t>Metrics on the monitoring cadence</a:t>
            </a:r>
            <a:endParaRPr lang="en-US" sz="1400" dirty="0"/>
          </a:p>
        </p:txBody>
      </p:sp>
      <p:sp>
        <p:nvSpPr>
          <p:cNvPr id="25" name="Delivery note 1"/>
          <p:cNvSpPr/>
          <p:nvPr/>
        </p:nvSpPr>
        <p:spPr>
          <a:xfrm>
            <a:off x="548640" y="4846320"/>
            <a:ext cx="5440680" cy="1280160"/>
          </a:xfrm>
          <a:prstGeom prst="roundRect">
            <a:avLst>
              <a:gd name="adj" fmla="val 5714"/>
            </a:avLst>
          </a:prstGeom>
          <a:solidFill>
            <a:srgbClr val="FDF3E7"/>
          </a:solidFill>
          <a:ln w="12700">
            <a:solidFill>
              <a:srgbClr val="FDF3E7"/>
            </a:solidFill>
            <a:prstDash val="solid"/>
          </a:ln>
        </p:spPr>
      </p:sp>
      <p:sp>
        <p:nvSpPr>
          <p:cNvPr id="26" name="Delivery note 1 text"/>
          <p:cNvSpPr txBox="1"/>
          <p:nvPr/>
        </p:nvSpPr>
        <p:spPr>
          <a:xfrm>
            <a:off x="822960" y="4956048"/>
            <a:ext cx="4937760" cy="1051560"/>
          </a:xfrm>
          <a:prstGeom prst="rect">
            <a:avLst/>
          </a:prstGeom>
          <a:noFill/>
          <a:ln/>
        </p:spPr>
        <p:txBody>
          <a:bodyPr wrap="square" lIns="0" tIns="0" rIns="0" bIns="0" rtlCol="0" anchor="ctr"/>
          <a:lstStyle/>
          <a:p>
            <a:pPr indent="0" marL="0">
              <a:buNone/>
            </a:pPr>
            <a:r>
              <a:rPr lang="en-US" sz="1500" b="1" dirty="0">
                <a:solidFill>
                  <a:srgbClr val="B45309"/>
                </a:solidFill>
              </a:rPr>
              <a:t>Phases 1 and 2 are invisible to users. </a:t>
            </a:r>
            <a:pPr indent="0" marL="0">
              <a:buNone/>
            </a:pPr>
            <a:r>
              <a:rPr lang="en-US" sz="1500" dirty="0">
                <a:solidFill>
                  <a:schemeClr val="tx2"/>
                </a:solidFill>
              </a:rPr>
              <a:t>That is why programs skip them — and then automate against data nobody agreed to trust.</a:t>
            </a:r>
            <a:endParaRPr lang="en-US" sz="1500" dirty="0"/>
          </a:p>
        </p:txBody>
      </p:sp>
      <p:sp>
        <p:nvSpPr>
          <p:cNvPr id="27" name="Delivery note 2"/>
          <p:cNvSpPr/>
          <p:nvPr/>
        </p:nvSpPr>
        <p:spPr>
          <a:xfrm>
            <a:off x="6217920" y="4846320"/>
            <a:ext cx="5440680" cy="1280160"/>
          </a:xfrm>
          <a:prstGeom prst="roundRect">
            <a:avLst>
              <a:gd name="adj" fmla="val 5714"/>
            </a:avLst>
          </a:prstGeom>
          <a:solidFill>
            <a:srgbClr val="E6F2F1"/>
          </a:solidFill>
          <a:ln w="12700">
            <a:solidFill>
              <a:srgbClr val="E6F2F1"/>
            </a:solidFill>
            <a:prstDash val="solid"/>
          </a:ln>
        </p:spPr>
      </p:sp>
      <p:sp>
        <p:nvSpPr>
          <p:cNvPr id="28" name="Delivery note 2 text"/>
          <p:cNvSpPr txBox="1"/>
          <p:nvPr/>
        </p:nvSpPr>
        <p:spPr>
          <a:xfrm>
            <a:off x="6492240" y="4956048"/>
            <a:ext cx="4937760" cy="1051560"/>
          </a:xfrm>
          <a:prstGeom prst="rect">
            <a:avLst/>
          </a:prstGeom>
          <a:noFill/>
          <a:ln/>
        </p:spPr>
        <p:txBody>
          <a:bodyPr wrap="square" lIns="0" tIns="0" rIns="0" bIns="0" rtlCol="0" anchor="ctr"/>
          <a:lstStyle/>
          <a:p>
            <a:pPr indent="0" marL="0">
              <a:buNone/>
            </a:pPr>
            <a:r>
              <a:rPr lang="en-US" sz="1500" b="1" dirty="0">
                <a:solidFill>
                  <a:srgbClr val="0F766E"/>
                </a:solidFill>
              </a:rPr>
              <a:t>Gates are proposed, then risk-approved. </a:t>
            </a:r>
            <a:pPr indent="0" marL="0">
              <a:buNone/>
            </a:pPr>
            <a:r>
              <a:rPr lang="en-US" sz="1500" dirty="0">
                <a:solidFill>
                  <a:schemeClr val="tx2"/>
                </a:solidFill>
              </a:rPr>
              <a:t>Thresholds are set by agency governance and tiered by population risk.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I bring to Data Strategy and Enablement</a:t>
            </a:r>
            <a:endParaRPr lang="en-US" sz="3000" dirty="0"/>
          </a:p>
        </p:txBody>
      </p:sp>
      <p:sp>
        <p:nvSpPr>
          <p:cNvPr id="3" name="Strength 1"/>
          <p:cNvSpPr/>
          <p:nvPr/>
        </p:nvSpPr>
        <p:spPr>
          <a:xfrm>
            <a:off x="548640" y="1417320"/>
            <a:ext cx="3611880" cy="1691640"/>
          </a:xfrm>
          <a:prstGeom prst="roundRect">
            <a:avLst>
              <a:gd name="adj" fmla="val 4324"/>
            </a:avLst>
          </a:prstGeom>
          <a:solidFill>
            <a:srgbClr val="EEF1F7"/>
          </a:solidFill>
          <a:ln w="12700">
            <a:solidFill>
              <a:srgbClr val="EEF1F7"/>
            </a:solidFill>
            <a:prstDash val="solid"/>
          </a:ln>
        </p:spPr>
      </p:sp>
      <p:sp>
        <p:nvSpPr>
          <p:cNvPr id="4" name="Strength 1 text"/>
          <p:cNvSpPr txBox="1"/>
          <p:nvPr/>
        </p:nvSpPr>
        <p:spPr>
          <a:xfrm>
            <a:off x="777240" y="160020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1F2A44"/>
                </a:solidFill>
              </a:rPr>
              <a:t>Enterprise data models</a:t>
            </a:r>
            <a:endParaRPr lang="en-US" sz="1400" dirty="0"/>
          </a:p>
          <a:p>
            <a:pPr indent="0" marL="0">
              <a:spcAft>
                <a:spcPts val="600"/>
              </a:spcAft>
              <a:buNone/>
            </a:pPr>
            <a:r>
              <a:rPr lang="en-US" sz="1400" dirty="0">
                <a:solidFill>
                  <a:schemeClr val="tx2"/>
                </a:solidFill>
              </a:rPr>
              <a:t>Logical and physical models with a governed crosswalk, not connector-by-connector mappings</a:t>
            </a:r>
            <a:endParaRPr lang="en-US" sz="1400" dirty="0"/>
          </a:p>
        </p:txBody>
      </p:sp>
      <p:sp>
        <p:nvSpPr>
          <p:cNvPr id="5" name="Strength 2"/>
          <p:cNvSpPr/>
          <p:nvPr/>
        </p:nvSpPr>
        <p:spPr>
          <a:xfrm>
            <a:off x="4297680" y="1417320"/>
            <a:ext cx="3611880" cy="1691640"/>
          </a:xfrm>
          <a:prstGeom prst="roundRect">
            <a:avLst>
              <a:gd name="adj" fmla="val 4324"/>
            </a:avLst>
          </a:prstGeom>
          <a:solidFill>
            <a:srgbClr val="E6F2F1"/>
          </a:solidFill>
          <a:ln w="12700">
            <a:solidFill>
              <a:srgbClr val="E6F2F1"/>
            </a:solidFill>
            <a:prstDash val="solid"/>
          </a:ln>
        </p:spPr>
      </p:sp>
      <p:sp>
        <p:nvSpPr>
          <p:cNvPr id="6" name="Strength 2 text"/>
          <p:cNvSpPr txBox="1"/>
          <p:nvPr/>
        </p:nvSpPr>
        <p:spPr>
          <a:xfrm>
            <a:off x="4526280" y="160020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rPr>
              <a:t>Data governance</a:t>
            </a:r>
            <a:endParaRPr lang="en-US" sz="1400" dirty="0"/>
          </a:p>
          <a:p>
            <a:pPr indent="0" marL="0">
              <a:spcAft>
                <a:spcPts val="600"/>
              </a:spcAft>
              <a:buNone/>
            </a:pPr>
            <a:r>
              <a:rPr lang="en-US" sz="1400" dirty="0">
                <a:solidFill>
                  <a:schemeClr val="tx2"/>
                </a:solidFill>
              </a:rPr>
              <a:t>Authority maps, owners, definitions, controlled values and correction paths</a:t>
            </a:r>
            <a:endParaRPr lang="en-US" sz="1400" dirty="0"/>
          </a:p>
        </p:txBody>
      </p:sp>
      <p:sp>
        <p:nvSpPr>
          <p:cNvPr id="7" name="Strength 3"/>
          <p:cNvSpPr/>
          <p:nvPr/>
        </p:nvSpPr>
        <p:spPr>
          <a:xfrm>
            <a:off x="8046720" y="1417320"/>
            <a:ext cx="3611880" cy="1691640"/>
          </a:xfrm>
          <a:prstGeom prst="roundRect">
            <a:avLst>
              <a:gd name="adj" fmla="val 4324"/>
            </a:avLst>
          </a:prstGeom>
          <a:solidFill>
            <a:srgbClr val="EEF1F7"/>
          </a:solidFill>
          <a:ln w="12700">
            <a:solidFill>
              <a:srgbClr val="EEF1F7"/>
            </a:solidFill>
            <a:prstDash val="solid"/>
          </a:ln>
        </p:spPr>
      </p:sp>
      <p:sp>
        <p:nvSpPr>
          <p:cNvPr id="8" name="Strength 3 text"/>
          <p:cNvSpPr txBox="1"/>
          <p:nvPr/>
        </p:nvSpPr>
        <p:spPr>
          <a:xfrm>
            <a:off x="8275320" y="160020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1F2A44"/>
                </a:solidFill>
              </a:rPr>
              <a:t>Metadata and lineage</a:t>
            </a:r>
            <a:endParaRPr lang="en-US" sz="1400" dirty="0"/>
          </a:p>
          <a:p>
            <a:pPr indent="0" marL="0">
              <a:spcAft>
                <a:spcPts val="600"/>
              </a:spcAft>
              <a:buNone/>
            </a:pPr>
            <a:r>
              <a:rPr lang="en-US" sz="1400" dirty="0">
                <a:solidFill>
                  <a:schemeClr val="tx2"/>
                </a:solidFill>
              </a:rPr>
              <a:t>Provenance designed in at the source, so lineage is emitted rather than reconstructed</a:t>
            </a:r>
            <a:endParaRPr lang="en-US" sz="1400" dirty="0"/>
          </a:p>
        </p:txBody>
      </p:sp>
      <p:sp>
        <p:nvSpPr>
          <p:cNvPr id="9" name="Strength 4"/>
          <p:cNvSpPr/>
          <p:nvPr/>
        </p:nvSpPr>
        <p:spPr>
          <a:xfrm>
            <a:off x="548640" y="3291840"/>
            <a:ext cx="3611880" cy="1691640"/>
          </a:xfrm>
          <a:prstGeom prst="roundRect">
            <a:avLst>
              <a:gd name="adj" fmla="val 4324"/>
            </a:avLst>
          </a:prstGeom>
          <a:solidFill>
            <a:srgbClr val="E6F2F1"/>
          </a:solidFill>
          <a:ln w="12700">
            <a:solidFill>
              <a:srgbClr val="E6F2F1"/>
            </a:solidFill>
            <a:prstDash val="solid"/>
          </a:ln>
        </p:spPr>
      </p:sp>
      <p:sp>
        <p:nvSpPr>
          <p:cNvPr id="10" name="Strength 4 text"/>
          <p:cNvSpPr txBox="1"/>
          <p:nvPr/>
        </p:nvSpPr>
        <p:spPr>
          <a:xfrm>
            <a:off x="777240" y="347472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rPr>
              <a:t>Data quality</a:t>
            </a:r>
            <a:endParaRPr lang="en-US" sz="1400" dirty="0"/>
          </a:p>
          <a:p>
            <a:pPr indent="0" marL="0">
              <a:spcAft>
                <a:spcPts val="600"/>
              </a:spcAft>
              <a:buNone/>
            </a:pPr>
            <a:r>
              <a:rPr lang="en-US" sz="1400" dirty="0">
                <a:solidFill>
                  <a:schemeClr val="tx2"/>
                </a:solidFill>
              </a:rPr>
              <a:t>Drift classes, detection signals and metrics on the monitoring cadence</a:t>
            </a:r>
            <a:endParaRPr lang="en-US" sz="1400" dirty="0"/>
          </a:p>
        </p:txBody>
      </p:sp>
      <p:sp>
        <p:nvSpPr>
          <p:cNvPr id="11" name="Strength 5"/>
          <p:cNvSpPr/>
          <p:nvPr/>
        </p:nvSpPr>
        <p:spPr>
          <a:xfrm>
            <a:off x="4297680" y="3291840"/>
            <a:ext cx="3611880" cy="1691640"/>
          </a:xfrm>
          <a:prstGeom prst="roundRect">
            <a:avLst>
              <a:gd name="adj" fmla="val 4324"/>
            </a:avLst>
          </a:prstGeom>
          <a:solidFill>
            <a:srgbClr val="EEF1F7"/>
          </a:solidFill>
          <a:ln w="12700">
            <a:solidFill>
              <a:srgbClr val="EEF1F7"/>
            </a:solidFill>
            <a:prstDash val="solid"/>
          </a:ln>
        </p:spPr>
      </p:sp>
      <p:sp>
        <p:nvSpPr>
          <p:cNvPr id="12" name="Strength 5 text"/>
          <p:cNvSpPr txBox="1"/>
          <p:nvPr/>
        </p:nvSpPr>
        <p:spPr>
          <a:xfrm>
            <a:off x="4526280" y="347472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1F2A44"/>
                </a:solidFill>
              </a:rPr>
              <a:t>Architecture review</a:t>
            </a:r>
            <a:endParaRPr lang="en-US" sz="1400" dirty="0"/>
          </a:p>
          <a:p>
            <a:pPr indent="0" marL="0">
              <a:spcAft>
                <a:spcPts val="600"/>
              </a:spcAft>
              <a:buNone/>
            </a:pPr>
            <a:r>
              <a:rPr lang="en-US" sz="1400" dirty="0">
                <a:solidFill>
                  <a:schemeClr val="tx2"/>
                </a:solidFill>
              </a:rPr>
              <a:t>Source-independent designs that survive platform changes like Core HCM</a:t>
            </a:r>
            <a:endParaRPr lang="en-US" sz="1400" dirty="0"/>
          </a:p>
        </p:txBody>
      </p:sp>
      <p:sp>
        <p:nvSpPr>
          <p:cNvPr id="13" name="Strength 6"/>
          <p:cNvSpPr/>
          <p:nvPr/>
        </p:nvSpPr>
        <p:spPr>
          <a:xfrm>
            <a:off x="8046720" y="3291840"/>
            <a:ext cx="3611880" cy="1691640"/>
          </a:xfrm>
          <a:prstGeom prst="roundRect">
            <a:avLst>
              <a:gd name="adj" fmla="val 4324"/>
            </a:avLst>
          </a:prstGeom>
          <a:solidFill>
            <a:srgbClr val="E6F2F1"/>
          </a:solidFill>
          <a:ln w="12700">
            <a:solidFill>
              <a:srgbClr val="E6F2F1"/>
            </a:solidFill>
            <a:prstDash val="solid"/>
          </a:ln>
        </p:spPr>
      </p:sp>
      <p:sp>
        <p:nvSpPr>
          <p:cNvPr id="14" name="Strength 6 text"/>
          <p:cNvSpPr txBox="1"/>
          <p:nvPr/>
        </p:nvSpPr>
        <p:spPr>
          <a:xfrm>
            <a:off x="8275320" y="3474720"/>
            <a:ext cx="3200400" cy="137160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rPr>
              <a:t>Clear communication</a:t>
            </a:r>
            <a:endParaRPr lang="en-US" sz="1400" dirty="0"/>
          </a:p>
          <a:p>
            <a:pPr indent="0" marL="0">
              <a:spcAft>
                <a:spcPts val="600"/>
              </a:spcAft>
              <a:buNone/>
            </a:pPr>
            <a:r>
              <a:rPr lang="en-US" sz="1400" dirty="0">
                <a:solidFill>
                  <a:schemeClr val="tx2"/>
                </a:solidFill>
              </a:rPr>
              <a:t>A published modernization workbook written for program teams and leadership</a:t>
            </a:r>
            <a:endParaRPr lang="en-US" sz="1400" dirty="0"/>
          </a:p>
        </p:txBody>
      </p:sp>
      <p:sp>
        <p:nvSpPr>
          <p:cNvPr id="15" name="First 90 days"/>
          <p:cNvSpPr/>
          <p:nvPr/>
        </p:nvSpPr>
        <p:spPr>
          <a:xfrm>
            <a:off x="548640" y="5257800"/>
            <a:ext cx="11109960" cy="868680"/>
          </a:xfrm>
          <a:prstGeom prst="roundRect">
            <a:avLst>
              <a:gd name="adj" fmla="val 8421"/>
            </a:avLst>
          </a:prstGeom>
          <a:solidFill>
            <a:srgbClr val="FFFFFF"/>
          </a:solidFill>
          <a:ln w="12700">
            <a:solidFill>
              <a:srgbClr val="B45309"/>
            </a:solidFill>
            <a:prstDash val="solid"/>
          </a:ln>
        </p:spPr>
      </p:sp>
      <p:sp>
        <p:nvSpPr>
          <p:cNvPr id="16" name="First 90 days text"/>
          <p:cNvSpPr txBox="1"/>
          <p:nvPr/>
        </p:nvSpPr>
        <p:spPr>
          <a:xfrm>
            <a:off x="822960" y="5321808"/>
            <a:ext cx="10607040" cy="731520"/>
          </a:xfrm>
          <a:prstGeom prst="rect">
            <a:avLst/>
          </a:prstGeom>
          <a:noFill/>
          <a:ln/>
        </p:spPr>
        <p:txBody>
          <a:bodyPr wrap="square" lIns="0" tIns="0" rIns="0" bIns="0" rtlCol="0" anchor="ctr"/>
          <a:lstStyle/>
          <a:p>
            <a:pPr indent="0" marL="0">
              <a:buNone/>
            </a:pPr>
            <a:r>
              <a:rPr lang="en-US" sz="1700" b="1" dirty="0">
                <a:solidFill>
                  <a:srgbClr val="B45309"/>
                </a:solidFill>
              </a:rPr>
              <a:t>First 90 days:  </a:t>
            </a:r>
            <a:pPr indent="0" marL="0">
              <a:buNone/>
            </a:pPr>
            <a:r>
              <a:rPr lang="en-US" sz="1700" dirty="0">
                <a:solidFill>
                  <a:schemeClr val="tx2"/>
                </a:solidFill>
              </a:rPr>
              <a:t>inventory authoritative sources  ·  publish the authority map  ·  stand up one measured pilot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Digital Identity Data">
  <a:themeElements>
    <a:clrScheme name="Digital Identity Data">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Digital Identity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Identity as a Data Problem</dc:title>
  <dc:subject>PptxGenJS Presentation</dc:subject>
  <dc:creator>Mike Stratton</dc:creator>
  <cp:lastModifiedBy>Mike Stratton</cp:lastModifiedBy>
  <cp:revision>1</cp:revision>
  <dcterms:created xsi:type="dcterms:W3CDTF">2026-10-19T18:26:41Z</dcterms:created>
  <dcterms:modified xsi:type="dcterms:W3CDTF">2026-10-19T18:26:41Z</dcterms:modified>
</cp:coreProperties>
</file>