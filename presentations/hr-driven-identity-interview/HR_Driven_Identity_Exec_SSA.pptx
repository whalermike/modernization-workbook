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decision" id="{463ead17-d28b-3d2c-2baa-425e1eb8c5a8}">
          <p14:sldIdLst>
            <p14:sldId id="256"/>
            <p14:sldId id="257"/>
            <p14:sldId id="258"/>
            <p14:sldId id="259"/>
          </p14:sldIdLst>
        </p14:section>
        <p14:section name="Making it real" id="{4ec0eb88-6dab-6d55-9b84-7f87094f8288}">
          <p14:sldIdLst>
            <p14:sldId id="260"/>
            <p14:sldId id="261"/>
            <p14:sldId id="262"/>
          </p14:sldIdLst>
        </p14:section>
        <p14:section name="Backup" id="{bfa4e24b-c96e-f08b-7be4-ad82fd670c21}">
          <p14:sldIdLst>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Good morning, and thank you.
I have one proposal, and I'll take it through four questions, the way I'd take it to leadership: why it matters, what we should do, who has to be involved, and how we'd carry it out and know it's working.
Workbook: HR-Driven Identity, Chapter 00 — Overview and Applicability.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[0:20–2:30]  Why. Today, nothing connects HR to identity at SSA. Accounts, access and credentials are created and removed by ticket, and that costs us three ways.
Access outlives the job: when someone leaves or changes roles, removal waits for a ticket, and a stale account is a security violation that can enable a breach of the public's records. This isn't hypothetical. Last month OIG's Insider Threat audit sampled people who separated over a year and found deficiencies in disabling their access and revoking their credentials. And when a PIV card can't be collected, the federal standard is to terminate it within eighteen hours. Records we can't trust: I've lived this at DITM. The phone book was wrong until someone filed a ticket, and every time I changed managers, my organization, my manager and my access to tools like SAM were updated by hand. Approvals route through that same data. And cost and delay: every joiner, mover and leaver is help-desk work.
But the bigger why is where the mission is heading. One idea that's been discussed is a shared call center: one front door for SSA and IRS customers. The hard part of an idea like that isn't the phones — SSA's phones already run on a cloud contact center, Amazon Connect, since 2024. It's the back end. Who is this agent? Which agency's records may they see? And does their access end the day they leave, in both agencies? Today each agency answers those questions by hand, and differently. A standardized, HR-driven identity answers them by rule, the same way everywhere.
And if we do nothing, HR moves to Core HCM, identity moves to Entra ID, and we rebuild the same manual process twice, on new platforms.
Workbook: HR-Driven Identity, Chapter 01 — Why the agency needs HR-driven ICAM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[2:30–5:30]  What should we do? There are four realistic options, and I've weighed each against what leadership actually has to balance: the mission and the public we serve, security, cost and resilience. Compliance matters, but on its own it isn't a reason to invest.
Option A is to keep ticket-driven identity. It needs no new investment, but the risk and the recurring manual work stay exactly where they are. That's the cost of doing nothing.
Option B is to automate inside the directories, with scripts and exports. It's quick and cheap, but it automates a source that isn't authoritative, so it spreads bad data faster, and it has to be rebuilt when HR changes platforms.
Option C is to wait for HR 2.0 and integrate afterward. That's defensible: it's less work this year. But the interconnection decisions are made during onboarding, about five months in. Waiting means retrofitting after go-live, and the Entra ID migration carries the tickets forward in the meantime.
Option D is to start now: make HR the source of truth, expressed in OPM's standard personnel data, and design it into both the HR onboarding and the Entra ID migration. It costs design effort up front and needs shared governance, which is why it scores only partial on cost.
The judgment call: if HR 2.0 slipped a long way, C becomes reasonable. But D's first step — data standards, ownership and the person key — is no-regret either way, and it can start today from the HR operational data store SSA already runs, with the source switched to Core HCM when it arrives.
Workbook: HR-Driven Identity, Chapter 00 — Why now; Why together; Chapter 02 —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[5:30–8:00]  My recommendation is option D, phased, starting with the no-regret steps. Four reasons.
Mission and the public: access to the public's records should end when a person's role ends, automatically, the same day; the people who serve the public should have the right access on day one; and shared services like the call center become possible, because every agency describes its people the same way.
Cost: we build it once, while both platforms are being rebuilt anyway, and retire ticket work for routine joiners, movers and leavers.
Security: modern access, Zero Trust, is decided by attributes: organization, position, status, supervisor. So the accuracy of HR data becomes the accuracy of access. The federal mandates point the same way, but they're the floor, not the reason. And it builds on real progress: this year's FISMA audit moved identity and access management up to Level 4, and its open recommendation is to keep improving user-account oversight. This is how.
Resilience: by building on OPM's standard data rather than one vendor's fields, and on a person key we control — the Mainframe PIN, which is already our person ID and employee ID — the design survives the next platform change.
Two honest limits. HR 2.0 covers federal employees only, so contractors need their own source: Core HCM's contingent worker record, or PIV sponsorship. And we should build only what HR is authoritative for.
The upside: every agency is moving to the same HR platform on the same standards, so one identity standard can serve them all, and the services they share.
Workbook: HR-Driven Identity, Chapter 01 — Why the agency needs HR-driven ICAM now; Chapter 03 — Attribute Authority; Chapter 05 — Contractors and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[8:00–10:00]  Who has to be involved. This is an organizational change as much as a technical one, so it matters who owns what.
HR owns the personnel data and its quality, at the source. When the data is wrong, it gets fixed in HR, not patched in the directory. And the OPM HR 2.0 program owns the platform, the standards and the interconnection.
The CIO's identity team uses that data to run Entra ID, Active Directory and access. Security sets the Zero Trust policy and owns the leaver path. And the help desk moves from routine tickets to handling the exceptions.
Then the guards and partners. The privacy office is in from the start, because using HR data for identity is a disclosure that needs a routine use and minimization. Contractor sponsors and the PIV office are the source for people HR doesn't cover. And partner agencies, like IRS for a shared call center, need the same standard if we're going to share services.
My role, as an enterprise data architect, is to own the standards, the crosswalk and the person key; to make sure every attribute has one accountable owner; and to carry the standard to the interagency committees and working groups where it gets adopted. It also contributes to a FY2026 FISMA finding: SSA lacks a comprehensive inventory of its data and metadata, and the person model and its attributes are a governed piece of that inventory.
Workbook: HR-Driven Identity, Chapter 03 — Attribute Authority; Appendix B — Security and Privacy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[10:00–13:00]  How we'd carry it out.
Data — this is where data architecture earns its keep. One governed crosswalk maps OPM's standard data elements into a canonical person model, keyed on the Mainframe PIN, so a person stays the same person across rehire, conversion and reorganization, and when HR changes platforms only the source key changes. Personnel actions then drive the identity events — joiner, mover, leaver — by code, not by ticket. Contractors come from their own source into the same model.
Security. The leaver path blocks access first, within hours, and cleans up afterward. The integration runs with least privilege and no stored secrets. And anything that fails goes to a quarantine with an owner; nothing resolves itself silently.
Operations. We start now, from the HR Operational Data Store SSA already runs, and switch the source to Core HCM when it arrives. We run in shadow mode first, comparing what HR says with what the directories hold, and fixing the gaps. We cut over one population at a time. And we close the ticket path for a population only when the data proves HR is the sole source.
The technology is the example, not the point. Here it's Oracle Core HCM feeding Microsoft's HR-driven provisioning into Entra ID and Active Directory, with access packages, lifecycle workflows and PIV downstream. If the vendors change, the design holds.
Workbook: HR-Driven Identity, Chapter 04 — Logical architecture and Microsoft realization; Chapter 05 — The standard-attribute layer; Chapter 07 — The canonical leaver sequence; Chapter 10 — Execution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[13:00–15:00]  How we'll know it's working, and what I'd need.
Five measures, each baselined in the first phase, and each one a business measure leadership can read: time from separation to blocked access, in hours, well inside the eighteen-hour federal standard for terminating a PIV card; accounts tied to a person, with orphaned accounts trending to zero; joiner and mover tickets going down, with access ready on day one; the manager and organization in the directory matching HR; and every exception with an owner and an age. As a byproduct, the same data is evidence for the controls auditors ask about.
What I'd need from leadership is one decision: start HR-driven identity now, as a design requirement of the HR 2.0 onboarding and the Entra ID migration. And to act on it: a sponsor across HR, the CIO's identity team and privacy; identity named as a consumer in the HR 2.0 interconnection plan; data owners designated, and the Mainframe PIN confirmed as the enterprise person key; and a small team for the pre-onboarding data work.
Thank you. I look forward to your questions.
Workbook: HR-Driven Identity, Chapter 09 — Drift, Metrics and Evidence; Chapter 10 — Execution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slides that follow are the detailed case, for questions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Sources for the executive slides. Audit details beyond these summaries are withheld by OIG as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thesis in one slide.
On the left, two migrations that happen regardless: HR moves to Core HCM, and identity moves from Active Directory toward Entra ID. Meanwhile nothing connects HR to identity today — accounts come from tickets.
In the middle, what OPM leaves to us. OPM fixes the HR side; how SSA's directories and ICAM consume that data is SSA's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Why we need HR-driven ICAM at all — and why now.
Zero Trust is federal strategy — OMB M-22-09, with NIST SP 800-207 as the architecture and CISA's maturity model as the yardstick. SASE is how it's delivered: security enforced at a cloud edge close to the user, which TIC 3.0 opens up for agencies, instead of at our network perimeter. And SASE's decisions are driven by ICAM: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is decided by attributes, the accuracy of employee data is the accuracy of access.
Workbook: HR-Driven Identity, Chapter 01 — Why the agency needs HR-driven ICAM now; Chapter 08 — The derivation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Why this matters to me personally: I've lived the impact of manually provisioned ICAM at the agency.
At DITM I watched the agency phone book come out of Active Directory — and nothing fed Active Directory from HR. Titles, offices, phone numbers and managers stayed wrong until someone noticed and filed a ticket.
And every time I've changed management, my organization, my manager, and my access to tools like SAM had to be updated by hand, after the fact, by ticket.
HR already knew all of it. With HR-driven IT, the personnel action that records the reassignment updates my organization and manager in Entra ID and Active Directory, and the phone book, the approval chain and SAM access follow from the authoritative source — instead of each of us, and the help desk, keeping them current by hand.
Workbook: HR-Driven Identity, Chapter 01 — What HR-driven provisioning means; Chapter 08 — Access packages and access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window.
The December 10, 2025 OMB/OPM memo directs one government-wide Core HCM platform. Oracle Fusion Cloud HCM was awarded June 11, 2026. First go-lives are January to March 2027. SSA is in Wave 2, scheduled for the second half of 2027 — so we aren't on the platform yet, and that's the point: about eight months of onboarding, with interconnections live around month five, lie ahead of us.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SSA's current Wave 2 onboarding dates before presenting.)
Workbook: HR-Driven Identity, Chapter 02 — The program facts;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defines these elements and their codes the same way for every agency. We map them to Entra ID and AD once, for every employee population — and if the HR vendor ever changes, the mapping still holds.
One honest limit: HRIT covers federal employees only. Contractors and vendors live in COR spreadsheets today. My best bet is Core HCM's Contingent Worker type — a person record, an assignment and a lifecycle much like an employee's, though it has no vendor-management layer. The alternative is to source them from PIV sponsorship. That's a decision to put in front of the program early.
(Confirm element names against OPM's current data standards.)
Workbook: HR-Driven Identity, Chapter 05 — The standard-attribute layer; Contractors and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Personnel actions drive the lifecycle.
For federal employees, every personnel action carries a nature-of-action code, and the families map cleanly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Workbook: HR-Driven Identity, Chapter 06 — Personnel actions are the triggers; Appendix A — Lifecycle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SSA already has its enterprise person key: the Mainframe PIN, which today is our person ID and employee ID. So the decision is to confirm the Mainframe PIN as the enterprise key and map Core HCM's PersonNumber to it — then when SSA moves to Core HCM, only the source key changes, and nothing downstream has to.
Workbook: HR-Driven Identity, Chapter 03 — One person, layered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Logical and physical modeling, following the data from HR to ICAM.
In the middle is the logical model: a person keyed by the Mainframe PIN — carried in employee ID in both directories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privileged eligibility by position, through PIM, never standing;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Privacy — which is where a data architect earns trust with HR.
Moving HR attributes into a directory is a disclosure of personnel records. So: confirm the routine-use basis under the governing system-of-records notices — OPM/GOVT-1 for general personnel records, plus SSA's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SSA's privacy office.)
Workbook: HR-Driven Identity, Chapter 03 — Privacy: identity is a routine-use consumer; Appendix B — Security and Privacy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governance I'd bring to deliver it safely.
The data foundation first: an authority map with one owner per attribute, and an enterprise person key SSA controls. A security assessment of the data flow. An acceptance gate with a signed validation before cutover. And a cutover that proves HR is the sole source for a population before the ticket path closes for it.
Then the operating rules on the bottom row, from lifecycle rules through change control.
Together that produces evidence for AC-2, PS-4, PS-5, IA-4 and SI-12 as a byproduct of operating — supporting those controls, not claiming to close them on its own.
Workbook: HR-Driven Identity, Chapter 09 — Drift, Metrics and Evidence; Chapter 10 — Execution Plan; Appendices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One standard, shared across agencies.
Every agency is moving to the same Core HCM on the same OPM data standards. If SSA defines HR-driven ICAM as a standard — crosswalk, canonical model, identifiers and evidence — other agencies can reuse it instead of building their own. And attributes that mean the same thing everywhere make details, transfers, shared services and cross-agency access easier.
That's the work this position describes: working the issues with other agencies and industry, developing options and predicting their impact, and serving as the data expert on interagency committees and working groups. The goal: present this model to our fellow agencies, and adopt it together.
Workbook: HR-Driven Identity, Chapter 02 — Federal HR 2.0; Chapter 05 — The standard-attribute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roadmap and the ask.
Now: align with SSA's HR 2.0 team so identity is a named consumer of the interconnection. Before onboarding: the crosswalk, authority map, contractor source and privacy basis. Then build and prove in shadow mode, cut each population over as it moves to Entra ID, and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for the agency over the last several years: the AD to Entra ID migration, next-generation DNS and IP address management, field office WAN and data-center consolidation, the TIC 3.0 branch edge,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Workbook: HR-Driven Identity, the same site's Whitepapers, Next-Generation DDI, Client-Server to Hybrid Cloud and Operational Guides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HR-Driven Identity  ·  Mike Stratton  ·  SSA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3.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3.xml"/><Relationship Id="rId10"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lIns="0" tIns="0" rIns="0" bIns="0" rtlCol="0" anchor="t"/>
          <a:lstStyle/>
          <a:p>
            <a:pPr indent="0" marL="0">
              <a:buNone/>
            </a:pPr>
            <a:r>
              <a:rPr lang="en-US" sz="2200" dirty="0">
                <a:solidFill>
                  <a:schemeClr val="accent2"/>
                </a:solidFill>
              </a:rPr>
              <a:t>Making HR the source of truth for who gets access</a:t>
            </a:r>
            <a:endParaRPr lang="en-US" sz="2200" dirty="0"/>
          </a:p>
        </p:txBody>
      </p:sp>
      <p:sp>
        <p:nvSpPr>
          <p:cNvPr id="4" name="Agenda line"/>
          <p:cNvSpPr txBox="1"/>
          <p:nvPr/>
        </p:nvSpPr>
        <p:spPr>
          <a:xfrm>
            <a:off x="731520" y="40690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Mike Stratton</a:t>
            </a:r>
            <a:endParaRPr lang="en-US" sz="1600" dirty="0"/>
          </a:p>
          <a:p>
            <a:pPr indent="0" marL="0">
              <a:buNone/>
            </a:pPr>
            <a:r>
              <a:rPr lang="en-US" sz="1600" dirty="0">
                <a:solidFill>
                  <a:srgbClr val="64748B"/>
                </a:solidFill>
              </a:rPr>
              <a:t>Digital Identity line of business  ·  GS-14 Enterprise Data Architect  ·  Data Strategy and Enablement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Identity is built by hand — and the mission is outgrowing it</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oday head"/>
          <p:cNvSpPr txBox="1"/>
          <p:nvPr/>
        </p:nvSpPr>
        <p:spPr>
          <a:xfrm>
            <a:off x="548640" y="1280160"/>
            <a:ext cx="5852160" cy="320040"/>
          </a:xfrm>
          <a:prstGeom prst="rect">
            <a:avLst/>
          </a:prstGeom>
          <a:noFill/>
          <a:ln/>
        </p:spPr>
        <p:txBody>
          <a:bodyPr wrap="square" lIns="0" tIns="0" rIns="0" bIns="0" rtlCol="0" anchor="t"/>
          <a:lstStyle/>
          <a:p>
            <a:pPr indent="0" marL="0">
              <a:buNone/>
            </a:pPr>
            <a:r>
              <a:rPr lang="en-US" sz="1200" b="1" dirty="0">
                <a:solidFill>
                  <a:srgbClr val="64748B"/>
                </a:solidFill>
              </a:rPr>
              <a:t>TODAY AT SSA: NOTHING CONNECTS HR TO IDENTITY</a:t>
            </a:r>
            <a:endParaRPr lang="en-US" sz="1200" dirty="0"/>
          </a:p>
        </p:txBody>
      </p:sp>
      <p:sp>
        <p:nvSpPr>
          <p:cNvPr id="6" name="Icon FaUserXmark"/>
          <p:cNvSpPr/>
          <p:nvPr/>
        </p:nvSpPr>
        <p:spPr>
          <a:xfrm>
            <a:off x="548640" y="1737360"/>
            <a:ext cx="566928" cy="566928"/>
          </a:xfrm>
          <a:prstGeom prst="ellipse">
            <a:avLst/>
          </a:prstGeom>
          <a:solidFill>
            <a:srgbClr val="B91C1C"/>
          </a:solidFill>
          <a:ln w="12700">
            <a:solidFill>
              <a:srgbClr val="B91C1C"/>
            </a:solidFill>
            <a:prstDash val="solid"/>
          </a:ln>
        </p:spPr>
      </p:sp>
      <p:pic>
        <p:nvPicPr>
          <p:cNvPr id="7" name="Image 0" descr="C:\Users\whale\AppData\Local\Temp\claude\C--Users-whale-git-uiao-inbox\cbd5b766-acc0-4006-9202-a9bb6b23e97b\scratchpad\deck\icons\FaUserXmark.png">    </p:cNvPr>
          <p:cNvPicPr>
            <a:picLocks noChangeAspect="1"/>
          </p:cNvPicPr>
          <p:nvPr/>
        </p:nvPicPr>
        <p:blipFill>
          <a:blip r:embed="rId1"/>
          <a:stretch>
            <a:fillRect/>
          </a:stretch>
        </p:blipFill>
        <p:spPr>
          <a:xfrm>
            <a:off x="684703" y="1873423"/>
            <a:ext cx="294803" cy="294803"/>
          </a:xfrm>
          <a:prstGeom prst="rect">
            <a:avLst/>
          </a:prstGeom>
        </p:spPr>
      </p:pic>
      <p:sp>
        <p:nvSpPr>
          <p:cNvPr id="8" name="Today 1"/>
          <p:cNvSpPr txBox="1"/>
          <p:nvPr/>
        </p:nvSpPr>
        <p:spPr>
          <a:xfrm>
            <a:off x="1280160" y="1691640"/>
            <a:ext cx="5074920" cy="960120"/>
          </a:xfrm>
          <a:prstGeom prst="rect">
            <a:avLst/>
          </a:prstGeom>
          <a:noFill/>
          <a:ln/>
        </p:spPr>
        <p:txBody>
          <a:bodyPr wrap="square" lIns="0" tIns="0" rIns="0" bIns="0" rtlCol="0" anchor="t"/>
          <a:lstStyle/>
          <a:p>
            <a:pPr indent="0" marL="0">
              <a:spcAft>
                <a:spcPts val="200"/>
              </a:spcAft>
              <a:buNone/>
            </a:pPr>
            <a:r>
              <a:rPr lang="en-US" sz="1650" b="1" dirty="0">
                <a:solidFill>
                  <a:srgbClr val="B91C1C"/>
                </a:solidFill>
              </a:rPr>
              <a:t>Access outlives the job</a:t>
            </a:r>
            <a:endParaRPr lang="en-US" sz="1400" dirty="0"/>
          </a:p>
          <a:p>
            <a:pPr indent="0" marL="0">
              <a:spcAft>
                <a:spcPts val="200"/>
              </a:spcAft>
              <a:buNone/>
            </a:pPr>
            <a:r>
              <a:rPr lang="en-US" sz="1400" dirty="0">
                <a:solidFill>
                  <a:schemeClr val="tx2"/>
                </a:solidFill>
              </a:rPr>
              <a:t>Removal waits for a ticket. A 2026 OIG audit of separated staff found deficiencies in revoking access.</a:t>
            </a:r>
            <a:endParaRPr lang="en-US" sz="1400" dirty="0"/>
          </a:p>
        </p:txBody>
      </p:sp>
      <p:sp>
        <p:nvSpPr>
          <p:cNvPr id="9" name="Icon FaAddressBook"/>
          <p:cNvSpPr/>
          <p:nvPr/>
        </p:nvSpPr>
        <p:spPr>
          <a:xfrm>
            <a:off x="548640" y="2761488"/>
            <a:ext cx="566928" cy="566928"/>
          </a:xfrm>
          <a:prstGeom prst="ellipse">
            <a:avLst/>
          </a:prstGeom>
          <a:solidFill>
            <a:srgbClr val="1F2A44"/>
          </a:solidFill>
          <a:ln w="12700">
            <a:solidFill>
              <a:srgbClr val="1F2A44"/>
            </a:solidFill>
            <a:prstDash val="solid"/>
          </a:ln>
        </p:spPr>
      </p:sp>
      <p:pic>
        <p:nvPicPr>
          <p:cNvPr id="10" name="Image 1" descr="C:\Users\whale\AppData\Local\Temp\claude\C--Users-whale-git-uiao-inbox\cbd5b766-acc0-4006-9202-a9bb6b23e97b\scratchpad\deck\icons\FaAddressBook.png">    </p:cNvPr>
          <p:cNvPicPr>
            <a:picLocks noChangeAspect="1"/>
          </p:cNvPicPr>
          <p:nvPr/>
        </p:nvPicPr>
        <p:blipFill>
          <a:blip r:embed="rId2"/>
          <a:stretch>
            <a:fillRect/>
          </a:stretch>
        </p:blipFill>
        <p:spPr>
          <a:xfrm>
            <a:off x="684703" y="2897551"/>
            <a:ext cx="294803" cy="294803"/>
          </a:xfrm>
          <a:prstGeom prst="rect">
            <a:avLst/>
          </a:prstGeom>
        </p:spPr>
      </p:pic>
      <p:sp>
        <p:nvSpPr>
          <p:cNvPr id="11" name="Today 2"/>
          <p:cNvSpPr txBox="1"/>
          <p:nvPr/>
        </p:nvSpPr>
        <p:spPr>
          <a:xfrm>
            <a:off x="1280160" y="2715768"/>
            <a:ext cx="5074920" cy="960120"/>
          </a:xfrm>
          <a:prstGeom prst="rect">
            <a:avLst/>
          </a:prstGeom>
          <a:noFill/>
          <a:ln/>
        </p:spPr>
        <p:txBody>
          <a:bodyPr wrap="square" lIns="0" tIns="0" rIns="0" bIns="0" rtlCol="0" anchor="t"/>
          <a:lstStyle/>
          <a:p>
            <a:pPr indent="0" marL="0">
              <a:spcAft>
                <a:spcPts val="200"/>
              </a:spcAft>
              <a:buNone/>
            </a:pPr>
            <a:r>
              <a:rPr lang="en-US" sz="1650" b="1" dirty="0">
                <a:solidFill>
                  <a:srgbClr val="1F2A44"/>
                </a:solidFill>
              </a:rPr>
              <a:t>Records we can’t trust</a:t>
            </a:r>
            <a:endParaRPr lang="en-US" sz="1400" dirty="0"/>
          </a:p>
          <a:p>
            <a:pPr indent="0" marL="0">
              <a:spcAft>
                <a:spcPts val="200"/>
              </a:spcAft>
              <a:buNone/>
            </a:pPr>
            <a:r>
              <a:rPr lang="en-US" sz="1400" dirty="0">
                <a:solidFill>
                  <a:schemeClr val="tx2"/>
                </a:solidFill>
              </a:rPr>
              <a:t>Phone book, managers and approvals drift from HR. I’ve lived it at DITM.</a:t>
            </a:r>
            <a:endParaRPr lang="en-US" sz="1400" dirty="0"/>
          </a:p>
        </p:txBody>
      </p:sp>
      <p:sp>
        <p:nvSpPr>
          <p:cNvPr id="12" name="Icon FaUserClock"/>
          <p:cNvSpPr/>
          <p:nvPr/>
        </p:nvSpPr>
        <p:spPr>
          <a:xfrm>
            <a:off x="548640" y="3785616"/>
            <a:ext cx="566928" cy="566928"/>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UserClock.png">    </p:cNvPr>
          <p:cNvPicPr>
            <a:picLocks noChangeAspect="1"/>
          </p:cNvPicPr>
          <p:nvPr/>
        </p:nvPicPr>
        <p:blipFill>
          <a:blip r:embed="rId3"/>
          <a:stretch>
            <a:fillRect/>
          </a:stretch>
        </p:blipFill>
        <p:spPr>
          <a:xfrm>
            <a:off x="684703" y="3921679"/>
            <a:ext cx="294803" cy="294803"/>
          </a:xfrm>
          <a:prstGeom prst="rect">
            <a:avLst/>
          </a:prstGeom>
        </p:spPr>
      </p:pic>
      <p:sp>
        <p:nvSpPr>
          <p:cNvPr id="14" name="Today 3"/>
          <p:cNvSpPr txBox="1"/>
          <p:nvPr/>
        </p:nvSpPr>
        <p:spPr>
          <a:xfrm>
            <a:off x="1280160" y="3739896"/>
            <a:ext cx="5074920" cy="960120"/>
          </a:xfrm>
          <a:prstGeom prst="rect">
            <a:avLst/>
          </a:prstGeom>
          <a:noFill/>
          <a:ln/>
        </p:spPr>
        <p:txBody>
          <a:bodyPr wrap="square" lIns="0" tIns="0" rIns="0" bIns="0" rtlCol="0" anchor="t"/>
          <a:lstStyle/>
          <a:p>
            <a:pPr indent="0" marL="0">
              <a:spcAft>
                <a:spcPts val="200"/>
              </a:spcAft>
              <a:buNone/>
            </a:pPr>
            <a:r>
              <a:rPr lang="en-US" sz="1650" b="1" dirty="0">
                <a:solidFill>
                  <a:srgbClr val="0F766E"/>
                </a:solidFill>
              </a:rPr>
              <a:t>Cost and delay</a:t>
            </a:r>
            <a:endParaRPr lang="en-US" sz="1400" dirty="0"/>
          </a:p>
          <a:p>
            <a:pPr indent="0" marL="0">
              <a:spcAft>
                <a:spcPts val="200"/>
              </a:spcAft>
              <a:buNone/>
            </a:pPr>
            <a:r>
              <a:rPr lang="en-US" sz="1400" dirty="0">
                <a:solidFill>
                  <a:schemeClr val="tx2"/>
                </a:solidFill>
              </a:rPr>
              <a:t>Every joiner, mover and leaver is help-desk work.</a:t>
            </a:r>
            <a:endParaRPr lang="en-US" sz="1400" dirty="0"/>
          </a:p>
        </p:txBody>
      </p:sp>
      <p:sp>
        <p:nvSpPr>
          <p:cNvPr id="15" name="Mission box"/>
          <p:cNvSpPr/>
          <p:nvPr/>
        </p:nvSpPr>
        <p:spPr>
          <a:xfrm>
            <a:off x="6583680" y="1280160"/>
            <a:ext cx="5074920" cy="3520440"/>
          </a:xfrm>
          <a:prstGeom prst="roundRect">
            <a:avLst>
              <a:gd name="adj" fmla="val 207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PeopleArrows"/>
          <p:cNvSpPr/>
          <p:nvPr/>
        </p:nvSpPr>
        <p:spPr>
          <a:xfrm>
            <a:off x="6812280" y="1463040"/>
            <a:ext cx="685800" cy="685800"/>
          </a:xfrm>
          <a:prstGeom prst="ellipse">
            <a:avLst/>
          </a:prstGeom>
          <a:solidFill>
            <a:srgbClr val="0F766E"/>
          </a:solidFill>
          <a:ln w="12700">
            <a:solidFill>
              <a:srgbClr val="0F766E"/>
            </a:solidFill>
            <a:prstDash val="solid"/>
          </a:ln>
        </p:spPr>
      </p:sp>
      <p:pic>
        <p:nvPicPr>
          <p:cNvPr id="17" name="Image 3" descr="C:\Users\whale\AppData\Local\Temp\claude\C--Users-whale-git-uiao-inbox\cbd5b766-acc0-4006-9202-a9bb6b23e97b\scratchpad\deck\icons\FaPeopleArrows.png">    </p:cNvPr>
          <p:cNvPicPr>
            <a:picLocks noChangeAspect="1"/>
          </p:cNvPicPr>
          <p:nvPr/>
        </p:nvPicPr>
        <p:blipFill>
          <a:blip r:embed="rId4"/>
          <a:stretch>
            <a:fillRect/>
          </a:stretch>
        </p:blipFill>
        <p:spPr>
          <a:xfrm>
            <a:off x="6976872" y="1627632"/>
            <a:ext cx="356616" cy="356616"/>
          </a:xfrm>
          <a:prstGeom prst="rect">
            <a:avLst/>
          </a:prstGeom>
        </p:spPr>
      </p:pic>
      <p:sp>
        <p:nvSpPr>
          <p:cNvPr id="18" name="Mission head"/>
          <p:cNvSpPr txBox="1"/>
          <p:nvPr/>
        </p:nvSpPr>
        <p:spPr>
          <a:xfrm>
            <a:off x="7680960" y="1444752"/>
            <a:ext cx="3840480" cy="777240"/>
          </a:xfrm>
          <a:prstGeom prst="rect">
            <a:avLst/>
          </a:prstGeom>
          <a:noFill/>
          <a:ln/>
        </p:spPr>
        <p:txBody>
          <a:bodyPr wrap="square" lIns="0" tIns="0" rIns="0" bIns="0" rtlCol="0" anchor="ctr"/>
          <a:lstStyle/>
          <a:p>
            <a:pPr indent="0" marL="0">
              <a:buNone/>
            </a:pPr>
            <a:r>
              <a:rPr lang="en-US" sz="1200" b="1" dirty="0">
                <a:solidFill>
                  <a:srgbClr val="64748B"/>
                </a:solidFill>
              </a:rPr>
              <a:t>WHERE THE MISSION IS HEADING</a:t>
            </a:r>
            <a:endParaRPr lang="en-US" sz="1400" dirty="0"/>
          </a:p>
          <a:p>
            <a:pPr indent="0" marL="0">
              <a:buNone/>
            </a:pPr>
            <a:r>
              <a:rPr lang="en-US" sz="1900" b="1" dirty="0">
                <a:solidFill>
                  <a:srgbClr val="0F766E"/>
                </a:solidFill>
                <a:latin typeface="Cambria" pitchFamily="34" charset="0"/>
                <a:ea typeface="Cambria" pitchFamily="34" charset="-122"/>
                <a:cs typeface="Cambria" pitchFamily="34" charset="-120"/>
              </a:rPr>
              <a:t>Shared services to the public</a:t>
            </a:r>
            <a:endParaRPr lang="en-US" sz="1400" dirty="0"/>
          </a:p>
        </p:txBody>
      </p:sp>
      <p:sp>
        <p:nvSpPr>
          <p:cNvPr id="19" name="Mission text"/>
          <p:cNvSpPr txBox="1"/>
          <p:nvPr/>
        </p:nvSpPr>
        <p:spPr>
          <a:xfrm>
            <a:off x="6858000" y="2286000"/>
            <a:ext cx="4617720" cy="2011680"/>
          </a:xfrm>
          <a:prstGeom prst="rect">
            <a:avLst/>
          </a:prstGeom>
          <a:noFill/>
          <a:ln/>
        </p:spPr>
        <p:txBody>
          <a:bodyPr wrap="square" lIns="0" tIns="0" rIns="0" bIns="0" rtlCol="0" anchor="t"/>
          <a:lstStyle/>
          <a:p>
            <a:pPr indent="0" marL="0">
              <a:spcAft>
                <a:spcPts val="300"/>
              </a:spcAft>
              <a:buNone/>
            </a:pPr>
            <a:r>
              <a:rPr lang="en-US" sz="1450" b="1" dirty="0">
                <a:solidFill>
                  <a:schemeClr val="tx2"/>
                </a:solidFill>
              </a:rPr>
              <a:t>Example: one call center serving SSA and IRS customers. </a:t>
            </a:r>
            <a:endParaRPr lang="en-US" sz="1450" dirty="0"/>
          </a:p>
          <a:p>
            <a:pPr indent="0" marL="0">
              <a:spcAft>
                <a:spcPts val="300"/>
              </a:spcAft>
              <a:buNone/>
            </a:pPr>
            <a:r>
              <a:rPr lang="en-US" sz="1450" dirty="0">
                <a:solidFill>
                  <a:schemeClr val="tx2"/>
                </a:solidFill>
              </a:rPr>
              <a:t>The phones already run in the cloud (Amazon Connect). The hard part is the back end:</a:t>
            </a:r>
            <a:endParaRPr lang="en-US" sz="1450" dirty="0"/>
          </a:p>
          <a:p>
            <a:pPr marL="342900" indent="-342900">
              <a:spcAft>
                <a:spcPts val="300"/>
              </a:spcAft>
              <a:buSzPct val="100000"/>
              <a:buChar char="•"/>
            </a:pPr>
            <a:r>
              <a:rPr lang="en-US" sz="1500" dirty="0">
                <a:solidFill>
                  <a:schemeClr val="tx2"/>
                </a:solidFill>
              </a:rPr>
              <a:t>Who is this agent?</a:t>
            </a:r>
            <a:endParaRPr lang="en-US" sz="1450" dirty="0"/>
          </a:p>
          <a:p>
            <a:pPr marL="342900" indent="-342900">
              <a:spcAft>
                <a:spcPts val="300"/>
              </a:spcAft>
              <a:buSzPct val="100000"/>
              <a:buChar char="•"/>
            </a:pPr>
            <a:r>
              <a:rPr lang="en-US" sz="1500" dirty="0">
                <a:solidFill>
                  <a:schemeClr val="tx2"/>
                </a:solidFill>
              </a:rPr>
              <a:t>Which agency’s records may they see?</a:t>
            </a:r>
            <a:endParaRPr lang="en-US" sz="1450" dirty="0"/>
          </a:p>
          <a:p>
            <a:pPr marL="342900" indent="-342900">
              <a:spcAft>
                <a:spcPts val="300"/>
              </a:spcAft>
              <a:buSzPct val="100000"/>
              <a:buChar char="•"/>
            </a:pPr>
            <a:r>
              <a:rPr lang="en-US" sz="1500" dirty="0">
                <a:solidFill>
                  <a:schemeClr val="tx2"/>
                </a:solidFill>
              </a:rPr>
              <a:t>Does access end the day they leave — everywhere?</a:t>
            </a:r>
            <a:endParaRPr lang="en-US" sz="1450" dirty="0"/>
          </a:p>
        </p:txBody>
      </p:sp>
      <p:sp>
        <p:nvSpPr>
          <p:cNvPr id="20" name="Mission answer"/>
          <p:cNvSpPr txBox="1"/>
          <p:nvPr/>
        </p:nvSpPr>
        <p:spPr>
          <a:xfrm>
            <a:off x="6858000" y="4279392"/>
            <a:ext cx="4617720" cy="457200"/>
          </a:xfrm>
          <a:prstGeom prst="rect">
            <a:avLst/>
          </a:prstGeom>
          <a:noFill/>
          <a:ln/>
        </p:spPr>
        <p:txBody>
          <a:bodyPr wrap="square" lIns="0" tIns="0" rIns="0" bIns="0" rtlCol="0" anchor="t"/>
          <a:lstStyle/>
          <a:p>
            <a:pPr indent="0" marL="0">
              <a:buNone/>
            </a:pPr>
            <a:r>
              <a:rPr lang="en-US" sz="1450" b="1" dirty="0">
                <a:solidFill>
                  <a:srgbClr val="0F766E"/>
                </a:solidFill>
              </a:rPr>
              <a:t>A standardized, HR-driven identity answers all three by rule.</a:t>
            </a:r>
            <a:endParaRPr lang="en-US" sz="1450" dirty="0"/>
          </a:p>
        </p:txBody>
      </p:sp>
      <p:sp>
        <p:nvSpPr>
          <p:cNvPr id="21" name="Why source"/>
          <p:cNvSpPr txBox="1"/>
          <p:nvPr/>
        </p:nvSpPr>
        <p:spPr>
          <a:xfrm>
            <a:off x="548640" y="4663440"/>
            <a:ext cx="5852160" cy="274320"/>
          </a:xfrm>
          <a:prstGeom prst="rect">
            <a:avLst/>
          </a:prstGeom>
          <a:noFill/>
          <a:ln/>
        </p:spPr>
        <p:txBody>
          <a:bodyPr wrap="square" lIns="0" tIns="0" rIns="0" bIns="0" rtlCol="0" anchor="t"/>
          <a:lstStyle/>
          <a:p>
            <a:pPr indent="0" marL="0">
              <a:buNone/>
            </a:pPr>
            <a:r>
              <a:rPr lang="en-US" sz="1050" i="1" dirty="0">
                <a:solidFill>
                  <a:srgbClr val="64748B"/>
                </a:solidFill>
              </a:rPr>
              <a:t>Source: SSA OIG, Insider Threat Program (142302), Sept. 2026; standard: FIPS 201-3.</a:t>
            </a:r>
            <a:endParaRPr lang="en-US" sz="1050" dirty="0"/>
          </a:p>
        </p:txBody>
      </p:sp>
      <p:sp>
        <p:nvSpPr>
          <p:cNvPr id="22" name="Do nothing"/>
          <p:cNvSpPr/>
          <p:nvPr/>
        </p:nvSpPr>
        <p:spPr>
          <a:xfrm>
            <a:off x="548640" y="502920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3" name="Icon FaTriangleExclamation"/>
          <p:cNvSpPr/>
          <p:nvPr/>
        </p:nvSpPr>
        <p:spPr>
          <a:xfrm>
            <a:off x="777240" y="5175504"/>
            <a:ext cx="749808" cy="749808"/>
          </a:xfrm>
          <a:prstGeom prst="ellipse">
            <a:avLst/>
          </a:prstGeom>
          <a:solidFill>
            <a:srgbClr val="B45309"/>
          </a:solidFill>
          <a:ln w="12700">
            <a:solidFill>
              <a:srgbClr val="B45309"/>
            </a:solidFill>
            <a:prstDash val="solid"/>
          </a:ln>
        </p:spPr>
      </p:sp>
      <p:pic>
        <p:nvPicPr>
          <p:cNvPr id="24" name="Image 4" descr="C:\Users\whale\AppData\Local\Temp\claude\C--Users-whale-git-uiao-inbox\cbd5b766-acc0-4006-9202-a9bb6b23e97b\scratchpad\deck\icons\FaTriangleExclamation.png">    </p:cNvPr>
          <p:cNvPicPr>
            <a:picLocks noChangeAspect="1"/>
          </p:cNvPicPr>
          <p:nvPr/>
        </p:nvPicPr>
        <p:blipFill>
          <a:blip r:embed="rId5"/>
          <a:stretch>
            <a:fillRect/>
          </a:stretch>
        </p:blipFill>
        <p:spPr>
          <a:xfrm>
            <a:off x="957194" y="5355458"/>
            <a:ext cx="389900" cy="389900"/>
          </a:xfrm>
          <a:prstGeom prst="rect">
            <a:avLst/>
          </a:prstGeom>
        </p:spPr>
      </p:pic>
      <p:sp>
        <p:nvSpPr>
          <p:cNvPr id="25" name="Do nothing text"/>
          <p:cNvSpPr txBox="1"/>
          <p:nvPr/>
        </p:nvSpPr>
        <p:spPr>
          <a:xfrm>
            <a:off x="1737360" y="5074920"/>
            <a:ext cx="9738360" cy="960120"/>
          </a:xfrm>
          <a:prstGeom prst="rect">
            <a:avLst/>
          </a:prstGeom>
          <a:noFill/>
          <a:ln/>
        </p:spPr>
        <p:txBody>
          <a:bodyPr wrap="square" lIns="0" tIns="0" rIns="0" bIns="0" rtlCol="0" anchor="ctr"/>
          <a:lstStyle/>
          <a:p>
            <a:pPr indent="0" marL="0">
              <a:buNone/>
            </a:pPr>
            <a:r>
              <a:rPr lang="en-US" sz="1700" b="1" dirty="0">
                <a:solidFill>
                  <a:srgbClr val="B45309"/>
                </a:solidFill>
              </a:rPr>
              <a:t>If we do nothing: </a:t>
            </a:r>
            <a:pPr indent="0" marL="0">
              <a:buNone/>
            </a:pPr>
            <a:r>
              <a:rPr lang="en-US" sz="1700" dirty="0">
                <a:solidFill>
                  <a:schemeClr val="tx2"/>
                </a:solidFill>
              </a:rPr>
              <a:t>HR moves to Oracle Core HCM, identity moves to Entra ID — and we rebuild the same manual process twice, on new platforms.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Four options, weighed against what leadership must balance</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a:tblGrid>
                <a:gridCol w="3429000"/>
                <a:gridCol w="1600200"/>
                <a:gridCol w="1234440"/>
                <a:gridCol w="1234440"/>
                <a:gridCol w="1325880"/>
                <a:gridCol w="22860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Mission and the public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Resilience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Bottom line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Keep ticket-driven identity</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No new investment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cost of doing nothing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  Automate inside the directories</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Scripts and exports, no HR authority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Automates a source that isn’t authoritative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  Wait for HR 2.0, integrate later</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Less work this year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Defensible — but misses the design window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  Start now: HR is the source of truth</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On OPM standard data, built into both migrations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b="1" dirty="0">
                          <a:solidFill>
                            <a:srgbClr val="0F766E"/>
                          </a:solidFill>
                          <a:latin typeface="Calibri" pitchFamily="34" charset="0"/>
                          <a:ea typeface="Calibri" pitchFamily="34" charset="-122"/>
                          <a:cs typeface="Calibri" pitchFamily="34" charset="-120"/>
                        </a:rPr>
                        <a:t>Recommended, phased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Judgment"/>
          <p:cNvSpPr/>
          <p:nvPr/>
        </p:nvSpPr>
        <p:spPr>
          <a:xfrm>
            <a:off x="548640" y="507492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caleBalanced"/>
          <p:cNvSpPr/>
          <p:nvPr/>
        </p:nvSpPr>
        <p:spPr>
          <a:xfrm>
            <a:off x="777240" y="5239512"/>
            <a:ext cx="731520" cy="731520"/>
          </a:xfrm>
          <a:prstGeom prst="ellipse">
            <a:avLst/>
          </a:prstGeom>
          <a:solidFill>
            <a:srgbClr val="B45309"/>
          </a:solidFill>
          <a:ln w="12700">
            <a:solidFill>
              <a:srgbClr val="B45309"/>
            </a:solidFill>
            <a:prstDash val="solid"/>
          </a:ln>
        </p:spPr>
      </p:sp>
      <p:pic>
        <p:nvPicPr>
          <p:cNvPr id="8" name="Image 0" descr="C:\Users\whale\AppData\Local\Temp\claude\C--Users-whale-git-uiao-inbox\cbd5b766-acc0-4006-9202-a9bb6b23e97b\scratchpad\deck\icons\FaScaleBalanced.png">    </p:cNvPr>
          <p:cNvPicPr>
            <a:picLocks noChangeAspect="1"/>
          </p:cNvPicPr>
          <p:nvPr/>
        </p:nvPicPr>
        <p:blipFill>
          <a:blip r:embed="rId1"/>
          <a:stretch>
            <a:fillRect/>
          </a:stretch>
        </p:blipFill>
        <p:spPr>
          <a:xfrm>
            <a:off x="952805" y="5415077"/>
            <a:ext cx="380390" cy="380390"/>
          </a:xfrm>
          <a:prstGeom prst="rect">
            <a:avLst/>
          </a:prstGeom>
        </p:spPr>
      </p:pic>
      <p:sp>
        <p:nvSpPr>
          <p:cNvPr id="9" name="Judgment text"/>
          <p:cNvSpPr txBox="1"/>
          <p:nvPr/>
        </p:nvSpPr>
        <p:spPr>
          <a:xfrm>
            <a:off x="1737360" y="5120640"/>
            <a:ext cx="9738360" cy="960120"/>
          </a:xfrm>
          <a:prstGeom prst="rect">
            <a:avLst/>
          </a:prstGeom>
          <a:noFill/>
          <a:ln/>
        </p:spPr>
        <p:txBody>
          <a:bodyPr wrap="square" lIns="0" tIns="0" rIns="0" bIns="0" rtlCol="0" anchor="ctr"/>
          <a:lstStyle/>
          <a:p>
            <a:pPr indent="0" marL="0">
              <a:buNone/>
            </a:pPr>
            <a:r>
              <a:rPr lang="en-US" sz="1700" b="1" dirty="0">
                <a:solidFill>
                  <a:srgbClr val="B45309"/>
                </a:solidFill>
              </a:rPr>
              <a:t>The judgment call: </a:t>
            </a:r>
            <a:pPr indent="0" marL="0">
              <a:buNone/>
            </a:pPr>
            <a:r>
              <a:rPr lang="en-US" sz="1700" dirty="0">
                <a:solidFill>
                  <a:schemeClr val="tx2"/>
                </a:solidFill>
              </a:rPr>
              <a:t>if HR 2.0 slipped a long way, C becomes reasonable. But D’s first step — data standards, ownership and the person key — is no-regret either way.</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Recommendation: HR as the source of truth, starting now</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eason 1"/>
          <p:cNvSpPr/>
          <p:nvPr/>
        </p:nvSpPr>
        <p:spPr>
          <a:xfrm>
            <a:off x="548640" y="1325880"/>
            <a:ext cx="5486400"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sGear"/>
          <p:cNvSpPr/>
          <p:nvPr/>
        </p:nvSpPr>
        <p:spPr>
          <a:xfrm>
            <a:off x="777240" y="1600200"/>
            <a:ext cx="685800" cy="685800"/>
          </a:xfrm>
          <a:prstGeom prst="ellipse">
            <a:avLst/>
          </a:prstGeom>
          <a:solidFill>
            <a:srgbClr val="1F2A44"/>
          </a:solidFill>
          <a:ln w="12700">
            <a:solidFill>
              <a:srgbClr val="1F2A44"/>
            </a:solidFill>
            <a:prstDash val="solid"/>
          </a:ln>
        </p:spPr>
      </p:sp>
      <p:pic>
        <p:nvPicPr>
          <p:cNvPr id="7" name="Image 0" descr="C:\Users\whale\AppData\Local\Temp\claude\C--Users-whale-git-uiao-inbox\cbd5b766-acc0-4006-9202-a9bb6b23e97b\scratchpad\deck\icons\FaUsersGear.png">    </p:cNvPr>
          <p:cNvPicPr>
            <a:picLocks noChangeAspect="1"/>
          </p:cNvPicPr>
          <p:nvPr/>
        </p:nvPicPr>
        <p:blipFill>
          <a:blip r:embed="rId1"/>
          <a:stretch>
            <a:fillRect/>
          </a:stretch>
        </p:blipFill>
        <p:spPr>
          <a:xfrm>
            <a:off x="941832" y="1764792"/>
            <a:ext cx="356616" cy="356616"/>
          </a:xfrm>
          <a:prstGeom prst="rect">
            <a:avLst/>
          </a:prstGeom>
        </p:spPr>
      </p:pic>
      <p:sp>
        <p:nvSpPr>
          <p:cNvPr id="8" name="Reason 1 text"/>
          <p:cNvSpPr txBox="1"/>
          <p:nvPr/>
        </p:nvSpPr>
        <p:spPr>
          <a:xfrm>
            <a:off x="1645920" y="148132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1F2A44"/>
                </a:solidFill>
                <a:latin typeface="Cambria" pitchFamily="34" charset="0"/>
                <a:ea typeface="Cambria" pitchFamily="34" charset="-122"/>
                <a:cs typeface="Cambria" pitchFamily="34" charset="-120"/>
              </a:rPr>
              <a:t>Mission and the public</a:t>
            </a:r>
            <a:endParaRPr lang="en-US" sz="1400" dirty="0"/>
          </a:p>
          <a:p>
            <a:pPr indent="0" marL="0">
              <a:spcAft>
                <a:spcPts val="300"/>
              </a:spcAft>
              <a:buNone/>
            </a:pPr>
            <a:r>
              <a:rPr lang="en-US" sz="1500" dirty="0">
                <a:solidFill>
                  <a:schemeClr val="tx2"/>
                </a:solidFill>
              </a:rPr>
              <a:t>Access to the public’s records ends when the role ends. Staff have the right access on day one. Shared services become possible.</a:t>
            </a:r>
            <a:endParaRPr lang="en-US" sz="1400" dirty="0"/>
          </a:p>
        </p:txBody>
      </p:sp>
      <p:sp>
        <p:nvSpPr>
          <p:cNvPr id="9" name="Reason 2"/>
          <p:cNvSpPr/>
          <p:nvPr/>
        </p:nvSpPr>
        <p:spPr>
          <a:xfrm>
            <a:off x="6144768" y="1325880"/>
            <a:ext cx="5486400"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ChartLine"/>
          <p:cNvSpPr/>
          <p:nvPr/>
        </p:nvSpPr>
        <p:spPr>
          <a:xfrm>
            <a:off x="6373368" y="1600200"/>
            <a:ext cx="685800" cy="685800"/>
          </a:xfrm>
          <a:prstGeom prst="ellipse">
            <a:avLst/>
          </a:prstGeom>
          <a:solidFill>
            <a:srgbClr val="0F766E"/>
          </a:solidFill>
          <a:ln w="12700">
            <a:solidFill>
              <a:srgbClr val="0F766E"/>
            </a:solidFill>
            <a:prstDash val="solid"/>
          </a:ln>
        </p:spPr>
      </p:sp>
      <p:pic>
        <p:nvPicPr>
          <p:cNvPr id="11" name="Image 1" descr="C:\Users\whale\AppData\Local\Temp\claude\C--Users-whale-git-uiao-inbox\cbd5b766-acc0-4006-9202-a9bb6b23e97b\scratchpad\deck\icons\FaChartLine.png">    </p:cNvPr>
          <p:cNvPicPr>
            <a:picLocks noChangeAspect="1"/>
          </p:cNvPicPr>
          <p:nvPr/>
        </p:nvPicPr>
        <p:blipFill>
          <a:blip r:embed="rId2"/>
          <a:stretch>
            <a:fillRect/>
          </a:stretch>
        </p:blipFill>
        <p:spPr>
          <a:xfrm>
            <a:off x="6537960" y="1764792"/>
            <a:ext cx="356616" cy="356616"/>
          </a:xfrm>
          <a:prstGeom prst="rect">
            <a:avLst/>
          </a:prstGeom>
        </p:spPr>
      </p:pic>
      <p:sp>
        <p:nvSpPr>
          <p:cNvPr id="12" name="Reason 2 text"/>
          <p:cNvSpPr txBox="1"/>
          <p:nvPr/>
        </p:nvSpPr>
        <p:spPr>
          <a:xfrm>
            <a:off x="7242048" y="148132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0F766E"/>
                </a:solidFill>
                <a:latin typeface="Cambria" pitchFamily="34" charset="0"/>
                <a:ea typeface="Cambria" pitchFamily="34" charset="-122"/>
                <a:cs typeface="Cambria" pitchFamily="34" charset="-120"/>
              </a:rPr>
              <a:t>Cost</a:t>
            </a:r>
            <a:endParaRPr lang="en-US" sz="1400" dirty="0"/>
          </a:p>
          <a:p>
            <a:pPr indent="0" marL="0">
              <a:spcAft>
                <a:spcPts val="300"/>
              </a:spcAft>
              <a:buNone/>
            </a:pPr>
            <a:r>
              <a:rPr lang="en-US" sz="1500" dirty="0">
                <a:solidFill>
                  <a:schemeClr val="tx2"/>
                </a:solidFill>
              </a:rPr>
              <a:t>Build it once, while both platforms are rebuilt anyway. Retire ticket work for routine joiners, movers and leavers.</a:t>
            </a:r>
            <a:endParaRPr lang="en-US" sz="1400" dirty="0"/>
          </a:p>
        </p:txBody>
      </p:sp>
      <p:sp>
        <p:nvSpPr>
          <p:cNvPr id="13" name="Reason 3"/>
          <p:cNvSpPr/>
          <p:nvPr/>
        </p:nvSpPr>
        <p:spPr>
          <a:xfrm>
            <a:off x="548640" y="3063240"/>
            <a:ext cx="5486400" cy="1600200"/>
          </a:xfrm>
          <a:prstGeom prst="roundRect">
            <a:avLst>
              <a:gd name="adj" fmla="val 457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4" name="Icon FaShieldHalved"/>
          <p:cNvSpPr/>
          <p:nvPr/>
        </p:nvSpPr>
        <p:spPr>
          <a:xfrm>
            <a:off x="777240" y="3337560"/>
            <a:ext cx="685800" cy="685800"/>
          </a:xfrm>
          <a:prstGeom prst="ellipse">
            <a:avLst/>
          </a:prstGeom>
          <a:solidFill>
            <a:srgbClr val="B91C1C"/>
          </a:solidFill>
          <a:ln w="12700">
            <a:solidFill>
              <a:srgbClr val="B91C1C"/>
            </a:solidFill>
            <a:prstDash val="solid"/>
          </a:ln>
        </p:spPr>
      </p:sp>
      <p:pic>
        <p:nvPicPr>
          <p:cNvPr id="15" name="Image 2" descr="C:\Users\whale\AppData\Local\Temp\claude\C--Users-whale-git-uiao-inbox\cbd5b766-acc0-4006-9202-a9bb6b23e97b\scratchpad\deck\icons\FaShieldHalved.png">    </p:cNvPr>
          <p:cNvPicPr>
            <a:picLocks noChangeAspect="1"/>
          </p:cNvPicPr>
          <p:nvPr/>
        </p:nvPicPr>
        <p:blipFill>
          <a:blip r:embed="rId3"/>
          <a:stretch>
            <a:fillRect/>
          </a:stretch>
        </p:blipFill>
        <p:spPr>
          <a:xfrm>
            <a:off x="941832" y="3502152"/>
            <a:ext cx="356616" cy="356616"/>
          </a:xfrm>
          <a:prstGeom prst="rect">
            <a:avLst/>
          </a:prstGeom>
        </p:spPr>
      </p:pic>
      <p:sp>
        <p:nvSpPr>
          <p:cNvPr id="16" name="Reason 3 text"/>
          <p:cNvSpPr txBox="1"/>
          <p:nvPr/>
        </p:nvSpPr>
        <p:spPr>
          <a:xfrm>
            <a:off x="1645920" y="321868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B91C1C"/>
                </a:solidFill>
                <a:latin typeface="Cambria" pitchFamily="34" charset="0"/>
                <a:ea typeface="Cambria" pitchFamily="34" charset="-122"/>
                <a:cs typeface="Cambria" pitchFamily="34" charset="-120"/>
              </a:rPr>
              <a:t>Security</a:t>
            </a:r>
            <a:endParaRPr lang="en-US" sz="1400" dirty="0"/>
          </a:p>
          <a:p>
            <a:pPr indent="0" marL="0">
              <a:spcAft>
                <a:spcPts val="300"/>
              </a:spcAft>
              <a:buNone/>
            </a:pPr>
            <a:r>
              <a:rPr lang="en-US" sz="1500" dirty="0">
                <a:solidFill>
                  <a:schemeClr val="tx2"/>
                </a:solidFill>
              </a:rPr>
              <a:t>Modern access is decided by attributes, so accurate HR data becomes accurate access. Mandates are the floor, not the reason.</a:t>
            </a:r>
            <a:endParaRPr lang="en-US" sz="1400" dirty="0"/>
          </a:p>
        </p:txBody>
      </p:sp>
      <p:sp>
        <p:nvSpPr>
          <p:cNvPr id="17" name="Reason 4"/>
          <p:cNvSpPr/>
          <p:nvPr/>
        </p:nvSpPr>
        <p:spPr>
          <a:xfrm>
            <a:off x="6144768" y="3063240"/>
            <a:ext cx="5486400" cy="1600200"/>
          </a:xfrm>
          <a:prstGeom prst="roundRect">
            <a:avLst>
              <a:gd name="adj" fmla="val 457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ArrowsRotate"/>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C:\Users\whale\AppData\Local\Temp\claude\C--Users-whale-git-uiao-inbox\cbd5b766-acc0-4006-9202-a9bb6b23e97b\scratchpad\deck\icons\FaArrowsRotate.png">    </p:cNvPr>
          <p:cNvPicPr>
            <a:picLocks noChangeAspect="1"/>
          </p:cNvPicPr>
          <p:nvPr/>
        </p:nvPicPr>
        <p:blipFill>
          <a:blip r:embed="rId4"/>
          <a:stretch>
            <a:fillRect/>
          </a:stretch>
        </p:blipFill>
        <p:spPr>
          <a:xfrm>
            <a:off x="6537960" y="3502152"/>
            <a:ext cx="356616" cy="356616"/>
          </a:xfrm>
          <a:prstGeom prst="rect">
            <a:avLst/>
          </a:prstGeom>
        </p:spPr>
      </p:pic>
      <p:sp>
        <p:nvSpPr>
          <p:cNvPr id="20" name="Reason 4 text"/>
          <p:cNvSpPr txBox="1"/>
          <p:nvPr/>
        </p:nvSpPr>
        <p:spPr>
          <a:xfrm>
            <a:off x="7242048" y="321868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B45309"/>
                </a:solidFill>
                <a:latin typeface="Cambria" pitchFamily="34" charset="0"/>
                <a:ea typeface="Cambria" pitchFamily="34" charset="-122"/>
                <a:cs typeface="Cambria" pitchFamily="34" charset="-120"/>
              </a:rPr>
              <a:t>Resilience</a:t>
            </a:r>
            <a:endParaRPr lang="en-US" sz="1400" dirty="0"/>
          </a:p>
          <a:p>
            <a:pPr indent="0" marL="0">
              <a:spcAft>
                <a:spcPts val="300"/>
              </a:spcAft>
              <a:buNone/>
            </a:pPr>
            <a:r>
              <a:rPr lang="en-US" sz="1500" dirty="0">
                <a:solidFill>
                  <a:schemeClr val="tx2"/>
                </a:solidFill>
              </a:rPr>
              <a:t>OPM’s standard data and a person key we control — the Mainframe PIN — survive the next platform change.</a:t>
            </a:r>
            <a:endParaRPr lang="en-US" sz="1400" dirty="0"/>
          </a:p>
        </p:txBody>
      </p:sp>
      <p:sp>
        <p:nvSpPr>
          <p:cNvPr id="21" name="Limits"/>
          <p:cNvSpPr/>
          <p:nvPr/>
        </p:nvSpPr>
        <p:spPr>
          <a:xfrm>
            <a:off x="548640" y="4892040"/>
            <a:ext cx="5486400" cy="1234440"/>
          </a:xfrm>
          <a:prstGeom prst="roundRect">
            <a:avLst>
              <a:gd name="adj" fmla="val 5926"/>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22" name="Limits text"/>
          <p:cNvSpPr txBox="1"/>
          <p:nvPr/>
        </p:nvSpPr>
        <p:spPr>
          <a:xfrm>
            <a:off x="777240" y="4937760"/>
            <a:ext cx="5120640" cy="1143000"/>
          </a:xfrm>
          <a:prstGeom prst="rect">
            <a:avLst/>
          </a:prstGeom>
          <a:noFill/>
          <a:ln/>
        </p:spPr>
        <p:txBody>
          <a:bodyPr wrap="square" lIns="0" tIns="0" rIns="0" bIns="0" rtlCol="0" anchor="ctr"/>
          <a:lstStyle/>
          <a:p>
            <a:pPr indent="0" marL="0">
              <a:buNone/>
            </a:pPr>
            <a:r>
              <a:rPr lang="en-US" sz="1400" b="1" dirty="0">
                <a:solidFill>
                  <a:srgbClr val="64748B"/>
                </a:solidFill>
              </a:rPr>
              <a:t>Honest limits: </a:t>
            </a:r>
            <a:pPr indent="0" marL="0">
              <a:buNone/>
            </a:pPr>
            <a:r>
              <a:rPr lang="en-US" sz="1400" dirty="0">
                <a:solidFill>
                  <a:schemeClr val="tx2"/>
                </a:solidFill>
              </a:rPr>
              <a:t>HR 2.0 covers federal employees only — contractors need their own source (Core HCM contingent worker, or PIV sponsorship). Build only what HR is authoritative for.</a:t>
            </a:r>
            <a:endParaRPr lang="en-US" sz="1400" dirty="0"/>
          </a:p>
        </p:txBody>
      </p:sp>
      <p:sp>
        <p:nvSpPr>
          <p:cNvPr id="23" name="Upside"/>
          <p:cNvSpPr/>
          <p:nvPr/>
        </p:nvSpPr>
        <p:spPr>
          <a:xfrm>
            <a:off x="6144768" y="4892040"/>
            <a:ext cx="5513832" cy="1234440"/>
          </a:xfrm>
          <a:prstGeom prst="roundRect">
            <a:avLst>
              <a:gd name="adj" fmla="val 5926"/>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Upside text"/>
          <p:cNvSpPr txBox="1"/>
          <p:nvPr/>
        </p:nvSpPr>
        <p:spPr>
          <a:xfrm>
            <a:off x="6373368" y="4937760"/>
            <a:ext cx="5120640" cy="1143000"/>
          </a:xfrm>
          <a:prstGeom prst="rect">
            <a:avLst/>
          </a:prstGeom>
          <a:noFill/>
          <a:ln/>
        </p:spPr>
        <p:txBody>
          <a:bodyPr wrap="square" lIns="0" tIns="0" rIns="0" bIns="0" rtlCol="0" anchor="ctr"/>
          <a:lstStyle/>
          <a:p>
            <a:pPr indent="0" marL="0">
              <a:buNone/>
            </a:pPr>
            <a:r>
              <a:rPr lang="en-US" sz="1400" b="1" dirty="0">
                <a:solidFill>
                  <a:srgbClr val="0F766E"/>
                </a:solidFill>
              </a:rPr>
              <a:t>The upside: </a:t>
            </a:r>
            <a:pPr indent="0" marL="0">
              <a:buNone/>
            </a:pPr>
            <a:r>
              <a:rPr lang="en-US" sz="1400" dirty="0">
                <a:solidFill>
                  <a:schemeClr val="tx2"/>
                </a:solidFill>
              </a:rPr>
              <a:t>every agency is moving to the same HR platform on the same standards — one identity standard can serve them all, and the services they share.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Who: the owners, the partners, and my role</a:t>
            </a:r>
            <a:endParaRPr lang="en-US" sz="3000" dirty="0"/>
          </a:p>
        </p:txBody>
      </p:sp>
      <p:sp>
        <p:nvSpPr>
          <p:cNvPr id="3" name="Tag Who"/>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p:cNvSpPr/>
          <p:nvPr/>
        </p:nvSpPr>
        <p:spPr>
          <a:xfrm>
            <a:off x="548640" y="1280160"/>
            <a:ext cx="3611880" cy="3520440"/>
          </a:xfrm>
          <a:prstGeom prst="roundRect">
            <a:avLst>
              <a:gd name="adj" fmla="val 207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p:cNvSpPr/>
          <p:nvPr/>
        </p:nvSpPr>
        <p:spPr>
          <a:xfrm>
            <a:off x="749808" y="1444752"/>
            <a:ext cx="566928" cy="566928"/>
          </a:xfrm>
          <a:prstGeom prst="ellipse">
            <a:avLst/>
          </a:prstGeom>
          <a:solidFill>
            <a:srgbClr val="1F2A44"/>
          </a:solidFill>
          <a:ln w="12700">
            <a:solidFill>
              <a:srgbClr val="1F2A44"/>
            </a:solidFill>
            <a:prstDash val="solid"/>
          </a:ln>
        </p:spPr>
      </p:sp>
      <p:pic>
        <p:nvPicPr>
          <p:cNvPr id="7" name="Image 0" descr="C:\Users\whale\AppData\Local\Temp\claude\C--Users-whale-git-uiao-inbox\cbd5b766-acc0-4006-9202-a9bb6b23e97b\scratchpad\deck\icons\FaBuildingColumns.png">    </p:cNvPr>
          <p:cNvPicPr>
            <a:picLocks noChangeAspect="1"/>
          </p:cNvPicPr>
          <p:nvPr/>
        </p:nvPicPr>
        <p:blipFill>
          <a:blip r:embed="rId1"/>
          <a:stretch>
            <a:fillRect/>
          </a:stretch>
        </p:blipFill>
        <p:spPr>
          <a:xfrm>
            <a:off x="885871" y="1580815"/>
            <a:ext cx="294803" cy="294803"/>
          </a:xfrm>
          <a:prstGeom prst="rect">
            <a:avLst/>
          </a:prstGeom>
        </p:spPr>
      </p:pic>
      <p:sp>
        <p:nvSpPr>
          <p:cNvPr id="8" name="Who head 1"/>
          <p:cNvSpPr txBox="1"/>
          <p:nvPr/>
        </p:nvSpPr>
        <p:spPr>
          <a:xfrm>
            <a:off x="1463040" y="1444752"/>
            <a:ext cx="2560320" cy="56692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Owns the data</a:t>
            </a:r>
            <a:endParaRPr lang="en-US" sz="1800" dirty="0"/>
          </a:p>
        </p:txBody>
      </p:sp>
      <p:sp>
        <p:nvSpPr>
          <p:cNvPr id="9" name="Who text 1"/>
          <p:cNvSpPr txBox="1"/>
          <p:nvPr/>
        </p:nvSpPr>
        <p:spPr>
          <a:xfrm>
            <a:off x="777240" y="2148840"/>
            <a:ext cx="3200400" cy="2560320"/>
          </a:xfrm>
          <a:prstGeom prst="rect">
            <a:avLst/>
          </a:prstGeom>
          <a:noFill/>
          <a:ln/>
        </p:spPr>
        <p:txBody>
          <a:bodyPr wrap="square" lIns="0" tIns="0" rIns="0" bIns="0" rtlCol="0" anchor="t"/>
          <a:lstStyle/>
          <a:p>
            <a:pPr indent="0" marL="0">
              <a:spcAft>
                <a:spcPts val="600"/>
              </a:spcAft>
              <a:buNone/>
            </a:pPr>
            <a:r>
              <a:rPr lang="en-US" sz="1450" b="1" dirty="0">
                <a:solidFill>
                  <a:srgbClr val="1F2A44"/>
                </a:solidFill>
              </a:rPr>
              <a:t>HR</a:t>
            </a:r>
            <a:endParaRPr lang="en-US" sz="1450" dirty="0"/>
          </a:p>
          <a:p>
            <a:pPr indent="0" marL="0">
              <a:spcAft>
                <a:spcPts val="600"/>
              </a:spcAft>
              <a:buNone/>
            </a:pPr>
            <a:r>
              <a:rPr lang="en-US" sz="1450" dirty="0">
                <a:solidFill>
                  <a:schemeClr val="tx2"/>
                </a:solidFill>
              </a:rPr>
              <a:t>Personnel data and its quality, at the source</a:t>
            </a:r>
            <a:endParaRPr lang="en-US" sz="1450" dirty="0"/>
          </a:p>
          <a:p>
            <a:pPr indent="0" marL="0">
              <a:spcAft>
                <a:spcPts val="600"/>
              </a:spcAft>
              <a:buNone/>
            </a:pPr>
            <a:r>
              <a:rPr lang="en-US" sz="1450" b="1" dirty="0">
                <a:solidFill>
                  <a:srgbClr val="1F2A44"/>
                </a:solidFill>
              </a:rPr>
              <a:t>OPM HR 2.0 program</a:t>
            </a:r>
            <a:endParaRPr lang="en-US" sz="1450" dirty="0"/>
          </a:p>
          <a:p>
            <a:pPr indent="0" marL="0">
              <a:spcAft>
                <a:spcPts val="600"/>
              </a:spcAft>
              <a:buNone/>
            </a:pPr>
            <a:r>
              <a:rPr lang="en-US" sz="1450" dirty="0">
                <a:solidFill>
                  <a:schemeClr val="tx2"/>
                </a:solidFill>
              </a:rPr>
              <a:t>The platform, the standards, the interconnection</a:t>
            </a:r>
            <a:endParaRPr lang="en-US" sz="1450" dirty="0"/>
          </a:p>
        </p:txBody>
      </p:sp>
      <p:sp>
        <p:nvSpPr>
          <p:cNvPr id="10" name="Who col 2"/>
          <p:cNvSpPr/>
          <p:nvPr/>
        </p:nvSpPr>
        <p:spPr>
          <a:xfrm>
            <a:off x="4297680" y="1280160"/>
            <a:ext cx="3611880" cy="3520440"/>
          </a:xfrm>
          <a:prstGeom prst="roundRect">
            <a:avLst>
              <a:gd name="adj" fmla="val 207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p:cNvSpPr/>
          <p:nvPr/>
        </p:nvSpPr>
        <p:spPr>
          <a:xfrm>
            <a:off x="4498848" y="1444752"/>
            <a:ext cx="566928" cy="566928"/>
          </a:xfrm>
          <a:prstGeom prst="ellipse">
            <a:avLst/>
          </a:prstGeom>
          <a:solidFill>
            <a:srgbClr val="0F766E"/>
          </a:solidFill>
          <a:ln w="12700">
            <a:solidFill>
              <a:srgbClr val="0F766E"/>
            </a:solidFill>
            <a:prstDash val="solid"/>
          </a:ln>
        </p:spPr>
      </p:sp>
      <p:pic>
        <p:nvPicPr>
          <p:cNvPr id="12" name="Image 1" descr="C:\Users\whale\AppData\Local\Temp\claude\C--Users-whale-git-uiao-inbox\cbd5b766-acc0-4006-9202-a9bb6b23e97b\scratchpad\deck\icons\FaUsersGear.png">    </p:cNvPr>
          <p:cNvPicPr>
            <a:picLocks noChangeAspect="1"/>
          </p:cNvPicPr>
          <p:nvPr/>
        </p:nvPicPr>
        <p:blipFill>
          <a:blip r:embed="rId2"/>
          <a:stretch>
            <a:fillRect/>
          </a:stretch>
        </p:blipFill>
        <p:spPr>
          <a:xfrm>
            <a:off x="4634911" y="1580815"/>
            <a:ext cx="294803" cy="294803"/>
          </a:xfrm>
          <a:prstGeom prst="rect">
            <a:avLst/>
          </a:prstGeom>
        </p:spPr>
      </p:pic>
      <p:sp>
        <p:nvSpPr>
          <p:cNvPr id="13" name="Who head 2"/>
          <p:cNvSpPr txBox="1"/>
          <p:nvPr/>
        </p:nvSpPr>
        <p:spPr>
          <a:xfrm>
            <a:off x="5212080" y="1444752"/>
            <a:ext cx="2560320" cy="566928"/>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Uses the data</a:t>
            </a:r>
            <a:endParaRPr lang="en-US" sz="1800" dirty="0"/>
          </a:p>
        </p:txBody>
      </p:sp>
      <p:sp>
        <p:nvSpPr>
          <p:cNvPr id="14" name="Who text 2"/>
          <p:cNvSpPr txBox="1"/>
          <p:nvPr/>
        </p:nvSpPr>
        <p:spPr>
          <a:xfrm>
            <a:off x="4526280" y="2148840"/>
            <a:ext cx="3200400" cy="2560320"/>
          </a:xfrm>
          <a:prstGeom prst="rect">
            <a:avLst/>
          </a:prstGeom>
          <a:noFill/>
          <a:ln/>
        </p:spPr>
        <p:txBody>
          <a:bodyPr wrap="square" lIns="0" tIns="0" rIns="0" bIns="0" rtlCol="0" anchor="t"/>
          <a:lstStyle/>
          <a:p>
            <a:pPr indent="0" marL="0">
              <a:spcAft>
                <a:spcPts val="600"/>
              </a:spcAft>
              <a:buNone/>
            </a:pPr>
            <a:r>
              <a:rPr lang="en-US" sz="1450" b="1" dirty="0">
                <a:solidFill>
                  <a:srgbClr val="0F766E"/>
                </a:solidFill>
              </a:rPr>
              <a:t>CIO identity team</a:t>
            </a:r>
            <a:endParaRPr lang="en-US" sz="1450" dirty="0"/>
          </a:p>
          <a:p>
            <a:pPr indent="0" marL="0">
              <a:spcAft>
                <a:spcPts val="600"/>
              </a:spcAft>
              <a:buNone/>
            </a:pPr>
            <a:r>
              <a:rPr lang="en-US" sz="1450" dirty="0">
                <a:solidFill>
                  <a:schemeClr val="tx2"/>
                </a:solidFill>
              </a:rPr>
              <a:t>Entra ID, Active Directory and access</a:t>
            </a:r>
            <a:endParaRPr lang="en-US" sz="1450" dirty="0"/>
          </a:p>
          <a:p>
            <a:pPr indent="0" marL="0">
              <a:spcAft>
                <a:spcPts val="600"/>
              </a:spcAft>
              <a:buNone/>
            </a:pPr>
            <a:r>
              <a:rPr lang="en-US" sz="1450" b="1" dirty="0">
                <a:solidFill>
                  <a:srgbClr val="0F766E"/>
                </a:solidFill>
              </a:rPr>
              <a:t>Security</a:t>
            </a:r>
            <a:endParaRPr lang="en-US" sz="1450" dirty="0"/>
          </a:p>
          <a:p>
            <a:pPr indent="0" marL="0">
              <a:spcAft>
                <a:spcPts val="600"/>
              </a:spcAft>
              <a:buNone/>
            </a:pPr>
            <a:r>
              <a:rPr lang="en-US" sz="1450" dirty="0">
                <a:solidFill>
                  <a:schemeClr val="tx2"/>
                </a:solidFill>
              </a:rPr>
              <a:t>Zero Trust policy and the leaver path</a:t>
            </a:r>
            <a:endParaRPr lang="en-US" sz="1450" dirty="0"/>
          </a:p>
          <a:p>
            <a:pPr indent="0" marL="0">
              <a:spcAft>
                <a:spcPts val="600"/>
              </a:spcAft>
              <a:buNone/>
            </a:pPr>
            <a:r>
              <a:rPr lang="en-US" sz="1450" b="1" dirty="0">
                <a:solidFill>
                  <a:srgbClr val="0F766E"/>
                </a:solidFill>
              </a:rPr>
              <a:t>Help desk</a:t>
            </a:r>
            <a:endParaRPr lang="en-US" sz="1450" dirty="0"/>
          </a:p>
          <a:p>
            <a:pPr indent="0" marL="0">
              <a:spcAft>
                <a:spcPts val="600"/>
              </a:spcAft>
              <a:buNone/>
            </a:pPr>
            <a:r>
              <a:rPr lang="en-US" sz="1450" dirty="0">
                <a:solidFill>
                  <a:schemeClr val="tx2"/>
                </a:solidFill>
              </a:rPr>
              <a:t>Exceptions, not routine tickets</a:t>
            </a:r>
            <a:endParaRPr lang="en-US" sz="1450" dirty="0"/>
          </a:p>
        </p:txBody>
      </p:sp>
      <p:sp>
        <p:nvSpPr>
          <p:cNvPr id="15" name="Who col 3"/>
          <p:cNvSpPr/>
          <p:nvPr/>
        </p:nvSpPr>
        <p:spPr>
          <a:xfrm>
            <a:off x="8046720" y="1280160"/>
            <a:ext cx="3611880" cy="3520440"/>
          </a:xfrm>
          <a:prstGeom prst="roundRect">
            <a:avLst>
              <a:gd name="adj" fmla="val 20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hieldHalved"/>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AppData\Local\Temp\claude\C--Users-whale-git-uiao-inbox\cbd5b766-acc0-4006-9202-a9bb6b23e97b\scratchpad\deck\icons\FaShieldHalved.png">    </p:cNvPr>
          <p:cNvPicPr>
            <a:picLocks noChangeAspect="1"/>
          </p:cNvPicPr>
          <p:nvPr/>
        </p:nvPicPr>
        <p:blipFill>
          <a:blip r:embed="rId3"/>
          <a:stretch>
            <a:fillRect/>
          </a:stretch>
        </p:blipFill>
        <p:spPr>
          <a:xfrm>
            <a:off x="8383951" y="1580815"/>
            <a:ext cx="294803" cy="294803"/>
          </a:xfrm>
          <a:prstGeom prst="rect">
            <a:avLst/>
          </a:prstGeom>
        </p:spPr>
      </p:pic>
      <p:sp>
        <p:nvSpPr>
          <p:cNvPr id="18" name="Who head 3"/>
          <p:cNvSpPr txBox="1"/>
          <p:nvPr/>
        </p:nvSpPr>
        <p:spPr>
          <a:xfrm>
            <a:off x="8961120" y="1444752"/>
            <a:ext cx="2560320" cy="566928"/>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Guards and partners</a:t>
            </a:r>
            <a:endParaRPr lang="en-US" sz="1800" dirty="0"/>
          </a:p>
        </p:txBody>
      </p:sp>
      <p:sp>
        <p:nvSpPr>
          <p:cNvPr id="19" name="Who text 3"/>
          <p:cNvSpPr txBox="1"/>
          <p:nvPr/>
        </p:nvSpPr>
        <p:spPr>
          <a:xfrm>
            <a:off x="8275320" y="2148840"/>
            <a:ext cx="3200400" cy="2560320"/>
          </a:xfrm>
          <a:prstGeom prst="rect">
            <a:avLst/>
          </a:prstGeom>
          <a:noFill/>
          <a:ln/>
        </p:spPr>
        <p:txBody>
          <a:bodyPr wrap="square" lIns="0" tIns="0" rIns="0" bIns="0" rtlCol="0" anchor="t"/>
          <a:lstStyle/>
          <a:p>
            <a:pPr indent="0" marL="0">
              <a:spcAft>
                <a:spcPts val="600"/>
              </a:spcAft>
              <a:buNone/>
            </a:pPr>
            <a:r>
              <a:rPr lang="en-US" sz="1450" b="1" dirty="0">
                <a:solidFill>
                  <a:srgbClr val="B45309"/>
                </a:solidFill>
              </a:rPr>
              <a:t>Privacy office</a:t>
            </a:r>
            <a:endParaRPr lang="en-US" sz="1450" dirty="0"/>
          </a:p>
          <a:p>
            <a:pPr indent="0" marL="0">
              <a:spcAft>
                <a:spcPts val="600"/>
              </a:spcAft>
              <a:buNone/>
            </a:pPr>
            <a:r>
              <a:rPr lang="en-US" sz="1450" dirty="0">
                <a:solidFill>
                  <a:schemeClr val="tx2"/>
                </a:solidFill>
              </a:rPr>
              <a:t>Routine use and minimization, from the start</a:t>
            </a:r>
            <a:endParaRPr lang="en-US" sz="1450" dirty="0"/>
          </a:p>
          <a:p>
            <a:pPr indent="0" marL="0">
              <a:spcAft>
                <a:spcPts val="600"/>
              </a:spcAft>
              <a:buNone/>
            </a:pPr>
            <a:r>
              <a:rPr lang="en-US" sz="1450" b="1" dirty="0">
                <a:solidFill>
                  <a:srgbClr val="B45309"/>
                </a:solidFill>
              </a:rPr>
              <a:t>Contractor sponsors and PIV</a:t>
            </a:r>
            <a:endParaRPr lang="en-US" sz="1450" dirty="0"/>
          </a:p>
          <a:p>
            <a:pPr indent="0" marL="0">
              <a:spcAft>
                <a:spcPts val="600"/>
              </a:spcAft>
              <a:buNone/>
            </a:pPr>
            <a:r>
              <a:rPr lang="en-US" sz="1450" dirty="0">
                <a:solidFill>
                  <a:schemeClr val="tx2"/>
                </a:solidFill>
              </a:rPr>
              <a:t>The source for non-employees</a:t>
            </a:r>
            <a:endParaRPr lang="en-US" sz="1450" dirty="0"/>
          </a:p>
          <a:p>
            <a:pPr indent="0" marL="0">
              <a:spcAft>
                <a:spcPts val="600"/>
              </a:spcAft>
              <a:buNone/>
            </a:pPr>
            <a:r>
              <a:rPr lang="en-US" sz="1450" b="1" dirty="0">
                <a:solidFill>
                  <a:srgbClr val="B45309"/>
                </a:solidFill>
              </a:rPr>
              <a:t>Partner agencies</a:t>
            </a:r>
            <a:endParaRPr lang="en-US" sz="1450" dirty="0"/>
          </a:p>
          <a:p>
            <a:pPr indent="0" marL="0">
              <a:spcAft>
                <a:spcPts val="600"/>
              </a:spcAft>
              <a:buNone/>
            </a:pPr>
            <a:r>
              <a:rPr lang="en-US" sz="1450" dirty="0">
                <a:solidFill>
                  <a:schemeClr val="tx2"/>
                </a:solidFill>
              </a:rPr>
              <a:t>One standard for shared services — e.g. IRS</a:t>
            </a:r>
            <a:endParaRPr lang="en-US" sz="1450" dirty="0"/>
          </a:p>
        </p:txBody>
      </p:sp>
      <p:sp>
        <p:nvSpPr>
          <p:cNvPr id="20" name="My role"/>
          <p:cNvSpPr/>
          <p:nvPr/>
        </p:nvSpPr>
        <p:spPr>
          <a:xfrm>
            <a:off x="548640" y="498348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Sitemap"/>
          <p:cNvSpPr/>
          <p:nvPr/>
        </p:nvSpPr>
        <p:spPr>
          <a:xfrm>
            <a:off x="777240" y="5175504"/>
            <a:ext cx="749808" cy="749808"/>
          </a:xfrm>
          <a:prstGeom prst="ellipse">
            <a:avLst/>
          </a:prstGeom>
          <a:solidFill>
            <a:srgbClr val="1F2A44"/>
          </a:solidFill>
          <a:ln w="12700">
            <a:solidFill>
              <a:srgbClr val="1F2A44"/>
            </a:solidFill>
            <a:prstDash val="solid"/>
          </a:ln>
        </p:spPr>
      </p:sp>
      <p:pic>
        <p:nvPicPr>
          <p:cNvPr id="22" name="Image 3" descr="C:\Users\whale\AppData\Local\Temp\claude\C--Users-whale-git-uiao-inbox\cbd5b766-acc0-4006-9202-a9bb6b23e97b\scratchpad\deck\icons\FaSitemap.png">    </p:cNvPr>
          <p:cNvPicPr>
            <a:picLocks noChangeAspect="1"/>
          </p:cNvPicPr>
          <p:nvPr/>
        </p:nvPicPr>
        <p:blipFill>
          <a:blip r:embed="rId4"/>
          <a:stretch>
            <a:fillRect/>
          </a:stretch>
        </p:blipFill>
        <p:spPr>
          <a:xfrm>
            <a:off x="957194" y="5355458"/>
            <a:ext cx="389900" cy="389900"/>
          </a:xfrm>
          <a:prstGeom prst="rect">
            <a:avLst/>
          </a:prstGeom>
        </p:spPr>
      </p:pic>
      <p:sp>
        <p:nvSpPr>
          <p:cNvPr id="23" name="My role text"/>
          <p:cNvSpPr txBox="1"/>
          <p:nvPr/>
        </p:nvSpPr>
        <p:spPr>
          <a:xfrm>
            <a:off x="1737360" y="5029200"/>
            <a:ext cx="9738360" cy="1051560"/>
          </a:xfrm>
          <a:prstGeom prst="rect">
            <a:avLst/>
          </a:prstGeom>
          <a:noFill/>
          <a:ln/>
        </p:spPr>
        <p:txBody>
          <a:bodyPr wrap="square" lIns="0" tIns="0" rIns="0" bIns="0" rtlCol="0" anchor="ctr"/>
          <a:lstStyle/>
          <a:p>
            <a:pPr indent="0" marL="0">
              <a:buNone/>
            </a:pPr>
            <a:r>
              <a:rPr lang="en-US" sz="1600" b="1" dirty="0">
                <a:solidFill>
                  <a:srgbClr val="1F2A44"/>
                </a:solidFill>
              </a:rPr>
              <a:t>My role as enterprise data architect: </a:t>
            </a:r>
            <a:pPr indent="0" marL="0">
              <a:buNone/>
            </a:pPr>
            <a:r>
              <a:rPr lang="en-US" sz="1600" dirty="0">
                <a:solidFill>
                  <a:schemeClr val="tx2"/>
                </a:solidFill>
              </a:rPr>
              <a:t>own the standards, the crosswalk and the person key; give every attribute one accountable owner; and carry the standard to interagency committees and working groups.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data, security and operations</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ow col 1"/>
          <p:cNvSpPr/>
          <p:nvPr/>
        </p:nvSpPr>
        <p:spPr>
          <a:xfrm>
            <a:off x="548640" y="1280160"/>
            <a:ext cx="3611880" cy="3429000"/>
          </a:xfrm>
          <a:prstGeom prst="roundRect">
            <a:avLst>
              <a:gd name="adj" fmla="val 21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Database"/>
          <p:cNvSpPr/>
          <p:nvPr/>
        </p:nvSpPr>
        <p:spPr>
          <a:xfrm>
            <a:off x="749808" y="1444752"/>
            <a:ext cx="566928" cy="566928"/>
          </a:xfrm>
          <a:prstGeom prst="ellipse">
            <a:avLst/>
          </a:prstGeom>
          <a:solidFill>
            <a:srgbClr val="0F766E"/>
          </a:solidFill>
          <a:ln w="12700">
            <a:solidFill>
              <a:srgbClr val="0F766E"/>
            </a:solidFill>
            <a:prstDash val="solid"/>
          </a:ln>
        </p:spPr>
      </p:sp>
      <p:pic>
        <p:nvPicPr>
          <p:cNvPr id="7" name="Image 0" descr="C:\Users\whale\AppData\Local\Temp\claude\C--Users-whale-git-uiao-inbox\cbd5b766-acc0-4006-9202-a9bb6b23e97b\scratchpad\deck\icons\FaDatabase.png">    </p:cNvPr>
          <p:cNvPicPr>
            <a:picLocks noChangeAspect="1"/>
          </p:cNvPicPr>
          <p:nvPr/>
        </p:nvPicPr>
        <p:blipFill>
          <a:blip r:embed="rId1"/>
          <a:stretch>
            <a:fillRect/>
          </a:stretch>
        </p:blipFill>
        <p:spPr>
          <a:xfrm>
            <a:off x="885871" y="1580815"/>
            <a:ext cx="294803" cy="294803"/>
          </a:xfrm>
          <a:prstGeom prst="rect">
            <a:avLst/>
          </a:prstGeom>
        </p:spPr>
      </p:pic>
      <p:sp>
        <p:nvSpPr>
          <p:cNvPr id="8" name="How head 1"/>
          <p:cNvSpPr txBox="1"/>
          <p:nvPr/>
        </p:nvSpPr>
        <p:spPr>
          <a:xfrm>
            <a:off x="1463040" y="1444752"/>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Data</a:t>
            </a:r>
            <a:endParaRPr lang="en-US" sz="1900" dirty="0"/>
          </a:p>
        </p:txBody>
      </p:sp>
      <p:sp>
        <p:nvSpPr>
          <p:cNvPr id="9" name="How text 1"/>
          <p:cNvSpPr txBox="1"/>
          <p:nvPr/>
        </p:nvSpPr>
        <p:spPr>
          <a:xfrm>
            <a:off x="77724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One governed crosswalk: OPM standard data to a person model</a:t>
            </a:r>
            <a:endParaRPr lang="en-US" sz="1400" dirty="0"/>
          </a:p>
          <a:p>
            <a:pPr marL="342900" indent="-342900">
              <a:spcAft>
                <a:spcPts val="600"/>
              </a:spcAft>
              <a:buSzPct val="100000"/>
              <a:buChar char="•"/>
            </a:pPr>
            <a:r>
              <a:rPr lang="en-US" sz="1500" dirty="0">
                <a:solidFill>
                  <a:schemeClr val="tx2"/>
                </a:solidFill>
              </a:rPr>
              <a:t>Keyed on the Mainframe PIN, so a person stays one person</a:t>
            </a:r>
            <a:endParaRPr lang="en-US" sz="1400" dirty="0"/>
          </a:p>
          <a:p>
            <a:pPr marL="342900" indent="-342900">
              <a:spcAft>
                <a:spcPts val="600"/>
              </a:spcAft>
              <a:buSzPct val="100000"/>
              <a:buChar char="•"/>
            </a:pPr>
            <a:r>
              <a:rPr lang="en-US" sz="1500" dirty="0">
                <a:solidFill>
                  <a:schemeClr val="tx2"/>
                </a:solidFill>
              </a:rPr>
              <a:t>Personnel actions drive joiner, mover, leaver by code</a:t>
            </a:r>
            <a:endParaRPr lang="en-US" sz="1400" dirty="0"/>
          </a:p>
          <a:p>
            <a:pPr marL="342900" indent="-342900">
              <a:spcAft>
                <a:spcPts val="600"/>
              </a:spcAft>
              <a:buSzPct val="100000"/>
              <a:buChar char="•"/>
            </a:pPr>
            <a:r>
              <a:rPr lang="en-US" sz="1500" dirty="0">
                <a:solidFill>
                  <a:schemeClr val="tx2"/>
                </a:solidFill>
              </a:rPr>
              <a:t>Contractors from their own source, same model</a:t>
            </a:r>
            <a:endParaRPr lang="en-US" sz="1400" dirty="0"/>
          </a:p>
        </p:txBody>
      </p:sp>
      <p:sp>
        <p:nvSpPr>
          <p:cNvPr id="10" name="How col 2"/>
          <p:cNvSpPr/>
          <p:nvPr/>
        </p:nvSpPr>
        <p:spPr>
          <a:xfrm>
            <a:off x="4297680" y="1280160"/>
            <a:ext cx="3611880" cy="3429000"/>
          </a:xfrm>
          <a:prstGeom prst="roundRect">
            <a:avLst>
              <a:gd name="adj" fmla="val 213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Lock"/>
          <p:cNvSpPr/>
          <p:nvPr/>
        </p:nvSpPr>
        <p:spPr>
          <a:xfrm>
            <a:off x="4498848" y="1444752"/>
            <a:ext cx="566928" cy="566928"/>
          </a:xfrm>
          <a:prstGeom prst="ellipse">
            <a:avLst/>
          </a:prstGeom>
          <a:solidFill>
            <a:srgbClr val="B91C1C"/>
          </a:solidFill>
          <a:ln w="12700">
            <a:solidFill>
              <a:srgbClr val="B91C1C"/>
            </a:solidFill>
            <a:prstDash val="solid"/>
          </a:ln>
        </p:spPr>
      </p:sp>
      <p:pic>
        <p:nvPicPr>
          <p:cNvPr id="12" name="Image 1" descr="C:\Users\whale\AppData\Local\Temp\claude\C--Users-whale-git-uiao-inbox\cbd5b766-acc0-4006-9202-a9bb6b23e97b\scratchpad\deck\icons\FaLock.png">    </p:cNvPr>
          <p:cNvPicPr>
            <a:picLocks noChangeAspect="1"/>
          </p:cNvPicPr>
          <p:nvPr/>
        </p:nvPicPr>
        <p:blipFill>
          <a:blip r:embed="rId2"/>
          <a:stretch>
            <a:fillRect/>
          </a:stretch>
        </p:blipFill>
        <p:spPr>
          <a:xfrm>
            <a:off x="4634911" y="1580815"/>
            <a:ext cx="294803" cy="294803"/>
          </a:xfrm>
          <a:prstGeom prst="rect">
            <a:avLst/>
          </a:prstGeom>
        </p:spPr>
      </p:pic>
      <p:sp>
        <p:nvSpPr>
          <p:cNvPr id="13" name="How head 2"/>
          <p:cNvSpPr txBox="1"/>
          <p:nvPr/>
        </p:nvSpPr>
        <p:spPr>
          <a:xfrm>
            <a:off x="5212080" y="1444752"/>
            <a:ext cx="2560320" cy="566928"/>
          </a:xfrm>
          <a:prstGeom prst="rect">
            <a:avLst/>
          </a:prstGeom>
          <a:noFill/>
          <a:ln/>
        </p:spPr>
        <p:txBody>
          <a:bodyPr wrap="square" lIns="0" tIns="0" rIns="0" bIns="0" rtlCol="0" anchor="ctr"/>
          <a:lstStyle/>
          <a:p>
            <a:pPr indent="0" marL="0">
              <a:buNone/>
            </a:pPr>
            <a:r>
              <a:rPr lang="en-US" sz="1900" b="1" dirty="0">
                <a:solidFill>
                  <a:srgbClr val="B91C1C"/>
                </a:solidFill>
                <a:latin typeface="Cambria" pitchFamily="34" charset="0"/>
                <a:ea typeface="Cambria" pitchFamily="34" charset="-122"/>
                <a:cs typeface="Cambria" pitchFamily="34" charset="-120"/>
              </a:rPr>
              <a:t>Security</a:t>
            </a:r>
            <a:endParaRPr lang="en-US" sz="1900" dirty="0"/>
          </a:p>
        </p:txBody>
      </p:sp>
      <p:sp>
        <p:nvSpPr>
          <p:cNvPr id="14" name="How text 2"/>
          <p:cNvSpPr txBox="1"/>
          <p:nvPr/>
        </p:nvSpPr>
        <p:spPr>
          <a:xfrm>
            <a:off x="452628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Leavers: block access first, within hours, then clean up</a:t>
            </a:r>
            <a:endParaRPr lang="en-US" sz="1400" dirty="0"/>
          </a:p>
          <a:p>
            <a:pPr marL="342900" indent="-342900">
              <a:spcAft>
                <a:spcPts val="600"/>
              </a:spcAft>
              <a:buSzPct val="100000"/>
              <a:buChar char="•"/>
            </a:pPr>
            <a:r>
              <a:rPr lang="en-US" sz="1500" dirty="0">
                <a:solidFill>
                  <a:schemeClr val="tx2"/>
                </a:solidFill>
              </a:rPr>
              <a:t>Least privilege; no stored secrets</a:t>
            </a:r>
            <a:endParaRPr lang="en-US" sz="1400" dirty="0"/>
          </a:p>
          <a:p>
            <a:pPr marL="342900" indent="-342900">
              <a:spcAft>
                <a:spcPts val="600"/>
              </a:spcAft>
              <a:buSzPct val="100000"/>
              <a:buChar char="•"/>
            </a:pPr>
            <a:r>
              <a:rPr lang="en-US" sz="1500" dirty="0">
                <a:solidFill>
                  <a:schemeClr val="tx2"/>
                </a:solidFill>
              </a:rPr>
              <a:t>Failures quarantined with an owner — nothing auto-resolves</a:t>
            </a:r>
            <a:endParaRPr lang="en-US" sz="1400" dirty="0"/>
          </a:p>
        </p:txBody>
      </p:sp>
      <p:sp>
        <p:nvSpPr>
          <p:cNvPr id="15" name="How col 3"/>
          <p:cNvSpPr/>
          <p:nvPr/>
        </p:nvSpPr>
        <p:spPr>
          <a:xfrm>
            <a:off x="8046720" y="1280160"/>
            <a:ext cx="3611880" cy="3429000"/>
          </a:xfrm>
          <a:prstGeom prst="roundRect">
            <a:avLst>
              <a:gd name="adj" fmla="val 213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Route"/>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AppData\Local\Temp\claude\C--Users-whale-git-uiao-inbox\cbd5b766-acc0-4006-9202-a9bb6b23e97b\scratchpad\deck\icons\FaRoute.png">    </p:cNvPr>
          <p:cNvPicPr>
            <a:picLocks noChangeAspect="1"/>
          </p:cNvPicPr>
          <p:nvPr/>
        </p:nvPicPr>
        <p:blipFill>
          <a:blip r:embed="rId3"/>
          <a:stretch>
            <a:fillRect/>
          </a:stretch>
        </p:blipFill>
        <p:spPr>
          <a:xfrm>
            <a:off x="8383951" y="1580815"/>
            <a:ext cx="294803" cy="294803"/>
          </a:xfrm>
          <a:prstGeom prst="rect">
            <a:avLst/>
          </a:prstGeom>
        </p:spPr>
      </p:pic>
      <p:sp>
        <p:nvSpPr>
          <p:cNvPr id="18" name="How head 3"/>
          <p:cNvSpPr txBox="1"/>
          <p:nvPr/>
        </p:nvSpPr>
        <p:spPr>
          <a:xfrm>
            <a:off x="8961120" y="1444752"/>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Operations</a:t>
            </a:r>
            <a:endParaRPr lang="en-US" sz="1900" dirty="0"/>
          </a:p>
        </p:txBody>
      </p:sp>
      <p:sp>
        <p:nvSpPr>
          <p:cNvPr id="19" name="How text 3"/>
          <p:cNvSpPr txBox="1"/>
          <p:nvPr/>
        </p:nvSpPr>
        <p:spPr>
          <a:xfrm>
            <a:off x="827532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Start now from the HR Operational Data Store; switch the source at Core HCM</a:t>
            </a:r>
            <a:endParaRPr lang="en-US" sz="1400" dirty="0"/>
          </a:p>
          <a:p>
            <a:pPr marL="342900" indent="-342900">
              <a:spcAft>
                <a:spcPts val="600"/>
              </a:spcAft>
              <a:buSzPct val="100000"/>
              <a:buChar char="•"/>
            </a:pPr>
            <a:r>
              <a:rPr lang="en-US" sz="1500" dirty="0">
                <a:solidFill>
                  <a:schemeClr val="tx2"/>
                </a:solidFill>
              </a:rPr>
              <a:t>Shadow mode first: compare HR with the directories</a:t>
            </a:r>
            <a:endParaRPr lang="en-US" sz="1400" dirty="0"/>
          </a:p>
          <a:p>
            <a:pPr marL="342900" indent="-342900">
              <a:spcAft>
                <a:spcPts val="600"/>
              </a:spcAft>
              <a:buSzPct val="100000"/>
              <a:buChar char="•"/>
            </a:pPr>
            <a:r>
              <a:rPr lang="en-US" sz="1500" dirty="0">
                <a:solidFill>
                  <a:schemeClr val="tx2"/>
                </a:solidFill>
              </a:rPr>
              <a:t>Cut over one population at a time</a:t>
            </a:r>
            <a:endParaRPr lang="en-US" sz="1400" dirty="0"/>
          </a:p>
          <a:p>
            <a:pPr marL="342900" indent="-342900">
              <a:spcAft>
                <a:spcPts val="600"/>
              </a:spcAft>
              <a:buSzPct val="100000"/>
              <a:buChar char="•"/>
            </a:pPr>
            <a:r>
              <a:rPr lang="en-US" sz="1500" dirty="0">
                <a:solidFill>
                  <a:schemeClr val="tx2"/>
                </a:solidFill>
              </a:rPr>
              <a:t>Close the ticket path only when the data proves it</a:t>
            </a:r>
            <a:endParaRPr lang="en-US" sz="1400" dirty="0"/>
          </a:p>
        </p:txBody>
      </p:sp>
      <p:sp>
        <p:nvSpPr>
          <p:cNvPr id="20" name="Stack label"/>
          <p:cNvSpPr txBox="1"/>
          <p:nvPr/>
        </p:nvSpPr>
        <p:spPr>
          <a:xfrm>
            <a:off x="548640" y="5120640"/>
            <a:ext cx="1463040" cy="548640"/>
          </a:xfrm>
          <a:prstGeom prst="rect">
            <a:avLst/>
          </a:prstGeom>
          <a:noFill/>
          <a:ln/>
        </p:spPr>
        <p:txBody>
          <a:bodyPr wrap="square" lIns="0" tIns="0" rIns="0" bIns="0" rtlCol="0" anchor="ctr"/>
          <a:lstStyle/>
          <a:p>
            <a:pPr indent="0" marL="0">
              <a:buNone/>
            </a:pPr>
            <a:r>
              <a:rPr lang="en-US" sz="1100" b="1" dirty="0">
                <a:solidFill>
                  <a:srgbClr val="64748B"/>
                </a:solidFill>
              </a:rPr>
              <a:t>EXAMPLE STACK</a:t>
            </a:r>
            <a:endParaRPr lang="en-US" sz="1100" dirty="0"/>
          </a:p>
        </p:txBody>
      </p:sp>
      <p:sp>
        <p:nvSpPr>
          <p:cNvPr id="21" name="Stack 1"/>
          <p:cNvSpPr/>
          <p:nvPr/>
        </p:nvSpPr>
        <p:spPr>
          <a:xfrm>
            <a:off x="2011680"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2" name="Stack 1 text"/>
          <p:cNvSpPr txBox="1"/>
          <p:nvPr/>
        </p:nvSpPr>
        <p:spPr>
          <a:xfrm>
            <a:off x="2084832"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Oracle Core HCM</a:t>
            </a:r>
            <a:endParaRPr lang="en-US" sz="1200" dirty="0"/>
          </a:p>
        </p:txBody>
      </p:sp>
      <p:sp>
        <p:nvSpPr>
          <p:cNvPr id="23" name="Shape 18"/>
          <p:cNvSpPr/>
          <p:nvPr/>
        </p:nvSpPr>
        <p:spPr>
          <a:xfrm>
            <a:off x="4187952" y="5417820"/>
            <a:ext cx="237744" cy="0"/>
          </a:xfrm>
          <a:prstGeom prst="line">
            <a:avLst/>
          </a:prstGeom>
          <a:noFill/>
          <a:ln w="22225">
            <a:solidFill>
              <a:srgbClr val="64748B"/>
            </a:solidFill>
            <a:prstDash val="solid"/>
            <a:tailEnd type="triangle"/>
          </a:ln>
        </p:spPr>
      </p:sp>
      <p:sp>
        <p:nvSpPr>
          <p:cNvPr id="24" name="Stack 2"/>
          <p:cNvSpPr/>
          <p:nvPr/>
        </p:nvSpPr>
        <p:spPr>
          <a:xfrm>
            <a:off x="4453128"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5" name="Stack 2 text"/>
          <p:cNvSpPr txBox="1"/>
          <p:nvPr/>
        </p:nvSpPr>
        <p:spPr>
          <a:xfrm>
            <a:off x="4526280"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Entra ID HR-driven provisioning</a:t>
            </a:r>
            <a:endParaRPr lang="en-US" sz="1200" dirty="0"/>
          </a:p>
        </p:txBody>
      </p:sp>
      <p:sp>
        <p:nvSpPr>
          <p:cNvPr id="26" name="Shape 21"/>
          <p:cNvSpPr/>
          <p:nvPr/>
        </p:nvSpPr>
        <p:spPr>
          <a:xfrm>
            <a:off x="6629400" y="5417820"/>
            <a:ext cx="237744" cy="0"/>
          </a:xfrm>
          <a:prstGeom prst="line">
            <a:avLst/>
          </a:prstGeom>
          <a:noFill/>
          <a:ln w="22225">
            <a:solidFill>
              <a:srgbClr val="64748B"/>
            </a:solidFill>
            <a:prstDash val="solid"/>
            <a:tailEnd type="triangle"/>
          </a:ln>
        </p:spPr>
      </p:sp>
      <p:sp>
        <p:nvSpPr>
          <p:cNvPr id="27" name="Stack 3"/>
          <p:cNvSpPr/>
          <p:nvPr/>
        </p:nvSpPr>
        <p:spPr>
          <a:xfrm>
            <a:off x="6894576"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8" name="Stack 3 text"/>
          <p:cNvSpPr txBox="1"/>
          <p:nvPr/>
        </p:nvSpPr>
        <p:spPr>
          <a:xfrm>
            <a:off x="6967728"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Entra ID and Active Directory</a:t>
            </a:r>
            <a:endParaRPr lang="en-US" sz="1200" dirty="0"/>
          </a:p>
        </p:txBody>
      </p:sp>
      <p:sp>
        <p:nvSpPr>
          <p:cNvPr id="29" name="Shape 24"/>
          <p:cNvSpPr/>
          <p:nvPr/>
        </p:nvSpPr>
        <p:spPr>
          <a:xfrm>
            <a:off x="9070848" y="5417820"/>
            <a:ext cx="237744" cy="0"/>
          </a:xfrm>
          <a:prstGeom prst="line">
            <a:avLst/>
          </a:prstGeom>
          <a:noFill/>
          <a:ln w="22225">
            <a:solidFill>
              <a:srgbClr val="64748B"/>
            </a:solidFill>
            <a:prstDash val="solid"/>
            <a:tailEnd type="triangle"/>
          </a:ln>
        </p:spPr>
      </p:sp>
      <p:sp>
        <p:nvSpPr>
          <p:cNvPr id="30" name="Stack 4"/>
          <p:cNvSpPr/>
          <p:nvPr/>
        </p:nvSpPr>
        <p:spPr>
          <a:xfrm>
            <a:off x="9336024"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31" name="Stack 4 text"/>
          <p:cNvSpPr txBox="1"/>
          <p:nvPr/>
        </p:nvSpPr>
        <p:spPr>
          <a:xfrm>
            <a:off x="9409176"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Access packages, lifecycle workflows, PIV</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we’ll know it works — and what I need</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easures head"/>
          <p:cNvSpPr txBox="1"/>
          <p:nvPr/>
        </p:nvSpPr>
        <p:spPr>
          <a:xfrm>
            <a:off x="548640" y="1280160"/>
            <a:ext cx="6035040" cy="320040"/>
          </a:xfrm>
          <a:prstGeom prst="rect">
            <a:avLst/>
          </a:prstGeom>
          <a:noFill/>
          <a:ln/>
        </p:spPr>
        <p:txBody>
          <a:bodyPr wrap="square" lIns="0" tIns="0" rIns="0" bIns="0" rtlCol="0" anchor="t"/>
          <a:lstStyle/>
          <a:p>
            <a:pPr indent="0" marL="0">
              <a:buNone/>
            </a:pPr>
            <a:r>
              <a:rPr lang="en-US" sz="1200" b="1" dirty="0">
                <a:solidFill>
                  <a:srgbClr val="64748B"/>
                </a:solidFill>
              </a:rPr>
              <a:t>MEASURES, BASELINED IN THE FIRST PHASE</a:t>
            </a:r>
            <a:endParaRPr lang="en-US" sz="1200" dirty="0"/>
          </a:p>
        </p:txBody>
      </p:sp>
      <p:sp>
        <p:nvSpPr>
          <p:cNvPr id="6" name="Measure 1"/>
          <p:cNvSpPr/>
          <p:nvPr/>
        </p:nvSpPr>
        <p:spPr>
          <a:xfrm>
            <a:off x="548640" y="1691640"/>
            <a:ext cx="6035040" cy="694944"/>
          </a:xfrm>
          <a:prstGeom prst="roundRect">
            <a:avLst>
              <a:gd name="adj" fmla="val 10526"/>
            </a:avLst>
          </a:prstGeom>
          <a:solidFill>
            <a:srgbClr val="E9EEF4"/>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Icon FaUserXmark"/>
          <p:cNvSpPr/>
          <p:nvPr/>
        </p:nvSpPr>
        <p:spPr>
          <a:xfrm>
            <a:off x="685800" y="1792224"/>
            <a:ext cx="493776" cy="493776"/>
          </a:xfrm>
          <a:prstGeom prst="ellipse">
            <a:avLst/>
          </a:prstGeom>
          <a:solidFill>
            <a:srgbClr val="B91C1C"/>
          </a:solidFill>
          <a:ln w="12700">
            <a:solidFill>
              <a:srgbClr val="B91C1C"/>
            </a:solidFill>
            <a:prstDash val="solid"/>
          </a:ln>
        </p:spPr>
      </p:sp>
      <p:pic>
        <p:nvPicPr>
          <p:cNvPr id="8" name="Image 0" descr="C:\Users\whale\AppData\Local\Temp\claude\C--Users-whale-git-uiao-inbox\cbd5b766-acc0-4006-9202-a9bb6b23e97b\scratchpad\deck\icons\FaUserXmark.png">    </p:cNvPr>
          <p:cNvPicPr>
            <a:picLocks noChangeAspect="1"/>
          </p:cNvPicPr>
          <p:nvPr/>
        </p:nvPicPr>
        <p:blipFill>
          <a:blip r:embed="rId1"/>
          <a:stretch>
            <a:fillRect/>
          </a:stretch>
        </p:blipFill>
        <p:spPr>
          <a:xfrm>
            <a:off x="804306" y="1910730"/>
            <a:ext cx="256764" cy="256764"/>
          </a:xfrm>
          <a:prstGeom prst="rect">
            <a:avLst/>
          </a:prstGeom>
        </p:spPr>
      </p:pic>
      <p:sp>
        <p:nvSpPr>
          <p:cNvPr id="9" name="Measure 1 text"/>
          <p:cNvSpPr txBox="1"/>
          <p:nvPr/>
        </p:nvSpPr>
        <p:spPr>
          <a:xfrm>
            <a:off x="1325880" y="1728216"/>
            <a:ext cx="5120640" cy="640080"/>
          </a:xfrm>
          <a:prstGeom prst="rect">
            <a:avLst/>
          </a:prstGeom>
          <a:noFill/>
          <a:ln/>
        </p:spPr>
        <p:txBody>
          <a:bodyPr wrap="square" lIns="0" tIns="0" rIns="0" bIns="0" rtlCol="0" anchor="ctr"/>
          <a:lstStyle/>
          <a:p>
            <a:pPr indent="0" marL="0">
              <a:buNone/>
            </a:pPr>
            <a:r>
              <a:rPr lang="en-US" sz="1550" b="1" dirty="0">
                <a:solidFill>
                  <a:srgbClr val="B91C1C"/>
                </a:solidFill>
              </a:rPr>
              <a:t>Separation to blocked access</a:t>
            </a:r>
            <a:endParaRPr lang="en-US" sz="1400" dirty="0"/>
          </a:p>
          <a:p>
            <a:pPr indent="0" marL="0">
              <a:buNone/>
            </a:pPr>
            <a:r>
              <a:rPr lang="en-US" sz="1350" dirty="0">
                <a:solidFill>
                  <a:schemeClr val="tx2"/>
                </a:solidFill>
              </a:rPr>
              <a:t>Within hours — PIV termination standard is 18 hours</a:t>
            </a:r>
            <a:endParaRPr lang="en-US" sz="1400" dirty="0"/>
          </a:p>
        </p:txBody>
      </p:sp>
      <p:sp>
        <p:nvSpPr>
          <p:cNvPr id="10" name="Measure 2"/>
          <p:cNvSpPr/>
          <p:nvPr/>
        </p:nvSpPr>
        <p:spPr>
          <a:xfrm>
            <a:off x="548640" y="2478024"/>
            <a:ext cx="6035040" cy="694944"/>
          </a:xfrm>
          <a:prstGeom prst="roundRect">
            <a:avLst>
              <a:gd name="adj" fmla="val 10526"/>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1" name="Icon FaFingerprint"/>
          <p:cNvSpPr/>
          <p:nvPr/>
        </p:nvSpPr>
        <p:spPr>
          <a:xfrm>
            <a:off x="685800" y="2578608"/>
            <a:ext cx="493776" cy="493776"/>
          </a:xfrm>
          <a:prstGeom prst="ellipse">
            <a:avLst/>
          </a:prstGeom>
          <a:solidFill>
            <a:srgbClr val="1F2A44"/>
          </a:solidFill>
          <a:ln w="12700">
            <a:solidFill>
              <a:srgbClr val="1F2A44"/>
            </a:solidFill>
            <a:prstDash val="solid"/>
          </a:ln>
        </p:spPr>
      </p:sp>
      <p:pic>
        <p:nvPicPr>
          <p:cNvPr id="12" name="Image 1" descr="C:\Users\whale\AppData\Local\Temp\claude\C--Users-whale-git-uiao-inbox\cbd5b766-acc0-4006-9202-a9bb6b23e97b\scratchpad\deck\icons\FaFingerprint.png">    </p:cNvPr>
          <p:cNvPicPr>
            <a:picLocks noChangeAspect="1"/>
          </p:cNvPicPr>
          <p:nvPr/>
        </p:nvPicPr>
        <p:blipFill>
          <a:blip r:embed="rId2"/>
          <a:stretch>
            <a:fillRect/>
          </a:stretch>
        </p:blipFill>
        <p:spPr>
          <a:xfrm>
            <a:off x="804306" y="2697114"/>
            <a:ext cx="256764" cy="256764"/>
          </a:xfrm>
          <a:prstGeom prst="rect">
            <a:avLst/>
          </a:prstGeom>
        </p:spPr>
      </p:pic>
      <p:sp>
        <p:nvSpPr>
          <p:cNvPr id="13" name="Measure 2 text"/>
          <p:cNvSpPr txBox="1"/>
          <p:nvPr/>
        </p:nvSpPr>
        <p:spPr>
          <a:xfrm>
            <a:off x="1325880" y="2514600"/>
            <a:ext cx="5120640" cy="640080"/>
          </a:xfrm>
          <a:prstGeom prst="rect">
            <a:avLst/>
          </a:prstGeom>
          <a:noFill/>
          <a:ln/>
        </p:spPr>
        <p:txBody>
          <a:bodyPr wrap="square" lIns="0" tIns="0" rIns="0" bIns="0" rtlCol="0" anchor="ctr"/>
          <a:lstStyle/>
          <a:p>
            <a:pPr indent="0" marL="0">
              <a:buNone/>
            </a:pPr>
            <a:r>
              <a:rPr lang="en-US" sz="1550" b="1" dirty="0">
                <a:solidFill>
                  <a:srgbClr val="1F2A44"/>
                </a:solidFill>
              </a:rPr>
              <a:t>Accounts tied to a person</a:t>
            </a:r>
            <a:endParaRPr lang="en-US" sz="1400" dirty="0"/>
          </a:p>
          <a:p>
            <a:pPr indent="0" marL="0">
              <a:buNone/>
            </a:pPr>
            <a:r>
              <a:rPr lang="en-US" sz="1350" dirty="0">
                <a:solidFill>
                  <a:schemeClr val="tx2"/>
                </a:solidFill>
              </a:rPr>
              <a:t>Orphaned accounts trend to zero</a:t>
            </a:r>
            <a:endParaRPr lang="en-US" sz="1400" dirty="0"/>
          </a:p>
        </p:txBody>
      </p:sp>
      <p:sp>
        <p:nvSpPr>
          <p:cNvPr id="14" name="Measure 3"/>
          <p:cNvSpPr/>
          <p:nvPr/>
        </p:nvSpPr>
        <p:spPr>
          <a:xfrm>
            <a:off x="548640" y="3264408"/>
            <a:ext cx="6035040" cy="694944"/>
          </a:xfrm>
          <a:prstGeom prst="roundRect">
            <a:avLst>
              <a:gd name="adj" fmla="val 10526"/>
            </a:avLst>
          </a:prstGeom>
          <a:solidFill>
            <a:srgbClr val="E9EEF4"/>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5" name="Icon FaUserClock"/>
          <p:cNvSpPr/>
          <p:nvPr/>
        </p:nvSpPr>
        <p:spPr>
          <a:xfrm>
            <a:off x="685800" y="3364992"/>
            <a:ext cx="493776" cy="493776"/>
          </a:xfrm>
          <a:prstGeom prst="ellipse">
            <a:avLst/>
          </a:prstGeom>
          <a:solidFill>
            <a:srgbClr val="0F766E"/>
          </a:solidFill>
          <a:ln w="12700">
            <a:solidFill>
              <a:srgbClr val="0F766E"/>
            </a:solidFill>
            <a:prstDash val="solid"/>
          </a:ln>
        </p:spPr>
      </p:sp>
      <p:pic>
        <p:nvPicPr>
          <p:cNvPr id="16" name="Image 2" descr="C:\Users\whale\AppData\Local\Temp\claude\C--Users-whale-git-uiao-inbox\cbd5b766-acc0-4006-9202-a9bb6b23e97b\scratchpad\deck\icons\FaUserClock.png">    </p:cNvPr>
          <p:cNvPicPr>
            <a:picLocks noChangeAspect="1"/>
          </p:cNvPicPr>
          <p:nvPr/>
        </p:nvPicPr>
        <p:blipFill>
          <a:blip r:embed="rId3"/>
          <a:stretch>
            <a:fillRect/>
          </a:stretch>
        </p:blipFill>
        <p:spPr>
          <a:xfrm>
            <a:off x="804306" y="3483498"/>
            <a:ext cx="256764" cy="256764"/>
          </a:xfrm>
          <a:prstGeom prst="rect">
            <a:avLst/>
          </a:prstGeom>
        </p:spPr>
      </p:pic>
      <p:sp>
        <p:nvSpPr>
          <p:cNvPr id="17" name="Measure 3 text"/>
          <p:cNvSpPr txBox="1"/>
          <p:nvPr/>
        </p:nvSpPr>
        <p:spPr>
          <a:xfrm>
            <a:off x="1325880" y="3300984"/>
            <a:ext cx="5120640" cy="640080"/>
          </a:xfrm>
          <a:prstGeom prst="rect">
            <a:avLst/>
          </a:prstGeom>
          <a:noFill/>
          <a:ln/>
        </p:spPr>
        <p:txBody>
          <a:bodyPr wrap="square" lIns="0" tIns="0" rIns="0" bIns="0" rtlCol="0" anchor="ctr"/>
          <a:lstStyle/>
          <a:p>
            <a:pPr indent="0" marL="0">
              <a:buNone/>
            </a:pPr>
            <a:r>
              <a:rPr lang="en-US" sz="1550" b="1" dirty="0">
                <a:solidFill>
                  <a:srgbClr val="0F766E"/>
                </a:solidFill>
              </a:rPr>
              <a:t>Joiner and mover tickets</a:t>
            </a:r>
            <a:endParaRPr lang="en-US" sz="1400" dirty="0"/>
          </a:p>
          <a:p>
            <a:pPr indent="0" marL="0">
              <a:buNone/>
            </a:pPr>
            <a:r>
              <a:rPr lang="en-US" sz="1350" dirty="0">
                <a:solidFill>
                  <a:schemeClr val="tx2"/>
                </a:solidFill>
              </a:rPr>
              <a:t>Volume down; access on day one</a:t>
            </a:r>
            <a:endParaRPr lang="en-US" sz="1400" dirty="0"/>
          </a:p>
        </p:txBody>
      </p:sp>
      <p:sp>
        <p:nvSpPr>
          <p:cNvPr id="18" name="Measure 4"/>
          <p:cNvSpPr/>
          <p:nvPr/>
        </p:nvSpPr>
        <p:spPr>
          <a:xfrm>
            <a:off x="548640" y="4050792"/>
            <a:ext cx="6035040" cy="694944"/>
          </a:xfrm>
          <a:prstGeom prst="roundRect">
            <a:avLst>
              <a:gd name="adj" fmla="val 10526"/>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9" name="Icon FaAddressBook"/>
          <p:cNvSpPr/>
          <p:nvPr/>
        </p:nvSpPr>
        <p:spPr>
          <a:xfrm>
            <a:off x="685800" y="4151376"/>
            <a:ext cx="493776" cy="493776"/>
          </a:xfrm>
          <a:prstGeom prst="ellipse">
            <a:avLst/>
          </a:prstGeom>
          <a:solidFill>
            <a:srgbClr val="1F2A44"/>
          </a:solidFill>
          <a:ln w="12700">
            <a:solidFill>
              <a:srgbClr val="1F2A44"/>
            </a:solidFill>
            <a:prstDash val="solid"/>
          </a:ln>
        </p:spPr>
      </p:sp>
      <p:pic>
        <p:nvPicPr>
          <p:cNvPr id="20" name="Image 3" descr="C:\Users\whale\AppData\Local\Temp\claude\C--Users-whale-git-uiao-inbox\cbd5b766-acc0-4006-9202-a9bb6b23e97b\scratchpad\deck\icons\FaAddressBook.png">    </p:cNvPr>
          <p:cNvPicPr>
            <a:picLocks noChangeAspect="1"/>
          </p:cNvPicPr>
          <p:nvPr/>
        </p:nvPicPr>
        <p:blipFill>
          <a:blip r:embed="rId4"/>
          <a:stretch>
            <a:fillRect/>
          </a:stretch>
        </p:blipFill>
        <p:spPr>
          <a:xfrm>
            <a:off x="804306" y="4269882"/>
            <a:ext cx="256764" cy="256764"/>
          </a:xfrm>
          <a:prstGeom prst="rect">
            <a:avLst/>
          </a:prstGeom>
        </p:spPr>
      </p:pic>
      <p:sp>
        <p:nvSpPr>
          <p:cNvPr id="21" name="Measure 4 text"/>
          <p:cNvSpPr txBox="1"/>
          <p:nvPr/>
        </p:nvSpPr>
        <p:spPr>
          <a:xfrm>
            <a:off x="1325880" y="4087368"/>
            <a:ext cx="5120640" cy="640080"/>
          </a:xfrm>
          <a:prstGeom prst="rect">
            <a:avLst/>
          </a:prstGeom>
          <a:noFill/>
          <a:ln/>
        </p:spPr>
        <p:txBody>
          <a:bodyPr wrap="square" lIns="0" tIns="0" rIns="0" bIns="0" rtlCol="0" anchor="ctr"/>
          <a:lstStyle/>
          <a:p>
            <a:pPr indent="0" marL="0">
              <a:buNone/>
            </a:pPr>
            <a:r>
              <a:rPr lang="en-US" sz="1550" b="1" dirty="0">
                <a:solidFill>
                  <a:srgbClr val="1F2A44"/>
                </a:solidFill>
              </a:rPr>
              <a:t>Directory accuracy</a:t>
            </a:r>
            <a:endParaRPr lang="en-US" sz="1400" dirty="0"/>
          </a:p>
          <a:p>
            <a:pPr indent="0" marL="0">
              <a:buNone/>
            </a:pPr>
            <a:r>
              <a:rPr lang="en-US" sz="1350" dirty="0">
                <a:solidFill>
                  <a:schemeClr val="tx2"/>
                </a:solidFill>
              </a:rPr>
              <a:t>Manager and organization match HR</a:t>
            </a:r>
            <a:endParaRPr lang="en-US" sz="1400" dirty="0"/>
          </a:p>
        </p:txBody>
      </p:sp>
      <p:sp>
        <p:nvSpPr>
          <p:cNvPr id="22" name="Measure 5"/>
          <p:cNvSpPr/>
          <p:nvPr/>
        </p:nvSpPr>
        <p:spPr>
          <a:xfrm>
            <a:off x="548640" y="4837176"/>
            <a:ext cx="6035040" cy="694944"/>
          </a:xfrm>
          <a:prstGeom prst="roundRect">
            <a:avLst>
              <a:gd name="adj" fmla="val 10526"/>
            </a:avLst>
          </a:prstGeom>
          <a:solidFill>
            <a:srgbClr val="E9EEF4"/>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3" name="Icon FaTriangleExclamation"/>
          <p:cNvSpPr/>
          <p:nvPr/>
        </p:nvSpPr>
        <p:spPr>
          <a:xfrm>
            <a:off x="685800" y="4937760"/>
            <a:ext cx="493776" cy="493776"/>
          </a:xfrm>
          <a:prstGeom prst="ellipse">
            <a:avLst/>
          </a:prstGeom>
          <a:solidFill>
            <a:srgbClr val="B45309"/>
          </a:solidFill>
          <a:ln w="12700">
            <a:solidFill>
              <a:srgbClr val="B45309"/>
            </a:solidFill>
            <a:prstDash val="solid"/>
          </a:ln>
        </p:spPr>
      </p:sp>
      <p:pic>
        <p:nvPicPr>
          <p:cNvPr id="24" name="Image 4" descr="C:\Users\whale\AppData\Local\Temp\claude\C--Users-whale-git-uiao-inbox\cbd5b766-acc0-4006-9202-a9bb6b23e97b\scratchpad\deck\icons\FaTriangleExclamation.png">    </p:cNvPr>
          <p:cNvPicPr>
            <a:picLocks noChangeAspect="1"/>
          </p:cNvPicPr>
          <p:nvPr/>
        </p:nvPicPr>
        <p:blipFill>
          <a:blip r:embed="rId5"/>
          <a:stretch>
            <a:fillRect/>
          </a:stretch>
        </p:blipFill>
        <p:spPr>
          <a:xfrm>
            <a:off x="804306" y="5056266"/>
            <a:ext cx="256764" cy="256764"/>
          </a:xfrm>
          <a:prstGeom prst="rect">
            <a:avLst/>
          </a:prstGeom>
        </p:spPr>
      </p:pic>
      <p:sp>
        <p:nvSpPr>
          <p:cNvPr id="25" name="Measure 5 text"/>
          <p:cNvSpPr txBox="1"/>
          <p:nvPr/>
        </p:nvSpPr>
        <p:spPr>
          <a:xfrm>
            <a:off x="1325880" y="4873752"/>
            <a:ext cx="5120640" cy="640080"/>
          </a:xfrm>
          <a:prstGeom prst="rect">
            <a:avLst/>
          </a:prstGeom>
          <a:noFill/>
          <a:ln/>
        </p:spPr>
        <p:txBody>
          <a:bodyPr wrap="square" lIns="0" tIns="0" rIns="0" bIns="0" rtlCol="0" anchor="ctr"/>
          <a:lstStyle/>
          <a:p>
            <a:pPr indent="0" marL="0">
              <a:buNone/>
            </a:pPr>
            <a:r>
              <a:rPr lang="en-US" sz="1550" b="1" dirty="0">
                <a:solidFill>
                  <a:srgbClr val="B45309"/>
                </a:solidFill>
              </a:rPr>
              <a:t>Exceptions</a:t>
            </a:r>
            <a:endParaRPr lang="en-US" sz="1400" dirty="0"/>
          </a:p>
          <a:p>
            <a:pPr indent="0" marL="0">
              <a:buNone/>
            </a:pPr>
            <a:r>
              <a:rPr lang="en-US" sz="1350" dirty="0">
                <a:solidFill>
                  <a:schemeClr val="tx2"/>
                </a:solidFill>
              </a:rPr>
              <a:t>Each has an owner and an age</a:t>
            </a:r>
            <a:endParaRPr lang="en-US" sz="1400" dirty="0"/>
          </a:p>
        </p:txBody>
      </p:sp>
      <p:sp>
        <p:nvSpPr>
          <p:cNvPr id="26" name="Ask box"/>
          <p:cNvSpPr/>
          <p:nvPr/>
        </p:nvSpPr>
        <p:spPr>
          <a:xfrm>
            <a:off x="6812280" y="1280160"/>
            <a:ext cx="4846320" cy="4846320"/>
          </a:xfrm>
          <a:prstGeom prst="roundRect">
            <a:avLst>
              <a:gd name="adj" fmla="val 15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7" name="Icon FaLightbulb"/>
          <p:cNvSpPr/>
          <p:nvPr/>
        </p:nvSpPr>
        <p:spPr>
          <a:xfrm>
            <a:off x="7040880" y="1463040"/>
            <a:ext cx="685800" cy="685800"/>
          </a:xfrm>
          <a:prstGeom prst="ellipse">
            <a:avLst/>
          </a:prstGeom>
          <a:solidFill>
            <a:srgbClr val="B45309"/>
          </a:solidFill>
          <a:ln w="12700">
            <a:solidFill>
              <a:srgbClr val="B45309"/>
            </a:solidFill>
            <a:prstDash val="solid"/>
          </a:ln>
        </p:spPr>
      </p:sp>
      <p:pic>
        <p:nvPicPr>
          <p:cNvPr id="28" name="Image 5" descr="C:\Users\whale\AppData\Local\Temp\claude\C--Users-whale-git-uiao-inbox\cbd5b766-acc0-4006-9202-a9bb6b23e97b\scratchpad\deck\icons\FaLightbulb.png">    </p:cNvPr>
          <p:cNvPicPr>
            <a:picLocks noChangeAspect="1"/>
          </p:cNvPicPr>
          <p:nvPr/>
        </p:nvPicPr>
        <p:blipFill>
          <a:blip r:embed="rId6"/>
          <a:stretch>
            <a:fillRect/>
          </a:stretch>
        </p:blipFill>
        <p:spPr>
          <a:xfrm>
            <a:off x="7205472" y="1627632"/>
            <a:ext cx="356616" cy="356616"/>
          </a:xfrm>
          <a:prstGeom prst="rect">
            <a:avLst/>
          </a:prstGeom>
        </p:spPr>
      </p:pic>
      <p:sp>
        <p:nvSpPr>
          <p:cNvPr id="29" name="Ask head"/>
          <p:cNvSpPr txBox="1"/>
          <p:nvPr/>
        </p:nvSpPr>
        <p:spPr>
          <a:xfrm>
            <a:off x="7863840" y="1463040"/>
            <a:ext cx="3657600" cy="685800"/>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What I’d need from leadership</a:t>
            </a:r>
            <a:endParaRPr lang="en-US" sz="1900" dirty="0"/>
          </a:p>
        </p:txBody>
      </p:sp>
      <p:sp>
        <p:nvSpPr>
          <p:cNvPr id="30" name="Ask text"/>
          <p:cNvSpPr txBox="1"/>
          <p:nvPr/>
        </p:nvSpPr>
        <p:spPr>
          <a:xfrm>
            <a:off x="7040880" y="2331720"/>
            <a:ext cx="4434840" cy="3657600"/>
          </a:xfrm>
          <a:prstGeom prst="rect">
            <a:avLst/>
          </a:prstGeom>
          <a:noFill/>
          <a:ln/>
        </p:spPr>
        <p:txBody>
          <a:bodyPr wrap="square" lIns="0" tIns="0" rIns="0" bIns="0" rtlCol="0" anchor="t"/>
          <a:lstStyle/>
          <a:p>
            <a:pPr indent="0" marL="0">
              <a:spcAft>
                <a:spcPts val="600"/>
              </a:spcAft>
              <a:buNone/>
            </a:pPr>
            <a:r>
              <a:rPr lang="en-US" sz="1500" b="1" dirty="0">
                <a:solidFill>
                  <a:srgbClr val="1F2A44"/>
                </a:solidFill>
              </a:rPr>
              <a:t>One decision: </a:t>
            </a:r>
            <a:pPr indent="0" marL="0">
              <a:spcAft>
                <a:spcPts val="600"/>
              </a:spcAft>
              <a:buNone/>
            </a:pPr>
            <a:r>
              <a:rPr lang="en-US" sz="1500" dirty="0">
                <a:solidFill>
                  <a:schemeClr val="tx2"/>
                </a:solidFill>
              </a:rPr>
              <a:t>start HR-driven identity now, as a design requirement of the HR 2.0 onboarding and the Entra ID migration.</a:t>
            </a:r>
            <a:endParaRPr lang="en-US" sz="1500" dirty="0"/>
          </a:p>
          <a:p>
            <a:pPr marL="342900" indent="-342900">
              <a:spcAft>
                <a:spcPts val="600"/>
              </a:spcAft>
              <a:buSzPct val="100000"/>
              <a:buChar char="•"/>
            </a:pPr>
            <a:r>
              <a:rPr lang="en-US" sz="1450" dirty="0">
                <a:solidFill>
                  <a:schemeClr val="tx2"/>
                </a:solidFill>
              </a:rPr>
              <a:t>A sponsor across HR, the CIO’s identity team and privacy</a:t>
            </a:r>
            <a:endParaRPr lang="en-US" sz="1500" dirty="0"/>
          </a:p>
          <a:p>
            <a:pPr marL="342900" indent="-342900">
              <a:spcAft>
                <a:spcPts val="600"/>
              </a:spcAft>
              <a:buSzPct val="100000"/>
              <a:buChar char="•"/>
            </a:pPr>
            <a:r>
              <a:rPr lang="en-US" sz="1450" dirty="0">
                <a:solidFill>
                  <a:schemeClr val="tx2"/>
                </a:solidFill>
              </a:rPr>
              <a:t>Identity named as a consumer in the HR 2.0 interconnection plan</a:t>
            </a:r>
            <a:endParaRPr lang="en-US" sz="1500" dirty="0"/>
          </a:p>
          <a:p>
            <a:pPr marL="342900" indent="-342900">
              <a:spcAft>
                <a:spcPts val="600"/>
              </a:spcAft>
              <a:buSzPct val="100000"/>
              <a:buChar char="•"/>
            </a:pPr>
            <a:r>
              <a:rPr lang="en-US" sz="1450" dirty="0">
                <a:solidFill>
                  <a:schemeClr val="tx2"/>
                </a:solidFill>
              </a:rPr>
              <a:t>Data owners designated; the Mainframe PIN confirmed as the person key</a:t>
            </a:r>
            <a:endParaRPr lang="en-US" sz="1500" dirty="0"/>
          </a:p>
          <a:p>
            <a:pPr marL="342900" indent="-342900">
              <a:spcAft>
                <a:spcPts val="600"/>
              </a:spcAft>
              <a:buSzPct val="100000"/>
              <a:buChar char="•"/>
            </a:pPr>
            <a:r>
              <a:rPr lang="en-US" sz="1450" dirty="0">
                <a:solidFill>
                  <a:schemeClr val="tx2"/>
                </a:solidFill>
              </a:rPr>
              <a:t>A small team for the pre-onboarding data work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Backup</a:t>
            </a: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lIns="0" tIns="0" rIns="0" bIns="0" rtlCol="0" anchor="t"/>
          <a:lstStyle/>
          <a:p>
            <a:pPr indent="0" marL="0">
              <a:buNone/>
            </a:pPr>
            <a:r>
              <a:rPr lang="en-US" sz="2200" dirty="0">
                <a:solidFill>
                  <a:schemeClr val="accent2"/>
                </a:solidFill>
              </a:rPr>
              <a:t>Detail for questions — not presented</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Sources behind the executive slides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a:tblGrid>
                <a:gridCol w="4206240"/>
                <a:gridCol w="69037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supports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SSA OIG, Insider Threat Program (142302), Sept. 30,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Sampled personnel separated July 2024–June 2025: deficiencies in disabling access and revoking credentials. SSA agreed.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SSA OIG, Information Security Program and Practices for FY 2026 (142603), Sept.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Overall “Not Effective” (Level 3); identity and access management up to Level 4; recommends continued improvement in user-account oversight; data and metadata inventory not comprehensive.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SSA OIG, Use of AWS Connect for Telephone Services (042512), Sept.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SSA moved telephone services to Amazon Connect in August 2024.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SSA, Human Resources Operational Data Store Core Services (US-GOV-SSA-469), data.gov</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Subset of the HR Operational Data Store supporting manager look-ups of employee job information.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NIST FIPS 201-3 (Jan. 2022); NIST SP 800-53 Rev. 5, PS-4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Revoke credentials at separation; complete PIV termination within 18 hours if the card cannot be collected.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OMB/OPM memo, “Federal HR 2.0” (Dec. 10, 2025)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Consolidates core HCM on Oracle Fusion Cloud HCM in agency waves; ~8-month onboarding; interconnections live ~month 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HRIT arrives in late 2027 — build identity into it</a:t>
            </a:r>
            <a:endParaRPr lang="en-US" sz="3000" dirty="0"/>
          </a:p>
        </p:txBody>
      </p:sp>
      <p:sp>
        <p:nvSpPr>
          <p:cNvPr id="3" name="Two migrations, regardless card"/>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ArrowsRotate"/>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ArrowsRotate.png">    </p:cNvPr>
          <p:cNvPicPr>
            <a:picLocks noChangeAspect="1"/>
          </p:cNvPicPr>
          <p:nvPr/>
        </p:nvPicPr>
        <p:blipFill>
          <a:blip r:embed="rId1"/>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no HR-driven identity; accounts come from tickets</a:t>
            </a:r>
            <a:endParaRPr lang="en-US" sz="1550" dirty="0"/>
          </a:p>
        </p:txBody>
      </p:sp>
      <p:sp>
        <p:nvSpPr>
          <p:cNvPr id="8" name="Identity is SSA’s call card"/>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Landmark"/>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Landmark.png">    </p:cNvPr>
          <p:cNvPicPr>
            <a:picLocks noChangeAspect="1"/>
          </p:cNvPicPr>
          <p:nvPr/>
        </p:nvPicPr>
        <p:blipFill>
          <a:blip r:embed="rId2"/>
          <a:stretch>
            <a:fillRect/>
          </a:stretch>
        </p:blipFill>
        <p:spPr>
          <a:xfrm>
            <a:off x="4657954" y="1750162"/>
            <a:ext cx="285293" cy="285293"/>
          </a:xfrm>
          <a:prstGeom prst="rect">
            <a:avLst/>
          </a:prstGeom>
        </p:spPr>
      </p:pic>
      <p:sp>
        <p:nvSpPr>
          <p:cNvPr id="11" name="Identity is SSA’s call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Identity is SSA’s call</a:t>
            </a:r>
            <a:endParaRPr lang="en-US" sz="1800" dirty="0"/>
          </a:p>
        </p:txBody>
      </p:sp>
      <p:sp>
        <p:nvSpPr>
          <p:cNvPr id="12" name="Identity is SSA’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SSA’s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Lightbulb"/>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Lightbulb.png">    </p:cNvPr>
          <p:cNvPicPr>
            <a:picLocks noChangeAspect="1"/>
          </p:cNvPicPr>
          <p:nvPr/>
        </p:nvPicPr>
        <p:blipFill>
          <a:blip r:embed="rId3"/>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indent="0" marL="0">
              <a:buNone/>
            </a:pPr>
            <a:r>
              <a:rPr lang="en-US" sz="1800" b="1" dirty="0">
                <a:solidFill>
                  <a:srgbClr val="B45309"/>
                </a:solidFill>
              </a:rPr>
              <a:t>The choice: </a:t>
            </a:r>
            <a:pPr indent="0" marL="0">
              <a:buNone/>
            </a:pP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64748B"/>
                </a:solidFill>
              </a:rPr>
              <a:t>THE STRATEGY</a:t>
            </a:r>
            <a:endParaRPr lang="en-US" sz="1400" dirty="0"/>
          </a:p>
          <a:p>
            <a:pPr indent="0" marL="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indent="0" marL="0">
              <a:spcAft>
                <a:spcPts val="400"/>
              </a:spcAft>
              <a:buNone/>
            </a:pPr>
            <a:r>
              <a:rPr lang="en-US" sz="1350" dirty="0">
                <a:solidFill>
                  <a:schemeClr val="tx2"/>
                </a:solidFill>
              </a:rPr>
              <a:t>OMB M‑22‑09 · NIST SP 800‑207 · CISA ZTMM</a:t>
            </a:r>
            <a:endParaRPr lang="en-US" sz="1400" dirty="0"/>
          </a:p>
        </p:txBody>
      </p:sp>
      <p:sp>
        <p:nvSpPr>
          <p:cNvPr id="5" name="Chain 2"/>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1F2A44"/>
                </a:solidFill>
              </a:rPr>
              <a:t>THE DELIVERY</a:t>
            </a:r>
            <a:endParaRPr lang="en-US" sz="1400" dirty="0"/>
          </a:p>
          <a:p>
            <a:pPr indent="0" marL="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indent="0" marL="0">
              <a:spcAft>
                <a:spcPts val="400"/>
              </a:spcAft>
              <a:buNone/>
            </a:pPr>
            <a:r>
              <a:rPr lang="en-US" sz="1350" dirty="0">
                <a:solidFill>
                  <a:schemeClr val="tx2"/>
                </a:solidFill>
              </a:rPr>
              <a:t>Each request enforced at the cloud edge (TIC 3.0)</a:t>
            </a:r>
            <a:endParaRPr lang="en-US" sz="1400" dirty="0"/>
          </a:p>
        </p:txBody>
      </p:sp>
      <p:sp>
        <p:nvSpPr>
          <p:cNvPr id="7" name="Chain 3"/>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0F766E"/>
                </a:solidFill>
              </a:rPr>
              <a:t>THE DECISION</a:t>
            </a:r>
            <a:endParaRPr lang="en-US" sz="1400" dirty="0"/>
          </a:p>
          <a:p>
            <a:pPr indent="0" marL="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indent="0" marL="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B45309"/>
                </a:solidFill>
              </a:rPr>
              <a:t>ACCURACY DECIDES ACCESS</a:t>
            </a:r>
            <a:endParaRPr lang="en-US" sz="1400" dirty="0"/>
          </a:p>
          <a:p>
            <a:pPr indent="0" marL="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indent="0" marL="0">
              <a:spcAft>
                <a:spcPts val="400"/>
              </a:spcAft>
              <a:buNone/>
            </a:pPr>
            <a:r>
              <a:rPr lang="en-US" sz="1350" dirty="0">
                <a:solidFill>
                  <a:schemeClr val="tx2"/>
                </a:solidFill>
              </a:rPr>
              <a:t>Organization, position, status, supervisor</a:t>
            </a:r>
            <a:endParaRPr lang="en-US" sz="1400" dirty="0"/>
          </a:p>
        </p:txBody>
      </p:sp>
      <p:sp>
        <p:nvSpPr>
          <p:cNvPr id="11" name="Shape 9"/>
          <p:cNvSpPr/>
          <p:nvPr/>
        </p:nvSpPr>
        <p:spPr>
          <a:xfrm>
            <a:off x="3017520" y="2212848"/>
            <a:ext cx="411480" cy="0"/>
          </a:xfrm>
          <a:prstGeom prst="line">
            <a:avLst/>
          </a:prstGeom>
          <a:noFill/>
          <a:ln w="22225">
            <a:solidFill>
              <a:srgbClr val="64748B"/>
            </a:solidFill>
            <a:prstDash val="solid"/>
            <a:tailEnd type="triangle"/>
          </a:ln>
        </p:spPr>
      </p:sp>
      <p:sp>
        <p:nvSpPr>
          <p:cNvPr id="12" name="Shape 10"/>
          <p:cNvSpPr/>
          <p:nvPr/>
        </p:nvSpPr>
        <p:spPr>
          <a:xfrm>
            <a:off x="5897880" y="2212848"/>
            <a:ext cx="411480" cy="0"/>
          </a:xfrm>
          <a:prstGeom prst="line">
            <a:avLst/>
          </a:prstGeom>
          <a:noFill/>
          <a:ln w="22225">
            <a:solidFill>
              <a:srgbClr val="64748B"/>
            </a:solidFill>
            <a:prstDash val="solid"/>
            <a:tailEnd type="triangle"/>
          </a:ln>
        </p:spPr>
      </p:sp>
      <p:sp>
        <p:nvSpPr>
          <p:cNvPr id="13" name="Shape 11"/>
          <p:cNvSpPr/>
          <p:nvPr/>
        </p:nvSpPr>
        <p:spPr>
          <a:xfrm>
            <a:off x="8778240" y="2212848"/>
            <a:ext cx="411480" cy="0"/>
          </a:xfrm>
          <a:prstGeom prst="line">
            <a:avLst/>
          </a:prstGeom>
          <a:noFill/>
          <a:ln w="22225">
            <a:solidFill>
              <a:srgbClr val="B45309"/>
            </a:solidFill>
            <a:prstDash val="solid"/>
            <a:headEnd type="triangle"/>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a:tblGrid>
                <a:gridCol w="2377440"/>
                <a:gridCol w="3840480"/>
                <a:gridCol w="4892040"/>
              </a:tblGrid>
              <a:tr h="37719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Zero Trust, delivered through SASE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Takeaway"/>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800" b="1" dirty="0">
                <a:solidFill>
                  <a:srgbClr val="B45309"/>
                </a:solidFill>
              </a:rPr>
              <a:t>When access is decided by attributes, </a:t>
            </a:r>
            <a:pPr indent="0" marL="0">
              <a:buNone/>
            </a:pPr>
            <a:r>
              <a:rPr lang="en-US" sz="1800" dirty="0">
                <a:solidFill>
                  <a:schemeClr val="tx2"/>
                </a:solidFill>
              </a:rPr>
              <a:t>the accuracy of employee data is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I’ve lived the impact of manually provisioned ICAM</a:t>
            </a:r>
            <a:endParaRPr lang="en-US" sz="3000" dirty="0"/>
          </a:p>
        </p:txBody>
      </p:sp>
      <p:sp>
        <p:nvSpPr>
          <p:cNvPr id="3" name="Story 1"/>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4" name="Icon FaAddressBook"/>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descr="C:\Users\whale\AppData\Local\Temp\claude\C--Users-whale-git-uiao-inbox\cbd5b766-acc0-4006-9202-a9bb6b23e97b\scratchpad\deck\icons\FaAddressBook.png">    </p:cNvPr>
          <p:cNvPicPr>
            <a:picLocks noChangeAspect="1"/>
          </p:cNvPicPr>
          <p:nvPr/>
        </p:nvPicPr>
        <p:blipFill>
          <a:blip r:embed="rId1"/>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The phone book (DITM)</a:t>
            </a:r>
            <a:endParaRPr lang="en-US" sz="1400" dirty="0"/>
          </a:p>
          <a:p>
            <a:pPr indent="0" marL="0">
              <a:spcAft>
                <a:spcPts val="600"/>
              </a:spcAft>
              <a:buNone/>
            </a:pPr>
            <a:r>
              <a:rPr lang="en-US" sz="1500" dirty="0">
                <a:solidFill>
                  <a:schemeClr val="tx2"/>
                </a:solidFill>
              </a:rPr>
              <a:t>Active Directory fed the agency phone book, but nothing fed Active Directory from HR. Titles, offices, phone numbers and managers stayed wrong until someone filed a ticket.</a:t>
            </a:r>
            <a:endParaRPr lang="en-US" sz="1400" dirty="0"/>
          </a:p>
        </p:txBody>
      </p:sp>
      <p:sp>
        <p:nvSpPr>
          <p:cNvPr id="7" name="Story 2"/>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Icon FaUserTie"/>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descr="C:\Users\whale\AppData\Local\Temp\claude\C--Users-whale-git-uiao-inbox\cbd5b766-acc0-4006-9202-a9bb6b23e97b\scratchpad\deck\icons\FaUserTie.png">    </p:cNvPr>
          <p:cNvPicPr>
            <a:picLocks noChangeAspect="1"/>
          </p:cNvPicPr>
          <p:nvPr/>
        </p:nvPicPr>
        <p:blipFill>
          <a:blip r:embed="rId2"/>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indent="0" marL="0">
              <a:spcAft>
                <a:spcPts val="600"/>
              </a:spcAft>
              <a:buNone/>
            </a:pPr>
            <a:r>
              <a:rPr lang="en-US" sz="1500" dirty="0">
                <a:solidFill>
                  <a:schemeClr val="tx2"/>
                </a:solidFill>
              </a:rPr>
              <a:t>My organization, my manager, and my access to tools such as SAM were updated by hand — by ticket, after the fact, every time.</a:t>
            </a:r>
            <a:endParaRPr lang="en-US" sz="1400" dirty="0"/>
          </a:p>
        </p:txBody>
      </p:sp>
      <p:sp>
        <p:nvSpPr>
          <p:cNvPr id="11" name="HR-driven panel"/>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RightLeft"/>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RightLeft.png">    </p:cNvPr>
          <p:cNvPicPr>
            <a:picLocks noChangeAspect="1"/>
          </p:cNvPicPr>
          <p:nvPr/>
        </p:nvPicPr>
        <p:blipFill>
          <a:blip r:embed="rId3"/>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personnel action records the reassignment</a:t>
            </a:r>
            <a:endParaRPr lang="en-US" sz="1550" dirty="0"/>
          </a:p>
        </p:txBody>
      </p:sp>
      <p:sp>
        <p:nvSpPr>
          <p:cNvPr id="18" name="Shape 13"/>
          <p:cNvSpPr/>
          <p:nvPr/>
        </p:nvSpPr>
        <p:spPr>
          <a:xfrm>
            <a:off x="7086600" y="2880360"/>
            <a:ext cx="0" cy="594360"/>
          </a:xfrm>
          <a:prstGeom prst="line">
            <a:avLst/>
          </a:prstGeom>
          <a:noFill/>
          <a:ln w="19050">
            <a:solidFill>
              <a:srgbClr val="0F766E"/>
            </a:solidFill>
            <a:prstDash val="solid"/>
            <a:tailEnd type="triangle"/>
          </a:ln>
        </p:spPr>
      </p:sp>
      <p:sp>
        <p:nvSpPr>
          <p:cNvPr id="19" name="Step 2 badge"/>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indent="0" marL="0">
              <a:buNone/>
            </a:pPr>
            <a:r>
              <a:rPr lang="en-US" sz="1550" dirty="0">
                <a:solidFill>
                  <a:srgbClr val="1F2A44"/>
                </a:solidFill>
              </a:rPr>
              <a:t>Organization and manager update in Entra ID and AD</a:t>
            </a:r>
            <a:endParaRPr lang="en-US" sz="1550" dirty="0"/>
          </a:p>
        </p:txBody>
      </p:sp>
      <p:sp>
        <p:nvSpPr>
          <p:cNvPr id="22" name="Shape 17"/>
          <p:cNvSpPr/>
          <p:nvPr/>
        </p:nvSpPr>
        <p:spPr>
          <a:xfrm>
            <a:off x="7086600" y="3931920"/>
            <a:ext cx="0" cy="594360"/>
          </a:xfrm>
          <a:prstGeom prst="line">
            <a:avLst/>
          </a:prstGeom>
          <a:noFill/>
          <a:ln w="19050">
            <a:solidFill>
              <a:srgbClr val="0F766E"/>
            </a:solidFill>
            <a:prstDash val="solid"/>
            <a:tailEnd type="triangle"/>
          </a:ln>
        </p:spPr>
      </p:sp>
      <p:sp>
        <p:nvSpPr>
          <p:cNvPr id="23" name="Step 3 badge"/>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phone book, approvals and SAM access follow — from the authoritative source, not a ticket</a:t>
            </a:r>
            <a:endParaRPr lang="en-US" sz="15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window closes at SSA’s interconnection go-live</a:t>
            </a:r>
            <a:endParaRPr lang="en-US" sz="3000" dirty="0"/>
          </a:p>
        </p:txBody>
      </p:sp>
      <p:sp>
        <p:nvSpPr>
          <p:cNvPr id="3" name="Shape 1"/>
          <p:cNvSpPr/>
          <p:nvPr/>
        </p:nvSpPr>
        <p:spPr>
          <a:xfrm>
            <a:off x="1691640" y="2240280"/>
            <a:ext cx="8778240" cy="0"/>
          </a:xfrm>
          <a:prstGeom prst="line">
            <a:avLst/>
          </a:prstGeom>
          <a:noFill/>
          <a:ln w="19050">
            <a:solidFill>
              <a:srgbClr val="64748B"/>
            </a:solidFill>
            <a:prstDash val="solid"/>
          </a:ln>
        </p:spPr>
      </p:sp>
      <p:sp>
        <p:nvSpPr>
          <p:cNvPr id="4" name="Milestone dot 1"/>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OMB/OPM memo</a:t>
            </a:r>
            <a:endParaRPr lang="en-US" sz="1400" dirty="0"/>
          </a:p>
          <a:p>
            <a:pPr algn="ctr" indent="0" marL="0">
              <a:buNone/>
            </a:pPr>
            <a:r>
              <a:rPr lang="en-US" sz="1400" dirty="0">
                <a:solidFill>
                  <a:schemeClr val="tx2"/>
                </a:solidFill>
              </a:rPr>
              <a:t>One government-wide Core HCM platform</a:t>
            </a:r>
            <a:endParaRPr lang="en-US" sz="1400" dirty="0"/>
          </a:p>
        </p:txBody>
      </p:sp>
      <p:sp>
        <p:nvSpPr>
          <p:cNvPr id="7" name="Milestone dot 2"/>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Core HCM award</a:t>
            </a:r>
            <a:endParaRPr lang="en-US" sz="1400" dirty="0"/>
          </a:p>
          <a:p>
            <a:pPr algn="ctr" indent="0" marL="0">
              <a:buNone/>
            </a:pPr>
            <a:r>
              <a:rPr lang="en-US" sz="1400" dirty="0">
                <a:solidFill>
                  <a:schemeClr val="tx2"/>
                </a:solidFill>
              </a:rPr>
              <a:t>Oracle Fusion Cloud HCM (SaaS)</a:t>
            </a:r>
            <a:endParaRPr lang="en-US" sz="1400" dirty="0"/>
          </a:p>
        </p:txBody>
      </p:sp>
      <p:sp>
        <p:nvSpPr>
          <p:cNvPr id="10" name="Milestone dot 3"/>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First go-lives</a:t>
            </a:r>
            <a:endParaRPr lang="en-US" sz="1400" dirty="0"/>
          </a:p>
          <a:p>
            <a:pPr algn="ctr" indent="0" marL="0">
              <a:buNone/>
            </a:pPr>
            <a:r>
              <a:rPr lang="en-US" sz="1400" dirty="0">
                <a:solidFill>
                  <a:schemeClr val="tx2"/>
                </a:solidFill>
              </a:rPr>
              <a:t>Wave 1 agencies</a:t>
            </a:r>
            <a:endParaRPr lang="en-US" sz="1400" dirty="0"/>
          </a:p>
        </p:txBody>
      </p:sp>
      <p:sp>
        <p:nvSpPr>
          <p:cNvPr id="13" name="Milestone dot 4"/>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algn="ctr" indent="0" marL="0">
              <a:buNone/>
            </a:pPr>
            <a:r>
              <a:rPr lang="en-US" sz="1800" b="1" dirty="0">
                <a:solidFill>
                  <a:srgbClr val="B45309"/>
                </a:solidFill>
                <a:latin typeface="Cambria" pitchFamily="34" charset="0"/>
                <a:ea typeface="Cambria" pitchFamily="34" charset="-122"/>
                <a:cs typeface="Cambria" pitchFamily="34" charset="-120"/>
              </a:rPr>
              <a:t>2nd half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algn="ctr" indent="0" marL="0">
              <a:buNone/>
            </a:pPr>
            <a:r>
              <a:rPr lang="en-US" sz="1400" b="1" dirty="0">
                <a:solidFill>
                  <a:srgbClr val="B45309"/>
                </a:solidFill>
              </a:rPr>
              <a:t>SSA’s Core HCM (Wave 2)</a:t>
            </a:r>
            <a:endParaRPr lang="en-US" sz="1400" dirty="0"/>
          </a:p>
          <a:p>
            <a:pPr algn="ctr" indent="0" marL="0">
              <a:buNone/>
            </a:pPr>
            <a:r>
              <a:rPr lang="en-US" sz="1400" dirty="0">
                <a:solidFill>
                  <a:schemeClr val="tx2"/>
                </a:solidFill>
              </a:rPr>
              <a:t>~8-month onboarding; interconnections live ~month 5</a:t>
            </a:r>
            <a:endParaRPr lang="en-US" sz="1400" dirty="0"/>
          </a:p>
        </p:txBody>
      </p:sp>
      <p:sp>
        <p:nvSpPr>
          <p:cNvPr id="16" name="Milestone dot 5"/>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One system</a:t>
            </a:r>
            <a:endParaRPr lang="en-US" sz="1400" dirty="0"/>
          </a:p>
          <a:p>
            <a:pPr algn="ctr" indent="0" marL="0">
              <a:buNone/>
            </a:pPr>
            <a:r>
              <a:rPr lang="en-US" sz="1400" dirty="0">
                <a:solidFill>
                  <a:schemeClr val="tx2"/>
                </a:solidFill>
              </a:rPr>
              <a:t>EHRI and eOPF decommissioned</a:t>
            </a:r>
            <a:endParaRPr lang="en-US" sz="1400" dirty="0"/>
          </a:p>
        </p:txBody>
      </p:sp>
      <p:sp>
        <p:nvSpPr>
          <p:cNvPr id="19" name="Window 1"/>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DoorOpen"/>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descr="C:\Users\whale\AppData\Local\Temp\claude\C--Users-whale-git-uiao-inbox\cbd5b766-acc0-4006-9202-a9bb6b23e97b\scratchpad\deck\icons\FaDoorOpen.png">    </p:cNvPr>
          <p:cNvPicPr>
            <a:picLocks noChangeAspect="1"/>
          </p:cNvPicPr>
          <p:nvPr/>
        </p:nvPicPr>
        <p:blipFill>
          <a:blip r:embed="rId1"/>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indent="0" marL="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4" name="Icon FaDoorClosed"/>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descr="C:\Users\whale\AppData\Local\Temp\claude\C--Users-whale-git-uiao-inbox\cbd5b766-acc0-4006-9202-a9bb6b23e97b\scratchpad\deck\icons\FaDoorClosed.png">    </p:cNvPr>
          <p:cNvPicPr>
            <a:picLocks noChangeAspect="1"/>
          </p:cNvPicPr>
          <p:nvPr/>
        </p:nvPicPr>
        <p:blipFill>
          <a:blip r:embed="rId2"/>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indent="0" marL="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a:tblGrid>
                <a:gridCol w="3566160"/>
                <a:gridCol w="4206240"/>
              </a:tblGrid>
              <a:tr h="531495">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Why card"/>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Book"/>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Book.png">    </p:cNvPr>
          <p:cNvPicPr>
            <a:picLocks noChangeAspect="1"/>
          </p:cNvPicPr>
          <p:nvPr/>
        </p:nvPicPr>
        <p:blipFill>
          <a:blip r:embed="rId1"/>
          <a:stretch>
            <a:fillRect/>
          </a:stretch>
        </p:blipFill>
        <p:spPr>
          <a:xfrm>
            <a:off x="8842248" y="1682496"/>
            <a:ext cx="237744" cy="237744"/>
          </a:xfrm>
          <a:prstGeom prst="rect">
            <a:avLst/>
          </a:prstGeom>
        </p:spPr>
      </p:pic>
      <p:sp>
        <p:nvSpPr>
          <p:cNvPr id="7" name="Why heading"/>
          <p:cNvSpPr txBox="1"/>
          <p:nvPr/>
        </p:nvSpPr>
        <p:spPr>
          <a:xfrm>
            <a:off x="9281160" y="1572768"/>
            <a:ext cx="2286000" cy="45720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indent="0" marL="0">
              <a:buNone/>
            </a:pPr>
            <a:r>
              <a:rPr lang="en-US" sz="1350" dirty="0">
                <a:solidFill>
                  <a:schemeClr val="tx2"/>
                </a:solidFill>
              </a:rPr>
              <a:t>OPM defines these elements and codes the same way for every agency. Map them to Entra ID and AD once, and the mapping still works if the HR vendor changes.</a:t>
            </a:r>
            <a:endParaRPr lang="en-US" sz="1350" dirty="0"/>
          </a:p>
        </p:txBody>
      </p:sp>
      <p:sp>
        <p:nvSpPr>
          <p:cNvPr id="9" name="CWK card"/>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Icon FaPeopleArrows"/>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descr="C:\Users\whale\AppData\Local\Temp\claude\C--Users-whale-git-uiao-inbox\cbd5b766-acc0-4006-9202-a9bb6b23e97b\scratchpad\deck\icons\FaPeopleArrows.png">    </p:cNvPr>
          <p:cNvPicPr>
            <a:picLocks noChangeAspect="1"/>
          </p:cNvPicPr>
          <p:nvPr/>
        </p:nvPicPr>
        <p:blipFill>
          <a:blip r:embed="rId2"/>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315968"/>
            <a:ext cx="2788920" cy="1280160"/>
          </a:xfrm>
          <a:prstGeom prst="rect">
            <a:avLst/>
          </a:prstGeom>
          <a:noFill/>
          <a:ln/>
        </p:spPr>
        <p:txBody>
          <a:bodyPr wrap="square" lIns="0" tIns="0" rIns="0" bIns="0" rtlCol="0" anchor="t"/>
          <a:lstStyle/>
          <a:p>
            <a:pPr indent="0" marL="0">
              <a:buNone/>
            </a:pPr>
            <a:r>
              <a:rPr lang="en-US" sz="1350" b="1" dirty="0">
                <a:solidFill>
                  <a:srgbClr val="1F2A44"/>
                </a:solidFill>
              </a:rPr>
              <a:t>Not in HRIT; today in COR spreadsheets. </a:t>
            </a:r>
            <a:pPr indent="0" marL="0">
              <a:buNone/>
            </a:pPr>
            <a:r>
              <a:rPr lang="en-US" sz="1350" dirty="0">
                <a:solidFill>
                  <a:schemeClr val="tx2"/>
                </a:solidFill>
              </a:rPr>
              <a:t>Best bet: Core HCM’s Contingent Worker type. Alternative: PIV sponsorship as the source.</a:t>
            </a:r>
            <a:endParaRPr lang="en-US" sz="13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Personnel actions drive the lifecycle — by code, not by ticket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a:tblGrid>
                <a:gridCol w="2743200"/>
                <a:gridCol w="1600200"/>
                <a:gridCol w="1920240"/>
                <a:gridCol w="4846320"/>
              </a:tblGrid>
              <a:tr h="509451">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NOA rule 1"/>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5" name="Icon FaUserClock"/>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descr="C:\Users\whale\AppData\Local\Temp\claude\C--Users-whale-git-uiao-inbox\cbd5b766-acc0-4006-9202-a9bb6b23e97b\scratchpad\deck\icons\FaUserClock.png">    </p:cNvPr>
          <p:cNvPicPr>
            <a:picLocks noChangeAspect="1"/>
          </p:cNvPicPr>
          <p:nvPr/>
        </p:nvPicPr>
        <p:blipFill>
          <a:blip r:embed="rId1"/>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Leave is not a leaver. </a:t>
            </a:r>
            <a:pPr indent="0" marL="0">
              <a:buNone/>
            </a:pPr>
            <a:r>
              <a:rPr lang="en-US" sz="1400" dirty="0">
                <a:solidFill>
                  <a:schemeClr val="tx2"/>
                </a:solidFill>
              </a:rPr>
              <a:t>Furlough, LWOP and suspension keep the person; policy restricts the account.</a:t>
            </a:r>
            <a:endParaRPr lang="en-US" sz="1400" dirty="0"/>
          </a:p>
        </p:txBody>
      </p:sp>
      <p:sp>
        <p:nvSpPr>
          <p:cNvPr id="8" name="NOA rule 2"/>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9" name="Icon FaArrowDownWideShort"/>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descr="C:\Users\whale\AppData\Local\Temp\claude\C--Users-whale-git-uiao-inbox\cbd5b766-acc0-4006-9202-a9bb6b23e97b\scratchpad\deck\icons\FaArrowDownWideShort.png">    </p:cNvPr>
          <p:cNvPicPr>
            <a:picLocks noChangeAspect="1"/>
          </p:cNvPicPr>
          <p:nvPr/>
        </p:nvPicPr>
        <p:blipFill>
          <a:blip r:embed="rId2"/>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Precedence is a rule. </a:t>
            </a:r>
            <a:pPr indent="0" marL="0">
              <a:buNone/>
            </a:pPr>
            <a:r>
              <a:rPr lang="en-US" sz="1400" dirty="0">
                <a:solidFill>
                  <a:schemeClr val="tx2"/>
                </a:solidFill>
              </a:rPr>
              <a:t>A separation wins; a conversion is applied before a mover.</a:t>
            </a:r>
            <a:endParaRPr lang="en-US" sz="1400" dirty="0"/>
          </a:p>
        </p:txBody>
      </p:sp>
      <p:sp>
        <p:nvSpPr>
          <p:cNvPr id="12" name="NOA rule 3"/>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Icon FaUserXmark"/>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descr="C:\Users\whale\AppData\Local\Temp\claude\C--Users-whale-git-uiao-inbox\cbd5b766-acc0-4006-9202-a9bb6b23e97b\scratchpad\deck\icons\FaUserXmark.png">    </p:cNvPr>
          <p:cNvPicPr>
            <a:picLocks noChangeAspect="1"/>
          </p:cNvPicPr>
          <p:nvPr/>
        </p:nvPicPr>
        <p:blipFill>
          <a:blip r:embed="rId3"/>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Rescinded offers clean up </a:t>
            </a:r>
            <a:pPr indent="0" marL="0">
              <a:buNone/>
            </a:pP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1965960"/>
                <a:gridCol w="2377440"/>
                <a:gridCol w="2240280"/>
                <a:gridCol w="1783080"/>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94360">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Enterprise person key (Mainframe PIN)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SSA — the existing Mainframe PIN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Never, once assigned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EDA card"/>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Sitemap"/>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Sitemap.png">    </p:cNvPr>
          <p:cNvPicPr>
            <a:picLocks noChangeAspect="1"/>
          </p:cNvPicPr>
          <p:nvPr/>
        </p:nvPicPr>
        <p:blipFill>
          <a:blip r:embed="rId1"/>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9" name="Decision"/>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indent="0" marL="0">
              <a:buNone/>
            </a:pPr>
            <a:r>
              <a:rPr lang="en-US" sz="1700" b="1" dirty="0">
                <a:solidFill>
                  <a:srgbClr val="B45309"/>
                </a:solidFill>
              </a:rPr>
              <a:t>SSA already has the key: </a:t>
            </a:r>
            <a:pPr indent="0" marL="0">
              <a:buNone/>
            </a:pPr>
            <a:r>
              <a:rPr lang="en-US" sz="1700" dirty="0">
                <a:solidFill>
                  <a:schemeClr val="tx2"/>
                </a:solidFill>
              </a:rPr>
              <a:t>the Mainframe PIN. Confirm it as the enterprise person key, and map Core HCM’s PersonNumber and every directory and credential key to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HR → canonical model → Entra ID and AD → ICAM</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2057400"/>
                <a:gridCol w="1828800"/>
                <a:gridCol w="2697480"/>
                <a:gridCol w="2606040"/>
                <a:gridCol w="1920240"/>
              </a:tblGrid>
              <a:tr h="509451">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Person (Mainframe PIN)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personKey = Mainframe PIN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Model rule 1"/>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Cubes"/>
          <p:cNvSpPr/>
          <p:nvPr/>
        </p:nvSpPr>
        <p:spPr>
          <a:xfrm>
            <a:off x="713232" y="5440680"/>
            <a:ext cx="548640" cy="54864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Cubes.png">    </p:cNvPr>
          <p:cNvPicPr>
            <a:picLocks noChangeAspect="1"/>
          </p:cNvPicPr>
          <p:nvPr/>
        </p:nvPicPr>
        <p:blipFill>
          <a:blip r:embed="rId1"/>
          <a:stretch>
            <a:fillRect/>
          </a:stretch>
        </p:blipFill>
        <p:spPr>
          <a:xfrm>
            <a:off x="844906" y="5572354"/>
            <a:ext cx="285293" cy="285293"/>
          </a:xfrm>
          <a:prstGeom prst="rect">
            <a:avLst/>
          </a:prstGeom>
        </p:spPr>
      </p:pic>
      <p:sp>
        <p:nvSpPr>
          <p:cNvPr id="7" name="Model rule 1 text"/>
          <p:cNvSpPr txBox="1"/>
          <p:nvPr/>
        </p:nvSpPr>
        <p:spPr>
          <a:xfrm>
            <a:off x="141732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Native attributes first</a:t>
            </a:r>
            <a:endParaRPr lang="en-US" sz="1500" dirty="0"/>
          </a:p>
          <a:p>
            <a:pPr indent="0" marL="0">
              <a:buNone/>
            </a:pPr>
            <a:r>
              <a:rPr lang="en-US" sz="1350" dirty="0">
                <a:solidFill>
                  <a:schemeClr val="tx2"/>
                </a:solidFill>
              </a:rPr>
              <a:t>Extensions only where a rule can’t read a native property.</a:t>
            </a:r>
            <a:endParaRPr lang="en-US" sz="1500" dirty="0"/>
          </a:p>
        </p:txBody>
      </p:sp>
      <p:sp>
        <p:nvSpPr>
          <p:cNvPr id="8" name="Model rule 2"/>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Hashtag"/>
          <p:cNvSpPr/>
          <p:nvPr/>
        </p:nvSpPr>
        <p:spPr>
          <a:xfrm>
            <a:off x="4462272" y="5440680"/>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Hashtag.png">    </p:cNvPr>
          <p:cNvPicPr>
            <a:picLocks noChangeAspect="1"/>
          </p:cNvPicPr>
          <p:nvPr/>
        </p:nvPicPr>
        <p:blipFill>
          <a:blip r:embed="rId2"/>
          <a:stretch>
            <a:fillRect/>
          </a:stretch>
        </p:blipFill>
        <p:spPr>
          <a:xfrm>
            <a:off x="4593946" y="5572354"/>
            <a:ext cx="285293" cy="285293"/>
          </a:xfrm>
          <a:prstGeom prst="rect">
            <a:avLst/>
          </a:prstGeom>
        </p:spPr>
      </p:pic>
      <p:sp>
        <p:nvSpPr>
          <p:cNvPr id="11" name="Model rule 2 text"/>
          <p:cNvSpPr txBox="1"/>
          <p:nvPr/>
        </p:nvSpPr>
        <p:spPr>
          <a:xfrm>
            <a:off x="516636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Codes, not display strings</a:t>
            </a:r>
            <a:endParaRPr lang="en-US" sz="1500" dirty="0"/>
          </a:p>
          <a:p>
            <a:pPr indent="0" marL="0">
              <a:buNone/>
            </a:pPr>
            <a:r>
              <a:rPr lang="en-US" sz="1350" dirty="0">
                <a:solidFill>
                  <a:schemeClr val="tx2"/>
                </a:solidFill>
              </a:rPr>
              <a:t>Access rules read codes that change only when the fact does.</a:t>
            </a:r>
            <a:endParaRPr lang="en-US" sz="1500" dirty="0"/>
          </a:p>
        </p:txBody>
      </p:sp>
      <p:sp>
        <p:nvSpPr>
          <p:cNvPr id="12" name="Model rule 3"/>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Icon FaTableList"/>
          <p:cNvSpPr/>
          <p:nvPr/>
        </p:nvSpPr>
        <p:spPr>
          <a:xfrm>
            <a:off x="8211312" y="5440680"/>
            <a:ext cx="548640" cy="548640"/>
          </a:xfrm>
          <a:prstGeom prst="ellipse">
            <a:avLst/>
          </a:prstGeom>
          <a:solidFill>
            <a:srgbClr val="0F766E"/>
          </a:solidFill>
          <a:ln w="12700">
            <a:solidFill>
              <a:srgbClr val="0F766E"/>
            </a:solidFill>
            <a:prstDash val="solid"/>
          </a:ln>
        </p:spPr>
      </p:sp>
      <p:pic>
        <p:nvPicPr>
          <p:cNvPr id="14" name="Image 2" descr="C:\Users\whale\AppData\Local\Temp\claude\C--Users-whale-git-uiao-inbox\cbd5b766-acc0-4006-9202-a9bb6b23e97b\scratchpad\deck\icons\FaTableList.png">    </p:cNvPr>
          <p:cNvPicPr>
            <a:picLocks noChangeAspect="1"/>
          </p:cNvPicPr>
          <p:nvPr/>
        </p:nvPicPr>
        <p:blipFill>
          <a:blip r:embed="rId3"/>
          <a:stretch>
            <a:fillRect/>
          </a:stretch>
        </p:blipFill>
        <p:spPr>
          <a:xfrm>
            <a:off x="8342986" y="5572354"/>
            <a:ext cx="285293" cy="285293"/>
          </a:xfrm>
          <a:prstGeom prst="rect">
            <a:avLst/>
          </a:prstGeom>
        </p:spPr>
      </p:pic>
      <p:sp>
        <p:nvSpPr>
          <p:cNvPr id="15" name="Model rule 3 text"/>
          <p:cNvSpPr txBox="1"/>
          <p:nvPr/>
        </p:nvSpPr>
        <p:spPr>
          <a:xfrm>
            <a:off x="891540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One crosswalk, governed</a:t>
            </a:r>
            <a:endParaRPr lang="en-US" sz="1500" dirty="0"/>
          </a:p>
          <a:p>
            <a:pPr indent="0" marL="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indent="0" marL="0">
              <a:buNone/>
            </a:pPr>
            <a:r>
              <a:rPr lang="en-US" sz="1400" b="1" dirty="0">
                <a:solidFill>
                  <a:srgbClr val="1F2A44"/>
                </a:solidFill>
              </a:rPr>
              <a:t>Logical architecture — stable</a:t>
            </a:r>
            <a:endParaRPr lang="en-US" sz="1400" dirty="0"/>
          </a:p>
        </p:txBody>
      </p:sp>
      <p:sp>
        <p:nvSpPr>
          <p:cNvPr id="4" name="LM 1.1"/>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Authoritative source</a:t>
            </a:r>
            <a:endParaRPr lang="en-US" sz="1350" dirty="0"/>
          </a:p>
        </p:txBody>
      </p:sp>
      <p:sp>
        <p:nvSpPr>
          <p:cNvPr id="6" name="Shape 4"/>
          <p:cNvSpPr/>
          <p:nvPr/>
        </p:nvSpPr>
        <p:spPr>
          <a:xfrm>
            <a:off x="2606040" y="2148840"/>
            <a:ext cx="205740" cy="0"/>
          </a:xfrm>
          <a:prstGeom prst="line">
            <a:avLst/>
          </a:prstGeom>
          <a:noFill/>
          <a:ln w="22225">
            <a:solidFill>
              <a:srgbClr val="1F2A44"/>
            </a:solidFill>
            <a:prstDash val="solid"/>
            <a:tailEnd type="triangle"/>
          </a:ln>
        </p:spPr>
      </p:sp>
      <p:sp>
        <p:nvSpPr>
          <p:cNvPr id="7" name="LM 1.2"/>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Boundary transformation</a:t>
            </a:r>
            <a:endParaRPr lang="en-US" sz="1350" dirty="0"/>
          </a:p>
        </p:txBody>
      </p:sp>
      <p:sp>
        <p:nvSpPr>
          <p:cNvPr id="9" name="Shape 7"/>
          <p:cNvSpPr/>
          <p:nvPr/>
        </p:nvSpPr>
        <p:spPr>
          <a:xfrm>
            <a:off x="4869180" y="2148840"/>
            <a:ext cx="205740" cy="0"/>
          </a:xfrm>
          <a:prstGeom prst="line">
            <a:avLst/>
          </a:prstGeom>
          <a:noFill/>
          <a:ln w="22225">
            <a:solidFill>
              <a:srgbClr val="1F2A44"/>
            </a:solidFill>
            <a:prstDash val="solid"/>
            <a:tailEnd type="triangle"/>
          </a:ln>
        </p:spPr>
      </p:sp>
      <p:sp>
        <p:nvSpPr>
          <p:cNvPr id="10" name="LM 1.3"/>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Governed identity model</a:t>
            </a:r>
            <a:endParaRPr lang="en-US" sz="1350" dirty="0"/>
          </a:p>
        </p:txBody>
      </p:sp>
      <p:sp>
        <p:nvSpPr>
          <p:cNvPr id="12" name="Shape 10"/>
          <p:cNvSpPr/>
          <p:nvPr/>
        </p:nvSpPr>
        <p:spPr>
          <a:xfrm>
            <a:off x="7132320" y="2148840"/>
            <a:ext cx="205740" cy="0"/>
          </a:xfrm>
          <a:prstGeom prst="line">
            <a:avLst/>
          </a:prstGeom>
          <a:noFill/>
          <a:ln w="22225">
            <a:solidFill>
              <a:srgbClr val="1F2A44"/>
            </a:solidFill>
            <a:prstDash val="solid"/>
            <a:tailEnd type="triangle"/>
          </a:ln>
        </p:spPr>
      </p:sp>
      <p:sp>
        <p:nvSpPr>
          <p:cNvPr id="13" name="LM 1.4"/>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Provisioning service</a:t>
            </a:r>
            <a:endParaRPr lang="en-US" sz="1350" dirty="0"/>
          </a:p>
        </p:txBody>
      </p:sp>
      <p:sp>
        <p:nvSpPr>
          <p:cNvPr id="15" name="Shape 13"/>
          <p:cNvSpPr/>
          <p:nvPr/>
        </p:nvSpPr>
        <p:spPr>
          <a:xfrm>
            <a:off x="9395460" y="2148840"/>
            <a:ext cx="205740" cy="0"/>
          </a:xfrm>
          <a:prstGeom prst="line">
            <a:avLst/>
          </a:prstGeom>
          <a:noFill/>
          <a:ln w="22225">
            <a:solidFill>
              <a:srgbClr val="1F2A44"/>
            </a:solidFill>
            <a:prstDash val="solid"/>
            <a:tailEnd type="triangle"/>
          </a:ln>
        </p:spPr>
      </p:sp>
      <p:sp>
        <p:nvSpPr>
          <p:cNvPr id="16" name="LM 1.5"/>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indent="0" marL="0">
              <a:buNone/>
            </a:pPr>
            <a:r>
              <a:rPr lang="en-US" sz="1400" b="1" dirty="0">
                <a:solidFill>
                  <a:srgbClr val="0F766E"/>
                </a:solidFill>
              </a:rPr>
              <a:t>Microsoft realization — replaceable</a:t>
            </a:r>
            <a:endParaRPr lang="en-US" sz="1400" dirty="0"/>
          </a:p>
        </p:txBody>
      </p:sp>
      <p:sp>
        <p:nvSpPr>
          <p:cNvPr id="19" name="LM 2.1"/>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Oracle Core HCM</a:t>
            </a:r>
            <a:endParaRPr lang="en-US" sz="1350" dirty="0"/>
          </a:p>
        </p:txBody>
      </p:sp>
      <p:sp>
        <p:nvSpPr>
          <p:cNvPr id="21" name="Shape 19"/>
          <p:cNvSpPr/>
          <p:nvPr/>
        </p:nvSpPr>
        <p:spPr>
          <a:xfrm>
            <a:off x="2606040" y="3566160"/>
            <a:ext cx="205740" cy="0"/>
          </a:xfrm>
          <a:prstGeom prst="line">
            <a:avLst/>
          </a:prstGeom>
          <a:noFill/>
          <a:ln w="22225">
            <a:solidFill>
              <a:srgbClr val="0F766E"/>
            </a:solidFill>
            <a:prstDash val="solid"/>
            <a:tailEnd type="triangle"/>
          </a:ln>
        </p:spPr>
      </p:sp>
      <p:sp>
        <p:nvSpPr>
          <p:cNvPr id="22" name="LM 2.2"/>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Azure Functions or Logic Apps</a:t>
            </a:r>
            <a:endParaRPr lang="en-US" sz="1350" dirty="0"/>
          </a:p>
        </p:txBody>
      </p:sp>
      <p:sp>
        <p:nvSpPr>
          <p:cNvPr id="24" name="Shape 22"/>
          <p:cNvSpPr/>
          <p:nvPr/>
        </p:nvSpPr>
        <p:spPr>
          <a:xfrm>
            <a:off x="4869180" y="3566160"/>
            <a:ext cx="205740" cy="0"/>
          </a:xfrm>
          <a:prstGeom prst="line">
            <a:avLst/>
          </a:prstGeom>
          <a:noFill/>
          <a:ln w="22225">
            <a:solidFill>
              <a:srgbClr val="0F766E"/>
            </a:solidFill>
            <a:prstDash val="solid"/>
            <a:tailEnd type="triangle"/>
          </a:ln>
        </p:spPr>
      </p:sp>
      <p:sp>
        <p:nvSpPr>
          <p:cNvPr id="25" name="LM 2.3"/>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Canonical model and provenance store</a:t>
            </a:r>
            <a:endParaRPr lang="en-US" sz="1350" dirty="0"/>
          </a:p>
        </p:txBody>
      </p:sp>
      <p:sp>
        <p:nvSpPr>
          <p:cNvPr id="27" name="Shape 25"/>
          <p:cNvSpPr/>
          <p:nvPr/>
        </p:nvSpPr>
        <p:spPr>
          <a:xfrm>
            <a:off x="7132320" y="3566160"/>
            <a:ext cx="205740" cy="0"/>
          </a:xfrm>
          <a:prstGeom prst="line">
            <a:avLst/>
          </a:prstGeom>
          <a:noFill/>
          <a:ln w="22225">
            <a:solidFill>
              <a:srgbClr val="0F766E"/>
            </a:solidFill>
            <a:prstDash val="solid"/>
            <a:tailEnd type="triangle"/>
          </a:ln>
        </p:spPr>
      </p:sp>
      <p:sp>
        <p:nvSpPr>
          <p:cNvPr id="28" name="LM 2.4"/>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Graph /bulkUpload; Entra provisioning</a:t>
            </a:r>
            <a:endParaRPr lang="en-US" sz="1350" dirty="0"/>
          </a:p>
        </p:txBody>
      </p:sp>
      <p:sp>
        <p:nvSpPr>
          <p:cNvPr id="30" name="Shape 28"/>
          <p:cNvSpPr/>
          <p:nvPr/>
        </p:nvSpPr>
        <p:spPr>
          <a:xfrm>
            <a:off x="9395460" y="3566160"/>
            <a:ext cx="205740" cy="0"/>
          </a:xfrm>
          <a:prstGeom prst="line">
            <a:avLst/>
          </a:prstGeom>
          <a:noFill/>
          <a:ln w="22225">
            <a:solidFill>
              <a:srgbClr val="0F766E"/>
            </a:solidFill>
            <a:prstDash val="solid"/>
            <a:tailEnd type="triangle"/>
          </a:ln>
        </p:spPr>
      </p:sp>
      <p:sp>
        <p:nvSpPr>
          <p:cNvPr id="31" name="LM 2.5"/>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Entra ID, AD, Intune, card management</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a:tblGrid>
                <a:gridCol w="2103120"/>
                <a:gridCol w="4480560"/>
                <a:gridCol w="4526280"/>
              </a:tblGrid>
              <a:tr h="48768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IdCard"/>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IdCard.png">    </p:cNvPr>
          <p:cNvPicPr>
            <a:picLocks noChangeAspect="1"/>
          </p:cNvPicPr>
          <p:nvPr/>
        </p:nvPicPr>
        <p:blipFill>
          <a:blip r:embed="rId1"/>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Fingerprint"/>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Fingerprint.png">    </p:cNvPr>
          <p:cNvPicPr>
            <a:picLocks noChangeAspect="1"/>
          </p:cNvPicPr>
          <p:nvPr/>
        </p:nvPicPr>
        <p:blipFill>
          <a:blip r:embed="rId2"/>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Key"/>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Key.png">    </p:cNvPr>
          <p:cNvPicPr>
            <a:picLocks noChangeAspect="1"/>
          </p:cNvPicPr>
          <p:nvPr/>
        </p:nvPicPr>
        <p:blipFill>
          <a:blip r:embed="rId3"/>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Privileged eligibility by position, through PIM — never standing</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indent="0" marL="0">
              <a:buNone/>
            </a:pPr>
            <a:r>
              <a:rPr lang="en-US" sz="1700" b="1" dirty="0">
                <a:solidFill>
                  <a:srgbClr val="1F2A44"/>
                </a:solidFill>
              </a:rPr>
              <a:t>Every entitlement has a “because”: </a:t>
            </a:r>
            <a:pPr indent="0" marL="0">
              <a:buNone/>
            </a:pP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caleBalanced"/>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caleBalanced.png">    </p:cNvPr>
          <p:cNvPicPr>
            <a:picLocks noChangeAspect="1"/>
          </p:cNvPicPr>
          <p:nvPr/>
        </p:nvPicPr>
        <p:blipFill>
          <a:blip r:embed="rId1"/>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indent="0" marL="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Filte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descr="C:\Users\whale\AppData\Local\Temp\claude\C--Users-whale-git-uiao-inbox\cbd5b766-acc0-4006-9202-a9bb6b23e97b\scratchpad\deck\icons\FaFilter.png">    </p:cNvPr>
          <p:cNvPicPr>
            <a:picLocks noChangeAspect="1"/>
          </p:cNvPicPr>
          <p:nvPr/>
        </p:nvPicPr>
        <p:blipFill>
          <a:blip r:embed="rId2"/>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indent="0" marL="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leShield"/>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FileShield.png">    </p:cNvPr>
          <p:cNvPicPr>
            <a:picLocks noChangeAspect="1"/>
          </p:cNvPicPr>
          <p:nvPr/>
        </p:nvPicPr>
        <p:blipFill>
          <a:blip r:embed="rId3"/>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indent="0" marL="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ock"/>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Lock.png">    </p:cNvPr>
          <p:cNvPicPr>
            <a:picLocks noChangeAspect="1"/>
          </p:cNvPicPr>
          <p:nvPr/>
        </p:nvPicPr>
        <p:blipFill>
          <a:blip r:embed="rId4"/>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indent="0" marL="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indent="0" marL="0">
              <a:buNone/>
            </a:pPr>
            <a:r>
              <a:rPr lang="en-US" sz="1700" b="1" dirty="0">
                <a:solidFill>
                  <a:srgbClr val="B45309"/>
                </a:solidFill>
              </a:rPr>
              <a:t>HR remains the system of records. </a:t>
            </a:r>
            <a:pPr indent="0" marL="0">
              <a:buNone/>
            </a:pP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itemap"/>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itemap.png">    </p:cNvPr>
          <p:cNvPicPr>
            <a:picLocks noChangeAspect="1"/>
          </p:cNvPicPr>
          <p:nvPr/>
        </p:nvPicPr>
        <p:blipFill>
          <a:blip r:embed="rId1"/>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Authority map and identifier decision</a:t>
            </a:r>
            <a:endParaRPr lang="en-US" sz="1400" dirty="0"/>
          </a:p>
          <a:p>
            <a:pPr indent="0" marL="0">
              <a:spcAft>
                <a:spcPts val="400"/>
              </a:spcAft>
              <a:buNone/>
            </a:pPr>
            <a:r>
              <a:rPr lang="en-US" sz="1350" dirty="0">
                <a:solidFill>
                  <a:schemeClr val="tx2"/>
                </a:solidFill>
              </a:rPr>
              <a:t>One owner per attribute; an enterprise person key SSA controls</a:t>
            </a:r>
            <a:endParaRPr lang="en-US" sz="1400" dirty="0"/>
          </a:p>
        </p:txBody>
      </p:sp>
      <p:sp>
        <p:nvSpPr>
          <p:cNvPr id="7" name="Gov 2"/>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UserShield"/>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UserShield.png">    </p:cNvPr>
          <p:cNvPicPr>
            <a:picLocks noChangeAspect="1"/>
          </p:cNvPicPr>
          <p:nvPr/>
        </p:nvPicPr>
        <p:blipFill>
          <a:blip r:embed="rId2"/>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Security assessment</a:t>
            </a:r>
            <a:endParaRPr lang="en-US" sz="1400" dirty="0"/>
          </a:p>
          <a:p>
            <a:pPr indent="0" marL="0">
              <a:spcAft>
                <a:spcPts val="400"/>
              </a:spcAft>
              <a:buNone/>
            </a:pPr>
            <a:r>
              <a:rPr lang="en-US" sz="1350" dirty="0">
                <a:solidFill>
                  <a:schemeClr val="tx2"/>
                </a:solidFill>
              </a:rPr>
              <a:t>Data flow, service identities without secrets, least privilege</a:t>
            </a:r>
            <a:endParaRPr lang="en-US" sz="1400" dirty="0"/>
          </a:p>
        </p:txBody>
      </p:sp>
      <p:sp>
        <p:nvSpPr>
          <p:cNvPr id="11" name="Gov 3"/>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ClipboardCheck"/>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ClipboardCheck.png">    </p:cNvPr>
          <p:cNvPicPr>
            <a:picLocks noChangeAspect="1"/>
          </p:cNvPicPr>
          <p:nvPr/>
        </p:nvPicPr>
        <p:blipFill>
          <a:blip r:embed="rId3"/>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Acceptance gate</a:t>
            </a:r>
            <a:endParaRPr lang="en-US" sz="1400" dirty="0"/>
          </a:p>
          <a:p>
            <a:pPr indent="0" marL="0">
              <a:spcAft>
                <a:spcPts val="400"/>
              </a:spcAft>
              <a:buNone/>
            </a:pPr>
            <a:r>
              <a:rPr lang="en-US" sz="1350" dirty="0">
                <a:solidFill>
                  <a:schemeClr val="tx2"/>
                </a:solidFill>
              </a:rPr>
              <a:t>Business-language test cases; signed validation before cutover</a:t>
            </a:r>
            <a:endParaRPr lang="en-US" sz="1400" dirty="0"/>
          </a:p>
        </p:txBody>
      </p:sp>
      <p:sp>
        <p:nvSpPr>
          <p:cNvPr id="15" name="Gov 4"/>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PlugCircleXmark"/>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PlugCircleXmark.png">    </p:cNvPr>
          <p:cNvPicPr>
            <a:picLocks noChangeAspect="1"/>
          </p:cNvPicPr>
          <p:nvPr/>
        </p:nvPicPr>
        <p:blipFill>
          <a:blip r:embed="rId4"/>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Cutover from tickets</a:t>
            </a:r>
            <a:endParaRPr lang="en-US" sz="1400" dirty="0"/>
          </a:p>
          <a:p>
            <a:pPr indent="0" marL="0">
              <a:spcAft>
                <a:spcPts val="400"/>
              </a:spcAft>
              <a:buNone/>
            </a:pPr>
            <a:r>
              <a:rPr lang="en-US" sz="1350" dirty="0">
                <a:solidFill>
                  <a:schemeClr val="tx2"/>
                </a:solidFill>
              </a:rPr>
              <a:t>Prove HR is the sole source; then close manual account creation</a:t>
            </a:r>
            <a:endParaRPr lang="en-US" sz="1400" dirty="0"/>
          </a:p>
        </p:txBody>
      </p:sp>
      <p:sp>
        <p:nvSpPr>
          <p:cNvPr id="19" name="Gov 5"/>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ListCheck"/>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ListCheck.png">    </p:cNvPr>
          <p:cNvPicPr>
            <a:picLocks noChangeAspect="1"/>
          </p:cNvPicPr>
          <p:nvPr/>
        </p:nvPicPr>
        <p:blipFill>
          <a:blip r:embed="rId5"/>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Lifecycle rules</a:t>
            </a:r>
            <a:endParaRPr lang="en-US" sz="1400" dirty="0"/>
          </a:p>
          <a:p>
            <a:pPr indent="0" marL="0">
              <a:spcAft>
                <a:spcPts val="400"/>
              </a:spcAft>
              <a:buNone/>
            </a:pPr>
            <a:r>
              <a:rPr lang="en-US" sz="1350" dirty="0">
                <a:solidFill>
                  <a:schemeClr val="tx2"/>
                </a:solidFill>
              </a:rPr>
              <a:t>Scope filters, leave vs leaver, precedence, rescinded offers</a:t>
            </a:r>
            <a:endParaRPr lang="en-US" sz="1400" dirty="0"/>
          </a:p>
        </p:txBody>
      </p:sp>
      <p:sp>
        <p:nvSpPr>
          <p:cNvPr id="23" name="Gov 6"/>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TriangleExclamation"/>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TriangleExclamation.png">    </p:cNvPr>
          <p:cNvPicPr>
            <a:picLocks noChangeAspect="1"/>
          </p:cNvPicPr>
          <p:nvPr/>
        </p:nvPicPr>
        <p:blipFill>
          <a:blip r:embed="rId6"/>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Quarantine and reconciliation</a:t>
            </a:r>
            <a:endParaRPr lang="en-US" sz="1400" dirty="0"/>
          </a:p>
          <a:p>
            <a:pPr indent="0" marL="0">
              <a:spcAft>
                <a:spcPts val="400"/>
              </a:spcAft>
              <a:buNone/>
            </a:pPr>
            <a:r>
              <a:rPr lang="en-US" sz="1350" dirty="0">
                <a:solidFill>
                  <a:schemeClr val="tx2"/>
                </a:solidFill>
              </a:rPr>
              <a:t>Failures never auto-resolve; every exception has an owner</a:t>
            </a:r>
            <a:endParaRPr lang="en-US" sz="1400" dirty="0"/>
          </a:p>
        </p:txBody>
      </p:sp>
      <p:sp>
        <p:nvSpPr>
          <p:cNvPr id="27" name="Gov 7"/>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ChartLine"/>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ChartLine.png">    </p:cNvPr>
          <p:cNvPicPr>
            <a:picLocks noChangeAspect="1"/>
          </p:cNvPicPr>
          <p:nvPr/>
        </p:nvPicPr>
        <p:blipFill>
          <a:blip r:embed="rId7"/>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Drift and metrics</a:t>
            </a:r>
            <a:endParaRPr lang="en-US" sz="1400" dirty="0"/>
          </a:p>
          <a:p>
            <a:pPr indent="0" marL="0">
              <a:spcAft>
                <a:spcPts val="400"/>
              </a:spcAft>
              <a:buNone/>
            </a:pPr>
            <a:r>
              <a:rPr lang="en-US" sz="1350" dirty="0">
                <a:solidFill>
                  <a:schemeClr val="tx2"/>
                </a:solidFill>
              </a:rPr>
              <a:t>Separation-to-block, correlation coverage, derivation purity</a:t>
            </a:r>
            <a:endParaRPr lang="en-US" sz="1400" dirty="0"/>
          </a:p>
        </p:txBody>
      </p:sp>
      <p:sp>
        <p:nvSpPr>
          <p:cNvPr id="31" name="Gov 8"/>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CodeBranch"/>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CodeBranch.png">    </p:cNvPr>
          <p:cNvPicPr>
            <a:picLocks noChangeAspect="1"/>
          </p:cNvPicPr>
          <p:nvPr/>
        </p:nvPicPr>
        <p:blipFill>
          <a:blip r:embed="rId8"/>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Change control</a:t>
            </a:r>
            <a:endParaRPr lang="en-US" sz="1400" dirty="0"/>
          </a:p>
          <a:p>
            <a:pPr indent="0" marL="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i="1" dirty="0">
                <a:solidFill>
                  <a:srgbClr val="64748B"/>
                </a:solidFill>
              </a:rPr>
              <a:t>Control support for AC-2, PS-4, PS-5, IA-4 and SI-12 — evidence produced by operation, not assembled for the audit.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One standard for HR-driven ICAM, shared across agencies</a:t>
            </a:r>
            <a:endParaRPr lang="en-US" sz="3000" dirty="0"/>
          </a:p>
        </p:txBody>
      </p:sp>
      <p:sp>
        <p:nvSpPr>
          <p:cNvPr id="3" name="Cross col 1"/>
          <p:cNvSpPr/>
          <p:nvPr/>
        </p:nvSpPr>
        <p:spPr>
          <a:xfrm>
            <a:off x="548640" y="1280160"/>
            <a:ext cx="5486400" cy="3931920"/>
          </a:xfrm>
          <a:prstGeom prst="roundRect">
            <a:avLst>
              <a:gd name="adj" fmla="val 186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Cross head 1"/>
          <p:cNvSpPr txBox="1"/>
          <p:nvPr/>
        </p:nvSpPr>
        <p:spPr>
          <a:xfrm>
            <a:off x="777240" y="1371600"/>
            <a:ext cx="5029200" cy="411480"/>
          </a:xfrm>
          <a:prstGeom prst="rect">
            <a:avLst/>
          </a:prstGeom>
          <a:noFill/>
          <a:ln/>
        </p:spPr>
        <p:txBody>
          <a:bodyPr wrap="square" lIns="0" tIns="0" rIns="0" bIns="0" rtlCol="0" anchor="t"/>
          <a:lstStyle/>
          <a:p>
            <a:pPr indent="0" marL="0">
              <a:buNone/>
            </a:pPr>
            <a:r>
              <a:rPr lang="en-US" sz="1800" b="1" dirty="0">
                <a:solidFill>
                  <a:srgbClr val="1F2A44"/>
                </a:solidFill>
              </a:rPr>
              <a:t>Why a shared standard</a:t>
            </a:r>
            <a:endParaRPr lang="en-US" sz="1800" dirty="0"/>
          </a:p>
        </p:txBody>
      </p:sp>
      <p:sp>
        <p:nvSpPr>
          <p:cNvPr id="5" name="Icon FaBuildingColumns"/>
          <p:cNvSpPr/>
          <p:nvPr/>
        </p:nvSpPr>
        <p:spPr>
          <a:xfrm>
            <a:off x="777240" y="1920240"/>
            <a:ext cx="566928" cy="566928"/>
          </a:xfrm>
          <a:prstGeom prst="ellipse">
            <a:avLst/>
          </a:prstGeom>
          <a:solidFill>
            <a:srgbClr val="1F2A44"/>
          </a:solidFill>
          <a:ln w="12700">
            <a:solidFill>
              <a:srgbClr val="1F2A44"/>
            </a:solidFill>
            <a:prstDash val="solid"/>
          </a:ln>
        </p:spPr>
      </p:sp>
      <p:pic>
        <p:nvPicPr>
          <p:cNvPr id="6" name="Image 0" descr="C:\Users\whale\AppData\Local\Temp\claude\C--Users-whale-git-uiao-inbox\cbd5b766-acc0-4006-9202-a9bb6b23e97b\scratchpad\deck\icons\FaBuildingColumns.png">    </p:cNvPr>
          <p:cNvPicPr>
            <a:picLocks noChangeAspect="1"/>
          </p:cNvPicPr>
          <p:nvPr/>
        </p:nvPicPr>
        <p:blipFill>
          <a:blip r:embed="rId1"/>
          <a:stretch>
            <a:fillRect/>
          </a:stretch>
        </p:blipFill>
        <p:spPr>
          <a:xfrm>
            <a:off x="913303" y="2056303"/>
            <a:ext cx="294803" cy="294803"/>
          </a:xfrm>
          <a:prstGeom prst="rect">
            <a:avLst/>
          </a:prstGeom>
        </p:spPr>
      </p:pic>
      <p:sp>
        <p:nvSpPr>
          <p:cNvPr id="7" name="Cross 1.1"/>
          <p:cNvSpPr txBox="1"/>
          <p:nvPr/>
        </p:nvSpPr>
        <p:spPr>
          <a:xfrm>
            <a:off x="150876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Same platform, same standards</a:t>
            </a:r>
            <a:endParaRPr lang="en-US" sz="1400" dirty="0"/>
          </a:p>
          <a:p>
            <a:pPr indent="0" marL="0">
              <a:spcAft>
                <a:spcPts val="200"/>
              </a:spcAft>
              <a:buNone/>
            </a:pPr>
            <a:r>
              <a:rPr lang="en-US" sz="1300" dirty="0">
                <a:solidFill>
                  <a:schemeClr val="tx2"/>
                </a:solidFill>
              </a:rPr>
              <a:t>Every agency moves to Core HCM on OPM’s data standards — one crosswalk and canonical model, reused rather than rebuilt</a:t>
            </a:r>
            <a:endParaRPr lang="en-US" sz="1400" dirty="0"/>
          </a:p>
        </p:txBody>
      </p:sp>
      <p:sp>
        <p:nvSpPr>
          <p:cNvPr id="8" name="Icon FaRightLeft"/>
          <p:cNvSpPr/>
          <p:nvPr/>
        </p:nvSpPr>
        <p:spPr>
          <a:xfrm>
            <a:off x="777240" y="3017520"/>
            <a:ext cx="566928" cy="566928"/>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RightLeft.png">    </p:cNvPr>
          <p:cNvPicPr>
            <a:picLocks noChangeAspect="1"/>
          </p:cNvPicPr>
          <p:nvPr/>
        </p:nvPicPr>
        <p:blipFill>
          <a:blip r:embed="rId2"/>
          <a:stretch>
            <a:fillRect/>
          </a:stretch>
        </p:blipFill>
        <p:spPr>
          <a:xfrm>
            <a:off x="913303" y="3153583"/>
            <a:ext cx="294803" cy="294803"/>
          </a:xfrm>
          <a:prstGeom prst="rect">
            <a:avLst/>
          </a:prstGeom>
        </p:spPr>
      </p:pic>
      <p:sp>
        <p:nvSpPr>
          <p:cNvPr id="10" name="Cross 1.2"/>
          <p:cNvSpPr txBox="1"/>
          <p:nvPr/>
        </p:nvSpPr>
        <p:spPr>
          <a:xfrm>
            <a:off x="150876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Attributes that travel</a:t>
            </a:r>
            <a:endParaRPr lang="en-US" sz="1400" dirty="0"/>
          </a:p>
          <a:p>
            <a:pPr indent="0" marL="0">
              <a:spcAft>
                <a:spcPts val="200"/>
              </a:spcAft>
              <a:buNone/>
            </a:pPr>
            <a:r>
              <a:rPr lang="en-US" sz="1300" dirty="0">
                <a:solidFill>
                  <a:schemeClr val="tx2"/>
                </a:solidFill>
              </a:rPr>
              <a:t>Details, transfers and shared services read the same coded attributes; cross-agency access can trust the data</a:t>
            </a:r>
            <a:endParaRPr lang="en-US" sz="1400" dirty="0"/>
          </a:p>
        </p:txBody>
      </p:sp>
      <p:sp>
        <p:nvSpPr>
          <p:cNvPr id="11" name="Icon FaChartLine"/>
          <p:cNvSpPr/>
          <p:nvPr/>
        </p:nvSpPr>
        <p:spPr>
          <a:xfrm>
            <a:off x="777240" y="4114800"/>
            <a:ext cx="566928" cy="566928"/>
          </a:xfrm>
          <a:prstGeom prst="ellipse">
            <a:avLst/>
          </a:prstGeom>
          <a:solidFill>
            <a:srgbClr val="1F2A44"/>
          </a:solidFill>
          <a:ln w="12700">
            <a:solidFill>
              <a:srgbClr val="1F2A44"/>
            </a:solidFill>
            <a:prstDash val="solid"/>
          </a:ln>
        </p:spPr>
      </p:sp>
      <p:pic>
        <p:nvPicPr>
          <p:cNvPr id="12" name="Image 2" descr="C:\Users\whale\AppData\Local\Temp\claude\C--Users-whale-git-uiao-inbox\cbd5b766-acc0-4006-9202-a9bb6b23e97b\scratchpad\deck\icons\FaChartLine.png">    </p:cNvPr>
          <p:cNvPicPr>
            <a:picLocks noChangeAspect="1"/>
          </p:cNvPicPr>
          <p:nvPr/>
        </p:nvPicPr>
        <p:blipFill>
          <a:blip r:embed="rId3"/>
          <a:stretch>
            <a:fillRect/>
          </a:stretch>
        </p:blipFill>
        <p:spPr>
          <a:xfrm>
            <a:off x="913303" y="4250863"/>
            <a:ext cx="294803" cy="294803"/>
          </a:xfrm>
          <a:prstGeom prst="rect">
            <a:avLst/>
          </a:prstGeom>
        </p:spPr>
      </p:pic>
      <p:sp>
        <p:nvSpPr>
          <p:cNvPr id="13" name="Cross 1.3"/>
          <p:cNvSpPr txBox="1"/>
          <p:nvPr/>
        </p:nvSpPr>
        <p:spPr>
          <a:xfrm>
            <a:off x="150876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Comparable evidence</a:t>
            </a:r>
            <a:endParaRPr lang="en-US" sz="1400" dirty="0"/>
          </a:p>
          <a:p>
            <a:pPr indent="0" marL="0">
              <a:spcAft>
                <a:spcPts val="200"/>
              </a:spcAft>
              <a:buNone/>
            </a:pPr>
            <a:r>
              <a:rPr lang="en-US" sz="1300" dirty="0">
                <a:solidFill>
                  <a:schemeClr val="tx2"/>
                </a:solidFill>
              </a:rPr>
              <a:t>Common metrics for ICAM and Zero Trust maturity reporting across agencies</a:t>
            </a:r>
            <a:endParaRPr lang="en-US" sz="1400" dirty="0"/>
          </a:p>
        </p:txBody>
      </p:sp>
      <p:sp>
        <p:nvSpPr>
          <p:cNvPr id="14" name="Cross col 2"/>
          <p:cNvSpPr/>
          <p:nvPr/>
        </p:nvSpPr>
        <p:spPr>
          <a:xfrm>
            <a:off x="6172200" y="1280160"/>
            <a:ext cx="5486400" cy="3931920"/>
          </a:xfrm>
          <a:prstGeom prst="roundRect">
            <a:avLst>
              <a:gd name="adj" fmla="val 186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Cross head 2"/>
          <p:cNvSpPr txBox="1"/>
          <p:nvPr/>
        </p:nvSpPr>
        <p:spPr>
          <a:xfrm>
            <a:off x="6400800" y="1371600"/>
            <a:ext cx="5029200" cy="411480"/>
          </a:xfrm>
          <a:prstGeom prst="rect">
            <a:avLst/>
          </a:prstGeom>
          <a:noFill/>
          <a:ln/>
        </p:spPr>
        <p:txBody>
          <a:bodyPr wrap="square" lIns="0" tIns="0" rIns="0" bIns="0" rtlCol="0" anchor="t"/>
          <a:lstStyle/>
          <a:p>
            <a:pPr indent="0" marL="0">
              <a:buNone/>
            </a:pPr>
            <a:r>
              <a:rPr lang="en-US" sz="1800" b="1" dirty="0">
                <a:solidFill>
                  <a:srgbClr val="0F766E"/>
                </a:solidFill>
              </a:rPr>
              <a:t>How I’d carry it across agencies</a:t>
            </a:r>
            <a:endParaRPr lang="en-US" sz="1800" dirty="0"/>
          </a:p>
        </p:txBody>
      </p:sp>
      <p:sp>
        <p:nvSpPr>
          <p:cNvPr id="16" name="Icon FaPeopleArrows"/>
          <p:cNvSpPr/>
          <p:nvPr/>
        </p:nvSpPr>
        <p:spPr>
          <a:xfrm>
            <a:off x="6400800" y="1920240"/>
            <a:ext cx="566928" cy="566928"/>
          </a:xfrm>
          <a:prstGeom prst="ellipse">
            <a:avLst/>
          </a:prstGeom>
          <a:solidFill>
            <a:srgbClr val="0F766E"/>
          </a:solidFill>
          <a:ln w="12700">
            <a:solidFill>
              <a:srgbClr val="0F766E"/>
            </a:solidFill>
            <a:prstDash val="solid"/>
          </a:ln>
        </p:spPr>
      </p:sp>
      <p:pic>
        <p:nvPicPr>
          <p:cNvPr id="17" name="Image 3" descr="C:\Users\whale\AppData\Local\Temp\claude\C--Users-whale-git-uiao-inbox\cbd5b766-acc0-4006-9202-a9bb6b23e97b\scratchpad\deck\icons\FaPeopleArrows.png">    </p:cNvPr>
          <p:cNvPicPr>
            <a:picLocks noChangeAspect="1"/>
          </p:cNvPicPr>
          <p:nvPr/>
        </p:nvPicPr>
        <p:blipFill>
          <a:blip r:embed="rId4"/>
          <a:stretch>
            <a:fillRect/>
          </a:stretch>
        </p:blipFill>
        <p:spPr>
          <a:xfrm>
            <a:off x="6536863" y="2056303"/>
            <a:ext cx="294803" cy="294803"/>
          </a:xfrm>
          <a:prstGeom prst="rect">
            <a:avLst/>
          </a:prstGeom>
        </p:spPr>
      </p:pic>
      <p:sp>
        <p:nvSpPr>
          <p:cNvPr id="18" name="Cross 2.1"/>
          <p:cNvSpPr txBox="1"/>
          <p:nvPr/>
        </p:nvSpPr>
        <p:spPr>
          <a:xfrm>
            <a:off x="713232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Work the issues together</a:t>
            </a:r>
            <a:endParaRPr lang="en-US" sz="1400" dirty="0"/>
          </a:p>
          <a:p>
            <a:pPr indent="0" marL="0">
              <a:spcAft>
                <a:spcPts val="200"/>
              </a:spcAft>
              <a:buNone/>
            </a:pPr>
            <a:r>
              <a:rPr lang="en-US" sz="1300" dirty="0">
                <a:solidFill>
                  <a:schemeClr val="tx2"/>
                </a:solidFill>
              </a:rPr>
              <a:t>With other agencies and the private sector; track legislative and policy developments and trends</a:t>
            </a:r>
            <a:endParaRPr lang="en-US" sz="1400" dirty="0"/>
          </a:p>
        </p:txBody>
      </p:sp>
      <p:sp>
        <p:nvSpPr>
          <p:cNvPr id="19" name="Icon FaScaleBalanced"/>
          <p:cNvSpPr/>
          <p:nvPr/>
        </p:nvSpPr>
        <p:spPr>
          <a:xfrm>
            <a:off x="6400800" y="3017520"/>
            <a:ext cx="566928" cy="566928"/>
          </a:xfrm>
          <a:prstGeom prst="ellipse">
            <a:avLst/>
          </a:prstGeom>
          <a:solidFill>
            <a:srgbClr val="0F766E"/>
          </a:solidFill>
          <a:ln w="12700">
            <a:solidFill>
              <a:srgbClr val="0F766E"/>
            </a:solidFill>
            <a:prstDash val="solid"/>
          </a:ln>
        </p:spPr>
      </p:sp>
      <p:pic>
        <p:nvPicPr>
          <p:cNvPr id="20" name="Image 4" descr="C:\Users\whale\AppData\Local\Temp\claude\C--Users-whale-git-uiao-inbox\cbd5b766-acc0-4006-9202-a9bb6b23e97b\scratchpad\deck\icons\FaScaleBalanced.png">    </p:cNvPr>
          <p:cNvPicPr>
            <a:picLocks noChangeAspect="1"/>
          </p:cNvPicPr>
          <p:nvPr/>
        </p:nvPicPr>
        <p:blipFill>
          <a:blip r:embed="rId5"/>
          <a:stretch>
            <a:fillRect/>
          </a:stretch>
        </p:blipFill>
        <p:spPr>
          <a:xfrm>
            <a:off x="6536863" y="3153583"/>
            <a:ext cx="294803" cy="294803"/>
          </a:xfrm>
          <a:prstGeom prst="rect">
            <a:avLst/>
          </a:prstGeom>
        </p:spPr>
      </p:pic>
      <p:sp>
        <p:nvSpPr>
          <p:cNvPr id="21" name="Cross 2.2"/>
          <p:cNvSpPr txBox="1"/>
          <p:nvPr/>
        </p:nvSpPr>
        <p:spPr>
          <a:xfrm>
            <a:off x="713232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Options and their impact</a:t>
            </a:r>
            <a:endParaRPr lang="en-US" sz="1400" dirty="0"/>
          </a:p>
          <a:p>
            <a:pPr indent="0" marL="0">
              <a:spcAft>
                <a:spcPts val="200"/>
              </a:spcAft>
              <a:buNone/>
            </a:pPr>
            <a:r>
              <a:rPr lang="en-US" sz="1300" dirty="0">
                <a:solidFill>
                  <a:schemeClr val="tx2"/>
                </a:solidFill>
              </a:rPr>
              <a:t>Define the issues, develop options, predict the impact of alternatives, and present the findings</a:t>
            </a:r>
            <a:endParaRPr lang="en-US" sz="1400" dirty="0"/>
          </a:p>
        </p:txBody>
      </p:sp>
      <p:sp>
        <p:nvSpPr>
          <p:cNvPr id="22" name="Icon FaUsersGear"/>
          <p:cNvSpPr/>
          <p:nvPr/>
        </p:nvSpPr>
        <p:spPr>
          <a:xfrm>
            <a:off x="6400800" y="4114800"/>
            <a:ext cx="566928" cy="566928"/>
          </a:xfrm>
          <a:prstGeom prst="ellipse">
            <a:avLst/>
          </a:prstGeom>
          <a:solidFill>
            <a:srgbClr val="0F766E"/>
          </a:solidFill>
          <a:ln w="12700">
            <a:solidFill>
              <a:srgbClr val="0F766E"/>
            </a:solidFill>
            <a:prstDash val="solid"/>
          </a:ln>
        </p:spPr>
      </p:sp>
      <p:pic>
        <p:nvPicPr>
          <p:cNvPr id="23" name="Image 5" descr="C:\Users\whale\AppData\Local\Temp\claude\C--Users-whale-git-uiao-inbox\cbd5b766-acc0-4006-9202-a9bb6b23e97b\scratchpad\deck\icons\FaUsersGear.png">    </p:cNvPr>
          <p:cNvPicPr>
            <a:picLocks noChangeAspect="1"/>
          </p:cNvPicPr>
          <p:nvPr/>
        </p:nvPicPr>
        <p:blipFill>
          <a:blip r:embed="rId6"/>
          <a:stretch>
            <a:fillRect/>
          </a:stretch>
        </p:blipFill>
        <p:spPr>
          <a:xfrm>
            <a:off x="6536863" y="4250863"/>
            <a:ext cx="294803" cy="294803"/>
          </a:xfrm>
          <a:prstGeom prst="rect">
            <a:avLst/>
          </a:prstGeom>
        </p:spPr>
      </p:pic>
      <p:sp>
        <p:nvSpPr>
          <p:cNvPr id="24" name="Cross 2.3"/>
          <p:cNvSpPr txBox="1"/>
          <p:nvPr/>
        </p:nvSpPr>
        <p:spPr>
          <a:xfrm>
            <a:off x="713232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Committees and working groups</a:t>
            </a:r>
            <a:endParaRPr lang="en-US" sz="1400" dirty="0"/>
          </a:p>
          <a:p>
            <a:pPr indent="0" marL="0">
              <a:spcAft>
                <a:spcPts val="200"/>
              </a:spcAft>
              <a:buNone/>
            </a:pPr>
            <a:r>
              <a:rPr lang="en-US" sz="1300" dirty="0">
                <a:solidFill>
                  <a:schemeClr val="tx2"/>
                </a:solidFill>
              </a:rPr>
              <a:t>Chair agency data committees; serve as the data expert on interagency ICAM working groups; recommend data technology and architecture</a:t>
            </a:r>
            <a:endParaRPr lang="en-US" sz="1400" dirty="0"/>
          </a:p>
        </p:txBody>
      </p:sp>
      <p:sp>
        <p:nvSpPr>
          <p:cNvPr id="25" name="Cross banner"/>
          <p:cNvSpPr/>
          <p:nvPr/>
        </p:nvSpPr>
        <p:spPr>
          <a:xfrm>
            <a:off x="548640" y="5394960"/>
            <a:ext cx="11109960" cy="731520"/>
          </a:xfrm>
          <a:prstGeom prst="roundRect">
            <a:avLst>
              <a:gd name="adj" fmla="val 10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6" name="Cross banner text"/>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700" b="1" dirty="0">
                <a:solidFill>
                  <a:srgbClr val="B45309"/>
                </a:solidFill>
              </a:rPr>
              <a:t>The goal: </a:t>
            </a:r>
            <a:pPr indent="0" marL="0">
              <a:buNone/>
            </a:pPr>
            <a:r>
              <a:rPr lang="en-US" sz="1700" dirty="0">
                <a:solidFill>
                  <a:schemeClr val="tx2"/>
                </a:solidFill>
              </a:rPr>
              <a:t>present this model to our fellow agencies, and adopt one HR-driven ICAM standard together as each agency onboards to HR 2.0.</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p:cNvSpPr/>
          <p:nvPr/>
        </p:nvSpPr>
        <p:spPr>
          <a:xfrm>
            <a:off x="1691640" y="1828800"/>
            <a:ext cx="8778240" cy="0"/>
          </a:xfrm>
          <a:prstGeom prst="line">
            <a:avLst/>
          </a:prstGeom>
          <a:noFill/>
          <a:ln w="19050">
            <a:solidFill>
              <a:srgbClr val="64748B"/>
            </a:solidFill>
            <a:prstDash val="solid"/>
          </a:ln>
        </p:spPr>
      </p:sp>
      <p:sp>
        <p:nvSpPr>
          <p:cNvPr id="4" name="Roadmap dot 1"/>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Align with HR 2.0</a:t>
            </a:r>
            <a:endParaRPr lang="en-US" sz="1400" dirty="0"/>
          </a:p>
          <a:p>
            <a:pPr algn="ctr" indent="0" marL="0">
              <a:spcAft>
                <a:spcPts val="300"/>
              </a:spcAft>
              <a:buNone/>
            </a:pPr>
            <a:r>
              <a:rPr lang="en-US" sz="1350" dirty="0">
                <a:solidFill>
                  <a:schemeClr val="tx2"/>
                </a:solidFill>
              </a:rPr>
              <a:t>Identity named as an interconnection consumer</a:t>
            </a:r>
            <a:endParaRPr lang="en-US" sz="1400" dirty="0"/>
          </a:p>
        </p:txBody>
      </p:sp>
      <p:sp>
        <p:nvSpPr>
          <p:cNvPr id="7" name="Roadmap dot 2"/>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B45309"/>
                </a:solidFill>
              </a:rPr>
              <a:t>Standards and authority</a:t>
            </a:r>
            <a:endParaRPr lang="en-US" sz="1400" dirty="0"/>
          </a:p>
          <a:p>
            <a:pPr algn="ctr" indent="0" marL="0">
              <a:spcAft>
                <a:spcPts val="300"/>
              </a:spcAft>
              <a:buNone/>
            </a:pPr>
            <a:r>
              <a:rPr lang="en-US" sz="1350" dirty="0">
                <a:solidFill>
                  <a:schemeClr val="tx2"/>
                </a:solidFill>
              </a:rPr>
              <a:t>Crosswalk, authority map, contractor source, privacy basis</a:t>
            </a:r>
            <a:endParaRPr lang="en-US" sz="1400" dirty="0"/>
          </a:p>
        </p:txBody>
      </p:sp>
      <p:sp>
        <p:nvSpPr>
          <p:cNvPr id="10" name="Roadmap dot 3"/>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Build and prove</a:t>
            </a:r>
            <a:endParaRPr lang="en-US" sz="1400" dirty="0"/>
          </a:p>
          <a:p>
            <a:pPr algn="ctr" indent="0" marL="0">
              <a:spcAft>
                <a:spcPts val="300"/>
              </a:spcAft>
              <a:buNone/>
            </a:pPr>
            <a:r>
              <a:rPr lang="en-US" sz="1350" dirty="0">
                <a:solidFill>
                  <a:schemeClr val="tx2"/>
                </a:solidFill>
              </a:rPr>
              <a:t>Joiner, mover, leaver end to end; shadow mode</a:t>
            </a:r>
            <a:endParaRPr lang="en-US" sz="1400" dirty="0"/>
          </a:p>
        </p:txBody>
      </p:sp>
      <p:sp>
        <p:nvSpPr>
          <p:cNvPr id="13" name="Roadmap dot 4"/>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0F766E"/>
                </a:solidFill>
              </a:rPr>
              <a:t>Cut over</a:t>
            </a:r>
            <a:endParaRPr lang="en-US" sz="1400" dirty="0"/>
          </a:p>
          <a:p>
            <a:pPr algn="ctr" indent="0" marL="0">
              <a:spcAft>
                <a:spcPts val="300"/>
              </a:spcAft>
              <a:buNone/>
            </a:pPr>
            <a:r>
              <a:rPr lang="en-US" sz="1350" dirty="0">
                <a:solidFill>
                  <a:schemeClr val="tx2"/>
                </a:solidFill>
              </a:rPr>
              <a:t>HR-driven for each population as it moves to Entra ID</a:t>
            </a:r>
            <a:endParaRPr lang="en-US" sz="1400" dirty="0"/>
          </a:p>
        </p:txBody>
      </p:sp>
      <p:sp>
        <p:nvSpPr>
          <p:cNvPr id="16" name="Roadmap dot 5"/>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Sustain</a:t>
            </a:r>
            <a:endParaRPr lang="en-US" sz="1400" dirty="0"/>
          </a:p>
          <a:p>
            <a:pPr algn="ctr" indent="0" marL="0">
              <a:spcAft>
                <a:spcPts val="300"/>
              </a:spcAft>
              <a:buNone/>
            </a:pPr>
            <a:r>
              <a:rPr lang="en-US" sz="1350" dirty="0">
                <a:solidFill>
                  <a:schemeClr val="tx2"/>
                </a:solidFill>
              </a:rPr>
              <a:t>Metrics and drift on the ConMon cadence</a:t>
            </a:r>
            <a:endParaRPr lang="en-US" sz="1400" dirty="0"/>
          </a:p>
        </p:txBody>
      </p:sp>
      <p:sp>
        <p:nvSpPr>
          <p:cNvPr id="19" name="Ask"/>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Lightbulb"/>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descr="C:\Users\whale\AppData\Local\Temp\claude\C--Users-whale-git-uiao-inbox\cbd5b766-acc0-4006-9202-a9bb6b23e97b\scratchpad\deck\icons\FaLightbulb.png">    </p:cNvPr>
          <p:cNvPicPr>
            <a:picLocks noChangeAspect="1"/>
          </p:cNvPicPr>
          <p:nvPr/>
        </p:nvPicPr>
        <p:blipFill>
          <a:blip r:embed="rId1"/>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indent="0" marL="0">
              <a:buNone/>
            </a:pPr>
            <a:r>
              <a:rPr lang="en-US" sz="2000" b="1" dirty="0">
                <a:solidFill>
                  <a:srgbClr val="B45309"/>
                </a:solidFill>
              </a:rPr>
              <a:t>The ask: </a:t>
            </a:r>
            <a:pPr indent="0" marL="0">
              <a:buNone/>
            </a:pP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700" b="1" dirty="0">
                <a:solidFill>
                  <a:srgbClr val="1F2A44"/>
                </a:solidFill>
              </a:rPr>
              <a:t>EDA contribution: </a:t>
            </a:r>
            <a:pPr indent="0" marL="0">
              <a:buNone/>
            </a:pP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More modernizations I’ve designed for the agency</a:t>
            </a:r>
            <a:endParaRPr lang="en-US" sz="3000" dirty="0"/>
          </a:p>
        </p:txBody>
      </p:sp>
      <p:sp>
        <p:nvSpPr>
          <p:cNvPr id="3" name="Teaser 1"/>
          <p:cNvSpPr/>
          <p:nvPr/>
        </p:nvSpPr>
        <p:spPr>
          <a:xfrm>
            <a:off x="548640"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CloudArrowUp"/>
          <p:cNvSpPr/>
          <p:nvPr/>
        </p:nvSpPr>
        <p:spPr>
          <a:xfrm>
            <a:off x="731520" y="149047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CloudArrowUp.png">    </p:cNvPr>
          <p:cNvPicPr>
            <a:picLocks noChangeAspect="1"/>
          </p:cNvPicPr>
          <p:nvPr/>
        </p:nvPicPr>
        <p:blipFill>
          <a:blip r:embed="rId1"/>
          <a:stretch>
            <a:fillRect/>
          </a:stretch>
        </p:blipFill>
        <p:spPr>
          <a:xfrm>
            <a:off x="841248" y="1600200"/>
            <a:ext cx="237744" cy="237744"/>
          </a:xfrm>
          <a:prstGeom prst="rect">
            <a:avLst/>
          </a:prstGeom>
        </p:spPr>
      </p:pic>
      <p:sp>
        <p:nvSpPr>
          <p:cNvPr id="6" name="Teaser 1 text"/>
          <p:cNvSpPr txBox="1"/>
          <p:nvPr/>
        </p:nvSpPr>
        <p:spPr>
          <a:xfrm>
            <a:off x="731520"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AD → Entra ID migration</a:t>
            </a:r>
            <a:endParaRPr lang="en-US" sz="1400" dirty="0"/>
          </a:p>
          <a:p>
            <a:pPr indent="0" marL="0">
              <a:spcAft>
                <a:spcPts val="300"/>
              </a:spcAft>
              <a:buNone/>
            </a:pPr>
            <a:r>
              <a:rPr lang="en-US" sz="1350" dirty="0">
                <a:solidFill>
                  <a:schemeClr val="tx2"/>
                </a:solidFill>
              </a:rPr>
              <a:t>Directory move with drift detection and evidence</a:t>
            </a:r>
            <a:endParaRPr lang="en-US" sz="1400" dirty="0"/>
          </a:p>
        </p:txBody>
      </p:sp>
      <p:sp>
        <p:nvSpPr>
          <p:cNvPr id="7" name="Teaser 2"/>
          <p:cNvSpPr/>
          <p:nvPr/>
        </p:nvSpPr>
        <p:spPr>
          <a:xfrm>
            <a:off x="3355848"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Globe"/>
          <p:cNvSpPr/>
          <p:nvPr/>
        </p:nvSpPr>
        <p:spPr>
          <a:xfrm>
            <a:off x="3538728" y="149047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Globe.png">    </p:cNvPr>
          <p:cNvPicPr>
            <a:picLocks noChangeAspect="1"/>
          </p:cNvPicPr>
          <p:nvPr/>
        </p:nvPicPr>
        <p:blipFill>
          <a:blip r:embed="rId2"/>
          <a:stretch>
            <a:fillRect/>
          </a:stretch>
        </p:blipFill>
        <p:spPr>
          <a:xfrm>
            <a:off x="3648456" y="1600200"/>
            <a:ext cx="237744" cy="237744"/>
          </a:xfrm>
          <a:prstGeom prst="rect">
            <a:avLst/>
          </a:prstGeom>
        </p:spPr>
      </p:pic>
      <p:sp>
        <p:nvSpPr>
          <p:cNvPr id="10" name="Teaser 2 text"/>
          <p:cNvSpPr txBox="1"/>
          <p:nvPr/>
        </p:nvSpPr>
        <p:spPr>
          <a:xfrm>
            <a:off x="3538728"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Next-generation DNS and IPAM</a:t>
            </a:r>
            <a:endParaRPr lang="en-US" sz="1400" dirty="0"/>
          </a:p>
          <a:p>
            <a:pPr indent="0" marL="0">
              <a:spcAft>
                <a:spcPts val="300"/>
              </a:spcAft>
              <a:buNone/>
            </a:pPr>
            <a:r>
              <a:rPr lang="en-US" sz="1350" dirty="0">
                <a:solidFill>
                  <a:schemeClr val="tx2"/>
                </a:solidFill>
              </a:rPr>
              <a:t>One DDI control plane across on-premises and clouds</a:t>
            </a:r>
            <a:endParaRPr lang="en-US" sz="1400" dirty="0"/>
          </a:p>
        </p:txBody>
      </p:sp>
      <p:sp>
        <p:nvSpPr>
          <p:cNvPr id="11" name="Teaser 3"/>
          <p:cNvSpPr/>
          <p:nvPr/>
        </p:nvSpPr>
        <p:spPr>
          <a:xfrm>
            <a:off x="6163056"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Building"/>
          <p:cNvSpPr/>
          <p:nvPr/>
        </p:nvSpPr>
        <p:spPr>
          <a:xfrm>
            <a:off x="6345936" y="149047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Building.png">    </p:cNvPr>
          <p:cNvPicPr>
            <a:picLocks noChangeAspect="1"/>
          </p:cNvPicPr>
          <p:nvPr/>
        </p:nvPicPr>
        <p:blipFill>
          <a:blip r:embed="rId3"/>
          <a:stretch>
            <a:fillRect/>
          </a:stretch>
        </p:blipFill>
        <p:spPr>
          <a:xfrm>
            <a:off x="6455664" y="1600200"/>
            <a:ext cx="237744" cy="237744"/>
          </a:xfrm>
          <a:prstGeom prst="rect">
            <a:avLst/>
          </a:prstGeom>
        </p:spPr>
      </p:pic>
      <p:sp>
        <p:nvSpPr>
          <p:cNvPr id="14" name="Teaser 3 text"/>
          <p:cNvSpPr txBox="1"/>
          <p:nvPr/>
        </p:nvSpPr>
        <p:spPr>
          <a:xfrm>
            <a:off x="6345936"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Field office WAN and data centers</a:t>
            </a:r>
            <a:endParaRPr lang="en-US" sz="1400" dirty="0"/>
          </a:p>
          <a:p>
            <a:pPr indent="0" marL="0">
              <a:spcAft>
                <a:spcPts val="300"/>
              </a:spcAft>
              <a:buNone/>
            </a:pPr>
            <a:r>
              <a:rPr lang="en-US" sz="1350" dirty="0">
                <a:solidFill>
                  <a:schemeClr val="tx2"/>
                </a:solidFill>
              </a:rPr>
              <a:t>Office network transformation and consolidation</a:t>
            </a:r>
            <a:endParaRPr lang="en-US" sz="1400" dirty="0"/>
          </a:p>
        </p:txBody>
      </p:sp>
      <p:sp>
        <p:nvSpPr>
          <p:cNvPr id="15" name="Teaser 4"/>
          <p:cNvSpPr/>
          <p:nvPr/>
        </p:nvSpPr>
        <p:spPr>
          <a:xfrm>
            <a:off x="8970264"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Route"/>
          <p:cNvSpPr/>
          <p:nvPr/>
        </p:nvSpPr>
        <p:spPr>
          <a:xfrm>
            <a:off x="9153144" y="149047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Route.png">    </p:cNvPr>
          <p:cNvPicPr>
            <a:picLocks noChangeAspect="1"/>
          </p:cNvPicPr>
          <p:nvPr/>
        </p:nvPicPr>
        <p:blipFill>
          <a:blip r:embed="rId4"/>
          <a:stretch>
            <a:fillRect/>
          </a:stretch>
        </p:blipFill>
        <p:spPr>
          <a:xfrm>
            <a:off x="9262872" y="1600200"/>
            <a:ext cx="237744" cy="237744"/>
          </a:xfrm>
          <a:prstGeom prst="rect">
            <a:avLst/>
          </a:prstGeom>
        </p:spPr>
      </p:pic>
      <p:sp>
        <p:nvSpPr>
          <p:cNvPr id="18" name="Teaser 4 text"/>
          <p:cNvSpPr txBox="1"/>
          <p:nvPr/>
        </p:nvSpPr>
        <p:spPr>
          <a:xfrm>
            <a:off x="9153144"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TIC 3.0 branch edge</a:t>
            </a:r>
            <a:endParaRPr lang="en-US" sz="1400" dirty="0"/>
          </a:p>
          <a:p>
            <a:pPr indent="0" marL="0">
              <a:spcAft>
                <a:spcPts val="300"/>
              </a:spcAft>
              <a:buNone/>
            </a:pPr>
            <a:r>
              <a:rPr lang="en-US" sz="1350" dirty="0">
                <a:solidFill>
                  <a:schemeClr val="tx2"/>
                </a:solidFill>
              </a:rPr>
              <a:t>SD-WAN versus direct internet access</a:t>
            </a:r>
            <a:endParaRPr lang="en-US" sz="1400" dirty="0"/>
          </a:p>
        </p:txBody>
      </p:sp>
      <p:sp>
        <p:nvSpPr>
          <p:cNvPr id="19" name="Teaser 5"/>
          <p:cNvSpPr/>
          <p:nvPr/>
        </p:nvSpPr>
        <p:spPr>
          <a:xfrm>
            <a:off x="548640"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Server"/>
          <p:cNvSpPr/>
          <p:nvPr/>
        </p:nvSpPr>
        <p:spPr>
          <a:xfrm>
            <a:off x="731520" y="354787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Server.png">    </p:cNvPr>
          <p:cNvPicPr>
            <a:picLocks noChangeAspect="1"/>
          </p:cNvPicPr>
          <p:nvPr/>
        </p:nvPicPr>
        <p:blipFill>
          <a:blip r:embed="rId5"/>
          <a:stretch>
            <a:fillRect/>
          </a:stretch>
        </p:blipFill>
        <p:spPr>
          <a:xfrm>
            <a:off x="841248" y="3657600"/>
            <a:ext cx="237744" cy="237744"/>
          </a:xfrm>
          <a:prstGeom prst="rect">
            <a:avLst/>
          </a:prstGeom>
        </p:spPr>
      </p:pic>
      <p:sp>
        <p:nvSpPr>
          <p:cNvPr id="22" name="Teaser 5 text"/>
          <p:cNvSpPr txBox="1"/>
          <p:nvPr/>
        </p:nvSpPr>
        <p:spPr>
          <a:xfrm>
            <a:off x="731520"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Client-server to hybrid cloud</a:t>
            </a:r>
            <a:endParaRPr lang="en-US" sz="1400" dirty="0"/>
          </a:p>
          <a:p>
            <a:pPr indent="0" marL="0">
              <a:spcAft>
                <a:spcPts val="300"/>
              </a:spcAft>
              <a:buNone/>
            </a:pPr>
            <a:r>
              <a:rPr lang="en-US" sz="1350" dirty="0">
                <a:solidFill>
                  <a:schemeClr val="tx2"/>
                </a:solidFill>
              </a:rPr>
              <a:t>Application path from on-premises to cloud</a:t>
            </a:r>
            <a:endParaRPr lang="en-US" sz="1400" dirty="0"/>
          </a:p>
        </p:txBody>
      </p:sp>
      <p:sp>
        <p:nvSpPr>
          <p:cNvPr id="23" name="Teaser 6"/>
          <p:cNvSpPr/>
          <p:nvPr/>
        </p:nvSpPr>
        <p:spPr>
          <a:xfrm>
            <a:off x="3355848"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Database"/>
          <p:cNvSpPr/>
          <p:nvPr/>
        </p:nvSpPr>
        <p:spPr>
          <a:xfrm>
            <a:off x="3538728" y="354787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Database.png">    </p:cNvPr>
          <p:cNvPicPr>
            <a:picLocks noChangeAspect="1"/>
          </p:cNvPicPr>
          <p:nvPr/>
        </p:nvPicPr>
        <p:blipFill>
          <a:blip r:embed="rId6"/>
          <a:stretch>
            <a:fillRect/>
          </a:stretch>
        </p:blipFill>
        <p:spPr>
          <a:xfrm>
            <a:off x="3648456" y="3657600"/>
            <a:ext cx="237744" cy="237744"/>
          </a:xfrm>
          <a:prstGeom prst="rect">
            <a:avLst/>
          </a:prstGeom>
        </p:spPr>
      </p:pic>
      <p:sp>
        <p:nvSpPr>
          <p:cNvPr id="26" name="Teaser 6 text"/>
          <p:cNvSpPr txBox="1"/>
          <p:nvPr/>
        </p:nvSpPr>
        <p:spPr>
          <a:xfrm>
            <a:off x="3538728"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SQL Server identity</a:t>
            </a:r>
            <a:endParaRPr lang="en-US" sz="1400" dirty="0"/>
          </a:p>
          <a:p>
            <a:pPr indent="0" marL="0">
              <a:spcAft>
                <a:spcPts val="300"/>
              </a:spcAft>
              <a:buNone/>
            </a:pPr>
            <a:r>
              <a:rPr lang="en-US" sz="1350" dirty="0">
                <a:solidFill>
                  <a:schemeClr val="tx2"/>
                </a:solidFill>
              </a:rPr>
              <a:t>Database logins moved to governed identity</a:t>
            </a:r>
            <a:endParaRPr lang="en-US" sz="1400" dirty="0"/>
          </a:p>
        </p:txBody>
      </p:sp>
      <p:sp>
        <p:nvSpPr>
          <p:cNvPr id="27" name="Teaser 7"/>
          <p:cNvSpPr/>
          <p:nvPr/>
        </p:nvSpPr>
        <p:spPr>
          <a:xfrm>
            <a:off x="6163056"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Laptop"/>
          <p:cNvSpPr/>
          <p:nvPr/>
        </p:nvSpPr>
        <p:spPr>
          <a:xfrm>
            <a:off x="6345936" y="354787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Laptop.png">    </p:cNvPr>
          <p:cNvPicPr>
            <a:picLocks noChangeAspect="1"/>
          </p:cNvPicPr>
          <p:nvPr/>
        </p:nvPicPr>
        <p:blipFill>
          <a:blip r:embed="rId7"/>
          <a:stretch>
            <a:fillRect/>
          </a:stretch>
        </p:blipFill>
        <p:spPr>
          <a:xfrm>
            <a:off x="6455664" y="3657600"/>
            <a:ext cx="237744" cy="237744"/>
          </a:xfrm>
          <a:prstGeom prst="rect">
            <a:avLst/>
          </a:prstGeom>
        </p:spPr>
      </p:pic>
      <p:sp>
        <p:nvSpPr>
          <p:cNvPr id="30" name="Teaser 7 text"/>
          <p:cNvSpPr txBox="1"/>
          <p:nvPr/>
        </p:nvSpPr>
        <p:spPr>
          <a:xfrm>
            <a:off x="6345936"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GPO sunset to Intune and Arc</a:t>
            </a:r>
            <a:endParaRPr lang="en-US" sz="1400" dirty="0"/>
          </a:p>
          <a:p>
            <a:pPr indent="0" marL="0">
              <a:spcAft>
                <a:spcPts val="300"/>
              </a:spcAft>
              <a:buNone/>
            </a:pPr>
            <a:r>
              <a:rPr lang="en-US" sz="1350" dirty="0">
                <a:solidFill>
                  <a:schemeClr val="tx2"/>
                </a:solidFill>
              </a:rPr>
              <a:t>Policy and device management in the cloud</a:t>
            </a:r>
            <a:endParaRPr lang="en-US" sz="1400" dirty="0"/>
          </a:p>
        </p:txBody>
      </p:sp>
      <p:sp>
        <p:nvSpPr>
          <p:cNvPr id="31" name="Teaser 8"/>
          <p:cNvSpPr/>
          <p:nvPr/>
        </p:nvSpPr>
        <p:spPr>
          <a:xfrm>
            <a:off x="8970264"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ShieldHalved"/>
          <p:cNvSpPr/>
          <p:nvPr/>
        </p:nvSpPr>
        <p:spPr>
          <a:xfrm>
            <a:off x="9153144" y="354787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ShieldHalved.png">    </p:cNvPr>
          <p:cNvPicPr>
            <a:picLocks noChangeAspect="1"/>
          </p:cNvPicPr>
          <p:nvPr/>
        </p:nvPicPr>
        <p:blipFill>
          <a:blip r:embed="rId8"/>
          <a:stretch>
            <a:fillRect/>
          </a:stretch>
        </p:blipFill>
        <p:spPr>
          <a:xfrm>
            <a:off x="9262872" y="3657600"/>
            <a:ext cx="237744" cy="237744"/>
          </a:xfrm>
          <a:prstGeom prst="rect">
            <a:avLst/>
          </a:prstGeom>
        </p:spPr>
      </p:pic>
      <p:sp>
        <p:nvSpPr>
          <p:cNvPr id="34" name="Teaser 8 text"/>
          <p:cNvSpPr txBox="1"/>
          <p:nvPr/>
        </p:nvSpPr>
        <p:spPr>
          <a:xfrm>
            <a:off x="9153144"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Continuous compliance</a:t>
            </a:r>
            <a:endParaRPr lang="en-US" sz="1400" dirty="0"/>
          </a:p>
          <a:p>
            <a:pPr indent="0" marL="0">
              <a:spcAft>
                <a:spcPts val="300"/>
              </a:spcAft>
              <a:buNone/>
            </a:pPr>
            <a:r>
              <a:rPr lang="en-US" sz="1350" dirty="0">
                <a:solidFill>
                  <a:schemeClr val="tx2"/>
                </a:solidFill>
              </a:rPr>
              <a:t>SCuBA baselines, BOD 25-01, FedRAMP 20x</a:t>
            </a:r>
            <a:endParaRPr lang="en-US" sz="1400" dirty="0"/>
          </a:p>
        </p:txBody>
      </p:sp>
      <p:sp>
        <p:nvSpPr>
          <p:cNvPr id="35" name="Teaser footer"/>
          <p:cNvSpPr/>
          <p:nvPr/>
        </p:nvSpPr>
        <p:spPr>
          <a:xfrm>
            <a:off x="548640" y="5486400"/>
            <a:ext cx="11109960" cy="640080"/>
          </a:xfrm>
          <a:prstGeom prst="roundRect">
            <a:avLst>
              <a:gd name="adj" fmla="val 1142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6" name="Teaser footer text"/>
          <p:cNvSpPr txBox="1"/>
          <p:nvPr/>
        </p:nvSpPr>
        <p:spPr>
          <a:xfrm>
            <a:off x="822960" y="5504688"/>
            <a:ext cx="10607040" cy="603504"/>
          </a:xfrm>
          <a:prstGeom prst="rect">
            <a:avLst/>
          </a:prstGeom>
          <a:noFill/>
          <a:ln/>
        </p:spPr>
        <p:txBody>
          <a:bodyPr wrap="square" lIns="0" tIns="0" rIns="0" bIns="0" rtlCol="0" anchor="ctr"/>
          <a:lstStyle/>
          <a:p>
            <a:pPr indent="0" marL="0">
              <a:buNone/>
            </a:pPr>
            <a:r>
              <a:rPr lang="en-US" sz="1600" b="1" dirty="0">
                <a:solidFill>
                  <a:srgbClr val="B45309"/>
                </a:solidFill>
              </a:rPr>
              <a:t>Also: </a:t>
            </a:r>
            <a:pPr indent="0" marL="0">
              <a:buNone/>
            </a:pPr>
            <a:r>
              <a:rPr lang="en-US" sz="1600" dirty="0">
                <a:solidFill>
                  <a:schemeClr val="tx2"/>
                </a:solidFill>
              </a:rPr>
              <a:t>Zero Trust whole-agency unification · AI identity governance · help desk Entra operations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Mike Stratton</cp:lastModifiedBy>
  <cp:revision>1</cp:revision>
  <dcterms:created xsi:type="dcterms:W3CDTF">2026-10-20T01:44:47Z</dcterms:created>
  <dcterms:modified xsi:type="dcterms:W3CDTF">2026-10-20T01:44:47Z</dcterms:modified>
</cp:coreProperties>
</file>