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61dadbbe-95b2-a09f-2f4d-65ebd12449a6}">
          <p14:sldIdLst>
            <p14:sldId id="256"/>
            <p14:sldId id="257"/>
            <p14:sldId id="258"/>
            <p14:sldId id="259"/>
          </p14:sldIdLst>
        </p14:section>
        <p14:section name="Making it real" id="{f92649ba-1e8d-f9c5-69df-039c4af00c85}">
          <p14:sldIdLst>
            <p14:sldId id="260"/>
            <p14:sldId id="261"/>
            <p14:sldId id="262"/>
            <p14:sldId id="263"/>
            <p14:sldId id="264"/>
          </p14:sldIdLst>
        </p14:section>
        <p14:section name="Backup" id="{8d6e474e-3ff0-e0a2-3e44-9a92834cbc0a}">
          <p14:sldIdLst>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every agency's calendar.
I have one proposal, and I'll take it through four questions, the way I'd take it to leadership: why it matters, what we should do, who has to be involved, and how we'd carry it out and know it's working.
Workbook: HR-Driven Identity, Chapter 00 — Overview and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answers those questions by rule, the same way everywhere.
And if we do nothing, HR moves to Core HCM, identity moves to Entra ID, and we rebuild the same manual process twice, on new platforms.
Workbook: HR-Driven Identity, Chapter 01 — Why the agency needs HR-driven ICAM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but it automates a source that isn't authoritative, so it spreads bad data faster, and it's rebuilt when HR changes platforms.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every agency describes its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validating its uniqueness, persistence, non-reassignment, population coverage, privacy constraints and historical behavior.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every agency is moving to the same HR platform on the same standards, so one identity standard can serve them all, and the services they share.
Workbook: HR-Driven Identity, Chapter 01 — Why the agency needs HR-driven ICAM now; Chapter 03 — Attribute Authority; Chapter 05 —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Contractor sponsors and the PIV office are the source for people HR doesn't cover.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Personnel actions then drive the identity events — joiner, mover, leaver — by code, using a proposed classification that the data owners validate first. Contractors come into the same model once the contractor authority decision is made.
Security. The leaver path blocks access first, within hours, and cleans up afterward. The integration runs with least privilege and no stored secrets.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technology is the example, not the point. Here it's Oracle Core HCM feeding Microsoft's HR-driven provisioning into Entra ID and Active Directory, with access packages, lifecycle workflows and PIV downstream. If the vendors change, the design holds.
Workbook: HR-Driven Identity, Chapter 04 — Logical architecture and Microsoft realization; Chapter 05 — The standard-attribute layer; Chapter 07 — The canonical leaver sequence;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What I'd need from leadership is one decision: start HR-driven identity now, as a design requirement of the HR 2.0 onboarding and the Entra ID migration. And to act on it: a sponsor across HR, the CIO's identity team and privacy; identity named as a consumer in the HR 2.0 interconnection plan; data owners designated, and the enterprise person key confirmed; a small team for the pre-onboarding data work; and the planning assumptions validated, with authoritative owners designated, before implementation.
Thank you. I look forward to your questions.
Workbook: HR-Driven Identity, Chapter 09 — Drift, Metrics and Evidence;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slides that follow are the detailed case, for questions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public sources establish the overall direction, but I do not currently have visibility into every internal decision or data source. I have identified those items as assumptions to validate with the responsible owners. That validation is part of the architecture process, not something I would leave for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Personnel actions drive the lifecycle.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3.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indent="0" marL="0">
              <a:buNone/>
            </a:pPr>
            <a:r>
              <a:rPr lang="en-US" sz="1050" b="1" dirty="0">
                <a:solidFill>
                  <a:srgbClr val="64748B"/>
                </a:solidFill>
              </a:rPr>
              <a:t>TODAY: THE ENTERPRISE LIFECYCLE REMAINS SUBSTANTIALLY MANUAL AND FRAGMENTED</a:t>
            </a:r>
            <a:endParaRPr lang="en-US" sz="1050" dirty="0"/>
          </a:p>
        </p:txBody>
      </p:sp>
      <p:sp>
        <p:nvSpPr>
          <p:cNvPr id="6" name="Icon FaUserXmark"/>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C:\Users\whale\git\uiao\inbox\SSA-Interview\build\icons\FaUserXmark.png">    </p:cNvPr>
          <p:cNvPicPr>
            <a:picLocks noChangeAspect="1"/>
          </p:cNvPicPr>
          <p:nvPr/>
        </p:nvPicPr>
        <p:blipFill>
          <a:blip r:embed="rId1"/>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B91C1C"/>
                </a:solidFill>
              </a:rPr>
              <a:t>Access outlives the job</a:t>
            </a:r>
            <a:endParaRPr lang="en-US" sz="1400" dirty="0"/>
          </a:p>
          <a:p>
            <a:pPr indent="0" marL="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C:\Users\whale\git\uiao\inbox\SSA-Interview\build\icons\FaAddressBook.png">    </p:cNvPr>
          <p:cNvPicPr>
            <a:picLocks noChangeAspect="1"/>
          </p:cNvPicPr>
          <p:nvPr/>
        </p:nvPicPr>
        <p:blipFill>
          <a:blip r:embed="rId2"/>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1F2A44"/>
                </a:solidFill>
              </a:rPr>
              <a:t>Records we can’t trust</a:t>
            </a:r>
            <a:endParaRPr lang="en-US" sz="1400" dirty="0"/>
          </a:p>
          <a:p>
            <a:pPr indent="0" marL="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C:\Users\whale\git\uiao\inbox\SSA-Interview\build\icons\FaUserClock.png">    </p:cNvPr>
          <p:cNvPicPr>
            <a:picLocks noChangeAspect="1"/>
          </p:cNvPicPr>
          <p:nvPr/>
        </p:nvPicPr>
        <p:blipFill>
          <a:blip r:embed="rId3"/>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0F766E"/>
                </a:solidFill>
              </a:rPr>
              <a:t>Cost and delay</a:t>
            </a:r>
            <a:endParaRPr lang="en-US" sz="1400" dirty="0"/>
          </a:p>
          <a:p>
            <a:pPr indent="0" marL="0">
              <a:spcAft>
                <a:spcPts val="200"/>
              </a:spcAft>
              <a:buNone/>
            </a:pPr>
            <a:r>
              <a:rPr lang="en-US" sz="1400" dirty="0">
                <a:solidFill>
                  <a:schemeClr val="tx2"/>
                </a:solidFill>
              </a:rPr>
              <a:t>Many joiners, movers and leavers become help-desk work.</a:t>
            </a:r>
            <a:endParaRPr lang="en-US" sz="1400" dirty="0"/>
          </a:p>
        </p:txBody>
      </p:sp>
      <p:sp>
        <p:nvSpPr>
          <p:cNvPr id="15" name="Mission box"/>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indent="0" marL="0">
              <a:buNone/>
            </a:pPr>
            <a:r>
              <a:rPr lang="en-US" sz="1200" b="1" dirty="0">
                <a:solidFill>
                  <a:srgbClr val="64748B"/>
                </a:solidFill>
              </a:rPr>
              <a:t>WHERE THE MISSION IS HEADING</a:t>
            </a:r>
            <a:endParaRPr lang="en-US" sz="1400" dirty="0"/>
          </a:p>
          <a:p>
            <a:pPr indent="0" marL="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indent="0" marL="0">
              <a:spcAft>
                <a:spcPts val="300"/>
              </a:spcAft>
              <a:buNone/>
            </a:pPr>
            <a:r>
              <a:rPr lang="en-US" sz="1450" b="1" dirty="0">
                <a:solidFill>
                  <a:schemeClr val="tx2"/>
                </a:solidFill>
              </a:rPr>
              <a:t>Illustrative shared-service scenario: a cross-agency contact center. </a:t>
            </a:r>
            <a:endParaRPr lang="en-US" sz="1450" dirty="0"/>
          </a:p>
          <a:p>
            <a:pPr indent="0" marL="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indent="0" marL="0">
              <a:buNone/>
            </a:pPr>
            <a:r>
              <a:rPr lang="en-US" sz="1450" b="1" dirty="0">
                <a:solidFill>
                  <a:srgbClr val="0F766E"/>
                </a:solidFill>
              </a:rPr>
              <a:t>A standardized, HR-driven identity answers all three by rule.</a:t>
            </a:r>
            <a:endParaRPr lang="en-US" sz="1450" dirty="0"/>
          </a:p>
        </p:txBody>
      </p:sp>
      <p:sp>
        <p:nvSpPr>
          <p:cNvPr id="21" name="Do nothing"/>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C:\Users\whale\git\uiao\inbox\SSA-Interview\build\icons\FaTriangleExclamation.png">    </p:cNvPr>
          <p:cNvPicPr>
            <a:picLocks noChangeAspect="1"/>
          </p:cNvPicPr>
          <p:nvPr/>
        </p:nvPicPr>
        <p:blipFill>
          <a:blip r:embed="rId5"/>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If we do nothing: </a:t>
            </a:r>
            <a:pPr indent="0" marL="0">
              <a:buNone/>
            </a:pP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3429000"/>
                <a:gridCol w="1600200"/>
                <a:gridCol w="1234440"/>
                <a:gridCol w="1234440"/>
                <a:gridCol w="1325880"/>
                <a:gridCol w="22860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C:\Users\whale\git\uiao\inbox\SSA-Interview\build\icons\FaScaleBalanced.png">    </p:cNvPr>
          <p:cNvPicPr>
            <a:picLocks noChangeAspect="1"/>
          </p:cNvPicPr>
          <p:nvPr/>
        </p:nvPicPr>
        <p:blipFill>
          <a:blip r:embed="rId1"/>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The judgment call: </a:t>
            </a:r>
            <a:pPr indent="0" marL="0">
              <a:buNone/>
            </a:pP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eason 1"/>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C:\Users\whale\git\uiao\inbox\SSA-Interview\build\icons\FaUsersGear.png">    </p:cNvPr>
          <p:cNvPicPr>
            <a:picLocks noChangeAspect="1"/>
          </p:cNvPicPr>
          <p:nvPr/>
        </p:nvPicPr>
        <p:blipFill>
          <a:blip r:embed="rId1"/>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indent="0" marL="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ChartLine"/>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C:\Users\whale\git\uiao\inbox\SSA-Interview\build\icons\FaChartLine.png">    </p:cNvPr>
          <p:cNvPicPr>
            <a:picLocks noChangeAspect="1"/>
          </p:cNvPicPr>
          <p:nvPr/>
        </p:nvPicPr>
        <p:blipFill>
          <a:blip r:embed="rId2"/>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indent="0" marL="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hieldHalved"/>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C:\Users\whale\git\uiao\inbox\SSA-Interview\build\icons\FaShieldHalved.png">    </p:cNvPr>
          <p:cNvPicPr>
            <a:picLocks noChangeAspect="1"/>
          </p:cNvPicPr>
          <p:nvPr/>
        </p:nvPicPr>
        <p:blipFill>
          <a:blip r:embed="rId3"/>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indent="0" marL="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Icon FaArrowsRotate"/>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C:\Users\whale\git\uiao\inbox\SSA-Interview\build\icons\FaArrowsRotate.png">    </p:cNvPr>
          <p:cNvPicPr>
            <a:picLocks noChangeAspect="1"/>
          </p:cNvPicPr>
          <p:nvPr/>
        </p:nvPicPr>
        <p:blipFill>
          <a:blip r:embed="rId4"/>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indent="0" marL="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indent="0" marL="0">
              <a:buNone/>
            </a:pPr>
            <a:r>
              <a:rPr lang="en-US" sz="1400" b="1" dirty="0">
                <a:solidFill>
                  <a:srgbClr val="64748B"/>
                </a:solidFill>
              </a:rPr>
              <a:t>Honest limits: </a:t>
            </a:r>
            <a:pPr indent="0" marL="0">
              <a:buNone/>
            </a:pP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indent="0" marL="0">
              <a:buNone/>
            </a:pPr>
            <a:r>
              <a:rPr lang="en-US" sz="1400" b="1" dirty="0">
                <a:solidFill>
                  <a:srgbClr val="0F766E"/>
                </a:solidFill>
              </a:rPr>
              <a:t>The upside: </a:t>
            </a:r>
            <a:pPr indent="0" marL="0">
              <a:buNone/>
            </a:pPr>
            <a:r>
              <a:rPr lang="en-US" sz="1400" dirty="0">
                <a:solidFill>
                  <a:schemeClr val="tx2"/>
                </a:solidFill>
              </a:rPr>
              <a:t>every agency is moving to the same HR platform on the same standards — one identity standard can serve them all, and the services they share.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C:\Users\whale\git\uiao\inbox\SSA-Interview\build\icons\FaBuildingColumns.png">    </p:cNvPr>
          <p:cNvPicPr>
            <a:picLocks noChangeAspect="1"/>
          </p:cNvPicPr>
          <p:nvPr/>
        </p:nvPicPr>
        <p:blipFill>
          <a:blip r:embed="rId1"/>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The platform, the standards, the interconnection</a:t>
            </a:r>
            <a:endParaRPr lang="en-US" sz="1450" dirty="0"/>
          </a:p>
        </p:txBody>
      </p:sp>
      <p:sp>
        <p:nvSpPr>
          <p:cNvPr id="10" name="Who col 2"/>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C:\Users\whale\git\uiao\inbox\SSA-Interview\build\icons\FaUsersGear.png">    </p:cNvPr>
          <p:cNvPicPr>
            <a:picLocks noChangeAspect="1"/>
          </p:cNvPicPr>
          <p:nvPr/>
        </p:nvPicPr>
        <p:blipFill>
          <a:blip r:embed="rId2"/>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and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ShieldHalved.png">    </p:cNvPr>
          <p:cNvPicPr>
            <a:picLocks noChangeAspect="1"/>
          </p:cNvPicPr>
          <p:nvPr/>
        </p:nvPicPr>
        <p:blipFill>
          <a:blip r:embed="rId3"/>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Routine use and minimization, from the start</a:t>
            </a:r>
            <a:endParaRPr lang="en-US" sz="1450" dirty="0"/>
          </a:p>
          <a:p>
            <a:pPr indent="0" marL="0">
              <a:spcAft>
                <a:spcPts val="600"/>
              </a:spcAft>
              <a:buNone/>
            </a:pPr>
            <a:r>
              <a:rPr lang="en-US" sz="1450" b="1" dirty="0">
                <a:solidFill>
                  <a:srgbClr val="B45309"/>
                </a:solidFill>
              </a:rPr>
              <a:t>Contractor sponsors and PIV</a:t>
            </a:r>
            <a:endParaRPr lang="en-US" sz="1450" dirty="0"/>
          </a:p>
          <a:p>
            <a:pPr indent="0" marL="0">
              <a:spcAft>
                <a:spcPts val="600"/>
              </a:spcAft>
              <a:buNone/>
            </a:pPr>
            <a:r>
              <a:rPr lang="en-US" sz="1450" dirty="0">
                <a:solidFill>
                  <a:schemeClr val="tx2"/>
                </a:solidFill>
              </a:rPr>
              <a:t>The source for non-employees</a:t>
            </a:r>
            <a:endParaRPr lang="en-US" sz="1450" dirty="0"/>
          </a:p>
          <a:p>
            <a:pPr indent="0" marL="0">
              <a:spcAft>
                <a:spcPts val="600"/>
              </a:spcAft>
              <a:buNone/>
            </a:pPr>
            <a:r>
              <a:rPr lang="en-US" sz="1450" b="1" dirty="0">
                <a:solidFill>
                  <a:srgbClr val="B45309"/>
                </a:solidFill>
              </a:rPr>
              <a:t>Partner agencies</a:t>
            </a:r>
            <a:endParaRPr lang="en-US" sz="1450" dirty="0"/>
          </a:p>
          <a:p>
            <a:pPr indent="0" marL="0">
              <a:spcAft>
                <a:spcPts val="600"/>
              </a:spcAft>
              <a:buNone/>
            </a:pPr>
            <a:r>
              <a:rPr lang="en-US" sz="1450" dirty="0">
                <a:solidFill>
                  <a:schemeClr val="tx2"/>
                </a:solidFill>
              </a:rPr>
              <a:t>One standard for shared services</a:t>
            </a:r>
            <a:endParaRPr lang="en-US" sz="1450" dirty="0"/>
          </a:p>
        </p:txBody>
      </p:sp>
      <p:sp>
        <p:nvSpPr>
          <p:cNvPr id="20" name="My role"/>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C:\Users\whale\git\uiao\inbox\SSA-Interview\build\icons\FaSitemap.png">    </p:cNvPr>
          <p:cNvPicPr>
            <a:picLocks noChangeAspect="1"/>
          </p:cNvPicPr>
          <p:nvPr/>
        </p:nvPicPr>
        <p:blipFill>
          <a:blip r:embed="rId4"/>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indent="0" marL="0">
              <a:buNone/>
            </a:pPr>
            <a:r>
              <a:rPr lang="en-US" sz="1500" b="1" dirty="0">
                <a:solidFill>
                  <a:srgbClr val="1F2A44"/>
                </a:solidFill>
              </a:rPr>
              <a:t>My role as enterprise data architect: </a:t>
            </a:r>
            <a:pPr indent="0" marL="0">
              <a:buNone/>
            </a:pP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LOGICAL MODEL: TRACK THE PERSON, NOT THE ACCOUNT</a:t>
            </a:r>
            <a:endParaRPr lang="en-US" sz="1200" dirty="0"/>
          </a:p>
        </p:txBody>
      </p:sp>
      <p:sp>
        <p:nvSpPr>
          <p:cNvPr id="6" name="Entity Person"/>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Person</a:t>
            </a:r>
            <a:pPr indent="0" marL="0">
              <a:spcAft>
                <a:spcPts val="100"/>
              </a:spcAft>
              <a:buNone/>
            </a:pPr>
            <a:endParaRPr lang="en-US" sz="1400" dirty="0"/>
          </a:p>
          <a:p>
            <a:pPr indent="0" marL="0">
              <a:spcAft>
                <a:spcPts val="100"/>
              </a:spcAft>
              <a:buNone/>
            </a:pPr>
            <a:r>
              <a:rPr lang="en-US" sz="1150" dirty="0">
                <a:solidFill>
                  <a:schemeClr val="tx2"/>
                </a:solidFill>
              </a:rPr>
              <a:t>PK: enterprise person key, controlled by the agency.</a:t>
            </a:r>
            <a:endParaRPr lang="en-US" sz="1400" dirty="0"/>
          </a:p>
        </p:txBody>
      </p:sp>
      <p:sp>
        <p:nvSpPr>
          <p:cNvPr id="8" name="Entity Identifie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Identifier</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Affiliation</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Account</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Assignment</a:t>
            </a:r>
            <a:pPr indent="0" marL="0">
              <a:spcAft>
                <a:spcPts val="100"/>
              </a:spcAft>
              <a:buNone/>
            </a:pPr>
            <a:r>
              <a:rPr lang="en-US" sz="1100" dirty="0">
                <a:solidFill>
                  <a:srgbClr val="64748B"/>
                </a:solidFill>
              </a:rPr>
              <a:t>  N per affiliation</a:t>
            </a:r>
            <a:endParaRPr lang="en-US" sz="1400" dirty="0"/>
          </a:p>
          <a:p>
            <a:pPr indent="0" marL="0">
              <a:spcAft>
                <a:spcPts val="100"/>
              </a:spcAft>
              <a:buNone/>
            </a:pPr>
            <a:r>
              <a:rPr lang="en-US" sz="1150" dirty="0">
                <a:solidFill>
                  <a:schemeClr val="tx2"/>
                </a:solidFill>
              </a:rPr>
              <a:t>Position, status, supervisor (a Person). Effective-dated.</a:t>
            </a:r>
            <a:endParaRPr lang="en-US" sz="1400" dirty="0"/>
          </a:p>
        </p:txBody>
      </p:sp>
      <p:sp>
        <p:nvSpPr>
          <p:cNvPr id="16" name="Entity Org unit"/>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Org unit</a:t>
            </a:r>
            <a:pPr indent="0" marL="0">
              <a:spcAft>
                <a:spcPts val="100"/>
              </a:spcAft>
              <a:buNone/>
            </a:pPr>
            <a:r>
              <a:rPr lang="en-US" sz="1100" dirty="0">
                <a:solidFill>
                  <a:srgbClr val="64748B"/>
                </a:solidFill>
              </a:rPr>
              <a:t>  hierarchy</a:t>
            </a:r>
            <a:endParaRPr lang="en-US" sz="1400" dirty="0"/>
          </a:p>
          <a:p>
            <a:pPr indent="0" marL="0">
              <a:spcAft>
                <a:spcPts val="100"/>
              </a:spcAft>
              <a:buNone/>
            </a:pPr>
            <a:r>
              <a:rPr lang="en-US" sz="1150" dirty="0">
                <a:solidFill>
                  <a:schemeClr val="tx2"/>
                </a:solidFill>
              </a:rPr>
              <a:t>Parent org unit; agency organization codes.</a:t>
            </a:r>
            <a:endParaRPr lang="en-US" sz="1400" dirty="0"/>
          </a:p>
        </p:txBody>
      </p:sp>
      <p:sp>
        <p:nvSpPr>
          <p:cNvPr id="18" name="Shape 16"/>
          <p:cNvSpPr/>
          <p:nvPr/>
        </p:nvSpPr>
        <p:spPr>
          <a:xfrm>
            <a:off x="3246120" y="2066544"/>
            <a:ext cx="365760" cy="0"/>
          </a:xfrm>
          <a:prstGeom prst="line">
            <a:avLst/>
          </a:prstGeom>
          <a:noFill/>
          <a:ln w="19050">
            <a:solidFill>
              <a:srgbClr val="64748B"/>
            </a:solidFill>
            <a:prstDash val="solid"/>
          </a:ln>
        </p:spPr>
      </p:sp>
      <p:sp>
        <p:nvSpPr>
          <p:cNvPr id="19" name="Shape 17"/>
          <p:cNvSpPr/>
          <p:nvPr/>
        </p:nvSpPr>
        <p:spPr>
          <a:xfrm>
            <a:off x="1897380" y="2532888"/>
            <a:ext cx="0" cy="210312"/>
          </a:xfrm>
          <a:prstGeom prst="line">
            <a:avLst/>
          </a:prstGeom>
          <a:noFill/>
          <a:ln w="19050">
            <a:solidFill>
              <a:srgbClr val="64748B"/>
            </a:solidFill>
            <a:prstDash val="solid"/>
          </a:ln>
        </p:spPr>
      </p:sp>
      <p:sp>
        <p:nvSpPr>
          <p:cNvPr id="20" name="Shape 18"/>
          <p:cNvSpPr/>
          <p:nvPr/>
        </p:nvSpPr>
        <p:spPr>
          <a:xfrm>
            <a:off x="3246120" y="2395728"/>
            <a:ext cx="365760" cy="484632"/>
          </a:xfrm>
          <a:prstGeom prst="line">
            <a:avLst/>
          </a:prstGeom>
          <a:noFill/>
          <a:ln w="19050">
            <a:solidFill>
              <a:srgbClr val="64748B"/>
            </a:solidFill>
            <a:prstDash val="solid"/>
          </a:ln>
        </p:spPr>
      </p:sp>
      <p:sp>
        <p:nvSpPr>
          <p:cNvPr id="21" name="Shape 19"/>
          <p:cNvSpPr/>
          <p:nvPr/>
        </p:nvSpPr>
        <p:spPr>
          <a:xfrm>
            <a:off x="1897380" y="3675888"/>
            <a:ext cx="0" cy="210312"/>
          </a:xfrm>
          <a:prstGeom prst="line">
            <a:avLst/>
          </a:prstGeom>
          <a:noFill/>
          <a:ln w="19050">
            <a:solidFill>
              <a:srgbClr val="64748B"/>
            </a:solidFill>
            <a:prstDash val="solid"/>
          </a:ln>
        </p:spPr>
      </p:sp>
      <p:sp>
        <p:nvSpPr>
          <p:cNvPr id="22" name="Shape 20"/>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indent="0" marL="0">
              <a:buNone/>
            </a:pPr>
            <a:r>
              <a:rPr lang="en-US" sz="1250" b="1" dirty="0">
                <a:solidFill>
                  <a:srgbClr val="1F2A44"/>
                </a:solidFill>
              </a:rPr>
              <a:t>Proposed canonical model: </a:t>
            </a:r>
            <a:pPr indent="0" marL="0">
              <a:buNone/>
            </a:pP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indent="0" marL="0">
              <a:buNone/>
            </a:pPr>
            <a:r>
              <a:rPr lang="en-US" sz="1200" b="1" dirty="0">
                <a:solidFill>
                  <a:srgbClr val="64748B"/>
                </a:solidFill>
              </a:rPr>
              <a:t>PHYSICAL REALIZATION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a:tblGrid>
                <a:gridCol w="1463040"/>
                <a:gridCol w="365760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680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6" name="Standards"/>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indent="0" marL="0">
              <a:buNone/>
            </a:pPr>
            <a:r>
              <a:rPr lang="en-US" sz="1450" b="1" dirty="0">
                <a:solidFill>
                  <a:srgbClr val="1F2A44"/>
                </a:solidFill>
              </a:rPr>
              <a:t>The standard behind it: </a:t>
            </a:r>
            <a:pPr indent="0" marL="0">
              <a:buNone/>
            </a:pP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ow col 1"/>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Database"/>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C:\Users\whale\git\uiao\inbox\SSA-Interview\build\icons\FaDatabase.png">    </p:cNvPr>
          <p:cNvPicPr>
            <a:picLocks noChangeAspect="1"/>
          </p:cNvPicPr>
          <p:nvPr/>
        </p:nvPicPr>
        <p:blipFill>
          <a:blip r:embed="rId1"/>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Personnel actions drive joiner, mover, leaver by code</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Lock"/>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C:\Users\whale\git\uiao\inbox\SSA-Interview\build\icons\FaLock.png">    </p:cNvPr>
          <p:cNvPicPr>
            <a:picLocks noChangeAspect="1"/>
          </p:cNvPicPr>
          <p:nvPr/>
        </p:nvPicPr>
        <p:blipFill>
          <a:blip r:embed="rId2"/>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access first, within hours, then clean up</a:t>
            </a:r>
            <a:endParaRPr lang="en-US" sz="1400" dirty="0"/>
          </a:p>
          <a:p>
            <a:pPr marL="342900" indent="-342900">
              <a:spcAft>
                <a:spcPts val="600"/>
              </a:spcAft>
              <a:buSzPct val="100000"/>
              <a:buChar char="•"/>
            </a:pPr>
            <a:r>
              <a:rPr lang="en-US" sz="1500" dirty="0">
                <a:solidFill>
                  <a:schemeClr val="tx2"/>
                </a:solidFill>
              </a:rPr>
              <a:t>Least privilege; no stored secrets</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Route.png">    </p:cNvPr>
          <p:cNvPicPr>
            <a:picLocks noChangeAspect="1"/>
          </p:cNvPicPr>
          <p:nvPr/>
        </p:nvPicPr>
        <p:blipFill>
          <a:blip r:embed="rId3"/>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indent="0" marL="0">
              <a:buNone/>
            </a:pPr>
            <a:r>
              <a:rPr lang="en-US" sz="1100" b="1" dirty="0">
                <a:solidFill>
                  <a:srgbClr val="64748B"/>
                </a:solidFill>
              </a:rPr>
              <a:t>EXAMPLE STACK</a:t>
            </a:r>
            <a:endParaRPr lang="en-US" sz="1100" dirty="0"/>
          </a:p>
        </p:txBody>
      </p:sp>
      <p:sp>
        <p:nvSpPr>
          <p:cNvPr id="21" name="Stack 1"/>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Oracle Core HCM</a:t>
            </a:r>
            <a:endParaRPr lang="en-US" sz="1200" dirty="0"/>
          </a:p>
        </p:txBody>
      </p:sp>
      <p:sp>
        <p:nvSpPr>
          <p:cNvPr id="23" name="Shape 18"/>
          <p:cNvSpPr/>
          <p:nvPr/>
        </p:nvSpPr>
        <p:spPr>
          <a:xfrm>
            <a:off x="4187952" y="5417820"/>
            <a:ext cx="237744" cy="0"/>
          </a:xfrm>
          <a:prstGeom prst="line">
            <a:avLst/>
          </a:prstGeom>
          <a:noFill/>
          <a:ln w="22225">
            <a:solidFill>
              <a:srgbClr val="64748B"/>
            </a:solidFill>
            <a:prstDash val="solid"/>
            <a:tailEnd type="triangle"/>
          </a:ln>
        </p:spPr>
      </p:sp>
      <p:sp>
        <p:nvSpPr>
          <p:cNvPr id="24" name="Stack 2"/>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HR-driven provisioning</a:t>
            </a:r>
            <a:endParaRPr lang="en-US" sz="1200" dirty="0"/>
          </a:p>
        </p:txBody>
      </p:sp>
      <p:sp>
        <p:nvSpPr>
          <p:cNvPr id="26" name="Shape 21"/>
          <p:cNvSpPr/>
          <p:nvPr/>
        </p:nvSpPr>
        <p:spPr>
          <a:xfrm>
            <a:off x="6629400" y="5417820"/>
            <a:ext cx="237744" cy="0"/>
          </a:xfrm>
          <a:prstGeom prst="line">
            <a:avLst/>
          </a:prstGeom>
          <a:noFill/>
          <a:ln w="22225">
            <a:solidFill>
              <a:srgbClr val="64748B"/>
            </a:solidFill>
            <a:prstDash val="solid"/>
            <a:tailEnd type="triangle"/>
          </a:ln>
        </p:spPr>
      </p:sp>
      <p:sp>
        <p:nvSpPr>
          <p:cNvPr id="27" name="Stack 3"/>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and Active Directory</a:t>
            </a:r>
            <a:endParaRPr lang="en-US" sz="1200" dirty="0"/>
          </a:p>
        </p:txBody>
      </p:sp>
      <p:sp>
        <p:nvSpPr>
          <p:cNvPr id="29" name="Shape 24"/>
          <p:cNvSpPr/>
          <p:nvPr/>
        </p:nvSpPr>
        <p:spPr>
          <a:xfrm>
            <a:off x="9070848" y="5417820"/>
            <a:ext cx="237744" cy="0"/>
          </a:xfrm>
          <a:prstGeom prst="line">
            <a:avLst/>
          </a:prstGeom>
          <a:noFill/>
          <a:ln w="22225">
            <a:solidFill>
              <a:srgbClr val="64748B"/>
            </a:solidFill>
            <a:prstDash val="solid"/>
            <a:tailEnd type="triangle"/>
          </a:ln>
        </p:spPr>
      </p:sp>
      <p:sp>
        <p:nvSpPr>
          <p:cNvPr id="30" name="Stack 4"/>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Access packages, lifecycle workflows, PIV</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indent="0" marL="0">
              <a:buNone/>
            </a:pPr>
            <a:r>
              <a:rPr lang="en-US" sz="1200" b="1" dirty="0">
                <a:solidFill>
                  <a:srgbClr val="64748B"/>
                </a:solidFill>
              </a:rPr>
              <a:t>MEASURES, BASELINED IN THE FIRST PHASE</a:t>
            </a:r>
            <a:endParaRPr lang="en-US" sz="1200" dirty="0"/>
          </a:p>
        </p:txBody>
      </p:sp>
      <p:sp>
        <p:nvSpPr>
          <p:cNvPr id="6" name="Measure 1"/>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7" name="Icon FaUserXmark"/>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descr="C:\Users\whale\git\uiao\inbox\SSA-Interview\build\icons\FaUserXmark.png">    </p:cNvPr>
          <p:cNvPicPr>
            <a:picLocks noChangeAspect="1"/>
          </p:cNvPicPr>
          <p:nvPr/>
        </p:nvPicPr>
        <p:blipFill>
          <a:blip r:embed="rId1"/>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Separation to blocked access</a:t>
            </a:r>
            <a:endParaRPr lang="en-US" sz="1400" dirty="0"/>
          </a:p>
          <a:p>
            <a:pPr indent="0" marL="0">
              <a:buNone/>
            </a:pPr>
            <a:r>
              <a:rPr lang="en-US" sz="1350" dirty="0">
                <a:solidFill>
                  <a:schemeClr val="tx2"/>
                </a:solidFill>
              </a:rPr>
              <a:t>Agency-approved threshold, measured in hours</a:t>
            </a:r>
            <a:endParaRPr lang="en-US" sz="1400" dirty="0"/>
          </a:p>
        </p:txBody>
      </p:sp>
      <p:sp>
        <p:nvSpPr>
          <p:cNvPr id="10" name="Measure 2"/>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1" name="Icon FaIdCard"/>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descr="C:\Users\whale\git\uiao\inbox\SSA-Interview\build\icons\FaIdCard.png">    </p:cNvPr>
          <p:cNvPicPr>
            <a:picLocks noChangeAspect="1"/>
          </p:cNvPicPr>
          <p:nvPr/>
        </p:nvPicPr>
        <p:blipFill>
          <a:blip r:embed="rId2"/>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Credential and access revocation</a:t>
            </a:r>
            <a:endParaRPr lang="en-US" sz="1400" dirty="0"/>
          </a:p>
          <a:p>
            <a:pPr indent="0" marL="0">
              <a:buNone/>
            </a:pPr>
            <a:r>
              <a:rPr lang="en-US" sz="1350" dirty="0">
                <a:solidFill>
                  <a:schemeClr val="tx2"/>
                </a:solidFill>
              </a:rPr>
              <a:t>Reconciled to verified completion</a:t>
            </a:r>
            <a:endParaRPr lang="en-US" sz="1400" dirty="0"/>
          </a:p>
        </p:txBody>
      </p:sp>
      <p:sp>
        <p:nvSpPr>
          <p:cNvPr id="14" name="Measure 3"/>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5" name="Icon FaFingerprint"/>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descr="C:\Users\whale\git\uiao\inbox\SSA-Interview\build\icons\FaFingerprint.png">    </p:cNvPr>
          <p:cNvPicPr>
            <a:picLocks noChangeAspect="1"/>
          </p:cNvPicPr>
          <p:nvPr/>
        </p:nvPicPr>
        <p:blipFill>
          <a:blip r:embed="rId3"/>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Accounts tied to a person</a:t>
            </a:r>
            <a:endParaRPr lang="en-US" sz="1400" dirty="0"/>
          </a:p>
          <a:p>
            <a:pPr indent="0" marL="0">
              <a:buNone/>
            </a:pPr>
            <a:r>
              <a:rPr lang="en-US" sz="1350" dirty="0">
                <a:solidFill>
                  <a:schemeClr val="tx2"/>
                </a:solidFill>
              </a:rPr>
              <a:t>Orphaned accounts trend to zero</a:t>
            </a:r>
            <a:endParaRPr lang="en-US" sz="1400" dirty="0"/>
          </a:p>
        </p:txBody>
      </p:sp>
      <p:sp>
        <p:nvSpPr>
          <p:cNvPr id="18" name="Measure 4"/>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Icon FaUserClock"/>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descr="C:\Users\whale\git\uiao\inbox\SSA-Interview\build\icons\FaUserClock.png">    </p:cNvPr>
          <p:cNvPicPr>
            <a:picLocks noChangeAspect="1"/>
          </p:cNvPicPr>
          <p:nvPr/>
        </p:nvPicPr>
        <p:blipFill>
          <a:blip r:embed="rId4"/>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indent="0" marL="0">
              <a:buNone/>
            </a:pPr>
            <a:r>
              <a:rPr lang="en-US" sz="1550" b="1" dirty="0">
                <a:solidFill>
                  <a:srgbClr val="0F766E"/>
                </a:solidFill>
              </a:rPr>
              <a:t>Joiner and mover tickets</a:t>
            </a:r>
            <a:endParaRPr lang="en-US" sz="1400" dirty="0"/>
          </a:p>
          <a:p>
            <a:pPr indent="0" marL="0">
              <a:buNone/>
            </a:pPr>
            <a:r>
              <a:rPr lang="en-US" sz="1350" dirty="0">
                <a:solidFill>
                  <a:schemeClr val="tx2"/>
                </a:solidFill>
              </a:rPr>
              <a:t>Volume down; access on day one</a:t>
            </a:r>
            <a:endParaRPr lang="en-US" sz="1400" dirty="0"/>
          </a:p>
        </p:txBody>
      </p:sp>
      <p:sp>
        <p:nvSpPr>
          <p:cNvPr id="22" name="Measure 5"/>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3" name="Icon FaAddressBook"/>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descr="C:\Users\whale\git\uiao\inbox\SSA-Interview\build\icons\FaAddressBook.png">    </p:cNvPr>
          <p:cNvPicPr>
            <a:picLocks noChangeAspect="1"/>
          </p:cNvPicPr>
          <p:nvPr/>
        </p:nvPicPr>
        <p:blipFill>
          <a:blip r:embed="rId5"/>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Directory accuracy</a:t>
            </a:r>
            <a:endParaRPr lang="en-US" sz="1400" dirty="0"/>
          </a:p>
          <a:p>
            <a:pPr indent="0" marL="0">
              <a:buNone/>
            </a:pPr>
            <a:r>
              <a:rPr lang="en-US" sz="1350" dirty="0">
                <a:solidFill>
                  <a:schemeClr val="tx2"/>
                </a:solidFill>
              </a:rPr>
              <a:t>Manager and organization match HR</a:t>
            </a:r>
            <a:endParaRPr lang="en-US" sz="1400" dirty="0"/>
          </a:p>
        </p:txBody>
      </p:sp>
      <p:sp>
        <p:nvSpPr>
          <p:cNvPr id="26" name="Measure 6"/>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7" name="Icon FaTriangleExclamation"/>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descr="C:\Users\whale\git\uiao\inbox\SSA-Interview\build\icons\FaTriangleExclamation.png">    </p:cNvPr>
          <p:cNvPicPr>
            <a:picLocks noChangeAspect="1"/>
          </p:cNvPicPr>
          <p:nvPr/>
        </p:nvPicPr>
        <p:blipFill>
          <a:blip r:embed="rId6"/>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indent="0" marL="0">
              <a:buNone/>
            </a:pPr>
            <a:r>
              <a:rPr lang="en-US" sz="1550" b="1" dirty="0">
                <a:solidFill>
                  <a:srgbClr val="B45309"/>
                </a:solidFill>
              </a:rPr>
              <a:t>Exceptions</a:t>
            </a:r>
            <a:endParaRPr lang="en-US" sz="1400" dirty="0"/>
          </a:p>
          <a:p>
            <a:pPr indent="0" marL="0">
              <a:buNone/>
            </a:pPr>
            <a:r>
              <a:rPr lang="en-US" sz="1350" dirty="0">
                <a:solidFill>
                  <a:schemeClr val="tx2"/>
                </a:solidFill>
              </a:rPr>
              <a:t>Each has an owner and an age</a:t>
            </a:r>
            <a:endParaRPr lang="en-US" sz="1400" dirty="0"/>
          </a:p>
        </p:txBody>
      </p:sp>
      <p:sp>
        <p:nvSpPr>
          <p:cNvPr id="30" name="Ask box"/>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31" name="Icon FaLightbulb"/>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descr="C:\Users\whale\git\uiao\inbox\SSA-Interview\build\icons\FaLightbulb.png">    </p:cNvPr>
          <p:cNvPicPr>
            <a:picLocks noChangeAspect="1"/>
          </p:cNvPicPr>
          <p:nvPr/>
        </p:nvPicPr>
        <p:blipFill>
          <a:blip r:embed="rId7"/>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indent="0" marL="0">
              <a:spcAft>
                <a:spcPts val="500"/>
              </a:spcAft>
              <a:buNone/>
            </a:pPr>
            <a:r>
              <a:rPr lang="en-US" sz="1450" b="1" dirty="0">
                <a:solidFill>
                  <a:srgbClr val="1F2A44"/>
                </a:solidFill>
              </a:rPr>
              <a:t>One decision: </a:t>
            </a:r>
            <a:pPr indent="0" marL="0">
              <a:spcAft>
                <a:spcPts val="500"/>
              </a:spcAft>
              <a:buNone/>
            </a:pPr>
            <a:r>
              <a:rPr lang="en-US" sz="1450"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the CIO’s identity team and privacy</a:t>
            </a:r>
            <a:endParaRPr lang="en-US" sz="1450" dirty="0"/>
          </a:p>
          <a:p>
            <a:pPr marL="342900" indent="-342900">
              <a:spcAft>
                <a:spcPts val="500"/>
              </a:spcAft>
              <a:buSzPct val="100000"/>
              <a:buChar char="•"/>
            </a:pPr>
            <a:r>
              <a:rPr lang="en-US" sz="1400" dirty="0">
                <a:solidFill>
                  <a:schemeClr val="tx2"/>
                </a:solidFill>
              </a:rPr>
              <a:t>Identity named as a consumer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enterprise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a:p>
            <a:pPr marL="342900" indent="-342900">
              <a:spcAft>
                <a:spcPts val="500"/>
              </a:spcAft>
              <a:buSzPct val="100000"/>
              <a:buChar char="•"/>
            </a:pPr>
            <a:r>
              <a:rPr lang="en-US" sz="1400" dirty="0">
                <a:solidFill>
                  <a:schemeClr val="tx2"/>
                </a:solidFill>
              </a:rPr>
              <a:t>Validate planning assumptions and designate authoritative owners before implementation</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r>
          <p:cNvPicPr>
            <a:picLocks noChangeAspect="1"/>
          </p:cNvPicPr>
          <p:nvPr/>
        </p:nvPicPr>
        <p:blipFill>
          <a:blip r:embed="rId1"/>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r>
          <p:cNvPicPr>
            <a:picLocks noChangeAspect="1"/>
          </p:cNvPicPr>
          <p:nvPr/>
        </p:nvPicPr>
        <p:blipFill>
          <a:blip r:embed="rId2"/>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r>
          <p:cNvPicPr>
            <a:picLocks noChangeAspect="1"/>
          </p:cNvPicPr>
          <p:nvPr/>
        </p:nvPicPr>
        <p:blipFill>
          <a:blip r:embed="rId3"/>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r>
          <p:cNvPicPr>
            <a:picLocks noChangeAspect="1"/>
          </p:cNvPicPr>
          <p:nvPr/>
        </p:nvPicPr>
        <p:blipFill>
          <a:blip r:embed="rId4"/>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Cloud and Branch Office cases</a:t>
            </a:r>
            <a:endParaRPr lang="en-US" sz="1400" dirty="0"/>
          </a:p>
          <a:p>
            <a:pPr indent="0" marL="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r>
          <p:cNvPicPr>
            <a:picLocks noChangeAspect="1"/>
          </p:cNvPicPr>
          <p:nvPr/>
        </p:nvPicPr>
        <p:blipFill>
          <a:blip r:embed="rId5"/>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r>
          <p:cNvPicPr>
            <a:picLocks noChangeAspect="1"/>
          </p:cNvPicPr>
          <p:nvPr/>
        </p:nvPicPr>
        <p:blipFill>
          <a:blip r:embed="rId6"/>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r>
          <p:cNvPicPr>
            <a:picLocks noChangeAspect="1"/>
          </p:cNvPicPr>
          <p:nvPr/>
        </p:nvPicPr>
        <p:blipFill>
          <a:blip r:embed="rId7"/>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r>
          <p:cNvPicPr>
            <a:picLocks noChangeAspect="1"/>
          </p:cNvPicPr>
          <p:nvPr/>
        </p:nvPicPr>
        <p:blipFill>
          <a:blip r:embed="rId8"/>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indent="0" marL="0">
              <a:buNone/>
            </a:pPr>
            <a:r>
              <a:rPr lang="en-US" sz="1450" b="1" dirty="0">
                <a:solidFill>
                  <a:srgbClr val="1F2A44"/>
                </a:solidFill>
              </a:rPr>
              <a:t>Companion decks: </a:t>
            </a:r>
            <a:pPr indent="0" marL="0">
              <a:buNone/>
            </a:pPr>
            <a:r>
              <a:rPr lang="en-US" sz="1450" b="1" dirty="0">
                <a:solidFill>
                  <a:schemeClr val="tx2"/>
                </a:solidFill>
              </a:rPr>
              <a:t>Contractor Identity Source</a:t>
            </a:r>
            <a:pPr indent="0" marL="0">
              <a:buNone/>
            </a:pPr>
            <a:r>
              <a:rPr lang="en-US" sz="1450" dirty="0">
                <a:solidFill>
                  <a:schemeClr val="tx2"/>
                </a:solidFill>
              </a:rPr>
              <a:t> (who is authoritative for a contractor)  ·  </a:t>
            </a:r>
            <a:pPr indent="0" marL="0">
              <a:buNone/>
            </a:pPr>
            <a:r>
              <a:rPr lang="en-US" sz="1450" b="1" dirty="0">
                <a:solidFill>
                  <a:schemeClr val="tx2"/>
                </a:solidFill>
              </a:rPr>
              <a:t>Original HR-Driven Identity</a:t>
            </a:r>
            <a:pPr indent="0" marL="0">
              <a:buNone/>
            </a:pP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indent="0" marL="0">
              <a:buNone/>
            </a:pPr>
            <a:r>
              <a:rPr lang="en-US" sz="1500" b="1" dirty="0">
                <a:solidFill>
                  <a:srgbClr val="B45309"/>
                </a:solidFill>
              </a:rPr>
              <a:t>Also: </a:t>
            </a:r>
            <a:pPr indent="0" marL="0">
              <a:buNone/>
            </a:pPr>
            <a:r>
              <a:rPr lang="en-US" sz="1500" dirty="0">
                <a:solidFill>
                  <a:schemeClr val="tx2"/>
                </a:solidFill>
              </a:rPr>
              <a:t>Zero Trust whole-agency unification · AI identity governance · help desk Entra operations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Backup</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Detail for questions — not presented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Sources behind the executive slides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9144000" cy="914400"/>
        </p:xfrm>
        <a:graphic>
          <a:graphicData uri="http://schemas.openxmlformats.org/drawingml/2006/table">
            <a:tbl>
              <a:tblPr/>
              <a:tblGrid>
                <a:gridCol w="4206240"/>
                <a:gridCol w="69037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NIST FIPS 201-3 (Jan. 2022); NIST SP 800-53 Rev. 5, PS-4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 credentials at separation; complete PIV termination within 18 hours if the card cannot be collected.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OMB/OPM memo, “Federal HR 2.0” (Dec. 10,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Consolidates core HCM on Oracle Fusion Cloud HCM in agency waves; describes interconnections during onboarding. Agency milestones: confirm with the program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Assumptions note"/>
          <p:cNvSpPr txBox="1"/>
          <p:nvPr/>
        </p:nvSpPr>
        <p:spPr>
          <a:xfrm>
            <a:off x="548640" y="4434840"/>
            <a:ext cx="10332720" cy="868680"/>
          </a:xfrm>
          <a:prstGeom prst="rect">
            <a:avLst/>
          </a:prstGeom>
          <a:noFill/>
          <a:ln/>
        </p:spPr>
        <p:txBody>
          <a:bodyPr wrap="square" lIns="0" tIns="0" rIns="0" bIns="0" rtlCol="0" anchor="t"/>
          <a:lstStyle/>
          <a:p>
            <a:pPr indent="0" marL="0">
              <a:buNone/>
            </a:pPr>
            <a:r>
              <a:rPr lang="en-US" sz="1100" b="1" dirty="0">
                <a:solidFill>
                  <a:srgbClr val="1F2A44"/>
                </a:solidFill>
              </a:rPr>
              <a:t>Assumptions and validation: </a:t>
            </a:r>
            <a:pPr indent="0" marL="0">
              <a:buNone/>
            </a:pPr>
            <a:r>
              <a:rPr lang="en-US" sz="1100" dirty="0">
                <a:solidFill>
                  <a:srgbClr val="64748B"/>
                </a:solidFill>
              </a:rPr>
              <a:t>This presentation distinguishes verified public information from proposed architecture and program-specific assumptions. Items such as current onboarding dates, source-system capabilities, contractor authority, lifecycle mappings, and the enterprise person key require confirmation with the responsible agency and OPM data owners before implementation. The architecture is designed so those findings can be incorporated without changing its core model.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THE DELIVERY</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decisions depend on attributes, </a:t>
            </a:r>
            <a:pPr indent="0" marL="0">
              <a:buNone/>
            </a:pP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 (planning assumption)</a:t>
            </a:r>
            <a:endParaRPr lang="en-US" sz="1400" dirty="0"/>
          </a:p>
          <a:p>
            <a:pPr algn="ctr" indent="0" marL="0">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indent="0" marL="0">
              <a:buNone/>
            </a:pPr>
            <a:r>
              <a:rPr lang="en-US" sz="1250" b="1" dirty="0">
                <a:solidFill>
                  <a:srgbClr val="1F2A44"/>
                </a:solidFill>
              </a:rPr>
              <a:t>Not in HRIT; tracked in COR spreadsheets in the processes observed. </a:t>
            </a:r>
            <a:pPr indent="0" marL="0">
              <a:buNone/>
            </a:pP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400" b="1" dirty="0">
                <a:solidFill>
                  <a:srgbClr val="B45309"/>
                </a:solidFill>
              </a:rPr>
              <a:t>Often the key already exists: </a:t>
            </a:r>
            <a:pPr indent="0" marL="0">
              <a:buNone/>
            </a:pP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git\uiao\inbox\SSA-Interview\build\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git\uiao\inbox\SSA-Interview\build\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Same platform, same standards</a:t>
            </a:r>
            <a:endParaRPr lang="en-US" sz="1400" dirty="0"/>
          </a:p>
          <a:p>
            <a:pPr indent="0" marL="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present this model to our fellow agencies, and adopt one HR-driven ICAM standard together as each agency onboards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2026-10-20T20:37:36Z</dcterms:created>
  <dcterms:modified xsi:type="dcterms:W3CDTF">2026-10-20T20:37:36Z</dcterms:modified>
</cp:coreProperties>
</file>