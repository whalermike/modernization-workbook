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decision" id="{2b648c62-65b3-63f8-56be-0027093bae9d}">
          <p14:sldIdLst>
            <p14:sldId id="256"/>
            <p14:sldId id="257"/>
            <p14:sldId id="258"/>
            <p14:sldId id="259"/>
          </p14:sldIdLst>
        </p14:section>
        <p14:section name="Making it real" id="{581579af-6f35-dace-52cf-4265c9a0e2f5}">
          <p14:sldIdLst>
            <p14:sldId id="260"/>
            <p14:sldId id="261"/>
            <p14:sldId id="262"/>
            <p14:sldId id="263"/>
            <p14:sldId id="264"/>
          </p14:sldIdLst>
        </p14:section>
        <p14:section name="Backup" id="{4c68dae4-5df4-5f26-9ec5-e200248d9fb9}">
          <p14:sldIdLst>
            <p14:sldId id="265"/>
            <p14:sldId id="266"/>
            <p14:sldId id="267"/>
            <p14:sldId id="268"/>
            <p14:sldId id="269"/>
            <p14:sldId id="270"/>
            <p14:sldId id="271"/>
            <p14:sldId id="272"/>
            <p14:sldId id="273"/>
            <p14:sldId id="274"/>
            <p14:sldId id="275"/>
            <p14:sldId id="276"/>
            <p14:sldId id="277"/>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[0:00–0:50]  Good morning, and thank you.
Digital identity has two faces: the public who sign in to an agency's services, and the workforce who serve them. Both rest on the same data discipline: one person, one key the agency controls, and every fact owned by one authoritative source. I'll show that discipline through the workforce face, because Federal HR 2.0 puts it on participating agencies' calendars.
I have one proposal, and I'll take it through four questions, the way I'd take it to leadership: why it matters, what we should do, who has to be involved, and how we'd carry it out and know it's working.
Workbook: HR-Driven Identity, Chapter 00 — Overview and Applicability.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[0:50–2:40]  Why. Based on current visibility, many agencies do not operate a comprehensive enterprise HR-driven identity lifecycle. In the processes I have observed, many workforce identity changes remain dependent on tickets or manual coordination, and that costs three ways.
Access outlives the job: when someone leaves or changes roles, removal can wait for a ticket, and a stale account is a security violation that can enable a breach of the public's records. Federal standards require revoking a separated person's credentials, and a ticket-dependent process struggles to meet that. Records we can't trust: in the processes I have observed, the phone book is wrong until someone files a ticket, and every change of manager means the organization, the manager and tool access are updated by hand. Approvals route through that same data. And cost and delay: many joiners, movers and leavers become help-desk work.
But the bigger why is where the mission is heading. Take an illustrative shared-service scenario: a cross-agency contact center, one front door for two agencies' customers. It's an example, not an approved program. The hard part of an idea like that isn't the phones: cloud contact centers make the front end easy. It's the back end. Who is this agent? Which agency's records may they see? And does their access end the day they leave, in both agencies? A standardized, HR-driven identity supplies the trusted facts needed to answer those questions consistently.
And if we do nothing, HR moves to Core HCM, identity moves to Entra ID, and we rebuild the same manual process twice, on new platforms.
Workbook: HR-Driven Identity, Chapter 01 — Why the agency needs HR-driven ICAM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[2:40–4:30]  What should we do? I've weighed four realistic options against what leadership actually has to balance: the mission and the public we serve, security, cost and resilience. Compliance matters, but on its own it isn't a reason to invest.
A, keep ticket-driven identity: no new investment, but the risk and the manual work stay where they are. That's the cost of doing nothing.
B, automate inside the directories with scripts and exports: quick and cheap. It can automate selected changes, but without a governed authority model and complete lifecycle events, it risks propagating inconsistent data and being rebuilt when the source changes.
C, wait for HR 2.0 and integrate afterward: defensible, and less work this year. But program material describes interconnections occurring during the onboarding period, so waiting means retrofitting after go-live.
D, start now: HR as the source of truth, in OPM's standard personnel data, designed into both the HR onboarding and the Entra ID migration. It costs design effort up front and needs shared governance, which is why it's only partial on cost.
The judgment call: if HR 2.0 slipped a long way, C becomes reasonable. But D's first step — data standards, ownership and the person key — is no-regret either way, and it can start now from the HR data the agency already has, subject to data profiling, with the source switched to Core HCM when it arrives.
Workbook: HR-Driven Identity, Chapter 00 — Why now; Why together; Chapter 02 — Why this is the opportunity, not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[4:30–6:40]  I propose option D, phased, starting with the no-regret steps. Four reasons.
Mission and the public: access to the public's records should end when a person's role ends, automatically, the same day; the people who serve the public should have the right access on day one; and shared services like the illustrative contact center become possible, because participating agencies would describe their people the same way.
Cost: we build it once, while both platforms are being rebuilt anyway, and retire ticket work for routine joiners, movers and leavers.
Security: modern access decisions, Zero Trust, increasingly depend on authoritative identity, device and contextual attributes, and the identity attributes, organization, position, status and supervisor, come from HR. So the accuracy of HR data drives the accuracy of access. The federal mandates point the same way, but they're the floor, not the reason. And it gives the inspector general's perennial question — how do you know every account belongs to a current person? — a standing answer.
Resilience: by building on OPM's standard data rather than one vendor's fields, and on a person key the agency controls, the design survives the next platform change. I propose an existing enterprise ID, such as a Mainframe PIN, as the candidate, subject to formal identifier validation.
Two honest limits. HR 2.0 covers federal employees only, so a contractor authority decision is required: I propose evaluating suitability records, PIV sponsorship and Core HCM's contingent-worker records as candidate sources. And we should build only what HR is authoritative for.
The upside: participating civilian agencies are moving toward a common Core HCM platform and federal personnel standards, so a reusable identity model could reduce reinvention across agencies and shared services.
Workbook: HR-Driven Identity, Chapter 01 — Why the agency needs HR-driven ICAM now; Chapter 03 — Attribute Authority; Chapter 05 — Contractors and vendors.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[6:40–8:20]  Who has to be involved. This is an organizational change as much as a technical one, so it matters who owns what.
HR owns the personnel data and its quality, at the source. When the data is wrong, it gets fixed in HR, not patched in the directory. And the OPM HR 2.0 program owns the platform, the standards and the interconnection.
The CIO's identity team uses that data to run Entra ID, Active Directory and access. Security sets the Zero Trust policy and owns the leaver path. And the help desk moves from routine tickets to handling the exceptions.
Then the guards and partners. The privacy office is in from the start, because using HR data for identity is a disclosure that needs a routine use and minimization. For people HR doesn't cover, contractor sponsors, credentialing, acquisition, suitability and HR systems each may hold part of the record; the authority decision identifies which source owns each required fact. And partner agencies need the same standard if we're going to share services.
My role, as an enterprise data architect, is to own the data standards, the logical model and the person key: every attribute gets one name, one definition and one accountable owner. I'd chair the data working group for the effort, review the HR 2.0 integrator's design artifacts against those standards, and carry the standard to the interagency committees and working groups where it gets adopted. The person model and its attributes also become a governed piece of the agency's data and metadata inventory, which auditors increasingly ask for.
Workbook: HR-Driven Identity, Chapter 03 — Attribute Authority; Appendix B — Security and Privacy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[8:20–10:00]  This is the data architecture underneath, and one principle carries it: the person is the durable entity. Accounts, affiliations, assignments, identifiers and credentials have different lifecycles but resolve to the same governed person.
I propose keying that person on an enterprise person key the agency controls. In the proposed canonical model, conversion creates a new affiliation for the same person, so history survives. The right-hand side shows where each piece would live; the backup slides carry the detail.
The standard behind it: one name, one definition and one owner per attribute, and the DBAs build from the logical model, not from a vendor's fields.
Workbook: HR-Driven Identity, Chapter 03 — Attribute Authority; Chapter 05 — The Canonical Workforce Identity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[10:00–12:20]  Here is how I propose we carry it out.
Data. One governed crosswalk maps OPM's standard data elements into that person model, so when HR changes platforms only the crosswalk's source side changes. Validated personnel-action mappings then initiate the identity events — joiner, mover, leaver — using a proposed classification that the data owners validate first. Contractors come into the same model once the contractor authority decision is made.
Security. The leaver path blocks access first, within the approved threshold, and then reconciles every downstream action. The integration runs with least privilege, using managed identities and secretless authentication wherever supported. And anything that fails goes to a quarantine with an owner; nothing resolves itself silently.
Operations. We start now, from the HR data the agency already has, subject to data profiling, and switch the source to Core HCM when it arrives. We run in shadow mode first, comparing what HR says with what the directories hold, and fixing the gaps. We cut over one population at a time. And we close the ticket path for a population only when the data proves HR is the sole source.
The products on the slide are one realization; the agency-owned model remains stable if they change.
Workbook: HR-Driven Identity, Chapter 04 — Logical architecture and Microsoft realization; Chapter 05 — The standard-attribute layer; Chapter 07 — The canonical leaver sequence; Chapter 10 — Execution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[12:20–14:40]  How we'll know it's working, and what I'd need.
Six measures, each baselined in the first phase, and each one a business measure leadership can read: time from separation to blocked access, in hours, against an agency-approved threshold; credential and access revocation, reconciled to verified completion, where one credential-specific constraint is the federal requirement to terminate a PIV card that can't be collected within eighteen hours; accounts tied to a person, with orphaned accounts trending to zero; joiner and mover tickets going down, with access ready on day one; the manager and organization in the directory matching HR; and every exception with an owner and an age. As a byproduct, the same data is evidence for the controls auditors ask about.
I'm asking leadership to make three decisions: name identity as an HR 2.0 data consumer, authorize the cross-functional data-governance work, and require assumptions to be validated by accountable owners before implementation. That lets the agency modernize the platforms and the lifecycle together, rather than carrying the ticket process forward.
Thank you. I look forward to your questions.
Workbook: HR-Driven Identity, Chapter 09 — Drift, Metrics and Evidence; Chapter 10 — Execution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up during questions — about 20 seconds]
HR-driven identity is one piece of a larger set of modernizations I've designed over the last several years: Entra ID migration, next-generation DNS and IP address management, field office WAN and data-center consolidation, the TIC 3.0 Cloud and Branch Office cases, the client-server to hybrid cloud path, SQL Server identity, the move from Group Policy to Intune and Azure Arc, and continuous compliance against SCuBA, BOD 25-01 and FedRAMP 20x.
They share the same data discipline you just saw: a named authority for every fact, a governed model, and evidence produced by operation. I'm happy to go into any of them.
Two companion decks go deeper on this one: the Contractor Identity Source deck, on who is authoritative for a contractor, and the original HR-Driven Identity deck, with the full model, lifecycle and plan.
Workbook: HR-Driven Identity, the same site's Whitepapers, Next-Generation DDI, Client-Server to Hybrid Cloud and Operational Guides sections.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The slides that follow are the detailed case, for questions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for questions]  The public sources establish the overall direction, but I do not currently have visibility into every internal decision or data source. I have identified those items as assumptions to validate with the responsible owners. That validation is part of the architecture process, not something I would leave for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for questions]  The thesis in one slide.
On the left, two migrations that happen regardless: HR moves to Core HCM, and identity moves from Active Directory toward Entra ID. Meanwhile, the enterprise lifecycle remains substantially manual and fragmented.
In the middle, what OPM leaves to us. OPM fixes the HR side; how the agency's directories and ICAM consume that data is the agency's decision. And the solicitation requires SCIM 2.0 provisioning — exactly what Entra ID consumes.
On the right, the proposal: start HR-driven identity, with HR as the source of authority, expressed in OPM's standard attributes.
So the real choice is: carry ticket-driven identity through both migrations, or start HR-driven identity once, while both platforms are being rebuilt anyway.
Workbook: HR-Driven Identity, Chapter 00 — The proposal; Chapter 02 — Why this is the opportunity, not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for questions]  Why we need HR-driven ICAM at all — and why now.
Zero Trust is federal strategy — OMB M-22-09, with NIST SP 800-207 as the architecture and CISA's maturity model as the yardstick. SASE is one way these controls can be delivered near users and cloud resources, which TIC 3.0 opens up for agencies, instead of only at our network perimeter. Reliable ICAM supplies critical identity signals to those decisions: the user presents a token from a PIV card or phishing-resistant MFA, and Entra ID decides access through Conditional Access and dynamic groups that read the user's attributes.
In the perimeter era, a wrong department meant a wrong phone-book entry. Now it means the wrong groups, and so the wrong access — and a stale status is worse than ever. In the perimeter era an orphaned account was already a standing security violation that could enable a breach. Now it's a valid token for someone who has left, usable from anywhere, because there is no perimeter left to stop it. When access decisions depend on attributes, the accuracy of employee data drives the accuracy of access.
Workbook: HR-Driven Identity, Chapter 01 — Why the agency needs HR-driven ICAM now; Chapter 08 — The derivation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for questions]  Why this matters to everyone who works in an agency.
In many agencies Active Directory feeds the phone book, and nothing feeds Active Directory from HR. Titles, offices, phone numbers and managers stay wrong until someone notices and files a ticket.
And every time someone changes management, their organization, their manager and their access to tools have to be updated by hand, after the fact, by ticket.
HR already knows all of it. With HR-driven IT, the personnel action that records the reassignment updates the organization and manager in Entra ID and Active Directory, and the phone book, the approval chain and tool access follow from the authoritative source — instead of each person, and the help desk, keeping them current by hand.
Workbook: HR-Driven Identity, Chapter 01 — What HR-driven provisioning means; Chapter 08 — Access packages and access reviews.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for questions]  The window.
The December 10, 2025 OMB/OPM memo directs one government-wide Core HCM platform. Oracle Fusion Cloud HCM was awarded June 11, 2026. First go-lives are January to March 2027. Current planning, based on published Federal HR 2.0 material, has Wave 2 agencies following in fiscal 2027; agency-specific milestones are confirmed with the program office. Program material describes interconnections occurring during the onboarding period, and for an agency not yet on the platform, that onboarding still lies ahead. By fiscal 2028 EHRI and eOPF are decommissioned.
I'd describe that not as a deadline but as a window. Inside it, the data standards, the cleanup, the interconnection design — and, on our side, the Entra ID migration plan — are all being decided, and an HR-driven identity feed can be written into them. After it closes, both migrations finish with ticket-driven identity carried forward, and adding HR-driven identity later means reopening both.
(Verify the agency's onboarding dates before presenting.)
Workbook: HR-Driven Identity, Chapter 02 — The program facts; Why this is the opportunity, not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for questions]  This is the heart of the proposal, and it's the programmatic data knowledge.
OPM already defines the personnel data every agency records. Agency and subelement give the legal employer and component. Duty station is the location of record. Series, pay plan and grade give a position category for role-based access. Supervisory status tells us who can approve and review. Tenure and appointment type drive the worker type. And the nature-of-action code, with its effective date, tells us what just happened — next slide.
Why build on OPM's standard rather than on Oracle's field names? Because OPM standards provide a common federal vocabulary that agencies can map into a shared canonical model. We map them to Entra ID and AD once, for every employee population — and if the HR vendor ever changes, the mapping still holds.
One honest limit: HRIT covers federal employees only. In the processes I have observed, contractors and vendors are tracked in COR spreadsheets. A contractor authority decision is required, and I propose evaluating three candidate sources: Core HCM's Contingent Worker type — a person record, an assignment and a lifecycle much like an employee's, though with no vendor-management layer; PIV sponsorship; and a contractor suitability register, which ties each contractor to an agency contract with a suitability decision. That's a decision to put in front of the program early.
(Confirm element names against OPM's current data standards.)
Workbook: HR-Driven Identity, Chapter 05 — The standard-attribute layer; Contractors and vendors.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for questions]  Personnel actions can initiate the lifecycle, after their identity interpretations and exceptions are approved.
For federal employees, every personnel action carries a nature-of-action code, and I propose mapping the families to identity events: the 100 series are joiners, the 700 series movers, the 500 series conversions, the 300 series separations. Contractors have no SF-50; their events come from contract start and end dates.
Two families matter more than people expect. The 400 series — furlough, leave without pay, suspension — is not a leaver; the person is still employed and policy restricts the account. The 200 series, return to duty, lifts those restrictions. Getting this wrong either locks out people on leave or leaves access open for people who've left.
The codes also settle precedence — a separation wins — and rescinded offers. HR, security, labor-relations, privacy, and personnel-policy owners would validate the mappings, exceptions, precedence rules, and actions before automation.
Workbook: HR-Driven Identity, Chapter 06 — Personnel actions are the triggers; Appendix A — Lifecycle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for questions]  Identifiers are where data architecture earns its keep.
A common design says the employee ID is the person, for life. It breaks the moment the source changes, a contractor converts, or someone is rehired. So I model identifiers in layers: an enterprise person key the agency controls; a source key per HR system; an affiliation key per employment or contract; a directory ID per account; and credential identifiers per PIV or certificate.
The person is the tracked entity, not the account. That's what survives rehire, conversion and reorganization. And many agencies already have a strong candidate — for example, a Mainframe PIN that already serves as the person ID and employee ID. I propose it for confirmation as the enterprise person key; adoption requires validating its uniqueness, persistence, non-reassignment, population coverage, privacy constraints and historical behavior. Once it's confirmed, map Core HCM's PersonNumber to it — so when the agency moves to Core HCM, only the source key changes, and nothing downstream has to.
Workbook: HR-Driven Identity, Chapter 03 — One person, layered identifiers.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for questions]  Logical and physical modeling, following the data from HR to ICAM.
In the middle is the logical model: a person with an enterprise key the agency controls — their assignments, and the lifecycle events that change them. On the left, the OPM element that feeds each field; then where it lands in Entra ID and Active Directory; and on the right, what ICAM does with it — component scope, location policy, role-based access, approvals, and the joiner, mover and leaver actions, including PIV.
Three physical rules: native attributes first; codes, never display strings, in anything that grants access; and one governed crosswalk as the only place mappings live.
Workbook: HR-Driven Identity, Chapter 05 — The standard-attribute layer; The schema.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for questions]  Logical architecture and Microsoft realization.
The top row is the architecture, and it's stable: an authoritative source, a boundary transformation, the governed identity model, a provisioning service, and the targets and ICAM. The bottom row is how Microsoft realizes it today: Oracle Core HCM, Azure Functions, the canonical model and provenance store, Graph and the Entra provisioning service, then Entra ID, AD, Intune and card management. Products in the bottom row can change; the top row doesn't.
The table is why the two migrations belong together. Done separately, the Entra ID migration moves ticket-created accounts as they are. Done together, each population arrives in Entra ID already HR-sourced.
Workbook: HR-Driven Identity, Chapter 04 — Logical architecture and Microsoft realization; Two landing zones; Over the Entra ID migration.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for questions]  ICAM — beyond accounts.
Credentials: the joiner event schedules PIV enrollment. The leaver event blocks sign-in and revokes sessions first — Microsoft's documented order, and the step that closes certificate sign-in immediately rather than at the next revocation-list refresh — then revokes PIV, derived credentials and device certificates in parallel, reconciled to completion.
Assurance: record each person's proofing level and authenticator assurance as governed attributes, treat missing proofing evidence as a finding, and enforce phishing-resistant MFA under M-22-09.
Access: baseline access derived by rule from the standard attributes; position attributes scoping candidates for privileged eligibility, with explicit approval and PIM still required; and any activity from a separated person is an alert.
The result: every entitlement has a "because" — a rule, an attribute, and the personnel action that set it.
Workbook: HR-Driven Identity, Chapter 07 — The canonical leaver sequence; Assurance as data; Chapter 08 — Where dynamic membership stops.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for questions]  Privacy — which is where a data architect earns trust with HR.
Moving HR attributes into a directory is a disclosure of personnel records. So: confirm the routine-use basis under the governing system-of-records notices — OPM/GOVT-1 for general personnel records, plus the agency's own — before anything flows. Minimize: send only attributes an identity decision actually reads, as codes rather than narrative, and never use the SSN as a join key. Update the privacy impact assessment for the new flow and its consumers. And protect the flow: encrypt every leg, and keep logs to the person key and a payload hash rather than the record itself.
The principle underneath: HR remains the system of records; identity is a governed consumer that never writes an HR-mastered fact back.
(Confirm the applicable SORNs and routine uses with the agency's privacy office.)
Workbook: HR-Driven Identity, Chapter 03 — Privacy: identity is a routine-use consumer; Appendix B — Security and Privacy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for questions]  The governance I'd bring to deliver it safely.
The data foundation first: an authority map with one owner per attribute, and an enterprise person key the agency controls. A security assessment of the data flow. An acceptance gate with a signed validation before cutover. And a cutover that proves HR is the sole source for a population before the ticket path closes for it.
Then the operating rules on the bottom row, from lifecycle rules through change control.
Together that produces evidence for AC-2, PS-4, PS-5, IA-4 and SI-12 as a byproduct of operating — supporting those controls, not claiming to close them on its own.
Workbook: HR-Driven Identity, Chapter 09 — Drift, Metrics and Evidence; Chapter 10 — Execution Plan; Appendices 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for questions]  One standard, shared across agencies.
Participating civilian agencies are moving toward shared Core HCM capabilities and common federal personnel standards. If one agency defines HR-driven ICAM as a standard — crosswalk, canonical model, identifiers and evidence — other agencies can reuse it instead of building their own. And attributes that mean the same thing everywhere make details, transfers, shared services and cross-agency access easier.
That's the work an enterprise data architect does: working the issues with other agencies and industry, developing options and predicting their impact, and serving as the data expert on interagency committees and working groups. The goal: offer the model for interagency evaluation and reuse.
Workbook: HR-Driven Identity, Chapter 02 — Federal HR 2.0; Chapter 05 — The standard-attribute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for questions]  The roadmap and the ask.
Now: align with the agency's HR 2.0 team so identity is a named consumer of the interconnection. Before onboarding: the crosswalk, authority map, contractor source and privacy basis. Then build and prove in shadow mode, cut each population over as it moves to Entra ID, and sustain it with metrics.
So the ask is simple: decide now to start HR-driven identity, and build it into both the HR 2.0 onboarding and the Entra ID migration — so that Zero Trust and SASE decide access on accurate data.
My contribution as an enterprise data architect: establish authority, identifiers, standards, lineage and evidence, so workforce events produce measurable identity outcomes.
Thank you — I look forward to your questions.
[Stop by 15:00.]
Workbook: HR-Driven Identity, Chapter 10 — Execution Plan; Appendix C — Acceptance and Cutover.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6035040" cy="164592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5852160" cy="118872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indent="0" marL="0">
              <a:buNone/>
              <a:defRPr lang="en-US" sz="3000" b="1" dirty="0">
                <a:solidFill>
                  <a:schemeClr val="tx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HR-Driven Identity  ·  Mike Stratton  ·  Any Agency edition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3.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3.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3.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3.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3.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3.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3.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slideLayout" Target="../slideLayouts/slideLayout3.xml"/><Relationship Id="rId10"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3.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6035040" cy="164592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HR-Driven Identity Modernization</a:t>
            </a:r>
            <a:endParaRPr lang="en-US" sz="4400" dirty="0"/>
          </a:p>
        </p:txBody>
      </p:sp>
      <p:sp>
        <p:nvSpPr>
          <p:cNvPr id="3" name="Text 0"/>
          <p:cNvSpPr/>
          <p:nvPr>
            <p:ph idx="101" type="body" hasCustomPrompt="1"/>
          </p:nvPr>
        </p:nvSpPr>
        <p:spPr>
          <a:xfrm>
            <a:off x="731520" y="3520440"/>
            <a:ext cx="5852160" cy="1188720"/>
          </a:xfrm>
          <a:prstGeom prst="rect">
            <a:avLst/>
          </a:prstGeom>
          <a:noFill/>
          <a:ln/>
        </p:spPr>
        <p:txBody>
          <a:bodyPr wrap="square" lIns="0" tIns="0" rIns="0" bIns="0" rtlCol="0" anchor="t"/>
          <a:lstStyle/>
          <a:p>
            <a:pPr indent="0" marL="0">
              <a:buNone/>
            </a:pPr>
            <a:r>
              <a:rPr lang="en-US" sz="2200" dirty="0">
                <a:solidFill>
                  <a:schemeClr val="accent2"/>
                </a:solidFill>
              </a:rPr>
              <a:t>Making HR the source of truth for who gets access</a:t>
            </a:r>
            <a:endParaRPr lang="en-US" sz="2200" dirty="0"/>
          </a:p>
        </p:txBody>
      </p:sp>
      <p:sp>
        <p:nvSpPr>
          <p:cNvPr id="4" name="Agenda line"/>
          <p:cNvSpPr txBox="1"/>
          <p:nvPr/>
        </p:nvSpPr>
        <p:spPr>
          <a:xfrm>
            <a:off x="731520" y="4069080"/>
            <a:ext cx="6035040" cy="457200"/>
          </a:xfrm>
          <a:prstGeom prst="rect">
            <a:avLst/>
          </a:prstGeom>
          <a:noFill/>
          <a:ln/>
        </p:spPr>
        <p:txBody>
          <a:bodyPr wrap="square" lIns="0" tIns="0" rIns="0" bIns="0" rtlCol="0" anchor="t"/>
          <a:lstStyle/>
          <a:p>
            <a:pPr indent="0" marL="0">
              <a:buNone/>
            </a:pPr>
            <a:r>
              <a:rPr lang="en-US" sz="2000" b="1" dirty="0">
                <a:solidFill>
                  <a:srgbClr val="B91C1C"/>
                </a:solidFill>
              </a:rPr>
              <a:t>Why</a:t>
            </a:r>
            <a:pPr indent="0" marL="0">
              <a:buNone/>
            </a:pPr>
            <a:r>
              <a:rPr lang="en-US" sz="2000" dirty="0">
                <a:solidFill>
                  <a:srgbClr val="64748B"/>
                </a:solidFill>
              </a:rPr>
              <a:t>   ·   </a:t>
            </a:r>
            <a:pPr indent="0" marL="0">
              <a:buNone/>
            </a:pPr>
            <a:r>
              <a:rPr lang="en-US" sz="2000" b="1" dirty="0">
                <a:solidFill>
                  <a:srgbClr val="1F2A44"/>
                </a:solidFill>
              </a:rPr>
              <a:t>What</a:t>
            </a:r>
            <a:pPr indent="0" marL="0">
              <a:buNone/>
            </a:pPr>
            <a:r>
              <a:rPr lang="en-US" sz="2000" dirty="0">
                <a:solidFill>
                  <a:srgbClr val="64748B"/>
                </a:solidFill>
              </a:rPr>
              <a:t>   ·   </a:t>
            </a:r>
            <a:pPr indent="0" marL="0">
              <a:buNone/>
            </a:pPr>
            <a:r>
              <a:rPr lang="en-US" sz="2000" b="1" dirty="0">
                <a:solidFill>
                  <a:srgbClr val="0F766E"/>
                </a:solidFill>
              </a:rPr>
              <a:t>Who</a:t>
            </a:r>
            <a:pPr indent="0" marL="0">
              <a:buNone/>
            </a:pPr>
            <a:r>
              <a:rPr lang="en-US" sz="2000" dirty="0">
                <a:solidFill>
                  <a:srgbClr val="64748B"/>
                </a:solidFill>
              </a:rPr>
              <a:t>   ·   </a:t>
            </a:r>
            <a:pPr indent="0" marL="0">
              <a:buNone/>
            </a:pPr>
            <a:r>
              <a:rPr lang="en-US" sz="2000" b="1" dirty="0">
                <a:solidFill>
                  <a:srgbClr val="B45309"/>
                </a:solidFill>
              </a:rPr>
              <a:t>How</a:t>
            </a:r>
            <a:endParaRPr lang="en-US" sz="2000" dirty="0"/>
          </a:p>
        </p:txBody>
      </p:sp>
      <p:sp>
        <p:nvSpPr>
          <p:cNvPr id="5" name="Presenter"/>
          <p:cNvSpPr txBox="1"/>
          <p:nvPr/>
        </p:nvSpPr>
        <p:spPr>
          <a:xfrm>
            <a:off x="731520" y="5120640"/>
            <a:ext cx="10698480" cy="731520"/>
          </a:xfrm>
          <a:prstGeom prst="rect">
            <a:avLst/>
          </a:prstGeom>
          <a:noFill/>
          <a:ln/>
        </p:spPr>
        <p:txBody>
          <a:bodyPr wrap="square" lIns="0" tIns="0" rIns="0" bIns="0" rtlCol="0" anchor="t"/>
          <a:lstStyle/>
          <a:p>
            <a:pPr indent="0" marL="0">
              <a:buNone/>
            </a:pPr>
            <a:r>
              <a:rPr lang="en-US" sz="1600" b="1" dirty="0">
                <a:solidFill>
                  <a:srgbClr val="1F2A44"/>
                </a:solidFill>
              </a:rPr>
              <a:t>Mike Stratton</a:t>
            </a:r>
            <a:endParaRPr lang="en-US" sz="1600" dirty="0"/>
          </a:p>
          <a:p>
            <a:pPr indent="0" marL="0">
              <a:buNone/>
            </a:pPr>
            <a:r>
              <a:rPr lang="en-US" sz="1600" dirty="0">
                <a:solidFill>
                  <a:srgbClr val="64748B"/>
                </a:solidFill>
              </a:rPr>
              <a:t>Enterprise data architecture  ·  Digital identity modernization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Identity is built by hand — and the mission is outgrowing it</a:t>
            </a:r>
            <a:endParaRPr lang="en-US" sz="3000" dirty="0"/>
          </a:p>
        </p:txBody>
      </p:sp>
      <p:sp>
        <p:nvSpPr>
          <p:cNvPr id="3" name="Tag Why"/>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Today head"/>
          <p:cNvSpPr txBox="1"/>
          <p:nvPr/>
        </p:nvSpPr>
        <p:spPr>
          <a:xfrm>
            <a:off x="548640" y="1280160"/>
            <a:ext cx="5943600" cy="320040"/>
          </a:xfrm>
          <a:prstGeom prst="rect">
            <a:avLst/>
          </a:prstGeom>
          <a:noFill/>
          <a:ln/>
        </p:spPr>
        <p:txBody>
          <a:bodyPr wrap="square" lIns="0" tIns="0" rIns="0" bIns="0" rtlCol="0" anchor="t"/>
          <a:lstStyle/>
          <a:p>
            <a:pPr indent="0" marL="0">
              <a:buNone/>
            </a:pPr>
            <a:r>
              <a:rPr lang="en-US" sz="1050" b="1" dirty="0">
                <a:solidFill>
                  <a:srgbClr val="64748B"/>
                </a:solidFill>
              </a:rPr>
              <a:t>TODAY: THE ENTERPRISE LIFECYCLE REMAINS SUBSTANTIALLY MANUAL AND FRAGMENTED</a:t>
            </a:r>
            <a:endParaRPr lang="en-US" sz="1050" dirty="0"/>
          </a:p>
        </p:txBody>
      </p:sp>
      <p:sp>
        <p:nvSpPr>
          <p:cNvPr id="6" name="Icon FaUserXmark"/>
          <p:cNvSpPr/>
          <p:nvPr/>
        </p:nvSpPr>
        <p:spPr>
          <a:xfrm>
            <a:off x="548640" y="1737360"/>
            <a:ext cx="566928" cy="566928"/>
          </a:xfrm>
          <a:prstGeom prst="ellipse">
            <a:avLst/>
          </a:prstGeom>
          <a:solidFill>
            <a:srgbClr val="B91C1C"/>
          </a:solidFill>
          <a:ln w="12700">
            <a:solidFill>
              <a:srgbClr val="B91C1C"/>
            </a:solidFill>
            <a:prstDash val="solid"/>
          </a:ln>
        </p:spPr>
      </p:sp>
      <p:pic>
        <p:nvPicPr>
          <p:cNvPr id="7" name="Image 0" descr="C:\Users\whale\git\uiao\inbox\SSA-Interview\build\icons\FaUserXmark.png">    </p:cNvPr>
          <p:cNvPicPr>
            <a:picLocks noChangeAspect="1"/>
          </p:cNvPicPr>
          <p:nvPr/>
        </p:nvPicPr>
        <p:blipFill>
          <a:blip r:embed="rId1"/>
          <a:stretch>
            <a:fillRect/>
          </a:stretch>
        </p:blipFill>
        <p:spPr>
          <a:xfrm>
            <a:off x="684703" y="1873423"/>
            <a:ext cx="294803" cy="294803"/>
          </a:xfrm>
          <a:prstGeom prst="rect">
            <a:avLst/>
          </a:prstGeom>
        </p:spPr>
      </p:pic>
      <p:sp>
        <p:nvSpPr>
          <p:cNvPr id="8" name="Today 1"/>
          <p:cNvSpPr txBox="1"/>
          <p:nvPr/>
        </p:nvSpPr>
        <p:spPr>
          <a:xfrm>
            <a:off x="1280160" y="1691640"/>
            <a:ext cx="5074920" cy="960120"/>
          </a:xfrm>
          <a:prstGeom prst="rect">
            <a:avLst/>
          </a:prstGeom>
          <a:noFill/>
          <a:ln/>
        </p:spPr>
        <p:txBody>
          <a:bodyPr wrap="square" lIns="0" tIns="0" rIns="0" bIns="0" rtlCol="0" anchor="t"/>
          <a:lstStyle/>
          <a:p>
            <a:pPr indent="0" marL="0">
              <a:spcAft>
                <a:spcPts val="200"/>
              </a:spcAft>
              <a:buNone/>
            </a:pPr>
            <a:r>
              <a:rPr lang="en-US" sz="1650" b="1" dirty="0">
                <a:solidFill>
                  <a:srgbClr val="B91C1C"/>
                </a:solidFill>
              </a:rPr>
              <a:t>Access outlives the job</a:t>
            </a:r>
            <a:endParaRPr lang="en-US" sz="1400" dirty="0"/>
          </a:p>
          <a:p>
            <a:pPr indent="0" marL="0">
              <a:spcAft>
                <a:spcPts val="200"/>
              </a:spcAft>
              <a:buNone/>
            </a:pPr>
            <a:r>
              <a:rPr lang="en-US" sz="1400" dirty="0">
                <a:solidFill>
                  <a:schemeClr val="tx2"/>
                </a:solidFill>
              </a:rPr>
              <a:t>Many routine identity changes remain ticket-dependent, yet federal standards require revoking credentials at separation.</a:t>
            </a:r>
            <a:endParaRPr lang="en-US" sz="1400" dirty="0"/>
          </a:p>
        </p:txBody>
      </p:sp>
      <p:sp>
        <p:nvSpPr>
          <p:cNvPr id="9" name="Icon FaAddressBook"/>
          <p:cNvSpPr/>
          <p:nvPr/>
        </p:nvSpPr>
        <p:spPr>
          <a:xfrm>
            <a:off x="548640" y="2761488"/>
            <a:ext cx="566928" cy="566928"/>
          </a:xfrm>
          <a:prstGeom prst="ellipse">
            <a:avLst/>
          </a:prstGeom>
          <a:solidFill>
            <a:srgbClr val="1F2A44"/>
          </a:solidFill>
          <a:ln w="12700">
            <a:solidFill>
              <a:srgbClr val="1F2A44"/>
            </a:solidFill>
            <a:prstDash val="solid"/>
          </a:ln>
        </p:spPr>
      </p:sp>
      <p:pic>
        <p:nvPicPr>
          <p:cNvPr id="10" name="Image 1" descr="C:\Users\whale\git\uiao\inbox\SSA-Interview\build\icons\FaAddressBook.png">    </p:cNvPr>
          <p:cNvPicPr>
            <a:picLocks noChangeAspect="1"/>
          </p:cNvPicPr>
          <p:nvPr/>
        </p:nvPicPr>
        <p:blipFill>
          <a:blip r:embed="rId2"/>
          <a:stretch>
            <a:fillRect/>
          </a:stretch>
        </p:blipFill>
        <p:spPr>
          <a:xfrm>
            <a:off x="684703" y="2897551"/>
            <a:ext cx="294803" cy="294803"/>
          </a:xfrm>
          <a:prstGeom prst="rect">
            <a:avLst/>
          </a:prstGeom>
        </p:spPr>
      </p:pic>
      <p:sp>
        <p:nvSpPr>
          <p:cNvPr id="11" name="Today 2"/>
          <p:cNvSpPr txBox="1"/>
          <p:nvPr/>
        </p:nvSpPr>
        <p:spPr>
          <a:xfrm>
            <a:off x="1280160" y="2715768"/>
            <a:ext cx="5074920" cy="960120"/>
          </a:xfrm>
          <a:prstGeom prst="rect">
            <a:avLst/>
          </a:prstGeom>
          <a:noFill/>
          <a:ln/>
        </p:spPr>
        <p:txBody>
          <a:bodyPr wrap="square" lIns="0" tIns="0" rIns="0" bIns="0" rtlCol="0" anchor="t"/>
          <a:lstStyle/>
          <a:p>
            <a:pPr indent="0" marL="0">
              <a:spcAft>
                <a:spcPts val="200"/>
              </a:spcAft>
              <a:buNone/>
            </a:pPr>
            <a:r>
              <a:rPr lang="en-US" sz="1650" b="1" dirty="0">
                <a:solidFill>
                  <a:srgbClr val="1F2A44"/>
                </a:solidFill>
              </a:rPr>
              <a:t>Records we can’t trust</a:t>
            </a:r>
            <a:endParaRPr lang="en-US" sz="1400" dirty="0"/>
          </a:p>
          <a:p>
            <a:pPr indent="0" marL="0">
              <a:spcAft>
                <a:spcPts val="200"/>
              </a:spcAft>
              <a:buNone/>
            </a:pPr>
            <a:r>
              <a:rPr lang="en-US" sz="1400" dirty="0">
                <a:solidFill>
                  <a:schemeClr val="tx2"/>
                </a:solidFill>
              </a:rPr>
              <a:t>In the processes observed, phone book, managers and approvals drift from HR.</a:t>
            </a:r>
            <a:endParaRPr lang="en-US" sz="1400" dirty="0"/>
          </a:p>
        </p:txBody>
      </p:sp>
      <p:sp>
        <p:nvSpPr>
          <p:cNvPr id="12" name="Icon FaUserClock"/>
          <p:cNvSpPr/>
          <p:nvPr/>
        </p:nvSpPr>
        <p:spPr>
          <a:xfrm>
            <a:off x="548640" y="3785616"/>
            <a:ext cx="566928" cy="566928"/>
          </a:xfrm>
          <a:prstGeom prst="ellipse">
            <a:avLst/>
          </a:prstGeom>
          <a:solidFill>
            <a:srgbClr val="0F766E"/>
          </a:solidFill>
          <a:ln w="12700">
            <a:solidFill>
              <a:srgbClr val="0F766E"/>
            </a:solidFill>
            <a:prstDash val="solid"/>
          </a:ln>
        </p:spPr>
      </p:sp>
      <p:pic>
        <p:nvPicPr>
          <p:cNvPr id="13" name="Image 2" descr="C:\Users\whale\git\uiao\inbox\SSA-Interview\build\icons\FaUserClock.png">    </p:cNvPr>
          <p:cNvPicPr>
            <a:picLocks noChangeAspect="1"/>
          </p:cNvPicPr>
          <p:nvPr/>
        </p:nvPicPr>
        <p:blipFill>
          <a:blip r:embed="rId3"/>
          <a:stretch>
            <a:fillRect/>
          </a:stretch>
        </p:blipFill>
        <p:spPr>
          <a:xfrm>
            <a:off x="684703" y="3921679"/>
            <a:ext cx="294803" cy="294803"/>
          </a:xfrm>
          <a:prstGeom prst="rect">
            <a:avLst/>
          </a:prstGeom>
        </p:spPr>
      </p:pic>
      <p:sp>
        <p:nvSpPr>
          <p:cNvPr id="14" name="Today 3"/>
          <p:cNvSpPr txBox="1"/>
          <p:nvPr/>
        </p:nvSpPr>
        <p:spPr>
          <a:xfrm>
            <a:off x="1280160" y="3739896"/>
            <a:ext cx="5074920" cy="960120"/>
          </a:xfrm>
          <a:prstGeom prst="rect">
            <a:avLst/>
          </a:prstGeom>
          <a:noFill/>
          <a:ln/>
        </p:spPr>
        <p:txBody>
          <a:bodyPr wrap="square" lIns="0" tIns="0" rIns="0" bIns="0" rtlCol="0" anchor="t"/>
          <a:lstStyle/>
          <a:p>
            <a:pPr indent="0" marL="0">
              <a:spcAft>
                <a:spcPts val="200"/>
              </a:spcAft>
              <a:buNone/>
            </a:pPr>
            <a:r>
              <a:rPr lang="en-US" sz="1650" b="1" dirty="0">
                <a:solidFill>
                  <a:srgbClr val="0F766E"/>
                </a:solidFill>
              </a:rPr>
              <a:t>Cost and delay</a:t>
            </a:r>
            <a:endParaRPr lang="en-US" sz="1400" dirty="0"/>
          </a:p>
          <a:p>
            <a:pPr indent="0" marL="0">
              <a:spcAft>
                <a:spcPts val="200"/>
              </a:spcAft>
              <a:buNone/>
            </a:pPr>
            <a:r>
              <a:rPr lang="en-US" sz="1400" dirty="0">
                <a:solidFill>
                  <a:schemeClr val="tx2"/>
                </a:solidFill>
              </a:rPr>
              <a:t>Many joiners, movers and leavers become help-desk work.</a:t>
            </a:r>
            <a:endParaRPr lang="en-US" sz="1400" dirty="0"/>
          </a:p>
        </p:txBody>
      </p:sp>
      <p:sp>
        <p:nvSpPr>
          <p:cNvPr id="15" name="Mission box"/>
          <p:cNvSpPr/>
          <p:nvPr/>
        </p:nvSpPr>
        <p:spPr>
          <a:xfrm>
            <a:off x="6583680" y="1280160"/>
            <a:ext cx="5074920" cy="3520440"/>
          </a:xfrm>
          <a:prstGeom prst="roundRect">
            <a:avLst>
              <a:gd name="adj" fmla="val 2078"/>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6" name="Icon FaPeopleArrows"/>
          <p:cNvSpPr/>
          <p:nvPr/>
        </p:nvSpPr>
        <p:spPr>
          <a:xfrm>
            <a:off x="6812280" y="1463040"/>
            <a:ext cx="685800" cy="685800"/>
          </a:xfrm>
          <a:prstGeom prst="ellipse">
            <a:avLst/>
          </a:prstGeom>
          <a:solidFill>
            <a:srgbClr val="0F766E"/>
          </a:solidFill>
          <a:ln w="12700">
            <a:solidFill>
              <a:srgbClr val="0F766E"/>
            </a:solidFill>
            <a:prstDash val="solid"/>
          </a:ln>
        </p:spPr>
      </p:sp>
      <p:pic>
        <p:nvPicPr>
          <p:cNvPr id="17" name="Image 3" descr="C:\Users\whale\git\uiao\inbox\SSA-Interview\build\icons\FaPeopleArrows.png">    </p:cNvPr>
          <p:cNvPicPr>
            <a:picLocks noChangeAspect="1"/>
          </p:cNvPicPr>
          <p:nvPr/>
        </p:nvPicPr>
        <p:blipFill>
          <a:blip r:embed="rId4"/>
          <a:stretch>
            <a:fillRect/>
          </a:stretch>
        </p:blipFill>
        <p:spPr>
          <a:xfrm>
            <a:off x="6976872" y="1627632"/>
            <a:ext cx="356616" cy="356616"/>
          </a:xfrm>
          <a:prstGeom prst="rect">
            <a:avLst/>
          </a:prstGeom>
        </p:spPr>
      </p:pic>
      <p:sp>
        <p:nvSpPr>
          <p:cNvPr id="18" name="Mission head"/>
          <p:cNvSpPr txBox="1"/>
          <p:nvPr/>
        </p:nvSpPr>
        <p:spPr>
          <a:xfrm>
            <a:off x="7680960" y="1444752"/>
            <a:ext cx="3840480" cy="777240"/>
          </a:xfrm>
          <a:prstGeom prst="rect">
            <a:avLst/>
          </a:prstGeom>
          <a:noFill/>
          <a:ln/>
        </p:spPr>
        <p:txBody>
          <a:bodyPr wrap="square" lIns="0" tIns="0" rIns="0" bIns="0" rtlCol="0" anchor="ctr"/>
          <a:lstStyle/>
          <a:p>
            <a:pPr indent="0" marL="0">
              <a:buNone/>
            </a:pPr>
            <a:r>
              <a:rPr lang="en-US" sz="1200" b="1" dirty="0">
                <a:solidFill>
                  <a:srgbClr val="64748B"/>
                </a:solidFill>
              </a:rPr>
              <a:t>WHERE THE MISSION IS HEADING</a:t>
            </a:r>
            <a:endParaRPr lang="en-US" sz="1400" dirty="0"/>
          </a:p>
          <a:p>
            <a:pPr indent="0" marL="0">
              <a:buNone/>
            </a:pPr>
            <a:r>
              <a:rPr lang="en-US" sz="1900" b="1" dirty="0">
                <a:solidFill>
                  <a:srgbClr val="0F766E"/>
                </a:solidFill>
                <a:latin typeface="Cambria" pitchFamily="34" charset="0"/>
                <a:ea typeface="Cambria" pitchFamily="34" charset="-122"/>
                <a:cs typeface="Cambria" pitchFamily="34" charset="-120"/>
              </a:rPr>
              <a:t>Shared services to the public</a:t>
            </a:r>
            <a:endParaRPr lang="en-US" sz="1400" dirty="0"/>
          </a:p>
        </p:txBody>
      </p:sp>
      <p:sp>
        <p:nvSpPr>
          <p:cNvPr id="19" name="Mission text"/>
          <p:cNvSpPr txBox="1"/>
          <p:nvPr/>
        </p:nvSpPr>
        <p:spPr>
          <a:xfrm>
            <a:off x="6858000" y="2286000"/>
            <a:ext cx="4617720" cy="2011680"/>
          </a:xfrm>
          <a:prstGeom prst="rect">
            <a:avLst/>
          </a:prstGeom>
          <a:noFill/>
          <a:ln/>
        </p:spPr>
        <p:txBody>
          <a:bodyPr wrap="square" lIns="0" tIns="0" rIns="0" bIns="0" rtlCol="0" anchor="t"/>
          <a:lstStyle/>
          <a:p>
            <a:pPr indent="0" marL="0">
              <a:spcAft>
                <a:spcPts val="300"/>
              </a:spcAft>
              <a:buNone/>
            </a:pPr>
            <a:r>
              <a:rPr lang="en-US" sz="1450" b="1" dirty="0">
                <a:solidFill>
                  <a:schemeClr val="tx2"/>
                </a:solidFill>
              </a:rPr>
              <a:t>Illustrative shared-service scenario: a cross-agency contact center. </a:t>
            </a:r>
            <a:endParaRPr lang="en-US" sz="1450" dirty="0"/>
          </a:p>
          <a:p>
            <a:pPr indent="0" marL="0">
              <a:spcAft>
                <a:spcPts val="300"/>
              </a:spcAft>
              <a:buNone/>
            </a:pPr>
            <a:r>
              <a:rPr lang="en-US" sz="1450" dirty="0">
                <a:solidFill>
                  <a:schemeClr val="tx2"/>
                </a:solidFill>
              </a:rPr>
              <a:t>Cloud contact centers make the front end easy. The hard part is the back end:</a:t>
            </a:r>
            <a:endParaRPr lang="en-US" sz="1450" dirty="0"/>
          </a:p>
          <a:p>
            <a:pPr marL="342900" indent="-342900">
              <a:spcAft>
                <a:spcPts val="300"/>
              </a:spcAft>
              <a:buSzPct val="100000"/>
              <a:buChar char="•"/>
            </a:pPr>
            <a:r>
              <a:rPr lang="en-US" sz="1500" dirty="0">
                <a:solidFill>
                  <a:schemeClr val="tx2"/>
                </a:solidFill>
              </a:rPr>
              <a:t>Who is this agent?</a:t>
            </a:r>
            <a:endParaRPr lang="en-US" sz="1450" dirty="0"/>
          </a:p>
          <a:p>
            <a:pPr marL="342900" indent="-342900">
              <a:spcAft>
                <a:spcPts val="300"/>
              </a:spcAft>
              <a:buSzPct val="100000"/>
              <a:buChar char="•"/>
            </a:pPr>
            <a:r>
              <a:rPr lang="en-US" sz="1500" dirty="0">
                <a:solidFill>
                  <a:schemeClr val="tx2"/>
                </a:solidFill>
              </a:rPr>
              <a:t>Which agency’s records may they see?</a:t>
            </a:r>
            <a:endParaRPr lang="en-US" sz="1450" dirty="0"/>
          </a:p>
          <a:p>
            <a:pPr marL="342900" indent="-342900">
              <a:spcAft>
                <a:spcPts val="300"/>
              </a:spcAft>
              <a:buSzPct val="100000"/>
              <a:buChar char="•"/>
            </a:pPr>
            <a:r>
              <a:rPr lang="en-US" sz="1500" dirty="0">
                <a:solidFill>
                  <a:schemeClr val="tx2"/>
                </a:solidFill>
              </a:rPr>
              <a:t>Does access end the day they leave — everywhere?</a:t>
            </a:r>
            <a:endParaRPr lang="en-US" sz="1450" dirty="0"/>
          </a:p>
        </p:txBody>
      </p:sp>
      <p:sp>
        <p:nvSpPr>
          <p:cNvPr id="20" name="Mission answer"/>
          <p:cNvSpPr txBox="1"/>
          <p:nvPr/>
        </p:nvSpPr>
        <p:spPr>
          <a:xfrm>
            <a:off x="6858000" y="4279392"/>
            <a:ext cx="4617720" cy="457200"/>
          </a:xfrm>
          <a:prstGeom prst="rect">
            <a:avLst/>
          </a:prstGeom>
          <a:noFill/>
          <a:ln/>
        </p:spPr>
        <p:txBody>
          <a:bodyPr wrap="square" lIns="0" tIns="0" rIns="0" bIns="0" rtlCol="0" anchor="t"/>
          <a:lstStyle/>
          <a:p>
            <a:pPr indent="0" marL="0">
              <a:buNone/>
            </a:pPr>
            <a:r>
              <a:rPr lang="en-US" sz="1450" b="1" dirty="0">
                <a:solidFill>
                  <a:srgbClr val="0F766E"/>
                </a:solidFill>
              </a:rPr>
              <a:t>A standardized, HR-driven identity supplies the trusted facts to answer all three consistently.</a:t>
            </a:r>
            <a:endParaRPr lang="en-US" sz="1450" dirty="0"/>
          </a:p>
        </p:txBody>
      </p:sp>
      <p:sp>
        <p:nvSpPr>
          <p:cNvPr id="21" name="Do nothing"/>
          <p:cNvSpPr/>
          <p:nvPr/>
        </p:nvSpPr>
        <p:spPr>
          <a:xfrm>
            <a:off x="548640" y="5029200"/>
            <a:ext cx="11109960" cy="1051560"/>
          </a:xfrm>
          <a:prstGeom prst="roundRect">
            <a:avLst>
              <a:gd name="adj" fmla="val 695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2" name="Icon FaTriangleExclamation"/>
          <p:cNvSpPr/>
          <p:nvPr/>
        </p:nvSpPr>
        <p:spPr>
          <a:xfrm>
            <a:off x="777240" y="5175504"/>
            <a:ext cx="749808" cy="749808"/>
          </a:xfrm>
          <a:prstGeom prst="ellipse">
            <a:avLst/>
          </a:prstGeom>
          <a:solidFill>
            <a:srgbClr val="B45309"/>
          </a:solidFill>
          <a:ln w="12700">
            <a:solidFill>
              <a:srgbClr val="B45309"/>
            </a:solidFill>
            <a:prstDash val="solid"/>
          </a:ln>
        </p:spPr>
      </p:sp>
      <p:pic>
        <p:nvPicPr>
          <p:cNvPr id="23" name="Image 4" descr="C:\Users\whale\git\uiao\inbox\SSA-Interview\build\icons\FaTriangleExclamation.png">    </p:cNvPr>
          <p:cNvPicPr>
            <a:picLocks noChangeAspect="1"/>
          </p:cNvPicPr>
          <p:nvPr/>
        </p:nvPicPr>
        <p:blipFill>
          <a:blip r:embed="rId5"/>
          <a:stretch>
            <a:fillRect/>
          </a:stretch>
        </p:blipFill>
        <p:spPr>
          <a:xfrm>
            <a:off x="957194" y="5355458"/>
            <a:ext cx="389900" cy="389900"/>
          </a:xfrm>
          <a:prstGeom prst="rect">
            <a:avLst/>
          </a:prstGeom>
        </p:spPr>
      </p:pic>
      <p:sp>
        <p:nvSpPr>
          <p:cNvPr id="24" name="Do nothing text"/>
          <p:cNvSpPr txBox="1"/>
          <p:nvPr/>
        </p:nvSpPr>
        <p:spPr>
          <a:xfrm>
            <a:off x="1737360" y="5074920"/>
            <a:ext cx="9738360" cy="960120"/>
          </a:xfrm>
          <a:prstGeom prst="rect">
            <a:avLst/>
          </a:prstGeom>
          <a:noFill/>
          <a:ln/>
        </p:spPr>
        <p:txBody>
          <a:bodyPr wrap="square" lIns="0" tIns="0" rIns="0" bIns="0" rtlCol="0" anchor="ctr"/>
          <a:lstStyle/>
          <a:p>
            <a:pPr indent="0" marL="0">
              <a:buNone/>
            </a:pPr>
            <a:r>
              <a:rPr lang="en-US" sz="1700" b="1" dirty="0">
                <a:solidFill>
                  <a:srgbClr val="B45309"/>
                </a:solidFill>
              </a:rPr>
              <a:t>If we do nothing: </a:t>
            </a:r>
            <a:pPr indent="0" marL="0">
              <a:buNone/>
            </a:pPr>
            <a:r>
              <a:rPr lang="en-US" sz="1700" dirty="0">
                <a:solidFill>
                  <a:schemeClr val="tx2"/>
                </a:solidFill>
              </a:rPr>
              <a:t>HR moves to Oracle Core HCM, identity moves to Entra ID — and we rebuild the same manual process twice, on new platforms.</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Four options, weighed against what leadership must balance</a:t>
            </a:r>
            <a:endParaRPr lang="en-US" sz="3000" dirty="0"/>
          </a:p>
        </p:txBody>
      </p:sp>
      <p:sp>
        <p:nvSpPr>
          <p:cNvPr id="3" name="Tag What"/>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a:tblGrid>
                <a:gridCol w="3429000"/>
                <a:gridCol w="1600200"/>
                <a:gridCol w="1234440"/>
                <a:gridCol w="1234440"/>
                <a:gridCol w="1325880"/>
                <a:gridCol w="2286000"/>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Option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Mission and the public</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Security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Cost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Resilience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Bottom line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4980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  Keep ticket-driven identity</a:t>
                      </a:r>
                      <a:endParaRPr lang="en-US" sz="1400" dirty="0">
                        <a:latin typeface="Calibri" charset="0"/>
                        <a:ea typeface="Calibri" charset="0"/>
                        <a:cs typeface="Calibri" charset="0"/>
                      </a:endParaRPr>
                    </a:p>
                    <a:p>
                      <a:pPr indent="0" marL="0">
                        <a:buNone/>
                      </a:pPr>
                      <a:r>
                        <a:rPr lang="en-US" sz="1200" dirty="0">
                          <a:solidFill>
                            <a:srgbClr val="64748B"/>
                          </a:solidFill>
                          <a:latin typeface="Calibri" pitchFamily="34" charset="0"/>
                          <a:ea typeface="Calibri" pitchFamily="34" charset="-122"/>
                          <a:cs typeface="Calibri" pitchFamily="34" charset="-120"/>
                        </a:rPr>
                        <a:t>No new investment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B91C1C"/>
                          </a:solidFill>
                          <a:latin typeface="Calibri" pitchFamily="34" charset="0"/>
                          <a:ea typeface="Calibri" pitchFamily="34" charset="-122"/>
                          <a:cs typeface="Calibri" pitchFamily="34" charset="-120"/>
                        </a:rPr>
                        <a:t>Weak</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4E4"/>
                    </a:solidFill>
                  </a:tcPr>
                </a:tc>
                <a:tc>
                  <a:txBody>
                    <a:bodyPr/>
                    <a:lstStyle/>
                    <a:p>
                      <a:pPr algn="ctr" indent="0" marL="0">
                        <a:buNone/>
                      </a:pPr>
                      <a:r>
                        <a:rPr lang="en-US" sz="1400" b="1" dirty="0">
                          <a:solidFill>
                            <a:srgbClr val="B91C1C"/>
                          </a:solidFill>
                          <a:latin typeface="Calibri" pitchFamily="34" charset="0"/>
                          <a:ea typeface="Calibri" pitchFamily="34" charset="-122"/>
                          <a:cs typeface="Calibri" pitchFamily="34" charset="-120"/>
                        </a:rPr>
                        <a:t>Weak</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4E4"/>
                    </a:solidFill>
                  </a:tcPr>
                </a:tc>
                <a:tc>
                  <a:txBody>
                    <a:bodyPr/>
                    <a:lstStyle/>
                    <a:p>
                      <a:pPr algn="ctr" indent="0" marL="0">
                        <a:buNone/>
                      </a:pPr>
                      <a:r>
                        <a:rPr lang="en-US" sz="1400" b="1" dirty="0">
                          <a:solidFill>
                            <a:srgbClr val="B45309"/>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EDC"/>
                    </a:solidFill>
                  </a:tcPr>
                </a:tc>
                <a:tc>
                  <a:txBody>
                    <a:bodyPr/>
                    <a:lstStyle/>
                    <a:p>
                      <a:pPr algn="ctr" indent="0" marL="0">
                        <a:buNone/>
                      </a:pPr>
                      <a:r>
                        <a:rPr lang="en-US" sz="1400" b="1" dirty="0">
                          <a:solidFill>
                            <a:srgbClr val="B45309"/>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EDC"/>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cost of doing nothing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4980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B  Automate inside the directories</a:t>
                      </a:r>
                      <a:endParaRPr lang="en-US" sz="1400" dirty="0">
                        <a:latin typeface="Calibri" charset="0"/>
                        <a:ea typeface="Calibri" charset="0"/>
                        <a:cs typeface="Calibri" charset="0"/>
                      </a:endParaRPr>
                    </a:p>
                    <a:p>
                      <a:pPr indent="0" marL="0">
                        <a:buNone/>
                      </a:pPr>
                      <a:r>
                        <a:rPr lang="en-US" sz="1200" dirty="0">
                          <a:solidFill>
                            <a:srgbClr val="64748B"/>
                          </a:solidFill>
                          <a:latin typeface="Calibri" pitchFamily="34" charset="0"/>
                          <a:ea typeface="Calibri" pitchFamily="34" charset="-122"/>
                          <a:cs typeface="Calibri" pitchFamily="34" charset="-120"/>
                        </a:rPr>
                        <a:t>Scripts and exports, without a governed authority model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B45309"/>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EDC"/>
                    </a:solidFill>
                  </a:tcPr>
                </a:tc>
                <a:tc>
                  <a:txBody>
                    <a:bodyPr/>
                    <a:lstStyle/>
                    <a:p>
                      <a:pPr algn="ctr" indent="0" marL="0">
                        <a:buNone/>
                      </a:pPr>
                      <a:r>
                        <a:rPr lang="en-US" sz="1400" b="1" dirty="0">
                          <a:solidFill>
                            <a:srgbClr val="B45309"/>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EDC"/>
                    </a:solidFill>
                  </a:tcPr>
                </a:tc>
                <a:tc>
                  <a:txBody>
                    <a:bodyPr/>
                    <a:lstStyle/>
                    <a:p>
                      <a:pPr algn="ctr" indent="0" marL="0">
                        <a:buNone/>
                      </a:pPr>
                      <a:r>
                        <a:rPr lang="en-US" sz="1400" b="1" dirty="0">
                          <a:solidFill>
                            <a:srgbClr val="B45309"/>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EDC"/>
                    </a:solidFill>
                  </a:tcPr>
                </a:tc>
                <a:tc>
                  <a:txBody>
                    <a:bodyPr/>
                    <a:lstStyle/>
                    <a:p>
                      <a:pPr algn="ctr" indent="0" marL="0">
                        <a:buNone/>
                      </a:pPr>
                      <a:r>
                        <a:rPr lang="en-US" sz="1400" b="1" dirty="0">
                          <a:solidFill>
                            <a:srgbClr val="B91C1C"/>
                          </a:solidFill>
                          <a:latin typeface="Calibri" pitchFamily="34" charset="0"/>
                          <a:ea typeface="Calibri" pitchFamily="34" charset="-122"/>
                          <a:cs typeface="Calibri" pitchFamily="34" charset="-120"/>
                        </a:rPr>
                        <a:t>Weak</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4E4"/>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Automation without governed authority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4980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C  Wait for HR 2.0, integrate later</a:t>
                      </a:r>
                      <a:endParaRPr lang="en-US" sz="1400" dirty="0">
                        <a:latin typeface="Calibri" charset="0"/>
                        <a:ea typeface="Calibri" charset="0"/>
                        <a:cs typeface="Calibri" charset="0"/>
                      </a:endParaRPr>
                    </a:p>
                    <a:p>
                      <a:pPr indent="0" marL="0">
                        <a:buNone/>
                      </a:pPr>
                      <a:r>
                        <a:rPr lang="en-US" sz="1200" dirty="0">
                          <a:solidFill>
                            <a:srgbClr val="64748B"/>
                          </a:solidFill>
                          <a:latin typeface="Calibri" pitchFamily="34" charset="0"/>
                          <a:ea typeface="Calibri" pitchFamily="34" charset="-122"/>
                          <a:cs typeface="Calibri" pitchFamily="34" charset="-120"/>
                        </a:rPr>
                        <a:t>Less work this year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B45309"/>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EDC"/>
                    </a:solidFill>
                  </a:tcPr>
                </a:tc>
                <a:tc>
                  <a:txBody>
                    <a:bodyPr/>
                    <a:lstStyle/>
                    <a:p>
                      <a:pPr algn="ctr" indent="0" marL="0">
                        <a:buNone/>
                      </a:pPr>
                      <a:r>
                        <a:rPr lang="en-US" sz="1400" b="1" dirty="0">
                          <a:solidFill>
                            <a:srgbClr val="B91C1C"/>
                          </a:solidFill>
                          <a:latin typeface="Calibri" pitchFamily="34" charset="0"/>
                          <a:ea typeface="Calibri" pitchFamily="34" charset="-122"/>
                          <a:cs typeface="Calibri" pitchFamily="34" charset="-120"/>
                        </a:rPr>
                        <a:t>Weak</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4E4"/>
                    </a:solidFill>
                  </a:tcPr>
                </a:tc>
                <a:tc>
                  <a:txBody>
                    <a:bodyPr/>
                    <a:lstStyle/>
                    <a:p>
                      <a:pPr algn="ctr" indent="0" marL="0">
                        <a:buNone/>
                      </a:pPr>
                      <a:r>
                        <a:rPr lang="en-US" sz="1400" b="1" dirty="0">
                          <a:solidFill>
                            <a:srgbClr val="B45309"/>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EDC"/>
                    </a:solidFill>
                  </a:tcPr>
                </a:tc>
                <a:tc>
                  <a:txBody>
                    <a:bodyPr/>
                    <a:lstStyle/>
                    <a:p>
                      <a:pPr algn="ctr" indent="0" marL="0">
                        <a:buNone/>
                      </a:pPr>
                      <a:r>
                        <a:rPr lang="en-US" sz="1400" b="1" dirty="0">
                          <a:solidFill>
                            <a:srgbClr val="0F766E"/>
                          </a:solidFill>
                          <a:latin typeface="Calibri" pitchFamily="34" charset="0"/>
                          <a:ea typeface="Calibri" pitchFamily="34" charset="-122"/>
                          <a:cs typeface="Calibri" pitchFamily="34" charset="-120"/>
                        </a:rPr>
                        <a:t>Strong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FEC"/>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Defensible — but misses the design window</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49808">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D  Start now: HR is the source of truth</a:t>
                      </a:r>
                      <a:endParaRPr lang="en-US" sz="1400" dirty="0">
                        <a:latin typeface="Calibri" charset="0"/>
                        <a:ea typeface="Calibri" charset="0"/>
                        <a:cs typeface="Calibri" charset="0"/>
                      </a:endParaRPr>
                    </a:p>
                    <a:p>
                      <a:pPr indent="0" marL="0">
                        <a:buNone/>
                      </a:pPr>
                      <a:r>
                        <a:rPr lang="en-US" sz="1200" dirty="0">
                          <a:solidFill>
                            <a:srgbClr val="64748B"/>
                          </a:solidFill>
                          <a:latin typeface="Calibri" pitchFamily="34" charset="0"/>
                          <a:ea typeface="Calibri" pitchFamily="34" charset="-122"/>
                          <a:cs typeface="Calibri" pitchFamily="34" charset="-120"/>
                        </a:rPr>
                        <a:t>On OPM standard data, built into both migrations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F766E"/>
                          </a:solidFill>
                          <a:latin typeface="Calibri" pitchFamily="34" charset="0"/>
                          <a:ea typeface="Calibri" pitchFamily="34" charset="-122"/>
                          <a:cs typeface="Calibri" pitchFamily="34" charset="-120"/>
                        </a:rPr>
                        <a:t>Strong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FEC"/>
                    </a:solidFill>
                  </a:tcPr>
                </a:tc>
                <a:tc>
                  <a:txBody>
                    <a:bodyPr/>
                    <a:lstStyle/>
                    <a:p>
                      <a:pPr algn="ctr" indent="0" marL="0">
                        <a:buNone/>
                      </a:pPr>
                      <a:r>
                        <a:rPr lang="en-US" sz="1400" b="1" dirty="0">
                          <a:solidFill>
                            <a:srgbClr val="0F766E"/>
                          </a:solidFill>
                          <a:latin typeface="Calibri" pitchFamily="34" charset="0"/>
                          <a:ea typeface="Calibri" pitchFamily="34" charset="-122"/>
                          <a:cs typeface="Calibri" pitchFamily="34" charset="-120"/>
                        </a:rPr>
                        <a:t>Strong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FEC"/>
                    </a:solidFill>
                  </a:tcPr>
                </a:tc>
                <a:tc>
                  <a:txBody>
                    <a:bodyPr/>
                    <a:lstStyle/>
                    <a:p>
                      <a:pPr algn="ctr" indent="0" marL="0">
                        <a:buNone/>
                      </a:pPr>
                      <a:r>
                        <a:rPr lang="en-US" sz="1400" b="1" dirty="0">
                          <a:solidFill>
                            <a:srgbClr val="B45309"/>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EDC"/>
                    </a:solidFill>
                  </a:tcPr>
                </a:tc>
                <a:tc>
                  <a:txBody>
                    <a:bodyPr/>
                    <a:lstStyle/>
                    <a:p>
                      <a:pPr algn="ctr" indent="0" marL="0">
                        <a:buNone/>
                      </a:pPr>
                      <a:r>
                        <a:rPr lang="en-US" sz="1400" b="1" dirty="0">
                          <a:solidFill>
                            <a:srgbClr val="0F766E"/>
                          </a:solidFill>
                          <a:latin typeface="Calibri" pitchFamily="34" charset="0"/>
                          <a:ea typeface="Calibri" pitchFamily="34" charset="-122"/>
                          <a:cs typeface="Calibri" pitchFamily="34" charset="-120"/>
                        </a:rPr>
                        <a:t>Strong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FEC"/>
                    </a:solidFill>
                  </a:tcPr>
                </a:tc>
                <a:tc>
                  <a:txBody>
                    <a:bodyPr/>
                    <a:lstStyle/>
                    <a:p>
                      <a:pPr indent="0" marL="0">
                        <a:buNone/>
                      </a:pPr>
                      <a:r>
                        <a:rPr lang="en-US" sz="1400" b="1" dirty="0">
                          <a:solidFill>
                            <a:srgbClr val="0F766E"/>
                          </a:solidFill>
                          <a:latin typeface="Calibri" pitchFamily="34" charset="0"/>
                          <a:ea typeface="Calibri" pitchFamily="34" charset="-122"/>
                          <a:cs typeface="Calibri" pitchFamily="34" charset="-120"/>
                        </a:rPr>
                        <a:t>Recommended, phased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Judgment"/>
          <p:cNvSpPr/>
          <p:nvPr/>
        </p:nvSpPr>
        <p:spPr>
          <a:xfrm>
            <a:off x="548640" y="5074920"/>
            <a:ext cx="11109960" cy="1051560"/>
          </a:xfrm>
          <a:prstGeom prst="roundRect">
            <a:avLst>
              <a:gd name="adj" fmla="val 695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Icon FaScaleBalanced"/>
          <p:cNvSpPr/>
          <p:nvPr/>
        </p:nvSpPr>
        <p:spPr>
          <a:xfrm>
            <a:off x="777240" y="5239512"/>
            <a:ext cx="731520" cy="731520"/>
          </a:xfrm>
          <a:prstGeom prst="ellipse">
            <a:avLst/>
          </a:prstGeom>
          <a:solidFill>
            <a:srgbClr val="B45309"/>
          </a:solidFill>
          <a:ln w="12700">
            <a:solidFill>
              <a:srgbClr val="B45309"/>
            </a:solidFill>
            <a:prstDash val="solid"/>
          </a:ln>
        </p:spPr>
      </p:sp>
      <p:pic>
        <p:nvPicPr>
          <p:cNvPr id="8" name="Image 0" descr="C:\Users\whale\git\uiao\inbox\SSA-Interview\build\icons\FaScaleBalanced.png">    </p:cNvPr>
          <p:cNvPicPr>
            <a:picLocks noChangeAspect="1"/>
          </p:cNvPicPr>
          <p:nvPr/>
        </p:nvPicPr>
        <p:blipFill>
          <a:blip r:embed="rId1"/>
          <a:stretch>
            <a:fillRect/>
          </a:stretch>
        </p:blipFill>
        <p:spPr>
          <a:xfrm>
            <a:off x="952805" y="5415077"/>
            <a:ext cx="380390" cy="380390"/>
          </a:xfrm>
          <a:prstGeom prst="rect">
            <a:avLst/>
          </a:prstGeom>
        </p:spPr>
      </p:pic>
      <p:sp>
        <p:nvSpPr>
          <p:cNvPr id="9" name="Judgment text"/>
          <p:cNvSpPr txBox="1"/>
          <p:nvPr/>
        </p:nvSpPr>
        <p:spPr>
          <a:xfrm>
            <a:off x="1737360" y="5120640"/>
            <a:ext cx="9738360" cy="960120"/>
          </a:xfrm>
          <a:prstGeom prst="rect">
            <a:avLst/>
          </a:prstGeom>
          <a:noFill/>
          <a:ln/>
        </p:spPr>
        <p:txBody>
          <a:bodyPr wrap="square" lIns="0" tIns="0" rIns="0" bIns="0" rtlCol="0" anchor="ctr"/>
          <a:lstStyle/>
          <a:p>
            <a:pPr indent="0" marL="0">
              <a:buNone/>
            </a:pPr>
            <a:r>
              <a:rPr lang="en-US" sz="1700" b="1" dirty="0">
                <a:solidFill>
                  <a:srgbClr val="B45309"/>
                </a:solidFill>
              </a:rPr>
              <a:t>The judgment call: </a:t>
            </a:r>
            <a:pPr indent="0" marL="0">
              <a:buNone/>
            </a:pPr>
            <a:r>
              <a:rPr lang="en-US" sz="1700" dirty="0">
                <a:solidFill>
                  <a:schemeClr val="tx2"/>
                </a:solidFill>
              </a:rPr>
              <a:t>if HR 2.0 slipped a long way, C becomes reasonable. But D’s first step — data standards, ownership and the person key — is no-regret either way.</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Recommendation: HR as the source of truth, starting now</a:t>
            </a:r>
            <a:endParaRPr lang="en-US" sz="3000" dirty="0"/>
          </a:p>
        </p:txBody>
      </p:sp>
      <p:sp>
        <p:nvSpPr>
          <p:cNvPr id="3" name="Tag What"/>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Reason 1"/>
          <p:cNvSpPr/>
          <p:nvPr/>
        </p:nvSpPr>
        <p:spPr>
          <a:xfrm>
            <a:off x="548640" y="1325880"/>
            <a:ext cx="5486400" cy="1600200"/>
          </a:xfrm>
          <a:prstGeom prst="roundRect">
            <a:avLst>
              <a:gd name="adj" fmla="val 457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UsersGear"/>
          <p:cNvSpPr/>
          <p:nvPr/>
        </p:nvSpPr>
        <p:spPr>
          <a:xfrm>
            <a:off x="777240" y="1600200"/>
            <a:ext cx="685800" cy="685800"/>
          </a:xfrm>
          <a:prstGeom prst="ellipse">
            <a:avLst/>
          </a:prstGeom>
          <a:solidFill>
            <a:srgbClr val="1F2A44"/>
          </a:solidFill>
          <a:ln w="12700">
            <a:solidFill>
              <a:srgbClr val="1F2A44"/>
            </a:solidFill>
            <a:prstDash val="solid"/>
          </a:ln>
        </p:spPr>
      </p:sp>
      <p:pic>
        <p:nvPicPr>
          <p:cNvPr id="7" name="Image 0" descr="C:\Users\whale\git\uiao\inbox\SSA-Interview\build\icons\FaUsersGear.png">    </p:cNvPr>
          <p:cNvPicPr>
            <a:picLocks noChangeAspect="1"/>
          </p:cNvPicPr>
          <p:nvPr/>
        </p:nvPicPr>
        <p:blipFill>
          <a:blip r:embed="rId1"/>
          <a:stretch>
            <a:fillRect/>
          </a:stretch>
        </p:blipFill>
        <p:spPr>
          <a:xfrm>
            <a:off x="941832" y="1764792"/>
            <a:ext cx="356616" cy="356616"/>
          </a:xfrm>
          <a:prstGeom prst="rect">
            <a:avLst/>
          </a:prstGeom>
        </p:spPr>
      </p:pic>
      <p:sp>
        <p:nvSpPr>
          <p:cNvPr id="8" name="Reason 1 text"/>
          <p:cNvSpPr txBox="1"/>
          <p:nvPr/>
        </p:nvSpPr>
        <p:spPr>
          <a:xfrm>
            <a:off x="1645920" y="1481328"/>
            <a:ext cx="4206240" cy="1325880"/>
          </a:xfrm>
          <a:prstGeom prst="rect">
            <a:avLst/>
          </a:prstGeom>
          <a:noFill/>
          <a:ln/>
        </p:spPr>
        <p:txBody>
          <a:bodyPr wrap="square" lIns="0" tIns="0" rIns="0" bIns="0" rtlCol="0" anchor="t"/>
          <a:lstStyle/>
          <a:p>
            <a:pPr indent="0" marL="0">
              <a:spcAft>
                <a:spcPts val="300"/>
              </a:spcAft>
              <a:buNone/>
            </a:pPr>
            <a:r>
              <a:rPr lang="en-US" sz="1800" b="1" dirty="0">
                <a:solidFill>
                  <a:srgbClr val="1F2A44"/>
                </a:solidFill>
                <a:latin typeface="Cambria" pitchFamily="34" charset="0"/>
                <a:ea typeface="Cambria" pitchFamily="34" charset="-122"/>
                <a:cs typeface="Cambria" pitchFamily="34" charset="-120"/>
              </a:rPr>
              <a:t>Mission and the public</a:t>
            </a:r>
            <a:endParaRPr lang="en-US" sz="1400" dirty="0"/>
          </a:p>
          <a:p>
            <a:pPr indent="0" marL="0">
              <a:spcAft>
                <a:spcPts val="300"/>
              </a:spcAft>
              <a:buNone/>
            </a:pPr>
            <a:r>
              <a:rPr lang="en-US" sz="1500" dirty="0">
                <a:solidFill>
                  <a:schemeClr val="tx2"/>
                </a:solidFill>
              </a:rPr>
              <a:t>Access to the public’s records ends when the role ends. Staff have the right access on day one. Shared services become possible.</a:t>
            </a:r>
            <a:endParaRPr lang="en-US" sz="1400" dirty="0"/>
          </a:p>
        </p:txBody>
      </p:sp>
      <p:sp>
        <p:nvSpPr>
          <p:cNvPr id="9" name="Reason 2"/>
          <p:cNvSpPr/>
          <p:nvPr/>
        </p:nvSpPr>
        <p:spPr>
          <a:xfrm>
            <a:off x="6144768" y="1325880"/>
            <a:ext cx="5486400" cy="1600200"/>
          </a:xfrm>
          <a:prstGeom prst="roundRect">
            <a:avLst>
              <a:gd name="adj" fmla="val 4571"/>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0" name="Icon FaChartLine"/>
          <p:cNvSpPr/>
          <p:nvPr/>
        </p:nvSpPr>
        <p:spPr>
          <a:xfrm>
            <a:off x="6373368" y="1600200"/>
            <a:ext cx="685800" cy="685800"/>
          </a:xfrm>
          <a:prstGeom prst="ellipse">
            <a:avLst/>
          </a:prstGeom>
          <a:solidFill>
            <a:srgbClr val="0F766E"/>
          </a:solidFill>
          <a:ln w="12700">
            <a:solidFill>
              <a:srgbClr val="0F766E"/>
            </a:solidFill>
            <a:prstDash val="solid"/>
          </a:ln>
        </p:spPr>
      </p:sp>
      <p:pic>
        <p:nvPicPr>
          <p:cNvPr id="11" name="Image 1" descr="C:\Users\whale\git\uiao\inbox\SSA-Interview\build\icons\FaChartLine.png">    </p:cNvPr>
          <p:cNvPicPr>
            <a:picLocks noChangeAspect="1"/>
          </p:cNvPicPr>
          <p:nvPr/>
        </p:nvPicPr>
        <p:blipFill>
          <a:blip r:embed="rId2"/>
          <a:stretch>
            <a:fillRect/>
          </a:stretch>
        </p:blipFill>
        <p:spPr>
          <a:xfrm>
            <a:off x="6537960" y="1764792"/>
            <a:ext cx="356616" cy="356616"/>
          </a:xfrm>
          <a:prstGeom prst="rect">
            <a:avLst/>
          </a:prstGeom>
        </p:spPr>
      </p:pic>
      <p:sp>
        <p:nvSpPr>
          <p:cNvPr id="12" name="Reason 2 text"/>
          <p:cNvSpPr txBox="1"/>
          <p:nvPr/>
        </p:nvSpPr>
        <p:spPr>
          <a:xfrm>
            <a:off x="7242048" y="1481328"/>
            <a:ext cx="4206240" cy="1325880"/>
          </a:xfrm>
          <a:prstGeom prst="rect">
            <a:avLst/>
          </a:prstGeom>
          <a:noFill/>
          <a:ln/>
        </p:spPr>
        <p:txBody>
          <a:bodyPr wrap="square" lIns="0" tIns="0" rIns="0" bIns="0" rtlCol="0" anchor="t"/>
          <a:lstStyle/>
          <a:p>
            <a:pPr indent="0" marL="0">
              <a:spcAft>
                <a:spcPts val="300"/>
              </a:spcAft>
              <a:buNone/>
            </a:pPr>
            <a:r>
              <a:rPr lang="en-US" sz="1800" b="1" dirty="0">
                <a:solidFill>
                  <a:srgbClr val="0F766E"/>
                </a:solidFill>
                <a:latin typeface="Cambria" pitchFamily="34" charset="0"/>
                <a:ea typeface="Cambria" pitchFamily="34" charset="-122"/>
                <a:cs typeface="Cambria" pitchFamily="34" charset="-120"/>
              </a:rPr>
              <a:t>Cost</a:t>
            </a:r>
            <a:endParaRPr lang="en-US" sz="1400" dirty="0"/>
          </a:p>
          <a:p>
            <a:pPr indent="0" marL="0">
              <a:spcAft>
                <a:spcPts val="300"/>
              </a:spcAft>
              <a:buNone/>
            </a:pPr>
            <a:r>
              <a:rPr lang="en-US" sz="1500" dirty="0">
                <a:solidFill>
                  <a:schemeClr val="tx2"/>
                </a:solidFill>
              </a:rPr>
              <a:t>Build it once, while both platforms are rebuilt anyway. Retire ticket work for routine joiners, movers and leavers.</a:t>
            </a:r>
            <a:endParaRPr lang="en-US" sz="1400" dirty="0"/>
          </a:p>
        </p:txBody>
      </p:sp>
      <p:sp>
        <p:nvSpPr>
          <p:cNvPr id="13" name="Reason 3"/>
          <p:cNvSpPr/>
          <p:nvPr/>
        </p:nvSpPr>
        <p:spPr>
          <a:xfrm>
            <a:off x="548640" y="3063240"/>
            <a:ext cx="5486400" cy="1600200"/>
          </a:xfrm>
          <a:prstGeom prst="roundRect">
            <a:avLst>
              <a:gd name="adj" fmla="val 4571"/>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4" name="Icon FaShieldHalved"/>
          <p:cNvSpPr/>
          <p:nvPr/>
        </p:nvSpPr>
        <p:spPr>
          <a:xfrm>
            <a:off x="777240" y="3337560"/>
            <a:ext cx="685800" cy="685800"/>
          </a:xfrm>
          <a:prstGeom prst="ellipse">
            <a:avLst/>
          </a:prstGeom>
          <a:solidFill>
            <a:srgbClr val="B91C1C"/>
          </a:solidFill>
          <a:ln w="12700">
            <a:solidFill>
              <a:srgbClr val="B91C1C"/>
            </a:solidFill>
            <a:prstDash val="solid"/>
          </a:ln>
        </p:spPr>
      </p:sp>
      <p:pic>
        <p:nvPicPr>
          <p:cNvPr id="15" name="Image 2" descr="C:\Users\whale\git\uiao\inbox\SSA-Interview\build\icons\FaShieldHalved.png">    </p:cNvPr>
          <p:cNvPicPr>
            <a:picLocks noChangeAspect="1"/>
          </p:cNvPicPr>
          <p:nvPr/>
        </p:nvPicPr>
        <p:blipFill>
          <a:blip r:embed="rId3"/>
          <a:stretch>
            <a:fillRect/>
          </a:stretch>
        </p:blipFill>
        <p:spPr>
          <a:xfrm>
            <a:off x="941832" y="3502152"/>
            <a:ext cx="356616" cy="356616"/>
          </a:xfrm>
          <a:prstGeom prst="rect">
            <a:avLst/>
          </a:prstGeom>
        </p:spPr>
      </p:pic>
      <p:sp>
        <p:nvSpPr>
          <p:cNvPr id="16" name="Reason 3 text"/>
          <p:cNvSpPr txBox="1"/>
          <p:nvPr/>
        </p:nvSpPr>
        <p:spPr>
          <a:xfrm>
            <a:off x="1645920" y="3218688"/>
            <a:ext cx="4206240" cy="1325880"/>
          </a:xfrm>
          <a:prstGeom prst="rect">
            <a:avLst/>
          </a:prstGeom>
          <a:noFill/>
          <a:ln/>
        </p:spPr>
        <p:txBody>
          <a:bodyPr wrap="square" lIns="0" tIns="0" rIns="0" bIns="0" rtlCol="0" anchor="t"/>
          <a:lstStyle/>
          <a:p>
            <a:pPr indent="0" marL="0">
              <a:spcAft>
                <a:spcPts val="300"/>
              </a:spcAft>
              <a:buNone/>
            </a:pPr>
            <a:r>
              <a:rPr lang="en-US" sz="1800" b="1" dirty="0">
                <a:solidFill>
                  <a:srgbClr val="B91C1C"/>
                </a:solidFill>
                <a:latin typeface="Cambria" pitchFamily="34" charset="0"/>
                <a:ea typeface="Cambria" pitchFamily="34" charset="-122"/>
                <a:cs typeface="Cambria" pitchFamily="34" charset="-120"/>
              </a:rPr>
              <a:t>Security</a:t>
            </a:r>
            <a:endParaRPr lang="en-US" sz="1400" dirty="0"/>
          </a:p>
          <a:p>
            <a:pPr indent="0" marL="0">
              <a:spcAft>
                <a:spcPts val="300"/>
              </a:spcAft>
              <a:buNone/>
            </a:pPr>
            <a:r>
              <a:rPr lang="en-US" sz="1500" dirty="0">
                <a:solidFill>
                  <a:schemeClr val="tx2"/>
                </a:solidFill>
              </a:rPr>
              <a:t>Access decisions increasingly depend on authoritative identity, device and context attributes. Mandates are the floor, not the reason.</a:t>
            </a:r>
            <a:endParaRPr lang="en-US" sz="1400" dirty="0"/>
          </a:p>
        </p:txBody>
      </p:sp>
      <p:sp>
        <p:nvSpPr>
          <p:cNvPr id="17" name="Reason 4"/>
          <p:cNvSpPr/>
          <p:nvPr/>
        </p:nvSpPr>
        <p:spPr>
          <a:xfrm>
            <a:off x="6144768" y="3063240"/>
            <a:ext cx="5486400" cy="1600200"/>
          </a:xfrm>
          <a:prstGeom prst="roundRect">
            <a:avLst>
              <a:gd name="adj" fmla="val 4571"/>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8" name="Icon FaArrowsRotate"/>
          <p:cNvSpPr/>
          <p:nvPr/>
        </p:nvSpPr>
        <p:spPr>
          <a:xfrm>
            <a:off x="6373368" y="3337560"/>
            <a:ext cx="685800" cy="685800"/>
          </a:xfrm>
          <a:prstGeom prst="ellipse">
            <a:avLst/>
          </a:prstGeom>
          <a:solidFill>
            <a:srgbClr val="B45309"/>
          </a:solidFill>
          <a:ln w="12700">
            <a:solidFill>
              <a:srgbClr val="B45309"/>
            </a:solidFill>
            <a:prstDash val="solid"/>
          </a:ln>
        </p:spPr>
      </p:sp>
      <p:pic>
        <p:nvPicPr>
          <p:cNvPr id="19" name="Image 3" descr="C:\Users\whale\git\uiao\inbox\SSA-Interview\build\icons\FaArrowsRotate.png">    </p:cNvPr>
          <p:cNvPicPr>
            <a:picLocks noChangeAspect="1"/>
          </p:cNvPicPr>
          <p:nvPr/>
        </p:nvPicPr>
        <p:blipFill>
          <a:blip r:embed="rId4"/>
          <a:stretch>
            <a:fillRect/>
          </a:stretch>
        </p:blipFill>
        <p:spPr>
          <a:xfrm>
            <a:off x="6537960" y="3502152"/>
            <a:ext cx="356616" cy="356616"/>
          </a:xfrm>
          <a:prstGeom prst="rect">
            <a:avLst/>
          </a:prstGeom>
        </p:spPr>
      </p:pic>
      <p:sp>
        <p:nvSpPr>
          <p:cNvPr id="20" name="Reason 4 text"/>
          <p:cNvSpPr txBox="1"/>
          <p:nvPr/>
        </p:nvSpPr>
        <p:spPr>
          <a:xfrm>
            <a:off x="7242048" y="3218688"/>
            <a:ext cx="4206240" cy="1325880"/>
          </a:xfrm>
          <a:prstGeom prst="rect">
            <a:avLst/>
          </a:prstGeom>
          <a:noFill/>
          <a:ln/>
        </p:spPr>
        <p:txBody>
          <a:bodyPr wrap="square" lIns="0" tIns="0" rIns="0" bIns="0" rtlCol="0" anchor="t"/>
          <a:lstStyle/>
          <a:p>
            <a:pPr indent="0" marL="0">
              <a:spcAft>
                <a:spcPts val="300"/>
              </a:spcAft>
              <a:buNone/>
            </a:pPr>
            <a:r>
              <a:rPr lang="en-US" sz="1800" b="1" dirty="0">
                <a:solidFill>
                  <a:srgbClr val="B45309"/>
                </a:solidFill>
                <a:latin typeface="Cambria" pitchFamily="34" charset="0"/>
                <a:ea typeface="Cambria" pitchFamily="34" charset="-122"/>
                <a:cs typeface="Cambria" pitchFamily="34" charset="-120"/>
              </a:rPr>
              <a:t>Resilience</a:t>
            </a:r>
            <a:endParaRPr lang="en-US" sz="1400" dirty="0"/>
          </a:p>
          <a:p>
            <a:pPr indent="0" marL="0">
              <a:spcAft>
                <a:spcPts val="300"/>
              </a:spcAft>
              <a:buNone/>
            </a:pPr>
            <a:r>
              <a:rPr lang="en-US" sz="1500" dirty="0">
                <a:solidFill>
                  <a:schemeClr val="tx2"/>
                </a:solidFill>
              </a:rPr>
              <a:t>OPM’s standard data and a person key the agency controls survive the next platform change.</a:t>
            </a:r>
            <a:endParaRPr lang="en-US" sz="1400" dirty="0"/>
          </a:p>
        </p:txBody>
      </p:sp>
      <p:sp>
        <p:nvSpPr>
          <p:cNvPr id="21" name="Limits"/>
          <p:cNvSpPr/>
          <p:nvPr/>
        </p:nvSpPr>
        <p:spPr>
          <a:xfrm>
            <a:off x="548640" y="4892040"/>
            <a:ext cx="5486400" cy="1234440"/>
          </a:xfrm>
          <a:prstGeom prst="roundRect">
            <a:avLst>
              <a:gd name="adj" fmla="val 5926"/>
            </a:avLst>
          </a:prstGeom>
          <a:solidFill>
            <a:srgbClr val="FFFFFF"/>
          </a:solidFill>
          <a:ln w="12700">
            <a:solidFill>
              <a:srgbClr val="64748B"/>
            </a:solidFill>
            <a:prstDash val="solid"/>
          </a:ln>
          <a:effectLst>
            <a:outerShdw sx="100000" sy="100000" kx="0" ky="0" algn="bl" rotWithShape="0" blurRad="76200" dist="25400" dir="5400000">
              <a:srgbClr val="64748B">
                <a:alpha val="22000"/>
              </a:srgbClr>
            </a:outerShdw>
          </a:effectLst>
        </p:spPr>
      </p:sp>
      <p:sp>
        <p:nvSpPr>
          <p:cNvPr id="22" name="Limits text"/>
          <p:cNvSpPr txBox="1"/>
          <p:nvPr/>
        </p:nvSpPr>
        <p:spPr>
          <a:xfrm>
            <a:off x="777240" y="4937760"/>
            <a:ext cx="5120640" cy="1143000"/>
          </a:xfrm>
          <a:prstGeom prst="rect">
            <a:avLst/>
          </a:prstGeom>
          <a:noFill/>
          <a:ln/>
        </p:spPr>
        <p:txBody>
          <a:bodyPr wrap="square" lIns="0" tIns="0" rIns="0" bIns="0" rtlCol="0" anchor="ctr"/>
          <a:lstStyle/>
          <a:p>
            <a:pPr indent="0" marL="0">
              <a:buNone/>
            </a:pPr>
            <a:r>
              <a:rPr lang="en-US" sz="1400" b="1" dirty="0">
                <a:solidFill>
                  <a:srgbClr val="64748B"/>
                </a:solidFill>
              </a:rPr>
              <a:t>Honest limits: </a:t>
            </a:r>
            <a:pPr indent="0" marL="0">
              <a:buNone/>
            </a:pPr>
            <a:r>
              <a:rPr lang="en-US" sz="1400" dirty="0">
                <a:solidFill>
                  <a:schemeClr val="tx2"/>
                </a:solidFill>
              </a:rPr>
              <a:t>HR 2.0 covers federal employees only. Contractor authority decision required: evaluate suitability, sponsorship, and contingent-worker records. Build only what HR is authoritative for.</a:t>
            </a:r>
            <a:endParaRPr lang="en-US" sz="1400" dirty="0"/>
          </a:p>
        </p:txBody>
      </p:sp>
      <p:sp>
        <p:nvSpPr>
          <p:cNvPr id="23" name="Upside"/>
          <p:cNvSpPr/>
          <p:nvPr/>
        </p:nvSpPr>
        <p:spPr>
          <a:xfrm>
            <a:off x="6144768" y="4892040"/>
            <a:ext cx="5513832" cy="1234440"/>
          </a:xfrm>
          <a:prstGeom prst="roundRect">
            <a:avLst>
              <a:gd name="adj" fmla="val 5926"/>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4" name="Upside text"/>
          <p:cNvSpPr txBox="1"/>
          <p:nvPr/>
        </p:nvSpPr>
        <p:spPr>
          <a:xfrm>
            <a:off x="6373368" y="4937760"/>
            <a:ext cx="5120640" cy="1143000"/>
          </a:xfrm>
          <a:prstGeom prst="rect">
            <a:avLst/>
          </a:prstGeom>
          <a:noFill/>
          <a:ln/>
        </p:spPr>
        <p:txBody>
          <a:bodyPr wrap="square" lIns="0" tIns="0" rIns="0" bIns="0" rtlCol="0" anchor="ctr"/>
          <a:lstStyle/>
          <a:p>
            <a:pPr indent="0" marL="0">
              <a:buNone/>
            </a:pPr>
            <a:r>
              <a:rPr lang="en-US" sz="1400" b="1" dirty="0">
                <a:solidFill>
                  <a:srgbClr val="0F766E"/>
                </a:solidFill>
              </a:rPr>
              <a:t>The upside: </a:t>
            </a:r>
            <a:pPr indent="0" marL="0">
              <a:buNone/>
            </a:pPr>
            <a:r>
              <a:rPr lang="en-US" sz="1400" dirty="0">
                <a:solidFill>
                  <a:schemeClr val="tx2"/>
                </a:solidFill>
              </a:rPr>
              <a:t>participating civilian agencies are moving toward a common Core HCM platform and federal personnel standards; a reusable identity model could reduce reinvention across agencies and shared services.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Who: the owners, the partners, and my role</a:t>
            </a:r>
            <a:endParaRPr lang="en-US" sz="3000" dirty="0"/>
          </a:p>
        </p:txBody>
      </p:sp>
      <p:sp>
        <p:nvSpPr>
          <p:cNvPr id="3" name="Tag Who"/>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Who col 1"/>
          <p:cNvSpPr/>
          <p:nvPr/>
        </p:nvSpPr>
        <p:spPr>
          <a:xfrm>
            <a:off x="548640" y="1280160"/>
            <a:ext cx="3611880" cy="3520440"/>
          </a:xfrm>
          <a:prstGeom prst="roundRect">
            <a:avLst>
              <a:gd name="adj" fmla="val 2078"/>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BuildingColumns"/>
          <p:cNvSpPr/>
          <p:nvPr/>
        </p:nvSpPr>
        <p:spPr>
          <a:xfrm>
            <a:off x="749808" y="1444752"/>
            <a:ext cx="566928" cy="566928"/>
          </a:xfrm>
          <a:prstGeom prst="ellipse">
            <a:avLst/>
          </a:prstGeom>
          <a:solidFill>
            <a:srgbClr val="1F2A44"/>
          </a:solidFill>
          <a:ln w="12700">
            <a:solidFill>
              <a:srgbClr val="1F2A44"/>
            </a:solidFill>
            <a:prstDash val="solid"/>
          </a:ln>
        </p:spPr>
      </p:sp>
      <p:pic>
        <p:nvPicPr>
          <p:cNvPr id="7" name="Image 0" descr="C:\Users\whale\git\uiao\inbox\SSA-Interview\build\icons\FaBuildingColumns.png">    </p:cNvPr>
          <p:cNvPicPr>
            <a:picLocks noChangeAspect="1"/>
          </p:cNvPicPr>
          <p:nvPr/>
        </p:nvPicPr>
        <p:blipFill>
          <a:blip r:embed="rId1"/>
          <a:stretch>
            <a:fillRect/>
          </a:stretch>
        </p:blipFill>
        <p:spPr>
          <a:xfrm>
            <a:off x="885871" y="1580815"/>
            <a:ext cx="294803" cy="294803"/>
          </a:xfrm>
          <a:prstGeom prst="rect">
            <a:avLst/>
          </a:prstGeom>
        </p:spPr>
      </p:pic>
      <p:sp>
        <p:nvSpPr>
          <p:cNvPr id="8" name="Who head 1"/>
          <p:cNvSpPr txBox="1"/>
          <p:nvPr/>
        </p:nvSpPr>
        <p:spPr>
          <a:xfrm>
            <a:off x="1463040" y="1444752"/>
            <a:ext cx="2560320" cy="566928"/>
          </a:xfrm>
          <a:prstGeom prst="rect">
            <a:avLst/>
          </a:prstGeom>
          <a:noFill/>
          <a:ln/>
        </p:spPr>
        <p:txBody>
          <a:bodyPr wrap="square" lIns="0" tIns="0" rIns="0" bIns="0" rtlCol="0" anchor="ctr"/>
          <a:lstStyle/>
          <a:p>
            <a:pPr indent="0" marL="0">
              <a:buNone/>
            </a:pPr>
            <a:r>
              <a:rPr lang="en-US" sz="1800" b="1" dirty="0">
                <a:solidFill>
                  <a:srgbClr val="1F2A44"/>
                </a:solidFill>
                <a:latin typeface="Cambria" pitchFamily="34" charset="0"/>
                <a:ea typeface="Cambria" pitchFamily="34" charset="-122"/>
                <a:cs typeface="Cambria" pitchFamily="34" charset="-120"/>
              </a:rPr>
              <a:t>Owns the data</a:t>
            </a:r>
            <a:endParaRPr lang="en-US" sz="1800" dirty="0"/>
          </a:p>
        </p:txBody>
      </p:sp>
      <p:sp>
        <p:nvSpPr>
          <p:cNvPr id="9" name="Who text 1"/>
          <p:cNvSpPr txBox="1"/>
          <p:nvPr/>
        </p:nvSpPr>
        <p:spPr>
          <a:xfrm>
            <a:off x="777240" y="2148840"/>
            <a:ext cx="3200400" cy="2560320"/>
          </a:xfrm>
          <a:prstGeom prst="rect">
            <a:avLst/>
          </a:prstGeom>
          <a:noFill/>
          <a:ln/>
        </p:spPr>
        <p:txBody>
          <a:bodyPr wrap="square" lIns="0" tIns="0" rIns="0" bIns="0" rtlCol="0" anchor="t"/>
          <a:lstStyle/>
          <a:p>
            <a:pPr indent="0" marL="0">
              <a:spcAft>
                <a:spcPts val="600"/>
              </a:spcAft>
              <a:buNone/>
            </a:pPr>
            <a:r>
              <a:rPr lang="en-US" sz="1450" b="1" dirty="0">
                <a:solidFill>
                  <a:srgbClr val="1F2A44"/>
                </a:solidFill>
              </a:rPr>
              <a:t>HR</a:t>
            </a:r>
            <a:endParaRPr lang="en-US" sz="1450" dirty="0"/>
          </a:p>
          <a:p>
            <a:pPr indent="0" marL="0">
              <a:spcAft>
                <a:spcPts val="600"/>
              </a:spcAft>
              <a:buNone/>
            </a:pPr>
            <a:r>
              <a:rPr lang="en-US" sz="1450" dirty="0">
                <a:solidFill>
                  <a:schemeClr val="tx2"/>
                </a:solidFill>
              </a:rPr>
              <a:t>Personnel data and its quality, at the source</a:t>
            </a:r>
            <a:endParaRPr lang="en-US" sz="1450" dirty="0"/>
          </a:p>
          <a:p>
            <a:pPr indent="0" marL="0">
              <a:spcAft>
                <a:spcPts val="600"/>
              </a:spcAft>
              <a:buNone/>
            </a:pPr>
            <a:r>
              <a:rPr lang="en-US" sz="1450" b="1" dirty="0">
                <a:solidFill>
                  <a:srgbClr val="1F2A44"/>
                </a:solidFill>
              </a:rPr>
              <a:t>OPM HR 2.0 program</a:t>
            </a:r>
            <a:endParaRPr lang="en-US" sz="1450" dirty="0"/>
          </a:p>
          <a:p>
            <a:pPr indent="0" marL="0">
              <a:spcAft>
                <a:spcPts val="600"/>
              </a:spcAft>
              <a:buNone/>
            </a:pPr>
            <a:r>
              <a:rPr lang="en-US" sz="1450" dirty="0">
                <a:solidFill>
                  <a:schemeClr val="tx2"/>
                </a:solidFill>
              </a:rPr>
              <a:t>The platform, the standards, the interconnection</a:t>
            </a:r>
            <a:endParaRPr lang="en-US" sz="1450" dirty="0"/>
          </a:p>
        </p:txBody>
      </p:sp>
      <p:sp>
        <p:nvSpPr>
          <p:cNvPr id="10" name="Who col 2"/>
          <p:cNvSpPr/>
          <p:nvPr/>
        </p:nvSpPr>
        <p:spPr>
          <a:xfrm>
            <a:off x="4297680" y="1280160"/>
            <a:ext cx="3611880" cy="3520440"/>
          </a:xfrm>
          <a:prstGeom prst="roundRect">
            <a:avLst>
              <a:gd name="adj" fmla="val 2078"/>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Icon FaUsersGear"/>
          <p:cNvSpPr/>
          <p:nvPr/>
        </p:nvSpPr>
        <p:spPr>
          <a:xfrm>
            <a:off x="4498848" y="1444752"/>
            <a:ext cx="566928" cy="566928"/>
          </a:xfrm>
          <a:prstGeom prst="ellipse">
            <a:avLst/>
          </a:prstGeom>
          <a:solidFill>
            <a:srgbClr val="0F766E"/>
          </a:solidFill>
          <a:ln w="12700">
            <a:solidFill>
              <a:srgbClr val="0F766E"/>
            </a:solidFill>
            <a:prstDash val="solid"/>
          </a:ln>
        </p:spPr>
      </p:sp>
      <p:pic>
        <p:nvPicPr>
          <p:cNvPr id="12" name="Image 1" descr="C:\Users\whale\git\uiao\inbox\SSA-Interview\build\icons\FaUsersGear.png">    </p:cNvPr>
          <p:cNvPicPr>
            <a:picLocks noChangeAspect="1"/>
          </p:cNvPicPr>
          <p:nvPr/>
        </p:nvPicPr>
        <p:blipFill>
          <a:blip r:embed="rId2"/>
          <a:stretch>
            <a:fillRect/>
          </a:stretch>
        </p:blipFill>
        <p:spPr>
          <a:xfrm>
            <a:off x="4634911" y="1580815"/>
            <a:ext cx="294803" cy="294803"/>
          </a:xfrm>
          <a:prstGeom prst="rect">
            <a:avLst/>
          </a:prstGeom>
        </p:spPr>
      </p:pic>
      <p:sp>
        <p:nvSpPr>
          <p:cNvPr id="13" name="Who head 2"/>
          <p:cNvSpPr txBox="1"/>
          <p:nvPr/>
        </p:nvSpPr>
        <p:spPr>
          <a:xfrm>
            <a:off x="5212080" y="1444752"/>
            <a:ext cx="2560320" cy="566928"/>
          </a:xfrm>
          <a:prstGeom prst="rect">
            <a:avLst/>
          </a:prstGeom>
          <a:noFill/>
          <a:ln/>
        </p:spPr>
        <p:txBody>
          <a:bodyPr wrap="square" lIns="0" tIns="0" rIns="0" bIns="0" rtlCol="0" anchor="ctr"/>
          <a:lstStyle/>
          <a:p>
            <a:pPr indent="0" marL="0">
              <a:buNone/>
            </a:pPr>
            <a:r>
              <a:rPr lang="en-US" sz="1800" b="1" dirty="0">
                <a:solidFill>
                  <a:srgbClr val="0F766E"/>
                </a:solidFill>
                <a:latin typeface="Cambria" pitchFamily="34" charset="0"/>
                <a:ea typeface="Cambria" pitchFamily="34" charset="-122"/>
                <a:cs typeface="Cambria" pitchFamily="34" charset="-120"/>
              </a:rPr>
              <a:t>Uses the data</a:t>
            </a:r>
            <a:endParaRPr lang="en-US" sz="1800" dirty="0"/>
          </a:p>
        </p:txBody>
      </p:sp>
      <p:sp>
        <p:nvSpPr>
          <p:cNvPr id="14" name="Who text 2"/>
          <p:cNvSpPr txBox="1"/>
          <p:nvPr/>
        </p:nvSpPr>
        <p:spPr>
          <a:xfrm>
            <a:off x="4526280" y="2148840"/>
            <a:ext cx="3200400" cy="2560320"/>
          </a:xfrm>
          <a:prstGeom prst="rect">
            <a:avLst/>
          </a:prstGeom>
          <a:noFill/>
          <a:ln/>
        </p:spPr>
        <p:txBody>
          <a:bodyPr wrap="square" lIns="0" tIns="0" rIns="0" bIns="0" rtlCol="0" anchor="t"/>
          <a:lstStyle/>
          <a:p>
            <a:pPr indent="0" marL="0">
              <a:spcAft>
                <a:spcPts val="600"/>
              </a:spcAft>
              <a:buNone/>
            </a:pPr>
            <a:r>
              <a:rPr lang="en-US" sz="1450" b="1" dirty="0">
                <a:solidFill>
                  <a:srgbClr val="0F766E"/>
                </a:solidFill>
              </a:rPr>
              <a:t>CIO identity team</a:t>
            </a:r>
            <a:endParaRPr lang="en-US" sz="1450" dirty="0"/>
          </a:p>
          <a:p>
            <a:pPr indent="0" marL="0">
              <a:spcAft>
                <a:spcPts val="600"/>
              </a:spcAft>
              <a:buNone/>
            </a:pPr>
            <a:r>
              <a:rPr lang="en-US" sz="1450" dirty="0">
                <a:solidFill>
                  <a:schemeClr val="tx2"/>
                </a:solidFill>
              </a:rPr>
              <a:t>Entra ID, Active Directory and access</a:t>
            </a:r>
            <a:endParaRPr lang="en-US" sz="1450" dirty="0"/>
          </a:p>
          <a:p>
            <a:pPr indent="0" marL="0">
              <a:spcAft>
                <a:spcPts val="600"/>
              </a:spcAft>
              <a:buNone/>
            </a:pPr>
            <a:r>
              <a:rPr lang="en-US" sz="1450" b="1" dirty="0">
                <a:solidFill>
                  <a:srgbClr val="0F766E"/>
                </a:solidFill>
              </a:rPr>
              <a:t>Security</a:t>
            </a:r>
            <a:endParaRPr lang="en-US" sz="1450" dirty="0"/>
          </a:p>
          <a:p>
            <a:pPr indent="0" marL="0">
              <a:spcAft>
                <a:spcPts val="600"/>
              </a:spcAft>
              <a:buNone/>
            </a:pPr>
            <a:r>
              <a:rPr lang="en-US" sz="1450" dirty="0">
                <a:solidFill>
                  <a:schemeClr val="tx2"/>
                </a:solidFill>
              </a:rPr>
              <a:t>Zero Trust policy and the leaver path</a:t>
            </a:r>
            <a:endParaRPr lang="en-US" sz="1450" dirty="0"/>
          </a:p>
          <a:p>
            <a:pPr indent="0" marL="0">
              <a:spcAft>
                <a:spcPts val="600"/>
              </a:spcAft>
              <a:buNone/>
            </a:pPr>
            <a:r>
              <a:rPr lang="en-US" sz="1450" b="1" dirty="0">
                <a:solidFill>
                  <a:srgbClr val="0F766E"/>
                </a:solidFill>
              </a:rPr>
              <a:t>Help desk</a:t>
            </a:r>
            <a:endParaRPr lang="en-US" sz="1450" dirty="0"/>
          </a:p>
          <a:p>
            <a:pPr indent="0" marL="0">
              <a:spcAft>
                <a:spcPts val="600"/>
              </a:spcAft>
              <a:buNone/>
            </a:pPr>
            <a:r>
              <a:rPr lang="en-US" sz="1450" dirty="0">
                <a:solidFill>
                  <a:schemeClr val="tx2"/>
                </a:solidFill>
              </a:rPr>
              <a:t>Exceptions, not routine tickets</a:t>
            </a:r>
            <a:endParaRPr lang="en-US" sz="1450" dirty="0"/>
          </a:p>
        </p:txBody>
      </p:sp>
      <p:sp>
        <p:nvSpPr>
          <p:cNvPr id="15" name="Who col 3"/>
          <p:cNvSpPr/>
          <p:nvPr/>
        </p:nvSpPr>
        <p:spPr>
          <a:xfrm>
            <a:off x="8046720" y="1280160"/>
            <a:ext cx="3611880" cy="3520440"/>
          </a:xfrm>
          <a:prstGeom prst="roundRect">
            <a:avLst>
              <a:gd name="adj" fmla="val 2078"/>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6" name="Icon FaShieldHalved"/>
          <p:cNvSpPr/>
          <p:nvPr/>
        </p:nvSpPr>
        <p:spPr>
          <a:xfrm>
            <a:off x="8247888" y="1444752"/>
            <a:ext cx="566928" cy="566928"/>
          </a:xfrm>
          <a:prstGeom prst="ellipse">
            <a:avLst/>
          </a:prstGeom>
          <a:solidFill>
            <a:srgbClr val="B45309"/>
          </a:solidFill>
          <a:ln w="12700">
            <a:solidFill>
              <a:srgbClr val="B45309"/>
            </a:solidFill>
            <a:prstDash val="solid"/>
          </a:ln>
        </p:spPr>
      </p:sp>
      <p:pic>
        <p:nvPicPr>
          <p:cNvPr id="17" name="Image 2" descr="C:\Users\whale\git\uiao\inbox\SSA-Interview\build\icons\FaShieldHalved.png">    </p:cNvPr>
          <p:cNvPicPr>
            <a:picLocks noChangeAspect="1"/>
          </p:cNvPicPr>
          <p:nvPr/>
        </p:nvPicPr>
        <p:blipFill>
          <a:blip r:embed="rId3"/>
          <a:stretch>
            <a:fillRect/>
          </a:stretch>
        </p:blipFill>
        <p:spPr>
          <a:xfrm>
            <a:off x="8383951" y="1580815"/>
            <a:ext cx="294803" cy="294803"/>
          </a:xfrm>
          <a:prstGeom prst="rect">
            <a:avLst/>
          </a:prstGeom>
        </p:spPr>
      </p:pic>
      <p:sp>
        <p:nvSpPr>
          <p:cNvPr id="18" name="Who head 3"/>
          <p:cNvSpPr txBox="1"/>
          <p:nvPr/>
        </p:nvSpPr>
        <p:spPr>
          <a:xfrm>
            <a:off x="8961120" y="1444752"/>
            <a:ext cx="2560320" cy="566928"/>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Guards and partners</a:t>
            </a:r>
            <a:endParaRPr lang="en-US" sz="1800" dirty="0"/>
          </a:p>
        </p:txBody>
      </p:sp>
      <p:sp>
        <p:nvSpPr>
          <p:cNvPr id="19" name="Who text 3"/>
          <p:cNvSpPr txBox="1"/>
          <p:nvPr/>
        </p:nvSpPr>
        <p:spPr>
          <a:xfrm>
            <a:off x="8275320" y="2148840"/>
            <a:ext cx="3200400" cy="2560320"/>
          </a:xfrm>
          <a:prstGeom prst="rect">
            <a:avLst/>
          </a:prstGeom>
          <a:noFill/>
          <a:ln/>
        </p:spPr>
        <p:txBody>
          <a:bodyPr wrap="square" lIns="0" tIns="0" rIns="0" bIns="0" rtlCol="0" anchor="t"/>
          <a:lstStyle/>
          <a:p>
            <a:pPr indent="0" marL="0">
              <a:spcAft>
                <a:spcPts val="600"/>
              </a:spcAft>
              <a:buNone/>
            </a:pPr>
            <a:r>
              <a:rPr lang="en-US" sz="1450" b="1" dirty="0">
                <a:solidFill>
                  <a:srgbClr val="B45309"/>
                </a:solidFill>
              </a:rPr>
              <a:t>Privacy office</a:t>
            </a:r>
            <a:endParaRPr lang="en-US" sz="1450" dirty="0"/>
          </a:p>
          <a:p>
            <a:pPr indent="0" marL="0">
              <a:spcAft>
                <a:spcPts val="600"/>
              </a:spcAft>
              <a:buNone/>
            </a:pPr>
            <a:r>
              <a:rPr lang="en-US" sz="1450" dirty="0">
                <a:solidFill>
                  <a:schemeClr val="tx2"/>
                </a:solidFill>
              </a:rPr>
              <a:t>Routine use and minimization, from the start</a:t>
            </a:r>
            <a:endParaRPr lang="en-US" sz="1450" dirty="0"/>
          </a:p>
          <a:p>
            <a:pPr indent="0" marL="0">
              <a:spcAft>
                <a:spcPts val="600"/>
              </a:spcAft>
              <a:buNone/>
            </a:pPr>
            <a:r>
              <a:rPr lang="en-US" sz="1450" b="1" dirty="0">
                <a:solidFill>
                  <a:srgbClr val="B45309"/>
                </a:solidFill>
              </a:rPr>
              <a:t>Contractor sponsors and PIV</a:t>
            </a:r>
            <a:endParaRPr lang="en-US" sz="1450" dirty="0"/>
          </a:p>
          <a:p>
            <a:pPr indent="0" marL="0">
              <a:spcAft>
                <a:spcPts val="600"/>
              </a:spcAft>
              <a:buNone/>
            </a:pPr>
            <a:r>
              <a:rPr lang="en-US" sz="1450" dirty="0">
                <a:solidFill>
                  <a:schemeClr val="tx2"/>
                </a:solidFill>
              </a:rPr>
              <a:t>Inputs to the non-employee authority decision</a:t>
            </a:r>
            <a:endParaRPr lang="en-US" sz="1450" dirty="0"/>
          </a:p>
          <a:p>
            <a:pPr indent="0" marL="0">
              <a:spcAft>
                <a:spcPts val="600"/>
              </a:spcAft>
              <a:buNone/>
            </a:pPr>
            <a:r>
              <a:rPr lang="en-US" sz="1450" b="1" dirty="0">
                <a:solidFill>
                  <a:srgbClr val="B45309"/>
                </a:solidFill>
              </a:rPr>
              <a:t>Partner agencies</a:t>
            </a:r>
            <a:endParaRPr lang="en-US" sz="1450" dirty="0"/>
          </a:p>
          <a:p>
            <a:pPr indent="0" marL="0">
              <a:spcAft>
                <a:spcPts val="600"/>
              </a:spcAft>
              <a:buNone/>
            </a:pPr>
            <a:r>
              <a:rPr lang="en-US" sz="1450" dirty="0">
                <a:solidFill>
                  <a:schemeClr val="tx2"/>
                </a:solidFill>
              </a:rPr>
              <a:t>One standard for shared services</a:t>
            </a:r>
            <a:endParaRPr lang="en-US" sz="1450" dirty="0"/>
          </a:p>
        </p:txBody>
      </p:sp>
      <p:sp>
        <p:nvSpPr>
          <p:cNvPr id="20" name="My role"/>
          <p:cNvSpPr/>
          <p:nvPr/>
        </p:nvSpPr>
        <p:spPr>
          <a:xfrm>
            <a:off x="548640" y="4983480"/>
            <a:ext cx="11109960" cy="1143000"/>
          </a:xfrm>
          <a:prstGeom prst="roundRect">
            <a:avLst>
              <a:gd name="adj" fmla="val 6400"/>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1" name="Icon FaSitemap"/>
          <p:cNvSpPr/>
          <p:nvPr/>
        </p:nvSpPr>
        <p:spPr>
          <a:xfrm>
            <a:off x="777240" y="5175504"/>
            <a:ext cx="749808" cy="749808"/>
          </a:xfrm>
          <a:prstGeom prst="ellipse">
            <a:avLst/>
          </a:prstGeom>
          <a:solidFill>
            <a:srgbClr val="1F2A44"/>
          </a:solidFill>
          <a:ln w="12700">
            <a:solidFill>
              <a:srgbClr val="1F2A44"/>
            </a:solidFill>
            <a:prstDash val="solid"/>
          </a:ln>
        </p:spPr>
      </p:sp>
      <p:pic>
        <p:nvPicPr>
          <p:cNvPr id="22" name="Image 3" descr="C:\Users\whale\git\uiao\inbox\SSA-Interview\build\icons\FaSitemap.png">    </p:cNvPr>
          <p:cNvPicPr>
            <a:picLocks noChangeAspect="1"/>
          </p:cNvPicPr>
          <p:nvPr/>
        </p:nvPicPr>
        <p:blipFill>
          <a:blip r:embed="rId4"/>
          <a:stretch>
            <a:fillRect/>
          </a:stretch>
        </p:blipFill>
        <p:spPr>
          <a:xfrm>
            <a:off x="957194" y="5355458"/>
            <a:ext cx="389900" cy="389900"/>
          </a:xfrm>
          <a:prstGeom prst="rect">
            <a:avLst/>
          </a:prstGeom>
        </p:spPr>
      </p:pic>
      <p:sp>
        <p:nvSpPr>
          <p:cNvPr id="23" name="My role text"/>
          <p:cNvSpPr txBox="1"/>
          <p:nvPr/>
        </p:nvSpPr>
        <p:spPr>
          <a:xfrm>
            <a:off x="1737360" y="5029200"/>
            <a:ext cx="9738360" cy="1051560"/>
          </a:xfrm>
          <a:prstGeom prst="rect">
            <a:avLst/>
          </a:prstGeom>
          <a:noFill/>
          <a:ln/>
        </p:spPr>
        <p:txBody>
          <a:bodyPr wrap="square" lIns="0" tIns="0" rIns="0" bIns="0" rtlCol="0" anchor="ctr"/>
          <a:lstStyle/>
          <a:p>
            <a:pPr indent="0" marL="0">
              <a:buNone/>
            </a:pPr>
            <a:r>
              <a:rPr lang="en-US" sz="1500" b="1" dirty="0">
                <a:solidFill>
                  <a:srgbClr val="1F2A44"/>
                </a:solidFill>
              </a:rPr>
              <a:t>My role as enterprise data architect: </a:t>
            </a:r>
            <a:pPr indent="0" marL="0">
              <a:buNone/>
            </a:pPr>
            <a:r>
              <a:rPr lang="en-US" sz="1500" dirty="0">
                <a:solidFill>
                  <a:schemeClr val="tx2"/>
                </a:solidFill>
              </a:rPr>
              <a:t>own the data standards (one name, definition and owner per attribute), the logical model and the person key; review the integrator’s designs against them; carry the standard to interagency working groups.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How: the data model, logical to physical</a:t>
            </a:r>
            <a:endParaRPr lang="en-US" sz="3000" dirty="0"/>
          </a:p>
        </p:txBody>
      </p:sp>
      <p:sp>
        <p:nvSpPr>
          <p:cNvPr id="3" name="Tag How"/>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Logical head"/>
          <p:cNvSpPr txBox="1"/>
          <p:nvPr/>
        </p:nvSpPr>
        <p:spPr>
          <a:xfrm>
            <a:off x="548640" y="1234440"/>
            <a:ext cx="5852160" cy="274320"/>
          </a:xfrm>
          <a:prstGeom prst="rect">
            <a:avLst/>
          </a:prstGeom>
          <a:noFill/>
          <a:ln/>
        </p:spPr>
        <p:txBody>
          <a:bodyPr wrap="square" lIns="0" tIns="0" rIns="0" bIns="0" rtlCol="0" anchor="t"/>
          <a:lstStyle/>
          <a:p>
            <a:pPr indent="0" marL="0">
              <a:buNone/>
            </a:pPr>
            <a:r>
              <a:rPr lang="en-US" sz="1200" b="1" dirty="0">
                <a:solidFill>
                  <a:srgbClr val="64748B"/>
                </a:solidFill>
              </a:rPr>
              <a:t>LOGICAL MODEL: TRACK THE PERSON, NOT THE ACCOUNT</a:t>
            </a:r>
            <a:endParaRPr lang="en-US" sz="1200" dirty="0"/>
          </a:p>
        </p:txBody>
      </p:sp>
      <p:sp>
        <p:nvSpPr>
          <p:cNvPr id="6" name="Entity Person"/>
          <p:cNvSpPr/>
          <p:nvPr/>
        </p:nvSpPr>
        <p:spPr>
          <a:xfrm>
            <a:off x="548640" y="1600200"/>
            <a:ext cx="2697480" cy="932688"/>
          </a:xfrm>
          <a:prstGeom prst="roundRect">
            <a:avLst>
              <a:gd name="adj" fmla="val 784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Entity Person text"/>
          <p:cNvSpPr txBox="1"/>
          <p:nvPr/>
        </p:nvSpPr>
        <p:spPr>
          <a:xfrm>
            <a:off x="658368" y="1655064"/>
            <a:ext cx="2478024" cy="822960"/>
          </a:xfrm>
          <a:prstGeom prst="rect">
            <a:avLst/>
          </a:prstGeom>
          <a:noFill/>
          <a:ln/>
        </p:spPr>
        <p:txBody>
          <a:bodyPr wrap="square" lIns="0" tIns="0" rIns="0" bIns="0" rtlCol="0" anchor="t"/>
          <a:lstStyle/>
          <a:p>
            <a:pPr indent="0" marL="0">
              <a:spcAft>
                <a:spcPts val="100"/>
              </a:spcAft>
              <a:buNone/>
            </a:pPr>
            <a:r>
              <a:rPr lang="en-US" sz="1450" b="1" dirty="0">
                <a:solidFill>
                  <a:srgbClr val="1F2A44"/>
                </a:solidFill>
              </a:rPr>
              <a:t>Person</a:t>
            </a:r>
            <a:pPr indent="0" marL="0">
              <a:spcAft>
                <a:spcPts val="100"/>
              </a:spcAft>
              <a:buNone/>
            </a:pPr>
            <a:endParaRPr lang="en-US" sz="1400" dirty="0"/>
          </a:p>
          <a:p>
            <a:pPr indent="0" marL="0">
              <a:spcAft>
                <a:spcPts val="100"/>
              </a:spcAft>
              <a:buNone/>
            </a:pPr>
            <a:r>
              <a:rPr lang="en-US" sz="1150" dirty="0">
                <a:solidFill>
                  <a:schemeClr val="tx2"/>
                </a:solidFill>
              </a:rPr>
              <a:t>PK: enterprise person key, controlled by the agency.</a:t>
            </a:r>
            <a:endParaRPr lang="en-US" sz="1400" dirty="0"/>
          </a:p>
        </p:txBody>
      </p:sp>
      <p:sp>
        <p:nvSpPr>
          <p:cNvPr id="8" name="Entity Identifier"/>
          <p:cNvSpPr/>
          <p:nvPr/>
        </p:nvSpPr>
        <p:spPr>
          <a:xfrm>
            <a:off x="3611880" y="1600200"/>
            <a:ext cx="2697480" cy="932688"/>
          </a:xfrm>
          <a:prstGeom prst="roundRect">
            <a:avLst>
              <a:gd name="adj" fmla="val 7843"/>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9" name="Entity Identifier text"/>
          <p:cNvSpPr txBox="1"/>
          <p:nvPr/>
        </p:nvSpPr>
        <p:spPr>
          <a:xfrm>
            <a:off x="3721608" y="1655064"/>
            <a:ext cx="2478024" cy="822960"/>
          </a:xfrm>
          <a:prstGeom prst="rect">
            <a:avLst/>
          </a:prstGeom>
          <a:noFill/>
          <a:ln/>
        </p:spPr>
        <p:txBody>
          <a:bodyPr wrap="square" lIns="0" tIns="0" rIns="0" bIns="0" rtlCol="0" anchor="t"/>
          <a:lstStyle/>
          <a:p>
            <a:pPr indent="0" marL="0">
              <a:spcAft>
                <a:spcPts val="100"/>
              </a:spcAft>
              <a:buNone/>
            </a:pPr>
            <a:r>
              <a:rPr lang="en-US" sz="1450" b="1" dirty="0">
                <a:solidFill>
                  <a:srgbClr val="1F2A44"/>
                </a:solidFill>
              </a:rPr>
              <a:t>Identifier</a:t>
            </a:r>
            <a:pPr indent="0" marL="0">
              <a:spcAft>
                <a:spcPts val="100"/>
              </a:spcAft>
              <a:buNone/>
            </a:pPr>
            <a:r>
              <a:rPr lang="en-US" sz="1100" dirty="0">
                <a:solidFill>
                  <a:srgbClr val="64748B"/>
                </a:solidFill>
              </a:rPr>
              <a:t>  N per person</a:t>
            </a:r>
            <a:endParaRPr lang="en-US" sz="1400" dirty="0"/>
          </a:p>
          <a:p>
            <a:pPr indent="0" marL="0">
              <a:spcAft>
                <a:spcPts val="100"/>
              </a:spcAft>
              <a:buNone/>
            </a:pPr>
            <a:r>
              <a:rPr lang="en-US" sz="1150" dirty="0">
                <a:solidFill>
                  <a:schemeClr val="tx2"/>
                </a:solidFill>
              </a:rPr>
              <a:t>HR person no., Entra and AD IDs, PIV. SSN: protected, never a join key.</a:t>
            </a:r>
            <a:endParaRPr lang="en-US" sz="1400" dirty="0"/>
          </a:p>
        </p:txBody>
      </p:sp>
      <p:sp>
        <p:nvSpPr>
          <p:cNvPr id="10" name="Entity Affiliation"/>
          <p:cNvSpPr/>
          <p:nvPr/>
        </p:nvSpPr>
        <p:spPr>
          <a:xfrm>
            <a:off x="548640" y="2743200"/>
            <a:ext cx="2697480" cy="932688"/>
          </a:xfrm>
          <a:prstGeom prst="roundRect">
            <a:avLst>
              <a:gd name="adj" fmla="val 7843"/>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1" name="Entity Affiliation text"/>
          <p:cNvSpPr txBox="1"/>
          <p:nvPr/>
        </p:nvSpPr>
        <p:spPr>
          <a:xfrm>
            <a:off x="658368" y="2798064"/>
            <a:ext cx="2478024" cy="822960"/>
          </a:xfrm>
          <a:prstGeom prst="rect">
            <a:avLst/>
          </a:prstGeom>
          <a:noFill/>
          <a:ln/>
        </p:spPr>
        <p:txBody>
          <a:bodyPr wrap="square" lIns="0" tIns="0" rIns="0" bIns="0" rtlCol="0" anchor="t"/>
          <a:lstStyle/>
          <a:p>
            <a:pPr indent="0" marL="0">
              <a:spcAft>
                <a:spcPts val="100"/>
              </a:spcAft>
              <a:buNone/>
            </a:pPr>
            <a:r>
              <a:rPr lang="en-US" sz="1450" b="1" dirty="0">
                <a:solidFill>
                  <a:srgbClr val="0F766E"/>
                </a:solidFill>
              </a:rPr>
              <a:t>Affiliation</a:t>
            </a:r>
            <a:pPr indent="0" marL="0">
              <a:spcAft>
                <a:spcPts val="100"/>
              </a:spcAft>
              <a:buNone/>
            </a:pPr>
            <a:r>
              <a:rPr lang="en-US" sz="1100" dirty="0">
                <a:solidFill>
                  <a:srgbClr val="64748B"/>
                </a:solidFill>
              </a:rPr>
              <a:t>  N per person</a:t>
            </a:r>
            <a:endParaRPr lang="en-US" sz="1400" dirty="0"/>
          </a:p>
          <a:p>
            <a:pPr indent="0" marL="0">
              <a:spcAft>
                <a:spcPts val="100"/>
              </a:spcAft>
              <a:buNone/>
            </a:pPr>
            <a:r>
              <a:rPr lang="en-US" sz="1150" dirty="0">
                <a:solidFill>
                  <a:schemeClr val="tx2"/>
                </a:solidFill>
              </a:rPr>
              <a:t>Employee, contractor, intern. Own source; start and end dates.</a:t>
            </a:r>
            <a:endParaRPr lang="en-US" sz="1400" dirty="0"/>
          </a:p>
        </p:txBody>
      </p:sp>
      <p:sp>
        <p:nvSpPr>
          <p:cNvPr id="12" name="Entity Account"/>
          <p:cNvSpPr/>
          <p:nvPr/>
        </p:nvSpPr>
        <p:spPr>
          <a:xfrm>
            <a:off x="3611880" y="2743200"/>
            <a:ext cx="2697480" cy="932688"/>
          </a:xfrm>
          <a:prstGeom prst="roundRect">
            <a:avLst>
              <a:gd name="adj" fmla="val 7843"/>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3" name="Entity Account text"/>
          <p:cNvSpPr txBox="1"/>
          <p:nvPr/>
        </p:nvSpPr>
        <p:spPr>
          <a:xfrm>
            <a:off x="3721608" y="2798064"/>
            <a:ext cx="2478024" cy="822960"/>
          </a:xfrm>
          <a:prstGeom prst="rect">
            <a:avLst/>
          </a:prstGeom>
          <a:noFill/>
          <a:ln/>
        </p:spPr>
        <p:txBody>
          <a:bodyPr wrap="square" lIns="0" tIns="0" rIns="0" bIns="0" rtlCol="0" anchor="t"/>
          <a:lstStyle/>
          <a:p>
            <a:pPr indent="0" marL="0">
              <a:spcAft>
                <a:spcPts val="100"/>
              </a:spcAft>
              <a:buNone/>
            </a:pPr>
            <a:r>
              <a:rPr lang="en-US" sz="1450" b="1" dirty="0">
                <a:solidFill>
                  <a:srgbClr val="0F766E"/>
                </a:solidFill>
              </a:rPr>
              <a:t>Account</a:t>
            </a:r>
            <a:pPr indent="0" marL="0">
              <a:spcAft>
                <a:spcPts val="100"/>
              </a:spcAft>
              <a:buNone/>
            </a:pPr>
            <a:r>
              <a:rPr lang="en-US" sz="1100" dirty="0">
                <a:solidFill>
                  <a:srgbClr val="64748B"/>
                </a:solidFill>
              </a:rPr>
              <a:t>  N per person</a:t>
            </a:r>
            <a:endParaRPr lang="en-US" sz="1400" dirty="0"/>
          </a:p>
          <a:p>
            <a:pPr indent="0" marL="0">
              <a:spcAft>
                <a:spcPts val="100"/>
              </a:spcAft>
              <a:buNone/>
            </a:pPr>
            <a:r>
              <a:rPr lang="en-US" sz="1150" dirty="0">
                <a:solidFill>
                  <a:schemeClr val="tx2"/>
                </a:solidFill>
              </a:rPr>
              <a:t>Entra ID, Active Directory. Always tied to the person key.</a:t>
            </a:r>
            <a:endParaRPr lang="en-US" sz="1400" dirty="0"/>
          </a:p>
        </p:txBody>
      </p:sp>
      <p:sp>
        <p:nvSpPr>
          <p:cNvPr id="14" name="Entity Assignment"/>
          <p:cNvSpPr/>
          <p:nvPr/>
        </p:nvSpPr>
        <p:spPr>
          <a:xfrm>
            <a:off x="548640" y="3886200"/>
            <a:ext cx="2697480" cy="932688"/>
          </a:xfrm>
          <a:prstGeom prst="roundRect">
            <a:avLst>
              <a:gd name="adj" fmla="val 7843"/>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5" name="Entity Assignment text"/>
          <p:cNvSpPr txBox="1"/>
          <p:nvPr/>
        </p:nvSpPr>
        <p:spPr>
          <a:xfrm>
            <a:off x="658368" y="3941064"/>
            <a:ext cx="2478024" cy="822960"/>
          </a:xfrm>
          <a:prstGeom prst="rect">
            <a:avLst/>
          </a:prstGeom>
          <a:noFill/>
          <a:ln/>
        </p:spPr>
        <p:txBody>
          <a:bodyPr wrap="square" lIns="0" tIns="0" rIns="0" bIns="0" rtlCol="0" anchor="t"/>
          <a:lstStyle/>
          <a:p>
            <a:pPr indent="0" marL="0">
              <a:spcAft>
                <a:spcPts val="100"/>
              </a:spcAft>
              <a:buNone/>
            </a:pPr>
            <a:r>
              <a:rPr lang="en-US" sz="1450" b="1" dirty="0">
                <a:solidFill>
                  <a:srgbClr val="B45309"/>
                </a:solidFill>
              </a:rPr>
              <a:t>Assignment</a:t>
            </a:r>
            <a:pPr indent="0" marL="0">
              <a:spcAft>
                <a:spcPts val="100"/>
              </a:spcAft>
              <a:buNone/>
            </a:pPr>
            <a:r>
              <a:rPr lang="en-US" sz="1100" dirty="0">
                <a:solidFill>
                  <a:srgbClr val="64748B"/>
                </a:solidFill>
              </a:rPr>
              <a:t>  N per affiliation</a:t>
            </a:r>
            <a:endParaRPr lang="en-US" sz="1400" dirty="0"/>
          </a:p>
          <a:p>
            <a:pPr indent="0" marL="0">
              <a:spcAft>
                <a:spcPts val="100"/>
              </a:spcAft>
              <a:buNone/>
            </a:pPr>
            <a:r>
              <a:rPr lang="en-US" sz="1150" dirty="0">
                <a:solidFill>
                  <a:schemeClr val="tx2"/>
                </a:solidFill>
              </a:rPr>
              <a:t>Position, status, supervisor (a Person). Effective-dated.</a:t>
            </a:r>
            <a:endParaRPr lang="en-US" sz="1400" dirty="0"/>
          </a:p>
        </p:txBody>
      </p:sp>
      <p:sp>
        <p:nvSpPr>
          <p:cNvPr id="16" name="Entity Org unit"/>
          <p:cNvSpPr/>
          <p:nvPr/>
        </p:nvSpPr>
        <p:spPr>
          <a:xfrm>
            <a:off x="3611880" y="3886200"/>
            <a:ext cx="2697480" cy="932688"/>
          </a:xfrm>
          <a:prstGeom prst="roundRect">
            <a:avLst>
              <a:gd name="adj" fmla="val 7843"/>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7" name="Entity Org unit text"/>
          <p:cNvSpPr txBox="1"/>
          <p:nvPr/>
        </p:nvSpPr>
        <p:spPr>
          <a:xfrm>
            <a:off x="3721608" y="3941064"/>
            <a:ext cx="2478024" cy="822960"/>
          </a:xfrm>
          <a:prstGeom prst="rect">
            <a:avLst/>
          </a:prstGeom>
          <a:noFill/>
          <a:ln/>
        </p:spPr>
        <p:txBody>
          <a:bodyPr wrap="square" lIns="0" tIns="0" rIns="0" bIns="0" rtlCol="0" anchor="t"/>
          <a:lstStyle/>
          <a:p>
            <a:pPr indent="0" marL="0">
              <a:spcAft>
                <a:spcPts val="100"/>
              </a:spcAft>
              <a:buNone/>
            </a:pPr>
            <a:r>
              <a:rPr lang="en-US" sz="1450" b="1" dirty="0">
                <a:solidFill>
                  <a:srgbClr val="B45309"/>
                </a:solidFill>
              </a:rPr>
              <a:t>Org unit</a:t>
            </a:r>
            <a:pPr indent="0" marL="0">
              <a:spcAft>
                <a:spcPts val="100"/>
              </a:spcAft>
              <a:buNone/>
            </a:pPr>
            <a:r>
              <a:rPr lang="en-US" sz="1100" dirty="0">
                <a:solidFill>
                  <a:srgbClr val="64748B"/>
                </a:solidFill>
              </a:rPr>
              <a:t>  hierarchy</a:t>
            </a:r>
            <a:endParaRPr lang="en-US" sz="1400" dirty="0"/>
          </a:p>
          <a:p>
            <a:pPr indent="0" marL="0">
              <a:spcAft>
                <a:spcPts val="100"/>
              </a:spcAft>
              <a:buNone/>
            </a:pPr>
            <a:r>
              <a:rPr lang="en-US" sz="1150" dirty="0">
                <a:solidFill>
                  <a:schemeClr val="tx2"/>
                </a:solidFill>
              </a:rPr>
              <a:t>Parent org unit; agency organization codes.</a:t>
            </a:r>
            <a:endParaRPr lang="en-US" sz="1400" dirty="0"/>
          </a:p>
        </p:txBody>
      </p:sp>
      <p:sp>
        <p:nvSpPr>
          <p:cNvPr id="18" name="Shape 16"/>
          <p:cNvSpPr/>
          <p:nvPr/>
        </p:nvSpPr>
        <p:spPr>
          <a:xfrm>
            <a:off x="3246120" y="2066544"/>
            <a:ext cx="365760" cy="0"/>
          </a:xfrm>
          <a:prstGeom prst="line">
            <a:avLst/>
          </a:prstGeom>
          <a:noFill/>
          <a:ln w="19050">
            <a:solidFill>
              <a:srgbClr val="64748B"/>
            </a:solidFill>
            <a:prstDash val="solid"/>
          </a:ln>
        </p:spPr>
      </p:sp>
      <p:sp>
        <p:nvSpPr>
          <p:cNvPr id="19" name="Shape 17"/>
          <p:cNvSpPr/>
          <p:nvPr/>
        </p:nvSpPr>
        <p:spPr>
          <a:xfrm>
            <a:off x="1897380" y="2532888"/>
            <a:ext cx="0" cy="210312"/>
          </a:xfrm>
          <a:prstGeom prst="line">
            <a:avLst/>
          </a:prstGeom>
          <a:noFill/>
          <a:ln w="19050">
            <a:solidFill>
              <a:srgbClr val="64748B"/>
            </a:solidFill>
            <a:prstDash val="solid"/>
          </a:ln>
        </p:spPr>
      </p:sp>
      <p:sp>
        <p:nvSpPr>
          <p:cNvPr id="20" name="Shape 18"/>
          <p:cNvSpPr/>
          <p:nvPr/>
        </p:nvSpPr>
        <p:spPr>
          <a:xfrm>
            <a:off x="3246120" y="2395728"/>
            <a:ext cx="365760" cy="484632"/>
          </a:xfrm>
          <a:prstGeom prst="line">
            <a:avLst/>
          </a:prstGeom>
          <a:noFill/>
          <a:ln w="19050">
            <a:solidFill>
              <a:srgbClr val="64748B"/>
            </a:solidFill>
            <a:prstDash val="solid"/>
          </a:ln>
        </p:spPr>
      </p:sp>
      <p:sp>
        <p:nvSpPr>
          <p:cNvPr id="21" name="Shape 19"/>
          <p:cNvSpPr/>
          <p:nvPr/>
        </p:nvSpPr>
        <p:spPr>
          <a:xfrm>
            <a:off x="1897380" y="3675888"/>
            <a:ext cx="0" cy="210312"/>
          </a:xfrm>
          <a:prstGeom prst="line">
            <a:avLst/>
          </a:prstGeom>
          <a:noFill/>
          <a:ln w="19050">
            <a:solidFill>
              <a:srgbClr val="64748B"/>
            </a:solidFill>
            <a:prstDash val="solid"/>
          </a:ln>
        </p:spPr>
      </p:sp>
      <p:sp>
        <p:nvSpPr>
          <p:cNvPr id="22" name="Shape 20"/>
          <p:cNvSpPr/>
          <p:nvPr/>
        </p:nvSpPr>
        <p:spPr>
          <a:xfrm>
            <a:off x="3246120" y="4352544"/>
            <a:ext cx="365760" cy="0"/>
          </a:xfrm>
          <a:prstGeom prst="line">
            <a:avLst/>
          </a:prstGeom>
          <a:noFill/>
          <a:ln w="19050">
            <a:solidFill>
              <a:srgbClr val="64748B"/>
            </a:solidFill>
            <a:prstDash val="solid"/>
          </a:ln>
        </p:spPr>
      </p:sp>
      <p:sp>
        <p:nvSpPr>
          <p:cNvPr id="23" name="Model cases"/>
          <p:cNvSpPr txBox="1"/>
          <p:nvPr/>
        </p:nvSpPr>
        <p:spPr>
          <a:xfrm>
            <a:off x="548640" y="4892040"/>
            <a:ext cx="5760720" cy="548640"/>
          </a:xfrm>
          <a:prstGeom prst="rect">
            <a:avLst/>
          </a:prstGeom>
          <a:noFill/>
          <a:ln/>
        </p:spPr>
        <p:txBody>
          <a:bodyPr wrap="square" lIns="0" tIns="0" rIns="0" bIns="0" rtlCol="0" anchor="t"/>
          <a:lstStyle/>
          <a:p>
            <a:pPr indent="0" marL="0">
              <a:buNone/>
            </a:pPr>
            <a:r>
              <a:rPr lang="en-US" sz="1250" b="1" dirty="0">
                <a:solidFill>
                  <a:srgbClr val="1F2A44"/>
                </a:solidFill>
              </a:rPr>
              <a:t>Proposed canonical model: </a:t>
            </a:r>
            <a:pPr indent="0" marL="0">
              <a:buNone/>
            </a:pPr>
            <a:r>
              <a:rPr lang="en-US" sz="1250" dirty="0">
                <a:solidFill>
                  <a:schemeClr val="tx2"/>
                </a:solidFill>
              </a:rPr>
              <a:t>a rehire or conversion creates a new affiliation for the same person; a reorganization adds assignment rows, and nothing is overwritten.</a:t>
            </a:r>
            <a:endParaRPr lang="en-US" sz="1250" dirty="0"/>
          </a:p>
        </p:txBody>
      </p:sp>
      <p:sp>
        <p:nvSpPr>
          <p:cNvPr id="24" name="Physical head"/>
          <p:cNvSpPr txBox="1"/>
          <p:nvPr/>
        </p:nvSpPr>
        <p:spPr>
          <a:xfrm>
            <a:off x="6537960" y="1234440"/>
            <a:ext cx="5120640" cy="274320"/>
          </a:xfrm>
          <a:prstGeom prst="rect">
            <a:avLst/>
          </a:prstGeom>
          <a:noFill/>
          <a:ln/>
        </p:spPr>
        <p:txBody>
          <a:bodyPr wrap="square" lIns="0" tIns="0" rIns="0" bIns="0" rtlCol="0" anchor="t"/>
          <a:lstStyle/>
          <a:p>
            <a:pPr indent="0" marL="0">
              <a:buNone/>
            </a:pPr>
            <a:r>
              <a:rPr lang="en-US" sz="1200" b="1" dirty="0">
                <a:solidFill>
                  <a:srgbClr val="64748B"/>
                </a:solidFill>
              </a:rPr>
              <a:t>PHYSICAL REALIZATION</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537960" y="1572768"/>
          <a:ext cx="9144000" cy="914400"/>
        </p:xfrm>
        <a:graphic>
          <a:graphicData uri="http://schemas.openxmlformats.org/drawingml/2006/table">
            <a:tbl>
              <a:tblPr/>
              <a:tblGrid>
                <a:gridCol w="1463040"/>
                <a:gridCol w="3657600"/>
              </a:tblGrid>
              <a:tr h="34747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Logical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Where it lives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6692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Person, Identifier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Agency-controlled person-key registry. The SSN stays in HR; it is not sent to directories.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680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Affiliation, Assignment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Interim: the current HR system, subject to data profiling and authority review. At go-live: Core HCM records.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In transit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SCIM 2.0 (core and enterprise user schemas) through Entra ID inbound provisioning.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Account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Entra ID: employeeId = person key; employee type, hire and leave dates, manager. AD: employeeID.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History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Effective-dated rows; retained under the applicable approved schedules and legal holds.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26" name="Standards"/>
          <p:cNvSpPr/>
          <p:nvPr/>
        </p:nvSpPr>
        <p:spPr>
          <a:xfrm>
            <a:off x="548640" y="5486400"/>
            <a:ext cx="11109960" cy="640080"/>
          </a:xfrm>
          <a:prstGeom prst="roundRect">
            <a:avLst>
              <a:gd name="adj" fmla="val 11429"/>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7" name="Standards text"/>
          <p:cNvSpPr txBox="1"/>
          <p:nvPr/>
        </p:nvSpPr>
        <p:spPr>
          <a:xfrm>
            <a:off x="777240" y="5513832"/>
            <a:ext cx="10698480" cy="585216"/>
          </a:xfrm>
          <a:prstGeom prst="rect">
            <a:avLst/>
          </a:prstGeom>
          <a:noFill/>
          <a:ln/>
        </p:spPr>
        <p:txBody>
          <a:bodyPr wrap="square" lIns="0" tIns="0" rIns="0" bIns="0" rtlCol="0" anchor="ctr"/>
          <a:lstStyle/>
          <a:p>
            <a:pPr indent="0" marL="0">
              <a:buNone/>
            </a:pPr>
            <a:r>
              <a:rPr lang="en-US" sz="1450" b="1" dirty="0">
                <a:solidFill>
                  <a:srgbClr val="1F2A44"/>
                </a:solidFill>
              </a:rPr>
              <a:t>The standard behind it: </a:t>
            </a:r>
            <a:pPr indent="0" marL="0">
              <a:buNone/>
            </a:pPr>
            <a:r>
              <a:rPr lang="en-US" sz="1450" dirty="0">
                <a:solidFill>
                  <a:schemeClr val="tx2"/>
                </a:solidFill>
              </a:rPr>
              <a:t>one name, one definition, one owner per attribute, in the data dictionary. DBAs build from the logical model, not from a vendor’s fields.</a:t>
            </a:r>
            <a:endParaRPr lang="en-US" sz="14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How: data, security and operations</a:t>
            </a:r>
            <a:endParaRPr lang="en-US" sz="3000" dirty="0"/>
          </a:p>
        </p:txBody>
      </p:sp>
      <p:sp>
        <p:nvSpPr>
          <p:cNvPr id="3" name="Tag How"/>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How col 1"/>
          <p:cNvSpPr/>
          <p:nvPr/>
        </p:nvSpPr>
        <p:spPr>
          <a:xfrm>
            <a:off x="548640" y="1280160"/>
            <a:ext cx="3611880" cy="3429000"/>
          </a:xfrm>
          <a:prstGeom prst="roundRect">
            <a:avLst>
              <a:gd name="adj" fmla="val 2133"/>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6" name="Icon FaDatabase"/>
          <p:cNvSpPr/>
          <p:nvPr/>
        </p:nvSpPr>
        <p:spPr>
          <a:xfrm>
            <a:off x="749808" y="1444752"/>
            <a:ext cx="566928" cy="566928"/>
          </a:xfrm>
          <a:prstGeom prst="ellipse">
            <a:avLst/>
          </a:prstGeom>
          <a:solidFill>
            <a:srgbClr val="0F766E"/>
          </a:solidFill>
          <a:ln w="12700">
            <a:solidFill>
              <a:srgbClr val="0F766E"/>
            </a:solidFill>
            <a:prstDash val="solid"/>
          </a:ln>
        </p:spPr>
      </p:sp>
      <p:pic>
        <p:nvPicPr>
          <p:cNvPr id="7" name="Image 0" descr="C:\Users\whale\git\uiao\inbox\SSA-Interview\build\icons\FaDatabase.png">    </p:cNvPr>
          <p:cNvPicPr>
            <a:picLocks noChangeAspect="1"/>
          </p:cNvPicPr>
          <p:nvPr/>
        </p:nvPicPr>
        <p:blipFill>
          <a:blip r:embed="rId1"/>
          <a:stretch>
            <a:fillRect/>
          </a:stretch>
        </p:blipFill>
        <p:spPr>
          <a:xfrm>
            <a:off x="885871" y="1580815"/>
            <a:ext cx="294803" cy="294803"/>
          </a:xfrm>
          <a:prstGeom prst="rect">
            <a:avLst/>
          </a:prstGeom>
        </p:spPr>
      </p:pic>
      <p:sp>
        <p:nvSpPr>
          <p:cNvPr id="8" name="How head 1"/>
          <p:cNvSpPr txBox="1"/>
          <p:nvPr/>
        </p:nvSpPr>
        <p:spPr>
          <a:xfrm>
            <a:off x="1463040" y="1444752"/>
            <a:ext cx="2560320" cy="566928"/>
          </a:xfrm>
          <a:prstGeom prst="rect">
            <a:avLst/>
          </a:prstGeom>
          <a:noFill/>
          <a:ln/>
        </p:spPr>
        <p:txBody>
          <a:bodyPr wrap="square" lIns="0" tIns="0" rIns="0" bIns="0" rtlCol="0" anchor="ctr"/>
          <a:lstStyle/>
          <a:p>
            <a:pPr indent="0" marL="0">
              <a:buNone/>
            </a:pPr>
            <a:r>
              <a:rPr lang="en-US" sz="1900" b="1" dirty="0">
                <a:solidFill>
                  <a:srgbClr val="0F766E"/>
                </a:solidFill>
                <a:latin typeface="Cambria" pitchFamily="34" charset="0"/>
                <a:ea typeface="Cambria" pitchFamily="34" charset="-122"/>
                <a:cs typeface="Cambria" pitchFamily="34" charset="-120"/>
              </a:rPr>
              <a:t>Data</a:t>
            </a:r>
            <a:endParaRPr lang="en-US" sz="1900" dirty="0"/>
          </a:p>
        </p:txBody>
      </p:sp>
      <p:sp>
        <p:nvSpPr>
          <p:cNvPr id="9" name="How text 1"/>
          <p:cNvSpPr txBox="1"/>
          <p:nvPr/>
        </p:nvSpPr>
        <p:spPr>
          <a:xfrm>
            <a:off x="777240" y="2194560"/>
            <a:ext cx="3200400" cy="24231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2"/>
                </a:solidFill>
              </a:rPr>
              <a:t>One governed crosswalk: OPM standard data to a person model</a:t>
            </a:r>
            <a:endParaRPr lang="en-US" sz="1400" dirty="0"/>
          </a:p>
          <a:p>
            <a:pPr marL="342900" indent="-342900">
              <a:spcAft>
                <a:spcPts val="600"/>
              </a:spcAft>
              <a:buSzPct val="100000"/>
              <a:buChar char="•"/>
            </a:pPr>
            <a:r>
              <a:rPr lang="en-US" sz="1500" dirty="0">
                <a:solidFill>
                  <a:schemeClr val="tx2"/>
                </a:solidFill>
              </a:rPr>
              <a:t>Keyed on an enterprise ID the agency controls</a:t>
            </a:r>
            <a:endParaRPr lang="en-US" sz="1400" dirty="0"/>
          </a:p>
          <a:p>
            <a:pPr marL="342900" indent="-342900">
              <a:spcAft>
                <a:spcPts val="600"/>
              </a:spcAft>
              <a:buSzPct val="100000"/>
              <a:buChar char="•"/>
            </a:pPr>
            <a:r>
              <a:rPr lang="en-US" sz="1500" dirty="0">
                <a:solidFill>
                  <a:schemeClr val="tx2"/>
                </a:solidFill>
              </a:rPr>
              <a:t>Validated personnel-action mappings initiate lifecycle events</a:t>
            </a:r>
            <a:endParaRPr lang="en-US" sz="1400" dirty="0"/>
          </a:p>
          <a:p>
            <a:pPr marL="342900" indent="-342900">
              <a:spcAft>
                <a:spcPts val="600"/>
              </a:spcAft>
              <a:buSzPct val="100000"/>
              <a:buChar char="•"/>
            </a:pPr>
            <a:r>
              <a:rPr lang="en-US" sz="1500" dirty="0">
                <a:solidFill>
                  <a:schemeClr val="tx2"/>
                </a:solidFill>
              </a:rPr>
              <a:t>Contractors: authority decision first, same model</a:t>
            </a:r>
            <a:endParaRPr lang="en-US" sz="1400" dirty="0"/>
          </a:p>
        </p:txBody>
      </p:sp>
      <p:sp>
        <p:nvSpPr>
          <p:cNvPr id="10" name="How col 2"/>
          <p:cNvSpPr/>
          <p:nvPr/>
        </p:nvSpPr>
        <p:spPr>
          <a:xfrm>
            <a:off x="4297680" y="1280160"/>
            <a:ext cx="3611880" cy="3429000"/>
          </a:xfrm>
          <a:prstGeom prst="roundRect">
            <a:avLst>
              <a:gd name="adj" fmla="val 2133"/>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1" name="Icon FaLock"/>
          <p:cNvSpPr/>
          <p:nvPr/>
        </p:nvSpPr>
        <p:spPr>
          <a:xfrm>
            <a:off x="4498848" y="1444752"/>
            <a:ext cx="566928" cy="566928"/>
          </a:xfrm>
          <a:prstGeom prst="ellipse">
            <a:avLst/>
          </a:prstGeom>
          <a:solidFill>
            <a:srgbClr val="B91C1C"/>
          </a:solidFill>
          <a:ln w="12700">
            <a:solidFill>
              <a:srgbClr val="B91C1C"/>
            </a:solidFill>
            <a:prstDash val="solid"/>
          </a:ln>
        </p:spPr>
      </p:sp>
      <p:pic>
        <p:nvPicPr>
          <p:cNvPr id="12" name="Image 1" descr="C:\Users\whale\git\uiao\inbox\SSA-Interview\build\icons\FaLock.png">    </p:cNvPr>
          <p:cNvPicPr>
            <a:picLocks noChangeAspect="1"/>
          </p:cNvPicPr>
          <p:nvPr/>
        </p:nvPicPr>
        <p:blipFill>
          <a:blip r:embed="rId2"/>
          <a:stretch>
            <a:fillRect/>
          </a:stretch>
        </p:blipFill>
        <p:spPr>
          <a:xfrm>
            <a:off x="4634911" y="1580815"/>
            <a:ext cx="294803" cy="294803"/>
          </a:xfrm>
          <a:prstGeom prst="rect">
            <a:avLst/>
          </a:prstGeom>
        </p:spPr>
      </p:pic>
      <p:sp>
        <p:nvSpPr>
          <p:cNvPr id="13" name="How head 2"/>
          <p:cNvSpPr txBox="1"/>
          <p:nvPr/>
        </p:nvSpPr>
        <p:spPr>
          <a:xfrm>
            <a:off x="5212080" y="1444752"/>
            <a:ext cx="2560320" cy="566928"/>
          </a:xfrm>
          <a:prstGeom prst="rect">
            <a:avLst/>
          </a:prstGeom>
          <a:noFill/>
          <a:ln/>
        </p:spPr>
        <p:txBody>
          <a:bodyPr wrap="square" lIns="0" tIns="0" rIns="0" bIns="0" rtlCol="0" anchor="ctr"/>
          <a:lstStyle/>
          <a:p>
            <a:pPr indent="0" marL="0">
              <a:buNone/>
            </a:pPr>
            <a:r>
              <a:rPr lang="en-US" sz="1900" b="1" dirty="0">
                <a:solidFill>
                  <a:srgbClr val="B91C1C"/>
                </a:solidFill>
                <a:latin typeface="Cambria" pitchFamily="34" charset="0"/>
                <a:ea typeface="Cambria" pitchFamily="34" charset="-122"/>
                <a:cs typeface="Cambria" pitchFamily="34" charset="-120"/>
              </a:rPr>
              <a:t>Security</a:t>
            </a:r>
            <a:endParaRPr lang="en-US" sz="1900" dirty="0"/>
          </a:p>
        </p:txBody>
      </p:sp>
      <p:sp>
        <p:nvSpPr>
          <p:cNvPr id="14" name="How text 2"/>
          <p:cNvSpPr txBox="1"/>
          <p:nvPr/>
        </p:nvSpPr>
        <p:spPr>
          <a:xfrm>
            <a:off x="4526280" y="2194560"/>
            <a:ext cx="3200400" cy="24231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2"/>
                </a:solidFill>
              </a:rPr>
              <a:t>Leavers: block first, within the approved threshold; then reconcile downstream</a:t>
            </a:r>
            <a:endParaRPr lang="en-US" sz="1400" dirty="0"/>
          </a:p>
          <a:p>
            <a:pPr marL="342900" indent="-342900">
              <a:spcAft>
                <a:spcPts val="600"/>
              </a:spcAft>
              <a:buSzPct val="100000"/>
              <a:buChar char="•"/>
            </a:pPr>
            <a:r>
              <a:rPr lang="en-US" sz="1500" dirty="0">
                <a:solidFill>
                  <a:schemeClr val="tx2"/>
                </a:solidFill>
              </a:rPr>
              <a:t>Least privilege; managed identities, secretless where supported</a:t>
            </a:r>
            <a:endParaRPr lang="en-US" sz="1400" dirty="0"/>
          </a:p>
          <a:p>
            <a:pPr marL="342900" indent="-342900">
              <a:spcAft>
                <a:spcPts val="600"/>
              </a:spcAft>
              <a:buSzPct val="100000"/>
              <a:buChar char="•"/>
            </a:pPr>
            <a:r>
              <a:rPr lang="en-US" sz="1500" dirty="0">
                <a:solidFill>
                  <a:schemeClr val="tx2"/>
                </a:solidFill>
              </a:rPr>
              <a:t>Failures quarantined with an owner — nothing auto-resolves</a:t>
            </a:r>
            <a:endParaRPr lang="en-US" sz="1400" dirty="0"/>
          </a:p>
        </p:txBody>
      </p:sp>
      <p:sp>
        <p:nvSpPr>
          <p:cNvPr id="15" name="How col 3"/>
          <p:cNvSpPr/>
          <p:nvPr/>
        </p:nvSpPr>
        <p:spPr>
          <a:xfrm>
            <a:off x="8046720" y="1280160"/>
            <a:ext cx="3611880" cy="3429000"/>
          </a:xfrm>
          <a:prstGeom prst="roundRect">
            <a:avLst>
              <a:gd name="adj" fmla="val 2133"/>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6" name="Icon FaRoute"/>
          <p:cNvSpPr/>
          <p:nvPr/>
        </p:nvSpPr>
        <p:spPr>
          <a:xfrm>
            <a:off x="8247888" y="1444752"/>
            <a:ext cx="566928" cy="566928"/>
          </a:xfrm>
          <a:prstGeom prst="ellipse">
            <a:avLst/>
          </a:prstGeom>
          <a:solidFill>
            <a:srgbClr val="B45309"/>
          </a:solidFill>
          <a:ln w="12700">
            <a:solidFill>
              <a:srgbClr val="B45309"/>
            </a:solidFill>
            <a:prstDash val="solid"/>
          </a:ln>
        </p:spPr>
      </p:sp>
      <p:pic>
        <p:nvPicPr>
          <p:cNvPr id="17" name="Image 2" descr="C:\Users\whale\git\uiao\inbox\SSA-Interview\build\icons\FaRoute.png">    </p:cNvPr>
          <p:cNvPicPr>
            <a:picLocks noChangeAspect="1"/>
          </p:cNvPicPr>
          <p:nvPr/>
        </p:nvPicPr>
        <p:blipFill>
          <a:blip r:embed="rId3"/>
          <a:stretch>
            <a:fillRect/>
          </a:stretch>
        </p:blipFill>
        <p:spPr>
          <a:xfrm>
            <a:off x="8383951" y="1580815"/>
            <a:ext cx="294803" cy="294803"/>
          </a:xfrm>
          <a:prstGeom prst="rect">
            <a:avLst/>
          </a:prstGeom>
        </p:spPr>
      </p:pic>
      <p:sp>
        <p:nvSpPr>
          <p:cNvPr id="18" name="How head 3"/>
          <p:cNvSpPr txBox="1"/>
          <p:nvPr/>
        </p:nvSpPr>
        <p:spPr>
          <a:xfrm>
            <a:off x="8961120" y="1444752"/>
            <a:ext cx="2560320" cy="566928"/>
          </a:xfrm>
          <a:prstGeom prst="rect">
            <a:avLst/>
          </a:prstGeom>
          <a:noFill/>
          <a:ln/>
        </p:spPr>
        <p:txBody>
          <a:bodyPr wrap="square" lIns="0" tIns="0" rIns="0" bIns="0" rtlCol="0" anchor="ctr"/>
          <a:lstStyle/>
          <a:p>
            <a:pPr indent="0" marL="0">
              <a:buNone/>
            </a:pPr>
            <a:r>
              <a:rPr lang="en-US" sz="1900" b="1" dirty="0">
                <a:solidFill>
                  <a:srgbClr val="B45309"/>
                </a:solidFill>
                <a:latin typeface="Cambria" pitchFamily="34" charset="0"/>
                <a:ea typeface="Cambria" pitchFamily="34" charset="-122"/>
                <a:cs typeface="Cambria" pitchFamily="34" charset="-120"/>
              </a:rPr>
              <a:t>Operations</a:t>
            </a:r>
            <a:endParaRPr lang="en-US" sz="1900" dirty="0"/>
          </a:p>
        </p:txBody>
      </p:sp>
      <p:sp>
        <p:nvSpPr>
          <p:cNvPr id="19" name="How text 3"/>
          <p:cNvSpPr txBox="1"/>
          <p:nvPr/>
        </p:nvSpPr>
        <p:spPr>
          <a:xfrm>
            <a:off x="8275320" y="2194560"/>
            <a:ext cx="3200400" cy="24231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2"/>
                </a:solidFill>
              </a:rPr>
              <a:t>Start from today's HR data, after profiling; switch at Core HCM</a:t>
            </a:r>
            <a:endParaRPr lang="en-US" sz="1400" dirty="0"/>
          </a:p>
          <a:p>
            <a:pPr marL="342900" indent="-342900">
              <a:spcAft>
                <a:spcPts val="600"/>
              </a:spcAft>
              <a:buSzPct val="100000"/>
              <a:buChar char="•"/>
            </a:pPr>
            <a:r>
              <a:rPr lang="en-US" sz="1500" dirty="0">
                <a:solidFill>
                  <a:schemeClr val="tx2"/>
                </a:solidFill>
              </a:rPr>
              <a:t>Shadow mode first: compare HR with the directories</a:t>
            </a:r>
            <a:endParaRPr lang="en-US" sz="1400" dirty="0"/>
          </a:p>
          <a:p>
            <a:pPr marL="342900" indent="-342900">
              <a:spcAft>
                <a:spcPts val="600"/>
              </a:spcAft>
              <a:buSzPct val="100000"/>
              <a:buChar char="•"/>
            </a:pPr>
            <a:r>
              <a:rPr lang="en-US" sz="1500" dirty="0">
                <a:solidFill>
                  <a:schemeClr val="tx2"/>
                </a:solidFill>
              </a:rPr>
              <a:t>Cut over one population at a time</a:t>
            </a:r>
            <a:endParaRPr lang="en-US" sz="1400" dirty="0"/>
          </a:p>
          <a:p>
            <a:pPr marL="342900" indent="-342900">
              <a:spcAft>
                <a:spcPts val="600"/>
              </a:spcAft>
              <a:buSzPct val="100000"/>
              <a:buChar char="•"/>
            </a:pPr>
            <a:r>
              <a:rPr lang="en-US" sz="1500" dirty="0">
                <a:solidFill>
                  <a:schemeClr val="tx2"/>
                </a:solidFill>
              </a:rPr>
              <a:t>Close the ticket path only when the data proves it</a:t>
            </a:r>
            <a:endParaRPr lang="en-US" sz="1400" dirty="0"/>
          </a:p>
        </p:txBody>
      </p:sp>
      <p:sp>
        <p:nvSpPr>
          <p:cNvPr id="20" name="Stack label"/>
          <p:cNvSpPr txBox="1"/>
          <p:nvPr/>
        </p:nvSpPr>
        <p:spPr>
          <a:xfrm>
            <a:off x="548640" y="5120640"/>
            <a:ext cx="1463040" cy="548640"/>
          </a:xfrm>
          <a:prstGeom prst="rect">
            <a:avLst/>
          </a:prstGeom>
          <a:noFill/>
          <a:ln/>
        </p:spPr>
        <p:txBody>
          <a:bodyPr wrap="square" lIns="0" tIns="0" rIns="0" bIns="0" rtlCol="0" anchor="ctr"/>
          <a:lstStyle/>
          <a:p>
            <a:pPr indent="0" marL="0">
              <a:buNone/>
            </a:pPr>
            <a:r>
              <a:rPr lang="en-US" sz="1100" b="1" dirty="0">
                <a:solidFill>
                  <a:srgbClr val="64748B"/>
                </a:solidFill>
              </a:rPr>
              <a:t>EXAMPLE STACK</a:t>
            </a:r>
            <a:endParaRPr lang="en-US" sz="1100" dirty="0"/>
          </a:p>
        </p:txBody>
      </p:sp>
      <p:sp>
        <p:nvSpPr>
          <p:cNvPr id="21" name="Stack 1"/>
          <p:cNvSpPr/>
          <p:nvPr/>
        </p:nvSpPr>
        <p:spPr>
          <a:xfrm>
            <a:off x="2011680" y="5166360"/>
            <a:ext cx="2148840" cy="502920"/>
          </a:xfrm>
          <a:prstGeom prst="roundRect">
            <a:avLst>
              <a:gd name="adj" fmla="val 14545"/>
            </a:avLst>
          </a:prstGeom>
          <a:solidFill>
            <a:srgbClr val="FFFFFF"/>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22" name="Stack 1 text"/>
          <p:cNvSpPr txBox="1"/>
          <p:nvPr/>
        </p:nvSpPr>
        <p:spPr>
          <a:xfrm>
            <a:off x="2084832" y="5166360"/>
            <a:ext cx="2002536" cy="502920"/>
          </a:xfrm>
          <a:prstGeom prst="rect">
            <a:avLst/>
          </a:prstGeom>
          <a:noFill/>
          <a:ln/>
        </p:spPr>
        <p:txBody>
          <a:bodyPr wrap="square" lIns="0" tIns="0" rIns="0" bIns="0" rtlCol="0" anchor="ctr"/>
          <a:lstStyle/>
          <a:p>
            <a:pPr algn="ctr" indent="0" marL="0">
              <a:buNone/>
            </a:pPr>
            <a:r>
              <a:rPr lang="en-US" sz="1200" dirty="0">
                <a:solidFill>
                  <a:srgbClr val="334155"/>
                </a:solidFill>
              </a:rPr>
              <a:t>Oracle Core HCM</a:t>
            </a:r>
            <a:endParaRPr lang="en-US" sz="1200" dirty="0"/>
          </a:p>
        </p:txBody>
      </p:sp>
      <p:sp>
        <p:nvSpPr>
          <p:cNvPr id="23" name="Shape 18"/>
          <p:cNvSpPr/>
          <p:nvPr/>
        </p:nvSpPr>
        <p:spPr>
          <a:xfrm>
            <a:off x="4187952" y="5417820"/>
            <a:ext cx="237744" cy="0"/>
          </a:xfrm>
          <a:prstGeom prst="line">
            <a:avLst/>
          </a:prstGeom>
          <a:noFill/>
          <a:ln w="22225">
            <a:solidFill>
              <a:srgbClr val="64748B"/>
            </a:solidFill>
            <a:prstDash val="solid"/>
            <a:tailEnd type="triangle"/>
          </a:ln>
        </p:spPr>
      </p:sp>
      <p:sp>
        <p:nvSpPr>
          <p:cNvPr id="24" name="Stack 2"/>
          <p:cNvSpPr/>
          <p:nvPr/>
        </p:nvSpPr>
        <p:spPr>
          <a:xfrm>
            <a:off x="4453128" y="5166360"/>
            <a:ext cx="2148840" cy="502920"/>
          </a:xfrm>
          <a:prstGeom prst="roundRect">
            <a:avLst>
              <a:gd name="adj" fmla="val 14545"/>
            </a:avLst>
          </a:prstGeom>
          <a:solidFill>
            <a:srgbClr val="FFFFFF"/>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25" name="Stack 2 text"/>
          <p:cNvSpPr txBox="1"/>
          <p:nvPr/>
        </p:nvSpPr>
        <p:spPr>
          <a:xfrm>
            <a:off x="4526280" y="5166360"/>
            <a:ext cx="2002536" cy="502920"/>
          </a:xfrm>
          <a:prstGeom prst="rect">
            <a:avLst/>
          </a:prstGeom>
          <a:noFill/>
          <a:ln/>
        </p:spPr>
        <p:txBody>
          <a:bodyPr wrap="square" lIns="0" tIns="0" rIns="0" bIns="0" rtlCol="0" anchor="ctr"/>
          <a:lstStyle/>
          <a:p>
            <a:pPr algn="ctr" indent="0" marL="0">
              <a:buNone/>
            </a:pPr>
            <a:r>
              <a:rPr lang="en-US" sz="1200" dirty="0">
                <a:solidFill>
                  <a:srgbClr val="334155"/>
                </a:solidFill>
              </a:rPr>
              <a:t>Entra ID HR-driven provisioning</a:t>
            </a:r>
            <a:endParaRPr lang="en-US" sz="1200" dirty="0"/>
          </a:p>
        </p:txBody>
      </p:sp>
      <p:sp>
        <p:nvSpPr>
          <p:cNvPr id="26" name="Shape 21"/>
          <p:cNvSpPr/>
          <p:nvPr/>
        </p:nvSpPr>
        <p:spPr>
          <a:xfrm>
            <a:off x="6629400" y="5417820"/>
            <a:ext cx="237744" cy="0"/>
          </a:xfrm>
          <a:prstGeom prst="line">
            <a:avLst/>
          </a:prstGeom>
          <a:noFill/>
          <a:ln w="22225">
            <a:solidFill>
              <a:srgbClr val="64748B"/>
            </a:solidFill>
            <a:prstDash val="solid"/>
            <a:tailEnd type="triangle"/>
          </a:ln>
        </p:spPr>
      </p:sp>
      <p:sp>
        <p:nvSpPr>
          <p:cNvPr id="27" name="Stack 3"/>
          <p:cNvSpPr/>
          <p:nvPr/>
        </p:nvSpPr>
        <p:spPr>
          <a:xfrm>
            <a:off x="6894576" y="5166360"/>
            <a:ext cx="2148840" cy="502920"/>
          </a:xfrm>
          <a:prstGeom prst="roundRect">
            <a:avLst>
              <a:gd name="adj" fmla="val 14545"/>
            </a:avLst>
          </a:prstGeom>
          <a:solidFill>
            <a:srgbClr val="FFFFFF"/>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28" name="Stack 3 text"/>
          <p:cNvSpPr txBox="1"/>
          <p:nvPr/>
        </p:nvSpPr>
        <p:spPr>
          <a:xfrm>
            <a:off x="6967728" y="5166360"/>
            <a:ext cx="2002536" cy="502920"/>
          </a:xfrm>
          <a:prstGeom prst="rect">
            <a:avLst/>
          </a:prstGeom>
          <a:noFill/>
          <a:ln/>
        </p:spPr>
        <p:txBody>
          <a:bodyPr wrap="square" lIns="0" tIns="0" rIns="0" bIns="0" rtlCol="0" anchor="ctr"/>
          <a:lstStyle/>
          <a:p>
            <a:pPr algn="ctr" indent="0" marL="0">
              <a:buNone/>
            </a:pPr>
            <a:r>
              <a:rPr lang="en-US" sz="1200" dirty="0">
                <a:solidFill>
                  <a:srgbClr val="334155"/>
                </a:solidFill>
              </a:rPr>
              <a:t>Entra ID and Active Directory</a:t>
            </a:r>
            <a:endParaRPr lang="en-US" sz="1200" dirty="0"/>
          </a:p>
        </p:txBody>
      </p:sp>
      <p:sp>
        <p:nvSpPr>
          <p:cNvPr id="29" name="Shape 24"/>
          <p:cNvSpPr/>
          <p:nvPr/>
        </p:nvSpPr>
        <p:spPr>
          <a:xfrm>
            <a:off x="9070848" y="5417820"/>
            <a:ext cx="237744" cy="0"/>
          </a:xfrm>
          <a:prstGeom prst="line">
            <a:avLst/>
          </a:prstGeom>
          <a:noFill/>
          <a:ln w="22225">
            <a:solidFill>
              <a:srgbClr val="64748B"/>
            </a:solidFill>
            <a:prstDash val="solid"/>
            <a:tailEnd type="triangle"/>
          </a:ln>
        </p:spPr>
      </p:sp>
      <p:sp>
        <p:nvSpPr>
          <p:cNvPr id="30" name="Stack 4"/>
          <p:cNvSpPr/>
          <p:nvPr/>
        </p:nvSpPr>
        <p:spPr>
          <a:xfrm>
            <a:off x="9336024" y="5166360"/>
            <a:ext cx="2148840" cy="502920"/>
          </a:xfrm>
          <a:prstGeom prst="roundRect">
            <a:avLst>
              <a:gd name="adj" fmla="val 14545"/>
            </a:avLst>
          </a:prstGeom>
          <a:solidFill>
            <a:srgbClr val="FFFFFF"/>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31" name="Stack 4 text"/>
          <p:cNvSpPr txBox="1"/>
          <p:nvPr/>
        </p:nvSpPr>
        <p:spPr>
          <a:xfrm>
            <a:off x="9409176" y="5166360"/>
            <a:ext cx="2002536" cy="502920"/>
          </a:xfrm>
          <a:prstGeom prst="rect">
            <a:avLst/>
          </a:prstGeom>
          <a:noFill/>
          <a:ln/>
        </p:spPr>
        <p:txBody>
          <a:bodyPr wrap="square" lIns="0" tIns="0" rIns="0" bIns="0" rtlCol="0" anchor="ctr"/>
          <a:lstStyle/>
          <a:p>
            <a:pPr algn="ctr" indent="0" marL="0">
              <a:buNone/>
            </a:pPr>
            <a:r>
              <a:rPr lang="en-US" sz="1200" dirty="0">
                <a:solidFill>
                  <a:srgbClr val="334155"/>
                </a:solidFill>
              </a:rPr>
              <a:t>Access packages, lifecycle workflows, PIV</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How we’ll know it works — and what I need</a:t>
            </a:r>
            <a:endParaRPr lang="en-US" sz="3000" dirty="0"/>
          </a:p>
        </p:txBody>
      </p:sp>
      <p:sp>
        <p:nvSpPr>
          <p:cNvPr id="3" name="Tag How"/>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Measures head"/>
          <p:cNvSpPr txBox="1"/>
          <p:nvPr/>
        </p:nvSpPr>
        <p:spPr>
          <a:xfrm>
            <a:off x="548640" y="1280160"/>
            <a:ext cx="6035040" cy="320040"/>
          </a:xfrm>
          <a:prstGeom prst="rect">
            <a:avLst/>
          </a:prstGeom>
          <a:noFill/>
          <a:ln/>
        </p:spPr>
        <p:txBody>
          <a:bodyPr wrap="square" lIns="0" tIns="0" rIns="0" bIns="0" rtlCol="0" anchor="t"/>
          <a:lstStyle/>
          <a:p>
            <a:pPr indent="0" marL="0">
              <a:buNone/>
            </a:pPr>
            <a:r>
              <a:rPr lang="en-US" sz="1200" b="1" dirty="0">
                <a:solidFill>
                  <a:srgbClr val="64748B"/>
                </a:solidFill>
              </a:rPr>
              <a:t>MEASURES, BASELINED IN THE FIRST PHASE</a:t>
            </a:r>
            <a:endParaRPr lang="en-US" sz="1200" dirty="0"/>
          </a:p>
        </p:txBody>
      </p:sp>
      <p:sp>
        <p:nvSpPr>
          <p:cNvPr id="6" name="Measure 1"/>
          <p:cNvSpPr/>
          <p:nvPr/>
        </p:nvSpPr>
        <p:spPr>
          <a:xfrm>
            <a:off x="548640" y="1645920"/>
            <a:ext cx="6035040" cy="658368"/>
          </a:xfrm>
          <a:prstGeom prst="roundRect">
            <a:avLst>
              <a:gd name="adj" fmla="val 11111"/>
            </a:avLst>
          </a:prstGeom>
          <a:solidFill>
            <a:srgbClr val="E9EEF4"/>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7" name="Icon FaUserXmark"/>
          <p:cNvSpPr/>
          <p:nvPr/>
        </p:nvSpPr>
        <p:spPr>
          <a:xfrm>
            <a:off x="685800" y="1737360"/>
            <a:ext cx="475488" cy="475488"/>
          </a:xfrm>
          <a:prstGeom prst="ellipse">
            <a:avLst/>
          </a:prstGeom>
          <a:solidFill>
            <a:srgbClr val="B91C1C"/>
          </a:solidFill>
          <a:ln w="12700">
            <a:solidFill>
              <a:srgbClr val="B91C1C"/>
            </a:solidFill>
            <a:prstDash val="solid"/>
          </a:ln>
        </p:spPr>
      </p:sp>
      <p:pic>
        <p:nvPicPr>
          <p:cNvPr id="8" name="Image 0" descr="C:\Users\whale\git\uiao\inbox\SSA-Interview\build\icons\FaUserXmark.png">    </p:cNvPr>
          <p:cNvPicPr>
            <a:picLocks noChangeAspect="1"/>
          </p:cNvPicPr>
          <p:nvPr/>
        </p:nvPicPr>
        <p:blipFill>
          <a:blip r:embed="rId1"/>
          <a:stretch>
            <a:fillRect/>
          </a:stretch>
        </p:blipFill>
        <p:spPr>
          <a:xfrm>
            <a:off x="799917" y="1851477"/>
            <a:ext cx="247254" cy="247254"/>
          </a:xfrm>
          <a:prstGeom prst="rect">
            <a:avLst/>
          </a:prstGeom>
        </p:spPr>
      </p:pic>
      <p:sp>
        <p:nvSpPr>
          <p:cNvPr id="9" name="Measure 1 text"/>
          <p:cNvSpPr txBox="1"/>
          <p:nvPr/>
        </p:nvSpPr>
        <p:spPr>
          <a:xfrm>
            <a:off x="1325880" y="1673352"/>
            <a:ext cx="5120640" cy="603504"/>
          </a:xfrm>
          <a:prstGeom prst="rect">
            <a:avLst/>
          </a:prstGeom>
          <a:noFill/>
          <a:ln/>
        </p:spPr>
        <p:txBody>
          <a:bodyPr wrap="square" lIns="0" tIns="0" rIns="0" bIns="0" rtlCol="0" anchor="ctr"/>
          <a:lstStyle/>
          <a:p>
            <a:pPr indent="0" marL="0">
              <a:buNone/>
            </a:pPr>
            <a:r>
              <a:rPr lang="en-US" sz="1550" b="1" dirty="0">
                <a:solidFill>
                  <a:srgbClr val="B91C1C"/>
                </a:solidFill>
              </a:rPr>
              <a:t>Separation to blocked access</a:t>
            </a:r>
            <a:endParaRPr lang="en-US" sz="1400" dirty="0"/>
          </a:p>
          <a:p>
            <a:pPr indent="0" marL="0">
              <a:buNone/>
            </a:pPr>
            <a:r>
              <a:rPr lang="en-US" sz="1350" dirty="0">
                <a:solidFill>
                  <a:schemeClr val="tx2"/>
                </a:solidFill>
              </a:rPr>
              <a:t>Agency-approved threshold, measured in hours</a:t>
            </a:r>
            <a:endParaRPr lang="en-US" sz="1400" dirty="0"/>
          </a:p>
        </p:txBody>
      </p:sp>
      <p:sp>
        <p:nvSpPr>
          <p:cNvPr id="10" name="Measure 2"/>
          <p:cNvSpPr/>
          <p:nvPr/>
        </p:nvSpPr>
        <p:spPr>
          <a:xfrm>
            <a:off x="548640" y="2377440"/>
            <a:ext cx="6035040" cy="658368"/>
          </a:xfrm>
          <a:prstGeom prst="roundRect">
            <a:avLst>
              <a:gd name="adj" fmla="val 11111"/>
            </a:avLst>
          </a:prstGeom>
          <a:solidFill>
            <a:srgbClr val="FFFFFF"/>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11" name="Icon FaIdCard"/>
          <p:cNvSpPr/>
          <p:nvPr/>
        </p:nvSpPr>
        <p:spPr>
          <a:xfrm>
            <a:off x="685800" y="2468880"/>
            <a:ext cx="475488" cy="475488"/>
          </a:xfrm>
          <a:prstGeom prst="ellipse">
            <a:avLst/>
          </a:prstGeom>
          <a:solidFill>
            <a:srgbClr val="B91C1C"/>
          </a:solidFill>
          <a:ln w="12700">
            <a:solidFill>
              <a:srgbClr val="B91C1C"/>
            </a:solidFill>
            <a:prstDash val="solid"/>
          </a:ln>
        </p:spPr>
      </p:sp>
      <p:pic>
        <p:nvPicPr>
          <p:cNvPr id="12" name="Image 1" descr="C:\Users\whale\git\uiao\inbox\SSA-Interview\build\icons\FaIdCard.png">    </p:cNvPr>
          <p:cNvPicPr>
            <a:picLocks noChangeAspect="1"/>
          </p:cNvPicPr>
          <p:nvPr/>
        </p:nvPicPr>
        <p:blipFill>
          <a:blip r:embed="rId2"/>
          <a:stretch>
            <a:fillRect/>
          </a:stretch>
        </p:blipFill>
        <p:spPr>
          <a:xfrm>
            <a:off x="799917" y="2582997"/>
            <a:ext cx="247254" cy="247254"/>
          </a:xfrm>
          <a:prstGeom prst="rect">
            <a:avLst/>
          </a:prstGeom>
        </p:spPr>
      </p:pic>
      <p:sp>
        <p:nvSpPr>
          <p:cNvPr id="13" name="Measure 2 text"/>
          <p:cNvSpPr txBox="1"/>
          <p:nvPr/>
        </p:nvSpPr>
        <p:spPr>
          <a:xfrm>
            <a:off x="1325880" y="2404872"/>
            <a:ext cx="5120640" cy="603504"/>
          </a:xfrm>
          <a:prstGeom prst="rect">
            <a:avLst/>
          </a:prstGeom>
          <a:noFill/>
          <a:ln/>
        </p:spPr>
        <p:txBody>
          <a:bodyPr wrap="square" lIns="0" tIns="0" rIns="0" bIns="0" rtlCol="0" anchor="ctr"/>
          <a:lstStyle/>
          <a:p>
            <a:pPr indent="0" marL="0">
              <a:buNone/>
            </a:pPr>
            <a:r>
              <a:rPr lang="en-US" sz="1550" b="1" dirty="0">
                <a:solidFill>
                  <a:srgbClr val="B91C1C"/>
                </a:solidFill>
              </a:rPr>
              <a:t>Credential and access revocation</a:t>
            </a:r>
            <a:endParaRPr lang="en-US" sz="1400" dirty="0"/>
          </a:p>
          <a:p>
            <a:pPr indent="0" marL="0">
              <a:buNone/>
            </a:pPr>
            <a:r>
              <a:rPr lang="en-US" sz="1350" dirty="0">
                <a:solidFill>
                  <a:schemeClr val="tx2"/>
                </a:solidFill>
              </a:rPr>
              <a:t>Reconciled to verified completion</a:t>
            </a:r>
            <a:endParaRPr lang="en-US" sz="1400" dirty="0"/>
          </a:p>
        </p:txBody>
      </p:sp>
      <p:sp>
        <p:nvSpPr>
          <p:cNvPr id="14" name="Measure 3"/>
          <p:cNvSpPr/>
          <p:nvPr/>
        </p:nvSpPr>
        <p:spPr>
          <a:xfrm>
            <a:off x="548640" y="3108960"/>
            <a:ext cx="6035040" cy="658368"/>
          </a:xfrm>
          <a:prstGeom prst="roundRect">
            <a:avLst>
              <a:gd name="adj" fmla="val 11111"/>
            </a:avLst>
          </a:prstGeom>
          <a:solidFill>
            <a:srgbClr val="E9EEF4"/>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15" name="Icon FaFingerprint"/>
          <p:cNvSpPr/>
          <p:nvPr/>
        </p:nvSpPr>
        <p:spPr>
          <a:xfrm>
            <a:off x="685800" y="3200400"/>
            <a:ext cx="475488" cy="475488"/>
          </a:xfrm>
          <a:prstGeom prst="ellipse">
            <a:avLst/>
          </a:prstGeom>
          <a:solidFill>
            <a:srgbClr val="1F2A44"/>
          </a:solidFill>
          <a:ln w="12700">
            <a:solidFill>
              <a:srgbClr val="1F2A44"/>
            </a:solidFill>
            <a:prstDash val="solid"/>
          </a:ln>
        </p:spPr>
      </p:sp>
      <p:pic>
        <p:nvPicPr>
          <p:cNvPr id="16" name="Image 2" descr="C:\Users\whale\git\uiao\inbox\SSA-Interview\build\icons\FaFingerprint.png">    </p:cNvPr>
          <p:cNvPicPr>
            <a:picLocks noChangeAspect="1"/>
          </p:cNvPicPr>
          <p:nvPr/>
        </p:nvPicPr>
        <p:blipFill>
          <a:blip r:embed="rId3"/>
          <a:stretch>
            <a:fillRect/>
          </a:stretch>
        </p:blipFill>
        <p:spPr>
          <a:xfrm>
            <a:off x="799917" y="3314517"/>
            <a:ext cx="247254" cy="247254"/>
          </a:xfrm>
          <a:prstGeom prst="rect">
            <a:avLst/>
          </a:prstGeom>
        </p:spPr>
      </p:pic>
      <p:sp>
        <p:nvSpPr>
          <p:cNvPr id="17" name="Measure 3 text"/>
          <p:cNvSpPr txBox="1"/>
          <p:nvPr/>
        </p:nvSpPr>
        <p:spPr>
          <a:xfrm>
            <a:off x="1325880" y="3136392"/>
            <a:ext cx="5120640" cy="603504"/>
          </a:xfrm>
          <a:prstGeom prst="rect">
            <a:avLst/>
          </a:prstGeom>
          <a:noFill/>
          <a:ln/>
        </p:spPr>
        <p:txBody>
          <a:bodyPr wrap="square" lIns="0" tIns="0" rIns="0" bIns="0" rtlCol="0" anchor="ctr"/>
          <a:lstStyle/>
          <a:p>
            <a:pPr indent="0" marL="0">
              <a:buNone/>
            </a:pPr>
            <a:r>
              <a:rPr lang="en-US" sz="1550" b="1" dirty="0">
                <a:solidFill>
                  <a:srgbClr val="1F2A44"/>
                </a:solidFill>
              </a:rPr>
              <a:t>Accounts tied to a person</a:t>
            </a:r>
            <a:endParaRPr lang="en-US" sz="1400" dirty="0"/>
          </a:p>
          <a:p>
            <a:pPr indent="0" marL="0">
              <a:buNone/>
            </a:pPr>
            <a:r>
              <a:rPr lang="en-US" sz="1350" dirty="0">
                <a:solidFill>
                  <a:schemeClr val="tx2"/>
                </a:solidFill>
              </a:rPr>
              <a:t>Orphaned accounts trend to zero</a:t>
            </a:r>
            <a:endParaRPr lang="en-US" sz="1400" dirty="0"/>
          </a:p>
        </p:txBody>
      </p:sp>
      <p:sp>
        <p:nvSpPr>
          <p:cNvPr id="18" name="Measure 4"/>
          <p:cNvSpPr/>
          <p:nvPr/>
        </p:nvSpPr>
        <p:spPr>
          <a:xfrm>
            <a:off x="548640" y="3840480"/>
            <a:ext cx="6035040" cy="658368"/>
          </a:xfrm>
          <a:prstGeom prst="roundRect">
            <a:avLst>
              <a:gd name="adj" fmla="val 11111"/>
            </a:avLst>
          </a:prstGeom>
          <a:solidFill>
            <a:srgbClr val="FFFFFF"/>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19" name="Icon FaUserClock"/>
          <p:cNvSpPr/>
          <p:nvPr/>
        </p:nvSpPr>
        <p:spPr>
          <a:xfrm>
            <a:off x="685800" y="3931920"/>
            <a:ext cx="475488" cy="475488"/>
          </a:xfrm>
          <a:prstGeom prst="ellipse">
            <a:avLst/>
          </a:prstGeom>
          <a:solidFill>
            <a:srgbClr val="0F766E"/>
          </a:solidFill>
          <a:ln w="12700">
            <a:solidFill>
              <a:srgbClr val="0F766E"/>
            </a:solidFill>
            <a:prstDash val="solid"/>
          </a:ln>
        </p:spPr>
      </p:sp>
      <p:pic>
        <p:nvPicPr>
          <p:cNvPr id="20" name="Image 3" descr="C:\Users\whale\git\uiao\inbox\SSA-Interview\build\icons\FaUserClock.png">    </p:cNvPr>
          <p:cNvPicPr>
            <a:picLocks noChangeAspect="1"/>
          </p:cNvPicPr>
          <p:nvPr/>
        </p:nvPicPr>
        <p:blipFill>
          <a:blip r:embed="rId4"/>
          <a:stretch>
            <a:fillRect/>
          </a:stretch>
        </p:blipFill>
        <p:spPr>
          <a:xfrm>
            <a:off x="799917" y="4046037"/>
            <a:ext cx="247254" cy="247254"/>
          </a:xfrm>
          <a:prstGeom prst="rect">
            <a:avLst/>
          </a:prstGeom>
        </p:spPr>
      </p:pic>
      <p:sp>
        <p:nvSpPr>
          <p:cNvPr id="21" name="Measure 4 text"/>
          <p:cNvSpPr txBox="1"/>
          <p:nvPr/>
        </p:nvSpPr>
        <p:spPr>
          <a:xfrm>
            <a:off x="1325880" y="3867912"/>
            <a:ext cx="5120640" cy="603504"/>
          </a:xfrm>
          <a:prstGeom prst="rect">
            <a:avLst/>
          </a:prstGeom>
          <a:noFill/>
          <a:ln/>
        </p:spPr>
        <p:txBody>
          <a:bodyPr wrap="square" lIns="0" tIns="0" rIns="0" bIns="0" rtlCol="0" anchor="ctr"/>
          <a:lstStyle/>
          <a:p>
            <a:pPr indent="0" marL="0">
              <a:buNone/>
            </a:pPr>
            <a:r>
              <a:rPr lang="en-US" sz="1550" b="1" dirty="0">
                <a:solidFill>
                  <a:srgbClr val="0F766E"/>
                </a:solidFill>
              </a:rPr>
              <a:t>Joiner and mover tickets</a:t>
            </a:r>
            <a:endParaRPr lang="en-US" sz="1400" dirty="0"/>
          </a:p>
          <a:p>
            <a:pPr indent="0" marL="0">
              <a:buNone/>
            </a:pPr>
            <a:r>
              <a:rPr lang="en-US" sz="1350" dirty="0">
                <a:solidFill>
                  <a:schemeClr val="tx2"/>
                </a:solidFill>
              </a:rPr>
              <a:t>Volume down; access on day one</a:t>
            </a:r>
            <a:endParaRPr lang="en-US" sz="1400" dirty="0"/>
          </a:p>
        </p:txBody>
      </p:sp>
      <p:sp>
        <p:nvSpPr>
          <p:cNvPr id="22" name="Measure 5"/>
          <p:cNvSpPr/>
          <p:nvPr/>
        </p:nvSpPr>
        <p:spPr>
          <a:xfrm>
            <a:off x="548640" y="4572000"/>
            <a:ext cx="6035040" cy="658368"/>
          </a:xfrm>
          <a:prstGeom prst="roundRect">
            <a:avLst>
              <a:gd name="adj" fmla="val 11111"/>
            </a:avLst>
          </a:prstGeom>
          <a:solidFill>
            <a:srgbClr val="E9EEF4"/>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23" name="Icon FaAddressBook"/>
          <p:cNvSpPr/>
          <p:nvPr/>
        </p:nvSpPr>
        <p:spPr>
          <a:xfrm>
            <a:off x="685800" y="4663440"/>
            <a:ext cx="475488" cy="475488"/>
          </a:xfrm>
          <a:prstGeom prst="ellipse">
            <a:avLst/>
          </a:prstGeom>
          <a:solidFill>
            <a:srgbClr val="1F2A44"/>
          </a:solidFill>
          <a:ln w="12700">
            <a:solidFill>
              <a:srgbClr val="1F2A44"/>
            </a:solidFill>
            <a:prstDash val="solid"/>
          </a:ln>
        </p:spPr>
      </p:sp>
      <p:pic>
        <p:nvPicPr>
          <p:cNvPr id="24" name="Image 4" descr="C:\Users\whale\git\uiao\inbox\SSA-Interview\build\icons\FaAddressBook.png">    </p:cNvPr>
          <p:cNvPicPr>
            <a:picLocks noChangeAspect="1"/>
          </p:cNvPicPr>
          <p:nvPr/>
        </p:nvPicPr>
        <p:blipFill>
          <a:blip r:embed="rId5"/>
          <a:stretch>
            <a:fillRect/>
          </a:stretch>
        </p:blipFill>
        <p:spPr>
          <a:xfrm>
            <a:off x="799917" y="4777557"/>
            <a:ext cx="247254" cy="247254"/>
          </a:xfrm>
          <a:prstGeom prst="rect">
            <a:avLst/>
          </a:prstGeom>
        </p:spPr>
      </p:pic>
      <p:sp>
        <p:nvSpPr>
          <p:cNvPr id="25" name="Measure 5 text"/>
          <p:cNvSpPr txBox="1"/>
          <p:nvPr/>
        </p:nvSpPr>
        <p:spPr>
          <a:xfrm>
            <a:off x="1325880" y="4599432"/>
            <a:ext cx="5120640" cy="603504"/>
          </a:xfrm>
          <a:prstGeom prst="rect">
            <a:avLst/>
          </a:prstGeom>
          <a:noFill/>
          <a:ln/>
        </p:spPr>
        <p:txBody>
          <a:bodyPr wrap="square" lIns="0" tIns="0" rIns="0" bIns="0" rtlCol="0" anchor="ctr"/>
          <a:lstStyle/>
          <a:p>
            <a:pPr indent="0" marL="0">
              <a:buNone/>
            </a:pPr>
            <a:r>
              <a:rPr lang="en-US" sz="1550" b="1" dirty="0">
                <a:solidFill>
                  <a:srgbClr val="1F2A44"/>
                </a:solidFill>
              </a:rPr>
              <a:t>Directory accuracy</a:t>
            </a:r>
            <a:endParaRPr lang="en-US" sz="1400" dirty="0"/>
          </a:p>
          <a:p>
            <a:pPr indent="0" marL="0">
              <a:buNone/>
            </a:pPr>
            <a:r>
              <a:rPr lang="en-US" sz="1350" dirty="0">
                <a:solidFill>
                  <a:schemeClr val="tx2"/>
                </a:solidFill>
              </a:rPr>
              <a:t>Manager and organization match HR</a:t>
            </a:r>
            <a:endParaRPr lang="en-US" sz="1400" dirty="0"/>
          </a:p>
        </p:txBody>
      </p:sp>
      <p:sp>
        <p:nvSpPr>
          <p:cNvPr id="26" name="Measure 6"/>
          <p:cNvSpPr/>
          <p:nvPr/>
        </p:nvSpPr>
        <p:spPr>
          <a:xfrm>
            <a:off x="548640" y="5303520"/>
            <a:ext cx="6035040" cy="658368"/>
          </a:xfrm>
          <a:prstGeom prst="roundRect">
            <a:avLst>
              <a:gd name="adj" fmla="val 11111"/>
            </a:avLst>
          </a:prstGeom>
          <a:solidFill>
            <a:srgbClr val="FFFFFF"/>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27" name="Icon FaTriangleExclamation"/>
          <p:cNvSpPr/>
          <p:nvPr/>
        </p:nvSpPr>
        <p:spPr>
          <a:xfrm>
            <a:off x="685800" y="5394960"/>
            <a:ext cx="475488" cy="475488"/>
          </a:xfrm>
          <a:prstGeom prst="ellipse">
            <a:avLst/>
          </a:prstGeom>
          <a:solidFill>
            <a:srgbClr val="B45309"/>
          </a:solidFill>
          <a:ln w="12700">
            <a:solidFill>
              <a:srgbClr val="B45309"/>
            </a:solidFill>
            <a:prstDash val="solid"/>
          </a:ln>
        </p:spPr>
      </p:sp>
      <p:pic>
        <p:nvPicPr>
          <p:cNvPr id="28" name="Image 5" descr="C:\Users\whale\git\uiao\inbox\SSA-Interview\build\icons\FaTriangleExclamation.png">    </p:cNvPr>
          <p:cNvPicPr>
            <a:picLocks noChangeAspect="1"/>
          </p:cNvPicPr>
          <p:nvPr/>
        </p:nvPicPr>
        <p:blipFill>
          <a:blip r:embed="rId6"/>
          <a:stretch>
            <a:fillRect/>
          </a:stretch>
        </p:blipFill>
        <p:spPr>
          <a:xfrm>
            <a:off x="799917" y="5509077"/>
            <a:ext cx="247254" cy="247254"/>
          </a:xfrm>
          <a:prstGeom prst="rect">
            <a:avLst/>
          </a:prstGeom>
        </p:spPr>
      </p:pic>
      <p:sp>
        <p:nvSpPr>
          <p:cNvPr id="29" name="Measure 6 text"/>
          <p:cNvSpPr txBox="1"/>
          <p:nvPr/>
        </p:nvSpPr>
        <p:spPr>
          <a:xfrm>
            <a:off x="1325880" y="5330952"/>
            <a:ext cx="5120640" cy="603504"/>
          </a:xfrm>
          <a:prstGeom prst="rect">
            <a:avLst/>
          </a:prstGeom>
          <a:noFill/>
          <a:ln/>
        </p:spPr>
        <p:txBody>
          <a:bodyPr wrap="square" lIns="0" tIns="0" rIns="0" bIns="0" rtlCol="0" anchor="ctr"/>
          <a:lstStyle/>
          <a:p>
            <a:pPr indent="0" marL="0">
              <a:buNone/>
            </a:pPr>
            <a:r>
              <a:rPr lang="en-US" sz="1550" b="1" dirty="0">
                <a:solidFill>
                  <a:srgbClr val="B45309"/>
                </a:solidFill>
              </a:rPr>
              <a:t>Exceptions</a:t>
            </a:r>
            <a:endParaRPr lang="en-US" sz="1400" dirty="0"/>
          </a:p>
          <a:p>
            <a:pPr indent="0" marL="0">
              <a:buNone/>
            </a:pPr>
            <a:r>
              <a:rPr lang="en-US" sz="1350" dirty="0">
                <a:solidFill>
                  <a:schemeClr val="tx2"/>
                </a:solidFill>
              </a:rPr>
              <a:t>Each has an owner and an age</a:t>
            </a:r>
            <a:endParaRPr lang="en-US" sz="1400" dirty="0"/>
          </a:p>
        </p:txBody>
      </p:sp>
      <p:sp>
        <p:nvSpPr>
          <p:cNvPr id="30" name="Ask box"/>
          <p:cNvSpPr/>
          <p:nvPr/>
        </p:nvSpPr>
        <p:spPr>
          <a:xfrm>
            <a:off x="6812280" y="1280160"/>
            <a:ext cx="4846320" cy="4846320"/>
          </a:xfrm>
          <a:prstGeom prst="roundRect">
            <a:avLst>
              <a:gd name="adj" fmla="val 1509"/>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31" name="Icon FaLightbulb"/>
          <p:cNvSpPr/>
          <p:nvPr/>
        </p:nvSpPr>
        <p:spPr>
          <a:xfrm>
            <a:off x="7040880" y="1463040"/>
            <a:ext cx="685800" cy="685800"/>
          </a:xfrm>
          <a:prstGeom prst="ellipse">
            <a:avLst/>
          </a:prstGeom>
          <a:solidFill>
            <a:srgbClr val="B45309"/>
          </a:solidFill>
          <a:ln w="12700">
            <a:solidFill>
              <a:srgbClr val="B45309"/>
            </a:solidFill>
            <a:prstDash val="solid"/>
          </a:ln>
        </p:spPr>
      </p:sp>
      <p:pic>
        <p:nvPicPr>
          <p:cNvPr id="32" name="Image 6" descr="C:\Users\whale\git\uiao\inbox\SSA-Interview\build\icons\FaLightbulb.png">    </p:cNvPr>
          <p:cNvPicPr>
            <a:picLocks noChangeAspect="1"/>
          </p:cNvPicPr>
          <p:nvPr/>
        </p:nvPicPr>
        <p:blipFill>
          <a:blip r:embed="rId7"/>
          <a:stretch>
            <a:fillRect/>
          </a:stretch>
        </p:blipFill>
        <p:spPr>
          <a:xfrm>
            <a:off x="7205472" y="1627632"/>
            <a:ext cx="356616" cy="356616"/>
          </a:xfrm>
          <a:prstGeom prst="rect">
            <a:avLst/>
          </a:prstGeom>
        </p:spPr>
      </p:pic>
      <p:sp>
        <p:nvSpPr>
          <p:cNvPr id="33" name="Ask head"/>
          <p:cNvSpPr txBox="1"/>
          <p:nvPr/>
        </p:nvSpPr>
        <p:spPr>
          <a:xfrm>
            <a:off x="7863840" y="1463040"/>
            <a:ext cx="3657600" cy="685800"/>
          </a:xfrm>
          <a:prstGeom prst="rect">
            <a:avLst/>
          </a:prstGeom>
          <a:noFill/>
          <a:ln/>
        </p:spPr>
        <p:txBody>
          <a:bodyPr wrap="square" lIns="0" tIns="0" rIns="0" bIns="0" rtlCol="0" anchor="ctr"/>
          <a:lstStyle/>
          <a:p>
            <a:pPr indent="0" marL="0">
              <a:buNone/>
            </a:pPr>
            <a:r>
              <a:rPr lang="en-US" sz="1900" b="1" dirty="0">
                <a:solidFill>
                  <a:srgbClr val="B45309"/>
                </a:solidFill>
                <a:latin typeface="Cambria" pitchFamily="34" charset="0"/>
                <a:ea typeface="Cambria" pitchFamily="34" charset="-122"/>
                <a:cs typeface="Cambria" pitchFamily="34" charset="-120"/>
              </a:rPr>
              <a:t>What I’d need from leadership</a:t>
            </a:r>
            <a:endParaRPr lang="en-US" sz="1900" dirty="0"/>
          </a:p>
        </p:txBody>
      </p:sp>
      <p:sp>
        <p:nvSpPr>
          <p:cNvPr id="34" name="Ask text"/>
          <p:cNvSpPr txBox="1"/>
          <p:nvPr/>
        </p:nvSpPr>
        <p:spPr>
          <a:xfrm>
            <a:off x="7040880" y="2240280"/>
            <a:ext cx="4434840" cy="3794760"/>
          </a:xfrm>
          <a:prstGeom prst="rect">
            <a:avLst/>
          </a:prstGeom>
          <a:noFill/>
          <a:ln/>
        </p:spPr>
        <p:txBody>
          <a:bodyPr wrap="square" lIns="0" tIns="0" rIns="0" bIns="0" rtlCol="0" anchor="t"/>
          <a:lstStyle/>
          <a:p>
            <a:pPr indent="0" marL="0">
              <a:spcAft>
                <a:spcPts val="500"/>
              </a:spcAft>
              <a:buNone/>
            </a:pPr>
            <a:r>
              <a:rPr lang="en-US" sz="1450" b="1" dirty="0">
                <a:solidFill>
                  <a:srgbClr val="1F2A44"/>
                </a:solidFill>
              </a:rPr>
              <a:t>Three decisions:</a:t>
            </a:r>
            <a:endParaRPr lang="en-US" sz="1450" dirty="0"/>
          </a:p>
          <a:p>
            <a:pPr marL="342900" indent="-342900">
              <a:spcAft>
                <a:spcPts val="500"/>
              </a:spcAft>
              <a:buSzPct val="100000"/>
              <a:buChar char="•"/>
            </a:pPr>
            <a:r>
              <a:rPr lang="en-US" sz="1450" dirty="0">
                <a:solidFill>
                  <a:schemeClr val="tx2"/>
                </a:solidFill>
              </a:rPr>
              <a:t>Name identity as an HR 2.0 data consumer</a:t>
            </a:r>
            <a:endParaRPr lang="en-US" sz="1450" dirty="0"/>
          </a:p>
          <a:p>
            <a:pPr marL="342900" indent="-342900">
              <a:spcAft>
                <a:spcPts val="500"/>
              </a:spcAft>
              <a:buSzPct val="100000"/>
              <a:buChar char="•"/>
            </a:pPr>
            <a:r>
              <a:rPr lang="en-US" sz="1450" dirty="0">
                <a:solidFill>
                  <a:schemeClr val="tx2"/>
                </a:solidFill>
              </a:rPr>
              <a:t>Authorize the cross-functional data-governance work: a sponsor across HR, the CIO’s identity team and privacy; data owners; a small pre-onboarding team</a:t>
            </a:r>
            <a:endParaRPr lang="en-US" sz="1450" dirty="0"/>
          </a:p>
          <a:p>
            <a:pPr marL="342900" indent="-342900">
              <a:spcAft>
                <a:spcPts val="500"/>
              </a:spcAft>
              <a:buSzPct val="100000"/>
              <a:buChar char="•"/>
            </a:pPr>
            <a:r>
              <a:rPr lang="en-US" sz="1450" dirty="0">
                <a:solidFill>
                  <a:schemeClr val="tx2"/>
                </a:solidFill>
              </a:rPr>
              <a:t>Require assumptions, including the enterprise person key, to be validated by accountable owners before implementation</a:t>
            </a:r>
            <a:pPr indent="0" marL="0">
              <a:spcAft>
                <a:spcPts val="500"/>
              </a:spcAft>
              <a:buNone/>
            </a:pPr>
            <a:endParaRPr lang="en-US" sz="1450" dirty="0"/>
          </a:p>
          <a:p>
            <a:pPr indent="0" marL="0">
              <a:spcAft>
                <a:spcPts val="500"/>
              </a:spcAft>
              <a:buNone/>
            </a:pPr>
            <a:r>
              <a:rPr lang="en-US" sz="1350" i="1" dirty="0">
                <a:solidFill>
                  <a:srgbClr val="64748B"/>
                </a:solidFill>
              </a:rPr>
              <a:t>Modernize the platforms and the lifecycle together, rather than carrying the ticket process forward.</a:t>
            </a:r>
            <a:endParaRPr lang="en-US" sz="14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More modernizations I’ve designed</a:t>
            </a:r>
            <a:endParaRPr lang="en-US" sz="3000" dirty="0"/>
          </a:p>
        </p:txBody>
      </p:sp>
      <p:sp>
        <p:nvSpPr>
          <p:cNvPr id="3" name="Teaser 1"/>
          <p:cNvSpPr/>
          <p:nvPr/>
        </p:nvSpPr>
        <p:spPr>
          <a:xfrm>
            <a:off x="548640" y="1280160"/>
            <a:ext cx="2670048" cy="1719072"/>
          </a:xfrm>
          <a:prstGeom prst="roundRect">
            <a:avLst>
              <a:gd name="adj" fmla="val 4255"/>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4" name="Icon FaCloudArrowUp"/>
          <p:cNvSpPr/>
          <p:nvPr/>
        </p:nvSpPr>
        <p:spPr>
          <a:xfrm>
            <a:off x="731520" y="1417320"/>
            <a:ext cx="457200" cy="457200"/>
          </a:xfrm>
          <a:prstGeom prst="ellipse">
            <a:avLst/>
          </a:prstGeom>
          <a:solidFill>
            <a:srgbClr val="1F2A44"/>
          </a:solidFill>
          <a:ln w="12700">
            <a:solidFill>
              <a:srgbClr val="1F2A44"/>
            </a:solidFill>
            <a:prstDash val="solid"/>
          </a:ln>
        </p:spPr>
      </p:sp>
      <p:pic>
        <p:nvPicPr>
          <p:cNvPr id="5" name="Image 0" descr="C:\Users\whale\git\uiao\inbox\SSA-Interview\build\icons\FaCloudArrowUp.png">    </p:cNvPr>
          <p:cNvPicPr>
            <a:picLocks noChangeAspect="1"/>
          </p:cNvPicPr>
          <p:nvPr/>
        </p:nvPicPr>
        <p:blipFill>
          <a:blip r:embed="rId1"/>
          <a:stretch>
            <a:fillRect/>
          </a:stretch>
        </p:blipFill>
        <p:spPr>
          <a:xfrm>
            <a:off x="841248" y="1527048"/>
            <a:ext cx="237744" cy="237744"/>
          </a:xfrm>
          <a:prstGeom prst="rect">
            <a:avLst/>
          </a:prstGeom>
        </p:spPr>
      </p:pic>
      <p:sp>
        <p:nvSpPr>
          <p:cNvPr id="6" name="Teaser 1 text"/>
          <p:cNvSpPr txBox="1"/>
          <p:nvPr/>
        </p:nvSpPr>
        <p:spPr>
          <a:xfrm>
            <a:off x="731520" y="1938528"/>
            <a:ext cx="2377440" cy="100584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rPr>
              <a:t>Entra ID migration</a:t>
            </a:r>
            <a:endParaRPr lang="en-US" sz="1400" dirty="0"/>
          </a:p>
          <a:p>
            <a:pPr indent="0" marL="0">
              <a:spcAft>
                <a:spcPts val="300"/>
              </a:spcAft>
              <a:buNone/>
            </a:pPr>
            <a:r>
              <a:rPr lang="en-US" sz="1350" dirty="0">
                <a:solidFill>
                  <a:schemeClr val="tx2"/>
                </a:solidFill>
              </a:rPr>
              <a:t>Directory move with drift detection and evidence</a:t>
            </a:r>
            <a:endParaRPr lang="en-US" sz="1400" dirty="0"/>
          </a:p>
        </p:txBody>
      </p:sp>
      <p:sp>
        <p:nvSpPr>
          <p:cNvPr id="7" name="Teaser 2"/>
          <p:cNvSpPr/>
          <p:nvPr/>
        </p:nvSpPr>
        <p:spPr>
          <a:xfrm>
            <a:off x="3355848" y="1280160"/>
            <a:ext cx="2670048" cy="1719072"/>
          </a:xfrm>
          <a:prstGeom prst="roundRect">
            <a:avLst>
              <a:gd name="adj" fmla="val 4255"/>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8" name="Icon FaGlobe"/>
          <p:cNvSpPr/>
          <p:nvPr/>
        </p:nvSpPr>
        <p:spPr>
          <a:xfrm>
            <a:off x="3538728" y="1417320"/>
            <a:ext cx="457200" cy="457200"/>
          </a:xfrm>
          <a:prstGeom prst="ellipse">
            <a:avLst/>
          </a:prstGeom>
          <a:solidFill>
            <a:srgbClr val="1F2A44"/>
          </a:solidFill>
          <a:ln w="12700">
            <a:solidFill>
              <a:srgbClr val="1F2A44"/>
            </a:solidFill>
            <a:prstDash val="solid"/>
          </a:ln>
        </p:spPr>
      </p:sp>
      <p:pic>
        <p:nvPicPr>
          <p:cNvPr id="9" name="Image 1" descr="C:\Users\whale\git\uiao\inbox\SSA-Interview\build\icons\FaGlobe.png">    </p:cNvPr>
          <p:cNvPicPr>
            <a:picLocks noChangeAspect="1"/>
          </p:cNvPicPr>
          <p:nvPr/>
        </p:nvPicPr>
        <p:blipFill>
          <a:blip r:embed="rId2"/>
          <a:stretch>
            <a:fillRect/>
          </a:stretch>
        </p:blipFill>
        <p:spPr>
          <a:xfrm>
            <a:off x="3648456" y="1527048"/>
            <a:ext cx="237744" cy="237744"/>
          </a:xfrm>
          <a:prstGeom prst="rect">
            <a:avLst/>
          </a:prstGeom>
        </p:spPr>
      </p:pic>
      <p:sp>
        <p:nvSpPr>
          <p:cNvPr id="10" name="Teaser 2 text"/>
          <p:cNvSpPr txBox="1"/>
          <p:nvPr/>
        </p:nvSpPr>
        <p:spPr>
          <a:xfrm>
            <a:off x="3538728" y="1938528"/>
            <a:ext cx="2377440" cy="100584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rPr>
              <a:t>Next-generation DNS and IPAM</a:t>
            </a:r>
            <a:endParaRPr lang="en-US" sz="1400" dirty="0"/>
          </a:p>
          <a:p>
            <a:pPr indent="0" marL="0">
              <a:spcAft>
                <a:spcPts val="300"/>
              </a:spcAft>
              <a:buNone/>
            </a:pPr>
            <a:r>
              <a:rPr lang="en-US" sz="1350" dirty="0">
                <a:solidFill>
                  <a:schemeClr val="tx2"/>
                </a:solidFill>
              </a:rPr>
              <a:t>One DDI control plane across on-premises and clouds</a:t>
            </a:r>
            <a:endParaRPr lang="en-US" sz="1400" dirty="0"/>
          </a:p>
        </p:txBody>
      </p:sp>
      <p:sp>
        <p:nvSpPr>
          <p:cNvPr id="11" name="Teaser 3"/>
          <p:cNvSpPr/>
          <p:nvPr/>
        </p:nvSpPr>
        <p:spPr>
          <a:xfrm>
            <a:off x="6163056" y="1280160"/>
            <a:ext cx="2670048" cy="1719072"/>
          </a:xfrm>
          <a:prstGeom prst="roundRect">
            <a:avLst>
              <a:gd name="adj" fmla="val 4255"/>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Icon FaBuilding"/>
          <p:cNvSpPr/>
          <p:nvPr/>
        </p:nvSpPr>
        <p:spPr>
          <a:xfrm>
            <a:off x="6345936" y="1417320"/>
            <a:ext cx="457200" cy="457200"/>
          </a:xfrm>
          <a:prstGeom prst="ellipse">
            <a:avLst/>
          </a:prstGeom>
          <a:solidFill>
            <a:srgbClr val="1F2A44"/>
          </a:solidFill>
          <a:ln w="12700">
            <a:solidFill>
              <a:srgbClr val="1F2A44"/>
            </a:solidFill>
            <a:prstDash val="solid"/>
          </a:ln>
        </p:spPr>
      </p:sp>
      <p:pic>
        <p:nvPicPr>
          <p:cNvPr id="13" name="Image 2" descr="C:\Users\whale\git\uiao\inbox\SSA-Interview\build\icons\FaBuilding.png">    </p:cNvPr>
          <p:cNvPicPr>
            <a:picLocks noChangeAspect="1"/>
          </p:cNvPicPr>
          <p:nvPr/>
        </p:nvPicPr>
        <p:blipFill>
          <a:blip r:embed="rId3"/>
          <a:stretch>
            <a:fillRect/>
          </a:stretch>
        </p:blipFill>
        <p:spPr>
          <a:xfrm>
            <a:off x="6455664" y="1527048"/>
            <a:ext cx="237744" cy="237744"/>
          </a:xfrm>
          <a:prstGeom prst="rect">
            <a:avLst/>
          </a:prstGeom>
        </p:spPr>
      </p:pic>
      <p:sp>
        <p:nvSpPr>
          <p:cNvPr id="14" name="Teaser 3 text"/>
          <p:cNvSpPr txBox="1"/>
          <p:nvPr/>
        </p:nvSpPr>
        <p:spPr>
          <a:xfrm>
            <a:off x="6345936" y="1938528"/>
            <a:ext cx="2377440" cy="100584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rPr>
              <a:t>Field office WAN and data centers</a:t>
            </a:r>
            <a:endParaRPr lang="en-US" sz="1400" dirty="0"/>
          </a:p>
          <a:p>
            <a:pPr indent="0" marL="0">
              <a:spcAft>
                <a:spcPts val="300"/>
              </a:spcAft>
              <a:buNone/>
            </a:pPr>
            <a:r>
              <a:rPr lang="en-US" sz="1350" dirty="0">
                <a:solidFill>
                  <a:schemeClr val="tx2"/>
                </a:solidFill>
              </a:rPr>
              <a:t>Office network transformation and consolidation</a:t>
            </a:r>
            <a:endParaRPr lang="en-US" sz="1400" dirty="0"/>
          </a:p>
        </p:txBody>
      </p:sp>
      <p:sp>
        <p:nvSpPr>
          <p:cNvPr id="15" name="Teaser 4"/>
          <p:cNvSpPr/>
          <p:nvPr/>
        </p:nvSpPr>
        <p:spPr>
          <a:xfrm>
            <a:off x="8970264" y="1280160"/>
            <a:ext cx="2670048" cy="1719072"/>
          </a:xfrm>
          <a:prstGeom prst="roundRect">
            <a:avLst>
              <a:gd name="adj" fmla="val 4255"/>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6" name="Icon FaRoute"/>
          <p:cNvSpPr/>
          <p:nvPr/>
        </p:nvSpPr>
        <p:spPr>
          <a:xfrm>
            <a:off x="9153144" y="1417320"/>
            <a:ext cx="457200" cy="457200"/>
          </a:xfrm>
          <a:prstGeom prst="ellipse">
            <a:avLst/>
          </a:prstGeom>
          <a:solidFill>
            <a:srgbClr val="1F2A44"/>
          </a:solidFill>
          <a:ln w="12700">
            <a:solidFill>
              <a:srgbClr val="1F2A44"/>
            </a:solidFill>
            <a:prstDash val="solid"/>
          </a:ln>
        </p:spPr>
      </p:sp>
      <p:pic>
        <p:nvPicPr>
          <p:cNvPr id="17" name="Image 3" descr="C:\Users\whale\git\uiao\inbox\SSA-Interview\build\icons\FaRoute.png">    </p:cNvPr>
          <p:cNvPicPr>
            <a:picLocks noChangeAspect="1"/>
          </p:cNvPicPr>
          <p:nvPr/>
        </p:nvPicPr>
        <p:blipFill>
          <a:blip r:embed="rId4"/>
          <a:stretch>
            <a:fillRect/>
          </a:stretch>
        </p:blipFill>
        <p:spPr>
          <a:xfrm>
            <a:off x="9262872" y="1527048"/>
            <a:ext cx="237744" cy="237744"/>
          </a:xfrm>
          <a:prstGeom prst="rect">
            <a:avLst/>
          </a:prstGeom>
        </p:spPr>
      </p:pic>
      <p:sp>
        <p:nvSpPr>
          <p:cNvPr id="18" name="Teaser 4 text"/>
          <p:cNvSpPr txBox="1"/>
          <p:nvPr/>
        </p:nvSpPr>
        <p:spPr>
          <a:xfrm>
            <a:off x="9153144" y="1938528"/>
            <a:ext cx="2377440" cy="1005840"/>
          </a:xfrm>
          <a:prstGeom prst="rect">
            <a:avLst/>
          </a:prstGeom>
          <a:noFill/>
          <a:ln/>
        </p:spPr>
        <p:txBody>
          <a:bodyPr wrap="square" lIns="0" tIns="0" rIns="0" bIns="0" rtlCol="0" anchor="t"/>
          <a:lstStyle/>
          <a:p>
            <a:pPr indent="0" marL="0">
              <a:spcAft>
                <a:spcPts val="300"/>
              </a:spcAft>
              <a:buNone/>
            </a:pPr>
            <a:r>
              <a:rPr lang="en-US" sz="1600" b="1" dirty="0">
                <a:solidFill>
                  <a:srgbClr val="1F2A44"/>
                </a:solidFill>
              </a:rPr>
              <a:t>TIC 3.0 Cloud and Branch Office cases</a:t>
            </a:r>
            <a:endParaRPr lang="en-US" sz="1400" dirty="0"/>
          </a:p>
          <a:p>
            <a:pPr indent="0" marL="0">
              <a:spcAft>
                <a:spcPts val="300"/>
              </a:spcAft>
              <a:buNone/>
            </a:pPr>
            <a:r>
              <a:rPr lang="en-US" sz="1350" dirty="0">
                <a:solidFill>
                  <a:schemeClr val="tx2"/>
                </a:solidFill>
              </a:rPr>
              <a:t>Trusted Internet Connections use cases</a:t>
            </a:r>
            <a:endParaRPr lang="en-US" sz="1400" dirty="0"/>
          </a:p>
        </p:txBody>
      </p:sp>
      <p:sp>
        <p:nvSpPr>
          <p:cNvPr id="19" name="Teaser 5"/>
          <p:cNvSpPr/>
          <p:nvPr/>
        </p:nvSpPr>
        <p:spPr>
          <a:xfrm>
            <a:off x="548640" y="3108960"/>
            <a:ext cx="2670048" cy="1719072"/>
          </a:xfrm>
          <a:prstGeom prst="roundRect">
            <a:avLst>
              <a:gd name="adj" fmla="val 4255"/>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0" name="Icon FaServer"/>
          <p:cNvSpPr/>
          <p:nvPr/>
        </p:nvSpPr>
        <p:spPr>
          <a:xfrm>
            <a:off x="731520" y="3246120"/>
            <a:ext cx="457200" cy="457200"/>
          </a:xfrm>
          <a:prstGeom prst="ellipse">
            <a:avLst/>
          </a:prstGeom>
          <a:solidFill>
            <a:srgbClr val="0F766E"/>
          </a:solidFill>
          <a:ln w="12700">
            <a:solidFill>
              <a:srgbClr val="0F766E"/>
            </a:solidFill>
            <a:prstDash val="solid"/>
          </a:ln>
        </p:spPr>
      </p:sp>
      <p:pic>
        <p:nvPicPr>
          <p:cNvPr id="21" name="Image 4" descr="C:\Users\whale\git\uiao\inbox\SSA-Interview\build\icons\FaServer.png">    </p:cNvPr>
          <p:cNvPicPr>
            <a:picLocks noChangeAspect="1"/>
          </p:cNvPicPr>
          <p:nvPr/>
        </p:nvPicPr>
        <p:blipFill>
          <a:blip r:embed="rId5"/>
          <a:stretch>
            <a:fillRect/>
          </a:stretch>
        </p:blipFill>
        <p:spPr>
          <a:xfrm>
            <a:off x="841248" y="3355848"/>
            <a:ext cx="237744" cy="237744"/>
          </a:xfrm>
          <a:prstGeom prst="rect">
            <a:avLst/>
          </a:prstGeom>
        </p:spPr>
      </p:pic>
      <p:sp>
        <p:nvSpPr>
          <p:cNvPr id="22" name="Teaser 5 text"/>
          <p:cNvSpPr txBox="1"/>
          <p:nvPr/>
        </p:nvSpPr>
        <p:spPr>
          <a:xfrm>
            <a:off x="731520" y="3767328"/>
            <a:ext cx="2377440" cy="100584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rPr>
              <a:t>Client-server to hybrid cloud</a:t>
            </a:r>
            <a:endParaRPr lang="en-US" sz="1400" dirty="0"/>
          </a:p>
          <a:p>
            <a:pPr indent="0" marL="0">
              <a:spcAft>
                <a:spcPts val="300"/>
              </a:spcAft>
              <a:buNone/>
            </a:pPr>
            <a:r>
              <a:rPr lang="en-US" sz="1350" dirty="0">
                <a:solidFill>
                  <a:schemeClr val="tx2"/>
                </a:solidFill>
              </a:rPr>
              <a:t>Application path from on-premises to cloud</a:t>
            </a:r>
            <a:endParaRPr lang="en-US" sz="1400" dirty="0"/>
          </a:p>
        </p:txBody>
      </p:sp>
      <p:sp>
        <p:nvSpPr>
          <p:cNvPr id="23" name="Teaser 6"/>
          <p:cNvSpPr/>
          <p:nvPr/>
        </p:nvSpPr>
        <p:spPr>
          <a:xfrm>
            <a:off x="3355848" y="3108960"/>
            <a:ext cx="2670048" cy="1719072"/>
          </a:xfrm>
          <a:prstGeom prst="roundRect">
            <a:avLst>
              <a:gd name="adj" fmla="val 4255"/>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4" name="Icon FaDatabase"/>
          <p:cNvSpPr/>
          <p:nvPr/>
        </p:nvSpPr>
        <p:spPr>
          <a:xfrm>
            <a:off x="3538728" y="3246120"/>
            <a:ext cx="457200" cy="457200"/>
          </a:xfrm>
          <a:prstGeom prst="ellipse">
            <a:avLst/>
          </a:prstGeom>
          <a:solidFill>
            <a:srgbClr val="0F766E"/>
          </a:solidFill>
          <a:ln w="12700">
            <a:solidFill>
              <a:srgbClr val="0F766E"/>
            </a:solidFill>
            <a:prstDash val="solid"/>
          </a:ln>
        </p:spPr>
      </p:sp>
      <p:pic>
        <p:nvPicPr>
          <p:cNvPr id="25" name="Image 5" descr="C:\Users\whale\git\uiao\inbox\SSA-Interview\build\icons\FaDatabase.png">    </p:cNvPr>
          <p:cNvPicPr>
            <a:picLocks noChangeAspect="1"/>
          </p:cNvPicPr>
          <p:nvPr/>
        </p:nvPicPr>
        <p:blipFill>
          <a:blip r:embed="rId6"/>
          <a:stretch>
            <a:fillRect/>
          </a:stretch>
        </p:blipFill>
        <p:spPr>
          <a:xfrm>
            <a:off x="3648456" y="3355848"/>
            <a:ext cx="237744" cy="237744"/>
          </a:xfrm>
          <a:prstGeom prst="rect">
            <a:avLst/>
          </a:prstGeom>
        </p:spPr>
      </p:pic>
      <p:sp>
        <p:nvSpPr>
          <p:cNvPr id="26" name="Teaser 6 text"/>
          <p:cNvSpPr txBox="1"/>
          <p:nvPr/>
        </p:nvSpPr>
        <p:spPr>
          <a:xfrm>
            <a:off x="3538728" y="3767328"/>
            <a:ext cx="2377440" cy="100584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rPr>
              <a:t>SQL Server identity</a:t>
            </a:r>
            <a:endParaRPr lang="en-US" sz="1400" dirty="0"/>
          </a:p>
          <a:p>
            <a:pPr indent="0" marL="0">
              <a:spcAft>
                <a:spcPts val="300"/>
              </a:spcAft>
              <a:buNone/>
            </a:pPr>
            <a:r>
              <a:rPr lang="en-US" sz="1350" dirty="0">
                <a:solidFill>
                  <a:schemeClr val="tx2"/>
                </a:solidFill>
              </a:rPr>
              <a:t>Database logins moved to governed identity</a:t>
            </a:r>
            <a:endParaRPr lang="en-US" sz="1400" dirty="0"/>
          </a:p>
        </p:txBody>
      </p:sp>
      <p:sp>
        <p:nvSpPr>
          <p:cNvPr id="27" name="Teaser 7"/>
          <p:cNvSpPr/>
          <p:nvPr/>
        </p:nvSpPr>
        <p:spPr>
          <a:xfrm>
            <a:off x="6163056" y="3108960"/>
            <a:ext cx="2670048" cy="1719072"/>
          </a:xfrm>
          <a:prstGeom prst="roundRect">
            <a:avLst>
              <a:gd name="adj" fmla="val 4255"/>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8" name="Icon FaLaptop"/>
          <p:cNvSpPr/>
          <p:nvPr/>
        </p:nvSpPr>
        <p:spPr>
          <a:xfrm>
            <a:off x="6345936" y="3246120"/>
            <a:ext cx="457200" cy="457200"/>
          </a:xfrm>
          <a:prstGeom prst="ellipse">
            <a:avLst/>
          </a:prstGeom>
          <a:solidFill>
            <a:srgbClr val="0F766E"/>
          </a:solidFill>
          <a:ln w="12700">
            <a:solidFill>
              <a:srgbClr val="0F766E"/>
            </a:solidFill>
            <a:prstDash val="solid"/>
          </a:ln>
        </p:spPr>
      </p:sp>
      <p:pic>
        <p:nvPicPr>
          <p:cNvPr id="29" name="Image 6" descr="C:\Users\whale\git\uiao\inbox\SSA-Interview\build\icons\FaLaptop.png">    </p:cNvPr>
          <p:cNvPicPr>
            <a:picLocks noChangeAspect="1"/>
          </p:cNvPicPr>
          <p:nvPr/>
        </p:nvPicPr>
        <p:blipFill>
          <a:blip r:embed="rId7"/>
          <a:stretch>
            <a:fillRect/>
          </a:stretch>
        </p:blipFill>
        <p:spPr>
          <a:xfrm>
            <a:off x="6455664" y="3355848"/>
            <a:ext cx="237744" cy="237744"/>
          </a:xfrm>
          <a:prstGeom prst="rect">
            <a:avLst/>
          </a:prstGeom>
        </p:spPr>
      </p:pic>
      <p:sp>
        <p:nvSpPr>
          <p:cNvPr id="30" name="Teaser 7 text"/>
          <p:cNvSpPr txBox="1"/>
          <p:nvPr/>
        </p:nvSpPr>
        <p:spPr>
          <a:xfrm>
            <a:off x="6345936" y="3767328"/>
            <a:ext cx="2377440" cy="100584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rPr>
              <a:t>GPO sunset to Intune and Arc</a:t>
            </a:r>
            <a:endParaRPr lang="en-US" sz="1400" dirty="0"/>
          </a:p>
          <a:p>
            <a:pPr indent="0" marL="0">
              <a:spcAft>
                <a:spcPts val="300"/>
              </a:spcAft>
              <a:buNone/>
            </a:pPr>
            <a:r>
              <a:rPr lang="en-US" sz="1350" dirty="0">
                <a:solidFill>
                  <a:schemeClr val="tx2"/>
                </a:solidFill>
              </a:rPr>
              <a:t>Policy and device management in the cloud</a:t>
            </a:r>
            <a:endParaRPr lang="en-US" sz="1400" dirty="0"/>
          </a:p>
        </p:txBody>
      </p:sp>
      <p:sp>
        <p:nvSpPr>
          <p:cNvPr id="31" name="Teaser 8"/>
          <p:cNvSpPr/>
          <p:nvPr/>
        </p:nvSpPr>
        <p:spPr>
          <a:xfrm>
            <a:off x="8970264" y="3108960"/>
            <a:ext cx="2670048" cy="1719072"/>
          </a:xfrm>
          <a:prstGeom prst="roundRect">
            <a:avLst>
              <a:gd name="adj" fmla="val 4255"/>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32" name="Icon FaShieldHalved"/>
          <p:cNvSpPr/>
          <p:nvPr/>
        </p:nvSpPr>
        <p:spPr>
          <a:xfrm>
            <a:off x="9153144" y="3246120"/>
            <a:ext cx="457200" cy="457200"/>
          </a:xfrm>
          <a:prstGeom prst="ellipse">
            <a:avLst/>
          </a:prstGeom>
          <a:solidFill>
            <a:srgbClr val="0F766E"/>
          </a:solidFill>
          <a:ln w="12700">
            <a:solidFill>
              <a:srgbClr val="0F766E"/>
            </a:solidFill>
            <a:prstDash val="solid"/>
          </a:ln>
        </p:spPr>
      </p:sp>
      <p:pic>
        <p:nvPicPr>
          <p:cNvPr id="33" name="Image 7" descr="C:\Users\whale\git\uiao\inbox\SSA-Interview\build\icons\FaShieldHalved.png">    </p:cNvPr>
          <p:cNvPicPr>
            <a:picLocks noChangeAspect="1"/>
          </p:cNvPicPr>
          <p:nvPr/>
        </p:nvPicPr>
        <p:blipFill>
          <a:blip r:embed="rId8"/>
          <a:stretch>
            <a:fillRect/>
          </a:stretch>
        </p:blipFill>
        <p:spPr>
          <a:xfrm>
            <a:off x="9262872" y="3355848"/>
            <a:ext cx="237744" cy="237744"/>
          </a:xfrm>
          <a:prstGeom prst="rect">
            <a:avLst/>
          </a:prstGeom>
        </p:spPr>
      </p:pic>
      <p:sp>
        <p:nvSpPr>
          <p:cNvPr id="34" name="Teaser 8 text"/>
          <p:cNvSpPr txBox="1"/>
          <p:nvPr/>
        </p:nvSpPr>
        <p:spPr>
          <a:xfrm>
            <a:off x="9153144" y="3767328"/>
            <a:ext cx="2377440" cy="1005840"/>
          </a:xfrm>
          <a:prstGeom prst="rect">
            <a:avLst/>
          </a:prstGeom>
          <a:noFill/>
          <a:ln/>
        </p:spPr>
        <p:txBody>
          <a:bodyPr wrap="square" lIns="0" tIns="0" rIns="0" bIns="0" rtlCol="0" anchor="t"/>
          <a:lstStyle/>
          <a:p>
            <a:pPr indent="0" marL="0">
              <a:spcAft>
                <a:spcPts val="300"/>
              </a:spcAft>
              <a:buNone/>
            </a:pPr>
            <a:r>
              <a:rPr lang="en-US" sz="1600" b="1" dirty="0">
                <a:solidFill>
                  <a:srgbClr val="0F766E"/>
                </a:solidFill>
              </a:rPr>
              <a:t>Continuous compliance</a:t>
            </a:r>
            <a:endParaRPr lang="en-US" sz="1400" dirty="0"/>
          </a:p>
          <a:p>
            <a:pPr indent="0" marL="0">
              <a:spcAft>
                <a:spcPts val="300"/>
              </a:spcAft>
              <a:buNone/>
            </a:pPr>
            <a:r>
              <a:rPr lang="en-US" sz="1350" dirty="0">
                <a:solidFill>
                  <a:schemeClr val="tx2"/>
                </a:solidFill>
              </a:rPr>
              <a:t>SCuBA baselines, BOD 25-01, FedRAMP 20x</a:t>
            </a:r>
            <a:endParaRPr lang="en-US" sz="1400" dirty="0"/>
          </a:p>
        </p:txBody>
      </p:sp>
      <p:sp>
        <p:nvSpPr>
          <p:cNvPr id="35" name="Teaser companions"/>
          <p:cNvSpPr/>
          <p:nvPr/>
        </p:nvSpPr>
        <p:spPr>
          <a:xfrm>
            <a:off x="548640" y="4937760"/>
            <a:ext cx="11109960" cy="566928"/>
          </a:xfrm>
          <a:prstGeom prst="roundRect">
            <a:avLst>
              <a:gd name="adj" fmla="val 1290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36" name="Teaser companions text"/>
          <p:cNvSpPr txBox="1"/>
          <p:nvPr/>
        </p:nvSpPr>
        <p:spPr>
          <a:xfrm>
            <a:off x="822960" y="4956048"/>
            <a:ext cx="10607040" cy="530352"/>
          </a:xfrm>
          <a:prstGeom prst="rect">
            <a:avLst/>
          </a:prstGeom>
          <a:noFill/>
          <a:ln/>
        </p:spPr>
        <p:txBody>
          <a:bodyPr wrap="square" lIns="0" tIns="0" rIns="0" bIns="0" rtlCol="0" anchor="ctr"/>
          <a:lstStyle/>
          <a:p>
            <a:pPr indent="0" marL="0">
              <a:buNone/>
            </a:pPr>
            <a:r>
              <a:rPr lang="en-US" sz="1450" b="1" dirty="0">
                <a:solidFill>
                  <a:srgbClr val="1F2A44"/>
                </a:solidFill>
              </a:rPr>
              <a:t>Companion decks: </a:t>
            </a:r>
            <a:pPr indent="0" marL="0">
              <a:buNone/>
            </a:pPr>
            <a:r>
              <a:rPr lang="en-US" sz="1450" b="1" dirty="0">
                <a:solidFill>
                  <a:schemeClr val="tx2"/>
                </a:solidFill>
              </a:rPr>
              <a:t>Contractor Identity Source</a:t>
            </a:r>
            <a:pPr indent="0" marL="0">
              <a:buNone/>
            </a:pPr>
            <a:r>
              <a:rPr lang="en-US" sz="1450" dirty="0">
                <a:solidFill>
                  <a:schemeClr val="tx2"/>
                </a:solidFill>
              </a:rPr>
              <a:t> (who is authoritative for a contractor)  ·  </a:t>
            </a:r>
            <a:pPr indent="0" marL="0">
              <a:buNone/>
            </a:pPr>
            <a:r>
              <a:rPr lang="en-US" sz="1450" b="1" dirty="0">
                <a:solidFill>
                  <a:schemeClr val="tx2"/>
                </a:solidFill>
              </a:rPr>
              <a:t>Original HR-Driven Identity</a:t>
            </a:r>
            <a:pPr indent="0" marL="0">
              <a:buNone/>
            </a:pPr>
            <a:r>
              <a:rPr lang="en-US" sz="1450" dirty="0">
                <a:solidFill>
                  <a:schemeClr val="tx2"/>
                </a:solidFill>
              </a:rPr>
              <a:t> (full model, lifecycle, plan)</a:t>
            </a:r>
            <a:endParaRPr lang="en-US" sz="1450" dirty="0"/>
          </a:p>
        </p:txBody>
      </p:sp>
      <p:sp>
        <p:nvSpPr>
          <p:cNvPr id="37" name="Teaser footer"/>
          <p:cNvSpPr/>
          <p:nvPr/>
        </p:nvSpPr>
        <p:spPr>
          <a:xfrm>
            <a:off x="548640" y="5596128"/>
            <a:ext cx="11109960" cy="548640"/>
          </a:xfrm>
          <a:prstGeom prst="roundRect">
            <a:avLst>
              <a:gd name="adj" fmla="val 13333"/>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38" name="Teaser footer text"/>
          <p:cNvSpPr txBox="1"/>
          <p:nvPr/>
        </p:nvSpPr>
        <p:spPr>
          <a:xfrm>
            <a:off x="822960" y="5614416"/>
            <a:ext cx="10607040" cy="512064"/>
          </a:xfrm>
          <a:prstGeom prst="rect">
            <a:avLst/>
          </a:prstGeom>
          <a:noFill/>
          <a:ln/>
        </p:spPr>
        <p:txBody>
          <a:bodyPr wrap="square" lIns="0" tIns="0" rIns="0" bIns="0" rtlCol="0" anchor="ctr"/>
          <a:lstStyle/>
          <a:p>
            <a:pPr indent="0" marL="0">
              <a:buNone/>
            </a:pPr>
            <a:r>
              <a:rPr lang="en-US" sz="1500" b="1" dirty="0">
                <a:solidFill>
                  <a:srgbClr val="B45309"/>
                </a:solidFill>
              </a:rPr>
              <a:t>Also: </a:t>
            </a:r>
            <a:pPr indent="0" marL="0">
              <a:buNone/>
            </a:pPr>
            <a:r>
              <a:rPr lang="en-US" sz="1500" dirty="0">
                <a:solidFill>
                  <a:schemeClr val="tx2"/>
                </a:solidFill>
              </a:rPr>
              <a:t>Zero Trust whole-agency unification · AI identity governance · help desk Entra operations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6035040" cy="164592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Backup</a:t>
            </a:r>
            <a:endParaRPr lang="en-US" sz="4400" dirty="0"/>
          </a:p>
        </p:txBody>
      </p:sp>
      <p:sp>
        <p:nvSpPr>
          <p:cNvPr id="3" name="Text 0"/>
          <p:cNvSpPr/>
          <p:nvPr>
            <p:ph idx="101" type="body" hasCustomPrompt="1"/>
          </p:nvPr>
        </p:nvSpPr>
        <p:spPr>
          <a:xfrm>
            <a:off x="731520" y="3520440"/>
            <a:ext cx="5852160" cy="1188720"/>
          </a:xfrm>
          <a:prstGeom prst="rect">
            <a:avLst/>
          </a:prstGeom>
          <a:noFill/>
          <a:ln/>
        </p:spPr>
        <p:txBody>
          <a:bodyPr wrap="square" lIns="0" tIns="0" rIns="0" bIns="0" rtlCol="0" anchor="t"/>
          <a:lstStyle/>
          <a:p>
            <a:pPr indent="0" marL="0">
              <a:buNone/>
            </a:pPr>
            <a:r>
              <a:rPr lang="en-US" sz="2200" dirty="0">
                <a:solidFill>
                  <a:schemeClr val="accent2"/>
                </a:solidFill>
              </a:rPr>
              <a:t>Detail for questions — not presented</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Sources behind the executive slides</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9144000" cy="914400"/>
        </p:xfrm>
        <a:graphic>
          <a:graphicData uri="http://schemas.openxmlformats.org/drawingml/2006/table">
            <a:tbl>
              <a:tblPr/>
              <a:tblGrid>
                <a:gridCol w="4206240"/>
                <a:gridCol w="690372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Source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supports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NIST FIPS 201-3 (Jan. 2022); NIST SP 800-53 Rev. 5, PS-4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Revoke credentials at separation; complete PIV termination within 18 hours if the card cannot be collected.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OMB/OPM memo, “Federal HR 2.0” (Dec. 10, 2025)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Consolidates core HCM on Oracle Fusion Cloud HCM in agency waves; describes interconnections during onboarding. Agency milestones: confirm with the program office.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4" name="Assumptions note"/>
          <p:cNvSpPr txBox="1"/>
          <p:nvPr/>
        </p:nvSpPr>
        <p:spPr>
          <a:xfrm>
            <a:off x="548640" y="4434840"/>
            <a:ext cx="10332720" cy="868680"/>
          </a:xfrm>
          <a:prstGeom prst="rect">
            <a:avLst/>
          </a:prstGeom>
          <a:noFill/>
          <a:ln/>
        </p:spPr>
        <p:txBody>
          <a:bodyPr wrap="square" lIns="0" tIns="0" rIns="0" bIns="0" rtlCol="0" anchor="t"/>
          <a:lstStyle/>
          <a:p>
            <a:pPr indent="0" marL="0">
              <a:buNone/>
            </a:pPr>
            <a:r>
              <a:rPr lang="en-US" sz="1100" b="1" dirty="0">
                <a:solidFill>
                  <a:srgbClr val="1F2A44"/>
                </a:solidFill>
              </a:rPr>
              <a:t>Assumptions and validation: </a:t>
            </a:r>
            <a:pPr indent="0" marL="0">
              <a:buNone/>
            </a:pPr>
            <a:r>
              <a:rPr lang="en-US" sz="1100" dirty="0">
                <a:solidFill>
                  <a:srgbClr val="64748B"/>
                </a:solidFill>
              </a:rPr>
              <a:t>This presentation distinguishes verified public information from proposed architecture and program-specific assumptions. Items such as current onboarding dates, source-system capabilities, contractor authority, lifecycle mappings, and the enterprise person key require confirmation with the responsible agency and OPM data owners before implementation. The architecture is designed so those findings can be incorporated without changing its core model.</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Use the onboarding window to design HR-driven identity</a:t>
            </a:r>
            <a:endParaRPr lang="en-US" sz="3000" dirty="0"/>
          </a:p>
        </p:txBody>
      </p:sp>
      <p:sp>
        <p:nvSpPr>
          <p:cNvPr id="3" name="Two migrations, regardless card"/>
          <p:cNvSpPr/>
          <p:nvPr/>
        </p:nvSpPr>
        <p:spPr>
          <a:xfrm>
            <a:off x="548640" y="1417320"/>
            <a:ext cx="3611880" cy="3063240"/>
          </a:xfrm>
          <a:prstGeom prst="roundRect">
            <a:avLst>
              <a:gd name="adj" fmla="val 2388"/>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4" name="Icon FaArrowsRotate"/>
          <p:cNvSpPr/>
          <p:nvPr/>
        </p:nvSpPr>
        <p:spPr>
          <a:xfrm>
            <a:off x="777240" y="1618488"/>
            <a:ext cx="548640" cy="548640"/>
          </a:xfrm>
          <a:prstGeom prst="ellipse">
            <a:avLst/>
          </a:prstGeom>
          <a:solidFill>
            <a:srgbClr val="1F2A44"/>
          </a:solidFill>
          <a:ln w="12700">
            <a:solidFill>
              <a:srgbClr val="1F2A44"/>
            </a:solidFill>
            <a:prstDash val="solid"/>
          </a:ln>
        </p:spPr>
      </p:sp>
      <p:pic>
        <p:nvPicPr>
          <p:cNvPr id="5" name="Image 0" descr="C:\Users\whale\git\uiao\inbox\SSA-Interview\build\icons\FaArrowsRotate.png">    </p:cNvPr>
          <p:cNvPicPr>
            <a:picLocks noChangeAspect="1"/>
          </p:cNvPicPr>
          <p:nvPr/>
        </p:nvPicPr>
        <p:blipFill>
          <a:blip r:embed="rId1"/>
          <a:stretch>
            <a:fillRect/>
          </a:stretch>
        </p:blipFill>
        <p:spPr>
          <a:xfrm>
            <a:off x="908914" y="1750162"/>
            <a:ext cx="285293" cy="285293"/>
          </a:xfrm>
          <a:prstGeom prst="rect">
            <a:avLst/>
          </a:prstGeom>
        </p:spPr>
      </p:pic>
      <p:sp>
        <p:nvSpPr>
          <p:cNvPr id="6" name="Two migrations, regardless heading"/>
          <p:cNvSpPr txBox="1"/>
          <p:nvPr/>
        </p:nvSpPr>
        <p:spPr>
          <a:xfrm>
            <a:off x="1463040" y="1618488"/>
            <a:ext cx="2560320" cy="548640"/>
          </a:xfrm>
          <a:prstGeom prst="rect">
            <a:avLst/>
          </a:prstGeom>
          <a:noFill/>
          <a:ln/>
        </p:spPr>
        <p:txBody>
          <a:bodyPr wrap="square" lIns="0" tIns="0" rIns="0" bIns="0" rtlCol="0" anchor="ctr"/>
          <a:lstStyle/>
          <a:p>
            <a:pPr indent="0" marL="0">
              <a:buNone/>
            </a:pPr>
            <a:r>
              <a:rPr lang="en-US" sz="1800" b="1" dirty="0">
                <a:solidFill>
                  <a:srgbClr val="1F2A44"/>
                </a:solidFill>
                <a:latin typeface="Cambria" pitchFamily="34" charset="0"/>
                <a:ea typeface="Cambria" pitchFamily="34" charset="-122"/>
                <a:cs typeface="Cambria" pitchFamily="34" charset="-120"/>
              </a:rPr>
              <a:t>Two migrations, regardless</a:t>
            </a:r>
            <a:endParaRPr lang="en-US" sz="1800" dirty="0"/>
          </a:p>
        </p:txBody>
      </p:sp>
      <p:sp>
        <p:nvSpPr>
          <p:cNvPr id="7" name="Two migrations, regardless text"/>
          <p:cNvSpPr txBox="1"/>
          <p:nvPr/>
        </p:nvSpPr>
        <p:spPr>
          <a:xfrm>
            <a:off x="777240" y="2331720"/>
            <a:ext cx="3200400" cy="2057400"/>
          </a:xfrm>
          <a:prstGeom prst="rect">
            <a:avLst/>
          </a:prstGeom>
          <a:noFill/>
          <a:ln/>
        </p:spPr>
        <p:txBody>
          <a:bodyPr wrap="square" lIns="0" tIns="0" rIns="0" bIns="0" rtlCol="0" anchor="t"/>
          <a:lstStyle/>
          <a:p>
            <a:pPr marL="342900" indent="-342900">
              <a:spcAft>
                <a:spcPts val="500"/>
              </a:spcAft>
              <a:buSzPct val="100000"/>
              <a:buChar char="•"/>
            </a:pPr>
            <a:r>
              <a:rPr lang="en-US" sz="1550" dirty="0">
                <a:solidFill>
                  <a:schemeClr val="tx2"/>
                </a:solidFill>
              </a:rPr>
              <a:t>HR moves to Core HCM: new interconnections, cleaned data</a:t>
            </a:r>
            <a:endParaRPr lang="en-US" sz="1550" dirty="0"/>
          </a:p>
          <a:p>
            <a:pPr marL="342900" indent="-342900">
              <a:spcAft>
                <a:spcPts val="500"/>
              </a:spcAft>
              <a:buSzPct val="100000"/>
              <a:buChar char="•"/>
            </a:pPr>
            <a:r>
              <a:rPr lang="en-US" sz="1550" dirty="0">
                <a:solidFill>
                  <a:schemeClr val="tx2"/>
                </a:solidFill>
              </a:rPr>
              <a:t>Identity moves from AD toward Entra ID</a:t>
            </a:r>
            <a:endParaRPr lang="en-US" sz="1550" dirty="0"/>
          </a:p>
          <a:p>
            <a:pPr marL="342900" indent="-342900">
              <a:spcAft>
                <a:spcPts val="500"/>
              </a:spcAft>
              <a:buSzPct val="100000"/>
              <a:buChar char="•"/>
            </a:pPr>
            <a:r>
              <a:rPr lang="en-US" sz="1550" dirty="0">
                <a:solidFill>
                  <a:schemeClr val="tx2"/>
                </a:solidFill>
              </a:rPr>
              <a:t>Today: lifecycle substantially manual; many changes ticket-dependent</a:t>
            </a:r>
            <a:endParaRPr lang="en-US" sz="1550" dirty="0"/>
          </a:p>
        </p:txBody>
      </p:sp>
      <p:sp>
        <p:nvSpPr>
          <p:cNvPr id="8" name="The agency’s call card"/>
          <p:cNvSpPr/>
          <p:nvPr/>
        </p:nvSpPr>
        <p:spPr>
          <a:xfrm>
            <a:off x="4297680" y="1417320"/>
            <a:ext cx="3611880" cy="3063240"/>
          </a:xfrm>
          <a:prstGeom prst="roundRect">
            <a:avLst>
              <a:gd name="adj" fmla="val 2388"/>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Icon FaLandmark"/>
          <p:cNvSpPr/>
          <p:nvPr/>
        </p:nvSpPr>
        <p:spPr>
          <a:xfrm>
            <a:off x="4526280" y="1618488"/>
            <a:ext cx="548640" cy="548640"/>
          </a:xfrm>
          <a:prstGeom prst="ellipse">
            <a:avLst/>
          </a:prstGeom>
          <a:solidFill>
            <a:srgbClr val="0F766E"/>
          </a:solidFill>
          <a:ln w="12700">
            <a:solidFill>
              <a:srgbClr val="0F766E"/>
            </a:solidFill>
            <a:prstDash val="solid"/>
          </a:ln>
        </p:spPr>
      </p:sp>
      <p:pic>
        <p:nvPicPr>
          <p:cNvPr id="10" name="Image 1" descr="C:\Users\whale\git\uiao\inbox\SSA-Interview\build\icons\FaLandmark.png">    </p:cNvPr>
          <p:cNvPicPr>
            <a:picLocks noChangeAspect="1"/>
          </p:cNvPicPr>
          <p:nvPr/>
        </p:nvPicPr>
        <p:blipFill>
          <a:blip r:embed="rId2"/>
          <a:stretch>
            <a:fillRect/>
          </a:stretch>
        </p:blipFill>
        <p:spPr>
          <a:xfrm>
            <a:off x="4657954" y="1750162"/>
            <a:ext cx="285293" cy="285293"/>
          </a:xfrm>
          <a:prstGeom prst="rect">
            <a:avLst/>
          </a:prstGeom>
        </p:spPr>
      </p:pic>
      <p:sp>
        <p:nvSpPr>
          <p:cNvPr id="11" name="The agency’s call heading"/>
          <p:cNvSpPr txBox="1"/>
          <p:nvPr/>
        </p:nvSpPr>
        <p:spPr>
          <a:xfrm>
            <a:off x="5212080" y="1618488"/>
            <a:ext cx="2560320" cy="548640"/>
          </a:xfrm>
          <a:prstGeom prst="rect">
            <a:avLst/>
          </a:prstGeom>
          <a:noFill/>
          <a:ln/>
        </p:spPr>
        <p:txBody>
          <a:bodyPr wrap="square" lIns="0" tIns="0" rIns="0" bIns="0" rtlCol="0" anchor="ctr"/>
          <a:lstStyle/>
          <a:p>
            <a:pPr indent="0" marL="0">
              <a:buNone/>
            </a:pPr>
            <a:r>
              <a:rPr lang="en-US" sz="1800" b="1" dirty="0">
                <a:solidFill>
                  <a:srgbClr val="0F766E"/>
                </a:solidFill>
                <a:latin typeface="Cambria" pitchFamily="34" charset="0"/>
                <a:ea typeface="Cambria" pitchFamily="34" charset="-122"/>
                <a:cs typeface="Cambria" pitchFamily="34" charset="-120"/>
              </a:rPr>
              <a:t>The agency’s call</a:t>
            </a:r>
            <a:endParaRPr lang="en-US" sz="1800" dirty="0"/>
          </a:p>
        </p:txBody>
      </p:sp>
      <p:sp>
        <p:nvSpPr>
          <p:cNvPr id="12" name="The agency’s call text"/>
          <p:cNvSpPr txBox="1"/>
          <p:nvPr/>
        </p:nvSpPr>
        <p:spPr>
          <a:xfrm>
            <a:off x="4526280" y="2331720"/>
            <a:ext cx="3200400" cy="2057400"/>
          </a:xfrm>
          <a:prstGeom prst="rect">
            <a:avLst/>
          </a:prstGeom>
          <a:noFill/>
          <a:ln/>
        </p:spPr>
        <p:txBody>
          <a:bodyPr wrap="square" lIns="0" tIns="0" rIns="0" bIns="0" rtlCol="0" anchor="t"/>
          <a:lstStyle/>
          <a:p>
            <a:pPr marL="342900" indent="-342900">
              <a:spcAft>
                <a:spcPts val="500"/>
              </a:spcAft>
              <a:buSzPct val="100000"/>
              <a:buChar char="•"/>
            </a:pPr>
            <a:r>
              <a:rPr lang="en-US" sz="1550" dirty="0">
                <a:solidFill>
                  <a:schemeClr val="tx2"/>
                </a:solidFill>
              </a:rPr>
              <a:t>OPM fixes the HR side: platform, waves, interfaces</a:t>
            </a:r>
            <a:endParaRPr lang="en-US" sz="1550" dirty="0"/>
          </a:p>
          <a:p>
            <a:pPr marL="342900" indent="-342900">
              <a:spcAft>
                <a:spcPts val="500"/>
              </a:spcAft>
              <a:buSzPct val="100000"/>
              <a:buChar char="•"/>
            </a:pPr>
            <a:r>
              <a:rPr lang="en-US" sz="1550" dirty="0">
                <a:solidFill>
                  <a:schemeClr val="tx2"/>
                </a:solidFill>
              </a:rPr>
              <a:t>The agency’s directory and ICAM design is its own decision</a:t>
            </a:r>
            <a:endParaRPr lang="en-US" sz="1550" dirty="0"/>
          </a:p>
          <a:p>
            <a:pPr marL="342900" indent="-342900">
              <a:spcAft>
                <a:spcPts val="500"/>
              </a:spcAft>
              <a:buSzPct val="100000"/>
              <a:buChar char="•"/>
            </a:pPr>
            <a:r>
              <a:rPr lang="en-US" sz="1550" dirty="0">
                <a:solidFill>
                  <a:schemeClr val="tx2"/>
                </a:solidFill>
              </a:rPr>
              <a:t>The solicitation requires SCIM 2.0 provisioning — the protocol Entra ID consumes</a:t>
            </a:r>
            <a:endParaRPr lang="en-US" sz="1550" dirty="0"/>
          </a:p>
        </p:txBody>
      </p:sp>
      <p:sp>
        <p:nvSpPr>
          <p:cNvPr id="13" name="The proposal card"/>
          <p:cNvSpPr/>
          <p:nvPr/>
        </p:nvSpPr>
        <p:spPr>
          <a:xfrm>
            <a:off x="8046720" y="1417320"/>
            <a:ext cx="3611880" cy="3063240"/>
          </a:xfrm>
          <a:prstGeom prst="roundRect">
            <a:avLst>
              <a:gd name="adj" fmla="val 2388"/>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4" name="Icon FaLightbulb"/>
          <p:cNvSpPr/>
          <p:nvPr/>
        </p:nvSpPr>
        <p:spPr>
          <a:xfrm>
            <a:off x="8275320" y="1618488"/>
            <a:ext cx="548640" cy="548640"/>
          </a:xfrm>
          <a:prstGeom prst="ellipse">
            <a:avLst/>
          </a:prstGeom>
          <a:solidFill>
            <a:srgbClr val="B45309"/>
          </a:solidFill>
          <a:ln w="12700">
            <a:solidFill>
              <a:srgbClr val="B45309"/>
            </a:solidFill>
            <a:prstDash val="solid"/>
          </a:ln>
        </p:spPr>
      </p:sp>
      <p:pic>
        <p:nvPicPr>
          <p:cNvPr id="15" name="Image 2" descr="C:\Users\whale\git\uiao\inbox\SSA-Interview\build\icons\FaLightbulb.png">    </p:cNvPr>
          <p:cNvPicPr>
            <a:picLocks noChangeAspect="1"/>
          </p:cNvPicPr>
          <p:nvPr/>
        </p:nvPicPr>
        <p:blipFill>
          <a:blip r:embed="rId3"/>
          <a:stretch>
            <a:fillRect/>
          </a:stretch>
        </p:blipFill>
        <p:spPr>
          <a:xfrm>
            <a:off x="8406994" y="1750162"/>
            <a:ext cx="285293" cy="285293"/>
          </a:xfrm>
          <a:prstGeom prst="rect">
            <a:avLst/>
          </a:prstGeom>
        </p:spPr>
      </p:pic>
      <p:sp>
        <p:nvSpPr>
          <p:cNvPr id="16" name="The proposal heading"/>
          <p:cNvSpPr txBox="1"/>
          <p:nvPr/>
        </p:nvSpPr>
        <p:spPr>
          <a:xfrm>
            <a:off x="8961120" y="1618488"/>
            <a:ext cx="2560320" cy="548640"/>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The proposal</a:t>
            </a:r>
            <a:endParaRPr lang="en-US" sz="1800" dirty="0"/>
          </a:p>
        </p:txBody>
      </p:sp>
      <p:sp>
        <p:nvSpPr>
          <p:cNvPr id="17" name="The proposal text"/>
          <p:cNvSpPr txBox="1"/>
          <p:nvPr/>
        </p:nvSpPr>
        <p:spPr>
          <a:xfrm>
            <a:off x="8275320" y="2331720"/>
            <a:ext cx="3200400" cy="2057400"/>
          </a:xfrm>
          <a:prstGeom prst="rect">
            <a:avLst/>
          </a:prstGeom>
          <a:noFill/>
          <a:ln/>
        </p:spPr>
        <p:txBody>
          <a:bodyPr wrap="square" lIns="0" tIns="0" rIns="0" bIns="0" rtlCol="0" anchor="t"/>
          <a:lstStyle/>
          <a:p>
            <a:pPr marL="342900" indent="-342900">
              <a:spcAft>
                <a:spcPts val="500"/>
              </a:spcAft>
              <a:buSzPct val="100000"/>
              <a:buChar char="•"/>
            </a:pPr>
            <a:r>
              <a:rPr lang="en-US" sz="1550" dirty="0">
                <a:solidFill>
                  <a:schemeClr val="tx2"/>
                </a:solidFill>
              </a:rPr>
              <a:t>Start HR-driven identity: HR becomes the source of authority</a:t>
            </a:r>
            <a:endParaRPr lang="en-US" sz="1550" dirty="0"/>
          </a:p>
          <a:p>
            <a:pPr marL="342900" indent="-342900">
              <a:spcAft>
                <a:spcPts val="500"/>
              </a:spcAft>
              <a:buSzPct val="100000"/>
              <a:buChar char="•"/>
            </a:pPr>
            <a:r>
              <a:rPr lang="en-US" sz="1550" dirty="0">
                <a:solidFill>
                  <a:schemeClr val="tx2"/>
                </a:solidFill>
              </a:rPr>
              <a:t>Expressed in OPM standard attributes</a:t>
            </a:r>
            <a:endParaRPr lang="en-US" sz="1550" dirty="0"/>
          </a:p>
          <a:p>
            <a:pPr marL="342900" indent="-342900">
              <a:spcAft>
                <a:spcPts val="500"/>
              </a:spcAft>
              <a:buSzPct val="100000"/>
              <a:buChar char="•"/>
            </a:pPr>
            <a:r>
              <a:rPr lang="en-US" sz="1550" dirty="0">
                <a:solidFill>
                  <a:schemeClr val="tx2"/>
                </a:solidFill>
              </a:rPr>
              <a:t>Driving Entra ID, AD and ICAM by rule, with evidence</a:t>
            </a:r>
            <a:endParaRPr lang="en-US" sz="1550" dirty="0"/>
          </a:p>
        </p:txBody>
      </p:sp>
      <p:sp>
        <p:nvSpPr>
          <p:cNvPr id="18" name="Choice"/>
          <p:cNvSpPr/>
          <p:nvPr/>
        </p:nvSpPr>
        <p:spPr>
          <a:xfrm>
            <a:off x="548640" y="4663440"/>
            <a:ext cx="11109960" cy="1234440"/>
          </a:xfrm>
          <a:prstGeom prst="roundRect">
            <a:avLst>
              <a:gd name="adj" fmla="val 5926"/>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9" name="Choice text"/>
          <p:cNvSpPr txBox="1"/>
          <p:nvPr/>
        </p:nvSpPr>
        <p:spPr>
          <a:xfrm>
            <a:off x="868680" y="4754880"/>
            <a:ext cx="10515600" cy="1051560"/>
          </a:xfrm>
          <a:prstGeom prst="rect">
            <a:avLst/>
          </a:prstGeom>
          <a:noFill/>
          <a:ln/>
        </p:spPr>
        <p:txBody>
          <a:bodyPr wrap="square" lIns="0" tIns="0" rIns="0" bIns="0" rtlCol="0" anchor="ctr"/>
          <a:lstStyle/>
          <a:p>
            <a:pPr indent="0" marL="0">
              <a:buNone/>
            </a:pPr>
            <a:r>
              <a:rPr lang="en-US" sz="1800" b="1" dirty="0">
                <a:solidFill>
                  <a:srgbClr val="B45309"/>
                </a:solidFill>
              </a:rPr>
              <a:t>The choice: </a:t>
            </a:r>
            <a:pPr indent="0" marL="0">
              <a:buNone/>
            </a:pPr>
            <a:r>
              <a:rPr lang="en-US" sz="1800" dirty="0">
                <a:solidFill>
                  <a:schemeClr val="tx2"/>
                </a:solidFill>
              </a:rPr>
              <a:t>carry ticket-driven identity through both migrations — or use them to start HR-driven identity, once, while both platforms are being rebuilt anyway.</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Why we need HR-driven ICAM now</a:t>
            </a:r>
            <a:endParaRPr lang="en-US" sz="3000" dirty="0"/>
          </a:p>
        </p:txBody>
      </p:sp>
      <p:sp>
        <p:nvSpPr>
          <p:cNvPr id="3" name="Chain 1"/>
          <p:cNvSpPr/>
          <p:nvPr/>
        </p:nvSpPr>
        <p:spPr>
          <a:xfrm>
            <a:off x="548640" y="1371600"/>
            <a:ext cx="2468880" cy="1691640"/>
          </a:xfrm>
          <a:prstGeom prst="roundRect">
            <a:avLst>
              <a:gd name="adj" fmla="val 4324"/>
            </a:avLst>
          </a:prstGeom>
          <a:solidFill>
            <a:srgbClr val="E9EEF4"/>
          </a:solidFill>
          <a:ln w="12700">
            <a:solidFill>
              <a:srgbClr val="64748B"/>
            </a:solidFill>
            <a:prstDash val="solid"/>
          </a:ln>
          <a:effectLst>
            <a:outerShdw sx="100000" sy="100000" kx="0" ky="0" algn="bl" rotWithShape="0" blurRad="76200" dist="25400" dir="5400000">
              <a:srgbClr val="64748B">
                <a:alpha val="22000"/>
              </a:srgbClr>
            </a:outerShdw>
          </a:effectLst>
        </p:spPr>
      </p:sp>
      <p:sp>
        <p:nvSpPr>
          <p:cNvPr id="4" name="Chain 1 text"/>
          <p:cNvSpPr txBox="1"/>
          <p:nvPr/>
        </p:nvSpPr>
        <p:spPr>
          <a:xfrm>
            <a:off x="731520" y="1481328"/>
            <a:ext cx="2103120" cy="1508760"/>
          </a:xfrm>
          <a:prstGeom prst="rect">
            <a:avLst/>
          </a:prstGeom>
          <a:noFill/>
          <a:ln/>
        </p:spPr>
        <p:txBody>
          <a:bodyPr wrap="square" lIns="0" tIns="0" rIns="0" bIns="0" rtlCol="0" anchor="t"/>
          <a:lstStyle/>
          <a:p>
            <a:pPr indent="0" marL="0">
              <a:spcAft>
                <a:spcPts val="400"/>
              </a:spcAft>
              <a:buNone/>
            </a:pPr>
            <a:r>
              <a:rPr lang="en-US" sz="1100" b="1" dirty="0">
                <a:solidFill>
                  <a:srgbClr val="64748B"/>
                </a:solidFill>
              </a:rPr>
              <a:t>THE STRATEGY</a:t>
            </a:r>
            <a:endParaRPr lang="en-US" sz="1400" dirty="0"/>
          </a:p>
          <a:p>
            <a:pPr indent="0" marL="0">
              <a:spcAft>
                <a:spcPts val="400"/>
              </a:spcAft>
              <a:buNone/>
            </a:pPr>
            <a:r>
              <a:rPr lang="en-US" sz="1900" b="1" dirty="0">
                <a:solidFill>
                  <a:srgbClr val="64748B"/>
                </a:solidFill>
                <a:latin typeface="Cambria" pitchFamily="34" charset="0"/>
                <a:ea typeface="Cambria" pitchFamily="34" charset="-122"/>
                <a:cs typeface="Cambria" pitchFamily="34" charset="-120"/>
              </a:rPr>
              <a:t>Zero Trust</a:t>
            </a:r>
            <a:endParaRPr lang="en-US" sz="1400" dirty="0"/>
          </a:p>
          <a:p>
            <a:pPr indent="0" marL="0">
              <a:spcAft>
                <a:spcPts val="400"/>
              </a:spcAft>
              <a:buNone/>
            </a:pPr>
            <a:r>
              <a:rPr lang="en-US" sz="1350" dirty="0">
                <a:solidFill>
                  <a:schemeClr val="tx2"/>
                </a:solidFill>
              </a:rPr>
              <a:t>OMB M‑22‑09 · NIST SP 800‑207 · CISA ZTMM</a:t>
            </a:r>
            <a:endParaRPr lang="en-US" sz="1400" dirty="0"/>
          </a:p>
        </p:txBody>
      </p:sp>
      <p:sp>
        <p:nvSpPr>
          <p:cNvPr id="5" name="Chain 2"/>
          <p:cNvSpPr/>
          <p:nvPr/>
        </p:nvSpPr>
        <p:spPr>
          <a:xfrm>
            <a:off x="3429000" y="1371600"/>
            <a:ext cx="2468880" cy="1691640"/>
          </a:xfrm>
          <a:prstGeom prst="roundRect">
            <a:avLst>
              <a:gd name="adj" fmla="val 4324"/>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Chain 2 text"/>
          <p:cNvSpPr txBox="1"/>
          <p:nvPr/>
        </p:nvSpPr>
        <p:spPr>
          <a:xfrm>
            <a:off x="3611880" y="1481328"/>
            <a:ext cx="2103120" cy="1508760"/>
          </a:xfrm>
          <a:prstGeom prst="rect">
            <a:avLst/>
          </a:prstGeom>
          <a:noFill/>
          <a:ln/>
        </p:spPr>
        <p:txBody>
          <a:bodyPr wrap="square" lIns="0" tIns="0" rIns="0" bIns="0" rtlCol="0" anchor="t"/>
          <a:lstStyle/>
          <a:p>
            <a:pPr indent="0" marL="0">
              <a:spcAft>
                <a:spcPts val="400"/>
              </a:spcAft>
              <a:buNone/>
            </a:pPr>
            <a:r>
              <a:rPr lang="en-US" sz="1100" b="1" dirty="0">
                <a:solidFill>
                  <a:srgbClr val="1F2A44"/>
                </a:solidFill>
              </a:rPr>
              <a:t>ONE DELIVERY MODEL</a:t>
            </a:r>
            <a:endParaRPr lang="en-US" sz="1400" dirty="0"/>
          </a:p>
          <a:p>
            <a:pPr indent="0" marL="0">
              <a:spcAft>
                <a:spcPts val="400"/>
              </a:spcAft>
              <a:buNone/>
            </a:pPr>
            <a:r>
              <a:rPr lang="en-US" sz="1900" b="1" dirty="0">
                <a:solidFill>
                  <a:srgbClr val="1F2A44"/>
                </a:solidFill>
                <a:latin typeface="Cambria" pitchFamily="34" charset="0"/>
                <a:ea typeface="Cambria" pitchFamily="34" charset="-122"/>
                <a:cs typeface="Cambria" pitchFamily="34" charset="-120"/>
              </a:rPr>
              <a:t>SASE</a:t>
            </a:r>
            <a:endParaRPr lang="en-US" sz="1400" dirty="0"/>
          </a:p>
          <a:p>
            <a:pPr indent="0" marL="0">
              <a:spcAft>
                <a:spcPts val="400"/>
              </a:spcAft>
              <a:buNone/>
            </a:pPr>
            <a:r>
              <a:rPr lang="en-US" sz="1350" dirty="0">
                <a:solidFill>
                  <a:schemeClr val="tx2"/>
                </a:solidFill>
              </a:rPr>
              <a:t>Zero Trust controls enforced near users and cloud resources (TIC 3.0)</a:t>
            </a:r>
            <a:endParaRPr lang="en-US" sz="1400" dirty="0"/>
          </a:p>
        </p:txBody>
      </p:sp>
      <p:sp>
        <p:nvSpPr>
          <p:cNvPr id="7" name="Chain 3"/>
          <p:cNvSpPr/>
          <p:nvPr/>
        </p:nvSpPr>
        <p:spPr>
          <a:xfrm>
            <a:off x="6309360" y="1371600"/>
            <a:ext cx="2468880" cy="1691640"/>
          </a:xfrm>
          <a:prstGeom prst="roundRect">
            <a:avLst>
              <a:gd name="adj" fmla="val 4324"/>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8" name="Chain 3 text"/>
          <p:cNvSpPr txBox="1"/>
          <p:nvPr/>
        </p:nvSpPr>
        <p:spPr>
          <a:xfrm>
            <a:off x="6492240" y="1481328"/>
            <a:ext cx="2103120" cy="1508760"/>
          </a:xfrm>
          <a:prstGeom prst="rect">
            <a:avLst/>
          </a:prstGeom>
          <a:noFill/>
          <a:ln/>
        </p:spPr>
        <p:txBody>
          <a:bodyPr wrap="square" lIns="0" tIns="0" rIns="0" bIns="0" rtlCol="0" anchor="t"/>
          <a:lstStyle/>
          <a:p>
            <a:pPr indent="0" marL="0">
              <a:spcAft>
                <a:spcPts val="400"/>
              </a:spcAft>
              <a:buNone/>
            </a:pPr>
            <a:r>
              <a:rPr lang="en-US" sz="1100" b="1" dirty="0">
                <a:solidFill>
                  <a:srgbClr val="0F766E"/>
                </a:solidFill>
              </a:rPr>
              <a:t>THE DECISION</a:t>
            </a:r>
            <a:endParaRPr lang="en-US" sz="1400" dirty="0"/>
          </a:p>
          <a:p>
            <a:pPr indent="0" marL="0">
              <a:spcAft>
                <a:spcPts val="400"/>
              </a:spcAft>
              <a:buNone/>
            </a:pPr>
            <a:r>
              <a:rPr lang="en-US" sz="1900" b="1" dirty="0">
                <a:solidFill>
                  <a:srgbClr val="0F766E"/>
                </a:solidFill>
                <a:latin typeface="Cambria" pitchFamily="34" charset="0"/>
                <a:ea typeface="Cambria" pitchFamily="34" charset="-122"/>
                <a:cs typeface="Cambria" pitchFamily="34" charset="-120"/>
              </a:rPr>
              <a:t>ICAM in Entra ID</a:t>
            </a:r>
            <a:endParaRPr lang="en-US" sz="1400" dirty="0"/>
          </a:p>
          <a:p>
            <a:pPr indent="0" marL="0">
              <a:spcAft>
                <a:spcPts val="400"/>
              </a:spcAft>
              <a:buNone/>
            </a:pPr>
            <a:r>
              <a:rPr lang="en-US" sz="1350" dirty="0">
                <a:solidFill>
                  <a:schemeClr val="tx2"/>
                </a:solidFill>
              </a:rPr>
              <a:t>Token from PIV or phishing-resistant MFA; dynamic groups read attributes</a:t>
            </a:r>
            <a:endParaRPr lang="en-US" sz="1400" dirty="0"/>
          </a:p>
        </p:txBody>
      </p:sp>
      <p:sp>
        <p:nvSpPr>
          <p:cNvPr id="9" name="Chain 4"/>
          <p:cNvSpPr/>
          <p:nvPr/>
        </p:nvSpPr>
        <p:spPr>
          <a:xfrm>
            <a:off x="9189720" y="1371600"/>
            <a:ext cx="2468880" cy="1691640"/>
          </a:xfrm>
          <a:prstGeom prst="roundRect">
            <a:avLst>
              <a:gd name="adj" fmla="val 4324"/>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0" name="Chain 4 text"/>
          <p:cNvSpPr txBox="1"/>
          <p:nvPr/>
        </p:nvSpPr>
        <p:spPr>
          <a:xfrm>
            <a:off x="9372600" y="1481328"/>
            <a:ext cx="2103120" cy="1508760"/>
          </a:xfrm>
          <a:prstGeom prst="rect">
            <a:avLst/>
          </a:prstGeom>
          <a:noFill/>
          <a:ln/>
        </p:spPr>
        <p:txBody>
          <a:bodyPr wrap="square" lIns="0" tIns="0" rIns="0" bIns="0" rtlCol="0" anchor="t"/>
          <a:lstStyle/>
          <a:p>
            <a:pPr indent="0" marL="0">
              <a:spcAft>
                <a:spcPts val="400"/>
              </a:spcAft>
              <a:buNone/>
            </a:pPr>
            <a:r>
              <a:rPr lang="en-US" sz="1100" b="1" dirty="0">
                <a:solidFill>
                  <a:srgbClr val="B45309"/>
                </a:solidFill>
              </a:rPr>
              <a:t>ACCURACY DECIDES ACCESS</a:t>
            </a:r>
            <a:endParaRPr lang="en-US" sz="1400" dirty="0"/>
          </a:p>
          <a:p>
            <a:pPr indent="0" marL="0">
              <a:spcAft>
                <a:spcPts val="400"/>
              </a:spcAft>
              <a:buNone/>
            </a:pPr>
            <a:r>
              <a:rPr lang="en-US" sz="1900" b="1" dirty="0">
                <a:solidFill>
                  <a:srgbClr val="B45309"/>
                </a:solidFill>
                <a:latin typeface="Cambria" pitchFamily="34" charset="0"/>
                <a:ea typeface="Cambria" pitchFamily="34" charset="-122"/>
                <a:cs typeface="Cambria" pitchFamily="34" charset="-120"/>
              </a:rPr>
              <a:t>Employee data</a:t>
            </a:r>
            <a:endParaRPr lang="en-US" sz="1400" dirty="0"/>
          </a:p>
          <a:p>
            <a:pPr indent="0" marL="0">
              <a:spcAft>
                <a:spcPts val="400"/>
              </a:spcAft>
              <a:buNone/>
            </a:pPr>
            <a:r>
              <a:rPr lang="en-US" sz="1350" dirty="0">
                <a:solidFill>
                  <a:schemeClr val="tx2"/>
                </a:solidFill>
              </a:rPr>
              <a:t>Organization, position, status, supervisor</a:t>
            </a:r>
            <a:endParaRPr lang="en-US" sz="1400" dirty="0"/>
          </a:p>
        </p:txBody>
      </p:sp>
      <p:sp>
        <p:nvSpPr>
          <p:cNvPr id="11" name="Shape 9"/>
          <p:cNvSpPr/>
          <p:nvPr/>
        </p:nvSpPr>
        <p:spPr>
          <a:xfrm>
            <a:off x="3017520" y="2212848"/>
            <a:ext cx="411480" cy="0"/>
          </a:xfrm>
          <a:prstGeom prst="line">
            <a:avLst/>
          </a:prstGeom>
          <a:noFill/>
          <a:ln w="22225">
            <a:solidFill>
              <a:srgbClr val="64748B"/>
            </a:solidFill>
            <a:prstDash val="solid"/>
            <a:tailEnd type="triangle"/>
          </a:ln>
        </p:spPr>
      </p:sp>
      <p:sp>
        <p:nvSpPr>
          <p:cNvPr id="12" name="Shape 10"/>
          <p:cNvSpPr/>
          <p:nvPr/>
        </p:nvSpPr>
        <p:spPr>
          <a:xfrm>
            <a:off x="5897880" y="2212848"/>
            <a:ext cx="411480" cy="0"/>
          </a:xfrm>
          <a:prstGeom prst="line">
            <a:avLst/>
          </a:prstGeom>
          <a:noFill/>
          <a:ln w="22225">
            <a:solidFill>
              <a:srgbClr val="64748B"/>
            </a:solidFill>
            <a:prstDash val="solid"/>
            <a:tailEnd type="triangle"/>
          </a:ln>
        </p:spPr>
      </p:sp>
      <p:sp>
        <p:nvSpPr>
          <p:cNvPr id="13" name="Shape 11"/>
          <p:cNvSpPr/>
          <p:nvPr/>
        </p:nvSpPr>
        <p:spPr>
          <a:xfrm>
            <a:off x="8778240" y="2212848"/>
            <a:ext cx="411480" cy="0"/>
          </a:xfrm>
          <a:prstGeom prst="line">
            <a:avLst/>
          </a:prstGeom>
          <a:noFill/>
          <a:ln w="22225">
            <a:solidFill>
              <a:srgbClr val="B45309"/>
            </a:solidFill>
            <a:prstDash val="solid"/>
            <a:headEnd type="triangle"/>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3337560"/>
          <a:ext cx="9144000" cy="1508760"/>
        </p:xfrm>
        <a:graphic>
          <a:graphicData uri="http://schemas.openxmlformats.org/drawingml/2006/table">
            <a:tbl>
              <a:tblPr/>
              <a:tblGrid>
                <a:gridCol w="2377440"/>
                <a:gridCol w="3840480"/>
                <a:gridCol w="4892040"/>
              </a:tblGrid>
              <a:tr h="377190">
                <a:tc>
                  <a:txBody>
                    <a:bodyPr/>
                    <a:lstStyle/>
                    <a:p>
                      <a:pPr indent="0" marL="0">
                        <a:buNone/>
                      </a:pP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Perimeter era</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Zero Trust (for example, through SASE)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7719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What decides access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Network location, then static groups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token evaluated against attributes and dynamic groups, every session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7719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 wrong department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wrong phone-book entry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wrong groups — and the wrong access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7719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 stale status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An orphaned account: a standing security violation that can enable a breach</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 valid token for a separated person, usable from anywhere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5" name="Takeaway"/>
          <p:cNvSpPr/>
          <p:nvPr/>
        </p:nvSpPr>
        <p:spPr>
          <a:xfrm>
            <a:off x="548640" y="5349240"/>
            <a:ext cx="11109960" cy="777240"/>
          </a:xfrm>
          <a:prstGeom prst="roundRect">
            <a:avLst>
              <a:gd name="adj" fmla="val 9412"/>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6" name="Takeaway text"/>
          <p:cNvSpPr txBox="1"/>
          <p:nvPr/>
        </p:nvSpPr>
        <p:spPr>
          <a:xfrm>
            <a:off x="868680" y="5394960"/>
            <a:ext cx="10515600" cy="685800"/>
          </a:xfrm>
          <a:prstGeom prst="rect">
            <a:avLst/>
          </a:prstGeom>
          <a:noFill/>
          <a:ln/>
        </p:spPr>
        <p:txBody>
          <a:bodyPr wrap="square" lIns="0" tIns="0" rIns="0" bIns="0" rtlCol="0" anchor="ctr"/>
          <a:lstStyle/>
          <a:p>
            <a:pPr indent="0" marL="0">
              <a:buNone/>
            </a:pPr>
            <a:r>
              <a:rPr lang="en-US" sz="1800" b="1" dirty="0">
                <a:solidFill>
                  <a:srgbClr val="B45309"/>
                </a:solidFill>
              </a:rPr>
              <a:t>When access decisions depend on attributes, </a:t>
            </a:r>
            <a:pPr indent="0" marL="0">
              <a:buNone/>
            </a:pPr>
            <a:r>
              <a:rPr lang="en-US" sz="1800" dirty="0">
                <a:solidFill>
                  <a:schemeClr val="tx2"/>
                </a:solidFill>
              </a:rPr>
              <a:t>the accuracy of employee data drives the accuracy of access.</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The everyday impact of manually provisioned ICAM</a:t>
            </a:r>
            <a:endParaRPr lang="en-US" sz="3000" dirty="0"/>
          </a:p>
        </p:txBody>
      </p:sp>
      <p:sp>
        <p:nvSpPr>
          <p:cNvPr id="3" name="Story 1"/>
          <p:cNvSpPr/>
          <p:nvPr/>
        </p:nvSpPr>
        <p:spPr>
          <a:xfrm>
            <a:off x="548640" y="1417320"/>
            <a:ext cx="5760720" cy="2057400"/>
          </a:xfrm>
          <a:prstGeom prst="roundRect">
            <a:avLst>
              <a:gd name="adj" fmla="val 3556"/>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4" name="Icon FaAddressBook"/>
          <p:cNvSpPr/>
          <p:nvPr/>
        </p:nvSpPr>
        <p:spPr>
          <a:xfrm>
            <a:off x="777240" y="1645920"/>
            <a:ext cx="640080" cy="640080"/>
          </a:xfrm>
          <a:prstGeom prst="ellipse">
            <a:avLst/>
          </a:prstGeom>
          <a:solidFill>
            <a:srgbClr val="B91C1C"/>
          </a:solidFill>
          <a:ln w="12700">
            <a:solidFill>
              <a:srgbClr val="B91C1C"/>
            </a:solidFill>
            <a:prstDash val="solid"/>
          </a:ln>
        </p:spPr>
      </p:sp>
      <p:pic>
        <p:nvPicPr>
          <p:cNvPr id="5" name="Image 0" descr="C:\Users\whale\git\uiao\inbox\SSA-Interview\build\icons\FaAddressBook.png">    </p:cNvPr>
          <p:cNvPicPr>
            <a:picLocks noChangeAspect="1"/>
          </p:cNvPicPr>
          <p:nvPr/>
        </p:nvPicPr>
        <p:blipFill>
          <a:blip r:embed="rId1"/>
          <a:stretch>
            <a:fillRect/>
          </a:stretch>
        </p:blipFill>
        <p:spPr>
          <a:xfrm>
            <a:off x="930859" y="1799539"/>
            <a:ext cx="332842" cy="332842"/>
          </a:xfrm>
          <a:prstGeom prst="rect">
            <a:avLst/>
          </a:prstGeom>
        </p:spPr>
      </p:pic>
      <p:sp>
        <p:nvSpPr>
          <p:cNvPr id="6" name="Story 1 text"/>
          <p:cNvSpPr txBox="1"/>
          <p:nvPr/>
        </p:nvSpPr>
        <p:spPr>
          <a:xfrm>
            <a:off x="1645920" y="1618488"/>
            <a:ext cx="4480560" cy="1737360"/>
          </a:xfrm>
          <a:prstGeom prst="rect">
            <a:avLst/>
          </a:prstGeom>
          <a:noFill/>
          <a:ln/>
        </p:spPr>
        <p:txBody>
          <a:bodyPr wrap="square" lIns="0" tIns="0" rIns="0" bIns="0" rtlCol="0" anchor="t"/>
          <a:lstStyle/>
          <a:p>
            <a:pPr indent="0" marL="0">
              <a:spcAft>
                <a:spcPts val="600"/>
              </a:spcAft>
              <a:buNone/>
            </a:pPr>
            <a:r>
              <a:rPr lang="en-US" sz="1900" b="1" dirty="0">
                <a:solidFill>
                  <a:srgbClr val="B91C1C"/>
                </a:solidFill>
                <a:latin typeface="Cambria" pitchFamily="34" charset="0"/>
                <a:ea typeface="Cambria" pitchFamily="34" charset="-122"/>
                <a:cs typeface="Cambria" pitchFamily="34" charset="-120"/>
              </a:rPr>
              <a:t>The phone book</a:t>
            </a:r>
            <a:endParaRPr lang="en-US" sz="1400" dirty="0"/>
          </a:p>
          <a:p>
            <a:pPr indent="0" marL="0">
              <a:spcAft>
                <a:spcPts val="600"/>
              </a:spcAft>
              <a:buNone/>
            </a:pPr>
            <a:r>
              <a:rPr lang="en-US" sz="1500" dirty="0">
                <a:solidFill>
                  <a:schemeClr val="tx2"/>
                </a:solidFill>
              </a:rPr>
              <a:t>In many agencies, HR changes are not automatically reflected in Active Directory, which feeds the phone book. Titles, offices, phone numbers and managers stay wrong until someone files a ticket.</a:t>
            </a:r>
            <a:endParaRPr lang="en-US" sz="1400" dirty="0"/>
          </a:p>
        </p:txBody>
      </p:sp>
      <p:sp>
        <p:nvSpPr>
          <p:cNvPr id="7" name="Story 2"/>
          <p:cNvSpPr/>
          <p:nvPr/>
        </p:nvSpPr>
        <p:spPr>
          <a:xfrm>
            <a:off x="548640" y="3657600"/>
            <a:ext cx="5760720" cy="2057400"/>
          </a:xfrm>
          <a:prstGeom prst="roundRect">
            <a:avLst>
              <a:gd name="adj" fmla="val 3556"/>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8" name="Icon FaUserTie"/>
          <p:cNvSpPr/>
          <p:nvPr/>
        </p:nvSpPr>
        <p:spPr>
          <a:xfrm>
            <a:off x="777240" y="3886200"/>
            <a:ext cx="640080" cy="640080"/>
          </a:xfrm>
          <a:prstGeom prst="ellipse">
            <a:avLst/>
          </a:prstGeom>
          <a:solidFill>
            <a:srgbClr val="B91C1C"/>
          </a:solidFill>
          <a:ln w="12700">
            <a:solidFill>
              <a:srgbClr val="B91C1C"/>
            </a:solidFill>
            <a:prstDash val="solid"/>
          </a:ln>
        </p:spPr>
      </p:sp>
      <p:pic>
        <p:nvPicPr>
          <p:cNvPr id="9" name="Image 1" descr="C:\Users\whale\git\uiao\inbox\SSA-Interview\build\icons\FaUserTie.png">    </p:cNvPr>
          <p:cNvPicPr>
            <a:picLocks noChangeAspect="1"/>
          </p:cNvPicPr>
          <p:nvPr/>
        </p:nvPicPr>
        <p:blipFill>
          <a:blip r:embed="rId2"/>
          <a:stretch>
            <a:fillRect/>
          </a:stretch>
        </p:blipFill>
        <p:spPr>
          <a:xfrm>
            <a:off x="930859" y="4039819"/>
            <a:ext cx="332842" cy="332842"/>
          </a:xfrm>
          <a:prstGeom prst="rect">
            <a:avLst/>
          </a:prstGeom>
        </p:spPr>
      </p:pic>
      <p:sp>
        <p:nvSpPr>
          <p:cNvPr id="10" name="Story 2 text"/>
          <p:cNvSpPr txBox="1"/>
          <p:nvPr/>
        </p:nvSpPr>
        <p:spPr>
          <a:xfrm>
            <a:off x="1645920" y="3858768"/>
            <a:ext cx="4480560" cy="1737360"/>
          </a:xfrm>
          <a:prstGeom prst="rect">
            <a:avLst/>
          </a:prstGeom>
          <a:noFill/>
          <a:ln/>
        </p:spPr>
        <p:txBody>
          <a:bodyPr wrap="square" lIns="0" tIns="0" rIns="0" bIns="0" rtlCol="0" anchor="t"/>
          <a:lstStyle/>
          <a:p>
            <a:pPr indent="0" marL="0">
              <a:spcAft>
                <a:spcPts val="600"/>
              </a:spcAft>
              <a:buNone/>
            </a:pPr>
            <a:r>
              <a:rPr lang="en-US" sz="1900" b="1" dirty="0">
                <a:solidFill>
                  <a:srgbClr val="B91C1C"/>
                </a:solidFill>
                <a:latin typeface="Cambria" pitchFamily="34" charset="0"/>
                <a:ea typeface="Cambria" pitchFamily="34" charset="-122"/>
                <a:cs typeface="Cambria" pitchFamily="34" charset="-120"/>
              </a:rPr>
              <a:t>Every change of management</a:t>
            </a:r>
            <a:endParaRPr lang="en-US" sz="1400" dirty="0"/>
          </a:p>
          <a:p>
            <a:pPr indent="0" marL="0">
              <a:spcAft>
                <a:spcPts val="600"/>
              </a:spcAft>
              <a:buNone/>
            </a:pPr>
            <a:r>
              <a:rPr lang="en-US" sz="1500" dirty="0">
                <a:solidFill>
                  <a:schemeClr val="tx2"/>
                </a:solidFill>
              </a:rPr>
              <a:t>A person’s organization, manager and access to tools are updated by hand — by ticket, after the fact, every time.</a:t>
            </a:r>
            <a:endParaRPr lang="en-US" sz="1400" dirty="0"/>
          </a:p>
        </p:txBody>
      </p:sp>
      <p:sp>
        <p:nvSpPr>
          <p:cNvPr id="11" name="HR-driven panel"/>
          <p:cNvSpPr/>
          <p:nvPr/>
        </p:nvSpPr>
        <p:spPr>
          <a:xfrm>
            <a:off x="6583680" y="1417320"/>
            <a:ext cx="5074920" cy="4297680"/>
          </a:xfrm>
          <a:prstGeom prst="roundRect">
            <a:avLst>
              <a:gd name="adj" fmla="val 170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2" name="Icon FaRightLeft"/>
          <p:cNvSpPr/>
          <p:nvPr/>
        </p:nvSpPr>
        <p:spPr>
          <a:xfrm>
            <a:off x="6812280" y="1600200"/>
            <a:ext cx="548640" cy="548640"/>
          </a:xfrm>
          <a:prstGeom prst="ellipse">
            <a:avLst/>
          </a:prstGeom>
          <a:solidFill>
            <a:srgbClr val="0F766E"/>
          </a:solidFill>
          <a:ln w="12700">
            <a:solidFill>
              <a:srgbClr val="0F766E"/>
            </a:solidFill>
            <a:prstDash val="solid"/>
          </a:ln>
        </p:spPr>
      </p:sp>
      <p:pic>
        <p:nvPicPr>
          <p:cNvPr id="13" name="Image 2" descr="C:\Users\whale\git\uiao\inbox\SSA-Interview\build\icons\FaRightLeft.png">    </p:cNvPr>
          <p:cNvPicPr>
            <a:picLocks noChangeAspect="1"/>
          </p:cNvPicPr>
          <p:nvPr/>
        </p:nvPicPr>
        <p:blipFill>
          <a:blip r:embed="rId3"/>
          <a:stretch>
            <a:fillRect/>
          </a:stretch>
        </p:blipFill>
        <p:spPr>
          <a:xfrm>
            <a:off x="6943954" y="1731874"/>
            <a:ext cx="285293" cy="285293"/>
          </a:xfrm>
          <a:prstGeom prst="rect">
            <a:avLst/>
          </a:prstGeom>
        </p:spPr>
      </p:pic>
      <p:sp>
        <p:nvSpPr>
          <p:cNvPr id="14" name="HR-driven heading"/>
          <p:cNvSpPr txBox="1"/>
          <p:nvPr/>
        </p:nvSpPr>
        <p:spPr>
          <a:xfrm>
            <a:off x="7498080" y="1600200"/>
            <a:ext cx="3931920" cy="548640"/>
          </a:xfrm>
          <a:prstGeom prst="rect">
            <a:avLst/>
          </a:prstGeom>
          <a:noFill/>
          <a:ln/>
        </p:spPr>
        <p:txBody>
          <a:bodyPr wrap="square" lIns="0" tIns="0" rIns="0" bIns="0" rtlCol="0" anchor="ctr"/>
          <a:lstStyle/>
          <a:p>
            <a:pPr indent="0" marL="0">
              <a:buNone/>
            </a:pPr>
            <a:r>
              <a:rPr lang="en-US" sz="2000" b="1" dirty="0">
                <a:solidFill>
                  <a:srgbClr val="0F766E"/>
                </a:solidFill>
                <a:latin typeface="Cambria" pitchFamily="34" charset="0"/>
                <a:ea typeface="Cambria" pitchFamily="34" charset="-122"/>
                <a:cs typeface="Cambria" pitchFamily="34" charset="-120"/>
              </a:rPr>
              <a:t>With HR-driven IT</a:t>
            </a:r>
            <a:endParaRPr lang="en-US" sz="2000" dirty="0"/>
          </a:p>
        </p:txBody>
      </p:sp>
      <p:sp>
        <p:nvSpPr>
          <p:cNvPr id="15" name="Step 1 badge"/>
          <p:cNvSpPr/>
          <p:nvPr/>
        </p:nvSpPr>
        <p:spPr>
          <a:xfrm>
            <a:off x="6858000" y="2423160"/>
            <a:ext cx="457200" cy="457200"/>
          </a:xfrm>
          <a:prstGeom prst="ellipse">
            <a:avLst/>
          </a:prstGeom>
          <a:solidFill>
            <a:srgbClr val="0F766E"/>
          </a:solidFill>
          <a:ln w="12700">
            <a:solidFill>
              <a:srgbClr val="0F766E"/>
            </a:solidFill>
            <a:prstDash val="solid"/>
          </a:ln>
        </p:spPr>
      </p:sp>
      <p:sp>
        <p:nvSpPr>
          <p:cNvPr id="16" name="Step 1 number"/>
          <p:cNvSpPr txBox="1"/>
          <p:nvPr/>
        </p:nvSpPr>
        <p:spPr>
          <a:xfrm>
            <a:off x="6858000" y="24231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17" name="Step 1 text"/>
          <p:cNvSpPr txBox="1"/>
          <p:nvPr/>
        </p:nvSpPr>
        <p:spPr>
          <a:xfrm>
            <a:off x="7498080" y="2377440"/>
            <a:ext cx="3977640" cy="868680"/>
          </a:xfrm>
          <a:prstGeom prst="rect">
            <a:avLst/>
          </a:prstGeom>
          <a:noFill/>
          <a:ln/>
        </p:spPr>
        <p:txBody>
          <a:bodyPr wrap="square" lIns="0" tIns="0" rIns="0" bIns="0" rtlCol="0" anchor="t"/>
          <a:lstStyle/>
          <a:p>
            <a:pPr indent="0" marL="0">
              <a:buNone/>
            </a:pPr>
            <a:r>
              <a:rPr lang="en-US" sz="1550" dirty="0">
                <a:solidFill>
                  <a:srgbClr val="1F2A44"/>
                </a:solidFill>
              </a:rPr>
              <a:t>The personnel action records the reassignment</a:t>
            </a:r>
            <a:endParaRPr lang="en-US" sz="1550" dirty="0"/>
          </a:p>
        </p:txBody>
      </p:sp>
      <p:sp>
        <p:nvSpPr>
          <p:cNvPr id="18" name="Shape 13"/>
          <p:cNvSpPr/>
          <p:nvPr/>
        </p:nvSpPr>
        <p:spPr>
          <a:xfrm>
            <a:off x="7086600" y="2880360"/>
            <a:ext cx="0" cy="594360"/>
          </a:xfrm>
          <a:prstGeom prst="line">
            <a:avLst/>
          </a:prstGeom>
          <a:noFill/>
          <a:ln w="19050">
            <a:solidFill>
              <a:srgbClr val="0F766E"/>
            </a:solidFill>
            <a:prstDash val="solid"/>
            <a:tailEnd type="triangle"/>
          </a:ln>
        </p:spPr>
      </p:sp>
      <p:sp>
        <p:nvSpPr>
          <p:cNvPr id="19" name="Step 2 badge"/>
          <p:cNvSpPr/>
          <p:nvPr/>
        </p:nvSpPr>
        <p:spPr>
          <a:xfrm>
            <a:off x="6858000" y="3474720"/>
            <a:ext cx="457200" cy="457200"/>
          </a:xfrm>
          <a:prstGeom prst="ellipse">
            <a:avLst/>
          </a:prstGeom>
          <a:solidFill>
            <a:srgbClr val="0F766E"/>
          </a:solidFill>
          <a:ln w="12700">
            <a:solidFill>
              <a:srgbClr val="0F766E"/>
            </a:solidFill>
            <a:prstDash val="solid"/>
          </a:ln>
        </p:spPr>
      </p:sp>
      <p:sp>
        <p:nvSpPr>
          <p:cNvPr id="20" name="Step 2 number"/>
          <p:cNvSpPr txBox="1"/>
          <p:nvPr/>
        </p:nvSpPr>
        <p:spPr>
          <a:xfrm>
            <a:off x="6858000" y="34747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21" name="Step 2 text"/>
          <p:cNvSpPr txBox="1"/>
          <p:nvPr/>
        </p:nvSpPr>
        <p:spPr>
          <a:xfrm>
            <a:off x="7498080" y="3429000"/>
            <a:ext cx="3977640" cy="868680"/>
          </a:xfrm>
          <a:prstGeom prst="rect">
            <a:avLst/>
          </a:prstGeom>
          <a:noFill/>
          <a:ln/>
        </p:spPr>
        <p:txBody>
          <a:bodyPr wrap="square" lIns="0" tIns="0" rIns="0" bIns="0" rtlCol="0" anchor="t"/>
          <a:lstStyle/>
          <a:p>
            <a:pPr indent="0" marL="0">
              <a:buNone/>
            </a:pPr>
            <a:r>
              <a:rPr lang="en-US" sz="1550" dirty="0">
                <a:solidFill>
                  <a:srgbClr val="1F2A44"/>
                </a:solidFill>
              </a:rPr>
              <a:t>Organization and manager update in Entra ID and AD</a:t>
            </a:r>
            <a:endParaRPr lang="en-US" sz="1550" dirty="0"/>
          </a:p>
        </p:txBody>
      </p:sp>
      <p:sp>
        <p:nvSpPr>
          <p:cNvPr id="22" name="Shape 17"/>
          <p:cNvSpPr/>
          <p:nvPr/>
        </p:nvSpPr>
        <p:spPr>
          <a:xfrm>
            <a:off x="7086600" y="3931920"/>
            <a:ext cx="0" cy="594360"/>
          </a:xfrm>
          <a:prstGeom prst="line">
            <a:avLst/>
          </a:prstGeom>
          <a:noFill/>
          <a:ln w="19050">
            <a:solidFill>
              <a:srgbClr val="0F766E"/>
            </a:solidFill>
            <a:prstDash val="solid"/>
            <a:tailEnd type="triangle"/>
          </a:ln>
        </p:spPr>
      </p:sp>
      <p:sp>
        <p:nvSpPr>
          <p:cNvPr id="23" name="Step 3 badge"/>
          <p:cNvSpPr/>
          <p:nvPr/>
        </p:nvSpPr>
        <p:spPr>
          <a:xfrm>
            <a:off x="6858000" y="4526280"/>
            <a:ext cx="457200" cy="457200"/>
          </a:xfrm>
          <a:prstGeom prst="ellipse">
            <a:avLst/>
          </a:prstGeom>
          <a:solidFill>
            <a:srgbClr val="0F766E"/>
          </a:solidFill>
          <a:ln w="12700">
            <a:solidFill>
              <a:srgbClr val="0F766E"/>
            </a:solidFill>
            <a:prstDash val="solid"/>
          </a:ln>
        </p:spPr>
      </p:sp>
      <p:sp>
        <p:nvSpPr>
          <p:cNvPr id="24" name="Step 3 number"/>
          <p:cNvSpPr txBox="1"/>
          <p:nvPr/>
        </p:nvSpPr>
        <p:spPr>
          <a:xfrm>
            <a:off x="6858000" y="45262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25" name="Step 3 text"/>
          <p:cNvSpPr txBox="1"/>
          <p:nvPr/>
        </p:nvSpPr>
        <p:spPr>
          <a:xfrm>
            <a:off x="7498080" y="4480560"/>
            <a:ext cx="3977640" cy="868680"/>
          </a:xfrm>
          <a:prstGeom prst="rect">
            <a:avLst/>
          </a:prstGeom>
          <a:noFill/>
          <a:ln/>
        </p:spPr>
        <p:txBody>
          <a:bodyPr wrap="square" lIns="0" tIns="0" rIns="0" bIns="0" rtlCol="0" anchor="t"/>
          <a:lstStyle/>
          <a:p>
            <a:pPr indent="0" marL="0">
              <a:buNone/>
            </a:pPr>
            <a:r>
              <a:rPr lang="en-US" sz="1550" dirty="0">
                <a:solidFill>
                  <a:srgbClr val="1F2A44"/>
                </a:solidFill>
              </a:rPr>
              <a:t>The phone book, approvals and tool access follow — from the authoritative source, not a ticket</a:t>
            </a:r>
            <a:endParaRPr lang="en-US" sz="15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The window closes at the agency’s interconnection go-live</a:t>
            </a:r>
            <a:endParaRPr lang="en-US" sz="3000" dirty="0"/>
          </a:p>
        </p:txBody>
      </p:sp>
      <p:sp>
        <p:nvSpPr>
          <p:cNvPr id="3" name="Shape 1"/>
          <p:cNvSpPr/>
          <p:nvPr/>
        </p:nvSpPr>
        <p:spPr>
          <a:xfrm>
            <a:off x="1691640" y="2240280"/>
            <a:ext cx="8778240" cy="0"/>
          </a:xfrm>
          <a:prstGeom prst="line">
            <a:avLst/>
          </a:prstGeom>
          <a:noFill/>
          <a:ln w="19050">
            <a:solidFill>
              <a:srgbClr val="64748B"/>
            </a:solidFill>
            <a:prstDash val="solid"/>
          </a:ln>
        </p:spPr>
      </p:sp>
      <p:sp>
        <p:nvSpPr>
          <p:cNvPr id="4" name="Milestone dot 1"/>
          <p:cNvSpPr/>
          <p:nvPr/>
        </p:nvSpPr>
        <p:spPr>
          <a:xfrm>
            <a:off x="1508760" y="2057400"/>
            <a:ext cx="365760" cy="365760"/>
          </a:xfrm>
          <a:prstGeom prst="ellipse">
            <a:avLst/>
          </a:prstGeom>
          <a:solidFill>
            <a:srgbClr val="1F2A44"/>
          </a:solidFill>
          <a:ln w="25400">
            <a:solidFill>
              <a:srgbClr val="FFFFFF"/>
            </a:solidFill>
            <a:prstDash val="solid"/>
          </a:ln>
        </p:spPr>
      </p:sp>
      <p:sp>
        <p:nvSpPr>
          <p:cNvPr id="5" name="Milestone date 1"/>
          <p:cNvSpPr txBox="1"/>
          <p:nvPr/>
        </p:nvSpPr>
        <p:spPr>
          <a:xfrm>
            <a:off x="685800" y="1463040"/>
            <a:ext cx="2011680" cy="411480"/>
          </a:xfrm>
          <a:prstGeom prst="rect">
            <a:avLst/>
          </a:prstGeom>
          <a:noFill/>
          <a:ln/>
        </p:spPr>
        <p:txBody>
          <a:bodyPr wrap="square" lIns="0" tIns="0" rIns="0" bIns="0" rtlCol="0" anchor="t"/>
          <a:lstStyle/>
          <a:p>
            <a:pPr algn="ctr" indent="0" marL="0">
              <a:buNone/>
            </a:pPr>
            <a:r>
              <a:rPr lang="en-US" sz="1800" b="1" dirty="0">
                <a:solidFill>
                  <a:srgbClr val="1F2A44"/>
                </a:solidFill>
                <a:latin typeface="Cambria" pitchFamily="34" charset="0"/>
                <a:ea typeface="Cambria" pitchFamily="34" charset="-122"/>
                <a:cs typeface="Cambria" pitchFamily="34" charset="-120"/>
              </a:rPr>
              <a:t>Dec 10, 2025</a:t>
            </a:r>
            <a:endParaRPr lang="en-US" sz="1800" dirty="0"/>
          </a:p>
        </p:txBody>
      </p:sp>
      <p:sp>
        <p:nvSpPr>
          <p:cNvPr id="6" name="Milestone text 1"/>
          <p:cNvSpPr txBox="1"/>
          <p:nvPr/>
        </p:nvSpPr>
        <p:spPr>
          <a:xfrm>
            <a:off x="704088" y="2606040"/>
            <a:ext cx="1975104" cy="1371600"/>
          </a:xfrm>
          <a:prstGeom prst="rect">
            <a:avLst/>
          </a:prstGeom>
          <a:noFill/>
          <a:ln/>
        </p:spPr>
        <p:txBody>
          <a:bodyPr wrap="square" lIns="0" tIns="0" rIns="0" bIns="0" rtlCol="0" anchor="t"/>
          <a:lstStyle/>
          <a:p>
            <a:pPr algn="ctr" indent="0" marL="0">
              <a:buNone/>
            </a:pPr>
            <a:r>
              <a:rPr lang="en-US" sz="1400" b="1" dirty="0">
                <a:solidFill>
                  <a:srgbClr val="1F2A44"/>
                </a:solidFill>
              </a:rPr>
              <a:t>OMB/OPM memo</a:t>
            </a:r>
            <a:endParaRPr lang="en-US" sz="1400" dirty="0"/>
          </a:p>
          <a:p>
            <a:pPr algn="ctr" indent="0" marL="0">
              <a:buNone/>
            </a:pPr>
            <a:r>
              <a:rPr lang="en-US" sz="1400" dirty="0">
                <a:solidFill>
                  <a:schemeClr val="tx2"/>
                </a:solidFill>
              </a:rPr>
              <a:t>One government-wide Core HCM platform</a:t>
            </a:r>
            <a:endParaRPr lang="en-US" sz="1400" dirty="0"/>
          </a:p>
        </p:txBody>
      </p:sp>
      <p:sp>
        <p:nvSpPr>
          <p:cNvPr id="7" name="Milestone dot 2"/>
          <p:cNvSpPr/>
          <p:nvPr/>
        </p:nvSpPr>
        <p:spPr>
          <a:xfrm>
            <a:off x="3703320" y="2057400"/>
            <a:ext cx="365760" cy="365760"/>
          </a:xfrm>
          <a:prstGeom prst="ellipse">
            <a:avLst/>
          </a:prstGeom>
          <a:solidFill>
            <a:srgbClr val="1F2A44"/>
          </a:solidFill>
          <a:ln w="25400">
            <a:solidFill>
              <a:srgbClr val="FFFFFF"/>
            </a:solidFill>
            <a:prstDash val="solid"/>
          </a:ln>
        </p:spPr>
      </p:sp>
      <p:sp>
        <p:nvSpPr>
          <p:cNvPr id="8" name="Milestone date 2"/>
          <p:cNvSpPr txBox="1"/>
          <p:nvPr/>
        </p:nvSpPr>
        <p:spPr>
          <a:xfrm>
            <a:off x="2880360" y="1463040"/>
            <a:ext cx="2011680" cy="411480"/>
          </a:xfrm>
          <a:prstGeom prst="rect">
            <a:avLst/>
          </a:prstGeom>
          <a:noFill/>
          <a:ln/>
        </p:spPr>
        <p:txBody>
          <a:bodyPr wrap="square" lIns="0" tIns="0" rIns="0" bIns="0" rtlCol="0" anchor="t"/>
          <a:lstStyle/>
          <a:p>
            <a:pPr algn="ctr" indent="0" marL="0">
              <a:buNone/>
            </a:pPr>
            <a:r>
              <a:rPr lang="en-US" sz="1800" b="1" dirty="0">
                <a:solidFill>
                  <a:srgbClr val="1F2A44"/>
                </a:solidFill>
                <a:latin typeface="Cambria" pitchFamily="34" charset="0"/>
                <a:ea typeface="Cambria" pitchFamily="34" charset="-122"/>
                <a:cs typeface="Cambria" pitchFamily="34" charset="-120"/>
              </a:rPr>
              <a:t>Jun 11, 2026</a:t>
            </a:r>
            <a:endParaRPr lang="en-US" sz="1800" dirty="0"/>
          </a:p>
        </p:txBody>
      </p:sp>
      <p:sp>
        <p:nvSpPr>
          <p:cNvPr id="9" name="Milestone text 2"/>
          <p:cNvSpPr txBox="1"/>
          <p:nvPr/>
        </p:nvSpPr>
        <p:spPr>
          <a:xfrm>
            <a:off x="2898648" y="2606040"/>
            <a:ext cx="1975104" cy="1371600"/>
          </a:xfrm>
          <a:prstGeom prst="rect">
            <a:avLst/>
          </a:prstGeom>
          <a:noFill/>
          <a:ln/>
        </p:spPr>
        <p:txBody>
          <a:bodyPr wrap="square" lIns="0" tIns="0" rIns="0" bIns="0" rtlCol="0" anchor="t"/>
          <a:lstStyle/>
          <a:p>
            <a:pPr algn="ctr" indent="0" marL="0">
              <a:buNone/>
            </a:pPr>
            <a:r>
              <a:rPr lang="en-US" sz="1400" b="1" dirty="0">
                <a:solidFill>
                  <a:srgbClr val="1F2A44"/>
                </a:solidFill>
              </a:rPr>
              <a:t>Core HCM award</a:t>
            </a:r>
            <a:endParaRPr lang="en-US" sz="1400" dirty="0"/>
          </a:p>
          <a:p>
            <a:pPr algn="ctr" indent="0" marL="0">
              <a:buNone/>
            </a:pPr>
            <a:r>
              <a:rPr lang="en-US" sz="1400" dirty="0">
                <a:solidFill>
                  <a:schemeClr val="tx2"/>
                </a:solidFill>
              </a:rPr>
              <a:t>Oracle Fusion Cloud HCM (SaaS)</a:t>
            </a:r>
            <a:endParaRPr lang="en-US" sz="1400" dirty="0"/>
          </a:p>
        </p:txBody>
      </p:sp>
      <p:sp>
        <p:nvSpPr>
          <p:cNvPr id="10" name="Milestone dot 3"/>
          <p:cNvSpPr/>
          <p:nvPr/>
        </p:nvSpPr>
        <p:spPr>
          <a:xfrm>
            <a:off x="5897880" y="2057400"/>
            <a:ext cx="365760" cy="365760"/>
          </a:xfrm>
          <a:prstGeom prst="ellipse">
            <a:avLst/>
          </a:prstGeom>
          <a:solidFill>
            <a:srgbClr val="1F2A44"/>
          </a:solidFill>
          <a:ln w="25400">
            <a:solidFill>
              <a:srgbClr val="FFFFFF"/>
            </a:solidFill>
            <a:prstDash val="solid"/>
          </a:ln>
        </p:spPr>
      </p:sp>
      <p:sp>
        <p:nvSpPr>
          <p:cNvPr id="11" name="Milestone date 3"/>
          <p:cNvSpPr txBox="1"/>
          <p:nvPr/>
        </p:nvSpPr>
        <p:spPr>
          <a:xfrm>
            <a:off x="5074920" y="1463040"/>
            <a:ext cx="2011680" cy="411480"/>
          </a:xfrm>
          <a:prstGeom prst="rect">
            <a:avLst/>
          </a:prstGeom>
          <a:noFill/>
          <a:ln/>
        </p:spPr>
        <p:txBody>
          <a:bodyPr wrap="square" lIns="0" tIns="0" rIns="0" bIns="0" rtlCol="0" anchor="t"/>
          <a:lstStyle/>
          <a:p>
            <a:pPr algn="ctr" indent="0" marL="0">
              <a:buNone/>
            </a:pPr>
            <a:r>
              <a:rPr lang="en-US" sz="1800" b="1" dirty="0">
                <a:solidFill>
                  <a:srgbClr val="1F2A44"/>
                </a:solidFill>
                <a:latin typeface="Cambria" pitchFamily="34" charset="0"/>
                <a:ea typeface="Cambria" pitchFamily="34" charset="-122"/>
                <a:cs typeface="Cambria" pitchFamily="34" charset="-120"/>
              </a:rPr>
              <a:t>Jan–Mar 2027</a:t>
            </a:r>
            <a:endParaRPr lang="en-US" sz="1800" dirty="0"/>
          </a:p>
        </p:txBody>
      </p:sp>
      <p:sp>
        <p:nvSpPr>
          <p:cNvPr id="12" name="Milestone text 3"/>
          <p:cNvSpPr txBox="1"/>
          <p:nvPr/>
        </p:nvSpPr>
        <p:spPr>
          <a:xfrm>
            <a:off x="5093208" y="2606040"/>
            <a:ext cx="1975104" cy="1371600"/>
          </a:xfrm>
          <a:prstGeom prst="rect">
            <a:avLst/>
          </a:prstGeom>
          <a:noFill/>
          <a:ln/>
        </p:spPr>
        <p:txBody>
          <a:bodyPr wrap="square" lIns="0" tIns="0" rIns="0" bIns="0" rtlCol="0" anchor="t"/>
          <a:lstStyle/>
          <a:p>
            <a:pPr algn="ctr" indent="0" marL="0">
              <a:buNone/>
            </a:pPr>
            <a:r>
              <a:rPr lang="en-US" sz="1400" b="1" dirty="0">
                <a:solidFill>
                  <a:srgbClr val="1F2A44"/>
                </a:solidFill>
              </a:rPr>
              <a:t>First go-lives</a:t>
            </a:r>
            <a:endParaRPr lang="en-US" sz="1400" dirty="0"/>
          </a:p>
          <a:p>
            <a:pPr algn="ctr" indent="0" marL="0">
              <a:buNone/>
            </a:pPr>
            <a:r>
              <a:rPr lang="en-US" sz="1400" dirty="0">
                <a:solidFill>
                  <a:schemeClr val="tx2"/>
                </a:solidFill>
              </a:rPr>
              <a:t>Wave 1 agencies</a:t>
            </a:r>
            <a:endParaRPr lang="en-US" sz="1400" dirty="0"/>
          </a:p>
        </p:txBody>
      </p:sp>
      <p:sp>
        <p:nvSpPr>
          <p:cNvPr id="13" name="Milestone dot 4"/>
          <p:cNvSpPr/>
          <p:nvPr/>
        </p:nvSpPr>
        <p:spPr>
          <a:xfrm>
            <a:off x="8092440" y="2057400"/>
            <a:ext cx="365760" cy="365760"/>
          </a:xfrm>
          <a:prstGeom prst="ellipse">
            <a:avLst/>
          </a:prstGeom>
          <a:solidFill>
            <a:srgbClr val="B45309"/>
          </a:solidFill>
          <a:ln w="25400">
            <a:solidFill>
              <a:srgbClr val="FFFFFF"/>
            </a:solidFill>
            <a:prstDash val="solid"/>
          </a:ln>
        </p:spPr>
      </p:sp>
      <p:sp>
        <p:nvSpPr>
          <p:cNvPr id="14" name="Milestone date 4"/>
          <p:cNvSpPr txBox="1"/>
          <p:nvPr/>
        </p:nvSpPr>
        <p:spPr>
          <a:xfrm>
            <a:off x="7269480" y="1463040"/>
            <a:ext cx="2011680" cy="411480"/>
          </a:xfrm>
          <a:prstGeom prst="rect">
            <a:avLst/>
          </a:prstGeom>
          <a:noFill/>
          <a:ln/>
        </p:spPr>
        <p:txBody>
          <a:bodyPr wrap="square" lIns="0" tIns="0" rIns="0" bIns="0" rtlCol="0" anchor="t"/>
          <a:lstStyle/>
          <a:p>
            <a:pPr algn="ctr" indent="0" marL="0">
              <a:buNone/>
            </a:pPr>
            <a:r>
              <a:rPr lang="en-US" sz="1800" b="1" dirty="0">
                <a:solidFill>
                  <a:srgbClr val="B45309"/>
                </a:solidFill>
                <a:latin typeface="Cambria" pitchFamily="34" charset="0"/>
                <a:ea typeface="Cambria" pitchFamily="34" charset="-122"/>
                <a:cs typeface="Cambria" pitchFamily="34" charset="-120"/>
              </a:rPr>
              <a:t>FY 2027</a:t>
            </a:r>
            <a:endParaRPr lang="en-US" sz="1800" dirty="0"/>
          </a:p>
        </p:txBody>
      </p:sp>
      <p:sp>
        <p:nvSpPr>
          <p:cNvPr id="15" name="Milestone text 4"/>
          <p:cNvSpPr txBox="1"/>
          <p:nvPr/>
        </p:nvSpPr>
        <p:spPr>
          <a:xfrm>
            <a:off x="7287768" y="2606040"/>
            <a:ext cx="1975104" cy="1371600"/>
          </a:xfrm>
          <a:prstGeom prst="rect">
            <a:avLst/>
          </a:prstGeom>
          <a:noFill/>
          <a:ln/>
        </p:spPr>
        <p:txBody>
          <a:bodyPr wrap="square" lIns="0" tIns="0" rIns="0" bIns="0" rtlCol="0" anchor="t"/>
          <a:lstStyle/>
          <a:p>
            <a:pPr algn="ctr" indent="0" marL="0">
              <a:buNone/>
            </a:pPr>
            <a:r>
              <a:rPr lang="en-US" sz="1400" b="1" dirty="0">
                <a:solidFill>
                  <a:srgbClr val="B45309"/>
                </a:solidFill>
              </a:rPr>
              <a:t>Wave 2 agencies (planning assumption)</a:t>
            </a:r>
            <a:endParaRPr lang="en-US" sz="1400" dirty="0"/>
          </a:p>
          <a:p>
            <a:pPr algn="ctr" indent="0" marL="0">
              <a:buNone/>
            </a:pPr>
            <a:r>
              <a:rPr lang="en-US" sz="1400" dirty="0">
                <a:solidFill>
                  <a:schemeClr val="tx2"/>
                </a:solidFill>
              </a:rPr>
              <a:t>Interconnections during onboarding; confirm agency milestones</a:t>
            </a:r>
            <a:endParaRPr lang="en-US" sz="1400" dirty="0"/>
          </a:p>
        </p:txBody>
      </p:sp>
      <p:sp>
        <p:nvSpPr>
          <p:cNvPr id="16" name="Milestone dot 5"/>
          <p:cNvSpPr/>
          <p:nvPr/>
        </p:nvSpPr>
        <p:spPr>
          <a:xfrm>
            <a:off x="10287000" y="2057400"/>
            <a:ext cx="365760" cy="365760"/>
          </a:xfrm>
          <a:prstGeom prst="ellipse">
            <a:avLst/>
          </a:prstGeom>
          <a:solidFill>
            <a:srgbClr val="1F2A44"/>
          </a:solidFill>
          <a:ln w="25400">
            <a:solidFill>
              <a:srgbClr val="FFFFFF"/>
            </a:solidFill>
            <a:prstDash val="solid"/>
          </a:ln>
        </p:spPr>
      </p:sp>
      <p:sp>
        <p:nvSpPr>
          <p:cNvPr id="17" name="Milestone date 5"/>
          <p:cNvSpPr txBox="1"/>
          <p:nvPr/>
        </p:nvSpPr>
        <p:spPr>
          <a:xfrm>
            <a:off x="9464040" y="1463040"/>
            <a:ext cx="2011680" cy="411480"/>
          </a:xfrm>
          <a:prstGeom prst="rect">
            <a:avLst/>
          </a:prstGeom>
          <a:noFill/>
          <a:ln/>
        </p:spPr>
        <p:txBody>
          <a:bodyPr wrap="square" lIns="0" tIns="0" rIns="0" bIns="0" rtlCol="0" anchor="t"/>
          <a:lstStyle/>
          <a:p>
            <a:pPr algn="ctr" indent="0" marL="0">
              <a:buNone/>
            </a:pPr>
            <a:r>
              <a:rPr lang="en-US" sz="1800" b="1" dirty="0">
                <a:solidFill>
                  <a:srgbClr val="1F2A44"/>
                </a:solidFill>
                <a:latin typeface="Cambria" pitchFamily="34" charset="0"/>
                <a:ea typeface="Cambria" pitchFamily="34" charset="-122"/>
                <a:cs typeface="Cambria" pitchFamily="34" charset="-120"/>
              </a:rPr>
              <a:t>FY 2028</a:t>
            </a:r>
            <a:endParaRPr lang="en-US" sz="1800" dirty="0"/>
          </a:p>
        </p:txBody>
      </p:sp>
      <p:sp>
        <p:nvSpPr>
          <p:cNvPr id="18" name="Milestone text 5"/>
          <p:cNvSpPr txBox="1"/>
          <p:nvPr/>
        </p:nvSpPr>
        <p:spPr>
          <a:xfrm>
            <a:off x="9482328" y="2606040"/>
            <a:ext cx="1975104" cy="1371600"/>
          </a:xfrm>
          <a:prstGeom prst="rect">
            <a:avLst/>
          </a:prstGeom>
          <a:noFill/>
          <a:ln/>
        </p:spPr>
        <p:txBody>
          <a:bodyPr wrap="square" lIns="0" tIns="0" rIns="0" bIns="0" rtlCol="0" anchor="t"/>
          <a:lstStyle/>
          <a:p>
            <a:pPr algn="ctr" indent="0" marL="0">
              <a:buNone/>
            </a:pPr>
            <a:r>
              <a:rPr lang="en-US" sz="1400" b="1" dirty="0">
                <a:solidFill>
                  <a:srgbClr val="1F2A44"/>
                </a:solidFill>
              </a:rPr>
              <a:t>One system</a:t>
            </a:r>
            <a:endParaRPr lang="en-US" sz="1400" dirty="0"/>
          </a:p>
          <a:p>
            <a:pPr algn="ctr" indent="0" marL="0">
              <a:buNone/>
            </a:pPr>
            <a:r>
              <a:rPr lang="en-US" sz="1400" dirty="0">
                <a:solidFill>
                  <a:schemeClr val="tx2"/>
                </a:solidFill>
              </a:rPr>
              <a:t>EHRI and eOPF decommissioned</a:t>
            </a:r>
            <a:endParaRPr lang="en-US" sz="1400" dirty="0"/>
          </a:p>
        </p:txBody>
      </p:sp>
      <p:sp>
        <p:nvSpPr>
          <p:cNvPr id="19" name="Window 1"/>
          <p:cNvSpPr/>
          <p:nvPr/>
        </p:nvSpPr>
        <p:spPr>
          <a:xfrm>
            <a:off x="548640" y="4434840"/>
            <a:ext cx="5486400" cy="1691640"/>
          </a:xfrm>
          <a:prstGeom prst="roundRect">
            <a:avLst>
              <a:gd name="adj" fmla="val 432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0" name="Icon FaDoorOpen"/>
          <p:cNvSpPr/>
          <p:nvPr/>
        </p:nvSpPr>
        <p:spPr>
          <a:xfrm>
            <a:off x="822960" y="4617720"/>
            <a:ext cx="594360" cy="594360"/>
          </a:xfrm>
          <a:prstGeom prst="ellipse">
            <a:avLst/>
          </a:prstGeom>
          <a:solidFill>
            <a:srgbClr val="0F766E"/>
          </a:solidFill>
          <a:ln w="12700">
            <a:solidFill>
              <a:srgbClr val="0F766E"/>
            </a:solidFill>
            <a:prstDash val="solid"/>
          </a:ln>
        </p:spPr>
      </p:sp>
      <p:pic>
        <p:nvPicPr>
          <p:cNvPr id="21" name="Image 0" descr="C:\Users\whale\git\uiao\inbox\SSA-Interview\build\icons\FaDoorOpen.png">    </p:cNvPr>
          <p:cNvPicPr>
            <a:picLocks noChangeAspect="1"/>
          </p:cNvPicPr>
          <p:nvPr/>
        </p:nvPicPr>
        <p:blipFill>
          <a:blip r:embed="rId1"/>
          <a:stretch>
            <a:fillRect/>
          </a:stretch>
        </p:blipFill>
        <p:spPr>
          <a:xfrm>
            <a:off x="965606" y="4760366"/>
            <a:ext cx="309067" cy="309067"/>
          </a:xfrm>
          <a:prstGeom prst="rect">
            <a:avLst/>
          </a:prstGeom>
        </p:spPr>
      </p:pic>
      <p:sp>
        <p:nvSpPr>
          <p:cNvPr id="22" name="Window 1 text"/>
          <p:cNvSpPr txBox="1"/>
          <p:nvPr/>
        </p:nvSpPr>
        <p:spPr>
          <a:xfrm>
            <a:off x="1600200" y="4572000"/>
            <a:ext cx="4251960" cy="1463040"/>
          </a:xfrm>
          <a:prstGeom prst="rect">
            <a:avLst/>
          </a:prstGeom>
          <a:noFill/>
          <a:ln/>
        </p:spPr>
        <p:txBody>
          <a:bodyPr wrap="square" lIns="0" tIns="0" rIns="0" bIns="0" rtlCol="0" anchor="t"/>
          <a:lstStyle/>
          <a:p>
            <a:pPr indent="0" marL="0">
              <a:spcAft>
                <a:spcPts val="600"/>
              </a:spcAft>
              <a:buNone/>
            </a:pPr>
            <a:r>
              <a:rPr lang="en-US" sz="1800" b="1" dirty="0">
                <a:solidFill>
                  <a:srgbClr val="0F766E"/>
                </a:solidFill>
                <a:latin typeface="Cambria" pitchFamily="34" charset="0"/>
                <a:ea typeface="Cambria" pitchFamily="34" charset="-122"/>
                <a:cs typeface="Cambria" pitchFamily="34" charset="-120"/>
              </a:rPr>
              <a:t>Inside the window</a:t>
            </a:r>
            <a:endParaRPr lang="en-US" sz="1400" dirty="0"/>
          </a:p>
          <a:p>
            <a:pPr indent="0" marL="0">
              <a:spcAft>
                <a:spcPts val="600"/>
              </a:spcAft>
              <a:buNone/>
            </a:pPr>
            <a:r>
              <a:rPr lang="en-US" sz="1500" dirty="0">
                <a:solidFill>
                  <a:schemeClr val="tx2"/>
                </a:solidFill>
              </a:rPr>
              <a:t>Data standards, cleanup, interconnection design and the Entra ID migration plan are all being decided. An HR-driven feed can be written into them.</a:t>
            </a:r>
            <a:endParaRPr lang="en-US" sz="1400" dirty="0"/>
          </a:p>
        </p:txBody>
      </p:sp>
      <p:sp>
        <p:nvSpPr>
          <p:cNvPr id="23" name="Window 2"/>
          <p:cNvSpPr/>
          <p:nvPr/>
        </p:nvSpPr>
        <p:spPr>
          <a:xfrm>
            <a:off x="6172200" y="4434840"/>
            <a:ext cx="5486400" cy="1691640"/>
          </a:xfrm>
          <a:prstGeom prst="roundRect">
            <a:avLst>
              <a:gd name="adj" fmla="val 4324"/>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24" name="Icon FaDoorClosed"/>
          <p:cNvSpPr/>
          <p:nvPr/>
        </p:nvSpPr>
        <p:spPr>
          <a:xfrm>
            <a:off x="6446520" y="4617720"/>
            <a:ext cx="594360" cy="594360"/>
          </a:xfrm>
          <a:prstGeom prst="ellipse">
            <a:avLst/>
          </a:prstGeom>
          <a:solidFill>
            <a:srgbClr val="B91C1C"/>
          </a:solidFill>
          <a:ln w="12700">
            <a:solidFill>
              <a:srgbClr val="B91C1C"/>
            </a:solidFill>
            <a:prstDash val="solid"/>
          </a:ln>
        </p:spPr>
      </p:sp>
      <p:pic>
        <p:nvPicPr>
          <p:cNvPr id="25" name="Image 1" descr="C:\Users\whale\git\uiao\inbox\SSA-Interview\build\icons\FaDoorClosed.png">    </p:cNvPr>
          <p:cNvPicPr>
            <a:picLocks noChangeAspect="1"/>
          </p:cNvPicPr>
          <p:nvPr/>
        </p:nvPicPr>
        <p:blipFill>
          <a:blip r:embed="rId2"/>
          <a:stretch>
            <a:fillRect/>
          </a:stretch>
        </p:blipFill>
        <p:spPr>
          <a:xfrm>
            <a:off x="6589166" y="4760366"/>
            <a:ext cx="309067" cy="309067"/>
          </a:xfrm>
          <a:prstGeom prst="rect">
            <a:avLst/>
          </a:prstGeom>
        </p:spPr>
      </p:pic>
      <p:sp>
        <p:nvSpPr>
          <p:cNvPr id="26" name="Window 2 text"/>
          <p:cNvSpPr txBox="1"/>
          <p:nvPr/>
        </p:nvSpPr>
        <p:spPr>
          <a:xfrm>
            <a:off x="7223760" y="4572000"/>
            <a:ext cx="4251960" cy="1463040"/>
          </a:xfrm>
          <a:prstGeom prst="rect">
            <a:avLst/>
          </a:prstGeom>
          <a:noFill/>
          <a:ln/>
        </p:spPr>
        <p:txBody>
          <a:bodyPr wrap="square" lIns="0" tIns="0" rIns="0" bIns="0" rtlCol="0" anchor="t"/>
          <a:lstStyle/>
          <a:p>
            <a:pPr indent="0" marL="0">
              <a:spcAft>
                <a:spcPts val="600"/>
              </a:spcAft>
              <a:buNone/>
            </a:pPr>
            <a:r>
              <a:rPr lang="en-US" sz="1800" b="1" dirty="0">
                <a:solidFill>
                  <a:srgbClr val="B91C1C"/>
                </a:solidFill>
                <a:latin typeface="Cambria" pitchFamily="34" charset="0"/>
                <a:ea typeface="Cambria" pitchFamily="34" charset="-122"/>
                <a:cs typeface="Cambria" pitchFamily="34" charset="-120"/>
              </a:rPr>
              <a:t>After it closes</a:t>
            </a:r>
            <a:endParaRPr lang="en-US" sz="1400" dirty="0"/>
          </a:p>
          <a:p>
            <a:pPr indent="0" marL="0">
              <a:spcAft>
                <a:spcPts val="600"/>
              </a:spcAft>
              <a:buNone/>
            </a:pPr>
            <a:r>
              <a:rPr lang="en-US" sz="1500" dirty="0">
                <a:solidFill>
                  <a:schemeClr val="tx2"/>
                </a:solidFill>
              </a:rPr>
              <a:t>Both migrations finish with ticket-driven identity carried forward, and retrofitting HR-driven identity costs far more.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Drive identity from OPM’s standard HR data</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4251960"/>
        </p:xfrm>
        <a:graphic>
          <a:graphicData uri="http://schemas.openxmlformats.org/drawingml/2006/table">
            <a:tbl>
              <a:tblPr/>
              <a:tblGrid>
                <a:gridCol w="3566160"/>
                <a:gridCol w="4206240"/>
              </a:tblGrid>
              <a:tr h="531495">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OPM standard data element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Identity use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31495">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Agency / subelement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Legal employer and component scope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1495">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Personnel office identifier</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Servicing HR office; delegated administration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1495">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Duty station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Location of record; location-based policy scoping</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1495">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Occupational series, pay plan, grade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Position category; role-eligible access packages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1495">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Supervisory status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Approver and reviewer eligibility; manager-chain integrity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1495">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Tenure, appointment type, work schedule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Worker type and lifecycle profile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31495">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Nature of action + effective date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Lifecycle trigger (next slide)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4" name="Why card"/>
          <p:cNvSpPr/>
          <p:nvPr/>
        </p:nvSpPr>
        <p:spPr>
          <a:xfrm>
            <a:off x="8549640" y="1417320"/>
            <a:ext cx="3108960" cy="2011680"/>
          </a:xfrm>
          <a:prstGeom prst="roundRect">
            <a:avLst>
              <a:gd name="adj" fmla="val 363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5" name="Icon FaBook"/>
          <p:cNvSpPr/>
          <p:nvPr/>
        </p:nvSpPr>
        <p:spPr>
          <a:xfrm>
            <a:off x="8732520" y="1572768"/>
            <a:ext cx="457200" cy="457200"/>
          </a:xfrm>
          <a:prstGeom prst="ellipse">
            <a:avLst/>
          </a:prstGeom>
          <a:solidFill>
            <a:srgbClr val="0F766E"/>
          </a:solidFill>
          <a:ln w="12700">
            <a:solidFill>
              <a:srgbClr val="0F766E"/>
            </a:solidFill>
            <a:prstDash val="solid"/>
          </a:ln>
        </p:spPr>
      </p:sp>
      <p:pic>
        <p:nvPicPr>
          <p:cNvPr id="6" name="Image 0" descr="C:\Users\whale\git\uiao\inbox\SSA-Interview\build\icons\FaBook.png">    </p:cNvPr>
          <p:cNvPicPr>
            <a:picLocks noChangeAspect="1"/>
          </p:cNvPicPr>
          <p:nvPr/>
        </p:nvPicPr>
        <p:blipFill>
          <a:blip r:embed="rId1"/>
          <a:stretch>
            <a:fillRect/>
          </a:stretch>
        </p:blipFill>
        <p:spPr>
          <a:xfrm>
            <a:off x="8842248" y="1682496"/>
            <a:ext cx="237744" cy="237744"/>
          </a:xfrm>
          <a:prstGeom prst="rect">
            <a:avLst/>
          </a:prstGeom>
        </p:spPr>
      </p:pic>
      <p:sp>
        <p:nvSpPr>
          <p:cNvPr id="7" name="Why heading"/>
          <p:cNvSpPr txBox="1"/>
          <p:nvPr/>
        </p:nvSpPr>
        <p:spPr>
          <a:xfrm>
            <a:off x="9281160" y="1572768"/>
            <a:ext cx="2286000" cy="457200"/>
          </a:xfrm>
          <a:prstGeom prst="rect">
            <a:avLst/>
          </a:prstGeom>
          <a:noFill/>
          <a:ln/>
        </p:spPr>
        <p:txBody>
          <a:bodyPr wrap="square" lIns="0" tIns="0" rIns="0" bIns="0" rtlCol="0" anchor="ctr"/>
          <a:lstStyle/>
          <a:p>
            <a:pPr indent="0" marL="0">
              <a:buNone/>
            </a:pPr>
            <a:r>
              <a:rPr lang="en-US" sz="1800" b="1" dirty="0">
                <a:solidFill>
                  <a:srgbClr val="0F766E"/>
                </a:solidFill>
                <a:latin typeface="Cambria" pitchFamily="34" charset="0"/>
                <a:ea typeface="Cambria" pitchFamily="34" charset="-122"/>
                <a:cs typeface="Cambria" pitchFamily="34" charset="-120"/>
              </a:rPr>
              <a:t>Why standards</a:t>
            </a:r>
            <a:endParaRPr lang="en-US" sz="1800" dirty="0"/>
          </a:p>
        </p:txBody>
      </p:sp>
      <p:sp>
        <p:nvSpPr>
          <p:cNvPr id="8" name="Why text"/>
          <p:cNvSpPr txBox="1"/>
          <p:nvPr/>
        </p:nvSpPr>
        <p:spPr>
          <a:xfrm>
            <a:off x="8732520" y="2121408"/>
            <a:ext cx="2788920" cy="1234440"/>
          </a:xfrm>
          <a:prstGeom prst="rect">
            <a:avLst/>
          </a:prstGeom>
          <a:noFill/>
          <a:ln/>
        </p:spPr>
        <p:txBody>
          <a:bodyPr wrap="square" lIns="0" tIns="0" rIns="0" bIns="0" rtlCol="0" anchor="t"/>
          <a:lstStyle/>
          <a:p>
            <a:pPr indent="0" marL="0">
              <a:buNone/>
            </a:pPr>
            <a:r>
              <a:rPr lang="en-US" sz="1350" dirty="0">
                <a:solidFill>
                  <a:schemeClr val="tx2"/>
                </a:solidFill>
              </a:rPr>
              <a:t>OPM standards give a common federal vocabulary that agencies map into a shared canonical model; the mapping holds if the HR vendor changes.</a:t>
            </a:r>
            <a:endParaRPr lang="en-US" sz="1350" dirty="0"/>
          </a:p>
        </p:txBody>
      </p:sp>
      <p:sp>
        <p:nvSpPr>
          <p:cNvPr id="9" name="CWK card"/>
          <p:cNvSpPr/>
          <p:nvPr/>
        </p:nvSpPr>
        <p:spPr>
          <a:xfrm>
            <a:off x="8549640" y="3611880"/>
            <a:ext cx="3108960" cy="2057400"/>
          </a:xfrm>
          <a:prstGeom prst="roundRect">
            <a:avLst>
              <a:gd name="adj" fmla="val 3556"/>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0" name="Icon FaPeopleArrows"/>
          <p:cNvSpPr/>
          <p:nvPr/>
        </p:nvSpPr>
        <p:spPr>
          <a:xfrm>
            <a:off x="8732520" y="3767328"/>
            <a:ext cx="457200" cy="457200"/>
          </a:xfrm>
          <a:prstGeom prst="ellipse">
            <a:avLst/>
          </a:prstGeom>
          <a:solidFill>
            <a:srgbClr val="B45309"/>
          </a:solidFill>
          <a:ln w="12700">
            <a:solidFill>
              <a:srgbClr val="B45309"/>
            </a:solidFill>
            <a:prstDash val="solid"/>
          </a:ln>
        </p:spPr>
      </p:sp>
      <p:pic>
        <p:nvPicPr>
          <p:cNvPr id="11" name="Image 1" descr="C:\Users\whale\git\uiao\inbox\SSA-Interview\build\icons\FaPeopleArrows.png">    </p:cNvPr>
          <p:cNvPicPr>
            <a:picLocks noChangeAspect="1"/>
          </p:cNvPicPr>
          <p:nvPr/>
        </p:nvPicPr>
        <p:blipFill>
          <a:blip r:embed="rId2"/>
          <a:stretch>
            <a:fillRect/>
          </a:stretch>
        </p:blipFill>
        <p:spPr>
          <a:xfrm>
            <a:off x="8842248" y="3877056"/>
            <a:ext cx="237744" cy="237744"/>
          </a:xfrm>
          <a:prstGeom prst="rect">
            <a:avLst/>
          </a:prstGeom>
        </p:spPr>
      </p:pic>
      <p:sp>
        <p:nvSpPr>
          <p:cNvPr id="12" name="CWK heading"/>
          <p:cNvSpPr txBox="1"/>
          <p:nvPr/>
        </p:nvSpPr>
        <p:spPr>
          <a:xfrm>
            <a:off x="9281160" y="3767328"/>
            <a:ext cx="2286000" cy="457200"/>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Contractors, vendors</a:t>
            </a:r>
            <a:endParaRPr lang="en-US" sz="1800" dirty="0"/>
          </a:p>
        </p:txBody>
      </p:sp>
      <p:sp>
        <p:nvSpPr>
          <p:cNvPr id="13" name="CWK text"/>
          <p:cNvSpPr txBox="1"/>
          <p:nvPr/>
        </p:nvSpPr>
        <p:spPr>
          <a:xfrm>
            <a:off x="8732520" y="4279392"/>
            <a:ext cx="2788920" cy="1353312"/>
          </a:xfrm>
          <a:prstGeom prst="rect">
            <a:avLst/>
          </a:prstGeom>
          <a:noFill/>
          <a:ln/>
        </p:spPr>
        <p:txBody>
          <a:bodyPr wrap="square" lIns="0" tIns="0" rIns="0" bIns="0" rtlCol="0" anchor="t"/>
          <a:lstStyle/>
          <a:p>
            <a:pPr indent="0" marL="0">
              <a:buNone/>
            </a:pPr>
            <a:r>
              <a:rPr lang="en-US" sz="1250" b="1" dirty="0">
                <a:solidFill>
                  <a:srgbClr val="1F2A44"/>
                </a:solidFill>
              </a:rPr>
              <a:t>Not in HRIT; tracked in COR spreadsheets in the processes observed. </a:t>
            </a:r>
            <a:pPr indent="0" marL="0">
              <a:buNone/>
            </a:pPr>
            <a:r>
              <a:rPr lang="en-US" sz="1250" dirty="0">
                <a:solidFill>
                  <a:schemeClr val="tx2"/>
                </a:solidFill>
              </a:rPr>
              <a:t>Contractor authority decision required: evaluate suitability, sponsorship, and contingent-worker records.</a:t>
            </a:r>
            <a:endParaRPr lang="en-US" sz="1250" dirty="0"/>
          </a:p>
        </p:txBody>
      </p:sp>
      <p:sp>
        <p:nvSpPr>
          <p:cNvPr id="14" name="Source note"/>
          <p:cNvSpPr txBox="1"/>
          <p:nvPr/>
        </p:nvSpPr>
        <p:spPr>
          <a:xfrm>
            <a:off x="548640" y="5806440"/>
            <a:ext cx="11064240" cy="320040"/>
          </a:xfrm>
          <a:prstGeom prst="rect">
            <a:avLst/>
          </a:prstGeom>
          <a:noFill/>
          <a:ln/>
        </p:spPr>
        <p:txBody>
          <a:bodyPr wrap="square" lIns="0" tIns="0" rIns="0" bIns="0" rtlCol="0" anchor="t"/>
          <a:lstStyle/>
          <a:p>
            <a:pPr indent="0" marL="0">
              <a:buNone/>
            </a:pPr>
            <a:r>
              <a:rPr lang="en-US" sz="1100" i="1" dirty="0">
                <a:solidFill>
                  <a:srgbClr val="64748B"/>
                </a:solidFill>
              </a:rPr>
              <a:t>Elements per OPM’s Guide to Data Standards; confirm against the current edition and how Core HCM exposes them.</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Proposed identity interpretation of OPM nature-of-action families</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3566160"/>
        </p:xfrm>
        <a:graphic>
          <a:graphicData uri="http://schemas.openxmlformats.org/drawingml/2006/table">
            <a:tbl>
              <a:tblPr/>
              <a:tblGrid>
                <a:gridCol w="2743200"/>
                <a:gridCol w="1600200"/>
                <a:gridCol w="1920240"/>
                <a:gridCol w="4846320"/>
              </a:tblGrid>
              <a:tr h="509451">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Action family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NOA codes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Lifecycle event</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Identity action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9451">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Accessions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100 series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b="1" dirty="0">
                          <a:solidFill>
                            <a:srgbClr val="0F766E"/>
                          </a:solidFill>
                          <a:latin typeface="Calibri" pitchFamily="34" charset="0"/>
                          <a:ea typeface="Calibri" pitchFamily="34" charset="-122"/>
                          <a:cs typeface="Calibri" pitchFamily="34" charset="-120"/>
                        </a:rPr>
                        <a:t>Joiner</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Account before day one; baseline access derived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9451">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Position changes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700 series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b="1" dirty="0">
                          <a:solidFill>
                            <a:srgbClr val="0F766E"/>
                          </a:solidFill>
                          <a:latin typeface="Calibri" pitchFamily="34" charset="0"/>
                          <a:ea typeface="Calibri" pitchFamily="34" charset="-122"/>
                          <a:cs typeface="Calibri" pitchFamily="34" charset="-120"/>
                        </a:rPr>
                        <a:t>Mover</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Re-derive access; review what remains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9451">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Conversions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500 series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b="1" dirty="0">
                          <a:solidFill>
                            <a:srgbClr val="0F766E"/>
                          </a:solidFill>
                          <a:latin typeface="Calibri" pitchFamily="34" charset="0"/>
                          <a:ea typeface="Calibri" pitchFamily="34" charset="-122"/>
                          <a:cs typeface="Calibri" pitchFamily="34" charset="-120"/>
                        </a:rPr>
                        <a:t>Conversion</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Same person and key; access re-derived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9451">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Nonpay / nonduty status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400 series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b="1" dirty="0">
                          <a:solidFill>
                            <a:srgbClr val="B45309"/>
                          </a:solidFill>
                          <a:latin typeface="Calibri" pitchFamily="34" charset="0"/>
                          <a:ea typeface="Calibri" pitchFamily="34" charset="-122"/>
                          <a:cs typeface="Calibri" pitchFamily="34" charset="-120"/>
                        </a:rPr>
                        <a:t>Not a leaver</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Account kept; restricted by policy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9451">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Return to duty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200 series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b="1" dirty="0">
                          <a:solidFill>
                            <a:srgbClr val="0F766E"/>
                          </a:solidFill>
                          <a:latin typeface="Calibri" pitchFamily="34" charset="0"/>
                          <a:ea typeface="Calibri" pitchFamily="34" charset="-122"/>
                          <a:cs typeface="Calibri" pitchFamily="34" charset="-120"/>
                        </a:rPr>
                        <a:t>Reinstate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Restrictions lifted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9451">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Separations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300 series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b="1" dirty="0">
                          <a:solidFill>
                            <a:srgbClr val="B91C1C"/>
                          </a:solidFill>
                          <a:latin typeface="Calibri" pitchFamily="34" charset="0"/>
                          <a:ea typeface="Calibri" pitchFamily="34" charset="-122"/>
                          <a:cs typeface="Calibri" pitchFamily="34" charset="-120"/>
                        </a:rPr>
                        <a:t>Leaver</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Block first, then revoke and reconcile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4" name="NOA rule 1"/>
          <p:cNvSpPr/>
          <p:nvPr/>
        </p:nvSpPr>
        <p:spPr>
          <a:xfrm>
            <a:off x="548640" y="5166360"/>
            <a:ext cx="3611880" cy="960120"/>
          </a:xfrm>
          <a:prstGeom prst="roundRect">
            <a:avLst>
              <a:gd name="adj" fmla="val 7619"/>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5" name="Icon FaUserClock"/>
          <p:cNvSpPr/>
          <p:nvPr/>
        </p:nvSpPr>
        <p:spPr>
          <a:xfrm>
            <a:off x="713232" y="5376672"/>
            <a:ext cx="548640" cy="548640"/>
          </a:xfrm>
          <a:prstGeom prst="ellipse">
            <a:avLst/>
          </a:prstGeom>
          <a:solidFill>
            <a:srgbClr val="B45309"/>
          </a:solidFill>
          <a:ln w="12700">
            <a:solidFill>
              <a:srgbClr val="B45309"/>
            </a:solidFill>
            <a:prstDash val="solid"/>
          </a:ln>
        </p:spPr>
      </p:sp>
      <p:pic>
        <p:nvPicPr>
          <p:cNvPr id="6" name="Image 0" descr="C:\Users\whale\git\uiao\inbox\SSA-Interview\build\icons\FaUserClock.png">    </p:cNvPr>
          <p:cNvPicPr>
            <a:picLocks noChangeAspect="1"/>
          </p:cNvPicPr>
          <p:nvPr/>
        </p:nvPicPr>
        <p:blipFill>
          <a:blip r:embed="rId1"/>
          <a:stretch>
            <a:fillRect/>
          </a:stretch>
        </p:blipFill>
        <p:spPr>
          <a:xfrm>
            <a:off x="844906" y="5508346"/>
            <a:ext cx="285293" cy="285293"/>
          </a:xfrm>
          <a:prstGeom prst="rect">
            <a:avLst/>
          </a:prstGeom>
        </p:spPr>
      </p:pic>
      <p:sp>
        <p:nvSpPr>
          <p:cNvPr id="7" name="NOA rule 1 text"/>
          <p:cNvSpPr txBox="1"/>
          <p:nvPr/>
        </p:nvSpPr>
        <p:spPr>
          <a:xfrm>
            <a:off x="1417320" y="5212080"/>
            <a:ext cx="2651760" cy="868680"/>
          </a:xfrm>
          <a:prstGeom prst="rect">
            <a:avLst/>
          </a:prstGeom>
          <a:noFill/>
          <a:ln/>
        </p:spPr>
        <p:txBody>
          <a:bodyPr wrap="square" lIns="0" tIns="0" rIns="0" bIns="0" rtlCol="0" anchor="ctr"/>
          <a:lstStyle/>
          <a:p>
            <a:pPr indent="0" marL="0">
              <a:buNone/>
            </a:pPr>
            <a:r>
              <a:rPr lang="en-US" sz="1400" b="1" dirty="0">
                <a:solidFill>
                  <a:srgbClr val="1F2A44"/>
                </a:solidFill>
              </a:rPr>
              <a:t>Leave is not a leaver. </a:t>
            </a:r>
            <a:pPr indent="0" marL="0">
              <a:buNone/>
            </a:pPr>
            <a:r>
              <a:rPr lang="en-US" sz="1400" dirty="0">
                <a:solidFill>
                  <a:schemeClr val="tx2"/>
                </a:solidFill>
              </a:rPr>
              <a:t>Furlough, LWOP and suspension keep the person; policy restricts the account.</a:t>
            </a:r>
            <a:endParaRPr lang="en-US" sz="1400" dirty="0"/>
          </a:p>
        </p:txBody>
      </p:sp>
      <p:sp>
        <p:nvSpPr>
          <p:cNvPr id="8" name="NOA rule 2"/>
          <p:cNvSpPr/>
          <p:nvPr/>
        </p:nvSpPr>
        <p:spPr>
          <a:xfrm>
            <a:off x="4297680" y="5166360"/>
            <a:ext cx="3611880" cy="960120"/>
          </a:xfrm>
          <a:prstGeom prst="roundRect">
            <a:avLst>
              <a:gd name="adj" fmla="val 7619"/>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9" name="Icon FaArrowDownWideShort"/>
          <p:cNvSpPr/>
          <p:nvPr/>
        </p:nvSpPr>
        <p:spPr>
          <a:xfrm>
            <a:off x="4462272" y="5376672"/>
            <a:ext cx="548640" cy="548640"/>
          </a:xfrm>
          <a:prstGeom prst="ellipse">
            <a:avLst/>
          </a:prstGeom>
          <a:solidFill>
            <a:srgbClr val="1F2A44"/>
          </a:solidFill>
          <a:ln w="12700">
            <a:solidFill>
              <a:srgbClr val="1F2A44"/>
            </a:solidFill>
            <a:prstDash val="solid"/>
          </a:ln>
        </p:spPr>
      </p:sp>
      <p:pic>
        <p:nvPicPr>
          <p:cNvPr id="10" name="Image 1" descr="C:\Users\whale\git\uiao\inbox\SSA-Interview\build\icons\FaArrowDownWideShort.png">    </p:cNvPr>
          <p:cNvPicPr>
            <a:picLocks noChangeAspect="1"/>
          </p:cNvPicPr>
          <p:nvPr/>
        </p:nvPicPr>
        <p:blipFill>
          <a:blip r:embed="rId2"/>
          <a:stretch>
            <a:fillRect/>
          </a:stretch>
        </p:blipFill>
        <p:spPr>
          <a:xfrm>
            <a:off x="4593946" y="5508346"/>
            <a:ext cx="285293" cy="285293"/>
          </a:xfrm>
          <a:prstGeom prst="rect">
            <a:avLst/>
          </a:prstGeom>
        </p:spPr>
      </p:pic>
      <p:sp>
        <p:nvSpPr>
          <p:cNvPr id="11" name="NOA rule 2 text"/>
          <p:cNvSpPr txBox="1"/>
          <p:nvPr/>
        </p:nvSpPr>
        <p:spPr>
          <a:xfrm>
            <a:off x="5166360" y="5212080"/>
            <a:ext cx="2651760" cy="868680"/>
          </a:xfrm>
          <a:prstGeom prst="rect">
            <a:avLst/>
          </a:prstGeom>
          <a:noFill/>
          <a:ln/>
        </p:spPr>
        <p:txBody>
          <a:bodyPr wrap="square" lIns="0" tIns="0" rIns="0" bIns="0" rtlCol="0" anchor="ctr"/>
          <a:lstStyle/>
          <a:p>
            <a:pPr indent="0" marL="0">
              <a:buNone/>
            </a:pPr>
            <a:r>
              <a:rPr lang="en-US" sz="1400" b="1" dirty="0">
                <a:solidFill>
                  <a:srgbClr val="1F2A44"/>
                </a:solidFill>
              </a:rPr>
              <a:t>Precedence is a rule. </a:t>
            </a:r>
            <a:pPr indent="0" marL="0">
              <a:buNone/>
            </a:pPr>
            <a:r>
              <a:rPr lang="en-US" sz="1400" dirty="0">
                <a:solidFill>
                  <a:schemeClr val="tx2"/>
                </a:solidFill>
              </a:rPr>
              <a:t>A separation wins; a conversion is applied before a mover.</a:t>
            </a:r>
            <a:endParaRPr lang="en-US" sz="1400" dirty="0"/>
          </a:p>
        </p:txBody>
      </p:sp>
      <p:sp>
        <p:nvSpPr>
          <p:cNvPr id="12" name="NOA rule 3"/>
          <p:cNvSpPr/>
          <p:nvPr/>
        </p:nvSpPr>
        <p:spPr>
          <a:xfrm>
            <a:off x="8046720" y="5166360"/>
            <a:ext cx="3611880" cy="960120"/>
          </a:xfrm>
          <a:prstGeom prst="roundRect">
            <a:avLst>
              <a:gd name="adj" fmla="val 7619"/>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3" name="Icon FaUserXmark"/>
          <p:cNvSpPr/>
          <p:nvPr/>
        </p:nvSpPr>
        <p:spPr>
          <a:xfrm>
            <a:off x="8211312" y="5376672"/>
            <a:ext cx="548640" cy="548640"/>
          </a:xfrm>
          <a:prstGeom prst="ellipse">
            <a:avLst/>
          </a:prstGeom>
          <a:solidFill>
            <a:srgbClr val="B91C1C"/>
          </a:solidFill>
          <a:ln w="12700">
            <a:solidFill>
              <a:srgbClr val="B91C1C"/>
            </a:solidFill>
            <a:prstDash val="solid"/>
          </a:ln>
        </p:spPr>
      </p:sp>
      <p:pic>
        <p:nvPicPr>
          <p:cNvPr id="14" name="Image 2" descr="C:\Users\whale\git\uiao\inbox\SSA-Interview\build\icons\FaUserXmark.png">    </p:cNvPr>
          <p:cNvPicPr>
            <a:picLocks noChangeAspect="1"/>
          </p:cNvPicPr>
          <p:nvPr/>
        </p:nvPicPr>
        <p:blipFill>
          <a:blip r:embed="rId3"/>
          <a:stretch>
            <a:fillRect/>
          </a:stretch>
        </p:blipFill>
        <p:spPr>
          <a:xfrm>
            <a:off x="8342986" y="5508346"/>
            <a:ext cx="285293" cy="285293"/>
          </a:xfrm>
          <a:prstGeom prst="rect">
            <a:avLst/>
          </a:prstGeom>
        </p:spPr>
      </p:pic>
      <p:sp>
        <p:nvSpPr>
          <p:cNvPr id="15" name="NOA rule 3 text"/>
          <p:cNvSpPr txBox="1"/>
          <p:nvPr/>
        </p:nvSpPr>
        <p:spPr>
          <a:xfrm>
            <a:off x="8915400" y="5212080"/>
            <a:ext cx="2651760" cy="868680"/>
          </a:xfrm>
          <a:prstGeom prst="rect">
            <a:avLst/>
          </a:prstGeom>
          <a:noFill/>
          <a:ln/>
        </p:spPr>
        <p:txBody>
          <a:bodyPr wrap="square" lIns="0" tIns="0" rIns="0" bIns="0" rtlCol="0" anchor="ctr"/>
          <a:lstStyle/>
          <a:p>
            <a:pPr indent="0" marL="0">
              <a:buNone/>
            </a:pPr>
            <a:r>
              <a:rPr lang="en-US" sz="1400" b="1" dirty="0">
                <a:solidFill>
                  <a:srgbClr val="1F2A44"/>
                </a:solidFill>
              </a:rPr>
              <a:t>Rescinded offers clean up </a:t>
            </a:r>
            <a:pPr indent="0" marL="0">
              <a:buNone/>
            </a:pPr>
            <a:r>
              <a:rPr lang="en-US" sz="1400" dirty="0">
                <a:solidFill>
                  <a:schemeClr val="tx2"/>
                </a:solidFill>
              </a:rPr>
              <a:t>the account created before day one.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Model the person, not the account: layered identifiers</a:t>
            </a:r>
            <a:endParaRPr lang="en-US" sz="3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3566160"/>
        </p:xfrm>
        <a:graphic>
          <a:graphicData uri="http://schemas.openxmlformats.org/drawingml/2006/table">
            <a:tbl>
              <a:tblPr/>
              <a:tblGrid>
                <a:gridCol w="1965960"/>
                <a:gridCol w="2377440"/>
                <a:gridCol w="2240280"/>
                <a:gridCol w="1783080"/>
              </a:tblGrid>
              <a:tr h="5943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Key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Identifies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Assigned by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Changes when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94360">
                <a:tc>
                  <a:txBody>
                    <a:bodyPr/>
                    <a:lstStyle/>
                    <a:p>
                      <a:pPr indent="0" marL="0">
                        <a:buNone/>
                      </a:pPr>
                      <a:r>
                        <a:rPr lang="en-US" sz="1300" b="1" dirty="0">
                          <a:solidFill>
                            <a:srgbClr val="B45309"/>
                          </a:solidFill>
                          <a:latin typeface="Calibri" pitchFamily="34" charset="0"/>
                          <a:ea typeface="Calibri" pitchFamily="34" charset="-122"/>
                          <a:cs typeface="Calibri" pitchFamily="34" charset="-120"/>
                        </a:rPr>
                        <a:t>Enterprise person key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person, across every affiliation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agency — often an existing ID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Never, by design (to validate)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9436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Source person key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person in one HR source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Core HCM (or the contractor source)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source system changes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9436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Affiliation key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One employment, contract or appointment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HR system</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 new affiliation begins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9436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Directory object ID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One account in one directory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Entra ID or AD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account is recreated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9436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Credential identifiers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One authenticator (PIV, certificate)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Card management or CA</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credential is reissued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4" name="EDA card"/>
          <p:cNvSpPr/>
          <p:nvPr/>
        </p:nvSpPr>
        <p:spPr>
          <a:xfrm>
            <a:off x="9144000" y="1371600"/>
            <a:ext cx="2514600" cy="3566160"/>
          </a:xfrm>
          <a:prstGeom prst="roundRect">
            <a:avLst>
              <a:gd name="adj" fmla="val 2909"/>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5" name="Icon FaSitemap"/>
          <p:cNvSpPr/>
          <p:nvPr/>
        </p:nvSpPr>
        <p:spPr>
          <a:xfrm>
            <a:off x="9326880" y="1536192"/>
            <a:ext cx="457200" cy="457200"/>
          </a:xfrm>
          <a:prstGeom prst="ellipse">
            <a:avLst/>
          </a:prstGeom>
          <a:solidFill>
            <a:srgbClr val="0F766E"/>
          </a:solidFill>
          <a:ln w="12700">
            <a:solidFill>
              <a:srgbClr val="0F766E"/>
            </a:solidFill>
            <a:prstDash val="solid"/>
          </a:ln>
        </p:spPr>
      </p:sp>
      <p:pic>
        <p:nvPicPr>
          <p:cNvPr id="6" name="Image 0" descr="C:\Users\whale\git\uiao\inbox\SSA-Interview\build\icons\FaSitemap.png">    </p:cNvPr>
          <p:cNvPicPr>
            <a:picLocks noChangeAspect="1"/>
          </p:cNvPicPr>
          <p:nvPr/>
        </p:nvPicPr>
        <p:blipFill>
          <a:blip r:embed="rId1"/>
          <a:stretch>
            <a:fillRect/>
          </a:stretch>
        </p:blipFill>
        <p:spPr>
          <a:xfrm>
            <a:off x="9436608" y="1645920"/>
            <a:ext cx="237744" cy="237744"/>
          </a:xfrm>
          <a:prstGeom prst="rect">
            <a:avLst/>
          </a:prstGeom>
        </p:spPr>
      </p:pic>
      <p:sp>
        <p:nvSpPr>
          <p:cNvPr id="7" name="EDA heading"/>
          <p:cNvSpPr txBox="1"/>
          <p:nvPr/>
        </p:nvSpPr>
        <p:spPr>
          <a:xfrm>
            <a:off x="9875520" y="1536192"/>
            <a:ext cx="1737360" cy="457200"/>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Why it matters</a:t>
            </a:r>
            <a:endParaRPr lang="en-US" sz="1700" dirty="0"/>
          </a:p>
        </p:txBody>
      </p:sp>
      <p:sp>
        <p:nvSpPr>
          <p:cNvPr id="8" name="EDA list"/>
          <p:cNvSpPr txBox="1"/>
          <p:nvPr/>
        </p:nvSpPr>
        <p:spPr>
          <a:xfrm>
            <a:off x="9326880" y="2148840"/>
            <a:ext cx="2194560" cy="26974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Entity modeling: the person is the tracked entity</a:t>
            </a:r>
            <a:endParaRPr lang="en-US" sz="1350" dirty="0"/>
          </a:p>
          <a:p>
            <a:pPr marL="342900" indent="-342900">
              <a:spcAft>
                <a:spcPts val="600"/>
              </a:spcAft>
              <a:buSzPct val="100000"/>
              <a:buChar char="•"/>
            </a:pPr>
            <a:r>
              <a:rPr lang="en-US" sz="1350" dirty="0">
                <a:solidFill>
                  <a:schemeClr val="tx2"/>
                </a:solidFill>
              </a:rPr>
              <a:t>Survives rehire, conversion and reorganization</a:t>
            </a:r>
            <a:endParaRPr lang="en-US" sz="1350" dirty="0"/>
          </a:p>
          <a:p>
            <a:pPr marL="342900" indent="-342900">
              <a:spcAft>
                <a:spcPts val="600"/>
              </a:spcAft>
              <a:buSzPct val="100000"/>
              <a:buChar char="•"/>
            </a:pPr>
            <a:r>
              <a:rPr lang="en-US" sz="1350" dirty="0">
                <a:solidFill>
                  <a:schemeClr val="tx2"/>
                </a:solidFill>
              </a:rPr>
              <a:t>The Core HCM cutover changes only the source key</a:t>
            </a:r>
            <a:endParaRPr lang="en-US" sz="1350" dirty="0"/>
          </a:p>
          <a:p>
            <a:pPr marL="342900" indent="-342900">
              <a:spcAft>
                <a:spcPts val="600"/>
              </a:spcAft>
              <a:buSzPct val="100000"/>
              <a:buChar char="•"/>
            </a:pPr>
            <a:r>
              <a:rPr lang="en-US" sz="1350" dirty="0">
                <a:solidFill>
                  <a:schemeClr val="tx2"/>
                </a:solidFill>
              </a:rPr>
              <a:t>No SSN as a join key</a:t>
            </a:r>
            <a:endParaRPr lang="en-US" sz="1350" dirty="0"/>
          </a:p>
        </p:txBody>
      </p:sp>
      <p:sp>
        <p:nvSpPr>
          <p:cNvPr id="9" name="Decision"/>
          <p:cNvSpPr/>
          <p:nvPr/>
        </p:nvSpPr>
        <p:spPr>
          <a:xfrm>
            <a:off x="548640" y="5166360"/>
            <a:ext cx="11109960" cy="868680"/>
          </a:xfrm>
          <a:prstGeom prst="roundRect">
            <a:avLst>
              <a:gd name="adj" fmla="val 8421"/>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0" name="Decision text"/>
          <p:cNvSpPr txBox="1"/>
          <p:nvPr/>
        </p:nvSpPr>
        <p:spPr>
          <a:xfrm>
            <a:off x="868680" y="5212080"/>
            <a:ext cx="10515600" cy="777240"/>
          </a:xfrm>
          <a:prstGeom prst="rect">
            <a:avLst/>
          </a:prstGeom>
          <a:noFill/>
          <a:ln/>
        </p:spPr>
        <p:txBody>
          <a:bodyPr wrap="square" lIns="0" tIns="0" rIns="0" bIns="0" rtlCol="0" anchor="ctr"/>
          <a:lstStyle/>
          <a:p>
            <a:pPr indent="0" marL="0">
              <a:buNone/>
            </a:pPr>
            <a:r>
              <a:rPr lang="en-US" sz="1400" b="1" dirty="0">
                <a:solidFill>
                  <a:srgbClr val="B45309"/>
                </a:solidFill>
              </a:rPr>
              <a:t>Often the key already exists: </a:t>
            </a:r>
            <a:pPr indent="0" marL="0">
              <a:buNone/>
            </a:pPr>
            <a:r>
              <a:rPr lang="en-US" sz="1400" dirty="0">
                <a:solidFill>
                  <a:schemeClr val="tx2"/>
                </a:solidFill>
              </a:rPr>
              <a:t>for example, a Mainframe PIN, proposed for confirmation as the enterprise person key. Validate uniqueness, persistence, non-reassignment, coverage, privacy and history; then map Core HCM’s PersonNumber and every directory and credential key to it.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Proposed physical mapping: HR to Entra ID and AD</a:t>
            </a:r>
            <a:endParaRPr lang="en-US" sz="3000" dirty="0"/>
          </a:p>
        </p:txBody>
      </p:sp>
      <p:sp>
        <p:nvSpPr>
          <p:cNvPr id="3" name="Mapping caveat"/>
          <p:cNvSpPr txBox="1"/>
          <p:nvPr/>
        </p:nvSpPr>
        <p:spPr>
          <a:xfrm>
            <a:off x="548640" y="6144768"/>
            <a:ext cx="11064240" cy="228600"/>
          </a:xfrm>
          <a:prstGeom prst="rect">
            <a:avLst/>
          </a:prstGeom>
          <a:noFill/>
          <a:ln/>
        </p:spPr>
        <p:txBody>
          <a:bodyPr wrap="square" lIns="0" tIns="0" rIns="0" bIns="0" rtlCol="0" anchor="t"/>
          <a:lstStyle/>
          <a:p>
            <a:pPr indent="0" marL="0">
              <a:buNone/>
            </a:pPr>
            <a:r>
              <a:rPr lang="en-US" sz="1050" i="1" dirty="0">
                <a:solidFill>
                  <a:srgbClr val="64748B"/>
                </a:solidFill>
              </a:rPr>
              <a:t>Target attributes are implementation proposals subject to existing-use inventory, security review and tenant validation.</a:t>
            </a:r>
            <a:endParaRPr lang="en-US" sz="10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3566160"/>
        </p:xfrm>
        <a:graphic>
          <a:graphicData uri="http://schemas.openxmlformats.org/drawingml/2006/table">
            <a:tbl>
              <a:tblPr/>
              <a:tblGrid>
                <a:gridCol w="2057400"/>
                <a:gridCol w="1828800"/>
                <a:gridCol w="2697480"/>
                <a:gridCol w="2606040"/>
                <a:gridCol w="1920240"/>
              </a:tblGrid>
              <a:tr h="509451">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HR (OPM standard element)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Canonical model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Entra ID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Active Directory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ICAM use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9451">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Person (enterprise key)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personKey</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employeeId</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employeeID</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Audit and SIEM joins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9451">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Agency / subelement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legalEmployer, orgCode</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companyName; extensionAttribute10</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company; extensionAttribute10</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Component scope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9451">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Duty station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locationCode, country</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officeLocation; usageLocation</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physicalDeliveryOfficeName; co</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Location policy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9451">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Occupational series + pay plan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positionCategory</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extensionAttribute12</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extensionAttribute12</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Role-based access packages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9451">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Supervisory status; supervisor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isSupervisor; manager</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manager (+ supervisor group)</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manager (DN)</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Approvals and reviews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9451">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Nature of action + date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lifecycle event</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hire and leave dates; accountEnabled</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onsolas" pitchFamily="34" charset="0"/>
                          <a:ea typeface="Consolas" pitchFamily="34" charset="-122"/>
                          <a:cs typeface="Consolas" pitchFamily="34" charset="-120"/>
                        </a:rPr>
                        <a:t>extensionAttribute2/3; enabled</a:t>
                      </a:r>
                      <a:endParaRPr lang="en-US" sz="1100" dirty="0">
                        <a:latin typeface="Consolas" charset="0"/>
                        <a:ea typeface="Consolas" charset="0"/>
                        <a:cs typeface="Consolas"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Joiner, mover, leaver; PIV</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5" name="Model rule 1"/>
          <p:cNvSpPr/>
          <p:nvPr/>
        </p:nvSpPr>
        <p:spPr>
          <a:xfrm>
            <a:off x="548640" y="5257800"/>
            <a:ext cx="3611880" cy="914400"/>
          </a:xfrm>
          <a:prstGeom prst="roundRect">
            <a:avLst>
              <a:gd name="adj" fmla="val 8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6" name="Icon FaCubes"/>
          <p:cNvSpPr/>
          <p:nvPr/>
        </p:nvSpPr>
        <p:spPr>
          <a:xfrm>
            <a:off x="713232" y="5440680"/>
            <a:ext cx="548640" cy="548640"/>
          </a:xfrm>
          <a:prstGeom prst="ellipse">
            <a:avLst/>
          </a:prstGeom>
          <a:solidFill>
            <a:srgbClr val="0F766E"/>
          </a:solidFill>
          <a:ln w="12700">
            <a:solidFill>
              <a:srgbClr val="0F766E"/>
            </a:solidFill>
            <a:prstDash val="solid"/>
          </a:ln>
        </p:spPr>
      </p:sp>
      <p:pic>
        <p:nvPicPr>
          <p:cNvPr id="7" name="Image 0" descr="C:\Users\whale\git\uiao\inbox\SSA-Interview\build\icons\FaCubes.png">    </p:cNvPr>
          <p:cNvPicPr>
            <a:picLocks noChangeAspect="1"/>
          </p:cNvPicPr>
          <p:nvPr/>
        </p:nvPicPr>
        <p:blipFill>
          <a:blip r:embed="rId1"/>
          <a:stretch>
            <a:fillRect/>
          </a:stretch>
        </p:blipFill>
        <p:spPr>
          <a:xfrm>
            <a:off x="844906" y="5572354"/>
            <a:ext cx="285293" cy="285293"/>
          </a:xfrm>
          <a:prstGeom prst="rect">
            <a:avLst/>
          </a:prstGeom>
        </p:spPr>
      </p:pic>
      <p:sp>
        <p:nvSpPr>
          <p:cNvPr id="8" name="Model rule 1 text"/>
          <p:cNvSpPr txBox="1"/>
          <p:nvPr/>
        </p:nvSpPr>
        <p:spPr>
          <a:xfrm>
            <a:off x="1417320" y="5303520"/>
            <a:ext cx="2651760" cy="822960"/>
          </a:xfrm>
          <a:prstGeom prst="rect">
            <a:avLst/>
          </a:prstGeom>
          <a:noFill/>
          <a:ln/>
        </p:spPr>
        <p:txBody>
          <a:bodyPr wrap="square" lIns="0" tIns="0" rIns="0" bIns="0" rtlCol="0" anchor="t"/>
          <a:lstStyle/>
          <a:p>
            <a:pPr indent="0" marL="0">
              <a:buNone/>
            </a:pPr>
            <a:r>
              <a:rPr lang="en-US" sz="1500" b="1" dirty="0">
                <a:solidFill>
                  <a:srgbClr val="0F766E"/>
                </a:solidFill>
              </a:rPr>
              <a:t>Native attributes first</a:t>
            </a:r>
            <a:endParaRPr lang="en-US" sz="1500" dirty="0"/>
          </a:p>
          <a:p>
            <a:pPr indent="0" marL="0">
              <a:buNone/>
            </a:pPr>
            <a:r>
              <a:rPr lang="en-US" sz="1350" dirty="0">
                <a:solidFill>
                  <a:schemeClr val="tx2"/>
                </a:solidFill>
              </a:rPr>
              <a:t>Extensions only where a rule can’t read a native property.</a:t>
            </a:r>
            <a:endParaRPr lang="en-US" sz="1500" dirty="0"/>
          </a:p>
        </p:txBody>
      </p:sp>
      <p:sp>
        <p:nvSpPr>
          <p:cNvPr id="9" name="Model rule 2"/>
          <p:cNvSpPr/>
          <p:nvPr/>
        </p:nvSpPr>
        <p:spPr>
          <a:xfrm>
            <a:off x="4297680" y="5257800"/>
            <a:ext cx="3611880" cy="914400"/>
          </a:xfrm>
          <a:prstGeom prst="roundRect">
            <a:avLst>
              <a:gd name="adj" fmla="val 8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0" name="Icon FaHashtag"/>
          <p:cNvSpPr/>
          <p:nvPr/>
        </p:nvSpPr>
        <p:spPr>
          <a:xfrm>
            <a:off x="4462272" y="5440680"/>
            <a:ext cx="548640" cy="548640"/>
          </a:xfrm>
          <a:prstGeom prst="ellipse">
            <a:avLst/>
          </a:prstGeom>
          <a:solidFill>
            <a:srgbClr val="0F766E"/>
          </a:solidFill>
          <a:ln w="12700">
            <a:solidFill>
              <a:srgbClr val="0F766E"/>
            </a:solidFill>
            <a:prstDash val="solid"/>
          </a:ln>
        </p:spPr>
      </p:sp>
      <p:pic>
        <p:nvPicPr>
          <p:cNvPr id="11" name="Image 1" descr="C:\Users\whale\git\uiao\inbox\SSA-Interview\build\icons\FaHashtag.png">    </p:cNvPr>
          <p:cNvPicPr>
            <a:picLocks noChangeAspect="1"/>
          </p:cNvPicPr>
          <p:nvPr/>
        </p:nvPicPr>
        <p:blipFill>
          <a:blip r:embed="rId2"/>
          <a:stretch>
            <a:fillRect/>
          </a:stretch>
        </p:blipFill>
        <p:spPr>
          <a:xfrm>
            <a:off x="4593946" y="5572354"/>
            <a:ext cx="285293" cy="285293"/>
          </a:xfrm>
          <a:prstGeom prst="rect">
            <a:avLst/>
          </a:prstGeom>
        </p:spPr>
      </p:pic>
      <p:sp>
        <p:nvSpPr>
          <p:cNvPr id="12" name="Model rule 2 text"/>
          <p:cNvSpPr txBox="1"/>
          <p:nvPr/>
        </p:nvSpPr>
        <p:spPr>
          <a:xfrm>
            <a:off x="5166360" y="5303520"/>
            <a:ext cx="2651760" cy="822960"/>
          </a:xfrm>
          <a:prstGeom prst="rect">
            <a:avLst/>
          </a:prstGeom>
          <a:noFill/>
          <a:ln/>
        </p:spPr>
        <p:txBody>
          <a:bodyPr wrap="square" lIns="0" tIns="0" rIns="0" bIns="0" rtlCol="0" anchor="t"/>
          <a:lstStyle/>
          <a:p>
            <a:pPr indent="0" marL="0">
              <a:buNone/>
            </a:pPr>
            <a:r>
              <a:rPr lang="en-US" sz="1500" b="1" dirty="0">
                <a:solidFill>
                  <a:srgbClr val="0F766E"/>
                </a:solidFill>
              </a:rPr>
              <a:t>Codes, not display strings</a:t>
            </a:r>
            <a:endParaRPr lang="en-US" sz="1500" dirty="0"/>
          </a:p>
          <a:p>
            <a:pPr indent="0" marL="0">
              <a:buNone/>
            </a:pPr>
            <a:r>
              <a:rPr lang="en-US" sz="1350" dirty="0">
                <a:solidFill>
                  <a:schemeClr val="tx2"/>
                </a:solidFill>
              </a:rPr>
              <a:t>Access rules read codes that change only when the fact does.</a:t>
            </a:r>
            <a:endParaRPr lang="en-US" sz="1500" dirty="0"/>
          </a:p>
        </p:txBody>
      </p:sp>
      <p:sp>
        <p:nvSpPr>
          <p:cNvPr id="13" name="Model rule 3"/>
          <p:cNvSpPr/>
          <p:nvPr/>
        </p:nvSpPr>
        <p:spPr>
          <a:xfrm>
            <a:off x="8046720" y="5257800"/>
            <a:ext cx="3611880" cy="914400"/>
          </a:xfrm>
          <a:prstGeom prst="roundRect">
            <a:avLst>
              <a:gd name="adj" fmla="val 8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4" name="Icon FaTableList"/>
          <p:cNvSpPr/>
          <p:nvPr/>
        </p:nvSpPr>
        <p:spPr>
          <a:xfrm>
            <a:off x="8211312" y="5440680"/>
            <a:ext cx="548640" cy="548640"/>
          </a:xfrm>
          <a:prstGeom prst="ellipse">
            <a:avLst/>
          </a:prstGeom>
          <a:solidFill>
            <a:srgbClr val="0F766E"/>
          </a:solidFill>
          <a:ln w="12700">
            <a:solidFill>
              <a:srgbClr val="0F766E"/>
            </a:solidFill>
            <a:prstDash val="solid"/>
          </a:ln>
        </p:spPr>
      </p:sp>
      <p:pic>
        <p:nvPicPr>
          <p:cNvPr id="15" name="Image 2" descr="C:\Users\whale\git\uiao\inbox\SSA-Interview\build\icons\FaTableList.png">    </p:cNvPr>
          <p:cNvPicPr>
            <a:picLocks noChangeAspect="1"/>
          </p:cNvPicPr>
          <p:nvPr/>
        </p:nvPicPr>
        <p:blipFill>
          <a:blip r:embed="rId3"/>
          <a:stretch>
            <a:fillRect/>
          </a:stretch>
        </p:blipFill>
        <p:spPr>
          <a:xfrm>
            <a:off x="8342986" y="5572354"/>
            <a:ext cx="285293" cy="285293"/>
          </a:xfrm>
          <a:prstGeom prst="rect">
            <a:avLst/>
          </a:prstGeom>
        </p:spPr>
      </p:pic>
      <p:sp>
        <p:nvSpPr>
          <p:cNvPr id="16" name="Model rule 3 text"/>
          <p:cNvSpPr txBox="1"/>
          <p:nvPr/>
        </p:nvSpPr>
        <p:spPr>
          <a:xfrm>
            <a:off x="8915400" y="5303520"/>
            <a:ext cx="2651760" cy="822960"/>
          </a:xfrm>
          <a:prstGeom prst="rect">
            <a:avLst/>
          </a:prstGeom>
          <a:noFill/>
          <a:ln/>
        </p:spPr>
        <p:txBody>
          <a:bodyPr wrap="square" lIns="0" tIns="0" rIns="0" bIns="0" rtlCol="0" anchor="t"/>
          <a:lstStyle/>
          <a:p>
            <a:pPr indent="0" marL="0">
              <a:buNone/>
            </a:pPr>
            <a:r>
              <a:rPr lang="en-US" sz="1500" b="1" dirty="0">
                <a:solidFill>
                  <a:srgbClr val="0F766E"/>
                </a:solidFill>
              </a:rPr>
              <a:t>One crosswalk, governed</a:t>
            </a:r>
            <a:endParaRPr lang="en-US" sz="1500" dirty="0"/>
          </a:p>
          <a:p>
            <a:pPr indent="0" marL="0">
              <a:buNone/>
            </a:pPr>
            <a:r>
              <a:rPr lang="en-US" sz="1350" dirty="0">
                <a:solidFill>
                  <a:schemeClr val="tx2"/>
                </a:solidFill>
              </a:rPr>
              <a:t>Versioned, change-controlled, and the only place mappings live.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Logical architecture and Microsoft realization</a:t>
            </a:r>
            <a:endParaRPr lang="en-US" sz="3000" dirty="0"/>
          </a:p>
        </p:txBody>
      </p:sp>
      <p:sp>
        <p:nvSpPr>
          <p:cNvPr id="3" name="Row label 1"/>
          <p:cNvSpPr txBox="1"/>
          <p:nvPr/>
        </p:nvSpPr>
        <p:spPr>
          <a:xfrm>
            <a:off x="548640" y="1307592"/>
            <a:ext cx="7315200" cy="320040"/>
          </a:xfrm>
          <a:prstGeom prst="rect">
            <a:avLst/>
          </a:prstGeom>
          <a:noFill/>
          <a:ln/>
        </p:spPr>
        <p:txBody>
          <a:bodyPr wrap="square" lIns="0" tIns="0" rIns="0" bIns="0" rtlCol="0" anchor="t"/>
          <a:lstStyle/>
          <a:p>
            <a:pPr indent="0" marL="0">
              <a:buNone/>
            </a:pPr>
            <a:r>
              <a:rPr lang="en-US" sz="1400" b="1" dirty="0">
                <a:solidFill>
                  <a:srgbClr val="1F2A44"/>
                </a:solidFill>
              </a:rPr>
              <a:t>Logical architecture — stable</a:t>
            </a:r>
            <a:endParaRPr lang="en-US" sz="1400" dirty="0"/>
          </a:p>
        </p:txBody>
      </p:sp>
      <p:sp>
        <p:nvSpPr>
          <p:cNvPr id="4" name="LM 1.1"/>
          <p:cNvSpPr/>
          <p:nvPr/>
        </p:nvSpPr>
        <p:spPr>
          <a:xfrm>
            <a:off x="548640" y="1691640"/>
            <a:ext cx="2057400" cy="914400"/>
          </a:xfrm>
          <a:prstGeom prst="roundRect">
            <a:avLst>
              <a:gd name="adj" fmla="val 800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5" name="LM 1.1 text"/>
          <p:cNvSpPr txBox="1"/>
          <p:nvPr/>
        </p:nvSpPr>
        <p:spPr>
          <a:xfrm>
            <a:off x="640080" y="1691640"/>
            <a:ext cx="1874520" cy="914400"/>
          </a:xfrm>
          <a:prstGeom prst="rect">
            <a:avLst/>
          </a:prstGeom>
          <a:noFill/>
          <a:ln/>
        </p:spPr>
        <p:txBody>
          <a:bodyPr wrap="square" lIns="0" tIns="0" rIns="0" bIns="0" rtlCol="0" anchor="ctr"/>
          <a:lstStyle/>
          <a:p>
            <a:pPr algn="ctr" indent="0" marL="0">
              <a:buNone/>
            </a:pPr>
            <a:r>
              <a:rPr lang="en-US" sz="1350" b="1" dirty="0">
                <a:solidFill>
                  <a:srgbClr val="1F2A44"/>
                </a:solidFill>
              </a:rPr>
              <a:t>Authoritative source</a:t>
            </a:r>
            <a:endParaRPr lang="en-US" sz="1350" dirty="0"/>
          </a:p>
        </p:txBody>
      </p:sp>
      <p:sp>
        <p:nvSpPr>
          <p:cNvPr id="6" name="Shape 4"/>
          <p:cNvSpPr/>
          <p:nvPr/>
        </p:nvSpPr>
        <p:spPr>
          <a:xfrm>
            <a:off x="2606040" y="2148840"/>
            <a:ext cx="205740" cy="0"/>
          </a:xfrm>
          <a:prstGeom prst="line">
            <a:avLst/>
          </a:prstGeom>
          <a:noFill/>
          <a:ln w="22225">
            <a:solidFill>
              <a:srgbClr val="1F2A44"/>
            </a:solidFill>
            <a:prstDash val="solid"/>
            <a:tailEnd type="triangle"/>
          </a:ln>
        </p:spPr>
      </p:sp>
      <p:sp>
        <p:nvSpPr>
          <p:cNvPr id="7" name="LM 1.2"/>
          <p:cNvSpPr/>
          <p:nvPr/>
        </p:nvSpPr>
        <p:spPr>
          <a:xfrm>
            <a:off x="2811780" y="1691640"/>
            <a:ext cx="2057400" cy="914400"/>
          </a:xfrm>
          <a:prstGeom prst="roundRect">
            <a:avLst>
              <a:gd name="adj" fmla="val 800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8" name="LM 1.2 text"/>
          <p:cNvSpPr txBox="1"/>
          <p:nvPr/>
        </p:nvSpPr>
        <p:spPr>
          <a:xfrm>
            <a:off x="2903220" y="1691640"/>
            <a:ext cx="1874520" cy="914400"/>
          </a:xfrm>
          <a:prstGeom prst="rect">
            <a:avLst/>
          </a:prstGeom>
          <a:noFill/>
          <a:ln/>
        </p:spPr>
        <p:txBody>
          <a:bodyPr wrap="square" lIns="0" tIns="0" rIns="0" bIns="0" rtlCol="0" anchor="ctr"/>
          <a:lstStyle/>
          <a:p>
            <a:pPr algn="ctr" indent="0" marL="0">
              <a:buNone/>
            </a:pPr>
            <a:r>
              <a:rPr lang="en-US" sz="1350" b="1" dirty="0">
                <a:solidFill>
                  <a:srgbClr val="1F2A44"/>
                </a:solidFill>
              </a:rPr>
              <a:t>Boundary transformation</a:t>
            </a:r>
            <a:endParaRPr lang="en-US" sz="1350" dirty="0"/>
          </a:p>
        </p:txBody>
      </p:sp>
      <p:sp>
        <p:nvSpPr>
          <p:cNvPr id="9" name="Shape 7"/>
          <p:cNvSpPr/>
          <p:nvPr/>
        </p:nvSpPr>
        <p:spPr>
          <a:xfrm>
            <a:off x="4869180" y="2148840"/>
            <a:ext cx="205740" cy="0"/>
          </a:xfrm>
          <a:prstGeom prst="line">
            <a:avLst/>
          </a:prstGeom>
          <a:noFill/>
          <a:ln w="22225">
            <a:solidFill>
              <a:srgbClr val="1F2A44"/>
            </a:solidFill>
            <a:prstDash val="solid"/>
            <a:tailEnd type="triangle"/>
          </a:ln>
        </p:spPr>
      </p:sp>
      <p:sp>
        <p:nvSpPr>
          <p:cNvPr id="10" name="LM 1.3"/>
          <p:cNvSpPr/>
          <p:nvPr/>
        </p:nvSpPr>
        <p:spPr>
          <a:xfrm>
            <a:off x="5074920" y="1691640"/>
            <a:ext cx="2057400" cy="914400"/>
          </a:xfrm>
          <a:prstGeom prst="roundRect">
            <a:avLst>
              <a:gd name="adj" fmla="val 800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1" name="LM 1.3 text"/>
          <p:cNvSpPr txBox="1"/>
          <p:nvPr/>
        </p:nvSpPr>
        <p:spPr>
          <a:xfrm>
            <a:off x="5166360" y="1691640"/>
            <a:ext cx="1874520" cy="914400"/>
          </a:xfrm>
          <a:prstGeom prst="rect">
            <a:avLst/>
          </a:prstGeom>
          <a:noFill/>
          <a:ln/>
        </p:spPr>
        <p:txBody>
          <a:bodyPr wrap="square" lIns="0" tIns="0" rIns="0" bIns="0" rtlCol="0" anchor="ctr"/>
          <a:lstStyle/>
          <a:p>
            <a:pPr algn="ctr" indent="0" marL="0">
              <a:buNone/>
            </a:pPr>
            <a:r>
              <a:rPr lang="en-US" sz="1350" b="1" dirty="0">
                <a:solidFill>
                  <a:srgbClr val="1F2A44"/>
                </a:solidFill>
              </a:rPr>
              <a:t>Governed identity model</a:t>
            </a:r>
            <a:endParaRPr lang="en-US" sz="1350" dirty="0"/>
          </a:p>
        </p:txBody>
      </p:sp>
      <p:sp>
        <p:nvSpPr>
          <p:cNvPr id="12" name="Shape 10"/>
          <p:cNvSpPr/>
          <p:nvPr/>
        </p:nvSpPr>
        <p:spPr>
          <a:xfrm>
            <a:off x="7132320" y="2148840"/>
            <a:ext cx="205740" cy="0"/>
          </a:xfrm>
          <a:prstGeom prst="line">
            <a:avLst/>
          </a:prstGeom>
          <a:noFill/>
          <a:ln w="22225">
            <a:solidFill>
              <a:srgbClr val="1F2A44"/>
            </a:solidFill>
            <a:prstDash val="solid"/>
            <a:tailEnd type="triangle"/>
          </a:ln>
        </p:spPr>
      </p:sp>
      <p:sp>
        <p:nvSpPr>
          <p:cNvPr id="13" name="LM 1.4"/>
          <p:cNvSpPr/>
          <p:nvPr/>
        </p:nvSpPr>
        <p:spPr>
          <a:xfrm>
            <a:off x="7338060" y="1691640"/>
            <a:ext cx="2057400" cy="914400"/>
          </a:xfrm>
          <a:prstGeom prst="roundRect">
            <a:avLst>
              <a:gd name="adj" fmla="val 800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4" name="LM 1.4 text"/>
          <p:cNvSpPr txBox="1"/>
          <p:nvPr/>
        </p:nvSpPr>
        <p:spPr>
          <a:xfrm>
            <a:off x="7429500" y="1691640"/>
            <a:ext cx="1874520" cy="914400"/>
          </a:xfrm>
          <a:prstGeom prst="rect">
            <a:avLst/>
          </a:prstGeom>
          <a:noFill/>
          <a:ln/>
        </p:spPr>
        <p:txBody>
          <a:bodyPr wrap="square" lIns="0" tIns="0" rIns="0" bIns="0" rtlCol="0" anchor="ctr"/>
          <a:lstStyle/>
          <a:p>
            <a:pPr algn="ctr" indent="0" marL="0">
              <a:buNone/>
            </a:pPr>
            <a:r>
              <a:rPr lang="en-US" sz="1350" b="1" dirty="0">
                <a:solidFill>
                  <a:srgbClr val="1F2A44"/>
                </a:solidFill>
              </a:rPr>
              <a:t>Provisioning service</a:t>
            </a:r>
            <a:endParaRPr lang="en-US" sz="1350" dirty="0"/>
          </a:p>
        </p:txBody>
      </p:sp>
      <p:sp>
        <p:nvSpPr>
          <p:cNvPr id="15" name="Shape 13"/>
          <p:cNvSpPr/>
          <p:nvPr/>
        </p:nvSpPr>
        <p:spPr>
          <a:xfrm>
            <a:off x="9395460" y="2148840"/>
            <a:ext cx="205740" cy="0"/>
          </a:xfrm>
          <a:prstGeom prst="line">
            <a:avLst/>
          </a:prstGeom>
          <a:noFill/>
          <a:ln w="22225">
            <a:solidFill>
              <a:srgbClr val="1F2A44"/>
            </a:solidFill>
            <a:prstDash val="solid"/>
            <a:tailEnd type="triangle"/>
          </a:ln>
        </p:spPr>
      </p:sp>
      <p:sp>
        <p:nvSpPr>
          <p:cNvPr id="16" name="LM 1.5"/>
          <p:cNvSpPr/>
          <p:nvPr/>
        </p:nvSpPr>
        <p:spPr>
          <a:xfrm>
            <a:off x="9601200" y="1691640"/>
            <a:ext cx="2057400" cy="914400"/>
          </a:xfrm>
          <a:prstGeom prst="roundRect">
            <a:avLst>
              <a:gd name="adj" fmla="val 800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7" name="LM 1.5 text"/>
          <p:cNvSpPr txBox="1"/>
          <p:nvPr/>
        </p:nvSpPr>
        <p:spPr>
          <a:xfrm>
            <a:off x="9692640" y="1691640"/>
            <a:ext cx="1874520" cy="914400"/>
          </a:xfrm>
          <a:prstGeom prst="rect">
            <a:avLst/>
          </a:prstGeom>
          <a:noFill/>
          <a:ln/>
        </p:spPr>
        <p:txBody>
          <a:bodyPr wrap="square" lIns="0" tIns="0" rIns="0" bIns="0" rtlCol="0" anchor="ctr"/>
          <a:lstStyle/>
          <a:p>
            <a:pPr algn="ctr" indent="0" marL="0">
              <a:buNone/>
            </a:pPr>
            <a:r>
              <a:rPr lang="en-US" sz="1350" b="1" dirty="0">
                <a:solidFill>
                  <a:srgbClr val="1F2A44"/>
                </a:solidFill>
              </a:rPr>
              <a:t>Targets and ICAM</a:t>
            </a:r>
            <a:endParaRPr lang="en-US" sz="1350" dirty="0"/>
          </a:p>
        </p:txBody>
      </p:sp>
      <p:sp>
        <p:nvSpPr>
          <p:cNvPr id="18" name="Row label 2"/>
          <p:cNvSpPr txBox="1"/>
          <p:nvPr/>
        </p:nvSpPr>
        <p:spPr>
          <a:xfrm>
            <a:off x="548640" y="2724912"/>
            <a:ext cx="7315200" cy="320040"/>
          </a:xfrm>
          <a:prstGeom prst="rect">
            <a:avLst/>
          </a:prstGeom>
          <a:noFill/>
          <a:ln/>
        </p:spPr>
        <p:txBody>
          <a:bodyPr wrap="square" lIns="0" tIns="0" rIns="0" bIns="0" rtlCol="0" anchor="t"/>
          <a:lstStyle/>
          <a:p>
            <a:pPr indent="0" marL="0">
              <a:buNone/>
            </a:pPr>
            <a:r>
              <a:rPr lang="en-US" sz="1400" b="1" dirty="0">
                <a:solidFill>
                  <a:srgbClr val="0F766E"/>
                </a:solidFill>
              </a:rPr>
              <a:t>Microsoft realization — replaceable</a:t>
            </a:r>
            <a:endParaRPr lang="en-US" sz="1400" dirty="0"/>
          </a:p>
        </p:txBody>
      </p:sp>
      <p:sp>
        <p:nvSpPr>
          <p:cNvPr id="19" name="LM 2.1"/>
          <p:cNvSpPr/>
          <p:nvPr/>
        </p:nvSpPr>
        <p:spPr>
          <a:xfrm>
            <a:off x="548640" y="3108960"/>
            <a:ext cx="2057400" cy="914400"/>
          </a:xfrm>
          <a:prstGeom prst="roundRect">
            <a:avLst>
              <a:gd name="adj" fmla="val 800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0" name="LM 2.1 text"/>
          <p:cNvSpPr txBox="1"/>
          <p:nvPr/>
        </p:nvSpPr>
        <p:spPr>
          <a:xfrm>
            <a:off x="640080" y="3108960"/>
            <a:ext cx="1874520" cy="914400"/>
          </a:xfrm>
          <a:prstGeom prst="rect">
            <a:avLst/>
          </a:prstGeom>
          <a:noFill/>
          <a:ln/>
        </p:spPr>
        <p:txBody>
          <a:bodyPr wrap="square" lIns="0" tIns="0" rIns="0" bIns="0" rtlCol="0" anchor="ctr"/>
          <a:lstStyle/>
          <a:p>
            <a:pPr algn="ctr" indent="0" marL="0">
              <a:buNone/>
            </a:pPr>
            <a:r>
              <a:rPr lang="en-US" sz="1350" dirty="0">
                <a:solidFill>
                  <a:srgbClr val="1F2A44"/>
                </a:solidFill>
              </a:rPr>
              <a:t>Oracle Core HCM</a:t>
            </a:r>
            <a:endParaRPr lang="en-US" sz="1350" dirty="0"/>
          </a:p>
        </p:txBody>
      </p:sp>
      <p:sp>
        <p:nvSpPr>
          <p:cNvPr id="21" name="Shape 19"/>
          <p:cNvSpPr/>
          <p:nvPr/>
        </p:nvSpPr>
        <p:spPr>
          <a:xfrm>
            <a:off x="2606040" y="3566160"/>
            <a:ext cx="205740" cy="0"/>
          </a:xfrm>
          <a:prstGeom prst="line">
            <a:avLst/>
          </a:prstGeom>
          <a:noFill/>
          <a:ln w="22225">
            <a:solidFill>
              <a:srgbClr val="0F766E"/>
            </a:solidFill>
            <a:prstDash val="solid"/>
            <a:tailEnd type="triangle"/>
          </a:ln>
        </p:spPr>
      </p:sp>
      <p:sp>
        <p:nvSpPr>
          <p:cNvPr id="22" name="LM 2.2"/>
          <p:cNvSpPr/>
          <p:nvPr/>
        </p:nvSpPr>
        <p:spPr>
          <a:xfrm>
            <a:off x="2811780" y="3108960"/>
            <a:ext cx="2057400" cy="914400"/>
          </a:xfrm>
          <a:prstGeom prst="roundRect">
            <a:avLst>
              <a:gd name="adj" fmla="val 800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3" name="LM 2.2 text"/>
          <p:cNvSpPr txBox="1"/>
          <p:nvPr/>
        </p:nvSpPr>
        <p:spPr>
          <a:xfrm>
            <a:off x="2903220" y="3108960"/>
            <a:ext cx="1874520" cy="914400"/>
          </a:xfrm>
          <a:prstGeom prst="rect">
            <a:avLst/>
          </a:prstGeom>
          <a:noFill/>
          <a:ln/>
        </p:spPr>
        <p:txBody>
          <a:bodyPr wrap="square" lIns="0" tIns="0" rIns="0" bIns="0" rtlCol="0" anchor="ctr"/>
          <a:lstStyle/>
          <a:p>
            <a:pPr algn="ctr" indent="0" marL="0">
              <a:buNone/>
            </a:pPr>
            <a:r>
              <a:rPr lang="en-US" sz="1350" dirty="0">
                <a:solidFill>
                  <a:srgbClr val="1F2A44"/>
                </a:solidFill>
              </a:rPr>
              <a:t>Azure Functions or Logic Apps</a:t>
            </a:r>
            <a:endParaRPr lang="en-US" sz="1350" dirty="0"/>
          </a:p>
        </p:txBody>
      </p:sp>
      <p:sp>
        <p:nvSpPr>
          <p:cNvPr id="24" name="Shape 22"/>
          <p:cNvSpPr/>
          <p:nvPr/>
        </p:nvSpPr>
        <p:spPr>
          <a:xfrm>
            <a:off x="4869180" y="3566160"/>
            <a:ext cx="205740" cy="0"/>
          </a:xfrm>
          <a:prstGeom prst="line">
            <a:avLst/>
          </a:prstGeom>
          <a:noFill/>
          <a:ln w="22225">
            <a:solidFill>
              <a:srgbClr val="0F766E"/>
            </a:solidFill>
            <a:prstDash val="solid"/>
            <a:tailEnd type="triangle"/>
          </a:ln>
        </p:spPr>
      </p:sp>
      <p:sp>
        <p:nvSpPr>
          <p:cNvPr id="25" name="LM 2.3"/>
          <p:cNvSpPr/>
          <p:nvPr/>
        </p:nvSpPr>
        <p:spPr>
          <a:xfrm>
            <a:off x="5074920" y="3108960"/>
            <a:ext cx="2057400" cy="914400"/>
          </a:xfrm>
          <a:prstGeom prst="roundRect">
            <a:avLst>
              <a:gd name="adj" fmla="val 800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6" name="LM 2.3 text"/>
          <p:cNvSpPr txBox="1"/>
          <p:nvPr/>
        </p:nvSpPr>
        <p:spPr>
          <a:xfrm>
            <a:off x="5166360" y="3108960"/>
            <a:ext cx="1874520" cy="914400"/>
          </a:xfrm>
          <a:prstGeom prst="rect">
            <a:avLst/>
          </a:prstGeom>
          <a:noFill/>
          <a:ln/>
        </p:spPr>
        <p:txBody>
          <a:bodyPr wrap="square" lIns="0" tIns="0" rIns="0" bIns="0" rtlCol="0" anchor="ctr"/>
          <a:lstStyle/>
          <a:p>
            <a:pPr algn="ctr" indent="0" marL="0">
              <a:buNone/>
            </a:pPr>
            <a:r>
              <a:rPr lang="en-US" sz="1350" dirty="0">
                <a:solidFill>
                  <a:srgbClr val="1F2A44"/>
                </a:solidFill>
              </a:rPr>
              <a:t>Canonical model and provenance store</a:t>
            </a:r>
            <a:endParaRPr lang="en-US" sz="1350" dirty="0"/>
          </a:p>
        </p:txBody>
      </p:sp>
      <p:sp>
        <p:nvSpPr>
          <p:cNvPr id="27" name="Shape 25"/>
          <p:cNvSpPr/>
          <p:nvPr/>
        </p:nvSpPr>
        <p:spPr>
          <a:xfrm>
            <a:off x="7132320" y="3566160"/>
            <a:ext cx="205740" cy="0"/>
          </a:xfrm>
          <a:prstGeom prst="line">
            <a:avLst/>
          </a:prstGeom>
          <a:noFill/>
          <a:ln w="22225">
            <a:solidFill>
              <a:srgbClr val="0F766E"/>
            </a:solidFill>
            <a:prstDash val="solid"/>
            <a:tailEnd type="triangle"/>
          </a:ln>
        </p:spPr>
      </p:sp>
      <p:sp>
        <p:nvSpPr>
          <p:cNvPr id="28" name="LM 2.4"/>
          <p:cNvSpPr/>
          <p:nvPr/>
        </p:nvSpPr>
        <p:spPr>
          <a:xfrm>
            <a:off x="7338060" y="3108960"/>
            <a:ext cx="2057400" cy="914400"/>
          </a:xfrm>
          <a:prstGeom prst="roundRect">
            <a:avLst>
              <a:gd name="adj" fmla="val 800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9" name="LM 2.4 text"/>
          <p:cNvSpPr txBox="1"/>
          <p:nvPr/>
        </p:nvSpPr>
        <p:spPr>
          <a:xfrm>
            <a:off x="7429500" y="3108960"/>
            <a:ext cx="1874520" cy="914400"/>
          </a:xfrm>
          <a:prstGeom prst="rect">
            <a:avLst/>
          </a:prstGeom>
          <a:noFill/>
          <a:ln/>
        </p:spPr>
        <p:txBody>
          <a:bodyPr wrap="square" lIns="0" tIns="0" rIns="0" bIns="0" rtlCol="0" anchor="ctr"/>
          <a:lstStyle/>
          <a:p>
            <a:pPr algn="ctr" indent="0" marL="0">
              <a:buNone/>
            </a:pPr>
            <a:r>
              <a:rPr lang="en-US" sz="1350" dirty="0">
                <a:solidFill>
                  <a:srgbClr val="1F2A44"/>
                </a:solidFill>
              </a:rPr>
              <a:t>Graph /bulkUpload; Entra provisioning</a:t>
            </a:r>
            <a:endParaRPr lang="en-US" sz="1350" dirty="0"/>
          </a:p>
        </p:txBody>
      </p:sp>
      <p:sp>
        <p:nvSpPr>
          <p:cNvPr id="30" name="Shape 28"/>
          <p:cNvSpPr/>
          <p:nvPr/>
        </p:nvSpPr>
        <p:spPr>
          <a:xfrm>
            <a:off x="9395460" y="3566160"/>
            <a:ext cx="205740" cy="0"/>
          </a:xfrm>
          <a:prstGeom prst="line">
            <a:avLst/>
          </a:prstGeom>
          <a:noFill/>
          <a:ln w="22225">
            <a:solidFill>
              <a:srgbClr val="0F766E"/>
            </a:solidFill>
            <a:prstDash val="solid"/>
            <a:tailEnd type="triangle"/>
          </a:ln>
        </p:spPr>
      </p:sp>
      <p:sp>
        <p:nvSpPr>
          <p:cNvPr id="31" name="LM 2.5"/>
          <p:cNvSpPr/>
          <p:nvPr/>
        </p:nvSpPr>
        <p:spPr>
          <a:xfrm>
            <a:off x="9601200" y="3108960"/>
            <a:ext cx="2057400" cy="914400"/>
          </a:xfrm>
          <a:prstGeom prst="roundRect">
            <a:avLst>
              <a:gd name="adj" fmla="val 800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32" name="LM 2.5 text"/>
          <p:cNvSpPr txBox="1"/>
          <p:nvPr/>
        </p:nvSpPr>
        <p:spPr>
          <a:xfrm>
            <a:off x="9692640" y="3108960"/>
            <a:ext cx="1874520" cy="914400"/>
          </a:xfrm>
          <a:prstGeom prst="rect">
            <a:avLst/>
          </a:prstGeom>
          <a:noFill/>
          <a:ln/>
        </p:spPr>
        <p:txBody>
          <a:bodyPr wrap="square" lIns="0" tIns="0" rIns="0" bIns="0" rtlCol="0" anchor="ctr"/>
          <a:lstStyle/>
          <a:p>
            <a:pPr algn="ctr" indent="0" marL="0">
              <a:buNone/>
            </a:pPr>
            <a:r>
              <a:rPr lang="en-US" sz="1350" dirty="0">
                <a:solidFill>
                  <a:srgbClr val="1F2A44"/>
                </a:solidFill>
              </a:rPr>
              <a:t>Entra ID, AD, Intune, card management</a:t>
            </a:r>
            <a:endParaRPr lang="en-US" sz="13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4526280"/>
          <a:ext cx="9144000" cy="1463040"/>
        </p:xfrm>
        <a:graphic>
          <a:graphicData uri="http://schemas.openxmlformats.org/drawingml/2006/table">
            <a:tbl>
              <a:tblPr/>
              <a:tblGrid>
                <a:gridCol w="2103120"/>
                <a:gridCol w="4480560"/>
                <a:gridCol w="4526280"/>
              </a:tblGrid>
              <a:tr h="487680">
                <a:tc>
                  <a:txBody>
                    <a:bodyPr/>
                    <a:lstStyle/>
                    <a:p>
                      <a:pPr indent="0" marL="0">
                        <a:buNone/>
                      </a:pP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Directory migration (AD → Entra ID)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HR-driven identity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8768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What changes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Users’ source of authority moves from AD to Entra ID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HR becomes the start of authority for both</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8768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Without the other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Ticket-created accounts, migrated as they are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An HR feed into a directory about to change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ICAM: attributes drive credentials, assurance and access</a:t>
            </a:r>
            <a:endParaRPr lang="en-US" sz="3000" dirty="0"/>
          </a:p>
        </p:txBody>
      </p:sp>
      <p:sp>
        <p:nvSpPr>
          <p:cNvPr id="3" name="Credentials card"/>
          <p:cNvSpPr/>
          <p:nvPr/>
        </p:nvSpPr>
        <p:spPr>
          <a:xfrm>
            <a:off x="548640" y="1417320"/>
            <a:ext cx="3611880" cy="3337560"/>
          </a:xfrm>
          <a:prstGeom prst="roundRect">
            <a:avLst>
              <a:gd name="adj" fmla="val 219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4" name="Icon FaIdCard"/>
          <p:cNvSpPr/>
          <p:nvPr/>
        </p:nvSpPr>
        <p:spPr>
          <a:xfrm>
            <a:off x="777240" y="1618488"/>
            <a:ext cx="548640" cy="548640"/>
          </a:xfrm>
          <a:prstGeom prst="ellipse">
            <a:avLst/>
          </a:prstGeom>
          <a:solidFill>
            <a:srgbClr val="1F2A44"/>
          </a:solidFill>
          <a:ln w="12700">
            <a:solidFill>
              <a:srgbClr val="1F2A44"/>
            </a:solidFill>
            <a:prstDash val="solid"/>
          </a:ln>
        </p:spPr>
      </p:sp>
      <p:pic>
        <p:nvPicPr>
          <p:cNvPr id="5" name="Image 0" descr="C:\Users\whale\git\uiao\inbox\SSA-Interview\build\icons\FaIdCard.png">    </p:cNvPr>
          <p:cNvPicPr>
            <a:picLocks noChangeAspect="1"/>
          </p:cNvPicPr>
          <p:nvPr/>
        </p:nvPicPr>
        <p:blipFill>
          <a:blip r:embed="rId1"/>
          <a:stretch>
            <a:fillRect/>
          </a:stretch>
        </p:blipFill>
        <p:spPr>
          <a:xfrm>
            <a:off x="908914" y="1750162"/>
            <a:ext cx="285293" cy="285293"/>
          </a:xfrm>
          <a:prstGeom prst="rect">
            <a:avLst/>
          </a:prstGeom>
        </p:spPr>
      </p:pic>
      <p:sp>
        <p:nvSpPr>
          <p:cNvPr id="6" name="Credentials heading"/>
          <p:cNvSpPr txBox="1"/>
          <p:nvPr/>
        </p:nvSpPr>
        <p:spPr>
          <a:xfrm>
            <a:off x="1463040" y="1618488"/>
            <a:ext cx="2560320" cy="548640"/>
          </a:xfrm>
          <a:prstGeom prst="rect">
            <a:avLst/>
          </a:prstGeom>
          <a:noFill/>
          <a:ln/>
        </p:spPr>
        <p:txBody>
          <a:bodyPr wrap="square" lIns="0" tIns="0" rIns="0" bIns="0" rtlCol="0" anchor="ctr"/>
          <a:lstStyle/>
          <a:p>
            <a:pPr indent="0" marL="0">
              <a:buNone/>
            </a:pPr>
            <a:r>
              <a:rPr lang="en-US" sz="1800" b="1" dirty="0">
                <a:solidFill>
                  <a:srgbClr val="1F2A44"/>
                </a:solidFill>
                <a:latin typeface="Cambria" pitchFamily="34" charset="0"/>
                <a:ea typeface="Cambria" pitchFamily="34" charset="-122"/>
                <a:cs typeface="Cambria" pitchFamily="34" charset="-120"/>
              </a:rPr>
              <a:t>Credentials</a:t>
            </a:r>
            <a:endParaRPr lang="en-US" sz="1800" dirty="0"/>
          </a:p>
        </p:txBody>
      </p:sp>
      <p:sp>
        <p:nvSpPr>
          <p:cNvPr id="7" name="Credentials text"/>
          <p:cNvSpPr txBox="1"/>
          <p:nvPr/>
        </p:nvSpPr>
        <p:spPr>
          <a:xfrm>
            <a:off x="777240" y="2331720"/>
            <a:ext cx="3200400" cy="2331720"/>
          </a:xfrm>
          <a:prstGeom prst="rect">
            <a:avLst/>
          </a:prstGeom>
          <a:noFill/>
          <a:ln/>
        </p:spPr>
        <p:txBody>
          <a:bodyPr wrap="square" lIns="0" tIns="0" rIns="0" bIns="0" rtlCol="0" anchor="t"/>
          <a:lstStyle/>
          <a:p>
            <a:pPr marL="342900" indent="-342900">
              <a:spcAft>
                <a:spcPts val="500"/>
              </a:spcAft>
              <a:buSzPct val="100000"/>
              <a:buChar char="•"/>
            </a:pPr>
            <a:r>
              <a:rPr lang="en-US" sz="1550" dirty="0">
                <a:solidFill>
                  <a:schemeClr val="tx2"/>
                </a:solidFill>
              </a:rPr>
              <a:t>Joiner schedules PIV enrollment</a:t>
            </a:r>
            <a:endParaRPr lang="en-US" sz="1550" dirty="0"/>
          </a:p>
          <a:p>
            <a:pPr marL="342900" indent="-342900">
              <a:spcAft>
                <a:spcPts val="500"/>
              </a:spcAft>
              <a:buSzPct val="100000"/>
              <a:buChar char="•"/>
            </a:pPr>
            <a:r>
              <a:rPr lang="en-US" sz="1550" dirty="0">
                <a:solidFill>
                  <a:schemeClr val="tx2"/>
                </a:solidFill>
              </a:rPr>
              <a:t>Leaver: block sign-in and sessions first, then revoke PIV, derived credentials and devices in parallel</a:t>
            </a:r>
            <a:endParaRPr lang="en-US" sz="1550" dirty="0"/>
          </a:p>
          <a:p>
            <a:pPr marL="342900" indent="-342900">
              <a:spcAft>
                <a:spcPts val="500"/>
              </a:spcAft>
              <a:buSzPct val="100000"/>
              <a:buChar char="•"/>
            </a:pPr>
            <a:r>
              <a:rPr lang="en-US" sz="1550" dirty="0">
                <a:solidFill>
                  <a:schemeClr val="tx2"/>
                </a:solidFill>
              </a:rPr>
              <a:t>Every revocation reconciled to completion</a:t>
            </a:r>
            <a:endParaRPr lang="en-US" sz="1550" dirty="0"/>
          </a:p>
        </p:txBody>
      </p:sp>
      <p:sp>
        <p:nvSpPr>
          <p:cNvPr id="8" name="Assurance card"/>
          <p:cNvSpPr/>
          <p:nvPr/>
        </p:nvSpPr>
        <p:spPr>
          <a:xfrm>
            <a:off x="4297680" y="1417320"/>
            <a:ext cx="3611880" cy="3337560"/>
          </a:xfrm>
          <a:prstGeom prst="roundRect">
            <a:avLst>
              <a:gd name="adj" fmla="val 219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Icon FaFingerprint"/>
          <p:cNvSpPr/>
          <p:nvPr/>
        </p:nvSpPr>
        <p:spPr>
          <a:xfrm>
            <a:off x="4526280" y="1618488"/>
            <a:ext cx="548640" cy="548640"/>
          </a:xfrm>
          <a:prstGeom prst="ellipse">
            <a:avLst/>
          </a:prstGeom>
          <a:solidFill>
            <a:srgbClr val="0F766E"/>
          </a:solidFill>
          <a:ln w="12700">
            <a:solidFill>
              <a:srgbClr val="0F766E"/>
            </a:solidFill>
            <a:prstDash val="solid"/>
          </a:ln>
        </p:spPr>
      </p:sp>
      <p:pic>
        <p:nvPicPr>
          <p:cNvPr id="10" name="Image 1" descr="C:\Users\whale\git\uiao\inbox\SSA-Interview\build\icons\FaFingerprint.png">    </p:cNvPr>
          <p:cNvPicPr>
            <a:picLocks noChangeAspect="1"/>
          </p:cNvPicPr>
          <p:nvPr/>
        </p:nvPicPr>
        <p:blipFill>
          <a:blip r:embed="rId2"/>
          <a:stretch>
            <a:fillRect/>
          </a:stretch>
        </p:blipFill>
        <p:spPr>
          <a:xfrm>
            <a:off x="4657954" y="1750162"/>
            <a:ext cx="285293" cy="285293"/>
          </a:xfrm>
          <a:prstGeom prst="rect">
            <a:avLst/>
          </a:prstGeom>
        </p:spPr>
      </p:pic>
      <p:sp>
        <p:nvSpPr>
          <p:cNvPr id="11" name="Assurance heading"/>
          <p:cNvSpPr txBox="1"/>
          <p:nvPr/>
        </p:nvSpPr>
        <p:spPr>
          <a:xfrm>
            <a:off x="5212080" y="1618488"/>
            <a:ext cx="2560320" cy="548640"/>
          </a:xfrm>
          <a:prstGeom prst="rect">
            <a:avLst/>
          </a:prstGeom>
          <a:noFill/>
          <a:ln/>
        </p:spPr>
        <p:txBody>
          <a:bodyPr wrap="square" lIns="0" tIns="0" rIns="0" bIns="0" rtlCol="0" anchor="ctr"/>
          <a:lstStyle/>
          <a:p>
            <a:pPr indent="0" marL="0">
              <a:buNone/>
            </a:pPr>
            <a:r>
              <a:rPr lang="en-US" sz="1800" b="1" dirty="0">
                <a:solidFill>
                  <a:srgbClr val="0F766E"/>
                </a:solidFill>
                <a:latin typeface="Cambria" pitchFamily="34" charset="0"/>
                <a:ea typeface="Cambria" pitchFamily="34" charset="-122"/>
                <a:cs typeface="Cambria" pitchFamily="34" charset="-120"/>
              </a:rPr>
              <a:t>Assurance</a:t>
            </a:r>
            <a:endParaRPr lang="en-US" sz="1800" dirty="0"/>
          </a:p>
        </p:txBody>
      </p:sp>
      <p:sp>
        <p:nvSpPr>
          <p:cNvPr id="12" name="Assurance text"/>
          <p:cNvSpPr txBox="1"/>
          <p:nvPr/>
        </p:nvSpPr>
        <p:spPr>
          <a:xfrm>
            <a:off x="4526280" y="2331720"/>
            <a:ext cx="3200400" cy="2331720"/>
          </a:xfrm>
          <a:prstGeom prst="rect">
            <a:avLst/>
          </a:prstGeom>
          <a:noFill/>
          <a:ln/>
        </p:spPr>
        <p:txBody>
          <a:bodyPr wrap="square" lIns="0" tIns="0" rIns="0" bIns="0" rtlCol="0" anchor="t"/>
          <a:lstStyle/>
          <a:p>
            <a:pPr marL="342900" indent="-342900">
              <a:spcAft>
                <a:spcPts val="500"/>
              </a:spcAft>
              <a:buSzPct val="100000"/>
              <a:buChar char="•"/>
            </a:pPr>
            <a:r>
              <a:rPr lang="en-US" sz="1550" dirty="0">
                <a:solidFill>
                  <a:schemeClr val="tx2"/>
                </a:solidFill>
              </a:rPr>
              <a:t>Record proofing (IAL) and authenticator assurance (AAL) per person</a:t>
            </a:r>
            <a:endParaRPr lang="en-US" sz="1550" dirty="0"/>
          </a:p>
          <a:p>
            <a:pPr marL="342900" indent="-342900">
              <a:spcAft>
                <a:spcPts val="500"/>
              </a:spcAft>
              <a:buSzPct val="100000"/>
              <a:buChar char="•"/>
            </a:pPr>
            <a:r>
              <a:rPr lang="en-US" sz="1550" dirty="0">
                <a:solidFill>
                  <a:schemeClr val="tx2"/>
                </a:solidFill>
              </a:rPr>
              <a:t>Missing proofing evidence is itself a finding</a:t>
            </a:r>
            <a:endParaRPr lang="en-US" sz="1550" dirty="0"/>
          </a:p>
          <a:p>
            <a:pPr marL="342900" indent="-342900">
              <a:spcAft>
                <a:spcPts val="500"/>
              </a:spcAft>
              <a:buSzPct val="100000"/>
              <a:buChar char="•"/>
            </a:pPr>
            <a:r>
              <a:rPr lang="en-US" sz="1550" dirty="0">
                <a:solidFill>
                  <a:schemeClr val="tx2"/>
                </a:solidFill>
              </a:rPr>
              <a:t>Phishing-resistant MFA per OMB M‑22‑09</a:t>
            </a:r>
            <a:endParaRPr lang="en-US" sz="1550" dirty="0"/>
          </a:p>
        </p:txBody>
      </p:sp>
      <p:sp>
        <p:nvSpPr>
          <p:cNvPr id="13" name="Access card"/>
          <p:cNvSpPr/>
          <p:nvPr/>
        </p:nvSpPr>
        <p:spPr>
          <a:xfrm>
            <a:off x="8046720" y="1417320"/>
            <a:ext cx="3611880" cy="3337560"/>
          </a:xfrm>
          <a:prstGeom prst="roundRect">
            <a:avLst>
              <a:gd name="adj" fmla="val 2192"/>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4" name="Icon FaKey"/>
          <p:cNvSpPr/>
          <p:nvPr/>
        </p:nvSpPr>
        <p:spPr>
          <a:xfrm>
            <a:off x="8275320" y="1618488"/>
            <a:ext cx="548640" cy="548640"/>
          </a:xfrm>
          <a:prstGeom prst="ellipse">
            <a:avLst/>
          </a:prstGeom>
          <a:solidFill>
            <a:srgbClr val="B45309"/>
          </a:solidFill>
          <a:ln w="12700">
            <a:solidFill>
              <a:srgbClr val="B45309"/>
            </a:solidFill>
            <a:prstDash val="solid"/>
          </a:ln>
        </p:spPr>
      </p:sp>
      <p:pic>
        <p:nvPicPr>
          <p:cNvPr id="15" name="Image 2" descr="C:\Users\whale\git\uiao\inbox\SSA-Interview\build\icons\FaKey.png">    </p:cNvPr>
          <p:cNvPicPr>
            <a:picLocks noChangeAspect="1"/>
          </p:cNvPicPr>
          <p:nvPr/>
        </p:nvPicPr>
        <p:blipFill>
          <a:blip r:embed="rId3"/>
          <a:stretch>
            <a:fillRect/>
          </a:stretch>
        </p:blipFill>
        <p:spPr>
          <a:xfrm>
            <a:off x="8406994" y="1750162"/>
            <a:ext cx="285293" cy="285293"/>
          </a:xfrm>
          <a:prstGeom prst="rect">
            <a:avLst/>
          </a:prstGeom>
        </p:spPr>
      </p:pic>
      <p:sp>
        <p:nvSpPr>
          <p:cNvPr id="16" name="Access heading"/>
          <p:cNvSpPr txBox="1"/>
          <p:nvPr/>
        </p:nvSpPr>
        <p:spPr>
          <a:xfrm>
            <a:off x="8961120" y="1618488"/>
            <a:ext cx="2560320" cy="548640"/>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Access</a:t>
            </a:r>
            <a:endParaRPr lang="en-US" sz="1800" dirty="0"/>
          </a:p>
        </p:txBody>
      </p:sp>
      <p:sp>
        <p:nvSpPr>
          <p:cNvPr id="17" name="Access text"/>
          <p:cNvSpPr txBox="1"/>
          <p:nvPr/>
        </p:nvSpPr>
        <p:spPr>
          <a:xfrm>
            <a:off x="8275320" y="2331720"/>
            <a:ext cx="3200400" cy="2331720"/>
          </a:xfrm>
          <a:prstGeom prst="rect">
            <a:avLst/>
          </a:prstGeom>
          <a:noFill/>
          <a:ln/>
        </p:spPr>
        <p:txBody>
          <a:bodyPr wrap="square" lIns="0" tIns="0" rIns="0" bIns="0" rtlCol="0" anchor="t"/>
          <a:lstStyle/>
          <a:p>
            <a:pPr marL="342900" indent="-342900">
              <a:spcAft>
                <a:spcPts val="500"/>
              </a:spcAft>
              <a:buSzPct val="100000"/>
              <a:buChar char="•"/>
            </a:pPr>
            <a:r>
              <a:rPr lang="en-US" sz="1550" dirty="0">
                <a:solidFill>
                  <a:schemeClr val="tx2"/>
                </a:solidFill>
              </a:rPr>
              <a:t>Baseline access derived by rule from standard attributes</a:t>
            </a:r>
            <a:endParaRPr lang="en-US" sz="1550" dirty="0"/>
          </a:p>
          <a:p>
            <a:pPr marL="342900" indent="-342900">
              <a:spcAft>
                <a:spcPts val="500"/>
              </a:spcAft>
              <a:buSzPct val="100000"/>
              <a:buChar char="•"/>
            </a:pPr>
            <a:r>
              <a:rPr lang="en-US" sz="1550" dirty="0">
                <a:solidFill>
                  <a:schemeClr val="tx2"/>
                </a:solidFill>
              </a:rPr>
              <a:t>Position scopes candidates for privileged eligibility; explicit approval and PIM still required</a:t>
            </a:r>
            <a:endParaRPr lang="en-US" sz="1550" dirty="0"/>
          </a:p>
          <a:p>
            <a:pPr marL="342900" indent="-342900">
              <a:spcAft>
                <a:spcPts val="500"/>
              </a:spcAft>
              <a:buSzPct val="100000"/>
              <a:buChar char="•"/>
            </a:pPr>
            <a:r>
              <a:rPr lang="en-US" sz="1550" dirty="0">
                <a:solidFill>
                  <a:schemeClr val="tx2"/>
                </a:solidFill>
              </a:rPr>
              <a:t>Activity from a separated person is an alert</a:t>
            </a:r>
            <a:endParaRPr lang="en-US" sz="1550" dirty="0"/>
          </a:p>
        </p:txBody>
      </p:sp>
      <p:sp>
        <p:nvSpPr>
          <p:cNvPr id="18" name="ICAM takeaway"/>
          <p:cNvSpPr/>
          <p:nvPr/>
        </p:nvSpPr>
        <p:spPr>
          <a:xfrm>
            <a:off x="548640" y="4983480"/>
            <a:ext cx="11109960" cy="822960"/>
          </a:xfrm>
          <a:prstGeom prst="roundRect">
            <a:avLst>
              <a:gd name="adj" fmla="val 8889"/>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9" name="ICAM takeaway text"/>
          <p:cNvSpPr txBox="1"/>
          <p:nvPr/>
        </p:nvSpPr>
        <p:spPr>
          <a:xfrm>
            <a:off x="868680" y="5029200"/>
            <a:ext cx="10515600" cy="731520"/>
          </a:xfrm>
          <a:prstGeom prst="rect">
            <a:avLst/>
          </a:prstGeom>
          <a:noFill/>
          <a:ln/>
        </p:spPr>
        <p:txBody>
          <a:bodyPr wrap="square" lIns="0" tIns="0" rIns="0" bIns="0" rtlCol="0" anchor="ctr"/>
          <a:lstStyle/>
          <a:p>
            <a:pPr indent="0" marL="0">
              <a:buNone/>
            </a:pPr>
            <a:r>
              <a:rPr lang="en-US" sz="1700" b="1" dirty="0">
                <a:solidFill>
                  <a:srgbClr val="1F2A44"/>
                </a:solidFill>
              </a:rPr>
              <a:t>Every entitlement has a “because”: </a:t>
            </a:r>
            <a:pPr indent="0" marL="0">
              <a:buNone/>
            </a:pPr>
            <a:r>
              <a:rPr lang="en-US" sz="1700" dirty="0">
                <a:solidFill>
                  <a:schemeClr val="tx2"/>
                </a:solidFill>
              </a:rPr>
              <a:t>a rule, an attribute, and the personnel action that set it.</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Privacy by design: HR data in identity is a disclosure</a:t>
            </a:r>
            <a:endParaRPr lang="en-US" sz="3000" dirty="0"/>
          </a:p>
        </p:txBody>
      </p:sp>
      <p:sp>
        <p:nvSpPr>
          <p:cNvPr id="3" name="Privacy 1"/>
          <p:cNvSpPr/>
          <p:nvPr/>
        </p:nvSpPr>
        <p:spPr>
          <a:xfrm>
            <a:off x="548640" y="1417320"/>
            <a:ext cx="5486400" cy="1645920"/>
          </a:xfrm>
          <a:prstGeom prst="roundRect">
            <a:avLst>
              <a:gd name="adj" fmla="val 444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4" name="Icon FaScaleBalanced"/>
          <p:cNvSpPr/>
          <p:nvPr/>
        </p:nvSpPr>
        <p:spPr>
          <a:xfrm>
            <a:off x="822960" y="1691640"/>
            <a:ext cx="640080" cy="640080"/>
          </a:xfrm>
          <a:prstGeom prst="ellipse">
            <a:avLst/>
          </a:prstGeom>
          <a:solidFill>
            <a:srgbClr val="1F2A44"/>
          </a:solidFill>
          <a:ln w="12700">
            <a:solidFill>
              <a:srgbClr val="1F2A44"/>
            </a:solidFill>
            <a:prstDash val="solid"/>
          </a:ln>
        </p:spPr>
      </p:sp>
      <p:pic>
        <p:nvPicPr>
          <p:cNvPr id="5" name="Image 0" descr="C:\Users\whale\git\uiao\inbox\SSA-Interview\build\icons\FaScaleBalanced.png">    </p:cNvPr>
          <p:cNvPicPr>
            <a:picLocks noChangeAspect="1"/>
          </p:cNvPicPr>
          <p:nvPr/>
        </p:nvPicPr>
        <p:blipFill>
          <a:blip r:embed="rId1"/>
          <a:stretch>
            <a:fillRect/>
          </a:stretch>
        </p:blipFill>
        <p:spPr>
          <a:xfrm>
            <a:off x="976579" y="1845259"/>
            <a:ext cx="332842" cy="332842"/>
          </a:xfrm>
          <a:prstGeom prst="rect">
            <a:avLst/>
          </a:prstGeom>
        </p:spPr>
      </p:pic>
      <p:sp>
        <p:nvSpPr>
          <p:cNvPr id="6" name="Privacy 1 text"/>
          <p:cNvSpPr txBox="1"/>
          <p:nvPr/>
        </p:nvSpPr>
        <p:spPr>
          <a:xfrm>
            <a:off x="1691640" y="1581912"/>
            <a:ext cx="4160520" cy="1371600"/>
          </a:xfrm>
          <a:prstGeom prst="rect">
            <a:avLst/>
          </a:prstGeom>
          <a:noFill/>
          <a:ln/>
        </p:spPr>
        <p:txBody>
          <a:bodyPr wrap="square" lIns="0" tIns="0" rIns="0" bIns="0" rtlCol="0" anchor="t"/>
          <a:lstStyle/>
          <a:p>
            <a:pPr indent="0" marL="0">
              <a:spcAft>
                <a:spcPts val="600"/>
              </a:spcAft>
              <a:buNone/>
            </a:pPr>
            <a:r>
              <a:rPr lang="en-US" sz="1900" b="1" dirty="0">
                <a:solidFill>
                  <a:srgbClr val="1F2A44"/>
                </a:solidFill>
                <a:latin typeface="Cambria" pitchFamily="34" charset="0"/>
                <a:ea typeface="Cambria" pitchFamily="34" charset="-122"/>
                <a:cs typeface="Cambria" pitchFamily="34" charset="-120"/>
              </a:rPr>
              <a:t>Routine use</a:t>
            </a:r>
            <a:endParaRPr lang="en-US" sz="1400" dirty="0"/>
          </a:p>
          <a:p>
            <a:pPr indent="0" marL="0">
              <a:spcAft>
                <a:spcPts val="600"/>
              </a:spcAft>
              <a:buNone/>
            </a:pPr>
            <a:r>
              <a:rPr lang="en-US" sz="1500" dirty="0">
                <a:solidFill>
                  <a:schemeClr val="tx2"/>
                </a:solidFill>
              </a:rPr>
              <a:t>Confirm the routine-use basis under the governing SORNs (e.g., OPM/GOVT-1) before any HR attribute flows to a directory.</a:t>
            </a:r>
            <a:endParaRPr lang="en-US" sz="1400" dirty="0"/>
          </a:p>
        </p:txBody>
      </p:sp>
      <p:sp>
        <p:nvSpPr>
          <p:cNvPr id="7" name="Privacy 2"/>
          <p:cNvSpPr/>
          <p:nvPr/>
        </p:nvSpPr>
        <p:spPr>
          <a:xfrm>
            <a:off x="6172200" y="1417320"/>
            <a:ext cx="5486400" cy="1645920"/>
          </a:xfrm>
          <a:prstGeom prst="roundRect">
            <a:avLst>
              <a:gd name="adj" fmla="val 444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8" name="Icon FaFilter"/>
          <p:cNvSpPr/>
          <p:nvPr/>
        </p:nvSpPr>
        <p:spPr>
          <a:xfrm>
            <a:off x="6446520" y="1691640"/>
            <a:ext cx="640080" cy="640080"/>
          </a:xfrm>
          <a:prstGeom prst="ellipse">
            <a:avLst/>
          </a:prstGeom>
          <a:solidFill>
            <a:srgbClr val="0F766E"/>
          </a:solidFill>
          <a:ln w="12700">
            <a:solidFill>
              <a:srgbClr val="0F766E"/>
            </a:solidFill>
            <a:prstDash val="solid"/>
          </a:ln>
        </p:spPr>
      </p:sp>
      <p:pic>
        <p:nvPicPr>
          <p:cNvPr id="9" name="Image 1" descr="C:\Users\whale\git\uiao\inbox\SSA-Interview\build\icons\FaFilter.png">    </p:cNvPr>
          <p:cNvPicPr>
            <a:picLocks noChangeAspect="1"/>
          </p:cNvPicPr>
          <p:nvPr/>
        </p:nvPicPr>
        <p:blipFill>
          <a:blip r:embed="rId2"/>
          <a:stretch>
            <a:fillRect/>
          </a:stretch>
        </p:blipFill>
        <p:spPr>
          <a:xfrm>
            <a:off x="6600139" y="1845259"/>
            <a:ext cx="332842" cy="332842"/>
          </a:xfrm>
          <a:prstGeom prst="rect">
            <a:avLst/>
          </a:prstGeom>
        </p:spPr>
      </p:pic>
      <p:sp>
        <p:nvSpPr>
          <p:cNvPr id="10" name="Privacy 2 text"/>
          <p:cNvSpPr txBox="1"/>
          <p:nvPr/>
        </p:nvSpPr>
        <p:spPr>
          <a:xfrm>
            <a:off x="7315200" y="1581912"/>
            <a:ext cx="4160520" cy="1371600"/>
          </a:xfrm>
          <a:prstGeom prst="rect">
            <a:avLst/>
          </a:prstGeom>
          <a:noFill/>
          <a:ln/>
        </p:spPr>
        <p:txBody>
          <a:bodyPr wrap="square" lIns="0" tIns="0" rIns="0" bIns="0" rtlCol="0" anchor="t"/>
          <a:lstStyle/>
          <a:p>
            <a:pPr indent="0" marL="0">
              <a:spcAft>
                <a:spcPts val="600"/>
              </a:spcAft>
              <a:buNone/>
            </a:pPr>
            <a:r>
              <a:rPr lang="en-US" sz="1900" b="1" dirty="0">
                <a:solidFill>
                  <a:srgbClr val="0F766E"/>
                </a:solidFill>
                <a:latin typeface="Cambria" pitchFamily="34" charset="0"/>
                <a:ea typeface="Cambria" pitchFamily="34" charset="-122"/>
                <a:cs typeface="Cambria" pitchFamily="34" charset="-120"/>
              </a:rPr>
              <a:t>Minimize</a:t>
            </a:r>
            <a:endParaRPr lang="en-US" sz="1400" dirty="0"/>
          </a:p>
          <a:p>
            <a:pPr indent="0" marL="0">
              <a:spcAft>
                <a:spcPts val="600"/>
              </a:spcAft>
              <a:buNone/>
            </a:pPr>
            <a:r>
              <a:rPr lang="en-US" sz="1500" dirty="0">
                <a:solidFill>
                  <a:schemeClr val="tx2"/>
                </a:solidFill>
              </a:rPr>
              <a:t>Send only the attributes an identity decision reads. Codes, not narrative; no SSN as a join key.</a:t>
            </a:r>
            <a:endParaRPr lang="en-US" sz="1400" dirty="0"/>
          </a:p>
        </p:txBody>
      </p:sp>
      <p:sp>
        <p:nvSpPr>
          <p:cNvPr id="11" name="Privacy 3"/>
          <p:cNvSpPr/>
          <p:nvPr/>
        </p:nvSpPr>
        <p:spPr>
          <a:xfrm>
            <a:off x="548640" y="3246120"/>
            <a:ext cx="5486400" cy="1645920"/>
          </a:xfrm>
          <a:prstGeom prst="roundRect">
            <a:avLst>
              <a:gd name="adj" fmla="val 444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2" name="Icon FaFileShield"/>
          <p:cNvSpPr/>
          <p:nvPr/>
        </p:nvSpPr>
        <p:spPr>
          <a:xfrm>
            <a:off x="822960" y="3520440"/>
            <a:ext cx="640080" cy="640080"/>
          </a:xfrm>
          <a:prstGeom prst="ellipse">
            <a:avLst/>
          </a:prstGeom>
          <a:solidFill>
            <a:srgbClr val="0F766E"/>
          </a:solidFill>
          <a:ln w="12700">
            <a:solidFill>
              <a:srgbClr val="0F766E"/>
            </a:solidFill>
            <a:prstDash val="solid"/>
          </a:ln>
        </p:spPr>
      </p:sp>
      <p:pic>
        <p:nvPicPr>
          <p:cNvPr id="13" name="Image 2" descr="C:\Users\whale\git\uiao\inbox\SSA-Interview\build\icons\FaFileShield.png">    </p:cNvPr>
          <p:cNvPicPr>
            <a:picLocks noChangeAspect="1"/>
          </p:cNvPicPr>
          <p:nvPr/>
        </p:nvPicPr>
        <p:blipFill>
          <a:blip r:embed="rId3"/>
          <a:stretch>
            <a:fillRect/>
          </a:stretch>
        </p:blipFill>
        <p:spPr>
          <a:xfrm>
            <a:off x="976579" y="3674059"/>
            <a:ext cx="332842" cy="332842"/>
          </a:xfrm>
          <a:prstGeom prst="rect">
            <a:avLst/>
          </a:prstGeom>
        </p:spPr>
      </p:pic>
      <p:sp>
        <p:nvSpPr>
          <p:cNvPr id="14" name="Privacy 3 text"/>
          <p:cNvSpPr txBox="1"/>
          <p:nvPr/>
        </p:nvSpPr>
        <p:spPr>
          <a:xfrm>
            <a:off x="1691640" y="3410712"/>
            <a:ext cx="4160520" cy="1371600"/>
          </a:xfrm>
          <a:prstGeom prst="rect">
            <a:avLst/>
          </a:prstGeom>
          <a:noFill/>
          <a:ln/>
        </p:spPr>
        <p:txBody>
          <a:bodyPr wrap="square" lIns="0" tIns="0" rIns="0" bIns="0" rtlCol="0" anchor="t"/>
          <a:lstStyle/>
          <a:p>
            <a:pPr indent="0" marL="0">
              <a:spcAft>
                <a:spcPts val="600"/>
              </a:spcAft>
              <a:buNone/>
            </a:pPr>
            <a:r>
              <a:rPr lang="en-US" sz="1900" b="1" dirty="0">
                <a:solidFill>
                  <a:srgbClr val="0F766E"/>
                </a:solidFill>
                <a:latin typeface="Cambria" pitchFamily="34" charset="0"/>
                <a:ea typeface="Cambria" pitchFamily="34" charset="-122"/>
                <a:cs typeface="Cambria" pitchFamily="34" charset="-120"/>
              </a:rPr>
              <a:t>PIA</a:t>
            </a:r>
            <a:endParaRPr lang="en-US" sz="1400" dirty="0"/>
          </a:p>
          <a:p>
            <a:pPr indent="0" marL="0">
              <a:spcAft>
                <a:spcPts val="600"/>
              </a:spcAft>
              <a:buNone/>
            </a:pPr>
            <a:r>
              <a:rPr lang="en-US" sz="1500" dirty="0">
                <a:solidFill>
                  <a:schemeClr val="tx2"/>
                </a:solidFill>
              </a:rPr>
              <a:t>Update the privacy impact assessment for the new data flow and its consumers.</a:t>
            </a:r>
            <a:endParaRPr lang="en-US" sz="1400" dirty="0"/>
          </a:p>
        </p:txBody>
      </p:sp>
      <p:sp>
        <p:nvSpPr>
          <p:cNvPr id="15" name="Privacy 4"/>
          <p:cNvSpPr/>
          <p:nvPr/>
        </p:nvSpPr>
        <p:spPr>
          <a:xfrm>
            <a:off x="6172200" y="3246120"/>
            <a:ext cx="5486400" cy="1645920"/>
          </a:xfrm>
          <a:prstGeom prst="roundRect">
            <a:avLst>
              <a:gd name="adj" fmla="val 444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6" name="Icon FaLock"/>
          <p:cNvSpPr/>
          <p:nvPr/>
        </p:nvSpPr>
        <p:spPr>
          <a:xfrm>
            <a:off x="6446520" y="3520440"/>
            <a:ext cx="640080" cy="640080"/>
          </a:xfrm>
          <a:prstGeom prst="ellipse">
            <a:avLst/>
          </a:prstGeom>
          <a:solidFill>
            <a:srgbClr val="1F2A44"/>
          </a:solidFill>
          <a:ln w="12700">
            <a:solidFill>
              <a:srgbClr val="1F2A44"/>
            </a:solidFill>
            <a:prstDash val="solid"/>
          </a:ln>
        </p:spPr>
      </p:sp>
      <p:pic>
        <p:nvPicPr>
          <p:cNvPr id="17" name="Image 3" descr="C:\Users\whale\git\uiao\inbox\SSA-Interview\build\icons\FaLock.png">    </p:cNvPr>
          <p:cNvPicPr>
            <a:picLocks noChangeAspect="1"/>
          </p:cNvPicPr>
          <p:nvPr/>
        </p:nvPicPr>
        <p:blipFill>
          <a:blip r:embed="rId4"/>
          <a:stretch>
            <a:fillRect/>
          </a:stretch>
        </p:blipFill>
        <p:spPr>
          <a:xfrm>
            <a:off x="6600139" y="3674059"/>
            <a:ext cx="332842" cy="332842"/>
          </a:xfrm>
          <a:prstGeom prst="rect">
            <a:avLst/>
          </a:prstGeom>
        </p:spPr>
      </p:pic>
      <p:sp>
        <p:nvSpPr>
          <p:cNvPr id="18" name="Privacy 4 text"/>
          <p:cNvSpPr txBox="1"/>
          <p:nvPr/>
        </p:nvSpPr>
        <p:spPr>
          <a:xfrm>
            <a:off x="7315200" y="3410712"/>
            <a:ext cx="4160520" cy="1371600"/>
          </a:xfrm>
          <a:prstGeom prst="rect">
            <a:avLst/>
          </a:prstGeom>
          <a:noFill/>
          <a:ln/>
        </p:spPr>
        <p:txBody>
          <a:bodyPr wrap="square" lIns="0" tIns="0" rIns="0" bIns="0" rtlCol="0" anchor="t"/>
          <a:lstStyle/>
          <a:p>
            <a:pPr indent="0" marL="0">
              <a:spcAft>
                <a:spcPts val="600"/>
              </a:spcAft>
              <a:buNone/>
            </a:pPr>
            <a:r>
              <a:rPr lang="en-US" sz="1900" b="1" dirty="0">
                <a:solidFill>
                  <a:srgbClr val="1F2A44"/>
                </a:solidFill>
                <a:latin typeface="Cambria" pitchFamily="34" charset="0"/>
                <a:ea typeface="Cambria" pitchFamily="34" charset="-122"/>
                <a:cs typeface="Cambria" pitchFamily="34" charset="-120"/>
              </a:rPr>
              <a:t>Protect the flow</a:t>
            </a:r>
            <a:endParaRPr lang="en-US" sz="1400" dirty="0"/>
          </a:p>
          <a:p>
            <a:pPr indent="0" marL="0">
              <a:spcAft>
                <a:spcPts val="600"/>
              </a:spcAft>
              <a:buNone/>
            </a:pPr>
            <a:r>
              <a:rPr lang="en-US" sz="1500" dirty="0">
                <a:solidFill>
                  <a:schemeClr val="tx2"/>
                </a:solidFill>
              </a:rPr>
              <a:t>Encrypt every leg; logs carry the person key and a payload hash, not the record.</a:t>
            </a:r>
            <a:endParaRPr lang="en-US" sz="1400" dirty="0"/>
          </a:p>
        </p:txBody>
      </p:sp>
      <p:sp>
        <p:nvSpPr>
          <p:cNvPr id="19" name="Privacy takeaway"/>
          <p:cNvSpPr/>
          <p:nvPr/>
        </p:nvSpPr>
        <p:spPr>
          <a:xfrm>
            <a:off x="548640" y="5166360"/>
            <a:ext cx="11109960" cy="960120"/>
          </a:xfrm>
          <a:prstGeom prst="roundRect">
            <a:avLst>
              <a:gd name="adj" fmla="val 7619"/>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0" name="Privacy takeaway text"/>
          <p:cNvSpPr txBox="1"/>
          <p:nvPr/>
        </p:nvSpPr>
        <p:spPr>
          <a:xfrm>
            <a:off x="868680" y="5230368"/>
            <a:ext cx="10515600" cy="822960"/>
          </a:xfrm>
          <a:prstGeom prst="rect">
            <a:avLst/>
          </a:prstGeom>
          <a:noFill/>
          <a:ln/>
        </p:spPr>
        <p:txBody>
          <a:bodyPr wrap="square" lIns="0" tIns="0" rIns="0" bIns="0" rtlCol="0" anchor="ctr"/>
          <a:lstStyle/>
          <a:p>
            <a:pPr indent="0" marL="0">
              <a:buNone/>
            </a:pPr>
            <a:r>
              <a:rPr lang="en-US" sz="1700" b="1" dirty="0">
                <a:solidFill>
                  <a:srgbClr val="B45309"/>
                </a:solidFill>
              </a:rPr>
              <a:t>HR remains the system of records. </a:t>
            </a:r>
            <a:pPr indent="0" marL="0">
              <a:buNone/>
            </a:pPr>
            <a:r>
              <a:rPr lang="en-US" sz="1700" dirty="0">
                <a:solidFill>
                  <a:schemeClr val="tx2"/>
                </a:solidFill>
              </a:rPr>
              <a:t>Identity is a governed consumer that never writes an HR-mastered fact back.</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The governance I’d bring to deliver it safely</a:t>
            </a:r>
            <a:endParaRPr lang="en-US" sz="3000" dirty="0"/>
          </a:p>
        </p:txBody>
      </p:sp>
      <p:sp>
        <p:nvSpPr>
          <p:cNvPr id="3" name="Gov 1"/>
          <p:cNvSpPr/>
          <p:nvPr/>
        </p:nvSpPr>
        <p:spPr>
          <a:xfrm>
            <a:off x="548640" y="1371600"/>
            <a:ext cx="2670048" cy="2057400"/>
          </a:xfrm>
          <a:prstGeom prst="roundRect">
            <a:avLst>
              <a:gd name="adj" fmla="val 355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4" name="Icon FaSitemap"/>
          <p:cNvSpPr/>
          <p:nvPr/>
        </p:nvSpPr>
        <p:spPr>
          <a:xfrm>
            <a:off x="731520" y="1536192"/>
            <a:ext cx="457200" cy="457200"/>
          </a:xfrm>
          <a:prstGeom prst="ellipse">
            <a:avLst/>
          </a:prstGeom>
          <a:solidFill>
            <a:srgbClr val="1F2A44"/>
          </a:solidFill>
          <a:ln w="12700">
            <a:solidFill>
              <a:srgbClr val="1F2A44"/>
            </a:solidFill>
            <a:prstDash val="solid"/>
          </a:ln>
        </p:spPr>
      </p:sp>
      <p:pic>
        <p:nvPicPr>
          <p:cNvPr id="5" name="Image 0" descr="C:\Users\whale\git\uiao\inbox\SSA-Interview\build\icons\FaSitemap.png">    </p:cNvPr>
          <p:cNvPicPr>
            <a:picLocks noChangeAspect="1"/>
          </p:cNvPicPr>
          <p:nvPr/>
        </p:nvPicPr>
        <p:blipFill>
          <a:blip r:embed="rId1"/>
          <a:stretch>
            <a:fillRect/>
          </a:stretch>
        </p:blipFill>
        <p:spPr>
          <a:xfrm>
            <a:off x="841248" y="1645920"/>
            <a:ext cx="237744" cy="237744"/>
          </a:xfrm>
          <a:prstGeom prst="rect">
            <a:avLst/>
          </a:prstGeom>
        </p:spPr>
      </p:pic>
      <p:sp>
        <p:nvSpPr>
          <p:cNvPr id="6" name="Gov 1 text"/>
          <p:cNvSpPr txBox="1"/>
          <p:nvPr/>
        </p:nvSpPr>
        <p:spPr>
          <a:xfrm>
            <a:off x="731520" y="2103120"/>
            <a:ext cx="2377440" cy="1280160"/>
          </a:xfrm>
          <a:prstGeom prst="rect">
            <a:avLst/>
          </a:prstGeom>
          <a:noFill/>
          <a:ln/>
        </p:spPr>
        <p:txBody>
          <a:bodyPr wrap="square" lIns="0" tIns="0" rIns="0" bIns="0" rtlCol="0" anchor="t"/>
          <a:lstStyle/>
          <a:p>
            <a:pPr indent="0" marL="0">
              <a:spcAft>
                <a:spcPts val="400"/>
              </a:spcAft>
              <a:buNone/>
            </a:pPr>
            <a:r>
              <a:rPr lang="en-US" sz="1600" b="1" dirty="0">
                <a:solidFill>
                  <a:srgbClr val="1F2A44"/>
                </a:solidFill>
              </a:rPr>
              <a:t>Authority map and identifier decision</a:t>
            </a:r>
            <a:endParaRPr lang="en-US" sz="1400" dirty="0"/>
          </a:p>
          <a:p>
            <a:pPr indent="0" marL="0">
              <a:spcAft>
                <a:spcPts val="400"/>
              </a:spcAft>
              <a:buNone/>
            </a:pPr>
            <a:r>
              <a:rPr lang="en-US" sz="1350" dirty="0">
                <a:solidFill>
                  <a:schemeClr val="tx2"/>
                </a:solidFill>
              </a:rPr>
              <a:t>One owner per attribute; an enterprise person key the agency controls</a:t>
            </a:r>
            <a:endParaRPr lang="en-US" sz="1400" dirty="0"/>
          </a:p>
        </p:txBody>
      </p:sp>
      <p:sp>
        <p:nvSpPr>
          <p:cNvPr id="7" name="Gov 2"/>
          <p:cNvSpPr/>
          <p:nvPr/>
        </p:nvSpPr>
        <p:spPr>
          <a:xfrm>
            <a:off x="3355848" y="1371600"/>
            <a:ext cx="2670048" cy="2057400"/>
          </a:xfrm>
          <a:prstGeom prst="roundRect">
            <a:avLst>
              <a:gd name="adj" fmla="val 355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8" name="Icon FaUserShield"/>
          <p:cNvSpPr/>
          <p:nvPr/>
        </p:nvSpPr>
        <p:spPr>
          <a:xfrm>
            <a:off x="3538728" y="1536192"/>
            <a:ext cx="457200" cy="457200"/>
          </a:xfrm>
          <a:prstGeom prst="ellipse">
            <a:avLst/>
          </a:prstGeom>
          <a:solidFill>
            <a:srgbClr val="1F2A44"/>
          </a:solidFill>
          <a:ln w="12700">
            <a:solidFill>
              <a:srgbClr val="1F2A44"/>
            </a:solidFill>
            <a:prstDash val="solid"/>
          </a:ln>
        </p:spPr>
      </p:sp>
      <p:pic>
        <p:nvPicPr>
          <p:cNvPr id="9" name="Image 1" descr="C:\Users\whale\git\uiao\inbox\SSA-Interview\build\icons\FaUserShield.png">    </p:cNvPr>
          <p:cNvPicPr>
            <a:picLocks noChangeAspect="1"/>
          </p:cNvPicPr>
          <p:nvPr/>
        </p:nvPicPr>
        <p:blipFill>
          <a:blip r:embed="rId2"/>
          <a:stretch>
            <a:fillRect/>
          </a:stretch>
        </p:blipFill>
        <p:spPr>
          <a:xfrm>
            <a:off x="3648456" y="1645920"/>
            <a:ext cx="237744" cy="237744"/>
          </a:xfrm>
          <a:prstGeom prst="rect">
            <a:avLst/>
          </a:prstGeom>
        </p:spPr>
      </p:pic>
      <p:sp>
        <p:nvSpPr>
          <p:cNvPr id="10" name="Gov 2 text"/>
          <p:cNvSpPr txBox="1"/>
          <p:nvPr/>
        </p:nvSpPr>
        <p:spPr>
          <a:xfrm>
            <a:off x="3538728" y="2103120"/>
            <a:ext cx="2377440" cy="1280160"/>
          </a:xfrm>
          <a:prstGeom prst="rect">
            <a:avLst/>
          </a:prstGeom>
          <a:noFill/>
          <a:ln/>
        </p:spPr>
        <p:txBody>
          <a:bodyPr wrap="square" lIns="0" tIns="0" rIns="0" bIns="0" rtlCol="0" anchor="t"/>
          <a:lstStyle/>
          <a:p>
            <a:pPr indent="0" marL="0">
              <a:spcAft>
                <a:spcPts val="400"/>
              </a:spcAft>
              <a:buNone/>
            </a:pPr>
            <a:r>
              <a:rPr lang="en-US" sz="1600" b="1" dirty="0">
                <a:solidFill>
                  <a:srgbClr val="1F2A44"/>
                </a:solidFill>
              </a:rPr>
              <a:t>Security assessment</a:t>
            </a:r>
            <a:endParaRPr lang="en-US" sz="1400" dirty="0"/>
          </a:p>
          <a:p>
            <a:pPr indent="0" marL="0">
              <a:spcAft>
                <a:spcPts val="400"/>
              </a:spcAft>
              <a:buNone/>
            </a:pPr>
            <a:r>
              <a:rPr lang="en-US" sz="1350" dirty="0">
                <a:solidFill>
                  <a:schemeClr val="tx2"/>
                </a:solidFill>
              </a:rPr>
              <a:t>Data flow, service identities without secrets, least privilege</a:t>
            </a:r>
            <a:endParaRPr lang="en-US" sz="1400" dirty="0"/>
          </a:p>
        </p:txBody>
      </p:sp>
      <p:sp>
        <p:nvSpPr>
          <p:cNvPr id="11" name="Gov 3"/>
          <p:cNvSpPr/>
          <p:nvPr/>
        </p:nvSpPr>
        <p:spPr>
          <a:xfrm>
            <a:off x="6163056" y="1371600"/>
            <a:ext cx="2670048" cy="2057400"/>
          </a:xfrm>
          <a:prstGeom prst="roundRect">
            <a:avLst>
              <a:gd name="adj" fmla="val 355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Icon FaClipboardCheck"/>
          <p:cNvSpPr/>
          <p:nvPr/>
        </p:nvSpPr>
        <p:spPr>
          <a:xfrm>
            <a:off x="6345936" y="1536192"/>
            <a:ext cx="457200" cy="457200"/>
          </a:xfrm>
          <a:prstGeom prst="ellipse">
            <a:avLst/>
          </a:prstGeom>
          <a:solidFill>
            <a:srgbClr val="1F2A44"/>
          </a:solidFill>
          <a:ln w="12700">
            <a:solidFill>
              <a:srgbClr val="1F2A44"/>
            </a:solidFill>
            <a:prstDash val="solid"/>
          </a:ln>
        </p:spPr>
      </p:sp>
      <p:pic>
        <p:nvPicPr>
          <p:cNvPr id="13" name="Image 2" descr="C:\Users\whale\git\uiao\inbox\SSA-Interview\build\icons\FaClipboardCheck.png">    </p:cNvPr>
          <p:cNvPicPr>
            <a:picLocks noChangeAspect="1"/>
          </p:cNvPicPr>
          <p:nvPr/>
        </p:nvPicPr>
        <p:blipFill>
          <a:blip r:embed="rId3"/>
          <a:stretch>
            <a:fillRect/>
          </a:stretch>
        </p:blipFill>
        <p:spPr>
          <a:xfrm>
            <a:off x="6455664" y="1645920"/>
            <a:ext cx="237744" cy="237744"/>
          </a:xfrm>
          <a:prstGeom prst="rect">
            <a:avLst/>
          </a:prstGeom>
        </p:spPr>
      </p:pic>
      <p:sp>
        <p:nvSpPr>
          <p:cNvPr id="14" name="Gov 3 text"/>
          <p:cNvSpPr txBox="1"/>
          <p:nvPr/>
        </p:nvSpPr>
        <p:spPr>
          <a:xfrm>
            <a:off x="6345936" y="2103120"/>
            <a:ext cx="2377440" cy="1280160"/>
          </a:xfrm>
          <a:prstGeom prst="rect">
            <a:avLst/>
          </a:prstGeom>
          <a:noFill/>
          <a:ln/>
        </p:spPr>
        <p:txBody>
          <a:bodyPr wrap="square" lIns="0" tIns="0" rIns="0" bIns="0" rtlCol="0" anchor="t"/>
          <a:lstStyle/>
          <a:p>
            <a:pPr indent="0" marL="0">
              <a:spcAft>
                <a:spcPts val="400"/>
              </a:spcAft>
              <a:buNone/>
            </a:pPr>
            <a:r>
              <a:rPr lang="en-US" sz="1600" b="1" dirty="0">
                <a:solidFill>
                  <a:srgbClr val="1F2A44"/>
                </a:solidFill>
              </a:rPr>
              <a:t>Acceptance gate</a:t>
            </a:r>
            <a:endParaRPr lang="en-US" sz="1400" dirty="0"/>
          </a:p>
          <a:p>
            <a:pPr indent="0" marL="0">
              <a:spcAft>
                <a:spcPts val="400"/>
              </a:spcAft>
              <a:buNone/>
            </a:pPr>
            <a:r>
              <a:rPr lang="en-US" sz="1350" dirty="0">
                <a:solidFill>
                  <a:schemeClr val="tx2"/>
                </a:solidFill>
              </a:rPr>
              <a:t>Business-language test cases; signed validation before cutover</a:t>
            </a:r>
            <a:endParaRPr lang="en-US" sz="1400" dirty="0"/>
          </a:p>
        </p:txBody>
      </p:sp>
      <p:sp>
        <p:nvSpPr>
          <p:cNvPr id="15" name="Gov 4"/>
          <p:cNvSpPr/>
          <p:nvPr/>
        </p:nvSpPr>
        <p:spPr>
          <a:xfrm>
            <a:off x="8970264" y="1371600"/>
            <a:ext cx="2670048" cy="2057400"/>
          </a:xfrm>
          <a:prstGeom prst="roundRect">
            <a:avLst>
              <a:gd name="adj" fmla="val 355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6" name="Icon FaPlugCircleXmark"/>
          <p:cNvSpPr/>
          <p:nvPr/>
        </p:nvSpPr>
        <p:spPr>
          <a:xfrm>
            <a:off x="9153144" y="1536192"/>
            <a:ext cx="457200" cy="457200"/>
          </a:xfrm>
          <a:prstGeom prst="ellipse">
            <a:avLst/>
          </a:prstGeom>
          <a:solidFill>
            <a:srgbClr val="1F2A44"/>
          </a:solidFill>
          <a:ln w="12700">
            <a:solidFill>
              <a:srgbClr val="1F2A44"/>
            </a:solidFill>
            <a:prstDash val="solid"/>
          </a:ln>
        </p:spPr>
      </p:sp>
      <p:pic>
        <p:nvPicPr>
          <p:cNvPr id="17" name="Image 3" descr="C:\Users\whale\git\uiao\inbox\SSA-Interview\build\icons\FaPlugCircleXmark.png">    </p:cNvPr>
          <p:cNvPicPr>
            <a:picLocks noChangeAspect="1"/>
          </p:cNvPicPr>
          <p:nvPr/>
        </p:nvPicPr>
        <p:blipFill>
          <a:blip r:embed="rId4"/>
          <a:stretch>
            <a:fillRect/>
          </a:stretch>
        </p:blipFill>
        <p:spPr>
          <a:xfrm>
            <a:off x="9262872" y="1645920"/>
            <a:ext cx="237744" cy="237744"/>
          </a:xfrm>
          <a:prstGeom prst="rect">
            <a:avLst/>
          </a:prstGeom>
        </p:spPr>
      </p:pic>
      <p:sp>
        <p:nvSpPr>
          <p:cNvPr id="18" name="Gov 4 text"/>
          <p:cNvSpPr txBox="1"/>
          <p:nvPr/>
        </p:nvSpPr>
        <p:spPr>
          <a:xfrm>
            <a:off x="9153144" y="2103120"/>
            <a:ext cx="2377440" cy="1280160"/>
          </a:xfrm>
          <a:prstGeom prst="rect">
            <a:avLst/>
          </a:prstGeom>
          <a:noFill/>
          <a:ln/>
        </p:spPr>
        <p:txBody>
          <a:bodyPr wrap="square" lIns="0" tIns="0" rIns="0" bIns="0" rtlCol="0" anchor="t"/>
          <a:lstStyle/>
          <a:p>
            <a:pPr indent="0" marL="0">
              <a:spcAft>
                <a:spcPts val="400"/>
              </a:spcAft>
              <a:buNone/>
            </a:pPr>
            <a:r>
              <a:rPr lang="en-US" sz="1600" b="1" dirty="0">
                <a:solidFill>
                  <a:srgbClr val="1F2A44"/>
                </a:solidFill>
              </a:rPr>
              <a:t>Cutover from tickets</a:t>
            </a:r>
            <a:endParaRPr lang="en-US" sz="1400" dirty="0"/>
          </a:p>
          <a:p>
            <a:pPr indent="0" marL="0">
              <a:spcAft>
                <a:spcPts val="400"/>
              </a:spcAft>
              <a:buNone/>
            </a:pPr>
            <a:r>
              <a:rPr lang="en-US" sz="1350" dirty="0">
                <a:solidFill>
                  <a:schemeClr val="tx2"/>
                </a:solidFill>
              </a:rPr>
              <a:t>Prove HR is the sole source; then close manual account creation</a:t>
            </a:r>
            <a:endParaRPr lang="en-US" sz="1400" dirty="0"/>
          </a:p>
        </p:txBody>
      </p:sp>
      <p:sp>
        <p:nvSpPr>
          <p:cNvPr id="19" name="Gov 5"/>
          <p:cNvSpPr/>
          <p:nvPr/>
        </p:nvSpPr>
        <p:spPr>
          <a:xfrm>
            <a:off x="548640" y="3566160"/>
            <a:ext cx="2670048" cy="2057400"/>
          </a:xfrm>
          <a:prstGeom prst="roundRect">
            <a:avLst>
              <a:gd name="adj" fmla="val 355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0" name="Icon FaListCheck"/>
          <p:cNvSpPr/>
          <p:nvPr/>
        </p:nvSpPr>
        <p:spPr>
          <a:xfrm>
            <a:off x="731520" y="3730752"/>
            <a:ext cx="457200" cy="457200"/>
          </a:xfrm>
          <a:prstGeom prst="ellipse">
            <a:avLst/>
          </a:prstGeom>
          <a:solidFill>
            <a:srgbClr val="0F766E"/>
          </a:solidFill>
          <a:ln w="12700">
            <a:solidFill>
              <a:srgbClr val="0F766E"/>
            </a:solidFill>
            <a:prstDash val="solid"/>
          </a:ln>
        </p:spPr>
      </p:sp>
      <p:pic>
        <p:nvPicPr>
          <p:cNvPr id="21" name="Image 4" descr="C:\Users\whale\git\uiao\inbox\SSA-Interview\build\icons\FaListCheck.png">    </p:cNvPr>
          <p:cNvPicPr>
            <a:picLocks noChangeAspect="1"/>
          </p:cNvPicPr>
          <p:nvPr/>
        </p:nvPicPr>
        <p:blipFill>
          <a:blip r:embed="rId5"/>
          <a:stretch>
            <a:fillRect/>
          </a:stretch>
        </p:blipFill>
        <p:spPr>
          <a:xfrm>
            <a:off x="841248" y="3840480"/>
            <a:ext cx="237744" cy="237744"/>
          </a:xfrm>
          <a:prstGeom prst="rect">
            <a:avLst/>
          </a:prstGeom>
        </p:spPr>
      </p:pic>
      <p:sp>
        <p:nvSpPr>
          <p:cNvPr id="22" name="Gov 5 text"/>
          <p:cNvSpPr txBox="1"/>
          <p:nvPr/>
        </p:nvSpPr>
        <p:spPr>
          <a:xfrm>
            <a:off x="731520" y="4297680"/>
            <a:ext cx="2377440" cy="1280160"/>
          </a:xfrm>
          <a:prstGeom prst="rect">
            <a:avLst/>
          </a:prstGeom>
          <a:noFill/>
          <a:ln/>
        </p:spPr>
        <p:txBody>
          <a:bodyPr wrap="square" lIns="0" tIns="0" rIns="0" bIns="0" rtlCol="0" anchor="t"/>
          <a:lstStyle/>
          <a:p>
            <a:pPr indent="0" marL="0">
              <a:spcAft>
                <a:spcPts val="400"/>
              </a:spcAft>
              <a:buNone/>
            </a:pPr>
            <a:r>
              <a:rPr lang="en-US" sz="1600" b="1" dirty="0">
                <a:solidFill>
                  <a:srgbClr val="0F766E"/>
                </a:solidFill>
              </a:rPr>
              <a:t>Lifecycle rules</a:t>
            </a:r>
            <a:endParaRPr lang="en-US" sz="1400" dirty="0"/>
          </a:p>
          <a:p>
            <a:pPr indent="0" marL="0">
              <a:spcAft>
                <a:spcPts val="400"/>
              </a:spcAft>
              <a:buNone/>
            </a:pPr>
            <a:r>
              <a:rPr lang="en-US" sz="1350" dirty="0">
                <a:solidFill>
                  <a:schemeClr val="tx2"/>
                </a:solidFill>
              </a:rPr>
              <a:t>Scope filters, leave vs leaver, precedence, rescinded offers</a:t>
            </a:r>
            <a:endParaRPr lang="en-US" sz="1400" dirty="0"/>
          </a:p>
        </p:txBody>
      </p:sp>
      <p:sp>
        <p:nvSpPr>
          <p:cNvPr id="23" name="Gov 6"/>
          <p:cNvSpPr/>
          <p:nvPr/>
        </p:nvSpPr>
        <p:spPr>
          <a:xfrm>
            <a:off x="3355848" y="3566160"/>
            <a:ext cx="2670048" cy="2057400"/>
          </a:xfrm>
          <a:prstGeom prst="roundRect">
            <a:avLst>
              <a:gd name="adj" fmla="val 355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4" name="Icon FaTriangleExclamation"/>
          <p:cNvSpPr/>
          <p:nvPr/>
        </p:nvSpPr>
        <p:spPr>
          <a:xfrm>
            <a:off x="3538728" y="3730752"/>
            <a:ext cx="457200" cy="457200"/>
          </a:xfrm>
          <a:prstGeom prst="ellipse">
            <a:avLst/>
          </a:prstGeom>
          <a:solidFill>
            <a:srgbClr val="0F766E"/>
          </a:solidFill>
          <a:ln w="12700">
            <a:solidFill>
              <a:srgbClr val="0F766E"/>
            </a:solidFill>
            <a:prstDash val="solid"/>
          </a:ln>
        </p:spPr>
      </p:sp>
      <p:pic>
        <p:nvPicPr>
          <p:cNvPr id="25" name="Image 5" descr="C:\Users\whale\git\uiao\inbox\SSA-Interview\build\icons\FaTriangleExclamation.png">    </p:cNvPr>
          <p:cNvPicPr>
            <a:picLocks noChangeAspect="1"/>
          </p:cNvPicPr>
          <p:nvPr/>
        </p:nvPicPr>
        <p:blipFill>
          <a:blip r:embed="rId6"/>
          <a:stretch>
            <a:fillRect/>
          </a:stretch>
        </p:blipFill>
        <p:spPr>
          <a:xfrm>
            <a:off x="3648456" y="3840480"/>
            <a:ext cx="237744" cy="237744"/>
          </a:xfrm>
          <a:prstGeom prst="rect">
            <a:avLst/>
          </a:prstGeom>
        </p:spPr>
      </p:pic>
      <p:sp>
        <p:nvSpPr>
          <p:cNvPr id="26" name="Gov 6 text"/>
          <p:cNvSpPr txBox="1"/>
          <p:nvPr/>
        </p:nvSpPr>
        <p:spPr>
          <a:xfrm>
            <a:off x="3538728" y="4297680"/>
            <a:ext cx="2377440" cy="1280160"/>
          </a:xfrm>
          <a:prstGeom prst="rect">
            <a:avLst/>
          </a:prstGeom>
          <a:noFill/>
          <a:ln/>
        </p:spPr>
        <p:txBody>
          <a:bodyPr wrap="square" lIns="0" tIns="0" rIns="0" bIns="0" rtlCol="0" anchor="t"/>
          <a:lstStyle/>
          <a:p>
            <a:pPr indent="0" marL="0">
              <a:spcAft>
                <a:spcPts val="400"/>
              </a:spcAft>
              <a:buNone/>
            </a:pPr>
            <a:r>
              <a:rPr lang="en-US" sz="1600" b="1" dirty="0">
                <a:solidFill>
                  <a:srgbClr val="0F766E"/>
                </a:solidFill>
              </a:rPr>
              <a:t>Quarantine and reconciliation</a:t>
            </a:r>
            <a:endParaRPr lang="en-US" sz="1400" dirty="0"/>
          </a:p>
          <a:p>
            <a:pPr indent="0" marL="0">
              <a:spcAft>
                <a:spcPts val="400"/>
              </a:spcAft>
              <a:buNone/>
            </a:pPr>
            <a:r>
              <a:rPr lang="en-US" sz="1350" dirty="0">
                <a:solidFill>
                  <a:schemeClr val="tx2"/>
                </a:solidFill>
              </a:rPr>
              <a:t>Failures never auto-resolve; every exception has an owner</a:t>
            </a:r>
            <a:endParaRPr lang="en-US" sz="1400" dirty="0"/>
          </a:p>
        </p:txBody>
      </p:sp>
      <p:sp>
        <p:nvSpPr>
          <p:cNvPr id="27" name="Gov 7"/>
          <p:cNvSpPr/>
          <p:nvPr/>
        </p:nvSpPr>
        <p:spPr>
          <a:xfrm>
            <a:off x="6163056" y="3566160"/>
            <a:ext cx="2670048" cy="2057400"/>
          </a:xfrm>
          <a:prstGeom prst="roundRect">
            <a:avLst>
              <a:gd name="adj" fmla="val 355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8" name="Icon FaChartLine"/>
          <p:cNvSpPr/>
          <p:nvPr/>
        </p:nvSpPr>
        <p:spPr>
          <a:xfrm>
            <a:off x="6345936" y="3730752"/>
            <a:ext cx="457200" cy="457200"/>
          </a:xfrm>
          <a:prstGeom prst="ellipse">
            <a:avLst/>
          </a:prstGeom>
          <a:solidFill>
            <a:srgbClr val="0F766E"/>
          </a:solidFill>
          <a:ln w="12700">
            <a:solidFill>
              <a:srgbClr val="0F766E"/>
            </a:solidFill>
            <a:prstDash val="solid"/>
          </a:ln>
        </p:spPr>
      </p:sp>
      <p:pic>
        <p:nvPicPr>
          <p:cNvPr id="29" name="Image 6" descr="C:\Users\whale\git\uiao\inbox\SSA-Interview\build\icons\FaChartLine.png">    </p:cNvPr>
          <p:cNvPicPr>
            <a:picLocks noChangeAspect="1"/>
          </p:cNvPicPr>
          <p:nvPr/>
        </p:nvPicPr>
        <p:blipFill>
          <a:blip r:embed="rId7"/>
          <a:stretch>
            <a:fillRect/>
          </a:stretch>
        </p:blipFill>
        <p:spPr>
          <a:xfrm>
            <a:off x="6455664" y="3840480"/>
            <a:ext cx="237744" cy="237744"/>
          </a:xfrm>
          <a:prstGeom prst="rect">
            <a:avLst/>
          </a:prstGeom>
        </p:spPr>
      </p:pic>
      <p:sp>
        <p:nvSpPr>
          <p:cNvPr id="30" name="Gov 7 text"/>
          <p:cNvSpPr txBox="1"/>
          <p:nvPr/>
        </p:nvSpPr>
        <p:spPr>
          <a:xfrm>
            <a:off x="6345936" y="4297680"/>
            <a:ext cx="2377440" cy="1280160"/>
          </a:xfrm>
          <a:prstGeom prst="rect">
            <a:avLst/>
          </a:prstGeom>
          <a:noFill/>
          <a:ln/>
        </p:spPr>
        <p:txBody>
          <a:bodyPr wrap="square" lIns="0" tIns="0" rIns="0" bIns="0" rtlCol="0" anchor="t"/>
          <a:lstStyle/>
          <a:p>
            <a:pPr indent="0" marL="0">
              <a:spcAft>
                <a:spcPts val="400"/>
              </a:spcAft>
              <a:buNone/>
            </a:pPr>
            <a:r>
              <a:rPr lang="en-US" sz="1600" b="1" dirty="0">
                <a:solidFill>
                  <a:srgbClr val="0F766E"/>
                </a:solidFill>
              </a:rPr>
              <a:t>Drift and metrics</a:t>
            </a:r>
            <a:endParaRPr lang="en-US" sz="1400" dirty="0"/>
          </a:p>
          <a:p>
            <a:pPr indent="0" marL="0">
              <a:spcAft>
                <a:spcPts val="400"/>
              </a:spcAft>
              <a:buNone/>
            </a:pPr>
            <a:r>
              <a:rPr lang="en-US" sz="1350" dirty="0">
                <a:solidFill>
                  <a:schemeClr val="tx2"/>
                </a:solidFill>
              </a:rPr>
              <a:t>Separation-to-block, correlation coverage, derivation purity</a:t>
            </a:r>
            <a:endParaRPr lang="en-US" sz="1400" dirty="0"/>
          </a:p>
        </p:txBody>
      </p:sp>
      <p:sp>
        <p:nvSpPr>
          <p:cNvPr id="31" name="Gov 8"/>
          <p:cNvSpPr/>
          <p:nvPr/>
        </p:nvSpPr>
        <p:spPr>
          <a:xfrm>
            <a:off x="8970264" y="3566160"/>
            <a:ext cx="2670048" cy="2057400"/>
          </a:xfrm>
          <a:prstGeom prst="roundRect">
            <a:avLst>
              <a:gd name="adj" fmla="val 355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32" name="Icon FaCodeBranch"/>
          <p:cNvSpPr/>
          <p:nvPr/>
        </p:nvSpPr>
        <p:spPr>
          <a:xfrm>
            <a:off x="9153144" y="3730752"/>
            <a:ext cx="457200" cy="457200"/>
          </a:xfrm>
          <a:prstGeom prst="ellipse">
            <a:avLst/>
          </a:prstGeom>
          <a:solidFill>
            <a:srgbClr val="0F766E"/>
          </a:solidFill>
          <a:ln w="12700">
            <a:solidFill>
              <a:srgbClr val="0F766E"/>
            </a:solidFill>
            <a:prstDash val="solid"/>
          </a:ln>
        </p:spPr>
      </p:sp>
      <p:pic>
        <p:nvPicPr>
          <p:cNvPr id="33" name="Image 7" descr="C:\Users\whale\git\uiao\inbox\SSA-Interview\build\icons\FaCodeBranch.png">    </p:cNvPr>
          <p:cNvPicPr>
            <a:picLocks noChangeAspect="1"/>
          </p:cNvPicPr>
          <p:nvPr/>
        </p:nvPicPr>
        <p:blipFill>
          <a:blip r:embed="rId8"/>
          <a:stretch>
            <a:fillRect/>
          </a:stretch>
        </p:blipFill>
        <p:spPr>
          <a:xfrm>
            <a:off x="9262872" y="3840480"/>
            <a:ext cx="237744" cy="237744"/>
          </a:xfrm>
          <a:prstGeom prst="rect">
            <a:avLst/>
          </a:prstGeom>
        </p:spPr>
      </p:pic>
      <p:sp>
        <p:nvSpPr>
          <p:cNvPr id="34" name="Gov 8 text"/>
          <p:cNvSpPr txBox="1"/>
          <p:nvPr/>
        </p:nvSpPr>
        <p:spPr>
          <a:xfrm>
            <a:off x="9153144" y="4297680"/>
            <a:ext cx="2377440" cy="1280160"/>
          </a:xfrm>
          <a:prstGeom prst="rect">
            <a:avLst/>
          </a:prstGeom>
          <a:noFill/>
          <a:ln/>
        </p:spPr>
        <p:txBody>
          <a:bodyPr wrap="square" lIns="0" tIns="0" rIns="0" bIns="0" rtlCol="0" anchor="t"/>
          <a:lstStyle/>
          <a:p>
            <a:pPr indent="0" marL="0">
              <a:spcAft>
                <a:spcPts val="400"/>
              </a:spcAft>
              <a:buNone/>
            </a:pPr>
            <a:r>
              <a:rPr lang="en-US" sz="1600" b="1" dirty="0">
                <a:solidFill>
                  <a:srgbClr val="0F766E"/>
                </a:solidFill>
              </a:rPr>
              <a:t>Change control</a:t>
            </a:r>
            <a:endParaRPr lang="en-US" sz="1400" dirty="0"/>
          </a:p>
          <a:p>
            <a:pPr indent="0" marL="0">
              <a:spcAft>
                <a:spcPts val="400"/>
              </a:spcAft>
              <a:buNone/>
            </a:pPr>
            <a:r>
              <a:rPr lang="en-US" sz="1350" dirty="0">
                <a:solidFill>
                  <a:schemeClr val="tx2"/>
                </a:solidFill>
              </a:rPr>
              <a:t>Crosswalk and code lists versioned; shadow-tested before they act</a:t>
            </a:r>
            <a:endParaRPr lang="en-US" sz="1400" dirty="0"/>
          </a:p>
        </p:txBody>
      </p:sp>
      <p:sp>
        <p:nvSpPr>
          <p:cNvPr id="35" name="Gov note"/>
          <p:cNvSpPr txBox="1"/>
          <p:nvPr/>
        </p:nvSpPr>
        <p:spPr>
          <a:xfrm>
            <a:off x="548640" y="5806440"/>
            <a:ext cx="11064240" cy="320040"/>
          </a:xfrm>
          <a:prstGeom prst="rect">
            <a:avLst/>
          </a:prstGeom>
          <a:noFill/>
          <a:ln/>
        </p:spPr>
        <p:txBody>
          <a:bodyPr wrap="square" lIns="0" tIns="0" rIns="0" bIns="0" rtlCol="0" anchor="t"/>
          <a:lstStyle/>
          <a:p>
            <a:pPr indent="0" marL="0">
              <a:buNone/>
            </a:pPr>
            <a:r>
              <a:rPr lang="en-US" sz="1300" i="1" dirty="0">
                <a:solidFill>
                  <a:srgbClr val="64748B"/>
                </a:solidFill>
              </a:rPr>
              <a:t>Control support for AC-2, PS-4, PS-5, IA-4 and SI-12 — evidence produced by operation, not assembled for the audit.</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A reusable HR-driven ICAM model for interagency evaluation</a:t>
            </a:r>
            <a:endParaRPr lang="en-US" sz="3000" dirty="0"/>
          </a:p>
        </p:txBody>
      </p:sp>
      <p:sp>
        <p:nvSpPr>
          <p:cNvPr id="3" name="Cross col 1"/>
          <p:cNvSpPr/>
          <p:nvPr/>
        </p:nvSpPr>
        <p:spPr>
          <a:xfrm>
            <a:off x="548640" y="1280160"/>
            <a:ext cx="5486400" cy="3931920"/>
          </a:xfrm>
          <a:prstGeom prst="roundRect">
            <a:avLst>
              <a:gd name="adj" fmla="val 186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4" name="Cross head 1"/>
          <p:cNvSpPr txBox="1"/>
          <p:nvPr/>
        </p:nvSpPr>
        <p:spPr>
          <a:xfrm>
            <a:off x="777240" y="1371600"/>
            <a:ext cx="5029200" cy="411480"/>
          </a:xfrm>
          <a:prstGeom prst="rect">
            <a:avLst/>
          </a:prstGeom>
          <a:noFill/>
          <a:ln/>
        </p:spPr>
        <p:txBody>
          <a:bodyPr wrap="square" lIns="0" tIns="0" rIns="0" bIns="0" rtlCol="0" anchor="t"/>
          <a:lstStyle/>
          <a:p>
            <a:pPr indent="0" marL="0">
              <a:buNone/>
            </a:pPr>
            <a:r>
              <a:rPr lang="en-US" sz="1800" b="1" dirty="0">
                <a:solidFill>
                  <a:srgbClr val="1F2A44"/>
                </a:solidFill>
              </a:rPr>
              <a:t>Why a shared standard</a:t>
            </a:r>
            <a:endParaRPr lang="en-US" sz="1800" dirty="0"/>
          </a:p>
        </p:txBody>
      </p:sp>
      <p:sp>
        <p:nvSpPr>
          <p:cNvPr id="5" name="Icon FaBuildingColumns"/>
          <p:cNvSpPr/>
          <p:nvPr/>
        </p:nvSpPr>
        <p:spPr>
          <a:xfrm>
            <a:off x="777240" y="1920240"/>
            <a:ext cx="566928" cy="566928"/>
          </a:xfrm>
          <a:prstGeom prst="ellipse">
            <a:avLst/>
          </a:prstGeom>
          <a:solidFill>
            <a:srgbClr val="1F2A44"/>
          </a:solidFill>
          <a:ln w="12700">
            <a:solidFill>
              <a:srgbClr val="1F2A44"/>
            </a:solidFill>
            <a:prstDash val="solid"/>
          </a:ln>
        </p:spPr>
      </p:sp>
      <p:pic>
        <p:nvPicPr>
          <p:cNvPr id="6" name="Image 0" descr="C:\Users\whale\git\uiao\inbox\SSA-Interview\build\icons\FaBuildingColumns.png">    </p:cNvPr>
          <p:cNvPicPr>
            <a:picLocks noChangeAspect="1"/>
          </p:cNvPicPr>
          <p:nvPr/>
        </p:nvPicPr>
        <p:blipFill>
          <a:blip r:embed="rId1"/>
          <a:stretch>
            <a:fillRect/>
          </a:stretch>
        </p:blipFill>
        <p:spPr>
          <a:xfrm>
            <a:off x="913303" y="2056303"/>
            <a:ext cx="294803" cy="294803"/>
          </a:xfrm>
          <a:prstGeom prst="rect">
            <a:avLst/>
          </a:prstGeom>
        </p:spPr>
      </p:pic>
      <p:sp>
        <p:nvSpPr>
          <p:cNvPr id="7" name="Cross 1.1"/>
          <p:cNvSpPr txBox="1"/>
          <p:nvPr/>
        </p:nvSpPr>
        <p:spPr>
          <a:xfrm>
            <a:off x="1508760" y="1874520"/>
            <a:ext cx="4343400" cy="1024128"/>
          </a:xfrm>
          <a:prstGeom prst="rect">
            <a:avLst/>
          </a:prstGeom>
          <a:noFill/>
          <a:ln/>
        </p:spPr>
        <p:txBody>
          <a:bodyPr wrap="square" lIns="0" tIns="0" rIns="0" bIns="0" rtlCol="0" anchor="t"/>
          <a:lstStyle/>
          <a:p>
            <a:pPr indent="0" marL="0">
              <a:spcAft>
                <a:spcPts val="200"/>
              </a:spcAft>
              <a:buNone/>
            </a:pPr>
            <a:r>
              <a:rPr lang="en-US" sz="1550" b="1" dirty="0">
                <a:solidFill>
                  <a:srgbClr val="1F2A44"/>
                </a:solidFill>
              </a:rPr>
              <a:t>Shared platform, common standards</a:t>
            </a:r>
            <a:endParaRPr lang="en-US" sz="1400" dirty="0"/>
          </a:p>
          <a:p>
            <a:pPr indent="0" marL="0">
              <a:spcAft>
                <a:spcPts val="200"/>
              </a:spcAft>
              <a:buNone/>
            </a:pPr>
            <a:r>
              <a:rPr lang="en-US" sz="1300" dirty="0">
                <a:solidFill>
                  <a:schemeClr val="tx2"/>
                </a:solidFill>
              </a:rPr>
              <a:t>Participating civilian agencies move toward shared Core HCM capabilities and OPM’s data standards — a crosswalk and canonical model others can evaluate and reuse</a:t>
            </a:r>
            <a:endParaRPr lang="en-US" sz="1400" dirty="0"/>
          </a:p>
        </p:txBody>
      </p:sp>
      <p:sp>
        <p:nvSpPr>
          <p:cNvPr id="8" name="Icon FaRightLeft"/>
          <p:cNvSpPr/>
          <p:nvPr/>
        </p:nvSpPr>
        <p:spPr>
          <a:xfrm>
            <a:off x="777240" y="3017520"/>
            <a:ext cx="566928" cy="566928"/>
          </a:xfrm>
          <a:prstGeom prst="ellipse">
            <a:avLst/>
          </a:prstGeom>
          <a:solidFill>
            <a:srgbClr val="1F2A44"/>
          </a:solidFill>
          <a:ln w="12700">
            <a:solidFill>
              <a:srgbClr val="1F2A44"/>
            </a:solidFill>
            <a:prstDash val="solid"/>
          </a:ln>
        </p:spPr>
      </p:sp>
      <p:pic>
        <p:nvPicPr>
          <p:cNvPr id="9" name="Image 1" descr="C:\Users\whale\git\uiao\inbox\SSA-Interview\build\icons\FaRightLeft.png">    </p:cNvPr>
          <p:cNvPicPr>
            <a:picLocks noChangeAspect="1"/>
          </p:cNvPicPr>
          <p:nvPr/>
        </p:nvPicPr>
        <p:blipFill>
          <a:blip r:embed="rId2"/>
          <a:stretch>
            <a:fillRect/>
          </a:stretch>
        </p:blipFill>
        <p:spPr>
          <a:xfrm>
            <a:off x="913303" y="3153583"/>
            <a:ext cx="294803" cy="294803"/>
          </a:xfrm>
          <a:prstGeom prst="rect">
            <a:avLst/>
          </a:prstGeom>
        </p:spPr>
      </p:pic>
      <p:sp>
        <p:nvSpPr>
          <p:cNvPr id="10" name="Cross 1.2"/>
          <p:cNvSpPr txBox="1"/>
          <p:nvPr/>
        </p:nvSpPr>
        <p:spPr>
          <a:xfrm>
            <a:off x="1508760" y="2971800"/>
            <a:ext cx="4343400" cy="1024128"/>
          </a:xfrm>
          <a:prstGeom prst="rect">
            <a:avLst/>
          </a:prstGeom>
          <a:noFill/>
          <a:ln/>
        </p:spPr>
        <p:txBody>
          <a:bodyPr wrap="square" lIns="0" tIns="0" rIns="0" bIns="0" rtlCol="0" anchor="t"/>
          <a:lstStyle/>
          <a:p>
            <a:pPr indent="0" marL="0">
              <a:spcAft>
                <a:spcPts val="200"/>
              </a:spcAft>
              <a:buNone/>
            </a:pPr>
            <a:r>
              <a:rPr lang="en-US" sz="1550" b="1" dirty="0">
                <a:solidFill>
                  <a:srgbClr val="1F2A44"/>
                </a:solidFill>
              </a:rPr>
              <a:t>Attributes that travel</a:t>
            </a:r>
            <a:endParaRPr lang="en-US" sz="1400" dirty="0"/>
          </a:p>
          <a:p>
            <a:pPr indent="0" marL="0">
              <a:spcAft>
                <a:spcPts val="200"/>
              </a:spcAft>
              <a:buNone/>
            </a:pPr>
            <a:r>
              <a:rPr lang="en-US" sz="1300" dirty="0">
                <a:solidFill>
                  <a:schemeClr val="tx2"/>
                </a:solidFill>
              </a:rPr>
              <a:t>Details, transfers and shared services read the same coded attributes; cross-agency access can trust the data</a:t>
            </a:r>
            <a:endParaRPr lang="en-US" sz="1400" dirty="0"/>
          </a:p>
        </p:txBody>
      </p:sp>
      <p:sp>
        <p:nvSpPr>
          <p:cNvPr id="11" name="Icon FaChartLine"/>
          <p:cNvSpPr/>
          <p:nvPr/>
        </p:nvSpPr>
        <p:spPr>
          <a:xfrm>
            <a:off x="777240" y="4114800"/>
            <a:ext cx="566928" cy="566928"/>
          </a:xfrm>
          <a:prstGeom prst="ellipse">
            <a:avLst/>
          </a:prstGeom>
          <a:solidFill>
            <a:srgbClr val="1F2A44"/>
          </a:solidFill>
          <a:ln w="12700">
            <a:solidFill>
              <a:srgbClr val="1F2A44"/>
            </a:solidFill>
            <a:prstDash val="solid"/>
          </a:ln>
        </p:spPr>
      </p:sp>
      <p:pic>
        <p:nvPicPr>
          <p:cNvPr id="12" name="Image 2" descr="C:\Users\whale\git\uiao\inbox\SSA-Interview\build\icons\FaChartLine.png">    </p:cNvPr>
          <p:cNvPicPr>
            <a:picLocks noChangeAspect="1"/>
          </p:cNvPicPr>
          <p:nvPr/>
        </p:nvPicPr>
        <p:blipFill>
          <a:blip r:embed="rId3"/>
          <a:stretch>
            <a:fillRect/>
          </a:stretch>
        </p:blipFill>
        <p:spPr>
          <a:xfrm>
            <a:off x="913303" y="4250863"/>
            <a:ext cx="294803" cy="294803"/>
          </a:xfrm>
          <a:prstGeom prst="rect">
            <a:avLst/>
          </a:prstGeom>
        </p:spPr>
      </p:pic>
      <p:sp>
        <p:nvSpPr>
          <p:cNvPr id="13" name="Cross 1.3"/>
          <p:cNvSpPr txBox="1"/>
          <p:nvPr/>
        </p:nvSpPr>
        <p:spPr>
          <a:xfrm>
            <a:off x="1508760" y="4069080"/>
            <a:ext cx="4343400" cy="1024128"/>
          </a:xfrm>
          <a:prstGeom prst="rect">
            <a:avLst/>
          </a:prstGeom>
          <a:noFill/>
          <a:ln/>
        </p:spPr>
        <p:txBody>
          <a:bodyPr wrap="square" lIns="0" tIns="0" rIns="0" bIns="0" rtlCol="0" anchor="t"/>
          <a:lstStyle/>
          <a:p>
            <a:pPr indent="0" marL="0">
              <a:spcAft>
                <a:spcPts val="200"/>
              </a:spcAft>
              <a:buNone/>
            </a:pPr>
            <a:r>
              <a:rPr lang="en-US" sz="1550" b="1" dirty="0">
                <a:solidFill>
                  <a:srgbClr val="1F2A44"/>
                </a:solidFill>
              </a:rPr>
              <a:t>Comparable evidence</a:t>
            </a:r>
            <a:endParaRPr lang="en-US" sz="1400" dirty="0"/>
          </a:p>
          <a:p>
            <a:pPr indent="0" marL="0">
              <a:spcAft>
                <a:spcPts val="200"/>
              </a:spcAft>
              <a:buNone/>
            </a:pPr>
            <a:r>
              <a:rPr lang="en-US" sz="1300" dirty="0">
                <a:solidFill>
                  <a:schemeClr val="tx2"/>
                </a:solidFill>
              </a:rPr>
              <a:t>Common metrics for ICAM and Zero Trust maturity reporting across agencies</a:t>
            </a:r>
            <a:endParaRPr lang="en-US" sz="1400" dirty="0"/>
          </a:p>
        </p:txBody>
      </p:sp>
      <p:sp>
        <p:nvSpPr>
          <p:cNvPr id="14" name="Cross col 2"/>
          <p:cNvSpPr/>
          <p:nvPr/>
        </p:nvSpPr>
        <p:spPr>
          <a:xfrm>
            <a:off x="6172200" y="1280160"/>
            <a:ext cx="5486400" cy="3931920"/>
          </a:xfrm>
          <a:prstGeom prst="roundRect">
            <a:avLst>
              <a:gd name="adj" fmla="val 186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5" name="Cross head 2"/>
          <p:cNvSpPr txBox="1"/>
          <p:nvPr/>
        </p:nvSpPr>
        <p:spPr>
          <a:xfrm>
            <a:off x="6400800" y="1371600"/>
            <a:ext cx="5029200" cy="411480"/>
          </a:xfrm>
          <a:prstGeom prst="rect">
            <a:avLst/>
          </a:prstGeom>
          <a:noFill/>
          <a:ln/>
        </p:spPr>
        <p:txBody>
          <a:bodyPr wrap="square" lIns="0" tIns="0" rIns="0" bIns="0" rtlCol="0" anchor="t"/>
          <a:lstStyle/>
          <a:p>
            <a:pPr indent="0" marL="0">
              <a:buNone/>
            </a:pPr>
            <a:r>
              <a:rPr lang="en-US" sz="1800" b="1" dirty="0">
                <a:solidFill>
                  <a:srgbClr val="0F766E"/>
                </a:solidFill>
              </a:rPr>
              <a:t>How I’d carry it across agencies</a:t>
            </a:r>
            <a:endParaRPr lang="en-US" sz="1800" dirty="0"/>
          </a:p>
        </p:txBody>
      </p:sp>
      <p:sp>
        <p:nvSpPr>
          <p:cNvPr id="16" name="Icon FaPeopleArrows"/>
          <p:cNvSpPr/>
          <p:nvPr/>
        </p:nvSpPr>
        <p:spPr>
          <a:xfrm>
            <a:off x="6400800" y="1920240"/>
            <a:ext cx="566928" cy="566928"/>
          </a:xfrm>
          <a:prstGeom prst="ellipse">
            <a:avLst/>
          </a:prstGeom>
          <a:solidFill>
            <a:srgbClr val="0F766E"/>
          </a:solidFill>
          <a:ln w="12700">
            <a:solidFill>
              <a:srgbClr val="0F766E"/>
            </a:solidFill>
            <a:prstDash val="solid"/>
          </a:ln>
        </p:spPr>
      </p:sp>
      <p:pic>
        <p:nvPicPr>
          <p:cNvPr id="17" name="Image 3" descr="C:\Users\whale\git\uiao\inbox\SSA-Interview\build\icons\FaPeopleArrows.png">    </p:cNvPr>
          <p:cNvPicPr>
            <a:picLocks noChangeAspect="1"/>
          </p:cNvPicPr>
          <p:nvPr/>
        </p:nvPicPr>
        <p:blipFill>
          <a:blip r:embed="rId4"/>
          <a:stretch>
            <a:fillRect/>
          </a:stretch>
        </p:blipFill>
        <p:spPr>
          <a:xfrm>
            <a:off x="6536863" y="2056303"/>
            <a:ext cx="294803" cy="294803"/>
          </a:xfrm>
          <a:prstGeom prst="rect">
            <a:avLst/>
          </a:prstGeom>
        </p:spPr>
      </p:pic>
      <p:sp>
        <p:nvSpPr>
          <p:cNvPr id="18" name="Cross 2.1"/>
          <p:cNvSpPr txBox="1"/>
          <p:nvPr/>
        </p:nvSpPr>
        <p:spPr>
          <a:xfrm>
            <a:off x="7132320" y="1874520"/>
            <a:ext cx="4343400" cy="1024128"/>
          </a:xfrm>
          <a:prstGeom prst="rect">
            <a:avLst/>
          </a:prstGeom>
          <a:noFill/>
          <a:ln/>
        </p:spPr>
        <p:txBody>
          <a:bodyPr wrap="square" lIns="0" tIns="0" rIns="0" bIns="0" rtlCol="0" anchor="t"/>
          <a:lstStyle/>
          <a:p>
            <a:pPr indent="0" marL="0">
              <a:spcAft>
                <a:spcPts val="200"/>
              </a:spcAft>
              <a:buNone/>
            </a:pPr>
            <a:r>
              <a:rPr lang="en-US" sz="1550" b="1" dirty="0">
                <a:solidFill>
                  <a:srgbClr val="0F766E"/>
                </a:solidFill>
              </a:rPr>
              <a:t>Work the issues together</a:t>
            </a:r>
            <a:endParaRPr lang="en-US" sz="1400" dirty="0"/>
          </a:p>
          <a:p>
            <a:pPr indent="0" marL="0">
              <a:spcAft>
                <a:spcPts val="200"/>
              </a:spcAft>
              <a:buNone/>
            </a:pPr>
            <a:r>
              <a:rPr lang="en-US" sz="1300" dirty="0">
                <a:solidFill>
                  <a:schemeClr val="tx2"/>
                </a:solidFill>
              </a:rPr>
              <a:t>With other agencies and the private sector; track legislative and policy developments and trends</a:t>
            </a:r>
            <a:endParaRPr lang="en-US" sz="1400" dirty="0"/>
          </a:p>
        </p:txBody>
      </p:sp>
      <p:sp>
        <p:nvSpPr>
          <p:cNvPr id="19" name="Icon FaScaleBalanced"/>
          <p:cNvSpPr/>
          <p:nvPr/>
        </p:nvSpPr>
        <p:spPr>
          <a:xfrm>
            <a:off x="6400800" y="3017520"/>
            <a:ext cx="566928" cy="566928"/>
          </a:xfrm>
          <a:prstGeom prst="ellipse">
            <a:avLst/>
          </a:prstGeom>
          <a:solidFill>
            <a:srgbClr val="0F766E"/>
          </a:solidFill>
          <a:ln w="12700">
            <a:solidFill>
              <a:srgbClr val="0F766E"/>
            </a:solidFill>
            <a:prstDash val="solid"/>
          </a:ln>
        </p:spPr>
      </p:sp>
      <p:pic>
        <p:nvPicPr>
          <p:cNvPr id="20" name="Image 4" descr="C:\Users\whale\git\uiao\inbox\SSA-Interview\build\icons\FaScaleBalanced.png">    </p:cNvPr>
          <p:cNvPicPr>
            <a:picLocks noChangeAspect="1"/>
          </p:cNvPicPr>
          <p:nvPr/>
        </p:nvPicPr>
        <p:blipFill>
          <a:blip r:embed="rId5"/>
          <a:stretch>
            <a:fillRect/>
          </a:stretch>
        </p:blipFill>
        <p:spPr>
          <a:xfrm>
            <a:off x="6536863" y="3153583"/>
            <a:ext cx="294803" cy="294803"/>
          </a:xfrm>
          <a:prstGeom prst="rect">
            <a:avLst/>
          </a:prstGeom>
        </p:spPr>
      </p:pic>
      <p:sp>
        <p:nvSpPr>
          <p:cNvPr id="21" name="Cross 2.2"/>
          <p:cNvSpPr txBox="1"/>
          <p:nvPr/>
        </p:nvSpPr>
        <p:spPr>
          <a:xfrm>
            <a:off x="7132320" y="2971800"/>
            <a:ext cx="4343400" cy="1024128"/>
          </a:xfrm>
          <a:prstGeom prst="rect">
            <a:avLst/>
          </a:prstGeom>
          <a:noFill/>
          <a:ln/>
        </p:spPr>
        <p:txBody>
          <a:bodyPr wrap="square" lIns="0" tIns="0" rIns="0" bIns="0" rtlCol="0" anchor="t"/>
          <a:lstStyle/>
          <a:p>
            <a:pPr indent="0" marL="0">
              <a:spcAft>
                <a:spcPts val="200"/>
              </a:spcAft>
              <a:buNone/>
            </a:pPr>
            <a:r>
              <a:rPr lang="en-US" sz="1550" b="1" dirty="0">
                <a:solidFill>
                  <a:srgbClr val="0F766E"/>
                </a:solidFill>
              </a:rPr>
              <a:t>Options and their impact</a:t>
            </a:r>
            <a:endParaRPr lang="en-US" sz="1400" dirty="0"/>
          </a:p>
          <a:p>
            <a:pPr indent="0" marL="0">
              <a:spcAft>
                <a:spcPts val="200"/>
              </a:spcAft>
              <a:buNone/>
            </a:pPr>
            <a:r>
              <a:rPr lang="en-US" sz="1300" dirty="0">
                <a:solidFill>
                  <a:schemeClr val="tx2"/>
                </a:solidFill>
              </a:rPr>
              <a:t>Define the issues, develop options, predict the impact of alternatives, and present the findings</a:t>
            </a:r>
            <a:endParaRPr lang="en-US" sz="1400" dirty="0"/>
          </a:p>
        </p:txBody>
      </p:sp>
      <p:sp>
        <p:nvSpPr>
          <p:cNvPr id="22" name="Icon FaUsersGear"/>
          <p:cNvSpPr/>
          <p:nvPr/>
        </p:nvSpPr>
        <p:spPr>
          <a:xfrm>
            <a:off x="6400800" y="4114800"/>
            <a:ext cx="566928" cy="566928"/>
          </a:xfrm>
          <a:prstGeom prst="ellipse">
            <a:avLst/>
          </a:prstGeom>
          <a:solidFill>
            <a:srgbClr val="0F766E"/>
          </a:solidFill>
          <a:ln w="12700">
            <a:solidFill>
              <a:srgbClr val="0F766E"/>
            </a:solidFill>
            <a:prstDash val="solid"/>
          </a:ln>
        </p:spPr>
      </p:sp>
      <p:pic>
        <p:nvPicPr>
          <p:cNvPr id="23" name="Image 5" descr="C:\Users\whale\git\uiao\inbox\SSA-Interview\build\icons\FaUsersGear.png">    </p:cNvPr>
          <p:cNvPicPr>
            <a:picLocks noChangeAspect="1"/>
          </p:cNvPicPr>
          <p:nvPr/>
        </p:nvPicPr>
        <p:blipFill>
          <a:blip r:embed="rId6"/>
          <a:stretch>
            <a:fillRect/>
          </a:stretch>
        </p:blipFill>
        <p:spPr>
          <a:xfrm>
            <a:off x="6536863" y="4250863"/>
            <a:ext cx="294803" cy="294803"/>
          </a:xfrm>
          <a:prstGeom prst="rect">
            <a:avLst/>
          </a:prstGeom>
        </p:spPr>
      </p:pic>
      <p:sp>
        <p:nvSpPr>
          <p:cNvPr id="24" name="Cross 2.3"/>
          <p:cNvSpPr txBox="1"/>
          <p:nvPr/>
        </p:nvSpPr>
        <p:spPr>
          <a:xfrm>
            <a:off x="7132320" y="4069080"/>
            <a:ext cx="4343400" cy="1024128"/>
          </a:xfrm>
          <a:prstGeom prst="rect">
            <a:avLst/>
          </a:prstGeom>
          <a:noFill/>
          <a:ln/>
        </p:spPr>
        <p:txBody>
          <a:bodyPr wrap="square" lIns="0" tIns="0" rIns="0" bIns="0" rtlCol="0" anchor="t"/>
          <a:lstStyle/>
          <a:p>
            <a:pPr indent="0" marL="0">
              <a:spcAft>
                <a:spcPts val="200"/>
              </a:spcAft>
              <a:buNone/>
            </a:pPr>
            <a:r>
              <a:rPr lang="en-US" sz="1550" b="1" dirty="0">
                <a:solidFill>
                  <a:srgbClr val="0F766E"/>
                </a:solidFill>
              </a:rPr>
              <a:t>Committees and working groups</a:t>
            </a:r>
            <a:endParaRPr lang="en-US" sz="1400" dirty="0"/>
          </a:p>
          <a:p>
            <a:pPr indent="0" marL="0">
              <a:spcAft>
                <a:spcPts val="200"/>
              </a:spcAft>
              <a:buNone/>
            </a:pPr>
            <a:r>
              <a:rPr lang="en-US" sz="1300" dirty="0">
                <a:solidFill>
                  <a:schemeClr val="tx2"/>
                </a:solidFill>
              </a:rPr>
              <a:t>Chair agency data committees; serve as the data expert on interagency ICAM working groups; recommend data technology and architecture</a:t>
            </a:r>
            <a:endParaRPr lang="en-US" sz="1400" dirty="0"/>
          </a:p>
        </p:txBody>
      </p:sp>
      <p:sp>
        <p:nvSpPr>
          <p:cNvPr id="25" name="Cross banner"/>
          <p:cNvSpPr/>
          <p:nvPr/>
        </p:nvSpPr>
        <p:spPr>
          <a:xfrm>
            <a:off x="548640" y="5394960"/>
            <a:ext cx="11109960" cy="731520"/>
          </a:xfrm>
          <a:prstGeom prst="roundRect">
            <a:avLst>
              <a:gd name="adj" fmla="val 10000"/>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26" name="Cross banner text"/>
          <p:cNvSpPr txBox="1"/>
          <p:nvPr/>
        </p:nvSpPr>
        <p:spPr>
          <a:xfrm>
            <a:off x="822960" y="5440680"/>
            <a:ext cx="10607040" cy="640080"/>
          </a:xfrm>
          <a:prstGeom prst="rect">
            <a:avLst/>
          </a:prstGeom>
          <a:noFill/>
          <a:ln/>
        </p:spPr>
        <p:txBody>
          <a:bodyPr wrap="square" lIns="0" tIns="0" rIns="0" bIns="0" rtlCol="0" anchor="ctr"/>
          <a:lstStyle/>
          <a:p>
            <a:pPr indent="0" marL="0">
              <a:buNone/>
            </a:pPr>
            <a:r>
              <a:rPr lang="en-US" sz="1700" b="1" dirty="0">
                <a:solidFill>
                  <a:srgbClr val="B45309"/>
                </a:solidFill>
              </a:rPr>
              <a:t>The goal: </a:t>
            </a:r>
            <a:pPr indent="0" marL="0">
              <a:buNone/>
            </a:pPr>
            <a:r>
              <a:rPr lang="en-US" sz="1700" dirty="0">
                <a:solidFill>
                  <a:schemeClr val="tx2"/>
                </a:solidFill>
              </a:rPr>
              <a:t>offer the model for interagency evaluation and reuse as participating agencies onboard to HR 2.0.</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Roadmap and the ask</a:t>
            </a:r>
            <a:endParaRPr lang="en-US" sz="3000" dirty="0"/>
          </a:p>
        </p:txBody>
      </p:sp>
      <p:sp>
        <p:nvSpPr>
          <p:cNvPr id="3" name="Shape 1"/>
          <p:cNvSpPr/>
          <p:nvPr/>
        </p:nvSpPr>
        <p:spPr>
          <a:xfrm>
            <a:off x="1691640" y="1828800"/>
            <a:ext cx="8778240" cy="0"/>
          </a:xfrm>
          <a:prstGeom prst="line">
            <a:avLst/>
          </a:prstGeom>
          <a:noFill/>
          <a:ln w="19050">
            <a:solidFill>
              <a:srgbClr val="64748B"/>
            </a:solidFill>
            <a:prstDash val="solid"/>
          </a:ln>
        </p:spPr>
      </p:sp>
      <p:sp>
        <p:nvSpPr>
          <p:cNvPr id="4" name="Roadmap dot 1"/>
          <p:cNvSpPr/>
          <p:nvPr/>
        </p:nvSpPr>
        <p:spPr>
          <a:xfrm>
            <a:off x="1490472" y="1627632"/>
            <a:ext cx="402336" cy="402336"/>
          </a:xfrm>
          <a:prstGeom prst="ellipse">
            <a:avLst/>
          </a:prstGeom>
          <a:solidFill>
            <a:srgbClr val="1F2A44"/>
          </a:solidFill>
          <a:ln w="25400">
            <a:solidFill>
              <a:srgbClr val="FFFFFF"/>
            </a:solidFill>
            <a:prstDash val="solid"/>
          </a:ln>
        </p:spPr>
      </p:sp>
      <p:sp>
        <p:nvSpPr>
          <p:cNvPr id="5" name="Roadmap when 1"/>
          <p:cNvSpPr txBox="1"/>
          <p:nvPr/>
        </p:nvSpPr>
        <p:spPr>
          <a:xfrm>
            <a:off x="685800" y="1188720"/>
            <a:ext cx="2011680" cy="365760"/>
          </a:xfrm>
          <a:prstGeom prst="rect">
            <a:avLst/>
          </a:prstGeom>
          <a:noFill/>
          <a:ln/>
        </p:spPr>
        <p:txBody>
          <a:bodyPr wrap="square" lIns="0" tIns="0" rIns="0" bIns="0" rtlCol="0" anchor="t"/>
          <a:lstStyle/>
          <a:p>
            <a:pPr algn="ctr" indent="0" marL="0">
              <a:buNone/>
            </a:pPr>
            <a:r>
              <a:rPr lang="en-US" sz="1400" b="1" dirty="0">
                <a:solidFill>
                  <a:srgbClr val="64748B"/>
                </a:solidFill>
              </a:rPr>
              <a:t>Now</a:t>
            </a:r>
            <a:endParaRPr lang="en-US" sz="1400" dirty="0"/>
          </a:p>
        </p:txBody>
      </p:sp>
      <p:sp>
        <p:nvSpPr>
          <p:cNvPr id="6" name="Roadmap text 1"/>
          <p:cNvSpPr txBox="1"/>
          <p:nvPr/>
        </p:nvSpPr>
        <p:spPr>
          <a:xfrm>
            <a:off x="704088" y="2194560"/>
            <a:ext cx="1975104" cy="1417320"/>
          </a:xfrm>
          <a:prstGeom prst="rect">
            <a:avLst/>
          </a:prstGeom>
          <a:noFill/>
          <a:ln/>
        </p:spPr>
        <p:txBody>
          <a:bodyPr wrap="square" lIns="0" tIns="0" rIns="0" bIns="0" rtlCol="0" anchor="t"/>
          <a:lstStyle/>
          <a:p>
            <a:pPr algn="ctr" indent="0" marL="0">
              <a:spcAft>
                <a:spcPts val="300"/>
              </a:spcAft>
              <a:buNone/>
            </a:pPr>
            <a:r>
              <a:rPr lang="en-US" sz="1600" b="1" dirty="0">
                <a:solidFill>
                  <a:srgbClr val="1F2A44"/>
                </a:solidFill>
              </a:rPr>
              <a:t>Align with HR 2.0</a:t>
            </a:r>
            <a:endParaRPr lang="en-US" sz="1400" dirty="0"/>
          </a:p>
          <a:p>
            <a:pPr algn="ctr" indent="0" marL="0">
              <a:spcAft>
                <a:spcPts val="300"/>
              </a:spcAft>
              <a:buNone/>
            </a:pPr>
            <a:r>
              <a:rPr lang="en-US" sz="1350" dirty="0">
                <a:solidFill>
                  <a:schemeClr val="tx2"/>
                </a:solidFill>
              </a:rPr>
              <a:t>Identity named as an interconnection consumer</a:t>
            </a:r>
            <a:endParaRPr lang="en-US" sz="1400" dirty="0"/>
          </a:p>
        </p:txBody>
      </p:sp>
      <p:sp>
        <p:nvSpPr>
          <p:cNvPr id="7" name="Roadmap dot 2"/>
          <p:cNvSpPr/>
          <p:nvPr/>
        </p:nvSpPr>
        <p:spPr>
          <a:xfrm>
            <a:off x="3685032" y="1627632"/>
            <a:ext cx="402336" cy="402336"/>
          </a:xfrm>
          <a:prstGeom prst="ellipse">
            <a:avLst/>
          </a:prstGeom>
          <a:solidFill>
            <a:srgbClr val="B45309"/>
          </a:solidFill>
          <a:ln w="25400">
            <a:solidFill>
              <a:srgbClr val="FFFFFF"/>
            </a:solidFill>
            <a:prstDash val="solid"/>
          </a:ln>
        </p:spPr>
      </p:sp>
      <p:sp>
        <p:nvSpPr>
          <p:cNvPr id="8" name="Roadmap when 2"/>
          <p:cNvSpPr txBox="1"/>
          <p:nvPr/>
        </p:nvSpPr>
        <p:spPr>
          <a:xfrm>
            <a:off x="2880360" y="1188720"/>
            <a:ext cx="2011680" cy="365760"/>
          </a:xfrm>
          <a:prstGeom prst="rect">
            <a:avLst/>
          </a:prstGeom>
          <a:noFill/>
          <a:ln/>
        </p:spPr>
        <p:txBody>
          <a:bodyPr wrap="square" lIns="0" tIns="0" rIns="0" bIns="0" rtlCol="0" anchor="t"/>
          <a:lstStyle/>
          <a:p>
            <a:pPr algn="ctr" indent="0" marL="0">
              <a:buNone/>
            </a:pPr>
            <a:r>
              <a:rPr lang="en-US" sz="1400" b="1" dirty="0">
                <a:solidFill>
                  <a:srgbClr val="64748B"/>
                </a:solidFill>
              </a:rPr>
              <a:t>Pre-onboarding</a:t>
            </a:r>
            <a:endParaRPr lang="en-US" sz="1400" dirty="0"/>
          </a:p>
        </p:txBody>
      </p:sp>
      <p:sp>
        <p:nvSpPr>
          <p:cNvPr id="9" name="Roadmap text 2"/>
          <p:cNvSpPr txBox="1"/>
          <p:nvPr/>
        </p:nvSpPr>
        <p:spPr>
          <a:xfrm>
            <a:off x="2898648" y="2194560"/>
            <a:ext cx="1975104" cy="1417320"/>
          </a:xfrm>
          <a:prstGeom prst="rect">
            <a:avLst/>
          </a:prstGeom>
          <a:noFill/>
          <a:ln/>
        </p:spPr>
        <p:txBody>
          <a:bodyPr wrap="square" lIns="0" tIns="0" rIns="0" bIns="0" rtlCol="0" anchor="t"/>
          <a:lstStyle/>
          <a:p>
            <a:pPr algn="ctr" indent="0" marL="0">
              <a:spcAft>
                <a:spcPts val="300"/>
              </a:spcAft>
              <a:buNone/>
            </a:pPr>
            <a:r>
              <a:rPr lang="en-US" sz="1600" b="1" dirty="0">
                <a:solidFill>
                  <a:srgbClr val="B45309"/>
                </a:solidFill>
              </a:rPr>
              <a:t>Standards and authority</a:t>
            </a:r>
            <a:endParaRPr lang="en-US" sz="1400" dirty="0"/>
          </a:p>
          <a:p>
            <a:pPr algn="ctr" indent="0" marL="0">
              <a:spcAft>
                <a:spcPts val="300"/>
              </a:spcAft>
              <a:buNone/>
            </a:pPr>
            <a:r>
              <a:rPr lang="en-US" sz="1350" dirty="0">
                <a:solidFill>
                  <a:schemeClr val="tx2"/>
                </a:solidFill>
              </a:rPr>
              <a:t>Crosswalk, authority map, contractor source, privacy basis</a:t>
            </a:r>
            <a:endParaRPr lang="en-US" sz="1400" dirty="0"/>
          </a:p>
        </p:txBody>
      </p:sp>
      <p:sp>
        <p:nvSpPr>
          <p:cNvPr id="10" name="Roadmap dot 3"/>
          <p:cNvSpPr/>
          <p:nvPr/>
        </p:nvSpPr>
        <p:spPr>
          <a:xfrm>
            <a:off x="5879592" y="1627632"/>
            <a:ext cx="402336" cy="402336"/>
          </a:xfrm>
          <a:prstGeom prst="ellipse">
            <a:avLst/>
          </a:prstGeom>
          <a:solidFill>
            <a:srgbClr val="1F2A44"/>
          </a:solidFill>
          <a:ln w="25400">
            <a:solidFill>
              <a:srgbClr val="FFFFFF"/>
            </a:solidFill>
            <a:prstDash val="solid"/>
          </a:ln>
        </p:spPr>
      </p:sp>
      <p:sp>
        <p:nvSpPr>
          <p:cNvPr id="11" name="Roadmap when 3"/>
          <p:cNvSpPr txBox="1"/>
          <p:nvPr/>
        </p:nvSpPr>
        <p:spPr>
          <a:xfrm>
            <a:off x="5074920" y="1188720"/>
            <a:ext cx="2011680" cy="365760"/>
          </a:xfrm>
          <a:prstGeom prst="rect">
            <a:avLst/>
          </a:prstGeom>
          <a:noFill/>
          <a:ln/>
        </p:spPr>
        <p:txBody>
          <a:bodyPr wrap="square" lIns="0" tIns="0" rIns="0" bIns="0" rtlCol="0" anchor="t"/>
          <a:lstStyle/>
          <a:p>
            <a:pPr algn="ctr" indent="0" marL="0">
              <a:buNone/>
            </a:pPr>
            <a:r>
              <a:rPr lang="en-US" sz="1400" b="1" dirty="0">
                <a:solidFill>
                  <a:srgbClr val="64748B"/>
                </a:solidFill>
              </a:rPr>
              <a:t>Onboarding</a:t>
            </a:r>
            <a:endParaRPr lang="en-US" sz="1400" dirty="0"/>
          </a:p>
        </p:txBody>
      </p:sp>
      <p:sp>
        <p:nvSpPr>
          <p:cNvPr id="12" name="Roadmap text 3"/>
          <p:cNvSpPr txBox="1"/>
          <p:nvPr/>
        </p:nvSpPr>
        <p:spPr>
          <a:xfrm>
            <a:off x="5093208" y="2194560"/>
            <a:ext cx="1975104" cy="1417320"/>
          </a:xfrm>
          <a:prstGeom prst="rect">
            <a:avLst/>
          </a:prstGeom>
          <a:noFill/>
          <a:ln/>
        </p:spPr>
        <p:txBody>
          <a:bodyPr wrap="square" lIns="0" tIns="0" rIns="0" bIns="0" rtlCol="0" anchor="t"/>
          <a:lstStyle/>
          <a:p>
            <a:pPr algn="ctr" indent="0" marL="0">
              <a:spcAft>
                <a:spcPts val="300"/>
              </a:spcAft>
              <a:buNone/>
            </a:pPr>
            <a:r>
              <a:rPr lang="en-US" sz="1600" b="1" dirty="0">
                <a:solidFill>
                  <a:srgbClr val="1F2A44"/>
                </a:solidFill>
              </a:rPr>
              <a:t>Build and prove</a:t>
            </a:r>
            <a:endParaRPr lang="en-US" sz="1400" dirty="0"/>
          </a:p>
          <a:p>
            <a:pPr algn="ctr" indent="0" marL="0">
              <a:spcAft>
                <a:spcPts val="300"/>
              </a:spcAft>
              <a:buNone/>
            </a:pPr>
            <a:r>
              <a:rPr lang="en-US" sz="1350" dirty="0">
                <a:solidFill>
                  <a:schemeClr val="tx2"/>
                </a:solidFill>
              </a:rPr>
              <a:t>Joiner, mover, leaver end to end; shadow mode</a:t>
            </a:r>
            <a:endParaRPr lang="en-US" sz="1400" dirty="0"/>
          </a:p>
        </p:txBody>
      </p:sp>
      <p:sp>
        <p:nvSpPr>
          <p:cNvPr id="13" name="Roadmap dot 4"/>
          <p:cNvSpPr/>
          <p:nvPr/>
        </p:nvSpPr>
        <p:spPr>
          <a:xfrm>
            <a:off x="8074152" y="1627632"/>
            <a:ext cx="402336" cy="402336"/>
          </a:xfrm>
          <a:prstGeom prst="ellipse">
            <a:avLst/>
          </a:prstGeom>
          <a:solidFill>
            <a:srgbClr val="0F766E"/>
          </a:solidFill>
          <a:ln w="25400">
            <a:solidFill>
              <a:srgbClr val="FFFFFF"/>
            </a:solidFill>
            <a:prstDash val="solid"/>
          </a:ln>
        </p:spPr>
      </p:sp>
      <p:sp>
        <p:nvSpPr>
          <p:cNvPr id="14" name="Roadmap when 4"/>
          <p:cNvSpPr txBox="1"/>
          <p:nvPr/>
        </p:nvSpPr>
        <p:spPr>
          <a:xfrm>
            <a:off x="7269480" y="1188720"/>
            <a:ext cx="2011680" cy="365760"/>
          </a:xfrm>
          <a:prstGeom prst="rect">
            <a:avLst/>
          </a:prstGeom>
          <a:noFill/>
          <a:ln/>
        </p:spPr>
        <p:txBody>
          <a:bodyPr wrap="square" lIns="0" tIns="0" rIns="0" bIns="0" rtlCol="0" anchor="t"/>
          <a:lstStyle/>
          <a:p>
            <a:pPr algn="ctr" indent="0" marL="0">
              <a:buNone/>
            </a:pPr>
            <a:r>
              <a:rPr lang="en-US" sz="1400" b="1" dirty="0">
                <a:solidFill>
                  <a:srgbClr val="64748B"/>
                </a:solidFill>
              </a:rPr>
              <a:t>Interconnection live</a:t>
            </a:r>
            <a:endParaRPr lang="en-US" sz="1400" dirty="0"/>
          </a:p>
        </p:txBody>
      </p:sp>
      <p:sp>
        <p:nvSpPr>
          <p:cNvPr id="15" name="Roadmap text 4"/>
          <p:cNvSpPr txBox="1"/>
          <p:nvPr/>
        </p:nvSpPr>
        <p:spPr>
          <a:xfrm>
            <a:off x="7287768" y="2194560"/>
            <a:ext cx="1975104" cy="1417320"/>
          </a:xfrm>
          <a:prstGeom prst="rect">
            <a:avLst/>
          </a:prstGeom>
          <a:noFill/>
          <a:ln/>
        </p:spPr>
        <p:txBody>
          <a:bodyPr wrap="square" lIns="0" tIns="0" rIns="0" bIns="0" rtlCol="0" anchor="t"/>
          <a:lstStyle/>
          <a:p>
            <a:pPr algn="ctr" indent="0" marL="0">
              <a:spcAft>
                <a:spcPts val="300"/>
              </a:spcAft>
              <a:buNone/>
            </a:pPr>
            <a:r>
              <a:rPr lang="en-US" sz="1600" b="1" dirty="0">
                <a:solidFill>
                  <a:srgbClr val="0F766E"/>
                </a:solidFill>
              </a:rPr>
              <a:t>Cut over</a:t>
            </a:r>
            <a:endParaRPr lang="en-US" sz="1400" dirty="0"/>
          </a:p>
          <a:p>
            <a:pPr algn="ctr" indent="0" marL="0">
              <a:spcAft>
                <a:spcPts val="300"/>
              </a:spcAft>
              <a:buNone/>
            </a:pPr>
            <a:r>
              <a:rPr lang="en-US" sz="1350" dirty="0">
                <a:solidFill>
                  <a:schemeClr val="tx2"/>
                </a:solidFill>
              </a:rPr>
              <a:t>HR-driven for each population as it moves to Entra ID</a:t>
            </a:r>
            <a:endParaRPr lang="en-US" sz="1400" dirty="0"/>
          </a:p>
        </p:txBody>
      </p:sp>
      <p:sp>
        <p:nvSpPr>
          <p:cNvPr id="16" name="Roadmap dot 5"/>
          <p:cNvSpPr/>
          <p:nvPr/>
        </p:nvSpPr>
        <p:spPr>
          <a:xfrm>
            <a:off x="10268712" y="1627632"/>
            <a:ext cx="402336" cy="402336"/>
          </a:xfrm>
          <a:prstGeom prst="ellipse">
            <a:avLst/>
          </a:prstGeom>
          <a:solidFill>
            <a:srgbClr val="1F2A44"/>
          </a:solidFill>
          <a:ln w="25400">
            <a:solidFill>
              <a:srgbClr val="FFFFFF"/>
            </a:solidFill>
            <a:prstDash val="solid"/>
          </a:ln>
        </p:spPr>
      </p:sp>
      <p:sp>
        <p:nvSpPr>
          <p:cNvPr id="17" name="Roadmap when 5"/>
          <p:cNvSpPr txBox="1"/>
          <p:nvPr/>
        </p:nvSpPr>
        <p:spPr>
          <a:xfrm>
            <a:off x="9464040" y="1188720"/>
            <a:ext cx="2011680" cy="365760"/>
          </a:xfrm>
          <a:prstGeom prst="rect">
            <a:avLst/>
          </a:prstGeom>
          <a:noFill/>
          <a:ln/>
        </p:spPr>
        <p:txBody>
          <a:bodyPr wrap="square" lIns="0" tIns="0" rIns="0" bIns="0" rtlCol="0" anchor="t"/>
          <a:lstStyle/>
          <a:p>
            <a:pPr algn="ctr" indent="0" marL="0">
              <a:buNone/>
            </a:pPr>
            <a:r>
              <a:rPr lang="en-US" sz="1400" b="1" dirty="0">
                <a:solidFill>
                  <a:srgbClr val="64748B"/>
                </a:solidFill>
              </a:rPr>
              <a:t>After</a:t>
            </a:r>
            <a:endParaRPr lang="en-US" sz="1400" dirty="0"/>
          </a:p>
        </p:txBody>
      </p:sp>
      <p:sp>
        <p:nvSpPr>
          <p:cNvPr id="18" name="Roadmap text 5"/>
          <p:cNvSpPr txBox="1"/>
          <p:nvPr/>
        </p:nvSpPr>
        <p:spPr>
          <a:xfrm>
            <a:off x="9482328" y="2194560"/>
            <a:ext cx="1975104" cy="1417320"/>
          </a:xfrm>
          <a:prstGeom prst="rect">
            <a:avLst/>
          </a:prstGeom>
          <a:noFill/>
          <a:ln/>
        </p:spPr>
        <p:txBody>
          <a:bodyPr wrap="square" lIns="0" tIns="0" rIns="0" bIns="0" rtlCol="0" anchor="t"/>
          <a:lstStyle/>
          <a:p>
            <a:pPr algn="ctr" indent="0" marL="0">
              <a:spcAft>
                <a:spcPts val="300"/>
              </a:spcAft>
              <a:buNone/>
            </a:pPr>
            <a:r>
              <a:rPr lang="en-US" sz="1600" b="1" dirty="0">
                <a:solidFill>
                  <a:srgbClr val="1F2A44"/>
                </a:solidFill>
              </a:rPr>
              <a:t>Sustain</a:t>
            </a:r>
            <a:endParaRPr lang="en-US" sz="1400" dirty="0"/>
          </a:p>
          <a:p>
            <a:pPr algn="ctr" indent="0" marL="0">
              <a:spcAft>
                <a:spcPts val="300"/>
              </a:spcAft>
              <a:buNone/>
            </a:pPr>
            <a:r>
              <a:rPr lang="en-US" sz="1350" dirty="0">
                <a:solidFill>
                  <a:schemeClr val="tx2"/>
                </a:solidFill>
              </a:rPr>
              <a:t>Metrics and drift on the ConMon cadence</a:t>
            </a:r>
            <a:endParaRPr lang="en-US" sz="1400" dirty="0"/>
          </a:p>
        </p:txBody>
      </p:sp>
      <p:sp>
        <p:nvSpPr>
          <p:cNvPr id="19" name="Ask"/>
          <p:cNvSpPr/>
          <p:nvPr/>
        </p:nvSpPr>
        <p:spPr>
          <a:xfrm>
            <a:off x="548640" y="3886200"/>
            <a:ext cx="11109960" cy="1280160"/>
          </a:xfrm>
          <a:prstGeom prst="roundRect">
            <a:avLst>
              <a:gd name="adj" fmla="val 5714"/>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20" name="Icon FaLightbulb"/>
          <p:cNvSpPr/>
          <p:nvPr/>
        </p:nvSpPr>
        <p:spPr>
          <a:xfrm>
            <a:off x="777240" y="4114800"/>
            <a:ext cx="822960" cy="822960"/>
          </a:xfrm>
          <a:prstGeom prst="ellipse">
            <a:avLst/>
          </a:prstGeom>
          <a:solidFill>
            <a:srgbClr val="B45309"/>
          </a:solidFill>
          <a:ln w="12700">
            <a:solidFill>
              <a:srgbClr val="B45309"/>
            </a:solidFill>
            <a:prstDash val="solid"/>
          </a:ln>
        </p:spPr>
      </p:sp>
      <p:pic>
        <p:nvPicPr>
          <p:cNvPr id="21" name="Image 0" descr="C:\Users\whale\git\uiao\inbox\SSA-Interview\build\icons\FaLightbulb.png">    </p:cNvPr>
          <p:cNvPicPr>
            <a:picLocks noChangeAspect="1"/>
          </p:cNvPicPr>
          <p:nvPr/>
        </p:nvPicPr>
        <p:blipFill>
          <a:blip r:embed="rId1"/>
          <a:stretch>
            <a:fillRect/>
          </a:stretch>
        </p:blipFill>
        <p:spPr>
          <a:xfrm>
            <a:off x="974750" y="4312310"/>
            <a:ext cx="427939" cy="427939"/>
          </a:xfrm>
          <a:prstGeom prst="rect">
            <a:avLst/>
          </a:prstGeom>
        </p:spPr>
      </p:pic>
      <p:sp>
        <p:nvSpPr>
          <p:cNvPr id="22" name="Ask text"/>
          <p:cNvSpPr txBox="1"/>
          <p:nvPr/>
        </p:nvSpPr>
        <p:spPr>
          <a:xfrm>
            <a:off x="1828800" y="3977640"/>
            <a:ext cx="9601200" cy="1097280"/>
          </a:xfrm>
          <a:prstGeom prst="rect">
            <a:avLst/>
          </a:prstGeom>
          <a:noFill/>
          <a:ln/>
        </p:spPr>
        <p:txBody>
          <a:bodyPr wrap="square" lIns="0" tIns="0" rIns="0" bIns="0" rtlCol="0" anchor="ctr"/>
          <a:lstStyle/>
          <a:p>
            <a:pPr indent="0" marL="0">
              <a:buNone/>
            </a:pPr>
            <a:r>
              <a:rPr lang="en-US" sz="2000" b="1" dirty="0">
                <a:solidFill>
                  <a:srgbClr val="B45309"/>
                </a:solidFill>
              </a:rPr>
              <a:t>The ask: </a:t>
            </a:r>
            <a:pPr indent="0" marL="0">
              <a:buNone/>
            </a:pPr>
            <a:r>
              <a:rPr lang="en-US" sz="1700" dirty="0">
                <a:solidFill>
                  <a:schemeClr val="tx2"/>
                </a:solidFill>
              </a:rPr>
              <a:t>decide now to start HR-driven identity — HR, through OPM standard attributes, as the source of authority for Entra ID, AD and ICAM — and build it into both the HR 2.0 onboarding and the Entra ID migration, so Zero Trust and SASE decide access on accurate data.</a:t>
            </a:r>
            <a:endParaRPr lang="en-US" sz="1400" dirty="0"/>
          </a:p>
        </p:txBody>
      </p:sp>
      <p:sp>
        <p:nvSpPr>
          <p:cNvPr id="23" name="EDA contribution"/>
          <p:cNvSpPr/>
          <p:nvPr/>
        </p:nvSpPr>
        <p:spPr>
          <a:xfrm>
            <a:off x="548640" y="5349240"/>
            <a:ext cx="11109960" cy="777240"/>
          </a:xfrm>
          <a:prstGeom prst="roundRect">
            <a:avLst>
              <a:gd name="adj" fmla="val 9412"/>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4" name="EDA contribution text"/>
          <p:cNvSpPr txBox="1"/>
          <p:nvPr/>
        </p:nvSpPr>
        <p:spPr>
          <a:xfrm>
            <a:off x="868680" y="5394960"/>
            <a:ext cx="10515600" cy="685800"/>
          </a:xfrm>
          <a:prstGeom prst="rect">
            <a:avLst/>
          </a:prstGeom>
          <a:noFill/>
          <a:ln/>
        </p:spPr>
        <p:txBody>
          <a:bodyPr wrap="square" lIns="0" tIns="0" rIns="0" bIns="0" rtlCol="0" anchor="ctr"/>
          <a:lstStyle/>
          <a:p>
            <a:pPr indent="0" marL="0">
              <a:buNone/>
            </a:pPr>
            <a:r>
              <a:rPr lang="en-US" sz="1700" b="1" dirty="0">
                <a:solidFill>
                  <a:srgbClr val="1F2A44"/>
                </a:solidFill>
              </a:rPr>
              <a:t>EDA contribution: </a:t>
            </a:r>
            <a:pPr indent="0" marL="0">
              <a:buNone/>
            </a:pPr>
            <a:r>
              <a:rPr lang="en-US" sz="1700" dirty="0">
                <a:solidFill>
                  <a:schemeClr val="tx2"/>
                </a:solidFill>
              </a:rPr>
              <a:t>establish authority, identifiers, standards, lineage and evidence — so workforce events produce measurable identity outcomes.</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HR-Driven Identity">
  <a:themeElements>
    <a:clrScheme name="HR-Driven Identity">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HR-Driven Identit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HR-Driven Identity</dc:title>
  <dc:subject>PptxGenJS Presentation</dc:subject>
  <dc:creator>Mike Stratton</dc:creator>
  <cp:lastModifiedBy>Mike Stratton</cp:lastModifiedBy>
  <cp:revision>1</cp:revision>
  <dcterms:created xsi:type="dcterms:W3CDTF">2026-10-20T23:05:24Z</dcterms:created>
  <dcterms:modified xsi:type="dcterms:W3CDTF">2026-10-20T23:05:24Z</dcterms:modified>
</cp:coreProperties>
</file>