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23a9aa8-36cc-77f6-bc32-d435f86839ec}">
          <p14:sldIdLst>
            <p14:sldId id="256"/>
          </p14:sldIdLst>
        </p14:section>
        <p14:section name="Why" id="{1f98f3b0-d215-5ed5-4f67-7b11fcc63d9b}">
          <p14:sldIdLst>
            <p14:sldId id="257"/>
            <p14:sldId id="258"/>
          </p14:sldIdLst>
        </p14:section>
        <p14:section name="What" id="{90bf40c5-a739-04a6-a376-45bba7ca2770}">
          <p14:sldIdLst>
            <p14:sldId id="259"/>
            <p14:sldId id="260"/>
            <p14:sldId id="261"/>
            <p14:sldId id="262"/>
            <p14:sldId id="263"/>
            <p14:sldId id="264"/>
            <p14:sldId id="265"/>
            <p14:sldId id="266"/>
            <p14:sldId id="267"/>
          </p14:sldIdLst>
        </p14:section>
        <p14:section name="Who" id="{b2739696-5042-b2a3-81b7-c39e84be6d05}">
          <p14:sldIdLst>
            <p14:sldId id="268"/>
          </p14:sldIdLst>
        </p14:section>
        <p14:section name="How" id="{2f3e5169-ec7b-f8c6-6d54-47d6ae0863ee}">
          <p14:sldIdLst>
            <p14:sldId id="269"/>
            <p14:sldId id="270"/>
            <p14:sldId id="271"/>
            <p14:sldId id="272"/>
            <p14:sldId id="273"/>
          </p14:sldIdLst>
        </p14:section>
        <p14:section name="Backup" id="{c16073af-cf91-be6d-be38-20f82fbfabde}">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1: the non-person identity inventory, as code. No account can be given an owner, a decision or a new credential until it's on one list, and Microsoft's own commands give you several lists that don't agree. We'll run Learn's commands and export script against stand-ins, see what they miss, then build one register with owners, credentials, permissions and risk, and walk two labs and the dangers. One note before we begin: the code is illustrative, tested against fixtures.
Detail: The chapter delivers the read behind the project plan's Gate 0, "non-person identities inventoried." You start with Learn's own commands for finding user accounts used as service accounts, managed service accounts and service principals, and its script for exporting app registrations' secrets and certificates, which the repository keeps as pinned copies, and run them against stand-ins to see what they return and what they miss. Then you build examples/non-person-identity for what they leave to you: one register of every service account, MSA, gMSA, dMSA, app registration, service principal and managed identity, with owners, credentials, permissions, a risk, a candidate target and a manifest. Lab 1 runs on a laptop with no tenant and no domain; Lab 2 uses a test tenant and a test domain.
Sources: Microsoft Learn, "Secure user-based service accounts in Active Directory," find on-premises user accounts used as service accounts; assess on-premises user account security, https://learn.microsoft.com/entra/architecture/service-accounts-user-on-premises (accessed Oct 31, 2026). · Microsoft Learn, "PowerShell sample: Export secrets and certificates for app registrations," https://learn.microsoft.com/entra/identity/enterprise-apps/scripts/powershell-export-all-app-registrations-secrets-and-certs (accessed Oct 30, 2026).
Workbook: Building Non-Person Identity, Chapter 01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start with an inventory? Because everything else in this project acts on an account, and you can't act on an account you haven't found. The plan's first gate asks for every service account, app registration, service principal and managed identity in one register, with a type, a risk and a candidate target. The plan's critical path runs through ownership, and an owner has to be found before anything is touched, so this chapter and the next come first. The trouble is that Microsoft's own commands give you several lists, and they don't agree.
Detail: Goal: by the end of this chapter you can produce, from code, the register the plan's tasks N0.1, N0.2, N0.4 and N0.5 ask for: "type, host, workload location, risk and candidate target for every identity", with HIGH-risk accounts listed, stale leads marked for confirmation against sign-in logs, and SQL Server accounts tagged for the Data Platform plan. You can say, for each rule in the code, whether it is Microsoft's contract, Microsoft's sample, or the program's own design. The plan's Gate 0 asks for "every AD service account, MSA, gMSA and dMSA, every app registration, service principal and managed identity, and every AI use case in the current vintage in one register with type, risk and candidate target." The workbook's outline follows the project plan's phases: inventory, ownership, a decision per account, credential modernization, least privilege, Conditional Access for workload identities, AI agents and steady state. The plan's computed path runs through ownership, because an owner has to be found for every account "before anything is touched", so Chapters 01 and 02 come first.
Sources: Building Non-Person Identity, Chapter 01, docs/project-plans/developer-workbooks/non-person-identity/01-non-person-identity-inventory-as-code.md
Workbook: Building Non-Person Identity, Chapter 01 — “Goal and audience”; “What the register has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This estate is a GCC tenant with commercial Azure, so every host the read touches is a worldwide one: the worldwide Graph endpoint and the commercial Resource Manager endpoint. GCC High and the Defense Department clouds have their own hosts, and the Graph pages this chapter relies on list the government service levels. The code never guesses: you name the cloud explicitly, and it refuses one it doesn't know. The directory reads work the same way, going only to the domain you name, never to whatever domain the machine happens to be in.
Detail: For the target estate, Microsoft 365 GCC with commercial Azure, every host is a worldwide one: Graph at graph.microsoft.com and Resource Manager at management.azure.com. GCC High uses graph.microsoft.us, DoD dod-graph.microsoft.us, and both use Azure Government's management.usgovcloudapi.net. The Graph calls whose pages show a national cloud table (list applications, application owners, federated credentials, delegated permission grants) list the global service, US Government L4 and US Government L5. The code takes gcc as an explicit cloud name and refuses any name it doesn't know, the pattern the first workbook's Chapter 02 sets. The Active Directory reads go to the domain named with -Domain (here corp.contoso.example), never to whatever domain the machine happens to be in. The estate also keeps an on-premises Active Directory until the program retires it at G5.
Sources: Microsoft Learn, "Microsoft Graph national cloud deployments," https://learn.microsoft.com/graph/deployments (accessed Oct 30, 2026). · Microsoft Learn, "Compare Azure Government and global Azure," guidance for developers, https://learn.microsoft.com/azure/azure-government/compare-azure-government-global-azure (accessed Oct 30, 2026; read for the first workbook's Chapter 02). · Microsoft Learn, "List applications," national cloud table, permissions, optional query parameters, https://learn.microsoft.com/graph/api/application-list?view=graph-rest-1.0 (accessed Oct 30, 2026). · Microsoft Learn, "List owners of an application," https://learn.microsoft.com/graph/api/application-list-owners?view=graph-rest-1.0 (accessed Oct 30, 2026). · Microsoft Learn, "List federatedIdentityCredential objects," https://learn.microsoft.com/graph/api/federatedidentitycredential-list?view=graph-rest-1.0 (accessed Oct 31, 2026). · Microsoft Learn, "List oauth2PermissionGrants (delegated permission grants)," https://learn.microsoft.com/graph/api/oauth2permissiongrant-list?view=graph-rest-1.0 (accessed Oct 30, 2026).
Workbook: Building Non-Person Identity, Chapter 01 — “Which cloud and which directory, for this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register have to hold? On the directory side, Book 02 gives the types: the traditional user account used as a service, the managed service account tied to one server, the group managed service account shared by several, and on newer domains the delegated managed service account, which takes over from a traditional account. Learn warns that nothing marks a service account as one, so its search criteria can miss some. On the Entra side, the list is always longer than the apps anyone asked for, and each service principal carries a type that tells you what it really is.
Detail: Book 02 gives the types and their targets: a traditional account (a user object, often with an svc- prefix and a password that never expires), a managed service account bound to one server, a group managed service account usable by several, and on Windows Server 2025 domains a delegated managed service account, each with its own path to Entra ID (Book 02, Chapter 09). Learn adds that no user attribute marks an account as a service account: it recommends a naming convention, and finds candidates by three criteria, an SPN, trust for delegation and a password that never expires, warning that "this approach might not find accounts." A dMSA replaces a traditional account, disables the original account's password, and ties authentication to the machine identities mapped to it. On the Entra side, consent and Microsoft's own services create service principals, so the register is always longer than the list of apps anyone asked for (Book 04, Chapter 05). Learn's schema gives each service principal a servicePrincipalType: Application, ManagedIdentity, Legacy (an app with credentials but no app registration, usable only in the tenant that created it), ServiceIdentity for an agent identity, and SocialIdp for internal use. A managed identity's service principal carries its Azure resource ID in alternativeNames, and a user-assigned identity can hold federated credentials in Resource Manager. List applications also returns agent identity blueprints, marked by @odata.type.
Sources: Microsoft Learn, "Secure user-based service accounts in Active Directory," find on-premises user accounts used as service accounts; assess on-premises user account security, https://learn.microsoft.com/entra/architecture/service-accounts-user-on-premises (accessed Oct 31, 2026). · Microsoft Learn, "Delegated Managed Service Accounts overview," https://learn.microsoft.com/windows-server/identity/ad-ds/manage/delegated-managed-service-accounts/delegated-managed-service-accounts-overview (accessed Oct 30, 2026). · Microsoft Learn, "Microsoft.Graph servicePrincipals" (Bicep reference), property values, servicePrincipalType, https://learn.microsoft.com/graph/templates/bicep/reference/serviceprincipals?view=graph-bicep-1.0 (accessed Oct 30, 2026). · Microsoft Learn, "Update servicePrincipal," request body, alternativeNames, https://learn.microsoft.com/graph/api/serviceprincipal-update?view=graph-rest-1.0 (accessed Oct 30, 2026). · Microsoft Learn, "Federated Identity Credentials - List" (Managed Identity REST API, 2024-11-30), https://learn.microsoft.com/rest/api/managedidentity/federated-identity-credentials/list (accessed Oct 30, 2026). · Microsoft Learn, "List applications," national cloud table, permissions, optional query parameters, https://learn.microsoft.com/graph/api/application-list?view=graph-rest-1.0 (accessed Oct 30, 2026).
Workbook: Building Non-Person Identity, Chapter 01 — “What the register has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together, the register reads two collections from Active Directory, nine from Graph, and one from Resource Manager. The slide shows each read and why it was chosen. The pattern is worth noticing: one server-side query for the user accounts instead of reading every user three times, owners and credentials read where they actually live, on the app registration, and Graph's own app roles read so a permission shows up by name rather than as a number. And one read that people forget: a user-assigned identity's federated credentials live in Resource Manager, not in Graph.
Detail: The register reads two Active Directory collections, nine Graph collections and one Resource Manager one. User accounts used as services: Get-ADUser -LDAPFilter with Learn's three criteria and the naming convention; one server-side query instead of three reads of every user. MSAs, gMSAs and dMSAs: Get-ADServiceAccount -Filter *, with who may retrieve each password; Learn's command for managed service accounts. App registrations, owners, federated credentials: GET /v1.0/applications, /applications/{id}/owners, /applications/{id}/federatedIdentityCredentials; credentials and owners live on the registration. Service principals by type: GET /v1.0/servicePrincipals; owners of legacy ones; every application, managed identity, legacy app and agent identity. Microsoft Graph application permissions: GET /v1.0/servicePrincipals(appId='00000003-…') for its app roles, then /servicePrincipals/{id}/appRoleAssignedTo; which service principal holds which Graph permission, by name. Delegated consent grants: GET /v1.0/oauth2PermissionGrants; tenant-wide consent (AllPrincipals) shows here. A user-assigned identity's federated credentials: GET {resourceId}/federatedIdentityCredentials?api-version=2024-11-30; they live in Resource Manager, not Graph.
Sources: Microsoft Learn, "Get-ADUser," https://learn.microsoft.com/powershell/module/activedirectory/get-aduser (accessed Oct 30, 2026). · Microsoft Learn, "Secure user-based service accounts in Active Directory," find on-premises user accounts used as service accounts; assess on-premises user account security, https://learn.microsoft.com/entra/architecture/service-accounts-user-on-premises (accessed Oct 31, 2026). · Microsoft Learn, "Secure group managed service accounts," benefits; find gMSAs, https://learn.microsoft.com/entra/architecture/service-accounts-group-managed (accessed Oct 30, 2026). · Microsoft Learn, "Get-ADServiceAccount," description and examples, https://learn.microsoft.com/powershell/module/activedirectory/get-adserviceaccount (accessed Oct 30, 2026). · Microsoft Learn, "List applications," national cloud table, permissions, optional query parameters, https://learn.microsoft.com/graph/api/application-list?view=graph-rest-1.0 (accessed Oct 30, 2026). · Microsoft Learn, "List owners of an application," https://learn.microsoft.com/graph/api/application-list-owners?view=graph-rest-1.0 (accessed Oct 30, 2026). · Microsoft Learn, "List federatedIdentityCredential objects," https://learn.microsoft.com/graph/api/federatedidentitycredential-list?view=graph-rest-1.0 (accessed Oct 31, 2026). · Microsoft Learn, "List servicePrincipals," permissions, https://learn.microsoft.com/graph/api/serviceprincipal-list?view=graph-rest-1.0 (accessed Oct 30, 2026). · Microsoft Learn, "List owners of a service principal," permissions, https://learn.microsoft.com/graph/api/serviceprincipal-list-owners?view=graph-rest-1.0 (accessed Oct 30, 2026). · Microsoft Learn, "List appRoleAssignments granted for a service principal," permissions, https://learn.microsoft.com/graph/api/serviceprincipal-list-approleassignedto?view=graph-rest-1.0 (accessed Oct 31, 2026). · Microsoft Learn, "List oauth2PermissionGrants (delegated permission grants)," https://learn.microsoft.com/graph/api/oauth2permissiongrant-list?view=graph-rest-1.0 (accessed Oct 30, 2026). · Microsoft Learn, "Federated Identity Credentials - List" (Managed Identity REST API, 2024-11-30), https://learn.microsoft.com/rest/api/managedidentity/federated-identity-credentials/list (accessed Oct 30, 2026).
Workbook: Building Non-Person Identity, Chapter 01 — “What the register has to hold” — the table of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important line between Microsoft and the program. Microsoft tells you how to find accounts; it doesn't tell you which ones are risky. The risk rules, the candidate target and the stale threshold are the program's, from the plan and Book 02, and the code keeps them in one configuration file and labels them as design guidance. And notice why stale is only ever a lead: the last logon attribute isn't updated on every sign-in, so an account that looks idle may not be. The plan says to confirm against the sign-in logs before retiring anything.
Detail: The risk, the candidate target and the stale lead come from the program, not from Microsoft. The plan defines HIGH as "password never expires, over-privileged"; Book 02 adds a password unchanged for more than 365 days and puts the stale threshold at 90 days. The example keeps those rules in config/register.json, and reads "over-privileged" as membership of a privileged Active Directory group, unconstrained delegation, or a high-privilege Microsoft Graph application permission. Design guidance. A stale account is a lead only: Learn's lastLogonTimestamp is updated only when the stored value is older than the current time minus msDS-LogonTimeSyncInterval, and the plan's risk register says to "confirm stale leads against domain controller and Entra ID sign-in logs before retiring anything."
Sources: Microsoft Learn, "Last-Logon-Timestamp attribute," https://learn.microsoft.com/windows/win32/adschema/a-lastlogontimestamp (accessed Oct 30, 2026).
Workbook: Building Non-Person Identity, Chapter 01 — “What the register has to hold” — risk, target and stale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Microsoft's starting point. Learn's service account series is Microsoft's procedure for this read: a few PowerShell commands for user accounts, managed service accounts and service principals, a page that says what to record about each account, and a script that exports every app registration's secrets and certificates. Those commands live only inside web pages, so the repository pins the pages' source, unchanged, with hashes a test checks and a weekly watch for changes. A harness then runs them exactly as published, against stand-ins built from a fictional estate. Nothing is installed, and nothing signs in.
Detail: Learn's service account series is Microsoft's procedure for this read. Secure user-based service accounts in Active Directory gives three PowerShell commands: Get-ADObject for accounts trusted for delegation, and Get-ADUser -Filter * with a client-side filter for accounts with SPNs and for passwords that never expire. Secure group managed service accounts gives Get-ADServiceAccount -Filter *, then the same filtered to gMSAs by object class. Securing service principals in Microsoft Entra ID lists every service principal with Get-MgServicePrincipal -All:$true, and offers a filter on the tag WindowsAzureActiveDirectoryIntegratedApp "to find multi-tenant apps." Govern on-premises service accounts says what to collect for each account: owner, purpose, permissions, CMDB links, risk and lifetime. For credentials, Learn's script Export secrets and certificates for app registrations signs in with Application.Read.All, reads every app registration with Get-MgApplication -All, and writes one CSV row per secret and per certificate with its start and end dates and the app's owners from Get-MgApplicationOwner. The pinned copies: the repository pins the pages' source, unmodified, in examples/third_party/entra-service-account-pages (the three service account pages) and examples/third_party/entra-app-credentials-export-page (the script page), both from MicrosoftDocs/entra-docs at commit 7f78b50 (October 30, 2026), retrieved October 30, 2026, with the repository's MIT licenses. Each snapshot.json records every file's SHA-256, checked against the upstream git blob hashes, and a unit test checks them. The weekly source watch reports new commits to each of the four pages. Updating a copy is a reviewed pull request. tests/LearnSampleHarness.ps1 extracts the commands and the script from the pinned pages at test time and runs them unmodified against stand-ins for Get-ADObject, Get-ADUser, Get-ADServiceAccount, Get-MgServicePrincipal, Connect-MgGraph, Get-MgApplication, Get-MgApplicationOwner and Read-Host, served from the fixture estate. The stand-in for Get-ADObject evaluates only the delegation filter Learn's sample passes and throws on any other, so a new upstream filter fails a test instead of being half-read. Nothing is installed and nothing signs in.
Sources: Microsoft Learn, "Secure user-based service accounts in Active Directory," find on-premises user accounts used as service accounts; assess on-premises user account security, https://learn.microsoft.com/entra/architecture/service-accounts-user-on-premises (accessed Oct 31, 2026). · Microsoft Learn, "Secure group managed service accounts," benefits; find gMSAs, https://learn.microsoft.com/entra/architecture/service-accounts-group-managed (accessed Oct 30, 2026). · Microsoft Learn, "Securing service principals in Microsoft Entra ID," find accounts; assess service principal security, https://learn.microsoft.com/entra/architecture/service-accounts-principal (accessed Oct 30, 2026). · Microsoft Learn, "Govern on-premises service accounts," lifecycle management process, https://learn.microsoft.com/entra/architecture/service-accounts-govern-on-premises (accessed Oct 30, 2026). · Microsoft Learn, "PowerShell sample: Export secrets and certificates for app registrations," https://learn.microsoft.com/entra/identity/enterprise-apps/scripts/powershell-export-all-app-registrations-secrets-and-certs (accessed Oct 30, 2026). · Microsoft, MicrosoftDocs/entra-docs, docs/architecture/service-accounts-user-on-premises.md, service-accounts-group-managed.md and service-accounts-principal.md at commit 7f78b50dce9d8cf119de57cbd6fd66e24a6c58d4 (October 30, 2026; the pages last changed February 25, 2026), MIT License, https://github.com/MicrosoftDocs/entra-docs/tree/7f78b50dce9d8cf119de57cbd6fd66e24a6c58d4/docs/architecture (accessed Oct 30, 2026); pinned copy in examples/third_party/entra-service-account-pages. · Microsoft, MicrosoftDocs/entra-docs, docs/identity/enterprise-apps/scripts/powershell-export-all-app-registrations-secrets-and-certs.md at commit 7f78b50dce9d8cf119de57cbd6fd66e24a6c58d4 (October 30, 2026; the page last changed February 19, 2026), MIT License, https://github.com/MicrosoftDocs/entra-docs/blob/7f78b50dce9d8cf119de57cbd6fd66e24a6c58d4/docs/identity/enterprise-apps/scripts/powershell-export-all-app-registrations-secrets-and-certs.md (accessed Oct 30, 2026); pinned copy in examples/third_party/entra-app-credentials-export-page.
Workbook: Building Non-Person Identity, Chapter 01 — “Start with Microsoft's sample” — “What Microsoft gives you,” “The pinned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running the samples pays off. On the directory side, the criteria are right, so the code keeps them. But the samples read every user three times and give you three overlapping lists, not a register. The never-expires query happily returns a person. The delegation query returns servers. Nothing reads last logon or group membership, so you can't compute stale or over-privileged. And a delegated managed service account comes back unlabeled, while the group managed filter drops it entirely. Each row on the slide is pinned by a test.
Detail: Running the samples against the fixture estate shows what they do and what they leave out. Each row is pinned by a test: in tests/MicrosoftSamples.Tests.ps1 for the samples, and in tests/NpiInventory.Tests.ps1 for the example. Finds user accounts with SPNs, accounts trusted for delegation and passwords that never expire: kept as the model, the same three criteria, plus the naming convention Learn recommends for them and the description attribute Learn suggests for on-premises service accounts. Reads every user with -Filter * and filters on the client, in three separate queries: three full reads of the domain, and an account in two lists appears twice; no list is a register; the example uses one Get-ADUser -LDAPFilter query, one row per account, DetectedBy saying which criteria matched. The password-never-expires query returns a person, with nothing to tell them apart: a person's account lands on a service account list, or a service account is dismissed as a person; kept, marked "detected only by a password that never expires" (NPI-INV-08), so someone confirms before Chapter 02 applies the ownership rule. The delegation query returns computer accounts: a domain-joined server sits among the service accounts; user objects only, computer accounts are left to Chapter 06 (research gaps, row 8). Reads no last logon, password age or group membership, though the page says to assess privileged group membership: neither a stale lead nor "over-privileged" can be computed; LastLogonDate, PasswordLastSet, MemberOf and the delegation flags, read in the same query. Get-ADServiceAccount -Filter * names two object classes; a dMSA comes back unlabeled, and the gMSA filter drops it: dMSAs, the type Book 02 keeps, go unclassified; MSA, gMSA and dMSA by object class; any other class reported as unknown (NPI-INV-09; research gaps, row 1). Reads no PrincipalsAllowedToRetrieveManagedPassword: a gMSA's blast radius is the hosts that can retrieve its password (the implementation guide, step 1a); recorded in Hosts.
Sources: Microsoft Learn, "Secure user-based service accounts in Active Directory," find on-premises user accounts used as service accounts; assess on-premises user account security, https://learn.microsoft.com/entra/architecture/service-accounts-user-on-premises (accessed Oct 31, 2026). · Microsoft Learn, "Securing on-premises service accounts," types of on-premises service accounts, https://learn.microsoft.com/entra/architecture/service-accounts-on-premises (accessed Oct 31, 2026). · Microsoft Learn, "Secure group managed service accounts," benefits; find gMSAs, https://learn.microsoft.com/entra/architecture/service-accounts-group-managed (accessed Oct 30, 2026).
Workbook: Building Non-Person Identity, Chapter 01 — “What it leaves to you” — the Active Directory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Entra side, the export script is a good model for the credential columns, so the code keeps it as one. But the multitenant filter it suggests actually returns single-tenant apps too. The script stops to ask for an output path, so it can't run on a schedule. It makes extra calls per app and per credential, never counts owners, and misses an app with no credential at all. And it ignores federated credentials, managed identities, permissions and consent, which is most of what the gate needs. So the verdict: use Learn's commands as the definition, not as the register.
Detail: Get-MgServicePrincipal -All:$true lists every service principal: kept as the model, through GET /servicePrincipals with $select, every page followed. The tag filter it offers for multitenant apps returns single-tenant apps; the Entra PowerShell reference uses the same tag to list all enterprise apps: a single-tenant app is treated as a third party's, or the reverse; appOwnerOrganizationId compared with the tenant ID, and signInAudience recorded (research gaps, row 6). The export script lists every secret and certificate on every app registration: kept as the model, secrets, certificates, expired credentials and the next expiry on each row. Prompts for the output path with Read-Host: it can't run unattended or on a schedule; every input is a parameter, the run writes to -OutputPath. Calls Get-MgApplication again for every app, and Get-MgApplicationOwner once per credential, without -All: one extra call per app and per credential; whether every owner page is read isn't stated; one paged list with $select, owners read once per app, every page followed, as Learn's paging guidance asks, and on the cloud's own host (the program's rule, design guidance). Reads no owners for an app with no credential, and reports a guest owner like any other; counts nothing: an ownerless federated app is invisible, and Chapter 02 has nothing to count; OwnerCount, OwnerIds and OwnerTypes for every app registration and legacy service principal. Flags no expired credential, though the page's explanation says the admin "is asked about the expiration date": the page and its code disagree, and an expired credential left on an app is noise an attacker can hide in; ExpiredCredentials and NPI-INV-05. Reads no federated credentials, service principals, managed identities, permissions or consent grants: most of Gate 0's register is missing; all of them, including a user-assigned identity's federated credentials from Resource Manager. Signs in with Connect-MgGraph -Scopes 'Application.Read.All' and no environment: the worldwide cloud, whatever the tenant; an explicit cloud, the call list in config/calls.json with each call's least-privileged permission, and a session check against the tenant ID. The verdict: use Learn's commands as the definition of what to look for, and the export script as the model for the credential columns. Don't run them as the register: they read the domain three times, can't tell a person from a service account, miss dMSAs, and see only one of the many kinds of workload identity Gate 0 asks for. Book 02's own discovery function, Get-FMPServiceAccountInventory, is the program's earlier code for the Active Directory half. The register keeps its rules (disabled and stale first, then the risk checks; 90 and 365 days) and adds dMSAs, delegation, group membership, the Entra side and the manifest. Book 02's function stays where it's maintained.
Sources: Microsoft Learn, "Securing service principals in Microsoft Entra ID," find accounts; assess service principal security, https://learn.microsoft.com/entra/architecture/service-accounts-principal (accessed Oct 30, 2026). · Microsoft Learn, "Get-EntraServicePrincipal," example 7, retrieve all enterprise apps, https://learn.microsoft.com/powershell/module/microsoft.entra.applications/get-entraserviceprincipal?view=entra-powershell (accessed Oct 30, 2026). · Microsoft Learn, "PowerShell sample: Export secrets and certificates for app registrations," https://learn.microsoft.com/entra/identity/enterprise-apps/scripts/powershell-export-all-app-registrations-secrets-and-certs (accessed Oct 30, 2026). · Microsoft Learn, "Page through a collection using the Microsoft Graph SDKs," https://learn.microsoft.com/graph/sdks/paging (accessed Oct 31, 2026).
Workbook: Building Non-Person Identity, Chapter 01 — “What it leaves to you” — the Entra rows;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build? It starts with one reader that every chapter in this workbook shares. Its script blocks are the only things that touch the network, a live one for real runs and a fake one for labs. And it enforces five simple rules: it makes only the calls the configuration declares, it only reads, it sends the token only to the cloud's own host, it checks it's signed in to the right tenant, and it reads every page. The fake hands back tiny pages on purpose, so paging gets tested everywhere.
Detail: examples/non-person-identity is new. This chapter's code is powershell/NpiCore/NpiCore.psm1 (the reader, shared by every chapter), powershell/NpiInventory/NpiInventory.psm1, config/calls.json, config/register.json and the entry script Invoke-NpiInventory.ps1. Every call goes through one reader, built for one task in one cloud: New-NpiReader -Cloud gcc -Task inventory -Invoke &lt;script block&gt; -AdInvoke &lt;script block&gt;. The script blocks are the only things that touch the network: New-NpiLiveInvoker and New-NpiLiveAdInvoker for a real run, or New-NpiFixtureInvoker and New-NpiFixtureAdInvoker for labs and tests. The reader enforces five rules. Only declared calls: config/calls.json lists each call with its method (or cmdlet), version, path, least-privileged permission, Azure role or Active Directory right, stage and Learn page, and declares what each task needs; a call the task doesn't declare throws before anything is sent, and a test keeps each task's declaration equal to the union of its calls. Reads only: the reader sends GET and runs only declared Get-AD* cmdlets; the cmdlet name comes from the call list, never from the caller; a task declared as a write can't have a reader at all. One host: every URL, including every next link, must start with the cloud's own Graph or Resource Manager host, or the token isn't sent. One tenant: the live invoker refuses to start if the Graph or Azure session is in another cloud or signed in to a tenant other than -TenantId. Every page: collections are followed to the end; the fake serves pages of two by default, so the tests exercise paging on every collection.
Sources: Microsoft Learn, "Page through a collection using the Microsoft Graph SDKs," https://learn.microsoft.com/graph/sdks/paging (accessed Oct 31, 2026).
Workbook: Building Non-Person Identity, Chapter 01 — “The code: examples/non-person-identity” —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gives every identity one row with the same columns, whatever its type, so it all lands in one file. Directory accounts carry password age, last logon and privileged groups; Entra objects carry owners, credentials and permissions. An app's permissions are counted once, so nothing high risk is counted twice. Then the program's rules apply: high, medium or low risk, and a candidate target from Book 02's matrix. That target is only a candidate, Chapter 3 makes the decision. And SQL Server accounts are handed to the Data Platform plan.
Detail: Get-NpiRegister returns one row per identity with the same columns for every type, so the register writes to one CSV: the identity (ad:&lt;objectGUID&gt;, app:&lt;appId&gt;, sp:&lt;id&gt; or mi:&lt;id&gt;), source, type and name; how it was found; where the workload runs and which hosts can use it; password age, last logon, SPNs, delegation and privileged groups for Active Directory; home tenant, sign-in audience, owner count and types, serviceManagementReference, secrets, certificates, expired credentials, the next expiry and the credential kind for Entra; federated credentials with issuer and subject; Graph application permissions, the high-privilege ones among them, delegated grants and tenant-wide consent; and the risk, its reasons, the candidate target and any hand-off. An app's permissions are reported once, on its app registration row; its own service principal row says so, so a HIGH app isn't counted twice. Service principals of other tenants are typed ExternalServicePrincipal: their credentials are in their home tenant. Microsoft Graph's own service principal is read for its app roles and left out of the register. Get-NpiRisk applies the plan's rule to enabled identities: HIGH for a password that never expires, a password unchanged for more than 365 days, a privileged AD group, unconstrained delegation or a high-privilege Graph permission; MEDIUM for any other enabled traditional account, MSA, gMSA or legacy service principal, or anything holding a client secret; LOW otherwise. Book 02's table rates MSAs and gMSAs Medium while its function sets them LOW; the code follows the table (research gaps, row 9). Get-NpiCandidateTarget is Book 02's migration path matrix: a Kerberos service account goes to a gMSA, or a dMSA on a Windows Server 2025 domain; an MSA is upgraded to a gMSA; a secret on an app registration is replaced by a managed identity, then a federated credential, then a certificate. It's a candidate only: Chapter 03 makes the decision. Design guidance for both. A stale lead is an enabled Active Directory account with no logon in 90 days. It carries the note "confirm against domain controller and Entra sign-in logs before any change", and the code never disables, moves or deletes anything. The register reads no Entra sign-in activity, because the service principal sign-in activity report is a beta API (research gaps, row 3). An account whose SPN starts with MSSQLSvc/, or whose name matches the program's SQL Server and LDAP-bind patterns, is tagged DataPlatform and written to data-platform-handoff.csv: the plan hands those accounts to the Data Platform plan (task N0.4; Book 06, Chapter 09).
Sources: Microsoft Learn, "Microsoft.Graph servicePrincipals" (Bicep reference), property values, servicePrincipalType, https://learn.microsoft.com/graph/templates/bicep/reference/serviceprincipals?view=graph-bicep-1.0 (accessed Oct 30, 2026).
Workbook: Building Non-Person Identity, Chapter 01 — “The register”; “Risk, targets, stale leads and the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then becomes findings, nine rules, each with a stable ID so the same gap keeps its name from run to run. Only one is a hard finding: a high-risk identity. The rest are warnings to act on, like a stale lead to confirm, an app with fewer than two owners, a client secret, consent granted for everyone, or an account that might really be a person. The run writes a manifest with the tenant, every request and a hash of every file, and Chapter 2 refuses a register whose hash doesn't match. All of it is covered by tests that need no network.
Detail: Test-NpiRegister turns the rows into findings, each with a stable ID, &lt;rule&gt;:&lt;identity&gt;, so the same gap keeps its ID from run to run. NPI-INV-01 Finding: a HIGH-risk identity, with its reasons and candidate target (project plan, N2.2 and Gate 0; Book 02). NPI-INV-02 Warn: a stale lead, an enabled AD account with no logon in 90 days, to confirm against sign-in logs (Book 02, Chapter 09; Learn on lastLogonTimestamp). NPI-INV-03 Warn: an app registration or legacy service principal with fewer than two owners; Chapter 02 checks who they are (Book 02, Chapter 09; Learn: at least two owners where possible). NPI-INV-04 Warn: a client secret (Book 04, Chapter 05: never a client secret). NPI-INV-05 Warn: an expired credential still on the object (Book 04, Chapter 05: remove unused credentials). NPI-INV-06 Warn: a delegated grant consented for all users, AllPrincipals (Learn: consent type on oAuth2PermissionGrant). NPI-INV-07 Info: a SQL Server or LDAP-bind account handed to the Data Platform plan (project plan, N0.4). NPI-INV-08 Warn: an account found only by a password that never expires, may be a person (Learn: the criteria "might not find accounts", and find people too). NPI-INV-09 Warn: an object class or service principal type the register doesn't classify (design guidance). The run: Invoke-NpiInventory.ps1 reads, classifies, finds and writes register.json, register.csv, findings.json, data-platform-handoff.csv and manifest.json. The manifest records the task, the mode (Fixture or Live), the cloud, the tenant ID, the domain, the as-of date, the permissions, roles and rights the task holds, every request and AD read with its time, the SHA-256 of config/register.json, and the SHA-256 of each file. A live run refuses to start without -TenantId. The manifest names no one; the register names accounts and owners' object IDs, so treat the run's folder as sensitive. Chapter 02 refuses a register whose hash doesn't match its manifest. The tests: Pester 5 under PowerShell 7, 97 tests in three files, none needing a module, a tenant, a domain or a network. This chapter's: tests/MicrosoftSamples.Tests.ps1, 20 tests in the Chapter 01 blocks, Learn's commands and script run as published; tests/NpiInventory.Tests.ps1, 36 tests: clouds, the call list (each task's declaration equals the union of its calls), refused calls, cmdlets, hosts and writes, paging with page sizes of 1, 3 and 50, the one LDAP query, every type in the register, credentials, permissions, risk, targets, the hand-off, stale leads, each finding, the manifest's hashes and the console output. The other 10 sample tests and the 31 in tests/NpiOwnership.Tests.ps1 are Chapter 02's.
Sources: Microsoft Learn, "Last-Logon-Timestamp attribute," https://learn.microsoft.com/windows/win32/adschema/a-lastlogontimestamp (accessed Oct 30, 2026). · Microsoft Learn, "Overview of enterprise application ownership in Microsoft Entra ID," FAQ, https://learn.microsoft.com/entra/identity/enterprise-apps/overview-assign-app-owners (accessed Oct 30, 2026). · Microsoft Learn, "List oauth2PermissionGrants (delegated permission grants)," https://learn.microsoft.com/graph/api/oauth2permissiongrant-list?view=graph-rest-1.0 (accessed Oct 30, 2026). · Microsoft Learn, "Secure user-based service accounts in Active Directory," find on-premises user accounts used as service accounts; assess on-premises user account security, https://learn.microsoft.com/entra/architecture/service-accounts-user-on-premises (accessed Oct 31, 2026).
Workbook: Building Non-Person Identity, Chapter 01 — “The findings”; “The run and its manifest”;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the read path, the identity and directory engineers run it, and the security officers review it. Nobody needs a tenant or a domain until the second lab. What it may read is short: an ordinary domain user's read on the directory, two Graph permissions and Reader on the identities. One choice deserves attention: listing delegated consent grants needs the broad directory read, and that's the only reason the inventory holds it. Without permission to read users, owners come back as bare IDs, which is all a count needs.
Detail: Audience: developers who build the project's read path, the identity and Active Directory engineers who run it, and the ISSOs who review it. You should read PowerShell 7 and know what a service principal is. You don't need a tenant or a domain until Lab 2. The inventory's needs are the union of its calls. Get-ADUser, Get-ADServiceAccount: the default read of an authenticated domain user (research gaps, row 2). List applications, owners, federated credentials: Application.Read.All; delegated roles, applications and owners: Directory Readers, Global Reader; federated credentials: the app's owner, Cloud Application Administrator or Application Administrator (Learn lists neither Directory Readers nor Global Reader for them). List service principals, owners, app role assignments: Application.Read.All; Directory Readers, Global Reader; app role assignments: Directory Readers (Learn doesn't list Global Reader for them). List delegated permission grants: Directory.Read.All; Global Reader, Directory Readers. A user-assigned identity's federated credentials: Reader on the identity. Two rows matter. Learn's least-privileged permission for listing delegated permission grants is Directory.Read.All, the broadest read the inventory holds and the only reason it holds it (research gaps, row 5). And without permission to read users, an application's owners come back with id and @odata.type only, which is all a count needs; Chapter 02 reads the people with its own, separate permission.
Sources: Microsoft Learn, "Get-ADUser," https://learn.microsoft.com/powershell/module/activedirectory/get-aduser (accessed Oct 30, 2026). · Microsoft Learn, "Get-ADServiceAccount," description and examples, https://learn.microsoft.com/powershell/module/activedirectory/get-adserviceaccount (accessed Oct 30, 2026). · Microsoft Learn, "List applications," national cloud table, permissions, optional query parameters, https://learn.microsoft.com/graph/api/application-list?view=graph-rest-1.0 (accessed Oct 30, 2026). · Microsoft Learn, "List owners of an application," https://learn.microsoft.com/graph/api/application-list-owners?view=graph-rest-1.0 (accessed Oct 30, 2026). · Microsoft Learn, "List federatedIdentityCredential objects," https://learn.microsoft.com/graph/api/federatedidentitycredential-list?view=graph-rest-1.0 (accessed Oct 31, 2026). · Microsoft Learn, "List servicePrincipals," permissions, https://learn.microsoft.com/graph/api/serviceprincipal-list?view=graph-rest-1.0 (accessed Oct 30, 2026). · Microsoft Learn, "List owners of a service principal," permissions, https://learn.microsoft.com/graph/api/serviceprincipal-list-owners?view=graph-rest-1.0 (accessed Oct 30, 2026). · Microsoft Learn, "List appRoleAssignments granted for a service principal," permissions, https://learn.microsoft.com/graph/api/serviceprincipal-list-approleassignedto?view=graph-rest-1.0 (accessed Oct 31, 2026). · Microsoft Learn, "List oauth2PermissionGrants (delegated permission grants)," https://learn.microsoft.com/graph/api/oauth2permissiongrant-list?view=graph-rest-1.0 (accessed Oct 30, 2026).
Workbook: Building Non-Person Identity, Chapter 01 — “Goal and audience”; “The reader” — the permissions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with PowerShell 7 and Pester: no tenant, no domain. First, run Learn's own samples against the stand-ins, and read the test for the delegated managed service account: Microsoft's command returns it, and nothing says what it is. Second, list what the inventory needs, and notice that nothing can write. Third, run the inventory over the fictional estate. You get thirty-five identities, eight of them high risk, a set of findings and warnings, and three accounts handed to the Data Platform plan. Next, we read them.
Detail: You need PowerShell 7.1 or later with Pester 5. Work in examples/non-person-identity. Step 1, run Learn's samples against the stand-ins: Invoke-Pester -Path tests/MicrosoftSamples.Tests.ps1 -FullNameFilter '*Chapter 01*' -Output None -PassThru | Select-Object PassedCount, FailedCount, NotRunCount gives PassedCount 20, FailedCount 0, NotRunCount 10 (the ten are Chapter 02's). Open the test file and read the dMSA test: Learn's command returns the dMSA, and nothing in the sample says what it is. Step 2, list what the inventory needs: Import-Module ./powershell/NpiInventory/NpiInventory.psm1; $p = Get-NpiRequiredPermission -Task inventory; $p.GraphPermissions -join ', '; $p.AzureRoles -join ', '; $p.AdRights -join ', ' gives "Application.Read.All, Directory.Read.All", "Reader", "Read (default for authenticated domain users)". Nothing ends in ReadWrite. Step 3, run the inventory against the fictional estate: ./Invoke-NpiInventory.ps1 -Cloud gcc -FixturePath tests/fixtures/estate.json -OutputPath out/inventory gives "Register: 35 identities (AD 15, Entra 20); risk HIGH 8, LOW 19, MEDIUM 8", "Findings: 8 Finding, 11 Warn, 3 Info; 3 handed to the Data Platform plan", "Written to out/inventory (manifest.json: tenant c0ffee00-0000-4000-8000-000000000001, every request, a SHA-256 per file)". Illustrative code: the commands run Learn's pinned samples against stand-ins, and the example against a fictional estate served by fakes. They show what the code does, not that a tenant or a domain returns the same shapes. Review the code, and run Lab 2 in a test tenant and test domain, before it reads a real one.
Sources: Building Non-Person Identity, Chapter 01, docs/project-plans/developer-workbooks/non-person-identity/01-non-person-identity-inventory-as-code.md
Workbook: Building Non-Person Identity, Chapter 01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high-risk rows is where the rules become real. Two accounts have passwords that haven't changed in years; others sit in powerful groups or are trusted for unconstrained delegation; one app holds a directory-wide write permission. One account is also a stale lead, so the note says to verify use first. And one looks like a person, so it's flagged to confirm rather than treated as a service account. Then you watch the reader refuse an undeclared call and a cloud name in the wrong case, and you see who's handed to the Data Platform plan.
Detail: Step 4, read the HIGH-risk identities: Get-Content out/inventory/findings.json -Raw | ConvertFrom-Json | Where-Object Rule -eq 'NPI-INV-01' | Format-Table Object, Issue -Wrap. Eight rows: svc-hrsync (password never expires, unchanged in 2800 days; candidate a gMSA or dMSA), svc-sqlprod (the same, handed to the Data Platform plan), svc-backup (Backup Operators), svc-oldftp (password never expires; "verify use first", because it's also a stale lead), jdoe (password never expires, and found only by that criterion: NPI-INV-08 asks whether it's a person), svc-webfront (unconstrained delegation), gmsa-ops$ (Domain Admins) and the Mail Automation app registration (Directory.ReadWrite.All). The disabled svc-reports isn't there: its risk is LOW and its candidate is retirement, after confirmation. Step 5, see the reader refuse: $r = New-NpiReader -Cloud gcc -Task inventory -Invoke (New-NpiFixtureInvoker -Path tests/fixtures/estate.json).Invoke; Invoke-NpiList -Reader $r -CallId graph-user -Bind @{ id = 'x' }; Get-NpiCloud GCC. Two errors: "Undeclared call 'graph-user' for task 'inventory'; add it to config/calls.json with its permission." and "Unknown cloud 'GCC'. Use global, gcc, gcchigh or dod." Step 6, read the hand-off to the Data Platform plan: Import-Csv out/inventory/data-platform-handoff.csv | Format-Table Name, Type, Spns, Risk gives svc-sqlprod and gmsa-sql$ by their MSSQLSvc/ SPNs, and svc-ldapbind by name. Step 7, run the tests: Invoke-Pester -Path tests. Expected result: 513 tests passing, every row of the gap table seen with your own eyes, and out/inventory/manifest.json listing 36 requests: 34 GETs and 2 AD reads. Keep out/inventory for Chapter 02's lab; delete out when you're done with both.
Sources: Building Non-Person Identity, Chapter 01, docs/project-plans/developer-workbooks/non-person-identity/01-non-person-identity-inventory-as-code.md
Workbook: Building Non-Person Identity, Chapter 01 — “Lab 1: fixtures, no tenant,” steps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and a test domain, never production, and it only reads. You register the app in the tenant's own cloud with a certificate, grant exactly the two permissions, and give it Reader where one test identity lives. Then you run it from a domain-joined host as an ordinary user. The point of this lab is to check what the permissions assumed: that federated credentials are actually readable, that a delegated managed service account is recognized, and that an ordinary user can read the directory attributes. Then cross-check the admin center, and back it all out.
Detail: Use a test tenant in the worldwide or GCC cloud with a test Azure subscription, and a test Active Directory domain, never production, with fictional people. The run only reads. 1 Register the app in the tenant's own cloud. For a GCC tenant that's the worldwide Microsoft Entra admin center. Add a certificate credential, not a secret. 2 Grant the two application permissions from Lab 1, step 2, and grant admin consent. Nothing else. 3 Grant Reader to the app's service principal on a resource group holding one user-assigned managed identity with one federated credential. 4 On a domain-joined test host with the ActiveDirectory module, as an ordinary domain user, sign in and run: Connect-MgGraph -Environment Global -TenantId &lt;tenant-id&gt; -ClientId &lt;app-id&gt; -CertificateThumbprint &lt;thumbprint&gt;; Connect-AzAccount -ServicePrincipal -Environment AzureCloud -Tenant &lt;tenant-id&gt; -ApplicationId &lt;app-id&gt; -CertificateThumbprint &lt;thumbprint&gt;; ./Invoke-NpiInventory.ps1 -Cloud gcc -TenantId &lt;tenant-id&gt; -Domain &lt;test-domain&gt; -OutputPath out/inventory-test. 5 Check the two things the permissions assumed: confirm that the app registration with a federated credential shows it (research gaps, row 4), and that the user-assigned identity's federated credential is read; note the host of any nextLink Resource Manager returns (row 7). 6 Check the directory: create a test dMSA on a Windows Server 2025 test domain if you have one, and confirm it comes back as dMSA (row 1); confirm PasswordLastSet, LastLogonDate and MemberOf are filled for an ordinary user's read (row 2). 7 Cross-check against Learn's own lists: every app registration in the admin center's App registrations list should be in register.csv, and every managed identity on Enterprise apps filtered to managed identities. 8 Back it out: remove the Reader assignment and the two permissions, delete the app registration and its certificate, and delete out/inventory-test: it maps which accounts and apps can do what.
Sources: Microsoft Learn, "View the service principal of a managed identity," https://learn.microsoft.com/entra/identity/managed-identities-azure-resources/how-to-view-managed-identity-service-principal (accessed Oct 30, 2026). · Microsoft Learn, "List federatedIdentityCredential objects," https://learn.microsoft.com/graph/api/federatedidentitycredential-list?view=graph-rest-1.0 (accessed Oct 31, 2026). · Microsoft Learn, "Get federatedIdentityCredential," permissions, https://learn.microsoft.com/graph/api/federatedidentitycredential-get?view=graph-rest-1.0 (accessed Oct 30, 2026). · Microsoft Learn, "Federated Identity Credentials - List" (Managed Identity REST API, 2024-11-30), https://learn.microsoft.com/rest/api/managedidentity/federated-identity-credentials/list (accessed Oct 30, 2026). · Microsoft Learn, "Setting up delegated Managed Service Accounts," create a standalone dMSA, https://learn.microsoft.com/windows-server/identity/ad-ds/manage/delegated-managed-service-accounts/delegated-managed-service-accounts-set-up-dmsa (accessed Oct 30, 2026).
Workbook: Building Non-Person Identity, Chapter 01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in the code. The two that hurt people most: a person mistaken for a service account, which the orphan rule could disable, and a stale account retired on a guess, which breaks the job that only runs once a quarter. The code flags the first, and never disables or deletes anything for the second. Others are quieter: a broad permission granted just to make it work, the wrong cloud, throttling on credential reads, and the register itself as a map for an attacker. Notice the guards are rules and tests, not memory.
Detail: A service account missed: no owner, no decision, and it outlives the domain; guard: Learn's three criteria plus naming and description in one query; managed service accounts read separately; Lab 2 cross-checks the admin center. A person treated as a service account: the orphan rule disables someone's account; guard: accounts found only by a password that never expires are marked (NPI-INV-08) and Chapter 02 skips them until confirmed. A stale account retired on a guess: a quarterly job fails; guard: stale is a lead with a note; the code never disables or deletes; Chapter 02's orphan rule needs the identity governance officer's confirmation. A dMSA left unclassified: the Kerberos island list in Chapter 06 is short; guard: classified by object class; anything else is NPI-INV-09. An app counted twice, or a third party's app treated as ours: inflated HIGH counts; owner findings on apps the tenant can't change; guard: permissions on the registration row only; external service principals typed by home tenant. A broad permission: Directory.ReadWrite.All or Application.ReadWrite.All granted "to make it work"; guard: the call list; a test pins the task's exact permissions, none ReadWrite; Directory.Read.All only for consent grants. The wrong cloud, tenant or domain: a GCC High run reads graph.microsoft.com, or the token goes to another tenant; guard: explicit cloud, no default; host checked on every page; live sessions checked against -TenantId; AD reads sent to -Domain. Throttling on credentials: reading keyCredentials is limited to 150 requests a minute per tenant; guard: one paged list of applications, never a call per app for its credentials. The register as a leak: it maps which accounts can do what; guard: the manifest names no one; Lab 2 deletes the output. Where Learn's pages differ: the List and Get pages for federated identity credentials name different least-privileged permissions (research gaps, row 4; the Get page names Application.ReadWrite.OwnedBy); the service principal page's tag filter for "multi-tenant apps" is the Entra PowerShell reference's filter for all enterprise apps (row 6); the export script's explanation describes an expiry prompt the script doesn't have; and the Resource Manager list sample's nextLink is on a placeholder host (row 7). The code follows the stricter reading in each case and a test pins each. Verified facts also note: gMSA passwords are 240 bytes, changed every 30 days; list applications' page size is 100 by default, 999 at most; a user-assigned identity's federated credentials API in Azure Government is on management.usgovcloudapi.net, its availability there not read.
Sources: Microsoft Learn, "List applications," national cloud table, permissions, optional query parameters, https://learn.microsoft.com/graph/api/application-list?view=graph-rest-1.0 (accessed Oct 30, 2026). · Microsoft Learn, "Get federatedIdentityCredential," permissions, https://learn.microsoft.com/graph/api/federatedidentitycredential-get?view=graph-rest-1.0 (accessed Oct 30, 2026). · Microsoft Learn, "List federatedIdentityCredential objects," https://learn.microsoft.com/graph/api/federatedidentitycredential-list?view=graph-rest-1.0 (accessed Oct 31, 2026). · Microsoft Learn, "Get-EntraServicePrincipal," example 7, retrieve all enterprise apps, https://learn.microsoft.com/powershell/module/microsoft.entra.applications/get-entraserviceprincipal?view=entra-powershell (accessed Oct 30, 2026). · Microsoft Learn, "Secure group managed service accounts," benefits; find gMSAs, https://learn.microsoft.com/entra/architecture/service-accounts-group-managed (accessed Oct 30, 2026). · Microsoft Learn, "Compare Azure Government and global Azure," guidance for developers, https://learn.microsoft.com/azure/azure-government/compare-azure-government-global-azure (accessed Oct 30, 2026; read for the first workbook's Chapter 02).
Workbook: Building Non-Person Identity, Chapter 01 — “Dangers”;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register side: every account and every app in the test estate appears exactly once, anything that might be a person has been confirmed, every high-risk row is lined up for the first wave, every stale lead has been checked against the logs, and the database accounts have gone to their own plan. On the code side: exactly two Graph permissions with a certificate, an explicit cloud, hashes that match what the security officer received, and pinned pages still reviewed. Next, Chapter 2 finds an owner for every account, and applies the orphan rule. Thanks for watching.
Detail: Checklist: Every user-based service account, MSA, gMSA and dMSA in the test domain is in the register once, and every account found only by a password that never expires has been confirmed or removed. Every app registration, service principal and managed identity in the admin center is in the register, with its type and home tenant. Every HIGH row (NPI-INV-01) is listed for the first wave, with its reasons. Every stale lead has been checked against domain controller and Entra sign-in logs, and nothing was retired on the lead alone. data-platform-handoff.csv has gone to the Data Platform plan. The app holds exactly Application.Read.All and Directory.Read.All, with Reader where user-assigned identities live, with a certificate or managed identity, never a secret. The cloud is explicit, nothing in a GCC configuration is a .us host, and the manifest's tenant ID is the tenant's. The manifest's hashes match the files handed to the ISSO. The pinned Learn pages match their manifests, and every upstream commit since the pin has been reviewed. Next: Chapter 02 — Ownership and the Orphan Rule.
Sources: Microsoft, MicrosoftDocs/entra-docs, docs/architecture/service-accounts-user-on-premises.md, service-accounts-group-managed.md and service-accounts-principal.md at commit 7f78b50dce9d8cf119de57cbd6fd66e24a6c58d4 (October 30, 2026; the pages last changed February 25, 2026), MIT License, https://github.com/MicrosoftDocs/entra-docs/tree/7f78b50dce9d8cf119de57cbd6fd66e24a6c58d4/docs/architecture (accessed Oct 30, 2026); pinned copy in examples/third_party/entra-service-account-pages. · Microsoft, MicrosoftDocs/entra-docs, docs/identity/enterprise-apps/scripts/powershell-export-all-app-registrations-secrets-and-certs.md at commit 7f78b50dce9d8cf119de57cbd6fd66e24a6c58d4 (October 30, 2026; the page last changed February 19, 2026), MIT License, https://github.com/MicrosoftDocs/entra-docs/blob/7f78b50dce9d8cf119de57cbd6fd66e24a6c58d4/docs/identity/enterprise-apps/scripts/powershell-export-all-app-registrations-secrets-and-certs.md (accessed Oct 30, 2026); pinned copy in examples/third_party/entra-app-credentials-export-page.
Workbook: Building Non-Person Identity, Chapter 01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docs/project-plans/developer-workbooks/non-person-identity/01-non-person-identity-inventory-as-code.md.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docs/project-plans/developer-workbooks/non-person-identity/01-non-person-identity-inventory-as-code.md.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docs/project-plans/developer-workbooks/non-person-identity/01-non-person-identity-inventory-as-code.md.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Non-Person Identity  ·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01: Non-Person Identity Inventory as Code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first · what the register holds · Learn's samples and their gaps · the reader and the rules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inventory comes first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No account can be given an owner, a decision or a new credential until it is on one list.</a:t>
            </a:r>
            <a:endParaRPr lang="en-US" sz="1800" dirty="0"/>
          </a:p>
        </p:txBody>
      </p:sp>
      <p:sp>
        <p:nvSpPr>
          <p:cNvPr id="6" name="Panel What the plan asks for" descr="">
            <a:extLst>
              <a:ext uri="{C183D7F6-B498-43B3-948B-1728B52AA6E4}">
                <adec:decorative xmlns:adec="http://schemas.microsoft.com/office/drawing/2017/decorative" val="1"/>
              </a:ext>
            </a:extLst>
          </p:cNvPr>
          <p:cNvSpPr/>
          <p:nvPr/>
        </p:nvSpPr>
        <p:spPr>
          <a:xfrm>
            <a:off x="548640" y="1837944"/>
            <a:ext cx="5417820" cy="3252216"/>
          </a:xfrm>
          <a:prstGeom prst="roundRect">
            <a:avLst>
              <a:gd name="adj" fmla="val 224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What the plan asks for label"/>
          <p:cNvSpPr txBox="1"/>
          <p:nvPr/>
        </p:nvSpPr>
        <p:spPr>
          <a:xfrm>
            <a:off x="731520" y="194767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THE PLAN ASKS FOR</a:t>
            </a:r>
            <a:endParaRPr lang="en-US" sz="1100" dirty="0"/>
          </a:p>
        </p:txBody>
      </p:sp>
      <p:sp>
        <p:nvSpPr>
          <p:cNvPr id="8" name="Panel What the plan asks for list"/>
          <p:cNvSpPr txBox="1"/>
          <p:nvPr/>
        </p:nvSpPr>
        <p:spPr>
          <a:xfrm>
            <a:off x="731520" y="2249424"/>
            <a:ext cx="5097780" cy="279501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Gate 0: every AD service account, MSA, gMSA and dMSA, app registration, service principal and managed identity, and every AI use case, in </a:t>
            </a:r>
            <a:pPr indent="0" marL="0">
              <a:spcAft>
                <a:spcPts val="400"/>
              </a:spcAft>
              <a:buNone/>
            </a:pPr>
            <a:r>
              <a:rPr lang="en-US" sz="1600" b="1" dirty="0">
                <a:solidFill>
                  <a:srgbClr val="1F2A44"/>
                </a:solidFill>
              </a:rPr>
              <a:t>one register</a:t>
            </a:r>
            <a:pPr indent="0" marL="0">
              <a:spcAft>
                <a:spcPts val="400"/>
              </a:spcAft>
              <a:buNone/>
            </a:pPr>
            <a:r>
              <a:rPr lang="en-US" sz="1600" dirty="0">
                <a:solidFill>
                  <a:srgbClr val="334155"/>
                </a:solidFill>
              </a:rPr>
              <a:t> with type, risk and candidate target</a:t>
            </a:r>
            <a:endParaRPr lang="en-US" sz="1600" dirty="0"/>
          </a:p>
          <a:p>
            <a:pPr marL="342900" indent="-342900">
              <a:spcAft>
                <a:spcPts val="400"/>
              </a:spcAft>
              <a:buSzPct val="100000"/>
              <a:buChar char="•"/>
            </a:pPr>
            <a:r>
              <a:rPr lang="en-US" sz="1600" dirty="0">
                <a:solidFill>
                  <a:srgbClr val="334155"/>
                </a:solidFill>
              </a:rPr>
              <a:t>Tasks N0.1, N0.2, N0.4, N0.5: type, host, workload location, risk and candidate target for every identity</a:t>
            </a:r>
            <a:endParaRPr lang="en-US" sz="1600" dirty="0"/>
          </a:p>
          <a:p>
            <a:pPr marL="342900" indent="-342900">
              <a:spcAft>
                <a:spcPts val="400"/>
              </a:spcAft>
              <a:buSzPct val="100000"/>
              <a:buChar char="•"/>
            </a:pPr>
            <a:r>
              <a:rPr lang="en-US" sz="1600" dirty="0">
                <a:solidFill>
                  <a:srgbClr val="334155"/>
                </a:solidFill>
              </a:rPr>
              <a:t>HIGH-risk accounts listed; stale leads marked; SQL Server accounts tagged for the Data Platform plan</a:t>
            </a:r>
            <a:endParaRPr lang="en-US" sz="1600" dirty="0"/>
          </a:p>
        </p:txBody>
      </p:sp>
      <p:sp>
        <p:nvSpPr>
          <p:cNvPr id="9" name="Panel Why it comes first" descr="">
            <a:extLst>
              <a:ext uri="{C183D7F6-B498-43B3-948B-1728B52AA6E4}">
                <adec:decorative xmlns:adec="http://schemas.microsoft.com/office/drawing/2017/decorative" val="1"/>
              </a:ext>
            </a:extLst>
          </p:cNvPr>
          <p:cNvSpPr/>
          <p:nvPr/>
        </p:nvSpPr>
        <p:spPr>
          <a:xfrm>
            <a:off x="6240780" y="1837944"/>
            <a:ext cx="5417820" cy="3252216"/>
          </a:xfrm>
          <a:prstGeom prst="roundRect">
            <a:avLst>
              <a:gd name="adj" fmla="val 224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Why it comes first label"/>
          <p:cNvSpPr txBox="1"/>
          <p:nvPr/>
        </p:nvSpPr>
        <p:spPr>
          <a:xfrm>
            <a:off x="6423660" y="194767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WHY IT COMES FIRST</a:t>
            </a:r>
            <a:endParaRPr lang="en-US" sz="1100" dirty="0"/>
          </a:p>
        </p:txBody>
      </p:sp>
      <p:sp>
        <p:nvSpPr>
          <p:cNvPr id="11" name="Panel Why it comes first list"/>
          <p:cNvSpPr txBox="1"/>
          <p:nvPr/>
        </p:nvSpPr>
        <p:spPr>
          <a:xfrm>
            <a:off x="6423660" y="2249424"/>
            <a:ext cx="5097780" cy="279501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Microsoft's own commands give you five lists that don't agree</a:t>
            </a:r>
            <a:endParaRPr lang="en-US" sz="1600" dirty="0"/>
          </a:p>
          <a:p>
            <a:pPr marL="342900" indent="-342900">
              <a:spcAft>
                <a:spcPts val="400"/>
              </a:spcAft>
              <a:buSzPct val="100000"/>
              <a:buChar char="•"/>
            </a:pPr>
            <a:r>
              <a:rPr lang="en-US" sz="1600" dirty="0">
                <a:solidFill>
                  <a:srgbClr val="334155"/>
                </a:solidFill>
              </a:rPr>
              <a:t>The plan's computed path runs through ownership: an owner for every account "before anything is touched"</a:t>
            </a:r>
            <a:endParaRPr lang="en-US" sz="1600" dirty="0"/>
          </a:p>
          <a:p>
            <a:pPr marL="342900" indent="-342900">
              <a:spcAft>
                <a:spcPts val="400"/>
              </a:spcAft>
              <a:buSzPct val="100000"/>
              <a:buChar char="•"/>
            </a:pPr>
            <a:r>
              <a:rPr lang="en-US" sz="1600" dirty="0">
                <a:solidFill>
                  <a:srgbClr val="334155"/>
                </a:solidFill>
              </a:rPr>
              <a:t>So Chapters 01 and 02 come first</a:t>
            </a:r>
            <a:endParaRPr lang="en-US" sz="1600" dirty="0"/>
          </a:p>
          <a:p>
            <a:pPr marL="342900" indent="-342900">
              <a:spcAft>
                <a:spcPts val="400"/>
              </a:spcAft>
              <a:buSzPct val="100000"/>
              <a:buChar char="•"/>
            </a:pPr>
            <a:r>
              <a:rPr lang="en-US" sz="1600" dirty="0">
                <a:solidFill>
                  <a:srgbClr val="334155"/>
                </a:solidFill>
              </a:rPr>
              <a:t>For each rule, you can say whether it is Microsoft's contract, Microsoft's sample, or the program's own design</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project plan, Gate 0 and tasks N0.1–N0.5; workbook index, “Chapters.” Chapter 01, “Goal and audience,” “What the register has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and which directory, for this read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834640"/>
        </p:xfrm>
        <a:graphic>
          <a:graphicData uri="http://schemas.openxmlformats.org/drawingml/2006/table">
            <a:tbl>
              <a:tblPr firstRow="1" bandRow="1"/>
              <a:tblGrid>
                <a:gridCol w="2194560"/>
                <a:gridCol w="4480560"/>
                <a:gridCol w="443484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Read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Microsoft 365 GCC with commercial Azure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GCC High and DoD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Microsoft Graph</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graph.microsoft.com (worldwide)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graph.microsoft.us (GCC High); dod-graph.microsoft.us (DoD)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Azure Resource Manager</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management.azure.com</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management.usgovcloudapi.net (Azure Government)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955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Graph pages with a national cloud table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Global service listed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US Government L4 and L5 listed: list applications, owners, federated credentials, delegated grants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Active Directory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domain named with -Domain (here corp.contoso.example)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same: never whatever domain the machine is in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343400"/>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416552"/>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562124"/>
            <a:ext cx="315407" cy="315407"/>
          </a:xfrm>
          <a:prstGeom prst="rect">
            <a:avLst/>
          </a:prstGeom>
        </p:spPr>
      </p:pic>
      <p:sp>
        <p:nvSpPr>
          <p:cNvPr id="9" name="Callout text"/>
          <p:cNvSpPr txBox="1"/>
          <p:nvPr/>
        </p:nvSpPr>
        <p:spPr>
          <a:xfrm>
            <a:off x="1600200" y="4398264"/>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code takes gcc as an explicit cloud name and refuses any name it doesn't know, the pattern the first workbook's Chapter 02 sets.</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Microsoft Graph national cloud deployments; Compare Azure Government and global Azure; List applications. Chapter 01, “Which cloud and which directory.”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register has to hold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Active Directory (Book 02)" descr="">
            <a:extLst>
              <a:ext uri="{C183D7F6-B498-43B3-948B-1728B52AA6E4}">
                <adec:decorative xmlns:adec="http://schemas.microsoft.com/office/drawing/2017/decorative" val="1"/>
              </a:ext>
            </a:extLst>
          </p:cNvPr>
          <p:cNvSpPr/>
          <p:nvPr/>
        </p:nvSpPr>
        <p:spPr>
          <a:xfrm>
            <a:off x="548640" y="1325880"/>
            <a:ext cx="5417820" cy="3476244"/>
          </a:xfrm>
          <a:prstGeom prst="roundRect">
            <a:avLst>
              <a:gd name="adj" fmla="val 210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Active Directory (Book 02)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ACTIVE DIRECTORY (BOOK 02)</a:t>
            </a:r>
            <a:endParaRPr lang="en-US" sz="1100" dirty="0"/>
          </a:p>
        </p:txBody>
      </p:sp>
      <p:sp>
        <p:nvSpPr>
          <p:cNvPr id="7" name="Panel Active Directory (Book 02) list"/>
          <p:cNvSpPr txBox="1"/>
          <p:nvPr/>
        </p:nvSpPr>
        <p:spPr>
          <a:xfrm>
            <a:off x="73152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Traditional account: a user object, often svc-, a password that never expires</a:t>
            </a:r>
            <a:endParaRPr lang="en-US" sz="1550" dirty="0"/>
          </a:p>
          <a:p>
            <a:pPr marL="342900" indent="-342900">
              <a:spcAft>
                <a:spcPts val="400"/>
              </a:spcAft>
              <a:buSzPct val="100000"/>
              <a:buChar char="•"/>
            </a:pPr>
            <a:r>
              <a:rPr lang="en-US" sz="1550" dirty="0">
                <a:solidFill>
                  <a:srgbClr val="334155"/>
                </a:solidFill>
              </a:rPr>
              <a:t>MSA bound to one server; gMSA usable by several</a:t>
            </a:r>
            <a:endParaRPr lang="en-US" sz="1550" dirty="0"/>
          </a:p>
          <a:p>
            <a:pPr marL="342900" indent="-342900">
              <a:spcAft>
                <a:spcPts val="400"/>
              </a:spcAft>
              <a:buSzPct val="100000"/>
              <a:buChar char="•"/>
            </a:pPr>
            <a:r>
              <a:rPr lang="en-US" sz="1550" dirty="0">
                <a:solidFill>
                  <a:srgbClr val="334155"/>
                </a:solidFill>
              </a:rPr>
              <a:t>dMSA on Windows Server 2025: replaces a traditional account, disables its password, ties authentication to mapped machines</a:t>
            </a:r>
            <a:endParaRPr lang="en-US" sz="1550" dirty="0"/>
          </a:p>
          <a:p>
            <a:pPr marL="342900" indent="-342900">
              <a:spcAft>
                <a:spcPts val="400"/>
              </a:spcAft>
              <a:buSzPct val="100000"/>
              <a:buChar char="•"/>
            </a:pPr>
            <a:r>
              <a:rPr lang="en-US" sz="1550" dirty="0">
                <a:solidFill>
                  <a:srgbClr val="334155"/>
                </a:solidFill>
              </a:rPr>
              <a:t>No attribute marks a service account: Learn's criteria (an SPN, delegation, a password that never expires) "might not find accounts"</a:t>
            </a:r>
            <a:endParaRPr lang="en-US" sz="1550" dirty="0"/>
          </a:p>
        </p:txBody>
      </p:sp>
      <p:sp>
        <p:nvSpPr>
          <p:cNvPr id="8" name="Panel Microsoft Entra (Book 04)" descr="">
            <a:extLst>
              <a:ext uri="{C183D7F6-B498-43B3-948B-1728B52AA6E4}">
                <adec:decorative xmlns:adec="http://schemas.microsoft.com/office/drawing/2017/decorative" val="1"/>
              </a:ext>
            </a:extLst>
          </p:cNvPr>
          <p:cNvSpPr/>
          <p:nvPr/>
        </p:nvSpPr>
        <p:spPr>
          <a:xfrm>
            <a:off x="6240780" y="1325880"/>
            <a:ext cx="5417820" cy="3476244"/>
          </a:xfrm>
          <a:prstGeom prst="roundRect">
            <a:avLst>
              <a:gd name="adj" fmla="val 210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Microsoft Entra (Book 04)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MICROSOFT ENTRA (BOOK 04)</a:t>
            </a:r>
            <a:endParaRPr lang="en-US" sz="1100" dirty="0"/>
          </a:p>
        </p:txBody>
      </p:sp>
      <p:sp>
        <p:nvSpPr>
          <p:cNvPr id="10" name="Panel Microsoft Entra (Book 04) list"/>
          <p:cNvSpPr txBox="1"/>
          <p:nvPr/>
        </p:nvSpPr>
        <p:spPr>
          <a:xfrm>
            <a:off x="642366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Consent and Microsoft's own services create service principals: the register is always longer than the apps anyone asked for</a:t>
            </a:r>
            <a:endParaRPr lang="en-US" sz="1550" dirty="0"/>
          </a:p>
          <a:p>
            <a:pPr marL="342900" indent="-342900">
              <a:spcAft>
                <a:spcPts val="400"/>
              </a:spcAft>
              <a:buSzPct val="100000"/>
              <a:buChar char="•"/>
            </a:pPr>
            <a:r>
              <a:rPr lang="en-US" sz="1550" dirty="0">
                <a:solidFill>
                  <a:srgbClr val="334155"/>
                </a:solidFill>
              </a:rPr>
              <a:t>servicePrincipalType: Application, ManagedIdentity, Legacy, ServiceIdentity (agent identity), SocialIdp</a:t>
            </a:r>
            <a:endParaRPr lang="en-US" sz="1550" dirty="0"/>
          </a:p>
          <a:p>
            <a:pPr marL="342900" indent="-342900">
              <a:spcAft>
                <a:spcPts val="400"/>
              </a:spcAft>
              <a:buSzPct val="100000"/>
              <a:buChar char="•"/>
            </a:pPr>
            <a:r>
              <a:rPr lang="en-US" sz="1550" dirty="0">
                <a:solidFill>
                  <a:srgbClr val="334155"/>
                </a:solidFill>
              </a:rPr>
              <a:t>A managed identity's resource ID is in alternativeNames</a:t>
            </a:r>
            <a:endParaRPr lang="en-US" sz="1550" dirty="0"/>
          </a:p>
          <a:p>
            <a:pPr marL="342900" indent="-342900">
              <a:spcAft>
                <a:spcPts val="400"/>
              </a:spcAft>
              <a:buSzPct val="100000"/>
              <a:buChar char="•"/>
            </a:pPr>
            <a:r>
              <a:rPr lang="en-US" sz="1550" dirty="0">
                <a:solidFill>
                  <a:srgbClr val="334155"/>
                </a:solidFill>
              </a:rPr>
              <a:t>A user-assigned identity holds federated credentials in Resource Manager; list applications also returns agent identity blueprints</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user-based service accounts; dMSA overview; servicePrincipals (Bicep); Update servicePrincipal; FIC List; List applications. Chapter 01, “What the register has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directory reads, nine Graph, one Resource Manager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78224"/>
        </p:xfrm>
        <a:graphic>
          <a:graphicData uri="http://schemas.openxmlformats.org/drawingml/2006/table">
            <a:tbl>
              <a:tblPr firstRow="1" bandRow="1"/>
              <a:tblGrid>
                <a:gridCol w="2834640"/>
                <a:gridCol w="5029200"/>
                <a:gridCol w="32461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this one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User accounts used as services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Get-ADUser -LDAPFilter, Learn's three criteria and the naming convention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server-side query instead of three reads of every user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MSAs, gMSAs and dMSAs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Get-ADServiceAccount -Filter *, with who may retrieve each password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Learn's command for managed service accounts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App registrations, owners, federated credentials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GET /v1.0/applications, …/owners, …/federatedIdentityCredentials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Credentials and owners live on the registration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Service principals by type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GET /v1.0/servicePrincipals; owners of legacy ones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Every application, managed identity, legacy app and agent identity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Graph application permissions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Graph's own service principal for its app roles, then …/appRoleAssignedTo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Which service principal holds which Graph permission, by name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Delegated consent grants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GET /v1.0/oauth2PermissionGrants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Tenant-wide consent (AllPrincipals) shows here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user-assigned identity's federated credentials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GET {resourceId}/federatedIdentityCredentials?api-version=2024-11-30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They live in Resource Manager, not Graph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Get-ADUser; Get-ADServiceAccount; gMSAs; List applications, owners, FICs, servicePrincipals, appRoleAssignedTo, grants; FIC List (ARM). Chapter 01, “What the register…”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Risk, candidate target and stale lead: the program's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Risk, the candidate target and the stale lead come from the program, not from Microsoft (design guidance).</a:t>
            </a:r>
            <a:endParaRPr lang="en-US" sz="1800" dirty="0"/>
          </a:p>
        </p:txBody>
      </p:sp>
      <p:sp>
        <p:nvSpPr>
          <p:cNvPr id="6" name="Panel The rules" descr="">
            <a:extLst>
              <a:ext uri="{C183D7F6-B498-43B3-948B-1728B52AA6E4}">
                <adec:decorative xmlns:adec="http://schemas.microsoft.com/office/drawing/2017/decorative" val="1"/>
              </a:ext>
            </a:extLst>
          </p:cNvPr>
          <p:cNvSpPr/>
          <p:nvPr/>
        </p:nvSpPr>
        <p:spPr>
          <a:xfrm>
            <a:off x="548640" y="2112264"/>
            <a:ext cx="5417820" cy="2828544"/>
          </a:xfrm>
          <a:prstGeom prst="roundRect">
            <a:avLst>
              <a:gd name="adj" fmla="val 258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The rules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RULES</a:t>
            </a:r>
            <a:endParaRPr lang="en-US" sz="1100" dirty="0"/>
          </a:p>
        </p:txBody>
      </p:sp>
      <p:sp>
        <p:nvSpPr>
          <p:cNvPr id="8" name="Panel The rules list"/>
          <p:cNvSpPr txBox="1"/>
          <p:nvPr/>
        </p:nvSpPr>
        <p:spPr>
          <a:xfrm>
            <a:off x="731520" y="2523744"/>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Plan: HIGH is "password never expires, over-privileged"</a:t>
            </a:r>
            <a:endParaRPr lang="en-US" sz="1600" dirty="0"/>
          </a:p>
          <a:p>
            <a:pPr marL="342900" indent="-342900">
              <a:spcAft>
                <a:spcPts val="400"/>
              </a:spcAft>
              <a:buSzPct val="100000"/>
              <a:buChar char="•"/>
            </a:pPr>
            <a:r>
              <a:rPr lang="en-US" sz="1600" dirty="0">
                <a:solidFill>
                  <a:srgbClr val="334155"/>
                </a:solidFill>
              </a:rPr>
              <a:t>Book 02 adds a password unchanged for more than 365 days; stale at 90 days</a:t>
            </a:r>
            <a:endParaRPr lang="en-US" sz="1600" dirty="0"/>
          </a:p>
          <a:p>
            <a:pPr marL="342900" indent="-342900">
              <a:spcAft>
                <a:spcPts val="400"/>
              </a:spcAft>
              <a:buSzPct val="100000"/>
              <a:buChar char="•"/>
            </a:pPr>
            <a:r>
              <a:rPr lang="en-US" sz="1600" dirty="0">
                <a:solidFill>
                  <a:srgbClr val="334155"/>
                </a:solidFill>
              </a:rPr>
              <a:t>Kept in config/register.json</a:t>
            </a:r>
            <a:endParaRPr lang="en-US" sz="1600" dirty="0"/>
          </a:p>
          <a:p>
            <a:pPr marL="342900" indent="-342900">
              <a:spcAft>
                <a:spcPts val="400"/>
              </a:spcAft>
              <a:buSzPct val="100000"/>
              <a:buChar char="•"/>
            </a:pPr>
            <a:r>
              <a:rPr lang="en-US" sz="1600" dirty="0">
                <a:solidFill>
                  <a:srgbClr val="334155"/>
                </a:solidFill>
              </a:rPr>
              <a:t>"Over-privileged" read as a privileged AD group, unconstrained delegation, or a high-privilege Graph application permission</a:t>
            </a:r>
            <a:endParaRPr lang="en-US" sz="1600" dirty="0"/>
          </a:p>
        </p:txBody>
      </p:sp>
      <p:sp>
        <p:nvSpPr>
          <p:cNvPr id="9" name="Panel Why stale is only a lead" descr="">
            <a:extLst>
              <a:ext uri="{C183D7F6-B498-43B3-948B-1728B52AA6E4}">
                <adec:decorative xmlns:adec="http://schemas.microsoft.com/office/drawing/2017/decorative" val="1"/>
              </a:ext>
            </a:extLst>
          </p:cNvPr>
          <p:cNvSpPr/>
          <p:nvPr/>
        </p:nvSpPr>
        <p:spPr>
          <a:xfrm>
            <a:off x="6240780" y="2112264"/>
            <a:ext cx="5417820" cy="2828544"/>
          </a:xfrm>
          <a:prstGeom prst="roundRect">
            <a:avLst>
              <a:gd name="adj" fmla="val 258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Panel Why stale is only a lead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WHY STALE IS ONLY A LEAD</a:t>
            </a:r>
            <a:endParaRPr lang="en-US" sz="1100" dirty="0"/>
          </a:p>
        </p:txBody>
      </p:sp>
      <p:sp>
        <p:nvSpPr>
          <p:cNvPr id="11" name="Panel Why stale is only a lead list"/>
          <p:cNvSpPr txBox="1"/>
          <p:nvPr/>
        </p:nvSpPr>
        <p:spPr>
          <a:xfrm>
            <a:off x="6423660" y="2523744"/>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A stale account is a </a:t>
            </a:r>
            <a:pPr indent="0" marL="0">
              <a:spcAft>
                <a:spcPts val="400"/>
              </a:spcAft>
              <a:buNone/>
            </a:pPr>
            <a:r>
              <a:rPr lang="en-US" sz="1600" b="1" dirty="0">
                <a:solidFill>
                  <a:srgbClr val="1F2A44"/>
                </a:solidFill>
              </a:rPr>
              <a:t>lead only</a:t>
            </a:r>
            <a:endParaRPr lang="en-US" sz="1600" dirty="0"/>
          </a:p>
          <a:p>
            <a:pPr marL="342900" indent="-342900">
              <a:spcAft>
                <a:spcPts val="400"/>
              </a:spcAft>
              <a:buSzPct val="100000"/>
              <a:buChar char="•"/>
            </a:pPr>
            <a:r>
              <a:rPr lang="en-US" sz="1600" dirty="0">
                <a:solidFill>
                  <a:srgbClr val="334155"/>
                </a:solidFill>
              </a:rPr>
              <a:t>lastLogonTimestamp is updated only when the stored value is older than the sync interval</a:t>
            </a:r>
            <a:endParaRPr lang="en-US" sz="1600" dirty="0"/>
          </a:p>
          <a:p>
            <a:pPr marL="342900" indent="-342900">
              <a:spcAft>
                <a:spcPts val="400"/>
              </a:spcAft>
              <a:buSzPct val="100000"/>
              <a:buChar char="•"/>
            </a:pPr>
            <a:r>
              <a:rPr lang="en-US" sz="1600" dirty="0">
                <a:solidFill>
                  <a:srgbClr val="334155"/>
                </a:solidFill>
              </a:rPr>
              <a:t>Risk register: "confirm stale leads against domain controller and Entra ID sign-in logs before retiring anything"</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Last-Logon-Timestamp attribute; project plan and risk register; Book 02, Ch 09. Chapter 01, “What the register has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Learn gives you, and the pinned copies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Learn's procedure and script" descr="">
            <a:extLst>
              <a:ext uri="{C183D7F6-B498-43B3-948B-1728B52AA6E4}">
                <adec:decorative xmlns:adec="http://schemas.microsoft.com/office/drawing/2017/decorative" val="1"/>
              </a:ext>
            </a:extLst>
          </p:cNvPr>
          <p:cNvSpPr/>
          <p:nvPr/>
        </p:nvSpPr>
        <p:spPr>
          <a:xfrm>
            <a:off x="548640" y="1325880"/>
            <a:ext cx="5634533" cy="3685032"/>
          </a:xfrm>
          <a:prstGeom prst="roundRect">
            <a:avLst>
              <a:gd name="adj" fmla="val 198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Learn&amp;apos;s procedure and script label"/>
          <p:cNvSpPr txBox="1"/>
          <p:nvPr/>
        </p:nvSpPr>
        <p:spPr>
          <a:xfrm>
            <a:off x="731520" y="1435608"/>
            <a:ext cx="5268773" cy="274320"/>
          </a:xfrm>
          <a:prstGeom prst="rect">
            <a:avLst/>
          </a:prstGeom>
          <a:noFill/>
          <a:ln/>
        </p:spPr>
        <p:txBody>
          <a:bodyPr wrap="square" lIns="0" tIns="0" rIns="0" bIns="0" rtlCol="0" anchor="t"/>
          <a:lstStyle/>
          <a:p>
            <a:pPr indent="0" marL="0">
              <a:buNone/>
            </a:pPr>
            <a:r>
              <a:rPr lang="en-US" sz="1100" b="1" spc="50" kern="0" dirty="0">
                <a:solidFill>
                  <a:srgbClr val="64748B"/>
                </a:solidFill>
              </a:rPr>
              <a:t>LEARN'S PROCEDURE AND SCRIPT</a:t>
            </a:r>
            <a:endParaRPr lang="en-US" sz="1100" dirty="0"/>
          </a:p>
        </p:txBody>
      </p:sp>
      <p:sp>
        <p:nvSpPr>
          <p:cNvPr id="7" name="Panel Learn's procedure and script list"/>
          <p:cNvSpPr txBox="1"/>
          <p:nvPr/>
        </p:nvSpPr>
        <p:spPr>
          <a:xfrm>
            <a:off x="731520" y="1737360"/>
            <a:ext cx="5314493"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User-based service accounts: Get-ADObject for delegation; Get-ADUser -Filter * for SPNs and passwords that never expire</a:t>
            </a:r>
            <a:endParaRPr lang="en-US" sz="1500" dirty="0"/>
          </a:p>
          <a:p>
            <a:pPr marL="342900" indent="-342900">
              <a:spcAft>
                <a:spcPts val="400"/>
              </a:spcAft>
              <a:buSzPct val="100000"/>
              <a:buChar char="•"/>
            </a:pPr>
            <a:r>
              <a:rPr lang="en-US" sz="1500" dirty="0">
                <a:solidFill>
                  <a:srgbClr val="334155"/>
                </a:solidFill>
              </a:rPr>
              <a:t>gMSAs: Get-ADServiceAccount -Filter *, then filtered by object class</a:t>
            </a:r>
            <a:endParaRPr lang="en-US" sz="1500" dirty="0"/>
          </a:p>
          <a:p>
            <a:pPr marL="342900" indent="-342900">
              <a:spcAft>
                <a:spcPts val="400"/>
              </a:spcAft>
              <a:buSzPct val="100000"/>
              <a:buChar char="•"/>
            </a:pPr>
            <a:r>
              <a:rPr lang="en-US" sz="1500" dirty="0">
                <a:solidFill>
                  <a:srgbClr val="334155"/>
                </a:solidFill>
              </a:rPr>
              <a:t>Service principals: Get-MgServicePrincipal -All:$true, and a tag filter "to find multi-tenant apps"</a:t>
            </a:r>
            <a:endParaRPr lang="en-US" sz="1500" dirty="0"/>
          </a:p>
          <a:p>
            <a:pPr marL="342900" indent="-342900">
              <a:spcAft>
                <a:spcPts val="400"/>
              </a:spcAft>
              <a:buSzPct val="100000"/>
              <a:buChar char="•"/>
            </a:pPr>
            <a:r>
              <a:rPr lang="en-US" sz="1500" dirty="0">
                <a:solidFill>
                  <a:srgbClr val="334155"/>
                </a:solidFill>
              </a:rPr>
              <a:t>Govern on-premises accounts: owner, purpose, permissions, CMDB links, risk, lifetime</a:t>
            </a:r>
            <a:endParaRPr lang="en-US" sz="1500" dirty="0"/>
          </a:p>
          <a:p>
            <a:pPr marL="342900" indent="-342900">
              <a:spcAft>
                <a:spcPts val="400"/>
              </a:spcAft>
              <a:buSzPct val="100000"/>
              <a:buChar char="•"/>
            </a:pPr>
            <a:r>
              <a:rPr lang="en-US" sz="1500" dirty="0">
                <a:solidFill>
                  <a:srgbClr val="334155"/>
                </a:solidFill>
              </a:rPr>
              <a:t>Export script: Application.Read.All, Get-MgApplication -All, one CSV row per secret and certificate, owners from Get-MgApplicationOwner</a:t>
            </a:r>
            <a:endParaRPr lang="en-US" sz="1500" dirty="0"/>
          </a:p>
        </p:txBody>
      </p:sp>
      <p:sp>
        <p:nvSpPr>
          <p:cNvPr id="8" name="Panel The pinned copies" descr="">
            <a:extLst>
              <a:ext uri="{C183D7F6-B498-43B3-948B-1728B52AA6E4}">
                <adec:decorative xmlns:adec="http://schemas.microsoft.com/office/drawing/2017/decorative" val="1"/>
              </a:ext>
            </a:extLst>
          </p:cNvPr>
          <p:cNvSpPr/>
          <p:nvPr/>
        </p:nvSpPr>
        <p:spPr>
          <a:xfrm>
            <a:off x="6457493" y="1325880"/>
            <a:ext cx="5201107" cy="3685032"/>
          </a:xfrm>
          <a:prstGeom prst="roundRect">
            <a:avLst>
              <a:gd name="adj" fmla="val 198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ies label"/>
          <p:cNvSpPr txBox="1"/>
          <p:nvPr/>
        </p:nvSpPr>
        <p:spPr>
          <a:xfrm>
            <a:off x="6640373" y="1435608"/>
            <a:ext cx="4835347"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COPIES</a:t>
            </a:r>
            <a:endParaRPr lang="en-US" sz="1100" dirty="0"/>
          </a:p>
        </p:txBody>
      </p:sp>
      <p:sp>
        <p:nvSpPr>
          <p:cNvPr id="10" name="Panel The pinned copies list"/>
          <p:cNvSpPr txBox="1"/>
          <p:nvPr/>
        </p:nvSpPr>
        <p:spPr>
          <a:xfrm>
            <a:off x="6640373" y="1737360"/>
            <a:ext cx="4881067"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Pages' source pinned unmodified in entra-service-account-pages and entra-app-credentials-export-page</a:t>
            </a:r>
            <a:endParaRPr lang="en-US" sz="1500" dirty="0"/>
          </a:p>
          <a:p>
            <a:pPr marL="342900" indent="-342900">
              <a:spcAft>
                <a:spcPts val="400"/>
              </a:spcAft>
              <a:buSzPct val="100000"/>
              <a:buChar char="•"/>
            </a:pPr>
            <a:r>
              <a:rPr lang="en-US" sz="1500" dirty="0">
                <a:solidFill>
                  <a:srgbClr val="334155"/>
                </a:solidFill>
              </a:rPr>
              <a:t>MicrosoftDocs/entra-docs at commit 7f78b50 (Oct 30, 2026), MIT licenses</a:t>
            </a:r>
            <a:endParaRPr lang="en-US" sz="1500" dirty="0"/>
          </a:p>
          <a:p>
            <a:pPr marL="342900" indent="-342900">
              <a:spcAft>
                <a:spcPts val="400"/>
              </a:spcAft>
              <a:buSzPct val="100000"/>
              <a:buChar char="•"/>
            </a:pPr>
            <a:r>
              <a:rPr lang="en-US" sz="1500" dirty="0">
                <a:solidFill>
                  <a:srgbClr val="334155"/>
                </a:solidFill>
              </a:rPr>
              <a:t>snapshot.json holds each file's SHA-256; a unit test checks it; the weekly source watch reports new commits</a:t>
            </a:r>
            <a:endParaRPr lang="en-US" sz="1500" dirty="0"/>
          </a:p>
          <a:p>
            <a:pPr marL="342900" indent="-342900">
              <a:spcAft>
                <a:spcPts val="400"/>
              </a:spcAft>
              <a:buSzPct val="100000"/>
              <a:buChar char="•"/>
            </a:pPr>
            <a:r>
              <a:rPr lang="en-US" sz="1500" dirty="0">
                <a:solidFill>
                  <a:srgbClr val="334155"/>
                </a:solidFill>
              </a:rPr>
              <a:t>LearnSampleHarness.ps1 runs them unmodified against stand-ins; an unknown filter throws</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user-based service accounts; gMSAs; Securing service principals; Govern on-prem accounts; Export secrets and certificates; entra-docs 7f78b50. Chapter 01, “Start…”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miss in Active Directory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78224"/>
        </p:xfrm>
        <a:graphic>
          <a:graphicData uri="http://schemas.openxmlformats.org/drawingml/2006/table">
            <a:tbl>
              <a:tblPr firstRow="1" bandRow="1"/>
              <a:tblGrid>
                <a:gridCol w="3749040"/>
                <a:gridCol w="3657600"/>
                <a:gridCol w="37033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sample,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Three criteria: SPNs, delegation, passwords that never expire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as the model, plus Learn's naming convention and description attribute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Reads every user with -Filter *, filters on the client, three queries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Three full reads of the domain; an account in two lists appears twice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Get-ADUser -LDAPFilter query, one row per account, DetectedBy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Password-never-expires query returns a person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person lands on a service account list, or the reverse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marked (NPI-INV-08) for confirmation before Chapter 02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Delegation query returns computer accounts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server sits among the service accounts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User objects only; computers left to Chapter 06 (research gaps, row 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 last logon, password age or group membership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 stale lead, no "over-privileged"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LastLogonDate, PasswordLastSet, MemberOf, delegation flags, same query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dMSA comes back unlabeled; the gMSA filter drops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dMSAs, the type Book 02 keeps, go unclassified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MSA, gMSA, dMSA by object class; others NPI-INV-09 (row 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 PrincipalsAllowedToRetrieveManagedPassword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gMSA's blast radius is the hosts that can retrieve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Recorded in Hosts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user-based service accounts; Securing on-premises service accounts; gMSAs. Chapter 01, “What it leaves to you” (tests/MicrosoftSamples.Tests.ps1).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miss in Entra, and the verdict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51504"/>
        </p:xfrm>
        <a:graphic>
          <a:graphicData uri="http://schemas.openxmlformats.org/drawingml/2006/table">
            <a:tbl>
              <a:tblPr firstRow="1" bandRow="1"/>
              <a:tblGrid>
                <a:gridCol w="3749040"/>
                <a:gridCol w="3657600"/>
                <a:gridCol w="370332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Learn's sample, as published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it matters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 example adds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Tag filter "for multi-tenant apps" returns single-tenant apps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single-tenant app treated as a third party's, or the reverse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appOwnerOrganizationId vs the tenant ID; signInAudience (row 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Export prompts for its path with Read-Host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Can't run unattended or on a schedule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input a parameter; -OutputPath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Get-MgApplication per app; owners per credential, no -All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Extra calls; every owner page read isn't stated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paged list with $select; owners once per app; every page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No owners for an app with no credential; guests counted alike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 ownerless federated app is invisible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OwnerCount, OwnerIds, OwnerTypes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No expired credential flagged, though the page says it asks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Page and code disagree; noise an attacker can hide 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ExpiredCredentials and NPI-INV-05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No federated credentials, service principals, managed identities, permissions, grants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Most of Gate 0's register is missing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All of them, including Resource Manager's federated credentials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Connect-MgGraph with no environment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worldwide cloud, whatever the tenant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Explicit cloud, config/calls.json, a tenant ID check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160264"/>
            <a:ext cx="11109960" cy="588264"/>
          </a:xfrm>
          <a:prstGeom prst="rect">
            <a:avLst/>
          </a:prstGeom>
          <a:noFill/>
          <a:ln/>
        </p:spPr>
        <p:txBody>
          <a:bodyPr wrap="square" lIns="0" tIns="0" rIns="0" bIns="0" rtlCol="0" anchor="t"/>
          <a:lstStyle/>
          <a:p>
            <a:pPr indent="0" marL="0">
              <a:buNone/>
            </a:pPr>
            <a:r>
              <a:rPr lang="en-US" sz="1750" b="1" dirty="0">
                <a:solidFill>
                  <a:srgbClr val="1F2A44"/>
                </a:solidFill>
              </a:rPr>
              <a:t>Verdict: Learn's commands define what to look for; the export is the model for the credential columns. Don't run them as the register.</a:t>
            </a:r>
            <a:endParaRPr lang="en-US" sz="17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Securing service principals; Get-EntraServicePrincipal; Export secrets and certificates; Paging with the Graph SDKs. Chapter 01,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reader: five rules every call obeys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124712"/>
          </a:xfrm>
          <a:prstGeom prst="roundRect">
            <a:avLst>
              <a:gd name="adj" fmla="val 6504"/>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ONE READER, ONE TASK, ONE CLOUD: powershell/NpiCore/NpiCore.psm1</a:t>
            </a:r>
            <a:endParaRPr lang="en-US" sz="1050" dirty="0"/>
          </a:p>
        </p:txBody>
      </p:sp>
      <p:sp>
        <p:nvSpPr>
          <p:cNvPr id="7" name="Code"/>
          <p:cNvSpPr txBox="1"/>
          <p:nvPr/>
        </p:nvSpPr>
        <p:spPr>
          <a:xfrm>
            <a:off x="713232" y="1664208"/>
            <a:ext cx="10835640" cy="740664"/>
          </a:xfrm>
          <a:prstGeom prst="rect">
            <a:avLst/>
          </a:prstGeom>
          <a:noFill/>
          <a:ln/>
        </p:spPr>
        <p:txBody>
          <a:bodyPr wrap="square" lIns="0" tIns="0" rIns="0" bIns="0" rtlCol="0" anchor="t"/>
          <a:lstStyle/>
          <a:p>
            <a:pPr indent="0" marL="0">
              <a:buNone/>
            </a:pPr>
            <a:r>
              <a:rPr lang="en-US" sz="1400" dirty="0">
                <a:solidFill>
                  <a:srgbClr val="334155"/>
                </a:solidFill>
                <a:latin typeface="Consolas" pitchFamily="34" charset="0"/>
                <a:ea typeface="Consolas" pitchFamily="34" charset="-122"/>
                <a:cs typeface="Consolas" pitchFamily="34" charset="-120"/>
              </a:rPr>
              <a:t>New-NpiReader -Cloud gcc -Task inventory -Invoke &lt;script block&gt; -AdInvoke &lt;script block&gt;</a:t>
            </a:r>
            <a:endParaRPr lang="en-US" sz="1400" dirty="0"/>
          </a:p>
          <a:p>
            <a:pPr indent="0" marL="0">
              <a:buNone/>
            </a:pPr>
            <a:r>
              <a:rPr lang="en-US" sz="1400" dirty="0">
                <a:solidFill>
                  <a:srgbClr val="0F766E"/>
                </a:solidFill>
                <a:latin typeface="Consolas" pitchFamily="34" charset="0"/>
                <a:ea typeface="Consolas" pitchFamily="34" charset="-122"/>
                <a:cs typeface="Consolas" pitchFamily="34" charset="-120"/>
              </a:rPr>
              <a:t># live:  New-NpiLiveInvoker, New-NpiLiveAdInvoker</a:t>
            </a:r>
            <a:endParaRPr lang="en-US" sz="1400" dirty="0"/>
          </a:p>
          <a:p>
            <a:pPr indent="0" marL="0">
              <a:buNone/>
            </a:pPr>
            <a:r>
              <a:rPr lang="en-US" sz="1400" dirty="0">
                <a:solidFill>
                  <a:srgbClr val="0F766E"/>
                </a:solidFill>
                <a:latin typeface="Consolas" pitchFamily="34" charset="0"/>
                <a:ea typeface="Consolas" pitchFamily="34" charset="-122"/>
                <a:cs typeface="Consolas" pitchFamily="34" charset="-120"/>
              </a:rPr>
              <a:t># labs:  New-NpiFixtureInvoker, New-NpiFixtureAdInvoker</a:t>
            </a:r>
            <a:endParaRPr lang="en-US" sz="14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2633472"/>
          <a:ext cx="11109960" cy="2868168"/>
        </p:xfrm>
        <a:graphic>
          <a:graphicData uri="http://schemas.openxmlformats.org/drawingml/2006/table">
            <a:tbl>
              <a:tblPr firstRow="1" bandRow="1"/>
              <a:tblGrid>
                <a:gridCol w="2011680"/>
                <a:gridCol w="90982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Rule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enforces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Only declared calls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config/calls.json lists each call, its permission, role or right, stage and Learn page; an undeclared call throws before anything is sent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Reads only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 and only declared Get-AD* cmdlets named by the call list, never by the caller; a write task can't have a reader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One host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URL, every next link, on the cloud's own Graph or Resource Manager host, or the token isn't sent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One tenant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live invoker refuses a session in another cloud or another tenant than -TenantId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Every page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Collections followed to the end; the fake serves pages of two, so tests exercise paging everywhere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(NpiCore, config/calls.json); Learn, Paging with the Graph SDKs. Chapter 01, “The code,” “The reader.”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register: one row, the same columns, every type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Get-NpiRegister" descr="">
            <a:extLst>
              <a:ext uri="{C183D7F6-B498-43B3-948B-1728B52AA6E4}">
                <adec:decorative xmlns:adec="http://schemas.microsoft.com/office/drawing/2017/decorative" val="1"/>
              </a:ext>
            </a:extLst>
          </p:cNvPr>
          <p:cNvSpPr/>
          <p:nvPr/>
        </p:nvSpPr>
        <p:spPr>
          <a:xfrm>
            <a:off x="548640" y="1325880"/>
            <a:ext cx="5417820" cy="3685032"/>
          </a:xfrm>
          <a:prstGeom prst="roundRect">
            <a:avLst>
              <a:gd name="adj" fmla="val 198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Get-NpiRegister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GET-NPIREGISTER</a:t>
            </a:r>
            <a:endParaRPr lang="en-US" sz="1100" dirty="0"/>
          </a:p>
        </p:txBody>
      </p:sp>
      <p:sp>
        <p:nvSpPr>
          <p:cNvPr id="7" name="Panel Get-NpiRegister list"/>
          <p:cNvSpPr txBox="1"/>
          <p:nvPr/>
        </p:nvSpPr>
        <p:spPr>
          <a:xfrm>
            <a:off x="73152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Identity: ad:&lt;objectGUID&gt;, app:&lt;appId&gt;, sp:&lt;id&gt; or mi:&lt;id&gt;; source, type, name, how found</a:t>
            </a:r>
            <a:endParaRPr lang="en-US" sz="1500" dirty="0"/>
          </a:p>
          <a:p>
            <a:pPr marL="342900" indent="-342900">
              <a:spcAft>
                <a:spcPts val="400"/>
              </a:spcAft>
              <a:buSzPct val="100000"/>
              <a:buChar char="•"/>
            </a:pPr>
            <a:r>
              <a:rPr lang="en-US" sz="1500" dirty="0">
                <a:solidFill>
                  <a:srgbClr val="334155"/>
                </a:solidFill>
              </a:rPr>
              <a:t>AD: password age, last logon, SPNs, delegation, privileged groups, Hosts</a:t>
            </a:r>
            <a:endParaRPr lang="en-US" sz="1500" dirty="0"/>
          </a:p>
          <a:p>
            <a:pPr marL="342900" indent="-342900">
              <a:spcAft>
                <a:spcPts val="400"/>
              </a:spcAft>
              <a:buSzPct val="100000"/>
              <a:buChar char="•"/>
            </a:pPr>
            <a:r>
              <a:rPr lang="en-US" sz="1500" dirty="0">
                <a:solidFill>
                  <a:srgbClr val="334155"/>
                </a:solidFill>
              </a:rPr>
              <a:t>Entra: home tenant, sign-in audience, owners, secrets, certificates, expired, next expiry, credential kind; federated credentials</a:t>
            </a:r>
            <a:endParaRPr lang="en-US" sz="1500" dirty="0"/>
          </a:p>
          <a:p>
            <a:pPr marL="342900" indent="-342900">
              <a:spcAft>
                <a:spcPts val="400"/>
              </a:spcAft>
              <a:buSzPct val="100000"/>
              <a:buChar char="•"/>
            </a:pPr>
            <a:r>
              <a:rPr lang="en-US" sz="1500" dirty="0">
                <a:solidFill>
                  <a:srgbClr val="334155"/>
                </a:solidFill>
              </a:rPr>
              <a:t>Graph permissions (high-privilege flagged), delegated grants, tenant-wide consent</a:t>
            </a:r>
            <a:endParaRPr lang="en-US" sz="1500" dirty="0"/>
          </a:p>
          <a:p>
            <a:pPr marL="342900" indent="-342900">
              <a:spcAft>
                <a:spcPts val="400"/>
              </a:spcAft>
              <a:buSzPct val="100000"/>
              <a:buChar char="•"/>
            </a:pPr>
            <a:r>
              <a:rPr lang="en-US" sz="1500" dirty="0">
                <a:solidFill>
                  <a:srgbClr val="334155"/>
                </a:solidFill>
              </a:rPr>
              <a:t>Permissions on the registration row only; other tenants' service principals typed ExternalServicePrincipal</a:t>
            </a:r>
            <a:endParaRPr lang="en-US" sz="1500" dirty="0"/>
          </a:p>
        </p:txBody>
      </p:sp>
      <p:sp>
        <p:nvSpPr>
          <p:cNvPr id="8" name="Panel Risk, target, hand-off (design guidance)" descr="">
            <a:extLst>
              <a:ext uri="{C183D7F6-B498-43B3-948B-1728B52AA6E4}">
                <adec:decorative xmlns:adec="http://schemas.microsoft.com/office/drawing/2017/decorative" val="1"/>
              </a:ext>
            </a:extLst>
          </p:cNvPr>
          <p:cNvSpPr/>
          <p:nvPr/>
        </p:nvSpPr>
        <p:spPr>
          <a:xfrm>
            <a:off x="6240780" y="1325880"/>
            <a:ext cx="5417820" cy="3685032"/>
          </a:xfrm>
          <a:prstGeom prst="roundRect">
            <a:avLst>
              <a:gd name="adj" fmla="val 198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Risk, target, hand-off (design guida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RISK, TARGET, HAND-OFF (DESIGN GUIDANCE)</a:t>
            </a:r>
            <a:endParaRPr lang="en-US" sz="1100" dirty="0"/>
          </a:p>
        </p:txBody>
      </p:sp>
      <p:sp>
        <p:nvSpPr>
          <p:cNvPr id="10" name="Panel Risk, target, hand-off (design guidance) list"/>
          <p:cNvSpPr txBox="1"/>
          <p:nvPr/>
        </p:nvSpPr>
        <p:spPr>
          <a:xfrm>
            <a:off x="642366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HIGH: password never expires, unchanged over 365 days, privileged AD group, unconstrained delegation, high-privilege Graph permission</a:t>
            </a:r>
            <a:endParaRPr lang="en-US" sz="1500" dirty="0"/>
          </a:p>
          <a:p>
            <a:pPr marL="342900" indent="-342900">
              <a:spcAft>
                <a:spcPts val="400"/>
              </a:spcAft>
              <a:buSzPct val="100000"/>
              <a:buChar char="•"/>
            </a:pPr>
            <a:r>
              <a:rPr lang="en-US" sz="1500" dirty="0">
                <a:solidFill>
                  <a:srgbClr val="334155"/>
                </a:solidFill>
              </a:rPr>
              <a:t>MEDIUM: other enabled traditional accounts, MSAs, gMSAs, legacy service principals, any client secret; LOW otherwise</a:t>
            </a:r>
            <a:endParaRPr lang="en-US" sz="1500" dirty="0"/>
          </a:p>
          <a:p>
            <a:pPr marL="342900" indent="-342900">
              <a:spcAft>
                <a:spcPts val="400"/>
              </a:spcAft>
              <a:buSzPct val="100000"/>
              <a:buChar char="•"/>
            </a:pPr>
            <a:r>
              <a:rPr lang="en-US" sz="1500" dirty="0">
                <a:solidFill>
                  <a:srgbClr val="334155"/>
                </a:solidFill>
              </a:rPr>
              <a:t>Targets: Kerberos account to gMSA or dMSA; MSA to gMSA; app secret to managed identity, then federated credential, then certificate. Candidate only</a:t>
            </a:r>
            <a:endParaRPr lang="en-US" sz="1500" dirty="0"/>
          </a:p>
          <a:p>
            <a:pPr marL="342900" indent="-342900">
              <a:spcAft>
                <a:spcPts val="400"/>
              </a:spcAft>
              <a:buSzPct val="100000"/>
              <a:buChar char="•"/>
            </a:pPr>
            <a:r>
              <a:rPr lang="en-US" sz="1500" dirty="0">
                <a:solidFill>
                  <a:srgbClr val="334155"/>
                </a:solidFill>
              </a:rPr>
              <a:t>MSSQLSvc/ SPNs and SQL/LDAP-bind names go to data-platform-handoff.csv</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(NpiInventory); Book 02, Ch 09; Book 06, Ch 09. Chapter 01, “The register,” “Risk, targets, stale leads and the hand-off.”</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findings, the manifest and the tests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73780"/>
        </p:xfrm>
        <a:graphic>
          <a:graphicData uri="http://schemas.openxmlformats.org/drawingml/2006/table">
            <a:tbl>
              <a:tblPr firstRow="1" bandRow="1"/>
              <a:tblGrid>
                <a:gridCol w="1325880"/>
                <a:gridCol w="1005840"/>
                <a:gridCol w="5486400"/>
                <a:gridCol w="329184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flags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NPI-INV-01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HIGH-risk identity, with its reasons and candidate target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Plan, N2.2 and Gate 0; Book 02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NPI-INV-02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stale lead: enabled AD account, no logon in 90 days, to confirm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Book 02, Ch 09; Learn, lastLogonTimestamp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NPI-INV-03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app registration or legacy service principal with fewer than two owners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Book 02, Ch 09; Learn: at least two owners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NPI-INV-04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client secret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Book 04, Ch 05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NPI-INV-05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expired credential still on the object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Book 04, Ch 05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NPI-INV-06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delegated grant consented for all users (AllPrincipals)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 oAuth2PermissionGrant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NPI-INV-07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Info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SQL Server or LDAP-bind account handed to the Data Platform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Plan, N0.4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NPI-INV-08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Found only by a password that never expires: may be a person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 criteria find people too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NPI-INV-09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object class or service principal type the register doesn't classify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082540"/>
            <a:ext cx="11109960" cy="573024"/>
          </a:xfrm>
          <a:prstGeom prst="rect">
            <a:avLst/>
          </a:prstGeom>
          <a:noFill/>
          <a:ln/>
        </p:spPr>
        <p:txBody>
          <a:bodyPr wrap="square" lIns="0" tIns="0" rIns="0" bIns="0" rtlCol="0" anchor="t"/>
          <a:lstStyle/>
          <a:p>
            <a:pPr indent="0" marL="0">
              <a:buNone/>
            </a:pPr>
            <a:r>
              <a:rPr lang="en-US" sz="1700" b="1" dirty="0">
                <a:solidFill>
                  <a:srgbClr val="1F2A44"/>
                </a:solidFill>
              </a:rPr>
              <a:t>Stable IDs &lt;rule&gt;:&lt;identity&gt;. manifest.json: cloud, tenant ID, domain, every request, a SHA-256 per file. 97 Pester tests, no network.</a:t>
            </a:r>
            <a:endParaRPr lang="en-US" sz="17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Last-Logon-Timestamp; enterprise application ownership; List oauth2PermissionGrants; user-based service accounts. Chapter 01, “The findings,” “The run and its manifest.”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it, who runs it, what it may read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386840"/>
          </a:xfrm>
          <a:prstGeom prst="roundRect">
            <a:avLst>
              <a:gd name="adj" fmla="val 527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3868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00" dirty="0">
                <a:solidFill>
                  <a:srgbClr val="334155"/>
                </a:solidFill>
              </a:rPr>
              <a:t>Build the project's read path; read PowerShell 7 and know what a service principal is</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386840"/>
          </a:xfrm>
          <a:prstGeom prst="roundRect">
            <a:avLst>
              <a:gd name="adj" fmla="val 52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3868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and AD engineers</a:t>
            </a:r>
            <a:endParaRPr lang="en-US" sz="1400" dirty="0"/>
          </a:p>
          <a:p>
            <a:pPr indent="0" marL="0">
              <a:spcAft>
                <a:spcPts val="300"/>
              </a:spcAft>
              <a:buNone/>
            </a:pPr>
            <a:r>
              <a:rPr lang="en-US" sz="1500" dirty="0">
                <a:solidFill>
                  <a:srgbClr val="334155"/>
                </a:solidFill>
              </a:rPr>
              <a:t>Run it; no tenant or domain needed until Lab 2</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386840"/>
          </a:xfrm>
          <a:prstGeom prst="roundRect">
            <a:avLst>
              <a:gd name="adj" fmla="val 52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3868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ISSOs</a:t>
            </a:r>
            <a:endParaRPr lang="en-US" sz="1400" dirty="0"/>
          </a:p>
          <a:p>
            <a:pPr indent="0" marL="0">
              <a:spcAft>
                <a:spcPts val="300"/>
              </a:spcAft>
              <a:buNone/>
            </a:pPr>
            <a:r>
              <a:rPr lang="en-US" sz="1500" dirty="0">
                <a:solidFill>
                  <a:srgbClr val="334155"/>
                </a:solidFill>
              </a:rPr>
              <a:t>Review it, and receive the files the manifest's hashes match</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895600"/>
          <a:ext cx="11109960" cy="3035808"/>
        </p:xfrm>
        <a:graphic>
          <a:graphicData uri="http://schemas.openxmlformats.org/drawingml/2006/table">
            <a:tbl>
              <a:tblPr firstRow="1" bandRow="1"/>
              <a:tblGrid>
                <a:gridCol w="3291840"/>
                <a:gridCol w="3657600"/>
                <a:gridCol w="4160520"/>
              </a:tblGrid>
              <a:tr h="5059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Call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Least-privileged permission, role or right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Delegated role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Get-ADUser, Get-ADServiceAccount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Default read of an authenticated domain user (research gaps, row 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Applications, owners, federated credentials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Application.Read.All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Directory Readers, Global Reader; federated credentials: owner, Cloud App or Application Admin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Service principals, owners, app role assignments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Application.Read.All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Directory Readers, Global Reader (not listed for app role assignments)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Delegated permission grants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Directory.Read.All: the broadest read held (row 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Global Reader, Directory Readers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User-assigned identity's federated credentials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Reader on the 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Get-ADUser; Get-ADServiceAccount; List applications, owners, FICs, servicePrincipals, owners, appRoleAssignedTo, grants. Chapter 01, “Goal and audience,” “The reader.”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samples, the permissions, the run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336292"/>
          </a:xfrm>
          <a:prstGeom prst="roundRect">
            <a:avLst>
              <a:gd name="adj" fmla="val 3131"/>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examples/non-person-identity</a:t>
            </a:r>
            <a:endParaRPr lang="en-US" sz="1050" dirty="0"/>
          </a:p>
        </p:txBody>
      </p:sp>
      <p:sp>
        <p:nvSpPr>
          <p:cNvPr id="7" name="Code"/>
          <p:cNvSpPr txBox="1"/>
          <p:nvPr/>
        </p:nvSpPr>
        <p:spPr>
          <a:xfrm>
            <a:off x="713232" y="1664208"/>
            <a:ext cx="10835640" cy="195224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Learn's samples against the stand-ins: PassedCount 20, FailedCount 0, NotRunCount 10</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Invoke-Pester -Path tests/MicrosoftSamples.Tests.ps1 -FullNameFilter '*Chapter 01*' -Output None -PassThru</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What the inventory needs: nothing ends in ReadWrite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 = Get-NpiRequiredPermission -Task inventory</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Application.Read.All, Directory.Read.All  |  Reader  |  Read (default for authenticated domain users)</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Run the inventory against the fictional estate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./Invoke-NpiInventory.ps1 -Cloud gcc -FixturePath tests/fixtures/estate.json -OutputPath out/inventory</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Register: 35 identities (AD 15, Entra 20); risk HIGH 8, LOW 19, MEDIUM 8</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Findings: 8 Finding, 11 Warn, 3 Info; 3 handed to the Data Platform plan</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384505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391820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063776"/>
            <a:ext cx="315407" cy="315407"/>
          </a:xfrm>
          <a:prstGeom prst="rect">
            <a:avLst/>
          </a:prstGeom>
        </p:spPr>
      </p:pic>
      <p:sp>
        <p:nvSpPr>
          <p:cNvPr id="11" name="Callout text"/>
          <p:cNvSpPr txBox="1"/>
          <p:nvPr/>
        </p:nvSpPr>
        <p:spPr>
          <a:xfrm>
            <a:off x="1600200" y="389991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Read the dMSA test: </a:t>
            </a:r>
            <a:pPr indent="0" marL="0">
              <a:buNone/>
            </a:pPr>
            <a:r>
              <a:rPr lang="en-US" sz="1750" dirty="0">
                <a:solidFill>
                  <a:srgbClr val="334155"/>
                </a:solidFill>
              </a:rPr>
              <a:t>Learn's command returns the dMSA, and nothing in the sample says what it is.</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(tests and fixtures, fictional). Chapter 01,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eight HIGH rows, the guards, the hand-off</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47872"/>
        </p:xfrm>
        <a:graphic>
          <a:graphicData uri="http://schemas.openxmlformats.org/drawingml/2006/table">
            <a:tbl>
              <a:tblPr firstRow="1" bandRow="1"/>
              <a:tblGrid>
                <a:gridCol w="3291840"/>
                <a:gridCol w="78181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svc-hrsync, svc-sqlprod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Password never expires, unchanged in 2800 days; candidate a gMSA or dMSA; svc-sqlprod also handed off</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svc-backup; gmsa-ops$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Backup Operators; Domain Admins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svc-oldftp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Password never expires; "verify use first", because it's also a stale lead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jdoe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Password never expires, found only by that criterion: NPI-INV-08 asks whether it's a person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svc-webfront; Mail Automation app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Unconstrained delegation; Directory.ReadWrite.All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svc-reports (absent)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Disabled: LOW, candidate retirement after confirmation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reader refuses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"Undeclared call 'graph-user' for task 'inventory'…"; "Unknown cloud 'GCC'. Use global, gcc, gcchigh or 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hand-off</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svc-sqlprod and gmsa-sql$ by MSSQLSvc/ SPNs; svc-ldapbind by name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056632"/>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Step 7, Invoke-Pester -Path tests: 513 passing; the manifest lists 36 requests (34 GETs, 2 AD reads). Keep out/inventory for Chapter 02.</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estate). Chapter 01, “Lab 1: fixtures, no tenant,” steps 4–7 and the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and a test domain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Register the app: </a:t>
            </a:r>
            <a:pPr indent="0" marL="0">
              <a:buNone/>
            </a:pPr>
            <a:r>
              <a:rPr lang="en-US" sz="1500" dirty="0">
                <a:solidFill>
                  <a:srgbClr val="334155"/>
                </a:solidFill>
              </a:rPr>
              <a:t>In the tenant's own cloud (for GCC, the worldwide Entra admin center), with a certificate, not a secret</a:t>
            </a:r>
            <a:endParaRPr lang="en-US" sz="1500" dirty="0"/>
          </a:p>
        </p:txBody>
      </p:sp>
      <p:sp>
        <p:nvSpPr>
          <p:cNvPr id="8" name="Step 2 dot" descr="">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Grant the two permissions: </a:t>
            </a:r>
            <a:pPr indent="0" marL="0">
              <a:buNone/>
            </a:pPr>
            <a:r>
              <a:rPr lang="en-US" sz="1500" dirty="0">
                <a:solidFill>
                  <a:srgbClr val="334155"/>
                </a:solidFill>
              </a:rPr>
              <a:t>From Lab 1, step 2, with admin consent, and nothing else; Reader on a resource group with one user-assigned identity and one federated credential</a:t>
            </a:r>
            <a:endParaRPr lang="en-US" sz="1500" dirty="0"/>
          </a:p>
        </p:txBody>
      </p:sp>
      <p:sp>
        <p:nvSpPr>
          <p:cNvPr id="11" name="Step 3 dot" descr="">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Run it: </a:t>
            </a:r>
            <a:pPr indent="0" marL="0">
              <a:buNone/>
            </a:pPr>
            <a:r>
              <a:rPr lang="en-US" sz="1500" dirty="0">
                <a:solidFill>
                  <a:srgbClr val="334155"/>
                </a:solidFill>
              </a:rPr>
              <a:t>On a domain-joined test host, as an ordinary domain user: Connect-MgGraph -Environment Global, Connect-AzAccount -Environment AzureCloud, then Invoke-NpiInventory.ps1 -Cloud gcc -TenantId -Domain</a:t>
            </a:r>
            <a:endParaRPr lang="en-US" sz="1500" dirty="0"/>
          </a:p>
        </p:txBody>
      </p:sp>
      <p:sp>
        <p:nvSpPr>
          <p:cNvPr id="14" name="Step 4 dot" descr="">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Check what the permissions assumed: </a:t>
            </a:r>
            <a:pPr indent="0" marL="0">
              <a:buNone/>
            </a:pPr>
            <a:r>
              <a:rPr lang="en-US" sz="1500" dirty="0">
                <a:solidFill>
                  <a:srgbClr val="334155"/>
                </a:solidFill>
              </a:rPr>
              <a:t>Federated credentials read on the app and the identity (rows 4, 7); a test dMSA comes back as dMSA; PasswordLastSet, LastLogonDate, MemberOf filled (rows 1, 2)</a:t>
            </a:r>
            <a:endParaRPr lang="en-US" sz="1500" dirty="0"/>
          </a:p>
        </p:txBody>
      </p:sp>
      <p:sp>
        <p:nvSpPr>
          <p:cNvPr id="17" name="Step 5 dot" descr="">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Cross-check Learn's lists: </a:t>
            </a:r>
            <a:pPr indent="0" marL="0">
              <a:buNone/>
            </a:pPr>
            <a:r>
              <a:rPr lang="en-US" sz="1500" dirty="0">
                <a:solidFill>
                  <a:srgbClr val="334155"/>
                </a:solidFill>
              </a:rPr>
              <a:t>Every app in App registrations, and every managed identity in Enterprise apps, is in register.csv</a:t>
            </a:r>
            <a:endParaRPr lang="en-US" sz="1500" dirty="0"/>
          </a:p>
        </p:txBody>
      </p:sp>
      <p:sp>
        <p:nvSpPr>
          <p:cNvPr id="20" name="Step 6 dot" descr="">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160520"/>
            <a:ext cx="10561320" cy="338328"/>
          </a:xfrm>
          <a:prstGeom prst="rect">
            <a:avLst/>
          </a:prstGeom>
          <a:noFill/>
          <a:ln/>
        </p:spPr>
        <p:txBody>
          <a:bodyPr wrap="square" lIns="0" tIns="0" rIns="0" bIns="0" rtlCol="0" anchor="t"/>
          <a:lstStyle/>
          <a:p>
            <a:pPr indent="0" marL="0">
              <a:buNone/>
            </a:pPr>
            <a:r>
              <a:rPr lang="en-US" sz="1500" b="1" dirty="0">
                <a:solidFill>
                  <a:srgbClr val="1F2A44"/>
                </a:solidFill>
              </a:rPr>
              <a:t>Back it out: </a:t>
            </a:r>
            <a:pPr indent="0" marL="0">
              <a:buNone/>
            </a:pPr>
            <a:r>
              <a:rPr lang="en-US" sz="1500" dirty="0">
                <a:solidFill>
                  <a:srgbClr val="334155"/>
                </a:solidFill>
              </a:rPr>
              <a:t>Remove Reader and the permissions, delete the app and its certificate, delete out/inventory-test</a:t>
            </a:r>
            <a:endParaRPr lang="en-US" sz="1500" dirty="0"/>
          </a:p>
        </p:txBody>
      </p:sp>
      <p:sp>
        <p:nvSpPr>
          <p:cNvPr id="23" name="Callout" descr="">
            <a:extLst>
              <a:ext uri="{C183D7F6-B498-43B3-948B-1728B52AA6E4}">
                <adec:decorative xmlns:adec="http://schemas.microsoft.com/office/drawing/2017/decorative" val="1"/>
              </a:ext>
            </a:extLst>
          </p:cNvPr>
          <p:cNvSpPr/>
          <p:nvPr/>
        </p:nvSpPr>
        <p:spPr>
          <a:xfrm>
            <a:off x="548640" y="468172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75488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900452"/>
            <a:ext cx="315407" cy="315407"/>
          </a:xfrm>
          <a:prstGeom prst="rect">
            <a:avLst/>
          </a:prstGeom>
        </p:spPr>
      </p:pic>
      <p:sp>
        <p:nvSpPr>
          <p:cNvPr id="26" name="Callout text"/>
          <p:cNvSpPr txBox="1"/>
          <p:nvPr/>
        </p:nvSpPr>
        <p:spPr>
          <a:xfrm>
            <a:off x="1600200" y="473659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a test subscription and a test domain, never production, with fictional people. The run only reads.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View the service principal of a managed identity; FIC List and Get; Setting up dMSAs. Chapter 01,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35780"/>
        </p:xfrm>
        <a:graphic>
          <a:graphicData uri="http://schemas.openxmlformats.org/drawingml/2006/table">
            <a:tbl>
              <a:tblPr firstRow="1" bandRow="1"/>
              <a:tblGrid>
                <a:gridCol w="3017520"/>
                <a:gridCol w="3657600"/>
                <a:gridCol w="443484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service account missed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owner, no decision; it outlives the domain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Three criteria plus naming and description in one query; MSAs read separately; Lab 2 cross-check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person treated as a service account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orphan rule disables someone's account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NPI-INV-08; Chapter 02 skips them until confirmed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stale account retired on a guess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quarterly job fails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Stale is a lead; the code never disables or deletes; Chapter 02 needs the governance officer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dMSA left unclassified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Chapter 06's Kerberos island list is short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Classified by object class; anything else NPI-INV-09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 app counted twice, or a third party's as 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Inflated HIGH counts; findings on apps you can't 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Permissions on the registration row; external service principals by home tenant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broad permission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ReadWrite granted "to make it work"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call list; a test pins the exact permissions, none ReadWrite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wrong cloud, tenant or domain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GCC High run reads graph.microsoft.com; a token to another tenant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Explicit cloud; host checked every page; -TenantId; -Domain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Throttling on credentials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keyCredentials: 150 requests a minute per tenant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paged list, never a call per app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register as a leak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It maps which accounts can do what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manifest names no one; Lab 2 deletes the output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01, “Dangers,” “Verified facts” (where Learn's pages differ); Learn, List applications (throttling); Get federatedIdentityCredential.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register" descr="">
            <a:extLst>
              <a:ext uri="{C183D7F6-B498-43B3-948B-1728B52AA6E4}">
                <adec:decorative xmlns:adec="http://schemas.microsoft.com/office/drawing/2017/decorative" val="1"/>
              </a:ext>
            </a:extLst>
          </p:cNvPr>
          <p:cNvSpPr/>
          <p:nvPr/>
        </p:nvSpPr>
        <p:spPr>
          <a:xfrm>
            <a:off x="548640" y="1325880"/>
            <a:ext cx="5417820" cy="3593592"/>
          </a:xfrm>
          <a:prstGeom prst="roundRect">
            <a:avLst>
              <a:gd name="adj" fmla="val 203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register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REGISTER</a:t>
            </a:r>
            <a:endParaRPr lang="en-US" sz="1100" dirty="0"/>
          </a:p>
        </p:txBody>
      </p:sp>
      <p:sp>
        <p:nvSpPr>
          <p:cNvPr id="7" name="Panel The register list"/>
          <p:cNvSpPr txBox="1"/>
          <p:nvPr/>
        </p:nvSpPr>
        <p:spPr>
          <a:xfrm>
            <a:off x="73152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Every service account, MSA, gMSA and dMSA in the test domain is in the register once; every "never expires only" account confirmed or removed</a:t>
            </a:r>
            <a:endParaRPr lang="en-US" sz="1450" dirty="0"/>
          </a:p>
          <a:p>
            <a:pPr marL="342900" indent="-342900">
              <a:spcAft>
                <a:spcPts val="400"/>
              </a:spcAft>
              <a:buSzPct val="100000"/>
              <a:buChar char="•"/>
            </a:pPr>
            <a:r>
              <a:rPr lang="en-US" sz="1450" dirty="0">
                <a:solidFill>
                  <a:srgbClr val="334155"/>
                </a:solidFill>
              </a:rPr>
              <a:t>Every app registration, service principal and managed identity in the admin center is there, with type and home tenant</a:t>
            </a:r>
            <a:endParaRPr lang="en-US" sz="1450" dirty="0"/>
          </a:p>
          <a:p>
            <a:pPr marL="342900" indent="-342900">
              <a:spcAft>
                <a:spcPts val="400"/>
              </a:spcAft>
              <a:buSzPct val="100000"/>
              <a:buChar char="•"/>
            </a:pPr>
            <a:r>
              <a:rPr lang="en-US" sz="1450" dirty="0">
                <a:solidFill>
                  <a:srgbClr val="334155"/>
                </a:solidFill>
              </a:rPr>
              <a:t>Every HIGH row (NPI-INV-01) listed for the first wave, with reasons</a:t>
            </a:r>
            <a:endParaRPr lang="en-US" sz="1450" dirty="0"/>
          </a:p>
          <a:p>
            <a:pPr marL="342900" indent="-342900">
              <a:spcAft>
                <a:spcPts val="400"/>
              </a:spcAft>
              <a:buSzPct val="100000"/>
              <a:buChar char="•"/>
            </a:pPr>
            <a:r>
              <a:rPr lang="en-US" sz="1450" dirty="0">
                <a:solidFill>
                  <a:srgbClr val="334155"/>
                </a:solidFill>
              </a:rPr>
              <a:t>Every stale lead checked against sign-in logs; nothing retired on the lead alone</a:t>
            </a:r>
            <a:endParaRPr lang="en-US" sz="1450" dirty="0"/>
          </a:p>
          <a:p>
            <a:pPr marL="342900" indent="-342900">
              <a:spcAft>
                <a:spcPts val="400"/>
              </a:spcAft>
              <a:buSzPct val="100000"/>
              <a:buChar char="•"/>
            </a:pPr>
            <a:r>
              <a:rPr lang="en-US" sz="1450" dirty="0">
                <a:solidFill>
                  <a:srgbClr val="334155"/>
                </a:solidFill>
              </a:rPr>
              <a:t>data-platform-handoff.csv has gone to the Data Platform plan</a:t>
            </a:r>
            <a:endParaRPr lang="en-US" sz="1450" dirty="0"/>
          </a:p>
        </p:txBody>
      </p:sp>
      <p:sp>
        <p:nvSpPr>
          <p:cNvPr id="8" name="Panel The code and the evidence" descr="">
            <a:extLst>
              <a:ext uri="{C183D7F6-B498-43B3-948B-1728B52AA6E4}">
                <adec:decorative xmlns:adec="http://schemas.microsoft.com/office/drawing/2017/decorative" val="1"/>
              </a:ext>
            </a:extLst>
          </p:cNvPr>
          <p:cNvSpPr/>
          <p:nvPr/>
        </p:nvSpPr>
        <p:spPr>
          <a:xfrm>
            <a:off x="6240780" y="1325880"/>
            <a:ext cx="5417820" cy="3593592"/>
          </a:xfrm>
          <a:prstGeom prst="roundRect">
            <a:avLst>
              <a:gd name="adj" fmla="val 203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code and the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CODE AND THE EVIDENCE</a:t>
            </a:r>
            <a:endParaRPr lang="en-US" sz="1100" dirty="0"/>
          </a:p>
        </p:txBody>
      </p:sp>
      <p:sp>
        <p:nvSpPr>
          <p:cNvPr id="10" name="Panel The code and the evidence list"/>
          <p:cNvSpPr txBox="1"/>
          <p:nvPr/>
        </p:nvSpPr>
        <p:spPr>
          <a:xfrm>
            <a:off x="642366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app holds exactly Application.Read.All and Directory.Read.All, with Reader where user-assigned identities live; a certificate or managed identity, never a secret</a:t>
            </a:r>
            <a:endParaRPr lang="en-US" sz="1450" dirty="0"/>
          </a:p>
          <a:p>
            <a:pPr marL="342900" indent="-342900">
              <a:spcAft>
                <a:spcPts val="400"/>
              </a:spcAft>
              <a:buSzPct val="100000"/>
              <a:buChar char="•"/>
            </a:pPr>
            <a:r>
              <a:rPr lang="en-US" sz="1450" dirty="0">
                <a:solidFill>
                  <a:srgbClr val="334155"/>
                </a:solidFill>
              </a:rPr>
              <a:t>The cloud is explicit, no .us host in a GCC configuration, and the manifest's tenant ID is the tenant's</a:t>
            </a:r>
            <a:endParaRPr lang="en-US" sz="1450" dirty="0"/>
          </a:p>
          <a:p>
            <a:pPr marL="342900" indent="-342900">
              <a:spcAft>
                <a:spcPts val="400"/>
              </a:spcAft>
              <a:buSzPct val="100000"/>
              <a:buChar char="•"/>
            </a:pPr>
            <a:r>
              <a:rPr lang="en-US" sz="1450" dirty="0">
                <a:solidFill>
                  <a:srgbClr val="334155"/>
                </a:solidFill>
              </a:rPr>
              <a:t>The manifest's hashes match the files handed to the ISSO</a:t>
            </a:r>
            <a:endParaRPr lang="en-US" sz="1450" dirty="0"/>
          </a:p>
          <a:p>
            <a:pPr marL="342900" indent="-342900">
              <a:spcAft>
                <a:spcPts val="400"/>
              </a:spcAft>
              <a:buSzPct val="100000"/>
              <a:buChar char="•"/>
            </a:pPr>
            <a:r>
              <a:rPr lang="en-US" sz="1450" dirty="0">
                <a:solidFill>
                  <a:srgbClr val="334155"/>
                </a:solidFill>
              </a:rPr>
              <a:t>The pinned Learn pages match their manifests; every upstream commit since the pin reviewed</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5102352"/>
            <a:ext cx="11109960" cy="737616"/>
          </a:xfrm>
          <a:prstGeom prst="roundRect">
            <a:avLst>
              <a:gd name="adj" fmla="val 99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5175504"/>
            <a:ext cx="591312" cy="59131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1723" y="5317419"/>
            <a:ext cx="307482" cy="307482"/>
          </a:xfrm>
          <a:prstGeom prst="rect">
            <a:avLst/>
          </a:prstGeom>
        </p:spPr>
      </p:pic>
      <p:sp>
        <p:nvSpPr>
          <p:cNvPr id="14" name="Callout text"/>
          <p:cNvSpPr txBox="1"/>
          <p:nvPr/>
        </p:nvSpPr>
        <p:spPr>
          <a:xfrm>
            <a:off x="1600200" y="5157216"/>
            <a:ext cx="9875520" cy="627888"/>
          </a:xfrm>
          <a:prstGeom prst="rect">
            <a:avLst/>
          </a:prstGeom>
          <a:noFill/>
          <a:ln/>
        </p:spPr>
        <p:txBody>
          <a:bodyPr wrap="square" lIns="0" tIns="0" rIns="0" bIns="0" rtlCol="0" anchor="ctr"/>
          <a:lstStyle/>
          <a:p>
            <a:pPr indent="0" marL="0">
              <a:buNone/>
            </a:pPr>
            <a:r>
              <a:rPr lang="en-US" sz="1700" b="1" dirty="0">
                <a:solidFill>
                  <a:srgbClr val="B45309"/>
                </a:solidFill>
              </a:rPr>
              <a:t>Next: </a:t>
            </a:r>
            <a:pPr indent="0" marL="0">
              <a:buNone/>
            </a:pPr>
            <a:r>
              <a:rPr lang="en-US" sz="1700" dirty="0">
                <a:solidFill>
                  <a:srgbClr val="334155"/>
                </a:solidFill>
              </a:rPr>
              <a:t>Chapter 02, Ownership and the Orphan Rule, reads this register and finds an owner for every account.</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01,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np01-user-svc  </a:t>
            </a:r>
            <a:pPr indent="0" marL="0">
              <a:spcAft>
                <a:spcPts val="300"/>
              </a:spcAft>
              <a:buNone/>
            </a:pPr>
            <a:r>
              <a:rPr lang="en-US" sz="1050" dirty="0">
                <a:solidFill>
                  <a:srgbClr val="334155"/>
                </a:solidFill>
              </a:rPr>
              <a:t>Microsoft Learn, "Secure user-based service accounts in Active Directory," find on-premises user accounts used as service accounts; assess on-premises user account security, https://learn.microsoft.com/entra/architecture/service-accounts-user-on-premises (accessed Oct 31, 2026).</a:t>
            </a:r>
            <a:endParaRPr lang="en-US" sz="1050" dirty="0"/>
          </a:p>
          <a:p>
            <a:pPr indent="0" marL="0">
              <a:spcAft>
                <a:spcPts val="300"/>
              </a:spcAft>
              <a:buNone/>
            </a:pPr>
            <a:r>
              <a:rPr lang="en-US" sz="1050" b="1" dirty="0">
                <a:solidFill>
                  <a:srgbClr val="1F2A44"/>
                </a:solidFill>
              </a:rPr>
              <a:t>np01-gmsa  </a:t>
            </a:r>
            <a:pPr indent="0" marL="0">
              <a:spcAft>
                <a:spcPts val="300"/>
              </a:spcAft>
              <a:buNone/>
            </a:pPr>
            <a:r>
              <a:rPr lang="en-US" sz="1050" dirty="0">
                <a:solidFill>
                  <a:srgbClr val="334155"/>
                </a:solidFill>
              </a:rPr>
              <a:t>Microsoft Learn, "Secure group managed service accounts," benefits; find gMSAs, https://learn.microsoft.com/entra/architecture/service-accounts-group-managed (accessed Oct 30, 2026).</a:t>
            </a:r>
            <a:endParaRPr lang="en-US" sz="1050" dirty="0"/>
          </a:p>
          <a:p>
            <a:pPr indent="0" marL="0">
              <a:spcAft>
                <a:spcPts val="300"/>
              </a:spcAft>
              <a:buNone/>
            </a:pPr>
            <a:r>
              <a:rPr lang="en-US" sz="1050" b="1" dirty="0">
                <a:solidFill>
                  <a:srgbClr val="1F2A44"/>
                </a:solidFill>
              </a:rPr>
              <a:t>np01-sp-secure  </a:t>
            </a:r>
            <a:pPr indent="0" marL="0">
              <a:spcAft>
                <a:spcPts val="300"/>
              </a:spcAft>
              <a:buNone/>
            </a:pPr>
            <a:r>
              <a:rPr lang="en-US" sz="1050" dirty="0">
                <a:solidFill>
                  <a:srgbClr val="334155"/>
                </a:solidFill>
              </a:rPr>
              <a:t>Microsoft Learn, "Securing service principals in Microsoft Entra ID," find accounts; assess service principal security, https://learn.microsoft.com/entra/architecture/service-accounts-principal (accessed Oct 30, 2026).</a:t>
            </a:r>
            <a:endParaRPr lang="en-US" sz="1050" dirty="0"/>
          </a:p>
          <a:p>
            <a:pPr indent="0" marL="0">
              <a:spcAft>
                <a:spcPts val="300"/>
              </a:spcAft>
              <a:buNone/>
            </a:pPr>
            <a:r>
              <a:rPr lang="en-US" sz="1050" b="1" dirty="0">
                <a:solidFill>
                  <a:srgbClr val="1F2A44"/>
                </a:solidFill>
              </a:rPr>
              <a:t>np01-entra-sp  </a:t>
            </a:r>
            <a:pPr indent="0" marL="0">
              <a:spcAft>
                <a:spcPts val="300"/>
              </a:spcAft>
              <a:buNone/>
            </a:pPr>
            <a:r>
              <a:rPr lang="en-US" sz="1050" dirty="0">
                <a:solidFill>
                  <a:srgbClr val="334155"/>
                </a:solidFill>
              </a:rPr>
              <a:t>Microsoft Learn, "Get-EntraServicePrincipal," example 7, retrieve all enterprise apps, https://learn.microsoft.com/powershell/module/microsoft.entra.applications/get-entraserviceprincipal?view=entra-powershell (accessed Oct 30, 2026).</a:t>
            </a:r>
            <a:endParaRPr lang="en-US" sz="1050" dirty="0"/>
          </a:p>
          <a:p>
            <a:pPr indent="0" marL="0">
              <a:spcAft>
                <a:spcPts val="300"/>
              </a:spcAft>
              <a:buNone/>
            </a:pPr>
            <a:r>
              <a:rPr lang="en-US" sz="1050" b="1" dirty="0">
                <a:solidFill>
                  <a:srgbClr val="1F2A44"/>
                </a:solidFill>
              </a:rPr>
              <a:t>np01-govern-onprem  </a:t>
            </a:r>
            <a:pPr indent="0" marL="0">
              <a:spcAft>
                <a:spcPts val="300"/>
              </a:spcAft>
              <a:buNone/>
            </a:pPr>
            <a:r>
              <a:rPr lang="en-US" sz="1050" dirty="0">
                <a:solidFill>
                  <a:srgbClr val="334155"/>
                </a:solidFill>
              </a:rPr>
              <a:t>Microsoft Learn, "Govern on-premises service accounts," lifecycle management process, https://learn.microsoft.com/entra/architecture/service-accounts-govern-on-premises (accessed Oct 30, 2026).</a:t>
            </a:r>
            <a:endParaRPr lang="en-US" sz="1050" dirty="0"/>
          </a:p>
          <a:p>
            <a:pPr indent="0" marL="0">
              <a:spcAft>
                <a:spcPts val="300"/>
              </a:spcAft>
              <a:buNone/>
            </a:pPr>
            <a:r>
              <a:rPr lang="en-US" sz="1050" b="1" dirty="0">
                <a:solidFill>
                  <a:srgbClr val="1F2A44"/>
                </a:solidFill>
              </a:rPr>
              <a:t>np01-export  </a:t>
            </a:r>
            <a:pPr indent="0" marL="0">
              <a:spcAft>
                <a:spcPts val="300"/>
              </a:spcAft>
              <a:buNone/>
            </a:pPr>
            <a:r>
              <a:rPr lang="en-US" sz="1050" dirty="0">
                <a:solidFill>
                  <a:srgbClr val="334155"/>
                </a:solidFill>
              </a:rPr>
              <a:t>Microsoft Learn, "PowerShell sample: Export secrets and certificates for app registrations," https://learn.microsoft.com/entra/identity/enterprise-apps/scripts/powershell-export-all-app-registrations-secrets-and-certs (accessed Oct 30, 2026).</a:t>
            </a:r>
            <a:endParaRPr lang="en-US" sz="1050" dirty="0"/>
          </a:p>
          <a:p>
            <a:pPr indent="0" marL="0">
              <a:spcAft>
                <a:spcPts val="300"/>
              </a:spcAft>
              <a:buNone/>
            </a:pPr>
            <a:r>
              <a:rPr lang="en-US" sz="1050" b="1" dirty="0">
                <a:solidFill>
                  <a:srgbClr val="1F2A44"/>
                </a:solidFill>
              </a:rPr>
              <a:t>np01-src-pages  </a:t>
            </a:r>
            <a:pPr indent="0" marL="0">
              <a:spcAft>
                <a:spcPts val="300"/>
              </a:spcAft>
              <a:buNone/>
            </a:pPr>
            <a:r>
              <a:rPr lang="en-US" sz="1050" dirty="0">
                <a:solidFill>
                  <a:srgbClr val="334155"/>
                </a:solidFill>
              </a:rPr>
              <a:t>Microsoft, MicrosoftDocs/entra-docs, docs/architecture/service-accounts-user-on-premises.md, service-accounts-group-managed.md and service-accounts-principal.md at commit 7f78b50dce9d8cf119de57cbd6fd66e24a6c58d4 (October 30, 2026; the pages last changed February 25, 2026), MIT License, https://github.com/MicrosoftDocs/entra-docs/tree/7f78b50dce9d8cf119de57cbd6fd66e24a6c58d4/docs/architecture (accessed Oct 30, 2026); pinned copy in examples/third_party/entra-service-account-pages.</a:t>
            </a:r>
            <a:endParaRPr lang="en-US" sz="1050" dirty="0"/>
          </a:p>
          <a:p>
            <a:pPr indent="0" marL="0">
              <a:spcAft>
                <a:spcPts val="300"/>
              </a:spcAft>
              <a:buNone/>
            </a:pPr>
            <a:r>
              <a:rPr lang="en-US" sz="1050" b="1" dirty="0">
                <a:solidFill>
                  <a:srgbClr val="1F2A44"/>
                </a:solidFill>
              </a:rPr>
              <a:t>np01-src-export  </a:t>
            </a:r>
            <a:pPr indent="0" marL="0">
              <a:spcAft>
                <a:spcPts val="300"/>
              </a:spcAft>
              <a:buNone/>
            </a:pPr>
            <a:r>
              <a:rPr lang="en-US" sz="1050" dirty="0">
                <a:solidFill>
                  <a:srgbClr val="334155"/>
                </a:solidFill>
              </a:rPr>
              <a:t>Microsoft, MicrosoftDocs/entra-docs, docs/identity/enterprise-apps/scripts/powershell-export-all-app-registrations-secrets-and-certs.md at commit 7f78b50dce9d8cf119de57cbd6fd66e24a6c58d4 (October 30, 2026; the page last changed February 19, 2026), MIT License, https://github.com/MicrosoftDocs/entra-docs/blob/7f78b50dce9d8cf119de57cbd6fd66e24a6c58d4/docs/identity/enterprise-apps/scripts/powershell-export-all-app-registrations-secrets-and-certs.md (accessed Oct 30, 2026); pinned copy in examples/third_party/entra-app-credentials-export-page.</a:t>
            </a:r>
            <a:endParaRPr lang="en-US" sz="1050" dirty="0"/>
          </a:p>
          <a:p>
            <a:pPr indent="0" marL="0">
              <a:spcAft>
                <a:spcPts val="300"/>
              </a:spcAft>
              <a:buNone/>
            </a:pPr>
            <a:r>
              <a:rPr lang="en-US" sz="1050" b="1" dirty="0">
                <a:solidFill>
                  <a:srgbClr val="1F2A44"/>
                </a:solidFill>
              </a:rPr>
              <a:t>np01-dmsa  </a:t>
            </a:r>
            <a:pPr indent="0" marL="0">
              <a:spcAft>
                <a:spcPts val="300"/>
              </a:spcAft>
              <a:buNone/>
            </a:pPr>
            <a:r>
              <a:rPr lang="en-US" sz="1050" dirty="0">
                <a:solidFill>
                  <a:srgbClr val="334155"/>
                </a:solidFill>
              </a:rPr>
              <a:t>Microsoft Learn, "Delegated Managed Service Accounts overview," https://learn.microsoft.com/windows-server/identity/ad-ds/manage/delegated-managed-service-accounts/delegated-managed-service-accounts-overview (accessed Oct 30, 2026).</a:t>
            </a:r>
            <a:endParaRPr lang="en-US" sz="1050" dirty="0"/>
          </a:p>
          <a:p>
            <a:pPr indent="0" marL="0">
              <a:spcAft>
                <a:spcPts val="300"/>
              </a:spcAft>
              <a:buNone/>
            </a:pPr>
            <a:r>
              <a:rPr lang="en-US" sz="1050" b="1" dirty="0">
                <a:solidFill>
                  <a:srgbClr val="1F2A44"/>
                </a:solidFill>
              </a:rPr>
              <a:t>np01-dmsa-setup  </a:t>
            </a:r>
            <a:pPr indent="0" marL="0">
              <a:spcAft>
                <a:spcPts val="300"/>
              </a:spcAft>
              <a:buNone/>
            </a:pPr>
            <a:r>
              <a:rPr lang="en-US" sz="1050" dirty="0">
                <a:solidFill>
                  <a:srgbClr val="334155"/>
                </a:solidFill>
              </a:rPr>
              <a:t>Microsoft Learn, "Setting up delegated Managed Service Accounts," create a standalone dMSA, https://learn.microsoft.com/windows-server/identity/ad-ds/manage/delegated-managed-service-accounts/delegated-managed-service-accounts-set-up-dmsa (accessed Oct 30, 2026).</a:t>
            </a:r>
            <a:endParaRPr lang="en-US" sz="1050" dirty="0"/>
          </a:p>
          <a:p>
            <a:pPr indent="0" marL="0">
              <a:spcAft>
                <a:spcPts val="300"/>
              </a:spcAft>
              <a:buNone/>
            </a:pPr>
            <a:r>
              <a:rPr lang="en-US" sz="1050" b="1" dirty="0">
                <a:solidFill>
                  <a:srgbClr val="1F2A44"/>
                </a:solidFill>
              </a:rPr>
              <a:t>np01-get-aduser  </a:t>
            </a:r>
            <a:pPr indent="0" marL="0">
              <a:spcAft>
                <a:spcPts val="300"/>
              </a:spcAft>
              <a:buNone/>
            </a:pPr>
            <a:r>
              <a:rPr lang="en-US" sz="1050" dirty="0">
                <a:solidFill>
                  <a:srgbClr val="334155"/>
                </a:solidFill>
              </a:rPr>
              <a:t>Microsoft Learn, "Get-ADUser," https://learn.microsoft.com/powershell/module/activedirectory/get-aduser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np01-get-adsa  </a:t>
            </a:r>
            <a:pPr indent="0" marL="0">
              <a:spcAft>
                <a:spcPts val="300"/>
              </a:spcAft>
              <a:buNone/>
            </a:pPr>
            <a:r>
              <a:rPr lang="en-US" sz="1050" dirty="0">
                <a:solidFill>
                  <a:srgbClr val="334155"/>
                </a:solidFill>
              </a:rPr>
              <a:t>Microsoft Learn, "Get-ADServiceAccount," description and examples, https://learn.microsoft.com/powershell/module/activedirectory/get-adserviceaccount (accessed Oct 30, 2026).</a:t>
            </a:r>
            <a:endParaRPr lang="en-US" sz="1050" dirty="0"/>
          </a:p>
          <a:p>
            <a:pPr indent="0" marL="0">
              <a:spcAft>
                <a:spcPts val="300"/>
              </a:spcAft>
              <a:buNone/>
            </a:pPr>
            <a:r>
              <a:rPr lang="en-US" sz="1050" b="1" dirty="0">
                <a:solidFill>
                  <a:srgbClr val="1F2A44"/>
                </a:solidFill>
              </a:rPr>
              <a:t>np01-lastlogon  </a:t>
            </a:r>
            <a:pPr indent="0" marL="0">
              <a:spcAft>
                <a:spcPts val="300"/>
              </a:spcAft>
              <a:buNone/>
            </a:pPr>
            <a:r>
              <a:rPr lang="en-US" sz="1050" dirty="0">
                <a:solidFill>
                  <a:srgbClr val="334155"/>
                </a:solidFill>
              </a:rPr>
              <a:t>Microsoft Learn, "Last-Logon-Timestamp attribute," https://learn.microsoft.com/windows/win32/adschema/a-lastlogontimestamp (accessed Oct 30, 2026).</a:t>
            </a:r>
            <a:endParaRPr lang="en-US" sz="1050" dirty="0"/>
          </a:p>
          <a:p>
            <a:pPr indent="0" marL="0">
              <a:spcAft>
                <a:spcPts val="300"/>
              </a:spcAft>
              <a:buNone/>
            </a:pPr>
            <a:r>
              <a:rPr lang="en-US" sz="1050" b="1" dirty="0">
                <a:solidFill>
                  <a:srgbClr val="1F2A44"/>
                </a:solidFill>
              </a:rPr>
              <a:t>np01-app-list  </a:t>
            </a:r>
            <a:pPr indent="0" marL="0">
              <a:spcAft>
                <a:spcPts val="300"/>
              </a:spcAft>
              <a:buNone/>
            </a:pPr>
            <a:r>
              <a:rPr lang="en-US" sz="1050" dirty="0">
                <a:solidFill>
                  <a:srgbClr val="334155"/>
                </a:solidFill>
              </a:rPr>
              <a:t>Microsoft Learn, "List applications," national cloud table, permissions, optional query parameters, https://learn.microsoft.com/graph/api/application-list?view=graph-rest-1.0 (accessed Oct 30, 2026).</a:t>
            </a:r>
            <a:endParaRPr lang="en-US" sz="1050" dirty="0"/>
          </a:p>
          <a:p>
            <a:pPr indent="0" marL="0">
              <a:spcAft>
                <a:spcPts val="300"/>
              </a:spcAft>
              <a:buNone/>
            </a:pPr>
            <a:r>
              <a:rPr lang="en-US" sz="1050" b="1" dirty="0">
                <a:solidFill>
                  <a:srgbClr val="1F2A44"/>
                </a:solidFill>
              </a:rPr>
              <a:t>np01-app-owners  </a:t>
            </a:r>
            <a:pPr indent="0" marL="0">
              <a:spcAft>
                <a:spcPts val="300"/>
              </a:spcAft>
              <a:buNone/>
            </a:pPr>
            <a:r>
              <a:rPr lang="en-US" sz="1050" dirty="0">
                <a:solidFill>
                  <a:srgbClr val="334155"/>
                </a:solidFill>
              </a:rPr>
              <a:t>Microsoft Learn, "List owners of an application," https://learn.microsoft.com/graph/api/application-list-owners?view=graph-rest-1.0 (accessed Oct 30, 2026).</a:t>
            </a:r>
            <a:endParaRPr lang="en-US" sz="1050" dirty="0"/>
          </a:p>
          <a:p>
            <a:pPr indent="0" marL="0">
              <a:spcAft>
                <a:spcPts val="300"/>
              </a:spcAft>
              <a:buNone/>
            </a:pPr>
            <a:r>
              <a:rPr lang="en-US" sz="1050" b="1" dirty="0">
                <a:solidFill>
                  <a:srgbClr val="1F2A44"/>
                </a:solidFill>
              </a:rPr>
              <a:t>np01-fic-list  </a:t>
            </a:r>
            <a:pPr indent="0" marL="0">
              <a:spcAft>
                <a:spcPts val="300"/>
              </a:spcAft>
              <a:buNone/>
            </a:pPr>
            <a:r>
              <a:rPr lang="en-US" sz="1050" dirty="0">
                <a:solidFill>
                  <a:srgbClr val="334155"/>
                </a:solidFill>
              </a:rPr>
              <a:t>Microsoft Learn, "List federatedIdentityCredential objects," https://learn.microsoft.com/graph/api/federatedidentitycredential-list?view=graph-rest-1.0 (accessed Oct 31, 2026).</a:t>
            </a:r>
            <a:endParaRPr lang="en-US" sz="1050" dirty="0"/>
          </a:p>
          <a:p>
            <a:pPr indent="0" marL="0">
              <a:spcAft>
                <a:spcPts val="300"/>
              </a:spcAft>
              <a:buNone/>
            </a:pPr>
            <a:r>
              <a:rPr lang="en-US" sz="1050" b="1" dirty="0">
                <a:solidFill>
                  <a:srgbClr val="1F2A44"/>
                </a:solidFill>
              </a:rPr>
              <a:t>np01-fic-get  </a:t>
            </a:r>
            <a:pPr indent="0" marL="0">
              <a:spcAft>
                <a:spcPts val="300"/>
              </a:spcAft>
              <a:buNone/>
            </a:pPr>
            <a:r>
              <a:rPr lang="en-US" sz="1050" dirty="0">
                <a:solidFill>
                  <a:srgbClr val="334155"/>
                </a:solidFill>
              </a:rPr>
              <a:t>Microsoft Learn, "Get federatedIdentityCredential," permissions, https://learn.microsoft.com/graph/api/federatedidentitycredential-get?view=graph-rest-1.0 (accessed Oct 30, 2026).</a:t>
            </a:r>
            <a:endParaRPr lang="en-US" sz="1050" dirty="0"/>
          </a:p>
          <a:p>
            <a:pPr indent="0" marL="0">
              <a:spcAft>
                <a:spcPts val="300"/>
              </a:spcAft>
              <a:buNone/>
            </a:pPr>
            <a:r>
              <a:rPr lang="en-US" sz="1050" b="1" dirty="0">
                <a:solidFill>
                  <a:srgbClr val="1F2A44"/>
                </a:solidFill>
              </a:rPr>
              <a:t>np01-sp-list  </a:t>
            </a:r>
            <a:pPr indent="0" marL="0">
              <a:spcAft>
                <a:spcPts val="300"/>
              </a:spcAft>
              <a:buNone/>
            </a:pPr>
            <a:r>
              <a:rPr lang="en-US" sz="1050" dirty="0">
                <a:solidFill>
                  <a:srgbClr val="334155"/>
                </a:solidFill>
              </a:rPr>
              <a:t>Microsoft Learn, "List servicePrincipals," permissions, https://learn.microsoft.com/graph/api/serviceprincipal-list?view=graph-rest-1.0 (accessed Oct 30, 2026).</a:t>
            </a:r>
            <a:endParaRPr lang="en-US" sz="1050" dirty="0"/>
          </a:p>
          <a:p>
            <a:pPr indent="0" marL="0">
              <a:spcAft>
                <a:spcPts val="300"/>
              </a:spcAft>
              <a:buNone/>
            </a:pPr>
            <a:r>
              <a:rPr lang="en-US" sz="1050" b="1" dirty="0">
                <a:solidFill>
                  <a:srgbClr val="1F2A44"/>
                </a:solidFill>
              </a:rPr>
              <a:t>np01-sp-owners  </a:t>
            </a:r>
            <a:pPr indent="0" marL="0">
              <a:spcAft>
                <a:spcPts val="300"/>
              </a:spcAft>
              <a:buNone/>
            </a:pPr>
            <a:r>
              <a:rPr lang="en-US" sz="1050" dirty="0">
                <a:solidFill>
                  <a:srgbClr val="334155"/>
                </a:solidFill>
              </a:rPr>
              <a:t>Microsoft Learn, "List owners of a service principal," permissions, https://learn.microsoft.com/graph/api/serviceprincipal-list-owners?view=graph-rest-1.0 (accessed Oct 30, 2026).</a:t>
            </a:r>
            <a:endParaRPr lang="en-US" sz="1050" dirty="0"/>
          </a:p>
          <a:p>
            <a:pPr indent="0" marL="0">
              <a:spcAft>
                <a:spcPts val="300"/>
              </a:spcAft>
              <a:buNone/>
            </a:pPr>
            <a:r>
              <a:rPr lang="en-US" sz="1050" b="1" dirty="0">
                <a:solidFill>
                  <a:srgbClr val="1F2A44"/>
                </a:solidFill>
              </a:rPr>
              <a:t>np01-sp-type  </a:t>
            </a:r>
            <a:pPr indent="0" marL="0">
              <a:spcAft>
                <a:spcPts val="300"/>
              </a:spcAft>
              <a:buNone/>
            </a:pPr>
            <a:r>
              <a:rPr lang="en-US" sz="1050" dirty="0">
                <a:solidFill>
                  <a:srgbClr val="334155"/>
                </a:solidFill>
              </a:rPr>
              <a:t>Microsoft Learn, "Microsoft.Graph servicePrincipals" (Bicep reference), property values, servicePrincipalType, https://learn.microsoft.com/graph/templates/bicep/reference/serviceprincipals?view=graph-bicep-1.0 (accessed Oct 30, 2026).</a:t>
            </a:r>
            <a:endParaRPr lang="en-US" sz="1050" dirty="0"/>
          </a:p>
          <a:p>
            <a:pPr indent="0" marL="0">
              <a:spcAft>
                <a:spcPts val="300"/>
              </a:spcAft>
              <a:buNone/>
            </a:pPr>
            <a:r>
              <a:rPr lang="en-US" sz="1050" b="1" dirty="0">
                <a:solidFill>
                  <a:srgbClr val="1F2A44"/>
                </a:solidFill>
              </a:rPr>
              <a:t>np01-sp-update  </a:t>
            </a:r>
            <a:pPr indent="0" marL="0">
              <a:spcAft>
                <a:spcPts val="300"/>
              </a:spcAft>
              <a:buNone/>
            </a:pPr>
            <a:r>
              <a:rPr lang="en-US" sz="1050" dirty="0">
                <a:solidFill>
                  <a:srgbClr val="334155"/>
                </a:solidFill>
              </a:rPr>
              <a:t>Microsoft Learn, "Update servicePrincipal," request body, alternativeNames, https://learn.microsoft.com/graph/api/serviceprincipal-update?view=graph-rest-1.0 (accessed Oct 30, 2026).</a:t>
            </a:r>
            <a:endParaRPr lang="en-US" sz="1050" dirty="0"/>
          </a:p>
          <a:p>
            <a:pPr indent="0" marL="0">
              <a:spcAft>
                <a:spcPts val="300"/>
              </a:spcAft>
              <a:buNone/>
            </a:pPr>
            <a:r>
              <a:rPr lang="en-US" sz="1050" b="1" dirty="0">
                <a:solidFill>
                  <a:srgbClr val="1F2A44"/>
                </a:solidFill>
              </a:rPr>
              <a:t>np01-approle-to  </a:t>
            </a:r>
            <a:pPr indent="0" marL="0">
              <a:spcAft>
                <a:spcPts val="300"/>
              </a:spcAft>
              <a:buNone/>
            </a:pPr>
            <a:r>
              <a:rPr lang="en-US" sz="1050" dirty="0">
                <a:solidFill>
                  <a:srgbClr val="334155"/>
                </a:solidFill>
              </a:rPr>
              <a:t>Microsoft Learn, "List appRoleAssignments granted for a service principal," permissions, https://learn.microsoft.com/graph/api/serviceprincipal-list-approleassignedto?view=graph-rest-1.0 (accessed Oct 31, 2026).</a:t>
            </a:r>
            <a:endParaRPr lang="en-US" sz="1050" dirty="0"/>
          </a:p>
          <a:p>
            <a:pPr indent="0" marL="0">
              <a:spcAft>
                <a:spcPts val="300"/>
              </a:spcAft>
              <a:buNone/>
            </a:pPr>
            <a:r>
              <a:rPr lang="en-US" sz="1050" b="1" dirty="0">
                <a:solidFill>
                  <a:srgbClr val="1F2A44"/>
                </a:solidFill>
              </a:rPr>
              <a:t>np01-grants  </a:t>
            </a:r>
            <a:pPr indent="0" marL="0">
              <a:spcAft>
                <a:spcPts val="300"/>
              </a:spcAft>
              <a:buNone/>
            </a:pPr>
            <a:r>
              <a:rPr lang="en-US" sz="1050" dirty="0">
                <a:solidFill>
                  <a:srgbClr val="334155"/>
                </a:solidFill>
              </a:rPr>
              <a:t>Microsoft Learn, "List oauth2PermissionGrants (delegated permission grants)," https://learn.microsoft.com/graph/api/oauth2permissiongrant-list?view=graph-rest-1.0 (accessed Oct 30, 2026).</a:t>
            </a:r>
            <a:endParaRPr lang="en-US" sz="1050" dirty="0"/>
          </a:p>
          <a:p>
            <a:pPr indent="0" marL="0">
              <a:spcAft>
                <a:spcPts val="300"/>
              </a:spcAft>
              <a:buNone/>
            </a:pPr>
            <a:r>
              <a:rPr lang="en-US" sz="1050" b="1" dirty="0">
                <a:solidFill>
                  <a:srgbClr val="1F2A44"/>
                </a:solidFill>
              </a:rPr>
              <a:t>np01-arm-fic  </a:t>
            </a:r>
            <a:pPr indent="0" marL="0">
              <a:spcAft>
                <a:spcPts val="300"/>
              </a:spcAft>
              <a:buNone/>
            </a:pPr>
            <a:r>
              <a:rPr lang="en-US" sz="1050" dirty="0">
                <a:solidFill>
                  <a:srgbClr val="334155"/>
                </a:solidFill>
              </a:rPr>
              <a:t>Microsoft Learn, "Federated Identity Credentials - List" (Managed Identity REST API, 2024-11-30), https://learn.microsoft.com/rest/api/managedidentity/federated-identity-credentials/list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(3)</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np01-ownership  </a:t>
            </a:r>
            <a:pPr indent="0" marL="0">
              <a:spcAft>
                <a:spcPts val="300"/>
              </a:spcAft>
              <a:buNone/>
            </a:pPr>
            <a:r>
              <a:rPr lang="en-US" sz="1050" dirty="0">
                <a:solidFill>
                  <a:srgbClr val="334155"/>
                </a:solidFill>
              </a:rPr>
              <a:t>Microsoft Learn, "Overview of enterprise application ownership in Microsoft Entra ID," FAQ, https://learn.microsoft.com/entra/identity/enterprise-apps/overview-assign-app-owners (accessed Oct 30, 2026).</a:t>
            </a:r>
            <a:endParaRPr lang="en-US" sz="1050" dirty="0"/>
          </a:p>
          <a:p>
            <a:pPr indent="0" marL="0">
              <a:spcAft>
                <a:spcPts val="300"/>
              </a:spcAft>
              <a:buNone/>
            </a:pPr>
            <a:r>
              <a:rPr lang="en-US" sz="1050" b="1" dirty="0">
                <a:solidFill>
                  <a:srgbClr val="1F2A44"/>
                </a:solidFill>
              </a:rPr>
              <a:t>np01-mi-view  </a:t>
            </a:r>
            <a:pPr indent="0" marL="0">
              <a:spcAft>
                <a:spcPts val="300"/>
              </a:spcAft>
              <a:buNone/>
            </a:pPr>
            <a:r>
              <a:rPr lang="en-US" sz="1050" dirty="0">
                <a:solidFill>
                  <a:srgbClr val="334155"/>
                </a:solidFill>
              </a:rPr>
              <a:t>Microsoft Learn, "View the service principal of a managed identity," https://learn.microsoft.com/entra/identity/managed-identities-azure-resources/how-to-view-managed-identity-service-principal (accessed Oct 30, 2026).</a:t>
            </a:r>
            <a:endParaRPr lang="en-US" sz="1050" dirty="0"/>
          </a:p>
          <a:p>
            <a:pPr indent="0" marL="0">
              <a:spcAft>
                <a:spcPts val="300"/>
              </a:spcAft>
              <a:buNone/>
            </a:pPr>
            <a:r>
              <a:rPr lang="en-US" sz="1050" b="1" dirty="0">
                <a:solidFill>
                  <a:srgbClr val="1F2A44"/>
                </a:solidFill>
              </a:rPr>
              <a:t>np01-deployments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np01-compare  </a:t>
            </a:r>
            <a:pPr indent="0" marL="0">
              <a:spcAft>
                <a:spcPts val="300"/>
              </a:spcAft>
              <a:buNone/>
            </a:pPr>
            <a:r>
              <a:rPr lang="en-US" sz="1050" dirty="0">
                <a:solidFill>
                  <a:srgbClr val="334155"/>
                </a:solidFill>
              </a:rPr>
              <a:t>Microsoft Learn, "Compare Azure Government and global Azure," guidance for developers, https://learn.microsoft.com/azure/azure-government/compare-azure-government-global-azure (accessed Oct 30, 2026; read for the first workbook's Chapter 02).</a:t>
            </a:r>
            <a:endParaRPr lang="en-US" sz="1050" dirty="0"/>
          </a:p>
          <a:p>
            <a:pPr indent="0" marL="0">
              <a:spcAft>
                <a:spcPts val="300"/>
              </a:spcAft>
              <a:buNone/>
            </a:pPr>
            <a:r>
              <a:rPr lang="en-US" sz="1050" b="1" dirty="0">
                <a:solidFill>
                  <a:srgbClr val="1F2A44"/>
                </a:solidFill>
              </a:rPr>
              <a:t>np01-paging  </a:t>
            </a:r>
            <a:pPr indent="0" marL="0">
              <a:spcAft>
                <a:spcPts val="300"/>
              </a:spcAft>
              <a:buNone/>
            </a:pPr>
            <a:r>
              <a:rPr lang="en-US" sz="1050" dirty="0">
                <a:solidFill>
                  <a:srgbClr val="334155"/>
                </a:solidFill>
              </a:rPr>
              <a:t>Microsoft Learn, "Page through a collection using the Microsoft Graph SDKs," https://learn.microsoft.com/graph/sdks/paging (accessed Oct 31, 2026).</a:t>
            </a:r>
            <a:endParaRPr lang="en-US" sz="1050" dirty="0"/>
          </a:p>
          <a:p>
            <a:pPr indent="0" marL="0">
              <a:spcAft>
                <a:spcPts val="300"/>
              </a:spcAft>
              <a:buNone/>
            </a:pPr>
            <a:r>
              <a:rPr lang="en-US" sz="1050" b="1" dirty="0">
                <a:solidFill>
                  <a:srgbClr val="1F2A44"/>
                </a:solidFill>
              </a:rPr>
              <a:t>np01-onprem  </a:t>
            </a:r>
            <a:pPr indent="0" marL="0">
              <a:spcAft>
                <a:spcPts val="300"/>
              </a:spcAft>
              <a:buNone/>
            </a:pPr>
            <a:r>
              <a:rPr lang="en-US" sz="1050" dirty="0">
                <a:solidFill>
                  <a:srgbClr val="334155"/>
                </a:solidFill>
              </a:rPr>
              <a:t>Microsoft Learn, "Securing on-premises service accounts," types of on-premises service accounts, https://learn.microsoft.com/entra/architecture/service-accounts-on-premises (accessed Oct 31,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01 — Non-Person Identity Inventory as Code</dc:title>
  <dc:subject>PptxGenJS Presentation</dc:subject>
  <dc:creator>Michael F. Stratton</dc:creator>
  <cp:lastModifiedBy>Michael F. Stratton</cp:lastModifiedBy>
  <cp:revision>1</cp:revision>
  <dcterms:created xsi:type="dcterms:W3CDTF">2026-10-31T14:33:39Z</dcterms:created>
  <dcterms:modified xsi:type="dcterms:W3CDTF">2026-10-31T14:33:39Z</dcterms:modified>
</cp:coreProperties>
</file>