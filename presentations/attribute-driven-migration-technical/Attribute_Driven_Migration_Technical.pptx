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8d3a75b6-bc86-2c90-6cd3-1d514e9124b4}">
          <p14:sldIdLst>
            <p14:sldId id="256"/>
            <p14:sldId id="257"/>
          </p14:sldIdLst>
        </p14:section>
        <p14:section name="Module 1 — The model" id="{b483b3d4-e13f-d9b5-a08f-fb17a75b958c}">
          <p14:sldIdLst>
            <p14:sldId id="258"/>
            <p14:sldId id="259"/>
            <p14:sldId id="260"/>
            <p14:sldId id="261"/>
          </p14:sldIdLst>
        </p14:section>
        <p14:section name="Module 2 — Sourcing and proving attributes" id="{819314c0-a808-589f-5d1b-dc255a4a565d}">
          <p14:sldIdLst>
            <p14:sldId id="262"/>
            <p14:sldId id="263"/>
            <p14:sldId id="264"/>
            <p14:sldId id="265"/>
            <p14:sldId id="266"/>
            <p14:sldId id="267"/>
            <p14:sldId id="268"/>
            <p14:sldId id="269"/>
          </p14:sldIdLst>
        </p14:section>
        <p14:section name="Module 3 — Attributes to mechanisms" id="{00660452-04a8-dda9-be88-ada95ba10ef7}">
          <p14:sldIdLst>
            <p14:sldId id="270"/>
            <p14:sldId id="271"/>
            <p14:sldId id="272"/>
            <p14:sldId id="273"/>
            <p14:sldId id="274"/>
            <p14:sldId id="275"/>
            <p14:sldId id="276"/>
            <p14:sldId id="277"/>
            <p14:sldId id="278"/>
            <p14:sldId id="279"/>
            <p14:sldId id="280"/>
          </p14:sldIdLst>
        </p14:section>
        <p14:section name="Module 4 — Running it" id="{ccb01b5f-d9ce-1801-d096-edf9372982c1}">
          <p14:sldIdLst>
            <p14:sldId id="281"/>
            <p14:sldId id="282"/>
            <p14:sldId id="283"/>
            <p14:sldId id="284"/>
            <p14:sldId id="285"/>
            <p14:sldId id="286"/>
            <p14:sldId id="287"/>
            <p14:sldId id="288"/>
            <p14:sldId id="289"/>
          </p14:sldIdLst>
        </p14:section>
        <p14:section name="Backup" id="{f5c737ce-20a9-bf5a-6a21-c9df281af3b6}">
          <p14:sldIdLst>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[0:00–1:43]  This is the technical deep dive for the Federal Modernization Workbook's companion guide, Attribute-Driven Migration from Active Directory to Microsoft Entra ID. It's for identity engineers, Entra and AD administrators, Intune and Azure platform owners, PKI and credential teams, and ISSOs: the people who will write the attributes, the rules that read them and the evidence that shows they were true.
The guide's claim fits in one line. In Active Directory an object's place in the tree decided what applied to it; in Entra ID what the object says about itself decides. So the migration is the work of making those statements true and keeping them true.
Four modules you can watch separately. Module 1 is the model: what the OU tree encoded, placement versus attributes, and the nine-stage map. Module 2 is sourcing and proving the attributes: HR as the authority, Federal HR 2.0 and API-driven inbound provisioning, contractors, the canonical schema and its single writer, then proof and sync. Module 3 maps attributes to mechanisms: dynamic groups, administrative units, Conditional Access and Intune, then devices, Arc servers, service principals and PIV certificate binding. Module 4 runs it: a worked mover example, the phased cutover, drift, the limits and the decisions.
Three labels to listen for. The guide is a map; the books hold the depth, and each slide names the chapter. Microsoft facts were checked against Microsoft Learn on October 29, 2026. And the program's own recommendations are marked design guidance.
Workbook: Attribute-Driven Migration guide, "How to read this guide," "The path on one page"; Book 01, Chapter 04; Books 02, 03, 04, 05, 06 and 07 as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[1:43–3:10]  Why this matters. The Active Directory OU tree was never just folders. It did four jobs at once: delegation, policy inheritance, operational accountability and security scope, all in one hierarchy. Entra ID has no OUs. Its directory is flat, and it has none of that structure by default.
The attribute-driven model rebuilds those properties with governed mechanisms, and the figure from Book 01 shows the contract. One governed set of HR-sourced attributes, department, an organization code, worker type and position category, drives five outcomes: dynamic group membership, administrative-unit scope, Conditional Access targeting through those groups, group-based licensing, and drift detection against HR. The grey card is the legacy: OU placement, position encoded as location in a tree, which becomes data.
That's the reason the attributes have to be true first. Book 03 puts it bluntly: every later control reads these attributes, so a drifted HR feed produces drifted access faster than any ticket queue. And Book 01 adds the token view: a token has to assert an authorization that's true, not just well-formed.
So the migration isn't moving objects. It's moving the meaning the tree carried into attributes, and proving those attributes before anything depends on them. Module 1 starts with what the tree actually encoded.
Workbook: Attribute-Driven Migration guide, Stage 0 "What it is," Stage 1 "What it is," Stage 2 "What it is"; Book 01, Chapter 04 — "The identity claim," "What the attributes drive"; Book 03, Chapter 12 — "Sequencing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[3:10–3:45]  Module 1: the model. Before anything moves, the team needs a shared picture of what the OU tree was doing and where each of those jobs lands in Entra ID, because the target has to reproduce intent, not structure.
So: the four jobs and the mechanism that replaces each; the nine stages of the guide's path, each with one decider and a gate that says it's done; and Stage 0, the read-only inventory of the tree, its GPO links and its hand-made delegations.
Workbook: Attribute-Driven Migration guide, "The path on one page," Stage 0; Book 01, Chapter 04 — Identity Transformation; Book 02, Chapters 07–09.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[3:45–5:22]  Book 01 names four governed mechanisms, and the table pairs each with the OU job it replaces. OU placement becomes organizational attributes on every governed user. OU-derived security groups become dynamic groups. OU-level delegation becomes administrative units. And GPO inheritance becomes Conditional Access and Intune targeting. Microsoft documents each mechanism; the program's contribution is the contract that binds them, so setting a user's attributes produces consistent effects everywhere.
The figure below is Book 02's object map. Users sync and later become cloud-managed. Security groups become assigned or dynamic groups, by sync, conversion or retirement. The organizational unit row is the one that matters here: it becomes administrative units, dynamic groups and policy targeting, re-expressed as attributes. Service accounts become workload identities, protected groups become PIM-eligible roles, and computers become devices.
On the right, where the attributes live. Native Entra attributes first, and an extension attribute only where a dynamic rule needs a value it can't read natively. Rules can't read employeeType, employeeOrgData or manager, which is why the schema carries coded mirrors; Microsoft's page still said so on October 29. And codes, never display strings, in anything a rule reads, because a display string breaks the next time someone retypes it.
Stage 0's decision follows: for every OU function, where it goes. GPO scoping to Conditional Access and Intune, delegation to units, logical organization to attributes and dynamic groups.
Workbook: Attribute-Driven Migration guide, Stage 0 "Decision," "Limits: rule limits"; Book 01, Chapter 04 — "The four mechanisms," "Where the attributes live"; Book 02, Chapter 09 — "Organizational units"; Book 03, Chapter 06 — "Design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[5:22–7:00]  This is the guide's path on one page: nine stages, numbered zero to eight. Each book numbers its own phases; the guide names stages instead, and its phase-alignment table, in the backup sources, lines them up. That alignment is approximate, and each book's gates still govern its own work.
Read the columns as a contract. Every stage has one decision and one decider, taken from two responsibility matrices, Book 02 Chapter 06 for the directory and Book 03 Chapter 07 for the data. Both are the program's recommended model, design guidance, with one decider per row.
A few to notice. Stage 1's authority map, person key and contractor source belong to the ICAM governance body; HR owns the code lists and the data architect owns the schema. Stage 2's correlation threshold is the agency's, through risk governance, not a number the program imposes. Stage 4 puts each application's access rule with its owner, while HR owns the values the rule reads. Stage 6's control requirements and Stage 8's drift findings sit with the CISO.
And every stage has a gate that says it's done. The gates are the point: Stage 4 doesn't grant production access until the rule has been validated, shadowed against the group it replaces and piloted; Stage 7 doesn't close a population until seven days of changes all trace to HR. The rest of the deck walks the stages in order.
Workbook: Attribute-Driven Migration guide, "The path on one page," "How the books' phase numbers line up"; Book 02, Chapter 06 — "The responsibility matrix"; Book 03, Chapter 07 —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[7:00–8:33]  Stage 0 is read-only. The assessment captures what each OU actually encodes so the target reproduces intent, not structure. The figure is Book 02's GPO analysis: the inventory of every GPO with its status, owner and WMI filter, then the reports and inheritance views per GPO and per OU.
Collect four things. Placement and size of each OU. GPO links and inheritance. The non-inherited access-control entries that someone delegated by hand, because that's where the real delegation lives. And a record of what read-only discovery couldn't see, so nobody mistakes a gap for an absence.
Two decisions come out of it. For every OU function, where it goes, which the last slide covered. And for every security group, one of four outcomes: keep it synced, convert it to cloud-only, convert it to dynamic, or retire it.
The gate is Book 02's Phase 0: a complete inventory in Git, a UPN remediation plan, a recorded decision for every group, and the OU structure mapped to proposed administrative units.
Two failure modes. A GPO linked at a site looks unlinked to a search that only walks OUs, so include site links. And adminCount overstates current privilege, because it stays set after an account leaves a protected group; check actual membership.
That's the model. Module 2 sources the attributes that replace the tree.
Workbook: Attribute-Driven Migration guide, Stage 0; Book 02, Chapter 07 — "Recording what read-only discovery couldn't see"; Chapter 08 — "OU hierarchy and delegation," "What to collect"; Chapter 09 — "The per-group decision," "AdminSDHolder and protected groups"; Chapter 10 — "Phase 0: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[8:33–9:13]  Module 2: sourcing and proving the attributes. Every mechanism in Module 3 reads these values, so this is where the migration is won or lost, and it's the work estates skip because users never see it.
So: which system owns each fact, and the enterprise person key; Federal HR 2.0 as the coming source and how Core HCM reaches Entra ID through API-driven inbound provisioning; the facts HR doesn't supply, including contractors; the canonical schema and its one writer; and then Stages 2 and 3, proving the values true and carrying them through sync.
Workbook: Attribute-Driven Migration guide, Stages 1–3; Book 03, Chapters 03–07 and 12; Book 02,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[9:13–10:49]  Stage 1 decides where each attribute comes from, what it's called, what it holds and who may write it.
Start with which system owns each fact; the figure is Book 03's authority map. HR is authoritative for who a worker is and where they sit: person and affiliation keys, worker type and status, position, organization, duty station and supervisor. The identity platform is authoritative for how identity is proven and whether a request is permitted now: accounts, sessions and group membership by rule. Card management and PKI own the PIV and derived credentials. Consumers only derive. Every attribute is authoritative in one system and derived everywhere else, and corrections flow upstream.
Then the enterprise person key. It's a key the agency controls, carried in employeeId, which holds at most 16 characters, with the source system's person number mapped to it. That layering is what lets the HR source change without breaking identity: a new source changes only the source key. The governance body decides it.
Book 03 Chapter 07 names three ways ownership fails. A key owned by the source breaks at the Core HCM cutover. An owner without the means leaves duty station stale. And the help desk becomes a shadow source. The design answers each: an agency-owned key, owners with the means, and one writer.
And that cutover is coming, which is the next slide.
Workbook: Attribute-Driven Migration guide, Stage 1 "What it is," "Decisions and owners," "Failure modes"; Book 01, Chapter 04 — "What the attributes drive"; Book 03, Chapter 04 — "System of record versus identity provider," "Authoritative versus derived attributes," "One person, layered identifiers"; Chapter 07 — "Where ownership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[10:49–12:34]  Federal HR 2.0 will supply most of these attributes for federal employees, so it belongs in Stage 1, not after it. These are Book 03 Chapter 03's facts, dated October 20, 2026; the guide didn't re-check the schedule after that, and says to confirm it with the HR 2.0 program office.
The joint OMB and OPM memorandum of December 10, 2025 consolidates the government's Core HCM systems onto one government-wide platform, and OPM awarded the contract to Oracle, Oracle Fusion Cloud HCM, on June 10, 2026. Wave 1 is the volunteer agencies; Wave 2 is everyone else, in fiscal 2027; the adoption goal is fiscal 2028; and the memo expects the platform to make eOPF and EHRI redundant. The sample onboarding runs about eight months with interconnections live around month five, which Book 03 treats as a planning assumption.
What OPM doesn't require matters more. No OPM document mandates or specifies how the platform integrates with the agency's directory. The solicitation's identity requirements point into the platform: its users sign in through OPM's identity provider and are provisioned by SCIM. The reverse direction appears only as a sample interconnection, an Identity Management Solution fed by Core HCM, with no protocol, product or directory named, and the Steering Committee approves agency integrations.
So the Entra design is the agency's own. The book's design guidance: take the HR-to-identity feed to the Steering Committee in Phase 0 and name it in the memo's integration inventory, because the window closes at go-live.
Workbook: Attribute-Driven Migration guide, Stage 1 "Building the attributes from Federal HR 2.0"; Book 03, Chapter 03 — "The program facts," "What OPM requires and what it leaves to the agency," "Why this is the opportunity, not the project"; Chapter 12 — "Phase 0: program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[12:34–14:17]  How the record gets from HR to Entra ID. Oracle Fusion Cloud HCM has no native Entra connector, so the Microsoft realization is API-driven inbound provisioning. The figure is Book 03's pipeline: HCM Extracts for the full load and Atom feeds for changes, read by middleware in the agency's boundary. The middleware has five duties per event: validate, failing closed; sequence; normalize to SCIM; write provenance; and reconcile the result. Then it posts to the Microsoft Graph bulk upload endpoint. One rule from Book 03: read the hire, termination and cancellation feeds by published date, or pre-hire workflows never run.
Each provisioning app has its own endpoint and lands users in one of two places, the table at the bottom. For AD-mastered users, most of the estate today, the provisioning agent writes AD, the OU is computed from HR attributes and manager becomes a DN reference; sync carries them up, and the Entra extension-attribute values are read-only. For cloud-mastered users HR writes Entra ID directly. The two converge population by population: HR stays the authority for the person, and AD becomes a shrinking downstream target.
Licensing, from Microsoft Learn on October 29, 2026. API-driven provisioning is included with Entra ID P1, P2 and ID Governance. It became generally available in the US Government cloud in June 2025, and the feature-availability table lists it. The daily cap is 2,000 calls with P1 or P2 and 6,000 with ID Governance, at up to 50 operations a call.
Workbook: Attribute-Driven Migration guide, Stage 1 "The path from HR to Entra ID," "Licensing and GCC"; Book 03, Chapter 05 — "Why API-driven inbound provisioning," "What the feeds do,"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[14:17–16:06]  HR supplies most of the person, but not all of it, and the guide names a writer for every fact HR doesn't own.
Contractors and vendors aren't in HRIT. Book 03's rule is one authority per fact: the suitability register, the contract record, the PIV system, and a federal sponsor who is mastered in HR. Account type, slot 7, is the identity team's; during the transition a sync rule derives it from OU placement, and that rule is dropped once the value is on the source object. Clearance comes from the personnel security system. The do-not-sync flag is identity operations', in AD. Device attributes come from device provisioning at registration, through Graph, not from the user's HR record. Where someone signs in from is a sign-in signal: duty location is for scoping, and network-location policy enforces on the sign-in. Credentials, sessions and membership belong to the identity platform.
On the right, the pipeline doesn't wait for Core HCM. Book 03's reference deployment builds the middleware against the current HR system and Core HCM sandbox extracts at once, and switches source at go-live. Four choices make that a source swap: key on an agency-owned person key; map to OPM's standard elements, not vendor field names; keep one door into the directory, so validation, provenance and reconciliation outlast the source; and don't build on EHRI or eOPF shapes.
Where no HR feed exists yet, the guide's design guidance treats whoever stewards the attributes by hand as a temporary source contract, then retires it the way the contractor sequence does.
Workbook: Attribute-Driven Migration guide, Stage 1 "What HR supplies, and what it doesn't," "Before the agency's wave lands"; Book 03, Chapter 04 — "Authoritative versus derived attributes"; Chapter 06 — "One fact, one authority," "Sequence: start with what already exists"; Chapter 13 — "Phase by phase"; Book 05, Chapter 08 — "The device attribute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[16:06–17:55]  The canonical schema is the data architect's, with HR owning the code lists. The chain on the left is Book 03's ownership model: OPM's standard defines the element and its codes, HR owns each person's value, the data architect stewards one name and one definition, the provisioning service is the only writer, and consumers read the value. A red arrow runs back: corrections flow upstream.
Book 03's design rules. Native Entra attributes first. Three coded extension attributes for access: organization code in slot 10, worker type code in slot 11, position category in slot 12. Codes, never display strings, in anything a rule reads. The table shows the program's carriers; FIN-LED and the other codes are placeholders for the agency's own lists. Division and cost center mirror employeeOrgData in slots 6 and 5, because rules can't read employeeOrgData; the worker type code mirrors employeeType for the same reason. Hire date is readable by rules only in preview, so keep it out of production rules; leave date isn't readable at all. For AD-landed users, the dates travel in slots 2 and 3 and a sync rule maps them. Use the same carrier in both landing zones, so a rule on slot 10 works for hybrid and cloud users alike.
And the writer rule, which is the one that holds the rest together. The provisioning service is the only writer of every schema field. Help-desk, self-service and Exchange-admin write paths to the access slots are removed, and security decides write permissions on HR-mastered attributes. Any other write is drift.
Workbook: Attribute-Driven Migration guide, Stage 1 "The canonical schema," "Writers"; "Attribute-to-mechanism crosswalk"; Book 03, Chapter 06 — "Design rules," "Writers," "Program attribute map," "The schema"; Chapter 07 — "The data architect"; Book 06, Chapter 17 — "FedRAMP Moderate in the commercial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[17:55–19:36]  Stage 2 is the one most programs want to skip, and the one Book 03 says not to. Every later control reads these attributes, so prove them before anything depends on them. The strip across the top is Book 03's phase model; Phase 1 is standards and authority, and its gate is Stage 2's.
The work. Baseline HR against reality for worker type, organization, supervisor and status, and fix every error at the source; HR owns the fix. Populate employeeId on existing accounts before the first full sync, because matching is what prevents duplicate identities at go-live. Flag every unmatched enabled account as an orphan candidate and give it an owner. Confirm the extension-attribute carriers are free. And remove the other writers: in AD, the write paths on the target OUs and Exchange's custom-attribute cmdlets.
The decision is the correlation threshold, set by the agency's risk governance. Ninety-nine percent on the pilot cohort is Book 03's proposed starting point, not a requirement, and a risk-tiered threshold is usually better. The gate: the threshold met on the pilot, and every enabled account correlated or on a dated exception list. Book 03 Chapter 07 adds that the privacy basis, the PIA and the minimized attribute set are Phase 1 gate items too.
The failure mode is automating against unverified data in month one. And expect a burst of high-severity findings when a new pipeline starts. That's the measurement working, not the program failing.
Workbook: Attribute-Driven Migration guide, Stage 2; Book 01, Chapter 04 — "From sessions to tokens"; Book 03, Chapter 06 — "Writers"; Chapter 07 — "The privacy office"; Chapter 11 — "Drift between HR and the directory"; Chapter 12 — "Sequencing principle," "Phase 1: attribute authority and schema," "The program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[19:36–21:21]  Stage 3 is the plumbing between HR, AD and Entra ID during coexistence. The figure is Book 02's sync and sign-in decision.
Two decisions, both identity engineering's. The sync engine: Cloud Sync, the default, unless a Connect-only requirement applies, such as very large domains or groups, advanced sync rules, or cross-forest references. And the sign-in method: password hash sync everywhere, which leaked-credential detection and outage survival both need.
Then filtering and attribute flow. The do-not-sync scoping filter reads slot 15. The date mappings carry hire and leave dates for AD-landed users. And the transitional account-type rule derives slot 7 from OU placement until the value is on the source object, then it's dropped.
The gate comes from two books. Book 02's Phase 1: object counts within plus or minus one percent, no sync errors, and an attribute spot check. Book 03's Phase 3: the initial full sync reconciled before deltas, then shadow mode with every difference between pipeline and directory explained, and zero unmatched-record creations.
Three failure modes. A soft or hard match overwrites cloud attributes with on-premises values, so clean AD first and keep both match types blocked outside a planned window. A Connect Sync server that isn't on version 2.6.84.0 with application-based authentication stops synchronizing on April 7, 2027. And an omitted attribute in a bulk-upload record can clear the target value if clearing is enabled, so send the complete record every time.
With the attributes true and in place, Module 3 puts them to work.
Workbook: Attribute-Driven Migration guide, Stage 3; Book 02, Chapter 09 — "Choosing and configuring the sync engine," "Filtering," "Attribute flow and transformations," "Soft match and hard match," "Cloud Sync or Connect Sync"; Chapter 10 — "Phase 1"; Book 03, Chapter 05 — "The middleware"; Chapter 06 — "The schema"; Chapter 12 —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[21:21–22:06]  Module 3: from attributes to mechanisms. The attributes are true and in the directory. Now each mechanism that replaces an OU job reads them, and each has its own rules for what it can read.
So: Stage 4, OU subtrees rebuilt as dynamic-group rules; Stage 5, delegation through administrative units; Stage 6, Conditional Access personas and Intune targeting. Then the question the guide asks of every other object the tree held: does Microsoft document targeting it by attribute? Intune devices, Azure Arc servers, service principals and custom security attributes, and a crosswalk by object type. And last, PIV and CAC certificate binding, which is attribute-driven too.
Workbook: Attribute-Driven Migration guide, Stages 4–6, "Beyond users," "PIV and CAC certificates as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[22:06–23:48]  Stage 4. AD answered "who is in the Finance branch?" by walking the tree. Entra ID answers it by evaluating a rule. The strip at the top is Book 03's derivation chain: the personnel record, the stamped codes, dynamic groups where nobody joins by hand, and then access.
Every governed group uses one of two patterns from Book 01. A node query captures one place in the organization by organization code, and a roll-up over several codes uses the in operator rather than a chain of ors. A functional query combines an organizational attribute with another, for a question that isn't about position at all, like every IT user in the security position category, in every region. And every access rule explicitly excludes disabled accounts, guests and agents' user accounts.
The decision: convert a group only where its membership really follows department, location or role; otherwise keep it assigned. The application owner decides the access rule, and HR owns the values. Flatten nested chains rather than rebuilding them.
The gate is Book 06's: no dynamic group grants production access until its attributes are verified for a pilot cohort and its rule has been validated, shadowed against the group it replaces and reconciled.
Two failure modes. A rule on a display string breaks the next time someone retypes it. And a rule change removes existing members who no longer match, so a rule edit is a change with blast radius. Next, delegation.
Workbook: Attribute-Driven Migration guide, Stage 4; Book 01, Chapter 04 — "The two query patterns"; Book 02, Chapter 09 — "Converting static groups to dynamic groups," "Nested groups"; Book 03, Chapter 07 — "Who uses it"; Chapter 10 — "Rule patterns"; Book 06, Chapter 16 — "Flat by design"; Chapter 17 — "Writing, naming and testing rules," "Choosing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[23:48–25:29]  Stage 5. OU-level delegation becomes administrative units: containers of users, groups or devices against which a role is assigned, so it applies only to the unit's members. The figure is the three-tier model. Tenant-scoped readers sit on top, because reader roles have no unit scope. Department units sit below with user and group administrators. Division units, created on demand, hold help-desk and password roles. Units don't nest; the dashed lines are naming only.
Each unit's dynamic rule mirrors the matching group's rule, and division units read the division code in slot 6.
The decisions. The delegation model is identity engineering's. Restricted management is a per-unit decision with a default of no, and it's made before the unit exists, because it can't be changed afterward. Role principals are assigned, role-assignable groups whose members are PIM-eligible. And create the unit and its scoped assignment before the groups it will hold, so there's no window where only a tenant-wide administrator can manage them.
The gate: every unit's rule matches the registry with processing on, every role assignment is in the matrix, and the scoped role is denied outside its unit.
Three failure modes from Book 01. Treating a unit as a confidentiality boundary when it only scopes writes. Restricting a broad HR-driven population, which removes it from PIM, entitlement management, Lifecycle Workflows and access reviews. And expecting a Global Administrator to be locked out, when restriction only makes the bypass deliberate and audited.
Workbook: Attribute-Driven Migration guide, Stage 5; Book 01, Chapter 04 — "The three-tier model," "Restricted management"; Book 02, Chapter 05 — "What administrative units are," "Division AUs," "Restricted management: a per-AU decision," "Role assignment matrix," "Drift detection"; Chapter 06 — "The responsibility matrix"; Book 06, Runbook R07 —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[25:29–27:07]  Stage 6. GPOs inherited down the tree; Conditional Access policies and Intune assignments target groups. So the targeting unit becomes a persona built from authoritative attributes. Internals come from the worker type code in slot 11. Admins come from account type Privileged, or the PIM-eligible population. And the emergency-access group is excluded from enforced policies.
The figure is Book 04's most important pattern. A grant policy restricts nothing on its own: requiring phishing-resistant MFA for Finance on the payroll app doesn't stop anyone else. It needs a paired block for everyone who isn't in the group.
The gate. Every policy runs in report-only for two to four weeks, then is enforced in waves behind a monitoring gate, with the emergency-access group excluded, and every policy targets only governed groups. The CISO owns the control requirements. Some GPO settings aren't Conditional Access controls at all; account lockout goes to Entra smart lockout or Intune.
Three more failure modes, all attribute-shaped. A policy that includes a dynamic group silently misses every user whose attribute is empty, so the block side has to catch them. Role targeting doesn't reach roles scoped to an administrative unit, so target the administrators' group instead. And Conditional Access doesn't inherit through units, so the branch group has to include everyone the ancestor GPO targeted.
Devices are the other half of Stage 6, and there the guide corrects the emphasis.
Workbook: Attribute-Driven Migration guide, Stage 6; Book 01, Chapter 04 — "Conditional Access: the policy-inheritance replacement," "Verification"; Book 02, Chapter 09 — "Testing and rollout"; Book 04, Chapter 03 — "Personas," "Policies come in pairs," "Exclusions," "Users, groups, roles and workload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[27:07–28:46]  Intune targeting is where Microsoft's current guidance changes the emphasis, and Book 05 now carries it.
By default Book 05 assigns each Intune policy to dynamic device groups built from device extension attributes, with assignment filters as a second layer for hardware, ownership, join type and OS. The figure is that layering: device attributes on the Entra device object, dynamic device groups, then the assignment with exclusions and a filter, then one owning policy per setting, feeding compliance to Conditional Access.
Microsoft Learn, checked October 29, 2026, moves the emphasis. Intune can assign to user groups too: settings that belong to the user, such as email and user certificates, go to user groups, and settings that must stay on a device go to device groups. Dynamic device groups add processing delay, and for time-sensitive assignment Microsoft recommends an assignment filter on a user group or on All devices. So prefer filters where they meet the need.
It's not a contradiction for extension-attribute targeting, because filters evaluate Intune device properties at check-in and can't read extension attributes. Security tier, device role and environment still belong in dynamic device group rules. The guide and Book 05 state both.
And one rule underneath everything: device rules can read only device attributes, never the device owner's. A user's organization code never reaches a device group by itself; device attributes come from device provisioning. Next slide, how those are written.
Workbook: Attribute-Driven Migration guide, Stage 6 "What it is," "Limits: latency"; verification log D2; Book 05, Chapter 08 — "Assignment strategy," "The device attribute schema," "Policy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[28:46–30:21]  Beyond users. The stages move users, but the tree held other objects, and the guide asks the same question of each: does Microsoft document targeting it by attribute? For Intune and Entra devices, yes. These are Microsoft Learn facts as of October 29, 2026.
Dynamic device groups read device properties, such as OS type, ownership, trust type, enrollment profile name, physical IDs and extension attributes one through fifteen, and only device properties. Windows Autopilot devices carry their own markers: a rule on the zero-touch ID marker selects every Autopilot device, and the Autopilot group tag maps to the device's order ID, so a rule can select one tag.
Writing device extension attributes is a Graph call, a patch on the device with an extension-attributes body. The permission depends on the call. Microsoft's least-privileged application permission is Device read-write all. For delegated calls it's Directory access-as-user all, with Intune Administrator as the least-privileged role. And in app-only calls, or for non-Windows devices, only the extension attributes can be updated. Book 05's sample signs in with the delegated permission, as at least Intune Administrator.
Assignment filters evaluate Intune properties at check-in, operating-system version among them; no extension attributes, which matches Book 05. And scope tags delegate inside Intune: at most 100 per object or role, and Intune's role-based access control doesn't apply to Entra roles.
Workbook: Attribute-Driven Migration guide, "Beyond users: Intune and Entra devices"; verification log D5; Book 05, Chapter 08 — "Writing a device attribute," "Scope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[30:21–32:03]  Azure Arc-enabled servers: yes, attribute-driven, but through Azure Resource Manager rather than Entra ID. The figure is Book 05's management plane: the on-premises server runs the Connected Machine agent, still domain joined until a separate decision, and connects outbound to an Arc machine resource with its resource ID, tags, Azure role assignments and extensions, plus a system-assigned managed identity in Entra ID.
From Microsoft Learn, October 29, 2026. Once connected, the server is an Azure resource, organized by management group, subscription and resource group like an Azure VM, and policies, role assignments and tags apply the same way. Tags are its attributes: key-value pairs set at onboarding, where the connect command takes a comma-delimited tag list, or afterward through the portal, CLI, PowerShell, ARM templates or Azure Policy. Book 05 sets the program's tag taxonomy and warns that tags are plain text.
Azure Policy assignments are scoped by management group, subscription or resource group, and rules can test tag values. The built-in policy that inherits a tag from the resource group if it's missing uses the modify effect, and a remediation task fixes existing resources. Resource Graph queries server metadata and tags at scale.
And one boundary, stated as the guide states it. Azure attribute-based access control conditions can currently be added only to role assignments with blob or queue storage data actions. Microsoft doesn't document them for managing Arc servers. So role assignments at those scopes govern who manages the server.
Workbook: Attribute-Driven Migration guide, "Azure Arc-enabled servers: yes, through Azure Resource Manager"; Book 05, Chapter 09 — "Resource groups and tags," "Azure Policy and machine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[32:03–33:46]  Service principals and applications: partly. The table at the top is the guide's view of which attribute store each mechanism can read, from Microsoft Learn as of October 29, 2026.
Extension attributes one to fifteen work in dynamic rules for users and devices, device filters read the device's slots, and Lifecycle Workflows can scope on them. Directory extension properties work in rules, single-value only, and Conditional Access use isn't documented. Custom security attributes can't be used in dynamic membership rules, but Conditional Access can filter applications by them on service principals, string type only, evaluated at token issuance; Azure ABAC conditions can read them on the principal; Lifecycle Workflows can scope on them; and they can be provisioned from HR, including through API-driven provisioning. Azure resource tags feed Policy, Resource Graph and Update Manager dynamic scoping.
For service principals specifically. Conditional Access for workload identities covers single-tenant service principals assigned directly; a group that contains one isn't enforced, Block is the only grant, managed identities aren't covered, and Workload ID Premium is required. App role assignment to users and groups reaches the token's roles claim; group-based assignment needs P1 or P2 and doesn't cascade to nested groups. And Microsoft documents no dynamic-group rule type for service principals; agent identities aren't supported as members.
Custom security attributes suit sensitive values no rule reads, because reading them is restricted to the attribute roles. Access codes stay in slots ten to twelve, as Book 03 decides.
Workbook: Attribute-Driven Migration guide, "Service principals and applications: partly," "Which attribute store each mechanism can read"; Book 03, Chapter 06 — "Design rules"; Book 04, Chapter 03 — "Target resources"; Book 05, Chapter 09 — "Resource groups and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[33:46–35:29]  This is the guide's object-type crosswalk on one slide: for each object, the attribute store, who writes it, what consumes it. Every row carries a Microsoft Learn source in the guide, checked October 29, 2026.
Users have three stores. Native attributes and extension attributes, written by HR through API-driven provisioning, either into Entra ID or into AD and then sync, and consumed by dynamic groups and units, Conditional Access through groups, and Lifecycle Workflows. Custom security attributes, assigned by the Attribute Assignment Administrator or provisioned from HR, consumed by Azure ABAC and Lifecycle Workflows scope. And certificateUserIds, which the PIV slides come to next.
Devices have three too. Extension attributes, written through Graph at registration, with the delegated or app-only permission from the devices slide, and read by dynamic device groups and Conditional Access device filters. Enrollment profile and physical IDs, set by Intune at enrollment and by Autopilot registration and group tag. And Intune's own inventory, model, ownership and OS SKU, which only assignment filters read.
Arc servers carry Azure tags and their resource group, written at connect time or by CLI, PowerShell, ARM or a Policy modify effect, and consumed by Policy, Resource Graph and role-assignment scope. Service principals carry custom security attributes for application filters and ABAC, or nothing at all: workload-identity Conditional Access is direct assignment by the Conditional Access Administrator.
The pattern to take away: every row names one writer. That's the same single-writer rule as the user schema.
Workbook: Attribute-Driven Migration guide, "Object types, stores, writers and consumers," "Attribute-to-mechanism crosswalk"; Book 02, Appendix C — "Extension attribute assignments"; Book 03, Chapter 06 — "Program attribute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[35:29–37:13]  Certificate-based authentication is attribute-driven too: Entra ID finds the user by matching a field of the presented certificate to a user attribute. Book 03 Chapter 09 and Book 07 Chapter 06 carry the design; the guide ties it to attribute sourcing. The strip is Book 03's credential chain: the HR joiner event starts sponsorship, proofing follows, card management issues the PIV credential, it's bound to the account, and phishing-resistant sign-in records the assurance.
Microsoft Learn, October 29, 2026. By default the SAN Principal Name maps to userPrincipalName. The table is the binding policy: name and email fields, low affinity; subject and issuer-and-subject, also low, to certificateUserIds only; and subject key identifier, public-key hash and issuer-and-serial, high affinity. A note from the verification log: Microsoft's prose says three low-affinity mappings while its own table marks four; the guide and the chapters follow the table.
High-affinity bindings use identifiers that can't be reused. The tenant's required affinity defaults to low, can be set to high or overridden by rules on issuer or policy OID, and when high applies the low bindings are dropped. With several bindings, CBA is only as secure as the lowest one. Setting the tenant to high before every user's value is right can lock users out. The program's position is high affinity in production.
And strength. The built-in phishing-resistant strength accepts multifactor CBA; the binding policy treats every certificate as single-factor by default, and issuer or OID rules raise PIV or CAC certificates to multifactor.
Workbook: Attribute-Driven Migration guide, "PIV and CAC certificates as attributes": "Username binding," "Affinity," "Authentication strength"; verification log D6; Book 03, Chapter 09 — "Binding the PIV certificate to the Entra user"; Book 07, Chapter 06 — "Entra certificate-based authentication," "Username bindings and affinity."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[37:13–39:11]  The certificate user IDs attribute is the one that carries a PIV or CAC binding, so who writes it matters as much as any HR attribute. From Microsoft Learn, October 29, 2026.
It holds up to ten values of up to 1,024 characters, each unique in the tenant, with case-sensitive prefixes. For cloud-only users, at least a Privileged Authentication Administrator writes it, in the admin center, up to four values of 120 characters there, or through Graph on the user's authorization info. For synced users, at least the Hybrid Identity Administrator role is needed and only Microsoft Entra Connect can update it, by syncing a value from AD such as altSecurityIdentities, or an expression over the UPN. Microsoft notes that AD administrators can change the value for any synced account, and asks that only current valid certificates be populated and that values be removed on expiry or revocation. The page names Entra Connect only; it doesn't document Cloud Sync for this attribute, and the guide says so.
Where the binding comes from. HR supplies the person: the record, the key and the joiner event. The card management system supplies the binding, because a high-affinity value identifies one certificate and a reissue changes it. During hybrid it's written to altSecurityIdentities in AD, which strong certificate mapping also uses on domain controllers, and synced.
After AD, the design is that the card management system writes the value through Graph at issuance. That's design guidance and unverified: an open pilot, workbook issue 130, asking which permission a workload needs and how the write behaves once source of authority has moved. Microsoft documents neither. Module 4 puts all of this to work.
Workbook: Attribute-Driven Migration guide, "PIV and CAC certificates as attributes": "certificateUserIds," "Where the binding comes from"; verification log claims 70 and 74, "Could not verify"; Book 03, Chapter 09 — "Binding the PIV certificate," "The canonical leaver sequence"; Book 07, Chapter 06 — "Strong certificate mapping"; Chapter 07 — "AD CS chain into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[39:11–39:51]  Module 4: running it. The model is in place, the attributes are true and every mechanism reads them. Now the guide follows one person through a mover event to show the chain working, then runs the cutover and the drift loop that keeps it true.
So: the worked example, one budget analyst and one reassignment with no ticket; Stage 7, the phased cutover and how a population proves HR is its sole source; Stage 8, drift detection and correction at the source; the limits as the chapters and Microsoft state them; and the checklist and decisions.
Workbook: Attribute-Driven Migration guide, "Worked example," Stages 7–8, "Limits,"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[39:51–41:29]  The guide's worked example follows one user. A budget analyst in a finance division, a federal employee, AD-mastered because her division hasn't cut over yet. The codes are placeholders.
Stage 1, the record. Core HCM holds her worker record and assignment, and the crosswalk projects it: her enterprise person key in employeeId, department Finance, organization code FIN-LED in slot 10, a division code in slot 6, worker type EMP in slot 11, position category ANALYST in slot 12, a region code, and her supervisor as manager.
Stage 3, the landing. Because she's AD-mastered, the provisioning agent writes these values to her AD account and Cloud Sync projects them to Entra ID, where her extension attributes are read-only.
Stages 4 to 6, the effects, the right-hand column. She's in the node group for FIN-LED and the functional group for analysts across organizations. She's in the department and division units, so the division's scoped help desk can reset her password. She's in the Internals persona, so the baseline Conditional Access policies apply. She's in a SQL Server reader group whose rule reads her organization and position codes. Her supervisor approves her access packages and reviews her access.
And the last row is deliberately not her record. Her laptop's policies come from device groups on the laptop's own tier and role attributes. Nobody assigned her to any of this by hand. Now HR moves her.
Workbook: Attribute-Driven Migration guide, "Worked example: one user and one mover event," Stages 1, 3 and 4–6; Book 02, Chapter 05 — "Role assignment matrix"; Book 03, Chapter 05 — "Landing in Active Directory"; Chapter 06 — "Program attribute map"; Chapter 10 — "Rule patterns"; Book 04, Chapter 03 — "Personas"; Book 05, Chapter 08 — "Tier groups"; Book 06, Chapter 17 — "Choosing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[41:29–43:27]  HR processes her reassignment to the accounts-payable division as a personnel action, nature-of-action code 721, which the figure classifies as a seven-hundred-series mover. Nobody opens a ticket. The chain:
One. Core HCM publishes the change on its assignment feed; the middleware validates it, writes a provenance record and sends her complete record to bulk upload, with organization code FIN-AP and the new division code.
Two. The provisioning agent updates her AD account, and the next sync cycle carries the values to Entra ID. Attribute-change triggers fire only after the sync delivers the change.
Three. Dynamic groups and units recompute. She leaves the FIN-LED groups and the old division unit and joins the FIN-AP ones, usually within a few hours but possibly more than 24. The analyst group and the Internals persona don't change, because position category and worker type didn't. Access the SQL Server group gave her ends at the engine only after rule processing, token expiry and session turnover.
Four. The mover workflow, triggered by the division-code change, removes the old department's access package, requests the new one, notifies the managers and starts a review of what's left, because access from a package or a direct assignment doesn't leave on its own. Approvals now route to her new supervisor.
Five. Her laptop's device groups don't move, because device rules can't read her attributes; that's device reconciliation, not HR.
Six. The drift scan compares her HR record with the directory field by field. The evidence is the provenance record, the provisioning log, the workflow history and the transfer-to-review interval PS-5 asks for. When her division cuts over, the same record lands in Entra ID directly, and nothing she has changes.
Workbook: Attribute-Driven Migration guide, "Worked example: The mover event"; Book 01, Chapter 04 — "Mover"; Book 02, Chapter 10 — "Lifecycle Workflows," "Mover workflow"; Book 03, Chapter 05 — "The middleware"; Chapter 08 — "Personnel actions are the triggers," "Mover"; Chapter 11 — "The measured lifecycle"; Book 05, Chapter 08; Book 06, Chapter 16 — "When a change takes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[43:27–45:25]  Stage 7 is a phased runbook, not a flag day. The bottom-left figure is Book 00's waves by attribute: because waves are defined by attribute values, each wave's scope is a query and its dynamic groups already exist. A pilot division first, then division by division, two or three at a time, each drift-clean before the next. Book 05's workload waves run inside those division waves.
Decisions. Wave go and no-go is identity engineering's. Leaver automation goes first, because revocation is where the risk and the evidence are. Align each population's HR cutover with its move to Entra ID and with the agency's Core HCM interconnection. And as a population becomes cloud-mastered, retarget its provisioning from the AD app to the Entra app, with the AD leg dormant but intact. Microsoft's source-of-authority guidance, checked October 29, 2026, says the same: once the users' sync cycle completes, remove them from the HR-to-AD scope and add them to the HR-to-Entra configuration.
The gate is the strip across the top, Book 03's Appendix C. Acceptance tests by worker type, a signed validation report, a dry run on production data with writes disabled, cutover with rollback ready, then seven days in which every change for the population traces to an HR event, and only then the ticket path for account creation closes. Cloud-mastered populations run the full lifecycle with no AD writes, and rollback has been tested once. Legacy retirement is the only destructive phase, approved item by item.
Failure modes: a division reaching full availability before its own pilot is drift-clean; deleting GPOs instead of disabling links; and deleting a synced user only in Entra ID, which the next sync restores.
Workbook: Attribute-Driven Migration guide, Stage 7; Book 00, Chapter 09 — "Waves defined by attribute values"; Book 01, Chapter 04 — "Migration phases," "Phase 4: legacy retirement"; Book 03, Chapter 08 — "Deletion"; Chapter 12 — "Phase 4," "Phase 5"; Appendix C — "Proving HR is the sole source"; Book 05, Chapter 08 — "Phase 5,"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[45:25–47:12]  Stage 8 keeps the statements true. The loop at the top is Book 03's: the HR record says what should be true, the directories and applications hold what is true, a scheduled comparison finds the differences, and each is corrected and evidenced.
Two comparisons run on a schedule. HR against the directory, with Book 03's drift classes: missing identity, stale access, orphan account, attribute drift, unauthorized write, credential drift and schema drift. And the unit and role registry against the tenant, with Book 02's checks: unit rule drift, paused rule processing, unmatched role assignments and restriction mismatches.
The CISO owns continuous-monitoring evidence and drift findings. Each finding is closed at the source, by fixing the record or the rule, never the copy. If you patch the directory value, the next sync or provisioning cycle puts the wrong one back, and you've hidden the real error.
The gate is Book 01's verification list: valid attributes for every HR-listed worker, every group on one of the two patterns, every unit rule mirroring its group with processing on, every policy targeting only governed groups, zero drift findings, and a zero-action nightly plan. Book 03 adds a recurring gate: the six lifecycle metrics within thresholds on the ConMon cadence.
Two failure modes. Entra ID's log retention is far shorter than federal records schedules and isn't retroactive, so route logs out from the pilot's first day. And access-review decisions don't change dynamic-group membership; the next evaluation puts the member back, so review the rule and its inputs instead.
Workbook: Attribute-Driven Migration guide, Stage 8; Book 01, Chapter 04 — "Verification"; Book 02, Chapter 05 — "Drift detection"; Chapter 06; Chapter 10 — "The assessment pipeline"; Book 03, Chapter 11 — "Drift between HR and the directory," "The evidence each event leaves"; Chapter 12 — "Phase 6"; Book 06, Chapter 17 —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[47:12–49:06]  The limits, as the chapters state them, with the Microsoft Learn pages re-checked on October 29, 2026.
Where dynamic membership stops. Groups that hold Entra roles must have assigned membership, can't nest, and are capped at 500 per tenant. PIM for Groups doesn't take dynamic groups or groups synced from AD, so privileged access is assigned, cloud-only and time-bound, and HR attributes decide only eligibility. Break-glass accounts depend on none of this machinery.
Rule limits. A rule body is at most 3,072 characters, a tenant can have at most 15,000 dynamic groups, and dynamic units count against the same total. Rules can't read employeeType, employeeOrgData or manager, and multi-value extension properties aren't supported; both still held on October 29. Prefer equals, starts-with and in over match and contains. And dynamic groups hold users or devices, never groups.
The date to note. The memberOf preview ends on November 3, 2026, after which groups, units and auto-assignment policies that use it freeze in their last state. Microsoft's page still said so on October 29, five days before that date. The checklist says plainly: no memberOf.
Latency. Membership is usually processed within a few hours but can take more than 24; for bulk changes Microsoft recommends pausing nonessential groups for at least a day. Tokens live 60 to 90 minutes by default, so urgent removal disables the account and revokes sessions. Lifecycle Workflows run on a tenant schedule, every three hours by default, with a three-day catch-up. Synced users also wait for the sync cycle, and dynamic Intune device groups add the same delay, which is why Microsoft points time-sensitive assignment at filters.
Workbook: Attribute-Driven Migration guide, "Limits": "Where dynamic membership stops," "Rule limits," "Latency"; Book 02, Chapter 09 — "Dynamic group rule syntax"; Book 03, Chapter 06 — "Design rules"; Chapter 08 — "Triggers and schedule"; Chapter 10 — "Where dynamic membership stops," "Limits and efficiency"; Book 04, Chapter 03; Book 06,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[49:06–51:10]  More limits, and two places where the guide corrects or qualifies a chapter.
Administrative units. They don't nest; they're a write boundary, not a confidentiality boundary; and only some roles can be unit-scoped. Dynamic units hold one object type and are available only in the global Azure cloud: a GCC tenant can use them, GCC High and DoD can't. Microsoft's prerequisite still read that way on October 29. And there's a cap of 100 restricted management units, whose members fall outside Entra ID Governance.
Lifecycle Workflows need Entra ID Governance or Entra Suite, and ID Governance is available in GCC, GCC High and DoD. Here's the correction. A tenant can hold up to 100 workflows and 100 custom task extensions. Book 02 Chapter 10 says 50 workflows; Microsoft Learn says 100, and the guide states 100 and flags the chapter. An on-demand run covers at most ten users. And no built-in task revokes a certificate or a PIV credential, or retires a device, so those are custom extensions.
What still needs AD during hybrid. The attributes themselves for every synced user, since AD is where they're written. Kerberos applications, which need a cloud group provisioned back as a universal group. Disposition of synced users. DNS, DHCP and Kerberos-bound legacy apps, which keep the forest alive after it stops being the governance model, and any surviving Windows login to SQL Server bypasses Conditional Access. And domain-level GPOs that hybrid-joined devices still need.
Moving a user's source of authority has prerequisites Microsoft lists: HR integrated directly with Entra ID, no on-premises Exchange, no AD FS for those users, and no password-based apps such as LDAP bind. Whether that transfer is available in GCC is still open in Book 03's verification register; the guide couldn't verify it.
Workbook: Attribute-Driven Migration guide, "Limits": "Administrative units," "Lifecycle Workflows," "What still needs AD during hybrid"; Stage 1 "Licensing and GCC"; verification log D1 and "Could not verify"; Book 01, Chapter 04; Book 02, Chapters 05, 09 and 10; Book 03, Chapters 06, 08 and 12; Book 05, Chapter 08; Book 06,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[51:10–53:02]  The guide's checklist, one row per stage, plus a row for PIV. It's design guidance, and it's meant to be printed and ticked.
A few checks that are easy to miss. Stage 0: export site links, not just OU links, because a site-linked GPO hides from an OU-only search. Stage 1: take the HR-to-identity feed to the Steering Committee and name it in the HR 2.0 integration inventory, and start the privacy basis and PIA, which the full checklist carries too. Stage 2: populate employeeId before the first full sync, and remove every other write path to the access slots, in AD and in Entra ID. Stage 3: confirm the carriers are free and in the provisioning apps' target lists, and read the feeds by published date.
Stage 4: every access rule on codes, excluding disabled accounts, guests and agents, and no memberOf, given the preview's end date. Stage 5: decide restriction before the unit exists, and create units before the groups they hold. Stage 6: grant and block policies in pairs, report-only first, the emergency-access group excluded, device attributes written at registration, and one owning policy per setting.
Stage 7: the signed validation report, the dry run with writes off, seven days of sole-source proof, then the ticket path closed and provisioning retargeted per population. PIV: name the card management system as the binding writer, pilot high affinity before the tenant setting changes, require phishing-resistant strength for CBA users, and make the leaver remove the binding. Stage 8: drift scans scheduled, logs routed outside Entra ID from day one, findings closed at the source.
Workbook: Attribute-Driven Migration guide, "Checklist"; Stages 0–8 and "PIV and CAC certificates as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[53:02–54:49]  So, the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and sign-in method, the delegation model with restriction per unit defaulting to no, and each wave's go or no-go.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the CISO owns the control requirements and the drift findings.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In Active Directory, where an object sat decided what applied to it. In Entra ID, what the object says about itself decides. Make those statements true, keep them true, and the migration follows. The guide maps every step to the chapter that carries it. Thank you.
Workbook: Attribute-Driven Migration guide, "The path on one page," "Checklist," Stages 0–8; Book 02, Chapter 06 — "The responsibility matrix"; Book 03, Chapter 07 —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to Entra ID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3.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Attribute-Driven Migration: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Companion guide — moving a forest to Entra ID on attributes, not OU placement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18872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Module 1  The model   ·   Module 2  Sourcing and proving attributes</a:t>
            </a:r>
            <a:endParaRPr lang="en-US" sz="1500" dirty="0"/>
          </a:p>
          <a:p>
            <a:pPr indent="0" marL="0">
              <a:spcAft>
                <a:spcPts val="200"/>
              </a:spcAft>
              <a:buNone/>
            </a:pPr>
            <a:r>
              <a:rPr lang="en-US" sz="1500" b="1" dirty="0">
                <a:solidFill>
                  <a:srgbClr val="0F766E"/>
                </a:solidFill>
              </a:rPr>
              <a:t>Module 3  Attributes to mechanisms   ·   Module 4  Running it</a:t>
            </a:r>
            <a:endParaRPr lang="en-US" sz="1500" dirty="0"/>
          </a:p>
          <a:p>
            <a:pPr indent="0" marL="0">
              <a:spcAft>
                <a:spcPts val="200"/>
              </a:spcAft>
              <a:buNone/>
            </a:pPr>
            <a:r>
              <a:rPr lang="en-US" sz="1500" dirty="0">
                <a:solidFill>
                  <a:srgbClr val="334155"/>
                </a:solidFill>
              </a:rPr>
              <a:t>Facts dated October 29, 2026  ·  design guidance labeled as such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the attributes now decide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left-to-right flow. An amber HR system of record card, the source of authority for hire, move and separation, feeds an amber governed attributes card through an arrow labeled provisioning; the attributes are department, an organization code, worker type and position category. A grey legacy card, OU placement, position encoded as location in a tree, joins the attributes card with a dashed arrow labeled becomes data. From the attributes card three arrows fan out: to a blue dynamic groups card, outcome 1, membership by rule; to a blue administrative units card, outcome 2, delegated scope by rule; and with a dashed violet arrow to a violet drift detection card, outcome 5, attributes checked against HR. The dynamic groups card feeds two more outcomes: a blue Conditional Access card, outcome 3, policies target the groups, and a green group-based licensing card, outcome 4, licenses follow the groups.">    </p:cNvPr>
          <p:cNvPicPr>
            <a:picLocks noChangeAspect="1"/>
          </p:cNvPicPr>
          <p:nvPr/>
        </p:nvPicPr>
        <p:blipFill>
          <a:blip r:embed="rId1"/>
          <a:stretch>
            <a:fillRect/>
          </a:stretch>
        </p:blipFill>
        <p:spPr>
          <a:xfrm>
            <a:off x="548640" y="1371600"/>
            <a:ext cx="6400800" cy="3216402"/>
          </a:xfrm>
          <a:prstGeom prst="rect">
            <a:avLst/>
          </a:prstGeom>
        </p:spPr>
      </p:pic>
      <p:sp>
        <p:nvSpPr>
          <p:cNvPr id="6" name="Jobs" descr="">
            <a:extLst>
              <a:ext uri="{C183D7F6-B498-43B3-948B-1728B52AA6E4}">
                <adec:decorative xmlns:adec="http://schemas.microsoft.com/office/drawing/2017/decorative" val="1"/>
              </a:ext>
            </a:extLst>
          </p:cNvPr>
          <p:cNvSpPr/>
          <p:nvPr/>
        </p:nvSpPr>
        <p:spPr>
          <a:xfrm>
            <a:off x="7178040" y="1371600"/>
            <a:ext cx="4480560" cy="2148840"/>
          </a:xfrm>
          <a:prstGeom prst="roundRect">
            <a:avLst>
              <a:gd name="adj" fmla="val 340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Jobs head"/>
          <p:cNvSpPr txBox="1"/>
          <p:nvPr/>
        </p:nvSpPr>
        <p:spPr>
          <a:xfrm>
            <a:off x="7360920" y="1481328"/>
            <a:ext cx="4114800" cy="310896"/>
          </a:xfrm>
          <a:prstGeom prst="rect">
            <a:avLst/>
          </a:prstGeom>
          <a:noFill/>
          <a:ln/>
        </p:spPr>
        <p:txBody>
          <a:bodyPr wrap="square" lIns="0" tIns="0" rIns="0" bIns="0" rtlCol="0" anchor="t"/>
          <a:lstStyle/>
          <a:p>
            <a:pPr indent="0" marL="0">
              <a:buNone/>
            </a:pPr>
            <a:r>
              <a:rPr lang="en-US" sz="1100" b="1" dirty="0">
                <a:solidFill>
                  <a:srgbClr val="64748B"/>
                </a:solidFill>
              </a:rPr>
              <a:t>THE OU TREE DID FOUR JOBS AT ONCE</a:t>
            </a:r>
            <a:endParaRPr lang="en-US" sz="1400" dirty="0"/>
          </a:p>
        </p:txBody>
      </p:sp>
      <p:sp>
        <p:nvSpPr>
          <p:cNvPr id="8" name="Jobs list"/>
          <p:cNvSpPr txBox="1"/>
          <p:nvPr/>
        </p:nvSpPr>
        <p:spPr>
          <a:xfrm>
            <a:off x="7360920" y="1810512"/>
            <a:ext cx="4160520" cy="1636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Delegation: who may manage the object</a:t>
            </a:r>
            <a:endParaRPr lang="en-US" sz="1400" dirty="0"/>
          </a:p>
          <a:p>
            <a:pPr marL="342900" indent="-342900">
              <a:spcAft>
                <a:spcPts val="400"/>
              </a:spcAft>
              <a:buSzPct val="100000"/>
              <a:buChar char="•"/>
            </a:pPr>
            <a:r>
              <a:rPr lang="en-US" sz="1400" dirty="0">
                <a:solidFill>
                  <a:schemeClr val="tx2"/>
                </a:solidFill>
              </a:rPr>
              <a:t>Policy scope: which GPOs inherit down to it</a:t>
            </a:r>
            <a:endParaRPr lang="en-US" sz="1400" dirty="0"/>
          </a:p>
          <a:p>
            <a:pPr marL="342900" indent="-342900">
              <a:spcAft>
                <a:spcPts val="400"/>
              </a:spcAft>
              <a:buSzPct val="100000"/>
              <a:buChar char="•"/>
            </a:pPr>
            <a:r>
              <a:rPr lang="en-US" sz="1400" dirty="0">
                <a:solidFill>
                  <a:schemeClr val="tx2"/>
                </a:solidFill>
              </a:rPr>
              <a:t>Accountability: which office owns it</a:t>
            </a:r>
            <a:endParaRPr lang="en-US" sz="1400" dirty="0"/>
          </a:p>
          <a:p>
            <a:pPr marL="342900" indent="-342900">
              <a:spcAft>
                <a:spcPts val="400"/>
              </a:spcAft>
              <a:buSzPct val="100000"/>
              <a:buChar char="•"/>
            </a:pPr>
            <a:r>
              <a:rPr lang="en-US" sz="1400" dirty="0">
                <a:solidFill>
                  <a:schemeClr val="tx2"/>
                </a:solidFill>
              </a:rPr>
              <a:t>Security scope: what it can reach</a:t>
            </a:r>
            <a:endParaRPr lang="en-US" sz="1400" dirty="0"/>
          </a:p>
          <a:p>
            <a:pPr marL="342900" indent="-342900">
              <a:spcAft>
                <a:spcPts val="400"/>
              </a:spcAft>
              <a:buSzPct val="100000"/>
              <a:buChar char="•"/>
            </a:pPr>
            <a:r>
              <a:rPr lang="en-US" sz="1400" dirty="0">
                <a:solidFill>
                  <a:schemeClr val="tx2"/>
                </a:solidFill>
              </a:rPr>
              <a:t>Entra ID has no OUs: its directory is flat</a:t>
            </a:r>
            <a:endParaRPr lang="en-US" sz="1400" dirty="0"/>
          </a:p>
        </p:txBody>
      </p:sp>
      <p:sp>
        <p:nvSpPr>
          <p:cNvPr id="9" name="Truth" descr="">
            <a:extLst>
              <a:ext uri="{C183D7F6-B498-43B3-948B-1728B52AA6E4}">
                <adec:decorative xmlns:adec="http://schemas.microsoft.com/office/drawing/2017/decorative" val="1"/>
              </a:ext>
            </a:extLst>
          </p:cNvPr>
          <p:cNvSpPr/>
          <p:nvPr/>
        </p:nvSpPr>
        <p:spPr>
          <a:xfrm>
            <a:off x="548640" y="4816602"/>
            <a:ext cx="11109960" cy="777240"/>
          </a:xfrm>
          <a:prstGeom prst="roundRect">
            <a:avLst>
              <a:gd name="adj" fmla="val 9412"/>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839462"/>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15027"/>
            <a:ext cx="380390" cy="380390"/>
          </a:xfrm>
          <a:prstGeom prst="rect">
            <a:avLst/>
          </a:prstGeom>
        </p:spPr>
      </p:pic>
      <p:sp>
        <p:nvSpPr>
          <p:cNvPr id="12" name="Truth text"/>
          <p:cNvSpPr txBox="1"/>
          <p:nvPr/>
        </p:nvSpPr>
        <p:spPr>
          <a:xfrm>
            <a:off x="1737360" y="4862322"/>
            <a:ext cx="9738360" cy="685800"/>
          </a:xfrm>
          <a:prstGeom prst="rect">
            <a:avLst/>
          </a:prstGeom>
          <a:noFill/>
          <a:ln/>
        </p:spPr>
        <p:txBody>
          <a:bodyPr wrap="square" lIns="0" tIns="0" rIns="0" bIns="0" rtlCol="0" anchor="ctr"/>
          <a:lstStyle/>
          <a:p>
            <a:pPr indent="0" marL="0">
              <a:buNone/>
            </a:pPr>
            <a:r>
              <a:rPr lang="en-US" sz="1650" b="1" dirty="0">
                <a:solidFill>
                  <a:srgbClr val="B91C1C"/>
                </a:solidFill>
              </a:rPr>
              <a:t>One stamp, five outcomes: </a:t>
            </a:r>
            <a:pPr indent="0" marL="0">
              <a:buNone/>
            </a:pPr>
            <a:r>
              <a:rPr lang="en-US" sz="1650" dirty="0">
                <a:solidFill>
                  <a:schemeClr val="tx2"/>
                </a:solidFill>
              </a:rPr>
              <a:t>a wrong HR-sourced attribute is wrong group membership, unit scope, policy, licensing and drift, all at once.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Manage rules for dynamic membership groups (Oct. 29, 2026). Guide, Stage 0 and Stage 1;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model, from placement to attributes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01, Chapter 04  ·  Book 02, Chapters 07–09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5 MINUTES</a:t>
            </a:r>
            <a:endParaRPr lang="en-US" sz="1400" dirty="0"/>
          </a:p>
          <a:p>
            <a:pPr marL="342900" indent="-342900">
              <a:spcAft>
                <a:spcPts val="300"/>
              </a:spcAft>
              <a:buSzPct val="100000"/>
              <a:buChar char="•"/>
            </a:pPr>
            <a:r>
              <a:rPr lang="en-US" sz="1500" dirty="0">
                <a:solidFill>
                  <a:srgbClr val="334155"/>
                </a:solidFill>
              </a:rPr>
              <a:t>What the OU tree encoded, and where each job goes</a:t>
            </a:r>
            <a:endParaRPr lang="en-US" sz="1400" dirty="0"/>
          </a:p>
          <a:p>
            <a:pPr marL="342900" indent="-342900">
              <a:spcAft>
                <a:spcPts val="300"/>
              </a:spcAft>
              <a:buSzPct val="100000"/>
              <a:buChar char="•"/>
            </a:pPr>
            <a:r>
              <a:rPr lang="en-US" sz="1500" dirty="0">
                <a:solidFill>
                  <a:srgbClr val="334155"/>
                </a:solidFill>
              </a:rPr>
              <a:t>The nine stages, their deciders and their gates</a:t>
            </a:r>
            <a:endParaRPr lang="en-US" sz="1400" dirty="0"/>
          </a:p>
          <a:p>
            <a:pPr marL="342900" indent="-342900">
              <a:spcAft>
                <a:spcPts val="300"/>
              </a:spcAft>
              <a:buSzPct val="100000"/>
              <a:buChar char="•"/>
            </a:pPr>
            <a:r>
              <a:rPr lang="en-US" sz="1500" dirty="0">
                <a:solidFill>
                  <a:srgbClr val="334155"/>
                </a:solidFill>
              </a:rPr>
              <a:t>Stage 0: reading the tree before moving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OU tree encoded, and where each job goes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Mechanisms"/>
          <p:cNvGraphicFramePr>
            <a:graphicFrameLocks noGrp="1"/>
          </p:cNvGraphicFramePr>
          <p:nvPr>
            <p:extLst>
              <p:ext uri="{D42A27DB-BD31-4B8C-83A1-F6EECF244321}">
                <p14:modId xmlns:p14="http://schemas.microsoft.com/office/powerpoint/2010/main" val="1579011935"/>
              </p:ext>
            </p:extLst>
          </p:nvPr>
        </p:nvGraphicFramePr>
        <p:xfrm>
          <a:off x="548640" y="1371600"/>
          <a:ext cx="7269480" cy="2334768"/>
        </p:xfrm>
        <a:graphic>
          <a:graphicData uri="http://schemas.openxmlformats.org/drawingml/2006/table">
            <a:tbl>
              <a:tblPr firstRow="1" bandRow="1"/>
              <a:tblGrid>
                <a:gridCol w="2377440"/>
                <a:gridCol w="2743200"/>
                <a:gridCol w="21488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 job</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Entra ID mechanism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Driven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 placement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Organizational attributes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HR, through provisioning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OU-derived security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Dynamic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Rules over coded attributes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OU-level delegation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Administrative units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Unit rules mirroring group rules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GPO inheritance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Conditional Access and Intune targeting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Governed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here" descr="">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here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WHERE THE ATTRIBUTES LIVE</a:t>
            </a:r>
            <a:endParaRPr lang="en-US" sz="1400" dirty="0"/>
          </a:p>
        </p:txBody>
      </p:sp>
      <p:sp>
        <p:nvSpPr>
          <p:cNvPr id="8" name="Where list"/>
          <p:cNvSpPr txBox="1"/>
          <p:nvPr/>
        </p:nvSpPr>
        <p:spPr>
          <a:xfrm>
            <a:off x="8229600" y="1810512"/>
            <a:ext cx="32918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Native Entra attributes first</a:t>
            </a:r>
            <a:endParaRPr lang="en-US" sz="1400" dirty="0"/>
          </a:p>
          <a:p>
            <a:pPr marL="342900" indent="-342900">
              <a:spcAft>
                <a:spcPts val="400"/>
              </a:spcAft>
              <a:buSzPct val="100000"/>
              <a:buChar char="•"/>
            </a:pPr>
            <a:r>
              <a:rPr lang="en-US" sz="1350" dirty="0">
                <a:solidFill>
                  <a:schemeClr val="tx2"/>
                </a:solidFill>
              </a:rPr>
              <a:t>Extension attributes only where a rule can't read a native one</a:t>
            </a:r>
            <a:endParaRPr lang="en-US" sz="1400" dirty="0"/>
          </a:p>
          <a:p>
            <a:pPr marL="342900" indent="-342900">
              <a:spcAft>
                <a:spcPts val="400"/>
              </a:spcAft>
              <a:buSzPct val="100000"/>
              <a:buChar char="•"/>
            </a:pPr>
            <a:r>
              <a:rPr lang="en-US" sz="1350" dirty="0">
                <a:solidFill>
                  <a:schemeClr val="tx2"/>
                </a:solidFill>
              </a:rPr>
              <a:t>Rules can't read employeeType, employeeOrgData or manager</a:t>
            </a:r>
            <a:endParaRPr lang="en-US" sz="1400" dirty="0"/>
          </a:p>
          <a:p>
            <a:pPr marL="342900" indent="-342900">
              <a:spcAft>
                <a:spcPts val="400"/>
              </a:spcAft>
              <a:buSzPct val="100000"/>
              <a:buChar char="•"/>
            </a:pPr>
            <a:r>
              <a:rPr lang="en-US" sz="1350" dirty="0">
                <a:solidFill>
                  <a:schemeClr val="tx2"/>
                </a:solidFill>
              </a:rPr>
              <a:t>Codes, never display strings, in anything a rule reads</a:t>
            </a:r>
            <a:endParaRPr lang="en-US" sz="1400" dirty="0"/>
          </a:p>
        </p:txBody>
      </p:sp>
      <p:pic>
        <p:nvPicPr>
          <p:cNvPr id="9" name="Image 0" descr="A three-column table. Column one lists Active Directory object types, column two the Microsoft Entra ID target, column three how each moves. User object becomes a user, synced and later cloud-managed, moved by sync with a hard match on the source anchor. Security group in AGDLP tiers becomes an assigned or dynamic security group, by sync, conversion, or retirement. Distribution group becomes an Exchange Online group or a Microsoft 365 group, by sync or recreation. Organizational unit becomes administrative units, dynamic groups, and Conditional Access and Intune targeting, re-expressed as attributes. Service accounts, MSAs, and gMSAs, shaded red as legacy risk, become workload identities: managed identities or applications with certificates or federated credentials, re-platformed per workload. AdminSDHolder-protected groups, also red, become Entra roles through PIM plus protected actions, mapped and made eligible with no standing access. Computer objects become devices, hybrid joined and then Entra joined, through a device join transition.">    </p:cNvPr>
          <p:cNvPicPr>
            <a:picLocks noChangeAspect="1"/>
          </p:cNvPicPr>
          <p:nvPr/>
        </p:nvPicPr>
        <p:blipFill>
          <a:blip r:embed="rId1"/>
          <a:stretch>
            <a:fillRect/>
          </a:stretch>
        </p:blipFill>
        <p:spPr>
          <a:xfrm>
            <a:off x="2005058" y="3889248"/>
            <a:ext cx="4356643" cy="2054352"/>
          </a:xfrm>
          <a:prstGeom prst="rect">
            <a:avLst/>
          </a:prstGeom>
        </p:spPr>
      </p:pic>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Manage rules for dynamic membership groups (Oct. 29, 2026). Guide, Stage 0, Limits; Book 01, Ch 04; Book 02, Ch 09;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Nine stages, each with a decider and a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6" name="Stag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411480"/>
                <a:gridCol w="2514600"/>
                <a:gridCol w="3246120"/>
                <a:gridCol w="49377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 what the tree encodes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What each OU function becomes: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Inventory in Git; a decision for every group; OU-to-unit map drafted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Source the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Authority map, person key, contractor source: ICAM governance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Identifier decision, authority map and schema signed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Prove they're true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Correlation threshold: the agency's risk governance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Threshold met on the pilot; every enabled account correlated or excepted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Map them through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Sync engine and sign-in method: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Counts match; no sync errors; shadow-mode differences explained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Subtrees as dynamic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application's access rule: its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rule validated, shadowed against its old group, piloted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Delegate with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Delegation model: identity engineering; restriction default 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Unit rules mirror group rules; role assignments match the matrix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Retarget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 requirements: the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 reviewed; enforced in waves; GPO links disabled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Cut over in phases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Wave go/no-go: 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Seven days of sole-source proof; ticket path closed; rollback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Detect and correct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Drift findings: the 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Zero-action plan; high-severity findings closed or dated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"The path on one page" and "How the books' phase numbers line up"; Book 02, Ch 06 and Book 03, Ch 07 responsibility matrices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0: read what the tree encodes before moving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slate card, Get-GPO -All, Inventory, records name, GUID, status, owner and WMI filter. It feeds two slate cards: Get-GPOReport, XML and HTML reports, one pair per GPO; and Get-GPInheritance, Links and inheritance, with order, enforced, enabled and blocked. Both feed a red card, Unlinked or empty, retire, do not migrate. The reports also feed an amber card, Overlapping settings, resolve before migration, and a green card, Live settings, decomposed by policy area. A blue arrow leads from live settings to a blue card, Intune, Group Policy analytics, MDM support per setting. A dashed arrow also runs from overlapping settings to Group Policy analytics.">    </p:cNvPr>
          <p:cNvPicPr>
            <a:picLocks noChangeAspect="1"/>
          </p:cNvPicPr>
          <p:nvPr/>
        </p:nvPicPr>
        <p:blipFill>
          <a:blip r:embed="rId1"/>
          <a:stretch>
            <a:fillRect/>
          </a:stretch>
        </p:blipFill>
        <p:spPr>
          <a:xfrm>
            <a:off x="548640" y="1371600"/>
            <a:ext cx="6583680" cy="2686691"/>
          </a:xfrm>
          <a:prstGeom prst="rect">
            <a:avLst/>
          </a:prstGeom>
        </p:spPr>
      </p:pic>
      <p:sp>
        <p:nvSpPr>
          <p:cNvPr id="6" name="Collect" descr="">
            <a:extLst>
              <a:ext uri="{C183D7F6-B498-43B3-948B-1728B52AA6E4}">
                <adec:decorative xmlns:adec="http://schemas.microsoft.com/office/drawing/2017/decorative" val="1"/>
              </a:ext>
            </a:extLst>
          </p:cNvPr>
          <p:cNvSpPr/>
          <p:nvPr/>
        </p:nvSpPr>
        <p:spPr>
          <a:xfrm>
            <a:off x="7360920" y="1371600"/>
            <a:ext cx="42976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ollect head"/>
          <p:cNvSpPr txBox="1"/>
          <p:nvPr/>
        </p:nvSpPr>
        <p:spPr>
          <a:xfrm>
            <a:off x="7543800" y="1481328"/>
            <a:ext cx="3931920" cy="310896"/>
          </a:xfrm>
          <a:prstGeom prst="rect">
            <a:avLst/>
          </a:prstGeom>
          <a:noFill/>
          <a:ln/>
        </p:spPr>
        <p:txBody>
          <a:bodyPr wrap="square" lIns="0" tIns="0" rIns="0" bIns="0" rtlCol="0" anchor="t"/>
          <a:lstStyle/>
          <a:p>
            <a:pPr indent="0" marL="0">
              <a:buNone/>
            </a:pPr>
            <a:r>
              <a:rPr lang="en-US" sz="1100" b="1" dirty="0">
                <a:solidFill>
                  <a:srgbClr val="64748B"/>
                </a:solidFill>
              </a:rPr>
              <a:t>READ-ONLY INVENTORY</a:t>
            </a:r>
            <a:endParaRPr lang="en-US" sz="1400" dirty="0"/>
          </a:p>
        </p:txBody>
      </p:sp>
      <p:sp>
        <p:nvSpPr>
          <p:cNvPr id="8" name="Collect list"/>
          <p:cNvSpPr txBox="1"/>
          <p:nvPr/>
        </p:nvSpPr>
        <p:spPr>
          <a:xfrm>
            <a:off x="7543800" y="1810512"/>
            <a:ext cx="397764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Placement and size of every OU</a:t>
            </a:r>
            <a:endParaRPr lang="en-US" sz="1400" dirty="0"/>
          </a:p>
          <a:p>
            <a:pPr marL="342900" indent="-342900">
              <a:spcAft>
                <a:spcPts val="400"/>
              </a:spcAft>
              <a:buSzPct val="100000"/>
              <a:buChar char="•"/>
            </a:pPr>
            <a:r>
              <a:rPr lang="en-US" sz="1350" dirty="0">
                <a:solidFill>
                  <a:schemeClr val="tx2"/>
                </a:solidFill>
              </a:rPr>
              <a:t>GPO links and inheritance, site links included</a:t>
            </a:r>
            <a:endParaRPr lang="en-US" sz="1400" dirty="0"/>
          </a:p>
          <a:p>
            <a:pPr marL="342900" indent="-342900">
              <a:spcAft>
                <a:spcPts val="400"/>
              </a:spcAft>
              <a:buSzPct val="100000"/>
              <a:buChar char="•"/>
            </a:pPr>
            <a:r>
              <a:rPr lang="en-US" sz="1350" dirty="0">
                <a:solidFill>
                  <a:schemeClr val="tx2"/>
                </a:solidFill>
              </a:rPr>
              <a:t>Non-inherited access-control entries someone delegated by hand</a:t>
            </a:r>
            <a:endParaRPr lang="en-US" sz="1400" dirty="0"/>
          </a:p>
          <a:p>
            <a:pPr marL="342900" indent="-342900">
              <a:spcAft>
                <a:spcPts val="400"/>
              </a:spcAft>
              <a:buSzPct val="100000"/>
              <a:buChar char="•"/>
            </a:pPr>
            <a:r>
              <a:rPr lang="en-US" sz="1350" dirty="0">
                <a:solidFill>
                  <a:schemeClr val="tx2"/>
                </a:solidFill>
              </a:rPr>
              <a:t>What read-only discovery couldn't see, recorded</a:t>
            </a:r>
            <a:endParaRPr lang="en-US" sz="1400" dirty="0"/>
          </a:p>
        </p:txBody>
      </p:sp>
      <p:sp>
        <p:nvSpPr>
          <p:cNvPr id="9" name="Decide" descr="">
            <a:extLst>
              <a:ext uri="{C183D7F6-B498-43B3-948B-1728B52AA6E4}">
                <adec:decorative xmlns:adec="http://schemas.microsoft.com/office/drawing/2017/decorative" val="1"/>
              </a:ext>
            </a:extLst>
          </p:cNvPr>
          <p:cNvSpPr/>
          <p:nvPr/>
        </p:nvSpPr>
        <p:spPr>
          <a:xfrm>
            <a:off x="548640" y="4241171"/>
            <a:ext cx="5440680" cy="1508760"/>
          </a:xfrm>
          <a:prstGeom prst="roundRect">
            <a:avLst>
              <a:gd name="adj" fmla="val 484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cide head"/>
          <p:cNvSpPr txBox="1"/>
          <p:nvPr/>
        </p:nvSpPr>
        <p:spPr>
          <a:xfrm>
            <a:off x="731520" y="4350899"/>
            <a:ext cx="5074920" cy="310896"/>
          </a:xfrm>
          <a:prstGeom prst="rect">
            <a:avLst/>
          </a:prstGeom>
          <a:noFill/>
          <a:ln/>
        </p:spPr>
        <p:txBody>
          <a:bodyPr wrap="square" lIns="0" tIns="0" rIns="0" bIns="0" rtlCol="0" anchor="t"/>
          <a:lstStyle/>
          <a:p>
            <a:pPr indent="0" marL="0">
              <a:buNone/>
            </a:pPr>
            <a:r>
              <a:rPr lang="en-US" sz="1100" b="1" dirty="0">
                <a:solidFill>
                  <a:srgbClr val="64748B"/>
                </a:solidFill>
              </a:rPr>
              <a:t>DECISION AND GATE</a:t>
            </a:r>
            <a:endParaRPr lang="en-US" sz="1400" dirty="0"/>
          </a:p>
        </p:txBody>
      </p:sp>
      <p:sp>
        <p:nvSpPr>
          <p:cNvPr id="11" name="Decide list"/>
          <p:cNvSpPr txBox="1"/>
          <p:nvPr/>
        </p:nvSpPr>
        <p:spPr>
          <a:xfrm>
            <a:off x="731520" y="4680083"/>
            <a:ext cx="512064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Every security group: keep synced, convert to cloud-only, convert to dynamic, or retire</a:t>
            </a:r>
            <a:endParaRPr lang="en-US" sz="1400" dirty="0"/>
          </a:p>
          <a:p>
            <a:pPr marL="342900" indent="-342900">
              <a:spcAft>
                <a:spcPts val="400"/>
              </a:spcAft>
              <a:buSzPct val="100000"/>
              <a:buChar char="•"/>
            </a:pPr>
            <a:r>
              <a:rPr lang="en-US" sz="1350" dirty="0">
                <a:solidFill>
                  <a:schemeClr val="tx2"/>
                </a:solidFill>
              </a:rPr>
              <a:t>Gate: inventory in Git, a UPN remediation plan, a decision per group, OUs mapped to proposed units</a:t>
            </a:r>
            <a:endParaRPr lang="en-US" sz="1400" dirty="0"/>
          </a:p>
        </p:txBody>
      </p:sp>
      <p:sp>
        <p:nvSpPr>
          <p:cNvPr id="12" name="Fail" descr="">
            <a:extLst>
              <a:ext uri="{C183D7F6-B498-43B3-948B-1728B52AA6E4}">
                <adec:decorative xmlns:adec="http://schemas.microsoft.com/office/drawing/2017/decorative" val="1"/>
              </a:ext>
            </a:extLst>
          </p:cNvPr>
          <p:cNvSpPr/>
          <p:nvPr/>
        </p:nvSpPr>
        <p:spPr>
          <a:xfrm>
            <a:off x="6217920" y="4241171"/>
            <a:ext cx="5440680" cy="1325880"/>
          </a:xfrm>
          <a:prstGeom prst="roundRect">
            <a:avLst>
              <a:gd name="adj" fmla="val 551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Fail head"/>
          <p:cNvSpPr txBox="1"/>
          <p:nvPr/>
        </p:nvSpPr>
        <p:spPr>
          <a:xfrm>
            <a:off x="6400800" y="4350899"/>
            <a:ext cx="507492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4" name="Fail list"/>
          <p:cNvSpPr txBox="1"/>
          <p:nvPr/>
        </p:nvSpPr>
        <p:spPr>
          <a:xfrm>
            <a:off x="6400800" y="4680083"/>
            <a:ext cx="512064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site-linked GPO looks unlinked to an OU-only search</a:t>
            </a:r>
            <a:endParaRPr lang="en-US" sz="1400" dirty="0"/>
          </a:p>
          <a:p>
            <a:pPr marL="342900" indent="-342900">
              <a:spcAft>
                <a:spcPts val="400"/>
              </a:spcAft>
              <a:buSzPct val="100000"/>
              <a:buChar char="•"/>
            </a:pPr>
            <a:r>
              <a:rPr lang="en-US" sz="1350" dirty="0">
                <a:solidFill>
                  <a:schemeClr val="tx2"/>
                </a:solidFill>
              </a:rPr>
              <a:t>adminCount stays set after an account leaves a protected group, so it overstates privilege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0; Book 02, Ch 07 (read-only discovery), Ch 08 (OU hierarchy and delegation; what to collect), Ch 09 (per-group decision; AdminSDHolder), Ch 10 (Phase 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Sourcing and proving the attributes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Stages 1 to 3  ·  Book 03, Chapters 03–07 and 12  ·  Book 02, Chapter 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HR as the authority; Federal HR 2.0 and API-driven provisioning</a:t>
            </a:r>
            <a:endParaRPr lang="en-US" sz="1400" dirty="0"/>
          </a:p>
          <a:p>
            <a:pPr marL="342900" indent="-342900">
              <a:spcAft>
                <a:spcPts val="300"/>
              </a:spcAft>
              <a:buSzPct val="100000"/>
              <a:buChar char="•"/>
            </a:pPr>
            <a:r>
              <a:rPr lang="en-US" sz="1500" dirty="0">
                <a:solidFill>
                  <a:srgbClr val="334155"/>
                </a:solidFill>
              </a:rPr>
              <a:t>Contractors, the canonical schema and its single writer</a:t>
            </a:r>
            <a:endParaRPr lang="en-US" sz="1400" dirty="0"/>
          </a:p>
          <a:p>
            <a:pPr marL="342900" indent="-342900">
              <a:spcAft>
                <a:spcPts val="300"/>
              </a:spcAft>
              <a:buSzPct val="100000"/>
              <a:buChar char="•"/>
            </a:pPr>
            <a:r>
              <a:rPr lang="en-US" sz="1500" dirty="0">
                <a:solidFill>
                  <a:srgbClr val="334155"/>
                </a:solidFill>
              </a:rPr>
              <a:t>Proving the attributes true, then mapping them through sync</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1: HR is the authority, one fact to one system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r>
          <p:cNvPicPr>
            <a:picLocks noChangeAspect="1"/>
          </p:cNvPicPr>
          <p:nvPr/>
        </p:nvPicPr>
        <p:blipFill>
          <a:blip r:embed="rId1"/>
          <a:stretch>
            <a:fillRect/>
          </a:stretch>
        </p:blipFill>
        <p:spPr>
          <a:xfrm>
            <a:off x="548640" y="1371600"/>
            <a:ext cx="6583680" cy="2782336"/>
          </a:xfrm>
          <a:prstGeom prst="rect">
            <a:avLst/>
          </a:prstGeom>
        </p:spPr>
      </p:pic>
      <p:sp>
        <p:nvSpPr>
          <p:cNvPr id="6" name="Key" descr="">
            <a:extLst>
              <a:ext uri="{C183D7F6-B498-43B3-948B-1728B52AA6E4}">
                <adec:decorative xmlns:adec="http://schemas.microsoft.com/office/drawing/2017/decorative" val="1"/>
              </a:ext>
            </a:extLst>
          </p:cNvPr>
          <p:cNvSpPr/>
          <p:nvPr/>
        </p:nvSpPr>
        <p:spPr>
          <a:xfrm>
            <a:off x="7360920" y="1371600"/>
            <a:ext cx="4297680" cy="2057400"/>
          </a:xfrm>
          <a:prstGeom prst="roundRect">
            <a:avLst>
              <a:gd name="adj" fmla="val 35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Key head"/>
          <p:cNvSpPr txBox="1"/>
          <p:nvPr/>
        </p:nvSpPr>
        <p:spPr>
          <a:xfrm>
            <a:off x="7543800" y="1481328"/>
            <a:ext cx="3931920" cy="310896"/>
          </a:xfrm>
          <a:prstGeom prst="rect">
            <a:avLst/>
          </a:prstGeom>
          <a:noFill/>
          <a:ln/>
        </p:spPr>
        <p:txBody>
          <a:bodyPr wrap="square" lIns="0" tIns="0" rIns="0" bIns="0" rtlCol="0" anchor="t"/>
          <a:lstStyle/>
          <a:p>
            <a:pPr indent="0" marL="0">
              <a:buNone/>
            </a:pPr>
            <a:r>
              <a:rPr lang="en-US" sz="1100" b="1" dirty="0">
                <a:solidFill>
                  <a:srgbClr val="64748B"/>
                </a:solidFill>
              </a:rPr>
              <a:t>THE ENTERPRISE PERSON KEY</a:t>
            </a:r>
            <a:endParaRPr lang="en-US" sz="1400" dirty="0"/>
          </a:p>
        </p:txBody>
      </p:sp>
      <p:sp>
        <p:nvSpPr>
          <p:cNvPr id="8" name="Key list"/>
          <p:cNvSpPr txBox="1"/>
          <p:nvPr/>
        </p:nvSpPr>
        <p:spPr>
          <a:xfrm>
            <a:off x="7543800" y="1810512"/>
            <a:ext cx="3977640" cy="154533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key the agency controls, carried in employeeId (at most 16 characters)</a:t>
            </a:r>
            <a:endParaRPr lang="en-US" sz="1400" dirty="0"/>
          </a:p>
          <a:p>
            <a:pPr marL="342900" indent="-342900">
              <a:spcAft>
                <a:spcPts val="400"/>
              </a:spcAft>
              <a:buSzPct val="100000"/>
              <a:buChar char="•"/>
            </a:pPr>
            <a:r>
              <a:rPr lang="en-US" sz="1350" dirty="0">
                <a:solidFill>
                  <a:schemeClr val="tx2"/>
                </a:solidFill>
              </a:rPr>
              <a:t>The source person number maps to it</a:t>
            </a:r>
            <a:endParaRPr lang="en-US" sz="1400" dirty="0"/>
          </a:p>
          <a:p>
            <a:pPr marL="342900" indent="-342900">
              <a:spcAft>
                <a:spcPts val="400"/>
              </a:spcAft>
              <a:buSzPct val="100000"/>
              <a:buChar char="•"/>
            </a:pPr>
            <a:r>
              <a:rPr lang="en-US" sz="1350" dirty="0">
                <a:solidFill>
                  <a:schemeClr val="tx2"/>
                </a:solidFill>
              </a:rPr>
              <a:t>A change of HR source changes only the source key</a:t>
            </a:r>
            <a:endParaRPr lang="en-US" sz="1400" dirty="0"/>
          </a:p>
          <a:p>
            <a:pPr marL="342900" indent="-342900">
              <a:spcAft>
                <a:spcPts val="400"/>
              </a:spcAft>
              <a:buSzPct val="100000"/>
              <a:buChar char="•"/>
            </a:pPr>
            <a:r>
              <a:rPr lang="en-US" sz="1350" dirty="0">
                <a:solidFill>
                  <a:schemeClr val="tx2"/>
                </a:solidFill>
              </a:rPr>
              <a:t>Decided by the ICAM governance body</a:t>
            </a:r>
            <a:endParaRPr lang="en-US" sz="1400" dirty="0"/>
          </a:p>
        </p:txBody>
      </p:sp>
      <p:sp>
        <p:nvSpPr>
          <p:cNvPr id="9" name="Upstream" descr="">
            <a:extLst>
              <a:ext uri="{C183D7F6-B498-43B3-948B-1728B52AA6E4}">
                <adec:decorative xmlns:adec="http://schemas.microsoft.com/office/drawing/2017/decorative" val="1"/>
              </a:ext>
            </a:extLst>
          </p:cNvPr>
          <p:cNvSpPr/>
          <p:nvPr/>
        </p:nvSpPr>
        <p:spPr>
          <a:xfrm>
            <a:off x="548640" y="4382536"/>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ArrowsRotate" descr="">
            <a:extLst>
              <a:ext uri="{C183D7F6-B498-43B3-948B-1728B52AA6E4}">
                <adec:decorative xmlns:adec="http://schemas.microsoft.com/office/drawing/2017/decorative" val="1"/>
              </a:ext>
            </a:extLst>
          </p:cNvPr>
          <p:cNvSpPr/>
          <p:nvPr/>
        </p:nvSpPr>
        <p:spPr>
          <a:xfrm>
            <a:off x="777240" y="4428256"/>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603821"/>
            <a:ext cx="380390" cy="380390"/>
          </a:xfrm>
          <a:prstGeom prst="rect">
            <a:avLst/>
          </a:prstGeom>
        </p:spPr>
      </p:pic>
      <p:sp>
        <p:nvSpPr>
          <p:cNvPr id="12" name="Upstream text"/>
          <p:cNvSpPr txBox="1"/>
          <p:nvPr/>
        </p:nvSpPr>
        <p:spPr>
          <a:xfrm>
            <a:off x="1737360" y="4428256"/>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Authoritative once, derived everywhere: </a:t>
            </a:r>
            <a:pPr indent="0" marL="0">
              <a:buNone/>
            </a:pPr>
            <a:r>
              <a:rPr lang="en-US" sz="1650" dirty="0">
                <a:solidFill>
                  <a:schemeClr val="tx2"/>
                </a:solidFill>
              </a:rPr>
              <a:t>each attribute is authoritative in one system, and corrections flow upstream to it, never into the copy.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"Decisions and owners" and "Failure modes"; Book 01, Ch 04; Book 03, Ch 04 (authority; identifiers), Ch 07 (where ownership fails).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HR 2.0: the coming source and what OPM leaves open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ive boxes left to right. Dec 10 2025, OMB/OPM memo: one Core HCM platform, agencies pause their own. Jun 10 2026, Core HCM award, Oracle Fusion Cloud HCM. Amber: onboarding months 1 to 5, the window; data standards, cleanup, interconnection design and the identity feed are decided. Red: interconnection go-live, the window closes; retrofitting identity means reopening it. FY 2028: one system, the government-wide adoption goal; EHRI and eOPF later made redundant.">    </p:cNvPr>
          <p:cNvPicPr>
            <a:picLocks noChangeAspect="1"/>
          </p:cNvPicPr>
          <p:nvPr/>
        </p:nvPicPr>
        <p:blipFill>
          <a:blip r:embed="rId1"/>
          <a:stretch>
            <a:fillRect/>
          </a:stretch>
        </p:blipFill>
        <p:spPr>
          <a:xfrm>
            <a:off x="1873852" y="1371600"/>
            <a:ext cx="8459537" cy="1828800"/>
          </a:xfrm>
          <a:prstGeom prst="rect">
            <a:avLst/>
          </a:prstGeom>
        </p:spPr>
      </p:pic>
      <p:sp>
        <p:nvSpPr>
          <p:cNvPr id="6" name="Facts" descr="">
            <a:extLst>
              <a:ext uri="{C183D7F6-B498-43B3-948B-1728B52AA6E4}">
                <adec:decorative xmlns:adec="http://schemas.microsoft.com/office/drawing/2017/decorative" val="1"/>
              </a:ext>
            </a:extLst>
          </p:cNvPr>
          <p:cNvSpPr/>
          <p:nvPr/>
        </p:nvSpPr>
        <p:spPr>
          <a:xfrm>
            <a:off x="548640" y="3383280"/>
            <a:ext cx="548640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Facts head"/>
          <p:cNvSpPr txBox="1"/>
          <p:nvPr/>
        </p:nvSpPr>
        <p:spPr>
          <a:xfrm>
            <a:off x="731520" y="349300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PROGRAM FACTS (BOOK 03, OCT. 20, 2026)</a:t>
            </a:r>
            <a:endParaRPr lang="en-US" sz="1400" dirty="0"/>
          </a:p>
        </p:txBody>
      </p:sp>
      <p:sp>
        <p:nvSpPr>
          <p:cNvPr id="8" name="Facts list"/>
          <p:cNvSpPr txBox="1"/>
          <p:nvPr/>
        </p:nvSpPr>
        <p:spPr>
          <a:xfrm>
            <a:off x="731520" y="38221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OMB/OPM memo, Dec. 10, 2025: one government-wide Core HCM platform</a:t>
            </a:r>
            <a:endParaRPr lang="en-US" sz="1400" dirty="0"/>
          </a:p>
          <a:p>
            <a:pPr marL="342900" indent="-342900">
              <a:spcAft>
                <a:spcPts val="400"/>
              </a:spcAft>
              <a:buSzPct val="100000"/>
              <a:buChar char="•"/>
            </a:pPr>
            <a:r>
              <a:rPr lang="en-US" sz="1300" dirty="0">
                <a:solidFill>
                  <a:schemeClr val="tx2"/>
                </a:solidFill>
              </a:rPr>
              <a:t>Award to Oracle Fusion Cloud HCM, June 10, 2026</a:t>
            </a:r>
            <a:endParaRPr lang="en-US" sz="1400" dirty="0"/>
          </a:p>
          <a:p>
            <a:pPr marL="342900" indent="-342900">
              <a:spcAft>
                <a:spcPts val="400"/>
              </a:spcAft>
              <a:buSzPct val="100000"/>
              <a:buChar char="•"/>
            </a:pPr>
            <a:r>
              <a:rPr lang="en-US" sz="1300" dirty="0">
                <a:solidFill>
                  <a:schemeClr val="tx2"/>
                </a:solidFill>
              </a:rPr>
              <a:t>Wave 2 in FY 2027; adoption goal FY 2028; eOPF and EHRI expected to go</a:t>
            </a:r>
            <a:endParaRPr lang="en-US" sz="1400" dirty="0"/>
          </a:p>
          <a:p>
            <a:pPr marL="342900" indent="-342900">
              <a:spcAft>
                <a:spcPts val="400"/>
              </a:spcAft>
              <a:buSzPct val="100000"/>
              <a:buChar char="•"/>
            </a:pPr>
            <a:r>
              <a:rPr lang="en-US" sz="1300" dirty="0">
                <a:solidFill>
                  <a:schemeClr val="tx2"/>
                </a:solidFill>
              </a:rPr>
              <a:t>Sample onboarding ~8 months, interconnections ~month 5: a planning assumption</a:t>
            </a:r>
            <a:endParaRPr lang="en-US" sz="1400" dirty="0"/>
          </a:p>
        </p:txBody>
      </p:sp>
      <p:sp>
        <p:nvSpPr>
          <p:cNvPr id="9" name="Open" descr="">
            <a:extLst>
              <a:ext uri="{C183D7F6-B498-43B3-948B-1728B52AA6E4}">
                <adec:decorative xmlns:adec="http://schemas.microsoft.com/office/drawing/2017/decorative" val="1"/>
              </a:ext>
            </a:extLst>
          </p:cNvPr>
          <p:cNvSpPr/>
          <p:nvPr/>
        </p:nvSpPr>
        <p:spPr>
          <a:xfrm>
            <a:off x="6263640" y="338328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Open head"/>
          <p:cNvSpPr txBox="1"/>
          <p:nvPr/>
        </p:nvSpPr>
        <p:spPr>
          <a:xfrm>
            <a:off x="6446520" y="349300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WHAT OPM DOESN'T SPECIFY</a:t>
            </a:r>
            <a:endParaRPr lang="en-US" sz="1400" dirty="0"/>
          </a:p>
        </p:txBody>
      </p:sp>
      <p:sp>
        <p:nvSpPr>
          <p:cNvPr id="11" name="Open list"/>
          <p:cNvSpPr txBox="1"/>
          <p:nvPr/>
        </p:nvSpPr>
        <p:spPr>
          <a:xfrm>
            <a:off x="6446520" y="382219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OPM document mandates how the platform reaches the agency's directory</a:t>
            </a:r>
            <a:endParaRPr lang="en-US" sz="1400" dirty="0"/>
          </a:p>
          <a:p>
            <a:pPr marL="342900" indent="-342900">
              <a:spcAft>
                <a:spcPts val="400"/>
              </a:spcAft>
              <a:buSzPct val="100000"/>
              <a:buChar char="•"/>
            </a:pPr>
            <a:r>
              <a:rPr lang="en-US" sz="1300" dirty="0">
                <a:solidFill>
                  <a:schemeClr val="tx2"/>
                </a:solidFill>
              </a:rPr>
              <a:t>Only a sample "Identity Management Solution" interconnection; no protocol or product</a:t>
            </a:r>
            <a:endParaRPr lang="en-US" sz="1400" dirty="0"/>
          </a:p>
          <a:p>
            <a:pPr marL="342900" indent="-342900">
              <a:spcAft>
                <a:spcPts val="400"/>
              </a:spcAft>
              <a:buSzPct val="100000"/>
              <a:buChar char="•"/>
            </a:pPr>
            <a:r>
              <a:rPr lang="en-US" sz="1300" dirty="0">
                <a:solidFill>
                  <a:schemeClr val="tx2"/>
                </a:solidFill>
              </a:rPr>
              <a:t>Design guidance: take the HR-to-identity feed to the Steering Committee in Phase 0</a:t>
            </a:r>
            <a:endParaRPr lang="en-US" sz="1400" dirty="0"/>
          </a:p>
          <a:p>
            <a:pPr marL="342900" indent="-342900">
              <a:spcAft>
                <a:spcPts val="400"/>
              </a:spcAft>
              <a:buSzPct val="100000"/>
              <a:buChar char="•"/>
            </a:pPr>
            <a:r>
              <a:rPr lang="en-US" sz="1300" dirty="0">
                <a:solidFill>
                  <a:schemeClr val="tx2"/>
                </a:solidFill>
              </a:rPr>
              <a:t>The window closes at interconnection go-live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"Building the attributes from Federal HR 2.0"; Book 03, Ch 03 (program facts; what OPM requires), Ch 12. Schedule: confirm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API-driven inbound provisioning and the two landing zones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Core HCM (extracts, ATOM feeds, REST, SCIM); boundary transformation (source-specific, replaceable); an amber middleware box with five duties: validate (fail closed), sequence, normalize to SCIM, write provenance, reconcile results; Graph /bulkUpload (Entra provisioning service), which writes to Active Directory (hybrid users, via the provisioning agent) and Entra ID (cloud-managed users). A dashed green line from the middleware goes to an evidence store (provenance and provisioning logs).">    </p:cNvPr>
          <p:cNvPicPr>
            <a:picLocks noChangeAspect="1"/>
          </p:cNvPicPr>
          <p:nvPr/>
        </p:nvPicPr>
        <p:blipFill>
          <a:blip r:embed="rId1"/>
          <a:stretch>
            <a:fillRect/>
          </a:stretch>
        </p:blipFill>
        <p:spPr>
          <a:xfrm>
            <a:off x="548640" y="1325880"/>
            <a:ext cx="6675120" cy="2256140"/>
          </a:xfrm>
          <a:prstGeom prst="rect">
            <a:avLst/>
          </a:prstGeom>
        </p:spPr>
      </p:pic>
      <p:sp>
        <p:nvSpPr>
          <p:cNvPr id="6" name="Lic" descr="">
            <a:extLst>
              <a:ext uri="{C183D7F6-B498-43B3-948B-1728B52AA6E4}">
                <adec:decorative xmlns:adec="http://schemas.microsoft.com/office/drawing/2017/decorative" val="1"/>
              </a:ext>
            </a:extLst>
          </p:cNvPr>
          <p:cNvSpPr/>
          <p:nvPr/>
        </p:nvSpPr>
        <p:spPr>
          <a:xfrm>
            <a:off x="7452360" y="1325880"/>
            <a:ext cx="4206240" cy="1965960"/>
          </a:xfrm>
          <a:prstGeom prst="roundRect">
            <a:avLst>
              <a:gd name="adj" fmla="val 37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Lic head"/>
          <p:cNvSpPr txBox="1"/>
          <p:nvPr/>
        </p:nvSpPr>
        <p:spPr>
          <a:xfrm>
            <a:off x="7635240" y="143560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LICENSING AND GCC, OCT. 29, 2026</a:t>
            </a:r>
            <a:endParaRPr lang="en-US" sz="1400" dirty="0"/>
          </a:p>
        </p:txBody>
      </p:sp>
      <p:sp>
        <p:nvSpPr>
          <p:cNvPr id="8" name="Lic list"/>
          <p:cNvSpPr txBox="1"/>
          <p:nvPr/>
        </p:nvSpPr>
        <p:spPr>
          <a:xfrm>
            <a:off x="7635240" y="1764792"/>
            <a:ext cx="388620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Included with Entra ID P1, P2 and ID Governance</a:t>
            </a:r>
            <a:endParaRPr lang="en-US" sz="1400" dirty="0"/>
          </a:p>
          <a:p>
            <a:pPr marL="342900" indent="-342900">
              <a:spcAft>
                <a:spcPts val="400"/>
              </a:spcAft>
              <a:buSzPct val="100000"/>
              <a:buChar char="•"/>
            </a:pPr>
            <a:r>
              <a:rPr lang="en-US" sz="1300" dirty="0">
                <a:solidFill>
                  <a:schemeClr val="tx2"/>
                </a:solidFill>
              </a:rPr>
              <a:t>GA in the US Government cloud since June 2025</a:t>
            </a:r>
            <a:endParaRPr lang="en-US" sz="1400" dirty="0"/>
          </a:p>
          <a:p>
            <a:pPr marL="342900" indent="-342900">
              <a:spcAft>
                <a:spcPts val="400"/>
              </a:spcAft>
              <a:buSzPct val="100000"/>
              <a:buChar char="•"/>
            </a:pPr>
            <a:r>
              <a:rPr lang="en-US" sz="1300" dirty="0">
                <a:solidFill>
                  <a:schemeClr val="tx2"/>
                </a:solidFill>
              </a:rPr>
              <a:t>/bulkUpload: 2,000 calls a day (P1/P2), 6,000 (ID Governance), 50 operations a call</a:t>
            </a:r>
            <a:endParaRPr lang="en-US" sz="1400" dirty="0"/>
          </a:p>
        </p:txBody>
      </p:sp>
      <p:graphicFrame>
        <p:nvGraphicFramePr>
          <p:cNvPr id="11" name="Zones"/>
          <p:cNvGraphicFramePr>
            <a:graphicFrameLocks noGrp="1"/>
          </p:cNvGraphicFramePr>
          <p:nvPr>
            <p:extLst>
              <p:ext uri="{D42A27DB-BD31-4B8C-83A1-F6EECF244321}">
                <p14:modId xmlns:p14="http://schemas.microsoft.com/office/powerpoint/2010/main" val="1579011935"/>
              </p:ext>
            </p:extLst>
          </p:nvPr>
        </p:nvGraphicFramePr>
        <p:xfrm>
          <a:off x="548640" y="3719180"/>
          <a:ext cx="11109960" cy="1261872"/>
        </p:xfrm>
        <a:graphic>
          <a:graphicData uri="http://schemas.openxmlformats.org/drawingml/2006/table">
            <a:tbl>
              <a:tblPr firstRow="1" bandRow="1"/>
              <a:tblGrid>
                <a:gridCol w="2240280"/>
                <a:gridCol w="4480560"/>
                <a:gridCol w="4389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HR writes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reaches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AD-mastered (synced), most of the estate today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through the provisioning agent; the OU is computed from HR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Connect Sync or Cloud Sync; Entra extension attributes 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Cloud-mastered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directly; structure lands as attributes, not an OU</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Already there; any AD account an app needs is provisioned from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API-driven inbound provisioning concepts; Entra releases archive (June 2025); Entra feature availability (Oct. 29, 2026). Guide, Stage 1;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HR doesn't supply: contractors and other writers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Writer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3576828"/>
        </p:xfrm>
        <a:graphic>
          <a:graphicData uri="http://schemas.openxmlformats.org/drawingml/2006/table">
            <a:tbl>
              <a:tblPr firstRow="1" bandRow="1"/>
              <a:tblGrid>
                <a:gridCol w="2880360"/>
                <a:gridCol w="39319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 from 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Writer instead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Contractors and vendors (not in HRIT)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authority per fact: suitability register, contract record, PIV system, a federal sponsor mastered in 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Account type: Standard, Service, Privileged (slot 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team; during transition a sync rule derives it from OU placement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Clearance level (slot 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Personnel security system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DoNotSync (slot 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operations, in 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region, department, tier, role, environment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provisioning at registration, through Graph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Where someone signs in from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Sign-in signals: duty location scopes; network-location policy enforces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Credentials, sessions, group membership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identity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witch" descr="">
            <a:extLst>
              <a:ext uri="{C183D7F6-B498-43B3-948B-1728B52AA6E4}">
                <adec:decorative xmlns:adec="http://schemas.microsoft.com/office/drawing/2017/decorative" val="1"/>
              </a:ext>
            </a:extLst>
          </p:cNvPr>
          <p:cNvSpPr/>
          <p:nvPr/>
        </p:nvSpPr>
        <p:spPr>
          <a:xfrm>
            <a:off x="7543800" y="1371600"/>
            <a:ext cx="41148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witch head"/>
          <p:cNvSpPr txBox="1"/>
          <p:nvPr/>
        </p:nvSpPr>
        <p:spPr>
          <a:xfrm>
            <a:off x="7726680" y="1481328"/>
            <a:ext cx="3749040" cy="640080"/>
          </a:xfrm>
          <a:prstGeom prst="rect">
            <a:avLst/>
          </a:prstGeom>
          <a:noFill/>
          <a:ln/>
        </p:spPr>
        <p:txBody>
          <a:bodyPr wrap="square" lIns="0" tIns="0" rIns="0" bIns="0" rtlCol="0" anchor="t"/>
          <a:lstStyle/>
          <a:p>
            <a:pPr indent="0" marL="0">
              <a:buNone/>
            </a:pPr>
            <a:r>
              <a:rPr lang="en-US" sz="1100" b="1" dirty="0">
                <a:solidFill>
                  <a:srgbClr val="64748B"/>
                </a:solidFill>
              </a:rPr>
              <a:t>BEFORE THE WAVE LANDS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 source swap, not a redesign</a:t>
            </a:r>
            <a:endParaRPr lang="en-US" sz="1400" dirty="0"/>
          </a:p>
        </p:txBody>
      </p:sp>
      <p:sp>
        <p:nvSpPr>
          <p:cNvPr id="8" name="Switch list"/>
          <p:cNvSpPr txBox="1"/>
          <p:nvPr/>
        </p:nvSpPr>
        <p:spPr>
          <a:xfrm>
            <a:off x="7726680" y="2139696"/>
            <a:ext cx="3794760" cy="107899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Key on an agency-owned person key</a:t>
            </a:r>
            <a:endParaRPr lang="en-US" sz="1400" dirty="0"/>
          </a:p>
          <a:p>
            <a:pPr marL="342900" indent="-342900">
              <a:spcAft>
                <a:spcPts val="400"/>
              </a:spcAft>
              <a:buSzPct val="100000"/>
              <a:buChar char="•"/>
            </a:pPr>
            <a:r>
              <a:rPr lang="en-US" sz="1300" dirty="0">
                <a:solidFill>
                  <a:schemeClr val="tx2"/>
                </a:solidFill>
              </a:rPr>
              <a:t>Map to OPM standard elements and codes</a:t>
            </a:r>
            <a:endParaRPr lang="en-US" sz="1400" dirty="0"/>
          </a:p>
          <a:p>
            <a:pPr marL="342900" indent="-342900">
              <a:spcAft>
                <a:spcPts val="400"/>
              </a:spcAft>
              <a:buSzPct val="100000"/>
              <a:buChar char="•"/>
            </a:pPr>
            <a:r>
              <a:rPr lang="en-US" sz="1300" dirty="0">
                <a:solidFill>
                  <a:schemeClr val="tx2"/>
                </a:solidFill>
              </a:rPr>
              <a:t>One door into the directory: middleware</a:t>
            </a:r>
            <a:endParaRPr lang="en-US" sz="1400" dirty="0"/>
          </a:p>
          <a:p>
            <a:pPr marL="342900" indent="-342900">
              <a:spcAft>
                <a:spcPts val="400"/>
              </a:spcAft>
              <a:buSzPct val="100000"/>
              <a:buChar char="•"/>
            </a:pPr>
            <a:r>
              <a:rPr lang="en-US" sz="1300" dirty="0">
                <a:solidFill>
                  <a:schemeClr val="tx2"/>
                </a:solidFill>
              </a:rPr>
              <a:t>Don't build on EHRI or eOPF feed shapes</a:t>
            </a:r>
            <a:endParaRPr lang="en-US" sz="1400" dirty="0"/>
          </a:p>
        </p:txBody>
      </p:sp>
      <p:sp>
        <p:nvSpPr>
          <p:cNvPr id="9" name="Manual" descr="">
            <a:extLst>
              <a:ext uri="{C183D7F6-B498-43B3-948B-1728B52AA6E4}">
                <adec:decorative xmlns:adec="http://schemas.microsoft.com/office/drawing/2017/decorative" val="1"/>
              </a:ext>
            </a:extLst>
          </p:cNvPr>
          <p:cNvSpPr/>
          <p:nvPr/>
        </p:nvSpPr>
        <p:spPr>
          <a:xfrm>
            <a:off x="7543800" y="3474720"/>
            <a:ext cx="4114800" cy="1234440"/>
          </a:xfrm>
          <a:prstGeom prst="roundRect">
            <a:avLst>
              <a:gd name="adj" fmla="val 592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Manual head"/>
          <p:cNvSpPr txBox="1"/>
          <p:nvPr/>
        </p:nvSpPr>
        <p:spPr>
          <a:xfrm>
            <a:off x="7726680" y="358444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NO HR FEED YET (DESIGN GUIDANCE)</a:t>
            </a:r>
            <a:endParaRPr lang="en-US" sz="1400" dirty="0"/>
          </a:p>
        </p:txBody>
      </p:sp>
      <p:sp>
        <p:nvSpPr>
          <p:cNvPr id="11" name="Manual list"/>
          <p:cNvSpPr txBox="1"/>
          <p:nvPr/>
        </p:nvSpPr>
        <p:spPr>
          <a:xfrm>
            <a:off x="7726680" y="3913632"/>
            <a:ext cx="379476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Treat the hand steward as a temporary source: named owner, same writer and provenance; retire it read-only first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"What HR supplies" and "Before the agency's wave lands"; Book 03, Ch 03, 04, 05, 06 (one fact, one authority; sequence), Ch 13;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canonical schema, and one writer per attribute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ive cards from left to right joined by arrows. Amber: OPM standard, defines the element and its codes. Amber: HR, owns each person's value and its quality. Blue: data architect, stewards one name, one definition and one owner. Blue: provisioning service, the only writer to Entra ID and AD. Green: consumers, which read the value in rules, access packages and Conditional Access. A red dashed arrow labelled corrections flow upstream runs from the consumers back to HR.">    </p:cNvPr>
          <p:cNvPicPr>
            <a:picLocks noChangeAspect="1"/>
          </p:cNvPicPr>
          <p:nvPr/>
        </p:nvPicPr>
        <p:blipFill>
          <a:blip r:embed="rId1"/>
          <a:stretch>
            <a:fillRect/>
          </a:stretch>
        </p:blipFill>
        <p:spPr>
          <a:xfrm>
            <a:off x="606521" y="1371600"/>
            <a:ext cx="2901758" cy="4572000"/>
          </a:xfrm>
          <a:prstGeom prst="rect">
            <a:avLst/>
          </a:prstGeom>
        </p:spPr>
      </p:pic>
      <p:graphicFrame>
        <p:nvGraphicFramePr>
          <p:cNvPr id="13" name="Schema"/>
          <p:cNvGraphicFramePr>
            <a:graphicFrameLocks noGrp="1"/>
          </p:cNvGraphicFramePr>
          <p:nvPr>
            <p:extLst>
              <p:ext uri="{D42A27DB-BD31-4B8C-83A1-F6EECF244321}">
                <p14:modId xmlns:p14="http://schemas.microsoft.com/office/powerpoint/2010/main" val="1579011935"/>
              </p:ext>
            </p:extLst>
          </p:nvPr>
        </p:nvGraphicFramePr>
        <p:xfrm>
          <a:off x="3794760" y="1371600"/>
          <a:ext cx="7863840" cy="2980944"/>
        </p:xfrm>
        <a:graphic>
          <a:graphicData uri="http://schemas.openxmlformats.org/drawingml/2006/table">
            <a:tbl>
              <a:tblPr firstRow="1" bandRow="1"/>
              <a:tblGrid>
                <a:gridCol w="3108960"/>
                <a:gridCol w="260604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 (codes are placeholders)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Carrier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Rules read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rarely used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Organization code, e.g. FIN-LED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node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Worker type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extensionAttribute11 (mirrors employeeType)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personas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Position category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functional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Division; cost center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extensionAttribute6; 5 (mirror employeeOrgData)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division units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Region code (duty 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extensionAttribute4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region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Hire and leave 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employeeHireDate; employeeLeaveDateTime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Hire date preview only; leave 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Writer" descr="">
            <a:extLst>
              <a:ext uri="{C183D7F6-B498-43B3-948B-1728B52AA6E4}">
                <adec:decorative xmlns:adec="http://schemas.microsoft.com/office/drawing/2017/decorative" val="1"/>
              </a:ext>
            </a:extLst>
          </p:cNvPr>
          <p:cNvSpPr/>
          <p:nvPr/>
        </p:nvSpPr>
        <p:spPr>
          <a:xfrm>
            <a:off x="3794760" y="4489704"/>
            <a:ext cx="7863840" cy="1508760"/>
          </a:xfrm>
          <a:prstGeom prst="roundRect">
            <a:avLst>
              <a:gd name="adj" fmla="val 48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Writer head"/>
          <p:cNvSpPr txBox="1"/>
          <p:nvPr/>
        </p:nvSpPr>
        <p:spPr>
          <a:xfrm>
            <a:off x="3977640" y="4599432"/>
            <a:ext cx="7498080" cy="310896"/>
          </a:xfrm>
          <a:prstGeom prst="rect">
            <a:avLst/>
          </a:prstGeom>
          <a:noFill/>
          <a:ln/>
        </p:spPr>
        <p:txBody>
          <a:bodyPr wrap="square" lIns="0" tIns="0" rIns="0" bIns="0" rtlCol="0" anchor="t"/>
          <a:lstStyle/>
          <a:p>
            <a:pPr indent="0" marL="0">
              <a:buNone/>
            </a:pPr>
            <a:r>
              <a:rPr lang="en-US" sz="1100" b="1" dirty="0">
                <a:solidFill>
                  <a:srgbClr val="64748B"/>
                </a:solidFill>
              </a:rPr>
              <a:t>THE PROVISIONING SERVICE IS THE ONLY WRITER</a:t>
            </a:r>
            <a:endParaRPr lang="en-US" sz="1400" dirty="0"/>
          </a:p>
        </p:txBody>
      </p:sp>
      <p:sp>
        <p:nvSpPr>
          <p:cNvPr id="9" name="Writer list"/>
          <p:cNvSpPr txBox="1"/>
          <p:nvPr/>
        </p:nvSpPr>
        <p:spPr>
          <a:xfrm>
            <a:off x="3977640" y="4928616"/>
            <a:ext cx="754380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Help-desk, self-service and Exchange-admin write paths to the access slots are removed</a:t>
            </a:r>
            <a:endParaRPr lang="en-US" sz="1400" dirty="0"/>
          </a:p>
          <a:p>
            <a:pPr marL="342900" indent="-342900">
              <a:spcAft>
                <a:spcPts val="400"/>
              </a:spcAft>
              <a:buSzPct val="100000"/>
              <a:buChar char="•"/>
            </a:pPr>
            <a:r>
              <a:rPr lang="en-US" sz="1350" dirty="0">
                <a:solidFill>
                  <a:schemeClr val="tx2"/>
                </a:solidFill>
              </a:rPr>
              <a:t>Security decides write permissions on HR-mastered attributes; any other write is drift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1, crosswalk; Book 03, Ch 06 (design rules; writers; program attribute map), Ch 07; Book 06, Ch 17. Slots per the program attribute map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2: prove the attributes true before use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r>
          <p:cNvPicPr>
            <a:picLocks noChangeAspect="1"/>
          </p:cNvPicPr>
          <p:nvPr/>
        </p:nvPicPr>
        <p:blipFill>
          <a:blip r:embed="rId1"/>
          <a:stretch>
            <a:fillRect/>
          </a:stretch>
        </p:blipFill>
        <p:spPr>
          <a:xfrm>
            <a:off x="2418735" y="1325880"/>
            <a:ext cx="7369769" cy="1737360"/>
          </a:xfrm>
          <a:prstGeom prst="rect">
            <a:avLst/>
          </a:prstGeom>
        </p:spPr>
      </p:pic>
      <p:sp>
        <p:nvSpPr>
          <p:cNvPr id="6" name="Work" descr="">
            <a:extLst>
              <a:ext uri="{C183D7F6-B498-43B3-948B-1728B52AA6E4}">
                <adec:decorative xmlns:adec="http://schemas.microsoft.com/office/drawing/2017/decorative" val="1"/>
              </a:ext>
            </a:extLst>
          </p:cNvPr>
          <p:cNvSpPr/>
          <p:nvPr/>
        </p:nvSpPr>
        <p:spPr>
          <a:xfrm>
            <a:off x="548640" y="3246120"/>
            <a:ext cx="548640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ork head"/>
          <p:cNvSpPr txBox="1"/>
          <p:nvPr/>
        </p:nvSpPr>
        <p:spPr>
          <a:xfrm>
            <a:off x="731520" y="33558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WORK (BOOK 03, PHASE 1)</a:t>
            </a:r>
            <a:endParaRPr lang="en-US" sz="1400" dirty="0"/>
          </a:p>
        </p:txBody>
      </p:sp>
      <p:sp>
        <p:nvSpPr>
          <p:cNvPr id="8" name="Work list"/>
          <p:cNvSpPr txBox="1"/>
          <p:nvPr/>
        </p:nvSpPr>
        <p:spPr>
          <a:xfrm>
            <a:off x="731520" y="368503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Baseline HR against reality: worker type, organization, supervisor, status</a:t>
            </a:r>
            <a:endParaRPr lang="en-US" sz="1400" dirty="0"/>
          </a:p>
          <a:p>
            <a:pPr marL="342900" indent="-342900">
              <a:spcAft>
                <a:spcPts val="400"/>
              </a:spcAft>
              <a:buSzPct val="100000"/>
              <a:buChar char="•"/>
            </a:pPr>
            <a:r>
              <a:rPr lang="en-US" sz="1300" dirty="0">
                <a:solidFill>
                  <a:schemeClr val="tx2"/>
                </a:solidFill>
              </a:rPr>
              <a:t>Fix errors at the source; populate employeeId before the first full sync</a:t>
            </a:r>
            <a:endParaRPr lang="en-US" sz="1400" dirty="0"/>
          </a:p>
          <a:p>
            <a:pPr marL="342900" indent="-342900">
              <a:spcAft>
                <a:spcPts val="400"/>
              </a:spcAft>
              <a:buSzPct val="100000"/>
              <a:buChar char="•"/>
            </a:pPr>
            <a:r>
              <a:rPr lang="en-US" sz="1300" dirty="0">
                <a:solidFill>
                  <a:schemeClr val="tx2"/>
                </a:solidFill>
              </a:rPr>
              <a:t>Flag every unmatched enabled account as an orphan candidate with an owner</a:t>
            </a:r>
            <a:endParaRPr lang="en-US" sz="1400" dirty="0"/>
          </a:p>
          <a:p>
            <a:pPr marL="342900" indent="-342900">
              <a:spcAft>
                <a:spcPts val="400"/>
              </a:spcAft>
              <a:buSzPct val="100000"/>
              <a:buChar char="•"/>
            </a:pPr>
            <a:r>
              <a:rPr lang="en-US" sz="1300" dirty="0">
                <a:solidFill>
                  <a:schemeClr val="tx2"/>
                </a:solidFill>
              </a:rPr>
              <a:t>Remove AD write paths on target OUs and Exchange custom-attribute cmdlets</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6263640" y="3246120"/>
            <a:ext cx="539496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6446520" y="335584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DECISION AND GATE</a:t>
            </a:r>
            <a:endParaRPr lang="en-US" sz="1400" dirty="0"/>
          </a:p>
        </p:txBody>
      </p:sp>
      <p:sp>
        <p:nvSpPr>
          <p:cNvPr id="11" name="Gate list"/>
          <p:cNvSpPr txBox="1"/>
          <p:nvPr/>
        </p:nvSpPr>
        <p:spPr>
          <a:xfrm>
            <a:off x="6446520" y="3685032"/>
            <a:ext cx="507492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Threshold set by the agency's risk governance; 99% on the pilot is a proposed start, not a requirement</a:t>
            </a:r>
            <a:endParaRPr lang="en-US" sz="1400" dirty="0"/>
          </a:p>
          <a:p>
            <a:pPr marL="342900" indent="-342900">
              <a:spcAft>
                <a:spcPts val="400"/>
              </a:spcAft>
              <a:buSzPct val="100000"/>
              <a:buChar char="•"/>
            </a:pPr>
            <a:r>
              <a:rPr lang="en-US" sz="1300" dirty="0">
                <a:solidFill>
                  <a:schemeClr val="tx2"/>
                </a:solidFill>
              </a:rPr>
              <a:t>Every enabled account correlated or on a dated exception list</a:t>
            </a:r>
            <a:endParaRPr lang="en-US" sz="1400" dirty="0"/>
          </a:p>
          <a:p>
            <a:pPr marL="342900" indent="-342900">
              <a:spcAft>
                <a:spcPts val="400"/>
              </a:spcAft>
              <a:buSzPct val="100000"/>
              <a:buChar char="•"/>
            </a:pPr>
            <a:r>
              <a:rPr lang="en-US" sz="1300" dirty="0">
                <a:solidFill>
                  <a:schemeClr val="tx2"/>
                </a:solidFill>
              </a:rPr>
              <a:t>Privacy basis, PIA and the minimized attribute set are gate items too</a:t>
            </a:r>
            <a:endParaRPr lang="en-US" sz="1400" dirty="0"/>
          </a:p>
          <a:p>
            <a:pPr marL="342900" indent="-342900">
              <a:spcAft>
                <a:spcPts val="400"/>
              </a:spcAft>
              <a:buSzPct val="100000"/>
              <a:buChar char="•"/>
            </a:pPr>
            <a:r>
              <a:rPr lang="en-US" sz="1300" dirty="0">
                <a:solidFill>
                  <a:schemeClr val="tx2"/>
                </a:solidFill>
              </a:rPr>
              <a:t>Expect a burst of high-severity findings in month one: the measurement working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2; Book 01, Ch 04 (from sessions to tokens); Book 03, Ch 06 (writers), Ch 07 (privacy office), Ch 11, Ch 12 (sequencing principle; Phase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3: map the attributes through sync</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r>
          <p:cNvPicPr>
            <a:picLocks noChangeAspect="1"/>
          </p:cNvPicPr>
          <p:nvPr/>
        </p:nvPicPr>
        <p:blipFill>
          <a:blip r:embed="rId1"/>
          <a:stretch>
            <a:fillRect/>
          </a:stretch>
        </p:blipFill>
        <p:spPr>
          <a:xfrm>
            <a:off x="548640" y="1371600"/>
            <a:ext cx="4480560" cy="4542963"/>
          </a:xfrm>
          <a:prstGeom prst="rect">
            <a:avLst/>
          </a:prstGeom>
        </p:spPr>
      </p:pic>
      <p:sp>
        <p:nvSpPr>
          <p:cNvPr id="6" name="Decide" descr="">
            <a:extLst>
              <a:ext uri="{C183D7F6-B498-43B3-948B-1728B52AA6E4}">
                <adec:decorative xmlns:adec="http://schemas.microsoft.com/office/drawing/2017/decorative" val="1"/>
              </a:ext>
            </a:extLst>
          </p:cNvPr>
          <p:cNvSpPr/>
          <p:nvPr/>
        </p:nvSpPr>
        <p:spPr>
          <a:xfrm>
            <a:off x="5257800" y="1371600"/>
            <a:ext cx="640080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cide head"/>
          <p:cNvSpPr txBox="1"/>
          <p:nvPr/>
        </p:nvSpPr>
        <p:spPr>
          <a:xfrm>
            <a:off x="5440680" y="1481328"/>
            <a:ext cx="6035040" cy="310896"/>
          </a:xfrm>
          <a:prstGeom prst="rect">
            <a:avLst/>
          </a:prstGeom>
          <a:noFill/>
          <a:ln/>
        </p:spPr>
        <p:txBody>
          <a:bodyPr wrap="square" lIns="0" tIns="0" rIns="0" bIns="0" rtlCol="0" anchor="t"/>
          <a:lstStyle/>
          <a:p>
            <a:pPr indent="0" marL="0">
              <a:buNone/>
            </a:pPr>
            <a:r>
              <a:rPr lang="en-US" sz="1100" b="1" dirty="0">
                <a:solidFill>
                  <a:srgbClr val="64748B"/>
                </a:solidFill>
              </a:rPr>
              <a:t>DECISIONS: IDENTITY ENGINEERING</a:t>
            </a:r>
            <a:endParaRPr lang="en-US" sz="1400" dirty="0"/>
          </a:p>
        </p:txBody>
      </p:sp>
      <p:sp>
        <p:nvSpPr>
          <p:cNvPr id="8" name="Decide list"/>
          <p:cNvSpPr txBox="1"/>
          <p:nvPr/>
        </p:nvSpPr>
        <p:spPr>
          <a:xfrm>
            <a:off x="5440680" y="1810512"/>
            <a:ext cx="608076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Cloud Sync unless a Connect-only requirement applies; password hash sync everywhere</a:t>
            </a:r>
            <a:endParaRPr lang="en-US" sz="1400" dirty="0"/>
          </a:p>
          <a:p>
            <a:pPr marL="342900" indent="-342900">
              <a:spcAft>
                <a:spcPts val="400"/>
              </a:spcAft>
              <a:buSzPct val="100000"/>
              <a:buChar char="•"/>
            </a:pPr>
            <a:r>
              <a:rPr lang="en-US" sz="1300" dirty="0">
                <a:solidFill>
                  <a:schemeClr val="tx2"/>
                </a:solidFill>
              </a:rPr>
              <a:t>Filtering: the DoNotSync scoping filter on extensionAttribute15</a:t>
            </a:r>
            <a:endParaRPr lang="en-US" sz="1400" dirty="0"/>
          </a:p>
          <a:p>
            <a:pPr marL="342900" indent="-342900">
              <a:spcAft>
                <a:spcPts val="400"/>
              </a:spcAft>
              <a:buSzPct val="100000"/>
              <a:buChar char="•"/>
            </a:pPr>
            <a:r>
              <a:rPr lang="en-US" sz="1300" dirty="0">
                <a:solidFill>
                  <a:schemeClr val="tx2"/>
                </a:solidFill>
              </a:rPr>
              <a:t>Attribute flow: date mappings for AD-landed users; a transitional account-type rule from OU placement</a:t>
            </a:r>
            <a:endParaRPr lang="en-US" sz="1400" dirty="0"/>
          </a:p>
          <a:p>
            <a:pPr marL="342900" indent="-342900">
              <a:spcAft>
                <a:spcPts val="400"/>
              </a:spcAft>
              <a:buSzPct val="100000"/>
              <a:buChar char="•"/>
            </a:pPr>
            <a:r>
              <a:rPr lang="en-US" sz="1300" dirty="0">
                <a:solidFill>
                  <a:schemeClr val="tx2"/>
                </a:solidFill>
              </a:rPr>
              <a:t>Gate: counts within ±1%, no sync errors; full sync reconciled, then shadow mode explained</a:t>
            </a:r>
            <a:endParaRPr lang="en-US" sz="1400" dirty="0"/>
          </a:p>
        </p:txBody>
      </p:sp>
      <p:sp>
        <p:nvSpPr>
          <p:cNvPr id="9" name="Fail" descr="">
            <a:extLst>
              <a:ext uri="{C183D7F6-B498-43B3-948B-1728B52AA6E4}">
                <adec:decorative xmlns:adec="http://schemas.microsoft.com/office/drawing/2017/decorative" val="1"/>
              </a:ext>
            </a:extLst>
          </p:cNvPr>
          <p:cNvSpPr/>
          <p:nvPr/>
        </p:nvSpPr>
        <p:spPr>
          <a:xfrm>
            <a:off x="5257800" y="3749040"/>
            <a:ext cx="6400800" cy="1965960"/>
          </a:xfrm>
          <a:prstGeom prst="roundRect">
            <a:avLst>
              <a:gd name="adj" fmla="val 37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Fail head"/>
          <p:cNvSpPr txBox="1"/>
          <p:nvPr/>
        </p:nvSpPr>
        <p:spPr>
          <a:xfrm>
            <a:off x="5440680" y="3858768"/>
            <a:ext cx="603504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1" name="Fail list"/>
          <p:cNvSpPr txBox="1"/>
          <p:nvPr/>
        </p:nvSpPr>
        <p:spPr>
          <a:xfrm>
            <a:off x="5440680" y="4187952"/>
            <a:ext cx="6080760" cy="1453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soft or hard match overwrites cloud values: clean AD first, block both outside a window</a:t>
            </a:r>
            <a:endParaRPr lang="en-US" sz="1400" dirty="0"/>
          </a:p>
          <a:p>
            <a:pPr marL="342900" indent="-342900">
              <a:spcAft>
                <a:spcPts val="400"/>
              </a:spcAft>
              <a:buSzPct val="100000"/>
              <a:buChar char="•"/>
            </a:pPr>
            <a:r>
              <a:rPr lang="en-US" sz="1300" dirty="0">
                <a:solidFill>
                  <a:schemeClr val="tx2"/>
                </a:solidFill>
              </a:rPr>
              <a:t>Connect Sync below 2.6.84.0 with app-based auth stops syncing on April 7, 2027</a:t>
            </a:r>
            <a:endParaRPr lang="en-US" sz="1400" dirty="0"/>
          </a:p>
          <a:p>
            <a:pPr marL="342900" indent="-342900">
              <a:spcAft>
                <a:spcPts val="400"/>
              </a:spcAft>
              <a:buSzPct val="100000"/>
              <a:buChar char="•"/>
            </a:pPr>
            <a:r>
              <a:rPr lang="en-US" sz="1300" dirty="0">
                <a:solidFill>
                  <a:schemeClr val="tx2"/>
                </a:solidFill>
              </a:rPr>
              <a:t>An omitted attribute in a /bulkUpload record can clear the target: send the whole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3; Book 02, Ch 09 (sync engine; filtering; attribute flow; soft and hard match), Ch 10 (Phase 1); Book 03, Ch 05, Ch 06, Ch 12 (Phase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From attributes to mechanisms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Stages 4 to 6  ·  beyond users  ·  PIV and CAC binding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18 MINUTES</a:t>
            </a:r>
            <a:endParaRPr lang="en-US" sz="1400" dirty="0"/>
          </a:p>
          <a:p>
            <a:pPr marL="342900" indent="-342900">
              <a:spcAft>
                <a:spcPts val="300"/>
              </a:spcAft>
              <a:buSzPct val="100000"/>
              <a:buChar char="•"/>
            </a:pPr>
            <a:r>
              <a:rPr lang="en-US" sz="1500" dirty="0">
                <a:solidFill>
                  <a:srgbClr val="334155"/>
                </a:solidFill>
              </a:rPr>
              <a:t>Dynamic groups, administrative units, Conditional Access and Intune</a:t>
            </a:r>
            <a:endParaRPr lang="en-US" sz="1400" dirty="0"/>
          </a:p>
          <a:p>
            <a:pPr marL="342900" indent="-342900">
              <a:spcAft>
                <a:spcPts val="300"/>
              </a:spcAft>
              <a:buSzPct val="100000"/>
              <a:buChar char="•"/>
            </a:pPr>
            <a:r>
              <a:rPr lang="en-US" sz="1500" dirty="0">
                <a:solidFill>
                  <a:srgbClr val="334155"/>
                </a:solidFill>
              </a:rPr>
              <a:t>Devices, Arc servers, service principals and the object crosswalk</a:t>
            </a:r>
            <a:endParaRPr lang="en-US" sz="1400" dirty="0"/>
          </a:p>
          <a:p>
            <a:pPr marL="342900" indent="-342900">
              <a:spcAft>
                <a:spcPts val="300"/>
              </a:spcAft>
              <a:buSzPct val="100000"/>
              <a:buChar char="•"/>
            </a:pPr>
            <a:r>
              <a:rPr lang="en-US" sz="1500" dirty="0">
                <a:solidFill>
                  <a:srgbClr val="334155"/>
                </a:solidFill>
              </a:rPr>
              <a:t>PIV and CAC certificate binding as an attribute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4: OU subtrees become dynamic-group rules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n amber personnel record box (standard attributes and the action that set them), stamped attributes (codes in native and extension attributes), dynamic groups (rules; nobody joins by hand), and a green entitlements box (apps, access packages, Conditional Access). A dashed red arrow labelled eligibility only goes from stamped attributes to a privileged access box (assigned groups and PIM; HR decides eligibility, never standing).">    </p:cNvPr>
          <p:cNvPicPr>
            <a:picLocks noChangeAspect="1"/>
          </p:cNvPicPr>
          <p:nvPr/>
        </p:nvPicPr>
        <p:blipFill>
          <a:blip r:embed="rId1"/>
          <a:stretch>
            <a:fillRect/>
          </a:stretch>
        </p:blipFill>
        <p:spPr>
          <a:xfrm>
            <a:off x="2833211" y="1325880"/>
            <a:ext cx="6540818" cy="1920240"/>
          </a:xfrm>
          <a:prstGeom prst="rect">
            <a:avLst/>
          </a:prstGeom>
        </p:spPr>
      </p:pic>
      <p:graphicFrame>
        <p:nvGraphicFramePr>
          <p:cNvPr id="17" name="Patterns"/>
          <p:cNvGraphicFramePr>
            <a:graphicFrameLocks noGrp="1"/>
          </p:cNvGraphicFramePr>
          <p:nvPr>
            <p:extLst>
              <p:ext uri="{D42A27DB-BD31-4B8C-83A1-F6EECF244321}">
                <p14:modId xmlns:p14="http://schemas.microsoft.com/office/powerpoint/2010/main" val="1579011935"/>
              </p:ext>
            </p:extLst>
          </p:nvPr>
        </p:nvGraphicFramePr>
        <p:xfrm>
          <a:off x="548640" y="3429000"/>
          <a:ext cx="6080760" cy="1783080"/>
        </p:xfrm>
        <a:graphic>
          <a:graphicData uri="http://schemas.openxmlformats.org/drawingml/2006/table">
            <a:tbl>
              <a:tblPr firstRow="1" bandRow="1"/>
              <a:tblGrid>
                <a:gridCol w="1920240"/>
                <a:gridCol w="41605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answers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Node query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place in the organization, by organization code; -in for a roll-up of codes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Functional query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organizational attribute combined with another, e.g. IT and the security position category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access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Excludes disabled accounts, guests and agents' user accounts explicitly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ate" descr="">
            <a:extLst>
              <a:ext uri="{C183D7F6-B498-43B3-948B-1728B52AA6E4}">
                <adec:decorative xmlns:adec="http://schemas.microsoft.com/office/drawing/2017/decorative" val="1"/>
              </a:ext>
            </a:extLst>
          </p:cNvPr>
          <p:cNvSpPr/>
          <p:nvPr/>
        </p:nvSpPr>
        <p:spPr>
          <a:xfrm>
            <a:off x="6858000" y="3429000"/>
            <a:ext cx="48006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Gate head"/>
          <p:cNvSpPr txBox="1"/>
          <p:nvPr/>
        </p:nvSpPr>
        <p:spPr>
          <a:xfrm>
            <a:off x="7040880" y="3538728"/>
            <a:ext cx="4434840" cy="310896"/>
          </a:xfrm>
          <a:prstGeom prst="rect">
            <a:avLst/>
          </a:prstGeom>
          <a:noFill/>
          <a:ln/>
        </p:spPr>
        <p:txBody>
          <a:bodyPr wrap="square" lIns="0" tIns="0" rIns="0" bIns="0" rtlCol="0" anchor="t"/>
          <a:lstStyle/>
          <a:p>
            <a:pPr indent="0" marL="0">
              <a:buNone/>
            </a:pPr>
            <a:r>
              <a:rPr lang="en-US" sz="1100" b="1" dirty="0">
                <a:solidFill>
                  <a:srgbClr val="64748B"/>
                </a:solidFill>
              </a:rPr>
              <a:t>DECIDE, GATE, FAIL</a:t>
            </a:r>
            <a:endParaRPr lang="en-US" sz="1400" dirty="0"/>
          </a:p>
        </p:txBody>
      </p:sp>
      <p:sp>
        <p:nvSpPr>
          <p:cNvPr id="9" name="Gate list"/>
          <p:cNvSpPr txBox="1"/>
          <p:nvPr/>
        </p:nvSpPr>
        <p:spPr>
          <a:xfrm>
            <a:off x="7040880" y="3867912"/>
            <a:ext cx="44805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Convert only groups whose membership really follows department, location or role; flatten nesting</a:t>
            </a:r>
            <a:endParaRPr lang="en-US" sz="1400" dirty="0"/>
          </a:p>
          <a:p>
            <a:pPr marL="342900" indent="-342900">
              <a:spcAft>
                <a:spcPts val="400"/>
              </a:spcAft>
              <a:buSzPct val="100000"/>
              <a:buChar char="•"/>
            </a:pPr>
            <a:r>
              <a:rPr lang="en-US" sz="1300" dirty="0">
                <a:solidFill>
                  <a:schemeClr val="tx2"/>
                </a:solidFill>
              </a:rPr>
              <a:t>No production access until the rule is validated, shadowed against its old group and piloted</a:t>
            </a:r>
            <a:endParaRPr lang="en-US" sz="1400" dirty="0"/>
          </a:p>
          <a:p>
            <a:pPr marL="342900" indent="-342900">
              <a:spcAft>
                <a:spcPts val="400"/>
              </a:spcAft>
              <a:buSzPct val="100000"/>
              <a:buChar char="•"/>
            </a:pPr>
            <a:r>
              <a:rPr lang="en-US" sz="1300" dirty="0">
                <a:solidFill>
                  <a:schemeClr val="tx2"/>
                </a:solidFill>
              </a:rPr>
              <a:t>A rule change removes members who no longer match</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4; Book 01, Ch 04 (two query patterns); Book 02, Ch 09 (converting groups; nesting); Book 03, Ch 07, Ch 10 (rule patterns); Book 06, Ch 16,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5: delegation moves to administrative units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r>
          <p:cNvPicPr>
            <a:picLocks noChangeAspect="1"/>
          </p:cNvPicPr>
          <p:nvPr/>
        </p:nvPicPr>
        <p:blipFill>
          <a:blip r:embed="rId1"/>
          <a:stretch>
            <a:fillRect/>
          </a:stretch>
        </p:blipFill>
        <p:spPr>
          <a:xfrm>
            <a:off x="548640" y="1371600"/>
            <a:ext cx="6035040" cy="3233057"/>
          </a:xfrm>
          <a:prstGeom prst="rect">
            <a:avLst/>
          </a:prstGeom>
        </p:spPr>
      </p:pic>
      <p:sp>
        <p:nvSpPr>
          <p:cNvPr id="6" name="Decide" descr="">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cide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DECISIONS (DESIGN GUIDANCE)</a:t>
            </a:r>
            <a:endParaRPr lang="en-US" sz="1400" dirty="0"/>
          </a:p>
        </p:txBody>
      </p:sp>
      <p:sp>
        <p:nvSpPr>
          <p:cNvPr id="8" name="Decide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Each unit's dynamic rule mirrors its group's rule; division units read extensionAttribute6</a:t>
            </a:r>
            <a:endParaRPr lang="en-US" sz="1400" dirty="0"/>
          </a:p>
          <a:p>
            <a:pPr marL="342900" indent="-342900">
              <a:spcAft>
                <a:spcPts val="400"/>
              </a:spcAft>
              <a:buSzPct val="100000"/>
              <a:buChar char="•"/>
            </a:pPr>
            <a:r>
              <a:rPr lang="en-US" sz="1300" dirty="0">
                <a:solidFill>
                  <a:schemeClr val="tx2"/>
                </a:solidFill>
              </a:rPr>
              <a:t>Restricted management: per unit, default no, decided before creation</a:t>
            </a:r>
            <a:endParaRPr lang="en-US" sz="1400" dirty="0"/>
          </a:p>
          <a:p>
            <a:pPr marL="342900" indent="-342900">
              <a:spcAft>
                <a:spcPts val="400"/>
              </a:spcAft>
              <a:buSzPct val="100000"/>
              <a:buChar char="•"/>
            </a:pPr>
            <a:r>
              <a:rPr lang="en-US" sz="1300" dirty="0">
                <a:solidFill>
                  <a:schemeClr val="tx2"/>
                </a:solidFill>
              </a:rPr>
              <a:t>Role principals: assigned, role-assignable, PIM-eligible groups</a:t>
            </a:r>
            <a:endParaRPr lang="en-US" sz="1400" dirty="0"/>
          </a:p>
          <a:p>
            <a:pPr marL="342900" indent="-342900">
              <a:spcAft>
                <a:spcPts val="400"/>
              </a:spcAft>
              <a:buSzPct val="100000"/>
              <a:buChar char="•"/>
            </a:pPr>
            <a:r>
              <a:rPr lang="en-US" sz="1300" dirty="0">
                <a:solidFill>
                  <a:schemeClr val="tx2"/>
                </a:solidFill>
              </a:rPr>
              <a:t>Create the unit and its scoped role before the groups it holds</a:t>
            </a:r>
            <a:endParaRPr lang="en-US" sz="1400" dirty="0"/>
          </a:p>
        </p:txBody>
      </p:sp>
      <p:sp>
        <p:nvSpPr>
          <p:cNvPr id="9" name="Write" descr="">
            <a:extLst>
              <a:ext uri="{C183D7F6-B498-43B3-948B-1728B52AA6E4}">
                <adec:decorative xmlns:adec="http://schemas.microsoft.com/office/drawing/2017/decorative" val="1"/>
              </a:ext>
            </a:extLst>
          </p:cNvPr>
          <p:cNvSpPr/>
          <p:nvPr/>
        </p:nvSpPr>
        <p:spPr>
          <a:xfrm>
            <a:off x="548640" y="4833257"/>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901837"/>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77402"/>
            <a:ext cx="380390" cy="380390"/>
          </a:xfrm>
          <a:prstGeom prst="rect">
            <a:avLst/>
          </a:prstGeom>
        </p:spPr>
      </p:pic>
      <p:sp>
        <p:nvSpPr>
          <p:cNvPr id="12" name="Write text"/>
          <p:cNvSpPr txBox="1"/>
          <p:nvPr/>
        </p:nvSpPr>
        <p:spPr>
          <a:xfrm>
            <a:off x="1737360" y="4878977"/>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A unit scopes writes, not reads: </a:t>
            </a:r>
            <a:pPr indent="0" marL="0">
              <a:buNone/>
            </a:pPr>
            <a:r>
              <a:rPr lang="en-US" sz="1650" dirty="0">
                <a:solidFill>
                  <a:schemeClr val="tx2"/>
                </a:solidFill>
              </a:rPr>
              <a:t>it isn't a confidentiality boundary, and restricting a broad HR population takes it out of PIM, access reviews and workflows.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5; Book 01, Ch 04 (three-tier model; restricted management); Book 02, Ch 05 (units; restriction; role matrix; drift), Ch 06; Book 06,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6: Conditional Access targets personas, not the tree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r>
          <p:cNvPicPr>
            <a:picLocks noChangeAspect="1"/>
          </p:cNvPicPr>
          <p:nvPr/>
        </p:nvPicPr>
        <p:blipFill>
          <a:blip r:embed="rId1"/>
          <a:stretch>
            <a:fillRect/>
          </a:stretch>
        </p:blipFill>
        <p:spPr>
          <a:xfrm>
            <a:off x="833574" y="1325880"/>
            <a:ext cx="6196693" cy="2011680"/>
          </a:xfrm>
          <a:prstGeom prst="rect">
            <a:avLst/>
          </a:prstGeom>
        </p:spPr>
      </p:pic>
      <p:sp>
        <p:nvSpPr>
          <p:cNvPr id="6" name="Persona" descr="">
            <a:extLst>
              <a:ext uri="{C183D7F6-B498-43B3-948B-1728B52AA6E4}">
                <adec:decorative xmlns:adec="http://schemas.microsoft.com/office/drawing/2017/decorative" val="1"/>
              </a:ext>
            </a:extLst>
          </p:cNvPr>
          <p:cNvSpPr/>
          <p:nvPr/>
        </p:nvSpPr>
        <p:spPr>
          <a:xfrm>
            <a:off x="7543800" y="1325880"/>
            <a:ext cx="4114800" cy="1737360"/>
          </a:xfrm>
          <a:prstGeom prst="roundRect">
            <a:avLst>
              <a:gd name="adj" fmla="val 421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ersona head"/>
          <p:cNvSpPr txBox="1"/>
          <p:nvPr/>
        </p:nvSpPr>
        <p:spPr>
          <a:xfrm>
            <a:off x="7726680" y="1435608"/>
            <a:ext cx="3749040" cy="310896"/>
          </a:xfrm>
          <a:prstGeom prst="rect">
            <a:avLst/>
          </a:prstGeom>
          <a:noFill/>
          <a:ln/>
        </p:spPr>
        <p:txBody>
          <a:bodyPr wrap="square" lIns="0" tIns="0" rIns="0" bIns="0" rtlCol="0" anchor="t"/>
          <a:lstStyle/>
          <a:p>
            <a:pPr indent="0" marL="0">
              <a:buNone/>
            </a:pPr>
            <a:r>
              <a:rPr lang="en-US" sz="1100" b="1" dirty="0">
                <a:solidFill>
                  <a:srgbClr val="64748B"/>
                </a:solidFill>
              </a:rPr>
              <a:t>PERSONAS FROM ATTRIBUTES</a:t>
            </a:r>
            <a:endParaRPr lang="en-US" sz="1400" dirty="0"/>
          </a:p>
        </p:txBody>
      </p:sp>
      <p:sp>
        <p:nvSpPr>
          <p:cNvPr id="8" name="Persona list"/>
          <p:cNvSpPr txBox="1"/>
          <p:nvPr/>
        </p:nvSpPr>
        <p:spPr>
          <a:xfrm>
            <a:off x="7726680" y="1764792"/>
            <a:ext cx="37947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Internals: worker type code in extensionAttribute11</a:t>
            </a:r>
            <a:endParaRPr lang="en-US" sz="1400" dirty="0"/>
          </a:p>
          <a:p>
            <a:pPr marL="342900" indent="-342900">
              <a:spcAft>
                <a:spcPts val="400"/>
              </a:spcAft>
              <a:buSzPct val="100000"/>
              <a:buChar char="•"/>
            </a:pPr>
            <a:r>
              <a:rPr lang="en-US" sz="1300" dirty="0">
                <a:solidFill>
                  <a:schemeClr val="tx2"/>
                </a:solidFill>
              </a:rPr>
              <a:t>Admins: account type Privileged, or the PIM-eligible population</a:t>
            </a:r>
            <a:endParaRPr lang="en-US" sz="1400" dirty="0"/>
          </a:p>
          <a:p>
            <a:pPr marL="342900" indent="-342900">
              <a:spcAft>
                <a:spcPts val="400"/>
              </a:spcAft>
              <a:buSzPct val="100000"/>
              <a:buChar char="•"/>
            </a:pPr>
            <a:r>
              <a:rPr lang="en-US" sz="1300" dirty="0">
                <a:solidFill>
                  <a:schemeClr val="tx2"/>
                </a:solidFill>
              </a:rPr>
              <a:t>Emergency-access group excluded</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548640" y="3520440"/>
            <a:ext cx="512064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731520" y="363016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GATE</a:t>
            </a:r>
            <a:endParaRPr lang="en-US" sz="1400" dirty="0"/>
          </a:p>
        </p:txBody>
      </p:sp>
      <p:sp>
        <p:nvSpPr>
          <p:cNvPr id="11" name="Gate list"/>
          <p:cNvSpPr txBox="1"/>
          <p:nvPr/>
        </p:nvSpPr>
        <p:spPr>
          <a:xfrm>
            <a:off x="731520" y="395935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policy in report-only for two to four weeks, then enforced in waves behind a monitoring gate</a:t>
            </a:r>
            <a:endParaRPr lang="en-US" sz="1400" dirty="0"/>
          </a:p>
          <a:p>
            <a:pPr marL="342900" indent="-342900">
              <a:spcAft>
                <a:spcPts val="400"/>
              </a:spcAft>
              <a:buSzPct val="100000"/>
              <a:buChar char="•"/>
            </a:pPr>
            <a:r>
              <a:rPr lang="en-US" sz="1300" dirty="0">
                <a:solidFill>
                  <a:schemeClr val="tx2"/>
                </a:solidFill>
              </a:rPr>
              <a:t>Every policy targets only governed groups</a:t>
            </a:r>
            <a:endParaRPr lang="en-US" sz="1400" dirty="0"/>
          </a:p>
          <a:p>
            <a:pPr marL="342900" indent="-342900">
              <a:spcAft>
                <a:spcPts val="400"/>
              </a:spcAft>
              <a:buSzPct val="100000"/>
              <a:buChar char="•"/>
            </a:pPr>
            <a:r>
              <a:rPr lang="en-US" sz="1300" dirty="0">
                <a:solidFill>
                  <a:schemeClr val="tx2"/>
                </a:solidFill>
              </a:rPr>
              <a:t>Account lockout isn't a CA control: Entra smart lockout or Intune</a:t>
            </a:r>
            <a:endParaRPr lang="en-US" sz="1400" dirty="0"/>
          </a:p>
        </p:txBody>
      </p:sp>
      <p:sp>
        <p:nvSpPr>
          <p:cNvPr id="12" name="Fail" descr="">
            <a:extLst>
              <a:ext uri="{C183D7F6-B498-43B3-948B-1728B52AA6E4}">
                <adec:decorative xmlns:adec="http://schemas.microsoft.com/office/drawing/2017/decorative" val="1"/>
              </a:ext>
            </a:extLst>
          </p:cNvPr>
          <p:cNvSpPr/>
          <p:nvPr/>
        </p:nvSpPr>
        <p:spPr>
          <a:xfrm>
            <a:off x="5897880" y="3520440"/>
            <a:ext cx="5760720" cy="2377440"/>
          </a:xfrm>
          <a:prstGeom prst="roundRect">
            <a:avLst>
              <a:gd name="adj" fmla="val 307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Fail head"/>
          <p:cNvSpPr txBox="1"/>
          <p:nvPr/>
        </p:nvSpPr>
        <p:spPr>
          <a:xfrm>
            <a:off x="6080760" y="363016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FAILURE MODES</a:t>
            </a:r>
            <a:endParaRPr lang="en-US" sz="1400" dirty="0"/>
          </a:p>
        </p:txBody>
      </p:sp>
      <p:sp>
        <p:nvSpPr>
          <p:cNvPr id="14" name="Fail list"/>
          <p:cNvSpPr txBox="1"/>
          <p:nvPr/>
        </p:nvSpPr>
        <p:spPr>
          <a:xfrm>
            <a:off x="6080760" y="3959352"/>
            <a:ext cx="54406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grant policy restricts nothing on its own: pair it with a block</a:t>
            </a:r>
            <a:endParaRPr lang="en-US" sz="1400" dirty="0"/>
          </a:p>
          <a:p>
            <a:pPr marL="342900" indent="-342900">
              <a:spcAft>
                <a:spcPts val="400"/>
              </a:spcAft>
              <a:buSzPct val="100000"/>
              <a:buChar char="•"/>
            </a:pPr>
            <a:r>
              <a:rPr lang="en-US" sz="1300" dirty="0">
                <a:solidFill>
                  <a:schemeClr val="tx2"/>
                </a:solidFill>
              </a:rPr>
              <a:t>A policy on a dynamic group misses every user whose attribute is empty</a:t>
            </a:r>
            <a:endParaRPr lang="en-US" sz="1400" dirty="0"/>
          </a:p>
          <a:p>
            <a:pPr marL="342900" indent="-342900">
              <a:spcAft>
                <a:spcPts val="400"/>
              </a:spcAft>
              <a:buSzPct val="100000"/>
              <a:buChar char="•"/>
            </a:pPr>
            <a:r>
              <a:rPr lang="en-US" sz="1300" dirty="0">
                <a:solidFill>
                  <a:schemeClr val="tx2"/>
                </a:solidFill>
              </a:rPr>
              <a:t>Role targeting misses unit-scoped roles: target the admins' group</a:t>
            </a:r>
            <a:endParaRPr lang="en-US" sz="1400" dirty="0"/>
          </a:p>
          <a:p>
            <a:pPr marL="342900" indent="-342900">
              <a:spcAft>
                <a:spcPts val="400"/>
              </a:spcAft>
              <a:buSzPct val="100000"/>
              <a:buChar char="•"/>
            </a:pPr>
            <a:r>
              <a:rPr lang="en-US" sz="1300" dirty="0">
                <a:solidFill>
                  <a:schemeClr val="tx2"/>
                </a:solidFill>
              </a:rPr>
              <a:t>No inheritance through units: the branch group must hold everyone the GPO reached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6; Book 01, Ch 04 (CA, the inheritance replacement; verification); Book 02, Ch 06, Ch 09 (testing and rollout); Book 04, Ch 03 (personas; pairs;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 targeting: device groups, and prefer filters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A slate card, device attributes on the Entra device object, lists region, department, security tier, device role and environment, written through Microsoft Graph. It feeds a blue card, dynamic device groups, with example rules on extensionAttribute11 and extensionAttribute12. That feeds a blue card, assignment, listing include group, exclude groups for break-glass and staging, and an assignment filter on Intune properties such as join type, ownership, model or OS SKU. The assignment feeds a green card, one owning policy per setting, listing compliance, configuration, endpoint security and app protection. A dashed violet arrow from the compliance policy leads to a violet card, Conditional Access, require device to be marked as compliant, owned by Book 04.">    </p:cNvPr>
          <p:cNvPicPr>
            <a:picLocks noChangeAspect="1"/>
          </p:cNvPicPr>
          <p:nvPr/>
        </p:nvPicPr>
        <p:blipFill>
          <a:blip r:embed="rId1"/>
          <a:stretch>
            <a:fillRect/>
          </a:stretch>
        </p:blipFill>
        <p:spPr>
          <a:xfrm>
            <a:off x="565074" y="1371600"/>
            <a:ext cx="2481732" cy="4572000"/>
          </a:xfrm>
          <a:prstGeom prst="rect">
            <a:avLst/>
          </a:prstGeom>
        </p:spPr>
      </p:pic>
      <p:graphicFrame>
        <p:nvGraphicFramePr>
          <p:cNvPr id="20" name="Target"/>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2273808"/>
        </p:xfrm>
        <a:graphic>
          <a:graphicData uri="http://schemas.openxmlformats.org/drawingml/2006/table">
            <a:tbl>
              <a:tblPr firstRow="1" bandRow="1"/>
              <a:tblGrid>
                <a:gridCol w="2743200"/>
                <a:gridCol w="56235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 it for (Microsoft Learn, Oct. 29,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User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Settings that belong to the user, such as email and user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Settings that must stay on a device; dynamic rules read device attributes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Assignment filters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Where a filter meets the need; for time-sensitive assignment, a filter on a user group or All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extension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 rules only: filters can't read them, so tier and role stay in dynamic device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Owner" descr="">
            <a:extLst>
              <a:ext uri="{C183D7F6-B498-43B3-948B-1728B52AA6E4}">
                <adec:decorative xmlns:adec="http://schemas.microsoft.com/office/drawing/2017/decorative" val="1"/>
              </a:ext>
            </a:extLst>
          </p:cNvPr>
          <p:cNvSpPr/>
          <p:nvPr/>
        </p:nvSpPr>
        <p:spPr>
          <a:xfrm>
            <a:off x="3291840" y="3828288"/>
            <a:ext cx="836676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Owner head"/>
          <p:cNvSpPr txBox="1"/>
          <p:nvPr/>
        </p:nvSpPr>
        <p:spPr>
          <a:xfrm>
            <a:off x="3474720" y="3938016"/>
            <a:ext cx="8001000" cy="310896"/>
          </a:xfrm>
          <a:prstGeom prst="rect">
            <a:avLst/>
          </a:prstGeom>
          <a:noFill/>
          <a:ln/>
        </p:spPr>
        <p:txBody>
          <a:bodyPr wrap="square" lIns="0" tIns="0" rIns="0" bIns="0" rtlCol="0" anchor="t"/>
          <a:lstStyle/>
          <a:p>
            <a:pPr indent="0" marL="0">
              <a:buNone/>
            </a:pPr>
            <a:r>
              <a:rPr lang="en-US" sz="1100" b="1" dirty="0">
                <a:solidFill>
                  <a:srgbClr val="64748B"/>
                </a:solidFill>
              </a:rPr>
              <a:t>PREFER FILTERS WHERE THEY MEET THE NEED</a:t>
            </a:r>
            <a:endParaRPr lang="en-US" sz="1400" dirty="0"/>
          </a:p>
        </p:txBody>
      </p:sp>
      <p:sp>
        <p:nvSpPr>
          <p:cNvPr id="9" name="Owner list"/>
          <p:cNvSpPr txBox="1"/>
          <p:nvPr/>
        </p:nvSpPr>
        <p:spPr>
          <a:xfrm>
            <a:off x="3474720" y="4267200"/>
            <a:ext cx="804672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Dynamic device groups add processing delay; for time-sensitive assignment, filter a user group or All devices</a:t>
            </a:r>
            <a:endParaRPr lang="en-US" sz="1400" dirty="0"/>
          </a:p>
          <a:p>
            <a:pPr marL="342900" indent="-342900">
              <a:spcAft>
                <a:spcPts val="400"/>
              </a:spcAft>
              <a:buSzPct val="100000"/>
              <a:buChar char="•"/>
            </a:pPr>
            <a:r>
              <a:rPr lang="en-US" sz="1350" dirty="0">
                <a:solidFill>
                  <a:schemeClr val="tx2"/>
                </a:solidFill>
              </a:rPr>
              <a:t>Device rules can't read the owner's attributes: a user's code never reaches a device group</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Assign policies in Microsoft Intune; Manage rules for dynamic membership groups (Oct. 29, 2026). Guide, Stage 6, Limits;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Intune and Entra devices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ules" descr="">
            <a:extLst>
              <a:ext uri="{C183D7F6-B498-43B3-948B-1728B52AA6E4}">
                <adec:decorative xmlns:adec="http://schemas.microsoft.com/office/drawing/2017/decorative" val="1"/>
              </a:ext>
            </a:extLst>
          </p:cNvPr>
          <p:cNvSpPr/>
          <p:nvPr/>
        </p:nvSpPr>
        <p:spPr>
          <a:xfrm>
            <a:off x="548640" y="1371600"/>
            <a:ext cx="548640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ules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DYNAMIC DEVICE GROUPS</a:t>
            </a:r>
            <a:endParaRPr lang="en-US" sz="1400" dirty="0"/>
          </a:p>
        </p:txBody>
      </p:sp>
      <p:sp>
        <p:nvSpPr>
          <p:cNvPr id="7" name="Rules list"/>
          <p:cNvSpPr txBox="1"/>
          <p:nvPr/>
        </p:nvSpPr>
        <p:spPr>
          <a:xfrm>
            <a:off x="731520" y="1810512"/>
            <a:ext cx="5166360" cy="1179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Rules read device properties only: OS type, ownership, trust type, enrollment profile, physical IDs, extension attributes 1–15</a:t>
            </a:r>
            <a:endParaRPr lang="en-US" sz="1400" dirty="0"/>
          </a:p>
          <a:p>
            <a:pPr marL="342900" indent="-342900">
              <a:spcAft>
                <a:spcPts val="400"/>
              </a:spcAft>
              <a:buSzPct val="100000"/>
              <a:buChar char="•"/>
            </a:pPr>
            <a:r>
              <a:rPr lang="en-US" sz="1300" dirty="0">
                <a:solidFill>
                  <a:schemeClr val="tx2"/>
                </a:solidFill>
              </a:rPr>
              <a:t>Autopilot: a [ZTDid] rule selects every Autopilot device; the group tag maps to OrderID</a:t>
            </a:r>
            <a:endParaRPr lang="en-US" sz="1400" dirty="0"/>
          </a:p>
        </p:txBody>
      </p:sp>
      <p:sp>
        <p:nvSpPr>
          <p:cNvPr id="8" name="Filters" descr="">
            <a:extLst>
              <a:ext uri="{C183D7F6-B498-43B3-948B-1728B52AA6E4}">
                <adec:decorative xmlns:adec="http://schemas.microsoft.com/office/drawing/2017/decorative" val="1"/>
              </a:ext>
            </a:extLst>
          </p:cNvPr>
          <p:cNvSpPr/>
          <p:nvPr/>
        </p:nvSpPr>
        <p:spPr>
          <a:xfrm>
            <a:off x="548640" y="3246120"/>
            <a:ext cx="54864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Filters head"/>
          <p:cNvSpPr txBox="1"/>
          <p:nvPr/>
        </p:nvSpPr>
        <p:spPr>
          <a:xfrm>
            <a:off x="731520" y="33558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ASSIGNMENT FILTERS AND SCOPE TAGS</a:t>
            </a:r>
            <a:endParaRPr lang="en-US" sz="1400" dirty="0"/>
          </a:p>
        </p:txBody>
      </p:sp>
      <p:sp>
        <p:nvSpPr>
          <p:cNvPr id="10" name="Filters list"/>
          <p:cNvSpPr txBox="1"/>
          <p:nvPr/>
        </p:nvSpPr>
        <p:spPr>
          <a:xfrm>
            <a:off x="731520" y="36850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Filters read Intune properties at check-in: name, ownership, trust type, model, OS SKU, OS version and more</a:t>
            </a:r>
            <a:endParaRPr lang="en-US" sz="1400" dirty="0"/>
          </a:p>
          <a:p>
            <a:pPr marL="342900" indent="-342900">
              <a:spcAft>
                <a:spcPts val="400"/>
              </a:spcAft>
              <a:buSzPct val="100000"/>
              <a:buChar char="•"/>
            </a:pPr>
            <a:r>
              <a:rPr lang="en-US" sz="1300" dirty="0">
                <a:solidFill>
                  <a:schemeClr val="tx2"/>
                </a:solidFill>
              </a:rPr>
              <a:t>No extension attributes in filters</a:t>
            </a:r>
            <a:endParaRPr lang="en-US" sz="1400" dirty="0"/>
          </a:p>
          <a:p>
            <a:pPr marL="342900" indent="-342900">
              <a:spcAft>
                <a:spcPts val="400"/>
              </a:spcAft>
              <a:buSzPct val="100000"/>
              <a:buChar char="•"/>
            </a:pPr>
            <a:r>
              <a:rPr lang="en-US" sz="1300" dirty="0">
                <a:solidFill>
                  <a:schemeClr val="tx2"/>
                </a:solidFill>
              </a:rPr>
              <a:t>Scope tags: at most 100 per object or role; Intune RBAC doesn't apply to Entra roles</a:t>
            </a:r>
            <a:endParaRPr lang="en-US" sz="1400" dirty="0"/>
          </a:p>
        </p:txBody>
      </p:sp>
      <p:sp>
        <p:nvSpPr>
          <p:cNvPr id="11" name="Write" descr="">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Write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WRITING DEVICE EXTENSION ATTRIBUTES</a:t>
            </a:r>
            <a:endParaRPr lang="en-US" sz="1400" dirty="0"/>
          </a:p>
        </p:txBody>
      </p:sp>
      <p:sp>
        <p:nvSpPr>
          <p:cNvPr id="13" name="Write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Microsoft Graph: PATCH /devices/{id} with an extensionAttributes body</a:t>
            </a:r>
            <a:endParaRPr lang="en-US" sz="1400" dirty="0"/>
          </a:p>
          <a:p>
            <a:pPr marL="342900" indent="-342900">
              <a:spcAft>
                <a:spcPts val="400"/>
              </a:spcAft>
              <a:buSzPct val="100000"/>
              <a:buChar char="•"/>
            </a:pPr>
            <a:r>
              <a:rPr lang="en-US" sz="1300" dirty="0">
                <a:solidFill>
                  <a:schemeClr val="tx2"/>
                </a:solidFill>
              </a:rPr>
              <a:t>Application permission: Device.ReadWrite.All</a:t>
            </a:r>
            <a:endParaRPr lang="en-US" sz="1400" dirty="0"/>
          </a:p>
          <a:p>
            <a:pPr marL="342900" indent="-342900">
              <a:spcAft>
                <a:spcPts val="400"/>
              </a:spcAft>
              <a:buSzPct val="100000"/>
              <a:buChar char="•"/>
            </a:pPr>
            <a:r>
              <a:rPr lang="en-US" sz="1300" dirty="0">
                <a:solidFill>
                  <a:schemeClr val="tx2"/>
                </a:solidFill>
              </a:rPr>
              <a:t>Delegated: Directory.AccessAsUser.All, with Intune Administrator as the least role</a:t>
            </a:r>
            <a:endParaRPr lang="en-US" sz="1400" dirty="0"/>
          </a:p>
          <a:p>
            <a:pPr marL="342900" indent="-342900">
              <a:spcAft>
                <a:spcPts val="400"/>
              </a:spcAft>
              <a:buSzPct val="100000"/>
              <a:buChar char="•"/>
            </a:pPr>
            <a:r>
              <a:rPr lang="en-US" sz="1300" dirty="0">
                <a:solidFill>
                  <a:schemeClr val="tx2"/>
                </a:solidFill>
              </a:rPr>
              <a:t>App-only calls, or non-Windows devices: only extensionAttributes can be updated</a:t>
            </a:r>
            <a:endParaRPr lang="en-US" sz="1400" dirty="0"/>
          </a:p>
        </p:txBody>
      </p:sp>
      <p:sp>
        <p:nvSpPr>
          <p:cNvPr id="14" name="Check" descr="">
            <a:extLst>
              <a:ext uri="{C183D7F6-B498-43B3-948B-1728B52AA6E4}">
                <adec:decorative xmlns:adec="http://schemas.microsoft.com/office/drawing/2017/decorative" val="1"/>
              </a:ext>
            </a:extLst>
          </p:cNvPr>
          <p:cNvSpPr/>
          <p:nvPr/>
        </p:nvSpPr>
        <p:spPr>
          <a:xfrm>
            <a:off x="6263640" y="3749040"/>
            <a:ext cx="5394960" cy="1234440"/>
          </a:xfrm>
          <a:prstGeom prst="roundRect">
            <a:avLst>
              <a:gd name="adj" fmla="val 592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heck head"/>
          <p:cNvSpPr txBox="1"/>
          <p:nvPr/>
        </p:nvSpPr>
        <p:spPr>
          <a:xfrm>
            <a:off x="6446520" y="385876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PICK THE PERMISSION FOR THE CALL</a:t>
            </a:r>
            <a:endParaRPr lang="en-US" sz="1400" dirty="0"/>
          </a:p>
        </p:txBody>
      </p:sp>
      <p:sp>
        <p:nvSpPr>
          <p:cNvPr id="16" name="Check list"/>
          <p:cNvSpPr txBox="1"/>
          <p:nvPr/>
        </p:nvSpPr>
        <p:spPr>
          <a:xfrm>
            <a:off x="6446520" y="4187952"/>
            <a:ext cx="507492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Signed in: Directory.AccessAsUser.All as at least Intune Administrator, as Book 05's sample now does; an unattended service: Device.ReadWrite.All</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Windows Autopilot device groups; Graph Update device; Intune filters; scope tags (Oct. 29, 2026). Guide;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Azure Arc servers, through Resource Manager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r>
          <p:cNvPicPr>
            <a:picLocks noChangeAspect="1"/>
          </p:cNvPicPr>
          <p:nvPr/>
        </p:nvPicPr>
        <p:blipFill>
          <a:blip r:embed="rId1"/>
          <a:stretch>
            <a:fillRect/>
          </a:stretch>
        </p:blipFill>
        <p:spPr>
          <a:xfrm>
            <a:off x="548640" y="1371600"/>
            <a:ext cx="5577840" cy="3517842"/>
          </a:xfrm>
          <a:prstGeom prst="rect">
            <a:avLst/>
          </a:prstGeom>
        </p:spPr>
      </p:pic>
      <p:sp>
        <p:nvSpPr>
          <p:cNvPr id="6" name="Arc" descr="">
            <a:extLst>
              <a:ext uri="{C183D7F6-B498-43B3-948B-1728B52AA6E4}">
                <adec:decorative xmlns:adec="http://schemas.microsoft.com/office/drawing/2017/decorative" val="1"/>
              </a:ext>
            </a:extLst>
          </p:cNvPr>
          <p:cNvSpPr/>
          <p:nvPr/>
        </p:nvSpPr>
        <p:spPr>
          <a:xfrm>
            <a:off x="6355080" y="1371600"/>
            <a:ext cx="530352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rc head"/>
          <p:cNvSpPr txBox="1"/>
          <p:nvPr/>
        </p:nvSpPr>
        <p:spPr>
          <a:xfrm>
            <a:off x="6537960" y="1481328"/>
            <a:ext cx="4937760" cy="310896"/>
          </a:xfrm>
          <a:prstGeom prst="rect">
            <a:avLst/>
          </a:prstGeom>
          <a:noFill/>
          <a:ln/>
        </p:spPr>
        <p:txBody>
          <a:bodyPr wrap="square" lIns="0" tIns="0" rIns="0" bIns="0" rtlCol="0" anchor="t"/>
          <a:lstStyle/>
          <a:p>
            <a:pPr indent="0" marL="0">
              <a:buNone/>
            </a:pPr>
            <a:r>
              <a:rPr lang="en-US" sz="1100" b="1" dirty="0">
                <a:solidFill>
                  <a:srgbClr val="64748B"/>
                </a:solidFill>
              </a:rPr>
              <a:t>TAGS ARE THE SERVER'S ATTRIBUTES</a:t>
            </a:r>
            <a:endParaRPr lang="en-US" sz="1400" dirty="0"/>
          </a:p>
        </p:txBody>
      </p:sp>
      <p:sp>
        <p:nvSpPr>
          <p:cNvPr id="8" name="Arc list"/>
          <p:cNvSpPr txBox="1"/>
          <p:nvPr/>
        </p:nvSpPr>
        <p:spPr>
          <a:xfrm>
            <a:off x="6537960" y="1810512"/>
            <a:ext cx="498348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Connected Machine agent gives the server an Azure resource ID, governed and tagged like a VM</a:t>
            </a:r>
            <a:endParaRPr lang="en-US" sz="1400" dirty="0"/>
          </a:p>
          <a:p>
            <a:pPr marL="342900" indent="-342900">
              <a:spcAft>
                <a:spcPts val="400"/>
              </a:spcAft>
              <a:buSzPct val="100000"/>
              <a:buChar char="•"/>
            </a:pPr>
            <a:r>
              <a:rPr lang="en-US" sz="1300" dirty="0">
                <a:solidFill>
                  <a:schemeClr val="tx2"/>
                </a:solidFill>
              </a:rPr>
              <a:t>Tags set at onboarding with azcmagent connect --tags, or later through portal, CLI, PowerShell, ARM or Policy</a:t>
            </a:r>
            <a:endParaRPr lang="en-US" sz="1400" dirty="0"/>
          </a:p>
          <a:p>
            <a:pPr marL="342900" indent="-342900">
              <a:spcAft>
                <a:spcPts val="400"/>
              </a:spcAft>
              <a:buSzPct val="100000"/>
              <a:buChar char="•"/>
            </a:pPr>
            <a:r>
              <a:rPr lang="en-US" sz="1300" dirty="0">
                <a:solidFill>
                  <a:schemeClr val="tx2"/>
                </a:solidFill>
              </a:rPr>
              <a:t>Azure Policy can test tags; the built-in inherit-a-tag policy uses modify, with remediation</a:t>
            </a:r>
            <a:endParaRPr lang="en-US" sz="1400" dirty="0"/>
          </a:p>
          <a:p>
            <a:pPr marL="342900" indent="-342900">
              <a:spcAft>
                <a:spcPts val="400"/>
              </a:spcAft>
              <a:buSzPct val="100000"/>
              <a:buChar char="•"/>
            </a:pPr>
            <a:r>
              <a:rPr lang="en-US" sz="1300" dirty="0">
                <a:solidFill>
                  <a:schemeClr val="tx2"/>
                </a:solidFill>
              </a:rPr>
              <a:t>Azure Resource Graph queries tags at scale</a:t>
            </a:r>
            <a:endParaRPr lang="en-US" sz="1400" dirty="0"/>
          </a:p>
        </p:txBody>
      </p:sp>
      <p:sp>
        <p:nvSpPr>
          <p:cNvPr id="9" name="ABAC" descr="">
            <a:extLst>
              <a:ext uri="{C183D7F6-B498-43B3-948B-1728B52AA6E4}">
                <adec:decorative xmlns:adec="http://schemas.microsoft.com/office/drawing/2017/decorative" val="1"/>
              </a:ext>
            </a:extLst>
          </p:cNvPr>
          <p:cNvSpPr/>
          <p:nvPr/>
        </p:nvSpPr>
        <p:spPr>
          <a:xfrm>
            <a:off x="548640" y="5118042"/>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Server" descr="">
            <a:extLst>
              <a:ext uri="{C183D7F6-B498-43B3-948B-1728B52AA6E4}">
                <adec:decorative xmlns:adec="http://schemas.microsoft.com/office/drawing/2017/decorative" val="1"/>
              </a:ext>
            </a:extLst>
          </p:cNvPr>
          <p:cNvSpPr/>
          <p:nvPr/>
        </p:nvSpPr>
        <p:spPr>
          <a:xfrm>
            <a:off x="777240" y="5186622"/>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62187"/>
            <a:ext cx="380390" cy="380390"/>
          </a:xfrm>
          <a:prstGeom prst="rect">
            <a:avLst/>
          </a:prstGeom>
        </p:spPr>
      </p:pic>
      <p:sp>
        <p:nvSpPr>
          <p:cNvPr id="12" name="ABAC text"/>
          <p:cNvSpPr txBox="1"/>
          <p:nvPr/>
        </p:nvSpPr>
        <p:spPr>
          <a:xfrm>
            <a:off x="1737360" y="5163762"/>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Not documented for Arc: </a:t>
            </a:r>
            <a:pPr indent="0" marL="0">
              <a:buNone/>
            </a:pPr>
            <a:r>
              <a:rPr lang="en-US" sz="1650" dirty="0">
                <a:solidFill>
                  <a:schemeClr val="tx2"/>
                </a:solidFill>
              </a:rPr>
              <a:t>Azure ABAC conditions work only on role assignments with blob or queue storage data actions, not on managing servers.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Cloud-native server management; Organize and inventory servers; azcmagent connect; Tag policies; Azure ABAC overview (Oct. 29, 2026). Guide;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service principals and custom attributes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3" name="Sto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48256"/>
        </p:xfrm>
        <a:graphic>
          <a:graphicData uri="http://schemas.openxmlformats.org/drawingml/2006/table">
            <a:tbl>
              <a:tblPr firstRow="1" bandRow="1"/>
              <a:tblGrid>
                <a:gridCol w="2743200"/>
                <a:gridCol w="2103120"/>
                <a:gridCol w="2057400"/>
                <a:gridCol w="4206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Dynamic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Other consumers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extensionAttribute1–15 (users,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users and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Device filters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Workflows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Directory extension properties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single-value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Custom security attributes (users, SPs)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 filters (SPs, string 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ABAC principal; LCW scope; HR 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resource tags (Arc and others)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Policy; Resource Graph; Update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 descr="">
            <a:extLst>
              <a:ext uri="{C183D7F6-B498-43B3-948B-1728B52AA6E4}">
                <adec:decorative xmlns:adec="http://schemas.microsoft.com/office/drawing/2017/decorative" val="1"/>
              </a:ext>
            </a:extLst>
          </p:cNvPr>
          <p:cNvSpPr/>
          <p:nvPr/>
        </p:nvSpPr>
        <p:spPr>
          <a:xfrm>
            <a:off x="548640" y="3602736"/>
            <a:ext cx="54864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P head"/>
          <p:cNvSpPr txBox="1"/>
          <p:nvPr/>
        </p:nvSpPr>
        <p:spPr>
          <a:xfrm>
            <a:off x="731520" y="3712464"/>
            <a:ext cx="5120640" cy="310896"/>
          </a:xfrm>
          <a:prstGeom prst="rect">
            <a:avLst/>
          </a:prstGeom>
          <a:noFill/>
          <a:ln/>
        </p:spPr>
        <p:txBody>
          <a:bodyPr wrap="square" lIns="0" tIns="0" rIns="0" bIns="0" rtlCol="0" anchor="t"/>
          <a:lstStyle/>
          <a:p>
            <a:pPr indent="0" marL="0">
              <a:buNone/>
            </a:pPr>
            <a:r>
              <a:rPr lang="en-US" sz="1100" b="1" dirty="0">
                <a:solidFill>
                  <a:srgbClr val="64748B"/>
                </a:solidFill>
              </a:rPr>
              <a:t>SERVICE PRINCIPALS: PARTLY</a:t>
            </a:r>
            <a:endParaRPr lang="en-US" sz="1400" dirty="0"/>
          </a:p>
        </p:txBody>
      </p:sp>
      <p:sp>
        <p:nvSpPr>
          <p:cNvPr id="8" name="SP list"/>
          <p:cNvSpPr txBox="1"/>
          <p:nvPr/>
        </p:nvSpPr>
        <p:spPr>
          <a:xfrm>
            <a:off x="731520" y="4041648"/>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 for workload identities: single-tenant SPs, direct assignment, Block only, Workload ID Premium</a:t>
            </a:r>
            <a:endParaRPr lang="en-US" sz="1400" dirty="0"/>
          </a:p>
          <a:p>
            <a:pPr marL="342900" indent="-342900">
              <a:spcAft>
                <a:spcPts val="400"/>
              </a:spcAft>
              <a:buSzPct val="100000"/>
              <a:buChar char="•"/>
            </a:pPr>
            <a:r>
              <a:rPr lang="en-US" sz="1250" dirty="0">
                <a:solidFill>
                  <a:schemeClr val="tx2"/>
                </a:solidFill>
              </a:rPr>
              <a:t>App role assignment: group-based needs P1 or P2; no cascade to nested groups</a:t>
            </a:r>
            <a:endParaRPr lang="en-US" sz="1400" dirty="0"/>
          </a:p>
          <a:p>
            <a:pPr marL="342900" indent="-342900">
              <a:spcAft>
                <a:spcPts val="400"/>
              </a:spcAft>
              <a:buSzPct val="100000"/>
              <a:buChar char="•"/>
            </a:pPr>
            <a:r>
              <a:rPr lang="en-US" sz="1250" dirty="0">
                <a:solidFill>
                  <a:schemeClr val="tx2"/>
                </a:solidFill>
              </a:rPr>
              <a:t>No dynamic-group rule type for service principals is documented</a:t>
            </a:r>
            <a:endParaRPr lang="en-US" sz="1400" dirty="0"/>
          </a:p>
        </p:txBody>
      </p:sp>
      <p:sp>
        <p:nvSpPr>
          <p:cNvPr id="9" name="CSA" descr="">
            <a:extLst>
              <a:ext uri="{C183D7F6-B498-43B3-948B-1728B52AA6E4}">
                <adec:decorative xmlns:adec="http://schemas.microsoft.com/office/drawing/2017/decorative" val="1"/>
              </a:ext>
            </a:extLst>
          </p:cNvPr>
          <p:cNvSpPr/>
          <p:nvPr/>
        </p:nvSpPr>
        <p:spPr>
          <a:xfrm>
            <a:off x="6263640" y="3602736"/>
            <a:ext cx="539496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SA head"/>
          <p:cNvSpPr txBox="1"/>
          <p:nvPr/>
        </p:nvSpPr>
        <p:spPr>
          <a:xfrm>
            <a:off x="6446520" y="3712464"/>
            <a:ext cx="5029200" cy="310896"/>
          </a:xfrm>
          <a:prstGeom prst="rect">
            <a:avLst/>
          </a:prstGeom>
          <a:noFill/>
          <a:ln/>
        </p:spPr>
        <p:txBody>
          <a:bodyPr wrap="square" lIns="0" tIns="0" rIns="0" bIns="0" rtlCol="0" anchor="t"/>
          <a:lstStyle/>
          <a:p>
            <a:pPr indent="0" marL="0">
              <a:buNone/>
            </a:pPr>
            <a:r>
              <a:rPr lang="en-US" sz="1100" b="1" dirty="0">
                <a:solidFill>
                  <a:srgbClr val="64748B"/>
                </a:solidFill>
              </a:rPr>
              <a:t>CUSTOM SECURITY ATTRIBUTES</a:t>
            </a:r>
            <a:endParaRPr lang="en-US" sz="1400" dirty="0"/>
          </a:p>
        </p:txBody>
      </p:sp>
      <p:sp>
        <p:nvSpPr>
          <p:cNvPr id="11" name="CSA list"/>
          <p:cNvSpPr txBox="1"/>
          <p:nvPr/>
        </p:nvSpPr>
        <p:spPr>
          <a:xfrm>
            <a:off x="6446520" y="4041648"/>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Defined and assigned by two attribute roles; Global Administrator can't read them by default</a:t>
            </a:r>
            <a:endParaRPr lang="en-US" sz="1400" dirty="0"/>
          </a:p>
          <a:p>
            <a:pPr marL="342900" indent="-342900">
              <a:spcAft>
                <a:spcPts val="400"/>
              </a:spcAft>
              <a:buSzPct val="100000"/>
              <a:buChar char="•"/>
            </a:pPr>
            <a:r>
              <a:rPr lang="en-US" sz="1250" dirty="0">
                <a:solidFill>
                  <a:schemeClr val="tx2"/>
                </a:solidFill>
              </a:rPr>
              <a:t>Up to 500 definitions per tenant, 50 values per object</a:t>
            </a:r>
            <a:endParaRPr lang="en-US" sz="1400" dirty="0"/>
          </a:p>
          <a:p>
            <a:pPr marL="342900" indent="-342900">
              <a:spcAft>
                <a:spcPts val="400"/>
              </a:spcAft>
              <a:buSzPct val="100000"/>
              <a:buChar char="•"/>
            </a:pPr>
            <a:r>
              <a:rPr lang="en-US" sz="1250" dirty="0">
                <a:solidFill>
                  <a:schemeClr val="tx2"/>
                </a:solidFill>
              </a:rPr>
              <a:t>For sensitive values no rule reads; access codes stay in slots 10 to 12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custom security attributes; CA filter for applications; CA for workload identities; app assignment; dynamic rules (Oct. 29, 2026). Guide; Book 04,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object-type crosswalk: stores, writers, consumers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4" name="Obje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53128"/>
        </p:xfrm>
        <a:graphic>
          <a:graphicData uri="http://schemas.openxmlformats.org/drawingml/2006/table">
            <a:tbl>
              <a:tblPr firstRow="1" bandRow="1"/>
              <a:tblGrid>
                <a:gridCol w="1417320"/>
                <a:gridCol w="2743200"/>
                <a:gridCol w="3520440"/>
                <a:gridCol w="34290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Attribute store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writes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consumes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Native attributes; 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via API-driven provisioning, into Entra ID, or into AD then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groups and units; CA through groups; 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Attribute Assignment Administrator; HR provisioning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ABAC; Lifecycle Workflows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Connect from AD (synced); Graph or admin center (cloud-only)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CBA username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 at registration (delegated or app-only permission)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device groups; CA device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Enrollment profile; physical 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at enrollment; Autopilot registration and group tag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device groups; Intune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inventory (model, ownership, OS SKU)</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Assignment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tags; resource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azcmagent --tags; CLI, PowerShell, ARM; Policy modify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Policy; Resource Graph; RBAC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Attribute Assignment Administrator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application filters; Azure ABAC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direct assignment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Conditional Access Administrator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for workload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pages as footnoted in the guide's "Attribute-driven targeting by object type" table (Oct. 29, 2026); guide crosswalk; Book 02, App 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and CAC: the certificate binding is an attribute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to right: HR joiner event (sponsorship and position sensitivity); identity proofing (PIV process; proofing level recorded); card management (PIV and derived credentials issued); binding (certificateUserIds on the account); phishing-resistant sign-in (certificate-based authentication; assurance recorded).">    </p:cNvPr>
          <p:cNvPicPr>
            <a:picLocks noChangeAspect="1"/>
          </p:cNvPicPr>
          <p:nvPr/>
        </p:nvPicPr>
        <p:blipFill>
          <a:blip r:embed="rId1"/>
          <a:stretch>
            <a:fillRect/>
          </a:stretch>
        </p:blipFill>
        <p:spPr>
          <a:xfrm>
            <a:off x="548640" y="1325880"/>
            <a:ext cx="11109960" cy="1953089"/>
          </a:xfrm>
          <a:prstGeom prst="rect">
            <a:avLst/>
          </a:prstGeom>
        </p:spPr>
      </p:pic>
      <p:graphicFrame>
        <p:nvGraphicFramePr>
          <p:cNvPr id="25" name="Bindings"/>
          <p:cNvGraphicFramePr>
            <a:graphicFrameLocks noGrp="1"/>
          </p:cNvGraphicFramePr>
          <p:nvPr>
            <p:extLst>
              <p:ext uri="{D42A27DB-BD31-4B8C-83A1-F6EECF244321}">
                <p14:modId xmlns:p14="http://schemas.microsoft.com/office/powerpoint/2010/main" val="1579011935"/>
              </p:ext>
            </p:extLst>
          </p:nvPr>
        </p:nvGraphicFramePr>
        <p:xfrm>
          <a:off x="548640" y="3461849"/>
          <a:ext cx="6812280" cy="1572768"/>
        </p:xfrm>
        <a:graphic>
          <a:graphicData uri="http://schemas.openxmlformats.org/drawingml/2006/table">
            <a:tbl>
              <a:tblPr firstRow="1" bandRow="1"/>
              <a:tblGrid>
                <a:gridCol w="2651760"/>
                <a:gridCol w="3291840"/>
                <a:gridCol w="868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Certificate 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User attributes it can bind 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PrincipalName (SAN), RFC822Name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userPrincipalName, onPremisesUserPrincipalName, 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Subject, IssuerAndSubject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SKI, SHA1PublicKey, IssuerAndSerialNumber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Aff" descr="">
            <a:extLst>
              <a:ext uri="{C183D7F6-B498-43B3-948B-1728B52AA6E4}">
                <adec:decorative xmlns:adec="http://schemas.microsoft.com/office/drawing/2017/decorative" val="1"/>
              </a:ext>
            </a:extLst>
          </p:cNvPr>
          <p:cNvSpPr/>
          <p:nvPr/>
        </p:nvSpPr>
        <p:spPr>
          <a:xfrm>
            <a:off x="7589520" y="3461849"/>
            <a:ext cx="40690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Aff head"/>
          <p:cNvSpPr txBox="1"/>
          <p:nvPr/>
        </p:nvSpPr>
        <p:spPr>
          <a:xfrm>
            <a:off x="7772400" y="3571577"/>
            <a:ext cx="3703320" cy="310896"/>
          </a:xfrm>
          <a:prstGeom prst="rect">
            <a:avLst/>
          </a:prstGeom>
          <a:noFill/>
          <a:ln/>
        </p:spPr>
        <p:txBody>
          <a:bodyPr wrap="square" lIns="0" tIns="0" rIns="0" bIns="0" rtlCol="0" anchor="t"/>
          <a:lstStyle/>
          <a:p>
            <a:pPr indent="0" marL="0">
              <a:buNone/>
            </a:pPr>
            <a:r>
              <a:rPr lang="en-US" sz="1100" b="1" dirty="0">
                <a:solidFill>
                  <a:srgbClr val="64748B"/>
                </a:solidFill>
              </a:rPr>
              <a:t>AFFINITY AND STRENGTH</a:t>
            </a:r>
            <a:endParaRPr lang="en-US" sz="1400" dirty="0"/>
          </a:p>
        </p:txBody>
      </p:sp>
      <p:sp>
        <p:nvSpPr>
          <p:cNvPr id="9" name="Aff list"/>
          <p:cNvSpPr txBox="1"/>
          <p:nvPr/>
        </p:nvSpPr>
        <p:spPr>
          <a:xfrm>
            <a:off x="7772400" y="3900761"/>
            <a:ext cx="37490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binding: SAN Principal Name to userPrincipalName; required affinity defaults to low</a:t>
            </a:r>
            <a:endParaRPr lang="en-US" sz="1400" dirty="0"/>
          </a:p>
          <a:p>
            <a:pPr marL="342900" indent="-342900">
              <a:spcAft>
                <a:spcPts val="400"/>
              </a:spcAft>
              <a:buSzPct val="100000"/>
              <a:buChar char="•"/>
            </a:pPr>
            <a:r>
              <a:rPr lang="en-US" sz="1250" dirty="0">
                <a:solidFill>
                  <a:schemeClr val="tx2"/>
                </a:solidFill>
              </a:rPr>
              <a:t>CBA is only as secure as its lowest-affinity binding</a:t>
            </a:r>
            <a:endParaRPr lang="en-US" sz="1400" dirty="0"/>
          </a:p>
          <a:p>
            <a:pPr marL="342900" indent="-342900">
              <a:spcAft>
                <a:spcPts val="400"/>
              </a:spcAft>
              <a:buSzPct val="100000"/>
              <a:buChar char="•"/>
            </a:pPr>
            <a:r>
              <a:rPr lang="en-US" sz="1250" dirty="0">
                <a:solidFill>
                  <a:schemeClr val="tx2"/>
                </a:solidFill>
              </a:rPr>
              <a:t>Setting high tenant-wide too early locks users out</a:t>
            </a:r>
            <a:endParaRPr lang="en-US" sz="1400" dirty="0"/>
          </a:p>
          <a:p>
            <a:pPr marL="342900" indent="-342900">
              <a:spcAft>
                <a:spcPts val="400"/>
              </a:spcAft>
              <a:buSzPct val="100000"/>
              <a:buChar char="•"/>
            </a:pPr>
            <a:r>
              <a:rPr lang="en-US" sz="1250" dirty="0">
                <a:solidFill>
                  <a:schemeClr val="tx2"/>
                </a:solidFill>
              </a:rPr>
              <a:t>Phishing-resistant strength takes multifactor CBA only</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CBA technical concepts; Set up CBA; Authentication strengths; M-22-09 MFA (Oct. 29, 2026). Guide, PIV section; Book 03, Ch 09;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certificateUserIds: who writes it, and the open pilot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6" name="Cui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83080"/>
        </p:xfrm>
        <a:graphic>
          <a:graphicData uri="http://schemas.openxmlformats.org/drawingml/2006/table">
            <a:tbl>
              <a:tblPr firstRow="1" bandRow="1"/>
              <a:tblGrid>
                <a:gridCol w="2286000"/>
                <a:gridCol w="4480560"/>
                <a:gridCol w="43434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can write certificateUserIds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least a Privileged Authentication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Admin center (four values of 120 characters) or Graph, authorizationInfo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Synced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least a Hybrid Identity Administrator; only Entra Connect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Synced from AD, e.g. altSecurityIdentities, or an expression over the UPN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Either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 to 10 values of 1,024 characters, unique in the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current, valid certificates; remove on expiry or revocation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 descr="">
            <a:extLst>
              <a:ext uri="{C183D7F6-B498-43B3-948B-1728B52AA6E4}">
                <adec:decorative xmlns:adec="http://schemas.microsoft.com/office/drawing/2017/decorative" val="1"/>
              </a:ext>
            </a:extLst>
          </p:cNvPr>
          <p:cNvSpPr/>
          <p:nvPr/>
        </p:nvSpPr>
        <p:spPr>
          <a:xfrm>
            <a:off x="548640" y="3337560"/>
            <a:ext cx="5486400" cy="1965960"/>
          </a:xfrm>
          <a:prstGeom prst="roundRect">
            <a:avLst>
              <a:gd name="adj" fmla="val 37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ource head"/>
          <p:cNvSpPr txBox="1"/>
          <p:nvPr/>
        </p:nvSpPr>
        <p:spPr>
          <a:xfrm>
            <a:off x="731520" y="344728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WHERE THE BINDING COMES FROM</a:t>
            </a:r>
            <a:endParaRPr lang="en-US" sz="1400" dirty="0"/>
          </a:p>
        </p:txBody>
      </p:sp>
      <p:sp>
        <p:nvSpPr>
          <p:cNvPr id="8" name="Source list"/>
          <p:cNvSpPr txBox="1"/>
          <p:nvPr/>
        </p:nvSpPr>
        <p:spPr>
          <a:xfrm>
            <a:off x="731520" y="3776472"/>
            <a:ext cx="516636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supplies the person: record, key, the joiner event that starts sponsorship</a:t>
            </a:r>
            <a:endParaRPr lang="en-US" sz="1400" dirty="0"/>
          </a:p>
          <a:p>
            <a:pPr marL="342900" indent="-342900">
              <a:spcAft>
                <a:spcPts val="400"/>
              </a:spcAft>
              <a:buSzPct val="100000"/>
              <a:buChar char="•"/>
            </a:pPr>
            <a:r>
              <a:rPr lang="en-US" sz="1250" dirty="0">
                <a:solidFill>
                  <a:schemeClr val="tx2"/>
                </a:solidFill>
              </a:rPr>
              <a:t>The card management system supplies the binding; a reissue changes it</a:t>
            </a:r>
            <a:endParaRPr lang="en-US" sz="1400" dirty="0"/>
          </a:p>
          <a:p>
            <a:pPr marL="342900" indent="-342900">
              <a:spcAft>
                <a:spcPts val="400"/>
              </a:spcAft>
              <a:buSzPct val="100000"/>
              <a:buChar char="•"/>
            </a:pPr>
            <a:r>
              <a:rPr lang="en-US" sz="1250" dirty="0">
                <a:solidFill>
                  <a:schemeClr val="tx2"/>
                </a:solidFill>
              </a:rPr>
              <a:t>Hybrid: written to altSecurityIdentities in AD, then synced</a:t>
            </a:r>
            <a:endParaRPr lang="en-US" sz="1400" dirty="0"/>
          </a:p>
          <a:p>
            <a:pPr marL="342900" indent="-342900">
              <a:spcAft>
                <a:spcPts val="400"/>
              </a:spcAft>
              <a:buSzPct val="100000"/>
              <a:buChar char="•"/>
            </a:pPr>
            <a:r>
              <a:rPr lang="en-US" sz="1250" dirty="0">
                <a:solidFill>
                  <a:schemeClr val="tx2"/>
                </a:solidFill>
              </a:rPr>
              <a:t>The leaver removes the value as well as revoking the card</a:t>
            </a:r>
            <a:endParaRPr lang="en-US" sz="1400" dirty="0"/>
          </a:p>
        </p:txBody>
      </p:sp>
      <p:sp>
        <p:nvSpPr>
          <p:cNvPr id="9" name="Open" descr="">
            <a:extLst>
              <a:ext uri="{C183D7F6-B498-43B3-948B-1728B52AA6E4}">
                <adec:decorative xmlns:adec="http://schemas.microsoft.com/office/drawing/2017/decorative" val="1"/>
              </a:ext>
            </a:extLst>
          </p:cNvPr>
          <p:cNvSpPr/>
          <p:nvPr/>
        </p:nvSpPr>
        <p:spPr>
          <a:xfrm>
            <a:off x="6263640" y="3337560"/>
            <a:ext cx="5394960" cy="1691640"/>
          </a:xfrm>
          <a:prstGeom prst="roundRect">
            <a:avLst>
              <a:gd name="adj" fmla="val 43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Open head"/>
          <p:cNvSpPr txBox="1"/>
          <p:nvPr/>
        </p:nvSpPr>
        <p:spPr>
          <a:xfrm>
            <a:off x="6446520" y="344728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UNVERIFIED: ISSUE #130, OPEN</a:t>
            </a:r>
            <a:endParaRPr lang="en-US" sz="1400" dirty="0"/>
          </a:p>
        </p:txBody>
      </p:sp>
      <p:sp>
        <p:nvSpPr>
          <p:cNvPr id="11" name="Open list"/>
          <p:cNvSpPr txBox="1"/>
          <p:nvPr/>
        </p:nvSpPr>
        <p:spPr>
          <a:xfrm>
            <a:off x="6446520" y="3776472"/>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After AD, the card management system writes certificateUserIds through Graph at issuance: design guidance, unverified</a:t>
            </a:r>
            <a:endParaRPr lang="en-US" sz="1400" dirty="0"/>
          </a:p>
          <a:p>
            <a:pPr marL="342900" indent="-342900">
              <a:spcAft>
                <a:spcPts val="400"/>
              </a:spcAft>
              <a:buSzPct val="100000"/>
              <a:buChar char="•"/>
            </a:pPr>
            <a:r>
              <a:rPr lang="en-US" sz="1250" dirty="0">
                <a:solidFill>
                  <a:schemeClr val="tx2"/>
                </a:solidFill>
              </a:rPr>
              <a:t>Open: which permission a workload needs, and how the write behaves after source of authority moves</a:t>
            </a:r>
            <a:endParaRPr lang="en-US" sz="1400" dirty="0"/>
          </a:p>
          <a:p>
            <a:pPr marL="342900" indent="-342900">
              <a:spcAft>
                <a:spcPts val="400"/>
              </a:spcAft>
              <a:buSzPct val="100000"/>
              <a:buChar char="•"/>
            </a:pPr>
            <a:r>
              <a:rPr lang="en-US" sz="1250" dirty="0">
                <a:solidFill>
                  <a:schemeClr val="tx2"/>
                </a:solidFill>
              </a:rPr>
              <a:t>Cloud Sync for this attribute: not documented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Mapping to the certificateUserIds attribute (Oct. 29, 2026). Guide, PIV section; workbook issue #130; Book 03, Ch 09; Book 07, Ch 06,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Running the migration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Stages 7 and 8  ·  worked example  ·  limits, checklist and decisions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One analyst through a mover event, end to end</a:t>
            </a:r>
            <a:endParaRPr lang="en-US" sz="1400" dirty="0"/>
          </a:p>
          <a:p>
            <a:pPr marL="342900" indent="-342900">
              <a:spcAft>
                <a:spcPts val="300"/>
              </a:spcAft>
              <a:buSzPct val="100000"/>
              <a:buChar char="•"/>
            </a:pPr>
            <a:r>
              <a:rPr lang="en-US" sz="1500" dirty="0">
                <a:solidFill>
                  <a:srgbClr val="334155"/>
                </a:solidFill>
              </a:rPr>
              <a:t>Phased cutover by attribute-defined waves; drift correction</a:t>
            </a:r>
            <a:endParaRPr lang="en-US" sz="1400" dirty="0"/>
          </a:p>
          <a:p>
            <a:pPr marL="342900" indent="-342900">
              <a:spcAft>
                <a:spcPts val="300"/>
              </a:spcAft>
              <a:buSzPct val="100000"/>
              <a:buChar char="•"/>
            </a:pPr>
            <a:r>
              <a:rPr lang="en-US" sz="1500" dirty="0">
                <a:solidFill>
                  <a:srgbClr val="334155"/>
                </a:solidFill>
              </a:rPr>
              <a:t>The limits, the checklist and the decisions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 one analyst, every mechanism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Her"/>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26664"/>
        </p:xfrm>
        <a:graphic>
          <a:graphicData uri="http://schemas.openxmlformats.org/drawingml/2006/table">
            <a:tbl>
              <a:tblPr firstRow="1" bandRow="1"/>
              <a:tblGrid>
                <a:gridCol w="3200400"/>
                <a:gridCol w="3200400"/>
                <a:gridCol w="47091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Her record (codes are placeholders)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Carrier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 for 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Enterprise person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employeeId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Matches her worker record; joins audit and drift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Organization code FIN-LED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node group for FIN-LED; a SQL Server reader group with her position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Division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division unit, so its scoped help desk can reset her password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Worker type EMP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Internals persona: the baseline Conditional Access policies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Position category ANALYST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functional group for analysts across organizations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Approver for access packages, reviewer for access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Her laptop (not her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tier and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groups on the laptop's own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anding" descr="">
            <a:extLst>
              <a:ext uri="{C183D7F6-B498-43B3-948B-1728B52AA6E4}">
                <adec:decorative xmlns:adec="http://schemas.microsoft.com/office/drawing/2017/decorative" val="1"/>
              </a:ext>
            </a:extLst>
          </p:cNvPr>
          <p:cNvSpPr/>
          <p:nvPr/>
        </p:nvSpPr>
        <p:spPr>
          <a:xfrm>
            <a:off x="548640" y="4581144"/>
            <a:ext cx="11109960" cy="777240"/>
          </a:xfrm>
          <a:prstGeom prst="roundRect">
            <a:avLst>
              <a:gd name="adj" fmla="val 94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60400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79569"/>
            <a:ext cx="380390" cy="380390"/>
          </a:xfrm>
          <a:prstGeom prst="rect">
            <a:avLst/>
          </a:prstGeom>
        </p:spPr>
      </p:pic>
      <p:sp>
        <p:nvSpPr>
          <p:cNvPr id="9" name="Landing text"/>
          <p:cNvSpPr txBox="1"/>
          <p:nvPr/>
        </p:nvSpPr>
        <p:spPr>
          <a:xfrm>
            <a:off x="1737360" y="4626864"/>
            <a:ext cx="9738360" cy="685800"/>
          </a:xfrm>
          <a:prstGeom prst="rect">
            <a:avLst/>
          </a:prstGeom>
          <a:noFill/>
          <a:ln/>
        </p:spPr>
        <p:txBody>
          <a:bodyPr wrap="square" lIns="0" tIns="0" rIns="0" bIns="0" rtlCol="0" anchor="ctr"/>
          <a:lstStyle/>
          <a:p>
            <a:pPr indent="0" marL="0">
              <a:buNone/>
            </a:pPr>
            <a:r>
              <a:rPr lang="en-US" sz="1650" b="1" dirty="0">
                <a:solidFill>
                  <a:srgbClr val="0F766E"/>
                </a:solidFill>
              </a:rPr>
              <a:t>She's AD-mastered: </a:t>
            </a:r>
            <a:pPr indent="0" marL="0">
              <a:buNone/>
            </a:pPr>
            <a:r>
              <a:rPr lang="en-US" sz="1650" dirty="0">
                <a:solidFill>
                  <a:schemeClr val="tx2"/>
                </a:solidFill>
              </a:rPr>
              <a:t>the provisioning agent writes her AD account, Cloud Sync carries it up, and her Entra extension attributes are read-only.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"Worked example" Stages 1, 3 and 4 to 6; Book 02, Ch 05; Book 03, Ch 05, Ch 06, Ch 10; Book 04, Ch 03; Book 05, Ch 08; Book 06,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mover event: one personnel action, no ticket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r>
          <p:cNvPicPr>
            <a:picLocks noChangeAspect="1"/>
          </p:cNvPicPr>
          <p:nvPr/>
        </p:nvPicPr>
        <p:blipFill>
          <a:blip r:embed="rId1"/>
          <a:stretch>
            <a:fillRect/>
          </a:stretch>
        </p:blipFill>
        <p:spPr>
          <a:xfrm>
            <a:off x="548640" y="1371600"/>
            <a:ext cx="3566160" cy="4333733"/>
          </a:xfrm>
          <a:prstGeom prst="rect">
            <a:avLst/>
          </a:prstGeom>
        </p:spPr>
      </p:pic>
      <p:graphicFrame>
        <p:nvGraphicFramePr>
          <p:cNvPr id="29" name="Chain"/>
          <p:cNvGraphicFramePr>
            <a:graphicFrameLocks noGrp="1"/>
          </p:cNvGraphicFramePr>
          <p:nvPr>
            <p:extLst>
              <p:ext uri="{D42A27DB-BD31-4B8C-83A1-F6EECF244321}">
                <p14:modId xmlns:p14="http://schemas.microsoft.com/office/powerpoint/2010/main" val="1579011935"/>
              </p:ext>
            </p:extLst>
          </p:nvPr>
        </p:nvGraphicFramePr>
        <p:xfrm>
          <a:off x="4343400" y="1371600"/>
          <a:ext cx="7315200" cy="2895600"/>
        </p:xfrm>
        <a:graphic>
          <a:graphicData uri="http://schemas.openxmlformats.org/drawingml/2006/table">
            <a:tbl>
              <a:tblPr firstRow="1" bandRow="1"/>
              <a:tblGrid>
                <a:gridCol w="457200"/>
                <a:gridCol w="68580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Nature-of-action code 721 moves her to accounts payable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Core HCM publishes it; middleware validates, writes provenance, sends her complete record with FIN-AP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agent updates AD; the next sync carries it up. Attribute-change triggers fire only after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Groups and units recompute, usually within hours but possibly over 24; analyst group and persona don't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mover workflow swaps access packages, notifies managers and reviews what's left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Her laptop's device groups don't move: device rules can't read her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drift scan compares HR with the directory field by field; the evidence is what PS-5 asks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(Oct. 29, 2026). Guide, "The mover event"; Book 01, Ch 04; Book 02, Ch 10; Book 03, Ch 05, 08, 11; Book 05, Ch 08;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7: cut over in phases, wave by wave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boxes left to right: acceptance tests (business-language cases, by worker type); amber validation report (signed before cutover); dry run (production data, no writes); blue cutover (spot checks; rollback ready); green sole-source proof (every change for 7 days came from HR); red close the ticket path (manual account creation ends for the population).">    </p:cNvPr>
          <p:cNvPicPr>
            <a:picLocks noChangeAspect="1"/>
          </p:cNvPicPr>
          <p:nvPr/>
        </p:nvPicPr>
        <p:blipFill>
          <a:blip r:embed="rId1"/>
          <a:stretch>
            <a:fillRect/>
          </a:stretch>
        </p:blipFill>
        <p:spPr>
          <a:xfrm>
            <a:off x="1613550" y="1325880"/>
            <a:ext cx="8980140" cy="1417320"/>
          </a:xfrm>
          <a:prstGeom prst="rect">
            <a:avLst/>
          </a:prstGeom>
        </p:spPr>
      </p:pic>
      <p:pic>
        <p:nvPicPr>
          <p:cNvPr id="6" name="Image 1" descr="A left-to-right flow. A slate box on the left: the program attribute map, with region, division and organization codes on users and region, department and role on devices. It feeds four stacked blue wave boxes: wave 1, the lowest-risk region, about a quarter of the estate; wave 2, the second region, about half cumulatively; wave 3, the third region, about three quarters; wave 4, all remaining, all of the estate. Each wave points to an amber box listing the per-division sub-pattern: plan, in-division pilot, full availability, drift-clean hold, weekly status. That box points to a green box: G3, Rollout Complete.">    </p:cNvPr>
          <p:cNvPicPr>
            <a:picLocks noChangeAspect="1"/>
          </p:cNvPicPr>
          <p:nvPr/>
        </p:nvPicPr>
        <p:blipFill>
          <a:blip r:embed="rId2"/>
          <a:stretch>
            <a:fillRect/>
          </a:stretch>
        </p:blipFill>
        <p:spPr>
          <a:xfrm>
            <a:off x="722738" y="2926080"/>
            <a:ext cx="4772444" cy="2057400"/>
          </a:xfrm>
          <a:prstGeom prst="rect">
            <a:avLst/>
          </a:prstGeom>
        </p:spPr>
      </p:pic>
      <p:sp>
        <p:nvSpPr>
          <p:cNvPr id="7" name="Plan" descr="">
            <a:extLst>
              <a:ext uri="{C183D7F6-B498-43B3-948B-1728B52AA6E4}">
                <adec:decorative xmlns:adec="http://schemas.microsoft.com/office/drawing/2017/decorative" val="1"/>
              </a:ext>
            </a:extLst>
          </p:cNvPr>
          <p:cNvSpPr/>
          <p:nvPr/>
        </p:nvSpPr>
        <p:spPr>
          <a:xfrm>
            <a:off x="5897880" y="2926080"/>
            <a:ext cx="5760720" cy="1554480"/>
          </a:xfrm>
          <a:prstGeom prst="roundRect">
            <a:avLst>
              <a:gd name="adj" fmla="val 470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Plan head"/>
          <p:cNvSpPr txBox="1"/>
          <p:nvPr/>
        </p:nvSpPr>
        <p:spPr>
          <a:xfrm>
            <a:off x="6080760" y="303580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THE RUNBOOK, NOT A FLAG DAY</a:t>
            </a:r>
            <a:endParaRPr lang="en-US" sz="1400" dirty="0"/>
          </a:p>
        </p:txBody>
      </p:sp>
      <p:sp>
        <p:nvSpPr>
          <p:cNvPr id="9" name="Plan list"/>
          <p:cNvSpPr txBox="1"/>
          <p:nvPr/>
        </p:nvSpPr>
        <p:spPr>
          <a:xfrm>
            <a:off x="6080760" y="3364992"/>
            <a:ext cx="544068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division, then two or three at a time, each drift-clean</a:t>
            </a:r>
            <a:endParaRPr lang="en-US" sz="1400" dirty="0"/>
          </a:p>
          <a:p>
            <a:pPr marL="342900" indent="-342900">
              <a:spcAft>
                <a:spcPts val="400"/>
              </a:spcAft>
              <a:buSzPct val="100000"/>
              <a:buChar char="•"/>
            </a:pPr>
            <a:r>
              <a:rPr lang="en-US" sz="1250" dirty="0">
                <a:solidFill>
                  <a:schemeClr val="tx2"/>
                </a:solidFill>
              </a:rPr>
              <a:t>Waves are attribute values: each scope is a query</a:t>
            </a:r>
            <a:endParaRPr lang="en-US" sz="1400" dirty="0"/>
          </a:p>
          <a:p>
            <a:pPr marL="342900" indent="-342900">
              <a:spcAft>
                <a:spcPts val="400"/>
              </a:spcAft>
              <a:buSzPct val="100000"/>
              <a:buChar char="•"/>
            </a:pPr>
            <a:r>
              <a:rPr lang="en-US" sz="1250" dirty="0">
                <a:solidFill>
                  <a:schemeClr val="tx2"/>
                </a:solidFill>
              </a:rPr>
              <a:t>Leaver automation first; HR, directory and Core HCM aligned</a:t>
            </a:r>
            <a:endParaRPr lang="en-US" sz="1400" dirty="0"/>
          </a:p>
          <a:p>
            <a:pPr marL="342900" indent="-342900">
              <a:spcAft>
                <a:spcPts val="400"/>
              </a:spcAft>
              <a:buSzPct val="100000"/>
              <a:buChar char="•"/>
            </a:pPr>
            <a:r>
              <a:rPr lang="en-US" sz="1250" dirty="0">
                <a:solidFill>
                  <a:schemeClr val="tx2"/>
                </a:solidFill>
              </a:rPr>
              <a:t>Retarget provisioning to the Entra app; AD leg dormant</a:t>
            </a:r>
            <a:endParaRPr lang="en-US" sz="1400" dirty="0"/>
          </a:p>
        </p:txBody>
      </p:sp>
      <p:sp>
        <p:nvSpPr>
          <p:cNvPr id="10" name="Disable" descr="">
            <a:extLst>
              <a:ext uri="{C183D7F6-B498-43B3-948B-1728B52AA6E4}">
                <adec:decorative xmlns:adec="http://schemas.microsoft.com/office/drawing/2017/decorative" val="1"/>
              </a:ext>
            </a:extLst>
          </p:cNvPr>
          <p:cNvSpPr/>
          <p:nvPr/>
        </p:nvSpPr>
        <p:spPr>
          <a:xfrm>
            <a:off x="548640" y="5120640"/>
            <a:ext cx="11109960" cy="640080"/>
          </a:xfrm>
          <a:prstGeom prst="roundRect">
            <a:avLst>
              <a:gd name="adj" fmla="val 1142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DoorClose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50485"/>
            <a:ext cx="380390" cy="380390"/>
          </a:xfrm>
          <a:prstGeom prst="rect">
            <a:avLst/>
          </a:prstGeom>
        </p:spPr>
      </p:pic>
      <p:sp>
        <p:nvSpPr>
          <p:cNvPr id="13" name="Disable text"/>
          <p:cNvSpPr txBox="1"/>
          <p:nvPr/>
        </p:nvSpPr>
        <p:spPr>
          <a:xfrm>
            <a:off x="1737360" y="5166360"/>
            <a:ext cx="9738360" cy="548640"/>
          </a:xfrm>
          <a:prstGeom prst="rect">
            <a:avLst/>
          </a:prstGeom>
          <a:noFill/>
          <a:ln/>
        </p:spPr>
        <p:txBody>
          <a:bodyPr wrap="square" lIns="0" tIns="0" rIns="0" bIns="0" rtlCol="0" anchor="ctr"/>
          <a:lstStyle/>
          <a:p>
            <a:pPr indent="0" marL="0">
              <a:buNone/>
            </a:pPr>
            <a:r>
              <a:rPr lang="en-US" sz="1650" b="1" dirty="0">
                <a:solidFill>
                  <a:srgbClr val="B91C1C"/>
                </a:solidFill>
              </a:rPr>
              <a:t>Disable, don't delete: </a:t>
            </a:r>
            <a:pPr indent="0" marL="0">
              <a:buNone/>
            </a:pPr>
            <a:r>
              <a:rPr lang="en-US" sz="1650" dirty="0">
                <a:solidFill>
                  <a:schemeClr val="tx2"/>
                </a:solidFill>
              </a:rPr>
              <a:t>deleting GPOs removes the rollback; deleting a synced user only in Entra ID gets restored by sync.</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Guidance for user Source of Authority (Oct. 29, 2026). Guide, Stage 7; Book 00, Ch 09; Book 01, Ch 04; Book 03, Ch 08, Ch 12, App C;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8: detect drift and fix it at the source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HR record box (what should be true) and a blue directories and apps box (what is true) both feed a violet scheduled comparison box (missing, stale, orphan, attribute, write and credential drift). It feeds a green close-at-the-right-end box (fix the record or the rule, never the copy). Dashed lines from both go to a grey evidence box (provenance, workflow runs, findings, metrics).">    </p:cNvPr>
          <p:cNvPicPr>
            <a:picLocks noChangeAspect="1"/>
          </p:cNvPicPr>
          <p:nvPr/>
        </p:nvPicPr>
        <p:blipFill>
          <a:blip r:embed="rId1"/>
          <a:stretch>
            <a:fillRect/>
          </a:stretch>
        </p:blipFill>
        <p:spPr>
          <a:xfrm>
            <a:off x="2939089" y="1325880"/>
            <a:ext cx="6329063" cy="1463040"/>
          </a:xfrm>
          <a:prstGeom prst="rect">
            <a:avLst/>
          </a:prstGeom>
        </p:spPr>
      </p:pic>
      <p:sp>
        <p:nvSpPr>
          <p:cNvPr id="6" name="Classes" descr="">
            <a:extLst>
              <a:ext uri="{C183D7F6-B498-43B3-948B-1728B52AA6E4}">
                <adec:decorative xmlns:adec="http://schemas.microsoft.com/office/drawing/2017/decorative" val="1"/>
              </a:ext>
            </a:extLst>
          </p:cNvPr>
          <p:cNvSpPr/>
          <p:nvPr/>
        </p:nvSpPr>
        <p:spPr>
          <a:xfrm>
            <a:off x="548640" y="2971800"/>
            <a:ext cx="548640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lasses head"/>
          <p:cNvSpPr txBox="1"/>
          <p:nvPr/>
        </p:nvSpPr>
        <p:spPr>
          <a:xfrm>
            <a:off x="731520" y="30815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TWO SCHEDULED COMPARISONS</a:t>
            </a:r>
            <a:endParaRPr lang="en-US" sz="1400" dirty="0"/>
          </a:p>
        </p:txBody>
      </p:sp>
      <p:sp>
        <p:nvSpPr>
          <p:cNvPr id="8" name="Classes list"/>
          <p:cNvSpPr txBox="1"/>
          <p:nvPr/>
        </p:nvSpPr>
        <p:spPr>
          <a:xfrm>
            <a:off x="731520" y="3410712"/>
            <a:ext cx="516636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against the directory: missing identity, stale access, orphan, attribute drift, unauthorized write, credential and schema drift</a:t>
            </a:r>
            <a:endParaRPr lang="en-US" sz="1400" dirty="0"/>
          </a:p>
          <a:p>
            <a:pPr marL="342900" indent="-342900">
              <a:spcAft>
                <a:spcPts val="400"/>
              </a:spcAft>
              <a:buSzPct val="100000"/>
              <a:buChar char="•"/>
            </a:pPr>
            <a:r>
              <a:rPr lang="en-US" sz="1250" dirty="0">
                <a:solidFill>
                  <a:schemeClr val="tx2"/>
                </a:solidFill>
              </a:rPr>
              <a:t>Registry against the tenant: unit rule drift, paused processing, unmatched role assignments, restriction mismatches</a:t>
            </a:r>
            <a:endParaRPr lang="en-US" sz="1400" dirty="0"/>
          </a:p>
          <a:p>
            <a:pPr marL="342900" indent="-342900">
              <a:spcAft>
                <a:spcPts val="400"/>
              </a:spcAft>
              <a:buSzPct val="100000"/>
              <a:buChar char="•"/>
            </a:pPr>
            <a:r>
              <a:rPr lang="en-US" sz="1250" dirty="0">
                <a:solidFill>
                  <a:schemeClr val="tx2"/>
                </a:solidFill>
              </a:rPr>
              <a:t>Findings belong to the CISO; close each at the source, the record or the rule, never the copy</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6263640" y="2971800"/>
            <a:ext cx="5394960" cy="1874520"/>
          </a:xfrm>
          <a:prstGeom prst="roundRect">
            <a:avLst>
              <a:gd name="adj" fmla="val 3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6446520" y="30815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GATE: BOOK 01'S VERIFICATION LIST</a:t>
            </a:r>
            <a:endParaRPr lang="en-US" sz="1400" dirty="0"/>
          </a:p>
        </p:txBody>
      </p:sp>
      <p:sp>
        <p:nvSpPr>
          <p:cNvPr id="11" name="Gate list"/>
          <p:cNvSpPr txBox="1"/>
          <p:nvPr/>
        </p:nvSpPr>
        <p:spPr>
          <a:xfrm>
            <a:off x="6446520" y="341071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Valid attributes for every HR-listed worker; every group on one of two patterns</a:t>
            </a:r>
            <a:endParaRPr lang="en-US" sz="1400" dirty="0"/>
          </a:p>
          <a:p>
            <a:pPr marL="342900" indent="-342900">
              <a:spcAft>
                <a:spcPts val="400"/>
              </a:spcAft>
              <a:buSzPct val="100000"/>
              <a:buChar char="•"/>
            </a:pPr>
            <a:r>
              <a:rPr lang="en-US" sz="1250" dirty="0">
                <a:solidFill>
                  <a:schemeClr val="tx2"/>
                </a:solidFill>
              </a:rPr>
              <a:t>Every unit rule mirrors its group, processing on; policies target governed groups only</a:t>
            </a:r>
            <a:endParaRPr lang="en-US" sz="1400" dirty="0"/>
          </a:p>
          <a:p>
            <a:pPr marL="342900" indent="-342900">
              <a:spcAft>
                <a:spcPts val="400"/>
              </a:spcAft>
              <a:buSzPct val="100000"/>
              <a:buChar char="•"/>
            </a:pPr>
            <a:r>
              <a:rPr lang="en-US" sz="1250" dirty="0">
                <a:solidFill>
                  <a:schemeClr val="tx2"/>
                </a:solidFill>
              </a:rPr>
              <a:t>Zero drift findings and a zero-action nightly plan; lifecycle metrics on the ConMon cadence</a:t>
            </a:r>
            <a:endParaRPr lang="en-US" sz="1400" dirty="0"/>
          </a:p>
        </p:txBody>
      </p:sp>
      <p:sp>
        <p:nvSpPr>
          <p:cNvPr id="12" name="Logs" descr="">
            <a:extLst>
              <a:ext uri="{C183D7F6-B498-43B3-948B-1728B52AA6E4}">
                <adec:decorative xmlns:adec="http://schemas.microsoft.com/office/drawing/2017/decorative" val="1"/>
              </a:ext>
            </a:extLst>
          </p:cNvPr>
          <p:cNvSpPr/>
          <p:nvPr/>
        </p:nvSpPr>
        <p:spPr>
          <a:xfrm>
            <a:off x="548640" y="5257800"/>
            <a:ext cx="11109960" cy="685800"/>
          </a:xfrm>
          <a:prstGeom prst="roundRect">
            <a:avLst>
              <a:gd name="adj" fmla="val 10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FileShield" descr="">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91C1C"/>
          </a:solidFill>
          <a:ln w="12700">
            <a:solidFill>
              <a:srgbClr val="B91C1C"/>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10505"/>
            <a:ext cx="380390" cy="380390"/>
          </a:xfrm>
          <a:prstGeom prst="rect">
            <a:avLst/>
          </a:prstGeom>
        </p:spPr>
      </p:pic>
      <p:sp>
        <p:nvSpPr>
          <p:cNvPr id="15" name="Logs text"/>
          <p:cNvSpPr txBox="1"/>
          <p:nvPr/>
        </p:nvSpPr>
        <p:spPr>
          <a:xfrm>
            <a:off x="1737360" y="5303520"/>
            <a:ext cx="9738360" cy="594360"/>
          </a:xfrm>
          <a:prstGeom prst="rect">
            <a:avLst/>
          </a:prstGeom>
          <a:noFill/>
          <a:ln/>
        </p:spPr>
        <p:txBody>
          <a:bodyPr wrap="square" lIns="0" tIns="0" rIns="0" bIns="0" rtlCol="0" anchor="ctr"/>
          <a:lstStyle/>
          <a:p>
            <a:pPr indent="0" marL="0">
              <a:buNone/>
            </a:pPr>
            <a:r>
              <a:rPr lang="en-US" sz="1650" b="1" dirty="0">
                <a:solidFill>
                  <a:srgbClr val="B91C1C"/>
                </a:solidFill>
              </a:rPr>
              <a:t>Route logs out from day one: </a:t>
            </a:r>
            <a:pPr indent="0" marL="0">
              <a:buNone/>
            </a:pPr>
            <a:r>
              <a:rPr lang="en-US" sz="1650" dirty="0">
                <a:solidFill>
                  <a:schemeClr val="tx2"/>
                </a:solidFill>
              </a:rPr>
              <a:t>Entra log retention is far shorter than federal records schedules, and isn't retroactive.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8; Book 01, Ch 04 (verification); Book 02, Ch 05 (drift detection), Ch 06, Ch 10; Book 03, Ch 11, Ch 12 (Phase 6); Book 06, Ch 17 (access reviews).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Limits: dynamic membership and latency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ops" descr="">
            <a:extLst>
              <a:ext uri="{C183D7F6-B498-43B3-948B-1728B52AA6E4}">
                <adec:decorative xmlns:adec="http://schemas.microsoft.com/office/drawing/2017/decorative" val="1"/>
              </a:ext>
            </a:extLst>
          </p:cNvPr>
          <p:cNvSpPr/>
          <p:nvPr/>
        </p:nvSpPr>
        <p:spPr>
          <a:xfrm>
            <a:off x="548640" y="1371600"/>
            <a:ext cx="548640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tops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WHERE DYNAMIC MEMBERSHIP STOPS</a:t>
            </a:r>
            <a:endParaRPr lang="en-US" sz="1400" dirty="0"/>
          </a:p>
        </p:txBody>
      </p:sp>
      <p:sp>
        <p:nvSpPr>
          <p:cNvPr id="7" name="Stops list"/>
          <p:cNvSpPr txBox="1"/>
          <p:nvPr/>
        </p:nvSpPr>
        <p:spPr>
          <a:xfrm>
            <a:off x="731520" y="1810512"/>
            <a:ext cx="51663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Role-assignable groups: assigned, no nesting, at most 500 per tenant</a:t>
            </a:r>
            <a:endParaRPr lang="en-US" sz="1400" dirty="0"/>
          </a:p>
          <a:p>
            <a:pPr marL="342900" indent="-342900">
              <a:spcAft>
                <a:spcPts val="400"/>
              </a:spcAft>
              <a:buSzPct val="100000"/>
              <a:buChar char="•"/>
            </a:pPr>
            <a:r>
              <a:rPr lang="en-US" sz="1300" dirty="0">
                <a:solidFill>
                  <a:schemeClr val="tx2"/>
                </a:solidFill>
              </a:rPr>
              <a:t>PIM for Groups takes no dynamic or AD-synced groups: privilege stays assigned and time-bound</a:t>
            </a:r>
            <a:endParaRPr lang="en-US" sz="1400" dirty="0"/>
          </a:p>
          <a:p>
            <a:pPr marL="342900" indent="-342900">
              <a:spcAft>
                <a:spcPts val="400"/>
              </a:spcAft>
              <a:buSzPct val="100000"/>
              <a:buChar char="•"/>
            </a:pPr>
            <a:r>
              <a:rPr lang="en-US" sz="1300" dirty="0">
                <a:solidFill>
                  <a:schemeClr val="tx2"/>
                </a:solidFill>
              </a:rPr>
              <a:t>A rule is at most 3,072 characters; 15,000 dynamic groups per tenant, dynamic units included</a:t>
            </a:r>
            <a:endParaRPr lang="en-US" sz="1400" dirty="0"/>
          </a:p>
          <a:p>
            <a:pPr marL="342900" indent="-342900">
              <a:spcAft>
                <a:spcPts val="400"/>
              </a:spcAft>
              <a:buSzPct val="100000"/>
              <a:buChar char="•"/>
            </a:pPr>
            <a:r>
              <a:rPr lang="en-US" sz="1300" dirty="0">
                <a:solidFill>
                  <a:schemeClr val="tx2"/>
                </a:solidFill>
              </a:rPr>
              <a:t>Rules can't read employeeType, employeeOrgData or manager; no multi-value extension properties</a:t>
            </a:r>
            <a:endParaRPr lang="en-US" sz="1400" dirty="0"/>
          </a:p>
        </p:txBody>
      </p:sp>
      <p:sp>
        <p:nvSpPr>
          <p:cNvPr id="8" name="Latency" descr="">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Latency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LATENCY</a:t>
            </a:r>
            <a:endParaRPr lang="en-US" sz="1400" dirty="0"/>
          </a:p>
        </p:txBody>
      </p:sp>
      <p:sp>
        <p:nvSpPr>
          <p:cNvPr id="10" name="Latency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Membership usually within hours, sometimes over 24</a:t>
            </a:r>
            <a:endParaRPr lang="en-US" sz="1400" dirty="0"/>
          </a:p>
          <a:p>
            <a:pPr marL="342900" indent="-342900">
              <a:spcAft>
                <a:spcPts val="400"/>
              </a:spcAft>
              <a:buSzPct val="100000"/>
              <a:buChar char="•"/>
            </a:pPr>
            <a:r>
              <a:rPr lang="en-US" sz="1300" dirty="0">
                <a:solidFill>
                  <a:schemeClr val="tx2"/>
                </a:solidFill>
              </a:rPr>
              <a:t>Bulk change (500+ groups or 20,000+ changes): pause nonessential groups 24 hours or more</a:t>
            </a:r>
            <a:endParaRPr lang="en-US" sz="1400" dirty="0"/>
          </a:p>
          <a:p>
            <a:pPr marL="342900" indent="-342900">
              <a:spcAft>
                <a:spcPts val="400"/>
              </a:spcAft>
              <a:buSzPct val="100000"/>
              <a:buChar char="•"/>
            </a:pPr>
            <a:r>
              <a:rPr lang="en-US" sz="1300" dirty="0">
                <a:solidFill>
                  <a:schemeClr val="tx2"/>
                </a:solidFill>
              </a:rPr>
              <a:t>Tokens last 60 to 90 minutes: urgent removal disables and revokes sessions</a:t>
            </a:r>
            <a:endParaRPr lang="en-US" sz="1400" dirty="0"/>
          </a:p>
          <a:p>
            <a:pPr marL="342900" indent="-342900">
              <a:spcAft>
                <a:spcPts val="400"/>
              </a:spcAft>
              <a:buSzPct val="100000"/>
              <a:buChar char="•"/>
            </a:pPr>
            <a:r>
              <a:rPr lang="en-US" sz="1300" dirty="0">
                <a:solidFill>
                  <a:schemeClr val="tx2"/>
                </a:solidFill>
              </a:rPr>
              <a:t>Lifecycle Workflows run every 3 hours by default (1 to 24); synced users also wait for sync</a:t>
            </a:r>
            <a:endParaRPr lang="en-US" sz="1400" dirty="0"/>
          </a:p>
        </p:txBody>
      </p:sp>
      <p:sp>
        <p:nvSpPr>
          <p:cNvPr id="11" name="MemberOf" descr="">
            <a:extLst>
              <a:ext uri="{C183D7F6-B498-43B3-948B-1728B52AA6E4}">
                <adec:decorative xmlns:adec="http://schemas.microsoft.com/office/drawing/2017/decorative" val="1"/>
              </a:ext>
            </a:extLst>
          </p:cNvPr>
          <p:cNvSpPr/>
          <p:nvPr/>
        </p:nvSpPr>
        <p:spPr>
          <a:xfrm>
            <a:off x="548640" y="402336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77240" y="411480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290365"/>
            <a:ext cx="380390" cy="380390"/>
          </a:xfrm>
          <a:prstGeom prst="rect">
            <a:avLst/>
          </a:prstGeom>
        </p:spPr>
      </p:pic>
      <p:sp>
        <p:nvSpPr>
          <p:cNvPr id="14" name="MemberOf text"/>
          <p:cNvSpPr txBox="1"/>
          <p:nvPr/>
        </p:nvSpPr>
        <p:spPr>
          <a:xfrm>
            <a:off x="1737360" y="406908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memberOf preview ends November 3, 2026: </a:t>
            </a:r>
            <a:pPr indent="0" marL="0">
              <a:buNone/>
            </a:pPr>
            <a:r>
              <a:rPr lang="en-US" sz="1650" dirty="0">
                <a:solidFill>
                  <a:schemeClr val="tx2"/>
                </a:solidFill>
              </a:rPr>
              <a:t>groups, units and auto-assignment policies that use it freeze in their last state. Microsoft's page still said so on Oct. 29.</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memberOf operator (preview); dynamic group processing; Intune assignment (Oct. 29, 2026). Guide, Limits; Book 03,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Limits: units, Lifecycle Workflows, what still needs AD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U" descr="">
            <a:extLst>
              <a:ext uri="{C183D7F6-B498-43B3-948B-1728B52AA6E4}">
                <adec:decorative xmlns:adec="http://schemas.microsoft.com/office/drawing/2017/decorative" val="1"/>
              </a:ext>
            </a:extLst>
          </p:cNvPr>
          <p:cNvSpPr/>
          <p:nvPr/>
        </p:nvSpPr>
        <p:spPr>
          <a:xfrm>
            <a:off x="548640" y="1371600"/>
            <a:ext cx="54864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U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ADMINISTRATIVE UNITS</a:t>
            </a:r>
            <a:endParaRPr lang="en-US" sz="1400" dirty="0"/>
          </a:p>
        </p:txBody>
      </p:sp>
      <p:sp>
        <p:nvSpPr>
          <p:cNvPr id="7" name="AU list"/>
          <p:cNvSpPr txBox="1"/>
          <p:nvPr/>
        </p:nvSpPr>
        <p:spPr>
          <a:xfrm>
            <a:off x="731520" y="181051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nesting; a write boundary, not a confidentiality boundary; only some roles unit-scoped</a:t>
            </a:r>
            <a:endParaRPr lang="en-US" sz="1400" dirty="0"/>
          </a:p>
          <a:p>
            <a:pPr marL="342900" indent="-342900">
              <a:spcAft>
                <a:spcPts val="400"/>
              </a:spcAft>
              <a:buSzPct val="100000"/>
              <a:buChar char="•"/>
            </a:pPr>
            <a:r>
              <a:rPr lang="en-US" sz="1300" dirty="0">
                <a:solidFill>
                  <a:schemeClr val="tx2"/>
                </a:solidFill>
              </a:rPr>
              <a:t>Dynamic units: global Azure cloud only. GCC can use them; GCC High and DoD can't</a:t>
            </a:r>
            <a:endParaRPr lang="en-US" sz="1400" dirty="0"/>
          </a:p>
          <a:p>
            <a:pPr marL="342900" indent="-342900">
              <a:spcAft>
                <a:spcPts val="400"/>
              </a:spcAft>
              <a:buSzPct val="100000"/>
              <a:buChar char="•"/>
            </a:pPr>
            <a:r>
              <a:rPr lang="en-US" sz="1300" dirty="0">
                <a:solidFill>
                  <a:schemeClr val="tx2"/>
                </a:solidFill>
              </a:rPr>
              <a:t>At most 100 restricted units; their members are outside Entra ID Governance</a:t>
            </a:r>
            <a:endParaRPr lang="en-US" sz="1400" dirty="0"/>
          </a:p>
        </p:txBody>
      </p:sp>
      <p:sp>
        <p:nvSpPr>
          <p:cNvPr id="8" name="LCW" descr="">
            <a:extLst>
              <a:ext uri="{C183D7F6-B498-43B3-948B-1728B52AA6E4}">
                <adec:decorative xmlns:adec="http://schemas.microsoft.com/office/drawing/2017/decorative" val="1"/>
              </a:ext>
            </a:extLst>
          </p:cNvPr>
          <p:cNvSpPr/>
          <p:nvPr/>
        </p:nvSpPr>
        <p:spPr>
          <a:xfrm>
            <a:off x="548640" y="3474720"/>
            <a:ext cx="54864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LCW head"/>
          <p:cNvSpPr txBox="1"/>
          <p:nvPr/>
        </p:nvSpPr>
        <p:spPr>
          <a:xfrm>
            <a:off x="731520" y="35844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LIFECYCLE WORKFLOWS (ID GOVERNANCE OR ENTRA SUITE)</a:t>
            </a:r>
            <a:endParaRPr lang="en-US" sz="1400" dirty="0"/>
          </a:p>
        </p:txBody>
      </p:sp>
      <p:sp>
        <p:nvSpPr>
          <p:cNvPr id="10" name="LCW list"/>
          <p:cNvSpPr txBox="1"/>
          <p:nvPr/>
        </p:nvSpPr>
        <p:spPr>
          <a:xfrm>
            <a:off x="731520" y="39136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Up to 100 workflows per tenant and 100 custom task extensions</a:t>
            </a:r>
            <a:endParaRPr lang="en-US" sz="1400" dirty="0"/>
          </a:p>
          <a:p>
            <a:pPr marL="342900" indent="-342900">
              <a:spcAft>
                <a:spcPts val="400"/>
              </a:spcAft>
              <a:buSzPct val="100000"/>
              <a:buChar char="•"/>
            </a:pPr>
            <a:r>
              <a:rPr lang="en-US" sz="1300" dirty="0">
                <a:solidFill>
                  <a:schemeClr val="tx2"/>
                </a:solidFill>
              </a:rPr>
              <a:t>An on-demand run covers at most 10 users</a:t>
            </a:r>
            <a:endParaRPr lang="en-US" sz="1400" dirty="0"/>
          </a:p>
          <a:p>
            <a:pPr marL="342900" indent="-342900">
              <a:spcAft>
                <a:spcPts val="400"/>
              </a:spcAft>
              <a:buSzPct val="100000"/>
              <a:buChar char="•"/>
            </a:pPr>
            <a:r>
              <a:rPr lang="en-US" sz="1300" dirty="0">
                <a:solidFill>
                  <a:schemeClr val="tx2"/>
                </a:solidFill>
              </a:rPr>
              <a:t>No built-in task revokes a certificate or PIV credential, or retires a device</a:t>
            </a:r>
            <a:endParaRPr lang="en-US" sz="1400" dirty="0"/>
          </a:p>
        </p:txBody>
      </p:sp>
      <p:sp>
        <p:nvSpPr>
          <p:cNvPr id="11" name="AD" descr="">
            <a:extLst>
              <a:ext uri="{C183D7F6-B498-43B3-948B-1728B52AA6E4}">
                <adec:decorative xmlns:adec="http://schemas.microsoft.com/office/drawing/2017/decorative" val="1"/>
              </a:ext>
            </a:extLst>
          </p:cNvPr>
          <p:cNvSpPr/>
          <p:nvPr/>
        </p:nvSpPr>
        <p:spPr>
          <a:xfrm>
            <a:off x="6263640" y="1371600"/>
            <a:ext cx="5394960" cy="3108960"/>
          </a:xfrm>
          <a:prstGeom prst="roundRect">
            <a:avLst>
              <a:gd name="adj" fmla="val 235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AD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WHAT STILL NEEDS AD DURING HYBRID</a:t>
            </a:r>
            <a:endParaRPr lang="en-US" sz="1400" dirty="0"/>
          </a:p>
        </p:txBody>
      </p:sp>
      <p:sp>
        <p:nvSpPr>
          <p:cNvPr id="13" name="AD list"/>
          <p:cNvSpPr txBox="1"/>
          <p:nvPr/>
        </p:nvSpPr>
        <p:spPr>
          <a:xfrm>
            <a:off x="6446520" y="1810512"/>
            <a:ext cx="5074920" cy="25968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attributes of every synced user, and their disposition</a:t>
            </a:r>
            <a:endParaRPr lang="en-US" sz="1400" dirty="0"/>
          </a:p>
          <a:p>
            <a:pPr marL="342900" indent="-342900">
              <a:spcAft>
                <a:spcPts val="400"/>
              </a:spcAft>
              <a:buSzPct val="100000"/>
              <a:buChar char="•"/>
            </a:pPr>
            <a:r>
              <a:rPr lang="en-US" sz="1300" dirty="0">
                <a:solidFill>
                  <a:schemeClr val="tx2"/>
                </a:solidFill>
              </a:rPr>
              <a:t>Kerberos apps: a cloud group provisioned back as a universal group</a:t>
            </a:r>
            <a:endParaRPr lang="en-US" sz="1400" dirty="0"/>
          </a:p>
          <a:p>
            <a:pPr marL="342900" indent="-342900">
              <a:spcAft>
                <a:spcPts val="400"/>
              </a:spcAft>
              <a:buSzPct val="100000"/>
              <a:buChar char="•"/>
            </a:pPr>
            <a:r>
              <a:rPr lang="en-US" sz="1300" dirty="0">
                <a:solidFill>
                  <a:schemeClr val="tx2"/>
                </a:solidFill>
              </a:rPr>
              <a:t>DNS, DHCP and Kerberos-bound legacy apps; SQL Windows logins bypass CA</a:t>
            </a:r>
            <a:endParaRPr lang="en-US" sz="1400" dirty="0"/>
          </a:p>
          <a:p>
            <a:pPr marL="342900" indent="-342900">
              <a:spcAft>
                <a:spcPts val="400"/>
              </a:spcAft>
              <a:buSzPct val="100000"/>
              <a:buChar char="•"/>
            </a:pPr>
            <a:r>
              <a:rPr lang="en-US" sz="1300" dirty="0">
                <a:solidFill>
                  <a:schemeClr val="tx2"/>
                </a:solidFill>
              </a:rPr>
              <a:t>Domain-level GPOs that hybrid-joined devices still need</a:t>
            </a:r>
            <a:endParaRPr lang="en-US" sz="1400" dirty="0"/>
          </a:p>
          <a:p>
            <a:pPr marL="342900" indent="-342900">
              <a:spcAft>
                <a:spcPts val="400"/>
              </a:spcAft>
              <a:buSzPct val="100000"/>
              <a:buChar char="•"/>
            </a:pPr>
            <a:r>
              <a:rPr lang="en-US" sz="1300" dirty="0">
                <a:solidFill>
                  <a:schemeClr val="tx2"/>
                </a:solidFill>
              </a:rPr>
              <a:t>Moving source of authority: HR direct to Entra, no on-premises Exchange, no AD FS, no password-based apps</a:t>
            </a:r>
            <a:endParaRPr lang="en-US" sz="1400" dirty="0"/>
          </a:p>
          <a:p>
            <a:pPr marL="342900" indent="-342900">
              <a:spcAft>
                <a:spcPts val="400"/>
              </a:spcAft>
              <a:buSzPct val="100000"/>
              <a:buChar char="•"/>
            </a:pPr>
            <a:r>
              <a:rPr lang="en-US" sz="1300" dirty="0">
                <a:solidFill>
                  <a:schemeClr val="tx2"/>
                </a:solidFill>
              </a:rPr>
              <a:t>Whether user source-of-authority transfer is available in GCC: open</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administrative units; What are lifecycle workflows; Lifecycle Workflow deployment; Transfer user SOA (Oct. 29, 2026). Guide, Limits; Books 01, 02,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checklist, stage by stage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4" name="Che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66616"/>
        </p:xfrm>
        <a:graphic>
          <a:graphicData uri="http://schemas.openxmlformats.org/drawingml/2006/table">
            <a:tbl>
              <a:tblPr firstRow="1" bandRow="1"/>
              <a:tblGrid>
                <a:gridCol w="685800"/>
                <a:gridCol w="104241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 links, inheritance and hand-made delegations exported, site links included · A decision for every group · OU-to-unit mapping drafted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Authority map, identifier and schema signed · Code lists owned by HR · HR-to-identity feed taken to the Steering Committee · Contractor source decided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 populated before the first full sync · Correlation threshold met · Orphans owned · Other write paths to access slots removed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Sync engine and PHS decided · Carriers free and in the apps' target lists · Date mappings tested · Feeds read by published date · Shadow mode explained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access rule on codes, excluding disabled accounts, guests and agents · Validated, shadowed, piloted · No memberOf · Nesting flattened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Unit rules mirror group rules, processing on · Restriction decided before creation · Role principals PIM-eligible · Units before their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Personas from authoritative attributes · Grant and block in pairs · Report-only first · Emergency access excluded · One owning policy per setting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Validation report signed · Dry run, writes off · Seven days of sole-source proof · Ticket path closed · Provisioning retargeted · Rollback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Card management system named as the binding writer · High affinity piloted first · Phishing-resistant strength · Leaver removes the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Drift scans scheduled for HR, units and roles · Logs routed out from day one · Findings closed at the source · Metrics on the ConMon cadence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"Checklist"; each row's detail is in the stage it names and the chapters cited there.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5"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3419856"/>
        </p:xfrm>
        <a:graphic>
          <a:graphicData uri="http://schemas.openxmlformats.org/drawingml/2006/table">
            <a:tbl>
              <a:tblPr firstRow="1" bandRow="1"/>
              <a:tblGrid>
                <a:gridCol w="4572000"/>
                <a:gridCol w="2880360"/>
                <a:gridCol w="8229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Where each OU function goes; each group's fate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Authority map, person key, contractor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ICAM governance body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Code lists; the schema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the data architect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Correlation threshold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Agency risk 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Write permissions on HR-mastered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Sync engine, sign-in method, provisioning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application's access 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application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Delegation model; restriction per unit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Control requirements; drift 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6, 8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Wave go/no-go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 descr="">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rt head"/>
          <p:cNvSpPr txBox="1"/>
          <p:nvPr/>
        </p:nvSpPr>
        <p:spPr>
          <a:xfrm>
            <a:off x="9189720" y="1481328"/>
            <a:ext cx="2286000" cy="640080"/>
          </a:xfrm>
          <a:prstGeom prst="rect">
            <a:avLst/>
          </a:prstGeom>
          <a:noFill/>
          <a:ln/>
        </p:spPr>
        <p:txBody>
          <a:bodyPr wrap="square" lIns="0" tIns="0" rIns="0" bIns="0" rtlCol="0" anchor="t"/>
          <a:lstStyle/>
          <a:p>
            <a:pPr indent="0" marL="0">
              <a:buNone/>
            </a:pPr>
            <a:r>
              <a:rPr lang="en-US" sz="1100" b="1" dirty="0">
                <a:solidFill>
                  <a:srgbClr val="64748B"/>
                </a:solidFill>
              </a:rPr>
              <a:t>FROM THE CHECKLIST</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"The path on one page" and "Checklist"; Book 02, Ch 06 and Book 03, Ch 07 responsibility matrices.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"How to read this guide," "The path on one page," Stage 0, "Limits: rule limits," "How the books' phase numbers line up" (approximate; each book's gates govern its own work).</a:t>
            </a:r>
            <a:endParaRPr lang="en-US" sz="1400" dirty="0"/>
          </a:p>
          <a:p>
            <a:pPr marL="342900" indent="-342900">
              <a:spcAft>
                <a:spcPts val="500"/>
              </a:spcAft>
              <a:buSzPct val="100000"/>
              <a:buChar char="•"/>
            </a:pPr>
            <a:r>
              <a:rPr lang="en-US" sz="1200" dirty="0">
                <a:solidFill>
                  <a:schemeClr val="tx2"/>
                </a:solidFill>
              </a:rPr>
              <a:t>Book 01, Chapter 04 — Identity Transformation: "The identity claim," "What the attributes drive," "The four mechanisms," "Where the attributes live," "From sessions to tokens."</a:t>
            </a:r>
            <a:endParaRPr lang="en-US" sz="1400" dirty="0"/>
          </a:p>
          <a:p>
            <a:pPr marL="342900" indent="-342900">
              <a:spcAft>
                <a:spcPts val="500"/>
              </a:spcAft>
              <a:buSzPct val="100000"/>
              <a:buChar char="•"/>
            </a:pPr>
            <a:r>
              <a:rPr lang="en-US" sz="1200" dirty="0">
                <a:solidFill>
                  <a:schemeClr val="tx2"/>
                </a:solidFill>
              </a:rPr>
              <a:t>Book 02, Chapter 06 — "The responsibility matrix"; Chapter 07 — "Recording what read-only discovery couldn't see"; Chapter 08 — "OU hierarchy and delegation," "What to collect."</a:t>
            </a:r>
            <a:endParaRPr lang="en-US" sz="1400" dirty="0"/>
          </a:p>
          <a:p>
            <a:pPr marL="342900" indent="-342900">
              <a:spcAft>
                <a:spcPts val="500"/>
              </a:spcAft>
              <a:buSzPct val="100000"/>
              <a:buChar char="•"/>
            </a:pPr>
            <a:r>
              <a:rPr lang="en-US" sz="1200" dirty="0">
                <a:solidFill>
                  <a:schemeClr val="tx2"/>
                </a:solidFill>
              </a:rPr>
              <a:t>Book 02, Chapter 09 — "Organizational units," "The per-group decision," "AdminSDHolder and protected groups"; Chapter 10 — "Phase 0: assessment."</a:t>
            </a:r>
            <a:endParaRPr lang="en-US" sz="1400" dirty="0"/>
          </a:p>
          <a:p>
            <a:pPr marL="342900" indent="-342900">
              <a:spcAft>
                <a:spcPts val="500"/>
              </a:spcAft>
              <a:buSzPct val="100000"/>
              <a:buChar char="•"/>
            </a:pPr>
            <a:r>
              <a:rPr lang="en-US" sz="1200" dirty="0">
                <a:solidFill>
                  <a:schemeClr val="tx2"/>
                </a:solidFill>
              </a:rPr>
              <a:t>Book 03, Chapter 06 — "Design rules"; Chapter 07 — "The responsibility matrix"; Chapter 12 — "Sequencing principle."</a:t>
            </a:r>
            <a:endParaRPr lang="en-US" sz="1400" dirty="0"/>
          </a:p>
          <a:p>
            <a:pPr marL="342900" indent="-342900">
              <a:spcAft>
                <a:spcPts val="500"/>
              </a:spcAft>
              <a:buSzPct val="100000"/>
              <a:buChar char="•"/>
            </a:pPr>
            <a:r>
              <a:rPr lang="en-US" sz="1200" dirty="0">
                <a:solidFill>
                  <a:schemeClr val="tx2"/>
                </a:solidFill>
              </a:rPr>
              <a:t>Microsoft Learn: "Manage rules for dynamic membership groups in Microsoft Entra ID" (learn.microsoft.com/entra/identity/users/groups-dynamic-membership), accessed Oct. 29, 2026.</a:t>
            </a:r>
            <a:endParaRPr lang="en-US" sz="1400" dirty="0"/>
          </a:p>
          <a:p>
            <a:pPr marL="342900" indent="-342900">
              <a:spcAft>
                <a:spcPts val="500"/>
              </a:spcAft>
              <a:buSzPct val="100000"/>
              <a:buChar char="•"/>
            </a:pPr>
            <a:r>
              <a:rPr lang="en-US" sz="1200" dirty="0">
                <a:solidFill>
                  <a:schemeClr val="tx2"/>
                </a:solidFill>
              </a:rPr>
              <a:t>Diagrams: Book 01 ch04-one-attribute-five-outcomes; Book 02 ch09-ad-to-entra-objects, ch08-gpo-analysis (committed renders; alt text from each chapter's fig-alt).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Sourcing and proving attributes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Stage 1 (including "Building the attributes from Federal HR 2.0" and "Licensing and GCC"), Stage 2, Stage 3; attribute-to-mechanism crosswalk.</a:t>
            </a:r>
            <a:endParaRPr lang="en-US" sz="1400" dirty="0"/>
          </a:p>
          <a:p>
            <a:pPr marL="342900" indent="-342900">
              <a:spcAft>
                <a:spcPts val="500"/>
              </a:spcAft>
              <a:buSzPct val="100000"/>
              <a:buChar char="•"/>
            </a:pPr>
            <a:r>
              <a:rPr lang="en-US" sz="1200" dirty="0">
                <a:solidFill>
                  <a:schemeClr val="tx2"/>
                </a:solidFill>
              </a:rPr>
              <a:t>Book 03, Chapter 03 — "The program facts" (dated Oct. 20, 2026), "What OPM requires and what it leaves to the agency"; Chapter 04 — authority, layered identifiers; Chapter 05 — the provisioning pipeline, two landing zones.</a:t>
            </a:r>
            <a:endParaRPr lang="en-US" sz="1400" dirty="0"/>
          </a:p>
          <a:p>
            <a:pPr marL="342900" indent="-342900">
              <a:spcAft>
                <a:spcPts val="500"/>
              </a:spcAft>
              <a:buSzPct val="100000"/>
              <a:buChar char="•"/>
            </a:pPr>
            <a:r>
              <a:rPr lang="en-US" sz="1200" dirty="0">
                <a:solidFill>
                  <a:schemeClr val="tx2"/>
                </a:solidFill>
              </a:rPr>
              <a:t>Book 03, Chapter 06 — design rules, writers, program attribute map, standard attribute layer, one fact one authority; Chapter 07 — ownership, privacy office; Chapter 12 — Phases 0, 1 and 3; Chapter 13 — reference deployment.</a:t>
            </a:r>
            <a:endParaRPr lang="en-US" sz="1400" dirty="0"/>
          </a:p>
          <a:p>
            <a:pPr marL="342900" indent="-342900">
              <a:spcAft>
                <a:spcPts val="500"/>
              </a:spcAft>
              <a:buSzPct val="100000"/>
              <a:buChar char="•"/>
            </a:pPr>
            <a:r>
              <a:rPr lang="en-US" sz="1200" dirty="0">
                <a:solidFill>
                  <a:schemeClr val="tx2"/>
                </a:solidFill>
              </a:rPr>
              <a:t>Book 02, Chapter 09 — sync engine, filtering, attribute flow, soft and hard match, Connect Sync deadline; Chapter 10 — Phase 1.  ·  Book 05, Chapter 08 — device attribute schema.  ·  Book 06, Chapter 17.</a:t>
            </a:r>
            <a:endParaRPr lang="en-US" sz="1400" dirty="0"/>
          </a:p>
          <a:p>
            <a:pPr marL="342900" indent="-342900">
              <a:spcAft>
                <a:spcPts val="500"/>
              </a:spcAft>
              <a:buSzPct val="100000"/>
              <a:buChar char="•"/>
            </a:pPr>
            <a:r>
              <a:rPr lang="en-US" sz="1200" dirty="0">
                <a:solidFill>
                  <a:schemeClr val="tx2"/>
                </a:solidFill>
              </a:rPr>
              <a:t>Microsoft Learn (accessed Oct. 29, 2026): API-driven inbound provisioning concepts; Archive for Microsoft Entra releases (June 2025); Microsoft Entra feature availability; What are lifecycle workflows?</a:t>
            </a:r>
            <a:endParaRPr lang="en-US" sz="1400" dirty="0"/>
          </a:p>
          <a:p>
            <a:pPr marL="342900" indent="-342900">
              <a:spcAft>
                <a:spcPts val="500"/>
              </a:spcAft>
              <a:buSzPct val="100000"/>
              <a:buChar char="•"/>
            </a:pPr>
            <a:r>
              <a:rPr lang="en-US" sz="1200" dirty="0">
                <a:solidFill>
                  <a:schemeClr val="tx2"/>
                </a:solidFill>
              </a:rPr>
              <a:t>Research: HCM-to-Entra implementation guide (provisioning apps; sequences).</a:t>
            </a:r>
            <a:endParaRPr lang="en-US" sz="1400" dirty="0"/>
          </a:p>
          <a:p>
            <a:pPr marL="342900" indent="-342900">
              <a:spcAft>
                <a:spcPts val="500"/>
              </a:spcAft>
              <a:buSzPct val="100000"/>
              <a:buChar char="•"/>
            </a:pPr>
            <a:r>
              <a:rPr lang="en-US" sz="1200" dirty="0">
                <a:solidFill>
                  <a:schemeClr val="tx2"/>
                </a:solidFill>
              </a:rPr>
              <a:t>Diagrams: Book 03 ch04-authority-map, ch03-hr20-window, ch05-provisioning-services, ch07-attribute-ownership-chain, ch12-phase-gates; Book 02 ch09-sync-auth-decision.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Attributes to mechanisms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Stages 4, 5 and 6; "Beyond users"; "Which attribute store each mechanism can read"; "Object types, stores, writers and consumers"; "PIV and CAC certificates as attributes."</a:t>
            </a:r>
            <a:endParaRPr lang="en-US" sz="1400" dirty="0"/>
          </a:p>
          <a:p>
            <a:pPr marL="342900" indent="-342900">
              <a:spcAft>
                <a:spcPts val="500"/>
              </a:spcAft>
              <a:buSzPct val="100000"/>
              <a:buChar char="•"/>
            </a:pPr>
            <a:r>
              <a:rPr lang="en-US" sz="1200" dirty="0">
                <a:solidFill>
                  <a:schemeClr val="tx2"/>
                </a:solidFill>
              </a:rPr>
              <a:t>Book 01, Ch 04; Book 02, Ch 05, 06, 09; Book 03, Ch 07, 09, 10; Book 04, Ch 03; Book 05, Ch 08, 09; Book 06, Ch 16, 17 and Runbook R07; Book 07, Ch 06, 07. Verification log D2, D5, D6.</a:t>
            </a:r>
            <a:endParaRPr lang="en-US" sz="1400" dirty="0"/>
          </a:p>
          <a:p>
            <a:pPr marL="342900" indent="-342900">
              <a:spcAft>
                <a:spcPts val="500"/>
              </a:spcAft>
              <a:buSzPct val="100000"/>
              <a:buChar char="•"/>
            </a:pPr>
            <a:r>
              <a:rPr lang="en-US" sz="1200" dirty="0">
                <a:solidFill>
                  <a:schemeClr val="tx2"/>
                </a:solidFill>
              </a:rPr>
              <a:t>Microsoft Learn (Oct. 29, 2026): Assign policies in Microsoft Intune; dynamic membership rules; Create device groups for Windows Autopilot; Graph Update device; Intune filter device properties; Intune RBAC and scope tags.</a:t>
            </a:r>
            <a:endParaRPr lang="en-US" sz="1400" dirty="0"/>
          </a:p>
          <a:p>
            <a:pPr marL="342900" indent="-342900">
              <a:spcAft>
                <a:spcPts val="500"/>
              </a:spcAft>
              <a:buSzPct val="100000"/>
              <a:buChar char="•"/>
            </a:pPr>
            <a:r>
              <a:rPr lang="en-US" sz="1200" dirty="0">
                <a:solidFill>
                  <a:schemeClr val="tx2"/>
                </a:solidFill>
              </a:rPr>
              <a:t>Microsoft Learn (Oct. 29, 2026): Cloud-native server management with Arc; Organize and inventory servers; azcmagent connect; tag policies; Azure ABAC overview and condition format; custom security attributes (overview; users FAQ).</a:t>
            </a:r>
            <a:endParaRPr lang="en-US" sz="1400" dirty="0"/>
          </a:p>
          <a:p>
            <a:pPr marL="342900" indent="-342900">
              <a:spcAft>
                <a:spcPts val="500"/>
              </a:spcAft>
              <a:buSzPct val="100000"/>
              <a:buChar char="•"/>
            </a:pPr>
            <a:r>
              <a:rPr lang="en-US" sz="1200" dirty="0">
                <a:solidFill>
                  <a:schemeClr val="tx2"/>
                </a:solidFill>
              </a:rPr>
              <a:t>Microsoft Learn (Oct. 29, 2026): CA filter for applications; app user and group assignment; CA for workload identities; CBA technical concepts; Set up CBA; Mapping to certificateUserIds; Authentication strengths; M-22-09 MFA.</a:t>
            </a:r>
            <a:endParaRPr lang="en-US" sz="1400" dirty="0"/>
          </a:p>
          <a:p>
            <a:pPr marL="342900" indent="-342900">
              <a:spcAft>
                <a:spcPts val="500"/>
              </a:spcAft>
              <a:buSzPct val="100000"/>
              <a:buChar char="•"/>
            </a:pPr>
            <a:r>
              <a:rPr lang="en-US" sz="1200" dirty="0">
                <a:solidFill>
                  <a:schemeClr val="tx2"/>
                </a:solidFill>
              </a:rPr>
              <a:t>Unverified: certificateUserIds written through Graph by the card management system after AD (design guidance), workbook issue #130, open as of Oct. 29, 2026. Cloud Sync for certificateUserIds: not documented.</a:t>
            </a:r>
            <a:endParaRPr lang="en-US" sz="1400" dirty="0"/>
          </a:p>
          <a:p>
            <a:pPr marL="342900" indent="-342900">
              <a:spcAft>
                <a:spcPts val="500"/>
              </a:spcAft>
              <a:buSzPct val="100000"/>
              <a:buChar char="•"/>
            </a:pPr>
            <a:r>
              <a:rPr lang="en-US" sz="1200" dirty="0">
                <a:solidFill>
                  <a:schemeClr val="tx2"/>
                </a:solidFill>
              </a:rPr>
              <a:t>Diagrams: Book 03 ch10-derivation-chain, ch09-credential-assurance; Book 02 ch05-three-tier-delegation; Book 04 ch03-grant-block-pair; Book 05 ch08-targeting-layers, ch09-arc-management-plane.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Running it</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"Worked example: one user and one mover event," Stage 7, Stage 8, "Limits," "Checklist," "The path on one page."</a:t>
            </a:r>
            <a:endParaRPr lang="en-US" sz="1400" dirty="0"/>
          </a:p>
          <a:p>
            <a:pPr marL="342900" indent="-342900">
              <a:spcAft>
                <a:spcPts val="500"/>
              </a:spcAft>
              <a:buSzPct val="100000"/>
              <a:buChar char="•"/>
            </a:pPr>
            <a:r>
              <a:rPr lang="en-US" sz="1200" dirty="0">
                <a:solidFill>
                  <a:schemeClr val="tx2"/>
                </a:solidFill>
              </a:rPr>
              <a:t>Book 00, Ch 09 — waves by attribute.  ·  Book 01, Ch 04 — mover, migration phases, verification.  ·  Book 02, Ch 05, 06, 09, 10.  ·  Book 03, Ch 05, 06, 08, 10, 11, 12 and Appendix C.</a:t>
            </a:r>
            <a:endParaRPr lang="en-US" sz="1400" dirty="0"/>
          </a:p>
          <a:p>
            <a:pPr marL="342900" indent="-342900">
              <a:spcAft>
                <a:spcPts val="500"/>
              </a:spcAft>
              <a:buSzPct val="100000"/>
              <a:buChar char="•"/>
            </a:pPr>
            <a:r>
              <a:rPr lang="en-US" sz="1200" dirty="0">
                <a:solidFill>
                  <a:schemeClr val="tx2"/>
                </a:solidFill>
              </a:rPr>
              <a:t>Book 04, Ch 03 — personas.  ·  Book 05, Ch 08 — tier groups, workload waves, rollback.  ·  Book 06, Ch 16 — when a change takes effect; Ch 17 — choosing the attributes, access reviews.</a:t>
            </a:r>
            <a:endParaRPr lang="en-US" sz="1400" dirty="0"/>
          </a:p>
          <a:p>
            <a:pPr marL="342900" indent="-342900">
              <a:spcAft>
                <a:spcPts val="500"/>
              </a:spcAft>
              <a:buSzPct val="100000"/>
              <a:buChar char="•"/>
            </a:pPr>
            <a:r>
              <a:rPr lang="en-US" sz="1200" dirty="0">
                <a:solidFill>
                  <a:schemeClr val="tx2"/>
                </a:solidFill>
              </a:rPr>
              <a:t>Microsoft Learn (Oct. 29, 2026): Guidance for user SOA; Transfer user SOA; memberOf operator (preview; ends Nov. 3, 2026); dynamic group processing; dynamic administrative units; lifecycle workflows; Lifecycle Workflow deployment.</a:t>
            </a:r>
            <a:endParaRPr lang="en-US" sz="1400" dirty="0"/>
          </a:p>
          <a:p>
            <a:pPr marL="342900" indent="-342900">
              <a:spcAft>
                <a:spcPts val="500"/>
              </a:spcAft>
              <a:buSzPct val="100000"/>
              <a:buChar char="•"/>
            </a:pPr>
            <a:r>
              <a:rPr lang="en-US" sz="1200" dirty="0">
                <a:solidFill>
                  <a:schemeClr val="tx2"/>
                </a:solidFill>
              </a:rPr>
              <a:t>Corrections stated as the guide states them: Lifecycle Workflows 100 per tenant (Book 02, Ch 10 says 50); verification log D1.</a:t>
            </a:r>
            <a:endParaRPr lang="en-US" sz="1400" dirty="0"/>
          </a:p>
          <a:p>
            <a:pPr marL="342900" indent="-342900">
              <a:spcAft>
                <a:spcPts val="500"/>
              </a:spcAft>
              <a:buSzPct val="100000"/>
              <a:buChar char="•"/>
            </a:pPr>
            <a:r>
              <a:rPr lang="en-US" sz="1200" dirty="0">
                <a:solidFill>
                  <a:schemeClr val="tx2"/>
                </a:solidFill>
              </a:rPr>
              <a:t>Could not verify: user SOA transfer in GCC (Book 03, Ch 12 open register); Federal HR 2.0 schedule after Oct. 20, 2026 (confirm with the HR 2.0 program office).</a:t>
            </a:r>
            <a:endParaRPr lang="en-US" sz="1400" dirty="0"/>
          </a:p>
          <a:p>
            <a:pPr marL="342900" indent="-342900">
              <a:spcAft>
                <a:spcPts val="500"/>
              </a:spcAft>
              <a:buSzPct val="100000"/>
              <a:buChar char="•"/>
            </a:pPr>
            <a:r>
              <a:rPr lang="en-US" sz="1200" dirty="0">
                <a:solidFill>
                  <a:schemeClr val="tx2"/>
                </a:solidFill>
              </a:rPr>
              <a:t>Diagrams: Book 03 ch08-personnel-action-lifecycle, appc-cutover-sequence, ch11-drift-evidence-loop; Book 00 ch09-waves-by-attribute.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dc:title>
  <dc:subject>PptxGenJS Presentation</dc:subject>
  <dc:creator>Michael F. Stratton</dc:creator>
  <cp:lastModifiedBy>Michael F. Stratton</cp:lastModifiedBy>
  <cp:revision>1</cp:revision>
  <dcterms:created xsi:type="dcterms:W3CDTF">2026-10-29T10:01:18Z</dcterms:created>
  <dcterms:modified xsi:type="dcterms:W3CDTF">2026-10-29T10:01:18Z</dcterms:modified>
</cp:coreProperties>
</file>