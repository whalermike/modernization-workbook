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1507a8f-5cc6-c637-9214-db18b64d15fc}">
          <p14:sldIdLst>
            <p14:sldId id="256"/>
          </p14:sldIdLst>
        </p14:section>
        <p14:section name="Why" id="{21a1faf9-a5d8-45cc-cf1d-27db40d9043f}">
          <p14:sldIdLst>
            <p14:sldId id="257"/>
            <p14:sldId id="258"/>
          </p14:sldIdLst>
        </p14:section>
        <p14:section name="What" id="{8762f62d-cd1e-9d40-f3f5-5abbd7af042a}">
          <p14:sldIdLst>
            <p14:sldId id="259"/>
            <p14:sldId id="260"/>
            <p14:sldId id="261"/>
            <p14:sldId id="262"/>
            <p14:sldId id="263"/>
            <p14:sldId id="264"/>
            <p14:sldId id="265"/>
            <p14:sldId id="266"/>
          </p14:sldIdLst>
        </p14:section>
        <p14:section name="Who" id="{71a7565f-e039-62dc-c9d2-112d8322c5a8}">
          <p14:sldIdLst>
            <p14:sldId id="267"/>
          </p14:sldIdLst>
        </p14:section>
        <p14:section name="How" id="{ecca53d5-ca0b-4ac6-86ca-10e83a70b581}">
          <p14:sldIdLst>
            <p14:sldId id="268"/>
            <p14:sldId id="269"/>
            <p14:sldId id="270"/>
            <p14:sldId id="271"/>
            <p14:sldId id="272"/>
            <p14:sldId id="273"/>
          </p14:sldIdLst>
        </p14:section>
        <p14:section name="Backup" id="{3197a843-9792-57b6-c91c-77bfa088f940}">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8: Conditional Access for workload identities. A stolen client secret works from anywhere, unless something says where the workload is allowed to be. So that place is written down, reviewed, and enforced one ring at a time. We'll start from Learn's own sample policy, see why Graph would refuse it as published, then walk the scope file, the checks, the plan, enforcement by ring, the sign-in reader and the alert, two labs and the dangers. One note before we begin: the code is illustrative, tested against fixtures.
Detail: The policies behind the project plan's Phase 5 and its Gate 5, "workload identities under Conditional Access." You start with Learn's own Graph JSON sample for a location-based policy that targets service principals, which the repository keeps as a pinned copy, and you send it to a fake Graph and the pre-merge check to see what it leaves to you. Then examples/non-person-identity does the rest: the scope as a reviewed file, the program's CA015 and CA037 rendered per ring and always created report-only, a check before merge and a check against the tenant, a reader that summarizes the service principal sign-in logs per principal, enforcement only after decision D-N5 and only with -AllowEnforce, and an alert definition for block events. Lab 1 runs on a laptop with no tenant; Lab 2 uses a test tenant. Goal: N5.1, "scope set: Tier 1 single-tenant service principals assigned directly, never through a group; workload egress ranges named; managed identities and multitenant apps recorded as out of scope." N5.2, "CA015 location restriction and CA037 high-risk block in report-only; service principal sign-in logs read." N5.3, after the CISO's decision D-N5, "policies enforced ring by ring; block events alerted to security operations."
Sources: 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
Workbook: Building Non-Person Identity, Chapter 08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a stolen secret works from anywhere, and Conditional Access is how you pin a workload to its own networks. Learn is short and firm about what it can do: block from outside known ranges, or on risk, and blocking is the only control. Four limits then decide the whole scope: you need the premium license, only single-tenant apps are covered, managed identities aren't, and a policy assigned through a group simply isn't enforced. For this estate, everything goes to the worldwide Graph endpoint.
Detail: Learn is short and firm about what Conditional Access for workload identities can do. A policy can block a service principal from outside known public IP ranges, on risk detected by Microsoft Entra ID Protection, or with authentication contexts; block is the only grant control. The limits decide the scope. Licensing: Workload Identities Premium licenses are required to create or modify these policies; without them, existing policies keep working but can't be changed. Single-tenant only: policies apply to single-tenant service principals registered in the tenant; Microsoft and third-party SaaS apps, including multitenant apps, aren't covered. No managed identities: managed identities aren't covered; Learn suggests an access review for them instead. Direct assignment: a policy assigned to a group that contains a service principal isn't enforced for it; the service principal has to be assigned directly, by the enterprise application's object ID; the app registration's object ID can't be used. Book 02, Chapter 09 and Book 04, Chapter 05 state the same limits. Which cloud: the target estate is Microsoft 365 GCC, whose Microsoft Entra tenant uses the worldwide endpoints: Graph at graph.microsoft.com. GCC High and DoD use graph.microsoft.us and dod-graph.microsoft.us. Listing and changing Conditional Access policies and named locations list the global service, US Government L4 and US Government L5, and so does the beta sign-in log read. Learn's feature availability page for Azure for US Government lists Conditional Access as available and says Workload Identities Premium is available there; the Workload ID FAQ says to contact the account manager in the Azure Government clouds, where the free trial isn't offered. That page's ID Protection table lists user risk detections only; whether workload identity risk detections, which CA037 depends on, run in GCC High and DoD is open (research gaps, row 75). The code takes the cloud as an explicit name and has no default.
Sources: Microsoft Learn, "Conditional Access for workload identities," overview, implementation, roll back, sign-in logs, reference, https://learn.microsoft.com/entra/identity/conditional-access/workload-identity (accessed Oct 30, 2026). · Microsoft Learn, "Microsoft Graph national cloud deployments," https://learn.microsoft.com/graph/deployments (accessed Oct 30, 2026). · Microsoft Learn, "Microsoft Entra feature availability," Microsoft Entra ID, ID Protection, and other Microsoft Entra products, https://learn.microsoft.com/entra/identity/authentication/feature-availability (accessed Oct 30, 2026). · Microsoft Learn, "Frequently asked questions about Microsoft Entra Workload ID," https://learn.microsoft.com/entra/workload-id/workload-identities-faqs (accessed Oct 30, 2026). · Microsoft Learn, "List policies" (conditionalAccessRoot), https://learn.microsoft.com/graph/api/conditionalaccessroot-list-policies?view=graph-rest-1.0 (accessed Oct 30, 2026). · Microsoft Learn, "Create conditionalAccessPolicy," permissions and examples, https://learn.microsoft.com/graph/api/conditionalaccessroot-post-policies?view=graph-rest-1.0 (accessed Oct 30, 2026). · Microsoft Learn, "Update conditionalaccesspolicy," https://learn.microsoft.com/graph/api/conditionalaccesspolicy-update?view=graph-rest-1.0 (accessed Oct 30, 2026). · Microsoft Learn, "List namedLocations," https://learn.microsoft.com/graph/api/conditionalaccessroot-list-namedlocations?view=graph-rest-1.0 (accessed Oct 30, 2026). · Microsoft Learn, "Create namedLocation," https://learn.microsoft.com/graph/api/conditionalaccessroot-post-namedlocations?view=graph-rest-1.0 (accessed Oct 30, 2026). · Microsoft Learn, "Update ipNamedlocation," https://learn.microsoft.com/graph/api/ipnamedlocation-update?view=graph-rest-1.0 (accessed Oct 30, 2026).
Workbook: Building Non-Person Identity, Chapter 08 — “The context the code depends on”; “Which cloud, for these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program's design comes from Book 4: two policies. One blocks workloads from anywhere except their named egress ranges. The other blocks them when Microsoft's risk detection marks them high. They roll out report-only first, then ring by ring, and they're never deleted on rollback. Two decisions frame it. The licensing decision covers the top-tier single-tenant apps. The enforcement decision is the security chief's: enforce, wait longer, or enforce with dated exclusions. And don't worry when the risk policy reports nothing; that's normal until something is actually risky.
Detail: The program's two policies are Book 04's Wave 4: CA015-ServiceAccounts-LocationRestriction blocks workload identities, assigned directly, from any location except NL-WorkloadEgress, and CA037-WorkloadIdentities-HighRisk-Block blocks them at high service principal risk (Book 04, Chapter 07); Appendix A has CA015's JSON. Book 04's rollout rule applies: report-only first, then rings, never deleted on rollback. Licensing, D-N4: Workload ID Premium is a standalone product, not part of other premium plans. Only workload identities eligible for premium features need licenses; license assignment isn't required, and one license in the tenant unlocks the features. Conditional Access for workload identities covers single-tenant applications; ID Protection covers single-tenant and multitenant apps; Microsoft apps and managed identities are eligible for neither. The plan's decision D-N4 licenses the single-tenant service principals classified Tier 1 in Book 04, Chapter 06, Book 04's position. The scope file records D-N4, and the check fails without it. Risk, CA037: ID Protection detects risk on workload identities from offline indicators (leaked credentials, suspicious sign-ins against a learned baseline, threat intelligence, an admin's confirmation of compromise and others); full risk details and risk-based controls need Workload Identities Premium, and managed identities aren't in scope. CA037 has nothing to act on until ID Protection raises a service principal's risk to high, so its report-only results are usually empty; that is expected, not a gap in the evidence. Enforcement, D-N5: the CISO's decision has three options: enforce; extend report-only; or enforce with named exclusions, each with an owner and an end date. Gate 5 then asks for "every Tier 1 single-tenant service principal assigned directly to the enforced location and risk policies; report-only results reviewed before enforcement; every out-of-scope identity (managed identities, multitenant and SaaS apps) recorded with the control that covers it instead." The code holds each of those as a file or a check.
Sources: Microsoft Learn, "Frequently asked questions about Microsoft Entra Workload ID," https://learn.microsoft.com/entra/workload-id/workload-identities-faqs (accessed Oct 30, 2026). · Microsoft Learn, "Securing workload identities" (Microsoft Entra ID Protection), https://learn.microsoft.com/entra/id-protection/concept-workload-identity-risk (accessed Oct 30, 2026).
Workbook: Building Non-Person Identity, Chapter 08 — “The context the code depends on” — the program's policies, D-N4, risk, D-N5.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Microsoft's starting point. Learn's page gives portal steps for both kinds of policy, says to save them report-only first, tells you where to read the results, and ends with one sample policy in JSON for the beta Graph endpoint. The repository searched Microsoft's sample repositories and found nothing else to start from. So the page is pinned, unmodified, with checked hashes and a weekly watch, and its one JSON block is extracted and sent to a fake Graph and to the program's own pre-merge check, exactly as if someone had committed it.
Detail: Learn's page Conditional Access for workload identities is Microsoft's procedure. It gives the admin center steps for a location-based policy and for a risk-based one, says to save either in report-only to estimate its effect, and says where report-only results appear: the service principal sign-ins in the admin center, and the Conditional Access insights and reporting workbook. It ends with "Sample JSON for location-based configuration using the Microsoft Graph beta endpoint." Learn's ID Protection page for workload identities explains the risk the risk-based policy acts on, and has no code. The repository's search on October 30, 2026 found no other Microsoft sample to start from: no microsoftgraph/* or Azure-Samples/* repository holds a workload identity Conditional Access policy, and the Create conditionalAccessPolicy page's examples don't target service principals. The pinned copy: examples/third_party/entra-workload-identity-ca-page: workload-identity.md from MicrosoftDocs/entra-docs at commit 7f78b50 (October 30, 2026), retrieved October 30, 2026, MIT for both. snapshot.json records each file's SHA-256, checked against the upstream git blob hashes; a unit test checks them, and the weekly source watch reports new commits to the page. Updating the copy is a reviewed pull request. Read-NpiWcaLearnSample extracts the page's one JSON block, unmodified. The tests send it to the fake Graph's create route and run the pre-merge check on it, as if it were a file in the repository. Nothing is sent to a tenant.
Sources: Microsoft Learn, "Conditional Access for workload identities," overview, implementation, roll back, sign-in logs, reference, https://learn.microsoft.com/entra/identity/conditional-access/workload-identity (accessed Oct 30, 2026). · Microsoft Learn, "Securing workload identities" (Microsoft Entra ID Protection), https://learn.microsoft.com/entra/id-protection/concept-workload-identity-risk (accessed Oct 30, 2026). · Microsoft Learn, "Create conditionalAccessPolicy," permissions and examples, https://learn.microsoft.com/graph/api/conditionalaccessroot-post-policies?view=graph-rest-1.0 (accessed Oct 30, 2026). · 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
Workbook: Building Non-Person Identity, Chapter 08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sample's shape is right, and the code keeps it as the model for the location policy. But the values aren't values. The state field is literally the text "enabled or disabled", and the service principal ID is a placeholder in brackets, so Graph refuses it outright. Worse, the easy ways to fill it in are dangerous. One option covers every service principal in the tenant, reviewed or not. Another trusts every network you've marked trusted for people, too. The code allows only reviewed object IDs and one dedicated, untrusted named location.
Detail: Each row is pinned by a test in tests/NpiWorkloadCa.Tests.ps1: the first block for Learn's sample as published, the others for the example. Targets service principals through clientApplications, all resources, all locations but an excluded one, block: kept as the model; CA015 has the same shape. Labeled for the Graph beta endpoint: the v1.0 condition set has clientApplications and servicePrincipalRiskLevels; the code writes v1.0 (research gaps, row 71). state and the IDs are display text ("enabled OR disabled OR …", "[Service principal Object ID]"): not a value Graph accepts; the fake refuses it with 400, as Graph's state values allow; every value comes from a reviewed file; NPI-WCA-07 fails any state other than report-only in a file. Offers ServicePrincipalsInMyTenant: sweeps in every service principal, Tier 1 or not, and nobody reviewed the list; NPI-WCA-01: only the ring's object IDs from the scope file. Offers AllTrusted as the allowed location: trusts every network marked trusted for users, too; NPI-WCA-08: only the NL-WorkloadEgress named location, kept untrusted.
Sources: Microsoft Learn, "Conditional Access for workload identities," overview, implementation, roll back, sign-in logs, reference, https://learn.microsoft.com/entra/identity/conditional-access/workload-identity (accessed Oct 30, 2026). · Microsoft Learn, "conditionalAccessConditionSet resource type," https://learn.microsoft.com/graph/api/resources/conditionalaccessconditionset?view=graph-rest-1.0 (accessed Oct 30, 2026). · Microsoft Learn, "conditionalAccessClientApplications resource type," https://learn.microsoft.com/graph/api/resources/conditionalaccessclientapplications?view=graph-rest-1.0 (accessed Oct 30, 2026).
Workbook: Building Non-Person Identity, Chapter 08 — “What it leaves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what a program needs around one policy. A field the stable API marks required is missing. There's no JSON at all for the risk policy. The results live only in the admin center, where a pipeline can't keep them as evidence. There's no record of who's in scope, who's out, and why. And there are no rings and no alert, so enforcement is all or nothing and nobody hears about a block. So the verdict: keep the sample's shape, and don't create it as published.
Detail: No clientAppTypes: v1.0 marks it required; the files set ["all"], as Appendix A does (research gaps, row 72). Location only; the risk policy is admin center steps: CA037 has no published JSON; CA037 as a reviewed file with servicePrincipalRiskLevels: ["high"]. Report-only results read in the admin center: nothing a pipeline can keep as evidence; the beta sign-in reader and a per-principal summary with its SHA-256. One policy, no scope beyond the IDs typed in: no record of who is in, who is out, and why; the scope file: Tier 1, rings, egress ranges, the out-of-scope identities with their controls, D-N4 and D-N5. No rings, no alert: enforcement is all or nothing, and nobody hears about a block; per-ring policies, enforcement only with -AllowEnforce after D-N5, and the block alert definition. The verdict: keep Learn's JSON as the model for CA015's shape. Don't create it as published: Graph would refuse it, and with its placeholders filled the easy way it would cover every service principal in the tenant and trust every trusted network.
Sources: Microsoft Learn, "conditionalAccessConditionSet resource type," https://learn.microsoft.com/graph/api/resources/conditionalaccessconditionset?view=graph-rest-1.0 (accessed Oct 30, 2026). · Microsoft Learn, "Conditional Access for workload identities," overview, implementation, roll back, sign-in logs, reference, https://learn.microsoft.com/entra/identity/conditional-access/workload-identity (accessed Oct 30, 2026).
Workbook: Building Non-Person Identity, Chapter 08 — “What it leaves to you”, rows 6–10;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code add? Its own module, building on Chapter 1's core, and unlike the earlier read paths, this one can write Conditional Access, so it's careful about how. The two policies, the named location and the alert are reviewed files. The scope file is the record Gate 5 asks for: who's in, by object ID and ring, who's out and what covers them instead, and the decisions. Each policy is rendered once per ring, so enforcing one ring changes one policy and leaves the next one in report-only.
Detail: This chapter adds its own module, powershell/NpiWorkloadCa, which imports Chapter 01's NpiCore for the cloud table, the host check and the run manifest's helpers. It adds its own call list config/calls-ch08.json, the reviewed files in workload-ca/, the entry script Invoke-NpiWorkloadCa.ps1, and fixtures in tests/fixtures/ch08/. Unlike Chapters 01 and 02's read paths, it can write Conditional Access. Design guidance: it writes only as the wca-apply task, creates every new policy report-only, enforces a ring only with -AllowEnforce after D-N5, and has no delete. Files: workload-ca/policies/CA015-ServiceAccounts-LocationRestriction.json (identity engineering): Book 04's CA015: {scope:ring} in includeServicePrincipals, {location:NL-WorkloadEgress} excluded, all resources, all client app types, block, report-only. workload-ca/policies/CA037-WorkloadIdentities-HighRisk-Block.json (identity engineering): Book 04's CA037: the same targeting, servicePrincipalRiskLevels: ["high"], block, report-only. workload-ca/locations/NL-WorkloadEgress.json (identity engineering): an untrusted ipNamedLocation; its ranges come from the scope. workload-ca/alerts/NPI-WCA-BlockAlert.json (security operations): the block alert definition. The scope file (tests/fixtures/ch08/scope.json in Lab 1), kept by the identity governance officer with application owners: tenant and cloud; the D-N4 record; the egress ranges; the rings; each in-scope service principal by object ID with its tier, type, audience, ring and record; each out-of-scope identity with its class, the control that covers it and who reviewed it; the enforcement record (D-N5, the rings marked, each ring's reviewed sign-in summary, dated exclusions). The fixture's egress ranges are documentation ranges (192.0.2.0/28, 198.51.100.32/29, 2001:db8:10::/48). A real tenant keeps its scope file with its decision records, and every change to it is a reviewed pull request. One policy per ring (design guidance): each template is rendered once per ring, named &lt;template&gt;-&lt;ring&gt;, with that ring's object IDs. Enforcing a ring changes one policy's state and leaves the next ring in report-only. Book 04 names one CA015 and one CA037; the suffix is the program's (research gaps, row 78).
Sources: Building Non-Person Identity, Chapter 08, docs/project-plans/developer-workbooks/non-person-identity/08-conditional-access-for-workload-identities.md
Workbook: Building Non-Person Identity, Chapter 08 — “The code”; “The files”; “One policy per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checks: one reads only files and runs on every pull request, the other runs against the tenant on every plan. Most of the nine rules come straight from Learn's limits: assign by object ID, never by group; no managed identities; single-tenant apps only; and an object ID that really is the enterprise application. The program adds its own: the licensing decision must be recorded, every policy file stays report-only and block-only, egress ranges stay narrow, and enforcement needs the security chief's decision and a reviewed sign-in summary.
Detail: Test-NpiWcaRepository reads files only, and runs in the pull request pipeline. Test-NpiWcaTenantScope runs the rules that need the tenant on every plan. NPI-WCA-01 Finding: a policy that targets users, groups or roles, a filter, ServicePrincipalsInMyTenant or text instead of the ring's object IDs (Learn: a group isn't enforced; assign directly). NPI-WCA-02 Finding: a managed identity in scope, in the file or in the tenant (Learn). NPI-WCA-03 Finding: a service principal in scope that isn't an application registered in this tenant and single-tenant (Learn). NPI-WCA-04 Finding; Warn: an in-scope object ID that isn't a service principal here (an app registration's object ID, say) or whose appId differs (Finding); one that is disabled (Warn) (Learn: the registration's object ID can't be used). NPI-WCA-05 Finding: no D-N4 record; a principal that isn't Tier 1; an unknown ring; a duplicate (Learn: Premium to create or modify; D-N4, design guidance). NPI-WCA-06 Finding; Info: an out-of-scope record with no control, reviewer or date, or a managed identity, multitenant, SaaS, agent or legacy service principal in the tenant with no record (Finding); an eligible single-tenant app that isn't Tier 1 (Info) (Gate 5). NPI-WCA-07 Finding: a policy file that isn't report-only, grants anything but block, doesn't target all resources, has no clientAppTypes: ["all"], or has neither a location nor a risk condition (Learn: block only; v1.0 condition set). NPI-WCA-08 Finding; Warn: an egress range that isn't CIDR or is broader than /16 (IPv4) or /32 (IPv6), or a policy that excludes anything but NL-WorkloadEgress (Finding); a named location marked trusted (Warn) (design guidance). NPI-WCA-09 Finding: a ring marked for enforcement with no D-N5 record or no reviewed sign-in summary, a ring enforced before an earlier one, an exclusion with no owner, reason or end date, or one that has ended (D-N5; Gate 5, design guidance). On the fixture scope and the repository's files the check passes with nothing to report, and the tenant check reports two Info: Legacy Reports and Build Pipeline are single-tenant and eligible, but not Tier 1, so D-N4 leaves them uncovered. Microsoft's own apps are recognized by the owner tenant IDs the scope lists (research gaps, row 76).
Sources: Microsoft Learn, "Conditional Access for workload identities," overview, implementation, roll back, sign-in logs, reference, https://learn.microsoft.com/entra/identity/conditional-access/workload-identity (accessed Oct 30, 2026). · Microsoft Learn, "conditionalAccessConditionSet resource type," https://learn.microsoft.com/graph/api/resources/conditionalaccessconditionset?view=graph-rest-1.0 (accessed Oct 30, 2026).
Workbook: Building Non-Person Identity, Chapter 08 — “The pre-merge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compares the files with the tenant, property by property, and gives each policy one action. Two details matter. A new policy is always created report-only, even if its ring is approved for enforcement; it turns on in the next run. And a policy someone made by hand in the portal is reported, never deleted. Run as the read task, the client simply can't send a write. Run as the apply task, it refuses on any finding. Rollback follows Book 4: take the ring off the record, and its policies go back to report-only.
Detail: Get-NpiWcaTenant reads the tenant's policies and named locations: two GETs, every page, only on the cloud's own host. Get-NpiWcaPlan compares the files and scope with the tenant, property by property and only on the properties the files set, with lists compared as sets. The named location comes first, because CA015 excludes it by ID. Create: not in the tenant; a policy is always created report-only, whatever its ring's state. Update: differs; the PATCH carries only the changed top-level properties. NoChange: matches. Blocked: a CA015 policy whose named location doesn't exist yet; the next run creates it. Held: the ring is marked for enforcement, but this run may not enforce it. NotInRepository: a workload identity policy in the tenant that no file names: reported, never deleted. Invoke-NpiWcaPlan turns the plan into requests. As the read task it returns them with Sent false, and its client can't send a write. As wca-apply it refuses to start if the pre-merge or tenant check has a Finding, refuses to create a policy that isn't report-only or assigns anything but object IDs, and refuses to enable a policy the plan didn't mark as an allowed enforcement. Policies are matched by display name. Rollback follows Book 04: remove the ring from the enforcement record and apply, and its policies go back to report-only; Learn's own rollback says to delete or disable the policies, and this code does neither by itself. Where Learn's pages differ: Learn's page says to delete or disable the policies; Book 04 says never delete during a rollback. The code follows Book 04, the stricter.
Sources: Microsoft Learn, "Conditional Access for workload identities," overview, implementation, roll back, sign-in logs, reference, https://learn.microsoft.com/entra/identity/conditional-access/workload-identity (accessed Oct 30, 2026).
Workbook: Building Non-Person Identity, Chapter 08 — “The plan, the dry run and the writes”; “Verified facts” —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a policy on is the moment a production job can stop, so the code asks for five things at once, or the ring stays held in report-only with the reason written down. The security chief's decision must mark the ring. The change must explicitly allow enforcement. A reviewed sign-in summary must be cited by its hash. That summary must show the ring ready. And every earlier ring must already be enforced. Exclusions are allowed, but each one has an owner, a reason and an end date, and it drops out by itself when that date arrives.
Detail: Get-NpiWcaEnforcement decides, for each ring, whether this run may set its policies to enabled. All of these must hold, or the ring is Held in report-only with the reason: 1 The scope's enforcement record marks the ring, under a D-N5 record whose outcome is Enforce or EnforceWithExclusions, with who decided and when. 2 The run was given -AllowEnforce, in the change that enforces it. 3 -SignInSummaryPath names a sign-in summary whose SHA-256 is the one the ring's record cites, with its reviewer and date: the report-only results were reviewed before enforcement, as Gate 5 asks. 4 That summary shows the ring ready. 5 Every earlier ring is enforced. A policy created on the run that enforces its ring is still created report-only, and turns on in the next run. Exclusions are D-N5's third option: each names a principal of the ring, an owner, a reason and an end date, goes into excludeServicePrincipals for that ring's policies, and drops out on its end date.
Sources: Building Non-Person Identity, Chapter 08, docs/project-plans/developer-workbooks/non-person-identity/08-conditional-access-for-workload-identities.md
Workbook: Building Non-Person Identity, Chapter 08 — “Enforcement, ring by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comes from the service principal sign-in logs, and there are three traps. Without the right filter you only get interactive sign-ins. Without a Conditional Access read permission, the policy results are silently left out. And without a special request header, the report-only results come back as an unknown value. The reader handles all three, and throws rather than guessing. It gives each principal a status, and a ring is ready when everyone's clear for two weeks. Once enforced, a block alert goes to security operations.
Detail: Learn's List signIns returns only interactive sign-ins unless the filter names an event type, and gives the filter for service principal sign-ins: a time range and signInEventTypes/any(t: t eq 'servicePrincipal'). That filter is on the beta endpoint (research gaps, row 73). The appliedConditionalAccessPolicies property is omitted unless the caller can read Conditional Access data: an app needs Policy.Read.All, Policy.Read.ConditionalAccess or Policy.ReadWrite.ConditionalAccess. And the report-only results (reportOnlySuccess, reportOnlyFailure, reportOnlyNotApplied, reportOnlyInterrupted) are members of an evolvable enumeration that comes back only with the request header Prefer: include-unknown-enum-members. Get-NpiWcaSignIn sends that filter with that header, follows every page, and throws if any result still comes back as unknownFutureValue. Get-NpiWcaSignInSummary keeps only service principal sign-ins, and for each in-scope principal records its sign-ins, the results our CA015 and CA037 policies recorded, the addresses outside the reviewed egress ranges, and any block (53003, BlockedByConditionalAccess). Status: NoSignIns, nothing in the window: nothing to judge; NotEvaluated, sign-ins, but no result from our policies yet (the ring's policy wasn't there); WouldBlock, a report-only failure, a block, or an address outside the egress ranges; Clear, evaluated by our policies, with nothing that would block. A ring is ready when every principal is Clear and the window is at least 14 days. Design guidance: Book 04 asks for at least two weeks of report-only for the risk wave, and the code applies the same to CA015 (research gaps, row 79). The summary holds no user data: service principal sign-ins only, by object ID and address. The same sign-ins give the same file, byte for byte, so the reviewer approves a hash and the enforcement record cites it. The block alert: N5.3 asks for block events alerted to security operations. New-NpiWcaAlertRule renders workload-ca/alerts/NPI-WCA-BlockAlert.json with the in-scope object IDs: a log search over AADServicePrincipalSignInLogs for result 53003, every five minutes over fifteen, severity 1, to the security operations action group. The table has ServicePrincipalId, AppId, IPAddress, ConditionalAccessStatus and ConditionalAccessPolicies columns. Design guidance: the definition is written to the run folder for a reviewed deployment as a log search alert rule; this code doesn't write to Azure Monitor, and the sign-in logs have to reach a Log Analytics workspace first (research gaps, row 77). Each alert is triaged as a possible stolen credential or a workload that moved, and the application owner is told the same day.
Sources: Microsoft Learn, "List signIns" (beta), permissions and optional query parameters, https://learn.microsoft.com/graph/api/signin-list?view=graph-rest-beta (accessed Oct 30, 2026). · Microsoft Learn, "appliedConditionalAccessPolicy resource type" (beta), https://learn.microsoft.com/graph/api/resources/appliedconditionalaccesspolicy?view=graph-rest-beta (accessed Oct 30, 2026). · Microsoft Learn, "Microsoft Entra authentication and authorization error codes," AADSTS53003, https://learn.microsoft.com/entra/identity-platform/reference-error-codes, and "Troubleshoot sign-in problems with Conditional Access," https://learn.microsoft.com/entra/identity/conditional-access/troubleshoot-conditional-access (accessed Oct 30, 2026). · Microsoft Learn, "AADServicePrincipalSignInLogs" (Azure Monitor Logs reference), https://learn.microsoft.com/azure/azure-monitor/reference/tables/aadserviceprincipalsigninlogs (accessed Oct 30, 2026). · Microsoft Learn, "Queries for the AADServicePrincipalSignInLogs table," https://learn.microsoft.com/azure/azure-monitor/reference/queries/aadserviceprincipalsigninlogs (accessed Oct 30, 2026). · Microsoft Learn, "Create or edit a log search alert rule," https://learn.microsoft.com/azure/azure-monitor/alerts/alerts-create-log-alert-rule (accessed Oct 30, 2026).
Workbook: Building Non-Person Identity, Chapter 08 — “The sign-in reader”; “The block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it. Identity engineers own the policies. Application owners have workloads in scope, and the security officer and security operations review results and receive the alert. Three tasks split the permissions. Reading needs only policy and application read. Reading sign-ins needs the audit log permission plus the narrowest of the three ways to see policy results; Learn doesn't rank them, so the chapter picked by name. Only the apply task holds the write permission, and a test keeps every task's permissions equal to its calls, with no delete anywhere.
Detail: Audience: developers who build the project's Conditional Access code, the identity engineers who own the policies, the application owners whose workloads are in scope, and the ISSO and security operations staff who review the results. You should read PowerShell 7 and the Graph conditionalAccessPolicy JSON, and know Chapter 01's register. You don't need a tenant until Lab 2. wca-read: list policies; list named locations; get and list service principals; Policy.Read.All, Application.Read.All; Global Reader or Security Reader. wca-signins: list signIns (beta); AuditLog.Read.All, Policy.Read.ConditionalAccess; Global Reader, Reports Reader, Security Reader, Security Operator or Security Administrator. wca-apply: the reads; create and update policies; create and update the named location; Policy.Read.All and Policy.ReadWrite.ConditionalAccess, Application.Read.All; Conditional Access Administrator or Security Administrator. Policy.Read.ConditionalAccess is the narrowest of the three permissions Learn lists for reading the Conditional Access results in sign-ins; Learn's page doesn't rank them (research gaps, row 74). A test keeps each task's permissions equal to the union of its calls, and no call is a DELETE. Verified facts: list named locations also lists Security Administrator, Conditional Access Administrator and Global Secure Access Administrator; create a named location needs Security Administrator or Conditional Access Administrator, the @odata.type of the derived type, and IPv4 CIDR or IPv6 ranges; update an ipNamedLocation needs the same.
Sources: Microsoft Learn, "List policies" (conditionalAccessRoot), https://learn.microsoft.com/graph/api/conditionalaccessroot-list-policies?view=graph-rest-1.0 (accessed Oct 30, 2026). · Microsoft Learn, "List namedLocations," https://learn.microsoft.com/graph/api/conditionalaccessroot-list-namedlocations?view=graph-rest-1.0 (accessed Oct 30, 2026). · Microsoft Learn, "Get servicePrincipal," https://learn.microsoft.com/graph/api/serviceprincipal-get?view=graph-rest-1.0 (accessed Oct 30, 2026); declared for the same call in Chapter 01's call list. · Microsoft Learn, "List servicePrincipals," permissions, https://learn.microsoft.com/graph/api/serviceprincipal-list?view=graph-rest-1.0 (accessed Oct 30, 2026). · Microsoft Learn, "List signIns" (beta), permissions and optional query parameters, https://learn.microsoft.com/graph/api/signin-list?view=graph-rest-beta (accessed Oct 30, 2026). · Microsoft Learn, "Create conditionalAccessPolicy," permissions and examples, https://learn.microsoft.com/graph/api/conditionalaccessroot-post-policies?view=graph-rest-1.0 (accessed Oct 30, 2026). · Microsoft Learn, "Update conditionalaccesspolicy," https://learn.microsoft.com/graph/api/conditionalaccesspolicy-update?view=graph-rest-1.0 (accessed Oct 30, 2026). · Microsoft Learn, "Create namedLocation," https://learn.microsoft.com/graph/api/conditionalaccessroot-post-namedlocations?view=graph-rest-1.0 (accessed Oct 30, 2026). · Microsoft Learn, "Update ipNamedlocation," https://learn.microsoft.com/graph/api/ipnamedlocation-update?view=graph-rest-1.0 (accessed Oct 30, 2026).
Workbook: Building Non-Person Identity, Chapter 08 — “Goal and audience”; “Least privilege”.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the fixture's date fixed at the end of October. First you run the tests on Learn's sample as published, and read the one where the fake Graph refuses it, because its state is just display text. Then list what each task needs. Then run the pre-merge check on the repository's own files, which passes cleanly; a finding would fail the pipeline. And then the instructive step: run the same check on Learn's sample, and it reports five findings, one for each of the dangers we walked through earlier.
Detail: You need PowerShell 7.1 or later with Pester 5. Work in examples/non-person-identity. The dates are the fixture's: the run is "as of" October 30, 2026. Step 1, check Learn's sample and page as published: Invoke-Pester -Path tests/NpiWorkloadCa.Tests.ps1 -FullNameFilter '*(Learn), run as published*' -Output None -PassThru | Select-Object PassedCount, FailedCount, NotRunCount gives PassedCount 9, FailedCount 0, NotRunCount 39. Read the test that posts the sample to the fake: it answers 400, because the sample's state is display text. Step 2, list what each task needs: Import-Module ./powershell/NpiWorkloadCa/NpiWorkloadCa.psm1; wca-read: Application.Read.All, Policy.Read.All; wca-signins: AuditLog.Read.All, Policy.Read.ConditionalAccess; wca-apply: Application.Read.All, Policy.Read.All, Policy.ReadWrite.ConditionalAccess. Step 3, run the pre-merge check on the files and the fixture scope: ./Invoke-NpiWorkloadCa.ps1 -Mode Check -ScopePath tests/fixtures/ch08/scope.json gives Pre-merge check: 0 Finding, 0 Warn, 0 Info. A Finding prints its rule and object and exits with code 1, which fails the pipeline. Step 4, run the same check on Learn's sample: Test-NpiWcaPolicyBody -Body (Read-NpiWcaLearnSample -Path ../third_party/entra-workload-identity-ca-page/workload-identity.md) -EgressName NL-WorkloadEgress -Name learn-sample | Format-Table Rule, Severity. Five Findings: NPI-WCA-01 twice (the text in includeServicePrincipals, with ServicePrincipalsInMyTenant, and in excludeServicePrincipals), NPI-WCA-07 twice (the display-text state, no clientAppTypes) and NPI-WCA-08 (AllTrusted offered in excludeLocations). The commands check Learn's pinned sample and the repository's files, and plan against a fictional tenant served by a fake; they show what the code does, not that a tenant accepts the same JSON.
Sources: Building Non-Person Identity, Chapter 08, docs/project-plans/developer-workbooks/non-person-identity/08-conditional-access-for-workload-identities.md
Workbook: Building Non-Person Identity, Chapter 08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plan against the fictional tenant, sending nothing. The named location is missing its IPv6 range, so it's an update. Ring 1's location policy already exists and matches. Three policies are new. And a policy someone made in the portal, covering every service principal, is reported but left alone. Then read the sign-ins. Ring 1 is clear and ready. In Ring 2, a deploy bot signed in from an address outside the egress ranges, so it would be blocked, and that ring isn't ready. Notice that no user sign-ins come back at all.
Detail: Step 5, check the scope against the fictional tenant and plan, sending nothing: ./Invoke-NpiWorkloadCa.ps1 -Mode Plan -Cloud gcc -ScopePath tests/fixtures/ch08/scope.json -FixturePath tests/fixtures/ch08/tenant.json -OutputPath out/wca. Output: Checks: 0 Finding, 0 Warn, 2 Info. Plan: 3 Create, 1 NoChange, 1 NotInRepository, 1 Update. Dry run: 4 request(s) written to requests.json, none sent; rerun with -Apply to send them. location NL-WorkloadEgress Update; policy CA015-ServiceAccounts-LocationRestriction-Ring1 NoChange; policy CA037-WorkloadIdentities-HighRisk-Block-Ring1 Create; policy CA015-ServiceAccounts-LocationRestriction-Ring2 Create; policy CA037-WorkloadIdentities-HighRisk-Block-Ring2 Create; policy Workloads - block outside office (made in the portal) NotInRepository. The named location lacks the IPv6 range, so it is Update. Ring 1's CA015 already exists, report-only, and matches. The portal-made policy that targets ServicePrincipalsInMyTenant is reported and left alone. The two Info are Legacy Reports and Build Pipeline, eligible but not Tier 1. manifest.json lists fourteen GETs and no write. Step 6, read the service principal sign-ins and summarize them: ./Invoke-NpiWorkloadCa.ps1 -Mode SignIns -Cloud gcc -ScopePath tests/fixtures/ch08/scope.json -FixturePath tests/fixtures/ch08/tenant.json -From 2026-10-12 -To 2026-10-30T12:00:00 -OutputPath out/wca-signins. Output: Service principal sign-ins 2026-10-12T00:00:00Z to 2026-10-30T12:00:00Z (18 days): 6 read. Ring1: ready for enforcement: Mail Automation Clear, sign-ins 1; Payroll Export Clear, sign-ins 2. Ring2: not ready: Deploy Bot WouldBlock, sign-ins 2, outside the egress ranges: 203.0.113.7; HR Connector NoSignIns, sign-ins 0. Summary SHA-256: d7767949b75e1e5d3f6a6bef6501eb7de8e98ddd8a9f22e1eb82698969d8752e. The fixture's interactive user sign-in and its managed identity sign-in never come back: the filter asks for service principals only. Partner CRM's sign-in is counted as another service principal's, not judged. The hash is the same on every run with these inputs.
Sources: Building Non-Person Identity, Chapter 08, docs/project-plans/developer-workbooks/non-person-identity/08-conditional-access-for-workload-identities.md
Workbook: Building Non-Person Identity, Chapter 08 — “Lab 1: fixtures, no tenant,” steps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apply the plan to the fake, twice. The first run sends four requests, and the second sends none, because everything already matches; and every workload policy is report-only, while an unrelated user policy is untouched. Then try to enforce Ring 1. Record the decision and the summary's hash, and plan without the enforcement switch: the ring is held, with the reason. Add the switch and the summary, and the location policy turns on, while the brand-new risk policy waits for the next run. Change one byte of the summary, and it's held again.
Detail: Step 7, apply against the fake, twice: read the scope and repository, create a fixture invoker, run Test-NpiWcaRepository, then twice create a wca-apply client, build the plan with Get-NpiWcaPlan (with Get-NpiWcaTenant and Get-NpiWcaEnforcement) and run Invoke-NpiWcaPlan. Output: Run 1: 4 sent, Run 2: 0 sent, then every CA015 and CA037 policy enabledForReportingButNotEnforced. CA001, a user policy, is untouched. Step 8, try to enforce Ring 1: record D-N5 and the reviewed summary's hash in a copy of the scope ($sha from Get-FileHash of out/wca-signins/signin-summary.json; enforcement = decision D-N5, outcome Enforce, decidedBy CISO, decidedOn 2026-10-30; rings: Ring1, enforce true, signInReview $sha, reviewedBy ISSO, reviewedOn 2026-10-30; exclusions empty), written to out/scope-ring1.json, then plan without and with -AllowEnforce -SignInSummaryPath out/wca-signins/signin-summary.json. The first plan shows Plan: 3 Create, 1 Held, 1 NotInRepository, 1 Update: Ring 1's CA015 is Held, "needs -AllowEnforce in the change that enforces it." The second shows Plan: 3 Create, 1 NotInRepository, 2 Update: CA015-Ring1 goes from report-only to enabled "under D-N5 (2026-10-30)", CA037-Ring1 is created report-only to be enforced on the next run, and Ring 2 stays report-only. Change one byte of the summary and the second plan holds Ring 1 again. Step 9, read the alert definition: (Get-Content out/wca/alert-rule.json -Raw | ConvertFrom-Json).query: a query over AADServicePrincipalSignInLogs for tostring(ResultType) == "53003" and the four in-scope object IDs. Step 10, Invoke-Pester -Path tests. Expected result: 513 tests passing, and each row of the gap table seen with your own eyes. Delete out when you're done. The chapter's tests are the 48 in tests/NpiWorkloadCa.Tests.ps1: 9 on Learn's sample and page as published, then the call list, the clouds and hosts, each rule on the files and on a file changed in memory, the tenant check, the plan, the dry run and the applies against the fake, the refusals, enforcement ring by ring, the sign-in reader and its summary, the alert, and the entry script's manifest and exit code. With Chapters 01 and 02, 145 Pester tests pass under PowerShell 7, with no module, tenant or network.
Sources: Microsoft Learn, "Queries for the AADServicePrincipalSignInLogs table," https://learn.microsoft.com/azure/azure-monitor/reference/queries/aadserviceprincipalsigninlogs (accessed Oct 30, 2026).
Workbook: Building Non-Person Identity, Chapter 08 — “Lab 1: fixtures, no tenant,” steps 7–10;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with a Premium trial, never production. You write a scope with one test app, by its enterprise application ID, and an egress range of exactly one address. A reading app plans with read permissions only. Then you add the write permission, apply twice, and confirm everything landed report-only. Generate sign-ins from inside and outside the range, and read them with a separate reader. After two clear weeks, enforce Ring 1 in its own change, and watch the outside sign-in get blocked. Then back it all out.
Detail: Use a test tenant in the worldwide or GCC cloud, never production, with a Workload Identities Premium trial or license (Learn: the trial isn't offered in the Azure Government clouds). You need one test app registration with a certificate and a host whose public egress address you know. 1 Write the scope: copy tests/fixtures/ch08/scope.json; set the tenant ID; put the test app's enterprise application object ID in inScope, in Ring1 (Learn: not the app registration's); set the egress ranges to the test host's address as a /32; record D-N4; record the tenant's managed identities and multitenant apps in outOfScope, and Microsoft's owner tenant ID in microsoftOwnerTenantIds (research gaps, row 76). 2 Register the reading app in the admin center with a certificate, and grant only Application.Read.All and Policy.Read.All, with admin consent. 3 Plan, sending nothing: Connect-MgGraph -Environment Global -TenantId &lt;tenant-id&gt; -ClientId &lt;app-id&gt; -CertificateThumbprint &lt;thumbprint&gt;; ./Invoke-NpiWorkloadCa.ps1 -Mode Check -ScopePath my-scope.json; ./Invoke-NpiWorkloadCa.ps1 -Mode Plan -Cloud gcc -ScopePath my-scope.json -OutputPath out/wca-test. The tenant check should report no Finding. Read plan.json and requests.json. 4 Apply, report-only: add Policy.ReadWrite.ConditionalAccess to the app, reconnect, and run step 3's plan with -Apply, then once more. Confirm in the admin center that the named location is untrusted and every new policy is Report-only, and record whether Graph v1.0 accepted the policies with clientApplications (research gaps, rows 71 and 72). 5 Generate sign-ins and read them: have the test app get a token with its certificate from the egress host, and once from another network. After the logs catch up, register a separate reading app with only AuditLog.Read.All and Policy.Read.ConditionalAccess (or sign in as a Security Reader), and run -Mode SignIns over the window. Confirm that the sign-in from the egress host shows reportOnlyNotApplied for CA015-Ring1 and the other reportOnlyFailure, and that appliedConditionalAccessPolicies came back with that permission (research gaps, rows 74 and 79). Compare with the admin center's service principal sign-ins and their Report-only tab. 6 Enforce Ring 1 in a separate change: after at least 14 days with the ring Clear, have a reviewer record the summary's SHA-256 and D-N5 in the scope, and run with -Apply -AllowEnforce -SignInSummaryPath &lt;summary&gt;, twice. Get a token from the other network again: it should fail with AADSTS53003, "Access has been blocked by Conditional Access policies," and, if the sign-in logs reach a test Log Analytics workspace, the query in alert-rule.json should return it (row 77). 7 Back it out: remove Ring 1 from the enforcement record and run with -Apply: both policies return to report-only. Then set both to Off in the admin center, or delete them by hand in the test tenant (the code never deletes). Delete the named location, remove Policy.ReadWrite.ConditionalAccess, delete the apps and their certificates, and delete the out folders.
Sources: Microsoft Learn, "Conditional Access for workload identities," overview, implementation, roll back, sign-in logs, reference, https://learn.microsoft.com/entra/identity/conditional-access/workload-identity (accessed Oct 30, 2026). · Microsoft Learn, "Frequently asked questions about Microsoft Entra Workload ID," https://learn.microsoft.com/entra/workload-id/workload-identities-faqs (accessed Oct 30, 2026). · Microsoft Learn, "Microsoft Entra authentication and authorization error codes," AADSTS53003, https://learn.microsoft.com/entra/identity-platform/reference-error-codes, and "Troubleshoot sign-in problems with Conditional Access," https://learn.microsoft.com/entra/identity/conditional-access/troubleshoot-conditional-access (accessed Oct 30, 2026).
Workbook: Building Non-Person Identity, Chapter 08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of these dangers are quiet ones: a policy that looks configured and enforces nothing, because the app was assigned through a group, or by the registration's ID instead of the enterprise app's. Others are loud: switching a policy straight on, so a workload that moved stops at once. And some hide in the evidence: report-only results that never came back, so the summary looks clean, or a block nobody hears about. Then the slow ones: a lapsed license, so a fix can't ship, and a write permission left lying around. Each has a guard.
Detail: A service principal assigned through a group: the policy reports as configured and enforces nothing for it; guard: NPI-WCA-01; only object IDs from the scope file reach includeServicePrincipals; -Apply refuses anything else. An app registration's object ID in scope: the policy targets nothing; guard: NPI-WCA-04 from the tenant check. ServicePrincipalsInMyTenant or AllTrusted from Learn's sample: every workload, Tier 1 or not, blocked from anywhere but every trusted user network; guard: NPI-WCA-01 and NPI-WCA-08; the sample is a model, not a file. A managed identity or SaaS app assumed covered: Gate 5 passes on a control that doesn't exist; guard: NPI-WCA-02, -03 and -06: each recorded out of scope with the control that covers it. An egress range too broad, or the location marked trusted: the policy blocks nothing, or user policies trust workload networks; guard: NPI-WCA-08: CIDR, no broader than /16 or /32, untrusted. A policy switched straight to On: a workload that moved, or a range nobody listed, stops at once; guard: every create is report-only; enforcement needs D-N5, -AllowEnforce and a reviewed summary that shows the ring ready. Report-only results that were never returned: the summary looks clean because the results were dropped; guard: the Prefer header on every read; the reader throws on unknownFutureValue; Policy.Read.ConditionalAccess declared. An enforced block nobody hears about: a production job fails silently, or an attacker's attempt goes unnoticed; guard: the alert definition on 53003, reviewed and deployed with the enforcement. A pipeline that deletes a policy no file names: a portal-made policy, perhaps a needed one, disappears; guard: no DELETE in the call list; NotInRepository is reported only. A license that lapses: existing policies keep working but can't be changed, so a fix can't ship; guard: D-N4 recorded in the scope; NPI-WCA-05 fails without it. The write permission left on the app: a standing path to change every Conditional Access policy; guard: grant Policy.ReadWrite.ConditionalAccess only for -Apply runs, from the pipeline identity; Lab 2 removes it.
Sources: Microsoft Learn, "Conditional Access for workload identities," overview, implementation, roll back, sign-in logs, reference, https://learn.microsoft.com/entra/identity/conditional-access/workload-identity (accessed Oct 30, 2026).
Workbook: Building Non-Person Identity, Chapter 08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licensing decision is recorded. Every in-scope app is top-tier, single-tenant, listed by its enterprise application ID, in exactly one ring, and everything out of scope names the control that covers it instead. The egress location holds only the workload ranges and isn't trusted. Every policy started report-only. Each ring was enforced in its own change, on two clean weeks of reviewed evidence, with the alert already in place. Next, Chapter 9 takes on AI agent identities. Thanks for watching.
Detail: Checklist: D-N4 is recorded in the scope file, and the tenant holds Workload Identities Premium. Every in-scope service principal is Tier 1, single-tenant, an application registered here, listed by its enterprise application object ID, in exactly one ring. Every managed identity, multitenant, SaaS, agent and legacy service principal in the tenant has an out-of-scope record naming the control that covers it and who reviewed it. NL-WorkloadEgress holds only the workloads' egress ranges and is untrusted. The pre-merge check runs on every pull request that touches workload-ca/ or the scope file, and has no Finding. Every new policy appeared in the tenant as report-only, and every plan was read as a dry run first. Each ring's sign-in summary covers at least 14 days, shows every principal Clear, and its SHA-256 was recorded by a reviewer. Each enforcement was its own change, under D-N5, with -AllowEnforce, one ring at a time; every exclusion has an owner, a reason and an end date. The block alert is deployed to security operations before the first ring is enforced. The read app holds only the read permissions; the write permission exists only on the identity that applies. The pinned Learn page matches its manifest, and every upstream commit since the pin has been reviewed. Next: Chapter 09 — AI Agent Identities.
Sources: 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
Workbook: Building Non-Person Identity, Chapter 08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docs/project-plans/developer-workbooks/non-person-identity/08-conditional-access-for-workload-identities.md.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docs/project-plans/developer-workbooks/non-person-identity/08-conditional-access-for-workload-identities.md.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08: Conditional Access for Workload Identities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a place · Learn's sample and its gaps · scope, check, plan, rings, sign-ins, alert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workload Conditional Access can and can't do</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Block from outside known public IP ranges, on ID Protection risk, or with authentication contexts. Block is the only grant control.</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2112264"/>
            <a:ext cx="2606040" cy="1805940"/>
          </a:xfrm>
          <a:prstGeom prst="roundRect">
            <a:avLst>
              <a:gd name="adj" fmla="val 405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2112264"/>
            <a:ext cx="82296" cy="1805940"/>
          </a:xfrm>
          <a:prstGeom prst="rect">
            <a:avLst/>
          </a:prstGeom>
          <a:solidFill>
            <a:srgbClr val="B45309"/>
          </a:solidFill>
          <a:ln w="12700">
            <a:solidFill>
              <a:srgbClr val="B45309"/>
            </a:solidFill>
            <a:prstDash val="solid"/>
          </a:ln>
        </p:spPr>
      </p:sp>
      <p:sp>
        <p:nvSpPr>
          <p:cNvPr id="8" name="Card 1 text"/>
          <p:cNvSpPr txBox="1"/>
          <p:nvPr/>
        </p:nvSpPr>
        <p:spPr>
          <a:xfrm>
            <a:off x="777240" y="2249424"/>
            <a:ext cx="2240280" cy="15773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Licensing</a:t>
            </a:r>
            <a:endParaRPr lang="en-US" sz="1400" dirty="0"/>
          </a:p>
          <a:p>
            <a:pPr indent="0" marL="0">
              <a:spcAft>
                <a:spcPts val="300"/>
              </a:spcAft>
              <a:buNone/>
            </a:pPr>
            <a:r>
              <a:rPr lang="en-US" sz="1450" dirty="0">
                <a:solidFill>
                  <a:srgbClr val="334155"/>
                </a:solidFill>
              </a:rPr>
              <a:t>Workload Identities Premium to create or modify; without it, existing policies keep working but can't be changed</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3383280" y="2112264"/>
            <a:ext cx="2606040" cy="1805940"/>
          </a:xfrm>
          <a:prstGeom prst="roundRect">
            <a:avLst>
              <a:gd name="adj" fmla="val 405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3383280" y="2112264"/>
            <a:ext cx="82296" cy="1805940"/>
          </a:xfrm>
          <a:prstGeom prst="rect">
            <a:avLst/>
          </a:prstGeom>
          <a:solidFill>
            <a:srgbClr val="1F2A44"/>
          </a:solidFill>
          <a:ln w="12700">
            <a:solidFill>
              <a:srgbClr val="1F2A44"/>
            </a:solidFill>
            <a:prstDash val="solid"/>
          </a:ln>
        </p:spPr>
      </p:sp>
      <p:sp>
        <p:nvSpPr>
          <p:cNvPr id="11" name="Card 2 text"/>
          <p:cNvSpPr txBox="1"/>
          <p:nvPr/>
        </p:nvSpPr>
        <p:spPr>
          <a:xfrm>
            <a:off x="3611880" y="2249424"/>
            <a:ext cx="2240280" cy="15773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Single-tenant only</a:t>
            </a:r>
            <a:endParaRPr lang="en-US" sz="1400" dirty="0"/>
          </a:p>
          <a:p>
            <a:pPr indent="0" marL="0">
              <a:spcAft>
                <a:spcPts val="300"/>
              </a:spcAft>
              <a:buNone/>
            </a:pPr>
            <a:r>
              <a:rPr lang="en-US" sz="1450" dirty="0">
                <a:solidFill>
                  <a:srgbClr val="334155"/>
                </a:solidFill>
              </a:rPr>
              <a:t>Service principals registered in the tenant; Microsoft and SaaS apps, including multitenant ones, aren't covered</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6217920" y="2112264"/>
            <a:ext cx="2606040" cy="1805940"/>
          </a:xfrm>
          <a:prstGeom prst="roundRect">
            <a:avLst>
              <a:gd name="adj" fmla="val 405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6217920" y="2112264"/>
            <a:ext cx="82296" cy="1805940"/>
          </a:xfrm>
          <a:prstGeom prst="rect">
            <a:avLst/>
          </a:prstGeom>
          <a:solidFill>
            <a:srgbClr val="0F766E"/>
          </a:solidFill>
          <a:ln w="12700">
            <a:solidFill>
              <a:srgbClr val="0F766E"/>
            </a:solidFill>
            <a:prstDash val="solid"/>
          </a:ln>
        </p:spPr>
      </p:sp>
      <p:sp>
        <p:nvSpPr>
          <p:cNvPr id="14" name="Card 3 text"/>
          <p:cNvSpPr txBox="1"/>
          <p:nvPr/>
        </p:nvSpPr>
        <p:spPr>
          <a:xfrm>
            <a:off x="6446520" y="2249424"/>
            <a:ext cx="2240280" cy="15773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No managed identities</a:t>
            </a:r>
            <a:endParaRPr lang="en-US" sz="1400" dirty="0"/>
          </a:p>
          <a:p>
            <a:pPr indent="0" marL="0">
              <a:spcAft>
                <a:spcPts val="300"/>
              </a:spcAft>
              <a:buNone/>
            </a:pPr>
            <a:r>
              <a:rPr lang="en-US" sz="1450" dirty="0">
                <a:solidFill>
                  <a:srgbClr val="334155"/>
                </a:solidFill>
              </a:rPr>
              <a:t>Not covered; Learn suggests an access review instead</a:t>
            </a:r>
            <a:endParaRPr lang="en-US" sz="1400" dirty="0"/>
          </a:p>
        </p:txBody>
      </p:sp>
      <p:sp>
        <p:nvSpPr>
          <p:cNvPr id="15" name="Card 4" descr="">
            <a:extLst>
              <a:ext uri="{C183D7F6-B498-43B3-948B-1728B52AA6E4}">
                <adec:decorative xmlns:adec="http://schemas.microsoft.com/office/drawing/2017/decorative" val="1"/>
              </a:ext>
            </a:extLst>
          </p:cNvPr>
          <p:cNvSpPr/>
          <p:nvPr/>
        </p:nvSpPr>
        <p:spPr>
          <a:xfrm>
            <a:off x="9052560" y="2112264"/>
            <a:ext cx="2606040" cy="1805940"/>
          </a:xfrm>
          <a:prstGeom prst="roundRect">
            <a:avLst>
              <a:gd name="adj" fmla="val 405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Card 4 bar" descr="">
            <a:extLst>
              <a:ext uri="{C183D7F6-B498-43B3-948B-1728B52AA6E4}">
                <adec:decorative xmlns:adec="http://schemas.microsoft.com/office/drawing/2017/decorative" val="1"/>
              </a:ext>
            </a:extLst>
          </p:cNvPr>
          <p:cNvSpPr/>
          <p:nvPr/>
        </p:nvSpPr>
        <p:spPr>
          <a:xfrm>
            <a:off x="9052560" y="2112264"/>
            <a:ext cx="82296" cy="1805940"/>
          </a:xfrm>
          <a:prstGeom prst="rect">
            <a:avLst/>
          </a:prstGeom>
          <a:solidFill>
            <a:srgbClr val="B91C1C"/>
          </a:solidFill>
          <a:ln w="12700">
            <a:solidFill>
              <a:srgbClr val="B91C1C"/>
            </a:solidFill>
            <a:prstDash val="solid"/>
          </a:ln>
        </p:spPr>
      </p:sp>
      <p:sp>
        <p:nvSpPr>
          <p:cNvPr id="17" name="Card 4 text"/>
          <p:cNvSpPr txBox="1"/>
          <p:nvPr/>
        </p:nvSpPr>
        <p:spPr>
          <a:xfrm>
            <a:off x="9281160" y="2249424"/>
            <a:ext cx="2240280" cy="157734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Direct assignment</a:t>
            </a:r>
            <a:endParaRPr lang="en-US" sz="1400" dirty="0"/>
          </a:p>
          <a:p>
            <a:pPr indent="0" marL="0">
              <a:spcAft>
                <a:spcPts val="300"/>
              </a:spcAft>
              <a:buNone/>
            </a:pPr>
            <a:r>
              <a:rPr lang="en-US" sz="1450" dirty="0">
                <a:solidFill>
                  <a:srgbClr val="334155"/>
                </a:solidFill>
              </a:rPr>
              <a:t>A group isn't enforced; assign the enterprise application's object ID, never the registration's</a:t>
            </a:r>
            <a:endParaRPr lang="en-US" sz="1400" dirty="0"/>
          </a:p>
        </p:txBody>
      </p:sp>
      <p:sp>
        <p:nvSpPr>
          <p:cNvPr id="18" name="Callout" descr="">
            <a:extLst>
              <a:ext uri="{C183D7F6-B498-43B3-948B-1728B52AA6E4}">
                <adec:decorative xmlns:adec="http://schemas.microsoft.com/office/drawing/2017/decorative" val="1"/>
              </a:ext>
            </a:extLst>
          </p:cNvPr>
          <p:cNvSpPr/>
          <p:nvPr/>
        </p:nvSpPr>
        <p:spPr>
          <a:xfrm>
            <a:off x="548640" y="4101084"/>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9" name="Icon FaCloud" descr="">
            <a:extLst>
              <a:ext uri="{C183D7F6-B498-43B3-948B-1728B52AA6E4}">
                <adec:decorative xmlns:adec="http://schemas.microsoft.com/office/drawing/2017/decorative" val="1"/>
              </a:ext>
            </a:extLst>
          </p:cNvPr>
          <p:cNvSpPr/>
          <p:nvPr/>
        </p:nvSpPr>
        <p:spPr>
          <a:xfrm>
            <a:off x="749808" y="4290822"/>
            <a:ext cx="640080" cy="640080"/>
          </a:xfrm>
          <a:prstGeom prst="ellipse">
            <a:avLst/>
          </a:prstGeom>
          <a:solidFill>
            <a:srgbClr val="0F766E"/>
          </a:solidFill>
          <a:ln w="12700">
            <a:solidFill>
              <a:srgbClr val="0F766E"/>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444441"/>
            <a:ext cx="332842" cy="332842"/>
          </a:xfrm>
          <a:prstGeom prst="rect">
            <a:avLst/>
          </a:prstGeom>
        </p:spPr>
      </p:pic>
      <p:sp>
        <p:nvSpPr>
          <p:cNvPr id="21" name="Callout text"/>
          <p:cNvSpPr txBox="1"/>
          <p:nvPr/>
        </p:nvSpPr>
        <p:spPr>
          <a:xfrm>
            <a:off x="1600200" y="4155948"/>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Which cloud: </a:t>
            </a:r>
            <a:pPr indent="0" marL="0">
              <a:buNone/>
            </a:pPr>
            <a:r>
              <a:rPr lang="en-US" sz="1750" dirty="0">
                <a:solidFill>
                  <a:srgbClr val="334155"/>
                </a:solidFill>
              </a:rPr>
              <a:t>the GCC tenant uses graph.microsoft.com; GCC High and DoD use graph.microsoft.us and dod-graph.microsoft.us. Every call lists L4 and L5. Whether workload risk detections run in GCC High and DoD is open (row 75). The cloud has no default.</a:t>
            </a:r>
            <a:endParaRPr lang="en-US" sz="17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Conditional Access for workload identities; national cloud deployments; feature availability; Workload ID FAQ. Chapter 08, “The context,”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program's two policies and its two decisions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anel Book 04's Wave 4" descr="">
            <a:extLst>
              <a:ext uri="{C183D7F6-B498-43B3-948B-1728B52AA6E4}">
                <adec:decorative xmlns:adec="http://schemas.microsoft.com/office/drawing/2017/decorative" val="1"/>
              </a:ext>
            </a:extLst>
          </p:cNvPr>
          <p:cNvSpPr/>
          <p:nvPr/>
        </p:nvSpPr>
        <p:spPr>
          <a:xfrm>
            <a:off x="548640" y="1325880"/>
            <a:ext cx="5417820" cy="2871216"/>
          </a:xfrm>
          <a:prstGeom prst="roundRect">
            <a:avLst>
              <a:gd name="adj" fmla="val 254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Book 04&amp;apos;s Wave 4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BOOK 04'S WAVE 4</a:t>
            </a:r>
            <a:endParaRPr lang="en-US" sz="1100" dirty="0"/>
          </a:p>
        </p:txBody>
      </p:sp>
      <p:sp>
        <p:nvSpPr>
          <p:cNvPr id="7" name="Panel Book 04's Wave 4 list"/>
          <p:cNvSpPr txBox="1"/>
          <p:nvPr/>
        </p:nvSpPr>
        <p:spPr>
          <a:xfrm>
            <a:off x="73152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CA015-ServiceAccounts-LocationRestriction</a:t>
            </a:r>
            <a:pPr indent="0" marL="0">
              <a:spcAft>
                <a:spcPts val="400"/>
              </a:spcAft>
              <a:buNone/>
            </a:pPr>
            <a:r>
              <a:rPr lang="en-US" sz="1500" dirty="0">
                <a:solidFill>
                  <a:srgbClr val="334155"/>
                </a:solidFill>
              </a:rPr>
              <a:t>: blocks workload identities, assigned directly, from anywhere but NL-WorkloadEgress</a:t>
            </a:r>
            <a:endParaRPr lang="en-US" sz="1500" dirty="0"/>
          </a:p>
          <a:p>
            <a:pPr marL="342900" indent="-342900">
              <a:spcAft>
                <a:spcPts val="400"/>
              </a:spcAft>
              <a:buSzPct val="100000"/>
              <a:buChar char="•"/>
            </a:pPr>
            <a:r>
              <a:rPr lang="en-US" sz="1500" b="1" dirty="0">
                <a:solidFill>
                  <a:srgbClr val="1F2A44"/>
                </a:solidFill>
              </a:rPr>
              <a:t>CA037-WorkloadIdentities-HighRisk-Block</a:t>
            </a:r>
            <a:pPr indent="0" marL="0">
              <a:spcAft>
                <a:spcPts val="400"/>
              </a:spcAft>
              <a:buNone/>
            </a:pPr>
            <a:r>
              <a:rPr lang="en-US" sz="1500" dirty="0">
                <a:solidFill>
                  <a:srgbClr val="334155"/>
                </a:solidFill>
              </a:rPr>
              <a:t>: blocks them at high service principal risk</a:t>
            </a:r>
            <a:endParaRPr lang="en-US" sz="1500" dirty="0"/>
          </a:p>
          <a:p>
            <a:pPr marL="342900" indent="-342900">
              <a:spcAft>
                <a:spcPts val="400"/>
              </a:spcAft>
              <a:buSzPct val="100000"/>
              <a:buChar char="•"/>
            </a:pPr>
            <a:r>
              <a:rPr lang="en-US" sz="1500" dirty="0">
                <a:solidFill>
                  <a:srgbClr val="334155"/>
                </a:solidFill>
              </a:rPr>
              <a:t>Book 04's Wave 4; Appendix A has CA015's JSON</a:t>
            </a:r>
            <a:endParaRPr lang="en-US" sz="1500" dirty="0"/>
          </a:p>
          <a:p>
            <a:pPr marL="342900" indent="-342900">
              <a:spcAft>
                <a:spcPts val="400"/>
              </a:spcAft>
              <a:buSzPct val="100000"/>
              <a:buChar char="•"/>
            </a:pPr>
            <a:r>
              <a:rPr lang="en-US" sz="1500" dirty="0">
                <a:solidFill>
                  <a:srgbClr val="334155"/>
                </a:solidFill>
              </a:rPr>
              <a:t>Rollout: report-only first, then rings, never deleted on rollback</a:t>
            </a:r>
            <a:endParaRPr lang="en-US" sz="1500" dirty="0"/>
          </a:p>
        </p:txBody>
      </p:sp>
      <p:sp>
        <p:nvSpPr>
          <p:cNvPr id="8" name="Panel Licensing, risk, enforcement" descr="">
            <a:extLst>
              <a:ext uri="{C183D7F6-B498-43B3-948B-1728B52AA6E4}">
                <adec:decorative xmlns:adec="http://schemas.microsoft.com/office/drawing/2017/decorative" val="1"/>
              </a:ext>
            </a:extLst>
          </p:cNvPr>
          <p:cNvSpPr/>
          <p:nvPr/>
        </p:nvSpPr>
        <p:spPr>
          <a:xfrm>
            <a:off x="6240780" y="1325880"/>
            <a:ext cx="5417820" cy="2871216"/>
          </a:xfrm>
          <a:prstGeom prst="roundRect">
            <a:avLst>
              <a:gd name="adj" fmla="val 25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Panel Licensing, risk, enforcement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LICENSING, RISK, ENFORCEMENT</a:t>
            </a:r>
            <a:endParaRPr lang="en-US" sz="1100" dirty="0"/>
          </a:p>
        </p:txBody>
      </p:sp>
      <p:sp>
        <p:nvSpPr>
          <p:cNvPr id="10" name="Panel Licensing, risk, enforcement list"/>
          <p:cNvSpPr txBox="1"/>
          <p:nvPr/>
        </p:nvSpPr>
        <p:spPr>
          <a:xfrm>
            <a:off x="642366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D-N4, licensing</a:t>
            </a:r>
            <a:pPr indent="0" marL="0">
              <a:spcAft>
                <a:spcPts val="400"/>
              </a:spcAft>
              <a:buNone/>
            </a:pPr>
            <a:r>
              <a:rPr lang="en-US" sz="1500" dirty="0">
                <a:solidFill>
                  <a:srgbClr val="334155"/>
                </a:solidFill>
              </a:rPr>
              <a:t>: Premium is standalone; one license unlocks it; licenses the Tier 1 single-tenant service principals. The check fails without it</a:t>
            </a:r>
            <a:endParaRPr lang="en-US" sz="1500" dirty="0"/>
          </a:p>
          <a:p>
            <a:pPr marL="342900" indent="-342900">
              <a:spcAft>
                <a:spcPts val="400"/>
              </a:spcAft>
              <a:buSzPct val="100000"/>
              <a:buChar char="•"/>
            </a:pPr>
            <a:r>
              <a:rPr lang="en-US" sz="1500" b="1" dirty="0">
                <a:solidFill>
                  <a:srgbClr val="1F2A44"/>
                </a:solidFill>
              </a:rPr>
              <a:t>Risk</a:t>
            </a:r>
            <a:pPr indent="0" marL="0">
              <a:spcAft>
                <a:spcPts val="400"/>
              </a:spcAft>
              <a:buNone/>
            </a:pPr>
            <a:r>
              <a:rPr lang="en-US" sz="1500" dirty="0">
                <a:solidFill>
                  <a:srgbClr val="334155"/>
                </a:solidFill>
              </a:rPr>
              <a:t>: offline indicators; managed identities out of scope. CA037's report-only results are usually empty, and that's expected</a:t>
            </a:r>
            <a:endParaRPr lang="en-US" sz="1500" dirty="0"/>
          </a:p>
          <a:p>
            <a:pPr marL="342900" indent="-342900">
              <a:spcAft>
                <a:spcPts val="400"/>
              </a:spcAft>
              <a:buSzPct val="100000"/>
              <a:buChar char="•"/>
            </a:pPr>
            <a:r>
              <a:rPr lang="en-US" sz="1500" b="1" dirty="0">
                <a:solidFill>
                  <a:srgbClr val="1F2A44"/>
                </a:solidFill>
              </a:rPr>
              <a:t>D-N5, enforcement</a:t>
            </a:r>
            <a:pPr indent="0" marL="0">
              <a:spcAft>
                <a:spcPts val="400"/>
              </a:spcAft>
              <a:buNone/>
            </a:pPr>
            <a:r>
              <a:rPr lang="en-US" sz="1500" dirty="0">
                <a:solidFill>
                  <a:srgbClr val="334155"/>
                </a:solidFill>
              </a:rPr>
              <a:t>: the CISO's call: enforce, extend report-only, or enforce with dated, owned exclusions</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379976"/>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569714"/>
            <a:ext cx="640080" cy="640080"/>
          </a:xfrm>
          <a:prstGeom prst="ellipse">
            <a:avLst/>
          </a:prstGeom>
          <a:solidFill>
            <a:srgbClr val="0F766E"/>
          </a:solidFill>
          <a:ln w="12700">
            <a:solidFill>
              <a:srgbClr val="0F766E"/>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723333"/>
            <a:ext cx="332842" cy="332842"/>
          </a:xfrm>
          <a:prstGeom prst="rect">
            <a:avLst/>
          </a:prstGeom>
        </p:spPr>
      </p:pic>
      <p:sp>
        <p:nvSpPr>
          <p:cNvPr id="14" name="Callout text"/>
          <p:cNvSpPr txBox="1"/>
          <p:nvPr/>
        </p:nvSpPr>
        <p:spPr>
          <a:xfrm>
            <a:off x="1600200" y="4434840"/>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Gate 5 asks for: </a:t>
            </a:r>
            <a:pPr indent="0" marL="0">
              <a:buNone/>
            </a:pPr>
            <a:r>
              <a:rPr lang="en-US" sz="1750" dirty="0">
                <a:solidFill>
                  <a:srgbClr val="334155"/>
                </a:solidFill>
              </a:rPr>
              <a:t>every Tier 1 single-tenant service principal assigned directly; report-only results reviewed before enforcement; every out-of-scope identity recorded with the control that covers it.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Workload ID FAQ; ID Protection for workload identities; Book 04, Ch 05–07 and Appendix A; project plan, Gate 5. Chapter 08, “The context.”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sample JSON, pinned and checked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Learn gives" descr="">
            <a:extLst>
              <a:ext uri="{C183D7F6-B498-43B3-948B-1728B52AA6E4}">
                <adec:decorative xmlns:adec="http://schemas.microsoft.com/office/drawing/2017/decorative" val="1"/>
              </a:ext>
            </a:extLst>
          </p:cNvPr>
          <p:cNvSpPr/>
          <p:nvPr/>
        </p:nvSpPr>
        <p:spPr>
          <a:xfrm>
            <a:off x="548640" y="1325880"/>
            <a:ext cx="5417820" cy="2939796"/>
          </a:xfrm>
          <a:prstGeom prst="roundRect">
            <a:avLst>
              <a:gd name="adj" fmla="val 24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LEARN GIVES</a:t>
            </a:r>
            <a:endParaRPr lang="en-US" sz="1100" dirty="0"/>
          </a:p>
        </p:txBody>
      </p:sp>
      <p:sp>
        <p:nvSpPr>
          <p:cNvPr id="7" name="Panel What Learn gives list"/>
          <p:cNvSpPr txBox="1"/>
          <p:nvPr/>
        </p:nvSpPr>
        <p:spPr>
          <a:xfrm>
            <a:off x="73152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Admin center steps for a location-based and a risk-based policy</a:t>
            </a:r>
            <a:endParaRPr lang="en-US" sz="1550" dirty="0"/>
          </a:p>
          <a:p>
            <a:pPr marL="342900" indent="-342900">
              <a:spcAft>
                <a:spcPts val="400"/>
              </a:spcAft>
              <a:buSzPct val="100000"/>
              <a:buChar char="•"/>
            </a:pPr>
            <a:r>
              <a:rPr lang="en-US" sz="1550" dirty="0">
                <a:solidFill>
                  <a:srgbClr val="334155"/>
                </a:solidFill>
              </a:rPr>
              <a:t>Save either in report-only; read results in service principal sign-ins and the insights workbook</a:t>
            </a:r>
            <a:endParaRPr lang="en-US" sz="1550" dirty="0"/>
          </a:p>
          <a:p>
            <a:pPr marL="342900" indent="-342900">
              <a:spcAft>
                <a:spcPts val="400"/>
              </a:spcAft>
              <a:buSzPct val="100000"/>
              <a:buChar char="•"/>
            </a:pPr>
            <a:r>
              <a:rPr lang="en-US" sz="1550" dirty="0">
                <a:solidFill>
                  <a:srgbClr val="334155"/>
                </a:solidFill>
              </a:rPr>
              <a:t>Ends with “Sample JSON for location-based configuration using the Microsoft Graph beta endpoint”</a:t>
            </a:r>
            <a:endParaRPr lang="en-US" sz="1550" dirty="0"/>
          </a:p>
          <a:p>
            <a:pPr marL="342900" indent="-342900">
              <a:spcAft>
                <a:spcPts val="400"/>
              </a:spcAft>
              <a:buSzPct val="100000"/>
              <a:buChar char="•"/>
            </a:pPr>
            <a:r>
              <a:rPr lang="en-US" sz="1550" dirty="0">
                <a:solidFill>
                  <a:srgbClr val="334155"/>
                </a:solidFill>
              </a:rPr>
              <a:t>The ID Protection page explains the risk, with no code</a:t>
            </a:r>
            <a:endParaRPr lang="en-US" sz="155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2939796"/>
          </a:xfrm>
          <a:prstGeom prst="roundRect">
            <a:avLst>
              <a:gd name="adj" fmla="val 24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Search on Oct 30, 2026: no microsoftgraph/* or Azure-Samples/* repository holds a workload CA policy</a:t>
            </a:r>
            <a:endParaRPr lang="en-US" sz="1550" dirty="0"/>
          </a:p>
          <a:p>
            <a:pPr marL="342900" indent="-342900">
              <a:spcAft>
                <a:spcPts val="400"/>
              </a:spcAft>
              <a:buSzPct val="100000"/>
              <a:buChar char="•"/>
            </a:pPr>
            <a:r>
              <a:rPr lang="en-US" sz="1550" dirty="0">
                <a:solidFill>
                  <a:srgbClr val="334155"/>
                </a:solidFill>
              </a:rPr>
              <a:t>workload-identity.md from MicrosoftDocs/entra-docs at 7f78b50, MIT; snapshot.json, unit-tested, weekly watch</a:t>
            </a:r>
            <a:endParaRPr lang="en-US" sz="1550" dirty="0"/>
          </a:p>
          <a:p>
            <a:pPr marL="342900" indent="-342900">
              <a:spcAft>
                <a:spcPts val="400"/>
              </a:spcAft>
              <a:buSzPct val="100000"/>
              <a:buChar char="•"/>
            </a:pPr>
            <a:r>
              <a:rPr lang="en-US" sz="1550" dirty="0">
                <a:solidFill>
                  <a:srgbClr val="334155"/>
                </a:solidFill>
              </a:rPr>
              <a:t>Read-NpiWcaLearnSample extracts the one JSON block; tests send it to the fake Graph and the pre-merge check</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448556"/>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hieldHalved" descr="">
            <a:extLst>
              <a:ext uri="{C183D7F6-B498-43B3-948B-1728B52AA6E4}">
                <adec:decorative xmlns:adec="http://schemas.microsoft.com/office/drawing/2017/decorative" val="1"/>
              </a:ext>
            </a:extLst>
          </p:cNvPr>
          <p:cNvSpPr/>
          <p:nvPr/>
        </p:nvSpPr>
        <p:spPr>
          <a:xfrm>
            <a:off x="749808" y="4521708"/>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4662160"/>
            <a:ext cx="304312" cy="304312"/>
          </a:xfrm>
          <a:prstGeom prst="rect">
            <a:avLst/>
          </a:prstGeom>
        </p:spPr>
      </p:pic>
      <p:sp>
        <p:nvSpPr>
          <p:cNvPr id="14" name="Callout text"/>
          <p:cNvSpPr txBox="1"/>
          <p:nvPr/>
        </p:nvSpPr>
        <p:spPr>
          <a:xfrm>
            <a:off x="1600200" y="4503420"/>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As always: </a:t>
            </a:r>
            <a:pPr indent="0" marL="0">
              <a:buNone/>
            </a:pPr>
            <a:r>
              <a:rPr lang="en-US" sz="1750" dirty="0">
                <a:solidFill>
                  <a:srgbClr val="334155"/>
                </a:solidFill>
              </a:rPr>
              <a:t>nothing is sent to a tenant.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CA for workload identities; ID Protection for workload identities; Create conditionalAccessPolicy; entra-docs at 7f78b50 (MIT). Chapter 08,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 leaves to you: values and targets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3566160"/>
                <a:gridCol w="3840480"/>
                <a:gridCol w="370332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Targets service principals through clientApplications, all resources, all locations but one, block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CA015 has the same shape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Labeled for the Graph beta endpoint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v1.0 condition set has clientApplications and servicePrincipalRiskLevels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code writes v1.0 (row 71)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state and IDs are display text: “enabled OR disabled OR …”, “[Service principal Object ID]”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 a value Graph accepts; the fake refuses it with 400</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Every value from a reviewed file; NPI-WCA-07 fails any state but report-only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Offers ServicePrincipalsInMyTenant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Sweeps in every service principal, unreviewed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NPI-WCA-01: only the ring's object IDs from the scope 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Offers AllTrusted as the allowed location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Trusts every network trusted for users, too</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NPI-WCA-08: only NL-WorkloadEgress, kept untrusted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CA for workload identities; conditionalAccessConditionSet; conditionalAccessClientApplications. Chapter 08, “What it leaves to you,” rows 1–5; row 71.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leaves to you: risk, evidence, scope, rings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3383280"/>
                <a:gridCol w="3657600"/>
                <a:gridCol w="40690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070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clientAppTypes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v1.0 marks it required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 as Appendix A does (row 72)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Location only; the risk policy is admin center steps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CA037 has no published JSON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CA037 as a reviewed file with servicePrincipalRiskLevels: ["high"]</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Report-only results read in the admin center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Nothing a pipeline can keep as evidence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beta sign-in reader and a per-principal summary with its SHA-256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One policy, no scope beyond the IDs typed in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No record of who is in, who is out, and why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scope file: Tier 1, rings, egress ranges, out-of-scope identities with their controls, D-N4, D-N5</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rings, no alert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All or nothing, and nobody hears about a block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Per-ring policies; -AllowEnforce after D-N5; the block alert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59790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keep Learn's JSON as CA015's model. Don't create it as published: Graph would refuse it, and filled the easy way it covers every service principal and trusts every trusted network.</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conditionalAccessConditionSet; Conditional Access for workload identities. Chapter 08, “What it leaves to you,” rows 6–10; “The verdict”; research gaps, row 72.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and its reviewed files, one policy per ring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05328"/>
        </p:xfrm>
        <a:graphic>
          <a:graphicData uri="http://schemas.openxmlformats.org/drawingml/2006/table">
            <a:tbl>
              <a:tblPr firstRow="1" bandRow="1"/>
              <a:tblGrid>
                <a:gridCol w="3749040"/>
                <a:gridCol w="2194560"/>
                <a:gridCol w="51663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Who keeps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holds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policies/CA015-ServiceAccounts-LocationRestriction.json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engineering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{scope:ring} in includeServicePrincipals; {location:NL-WorkloadEgress} excluded; all resources; all client app types; block; report-only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policies/CA037-WorkloadIdentities-HighRisk-Block.json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engineering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same targeting; servicePrincipalRiskLevels: ["high"]; block; report-only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locations/NL-WorkloadEgress.json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engineering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untrusted ipNamedLocation; ranges from the scope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alerts/NPI-WCA-BlockAlert.json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Security operations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block alert definition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The scope file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Identity governance officer, with owners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Tenant, cloud, D-N4, egress ranges, rings; each in-scope principal by object ID; each out-of-scope identity with its control and reviewer; the enforcement record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514088"/>
            <a:ext cx="11109960" cy="1286256"/>
          </a:xfrm>
          <a:prstGeom prst="roundRect">
            <a:avLst>
              <a:gd name="adj" fmla="val 568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49808" y="4837176"/>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90795"/>
            <a:ext cx="332842" cy="332842"/>
          </a:xfrm>
          <a:prstGeom prst="rect">
            <a:avLst/>
          </a:prstGeom>
        </p:spPr>
      </p:pic>
      <p:sp>
        <p:nvSpPr>
          <p:cNvPr id="9" name="Callout text"/>
          <p:cNvSpPr txBox="1"/>
          <p:nvPr/>
        </p:nvSpPr>
        <p:spPr>
          <a:xfrm>
            <a:off x="1600200" y="4568952"/>
            <a:ext cx="9875520" cy="1176528"/>
          </a:xfrm>
          <a:prstGeom prst="rect">
            <a:avLst/>
          </a:prstGeom>
          <a:noFill/>
          <a:ln/>
        </p:spPr>
        <p:txBody>
          <a:bodyPr wrap="square" lIns="0" tIns="0" rIns="0" bIns="0" rtlCol="0" anchor="ctr"/>
          <a:lstStyle/>
          <a:p>
            <a:pPr indent="0" marL="0">
              <a:buNone/>
            </a:pPr>
            <a:r>
              <a:rPr lang="en-US" sz="1750" b="1" dirty="0">
                <a:solidFill>
                  <a:srgbClr val="0F766E"/>
                </a:solidFill>
              </a:rPr>
              <a:t>One policy per ring (design guidance): </a:t>
            </a:r>
            <a:pPr indent="0" marL="0">
              <a:buNone/>
            </a:pPr>
            <a:r>
              <a:rPr lang="en-US" sz="1750" dirty="0">
                <a:solidFill>
                  <a:srgbClr val="334155"/>
                </a:solidFill>
              </a:rPr>
              <a:t>each template is rendered per ring as &lt;template&gt;-&lt;ring&gt;; enforcing a ring changes one policy and leaves the next in report-only. The suffix is the program's (row 78). The module writes only as wca-apply, creates report-only, and has no delete.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 07 and Appendix A (CA015, CA037). Chapter 08, “The code,” “The files,” “One policy per ring”; research gaps, row 78.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pre-merge and tenant check: NPI-WCA-01 to -09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89120"/>
        </p:xfrm>
        <a:graphic>
          <a:graphicData uri="http://schemas.openxmlformats.org/drawingml/2006/table">
            <a:tbl>
              <a:tblPr firstRow="1" bandRow="1"/>
              <a:tblGrid>
                <a:gridCol w="1325880"/>
                <a:gridCol w="1417320"/>
                <a:gridCol w="6080760"/>
                <a:gridCol w="22860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Targets users, groups, roles, a filter, ServicePrincipalsInMyTenant or text instead of the ring's object IDs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assign directly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managed identity in scope, in the file or the tenant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in-scope principal that isn't a single-tenant app registered here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object ID that isn't a service principal here, or appId differs (Finding); one disabled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D-N4 record; not Tier 1; unknown ring; duplicate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D-N4 (design)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Out-of-scope record with no control, reviewer or date, or an ineligible identity with no record (Finding); eligible but not Tier 1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Gate 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report-only, not block, not all resources, no clientAppTypes ["all"], or no location or risk condition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v1.0</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range not CIDR or broader than /16 or /32; an exclusion but NL-WorkloadEgress (Finding); a trusted location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NPI-WCA-09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Enforcement without D-N5 or a reviewed summary; out of ring order; an exclusion with no owner, reason or end, or ended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D-N5; Gate 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Conditional Access for workload identities; conditionalAccessConditionSet. Chapter 08, “The pre-merge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plan, the dry run and the writes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092751" cy="3328416"/>
        </p:xfrm>
        <a:graphic>
          <a:graphicData uri="http://schemas.openxmlformats.org/drawingml/2006/table">
            <a:tbl>
              <a:tblPr firstRow="1" bandRow="1"/>
              <a:tblGrid>
                <a:gridCol w="1640038"/>
                <a:gridCol w="3452712"/>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in the tenant; always created report-only, whatever its ring's state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Update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Differs; the PATCH carries only changed top-level properties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Matches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Blocked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CA015 whose named location doesn't exist yet; the next run creates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Held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Ring marked for enforcement, but this run may not enforce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NotInRepository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workload policy no file names: reported, never deleted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How it runs" descr="">
            <a:extLst>
              <a:ext uri="{C183D7F6-B498-43B3-948B-1728B52AA6E4}">
                <adec:decorative xmlns:adec="http://schemas.microsoft.com/office/drawing/2017/decorative" val="1"/>
              </a:ext>
            </a:extLst>
          </p:cNvPr>
          <p:cNvSpPr/>
          <p:nvPr/>
        </p:nvSpPr>
        <p:spPr>
          <a:xfrm>
            <a:off x="5915711" y="1325880"/>
            <a:ext cx="5742889" cy="3593592"/>
          </a:xfrm>
          <a:prstGeom prst="roundRect">
            <a:avLst>
              <a:gd name="adj" fmla="val 20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How it runs label"/>
          <p:cNvSpPr txBox="1"/>
          <p:nvPr/>
        </p:nvSpPr>
        <p:spPr>
          <a:xfrm>
            <a:off x="6098591" y="1435608"/>
            <a:ext cx="5377129" cy="274320"/>
          </a:xfrm>
          <a:prstGeom prst="rect">
            <a:avLst/>
          </a:prstGeom>
          <a:noFill/>
          <a:ln/>
        </p:spPr>
        <p:txBody>
          <a:bodyPr wrap="square" lIns="0" tIns="0" rIns="0" bIns="0" rtlCol="0" anchor="t"/>
          <a:lstStyle/>
          <a:p>
            <a:pPr indent="0" marL="0">
              <a:buNone/>
            </a:pPr>
            <a:r>
              <a:rPr lang="en-US" sz="1100" b="1" spc="50" kern="0" dirty="0">
                <a:solidFill>
                  <a:srgbClr val="64748B"/>
                </a:solidFill>
              </a:rPr>
              <a:t>HOW IT RUNS</a:t>
            </a:r>
            <a:endParaRPr lang="en-US" sz="1100" dirty="0"/>
          </a:p>
        </p:txBody>
      </p:sp>
      <p:sp>
        <p:nvSpPr>
          <p:cNvPr id="8" name="Panel How it runs list"/>
          <p:cNvSpPr txBox="1"/>
          <p:nvPr/>
        </p:nvSpPr>
        <p:spPr>
          <a:xfrm>
            <a:off x="6098591" y="1737360"/>
            <a:ext cx="5422849"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Reads policies and named locations: two GETs, every page, the cloud's own host</a:t>
            </a:r>
            <a:endParaRPr lang="en-US" sz="1450" dirty="0"/>
          </a:p>
          <a:p>
            <a:pPr marL="342900" indent="-342900">
              <a:spcAft>
                <a:spcPts val="400"/>
              </a:spcAft>
              <a:buSzPct val="100000"/>
              <a:buChar char="•"/>
            </a:pPr>
            <a:r>
              <a:rPr lang="en-US" sz="1450" dirty="0">
                <a:solidFill>
                  <a:srgbClr val="334155"/>
                </a:solidFill>
              </a:rPr>
              <a:t>Compares only the properties the files set; lists as sets; the named location first</a:t>
            </a:r>
            <a:endParaRPr lang="en-US" sz="1450" dirty="0"/>
          </a:p>
          <a:p>
            <a:pPr marL="342900" indent="-342900">
              <a:spcAft>
                <a:spcPts val="400"/>
              </a:spcAft>
              <a:buSzPct val="100000"/>
              <a:buChar char="•"/>
            </a:pPr>
            <a:r>
              <a:rPr lang="en-US" sz="1450" dirty="0">
                <a:solidFill>
                  <a:srgbClr val="334155"/>
                </a:solidFill>
              </a:rPr>
              <a:t>As the read task: requests returned with Sent false; its client can't write</a:t>
            </a:r>
            <a:endParaRPr lang="en-US" sz="1450" dirty="0"/>
          </a:p>
          <a:p>
            <a:pPr marL="342900" indent="-342900">
              <a:spcAft>
                <a:spcPts val="400"/>
              </a:spcAft>
              <a:buSzPct val="100000"/>
              <a:buChar char="•"/>
            </a:pPr>
            <a:r>
              <a:rPr lang="en-US" sz="1450" dirty="0">
                <a:solidFill>
                  <a:srgbClr val="334155"/>
                </a:solidFill>
              </a:rPr>
              <a:t>As wca-apply: refuses on any Finding, a create that isn't report-only or assigns anything but object IDs, or an enable the plan didn't allow</a:t>
            </a:r>
            <a:endParaRPr lang="en-US" sz="1450" dirty="0"/>
          </a:p>
          <a:p>
            <a:pPr marL="342900" indent="-342900">
              <a:spcAft>
                <a:spcPts val="400"/>
              </a:spcAft>
              <a:buSzPct val="100000"/>
              <a:buChar char="•"/>
            </a:pPr>
            <a:r>
              <a:rPr lang="en-US" sz="1450" dirty="0">
                <a:solidFill>
                  <a:srgbClr val="334155"/>
                </a:solidFill>
              </a:rPr>
              <a:t>Rollback, Book 04's way: drop the ring from the record and apply; back to report-only. Learn says delete or disable; the code does neither</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Conditional Access for workload identities (rollback); Book 04, Ch 07 (never delete on rollback). Chapter 08, “The plan, the dry run and the writes.”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Enforcement, ring by ring: five conditions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98704" cy="29870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8704" cy="29870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353568"/>
          </a:xfrm>
          <a:prstGeom prst="rect">
            <a:avLst/>
          </a:prstGeom>
          <a:noFill/>
          <a:ln/>
        </p:spPr>
        <p:txBody>
          <a:bodyPr wrap="square" lIns="0" tIns="0" rIns="0" bIns="0" rtlCol="0" anchor="t"/>
          <a:lstStyle/>
          <a:p>
            <a:pPr indent="0" marL="0">
              <a:buNone/>
            </a:pPr>
            <a:r>
              <a:rPr lang="en-US" sz="1600" b="1" dirty="0">
                <a:solidFill>
                  <a:srgbClr val="1F2A44"/>
                </a:solidFill>
              </a:rPr>
              <a:t>A D-N5 record marks the ring: </a:t>
            </a:r>
            <a:pPr indent="0" marL="0">
              <a:buNone/>
            </a:pPr>
            <a:r>
              <a:rPr lang="en-US" sz="1600" dirty="0">
                <a:solidFill>
                  <a:srgbClr val="334155"/>
                </a:solidFill>
              </a:rPr>
              <a:t>Outcome Enforce or EnforceWithExclusions, with who decided and when</a:t>
            </a:r>
            <a:endParaRPr lang="en-US" sz="1600" dirty="0"/>
          </a:p>
        </p:txBody>
      </p:sp>
      <p:sp>
        <p:nvSpPr>
          <p:cNvPr id="8" name="Step 2 dot" descr="">
            <a:extLst>
              <a:ext uri="{C183D7F6-B498-43B3-948B-1728B52AA6E4}">
                <adec:decorative xmlns:adec="http://schemas.microsoft.com/office/drawing/2017/decorative" val="1"/>
              </a:ext>
            </a:extLst>
          </p:cNvPr>
          <p:cNvSpPr/>
          <p:nvPr/>
        </p:nvSpPr>
        <p:spPr>
          <a:xfrm>
            <a:off x="548640" y="1697736"/>
            <a:ext cx="298704" cy="298704"/>
          </a:xfrm>
          <a:prstGeom prst="ellipse">
            <a:avLst/>
          </a:prstGeom>
          <a:solidFill>
            <a:srgbClr val="B45309"/>
          </a:solidFill>
          <a:ln w="12700">
            <a:solidFill>
              <a:srgbClr val="B45309"/>
            </a:solidFill>
            <a:prstDash val="solid"/>
          </a:ln>
        </p:spPr>
      </p:sp>
      <p:sp>
        <p:nvSpPr>
          <p:cNvPr id="9" name="Step 2 number"/>
          <p:cNvSpPr txBox="1"/>
          <p:nvPr/>
        </p:nvSpPr>
        <p:spPr>
          <a:xfrm>
            <a:off x="548640" y="1697736"/>
            <a:ext cx="298704" cy="29870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679448"/>
            <a:ext cx="10561320" cy="353568"/>
          </a:xfrm>
          <a:prstGeom prst="rect">
            <a:avLst/>
          </a:prstGeom>
          <a:noFill/>
          <a:ln/>
        </p:spPr>
        <p:txBody>
          <a:bodyPr wrap="square" lIns="0" tIns="0" rIns="0" bIns="0" rtlCol="0" anchor="t"/>
          <a:lstStyle/>
          <a:p>
            <a:pPr indent="0" marL="0">
              <a:buNone/>
            </a:pPr>
            <a:r>
              <a:rPr lang="en-US" sz="1600" b="1" dirty="0">
                <a:solidFill>
                  <a:srgbClr val="1F2A44"/>
                </a:solidFill>
              </a:rPr>
              <a:t>-AllowEnforce: </a:t>
            </a:r>
            <a:pPr indent="0" marL="0">
              <a:buNone/>
            </a:pPr>
            <a:r>
              <a:rPr lang="en-US" sz="1600" dirty="0">
                <a:solidFill>
                  <a:srgbClr val="334155"/>
                </a:solidFill>
              </a:rPr>
              <a:t>Given in the change that enforces it</a:t>
            </a:r>
            <a:endParaRPr lang="en-US" sz="1600" dirty="0"/>
          </a:p>
        </p:txBody>
      </p:sp>
      <p:sp>
        <p:nvSpPr>
          <p:cNvPr id="11" name="Step 3 dot" descr="">
            <a:extLst>
              <a:ext uri="{C183D7F6-B498-43B3-948B-1728B52AA6E4}">
                <adec:decorative xmlns:adec="http://schemas.microsoft.com/office/drawing/2017/decorative" val="1"/>
              </a:ext>
            </a:extLst>
          </p:cNvPr>
          <p:cNvSpPr/>
          <p:nvPr/>
        </p:nvSpPr>
        <p:spPr>
          <a:xfrm>
            <a:off x="548640" y="2051304"/>
            <a:ext cx="298704" cy="298704"/>
          </a:xfrm>
          <a:prstGeom prst="ellipse">
            <a:avLst/>
          </a:prstGeom>
          <a:solidFill>
            <a:srgbClr val="B45309"/>
          </a:solidFill>
          <a:ln w="12700">
            <a:solidFill>
              <a:srgbClr val="B45309"/>
            </a:solidFill>
            <a:prstDash val="solid"/>
          </a:ln>
        </p:spPr>
      </p:sp>
      <p:sp>
        <p:nvSpPr>
          <p:cNvPr id="12" name="Step 3 number"/>
          <p:cNvSpPr txBox="1"/>
          <p:nvPr/>
        </p:nvSpPr>
        <p:spPr>
          <a:xfrm>
            <a:off x="548640" y="2051304"/>
            <a:ext cx="298704" cy="29870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033016"/>
            <a:ext cx="10561320" cy="597408"/>
          </a:xfrm>
          <a:prstGeom prst="rect">
            <a:avLst/>
          </a:prstGeom>
          <a:noFill/>
          <a:ln/>
        </p:spPr>
        <p:txBody>
          <a:bodyPr wrap="square" lIns="0" tIns="0" rIns="0" bIns="0" rtlCol="0" anchor="t"/>
          <a:lstStyle/>
          <a:p>
            <a:pPr indent="0" marL="0">
              <a:buNone/>
            </a:pPr>
            <a:r>
              <a:rPr lang="en-US" sz="1600" b="1" dirty="0">
                <a:solidFill>
                  <a:srgbClr val="1F2A44"/>
                </a:solidFill>
              </a:rPr>
              <a:t>A reviewed sign-in summary: </a:t>
            </a:r>
            <a:pPr indent="0" marL="0">
              <a:buNone/>
            </a:pPr>
            <a:r>
              <a:rPr lang="en-US" sz="1600" dirty="0">
                <a:solidFill>
                  <a:srgbClr val="334155"/>
                </a:solidFill>
              </a:rPr>
              <a:t>-SignInSummaryPath names a summary whose SHA-256 the ring's record cites, with its reviewer and date</a:t>
            </a:r>
            <a:endParaRPr lang="en-US" sz="1600" dirty="0"/>
          </a:p>
        </p:txBody>
      </p:sp>
      <p:sp>
        <p:nvSpPr>
          <p:cNvPr id="14" name="Step 4 dot" descr="">
            <a:extLst>
              <a:ext uri="{C183D7F6-B498-43B3-948B-1728B52AA6E4}">
                <adec:decorative xmlns:adec="http://schemas.microsoft.com/office/drawing/2017/decorative" val="1"/>
              </a:ext>
            </a:extLst>
          </p:cNvPr>
          <p:cNvSpPr/>
          <p:nvPr/>
        </p:nvSpPr>
        <p:spPr>
          <a:xfrm>
            <a:off x="548640" y="2648712"/>
            <a:ext cx="298704" cy="298704"/>
          </a:xfrm>
          <a:prstGeom prst="ellipse">
            <a:avLst/>
          </a:prstGeom>
          <a:solidFill>
            <a:srgbClr val="B45309"/>
          </a:solidFill>
          <a:ln w="12700">
            <a:solidFill>
              <a:srgbClr val="B45309"/>
            </a:solidFill>
            <a:prstDash val="solid"/>
          </a:ln>
        </p:spPr>
      </p:sp>
      <p:sp>
        <p:nvSpPr>
          <p:cNvPr id="15" name="Step 4 number"/>
          <p:cNvSpPr txBox="1"/>
          <p:nvPr/>
        </p:nvSpPr>
        <p:spPr>
          <a:xfrm>
            <a:off x="548640" y="2648712"/>
            <a:ext cx="298704" cy="29870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630424"/>
            <a:ext cx="10561320" cy="353568"/>
          </a:xfrm>
          <a:prstGeom prst="rect">
            <a:avLst/>
          </a:prstGeom>
          <a:noFill/>
          <a:ln/>
        </p:spPr>
        <p:txBody>
          <a:bodyPr wrap="square" lIns="0" tIns="0" rIns="0" bIns="0" rtlCol="0" anchor="t"/>
          <a:lstStyle/>
          <a:p>
            <a:pPr indent="0" marL="0">
              <a:buNone/>
            </a:pPr>
            <a:r>
              <a:rPr lang="en-US" sz="1600" b="1" dirty="0">
                <a:solidFill>
                  <a:srgbClr val="1F2A44"/>
                </a:solidFill>
              </a:rPr>
              <a:t>The summary shows the ring ready: </a:t>
            </a:r>
            <a:pPr indent="0" marL="0">
              <a:buNone/>
            </a:pPr>
            <a:r>
              <a:rPr lang="en-US" sz="1600" dirty="0">
                <a:solidFill>
                  <a:srgbClr val="334155"/>
                </a:solidFill>
              </a:rPr>
              <a:t>Every principal Clear, over at least 14 days</a:t>
            </a:r>
            <a:endParaRPr lang="en-US" sz="1600" dirty="0"/>
          </a:p>
        </p:txBody>
      </p:sp>
      <p:sp>
        <p:nvSpPr>
          <p:cNvPr id="17" name="Step 5 dot" descr="">
            <a:extLst>
              <a:ext uri="{C183D7F6-B498-43B3-948B-1728B52AA6E4}">
                <adec:decorative xmlns:adec="http://schemas.microsoft.com/office/drawing/2017/decorative" val="1"/>
              </a:ext>
            </a:extLst>
          </p:cNvPr>
          <p:cNvSpPr/>
          <p:nvPr/>
        </p:nvSpPr>
        <p:spPr>
          <a:xfrm>
            <a:off x="548640" y="3002280"/>
            <a:ext cx="298704" cy="298704"/>
          </a:xfrm>
          <a:prstGeom prst="ellipse">
            <a:avLst/>
          </a:prstGeom>
          <a:solidFill>
            <a:srgbClr val="B45309"/>
          </a:solidFill>
          <a:ln w="12700">
            <a:solidFill>
              <a:srgbClr val="B45309"/>
            </a:solidFill>
            <a:prstDash val="solid"/>
          </a:ln>
        </p:spPr>
      </p:sp>
      <p:sp>
        <p:nvSpPr>
          <p:cNvPr id="18" name="Step 5 number"/>
          <p:cNvSpPr txBox="1"/>
          <p:nvPr/>
        </p:nvSpPr>
        <p:spPr>
          <a:xfrm>
            <a:off x="548640" y="3002280"/>
            <a:ext cx="298704" cy="29870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2983992"/>
            <a:ext cx="10561320" cy="353568"/>
          </a:xfrm>
          <a:prstGeom prst="rect">
            <a:avLst/>
          </a:prstGeom>
          <a:noFill/>
          <a:ln/>
        </p:spPr>
        <p:txBody>
          <a:bodyPr wrap="square" lIns="0" tIns="0" rIns="0" bIns="0" rtlCol="0" anchor="t"/>
          <a:lstStyle/>
          <a:p>
            <a:pPr indent="0" marL="0">
              <a:buNone/>
            </a:pPr>
            <a:r>
              <a:rPr lang="en-US" sz="1600" b="1" dirty="0">
                <a:solidFill>
                  <a:srgbClr val="1F2A44"/>
                </a:solidFill>
              </a:rPr>
              <a:t>Every earlier ring is enforced: </a:t>
            </a:r>
            <a:pPr indent="0" marL="0">
              <a:buNone/>
            </a:pPr>
            <a:r>
              <a:rPr lang="en-US" sz="1600" dirty="0">
                <a:solidFill>
                  <a:srgbClr val="334155"/>
                </a:solidFill>
              </a:rPr>
              <a:t>One ring at a time</a:t>
            </a:r>
            <a:endParaRPr lang="en-US" sz="1600" dirty="0"/>
          </a:p>
        </p:txBody>
      </p:sp>
      <p:sp>
        <p:nvSpPr>
          <p:cNvPr id="20" name="Callout" descr="">
            <a:extLst>
              <a:ext uri="{C183D7F6-B498-43B3-948B-1728B52AA6E4}">
                <adec:decorative xmlns:adec="http://schemas.microsoft.com/office/drawing/2017/decorative" val="1"/>
              </a:ext>
            </a:extLst>
          </p:cNvPr>
          <p:cNvSpPr/>
          <p:nvPr/>
        </p:nvSpPr>
        <p:spPr>
          <a:xfrm>
            <a:off x="548640" y="3520440"/>
            <a:ext cx="5417820" cy="928116"/>
          </a:xfrm>
          <a:prstGeom prst="roundRect">
            <a:avLst>
              <a:gd name="adj" fmla="val 788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Icon FaUserClock" descr="">
            <a:extLst>
              <a:ext uri="{C183D7F6-B498-43B3-948B-1728B52AA6E4}">
                <adec:decorative xmlns:adec="http://schemas.microsoft.com/office/drawing/2017/decorative" val="1"/>
              </a:ext>
            </a:extLst>
          </p:cNvPr>
          <p:cNvSpPr/>
          <p:nvPr/>
        </p:nvSpPr>
        <p:spPr>
          <a:xfrm>
            <a:off x="749808" y="3664458"/>
            <a:ext cx="640080" cy="640080"/>
          </a:xfrm>
          <a:prstGeom prst="ellipse">
            <a:avLst/>
          </a:prstGeom>
          <a:solidFill>
            <a:srgbClr val="0F766E"/>
          </a:solidFill>
          <a:ln w="12700">
            <a:solidFill>
              <a:srgbClr val="0F766E"/>
            </a:solidFill>
            <a:prstDash val="solid"/>
          </a:ln>
        </p:spPr>
      </p:sp>
      <p:pic>
        <p:nvPicPr>
          <p:cNvPr id="2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3818077"/>
            <a:ext cx="332842" cy="332842"/>
          </a:xfrm>
          <a:prstGeom prst="rect">
            <a:avLst/>
          </a:prstGeom>
        </p:spPr>
      </p:pic>
      <p:sp>
        <p:nvSpPr>
          <p:cNvPr id="23" name="Callout text"/>
          <p:cNvSpPr txBox="1"/>
          <p:nvPr/>
        </p:nvSpPr>
        <p:spPr>
          <a:xfrm>
            <a:off x="1600200" y="3575304"/>
            <a:ext cx="4183380" cy="818388"/>
          </a:xfrm>
          <a:prstGeom prst="rect">
            <a:avLst/>
          </a:prstGeom>
          <a:noFill/>
          <a:ln/>
        </p:spPr>
        <p:txBody>
          <a:bodyPr wrap="square" lIns="0" tIns="0" rIns="0" bIns="0" rtlCol="0" anchor="ctr"/>
          <a:lstStyle/>
          <a:p>
            <a:pPr indent="0" marL="0">
              <a:buNone/>
            </a:pPr>
            <a:r>
              <a:rPr lang="en-US" sz="1550" b="1" dirty="0">
                <a:solidFill>
                  <a:srgbClr val="0F766E"/>
                </a:solidFill>
              </a:rPr>
              <a:t>Even then: </a:t>
            </a:r>
            <a:pPr indent="0" marL="0">
              <a:buNone/>
            </a:pPr>
            <a:r>
              <a:rPr lang="en-US" sz="1550" dirty="0">
                <a:solidFill>
                  <a:srgbClr val="334155"/>
                </a:solidFill>
              </a:rPr>
              <a:t>a policy created on the run that enforces its ring is still created report-only, and turns on in the next run.</a:t>
            </a:r>
            <a:endParaRPr lang="en-US" sz="1550" dirty="0"/>
          </a:p>
        </p:txBody>
      </p:sp>
      <p:sp>
        <p:nvSpPr>
          <p:cNvPr id="24" name="Callout" descr="">
            <a:extLst>
              <a:ext uri="{C183D7F6-B498-43B3-948B-1728B52AA6E4}">
                <adec:decorative xmlns:adec="http://schemas.microsoft.com/office/drawing/2017/decorative" val="1"/>
              </a:ext>
            </a:extLst>
          </p:cNvPr>
          <p:cNvSpPr/>
          <p:nvPr/>
        </p:nvSpPr>
        <p:spPr>
          <a:xfrm>
            <a:off x="6240780" y="3520440"/>
            <a:ext cx="5417820" cy="1164336"/>
          </a:xfrm>
          <a:prstGeom prst="roundRect">
            <a:avLst>
              <a:gd name="adj" fmla="val 628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5" name="Icon FaUserXmark" descr="">
            <a:extLst>
              <a:ext uri="{C183D7F6-B498-43B3-948B-1728B52AA6E4}">
                <adec:decorative xmlns:adec="http://schemas.microsoft.com/office/drawing/2017/decorative" val="1"/>
              </a:ext>
            </a:extLst>
          </p:cNvPr>
          <p:cNvSpPr/>
          <p:nvPr/>
        </p:nvSpPr>
        <p:spPr>
          <a:xfrm>
            <a:off x="6441948" y="3782568"/>
            <a:ext cx="640080" cy="640080"/>
          </a:xfrm>
          <a:prstGeom prst="ellipse">
            <a:avLst/>
          </a:prstGeom>
          <a:solidFill>
            <a:srgbClr val="B45309"/>
          </a:solidFill>
          <a:ln w="12700">
            <a:solidFill>
              <a:srgbClr val="B45309"/>
            </a:solidFill>
            <a:prstDash val="solid"/>
          </a:ln>
        </p:spPr>
      </p:sp>
      <p:pic>
        <p:nvPicPr>
          <p:cNvPr id="26"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95567" y="3936187"/>
            <a:ext cx="332842" cy="332842"/>
          </a:xfrm>
          <a:prstGeom prst="rect">
            <a:avLst/>
          </a:prstGeom>
        </p:spPr>
      </p:pic>
      <p:sp>
        <p:nvSpPr>
          <p:cNvPr id="27" name="Callout text"/>
          <p:cNvSpPr txBox="1"/>
          <p:nvPr/>
        </p:nvSpPr>
        <p:spPr>
          <a:xfrm>
            <a:off x="7292340" y="3575304"/>
            <a:ext cx="4183380" cy="1054608"/>
          </a:xfrm>
          <a:prstGeom prst="rect">
            <a:avLst/>
          </a:prstGeom>
          <a:noFill/>
          <a:ln/>
        </p:spPr>
        <p:txBody>
          <a:bodyPr wrap="square" lIns="0" tIns="0" rIns="0" bIns="0" rtlCol="0" anchor="ctr"/>
          <a:lstStyle/>
          <a:p>
            <a:pPr indent="0" marL="0">
              <a:buNone/>
            </a:pPr>
            <a:r>
              <a:rPr lang="en-US" sz="1550" b="1" dirty="0">
                <a:solidFill>
                  <a:srgbClr val="B45309"/>
                </a:solidFill>
              </a:rPr>
              <a:t>Exclusions: </a:t>
            </a:r>
            <a:pPr indent="0" marL="0">
              <a:buNone/>
            </a:pPr>
            <a:r>
              <a:rPr lang="en-US" sz="1550" dirty="0">
                <a:solidFill>
                  <a:srgbClr val="334155"/>
                </a:solidFill>
              </a:rPr>
              <a:t>D-N5's third option: each names a principal, owner, reason and end date, goes into excludeServicePrincipals, and drops out on its end date.</a:t>
            </a:r>
            <a:endParaRPr lang="en-US" sz="15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project plan, D-N5 and Gate 5; Book 04, Ch 07 (two weeks of report-only). Chapter 08, “Enforcement, ring by ring.”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sign-in reader, its summary and the block alert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Get-NpiWcaSignIn" descr="">
            <a:extLst>
              <a:ext uri="{C183D7F6-B498-43B3-948B-1728B52AA6E4}">
                <adec:decorative xmlns:adec="http://schemas.microsoft.com/office/drawing/2017/decorative" val="1"/>
              </a:ext>
            </a:extLst>
          </p:cNvPr>
          <p:cNvSpPr/>
          <p:nvPr/>
        </p:nvSpPr>
        <p:spPr>
          <a:xfrm>
            <a:off x="548640" y="1325880"/>
            <a:ext cx="5634533" cy="3102864"/>
          </a:xfrm>
          <a:prstGeom prst="roundRect">
            <a:avLst>
              <a:gd name="adj" fmla="val 235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Get-NpiWcaSignIn label"/>
          <p:cNvSpPr txBox="1"/>
          <p:nvPr/>
        </p:nvSpPr>
        <p:spPr>
          <a:xfrm>
            <a:off x="731520" y="1435608"/>
            <a:ext cx="5268773" cy="274320"/>
          </a:xfrm>
          <a:prstGeom prst="rect">
            <a:avLst/>
          </a:prstGeom>
          <a:noFill/>
          <a:ln/>
        </p:spPr>
        <p:txBody>
          <a:bodyPr wrap="square" lIns="0" tIns="0" rIns="0" bIns="0" rtlCol="0" anchor="t"/>
          <a:lstStyle/>
          <a:p>
            <a:pPr indent="0" marL="0">
              <a:buNone/>
            </a:pPr>
            <a:r>
              <a:rPr lang="en-US" sz="1100" b="1" spc="50" kern="0" dirty="0">
                <a:solidFill>
                  <a:srgbClr val="64748B"/>
                </a:solidFill>
              </a:rPr>
              <a:t>GET-NPIWCASIGNIN</a:t>
            </a:r>
            <a:endParaRPr lang="en-US" sz="1100" dirty="0"/>
          </a:p>
        </p:txBody>
      </p:sp>
      <p:sp>
        <p:nvSpPr>
          <p:cNvPr id="7" name="Panel Get-NpiWcaSignIn list"/>
          <p:cNvSpPr txBox="1"/>
          <p:nvPr/>
        </p:nvSpPr>
        <p:spPr>
          <a:xfrm>
            <a:off x="731520" y="1737360"/>
            <a:ext cx="5314493" cy="264566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List signIns (beta): only interactive without an event type; filter signInEventTypes/any(t: t eq 'servicePrincipal') (row 73)</a:t>
            </a:r>
            <a:endParaRPr lang="en-US" sz="1450" dirty="0"/>
          </a:p>
          <a:p>
            <a:pPr marL="342900" indent="-342900">
              <a:spcAft>
                <a:spcPts val="400"/>
              </a:spcAft>
              <a:buSzPct val="100000"/>
              <a:buChar char="•"/>
            </a:pPr>
            <a:r>
              <a:rPr lang="en-US" sz="1450" dirty="0">
                <a:solidFill>
                  <a:srgbClr val="334155"/>
                </a:solidFill>
              </a:rPr>
              <a:t>appliedConditionalAccessPolicies needs Policy.Read.All, Policy.Read.ConditionalAccess or Policy.ReadWrite.ConditionalAccess</a:t>
            </a:r>
            <a:endParaRPr lang="en-US" sz="1450" dirty="0"/>
          </a:p>
          <a:p>
            <a:pPr marL="342900" indent="-342900">
              <a:spcAft>
                <a:spcPts val="400"/>
              </a:spcAft>
              <a:buSzPct val="100000"/>
              <a:buChar char="•"/>
            </a:pPr>
            <a:r>
              <a:rPr lang="en-US" sz="1450" dirty="0">
                <a:solidFill>
                  <a:srgbClr val="334155"/>
                </a:solidFill>
              </a:rPr>
              <a:t>Report-only results return only with Prefer: include-unknown-enum-members; the reader throws on unknownFutureValue</a:t>
            </a:r>
            <a:endParaRPr lang="en-US" sz="1450" dirty="0"/>
          </a:p>
          <a:p>
            <a:pPr marL="342900" indent="-342900">
              <a:spcAft>
                <a:spcPts val="400"/>
              </a:spcAft>
              <a:buSzPct val="100000"/>
              <a:buChar char="•"/>
            </a:pPr>
            <a:r>
              <a:rPr lang="en-US" sz="1450" dirty="0">
                <a:solidFill>
                  <a:srgbClr val="334155"/>
                </a:solidFill>
              </a:rPr>
              <a:t>Blocks are 53003, BlockedByConditionalAccess</a:t>
            </a:r>
            <a:endParaRPr lang="en-US" sz="145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457493" y="1325880"/>
          <a:ext cx="5201107" cy="2042160"/>
        </p:xfrm>
        <a:graphic>
          <a:graphicData uri="http://schemas.openxmlformats.org/drawingml/2006/table">
            <a:tbl>
              <a:tblPr firstRow="1" bandRow="1"/>
              <a:tblGrid>
                <a:gridCol w="1668280"/>
                <a:gridCol w="3532828"/>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NoSignIns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Nothing in the window to judge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NotEvaluated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Sign-ins, but no result from our policies yet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WouldBlock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report-only failure, a block, or an address outside the egress ranges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Clear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Evaluated, nothing that would 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Lead"/>
          <p:cNvSpPr txBox="1"/>
          <p:nvPr/>
        </p:nvSpPr>
        <p:spPr>
          <a:xfrm>
            <a:off x="6457493" y="3550920"/>
            <a:ext cx="5201107" cy="877824"/>
          </a:xfrm>
          <a:prstGeom prst="rect">
            <a:avLst/>
          </a:prstGeom>
          <a:noFill/>
          <a:ln/>
        </p:spPr>
        <p:txBody>
          <a:bodyPr wrap="square" lIns="0" tIns="0" rIns="0" bIns="0" rtlCol="0" anchor="t"/>
          <a:lstStyle/>
          <a:p>
            <a:pPr indent="0" marL="0">
              <a:buNone/>
            </a:pPr>
            <a:r>
              <a:rPr lang="en-US" sz="1800" b="1" dirty="0">
                <a:solidFill>
                  <a:srgbClr val="1F2A44"/>
                </a:solidFill>
              </a:rPr>
              <a:t>Ready: every principal Clear over 14+ days (row 79). No user data; same sign-ins, same bytes.</a:t>
            </a:r>
            <a:endParaRPr lang="en-US" sz="1800" dirty="0"/>
          </a:p>
        </p:txBody>
      </p:sp>
      <p:sp>
        <p:nvSpPr>
          <p:cNvPr id="10" name="Callout" descr="">
            <a:extLst>
              <a:ext uri="{C183D7F6-B498-43B3-948B-1728B52AA6E4}">
                <adec:decorative xmlns:adec="http://schemas.microsoft.com/office/drawing/2017/decorative" val="1"/>
              </a:ext>
            </a:extLst>
          </p:cNvPr>
          <p:cNvSpPr/>
          <p:nvPr/>
        </p:nvSpPr>
        <p:spPr>
          <a:xfrm>
            <a:off x="548640" y="4611624"/>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TriangleExclamation" descr="">
            <a:extLst>
              <a:ext uri="{C183D7F6-B498-43B3-948B-1728B52AA6E4}">
                <adec:decorative xmlns:adec="http://schemas.microsoft.com/office/drawing/2017/decorative" val="1"/>
              </a:ext>
            </a:extLst>
          </p:cNvPr>
          <p:cNvSpPr/>
          <p:nvPr/>
        </p:nvSpPr>
        <p:spPr>
          <a:xfrm>
            <a:off x="749808" y="4801362"/>
            <a:ext cx="640080" cy="640080"/>
          </a:xfrm>
          <a:prstGeom prst="ellipse">
            <a:avLst/>
          </a:prstGeom>
          <a:solidFill>
            <a:srgbClr val="B91C1C"/>
          </a:solidFill>
          <a:ln w="12700">
            <a:solidFill>
              <a:srgbClr val="B91C1C"/>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54981"/>
            <a:ext cx="332842" cy="332842"/>
          </a:xfrm>
          <a:prstGeom prst="rect">
            <a:avLst/>
          </a:prstGeom>
        </p:spPr>
      </p:pic>
      <p:sp>
        <p:nvSpPr>
          <p:cNvPr id="13" name="Callout text"/>
          <p:cNvSpPr txBox="1"/>
          <p:nvPr/>
        </p:nvSpPr>
        <p:spPr>
          <a:xfrm>
            <a:off x="1600200" y="4666488"/>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The block alert (design guidance): </a:t>
            </a:r>
            <a:pPr indent="0" marL="0">
              <a:buNone/>
            </a:pPr>
            <a:r>
              <a:rPr lang="en-US" sz="1750" dirty="0">
                <a:solidFill>
                  <a:srgbClr val="334155"/>
                </a:solidFill>
              </a:rPr>
              <a:t>a log search over AADServicePrincipalSignInLogs for 53003, every five minutes over fifteen, severity 1, to security operations. Written for a reviewed deployment; the logs must reach a workspace first (row 77).</a:t>
            </a:r>
            <a:endParaRPr lang="en-US" sz="17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signIns (beta); appliedConditionalAccessPolicy; error codes; AADServicePrincipalSignInLogs; queries; alerts. Chapter 08, “The sign-in reader,” “The block alert.”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the policies, and what each task may hold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2606040" cy="1584960"/>
          </a:xfrm>
          <a:prstGeom prst="roundRect">
            <a:avLst>
              <a:gd name="adj" fmla="val 461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5849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450" dirty="0">
                <a:solidFill>
                  <a:srgbClr val="334155"/>
                </a:solidFill>
              </a:rPr>
              <a:t>Build the CA code; read PowerShell 7 and the conditionalAccessPolicy JSON</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3383280" y="1325880"/>
            <a:ext cx="2606040" cy="1584960"/>
          </a:xfrm>
          <a:prstGeom prst="roundRect">
            <a:avLst>
              <a:gd name="adj" fmla="val 461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3383280" y="1325880"/>
            <a:ext cx="82296" cy="158496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450" dirty="0">
                <a:solidFill>
                  <a:srgbClr val="334155"/>
                </a:solidFill>
              </a:rPr>
              <a:t>Own the policies and the named location</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6217920" y="1325880"/>
            <a:ext cx="2606040" cy="1584960"/>
          </a:xfrm>
          <a:prstGeom prst="roundRect">
            <a:avLst>
              <a:gd name="adj" fmla="val 461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6217920" y="1325880"/>
            <a:ext cx="82296" cy="158496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indent="0" marL="0">
              <a:spcAft>
                <a:spcPts val="300"/>
              </a:spcAft>
              <a:buNone/>
            </a:pPr>
            <a:r>
              <a:rPr lang="en-US" sz="1450" dirty="0">
                <a:solidFill>
                  <a:srgbClr val="334155"/>
                </a:solidFill>
              </a:rPr>
              <a:t>Their workloads are in scope</a:t>
            </a:r>
            <a:endParaRPr lang="en-US" sz="1400" dirty="0"/>
          </a:p>
        </p:txBody>
      </p:sp>
      <p:sp>
        <p:nvSpPr>
          <p:cNvPr id="14" name="Card 4" descr="">
            <a:extLst>
              <a:ext uri="{C183D7F6-B498-43B3-948B-1728B52AA6E4}">
                <adec:decorative xmlns:adec="http://schemas.microsoft.com/office/drawing/2017/decorative" val="1"/>
              </a:ext>
            </a:extLst>
          </p:cNvPr>
          <p:cNvSpPr/>
          <p:nvPr/>
        </p:nvSpPr>
        <p:spPr>
          <a:xfrm>
            <a:off x="9052560" y="1325880"/>
            <a:ext cx="2606040" cy="1584960"/>
          </a:xfrm>
          <a:prstGeom prst="roundRect">
            <a:avLst>
              <a:gd name="adj" fmla="val 461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Card 4 bar" descr="">
            <a:extLst>
              <a:ext uri="{C183D7F6-B498-43B3-948B-1728B52AA6E4}">
                <adec:decorative xmlns:adec="http://schemas.microsoft.com/office/drawing/2017/decorative" val="1"/>
              </a:ext>
            </a:extLst>
          </p:cNvPr>
          <p:cNvSpPr/>
          <p:nvPr/>
        </p:nvSpPr>
        <p:spPr>
          <a:xfrm>
            <a:off x="9052560" y="1325880"/>
            <a:ext cx="82296" cy="158496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56360"/>
          </a:xfrm>
          <a:prstGeom prst="rect">
            <a:avLst/>
          </a:prstGeom>
          <a:noFill/>
          <a:ln/>
        </p:spPr>
        <p:txBody>
          <a:bodyPr wrap="square" lIns="0" tIns="0" rIns="0" bIns="0" rtlCol="0" anchor="t"/>
          <a:lstStyle/>
          <a:p>
            <a:pPr indent="0" marL="0">
              <a:spcAft>
                <a:spcPts val="300"/>
              </a:spcAft>
              <a:buNone/>
            </a:pPr>
            <a:r>
              <a:rPr lang="en-US" sz="1600" b="1" dirty="0">
                <a:solidFill>
                  <a:srgbClr val="B91C1C"/>
                </a:solidFill>
                <a:latin typeface="Cambria" pitchFamily="34" charset="0"/>
                <a:ea typeface="Cambria" pitchFamily="34" charset="-122"/>
                <a:cs typeface="Cambria" pitchFamily="34" charset="-120"/>
              </a:rPr>
              <a:t>ISSO, security operations</a:t>
            </a:r>
            <a:endParaRPr lang="en-US" sz="1400" dirty="0"/>
          </a:p>
          <a:p>
            <a:pPr indent="0" marL="0">
              <a:spcAft>
                <a:spcPts val="300"/>
              </a:spcAft>
              <a:buNone/>
            </a:pPr>
            <a:r>
              <a:rPr lang="en-US" sz="1450" dirty="0">
                <a:solidFill>
                  <a:srgbClr val="334155"/>
                </a:solidFill>
              </a:rPr>
              <a:t>Review the results; receive the alert</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3093720"/>
          <a:ext cx="11109960" cy="2290572"/>
        </p:xfrm>
        <a:graphic>
          <a:graphicData uri="http://schemas.openxmlformats.org/drawingml/2006/table">
            <a:tbl>
              <a:tblPr firstRow="1" bandRow="1"/>
              <a:tblGrid>
                <a:gridCol w="1645920"/>
                <a:gridCol w="3566160"/>
                <a:gridCol w="3108960"/>
                <a:gridCol w="27889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Calls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Permissions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Delegated role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wca-read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List policies and named locations; get and list service principals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Policy.Read.All, Application.Read.All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wca-signins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List signIns (beta)</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AuditLog.Read.All, Policy.Read.ConditionalAccess (narrowest; row 74)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Global Reader, Reports Reader, Security Reader, Security Operator or Admin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wca-apply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reads; create and update policies and the named location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Policy.Read.All, Policy.ReadWrite.ConditionalAccess, Application.Read.All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Conditional Access Administrator or Security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and create policies; named locations; List signIns; Get and list servicePrincipals. Chapter 08, “Goal and audience,” “Least privilege.”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sample, then the pre-merge check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747772"/>
          </a:xfrm>
          <a:prstGeom prst="roundRect">
            <a:avLst>
              <a:gd name="adj" fmla="val 266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 “AS OF” OCTOBER 30, 2026</a:t>
            </a:r>
            <a:endParaRPr lang="en-US" sz="1050" dirty="0"/>
          </a:p>
        </p:txBody>
      </p:sp>
      <p:sp>
        <p:nvSpPr>
          <p:cNvPr id="7" name="Code"/>
          <p:cNvSpPr txBox="1"/>
          <p:nvPr/>
        </p:nvSpPr>
        <p:spPr>
          <a:xfrm>
            <a:off x="713232" y="1664208"/>
            <a:ext cx="10835640" cy="236372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sample and page as published: PassedCount 9, FailedCount 0, NotRunCount 39</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tests/NpiWorkloadCa.Tests.ps1 -FullNameFilter '*(Learn), run as published*' …</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wca-read : Application.Read.All, Policy.Read.All</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wca-signins : AuditLog.Read.All, Policy.Read.ConditionalAccess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wca-apply : Application.Read.All, Policy.Read.All, Policy.ReadWrite.ConditionalAccess</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The pre-merge check on the files and the fixture scope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./Invoke-NpiWorkloadCa.ps1 -Mode Check -ScopePath tests/fixtures/ch08/scope.json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Pre-merge check: 0 Finding, 0 Warn, 0 Info</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4  The same check on Learn's sample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Test-NpiWcaPolicyBody -Body (Read-NpiWcaLearnSample -Path …/workload-identity.md) …</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4256532"/>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446270"/>
            <a:ext cx="640080" cy="640080"/>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599889"/>
            <a:ext cx="332842" cy="332842"/>
          </a:xfrm>
          <a:prstGeom prst="rect">
            <a:avLst/>
          </a:prstGeom>
        </p:spPr>
      </p:pic>
      <p:sp>
        <p:nvSpPr>
          <p:cNvPr id="11" name="Callout text"/>
          <p:cNvSpPr txBox="1"/>
          <p:nvPr/>
        </p:nvSpPr>
        <p:spPr>
          <a:xfrm>
            <a:off x="1600200" y="4311396"/>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What you see: </a:t>
            </a:r>
            <a:pPr indent="0" marL="0">
              <a:buNone/>
            </a:pPr>
            <a:r>
              <a:rPr lang="en-US" sz="1750" dirty="0">
                <a:solidFill>
                  <a:srgbClr val="334155"/>
                </a:solidFill>
              </a:rPr>
              <a:t>the fake answers 400 to the sample's display-text state. In step 4, five Findings: NPI-WCA-01 twice, NPI-WCA-07 twice (state, no clientAppTypes), NPI-WCA-08 (AllTrusted).</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08,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plan and the sign-in summary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5417820" cy="2020824"/>
          </a:xfrm>
          <a:prstGeom prst="roundRect">
            <a:avLst>
              <a:gd name="adj" fmla="val 362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p:cNvSpPr txBox="1"/>
          <p:nvPr/>
        </p:nvSpPr>
        <p:spPr>
          <a:xfrm>
            <a:off x="713232" y="1417320"/>
            <a:ext cx="5143500" cy="188366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5  Plan, sending nothing</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Checks: 0 Finding, 0 Warn, 2 Info</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Plan: 3 Create, 1 NoChange, 1 NotInRepository, 1 Update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location NL-WorkloadEgress            Update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CA015-…-Ring1                NoChange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CA037-…-Ring1                Create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CA015-…-Ring2                Create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CA037-…-Ring2                Create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policy   Workloads - block outside …  NotInRepository</a:t>
            </a:r>
            <a:endParaRPr lang="en-US" sz="1300" dirty="0"/>
          </a:p>
        </p:txBody>
      </p:sp>
      <p:sp>
        <p:nvSpPr>
          <p:cNvPr id="7" name="Code panel" descr="">
            <a:extLst>
              <a:ext uri="{C183D7F6-B498-43B3-948B-1728B52AA6E4}">
                <adec:decorative xmlns:adec="http://schemas.microsoft.com/office/drawing/2017/decorative" val="1"/>
              </a:ext>
            </a:extLst>
          </p:cNvPr>
          <p:cNvSpPr/>
          <p:nvPr/>
        </p:nvSpPr>
        <p:spPr>
          <a:xfrm>
            <a:off x="6240780" y="1325880"/>
            <a:ext cx="5417820" cy="1822704"/>
          </a:xfrm>
          <a:prstGeom prst="roundRect">
            <a:avLst>
              <a:gd name="adj" fmla="val 401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8" name="Code"/>
          <p:cNvSpPr txBox="1"/>
          <p:nvPr/>
        </p:nvSpPr>
        <p:spPr>
          <a:xfrm>
            <a:off x="6405372" y="1417320"/>
            <a:ext cx="5143500" cy="168554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6  Sign-ins, Oct 12 to Oct 30 (18 days): 6 read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Ring1: ready for enforcement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Mail Automation  Clear       sign-ins 1</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Payroll Export   Clear       sign-ins 2</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Ring2: not ready</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Deploy Bot       WouldBlock  outside: 203.0.113.7</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HR Connector     NoSignIns   sign-ins 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Summary SHA-256: d7767949…</a:t>
            </a:r>
            <a:endParaRPr lang="en-US" sz="1300" dirty="0"/>
          </a:p>
        </p:txBody>
      </p:sp>
      <p:sp>
        <p:nvSpPr>
          <p:cNvPr id="9" name="List"/>
          <p:cNvSpPr txBox="1"/>
          <p:nvPr/>
        </p:nvSpPr>
        <p:spPr>
          <a:xfrm>
            <a:off x="548640" y="3529584"/>
            <a:ext cx="11109960" cy="10302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named location lacks the IPv6 range (Update); Ring 1's CA015 exists report-only and matches; the portal-made ServicePrincipalsInMyTenant policy is reported and left alone; the manifest lists fourteen GETs and no write</a:t>
            </a:r>
            <a:endParaRPr lang="en-US" sz="1450" dirty="0"/>
          </a:p>
          <a:p>
            <a:pPr marL="342900" indent="-342900">
              <a:spcAft>
                <a:spcPts val="400"/>
              </a:spcAft>
              <a:buSzPct val="100000"/>
              <a:buChar char="•"/>
            </a:pPr>
            <a:r>
              <a:rPr lang="en-US" sz="1450" dirty="0">
                <a:solidFill>
                  <a:srgbClr val="334155"/>
                </a:solidFill>
              </a:rPr>
              <a:t>The user sign-in and the managed identity sign-in never come back; Partner CRM's is counted, not judged; the hash is stable</a:t>
            </a:r>
            <a:endParaRPr lang="en-US" sz="14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tenant, documentation IP ranges). Chapter 08, “Lab 1: fixtures, no tenant,” steps 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apply twice, enforce Ring 1, read the alert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Apply against the fake, twice: </a:t>
            </a:r>
            <a:pPr indent="0" marL="0">
              <a:buNone/>
            </a:pPr>
            <a:r>
              <a:rPr lang="en-US" sz="1500" dirty="0">
                <a:solidFill>
                  <a:srgbClr val="334155"/>
                </a:solidFill>
              </a:rPr>
              <a:t>Run 1: 4 sent; Run 2: 0 sent. Every CA015 and CA037 policy is enabledForReportingButNotEnforced; CA001, a user policy, is untouched</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Record D-N5 and the summary's hash: </a:t>
            </a:r>
            <a:pPr indent="0" marL="0">
              <a:buNone/>
            </a:pPr>
            <a:r>
              <a:rPr lang="en-US" sz="1500" dirty="0">
                <a:solidFill>
                  <a:srgbClr val="334155"/>
                </a:solidFill>
              </a:rPr>
              <a:t>In a copy of the scope: outcome Enforce, decided by the CISO; Ring1 with signInReview = the summary's SHA-256, reviewed by the ISSO</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Plan without -AllowEnforce: </a:t>
            </a:r>
            <a:pPr indent="0" marL="0">
              <a:buNone/>
            </a:pPr>
            <a:r>
              <a:rPr lang="en-US" sz="1500" dirty="0">
                <a:solidFill>
                  <a:srgbClr val="334155"/>
                </a:solidFill>
              </a:rPr>
              <a:t>3 Create, 1 Held, 1 NotInRepository, 1 Update: CA015-Ring1 Held, “needs -AllowEnforce in the change that enforces it”</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795528"/>
          </a:xfrm>
          <a:prstGeom prst="rect">
            <a:avLst/>
          </a:prstGeom>
          <a:noFill/>
          <a:ln/>
        </p:spPr>
        <p:txBody>
          <a:bodyPr wrap="square" lIns="0" tIns="0" rIns="0" bIns="0" rtlCol="0" anchor="t"/>
          <a:lstStyle/>
          <a:p>
            <a:pPr indent="0" marL="0">
              <a:buNone/>
            </a:pPr>
            <a:r>
              <a:rPr lang="en-US" sz="1500" b="1" dirty="0">
                <a:solidFill>
                  <a:srgbClr val="1F2A44"/>
                </a:solidFill>
              </a:rPr>
              <a:t>Plan with -AllowEnforce and the summary: </a:t>
            </a:r>
            <a:pPr indent="0" marL="0">
              <a:buNone/>
            </a:pPr>
            <a:r>
              <a:rPr lang="en-US" sz="1500" dirty="0">
                <a:solidFill>
                  <a:srgbClr val="334155"/>
                </a:solidFill>
              </a:rPr>
              <a:t>CA015-Ring1 goes to enabled “under D-N5 (2026-10-30)”; CA037-Ring1 created report-only for the next run; Ring 2 stays report-only. Change one byte of the summary and Ring 1 is held again</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8404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8404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8221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Read the alert definition: </a:t>
            </a:r>
            <a:pPr indent="0" marL="0">
              <a:buNone/>
            </a:pPr>
            <a:r>
              <a:rPr lang="en-US" sz="1500" dirty="0">
                <a:solidFill>
                  <a:srgbClr val="334155"/>
                </a:solidFill>
              </a:rPr>
              <a:t>A query over AADServicePrincipalSignInLogs for tostring(ResultType) == "53003" and the four in-scope object IDs</a:t>
            </a:r>
            <a:endParaRPr lang="en-US" sz="1500" dirty="0"/>
          </a:p>
        </p:txBody>
      </p:sp>
      <p:sp>
        <p:nvSpPr>
          <p:cNvPr id="20" name="Lead"/>
          <p:cNvSpPr txBox="1"/>
          <p:nvPr/>
        </p:nvSpPr>
        <p:spPr>
          <a:xfrm>
            <a:off x="548640" y="457200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Step 10, Invoke-Pester -Path tests: 513 tests passing. Delete out when you're done.</a:t>
            </a:r>
            <a:endParaRPr lang="en-US" sz="18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Chapter 08, “Lab 1: fixtures, no tenant,” steps 7–10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report-only, then one ring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Write the scope: </a:t>
            </a:r>
            <a:pPr indent="0" marL="0">
              <a:buNone/>
            </a:pPr>
            <a:r>
              <a:rPr lang="en-US" sz="1400" dirty="0">
                <a:solidFill>
                  <a:srgbClr val="334155"/>
                </a:solidFill>
              </a:rPr>
              <a:t>The test app's enterprise application object ID in Ring1 (not the registration's); egress = the test host's /32; D-N4; managed identities and multitenant apps out of scope; Microsoft's owner tenant ID (row 76)</a:t>
            </a:r>
            <a:endParaRPr lang="en-US" sz="1400" dirty="0"/>
          </a:p>
        </p:txBody>
      </p:sp>
      <p:sp>
        <p:nvSpPr>
          <p:cNvPr id="8" name="Step 2 dot" descr="">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62328"/>
            <a:ext cx="10561320" cy="323088"/>
          </a:xfrm>
          <a:prstGeom prst="rect">
            <a:avLst/>
          </a:prstGeom>
          <a:noFill/>
          <a:ln/>
        </p:spPr>
        <p:txBody>
          <a:bodyPr wrap="square" lIns="0" tIns="0" rIns="0" bIns="0" rtlCol="0" anchor="t"/>
          <a:lstStyle/>
          <a:p>
            <a:pPr indent="0" marL="0">
              <a:buNone/>
            </a:pPr>
            <a:r>
              <a:rPr lang="en-US" sz="1400" b="1" dirty="0">
                <a:solidFill>
                  <a:srgbClr val="1F2A44"/>
                </a:solidFill>
              </a:rPr>
              <a:t>Register the reading app: </a:t>
            </a:r>
            <a:pPr indent="0" marL="0">
              <a:buNone/>
            </a:pPr>
            <a:r>
              <a:rPr lang="en-US" sz="1400" dirty="0">
                <a:solidFill>
                  <a:srgbClr val="334155"/>
                </a:solidFill>
              </a:rPr>
              <a:t>With a certificate; only Application.Read.All and Policy.Read.All</a:t>
            </a:r>
            <a:endParaRPr lang="en-US" sz="1400" dirty="0"/>
          </a:p>
        </p:txBody>
      </p:sp>
      <p:sp>
        <p:nvSpPr>
          <p:cNvPr id="11" name="Step 3 dot" descr="">
            <a:extLst>
              <a:ext uri="{C183D7F6-B498-43B3-948B-1728B52AA6E4}">
                <adec:decorative xmlns:adec="http://schemas.microsoft.com/office/drawing/2017/decorative" val="1"/>
              </a:ext>
            </a:extLst>
          </p:cNvPr>
          <p:cNvSpPr/>
          <p:nvPr/>
        </p:nvSpPr>
        <p:spPr>
          <a:xfrm>
            <a:off x="548640" y="220370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203704"/>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185416"/>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Plan, sending nothing: </a:t>
            </a:r>
            <a:pPr indent="0" marL="0">
              <a:buNone/>
            </a:pPr>
            <a:r>
              <a:rPr lang="en-US" sz="1400" dirty="0">
                <a:solidFill>
                  <a:srgbClr val="334155"/>
                </a:solidFill>
              </a:rPr>
              <a:t>Connect-MgGraph -Environment Global; -Mode Check, then -Mode Plan; no Finding; read plan.json and requests.json</a:t>
            </a:r>
            <a:endParaRPr lang="en-US" sz="1400" dirty="0"/>
          </a:p>
        </p:txBody>
      </p:sp>
      <p:sp>
        <p:nvSpPr>
          <p:cNvPr id="14" name="Step 4 dot" descr="">
            <a:extLst>
              <a:ext uri="{C183D7F6-B498-43B3-948B-1728B52AA6E4}">
                <adec:decorative xmlns:adec="http://schemas.microsoft.com/office/drawing/2017/decorative" val="1"/>
              </a:ext>
            </a:extLst>
          </p:cNvPr>
          <p:cNvSpPr/>
          <p:nvPr/>
        </p:nvSpPr>
        <p:spPr>
          <a:xfrm>
            <a:off x="548640" y="274015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740152"/>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721864"/>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Apply, report-only: </a:t>
            </a:r>
            <a:pPr indent="0" marL="0">
              <a:buNone/>
            </a:pPr>
            <a:r>
              <a:rPr lang="en-US" sz="1400" dirty="0">
                <a:solidFill>
                  <a:srgbClr val="334155"/>
                </a:solidFill>
              </a:rPr>
              <a:t>Add Policy.ReadWrite.ConditionalAccess; -Apply, twice; confirm untrusted and Report-only; record whether v1.0 accepted clientApplications (rows 71, 72)</a:t>
            </a:r>
            <a:endParaRPr lang="en-US" sz="1400" dirty="0"/>
          </a:p>
        </p:txBody>
      </p:sp>
      <p:sp>
        <p:nvSpPr>
          <p:cNvPr id="17" name="Step 5 dot" descr="">
            <a:extLst>
              <a:ext uri="{C183D7F6-B498-43B3-948B-1728B52AA6E4}">
                <adec:decorative xmlns:adec="http://schemas.microsoft.com/office/drawing/2017/decorative" val="1"/>
              </a:ext>
            </a:extLst>
          </p:cNvPr>
          <p:cNvSpPr/>
          <p:nvPr/>
        </p:nvSpPr>
        <p:spPr>
          <a:xfrm>
            <a:off x="548640" y="327660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276600"/>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258312"/>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Generate and read sign-ins: </a:t>
            </a:r>
            <a:pPr indent="0" marL="0">
              <a:buNone/>
            </a:pPr>
            <a:r>
              <a:rPr lang="en-US" sz="1400" dirty="0">
                <a:solidFill>
                  <a:srgbClr val="334155"/>
                </a:solidFill>
              </a:rPr>
              <a:t>Tokens from the egress host and another network; a separate reader with AuditLog.Read.All and Policy.Read.ConditionalAccess; expect reportOnlyNotApplied and reportOnlyFailure (rows 74, 79)</a:t>
            </a:r>
            <a:endParaRPr lang="en-US" sz="1400" dirty="0"/>
          </a:p>
        </p:txBody>
      </p:sp>
      <p:sp>
        <p:nvSpPr>
          <p:cNvPr id="20" name="Step 6 dot" descr="">
            <a:extLst>
              <a:ext uri="{C183D7F6-B498-43B3-948B-1728B52AA6E4}">
                <adec:decorative xmlns:adec="http://schemas.microsoft.com/office/drawing/2017/decorative" val="1"/>
              </a:ext>
            </a:extLst>
          </p:cNvPr>
          <p:cNvSpPr/>
          <p:nvPr/>
        </p:nvSpPr>
        <p:spPr>
          <a:xfrm>
            <a:off x="548640" y="381304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3813048"/>
            <a:ext cx="274320" cy="27432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794760"/>
            <a:ext cx="10561320" cy="536448"/>
          </a:xfrm>
          <a:prstGeom prst="rect">
            <a:avLst/>
          </a:prstGeom>
          <a:noFill/>
          <a:ln/>
        </p:spPr>
        <p:txBody>
          <a:bodyPr wrap="square" lIns="0" tIns="0" rIns="0" bIns="0" rtlCol="0" anchor="t"/>
          <a:lstStyle/>
          <a:p>
            <a:pPr indent="0" marL="0">
              <a:buNone/>
            </a:pPr>
            <a:r>
              <a:rPr lang="en-US" sz="1400" b="1" dirty="0">
                <a:solidFill>
                  <a:srgbClr val="1F2A44"/>
                </a:solidFill>
              </a:rPr>
              <a:t>Enforce Ring 1, then back out: </a:t>
            </a:r>
            <a:pPr indent="0" marL="0">
              <a:buNone/>
            </a:pPr>
            <a:r>
              <a:rPr lang="en-US" sz="1400" dirty="0">
                <a:solidFill>
                  <a:srgbClr val="334155"/>
                </a:solidFill>
              </a:rPr>
              <a:t>After 14+ days Clear: -Apply -AllowEnforce; the other network fails with AADSTS53003. Back out: remove Ring 1 from the record, then off or delete by hand</a:t>
            </a:r>
            <a:endParaRPr lang="en-US" sz="1400" dirty="0"/>
          </a:p>
        </p:txBody>
      </p:sp>
      <p:sp>
        <p:nvSpPr>
          <p:cNvPr id="23" name="Callout" descr="">
            <a:extLst>
              <a:ext uri="{C183D7F6-B498-43B3-948B-1728B52AA6E4}">
                <adec:decorative xmlns:adec="http://schemas.microsoft.com/office/drawing/2017/decorative" val="1"/>
              </a:ext>
            </a:extLst>
          </p:cNvPr>
          <p:cNvSpPr/>
          <p:nvPr/>
        </p:nvSpPr>
        <p:spPr>
          <a:xfrm>
            <a:off x="548640" y="45140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5872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732812"/>
            <a:ext cx="315407" cy="315407"/>
          </a:xfrm>
          <a:prstGeom prst="rect">
            <a:avLst/>
          </a:prstGeom>
        </p:spPr>
      </p:pic>
      <p:sp>
        <p:nvSpPr>
          <p:cNvPr id="26" name="Callout text"/>
          <p:cNvSpPr txBox="1"/>
          <p:nvPr/>
        </p:nvSpPr>
        <p:spPr>
          <a:xfrm>
            <a:off x="1600200" y="45689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never production, with a Workload Identities Premium trial or license; the trial isn't offered in the Azure Government clouds.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Conditional Access for workload identities; Workload ID FAQ (no trial in Azure Government); error codes (AADSTS53003). Chapter 08,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65320"/>
        </p:xfrm>
        <a:graphic>
          <a:graphicData uri="http://schemas.openxmlformats.org/drawingml/2006/table">
            <a:tbl>
              <a:tblPr firstRow="1" bandRow="1"/>
              <a:tblGrid>
                <a:gridCol w="3291840"/>
                <a:gridCol w="3749040"/>
                <a:gridCol w="406908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service principal assigned through a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Reports as configured, enforces nothing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NPI-WCA-01; only object IDs reach includeServicePrincipals; -Apply refuses anything else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registration's object ID in scope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policy targets nothing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NPI-WCA-04 from the tenant check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ServicePrincipalsInMyTenant or AllTrusted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workload blocked except from every trusted user network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NPI-WCA-01 and -08; the sample is a model, not a file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managed identity or SaaS app assumed covered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Gate 5 passes on a control that doesn't exist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NPI-WCA-02, -03, -06: recorded out of scope with its 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broad range, or a trusted location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Blocks nothing, or user policies trust workload networks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NPI-WCA-08: CIDR, ≤ /16 or /32, untrusted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policy switched straight to 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moved workload stops at once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Report-only creates; D-N5, -AllowEnforce, a reviewed summary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Report-only results never returned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summary looks clean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Prefer header; throws on unknownFutureValue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block nobody hears about; a deleted portal policy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Silent failure; a needed policy gone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53003 alert; no DELETE; NotInRepository only reported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lapsed license; the write permission left on the app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fix can't ship; a standing path to change every policy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D-N4 and NPI-WCA-05; grant the write only for -Apply runs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08, “Dangers”; Learn, Conditional Access for workload identities (licensing, assignment).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Scope and policies" descr="">
            <a:extLst>
              <a:ext uri="{C183D7F6-B498-43B3-948B-1728B52AA6E4}">
                <adec:decorative xmlns:adec="http://schemas.microsoft.com/office/drawing/2017/decorative" val="1"/>
              </a:ext>
            </a:extLst>
          </p:cNvPr>
          <p:cNvSpPr/>
          <p:nvPr/>
        </p:nvSpPr>
        <p:spPr>
          <a:xfrm>
            <a:off x="548640" y="1325880"/>
            <a:ext cx="5417820" cy="3410712"/>
          </a:xfrm>
          <a:prstGeom prst="roundRect">
            <a:avLst>
              <a:gd name="adj" fmla="val 214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Scope and polici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SCOPE AND POLICIES</a:t>
            </a:r>
            <a:endParaRPr lang="en-US" sz="1100" dirty="0"/>
          </a:p>
        </p:txBody>
      </p:sp>
      <p:sp>
        <p:nvSpPr>
          <p:cNvPr id="7" name="Panel Scope and policies list"/>
          <p:cNvSpPr txBox="1"/>
          <p:nvPr/>
        </p:nvSpPr>
        <p:spPr>
          <a:xfrm>
            <a:off x="731520" y="1737360"/>
            <a:ext cx="5097780" cy="295351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D-N4 recorded in the scope; the tenant holds Workload Identities Premium</a:t>
            </a:r>
            <a:endParaRPr lang="en-US" sz="1350" dirty="0"/>
          </a:p>
          <a:p>
            <a:pPr marL="342900" indent="-342900">
              <a:spcAft>
                <a:spcPts val="400"/>
              </a:spcAft>
              <a:buSzPct val="100000"/>
              <a:buChar char="•"/>
            </a:pPr>
            <a:r>
              <a:rPr lang="en-US" sz="1350" dirty="0">
                <a:solidFill>
                  <a:srgbClr val="334155"/>
                </a:solidFill>
              </a:rPr>
              <a:t>Every in-scope principal Tier 1, single-tenant, registered here, by enterprise application object ID, in exactly one ring</a:t>
            </a:r>
            <a:endParaRPr lang="en-US" sz="1350" dirty="0"/>
          </a:p>
          <a:p>
            <a:pPr marL="342900" indent="-342900">
              <a:spcAft>
                <a:spcPts val="400"/>
              </a:spcAft>
              <a:buSzPct val="100000"/>
              <a:buChar char="•"/>
            </a:pPr>
            <a:r>
              <a:rPr lang="en-US" sz="1350" dirty="0">
                <a:solidFill>
                  <a:srgbClr val="334155"/>
                </a:solidFill>
              </a:rPr>
              <a:t>Every managed identity, multitenant, SaaS, agent and legacy service principal recorded out of scope with its control and reviewer</a:t>
            </a:r>
            <a:endParaRPr lang="en-US" sz="1350" dirty="0"/>
          </a:p>
          <a:p>
            <a:pPr marL="342900" indent="-342900">
              <a:spcAft>
                <a:spcPts val="400"/>
              </a:spcAft>
              <a:buSzPct val="100000"/>
              <a:buChar char="•"/>
            </a:pPr>
            <a:r>
              <a:rPr lang="en-US" sz="1350" dirty="0">
                <a:solidFill>
                  <a:srgbClr val="334155"/>
                </a:solidFill>
              </a:rPr>
              <a:t>NL-WorkloadEgress holds only the egress ranges, untrusted; the pre-merge check runs on every PR with no Finding</a:t>
            </a:r>
            <a:endParaRPr lang="en-US" sz="1350" dirty="0"/>
          </a:p>
          <a:p>
            <a:pPr marL="342900" indent="-342900">
              <a:spcAft>
                <a:spcPts val="400"/>
              </a:spcAft>
              <a:buSzPct val="100000"/>
              <a:buChar char="•"/>
            </a:pPr>
            <a:r>
              <a:rPr lang="en-US" sz="1350" dirty="0">
                <a:solidFill>
                  <a:srgbClr val="334155"/>
                </a:solidFill>
              </a:rPr>
              <a:t>Every new policy appeared report-only; every plan read as a dry run first</a:t>
            </a:r>
            <a:endParaRPr lang="en-US" sz="1350" dirty="0"/>
          </a:p>
        </p:txBody>
      </p:sp>
      <p:sp>
        <p:nvSpPr>
          <p:cNvPr id="8" name="Panel Enforcement and evidence" descr="">
            <a:extLst>
              <a:ext uri="{C183D7F6-B498-43B3-948B-1728B52AA6E4}">
                <adec:decorative xmlns:adec="http://schemas.microsoft.com/office/drawing/2017/decorative" val="1"/>
              </a:ext>
            </a:extLst>
          </p:cNvPr>
          <p:cNvSpPr/>
          <p:nvPr/>
        </p:nvSpPr>
        <p:spPr>
          <a:xfrm>
            <a:off x="6240780" y="1325880"/>
            <a:ext cx="5417820" cy="3410712"/>
          </a:xfrm>
          <a:prstGeom prst="roundRect">
            <a:avLst>
              <a:gd name="adj" fmla="val 214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Enforcement and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ENFORCEMENT AND EVIDENCE</a:t>
            </a:r>
            <a:endParaRPr lang="en-US" sz="1100" dirty="0"/>
          </a:p>
        </p:txBody>
      </p:sp>
      <p:sp>
        <p:nvSpPr>
          <p:cNvPr id="10" name="Panel Enforcement and evidence list"/>
          <p:cNvSpPr txBox="1"/>
          <p:nvPr/>
        </p:nvSpPr>
        <p:spPr>
          <a:xfrm>
            <a:off x="6423660" y="1737360"/>
            <a:ext cx="5097780" cy="295351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Each ring's summary covers 14+ days, every principal Clear, its SHA-256 recorded by a reviewer</a:t>
            </a:r>
            <a:endParaRPr lang="en-US" sz="1350" dirty="0"/>
          </a:p>
          <a:p>
            <a:pPr marL="342900" indent="-342900">
              <a:spcAft>
                <a:spcPts val="400"/>
              </a:spcAft>
              <a:buSzPct val="100000"/>
              <a:buChar char="•"/>
            </a:pPr>
            <a:r>
              <a:rPr lang="en-US" sz="1350" dirty="0">
                <a:solidFill>
                  <a:srgbClr val="334155"/>
                </a:solidFill>
              </a:rPr>
              <a:t>Each enforcement its own change, under D-N5, with -AllowEnforce, one ring at a time; every exclusion owned and dated</a:t>
            </a:r>
            <a:endParaRPr lang="en-US" sz="1350" dirty="0"/>
          </a:p>
          <a:p>
            <a:pPr marL="342900" indent="-342900">
              <a:spcAft>
                <a:spcPts val="400"/>
              </a:spcAft>
              <a:buSzPct val="100000"/>
              <a:buChar char="•"/>
            </a:pPr>
            <a:r>
              <a:rPr lang="en-US" sz="1350" dirty="0">
                <a:solidFill>
                  <a:srgbClr val="334155"/>
                </a:solidFill>
              </a:rPr>
              <a:t>The block alert deployed to security operations before the first ring</a:t>
            </a:r>
            <a:endParaRPr lang="en-US" sz="1350" dirty="0"/>
          </a:p>
          <a:p>
            <a:pPr marL="342900" indent="-342900">
              <a:spcAft>
                <a:spcPts val="400"/>
              </a:spcAft>
              <a:buSzPct val="100000"/>
              <a:buChar char="•"/>
            </a:pPr>
            <a:r>
              <a:rPr lang="en-US" sz="1350" dirty="0">
                <a:solidFill>
                  <a:srgbClr val="334155"/>
                </a:solidFill>
              </a:rPr>
              <a:t>The read app holds only read permissions; the write only on the identity that applies</a:t>
            </a:r>
            <a:endParaRPr lang="en-US" sz="1350" dirty="0"/>
          </a:p>
          <a:p>
            <a:pPr marL="342900" indent="-342900">
              <a:spcAft>
                <a:spcPts val="400"/>
              </a:spcAft>
              <a:buSzPct val="100000"/>
              <a:buChar char="•"/>
            </a:pPr>
            <a:r>
              <a:rPr lang="en-US" sz="1350" dirty="0">
                <a:solidFill>
                  <a:srgbClr val="334155"/>
                </a:solidFill>
              </a:rPr>
              <a:t>The pinned Learn page matches its manifest; upstream commits reviewed</a:t>
            </a:r>
            <a:endParaRPr lang="en-US" sz="1350" dirty="0"/>
          </a:p>
        </p:txBody>
      </p:sp>
      <p:sp>
        <p:nvSpPr>
          <p:cNvPr id="11" name="Callout" descr="">
            <a:extLst>
              <a:ext uri="{C183D7F6-B498-43B3-948B-1728B52AA6E4}">
                <adec:decorative xmlns:adec="http://schemas.microsoft.com/office/drawing/2017/decorative" val="1"/>
              </a:ext>
            </a:extLst>
          </p:cNvPr>
          <p:cNvSpPr/>
          <p:nvPr/>
        </p:nvSpPr>
        <p:spPr>
          <a:xfrm>
            <a:off x="548640" y="491947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99262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133076"/>
            <a:ext cx="304312" cy="304312"/>
          </a:xfrm>
          <a:prstGeom prst="rect">
            <a:avLst/>
          </a:prstGeom>
        </p:spPr>
      </p:pic>
      <p:sp>
        <p:nvSpPr>
          <p:cNvPr id="14" name="Callout text"/>
          <p:cNvSpPr txBox="1"/>
          <p:nvPr/>
        </p:nvSpPr>
        <p:spPr>
          <a:xfrm>
            <a:off x="1600200" y="4974336"/>
            <a:ext cx="9875520" cy="621792"/>
          </a:xfrm>
          <a:prstGeom prst="rect">
            <a:avLst/>
          </a:prstGeom>
          <a:noFill/>
          <a:ln/>
        </p:spPr>
        <p:txBody>
          <a:bodyPr wrap="square" lIns="0" tIns="0" rIns="0" bIns="0" rtlCol="0" anchor="ctr"/>
          <a:lstStyle/>
          <a:p>
            <a:pPr indent="0" marL="0">
              <a:buNone/>
            </a:pPr>
            <a:r>
              <a:rPr lang="en-US" sz="1700" b="1" dirty="0">
                <a:solidFill>
                  <a:srgbClr val="B45309"/>
                </a:solidFill>
              </a:rPr>
              <a:t>Next: </a:t>
            </a:r>
            <a:pPr indent="0" marL="0">
              <a:buNone/>
            </a:pPr>
            <a:r>
              <a:rPr lang="en-US" sz="1700" dirty="0">
                <a:solidFill>
                  <a:srgbClr val="334155"/>
                </a:solidFill>
              </a:rPr>
              <a:t>Chapter 09 — AI Agent Identities.</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08,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np08-wid  </a:t>
            </a:r>
            <a:pPr indent="0" marL="0">
              <a:spcAft>
                <a:spcPts val="300"/>
              </a:spcAft>
              <a:buNone/>
            </a:pPr>
            <a:r>
              <a:rPr lang="en-US" sz="1050" dirty="0">
                <a:solidFill>
                  <a:srgbClr val="334155"/>
                </a:solidFill>
              </a:rPr>
              <a:t>Microsoft Learn, "Conditional Access for workload identities," overview, implementation, roll back, sign-in logs, reference, https://learn.microsoft.com/entra/identity/conditional-access/workload-identity (accessed Oct 30, 2026).</a:t>
            </a:r>
            <a:endParaRPr lang="en-US" sz="1050" dirty="0"/>
          </a:p>
          <a:p>
            <a:pPr indent="0" marL="0">
              <a:spcAft>
                <a:spcPts val="300"/>
              </a:spcAft>
              <a:buNone/>
            </a:pPr>
            <a:r>
              <a:rPr lang="en-US" sz="1050" b="1" dirty="0">
                <a:solidFill>
                  <a:srgbClr val="1F2A44"/>
                </a:solidFill>
              </a:rPr>
              <a:t>np08-risk  </a:t>
            </a:r>
            <a:pPr indent="0" marL="0">
              <a:spcAft>
                <a:spcPts val="300"/>
              </a:spcAft>
              <a:buNone/>
            </a:pPr>
            <a:r>
              <a:rPr lang="en-US" sz="1050" dirty="0">
                <a:solidFill>
                  <a:srgbClr val="334155"/>
                </a:solidFill>
              </a:rPr>
              <a:t>Microsoft Learn, "Securing workload identities" (Microsoft Entra ID Protection), https://learn.microsoft.com/entra/id-protection/concept-workload-identity-risk (accessed Oct 30, 2026).</a:t>
            </a:r>
            <a:endParaRPr lang="en-US" sz="1050" dirty="0"/>
          </a:p>
          <a:p>
            <a:pPr indent="0" marL="0">
              <a:spcAft>
                <a:spcPts val="300"/>
              </a:spcAft>
              <a:buNone/>
            </a:pPr>
            <a:r>
              <a:rPr lang="en-US" sz="1050" b="1" dirty="0">
                <a:solidFill>
                  <a:srgbClr val="1F2A44"/>
                </a:solidFill>
              </a:rPr>
              <a:t>np08-faq  </a:t>
            </a:r>
            <a:pPr indent="0" marL="0">
              <a:spcAft>
                <a:spcPts val="300"/>
              </a:spcAft>
              <a:buNone/>
            </a:pPr>
            <a:r>
              <a:rPr lang="en-US" sz="1050" dirty="0">
                <a:solidFill>
                  <a:srgbClr val="334155"/>
                </a:solidFill>
              </a:rPr>
              <a:t>Microsoft Learn, "Frequently asked questions about Microsoft Entra Workload ID," https://learn.microsoft.com/entra/workload-id/workload-identities-faqs (accessed Oct 30, 2026).</a:t>
            </a:r>
            <a:endParaRPr lang="en-US" sz="1050" dirty="0"/>
          </a:p>
          <a:p>
            <a:pPr indent="0" marL="0">
              <a:spcAft>
                <a:spcPts val="300"/>
              </a:spcAft>
              <a:buNone/>
            </a:pPr>
            <a:r>
              <a:rPr lang="en-US" sz="1050" b="1" dirty="0">
                <a:solidFill>
                  <a:srgbClr val="1F2A44"/>
                </a:solidFill>
              </a:rPr>
              <a:t>np08-availability  </a:t>
            </a:r>
            <a:pPr indent="0" marL="0">
              <a:spcAft>
                <a:spcPts val="300"/>
              </a:spcAft>
              <a:buNone/>
            </a:pPr>
            <a:r>
              <a:rPr lang="en-US" sz="1050" dirty="0">
                <a:solidFill>
                  <a:srgbClr val="334155"/>
                </a:solidFill>
              </a:rPr>
              <a:t>Microsoft Learn, "Microsoft Entra feature availability," Microsoft Entra ID, ID Protection, and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np08-deployments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np08-clientapps  </a:t>
            </a:r>
            <a:pPr indent="0" marL="0">
              <a:spcAft>
                <a:spcPts val="300"/>
              </a:spcAft>
              <a:buNone/>
            </a:pPr>
            <a:r>
              <a:rPr lang="en-US" sz="1050" dirty="0">
                <a:solidFill>
                  <a:srgbClr val="334155"/>
                </a:solidFill>
              </a:rPr>
              <a:t>Microsoft Learn, "conditionalAccessClientApplications resource type," https://learn.microsoft.com/graph/api/resources/conditionalaccessclientapplications?view=graph-rest-1.0 (accessed Oct 30, 2026).</a:t>
            </a:r>
            <a:endParaRPr lang="en-US" sz="1050" dirty="0"/>
          </a:p>
          <a:p>
            <a:pPr indent="0" marL="0">
              <a:spcAft>
                <a:spcPts val="300"/>
              </a:spcAft>
              <a:buNone/>
            </a:pPr>
            <a:r>
              <a:rPr lang="en-US" sz="1050" b="1" dirty="0">
                <a:solidFill>
                  <a:srgbClr val="1F2A44"/>
                </a:solidFill>
              </a:rPr>
              <a:t>np08-conditionset  </a:t>
            </a:r>
            <a:pPr indent="0" marL="0">
              <a:spcAft>
                <a:spcPts val="300"/>
              </a:spcAft>
              <a:buNone/>
            </a:pPr>
            <a:r>
              <a:rPr lang="en-US" sz="1050" dirty="0">
                <a:solidFill>
                  <a:srgbClr val="334155"/>
                </a:solidFill>
              </a:rPr>
              <a:t>Microsoft Learn, "conditionalAccessConditionSet resource type," https://learn.microsoft.com/graph/api/resources/conditionalaccessconditionset?view=graph-rest-1.0 (accessed Oct 30, 2026).</a:t>
            </a:r>
            <a:endParaRPr lang="en-US" sz="1050" dirty="0"/>
          </a:p>
          <a:p>
            <a:pPr indent="0" marL="0">
              <a:spcAft>
                <a:spcPts val="300"/>
              </a:spcAft>
              <a:buNone/>
            </a:pPr>
            <a:r>
              <a:rPr lang="en-US" sz="1050" b="1" dirty="0">
                <a:solidFill>
                  <a:srgbClr val="1F2A44"/>
                </a:solidFill>
              </a:rPr>
              <a:t>np08-ca-list  </a:t>
            </a:r>
            <a:pPr indent="0" marL="0">
              <a:spcAft>
                <a:spcPts val="300"/>
              </a:spcAft>
              <a:buNone/>
            </a:pPr>
            <a:r>
              <a:rPr lang="en-US" sz="1050" dirty="0">
                <a:solidFill>
                  <a:srgbClr val="334155"/>
                </a:solidFill>
              </a:rPr>
              <a:t>Microsoft Learn, "List policies" (conditionalAccessRoot), https://learn.microsoft.com/graph/api/conditionalaccessroot-list-policies?view=graph-rest-1.0 (accessed Oct 30, 2026).</a:t>
            </a:r>
            <a:endParaRPr lang="en-US" sz="1050" dirty="0"/>
          </a:p>
          <a:p>
            <a:pPr indent="0" marL="0">
              <a:spcAft>
                <a:spcPts val="300"/>
              </a:spcAft>
              <a:buNone/>
            </a:pPr>
            <a:r>
              <a:rPr lang="en-US" sz="1050" b="1" dirty="0">
                <a:solidFill>
                  <a:srgbClr val="1F2A44"/>
                </a:solidFill>
              </a:rPr>
              <a:t>np08-ca-create  </a:t>
            </a:r>
            <a:pPr indent="0" marL="0">
              <a:spcAft>
                <a:spcPts val="300"/>
              </a:spcAft>
              <a:buNone/>
            </a:pPr>
            <a:r>
              <a:rPr lang="en-US" sz="1050" dirty="0">
                <a:solidFill>
                  <a:srgbClr val="334155"/>
                </a:solidFill>
              </a:rPr>
              <a:t>Microsoft Learn, "Create conditionalAccessPolicy," permissions and examples, https://learn.microsoft.com/graph/api/conditionalaccessroot-post-policies?view=graph-rest-1.0 (accessed Oct 30, 2026).</a:t>
            </a:r>
            <a:endParaRPr lang="en-US" sz="1050" dirty="0"/>
          </a:p>
          <a:p>
            <a:pPr indent="0" marL="0">
              <a:spcAft>
                <a:spcPts val="300"/>
              </a:spcAft>
              <a:buNone/>
            </a:pPr>
            <a:r>
              <a:rPr lang="en-US" sz="1050" b="1" dirty="0">
                <a:solidFill>
                  <a:srgbClr val="1F2A44"/>
                </a:solidFill>
              </a:rPr>
              <a:t>np08-ca-update  </a:t>
            </a:r>
            <a:pPr indent="0" marL="0">
              <a:spcAft>
                <a:spcPts val="300"/>
              </a:spcAft>
              <a:buNone/>
            </a:pPr>
            <a:r>
              <a:rPr lang="en-US" sz="1050" dirty="0">
                <a:solidFill>
                  <a:srgbClr val="334155"/>
                </a:solidFill>
              </a:rPr>
              <a:t>Microsoft Learn, "Update conditionalaccesspolicy," https://learn.microsoft.com/graph/api/conditionalaccesspolicy-update?view=graph-rest-1.0 (accessed Oct 30, 2026).</a:t>
            </a:r>
            <a:endParaRPr lang="en-US" sz="1050" dirty="0"/>
          </a:p>
          <a:p>
            <a:pPr indent="0" marL="0">
              <a:spcAft>
                <a:spcPts val="300"/>
              </a:spcAft>
              <a:buNone/>
            </a:pPr>
            <a:r>
              <a:rPr lang="en-US" sz="1050" b="1" dirty="0">
                <a:solidFill>
                  <a:srgbClr val="1F2A44"/>
                </a:solidFill>
              </a:rPr>
              <a:t>np08-nl-list  </a:t>
            </a:r>
            <a:pPr indent="0" marL="0">
              <a:spcAft>
                <a:spcPts val="300"/>
              </a:spcAft>
              <a:buNone/>
            </a:pPr>
            <a:r>
              <a:rPr lang="en-US" sz="1050" dirty="0">
                <a:solidFill>
                  <a:srgbClr val="334155"/>
                </a:solidFill>
              </a:rPr>
              <a:t>Microsoft Learn, "List namedLocations," https://learn.microsoft.com/graph/api/conditionalaccessroot-list-namedlocations?view=graph-rest-1.0 (accessed Oct 30, 2026).</a:t>
            </a:r>
            <a:endParaRPr lang="en-US" sz="1050" dirty="0"/>
          </a:p>
          <a:p>
            <a:pPr indent="0" marL="0">
              <a:spcAft>
                <a:spcPts val="300"/>
              </a:spcAft>
              <a:buNone/>
            </a:pPr>
            <a:r>
              <a:rPr lang="en-US" sz="1050" b="1" dirty="0">
                <a:solidFill>
                  <a:srgbClr val="1F2A44"/>
                </a:solidFill>
              </a:rPr>
              <a:t>np08-nl-create  </a:t>
            </a:r>
            <a:pPr indent="0" marL="0">
              <a:spcAft>
                <a:spcPts val="300"/>
              </a:spcAft>
              <a:buNone/>
            </a:pPr>
            <a:r>
              <a:rPr lang="en-US" sz="1050" dirty="0">
                <a:solidFill>
                  <a:srgbClr val="334155"/>
                </a:solidFill>
              </a:rPr>
              <a:t>Microsoft Learn, "Create namedLocation," https://learn.microsoft.com/graph/api/conditionalaccessroot-post-namedlocations?view=graph-rest-1.0 (accessed Oct 30, 2026).</a:t>
            </a:r>
            <a:endParaRPr lang="en-US" sz="1050" dirty="0"/>
          </a:p>
          <a:p>
            <a:pPr indent="0" marL="0">
              <a:spcAft>
                <a:spcPts val="300"/>
              </a:spcAft>
              <a:buNone/>
            </a:pPr>
            <a:r>
              <a:rPr lang="en-US" sz="1050" b="1" dirty="0">
                <a:solidFill>
                  <a:srgbClr val="1F2A44"/>
                </a:solidFill>
              </a:rPr>
              <a:t>np08-nl-update  </a:t>
            </a:r>
            <a:pPr indent="0" marL="0">
              <a:spcAft>
                <a:spcPts val="300"/>
              </a:spcAft>
              <a:buNone/>
            </a:pPr>
            <a:r>
              <a:rPr lang="en-US" sz="1050" dirty="0">
                <a:solidFill>
                  <a:srgbClr val="334155"/>
                </a:solidFill>
              </a:rPr>
              <a:t>Microsoft Learn, "Update ipNamedlocation," https://learn.microsoft.com/graph/api/ipnamedlocation-update?view=graph-rest-1.0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np08-signins  </a:t>
            </a:r>
            <a:pPr indent="0" marL="0">
              <a:spcAft>
                <a:spcPts val="300"/>
              </a:spcAft>
              <a:buNone/>
            </a:pPr>
            <a:r>
              <a:rPr lang="en-US" sz="1050" dirty="0">
                <a:solidFill>
                  <a:srgbClr val="334155"/>
                </a:solidFill>
              </a:rPr>
              <a:t>Microsoft Learn, "List signIns" (beta), permissions and optional query parameters, https://learn.microsoft.com/graph/api/signin-list?view=graph-rest-beta (accessed Oct 30, 2026).</a:t>
            </a:r>
            <a:endParaRPr lang="en-US" sz="1050" dirty="0"/>
          </a:p>
          <a:p>
            <a:pPr indent="0" marL="0">
              <a:spcAft>
                <a:spcPts val="300"/>
              </a:spcAft>
              <a:buNone/>
            </a:pPr>
            <a:r>
              <a:rPr lang="en-US" sz="1050" b="1" dirty="0">
                <a:solidFill>
                  <a:srgbClr val="1F2A44"/>
                </a:solidFill>
              </a:rPr>
              <a:t>np08-applied  </a:t>
            </a:r>
            <a:pPr indent="0" marL="0">
              <a:spcAft>
                <a:spcPts val="300"/>
              </a:spcAft>
              <a:buNone/>
            </a:pPr>
            <a:r>
              <a:rPr lang="en-US" sz="1050" dirty="0">
                <a:solidFill>
                  <a:srgbClr val="334155"/>
                </a:solidFill>
              </a:rPr>
              <a:t>Microsoft Learn, "appliedConditionalAccessPolicy resource type" (beta), https://learn.microsoft.com/graph/api/resources/appliedconditionalaccesspolicy?view=graph-rest-beta (accessed Oct 30, 2026).</a:t>
            </a:r>
            <a:endParaRPr lang="en-US" sz="1050" dirty="0"/>
          </a:p>
          <a:p>
            <a:pPr indent="0" marL="0">
              <a:spcAft>
                <a:spcPts val="300"/>
              </a:spcAft>
              <a:buNone/>
            </a:pPr>
            <a:r>
              <a:rPr lang="en-US" sz="1050" b="1" dirty="0">
                <a:solidFill>
                  <a:srgbClr val="1F2A44"/>
                </a:solidFill>
              </a:rPr>
              <a:t>np08-errors  </a:t>
            </a:r>
            <a:pPr indent="0" marL="0">
              <a:spcAft>
                <a:spcPts val="300"/>
              </a:spcAft>
              <a:buNone/>
            </a:pPr>
            <a:r>
              <a:rPr lang="en-US" sz="1050" dirty="0">
                <a:solidFill>
                  <a:srgbClr val="334155"/>
                </a:solidFill>
              </a:rPr>
              <a:t>Microsoft Learn, "Microsoft Entra authentication and authorization error codes," AADSTS53003, https://learn.microsoft.com/entra/identity-platform/reference-error-codes, and "Troubleshoot sign-in problems with Conditional Access," https://learn.microsoft.com/entra/identity/conditional-access/troubleshoot-conditional-access (accessed Oct 30, 2026).</a:t>
            </a:r>
            <a:endParaRPr lang="en-US" sz="1050" dirty="0"/>
          </a:p>
          <a:p>
            <a:pPr indent="0" marL="0">
              <a:spcAft>
                <a:spcPts val="300"/>
              </a:spcAft>
              <a:buNone/>
            </a:pPr>
            <a:r>
              <a:rPr lang="en-US" sz="1050" b="1" dirty="0">
                <a:solidFill>
                  <a:srgbClr val="1F2A44"/>
                </a:solidFill>
              </a:rPr>
              <a:t>np08-la-table  </a:t>
            </a:r>
            <a:pPr indent="0" marL="0">
              <a:spcAft>
                <a:spcPts val="300"/>
              </a:spcAft>
              <a:buNone/>
            </a:pPr>
            <a:r>
              <a:rPr lang="en-US" sz="1050" dirty="0">
                <a:solidFill>
                  <a:srgbClr val="334155"/>
                </a:solidFill>
              </a:rPr>
              <a:t>Microsoft Learn, "AADServicePrincipalSignInLogs" (Azure Monitor Logs reference), https://learn.microsoft.com/azure/azure-monitor/reference/tables/aadserviceprincipalsigninlogs (accessed Oct 30, 2026).</a:t>
            </a:r>
            <a:endParaRPr lang="en-US" sz="1050" dirty="0"/>
          </a:p>
          <a:p>
            <a:pPr indent="0" marL="0">
              <a:spcAft>
                <a:spcPts val="300"/>
              </a:spcAft>
              <a:buNone/>
            </a:pPr>
            <a:r>
              <a:rPr lang="en-US" sz="1050" b="1" dirty="0">
                <a:solidFill>
                  <a:srgbClr val="1F2A44"/>
                </a:solidFill>
              </a:rPr>
              <a:t>np08-la-queries  </a:t>
            </a:r>
            <a:pPr indent="0" marL="0">
              <a:spcAft>
                <a:spcPts val="300"/>
              </a:spcAft>
              <a:buNone/>
            </a:pPr>
            <a:r>
              <a:rPr lang="en-US" sz="1050" dirty="0">
                <a:solidFill>
                  <a:srgbClr val="334155"/>
                </a:solidFill>
              </a:rPr>
              <a:t>Microsoft Learn, "Queries for the AADServicePrincipalSignInLogs table," https://learn.microsoft.com/azure/azure-monitor/reference/queries/aadserviceprincipalsigninlogs (accessed Oct 30, 2026).</a:t>
            </a:r>
            <a:endParaRPr lang="en-US" sz="1050" dirty="0"/>
          </a:p>
          <a:p>
            <a:pPr indent="0" marL="0">
              <a:spcAft>
                <a:spcPts val="300"/>
              </a:spcAft>
              <a:buNone/>
            </a:pPr>
            <a:r>
              <a:rPr lang="en-US" sz="1050" b="1" dirty="0">
                <a:solidFill>
                  <a:srgbClr val="1F2A44"/>
                </a:solidFill>
              </a:rPr>
              <a:t>np08-alert  </a:t>
            </a:r>
            <a:pPr indent="0" marL="0">
              <a:spcAft>
                <a:spcPts val="300"/>
              </a:spcAft>
              <a:buNone/>
            </a:pPr>
            <a:r>
              <a:rPr lang="en-US" sz="1050" dirty="0">
                <a:solidFill>
                  <a:srgbClr val="334155"/>
                </a:solidFill>
              </a:rPr>
              <a:t>Microsoft Learn, "Create or edit a log search alert rule," https://learn.microsoft.com/azure/azure-monitor/alerts/alerts-create-log-alert-rule (accessed Oct 30, 2026).</a:t>
            </a:r>
            <a:endParaRPr lang="en-US" sz="1050" dirty="0"/>
          </a:p>
          <a:p>
            <a:pPr indent="0" marL="0">
              <a:spcAft>
                <a:spcPts val="300"/>
              </a:spcAft>
              <a:buNone/>
            </a:pPr>
            <a:r>
              <a:rPr lang="en-US" sz="1050" b="1" dirty="0">
                <a:solidFill>
                  <a:srgbClr val="1F2A44"/>
                </a:solidFill>
              </a:rPr>
              <a:t>np08-sp-get  </a:t>
            </a:r>
            <a:pPr indent="0" marL="0">
              <a:spcAft>
                <a:spcPts val="300"/>
              </a:spcAft>
              <a:buNone/>
            </a:pPr>
            <a:r>
              <a:rPr lang="en-US" sz="1050" dirty="0">
                <a:solidFill>
                  <a:srgbClr val="334155"/>
                </a:solidFill>
              </a:rPr>
              <a:t>Microsoft Learn, "Get servicePrincipal," https://learn.microsoft.com/graph/api/serviceprincipal-get?view=graph-rest-1.0 (accessed Oct 30, 2026); declared for the same call in Chapter 01's call list.</a:t>
            </a:r>
            <a:endParaRPr lang="en-US" sz="1050" dirty="0"/>
          </a:p>
          <a:p>
            <a:pPr indent="0" marL="0">
              <a:spcAft>
                <a:spcPts val="300"/>
              </a:spcAft>
              <a:buNone/>
            </a:pPr>
            <a:r>
              <a:rPr lang="en-US" sz="1050" b="1" dirty="0">
                <a:solidFill>
                  <a:srgbClr val="1F2A44"/>
                </a:solidFill>
              </a:rPr>
              <a:t>np08-sp-list  </a:t>
            </a:r>
            <a:pPr indent="0" marL="0">
              <a:spcAft>
                <a:spcPts val="300"/>
              </a:spcAft>
              <a:buNone/>
            </a:pPr>
            <a:r>
              <a:rPr lang="en-US" sz="1050" dirty="0">
                <a:solidFill>
                  <a:srgbClr val="334155"/>
                </a:solidFill>
              </a:rPr>
              <a:t>Microsoft Learn, "List servicePrincipals," permissions, https://learn.microsoft.com/graph/api/serviceprincipal-list?view=graph-rest-1.0 (accessed Oct 30, 2026).</a:t>
            </a:r>
            <a:endParaRPr lang="en-US" sz="1050" dirty="0"/>
          </a:p>
          <a:p>
            <a:pPr indent="0" marL="0">
              <a:spcAft>
                <a:spcPts val="300"/>
              </a:spcAft>
              <a:buNone/>
            </a:pPr>
            <a:r>
              <a:rPr lang="en-US" sz="1050" b="1" dirty="0">
                <a:solidFill>
                  <a:srgbClr val="1F2A44"/>
                </a:solidFill>
              </a:rPr>
              <a:t>np08-src  </a:t>
            </a:r>
            <a:pPr indent="0" marL="0">
              <a:spcAft>
                <a:spcPts val="300"/>
              </a:spcAft>
              <a:buNone/>
            </a:pPr>
            <a:r>
              <a:rPr lang="en-US" sz="1050" dirty="0">
                <a:solidFill>
                  <a:srgbClr val="334155"/>
                </a:solidFill>
              </a:rPr>
              <a:t>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08 — Conditional Access for Workload Identities</dc:title>
  <dc:subject>PptxGenJS Presentation</dc:subject>
  <dc:creator>Michael F. Stratton</dc:creator>
  <cp:lastModifiedBy>Michael F. Stratton</cp:lastModifiedBy>
  <cp:revision>1</cp:revision>
  <dcterms:created xsi:type="dcterms:W3CDTF">2026-10-31T14:33:48Z</dcterms:created>
  <dcterms:modified xsi:type="dcterms:W3CDTF">2026-10-31T14:33:48Z</dcterms:modified>
</cp:coreProperties>
</file>