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eacbd7-bc3e-97f6-0af2-e266262dd0c6}">
          <p14:sldIdLst>
            <p14:sldId id="256"/>
          </p14:sldIdLst>
        </p14:section>
        <p14:section name="Why" id="{f781c2c3-66ed-a141-05c4-08d11fe9c11a}">
          <p14:sldIdLst>
            <p14:sldId id="257"/>
            <p14:sldId id="258"/>
          </p14:sldIdLst>
        </p14:section>
        <p14:section name="What" id="{fb609b93-e8ab-5681-5513-e03d96de9260}">
          <p14:sldIdLst>
            <p14:sldId id="259"/>
            <p14:sldId id="260"/>
            <p14:sldId id="261"/>
            <p14:sldId id="262"/>
            <p14:sldId id="263"/>
            <p14:sldId id="264"/>
            <p14:sldId id="265"/>
            <p14:sldId id="266"/>
            <p14:sldId id="267"/>
          </p14:sldIdLst>
        </p14:section>
        <p14:section name="Who" id="{25146d5f-97b0-d1b3-6211-02da9529b48e}">
          <p14:sldIdLst>
            <p14:sldId id="268"/>
          </p14:sldIdLst>
        </p14:section>
        <p14:section name="How" id="{df661f57-b467-b2c3-1d0f-04769ea6b2fd}">
          <p14:sldIdLst>
            <p14:sldId id="269"/>
            <p14:sldId id="270"/>
            <p14:sldId id="271"/>
            <p14:sldId id="272"/>
            <p14:sldId id="273"/>
          </p14:sldIdLst>
        </p14:section>
        <p14:section name="Backup" id="{f278c94e-db14-c676-670a-52bf85d67690}">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3: writing a validation kit check. A check is only evidence if it can't change what it measures, can't pass when it failed to look, and asks for no more access than the question needs. We'll build one new check end to end, on soft match and hard match takeover, and along the way meet a read that only a Global Administrator can make. Then the tests, the safety rules, two labs and the dangers. One note before we begin: the code is illustrative, tested against fixtures.
Detail: The chapter covers the anatomy of a validation kit check, built end to end on a new one, VK-SYNC-02, which reports whether the tenant blocks soft match and cloud object takeover through hard match. You add a catalog entry, read the data through the kit's one data path, turn it into findings, write pass and fail fixtures and Pester tests, and pass the kit's safety tests. The check also shows what to do when Microsoft's only supported role for a read is Global Administrator. Lab 1 runs on fixtures; Lab 2 uses an export from a test tenant. Goal: by the end of the chapter you can add a check to examples/validation-kit that the kit's own tests accept: named after its ID, catalogued with its permission and role, tested on fixtures in both directions, read-only by construction, and honest about what it couldn't read. The kit is the executable form of the Validate step at each gate of the implementation guide and the three track guides; its README lists every check, its permission and its Learn page. Book 13, Chapter 07 explains why the program wants evidence a machine produced over a statement someone signed.
Sources: Building the Attribute-Driven Migration, Chapter 03, docs/project-plans/developer-workbooks/attribute-driven-migration/03-writing-a-validation-kit-check.md
Workbook: Building the Attribute-Driven Migration, Chapter 03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check? Gate 3 of the implementation guide maps attributes through sync, and before the first user from Active Directory lands in a tenant that already has cloud accounts, the sync engine has to decide who matches whom. It can join on an email address or user name, which is soft match, or on the source anchor, which is hard match. Left open, either one lets an on-premises object take over a cloud account. Microsoft says keep both blocked except during an approved matching window. So the question is simple, which makes it a good first check. It also hides a lesson.
Detail: Gate 3 of the implementation guide maps attributes through sync. Before a single AD user is synchronized into a tenant that already has cloud accounts, the sync engine has to decide which incoming object matches which cloud account. A soft match joins on the primary SMTP address, and on the UPN when soft match on UPN is turned on; a hard match joins on the source anchor against onPremisesImmutableId. Either one, left open, lets an AD object take over a cloud account. Microsoft advises keeping soft match blocked, and offers a feature to block cloud object takeover through hard match, and says to turn each off only while a matching procedure needs it and back on when it's done. From July 1, 2026, Entra ID also blocks a hard match on its own when the target cloud account holds or is eligible for a privileged role or already has onPremisesObjectIdentifier set; soft match stays governed by the blocking feature alone. So the question is simple: are both blocks on, and if not, is there an approved window that says why? That makes a good first check. It also hides a lesson.
Sources: Microsoft Learn, "Configure Microsoft Entra Connect for an existing tenant," https://learn.microsoft.com/entra/identity/hybrid/connect/how-to-connect-install-existing-tenant (accessed Oct 30, 2026). · Microsoft Learn, "Set-EntraDirSyncFeature," https://learn.microsoft.com/powershell/module/microsoft.entra.directorymanagement/set-entradirsyncfeature?view=entra-powershell (accessed Oct 30, 2026).
Workbook: Building the Attribute-Driven Migration, Chapter 03 — “Why this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The kit reads Microsoft Graph, and the host depends on the tenant. A GCC tenant sits on the worldwide endpoints, so it reads the same Graph host as a commercial tenant; GCC High and the Defense cloud have their own. The sync read this chapter needs is available in all of them, at version one point oh. And the kit holds the line on hosts: if Graph hands back a next page that points anywhere other than the cloud's own Graph host, the kit refuses it, so the token never leaves.
Detail: Graph host per cloud: graph.microsoft.com (worldwide and Microsoft 365 GCC), graph.microsoft.us (GCC High), dod-graph.microsoft.us (DoD). Reading the sync features, GET /directory/onPremisesSynchronization, is available in Global and in US Government L4 and L5, at v1.0. The rule-evaluation action that VK-DG-03 uses is also available in Global and US Government L4 and L5, but at beta. Lab 2's export signs in with Connect-MgGraph -Environment Global, with USGov for GCC High. The safety tests refuse a nextLink that points at a host other than the cloud's own Graph host, so a token never leaves.
Sources: Microsoft Learn, "Microsoft Graph national cloud deployments," https://learn.microsoft.com/graph/deployments (accessed Oct 30, 2026). · Microsoft Learn, "Get onPremisesDirectorySynchronization," https://learn.microsoft.com/graph/api/onpremisesdirectorysynchronization-get?view=graph-rest-1.0 (accessed Oct 30, 2026). · Microsoft Learn, "group: evaluateDynamicMembership," https://learn.microsoft.com/graph/api/group-evaluatedynamicmembership?view=graph-rest-beta (accessed Oct 30, 2026).
Workbook: Building the Attribute-Driven Migration, Chapter 03 — “Verified facts”; “The safety tests”;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in the kit has the same five parts, and once you see them, adding a check is mostly filling in a pattern. There's a catalog entry that says what the check is and what access it needs. A function, named from the check's ID. A read through the kit's single data path. Rows that turn what was read into findings and a status. And fixtures with tests, so the check has to pass clean data and fail planted problems, with an exact count. The README's permission table mirrors the catalog, and a test keeps them in step. Let's build each part.
Detail: Every check has the same five parts. Catalog entry, in Private/Catalog.ps1: ID, track, title, source, Graph permissions, delegated role, release stage, Learn pages; marks optional and preview checks. Function, in Checks/&lt;TRACK&gt;.ps1: Invoke-Vk&lt;Track&gt;&lt;NN&gt;, named from the ID; wraps its body in Invoke-VkCheckBody. Data read, through Get-VkData, Read-VkInputJson and Read-VkInputCsv: one path for fixtures, Graph, Resource Graph, AD and input files; logs every read as evidence. Rows and outcome, through ConvertTo-VkFinding, Get-VkOutcome and Get-VkNotApplicable: detail rows with one shape; status from the rows. Tests and fixtures, in tests/fixtures/pass, tests/fixtures/fail and tests/powershell: the check must pass clean data and fail planted problems with an exact count. The README's permissions table mirrors the catalog, and a test fails if any catalogued check is missing from it.
Sources: Building the Attribute-Driven Migration, Chapter 03, docs/project-plans/developer-workbooks/attribute-driven-migration/03-writing-a-validation-kit-check.md
Workbook: Building the Attribute-Driven Migration, Chapter 03 — “The anatomy of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catalog entry, and the lesson hiding in it. The read itself is innocent: get the tenant's sync settings, with a read-only permission that sounds harmless. But Learn lists no application permission for it at all, and for a signed-in user it names exactly one supported role, Global Administrator. So a check that only reads, run live, would need the most powerful role in the tenant. Being read-only is necessary, but it isn't enough. The next slide shows what the check does about it.
Detail: The README's permissions table mirrors the catalog, and a test fails if any catalogued check is missing from it. The entry for VK-SYNC-02: Id 'VK-SYNC-02'; Track 'SYNC'; Title 'Optional: soft match and hard match takeover not blocked outside an approved matching window'; Source 'Input (export), or Graph delegated'; GraphPermissions OnPremDirectorySynchronization.Read.All; DelegatedRole 'Global Administrator (the only role Learn lists; delegated only, no application permission)'; AzureRole empty; Stage 'v1.0'; Optional = $true; Learn = the OnPremSync and MatchBlock pages. The lesson: the read is GET /directory/onPremisesSynchronization. Its least-privileged permission is OnPremDirectorySynchronization.Read.All, which looks harmless. But Learn lists no application permission for it at all, and for delegated access says Global Administrator is the only supported role. A read-only check, run live, would need the most powerful role in the tenant. The kit's rule is that a check asks for the least privilege the question needs, and GET-only is necessary but not sufficient.
Sources: Microsoft Learn, "Get onPremisesDirectorySynchronization," https://learn.microsoft.com/graph/api/onpremisesdirectorysynchronization-get?view=graph-rest-1.0 (accessed Oct 30, 2026).
Workbook: Building the Attribute-Driven Migration, Chapter 03 — “The catalog entry, and the lesson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check does three things differently. It's optional: it never runs unless you name it. It prefers an export: a Global Administrator who's already signed in for other reasons saves the response to a file, and the kit reads the file without ever needing the role. And it says so, in plain words in the catalog, so a security officer knows what a live run would demand before anyone tries it. The program's design guidance follows from that: never create a standing Global Administrator identity just so a check can run on a schedule.
Detail: The kit's rule is that a check asks for the least privilege the question needs, and GET-only is necessary but not sufficient. So VK-SYNC-02 does three things differently from a typical check. It is optional: Optional = $true keeps it out of a default run, the same way the preview check VK-NPI-09 is kept out; it runs only when named with -CheckId. It prefers an export: a Global Administrator who is already signed in for other reasons saves the GET's response to a file; the kit reads the file and never needs the role; the live Graph read is the fallback, not the plan. It says so: the catalog's DelegatedRole names the role and the reason, so Get-VkCheckCatalog and the README tell an ISSO what running it live would require before anyone does. Design guidance: when a read's only supported role is a privileged one, make the check consume an export by default and record in the evidence which path it took. Don't build a standing identity with that role so a check can run on a schedule.
Sources: Microsoft Learn, "Get onPremisesDirectorySynchronization," https://learn.microsoft.com/graph/api/onpremisesdirectorysynchronization-get?view=graph-rest-1.0 (accessed Oct 30, 2026).
Workbook: Building the Attribute-Driven Migration, Chapter 03 — “The catalog entry, and the lesson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function. It reads the export if there is one, otherwise it asks Graph, and if the tenant has no sync object at all, it says the check doesn't apply. The important part is the wrapper around it. Every check runs inside the same body wrapper, which looks up the catalog entry, records every read, and turns any exception into an error result. That means a read that throws can never come back as a pass. So resist the urge to catch exceptions inside your check to make it more robust. That's exactly how a check passes while blind.
Detail: Invoke-VkSync02 takes the run context and wraps its body in Invoke-VkCheckBody 'VK-SYNC-02'. The body reads the export with Read-VkInputJson -Option 'OnPremSyncExportFile'; if it's present, the items are the export, or its value array. Otherwise it reads with Get-VkData -Name 'onPremisesSynchronization' -Uri $script:VkOnPremSyncUri. Null items are dropped; if none remain it returns Get-VkNotApplicable 'The tenant has no on-premises directory synchronization object'. Invoke-VkCheckBody does the work every check needs and none should repeat: it looks up the catalog entry, clears the query log, runs the body, catches any exception and turns it into Status = 'Error', and wraps the outcome with the evidence block (mode, source, every query with its time, permissions, role, stage, as-of and collection time). Because of that wrapper, a read that throws can never come back as Pass. Don't catch exceptions inside the body to make a check "more robust"; that is how a check passes while blind.
Sources: Building the Attribute-Driven Migration, Chapter 03, docs/project-plans/developer-workbooks/attribute-driven-migration/03-writing-a-validation-kit-check.md
Workbook: Building the Attribute-Driven Migration, Chapter 03 —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exactly one way a check reads tenant data, and that's on purpose. In a fixture run, the data path reads a file from the fixture folder. Live, it calls Graph with the address. And an export comes in through the input reader. All three are logged the same way, so when a reviewer opens the evidence, they can tell from the evidence alone which path a result came from: a fixture, a live tenant, or a file a Global Administrator saved. That matters for this check above all, because the path is what tells you whether the powerful role was ever needed.
Detail: Get-VkData is the only way a check reads tenant data. In fixture mode it reads &lt;fixture folder&gt;\onPremisesSynchronization.json; live, it calls Invoke-VkGraphGet with the URI. Both are logged the same way, so the evidence shows fixture:onPremisesSynchronization.json &lt;= /v1.0/directory/onPremisesSynchronization in a fixture run and the URI in a live one. The export is read by Read-VkInputJson, which logs it as Input. A reviewer can tell from the evidence alone which of the three paths a result came from.
Sources: Building the Attribute-Driven Migration, Chapter 03, docs/project-plans/developer-workbooks/attribute-driven-migration/03-writing-a-validation-kit-check.md
Workbook: Building the Attribute-Driven Migration, Chapter 03 —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rows. A block that's off is a finding, and the check fails. But if there's an approved matching window, the same state is a warning: someone should look, it isn't a failure. The window is a date, so the day after it closes, the warning turns back into a finding without anyone editing anything. Soft match on user name is just context, since Microsoft says it can't be turned off once enabled. And one rule matters more than it looks: a missing value is read as off. If the response shape changes, you get a finding, not a silent pass.
Detail: The check reads MatchWindowOpenUntil from the run options; if set, the window is open while that date is on or after the as-of date. Severity is Warn when the window is open, otherwise Finding. For each synchronization object it reads features; if blockSoftMatchEnabled isn't true it writes a row with Issue 'Soft match is not blocked' and Data Feature = blockSoftMatchEnabled, Value = false; the same for blockCloudObjectTakeoverThroughHardMatchEnabled; and an Info row for softMatchOnUpnEnabled. Then Get-VkOutcome -Rows. Three severities, three meanings. A Finding fails the check. A Warn needs a person to look but isn't a failure: here, a block that is off inside an approved matching window, which MatchWindowOpenUntil records as the window's last day. The day after, the same state is a Finding again, without anyone editing anything. An Info row gives context and isn't counted: soft match on UPN, which Microsoft's Entra PowerShell documentation says can't be turned off once it's enabled. Get-VkOutcome derives the status from the rows (Fail if any Finding, else Warn if any Warn, else Pass), and the count is Findings plus Warns. A missing value is read as off: Get-VkValue $f 'blockSoftMatchEnabled' $false returns $false when the property is absent, so a response shape the kit doesn't expect produces a Finding, not a silent Pass. Design guidance: default every "is the control on" read to the unsafe answer. NotApplicable is for a tenant with nothing to check, here no synchronization object at all, and for a missing input. It is never used for a failed read.
Sources: Microsoft Learn, "Set-EntraDirSyncFeature," https://learn.microsoft.com/powershell/module/microsoft.entra.directorymanagement/set-entradirsyncfeature?view=entra-powershell (accessed Oct 30, 2026).
Workbook: Building the Attribute-Driven Migration, Chapter 03 — “Rows and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 is tested in both directions. The fixtures are a fictional tenant in two states: one with both blocks on, one with both off. Each copies the shape of Learn's example response, with one extra property the check shouldn't read, so a check that reads the wrong one gets caught. Adding the check to the table-driven test is a single line, and that line buys four tests, including an exact failure count. Then a short block covers what's particular to this check: the window, the export, and the empty tenant. With the README and catalog updated, the whole suite passes.
Detail: The fixtures are a fictional tenant, contoso.example, in two states. tests/fixtures/pass/onPremisesSynchronization.json has both blocks on; tests/fixtures/fail/onPremisesSynchronization.json has both off, and soft match on UPN on. Each is the shape Learn's example response shows, cut to the properties the check reads plus one it doesn't, so a test would catch a check that reads the wrong one. Adding the check to the table-driven test in Checks.Tests.ps1 is one line: @{ Id = 'VK-SYNC-02'; FailStatus = 'Fail'; FailCount = 2 }. That line buys four tests: the pass fixture gives Pass with a count of 0; the fail fixture gives Fail with exactly 2 rows that aren't Info; the result has the full shape with evidence; every detail row has the same columns. Then a Describe block for what is particular to this check: it isn't selected by default, and its catalog entry names Global Administrator; soft match on UPN is an Info row, not a finding; inside an open window the status is Warn and the message names the date, and the day after, it's Fail; an export in -InputPath is read instead of Graph, and the evidence shows Input; a tenant with no synchronization object is NotApplicable. The catalog test that lists every check ID in order also gains VK-SYNC-02, and the README gains its row. With those, the kit's suite was 274 tests on PowerShell 7, all passing. Six more came with the tenant ID in the run manifest, for 280.
Sources: Microsoft Learn, "Get onPremisesDirectorySynchronization," https://learn.microsoft.com/graph/api/onpremisesdirectorysynchronization-get?view=graph-rest-1.0 (accessed Oct 30, 2026).
Workbook: Building the Attribute-Driven Migration, Chapter 03 — “Fixtures and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safety tests are why you can trust a new check without re-proving it. They parse every script in the kit and fail the build on anything that could change state, and every Graph call has to say, literally, that it's a read. There's one pinned exception, a beta action that evaluates a rule and changes nothing. Because this check reads only through the shared data path, it passes those tests untouched. And the fix for a finding is a write, so it never goes in the check. It goes in the change record, run by the identity team under change control.
Detail: Safety.Tests.ps1 parses every script in the kit and fails the build on any state-changing command: write verbs, Invoke-RestMethod, Invoke-WebRequest, native programs, file redirection, and more. Every Invoke-MgGraphRequest must carry a literal -Method GET, with one exception pinned by a test to one function: the beta evaluateDynamicMembership action that VK-DG-03 uses, which evaluates a rule and changes nothing. Graph beta paths are limited to a declared list. A nextLink that points at a host other than the cloud's own Graph host is refused, so a token never leaves. VK-SYNC-02 passes those tests without any change to them, because it reads only through Get-VkData and Read-VkInputJson. That's the point of the single data path: a new check inherits the safety properties instead of re-proving them. If your check seems to need its own HTTP call, it doesn't; add what it needs to the data path, where the safety tests already look. The remediation is a write, so it stays out of the kit. Learn's command to block soft match: Connect-MgGraph -Scopes "OnPremDirectorySynchronization.ReadWrite.All"; $OnPremSync = Get-MgDirectoryOnPremiseSynchronization; $OnPremSync.Features.BlockSoftMatchEnabled = $true; Update-MgDirectoryOnPremiseSynchronization -OnPremisesDirectorySynchronizationId $OnPremSync.Id -Features $OnPremSync.Features; and the same with BlockCloudObjectTakeoverThroughHardMatchEnabled for hard match. The Entra PowerShell equivalent is Set-EntraDirSyncFeature -Features 'BlockSoftMatch' -Enable $true, which Learn says needs Global Administrator. Put these in the change record that the finding opens, run by the identity team under change control, never in the check.
Sources: Microsoft Learn, "Configure Microsoft Entra Connect for an existing tenant," https://learn.microsoft.com/entra/identity/hybrid/connect/how-to-connect-install-existing-tenant (accessed Oct 30, 2026). · Microsoft Learn, "Set-EntraDirSyncFeature," https://learn.microsoft.com/powershell/module/microsoft.entra.directorymanagement/set-entradirsyncfeature?view=entra-powershell (accessed Oct 30, 2026). · Microsoft Learn, "group: evaluateDynamicMembership," https://learn.microsoft.com/graph/api/group-evaluatedynamicmembership?view=graph-rest-beta (accessed Oct 30, 2026).
Workbook: Building the Attribute-Driven Migration, Chapter 03 — “The safety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verified-facts table, the calls the check depends on. The read needs only a read permission, but only a Global Administrator can make it, and only as a signed-in user. The fix needs the matching write permission and the same role. The kit's one exception to read-only, the rule evaluation, is still in beta, and that's labeled wherever it appears. Underneath it all, the shared reader does two things every Graph client must: it follows the next page link as given until there isn't one, and when Graph says slow down, it waits as told.
Detail: Read sync features: GET /directory/onPremisesSynchronization; least-privileged permission OnPremDirectorySynchronization.Read.All, delegated only, no application permission; Global Administrator, the only supported role; Global, US Government L4 and L5; v1.0. Block soft or hard match (remediation, not in the kit): Update-MgDirectoryOnPremiseSynchronization with BlockSoftMatchEnabled or BlockCloudObjectTakeoverThroughHardMatchEnabled; OnPremDirectorySynchronization.ReadWrite.All; Global Administrator (Entra PowerShell); clouds as above; v1.0. Rule evaluation (VK-DG-03, the kit's one POST): POST /groups/{id}/evaluateDynamicMembership and POST /groups/evaluateDynamicMembership; Group.Read.All and User.Read.All (or Device.Read.All), delegated only; Global, US Government L4 and L5; beta. Paging: follow @odata.nextLink as an opaque URL until it is absent. Throttling: on 429, wait Retry-After, then retry; back off exponentially if the header is missing. Graph host per cloud: graph.microsoft.com (worldwide and Microsoft 365 GCC), graph.microsoft.us (GCC High), dod-graph.microsoft.us (DoD).
Sources: Microsoft Learn, "Get onPremisesDirectorySynchronization," https://learn.microsoft.com/graph/api/onpremisesdirectorysynchronization-get?view=graph-rest-1.0 (accessed Oct 30, 2026). · Microsoft Learn, "Configure Microsoft Entra Connect for an existing tenant," https://learn.microsoft.com/entra/identity/hybrid/connect/how-to-connect-install-existing-tenant (accessed Oct 30, 2026). · Microsoft Learn, "Set-EntraDirSyncFeature," https://learn.microsoft.com/powershell/module/microsoft.entra.directorymanagement/set-entradirsyncfeature?view=entra-powershell (accessed Oct 30, 2026). · Microsoft Learn, "group: evaluateDynamicMembership," https://learn.microsoft.com/graph/api/group-evaluatedynamicmembership?view=graph-rest-beta (accessed Oct 30, 2026). · Microsoft Learn, "Best practices for working with Microsoft Graph," https://learn.microsoft.com/graph/best-practices-concept (accessed Oct 30, 2026). · Microsoft Learn, "Microsoft Graph throttling guidance," https://learn.microsoft.com/graph/throttling (accessed Oct 30, 2026). · Microsoft Learn, "Microsoft Graph national cloud deployments," https://learn.microsoft.com/graph/deployments (accessed Oct 30, 2026).
Workbook: Building the Attribute-Driven Migration, Chapter 03 —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and engineers extend the kit, and they need PowerShell and the basics of Pester. Security officers read the results, and the catalog tells them up front what access a live run would take. A Global Administrator appears exactly once, to save the export while they're already signed in for something else. Nothing in the kit itself ever runs with that role. And when a finding needs fixing, the identity team makes the change, from the change record, under change control. The check only ever reports.
Detail: Audience: developers and engineers who extend the kit, and ISSOs who want to know what a check's result can and can't be trusted to mean. You should read PowerShell and know Pester's Describe and It. The catalog's DelegatedRole names the role and the reason, so Get-VkCheckCatalog and the README tell an ISSO what running it live would require before anyone does. In Lab 2, the export is the only step that needs Global Administrator; nothing in the kit runs with that role. A Global Administrator who is already signed in for other reasons saves the GET's response to a file. The check runs on the export as any user, without signing in. The remediation (Update-MgDirectoryOnPremiseSynchronization, or Set-EntraDirSyncFeature, which Learn says needs Global Administrator) goes in the change record that the finding opens, run by the identity team under change control, never in the check.
Sources: Microsoft Learn, "Get onPremisesDirectorySynchronization," https://learn.microsoft.com/graph/api/onpremisesdirectorysynchronization-get?view=graph-rest-1.0 (accessed Oct 30, 2026). · Microsoft Learn, "Set-EntraDirSyncFeature," https://learn.microsoft.com/powershell/module/microsoft.entra.directorymanagement/set-entradirsyncfeature?view=entra-powershell (accessed Oct 30, 2026).
Workbook: Building the Attribute-Driven Migration, Chapter 03 — “Goal and audience”; “The safety tests”;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PowerShell 7 and Pester; nothing signs in. First you run the new check against the failing fixture and see a failure with a count of two: two findings, one informational row, and one read logged from the fixture. Then you open a matching window that ends tomorrow, and the result becomes a warning. Move the date a day past the window, and it's a failure again. Finally you hand it a small export file, and the evidence shows the result came from the input, not from Graph.
Detail: You need PowerShell 7 and Pester 5.5 or later. Nothing here signs in. Step 1, run the new check against the fail fixture: cd examples/validation-kit; Import-Module ./powershell/ValidationKit -Force; $r = Invoke-VkCheck -CheckId VK-SYNC-02 -Context (Get-VkRunContext -FixturePath ./tests/fixtures/fail -AsOf 2026-10-30); $r | Select-Object CheckId, Status, Count; $r.Details | Format-Table Severity, Issue; $r.Evidence.Queries | Format-Table Source, Query. Expect Fail, a count of 2, two Finding rows and one Info row, and one query logged as Graph (fixture). Step 2, open the matching window and run again with -Option @{ MatchWindowOpenUntil = '2026-10-31' }. The status is Warn. Change -AsOf to 2026-11-01: Fail again. Step 3, feed it an export: make a folder with onprem-sync-export.json containing {"value":[{"id":"x","features":{"blockSoftMatchEnabled":true,"blockCloudObjectTakeoverThroughHardMatchEnabled":false}}]} and pass it as -InputPath. One Finding, and the evidence shows Input. The kit as published is tested against fixtures, not against a production tenant. Review it, sign the module, and run it in a test tenant first.
Sources: Building the Attribute-Driven Migration, Chapter 03, docs/project-plans/developer-workbooks/attribute-driven-migration/03-writing-a-validation-kit-check.md
Workbook: Building the Attribute-Driven Migration, Chapter 03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Lab 1 shows the guardrails. You ask the kit what a live run would need, and it prints the permission and names the Global Administrator role, before anyone signs in. You confirm the check isn't part of a default run. You run the kit's whole test suite. And then the best step: you deliberately break the check so it reads a property that doesn't exist. The failing fixture still fails, but now the passing one fails too, because a missing value reads as off. That's the unsafe default doing its job. Put it back, and you've seen every outcome.
Detail: Step 4, see what a live run would ask for: Get-VkRequiredScope -Checks (Get-VkCheckCatalog -CheckId VK-SYNC-02) prints OnPremDirectorySynchronization.Read.All, and (Get-VkCheckCatalog -CheckId VK-SYNC-02).DelegatedRole names the role. Step 5, confirm it isn't in a default run: (Get-VkCheckCatalog).Id -contains 'VK-SYNC-02' is False. Step 6, run the whole kit's tests: pwsh -NoProfile -Command "Invoke-Pester -Path tests/powershell". Step 7, make it fail for the right reason: in your copy, change the check to read blockSoftMatch (a property that doesn't exist). The fail fixture still fails, but the pass fixture now fails too, because the missing value reads as off. That is the default-to-unsafe rule doing its job. Put it back. Expected result: every test passes, and you've seen each of the check's four outcomes: Pass, Fail, Warn and NotApplicable.
Sources: Building the Attribute-Driven Migration, Chapter 03, docs/project-plans/developer-workbooks/attribute-driven-migration/03-writing-a-validation-kit-check.md
Workbook: Building the Attribute-Driven Migration, Chapter 03 — “Lab 1: fixtures, no tenant,” steps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that already syncs from Active Directory. The export is the only step that needs a Global Administrator: they sign in, save the response to a file, and sign out. Read that file before you take it; it's configuration, not personal data. Then anyone runs the check on the export, without signing in, and the evidence says the result came from the input. Compare it line by line with the file, because that's how you catch a response shape that differs from Learn's example. Then delete the export; the run's manifest is the evidence.
Detail: Use a test tenant that has Microsoft Entra Connect or Cloud Sync configured. The export is the only step that needs Global Administrator; nothing in the kit runs with that role. 1 Export: a Global Administrator of the test tenant signs in and saves the response: Connect-MgGraph -Scopes 'OnPremDirectorySynchronization.Read.All' -Environment Global (USGov for GCC High); Invoke-MgGraphRequest -Method GET -Uri '/v1.0/directory/onPremisesSynchronization' | ConvertTo-Json -Depth 10 | Set-Content -Path ./inputs/onprem-sync-export.json; Disconnect-MgGraph. Read the file before handing it over. It holds tenant configuration and no personal data. 2 Run the check on the export as any user, without signing in: ./Invoke-ValidationKit.ps1 -OutputPath ./out -CheckId VK-SYNC-02 -InputPath ./inputs -SkipConnect. -SkipConnect stops the runner from signing in to Graph for a live run. Because the export is present, the check doesn't call Graph; the evidence in Results/ValidationResults.json shows Input. 3 Compare with the source: check the result against the features block in the export itself, line by line. If a property the check reads is missing or named differently, the response shape differs from Learn's example; fix the fixture and the check together. 4 Back it out: delete the export when the run's evidence is stored; it isn't evidence by itself, the run's manifest is. The manifest, ValidationManifest.json, records the cloud and the tenant the run read: TenantId comes from the Graph session, which takes it from the token's tid claim, and a session in another tenant than the -TenantId you gave stops the run before it writes anything. Chapter 09's comparator refuses to compare two runs of different tenants.
Sources: Microsoft Learn, "Get onPremisesDirectorySynchronization," https://learn.microsoft.com/graph/api/onpremisesdirectorysynchronization-get?view=graph-rest-1.0 (accessed Oct 30, 2026). · Microsoft Learn, "Microsoft Graph national cloud deployments," https://learn.microsoft.com/graph/deployments (accessed Oct 30, 2026).
Workbook: Building the Attribute-Driven Migration, Chapter 03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is a way a check can quietly stop being evidence, and each has a guard. The most tempting is creating a standing Global Administrator so a check can run on a timer; the guard is an optional check that reads an export. The most dangerous is a failed read that reports a pass; the wrapper turns every exception into an error. Others are subtler: a missing property read as on, a fixture that matches the code instead of the service, a warning that never expires. Notice that every guard is built in, not remembered.
Detail: A read-only check that needs a privileged role: someone creates a standing Global Administrator identity so a check can run on a schedule; guard: the check is optional, prefers an export, and names the role in its catalog entry. A failed read reported as Pass: a tenant the kit couldn't see looks compliant; guard: Invoke-VkCheckBody turns any exception into Error; don't catch inside the body. A missing property read as "on": a response-shape change hides an open control; guard: read every control with the unsafe default. A check with its own HTTP call: a write slips past review, or a token goes to the wrong host; guard: one data path; the safety tests parse the kit and fail on anything else. A fixture that matches the code, not the service: tests pass while the live shape differs; guard: fixtures copy Learn's example response shape; Lab 2 compares with the tenant. A Warn that never ends: an approved window becomes permanent; guard: MatchWindowOpenUntil is a date; the day after, it's a Finding. A check missing from the README: the permission table lies to the ISSO; guard: a test fails when a catalogued check has no README row.
Sources: Microsoft Learn, "Get onPremisesDirectorySynchronization," https://learn.microsoft.com/graph/api/onpremisesdirectorysynchronization-get?view=graph-rest-1.0 (accessed Oct 30, 2026).
Workbook: Building the Attribute-Driven Migration, Chapter 03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 reviewer checks before a new check ships. The name, function and track agree. The catalog names the least privilege and the role straight from Learn, and if that role is privileged, the check is optional and reads an export. It reads only through the shared data path, hides no failed read, and treats every missing control as off. Its fixtures follow Learn's shape, its tests cover every status, the README knows about it, and the safety tests pass untouched. Next up is Chapter 4, dynamic rules as code. Thanks for watching.
Detail: Checklist: the check ID, function name and track agree (VK-SYNC-02, Invoke-VkSync02, SYNC). The catalog entry names the least-privileged permission and the delegated role from the Learn page, and links that page. A check whose read needs a privileged role is optional and reads an export by default. The body reads only through Get-VkData, Read-VkInputJson or Read-VkInputCsv. No try/catch in the body hides a failed read. Every control is read with the unsafe default. Pass and fail fixtures exist, in Learn's response shape, and the table-driven test has the exact fail count. Tests cover each status the check can return. The README's permission table, notes and gate map include the check. The safety tests pass unchanged. Next: Chapter 04 — Dynamic Rules as Code. Previous: Chapter 02 — Graph Clients for the Government Clouds.
Sources: Microsoft Learn, "Get onPremisesDirectorySynchronization," https://learn.microsoft.com/graph/api/onpremisesdirectorysynchronization-get?view=graph-rest-1.0 (accessed Oct 30, 2026).
Workbook: Building the Attribute-Driven Migration, Chapter 03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docs/project-plans/developer-workbooks/attribute-driven-migration/03-writing-a-validation-kit-check.md.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03: Writing a Validation Kit Check</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this check · the five parts · the privileged-read lesson · tests and safety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check: soft match and hard match takeover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573024"/>
          </a:xfrm>
          <a:prstGeom prst="rect">
            <a:avLst/>
          </a:prstGeom>
          <a:noFill/>
          <a:ln/>
        </p:spPr>
        <p:txBody>
          <a:bodyPr wrap="square" lIns="0" tIns="0" rIns="0" bIns="0" rtlCol="0" anchor="t"/>
          <a:lstStyle/>
          <a:p>
            <a:pPr indent="0" marL="0">
              <a:buNone/>
            </a:pPr>
            <a:r>
              <a:rPr lang="en-US" sz="1700" b="1" dirty="0">
                <a:solidFill>
                  <a:srgbClr val="1F2A44"/>
                </a:solidFill>
              </a:rPr>
              <a:t>Before the first AD user syncs into a tenant with cloud accounts, the engine decides which object matches which account.</a:t>
            </a:r>
            <a:endParaRPr lang="en-US" sz="1700" dirty="0"/>
          </a:p>
        </p:txBody>
      </p:sp>
      <p:sp>
        <p:nvSpPr>
          <p:cNvPr id="6" name="Panel Two ways to match" descr="">
            <a:extLst>
              <a:ext uri="{C183D7F6-B498-43B3-948B-1728B52AA6E4}">
                <adec:decorative xmlns:adec="http://schemas.microsoft.com/office/drawing/2017/decorative" val="1"/>
              </a:ext>
            </a:extLst>
          </p:cNvPr>
          <p:cNvSpPr/>
          <p:nvPr/>
        </p:nvSpPr>
        <p:spPr>
          <a:xfrm>
            <a:off x="548640" y="2081784"/>
            <a:ext cx="5417820" cy="2935224"/>
          </a:xfrm>
          <a:prstGeom prst="roundRect">
            <a:avLst>
              <a:gd name="adj" fmla="val 249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Two ways to match label"/>
          <p:cNvSpPr txBox="1"/>
          <p:nvPr/>
        </p:nvSpPr>
        <p:spPr>
          <a:xfrm>
            <a:off x="731520" y="219151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TWO WAYS TO MATCH</a:t>
            </a:r>
            <a:endParaRPr lang="en-US" sz="1100" dirty="0"/>
          </a:p>
        </p:txBody>
      </p:sp>
      <p:sp>
        <p:nvSpPr>
          <p:cNvPr id="8" name="Panel Two ways to match list"/>
          <p:cNvSpPr txBox="1"/>
          <p:nvPr/>
        </p:nvSpPr>
        <p:spPr>
          <a:xfrm>
            <a:off x="731520" y="2493264"/>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Soft match</a:t>
            </a:r>
            <a:pPr indent="0" marL="0">
              <a:spcAft>
                <a:spcPts val="400"/>
              </a:spcAft>
              <a:buNone/>
            </a:pPr>
            <a:r>
              <a:rPr lang="en-US" sz="1500" dirty="0">
                <a:solidFill>
                  <a:srgbClr val="334155"/>
                </a:solidFill>
              </a:rPr>
              <a:t> joins on the primary SMTP address, and on the UPN when soft match on UPN is on</a:t>
            </a:r>
            <a:endParaRPr lang="en-US" sz="1500" dirty="0"/>
          </a:p>
          <a:p>
            <a:pPr marL="342900" indent="-342900">
              <a:spcAft>
                <a:spcPts val="400"/>
              </a:spcAft>
              <a:buSzPct val="100000"/>
              <a:buChar char="•"/>
            </a:pPr>
            <a:r>
              <a:rPr lang="en-US" sz="1500" b="1" dirty="0">
                <a:solidFill>
                  <a:srgbClr val="1F2A44"/>
                </a:solidFill>
              </a:rPr>
              <a:t>Hard match</a:t>
            </a:r>
            <a:pPr indent="0" marL="0">
              <a:spcAft>
                <a:spcPts val="400"/>
              </a:spcAft>
              <a:buNone/>
            </a:pPr>
            <a:r>
              <a:rPr lang="en-US" sz="1500" dirty="0">
                <a:solidFill>
                  <a:srgbClr val="334155"/>
                </a:solidFill>
              </a:rPr>
              <a:t> joins the source anchor to onPremisesImmutableId</a:t>
            </a:r>
            <a:endParaRPr lang="en-US" sz="1500" dirty="0"/>
          </a:p>
          <a:p>
            <a:pPr marL="342900" indent="-342900">
              <a:spcAft>
                <a:spcPts val="400"/>
              </a:spcAft>
              <a:buSzPct val="100000"/>
              <a:buChar char="•"/>
            </a:pPr>
            <a:r>
              <a:rPr lang="en-US" sz="1500" dirty="0">
                <a:solidFill>
                  <a:srgbClr val="334155"/>
                </a:solidFill>
              </a:rPr>
              <a:t>Either one, left open, lets an AD object take over a cloud account</a:t>
            </a:r>
            <a:endParaRPr lang="en-US" sz="1500" dirty="0"/>
          </a:p>
        </p:txBody>
      </p:sp>
      <p:sp>
        <p:nvSpPr>
          <p:cNvPr id="9" name="Panel What Microsoft advises" descr="">
            <a:extLst>
              <a:ext uri="{C183D7F6-B498-43B3-948B-1728B52AA6E4}">
                <adec:decorative xmlns:adec="http://schemas.microsoft.com/office/drawing/2017/decorative" val="1"/>
              </a:ext>
            </a:extLst>
          </p:cNvPr>
          <p:cNvSpPr/>
          <p:nvPr/>
        </p:nvSpPr>
        <p:spPr>
          <a:xfrm>
            <a:off x="6240780" y="2081784"/>
            <a:ext cx="5417820" cy="2935224"/>
          </a:xfrm>
          <a:prstGeom prst="roundRect">
            <a:avLst>
              <a:gd name="adj" fmla="val 249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Panel What Microsoft advises label"/>
          <p:cNvSpPr txBox="1"/>
          <p:nvPr/>
        </p:nvSpPr>
        <p:spPr>
          <a:xfrm>
            <a:off x="6423660" y="219151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MICROSOFT ADVISES</a:t>
            </a:r>
            <a:endParaRPr lang="en-US" sz="1100" dirty="0"/>
          </a:p>
        </p:txBody>
      </p:sp>
      <p:sp>
        <p:nvSpPr>
          <p:cNvPr id="11" name="Panel What Microsoft advises list"/>
          <p:cNvSpPr txBox="1"/>
          <p:nvPr/>
        </p:nvSpPr>
        <p:spPr>
          <a:xfrm>
            <a:off x="6423660" y="2493264"/>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Keep soft match blocked; block cloud object takeover through hard match</a:t>
            </a:r>
            <a:endParaRPr lang="en-US" sz="1500" dirty="0"/>
          </a:p>
          <a:p>
            <a:pPr marL="342900" indent="-342900">
              <a:spcAft>
                <a:spcPts val="400"/>
              </a:spcAft>
              <a:buSzPct val="100000"/>
              <a:buChar char="•"/>
            </a:pPr>
            <a:r>
              <a:rPr lang="en-US" sz="1500" dirty="0">
                <a:solidFill>
                  <a:srgbClr val="334155"/>
                </a:solidFill>
              </a:rPr>
              <a:t>Turn each off only while a matching procedure needs it, then back on</a:t>
            </a:r>
            <a:endParaRPr lang="en-US" sz="1500" dirty="0"/>
          </a:p>
          <a:p>
            <a:pPr marL="342900" indent="-342900">
              <a:spcAft>
                <a:spcPts val="400"/>
              </a:spcAft>
              <a:buSzPct val="100000"/>
              <a:buChar char="•"/>
            </a:pPr>
            <a:r>
              <a:rPr lang="en-US" sz="1500" dirty="0">
                <a:solidFill>
                  <a:srgbClr val="334155"/>
                </a:solidFill>
              </a:rPr>
              <a:t>From July 1, 2026, Entra ID blocks a hard match itself when the target holds or is eligible for a privileged role, or has onPremisesObjectIdentifier set</a:t>
            </a:r>
            <a:endParaRPr lang="en-US" sz="1500" dirty="0"/>
          </a:p>
          <a:p>
            <a:pPr marL="342900" indent="-342900">
              <a:spcAft>
                <a:spcPts val="400"/>
              </a:spcAft>
              <a:buSzPct val="100000"/>
              <a:buChar char="•"/>
            </a:pPr>
            <a:r>
              <a:rPr lang="en-US" sz="1500" dirty="0">
                <a:solidFill>
                  <a:srgbClr val="334155"/>
                </a:solidFill>
              </a:rPr>
              <a:t>Soft match stays governed by the blocking feature alone</a:t>
            </a:r>
            <a:endParaRPr lang="en-US" sz="1500" dirty="0"/>
          </a:p>
        </p:txBody>
      </p:sp>
      <p:sp>
        <p:nvSpPr>
          <p:cNvPr id="12" name="Callout" descr="">
            <a:extLst>
              <a:ext uri="{C183D7F6-B498-43B3-948B-1728B52AA6E4}">
                <adec:decorative xmlns:adec="http://schemas.microsoft.com/office/drawing/2017/decorative" val="1"/>
              </a:ext>
            </a:extLst>
          </p:cNvPr>
          <p:cNvSpPr/>
          <p:nvPr/>
        </p:nvSpPr>
        <p:spPr>
          <a:xfrm>
            <a:off x="548640" y="5199888"/>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Icon FaLightbulb" descr="">
            <a:extLst>
              <a:ext uri="{C183D7F6-B498-43B3-948B-1728B52AA6E4}">
                <adec:decorative xmlns:adec="http://schemas.microsoft.com/office/drawing/2017/decorative" val="1"/>
              </a:ext>
            </a:extLst>
          </p:cNvPr>
          <p:cNvSpPr/>
          <p:nvPr/>
        </p:nvSpPr>
        <p:spPr>
          <a:xfrm>
            <a:off x="749808" y="5273040"/>
            <a:ext cx="585216" cy="585216"/>
          </a:xfrm>
          <a:prstGeom prst="ellipse">
            <a:avLst/>
          </a:prstGeom>
          <a:solidFill>
            <a:srgbClr val="0F766E"/>
          </a:solidFill>
          <a:ln w="12700">
            <a:solidFill>
              <a:srgbClr val="0F766E"/>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413492"/>
            <a:ext cx="304312" cy="304312"/>
          </a:xfrm>
          <a:prstGeom prst="rect">
            <a:avLst/>
          </a:prstGeom>
        </p:spPr>
      </p:pic>
      <p:sp>
        <p:nvSpPr>
          <p:cNvPr id="15" name="Callout text"/>
          <p:cNvSpPr txBox="1"/>
          <p:nvPr/>
        </p:nvSpPr>
        <p:spPr>
          <a:xfrm>
            <a:off x="1600200" y="5254752"/>
            <a:ext cx="9875520" cy="621792"/>
          </a:xfrm>
          <a:prstGeom prst="rect">
            <a:avLst/>
          </a:prstGeom>
          <a:noFill/>
          <a:ln/>
        </p:spPr>
        <p:txBody>
          <a:bodyPr wrap="square" lIns="0" tIns="0" rIns="0" bIns="0" rtlCol="0" anchor="ctr"/>
          <a:lstStyle/>
          <a:p>
            <a:pPr indent="0" marL="0">
              <a:buNone/>
            </a:pPr>
            <a:r>
              <a:rPr lang="en-US" sz="1650" b="1" dirty="0">
                <a:solidFill>
                  <a:srgbClr val="0F766E"/>
                </a:solidFill>
              </a:rPr>
              <a:t>The question: </a:t>
            </a:r>
            <a:pPr indent="0" marL="0">
              <a:buNone/>
            </a:pPr>
            <a:r>
              <a:rPr lang="en-US" sz="1650" dirty="0">
                <a:solidFill>
                  <a:srgbClr val="334155"/>
                </a:solidFill>
              </a:rPr>
              <a:t>are both blocks on, and if not, is there an approved window that says why?</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Microsoft Entra Connect for an existing tenant; Learn, Set-EntraDirSyncFeature. Chapter 03, “Why this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the Graph host and the read's reach</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414272"/>
        </p:xfrm>
        <a:graphic>
          <a:graphicData uri="http://schemas.openxmlformats.org/drawingml/2006/table">
            <a:tbl>
              <a:tblPr firstRow="1" bandRow="1"/>
              <a:tblGrid>
                <a:gridCol w="4572000"/>
                <a:gridCol w="6537960"/>
              </a:tblGrid>
              <a:tr h="3535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Cloud</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Graph host</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53568">
                <a:tc>
                  <a:txBody>
                    <a:bodyPr/>
                    <a:lstStyle/>
                    <a:p>
                      <a:pPr indent="0" marL="0">
                        <a:buNone/>
                      </a:pPr>
                      <a:r>
                        <a:rPr lang="en-US" sz="1600" b="1" dirty="0">
                          <a:solidFill>
                            <a:srgbClr val="1F2A44"/>
                          </a:solidFill>
                          <a:latin typeface="Calibri" pitchFamily="34" charset="0"/>
                          <a:ea typeface="Calibri" pitchFamily="34" charset="-122"/>
                          <a:cs typeface="Calibri" pitchFamily="34" charset="-120"/>
                        </a:rPr>
                        <a:t>Worldwide and Microsoft 365 GCC</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graph.microsoft.com</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3568">
                <a:tc>
                  <a:txBody>
                    <a:bodyPr/>
                    <a:lstStyle/>
                    <a:p>
                      <a:pPr indent="0" marL="0">
                        <a:buNone/>
                      </a:pPr>
                      <a:r>
                        <a:rPr lang="en-US" sz="1600" b="1" dirty="0">
                          <a:solidFill>
                            <a:srgbClr val="1F2A44"/>
                          </a:solidFill>
                          <a:latin typeface="Calibri" pitchFamily="34" charset="0"/>
                          <a:ea typeface="Calibri" pitchFamily="34" charset="-122"/>
                          <a:cs typeface="Calibri" pitchFamily="34" charset="-120"/>
                        </a:rPr>
                        <a:t>GCC High</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graph.microsoft.us</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3568">
                <a:tc>
                  <a:txBody>
                    <a:bodyPr/>
                    <a:lstStyle/>
                    <a:p>
                      <a:pPr indent="0" marL="0">
                        <a:buNone/>
                      </a:pPr>
                      <a:r>
                        <a:rPr lang="en-US" sz="1600" b="1" dirty="0">
                          <a:solidFill>
                            <a:srgbClr val="1F2A44"/>
                          </a:solidFill>
                          <a:latin typeface="Calibri" pitchFamily="34" charset="0"/>
                          <a:ea typeface="Calibri" pitchFamily="34" charset="-122"/>
                          <a:cs typeface="Calibri" pitchFamily="34" charset="-120"/>
                        </a:rPr>
                        <a:t>DoD</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dod-graph.microsoft.us</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st"/>
          <p:cNvSpPr txBox="1"/>
          <p:nvPr/>
        </p:nvSpPr>
        <p:spPr>
          <a:xfrm>
            <a:off x="548640" y="2923032"/>
            <a:ext cx="11109960" cy="118567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read, GET /directory/onPremisesSynchronization, is available in Global and US Government L4 and L5, at v1.0</a:t>
            </a:r>
            <a:endParaRPr lang="en-US" sz="1600" dirty="0"/>
          </a:p>
          <a:p>
            <a:pPr marL="342900" indent="-342900">
              <a:spcAft>
                <a:spcPts val="400"/>
              </a:spcAft>
              <a:buSzPct val="100000"/>
              <a:buChar char="•"/>
            </a:pPr>
            <a:r>
              <a:rPr lang="en-US" sz="1600" dirty="0">
                <a:solidFill>
                  <a:srgbClr val="334155"/>
                </a:solidFill>
              </a:rPr>
              <a:t>Lab 2 signs in with -Environment Global; USGov for GCC High</a:t>
            </a:r>
            <a:endParaRPr lang="en-US" sz="1600" dirty="0"/>
          </a:p>
          <a:p>
            <a:pPr marL="342900" indent="-342900">
              <a:spcAft>
                <a:spcPts val="400"/>
              </a:spcAft>
              <a:buSzPct val="100000"/>
              <a:buChar char="•"/>
            </a:pPr>
            <a:r>
              <a:rPr lang="en-US" sz="1600" dirty="0">
                <a:solidFill>
                  <a:srgbClr val="334155"/>
                </a:solidFill>
              </a:rPr>
              <a:t>A nextLink that points at any host but the cloud's own Graph host is refused, so a token never leaves</a:t>
            </a:r>
            <a:endParaRPr lang="en-US" sz="1600" dirty="0"/>
          </a:p>
        </p:txBody>
      </p:sp>
      <p:sp>
        <p:nvSpPr>
          <p:cNvPr id="7" name="Callout" descr="">
            <a:extLst>
              <a:ext uri="{C183D7F6-B498-43B3-948B-1728B52AA6E4}">
                <adec:decorative xmlns:adec="http://schemas.microsoft.com/office/drawing/2017/decorative" val="1"/>
              </a:ext>
            </a:extLst>
          </p:cNvPr>
          <p:cNvSpPr/>
          <p:nvPr/>
        </p:nvSpPr>
        <p:spPr>
          <a:xfrm>
            <a:off x="548640" y="4291584"/>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Icon FaCloud" descr="">
            <a:extLst>
              <a:ext uri="{C183D7F6-B498-43B3-948B-1728B52AA6E4}">
                <adec:decorative xmlns:adec="http://schemas.microsoft.com/office/drawing/2017/decorative" val="1"/>
              </a:ext>
            </a:extLst>
          </p:cNvPr>
          <p:cNvSpPr/>
          <p:nvPr/>
        </p:nvSpPr>
        <p:spPr>
          <a:xfrm>
            <a:off x="749808" y="4364736"/>
            <a:ext cx="606552" cy="606552"/>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10308"/>
            <a:ext cx="315407" cy="315407"/>
          </a:xfrm>
          <a:prstGeom prst="rect">
            <a:avLst/>
          </a:prstGeom>
        </p:spPr>
      </p:pic>
      <p:sp>
        <p:nvSpPr>
          <p:cNvPr id="10" name="Callout text"/>
          <p:cNvSpPr txBox="1"/>
          <p:nvPr/>
        </p:nvSpPr>
        <p:spPr>
          <a:xfrm>
            <a:off x="1600200" y="4346448"/>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a GCC tenant: </a:t>
            </a:r>
            <a:pPr indent="0" marL="0">
              <a:buNone/>
            </a:pPr>
            <a:r>
              <a:rPr lang="en-US" sz="1750" dirty="0">
                <a:solidFill>
                  <a:srgbClr val="334155"/>
                </a:solidFill>
              </a:rPr>
              <a:t>a GCC tenant reads the worldwide Graph host, graph.microsoft.com, and Lab 2's export uses -Environment Global.</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Learn, Get onPremisesDirectorySynchronization. Chapter 03, “Verified facts,” “The safety tests,”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anatomy of a check: five parts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01568"/>
        </p:xfrm>
        <a:graphic>
          <a:graphicData uri="http://schemas.openxmlformats.org/drawingml/2006/table">
            <a:tbl>
              <a:tblPr firstRow="1" bandRow="1"/>
              <a:tblGrid>
                <a:gridCol w="2103120"/>
                <a:gridCol w="3566160"/>
                <a:gridCol w="544068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Where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955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Catalog entry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Private/Catalog.ps1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ID, track, title, source, Graph permissions, delegated role, release stage, Learn pages; marks optional and preview checks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Function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Checks/&lt;TRACK&gt;.ps1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Invoke-Vk&lt;Track&gt;&lt;NN&gt;, named from the ID; wraps its body in Invoke-VkCheckBody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Data read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Get-VkData, Read-VkInputJson, Read-VkInputCsv</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One path for fixtures, Graph, Resource Graph, AD and input files; logs every read as evidence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Rows and outcome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ConvertTo-VkFinding, Get-VkOutcome, Get-VkNotApplicable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Detail rows with one shape; status from the rows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Tests and fixtures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tests/fixtures/pass, tests/fixtures/fail, tests/powershell</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check must pass clean data and fail planted problems with an exact count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910328"/>
            <a:ext cx="11109960" cy="752856"/>
          </a:xfrm>
          <a:prstGeom prst="roundRect">
            <a:avLst>
              <a:gd name="adj" fmla="val 971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749808" y="4983480"/>
            <a:ext cx="606552" cy="606552"/>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129052"/>
            <a:ext cx="315407" cy="315407"/>
          </a:xfrm>
          <a:prstGeom prst="rect">
            <a:avLst/>
          </a:prstGeom>
        </p:spPr>
      </p:pic>
      <p:sp>
        <p:nvSpPr>
          <p:cNvPr id="9" name="Callout text"/>
          <p:cNvSpPr txBox="1"/>
          <p:nvPr/>
        </p:nvSpPr>
        <p:spPr>
          <a:xfrm>
            <a:off x="1600200" y="4965192"/>
            <a:ext cx="9875520" cy="643128"/>
          </a:xfrm>
          <a:prstGeom prst="rect">
            <a:avLst/>
          </a:prstGeom>
          <a:noFill/>
          <a:ln/>
        </p:spPr>
        <p:txBody>
          <a:bodyPr wrap="square" lIns="0" tIns="0" rIns="0" bIns="0" rtlCol="0" anchor="ctr"/>
          <a:lstStyle/>
          <a:p>
            <a:pPr indent="0" marL="0">
              <a:buNone/>
            </a:pPr>
            <a:r>
              <a:rPr lang="en-US" sz="1750" b="1" dirty="0">
                <a:solidFill>
                  <a:srgbClr val="1F2A44"/>
                </a:solidFill>
              </a:rPr>
              <a:t>Kept honest: </a:t>
            </a:r>
            <a:pPr indent="0" marL="0">
              <a:buNone/>
            </a:pPr>
            <a:r>
              <a:rPr lang="en-US" sz="1750" dirty="0">
                <a:solidFill>
                  <a:srgbClr val="334155"/>
                </a:solidFill>
              </a:rPr>
              <a:t>the README's permissions table mirrors the catalog, and a test fails if any catalogued check is missing from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examples/validation-kit and its README. Chapter 03, “The anatomy of a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catalog entry, and the lesson in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719072"/>
          </a:xfrm>
          <a:prstGeom prst="roundRect">
            <a:avLst>
              <a:gd name="adj" fmla="val 425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PRIVATE/CATALOG.PS1</a:t>
            </a:r>
            <a:endParaRPr lang="en-US" sz="1050" dirty="0"/>
          </a:p>
        </p:txBody>
      </p:sp>
      <p:sp>
        <p:nvSpPr>
          <p:cNvPr id="7" name="Code"/>
          <p:cNvSpPr txBox="1"/>
          <p:nvPr/>
        </p:nvSpPr>
        <p:spPr>
          <a:xfrm>
            <a:off x="713232" y="1664208"/>
            <a:ext cx="10835640" cy="1335024"/>
          </a:xfrm>
          <a:prstGeom prst="rect">
            <a:avLst/>
          </a:prstGeom>
          <a:noFill/>
          <a:ln/>
        </p:spPr>
        <p:txBody>
          <a:bodyPr wrap="square" lIns="0" tIns="0" rIns="0" bIns="0" rtlCol="0" anchor="t"/>
          <a:lstStyle/>
          <a:p>
            <a:pPr indent="0" marL="0">
              <a:buNone/>
            </a:pPr>
            <a:r>
              <a:rPr lang="en-US" sz="1350" dirty="0">
                <a:solidFill>
                  <a:srgbClr val="334155"/>
                </a:solidFill>
                <a:latin typeface="Consolas" pitchFamily="34" charset="0"/>
                <a:ea typeface="Consolas" pitchFamily="34" charset="-122"/>
                <a:cs typeface="Consolas" pitchFamily="34" charset="-120"/>
              </a:rPr>
              <a:t>@{ Id = 'VK-SYNC-02'; Track = 'SYNC'</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Title = 'Optional: soft match and hard match takeover not blocked outside an approved matching window'</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Source = 'Input (export), or Graph delegated'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GraphPermissions = @('OnPremDirectorySynchronization.Read.All')</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DelegatedRole = 'Global Administrator (the only role Learn lists; delegated only, no application permission)'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AzureRole = ''; Stage = 'v1.0'; Optional = $true; Learn = @($VkLearn.OnPremSync, $VkLearn.MatchBlock) }</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3227832"/>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Icon FaTriangleExclamation" descr="">
            <a:extLst>
              <a:ext uri="{C183D7F6-B498-43B3-948B-1728B52AA6E4}">
                <adec:decorative xmlns:adec="http://schemas.microsoft.com/office/drawing/2017/decorative" val="1"/>
              </a:ext>
            </a:extLst>
          </p:cNvPr>
          <p:cNvSpPr/>
          <p:nvPr/>
        </p:nvSpPr>
        <p:spPr>
          <a:xfrm>
            <a:off x="749808" y="3417570"/>
            <a:ext cx="640080" cy="640080"/>
          </a:xfrm>
          <a:prstGeom prst="ellipse">
            <a:avLst/>
          </a:prstGeom>
          <a:solidFill>
            <a:srgbClr val="B91C1C"/>
          </a:solidFill>
          <a:ln w="12700">
            <a:solidFill>
              <a:srgbClr val="B91C1C"/>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3571189"/>
            <a:ext cx="332842" cy="332842"/>
          </a:xfrm>
          <a:prstGeom prst="rect">
            <a:avLst/>
          </a:prstGeom>
        </p:spPr>
      </p:pic>
      <p:sp>
        <p:nvSpPr>
          <p:cNvPr id="11" name="Callout text"/>
          <p:cNvSpPr txBox="1"/>
          <p:nvPr/>
        </p:nvSpPr>
        <p:spPr>
          <a:xfrm>
            <a:off x="1600200" y="3282696"/>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The lesson: </a:t>
            </a:r>
            <a:pPr indent="0" marL="0">
              <a:buNone/>
            </a:pPr>
            <a:r>
              <a:rPr lang="en-US" sz="1750" dirty="0">
                <a:solidFill>
                  <a:srgbClr val="334155"/>
                </a:solidFill>
              </a:rPr>
              <a:t>the read's least-privileged permission looks harmless, but Learn lists no application permission and names Global Administrator as the only delegated role. A read-only check, run live, would need the most powerful role in the tenant.</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onPremisesDirectorySynchronization (permissions). Chapter 03, “The catalog entry, and the lesson in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When the only supported role is Global Administrator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2118360"/>
          </a:xfrm>
          <a:prstGeom prst="roundRect">
            <a:avLst>
              <a:gd name="adj" fmla="val 345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211836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88976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It is optional</a:t>
            </a:r>
            <a:endParaRPr lang="en-US" sz="1400" dirty="0"/>
          </a:p>
          <a:p>
            <a:pPr indent="0" marL="0">
              <a:spcAft>
                <a:spcPts val="300"/>
              </a:spcAft>
              <a:buNone/>
            </a:pPr>
            <a:r>
              <a:rPr lang="en-US" sz="1550" dirty="0">
                <a:solidFill>
                  <a:srgbClr val="334155"/>
                </a:solidFill>
              </a:rPr>
              <a:t>Optional = $true keeps it out of a default run, as the preview check VK-NPI-09 is kept out. It runs only when named with -CheckId.</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2118360"/>
          </a:xfrm>
          <a:prstGeom prst="roundRect">
            <a:avLst>
              <a:gd name="adj" fmla="val 345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211836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88976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It prefers an export</a:t>
            </a:r>
            <a:endParaRPr lang="en-US" sz="1400" dirty="0"/>
          </a:p>
          <a:p>
            <a:pPr indent="0" marL="0">
              <a:spcAft>
                <a:spcPts val="300"/>
              </a:spcAft>
              <a:buNone/>
            </a:pPr>
            <a:r>
              <a:rPr lang="en-US" sz="1550" dirty="0">
                <a:solidFill>
                  <a:srgbClr val="334155"/>
                </a:solidFill>
              </a:rPr>
              <a:t>A Global Administrator already signed in for other reasons saves the GET's response to a file; the kit reads the file and never needs the role. Live Graph is the fallback.</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2118360"/>
          </a:xfrm>
          <a:prstGeom prst="roundRect">
            <a:avLst>
              <a:gd name="adj" fmla="val 345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211836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88976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It says so</a:t>
            </a:r>
            <a:endParaRPr lang="en-US" sz="1400" dirty="0"/>
          </a:p>
          <a:p>
            <a:pPr indent="0" marL="0">
              <a:spcAft>
                <a:spcPts val="300"/>
              </a:spcAft>
              <a:buNone/>
            </a:pPr>
            <a:r>
              <a:rPr lang="en-US" sz="1550" dirty="0">
                <a:solidFill>
                  <a:srgbClr val="334155"/>
                </a:solidFill>
              </a:rPr>
              <a:t>DelegatedRole names the role and the reason, so Get-VkCheckCatalog and the README tell an ISSO what a live run would require before anyone runs it.</a:t>
            </a:r>
            <a:endParaRPr lang="en-US" sz="1400" dirty="0"/>
          </a:p>
        </p:txBody>
      </p:sp>
      <p:sp>
        <p:nvSpPr>
          <p:cNvPr id="14" name="Callout" descr="">
            <a:extLst>
              <a:ext uri="{C183D7F6-B498-43B3-948B-1728B52AA6E4}">
                <adec:decorative xmlns:adec="http://schemas.microsoft.com/office/drawing/2017/decorative" val="1"/>
              </a:ext>
            </a:extLst>
          </p:cNvPr>
          <p:cNvSpPr/>
          <p:nvPr/>
        </p:nvSpPr>
        <p:spPr>
          <a:xfrm>
            <a:off x="548640" y="3627120"/>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Icon FaUserShield" descr="">
            <a:extLst>
              <a:ext uri="{C183D7F6-B498-43B3-948B-1728B52AA6E4}">
                <adec:decorative xmlns:adec="http://schemas.microsoft.com/office/drawing/2017/decorative" val="1"/>
              </a:ext>
            </a:extLst>
          </p:cNvPr>
          <p:cNvSpPr/>
          <p:nvPr/>
        </p:nvSpPr>
        <p:spPr>
          <a:xfrm>
            <a:off x="749808" y="3816858"/>
            <a:ext cx="640080" cy="64008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3970477"/>
            <a:ext cx="332842" cy="332842"/>
          </a:xfrm>
          <a:prstGeom prst="rect">
            <a:avLst/>
          </a:prstGeom>
        </p:spPr>
      </p:pic>
      <p:sp>
        <p:nvSpPr>
          <p:cNvPr id="17" name="Callout text"/>
          <p:cNvSpPr txBox="1"/>
          <p:nvPr/>
        </p:nvSpPr>
        <p:spPr>
          <a:xfrm>
            <a:off x="1600200" y="3681984"/>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Design guidance: </a:t>
            </a:r>
            <a:pPr indent="0" marL="0">
              <a:buNone/>
            </a:pPr>
            <a:r>
              <a:rPr lang="en-US" sz="1750" dirty="0">
                <a:solidFill>
                  <a:srgbClr val="334155"/>
                </a:solidFill>
              </a:rPr>
              <a:t>when a read's only supported role is a privileged one, consume an export by default and record in the evidence which path was taken. Don't build a standing identity with that role so a check can run on a schedule.</a:t>
            </a:r>
            <a:endParaRPr lang="en-US" sz="17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onPremisesDirectorySynchronization. Chapter 03, “The catalog entry, and the lesson in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function, and the wrapper every check shares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6284671" cy="3288792"/>
          </a:xfrm>
          <a:prstGeom prst="roundRect">
            <a:avLst>
              <a:gd name="adj" fmla="val 2224"/>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5955487" cy="228600"/>
          </a:xfrm>
          <a:prstGeom prst="rect">
            <a:avLst/>
          </a:prstGeom>
          <a:noFill/>
          <a:ln/>
        </p:spPr>
        <p:txBody>
          <a:bodyPr wrap="square" lIns="0" tIns="0" rIns="0" bIns="0" rtlCol="0" anchor="t"/>
          <a:lstStyle/>
          <a:p>
            <a:pPr indent="0" marL="0">
              <a:buNone/>
            </a:pPr>
            <a:r>
              <a:rPr lang="en-US" sz="1050" b="1" dirty="0">
                <a:solidFill>
                  <a:srgbClr val="64748B"/>
                </a:solidFill>
              </a:rPr>
              <a:t>CHECKS/SYNC.PS1</a:t>
            </a:r>
            <a:endParaRPr lang="en-US" sz="1050" dirty="0"/>
          </a:p>
        </p:txBody>
      </p:sp>
      <p:sp>
        <p:nvSpPr>
          <p:cNvPr id="7" name="Code"/>
          <p:cNvSpPr txBox="1"/>
          <p:nvPr/>
        </p:nvSpPr>
        <p:spPr>
          <a:xfrm>
            <a:off x="713232" y="1664208"/>
            <a:ext cx="6010351" cy="2904744"/>
          </a:xfrm>
          <a:prstGeom prst="rect">
            <a:avLst/>
          </a:prstGeom>
          <a:noFill/>
          <a:ln/>
        </p:spPr>
        <p:txBody>
          <a:bodyPr wrap="square" lIns="0" tIns="0" rIns="0" bIns="0" rtlCol="0" anchor="t"/>
          <a:lstStyle/>
          <a:p>
            <a:pPr indent="0" marL="0">
              <a:buNone/>
            </a:pPr>
            <a:r>
              <a:rPr lang="en-US" sz="1150" dirty="0">
                <a:solidFill>
                  <a:srgbClr val="334155"/>
                </a:solidFill>
                <a:latin typeface="Consolas" pitchFamily="34" charset="0"/>
                <a:ea typeface="Consolas" pitchFamily="34" charset="-122"/>
                <a:cs typeface="Consolas" pitchFamily="34" charset="-120"/>
              </a:rPr>
              <a:t>function Invoke-VkSync02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[CmdletBinding()] param([Parameter(Mandatory)]$Context)</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Invoke-VkCheckBody 'VK-SYNC-02' $Context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param($Context)</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$export = Read-VkInputJson -Context $Context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-Option 'OnPremSyncExportFile'</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if ($null -ne $export) { $items = @($export)</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if ($export.PSObject.Properties['value'])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$items = @($export.value) }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else { $items = @(Get-VkData -Context $Context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-Name 'onPremisesSynchronization' -Uri $script:VkOnPremSyncUri)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$items = @($items | Where-Object { $null -ne $_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if ($items.Count -eq 0) { return Get-VkNotApplicable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'The tenant has no on-premises directory synchronization object' }</a:t>
            </a:r>
            <a:endParaRPr lang="en-US" sz="1150" dirty="0"/>
          </a:p>
          <a:p>
            <a:pPr indent="0" marL="0">
              <a:buNone/>
            </a:pPr>
            <a:r>
              <a:rPr lang="en-US" sz="1150" dirty="0">
                <a:solidFill>
                  <a:srgbClr val="0F766E"/>
                </a:solidFill>
                <a:latin typeface="Consolas" pitchFamily="34" charset="0"/>
                <a:ea typeface="Consolas" pitchFamily="34" charset="-122"/>
                <a:cs typeface="Consolas" pitchFamily="34" charset="-120"/>
              </a:rPr>
              <a:t>    # ... rows, next slide ...</a:t>
            </a:r>
            <a:endParaRPr lang="en-US" sz="1150" dirty="0"/>
          </a:p>
          <a:p>
            <a:pPr indent="0" marL="0">
              <a:buNone/>
            </a:pPr>
            <a:r>
              <a:rPr lang="en-US" sz="1150" dirty="0">
                <a:solidFill>
                  <a:srgbClr val="334155"/>
                </a:solidFill>
                <a:latin typeface="Consolas" pitchFamily="34" charset="0"/>
                <a:ea typeface="Consolas" pitchFamily="34" charset="-122"/>
                <a:cs typeface="Consolas" pitchFamily="34" charset="-120"/>
              </a:rPr>
              <a:t>  } }</a:t>
            </a:r>
            <a:endParaRPr lang="en-US" sz="1150" dirty="0"/>
          </a:p>
        </p:txBody>
      </p:sp>
      <p:sp>
        <p:nvSpPr>
          <p:cNvPr id="8" name="Panel Invoke-VkCheckBody" descr="">
            <a:extLst>
              <a:ext uri="{C183D7F6-B498-43B3-948B-1728B52AA6E4}">
                <adec:decorative xmlns:adec="http://schemas.microsoft.com/office/drawing/2017/decorative" val="1"/>
              </a:ext>
            </a:extLst>
          </p:cNvPr>
          <p:cNvSpPr/>
          <p:nvPr/>
        </p:nvSpPr>
        <p:spPr>
          <a:xfrm>
            <a:off x="7107631" y="1325880"/>
            <a:ext cx="4550969" cy="2935224"/>
          </a:xfrm>
          <a:prstGeom prst="roundRect">
            <a:avLst>
              <a:gd name="adj" fmla="val 249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Invoke-VkCheckBody label"/>
          <p:cNvSpPr txBox="1"/>
          <p:nvPr/>
        </p:nvSpPr>
        <p:spPr>
          <a:xfrm>
            <a:off x="7290511" y="1435608"/>
            <a:ext cx="4185209" cy="274320"/>
          </a:xfrm>
          <a:prstGeom prst="rect">
            <a:avLst/>
          </a:prstGeom>
          <a:noFill/>
          <a:ln/>
        </p:spPr>
        <p:txBody>
          <a:bodyPr wrap="square" lIns="0" tIns="0" rIns="0" bIns="0" rtlCol="0" anchor="t"/>
          <a:lstStyle/>
          <a:p>
            <a:pPr indent="0" marL="0">
              <a:buNone/>
            </a:pPr>
            <a:r>
              <a:rPr lang="en-US" sz="1100" b="1" spc="50" kern="0" dirty="0">
                <a:solidFill>
                  <a:srgbClr val="0F766E"/>
                </a:solidFill>
              </a:rPr>
              <a:t>INVOKE-VKCHECKBODY</a:t>
            </a:r>
            <a:endParaRPr lang="en-US" sz="1100" dirty="0"/>
          </a:p>
        </p:txBody>
      </p:sp>
      <p:sp>
        <p:nvSpPr>
          <p:cNvPr id="10" name="Panel Invoke-VkCheckBody list"/>
          <p:cNvSpPr txBox="1"/>
          <p:nvPr/>
        </p:nvSpPr>
        <p:spPr>
          <a:xfrm>
            <a:off x="7290511" y="1737360"/>
            <a:ext cx="4230929"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Looks up the catalog entry and clears the query log</a:t>
            </a:r>
            <a:endParaRPr lang="en-US" sz="1500" dirty="0"/>
          </a:p>
          <a:p>
            <a:pPr marL="342900" indent="-342900">
              <a:spcAft>
                <a:spcPts val="400"/>
              </a:spcAft>
              <a:buSzPct val="100000"/>
              <a:buChar char="•"/>
            </a:pPr>
            <a:r>
              <a:rPr lang="en-US" sz="1500" dirty="0">
                <a:solidFill>
                  <a:srgbClr val="334155"/>
                </a:solidFill>
              </a:rPr>
              <a:t>Runs the body; any exception becomes Status = 'Error'</a:t>
            </a:r>
            <a:endParaRPr lang="en-US" sz="1500" dirty="0"/>
          </a:p>
          <a:p>
            <a:pPr marL="342900" indent="-342900">
              <a:spcAft>
                <a:spcPts val="400"/>
              </a:spcAft>
              <a:buSzPct val="100000"/>
              <a:buChar char="•"/>
            </a:pPr>
            <a:r>
              <a:rPr lang="en-US" sz="1500" dirty="0">
                <a:solidFill>
                  <a:srgbClr val="334155"/>
                </a:solidFill>
              </a:rPr>
              <a:t>Wraps the outcome in evidence: mode, source, every query with its time, permissions, role, stage, as-of, collection time</a:t>
            </a:r>
            <a:endParaRPr lang="en-US" sz="1500" dirty="0"/>
          </a:p>
          <a:p>
            <a:pPr marL="342900" indent="-342900">
              <a:spcAft>
                <a:spcPts val="400"/>
              </a:spcAft>
              <a:buSzPct val="100000"/>
              <a:buChar char="•"/>
            </a:pPr>
            <a:r>
              <a:rPr lang="en-US" sz="1500" dirty="0">
                <a:solidFill>
                  <a:srgbClr val="334155"/>
                </a:solidFill>
              </a:rPr>
              <a:t>So a read that throws can never come back as Pass</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7107631" y="4443984"/>
            <a:ext cx="4550969" cy="1133856"/>
          </a:xfrm>
          <a:prstGeom prst="roundRect">
            <a:avLst>
              <a:gd name="adj" fmla="val 6452"/>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308799" y="4690872"/>
            <a:ext cx="640080" cy="64008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62418" y="4844491"/>
            <a:ext cx="332842" cy="332842"/>
          </a:xfrm>
          <a:prstGeom prst="rect">
            <a:avLst/>
          </a:prstGeom>
        </p:spPr>
      </p:pic>
      <p:sp>
        <p:nvSpPr>
          <p:cNvPr id="14" name="Callout text"/>
          <p:cNvSpPr txBox="1"/>
          <p:nvPr/>
        </p:nvSpPr>
        <p:spPr>
          <a:xfrm>
            <a:off x="8159191" y="4498848"/>
            <a:ext cx="3316529" cy="1024128"/>
          </a:xfrm>
          <a:prstGeom prst="rect">
            <a:avLst/>
          </a:prstGeom>
          <a:noFill/>
          <a:ln/>
        </p:spPr>
        <p:txBody>
          <a:bodyPr wrap="square" lIns="0" tIns="0" rIns="0" bIns="0" rtlCol="0" anchor="ctr"/>
          <a:lstStyle/>
          <a:p>
            <a:pPr indent="0" marL="0">
              <a:buNone/>
            </a:pPr>
            <a:r>
              <a:rPr lang="en-US" sz="1500" b="1" dirty="0">
                <a:solidFill>
                  <a:srgbClr val="B91C1C"/>
                </a:solidFill>
              </a:rPr>
              <a:t>Don't </a:t>
            </a:r>
            <a:pPr indent="0" marL="0">
              <a:buNone/>
            </a:pPr>
            <a:r>
              <a:rPr lang="en-US" sz="1500" dirty="0">
                <a:solidFill>
                  <a:srgbClr val="334155"/>
                </a:solidFill>
              </a:rPr>
              <a:t>catch exceptions inside the body to make a check “more robust”: that is how a check passes while blind.</a:t>
            </a:r>
            <a:endParaRPr lang="en-US" sz="15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examples/validation-kit, Checks and Private. Chapter 03, “The function.”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data path, and evidence of which path was used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810512"/>
        </p:xfrm>
        <a:graphic>
          <a:graphicData uri="http://schemas.openxmlformats.org/drawingml/2006/table">
            <a:tbl>
              <a:tblPr firstRow="1" bandRow="1"/>
              <a:tblGrid>
                <a:gridCol w="2377440"/>
                <a:gridCol w="4480560"/>
                <a:gridCol w="425196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Path</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How it reads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the evidence shows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Fixture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Get-VkData reads &lt;fixture folder&gt;\onPremisesSynchronization.json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fixture:onPremisesSynchronization.json &lt;= /v1.0/directory/onPremisesSynchronization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Live Graph</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Get-VkData calls Invoke-VkGraphGet with the URI</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URI</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Export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Read-VkInputJson reads the saved response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Input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st"/>
          <p:cNvSpPr txBox="1"/>
          <p:nvPr/>
        </p:nvSpPr>
        <p:spPr>
          <a:xfrm>
            <a:off x="548640" y="3319272"/>
            <a:ext cx="11109960" cy="64922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Get-VkData is the only way a check reads tenant data; fixture and live reads are logged the same way</a:t>
            </a:r>
            <a:endParaRPr lang="en-US" sz="1650" dirty="0"/>
          </a:p>
          <a:p>
            <a:pPr marL="342900" indent="-342900">
              <a:spcAft>
                <a:spcPts val="400"/>
              </a:spcAft>
              <a:buSzPct val="100000"/>
              <a:buChar char="•"/>
            </a:pPr>
            <a:r>
              <a:rPr lang="en-US" sz="1650" dirty="0">
                <a:solidFill>
                  <a:srgbClr val="334155"/>
                </a:solidFill>
              </a:rPr>
              <a:t>A reviewer can tell from the evidence alone which of the three paths a result came from</a:t>
            </a:r>
            <a:endParaRPr lang="en-US" sz="1650" dirty="0"/>
          </a:p>
        </p:txBody>
      </p:sp>
      <p:sp>
        <p:nvSpPr>
          <p:cNvPr id="7" name="Callout" descr="">
            <a:extLst>
              <a:ext uri="{C183D7F6-B498-43B3-948B-1728B52AA6E4}">
                <adec:decorative xmlns:adec="http://schemas.microsoft.com/office/drawing/2017/decorative" val="1"/>
              </a:ext>
            </a:extLst>
          </p:cNvPr>
          <p:cNvSpPr/>
          <p:nvPr/>
        </p:nvSpPr>
        <p:spPr>
          <a:xfrm>
            <a:off x="548640" y="4151376"/>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Icon FaFileShield" descr="">
            <a:extLst>
              <a:ext uri="{C183D7F6-B498-43B3-948B-1728B52AA6E4}">
                <adec:decorative xmlns:adec="http://schemas.microsoft.com/office/drawing/2017/decorative" val="1"/>
              </a:ext>
            </a:extLst>
          </p:cNvPr>
          <p:cNvSpPr/>
          <p:nvPr/>
        </p:nvSpPr>
        <p:spPr>
          <a:xfrm>
            <a:off x="749808" y="4224528"/>
            <a:ext cx="606552" cy="606552"/>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370100"/>
            <a:ext cx="315407" cy="315407"/>
          </a:xfrm>
          <a:prstGeom prst="rect">
            <a:avLst/>
          </a:prstGeom>
        </p:spPr>
      </p:pic>
      <p:sp>
        <p:nvSpPr>
          <p:cNvPr id="10" name="Callout text"/>
          <p:cNvSpPr txBox="1"/>
          <p:nvPr/>
        </p:nvSpPr>
        <p:spPr>
          <a:xfrm>
            <a:off x="1600200" y="4206240"/>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Why it matters: </a:t>
            </a:r>
            <a:pPr indent="0" marL="0">
              <a:buNone/>
            </a:pPr>
            <a:r>
              <a:rPr lang="en-US" sz="1750" dirty="0">
                <a:solidFill>
                  <a:srgbClr val="334155"/>
                </a:solidFill>
              </a:rPr>
              <a:t>the kit records where every answer came from, so evidence shows how it was gathered, not only what it says.</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examples/validation-kit, Private (data path). Chapter 03, “The function.”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Rows and outcome: three severities, unsafe defaults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475232"/>
          </a:xfrm>
          <a:prstGeom prst="roundRect">
            <a:avLst>
              <a:gd name="adj" fmla="val 495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THE ROWS (ABRIDGED)</a:t>
            </a:r>
            <a:endParaRPr lang="en-US" sz="1050" dirty="0"/>
          </a:p>
        </p:txBody>
      </p:sp>
      <p:sp>
        <p:nvSpPr>
          <p:cNvPr id="7" name="Code"/>
          <p:cNvSpPr txBox="1"/>
          <p:nvPr/>
        </p:nvSpPr>
        <p:spPr>
          <a:xfrm>
            <a:off x="713232" y="1664208"/>
            <a:ext cx="10835640" cy="1091184"/>
          </a:xfrm>
          <a:prstGeom prst="rect">
            <a:avLst/>
          </a:prstGeom>
          <a:noFill/>
          <a:ln/>
        </p:spPr>
        <p:txBody>
          <a:bodyPr wrap="square" lIns="0" tIns="0" rIns="0" bIns="0" rtlCol="0" anchor="t"/>
          <a:lstStyle/>
          <a:p>
            <a:pPr indent="0" marL="0">
              <a:buNone/>
            </a:pPr>
            <a:r>
              <a:rPr lang="en-US" sz="1300" dirty="0">
                <a:solidFill>
                  <a:srgbClr val="334155"/>
                </a:solidFill>
                <a:latin typeface="Consolas" pitchFamily="34" charset="0"/>
                <a:ea typeface="Consolas" pitchFamily="34" charset="-122"/>
                <a:cs typeface="Consolas" pitchFamily="34" charset="-120"/>
              </a:rPr>
              <a:t>$until = "$($Context.Options['MatchWindowOpenUntil'])".Trim()</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if ($until) { $windowOpen = (ConvertTo-VkUtc $until).UtcDateTime.Date -ge $Context.AsOf.UtcDateTime.Date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$severity = if ($windowOpen) { 'Warn' } else { 'Finding'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if ((Get-VkValue $f 'blockSoftMatchEnabled' $false) -ne $true) { ConvertTo-VkFinding -Severity $severity ...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the same for blockCloudObjectTakeoverThroughHardMatchEnabled; an Info row for softMatchOnUpnEnabled</a:t>
            </a:r>
            <a:endParaRPr lang="en-US" sz="13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2983992"/>
          <a:ext cx="11109960" cy="1543812"/>
        </p:xfrm>
        <a:graphic>
          <a:graphicData uri="http://schemas.openxmlformats.org/drawingml/2006/table">
            <a:tbl>
              <a:tblPr firstRow="1" bandRow="1"/>
              <a:tblGrid>
                <a:gridCol w="1828800"/>
                <a:gridCol w="92811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Severity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Meaning in VK-SYNC-02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Finding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Fails the check: a block is off and no approved window is open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Warn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person looks; not a failure: a block off inside the window MatchWindowOpenUntil records as its last day. The day after, it's a Finding again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Info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Context, not counted: soft match on UPN, which can't be turned off once enabled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Lead"/>
          <p:cNvSpPr txBox="1"/>
          <p:nvPr/>
        </p:nvSpPr>
        <p:spPr>
          <a:xfrm>
            <a:off x="548640" y="4710684"/>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Status: Fail if any Finding, else Warn if any Warn, else Pass. A missing value reads as off. NotApplicable never means a failed read.</a:t>
            </a:r>
            <a:endParaRPr lang="en-US" sz="18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Set-EntraDirSyncFeature (soft match on UPN can't be turned off). Chapter 03, “Rows and outcome.”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Fixtures and tests: both directions, exact counts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fixtures" descr="">
            <a:extLst>
              <a:ext uri="{C183D7F6-B498-43B3-948B-1728B52AA6E4}">
                <adec:decorative xmlns:adec="http://schemas.microsoft.com/office/drawing/2017/decorative" val="1"/>
              </a:ext>
            </a:extLst>
          </p:cNvPr>
          <p:cNvSpPr/>
          <p:nvPr/>
        </p:nvSpPr>
        <p:spPr>
          <a:xfrm>
            <a:off x="548640" y="1325880"/>
            <a:ext cx="5417820" cy="2531364"/>
          </a:xfrm>
          <a:prstGeom prst="roundRect">
            <a:avLst>
              <a:gd name="adj" fmla="val 289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fixtur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FIXTURES</a:t>
            </a:r>
            <a:endParaRPr lang="en-US" sz="1100" dirty="0"/>
          </a:p>
        </p:txBody>
      </p:sp>
      <p:sp>
        <p:nvSpPr>
          <p:cNvPr id="7" name="Panel The fixtures list"/>
          <p:cNvSpPr txBox="1"/>
          <p:nvPr/>
        </p:nvSpPr>
        <p:spPr>
          <a:xfrm>
            <a:off x="731520" y="1737360"/>
            <a:ext cx="5097780" cy="207416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 fictional tenant, contoso.example, in two states</a:t>
            </a:r>
            <a:endParaRPr lang="en-US" sz="1550" dirty="0"/>
          </a:p>
          <a:p>
            <a:pPr marL="342900" indent="-342900">
              <a:spcAft>
                <a:spcPts val="400"/>
              </a:spcAft>
              <a:buSzPct val="100000"/>
              <a:buChar char="•"/>
            </a:pPr>
            <a:r>
              <a:rPr lang="en-US" sz="1550" dirty="0">
                <a:solidFill>
                  <a:srgbClr val="334155"/>
                </a:solidFill>
              </a:rPr>
              <a:t>pass: both blocks on</a:t>
            </a:r>
            <a:endParaRPr lang="en-US" sz="1550" dirty="0"/>
          </a:p>
          <a:p>
            <a:pPr marL="342900" indent="-342900">
              <a:spcAft>
                <a:spcPts val="400"/>
              </a:spcAft>
              <a:buSzPct val="100000"/>
              <a:buChar char="•"/>
            </a:pPr>
            <a:r>
              <a:rPr lang="en-US" sz="1550" dirty="0">
                <a:solidFill>
                  <a:srgbClr val="334155"/>
                </a:solidFill>
              </a:rPr>
              <a:t>fail: both off, and soft match on UPN on</a:t>
            </a:r>
            <a:endParaRPr lang="en-US" sz="1550" dirty="0"/>
          </a:p>
          <a:p>
            <a:pPr marL="342900" indent="-342900">
              <a:spcAft>
                <a:spcPts val="400"/>
              </a:spcAft>
              <a:buSzPct val="100000"/>
              <a:buChar char="•"/>
            </a:pPr>
            <a:r>
              <a:rPr lang="en-US" sz="1550" dirty="0">
                <a:solidFill>
                  <a:srgbClr val="334155"/>
                </a:solidFill>
              </a:rPr>
              <a:t>Learn's example response shape, cut to the properties the check reads plus one it doesn't, so a check reading the wrong one is caught</a:t>
            </a:r>
            <a:endParaRPr lang="en-US" sz="1550" dirty="0"/>
          </a:p>
        </p:txBody>
      </p:sp>
      <p:sp>
        <p:nvSpPr>
          <p:cNvPr id="8" name="Code panel" descr="">
            <a:extLst>
              <a:ext uri="{C183D7F6-B498-43B3-948B-1728B52AA6E4}">
                <adec:decorative xmlns:adec="http://schemas.microsoft.com/office/drawing/2017/decorative" val="1"/>
              </a:ext>
            </a:extLst>
          </p:cNvPr>
          <p:cNvSpPr/>
          <p:nvPr/>
        </p:nvSpPr>
        <p:spPr>
          <a:xfrm>
            <a:off x="548640" y="4040124"/>
            <a:ext cx="5417820" cy="667512"/>
          </a:xfrm>
          <a:prstGeom prst="roundRect">
            <a:avLst>
              <a:gd name="adj" fmla="val 1095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Code label"/>
          <p:cNvSpPr txBox="1"/>
          <p:nvPr/>
        </p:nvSpPr>
        <p:spPr>
          <a:xfrm>
            <a:off x="713232" y="4113276"/>
            <a:ext cx="5088636" cy="228600"/>
          </a:xfrm>
          <a:prstGeom prst="rect">
            <a:avLst/>
          </a:prstGeom>
          <a:noFill/>
          <a:ln/>
        </p:spPr>
        <p:txBody>
          <a:bodyPr wrap="square" lIns="0" tIns="0" rIns="0" bIns="0" rtlCol="0" anchor="t"/>
          <a:lstStyle/>
          <a:p>
            <a:pPr indent="0" marL="0">
              <a:buNone/>
            </a:pPr>
            <a:r>
              <a:rPr lang="en-US" sz="1050" b="1" dirty="0">
                <a:solidFill>
                  <a:srgbClr val="64748B"/>
                </a:solidFill>
              </a:rPr>
              <a:t>ONE LINE IN Checks.Tests.ps1 BUYS FOUR TESTS</a:t>
            </a:r>
            <a:endParaRPr lang="en-US" sz="1050" dirty="0"/>
          </a:p>
        </p:txBody>
      </p:sp>
      <p:sp>
        <p:nvSpPr>
          <p:cNvPr id="10" name="Code"/>
          <p:cNvSpPr txBox="1"/>
          <p:nvPr/>
        </p:nvSpPr>
        <p:spPr>
          <a:xfrm>
            <a:off x="713232" y="4378452"/>
            <a:ext cx="5143500" cy="283464"/>
          </a:xfrm>
          <a:prstGeom prst="rect">
            <a:avLst/>
          </a:prstGeom>
          <a:noFill/>
          <a:ln/>
        </p:spPr>
        <p:txBody>
          <a:bodyPr wrap="square" lIns="0" tIns="0" rIns="0" bIns="0" rtlCol="0" anchor="t"/>
          <a:lstStyle/>
          <a:p>
            <a:pPr indent="0" marL="0">
              <a:buNone/>
            </a:pPr>
            <a:r>
              <a:rPr lang="en-US" sz="1200" dirty="0">
                <a:solidFill>
                  <a:srgbClr val="334155"/>
                </a:solidFill>
                <a:latin typeface="Consolas" pitchFamily="34" charset="0"/>
                <a:ea typeface="Consolas" pitchFamily="34" charset="-122"/>
                <a:cs typeface="Consolas" pitchFamily="34" charset="-120"/>
              </a:rPr>
              <a:t>@{ Id = 'VK-SYNC-02'; FailStatus = 'Fail'; FailCount = 2 }</a:t>
            </a:r>
            <a:endParaRPr lang="en-US" sz="1200" dirty="0"/>
          </a:p>
        </p:txBody>
      </p:sp>
      <p:sp>
        <p:nvSpPr>
          <p:cNvPr id="11" name="Panel The check's own Describe block" descr="">
            <a:extLst>
              <a:ext uri="{C183D7F6-B498-43B3-948B-1728B52AA6E4}">
                <adec:decorative xmlns:adec="http://schemas.microsoft.com/office/drawing/2017/decorative" val="1"/>
              </a:ext>
            </a:extLst>
          </p:cNvPr>
          <p:cNvSpPr/>
          <p:nvPr/>
        </p:nvSpPr>
        <p:spPr>
          <a:xfrm>
            <a:off x="6240780" y="1325880"/>
            <a:ext cx="5417820" cy="3381756"/>
          </a:xfrm>
          <a:prstGeom prst="roundRect">
            <a:avLst>
              <a:gd name="adj" fmla="val 216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Panel The check&amp;apos;s own Describe block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CHECK'S OWN DESCRIBE BLOCK</a:t>
            </a:r>
            <a:endParaRPr lang="en-US" sz="1100" dirty="0"/>
          </a:p>
        </p:txBody>
      </p:sp>
      <p:sp>
        <p:nvSpPr>
          <p:cNvPr id="13" name="Panel The check's own Describe block list"/>
          <p:cNvSpPr txBox="1"/>
          <p:nvPr/>
        </p:nvSpPr>
        <p:spPr>
          <a:xfrm>
            <a:off x="6423660" y="1737360"/>
            <a:ext cx="5097780" cy="29245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Not selected by default; the catalog names Global Administrator</a:t>
            </a:r>
            <a:endParaRPr lang="en-US" sz="1550" dirty="0"/>
          </a:p>
          <a:p>
            <a:pPr marL="342900" indent="-342900">
              <a:spcAft>
                <a:spcPts val="400"/>
              </a:spcAft>
              <a:buSzPct val="100000"/>
              <a:buChar char="•"/>
            </a:pPr>
            <a:r>
              <a:rPr lang="en-US" sz="1550" dirty="0">
                <a:solidFill>
                  <a:srgbClr val="334155"/>
                </a:solidFill>
              </a:rPr>
              <a:t>Soft match on UPN is Info, not a finding</a:t>
            </a:r>
            <a:endParaRPr lang="en-US" sz="1550" dirty="0"/>
          </a:p>
          <a:p>
            <a:pPr marL="342900" indent="-342900">
              <a:spcAft>
                <a:spcPts val="400"/>
              </a:spcAft>
              <a:buSzPct val="100000"/>
              <a:buChar char="•"/>
            </a:pPr>
            <a:r>
              <a:rPr lang="en-US" sz="1550" dirty="0">
                <a:solidFill>
                  <a:srgbClr val="334155"/>
                </a:solidFill>
              </a:rPr>
              <a:t>Inside an open window: Warn, and the message names the date; the day after: Fail</a:t>
            </a:r>
            <a:endParaRPr lang="en-US" sz="1550" dirty="0"/>
          </a:p>
          <a:p>
            <a:pPr marL="342900" indent="-342900">
              <a:spcAft>
                <a:spcPts val="400"/>
              </a:spcAft>
              <a:buSzPct val="100000"/>
              <a:buChar char="•"/>
            </a:pPr>
            <a:r>
              <a:rPr lang="en-US" sz="1550" dirty="0">
                <a:solidFill>
                  <a:srgbClr val="334155"/>
                </a:solidFill>
              </a:rPr>
              <a:t>An export in -InputPath is read instead of Graph; evidence shows Input</a:t>
            </a:r>
            <a:endParaRPr lang="en-US" sz="1550" dirty="0"/>
          </a:p>
          <a:p>
            <a:pPr marL="342900" indent="-342900">
              <a:spcAft>
                <a:spcPts val="400"/>
              </a:spcAft>
              <a:buSzPct val="100000"/>
              <a:buChar char="•"/>
            </a:pPr>
            <a:r>
              <a:rPr lang="en-US" sz="1550" dirty="0">
                <a:solidFill>
                  <a:srgbClr val="334155"/>
                </a:solidFill>
              </a:rPr>
              <a:t>No synchronization object: NotApplicable</a:t>
            </a:r>
            <a:endParaRPr lang="en-US" sz="1550" dirty="0"/>
          </a:p>
        </p:txBody>
      </p:sp>
      <p:sp>
        <p:nvSpPr>
          <p:cNvPr id="14" name="Lead"/>
          <p:cNvSpPr txBox="1"/>
          <p:nvPr/>
        </p:nvSpPr>
        <p:spPr>
          <a:xfrm>
            <a:off x="548640" y="4890516"/>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Suite: 274 tests on PowerShell 7, all passing; 280 with the tenant ID in the run manifest.</a:t>
            </a:r>
            <a:endParaRPr lang="en-US" sz="18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onPremisesDirectorySynchronization (example response). Chapter 03, “Fixtures and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safety tests, and why the fix stays out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GET-only by construction" descr="">
            <a:extLst>
              <a:ext uri="{C183D7F6-B498-43B3-948B-1728B52AA6E4}">
                <adec:decorative xmlns:adec="http://schemas.microsoft.com/office/drawing/2017/decorative" val="1"/>
              </a:ext>
            </a:extLst>
          </p:cNvPr>
          <p:cNvSpPr/>
          <p:nvPr/>
        </p:nvSpPr>
        <p:spPr>
          <a:xfrm>
            <a:off x="548640" y="1325880"/>
            <a:ext cx="5092751" cy="3163824"/>
          </a:xfrm>
          <a:prstGeom prst="roundRect">
            <a:avLst>
              <a:gd name="adj" fmla="val 23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GET-only by construction label"/>
          <p:cNvSpPr txBox="1"/>
          <p:nvPr/>
        </p:nvSpPr>
        <p:spPr>
          <a:xfrm>
            <a:off x="731520" y="1435608"/>
            <a:ext cx="4726991" cy="274320"/>
          </a:xfrm>
          <a:prstGeom prst="rect">
            <a:avLst/>
          </a:prstGeom>
          <a:noFill/>
          <a:ln/>
        </p:spPr>
        <p:txBody>
          <a:bodyPr wrap="square" lIns="0" tIns="0" rIns="0" bIns="0" rtlCol="0" anchor="t"/>
          <a:lstStyle/>
          <a:p>
            <a:pPr indent="0" marL="0">
              <a:buNone/>
            </a:pPr>
            <a:r>
              <a:rPr lang="en-US" sz="1100" b="1" spc="50" kern="0" dirty="0">
                <a:solidFill>
                  <a:srgbClr val="64748B"/>
                </a:solidFill>
              </a:rPr>
              <a:t>GET-ONLY BY CONSTRUCTION</a:t>
            </a:r>
            <a:endParaRPr lang="en-US" sz="1100" dirty="0"/>
          </a:p>
        </p:txBody>
      </p:sp>
      <p:sp>
        <p:nvSpPr>
          <p:cNvPr id="7" name="Panel GET-only by construction list"/>
          <p:cNvSpPr txBox="1"/>
          <p:nvPr/>
        </p:nvSpPr>
        <p:spPr>
          <a:xfrm>
            <a:off x="731520" y="1737360"/>
            <a:ext cx="4772711"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Safety.Tests.ps1 parses every script and fails on any state-changing command: write verbs, Invoke-RestMethod, Invoke-WebRequest, native programs, file redirection</a:t>
            </a:r>
            <a:endParaRPr lang="en-US" sz="1500" dirty="0"/>
          </a:p>
          <a:p>
            <a:pPr marL="342900" indent="-342900">
              <a:spcAft>
                <a:spcPts val="400"/>
              </a:spcAft>
              <a:buSzPct val="100000"/>
              <a:buChar char="•"/>
            </a:pPr>
            <a:r>
              <a:rPr lang="en-US" sz="1500" dirty="0">
                <a:solidFill>
                  <a:srgbClr val="334155"/>
                </a:solidFill>
              </a:rPr>
              <a:t>Every Invoke-MgGraphRequest carries a literal -Method GET; one exception, pinned to one function: VK-DG-03's beta evaluateDynamicMembership</a:t>
            </a:r>
            <a:endParaRPr lang="en-US" sz="1500" dirty="0"/>
          </a:p>
          <a:p>
            <a:pPr marL="342900" indent="-342900">
              <a:spcAft>
                <a:spcPts val="400"/>
              </a:spcAft>
              <a:buSzPct val="100000"/>
              <a:buChar char="•"/>
            </a:pPr>
            <a:r>
              <a:rPr lang="en-US" sz="1500" dirty="0">
                <a:solidFill>
                  <a:srgbClr val="334155"/>
                </a:solidFill>
              </a:rPr>
              <a:t>Graph beta paths limited to a declared list</a:t>
            </a:r>
            <a:endParaRPr lang="en-US" sz="1500" dirty="0"/>
          </a:p>
          <a:p>
            <a:pPr marL="342900" indent="-342900">
              <a:spcAft>
                <a:spcPts val="400"/>
              </a:spcAft>
              <a:buSzPct val="100000"/>
              <a:buChar char="•"/>
            </a:pPr>
            <a:r>
              <a:rPr lang="en-US" sz="1500" dirty="0">
                <a:solidFill>
                  <a:srgbClr val="334155"/>
                </a:solidFill>
              </a:rPr>
              <a:t>VK-SYNC-02 passes unchanged: it reads only through the data path</a:t>
            </a:r>
            <a:endParaRPr lang="en-US" sz="1500" dirty="0"/>
          </a:p>
        </p:txBody>
      </p:sp>
      <p:sp>
        <p:nvSpPr>
          <p:cNvPr id="8" name="Code panel" descr="">
            <a:extLst>
              <a:ext uri="{C183D7F6-B498-43B3-948B-1728B52AA6E4}">
                <adec:decorative xmlns:adec="http://schemas.microsoft.com/office/drawing/2017/decorative" val="1"/>
              </a:ext>
            </a:extLst>
          </p:cNvPr>
          <p:cNvSpPr/>
          <p:nvPr/>
        </p:nvSpPr>
        <p:spPr>
          <a:xfrm>
            <a:off x="5915711" y="1325880"/>
            <a:ext cx="5742889" cy="1924812"/>
          </a:xfrm>
          <a:prstGeom prst="roundRect">
            <a:avLst>
              <a:gd name="adj" fmla="val 3800"/>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Code label"/>
          <p:cNvSpPr txBox="1"/>
          <p:nvPr/>
        </p:nvSpPr>
        <p:spPr>
          <a:xfrm>
            <a:off x="6080303" y="1399032"/>
            <a:ext cx="5413705" cy="228600"/>
          </a:xfrm>
          <a:prstGeom prst="rect">
            <a:avLst/>
          </a:prstGeom>
          <a:noFill/>
          <a:ln/>
        </p:spPr>
        <p:txBody>
          <a:bodyPr wrap="square" lIns="0" tIns="0" rIns="0" bIns="0" rtlCol="0" anchor="t"/>
          <a:lstStyle/>
          <a:p>
            <a:pPr indent="0" marL="0">
              <a:buNone/>
            </a:pPr>
            <a:r>
              <a:rPr lang="en-US" sz="1050" b="1" dirty="0">
                <a:solidFill>
                  <a:srgbClr val="64748B"/>
                </a:solidFill>
              </a:rPr>
              <a:t>IN THE CHANGE RECORD, RUN BY THE IDENTITY TEAM</a:t>
            </a:r>
            <a:endParaRPr lang="en-US" sz="1050" dirty="0"/>
          </a:p>
        </p:txBody>
      </p:sp>
      <p:sp>
        <p:nvSpPr>
          <p:cNvPr id="10" name="Code"/>
          <p:cNvSpPr txBox="1"/>
          <p:nvPr/>
        </p:nvSpPr>
        <p:spPr>
          <a:xfrm>
            <a:off x="6080303" y="1664208"/>
            <a:ext cx="5468569" cy="1540764"/>
          </a:xfrm>
          <a:prstGeom prst="rect">
            <a:avLst/>
          </a:prstGeom>
          <a:noFill/>
          <a:ln/>
        </p:spPr>
        <p:txBody>
          <a:bodyPr wrap="square" lIns="0" tIns="0" rIns="0" bIns="0" rtlCol="0" anchor="t"/>
          <a:lstStyle/>
          <a:p>
            <a:pPr indent="0" marL="0">
              <a:buNone/>
            </a:pPr>
            <a:r>
              <a:rPr lang="en-US" sz="1050" dirty="0">
                <a:solidFill>
                  <a:srgbClr val="0F766E"/>
                </a:solidFill>
                <a:latin typeface="Consolas" pitchFamily="34" charset="0"/>
                <a:ea typeface="Consolas" pitchFamily="34" charset="-122"/>
                <a:cs typeface="Consolas" pitchFamily="34" charset="-120"/>
              </a:rPr>
              <a:t># Learn's remediation: a write, so never in the check</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Connect-MgGraph -Scopes "OnPremDirectorySynchronization.ReadWrite.All"</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$OnPremSync = Get-MgDirectoryOnPremiseSynchronization</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$OnPremSync.Features.BlockSoftMatchEnabled = $true</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Update-MgDirectoryOnPremiseSynchronization `</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  -OnPremisesDirectorySynchronizationId $OnPremSync.Id `</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  -Features $OnPremSync.Features</a:t>
            </a:r>
            <a:endParaRPr lang="en-US" sz="1050" dirty="0"/>
          </a:p>
          <a:p>
            <a:pPr indent="0" marL="0">
              <a:buNone/>
            </a:pPr>
            <a:r>
              <a:rPr lang="en-US" sz="1050" dirty="0">
                <a:solidFill>
                  <a:srgbClr val="0F766E"/>
                </a:solidFill>
                <a:latin typeface="Consolas" pitchFamily="34" charset="0"/>
                <a:ea typeface="Consolas" pitchFamily="34" charset="-122"/>
                <a:cs typeface="Consolas" pitchFamily="34" charset="-120"/>
              </a:rPr>
              <a:t># Entra PowerShell (Global Administrator):</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Set-EntraDirSyncFeature -Features 'BlockSoftMatch' -Enable $true</a:t>
            </a:r>
            <a:endParaRPr lang="en-US" sz="1050" dirty="0"/>
          </a:p>
        </p:txBody>
      </p:sp>
      <p:sp>
        <p:nvSpPr>
          <p:cNvPr id="11" name="Callout" descr="">
            <a:extLst>
              <a:ext uri="{C183D7F6-B498-43B3-948B-1728B52AA6E4}">
                <adec:decorative xmlns:adec="http://schemas.microsoft.com/office/drawing/2017/decorative" val="1"/>
              </a:ext>
            </a:extLst>
          </p:cNvPr>
          <p:cNvSpPr/>
          <p:nvPr/>
        </p:nvSpPr>
        <p:spPr>
          <a:xfrm>
            <a:off x="548640" y="4672584"/>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ShieldHalved" descr="">
            <a:extLst>
              <a:ext uri="{C183D7F6-B498-43B3-948B-1728B52AA6E4}">
                <adec:decorative xmlns:adec="http://schemas.microsoft.com/office/drawing/2017/decorative" val="1"/>
              </a:ext>
            </a:extLst>
          </p:cNvPr>
          <p:cNvSpPr/>
          <p:nvPr/>
        </p:nvSpPr>
        <p:spPr>
          <a:xfrm>
            <a:off x="749808" y="4745736"/>
            <a:ext cx="585216" cy="585216"/>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886188"/>
            <a:ext cx="304312" cy="304312"/>
          </a:xfrm>
          <a:prstGeom prst="rect">
            <a:avLst/>
          </a:prstGeom>
        </p:spPr>
      </p:pic>
      <p:sp>
        <p:nvSpPr>
          <p:cNvPr id="14" name="Callout text"/>
          <p:cNvSpPr txBox="1"/>
          <p:nvPr/>
        </p:nvSpPr>
        <p:spPr>
          <a:xfrm>
            <a:off x="1600200" y="4727448"/>
            <a:ext cx="9875520" cy="621792"/>
          </a:xfrm>
          <a:prstGeom prst="rect">
            <a:avLst/>
          </a:prstGeom>
          <a:noFill/>
          <a:ln/>
        </p:spPr>
        <p:txBody>
          <a:bodyPr wrap="square" lIns="0" tIns="0" rIns="0" bIns="0" rtlCol="0" anchor="ctr"/>
          <a:lstStyle/>
          <a:p>
            <a:pPr indent="0" marL="0">
              <a:buNone/>
            </a:pPr>
            <a:r>
              <a:rPr lang="en-US" sz="1550" dirty="0">
                <a:solidFill>
                  <a:srgbClr val="334155"/>
                </a:solidFill>
              </a:rPr>
              <a:t>If your check seems to need its own HTTP call, it doesn't: add what it needs to the data path, where the safety tests already look.</a:t>
            </a:r>
            <a:endParaRPr lang="en-US" sz="15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Entra Connect for an existing tenant; Set-EntraDirSyncFeature; group: evaluateDynamicMembership. Chapter 03, “The safety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Verified facts: the calls behind the check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145792"/>
        </p:xfrm>
        <a:graphic>
          <a:graphicData uri="http://schemas.openxmlformats.org/drawingml/2006/table">
            <a:tbl>
              <a:tblPr firstRow="1" bandRow="1"/>
              <a:tblGrid>
                <a:gridCol w="3291840"/>
                <a:gridCol w="3383280"/>
                <a:gridCol w="2377440"/>
                <a:gridCol w="20574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Clouds; stage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Read sync features: GET /directory/onPremisesSynchronization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OnPremDirectorySynchronization.Read.All, delegated only; no application permission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 Administrator, the only supported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 US Gov L4 and L5; v1.0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Block soft or hard match (remediation, not in the kit)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OnPremDirectorySynchronization.ReadWrite.All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 Administrator (Entra PowerShell)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As above; v1.0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Rule evaluation (VK-DG-03, the kit's one POST)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Group.Read.All and User.Read.All (or Device.Read.All), delegated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 US Gov L4 and L5; </a:t>
                      </a:r>
                      <a:pPr indent="0" marL="0">
                        <a:buNone/>
                      </a:pPr>
                      <a:r>
                        <a:rPr lang="en-US" sz="1400" b="1" dirty="0">
                          <a:solidFill>
                            <a:srgbClr val="1F2A44"/>
                          </a:solidFill>
                          <a:latin typeface="Calibri" pitchFamily="34" charset="0"/>
                          <a:ea typeface="Calibri" pitchFamily="34" charset="-122"/>
                          <a:cs typeface="Calibri" pitchFamily="34" charset="-120"/>
                        </a:rPr>
                        <a:t>beta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654552"/>
            <a:ext cx="5417820" cy="731520"/>
          </a:xfrm>
          <a:prstGeom prst="roundRect">
            <a:avLst>
              <a:gd name="adj" fmla="val 10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49808" y="3727704"/>
            <a:ext cx="585216" cy="585216"/>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3868156"/>
            <a:ext cx="304312" cy="304312"/>
          </a:xfrm>
          <a:prstGeom prst="rect">
            <a:avLst/>
          </a:prstGeom>
        </p:spPr>
      </p:pic>
      <p:sp>
        <p:nvSpPr>
          <p:cNvPr id="9" name="Callout text"/>
          <p:cNvSpPr txBox="1"/>
          <p:nvPr/>
        </p:nvSpPr>
        <p:spPr>
          <a:xfrm>
            <a:off x="1600200" y="3709416"/>
            <a:ext cx="4183380" cy="621792"/>
          </a:xfrm>
          <a:prstGeom prst="rect">
            <a:avLst/>
          </a:prstGeom>
          <a:noFill/>
          <a:ln/>
        </p:spPr>
        <p:txBody>
          <a:bodyPr wrap="square" lIns="0" tIns="0" rIns="0" bIns="0" rtlCol="0" anchor="ctr"/>
          <a:lstStyle/>
          <a:p>
            <a:pPr indent="0" marL="0">
              <a:buNone/>
            </a:pPr>
            <a:r>
              <a:rPr lang="en-US" sz="1500" b="1" dirty="0">
                <a:solidFill>
                  <a:srgbClr val="1F2A44"/>
                </a:solidFill>
              </a:rPr>
              <a:t>Paging: </a:t>
            </a:r>
            <a:pPr indent="0" marL="0">
              <a:buNone/>
            </a:pPr>
            <a:r>
              <a:rPr lang="en-US" sz="1500" dirty="0">
                <a:solidFill>
                  <a:srgbClr val="334155"/>
                </a:solidFill>
              </a:rPr>
              <a:t>follow @odata.nextLink as an opaque URL until it is absent.</a:t>
            </a:r>
            <a:endParaRPr lang="en-US" sz="1500" dirty="0"/>
          </a:p>
        </p:txBody>
      </p:sp>
      <p:sp>
        <p:nvSpPr>
          <p:cNvPr id="10" name="Callout" descr="">
            <a:extLst>
              <a:ext uri="{C183D7F6-B498-43B3-948B-1728B52AA6E4}">
                <adec:decorative xmlns:adec="http://schemas.microsoft.com/office/drawing/2017/decorative" val="1"/>
              </a:ext>
            </a:extLst>
          </p:cNvPr>
          <p:cNvSpPr/>
          <p:nvPr/>
        </p:nvSpPr>
        <p:spPr>
          <a:xfrm>
            <a:off x="6240780" y="3654552"/>
            <a:ext cx="5417820" cy="905256"/>
          </a:xfrm>
          <a:prstGeom prst="roundRect">
            <a:avLst>
              <a:gd name="adj" fmla="val 808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UserClock" descr="">
            <a:extLst>
              <a:ext uri="{C183D7F6-B498-43B3-948B-1728B52AA6E4}">
                <adec:decorative xmlns:adec="http://schemas.microsoft.com/office/drawing/2017/decorative" val="1"/>
              </a:ext>
            </a:extLst>
          </p:cNvPr>
          <p:cNvSpPr/>
          <p:nvPr/>
        </p:nvSpPr>
        <p:spPr>
          <a:xfrm>
            <a:off x="6441948" y="3787140"/>
            <a:ext cx="640080" cy="64008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95567" y="3940759"/>
            <a:ext cx="332842" cy="332842"/>
          </a:xfrm>
          <a:prstGeom prst="rect">
            <a:avLst/>
          </a:prstGeom>
        </p:spPr>
      </p:pic>
      <p:sp>
        <p:nvSpPr>
          <p:cNvPr id="13" name="Callout text"/>
          <p:cNvSpPr txBox="1"/>
          <p:nvPr/>
        </p:nvSpPr>
        <p:spPr>
          <a:xfrm>
            <a:off x="7292340" y="3709416"/>
            <a:ext cx="4183380" cy="795528"/>
          </a:xfrm>
          <a:prstGeom prst="rect">
            <a:avLst/>
          </a:prstGeom>
          <a:noFill/>
          <a:ln/>
        </p:spPr>
        <p:txBody>
          <a:bodyPr wrap="square" lIns="0" tIns="0" rIns="0" bIns="0" rtlCol="0" anchor="ctr"/>
          <a:lstStyle/>
          <a:p>
            <a:pPr indent="0" marL="0">
              <a:buNone/>
            </a:pPr>
            <a:r>
              <a:rPr lang="en-US" sz="1500" b="1" dirty="0">
                <a:solidFill>
                  <a:srgbClr val="B45309"/>
                </a:solidFill>
              </a:rPr>
              <a:t>Throttling: </a:t>
            </a:r>
            <a:pPr indent="0" marL="0">
              <a:buNone/>
            </a:pPr>
            <a:r>
              <a:rPr lang="en-US" sz="1500" dirty="0">
                <a:solidFill>
                  <a:srgbClr val="334155"/>
                </a:solidFill>
              </a:rPr>
              <a:t>on 429, wait Retry-After, then retry; back off exponentially if the header is missing.</a:t>
            </a:r>
            <a:endParaRPr lang="en-US" sz="15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onPremisesDirectorySynchronization; existing tenant; Set-EntraDirSyncFeature; evaluateDynamicMembership; best practices; throttling. Chapter 03,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extends the kit, who runs what, with which role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2087880"/>
          </a:xfrm>
          <a:prstGeom prst="roundRect">
            <a:avLst>
              <a:gd name="adj" fmla="val 350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20878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85928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 and engineers</a:t>
            </a:r>
            <a:endParaRPr lang="en-US" sz="1400" dirty="0"/>
          </a:p>
          <a:p>
            <a:pPr indent="0" marL="0">
              <a:spcAft>
                <a:spcPts val="300"/>
              </a:spcAft>
              <a:buNone/>
            </a:pPr>
            <a:r>
              <a:rPr lang="en-US" sz="1500" dirty="0">
                <a:solidFill>
                  <a:srgbClr val="334155"/>
                </a:solidFill>
              </a:rPr>
              <a:t>Extend the kit. Read PowerShell and know Pester's Describe and It;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2087880"/>
          </a:xfrm>
          <a:prstGeom prst="roundRect">
            <a:avLst>
              <a:gd name="adj" fmla="val 350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208788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85928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ISSOs</a:t>
            </a:r>
            <a:endParaRPr lang="en-US" sz="1400" dirty="0"/>
          </a:p>
          <a:p>
            <a:pPr indent="0" marL="0">
              <a:spcAft>
                <a:spcPts val="300"/>
              </a:spcAft>
              <a:buNone/>
            </a:pPr>
            <a:r>
              <a:rPr lang="en-US" sz="1500" dirty="0">
                <a:solidFill>
                  <a:srgbClr val="334155"/>
                </a:solidFill>
              </a:rPr>
              <a:t>Read what a result can and can't be trusted to mean; the catalog and README tell them a live run's role in advance</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2087880"/>
          </a:xfrm>
          <a:prstGeom prst="roundRect">
            <a:avLst>
              <a:gd name="adj" fmla="val 350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208788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85928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 Global Administrator</a:t>
            </a:r>
            <a:endParaRPr lang="en-US" sz="1400" dirty="0"/>
          </a:p>
          <a:p>
            <a:pPr indent="0" marL="0">
              <a:spcAft>
                <a:spcPts val="300"/>
              </a:spcAft>
              <a:buNone/>
            </a:pPr>
            <a:r>
              <a:rPr lang="en-US" sz="1500" dirty="0">
                <a:solidFill>
                  <a:srgbClr val="334155"/>
                </a:solidFill>
              </a:rPr>
              <a:t>Only for the export, already signed in for other reasons; nothing in the kit runs with that role</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2087880"/>
          </a:xfrm>
          <a:prstGeom prst="roundRect">
            <a:avLst>
              <a:gd name="adj" fmla="val 350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208788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85928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The identity team</a:t>
            </a:r>
            <a:endParaRPr lang="en-US" sz="1400" dirty="0"/>
          </a:p>
          <a:p>
            <a:pPr indent="0" marL="0">
              <a:spcAft>
                <a:spcPts val="300"/>
              </a:spcAft>
              <a:buNone/>
            </a:pPr>
            <a:r>
              <a:rPr lang="en-US" sz="1500" dirty="0">
                <a:solidFill>
                  <a:srgbClr val="334155"/>
                </a:solidFill>
              </a:rPr>
              <a:t>Runs the remediation from the change record the finding opens, under change control</a:t>
            </a:r>
            <a:endParaRPr lang="en-US" sz="1400" dirty="0"/>
          </a:p>
        </p:txBody>
      </p:sp>
      <p:sp>
        <p:nvSpPr>
          <p:cNvPr id="17" name="Callout" descr="">
            <a:extLst>
              <a:ext uri="{C183D7F6-B498-43B3-948B-1728B52AA6E4}">
                <adec:decorative xmlns:adec="http://schemas.microsoft.com/office/drawing/2017/decorative" val="1"/>
              </a:ext>
            </a:extLst>
          </p:cNvPr>
          <p:cNvSpPr/>
          <p:nvPr/>
        </p:nvSpPr>
        <p:spPr>
          <a:xfrm>
            <a:off x="548640" y="3596640"/>
            <a:ext cx="11109960" cy="752856"/>
          </a:xfrm>
          <a:prstGeom prst="roundRect">
            <a:avLst>
              <a:gd name="adj" fmla="val 971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8" name="Icon FaUsersGear" descr="">
            <a:extLst>
              <a:ext uri="{C183D7F6-B498-43B3-948B-1728B52AA6E4}">
                <adec:decorative xmlns:adec="http://schemas.microsoft.com/office/drawing/2017/decorative" val="1"/>
              </a:ext>
            </a:extLst>
          </p:cNvPr>
          <p:cNvSpPr/>
          <p:nvPr/>
        </p:nvSpPr>
        <p:spPr>
          <a:xfrm>
            <a:off x="749808" y="3669792"/>
            <a:ext cx="606552" cy="606552"/>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3815364"/>
            <a:ext cx="315407" cy="315407"/>
          </a:xfrm>
          <a:prstGeom prst="rect">
            <a:avLst/>
          </a:prstGeom>
        </p:spPr>
      </p:pic>
      <p:sp>
        <p:nvSpPr>
          <p:cNvPr id="20" name="Callout text"/>
          <p:cNvSpPr txBox="1"/>
          <p:nvPr/>
        </p:nvSpPr>
        <p:spPr>
          <a:xfrm>
            <a:off x="1600200" y="3651504"/>
            <a:ext cx="9875520" cy="643128"/>
          </a:xfrm>
          <a:prstGeom prst="rect">
            <a:avLst/>
          </a:prstGeom>
          <a:noFill/>
          <a:ln/>
        </p:spPr>
        <p:txBody>
          <a:bodyPr wrap="square" lIns="0" tIns="0" rIns="0" bIns="0" rtlCol="0" anchor="ctr"/>
          <a:lstStyle/>
          <a:p>
            <a:pPr indent="0" marL="0">
              <a:buNone/>
            </a:pPr>
            <a:r>
              <a:rPr lang="en-US" sz="1750" b="1" dirty="0">
                <a:solidFill>
                  <a:srgbClr val="1F2A44"/>
                </a:solidFill>
              </a:rPr>
              <a:t>Least privilege in practice: </a:t>
            </a:r>
            <a:pPr indent="0" marL="0">
              <a:buNone/>
            </a:pPr>
            <a:r>
              <a:rPr lang="en-US" sz="1750" dirty="0">
                <a:solidFill>
                  <a:srgbClr val="334155"/>
                </a:solidFill>
              </a:rPr>
              <a:t>the kit runs on the export as any user, without signing in; a live run would need Global Administrator, so it is the fallback, not the plan.</a:t>
            </a:r>
            <a:endParaRPr lang="en-US" sz="17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onPremisesDirectorySynchronization; Learn, Set-EntraDirSyncFeature. Chapter 03, “Goal and audience,” “The safety tests,”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run the check on the fixtures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008632"/>
          </a:xfrm>
          <a:prstGeom prst="roundRect">
            <a:avLst>
              <a:gd name="adj" fmla="val 364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 WITH PESTER 5.5+; NOTHING SIGNS IN</a:t>
            </a:r>
            <a:endParaRPr lang="en-US" sz="1050" dirty="0"/>
          </a:p>
        </p:txBody>
      </p:sp>
      <p:sp>
        <p:nvSpPr>
          <p:cNvPr id="7" name="Code"/>
          <p:cNvSpPr txBox="1"/>
          <p:nvPr/>
        </p:nvSpPr>
        <p:spPr>
          <a:xfrm>
            <a:off x="713232" y="1664208"/>
            <a:ext cx="10835640" cy="1624584"/>
          </a:xfrm>
          <a:prstGeom prst="rect">
            <a:avLst/>
          </a:prstGeom>
          <a:noFill/>
          <a:ln/>
        </p:spPr>
        <p:txBody>
          <a:bodyPr wrap="square" lIns="0" tIns="0" rIns="0" bIns="0" rtlCol="0" anchor="t"/>
          <a:lstStyle/>
          <a:p>
            <a:pPr indent="0" marL="0">
              <a:buNone/>
            </a:pPr>
            <a:r>
              <a:rPr lang="en-US" sz="1250" dirty="0">
                <a:solidFill>
                  <a:srgbClr val="334155"/>
                </a:solidFill>
                <a:latin typeface="Consolas" pitchFamily="34" charset="0"/>
                <a:ea typeface="Consolas" pitchFamily="34" charset="-122"/>
                <a:cs typeface="Consolas" pitchFamily="34" charset="-120"/>
              </a:rPr>
              <a:t>cd examples/validation-kit</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Import-Module ./powershell/ValidationKit -Force</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$r = Invoke-VkCheck -CheckId VK-SYNC-02 -Context (Get-VkRunContext -FixturePath ./tests/fixtures/fail -AsOf 2026-10-30)</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$r | Select-Object CheckId, Status, Count        # Fail, 2</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$r.Details | Format-Table Severity, Issue        # two Finding rows, one Info</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$r.Evidence.Queries | Format-Table Source, Query # one query, Graph (fixture)</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2  -Option @{ MatchWindowOpenUntil = '2026-10-31' }  -&gt; Warn;  -AsOf 2026-11-01 -&gt; Fail again</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3  -InputPath with onprem-sync-export.json (soft match blocked, hard match not) -&gt; one Finding, Input</a:t>
            </a:r>
            <a:endParaRPr lang="en-US" sz="1250" dirty="0"/>
          </a:p>
        </p:txBody>
      </p:sp>
      <p:sp>
        <p:nvSpPr>
          <p:cNvPr id="8" name="Callout" descr="">
            <a:extLst>
              <a:ext uri="{C183D7F6-B498-43B3-948B-1728B52AA6E4}">
                <adec:decorative xmlns:adec="http://schemas.microsoft.com/office/drawing/2017/decorative" val="1"/>
              </a:ext>
            </a:extLst>
          </p:cNvPr>
          <p:cNvSpPr/>
          <p:nvPr/>
        </p:nvSpPr>
        <p:spPr>
          <a:xfrm>
            <a:off x="548640" y="351739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UserClock" descr="">
            <a:extLst>
              <a:ext uri="{C183D7F6-B498-43B3-948B-1728B52AA6E4}">
                <adec:decorative xmlns:adec="http://schemas.microsoft.com/office/drawing/2017/decorative" val="1"/>
              </a:ext>
            </a:extLst>
          </p:cNvPr>
          <p:cNvSpPr/>
          <p:nvPr/>
        </p:nvSpPr>
        <p:spPr>
          <a:xfrm>
            <a:off x="749808" y="359054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3736116"/>
            <a:ext cx="315407" cy="315407"/>
          </a:xfrm>
          <a:prstGeom prst="rect">
            <a:avLst/>
          </a:prstGeom>
        </p:spPr>
      </p:pic>
      <p:sp>
        <p:nvSpPr>
          <p:cNvPr id="11" name="Callout text"/>
          <p:cNvSpPr txBox="1"/>
          <p:nvPr/>
        </p:nvSpPr>
        <p:spPr>
          <a:xfrm>
            <a:off x="1600200" y="357225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What step 2 shows: </a:t>
            </a:r>
            <a:pPr indent="0" marL="0">
              <a:buNone/>
            </a:pPr>
            <a:r>
              <a:rPr lang="en-US" sz="1750" dirty="0">
                <a:solidFill>
                  <a:srgbClr val="334155"/>
                </a:solidFill>
              </a:rPr>
              <a:t>the window ends on its own: the same state, a day later, is a Fail again.</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examples/validation-kit (fictional contoso.example fixtures). Chapter 03,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scope, default run, and a planted mistake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095500"/>
        </p:xfrm>
        <a:graphic>
          <a:graphicData uri="http://schemas.openxmlformats.org/drawingml/2006/table">
            <a:tbl>
              <a:tblPr firstRow="1" bandRow="1"/>
              <a:tblGrid>
                <a:gridCol w="731520"/>
                <a:gridCol w="6035040"/>
                <a:gridCol w="43434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Step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Command or change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4</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Get-VkRequiredScope -Checks (Get-VkCheckCatalog -CheckId VK-SYNC-02); then .DelegatedRole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OnPremDirectorySynchronization.Read.All; the role named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5</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(Get-VkCheckCatalog).Id -contains 'VK-SYNC-02'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False: it isn't in a default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pwsh -NoProfile -Command "Invoke-Pester -Path tests/powershell"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test passes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 your copy, read blockSoftMatch (a property that doesn't exist)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pass fixture now fails too: the missing value reads as off. Put it back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60426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49808" y="367741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3822984"/>
            <a:ext cx="315407" cy="315407"/>
          </a:xfrm>
          <a:prstGeom prst="rect">
            <a:avLst/>
          </a:prstGeom>
        </p:spPr>
      </p:pic>
      <p:sp>
        <p:nvSpPr>
          <p:cNvPr id="9" name="Callout text"/>
          <p:cNvSpPr txBox="1"/>
          <p:nvPr/>
        </p:nvSpPr>
        <p:spPr>
          <a:xfrm>
            <a:off x="1600200" y="365912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Expected result: </a:t>
            </a:r>
            <a:pPr indent="0" marL="0">
              <a:buNone/>
            </a:pPr>
            <a:r>
              <a:rPr lang="en-US" sz="1750" dirty="0">
                <a:solidFill>
                  <a:srgbClr val="334155"/>
                </a:solidFill>
              </a:rPr>
              <a:t>every test passes, and you've seen all four outcomes: Pass, Fail, Warn and NotApplicable.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examples/validation-kit. Chapter 03, “Lab 1: fixtures, no tenant,”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an export from a test tenant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795528"/>
          </a:xfrm>
          <a:prstGeom prst="rect">
            <a:avLst/>
          </a:prstGeom>
          <a:noFill/>
          <a:ln/>
        </p:spPr>
        <p:txBody>
          <a:bodyPr wrap="square" lIns="0" tIns="0" rIns="0" bIns="0" rtlCol="0" anchor="t"/>
          <a:lstStyle/>
          <a:p>
            <a:pPr indent="0" marL="0">
              <a:buNone/>
            </a:pPr>
            <a:r>
              <a:rPr lang="en-US" sz="1500" b="1" dirty="0">
                <a:solidFill>
                  <a:srgbClr val="1F2A44"/>
                </a:solidFill>
              </a:rPr>
              <a:t>Export: </a:t>
            </a:r>
            <a:pPr indent="0" marL="0">
              <a:buNone/>
            </a:pPr>
            <a:r>
              <a:rPr lang="en-US" sz="1500" dirty="0">
                <a:solidFill>
                  <a:srgbClr val="334155"/>
                </a:solidFill>
              </a:rPr>
              <a:t>A Global Administrator of a test tenant with Entra Connect or Cloud Sync: Connect-MgGraph -Environment Global (USGov for GCC High), GET the endpoint, save to ./inputs/onprem-sync-export.json, disconnect. Read the file first: tenant configuration, no personal data</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21396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21396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21214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Run on the export: </a:t>
            </a:r>
            <a:pPr indent="0" marL="0">
              <a:buNone/>
            </a:pPr>
            <a:r>
              <a:rPr lang="en-US" sz="1500" dirty="0">
                <a:solidFill>
                  <a:srgbClr val="334155"/>
                </a:solidFill>
              </a:rPr>
              <a:t>As any user: ./Invoke-ValidationKit.ps1 -OutputPath ./out -CheckId VK-SYNC-02 -InputPath ./inputs -SkipConnect; the evidence in Results/ValidationResults.json shows Input</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7066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7066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6883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Compare with the source: </a:t>
            </a:r>
            <a:pPr indent="0" marL="0">
              <a:buNone/>
            </a:pPr>
            <a:r>
              <a:rPr lang="en-US" sz="1500" dirty="0">
                <a:solidFill>
                  <a:srgbClr val="334155"/>
                </a:solidFill>
              </a:rPr>
              <a:t>Check the result against the export's features block, line by line; a missing or renamed property means the shape differs from Learn's example, so fix the fixture and the check together</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2735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2735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2552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Back it out: </a:t>
            </a:r>
            <a:pPr indent="0" marL="0">
              <a:buNone/>
            </a:pPr>
            <a:r>
              <a:rPr lang="en-US" sz="1500" dirty="0">
                <a:solidFill>
                  <a:srgbClr val="334155"/>
                </a:solidFill>
              </a:rPr>
              <a:t>Delete the export once the run's evidence is stored; the manifest, ValidationManifest.json, is the evidence</a:t>
            </a:r>
            <a:endParaRPr lang="en-US" sz="1500" dirty="0"/>
          </a:p>
        </p:txBody>
      </p:sp>
      <p:sp>
        <p:nvSpPr>
          <p:cNvPr id="17" name="Callout" descr="">
            <a:extLst>
              <a:ext uri="{C183D7F6-B498-43B3-948B-1728B52AA6E4}">
                <adec:decorative xmlns:adec="http://schemas.microsoft.com/office/drawing/2017/decorative" val="1"/>
              </a:ext>
            </a:extLst>
          </p:cNvPr>
          <p:cNvSpPr/>
          <p:nvPr/>
        </p:nvSpPr>
        <p:spPr>
          <a:xfrm>
            <a:off x="548640" y="4005072"/>
            <a:ext cx="11109960" cy="928116"/>
          </a:xfrm>
          <a:prstGeom prst="roundRect">
            <a:avLst>
              <a:gd name="adj" fmla="val 788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8" name="Icon FaFingerprint" descr="">
            <a:extLst>
              <a:ext uri="{C183D7F6-B498-43B3-948B-1728B52AA6E4}">
                <adec:decorative xmlns:adec="http://schemas.microsoft.com/office/drawing/2017/decorative" val="1"/>
              </a:ext>
            </a:extLst>
          </p:cNvPr>
          <p:cNvSpPr/>
          <p:nvPr/>
        </p:nvSpPr>
        <p:spPr>
          <a:xfrm>
            <a:off x="749808" y="4149090"/>
            <a:ext cx="640080" cy="640080"/>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302709"/>
            <a:ext cx="332842" cy="332842"/>
          </a:xfrm>
          <a:prstGeom prst="rect">
            <a:avLst/>
          </a:prstGeom>
        </p:spPr>
      </p:pic>
      <p:sp>
        <p:nvSpPr>
          <p:cNvPr id="20" name="Callout text"/>
          <p:cNvSpPr txBox="1"/>
          <p:nvPr/>
        </p:nvSpPr>
        <p:spPr>
          <a:xfrm>
            <a:off x="1600200" y="4059936"/>
            <a:ext cx="9875520" cy="818388"/>
          </a:xfrm>
          <a:prstGeom prst="rect">
            <a:avLst/>
          </a:prstGeom>
          <a:noFill/>
          <a:ln/>
        </p:spPr>
        <p:txBody>
          <a:bodyPr wrap="square" lIns="0" tIns="0" rIns="0" bIns="0" rtlCol="0" anchor="ctr"/>
          <a:lstStyle/>
          <a:p>
            <a:pPr indent="0" marL="0">
              <a:buNone/>
            </a:pPr>
            <a:r>
              <a:rPr lang="en-US" sz="1550" b="1" dirty="0">
                <a:solidFill>
                  <a:srgbClr val="1F2A44"/>
                </a:solidFill>
              </a:rPr>
              <a:t>Which tenant: </a:t>
            </a:r>
            <a:pPr indent="0" marL="0">
              <a:buNone/>
            </a:pPr>
            <a:r>
              <a:rPr lang="en-US" sz="1550" dirty="0">
                <a:solidFill>
                  <a:srgbClr val="334155"/>
                </a:solidFill>
              </a:rPr>
              <a:t>ValidationManifest.json records the cloud and TenantId, from the token's tid claim; a session in another tenant than -TenantId stops the run before it writes. Chapter 09's comparator refuses runs of different tenants.</a:t>
            </a:r>
            <a:endParaRPr lang="en-US" sz="15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onPremisesDirectorySynchronization; Learn, Microsoft Graph national cloud deployments. Chapter 03,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291584"/>
        </p:xfrm>
        <a:graphic>
          <a:graphicData uri="http://schemas.openxmlformats.org/drawingml/2006/table">
            <a:tbl>
              <a:tblPr firstRow="1" bandRow="1"/>
              <a:tblGrid>
                <a:gridCol w="3200400"/>
                <a:gridCol w="3886200"/>
                <a:gridCol w="40233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Danger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The guard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read-only check that needs a privileged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standing Global Administrator identity is created so a check can run on a schedule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Optional, prefers an export, names the role in its catalog entry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failed read reported as Pass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tenant the kit couldn't see looks compliant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Invoke-VkCheckBody turns any exception into Error; don't catch inside the body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missing property read as “on”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response-shape change hides an open control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Read every control with the unsafe default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check with its own HTTP call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write slips past review, or a token goes to the wrong host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data path; the safety tests parse the kit and fail on anything else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fixture that matches the code, not the service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Tests pass while the live shape differs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Fixtures copy Learn's example shape; Lab 2 compares with the tenant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Warn that never ends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approved window becomes permanent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MatchWindowOpenUntil is a date; the day after, it's a 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check missing from the README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permission table lies to the ISSO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test fails when a catalogued check has no README row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03, “Dangers”; Learn, Get onPremisesDirectorySynchronization.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reviewer's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check" descr="">
            <a:extLst>
              <a:ext uri="{C183D7F6-B498-43B3-948B-1728B52AA6E4}">
                <adec:decorative xmlns:adec="http://schemas.microsoft.com/office/drawing/2017/decorative" val="1"/>
              </a:ext>
            </a:extLst>
          </p:cNvPr>
          <p:cNvSpPr/>
          <p:nvPr/>
        </p:nvSpPr>
        <p:spPr>
          <a:xfrm>
            <a:off x="548640" y="1325880"/>
            <a:ext cx="5417820" cy="3304032"/>
          </a:xfrm>
          <a:prstGeom prst="roundRect">
            <a:avLst>
              <a:gd name="adj" fmla="val 221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check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CHECK</a:t>
            </a:r>
            <a:endParaRPr lang="en-US" sz="1100" dirty="0"/>
          </a:p>
        </p:txBody>
      </p:sp>
      <p:sp>
        <p:nvSpPr>
          <p:cNvPr id="7" name="Panel The check list"/>
          <p:cNvSpPr txBox="1"/>
          <p:nvPr/>
        </p:nvSpPr>
        <p:spPr>
          <a:xfrm>
            <a:off x="731520" y="1737360"/>
            <a:ext cx="5097780"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ID, function name and track agree: VK-SYNC-02, Invoke-VkSync02, SYNC</a:t>
            </a:r>
            <a:endParaRPr lang="en-US" sz="1550" dirty="0"/>
          </a:p>
          <a:p>
            <a:pPr marL="342900" indent="-342900">
              <a:spcAft>
                <a:spcPts val="400"/>
              </a:spcAft>
              <a:buSzPct val="100000"/>
              <a:buChar char="•"/>
            </a:pPr>
            <a:r>
              <a:rPr lang="en-US" sz="1550" dirty="0">
                <a:solidFill>
                  <a:srgbClr val="334155"/>
                </a:solidFill>
              </a:rPr>
              <a:t>The catalog names the least-privileged permission and delegated role from the Learn page, and links it</a:t>
            </a:r>
            <a:endParaRPr lang="en-US" sz="1550" dirty="0"/>
          </a:p>
          <a:p>
            <a:pPr marL="342900" indent="-342900">
              <a:spcAft>
                <a:spcPts val="400"/>
              </a:spcAft>
              <a:buSzPct val="100000"/>
              <a:buChar char="•"/>
            </a:pPr>
            <a:r>
              <a:rPr lang="en-US" sz="1550" dirty="0">
                <a:solidFill>
                  <a:srgbClr val="334155"/>
                </a:solidFill>
              </a:rPr>
              <a:t>A check whose read needs a privileged role is optional and reads an export by default</a:t>
            </a:r>
            <a:endParaRPr lang="en-US" sz="1550" dirty="0"/>
          </a:p>
          <a:p>
            <a:pPr marL="342900" indent="-342900">
              <a:spcAft>
                <a:spcPts val="400"/>
              </a:spcAft>
              <a:buSzPct val="100000"/>
              <a:buChar char="•"/>
            </a:pPr>
            <a:r>
              <a:rPr lang="en-US" sz="1550" dirty="0">
                <a:solidFill>
                  <a:srgbClr val="334155"/>
                </a:solidFill>
              </a:rPr>
              <a:t>The body reads only through Get-VkData, Read-VkInputJson or Read-VkInputCsv</a:t>
            </a:r>
            <a:endParaRPr lang="en-US" sz="1550" dirty="0"/>
          </a:p>
          <a:p>
            <a:pPr marL="342900" indent="-342900">
              <a:spcAft>
                <a:spcPts val="400"/>
              </a:spcAft>
              <a:buSzPct val="100000"/>
              <a:buChar char="•"/>
            </a:pPr>
            <a:r>
              <a:rPr lang="en-US" sz="1550" dirty="0">
                <a:solidFill>
                  <a:srgbClr val="334155"/>
                </a:solidFill>
              </a:rPr>
              <a:t>No try/catch in the body hides a failed read</a:t>
            </a:r>
            <a:endParaRPr lang="en-US" sz="1550" dirty="0"/>
          </a:p>
        </p:txBody>
      </p:sp>
      <p:sp>
        <p:nvSpPr>
          <p:cNvPr id="8" name="Panel Tests and documentation" descr="">
            <a:extLst>
              <a:ext uri="{C183D7F6-B498-43B3-948B-1728B52AA6E4}">
                <adec:decorative xmlns:adec="http://schemas.microsoft.com/office/drawing/2017/decorative" val="1"/>
              </a:ext>
            </a:extLst>
          </p:cNvPr>
          <p:cNvSpPr/>
          <p:nvPr/>
        </p:nvSpPr>
        <p:spPr>
          <a:xfrm>
            <a:off x="6240780" y="1325880"/>
            <a:ext cx="5417820" cy="3304032"/>
          </a:xfrm>
          <a:prstGeom prst="roundRect">
            <a:avLst>
              <a:gd name="adj" fmla="val 221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ests and documentatio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TESTS AND DOCUMENTATION</a:t>
            </a:r>
            <a:endParaRPr lang="en-US" sz="1100" dirty="0"/>
          </a:p>
        </p:txBody>
      </p:sp>
      <p:sp>
        <p:nvSpPr>
          <p:cNvPr id="10" name="Panel Tests and documentation list"/>
          <p:cNvSpPr txBox="1"/>
          <p:nvPr/>
        </p:nvSpPr>
        <p:spPr>
          <a:xfrm>
            <a:off x="6423660" y="1737360"/>
            <a:ext cx="5097780"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control is read with the unsafe default</a:t>
            </a:r>
            <a:endParaRPr lang="en-US" sz="1550" dirty="0"/>
          </a:p>
          <a:p>
            <a:pPr marL="342900" indent="-342900">
              <a:spcAft>
                <a:spcPts val="400"/>
              </a:spcAft>
              <a:buSzPct val="100000"/>
              <a:buChar char="•"/>
            </a:pPr>
            <a:r>
              <a:rPr lang="en-US" sz="1550" dirty="0">
                <a:solidFill>
                  <a:srgbClr val="334155"/>
                </a:solidFill>
              </a:rPr>
              <a:t>Pass and fail fixtures in Learn's response shape; the table-driven test has the exact fail count</a:t>
            </a:r>
            <a:endParaRPr lang="en-US" sz="1550" dirty="0"/>
          </a:p>
          <a:p>
            <a:pPr marL="342900" indent="-342900">
              <a:spcAft>
                <a:spcPts val="400"/>
              </a:spcAft>
              <a:buSzPct val="100000"/>
              <a:buChar char="•"/>
            </a:pPr>
            <a:r>
              <a:rPr lang="en-US" sz="1550" dirty="0">
                <a:solidFill>
                  <a:srgbClr val="334155"/>
                </a:solidFill>
              </a:rPr>
              <a:t>Tests cover each status the check can return</a:t>
            </a:r>
            <a:endParaRPr lang="en-US" sz="1550" dirty="0"/>
          </a:p>
          <a:p>
            <a:pPr marL="342900" indent="-342900">
              <a:spcAft>
                <a:spcPts val="400"/>
              </a:spcAft>
              <a:buSzPct val="100000"/>
              <a:buChar char="•"/>
            </a:pPr>
            <a:r>
              <a:rPr lang="en-US" sz="1550" dirty="0">
                <a:solidFill>
                  <a:srgbClr val="334155"/>
                </a:solidFill>
              </a:rPr>
              <a:t>The README's permission table, notes and gate map include the check</a:t>
            </a:r>
            <a:endParaRPr lang="en-US" sz="1550" dirty="0"/>
          </a:p>
          <a:p>
            <a:pPr marL="342900" indent="-342900">
              <a:spcAft>
                <a:spcPts val="400"/>
              </a:spcAft>
              <a:buSzPct val="100000"/>
              <a:buChar char="•"/>
            </a:pPr>
            <a:r>
              <a:rPr lang="en-US" sz="1550" dirty="0">
                <a:solidFill>
                  <a:srgbClr val="334155"/>
                </a:solidFill>
              </a:rPr>
              <a:t>The safety tests pass unchanged</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812792"/>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885944"/>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31516"/>
            <a:ext cx="315407" cy="315407"/>
          </a:xfrm>
          <a:prstGeom prst="rect">
            <a:avLst/>
          </a:prstGeom>
        </p:spPr>
      </p:pic>
      <p:sp>
        <p:nvSpPr>
          <p:cNvPr id="14" name="Callout text"/>
          <p:cNvSpPr txBox="1"/>
          <p:nvPr/>
        </p:nvSpPr>
        <p:spPr>
          <a:xfrm>
            <a:off x="1600200" y="4867656"/>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04, Dynamic Rules as Code. Previous: Chapter 02, Graph Clients for the Government Clouds.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03, “Checklist,” “Continue the book”; Learn, Get onPremisesDirectorySynchronization.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c03-existing  </a:t>
            </a:r>
            <a:pPr indent="0" marL="0">
              <a:spcAft>
                <a:spcPts val="300"/>
              </a:spcAft>
              <a:buNone/>
            </a:pPr>
            <a:r>
              <a:rPr lang="en-US" sz="1050" dirty="0">
                <a:solidFill>
                  <a:srgbClr val="334155"/>
                </a:solidFill>
              </a:rPr>
              <a:t>Microsoft Learn, "Configure Microsoft Entra Connect for an existing tenant," https://learn.microsoft.com/entra/identity/hybrid/connect/how-to-connect-install-existing-tenant (accessed Oct 30, 2026).</a:t>
            </a:r>
            <a:endParaRPr lang="en-US" sz="1050" dirty="0"/>
          </a:p>
          <a:p>
            <a:pPr indent="0" marL="0">
              <a:spcAft>
                <a:spcPts val="300"/>
              </a:spcAft>
              <a:buNone/>
            </a:pPr>
            <a:r>
              <a:rPr lang="en-US" sz="1050" b="1" dirty="0">
                <a:solidFill>
                  <a:srgbClr val="1F2A44"/>
                </a:solidFill>
              </a:rPr>
              <a:t>c03-onpremsync  </a:t>
            </a:r>
            <a:pPr indent="0" marL="0">
              <a:spcAft>
                <a:spcPts val="300"/>
              </a:spcAft>
              <a:buNone/>
            </a:pPr>
            <a:r>
              <a:rPr lang="en-US" sz="1050" dirty="0">
                <a:solidFill>
                  <a:srgbClr val="334155"/>
                </a:solidFill>
              </a:rPr>
              <a:t>Microsoft Learn, "Get onPremisesDirectorySynchronization," https://learn.microsoft.com/graph/api/onpremisesdirectorysynchronization-get?view=graph-rest-1.0 (accessed Oct 30, 2026).</a:t>
            </a:r>
            <a:endParaRPr lang="en-US" sz="1050" dirty="0"/>
          </a:p>
          <a:p>
            <a:pPr indent="0" marL="0">
              <a:spcAft>
                <a:spcPts val="300"/>
              </a:spcAft>
              <a:buNone/>
            </a:pPr>
            <a:r>
              <a:rPr lang="en-US" sz="1050" b="1" dirty="0">
                <a:solidFill>
                  <a:srgbClr val="1F2A44"/>
                </a:solidFill>
              </a:rPr>
              <a:t>c03-entraps  </a:t>
            </a:r>
            <a:pPr indent="0" marL="0">
              <a:spcAft>
                <a:spcPts val="300"/>
              </a:spcAft>
              <a:buNone/>
            </a:pPr>
            <a:r>
              <a:rPr lang="en-US" sz="1050" dirty="0">
                <a:solidFill>
                  <a:srgbClr val="334155"/>
                </a:solidFill>
              </a:rPr>
              <a:t>Microsoft Learn, "Set-EntraDirSyncFeature," https://learn.microsoft.com/powershell/module/microsoft.entra.directorymanagement/set-entradirsyncfeature?view=entra-powershell (accessed Oct 30, 2026).</a:t>
            </a:r>
            <a:endParaRPr lang="en-US" sz="1050" dirty="0"/>
          </a:p>
          <a:p>
            <a:pPr indent="0" marL="0">
              <a:spcAft>
                <a:spcPts val="300"/>
              </a:spcAft>
              <a:buNone/>
            </a:pPr>
            <a:r>
              <a:rPr lang="en-US" sz="1050" b="1" dirty="0">
                <a:solidFill>
                  <a:srgbClr val="1F2A44"/>
                </a:solidFill>
              </a:rPr>
              <a:t>c03-evaluate  </a:t>
            </a:r>
            <a:pPr indent="0" marL="0">
              <a:spcAft>
                <a:spcPts val="300"/>
              </a:spcAft>
              <a:buNone/>
            </a:pPr>
            <a:r>
              <a:rPr lang="en-US" sz="1050" dirty="0">
                <a:solidFill>
                  <a:srgbClr val="334155"/>
                </a:solidFill>
              </a:rPr>
              <a:t>Microsoft Learn, "group: evaluateDynamicMembership," https://learn.microsoft.com/graph/api/group-evaluatedynamicmembership?view=graph-rest-beta (accessed Oct 30, 2026).</a:t>
            </a:r>
            <a:endParaRPr lang="en-US" sz="1050" dirty="0"/>
          </a:p>
          <a:p>
            <a:pPr indent="0" marL="0">
              <a:spcAft>
                <a:spcPts val="300"/>
              </a:spcAft>
              <a:buNone/>
            </a:pPr>
            <a:r>
              <a:rPr lang="en-US" sz="1050" b="1" dirty="0">
                <a:solidFill>
                  <a:srgbClr val="1F2A44"/>
                </a:solidFill>
              </a:rPr>
              <a:t>c03-paging  </a:t>
            </a:r>
            <a:pPr indent="0" marL="0">
              <a:spcAft>
                <a:spcPts val="300"/>
              </a:spcAft>
              <a:buNone/>
            </a:pPr>
            <a:r>
              <a:rPr lang="en-US" sz="1050" dirty="0">
                <a:solidFill>
                  <a:srgbClr val="334155"/>
                </a:solidFill>
              </a:rPr>
              <a:t>Microsoft Learn, "Best practices for working with Microsoft Graph," https://learn.microsoft.com/graph/best-practices-concept (accessed Oct 30, 2026).</a:t>
            </a:r>
            <a:endParaRPr lang="en-US" sz="1050" dirty="0"/>
          </a:p>
          <a:p>
            <a:pPr indent="0" marL="0">
              <a:spcAft>
                <a:spcPts val="300"/>
              </a:spcAft>
              <a:buNone/>
            </a:pPr>
            <a:r>
              <a:rPr lang="en-US" sz="1050" b="1" dirty="0">
                <a:solidFill>
                  <a:srgbClr val="1F2A44"/>
                </a:solidFill>
              </a:rPr>
              <a:t>c03-throttling  </a:t>
            </a:r>
            <a:pPr indent="0" marL="0">
              <a:spcAft>
                <a:spcPts val="300"/>
              </a:spcAft>
              <a:buNone/>
            </a:pPr>
            <a:r>
              <a:rPr lang="en-US" sz="1050" dirty="0">
                <a:solidFill>
                  <a:srgbClr val="334155"/>
                </a:solidFill>
              </a:rPr>
              <a:t>Microsoft Learn, "Microsoft Graph throttling guidance," https://learn.microsoft.com/graph/throttling (accessed Oct 30, 2026).</a:t>
            </a:r>
            <a:endParaRPr lang="en-US" sz="1050" dirty="0"/>
          </a:p>
          <a:p>
            <a:pPr indent="0" marL="0">
              <a:spcAft>
                <a:spcPts val="300"/>
              </a:spcAft>
              <a:buNone/>
            </a:pPr>
            <a:r>
              <a:rPr lang="en-US" sz="1050" b="1" dirty="0">
                <a:solidFill>
                  <a:srgbClr val="1F2A44"/>
                </a:solidFill>
              </a:rPr>
              <a:t>c03-deployments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03 — Writing a Validation Kit Check</dc:title>
  <dc:subject>PptxGenJS Presentation</dc:subject>
  <dc:creator>Michael F. Stratton</dc:creator>
  <cp:lastModifiedBy>Michael F. Stratton</cp:lastModifiedBy>
  <cp:revision>1</cp:revision>
  <dcterms:created xsi:type="dcterms:W3CDTF">2026-10-31T14:33:31Z</dcterms:created>
  <dcterms:modified xsi:type="dcterms:W3CDTF">2026-10-31T14:33:31Z</dcterms:modified>
</cp:coreProperties>
</file>