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rientation" id="{91003BEA-A9AE-A0E9-E65E-C499A5D4C6ED}">
          <p14:sldIdLst>
            <p14:sldId id="256"/>
            <p14:sldId id="257"/>
          </p14:sldIdLst>
        </p14:section>
        <p14:section name="Part 1 — Deciding and designing" id="{8A76C014-7733-CABA-0E11-682FB5F72434}">
          <p14:sldIdLst>
            <p14:sldId id="258"/>
            <p14:sldId id="259"/>
            <p14:sldId id="260"/>
            <p14:sldId id="261"/>
            <p14:sldId id="262"/>
            <p14:sldId id="263"/>
            <p14:sldId id="264"/>
            <p14:sldId id="265"/>
            <p14:sldId id="266"/>
            <p14:sldId id="267"/>
            <p14:sldId id="268"/>
            <p14:sldId id="269"/>
            <p14:sldId id="270"/>
            <p14:sldId id="271"/>
            <p14:sldId id="272"/>
            <p14:sldId id="273"/>
          </p14:sldIdLst>
        </p14:section>
        <p14:section name="Part 2 — Governing and running" id="{B8C94190-0A77-15B1-B4E5-BDBDD199F262}">
          <p14:sldIdLst>
            <p14:sldId id="274"/>
            <p14:sldId id="275"/>
            <p14:sldId id="276"/>
            <p14:sldId id="277"/>
            <p14:sldId id="278"/>
            <p14:sldId id="279"/>
            <p14:sldId id="280"/>
            <p14:sldId id="281"/>
            <p14:sldId id="282"/>
            <p14:sldId id="283"/>
            <p14:sldId id="284"/>
            <p14:sldId id="285"/>
            <p14:sldId id="286"/>
            <p14:sldId id="287"/>
            <p14:sldId id="288"/>
            <p14:sldId id="289"/>
          </p14:sldIdLst>
        </p14:section>
        <p14:section name="Backup" id="{7D461F75-E859-0F8C-CA06-DDBE77B7330F}">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4974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[0:00–1:27]  This is the technical deep dive for Book 18 of the Federal Modernization Workbook, Application Modernization. It's for enterprise and solution architects, application and data engineers, database administrators and ISSOs: the people who decide what each legacy application becomes, build the ones that change, move their data and prove the result.
It runs in two parts and four modules you can watch separately. Part 1 is deciding and designing: the portfolio argument, the six dispositions and the scored triage, then the target reference architecture and moving data off DB2 and Oracle. Part 2 is governing and running: generative and agentic AI with guardrails, compliance by design, the review board and its four gates, then the reference implementation, the TOGAF and Zachman mapping, and the waves.
Three labels to listen for. Program design is marked as such: the rubric, the stack choices, the gates and the wave sizes are the book's design, not federal requirements. Product versions and support windows are as of October 28 and 29, 2026, and they move. And the reference implementation is illustrative: its tests pass against real PostgreSQL, but it hasn't been run against a real DB2 or Oracle database or in production. I'll describe the code rather than walk through it.
Workbook: Book 18, index; Chapters 01–10.</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[1:27–3:03]  Why this matters. Most federal IT money keeps existing systems running. GAO's July 2025 review puts federal IT spending at more than 100 billion dollars a year, with agencies typically reporting about 80 percent on operations and maintenance; for fiscal 2025 the 24 CFO Act agencies planned about 83 billion, 79 percent. 
Its list of the most critical systems: 11 in 2025, about 23 to 60 years old, about 754 million dollars a year to run. Only 3 had plans with all three key elements GAO looks for, milestones, the work to modernize and the disposition of the legacy system, and 2 had no plan. None of those elements is a technology choice. And GAO says the extent of legacy IT is simply unknown, because OMB doesn't require investments to be flagged as legacy.
Two readings matter. Eleven systems are the top of the list, not the list: the bulk of the cost sits in thousands of ordinary applications. And the gap is planning, decided per system.
The figure is the book's argument. Big-bang rewrites deliver value only at the end, have to rediscover the old system's real specification, and concentrate risk in one cut-over. Federal policy already points the other way: A-130 asks for useful segments of narrow scope and brief duration, and the FAR's modular contracting rule asks for increments that each deliver a workable system.
Workbook: Book 18, Chapter 01 — A Portfolio, Not a Rewrite, "The scale of the problem," "Why big-bang rewrites fail."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[3:03–3:45]  Module 1: the portfolio and the triage. Before anyone picks a framework or a database, every application needs a decision about what it becomes. In a portfolio of thousands that can't be a study per application; a three-month assessment of each would outlast most of them.
So: why the application is the unit of decision, and the six dispositions with the vendor vocabularies they line up with; the six criteria and where their data already lives; the two axes and the confidence flags; the seven-rule decision table; and the owner review, decision record and calibration that keep it honest.
Workbook: Book 18, Chapter 01 — A Portfolio, Not a Rewrite; Chapter 02 — Triaging the Portfolio.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[3:45–5:24]  The unit of decision is the application. A program or mission area is too coarse: one area holds applications that should be retired next to ones that should be rebuilt. A platform, the mainframe or the Oracle estate, treats a hundred different applications as one, and can't be retired until every one has a decision. The application works, because it has a mission owner, a data set, a code base, dependencies and an authorization boundary.
The table lists the six dispositions in rising order of cost and risk, and that order is the rubric's first rule: an application gets the cheapest disposition that meets its mission need, and every step down the table has to be justified by the scores. Retire and retain are decisions, not projects; they need an owner's agreement, and for retire a decommissioning checklist, but no engineering team.
The right two columns line the six up with what vendors say. AWS's Prescriptive Guidance lists seven Rs and warns that refactoring is the most complex strategy and isn't recommended for large migrations. Microsoft's Cloud Adoption Framework lists eight.
Two choices are deliberate. Replace is a form of retire, because the new service is an acquisition with its own authorization; and A-130 says custom development should start only when no existing alternative can meet the need. Relocate is a form of rehost. The six names are the program's vocabulary, not federal policy.
Workbook: Book 18, Chapter 01 — "The unit of decision is the application"; Chapter 02 — Triaging the Portfolio, "The six dispositions," "Where the names come from."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[5:24–7:02]  The six criteria come from what GAO, federal policy and the providers' guidance say drives modernization risk and value, and every one can be scored from data the agency mostly holds already.
Mission criticality: how much the mission depends on the application, from the business impact analysis, the FIPS 199 availability and integrity impact, and any high value asset designation. Technical condition: is it supported, patchable and changeable, from the configuration database, scans and vendor support dates. Data sensitivity: the FIPS 199 confidentiality impact, the PII inventory and privacy impact assessments, plus the engine and size, because sensitivity here also means how hard the data is to move. Cost: run cost and the cost of each disposition, which is what the Clinger-Cohen capital planning statute's risk-adjusted return asks for. Skills: about the future, not the present. An application one contractor team maintains in a language few people still learn scores badly even if it runs well, because GAO's point is that those skills cost more as the pool shrinks. Dependencies: network flows, interface agreements, database links and batch schedules.
Two rules in the callout. A heavily connected application may still be refactored, but not first; Chapter 10 uses the dependency score to build waves. And business logic in the database counts twice: it raises the skills score and the migration effort, and makes a rehost or replatform harder than it looks.
Workbook: Book 18, Chapter 02 — "The six triage criteria."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[7:02–8:36]  Each criterion is scored from 1 to 5, and the six combine into two axes. Mission value takes mission criticality, the cost of the function if it were lost, and the number and kind of users. Technical health takes technical condition, skills, data sensitivity read as migration difficulty, and dependencies. Weights are the agency's choice. The starting point is equal weights within each axis, adjusted after the pilot calibration.
The grid is where the two axes point. Low value and poor health: retire first, the cheapest modernization there is. High value and good health: retain with a review date, and rehost only if the platform is being exited. High value and poor health: replatform when the platform is the problem and the code is sound, refactor or rebuild when the code is the problem. And the note under the grid: dependencies decide the order, not the disposition.
Every score carries a confidence flag: measured from system data, attested by the owner, or assumed with no data. An application with mostly assumed scores can't get a final disposition; it goes to owner review first.
And keep it honest by scoring what's measured before what's believed. Utilization data, connection logs and support dates beat questionnaires; AWS's test for an unused application is no inbound connection for 90 days, or very low average CPU and memory.
Workbook: Book 18, Chapter 02 — "A scored rubric, not a study per application," "Step 1: score two axes," "Keeping it honest."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[8:36–10:22]  The decision table turns scores into a proposed disposition. The rules run in order and the first match wins, which is what keeps the cheapest disposition winning.
Rule 1: mission value 2 or below, or a commercial or shared service already provides the function: retire. Rule 2: technical health 4 or above and no platform exit forcing a move: retain, with a review date. Rule 3: healthy, but the hosting platform is being exited: rehost. Rule 4: the code is sound, condition and skills both 3 or above, but the platform, runtime or database is unsupported or costly: replatform.
Rule 5: mission value high, the code hard to change or staff, and the application can be intercepted behind an interface: refactor, because incremental replacement keeps the mission running. Rule 6: high value and the code can't be salvaged, or requirements have outgrown it: rebuild, still in increments, and only after rules 1 to 5 are ruled out.
Rule 7 is the override. Any high-impact system whose proposed disposition is refactor or rebuild, or any application whose owner contests the result, gets a deep study before the decision. That's how a rubric covers thousands of applications without becoming careless. Most get a disposition from rules 1 to 4 at the cost of a scoring exercise, and the expensive analysis goes to the dozens that need it.
One more discipline: don't let the rubric pick the technology. The disposition says how much an application changes; the target architecture says what it changes into.
Workbook: Book 18, Chapter 02 — "Step 2: apply the decision table," "Keeping it honest."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[10:22–12:02]  The funnel is the whole triage at scale. Most applications go straight to a recorded decision; only rule 7's contested, high-cost or high-impact cases detour through deep study. And the record feeds capital planning and the waves.
Owner review works like this. The proposed disposition goes to the application's mission owner and system owner for a fixed window. They can agree, or contest with evidence, and a contested score is corrected, not argued around.
The decision record holds the disposition, the six scores and their confidence flags, the rule that produced the disposition, the owner's agreement and a review date. It's the artifact the enterprise architecture's transition plan, the capital planning process and an auditor will all ask for, and Chapter 07 places it under the architecture review board as Gate 1.
Calibration comes first. Before the rubric touches the portfolio, run it on a pilot set of thirty to fifty applications experienced architects already know well, and compare answers. Where they disagree, the weights or thresholds change, not the architects' judgment of those applications. Repeat it after the first wave, when there are real costs for each disposition.
Leadership's job here is narrow and important: approve the rubric, not each decision. Agree the criteria, weights and rules once, then rule on the contested cases rule 7 sends up. And remember that retain isn't a failure; a portfolio where nothing is retained usually hasn't been triaged.
Workbook: Book 18, Chapter 02 — "Step 3: owner review and the record," "Calibrating the rubric," "What leadership should take from this"; Chapter 01 — "A decision is evidence."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[12:02–12:52]  Module 2: the target architecture and the data. If every refactor and rebuild picks its own stack, the agency ends the decade with as many stacks as it started with, only newer. The point of one reference architecture is to make the common choices once, so the platform team, the security team and the authorizing official review one pattern instead of hundreds.
So: the layers and the choices, with versions and support windows as of October 28, 2026; contracts first, thin layers and configuration from outside; the strangler fig and the NIST security references; and then the hardest part of most refactors, the data: choosing the engine, converting the schema, proving nothing was lost, and cutting over without dual writes.
Workbook: Book 18, Chapter 03 — The Target Reference Architecture; Chapter 04 — Moving the Data: DB2 and Oracle to PostgreSQL or SQL Server.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[12:52–14:30]  The figure is the target, top to bottom. React front ends are served as static assets and call APIs only. A backend-for-frontend in Node.js, one per front end where needed, and an API gateway that handles authentication, rate limits and routing and doubles as the strangler-fig façade. Domain services in Java 25 and Spring Boot 4.1, each publishing an OpenAPI 3.2 contract, beside the legacy application still serving the functions not yet moved. Data, where each service owns its schema, on PostgreSQL or SQL Server. And the platform: OCI images on Kubernetes, configuration from the environment, secrets from a vault or replaced by a workload identity.
The table is the program's choices and where they stood on October 28. Java 25 is the current long-term support release, generally available September 16, 2025; Java 27, out September 15, 2026, is a feature release not on vendors' LTS lists. Spring Boot 4.1.2 is current; it needs Java 17 or later and supports up to Java 27. Kubernetes 1.37 is the newest minor, and the project maintains the three most recent.
Why these? Large labor pools, long support windows and mature security, transaction and observability libraries, because the business rules of a refactored COBOL or PL/SQL application will need maintaining for decades. And they're the program's design: no federal policy names a language or framework. What A-130 requires is a target and a transition plan.
Workbook: Book 18, Chapter 03 — The Target Reference Architecture, "The layers and the choices," "Services: Java and Spring Boot," "Honest limits."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[14:30–16:14]  Versions are a snapshot, and the support windows matter more day to day than the versions.
Java first. Java 25 is the current long-term support release; the Microsoft Build of OpenJDK, for example, commits to supporting it until at least September 2030. Java 26 and 27 are feature releases. The program's design is to build on the current LTS and move to the next within a year of its release, not to chase feature releases.
Spring Boot's windows are shorter, and the table is Spring's own generations data. 4.2 is scheduled for November 2026 with a release candidate out. 4.1, current, loses open-source support July 31, 2027. 4.0 loses it at the end of 2026. And 3.5's open-source support already ended on June 30, 2026, though commercial support runs to 2032. So an application started on 3.5 already depends on commercial support for patches. Each recent generation has had about thirteen months of open-source support, which means a portfolio of Spring services needs an upgrade cadence built into the platform, not left to each project.
Node.js: through version 26, even-numbered releases became LTS and odd ones expired after six months. From 27, one major a year, every one going LTS after six months as Current. Production should run only Active or Maintenance LTS. Node.js 24 entered maintenance on October 20, and 22 reaches end of life April 30, 2027. The leadership point: fund the upgrade cadence, or the modernized portfolio becomes the next legacy one.
Workbook: Book 18, Chapter 03 — "Services: Java and Spring Boot," "Node.js where it fits," "Honest limits," "What leadership should take from this."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[16:14–17:53]  Three disciplines hold the architecture together.
API-first. Every service publishes its contract before its code, as an OpenAPI document. The program's design: write the contract first, review it with the consuming teams, and generate server stubs and client libraries from it. Treat the contract as the interface the strangler-fig façade routes on, so a legacy function and its replacement can sit behind the same contract while traffic moves. Version deliberately: additive changes within a major version, a new major run side by side for breaking ones. Test against the contract in the pipeline, which Chapter 07 makes a gate. And publish contracts in a catalog, so the next project reuses an API instead of building a duplicate.
Node.js for three jobs only. A backend-for-frontend, which the Azure Architecture Center describes as a separate backend per interface, managed by the front-end team, with cross-cutting concerns such as authorization and monitoring kept out of it. Front-end build tooling, since React builds run on Node regardless. And small event glue. A backend-for-frontend that starts holding business rules is a second services layer. Front ends stay thin as well; business rules belong in services, tested and authorized once.
Containers and configuration. Configuration follows twelve-factor, and its litmus test is the callout. The program tightens it: the environment supplies a reference, and the secret comes from a store, or better, a workload identity removes it, in Book 17's credential order.
Workbook: Book 18, Chapter 03 — "Front ends: React," "Node.js where it fits," "API-first with OpenAPI," "Containers, orchestration and configuration."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[17:53–19:42]  The strangler fig is how a refactor actually happens. Martin Fowler describes building new functionality alongside the legacy system and moving behavior over piece by piece until the old system can be retired. The figure is the Azure Architecture Center's mechanics in four stages. Introduce a façade that sends most requests to the legacy application. Move functions one at a time to new services behind the same contract, with an anti-corruption layer translating between old and new. Decommission the legacy application once nothing depends on it, removing its data only after validation. Then remove the façade, or keep it as an adapter. Rollback stays possible until the legacy objects are removed.
The left panel is the feasibility test, and it belongs in the deep study rule 7 calls for. Requests have to be interceptable: if the back end can't sit behind a façade and you can't change its code or another integration point such as its database, the pattern doesn't fit. Shared data needs a plan; the Azure example extracts one domain at a time, copies it with extract-transform-load, keeps it in sync with change data capture, validates, and only then makes the new database the system of record. Rollback has an end. And small systems may not need the pattern at all. For a mainframe, the façade is often an API layer in front of transactions that already exist.
The right panel is the federal security reference set. SP 800-204 covers microservices; SP 800-190 covers containers. Both are guidance for selecting SP 800-53 controls, not requirements.
Workbook: Book 18, Chapter 03 — "Replacing incrementally: the strangler fig," "The federal security references."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[19:42–21:13]  Code can be replaced a piece at a time; data moves once, and the move isn't finished until someone can prove nothing was lost. So the program treats the data move as three jobs, each with evidence: convert the schema, move the rows, prove the result.
The figure is that path. Convert the schema with a tool and then human review. Move the rows with a full load, then change data capture or delta loads while both systems run. Prove the result three independent ways. Then choose a cut-over, big-bang, phased or parallel run, and the target becomes the system of record. Any mismatch loops back: fix and rerun.
Choosing the engine is usually settled by what the agency already runs and what the code assumes, not by features. PostgreSQL 18 shipped September 25, 2025 and is supported to November 2030. A migration targeting PostgreSQL 14 now lands on a version leaving support within weeks. SQL Server 2025, 2022 and 2019 are the targets of Microsoft's migration assistant.
Two practical points. The engine also chooses the conversion tooling, because no single tool covers every pair. And when the target is SQL Server, Book 06 applies in full: arrive already on its Microsoft Entra connection pattern rather than carrying a SQL login across and migrating it later.
Workbook: Book 18, Chapter 04 — Moving the Data, opening section, "Choosing the target engine," "When the target is SQL Server."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[21:13–22:57]  Schema conversion is the part a tool does well and a person must still check. What a tool can't know is which behavior differences the application depends on. The dangerous conversions are the ones that succeed.
The table shows Oracle examples. Oracle DATE carries a time of day and PostgreSQL's date type doesn't, so mapping one to the other silently drops the time; the faithful mapping is a timestamp type such as timestamp zero without time zone. NUMBER allows precision 1 to 38 and scale from minus 84 to 127; mapping it to floating point loses exactness, so money and counts belong in an exact numeric type. Oracle treats a zero-length string as null; the targets distinguish them, so IS NULL queries can return different rows unless data or code is normalized. Collation changes sort order: AWS documents that a non-C primary key collation on PostgreSQL makes its row-by-row validation fail. And neither engine guarantees gapless sequences.
The sequence row has a cut-over consequence: advance every target sequence past the highest migrated key before the first new insert, or the new system issues keys that exist.
PL/SQL and DB2 SQL PL convert with varying success, and packages are the hardest, because PostgreSQL has none. AWS's conversion turns members into schema-qualified functions named package dollar member, with package variables held in an extension-pack schema; Microsoft's assistant adds its own emulation schema. The program records every emulation call as debt and pays it down in the refactor.
Workbook: Book 18, Chapter 04 — "Converting the schema," "Type mapping: where meaning changes silently," "Stored procedures and packages."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[22:57–24:21]  The tools as they stood in October 2026, named as examples of each category, not endorsements.
AWS's desktop Schema Conversion Tool covers Oracle, both Db2 platforms and SQL Server, among others. AWS states it's FedRAMP compliant. AWS DMS Schema Conversion is the managed version, with Db2 for z/OS through the API and command line only. It offers generative AI conversion on the PostgreSQL paths from Oracle and both Db2 platforms, and its published Region table lists no AWS GovCloud Region.
Microsoft's SQL Server Migration Assistant comes in Db2 and Oracle editions, both at version 10.6. The Oracle edition's AI-assisted conversion, Copilot, has been generally available since 10.4, using the agency's own Azure OpenAI resource or a Microsoft-managed endpoint with Entra ID sign-in, and Microsoft says generated code must be reviewed, validated and tested. Ora2Pg, open source under GPL version 3, is at 25.0 from April 2025 and has no DB2 source.
Three things shape the plan, and the callout has them. Note especially that AI-assisted options send source code to a model, which puts the endpoint, its region and its authorization inside the migration's boundary. The program treats AI-converted code as a draft a person reviews and validation tests.
Workbook: Book 18, Chapter 04 — "The conversion tools, October 2026," "Honest limits," "What leadership should take from this."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[24:21–26:16]  A migration is complete when the agency can show the target holds the same facts as the source. No single check shows that, because each check shares an assumption with the process it checks. So the program uses three, chosen so their blind spots don't overlap.
Row counts catch missing or duplicated rows. An order-independent checksum over canonicalized rows catches any changed value, but shares the transform's assumptions when it's computed after it. An independent aggregate reconciliation, totals and counts per status computed in each database's own SQL, catches business-level differences, but misses errors that cancel.
The red panel is why the third exists. If the transform maps Oracle DATE to a date-only type, a checksum over the transformed rows agrees with the target perfectly, and both are wrong. An aggregate written directly against each database doesn't pass through the transform, so it catches what the checksum can't. Choose aggregates the business owner recognizes: a program office that knows its monthly totals can judge a reconciliation in a way it can't judge a hash.
Tools do part of the work. AWS DMS compares each source row with its target after the full load, validates changes during change data capture, writes mismatches to a control table, and offers validation-only tasks for the cut-over window. Its limits are a good checklist: a primary key or unique index on each table, no views or LONG columns, rows changing during validation can't be validated, outside writes spoil results, and it stops past 10,000 failures. It's strong evidence for the second check, not the third. Every run produces a report that the gates examine and the change record retains.
Workbook: Book 18, Chapter 04 — "Proving that nothing was lost."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[26:16–28:06]  Three cut-over strategies cover most applications, and the choice belongs to the application owner and the authorizing official.
Big-bang freezes writes, runs a final load, validates and switches everyone; rollback means reverting to the frozen source. Phased moves one domain or table set at a time, the data counterpart of the strangler fig. Parallel run keeps both live and reconciles outputs until they agree for an agreed period; it fits eligibility or payment calculations, and the program names the source as the system of record until the gate, so a disagreement always resolves one way. All three end at one gate: three validation results for the final state, and a rehearsed rollback plan.
Phased and parallel need coexistence for weeks or months. Change data capture reads committed changes from the source log, so the target can lag but never receive a change the source rejected. AWS says its CDC doesn't provide real-time replication, with no latency SLA. And for Db2 for z/OS as a source, AWS DMS supports full load only, so a mainframe DB2 system that must coexist needs a separate change-capture product or periodic delta loads keyed on a reliable change timestamp; the reference implementation's since mode is the second approach.
Dual writes fail in a specific way: the two writes don't share a transaction, so under retries and partial failures the stores drift invisibly. Hence the rules on the right: one writer per table, with authority moving table by table; write once and publish through a transactional outbox or CDC; reverse replication for fallback; and continuous validation.
Workbook: Book 18, Chapter 04 — "Cutting over," "Coexistence without dual writes."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[28:06–28:53]  Module 3: AI, compliance and governance. Part 1 decided what each application becomes and what it lands on. Part 2 is about keeping that true across a few hundred delivery teams under schedule pressure, each of whom can make a defensible local choice that adds up to a second legacy estate.
So: where generative and agentic AI fit, behind one provider-neutral interface, and the guardrails an agent needs; the controls a modernized application touches, where they land in the life cycle and the evidence each one leaves; secure development after M-26-05, privacy, data and records as design inputs; and the review board's decision rights and the four gates every change passes.
Workbook: Book 18, Chapter 05 — Generative and Agentic AI in the Architecture; Chapter 06 — Compliance by Design; Chapter 07 — Who Governs the Architecture.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[28:53–30:41]  A model is a component behind an interface, called by a service that owns the business rules, with its output treated as input to be checked, not as a decision. An AI feature is part of the application's system and boundary, and M-25-22 requires an ATO before deployment.
The figure orders four patterns by how much each can change. An assistive feature drafts, summarizes or classifies in a screen and changes nothing directly; design for confabulation, NIST's word for confidently stated false content, and over-reliance. Retrieval-augmented generation answers from agency content retrieved at query time; the program's rule is that retrieval runs with the caller's permissions, never a broader service account, so the model can't be handed a document the user couldn't open. Code modernization assistance changes the repository: GitHub Copilot modernization upgrades Java projects to 11, 17, 21 or 25 and Spring Boot up to 4.0 with build validation at each step, and AWS Transform for mainframe analyzes COBOL and PL/I applications and refactors COBOL into Java. Their output is a draft in a branch that passes the gates; the program doesn't use the CLI's allow-all unattended mode on a production repository. And an agent that calls tools can change whatever its tools reach.
They all call models through one interface, and the design asks four things of it: one call shape with provider, model and endpoint as configuration; a record of what answered, for whom; a deterministic stub for tests; and limits in one place, which is OWASP's mitigation for unbounded consumption.
Workbook: Book 18, Chapter 05 — Generative and Agentic AI in the Architecture, opening section, "Where AI fits," "One provider-neutral model interface."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[30:41–32:32]  An agent's risk comes from what it can do, not what it can say. OWASP's 2025 list calls it Excessive Agency. Prompt injection makes that dangerous, because an agent reading a document or an email can be steered by instructions hidden in it, and OWASP says it's unclear whether fool-proof prevention exists. So the design can't rely on the model refusing. It has to make sure a steered agent still can't do much harm.
The figure is the loop. The agent's identity carries its ID, its human sponsor and its allowed tools. The model proposes the next tool call. A step limit check stops and audits when the limit is reached. An allow-list check denies and audits anything off the list. Anything that changes a record goes to propose action, which records a pending proposal and changes nothing; a human approves, and the service applies the change under its own authorization and rules.
The approval guardrail changes application design most. The program gives an agent no tool that writes to a system of record. A proposal carries the agent's identity, reasoning and evidence; a person with authority reviews it in the application; and approval runs through the same business rules a human-entered change passes. The agent never holds write permission, so no injected instruction can give it one.
The MCP specification, version 2026-07-28, says hosts must get user consent before invoking tools and that it can't enforce its security principles itself. So the guardrails stay in the host and behind each tool. And watch approval fatigue: measure how often approvers reject or amend.
Workbook: Book 18, Chapter 05 — "The guardrails an agent needs," "Tool protocols: the Model Context Protocol," "Honest limits."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[32:32–34:22]  Compliance usually arrives as a package assembled at the end. Modernization is the moment that can change, because the agency is choosing the architecture, platform and pipeline anyway. A control implemented once in the target is inherited by every application on it; a pipeline that records its results produces evidence on every merge. A-130 asks for exactly this: security, privacy, records and supply chain considered throughout the life cycle, and requirements integrated into the architecture and engineering processes.
The figure is where the controls land. At the top, unsupported components feed a modernization plan. Design carries SA-8 engineering principles, PT-2 and PT-3 authority and purpose with the privacy impact assessment, and decision records. Build carries SA-11, SA-15, the SSDF and an SBOM for SR-4 provenance. Deploy carries baseline and change control, the component inventory and encryption. Operate carries logging, flaw remediation and account review with agents included. Evidence from every stage flows to one authorization record.
SP 800-53 is at release 5.2.0, issued August 27, 2025. The table is the eight families application work touches most and the evidence the program wants from each.
The callout matters for triage. A-130 asks for a plan for systems that can't be protected, including vendor-unsupported components, with a high priority for upgrade, replacement or retirement, and SA-22 is the control. So retaining an application on unsupported software with no plan is an open finding. The program records compensating controls, risk acceptance and a review date. And a migration's validation report is SI-7 evidence; its cut-over is a CM-3 change with a CM-4 impact analysis.
Workbook: Book 18, Chapter 06 — Compliance by Design, opening section, "Legacy as a compliance finding," "The controls application work touches most."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[34:22–36:05]  Three design inputs that are usually treated as reviews at the end.
Secure development. OMB M-26-05, January 23, 2026, rescinded M-22-18 and its companion M-23-16. The expectation underneath stayed: agencies continue to keep a complete software and hardware inventory and set assurance policies that match risk, and a vendor SBOM is now a contract choice. For software the agency builds, which is most of what this book modernizes, the agency is the producer, and the SSDF is the practice set. SP 800-218 version 1.1 from February 2022 remains final; version 1.2 has been an initial public draft since December 17, 2025. Several practices read as a pipeline specification: PO.3.3, tools generate artifacts; PS.3.2, provenance such as an SBOM per release; PW.7 and PW.8, review and test, including AI-generated code.
Privacy. A-130 requires Privacy Act compliance, PIAs when developing or using IT, minimization and an inventory of PII systems, with privacy review from the earliest planning. The program names the modernization events that reopen privacy work, so the privacy office hears at design review: a new store or engine, a new flow, an AI feature, test data, and retirement.
Data and records. M-25-05 requires a comprehensive data inventory and makes chief data officers responsible; when a data asset moves or splits, its entry moves, and the program adds that to the cut-over checklist. A-130 builds records duties into design through decommissioning, so retirement and any migration that drops history or attachments are records decisions in disguise.
Workbook: Book 18, Chapter 06 — "Secure development after M-26-05," "Privacy as a design input," "Data governance: the Evidence Act and chief data officers," "Records: from design to decommissioning"; Chapter 07 — "What SBOMs are for, after M-26-05."</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[36:05–38:02]  No federal rule says to have an architecture review board, but several require what one produces. A-130 requires an enterprise architecture with a baseline, a target and a transition plan. In SP 800-53, PM-7 asks for that architecture, PL-8 asks each system's security and privacy architecture to fit it, and SA-17 asks developers for a consistent design. CM-3 asks a named change body to weigh security and privacy impact, with those representatives on it. And FITARA, restated in M-26-10 on March 31, 2026, means no IT contract without CIO approval: a board can recommend a technology, not buy one.
The board is the program's change control body for the target architecture. The table is its decision rights, and the rule is Book 13's: the board reviews, it doesn't vote, and every decision has one decider. The chief architect decides the technology list, the patterns, exceptions with end dates, and Gate 2 designs. The application owner decides the disposition. The CISO and privacy official set control requirements. The authorizing official alone accepts residual risk, and attends only as an observer, because that separation is something assessors check. The CIO approves contracts.
The board governs through three versioned artifacts that change by pull request. The technology list has four tiers, adopt, trial, contain and retire, with DB2 and Oracle in contain or retire depending on triage, and it carries versions and end-of-support dates, because a list without versions is a brochure. Reference patterns are runnable starting points, so Gate 2 for a standard service is short. And architecture decision records, in Nygard's 2011 format, numbered and superseded rather than deleted, are the cheapest evidence the program has.
Workbook: Book 18, Chapter 07 — Who Governs the Architecture, "What federal policy asks for, and what it leaves open," "The architecture review board," "Standards and patterns."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[38:02–39:54]  Every application the triage changes passes four gates; retire and retain pass only the first.
Gate 1, disposition: once per application and at each re-triage, a scored triage record and a signed disposition, decided by the owner with the steward. It evidences the system and component inventories and unsupported components. Gate 2, design review: before build for replatform, refactor and rebuild, and for rehost only when the runtime changes. It needs a decision record for each departure from a pattern, the interface contract, a data classification, a threat model and the privacy check that decides whether a PIA is needed. Gate 2 also applies the authorizing official's threshold for a significant change and records the answer; the threshold itself is the official's to set. Gate 3, every change: a pull request reviewed by someone other than the author, passing unit, contract and integration tests, static analysis, dependency scans and an SBOM. Gate 4, every production deployment: a signed build with provenance, a recorded impact analysis and a change record linking its pull requests.
Two gates are meetings and two are automation, deliberately. Gates 1 and 2 happen rarely and need judgment; 3 and 4 happen many times a day, and a program that runs Gate 3 as a meeting stalls or stops running it.
The panel is the practice that makes 3 and 4 cheap. Protected branches should bind administrators too; a rule administrators can skip is a standing exception. CI keeps its outputs. Releases are signed with SLSA provenance. Each output is kept by system, because no closure counts unless it carries its proof.
Workbook: Book 18, Chapter 07 — "Four gates," "Git and pipeline practice," "Agile without skipping the gates," "How the gates become evidence."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[39:54–40:35]  Module 4: the reference implementation, the frameworks and the waves. Arguments about architecture are cheap; code that runs isn't. So this module starts with the small, tested slice of the target that ships with the book, and is honest about what its tests prove.
Then it places the work where enterprise architecture offices already file things: TOGAF's Architecture Development Method and Zachman's cells. And it ends with how the portfolio actually runs: waves laid on the program's phases and gates, the factory that makes each wave cheaper, the metrics and funding, and the decisions with their owners.
Workbook: Book 18, Chapter 08 — The Reference Implementation; Chapter 09 — Mapping the Work to TOGAF and Zachman; Chapter 10 — Running the Portfolio in Waves.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[40:35–42:18]  The reference implementation lives in the repository's examples, app-modernization folder. It's one mission application in miniature: a case-management service with a front end, a legacy database it was moved from, and an AI agent that helps triage cases. It's illustrative, not production code: synthetic data, no authentication, never run against a real DB2 or Oracle database or in production.
The figure is its parts. The React front end calls the Spring Boot service. The service owns the PostgreSQL schema through one versioned Flyway migration, the V1 baseline, so nothing else creates tables, which is Chapter 03's rule that each service owns its data. It runs the triage agent, which writes only pending proposals a person decides, through a provider-neutral ModelClient with a stub by default. On the other side, a synthetic legacy DB2 or Oracle schema, with H2 as a stand-in in tests, feeds the migration tool, which loads into the same PostgreSQL schema and proves the load.
The versions were current when it was built: Spring Boot 4.1.2, the latest on Maven Central on October 28 when 4.2 was at its first release candidate; PostgreSQL 18.6; React 19.3.1. Two choices differ from Chapter 03's target and should be read that way. It's compiled for Java 21, not 25, only because the build machine had a Java 21 kit, and it uses nothing Java 25 would reject. And the contract is OpenAPI 3.1, not 3.2; moving it is a header change and a test run.
Workbook: Book 18, Chapter 08 — The Reference Implementation, opening section, "What is in it."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[42:18–44:11]  Three parts of the code show the book's patterns most directly.
The service has five endpoints: list cases, optionally by status, get one, run triage, list proposals, and record a person's decision. The contract comes first: openapi.yaml is written by hand and served by the service, and a test called OpenApiContractTest compares its operations with the request mappings Spring registered, in both directions. An endpoint missing from the contract fails the build, and so does a documented path nobody built, which is the cheapest form of Gate 3's contract test. Errors are RFC 9457 problem details.
The migration tool's legacy side has real legacy habits: fixed-width padded text, one-letter status codes, a closing date stored as year one because the column was declared not null decades ago, and timestamps with no time zone. It reads over JDBC, applies a short list of documented transforms, and stops on any value it can't map rather than guessing. Its since option is Chapter 04's delta pattern, and the README states what a delta can't see here: applicant changes and deletes. It validates whole tables three ways and writes a JSON report with no row contents, ready for the change record.
The agent proposes flagging a case open over a year or a likely duplicate. ModelClient's default is a rule-based stub needing no key or network. The service won't start without an agent ID and sponsor; unlisted calls are refused and audited; arguments are validated; the loop stops at five steps; and the decision endpoint is the only path that applies a proposal. The tests prove it by breaking things.
Workbook: Book 18, Chapter 08 — "The service and its contract," "The migration tool and its three checks," "The agent and its guardrails."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[44:11–46:12]  An architecture is easier to trust when it runs, and easier still when it says plainly what its tests don't prove. This is the book's own table.
Running it needs only Java 21 and Node.js 24. The Maven Wrapper downloads Maven, and the service and migration tests download real PostgreSQL binaries through Zonky's embedded PostgreSQL library and start them in the test process, so no database server or Docker is needed.
What's verified. 25 service tests pass against PostgreSQL 18.6 with the Flyway migration applied, and one asserts the engine and version. 12 migration tests pass, loading into real PostgreSQL with the service's own schema. The guardrails hold against the stub and the two scripted misbehaving modes, one asking for a tool it was never offered and one that never stops, but not against a real model. The front end's 6 component tests pass with network calls mocked; there's no end-to-end browser test.
What isn't, in red. The migration hasn't run against real DB2 or Oracle. The tests use H2's compatibility modes as a stand-in, and H2 isn't either engine: fixed-width text comparison, date types and driver behavior differ, and one difference has already shown up. Run the tool against a copy of the real source before relying on it. And the containers weren't started; Docker wasn't available, so the compose file was only checked as YAML.
A production version adds what the example leaves out on purpose: authentication through the agency's identity provider, with the decider taken from the signed-in user rather than the request; a workload identity for the agent, per Book 17; secrets from a vault; and the pipeline evidence of Chapters 06 and 07, such as a software bill of materials and signed builds.
Workbook: Book 18, Chapter 08 — "Running it," "What was verified, and what wasn't."</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[46:12–47:55]  Many agencies have an enterprise architecture office that speaks TOGAF or Zachman. The book maps what it already does onto the phases and cells, so its records can be filed as they are. The mappings are the program's reading; neither The Open Group nor Zachman International has reviewed them.
First, the requirement. A-130 requires an enterprise architecture with a baseline, a target and a transition plan, and SP 800-53 carries it as PM-7, with PL-8 at the level of one system. It names no framework. FEAF version 2, from January 2013, survives only on an archived page and is historical. TOGAF and Zachman are choices.
The current TOGAF is the 10th Edition, announced April 25, 2022, document C220, with Technical Corrigendum 1 applied in May 2025.
The figure and table are the ADM with the chapters that do each phase's work. Preliminary is the capability: Chapters 06, 07 and this one. Vision is Chapter 01. Business is Chapter 02's mission criticality and owners. Information Systems is Chapters 03 to 05. Technology is Chapter 03 and the reference implementation. Opportunities and Solutions is the dispositions and move groups; Migration Planning is the wave plan; Implementation Governance is the gates and validation; Change Management is re-triage, which starts the next cycle. Requirements Management, at the center, is Chapters 05 and 06. One caution: the book runs several cycles at once, one for the portfolio and one per application, where Phase G happens on every change.
Workbook: Book 18, Chapter 09 — Mapping the Work to TOGAF and Zachman, opening section, "What federal policy requires," "The TOGAF Standard today," "Mapping the chapters and artifacts to TOGAF."</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[47:55–49:46]  The current Zachman Framework is version 3.0, The Enterprise Ontology, dated 2011 on the framework graphic. It's a six-by-six schema: the interrogatives What, How, Where, Who, When and Why as columns; and the audience perspectives as rows, from Executive through Business Management, Architect, Engineer and Technician to Enterprise, each with a reification stage: identification, definition, representation, specification, configuration and instantiation. A cell is named by column and stage, so Inventory Identification is row 1 of What. Zachman is emphatic that it is not a methodology. TOGAF is the order; Zachman is the checklist.
The table is the main cells the book fills. The portfolio and triage fill row 1 and 2 cells: the inventory, the owners as Responsibility Definition, the dispositions as Motivation Definition. The target architecture is Process Representation for services and contracts and Distribution Specification for containers. The data chapter runs down the What column, from logical model to physical schema to the migrated rows. Agents are Responsibility Representation and Specification. And the reference implementation is row 5, all six Configuration cells, for one application; its validation report is Inventory Instantiations.
Reading by column shows two gaps. Where is thin above row 4, because locations and networks are Books 09 and 10. When is thin below row 2: batch windows and event schedules belong in each design review's decision record.
File artifacts under their phase and cell; don't rewrite them. Answer PM-7 and PL-8 with A-130's baseline, target and transition plan. Treat an empty cell as a question. And no federal rule requires either framework, so claiming conformance proves nothing about controls.
Workbook: Book 18, Chapter 09 — "The Zachman Framework today," "Mapping the chapters and artifacts to Zachman," "Using the mappings."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[49:46–51:33]  The triage produced a list, not a plan. Waves are batches that move through the same steps, each leaving the next cheaper.
The portfolio doesn't need a second schedule. It runs inside Book 01's seven phases and gates G0 to G5. Phase 0 is the triage, leaving the record and a first wave plan. Phase 1 builds the factory: platform, patterns, pipelines, validation tooling and the gates, proven by one test application moved end to end. Phase 2 is the pilot wave, which leaves runbooks rewritten from what went wrong. Phase 3 runs the factory waves, for as long as the portfolio needs, reporting at the monthly gate review. Phase 4 decommissions what the waves replaced, with the records officer's sign-off. Phase 5 has no application work, but a hard dependency: no production application may still authenticate against Active Directory when G5 is decided. Phase 6 works the long tail and re-triages.
The panel is the three kinds of wave. AWS and Microsoft both say start small and simple; Microsoft adds one or two complex, representative workloads to early waves. The program takes both: three to five simple applications plus one hard case with a DB2 or Oracle database and a real contract, exiting only when every application has passed all four gates and every migration validated. Factory waves are move groups ranked by score and sized by measured throughput. The long tail isn't a wave; it's a managed list, and a retained application reaching end of support goes back to triage automatically.
Workbook: Book 18, Chapter 10 — Running the Portfolio in Waves, opening section, "The portfolio on the program's phases," "Planning waves," "Three kinds of wave."</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[51:33–53:27]  Planning the waves. AWS calls the unit a move group: applications and servers that must migrate together, such as those sharing a database or an owner. For applications the strongest rule is the database: applications sharing a DB2 or Oracle schema move together, or one goes first behind an interface the others call. AWS plans four to five waves ahead; Microsoft details only the next wave. Together: a ranked backlog five waves deep with only the next fully planned. And re-score on triggers, an end-of-support date within the horizon, an incident or finding, a material change in cost, users or mission, and at least yearly with the budget.
The factory is the people, platform and procedures that make each wave routine, and the program's has five parts: the platform, the patterns, reusable pipelines for Gates 3 and 4, data tooling, and runbooks with a small portfolio team under the steward. Its own test: the fifth wave costs less per application than the first. The metrics are reported monthly from records, not plans: dispositioned, retired with infrastructure actually off, modernized, migrations validated on the first run, cost avoided, DORA's lead time and change fail rate, defects in the first 30 days, time from Gate 2 to authorization, and long-tail health.
Funding follows the waves. The TMF funds proposals that improve, retire or replace systems, typically under 25 million with five-year repayment and outcomes ideally within 12 months, released in stages at milestones. MGT Act working capital funds hold deposits for three years, can't supplant O&amp;M, and go first to CIO-approved cost-saving activities, so one wave's retirement savings pay for the next.
Workbook: Book 18, Chapter 10 — "Planning waves," "The modernization factory," "Metrics," "Funding," "Keeping the triage current"; Chapter 02 — "Where capital planning and the TMF fit."</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[53:27–55:29]  So, the decisions, each with its decider from the book, all program design guidance.
Leadership approves the rubric, not each decision: the criteria, weights and rules once, then the contested cases rule 7 sends up. The application owner, with the steward, decides each disposition at Gate 1. The chief architect, as board chair, owns the approved-technology list, its versions and its upgrade dates. The CISO and the senior agency official for privacy set the control requirements designs must meet. The application owner and the authorizing official choose an application's cut-over strategy. The authorizing official alone decides whether a change is significant enough to reopen the authorization, and accepts residual risk; an exception from the chief architect is never a risk acceptance. And the CIO approves IT contracts and licenses, which is a good reason to have the CIO sign the wave plan.
Five things to start on Monday that need no new platform. Build the inventory: an owner and a proposed disposition for every application. Calibrate the rubric on thirty to fifty applications your architects already know. Publish the approved-technology list with supported versions and end-of-support dates, and fail the build on a retired one. Before any cut-over, ask for the three results, row counts, a checksum and a reconciliation of totals the business recognizes, with every mismatch explained. And make it a design standard that no agent writes to a system of record: agents read and propose, people approve, services apply.
The book's argument in one line: decide application by application, build the changed ones on one architecture, prove the data moved, govern the AI, and let the gates write the evidence. Chapters 01 through 10 carry the detail, every claim footnoted and dated. Thank you.
Workbook: Book 18, Chapters 02, 03, 04, 05, 06, 07 and 10, "What leadership should take from this" and "Key takeaways."</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Book 18 Application Modernization — Technical Deep Dive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notesSlide" Target="../notesSlides/notesSlide2.xml"/><Relationship Id="rId8"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p3"/><Relationship Id="rId1" Type="http://schemas.microsoft.com/office/2007/relationships/media" Target="../media/media3.mp3"/><Relationship Id="rId5" Type="http://schemas.openxmlformats.org/officeDocument/2006/relationships/image" Target="../media/image3.png"/><Relationship Id="rId4" Type="http://schemas.openxmlformats.org/officeDocument/2006/relationships/notesSlide" Target="../notesSlides/notesSlide3.xml"/><Relationship Id="rId6"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4.xml"/><Relationship Id="rId7"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notesSlide" Target="../notesSlides/notesSlide5.xml"/><Relationship Id="rId7"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notesSlide" Target="../notesSlides/notesSlide6.xml"/><Relationship Id="rId8"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notesSlide" Target="../notesSlides/notesSlide7.xml"/><Relationship Id="rId7"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3.png"/><Relationship Id="rId5" Type="http://schemas.openxmlformats.org/officeDocument/2006/relationships/image" Target="../media/image11.png"/><Relationship Id="rId4" Type="http://schemas.openxmlformats.org/officeDocument/2006/relationships/notesSlide" Target="../notesSlides/notesSlide8.xml"/><Relationship Id="rId7"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9.mp3"/><Relationship Id="rId1" Type="http://schemas.microsoft.com/office/2007/relationships/media" Target="../media/media9.mp3"/><Relationship Id="rId5" Type="http://schemas.openxmlformats.org/officeDocument/2006/relationships/image" Target="../media/image3.png"/><Relationship Id="rId4" Type="http://schemas.openxmlformats.org/officeDocument/2006/relationships/notesSlide" Target="../notesSlides/notesSlide9.xml"/><Relationship Id="rId6"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notesSlide" Target="../notesSlides/notesSlide10.xml"/><Relationship Id="rId8"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3.png"/><Relationship Id="rId5" Type="http://schemas.openxmlformats.org/officeDocument/2006/relationships/image" Target="../media/image14.png"/><Relationship Id="rId4" Type="http://schemas.openxmlformats.org/officeDocument/2006/relationships/notesSlide" Target="../notesSlides/notesSlide11.xml"/><Relationship Id="rId7"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3.png"/><Relationship Id="rId5" Type="http://schemas.openxmlformats.org/officeDocument/2006/relationships/image" Target="../media/image15.png"/><Relationship Id="rId4" Type="http://schemas.openxmlformats.org/officeDocument/2006/relationships/notesSlide" Target="../notesSlides/notesSlide12.xml"/><Relationship Id="rId7"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3.png"/><Relationship Id="rId5" Type="http://schemas.openxmlformats.org/officeDocument/2006/relationships/image" Target="../media/image16.png"/><Relationship Id="rId4" Type="http://schemas.openxmlformats.org/officeDocument/2006/relationships/notesSlide" Target="../notesSlides/notesSlide13.xml"/><Relationship Id="rId7" Type="http://schemas.microsoft.com/office/2017/04/relationships/track" Target="../media/captions_slide13.vtt"/></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4.mp3"/><Relationship Id="rId1" Type="http://schemas.microsoft.com/office/2007/relationships/media" Target="../media/media14.mp3"/><Relationship Id="rId6" Type="http://schemas.openxmlformats.org/officeDocument/2006/relationships/image" Target="../media/image3.png"/><Relationship Id="rId5" Type="http://schemas.openxmlformats.org/officeDocument/2006/relationships/image" Target="../media/image17.png"/><Relationship Id="rId4" Type="http://schemas.openxmlformats.org/officeDocument/2006/relationships/notesSlide" Target="../notesSlides/notesSlide14.xml"/><Relationship Id="rId7" Type="http://schemas.microsoft.com/office/2017/04/relationships/track" Target="../media/captions_slide14.vtt"/></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5.mp3"/><Relationship Id="rId1" Type="http://schemas.microsoft.com/office/2007/relationships/media" Target="../media/media15.mp3"/><Relationship Id="rId5" Type="http://schemas.openxmlformats.org/officeDocument/2006/relationships/image" Target="../media/image3.png"/><Relationship Id="rId4" Type="http://schemas.openxmlformats.org/officeDocument/2006/relationships/notesSlide" Target="../notesSlides/notesSlide15.xml"/><Relationship Id="rId6" Type="http://schemas.microsoft.com/office/2017/04/relationships/track" Target="../media/captions_slide15.vtt"/></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6.mp3"/><Relationship Id="rId1" Type="http://schemas.microsoft.com/office/2007/relationships/media" Target="../media/media16.mp3"/><Relationship Id="rId6" Type="http://schemas.openxmlformats.org/officeDocument/2006/relationships/image" Target="../media/image3.png"/><Relationship Id="rId5" Type="http://schemas.openxmlformats.org/officeDocument/2006/relationships/image" Target="../media/image18.png"/><Relationship Id="rId4" Type="http://schemas.openxmlformats.org/officeDocument/2006/relationships/notesSlide" Target="../notesSlides/notesSlide16.xml"/><Relationship Id="rId7" Type="http://schemas.microsoft.com/office/2017/04/relationships/track" Target="../media/captions_slide16.vtt"/></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7.mp3"/><Relationship Id="rId1" Type="http://schemas.microsoft.com/office/2007/relationships/media" Target="../media/media17.mp3"/><Relationship Id="rId5" Type="http://schemas.openxmlformats.org/officeDocument/2006/relationships/image" Target="../media/image3.png"/><Relationship Id="rId4" Type="http://schemas.openxmlformats.org/officeDocument/2006/relationships/notesSlide" Target="../notesSlides/notesSlide17.xml"/><Relationship Id="rId6" Type="http://schemas.microsoft.com/office/2017/04/relationships/track" Target="../media/captions_slide17.vtt"/></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8.mp3"/><Relationship Id="rId1" Type="http://schemas.microsoft.com/office/2007/relationships/media" Target="../media/media18.mp3"/><Relationship Id="rId6" Type="http://schemas.openxmlformats.org/officeDocument/2006/relationships/image" Target="../media/image3.png"/><Relationship Id="rId5" Type="http://schemas.openxmlformats.org/officeDocument/2006/relationships/image" Target="../media/image19.png"/><Relationship Id="rId4" Type="http://schemas.openxmlformats.org/officeDocument/2006/relationships/notesSlide" Target="../notesSlides/notesSlide18.xml"/><Relationship Id="rId7" Type="http://schemas.microsoft.com/office/2017/04/relationships/track" Target="../media/captions_slide18.vtt"/></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9.mp3"/><Relationship Id="rId1" Type="http://schemas.microsoft.com/office/2007/relationships/media" Target="../media/media19.mp3"/><Relationship Id="rId5" Type="http://schemas.openxmlformats.org/officeDocument/2006/relationships/image" Target="../media/image3.png"/><Relationship Id="rId4" Type="http://schemas.openxmlformats.org/officeDocument/2006/relationships/notesSlide" Target="../notesSlides/notesSlide19.xml"/><Relationship Id="rId6" Type="http://schemas.microsoft.com/office/2017/04/relationships/track" Target="../media/captions_slide19.vtt"/></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0.mp3"/><Relationship Id="rId1" Type="http://schemas.microsoft.com/office/2007/relationships/media" Target="../media/media20.mp3"/><Relationship Id="rId6" Type="http://schemas.openxmlformats.org/officeDocument/2006/relationships/image" Target="../media/image3.png"/><Relationship Id="rId5" Type="http://schemas.openxmlformats.org/officeDocument/2006/relationships/image" Target="../media/image20.png"/><Relationship Id="rId4" Type="http://schemas.openxmlformats.org/officeDocument/2006/relationships/notesSlide" Target="../notesSlides/notesSlide20.xml"/><Relationship Id="rId7" Type="http://schemas.microsoft.com/office/2017/04/relationships/track" Target="../media/captions_slide20.vtt"/></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1.mp3"/><Relationship Id="rId1" Type="http://schemas.microsoft.com/office/2007/relationships/media" Target="../media/media21.mp3"/><Relationship Id="rId6" Type="http://schemas.openxmlformats.org/officeDocument/2006/relationships/image" Target="../media/image3.png"/><Relationship Id="rId5" Type="http://schemas.openxmlformats.org/officeDocument/2006/relationships/image" Target="../media/image21.png"/><Relationship Id="rId4" Type="http://schemas.openxmlformats.org/officeDocument/2006/relationships/notesSlide" Target="../notesSlides/notesSlide21.xml"/><Relationship Id="rId7" Type="http://schemas.microsoft.com/office/2017/04/relationships/track" Target="../media/captions_slide21.vtt"/></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22.mp3"/><Relationship Id="rId1" Type="http://schemas.microsoft.com/office/2007/relationships/media" Target="../media/media22.mp3"/><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notesSlide" Target="../notesSlides/notesSlide22.xml"/><Relationship Id="rId8" Type="http://schemas.microsoft.com/office/2017/04/relationships/track" Target="../media/captions_slide22.vtt"/></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3.mp3"/><Relationship Id="rId1" Type="http://schemas.microsoft.com/office/2007/relationships/media" Target="../media/media23.mp3"/><Relationship Id="rId6" Type="http://schemas.openxmlformats.org/officeDocument/2006/relationships/image" Target="../media/image3.png"/><Relationship Id="rId5" Type="http://schemas.openxmlformats.org/officeDocument/2006/relationships/image" Target="../media/image24.png"/><Relationship Id="rId4" Type="http://schemas.openxmlformats.org/officeDocument/2006/relationships/notesSlide" Target="../notesSlides/notesSlide23.xml"/><Relationship Id="rId7" Type="http://schemas.microsoft.com/office/2017/04/relationships/track" Target="../media/captions_slide23.vtt"/></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4.mp3"/><Relationship Id="rId1" Type="http://schemas.microsoft.com/office/2007/relationships/media" Target="../media/media24.mp3"/><Relationship Id="rId5" Type="http://schemas.openxmlformats.org/officeDocument/2006/relationships/image" Target="../media/image3.png"/><Relationship Id="rId4" Type="http://schemas.openxmlformats.org/officeDocument/2006/relationships/notesSlide" Target="../notesSlides/notesSlide24.xml"/><Relationship Id="rId6" Type="http://schemas.microsoft.com/office/2017/04/relationships/track" Target="../media/captions_slide24.vtt"/></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5.mp3"/><Relationship Id="rId1" Type="http://schemas.microsoft.com/office/2007/relationships/media" Target="../media/media25.mp3"/><Relationship Id="rId6" Type="http://schemas.openxmlformats.org/officeDocument/2006/relationships/image" Target="../media/image3.png"/><Relationship Id="rId5" Type="http://schemas.openxmlformats.org/officeDocument/2006/relationships/image" Target="../media/image25.png"/><Relationship Id="rId4" Type="http://schemas.openxmlformats.org/officeDocument/2006/relationships/notesSlide" Target="../notesSlides/notesSlide25.xml"/><Relationship Id="rId7" Type="http://schemas.microsoft.com/office/2017/04/relationships/track" Target="../media/captions_slide25.vtt"/></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6.mp3"/><Relationship Id="rId1" Type="http://schemas.microsoft.com/office/2007/relationships/media" Target="../media/media26.mp3"/><Relationship Id="rId5" Type="http://schemas.openxmlformats.org/officeDocument/2006/relationships/image" Target="../media/image3.png"/><Relationship Id="rId4" Type="http://schemas.openxmlformats.org/officeDocument/2006/relationships/notesSlide" Target="../notesSlides/notesSlide26.xml"/><Relationship Id="rId6" Type="http://schemas.microsoft.com/office/2017/04/relationships/track" Target="../media/captions_slide26.vtt"/></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7.mp3"/><Relationship Id="rId1" Type="http://schemas.microsoft.com/office/2007/relationships/media" Target="../media/media27.mp3"/><Relationship Id="rId6" Type="http://schemas.openxmlformats.org/officeDocument/2006/relationships/image" Target="../media/image3.png"/><Relationship Id="rId5" Type="http://schemas.openxmlformats.org/officeDocument/2006/relationships/image" Target="../media/image26.png"/><Relationship Id="rId4" Type="http://schemas.openxmlformats.org/officeDocument/2006/relationships/notesSlide" Target="../notesSlides/notesSlide27.xml"/><Relationship Id="rId7" Type="http://schemas.microsoft.com/office/2017/04/relationships/track" Target="../media/captions_slide27.vtt"/></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8.mp3"/><Relationship Id="rId1" Type="http://schemas.microsoft.com/office/2007/relationships/media" Target="../media/media28.mp3"/><Relationship Id="rId6" Type="http://schemas.openxmlformats.org/officeDocument/2006/relationships/image" Target="../media/image3.png"/><Relationship Id="rId5" Type="http://schemas.openxmlformats.org/officeDocument/2006/relationships/image" Target="../media/image27.png"/><Relationship Id="rId4" Type="http://schemas.openxmlformats.org/officeDocument/2006/relationships/notesSlide" Target="../notesSlides/notesSlide28.xml"/><Relationship Id="rId7" Type="http://schemas.microsoft.com/office/2017/04/relationships/track" Target="../media/captions_slide28.vtt"/></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9.mp3"/><Relationship Id="rId1" Type="http://schemas.microsoft.com/office/2007/relationships/media" Target="../media/media29.mp3"/><Relationship Id="rId6" Type="http://schemas.openxmlformats.org/officeDocument/2006/relationships/image" Target="../media/image3.png"/><Relationship Id="rId5" Type="http://schemas.openxmlformats.org/officeDocument/2006/relationships/image" Target="../media/image28.png"/><Relationship Id="rId4" Type="http://schemas.openxmlformats.org/officeDocument/2006/relationships/notesSlide" Target="../notesSlides/notesSlide29.xml"/><Relationship Id="rId7" Type="http://schemas.microsoft.com/office/2017/04/relationships/track" Target="../media/captions_slide29.vtt"/></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0.mp3"/><Relationship Id="rId1" Type="http://schemas.microsoft.com/office/2007/relationships/media" Target="../media/media30.mp3"/><Relationship Id="rId6" Type="http://schemas.openxmlformats.org/officeDocument/2006/relationships/image" Target="../media/image3.png"/><Relationship Id="rId5" Type="http://schemas.openxmlformats.org/officeDocument/2006/relationships/image" Target="../media/image29.png"/><Relationship Id="rId4" Type="http://schemas.openxmlformats.org/officeDocument/2006/relationships/notesSlide" Target="../notesSlides/notesSlide30.xml"/><Relationship Id="rId7" Type="http://schemas.microsoft.com/office/2017/04/relationships/track" Target="../media/captions_slide30.vtt"/></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1.mp3"/><Relationship Id="rId1" Type="http://schemas.microsoft.com/office/2007/relationships/media" Target="../media/media31.mp3"/><Relationship Id="rId5" Type="http://schemas.openxmlformats.org/officeDocument/2006/relationships/image" Target="../media/image3.png"/><Relationship Id="rId4" Type="http://schemas.openxmlformats.org/officeDocument/2006/relationships/notesSlide" Target="../notesSlides/notesSlide31.xml"/><Relationship Id="rId6" Type="http://schemas.microsoft.com/office/2017/04/relationships/track" Target="../media/captions_slide31.vtt"/></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2.mp3"/><Relationship Id="rId1" Type="http://schemas.microsoft.com/office/2007/relationships/media" Target="../media/media32.mp3"/><Relationship Id="rId6" Type="http://schemas.openxmlformats.org/officeDocument/2006/relationships/image" Target="../media/image3.png"/><Relationship Id="rId5" Type="http://schemas.openxmlformats.org/officeDocument/2006/relationships/image" Target="../media/image30.png"/><Relationship Id="rId4" Type="http://schemas.openxmlformats.org/officeDocument/2006/relationships/notesSlide" Target="../notesSlides/notesSlide32.xml"/><Relationship Id="rId7" Type="http://schemas.microsoft.com/office/2017/04/relationships/track" Target="../media/captions_slide32.vtt"/></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3.mp3"/><Relationship Id="rId1" Type="http://schemas.microsoft.com/office/2007/relationships/media" Target="../media/media33.mp3"/><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notesSlide" Target="../notesSlides/notesSlide33.xml"/><Relationship Id="rId7" Type="http://schemas.microsoft.com/office/2017/04/relationships/track" Target="../media/captions_slide33.vtt"/></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4.mp3"/><Relationship Id="rId1" Type="http://schemas.microsoft.com/office/2007/relationships/media" Target="../media/media34.mp3"/><Relationship Id="rId5" Type="http://schemas.openxmlformats.org/officeDocument/2006/relationships/image" Target="../media/image3.png"/><Relationship Id="rId4" Type="http://schemas.openxmlformats.org/officeDocument/2006/relationships/notesSlide" Target="../notesSlides/notesSlide34.xml"/><Relationship Id="rId6" Type="http://schemas.microsoft.com/office/2017/04/relationships/track" Target="../media/captions_slide34.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Application Modernization: the technical deep dive</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Book 18 — Application Modernization: triage, the target architecture, data, AI, gates and waves</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343400"/>
            <a:ext cx="8138160" cy="1371600"/>
          </a:xfrm>
          <a:prstGeom prst="rect">
            <a:avLst/>
          </a:prstGeom>
          <a:noFill/>
          <a:ln/>
        </p:spPr>
        <p:txBody>
          <a:bodyPr wrap="square" lIns="0" tIns="0" rIns="0" bIns="0" rtlCol="0" anchor="t"/>
          <a:lstStyle/>
          <a:p>
            <a:pPr marL="0" indent="0">
              <a:spcAft>
                <a:spcPts val="200"/>
              </a:spcAft>
              <a:buNone/>
            </a:pPr>
            <a:r>
              <a:rPr lang="en-US" sz="1500" b="1" dirty="0">
                <a:solidFill>
                  <a:srgbClr val="1F2A44"/>
                </a:solidFill>
              </a:rPr>
              <a:t>Part 1 — Deciding and designing</a:t>
            </a:r>
            <a:endParaRPr lang="en-US" sz="1500" dirty="0"/>
          </a:p>
          <a:p>
            <a:pPr marL="0" indent="0">
              <a:spcAft>
                <a:spcPts val="200"/>
              </a:spcAft>
              <a:buNone/>
            </a:pPr>
            <a:r>
              <a:rPr lang="en-US" sz="1500" dirty="0">
                <a:solidFill>
                  <a:srgbClr val="334155"/>
                </a:solidFill>
              </a:rPr>
              <a:t>Module 1  The portfolio and the triage   ·   Module 2  The target architecture and the data</a:t>
            </a:r>
            <a:endParaRPr lang="en-US" sz="1500" dirty="0"/>
          </a:p>
          <a:p>
            <a:pPr marL="0" indent="0">
              <a:spcAft>
                <a:spcPts val="200"/>
              </a:spcAft>
              <a:buNone/>
            </a:pPr>
            <a:r>
              <a:rPr lang="en-US" sz="1500" b="1" dirty="0">
                <a:solidFill>
                  <a:srgbClr val="0F766E"/>
                </a:solidFill>
              </a:rPr>
              <a:t>Part 2 — Governing and running</a:t>
            </a:r>
            <a:endParaRPr lang="en-US" sz="1500" dirty="0"/>
          </a:p>
          <a:p>
            <a:pPr marL="0" indent="0">
              <a:spcAft>
                <a:spcPts val="200"/>
              </a:spcAft>
              <a:buNone/>
            </a:pPr>
            <a:r>
              <a:rPr lang="en-US" sz="1500" dirty="0">
                <a:solidFill>
                  <a:srgbClr val="334155"/>
                </a:solidFill>
              </a:rPr>
              <a:t>Module 3  AI, compliance and governance   ·   Module 4  Implementation, frameworks, waves</a:t>
            </a:r>
            <a:endParaRPr lang="en-US" sz="1500" dirty="0"/>
          </a:p>
        </p:txBody>
      </p:sp>
      <p:pic>
        <p:nvPicPr>
          <p:cNvPr id="7" name="Narration" descr="Narration for this slide; captions available">
            <a:hlinkClick r:id="" action="ppaction://media"/>
            <a:extLst>
              <a:ext uri="{FF2B5EF4-FFF2-40B4-BE49-F238E27FC236}">
                <a16:creationId xmlns:a16="http://schemas.microsoft.com/office/drawing/2014/main" id="{BEDEC14E-C2E9-712B-4A36-BDF6107DE4C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DF3E01C-DB37-4EA8-B229-C79DC73312F0}"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5450"/>
    </mc:Choice>
    <mc:Fallback>
      <p:transition spd="slow" advTm="454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1448"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Why this matters: a portfolio, not a rewrite</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pic>
        <p:nvPicPr>
          <p:cNvPr id="5" name="Image 0" descr="A top-to-bottom flow. At the top, a slate card reads: the legacy portfolio, thousands of mission applications, mainframe, DB2 and Oracle, COBOL and PL/SQL. An amber card below reads: triage each application, a scored rubric, one disposition each. It branches into three cards on one row: a slate card, retire or retain, stop paying or keep on purpose; an amber card, rehost or replatform, move with little or no code change; a blue card, refactor or rebuild, change the code onto the target. The refactor or rebuild card leads to a blue card, one target reference architecture: Java and Spring Boot services, React front ends, OpenAPI contracts, containers, with data moved off DB2 and Oracle with proof and AI with an identity and an owner. A violet card at the bottom reads: governed and run in waves, review gates, compliance evidence, TOGAF and Zachman, pilot, factory and long tail. The rehost or replatform card also leads to the violet card."/>
          <p:cNvPicPr>
            <a:picLocks noChangeAspect="1"/>
          </p:cNvPicPr>
          <p:nvPr/>
        </p:nvPicPr>
        <p:blipFill>
          <a:blip r:embed="rId5"/>
          <a:stretch>
            <a:fillRect/>
          </a:stretch>
        </p:blipFill>
        <p:spPr>
          <a:xfrm>
            <a:off x="548640" y="1371600"/>
            <a:ext cx="6035040" cy="3236838"/>
          </a:xfrm>
          <a:prstGeom prst="rect">
            <a:avLst/>
          </a:prstGeom>
        </p:spPr>
      </p:pic>
      <p:sp>
        <p:nvSpPr>
          <p:cNvPr id="6" name="GAO">
            <a:extLst>
              <a:ext uri="{C183D7F6-B498-43B3-948B-1728B52AA6E4}">
                <adec:decorative xmlns:adec="http://schemas.microsoft.com/office/drawing/2017/decorative" val="1"/>
              </a:ext>
            </a:extLst>
          </p:cNvPr>
          <p:cNvSpPr/>
          <p:nvPr/>
        </p:nvSpPr>
        <p:spPr>
          <a:xfrm>
            <a:off x="6812280" y="1371600"/>
            <a:ext cx="4846320" cy="2468880"/>
          </a:xfrm>
          <a:prstGeom prst="roundRect">
            <a:avLst>
              <a:gd name="adj" fmla="val 2963"/>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7" name="GAO head"/>
          <p:cNvSpPr txBox="1"/>
          <p:nvPr/>
        </p:nvSpPr>
        <p:spPr>
          <a:xfrm>
            <a:off x="6995160" y="1481328"/>
            <a:ext cx="4480560" cy="310896"/>
          </a:xfrm>
          <a:prstGeom prst="rect">
            <a:avLst/>
          </a:prstGeom>
          <a:noFill/>
          <a:ln/>
        </p:spPr>
        <p:txBody>
          <a:bodyPr wrap="square" lIns="0" tIns="0" rIns="0" bIns="0" rtlCol="0" anchor="t"/>
          <a:lstStyle/>
          <a:p>
            <a:pPr marL="0" indent="0">
              <a:buNone/>
            </a:pPr>
            <a:r>
              <a:rPr lang="en-US" sz="1100" b="1" dirty="0">
                <a:solidFill>
                  <a:srgbClr val="64748B"/>
                </a:solidFill>
              </a:rPr>
              <a:t>WHAT GAO FOUND (JULY 2025)</a:t>
            </a:r>
            <a:endParaRPr lang="en-US" sz="1400" dirty="0"/>
          </a:p>
        </p:txBody>
      </p:sp>
      <p:sp>
        <p:nvSpPr>
          <p:cNvPr id="8" name="GAO list"/>
          <p:cNvSpPr txBox="1"/>
          <p:nvPr/>
        </p:nvSpPr>
        <p:spPr>
          <a:xfrm>
            <a:off x="6995160" y="1810512"/>
            <a:ext cx="4526280" cy="195681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More than $100 billion a year on federal IT; about 79% of FY 2025 planned spending goes to O&amp;M</a:t>
            </a:r>
            <a:endParaRPr lang="en-US" sz="1400" dirty="0"/>
          </a:p>
          <a:p>
            <a:pPr marL="342900" indent="-342900">
              <a:spcAft>
                <a:spcPts val="400"/>
              </a:spcAft>
              <a:buSzPct val="100000"/>
              <a:buChar char="•"/>
            </a:pPr>
            <a:r>
              <a:rPr lang="en-US" sz="1350" dirty="0">
                <a:solidFill>
                  <a:schemeClr val="tx2"/>
                </a:solidFill>
              </a:rPr>
              <a:t>11 most critical systems, about 23 to 60 years old, about $754 million a year to run</a:t>
            </a:r>
            <a:endParaRPr lang="en-US" sz="1400" dirty="0"/>
          </a:p>
          <a:p>
            <a:pPr marL="342900" indent="-342900">
              <a:spcAft>
                <a:spcPts val="400"/>
              </a:spcAft>
              <a:buSzPct val="100000"/>
              <a:buChar char="•"/>
            </a:pPr>
            <a:r>
              <a:rPr lang="en-US" sz="1350" dirty="0">
                <a:solidFill>
                  <a:schemeClr val="tx2"/>
                </a:solidFill>
              </a:rPr>
              <a:t>3 of the 11 had plans with all key elements; 2 had no plan</a:t>
            </a:r>
            <a:endParaRPr lang="en-US" sz="1400" dirty="0"/>
          </a:p>
          <a:p>
            <a:pPr marL="342900" indent="-342900">
              <a:spcAft>
                <a:spcPts val="400"/>
              </a:spcAft>
              <a:buSzPct val="100000"/>
              <a:buChar char="•"/>
            </a:pPr>
            <a:r>
              <a:rPr lang="en-US" sz="1350" dirty="0">
                <a:solidFill>
                  <a:schemeClr val="tx2"/>
                </a:solidFill>
              </a:rPr>
              <a:t>The extent of legacy IT is unknown: investments aren't flagged as legacy</a:t>
            </a:r>
            <a:endParaRPr lang="en-US" sz="1400" dirty="0"/>
          </a:p>
        </p:txBody>
      </p:sp>
      <p:sp>
        <p:nvSpPr>
          <p:cNvPr id="9" name="Segments">
            <a:extLst>
              <a:ext uri="{C183D7F6-B498-43B3-948B-1728B52AA6E4}">
                <adec:decorative xmlns:adec="http://schemas.microsoft.com/office/drawing/2017/decorative" val="1"/>
              </a:ext>
            </a:extLst>
          </p:cNvPr>
          <p:cNvSpPr/>
          <p:nvPr/>
        </p:nvSpPr>
        <p:spPr>
          <a:xfrm>
            <a:off x="548640" y="4837038"/>
            <a:ext cx="11109960" cy="822960"/>
          </a:xfrm>
          <a:prstGeom prst="roundRect">
            <a:avLst>
              <a:gd name="adj" fmla="val 8889"/>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0" name="Icon FaRoute">
            <a:extLst>
              <a:ext uri="{C183D7F6-B498-43B3-948B-1728B52AA6E4}">
                <adec:decorative xmlns:adec="http://schemas.microsoft.com/office/drawing/2017/decorative" val="1"/>
              </a:ext>
            </a:extLst>
          </p:cNvPr>
          <p:cNvSpPr/>
          <p:nvPr/>
        </p:nvSpPr>
        <p:spPr>
          <a:xfrm>
            <a:off x="777240" y="4882758"/>
            <a:ext cx="731520" cy="731520"/>
          </a:xfrm>
          <a:prstGeom prst="ellipse">
            <a:avLst/>
          </a:prstGeom>
          <a:solidFill>
            <a:srgbClr val="B91C1C"/>
          </a:solidFill>
          <a:ln w="12700">
            <a:solidFill>
              <a:srgbClr val="B91C1C"/>
            </a:solidFill>
            <a:prstDash val="solid"/>
          </a:ln>
        </p:spPr>
      </p:sp>
      <p:pic>
        <p:nvPicPr>
          <p:cNvPr id="1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058323"/>
            <a:ext cx="380390" cy="380390"/>
          </a:xfrm>
          <a:prstGeom prst="rect">
            <a:avLst/>
          </a:prstGeom>
        </p:spPr>
      </p:pic>
      <p:sp>
        <p:nvSpPr>
          <p:cNvPr id="12" name="Segments text"/>
          <p:cNvSpPr txBox="1"/>
          <p:nvPr/>
        </p:nvSpPr>
        <p:spPr>
          <a:xfrm>
            <a:off x="1737360" y="4882758"/>
            <a:ext cx="9738360" cy="731520"/>
          </a:xfrm>
          <a:prstGeom prst="rect">
            <a:avLst/>
          </a:prstGeom>
          <a:noFill/>
          <a:ln/>
        </p:spPr>
        <p:txBody>
          <a:bodyPr wrap="square" lIns="0" tIns="0" rIns="0" bIns="0" rtlCol="0" anchor="ctr"/>
          <a:lstStyle/>
          <a:p>
            <a:pPr marL="0" indent="0">
              <a:buNone/>
            </a:pPr>
            <a:r>
              <a:rPr lang="en-US" sz="1650" b="1" dirty="0">
                <a:solidFill>
                  <a:srgbClr val="B91C1C"/>
                </a:solidFill>
              </a:rPr>
              <a:t>Policy already says it: </a:t>
            </a:r>
            <a:r>
              <a:rPr lang="en-US" sz="1650" dirty="0">
                <a:solidFill>
                  <a:schemeClr val="tx2"/>
                </a:solidFill>
              </a:rPr>
              <a:t>A-130 asks for useful segments of narrow scope and brief duration; the FAR asks for increments that each stand alone.</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GAO-25-107795 (July 2025) and product page; GAO-19-471 (June 2019); OMB Circular A-130 §5.d(1); FAR 39.103; Fowler, "Strangler Fig" (2024). Book 18, Ch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14" name="Narration" descr="Narration for this slide; captions available">
            <a:hlinkClick r:id="" action="ppaction://media"/>
            <a:extLst>
              <a:ext uri="{FF2B5EF4-FFF2-40B4-BE49-F238E27FC236}">
                <a16:creationId xmlns:a16="http://schemas.microsoft.com/office/drawing/2014/main" id="{C3B12617-52FF-BCEA-E9FA-8703B7BC784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EC33ACB-E428-4020-94A5-30B401FE7F36}"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850"/>
    </mc:Choice>
    <mc:Fallback>
      <p:transition spd="slow" advTm="418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848"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1: The portfolio and the triage</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Part 1 — Deciding and designing  ·  Chapters 01–02</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9 MINUTES</a:t>
            </a:r>
            <a:endParaRPr lang="en-US" sz="1400" dirty="0"/>
          </a:p>
          <a:p>
            <a:pPr marL="342900" indent="-342900">
              <a:spcAft>
                <a:spcPts val="300"/>
              </a:spcAft>
              <a:buSzPct val="100000"/>
              <a:buChar char="•"/>
            </a:pPr>
            <a:r>
              <a:rPr lang="en-US" sz="1500" dirty="0">
                <a:solidFill>
                  <a:srgbClr val="334155"/>
                </a:solidFill>
              </a:rPr>
              <a:t>The application as the unit, and the six dispositions</a:t>
            </a:r>
            <a:endParaRPr lang="en-US" sz="1400" dirty="0"/>
          </a:p>
          <a:p>
            <a:pPr marL="342900" indent="-342900">
              <a:spcAft>
                <a:spcPts val="300"/>
              </a:spcAft>
              <a:buSzPct val="100000"/>
              <a:buChar char="•"/>
            </a:pPr>
            <a:r>
              <a:rPr lang="en-US" sz="1500" dirty="0">
                <a:solidFill>
                  <a:srgbClr val="334155"/>
                </a:solidFill>
              </a:rPr>
              <a:t>Six criteria scored on two axes, with confidence flags</a:t>
            </a:r>
            <a:endParaRPr lang="en-US" sz="1400" dirty="0"/>
          </a:p>
          <a:p>
            <a:pPr marL="342900" indent="-342900">
              <a:spcAft>
                <a:spcPts val="300"/>
              </a:spcAft>
              <a:buSzPct val="100000"/>
              <a:buChar char="•"/>
            </a:pPr>
            <a:r>
              <a:rPr lang="en-US" sz="1500" dirty="0">
                <a:solidFill>
                  <a:srgbClr val="334155"/>
                </a:solidFill>
              </a:rPr>
              <a:t>The seven-rule decision table, owner review and calibration</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596A3D13-EAB5-4CF0-81BE-8FA3E0E46F9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F5BFF57-DF24-4B6A-8A85-8A5DC54F69A5}"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2500"/>
    </mc:Choice>
    <mc:Fallback>
      <p:transition spd="slow" advTm="225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504"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Six dispositions, in rising order of cost and risk</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5" name="Dispositions"/>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3346704"/>
        </p:xfrm>
        <a:graphic>
          <a:graphicData uri="http://schemas.openxmlformats.org/drawingml/2006/table">
            <a:tbl>
              <a:tblPr firstRow="1" bandRow="1"/>
              <a:tblGrid>
                <a:gridCol w="137160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1691640">
                  <a:extLst>
                    <a:ext uri="{9D8B030D-6E8A-4147-A177-3AD203B41FA5}">
                      <a16:colId xmlns:a16="http://schemas.microsoft.com/office/drawing/2014/main" val="20003"/>
                    </a:ext>
                  </a:extLst>
                </a:gridCol>
                <a:gridCol w="1737360">
                  <a:extLst>
                    <a:ext uri="{9D8B030D-6E8A-4147-A177-3AD203B41FA5}">
                      <a16:colId xmlns:a16="http://schemas.microsoft.com/office/drawing/2014/main" val="20004"/>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Disposition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Signals that point to it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it ends with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AWS 7 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Microsoft CAF</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65836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Retire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Few users; duplicates another system; function not needed; a product or shared service does it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 running application; a records disposition; hosting and license cost stops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Retire; Repurchase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Retire; Replace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Retain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Stable, supported, meets its need; or too risky to move before something else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documented reason and a review date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Retain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Retain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Rehost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sound application on a platform being exited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Same application, new hosting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Rehost; Relocate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Rehost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Replatform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Logic is sound; the platform under it is unsupported or expensive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Same logic on a supported platform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Replatform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Replatform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Refactor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Valuable, changing often, blocked by its structure or language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Services on the target; legacy pieces retired one by one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Refactor or re-architect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Refactor; Rearchitect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Rebuild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Valuable, but the code can't be salvaged or requirements outgrew it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new application on the target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Refactor or re-architect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Rebuild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Choices">
            <a:extLst>
              <a:ext uri="{C183D7F6-B498-43B3-948B-1728B52AA6E4}">
                <adec:decorative xmlns:adec="http://schemas.microsoft.com/office/drawing/2017/decorative" val="1"/>
              </a:ext>
            </a:extLst>
          </p:cNvPr>
          <p:cNvSpPr/>
          <p:nvPr/>
        </p:nvSpPr>
        <p:spPr>
          <a:xfrm>
            <a:off x="548640" y="4901184"/>
            <a:ext cx="11109960" cy="822960"/>
          </a:xfrm>
          <a:prstGeom prst="roundRect">
            <a:avLst>
              <a:gd name="adj" fmla="val 8889"/>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7" name="Icon FaScaleBalanced">
            <a:extLst>
              <a:ext uri="{C183D7F6-B498-43B3-948B-1728B52AA6E4}">
                <adec:decorative xmlns:adec="http://schemas.microsoft.com/office/drawing/2017/decorative" val="1"/>
              </a:ext>
            </a:extLst>
          </p:cNvPr>
          <p:cNvSpPr/>
          <p:nvPr/>
        </p:nvSpPr>
        <p:spPr>
          <a:xfrm>
            <a:off x="777240" y="4946904"/>
            <a:ext cx="731520" cy="731520"/>
          </a:xfrm>
          <a:prstGeom prst="ellipse">
            <a:avLst/>
          </a:prstGeom>
          <a:solidFill>
            <a:srgbClr val="1F2A44"/>
          </a:solidFill>
          <a:ln w="12700">
            <a:solidFill>
              <a:srgbClr val="1F2A44"/>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122469"/>
            <a:ext cx="380390" cy="380390"/>
          </a:xfrm>
          <a:prstGeom prst="rect">
            <a:avLst/>
          </a:prstGeom>
        </p:spPr>
      </p:pic>
      <p:sp>
        <p:nvSpPr>
          <p:cNvPr id="9" name="Choices text"/>
          <p:cNvSpPr txBox="1"/>
          <p:nvPr/>
        </p:nvSpPr>
        <p:spPr>
          <a:xfrm>
            <a:off x="1737360" y="4946904"/>
            <a:ext cx="9738360" cy="731520"/>
          </a:xfrm>
          <a:prstGeom prst="rect">
            <a:avLst/>
          </a:prstGeom>
          <a:noFill/>
          <a:ln/>
        </p:spPr>
        <p:txBody>
          <a:bodyPr wrap="square" lIns="0" tIns="0" rIns="0" bIns="0" rtlCol="0" anchor="ctr"/>
          <a:lstStyle/>
          <a:p>
            <a:pPr marL="0" indent="0">
              <a:buNone/>
            </a:pPr>
            <a:r>
              <a:rPr lang="en-US" sz="1650" b="1" dirty="0">
                <a:solidFill>
                  <a:srgbClr val="1F2A44"/>
                </a:solidFill>
              </a:rPr>
              <a:t>Two deliberate choices: </a:t>
            </a:r>
            <a:r>
              <a:rPr lang="en-US" sz="1650" dirty="0">
                <a:solidFill>
                  <a:schemeClr val="tx2"/>
                </a:solidFill>
              </a:rPr>
              <a:t>replace is a form of retire, so "could a product or shared service do this?" is tested before refactor; relocate is a form of rehost.</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AWS Prescriptive Guidance, migration strategies; Microsoft CAF and the 6 Rs of app modernization; OMB A-130 §5.a(3). The six names are program vocabulary. Book 18, Ch 01–02.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5BDCA889-8630-C914-BF16-CF617E20401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A8B29DD-692D-4F94-8304-FD79A876D51B}"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530"/>
    </mc:Choice>
    <mc:Fallback>
      <p:transition spd="slow" advTm="375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528"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Six criteria, each scored from data you already hold</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6" name="Criteria"/>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3346704"/>
        </p:xfrm>
        <a:graphic>
          <a:graphicData uri="http://schemas.openxmlformats.org/drawingml/2006/table">
            <a:tbl>
              <a:tblPr firstRow="1" bandRow="1"/>
              <a:tblGrid>
                <a:gridCol w="178308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gridCol w="2651760">
                  <a:extLst>
                    <a:ext uri="{9D8B030D-6E8A-4147-A177-3AD203B41FA5}">
                      <a16:colId xmlns:a16="http://schemas.microsoft.com/office/drawing/2014/main" val="20003"/>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Criterion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it asks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Where the data comes from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Grounding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Mission criticality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How much the mission depends on it; what happens if it fails or is wrong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Business impact analysis; FIPS 199 availability and integrity; high value asset designation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FIPS 199; GAO's unmet mission needs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836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Technical condition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Is it supported, patchable and changeable?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Configuration database; vulnerability scans; vendor support dates; hardware and software age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A-130: phase out unsupported components; GAO: 7 of 11</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Data sensitivity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What data it holds, and how hard it is to move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FIPS 199 confidentiality; PII inventory and PIAs; engine and size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FIPS 199; A-130's PII inventory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Cost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What it costs to run, and what each disposition would cost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IT spending data; hosting, license and support contracts; staff time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40 U.S.C. 11312 risk-adjusted return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Skills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Can the agency staff it today and in five years?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Workforce data; contracts; the languages in the code base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GAO on COBOL and assembly skills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Dependencies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What it calls, what calls it, what shares its data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Network flows; interface agreements; database links; batch schedules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AWS: unmigrated dependencies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5" name="Twice">
            <a:extLst>
              <a:ext uri="{C183D7F6-B498-43B3-948B-1728B52AA6E4}">
                <adec:decorative xmlns:adec="http://schemas.microsoft.com/office/drawing/2017/decorative" val="1"/>
              </a:ext>
            </a:extLst>
          </p:cNvPr>
          <p:cNvSpPr/>
          <p:nvPr/>
        </p:nvSpPr>
        <p:spPr>
          <a:xfrm>
            <a:off x="548640" y="4901184"/>
            <a:ext cx="11109960" cy="822960"/>
          </a:xfrm>
          <a:prstGeom prst="roundRect">
            <a:avLst>
              <a:gd name="adj" fmla="val 8889"/>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7" name="Icon FaDatabase">
            <a:extLst>
              <a:ext uri="{C183D7F6-B498-43B3-948B-1728B52AA6E4}">
                <adec:decorative xmlns:adec="http://schemas.microsoft.com/office/drawing/2017/decorative" val="1"/>
              </a:ext>
            </a:extLst>
          </p:cNvPr>
          <p:cNvSpPr/>
          <p:nvPr/>
        </p:nvSpPr>
        <p:spPr>
          <a:xfrm>
            <a:off x="777240" y="4946904"/>
            <a:ext cx="731520" cy="731520"/>
          </a:xfrm>
          <a:prstGeom prst="ellipse">
            <a:avLst/>
          </a:prstGeom>
          <a:solidFill>
            <a:srgbClr val="B45309"/>
          </a:solidFill>
          <a:ln w="12700">
            <a:solidFill>
              <a:srgbClr val="B45309"/>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122469"/>
            <a:ext cx="380390" cy="380390"/>
          </a:xfrm>
          <a:prstGeom prst="rect">
            <a:avLst/>
          </a:prstGeom>
        </p:spPr>
      </p:pic>
      <p:sp>
        <p:nvSpPr>
          <p:cNvPr id="9" name="Twice text"/>
          <p:cNvSpPr txBox="1"/>
          <p:nvPr/>
        </p:nvSpPr>
        <p:spPr>
          <a:xfrm>
            <a:off x="1737360" y="4946904"/>
            <a:ext cx="9738360" cy="731520"/>
          </a:xfrm>
          <a:prstGeom prst="rect">
            <a:avLst/>
          </a:prstGeom>
          <a:noFill/>
          <a:ln/>
        </p:spPr>
        <p:txBody>
          <a:bodyPr wrap="square" lIns="0" tIns="0" rIns="0" bIns="0" rtlCol="0" anchor="ctr"/>
          <a:lstStyle/>
          <a:p>
            <a:pPr marL="0" indent="0">
              <a:buNone/>
            </a:pPr>
            <a:r>
              <a:rPr lang="en-US" sz="1650" b="1" dirty="0">
                <a:solidFill>
                  <a:srgbClr val="B45309"/>
                </a:solidFill>
              </a:rPr>
              <a:t>Two scoring rules: </a:t>
            </a:r>
            <a:r>
              <a:rPr lang="en-US" sz="1650" dirty="0">
                <a:solidFill>
                  <a:schemeClr val="tx2"/>
                </a:solidFill>
              </a:rPr>
              <a:t>dependencies decide sequence, not disposition; and PL/SQL and stored procedures count twice, in skills and in migration effort.</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FIPS 199 §§3–4; OMB A-130 §5.a(1); GAO-25-107795; 40 U.S.C. §11312; AWS Prescriptive Guidance, migration strategies. Book 18, Ch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FFCD85E7-1379-E56A-FC1C-F2EDD5456F8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11F682F-1A66-4A6C-9CF2-F42ED623773C}"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380"/>
    </mc:Choice>
    <mc:Fallback>
      <p:transition spd="slow" advTm="363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376"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Two axes, a confidence flag, and where the grid points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A two-by-two grid of cards under a note saying that rows are mission value, high above low, and columns are technical health, poor on the left and good on the right. Top left, high value and poor health: a blue card, replatform, refactor or rebuild; replatform when the platform is the problem and the code is sound, refactor or rebuild when the code is the problem. Top right, high value and good health: a green card, retain or rehost; keep it with a review date, and rehost only if its platform is being exited. Bottom left, low value and poor health: a red card, retire first, the cheapest modernization there is. Bottom right, low value and good health: a slate card, retain, or retire when convenient, retire if a product or shared service does the job. A violet note under the grid reads: dependencies decide the order, not the disposition."/>
          <p:cNvPicPr>
            <a:picLocks noChangeAspect="1"/>
          </p:cNvPicPr>
          <p:nvPr/>
        </p:nvPicPr>
        <p:blipFill>
          <a:blip r:embed="rId5"/>
          <a:stretch>
            <a:fillRect/>
          </a:stretch>
        </p:blipFill>
        <p:spPr>
          <a:xfrm>
            <a:off x="548640" y="1371600"/>
            <a:ext cx="6035040" cy="3380833"/>
          </a:xfrm>
          <a:prstGeom prst="rect">
            <a:avLst/>
          </a:prstGeom>
        </p:spPr>
      </p:pic>
      <p:sp>
        <p:nvSpPr>
          <p:cNvPr id="6" name="Axes">
            <a:extLst>
              <a:ext uri="{C183D7F6-B498-43B3-948B-1728B52AA6E4}">
                <adec:decorative xmlns:adec="http://schemas.microsoft.com/office/drawing/2017/decorative" val="1"/>
              </a:ext>
            </a:extLst>
          </p:cNvPr>
          <p:cNvSpPr/>
          <p:nvPr/>
        </p:nvSpPr>
        <p:spPr>
          <a:xfrm>
            <a:off x="6812280" y="1371600"/>
            <a:ext cx="4846320" cy="1920240"/>
          </a:xfrm>
          <a:prstGeom prst="roundRect">
            <a:avLst>
              <a:gd name="adj" fmla="val 3810"/>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Axes head"/>
          <p:cNvSpPr txBox="1"/>
          <p:nvPr/>
        </p:nvSpPr>
        <p:spPr>
          <a:xfrm>
            <a:off x="6995160" y="1481328"/>
            <a:ext cx="4480560" cy="310896"/>
          </a:xfrm>
          <a:prstGeom prst="rect">
            <a:avLst/>
          </a:prstGeom>
          <a:noFill/>
          <a:ln/>
        </p:spPr>
        <p:txBody>
          <a:bodyPr wrap="square" lIns="0" tIns="0" rIns="0" bIns="0" rtlCol="0" anchor="t"/>
          <a:lstStyle/>
          <a:p>
            <a:pPr marL="0" indent="0">
              <a:buNone/>
            </a:pPr>
            <a:r>
              <a:rPr lang="en-US" sz="1100" b="1" dirty="0">
                <a:solidFill>
                  <a:srgbClr val="64748B"/>
                </a:solidFill>
              </a:rPr>
              <a:t>TWO AXES (PROGRAM DESIGN)</a:t>
            </a:r>
            <a:endParaRPr lang="en-US" sz="1400" dirty="0"/>
          </a:p>
        </p:txBody>
      </p:sp>
      <p:sp>
        <p:nvSpPr>
          <p:cNvPr id="8" name="Axes list"/>
          <p:cNvSpPr txBox="1"/>
          <p:nvPr/>
        </p:nvSpPr>
        <p:spPr>
          <a:xfrm>
            <a:off x="6995160" y="1810512"/>
            <a:ext cx="4526280" cy="14081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Mission value: criticality, cost of the function if lost, number and kind of users</a:t>
            </a:r>
            <a:endParaRPr lang="en-US" sz="1400" dirty="0"/>
          </a:p>
          <a:p>
            <a:pPr marL="342900" indent="-342900">
              <a:spcAft>
                <a:spcPts val="400"/>
              </a:spcAft>
              <a:buSzPct val="100000"/>
              <a:buChar char="•"/>
            </a:pPr>
            <a:r>
              <a:rPr lang="en-US" sz="1300" dirty="0">
                <a:solidFill>
                  <a:schemeClr val="tx2"/>
                </a:solidFill>
              </a:rPr>
              <a:t>Technical health: condition, skills, data sensitivity as difficulty, dependencies</a:t>
            </a:r>
            <a:endParaRPr lang="en-US" sz="1400" dirty="0"/>
          </a:p>
          <a:p>
            <a:pPr marL="342900" indent="-342900">
              <a:spcAft>
                <a:spcPts val="400"/>
              </a:spcAft>
              <a:buSzPct val="100000"/>
              <a:buChar char="•"/>
            </a:pPr>
            <a:r>
              <a:rPr lang="en-US" sz="1300" dirty="0">
                <a:solidFill>
                  <a:schemeClr val="tx2"/>
                </a:solidFill>
              </a:rPr>
              <a:t>Each criterion 1 to 5; equal weights within an axis to start</a:t>
            </a:r>
            <a:endParaRPr lang="en-US" sz="1400" dirty="0"/>
          </a:p>
        </p:txBody>
      </p:sp>
      <p:sp>
        <p:nvSpPr>
          <p:cNvPr id="9" name="Flags">
            <a:extLst>
              <a:ext uri="{C183D7F6-B498-43B3-948B-1728B52AA6E4}">
                <adec:decorative xmlns:adec="http://schemas.microsoft.com/office/drawing/2017/decorative" val="1"/>
              </a:ext>
            </a:extLst>
          </p:cNvPr>
          <p:cNvSpPr/>
          <p:nvPr/>
        </p:nvSpPr>
        <p:spPr>
          <a:xfrm>
            <a:off x="6812280" y="3474720"/>
            <a:ext cx="4846320" cy="1508760"/>
          </a:xfrm>
          <a:prstGeom prst="roundRect">
            <a:avLst>
              <a:gd name="adj" fmla="val 4848"/>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0" name="Flags head"/>
          <p:cNvSpPr txBox="1"/>
          <p:nvPr/>
        </p:nvSpPr>
        <p:spPr>
          <a:xfrm>
            <a:off x="6995160" y="3584448"/>
            <a:ext cx="4480560" cy="310896"/>
          </a:xfrm>
          <a:prstGeom prst="rect">
            <a:avLst/>
          </a:prstGeom>
          <a:noFill/>
          <a:ln/>
        </p:spPr>
        <p:txBody>
          <a:bodyPr wrap="square" lIns="0" tIns="0" rIns="0" bIns="0" rtlCol="0" anchor="t"/>
          <a:lstStyle/>
          <a:p>
            <a:pPr marL="0" indent="0">
              <a:buNone/>
            </a:pPr>
            <a:r>
              <a:rPr lang="en-US" sz="1100" b="1" dirty="0">
                <a:solidFill>
                  <a:srgbClr val="64748B"/>
                </a:solidFill>
              </a:rPr>
              <a:t>CONFIDENCE FLAG ON EVERY SCORE</a:t>
            </a:r>
            <a:endParaRPr lang="en-US" sz="1400" dirty="0"/>
          </a:p>
        </p:txBody>
      </p:sp>
      <p:sp>
        <p:nvSpPr>
          <p:cNvPr id="11" name="Flags list"/>
          <p:cNvSpPr txBox="1"/>
          <p:nvPr/>
        </p:nvSpPr>
        <p:spPr>
          <a:xfrm>
            <a:off x="6995160" y="3913632"/>
            <a:ext cx="4526280" cy="9966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Measured, from system data; attested, by the owner; assumed, no data</a:t>
            </a:r>
            <a:endParaRPr lang="en-US" sz="1400" dirty="0"/>
          </a:p>
          <a:p>
            <a:pPr marL="342900" indent="-342900">
              <a:spcAft>
                <a:spcPts val="400"/>
              </a:spcAft>
              <a:buSzPct val="100000"/>
              <a:buChar char="•"/>
            </a:pPr>
            <a:r>
              <a:rPr lang="en-US" sz="1300" dirty="0">
                <a:solidFill>
                  <a:schemeClr val="tx2"/>
                </a:solidFill>
              </a:rPr>
              <a:t>Mostly assumed: no final disposition until owner review</a:t>
            </a:r>
            <a:endParaRPr lang="en-US" sz="1400" dirty="0"/>
          </a:p>
        </p:txBody>
      </p:sp>
      <p:sp>
        <p:nvSpPr>
          <p:cNvPr id="12" name="Measured">
            <a:extLst>
              <a:ext uri="{C183D7F6-B498-43B3-948B-1728B52AA6E4}">
                <adec:decorative xmlns:adec="http://schemas.microsoft.com/office/drawing/2017/decorative" val="1"/>
              </a:ext>
            </a:extLst>
          </p:cNvPr>
          <p:cNvSpPr/>
          <p:nvPr/>
        </p:nvSpPr>
        <p:spPr>
          <a:xfrm>
            <a:off x="548640" y="5166360"/>
            <a:ext cx="11109960" cy="822960"/>
          </a:xfrm>
          <a:prstGeom prst="roundRect">
            <a:avLst>
              <a:gd name="adj" fmla="val 8889"/>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3" name="Icon FaChartLine">
            <a:extLst>
              <a:ext uri="{C183D7F6-B498-43B3-948B-1728B52AA6E4}">
                <adec:decorative xmlns:adec="http://schemas.microsoft.com/office/drawing/2017/decorative" val="1"/>
              </a:ext>
            </a:extLst>
          </p:cNvPr>
          <p:cNvSpPr/>
          <p:nvPr/>
        </p:nvSpPr>
        <p:spPr>
          <a:xfrm>
            <a:off x="777240" y="5212080"/>
            <a:ext cx="731520" cy="731520"/>
          </a:xfrm>
          <a:prstGeom prst="ellipse">
            <a:avLst/>
          </a:prstGeom>
          <a:solidFill>
            <a:srgbClr val="0F766E"/>
          </a:solidFill>
          <a:ln w="12700">
            <a:solidFill>
              <a:srgbClr val="0F766E"/>
            </a:solidFill>
            <a:prstDash val="solid"/>
          </a:ln>
        </p:spPr>
      </p:sp>
      <p:pic>
        <p:nvPicPr>
          <p:cNvPr id="14"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387645"/>
            <a:ext cx="380390" cy="380390"/>
          </a:xfrm>
          <a:prstGeom prst="rect">
            <a:avLst/>
          </a:prstGeom>
        </p:spPr>
      </p:pic>
      <p:sp>
        <p:nvSpPr>
          <p:cNvPr id="15" name="Measured text"/>
          <p:cNvSpPr txBox="1"/>
          <p:nvPr/>
        </p:nvSpPr>
        <p:spPr>
          <a:xfrm>
            <a:off x="1737360" y="5212080"/>
            <a:ext cx="9738360" cy="731520"/>
          </a:xfrm>
          <a:prstGeom prst="rect">
            <a:avLst/>
          </a:prstGeom>
          <a:noFill/>
          <a:ln/>
        </p:spPr>
        <p:txBody>
          <a:bodyPr wrap="square" lIns="0" tIns="0" rIns="0" bIns="0" rtlCol="0" anchor="ctr"/>
          <a:lstStyle/>
          <a:p>
            <a:pPr marL="0" indent="0">
              <a:buNone/>
            </a:pPr>
            <a:r>
              <a:rPr lang="en-US" sz="1650" b="1" dirty="0">
                <a:solidFill>
                  <a:srgbClr val="0F766E"/>
                </a:solidFill>
              </a:rPr>
              <a:t>Score what's measured first: </a:t>
            </a:r>
            <a:r>
              <a:rPr lang="en-US" sz="1650" dirty="0">
                <a:solidFill>
                  <a:schemeClr val="tx2"/>
                </a:solidFill>
              </a:rPr>
              <a:t>AWS suggests no inbound connection for 90 days, or very low CPU and memory use, to find applications nobody uses.</a:t>
            </a:r>
            <a:endParaRPr lang="en-US" sz="1650" dirty="0"/>
          </a:p>
        </p:txBody>
      </p:sp>
      <p:sp>
        <p:nvSpPr>
          <p:cNvPr id="1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18, Ch 02 (the axes, weights and flags are program design); FIPS 199; AWS Prescriptive Guidance, About the migration strategies. Book 18, Ch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7" name="Narration" descr="Narration for this slide; captions available">
            <a:hlinkClick r:id="" action="ppaction://media"/>
            <a:extLst>
              <a:ext uri="{FF2B5EF4-FFF2-40B4-BE49-F238E27FC236}">
                <a16:creationId xmlns:a16="http://schemas.microsoft.com/office/drawing/2014/main" id="{91444CBB-A265-49FF-CA87-9CE6B31602D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9DB25C1-F3C8-4ADD-995B-94825A19EECE}"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890"/>
    </mc:Choice>
    <mc:Fallback>
      <p:transition spd="slow" advTm="408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888"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decision table: seven rules, first match wins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8" name="Rules"/>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3639312"/>
        </p:xfrm>
        <a:graphic>
          <a:graphicData uri="http://schemas.openxmlformats.org/drawingml/2006/table">
            <a:tbl>
              <a:tblPr firstRow="1" bandRow="1"/>
              <a:tblGrid>
                <a:gridCol w="50292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gridCol w="2148840">
                  <a:extLst>
                    <a:ext uri="{9D8B030D-6E8A-4147-A177-3AD203B41FA5}">
                      <a16:colId xmlns:a16="http://schemas.microsoft.com/office/drawing/2014/main" val="20002"/>
                    </a:ext>
                  </a:extLst>
                </a:gridCol>
                <a:gridCol w="2971800">
                  <a:extLst>
                    <a:ext uri="{9D8B030D-6E8A-4147-A177-3AD203B41FA5}">
                      <a16:colId xmlns:a16="http://schemas.microsoft.com/office/drawing/2014/main" val="20003"/>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Condition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Proposed disposition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Mission value low (≤ 2), or a commercial or shared service already provides the function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Retire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Cheapest outcome; A-130 prefers existing alternatives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Technical health high (≥ 4) and no platform exit is forcing a move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Retain, with a review date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Don't spend on what works and is supported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Technical health high, but the hosting platform is being exited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Rehost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application is sound; only its location changes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Code sound (condition and skills ≥ 3), but platform, runtime or database unsupported or costly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Replatform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Fix what is broken, keep what works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Mission value high, code hard to change or staff, and interceptable behind an interface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Refactor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Incremental replacement keeps the mission running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Mission value high, and the code can't be salvaged or requirements outgrew it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Rebuild, in increments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Only after rules 1–5 are ruled out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Any high-impact system proposed for refactor or rebuild, or any contested result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Deep study first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Spend analysis where the stakes are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Scale">
            <a:extLst>
              <a:ext uri="{C183D7F6-B498-43B3-948B-1728B52AA6E4}">
                <adec:decorative xmlns:adec="http://schemas.microsoft.com/office/drawing/2017/decorative" val="1"/>
              </a:ext>
            </a:extLst>
          </p:cNvPr>
          <p:cNvSpPr/>
          <p:nvPr/>
        </p:nvSpPr>
        <p:spPr>
          <a:xfrm>
            <a:off x="548640" y="5148072"/>
            <a:ext cx="11109960" cy="777240"/>
          </a:xfrm>
          <a:prstGeom prst="roundRect">
            <a:avLst>
              <a:gd name="adj" fmla="val 9412"/>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7" name="Icon FaFilter">
            <a:extLst>
              <a:ext uri="{C183D7F6-B498-43B3-948B-1728B52AA6E4}">
                <adec:decorative xmlns:adec="http://schemas.microsoft.com/office/drawing/2017/decorative" val="1"/>
              </a:ext>
            </a:extLst>
          </p:cNvPr>
          <p:cNvSpPr/>
          <p:nvPr/>
        </p:nvSpPr>
        <p:spPr>
          <a:xfrm>
            <a:off x="777240" y="5170932"/>
            <a:ext cx="731520" cy="731520"/>
          </a:xfrm>
          <a:prstGeom prst="ellipse">
            <a:avLst/>
          </a:prstGeom>
          <a:solidFill>
            <a:srgbClr val="B45309"/>
          </a:solidFill>
          <a:ln w="12700">
            <a:solidFill>
              <a:srgbClr val="B45309"/>
            </a:solidFill>
            <a:prstDash val="solid"/>
          </a:ln>
        </p:spPr>
      </p:sp>
      <p:pic>
        <p:nvPicPr>
          <p:cNvPr id="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346497"/>
            <a:ext cx="380390" cy="380390"/>
          </a:xfrm>
          <a:prstGeom prst="rect">
            <a:avLst/>
          </a:prstGeom>
        </p:spPr>
      </p:pic>
      <p:sp>
        <p:nvSpPr>
          <p:cNvPr id="9" name="Scale text"/>
          <p:cNvSpPr txBox="1"/>
          <p:nvPr/>
        </p:nvSpPr>
        <p:spPr>
          <a:xfrm>
            <a:off x="1737360" y="5193792"/>
            <a:ext cx="9738360" cy="685800"/>
          </a:xfrm>
          <a:prstGeom prst="rect">
            <a:avLst/>
          </a:prstGeom>
          <a:noFill/>
          <a:ln/>
        </p:spPr>
        <p:txBody>
          <a:bodyPr wrap="square" lIns="0" tIns="0" rIns="0" bIns="0" rtlCol="0" anchor="ctr"/>
          <a:lstStyle/>
          <a:p>
            <a:pPr marL="0" indent="0">
              <a:buNone/>
            </a:pPr>
            <a:r>
              <a:rPr lang="en-US" sz="1650" b="1" dirty="0">
                <a:solidFill>
                  <a:srgbClr val="B45309"/>
                </a:solidFill>
              </a:rPr>
              <a:t>Rule 7 is what makes it scale: </a:t>
            </a:r>
            <a:r>
              <a:rPr lang="en-US" sz="1650" dirty="0">
                <a:solidFill>
                  <a:schemeClr val="tx2"/>
                </a:solidFill>
              </a:rPr>
              <a:t>most applications get a disposition from rules 1 to 4 for the cost of scoring; deep study goes to the dozens that need it.</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18, Ch 02 (the rubric, thresholds and rules are program design); OMB Circular A-130 §5.a(3)(c)–(d). Book 18, Ch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A74A28A2-0B56-25D8-CFD3-EB3B38550CF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275304D-7A54-45F9-B638-16ADBF5A40F8}"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370"/>
    </mc:Choice>
    <mc:Fallback>
      <p:transition spd="slow" advTm="383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368"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Owner review, the decision record and calibration</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pic>
        <p:nvPicPr>
          <p:cNvPr id="5" name="Image 0" descr="A top-to-bottom funnel of five cards. First, a slate card: the application inventory, every application with an owner, from the system inventory, configuration database and IT spending data. Second, an amber card: score from data, the six criteria filled in from existing sources, each with a confidence flag. Third, an amber card: owner review, the mission owner and system owner confirm or contest the scores in a fixed window. Fourth, an amber card: proposed disposition, the decision table applied to the scores, first matching rule wins. From here two paths: most applications go straight to a green card, record the decision, with the disposition, scores, rule, owner's agreement and review date; a red card beside it, deep study, reached by rule 7 for contested, high-cost or high-impact applications only, also leads to the green card. Below the green card, a violet card: feed capital planning and the waves, with the decision record going to the enterprise architecture transition plan, budget requests, TMF proposals and Chapter 10."/>
          <p:cNvPicPr>
            <a:picLocks noChangeAspect="1"/>
          </p:cNvPicPr>
          <p:nvPr/>
        </p:nvPicPr>
        <p:blipFill>
          <a:blip r:embed="rId5"/>
          <a:stretch>
            <a:fillRect/>
          </a:stretch>
        </p:blipFill>
        <p:spPr>
          <a:xfrm>
            <a:off x="548640" y="1371600"/>
            <a:ext cx="6035040" cy="3656891"/>
          </a:xfrm>
          <a:prstGeom prst="rect">
            <a:avLst/>
          </a:prstGeom>
        </p:spPr>
      </p:pic>
      <p:sp>
        <p:nvSpPr>
          <p:cNvPr id="6" name="Record">
            <a:extLst>
              <a:ext uri="{C183D7F6-B498-43B3-948B-1728B52AA6E4}">
                <adec:decorative xmlns:adec="http://schemas.microsoft.com/office/drawing/2017/decorative" val="1"/>
              </a:ext>
            </a:extLst>
          </p:cNvPr>
          <p:cNvSpPr/>
          <p:nvPr/>
        </p:nvSpPr>
        <p:spPr>
          <a:xfrm>
            <a:off x="6812280" y="1371600"/>
            <a:ext cx="4846320" cy="2377440"/>
          </a:xfrm>
          <a:prstGeom prst="roundRect">
            <a:avLst>
              <a:gd name="adj" fmla="val 3077"/>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7" name="Record head"/>
          <p:cNvSpPr txBox="1"/>
          <p:nvPr/>
        </p:nvSpPr>
        <p:spPr>
          <a:xfrm>
            <a:off x="6995160" y="1481328"/>
            <a:ext cx="4480560" cy="310896"/>
          </a:xfrm>
          <a:prstGeom prst="rect">
            <a:avLst/>
          </a:prstGeom>
          <a:noFill/>
          <a:ln/>
        </p:spPr>
        <p:txBody>
          <a:bodyPr wrap="square" lIns="0" tIns="0" rIns="0" bIns="0" rtlCol="0" anchor="t"/>
          <a:lstStyle/>
          <a:p>
            <a:pPr marL="0" indent="0">
              <a:buNone/>
            </a:pPr>
            <a:r>
              <a:rPr lang="en-US" sz="1100" b="1" dirty="0">
                <a:solidFill>
                  <a:srgbClr val="64748B"/>
                </a:solidFill>
              </a:rPr>
              <a:t>THE DECISION RECORD (PROGRAM DESIGN)</a:t>
            </a:r>
            <a:endParaRPr lang="en-US" sz="1400" dirty="0"/>
          </a:p>
        </p:txBody>
      </p:sp>
      <p:sp>
        <p:nvSpPr>
          <p:cNvPr id="8" name="Record list"/>
          <p:cNvSpPr txBox="1"/>
          <p:nvPr/>
        </p:nvSpPr>
        <p:spPr>
          <a:xfrm>
            <a:off x="6995160" y="1810512"/>
            <a:ext cx="4526280" cy="18653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The disposition, the six scores and their confidence flags</a:t>
            </a:r>
            <a:endParaRPr lang="en-US" sz="1400" dirty="0"/>
          </a:p>
          <a:p>
            <a:pPr marL="342900" indent="-342900">
              <a:spcAft>
                <a:spcPts val="400"/>
              </a:spcAft>
              <a:buSzPct val="100000"/>
              <a:buChar char="•"/>
            </a:pPr>
            <a:r>
              <a:rPr lang="en-US" sz="1300" dirty="0">
                <a:solidFill>
                  <a:schemeClr val="tx2"/>
                </a:solidFill>
              </a:rPr>
              <a:t>The rule that produced it, the owner's agreement and a review date</a:t>
            </a:r>
            <a:endParaRPr lang="en-US" sz="1400" dirty="0"/>
          </a:p>
          <a:p>
            <a:pPr marL="342900" indent="-342900">
              <a:spcAft>
                <a:spcPts val="400"/>
              </a:spcAft>
              <a:buSzPct val="100000"/>
              <a:buChar char="•"/>
            </a:pPr>
            <a:r>
              <a:rPr lang="en-US" sz="1300" dirty="0">
                <a:solidFill>
                  <a:schemeClr val="tx2"/>
                </a:solidFill>
              </a:rPr>
              <a:t>A contested score is corrected with evidence, not argued around</a:t>
            </a:r>
            <a:endParaRPr lang="en-US" sz="1400" dirty="0"/>
          </a:p>
          <a:p>
            <a:pPr marL="342900" indent="-342900">
              <a:spcAft>
                <a:spcPts val="400"/>
              </a:spcAft>
              <a:buSzPct val="100000"/>
              <a:buChar char="•"/>
            </a:pPr>
            <a:r>
              <a:rPr lang="en-US" sz="1300" dirty="0">
                <a:solidFill>
                  <a:schemeClr val="tx2"/>
                </a:solidFill>
              </a:rPr>
              <a:t>Read by the EA transition plan, capital planning and auditors</a:t>
            </a:r>
            <a:endParaRPr lang="en-US" sz="1400" dirty="0"/>
          </a:p>
        </p:txBody>
      </p:sp>
      <p:sp>
        <p:nvSpPr>
          <p:cNvPr id="9" name="Calibrate">
            <a:extLst>
              <a:ext uri="{C183D7F6-B498-43B3-948B-1728B52AA6E4}">
                <adec:decorative xmlns:adec="http://schemas.microsoft.com/office/drawing/2017/decorative" val="1"/>
              </a:ext>
            </a:extLst>
          </p:cNvPr>
          <p:cNvSpPr/>
          <p:nvPr/>
        </p:nvSpPr>
        <p:spPr>
          <a:xfrm>
            <a:off x="6812280" y="3931920"/>
            <a:ext cx="4846320" cy="1737360"/>
          </a:xfrm>
          <a:prstGeom prst="roundRect">
            <a:avLst>
              <a:gd name="adj" fmla="val 4211"/>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0" name="Calibrate head"/>
          <p:cNvSpPr txBox="1"/>
          <p:nvPr/>
        </p:nvSpPr>
        <p:spPr>
          <a:xfrm>
            <a:off x="6995160" y="4041648"/>
            <a:ext cx="4480560" cy="310896"/>
          </a:xfrm>
          <a:prstGeom prst="rect">
            <a:avLst/>
          </a:prstGeom>
          <a:noFill/>
          <a:ln/>
        </p:spPr>
        <p:txBody>
          <a:bodyPr wrap="square" lIns="0" tIns="0" rIns="0" bIns="0" rtlCol="0" anchor="t"/>
          <a:lstStyle/>
          <a:p>
            <a:pPr marL="0" indent="0">
              <a:buNone/>
            </a:pPr>
            <a:r>
              <a:rPr lang="en-US" sz="1100" b="1" dirty="0">
                <a:solidFill>
                  <a:srgbClr val="64748B"/>
                </a:solidFill>
              </a:rPr>
              <a:t>CALIBRATE BEFORE THE PORTFOLIO</a:t>
            </a:r>
            <a:endParaRPr lang="en-US" sz="1400" dirty="0"/>
          </a:p>
        </p:txBody>
      </p:sp>
      <p:sp>
        <p:nvSpPr>
          <p:cNvPr id="11" name="Calibrate list"/>
          <p:cNvSpPr txBox="1"/>
          <p:nvPr/>
        </p:nvSpPr>
        <p:spPr>
          <a:xfrm>
            <a:off x="6995160" y="4370832"/>
            <a:ext cx="4526280" cy="12252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Run the rubric on 30 to 50 applications architects know well</a:t>
            </a:r>
            <a:endParaRPr lang="en-US" sz="1400" dirty="0"/>
          </a:p>
          <a:p>
            <a:pPr marL="342900" indent="-342900">
              <a:spcAft>
                <a:spcPts val="400"/>
              </a:spcAft>
              <a:buSzPct val="100000"/>
              <a:buChar char="•"/>
            </a:pPr>
            <a:r>
              <a:rPr lang="en-US" sz="1300" dirty="0">
                <a:solidFill>
                  <a:schemeClr val="tx2"/>
                </a:solidFill>
              </a:rPr>
              <a:t>Where they disagree, change weights or thresholds, not their judgment</a:t>
            </a:r>
            <a:endParaRPr lang="en-US" sz="1400" dirty="0"/>
          </a:p>
          <a:p>
            <a:pPr marL="342900" indent="-342900">
              <a:spcAft>
                <a:spcPts val="400"/>
              </a:spcAft>
              <a:buSzPct val="100000"/>
              <a:buChar char="•"/>
            </a:pPr>
            <a:r>
              <a:rPr lang="en-US" sz="1300" dirty="0">
                <a:solidFill>
                  <a:schemeClr val="tx2"/>
                </a:solidFill>
              </a:rPr>
              <a:t>Recalibrate after the first wave, with real costs</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18, Ch 02 (owner review, the record and calibration are program design); OMB A-130 §5.a(2); 40 U.S.C. §11312. Book 18, Ch 02,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C4BFCE30-679E-4612-DA1D-6578E82C96A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7B7EAA7-359F-4B2B-9C03-D0C66176D5C6}"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510"/>
    </mc:Choice>
    <mc:Fallback>
      <p:transition spd="slow" advTm="385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512"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2: The target architecture and the data</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Part 1 — Deciding and designing  ·  Chapters 03–04</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16 MINUTES</a:t>
            </a:r>
            <a:endParaRPr lang="en-US" sz="1400" dirty="0"/>
          </a:p>
          <a:p>
            <a:pPr marL="342900" indent="-342900">
              <a:spcAft>
                <a:spcPts val="300"/>
              </a:spcAft>
              <a:buSzPct val="100000"/>
              <a:buChar char="•"/>
            </a:pPr>
            <a:r>
              <a:rPr lang="en-US" sz="1500" dirty="0">
                <a:solidFill>
                  <a:srgbClr val="334155"/>
                </a:solidFill>
              </a:rPr>
              <a:t>The layers, the versions and the upgrade cadence</a:t>
            </a:r>
            <a:endParaRPr lang="en-US" sz="1400" dirty="0"/>
          </a:p>
          <a:p>
            <a:pPr marL="342900" indent="-342900">
              <a:spcAft>
                <a:spcPts val="300"/>
              </a:spcAft>
              <a:buSzPct val="100000"/>
              <a:buChar char="•"/>
            </a:pPr>
            <a:r>
              <a:rPr lang="en-US" sz="1500" dirty="0">
                <a:solidFill>
                  <a:srgbClr val="334155"/>
                </a:solidFill>
              </a:rPr>
              <a:t>Contracts, containers, configuration and the strangler fig</a:t>
            </a:r>
            <a:endParaRPr lang="en-US" sz="1400" dirty="0"/>
          </a:p>
          <a:p>
            <a:pPr marL="342900" indent="-342900">
              <a:spcAft>
                <a:spcPts val="300"/>
              </a:spcAft>
              <a:buSzPct val="100000"/>
              <a:buChar char="•"/>
            </a:pPr>
            <a:r>
              <a:rPr lang="en-US" sz="1500" dirty="0">
                <a:solidFill>
                  <a:srgbClr val="334155"/>
                </a:solidFill>
              </a:rPr>
              <a:t>Converting, proving, cutting over and coexisting</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A54E2920-0309-FAC5-21CF-9B6EBB3D1F0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2E6CF86-7B64-4B6E-8071-60AED1456EB1}"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5980"/>
    </mc:Choice>
    <mc:Fallback>
      <p:transition spd="slow" advTm="259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1984"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One target: the layers and the program's choices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A layered diagram, top to bottom. Top: a blue card, front ends, React 19, served as static assets, calls APIs only. Next row, two cards: a blue card, backend-for-frontend, Node.js LTS, one per front end where needed; and a blue card, API gateway, authentication, rate limits, routing, the strangler-fig façade. Next row, two cards: a blue card, domain services, Java 25 LTS and Spring Boot 4.1, each publishes an OpenAPI 3.2 contract; and a slate card, the legacy application, still serving the functions not yet moved. Next: a blue card, data, each service owns its schema, PostgreSQL or SQL Server, Chapter 04. Next: a blue card, platform, OCI images on Kubernetes, configuration from the environment, secrets from a vault or workload identity. At the bottom, joined to the platform by a dashed line, a violet card: security references, NIST SP 800-204 for microservices and SP 800-190 for containers. Arrows run from front ends to the backend-for-frontend and the gateway, from both to the services, from the gateway to the legacy application, and from services to data."/>
          <p:cNvPicPr>
            <a:picLocks noChangeAspect="1"/>
          </p:cNvPicPr>
          <p:nvPr/>
        </p:nvPicPr>
        <p:blipFill>
          <a:blip r:embed="rId5"/>
          <a:stretch>
            <a:fillRect/>
          </a:stretch>
        </p:blipFill>
        <p:spPr>
          <a:xfrm>
            <a:off x="650975" y="1371600"/>
            <a:ext cx="5281731" cy="3611880"/>
          </a:xfrm>
          <a:prstGeom prst="rect">
            <a:avLst/>
          </a:prstGeom>
        </p:spPr>
      </p:pic>
      <p:graphicFrame>
        <p:nvGraphicFramePr>
          <p:cNvPr id="11" name="Layers"/>
          <p:cNvGraphicFramePr>
            <a:graphicFrameLocks noGrp="1"/>
          </p:cNvGraphicFramePr>
          <p:nvPr>
            <p:extLst>
              <p:ext uri="{D42A27DB-BD31-4B8C-83A1-F6EECF244321}">
                <p14:modId xmlns:p14="http://schemas.microsoft.com/office/powerpoint/2010/main" val="1579011935"/>
              </p:ext>
            </p:extLst>
          </p:nvPr>
        </p:nvGraphicFramePr>
        <p:xfrm>
          <a:off x="6172200" y="1371600"/>
          <a:ext cx="5486400" cy="3474720"/>
        </p:xfrm>
        <a:graphic>
          <a:graphicData uri="http://schemas.openxmlformats.org/drawingml/2006/table">
            <a:tbl>
              <a:tblPr firstRow="1" bandRow="1"/>
              <a:tblGrid>
                <a:gridCol w="1417320">
                  <a:extLst>
                    <a:ext uri="{9D8B030D-6E8A-4147-A177-3AD203B41FA5}">
                      <a16:colId xmlns:a16="http://schemas.microsoft.com/office/drawing/2014/main" val="20000"/>
                    </a:ext>
                  </a:extLst>
                </a:gridCol>
                <a:gridCol w="169164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Layer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Program's choice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As of October 2026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Services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Java LTS and Spring Boot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Java 25 LTS; Spring Boot 4.1.2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Front ends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React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React 19.3 (Sept. 9, 2026)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BFF, tooling, glue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Node.js, LTS only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Node.js 26 LTS scheduled Oct. 28, 2026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API contracts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OpenAPI, written first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OpenAPI 3.2.1 (Sept. 10, 2026)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Packaging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OCI container images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Image and distribution specs 1.1.1</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Orchestration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Kubernetes or a managed service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1.37; three minor releases maintained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Data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PostgreSQL or SQL Server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Chapter 04</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7" name="Design">
            <a:extLst>
              <a:ext uri="{C183D7F6-B498-43B3-948B-1728B52AA6E4}">
                <adec:decorative xmlns:adec="http://schemas.microsoft.com/office/drawing/2017/decorative" val="1"/>
              </a:ext>
            </a:extLst>
          </p:cNvPr>
          <p:cNvSpPr/>
          <p:nvPr/>
        </p:nvSpPr>
        <p:spPr>
          <a:xfrm>
            <a:off x="548640" y="5120640"/>
            <a:ext cx="11109960" cy="777240"/>
          </a:xfrm>
          <a:prstGeom prst="roundRect">
            <a:avLst>
              <a:gd name="adj" fmla="val 9412"/>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8" name="Icon FaCubes">
            <a:extLst>
              <a:ext uri="{C183D7F6-B498-43B3-948B-1728B52AA6E4}">
                <adec:decorative xmlns:adec="http://schemas.microsoft.com/office/drawing/2017/decorative" val="1"/>
              </a:ext>
            </a:extLst>
          </p:cNvPr>
          <p:cNvSpPr/>
          <p:nvPr/>
        </p:nvSpPr>
        <p:spPr>
          <a:xfrm>
            <a:off x="777240" y="5143500"/>
            <a:ext cx="731520" cy="731520"/>
          </a:xfrm>
          <a:prstGeom prst="ellipse">
            <a:avLst/>
          </a:prstGeom>
          <a:solidFill>
            <a:srgbClr val="1F2A44"/>
          </a:solidFill>
          <a:ln w="12700">
            <a:solidFill>
              <a:srgbClr val="1F2A44"/>
            </a:solidFill>
            <a:prstDash val="solid"/>
          </a:ln>
        </p:spPr>
      </p:sp>
      <p:pic>
        <p:nvPicPr>
          <p:cNvPr id="9"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319065"/>
            <a:ext cx="380390" cy="380390"/>
          </a:xfrm>
          <a:prstGeom prst="rect">
            <a:avLst/>
          </a:prstGeom>
        </p:spPr>
      </p:pic>
      <p:sp>
        <p:nvSpPr>
          <p:cNvPr id="10" name="Design text"/>
          <p:cNvSpPr txBox="1"/>
          <p:nvPr/>
        </p:nvSpPr>
        <p:spPr>
          <a:xfrm>
            <a:off x="1737360" y="5166360"/>
            <a:ext cx="9738360" cy="685800"/>
          </a:xfrm>
          <a:prstGeom prst="rect">
            <a:avLst/>
          </a:prstGeom>
          <a:noFill/>
          <a:ln/>
        </p:spPr>
        <p:txBody>
          <a:bodyPr wrap="square" lIns="0" tIns="0" rIns="0" bIns="0" rtlCol="0" anchor="ctr"/>
          <a:lstStyle/>
          <a:p>
            <a:pPr marL="0" indent="0">
              <a:buNone/>
            </a:pPr>
            <a:r>
              <a:rPr lang="en-US" sz="1650" b="1" dirty="0">
                <a:solidFill>
                  <a:srgbClr val="1F2A44"/>
                </a:solidFill>
              </a:rPr>
              <a:t>Program design, not a federal rule: </a:t>
            </a:r>
            <a:r>
              <a:rPr lang="en-US" sz="1650" dirty="0">
                <a:solidFill>
                  <a:schemeClr val="tx2"/>
                </a:solidFill>
              </a:rPr>
              <a:t>no federal policy names a language or framework; an agency standardized on .NET can keep this structure and swap the list.</a:t>
            </a:r>
            <a:endParaRPr lang="en-US" sz="1650" dirty="0"/>
          </a:p>
        </p:txBody>
      </p:sp>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OpenJDK JDK project; Spring Boot system requirements; react.dev versions; Node.js releases; OpenAPI 3.2.1; OCI; kubernetes.io releases (Oct. 28, 2026). Book 18,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12" name="Narration" descr="Narration for this slide; captions available">
            <a:hlinkClick r:id="" action="ppaction://media"/>
            <a:extLst>
              <a:ext uri="{FF2B5EF4-FFF2-40B4-BE49-F238E27FC236}">
                <a16:creationId xmlns:a16="http://schemas.microsoft.com/office/drawing/2014/main" id="{56C95E5E-9508-3CDC-B362-D276B13EEC8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645BEDD-1F76-4767-9863-D776E44B219F}"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750"/>
    </mc:Choice>
    <mc:Fallback>
      <p:transition spd="slow" advTm="387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752"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Support windows: build the upgrade cadence in</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Boot head"/>
          <p:cNvSpPr txBox="1"/>
          <p:nvPr/>
        </p:nvSpPr>
        <p:spPr>
          <a:xfrm>
            <a:off x="548640" y="1371600"/>
            <a:ext cx="6675120" cy="274320"/>
          </a:xfrm>
          <a:prstGeom prst="rect">
            <a:avLst/>
          </a:prstGeom>
          <a:noFill/>
          <a:ln/>
        </p:spPr>
        <p:txBody>
          <a:bodyPr wrap="square" lIns="0" tIns="0" rIns="0" bIns="0" rtlCol="0" anchor="t"/>
          <a:lstStyle/>
          <a:p>
            <a:pPr marL="0" indent="0">
              <a:buNone/>
            </a:pPr>
            <a:r>
              <a:rPr lang="en-US" sz="1200" b="1" dirty="0">
                <a:solidFill>
                  <a:srgbClr val="64748B"/>
                </a:solidFill>
              </a:rPr>
              <a:t>SPRING BOOT GENERATIONS (SPRING PROJECT DATA, OCT. 28, 2026)</a:t>
            </a:r>
            <a:endParaRPr lang="en-US" sz="1200" dirty="0"/>
          </a:p>
        </p:txBody>
      </p:sp>
      <p:graphicFrame>
        <p:nvGraphicFramePr>
          <p:cNvPr id="12" name="Boot"/>
          <p:cNvGraphicFramePr>
            <a:graphicFrameLocks noGrp="1"/>
          </p:cNvGraphicFramePr>
          <p:nvPr>
            <p:extLst>
              <p:ext uri="{D42A27DB-BD31-4B8C-83A1-F6EECF244321}">
                <p14:modId xmlns:p14="http://schemas.microsoft.com/office/powerpoint/2010/main" val="1579011935"/>
              </p:ext>
            </p:extLst>
          </p:nvPr>
        </p:nvGraphicFramePr>
        <p:xfrm>
          <a:off x="548640" y="1691640"/>
          <a:ext cx="6675120" cy="2139696"/>
        </p:xfrm>
        <a:graphic>
          <a:graphicData uri="http://schemas.openxmlformats.org/drawingml/2006/table">
            <a:tbl>
              <a:tblPr firstRow="1" bandRow="1"/>
              <a:tblGrid>
                <a:gridCol w="141732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600200">
                  <a:extLst>
                    <a:ext uri="{9D8B030D-6E8A-4147-A177-3AD203B41FA5}">
                      <a16:colId xmlns:a16="http://schemas.microsoft.com/office/drawing/2014/main" val="20003"/>
                    </a:ext>
                  </a:extLst>
                </a:gridCol>
              </a:tblGrid>
              <a:tr h="310896">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Generation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First release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Open source ends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Commercial ends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4.2.x</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Scheduled Nov. 2026 (release candidate out)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Dec. 31, 2027</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Dec. 31, 2028</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4.1.x (current)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June 2026</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July 31, 2027</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July 31, 2028</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4.0.x</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November 2025</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Dec. 31, 2026</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Dec. 31, 2027</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3.5.x</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May 2025</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Ended June 30, 2026</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June 30, 2032</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Clocks">
            <a:extLst>
              <a:ext uri="{C183D7F6-B498-43B3-948B-1728B52AA6E4}">
                <adec:decorative xmlns:adec="http://schemas.microsoft.com/office/drawing/2017/decorative" val="1"/>
              </a:ext>
            </a:extLst>
          </p:cNvPr>
          <p:cNvSpPr/>
          <p:nvPr/>
        </p:nvSpPr>
        <p:spPr>
          <a:xfrm>
            <a:off x="7452360" y="1371600"/>
            <a:ext cx="4206240" cy="2834640"/>
          </a:xfrm>
          <a:prstGeom prst="roundRect">
            <a:avLst>
              <a:gd name="adj" fmla="val 2581"/>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8" name="Clocks head"/>
          <p:cNvSpPr txBox="1"/>
          <p:nvPr/>
        </p:nvSpPr>
        <p:spPr>
          <a:xfrm>
            <a:off x="7635240" y="1481328"/>
            <a:ext cx="3840480" cy="310896"/>
          </a:xfrm>
          <a:prstGeom prst="rect">
            <a:avLst/>
          </a:prstGeom>
          <a:noFill/>
          <a:ln/>
        </p:spPr>
        <p:txBody>
          <a:bodyPr wrap="square" lIns="0" tIns="0" rIns="0" bIns="0" rtlCol="0" anchor="t"/>
          <a:lstStyle/>
          <a:p>
            <a:pPr marL="0" indent="0">
              <a:buNone/>
            </a:pPr>
            <a:r>
              <a:rPr lang="en-US" sz="1100" b="1" dirty="0">
                <a:solidFill>
                  <a:srgbClr val="64748B"/>
                </a:solidFill>
              </a:rPr>
              <a:t>JAVA, NODE.JS, KUBERNETES</a:t>
            </a:r>
            <a:endParaRPr lang="en-US" sz="1400" dirty="0"/>
          </a:p>
        </p:txBody>
      </p:sp>
      <p:sp>
        <p:nvSpPr>
          <p:cNvPr id="9" name="Clocks list"/>
          <p:cNvSpPr txBox="1"/>
          <p:nvPr/>
        </p:nvSpPr>
        <p:spPr>
          <a:xfrm>
            <a:off x="7635240" y="1810512"/>
            <a:ext cx="3886200" cy="23225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Java 25 is the current LTS; 26 and 27 are feature releases</a:t>
            </a:r>
            <a:endParaRPr lang="en-US" sz="1400" dirty="0"/>
          </a:p>
          <a:p>
            <a:pPr marL="342900" indent="-342900">
              <a:spcAft>
                <a:spcPts val="400"/>
              </a:spcAft>
              <a:buSzPct val="100000"/>
              <a:buChar char="•"/>
            </a:pPr>
            <a:r>
              <a:rPr lang="en-US" sz="1300" dirty="0">
                <a:solidFill>
                  <a:schemeClr val="tx2"/>
                </a:solidFill>
              </a:rPr>
              <a:t>Design: build on the LTS; move to the next within a year</a:t>
            </a:r>
            <a:endParaRPr lang="en-US" sz="1400" dirty="0"/>
          </a:p>
          <a:p>
            <a:pPr marL="342900" indent="-342900">
              <a:spcAft>
                <a:spcPts val="400"/>
              </a:spcAft>
              <a:buSzPct val="100000"/>
              <a:buChar char="•"/>
            </a:pPr>
            <a:r>
              <a:rPr lang="en-US" sz="1300" dirty="0">
                <a:solidFill>
                  <a:schemeClr val="tx2"/>
                </a:solidFill>
              </a:rPr>
              <a:t>Node.js 24 in maintenance Oct. 20, 2026; Node.js 22 ends Apr. 30, 2027</a:t>
            </a:r>
            <a:endParaRPr lang="en-US" sz="1400" dirty="0"/>
          </a:p>
          <a:p>
            <a:pPr marL="342900" indent="-342900">
              <a:spcAft>
                <a:spcPts val="400"/>
              </a:spcAft>
              <a:buSzPct val="100000"/>
              <a:buChar char="•"/>
            </a:pPr>
            <a:r>
              <a:rPr lang="en-US" sz="1300" dirty="0">
                <a:solidFill>
                  <a:schemeClr val="tx2"/>
                </a:solidFill>
              </a:rPr>
              <a:t>From Node.js 27: one major a year, each going LTS</a:t>
            </a:r>
            <a:endParaRPr lang="en-US" sz="1400" dirty="0"/>
          </a:p>
          <a:p>
            <a:pPr marL="342900" indent="-342900">
              <a:spcAft>
                <a:spcPts val="400"/>
              </a:spcAft>
              <a:buSzPct val="100000"/>
              <a:buChar char="•"/>
            </a:pPr>
            <a:r>
              <a:rPr lang="en-US" sz="1300" dirty="0">
                <a:solidFill>
                  <a:schemeClr val="tx2"/>
                </a:solidFill>
              </a:rPr>
              <a:t>Kubernetes: a minor about three times a year</a:t>
            </a:r>
            <a:endParaRPr lang="en-US" sz="1400" dirty="0"/>
          </a:p>
        </p:txBody>
      </p:sp>
      <p:sp>
        <p:nvSpPr>
          <p:cNvPr id="10" name="Cadence">
            <a:extLst>
              <a:ext uri="{C183D7F6-B498-43B3-948B-1728B52AA6E4}">
                <adec:decorative xmlns:adec="http://schemas.microsoft.com/office/drawing/2017/decorative" val="1"/>
              </a:ext>
            </a:extLst>
          </p:cNvPr>
          <p:cNvSpPr/>
          <p:nvPr/>
        </p:nvSpPr>
        <p:spPr>
          <a:xfrm>
            <a:off x="548640" y="4434840"/>
            <a:ext cx="11109960" cy="822960"/>
          </a:xfrm>
          <a:prstGeom prst="roundRect">
            <a:avLst>
              <a:gd name="adj" fmla="val 8889"/>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1" name="Icon FaArrowsRotate">
            <a:extLst>
              <a:ext uri="{C183D7F6-B498-43B3-948B-1728B52AA6E4}">
                <adec:decorative xmlns:adec="http://schemas.microsoft.com/office/drawing/2017/decorative" val="1"/>
              </a:ext>
            </a:extLst>
          </p:cNvPr>
          <p:cNvSpPr/>
          <p:nvPr/>
        </p:nvSpPr>
        <p:spPr>
          <a:xfrm>
            <a:off x="777240" y="4480560"/>
            <a:ext cx="731520" cy="731520"/>
          </a:xfrm>
          <a:prstGeom prst="ellipse">
            <a:avLst/>
          </a:prstGeom>
          <a:solidFill>
            <a:srgbClr val="B45309"/>
          </a:solidFill>
          <a:ln w="12700">
            <a:solidFill>
              <a:srgbClr val="B45309"/>
            </a:solidFill>
            <a:prstDash val="solid"/>
          </a:ln>
        </p:spPr>
      </p:sp>
      <p:pic>
        <p:nvPicPr>
          <p:cNvPr id="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656125"/>
            <a:ext cx="380390" cy="380390"/>
          </a:xfrm>
          <a:prstGeom prst="rect">
            <a:avLst/>
          </a:prstGeom>
        </p:spPr>
      </p:pic>
      <p:sp>
        <p:nvSpPr>
          <p:cNvPr id="13" name="Cadence text"/>
          <p:cNvSpPr txBox="1"/>
          <p:nvPr/>
        </p:nvSpPr>
        <p:spPr>
          <a:xfrm>
            <a:off x="1737360" y="4480560"/>
            <a:ext cx="9738360" cy="731520"/>
          </a:xfrm>
          <a:prstGeom prst="rect">
            <a:avLst/>
          </a:prstGeom>
          <a:noFill/>
          <a:ln/>
        </p:spPr>
        <p:txBody>
          <a:bodyPr wrap="square" lIns="0" tIns="0" rIns="0" bIns="0" rtlCol="0" anchor="ctr"/>
          <a:lstStyle/>
          <a:p>
            <a:pPr marL="0" indent="0">
              <a:buNone/>
            </a:pPr>
            <a:r>
              <a:rPr lang="en-US" sz="1650" b="1" dirty="0">
                <a:solidFill>
                  <a:srgbClr val="B45309"/>
                </a:solidFill>
              </a:rPr>
              <a:t>About thirteen months of open-source support per generation: </a:t>
            </a:r>
            <a:r>
              <a:rPr lang="en-US" sz="1650" dirty="0">
                <a:solidFill>
                  <a:schemeClr val="tx2"/>
                </a:solidFill>
              </a:rPr>
              <a:t>a 3.5 service already depends on commercial support, so fund platform upgrades as recurring work.</a:t>
            </a:r>
            <a:endParaRPr lang="en-US" sz="165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Spring project generations; Spring Boot system requirements; OpenJDK; Microsoft OpenJDK roadmap; Node.js releases and schedule; Kubernetes release cycle. Book 18,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15" name="Narration" descr="Narration for this slide; captions available">
            <a:hlinkClick r:id="" action="ppaction://media"/>
            <a:extLst>
              <a:ext uri="{FF2B5EF4-FFF2-40B4-BE49-F238E27FC236}">
                <a16:creationId xmlns:a16="http://schemas.microsoft.com/office/drawing/2014/main" id="{468574E0-13C9-9B28-D014-CECF8DC0F9A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1E6DAA7-0AC1-4A97-A857-79ACA19ED384}"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780"/>
    </mc:Choice>
    <mc:Fallback>
      <p:transition spd="slow" advTm="387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776"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Contracts first, thin layers, configuration from outside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API">
            <a:extLst>
              <a:ext uri="{C183D7F6-B498-43B3-948B-1728B52AA6E4}">
                <adec:decorative xmlns:adec="http://schemas.microsoft.com/office/drawing/2017/decorative" val="1"/>
              </a:ext>
            </a:extLst>
          </p:cNvPr>
          <p:cNvSpPr/>
          <p:nvPr/>
        </p:nvSpPr>
        <p:spPr>
          <a:xfrm>
            <a:off x="548640" y="1371600"/>
            <a:ext cx="3611880" cy="2788920"/>
          </a:xfrm>
          <a:prstGeom prst="roundRect">
            <a:avLst>
              <a:gd name="adj" fmla="val 2623"/>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API head"/>
          <p:cNvSpPr txBox="1"/>
          <p:nvPr/>
        </p:nvSpPr>
        <p:spPr>
          <a:xfrm>
            <a:off x="731520" y="1481328"/>
            <a:ext cx="3246120" cy="310896"/>
          </a:xfrm>
          <a:prstGeom prst="rect">
            <a:avLst/>
          </a:prstGeom>
          <a:noFill/>
          <a:ln/>
        </p:spPr>
        <p:txBody>
          <a:bodyPr wrap="square" lIns="0" tIns="0" rIns="0" bIns="0" rtlCol="0" anchor="t"/>
          <a:lstStyle/>
          <a:p>
            <a:pPr marL="0" indent="0">
              <a:buNone/>
            </a:pPr>
            <a:r>
              <a:rPr lang="en-US" sz="1100" b="1" dirty="0">
                <a:solidFill>
                  <a:srgbClr val="64748B"/>
                </a:solidFill>
              </a:rPr>
              <a:t>API-FIRST WITH OPENAPI (DESIGN)</a:t>
            </a:r>
            <a:endParaRPr lang="en-US" sz="1400" dirty="0"/>
          </a:p>
        </p:txBody>
      </p:sp>
      <p:sp>
        <p:nvSpPr>
          <p:cNvPr id="7" name="API list"/>
          <p:cNvSpPr txBox="1"/>
          <p:nvPr/>
        </p:nvSpPr>
        <p:spPr>
          <a:xfrm>
            <a:off x="731520" y="1810512"/>
            <a:ext cx="3291840" cy="227685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Write the contract first; review it with consumers; generate stubs and clients</a:t>
            </a:r>
            <a:endParaRPr lang="en-US" sz="1400" dirty="0"/>
          </a:p>
          <a:p>
            <a:pPr marL="342900" indent="-342900">
              <a:spcAft>
                <a:spcPts val="400"/>
              </a:spcAft>
              <a:buSzPct val="100000"/>
              <a:buChar char="•"/>
            </a:pPr>
            <a:r>
              <a:rPr lang="en-US" sz="1300" dirty="0">
                <a:solidFill>
                  <a:schemeClr val="tx2"/>
                </a:solidFill>
              </a:rPr>
              <a:t>The contract is what the strangler-fig façade routes on</a:t>
            </a:r>
            <a:endParaRPr lang="en-US" sz="1400" dirty="0"/>
          </a:p>
          <a:p>
            <a:pPr marL="342900" indent="-342900">
              <a:spcAft>
                <a:spcPts val="400"/>
              </a:spcAft>
              <a:buSzPct val="100000"/>
              <a:buChar char="•"/>
            </a:pPr>
            <a:r>
              <a:rPr lang="en-US" sz="1300" dirty="0">
                <a:solidFill>
                  <a:schemeClr val="tx2"/>
                </a:solidFill>
              </a:rPr>
              <a:t>Additive changes within a major version; breaking ones as a new major, side by side</a:t>
            </a:r>
            <a:endParaRPr lang="en-US" sz="1400" dirty="0"/>
          </a:p>
          <a:p>
            <a:pPr marL="342900" indent="-342900">
              <a:spcAft>
                <a:spcPts val="400"/>
              </a:spcAft>
              <a:buSzPct val="100000"/>
              <a:buChar char="•"/>
            </a:pPr>
            <a:r>
              <a:rPr lang="en-US" sz="1300" dirty="0">
                <a:solidFill>
                  <a:schemeClr val="tx2"/>
                </a:solidFill>
              </a:rPr>
              <a:t>Test against the contract in the pipeline; publish it in a catalog</a:t>
            </a:r>
            <a:endParaRPr lang="en-US" sz="1400" dirty="0"/>
          </a:p>
        </p:txBody>
      </p:sp>
      <p:sp>
        <p:nvSpPr>
          <p:cNvPr id="8" name="Node">
            <a:extLst>
              <a:ext uri="{C183D7F6-B498-43B3-948B-1728B52AA6E4}">
                <adec:decorative xmlns:adec="http://schemas.microsoft.com/office/drawing/2017/decorative" val="1"/>
              </a:ext>
            </a:extLst>
          </p:cNvPr>
          <p:cNvSpPr/>
          <p:nvPr/>
        </p:nvSpPr>
        <p:spPr>
          <a:xfrm>
            <a:off x="4297680" y="1371600"/>
            <a:ext cx="3611880" cy="2377440"/>
          </a:xfrm>
          <a:prstGeom prst="roundRect">
            <a:avLst>
              <a:gd name="adj" fmla="val 3077"/>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Node head"/>
          <p:cNvSpPr txBox="1"/>
          <p:nvPr/>
        </p:nvSpPr>
        <p:spPr>
          <a:xfrm>
            <a:off x="4480560" y="1481328"/>
            <a:ext cx="3246120" cy="310896"/>
          </a:xfrm>
          <a:prstGeom prst="rect">
            <a:avLst/>
          </a:prstGeom>
          <a:noFill/>
          <a:ln/>
        </p:spPr>
        <p:txBody>
          <a:bodyPr wrap="square" lIns="0" tIns="0" rIns="0" bIns="0" rtlCol="0" anchor="t"/>
          <a:lstStyle/>
          <a:p>
            <a:pPr marL="0" indent="0">
              <a:buNone/>
            </a:pPr>
            <a:r>
              <a:rPr lang="en-US" sz="1100" b="1" dirty="0">
                <a:solidFill>
                  <a:srgbClr val="64748B"/>
                </a:solidFill>
              </a:rPr>
              <a:t>NODE.JS ONLY WHERE IT FITS</a:t>
            </a:r>
            <a:endParaRPr lang="en-US" sz="1400" dirty="0"/>
          </a:p>
        </p:txBody>
      </p:sp>
      <p:sp>
        <p:nvSpPr>
          <p:cNvPr id="10" name="Node list"/>
          <p:cNvSpPr txBox="1"/>
          <p:nvPr/>
        </p:nvSpPr>
        <p:spPr>
          <a:xfrm>
            <a:off x="4480560" y="1810512"/>
            <a:ext cx="3291840" cy="18653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Backend-for-frontend: one per front end, owned by its team</a:t>
            </a:r>
            <a:endParaRPr lang="en-US" sz="1400" dirty="0"/>
          </a:p>
          <a:p>
            <a:pPr marL="342900" indent="-342900">
              <a:spcAft>
                <a:spcPts val="400"/>
              </a:spcAft>
              <a:buSzPct val="100000"/>
              <a:buChar char="•"/>
            </a:pPr>
            <a:r>
              <a:rPr lang="en-US" sz="1300" dirty="0">
                <a:solidFill>
                  <a:schemeClr val="tx2"/>
                </a:solidFill>
              </a:rPr>
              <a:t>Front-end build and tooling; thin event glue</a:t>
            </a:r>
            <a:endParaRPr lang="en-US" sz="1400" dirty="0"/>
          </a:p>
          <a:p>
            <a:pPr marL="342900" indent="-342900">
              <a:spcAft>
                <a:spcPts val="400"/>
              </a:spcAft>
              <a:buSzPct val="100000"/>
              <a:buChar char="•"/>
            </a:pPr>
            <a:r>
              <a:rPr lang="en-US" sz="1300" dirty="0">
                <a:solidFill>
                  <a:schemeClr val="tx2"/>
                </a:solidFill>
              </a:rPr>
              <a:t>A BFF holding business rules is a second services layer: refactor it</a:t>
            </a:r>
            <a:endParaRPr lang="en-US" sz="1400" dirty="0"/>
          </a:p>
          <a:p>
            <a:pPr marL="342900" indent="-342900">
              <a:spcAft>
                <a:spcPts val="400"/>
              </a:spcAft>
              <a:buSzPct val="100000"/>
              <a:buChar char="•"/>
            </a:pPr>
            <a:r>
              <a:rPr lang="en-US" sz="1300" dirty="0">
                <a:solidFill>
                  <a:schemeClr val="tx2"/>
                </a:solidFill>
              </a:rPr>
              <a:t>Front ends render, validate for usability and call APIs</a:t>
            </a:r>
            <a:endParaRPr lang="en-US" sz="1400" dirty="0"/>
          </a:p>
        </p:txBody>
      </p:sp>
      <p:sp>
        <p:nvSpPr>
          <p:cNvPr id="11" name="Config">
            <a:extLst>
              <a:ext uri="{C183D7F6-B498-43B3-948B-1728B52AA6E4}">
                <adec:decorative xmlns:adec="http://schemas.microsoft.com/office/drawing/2017/decorative" val="1"/>
              </a:ext>
            </a:extLst>
          </p:cNvPr>
          <p:cNvSpPr/>
          <p:nvPr/>
        </p:nvSpPr>
        <p:spPr>
          <a:xfrm>
            <a:off x="8046720" y="1371600"/>
            <a:ext cx="3611880" cy="2788920"/>
          </a:xfrm>
          <a:prstGeom prst="roundRect">
            <a:avLst>
              <a:gd name="adj" fmla="val 2623"/>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2" name="Config head"/>
          <p:cNvSpPr txBox="1"/>
          <p:nvPr/>
        </p:nvSpPr>
        <p:spPr>
          <a:xfrm>
            <a:off x="8229600" y="1481328"/>
            <a:ext cx="3246120" cy="310896"/>
          </a:xfrm>
          <a:prstGeom prst="rect">
            <a:avLst/>
          </a:prstGeom>
          <a:noFill/>
          <a:ln/>
        </p:spPr>
        <p:txBody>
          <a:bodyPr wrap="square" lIns="0" tIns="0" rIns="0" bIns="0" rtlCol="0" anchor="t"/>
          <a:lstStyle/>
          <a:p>
            <a:pPr marL="0" indent="0">
              <a:buNone/>
            </a:pPr>
            <a:r>
              <a:rPr lang="en-US" sz="1100" b="1" dirty="0">
                <a:solidFill>
                  <a:srgbClr val="64748B"/>
                </a:solidFill>
              </a:rPr>
              <a:t>CONTAINERS AND CONFIGURATION</a:t>
            </a:r>
            <a:endParaRPr lang="en-US" sz="1400" dirty="0"/>
          </a:p>
        </p:txBody>
      </p:sp>
      <p:sp>
        <p:nvSpPr>
          <p:cNvPr id="13" name="Config list"/>
          <p:cNvSpPr txBox="1"/>
          <p:nvPr/>
        </p:nvSpPr>
        <p:spPr>
          <a:xfrm>
            <a:off x="8229600" y="1810512"/>
            <a:ext cx="3291840" cy="227685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OCI images on Kubernetes, or a managed service built on it</a:t>
            </a:r>
            <a:endParaRPr lang="en-US" sz="1400" dirty="0"/>
          </a:p>
          <a:p>
            <a:pPr marL="342900" indent="-342900">
              <a:spcAft>
                <a:spcPts val="400"/>
              </a:spcAft>
              <a:buSzPct val="100000"/>
              <a:buChar char="•"/>
            </a:pPr>
            <a:r>
              <a:rPr lang="en-US" sz="1300" dirty="0">
                <a:solidFill>
                  <a:schemeClr val="tx2"/>
                </a:solidFill>
              </a:rPr>
              <a:t>Twelve-factor: whatever varies by deployment comes from the environment</a:t>
            </a:r>
            <a:endParaRPr lang="en-US" sz="1400" dirty="0"/>
          </a:p>
          <a:p>
            <a:pPr marL="342900" indent="-342900">
              <a:spcAft>
                <a:spcPts val="400"/>
              </a:spcAft>
              <a:buSzPct val="100000"/>
              <a:buChar char="•"/>
            </a:pPr>
            <a:r>
              <a:rPr lang="en-US" sz="1300" dirty="0">
                <a:solidFill>
                  <a:schemeClr val="tx2"/>
                </a:solidFill>
              </a:rPr>
              <a:t>Design: the environment gives a reference; the secret comes from a vault or a workload identity</a:t>
            </a:r>
            <a:endParaRPr lang="en-US" sz="1400" dirty="0"/>
          </a:p>
          <a:p>
            <a:pPr marL="342900" indent="-342900">
              <a:spcAft>
                <a:spcPts val="400"/>
              </a:spcAft>
              <a:buSzPct val="100000"/>
              <a:buChar char="•"/>
            </a:pPr>
            <a:r>
              <a:rPr lang="en-US" sz="1300" dirty="0">
                <a:solidFill>
                  <a:schemeClr val="tx2"/>
                </a:solidFill>
              </a:rPr>
              <a:t>Rehosted and replatformed apps can land on the same platform</a:t>
            </a:r>
            <a:endParaRPr lang="en-US" sz="1400" dirty="0"/>
          </a:p>
        </p:txBody>
      </p:sp>
      <p:sp>
        <p:nvSpPr>
          <p:cNvPr id="14" name="Litmus">
            <a:extLst>
              <a:ext uri="{C183D7F6-B498-43B3-948B-1728B52AA6E4}">
                <adec:decorative xmlns:adec="http://schemas.microsoft.com/office/drawing/2017/decorative" val="1"/>
              </a:ext>
            </a:extLst>
          </p:cNvPr>
          <p:cNvSpPr/>
          <p:nvPr/>
        </p:nvSpPr>
        <p:spPr>
          <a:xfrm>
            <a:off x="548640" y="4389120"/>
            <a:ext cx="11109960" cy="822960"/>
          </a:xfrm>
          <a:prstGeom prst="roundRect">
            <a:avLst>
              <a:gd name="adj" fmla="val 8889"/>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5" name="Icon FaLock">
            <a:extLst>
              <a:ext uri="{C183D7F6-B498-43B3-948B-1728B52AA6E4}">
                <adec:decorative xmlns:adec="http://schemas.microsoft.com/office/drawing/2017/decorative" val="1"/>
              </a:ext>
            </a:extLst>
          </p:cNvPr>
          <p:cNvSpPr/>
          <p:nvPr/>
        </p:nvSpPr>
        <p:spPr>
          <a:xfrm>
            <a:off x="777240" y="4434840"/>
            <a:ext cx="731520" cy="731520"/>
          </a:xfrm>
          <a:prstGeom prst="ellipse">
            <a:avLst/>
          </a:prstGeom>
          <a:solidFill>
            <a:srgbClr val="B45309"/>
          </a:solidFill>
          <a:ln w="12700">
            <a:solidFill>
              <a:srgbClr val="B45309"/>
            </a:solidFill>
            <a:prstDash val="solid"/>
          </a:ln>
        </p:spPr>
      </p:sp>
      <p:pic>
        <p:nvPicPr>
          <p:cNvPr id="1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610405"/>
            <a:ext cx="380390" cy="380390"/>
          </a:xfrm>
          <a:prstGeom prst="rect">
            <a:avLst/>
          </a:prstGeom>
        </p:spPr>
      </p:pic>
      <p:sp>
        <p:nvSpPr>
          <p:cNvPr id="17" name="Litmus text"/>
          <p:cNvSpPr txBox="1"/>
          <p:nvPr/>
        </p:nvSpPr>
        <p:spPr>
          <a:xfrm>
            <a:off x="1737360" y="4434840"/>
            <a:ext cx="9738360" cy="731520"/>
          </a:xfrm>
          <a:prstGeom prst="rect">
            <a:avLst/>
          </a:prstGeom>
          <a:noFill/>
          <a:ln/>
        </p:spPr>
        <p:txBody>
          <a:bodyPr wrap="square" lIns="0" tIns="0" rIns="0" bIns="0" rtlCol="0" anchor="ctr"/>
          <a:lstStyle/>
          <a:p>
            <a:pPr marL="0" indent="0">
              <a:buNone/>
            </a:pPr>
            <a:r>
              <a:rPr lang="en-US" sz="1650" b="1" dirty="0">
                <a:solidFill>
                  <a:srgbClr val="B45309"/>
                </a:solidFill>
              </a:rPr>
              <a:t>Twelve-factor's litmus test: </a:t>
            </a:r>
            <a:r>
              <a:rPr lang="en-US" sz="1650" dirty="0">
                <a:solidFill>
                  <a:schemeClr val="tx2"/>
                </a:solidFill>
              </a:rPr>
              <a:t>could the code base be made open source at any moment without compromising any credentials?</a:t>
            </a:r>
            <a:endParaRPr lang="en-US" sz="1650" dirty="0"/>
          </a:p>
        </p:txBody>
      </p:sp>
      <p:sp>
        <p:nvSpPr>
          <p:cNvPr id="18"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OpenAPI 3.2.1 §2.1; Azure Architecture Center, Backends for Frontends pattern; The Twelve-Factor App, III. Config; OCI; Kubernetes releases; Book 17, Ch 06. Book 18,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19" name="Narration" descr="Narration for this slide; captions available">
            <a:hlinkClick r:id="" action="ppaction://media"/>
            <a:extLst>
              <a:ext uri="{FF2B5EF4-FFF2-40B4-BE49-F238E27FC236}">
                <a16:creationId xmlns:a16="http://schemas.microsoft.com/office/drawing/2014/main" id="{763002AF-3AD2-8C67-F656-92FCFF215FE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89F41A4-2A20-41CA-9B3E-4715ACEEB877}"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940"/>
    </mc:Choice>
    <mc:Fallback>
      <p:transition spd="slow" advTm="379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936"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strangler fig, and the NIST security references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Four stages left to right, each a card. Stage 1, amber: introduce the façade; clients call the façade, which sends most requests to the legacy application. Stage 2, amber: move functions; each function moves to a new service behind the same contract, and an anti-corruption layer translates between old and new. Stage 3, green: decommission the legacy application; all requests go to the new services and the legacy data is removed only after validation. Stage 4, blue: remove the façade or keep it as an adapter; clients call the new services directly. A red note under stage 2 reads: rollback stays possible until the legacy objects are removed."/>
          <p:cNvPicPr>
            <a:picLocks noChangeAspect="1"/>
          </p:cNvPicPr>
          <p:nvPr/>
        </p:nvPicPr>
        <p:blipFill>
          <a:blip r:embed="rId5"/>
          <a:stretch>
            <a:fillRect/>
          </a:stretch>
        </p:blipFill>
        <p:spPr>
          <a:xfrm>
            <a:off x="2073503" y="1325880"/>
            <a:ext cx="8060233" cy="2103120"/>
          </a:xfrm>
          <a:prstGeom prst="rect">
            <a:avLst/>
          </a:prstGeom>
        </p:spPr>
      </p:pic>
      <p:sp>
        <p:nvSpPr>
          <p:cNvPr id="6" name="Feasible">
            <a:extLst>
              <a:ext uri="{C183D7F6-B498-43B3-948B-1728B52AA6E4}">
                <adec:decorative xmlns:adec="http://schemas.microsoft.com/office/drawing/2017/decorative" val="1"/>
              </a:ext>
            </a:extLst>
          </p:cNvPr>
          <p:cNvSpPr/>
          <p:nvPr/>
        </p:nvSpPr>
        <p:spPr>
          <a:xfrm>
            <a:off x="548640" y="3611880"/>
            <a:ext cx="5477256" cy="2331720"/>
          </a:xfrm>
          <a:prstGeom prst="roundRect">
            <a:avLst>
              <a:gd name="adj" fmla="val 3137"/>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7" name="Feasible head"/>
          <p:cNvSpPr txBox="1"/>
          <p:nvPr/>
        </p:nvSpPr>
        <p:spPr>
          <a:xfrm>
            <a:off x="731520" y="3721608"/>
            <a:ext cx="5111496" cy="310896"/>
          </a:xfrm>
          <a:prstGeom prst="rect">
            <a:avLst/>
          </a:prstGeom>
          <a:noFill/>
          <a:ln/>
        </p:spPr>
        <p:txBody>
          <a:bodyPr wrap="square" lIns="0" tIns="0" rIns="0" bIns="0" rtlCol="0" anchor="t"/>
          <a:lstStyle/>
          <a:p>
            <a:pPr marL="0" indent="0">
              <a:buNone/>
            </a:pPr>
            <a:r>
              <a:rPr lang="en-US" sz="1100" b="1" dirty="0">
                <a:solidFill>
                  <a:srgbClr val="64748B"/>
                </a:solidFill>
              </a:rPr>
              <a:t>FEASIBILITY QUESTIONS FOR RULE 7'S DEEP STUDY</a:t>
            </a:r>
            <a:endParaRPr lang="en-US" sz="1400" dirty="0"/>
          </a:p>
        </p:txBody>
      </p:sp>
      <p:sp>
        <p:nvSpPr>
          <p:cNvPr id="8" name="Feasible list"/>
          <p:cNvSpPr txBox="1"/>
          <p:nvPr/>
        </p:nvSpPr>
        <p:spPr>
          <a:xfrm>
            <a:off x="731520" y="4050792"/>
            <a:ext cx="5157216" cy="181965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Requests must be interceptable, at a façade or another integration point</a:t>
            </a:r>
            <a:endParaRPr lang="en-US" sz="1400" dirty="0"/>
          </a:p>
          <a:p>
            <a:pPr marL="342900" indent="-342900">
              <a:spcAft>
                <a:spcPts val="400"/>
              </a:spcAft>
              <a:buSzPct val="100000"/>
              <a:buChar char="•"/>
            </a:pPr>
            <a:r>
              <a:rPr lang="en-US" sz="1250" dirty="0">
                <a:solidFill>
                  <a:schemeClr val="tx2"/>
                </a:solidFill>
              </a:rPr>
              <a:t>Shared data: extract a domain, sync by CDC, validate, then switch the system of record</a:t>
            </a:r>
            <a:endParaRPr lang="en-US" sz="1400" dirty="0"/>
          </a:p>
          <a:p>
            <a:pPr marL="342900" indent="-342900">
              <a:spcAft>
                <a:spcPts val="400"/>
              </a:spcAft>
              <a:buSzPct val="100000"/>
              <a:buChar char="•"/>
            </a:pPr>
            <a:r>
              <a:rPr lang="en-US" sz="1250" dirty="0">
                <a:solidFill>
                  <a:schemeClr val="tx2"/>
                </a:solidFill>
              </a:rPr>
              <a:t>Anti-corruption layer for cross-calls; the façade can't become the bottleneck</a:t>
            </a:r>
            <a:endParaRPr lang="en-US" sz="1400" dirty="0"/>
          </a:p>
          <a:p>
            <a:pPr marL="342900" indent="-342900">
              <a:spcAft>
                <a:spcPts val="400"/>
              </a:spcAft>
              <a:buSzPct val="100000"/>
              <a:buChar char="•"/>
            </a:pPr>
            <a:r>
              <a:rPr lang="en-US" sz="1250" dirty="0">
                <a:solidFill>
                  <a:schemeClr val="tx2"/>
                </a:solidFill>
              </a:rPr>
              <a:t>Rollback ends when the legacy tables and procedures are removed</a:t>
            </a:r>
            <a:endParaRPr lang="en-US" sz="1400" dirty="0"/>
          </a:p>
        </p:txBody>
      </p:sp>
      <p:sp>
        <p:nvSpPr>
          <p:cNvPr id="9" name="NIST">
            <a:extLst>
              <a:ext uri="{C183D7F6-B498-43B3-948B-1728B52AA6E4}">
                <adec:decorative xmlns:adec="http://schemas.microsoft.com/office/drawing/2017/decorative" val="1"/>
              </a:ext>
            </a:extLst>
          </p:cNvPr>
          <p:cNvSpPr/>
          <p:nvPr/>
        </p:nvSpPr>
        <p:spPr>
          <a:xfrm>
            <a:off x="6181344" y="3611880"/>
            <a:ext cx="5477256" cy="2148840"/>
          </a:xfrm>
          <a:prstGeom prst="roundRect">
            <a:avLst>
              <a:gd name="adj" fmla="val 3404"/>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10" name="NIST head"/>
          <p:cNvSpPr txBox="1"/>
          <p:nvPr/>
        </p:nvSpPr>
        <p:spPr>
          <a:xfrm>
            <a:off x="6364224" y="3721608"/>
            <a:ext cx="5111496" cy="310896"/>
          </a:xfrm>
          <a:prstGeom prst="rect">
            <a:avLst/>
          </a:prstGeom>
          <a:noFill/>
          <a:ln/>
        </p:spPr>
        <p:txBody>
          <a:bodyPr wrap="square" lIns="0" tIns="0" rIns="0" bIns="0" rtlCol="0" anchor="t"/>
          <a:lstStyle/>
          <a:p>
            <a:pPr marL="0" indent="0">
              <a:buNone/>
            </a:pPr>
            <a:r>
              <a:rPr lang="en-US" sz="1100" b="1" dirty="0">
                <a:solidFill>
                  <a:srgbClr val="64748B"/>
                </a:solidFill>
              </a:rPr>
              <a:t>NIST REFERENCES: GUIDANCE, NOT REQUIREMENTS</a:t>
            </a:r>
            <a:endParaRPr lang="en-US" sz="1400" dirty="0"/>
          </a:p>
        </p:txBody>
      </p:sp>
      <p:sp>
        <p:nvSpPr>
          <p:cNvPr id="11" name="NIST list"/>
          <p:cNvSpPr txBox="1"/>
          <p:nvPr/>
        </p:nvSpPr>
        <p:spPr>
          <a:xfrm>
            <a:off x="6364224" y="4050792"/>
            <a:ext cx="5157216" cy="16367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SP 800-204 (2019): microservices; the gateway, service authentication</a:t>
            </a:r>
            <a:endParaRPr lang="en-US" sz="1400" dirty="0"/>
          </a:p>
          <a:p>
            <a:pPr marL="342900" indent="-342900">
              <a:spcAft>
                <a:spcPts val="400"/>
              </a:spcAft>
              <a:buSzPct val="100000"/>
              <a:buChar char="•"/>
            </a:pPr>
            <a:r>
              <a:rPr lang="en-US" sz="1250" dirty="0">
                <a:solidFill>
                  <a:schemeClr val="tx2"/>
                </a:solidFill>
              </a:rPr>
              <a:t>800-204A to D: service mesh, ABAC, DevSecOps, supply chain in CI/CD</a:t>
            </a:r>
            <a:endParaRPr lang="en-US" sz="1400" dirty="0"/>
          </a:p>
          <a:p>
            <a:pPr marL="342900" indent="-342900">
              <a:spcAft>
                <a:spcPts val="400"/>
              </a:spcAft>
              <a:buSzPct val="100000"/>
              <a:buChar char="•"/>
            </a:pPr>
            <a:r>
              <a:rPr lang="en-US" sz="1250" dirty="0">
                <a:solidFill>
                  <a:schemeClr val="tx2"/>
                </a:solidFill>
              </a:rPr>
              <a:t>SP 800-190 (2017): images, registries, orchestrators, containers, hosts</a:t>
            </a:r>
            <a:endParaRPr lang="en-US" sz="1400" dirty="0"/>
          </a:p>
          <a:p>
            <a:pPr marL="342900" indent="-342900">
              <a:spcAft>
                <a:spcPts val="400"/>
              </a:spcAft>
              <a:buSzPct val="100000"/>
              <a:buChar char="•"/>
            </a:pPr>
            <a:r>
              <a:rPr lang="en-US" sz="1250" dirty="0">
                <a:solidFill>
                  <a:schemeClr val="tx2"/>
                </a:solidFill>
              </a:rPr>
              <a:t>No newer revision or draft of either as of October 2026</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Fowler, "Strangler Fig" (2024); Azure Architecture Center, Strangler Fig pattern; NIST SP 800-204, 800-204A–D, SP 800-190 and their CSRC pages. Book 18,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2164C046-A8ED-0FCE-ACF6-13E5E8D7725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D1B1DD2-4F47-44BC-88A0-6FBAAF5E6C2B}"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600"/>
    </mc:Choice>
    <mc:Fallback>
      <p:transition spd="slow" advTm="376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600"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Moving the data: convert, move, prove, then cut over</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A top-to-bottom flow. A slate card at the top: the source database, DB2 or Oracle, with tables, stored procedures, packages and sequences. A blue arrow leads to a blue card, Convert the schema: type mapping, sequences and identity, procedures and packages, using a conversion tool and then human review. Next a blue card, Move the rows: a full load, then change data capture or delta loads while both systems run. Next a violet card, Prove the result, with three items: row counts per table, an order-independent checksum over canonicalized rows, and an independent aggregate reconciliation. An amber card, Cut-over decision, follows, offering big-bang, phased or parallel run. A green card at the bottom: the target, PostgreSQL or SQL Server, as the system of record. A dashed red arrow from Prove the result back to Convert the schema is labeled any mismatch: fix and rerun."/>
          <p:cNvPicPr>
            <a:picLocks noChangeAspect="1"/>
          </p:cNvPicPr>
          <p:nvPr/>
        </p:nvPicPr>
        <p:blipFill>
          <a:blip r:embed="rId5"/>
          <a:stretch>
            <a:fillRect/>
          </a:stretch>
        </p:blipFill>
        <p:spPr>
          <a:xfrm>
            <a:off x="557062" y="1371600"/>
            <a:ext cx="5240956" cy="4526280"/>
          </a:xfrm>
          <a:prstGeom prst="rect">
            <a:avLst/>
          </a:prstGeom>
        </p:spPr>
      </p:pic>
      <p:graphicFrame>
        <p:nvGraphicFramePr>
          <p:cNvPr id="15" name="Engine"/>
          <p:cNvGraphicFramePr>
            <a:graphicFrameLocks noGrp="1"/>
          </p:cNvGraphicFramePr>
          <p:nvPr>
            <p:extLst>
              <p:ext uri="{D42A27DB-BD31-4B8C-83A1-F6EECF244321}">
                <p14:modId xmlns:p14="http://schemas.microsoft.com/office/powerpoint/2010/main" val="1579011935"/>
              </p:ext>
            </p:extLst>
          </p:nvPr>
        </p:nvGraphicFramePr>
        <p:xfrm>
          <a:off x="5943600" y="1371600"/>
          <a:ext cx="5715000" cy="2761488"/>
        </p:xfrm>
        <a:graphic>
          <a:graphicData uri="http://schemas.openxmlformats.org/drawingml/2006/table">
            <a:tbl>
              <a:tblPr firstRow="1" bandRow="1"/>
              <a:tblGrid>
                <a:gridCol w="141732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Factor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PostgreSQL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SQL Server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65836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Current, Oct. 2026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18 (Sept. 25, 2025), supported to Nov. 14, 2030; 19 at release candidate 1</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SQL Server 2025, 2022 and 2019 as migration targets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836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Support model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Five years per major; 14 gets no fixes after Nov. 12, 2026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Microsoft's product lifecycle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5836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Typical fit (design)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Oracle PL/SQL that converts well; open-source standardization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An established SQL Server estate; Microsoft tooling preferred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Identity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Engine and platform specific</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Book 06 applies in full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Tools">
            <a:extLst>
              <a:ext uri="{C183D7F6-B498-43B3-948B-1728B52AA6E4}">
                <adec:decorative xmlns:adec="http://schemas.microsoft.com/office/drawing/2017/decorative" val="1"/>
              </a:ext>
            </a:extLst>
          </p:cNvPr>
          <p:cNvSpPr/>
          <p:nvPr/>
        </p:nvSpPr>
        <p:spPr>
          <a:xfrm>
            <a:off x="5943600" y="4315968"/>
            <a:ext cx="5715000" cy="1508760"/>
          </a:xfrm>
          <a:prstGeom prst="roundRect">
            <a:avLst>
              <a:gd name="adj" fmla="val 4848"/>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8" name="Tools head"/>
          <p:cNvSpPr txBox="1"/>
          <p:nvPr/>
        </p:nvSpPr>
        <p:spPr>
          <a:xfrm>
            <a:off x="6126480" y="4425696"/>
            <a:ext cx="5349240" cy="310896"/>
          </a:xfrm>
          <a:prstGeom prst="rect">
            <a:avLst/>
          </a:prstGeom>
          <a:noFill/>
          <a:ln/>
        </p:spPr>
        <p:txBody>
          <a:bodyPr wrap="square" lIns="0" tIns="0" rIns="0" bIns="0" rtlCol="0" anchor="t"/>
          <a:lstStyle/>
          <a:p>
            <a:pPr marL="0" indent="0">
              <a:buNone/>
            </a:pPr>
            <a:r>
              <a:rPr lang="en-US" sz="1100" b="1" dirty="0">
                <a:solidFill>
                  <a:srgbClr val="64748B"/>
                </a:solidFill>
              </a:rPr>
              <a:t>THE ENGINE ALSO CHOOSES THE TOOLS</a:t>
            </a:r>
            <a:endParaRPr lang="en-US" sz="1400" dirty="0"/>
          </a:p>
        </p:txBody>
      </p:sp>
      <p:sp>
        <p:nvSpPr>
          <p:cNvPr id="9" name="Tools list"/>
          <p:cNvSpPr txBox="1"/>
          <p:nvPr/>
        </p:nvSpPr>
        <p:spPr>
          <a:xfrm>
            <a:off x="6126480" y="4754880"/>
            <a:ext cx="5394960" cy="9966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No single conversion tool covers every source and target pair</a:t>
            </a:r>
            <a:endParaRPr lang="en-US" sz="1400" dirty="0"/>
          </a:p>
          <a:p>
            <a:pPr marL="342900" indent="-342900">
              <a:spcAft>
                <a:spcPts val="400"/>
              </a:spcAft>
              <a:buSzPct val="100000"/>
              <a:buChar char="•"/>
            </a:pPr>
            <a:r>
              <a:rPr lang="en-US" sz="1300" dirty="0">
                <a:solidFill>
                  <a:schemeClr val="tx2"/>
                </a:solidFill>
              </a:rPr>
              <a:t>On SQL Server, arrive on Book 06's Entra connection pattern, not a SQL login</a:t>
            </a:r>
            <a:endParaRPr lang="en-US" sz="14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PostgreSQL versioning policy and home page; Microsoft Learn, SQL Server Migration Assistant; Book 06, Ch 12 and 19. Book 18,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6" name="Narration" descr="Narration for this slide; captions available">
            <a:hlinkClick r:id="" action="ppaction://media"/>
            <a:extLst>
              <a:ext uri="{FF2B5EF4-FFF2-40B4-BE49-F238E27FC236}">
                <a16:creationId xmlns:a16="http://schemas.microsoft.com/office/drawing/2014/main" id="{BD0D2569-CD01-DAEE-2D62-20C720CD89E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5E85DA4-2360-4964-A6E1-348F9E6EEC89}"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920"/>
    </mc:Choice>
    <mc:Fallback>
      <p:transition spd="slow" advTm="359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920"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Schema conversion: the dangerous conversions succeed</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6" name="Types"/>
          <p:cNvGraphicFramePr>
            <a:graphicFrameLocks noGrp="1"/>
          </p:cNvGraphicFramePr>
          <p:nvPr>
            <p:extLst>
              <p:ext uri="{D42A27DB-BD31-4B8C-83A1-F6EECF244321}">
                <p14:modId xmlns:p14="http://schemas.microsoft.com/office/powerpoint/2010/main" val="1579011935"/>
              </p:ext>
            </p:extLst>
          </p:nvPr>
        </p:nvGraphicFramePr>
        <p:xfrm>
          <a:off x="548640" y="1371600"/>
          <a:ext cx="6858000" cy="2955036"/>
        </p:xfrm>
        <a:graphic>
          <a:graphicData uri="http://schemas.openxmlformats.org/drawingml/2006/table">
            <a:tbl>
              <a:tblPr firstRow="1" bandRow="1"/>
              <a:tblGrid>
                <a:gridCol w="2971800">
                  <a:extLst>
                    <a:ext uri="{9D8B030D-6E8A-4147-A177-3AD203B41FA5}">
                      <a16:colId xmlns:a16="http://schemas.microsoft.com/office/drawing/2014/main" val="20000"/>
                    </a:ext>
                  </a:extLst>
                </a:gridCol>
                <a:gridCol w="3886200">
                  <a:extLst>
                    <a:ext uri="{9D8B030D-6E8A-4147-A177-3AD203B41FA5}">
                      <a16:colId xmlns:a16="http://schemas.microsoft.com/office/drawing/2014/main" val="20001"/>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Source behavior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Why it matters on the target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681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Oracle DATE holds a time of day, with no fractional seconds or time zone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PostgreSQL date drops the time; the faithful map is timestamp(0) without time zone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Oracle NUMBER(p,s): precision 1 to 38, scale −84 to 127</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Floating point loses exactness; money and counts need an exact numeric type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Oracle treats a zero-length string as null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PostgreSQL and SQL Server don't, so IS NULL can return different rows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Collation decides sort order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non-"C" PostgreSQL key collation sorts differently, and AWS DMS row validation fails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Sequences generate key values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Neither engine is gapless; advance each sequence past the highest key before the first insert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Packages">
            <a:extLst>
              <a:ext uri="{C183D7F6-B498-43B3-948B-1728B52AA6E4}">
                <adec:decorative xmlns:adec="http://schemas.microsoft.com/office/drawing/2017/decorative" val="1"/>
              </a:ext>
            </a:extLst>
          </p:cNvPr>
          <p:cNvSpPr/>
          <p:nvPr/>
        </p:nvSpPr>
        <p:spPr>
          <a:xfrm>
            <a:off x="7635240" y="1371600"/>
            <a:ext cx="4023360" cy="2834640"/>
          </a:xfrm>
          <a:prstGeom prst="roundRect">
            <a:avLst>
              <a:gd name="adj" fmla="val 2581"/>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7" name="Packages head"/>
          <p:cNvSpPr txBox="1"/>
          <p:nvPr/>
        </p:nvSpPr>
        <p:spPr>
          <a:xfrm>
            <a:off x="7818120" y="1481328"/>
            <a:ext cx="3657600" cy="310896"/>
          </a:xfrm>
          <a:prstGeom prst="rect">
            <a:avLst/>
          </a:prstGeom>
          <a:noFill/>
          <a:ln/>
        </p:spPr>
        <p:txBody>
          <a:bodyPr wrap="square" lIns="0" tIns="0" rIns="0" bIns="0" rtlCol="0" anchor="t"/>
          <a:lstStyle/>
          <a:p>
            <a:pPr marL="0" indent="0">
              <a:buNone/>
            </a:pPr>
            <a:r>
              <a:rPr lang="en-US" sz="1100" b="1" dirty="0">
                <a:solidFill>
                  <a:srgbClr val="64748B"/>
                </a:solidFill>
              </a:rPr>
              <a:t>PROCEDURES AND PACKAGES</a:t>
            </a:r>
            <a:endParaRPr lang="en-US" sz="1400" dirty="0"/>
          </a:p>
        </p:txBody>
      </p:sp>
      <p:sp>
        <p:nvSpPr>
          <p:cNvPr id="8" name="Packages list"/>
          <p:cNvSpPr txBox="1"/>
          <p:nvPr/>
        </p:nvSpPr>
        <p:spPr>
          <a:xfrm>
            <a:off x="7818120" y="1810512"/>
            <a:ext cx="3703320" cy="23225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PostgreSQL has no package object; tools emulate it</a:t>
            </a:r>
            <a:endParaRPr lang="en-US" sz="1400" dirty="0"/>
          </a:p>
          <a:p>
            <a:pPr marL="342900" indent="-342900">
              <a:spcAft>
                <a:spcPts val="400"/>
              </a:spcAft>
              <a:buSzPct val="100000"/>
              <a:buChar char="•"/>
            </a:pPr>
            <a:r>
              <a:rPr lang="en-US" sz="1300" dirty="0">
                <a:solidFill>
                  <a:schemeClr val="tx2"/>
                </a:solidFill>
              </a:rPr>
              <a:t>AWS: members become package$member functions; state in aws_oracle_ext</a:t>
            </a:r>
            <a:endParaRPr lang="en-US" sz="1400" dirty="0"/>
          </a:p>
          <a:p>
            <a:pPr marL="342900" indent="-342900">
              <a:spcAft>
                <a:spcPts val="400"/>
              </a:spcAft>
              <a:buSzPct val="100000"/>
              <a:buChar char="•"/>
            </a:pPr>
            <a:r>
              <a:rPr lang="en-US" sz="1300" dirty="0">
                <a:solidFill>
                  <a:schemeClr val="tx2"/>
                </a:solidFill>
              </a:rPr>
              <a:t>SSMA adds a schema of emulation functions</a:t>
            </a:r>
            <a:endParaRPr lang="en-US" sz="1400" dirty="0"/>
          </a:p>
          <a:p>
            <a:pPr marL="342900" indent="-342900">
              <a:spcAft>
                <a:spcPts val="400"/>
              </a:spcAft>
              <a:buSzPct val="100000"/>
              <a:buChar char="•"/>
            </a:pPr>
            <a:r>
              <a:rPr lang="en-US" sz="1300" dirty="0">
                <a:solidFill>
                  <a:schemeClr val="tx2"/>
                </a:solidFill>
              </a:rPr>
              <a:t>Design: every emulation call is technical debt, paid down in the refactor</a:t>
            </a:r>
            <a:endParaRPr lang="en-US" sz="1400" dirty="0"/>
          </a:p>
          <a:p>
            <a:pPr marL="342900" indent="-342900">
              <a:spcAft>
                <a:spcPts val="400"/>
              </a:spcAft>
              <a:buSzPct val="100000"/>
              <a:buChar char="•"/>
            </a:pPr>
            <a:r>
              <a:rPr lang="en-US" sz="1300" dirty="0">
                <a:solidFill>
                  <a:schemeClr val="tx2"/>
                </a:solidFill>
              </a:rPr>
              <a:t>A gapless legal number needs its own counter</a:t>
            </a:r>
            <a:endParaRPr lang="en-US" sz="14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Oracle SQL Reference 23ai; PostgreSQL 18 docs; Microsoft Learn, Sequence numbers; AWS DMS validation; AWS SCT extension packs; SSMA for Db2. Book 18,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A69225DA-4321-46D3-A99F-E1F21AE701A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3E4C510-B396-4A18-920B-B28D33C5265A}"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530"/>
    </mc:Choice>
    <mc:Fallback>
      <p:transition spd="slow" advTm="375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52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conversion tools as of October 2026</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7" name="Tools"/>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2871216"/>
        </p:xfrm>
        <a:graphic>
          <a:graphicData uri="http://schemas.openxmlformats.org/drawingml/2006/table">
            <a:tbl>
              <a:tblPr firstRow="1" bandRow="1"/>
              <a:tblGrid>
                <a:gridCol w="2331720">
                  <a:extLst>
                    <a:ext uri="{9D8B030D-6E8A-4147-A177-3AD203B41FA5}">
                      <a16:colId xmlns:a16="http://schemas.microsoft.com/office/drawing/2014/main" val="20000"/>
                    </a:ext>
                  </a:extLst>
                </a:gridCol>
                <a:gridCol w="315468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gridCol w="3108960">
                  <a:extLst>
                    <a:ext uri="{9D8B030D-6E8A-4147-A177-3AD203B41FA5}">
                      <a16:colId xmlns:a16="http://schemas.microsoft.com/office/drawing/2014/main" val="20003"/>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Tool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Sources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Targets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Notes as of October 2026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AWS Schema Conversion Tool (desktop)</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Oracle 10.1+; Db2 LUW 9.1 to 11.5; Db2 for z/OS 12; SQL Server; others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PostgreSQL and Aurora PostgreSQL, MySQL and others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AWS states it is FedRAMP compliant; no end-of-support notice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AWS DMS Schema Conversion (managed)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Oracle; Db2 LUW; Db2 for z/OS (API and CLI only); SQL Server; SAP ASE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Aurora or RDS for PostgreSQL (some MySQL, Redshift)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Generative AI conversion on PostgreSQL paths; no GovCloud (US) Region listed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5836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SSMA for Db2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Db2 z/OS 9.0+, Db2 LUW 9.8+, Db2 for i 7.1+</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SQL Server 2019 to 2025; Azure SQL Database and Managed Instance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Current release v10.6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SSMA for Oracle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Oracle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Same targets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v10.6; Copilot GA since v10.4; generated code must be reviewed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Ora2Pg (open source, GPL v3)</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Oracle; MySQL and MariaDB; SQL Server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PostgreSQL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25.0 (Apr. 20, 2025); cost assessment; no DB2 source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Plan">
            <a:extLst>
              <a:ext uri="{C183D7F6-B498-43B3-948B-1728B52AA6E4}">
                <adec:decorative xmlns:adec="http://schemas.microsoft.com/office/drawing/2017/decorative" val="1"/>
              </a:ext>
            </a:extLst>
          </p:cNvPr>
          <p:cNvSpPr/>
          <p:nvPr/>
        </p:nvSpPr>
        <p:spPr>
          <a:xfrm>
            <a:off x="548640" y="4425696"/>
            <a:ext cx="11109960" cy="822960"/>
          </a:xfrm>
          <a:prstGeom prst="roundRect">
            <a:avLst>
              <a:gd name="adj" fmla="val 8889"/>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7" name="Icon FaTableList">
            <a:extLst>
              <a:ext uri="{C183D7F6-B498-43B3-948B-1728B52AA6E4}">
                <adec:decorative xmlns:adec="http://schemas.microsoft.com/office/drawing/2017/decorative" val="1"/>
              </a:ext>
            </a:extLst>
          </p:cNvPr>
          <p:cNvSpPr/>
          <p:nvPr/>
        </p:nvSpPr>
        <p:spPr>
          <a:xfrm>
            <a:off x="777240" y="4471416"/>
            <a:ext cx="731520" cy="731520"/>
          </a:xfrm>
          <a:prstGeom prst="ellipse">
            <a:avLst/>
          </a:prstGeom>
          <a:solidFill>
            <a:srgbClr val="1F2A44"/>
          </a:solidFill>
          <a:ln w="12700">
            <a:solidFill>
              <a:srgbClr val="1F2A44"/>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646981"/>
            <a:ext cx="380390" cy="380390"/>
          </a:xfrm>
          <a:prstGeom prst="rect">
            <a:avLst/>
          </a:prstGeom>
        </p:spPr>
      </p:pic>
      <p:sp>
        <p:nvSpPr>
          <p:cNvPr id="9" name="Plan text"/>
          <p:cNvSpPr txBox="1"/>
          <p:nvPr/>
        </p:nvSpPr>
        <p:spPr>
          <a:xfrm>
            <a:off x="1737360" y="4471416"/>
            <a:ext cx="9738360" cy="731520"/>
          </a:xfrm>
          <a:prstGeom prst="rect">
            <a:avLst/>
          </a:prstGeom>
          <a:noFill/>
          <a:ln/>
        </p:spPr>
        <p:txBody>
          <a:bodyPr wrap="square" lIns="0" tIns="0" rIns="0" bIns="0" rtlCol="0" anchor="ctr"/>
          <a:lstStyle/>
          <a:p>
            <a:pPr marL="0" indent="0">
              <a:buNone/>
            </a:pPr>
            <a:r>
              <a:rPr lang="en-US" sz="1650" b="1" dirty="0">
                <a:solidFill>
                  <a:srgbClr val="1F2A44"/>
                </a:solidFill>
              </a:rPr>
              <a:t>Three planning facts: </a:t>
            </a:r>
            <a:r>
              <a:rPr lang="en-US" sz="1650" dirty="0">
                <a:solidFill>
                  <a:schemeClr val="tx2"/>
                </a:solidFill>
              </a:rPr>
              <a:t>only AWS's tools convert DB2 to PostgreSQL; SSMA targets only SQL Server and Azure SQL; AI conversion puts the model endpoint in the boundary.</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AWS SCT user guide; AWS DMS Schema Conversion; Microsoft Learn: SSMA, SSMA for Db2 and for Oracle, Copilot in SSMA; Ora2Pg features and releases. Book 18,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34D24B25-0D19-96D3-DD65-C3488CA1ED6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C6DBC1F-B9CA-41FE-9CDC-C83E81BB1B7D}"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890"/>
    </mc:Choice>
    <mc:Fallback>
      <p:transition spd="slow" advTm="378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88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Proving nothing was lost: three checks, three blind spots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8" name="Checks"/>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1828800"/>
        </p:xfrm>
        <a:graphic>
          <a:graphicData uri="http://schemas.openxmlformats.org/drawingml/2006/table">
            <a:tbl>
              <a:tblPr firstRow="1" bandRow="1"/>
              <a:tblGrid>
                <a:gridCol w="288036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310896">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Check</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What it catches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What it can miss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Row counts per table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Missing or duplicated rows; tables skipped entirely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Rows that arrived with wrong values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Order-independent checksum over canonicalized rows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Any value that differs after canonical formatting, whatever the sort order or collation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Errors in the transform itself, if computed after it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Independent aggregate reconciliation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Business-level differences: totals of amounts, counts per status code, each side in its own SQL</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Offsetting errors that cancel out in an aggregate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Date">
            <a:extLst>
              <a:ext uri="{C183D7F6-B498-43B3-948B-1728B52AA6E4}">
                <adec:decorative xmlns:adec="http://schemas.microsoft.com/office/drawing/2017/decorative" val="1"/>
              </a:ext>
            </a:extLst>
          </p:cNvPr>
          <p:cNvSpPr/>
          <p:nvPr/>
        </p:nvSpPr>
        <p:spPr>
          <a:xfrm>
            <a:off x="548640" y="3383280"/>
            <a:ext cx="5477256" cy="1737360"/>
          </a:xfrm>
          <a:prstGeom prst="roundRect">
            <a:avLst>
              <a:gd name="adj" fmla="val 4211"/>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7" name="Date head"/>
          <p:cNvSpPr txBox="1"/>
          <p:nvPr/>
        </p:nvSpPr>
        <p:spPr>
          <a:xfrm>
            <a:off x="731520" y="3493008"/>
            <a:ext cx="5111496" cy="310896"/>
          </a:xfrm>
          <a:prstGeom prst="rect">
            <a:avLst/>
          </a:prstGeom>
          <a:noFill/>
          <a:ln/>
        </p:spPr>
        <p:txBody>
          <a:bodyPr wrap="square" lIns="0" tIns="0" rIns="0" bIns="0" rtlCol="0" anchor="t"/>
          <a:lstStyle/>
          <a:p>
            <a:pPr marL="0" indent="0">
              <a:buNone/>
            </a:pPr>
            <a:r>
              <a:rPr lang="en-US" sz="1100" b="1" dirty="0">
                <a:solidFill>
                  <a:srgbClr val="64748B"/>
                </a:solidFill>
              </a:rPr>
              <a:t>WHY THE THIRD CHECK EXISTS</a:t>
            </a:r>
            <a:endParaRPr lang="en-US" sz="1400" dirty="0"/>
          </a:p>
        </p:txBody>
      </p:sp>
      <p:sp>
        <p:nvSpPr>
          <p:cNvPr id="8" name="Date list"/>
          <p:cNvSpPr txBox="1"/>
          <p:nvPr/>
        </p:nvSpPr>
        <p:spPr>
          <a:xfrm>
            <a:off x="731520" y="3822192"/>
            <a:ext cx="5157216" cy="12252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Map Oracle DATE to a date-only type and a post-transform checksum agrees perfectly, and both are wrong</a:t>
            </a:r>
            <a:endParaRPr lang="en-US" sz="1400" dirty="0"/>
          </a:p>
          <a:p>
            <a:pPr marL="342900" indent="-342900">
              <a:spcAft>
                <a:spcPts val="400"/>
              </a:spcAft>
              <a:buSzPct val="100000"/>
              <a:buChar char="•"/>
            </a:pPr>
            <a:r>
              <a:rPr lang="en-US" sz="1300" dirty="0">
                <a:solidFill>
                  <a:schemeClr val="tx2"/>
                </a:solidFill>
              </a:rPr>
              <a:t>An aggregate written against each database never passes through the transform</a:t>
            </a:r>
            <a:endParaRPr lang="en-US" sz="1400" dirty="0"/>
          </a:p>
          <a:p>
            <a:pPr marL="342900" indent="-342900">
              <a:spcAft>
                <a:spcPts val="400"/>
              </a:spcAft>
              <a:buSzPct val="100000"/>
              <a:buChar char="•"/>
            </a:pPr>
            <a:r>
              <a:rPr lang="en-US" sz="1300" dirty="0">
                <a:solidFill>
                  <a:schemeClr val="tx2"/>
                </a:solidFill>
              </a:rPr>
              <a:t>Pick totals the business owner recognizes</a:t>
            </a:r>
            <a:endParaRPr lang="en-US" sz="1400" dirty="0"/>
          </a:p>
        </p:txBody>
      </p:sp>
      <p:sp>
        <p:nvSpPr>
          <p:cNvPr id="9" name="DMS">
            <a:extLst>
              <a:ext uri="{C183D7F6-B498-43B3-948B-1728B52AA6E4}">
                <adec:decorative xmlns:adec="http://schemas.microsoft.com/office/drawing/2017/decorative" val="1"/>
              </a:ext>
            </a:extLst>
          </p:cNvPr>
          <p:cNvSpPr/>
          <p:nvPr/>
        </p:nvSpPr>
        <p:spPr>
          <a:xfrm>
            <a:off x="6181344" y="3383280"/>
            <a:ext cx="5477256" cy="1737360"/>
          </a:xfrm>
          <a:prstGeom prst="roundRect">
            <a:avLst>
              <a:gd name="adj" fmla="val 4211"/>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10" name="DMS head"/>
          <p:cNvSpPr txBox="1"/>
          <p:nvPr/>
        </p:nvSpPr>
        <p:spPr>
          <a:xfrm>
            <a:off x="6364224" y="3493008"/>
            <a:ext cx="5111496" cy="310896"/>
          </a:xfrm>
          <a:prstGeom prst="rect">
            <a:avLst/>
          </a:prstGeom>
          <a:noFill/>
          <a:ln/>
        </p:spPr>
        <p:txBody>
          <a:bodyPr wrap="square" lIns="0" tIns="0" rIns="0" bIns="0" rtlCol="0" anchor="t"/>
          <a:lstStyle/>
          <a:p>
            <a:pPr marL="0" indent="0">
              <a:buNone/>
            </a:pPr>
            <a:r>
              <a:rPr lang="en-US" sz="1100" b="1" dirty="0">
                <a:solidFill>
                  <a:srgbClr val="64748B"/>
                </a:solidFill>
              </a:rPr>
              <a:t>A TOOL'S ROW COMPARISON (AWS DMS)</a:t>
            </a:r>
            <a:endParaRPr lang="en-US" sz="1400" dirty="0"/>
          </a:p>
        </p:txBody>
      </p:sp>
      <p:sp>
        <p:nvSpPr>
          <p:cNvPr id="11" name="DMS list"/>
          <p:cNvSpPr txBox="1"/>
          <p:nvPr/>
        </p:nvSpPr>
        <p:spPr>
          <a:xfrm>
            <a:off x="6364224" y="3822192"/>
            <a:ext cx="5157216" cy="12252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Strong evidence for the second check; it isn't the third</a:t>
            </a:r>
            <a:endParaRPr lang="en-US" sz="1400" dirty="0"/>
          </a:p>
          <a:p>
            <a:pPr marL="342900" indent="-342900">
              <a:spcAft>
                <a:spcPts val="400"/>
              </a:spcAft>
              <a:buSzPct val="100000"/>
              <a:buChar char="•"/>
            </a:pPr>
            <a:r>
              <a:rPr lang="en-US" sz="1300" dirty="0">
                <a:solidFill>
                  <a:schemeClr val="tx2"/>
                </a:solidFill>
              </a:rPr>
              <a:t>Needs a primary key or unique index; skips views and Oracle LONG</a:t>
            </a:r>
            <a:endParaRPr lang="en-US" sz="1400" dirty="0"/>
          </a:p>
          <a:p>
            <a:pPr marL="342900" indent="-342900">
              <a:spcAft>
                <a:spcPts val="400"/>
              </a:spcAft>
              <a:buSzPct val="100000"/>
              <a:buChar char="•"/>
            </a:pPr>
            <a:r>
              <a:rPr lang="en-US" sz="1300" dirty="0">
                <a:solidFill>
                  <a:schemeClr val="tx2"/>
                </a:solidFill>
              </a:rPr>
              <a:t>Outside writes make it unreliable; it stops past 10,000 failed records</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AWS DMS user guide, Data validation (validation-only tasks, limitations); Book 18, Ch 08 (reference implementation). The three-check design is program design. Book 18,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169D77C1-279D-F917-140A-9437B77CE80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247D6B5-AF07-4C88-BC3D-00EE85CB600A}"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590"/>
    </mc:Choice>
    <mc:Fallback>
      <p:transition spd="slow" advTm="365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59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Cut-over and coexistence: one writer per table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Three amber cards side by side. Big-bang: freeze writes, run a final load, validate and switch everyone; fits small or batch systems; rollback means reverting to the frozen source. Phased: one module or table set at a time, with change data capture keeping the rest in step; fits separable domains. Parallel run: both systems live with outputs reconciled until they agree for an agreed period; fits high-consequence calculations. Arrows from all three lead to a wide violet card, One gate for every strategy: three validation results for the final state and a rehearsed rollback plan. Below it, a wide red card: never dual-write from the application; one writer per table; replicate, don't write twice."/>
          <p:cNvPicPr>
            <a:picLocks noChangeAspect="1"/>
          </p:cNvPicPr>
          <p:nvPr/>
        </p:nvPicPr>
        <p:blipFill>
          <a:blip r:embed="rId5"/>
          <a:stretch>
            <a:fillRect/>
          </a:stretch>
        </p:blipFill>
        <p:spPr>
          <a:xfrm>
            <a:off x="690637" y="1371600"/>
            <a:ext cx="6116805" cy="2240280"/>
          </a:xfrm>
          <a:prstGeom prst="rect">
            <a:avLst/>
          </a:prstGeom>
        </p:spPr>
      </p:pic>
      <p:sp>
        <p:nvSpPr>
          <p:cNvPr id="6" name="CDC">
            <a:extLst>
              <a:ext uri="{C183D7F6-B498-43B3-948B-1728B52AA6E4}">
                <adec:decorative xmlns:adec="http://schemas.microsoft.com/office/drawing/2017/decorative" val="1"/>
              </a:ext>
            </a:extLst>
          </p:cNvPr>
          <p:cNvSpPr/>
          <p:nvPr/>
        </p:nvSpPr>
        <p:spPr>
          <a:xfrm>
            <a:off x="548640" y="3794760"/>
            <a:ext cx="6400800" cy="1691640"/>
          </a:xfrm>
          <a:prstGeom prst="roundRect">
            <a:avLst>
              <a:gd name="adj" fmla="val 4324"/>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7" name="CDC head"/>
          <p:cNvSpPr txBox="1"/>
          <p:nvPr/>
        </p:nvSpPr>
        <p:spPr>
          <a:xfrm>
            <a:off x="731520" y="3904488"/>
            <a:ext cx="6035040" cy="310896"/>
          </a:xfrm>
          <a:prstGeom prst="rect">
            <a:avLst/>
          </a:prstGeom>
          <a:noFill/>
          <a:ln/>
        </p:spPr>
        <p:txBody>
          <a:bodyPr wrap="square" lIns="0" tIns="0" rIns="0" bIns="0" rtlCol="0" anchor="t"/>
          <a:lstStyle/>
          <a:p>
            <a:pPr marL="0" indent="0">
              <a:buNone/>
            </a:pPr>
            <a:r>
              <a:rPr lang="en-US" sz="1100" b="1" dirty="0">
                <a:solidFill>
                  <a:srgbClr val="64748B"/>
                </a:solidFill>
              </a:rPr>
              <a:t>CHANGE DATA CAPTURE: CAUTIONS</a:t>
            </a:r>
            <a:endParaRPr lang="en-US" sz="1400" dirty="0"/>
          </a:p>
        </p:txBody>
      </p:sp>
      <p:sp>
        <p:nvSpPr>
          <p:cNvPr id="8" name="CDC list"/>
          <p:cNvSpPr txBox="1"/>
          <p:nvPr/>
        </p:nvSpPr>
        <p:spPr>
          <a:xfrm>
            <a:off x="731520" y="4233672"/>
            <a:ext cx="6080760" cy="11795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Reads committed changes from the log: it can lag, but never applies a rejected change</a:t>
            </a:r>
            <a:endParaRPr lang="en-US" sz="1400" dirty="0"/>
          </a:p>
          <a:p>
            <a:pPr marL="342900" indent="-342900">
              <a:spcAft>
                <a:spcPts val="400"/>
              </a:spcAft>
              <a:buSzPct val="100000"/>
              <a:buChar char="•"/>
            </a:pPr>
            <a:r>
              <a:rPr lang="en-US" sz="1250" dirty="0">
                <a:solidFill>
                  <a:schemeClr val="tx2"/>
                </a:solidFill>
              </a:rPr>
              <a:t>AWS DMS: not real-time replication; no latency SLA</a:t>
            </a:r>
            <a:endParaRPr lang="en-US" sz="1400" dirty="0"/>
          </a:p>
          <a:p>
            <a:pPr marL="342900" indent="-342900">
              <a:spcAft>
                <a:spcPts val="400"/>
              </a:spcAft>
              <a:buSzPct val="100000"/>
              <a:buChar char="•"/>
            </a:pPr>
            <a:r>
              <a:rPr lang="en-US" sz="1250" dirty="0">
                <a:solidFill>
                  <a:schemeClr val="tx2"/>
                </a:solidFill>
              </a:rPr>
              <a:t>Db2 for z/OS: full load only, no CDC; use another product or keyed delta loads</a:t>
            </a:r>
            <a:endParaRPr lang="en-US" sz="1400" dirty="0"/>
          </a:p>
        </p:txBody>
      </p:sp>
      <p:sp>
        <p:nvSpPr>
          <p:cNvPr id="9" name="Rules">
            <a:extLst>
              <a:ext uri="{C183D7F6-B498-43B3-948B-1728B52AA6E4}">
                <adec:decorative xmlns:adec="http://schemas.microsoft.com/office/drawing/2017/decorative" val="1"/>
              </a:ext>
            </a:extLst>
          </p:cNvPr>
          <p:cNvSpPr/>
          <p:nvPr/>
        </p:nvSpPr>
        <p:spPr>
          <a:xfrm>
            <a:off x="7178040" y="1371600"/>
            <a:ext cx="4480560" cy="3291840"/>
          </a:xfrm>
          <a:prstGeom prst="roundRect">
            <a:avLst>
              <a:gd name="adj" fmla="val 2222"/>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0" name="Rules head"/>
          <p:cNvSpPr txBox="1"/>
          <p:nvPr/>
        </p:nvSpPr>
        <p:spPr>
          <a:xfrm>
            <a:off x="7360920" y="1481328"/>
            <a:ext cx="4114800" cy="310896"/>
          </a:xfrm>
          <a:prstGeom prst="rect">
            <a:avLst/>
          </a:prstGeom>
          <a:noFill/>
          <a:ln/>
        </p:spPr>
        <p:txBody>
          <a:bodyPr wrap="square" lIns="0" tIns="0" rIns="0" bIns="0" rtlCol="0" anchor="t"/>
          <a:lstStyle/>
          <a:p>
            <a:pPr marL="0" indent="0">
              <a:buNone/>
            </a:pPr>
            <a:r>
              <a:rPr lang="en-US" sz="1100" b="1" dirty="0">
                <a:solidFill>
                  <a:srgbClr val="64748B"/>
                </a:solidFill>
              </a:rPr>
              <a:t>COEXISTENCE RULES (PROGRAM DESIGN)</a:t>
            </a:r>
            <a:endParaRPr lang="en-US" sz="1400" dirty="0"/>
          </a:p>
        </p:txBody>
      </p:sp>
      <p:sp>
        <p:nvSpPr>
          <p:cNvPr id="11" name="Rules list"/>
          <p:cNvSpPr txBox="1"/>
          <p:nvPr/>
        </p:nvSpPr>
        <p:spPr>
          <a:xfrm>
            <a:off x="7360920" y="1810512"/>
            <a:ext cx="4160520" cy="27797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One system of record per table; authority moves at each phase's gate</a:t>
            </a:r>
            <a:endParaRPr lang="en-US" sz="1400" dirty="0"/>
          </a:p>
          <a:p>
            <a:pPr marL="342900" indent="-342900">
              <a:spcAft>
                <a:spcPts val="400"/>
              </a:spcAft>
              <a:buSzPct val="100000"/>
              <a:buChar char="•"/>
            </a:pPr>
            <a:r>
              <a:rPr lang="en-US" sz="1300" dirty="0">
                <a:solidFill>
                  <a:schemeClr val="tx2"/>
                </a:solidFill>
              </a:rPr>
              <a:t>No application dual writes: write once, publish by transactional outbox or CDC</a:t>
            </a:r>
            <a:endParaRPr lang="en-US" sz="1400" dirty="0"/>
          </a:p>
          <a:p>
            <a:pPr marL="342900" indent="-342900">
              <a:spcAft>
                <a:spcPts val="400"/>
              </a:spcAft>
              <a:buSzPct val="100000"/>
              <a:buChar char="•"/>
            </a:pPr>
            <a:r>
              <a:rPr lang="en-US" sz="1300" dirty="0">
                <a:solidFill>
                  <a:schemeClr val="tx2"/>
                </a:solidFill>
              </a:rPr>
              <a:t>Fallback by reverse replication, still one writer</a:t>
            </a:r>
            <a:endParaRPr lang="en-US" sz="1400" dirty="0"/>
          </a:p>
          <a:p>
            <a:pPr marL="342900" indent="-342900">
              <a:spcAft>
                <a:spcPts val="400"/>
              </a:spcAft>
              <a:buSzPct val="100000"/>
              <a:buChar char="•"/>
            </a:pPr>
            <a:r>
              <a:rPr lang="en-US" sz="1300" dirty="0">
                <a:solidFill>
                  <a:schemeClr val="tx2"/>
                </a:solidFill>
              </a:rPr>
              <a:t>Run the three checks on a schedule during coexistence</a:t>
            </a:r>
            <a:endParaRPr lang="en-US" sz="1400" dirty="0"/>
          </a:p>
          <a:p>
            <a:pPr marL="342900" indent="-342900">
              <a:spcAft>
                <a:spcPts val="400"/>
              </a:spcAft>
              <a:buSzPct val="100000"/>
              <a:buChar char="•"/>
            </a:pPr>
            <a:r>
              <a:rPr lang="en-US" sz="1300" dirty="0">
                <a:solidFill>
                  <a:schemeClr val="tx2"/>
                </a:solidFill>
              </a:rPr>
              <a:t>Parallel run: the source governs until the gate is passed</a:t>
            </a:r>
            <a:endParaRPr lang="en-US" sz="1400" dirty="0"/>
          </a:p>
          <a:p>
            <a:pPr marL="342900" indent="-342900">
              <a:spcAft>
                <a:spcPts val="400"/>
              </a:spcAft>
              <a:buSzPct val="100000"/>
              <a:buChar char="•"/>
            </a:pPr>
            <a:r>
              <a:rPr lang="en-US" sz="1300" dirty="0">
                <a:solidFill>
                  <a:schemeClr val="tx2"/>
                </a:solidFill>
              </a:rPr>
              <a:t>Bidirectional replication isn't multi-master: no conflict resolution</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AWS DMS user guide (ongoing replication; Db2 for z/OS limits); Azure Architecture Center: Scheduler Agent Supervisor (dual writes), Transactional Outbox. Book 18,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EA3136C2-75BC-FAC9-77BE-C60700C30E0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9A5DDDD-0DBA-4251-AA73-83354B41FC4C}"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880"/>
    </mc:Choice>
    <mc:Fallback>
      <p:transition spd="slow" advTm="368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880"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3: AI, compliance and governance</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Part 2 — Governing and running  ·  Chapters 05–07</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12 MINUTES</a:t>
            </a:r>
            <a:endParaRPr lang="en-US" sz="1400" dirty="0"/>
          </a:p>
          <a:p>
            <a:pPr marL="342900" indent="-342900">
              <a:spcAft>
                <a:spcPts val="300"/>
              </a:spcAft>
              <a:buSzPct val="100000"/>
              <a:buChar char="•"/>
            </a:pPr>
            <a:r>
              <a:rPr lang="en-US" sz="1500" dirty="0">
                <a:solidFill>
                  <a:srgbClr val="334155"/>
                </a:solidFill>
              </a:rPr>
              <a:t>Where AI fits, the model interface and the agent's guardrails</a:t>
            </a:r>
            <a:endParaRPr lang="en-US" sz="1400" dirty="0"/>
          </a:p>
          <a:p>
            <a:pPr marL="342900" indent="-342900">
              <a:spcAft>
                <a:spcPts val="300"/>
              </a:spcAft>
              <a:buSzPct val="100000"/>
              <a:buChar char="•"/>
            </a:pPr>
            <a:r>
              <a:rPr lang="en-US" sz="1500" dirty="0">
                <a:solidFill>
                  <a:srgbClr val="334155"/>
                </a:solidFill>
              </a:rPr>
              <a:t>Controls across the life cycle, the SSDF, privacy and records</a:t>
            </a:r>
            <a:endParaRPr lang="en-US" sz="1400" dirty="0"/>
          </a:p>
          <a:p>
            <a:pPr marL="342900" indent="-342900">
              <a:spcAft>
                <a:spcPts val="300"/>
              </a:spcAft>
              <a:buSzPct val="100000"/>
              <a:buChar char="•"/>
            </a:pPr>
            <a:r>
              <a:rPr lang="en-US" sz="1500" dirty="0">
                <a:solidFill>
                  <a:srgbClr val="334155"/>
                </a:solidFill>
              </a:rPr>
              <a:t>The review board's decision rights, the four gates and their evidence</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F6649B5C-BFF5-BE2C-9007-5BD25302E05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69932DA-CEB9-4D71-A303-F706E781D87E}"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2700"/>
    </mc:Choice>
    <mc:Fallback>
      <p:transition spd="slow" advTm="22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696"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Where AI fits, behind one provider-neutral interface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Four cards stacked from top to bottom, ordered by how much each can change. First, a blue card tagged changes nothing by itself, Assistive feature: drafts, summaries and classification in a screen; a person accepts or edits. Second, a blue card tagged changes nothing by itself, Retrieval-augmented generation: answers from agency content retrieved with the caller's permissions. Third, an amber card tagged changes a repository, Code modernization assistance: output is a draft that goes through review, build and tests before merge. Fourth, a violet card tagged can act, Agent that calls tools: its own identity; read tools run; changes to records become proposals a human approves. At the bottom, a slate card, One provider-neutral model interface: provider and model are configuration, every call is recorded and limits live in one place, reached by a dashed arrow labeled all four call models here."/>
          <p:cNvPicPr>
            <a:picLocks noChangeAspect="1"/>
          </p:cNvPicPr>
          <p:nvPr/>
        </p:nvPicPr>
        <p:blipFill>
          <a:blip r:embed="rId5"/>
          <a:stretch>
            <a:fillRect/>
          </a:stretch>
        </p:blipFill>
        <p:spPr>
          <a:xfrm>
            <a:off x="548640" y="1371600"/>
            <a:ext cx="4846320" cy="4053127"/>
          </a:xfrm>
          <a:prstGeom prst="rect">
            <a:avLst/>
          </a:prstGeom>
        </p:spPr>
      </p:pic>
      <p:graphicFrame>
        <p:nvGraphicFramePr>
          <p:cNvPr id="21" name="Patterns"/>
          <p:cNvGraphicFramePr>
            <a:graphicFrameLocks noGrp="1"/>
          </p:cNvGraphicFramePr>
          <p:nvPr>
            <p:extLst>
              <p:ext uri="{D42A27DB-BD31-4B8C-83A1-F6EECF244321}">
                <p14:modId xmlns:p14="http://schemas.microsoft.com/office/powerpoint/2010/main" val="1579011935"/>
              </p:ext>
            </p:extLst>
          </p:nvPr>
        </p:nvGraphicFramePr>
        <p:xfrm>
          <a:off x="5577840" y="1371600"/>
          <a:ext cx="6080760" cy="2578608"/>
        </p:xfrm>
        <a:graphic>
          <a:graphicData uri="http://schemas.openxmlformats.org/drawingml/2006/table">
            <a:tbl>
              <a:tblPr firstRow="1" bandRow="1"/>
              <a:tblGrid>
                <a:gridCol w="182880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Pattern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it can change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Risk to design for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65836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Assistive feature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Nothing directly; a person accepts or edits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Confabulation; over-reliance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836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Retrieval-augmented generation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Nothing directly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Disclosure beyond the caller's rights; poisoned or stale sources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Code modernization assistance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repository, through review</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Plausible, subtly wrong code; unattended runs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Agent that calls tools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Whatever its tools can reach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Excessive agency; prompt injection; runaway loops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Interface">
            <a:extLst>
              <a:ext uri="{C183D7F6-B498-43B3-948B-1728B52AA6E4}">
                <adec:decorative xmlns:adec="http://schemas.microsoft.com/office/drawing/2017/decorative" val="1"/>
              </a:ext>
            </a:extLst>
          </p:cNvPr>
          <p:cNvSpPr/>
          <p:nvPr/>
        </p:nvSpPr>
        <p:spPr>
          <a:xfrm>
            <a:off x="5577840" y="4133088"/>
            <a:ext cx="6080760" cy="1554480"/>
          </a:xfrm>
          <a:prstGeom prst="roundRect">
            <a:avLst>
              <a:gd name="adj" fmla="val 4706"/>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8" name="Interface head"/>
          <p:cNvSpPr txBox="1"/>
          <p:nvPr/>
        </p:nvSpPr>
        <p:spPr>
          <a:xfrm>
            <a:off x="5760720" y="4242816"/>
            <a:ext cx="5715000" cy="310896"/>
          </a:xfrm>
          <a:prstGeom prst="rect">
            <a:avLst/>
          </a:prstGeom>
          <a:noFill/>
          <a:ln/>
        </p:spPr>
        <p:txBody>
          <a:bodyPr wrap="square" lIns="0" tIns="0" rIns="0" bIns="0" rtlCol="0" anchor="t"/>
          <a:lstStyle/>
          <a:p>
            <a:pPr marL="0" indent="0">
              <a:buNone/>
            </a:pPr>
            <a:r>
              <a:rPr lang="en-US" sz="1100" b="1" dirty="0">
                <a:solidFill>
                  <a:srgbClr val="64748B"/>
                </a:solidFill>
              </a:rPr>
              <a:t>THE INTERFACE MUST GIVE FOUR THINGS (DESIGN)</a:t>
            </a:r>
            <a:endParaRPr lang="en-US" sz="1400" dirty="0"/>
          </a:p>
        </p:txBody>
      </p:sp>
      <p:sp>
        <p:nvSpPr>
          <p:cNvPr id="9" name="Interface list"/>
          <p:cNvSpPr txBox="1"/>
          <p:nvPr/>
        </p:nvSpPr>
        <p:spPr>
          <a:xfrm>
            <a:off x="5760720" y="4572000"/>
            <a:ext cx="5760720" cy="104241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One call shape; provider, model and endpoint are configuration</a:t>
            </a:r>
            <a:endParaRPr lang="en-US" sz="1400" dirty="0"/>
          </a:p>
          <a:p>
            <a:pPr marL="342900" indent="-342900">
              <a:spcAft>
                <a:spcPts val="400"/>
              </a:spcAft>
              <a:buSzPct val="100000"/>
              <a:buChar char="•"/>
            </a:pPr>
            <a:r>
              <a:rPr lang="en-US" sz="1250" dirty="0">
                <a:solidFill>
                  <a:schemeClr val="tx2"/>
                </a:solidFill>
              </a:rPr>
              <a:t>A record of which provider, model and version answered, for whom</a:t>
            </a:r>
            <a:endParaRPr lang="en-US" sz="1400" dirty="0"/>
          </a:p>
          <a:p>
            <a:pPr marL="342900" indent="-342900">
              <a:spcAft>
                <a:spcPts val="400"/>
              </a:spcAft>
              <a:buSzPct val="100000"/>
              <a:buChar char="•"/>
            </a:pPr>
            <a:r>
              <a:rPr lang="en-US" sz="1250" dirty="0">
                <a:solidFill>
                  <a:schemeClr val="tx2"/>
                </a:solidFill>
              </a:rPr>
              <a:t>A deterministic stub, so guardrails are tested repeatably</a:t>
            </a:r>
            <a:endParaRPr lang="en-US" sz="1400" dirty="0"/>
          </a:p>
          <a:p>
            <a:pPr marL="342900" indent="-342900">
              <a:spcAft>
                <a:spcPts val="400"/>
              </a:spcAft>
              <a:buSzPct val="100000"/>
              <a:buChar char="•"/>
            </a:pPr>
            <a:r>
              <a:rPr lang="en-US" sz="1250" dirty="0">
                <a:solidFill>
                  <a:schemeClr val="tx2"/>
                </a:solidFill>
              </a:rPr>
              <a:t>Timeouts, rate limits and quotas in one place</a:t>
            </a:r>
            <a:endParaRPr lang="en-US" sz="14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AI 600-1 §2; OWASP Top 10 for LLM Applications 2025; Lewis et al. (2020); Microsoft Learn, GitHub Copilot modernization; AWS Transform; Spring AI 2.0.2. Book 18, Ch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20</a:t>
            </a:fld>
            <a:endParaRPr lang="en-US"/>
          </a:p>
        </p:txBody>
      </p:sp>
      <p:pic>
        <p:nvPicPr>
          <p:cNvPr id="6" name="Narration" descr="Narration for this slide; captions available">
            <a:hlinkClick r:id="" action="ppaction://media"/>
            <a:extLst>
              <a:ext uri="{FF2B5EF4-FFF2-40B4-BE49-F238E27FC236}">
                <a16:creationId xmlns:a16="http://schemas.microsoft.com/office/drawing/2014/main" id="{4BC5F1A2-5683-7D29-03ED-7337DD14A43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C5EC521-13DE-42DF-80C4-8C76DFD27547}"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840"/>
    </mc:Choice>
    <mc:Fallback>
      <p:transition spd="slow" advTm="378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840"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Agent guardrails: read, propose, never write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A top-to-bottom flow. A blue card, Agent identity: agent ID, human sponsor and allowed tools, leads to a slate card, Agent loop: the model proposes the next tool call. Next a violet card, Step limit check, with a dashed red arrow labeled limit reached to a red card, Stop and audit. Under the limit, the flow reaches a violet card, Allow-list check: is this tool on this agent's list? A dashed red arrow labeled not allowed leads to a red card, Denied and audited. A green arrow labeled read leads to a green card, Read tool runs with least privilege. An amber arrow labeled changes a record leads to an amber card, propose_action: records a PENDING proposal and changes nothing; from it a violet card, Human approval, then a green card, Service applies the change under its own authorization and rules. Dashed violet arrows from the read tool and from the applied change lead to a violet card at the bottom, Audit log: every call, denial, proposal and decision."/>
          <p:cNvPicPr>
            <a:picLocks noChangeAspect="1"/>
          </p:cNvPicPr>
          <p:nvPr/>
        </p:nvPicPr>
        <p:blipFill>
          <a:blip r:embed="rId5"/>
          <a:stretch>
            <a:fillRect/>
          </a:stretch>
        </p:blipFill>
        <p:spPr>
          <a:xfrm>
            <a:off x="557357" y="1371600"/>
            <a:ext cx="5468966" cy="4526280"/>
          </a:xfrm>
          <a:prstGeom prst="rect">
            <a:avLst/>
          </a:prstGeom>
        </p:spPr>
      </p:pic>
      <p:sp>
        <p:nvSpPr>
          <p:cNvPr id="6" name="Guards">
            <a:extLst>
              <a:ext uri="{C183D7F6-B498-43B3-948B-1728B52AA6E4}">
                <adec:decorative xmlns:adec="http://schemas.microsoft.com/office/drawing/2017/decorative" val="1"/>
              </a:ext>
            </a:extLst>
          </p:cNvPr>
          <p:cNvSpPr/>
          <p:nvPr/>
        </p:nvSpPr>
        <p:spPr>
          <a:xfrm>
            <a:off x="6263640" y="1371600"/>
            <a:ext cx="5394960" cy="2697480"/>
          </a:xfrm>
          <a:prstGeom prst="roundRect">
            <a:avLst>
              <a:gd name="adj" fmla="val 2712"/>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Guards head"/>
          <p:cNvSpPr txBox="1"/>
          <p:nvPr/>
        </p:nvSpPr>
        <p:spPr>
          <a:xfrm>
            <a:off x="6446520" y="1481328"/>
            <a:ext cx="5029200" cy="310896"/>
          </a:xfrm>
          <a:prstGeom prst="rect">
            <a:avLst/>
          </a:prstGeom>
          <a:noFill/>
          <a:ln/>
        </p:spPr>
        <p:txBody>
          <a:bodyPr wrap="square" lIns="0" tIns="0" rIns="0" bIns="0" rtlCol="0" anchor="t"/>
          <a:lstStyle/>
          <a:p>
            <a:pPr marL="0" indent="0">
              <a:buNone/>
            </a:pPr>
            <a:r>
              <a:rPr lang="en-US" sz="1100" b="1" dirty="0">
                <a:solidFill>
                  <a:srgbClr val="64748B"/>
                </a:solidFill>
              </a:rPr>
              <a:t>THE GUARDRAILS (PROGRAM DESIGN, FROM OWASP)</a:t>
            </a:r>
            <a:endParaRPr lang="en-US" sz="1400" dirty="0"/>
          </a:p>
        </p:txBody>
      </p:sp>
      <p:sp>
        <p:nvSpPr>
          <p:cNvPr id="8" name="Guards list"/>
          <p:cNvSpPr txBox="1"/>
          <p:nvPr/>
        </p:nvSpPr>
        <p:spPr>
          <a:xfrm>
            <a:off x="6446520" y="1810512"/>
            <a:ext cx="5074920" cy="218541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An identity and a human sponsor for every agent (Book 17)</a:t>
            </a:r>
            <a:endParaRPr lang="en-US" sz="1400" dirty="0"/>
          </a:p>
          <a:p>
            <a:pPr marL="342900" indent="-342900">
              <a:spcAft>
                <a:spcPts val="400"/>
              </a:spcAft>
              <a:buSzPct val="100000"/>
              <a:buChar char="•"/>
            </a:pPr>
            <a:r>
              <a:rPr lang="en-US" sz="1250" dirty="0">
                <a:solidFill>
                  <a:schemeClr val="tx2"/>
                </a:solidFill>
              </a:rPr>
              <a:t>A tool allow-list enforced outside the model; every denial audited</a:t>
            </a:r>
            <a:endParaRPr lang="en-US" sz="1400" dirty="0"/>
          </a:p>
          <a:p>
            <a:pPr marL="342900" indent="-342900">
              <a:spcAft>
                <a:spcPts val="400"/>
              </a:spcAft>
              <a:buSzPct val="100000"/>
              <a:buChar char="•"/>
            </a:pPr>
            <a:r>
              <a:rPr lang="en-US" sz="1250" dirty="0">
                <a:solidFill>
                  <a:schemeClr val="tx2"/>
                </a:solidFill>
              </a:rPr>
              <a:t>Least privilege enforced by the systems the tools call</a:t>
            </a:r>
            <a:endParaRPr lang="en-US" sz="1400" dirty="0"/>
          </a:p>
          <a:p>
            <a:pPr marL="342900" indent="-342900">
              <a:spcAft>
                <a:spcPts val="400"/>
              </a:spcAft>
              <a:buSzPct val="100000"/>
              <a:buChar char="•"/>
            </a:pPr>
            <a:r>
              <a:rPr lang="en-US" sz="1250" dirty="0">
                <a:solidFill>
                  <a:schemeClr val="tx2"/>
                </a:solidFill>
              </a:rPr>
              <a:t>Human approval for any action that changes a record</a:t>
            </a:r>
            <a:endParaRPr lang="en-US" sz="1400" dirty="0"/>
          </a:p>
          <a:p>
            <a:pPr marL="342900" indent="-342900">
              <a:spcAft>
                <a:spcPts val="400"/>
              </a:spcAft>
              <a:buSzPct val="100000"/>
              <a:buChar char="•"/>
            </a:pPr>
            <a:r>
              <a:rPr lang="en-US" sz="1250" dirty="0">
                <a:solidFill>
                  <a:schemeClr val="tx2"/>
                </a:solidFill>
              </a:rPr>
              <a:t>A hard step limit against runaway loops and cost</a:t>
            </a:r>
            <a:endParaRPr lang="en-US" sz="1400" dirty="0"/>
          </a:p>
          <a:p>
            <a:pPr marL="342900" indent="-342900">
              <a:spcAft>
                <a:spcPts val="400"/>
              </a:spcAft>
              <a:buSzPct val="100000"/>
              <a:buChar char="•"/>
            </a:pPr>
            <a:r>
              <a:rPr lang="en-US" sz="1250" dirty="0">
                <a:solidFill>
                  <a:schemeClr val="tx2"/>
                </a:solidFill>
              </a:rPr>
              <a:t>Model output untrusted; external content kept separate and marked</a:t>
            </a:r>
            <a:endParaRPr lang="en-US" sz="1400" dirty="0"/>
          </a:p>
          <a:p>
            <a:pPr marL="342900" indent="-342900">
              <a:spcAft>
                <a:spcPts val="400"/>
              </a:spcAft>
              <a:buSzPct val="100000"/>
              <a:buChar char="•"/>
            </a:pPr>
            <a:r>
              <a:rPr lang="en-US" sz="1250" dirty="0">
                <a:solidFill>
                  <a:schemeClr val="tx2"/>
                </a:solidFill>
              </a:rPr>
              <a:t>An audit record of every call, denial and approval</a:t>
            </a:r>
            <a:endParaRPr lang="en-US" sz="1400" dirty="0"/>
          </a:p>
        </p:txBody>
      </p:sp>
      <p:sp>
        <p:nvSpPr>
          <p:cNvPr id="9" name="MCP">
            <a:extLst>
              <a:ext uri="{C183D7F6-B498-43B3-948B-1728B52AA6E4}">
                <adec:decorative xmlns:adec="http://schemas.microsoft.com/office/drawing/2017/decorative" val="1"/>
              </a:ext>
            </a:extLst>
          </p:cNvPr>
          <p:cNvSpPr/>
          <p:nvPr/>
        </p:nvSpPr>
        <p:spPr>
          <a:xfrm>
            <a:off x="6263640" y="4251960"/>
            <a:ext cx="5394960" cy="1463040"/>
          </a:xfrm>
          <a:prstGeom prst="roundRect">
            <a:avLst>
              <a:gd name="adj" fmla="val 5000"/>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10" name="MCP head"/>
          <p:cNvSpPr txBox="1"/>
          <p:nvPr/>
        </p:nvSpPr>
        <p:spPr>
          <a:xfrm>
            <a:off x="6446520" y="4361688"/>
            <a:ext cx="5029200" cy="310896"/>
          </a:xfrm>
          <a:prstGeom prst="rect">
            <a:avLst/>
          </a:prstGeom>
          <a:noFill/>
          <a:ln/>
        </p:spPr>
        <p:txBody>
          <a:bodyPr wrap="square" lIns="0" tIns="0" rIns="0" bIns="0" rtlCol="0" anchor="t"/>
          <a:lstStyle/>
          <a:p>
            <a:pPr marL="0" indent="0">
              <a:buNone/>
            </a:pPr>
            <a:r>
              <a:rPr lang="en-US" sz="1100" b="1" dirty="0">
                <a:solidFill>
                  <a:srgbClr val="64748B"/>
                </a:solidFill>
              </a:rPr>
              <a:t>MCP IS HOW AN AGENT REACHES A TOOL, NOT A GUARDRAIL</a:t>
            </a:r>
            <a:endParaRPr lang="en-US" sz="1400" dirty="0"/>
          </a:p>
        </p:txBody>
      </p:sp>
      <p:sp>
        <p:nvSpPr>
          <p:cNvPr id="11" name="MCP list"/>
          <p:cNvSpPr txBox="1"/>
          <p:nvPr/>
        </p:nvSpPr>
        <p:spPr>
          <a:xfrm>
            <a:off x="6446520" y="4690872"/>
            <a:ext cx="5074920" cy="9509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Spec 2026-07-28: it can't enforce its security principles at the protocol level</a:t>
            </a:r>
            <a:endParaRPr lang="en-US" sz="1400" dirty="0"/>
          </a:p>
          <a:p>
            <a:pPr marL="342900" indent="-342900">
              <a:spcAft>
                <a:spcPts val="400"/>
              </a:spcAft>
              <a:buSzPct val="100000"/>
              <a:buChar char="•"/>
            </a:pPr>
            <a:r>
              <a:rPr lang="en-US" sz="1250" dirty="0">
                <a:solidFill>
                  <a:schemeClr val="tx2"/>
                </a:solidFill>
              </a:rPr>
              <a:t>An approved MCP server is one more allow-list entry, not a substitute</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OWASP LLM01, LLM05, LLM06, LLM10 (2025); OMB M-25-21 §4(b)(v); MCP specification 2026-07-28 and governance; Book 17, Ch 04–06. Book 18, Ch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21</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8C464174-9EED-925B-CAC9-2ADD965A316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BFDEFF0-601B-4A63-90C1-470D4B460A36}"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730"/>
    </mc:Choice>
    <mc:Fallback>
      <p:transition spd="slow" advTm="387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728"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Compliance by design: controls across the life cycle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A red card at the top, Unsupported components: SA-22 and the A-130 plan to upgrade, replace or retire, with a red arrow labeled modernization plan into the first of four blue stage cards stacked top to bottom. Design: SA-8 engineering principles; PT-2 and PT-3 authority and purpose and the privacy impact assessment; architecture decision records. Build: SA-11 and SA-15 and the SSDF practices; code review and testing; an SBOM for SR-4 provenance. Deploy: CM-2 and CM-3 baseline and change control; CM-8 component inventory; SC-8 and SC-28 encryption. Operate: AU-2 and AU-12 logging; SI-2 flaw remediation; AC-2 and AC-6 account review with agents included. A dashed violet arrow labeled evidence from every stage leads to a violet card at the bottom: the system's authorization record, assembled from evidence that already exists, where the authorizing official decides as Book 14 describes."/>
          <p:cNvPicPr>
            <a:picLocks noChangeAspect="1"/>
          </p:cNvPicPr>
          <p:nvPr/>
        </p:nvPicPr>
        <p:blipFill>
          <a:blip r:embed="rId5"/>
          <a:stretch>
            <a:fillRect/>
          </a:stretch>
        </p:blipFill>
        <p:spPr>
          <a:xfrm>
            <a:off x="590311" y="1371600"/>
            <a:ext cx="2431258" cy="3749040"/>
          </a:xfrm>
          <a:prstGeom prst="rect">
            <a:avLst/>
          </a:prstGeom>
        </p:spPr>
      </p:pic>
      <p:graphicFrame>
        <p:nvGraphicFramePr>
          <p:cNvPr id="23" name="Families"/>
          <p:cNvGraphicFramePr>
            <a:graphicFrameLocks noGrp="1"/>
          </p:cNvGraphicFramePr>
          <p:nvPr>
            <p:extLst>
              <p:ext uri="{D42A27DB-BD31-4B8C-83A1-F6EECF244321}">
                <p14:modId xmlns:p14="http://schemas.microsoft.com/office/powerpoint/2010/main" val="1579011935"/>
              </p:ext>
            </p:extLst>
          </p:nvPr>
        </p:nvGraphicFramePr>
        <p:xfrm>
          <a:off x="3291840" y="1371600"/>
          <a:ext cx="8366760" cy="3602736"/>
        </p:xfrm>
        <a:graphic>
          <a:graphicData uri="http://schemas.openxmlformats.org/drawingml/2006/table">
            <a:tbl>
              <a:tblPr firstRow="1" bandRow="1"/>
              <a:tblGrid>
                <a:gridCol w="777240">
                  <a:extLst>
                    <a:ext uri="{9D8B030D-6E8A-4147-A177-3AD203B41FA5}">
                      <a16:colId xmlns:a16="http://schemas.microsoft.com/office/drawing/2014/main" val="20000"/>
                    </a:ext>
                  </a:extLst>
                </a:gridCol>
                <a:gridCol w="2697480">
                  <a:extLst>
                    <a:ext uri="{9D8B030D-6E8A-4147-A177-3AD203B41FA5}">
                      <a16:colId xmlns:a16="http://schemas.microsoft.com/office/drawing/2014/main" val="20001"/>
                    </a:ext>
                  </a:extLst>
                </a:gridCol>
                <a:gridCol w="4892040">
                  <a:extLst>
                    <a:ext uri="{9D8B030D-6E8A-4147-A177-3AD203B41FA5}">
                      <a16:colId xmlns:a16="http://schemas.microsoft.com/office/drawing/2014/main" val="20002"/>
                    </a:ext>
                  </a:extLst>
                </a:gridCol>
              </a:tblGrid>
              <a:tr h="310896">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Family</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Controls most touched</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Evidence the application should produce (program design)</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SA</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SA-3, SA-8, SA-11, SA-15, SA-22</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Reference architecture and patterns; pipeline test and scan results; the triage record</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SR</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SR-3, SR-4, SR-11</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A software bill of materials per build; signed artifacts; base-image policy</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AC</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AC-2, AC-3, AC-6</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Service, workload and agent identities with owners; access reviews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AU</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AU-2, AU-3, AU-12, SA-15(13)</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Structured logs in one schema, including agent calls, denials and approvals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CM</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CM-2, CM-3, CM-4, CM-7, CM-8</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Infrastructure as code; pull requests as change records; generated inventory</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SC</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SC-7, SC-8, SC-12, SC-28</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Platform encryption in transit and at rest; network policy as code; managed keys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SI</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SI-2, SI-7, SI-10</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Scan results and remediation times; validation of all input, model output included</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10896">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PT</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PT-2, PT-3, PT-5, PT-7</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Data-flow records naming authority and purpose; notices; the PIA</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7" name="Legacy">
            <a:extLst>
              <a:ext uri="{C183D7F6-B498-43B3-948B-1728B52AA6E4}">
                <adec:decorative xmlns:adec="http://schemas.microsoft.com/office/drawing/2017/decorative" val="1"/>
              </a:ext>
            </a:extLst>
          </p:cNvPr>
          <p:cNvSpPr/>
          <p:nvPr/>
        </p:nvSpPr>
        <p:spPr>
          <a:xfrm>
            <a:off x="548640" y="5230368"/>
            <a:ext cx="11109960" cy="731520"/>
          </a:xfrm>
          <a:prstGeom prst="roundRect">
            <a:avLst>
              <a:gd name="adj" fmla="val 10000"/>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8" name="Icon FaTriangleExclamation">
            <a:extLst>
              <a:ext uri="{C183D7F6-B498-43B3-948B-1728B52AA6E4}">
                <adec:decorative xmlns:adec="http://schemas.microsoft.com/office/drawing/2017/decorative" val="1"/>
              </a:ext>
            </a:extLst>
          </p:cNvPr>
          <p:cNvSpPr/>
          <p:nvPr/>
        </p:nvSpPr>
        <p:spPr>
          <a:xfrm>
            <a:off x="777240" y="5230368"/>
            <a:ext cx="731520" cy="731520"/>
          </a:xfrm>
          <a:prstGeom prst="ellipse">
            <a:avLst/>
          </a:prstGeom>
          <a:solidFill>
            <a:srgbClr val="B91C1C"/>
          </a:solidFill>
          <a:ln w="12700">
            <a:solidFill>
              <a:srgbClr val="B91C1C"/>
            </a:solidFill>
            <a:prstDash val="solid"/>
          </a:ln>
        </p:spPr>
      </p:sp>
      <p:pic>
        <p:nvPicPr>
          <p:cNvPr id="9"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405933"/>
            <a:ext cx="380390" cy="380390"/>
          </a:xfrm>
          <a:prstGeom prst="rect">
            <a:avLst/>
          </a:prstGeom>
        </p:spPr>
      </p:pic>
      <p:sp>
        <p:nvSpPr>
          <p:cNvPr id="10" name="Legacy text"/>
          <p:cNvSpPr txBox="1"/>
          <p:nvPr/>
        </p:nvSpPr>
        <p:spPr>
          <a:xfrm>
            <a:off x="1737360" y="5276088"/>
            <a:ext cx="9738360" cy="640080"/>
          </a:xfrm>
          <a:prstGeom prst="rect">
            <a:avLst/>
          </a:prstGeom>
          <a:noFill/>
          <a:ln/>
        </p:spPr>
        <p:txBody>
          <a:bodyPr wrap="square" lIns="0" tIns="0" rIns="0" bIns="0" rtlCol="0" anchor="ctr"/>
          <a:lstStyle/>
          <a:p>
            <a:pPr marL="0" indent="0">
              <a:buNone/>
            </a:pPr>
            <a:r>
              <a:rPr lang="en-US" sz="1650" b="1" dirty="0">
                <a:solidFill>
                  <a:srgbClr val="B91C1C"/>
                </a:solidFill>
              </a:rPr>
              <a:t>Legacy is a compliance finding: </a:t>
            </a:r>
            <a:r>
              <a:rPr lang="en-US" sz="1650" dirty="0">
                <a:solidFill>
                  <a:schemeClr val="tx2"/>
                </a:solidFill>
              </a:rPr>
              <a:t>A-130 gives systems that can't be protected high priority for upgrade, replacement or retirement (SA-22).</a:t>
            </a:r>
            <a:endParaRPr lang="en-US" sz="16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Circular A-130 §5.a(1)(c), Appendix I; NIST SP 800-53 Rev. 5, release 5.2.0 (Aug. 27, 2025) catalog. Evidence mapping is program design. Book 18,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22</a:t>
            </a:fld>
            <a:endParaRPr lang="en-US"/>
          </a:p>
        </p:txBody>
      </p:sp>
      <p:pic>
        <p:nvPicPr>
          <p:cNvPr id="6" name="Narration" descr="Narration for this slide; captions available">
            <a:hlinkClick r:id="" action="ppaction://media"/>
            <a:extLst>
              <a:ext uri="{FF2B5EF4-FFF2-40B4-BE49-F238E27FC236}">
                <a16:creationId xmlns:a16="http://schemas.microsoft.com/office/drawing/2014/main" id="{46C90E9D-4B6B-B4EA-3DC7-980AA7905F3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690EEF5-650C-43D2-8876-3FEBC8EA10F4}"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640"/>
    </mc:Choice>
    <mc:Fallback>
      <p:transition spd="slow" advTm="396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640"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Secure development, privacy, data and records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SSDF">
            <a:extLst>
              <a:ext uri="{C183D7F6-B498-43B3-948B-1728B52AA6E4}">
                <adec:decorative xmlns:adec="http://schemas.microsoft.com/office/drawing/2017/decorative" val="1"/>
              </a:ext>
            </a:extLst>
          </p:cNvPr>
          <p:cNvSpPr/>
          <p:nvPr/>
        </p:nvSpPr>
        <p:spPr>
          <a:xfrm>
            <a:off x="548640" y="1371600"/>
            <a:ext cx="3611880" cy="2377440"/>
          </a:xfrm>
          <a:prstGeom prst="roundRect">
            <a:avLst>
              <a:gd name="adj" fmla="val 3077"/>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SSDF head"/>
          <p:cNvSpPr txBox="1"/>
          <p:nvPr/>
        </p:nvSpPr>
        <p:spPr>
          <a:xfrm>
            <a:off x="731520" y="1481328"/>
            <a:ext cx="3246120" cy="310896"/>
          </a:xfrm>
          <a:prstGeom prst="rect">
            <a:avLst/>
          </a:prstGeom>
          <a:noFill/>
          <a:ln/>
        </p:spPr>
        <p:txBody>
          <a:bodyPr wrap="square" lIns="0" tIns="0" rIns="0" bIns="0" rtlCol="0" anchor="t"/>
          <a:lstStyle/>
          <a:p>
            <a:pPr marL="0" indent="0">
              <a:buNone/>
            </a:pPr>
            <a:r>
              <a:rPr lang="en-US" sz="1100" b="1" dirty="0">
                <a:solidFill>
                  <a:srgbClr val="64748B"/>
                </a:solidFill>
              </a:rPr>
              <a:t>THE SSDF AFTER M-26-05</a:t>
            </a:r>
            <a:endParaRPr lang="en-US" sz="1400" dirty="0"/>
          </a:p>
        </p:txBody>
      </p:sp>
      <p:sp>
        <p:nvSpPr>
          <p:cNvPr id="7" name="SSDF list"/>
          <p:cNvSpPr txBox="1"/>
          <p:nvPr/>
        </p:nvSpPr>
        <p:spPr>
          <a:xfrm>
            <a:off x="731520" y="1810512"/>
            <a:ext cx="3291840" cy="18653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M-26-05 (Jan. 23, 2026) rescinded M-22-18 and M-23-16</a:t>
            </a:r>
            <a:endParaRPr lang="en-US" sz="1400" dirty="0"/>
          </a:p>
          <a:p>
            <a:pPr marL="342900" indent="-342900">
              <a:spcAft>
                <a:spcPts val="400"/>
              </a:spcAft>
              <a:buSzPct val="100000"/>
              <a:buChar char="•"/>
            </a:pPr>
            <a:r>
              <a:rPr lang="en-US" sz="1300" dirty="0">
                <a:solidFill>
                  <a:schemeClr val="tx2"/>
                </a:solidFill>
              </a:rPr>
              <a:t>A complete software and hardware inventory is still required</a:t>
            </a:r>
            <a:endParaRPr lang="en-US" sz="1400" dirty="0"/>
          </a:p>
          <a:p>
            <a:pPr marL="342900" indent="-342900">
              <a:spcAft>
                <a:spcPts val="400"/>
              </a:spcAft>
              <a:buSzPct val="100000"/>
              <a:buChar char="•"/>
            </a:pPr>
            <a:r>
              <a:rPr lang="en-US" sz="1300" dirty="0">
                <a:solidFill>
                  <a:schemeClr val="tx2"/>
                </a:solidFill>
              </a:rPr>
              <a:t>SP 800-218 v1.1 stays final; v1.2 a draft since Dec. 17, 2025</a:t>
            </a:r>
            <a:endParaRPr lang="en-US" sz="1400" dirty="0"/>
          </a:p>
          <a:p>
            <a:pPr marL="342900" indent="-342900">
              <a:spcAft>
                <a:spcPts val="400"/>
              </a:spcAft>
              <a:buSzPct val="100000"/>
              <a:buChar char="•"/>
            </a:pPr>
            <a:r>
              <a:rPr lang="en-US" sz="1300" dirty="0">
                <a:solidFill>
                  <a:schemeClr val="tx2"/>
                </a:solidFill>
              </a:rPr>
              <a:t>PO.3.3, PS.3.2, PW.7, PW.8: a spec for the pipeline</a:t>
            </a:r>
            <a:endParaRPr lang="en-US" sz="1400" dirty="0"/>
          </a:p>
        </p:txBody>
      </p:sp>
      <p:sp>
        <p:nvSpPr>
          <p:cNvPr id="8" name="Privacy">
            <a:extLst>
              <a:ext uri="{C183D7F6-B498-43B3-948B-1728B52AA6E4}">
                <adec:decorative xmlns:adec="http://schemas.microsoft.com/office/drawing/2017/decorative" val="1"/>
              </a:ext>
            </a:extLst>
          </p:cNvPr>
          <p:cNvSpPr/>
          <p:nvPr/>
        </p:nvSpPr>
        <p:spPr>
          <a:xfrm>
            <a:off x="4297680" y="1371600"/>
            <a:ext cx="3611880" cy="2651760"/>
          </a:xfrm>
          <a:prstGeom prst="roundRect">
            <a:avLst>
              <a:gd name="adj" fmla="val 2759"/>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rivacy head"/>
          <p:cNvSpPr txBox="1"/>
          <p:nvPr/>
        </p:nvSpPr>
        <p:spPr>
          <a:xfrm>
            <a:off x="4480560" y="1481328"/>
            <a:ext cx="3246120" cy="310896"/>
          </a:xfrm>
          <a:prstGeom prst="rect">
            <a:avLst/>
          </a:prstGeom>
          <a:noFill/>
          <a:ln/>
        </p:spPr>
        <p:txBody>
          <a:bodyPr wrap="square" lIns="0" tIns="0" rIns="0" bIns="0" rtlCol="0" anchor="t"/>
          <a:lstStyle/>
          <a:p>
            <a:pPr marL="0" indent="0">
              <a:buNone/>
            </a:pPr>
            <a:r>
              <a:rPr lang="en-US" sz="1100" b="1" dirty="0">
                <a:solidFill>
                  <a:srgbClr val="64748B"/>
                </a:solidFill>
              </a:rPr>
              <a:t>EVENTS THAT REOPEN PRIVACY (DESIGN)</a:t>
            </a:r>
            <a:endParaRPr lang="en-US" sz="1400" dirty="0"/>
          </a:p>
        </p:txBody>
      </p:sp>
      <p:sp>
        <p:nvSpPr>
          <p:cNvPr id="10" name="Privacy list"/>
          <p:cNvSpPr txBox="1"/>
          <p:nvPr/>
        </p:nvSpPr>
        <p:spPr>
          <a:xfrm>
            <a:off x="4480560" y="1810512"/>
            <a:ext cx="3291840" cy="21396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A new data store or a new engine</a:t>
            </a:r>
            <a:endParaRPr lang="en-US" sz="1400" dirty="0"/>
          </a:p>
          <a:p>
            <a:pPr marL="342900" indent="-342900">
              <a:spcAft>
                <a:spcPts val="400"/>
              </a:spcAft>
              <a:buSzPct val="100000"/>
              <a:buChar char="•"/>
            </a:pPr>
            <a:r>
              <a:rPr lang="en-US" sz="1300" dirty="0">
                <a:solidFill>
                  <a:schemeClr val="tx2"/>
                </a:solidFill>
              </a:rPr>
              <a:t>A new flow: services, an API, a BFF, change data capture</a:t>
            </a:r>
            <a:endParaRPr lang="en-US" sz="1400" dirty="0"/>
          </a:p>
          <a:p>
            <a:pPr marL="342900" indent="-342900">
              <a:spcAft>
                <a:spcPts val="400"/>
              </a:spcAft>
              <a:buSzPct val="100000"/>
              <a:buChar char="•"/>
            </a:pPr>
            <a:r>
              <a:rPr lang="en-US" sz="1300" dirty="0">
                <a:solidFill>
                  <a:schemeClr val="tx2"/>
                </a:solidFill>
              </a:rPr>
              <a:t>An AI feature: a new use PT-3's purpose must cover</a:t>
            </a:r>
            <a:endParaRPr lang="en-US" sz="1400" dirty="0"/>
          </a:p>
          <a:p>
            <a:pPr marL="342900" indent="-342900">
              <a:spcAft>
                <a:spcPts val="400"/>
              </a:spcAft>
              <a:buSzPct val="100000"/>
              <a:buChar char="•"/>
            </a:pPr>
            <a:r>
              <a:rPr lang="en-US" sz="1300" dirty="0">
                <a:solidFill>
                  <a:schemeClr val="tx2"/>
                </a:solidFill>
              </a:rPr>
              <a:t>Test data: synthetic or masked outside production</a:t>
            </a:r>
            <a:endParaRPr lang="en-US" sz="1400" dirty="0"/>
          </a:p>
          <a:p>
            <a:pPr marL="342900" indent="-342900">
              <a:spcAft>
                <a:spcPts val="400"/>
              </a:spcAft>
              <a:buSzPct val="100000"/>
              <a:buChar char="•"/>
            </a:pPr>
            <a:r>
              <a:rPr lang="en-US" sz="1300" dirty="0">
                <a:solidFill>
                  <a:schemeClr val="tx2"/>
                </a:solidFill>
              </a:rPr>
              <a:t>Retirement: a disposition of the PII it holds</a:t>
            </a:r>
            <a:endParaRPr lang="en-US" sz="1400" dirty="0"/>
          </a:p>
        </p:txBody>
      </p:sp>
      <p:sp>
        <p:nvSpPr>
          <p:cNvPr id="11" name="Records">
            <a:extLst>
              <a:ext uri="{C183D7F6-B498-43B3-948B-1728B52AA6E4}">
                <adec:decorative xmlns:adec="http://schemas.microsoft.com/office/drawing/2017/decorative" val="1"/>
              </a:ext>
            </a:extLst>
          </p:cNvPr>
          <p:cNvSpPr/>
          <p:nvPr/>
        </p:nvSpPr>
        <p:spPr>
          <a:xfrm>
            <a:off x="8046720" y="1371600"/>
            <a:ext cx="3611880" cy="2148840"/>
          </a:xfrm>
          <a:prstGeom prst="roundRect">
            <a:avLst>
              <a:gd name="adj" fmla="val 3404"/>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2" name="Records head"/>
          <p:cNvSpPr txBox="1"/>
          <p:nvPr/>
        </p:nvSpPr>
        <p:spPr>
          <a:xfrm>
            <a:off x="8229600" y="1481328"/>
            <a:ext cx="3246120" cy="310896"/>
          </a:xfrm>
          <a:prstGeom prst="rect">
            <a:avLst/>
          </a:prstGeom>
          <a:noFill/>
          <a:ln/>
        </p:spPr>
        <p:txBody>
          <a:bodyPr wrap="square" lIns="0" tIns="0" rIns="0" bIns="0" rtlCol="0" anchor="t"/>
          <a:lstStyle/>
          <a:p>
            <a:pPr marL="0" indent="0">
              <a:buNone/>
            </a:pPr>
            <a:r>
              <a:rPr lang="en-US" sz="1100" b="1" dirty="0">
                <a:solidFill>
                  <a:srgbClr val="64748B"/>
                </a:solidFill>
              </a:rPr>
              <a:t>DATA AND RECORDS</a:t>
            </a:r>
            <a:endParaRPr lang="en-US" sz="1400" dirty="0"/>
          </a:p>
        </p:txBody>
      </p:sp>
      <p:sp>
        <p:nvSpPr>
          <p:cNvPr id="13" name="Records list"/>
          <p:cNvSpPr txBox="1"/>
          <p:nvPr/>
        </p:nvSpPr>
        <p:spPr>
          <a:xfrm>
            <a:off x="8229600" y="1810512"/>
            <a:ext cx="3291840" cy="16367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M-25-05: the data inventory entry moves with the data asset</a:t>
            </a:r>
            <a:endParaRPr lang="en-US" sz="1400" dirty="0"/>
          </a:p>
          <a:p>
            <a:pPr marL="342900" indent="-342900">
              <a:spcAft>
                <a:spcPts val="400"/>
              </a:spcAft>
              <a:buSzPct val="100000"/>
              <a:buChar char="•"/>
            </a:pPr>
            <a:r>
              <a:rPr lang="en-US" sz="1300" dirty="0">
                <a:solidFill>
                  <a:schemeClr val="tx2"/>
                </a:solidFill>
              </a:rPr>
              <a:t>Records duties run from design to decommissioning</a:t>
            </a:r>
            <a:endParaRPr lang="en-US" sz="1400" dirty="0"/>
          </a:p>
          <a:p>
            <a:pPr marL="342900" indent="-342900">
              <a:spcAft>
                <a:spcPts val="400"/>
              </a:spcAft>
              <a:buSzPct val="100000"/>
              <a:buChar char="•"/>
            </a:pPr>
            <a:r>
              <a:rPr lang="en-US" sz="1300" dirty="0">
                <a:solidFill>
                  <a:schemeClr val="tx2"/>
                </a:solidFill>
              </a:rPr>
              <a:t>Design: the records officer reviews every retire, and any migration that drops history</a:t>
            </a:r>
            <a:endParaRPr lang="en-US" sz="1400" dirty="0"/>
          </a:p>
        </p:txBody>
      </p:sp>
      <p:sp>
        <p:nvSpPr>
          <p:cNvPr id="14" name="Producer">
            <a:extLst>
              <a:ext uri="{C183D7F6-B498-43B3-948B-1728B52AA6E4}">
                <adec:decorative xmlns:adec="http://schemas.microsoft.com/office/drawing/2017/decorative" val="1"/>
              </a:ext>
            </a:extLst>
          </p:cNvPr>
          <p:cNvSpPr/>
          <p:nvPr/>
        </p:nvSpPr>
        <p:spPr>
          <a:xfrm>
            <a:off x="548640" y="4251960"/>
            <a:ext cx="11109960" cy="822960"/>
          </a:xfrm>
          <a:prstGeom prst="roundRect">
            <a:avLst>
              <a:gd name="adj" fmla="val 8889"/>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5" name="Icon FaFileShield">
            <a:extLst>
              <a:ext uri="{C183D7F6-B498-43B3-948B-1728B52AA6E4}">
                <adec:decorative xmlns:adec="http://schemas.microsoft.com/office/drawing/2017/decorative" val="1"/>
              </a:ext>
            </a:extLst>
          </p:cNvPr>
          <p:cNvSpPr/>
          <p:nvPr/>
        </p:nvSpPr>
        <p:spPr>
          <a:xfrm>
            <a:off x="777240" y="4297680"/>
            <a:ext cx="731520" cy="731520"/>
          </a:xfrm>
          <a:prstGeom prst="ellipse">
            <a:avLst/>
          </a:prstGeom>
          <a:solidFill>
            <a:srgbClr val="1F2A44"/>
          </a:solidFill>
          <a:ln w="12700">
            <a:solidFill>
              <a:srgbClr val="1F2A44"/>
            </a:solidFill>
            <a:prstDash val="solid"/>
          </a:ln>
        </p:spPr>
      </p:sp>
      <p:pic>
        <p:nvPicPr>
          <p:cNvPr id="1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473245"/>
            <a:ext cx="380390" cy="380390"/>
          </a:xfrm>
          <a:prstGeom prst="rect">
            <a:avLst/>
          </a:prstGeom>
        </p:spPr>
      </p:pic>
      <p:sp>
        <p:nvSpPr>
          <p:cNvPr id="17" name="Producer text"/>
          <p:cNvSpPr txBox="1"/>
          <p:nvPr/>
        </p:nvSpPr>
        <p:spPr>
          <a:xfrm>
            <a:off x="1737360" y="4297680"/>
            <a:ext cx="9738360" cy="731520"/>
          </a:xfrm>
          <a:prstGeom prst="rect">
            <a:avLst/>
          </a:prstGeom>
          <a:noFill/>
          <a:ln/>
        </p:spPr>
        <p:txBody>
          <a:bodyPr wrap="square" lIns="0" tIns="0" rIns="0" bIns="0" rtlCol="0" anchor="ctr"/>
          <a:lstStyle/>
          <a:p>
            <a:pPr marL="0" indent="0">
              <a:buNone/>
            </a:pPr>
            <a:r>
              <a:rPr lang="en-US" sz="1650" b="1" dirty="0">
                <a:solidFill>
                  <a:srgbClr val="1F2A44"/>
                </a:solidFill>
              </a:rPr>
              <a:t>For code the agency builds, it is the producer: </a:t>
            </a:r>
            <a:r>
              <a:rPr lang="en-US" sz="1650" dirty="0">
                <a:solidFill>
                  <a:schemeClr val="tx2"/>
                </a:solidFill>
              </a:rPr>
              <a:t>the attestation question never applied the same way, and the pipeline generates its own SBOM for free.</a:t>
            </a:r>
            <a:endParaRPr lang="en-US" sz="1650" dirty="0"/>
          </a:p>
        </p:txBody>
      </p:sp>
      <p:sp>
        <p:nvSpPr>
          <p:cNvPr id="18"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M-26-05; NIST SP 800-218 v1.1 and Rev. 1 draft; SP 800-218A; OMB Circular A-130 §5.f, §5.h, Appendix II; OMB M-25-05; Evidence Act. Book 18, Ch 06–07.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23</a:t>
            </a:fld>
            <a:endParaRPr lang="en-US"/>
          </a:p>
        </p:txBody>
      </p:sp>
      <p:pic>
        <p:nvPicPr>
          <p:cNvPr id="19" name="Narration" descr="Narration for this slide; captions available">
            <a:hlinkClick r:id="" action="ppaction://media"/>
            <a:extLst>
              <a:ext uri="{FF2B5EF4-FFF2-40B4-BE49-F238E27FC236}">
                <a16:creationId xmlns:a16="http://schemas.microsoft.com/office/drawing/2014/main" id="{BE6639CD-C011-0D30-394B-BCCF9456823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44BD5BF-24E5-4965-BA0B-B5A20AB3E4AD}"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140"/>
    </mc:Choice>
    <mc:Fallback>
      <p:transition spd="slow" advTm="371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144"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architecture review board: one decider each</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25" name="Board"/>
          <p:cNvGraphicFramePr>
            <a:graphicFrameLocks noGrp="1"/>
          </p:cNvGraphicFramePr>
          <p:nvPr>
            <p:extLst>
              <p:ext uri="{D42A27DB-BD31-4B8C-83A1-F6EECF244321}">
                <p14:modId xmlns:p14="http://schemas.microsoft.com/office/powerpoint/2010/main" val="1579011935"/>
              </p:ext>
            </p:extLst>
          </p:nvPr>
        </p:nvGraphicFramePr>
        <p:xfrm>
          <a:off x="548640" y="1371600"/>
          <a:ext cx="7589520" cy="3785616"/>
        </p:xfrm>
        <a:graphic>
          <a:graphicData uri="http://schemas.openxmlformats.org/drawingml/2006/table">
            <a:tbl>
              <a:tblPr firstRow="1" bandRow="1"/>
              <a:tblGrid>
                <a:gridCol w="310896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196596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Decision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Decider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Recorded as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Approved-technology list, and each tier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Chief architect, as board chair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Pull request with a decision record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Reference patterns and their versions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Chief architect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Pattern repository release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An exception to a standard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Chief architect, with an end date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Decision record with an expiry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 design at Gate 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Chief architect or a delegate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Decision record in the app's repository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An application's disposition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Application owner, with the steward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Triage record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Security and privacy control requirements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CISO and senior agency official for privacy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Requirement committed as policy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Residual risk for the system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Authorizing official alone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Authorization decision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Contracts and licenses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CIO (FITARA) and sponsor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Acquisition record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6" name="Members">
            <a:extLst>
              <a:ext uri="{C183D7F6-B498-43B3-948B-1728B52AA6E4}">
                <adec:decorative xmlns:adec="http://schemas.microsoft.com/office/drawing/2017/decorative" val="1"/>
              </a:ext>
            </a:extLst>
          </p:cNvPr>
          <p:cNvSpPr/>
          <p:nvPr/>
        </p:nvSpPr>
        <p:spPr>
          <a:xfrm>
            <a:off x="8366760" y="1371600"/>
            <a:ext cx="3291840" cy="2194560"/>
          </a:xfrm>
          <a:prstGeom prst="roundRect">
            <a:avLst>
              <a:gd name="adj" fmla="val 3333"/>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7" name="Members head"/>
          <p:cNvSpPr txBox="1"/>
          <p:nvPr/>
        </p:nvSpPr>
        <p:spPr>
          <a:xfrm>
            <a:off x="8549640" y="1481328"/>
            <a:ext cx="2926080" cy="310896"/>
          </a:xfrm>
          <a:prstGeom prst="rect">
            <a:avLst/>
          </a:prstGeom>
          <a:noFill/>
          <a:ln/>
        </p:spPr>
        <p:txBody>
          <a:bodyPr wrap="square" lIns="0" tIns="0" rIns="0" bIns="0" rtlCol="0" anchor="t"/>
          <a:lstStyle/>
          <a:p>
            <a:pPr marL="0" indent="0">
              <a:buNone/>
            </a:pPr>
            <a:r>
              <a:rPr lang="en-US" sz="1100" b="1" dirty="0">
                <a:solidFill>
                  <a:srgbClr val="64748B"/>
                </a:solidFill>
              </a:rPr>
              <a:t>WHO SITS ON IT (DESIGN)</a:t>
            </a:r>
            <a:endParaRPr lang="en-US" sz="1400" dirty="0"/>
          </a:p>
        </p:txBody>
      </p:sp>
      <p:sp>
        <p:nvSpPr>
          <p:cNvPr id="8" name="Members list"/>
          <p:cNvSpPr txBox="1"/>
          <p:nvPr/>
        </p:nvSpPr>
        <p:spPr>
          <a:xfrm>
            <a:off x="8549640" y="1810512"/>
            <a:ext cx="2971800" cy="168249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Chief architect, chairing</a:t>
            </a:r>
            <a:endParaRPr lang="en-US" sz="1400" dirty="0"/>
          </a:p>
          <a:p>
            <a:pPr marL="342900" indent="-342900">
              <a:spcAft>
                <a:spcPts val="400"/>
              </a:spcAft>
              <a:buSzPct val="100000"/>
              <a:buChar char="•"/>
            </a:pPr>
            <a:r>
              <a:rPr lang="en-US" sz="1250" dirty="0">
                <a:solidFill>
                  <a:schemeClr val="tx2"/>
                </a:solidFill>
              </a:rPr>
              <a:t>Lead architects: apps, data, integration, platform</a:t>
            </a:r>
            <a:endParaRPr lang="en-US" sz="1400" dirty="0"/>
          </a:p>
          <a:p>
            <a:pPr marL="342900" indent="-342900">
              <a:spcAft>
                <a:spcPts val="400"/>
              </a:spcAft>
              <a:buSzPct val="100000"/>
              <a:buChar char="•"/>
            </a:pPr>
            <a:r>
              <a:rPr lang="en-US" sz="1250" dirty="0">
                <a:solidFill>
                  <a:schemeClr val="tx2"/>
                </a:solidFill>
              </a:rPr>
              <a:t>CISO's and privacy office's representatives (CM-3(4))</a:t>
            </a:r>
            <a:endParaRPr lang="en-US" sz="1400" dirty="0"/>
          </a:p>
          <a:p>
            <a:pPr marL="342900" indent="-342900">
              <a:spcAft>
                <a:spcPts val="400"/>
              </a:spcAft>
              <a:buSzPct val="100000"/>
              <a:buChar char="•"/>
            </a:pPr>
            <a:r>
              <a:rPr lang="en-US" sz="1250" dirty="0">
                <a:solidFill>
                  <a:schemeClr val="tx2"/>
                </a:solidFill>
              </a:rPr>
              <a:t>Platform lead and steward</a:t>
            </a:r>
            <a:endParaRPr lang="en-US" sz="1400" dirty="0"/>
          </a:p>
          <a:p>
            <a:pPr marL="342900" indent="-342900">
              <a:spcAft>
                <a:spcPts val="400"/>
              </a:spcAft>
              <a:buSzPct val="100000"/>
              <a:buChar char="•"/>
            </a:pPr>
            <a:r>
              <a:rPr lang="en-US" sz="1250" dirty="0">
                <a:solidFill>
                  <a:schemeClr val="tx2"/>
                </a:solidFill>
              </a:rPr>
              <a:t>The AO observes; never a member</a:t>
            </a:r>
            <a:endParaRPr lang="en-US" sz="1400" dirty="0"/>
          </a:p>
        </p:txBody>
      </p:sp>
      <p:sp>
        <p:nvSpPr>
          <p:cNvPr id="9" name="Tiers">
            <a:extLst>
              <a:ext uri="{C183D7F6-B498-43B3-948B-1728B52AA6E4}">
                <adec:decorative xmlns:adec="http://schemas.microsoft.com/office/drawing/2017/decorative" val="1"/>
              </a:ext>
            </a:extLst>
          </p:cNvPr>
          <p:cNvSpPr/>
          <p:nvPr/>
        </p:nvSpPr>
        <p:spPr>
          <a:xfrm>
            <a:off x="8366760" y="3749040"/>
            <a:ext cx="3291840" cy="1691640"/>
          </a:xfrm>
          <a:prstGeom prst="roundRect">
            <a:avLst>
              <a:gd name="adj" fmla="val 4324"/>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10" name="Tiers head"/>
          <p:cNvSpPr txBox="1"/>
          <p:nvPr/>
        </p:nvSpPr>
        <p:spPr>
          <a:xfrm>
            <a:off x="8549640" y="3858768"/>
            <a:ext cx="2926080" cy="310896"/>
          </a:xfrm>
          <a:prstGeom prst="rect">
            <a:avLst/>
          </a:prstGeom>
          <a:noFill/>
          <a:ln/>
        </p:spPr>
        <p:txBody>
          <a:bodyPr wrap="square" lIns="0" tIns="0" rIns="0" bIns="0" rtlCol="0" anchor="t"/>
          <a:lstStyle/>
          <a:p>
            <a:pPr marL="0" indent="0">
              <a:buNone/>
            </a:pPr>
            <a:r>
              <a:rPr lang="en-US" sz="1100" b="1" dirty="0">
                <a:solidFill>
                  <a:srgbClr val="64748B"/>
                </a:solidFill>
              </a:rPr>
              <a:t>THE TECHNOLOGY LIST</a:t>
            </a:r>
            <a:endParaRPr lang="en-US" sz="1400" dirty="0"/>
          </a:p>
        </p:txBody>
      </p:sp>
      <p:sp>
        <p:nvSpPr>
          <p:cNvPr id="11" name="Tiers list"/>
          <p:cNvSpPr txBox="1"/>
          <p:nvPr/>
        </p:nvSpPr>
        <p:spPr>
          <a:xfrm>
            <a:off x="8549640" y="4187952"/>
            <a:ext cx="2971800" cy="11795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Adopt, trial, contain, retire</a:t>
            </a:r>
            <a:endParaRPr lang="en-US" sz="1400" dirty="0"/>
          </a:p>
          <a:p>
            <a:pPr marL="342900" indent="-342900">
              <a:spcAft>
                <a:spcPts val="400"/>
              </a:spcAft>
              <a:buSzPct val="100000"/>
              <a:buChar char="•"/>
            </a:pPr>
            <a:r>
              <a:rPr lang="en-US" sz="1250" dirty="0">
                <a:solidFill>
                  <a:schemeClr val="tx2"/>
                </a:solidFill>
              </a:rPr>
              <a:t>DB2 and Oracle: contain or retire</a:t>
            </a:r>
            <a:endParaRPr lang="en-US" sz="1400" dirty="0"/>
          </a:p>
          <a:p>
            <a:pPr marL="342900" indent="-342900">
              <a:spcAft>
                <a:spcPts val="400"/>
              </a:spcAft>
              <a:buSzPct val="100000"/>
              <a:buChar char="•"/>
            </a:pPr>
            <a:r>
              <a:rPr lang="en-US" sz="1250" dirty="0">
                <a:solidFill>
                  <a:schemeClr val="tx2"/>
                </a:solidFill>
              </a:rPr>
              <a:t>Versions and end dates, for SA-22</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A-130 §5.a(2); NIST SP 800-53 Rev. 5 (PM-7, PL-8, SA-17, CM-3, CM-3(4), CM-4, SA-22) and 800-53B; OMB M-26-10; Nygard (2011). Book 18, Ch 07.</a:t>
            </a:r>
            <a:endParaRPr lang="en-US" sz="1000" dirty="0"/>
          </a:p>
        </p:txBody>
      </p:sp>
      <p:sp>
        <p:nvSpPr>
          <p:cNvPr id="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24</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95231EDC-3016-3AC1-FD0E-40345EA2B37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7927668-DD69-49EA-9C50-F60A606DB399}"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210"/>
    </mc:Choice>
    <mc:Fallback>
      <p:transition spd="slow" advTm="392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208"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Four gates, and the evidence each one leaves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A vertical chain. At the top, a violet card for the architecture review board, standards and patterns: approved-technology list, reference patterns, decision records and exceptions. A dashed violet arrow labeled checks against leads to four gates in order. Gate 1, amber, disposition: triage score and the chosen R, with the owner's sign-off. Gate 2, amber, design review: decision record, interface contract, threat model, privacy check. Gate 3, blue, every change, pull request and CI: required reviewer, passing tests, scans, SBOM. Gate 4, blue, release: signed build with provenance, impact analysis, change record. An arrow leads to a green card, evidence store: each gate's output, kept with the system's authorization package. A dashed arrow leads to a violet pill: authorizing official accepts residual risk."/>
          <p:cNvPicPr>
            <a:picLocks noChangeAspect="1"/>
          </p:cNvPicPr>
          <p:nvPr/>
        </p:nvPicPr>
        <p:blipFill>
          <a:blip r:embed="rId5"/>
          <a:stretch>
            <a:fillRect/>
          </a:stretch>
        </p:blipFill>
        <p:spPr>
          <a:xfrm>
            <a:off x="569854" y="1371600"/>
            <a:ext cx="2106413" cy="4526280"/>
          </a:xfrm>
          <a:prstGeom prst="rect">
            <a:avLst/>
          </a:prstGeom>
        </p:spPr>
      </p:pic>
      <p:graphicFrame>
        <p:nvGraphicFramePr>
          <p:cNvPr id="26" name="Gates"/>
          <p:cNvGraphicFramePr>
            <a:graphicFrameLocks noGrp="1"/>
          </p:cNvGraphicFramePr>
          <p:nvPr>
            <p:extLst>
              <p:ext uri="{D42A27DB-BD31-4B8C-83A1-F6EECF244321}">
                <p14:modId xmlns:p14="http://schemas.microsoft.com/office/powerpoint/2010/main" val="1579011935"/>
              </p:ext>
            </p:extLst>
          </p:nvPr>
        </p:nvGraphicFramePr>
        <p:xfrm>
          <a:off x="2697480" y="1371600"/>
          <a:ext cx="8961120" cy="2212848"/>
        </p:xfrm>
        <a:graphic>
          <a:graphicData uri="http://schemas.openxmlformats.org/drawingml/2006/table">
            <a:tbl>
              <a:tblPr firstRow="1" bandRow="1"/>
              <a:tblGrid>
                <a:gridCol w="141732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187452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Gate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passes it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Who decides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Evidences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1  Disposition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scored triage record and a disposition the owner has signed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Application owner, with the steward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PM-5, CM-8, SA-22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2  Design review</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Decision records; the OpenAPI contract; data classification; threat model; privacy check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Chief architect or delegate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PL-8, SA-3, SA-8, SA-17 (High), CM-4</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3  Pull request and CI</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Independent review; unit, contract and integration tests; static and dependency scans; an SBOM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Code owner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CM-3, SA-10, SA-11, SA-15</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4  Release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signed build with provenance; impact analysis; a change record linking the pull requests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Release owner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CM-3, CM-4, SR-4</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Git">
            <a:extLst>
              <a:ext uri="{C183D7F6-B498-43B3-948B-1728B52AA6E4}">
                <adec:decorative xmlns:adec="http://schemas.microsoft.com/office/drawing/2017/decorative" val="1"/>
              </a:ext>
            </a:extLst>
          </p:cNvPr>
          <p:cNvSpPr/>
          <p:nvPr/>
        </p:nvSpPr>
        <p:spPr>
          <a:xfrm>
            <a:off x="2697480" y="3767328"/>
            <a:ext cx="8961120" cy="1325880"/>
          </a:xfrm>
          <a:prstGeom prst="roundRect">
            <a:avLst>
              <a:gd name="adj" fmla="val 5517"/>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8" name="Git head"/>
          <p:cNvSpPr txBox="1"/>
          <p:nvPr/>
        </p:nvSpPr>
        <p:spPr>
          <a:xfrm>
            <a:off x="2880360" y="3877056"/>
            <a:ext cx="8595360" cy="310896"/>
          </a:xfrm>
          <a:prstGeom prst="rect">
            <a:avLst/>
          </a:prstGeom>
          <a:noFill/>
          <a:ln/>
        </p:spPr>
        <p:txBody>
          <a:bodyPr wrap="square" lIns="0" tIns="0" rIns="0" bIns="0" rtlCol="0" anchor="t"/>
          <a:lstStyle/>
          <a:p>
            <a:pPr marL="0" indent="0">
              <a:buNone/>
            </a:pPr>
            <a:r>
              <a:rPr lang="en-US" sz="1100" b="1" dirty="0">
                <a:solidFill>
                  <a:srgbClr val="64748B"/>
                </a:solidFill>
              </a:rPr>
              <a:t>GIT AND PIPELINE PRACTICE (DESIGN)</a:t>
            </a:r>
            <a:endParaRPr lang="en-US" sz="1400" dirty="0"/>
          </a:p>
        </p:txBody>
      </p:sp>
      <p:sp>
        <p:nvSpPr>
          <p:cNvPr id="9" name="Git list"/>
          <p:cNvSpPr txBox="1"/>
          <p:nvPr/>
        </p:nvSpPr>
        <p:spPr>
          <a:xfrm>
            <a:off x="2880360" y="4206240"/>
            <a:ext cx="8641080" cy="81381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Trunk-based development or short-lived branches; protected branches that bind administrators too</a:t>
            </a:r>
            <a:endParaRPr lang="en-US" sz="1400" dirty="0"/>
          </a:p>
          <a:p>
            <a:pPr marL="342900" indent="-342900">
              <a:spcAft>
                <a:spcPts val="400"/>
              </a:spcAft>
              <a:buSzPct val="100000"/>
              <a:buChar char="•"/>
            </a:pPr>
            <a:r>
              <a:rPr lang="en-US" sz="1250" dirty="0">
                <a:solidFill>
                  <a:schemeClr val="tx2"/>
                </a:solidFill>
              </a:rPr>
              <a:t>CI keeps its outputs (SSDF PO.3.3, PS.3.2); signed builds with SLSA 1.2 provenance</a:t>
            </a:r>
            <a:endParaRPr lang="en-US" sz="1400" dirty="0"/>
          </a:p>
          <a:p>
            <a:pPr marL="342900" indent="-342900">
              <a:spcAft>
                <a:spcPts val="400"/>
              </a:spcAft>
              <a:buSzPct val="100000"/>
              <a:buChar char="•"/>
            </a:pPr>
            <a:r>
              <a:rPr lang="en-US" sz="1250" dirty="0">
                <a:solidFill>
                  <a:schemeClr val="tx2"/>
                </a:solidFill>
              </a:rPr>
              <a:t>SBOM contents per CISA's 2026 Minimum Elements (July 29, 2026)</a:t>
            </a:r>
            <a:endParaRPr lang="en-US" sz="14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and 800-53B; SP 800-218 v1.1; DORA, trunk-based development; GitHub protected branches; SLSA 1.2; CISA 2026 SBOM Minimum Elements. Book 18,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25</a:t>
            </a:fld>
            <a:endParaRPr lang="en-US"/>
          </a:p>
        </p:txBody>
      </p:sp>
      <p:pic>
        <p:nvPicPr>
          <p:cNvPr id="6" name="Narration" descr="Narration for this slide; captions available">
            <a:hlinkClick r:id="" action="ppaction://media"/>
            <a:extLst>
              <a:ext uri="{FF2B5EF4-FFF2-40B4-BE49-F238E27FC236}">
                <a16:creationId xmlns:a16="http://schemas.microsoft.com/office/drawing/2014/main" id="{B89BEB59-594D-DAA6-1BDA-BC3D9018394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C8113BC-9889-432C-AB60-228C50F5AD95}"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410"/>
    </mc:Choice>
    <mc:Fallback>
      <p:transition spd="slow" advTm="374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408"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4: Reference implementation, frameworks, waves</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Part 2 — Governing and running  ·  Chapters 08–10</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16 MINUTES</a:t>
            </a:r>
            <a:endParaRPr lang="en-US" sz="1400" dirty="0"/>
          </a:p>
          <a:p>
            <a:pPr marL="342900" indent="-342900">
              <a:spcAft>
                <a:spcPts val="300"/>
              </a:spcAft>
              <a:buSzPct val="100000"/>
              <a:buChar char="•"/>
            </a:pPr>
            <a:r>
              <a:rPr lang="en-US" sz="1500" dirty="0">
                <a:solidFill>
                  <a:srgbClr val="334155"/>
                </a:solidFill>
              </a:rPr>
              <a:t>The reference implementation, and what its tests prove</a:t>
            </a:r>
            <a:endParaRPr lang="en-US" sz="1400" dirty="0"/>
          </a:p>
          <a:p>
            <a:pPr marL="342900" indent="-342900">
              <a:spcAft>
                <a:spcPts val="300"/>
              </a:spcAft>
              <a:buSzPct val="100000"/>
              <a:buChar char="•"/>
            </a:pPr>
            <a:r>
              <a:rPr lang="en-US" sz="1500" dirty="0">
                <a:solidFill>
                  <a:srgbClr val="334155"/>
                </a:solidFill>
              </a:rPr>
              <a:t>TOGAF's ADM phases and Zachman's cells</a:t>
            </a:r>
            <a:endParaRPr lang="en-US" sz="1400" dirty="0"/>
          </a:p>
          <a:p>
            <a:pPr marL="342900" indent="-342900">
              <a:spcAft>
                <a:spcPts val="300"/>
              </a:spcAft>
              <a:buSzPct val="100000"/>
              <a:buChar char="•"/>
            </a:pPr>
            <a:r>
              <a:rPr lang="en-US" sz="1500" dirty="0">
                <a:solidFill>
                  <a:srgbClr val="334155"/>
                </a:solidFill>
              </a:rPr>
              <a:t>Waves on the program's gates, the factory, metrics and funding</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6D68760F-8C0D-D0A6-9AAC-26618CC6364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0747890-17C8-41EA-8F21-BD2092B686FA}"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3180"/>
    </mc:Choice>
    <mc:Fallback>
      <p:transition spd="slow" advTm="231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9176"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reference implementation: one application in miniature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Eight cards. On the left, a blue card for the React front end in the web folder (case list, triage, approve or reject) has an arrow labeled /api to a blue card for the Spring Boot REST service in the service folder (OpenAPI contract checked by a test; problem details for errors). The service has an arrow labeled triage to a violet card for the triage agent (identity, sponsor, tool allow-list; step limit, every call audited; writes only PENDING proposals). The agent has a green arrow labeled proposal to a green card, a person decides (only an approval changes a case), and a dashed arrow to a slate card, ModelClient (provider-neutral, stub by default). On the right, a slate card for the synthetic legacy DB2 or Oracle schema (H2 stand-in in tests) has an arrow to an amber card for the migration tool (transform, upsert, delta mode; row counts, checksum, aggregates), which has an arrow labeled load and prove to a blue card for PostgreSQL (schema owned by the service through Flyway, file V1 baseline). The service also has an arrow to PostgreSQL."/>
          <p:cNvPicPr>
            <a:picLocks noChangeAspect="1"/>
          </p:cNvPicPr>
          <p:nvPr/>
        </p:nvPicPr>
        <p:blipFill>
          <a:blip r:embed="rId5"/>
          <a:stretch>
            <a:fillRect/>
          </a:stretch>
        </p:blipFill>
        <p:spPr>
          <a:xfrm>
            <a:off x="548640" y="1371600"/>
            <a:ext cx="5486400" cy="4144898"/>
          </a:xfrm>
          <a:prstGeom prst="rect">
            <a:avLst/>
          </a:prstGeom>
        </p:spPr>
      </p:pic>
      <p:graphicFrame>
        <p:nvGraphicFramePr>
          <p:cNvPr id="28" name="Parts"/>
          <p:cNvGraphicFramePr>
            <a:graphicFrameLocks noGrp="1"/>
          </p:cNvGraphicFramePr>
          <p:nvPr>
            <p:extLst>
              <p:ext uri="{D42A27DB-BD31-4B8C-83A1-F6EECF244321}">
                <p14:modId xmlns:p14="http://schemas.microsoft.com/office/powerpoint/2010/main" val="1579011935"/>
              </p:ext>
            </p:extLst>
          </p:nvPr>
        </p:nvGraphicFramePr>
        <p:xfrm>
          <a:off x="6217920" y="1371600"/>
          <a:ext cx="5440680" cy="2523744"/>
        </p:xfrm>
        <a:graphic>
          <a:graphicData uri="http://schemas.openxmlformats.org/drawingml/2006/table">
            <a:tbl>
              <a:tblPr firstRow="1" bandRow="1"/>
              <a:tblGrid>
                <a:gridCol w="1371600">
                  <a:extLst>
                    <a:ext uri="{9D8B030D-6E8A-4147-A177-3AD203B41FA5}">
                      <a16:colId xmlns:a16="http://schemas.microsoft.com/office/drawing/2014/main" val="20000"/>
                    </a:ext>
                  </a:extLst>
                </a:gridCol>
                <a:gridCol w="352044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Part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it shows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REST service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Spring Boot over PostgreSQL; Flyway owns the schema; a contract test; RFC 9457 errors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03</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Front end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React: case list, Run triage, approve or reject proposals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03</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Migration tool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JDBC from DB2 or Oracle; transform, upsert, delta mode; three checks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04</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Agent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ModelClient with a stub; identity, sponsor, allow-list, step limit, audit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05</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Containers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compose file and two Dockerfiles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03</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Versions">
            <a:extLst>
              <a:ext uri="{C183D7F6-B498-43B3-948B-1728B52AA6E4}">
                <adec:decorative xmlns:adec="http://schemas.microsoft.com/office/drawing/2017/decorative" val="1"/>
              </a:ext>
            </a:extLst>
          </p:cNvPr>
          <p:cNvSpPr/>
          <p:nvPr/>
        </p:nvSpPr>
        <p:spPr>
          <a:xfrm>
            <a:off x="6217920" y="4078224"/>
            <a:ext cx="5440680" cy="1280160"/>
          </a:xfrm>
          <a:prstGeom prst="roundRect">
            <a:avLst>
              <a:gd name="adj" fmla="val 5714"/>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8" name="Versions head"/>
          <p:cNvSpPr txBox="1"/>
          <p:nvPr/>
        </p:nvSpPr>
        <p:spPr>
          <a:xfrm>
            <a:off x="6400800" y="4187952"/>
            <a:ext cx="5074920" cy="310896"/>
          </a:xfrm>
          <a:prstGeom prst="rect">
            <a:avLst/>
          </a:prstGeom>
          <a:noFill/>
          <a:ln/>
        </p:spPr>
        <p:txBody>
          <a:bodyPr wrap="square" lIns="0" tIns="0" rIns="0" bIns="0" rtlCol="0" anchor="t"/>
          <a:lstStyle/>
          <a:p>
            <a:pPr marL="0" indent="0">
              <a:buNone/>
            </a:pPr>
            <a:r>
              <a:rPr lang="en-US" sz="1100" b="1" dirty="0">
                <a:solidFill>
                  <a:srgbClr val="64748B"/>
                </a:solidFill>
              </a:rPr>
              <a:t>VERSIONS, OCT. 28, 2026</a:t>
            </a:r>
            <a:endParaRPr lang="en-US" sz="1400" dirty="0"/>
          </a:p>
        </p:txBody>
      </p:sp>
      <p:sp>
        <p:nvSpPr>
          <p:cNvPr id="9" name="Versions list"/>
          <p:cNvSpPr txBox="1"/>
          <p:nvPr/>
        </p:nvSpPr>
        <p:spPr>
          <a:xfrm>
            <a:off x="6400800" y="4517136"/>
            <a:ext cx="5120640" cy="76809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Spring Boot 4.1.2; PostgreSQL 18.6; React 19.3.1</a:t>
            </a:r>
            <a:endParaRPr lang="en-US" sz="1400" dirty="0"/>
          </a:p>
          <a:p>
            <a:pPr marL="342900" indent="-342900">
              <a:spcAft>
                <a:spcPts val="400"/>
              </a:spcAft>
              <a:buSzPct val="100000"/>
              <a:buChar char="•"/>
            </a:pPr>
            <a:r>
              <a:rPr lang="en-US" sz="1250" dirty="0">
                <a:solidFill>
                  <a:schemeClr val="tx2"/>
                </a:solidFill>
              </a:rPr>
              <a:t>Departures: compiled for Java 21, not 25; contract in OpenAPI 3.1, not 3.2</a:t>
            </a:r>
            <a:endParaRPr lang="en-US" sz="14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examples/app-modernization; Maven Central (spring-boot); PostgreSQL versioning; npm registry (react); RFC 9457. Illustrative, synthetic data, no authentication. Book 18,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27</a:t>
            </a:fld>
            <a:endParaRPr lang="en-US"/>
          </a:p>
        </p:txBody>
      </p:sp>
      <p:pic>
        <p:nvPicPr>
          <p:cNvPr id="6" name="Narration" descr="Narration for this slide; captions available">
            <a:hlinkClick r:id="" action="ppaction://media"/>
            <a:extLst>
              <a:ext uri="{FF2B5EF4-FFF2-40B4-BE49-F238E27FC236}">
                <a16:creationId xmlns:a16="http://schemas.microsoft.com/office/drawing/2014/main" id="{1B777E8F-E885-242A-B82F-172A843D8DA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C14201B-AFF3-4BB8-871B-63254F23F84B}"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800"/>
    </mc:Choice>
    <mc:Fallback>
      <p:transition spd="slow" advTm="388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800"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the code shows: contract, three checks, guardrails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Contract">
            <a:extLst>
              <a:ext uri="{C183D7F6-B498-43B3-948B-1728B52AA6E4}">
                <adec:decorative xmlns:adec="http://schemas.microsoft.com/office/drawing/2017/decorative" val="1"/>
              </a:ext>
            </a:extLst>
          </p:cNvPr>
          <p:cNvSpPr/>
          <p:nvPr/>
        </p:nvSpPr>
        <p:spPr>
          <a:xfrm>
            <a:off x="548640" y="1371600"/>
            <a:ext cx="3611880" cy="2331720"/>
          </a:xfrm>
          <a:prstGeom prst="roundRect">
            <a:avLst>
              <a:gd name="adj" fmla="val 3137"/>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Contract head"/>
          <p:cNvSpPr txBox="1"/>
          <p:nvPr/>
        </p:nvSpPr>
        <p:spPr>
          <a:xfrm>
            <a:off x="731520" y="1481328"/>
            <a:ext cx="3246120" cy="310896"/>
          </a:xfrm>
          <a:prstGeom prst="rect">
            <a:avLst/>
          </a:prstGeom>
          <a:noFill/>
          <a:ln/>
        </p:spPr>
        <p:txBody>
          <a:bodyPr wrap="square" lIns="0" tIns="0" rIns="0" bIns="0" rtlCol="0" anchor="t"/>
          <a:lstStyle/>
          <a:p>
            <a:pPr marL="0" indent="0">
              <a:buNone/>
            </a:pPr>
            <a:r>
              <a:rPr lang="en-US" sz="1100" b="1" dirty="0">
                <a:solidFill>
                  <a:srgbClr val="64748B"/>
                </a:solidFill>
              </a:rPr>
              <a:t>THE SERVICE AND ITS CONTRACT</a:t>
            </a:r>
            <a:endParaRPr lang="en-US" sz="1400" dirty="0"/>
          </a:p>
        </p:txBody>
      </p:sp>
      <p:sp>
        <p:nvSpPr>
          <p:cNvPr id="7" name="Contract list"/>
          <p:cNvSpPr txBox="1"/>
          <p:nvPr/>
        </p:nvSpPr>
        <p:spPr>
          <a:xfrm>
            <a:off x="731520" y="1810512"/>
            <a:ext cx="3291840" cy="181965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Five endpoints; openapi.yaml written by hand and served</a:t>
            </a:r>
            <a:endParaRPr lang="en-US" sz="1400" dirty="0"/>
          </a:p>
          <a:p>
            <a:pPr marL="342900" indent="-342900">
              <a:spcAft>
                <a:spcPts val="400"/>
              </a:spcAft>
              <a:buSzPct val="100000"/>
              <a:buChar char="•"/>
            </a:pPr>
            <a:r>
              <a:rPr lang="en-US" sz="1250" dirty="0">
                <a:solidFill>
                  <a:schemeClr val="tx2"/>
                </a:solidFill>
              </a:rPr>
              <a:t>A test compares it with Spring's mappings, both ways</a:t>
            </a:r>
            <a:endParaRPr lang="en-US" sz="1400" dirty="0"/>
          </a:p>
          <a:p>
            <a:pPr marL="342900" indent="-342900">
              <a:spcAft>
                <a:spcPts val="400"/>
              </a:spcAft>
              <a:buSzPct val="100000"/>
              <a:buChar char="•"/>
            </a:pPr>
            <a:r>
              <a:rPr lang="en-US" sz="1250" dirty="0">
                <a:solidFill>
                  <a:schemeClr val="tx2"/>
                </a:solidFill>
              </a:rPr>
              <a:t>Undocumented endpoint or unbuilt path: a red build</a:t>
            </a:r>
            <a:endParaRPr lang="en-US" sz="1400" dirty="0"/>
          </a:p>
          <a:p>
            <a:pPr marL="342900" indent="-342900">
              <a:spcAft>
                <a:spcPts val="400"/>
              </a:spcAft>
              <a:buSzPct val="100000"/>
              <a:buChar char="•"/>
            </a:pPr>
            <a:r>
              <a:rPr lang="en-US" sz="1250" dirty="0">
                <a:solidFill>
                  <a:schemeClr val="tx2"/>
                </a:solidFill>
              </a:rPr>
              <a:t>Errors as problem details: 404, 400, 409</a:t>
            </a:r>
            <a:endParaRPr lang="en-US" sz="1400" dirty="0"/>
          </a:p>
        </p:txBody>
      </p:sp>
      <p:sp>
        <p:nvSpPr>
          <p:cNvPr id="8" name="Migrate">
            <a:extLst>
              <a:ext uri="{C183D7F6-B498-43B3-948B-1728B52AA6E4}">
                <adec:decorative xmlns:adec="http://schemas.microsoft.com/office/drawing/2017/decorative" val="1"/>
              </a:ext>
            </a:extLst>
          </p:cNvPr>
          <p:cNvSpPr/>
          <p:nvPr/>
        </p:nvSpPr>
        <p:spPr>
          <a:xfrm>
            <a:off x="4297680" y="1371600"/>
            <a:ext cx="3611880" cy="2514600"/>
          </a:xfrm>
          <a:prstGeom prst="roundRect">
            <a:avLst>
              <a:gd name="adj" fmla="val 2909"/>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9" name="Migrate head"/>
          <p:cNvSpPr txBox="1"/>
          <p:nvPr/>
        </p:nvSpPr>
        <p:spPr>
          <a:xfrm>
            <a:off x="4480560" y="1481328"/>
            <a:ext cx="3246120" cy="310896"/>
          </a:xfrm>
          <a:prstGeom prst="rect">
            <a:avLst/>
          </a:prstGeom>
          <a:noFill/>
          <a:ln/>
        </p:spPr>
        <p:txBody>
          <a:bodyPr wrap="square" lIns="0" tIns="0" rIns="0" bIns="0" rtlCol="0" anchor="t"/>
          <a:lstStyle/>
          <a:p>
            <a:pPr marL="0" indent="0">
              <a:buNone/>
            </a:pPr>
            <a:r>
              <a:rPr lang="en-US" sz="1100" b="1" dirty="0">
                <a:solidFill>
                  <a:srgbClr val="64748B"/>
                </a:solidFill>
              </a:rPr>
              <a:t>THE MIGRATION TOOL</a:t>
            </a:r>
            <a:endParaRPr lang="en-US" sz="1400" dirty="0"/>
          </a:p>
        </p:txBody>
      </p:sp>
      <p:sp>
        <p:nvSpPr>
          <p:cNvPr id="10" name="Migrate list"/>
          <p:cNvSpPr txBox="1"/>
          <p:nvPr/>
        </p:nvSpPr>
        <p:spPr>
          <a:xfrm>
            <a:off x="4480560" y="1810512"/>
            <a:ext cx="3291840" cy="200253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DB2-style legacy habits: padded CHAR, one-letter codes, a 0001-01-01 sentinel</a:t>
            </a:r>
            <a:endParaRPr lang="en-US" sz="1400" dirty="0"/>
          </a:p>
          <a:p>
            <a:pPr marL="342900" indent="-342900">
              <a:spcAft>
                <a:spcPts val="400"/>
              </a:spcAft>
              <a:buSzPct val="100000"/>
              <a:buChar char="•"/>
            </a:pPr>
            <a:r>
              <a:rPr lang="en-US" sz="1250" dirty="0">
                <a:solidFill>
                  <a:schemeClr val="tx2"/>
                </a:solidFill>
              </a:rPr>
              <a:t>Documented transforms; an unmappable value stops the run</a:t>
            </a:r>
            <a:endParaRPr lang="en-US" sz="1400" dirty="0"/>
          </a:p>
          <a:p>
            <a:pPr marL="342900" indent="-342900">
              <a:spcAft>
                <a:spcPts val="400"/>
              </a:spcAft>
              <a:buSzPct val="100000"/>
              <a:buChar char="•"/>
            </a:pPr>
            <a:r>
              <a:rPr lang="en-US" sz="1250" dirty="0">
                <a:solidFill>
                  <a:schemeClr val="tx2"/>
                </a:solidFill>
              </a:rPr>
              <a:t>Delta mode can't see applicant changes or deletes</a:t>
            </a:r>
            <a:endParaRPr lang="en-US" sz="1400" dirty="0"/>
          </a:p>
          <a:p>
            <a:pPr marL="342900" indent="-342900">
              <a:spcAft>
                <a:spcPts val="400"/>
              </a:spcAft>
              <a:buSzPct val="100000"/>
              <a:buChar char="•"/>
            </a:pPr>
            <a:r>
              <a:rPr lang="en-US" sz="1250" dirty="0">
                <a:solidFill>
                  <a:schemeClr val="tx2"/>
                </a:solidFill>
              </a:rPr>
              <a:t>Report: keys, counts and digests, never row contents</a:t>
            </a:r>
            <a:endParaRPr lang="en-US" sz="1400" dirty="0"/>
          </a:p>
        </p:txBody>
      </p:sp>
      <p:sp>
        <p:nvSpPr>
          <p:cNvPr id="11" name="Agent">
            <a:extLst>
              <a:ext uri="{C183D7F6-B498-43B3-948B-1728B52AA6E4}">
                <adec:decorative xmlns:adec="http://schemas.microsoft.com/office/drawing/2017/decorative" val="1"/>
              </a:ext>
            </a:extLst>
          </p:cNvPr>
          <p:cNvSpPr/>
          <p:nvPr/>
        </p:nvSpPr>
        <p:spPr>
          <a:xfrm>
            <a:off x="8046720" y="1371600"/>
            <a:ext cx="3611880" cy="2148840"/>
          </a:xfrm>
          <a:prstGeom prst="roundRect">
            <a:avLst>
              <a:gd name="adj" fmla="val 3404"/>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2" name="Agent head"/>
          <p:cNvSpPr txBox="1"/>
          <p:nvPr/>
        </p:nvSpPr>
        <p:spPr>
          <a:xfrm>
            <a:off x="8229600" y="1481328"/>
            <a:ext cx="3246120" cy="310896"/>
          </a:xfrm>
          <a:prstGeom prst="rect">
            <a:avLst/>
          </a:prstGeom>
          <a:noFill/>
          <a:ln/>
        </p:spPr>
        <p:txBody>
          <a:bodyPr wrap="square" lIns="0" tIns="0" rIns="0" bIns="0" rtlCol="0" anchor="t"/>
          <a:lstStyle/>
          <a:p>
            <a:pPr marL="0" indent="0">
              <a:buNone/>
            </a:pPr>
            <a:r>
              <a:rPr lang="en-US" sz="1100" b="1" dirty="0">
                <a:solidFill>
                  <a:srgbClr val="64748B"/>
                </a:solidFill>
              </a:rPr>
              <a:t>THE AGENT</a:t>
            </a:r>
            <a:endParaRPr lang="en-US" sz="1400" dirty="0"/>
          </a:p>
        </p:txBody>
      </p:sp>
      <p:sp>
        <p:nvSpPr>
          <p:cNvPr id="13" name="Agent list"/>
          <p:cNvSpPr txBox="1"/>
          <p:nvPr/>
        </p:nvSpPr>
        <p:spPr>
          <a:xfrm>
            <a:off x="8229600" y="1810512"/>
            <a:ext cx="3291840" cy="16367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Won't start without an agent ID and a sponsor</a:t>
            </a:r>
            <a:endParaRPr lang="en-US" sz="1400" dirty="0"/>
          </a:p>
          <a:p>
            <a:pPr marL="342900" indent="-342900">
              <a:spcAft>
                <a:spcPts val="400"/>
              </a:spcAft>
              <a:buSzPct val="100000"/>
              <a:buChar char="•"/>
            </a:pPr>
            <a:r>
              <a:rPr lang="en-US" sz="1250" dirty="0">
                <a:solidFill>
                  <a:schemeClr val="tx2"/>
                </a:solidFill>
              </a:rPr>
              <a:t>Unlisted tools refused and audited; arguments validated</a:t>
            </a:r>
            <a:endParaRPr lang="en-US" sz="1400" dirty="0"/>
          </a:p>
          <a:p>
            <a:pPr marL="342900" indent="-342900">
              <a:spcAft>
                <a:spcPts val="400"/>
              </a:spcAft>
              <a:buSzPct val="100000"/>
              <a:buChar char="•"/>
            </a:pPr>
            <a:r>
              <a:rPr lang="en-US" sz="1250" dirty="0">
                <a:solidFill>
                  <a:schemeClr val="tx2"/>
                </a:solidFill>
              </a:rPr>
              <a:t>Step limit of five by default</a:t>
            </a:r>
            <a:endParaRPr lang="en-US" sz="1400" dirty="0"/>
          </a:p>
          <a:p>
            <a:pPr marL="342900" indent="-342900">
              <a:spcAft>
                <a:spcPts val="400"/>
              </a:spcAft>
              <a:buSzPct val="100000"/>
              <a:buChar char="•"/>
            </a:pPr>
            <a:r>
              <a:rPr lang="en-US" sz="1250" dirty="0">
                <a:solidFill>
                  <a:schemeClr val="tx2"/>
                </a:solidFill>
              </a:rPr>
              <a:t>Writes only PENDING proposals; a decision in its own name is refused</a:t>
            </a:r>
            <a:endParaRPr lang="en-US" sz="1400" dirty="0"/>
          </a:p>
        </p:txBody>
      </p:sp>
      <p:sp>
        <p:nvSpPr>
          <p:cNvPr id="14" name="Break">
            <a:extLst>
              <a:ext uri="{C183D7F6-B498-43B3-948B-1728B52AA6E4}">
                <adec:decorative xmlns:adec="http://schemas.microsoft.com/office/drawing/2017/decorative" val="1"/>
              </a:ext>
            </a:extLst>
          </p:cNvPr>
          <p:cNvSpPr/>
          <p:nvPr/>
        </p:nvSpPr>
        <p:spPr>
          <a:xfrm>
            <a:off x="548640" y="4114800"/>
            <a:ext cx="11109960" cy="822960"/>
          </a:xfrm>
          <a:prstGeom prst="roundRect">
            <a:avLst>
              <a:gd name="adj" fmla="val 8889"/>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5" name="Icon FaClipboardCheck">
            <a:extLst>
              <a:ext uri="{C183D7F6-B498-43B3-948B-1728B52AA6E4}">
                <adec:decorative xmlns:adec="http://schemas.microsoft.com/office/drawing/2017/decorative" val="1"/>
              </a:ext>
            </a:extLst>
          </p:cNvPr>
          <p:cNvSpPr/>
          <p:nvPr/>
        </p:nvSpPr>
        <p:spPr>
          <a:xfrm>
            <a:off x="777240" y="4160520"/>
            <a:ext cx="731520" cy="731520"/>
          </a:xfrm>
          <a:prstGeom prst="ellipse">
            <a:avLst/>
          </a:prstGeom>
          <a:solidFill>
            <a:srgbClr val="0F766E"/>
          </a:solidFill>
          <a:ln w="12700">
            <a:solidFill>
              <a:srgbClr val="0F766E"/>
            </a:solidFill>
            <a:prstDash val="solid"/>
          </a:ln>
        </p:spPr>
      </p:sp>
      <p:pic>
        <p:nvPicPr>
          <p:cNvPr id="1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336085"/>
            <a:ext cx="380390" cy="380390"/>
          </a:xfrm>
          <a:prstGeom prst="rect">
            <a:avLst/>
          </a:prstGeom>
        </p:spPr>
      </p:pic>
      <p:sp>
        <p:nvSpPr>
          <p:cNvPr id="17" name="Break text"/>
          <p:cNvSpPr txBox="1"/>
          <p:nvPr/>
        </p:nvSpPr>
        <p:spPr>
          <a:xfrm>
            <a:off x="1737360" y="4160520"/>
            <a:ext cx="9738360" cy="731520"/>
          </a:xfrm>
          <a:prstGeom prst="rect">
            <a:avLst/>
          </a:prstGeom>
          <a:noFill/>
          <a:ln/>
        </p:spPr>
        <p:txBody>
          <a:bodyPr wrap="square" lIns="0" tIns="0" rIns="0" bIns="0" rtlCol="0" anchor="ctr"/>
          <a:lstStyle/>
          <a:p>
            <a:pPr marL="0" indent="0">
              <a:buNone/>
            </a:pPr>
            <a:r>
              <a:rPr lang="en-US" sz="1650" b="1" dirty="0">
                <a:solidFill>
                  <a:srgbClr val="0F766E"/>
                </a:solidFill>
              </a:rPr>
              <a:t>The tests break things on purpose: </a:t>
            </a:r>
            <a:r>
              <a:rPr lang="en-US" sz="1650" dirty="0">
                <a:solidFill>
                  <a:schemeClr val="tx2"/>
                </a:solidFill>
              </a:rPr>
              <a:t>one changed amount fails checksum and aggregates; a truncated name fails only the checksum; stub modes misbehave.</a:t>
            </a:r>
            <a:endParaRPr lang="en-US" sz="1650" dirty="0"/>
          </a:p>
        </p:txBody>
      </p:sp>
      <p:sp>
        <p:nvSpPr>
          <p:cNvPr id="18"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18, Ch 08 and the README in examples/app-modernization; RFC 9457 (July 2023). The implementation is illustrative, not production code. Book 18,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28</a:t>
            </a:fld>
            <a:endParaRPr lang="en-US"/>
          </a:p>
        </p:txBody>
      </p:sp>
      <p:pic>
        <p:nvPicPr>
          <p:cNvPr id="19" name="Narration" descr="Narration for this slide; captions available">
            <a:hlinkClick r:id="" action="ppaction://media"/>
            <a:extLst>
              <a:ext uri="{FF2B5EF4-FFF2-40B4-BE49-F238E27FC236}">
                <a16:creationId xmlns:a16="http://schemas.microsoft.com/office/drawing/2014/main" id="{5C21B575-1D0E-C537-70C3-0988CBA6E2C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77CDD9F-9FEE-4E86-97E8-1E5B3A606391}"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990"/>
    </mc:Choice>
    <mc:Fallback>
      <p:transition spd="slow" advTm="359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992"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was verified on October 28, 2026, and what wasn't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30" name="Verified"/>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3072384"/>
        </p:xfrm>
        <a:graphic>
          <a:graphicData uri="http://schemas.openxmlformats.org/drawingml/2006/table">
            <a:tbl>
              <a:tblPr firstRow="1" bandRow="1"/>
              <a:tblGrid>
                <a:gridCol w="3657600">
                  <a:extLst>
                    <a:ext uri="{9D8B030D-6E8A-4147-A177-3AD203B41FA5}">
                      <a16:colId xmlns:a16="http://schemas.microsoft.com/office/drawing/2014/main" val="20000"/>
                    </a:ext>
                  </a:extLst>
                </a:gridCol>
                <a:gridCol w="7452360">
                  <a:extLst>
                    <a:ext uri="{9D8B030D-6E8A-4147-A177-3AD203B41FA5}">
                      <a16:colId xmlns:a16="http://schemas.microsoft.com/office/drawing/2014/main" val="20001"/>
                    </a:ext>
                  </a:extLst>
                </a:gridCol>
              </a:tblGrid>
              <a:tr h="310896">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Claim</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Status on October 28, 2026</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The service works against real PostgreSQL</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Verified: 25 service tests pass against PostgreSQL 18.6 with the Flyway migration applied; one asserts the engine and version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The contract matches the code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Verified by the contract test, in both directions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The migration tool's transforms and checks work</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Verified: 12 migration tests load into real PostgreSQL with the service's own schema</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The migration works against real DB2 or Oracle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b="1" dirty="0">
                          <a:solidFill>
                            <a:srgbClr val="B91C1C"/>
                          </a:solidFill>
                          <a:latin typeface="Calibri" pitchFamily="34" charset="0"/>
                          <a:ea typeface="Calibri" pitchFamily="34" charset="-122"/>
                          <a:cs typeface="Calibri" pitchFamily="34" charset="-120"/>
                        </a:rPr>
                        <a:t>Not verified: H2's DB2 and Oracle compatibility modes stand in, and one difference has already shown up</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The agent's guardrails hold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Verified against the stub and scripted misbehaving replies; not run against a real model</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The front end works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6 component tests pass with network calls mocked; no end-to-end browser test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The containers start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b="1" dirty="0">
                          <a:solidFill>
                            <a:srgbClr val="B91C1C"/>
                          </a:solidFill>
                          <a:latin typeface="Calibri" pitchFamily="34" charset="0"/>
                          <a:ea typeface="Calibri" pitchFamily="34" charset="-122"/>
                          <a:cs typeface="Calibri" pitchFamily="34" charset="-120"/>
                        </a:rPr>
                        <a:t>Not verified: Docker wasn't available; the compose file was checked only as YAML</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Prod">
            <a:extLst>
              <a:ext uri="{C183D7F6-B498-43B3-948B-1728B52AA6E4}">
                <adec:decorative xmlns:adec="http://schemas.microsoft.com/office/drawing/2017/decorative" val="1"/>
              </a:ext>
            </a:extLst>
          </p:cNvPr>
          <p:cNvSpPr/>
          <p:nvPr/>
        </p:nvSpPr>
        <p:spPr>
          <a:xfrm>
            <a:off x="548640" y="4626864"/>
            <a:ext cx="11109960" cy="822960"/>
          </a:xfrm>
          <a:prstGeom prst="roundRect">
            <a:avLst>
              <a:gd name="adj" fmla="val 8889"/>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7" name="Icon FaShieldHalved">
            <a:extLst>
              <a:ext uri="{C183D7F6-B498-43B3-948B-1728B52AA6E4}">
                <adec:decorative xmlns:adec="http://schemas.microsoft.com/office/drawing/2017/decorative" val="1"/>
              </a:ext>
            </a:extLst>
          </p:cNvPr>
          <p:cNvSpPr/>
          <p:nvPr/>
        </p:nvSpPr>
        <p:spPr>
          <a:xfrm>
            <a:off x="777240" y="4672584"/>
            <a:ext cx="731520" cy="731520"/>
          </a:xfrm>
          <a:prstGeom prst="ellipse">
            <a:avLst/>
          </a:prstGeom>
          <a:solidFill>
            <a:srgbClr val="B45309"/>
          </a:solidFill>
          <a:ln w="12700">
            <a:solidFill>
              <a:srgbClr val="B45309"/>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848149"/>
            <a:ext cx="380390" cy="380390"/>
          </a:xfrm>
          <a:prstGeom prst="rect">
            <a:avLst/>
          </a:prstGeom>
        </p:spPr>
      </p:pic>
      <p:sp>
        <p:nvSpPr>
          <p:cNvPr id="9" name="Prod text"/>
          <p:cNvSpPr txBox="1"/>
          <p:nvPr/>
        </p:nvSpPr>
        <p:spPr>
          <a:xfrm>
            <a:off x="1737360" y="4672584"/>
            <a:ext cx="9738360" cy="731520"/>
          </a:xfrm>
          <a:prstGeom prst="rect">
            <a:avLst/>
          </a:prstGeom>
          <a:noFill/>
          <a:ln/>
        </p:spPr>
        <p:txBody>
          <a:bodyPr wrap="square" lIns="0" tIns="0" rIns="0" bIns="0" rtlCol="0" anchor="ctr"/>
          <a:lstStyle/>
          <a:p>
            <a:pPr marL="0" indent="0">
              <a:buNone/>
            </a:pPr>
            <a:r>
              <a:rPr lang="en-US" sz="1650" b="1" dirty="0">
                <a:solidFill>
                  <a:srgbClr val="B45309"/>
                </a:solidFill>
              </a:rPr>
              <a:t>A production version adds: </a:t>
            </a:r>
            <a:r>
              <a:rPr lang="en-US" sz="1650" dirty="0">
                <a:solidFill>
                  <a:schemeClr val="tx2"/>
                </a:solidFill>
              </a:rPr>
              <a:t>sign-in through the agency's identity provider, a workload identity for the agent, secrets from a vault, an SBOM and signed builds.</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18, Ch 08, "What was verified, and what wasn't" and "Running it"; Zonky embedded-postgres 2.2.2 (Maven Central). Book 18,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29</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5E3E7CB4-FD65-A306-351B-063BA91F80B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8A933FD-BD22-4179-9DE2-2D68E1716B56}"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610"/>
    </mc:Choice>
    <mc:Fallback>
      <p:transition spd="slow" advTm="386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60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TOGAF: the ADM phases, and the chapters that do them</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A vertical chain of ten cards following the ADM cycle. Preliminary, violet: capability and governance, Chapter 07 board, standards, gates. Phase A, slate: Architecture Vision, Chapter 01 the portfolio argument. Phase B, slate: Business Architecture, Chapter 02 mission criticality and owners. Beside Phase B, a violet card at the center: Requirements Management, Chapter 06 controls, privacy, records, with dashed arrows to Phase C and Phase F. Phase C, blue: Information Systems, Chapter 03 applications, Chapter 04 data, Chapter 05 AI. Phase D, blue: Technology Architecture, Chapter 03 runtime and containers, Chapter 08. Phase E, amber: Opportunities and Solutions, Chapter 02 dispositions, Chapter 10 move groups. Phase F, amber: Migration Planning, Chapter 10 waves and funding. Phase G, green: Implementation Governance, Chapter 07 gates, Chapter 04 validation, Chapter 08. Phase H, violet: Architecture Change Management, Chapter 10 keeping the triage current. A dashed violet arrow labeled next cycle returns from Phase H to Phase A."/>
          <p:cNvPicPr>
            <a:picLocks noChangeAspect="1"/>
          </p:cNvPicPr>
          <p:nvPr/>
        </p:nvPicPr>
        <p:blipFill>
          <a:blip r:embed="rId5"/>
          <a:stretch>
            <a:fillRect/>
          </a:stretch>
        </p:blipFill>
        <p:spPr>
          <a:xfrm>
            <a:off x="548640" y="1371600"/>
            <a:ext cx="3474720" cy="4511406"/>
          </a:xfrm>
          <a:prstGeom prst="rect">
            <a:avLst/>
          </a:prstGeom>
        </p:spPr>
      </p:pic>
      <p:graphicFrame>
        <p:nvGraphicFramePr>
          <p:cNvPr id="31" name="ADM"/>
          <p:cNvGraphicFramePr>
            <a:graphicFrameLocks noGrp="1"/>
          </p:cNvGraphicFramePr>
          <p:nvPr>
            <p:extLst>
              <p:ext uri="{D42A27DB-BD31-4B8C-83A1-F6EECF244321}">
                <p14:modId xmlns:p14="http://schemas.microsoft.com/office/powerpoint/2010/main" val="1579011935"/>
              </p:ext>
            </p:extLst>
          </p:nvPr>
        </p:nvGraphicFramePr>
        <p:xfrm>
          <a:off x="4206240" y="1371600"/>
          <a:ext cx="7452360" cy="3584448"/>
        </p:xfrm>
        <a:graphic>
          <a:graphicData uri="http://schemas.openxmlformats.org/drawingml/2006/table">
            <a:tbl>
              <a:tblPr firstRow="1" bandRow="1"/>
              <a:tblGrid>
                <a:gridCol w="2697480">
                  <a:extLst>
                    <a:ext uri="{9D8B030D-6E8A-4147-A177-3AD203B41FA5}">
                      <a16:colId xmlns:a16="http://schemas.microsoft.com/office/drawing/2014/main" val="20000"/>
                    </a:ext>
                  </a:extLst>
                </a:gridCol>
                <a:gridCol w="4754880">
                  <a:extLst>
                    <a:ext uri="{9D8B030D-6E8A-4147-A177-3AD203B41FA5}">
                      <a16:colId xmlns:a16="http://schemas.microsoft.com/office/drawing/2014/main" val="20001"/>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ADM phase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Book 18 work it stands in for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Preliminary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Ch 06, 07, 09: principles, the board and gates, tailoring the frameworks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  Architecture Vision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Ch 01: scope, the problem and the case for change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B  Business Architecture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Ch 02: mission criticality, owners, cost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  Information Systems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Ch 03, 04, 05: applications, data, AI</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  Technology Architecture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Ch 03, 08: runtimes, containers, building blocks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  Opportunities and Solutions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Ch 02, 10: dispositions; move groups as work packages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F  Migration Planning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Ch 10: the wave plan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G  Implementation Governance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Ch 04, 07, 08: gates, validation, conformance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H  Architecture Change Mgmt.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Ch 10: re-triage starts the next cycle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Requirements Management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Ch 05, 06: AI, security, privacy and records requirements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
        <p:nvSpPr>
          <p:cNvPr id="7" name="Standard">
            <a:extLst>
              <a:ext uri="{C183D7F6-B498-43B3-948B-1728B52AA6E4}">
                <adec:decorative xmlns:adec="http://schemas.microsoft.com/office/drawing/2017/decorative" val="1"/>
              </a:ext>
            </a:extLst>
          </p:cNvPr>
          <p:cNvSpPr/>
          <p:nvPr/>
        </p:nvSpPr>
        <p:spPr>
          <a:xfrm>
            <a:off x="4206240" y="5093208"/>
            <a:ext cx="7452360" cy="777240"/>
          </a:xfrm>
          <a:prstGeom prst="roundRect">
            <a:avLst>
              <a:gd name="adj" fmla="val 9412"/>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8" name="Standard list"/>
          <p:cNvSpPr txBox="1"/>
          <p:nvPr/>
        </p:nvSpPr>
        <p:spPr>
          <a:xfrm>
            <a:off x="4389120" y="5303520"/>
            <a:ext cx="7132320" cy="4937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TOGAF 10th Edition (C220), announced Apr. 25, 2022; Technical Corrigendum 1 applied May 2025</a:t>
            </a:r>
            <a:endParaRPr lang="en-US" sz="14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The Open Group: TOGAF 10th Edition launch, C220 page, licensed downloads, ADM index; OMB A-130 §5.a(2). The mapping is the program's reading. Book 18, Ch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30</a:t>
            </a:fld>
            <a:endParaRPr lang="en-US"/>
          </a:p>
        </p:txBody>
      </p:sp>
      <p:pic>
        <p:nvPicPr>
          <p:cNvPr id="6" name="Narration" descr="Narration for this slide; captions available">
            <a:hlinkClick r:id="" action="ppaction://media"/>
            <a:extLst>
              <a:ext uri="{FF2B5EF4-FFF2-40B4-BE49-F238E27FC236}">
                <a16:creationId xmlns:a16="http://schemas.microsoft.com/office/drawing/2014/main" id="{A7B94BCC-B28A-E5F1-6BB3-C3EB15DA06F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B872D4C-21A3-49A4-9AEF-A6E412D3B4E8}"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110"/>
    </mc:Choice>
    <mc:Fallback>
      <p:transition spd="slow" advTm="391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112"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Zachman: the cells filled, and the gaps that show</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32" name="Cells"/>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2670048"/>
        </p:xfrm>
        <a:graphic>
          <a:graphicData uri="http://schemas.openxmlformats.org/drawingml/2006/table">
            <a:tbl>
              <a:tblPr firstRow="1" bandRow="1"/>
              <a:tblGrid>
                <a:gridCol w="26060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1508760">
                  <a:extLst>
                    <a:ext uri="{9D8B030D-6E8A-4147-A177-3AD203B41FA5}">
                      <a16:colId xmlns:a16="http://schemas.microsoft.com/office/drawing/2014/main" val="20002"/>
                    </a:ext>
                  </a:extLst>
                </a:gridCol>
                <a:gridCol w="4617720">
                  <a:extLst>
                    <a:ext uri="{9D8B030D-6E8A-4147-A177-3AD203B41FA5}">
                      <a16:colId xmlns:a16="http://schemas.microsoft.com/office/drawing/2014/main" val="20003"/>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Book 18 work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Row (perspective)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Column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Cell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Ch 01–02 portfolio and triage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1 Executive; 2 Business Mgmt.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What; Who; Why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Inventory Identification; Responsibility Definition; Motivation Definition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Ch 03 target architecture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3 Architect; 4 Engineer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How; Where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Process Representation; Distribution Specification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Ch 04 data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3 Architect; 4 Engineer; 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What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Inventory Representation, Specification and Instantiations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Ch 05 agents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3 Architect; 4 Engineer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Who; How</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Responsibility Representation; Responsibility Specification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Ch 07 governance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2 Business Mgmt.; 3 Architect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Who; When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Responsibility Definition; Timing Representation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Ch 08 reference implementation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5 Technician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All six</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Configuration cells, for one application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Gaps">
            <a:extLst>
              <a:ext uri="{C183D7F6-B498-43B3-948B-1728B52AA6E4}">
                <adec:decorative xmlns:adec="http://schemas.microsoft.com/office/drawing/2017/decorative" val="1"/>
              </a:ext>
            </a:extLst>
          </p:cNvPr>
          <p:cNvSpPr/>
          <p:nvPr/>
        </p:nvSpPr>
        <p:spPr>
          <a:xfrm>
            <a:off x="548640" y="4224528"/>
            <a:ext cx="5477256" cy="1463040"/>
          </a:xfrm>
          <a:prstGeom prst="roundRect">
            <a:avLst>
              <a:gd name="adj" fmla="val 5000"/>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7" name="Gaps head"/>
          <p:cNvSpPr txBox="1"/>
          <p:nvPr/>
        </p:nvSpPr>
        <p:spPr>
          <a:xfrm>
            <a:off x="731520" y="4334256"/>
            <a:ext cx="5111496" cy="310896"/>
          </a:xfrm>
          <a:prstGeom prst="rect">
            <a:avLst/>
          </a:prstGeom>
          <a:noFill/>
          <a:ln/>
        </p:spPr>
        <p:txBody>
          <a:bodyPr wrap="square" lIns="0" tIns="0" rIns="0" bIns="0" rtlCol="0" anchor="t"/>
          <a:lstStyle/>
          <a:p>
            <a:pPr marL="0" indent="0">
              <a:buNone/>
            </a:pPr>
            <a:r>
              <a:rPr lang="en-US" sz="1100" b="1" dirty="0">
                <a:solidFill>
                  <a:srgbClr val="64748B"/>
                </a:solidFill>
              </a:rPr>
              <a:t>GAPS THE GRID SHOWS</a:t>
            </a:r>
            <a:endParaRPr lang="en-US" sz="1400" dirty="0"/>
          </a:p>
        </p:txBody>
      </p:sp>
      <p:sp>
        <p:nvSpPr>
          <p:cNvPr id="8" name="Gaps list"/>
          <p:cNvSpPr txBox="1"/>
          <p:nvPr/>
        </p:nvSpPr>
        <p:spPr>
          <a:xfrm>
            <a:off x="731520" y="4663440"/>
            <a:ext cx="5157216" cy="9509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Where is thin above row 4: locations and networks are Books 09 and 10</a:t>
            </a:r>
            <a:endParaRPr lang="en-US" sz="1400" dirty="0"/>
          </a:p>
          <a:p>
            <a:pPr marL="342900" indent="-342900">
              <a:spcAft>
                <a:spcPts val="400"/>
              </a:spcAft>
              <a:buSzPct val="100000"/>
              <a:buChar char="•"/>
            </a:pPr>
            <a:r>
              <a:rPr lang="en-US" sz="1250" dirty="0">
                <a:solidFill>
                  <a:schemeClr val="tx2"/>
                </a:solidFill>
              </a:rPr>
              <a:t>When is thin below row 2: batch windows belong in each design review</a:t>
            </a:r>
            <a:endParaRPr lang="en-US" sz="1400" dirty="0"/>
          </a:p>
        </p:txBody>
      </p:sp>
      <p:sp>
        <p:nvSpPr>
          <p:cNvPr id="9" name="Use">
            <a:extLst>
              <a:ext uri="{C183D7F6-B498-43B3-948B-1728B52AA6E4}">
                <adec:decorative xmlns:adec="http://schemas.microsoft.com/office/drawing/2017/decorative" val="1"/>
              </a:ext>
            </a:extLst>
          </p:cNvPr>
          <p:cNvSpPr/>
          <p:nvPr/>
        </p:nvSpPr>
        <p:spPr>
          <a:xfrm>
            <a:off x="6181344" y="4224528"/>
            <a:ext cx="5477256" cy="1097280"/>
          </a:xfrm>
          <a:prstGeom prst="roundRect">
            <a:avLst>
              <a:gd name="adj" fmla="val 6667"/>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0" name="Use head"/>
          <p:cNvSpPr txBox="1"/>
          <p:nvPr/>
        </p:nvSpPr>
        <p:spPr>
          <a:xfrm>
            <a:off x="6364224" y="4334256"/>
            <a:ext cx="5111496" cy="310896"/>
          </a:xfrm>
          <a:prstGeom prst="rect">
            <a:avLst/>
          </a:prstGeom>
          <a:noFill/>
          <a:ln/>
        </p:spPr>
        <p:txBody>
          <a:bodyPr wrap="square" lIns="0" tIns="0" rIns="0" bIns="0" rtlCol="0" anchor="t"/>
          <a:lstStyle/>
          <a:p>
            <a:pPr marL="0" indent="0">
              <a:buNone/>
            </a:pPr>
            <a:r>
              <a:rPr lang="en-US" sz="1100" b="1" dirty="0">
                <a:solidFill>
                  <a:srgbClr val="64748B"/>
                </a:solidFill>
              </a:rPr>
              <a:t>USING THE MAPPINGS (DESIGN)</a:t>
            </a:r>
            <a:endParaRPr lang="en-US" sz="1400" dirty="0"/>
          </a:p>
        </p:txBody>
      </p:sp>
      <p:sp>
        <p:nvSpPr>
          <p:cNvPr id="11" name="Use list"/>
          <p:cNvSpPr txBox="1"/>
          <p:nvPr/>
        </p:nvSpPr>
        <p:spPr>
          <a:xfrm>
            <a:off x="6364224" y="4663440"/>
            <a:ext cx="5157216" cy="58521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File, don't redo; answer PM-7 and PL-8 with the A-130 triad</a:t>
            </a:r>
            <a:endParaRPr lang="en-US" sz="1400" dirty="0"/>
          </a:p>
          <a:p>
            <a:pPr marL="342900" indent="-342900">
              <a:spcAft>
                <a:spcPts val="400"/>
              </a:spcAft>
              <a:buSzPct val="100000"/>
              <a:buChar char="•"/>
            </a:pPr>
            <a:r>
              <a:rPr lang="en-US" sz="1250" dirty="0">
                <a:solidFill>
                  <a:schemeClr val="tx2"/>
                </a:solidFill>
              </a:rPr>
              <a:t>An empty cell is a question, not a defect</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Zachman Framework v3.0, The Enterprise Ontology (© 1987–2011); Zachman International, About and Evolution; NIST SP 800-53 PM-7, PL-8; archived FEAF v2 page. Book 18, Ch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31</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5181CF9B-3602-6CF8-4AB7-9A2BF12B283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7437525-A1F4-4430-AC2C-F158AFA8C7DA}"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4600"/>
    </mc:Choice>
    <mc:Fallback>
      <p:transition spd="slow" advTm="346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060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waves on the program's phases and gates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A vertical chain of six cards. Phase 0, Pre-flight, gate G0, slate: inventory and triage, every application scored and given a disposition. Phase 1, Foundation, gate G1, blue: build the factory, platform, patterns, pipelines, validation tooling. Phase 2, Pilot, gate G2, amber: pilot wave, a few low-complexity applications plus one representative hard one. An arrow labeled lessons into runbooks leads to Phase 3, General rollout, gate G3, blue: factory waves, move groups by shared data and owner, plan four to five waves ahead. Phase 4, Legacy retirement, gate G4, red: decommission, retire replaced applications, DB2 and Oracle instances, licenses. Phase 6, Steady state, green: long tail and re-triage, retain with end dates, re-score on triggers. A dashed violet arrow leads from Phase 6 to a violet card, re-triage triggers: end of support, incident or finding, cost or mission change, and another dashed arrow labeled re-score returns to Phase 0."/>
          <p:cNvPicPr>
            <a:picLocks noChangeAspect="1"/>
          </p:cNvPicPr>
          <p:nvPr/>
        </p:nvPicPr>
        <p:blipFill>
          <a:blip r:embed="rId5"/>
          <a:stretch>
            <a:fillRect/>
          </a:stretch>
        </p:blipFill>
        <p:spPr>
          <a:xfrm>
            <a:off x="548640" y="1371600"/>
            <a:ext cx="2743200" cy="4479324"/>
          </a:xfrm>
          <a:prstGeom prst="rect">
            <a:avLst/>
          </a:prstGeom>
        </p:spPr>
      </p:pic>
      <p:graphicFrame>
        <p:nvGraphicFramePr>
          <p:cNvPr id="33" name="Phases"/>
          <p:cNvGraphicFramePr>
            <a:graphicFrameLocks noGrp="1"/>
          </p:cNvGraphicFramePr>
          <p:nvPr>
            <p:extLst>
              <p:ext uri="{D42A27DB-BD31-4B8C-83A1-F6EECF244321}">
                <p14:modId xmlns:p14="http://schemas.microsoft.com/office/powerpoint/2010/main" val="1579011935"/>
              </p:ext>
            </p:extLst>
          </p:nvPr>
        </p:nvGraphicFramePr>
        <p:xfrm>
          <a:off x="3291840" y="1371600"/>
          <a:ext cx="8366760" cy="3383280"/>
        </p:xfrm>
        <a:graphic>
          <a:graphicData uri="http://schemas.openxmlformats.org/drawingml/2006/table">
            <a:tbl>
              <a:tblPr firstRow="1" bandRow="1"/>
              <a:tblGrid>
                <a:gridCol w="237744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2148840">
                  <a:extLst>
                    <a:ext uri="{9D8B030D-6E8A-4147-A177-3AD203B41FA5}">
                      <a16:colId xmlns:a16="http://schemas.microsoft.com/office/drawing/2014/main" val="20002"/>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Phase and gate (Book 01)</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What it means for the portfolio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Leaves behind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0 Pre-flight; G0</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Inventory, score, disposition and owner for every application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Triage record; a first wave plan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1 Foundation; G1</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Build the factory; stand up the review gates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One test app moved end to end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2 Pilot; G2</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Run the pilot wave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Runbooks rewritten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3 General rollout; G3</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Run the factory waves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Apps modernized and authorized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4 Legacy retirement; G4</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Decommission servers, DB2 and Oracle instances, licenses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Retirement records, signed off</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5 AD DS retirement; G5</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 production app may still authenticate against AD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 dependency check for G5</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6 Steady state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Work the long tail; re-triage on a cadence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 portfolio that stays current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7" name="Kinds">
            <a:extLst>
              <a:ext uri="{C183D7F6-B498-43B3-948B-1728B52AA6E4}">
                <adec:decorative xmlns:adec="http://schemas.microsoft.com/office/drawing/2017/decorative" val="1"/>
              </a:ext>
            </a:extLst>
          </p:cNvPr>
          <p:cNvSpPr/>
          <p:nvPr/>
        </p:nvSpPr>
        <p:spPr>
          <a:xfrm>
            <a:off x="3291840" y="4864608"/>
            <a:ext cx="8366760" cy="1097280"/>
          </a:xfrm>
          <a:prstGeom prst="roundRect">
            <a:avLst>
              <a:gd name="adj" fmla="val 6667"/>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8" name="Kinds head"/>
          <p:cNvSpPr txBox="1"/>
          <p:nvPr/>
        </p:nvSpPr>
        <p:spPr>
          <a:xfrm>
            <a:off x="3474720" y="4974336"/>
            <a:ext cx="8001000" cy="310896"/>
          </a:xfrm>
          <a:prstGeom prst="rect">
            <a:avLst/>
          </a:prstGeom>
          <a:noFill/>
          <a:ln/>
        </p:spPr>
        <p:txBody>
          <a:bodyPr wrap="square" lIns="0" tIns="0" rIns="0" bIns="0" rtlCol="0" anchor="t"/>
          <a:lstStyle/>
          <a:p>
            <a:pPr marL="0" indent="0">
              <a:buNone/>
            </a:pPr>
            <a:r>
              <a:rPr lang="en-US" sz="1100" b="1" dirty="0">
                <a:solidFill>
                  <a:srgbClr val="64748B"/>
                </a:solidFill>
              </a:rPr>
              <a:t>THREE KINDS OF WAVE (PROGRAM DESIGN)</a:t>
            </a:r>
            <a:endParaRPr lang="en-US" sz="1400" dirty="0"/>
          </a:p>
        </p:txBody>
      </p:sp>
      <p:sp>
        <p:nvSpPr>
          <p:cNvPr id="9" name="Kinds list"/>
          <p:cNvSpPr txBox="1"/>
          <p:nvPr/>
        </p:nvSpPr>
        <p:spPr>
          <a:xfrm>
            <a:off x="3474720" y="5303520"/>
            <a:ext cx="8046720" cy="58521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Pilot: three to five simple apps plus one hard case with DB2 or Oracle and a real contract</a:t>
            </a:r>
            <a:endParaRPr lang="en-US" sz="1400" dirty="0"/>
          </a:p>
          <a:p>
            <a:pPr marL="342900" indent="-342900">
              <a:spcAft>
                <a:spcPts val="400"/>
              </a:spcAft>
              <a:buSzPct val="100000"/>
              <a:buChar char="•"/>
            </a:pPr>
            <a:r>
              <a:rPr lang="en-US" sz="1250" dirty="0">
                <a:solidFill>
                  <a:schemeClr val="tx2"/>
                </a:solidFill>
              </a:rPr>
              <a:t>Factory waves: move groups sized by measured throughput; long tail: owners and review dates</a:t>
            </a:r>
            <a:endParaRPr lang="en-US" sz="14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01, Ch 12 (phases, gates G0–G5 and authorities); AWS Prescriptive Guidance, wave planning; Microsoft CAF, migration wave planning. Book 18, Ch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32</a:t>
            </a:fld>
            <a:endParaRPr lang="en-US"/>
          </a:p>
        </p:txBody>
      </p:sp>
      <p:pic>
        <p:nvPicPr>
          <p:cNvPr id="6" name="Narration" descr="Narration for this slide; captions available">
            <a:hlinkClick r:id="" action="ppaction://media"/>
            <a:extLst>
              <a:ext uri="{FF2B5EF4-FFF2-40B4-BE49-F238E27FC236}">
                <a16:creationId xmlns:a16="http://schemas.microsoft.com/office/drawing/2014/main" id="{0EFB28F0-9297-F249-8048-4F93CA92557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C06C87E-2E03-417D-BEA4-CA5E0D6D0BFE}"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940"/>
    </mc:Choice>
    <mc:Fallback>
      <p:transition spd="slow" advTm="379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936"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Move groups, the factory, metrics and funding</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Plan">
            <a:extLst>
              <a:ext uri="{C183D7F6-B498-43B3-948B-1728B52AA6E4}">
                <adec:decorative xmlns:adec="http://schemas.microsoft.com/office/drawing/2017/decorative" val="1"/>
              </a:ext>
            </a:extLst>
          </p:cNvPr>
          <p:cNvSpPr/>
          <p:nvPr/>
        </p:nvSpPr>
        <p:spPr>
          <a:xfrm>
            <a:off x="548640" y="1371600"/>
            <a:ext cx="3611880" cy="2514600"/>
          </a:xfrm>
          <a:prstGeom prst="roundRect">
            <a:avLst>
              <a:gd name="adj" fmla="val 2909"/>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lan head"/>
          <p:cNvSpPr txBox="1"/>
          <p:nvPr/>
        </p:nvSpPr>
        <p:spPr>
          <a:xfrm>
            <a:off x="731520" y="1481328"/>
            <a:ext cx="3246120" cy="310896"/>
          </a:xfrm>
          <a:prstGeom prst="rect">
            <a:avLst/>
          </a:prstGeom>
          <a:noFill/>
          <a:ln/>
        </p:spPr>
        <p:txBody>
          <a:bodyPr wrap="square" lIns="0" tIns="0" rIns="0" bIns="0" rtlCol="0" anchor="t"/>
          <a:lstStyle/>
          <a:p>
            <a:pPr marL="0" indent="0">
              <a:buNone/>
            </a:pPr>
            <a:r>
              <a:rPr lang="en-US" sz="1100" b="1" dirty="0">
                <a:solidFill>
                  <a:srgbClr val="64748B"/>
                </a:solidFill>
              </a:rPr>
              <a:t>PLANNING WAVES</a:t>
            </a:r>
            <a:endParaRPr lang="en-US" sz="1400" dirty="0"/>
          </a:p>
        </p:txBody>
      </p:sp>
      <p:sp>
        <p:nvSpPr>
          <p:cNvPr id="7" name="Plan list"/>
          <p:cNvSpPr txBox="1"/>
          <p:nvPr/>
        </p:nvSpPr>
        <p:spPr>
          <a:xfrm>
            <a:off x="731520" y="1810512"/>
            <a:ext cx="3291840" cy="200253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A move group: apps that share a database or an owner move together</a:t>
            </a:r>
            <a:endParaRPr lang="en-US" sz="1400" dirty="0"/>
          </a:p>
          <a:p>
            <a:pPr marL="342900" indent="-342900">
              <a:spcAft>
                <a:spcPts val="400"/>
              </a:spcAft>
              <a:buSzPct val="100000"/>
              <a:buChar char="•"/>
            </a:pPr>
            <a:r>
              <a:rPr lang="en-US" sz="1250" dirty="0">
                <a:solidFill>
                  <a:schemeClr val="tx2"/>
                </a:solidFill>
              </a:rPr>
              <a:t>A shared DB2 or Oracle schema: one move group, or one app goes first behind an interface</a:t>
            </a:r>
            <a:endParaRPr lang="en-US" sz="1400" dirty="0"/>
          </a:p>
          <a:p>
            <a:pPr marL="342900" indent="-342900">
              <a:spcAft>
                <a:spcPts val="400"/>
              </a:spcAft>
              <a:buSzPct val="100000"/>
              <a:buChar char="•"/>
            </a:pPr>
            <a:r>
              <a:rPr lang="en-US" sz="1250" dirty="0">
                <a:solidFill>
                  <a:schemeClr val="tx2"/>
                </a:solidFill>
              </a:rPr>
              <a:t>Rank five waves deep; plan only the next in detail</a:t>
            </a:r>
            <a:endParaRPr lang="en-US" sz="1400" dirty="0"/>
          </a:p>
          <a:p>
            <a:pPr marL="342900" indent="-342900">
              <a:spcAft>
                <a:spcPts val="400"/>
              </a:spcAft>
              <a:buSzPct val="100000"/>
              <a:buChar char="•"/>
            </a:pPr>
            <a:r>
              <a:rPr lang="en-US" sz="1250" dirty="0">
                <a:solidFill>
                  <a:schemeClr val="tx2"/>
                </a:solidFill>
              </a:rPr>
              <a:t>Re-score on triggers, and yearly with the budget</a:t>
            </a:r>
            <a:endParaRPr lang="en-US" sz="1400" dirty="0"/>
          </a:p>
        </p:txBody>
      </p:sp>
      <p:sp>
        <p:nvSpPr>
          <p:cNvPr id="8" name="Factory">
            <a:extLst>
              <a:ext uri="{C183D7F6-B498-43B3-948B-1728B52AA6E4}">
                <adec:decorative xmlns:adec="http://schemas.microsoft.com/office/drawing/2017/decorative" val="1"/>
              </a:ext>
            </a:extLst>
          </p:cNvPr>
          <p:cNvSpPr/>
          <p:nvPr/>
        </p:nvSpPr>
        <p:spPr>
          <a:xfrm>
            <a:off x="4297680" y="1371600"/>
            <a:ext cx="3611880" cy="2103120"/>
          </a:xfrm>
          <a:prstGeom prst="roundRect">
            <a:avLst>
              <a:gd name="adj" fmla="val 3478"/>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Factory head"/>
          <p:cNvSpPr txBox="1"/>
          <p:nvPr/>
        </p:nvSpPr>
        <p:spPr>
          <a:xfrm>
            <a:off x="4480560" y="1481328"/>
            <a:ext cx="3246120" cy="310896"/>
          </a:xfrm>
          <a:prstGeom prst="rect">
            <a:avLst/>
          </a:prstGeom>
          <a:noFill/>
          <a:ln/>
        </p:spPr>
        <p:txBody>
          <a:bodyPr wrap="square" lIns="0" tIns="0" rIns="0" bIns="0" rtlCol="0" anchor="t"/>
          <a:lstStyle/>
          <a:p>
            <a:pPr marL="0" indent="0">
              <a:buNone/>
            </a:pPr>
            <a:r>
              <a:rPr lang="en-US" sz="1100" b="1" dirty="0">
                <a:solidFill>
                  <a:srgbClr val="64748B"/>
                </a:solidFill>
              </a:rPr>
              <a:t>THE FACTORY AND ITS METRICS</a:t>
            </a:r>
            <a:endParaRPr lang="en-US" sz="1400" dirty="0"/>
          </a:p>
        </p:txBody>
      </p:sp>
      <p:sp>
        <p:nvSpPr>
          <p:cNvPr id="10" name="Factory list"/>
          <p:cNvSpPr txBox="1"/>
          <p:nvPr/>
        </p:nvSpPr>
        <p:spPr>
          <a:xfrm>
            <a:off x="4480560" y="1810512"/>
            <a:ext cx="3291840" cy="159105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Platform, patterns, pipelines, data tooling, runbooks, a portfolio team</a:t>
            </a:r>
            <a:endParaRPr lang="en-US" sz="1400" dirty="0"/>
          </a:p>
          <a:p>
            <a:pPr marL="342900" indent="-342900">
              <a:spcAft>
                <a:spcPts val="400"/>
              </a:spcAft>
              <a:buSzPct val="100000"/>
              <a:buChar char="•"/>
            </a:pPr>
            <a:r>
              <a:rPr lang="en-US" sz="1250" dirty="0">
                <a:solidFill>
                  <a:schemeClr val="tx2"/>
                </a:solidFill>
              </a:rPr>
              <a:t>Its test: wave five costs less per application than wave one</a:t>
            </a:r>
            <a:endParaRPr lang="en-US" sz="1400" dirty="0"/>
          </a:p>
          <a:p>
            <a:pPr marL="342900" indent="-342900">
              <a:spcAft>
                <a:spcPts val="400"/>
              </a:spcAft>
              <a:buSzPct val="100000"/>
              <a:buChar char="•"/>
            </a:pPr>
            <a:r>
              <a:rPr lang="en-US" sz="1250" dirty="0">
                <a:solidFill>
                  <a:schemeClr val="tx2"/>
                </a:solidFill>
              </a:rPr>
              <a:t>Metrics from records: retired, validated first time, defects after cut-over, time to authorization, DORA</a:t>
            </a:r>
            <a:endParaRPr lang="en-US" sz="1400" dirty="0"/>
          </a:p>
        </p:txBody>
      </p:sp>
      <p:sp>
        <p:nvSpPr>
          <p:cNvPr id="11" name="Fund">
            <a:extLst>
              <a:ext uri="{C183D7F6-B498-43B3-948B-1728B52AA6E4}">
                <adec:decorative xmlns:adec="http://schemas.microsoft.com/office/drawing/2017/decorative" val="1"/>
              </a:ext>
            </a:extLst>
          </p:cNvPr>
          <p:cNvSpPr/>
          <p:nvPr/>
        </p:nvSpPr>
        <p:spPr>
          <a:xfrm>
            <a:off x="8046720" y="1371600"/>
            <a:ext cx="3611880" cy="2286000"/>
          </a:xfrm>
          <a:prstGeom prst="roundRect">
            <a:avLst>
              <a:gd name="adj" fmla="val 3200"/>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2" name="Fund head"/>
          <p:cNvSpPr txBox="1"/>
          <p:nvPr/>
        </p:nvSpPr>
        <p:spPr>
          <a:xfrm>
            <a:off x="8229600" y="1481328"/>
            <a:ext cx="3246120" cy="310896"/>
          </a:xfrm>
          <a:prstGeom prst="rect">
            <a:avLst/>
          </a:prstGeom>
          <a:noFill/>
          <a:ln/>
        </p:spPr>
        <p:txBody>
          <a:bodyPr wrap="square" lIns="0" tIns="0" rIns="0" bIns="0" rtlCol="0" anchor="t"/>
          <a:lstStyle/>
          <a:p>
            <a:pPr marL="0" indent="0">
              <a:buNone/>
            </a:pPr>
            <a:r>
              <a:rPr lang="en-US" sz="1100" b="1" dirty="0">
                <a:solidFill>
                  <a:srgbClr val="64748B"/>
                </a:solidFill>
              </a:rPr>
              <a:t>FUNDING BY WAVE</a:t>
            </a:r>
            <a:endParaRPr lang="en-US" sz="1400" dirty="0"/>
          </a:p>
        </p:txBody>
      </p:sp>
      <p:sp>
        <p:nvSpPr>
          <p:cNvPr id="13" name="Fund list"/>
          <p:cNvSpPr txBox="1"/>
          <p:nvPr/>
        </p:nvSpPr>
        <p:spPr>
          <a:xfrm>
            <a:off x="8229600" y="1810512"/>
            <a:ext cx="3291840" cy="177393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TMF: typically under $25M, five-year repayment, outcomes ideally in 12 months</a:t>
            </a:r>
            <a:endParaRPr lang="en-US" sz="1400" dirty="0"/>
          </a:p>
          <a:p>
            <a:pPr marL="342900" indent="-342900">
              <a:spcAft>
                <a:spcPts val="400"/>
              </a:spcAft>
              <a:buSzPct val="100000"/>
              <a:buChar char="•"/>
            </a:pPr>
            <a:r>
              <a:rPr lang="en-US" sz="1250" dirty="0">
                <a:solidFill>
                  <a:schemeClr val="tx2"/>
                </a:solidFill>
              </a:rPr>
              <a:t>MGT Act working capital fund: three years; can't supplant O&amp;M; savings fund the next wave</a:t>
            </a:r>
            <a:endParaRPr lang="en-US" sz="1400" dirty="0"/>
          </a:p>
          <a:p>
            <a:pPr marL="342900" indent="-342900">
              <a:spcAft>
                <a:spcPts val="400"/>
              </a:spcAft>
              <a:buSzPct val="100000"/>
              <a:buChar char="•"/>
            </a:pPr>
            <a:r>
              <a:rPr lang="en-US" sz="1250" dirty="0">
                <a:solidFill>
                  <a:schemeClr val="tx2"/>
                </a:solidFill>
              </a:rPr>
              <a:t>Capital planning (40 U.S.C. 11312); the CIO signs the wave plan</a:t>
            </a:r>
            <a:endParaRPr lang="en-US" sz="1400" dirty="0"/>
          </a:p>
        </p:txBody>
      </p:sp>
      <p:sp>
        <p:nvSpPr>
          <p:cNvPr id="14" name="Avoided">
            <a:extLst>
              <a:ext uri="{C183D7F6-B498-43B3-948B-1728B52AA6E4}">
                <adec:decorative xmlns:adec="http://schemas.microsoft.com/office/drawing/2017/decorative" val="1"/>
              </a:ext>
            </a:extLst>
          </p:cNvPr>
          <p:cNvSpPr/>
          <p:nvPr/>
        </p:nvSpPr>
        <p:spPr>
          <a:xfrm>
            <a:off x="548640" y="4114800"/>
            <a:ext cx="11109960" cy="822960"/>
          </a:xfrm>
          <a:prstGeom prst="roundRect">
            <a:avLst>
              <a:gd name="adj" fmla="val 8889"/>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5" name="Icon FaChartLine">
            <a:extLst>
              <a:ext uri="{C183D7F6-B498-43B3-948B-1728B52AA6E4}">
                <adec:decorative xmlns:adec="http://schemas.microsoft.com/office/drawing/2017/decorative" val="1"/>
              </a:ext>
            </a:extLst>
          </p:cNvPr>
          <p:cNvSpPr/>
          <p:nvPr/>
        </p:nvSpPr>
        <p:spPr>
          <a:xfrm>
            <a:off x="777240" y="4160520"/>
            <a:ext cx="731520" cy="731520"/>
          </a:xfrm>
          <a:prstGeom prst="ellipse">
            <a:avLst/>
          </a:prstGeom>
          <a:solidFill>
            <a:srgbClr val="B45309"/>
          </a:solidFill>
          <a:ln w="12700">
            <a:solidFill>
              <a:srgbClr val="B45309"/>
            </a:solidFill>
            <a:prstDash val="solid"/>
          </a:ln>
        </p:spPr>
      </p:sp>
      <p:pic>
        <p:nvPicPr>
          <p:cNvPr id="1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336085"/>
            <a:ext cx="380390" cy="380390"/>
          </a:xfrm>
          <a:prstGeom prst="rect">
            <a:avLst/>
          </a:prstGeom>
        </p:spPr>
      </p:pic>
      <p:sp>
        <p:nvSpPr>
          <p:cNvPr id="17" name="Avoided text"/>
          <p:cNvSpPr txBox="1"/>
          <p:nvPr/>
        </p:nvSpPr>
        <p:spPr>
          <a:xfrm>
            <a:off x="1737360" y="4160520"/>
            <a:ext cx="9738360" cy="731520"/>
          </a:xfrm>
          <a:prstGeom prst="rect">
            <a:avLst/>
          </a:prstGeom>
          <a:noFill/>
          <a:ln/>
        </p:spPr>
        <p:txBody>
          <a:bodyPr wrap="square" lIns="0" tIns="0" rIns="0" bIns="0" rtlCol="0" anchor="ctr"/>
          <a:lstStyle/>
          <a:p>
            <a:pPr marL="0" indent="0">
              <a:buNone/>
            </a:pPr>
            <a:r>
              <a:rPr lang="en-US" sz="1650" b="1" dirty="0">
                <a:solidFill>
                  <a:srgbClr val="B45309"/>
                </a:solidFill>
              </a:rPr>
              <a:t>Report cost avoided only from Phase 4 records: </a:t>
            </a:r>
            <a:r>
              <a:rPr lang="en-US" sz="1650" dirty="0">
                <a:solidFill>
                  <a:schemeClr val="tx2"/>
                </a:solidFill>
              </a:rPr>
              <a:t>it's a forecast until the old system is actually switched off.</a:t>
            </a:r>
            <a:endParaRPr lang="en-US" sz="1650" dirty="0"/>
          </a:p>
        </p:txBody>
      </p:sp>
      <p:sp>
        <p:nvSpPr>
          <p:cNvPr id="18"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AWS Prescriptive Guidance; Microsoft CAF; DORA metrics; TMF fit, process and 2026 call; MGT Act §1077(b); 40 U.S.C. §11312; OMB M-26-10. Book 18, Ch 02,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33</a:t>
            </a:fld>
            <a:endParaRPr lang="en-US"/>
          </a:p>
        </p:txBody>
      </p:sp>
      <p:pic>
        <p:nvPicPr>
          <p:cNvPr id="19" name="Narration" descr="Narration for this slide; captions available">
            <a:hlinkClick r:id="" action="ppaction://media"/>
            <a:extLst>
              <a:ext uri="{FF2B5EF4-FFF2-40B4-BE49-F238E27FC236}">
                <a16:creationId xmlns:a16="http://schemas.microsoft.com/office/drawing/2014/main" id="{B685C97E-99E9-4006-E5D8-3C0EC7E1436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E528F64-E630-4E6D-AA5E-450133B291D9}"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580"/>
    </mc:Choice>
    <mc:Fallback>
      <p:transition spd="slow" advTm="385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584"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Decisions, owners, and what to start on Monday</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35" name="Decisions"/>
          <p:cNvGraphicFramePr>
            <a:graphicFrameLocks noGrp="1"/>
          </p:cNvGraphicFramePr>
          <p:nvPr>
            <p:extLst>
              <p:ext uri="{D42A27DB-BD31-4B8C-83A1-F6EECF244321}">
                <p14:modId xmlns:p14="http://schemas.microsoft.com/office/powerpoint/2010/main" val="1579011935"/>
              </p:ext>
            </p:extLst>
          </p:nvPr>
        </p:nvGraphicFramePr>
        <p:xfrm>
          <a:off x="548640" y="1371600"/>
          <a:ext cx="8001000" cy="3552444"/>
        </p:xfrm>
        <a:graphic>
          <a:graphicData uri="http://schemas.openxmlformats.org/drawingml/2006/table">
            <a:tbl>
              <a:tblPr firstRow="1" bandRow="1"/>
              <a:tblGrid>
                <a:gridCol w="4800600">
                  <a:extLst>
                    <a:ext uri="{9D8B030D-6E8A-4147-A177-3AD203B41FA5}">
                      <a16:colId xmlns:a16="http://schemas.microsoft.com/office/drawing/2014/main" val="20000"/>
                    </a:ext>
                  </a:extLst>
                </a:gridCol>
                <a:gridCol w="242316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tblGrid>
              <a:tr h="315468">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Decision (design guidance)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Who decides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Ch.</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The triage criteria, weights and rules, once; then the contested cases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Leadership</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02</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Each application's disposition (Gate 1)</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Application owner, with the steward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02, 07</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The approved-technology list, its versions and upgrade dates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Chief architect, as board chair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03, 07</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The security and privacy control requirements for designs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CISO and privacy official</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06, 07</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An application's cut-over strategy</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Application owner and AO</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04</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Whether a change is significant; acceptance of residual risk</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Authorizing official</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07</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IT contracts, licenses and the wave plan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CIO</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07, 10</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Monday">
            <a:extLst>
              <a:ext uri="{C183D7F6-B498-43B3-948B-1728B52AA6E4}">
                <adec:decorative xmlns:adec="http://schemas.microsoft.com/office/drawing/2017/decorative" val="1"/>
              </a:ext>
            </a:extLst>
          </p:cNvPr>
          <p:cNvSpPr/>
          <p:nvPr/>
        </p:nvSpPr>
        <p:spPr>
          <a:xfrm>
            <a:off x="8778240" y="1371600"/>
            <a:ext cx="2880360" cy="3337560"/>
          </a:xfrm>
          <a:prstGeom prst="roundRect">
            <a:avLst>
              <a:gd name="adj" fmla="val 2540"/>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7" name="Monday head"/>
          <p:cNvSpPr txBox="1"/>
          <p:nvPr/>
        </p:nvSpPr>
        <p:spPr>
          <a:xfrm>
            <a:off x="8961120" y="1481328"/>
            <a:ext cx="2514600" cy="640080"/>
          </a:xfrm>
          <a:prstGeom prst="rect">
            <a:avLst/>
          </a:prstGeom>
          <a:noFill/>
          <a:ln/>
        </p:spPr>
        <p:txBody>
          <a:bodyPr wrap="square" lIns="0" tIns="0" rIns="0" bIns="0" rtlCol="0" anchor="t"/>
          <a:lstStyle/>
          <a:p>
            <a:pPr marL="0" indent="0">
              <a:buNone/>
            </a:pPr>
            <a:r>
              <a:rPr lang="en-US" sz="1100" b="1" dirty="0">
                <a:solidFill>
                  <a:srgbClr val="64748B"/>
                </a:solidFill>
              </a:rPr>
              <a:t>NO NEW PLATFORM NEEDED</a:t>
            </a:r>
            <a:endParaRPr lang="en-US" sz="1400" dirty="0"/>
          </a:p>
          <a:p>
            <a:pPr marL="0" indent="0">
              <a:buNone/>
            </a:pPr>
            <a:r>
              <a:rPr lang="en-US" sz="1600" b="1" dirty="0">
                <a:solidFill>
                  <a:srgbClr val="0F766E"/>
                </a:solidFill>
                <a:latin typeface="Cambria" pitchFamily="34" charset="0"/>
                <a:ea typeface="Cambria" pitchFamily="34" charset="-122"/>
                <a:cs typeface="Cambria" pitchFamily="34" charset="-120"/>
              </a:rPr>
              <a:t>Start with these</a:t>
            </a:r>
            <a:endParaRPr lang="en-US" sz="1400" dirty="0"/>
          </a:p>
        </p:txBody>
      </p:sp>
      <p:sp>
        <p:nvSpPr>
          <p:cNvPr id="8" name="Monday list"/>
          <p:cNvSpPr txBox="1"/>
          <p:nvPr/>
        </p:nvSpPr>
        <p:spPr>
          <a:xfrm>
            <a:off x="8961120" y="2139696"/>
            <a:ext cx="2560320" cy="2496312"/>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Inventory every app with an owner</a:t>
            </a:r>
            <a:endParaRPr lang="en-US" sz="1400" dirty="0"/>
          </a:p>
          <a:p>
            <a:pPr marL="342900" indent="-342900">
              <a:spcAft>
                <a:spcPts val="400"/>
              </a:spcAft>
              <a:buSzPct val="100000"/>
              <a:buChar char="•"/>
            </a:pPr>
            <a:r>
              <a:rPr lang="en-US" sz="1400" dirty="0">
                <a:solidFill>
                  <a:schemeClr val="tx2"/>
                </a:solidFill>
              </a:rPr>
              <a:t>Calibrate the rubric on 30 to 50 known apps</a:t>
            </a:r>
            <a:endParaRPr lang="en-US" sz="1400" dirty="0"/>
          </a:p>
          <a:p>
            <a:pPr marL="342900" indent="-342900">
              <a:spcAft>
                <a:spcPts val="400"/>
              </a:spcAft>
              <a:buSzPct val="100000"/>
              <a:buChar char="•"/>
            </a:pPr>
            <a:r>
              <a:rPr lang="en-US" sz="1400" dirty="0">
                <a:solidFill>
                  <a:schemeClr val="tx2"/>
                </a:solidFill>
              </a:rPr>
              <a:t>Publish the approved list with end dates</a:t>
            </a:r>
            <a:endParaRPr lang="en-US" sz="1400" dirty="0"/>
          </a:p>
          <a:p>
            <a:pPr marL="342900" indent="-342900">
              <a:spcAft>
                <a:spcPts val="400"/>
              </a:spcAft>
              <a:buSzPct val="100000"/>
              <a:buChar char="•"/>
            </a:pPr>
            <a:r>
              <a:rPr lang="en-US" sz="1400" dirty="0">
                <a:solidFill>
                  <a:schemeClr val="tx2"/>
                </a:solidFill>
              </a:rPr>
              <a:t>Ask for three validation results before cut-over</a:t>
            </a:r>
            <a:endParaRPr lang="en-US" sz="1400" dirty="0"/>
          </a:p>
          <a:p>
            <a:pPr marL="342900" indent="-342900">
              <a:spcAft>
                <a:spcPts val="400"/>
              </a:spcAft>
              <a:buSzPct val="100000"/>
              <a:buChar char="•"/>
            </a:pPr>
            <a:r>
              <a:rPr lang="en-US" sz="1400" dirty="0">
                <a:solidFill>
                  <a:schemeClr val="tx2"/>
                </a:solidFill>
              </a:rPr>
              <a:t>Make "no agent writes a record" a standard</a:t>
            </a:r>
            <a:endParaRPr lang="en-US" sz="14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18, Chapters 01–10; OMB Circular A-130; NIST SP 800-53 Rev. 5; OMB M-26-10. Decisions and sequence are program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34</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DC9CBB98-47FE-F6C2-4CA3-28D0183C495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04FA574-B2C3-4AC1-9B19-ADE2D2508EE6}"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4100"/>
    </mc:Choice>
    <mc:Fallback>
      <p:transition spd="slow" advTm="44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10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17071</Words>
  <Application>Microsoft Office PowerPoint</Application>
  <PresentationFormat>Widescreen</PresentationFormat>
  <Paragraphs>835</Paragraphs>
  <Slides>34</Slides>
  <Notes>34</Notes>
  <HiddenSlides>0</HiddenSlides>
  <MMClips>34</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Arial</vt:lpstr>
      <vt:lpstr>Calibri</vt:lpstr>
      <vt:lpstr>Cambria</vt:lpstr>
      <vt:lpstr>Federal Modernization Workbook</vt:lpstr>
      <vt:lpstr>Application Modernization: the technical deep dive</vt:lpstr>
      <vt:lpstr>Why this matters: a portfolio, not a rewrite</vt:lpstr>
      <vt:lpstr>Module 1: The portfolio and the triage</vt:lpstr>
      <vt:lpstr>Six dispositions, in rising order of cost and risk</vt:lpstr>
      <vt:lpstr>Six criteria, each scored from data you already hold</vt:lpstr>
      <vt:lpstr>Two axes, a confidence flag, and where the grid points</vt:lpstr>
      <vt:lpstr>The decision table: seven rules, first match wins</vt:lpstr>
      <vt:lpstr>Owner review, the decision record and calibration</vt:lpstr>
      <vt:lpstr>Module 2: The target architecture and the data</vt:lpstr>
      <vt:lpstr>One target: the layers and the program's choices</vt:lpstr>
      <vt:lpstr>Support windows: build the upgrade cadence in</vt:lpstr>
      <vt:lpstr>Contracts first, thin layers, configuration from outside</vt:lpstr>
      <vt:lpstr>The strangler fig, and the NIST security references</vt:lpstr>
      <vt:lpstr>Moving the data: convert, move, prove, then cut over</vt:lpstr>
      <vt:lpstr>Schema conversion: the dangerous conversions succeed</vt:lpstr>
      <vt:lpstr>The conversion tools as of October 2026</vt:lpstr>
      <vt:lpstr>Proving nothing was lost: three checks, three blind spots</vt:lpstr>
      <vt:lpstr>Cut-over and coexistence: one writer per table</vt:lpstr>
      <vt:lpstr>Module 3: AI, compliance and governance</vt:lpstr>
      <vt:lpstr>Where AI fits, behind one provider-neutral interface</vt:lpstr>
      <vt:lpstr>Agent guardrails: read, propose, never write</vt:lpstr>
      <vt:lpstr>Compliance by design: controls across the life cycle</vt:lpstr>
      <vt:lpstr>Secure development, privacy, data and records</vt:lpstr>
      <vt:lpstr>The architecture review board: one decider each</vt:lpstr>
      <vt:lpstr>Four gates, and the evidence each one leaves</vt:lpstr>
      <vt:lpstr>Module 4: Reference implementation, frameworks, waves</vt:lpstr>
      <vt:lpstr>The reference implementation: one application in miniature</vt:lpstr>
      <vt:lpstr>What the code shows: contract, three checks, guardrails</vt:lpstr>
      <vt:lpstr>What was verified on October 28, 2026, and what wasn't</vt:lpstr>
      <vt:lpstr>TOGAF: the ADM phases, and the chapters that do them</vt:lpstr>
      <vt:lpstr>Zachman: the cells filled, and the gaps that show</vt:lpstr>
      <vt:lpstr>The waves on the program's phases and gates</vt:lpstr>
      <vt:lpstr>Move groups, the factory, metrics and funding</vt:lpstr>
      <vt:lpstr>Decisions, owners, and what to start on Monday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18 — Application Modernization — Technical Deep Dive</dc:title>
  <dc:subject>PptxGenJS Presentation</dc:subject>
  <dc:creator>Michael F. Stratton</dc:creator>
  <cp:lastModifiedBy>Michael F. Stratton</cp:lastModifiedBy>
  <cp:revision>2</cp:revision>
  <dcterms:created xsi:type="dcterms:W3CDTF">2026-10-29T05:24:55Z</dcterms:created>
  <dcterms:modified xsi:type="dcterms:W3CDTF">2026-10-29T08:50:38Z</dcterms:modified>
</cp:coreProperties>
</file>