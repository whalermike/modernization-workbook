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6c1bbd3-8842-dc0f-2004-4d52db8941af}">
          <p14:sldIdLst>
            <p14:sldId id="256"/>
          </p14:sldIdLst>
        </p14:section>
        <p14:section name="Why" id="{79677a33-cda3-8bd1-1fd4-bbe25a3eab4e}">
          <p14:sldIdLst>
            <p14:sldId id="257"/>
            <p14:sldId id="258"/>
          </p14:sldIdLst>
        </p14:section>
        <p14:section name="What" id="{ec61ae4f-de59-abc3-054d-6b676247d678}">
          <p14:sldIdLst>
            <p14:sldId id="259"/>
            <p14:sldId id="260"/>
            <p14:sldId id="261"/>
            <p14:sldId id="262"/>
            <p14:sldId id="263"/>
            <p14:sldId id="264"/>
            <p14:sldId id="265"/>
            <p14:sldId id="266"/>
            <p14:sldId id="267"/>
          </p14:sldIdLst>
        </p14:section>
        <p14:section name="Who" id="{b581f26b-f70a-f4a4-6b68-6a623857228d}">
          <p14:sldIdLst>
            <p14:sldId id="268"/>
          </p14:sldIdLst>
        </p14:section>
        <p14:section name="How" id="{12110b71-6881-bdc9-bc2c-b175f7872727}">
          <p14:sldIdLst>
            <p14:sldId id="269"/>
            <p14:sldId id="270"/>
            <p14:sldId id="271"/>
            <p14:sldId id="272"/>
            <p14:sldId id="273"/>
          </p14:sldIdLst>
        </p14:section>
        <p14:section name="Backup" id="{63c0f27b-711e-193b-0c22-aac034f64b60}">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5: Lifecycle Workflows custom extensions. A custom task extension hands a leaver, a joiner or a mover to code you wrote, and then waits for that code to say what happened. The chapter makes sure it always says, says the truth, and says it to the right cloud. We'll start from the Logic App definition Microsoft publishes, see what it leaves to you, walk the program's Logic App, registry and tools, then two labs and the dangers. One note before we begin: the code is illustrative, tested against fixtures.
Detail: The chapter covers how a Lifecycle Workflows task calls an Azure Logic App, what the call carries, how the Logic App proves who called it, and how it reports back so the workflow can go on. It starts from the Logic App definition Learn publishes, which the repository keeps as a pinned copy, and runs it against fakes to see what it does on its own. Then it builds on examples/lifecycle-extensions for what it leaves to you: one reusable Logic App per integration, a callback that always arrives, the Graph host for each US cloud, idempotency, retries that fit the timeout, and the deployment pieces built from a reviewed registry. Lab 1 runs on a laptop with no tenant; Lab 2 uses a test tenant and a test subscription. Goal: by the end you can build a Logic App that a custom task extension calls, test it without a tenant, and deploy it with its authorization policy and its custom task extension from a file you reviewed; explain what Lifecycle Workflows records when the Logic App succeeds, fails, or never calls back; and say, for each rule in the code, whether it is Microsoft's contract, Microsoft's sample, or the program's own design.
Sources: Microsoft Learn, "Lifecycle Workflows custom task extension," https://learn.microsoft.com/entra/id-governance/lifecycle-workflow-extensibility (accessed Oct 30, 2026). · Microsoft Learn, "Configure a Logic App for Lifecycle Workflow use," https://learn.microsoft.com/entra/id-governance/configure-logic-app-lifecycle-workflows (accessed Oct 30, 2026).
Workbook: Building the Attribute-Driven Migration, Chapter 05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Book 03 splits the work: provisioning creates accounts, and Lifecycle Workflows act on accounts that already exist. The built-in tasks handle the account itself, but everything else in a leaver, the PIV credential, the devices, the servers, goes through a custom task extension, which is code you write. Book 03 also sets three rules: one reusable Logic App per integration, block the account first, and make custom tasks safe to repeat. Learn sets the contract on the other side: how the Logic App is started, how long the workflow waits, and how the answer comes back. Let's see where that runs.
Detail: Book 03 splits the work: inbound provisioning creates and updates accounts, and Lifecycle Workflows act on accounts that already exist. The built-in tasks cover the account side. Everything else in a leaver (the PIV credential, the devices, the servers) goes through a custom task extension (Book 03, Chapter 09). Book 03 also sets three rules this chapter builds in code: one parameterized Logic App per integration, not one per component (Chapter 08); block first, with Disable user account and Revoke all refresh tokens for user before the custom task; and custom tasks that are idempotent and retry with a bound. What Learn says about the extension sets the contract. A custom task extension calls an Azure Logic App on the Consumption plan. It runs one of two ways: launch and continue starts the Logic App and moves on, and the task succeeds if the Logic App starts; launch and wait starts it and waits for a response, and if none arrives within the duration you set, the task is considered failed. The response can come from a third-party system if the Logic App is only an intermediary. The wait is 30 minutes to 3 hours, written as an ISO 8601 duration; Learn's deployment planning page says 3 minutes to 5 hours; the code follows the narrower range. The response is a POST to taskProcessingResult: resume with an operationStatus of completed or failed; it is in v1.0 and listed for the global service, US Government L4 and L5. New custom task extensions use proof-of-possession (PoP) tokens to call the Logic App; extensions created before PoP existed use bearer tokens and can't be migrated: you create new ones.
Sources: Microsoft Learn, "Lifecycle Workflows custom task extension," https://learn.microsoft.com/entra/id-governance/lifecycle-workflow-extensibility (accessed Oct 30, 2026). · Microsoft Learn, "customTaskExtensionCallbackConfiguration resource type," https://learn.microsoft.com/graph/api/resources/identitygovernance-customtaskextensioncallbackconfiguration?view=graph-rest-1.0 (accessed Oct 30, 2026). · Microsoft Learn, "Microsoft Entra ID Governance service limits," section "Lifecycle Workflows," https://learn.microsoft.com/entra/id-governance/governance-service-limits#lifecycle-workflows (accessed Oct 30, 2026). · Microsoft Learn, "Plan a Lifecycle Workflow deployment," section "Limitations and constraints," https://learn.microsoft.com/entra/id-governance/lifecycle-workflows-deployment (accessed Oct 30, 2026). · Microsoft Learn, "taskProcessingResult: resume," https://learn.microsoft.com/graph/api/identitygovernance-taskprocessingresult-resume?view=graph-rest-1.0 (accessed Oct 30, 2026). · Microsoft Learn, "customTaskExtensionCallbackData resource type," https://learn.microsoft.com/graph/api/resources/identitygovernance-customtaskextensioncallbackdata?view=graph-rest-1.0 (accessed Oct 30, 2026). · Microsoft Learn, "Configure a Logic App for Lifecycle Workflow use," https://learn.microsoft.com/entra/id-governance/configure-logic-app-lifecycle-workflows (accessed Oct 30, 2026). · Microsoft Learn, "Best practices for securing the custom extension extensibility to Azure Logic Apps," https://learn.microsoft.com/entra/id-governance/custom-extension-security (accessed Oct 30, 2026).
Workbook: Building the Attribute-Driven Migration, Chapter 05 — “Where the extensions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which cloud. The callback goes to Microsoft Graph, and the host depends on the tenant: a GCC tenant like this estate's keeps the worldwide endpoint, while GCC High and DoD each have their own, and a token for one cloud won't work in another. The Logic App's side matters too. Learn documents the proof-of-possession policy only for commercial Azure. For Azure Government it gives nothing, so the builder refuses rather than guess. Licensing and availability are covered in all the US clouds, and the tenant limits are the same everywhere. Next, Microsoft's own sample.
Detail: GCC keeps the worldwide Graph endpoint, graph.microsoft.com. GCC High uses graph.microsoft.us and DoD dod-graph.microsoft.us, and a token for one cloud doesn't work in another. The resume and create APIs are listed for the global service, US Government L4 and US Government L5 (DoD). Learn documents the PoP authorization policy's values only for Azure commercial. For a Logic App in Azure Government, Azure Resource Manager is management.usgovcloudapi.net, but Learn gives no PoP policy for it, so the builder refuses rather than guess (research gap 12). A tenant can hold 100 custom task extensions, and a workflow 25 tasks. Lifecycle Workflows need Microsoft Entra ID Governance or Microsoft Entra Suite licenses. Microsoft Entra ID Governance is available in GCC, GCC High and DoD, and Lifecycle Workflows are listed as available in Azure for US Government. The tenant limit is 100 workflows on the limits page and "What are lifecycle workflows?", and 50 on the licensing page; the chapter plans for 50. For this estate, a GCC tenant on the worldwide endpoints with commercial Azure, the checklist's line applies: graphHost matches the tenant's cloud; GCC uses graph.microsoft.com.
Sources: Microsoft Learn, "Microsoft Graph national cloud deployments," https://learn.microsoft.com/graph/deployments (accessed Oct 30, 2026). · Microsoft Learn, "taskProcessingResult: resume," https://learn.microsoft.com/graph/api/identitygovernance-taskprocessingresult-resume?view=graph-rest-1.0 (accessed Oct 30, 2026). · Microsoft Learn, "Create customTaskExtensions," https://learn.microsoft.com/graph/api/identitygovernance-lifecycleworkflowscontainer-post-customtaskextensions?view=graph-rest-1.0, and "Lifecycle Workflows custom task extension" (Logic Apps prerequisites) (accessed Oct 30, 2026). · Microsoft Learn, "Microsoft Entra feature availability" (Azure for US Government: Lifecycle workflows, in Microsoft Entra ID Governance), https://learn.microsoft.com/entra/identity/authentication/feature-availability (accessed Oct 30, 2026). · Microsoft Learn, "Microsoft Entra ID Governance licensing fundamentals" (Lifecycle Workflows; Government availability), https://learn.microsoft.com/entra/id-governance/licensing-fundamentals, and "What are lifecycle workflows?" (license requirements), https://learn.microsoft.com/entra/id-governance/what-are-lifecycle-workflows (accessed Oct 30, 2026). · Microsoft Learn, "Microsoft Entra ID Governance service limits," section "Lifecycle Workflows," https://learn.microsoft.com/entra/id-governance/governance-service-limits#lifecycle-workflows (accessed Oct 30, 2026). · Microsoft Learn, "Compare Azure Government and global Azure," section "Guidance for developers," https://learn.microsoft.com/azure/azure-government/compare-azure-government-global-azure#guidance-for-developers (accessed Oct 30, 2026). · Microsoft Learn, "Configure a Logic App for Lifecycle Workflow use," https://learn.microsoft.com/entra/id-governance/configure-logic-app-lifecycle-workflows (accessed Oct 30, 2026).
Workbook: Building the Attribute-Driven Migration, Chapter 05 — “Where the extensions sit”; “Authorization, built and checked”;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The admin center can create an extension and a new Logic App together. For an existing Logic App, Learn publishes one workflow definition to paste in: a trigger that describes what Lifecycle Workflows sends, one callback action, and a gap in the middle labelled "add your logic here". That's Microsoft's only sample; a search found no template anywhere else. Because it lives only inside a web page, the repository pins the page with checked hashes, and a tiny interpreter runs the definition, unchanged, against fakes. So you see what it really does.
Detail: Learn gives you two ways in. The Microsoft Entra admin center can create the custom task extension and a new Logic App together, and sets most of it up for you. For an existing Logic App, Learn's page "Configure a Logic App for Lifecycle Workflow use" gives the workflow definition to paste into code view, the steps to turn on the system-assigned managed identity, and the authorization policy for each token type. That definition is Microsoft's only sample for this integration; a search of the Azure-Samples and microsoft organizations on GitHub on October 30, 2026 found no repository, ARM template or Bicep file for it. Trigger: a Request trigger with the JSON schema of what Lifecycle Workflows sends: callbackUriPath, the subject (ID, display name, email, UPN, manager), the task, the task processing result and the workflow. Callback: one HTTP action, POST https://graph.microsoft.com/beta@{callbackUriPath} with the managed identity, audience https://graph.microsoft.com, body operationStatus: Completed. Your logic: "Add other actions between the trigger and callback action"; remove the callback for launch and continue. Authorization (PoP): policy AzureADLifecycleWorkflowsAuthPOPAuthPolicy, type AADPOP, with claims for issuer, audience, appid, m, u and p. The pinned copy: the definition lives only inside the Learn page, so the repository pins the page, "Configure a Logic App for Lifecycle Workflow use" and "Lifecycle Workflows custom task extension", from MicrosoftDocs/entra-docs at commit 07cb73d (October 30, 2026), unmodified, with the repository's MIT code license. Each file's git blob hash was checked against the upstream tree before snapshot.json recorded its SHA-256, and a unit test checks the hashes. The weekly source watch reports new commits to the configure page. Updating the copy is a reviewed pull request, as in Chapter 04. tools/lcwext.py learn-sample extracts the definition from the pinned page at test time. tools/wdl.py is a small interpreter for the part of the Workflow Definition Language these definitions use, so the tests can run Learn's definition, unchanged, against a fake Lifecycle Workflows service, a fake Graph per cloud and a fake downstream system.
Sources: Microsoft Learn, "Trigger Logic Apps based on custom task extensions," https://learn.microsoft.com/entra/id-governance/trigger-custom-task (accessed Oct 30, 2026). · Microsoft Learn, "Configure a Logic App for Lifecycle Workflow use," https://learn.microsoft.com/entra/id-governance/configure-logic-app-lifecycle-workflows (accessed Oct 30, 2026). · Microsoft, MicrosoftDocs/entra-docs, docs/id-governance/configure-logic-app-lifecycle-workflows.md and docs/id-governance/lifecycle-workflow-extensibility.md at commit 07cb73d6c6380414eecd040ba5e14c1c94d48b66 (October 30, 2026), code under the MIT License, https://github.com/MicrosoftDocs/entra-docs/tree/07cb73d6c6380414eecd040ba5e14c1c94d48b66/docs/id-governance; commit b7e8790374026b37be320fe091aefb0747e54809 (May 15, 2024) replaced the appid rows' ce79fdc4-… with the placeholder (accessed Oct 30, 2026); pinned copy in examples/third_party/lifecycle-workflows-logic-app.
Workbook: Building the Attribute-Driven Migration, Chapter 05 — “Start with Microsoft's sample” — “What Learn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Learn's definition against the fakes shows what it gets right and what it leaves to you. It gets the identity right: no secret, just the Logic App's managed identity, and the program keeps that. But the callback is hard-wired to the worldwide cloud and the beta endpoint, so in GCC High or DoD it simply never arrives. It trusts whatever path it's handed, which means a forged payload could aim that identity's token anywhere. And it always says the work completed, even when the revocation failed. Each of those has a fix, pinned by a test.
Detail: Each row is pinned by a test in tests/test_learn_sample.py or tests/test_extension.py. Resumes the task with the Logic App's managed identity, no secret: kept as the model, and the trigger schema is kept unchanged (a test compares them). Calls back to graph.microsoft.com, hard-coded, with a matching audience: in a GCC High or DoD tenant the callback goes to the wrong cloud, and the task fails at the end of the wait; the example adds a graphHost parameter that accepts only the three Graph roots, set from the registry's cloud. Calls back on /beta: Learn doesn't support beta in production, and resume is in v1.0; the callback uses v1.0. Uses callbackUriPath as it arrives: any path appended to the Graph host gets a POST with the managed identity's token (a test sends /users); Check_request refuses a path that isn't a resume path for this workflow and task processing result, or a payload with no subject, and makes no call. Always reports Completed: a failed revocation reads as done; the status comes from the integration call, completed or failed.
Sources: Microsoft Learn, "Configure a Logic App for Lifecycle Workflow use," https://learn.microsoft.com/entra/id-governance/configure-logic-app-lifecycle-workflows (accessed Oct 30, 2026). · Microsoft Learn, "Create customTaskExtensions" (beta), which notes that APIs under /beta are subject to change and not supported in production applications, https://learn.microsoft.com/graph/api/identitygovernance-lifecycleworkflowscontainer-post-customtaskextensions?view=graph-rest-beta (accessed Oct 30, 2026). · Microsoft Learn, "taskProcessingResult: resume," https://learn.microsoft.com/graph/api/identitygovernance-taskprocessingresult-resume?view=graph-rest-1.0 (accessed Oct 30, 2026). · Microsoft Learn, "Microsoft Graph national cloud deployments," https://learn.microsoft.com/graph/deployments (accessed Oct 30, 2026).
Workbook: Building the Attribute-Driven Migration, Chapter 05 — “What it leaves to you” (rows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gap table is about what happens once you add real work. If your added step fails, Learn's definition sends nothing, so the workflow sits there for the whole wait before it calls the task failed. There's no protection against doing the work twice. The subject's name, email and manager land in run history for anyone who can read it. The retries are implicit, and the authorization policy is typed by hand, with a placeholder value that would block every call. The program's definition closes each one.
Detail: If work added before the callback fails, no callback is sent: Lifecycle Workflows waits out the whole timeout before the task fails; Resume runs after success, failure or time-out, so a failure is reported at once. No idempotency: a retried call or a rerun repeats the work downstream; Idempotency-Key set to the task processing result ID, and the fake downstream does the work once. The trigger's outputs carry the subject's name, UPN, email and manager into run history: personal data in run history, visible to anyone who can read runs; trigger outputs and HTTP inputs and outputs secured, and only the object ID goes downstream (design guidance). Default retry policy, implicit: fine on its own; once you add work, retries have to fit inside the wait; explicit exponential retries with a maximumInterval, and the lint checks the worst case against the extension's timeout. Authorization policy set by hand in the portal, and the appid value printed on the page is a documentation placeholder: a policy typed by hand drifts, and a placeholder appid would block every call; accessControl built from the registry, with SAS turned off as Learn's security guidance asks; the builder refuses the placeholder.
Sources: Microsoft Learn, "Secure access and data for workflows in Azure Logic Apps" (authorization policies in ARM templates; disabling SAS; securing inputs and outputs in run history), https://learn.microsoft.com/azure/logic-apps/set-up-security-permissions (accessed Oct 30, 2026). · Microsoft Learn, "Best practices for securing the custom extension extensibility to Azure Logic Apps," https://learn.microsoft.com/entra/id-governance/custom-extension-security (accessed Oct 30, 2026). · Microsoft Learn, "Configure a Logic App for Lifecycle Workflow use," https://learn.microsoft.com/entra/id-governance/configure-logic-app-lifecycle-workflows (accessed Oct 30, 2026).
Workbook: Building the Attribute-Driven Migration, Chapter 05 — “What it leaves to you” (rows 6–10).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needs a word. The page prints a placeholder for the value that identifies Lifecycle Workflows as the caller, and copying it would block every call. The chapter traces the real value: the page's own bearer-token row, the page's history, Microsoft's token claims reference, and the docs repository's list of known values all point to the same identifier. The code uses it, a test pins it, and Lab 2 still checks it in the tenant. That leads to the verdict: keep Learn's shape and trigger, but don't run it as published for a leaver's credential revocation.
Detail: Learn's page says the appid claim "represents Lifecycle Workflows and is always the same", and prints 00001111-aaaa-2222-bbbb-3333cccc4444, the format Learn uses for example GUIDs. The page's own azp row, in the bearer-token policy, prints ce79fdc4-cd1d-4ea5-8139-e74d7dbe0bb7, and the page's history shows the appid row held that value until a documentation sweep in May 2024 (commit b7e8790, May 15, 2024, replaced the appid rows' ce79fdc4-… with the placeholder). Learn's access token claims reference settles it: azp, in v2.0 tokens, is "a replacement for appid", and both hold the application ID of the client using the token. The PoP policy reads a v1.0 token's appid, the bearer policy a v2.0 token's azp, and the client is Lifecycle Workflows in both, so the value is ce79fdc4-cd1d-4ea5-8139-e74d7dbe0bb7. The entra-docs repository's own list of known GUIDs (not a Learn page: the list its documentation tooling treats as real values) names that value "Lifecycle Workflows". The registry uses it, a test pins it to the azp row of the pinned page, and Lab 2 still reads the service principal in the tenant before anything depends on it (research gap 10, closed). The verdict: Learn's definition is the right shape and the right trigger, and the program keeps both. It isn't safe to run as the leaver's credential revocation as published: it can report success for work that failed, it reports nothing for work that failed after you add it, and it works only in the worldwide cloud. Use it as the model and run the program's definition.
Sources: Microsoft Learn, "Configure a Logic App for Lifecycle Workflow use," https://learn.microsoft.com/entra/id-governance/configure-logic-app-lifecycle-workflows (accessed Oct 30, 2026). · Microsoft Learn, "Access token claims reference," section "Payload claims," https://learn.microsoft.com/entra/identity-platform/access-token-claims-reference#payload-claims (accessed Oct 30, 2026). · Microsoft, MicrosoftDocs/entra-docs, .docutune/dictionaries/known-guids.json at commit 4ed6827815ecbf4e021fc736d75fdda6a2fd6272 (October 28, 2026), entry "Lifecycle Workflows", read with gh api (accessed Oct 30, 2026). Not a Learn page: the repository's list of GUIDs its documentation tooling treats as real values. · Microsoft, MicrosoftDocs/entra-docs, docs/id-governance/configure-logic-app-lifecycle-workflows.md and docs/id-governance/lifecycle-workflow-extensibility.md at commit 07cb73d6c6380414eecd040ba5e14c1c94d48b66 (October 30, 2026), code under the MIT License, https://github.com/MicrosoftDocs/entra-docs/tree/07cb73d6c6380414eecd040ba5e14c1c94d48b66/docs/id-governance; commit b7e8790374026b37be320fe091aefb0747e54809 (May 15, 2024) replaced the appid rows' ce79fdc4-… with the placeholder (accessed Oct 30, 2026); pinned copy in examples/third_party/lifecycle-workflows-logic-app.
Workbook: Building the Attribute-Driven Migration, Chapter 05 — “What it leaves to you” — the appid row;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program's code. There's one Logic App definition, and every integration deploys the same one; what changes is data, four parameters: the Graph host for the cloud, the downstream system and its audience, and which workflows it serves. Each run goes in four steps. First it checks the request, and if the callback path isn't the resume path for this very task, it stops and sends nothing at all. Then it looks up the operation, calls the downstream system with bounded retries, and always calls back, telling the truth about whether the work succeeded.
Detail: examples/lifecycle-extensions is one Logic App definition, one registry, two Python tools and three test files; it needs only Python 3.10 or later. logicapp/integration.workflow.json is the definition every integration deploys. What changes between integrations is data, not code: four parameters. graphHost: the Graph root for the tenant's cloud; only graph.microsoft.com, graph.microsoft.us or dod-graph.microsoft.us is accepted. integrationUri: the one downstream system this Logic App calls. integrationAudience: the audience the downstream system accepts in the managed identity's token. operations: each lifecycle workflow ID this integration serves, and the operation it runs for it (revoke, issue). The run goes in four steps. 1 Check_request checks that callbackUriPath starts with /identityGovernance/lifecycleWorkflows/workflows/, ends with /resume, contains the payload's workflow ID and task processing result ID, and that the subject has an ID. If not, the run stops with RejectedPayload and sends nothing: it can't trust the path to call back on. 2 Operation looks up the workflow ID in operations; a workflow that isn't registered gets no work done. 3 Call_integration posts the operation, the subject's object ID, the workflow ID and the task processing result ID to the integration, with its managed identity and an Idempotency-Key header set to the task processing result ID. It retries 408, 429 and 5xx responses up to four times, waiting at most two minutes between tries. 4 Resume posts to {graphHost}/v1.0{callbackUriPath} with the managed identity, after the integration call succeeds, fails or times out, and reports completed only if the call succeeded. An unregistered workflow gets failed.
Sources: Microsoft Learn, "Handle workflow errors and exceptions in Azure Logic Apps," section "Retry policies," https://learn.microsoft.com/azure/logic-apps/error-exception-handling#retry-policies (accessed Oct 30, 2026). · Microsoft Learn, "Microsoft Graph national cloud deployments," https://learn.microsoft.com/graph/deployments (accessed Oct 30, 2026).
Workbook: Building the Attribute-Driven Migration, Chapter 05 — “The code” — “One Logic App per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hold the design together. The first is idempotency. The key isn't a Microsoft feature; it's a promise the downstream system makes to do the work once per key. That matters because the same task can arrive twice: the extension may retry its call, a workflow can be rerun, and Book 03 resumes a partial leaver where it stopped. The second is the registry: one reviewed entry per integration, holding every value the deployment needs. Its extension settings have sensible defaults, and the builder refuses anything outside Learn's ranges.
Detail: The idempotency key is a contract with the downstream system, not a Microsoft feature: the system does the work once per key and answers a repeat with the first result (design guidance). The custom task extension may call the Logic App a second time (maximumRetries is 0 or 1), a workflow can be rerun, and Book 03's rule for a partial leaver is that a rerun resumes from the first incomplete step (Appendix A). With the key, each of those is safe. The exact callbackUriPath that Lifecycle Workflows sends isn't documented. Learn's definition appends it to https://graph.microsoft.com/beta, which makes it the resume path that the Graph reference shows. Check_request is written to that shape, and Lab 2 confirms it with a real run (research gap 11). The registry: config/integrations.json has one entry per integration: the tenant's cloud, the Azure cloud the Logic App runs in, the Logic App's subscription, resource group and name, the downstream URI and audience, the workflows it serves and their Book 03 scenario, and the custom task extension's settings. The example entry, cms-revocation, is the leaver's PIV revocation from Book 03, Chapter 09, for two fictional contoso.example leaver workflows. The extension settings default to launch and wait, a one-hour wait, one retry of the call, and a one-second connection timeout (design guidance). The builder refuses values outside Learn's ranges: maximumRetries 0 or 1, timeoutInMilliseconds 200 to 2,000 (default 1,000), timeoutDuration 30 minutes to 3 hours.
Sources: Microsoft Learn, "customExtensionClientConfiguration resource type," https://learn.microsoft.com/graph/api/resources/customextensionclientconfiguration?view=graph-rest-1.0 (accessed Oct 30, 2026). · Microsoft Learn, "customTaskExtensionCallbackConfiguration resource type," https://learn.microsoft.com/graph/api/resources/identitygovernance-customtaskextensioncallbackconfiguration?view=graph-rest-1.0 (accessed Oct 30, 2026). · Microsoft Learn, "Configure a Logic App for Lifecycle Workflow use," https://learn.microsoft.com/entra/id-governance/configure-logic-app-lifecycle-workflows (accessed Oct 30, 2026). · Microsoft Learn, "taskProcessingResult: resume," https://learn.microsoft.com/graph/api/identitygovernance-taskprocessingresult-resume?view=graph-rest-1.0 (accessed Oct 30, 2026).
Workbook: Building the Attribute-Driven Migration, Chapter 05 — “One Logic App per integration” (idempotency, callback path); “The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tooling is one script with five commands. Lint applies twelve rules to any definition, including Microsoft's, and one of them adds up every possible retry wait so the callback can't arrive after the workflow has given up. Run plays a definition against the fakes, with failures and repeat deliveries on demand. Build refuses to write anything while there's a finding. And the two checks compare what's really in the tenant with the registry, including Book 03's leaver order: block the account and revoke its tokens first, then run the custom task. A failed revocation shouldn't stop the cleanup after it.
Detail: tools/lcwext.py has five commands. lint applies twelve rules (LX-01 to LX-12; the README lists them) to any definition, Learn's included. LX-11 adds up the worst-case retry waits of every HTTP action and fails the definition if they reach the extension's timeout. With four retries capped at two minutes, the two HTTP actions can wait 16 minutes, inside the one-hour wait. run runs a definition against the fakes for a payload and a cloud, with optional downstream failures (--fail 503,503) and repeat deliveries (--deliveries 2), and prints what reached Graph and what Lifecycle Workflows records for the task. build lints the integration's definition and refuses to build if there is a finding. Otherwise it writes two files: the Logic App's ARM resource, with a system-assigned identity, the parameter values and accessControl; and the body for POST /identityGovernance/lifecycleWorkflows/customTaskExtensions in v1.0. check-extension compares a custom task extension read back from Graph with the registry: proof-of-possession authentication, the Logic App it points at, the timeouts, and an authorized app for the callback. check-workflow checks a lifecycle workflow read back from Graph against Book 03's leaver order: Disable user account, then Revoke all refresh tokens for user, then the custom task. The leaver order: check-workflow reads a workflow's tasks by execution sequence. In a leaver workflow it requires Disable user account (1dfdfcc7-…) and Revoke all refresh tokens for user (509589a4-…) before the custom task, in that order, because Book 03's leaver sequence blocks first and follows Microsoft's order: disable, then revoke. It warns when the custom task stops the workflow on error: in a leaver, a failed revocation shouldn't stop the group, license and access package removals after it, and it is still recorded as failed (design guidance). build_task writes the task with the Run a custom task extension definition ID 4262b724-8dba-4fad-afc3-43fcbb497a0e and the argument customTaskExtensionID.
Sources: Microsoft Learn, "Lifecycle Workflow built-in tasks," https://learn.microsoft.com/entra/id-governance/lifecycle-workflow-tasks (accessed Oct 30, 2026). · Microsoft Learn, "Configure the arguments for built-in Lifecycle Workflows tasks," https://learn.microsoft.com/graph/identitygovernance-lifecycleworkflows-task-arguments (table and example 7, "Run a custom task extension") (accessed Oct 31, 2026). · Microsoft Learn, "Create customTaskExtensions," https://learn.microsoft.com/graph/api/identitygovernance-lifecycleworkflowscontainer-post-customtaskextensions?view=graph-rest-1.0, and "Lifecycle Workflows custom task extension" (Logic Apps prerequisites) (accessed Oct 30, 2026).
Workbook: Building the Attribute-Driven Migration, Chapter 05 — “Lint, run, build, check”; “The leaver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is where hand-typed settings usually drift, so the builder writes it from the registry. On the Logic App, shared access signatures are switched off and Learn's proof-of-possession policy goes in with Learn's exact claims. On the extension, the code asks for proof-of-possession, following Learn's security guidance even though one example still shows the older bearer type. And the identity stays small: because the Logic App is an authorized app on the extension, it can call back with no Graph permission at all. The tenant-wide alternative is what Learn advises against. Now, who does this work?
Detail: build writes Learn's PoP policy into the Logic App's accessControl, beside sasAuthenticationPolicy set to Disabled. The claims are Learn's: the issuer https://sts.windows.net/{tenant}/ with its trailing slash, the audience https://management.azure.com, appid in lower case, m POST, u management.azure.com, and p the Logic App's resource path. Learn documents these values only for Azure commercial; for Azure Government the builder refuses (research gap 12). The extension body asks for azureAdPopTokenAuthentication. Learn's create example in v1.0 still shows azureAdTokenAuthentication, the bearer type; Learn's security guidance says extensions created through v1.0 use PoP by default and recommends PoP. The code follows the security guidance. The body leaves out the callback's authorizedApps: Learn describes the property but shows no request that sets it. In Lab 2 the admin center sets it, as it does by default for launch and wait, and check-extension checks the result. For the callback, the Logic App's managed identity needs no Graph permission: apps listed in the extension's authorizedApps can resume a task processing result without an application permission or role. The alternative, LifecycleWorkflows.ReadWrite.All as an application permission, is tenant-wide, and Learn advises against it. For the downstream call, give the same identity only what the integration needs, scoped as narrowly as the target allows. SAS is not needed by Lifecycle Workflows; Learn recommends turning it off.
Sources: Microsoft Learn, "Configure a Logic App for Lifecycle Workflow use," https://learn.microsoft.com/entra/id-governance/configure-logic-app-lifecycle-workflows (accessed Oct 30, 2026). · Microsoft Learn, "Secure access and data for workflows in Azure Logic Apps" (authorization policies in ARM templates; disabling SAS; securing inputs and outputs in run history), https://learn.microsoft.com/azure/logic-apps/set-up-security-permissions (accessed Oct 30, 2026). · Microsoft Learn, "Create customTaskExtensions," https://learn.microsoft.com/graph/api/identitygovernance-lifecycleworkflowscontainer-post-customtaskextensions?view=graph-rest-1.0, and "Lifecycle Workflows custom task extension" (Logic Apps prerequisites) (accessed Oct 30, 2026). · Microsoft Learn, "Best practices for securing the custom extension extensibility to Azure Logic Apps," https://learn.microsoft.com/entra/id-governance/custom-extension-security (accessed Oct 30, 2026). · Microsoft Learn, "customTaskExtensionCallbackConfiguration resource type," https://learn.microsoft.com/graph/api/resources/identitygovernance-customtaskextensioncallbackconfiguration?view=graph-rest-1.0 (accessed Oct 30, 2026). · Microsoft Learn, "taskProcessingResult: resume," https://learn.microsoft.com/graph/api/identitygovernance-taskprocessingresult-resume?view=graph-rest-1.0 (accessed Oct 30, 2026). · Microsoft Learn, "Lifecycle Workflows custom task extension," https://learn.microsoft.com/entra/id-governance/lifecycle-workflow-extensibility (accessed Oct 30, 2026).
Workbook: Building the Attribute-Driven Migration, Chapter 05 — “Authorization, built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says several things differently on different pages, and the chapter writes each one down so nobody quietly loosens the code later. The wait range differs between pages, so the code takes the narrower one. The workflow limit differs, so the chapter plans for the lower one. Even the identifier for the custom task differs, within a single page. In each case the code picks the safer or better-supported reading, and where it matters, Lab 2 reads back what the tenant actually does. That's the end of the code. Now, who's involved.
Detail: Learn states several things differently on different pages, recorded so a later edit doesn't loosen the code. The callback wait is 30 minutes to 3 hours on the resource and limits pages, and 3 minutes to 5 hours on the planning page; the code uses the narrower range. The tenant limit is 100 workflows on the limits page and "What are lifecycle workflows?", and 50 on the licensing page; the chapter plans for 50. The Run a custom task extension task is 4262b724-… in the task page's table and in the Graph arguments page's table, and d79d1fcc-16be-490c-a865-f4533b1639ee in the task page's details section and in the arguments page's own example for this task, so the arguments page disagrees with itself too. The argument is customTaskExtensionID on the task page and in that example, and CustomTaskExtensionID in the arguments page's table. The code uses 4262b724-… and customTaskExtensionID; Lab 2 reads back what the admin center writes. Learn's create example shows bearer authentication; the security page says v1.0 defaults to PoP and recommends it; the code asks for PoP. The callback data type lists completed and failed; Learn's definition and the resume example send Completed; the code sends the listed values, and Lab 2 confirms the service accepts them. The configure page prints a placeholder GUID for appid; the code uses the azp value from the same page, and Lab 2 checks it. Release stage: generally available; the extension and resume APIs are in v1.0.
Sources: Microsoft Learn, "customTaskExtensionCallbackConfiguration resource type," https://learn.microsoft.com/graph/api/resources/identitygovernance-customtaskextensioncallbackconfiguration?view=graph-rest-1.0 (accessed Oct 30, 2026). · Microsoft Learn, "Microsoft Entra ID Governance service limits," section "Lifecycle Workflows," https://learn.microsoft.com/entra/id-governance/governance-service-limits#lifecycle-workflows (accessed Oct 30, 2026). · Microsoft Learn, "Plan a Lifecycle Workflow deployment," section "Limitations and constraints," https://learn.microsoft.com/entra/id-governance/lifecycle-workflows-deployment (accessed Oct 30, 2026). · Microsoft Learn, "Microsoft Entra ID Governance licensing fundamentals" (Lifecycle Workflows; Government availability), https://learn.microsoft.com/entra/id-governance/licensing-fundamentals, and "What are lifecycle workflows?" (license requirements), https://learn.microsoft.com/entra/id-governance/what-are-lifecycle-workflows (accessed Oct 30, 2026). · Microsoft Learn, "Lifecycle Workflow built-in tasks," https://learn.microsoft.com/entra/id-governance/lifecycle-workflow-tasks (accessed Oct 30, 2026). · Microsoft Learn, "Configure the arguments for built-in Lifecycle Workflows tasks," https://learn.microsoft.com/graph/identitygovernance-lifecycleworkflows-task-arguments (table and example 7, "Run a custom task extension") (accessed Oct 31, 2026). · Microsoft Learn, "Create customTaskExtensions," https://learn.microsoft.com/graph/api/identitygovernance-lifecycleworkflowscontainer-post-customtaskextensions?view=graph-rest-1.0, and "Lifecycle Workflows custom task extension" (Logic Apps prerequisites) (accessed Oct 30, 2026). · Microsoft Learn, "Best practices for securing the custom extension extensibility to Azure Logic Apps," https://learn.microsoft.com/entra/id-governance/custom-extension-security (accessed Oct 30, 2026). · Microsoft Learn, "customTaskExtensionCallbackData resource type," https://learn.microsoft.com/graph/api/resources/identitygovernance-customtaskextensioncallbackdata?view=graph-rest-1.0 (accessed Oct 30, 2026). · Microsoft Learn, "taskProcessingResult: resume," https://learn.microsoft.com/graph/api/identitygovernance-taskprocessingresult-resume?view=graph-rest-1.0 (accessed Oct 30, 2026).
Workbook: Building the Attribute-Driven Migration, Chapter 05 — “Verified facts” — where Learn's pages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and identity engineers who build the integrations behind joiners, movers and leavers, and the reviewers who approve each one. You'll want to read JSON and Python, and you don't need a tenant until Lab 2. The roles are worth noticing. Creating an extension takes the Lifecycle Workflows administrator role plus a contributor role on the Logic App's resource group; the operator role isn't enough. The Logic App itself needs no Graph permission to call back, and its downstream access should be as narrow as the target allows.
Detail: Audience: developers and identity engineers who build the integrations behind the joiner, mover and leaver workflows, and the reviewers who approve them. You should read JSON and Python. You don't need a tenant until Lab 2. Lab 2 needs Lifecycle Workflows Administrator in the tenant and Logic App Contributor, Contributor or Owner on the resource group; Logic App Operator isn't enough. Create an extension: POST /identityGovernance/lifecycleWorkflows/customTaskExtensions; LifecycleWorkflows-CustomExt.ReadWrite.All; Lifecycle Workflows Administrator; Logic App Contributor, Contributor or Owner on the Logic App. Resume permission: LifecycleWorkflows.ReadWrite.All (delegated with Lifecycle Workflows Administrator, or application); none for an app in authorizedApps. For the downstream call, give the managed identity only what the integration needs, scoped as narrowly as the target allows. Lifecycle Workflows need Microsoft Entra ID Governance or Microsoft Entra Suite licenses.
Sources: Microsoft Learn, "Lifecycle Workflows custom task extension," https://learn.microsoft.com/entra/id-governance/lifecycle-workflow-extensibility (accessed Oct 30, 2026). · Microsoft Learn, "Create customTaskExtensions," https://learn.microsoft.com/graph/api/identitygovernance-lifecycleworkflowscontainer-post-customtaskextensions?view=graph-rest-1.0, and "Lifecycle Workflows custom task extension" (Logic Apps prerequisites) (accessed Oct 30, 2026). · Microsoft Learn, "taskProcessingResult: resume," https://learn.microsoft.com/graph/api/identitygovernance-taskprocessingresult-resume?view=graph-rest-1.0 (accessed Oct 30, 2026). · Microsoft Learn, "Best practices for securing the custom extension extensibility to Azure Logic Apps," https://learn.microsoft.com/entra/id-governance/custom-extension-security (accessed Oct 30, 2026). · Microsoft Learn, "Microsoft Entra ID Governance licensing fundamentals" (Lifecycle Workflows; Government availability), https://learn.microsoft.com/entra/id-governance/licensing-fundamentals, and "What are lifecycle workflows?" (license requirements), https://learn.microsoft.com/entra/id-governance/what-are-lifecycle-workflows (accessed Oct 30, 2026).
Workbook: Building the Attribute-Driven Migration, Chapter 05 — “Goal and audience”; “Lab 2: test tenant”;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Python on a laptop: no tenant, no network. You start with Microsoft's definition. The linter finds eight problems, and when you run it for a GCC High tenant, the callback heads to the worldwide cloud and the task fails at the end of the wait. Switch the cloud to worldwide and it completes, which is exactly why the problem is easy to miss. Then the program's definition: a clean lint, and a GCC High run that survives two transient failures, does the work once, and calls back to the right cloud.
Detail: You need Python 3.10 or later. Work in examples/lifecycle-extensions. Step 1, extract and lint Learn's definition: python tools/lcwext.py learn-sample, then python tools/lcwext.py lint out/learn-sample.workflow.json --timeout PT1H. Eight results and exit 2: LX-03 (hard-coded graph.microsoft.com), LX-04 (/beta), LX-06 (path not checked), LX-07 (no callback on failure), LX-08 (always Completed), two LX-10 warnings for run history, and an LX-11 warning for the implicit retry policy. Step 2, run Learn's definition for a GCC High tenant: python tools/lcwext.py run out/learn-sample.workflow.json tests/fixtures/trigger-leaver.json --cloud GCCHigh. The run fails. The one POST goes to https://graph.microsoft.com/beta/identityGovernance/…/resume with the worldwide audience, and the last line reads "Lifecycle Workflows task: failed (no callback within PT1H)". Run it again with --cloud Global: completed. Step 3, lint the program's definition: python tools/lcwext.py lint logicapp/integration.workflow.json --timeout PT1H gives "0 result(s); no findings", exit 0. Run it with --timeout PT15M and LX-11 reports that the worst-case retry waits, 960 seconds, reach the timeout. Step 4, run it for GCC High through two transient failures: python tools/lcwext.py run logicapp/integration.workflow.json tests/fixtures/trigger-leaver.json --cloud GCCHigh --fail 503,503. The callback goes to https://graph.microsoft.us/v1.0/identityGovernance/…/resume with the audience https://graph.microsoft.us and operationStatus=completed; "downstream: 3 call(s), 1 effect(s)"; the task is completed. With --fail 503,503,503,503,503 the downstream gets 5 calls, the callback reports failed, and the task is failed at once instead of at the end of the wait. With --deliveries 2 and no failures the downstream gets 2 calls and 1 effect. The commands run Learn's pinned definition and the example as published, against fixtures and fakes; the interpreter covers only the actions and functions these definitions use and refuses anything else.
Sources: Microsoft Learn, "Microsoft Graph national cloud deployments," https://learn.microsoft.com/graph/deployments (accessed Oct 30, 2026).
Workbook: Building the Attribute-Driven Migration, Chapter 05 — “Lab 1: fixtures, no tenant,” steps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Lab 1 is about watching the guards work. Shorten the wait and the linter warns that retries could outlast it. Make the downstream fail every time, and the task is reported failed straight away instead of an hour later. Deliver the same task twice, and the work still happens once. Then build the deployment files, and watch the builder refuse when you point it at Azure Government. Break the leaver order in a fixture and the workflow check catches it. Finally, fifty-five tests pass. Remember, though: fakes aren't a tenant.
Detail: Step 3 with --timeout PT15M: LX-11 reports that the worst-case retry waits, 960 seconds, reach the timeout. Step 4 with --fail 503,503,503,503,503: the downstream gets 5 calls, the callback reports failed, and the task is failed at once instead of at the end of the wait. With --deliveries 2 and no failures the downstream gets 2 calls and 1 effect. Step 5, build the deployment pieces: python tools/lcwext.py build config/integrations.json --name cms-revocation --tenant-id 6e3a1f2b-8c4d-4e5f-9a0b-1c2d3e4f5a6b. Two files in out/: arm-cms-revocation.json, whose accessControl turns SAS off and holds the AADPOP policy with six claims, and extension-cms-revocation.json, with azureAdPopTokenAuthentication and timeoutDuration PT1H. In config/integrations.json, set azureCloud to AzureUSGovernment and run it again: exit 1, because Learn documents no PoP policy for Azure Government. Put it back. Step 6, check the read-backs: python tools/lcwext.py check-extension config/integrations.json --name cms-revocation tests/fixtures/extension-get.json, and python tools/lcwext.py check-workflow config/integrations.json --name cms-revocation --extension-id c1d2e3f4-a5b6-4c7d-8e9f-0a1b2c3d4e01 tests/fixtures/workflow-get-leaver.json. Both "0 result(s); no findings". In the workflow fixture, give the custom task executionSequence 0 and run the second command again: WX-03 twice, because the block no longer comes first. Step 7, run the tests: python -m unittest discover -s tests -v. Expected result: 55 tests passing, and each difference in the gap table seen with your own eyes. The tests: tests/test_wdl.py has 15 tests for the interpreter; tests/test_learn_sample.py has 9 that run Learn's definition, unmodified, against the fakes; tests/test_extension.py has 31 for the program's definition, the clouds, the outcomes, the builders and the read-back checks. None needs a package, a tenant or a network. Illustrative code: the interpreter covers only the actions and functions these definitions use and refuses anything else. The fakes decide two things Learn doesn't document: how Graph answers a second resume, and the exact callback path. Review the code, and run Lab 2 in a test tenant, before it carries real leavers.
Sources: Microsoft Learn, "Compare Azure Government and global Azure," section "Guidance for developers," https://learn.microsoft.com/azure/azure-government/compare-azure-government-global-azure#guidance-for-developers (accessed Oct 30, 2026).
Workbook: Building the Attribute-Driven Migration, Chapter 05 — “Lab 1: fixtures, no tenant,” steps 3–7; “The tests”;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You let the admin center create the extension and Logic App the way Learn describes, then record exactly what it made and compare it with what the builder would have written; any difference is a finding against the builder. Then you swap in the program's definition, build a small leaver workflow in the right order, and run it for one fictional user. That run also confirms the real callback path. Finally, drill the failure: the task should fail within minutes, not an hour. Then back everything out.
Detail: Use a test tenant with Microsoft Entra ID Governance licenses and a test Azure subscription, never production, with fictional test users. You need Lifecycle Workflows Administrator in the tenant and Logic App Contributor, Contributor or Owner on the resource group; Logic App Operator isn't enough. 1 Create the extension and its Logic App in the admin center, following Learn's procedure: ID Governance &gt; Lifecycle workflows &gt; Custom task extension &gt; Create custom task extension, choose Launch and wait, a one-hour wait, System-assigned managed identity for response authorization, and Create new Logic App in your test resource group with the registry's name. This creates the Logic App with Learn's definition, the managed identity, the PoP authorization policy and the extension's authorized app. 2 Record what the admin center made. Read the extension with GET /identityGovernance/lifecycleWorkflows/customTaskExtensions/{id}, save it over tests/fixtures/extension-get.json, and run check-extension. Read the Logic App through Azure Resource Manager (GET …/providers/Microsoft.Logic/workflows/{name}?api-version=2016-06-01, which Learn says returns the policies) and compare its accessControl with out/arm-cms-revocation.json. Look up GET /servicePrincipals(appId='ce79fdc4-cd1d-4ea5-8139-e74d7dbe0bb7') and record its display name. Any difference is a finding against the builder. 3 Replace the definition with the program's: in code view, paste logicapp/integration.workflow.json; set the parameter values from the ARM file, with integrationUri pointing at your test instance of the downstream system or at a test receiver that answers 200 and logs the Idempotency-Key header. 4 Build a test workflow: a custom leaver workflow, on demand only, with Disable user account, Revoke all refresh tokens for user, then Run a custom task extension with this extension. Read it with GET /identityGovernance/lifecycleWorkflows/workflows/{id}?$expand=tasks and run check-workflow. Add its ID to the registry's workflows, rebuild, and update the Logic App's operations parameter. 5 Run it on demand for one fictional user. In the Logic App's run history, Check_request should pass. If the run ends in Reject_request, the real callbackUriPath differs from the documented shape: turn off Secure Outputs on the trigger for one more run, record the path, turn it back on, and file the difference against research gap 11. The task processing result should end completed. 6 Drill the failure path: point integrationUri at a receiver that answers 503, run again for another fictional user, and confirm the task ends failed within minutes, not at the end of the hour. Confirm the receiver logged one key per task processing result. 7 Back it out: remove the custom task from the workflow and delete the workflow; then delete the custom task extension, which Learn allows only when no task references it. Delete the Logic App and the test resource group, remove the role assignments you added, and delete the test users.
Sources: Microsoft Learn, "Trigger Logic Apps based on custom task extensions," https://learn.microsoft.com/entra/id-governance/trigger-custom-task (accessed Oct 30, 2026). · Microsoft Learn, "Lifecycle Workflows custom task extension," https://learn.microsoft.com/entra/id-governance/lifecycle-workflow-extensibility (accessed Oct 30, 2026). · Microsoft Learn, "Create customTaskExtensions," https://learn.microsoft.com/graph/api/identitygovernance-lifecycleworkflowscontainer-post-customtaskextensions?view=graph-rest-1.0, and "Lifecycle Workflows custom task extension" (Logic Apps prerequisites) (accessed Oct 30, 2026). · Microsoft Learn, "Secure access and data for workflows in Azure Logic Apps" (authorization policies in ARM templates; disabling SAS; securing inputs and outputs in run history), https://learn.microsoft.com/azure/logic-apps/set-up-security-permissions (accessed Oct 30, 2026). · Microsoft Learn, "Remove-MgIdentityGovernanceLifecycleWorkflowCustomTaskExtension" (a custom task extension can only be deleted if no task references it), https://learn.microsoft.com/powershell/module/microsoft.graph.identity.governance/remove-mgidentitygovernancelifecycleworkflowcustomtaskextension?view=graph-powershell-1.0 (accessed Oct 30, 2026).
Workbook: Building the Attribute-Driven Migration, Chapter 05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ends the same way: a leaver whose access isn't really gone, or a record that says it is. The quietest are the callback problems: no callback on failure, a callback that claims success, or one sent to the wrong cloud. Others are about trust: a forged payload, a broad permission, or a bearer-token extension left behind. And some are about order: doing the work twice, or running the custom task before the account is blocked. Notice the pattern again: each guard is a lint rule or a check that runs every time.
Detail: A failure that sends no callback: the leaver's revocation fails, and nobody knows until the wait ends; guard: Resume runs after failure and time-out; LX-07. A callback that reports success for failed work: a credential stays valid and the record says revoked; guard: status computed from the call; LX-08. The wrong cloud: a GCC High or DoD callback goes to the worldwide Graph and never arrives; guard: graphHost limited to three roots, set from the registry; LX-03; tests for every cloud. A forged or malformed payload: the managed identity's token is sent to a path you didn't intend; guard: PoP authorization with SAS off; Check_request before any call; LX-06. A repeat delivery or a rerun: the downstream system revokes, issues or deletes twice; guard: Idempotency-Key from the task processing result; LX-09. Retries longer than the wait: the callback arrives after the task has already failed; guard: bounded retries; LX-11 against the registry's timeout. Personal data in run history: names, UPNs and emails readable by anyone with run access; guard: secured inputs and outputs; object ID only downstream; LX-10, LX-12. A broad permission on the identity: a compromised Logic App can change any workflow; guard: resume through authorizedApps, no LifecycleWorkflows.ReadWrite.All; CX-04. A custom task before the block: a leaver keeps signing in while revocations run; guard: WX-03 and WX-04 against Book 03's order. A bearer-token extension left in place: weaker than PoP, and it can't be converted; guard: CX-01; recreate it as PoP. The placeholder appid: every call is refused; guard: the builder refuses it; Lab 2 checks the real one. Azure Government policy values guessed: the Logic App rejects Lifecycle Workflows, or accepts the wrong caller; guard: the builder refuses; research gap 12.
Sources: Microsoft Learn, "Best practices for securing the custom extension extensibility to Azure Logic Apps," https://learn.microsoft.com/entra/id-governance/custom-extension-security (accessed Oct 30, 2026). · Microsoft Learn, "Configure a Logic App for Lifecycle Workflow use," https://learn.microsoft.com/entra/id-governance/configure-logic-app-lifecycle-workflows (accessed Oct 30, 2026). · Microsoft Learn, "Compare Azure Government and global Azure," section "Guidance for developers," https://learn.microsoft.com/azure/azure-government/compare-azure-government-global-azure#guidance-for-developers (accessed Oct 30, 2026). · Microsoft Learn, "Secure access and data for workflows in Azure Logic Apps" (authorization policies in ARM templates; disabling SAS; securing inputs and outputs in run history), https://learn.microsoft.com/azure/logic-apps/set-up-security-permissions (accessed Oct 30, 2026).
Workbook: Building the Attribute-Driven Migration, Chapter 05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Each integration has one reviewed registry entry, one Logic App and one identity, and the deployed pieces came from the builder with a clean lint. The extension uses proof-of-possession and waits for an answer; shared access signatures are off; and the callback host matches the tenant's cloud, which for this estate means the worldwide endpoint. Then the proofs: a repeat delivery did the work once, a forced failure reported back within minutes, and every leaver blocks the account first. Next, Chapter 6 moves Group Policy as code. Thanks for watching.
Detail: Checklist: Each integration has one entry in config/integrations.json, one Logic App and one managed identity, and lists every workflow it serves. lcwext.py lint reports no findings against the entry's timeoutDuration, and build produced the deployed ARM resource and extension. The extension uses proof-of-possession, launch and wait, and the Logic App's identity as its only authorized app. The Logic App has SAS turned off and Learn's PoP policy, with the appid confirmed in the tenant. graphHost matches the tenant's cloud; GCC uses graph.microsoft.com. The downstream system honors Idempotency-Key, and a repeat delivery was tested. A forced downstream failure produced a failed callback within minutes in the test tenant. In every leaver workflow, Disable user account and Revoke all refresh tokens for user run before the custom task. The managed identity has no tenant-wide Lifecycle Workflows permission. The pinned Learn page matches its manifest, and every upstream commit since the pin has been reviewed. Next: Chapter 06 — Moving Group Policy as Code.
Sources: Microsoft Learn, "Best practices for securing the custom extension extensibility to Azure Logic Apps," https://learn.microsoft.com/entra/id-governance/custom-extension-security (accessed Oct 30, 2026). · Microsoft Learn, "Configure a Logic App for Lifecycle Workflow use," https://learn.microsoft.com/entra/id-governance/configure-logic-app-lifecycle-workflows (accessed Oct 30, 2026). · Microsoft Learn, "Microsoft Graph national cloud deployments," https://learn.microsoft.com/graph/deployments (accessed Oct 30, 2026). · Microsoft, MicrosoftDocs/entra-docs, docs/id-governance/configure-logic-app-lifecycle-workflows.md and docs/id-governance/lifecycle-workflow-extensibility.md at commit 07cb73d6c6380414eecd040ba5e14c1c94d48b66 (October 30, 2026), code under the MIT License, https://github.com/MicrosoftDocs/entra-docs/tree/07cb73d6c6380414eecd040ba5e14c1c94d48b66/docs/id-governance; commit b7e8790374026b37be320fe091aefb0747e54809 (May 15, 2024) replaced the appid rows' ce79fdc4-… with the placeholder (accessed Oct 30, 2026); pinned copy in examples/third_party/lifecycle-workflows-logic-app.
Workbook: Building the Attribute-Driven Migration, Chapter 05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docs/project-plans/developer-workbooks/attribute-driven-migration/05-lifecycle-workflows-custom-extensions.md.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docs/project-plans/developer-workbooks/attribute-driven-migration/05-lifecycle-workflows-custom-extensions.md.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docs/project-plans/developer-workbooks/attribute-driven-migration/05-lifecycle-workflows-custom-extensions.md.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05: Lifecycle Workflows Custom Extensions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Where extensions sit · Learn's definition and its gaps · the Logic App, registry and tools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the extensions sit, and Learn's contract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Lifecycle Workflows act on accounts that exist; everything outside the account goes through a custom task extension.</a:t>
            </a:r>
            <a:endParaRPr lang="en-US" sz="1800" dirty="0"/>
          </a:p>
        </p:txBody>
      </p:sp>
      <p:sp>
        <p:nvSpPr>
          <p:cNvPr id="6" name="Panel Book 03's split and three rules" descr="">
            <a:extLst>
              <a:ext uri="{C183D7F6-B498-43B3-948B-1728B52AA6E4}">
                <adec:decorative xmlns:adec="http://schemas.microsoft.com/office/drawing/2017/decorative" val="1"/>
              </a:ext>
            </a:extLst>
          </p:cNvPr>
          <p:cNvSpPr/>
          <p:nvPr/>
        </p:nvSpPr>
        <p:spPr>
          <a:xfrm>
            <a:off x="548640" y="2112264"/>
            <a:ext cx="5417820" cy="3624072"/>
          </a:xfrm>
          <a:prstGeom prst="roundRect">
            <a:avLst>
              <a:gd name="adj" fmla="val 201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Book 03&amp;apos;s split and three rules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BOOK 03'S SPLIT AND THREE RULES</a:t>
            </a:r>
            <a:endParaRPr lang="en-US" sz="1100" dirty="0"/>
          </a:p>
        </p:txBody>
      </p:sp>
      <p:sp>
        <p:nvSpPr>
          <p:cNvPr id="8" name="Panel Book 03's split and three rules list"/>
          <p:cNvSpPr txBox="1"/>
          <p:nvPr/>
        </p:nvSpPr>
        <p:spPr>
          <a:xfrm>
            <a:off x="731520" y="2523744"/>
            <a:ext cx="5097780" cy="316687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Inbound provisioning creates and updates accounts; Lifecycle Workflows act on them</a:t>
            </a:r>
            <a:endParaRPr lang="en-US" sz="1600" dirty="0"/>
          </a:p>
          <a:p>
            <a:pPr marL="342900" indent="-342900">
              <a:spcAft>
                <a:spcPts val="400"/>
              </a:spcAft>
              <a:buSzPct val="100000"/>
              <a:buChar char="•"/>
            </a:pPr>
            <a:r>
              <a:rPr lang="en-US" sz="1600" dirty="0">
                <a:solidFill>
                  <a:srgbClr val="334155"/>
                </a:solidFill>
              </a:rPr>
              <a:t>Built-in tasks cover the account side; the PIV credential, devices and servers go through a custom task extension</a:t>
            </a:r>
            <a:endParaRPr lang="en-US" sz="1600" dirty="0"/>
          </a:p>
          <a:p>
            <a:pPr marL="342900" indent="-342900">
              <a:spcAft>
                <a:spcPts val="400"/>
              </a:spcAft>
              <a:buSzPct val="100000"/>
              <a:buChar char="•"/>
            </a:pPr>
            <a:r>
              <a:rPr lang="en-US" sz="1600" dirty="0">
                <a:solidFill>
                  <a:srgbClr val="334155"/>
                </a:solidFill>
              </a:rPr>
              <a:t>One parameterized Logic App per integration, not one per component</a:t>
            </a:r>
            <a:endParaRPr lang="en-US" sz="1600" dirty="0"/>
          </a:p>
          <a:p>
            <a:pPr marL="342900" indent="-342900">
              <a:spcAft>
                <a:spcPts val="400"/>
              </a:spcAft>
              <a:buSzPct val="100000"/>
              <a:buChar char="•"/>
            </a:pPr>
            <a:r>
              <a:rPr lang="en-US" sz="1600" dirty="0">
                <a:solidFill>
                  <a:srgbClr val="334155"/>
                </a:solidFill>
              </a:rPr>
              <a:t>Block first: Disable user account and Revoke all refresh tokens before the custom task</a:t>
            </a:r>
            <a:endParaRPr lang="en-US" sz="1600" dirty="0"/>
          </a:p>
          <a:p>
            <a:pPr marL="342900" indent="-342900">
              <a:spcAft>
                <a:spcPts val="400"/>
              </a:spcAft>
              <a:buSzPct val="100000"/>
              <a:buChar char="•"/>
            </a:pPr>
            <a:r>
              <a:rPr lang="en-US" sz="1600" dirty="0">
                <a:solidFill>
                  <a:srgbClr val="334155"/>
                </a:solidFill>
              </a:rPr>
              <a:t>Custom tasks idempotent, retrying with a bound</a:t>
            </a:r>
            <a:endParaRPr lang="en-US" sz="1600" dirty="0"/>
          </a:p>
        </p:txBody>
      </p:sp>
      <p:sp>
        <p:nvSpPr>
          <p:cNvPr id="9" name="Panel Learn's contract" descr="">
            <a:extLst>
              <a:ext uri="{C183D7F6-B498-43B3-948B-1728B52AA6E4}">
                <adec:decorative xmlns:adec="http://schemas.microsoft.com/office/drawing/2017/decorative" val="1"/>
              </a:ext>
            </a:extLst>
          </p:cNvPr>
          <p:cNvSpPr/>
          <p:nvPr/>
        </p:nvSpPr>
        <p:spPr>
          <a:xfrm>
            <a:off x="6240780" y="2112264"/>
            <a:ext cx="5417820" cy="3624072"/>
          </a:xfrm>
          <a:prstGeom prst="roundRect">
            <a:avLst>
              <a:gd name="adj" fmla="val 201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Learn&amp;apos;s contract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LEARN'S CONTRACT</a:t>
            </a:r>
            <a:endParaRPr lang="en-US" sz="1100" dirty="0"/>
          </a:p>
        </p:txBody>
      </p:sp>
      <p:sp>
        <p:nvSpPr>
          <p:cNvPr id="11" name="Panel Learn's contract list"/>
          <p:cNvSpPr txBox="1"/>
          <p:nvPr/>
        </p:nvSpPr>
        <p:spPr>
          <a:xfrm>
            <a:off x="6423660" y="2523744"/>
            <a:ext cx="5097780" cy="316687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Calls an Azure Logic App on the Consumption plan</a:t>
            </a:r>
            <a:endParaRPr lang="en-US" sz="1600" dirty="0"/>
          </a:p>
          <a:p>
            <a:pPr marL="342900" indent="-342900">
              <a:spcAft>
                <a:spcPts val="400"/>
              </a:spcAft>
              <a:buSzPct val="100000"/>
              <a:buChar char="•"/>
            </a:pPr>
            <a:r>
              <a:rPr lang="en-US" sz="1600" dirty="0">
                <a:solidFill>
                  <a:srgbClr val="334155"/>
                </a:solidFill>
              </a:rPr>
              <a:t>Launch and continue: succeeds if the Logic App starts. Launch and wait: failed if no response within the duration</a:t>
            </a:r>
            <a:endParaRPr lang="en-US" sz="1600" dirty="0"/>
          </a:p>
          <a:p>
            <a:pPr marL="342900" indent="-342900">
              <a:spcAft>
                <a:spcPts val="400"/>
              </a:spcAft>
              <a:buSzPct val="100000"/>
              <a:buChar char="•"/>
            </a:pPr>
            <a:r>
              <a:rPr lang="en-US" sz="1600" dirty="0">
                <a:solidFill>
                  <a:srgbClr val="334155"/>
                </a:solidFill>
              </a:rPr>
              <a:t>Wait: 30 minutes to 3 hours, an ISO 8601 duration (the planning page says 3 minutes to 5 hours; the code takes the narrower)</a:t>
            </a:r>
            <a:endParaRPr lang="en-US" sz="1600" dirty="0"/>
          </a:p>
          <a:p>
            <a:pPr marL="342900" indent="-342900">
              <a:spcAft>
                <a:spcPts val="400"/>
              </a:spcAft>
              <a:buSzPct val="100000"/>
              <a:buChar char="•"/>
            </a:pPr>
            <a:r>
              <a:rPr lang="en-US" sz="1600" dirty="0">
                <a:solidFill>
                  <a:srgbClr val="334155"/>
                </a:solidFill>
              </a:rPr>
              <a:t>Response: POST taskProcessingResult: resume, completed or failed, in v1.0</a:t>
            </a:r>
            <a:endParaRPr lang="en-US" sz="1600" dirty="0"/>
          </a:p>
          <a:p>
            <a:pPr marL="342900" indent="-342900">
              <a:spcAft>
                <a:spcPts val="400"/>
              </a:spcAft>
              <a:buSzPct val="100000"/>
              <a:buChar char="•"/>
            </a:pPr>
            <a:r>
              <a:rPr lang="en-US" sz="1600" dirty="0">
                <a:solidFill>
                  <a:srgbClr val="334155"/>
                </a:solidFill>
              </a:rPr>
              <a:t>New extensions use proof-of-possession (PoP) tokens; bearer ones can't be migrated</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custom task extension; callback configuration; service limits; deployment planning; resume; callback data; configure; security. Chapter 05, “Where the extensions sit.”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host, Azure Resource Manager, license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2194560"/>
                <a:gridCol w="4206240"/>
                <a:gridCol w="47091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Worldwide and GCC</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GCC High and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callback's Graph host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graph.microsoft.com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graph.microsoft.us (GCC High); dod-graph.microsoft.us (DoD); a token for one cloud doesn't work in another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Resume and create APIs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Global service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US Government L4 and L5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Logic App's PoP policy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 documents it for Azure commercial (management.azure.com)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Azure Government uses management.usgovcloudapi.net, but Learn gives no PoP policy: the builder refuses (research gap 12)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License and availability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Entra ID Governance or Entra Suite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ID Governance in GCC, GCC High and DoD; Lifecycle Workflows listed for Azure for US Government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Limits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100 custom task extensions per tenant; 25 tasks per workflow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same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5039868"/>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5113020"/>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258592"/>
            <a:ext cx="315407" cy="315407"/>
          </a:xfrm>
          <a:prstGeom prst="rect">
            <a:avLst/>
          </a:prstGeom>
        </p:spPr>
      </p:pic>
      <p:sp>
        <p:nvSpPr>
          <p:cNvPr id="9" name="Callout text"/>
          <p:cNvSpPr txBox="1"/>
          <p:nvPr/>
        </p:nvSpPr>
        <p:spPr>
          <a:xfrm>
            <a:off x="1600200" y="5094732"/>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GCC keeps the worldwide endpoint, so the callback goes to graph.microsoft.com, and a Logic App in commercial Azure uses Learn's documented PoP policy.</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 deployments; resume; create; feature availability; licensing; service limits; Azure Government guidance. Chapter 05, “Where the extensions sit.”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Logic App definition, pinned and run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37460"/>
        </p:xfrm>
        <a:graphic>
          <a:graphicData uri="http://schemas.openxmlformats.org/drawingml/2006/table">
            <a:tbl>
              <a:tblPr firstRow="1" bandRow="1"/>
              <a:tblGrid>
                <a:gridCol w="2194560"/>
                <a:gridCol w="89154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Learn's definition does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Trigger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Request trigger with the schema of what Lifecycle Workflows sends: callbackUriPath, the subject (ID, name, email, UPN, manager), the task, the task processing result, the workflow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Callback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One HTTP action: POST https://graph.microsoft.com/beta@{callbackUriPath}, managed identity, body operationStatus: Completed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Your logic</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"Add other actions between the trigger and callback action"; remove the callback for launch and continue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Authorization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Policy AzureADLifecycleWorkflowsAuthPOPAuthPolicy, type AADPOP: issuer, audience, appid, m, u, 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The pinned copy" descr="">
            <a:extLst>
              <a:ext uri="{C183D7F6-B498-43B3-948B-1728B52AA6E4}">
                <adec:decorative xmlns:adec="http://schemas.microsoft.com/office/drawing/2017/decorative" val="1"/>
              </a:ext>
            </a:extLst>
          </p:cNvPr>
          <p:cNvSpPr/>
          <p:nvPr/>
        </p:nvSpPr>
        <p:spPr>
          <a:xfrm>
            <a:off x="548640" y="4046220"/>
            <a:ext cx="5417820" cy="1892808"/>
          </a:xfrm>
          <a:prstGeom prst="roundRect">
            <a:avLst>
              <a:gd name="adj" fmla="val 38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pinned copy label"/>
          <p:cNvSpPr txBox="1"/>
          <p:nvPr/>
        </p:nvSpPr>
        <p:spPr>
          <a:xfrm>
            <a:off x="731520" y="415594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PINNED COPY</a:t>
            </a:r>
            <a:endParaRPr lang="en-US" sz="1100" dirty="0"/>
          </a:p>
        </p:txBody>
      </p:sp>
      <p:sp>
        <p:nvSpPr>
          <p:cNvPr id="8" name="Panel The pinned copy list"/>
          <p:cNvSpPr txBox="1"/>
          <p:nvPr/>
        </p:nvSpPr>
        <p:spPr>
          <a:xfrm>
            <a:off x="731520" y="4457700"/>
            <a:ext cx="5097780" cy="14356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configure page and the extension page from MicrosoftDocs/entra-docs at commit 07cb73d (Oct 30, 2026), unmodified, MIT</a:t>
            </a:r>
            <a:endParaRPr lang="en-US" sz="1500" dirty="0"/>
          </a:p>
          <a:p>
            <a:pPr marL="342900" indent="-342900">
              <a:spcAft>
                <a:spcPts val="400"/>
              </a:spcAft>
              <a:buSzPct val="100000"/>
              <a:buChar char="•"/>
            </a:pPr>
            <a:r>
              <a:rPr lang="en-US" sz="1500" dirty="0">
                <a:solidFill>
                  <a:srgbClr val="334155"/>
                </a:solidFill>
              </a:rPr>
              <a:t>snapshot.json holds SHA-256s a unit test checks; the weekly source watch reports new commits</a:t>
            </a:r>
            <a:endParaRPr lang="en-US" sz="1500" dirty="0"/>
          </a:p>
        </p:txBody>
      </p:sp>
      <p:sp>
        <p:nvSpPr>
          <p:cNvPr id="9" name="Panel Run unchanged, offline" descr="">
            <a:extLst>
              <a:ext uri="{C183D7F6-B498-43B3-948B-1728B52AA6E4}">
                <adec:decorative xmlns:adec="http://schemas.microsoft.com/office/drawing/2017/decorative" val="1"/>
              </a:ext>
            </a:extLst>
          </p:cNvPr>
          <p:cNvSpPr/>
          <p:nvPr/>
        </p:nvSpPr>
        <p:spPr>
          <a:xfrm>
            <a:off x="6240780" y="4046220"/>
            <a:ext cx="5417820" cy="1892808"/>
          </a:xfrm>
          <a:prstGeom prst="roundRect">
            <a:avLst>
              <a:gd name="adj" fmla="val 38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Run unchanged, offline label"/>
          <p:cNvSpPr txBox="1"/>
          <p:nvPr/>
        </p:nvSpPr>
        <p:spPr>
          <a:xfrm>
            <a:off x="6423660" y="415594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RUN UNCHANGED, OFFLINE</a:t>
            </a:r>
            <a:endParaRPr lang="en-US" sz="1100" dirty="0"/>
          </a:p>
        </p:txBody>
      </p:sp>
      <p:sp>
        <p:nvSpPr>
          <p:cNvPr id="11" name="Panel Run unchanged, offline list"/>
          <p:cNvSpPr txBox="1"/>
          <p:nvPr/>
        </p:nvSpPr>
        <p:spPr>
          <a:xfrm>
            <a:off x="6423660" y="4457700"/>
            <a:ext cx="5097780" cy="14356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lcwext.py learn-sample extracts the definition at test time</a:t>
            </a:r>
            <a:endParaRPr lang="en-US" sz="1500" dirty="0"/>
          </a:p>
          <a:p>
            <a:pPr marL="342900" indent="-342900">
              <a:spcAft>
                <a:spcPts val="400"/>
              </a:spcAft>
              <a:buSzPct val="100000"/>
              <a:buChar char="•"/>
            </a:pPr>
            <a:r>
              <a:rPr lang="en-US" sz="1500" dirty="0">
                <a:solidFill>
                  <a:srgbClr val="334155"/>
                </a:solidFill>
              </a:rPr>
              <a:t>wdl.py interprets the slice of Workflow Definition Language it uses, against fake Lifecycle Workflows, Graph per cloud and downstream</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a Logic App for Lifecycle Workflow use; Trigger Logic Apps; MicrosoftDocs/entra-docs at 07cb73d (MIT). Chapter 05, “Start with Microsoft's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it leaves to you: cloud, path and status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3291840"/>
                <a:gridCol w="4023360"/>
                <a:gridCol w="3794760"/>
              </a:tblGrid>
              <a:tr h="55168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definition,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examples/lifecycle-extensions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Resumes with the managed identity, no secret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the trigger schema kept unchanged (a test compares them)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Calls back to graph.microsoft.com, hard-coded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 GCC High or DoD the callback goes to the wrong cloud; the task fails at the end of the wait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graphHost parameter that accepts only the three Graph roots, set from the registry's cloud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Calls back on /beta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 doesn't support beta in production; resume is in v1.0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callback uses v1.0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Uses callbackUriPath as it arrives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Any path gets a POST with the identity's token (a test sends /users)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Check_request refuses a path that isn't this workflow's resume path, or no subject, and makes no call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Always reports Completed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failed revocation reads as done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Status from the integration call: completed or failed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a Logic App; Create customTaskExtensions (beta note); taskProcessingResult: resume. Chapter 05,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it leaves to you: failure, repeats and secrets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94048"/>
        </p:xfrm>
        <a:graphic>
          <a:graphicData uri="http://schemas.openxmlformats.org/drawingml/2006/table">
            <a:tbl>
              <a:tblPr firstRow="1" bandRow="1"/>
              <a:tblGrid>
                <a:gridCol w="3291840"/>
                <a:gridCol w="4023360"/>
                <a:gridCol w="3794760"/>
              </a:tblGrid>
              <a:tr h="55168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definition,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examples/lifecycle-extensions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Added work fails: no callback is sent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Lifecycle Workflows waits out the whole timeout before the task fails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Resume runs after success, failure or time-out; a failure is reported at once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idempotency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retried call or a rerun repeats the work downstream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Idempotency-Key set to the task processing result ID; the fake does the work once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Trigger outputs carry name, UPN, email and manager into run history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Personal data visible to anyone who can read runs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Trigger outputs and HTTP inputs and outputs secured; only the object ID goes downstream (design guidance)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Default retry policy, implicit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Once you add work, retries must fit inside the wait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Explicit exponential retries with a maximumInterval; the lint checks the worst case against the timeout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Authorization policy typed in the portal; appid on the page is a placeholder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hand-typed policy drifts; a placeholder appid blocks every call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accessControl built from the registry, SAS off; the builder refuses the placeholder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Secure access and data for workflows in Logic Apps; custom extension security; Configure a Logic App. Chapter 05,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appid value, and the verdict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Settling the appid" descr="">
            <a:extLst>
              <a:ext uri="{C183D7F6-B498-43B3-948B-1728B52AA6E4}">
                <adec:decorative xmlns:adec="http://schemas.microsoft.com/office/drawing/2017/decorative" val="1"/>
              </a:ext>
            </a:extLst>
          </p:cNvPr>
          <p:cNvSpPr/>
          <p:nvPr/>
        </p:nvSpPr>
        <p:spPr>
          <a:xfrm>
            <a:off x="548640" y="1325880"/>
            <a:ext cx="6284671" cy="3003804"/>
          </a:xfrm>
          <a:prstGeom prst="roundRect">
            <a:avLst>
              <a:gd name="adj" fmla="val 243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Panel Settling the appid label"/>
          <p:cNvSpPr txBox="1"/>
          <p:nvPr/>
        </p:nvSpPr>
        <p:spPr>
          <a:xfrm>
            <a:off x="731520" y="1435608"/>
            <a:ext cx="5918911" cy="274320"/>
          </a:xfrm>
          <a:prstGeom prst="rect">
            <a:avLst/>
          </a:prstGeom>
          <a:noFill/>
          <a:ln/>
        </p:spPr>
        <p:txBody>
          <a:bodyPr wrap="square" lIns="0" tIns="0" rIns="0" bIns="0" rtlCol="0" anchor="t"/>
          <a:lstStyle/>
          <a:p>
            <a:pPr indent="0" marL="0">
              <a:buNone/>
            </a:pPr>
            <a:r>
              <a:rPr lang="en-US" sz="1100" b="1" spc="50" kern="0" dirty="0">
                <a:solidFill>
                  <a:srgbClr val="B45309"/>
                </a:solidFill>
              </a:rPr>
              <a:t>SETTLING THE APPID</a:t>
            </a:r>
            <a:endParaRPr lang="en-US" sz="1100" dirty="0"/>
          </a:p>
        </p:txBody>
      </p:sp>
      <p:sp>
        <p:nvSpPr>
          <p:cNvPr id="7" name="Panel Settling the appid list"/>
          <p:cNvSpPr txBox="1"/>
          <p:nvPr/>
        </p:nvSpPr>
        <p:spPr>
          <a:xfrm>
            <a:off x="731520" y="1737360"/>
            <a:ext cx="5964631"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PoP row prints 00001111-aaaa-2222-bbbb-3333cccc4444, Learn's example-GUID format</a:t>
            </a:r>
            <a:endParaRPr lang="en-US" sz="1550" dirty="0"/>
          </a:p>
          <a:p>
            <a:pPr marL="342900" indent="-342900">
              <a:spcAft>
                <a:spcPts val="400"/>
              </a:spcAft>
              <a:buSzPct val="100000"/>
              <a:buChar char="•"/>
            </a:pPr>
            <a:r>
              <a:rPr lang="en-US" sz="1550" dirty="0">
                <a:solidFill>
                  <a:srgbClr val="334155"/>
                </a:solidFill>
              </a:rPr>
              <a:t>The bearer policy's azp row prints ce79fdc4-cd1d-4ea5-8139-e74d7dbe0bb7; the appid row held it until a May 2024 docs sweep</a:t>
            </a:r>
            <a:endParaRPr lang="en-US" sz="1550" dirty="0"/>
          </a:p>
          <a:p>
            <a:pPr marL="342900" indent="-342900">
              <a:spcAft>
                <a:spcPts val="400"/>
              </a:spcAft>
              <a:buSzPct val="100000"/>
              <a:buChar char="•"/>
            </a:pPr>
            <a:r>
              <a:rPr lang="en-US" sz="1550" dirty="0">
                <a:solidFill>
                  <a:srgbClr val="334155"/>
                </a:solidFill>
              </a:rPr>
              <a:t>Claims reference: azp (v2.0) replaces appid (v1.0); both name the client, here Lifecycle Workflows</a:t>
            </a:r>
            <a:endParaRPr lang="en-US" sz="1550" dirty="0"/>
          </a:p>
          <a:p>
            <a:pPr marL="342900" indent="-342900">
              <a:spcAft>
                <a:spcPts val="400"/>
              </a:spcAft>
              <a:buSzPct val="100000"/>
              <a:buChar char="•"/>
            </a:pPr>
            <a:r>
              <a:rPr lang="en-US" sz="1550" dirty="0">
                <a:solidFill>
                  <a:srgbClr val="334155"/>
                </a:solidFill>
              </a:rPr>
              <a:t>entra-docs' known-GUIDs list names ce79fdc4-… "Lifecycle Workflows"</a:t>
            </a:r>
            <a:endParaRPr lang="en-US" sz="1550" dirty="0"/>
          </a:p>
        </p:txBody>
      </p:sp>
      <p:sp>
        <p:nvSpPr>
          <p:cNvPr id="8" name="Panel What the code does" descr="">
            <a:extLst>
              <a:ext uri="{C183D7F6-B498-43B3-948B-1728B52AA6E4}">
                <adec:decorative xmlns:adec="http://schemas.microsoft.com/office/drawing/2017/decorative" val="1"/>
              </a:ext>
            </a:extLst>
          </p:cNvPr>
          <p:cNvSpPr/>
          <p:nvPr/>
        </p:nvSpPr>
        <p:spPr>
          <a:xfrm>
            <a:off x="7107631" y="1325880"/>
            <a:ext cx="4550969" cy="3003804"/>
          </a:xfrm>
          <a:prstGeom prst="roundRect">
            <a:avLst>
              <a:gd name="adj" fmla="val 243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What the code does label"/>
          <p:cNvSpPr txBox="1"/>
          <p:nvPr/>
        </p:nvSpPr>
        <p:spPr>
          <a:xfrm>
            <a:off x="7290511" y="1435608"/>
            <a:ext cx="4185209" cy="274320"/>
          </a:xfrm>
          <a:prstGeom prst="rect">
            <a:avLst/>
          </a:prstGeom>
          <a:noFill/>
          <a:ln/>
        </p:spPr>
        <p:txBody>
          <a:bodyPr wrap="square" lIns="0" tIns="0" rIns="0" bIns="0" rtlCol="0" anchor="t"/>
          <a:lstStyle/>
          <a:p>
            <a:pPr indent="0" marL="0">
              <a:buNone/>
            </a:pPr>
            <a:r>
              <a:rPr lang="en-US" sz="1100" b="1" spc="50" kern="0" dirty="0">
                <a:solidFill>
                  <a:srgbClr val="0F766E"/>
                </a:solidFill>
              </a:rPr>
              <a:t>WHAT THE CODE DOES</a:t>
            </a:r>
            <a:endParaRPr lang="en-US" sz="1100" dirty="0"/>
          </a:p>
        </p:txBody>
      </p:sp>
      <p:sp>
        <p:nvSpPr>
          <p:cNvPr id="10" name="Panel What the code does list"/>
          <p:cNvSpPr txBox="1"/>
          <p:nvPr/>
        </p:nvSpPr>
        <p:spPr>
          <a:xfrm>
            <a:off x="7290511" y="1737360"/>
            <a:ext cx="4230929"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registry uses ce79fdc4-…</a:t>
            </a:r>
            <a:endParaRPr lang="en-US" sz="1550" dirty="0"/>
          </a:p>
          <a:p>
            <a:pPr marL="342900" indent="-342900">
              <a:spcAft>
                <a:spcPts val="400"/>
              </a:spcAft>
              <a:buSzPct val="100000"/>
              <a:buChar char="•"/>
            </a:pPr>
            <a:r>
              <a:rPr lang="en-US" sz="1550" dirty="0">
                <a:solidFill>
                  <a:srgbClr val="334155"/>
                </a:solidFill>
              </a:rPr>
              <a:t>A test pins it to the pinned page's azp row</a:t>
            </a:r>
            <a:endParaRPr lang="en-US" sz="1550" dirty="0"/>
          </a:p>
          <a:p>
            <a:pPr marL="342900" indent="-342900">
              <a:spcAft>
                <a:spcPts val="400"/>
              </a:spcAft>
              <a:buSzPct val="100000"/>
              <a:buChar char="•"/>
            </a:pPr>
            <a:r>
              <a:rPr lang="en-US" sz="1550" dirty="0">
                <a:solidFill>
                  <a:srgbClr val="334155"/>
                </a:solidFill>
              </a:rPr>
              <a:t>Lab 2 still reads the service principal in the tenant before anything depends on it</a:t>
            </a:r>
            <a:endParaRPr lang="en-US" sz="1550" dirty="0"/>
          </a:p>
          <a:p>
            <a:pPr marL="342900" indent="-342900">
              <a:spcAft>
                <a:spcPts val="400"/>
              </a:spcAft>
              <a:buSzPct val="100000"/>
              <a:buChar char="•"/>
            </a:pPr>
            <a:r>
              <a:rPr lang="en-US" sz="1550" dirty="0">
                <a:solidFill>
                  <a:srgbClr val="334155"/>
                </a:solidFill>
              </a:rPr>
              <a:t>Research gap 10: closed</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512564"/>
            <a:ext cx="11109960" cy="1019556"/>
          </a:xfrm>
          <a:prstGeom prst="roundRect">
            <a:avLst>
              <a:gd name="adj" fmla="val 71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4702302"/>
            <a:ext cx="640080" cy="640080"/>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855921"/>
            <a:ext cx="332842" cy="332842"/>
          </a:xfrm>
          <a:prstGeom prst="rect">
            <a:avLst/>
          </a:prstGeom>
        </p:spPr>
      </p:pic>
      <p:sp>
        <p:nvSpPr>
          <p:cNvPr id="14" name="Callout text"/>
          <p:cNvSpPr txBox="1"/>
          <p:nvPr/>
        </p:nvSpPr>
        <p:spPr>
          <a:xfrm>
            <a:off x="1600200" y="4567428"/>
            <a:ext cx="9875520" cy="909828"/>
          </a:xfrm>
          <a:prstGeom prst="rect">
            <a:avLst/>
          </a:prstGeom>
          <a:noFill/>
          <a:ln/>
        </p:spPr>
        <p:txBody>
          <a:bodyPr wrap="square" lIns="0" tIns="0" rIns="0" bIns="0" rtlCol="0" anchor="ctr"/>
          <a:lstStyle/>
          <a:p>
            <a:pPr indent="0" marL="0">
              <a:buNone/>
            </a:pPr>
            <a:r>
              <a:rPr lang="en-US" sz="1750" b="1" dirty="0">
                <a:solidFill>
                  <a:srgbClr val="1F2A44"/>
                </a:solidFill>
              </a:rPr>
              <a:t>Verdict: </a:t>
            </a:r>
            <a:pPr indent="0" marL="0">
              <a:buNone/>
            </a:pPr>
            <a:r>
              <a:rPr lang="en-US" sz="1750" dirty="0">
                <a:solidFill>
                  <a:srgbClr val="334155"/>
                </a:solidFill>
              </a:rPr>
              <a:t>Learn's definition is the right shape and trigger, and the program keeps both. As published it can report success for failed work, nothing for added work that failed, and works only in the worldwide cloud. Use it as the model; run the program's.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a Logic App; Access token claims reference; entra-docs known-guids.json and commit history. Chapter 05, “What it leaves to you,”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Logic App per integration, in four steps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764792"/>
        </p:xfrm>
        <a:graphic>
          <a:graphicData uri="http://schemas.openxmlformats.org/drawingml/2006/table">
            <a:tbl>
              <a:tblPr firstRow="1" bandRow="1"/>
              <a:tblGrid>
                <a:gridCol w="2377440"/>
                <a:gridCol w="87325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Parameter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holds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graphHost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Graph root for the tenant's cloud: only graph.microsoft.com, graph.microsoft.us or dod-graph.microsoft.us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integrationUri, integrationAudience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one downstream system this Logic App calls, and the audience it accepts in the identity's token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operations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Each lifecycle workflow ID it serves, and the operation it runs for it (revoke, issue)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ep 1 dot" descr="">
            <a:extLst>
              <a:ext uri="{C183D7F6-B498-43B3-948B-1728B52AA6E4}">
                <adec:decorative xmlns:adec="http://schemas.microsoft.com/office/drawing/2017/decorative" val="1"/>
              </a:ext>
            </a:extLst>
          </p:cNvPr>
          <p:cNvSpPr/>
          <p:nvPr/>
        </p:nvSpPr>
        <p:spPr>
          <a:xfrm>
            <a:off x="548640" y="3291840"/>
            <a:ext cx="275844" cy="275844"/>
          </a:xfrm>
          <a:prstGeom prst="ellipse">
            <a:avLst/>
          </a:prstGeom>
          <a:solidFill>
            <a:srgbClr val="B45309"/>
          </a:solidFill>
          <a:ln w="12700">
            <a:solidFill>
              <a:srgbClr val="B45309"/>
            </a:solidFill>
            <a:prstDash val="solid"/>
          </a:ln>
        </p:spPr>
      </p:sp>
      <p:sp>
        <p:nvSpPr>
          <p:cNvPr id="7" name="Step 1 number"/>
          <p:cNvSpPr txBox="1"/>
          <p:nvPr/>
        </p:nvSpPr>
        <p:spPr>
          <a:xfrm>
            <a:off x="548640" y="329184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Step 1"/>
          <p:cNvSpPr txBox="1"/>
          <p:nvPr/>
        </p:nvSpPr>
        <p:spPr>
          <a:xfrm>
            <a:off x="1097280" y="327355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Check_request: </a:t>
            </a:r>
            <a:pPr indent="0" marL="0">
              <a:buNone/>
            </a:pPr>
            <a:r>
              <a:rPr lang="en-US" sz="1450" dirty="0">
                <a:solidFill>
                  <a:srgbClr val="334155"/>
                </a:solidFill>
              </a:rPr>
              <a:t>callbackUriPath starts /identityGovernance/lifecycleWorkflows/workflows/, ends /resume, holds this workflow and result ID; subject has an ID. Else RejectedPayload, nothing sent</a:t>
            </a:r>
            <a:endParaRPr lang="en-US" sz="1450" dirty="0"/>
          </a:p>
        </p:txBody>
      </p:sp>
      <p:sp>
        <p:nvSpPr>
          <p:cNvPr id="9" name="Step 2 dot" descr="">
            <a:extLst>
              <a:ext uri="{C183D7F6-B498-43B3-948B-1728B52AA6E4}">
                <adec:decorative xmlns:adec="http://schemas.microsoft.com/office/drawing/2017/decorative" val="1"/>
              </a:ext>
            </a:extLst>
          </p:cNvPr>
          <p:cNvSpPr/>
          <p:nvPr/>
        </p:nvSpPr>
        <p:spPr>
          <a:xfrm>
            <a:off x="548640" y="3843528"/>
            <a:ext cx="275844" cy="275844"/>
          </a:xfrm>
          <a:prstGeom prst="ellipse">
            <a:avLst/>
          </a:prstGeom>
          <a:solidFill>
            <a:srgbClr val="B45309"/>
          </a:solidFill>
          <a:ln w="12700">
            <a:solidFill>
              <a:srgbClr val="B45309"/>
            </a:solidFill>
            <a:prstDash val="solid"/>
          </a:ln>
        </p:spPr>
      </p:sp>
      <p:sp>
        <p:nvSpPr>
          <p:cNvPr id="10" name="Step 2 number"/>
          <p:cNvSpPr txBox="1"/>
          <p:nvPr/>
        </p:nvSpPr>
        <p:spPr>
          <a:xfrm>
            <a:off x="548640" y="384352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Step 2"/>
          <p:cNvSpPr txBox="1"/>
          <p:nvPr/>
        </p:nvSpPr>
        <p:spPr>
          <a:xfrm>
            <a:off x="1097280" y="3825240"/>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Operation: </a:t>
            </a:r>
            <a:pPr indent="0" marL="0">
              <a:buNone/>
            </a:pPr>
            <a:r>
              <a:rPr lang="en-US" sz="1450" dirty="0">
                <a:solidFill>
                  <a:srgbClr val="334155"/>
                </a:solidFill>
              </a:rPr>
              <a:t>Looks up the workflow ID in operations; an unregistered workflow gets no work done</a:t>
            </a:r>
            <a:endParaRPr lang="en-US" sz="1450" dirty="0"/>
          </a:p>
        </p:txBody>
      </p:sp>
      <p:sp>
        <p:nvSpPr>
          <p:cNvPr id="12" name="Step 3 dot" descr="">
            <a:extLst>
              <a:ext uri="{C183D7F6-B498-43B3-948B-1728B52AA6E4}">
                <adec:decorative xmlns:adec="http://schemas.microsoft.com/office/drawing/2017/decorative" val="1"/>
              </a:ext>
            </a:extLst>
          </p:cNvPr>
          <p:cNvSpPr/>
          <p:nvPr/>
        </p:nvSpPr>
        <p:spPr>
          <a:xfrm>
            <a:off x="548640" y="4174236"/>
            <a:ext cx="275844" cy="275844"/>
          </a:xfrm>
          <a:prstGeom prst="ellipse">
            <a:avLst/>
          </a:prstGeom>
          <a:solidFill>
            <a:srgbClr val="B45309"/>
          </a:solidFill>
          <a:ln w="12700">
            <a:solidFill>
              <a:srgbClr val="B45309"/>
            </a:solidFill>
            <a:prstDash val="solid"/>
          </a:ln>
        </p:spPr>
      </p:sp>
      <p:sp>
        <p:nvSpPr>
          <p:cNvPr id="13" name="Step 3 number"/>
          <p:cNvSpPr txBox="1"/>
          <p:nvPr/>
        </p:nvSpPr>
        <p:spPr>
          <a:xfrm>
            <a:off x="548640" y="417423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Step 3"/>
          <p:cNvSpPr txBox="1"/>
          <p:nvPr/>
        </p:nvSpPr>
        <p:spPr>
          <a:xfrm>
            <a:off x="1097280" y="415594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Call_integration: </a:t>
            </a:r>
            <a:pPr indent="0" marL="0">
              <a:buNone/>
            </a:pPr>
            <a:r>
              <a:rPr lang="en-US" sz="1450" dirty="0">
                <a:solidFill>
                  <a:srgbClr val="334155"/>
                </a:solidFill>
              </a:rPr>
              <a:t>Posts the operation, object ID, workflow and result IDs with the managed identity and an Idempotency-Key; retries 408, 429 and 5xx up to four times, at most two minutes apart</a:t>
            </a:r>
            <a:endParaRPr lang="en-US" sz="1450" dirty="0"/>
          </a:p>
        </p:txBody>
      </p:sp>
      <p:sp>
        <p:nvSpPr>
          <p:cNvPr id="15" name="Step 4 dot" descr="">
            <a:extLst>
              <a:ext uri="{C183D7F6-B498-43B3-948B-1728B52AA6E4}">
                <adec:decorative xmlns:adec="http://schemas.microsoft.com/office/drawing/2017/decorative" val="1"/>
              </a:ext>
            </a:extLst>
          </p:cNvPr>
          <p:cNvSpPr/>
          <p:nvPr/>
        </p:nvSpPr>
        <p:spPr>
          <a:xfrm>
            <a:off x="548640" y="4725924"/>
            <a:ext cx="275844" cy="275844"/>
          </a:xfrm>
          <a:prstGeom prst="ellipse">
            <a:avLst/>
          </a:prstGeom>
          <a:solidFill>
            <a:srgbClr val="B45309"/>
          </a:solidFill>
          <a:ln w="12700">
            <a:solidFill>
              <a:srgbClr val="B45309"/>
            </a:solidFill>
            <a:prstDash val="solid"/>
          </a:ln>
        </p:spPr>
      </p:sp>
      <p:sp>
        <p:nvSpPr>
          <p:cNvPr id="16" name="Step 4 number"/>
          <p:cNvSpPr txBox="1"/>
          <p:nvPr/>
        </p:nvSpPr>
        <p:spPr>
          <a:xfrm>
            <a:off x="548640" y="472592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Step 4"/>
          <p:cNvSpPr txBox="1"/>
          <p:nvPr/>
        </p:nvSpPr>
        <p:spPr>
          <a:xfrm>
            <a:off x="1097280" y="470763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Resume: </a:t>
            </a:r>
            <a:pPr indent="0" marL="0">
              <a:buNone/>
            </a:pPr>
            <a:r>
              <a:rPr lang="en-US" sz="1450" dirty="0">
                <a:solidFill>
                  <a:srgbClr val="334155"/>
                </a:solidFill>
              </a:rPr>
              <a:t>POST {graphHost}/v1.0{callbackUriPath} after success, failure or time-out; completed only if the call succeeded; an unregistered workflow gets failed</a:t>
            </a:r>
            <a:endParaRPr lang="en-US" sz="14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Handle workflow errors and exceptions in Logic Apps (retry policies); Graph national cloud deployments. Chapter 05, “One Logic App per integration.”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Idempotency, the callback path and the registry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idempotency key" descr="">
            <a:extLst>
              <a:ext uri="{C183D7F6-B498-43B3-948B-1728B52AA6E4}">
                <adec:decorative xmlns:adec="http://schemas.microsoft.com/office/drawing/2017/decorative" val="1"/>
              </a:ext>
            </a:extLst>
          </p:cNvPr>
          <p:cNvSpPr/>
          <p:nvPr/>
        </p:nvSpPr>
        <p:spPr>
          <a:xfrm>
            <a:off x="548640" y="1325880"/>
            <a:ext cx="5417820" cy="2734056"/>
          </a:xfrm>
          <a:prstGeom prst="roundRect">
            <a:avLst>
              <a:gd name="adj" fmla="val 267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idempotency key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IDEMPOTENCY KEY</a:t>
            </a:r>
            <a:endParaRPr lang="en-US" sz="1100" dirty="0"/>
          </a:p>
        </p:txBody>
      </p:sp>
      <p:sp>
        <p:nvSpPr>
          <p:cNvPr id="7" name="Panel The idempotency key list"/>
          <p:cNvSpPr txBox="1"/>
          <p:nvPr/>
        </p:nvSpPr>
        <p:spPr>
          <a:xfrm>
            <a:off x="731520" y="1737360"/>
            <a:ext cx="5097780" cy="227685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A contract with the downstream system, not a Microsoft feature: work once per key, answer a repeat with the first result (design guidance)</a:t>
            </a:r>
            <a:endParaRPr lang="en-US" sz="1400" dirty="0"/>
          </a:p>
          <a:p>
            <a:pPr marL="342900" indent="-342900">
              <a:spcAft>
                <a:spcPts val="400"/>
              </a:spcAft>
              <a:buSzPct val="100000"/>
              <a:buChar char="•"/>
            </a:pPr>
            <a:r>
              <a:rPr lang="en-US" sz="1400" dirty="0">
                <a:solidFill>
                  <a:srgbClr val="334155"/>
                </a:solidFill>
              </a:rPr>
              <a:t>Why: the extension may call twice (maximumRetries 0 or 1); a workflow can be rerun; Book 03 resumes a partial leaver from the first incomplete step</a:t>
            </a:r>
            <a:endParaRPr lang="en-US" sz="1400" dirty="0"/>
          </a:p>
          <a:p>
            <a:pPr marL="342900" indent="-342900">
              <a:spcAft>
                <a:spcPts val="400"/>
              </a:spcAft>
              <a:buSzPct val="100000"/>
              <a:buChar char="•"/>
            </a:pPr>
            <a:r>
              <a:rPr lang="en-US" sz="1400" dirty="0">
                <a:solidFill>
                  <a:srgbClr val="334155"/>
                </a:solidFill>
              </a:rPr>
              <a:t>The exact callbackUriPath isn't documented: Check_request follows the resume path Graph shows; Lab 2 confirms it (research gap 11)</a:t>
            </a:r>
            <a:endParaRPr lang="en-US" sz="1400" dirty="0"/>
          </a:p>
        </p:txBody>
      </p:sp>
      <p:sp>
        <p:nvSpPr>
          <p:cNvPr id="8" name="Panel The registry" descr="">
            <a:extLst>
              <a:ext uri="{C183D7F6-B498-43B3-948B-1728B52AA6E4}">
                <adec:decorative xmlns:adec="http://schemas.microsoft.com/office/drawing/2017/decorative" val="1"/>
              </a:ext>
            </a:extLst>
          </p:cNvPr>
          <p:cNvSpPr/>
          <p:nvPr/>
        </p:nvSpPr>
        <p:spPr>
          <a:xfrm>
            <a:off x="6240780" y="1325880"/>
            <a:ext cx="5417820" cy="2734056"/>
          </a:xfrm>
          <a:prstGeom prst="roundRect">
            <a:avLst>
              <a:gd name="adj" fmla="val 267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egistr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REGISTRY</a:t>
            </a:r>
            <a:endParaRPr lang="en-US" sz="1100" dirty="0"/>
          </a:p>
        </p:txBody>
      </p:sp>
      <p:sp>
        <p:nvSpPr>
          <p:cNvPr id="10" name="Panel The registry list"/>
          <p:cNvSpPr txBox="1"/>
          <p:nvPr/>
        </p:nvSpPr>
        <p:spPr>
          <a:xfrm>
            <a:off x="6423660" y="1737360"/>
            <a:ext cx="5097780" cy="227685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config/integrations.json: one entry per integration: tenant cloud, Azure cloud, subscription, resource group, Logic App, downstream URI and audience, workflows and Book 03 scenario, extension settings</a:t>
            </a:r>
            <a:endParaRPr lang="en-US" sz="1400" dirty="0"/>
          </a:p>
          <a:p>
            <a:pPr marL="342900" indent="-342900">
              <a:spcAft>
                <a:spcPts val="400"/>
              </a:spcAft>
              <a:buSzPct val="100000"/>
              <a:buChar char="•"/>
            </a:pPr>
            <a:r>
              <a:rPr lang="en-US" sz="1400" dirty="0">
                <a:solidFill>
                  <a:srgbClr val="334155"/>
                </a:solidFill>
              </a:rPr>
              <a:t>Example: cms-revocation, the leaver's PIV revocation from Book 03, Chapter 09, for two fictional contoso.example workflows</a:t>
            </a:r>
            <a:endParaRPr lang="en-US" sz="14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4242816"/>
          <a:ext cx="11109960" cy="1627632"/>
        </p:xfrm>
        <a:graphic>
          <a:graphicData uri="http://schemas.openxmlformats.org/drawingml/2006/table">
            <a:tbl>
              <a:tblPr firstRow="1" bandRow="1"/>
              <a:tblGrid>
                <a:gridCol w="2926080"/>
                <a:gridCol w="3657600"/>
                <a:gridCol w="452628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Extension setting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Default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Learn's range the builder enforces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Behavior and wait (timeoutDuration)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Launch and wait, one hour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30 minutes to 3 hours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Call retries (maximumRetries)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 or 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Connection timeout (timeoutInMilliseconds)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second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200 to 2,000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customExtensionClientConfiguration; callback configuration; Configure a Logic App; resume. Book 03, Appendix A. Chapter 05, “The registry.”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commands, and Book 03's leaver order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89148"/>
        </p:xfrm>
        <a:graphic>
          <a:graphicData uri="http://schemas.openxmlformats.org/drawingml/2006/table">
            <a:tbl>
              <a:tblPr firstRow="1" bandRow="1"/>
              <a:tblGrid>
                <a:gridCol w="2194560"/>
                <a:gridCol w="89154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tools/lcwext.py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does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Twelve rules, LX-01 to LX-12, on any definition, Learn's included. LX-11 sums worst-case retry waits and fails if they reach the timeout: four retries capped at two minutes on two HTTP actions is 16 minutes, inside the one-hour wait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Runs a definition against the fakes for a payload and cloud, with --fail 503,503 and --deliveries 2; prints what reached Graph and what the task records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build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Lints and refuses on any finding; writes the Logic App's ARM resource (system-assigned identity, parameters, accessControl) and the v1.0 extension body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check-extension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Compares an extension read from Graph with the registry: PoP, the Logic App, timeouts, an authorized app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check-workflow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Checks a workflow read from Graph against Book 03's leaver order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597908"/>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49808" y="4787646"/>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941265"/>
            <a:ext cx="332842" cy="332842"/>
          </a:xfrm>
          <a:prstGeom prst="rect">
            <a:avLst/>
          </a:prstGeom>
        </p:spPr>
      </p:pic>
      <p:sp>
        <p:nvSpPr>
          <p:cNvPr id="9" name="Callout text"/>
          <p:cNvSpPr txBox="1"/>
          <p:nvPr/>
        </p:nvSpPr>
        <p:spPr>
          <a:xfrm>
            <a:off x="1600200" y="4652772"/>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Leaver order: </a:t>
            </a:r>
            <a:pPr indent="0" marL="0">
              <a:buNone/>
            </a:pPr>
            <a:r>
              <a:rPr lang="en-US" sz="1750" dirty="0">
                <a:solidFill>
                  <a:srgbClr val="334155"/>
                </a:solidFill>
              </a:rPr>
              <a:t>Disable user account (1dfdfcc7-…), then Revoke all refresh tokens (509589a4-…), then the custom task. A Warn if the custom task stops the workflow on error (design guidance). build_task uses 4262b724-… and customTaskExtensionID.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Lifecycle Workflow built-in tasks; task arguments; Graph create customTaskExtensions. Chapter 05, “Lint, run, build, check,” “The leaver order.”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Authorization, built from the registry and checked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5092751" cy="2267712"/>
          </a:xfrm>
          <a:prstGeom prst="roundRect">
            <a:avLst>
              <a:gd name="adj" fmla="val 322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4763567" cy="228600"/>
          </a:xfrm>
          <a:prstGeom prst="rect">
            <a:avLst/>
          </a:prstGeom>
          <a:noFill/>
          <a:ln/>
        </p:spPr>
        <p:txBody>
          <a:bodyPr wrap="square" lIns="0" tIns="0" rIns="0" bIns="0" rtlCol="0" anchor="t"/>
          <a:lstStyle/>
          <a:p>
            <a:pPr indent="0" marL="0">
              <a:buNone/>
            </a:pPr>
            <a:r>
              <a:rPr lang="en-US" sz="1050" b="1" dirty="0">
                <a:solidFill>
                  <a:srgbClr val="64748B"/>
                </a:solidFill>
              </a:rPr>
              <a:t>THE LOGIC APP'S POLICY</a:t>
            </a:r>
            <a:endParaRPr lang="en-US" sz="1050" dirty="0"/>
          </a:p>
        </p:txBody>
      </p:sp>
      <p:sp>
        <p:nvSpPr>
          <p:cNvPr id="7" name="Code"/>
          <p:cNvSpPr txBox="1"/>
          <p:nvPr/>
        </p:nvSpPr>
        <p:spPr>
          <a:xfrm>
            <a:off x="713232" y="1664208"/>
            <a:ext cx="4818431" cy="188366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accessControl, written by build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sasAuthenticationPolicy: Disabled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AzureADLifecycleWorkflowsAuthPOPAuthPolicy (AADPOP)</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iss   https://sts.windows.net/{tenant}/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aud   https://management.azure.com</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appid ce79fdc4-… (lower case)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m     POST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u     management.azure.com</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p     the Logic App's resource path</a:t>
            </a:r>
            <a:endParaRPr lang="en-US" sz="1300" dirty="0"/>
          </a:p>
        </p:txBody>
      </p:sp>
      <p:sp>
        <p:nvSpPr>
          <p:cNvPr id="8" name="Panel The extension and the permissions" descr="">
            <a:extLst>
              <a:ext uri="{C183D7F6-B498-43B3-948B-1728B52AA6E4}">
                <adec:decorative xmlns:adec="http://schemas.microsoft.com/office/drawing/2017/decorative" val="1"/>
              </a:ext>
            </a:extLst>
          </p:cNvPr>
          <p:cNvSpPr/>
          <p:nvPr/>
        </p:nvSpPr>
        <p:spPr>
          <a:xfrm>
            <a:off x="5915711" y="1325880"/>
            <a:ext cx="5742889" cy="3392424"/>
          </a:xfrm>
          <a:prstGeom prst="roundRect">
            <a:avLst>
              <a:gd name="adj" fmla="val 215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extension and the permissions label"/>
          <p:cNvSpPr txBox="1"/>
          <p:nvPr/>
        </p:nvSpPr>
        <p:spPr>
          <a:xfrm>
            <a:off x="6098591" y="1435608"/>
            <a:ext cx="5377129"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EXTENSION AND THE PERMISSIONS</a:t>
            </a:r>
            <a:endParaRPr lang="en-US" sz="1100" dirty="0"/>
          </a:p>
        </p:txBody>
      </p:sp>
      <p:sp>
        <p:nvSpPr>
          <p:cNvPr id="10" name="Panel The extension and the permissions list"/>
          <p:cNvSpPr txBox="1"/>
          <p:nvPr/>
        </p:nvSpPr>
        <p:spPr>
          <a:xfrm>
            <a:off x="6098591" y="1737360"/>
            <a:ext cx="5422849"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Body asks for azureAdPopTokenAuthentication; Learn's v1.0 create example shows the bearer type, but the security page says v1.0 defaults to PoP and recommends it</a:t>
            </a:r>
            <a:endParaRPr lang="en-US" sz="1500" dirty="0"/>
          </a:p>
          <a:p>
            <a:pPr marL="342900" indent="-342900">
              <a:spcAft>
                <a:spcPts val="400"/>
              </a:spcAft>
              <a:buSzPct val="100000"/>
              <a:buChar char="•"/>
            </a:pPr>
            <a:r>
              <a:rPr lang="en-US" sz="1500" dirty="0">
                <a:solidFill>
                  <a:srgbClr val="334155"/>
                </a:solidFill>
              </a:rPr>
              <a:t>authorizedApps left out: Learn shows no request that sets it; the admin center sets it in Lab 2, check-extension checks it</a:t>
            </a:r>
            <a:endParaRPr lang="en-US" sz="1500" dirty="0"/>
          </a:p>
          <a:p>
            <a:pPr marL="342900" indent="-342900">
              <a:spcAft>
                <a:spcPts val="400"/>
              </a:spcAft>
              <a:buSzPct val="100000"/>
              <a:buChar char="•"/>
            </a:pPr>
            <a:r>
              <a:rPr lang="en-US" sz="1500" dirty="0">
                <a:solidFill>
                  <a:srgbClr val="334155"/>
                </a:solidFill>
              </a:rPr>
              <a:t>Callback: an app in authorizedApps needs no Graph permission; tenant-wide LifecycleWorkflows.ReadWrite.All is advised against</a:t>
            </a:r>
            <a:endParaRPr lang="en-US" sz="1500" dirty="0"/>
          </a:p>
          <a:p>
            <a:pPr marL="342900" indent="-342900">
              <a:spcAft>
                <a:spcPts val="400"/>
              </a:spcAft>
              <a:buSzPct val="100000"/>
              <a:buChar char="•"/>
            </a:pPr>
            <a:r>
              <a:rPr lang="en-US" sz="1500" dirty="0">
                <a:solidFill>
                  <a:srgbClr val="334155"/>
                </a:solidFill>
              </a:rPr>
              <a:t>Downstream: only what the integration needs, scoped narrowly</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a Logic App; Logic Apps security; create customTaskExtensions; custom extension security; callback configuration; resume. Chapter 05, “Authorization.”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Learn's pages disagree, and what the code does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864864"/>
        </p:xfrm>
        <a:graphic>
          <a:graphicData uri="http://schemas.openxmlformats.org/drawingml/2006/table">
            <a:tbl>
              <a:tblPr firstRow="1" bandRow="1"/>
              <a:tblGrid>
                <a:gridCol w="2103120"/>
                <a:gridCol w="5669280"/>
                <a:gridCol w="33375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Learn says, on which page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The code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Callback wait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30 minutes to 3 hours (resource, limits); 3 minutes to 5 hours (planning page)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narrower range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Workflows per tenant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100 (limits page, "What are lifecycle workflows?"); 50 (licensing page)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Plans for 50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Custom task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4262b724-… (task table, arguments table); d79d1fcc-… (task details, arguments example)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4262b724-…; Lab 2 reads back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Argument name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customTaskExtensionID (task page, example); CustomTaskExtensionID (arguments table)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customTaskExtensionID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Token 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Create example: bearer; security page: v1.0 defaults to PoP, recommended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PoP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Status value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Callback data type: completed, failed; definition and resume example: Completed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listed values; Lab 2 confirms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appid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placeholder GUID on the configure page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azp value; Lab 2 checks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373624"/>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Recorded so a later edit doesn't loosen the code.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callback configuration; limits; planning; licensing; tasks; task arguments; create; security; callback data; resume. Chapter 05,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approves it, and what it needs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645920"/>
          </a:xfrm>
          <a:prstGeom prst="roundRect">
            <a:avLst>
              <a:gd name="adj" fmla="val 444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6459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50" dirty="0">
                <a:solidFill>
                  <a:srgbClr val="334155"/>
                </a:solidFill>
              </a:rPr>
              <a:t>Build the integrations behind the joiner, mover and leaver workflows; read JSON and Python;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645920"/>
          </a:xfrm>
          <a:prstGeom prst="roundRect">
            <a:avLst>
              <a:gd name="adj" fmla="val 444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64592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550" dirty="0">
                <a:solidFill>
                  <a:srgbClr val="334155"/>
                </a:solidFill>
              </a:rPr>
              <a:t>Own the workflows, the registry entries and the leaver order</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645920"/>
          </a:xfrm>
          <a:prstGeom prst="roundRect">
            <a:avLst>
              <a:gd name="adj" fmla="val 444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64592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Reviewers</a:t>
            </a:r>
            <a:endParaRPr lang="en-US" sz="1400" dirty="0"/>
          </a:p>
          <a:p>
            <a:pPr indent="0" marL="0">
              <a:spcAft>
                <a:spcPts val="300"/>
              </a:spcAft>
              <a:buNone/>
            </a:pPr>
            <a:r>
              <a:rPr lang="en-US" sz="1550" dirty="0">
                <a:solidFill>
                  <a:srgbClr val="334155"/>
                </a:solidFill>
              </a:rPr>
              <a:t>Approve each integration: the registry entry, the built ARM file and extension body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54680"/>
          <a:ext cx="11109960" cy="2255520"/>
        </p:xfrm>
        <a:graphic>
          <a:graphicData uri="http://schemas.openxmlformats.org/drawingml/2006/table">
            <a:tbl>
              <a:tblPr firstRow="1" bandRow="1"/>
              <a:tblGrid>
                <a:gridCol w="3840480"/>
                <a:gridCol w="72694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needs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Create an extension (Lab 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Lifecycle Workflows Administrator; Logic App Contributor, Contributor or Owner on the resource group (Logic App Operator isn't enough); LifecycleWorkflows-CustomExt.ReadWrite.All via Graph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Resume a task (the Logic App)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Nothing, as an app in the extension's authorizedApps; otherwise LifecycleWorkflows.ReadWrite.All, which Learn advises against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Call the downstream system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Only what the integration needs, scoped as narrowly as the target allows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Licenses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Microsoft Entra ID Governance or Microsoft Entra Suite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custom task extension; create customTaskExtensions; resume; custom extension security; licensing. Chapter 05, “Goal and audience,”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definition, then the program's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3159252"/>
          </a:xfrm>
          <a:prstGeom prst="roundRect">
            <a:avLst>
              <a:gd name="adj" fmla="val 231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PYTHON 3.10+, IN examples/lifecycle-extensions</a:t>
            </a:r>
            <a:endParaRPr lang="en-US" sz="1050" dirty="0"/>
          </a:p>
        </p:txBody>
      </p:sp>
      <p:sp>
        <p:nvSpPr>
          <p:cNvPr id="7" name="Code"/>
          <p:cNvSpPr txBox="1"/>
          <p:nvPr/>
        </p:nvSpPr>
        <p:spPr>
          <a:xfrm>
            <a:off x="713232" y="1664208"/>
            <a:ext cx="10835640" cy="277520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Extract and lint Learn's definition: eight results, exit 2</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tools/lcwext.py learn-sample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tools/lcwext.py lint out/learn-sample.workflow.json --timeout PT1H</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Run it for GCC High: one POST to graph.microsoft.com/beta, then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tools/lcwext.py run out/learn-sample.workflow.json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tests/fixtures/trigger-leaver.json --cloud GCCHigh</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Lifecycle Workflows task: failed (no callback within PT1H)</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Lint the program's definition: 0 result(s); no findings, exit 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tools/lcwext.py lint logicapp/integration.workflow.json --timeout PT1H</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4  GCC High through two transient failures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tools/lcwext.py run logicapp/integration.workflow.json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tests/fixtures/trigger-leaver.json --cloud GCCHigh --fail 503,503</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downstream: 3 call(s), 1 effect(s)   -&gt;  graph.microsoft.us/v1.0 … completed</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examples/lifecycle-extensions (fixtures and fakes, fictional). Chapter 05,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failures, the build and the read-backs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08604"/>
        </p:xfrm>
        <a:graphic>
          <a:graphicData uri="http://schemas.openxmlformats.org/drawingml/2006/table">
            <a:tbl>
              <a:tblPr firstRow="1" bandRow="1"/>
              <a:tblGrid>
                <a:gridCol w="4206240"/>
                <a:gridCol w="69037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Try this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Step 3 again with --timeout PT15M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LX-11: the worst-case retry waits, 960 seconds, reach the timeout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Step 4 with --fail 503,503,503,503,503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5 downstream calls; the callback reports failed; the task is failed at once, not at the end of the wait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Step 4 with --deliveries 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2 calls, 1 effect: the Idempotency-Key at work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5  build … --name cms-revocation --tenant-id …</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out/arm-cms-revocation.json (SAS off, AADPOP with six claims) and out/extension-cms-revocation.json (PoP, PT1H)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Step 5 with azureCloud AzureUSGovernment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Exit 1: no documented PoP policy for Azure Government. Put it back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6  check-extension; check-workflow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Both 0 result(s); no findings. Give the custom task executionSequence 0: WX-03 twice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7  python -m unittest discover -s tests -v</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55 tests passing: 15 interpreter, 9 Learn's definition, 31 the program's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817364"/>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49808" y="5007102"/>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60721"/>
            <a:ext cx="332842" cy="332842"/>
          </a:xfrm>
          <a:prstGeom prst="rect">
            <a:avLst/>
          </a:prstGeom>
        </p:spPr>
      </p:pic>
      <p:sp>
        <p:nvSpPr>
          <p:cNvPr id="9" name="Callout text"/>
          <p:cNvSpPr txBox="1"/>
          <p:nvPr/>
        </p:nvSpPr>
        <p:spPr>
          <a:xfrm>
            <a:off x="1600200" y="4872228"/>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Illustrative code: </a:t>
            </a:r>
            <a:pPr indent="0" marL="0">
              <a:buNone/>
            </a:pPr>
            <a:r>
              <a:rPr lang="en-US" sz="1750" dirty="0">
                <a:solidFill>
                  <a:srgbClr val="334155"/>
                </a:solidFill>
              </a:rPr>
              <a:t>the fakes decide two things Learn doesn't document: how Graph answers a second resume, and the exact callback path. Review the code and run Lab 2 before it carries real leavers.</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examples/lifecycle-extensions; Learn, Compare Azure Government and global Azure. Chapter 05, “Lab 1,” steps 3–7; “The tests”; “Illustrative code.”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a real run, a failure drill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Create in the admin center: </a:t>
            </a:r>
            <a:pPr indent="0" marL="0">
              <a:buNone/>
            </a:pPr>
            <a:r>
              <a:rPr lang="en-US" sz="1450" dirty="0">
                <a:solidFill>
                  <a:srgbClr val="334155"/>
                </a:solidFill>
              </a:rPr>
              <a:t>Launch and wait, one hour, system-assigned managed identity, Create new Logic App with the registry's name: Learn's definition, PoP policy and authorized app</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Record what it made: </a:t>
            </a:r>
            <a:pPr indent="0" marL="0">
              <a:buNone/>
            </a:pPr>
            <a:r>
              <a:rPr lang="en-US" sz="1450" dirty="0">
                <a:solidFill>
                  <a:srgbClr val="334155"/>
                </a:solidFill>
              </a:rPr>
              <a:t>GET the extension and run check-extension; GET the Logic App (api-version 2016-06-01) and compare accessControl; look up the ce79fdc4-… service principal. Any difference is a finding</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Replace the definition: </a:t>
            </a:r>
            <a:pPr indent="0" marL="0">
              <a:buNone/>
            </a:pPr>
            <a:r>
              <a:rPr lang="en-US" sz="1450" dirty="0">
                <a:solidFill>
                  <a:srgbClr val="334155"/>
                </a:solidFill>
              </a:rPr>
              <a:t>Paste integration.workflow.json; integrationUri at a test receiver that answers 200 and logs Idempotency-Key</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Build a test workflow: </a:t>
            </a:r>
            <a:pPr indent="0" marL="0">
              <a:buNone/>
            </a:pPr>
            <a:r>
              <a:rPr lang="en-US" sz="1450" dirty="0">
                <a:solidFill>
                  <a:srgbClr val="334155"/>
                </a:solidFill>
              </a:rPr>
              <a:t>On demand: Disable, Revoke, then the custom task; run check-workflow; add its ID to the registry and operations</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Run it for one fictional user: </a:t>
            </a:r>
            <a:pPr indent="0" marL="0">
              <a:buNone/>
            </a:pPr>
            <a:r>
              <a:rPr lang="en-US" sz="1450" dirty="0">
                <a:solidFill>
                  <a:srgbClr val="334155"/>
                </a:solidFill>
              </a:rPr>
              <a:t>Check_request passes and the result ends completed. A Reject_request means the real path differs: record it (research gap 11)</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Drill the failure; back it out: </a:t>
            </a:r>
            <a:pPr indent="0" marL="0">
              <a:buNone/>
            </a:pPr>
            <a:r>
              <a:rPr lang="en-US" sz="1450" dirty="0">
                <a:solidFill>
                  <a:srgbClr val="334155"/>
                </a:solidFill>
              </a:rPr>
              <a:t>A 503 receiver: failed within minutes, one key per result. Then delete the task, workflow, extension, Logic App, group, roles and users</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test tenant with ID Governance licenses, a test subscription and fictional users; never production.</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Trigger Logic Apps; custom task extension; create; Logic Apps security; Remove-…CustomTaskExtension. Chapter 05,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293108"/>
        </p:xfrm>
        <a:graphic>
          <a:graphicData uri="http://schemas.openxmlformats.org/drawingml/2006/table">
            <a:tbl>
              <a:tblPr firstRow="1" bandRow="1"/>
              <a:tblGrid>
                <a:gridCol w="3200400"/>
                <a:gridCol w="4023360"/>
                <a:gridCol w="38862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failure that sends no callback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Nobody knows until the wait ends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Resume after failure and time-out; LX-07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Success reported for failed work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credential stays valid; the record says revoked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Status from the call; LX-08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wrong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GCC High or DoD callback never arrives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graphHost limited to three roots; LX-03; tests per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forged or malformed payload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identity's token goes to a path you didn't intend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PoP with SAS off; Check_request first; LX-06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repeat delivery or a rerun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Revoke, issue or delete twice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Idempotency-Key; LX-09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Retries longer than the wait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callback arrives after the task failed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Bounded retries; LX-11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Personal data in run history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Names, UPNs, emails readable by run readers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Secured inputs and outputs; LX-10, LX-12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broad permission on the identity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compromised Logic App changes any workflow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Resume through authorizedApps; CX-04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custom task before the block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leaver keeps signing in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WX-03 and WX-04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Bearer extension; placeholder appid; guessed Azure Government values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Weaker tokens; every call refused; wrong caller accepted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CX-01, recreate as PoP; the builder refuses (gap 12)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05, “Dangers”; Learn, custom extension security; Configure a Logic App; Compare Azure Government and global Azure.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Built and deployed" descr="">
            <a:extLst>
              <a:ext uri="{C183D7F6-B498-43B3-948B-1728B52AA6E4}">
                <adec:decorative xmlns:adec="http://schemas.microsoft.com/office/drawing/2017/decorative" val="1"/>
              </a:ext>
            </a:extLst>
          </p:cNvPr>
          <p:cNvSpPr/>
          <p:nvPr/>
        </p:nvSpPr>
        <p:spPr>
          <a:xfrm>
            <a:off x="548640" y="1325880"/>
            <a:ext cx="5417820" cy="3685032"/>
          </a:xfrm>
          <a:prstGeom prst="roundRect">
            <a:avLst>
              <a:gd name="adj" fmla="val 198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Built and deployed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BUILT AND DEPLOYED</a:t>
            </a:r>
            <a:endParaRPr lang="en-US" sz="1100" dirty="0"/>
          </a:p>
        </p:txBody>
      </p:sp>
      <p:sp>
        <p:nvSpPr>
          <p:cNvPr id="7" name="Panel Built and deployed list"/>
          <p:cNvSpPr txBox="1"/>
          <p:nvPr/>
        </p:nvSpPr>
        <p:spPr>
          <a:xfrm>
            <a:off x="73152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One registry entry, one Logic App and one managed identity per integration, listing every workflow it serves</a:t>
            </a:r>
            <a:endParaRPr lang="en-US" sz="1500" dirty="0"/>
          </a:p>
          <a:p>
            <a:pPr marL="342900" indent="-342900">
              <a:spcAft>
                <a:spcPts val="400"/>
              </a:spcAft>
              <a:buSzPct val="100000"/>
              <a:buChar char="•"/>
            </a:pPr>
            <a:r>
              <a:rPr lang="en-US" sz="1500" dirty="0">
                <a:solidFill>
                  <a:srgbClr val="334155"/>
                </a:solidFill>
              </a:rPr>
              <a:t>lint shows no findings against the entry's timeoutDuration; build produced the deployed ARM resource and extension</a:t>
            </a:r>
            <a:endParaRPr lang="en-US" sz="1500" dirty="0"/>
          </a:p>
          <a:p>
            <a:pPr marL="342900" indent="-342900">
              <a:spcAft>
                <a:spcPts val="400"/>
              </a:spcAft>
              <a:buSzPct val="100000"/>
              <a:buChar char="•"/>
            </a:pPr>
            <a:r>
              <a:rPr lang="en-US" sz="1500" dirty="0">
                <a:solidFill>
                  <a:srgbClr val="334155"/>
                </a:solidFill>
              </a:rPr>
              <a:t>The extension: PoP, launch and wait, the Logic App's identity as its only authorized app</a:t>
            </a:r>
            <a:endParaRPr lang="en-US" sz="1500" dirty="0"/>
          </a:p>
          <a:p>
            <a:pPr marL="342900" indent="-342900">
              <a:spcAft>
                <a:spcPts val="400"/>
              </a:spcAft>
              <a:buSzPct val="100000"/>
              <a:buChar char="•"/>
            </a:pPr>
            <a:r>
              <a:rPr lang="en-US" sz="1500" dirty="0">
                <a:solidFill>
                  <a:srgbClr val="334155"/>
                </a:solidFill>
              </a:rPr>
              <a:t>SAS off and Learn's PoP policy, with the appid confirmed in the tenant</a:t>
            </a:r>
            <a:endParaRPr lang="en-US" sz="1500" dirty="0"/>
          </a:p>
          <a:p>
            <a:pPr marL="342900" indent="-342900">
              <a:spcAft>
                <a:spcPts val="400"/>
              </a:spcAft>
              <a:buSzPct val="100000"/>
              <a:buChar char="•"/>
            </a:pPr>
            <a:r>
              <a:rPr lang="en-US" sz="1500" dirty="0">
                <a:solidFill>
                  <a:srgbClr val="334155"/>
                </a:solidFill>
              </a:rPr>
              <a:t>graphHost matches the tenant's cloud; GCC uses graph.microsoft.com</a:t>
            </a:r>
            <a:endParaRPr lang="en-US" sz="1500" dirty="0"/>
          </a:p>
        </p:txBody>
      </p:sp>
      <p:sp>
        <p:nvSpPr>
          <p:cNvPr id="8" name="Panel Proven" descr="">
            <a:extLst>
              <a:ext uri="{C183D7F6-B498-43B3-948B-1728B52AA6E4}">
                <adec:decorative xmlns:adec="http://schemas.microsoft.com/office/drawing/2017/decorative" val="1"/>
              </a:ext>
            </a:extLst>
          </p:cNvPr>
          <p:cNvSpPr/>
          <p:nvPr/>
        </p:nvSpPr>
        <p:spPr>
          <a:xfrm>
            <a:off x="6240780" y="1325880"/>
            <a:ext cx="5417820" cy="3685032"/>
          </a:xfrm>
          <a:prstGeom prst="roundRect">
            <a:avLst>
              <a:gd name="adj" fmla="val 198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Prove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PROVEN</a:t>
            </a:r>
            <a:endParaRPr lang="en-US" sz="1100" dirty="0"/>
          </a:p>
        </p:txBody>
      </p:sp>
      <p:sp>
        <p:nvSpPr>
          <p:cNvPr id="10" name="Panel Proven list"/>
          <p:cNvSpPr txBox="1"/>
          <p:nvPr/>
        </p:nvSpPr>
        <p:spPr>
          <a:xfrm>
            <a:off x="642366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downstream honors Idempotency-Key, and a repeat delivery was tested</a:t>
            </a:r>
            <a:endParaRPr lang="en-US" sz="1500" dirty="0"/>
          </a:p>
          <a:p>
            <a:pPr marL="342900" indent="-342900">
              <a:spcAft>
                <a:spcPts val="400"/>
              </a:spcAft>
              <a:buSzPct val="100000"/>
              <a:buChar char="•"/>
            </a:pPr>
            <a:r>
              <a:rPr lang="en-US" sz="1500" dirty="0">
                <a:solidFill>
                  <a:srgbClr val="334155"/>
                </a:solidFill>
              </a:rPr>
              <a:t>A forced downstream failure produced a failed callback within minutes in the test tenant</a:t>
            </a:r>
            <a:endParaRPr lang="en-US" sz="1500" dirty="0"/>
          </a:p>
          <a:p>
            <a:pPr marL="342900" indent="-342900">
              <a:spcAft>
                <a:spcPts val="400"/>
              </a:spcAft>
              <a:buSzPct val="100000"/>
              <a:buChar char="•"/>
            </a:pPr>
            <a:r>
              <a:rPr lang="en-US" sz="1500" dirty="0">
                <a:solidFill>
                  <a:srgbClr val="334155"/>
                </a:solidFill>
              </a:rPr>
              <a:t>Every leaver workflow: Disable user account and Revoke all refresh tokens before the custom task</a:t>
            </a:r>
            <a:endParaRPr lang="en-US" sz="1500" dirty="0"/>
          </a:p>
          <a:p>
            <a:pPr marL="342900" indent="-342900">
              <a:spcAft>
                <a:spcPts val="400"/>
              </a:spcAft>
              <a:buSzPct val="100000"/>
              <a:buChar char="•"/>
            </a:pPr>
            <a:r>
              <a:rPr lang="en-US" sz="1500" dirty="0">
                <a:solidFill>
                  <a:srgbClr val="334155"/>
                </a:solidFill>
              </a:rPr>
              <a:t>No tenant-wide Lifecycle Workflows permission on the identity</a:t>
            </a:r>
            <a:endParaRPr lang="en-US" sz="1500" dirty="0"/>
          </a:p>
          <a:p>
            <a:pPr marL="342900" indent="-342900">
              <a:spcAft>
                <a:spcPts val="400"/>
              </a:spcAft>
              <a:buSzPct val="100000"/>
              <a:buChar char="•"/>
            </a:pPr>
            <a:r>
              <a:rPr lang="en-US" sz="1500" dirty="0">
                <a:solidFill>
                  <a:srgbClr val="334155"/>
                </a:solidFill>
              </a:rPr>
              <a:t>The pinned Learn page matches its manifest; every upstream commit since the pin reviewed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519379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526694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407396"/>
            <a:ext cx="304312" cy="304312"/>
          </a:xfrm>
          <a:prstGeom prst="rect">
            <a:avLst/>
          </a:prstGeom>
        </p:spPr>
      </p:pic>
      <p:sp>
        <p:nvSpPr>
          <p:cNvPr id="14" name="Callout text"/>
          <p:cNvSpPr txBox="1"/>
          <p:nvPr/>
        </p:nvSpPr>
        <p:spPr>
          <a:xfrm>
            <a:off x="1600200" y="5248656"/>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06, Moving Group Policy as Code.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05, “Checklist”; Learn, custom extension security; Configure a Logic App; Graph national cloud deployments.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c05-ext  </a:t>
            </a:r>
            <a:pPr indent="0" marL="0">
              <a:spcAft>
                <a:spcPts val="300"/>
              </a:spcAft>
              <a:buNone/>
            </a:pPr>
            <a:r>
              <a:rPr lang="en-US" sz="1050" dirty="0">
                <a:solidFill>
                  <a:srgbClr val="334155"/>
                </a:solidFill>
              </a:rPr>
              <a:t>Microsoft Learn, "Lifecycle Workflows custom task extension," https://learn.microsoft.com/entra/id-governance/lifecycle-workflow-extensibility (accessed Oct 30, 2026).</a:t>
            </a:r>
            <a:endParaRPr lang="en-US" sz="1050" dirty="0"/>
          </a:p>
          <a:p>
            <a:pPr indent="0" marL="0">
              <a:spcAft>
                <a:spcPts val="300"/>
              </a:spcAft>
              <a:buNone/>
            </a:pPr>
            <a:r>
              <a:rPr lang="en-US" sz="1050" b="1" dirty="0">
                <a:solidFill>
                  <a:srgbClr val="1F2A44"/>
                </a:solidFill>
              </a:rPr>
              <a:t>c05-configure  </a:t>
            </a:r>
            <a:pPr indent="0" marL="0">
              <a:spcAft>
                <a:spcPts val="300"/>
              </a:spcAft>
              <a:buNone/>
            </a:pPr>
            <a:r>
              <a:rPr lang="en-US" sz="1050" dirty="0">
                <a:solidFill>
                  <a:srgbClr val="334155"/>
                </a:solidFill>
              </a:rPr>
              <a:t>Microsoft Learn, "Configure a Logic App for Lifecycle Workflow use," https://learn.microsoft.com/entra/id-governance/configure-logic-app-lifecycle-workflows (accessed Oct 30, 2026).</a:t>
            </a:r>
            <a:endParaRPr lang="en-US" sz="1050" dirty="0"/>
          </a:p>
          <a:p>
            <a:pPr indent="0" marL="0">
              <a:spcAft>
                <a:spcPts val="300"/>
              </a:spcAft>
              <a:buNone/>
            </a:pPr>
            <a:r>
              <a:rPr lang="en-US" sz="1050" b="1" dirty="0">
                <a:solidFill>
                  <a:srgbClr val="1F2A44"/>
                </a:solidFill>
              </a:rPr>
              <a:t>c05-trigger  </a:t>
            </a:r>
            <a:pPr indent="0" marL="0">
              <a:spcAft>
                <a:spcPts val="300"/>
              </a:spcAft>
              <a:buNone/>
            </a:pPr>
            <a:r>
              <a:rPr lang="en-US" sz="1050" dirty="0">
                <a:solidFill>
                  <a:srgbClr val="334155"/>
                </a:solidFill>
              </a:rPr>
              <a:t>Microsoft Learn, "Trigger Logic Apps based on custom task extensions," https://learn.microsoft.com/entra/id-governance/trigger-custom-task (accessed Oct 30, 2026).</a:t>
            </a:r>
            <a:endParaRPr lang="en-US" sz="1050" dirty="0"/>
          </a:p>
          <a:p>
            <a:pPr indent="0" marL="0">
              <a:spcAft>
                <a:spcPts val="300"/>
              </a:spcAft>
              <a:buNone/>
            </a:pPr>
            <a:r>
              <a:rPr lang="en-US" sz="1050" b="1" dirty="0">
                <a:solidFill>
                  <a:srgbClr val="1F2A44"/>
                </a:solidFill>
              </a:rPr>
              <a:t>c05-security  </a:t>
            </a:r>
            <a:pPr indent="0" marL="0">
              <a:spcAft>
                <a:spcPts val="300"/>
              </a:spcAft>
              <a:buNone/>
            </a:pPr>
            <a:r>
              <a:rPr lang="en-US" sz="1050" dirty="0">
                <a:solidFill>
                  <a:srgbClr val="334155"/>
                </a:solidFill>
              </a:rPr>
              <a:t>Microsoft Learn, "Best practices for securing the custom extension extensibility to Azure Logic Apps," https://learn.microsoft.com/entra/id-governance/custom-extension-security (accessed Oct 30, 2026).</a:t>
            </a:r>
            <a:endParaRPr lang="en-US" sz="1050" dirty="0"/>
          </a:p>
          <a:p>
            <a:pPr indent="0" marL="0">
              <a:spcAft>
                <a:spcPts val="300"/>
              </a:spcAft>
              <a:buNone/>
            </a:pPr>
            <a:r>
              <a:rPr lang="en-US" sz="1050" b="1" dirty="0">
                <a:solidFill>
                  <a:srgbClr val="1F2A44"/>
                </a:solidFill>
              </a:rPr>
              <a:t>c05-resume  </a:t>
            </a:r>
            <a:pPr indent="0" marL="0">
              <a:spcAft>
                <a:spcPts val="300"/>
              </a:spcAft>
              <a:buNone/>
            </a:pPr>
            <a:r>
              <a:rPr lang="en-US" sz="1050" dirty="0">
                <a:solidFill>
                  <a:srgbClr val="334155"/>
                </a:solidFill>
              </a:rPr>
              <a:t>Microsoft Learn, "taskProcessingResult: resume," https://learn.microsoft.com/graph/api/identitygovernance-taskprocessingresult-resume?view=graph-rest-1.0 (accessed Oct 30, 2026).</a:t>
            </a:r>
            <a:endParaRPr lang="en-US" sz="1050" dirty="0"/>
          </a:p>
          <a:p>
            <a:pPr indent="0" marL="0">
              <a:spcAft>
                <a:spcPts val="300"/>
              </a:spcAft>
              <a:buNone/>
            </a:pPr>
            <a:r>
              <a:rPr lang="en-US" sz="1050" b="1" dirty="0">
                <a:solidFill>
                  <a:srgbClr val="1F2A44"/>
                </a:solidFill>
              </a:rPr>
              <a:t>c05-resume-beta  </a:t>
            </a:r>
            <a:pPr indent="0" marL="0">
              <a:spcAft>
                <a:spcPts val="300"/>
              </a:spcAft>
              <a:buNone/>
            </a:pPr>
            <a:r>
              <a:rPr lang="en-US" sz="1050" dirty="0">
                <a:solidFill>
                  <a:srgbClr val="334155"/>
                </a:solidFill>
              </a:rPr>
              <a:t>Microsoft Learn, "Create customTaskExtensions" (beta), which notes that APIs under /beta are subject to change and not supported in production applications, https://learn.microsoft.com/graph/api/identitygovernance-lifecycleworkflowscontainer-post-customtaskextensions?view=graph-rest-beta (accessed Oct 30, 2026).</a:t>
            </a:r>
            <a:endParaRPr lang="en-US" sz="1050" dirty="0"/>
          </a:p>
          <a:p>
            <a:pPr indent="0" marL="0">
              <a:spcAft>
                <a:spcPts val="300"/>
              </a:spcAft>
              <a:buNone/>
            </a:pPr>
            <a:r>
              <a:rPr lang="en-US" sz="1050" b="1" dirty="0">
                <a:solidFill>
                  <a:srgbClr val="1F2A44"/>
                </a:solidFill>
              </a:rPr>
              <a:t>c05-cbdata  </a:t>
            </a:r>
            <a:pPr indent="0" marL="0">
              <a:spcAft>
                <a:spcPts val="300"/>
              </a:spcAft>
              <a:buNone/>
            </a:pPr>
            <a:r>
              <a:rPr lang="en-US" sz="1050" dirty="0">
                <a:solidFill>
                  <a:srgbClr val="334155"/>
                </a:solidFill>
              </a:rPr>
              <a:t>Microsoft Learn, "customTaskExtensionCallbackData resource type," https://learn.microsoft.com/graph/api/resources/identitygovernance-customtaskextensioncallbackdata?view=graph-rest-1.0 (accessed Oct 30, 2026).</a:t>
            </a:r>
            <a:endParaRPr lang="en-US" sz="1050" dirty="0"/>
          </a:p>
          <a:p>
            <a:pPr indent="0" marL="0">
              <a:spcAft>
                <a:spcPts val="300"/>
              </a:spcAft>
              <a:buNone/>
            </a:pPr>
            <a:r>
              <a:rPr lang="en-US" sz="1050" b="1" dirty="0">
                <a:solidFill>
                  <a:srgbClr val="1F2A44"/>
                </a:solidFill>
              </a:rPr>
              <a:t>c05-callback  </a:t>
            </a:r>
            <a:pPr indent="0" marL="0">
              <a:spcAft>
                <a:spcPts val="300"/>
              </a:spcAft>
              <a:buNone/>
            </a:pPr>
            <a:r>
              <a:rPr lang="en-US" sz="1050" dirty="0">
                <a:solidFill>
                  <a:srgbClr val="334155"/>
                </a:solidFill>
              </a:rPr>
              <a:t>Microsoft Learn, "customTaskExtensionCallbackConfiguration resource type," https://learn.microsoft.com/graph/api/resources/identitygovernance-customtaskextensioncallbackconfiguration?view=graph-rest-1.0 (accessed Oct 30, 2026).</a:t>
            </a:r>
            <a:endParaRPr lang="en-US" sz="1050" dirty="0"/>
          </a:p>
          <a:p>
            <a:pPr indent="0" marL="0">
              <a:spcAft>
                <a:spcPts val="300"/>
              </a:spcAft>
              <a:buNone/>
            </a:pPr>
            <a:r>
              <a:rPr lang="en-US" sz="1050" b="1" dirty="0">
                <a:solidFill>
                  <a:srgbClr val="1F2A44"/>
                </a:solidFill>
              </a:rPr>
              <a:t>c05-client  </a:t>
            </a:r>
            <a:pPr indent="0" marL="0">
              <a:spcAft>
                <a:spcPts val="300"/>
              </a:spcAft>
              <a:buNone/>
            </a:pPr>
            <a:r>
              <a:rPr lang="en-US" sz="1050" dirty="0">
                <a:solidFill>
                  <a:srgbClr val="334155"/>
                </a:solidFill>
              </a:rPr>
              <a:t>Microsoft Learn, "customExtensionClientConfiguration resource type," https://learn.microsoft.com/graph/api/resources/customextensionclientconfiguration?view=graph-rest-1.0 (accessed Oct 30, 2026).</a:t>
            </a:r>
            <a:endParaRPr lang="en-US" sz="1050" dirty="0"/>
          </a:p>
          <a:p>
            <a:pPr indent="0" marL="0">
              <a:spcAft>
                <a:spcPts val="300"/>
              </a:spcAft>
              <a:buNone/>
            </a:pPr>
            <a:r>
              <a:rPr lang="en-US" sz="1050" b="1" dirty="0">
                <a:solidFill>
                  <a:srgbClr val="1F2A44"/>
                </a:solidFill>
              </a:rPr>
              <a:t>c05-create  </a:t>
            </a:r>
            <a:pPr indent="0" marL="0">
              <a:spcAft>
                <a:spcPts val="300"/>
              </a:spcAft>
              <a:buNone/>
            </a:pPr>
            <a:r>
              <a:rPr lang="en-US" sz="1050" dirty="0">
                <a:solidFill>
                  <a:srgbClr val="334155"/>
                </a:solidFill>
              </a:rPr>
              <a:t>Microsoft Learn, "Create customTaskExtensions," https://learn.microsoft.com/graph/api/identitygovernance-lifecycleworkflowscontainer-post-customtaskextensions?view=graph-rest-1.0, and "Lifecycle Workflows custom task extension" (Logic Apps prerequisites) (accessed Oct 30, 2026).</a:t>
            </a:r>
            <a:endParaRPr lang="en-US" sz="1050" dirty="0"/>
          </a:p>
          <a:p>
            <a:pPr indent="0" marL="0">
              <a:spcAft>
                <a:spcPts val="300"/>
              </a:spcAft>
              <a:buNone/>
            </a:pPr>
            <a:r>
              <a:rPr lang="en-US" sz="1050" b="1" dirty="0">
                <a:solidFill>
                  <a:srgbClr val="1F2A44"/>
                </a:solidFill>
              </a:rPr>
              <a:t>c05-limits  </a:t>
            </a:r>
            <a:pPr indent="0" marL="0">
              <a:spcAft>
                <a:spcPts val="300"/>
              </a:spcAft>
              <a:buNone/>
            </a:pPr>
            <a:r>
              <a:rPr lang="en-US" sz="1050" dirty="0">
                <a:solidFill>
                  <a:srgbClr val="334155"/>
                </a:solidFill>
              </a:rPr>
              <a:t>Microsoft Learn, "Microsoft Entra ID Governance service limits," section "Lifecycle Workflows," https://learn.microsoft.com/entra/id-governance/governance-service-limits#lifecycle-workflows (accessed Oct 30, 2026).</a:t>
            </a:r>
            <a:endParaRPr lang="en-US" sz="1050" dirty="0"/>
          </a:p>
          <a:p>
            <a:pPr indent="0" marL="0">
              <a:spcAft>
                <a:spcPts val="300"/>
              </a:spcAft>
              <a:buNone/>
            </a:pPr>
            <a:r>
              <a:rPr lang="en-US" sz="1050" b="1" dirty="0">
                <a:solidFill>
                  <a:srgbClr val="1F2A44"/>
                </a:solidFill>
              </a:rPr>
              <a:t>c05-deploy  </a:t>
            </a:r>
            <a:pPr indent="0" marL="0">
              <a:spcAft>
                <a:spcPts val="300"/>
              </a:spcAft>
              <a:buNone/>
            </a:pPr>
            <a:r>
              <a:rPr lang="en-US" sz="1050" dirty="0">
                <a:solidFill>
                  <a:srgbClr val="334155"/>
                </a:solidFill>
              </a:rPr>
              <a:t>Microsoft Learn, "Plan a Lifecycle Workflow deployment," section "Limitations and constraints," https://learn.microsoft.com/entra/id-governance/lifecycle-workflows-deployment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c05-licensing  </a:t>
            </a:r>
            <a:pPr indent="0" marL="0">
              <a:spcAft>
                <a:spcPts val="300"/>
              </a:spcAft>
              <a:buNone/>
            </a:pPr>
            <a:r>
              <a:rPr lang="en-US" sz="1050" dirty="0">
                <a:solidFill>
                  <a:srgbClr val="334155"/>
                </a:solidFill>
              </a:rPr>
              <a:t>Microsoft Learn, "Microsoft Entra ID Governance licensing fundamentals" (Lifecycle Workflows; Government availability), https://learn.microsoft.com/entra/id-governance/licensing-fundamentals, and "What are lifecycle workflows?" (license requirements), https://learn.microsoft.com/entra/id-governance/what-are-lifecycle-workflows (accessed Oct 30, 2026).</a:t>
            </a:r>
            <a:endParaRPr lang="en-US" sz="1050" dirty="0"/>
          </a:p>
          <a:p>
            <a:pPr indent="0" marL="0">
              <a:spcAft>
                <a:spcPts val="300"/>
              </a:spcAft>
              <a:buNone/>
            </a:pPr>
            <a:r>
              <a:rPr lang="en-US" sz="1050" b="1" dirty="0">
                <a:solidFill>
                  <a:srgbClr val="1F2A44"/>
                </a:solidFill>
              </a:rPr>
              <a:t>c05-availability  </a:t>
            </a:r>
            <a:pPr indent="0" marL="0">
              <a:spcAft>
                <a:spcPts val="300"/>
              </a:spcAft>
              <a:buNone/>
            </a:pPr>
            <a:r>
              <a:rPr lang="en-US" sz="1050" dirty="0">
                <a:solidFill>
                  <a:srgbClr val="334155"/>
                </a:solidFill>
              </a:rPr>
              <a:t>Microsoft Learn, "Microsoft Entra feature availability" (Azure for US Government: Lifecycle workflows, in Microsoft Entra ID Governance),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c05-deployments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c05-tasks  </a:t>
            </a:r>
            <a:pPr indent="0" marL="0">
              <a:spcAft>
                <a:spcPts val="300"/>
              </a:spcAft>
              <a:buNone/>
            </a:pPr>
            <a:r>
              <a:rPr lang="en-US" sz="1050" dirty="0">
                <a:solidFill>
                  <a:srgbClr val="334155"/>
                </a:solidFill>
              </a:rPr>
              <a:t>Microsoft Learn, "Lifecycle Workflow built-in tasks," https://learn.microsoft.com/entra/id-governance/lifecycle-workflow-tasks (accessed Oct 30, 2026).</a:t>
            </a:r>
            <a:endParaRPr lang="en-US" sz="1050" dirty="0"/>
          </a:p>
          <a:p>
            <a:pPr indent="0" marL="0">
              <a:spcAft>
                <a:spcPts val="300"/>
              </a:spcAft>
              <a:buNone/>
            </a:pPr>
            <a:r>
              <a:rPr lang="en-US" sz="1050" b="1" dirty="0">
                <a:solidFill>
                  <a:srgbClr val="1F2A44"/>
                </a:solidFill>
              </a:rPr>
              <a:t>c05-args  </a:t>
            </a:r>
            <a:pPr indent="0" marL="0">
              <a:spcAft>
                <a:spcPts val="300"/>
              </a:spcAft>
              <a:buNone/>
            </a:pPr>
            <a:r>
              <a:rPr lang="en-US" sz="1050" dirty="0">
                <a:solidFill>
                  <a:srgbClr val="334155"/>
                </a:solidFill>
              </a:rPr>
              <a:t>Microsoft Learn, "Configure the arguments for built-in Lifecycle Workflows tasks," https://learn.microsoft.com/graph/identitygovernance-lifecycleworkflows-task-arguments (table and example 7, "Run a custom task extension") (accessed Oct 31, 2026).</a:t>
            </a:r>
            <a:endParaRPr lang="en-US" sz="1050" dirty="0"/>
          </a:p>
          <a:p>
            <a:pPr indent="0" marL="0">
              <a:spcAft>
                <a:spcPts val="300"/>
              </a:spcAft>
              <a:buNone/>
            </a:pPr>
            <a:r>
              <a:rPr lang="en-US" sz="1050" b="1" dirty="0">
                <a:solidFill>
                  <a:srgbClr val="1F2A44"/>
                </a:solidFill>
              </a:rPr>
              <a:t>c05-la-retry  </a:t>
            </a:r>
            <a:pPr indent="0" marL="0">
              <a:spcAft>
                <a:spcPts val="300"/>
              </a:spcAft>
              <a:buNone/>
            </a:pPr>
            <a:r>
              <a:rPr lang="en-US" sz="1050" dirty="0">
                <a:solidFill>
                  <a:srgbClr val="334155"/>
                </a:solidFill>
              </a:rPr>
              <a:t>Microsoft Learn, "Handle workflow errors and exceptions in Azure Logic Apps," section "Retry policies," https://learn.microsoft.com/azure/logic-apps/error-exception-handling#retry-policies (accessed Oct 30, 2026).</a:t>
            </a:r>
            <a:endParaRPr lang="en-US" sz="1050" dirty="0"/>
          </a:p>
          <a:p>
            <a:pPr indent="0" marL="0">
              <a:spcAft>
                <a:spcPts val="300"/>
              </a:spcAft>
              <a:buNone/>
            </a:pPr>
            <a:r>
              <a:rPr lang="en-US" sz="1050" b="1" dirty="0">
                <a:solidFill>
                  <a:srgbClr val="1F2A44"/>
                </a:solidFill>
              </a:rPr>
              <a:t>c05-la-security  </a:t>
            </a:r>
            <a:pPr indent="0" marL="0">
              <a:spcAft>
                <a:spcPts val="300"/>
              </a:spcAft>
              <a:buNone/>
            </a:pPr>
            <a:r>
              <a:rPr lang="en-US" sz="1050" dirty="0">
                <a:solidFill>
                  <a:srgbClr val="334155"/>
                </a:solidFill>
              </a:rPr>
              <a:t>Microsoft Learn, "Secure access and data for workflows in Azure Logic Apps" (authorization policies in ARM templates; disabling SAS; securing inputs and outputs in run history), https://learn.microsoft.com/azure/logic-apps/set-up-security-permissions (accessed Oct 30, 2026).</a:t>
            </a:r>
            <a:endParaRPr lang="en-US" sz="1050" dirty="0"/>
          </a:p>
          <a:p>
            <a:pPr indent="0" marL="0">
              <a:spcAft>
                <a:spcPts val="300"/>
              </a:spcAft>
              <a:buNone/>
            </a:pPr>
            <a:r>
              <a:rPr lang="en-US" sz="1050" b="1" dirty="0">
                <a:solidFill>
                  <a:srgbClr val="1F2A44"/>
                </a:solidFill>
              </a:rPr>
              <a:t>c05-azgov  </a:t>
            </a:r>
            <a:pPr indent="0" marL="0">
              <a:spcAft>
                <a:spcPts val="300"/>
              </a:spcAft>
              <a:buNone/>
            </a:pPr>
            <a:r>
              <a:rPr lang="en-US" sz="1050" dirty="0">
                <a:solidFill>
                  <a:srgbClr val="334155"/>
                </a:solidFill>
              </a:rPr>
              <a:t>Microsoft Learn, "Compare Azure Government and global Azure," section "Guidance for developers," https://learn.microsoft.com/azure/azure-government/compare-azure-government-global-azure#guidance-for-developers (accessed Oct 30, 2026).</a:t>
            </a:r>
            <a:endParaRPr lang="en-US" sz="1050" dirty="0"/>
          </a:p>
          <a:p>
            <a:pPr indent="0" marL="0">
              <a:spcAft>
                <a:spcPts val="300"/>
              </a:spcAft>
              <a:buNone/>
            </a:pPr>
            <a:r>
              <a:rPr lang="en-US" sz="1050" b="1" dirty="0">
                <a:solidFill>
                  <a:srgbClr val="1F2A44"/>
                </a:solidFill>
              </a:rPr>
              <a:t>c05-remove  </a:t>
            </a:r>
            <a:pPr indent="0" marL="0">
              <a:spcAft>
                <a:spcPts val="300"/>
              </a:spcAft>
              <a:buNone/>
            </a:pPr>
            <a:r>
              <a:rPr lang="en-US" sz="1050" dirty="0">
                <a:solidFill>
                  <a:srgbClr val="334155"/>
                </a:solidFill>
              </a:rPr>
              <a:t>Microsoft Learn, "Remove-MgIdentityGovernanceLifecycleWorkflowCustomTaskExtension" (a custom task extension can only be deleted if no task references it), https://learn.microsoft.com/powershell/module/microsoft.graph.identity.governance/remove-mgidentitygovernancelifecycleworkflowcustomtaskextension?view=graph-powershell-1.0 (accessed Oct 30, 2026).</a:t>
            </a:r>
            <a:endParaRPr lang="en-US" sz="1050" dirty="0"/>
          </a:p>
          <a:p>
            <a:pPr indent="0" marL="0">
              <a:spcAft>
                <a:spcPts val="300"/>
              </a:spcAft>
              <a:buNone/>
            </a:pPr>
            <a:r>
              <a:rPr lang="en-US" sz="1050" b="1" dirty="0">
                <a:solidFill>
                  <a:srgbClr val="1F2A44"/>
                </a:solidFill>
              </a:rPr>
              <a:t>c05-claims  </a:t>
            </a:r>
            <a:pPr indent="0" marL="0">
              <a:spcAft>
                <a:spcPts val="300"/>
              </a:spcAft>
              <a:buNone/>
            </a:pPr>
            <a:r>
              <a:rPr lang="en-US" sz="1050" dirty="0">
                <a:solidFill>
                  <a:srgbClr val="334155"/>
                </a:solidFill>
              </a:rPr>
              <a:t>Microsoft Learn, "Access token claims reference," section "Payload claims," https://learn.microsoft.com/entra/identity-platform/access-token-claims-reference#payload-claims (accessed Oct 30, 2026).</a:t>
            </a:r>
            <a:endParaRPr lang="en-US" sz="1050" dirty="0"/>
          </a:p>
          <a:p>
            <a:pPr indent="0" marL="0">
              <a:spcAft>
                <a:spcPts val="300"/>
              </a:spcAft>
              <a:buNone/>
            </a:pPr>
            <a:r>
              <a:rPr lang="en-US" sz="1050" b="1" dirty="0">
                <a:solidFill>
                  <a:srgbClr val="1F2A44"/>
                </a:solidFill>
              </a:rPr>
              <a:t>c05-known-guids  </a:t>
            </a:r>
            <a:pPr indent="0" marL="0">
              <a:spcAft>
                <a:spcPts val="300"/>
              </a:spcAft>
              <a:buNone/>
            </a:pPr>
            <a:r>
              <a:rPr lang="en-US" sz="1050" dirty="0">
                <a:solidFill>
                  <a:srgbClr val="334155"/>
                </a:solidFill>
              </a:rPr>
              <a:t>Microsoft, MicrosoftDocs/entra-docs, .docutune/dictionaries/known-guids.json at commit 4ed6827815ecbf4e021fc736d75fdda6a2fd6272 (October 28, 2026), entry "Lifecycle Workflows", read with gh api (accessed Oct 30, 2026). Not a Learn page: the repository's list of GUIDs its documentation tooling treats as real values.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(3)</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c05-sample-code  </a:t>
            </a:r>
            <a:pPr indent="0" marL="0">
              <a:spcAft>
                <a:spcPts val="300"/>
              </a:spcAft>
              <a:buNone/>
            </a:pPr>
            <a:r>
              <a:rPr lang="en-US" sz="1050" dirty="0">
                <a:solidFill>
                  <a:srgbClr val="334155"/>
                </a:solidFill>
              </a:rPr>
              <a:t>Microsoft, MicrosoftDocs/entra-docs, docs/id-governance/configure-logic-app-lifecycle-workflows.md and docs/id-governance/lifecycle-workflow-extensibility.md at commit 07cb73d6c6380414eecd040ba5e14c1c94d48b66 (October 30, 2026), code under the MIT License, https://github.com/MicrosoftDocs/entra-docs/tree/07cb73d6c6380414eecd040ba5e14c1c94d48b66/docs/id-governance; commit b7e8790374026b37be320fe091aefb0747e54809 (May 15, 2024) replaced the appid rows' ce79fdc4-… with the placeholder (accessed Oct 30, 2026); pinned copy in examples/third_party/lifecycle-workflows-logic-app.</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05 — Lifecycle Workflows Custom Extensions</dc:title>
  <dc:subject>PptxGenJS Presentation</dc:subject>
  <dc:creator>Michael F. Stratton</dc:creator>
  <cp:lastModifiedBy>Michael F. Stratton</cp:lastModifiedBy>
  <cp:revision>1</cp:revision>
  <dcterms:created xsi:type="dcterms:W3CDTF">2026-10-31T14:33:33Z</dcterms:created>
  <dcterms:modified xsi:type="dcterms:W3CDTF">2026-10-31T14:33:33Z</dcterms:modified>
</cp:coreProperties>
</file>