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pisode 4" id="{31399AC6-C0B1-839A-2449-DF11CD3643E1}">
          <p14:sldIdLst>
            <p14:sldId id="256"/>
            <p14:sldId id="257"/>
            <p14:sldId id="258"/>
            <p14:sldId id="259"/>
            <p14:sldId id="260"/>
            <p14:sldId id="261"/>
            <p14:sldId id="262"/>
            <p14:sldId id="263"/>
            <p14:sldId id="264"/>
            <p14:sldId id="265"/>
          </p14:sldIdLst>
        </p14:section>
        <p14:section name="Backup" id="{57424166-0361-C302-B174-D0FE7FD50A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40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[0:00–0:34]  This is Episode 4 of the Start series, the last one, from the Federal Modernization Workbook. The first three episodes made the case and walked through the first eight weeks. This one is about the meeting where you ask for the go-ahead. It turns the case into one page: four local numbers, a pitch shaped for each person at the table, one decision with an owner and a date, and the roles that sign. The framing and the numbers are design guidance, so adapt them freely. Let's start with the page.
Detail: Episode 4, the last of the Start series. Episodes 1 to 3 made the case (Book 00 Chapter 01; Book 03 Chapters 02 and 03), walked Phase 0 to Gate G0 and Phase 1 to Gate G1 (Book 00 Chapters 08 and 09; Book 01 Chapter 12). This episode is about the meeting: turning the case into a one-page ask with four local numbers, a pitch shaped for each decider (CIO, CISO, chief human capital officer, authorizing official), one decision with an owner and a date (Book 01 Chapter 12, "Where to start"), the charter roles (Book 00 Chapter 03) and what to bring. The one-page framing, the per-decider pitches and the four local numbers are the program's design guidance, not a federal requirement. The workbook is independent analysis, not an official publication of any agency.
Sources: Book 00, Chapters 01 and 03; Book 01, Chapters 09 and 12; Book 03, Chapters 02 and 03.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[0:34–1:03]  The one-page ask has three parts. A short reminder of why now: deadlines set outside the agency, and identity as the thing everything else depends on. Then your own numbers, which make the case local. Then one decision: approve the four-week pre-flight, with a named owner and a start date. It's deliberately small. It needs no vendor choice, just an inventory, an owner and a date. Everything after that is decided at gates, from evidence. So, which numbers?
Detail: Book 01 Chapter 12, "Where to start": "None of this requires a vendor decision on day one. It requires three things, and Phase 0 produces them: an inventory... an owner... a date." Book 01 Chapter 09, "What to do next": "It requires an inventory, an owner and a date." Book 00 Chapter 01: two kinds of clock now set dates from outside, federal policy and vendor support lifecycles; "The sequencing has a logic of its own, and it starts with identity. Policy, access, devices and data all decide on the basis of who or what is asking." Book 00 Chapter 01, what leadership should take from this: hold gates on evidence, not on the calendar. The one-page shape, the four local numbers and the per-decider pitches are the program's design guidance for making the decision concrete, not a federal requirement.
Sources: Book 01, Chapters 09 and 12; Book 00, Chapter 01.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[1:03–1:38]  Four numbers do more than any slide. How many Windows Server 2016 servers you run, since support ends in January 2027 and many domain controllers run on it. How many contractors sit outside the HR system, because HR 2.0 covers federal employees only. How long a departing person keeps access, from the day HR records the separation to the last account disabled. And your Federal HR 2.0 wave and dates, because the chance to design identity in closes when your HR connections go live. Each person at the table hears these differently.
Detail: Book 00 Chapter 01, vendor support: Windows Server 2016 end of support January 12, 2027; "Windows Server 2016 is the operating system of many domain controllers built in the last decade; its date falls inside the window in which most agencies will still be running a forest." Book 03 Chapter 03: "Federal HR 2.0 is a program for federal employees. Contractors and vendors are not in it. Their source is a separate decision"; Book 03 Chapter 02: contractors and vendors are outside HRIT and need a designated source of their own. Book 03 Chapter 02, the orphan timeline: HR records a separation on day −14; at day 0 the account, application logins and badge are still live; a ticket disables the directory account on day +3 while nine application accounts stay enabled; a review flags two on day +45; a penetration test signs in with one on day +180. "The fragments learn it by accident." Book 03 Chapter 03, program facts as of October 20, 2026: Wave 1 (~900K FTE) and Wave 2 (~1.1M FTE) through FY 2027; the memo's sample onboarding is about 8 months with interconnection go-live around month 5; "The window closes at the interconnection." Book 01 Chapter 10: the assessment's computer stream records each computer's operating system. Choosing these four numbers is design guidance.
Sources: Book 00, Chapter 01; Book 03, Chapters 02 and 03; Book 01, Chapter 10.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[1:38–2:12]  For the CIO, lead with the clocks, and the cost of meeting them piecemeal. Server end-of-support dates, the edge-device directive and the new logging plan all land on the same estate. A set of separate projects can only race those dates; one program can sequence them. The first step costs four weeks and no vendor decision. Be straight about later costs: the program has no license of its own, but the cloud services it uses do. And running past end of support becomes a risk someone must formally accept. Next, the CISO.
Detail: Book 00 Chapter 01: Windows Server 2016 end of support January 12, 2027; CISA BOD 26-02 (February 5, 2026) directs decommissioning of listed end-of-support edge devices within 12 months (February 5, 2027); OMB M-26-14 (May 22, 2026) rescinds M-21-31, with an Agency Logging Plan within 90 days of CISA's Logging Reference Architecture, then maturity Levels 1, 2 and 3 within 120, 180 and 320 days. "Running past end of support becomes a risk acceptance an authorizing official has to sign." Why one program: "The clocks make the cost visible... A program can sequence the work against those dates. A collection of projects can only race them." What leadership should take: "Fund and govern the program as a sequence... Budget lines that treat them as independent will produce independent answers to shared questions." Book 01 Chapter 09: the program "needs no license of its own, the services it orchestrates do. Conditional Access requires Microsoft Entra ID P1, Privileged Identity Management requires P2 or Entra ID Governance, and Lifecycle Workflows and access reviews for member users require Entra ID Governance." Book 01 Chapter 12: no vendor decision on day one. The CIO framing is design guidance.
Sources: Book 00, Chapter 01; Book 01, Chapters 09 and 12.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[2:12–2:45]  For the CISO, lead with leavers. When HR records a separation, nothing else is listening. A ticket disables the main account days later, other accounts stay live, and a review months on finds a few of them. That's not carelessness; it's the wiring. It's also where account-management findings come from, since the controls expect accounts to follow termination and transfer. HR-driven identity fixes the cause, starting with leavers, and measures the time from separation to block from day one. That number is your before and after.
Detail: Book 03 Chapter 02: "An orphaned account is not an administrator's mistake. It is the structurally guaranteed output of an architecture in which the system that knows a person left (HR) and the systems that must act on it... share no event channel." The orphan timeline runs from day −14 (HR records the separation) to day +180 (a penetration test authenticates with an orphaned account). NIST SP 800-53 asks that account management be aligned "with personnel termination and transfer processes" (AC-2 l); PS-5, Personnel Transfer, exists to stop access accretion; quarterly reviews "sample state; they cannot observe transitions," and are the verification layer of AC-2 j, which the architecture keeps. Book 03 Chapter 12, Phase 4: turn causation on "leaver first, because revocation is where the risk and the evidence value are. Measure the separation-to-block and separation-to-revocation intervals from day one." The framing of AC-2 findings as the CISO's lead is design guidance.
Sources: Book 03, Chapters 02 and 12.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[2:45–3:18]  For the chief human capital officer, lead with timing. HR 2.0 moves the agency onto one government-wide platform whether or not identity rides along. During onboarding, the agency designs its new connections, and that's the moment to add the identity feed. Once those connections go live, adding it means reopening them. The second point is contractors. HR 2.0 covers federal employees, so contractors need a source of their own, and onboarding is the right time to choose it. HR decides what the attributes mean; identity decides how they flow.
Detail: Book 03 Chapter 03: "An agency doesn't choose whether to implement Federal HR 2.0; the memo and the waves decide that. What the agency does choose is whether identity rides along." New interconnections are designed during onboarding (Appendix C asks agencies to define integration points, identify interfacing systems and document data flows). "The window closes at the interconnection," around month 5 of the memo's sample onboarding timeline (a planning assumption to confirm with the HR 2.0 program office). "Federal HR 2.0 is a program for federal employees. Contractors and vendors are not in it," and the HR 2.0 onboarding is the right time to make the contractor-source decision. Book 03 Chapter 12, Phase 0: name the HR-driven identity feed as one of the integration points; Phase 1: decide the contractor and vendor source (Core HCM contingent workers, the PIV sponsorship system, the agency's contractor suitability register, or a combination with one authority per fact). Book 01 Chapter 09: "HR decides what the authoritative attributes mean; identity engineering decides how they flow." Addressing this to the chief human capital officer is design guidance.
Sources: Book 03, Chapters 03 and 12; Book 01, Chapter 09.</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[3:18–3:51]  For the authorizing official, lead with evidence. They're the only official who can accept risk for the agency, and every risk the program carries, rather than removes, reaches them in writing, with an end date. In return, they get something better than attestation. Every gate is checked from data, every change is a signed plan, and evidence comes out of the work instead of being assembled before an assessment. Automated changes stay gated, with a person approving before anything runs. That's a posture an authorizing official can sign.
Detail: Book 01 Chapter 09: "The authorizing official is the only organizational official who can accept security and privacy risk on the organization's behalf, and approves plans of action and milestones." Every place the program proposes to carry risk instead of removing it reaches the authorizing official; CISA's BOD 25-01 says authorizing officials may accept risk for deviations from the mandatory SCuBA policies, and agencies must explain those deviations when they report. "Every risk that the program carries rather than removes reaches the authorizing official in writing"; set the end date of every exception on the authorizing official's calendar. Governance properties: every change is a plan; "Evidence is built in. Every plan produces an evidence packet, and authorization packages regenerate from the source instead of spreadsheets." Gated actuation: a human approves before a corrective action runs; "a posture an authorizing official can sign." Book 01 Chapter 12 key takeaway: "Gate criteria are evaluated from data, not executive signature." The "evidence over attestation" framing is design guidance.
Sources: Book 01, Chapters 09 and 12.</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[3:51–4:24]  Write the decision as one sentence someone can say yes to. Approve the four-week pre-flight, sponsored by a named executive, run by a named steward, starting on a set date, with the first gate on the calendar beside the external deadlines. Before saying yes, a sponsor should be able to answer a few questions. Is the source of truth under version control? Can every change be traced? Does every decision have one named decider? If the room hesitates on any of those, that's useful too. Next, who signs what.
Detail: Book 01 Chapter 12, "Where to start": an inventory (the read-only assessment, committed with provenance); an owner (a named executive sponsor and steward, and a lead for each workstream); a date (Gate G0 on the calendar, with the external clocks beside it). Book 01 Chapter 09, "How a sponsor evaluates the program": an executive sponsor should require a "yes" to each of these before the program starts: Is the authoritative source in version control, not a vendor portal or shared drive? Can every production change be traced to a signed commit? Is drift detection continuous, not quarterly? Does the target surface come from plan artifacts, so every change has a rollback? Is the platform host one hardened Tier-0 box? Does every row of the decision matrix have one named decider, and has the authorizing official agreed to the risk-acceptance rows? "What to do next": name the owners; run a read-only assessment; stand up the platform host; set the dates. The one-sentence decision is design guidance.
Sources: Book 01, Chapters 09 and 12.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[4:24–4:57]  The charter fixes the shape and leaves the names blank for you. The executive sponsor, with the CIO, owns scope, funding and sequence, and decides when directory components retire. The steward owns the target design and the repository, and clears the early gates. Workstream leads say when their area is ready. Around them, the CISO sets the control requirements, the authorizing official accepts risk, and HR owns what the workforce data means. Many of these people already hold the zero trust and identity governance roles federal policy required.
Detail: Book 00 Chapter 03, governance and ownership: "The source charter left the names blank, and so does this one: the agency fills them in." Project sponsor (executive sponsor, with the CIO): scope, funding and sequence; gates G3 and G5; when Active Directory components retire. Project lead (the steward, the program office's accountable lead): target architecture and the authoritative repository; gates G0, G1 and G4; co-signs G2 with the sponsor. Domain leads (the five workstream leads: identity, policy, services and addressing, compute, access): playbook content and execution readiness in their domain. Book 01 Chapter 09's decision matrix: the CISO, acting as the senior agency information security officer, decides control requirements (MFA strength, Conditional Access baseline, logging); the authorizing official decides authorizing systems and boundary changes, accepting residual risk, and legacy authentication and NTLM end dates; HR decides authoritative worker attributes and their meaning. Book 00 Chapter 03: OMB M-22-09 required a zero trust strategy implementation lead within 30 days; OMB M-19-17 requires an integrated, agency-wide ICAM governance structure; build the steward and steering committee from those. "The HR system's business owner" and "as the agency designates" are placeholders for the agency to fill.
Sources: Book 00, Chapter 03; Book 01, Chapter 09.</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[4:57–5:31]  Bring the one-page ask, with your four numbers filled in. Bring the external deadlines that apply to your estate, candidate names for sponsor and steward, a proposed start date, and a date for the first gate. And leave the room with one decision recorded, whatever it is. To go deeper, go back to the Start Here page, then Book 00 for the charter and the decisions, Book 01 for the roadmap, and Book 03 for HR-driven identity. Every claim is footnoted there. Thank you for watching the Start series.
Detail: What to bring is the program's design guidance, built from Book 01 Chapter 12 ("Where to start": an inventory, an owner, a date) and Book 01 Chapter 09 ("What to do next": name the owners, starting with the sponsor, the authorizing official and the steward; set the dates). The external clocks are in Book 00 Chapter 01. To go deeper: the Start Here page (the six-minute case and this series); Book 00 (the charter in Chapter 03 and the decisions leadership must make); Book 01 Chapters 09 and 12 (who leads; the roadmap with seven phases and six gates); Book 03 Chapters 02 and 03 (why HR is the source of authority; Federal HR 2.0). The site is independent analysis, not an official government publication; no agency reviewed or endorsed it.
Sources: Book 01, Chapters 09 and 12; Book 00, Chapters 01 and 03; Book 03, Chapters 02 and 03.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Start series, Episode 4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10.xml"/><Relationship Id="rId7" Type="http://schemas.microsoft.com/office/2017/04/relationships/track" Target="../media/captions_slide10.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Making the Case at Your Agency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Executive briefing  ·  Start series, Episode 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marL="0" indent="0">
              <a:spcAft>
                <a:spcPts val="200"/>
              </a:spcAft>
              <a:buNone/>
            </a:pPr>
            <a:r>
              <a:rPr lang="en-US" sz="1200" b="1" dirty="0">
                <a:solidFill>
                  <a:srgbClr val="64748B"/>
                </a:solidFill>
              </a:rPr>
              <a:t>TURNING THE CASE INTO A ONE-PAGE ASK  ·  ABOUT 6 MINUTES</a:t>
            </a:r>
            <a:endParaRPr lang="en-US" sz="1500" dirty="0"/>
          </a:p>
          <a:p>
            <a:pPr marL="0" indent="0">
              <a:spcAft>
                <a:spcPts val="200"/>
              </a:spcAft>
              <a:buNone/>
            </a:pPr>
            <a:r>
              <a:rPr lang="en-US" sz="1500" dirty="0">
                <a:solidFill>
                  <a:srgbClr val="334155"/>
                </a:solidFill>
              </a:rPr>
              <a:t>One page, one decision  ·  Four local numbers  ·  A pitch for each decider</a:t>
            </a:r>
            <a:endParaRPr lang="en-US" sz="1500" dirty="0"/>
          </a:p>
          <a:p>
            <a:pPr marL="0" indent="0">
              <a:spcAft>
                <a:spcPts val="200"/>
              </a:spcAft>
              <a:buNone/>
            </a:pPr>
            <a:r>
              <a:rPr lang="en-US" sz="1500" dirty="0">
                <a:solidFill>
                  <a:srgbClr val="334155"/>
                </a:solidFill>
              </a:rPr>
              <a:t>The decision, owner and date  ·  Charter roles  ·  What to bring</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and 03; Book 01, Ch 09 and 12; Book 03, Ch 02 and 03. Framing and local numbers are design guidance.</a:t>
            </a:r>
            <a:endParaRPr lang="en-US" sz="1000" dirty="0"/>
          </a:p>
        </p:txBody>
      </p:sp>
      <p:pic>
        <p:nvPicPr>
          <p:cNvPr id="8" name="Narration" descr="Narration for this slide; captions available">
            <a:hlinkClick r:id="" action="ppaction://media"/>
            <a:extLst>
              <a:ext uri="{FF2B5EF4-FFF2-40B4-BE49-F238E27FC236}">
                <a16:creationId xmlns:a16="http://schemas.microsoft.com/office/drawing/2014/main" id="{77E452AB-C051-C41F-1D29-4436F91B3C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5C9693-66A0-4A99-BE19-CD1FBD05459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900"/>
    </mc:Choice>
    <mc:Fallback>
      <p:transition spd="slow" advTm="32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89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page, one decision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age 1">
            <a:extLst>
              <a:ext uri="{C183D7F6-B498-43B3-948B-1728B52AA6E4}">
                <adec:decorative xmlns:adec="http://schemas.microsoft.com/office/drawing/2017/decorative" val="1"/>
              </a:ext>
            </a:extLst>
          </p:cNvPr>
          <p:cNvSpPr/>
          <p:nvPr/>
        </p:nvSpPr>
        <p:spPr>
          <a:xfrm>
            <a:off x="548640" y="1463040"/>
            <a:ext cx="3532632" cy="1600200"/>
          </a:xfrm>
          <a:prstGeom prst="roundRect">
            <a:avLst>
              <a:gd name="adj" fmla="val 457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age 1 text"/>
          <p:cNvSpPr txBox="1"/>
          <p:nvPr/>
        </p:nvSpPr>
        <p:spPr>
          <a:xfrm>
            <a:off x="640080" y="1536192"/>
            <a:ext cx="3349752" cy="1453896"/>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latin typeface="Cambria" pitchFamily="34" charset="0"/>
                <a:ea typeface="Cambria" pitchFamily="34" charset="-122"/>
                <a:cs typeface="Cambria" pitchFamily="34" charset="-120"/>
              </a:rPr>
              <a:t>The why</a:t>
            </a:r>
            <a:endParaRPr lang="en-US" sz="1350" dirty="0"/>
          </a:p>
          <a:p>
            <a:pPr marL="0" indent="0">
              <a:spcAft>
                <a:spcPts val="200"/>
              </a:spcAft>
              <a:buNone/>
            </a:pPr>
            <a:r>
              <a:rPr lang="en-US" sz="1350" dirty="0">
                <a:solidFill>
                  <a:schemeClr val="tx2"/>
                </a:solidFill>
              </a:rPr>
              <a:t>Clocks set outside the agency; identity first, because everything decides on it</a:t>
            </a:r>
            <a:endParaRPr lang="en-US" sz="1350" dirty="0"/>
          </a:p>
        </p:txBody>
      </p:sp>
      <p:sp>
        <p:nvSpPr>
          <p:cNvPr id="7" name="Page arrow 1">
            <a:extLst>
              <a:ext uri="{C183D7F6-B498-43B3-948B-1728B52AA6E4}">
                <adec:decorative xmlns:adec="http://schemas.microsoft.com/office/drawing/2017/decorative" val="1"/>
              </a:ext>
            </a:extLst>
          </p:cNvPr>
          <p:cNvSpPr/>
          <p:nvPr/>
        </p:nvSpPr>
        <p:spPr>
          <a:xfrm>
            <a:off x="4108704" y="2162556"/>
            <a:ext cx="201168" cy="201168"/>
          </a:xfrm>
          <a:prstGeom prst="rightArrow">
            <a:avLst/>
          </a:prstGeom>
          <a:solidFill>
            <a:srgbClr val="64748B"/>
          </a:solidFill>
          <a:ln w="12700">
            <a:solidFill>
              <a:srgbClr val="64748B"/>
            </a:solidFill>
            <a:prstDash val="solid"/>
          </a:ln>
        </p:spPr>
      </p:sp>
      <p:sp>
        <p:nvSpPr>
          <p:cNvPr id="8" name="Page 2">
            <a:extLst>
              <a:ext uri="{C183D7F6-B498-43B3-948B-1728B52AA6E4}">
                <adec:decorative xmlns:adec="http://schemas.microsoft.com/office/drawing/2017/decorative" val="1"/>
              </a:ext>
            </a:extLst>
          </p:cNvPr>
          <p:cNvSpPr/>
          <p:nvPr/>
        </p:nvSpPr>
        <p:spPr>
          <a:xfrm>
            <a:off x="4337304" y="1463040"/>
            <a:ext cx="3532632" cy="1600200"/>
          </a:xfrm>
          <a:prstGeom prst="roundRect">
            <a:avLst>
              <a:gd name="adj" fmla="val 457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9" name="Page 2 text"/>
          <p:cNvSpPr txBox="1"/>
          <p:nvPr/>
        </p:nvSpPr>
        <p:spPr>
          <a:xfrm>
            <a:off x="4428744" y="1536192"/>
            <a:ext cx="3349752" cy="1453896"/>
          </a:xfrm>
          <a:prstGeom prst="rect">
            <a:avLst/>
          </a:prstGeom>
          <a:noFill/>
          <a:ln/>
        </p:spPr>
        <p:txBody>
          <a:bodyPr wrap="square" lIns="0" tIns="0" rIns="0" bIns="0" rtlCol="0" anchor="t"/>
          <a:lstStyle/>
          <a:p>
            <a:pPr marL="0" indent="0">
              <a:spcAft>
                <a:spcPts val="200"/>
              </a:spcAft>
              <a:buNone/>
            </a:pPr>
            <a:r>
              <a:rPr lang="en-US" sz="1500" b="1" dirty="0">
                <a:solidFill>
                  <a:srgbClr val="0F766E"/>
                </a:solidFill>
                <a:latin typeface="Cambria" pitchFamily="34" charset="0"/>
                <a:ea typeface="Cambria" pitchFamily="34" charset="-122"/>
                <a:cs typeface="Cambria" pitchFamily="34" charset="-120"/>
              </a:rPr>
              <a:t>Your numbers</a:t>
            </a:r>
            <a:endParaRPr lang="en-US" sz="1350" dirty="0"/>
          </a:p>
          <a:p>
            <a:pPr marL="0" indent="0">
              <a:spcAft>
                <a:spcPts val="200"/>
              </a:spcAft>
              <a:buNone/>
            </a:pPr>
            <a:r>
              <a:rPr lang="en-US" sz="1350" dirty="0">
                <a:solidFill>
                  <a:schemeClr val="tx2"/>
                </a:solidFill>
              </a:rPr>
              <a:t>Four local numbers that make the case yours</a:t>
            </a:r>
            <a:endParaRPr lang="en-US" sz="1350" dirty="0"/>
          </a:p>
        </p:txBody>
      </p:sp>
      <p:sp>
        <p:nvSpPr>
          <p:cNvPr id="10" name="Page arrow 2">
            <a:extLst>
              <a:ext uri="{C183D7F6-B498-43B3-948B-1728B52AA6E4}">
                <adec:decorative xmlns:adec="http://schemas.microsoft.com/office/drawing/2017/decorative" val="1"/>
              </a:ext>
            </a:extLst>
          </p:cNvPr>
          <p:cNvSpPr/>
          <p:nvPr/>
        </p:nvSpPr>
        <p:spPr>
          <a:xfrm>
            <a:off x="7897368" y="2162556"/>
            <a:ext cx="201168" cy="201168"/>
          </a:xfrm>
          <a:prstGeom prst="rightArrow">
            <a:avLst/>
          </a:prstGeom>
          <a:solidFill>
            <a:srgbClr val="64748B"/>
          </a:solidFill>
          <a:ln w="12700">
            <a:solidFill>
              <a:srgbClr val="64748B"/>
            </a:solidFill>
            <a:prstDash val="solid"/>
          </a:ln>
        </p:spPr>
      </p:sp>
      <p:sp>
        <p:nvSpPr>
          <p:cNvPr id="11" name="Page 3">
            <a:extLst>
              <a:ext uri="{C183D7F6-B498-43B3-948B-1728B52AA6E4}">
                <adec:decorative xmlns:adec="http://schemas.microsoft.com/office/drawing/2017/decorative" val="1"/>
              </a:ext>
            </a:extLst>
          </p:cNvPr>
          <p:cNvSpPr/>
          <p:nvPr/>
        </p:nvSpPr>
        <p:spPr>
          <a:xfrm>
            <a:off x="8125968" y="1463040"/>
            <a:ext cx="3532632" cy="1600200"/>
          </a:xfrm>
          <a:prstGeom prst="roundRect">
            <a:avLst>
              <a:gd name="adj" fmla="val 4571"/>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Page 3 text"/>
          <p:cNvSpPr txBox="1"/>
          <p:nvPr/>
        </p:nvSpPr>
        <p:spPr>
          <a:xfrm>
            <a:off x="8217408" y="1536192"/>
            <a:ext cx="3349752" cy="1453896"/>
          </a:xfrm>
          <a:prstGeom prst="rect">
            <a:avLst/>
          </a:prstGeom>
          <a:noFill/>
          <a:ln/>
        </p:spPr>
        <p:txBody>
          <a:bodyPr wrap="square" lIns="0" tIns="0" rIns="0" bIns="0" rtlCol="0" anchor="t"/>
          <a:lstStyle/>
          <a:p>
            <a:pPr marL="0" indent="0">
              <a:spcAft>
                <a:spcPts val="200"/>
              </a:spcAft>
              <a:buNone/>
            </a:pPr>
            <a:r>
              <a:rPr lang="en-US" sz="1500" b="1" dirty="0">
                <a:solidFill>
                  <a:srgbClr val="B45309"/>
                </a:solidFill>
                <a:latin typeface="Cambria" pitchFamily="34" charset="0"/>
                <a:ea typeface="Cambria" pitchFamily="34" charset="-122"/>
                <a:cs typeface="Cambria" pitchFamily="34" charset="-120"/>
              </a:rPr>
              <a:t>One decision</a:t>
            </a:r>
            <a:endParaRPr lang="en-US" sz="1350" dirty="0"/>
          </a:p>
          <a:p>
            <a:pPr marL="0" indent="0">
              <a:spcAft>
                <a:spcPts val="200"/>
              </a:spcAft>
              <a:buNone/>
            </a:pPr>
            <a:r>
              <a:rPr lang="en-US" sz="1350" dirty="0">
                <a:solidFill>
                  <a:schemeClr val="tx2"/>
                </a:solidFill>
              </a:rPr>
              <a:t>Approve the four-week pre-flight, with a named owner and a start date</a:t>
            </a:r>
            <a:endParaRPr lang="en-US" sz="1350" dirty="0"/>
          </a:p>
        </p:txBody>
      </p:sp>
      <p:sp>
        <p:nvSpPr>
          <p:cNvPr id="13" name="Small">
            <a:extLst>
              <a:ext uri="{C183D7F6-B498-43B3-948B-1728B52AA6E4}">
                <adec:decorative xmlns:adec="http://schemas.microsoft.com/office/drawing/2017/decorative" val="1"/>
              </a:ext>
            </a:extLst>
          </p:cNvPr>
          <p:cNvSpPr/>
          <p:nvPr/>
        </p:nvSpPr>
        <p:spPr>
          <a:xfrm>
            <a:off x="548640" y="3337560"/>
            <a:ext cx="11109960" cy="1051560"/>
          </a:xfrm>
          <a:prstGeom prst="roundRect">
            <a:avLst>
              <a:gd name="adj" fmla="val 695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4" name="Icon FaLightbulb">
            <a:extLst>
              <a:ext uri="{C183D7F6-B498-43B3-948B-1728B52AA6E4}">
                <adec:decorative xmlns:adec="http://schemas.microsoft.com/office/drawing/2017/decorative" val="1"/>
              </a:ext>
            </a:extLst>
          </p:cNvPr>
          <p:cNvSpPr/>
          <p:nvPr/>
        </p:nvSpPr>
        <p:spPr>
          <a:xfrm>
            <a:off x="777240" y="3497580"/>
            <a:ext cx="731520" cy="731520"/>
          </a:xfrm>
          <a:prstGeom prst="ellipse">
            <a:avLst/>
          </a:prstGeom>
          <a:solidFill>
            <a:srgbClr val="0F766E"/>
          </a:solidFill>
          <a:ln w="12700">
            <a:solidFill>
              <a:srgbClr val="0F766E"/>
            </a:solidFill>
            <a:prstDash val="solid"/>
          </a:ln>
        </p:spPr>
      </p:sp>
      <p:pic>
        <p:nvPicPr>
          <p:cNvPr id="1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3673145"/>
            <a:ext cx="380390" cy="380390"/>
          </a:xfrm>
          <a:prstGeom prst="rect">
            <a:avLst/>
          </a:prstGeom>
        </p:spPr>
      </p:pic>
      <p:sp>
        <p:nvSpPr>
          <p:cNvPr id="16" name="Small text"/>
          <p:cNvSpPr txBox="1"/>
          <p:nvPr/>
        </p:nvSpPr>
        <p:spPr>
          <a:xfrm>
            <a:off x="1737360" y="3383280"/>
            <a:ext cx="9738360" cy="960120"/>
          </a:xfrm>
          <a:prstGeom prst="rect">
            <a:avLst/>
          </a:prstGeom>
          <a:noFill/>
          <a:ln/>
        </p:spPr>
        <p:txBody>
          <a:bodyPr wrap="square" lIns="0" tIns="0" rIns="0" bIns="0" rtlCol="0" anchor="ctr"/>
          <a:lstStyle/>
          <a:p>
            <a:pPr marL="0" indent="0">
              <a:buNone/>
            </a:pPr>
            <a:r>
              <a:rPr lang="en-US" sz="1650" b="1" dirty="0">
                <a:solidFill>
                  <a:srgbClr val="0F766E"/>
                </a:solidFill>
              </a:rPr>
              <a:t>Deliberately small: </a:t>
            </a:r>
            <a:r>
              <a:rPr lang="en-US" sz="1650" dirty="0">
                <a:solidFill>
                  <a:schemeClr val="tx2"/>
                </a:solidFill>
              </a:rPr>
              <a:t>no vendor decision on day one, just an inventory, an owner and a date. Everything after it is decided at gates, from evidence.</a:t>
            </a:r>
            <a:endParaRPr lang="en-US" sz="1650" dirty="0"/>
          </a:p>
        </p:txBody>
      </p:sp>
      <p:sp>
        <p:nvSpPr>
          <p:cNvPr id="17" name="Guidance">
            <a:extLst>
              <a:ext uri="{C183D7F6-B498-43B3-948B-1728B52AA6E4}">
                <adec:decorative xmlns:adec="http://schemas.microsoft.com/office/drawing/2017/decorative" val="1"/>
              </a:ext>
            </a:extLst>
          </p:cNvPr>
          <p:cNvSpPr/>
          <p:nvPr/>
        </p:nvSpPr>
        <p:spPr>
          <a:xfrm>
            <a:off x="548640" y="4617720"/>
            <a:ext cx="11109960" cy="1005840"/>
          </a:xfrm>
          <a:prstGeom prst="roundRect">
            <a:avLst>
              <a:gd name="adj" fmla="val 7273"/>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8" name="Icon FaBook">
            <a:extLst>
              <a:ext uri="{C183D7F6-B498-43B3-948B-1728B52AA6E4}">
                <adec:decorative xmlns:adec="http://schemas.microsoft.com/office/drawing/2017/decorative" val="1"/>
              </a:ext>
            </a:extLst>
          </p:cNvPr>
          <p:cNvSpPr/>
          <p:nvPr/>
        </p:nvSpPr>
        <p:spPr>
          <a:xfrm>
            <a:off x="777240" y="4754880"/>
            <a:ext cx="731520" cy="731520"/>
          </a:xfrm>
          <a:prstGeom prst="ellipse">
            <a:avLst/>
          </a:prstGeom>
          <a:solidFill>
            <a:srgbClr val="64748B"/>
          </a:solidFill>
          <a:ln w="12700">
            <a:solidFill>
              <a:srgbClr val="64748B"/>
            </a:solidFill>
            <a:prstDash val="solid"/>
          </a:ln>
        </p:spPr>
      </p:sp>
      <p:pic>
        <p:nvPicPr>
          <p:cNvPr id="1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930445"/>
            <a:ext cx="380390" cy="380390"/>
          </a:xfrm>
          <a:prstGeom prst="rect">
            <a:avLst/>
          </a:prstGeom>
        </p:spPr>
      </p:pic>
      <p:sp>
        <p:nvSpPr>
          <p:cNvPr id="20" name="Guidance text"/>
          <p:cNvSpPr txBox="1"/>
          <p:nvPr/>
        </p:nvSpPr>
        <p:spPr>
          <a:xfrm>
            <a:off x="1737360" y="4663440"/>
            <a:ext cx="9738360" cy="914400"/>
          </a:xfrm>
          <a:prstGeom prst="rect">
            <a:avLst/>
          </a:prstGeom>
          <a:noFill/>
          <a:ln/>
        </p:spPr>
        <p:txBody>
          <a:bodyPr wrap="square" lIns="0" tIns="0" rIns="0" bIns="0" rtlCol="0" anchor="ctr"/>
          <a:lstStyle/>
          <a:p>
            <a:pPr marL="0" indent="0">
              <a:buNone/>
            </a:pPr>
            <a:r>
              <a:rPr lang="en-US" sz="1650" b="1" dirty="0">
                <a:solidFill>
                  <a:srgbClr val="64748B"/>
                </a:solidFill>
              </a:rPr>
              <a:t>Design guidance: </a:t>
            </a:r>
            <a:r>
              <a:rPr lang="en-US" sz="1650" dirty="0">
                <a:solidFill>
                  <a:schemeClr val="tx2"/>
                </a:solidFill>
              </a:rPr>
              <a:t>the one-page shape, the four numbers and the pitches that follow are the workbook's suggestion for making the decision concrete. Adapt them.</a:t>
            </a:r>
            <a:endParaRPr lang="en-US" sz="1650" dirty="0"/>
          </a:p>
        </p:txBody>
      </p:sp>
      <p:sp>
        <p:nvSpPr>
          <p:cNvPr id="21"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(Where to start) and Ch 09 (What to do next); Book 00, Ch 01 (clocks; sequencing). The framing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8994FCB9-B38A-E3C0-DE25-491A7C5C45C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C5C127-A03D-4B37-8383-C2AEE57C398F}"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920"/>
    </mc:Choice>
    <mc:Fallback>
      <p:transition spd="slow" advTm="32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92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local numbers that make it real</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Number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60807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Your number (design guidance)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Why it matters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Fact from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Windows Server 2016 servers you run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End of support January 12, 2027; the operating system of many domain controllers built in the last decade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00, Ch 01</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Contractors outside the HR system</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Federal HR 2.0 covers federal employees; contractors and vendors need a designated source of their own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03, Ch 02 and 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Time to revoke a leaver's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From the day HR records a separation to the last account disabled; today other systems learn it by accident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03, Ch 02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Your Federal HR 2.0 wave and 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Onboarding runs about 8 months; interconnections go live around month 5, where the identity window closes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Book 03, Ch 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Measure">
            <a:extLst>
              <a:ext uri="{C183D7F6-B498-43B3-948B-1728B52AA6E4}">
                <adec:decorative xmlns:adec="http://schemas.microsoft.com/office/drawing/2017/decorative" val="1"/>
              </a:ext>
            </a:extLst>
          </p:cNvPr>
          <p:cNvSpPr/>
          <p:nvPr/>
        </p:nvSpPr>
        <p:spPr>
          <a:xfrm>
            <a:off x="548640" y="3909060"/>
            <a:ext cx="11109960" cy="1005840"/>
          </a:xfrm>
          <a:prstGeom prst="roundRect">
            <a:avLst>
              <a:gd name="adj" fmla="val 7273"/>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hartLine">
            <a:extLst>
              <a:ext uri="{C183D7F6-B498-43B3-948B-1728B52AA6E4}">
                <adec:decorative xmlns:adec="http://schemas.microsoft.com/office/drawing/2017/decorative" val="1"/>
              </a:ext>
            </a:extLst>
          </p:cNvPr>
          <p:cNvSpPr/>
          <p:nvPr/>
        </p:nvSpPr>
        <p:spPr>
          <a:xfrm>
            <a:off x="777240" y="404622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221785"/>
            <a:ext cx="380390" cy="380390"/>
          </a:xfrm>
          <a:prstGeom prst="rect">
            <a:avLst/>
          </a:prstGeom>
        </p:spPr>
      </p:pic>
      <p:sp>
        <p:nvSpPr>
          <p:cNvPr id="9" name="Measure text"/>
          <p:cNvSpPr txBox="1"/>
          <p:nvPr/>
        </p:nvSpPr>
        <p:spPr>
          <a:xfrm>
            <a:off x="1737360" y="3954780"/>
            <a:ext cx="9738360" cy="914400"/>
          </a:xfrm>
          <a:prstGeom prst="rect">
            <a:avLst/>
          </a:prstGeom>
          <a:noFill/>
          <a:ln/>
        </p:spPr>
        <p:txBody>
          <a:bodyPr wrap="square" lIns="0" tIns="0" rIns="0" bIns="0" rtlCol="0" anchor="ctr"/>
          <a:lstStyle/>
          <a:p>
            <a:pPr marL="0" indent="0">
              <a:buNone/>
            </a:pPr>
            <a:r>
              <a:rPr lang="en-US" sz="1650" b="1" dirty="0">
                <a:solidFill>
                  <a:srgbClr val="0F766E"/>
                </a:solidFill>
              </a:rPr>
              <a:t>Start with estimates: </a:t>
            </a:r>
            <a:r>
              <a:rPr lang="en-US" sz="1650" dirty="0">
                <a:solidFill>
                  <a:schemeClr val="tx2"/>
                </a:solidFill>
              </a:rPr>
              <a:t>the pre-flight's read-only assessment replaces them with measured counts, committed with provenance (design guidance).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(vendor support); Book 03, Ch 02 (orphan timeline; what HR provides) and Ch 03 (program facts). The numbers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9E47BAB-92D0-E6E0-E373-DF47B2E53FD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777B30-5C9D-441C-8FD4-C8EEF81F94E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10"/>
    </mc:Choice>
    <mc:Fallback>
      <p:transition spd="slow" advTm="39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0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For the CIO: the clocks and the cost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locks">
            <a:extLst>
              <a:ext uri="{C183D7F6-B498-43B3-948B-1728B52AA6E4}">
                <adec:decorative xmlns:adec="http://schemas.microsoft.com/office/drawing/2017/decorative" val="1"/>
              </a:ext>
            </a:extLst>
          </p:cNvPr>
          <p:cNvSpPr/>
          <p:nvPr/>
        </p:nvSpPr>
        <p:spPr>
          <a:xfrm>
            <a:off x="548640" y="1371600"/>
            <a:ext cx="5440680" cy="2880360"/>
          </a:xfrm>
          <a:prstGeom prst="roundRect">
            <a:avLst>
              <a:gd name="adj" fmla="val 254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Clocks head"/>
          <p:cNvSpPr txBox="1"/>
          <p:nvPr/>
        </p:nvSpPr>
        <p:spPr>
          <a:xfrm>
            <a:off x="73152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THE CLOCKS</a:t>
            </a:r>
            <a:endParaRPr lang="en-US" sz="1400" dirty="0"/>
          </a:p>
          <a:p>
            <a:pPr marL="0" indent="0">
              <a:buNone/>
            </a:pPr>
            <a:r>
              <a:rPr lang="en-US" sz="1500" b="1" dirty="0">
                <a:solidFill>
                  <a:srgbClr val="B91C1C"/>
                </a:solidFill>
                <a:latin typeface="Cambria" pitchFamily="34" charset="0"/>
                <a:ea typeface="Cambria" pitchFamily="34" charset="-122"/>
                <a:cs typeface="Cambria" pitchFamily="34" charset="-120"/>
              </a:rPr>
              <a:t>Set outside the agency</a:t>
            </a:r>
            <a:endParaRPr lang="en-US" sz="1400" dirty="0"/>
          </a:p>
        </p:txBody>
      </p:sp>
      <p:sp>
        <p:nvSpPr>
          <p:cNvPr id="7" name="Clocks list"/>
          <p:cNvSpPr txBox="1"/>
          <p:nvPr/>
        </p:nvSpPr>
        <p:spPr>
          <a:xfrm>
            <a:off x="731520" y="2121408"/>
            <a:ext cx="5120640" cy="20574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Windows Server 2016 end of support: January 12, 2027</a:t>
            </a:r>
            <a:endParaRPr lang="en-US" sz="1400" dirty="0"/>
          </a:p>
          <a:p>
            <a:pPr marL="342900" indent="-342900">
              <a:spcAft>
                <a:spcPts val="300"/>
              </a:spcAft>
              <a:buSzPct val="100000"/>
              <a:buChar char="•"/>
            </a:pPr>
            <a:r>
              <a:rPr lang="en-US" sz="1350" dirty="0">
                <a:solidFill>
                  <a:schemeClr val="tx2"/>
                </a:solidFill>
              </a:rPr>
              <a:t>CISA BOD 26-02: listed end-of-support edge devices out by February 5, 2027</a:t>
            </a:r>
            <a:endParaRPr lang="en-US" sz="1400" dirty="0"/>
          </a:p>
          <a:p>
            <a:pPr marL="342900" indent="-342900">
              <a:spcAft>
                <a:spcPts val="300"/>
              </a:spcAft>
              <a:buSzPct val="100000"/>
              <a:buChar char="•"/>
            </a:pPr>
            <a:r>
              <a:rPr lang="en-US" sz="1350" dirty="0">
                <a:solidFill>
                  <a:schemeClr val="tx2"/>
                </a:solidFill>
              </a:rPr>
              <a:t>OMB M-26-14: an agency logging plan, then three maturity levels</a:t>
            </a:r>
            <a:endParaRPr lang="en-US" sz="1400" dirty="0"/>
          </a:p>
          <a:p>
            <a:pPr marL="342900" indent="-342900">
              <a:spcAft>
                <a:spcPts val="300"/>
              </a:spcAft>
              <a:buSzPct val="100000"/>
              <a:buChar char="•"/>
            </a:pPr>
            <a:r>
              <a:rPr lang="en-US" sz="1350" dirty="0">
                <a:solidFill>
                  <a:schemeClr val="tx2"/>
                </a:solidFill>
              </a:rPr>
              <a:t>Running past end of support becomes a risk acceptance the authorizing official signs</a:t>
            </a:r>
            <a:endParaRPr lang="en-US" sz="1400" dirty="0"/>
          </a:p>
        </p:txBody>
      </p:sp>
      <p:sp>
        <p:nvSpPr>
          <p:cNvPr id="8" name="Cost">
            <a:extLst>
              <a:ext uri="{C183D7F6-B498-43B3-948B-1728B52AA6E4}">
                <adec:decorative xmlns:adec="http://schemas.microsoft.com/office/drawing/2017/decorative" val="1"/>
              </a:ext>
            </a:extLst>
          </p:cNvPr>
          <p:cNvSpPr/>
          <p:nvPr/>
        </p:nvSpPr>
        <p:spPr>
          <a:xfrm>
            <a:off x="6217920" y="1371600"/>
            <a:ext cx="5440680" cy="2880360"/>
          </a:xfrm>
          <a:prstGeom prst="roundRect">
            <a:avLst>
              <a:gd name="adj" fmla="val 254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Cost head"/>
          <p:cNvSpPr txBox="1"/>
          <p:nvPr/>
        </p:nvSpPr>
        <p:spPr>
          <a:xfrm>
            <a:off x="640080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THE COST</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Sequence it once</a:t>
            </a:r>
            <a:endParaRPr lang="en-US" sz="1400" dirty="0"/>
          </a:p>
        </p:txBody>
      </p:sp>
      <p:sp>
        <p:nvSpPr>
          <p:cNvPr id="10" name="Cost list"/>
          <p:cNvSpPr txBox="1"/>
          <p:nvPr/>
        </p:nvSpPr>
        <p:spPr>
          <a:xfrm>
            <a:off x="6400800" y="2121408"/>
            <a:ext cx="5120640" cy="20574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Separate projects can only race the dates; one program can sequence them</a:t>
            </a:r>
            <a:endParaRPr lang="en-US" sz="1400" dirty="0"/>
          </a:p>
          <a:p>
            <a:pPr marL="342900" indent="-342900">
              <a:spcAft>
                <a:spcPts val="300"/>
              </a:spcAft>
              <a:buSzPct val="100000"/>
              <a:buChar char="•"/>
            </a:pPr>
            <a:r>
              <a:rPr lang="en-US" sz="1350" dirty="0">
                <a:solidFill>
                  <a:schemeClr val="tx2"/>
                </a:solidFill>
              </a:rPr>
              <a:t>The first step is four weeks, with no vendor decision</a:t>
            </a:r>
            <a:endParaRPr lang="en-US" sz="1400" dirty="0"/>
          </a:p>
          <a:p>
            <a:pPr marL="342900" indent="-342900">
              <a:spcAft>
                <a:spcPts val="300"/>
              </a:spcAft>
              <a:buSzPct val="100000"/>
              <a:buChar char="•"/>
            </a:pPr>
            <a:r>
              <a:rPr lang="en-US" sz="1350" dirty="0">
                <a:solidFill>
                  <a:schemeClr val="tx2"/>
                </a:solidFill>
              </a:rPr>
              <a:t>No license of its own, but the services it uses need them: Entra ID P1 for Conditional Access; P2 or ID Governance for PIM</a:t>
            </a:r>
            <a:endParaRPr lang="en-US" sz="1400" dirty="0"/>
          </a:p>
          <a:p>
            <a:pPr marL="342900" indent="-342900">
              <a:spcAft>
                <a:spcPts val="300"/>
              </a:spcAft>
              <a:buSzPct val="100000"/>
              <a:buChar char="•"/>
            </a:pPr>
            <a:r>
              <a:rPr lang="en-US" sz="1350" dirty="0">
                <a:solidFill>
                  <a:schemeClr val="tx2"/>
                </a:solidFill>
              </a:rPr>
              <a:t>Fund and govern it as one sequence, not independent budget lines</a:t>
            </a:r>
            <a:endParaRPr lang="en-US" sz="1400" dirty="0"/>
          </a:p>
        </p:txBody>
      </p:sp>
      <p:sp>
        <p:nvSpPr>
          <p:cNvPr id="11" name="Pitch">
            <a:extLst>
              <a:ext uri="{C183D7F6-B498-43B3-948B-1728B52AA6E4}">
                <adec:decorative xmlns:adec="http://schemas.microsoft.com/office/drawing/2017/decorative" val="1"/>
              </a:ext>
            </a:extLst>
          </p:cNvPr>
          <p:cNvSpPr/>
          <p:nvPr/>
        </p:nvSpPr>
        <p:spPr>
          <a:xfrm>
            <a:off x="548640" y="452628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BuildingColumns">
            <a:extLst>
              <a:ext uri="{C183D7F6-B498-43B3-948B-1728B52AA6E4}">
                <adec:decorative xmlns:adec="http://schemas.microsoft.com/office/drawing/2017/decorative" val="1"/>
              </a:ext>
            </a:extLst>
          </p:cNvPr>
          <p:cNvSpPr/>
          <p:nvPr/>
        </p:nvSpPr>
        <p:spPr>
          <a:xfrm>
            <a:off x="777240" y="4663440"/>
            <a:ext cx="731520" cy="73152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839005"/>
            <a:ext cx="380390" cy="380390"/>
          </a:xfrm>
          <a:prstGeom prst="rect">
            <a:avLst/>
          </a:prstGeom>
        </p:spPr>
      </p:pic>
      <p:sp>
        <p:nvSpPr>
          <p:cNvPr id="14" name="Pitch text"/>
          <p:cNvSpPr txBox="1"/>
          <p:nvPr/>
        </p:nvSpPr>
        <p:spPr>
          <a:xfrm>
            <a:off x="1737360" y="457200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The CIO pitch (design guidance): </a:t>
            </a:r>
            <a:r>
              <a:rPr lang="en-US" sz="1650" dirty="0">
                <a:solidFill>
                  <a:schemeClr val="tx2"/>
                </a:solidFill>
              </a:rPr>
              <a:t>lead with the dates that land on your estate, and the cost of meeting them one project at a time.</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01 (federal policy; vendor support; why one program); Book 01, Ch 09 (what the program is and is not) and Ch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D944B14-9623-4575-E942-7E62E26A91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1F2FD7C-8EAA-4D8F-86D0-3B53757D671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20"/>
    </mc:Choice>
    <mc:Fallback>
      <p:transition spd="slow" advTm="37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For the CISO: leavers and account findings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e orphan timeline from Book 03: day minus 14, HR records the separation and no other system is listening; day 0, the separation takes effect while the account, application logins and badge are still live; day plus 3, a ticket disables the account but nine application accounts stay enabled; day plus 45, a review flags two and nobody owns the other seven; day plus 180, a penetration test signs in with one and the gap is now an incident."/>
          <p:cNvPicPr>
            <a:picLocks noChangeAspect="1"/>
          </p:cNvPicPr>
          <p:nvPr/>
        </p:nvPicPr>
        <p:blipFill>
          <a:blip r:embed="rId5"/>
          <a:stretch>
            <a:fillRect/>
          </a:stretch>
        </p:blipFill>
        <p:spPr>
          <a:xfrm>
            <a:off x="548640" y="1325880"/>
            <a:ext cx="11109960" cy="2421790"/>
          </a:xfrm>
          <a:prstGeom prst="rect">
            <a:avLst/>
          </a:prstGeom>
        </p:spPr>
      </p:pic>
      <p:sp>
        <p:nvSpPr>
          <p:cNvPr id="6" name="CISO">
            <a:extLst>
              <a:ext uri="{C183D7F6-B498-43B3-948B-1728B52AA6E4}">
                <adec:decorative xmlns:adec="http://schemas.microsoft.com/office/drawing/2017/decorative" val="1"/>
              </a:ext>
            </a:extLst>
          </p:cNvPr>
          <p:cNvSpPr/>
          <p:nvPr/>
        </p:nvSpPr>
        <p:spPr>
          <a:xfrm>
            <a:off x="548640" y="3977640"/>
            <a:ext cx="11109960" cy="1965960"/>
          </a:xfrm>
          <a:prstGeom prst="roundRect">
            <a:avLst>
              <a:gd name="adj" fmla="val 3721"/>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ISO head"/>
          <p:cNvSpPr txBox="1"/>
          <p:nvPr/>
        </p:nvSpPr>
        <p:spPr>
          <a:xfrm>
            <a:off x="731520" y="4087368"/>
            <a:ext cx="10744200" cy="640080"/>
          </a:xfrm>
          <a:prstGeom prst="rect">
            <a:avLst/>
          </a:prstGeom>
          <a:noFill/>
          <a:ln/>
        </p:spPr>
        <p:txBody>
          <a:bodyPr wrap="square" lIns="0" tIns="0" rIns="0" bIns="0" rtlCol="0" anchor="t"/>
          <a:lstStyle/>
          <a:p>
            <a:pPr marL="0" indent="0">
              <a:buNone/>
            </a:pPr>
            <a:r>
              <a:rPr lang="en-US" sz="1100" b="1" dirty="0">
                <a:solidFill>
                  <a:srgbClr val="64748B"/>
                </a:solidFill>
              </a:rPr>
              <a:t>THE CISO PITCH · DESIGN GUIDANCE</a:t>
            </a:r>
            <a:endParaRPr lang="en-US" sz="1400" dirty="0"/>
          </a:p>
          <a:p>
            <a:pPr marL="0" indent="0">
              <a:buNone/>
            </a:pPr>
            <a:r>
              <a:rPr lang="en-US" sz="1500" b="1" dirty="0">
                <a:solidFill>
                  <a:srgbClr val="1F2A44"/>
                </a:solidFill>
                <a:latin typeface="Cambria" pitchFamily="34" charset="0"/>
                <a:ea typeface="Cambria" pitchFamily="34" charset="-122"/>
                <a:cs typeface="Cambria" pitchFamily="34" charset="-120"/>
              </a:rPr>
              <a:t>Fix the wiring, not the symptom</a:t>
            </a:r>
            <a:endParaRPr lang="en-US" sz="1400" dirty="0"/>
          </a:p>
        </p:txBody>
      </p:sp>
      <p:sp>
        <p:nvSpPr>
          <p:cNvPr id="8" name="CISO list"/>
          <p:cNvSpPr txBox="1"/>
          <p:nvPr/>
        </p:nvSpPr>
        <p:spPr>
          <a:xfrm>
            <a:off x="731520" y="4727448"/>
            <a:ext cx="10789920" cy="114300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Orphaned accounts are the structural output of systems with no event channel from HR, not an administrator's mistake</a:t>
            </a:r>
            <a:endParaRPr lang="en-US" sz="1400" dirty="0"/>
          </a:p>
          <a:p>
            <a:pPr marL="342900" indent="-342900">
              <a:spcAft>
                <a:spcPts val="300"/>
              </a:spcAft>
              <a:buSzPct val="100000"/>
              <a:buChar char="•"/>
            </a:pPr>
            <a:r>
              <a:rPr lang="en-US" sz="1350" dirty="0">
                <a:solidFill>
                  <a:schemeClr val="tx2"/>
                </a:solidFill>
              </a:rPr>
              <a:t>NIST SP 800-53 expects account management aligned with termination and transfer (AC-2 l; PS-5); reviews are the check (AC-2 j)</a:t>
            </a:r>
            <a:endParaRPr lang="en-US" sz="1400" dirty="0"/>
          </a:p>
          <a:p>
            <a:pPr marL="342900" indent="-342900">
              <a:spcAft>
                <a:spcPts val="300"/>
              </a:spcAft>
              <a:buSzPct val="100000"/>
              <a:buChar char="•"/>
            </a:pPr>
            <a:r>
              <a:rPr lang="en-US" sz="1350" dirty="0">
                <a:solidFill>
                  <a:schemeClr val="tx2"/>
                </a:solidFill>
              </a:rPr>
              <a:t>HR-driven identity starts with leavers, and measures separation-to-block from day one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02 (the orphan timeline; federal policy frame; why this can't be patched) and Ch 12 (Phase 4, leaver first). Pitch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65070EA6-F0D1-DACB-3CD4-9C355875D15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50ED3C-6EA6-4BA9-AD73-F7AF3917811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80"/>
    </mc:Choice>
    <mc:Fallback>
      <p:transition spd="slow" advTm="36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80"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For the CHCO: HR 2.0 and the contractor source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e Federal HR 2.0 window from Book 03: December 10, 2025, the OMB/OPM memo, one Core HCM platform and agencies pause their own; June 10, 2026, the Core HCM award to Oracle Fusion Cloud HCM; onboarding months 1 to 5, the window in which data standards, cleanup, interconnection design and the identity feed are decided; interconnection go-live, where the window closes; FY 2028, one system."/>
          <p:cNvPicPr>
            <a:picLocks noChangeAspect="1"/>
          </p:cNvPicPr>
          <p:nvPr/>
        </p:nvPicPr>
        <p:blipFill>
          <a:blip r:embed="rId5"/>
          <a:stretch>
            <a:fillRect/>
          </a:stretch>
        </p:blipFill>
        <p:spPr>
          <a:xfrm>
            <a:off x="548640" y="1325880"/>
            <a:ext cx="11109960" cy="2401774"/>
          </a:xfrm>
          <a:prstGeom prst="rect">
            <a:avLst/>
          </a:prstGeom>
        </p:spPr>
      </p:pic>
      <p:sp>
        <p:nvSpPr>
          <p:cNvPr id="6" name="CHCO">
            <a:extLst>
              <a:ext uri="{C183D7F6-B498-43B3-948B-1728B52AA6E4}">
                <adec:decorative xmlns:adec="http://schemas.microsoft.com/office/drawing/2017/decorative" val="1"/>
              </a:ext>
            </a:extLst>
          </p:cNvPr>
          <p:cNvSpPr/>
          <p:nvPr/>
        </p:nvSpPr>
        <p:spPr>
          <a:xfrm>
            <a:off x="548640" y="3931920"/>
            <a:ext cx="11109960" cy="2011680"/>
          </a:xfrm>
          <a:prstGeom prst="roundRect">
            <a:avLst>
              <a:gd name="adj" fmla="val 36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CHCO head"/>
          <p:cNvSpPr txBox="1"/>
          <p:nvPr/>
        </p:nvSpPr>
        <p:spPr>
          <a:xfrm>
            <a:off x="731520" y="4041648"/>
            <a:ext cx="10744200" cy="640080"/>
          </a:xfrm>
          <a:prstGeom prst="rect">
            <a:avLst/>
          </a:prstGeom>
          <a:noFill/>
          <a:ln/>
        </p:spPr>
        <p:txBody>
          <a:bodyPr wrap="square" lIns="0" tIns="0" rIns="0" bIns="0" rtlCol="0" anchor="t"/>
          <a:lstStyle/>
          <a:p>
            <a:pPr marL="0" indent="0">
              <a:buNone/>
            </a:pPr>
            <a:r>
              <a:rPr lang="en-US" sz="1100" b="1" dirty="0">
                <a:solidFill>
                  <a:srgbClr val="64748B"/>
                </a:solidFill>
              </a:rPr>
              <a:t>THE CHCO PITCH · DESIGN GUIDANCE</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Ride along, connect once</a:t>
            </a:r>
            <a:endParaRPr lang="en-US" sz="1400" dirty="0"/>
          </a:p>
        </p:txBody>
      </p:sp>
      <p:sp>
        <p:nvSpPr>
          <p:cNvPr id="8" name="CHCO list"/>
          <p:cNvSpPr txBox="1"/>
          <p:nvPr/>
        </p:nvSpPr>
        <p:spPr>
          <a:xfrm>
            <a:off x="731520" y="4681728"/>
            <a:ext cx="10789920" cy="11887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HR 2.0 rebuilds the HR side anyway; name the identity feed among the integration points before interconnections go live</a:t>
            </a:r>
            <a:endParaRPr lang="en-US" sz="1400" dirty="0"/>
          </a:p>
          <a:p>
            <a:pPr marL="342900" indent="-342900">
              <a:spcAft>
                <a:spcPts val="300"/>
              </a:spcAft>
              <a:buSzPct val="100000"/>
              <a:buChar char="•"/>
            </a:pPr>
            <a:r>
              <a:rPr lang="en-US" sz="1350" dirty="0">
                <a:solidFill>
                  <a:schemeClr val="tx2"/>
                </a:solidFill>
              </a:rPr>
              <a:t>It covers federal employees only: choose the contractor source now (Core HCM contingent workers, PIV sponsorship, a suitability register)</a:t>
            </a:r>
            <a:endParaRPr lang="en-US" sz="1400" dirty="0"/>
          </a:p>
          <a:p>
            <a:pPr marL="342900" indent="-342900">
              <a:spcAft>
                <a:spcPts val="300"/>
              </a:spcAft>
              <a:buSzPct val="100000"/>
              <a:buChar char="•"/>
            </a:pPr>
            <a:r>
              <a:rPr lang="en-US" sz="1350" dirty="0">
                <a:solidFill>
                  <a:schemeClr val="tx2"/>
                </a:solidFill>
              </a:rPr>
              <a:t>HR decides what the workforce attributes mean; identity engineering decides how they flow</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03 (program facts; the opportunity, not the project) and Ch 12 (Phases 0 and 1); Book 01, Ch 09 (HR and the contractor sources).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7127A32A-D4CA-8B80-04EA-81B08B4477C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9440A3D-E3C7-4649-A8A3-9B10FB59DDE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20"/>
    </mc:Choice>
    <mc:Fallback>
      <p:transition spd="slow" advTm="39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16"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For the authorizing official: evidence over attestation</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Holds">
            <a:extLst>
              <a:ext uri="{C183D7F6-B498-43B3-948B-1728B52AA6E4}">
                <adec:decorative xmlns:adec="http://schemas.microsoft.com/office/drawing/2017/decorative" val="1"/>
              </a:ext>
            </a:extLst>
          </p:cNvPr>
          <p:cNvSpPr/>
          <p:nvPr/>
        </p:nvSpPr>
        <p:spPr>
          <a:xfrm>
            <a:off x="548640" y="1371600"/>
            <a:ext cx="5440680" cy="2697480"/>
          </a:xfrm>
          <a:prstGeom prst="roundRect">
            <a:avLst>
              <a:gd name="adj" fmla="val 271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Holds head"/>
          <p:cNvSpPr txBox="1"/>
          <p:nvPr/>
        </p:nvSpPr>
        <p:spPr>
          <a:xfrm>
            <a:off x="73152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WHAT THE AUTHORIZING OFFICIAL HOLDS</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Risk acceptance, in writing</a:t>
            </a:r>
            <a:endParaRPr lang="en-US" sz="1400" dirty="0"/>
          </a:p>
        </p:txBody>
      </p:sp>
      <p:sp>
        <p:nvSpPr>
          <p:cNvPr id="7" name="Holds list"/>
          <p:cNvSpPr txBox="1"/>
          <p:nvPr/>
        </p:nvSpPr>
        <p:spPr>
          <a:xfrm>
            <a:off x="731520" y="2121408"/>
            <a:ext cx="5120640" cy="18745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only official who can accept security and privacy risk on the agency's behalf</a:t>
            </a:r>
            <a:endParaRPr lang="en-US" sz="1400" dirty="0"/>
          </a:p>
          <a:p>
            <a:pPr marL="342900" indent="-342900">
              <a:spcAft>
                <a:spcPts val="300"/>
              </a:spcAft>
              <a:buSzPct val="100000"/>
              <a:buChar char="•"/>
            </a:pPr>
            <a:r>
              <a:rPr lang="en-US" sz="1350" dirty="0">
                <a:solidFill>
                  <a:schemeClr val="tx2"/>
                </a:solidFill>
              </a:rPr>
              <a:t>Every risk the program carries rather than removes reaches them in writing, with an end date</a:t>
            </a:r>
            <a:endParaRPr lang="en-US" sz="1400" dirty="0"/>
          </a:p>
          <a:p>
            <a:pPr marL="342900" indent="-342900">
              <a:spcAft>
                <a:spcPts val="300"/>
              </a:spcAft>
              <a:buSzPct val="100000"/>
              <a:buChar char="•"/>
            </a:pPr>
            <a:r>
              <a:rPr lang="en-US" sz="1350" dirty="0">
                <a:solidFill>
                  <a:schemeClr val="tx2"/>
                </a:solidFill>
              </a:rPr>
              <a:t>Including deviations from mandatory BOD 25-01 baselines, which agencies must explain when they report</a:t>
            </a:r>
            <a:endParaRPr lang="en-US" sz="1400" dirty="0"/>
          </a:p>
        </p:txBody>
      </p:sp>
      <p:sp>
        <p:nvSpPr>
          <p:cNvPr id="8" name="Gets">
            <a:extLst>
              <a:ext uri="{C183D7F6-B498-43B3-948B-1728B52AA6E4}">
                <adec:decorative xmlns:adec="http://schemas.microsoft.com/office/drawing/2017/decorative" val="1"/>
              </a:ext>
            </a:extLst>
          </p:cNvPr>
          <p:cNvSpPr/>
          <p:nvPr/>
        </p:nvSpPr>
        <p:spPr>
          <a:xfrm>
            <a:off x="6217920" y="1371600"/>
            <a:ext cx="5440680" cy="2697480"/>
          </a:xfrm>
          <a:prstGeom prst="roundRect">
            <a:avLst>
              <a:gd name="adj" fmla="val 27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Gets head"/>
          <p:cNvSpPr txBox="1"/>
          <p:nvPr/>
        </p:nvSpPr>
        <p:spPr>
          <a:xfrm>
            <a:off x="6400800" y="1481328"/>
            <a:ext cx="5074920" cy="640080"/>
          </a:xfrm>
          <a:prstGeom prst="rect">
            <a:avLst/>
          </a:prstGeom>
          <a:noFill/>
          <a:ln/>
        </p:spPr>
        <p:txBody>
          <a:bodyPr wrap="square" lIns="0" tIns="0" rIns="0" bIns="0" rtlCol="0" anchor="t"/>
          <a:lstStyle/>
          <a:p>
            <a:pPr marL="0" indent="0">
              <a:buNone/>
            </a:pPr>
            <a:r>
              <a:rPr lang="en-US" sz="1100" b="1" dirty="0">
                <a:solidFill>
                  <a:srgbClr val="64748B"/>
                </a:solidFill>
              </a:rPr>
              <a:t>WHAT THEY GET IN RETURN</a:t>
            </a:r>
            <a:endParaRPr lang="en-US" sz="1400" dirty="0"/>
          </a:p>
          <a:p>
            <a:pPr marL="0" indent="0">
              <a:buNone/>
            </a:pPr>
            <a:r>
              <a:rPr lang="en-US" sz="1500" b="1" dirty="0">
                <a:solidFill>
                  <a:srgbClr val="0F766E"/>
                </a:solidFill>
                <a:latin typeface="Cambria" pitchFamily="34" charset="0"/>
                <a:ea typeface="Cambria" pitchFamily="34" charset="-122"/>
                <a:cs typeface="Cambria" pitchFamily="34" charset="-120"/>
              </a:rPr>
              <a:t>Evidence over attestation</a:t>
            </a:r>
            <a:endParaRPr lang="en-US" sz="1400" dirty="0"/>
          </a:p>
        </p:txBody>
      </p:sp>
      <p:sp>
        <p:nvSpPr>
          <p:cNvPr id="10" name="Gets list"/>
          <p:cNvSpPr txBox="1"/>
          <p:nvPr/>
        </p:nvSpPr>
        <p:spPr>
          <a:xfrm>
            <a:off x="6400800" y="2121408"/>
            <a:ext cx="5120640" cy="187452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Gates evaluated from data, not executive signature</a:t>
            </a:r>
            <a:endParaRPr lang="en-US" sz="1400" dirty="0"/>
          </a:p>
          <a:p>
            <a:pPr marL="342900" indent="-342900">
              <a:spcAft>
                <a:spcPts val="300"/>
              </a:spcAft>
              <a:buSzPct val="100000"/>
              <a:buChar char="•"/>
            </a:pPr>
            <a:r>
              <a:rPr lang="en-US" sz="1350" dirty="0">
                <a:solidFill>
                  <a:schemeClr val="tx2"/>
                </a:solidFill>
              </a:rPr>
              <a:t>Every change a signed plan; every plan an evidence packet</a:t>
            </a:r>
            <a:endParaRPr lang="en-US" sz="1400" dirty="0"/>
          </a:p>
          <a:p>
            <a:pPr marL="342900" indent="-342900">
              <a:spcAft>
                <a:spcPts val="300"/>
              </a:spcAft>
              <a:buSzPct val="100000"/>
              <a:buChar char="•"/>
            </a:pPr>
            <a:r>
              <a:rPr lang="en-US" sz="1350" dirty="0">
                <a:solidFill>
                  <a:schemeClr val="tx2"/>
                </a:solidFill>
              </a:rPr>
              <a:t>Authorization packages regenerated from the source, not spreadsheets</a:t>
            </a:r>
            <a:endParaRPr lang="en-US" sz="1400" dirty="0"/>
          </a:p>
          <a:p>
            <a:pPr marL="342900" indent="-342900">
              <a:spcAft>
                <a:spcPts val="300"/>
              </a:spcAft>
              <a:buSzPct val="100000"/>
              <a:buChar char="•"/>
            </a:pPr>
            <a:r>
              <a:rPr lang="en-US" sz="1350" dirty="0">
                <a:solidFill>
                  <a:schemeClr val="tx2"/>
                </a:solidFill>
              </a:rPr>
              <a:t>Gated actuation: a person approves before any automated change runs</a:t>
            </a:r>
            <a:endParaRPr lang="en-US" sz="1400" dirty="0"/>
          </a:p>
        </p:txBody>
      </p:sp>
      <p:sp>
        <p:nvSpPr>
          <p:cNvPr id="11" name="Pitch">
            <a:extLst>
              <a:ext uri="{C183D7F6-B498-43B3-948B-1728B52AA6E4}">
                <adec:decorative xmlns:adec="http://schemas.microsoft.com/office/drawing/2017/decorative" val="1"/>
              </a:ext>
            </a:extLst>
          </p:cNvPr>
          <p:cNvSpPr/>
          <p:nvPr/>
        </p:nvSpPr>
        <p:spPr>
          <a:xfrm>
            <a:off x="548640" y="438912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FileShield">
            <a:extLst>
              <a:ext uri="{C183D7F6-B498-43B3-948B-1728B52AA6E4}">
                <adec:decorative xmlns:adec="http://schemas.microsoft.com/office/drawing/2017/decorative" val="1"/>
              </a:ext>
            </a:extLst>
          </p:cNvPr>
          <p:cNvSpPr/>
          <p:nvPr/>
        </p:nvSpPr>
        <p:spPr>
          <a:xfrm>
            <a:off x="777240" y="4526280"/>
            <a:ext cx="731520" cy="731520"/>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701845"/>
            <a:ext cx="380390" cy="380390"/>
          </a:xfrm>
          <a:prstGeom prst="rect">
            <a:avLst/>
          </a:prstGeom>
        </p:spPr>
      </p:pic>
      <p:sp>
        <p:nvSpPr>
          <p:cNvPr id="14" name="Pitch text"/>
          <p:cNvSpPr txBox="1"/>
          <p:nvPr/>
        </p:nvSpPr>
        <p:spPr>
          <a:xfrm>
            <a:off x="1737360" y="443484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The AO pitch (design guidance): </a:t>
            </a:r>
            <a:r>
              <a:rPr lang="en-US" sz="1650" dirty="0">
                <a:solidFill>
                  <a:schemeClr val="tx2"/>
                </a:solidFill>
              </a:rPr>
              <a:t>evidence produced by the work itself, in place of attestation assembled before each assessment.</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09 (the CISO and the authorizing official; governance properties; decision rights) and Ch 12 (key takeaways).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5DE7BC57-2BD7-A01A-38B2-14FA39FCF80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4D1DAD-0784-4192-A248-4AB9FB7D6227}"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10"/>
    </mc:Choice>
    <mc:Fallback>
      <p:transition spd="slow" advTm="36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decision: an owner, a date and a first gate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Decision">
            <a:extLst>
              <a:ext uri="{C183D7F6-B498-43B3-948B-1728B52AA6E4}">
                <adec:decorative xmlns:adec="http://schemas.microsoft.com/office/drawing/2017/decorative" val="1"/>
              </a:ext>
            </a:extLst>
          </p:cNvPr>
          <p:cNvSpPr/>
          <p:nvPr/>
        </p:nvSpPr>
        <p:spPr>
          <a:xfrm>
            <a:off x="548640" y="1371600"/>
            <a:ext cx="11109960" cy="1463040"/>
          </a:xfrm>
          <a:prstGeom prst="roundRect">
            <a:avLst>
              <a:gd name="adj" fmla="val 500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Decision head"/>
          <p:cNvSpPr txBox="1"/>
          <p:nvPr/>
        </p:nvSpPr>
        <p:spPr>
          <a:xfrm>
            <a:off x="731520" y="1481328"/>
            <a:ext cx="10744200" cy="640080"/>
          </a:xfrm>
          <a:prstGeom prst="rect">
            <a:avLst/>
          </a:prstGeom>
          <a:noFill/>
          <a:ln/>
        </p:spPr>
        <p:txBody>
          <a:bodyPr wrap="square" lIns="0" tIns="0" rIns="0" bIns="0" rtlCol="0" anchor="t"/>
          <a:lstStyle/>
          <a:p>
            <a:pPr marL="0" indent="0">
              <a:buNone/>
            </a:pPr>
            <a:r>
              <a:rPr lang="en-US" sz="1100" b="1" dirty="0">
                <a:solidFill>
                  <a:srgbClr val="64748B"/>
                </a:solidFill>
              </a:rPr>
              <a:t>THE DECISION · DESIGN GUIDANCE</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One sentence to say yes to</a:t>
            </a:r>
            <a:endParaRPr lang="en-US" sz="1400" dirty="0"/>
          </a:p>
        </p:txBody>
      </p:sp>
      <p:sp>
        <p:nvSpPr>
          <p:cNvPr id="7" name="Decision list"/>
          <p:cNvSpPr txBox="1"/>
          <p:nvPr/>
        </p:nvSpPr>
        <p:spPr>
          <a:xfrm>
            <a:off x="731520" y="2121408"/>
            <a:ext cx="10789920" cy="64008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2"/>
                </a:solidFill>
              </a:rPr>
              <a:t>Approve the four-week pre-flight, sponsored by a named executive and run by a named steward, starting on a set date, with Gate G0 on the calendar beside the external clocks</a:t>
            </a:r>
            <a:endParaRPr lang="en-US" sz="1400" dirty="0"/>
          </a:p>
        </p:txBody>
      </p:sp>
      <p:graphicFrame>
        <p:nvGraphicFramePr>
          <p:cNvPr id="9" name="Questions"/>
          <p:cNvGraphicFramePr>
            <a:graphicFrameLocks noGrp="1"/>
          </p:cNvGraphicFramePr>
          <p:nvPr>
            <p:extLst>
              <p:ext uri="{D42A27DB-BD31-4B8C-83A1-F6EECF244321}">
                <p14:modId xmlns:p14="http://schemas.microsoft.com/office/powerpoint/2010/main" val="1579011935"/>
              </p:ext>
            </p:extLst>
          </p:nvPr>
        </p:nvGraphicFramePr>
        <p:xfrm>
          <a:off x="548640" y="3108960"/>
          <a:ext cx="9144000" cy="914400"/>
        </p:xfrm>
        <a:graphic>
          <a:graphicData uri="http://schemas.openxmlformats.org/drawingml/2006/table">
            <a:tbl>
              <a:tblPr firstRow="1" bandRow="1"/>
              <a:tblGrid>
                <a:gridCol w="11109960">
                  <a:extLst>
                    <a:ext uri="{9D8B030D-6E8A-4147-A177-3AD203B41FA5}">
                      <a16:colId xmlns:a16="http://schemas.microsoft.com/office/drawing/2014/main" val="20000"/>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Before saying yes, the sponsor should be able to answer yes to each of these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07848">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Is the authoritative source in version control, not a vendor portal or shared drive?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7848">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Can every production change be traced to a signed commit?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Is drift detection continuous, not quarterly?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Does every decision have one named decider, and has the authorizing official agreed to the risk-acceptance rows?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01, Ch 12 (Where to start) and Ch 09 (how a sponsor evaluates the program; what to do next). The sentence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0" name="Narration" descr="Narration for this slide; captions available">
            <a:hlinkClick r:id="" action="ppaction://media"/>
            <a:extLst>
              <a:ext uri="{FF2B5EF4-FFF2-40B4-BE49-F238E27FC236}">
                <a16:creationId xmlns:a16="http://schemas.microsoft.com/office/drawing/2014/main" id="{5AAB3239-66BE-FDB8-C247-25A96C60502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9FD2A2B-107C-4E98-9C7C-83445CECB30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90"/>
    </mc:Choice>
    <mc:Fallback>
      <p:transition spd="slow" advTm="347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792"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Charter roles: who signs what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0"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4688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Who, typically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Executive sponsor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With the CIO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Scope, funding and sequence; gates G3 and G5; when directory components retire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program office's accountable lead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Target architecture and the repository; gates G0, G1 and G4; co-signs G2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Workstream leads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Identity, policy, services and addressing, compute,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Playbook content and readiness in their domain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senior agency information security officer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Control requirements: MFA strength, the Conditional Access baseline, logging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As the agency designates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System and boundary authorization; residual risk; legacy-authentication end dates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HR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HR system's business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What the authoritative worker attributes mean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Existing">
            <a:extLst>
              <a:ext uri="{C183D7F6-B498-43B3-948B-1728B52AA6E4}">
                <adec:decorative xmlns:adec="http://schemas.microsoft.com/office/drawing/2017/decorative" val="1"/>
              </a:ext>
            </a:extLst>
          </p:cNvPr>
          <p:cNvSpPr/>
          <p:nvPr/>
        </p:nvSpPr>
        <p:spPr>
          <a:xfrm>
            <a:off x="548640" y="4654296"/>
            <a:ext cx="11109960" cy="960120"/>
          </a:xfrm>
          <a:prstGeom prst="roundRect">
            <a:avLst>
              <a:gd name="adj" fmla="val 761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77240" y="4768596"/>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44161"/>
            <a:ext cx="380390" cy="380390"/>
          </a:xfrm>
          <a:prstGeom prst="rect">
            <a:avLst/>
          </a:prstGeom>
        </p:spPr>
      </p:pic>
      <p:sp>
        <p:nvSpPr>
          <p:cNvPr id="9" name="Existing text"/>
          <p:cNvSpPr txBox="1"/>
          <p:nvPr/>
        </p:nvSpPr>
        <p:spPr>
          <a:xfrm>
            <a:off x="1737360" y="4700016"/>
            <a:ext cx="9738360" cy="868680"/>
          </a:xfrm>
          <a:prstGeom prst="rect">
            <a:avLst/>
          </a:prstGeom>
          <a:noFill/>
          <a:ln/>
        </p:spPr>
        <p:txBody>
          <a:bodyPr wrap="square" lIns="0" tIns="0" rIns="0" bIns="0" rtlCol="0" anchor="ctr"/>
          <a:lstStyle/>
          <a:p>
            <a:pPr marL="0" indent="0">
              <a:buNone/>
            </a:pPr>
            <a:r>
              <a:rPr lang="en-US" sz="1650" b="1" dirty="0">
                <a:solidFill>
                  <a:srgbClr val="0F766E"/>
                </a:solidFill>
              </a:rPr>
              <a:t>Build from roles you already have: </a:t>
            </a:r>
            <a:r>
              <a:rPr lang="en-US" sz="1650" dirty="0">
                <a:solidFill>
                  <a:schemeClr val="tx2"/>
                </a:solidFill>
              </a:rPr>
              <a:t>the zero trust implementation lead OMB M-22-09 required, and the ICAM governance structure OMB M-19-17 requires.</a:t>
            </a:r>
            <a:endParaRPr lang="en-US" sz="1650" dirty="0"/>
          </a:p>
        </p:txBody>
      </p:sp>
      <p:sp>
        <p:nvSpPr>
          <p:cNvPr id="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Book 00, Ch 03 (governance and ownership; charter roles); Book 01, Ch 09 (who leads, decides and does the work; decision rights).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35733D4C-280F-9FE3-D6F8-A319E3903E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C1F1F6C-B333-4AD4-B9DC-EA6F496D718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80"/>
    </mc:Choice>
    <mc:Fallback>
      <p:transition spd="slow" advTm="385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84"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bring to the meeting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Bring">
            <a:extLst>
              <a:ext uri="{C183D7F6-B498-43B3-948B-1728B52AA6E4}">
                <adec:decorative xmlns:adec="http://schemas.microsoft.com/office/drawing/2017/decorative" val="1"/>
              </a:ext>
            </a:extLst>
          </p:cNvPr>
          <p:cNvSpPr/>
          <p:nvPr/>
        </p:nvSpPr>
        <p:spPr>
          <a:xfrm>
            <a:off x="548640" y="1371600"/>
            <a:ext cx="5577840" cy="2560320"/>
          </a:xfrm>
          <a:prstGeom prst="roundRect">
            <a:avLst>
              <a:gd name="adj" fmla="val 285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6" name="Bring head"/>
          <p:cNvSpPr txBox="1"/>
          <p:nvPr/>
        </p:nvSpPr>
        <p:spPr>
          <a:xfrm>
            <a:off x="731520" y="1481328"/>
            <a:ext cx="5212080" cy="640080"/>
          </a:xfrm>
          <a:prstGeom prst="rect">
            <a:avLst/>
          </a:prstGeom>
          <a:noFill/>
          <a:ln/>
        </p:spPr>
        <p:txBody>
          <a:bodyPr wrap="square" lIns="0" tIns="0" rIns="0" bIns="0" rtlCol="0" anchor="t"/>
          <a:lstStyle/>
          <a:p>
            <a:pPr marL="0" indent="0">
              <a:buNone/>
            </a:pPr>
            <a:r>
              <a:rPr lang="en-US" sz="1100" b="1" dirty="0">
                <a:solidFill>
                  <a:srgbClr val="64748B"/>
                </a:solidFill>
              </a:rPr>
              <a:t>BRING · DESIGN GUIDANCE</a:t>
            </a:r>
            <a:endParaRPr lang="en-US" sz="1400" dirty="0"/>
          </a:p>
          <a:p>
            <a:pPr marL="0" indent="0">
              <a:buNone/>
            </a:pPr>
            <a:r>
              <a:rPr lang="en-US" sz="1500" b="1" dirty="0">
                <a:solidFill>
                  <a:srgbClr val="B45309"/>
                </a:solidFill>
                <a:latin typeface="Cambria" pitchFamily="34" charset="0"/>
                <a:ea typeface="Cambria" pitchFamily="34" charset="-122"/>
                <a:cs typeface="Cambria" pitchFamily="34" charset="-120"/>
              </a:rPr>
              <a:t>The one-page ask</a:t>
            </a:r>
            <a:endParaRPr lang="en-US" sz="1400" dirty="0"/>
          </a:p>
        </p:txBody>
      </p:sp>
      <p:sp>
        <p:nvSpPr>
          <p:cNvPr id="7" name="Bring list"/>
          <p:cNvSpPr txBox="1"/>
          <p:nvPr/>
        </p:nvSpPr>
        <p:spPr>
          <a:xfrm>
            <a:off x="731520" y="2121408"/>
            <a:ext cx="5257800" cy="17373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ask in one sentence, with your four numbers filled in</a:t>
            </a:r>
            <a:endParaRPr lang="en-US" sz="1400" dirty="0"/>
          </a:p>
          <a:p>
            <a:pPr marL="342900" indent="-342900">
              <a:spcAft>
                <a:spcPts val="300"/>
              </a:spcAft>
              <a:buSzPct val="100000"/>
              <a:buChar char="•"/>
            </a:pPr>
            <a:r>
              <a:rPr lang="en-US" sz="1350" dirty="0">
                <a:solidFill>
                  <a:schemeClr val="tx2"/>
                </a:solidFill>
              </a:rPr>
              <a:t>The external clocks that apply to your estate</a:t>
            </a:r>
            <a:endParaRPr lang="en-US" sz="1400" dirty="0"/>
          </a:p>
          <a:p>
            <a:pPr marL="342900" indent="-342900">
              <a:spcAft>
                <a:spcPts val="300"/>
              </a:spcAft>
              <a:buSzPct val="100000"/>
              <a:buChar char="•"/>
            </a:pPr>
            <a:r>
              <a:rPr lang="en-US" sz="1350" dirty="0">
                <a:solidFill>
                  <a:schemeClr val="tx2"/>
                </a:solidFill>
              </a:rPr>
              <a:t>Candidate names for sponsor and steward</a:t>
            </a:r>
            <a:endParaRPr lang="en-US" sz="1400" dirty="0"/>
          </a:p>
          <a:p>
            <a:pPr marL="342900" indent="-342900">
              <a:spcAft>
                <a:spcPts val="300"/>
              </a:spcAft>
              <a:buSzPct val="100000"/>
              <a:buChar char="•"/>
            </a:pPr>
            <a:r>
              <a:rPr lang="en-US" sz="1350" dirty="0">
                <a:solidFill>
                  <a:schemeClr val="tx2"/>
                </a:solidFill>
              </a:rPr>
              <a:t>A proposed start date and a Gate G0 date</a:t>
            </a:r>
            <a:endParaRPr lang="en-US" sz="1400" dirty="0"/>
          </a:p>
          <a:p>
            <a:pPr marL="342900" indent="-342900">
              <a:spcAft>
                <a:spcPts val="300"/>
              </a:spcAft>
              <a:buSzPct val="100000"/>
              <a:buChar char="•"/>
            </a:pPr>
            <a:r>
              <a:rPr lang="en-US" sz="1350" dirty="0">
                <a:solidFill>
                  <a:schemeClr val="tx2"/>
                </a:solidFill>
              </a:rPr>
              <a:t>Leave with one decision recorded, whatever it is</a:t>
            </a:r>
            <a:endParaRPr lang="en-US" sz="1400" dirty="0"/>
          </a:p>
        </p:txBody>
      </p:sp>
      <p:graphicFrame>
        <p:nvGraphicFramePr>
          <p:cNvPr id="11" name="Deeper"/>
          <p:cNvGraphicFramePr>
            <a:graphicFrameLocks noGrp="1"/>
          </p:cNvGraphicFramePr>
          <p:nvPr>
            <p:extLst>
              <p:ext uri="{D42A27DB-BD31-4B8C-83A1-F6EECF244321}">
                <p14:modId xmlns:p14="http://schemas.microsoft.com/office/powerpoint/2010/main" val="1579011935"/>
              </p:ext>
            </p:extLst>
          </p:nvPr>
        </p:nvGraphicFramePr>
        <p:xfrm>
          <a:off x="6355080" y="1371600"/>
          <a:ext cx="9144000" cy="914400"/>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Go deeper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Start Here page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six-minute case and Episodes 2 to 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charter, and decisions with owners and timing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01, Ch 09 and 12</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Who leads; the roadmap and its gates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Book 03, Ch 02 and 03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HR as the source of authority; Federal HR 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Footnoted">
            <a:extLst>
              <a:ext uri="{C183D7F6-B498-43B3-948B-1728B52AA6E4}">
                <adec:decorative xmlns:adec="http://schemas.microsoft.com/office/drawing/2017/decorative" val="1"/>
              </a:ext>
            </a:extLst>
          </p:cNvPr>
          <p:cNvSpPr/>
          <p:nvPr/>
        </p:nvSpPr>
        <p:spPr>
          <a:xfrm>
            <a:off x="548640" y="4297680"/>
            <a:ext cx="11109960" cy="914400"/>
          </a:xfrm>
          <a:prstGeom prst="roundRect">
            <a:avLst>
              <a:gd name="adj" fmla="val 80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0" name="Icon FaBook">
            <a:extLst>
              <a:ext uri="{C183D7F6-B498-43B3-948B-1728B52AA6E4}">
                <adec:decorative xmlns:adec="http://schemas.microsoft.com/office/drawing/2017/decorative" val="1"/>
              </a:ext>
            </a:extLst>
          </p:cNvPr>
          <p:cNvSpPr/>
          <p:nvPr/>
        </p:nvSpPr>
        <p:spPr>
          <a:xfrm>
            <a:off x="777240" y="4389120"/>
            <a:ext cx="731520" cy="731520"/>
          </a:xfrm>
          <a:prstGeom prst="ellipse">
            <a:avLst/>
          </a:prstGeom>
          <a:solidFill>
            <a:srgbClr val="64748B"/>
          </a:solidFill>
          <a:ln w="12700">
            <a:solidFill>
              <a:srgbClr val="64748B"/>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64685"/>
            <a:ext cx="380390" cy="380390"/>
          </a:xfrm>
          <a:prstGeom prst="rect">
            <a:avLst/>
          </a:prstGeom>
        </p:spPr>
      </p:pic>
      <p:sp>
        <p:nvSpPr>
          <p:cNvPr id="12" name="Footnoted text"/>
          <p:cNvSpPr txBox="1"/>
          <p:nvPr/>
        </p:nvSpPr>
        <p:spPr>
          <a:xfrm>
            <a:off x="1737360" y="4343400"/>
            <a:ext cx="9738360" cy="822960"/>
          </a:xfrm>
          <a:prstGeom prst="rect">
            <a:avLst/>
          </a:prstGeom>
          <a:noFill/>
          <a:ln/>
        </p:spPr>
        <p:txBody>
          <a:bodyPr wrap="square" lIns="0" tIns="0" rIns="0" bIns="0" rtlCol="0" anchor="ctr"/>
          <a:lstStyle/>
          <a:p>
            <a:pPr marL="0" indent="0">
              <a:buNone/>
            </a:pPr>
            <a:r>
              <a:rPr lang="en-US" sz="1650" b="1" dirty="0">
                <a:solidFill>
                  <a:srgbClr val="64748B"/>
                </a:solidFill>
              </a:rPr>
              <a:t>Every claim is footnoted: </a:t>
            </a:r>
            <a:r>
              <a:rPr lang="en-US" sz="1650" dirty="0">
                <a:solidFill>
                  <a:schemeClr val="tx2"/>
                </a:solidFill>
              </a:rPr>
              <a:t>to a primary source in the books. The workbook is independent analysis, not an official publication of any agency.</a:t>
            </a:r>
            <a:endParaRPr lang="en-US" sz="1650" dirty="0"/>
          </a:p>
        </p:txBody>
      </p:sp>
      <p:sp>
        <p:nvSpPr>
          <p:cNvPr id="1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whalermike.github.io/modernization-workbook: the Start Here page and Books 00, 01 and 03. The checklist is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5F81AEFD-E590-ECC5-8D73-36A43AEDAA7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7C1029-D4CB-4F03-974A-B7D1AB83892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650"/>
    </mc:Choice>
    <mc:Fallback>
      <p:transition spd="slow" advTm="34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64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4877</Words>
  <Application>Microsoft Office PowerPoint</Application>
  <PresentationFormat>Widescreen</PresentationFormat>
  <Paragraphs>171</Paragraphs>
  <Slides>10</Slides>
  <Notes>10</Notes>
  <HiddenSlides>0</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Federal Modernization Workbook</vt:lpstr>
      <vt:lpstr>Making the Case at Your Agency</vt:lpstr>
      <vt:lpstr>One page, one decision</vt:lpstr>
      <vt:lpstr>Four local numbers that make it real</vt:lpstr>
      <vt:lpstr>For the CIO: the clocks and the cost</vt:lpstr>
      <vt:lpstr>For the CISO: leavers and account findings</vt:lpstr>
      <vt:lpstr>For the CHCO: HR 2.0 and the contractor source</vt:lpstr>
      <vt:lpstr>For the authorizing official: evidence over attestation</vt:lpstr>
      <vt:lpstr>The decision: an owner, a date and a first gate</vt:lpstr>
      <vt:lpstr>Charter roles: who signs what</vt:lpstr>
      <vt:lpstr>What to bring to the meeting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04 — Making the Case at Your Agency</dc:title>
  <dc:subject>PptxGenJS Presentation</dc:subject>
  <dc:creator>Michael F. Stratton</dc:creator>
  <cp:lastModifiedBy>Michael F. Stratton</cp:lastModifiedBy>
  <cp:revision>2</cp:revision>
  <dcterms:created xsi:type="dcterms:W3CDTF">2026-10-27T10:00:37Z</dcterms:created>
  <dcterms:modified xsi:type="dcterms:W3CDTF">2026-10-29T10:42:08Z</dcterms:modified>
</cp:coreProperties>
</file>