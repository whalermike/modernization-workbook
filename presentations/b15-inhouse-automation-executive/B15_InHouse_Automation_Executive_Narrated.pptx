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case" id="{CFE18D67-7DDC-F306-9A76-16F04C751F0A}">
          <p14:sldIdLst>
            <p14:sldId id="256"/>
            <p14:sldId id="257"/>
            <p14:sldId id="258"/>
          </p14:sldIdLst>
        </p14:section>
        <p14:section name="What we build" id="{C3F337CE-CA4D-8171-E2C5-0E0E0F312FAB}">
          <p14:sldIdLst>
            <p14:sldId id="259"/>
            <p14:sldId id="260"/>
          </p14:sldIdLst>
        </p14:section>
        <p14:section name="How it moves" id="{9E33A58F-1584-78D6-68A0-BEE0232BB8F4}">
          <p14:sldIdLst>
            <p14:sldId id="261"/>
            <p14:sldId id="262"/>
          </p14:sldIdLst>
        </p14:section>
        <p14:section name="Who does it" id="{CAC5CC06-89C4-47E2-43CF-452B451BACC7}">
          <p14:sldIdLst>
            <p14:sldId id="263"/>
            <p14:sldId id="264"/>
          </p14:sldIdLst>
        </p14:section>
        <p14:section name="The decision" id="{F86AE3C4-9640-E223-3223-7BC6597621D6}">
          <p14:sldIdLst>
            <p14:sldId id="265"/>
            <p14:sldId id="266"/>
            <p14:sldId id="267"/>
          </p14:sldIdLst>
        </p14:section>
        <p14:section name="Backup" id="{63C6C90F-A359-C1EC-8B44-7C2A3ECA64E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3954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[0:00–0:47]  Welcome. This briefing from the Federal Modernization Workbook asks one practical question: when there's no money for new products, can our own staff build the day-two automation we need, and do it safely? By day two, I mean the everyday work after a system goes live: the resets, the changes, the fixes, and the proof that they were done right. I'll cover the problem we're trying to fix, why the funded options are off the table, what we can build on the ServiceNow instance we already own, and how artificial intelligence, or AI, can help write the code without cutting corners. Then who does what, the evidence we get out of it, and the honest limits. It ends with one small, low-risk decision to approve.
Detail: A single-topic executive briefing drawn from Book 15 Chapter 13. Audience: a branch chief (or any manager) deciding whether to let existing staff build the day-two compliance application on the ServiceNow instance the agency already owns, when there is no funding for the platform's compliance modules or a commercial identity-governance product. The chapter is program design except where it cites a source; every external fact on these slides is footnoted in the chapter. The workbook is independent analysis, not an official publication of any agency; it names ServiceNow and SailPoint only because they are the platforms its examples use, and endorses neither.
Sources: Book 15, Chapter 13 (introduction).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[0:47–1:33]  Let's start with the problem. A lot of day-two work still runs on email and memory. Someone asks for a change, someone else makes it, and the proof lives in an inbox, if it lives anywhere. The work may well be done right. But when an auditor asks who approved it, when it happened, and whether the fix actually held, there's nothing to show except people's recollections. Even where there is a ticket, a closed ticket only proves somebody did something. It doesn't prove the setting stayed fixed the next day. An assessor wants four things: an owner, a clock, an approval, and a result someone else can check. That's the gap. We do the work, and then we can't prove it.
Detail: Book 15 Chapter 03 sets one front door: email may start intake, but it never approves, verifies a person or closes a record. Chapter 10 lists "requests handled outside the front door: email or chat work that never became a ticket" as a measure the service desk manager watches. Chapter 11's thesis: "A closed ticket proves that someone did some work; an assessed control proves that the work held, and only the second one belongs in front of an authorizing official." Book 13 Chapter 10's evidence model for every routine change is an owner, a clock, an approval and a re-test result that someone other than the actor can check; native consoles change state but don't hold that record. The slide describes a common pattern generically; it makes no claim about any particular agency.
Sources: Book 15, Chapters 03, 10 and 11; Book 13, Chapter 10.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[1:33–2:17]  The usual answer is to buy our way out. ServiceNow sells compliance and continuous-authorization applications that do much of this, and identity-governance products such as SailPoint run access reviews and a lot more. Microsoft has its own governance features too. But ServiceNow's own documentation lists those compliance applications as separate subscriptions, on top of what we already pay. An identity-governance product is another purchase again, and Microsoft's features need their own licensing. If the answer on funding is no, we have two choices. We can leave the design on paper and keep doing things by email, or we can build the essential pieces ourselves on what we already own. This briefing is about the second choice, done carefully.
Detail: Chapter 11 recommends buying ServiceNow's native applications first and building only what they lack. Chapter 13 notes the cost of that route. ServiceNow's documentation (Zurich release) says the Policy and Compliance Management plugin, com.sn_compliance, "is available as a separate subscription and requires activation," and that the Continuous Authorization and Monitoring plugin, com.sn_irm_cont_auth_monitor, "is available as a separate subscription." A commercial identity-governance product such as SailPoint Identity Security Cloud is a further purchase. Microsoft's access reviews and lifecycle workflows need Entra ID Governance licensing (Book 04 Chapter 09). No prices are given because none were verified from a primary source.
Sources: Book 15, Chapters 11 and 13; Book 04, Chapter 09.</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[2:17–3:07]  So what can staff actually build? A small application inside the ServiceNow instance we already license, using features that come with it, like its tables, scripts, workflows and test tools. It records each finding, matches it to the right asset in the configuration management database, and only closes work when a fresh check shows the fix held. What it won't do is replace a commercial product. No large-scale review campaigns, no library of connectors, no machine-learning role suggestions, no vendor support line. We should write that down up front so nobody expects more later. And we don't start from scratch. An infrastructure team that already writes its own ServiceNow scripts can lend us its conventions, its test instance and its reviewers, and we can lend ours back. Neither team approves its own work.
Detail: Chapter 13: the build is Chapter 11's scoped application, using platform features that come with the instance (tables, server-side scripts, outbound REST messages, Flow Designer, the MID Server, the Automated Test Framework and update sets) rather than the separately licensed modules. It contains: custom tables extending Task for findings, control tests and POA&amp;M items; ingest, reconcile and gate scripts; the control map as data, checked in continuous integration; scheduled control tests and an export in the evidence pipeline's shape; and the read-only HR-to-Graph drift reconciliation and re-read-before-close rule from the workbook's ServiceNow and SailPoint example, which write nothing into Entra ID. What it doesn't replace (program assessment): SailPoint's certifications, where "designated people, such as managers or system owners," review users' access; its role discovery, which uses "a patented network graph analysis"; connector libraries; a separation-of-duties engine; vendor support and authorization. Limits: it covers the agency's own day-two loop, depends on its authors (so document it and keep a second maintainer), and must be retested on every platform upgrade. The sister-team model is program design, described generically: neither team approves its own changes.
Sources: Book 15, Chapter 13 (The no-cost path) and Chapter 11 (The compliance application, if you build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[3:07–3:57]  AI coding assistants can draft these scripts in seconds. The catch is that they can draft mistakes just as fast, and they sound confident either way. So the rules are simple. First, use only tools the agency has approved under its AI policy, which the Office of Management and Budget's memo M-25-21 asks every agency to have. Second, never put real data, passwords, or secrets into a prompt; we use made-up examples instead. Third, a named person reads every line before it's accepted. NIST, the National Institute of Standards and Technology, takes the same position: AI-written code is reviewed exactly like code a person wrote. And because assistants sometimes invent functions that don't exist, every platform call gets checked against the vendor's documentation. "The AI wrote it" is never a reason to accept a line.
Detail: OMB M-25-21, Accelerating Federal Use of AI through Innovation, Governance, and Public Trust, April 3, 2025, rescinds and replaces M-24-10 and is the current OMB memo on agency AI use as of October 2026. Section 3(b)(iv): within 270 days agencies "should develop a policy that sets the terms for acceptable use of generative AI for their missions and establishes adequate safeguards and oversight mechanisms." Section 3(a)(i): each agency designates a Chief AI Officer who promotes AI adoption "through a governance and oversight process" and maintains the AI use case inventory; Section 3(b)(v): inventories at least annually. Section 4(a): AI is high-impact "when its output serves as a principal basis for decisions or actions that have a legal, material, binding, or significant effect on rights or safety." The program's reading, which the Chief AI Officer decides, is that a coding assistant whose every line is reviewed isn't that principal basis. NIST SP 800-218A (July 2024): its practices "do not distinguish between human-written and AI-generated source code, because it is assumed that all source code should be evaluated for vulnerabilities and other issues before use." SSDF task PW.4.4: verify that acquired third-party components "comply with the requirements, as defined by the organization." M-26-05 (January 23, 2026) rescinded M-22-18 and M-23-16 and names SP 800-218 as a reference, so the SSDF is adopted by agency policy rather than attested. The seven rules are program design.
Sources: Book 15, Chapter 13 (The policy the agency's tools sit under; The rules).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[3:57–4:45]  Here's how the code moves. It starts in a developer sandbox that holds only made-up data. ServiceNow gives developers these sandboxes free, but they belong to the vendor, so nothing real ever goes in one. Before code leaves the sandbox, a reviewer who didn't write it reads every line, and that's the first gate. Then it moves to our own test instance, where automated tests run and the results are attached. The second gate is the change advisory board, which approves the move to production like any other change. Once it's approved, someone other than the author puts it in. If a test fails along the way, the fix goes back to the sandbox and starts again. Nobody moves their own code, and nothing skips a gate.
Detail: ServiceNow documentation: the developer program is free, and PDIs "cannot be clone targets or clone sources for customer or partner instances" because they belong to ServiceNow, so the program allows only synthetic data in one. ServiceNow's developer blog (July 10, 2026): a PDI 90 days or older with no explicit login in the past 10 days is eligible for reclamation; export update sets and connect scoped apps to source control. Source control integration lets developers "save and manage multiple versions of a global or scoped application from a non-production instance" and "does not support managing applications on a production instance." Update sets: "Move update sets from dev to test and then from test to production"; "Never migrate the same update set from multiple sources"; set the completed update set on production to Ignore. ATF: the execution property is disabled by default "to prevent you from accidentally running them on a production system"; "Run tests only on development, test, and other non-production instances." Gate 1: a named reviewer reads the whole change against the secure coding standard and records findings (SSDF PW.7.1, PW.7.2). Gate 2: a normal change with a security impact analysis and ATF results, authorized by the change advisory board; changes to approval rules, routing or integration permissions are never standard changes (Chapter 10). Defects are fixed in the sandbox in a new update set, never patched in place.
Sources: Book 15, Chapter 13 (Sandbox to production under a standard SDLC).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[4:45–5:27]  None of this is invented for the occasion. It's the standard software development life cycle that our existing security controls already expect. Changes are reviewed and approved before they're made. They're tested before they're finalized. The person who writes the code isn't the person who approves it or deploys it. And NIST's Secure Software Development Framework gives us the review and testing practices to follow, along with a companion profile written for generative AI. So walking this path means meeting requirements we already have, not taking on new ones. It also means that if an assessor asks how we control our own code, we can point to the same controls they already know.
Detail: Control text from the SP 800-53 Rev. 5 release 5.2.0 catalog; baselines from the SP 800-53B profiles. CM-3: review proposed changes and approve or disapprove them "with explicit consideration for security and privacy impact analyses," document decisions, implement only approved changes, retain records. CM-3(2): "Test, validate, and document changes to the system before finalizing the implementation of the changes." CM-4 and CM-5 are in all three baselines; AC-5, CM-3, CM-3(2), SA-10, SA-11 and SA-15 are in Moderate and High; CM-4(1), separate test environments, is High only and the program adopts it as design. SA-11 asks the developer to "produce evidence of the execution of the assessment plan and the results of the testing and evaluation." SA-10, SA-11 and SA-15 are written for "the developer"; when agency staff build the application the program reads the agency as the developer. SSDF Version 1.1 (SP 800-218, February 2022) is the current final version; SP 800-218 Rev. 1 (Version 1.2) was released as a draft on December 17, 2025 and was still a draft in October 2026. SP 800-218A (July 2024) is the generative-AI community profile; its scope is AI model development, and an agency using an approved assistant is in its "AI system acquirers" audience. Its considerations include human-in-the-loop review of security checks (PO.4) and keeping an AI model out of a critical security decision path without a human (PW.1).
Sources: Book 15, Chapter 13 (The controls behind the path; The SSDF and its generative-AI profile).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[5:27–6:14]  So who does what? Developers on our own staff write the code. A different, qualified reviewer approves each change. The change advisory board approves the move to production. The security officer sets the coding rules, and the agency's Chief AI Officer decides which AI tools are approved. The point is that no one person writes, approves, and deploys. And we train the people we already have rather than hiring. They start in a free developer sandbox, learn our rules before they touch real work, and pair up with experienced platform developers for their first few changes. After that, they can qualify as reviewers themselves. Every piece should have at least two people who can maintain it, so the application never depends on one person.
Detail: Chapter 13 adds rows to Chapter 10's responsibility matrix (program design). Approved AI assistants: the Chief AI Officer decides, because M-25-21 makes that office responsible for the agency's AI governance and oversight process and its use case inventory. Secure coding standard and AI rules: the CISO decides; the ITSM platform team writes it. Design of a new integration, identity or table: the system owner decides. Code review: the reviewer decides, not the developer's supervisor, who is the person most likely to wave a change through under schedule pressure. Change authorization: the change advisory board. Production commit: an implementer, not the author. Connector identity permissions: the CISO. Whether the build changes the instance's authorization: the authorizing official. Training (program design): platform fundamentals in a free PDI; the agency's process before its code; paired work with the sister team; reviewer qualification after supervised reviews; AI-assistant training on what never goes in a prompt. M-25-21 Section 2(e)(i) tells agencies to leverage AI training "to strengthen the technical skills of staff in AI and AI-enabling roles"; SSDF PO.2.2 asks for role-based training and periodic proficiency review. The curriculum fits Book 16's implementation track.
Sources: Book 15, Chapter 13 (Staffing and skills); Chapter 10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[6:14–7:02]  This is the part I most want you to see. Every gate leaves a record behind: the review and who did it, the test results, the change approval, and who deployed the change. Together, those records are the audit evidence, and we get them as a by-product of doing the work properly, not by assembling a binder before an assessment. When an assessor asks how we know our own code does what we claim, the answer is a report we can pull, not a story we have to tell. And the application's own output, its control tests and its closed findings, joins the same evidence trail as everything else. The assessor shouldn't be able to tell, or need to care, whether the code was bought or built.
Detail: Chapter 13: an in-house build has to make its own assurances, and the development path makes them as a by-product. The review record maps to AC-5 and SSDF PW.7; the ATF results to CM-3(2) and SA-11; the update set and commit to SA-10; the change record to CM-3 and CM-4; the production commit by an implementer to CM-5. These records fit Book 13 Chapter 10's model for every routine change: an owner, a clock, an approval and a result someone other than the actor can check. A change to the compliance application is a ticket like any other, and its closure carries the review, test results and change record as proof (Book 13 Appendix B). CM-3 asks for change records to be retained; SA-11 asks the developer to "produce evidence of the execution of the assessment plan and the results of the testing and evaluation." The application's own control tests, POA&amp;M items and closures are written in the evidence contract's record shape (Chapter 11), so the authorization package needn't know whether the code was bought or built.
Sources: Book 15, Chapter 13 (Evidence); Book 13, Chapter 10 and Appendix 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[7:02–7:42]  Now the honest limits. This isn't free. It moves the cost from a license line to staff time, including retesting every time the platform is upgraded. It doesn't replace a full identity-governance product, and if our needs grow, this buys time rather than removing the need. Review is only as good as the reviewer, and AI can produce confident, wrong code, so small changes and a reviewer's right to say no really matter. The federal AI policy and the NIST guidance are both still moving, so we'll need to recheck them. And the developer sandbox belongs to the vendor, outside our boundary, so it only ever holds made-up data.
Detail: Chapter 13's honest limits. Not free: developer and reviewer time, sub-production capacity and retesting on every platform upgrade are real costs, paid from existing staff time; leadership should see that trade stated plainly. Not an identity-governance product: the build buys time if needs grow into certifications, connectors, role discovery or provisioning; it doesn't remove the need. Review: a tired reviewer approving a long AI-drafted change is the weakest point; small changes, listed reviewers and a reviewer's right to send a change back are the guards, none a guarantee. AI: invented APIs, insecure defaults and confident but wrong logic are the usual failures. Moving targets: M-25-21 is the current OMB memo on agency AI use as of October 2026; SSDF Version 1.2 is still a draft; platform facts (PDI rules, source control behavior, ATF guidance) are dated to the instance's release. The PDI belongs to ServiceNow and sits outside the agency's boundary.
Sources: Book 15, Chapter 13 (Honest limits).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[7:42–8:30]  So here's the ask. Approve a small pilot in a developer instance. Made-up data only. One or two staff, trained on the rules first. An approved AI tool, and a named reviewer who isn't the author. And one component: the check that refuses to close a piece of work until a fresh read proves the fix held. The code goes into an agency repository from day one. At the end of the pilot, we come back with the code, the test results, the review records, and an honest list of what failed review. Then you decide whether it moves to our test instance, through a normal change. It's small, it's reversible, it needs no new money, and it shows you the evidence before anyone commits to more.
Detail: The ask is design guidance drawn from Chapter 13, not a federal requirement. Pilot scope: a Personal Developer Instance or agency development instance with synthetic data only (a PDI belongs to ServiceNow and sits outside the agency's boundary); one or two existing staff who have been taught the secure coding standard and the AI rules first; one assistant approved under the agency's generative AI policy; a named reviewer who isn't the author; code in an agency-owned repository from the first day, because PDIs are reclaimed after inactivity. The component is the gate from Chapter 11 and the workbook's ServiceNow and SailPoint example: a business rule that turns any attempt to close a finding into "awaiting verification" unless the update carries re-read evidence from the verifier account. Exit: the code, its review records, passing ATF suites, a list of what failed review (including AI-drafted errors), and a go or no-go for moving to sub-production. Moving to sub-production is a normal change through the change advisory board, and connecting to any real tenant needs the CISO's decision on the connector identity's permissions. Owner: the branch chief (or the manager who owns the staff's time), with the ISSO consulted.
Sources: Book 15, Chapter 13 (Sandbox to production; Staffing and skills) and Chapter 11 (The compliance application).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[8:30–8:50]  Everything in this briefing comes from Book 15, Chapter 13 of the Federal Modernization Workbook, and every source is footnoted there. Chapter 11 describes the compliance application itself, Chapter 10 covers who runs day two, and the workbook's ServiceNow example is a tested starting point for the pilot. Thank you for your time.
Detail: Where to go next: Book 15 Chapter 13 (this briefing in full); Chapter 11 (the compliance application, attestation and the evidence pipeline); Chapter 10 (who runs day two); Book 13 Chapter 10 (ticket to machine); the workbook's examples/servicenow-sailpoint kit (illustrative, unit-tested against mocked responses, not yet proven against live tenants). The site is independent analysis, not an official government publication; no agency reviewed or endorsed it.
Sources: Book 15, Chapters 10, 11 and 13; Book 13, Chapter 10.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Book 15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2.xml"/><Relationship Id="rId7" Type="http://schemas.microsoft.com/office/2017/04/relationships/track" Target="../media/captions_slide1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Building Day-Two Automation In-House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Executive briefing  ·  Book 15 — Compliance Automation &amp; Day-2 Operations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NO NEW MONEY, NO SHORTCUTS  ·  ABOUT 9 MINUTES</a:t>
            </a:r>
            <a:endParaRPr lang="en-US" sz="1500" dirty="0"/>
          </a:p>
          <a:p>
            <a:pPr marL="0" indent="0">
              <a:spcAft>
                <a:spcPts val="200"/>
              </a:spcAft>
              <a:buNone/>
            </a:pPr>
            <a:r>
              <a:rPr lang="en-US" sz="1500" dirty="0">
                <a:solidFill>
                  <a:srgbClr val="334155"/>
                </a:solidFill>
              </a:rPr>
              <a:t>The problem  ·  Why buying is off the table  ·  What we can build  ·  AI with guardrails</a:t>
            </a:r>
            <a:endParaRPr lang="en-US" sz="1500" dirty="0"/>
          </a:p>
          <a:p>
            <a:pPr marL="0" indent="0">
              <a:spcAft>
                <a:spcPts val="200"/>
              </a:spcAft>
              <a:buNone/>
            </a:pPr>
            <a:r>
              <a:rPr lang="en-US" sz="1500" dirty="0">
                <a:solidFill>
                  <a:srgbClr val="334155"/>
                </a:solidFill>
              </a:rPr>
              <a:t>Sandbox to production  ·  Who does what  ·  The evidence  ·  Limits  ·  The decision</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(Building Day-Two Automation In-House), with Ch 10 and 11. Facts as of October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9A713617-06D0-A81B-6115-EC35840EC3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EB6EF0-61E5-4EA4-85C7-E751C0D36C9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000"/>
    </mc:Choice>
    <mc:Fallback>
      <p:transition spd="slow" advTm="46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problem: procedures that leave no evidence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Today">
            <a:extLst>
              <a:ext uri="{C183D7F6-B498-43B3-948B-1728B52AA6E4}">
                <adec:decorative xmlns:adec="http://schemas.microsoft.com/office/drawing/2017/decorative" val="1"/>
              </a:ext>
            </a:extLst>
          </p:cNvPr>
          <p:cNvSpPr/>
          <p:nvPr/>
        </p:nvSpPr>
        <p:spPr>
          <a:xfrm>
            <a:off x="548640" y="1371600"/>
            <a:ext cx="5394960" cy="2834640"/>
          </a:xfrm>
          <a:prstGeom prst="roundRect">
            <a:avLst>
              <a:gd name="adj" fmla="val 258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Today head"/>
          <p:cNvSpPr txBox="1"/>
          <p:nvPr/>
        </p:nvSpPr>
        <p:spPr>
          <a:xfrm>
            <a:off x="731520" y="1481328"/>
            <a:ext cx="5029200" cy="640080"/>
          </a:xfrm>
          <a:prstGeom prst="rect">
            <a:avLst/>
          </a:prstGeom>
          <a:noFill/>
          <a:ln/>
        </p:spPr>
        <p:txBody>
          <a:bodyPr wrap="square" lIns="0" tIns="0" rIns="0" bIns="0" rtlCol="0" anchor="t"/>
          <a:lstStyle/>
          <a:p>
            <a:pPr marL="0" indent="0">
              <a:buNone/>
            </a:pPr>
            <a:r>
              <a:rPr lang="en-US" sz="1100" b="1" dirty="0">
                <a:solidFill>
                  <a:srgbClr val="64748B"/>
                </a:solidFill>
              </a:rPr>
              <a:t>TODAY</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Done, but not provable</a:t>
            </a:r>
            <a:endParaRPr lang="en-US" sz="1400" dirty="0"/>
          </a:p>
        </p:txBody>
      </p:sp>
      <p:sp>
        <p:nvSpPr>
          <p:cNvPr id="7" name="Today list"/>
          <p:cNvSpPr txBox="1"/>
          <p:nvPr/>
        </p:nvSpPr>
        <p:spPr>
          <a:xfrm>
            <a:off x="731520" y="2121408"/>
            <a:ext cx="5074920" cy="20116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rPr>
              <a:t>Requests arrive by email or chat and never become a ticket</a:t>
            </a:r>
            <a:endParaRPr lang="en-US" sz="1400" dirty="0"/>
          </a:p>
          <a:p>
            <a:pPr marL="342900" indent="-342900">
              <a:spcAft>
                <a:spcPts val="300"/>
              </a:spcAft>
              <a:buSzPct val="100000"/>
              <a:buChar char="•"/>
            </a:pPr>
            <a:r>
              <a:rPr lang="en-US" sz="1400" dirty="0">
                <a:solidFill>
                  <a:schemeClr val="tx2"/>
                </a:solidFill>
              </a:rPr>
              <a:t>Approval, if any, sits in an inbox</a:t>
            </a:r>
            <a:endParaRPr lang="en-US" sz="1400" dirty="0"/>
          </a:p>
          <a:p>
            <a:pPr marL="342900" indent="-342900">
              <a:spcAft>
                <a:spcPts val="300"/>
              </a:spcAft>
              <a:buSzPct val="100000"/>
              <a:buChar char="•"/>
            </a:pPr>
            <a:r>
              <a:rPr lang="en-US" sz="1400" dirty="0">
                <a:solidFill>
                  <a:schemeClr val="tx2"/>
                </a:solidFill>
              </a:rPr>
              <a:t>A closed ticket says someone did some work</a:t>
            </a:r>
            <a:endParaRPr lang="en-US" sz="1400" dirty="0"/>
          </a:p>
          <a:p>
            <a:pPr marL="342900" indent="-342900">
              <a:spcAft>
                <a:spcPts val="300"/>
              </a:spcAft>
              <a:buSzPct val="100000"/>
              <a:buChar char="•"/>
            </a:pPr>
            <a:r>
              <a:rPr lang="en-US" sz="1400" dirty="0">
                <a:solidFill>
                  <a:schemeClr val="tx2"/>
                </a:solidFill>
              </a:rPr>
              <a:t>Nobody re-checks that the fix held</a:t>
            </a:r>
            <a:endParaRPr lang="en-US" sz="1400" dirty="0"/>
          </a:p>
        </p:txBody>
      </p:sp>
      <p:sp>
        <p:nvSpPr>
          <p:cNvPr id="8" name="Needed">
            <a:extLst>
              <a:ext uri="{C183D7F6-B498-43B3-948B-1728B52AA6E4}">
                <adec:decorative xmlns:adec="http://schemas.microsoft.com/office/drawing/2017/decorative" val="1"/>
              </a:ext>
            </a:extLst>
          </p:cNvPr>
          <p:cNvSpPr/>
          <p:nvPr/>
        </p:nvSpPr>
        <p:spPr>
          <a:xfrm>
            <a:off x="6263640" y="1371600"/>
            <a:ext cx="5394960" cy="2834640"/>
          </a:xfrm>
          <a:prstGeom prst="roundRect">
            <a:avLst>
              <a:gd name="adj" fmla="val 258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Needed head"/>
          <p:cNvSpPr txBox="1"/>
          <p:nvPr/>
        </p:nvSpPr>
        <p:spPr>
          <a:xfrm>
            <a:off x="6446520" y="1481328"/>
            <a:ext cx="5029200" cy="640080"/>
          </a:xfrm>
          <a:prstGeom prst="rect">
            <a:avLst/>
          </a:prstGeom>
          <a:noFill/>
          <a:ln/>
        </p:spPr>
        <p:txBody>
          <a:bodyPr wrap="square" lIns="0" tIns="0" rIns="0" bIns="0" rtlCol="0" anchor="t"/>
          <a:lstStyle/>
          <a:p>
            <a:pPr marL="0" indent="0">
              <a:buNone/>
            </a:pPr>
            <a:r>
              <a:rPr lang="en-US" sz="1100" b="1" dirty="0">
                <a:solidFill>
                  <a:srgbClr val="64748B"/>
                </a:solidFill>
              </a:rPr>
              <a:t>WHAT AN ASSESSOR ASKS</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Owner, clock, approval, result</a:t>
            </a:r>
            <a:endParaRPr lang="en-US" sz="1400" dirty="0"/>
          </a:p>
        </p:txBody>
      </p:sp>
      <p:sp>
        <p:nvSpPr>
          <p:cNvPr id="10" name="Needed list"/>
          <p:cNvSpPr txBox="1"/>
          <p:nvPr/>
        </p:nvSpPr>
        <p:spPr>
          <a:xfrm>
            <a:off x="6446520" y="2121408"/>
            <a:ext cx="5074920" cy="20116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rPr>
              <a:t>Who asked, and who approved it?</a:t>
            </a:r>
            <a:endParaRPr lang="en-US" sz="1400" dirty="0"/>
          </a:p>
          <a:p>
            <a:pPr marL="342900" indent="-342900">
              <a:spcAft>
                <a:spcPts val="300"/>
              </a:spcAft>
              <a:buSzPct val="100000"/>
              <a:buChar char="•"/>
            </a:pPr>
            <a:r>
              <a:rPr lang="en-US" sz="1400" dirty="0">
                <a:solidFill>
                  <a:schemeClr val="tx2"/>
                </a:solidFill>
              </a:rPr>
              <a:t>When was it done, and by whom?</a:t>
            </a:r>
            <a:endParaRPr lang="en-US" sz="1400" dirty="0"/>
          </a:p>
          <a:p>
            <a:pPr marL="342900" indent="-342900">
              <a:spcAft>
                <a:spcPts val="300"/>
              </a:spcAft>
              <a:buSzPct val="100000"/>
              <a:buChar char="•"/>
            </a:pPr>
            <a:r>
              <a:rPr lang="en-US" sz="1400" dirty="0">
                <a:solidFill>
                  <a:schemeClr val="tx2"/>
                </a:solidFill>
              </a:rPr>
              <a:t>Did a fresh read show the condition gone?</a:t>
            </a:r>
            <a:endParaRPr lang="en-US" sz="1400" dirty="0"/>
          </a:p>
          <a:p>
            <a:pPr marL="342900" indent="-342900">
              <a:spcAft>
                <a:spcPts val="300"/>
              </a:spcAft>
              <a:buSzPct val="100000"/>
              <a:buChar char="•"/>
            </a:pPr>
            <a:r>
              <a:rPr lang="en-US" sz="1400" dirty="0">
                <a:solidFill>
                  <a:schemeClr val="tx2"/>
                </a:solidFill>
              </a:rPr>
              <a:t>Can someone other than the actor check it?</a:t>
            </a:r>
            <a:endParaRPr lang="en-US" sz="1400" dirty="0"/>
          </a:p>
        </p:txBody>
      </p:sp>
      <p:sp>
        <p:nvSpPr>
          <p:cNvPr id="11" name="Gap">
            <a:extLst>
              <a:ext uri="{C183D7F6-B498-43B3-948B-1728B52AA6E4}">
                <adec:decorative xmlns:adec="http://schemas.microsoft.com/office/drawing/2017/decorative" val="1"/>
              </a:ext>
            </a:extLst>
          </p:cNvPr>
          <p:cNvSpPr/>
          <p:nvPr/>
        </p:nvSpPr>
        <p:spPr>
          <a:xfrm>
            <a:off x="548640" y="4434840"/>
            <a:ext cx="11109960" cy="1325880"/>
          </a:xfrm>
          <a:prstGeom prst="roundRect">
            <a:avLst>
              <a:gd name="adj" fmla="val 55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473202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07585"/>
            <a:ext cx="380390" cy="380390"/>
          </a:xfrm>
          <a:prstGeom prst="rect">
            <a:avLst/>
          </a:prstGeom>
        </p:spPr>
      </p:pic>
      <p:sp>
        <p:nvSpPr>
          <p:cNvPr id="14" name="Gap text"/>
          <p:cNvSpPr txBox="1"/>
          <p:nvPr/>
        </p:nvSpPr>
        <p:spPr>
          <a:xfrm>
            <a:off x="1737360" y="4480560"/>
            <a:ext cx="9738360" cy="1234440"/>
          </a:xfrm>
          <a:prstGeom prst="rect">
            <a:avLst/>
          </a:prstGeom>
          <a:noFill/>
          <a:ln/>
        </p:spPr>
        <p:txBody>
          <a:bodyPr wrap="square" lIns="0" tIns="0" rIns="0" bIns="0" rtlCol="0" anchor="ctr"/>
          <a:lstStyle/>
          <a:p>
            <a:pPr marL="0" indent="0">
              <a:buNone/>
            </a:pPr>
            <a:r>
              <a:rPr lang="en-US" sz="1650" b="1" dirty="0">
                <a:solidFill>
                  <a:srgbClr val="B45309"/>
                </a:solidFill>
              </a:rPr>
              <a:t>The gap: </a:t>
            </a:r>
            <a:r>
              <a:rPr lang="en-US" sz="1650" dirty="0">
                <a:solidFill>
                  <a:schemeClr val="tx2"/>
                </a:solidFill>
              </a:rPr>
              <a:t>a closed ticket proves somebody did some work; an assessed control proves the work held. Only the second goes in front of an authorizing official.</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03 (one front door), Ch 10 (requests handled outside the front door), Ch 11 (opening thesis); Book 13, Ch 10 (ticket to machine).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6258BD5-F3C8-DFEE-FE98-361DAC3A08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619F9FF-3E1B-4399-BBBD-F27518D0687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740"/>
    </mc:Choice>
    <mc:Fallback>
      <p:transition spd="slow" advTm="42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funded options are off the table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Op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Option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gives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Why it's closed here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ServiceNow Policy and Compliance Management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Control records, scheduled tests, issues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separate subscription, requiring activation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ServiceNow Continuous Authorization and Monitoring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RMF workflow, POA&amp;M view, OSCAL export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separate subscription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commercial identity-governance product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Certification campaigns, connectors, role discovery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further product purchase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Microsoft Entra ID Governance features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Access reviews, lifecycle workflows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Needs Entra ID Governance licensing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hoice">
            <a:extLst>
              <a:ext uri="{C183D7F6-B498-43B3-948B-1728B52AA6E4}">
                <adec:decorative xmlns:adec="http://schemas.microsoft.com/office/drawing/2017/decorative" val="1"/>
              </a:ext>
            </a:extLst>
          </p:cNvPr>
          <p:cNvSpPr/>
          <p:nvPr/>
        </p:nvSpPr>
        <p:spPr>
          <a:xfrm>
            <a:off x="548640" y="4434840"/>
            <a:ext cx="11109960" cy="1325880"/>
          </a:xfrm>
          <a:prstGeom prst="roundRect">
            <a:avLst>
              <a:gd name="adj" fmla="val 551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73202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07585"/>
            <a:ext cx="380390" cy="380390"/>
          </a:xfrm>
          <a:prstGeom prst="rect">
            <a:avLst/>
          </a:prstGeom>
        </p:spPr>
      </p:pic>
      <p:sp>
        <p:nvSpPr>
          <p:cNvPr id="9" name="Choice text"/>
          <p:cNvSpPr txBox="1"/>
          <p:nvPr/>
        </p:nvSpPr>
        <p:spPr>
          <a:xfrm>
            <a:off x="1737360" y="4480560"/>
            <a:ext cx="9738360" cy="1234440"/>
          </a:xfrm>
          <a:prstGeom prst="rect">
            <a:avLst/>
          </a:prstGeom>
          <a:noFill/>
          <a:ln/>
        </p:spPr>
        <p:txBody>
          <a:bodyPr wrap="square" lIns="0" tIns="0" rIns="0" bIns="0" rtlCol="0" anchor="ctr"/>
          <a:lstStyle/>
          <a:p>
            <a:pPr marL="0" indent="0">
              <a:buNone/>
            </a:pPr>
            <a:r>
              <a:rPr lang="en-US" sz="1650" b="1" dirty="0">
                <a:solidFill>
                  <a:srgbClr val="1F2A44"/>
                </a:solidFill>
              </a:rPr>
              <a:t>Two choices: </a:t>
            </a:r>
            <a:r>
              <a:rPr lang="en-US" sz="1650" dirty="0">
                <a:solidFill>
                  <a:schemeClr val="tx2"/>
                </a:solidFill>
              </a:rPr>
              <a:t>leave the day-two design on paper, or build the essential joins on the instance the agency already pays for.</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(What the native route costs) and Ch 11 (What ServiceNow already provides); Book 04, Ch 09 (Licensing). ServiceNow documentation.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3119B79E-E493-7C8D-9FE2-F83924435B4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B005DE0-9D25-437C-9876-ED9E9F1F645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180"/>
    </mc:Choice>
    <mc:Fallback>
      <p:transition spd="slow" advTm="47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1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no-cost path on the instance we already own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Build">
            <a:extLst>
              <a:ext uri="{C183D7F6-B498-43B3-948B-1728B52AA6E4}">
                <adec:decorative xmlns:adec="http://schemas.microsoft.com/office/drawing/2017/decorative" val="1"/>
              </a:ext>
            </a:extLst>
          </p:cNvPr>
          <p:cNvSpPr/>
          <p:nvPr/>
        </p:nvSpPr>
        <p:spPr>
          <a:xfrm>
            <a:off x="548640" y="1371600"/>
            <a:ext cx="5394960" cy="3246120"/>
          </a:xfrm>
          <a:prstGeom prst="roundRect">
            <a:avLst>
              <a:gd name="adj" fmla="val 225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Build head"/>
          <p:cNvSpPr txBox="1"/>
          <p:nvPr/>
        </p:nvSpPr>
        <p:spPr>
          <a:xfrm>
            <a:off x="731520" y="1481328"/>
            <a:ext cx="5029200" cy="640080"/>
          </a:xfrm>
          <a:prstGeom prst="rect">
            <a:avLst/>
          </a:prstGeom>
          <a:noFill/>
          <a:ln/>
        </p:spPr>
        <p:txBody>
          <a:bodyPr wrap="square" lIns="0" tIns="0" rIns="0" bIns="0" rtlCol="0" anchor="t"/>
          <a:lstStyle/>
          <a:p>
            <a:pPr marL="0" indent="0">
              <a:buNone/>
            </a:pPr>
            <a:r>
              <a:rPr lang="en-US" sz="1100" b="1" dirty="0">
                <a:solidFill>
                  <a:srgbClr val="64748B"/>
                </a:solidFill>
              </a:rPr>
              <a:t>WHAT STAFF CAN BUILD</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A scoped application, nothing larger</a:t>
            </a:r>
            <a:endParaRPr lang="en-US" sz="1400" dirty="0"/>
          </a:p>
        </p:txBody>
      </p:sp>
      <p:sp>
        <p:nvSpPr>
          <p:cNvPr id="7" name="Build list"/>
          <p:cNvSpPr txBox="1"/>
          <p:nvPr/>
        </p:nvSpPr>
        <p:spPr>
          <a:xfrm>
            <a:off x="731520" y="2121408"/>
            <a:ext cx="5074920" cy="24231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Its own records for findings, tests and POA&amp;M items</a:t>
            </a:r>
            <a:endParaRPr lang="en-US" sz="1400" dirty="0"/>
          </a:p>
          <a:p>
            <a:pPr marL="342900" indent="-342900">
              <a:spcAft>
                <a:spcPts val="300"/>
              </a:spcAft>
              <a:buSzPct val="100000"/>
              <a:buChar char="•"/>
            </a:pPr>
            <a:r>
              <a:rPr lang="en-US" sz="1350" dirty="0">
                <a:solidFill>
                  <a:schemeClr val="tx2"/>
                </a:solidFill>
              </a:rPr>
              <a:t>Match each finding to the right CMDB asset</a:t>
            </a:r>
            <a:endParaRPr lang="en-US" sz="1400" dirty="0"/>
          </a:p>
          <a:p>
            <a:pPr marL="342900" indent="-342900">
              <a:spcAft>
                <a:spcPts val="300"/>
              </a:spcAft>
              <a:buSzPct val="100000"/>
              <a:buChar char="•"/>
            </a:pPr>
            <a:r>
              <a:rPr lang="en-US" sz="1350" dirty="0">
                <a:solidFill>
                  <a:schemeClr val="tx2"/>
                </a:solidFill>
              </a:rPr>
              <a:t>Close work only when a re-read proves the fix</a:t>
            </a:r>
            <a:endParaRPr lang="en-US" sz="1400" dirty="0"/>
          </a:p>
          <a:p>
            <a:pPr marL="342900" indent="-342900">
              <a:spcAft>
                <a:spcPts val="300"/>
              </a:spcAft>
              <a:buSzPct val="100000"/>
              <a:buChar char="•"/>
            </a:pPr>
            <a:r>
              <a:rPr lang="en-US" sz="1350" dirty="0">
                <a:solidFill>
                  <a:schemeClr val="tx2"/>
                </a:solidFill>
              </a:rPr>
              <a:t>Load the control map as data, and check it</a:t>
            </a:r>
            <a:endParaRPr lang="en-US" sz="1400" dirty="0"/>
          </a:p>
          <a:p>
            <a:pPr marL="342900" indent="-342900">
              <a:spcAft>
                <a:spcPts val="300"/>
              </a:spcAft>
              <a:buSzPct val="100000"/>
              <a:buChar char="•"/>
            </a:pPr>
            <a:r>
              <a:rPr lang="en-US" sz="1350" dirty="0">
                <a:solidFill>
                  <a:schemeClr val="tx2"/>
                </a:solidFill>
              </a:rPr>
              <a:t>Read-only identity drift checks, no IGA product</a:t>
            </a:r>
            <a:endParaRPr lang="en-US" sz="1400" dirty="0"/>
          </a:p>
        </p:txBody>
      </p:sp>
      <p:sp>
        <p:nvSpPr>
          <p:cNvPr id="8" name="Not">
            <a:extLst>
              <a:ext uri="{C183D7F6-B498-43B3-948B-1728B52AA6E4}">
                <adec:decorative xmlns:adec="http://schemas.microsoft.com/office/drawing/2017/decorative" val="1"/>
              </a:ext>
            </a:extLst>
          </p:cNvPr>
          <p:cNvSpPr/>
          <p:nvPr/>
        </p:nvSpPr>
        <p:spPr>
          <a:xfrm>
            <a:off x="6263640" y="1371600"/>
            <a:ext cx="5394960" cy="3246120"/>
          </a:xfrm>
          <a:prstGeom prst="roundRect">
            <a:avLst>
              <a:gd name="adj" fmla="val 225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Not head"/>
          <p:cNvSpPr txBox="1"/>
          <p:nvPr/>
        </p:nvSpPr>
        <p:spPr>
          <a:xfrm>
            <a:off x="6446520" y="1481328"/>
            <a:ext cx="5029200" cy="640080"/>
          </a:xfrm>
          <a:prstGeom prst="rect">
            <a:avLst/>
          </a:prstGeom>
          <a:noFill/>
          <a:ln/>
        </p:spPr>
        <p:txBody>
          <a:bodyPr wrap="square" lIns="0" tIns="0" rIns="0" bIns="0" rtlCol="0" anchor="t"/>
          <a:lstStyle/>
          <a:p>
            <a:pPr marL="0" indent="0">
              <a:buNone/>
            </a:pPr>
            <a:r>
              <a:rPr lang="en-US" sz="1100" b="1" dirty="0">
                <a:solidFill>
                  <a:srgbClr val="64748B"/>
                </a:solidFill>
              </a:rPr>
              <a:t>WHAT IT DOESN'T REPLACE</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Say so in writing, up front</a:t>
            </a:r>
            <a:endParaRPr lang="en-US" sz="1400" dirty="0"/>
          </a:p>
        </p:txBody>
      </p:sp>
      <p:sp>
        <p:nvSpPr>
          <p:cNvPr id="10" name="Not list"/>
          <p:cNvSpPr txBox="1"/>
          <p:nvPr/>
        </p:nvSpPr>
        <p:spPr>
          <a:xfrm>
            <a:off x="6446520" y="2121408"/>
            <a:ext cx="5074920" cy="24231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Certification campaigns at scale</a:t>
            </a:r>
            <a:endParaRPr lang="en-US" sz="1400" dirty="0"/>
          </a:p>
          <a:p>
            <a:pPr marL="342900" indent="-342900">
              <a:spcAft>
                <a:spcPts val="300"/>
              </a:spcAft>
              <a:buSzPct val="100000"/>
              <a:buChar char="•"/>
            </a:pPr>
            <a:r>
              <a:rPr lang="en-US" sz="1350" dirty="0">
                <a:solidFill>
                  <a:schemeClr val="tx2"/>
                </a:solidFill>
              </a:rPr>
              <a:t>A vendor-maintained connector library</a:t>
            </a:r>
            <a:endParaRPr lang="en-US" sz="1400" dirty="0"/>
          </a:p>
          <a:p>
            <a:pPr marL="342900" indent="-342900">
              <a:spcAft>
                <a:spcPts val="300"/>
              </a:spcAft>
              <a:buSzPct val="100000"/>
              <a:buChar char="•"/>
            </a:pPr>
            <a:r>
              <a:rPr lang="en-US" sz="1350" dirty="0">
                <a:solidFill>
                  <a:schemeClr val="tx2"/>
                </a:solidFill>
              </a:rPr>
              <a:t>Machine-learning role discovery</a:t>
            </a:r>
            <a:endParaRPr lang="en-US" sz="1400" dirty="0"/>
          </a:p>
          <a:p>
            <a:pPr marL="342900" indent="-342900">
              <a:spcAft>
                <a:spcPts val="300"/>
              </a:spcAft>
              <a:buSzPct val="100000"/>
              <a:buChar char="•"/>
            </a:pPr>
            <a:r>
              <a:rPr lang="en-US" sz="1350" dirty="0">
                <a:solidFill>
                  <a:schemeClr val="tx2"/>
                </a:solidFill>
              </a:rPr>
              <a:t>A separation-of-duties policy engine</a:t>
            </a:r>
            <a:endParaRPr lang="en-US" sz="1400" dirty="0"/>
          </a:p>
          <a:p>
            <a:pPr marL="342900" indent="-342900">
              <a:spcAft>
                <a:spcPts val="300"/>
              </a:spcAft>
              <a:buSzPct val="100000"/>
              <a:buChar char="•"/>
            </a:pPr>
            <a:r>
              <a:rPr lang="en-US" sz="1350" dirty="0">
                <a:solidFill>
                  <a:schemeClr val="tx2"/>
                </a:solidFill>
              </a:rPr>
              <a:t>Vendor support and the vendor's own authorization</a:t>
            </a:r>
            <a:endParaRPr lang="en-US" sz="1400" dirty="0"/>
          </a:p>
        </p:txBody>
      </p:sp>
      <p:sp>
        <p:nvSpPr>
          <p:cNvPr id="11" name="Siste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PeopleArrows">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4" name="Sister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A sister team: </a:t>
            </a:r>
            <a:r>
              <a:rPr lang="en-US" sz="1650" dirty="0">
                <a:solidFill>
                  <a:schemeClr val="tx2"/>
                </a:solidFill>
              </a:rPr>
              <a:t>an infrastructure team that already writes its own ServiceNow scripts lends conventions, a test instance and reviewers.</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(What staff can build; What it doesn't replace; A sister team as the model); Ch 11 (The compliance application). SailPoint docs.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283C428-3C07-ACB1-8E0C-1871D027741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DCD7451-EB4A-4ED5-95D7-E6277655851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410"/>
    </mc:Choice>
    <mc:Fallback>
      <p:transition spd="slow" advTm="52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4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AI-assisted development, with guardrails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Ru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672084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Approved assistants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Used under the agency's generative AI policy (OMB M-25-21, §3(b)(iv))</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named person reviews every 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NIST SP 800-218A evaluates AI-generated and human-written code alike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production data, credentials or secrets in a prompt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Synthetic fixtures and placeholder names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secrets in the code either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Credentials come from the platform's credential aliases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Check every platform API against vendor docs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Assistants invent plausible methods and table names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Treat suggested libraries as acquisitions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SSDF PW.4.4: verify third-party components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Record which tool drafted the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Answers the Chief AI Officer; shows if AI drafts fail more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(AI-assisted development with guardrails). OMB M-25-21 (April 3, 2025); NIST SP 800-218 and SP 800-218A.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9B0F8CA1-1E3A-548E-70E8-84B23F60D26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C6DB5F-471E-4CE3-967F-9D219348EB6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940"/>
    </mc:Choice>
    <mc:Fallback>
      <p:transition spd="slow" advTm="56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94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Sandbox to production, with two gates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chain: a developer sandbox (a Personal Developer Instance or agency sandbox, synthetic data only, where AI-drafted code starts) leads to gate 1, code review by a named reviewer who is never the author; then sub-production, where the update set is committed from source control and the Automated Test Framework suites run with results attached; then gate 2, change approval, where the change advisory board authorizes the change record under CM-3; then production, where an implementer who isn't the author commits the approved update set. A dashed arrow leads to the evidence of the path: the review record, test results and change record join the ticket's evidence. A dashed arrow labeled defect, fix in a new update set, runs from sub-production back to the sandbox."/>
          <p:cNvPicPr>
            <a:picLocks noChangeAspect="1"/>
          </p:cNvPicPr>
          <p:nvPr/>
        </p:nvPicPr>
        <p:blipFill>
          <a:blip r:embed="rId5"/>
          <a:stretch>
            <a:fillRect/>
          </a:stretch>
        </p:blipFill>
        <p:spPr>
          <a:xfrm>
            <a:off x="599460" y="1325880"/>
            <a:ext cx="3738840" cy="4617720"/>
          </a:xfrm>
          <a:prstGeom prst="rect">
            <a:avLst/>
          </a:prstGeom>
        </p:spPr>
      </p:pic>
      <p:graphicFrame>
        <p:nvGraphicFramePr>
          <p:cNvPr id="7" name="Envs"/>
          <p:cNvGraphicFramePr>
            <a:graphicFrameLocks noGrp="1"/>
          </p:cNvGraphicFramePr>
          <p:nvPr>
            <p:extLst>
              <p:ext uri="{D42A27DB-BD31-4B8C-83A1-F6EECF244321}">
                <p14:modId xmlns:p14="http://schemas.microsoft.com/office/powerpoint/2010/main" val="1579011935"/>
              </p:ext>
            </p:extLst>
          </p:nvPr>
        </p:nvGraphicFramePr>
        <p:xfrm>
          <a:off x="42062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Environment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may be in it, and 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Developer sandbox</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Synthetic data only; a PDI belongs to ServiceNow, outside the boundary. Drafting starts here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Sub-production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Agency test instance. Update set from source control; full ATF suites run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Only the approved update set, committed by someone other than the author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Rules">
            <a:extLst>
              <a:ext uri="{C183D7F6-B498-43B3-948B-1728B52AA6E4}">
                <adec:decorative xmlns:adec="http://schemas.microsoft.com/office/drawing/2017/decorative" val="1"/>
              </a:ext>
            </a:extLst>
          </p:cNvPr>
          <p:cNvSpPr/>
          <p:nvPr/>
        </p:nvSpPr>
        <p:spPr>
          <a:xfrm>
            <a:off x="4206240" y="3372612"/>
            <a:ext cx="7452360" cy="2525268"/>
          </a:xfrm>
          <a:prstGeom prst="roundRect">
            <a:avLst>
              <a:gd name="adj" fmla="val 289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Rules head"/>
          <p:cNvSpPr txBox="1"/>
          <p:nvPr/>
        </p:nvSpPr>
        <p:spPr>
          <a:xfrm>
            <a:off x="4389120" y="3482340"/>
            <a:ext cx="7086600" cy="640080"/>
          </a:xfrm>
          <a:prstGeom prst="rect">
            <a:avLst/>
          </a:prstGeom>
          <a:noFill/>
          <a:ln/>
        </p:spPr>
        <p:txBody>
          <a:bodyPr wrap="square" lIns="0" tIns="0" rIns="0" bIns="0" rtlCol="0" anchor="t"/>
          <a:lstStyle/>
          <a:p>
            <a:pPr marL="0" indent="0">
              <a:buNone/>
            </a:pPr>
            <a:r>
              <a:rPr lang="en-US" sz="1100" b="1" dirty="0">
                <a:solidFill>
                  <a:srgbClr val="64748B"/>
                </a:solidFill>
              </a:rPr>
              <a:t>PLATFORM RULES</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What ServiceNow's own guidance says</a:t>
            </a:r>
            <a:endParaRPr lang="en-US" sz="1400" dirty="0"/>
          </a:p>
        </p:txBody>
      </p:sp>
      <p:sp>
        <p:nvSpPr>
          <p:cNvPr id="9" name="Rules list"/>
          <p:cNvSpPr txBox="1"/>
          <p:nvPr/>
        </p:nvSpPr>
        <p:spPr>
          <a:xfrm>
            <a:off x="4389120" y="4122420"/>
            <a:ext cx="7132320" cy="1702308"/>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Source control manages apps on non-production instances only</a:t>
            </a:r>
            <a:endParaRPr lang="en-US" sz="1400" dirty="0"/>
          </a:p>
          <a:p>
            <a:pPr marL="342900" indent="-342900">
              <a:spcAft>
                <a:spcPts val="300"/>
              </a:spcAft>
              <a:buSzPct val="100000"/>
              <a:buChar char="•"/>
            </a:pPr>
            <a:r>
              <a:rPr lang="en-US" sz="1350" dirty="0">
                <a:solidFill>
                  <a:schemeClr val="tx2"/>
                </a:solidFill>
              </a:rPr>
              <a:t>Update sets move dev to test to production, never from two sources</a:t>
            </a:r>
            <a:endParaRPr lang="en-US" sz="1400" dirty="0"/>
          </a:p>
          <a:p>
            <a:pPr marL="342900" indent="-342900">
              <a:spcAft>
                <a:spcPts val="300"/>
              </a:spcAft>
              <a:buSzPct val="100000"/>
              <a:buChar char="•"/>
            </a:pPr>
            <a:r>
              <a:rPr lang="en-US" sz="1350" dirty="0">
                <a:solidFill>
                  <a:schemeClr val="tx2"/>
                </a:solidFill>
              </a:rPr>
              <a:t>ATF tests run only on development and test instances</a:t>
            </a:r>
            <a:endParaRPr lang="en-US" sz="1400" dirty="0"/>
          </a:p>
          <a:p>
            <a:pPr marL="342900" indent="-342900">
              <a:spcAft>
                <a:spcPts val="300"/>
              </a:spcAft>
              <a:buSzPct val="100000"/>
              <a:buChar char="•"/>
            </a:pPr>
            <a:r>
              <a:rPr lang="en-US" sz="1350" dirty="0">
                <a:solidFill>
                  <a:schemeClr val="tx2"/>
                </a:solidFill>
              </a:rPr>
              <a:t>Set the completed update set on production to Ignore</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(Three environments; Source control, update sets and tests; The gates). ServiceNow documentation (PDI, source control, update sets, ATF).</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D4B227A-9C29-BFED-F519-326AA2F3562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2FE5D82-1E8B-488E-BAF0-06D9DB63A0E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860"/>
    </mc:Choice>
    <mc:Fallback>
      <p:transition spd="slow" advTm="46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8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standards ask, and how the path meets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8" name="Contro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Requirement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the path meets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Baseline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CM-3 Configuration change control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Change record, impact analysis, CAB 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Moderate,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CM-3(2) Test before finalizing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ATF suites in sub-production, results attached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Moderate,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CM-4 Impact analyses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Security impact analysis on the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Low, Moderate,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CM-5 Access restrictions for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Authors can't commit to 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Low, Moderate,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AC-5 Separation of duties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Author, reviewer, approver are different people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Moderate,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SA-10, SA-11, SA-15 Developer controls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Source control, testing evidence, a written process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Moderate,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SSDF PO.5, PS.1, PW.7, PW.8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Separate environments, protected code, review, testing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NIST SP 800-218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(The controls behind the path; The SSDF and its generative-AI profile). NIST SP 800-53 Rev. 5 (5.2.0), SP 800-53B, SP 800-218.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4FFC194-7296-C0DC-70C2-EA7A21359B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8B0B13-74D3-414E-869C-F711F4B481D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240"/>
    </mc:Choice>
    <mc:Fallback>
      <p:transition spd="slow" advTm="43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2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writes, reviews, approves and operates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9"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 or work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Does the work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Which AI coding assistants are approved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Chief AI Officer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CISO, ISSO, platform team consulted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Secure coding standard and the AI rules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ITSM platform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Write and unit-test a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Developers (agency staff)</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Code review of every line (gate 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Reviewer, never the author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Reviewer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Move to production (gate 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Change advisory board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Implementer, not the author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Operate the application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ITSM platform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rain">
            <a:extLst>
              <a:ext uri="{C183D7F6-B498-43B3-948B-1728B52AA6E4}">
                <adec:decorative xmlns:adec="http://schemas.microsoft.com/office/drawing/2017/decorative" val="1"/>
              </a:ext>
            </a:extLst>
          </p:cNvPr>
          <p:cNvSpPr/>
          <p:nvPr/>
        </p:nvSpPr>
        <p:spPr>
          <a:xfrm>
            <a:off x="548640" y="3747516"/>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77240" y="3953256"/>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128821"/>
            <a:ext cx="380390" cy="380390"/>
          </a:xfrm>
          <a:prstGeom prst="rect">
            <a:avLst/>
          </a:prstGeom>
        </p:spPr>
      </p:pic>
      <p:sp>
        <p:nvSpPr>
          <p:cNvPr id="5" name="Train text"/>
          <p:cNvSpPr txBox="1"/>
          <p:nvPr/>
        </p:nvSpPr>
        <p:spPr>
          <a:xfrm>
            <a:off x="1737360" y="3793236"/>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Train who we have: </a:t>
            </a:r>
            <a:r>
              <a:rPr lang="en-US" sz="1650" dirty="0">
                <a:solidFill>
                  <a:schemeClr val="tx2"/>
                </a:solidFill>
              </a:rPr>
              <a:t>free developer sandbox, our rules before real code, pairing with the sister team, listed reviewers, two maintainers per component.</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(Who writes, reviews, approves and operates; Training existing staff), extending Ch 10's matrix. OMB M-25-21 §2(e)(i).</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3457B2F-571A-14DC-C279-6429D663A6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E05FBF4-538F-48D1-9637-2822018058B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210"/>
    </mc:Choice>
    <mc:Fallback>
      <p:transition spd="slow" advTm="48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2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evidence it produces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0" name="Record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233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Produced by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proves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Review record: reviewer, decision, findings, AI tool used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Gate 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Someone other than the author read every 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ATF results for the update set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Sub-production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change was tested before it was finalized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Update set and its source-control commit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Repository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What moved matches what was reviewed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Change record, impact analysis, CAB 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Gate 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change was authorized with security impact considered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Production commit by an implementer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author didn't move their own code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Query">
            <a:extLst>
              <a:ext uri="{C183D7F6-B498-43B3-948B-1728B52AA6E4}">
                <adec:decorative xmlns:adec="http://schemas.microsoft.com/office/drawing/2017/decorative" val="1"/>
              </a:ext>
            </a:extLst>
          </p:cNvPr>
          <p:cNvSpPr/>
          <p:nvPr/>
        </p:nvSpPr>
        <p:spPr>
          <a:xfrm>
            <a:off x="548640" y="4526280"/>
            <a:ext cx="11109960" cy="1325880"/>
          </a:xfrm>
          <a:prstGeom prst="roundRect">
            <a:avLst>
              <a:gd name="adj" fmla="val 55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99025"/>
            <a:ext cx="380390" cy="380390"/>
          </a:xfrm>
          <a:prstGeom prst="rect">
            <a:avLst/>
          </a:prstGeom>
        </p:spPr>
      </p:pic>
      <p:sp>
        <p:nvSpPr>
          <p:cNvPr id="9" name="Query text"/>
          <p:cNvSpPr txBox="1"/>
          <p:nvPr/>
        </p:nvSpPr>
        <p:spPr>
          <a:xfrm>
            <a:off x="1737360" y="4572000"/>
            <a:ext cx="9738360" cy="1234440"/>
          </a:xfrm>
          <a:prstGeom prst="rect">
            <a:avLst/>
          </a:prstGeom>
          <a:noFill/>
          <a:ln/>
        </p:spPr>
        <p:txBody>
          <a:bodyPr wrap="square" lIns="0" tIns="0" rIns="0" bIns="0" rtlCol="0" anchor="ctr"/>
          <a:lstStyle/>
          <a:p>
            <a:pPr marL="0" indent="0">
              <a:buNone/>
            </a:pPr>
            <a:r>
              <a:rPr lang="en-US" sz="1650" b="1" dirty="0">
                <a:solidFill>
                  <a:srgbClr val="0F766E"/>
                </a:solidFill>
              </a:rPr>
              <a:t>A query, not a narrative: </a:t>
            </a:r>
            <a:r>
              <a:rPr lang="en-US" sz="1650" dirty="0">
                <a:solidFill>
                  <a:schemeClr val="tx2"/>
                </a:solidFill>
              </a:rPr>
              <a:t>the records join Book 13's ticket-to-machine evidence, so an assessor gets a report instead of a binder.</a:t>
            </a:r>
            <a:endParaRPr lang="en-US" sz="1650" dirty="0"/>
          </a:p>
        </p:txBody>
      </p:sp>
      <p:sp>
        <p:nvSpPr>
          <p:cNvPr id="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(Evidence: the development path is itself audit evidence); Book 13, Ch 10 and App B; NIST SP 800-53 CM-3, SA-11.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407B396C-A80C-1025-B5BA-BE5A7A2433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D0D55A8-97C3-4C6C-936E-2F42A35ED5A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20"/>
    </mc:Choice>
    <mc:Fallback>
      <p:transition spd="slow" advTm="44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1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Honest limits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11" name="Limi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840480">
                  <a:extLst>
                    <a:ext uri="{9D8B030D-6E8A-4147-A177-3AD203B41FA5}">
                      <a16:colId xmlns:a16="http://schemas.microsoft.com/office/drawing/2014/main" val="20000"/>
                    </a:ext>
                  </a:extLst>
                </a:gridCol>
                <a:gridCol w="726948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Limit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means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It isn't free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Cost moves from a license line to staff time, sub-production capacity and retesting on every upgrade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It isn't an IGA product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certification engine at scale, no connector library, no role discovery, no provisioning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Review is only as good as the reviewer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Keep changes small, list qualified reviewers, let them send work back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AI speeds up mistakes too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Invented APIs, insecure defaults, confident wrong logic: caught only by real review and tests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Policy and guidance are moving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M-25-21 is current as of October 2026; SSDF 1.2 is still a draft. Recheck both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sandbox is outside the boundary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PDI is for learning and synthetic drafts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(Honest limits). OMB memoranda index; NIST CSRC SSDF publications page; ServiceNow PDI documentation.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A9E97B1-B6F6-CA49-178A-5D004AF10EF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73FBD55-FE64-4BF1-B5DD-1CFC0D8FC58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690"/>
    </mc:Choice>
    <mc:Fallback>
      <p:transition spd="slow" advTm="42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decision: approve a small pilot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Ask">
            <a:extLst>
              <a:ext uri="{C183D7F6-B498-43B3-948B-1728B52AA6E4}">
                <adec:decorative xmlns:adec="http://schemas.microsoft.com/office/drawing/2017/decorative" val="1"/>
              </a:ext>
            </a:extLst>
          </p:cNvPr>
          <p:cNvSpPr/>
          <p:nvPr/>
        </p:nvSpPr>
        <p:spPr>
          <a:xfrm>
            <a:off x="548640" y="1371600"/>
            <a:ext cx="6949440" cy="3154680"/>
          </a:xfrm>
          <a:prstGeom prst="roundRect">
            <a:avLst>
              <a:gd name="adj" fmla="val 231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sk head"/>
          <p:cNvSpPr txBox="1"/>
          <p:nvPr/>
        </p:nvSpPr>
        <p:spPr>
          <a:xfrm>
            <a:off x="731520" y="1481328"/>
            <a:ext cx="6583680" cy="640080"/>
          </a:xfrm>
          <a:prstGeom prst="rect">
            <a:avLst/>
          </a:prstGeom>
          <a:noFill/>
          <a:ln/>
        </p:spPr>
        <p:txBody>
          <a:bodyPr wrap="square" lIns="0" tIns="0" rIns="0" bIns="0" rtlCol="0" anchor="t"/>
          <a:lstStyle/>
          <a:p>
            <a:pPr marL="0" indent="0">
              <a:buNone/>
            </a:pPr>
            <a:r>
              <a:rPr lang="en-US" sz="1100" b="1" dirty="0">
                <a:solidFill>
                  <a:srgbClr val="64748B"/>
                </a:solidFill>
              </a:rPr>
              <a:t>THE ASK · DESIGN GUIDANCE</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A pilot in a developer instance</a:t>
            </a:r>
            <a:endParaRPr lang="en-US" sz="1400" dirty="0"/>
          </a:p>
        </p:txBody>
      </p:sp>
      <p:sp>
        <p:nvSpPr>
          <p:cNvPr id="7" name="Ask list"/>
          <p:cNvSpPr txBox="1"/>
          <p:nvPr/>
        </p:nvSpPr>
        <p:spPr>
          <a:xfrm>
            <a:off x="731520" y="2121408"/>
            <a:ext cx="6629400" cy="2331720"/>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Synthetic data only; no agency data, no real tenant</a:t>
            </a:r>
            <a:endParaRPr lang="en-US" sz="1400" dirty="0"/>
          </a:p>
          <a:p>
            <a:pPr marL="342900" indent="-342900">
              <a:spcAft>
                <a:spcPts val="300"/>
              </a:spcAft>
              <a:buSzPct val="100000"/>
              <a:buChar char="•"/>
            </a:pPr>
            <a:r>
              <a:rPr lang="en-US" sz="1450" dirty="0">
                <a:solidFill>
                  <a:schemeClr val="tx2"/>
                </a:solidFill>
              </a:rPr>
              <a:t>One or two staff, trained on the rules first</a:t>
            </a:r>
            <a:endParaRPr lang="en-US" sz="1400" dirty="0"/>
          </a:p>
          <a:p>
            <a:pPr marL="342900" indent="-342900">
              <a:spcAft>
                <a:spcPts val="300"/>
              </a:spcAft>
              <a:buSzPct val="100000"/>
              <a:buChar char="•"/>
            </a:pPr>
            <a:r>
              <a:rPr lang="en-US" sz="1450" dirty="0">
                <a:solidFill>
                  <a:schemeClr val="tx2"/>
                </a:solidFill>
              </a:rPr>
              <a:t>One approved AI assistant; a named reviewer who isn't the author</a:t>
            </a:r>
            <a:endParaRPr lang="en-US" sz="1400" dirty="0"/>
          </a:p>
          <a:p>
            <a:pPr marL="342900" indent="-342900">
              <a:spcAft>
                <a:spcPts val="300"/>
              </a:spcAft>
              <a:buSzPct val="100000"/>
              <a:buChar char="•"/>
            </a:pPr>
            <a:r>
              <a:rPr lang="en-US" sz="1450" dirty="0">
                <a:solidFill>
                  <a:schemeClr val="tx2"/>
                </a:solidFill>
              </a:rPr>
              <a:t>One component: the re-read-before-close gate</a:t>
            </a:r>
            <a:endParaRPr lang="en-US" sz="1400" dirty="0"/>
          </a:p>
          <a:p>
            <a:pPr marL="342900" indent="-342900">
              <a:spcAft>
                <a:spcPts val="300"/>
              </a:spcAft>
              <a:buSzPct val="100000"/>
              <a:buChar char="•"/>
            </a:pPr>
            <a:r>
              <a:rPr lang="en-US" sz="1450" dirty="0">
                <a:solidFill>
                  <a:schemeClr val="tx2"/>
                </a:solidFill>
              </a:rPr>
              <a:t>Code in an agency repository from day one</a:t>
            </a:r>
            <a:endParaRPr lang="en-US" sz="1400" dirty="0"/>
          </a:p>
        </p:txBody>
      </p:sp>
      <p:sp>
        <p:nvSpPr>
          <p:cNvPr id="8" name="Exit">
            <a:extLst>
              <a:ext uri="{C183D7F6-B498-43B3-948B-1728B52AA6E4}">
                <adec:decorative xmlns:adec="http://schemas.microsoft.com/office/drawing/2017/decorative" val="1"/>
              </a:ext>
            </a:extLst>
          </p:cNvPr>
          <p:cNvSpPr/>
          <p:nvPr/>
        </p:nvSpPr>
        <p:spPr>
          <a:xfrm>
            <a:off x="7726680" y="1371600"/>
            <a:ext cx="3931920" cy="3154680"/>
          </a:xfrm>
          <a:prstGeom prst="roundRect">
            <a:avLst>
              <a:gd name="adj" fmla="val 231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Exit head"/>
          <p:cNvSpPr txBox="1"/>
          <p:nvPr/>
        </p:nvSpPr>
        <p:spPr>
          <a:xfrm>
            <a:off x="7909560" y="1481328"/>
            <a:ext cx="3566160" cy="640080"/>
          </a:xfrm>
          <a:prstGeom prst="rect">
            <a:avLst/>
          </a:prstGeom>
          <a:noFill/>
          <a:ln/>
        </p:spPr>
        <p:txBody>
          <a:bodyPr wrap="square" lIns="0" tIns="0" rIns="0" bIns="0" rtlCol="0" anchor="t"/>
          <a:lstStyle/>
          <a:p>
            <a:pPr marL="0" indent="0">
              <a:buNone/>
            </a:pPr>
            <a:r>
              <a:rPr lang="en-US" sz="1100" b="1" dirty="0">
                <a:solidFill>
                  <a:srgbClr val="64748B"/>
                </a:solidFill>
              </a:rPr>
              <a:t>PILOT EXIT</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Come back with</a:t>
            </a:r>
            <a:endParaRPr lang="en-US" sz="1400" dirty="0"/>
          </a:p>
        </p:txBody>
      </p:sp>
      <p:sp>
        <p:nvSpPr>
          <p:cNvPr id="10" name="Exit list"/>
          <p:cNvSpPr txBox="1"/>
          <p:nvPr/>
        </p:nvSpPr>
        <p:spPr>
          <a:xfrm>
            <a:off x="7909560" y="2121408"/>
            <a:ext cx="3611880" cy="23317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rPr>
              <a:t>The code and its review records</a:t>
            </a:r>
            <a:endParaRPr lang="en-US" sz="1400" dirty="0"/>
          </a:p>
          <a:p>
            <a:pPr marL="342900" indent="-342900">
              <a:spcAft>
                <a:spcPts val="300"/>
              </a:spcAft>
              <a:buSzPct val="100000"/>
              <a:buChar char="•"/>
            </a:pPr>
            <a:r>
              <a:rPr lang="en-US" sz="1400" dirty="0">
                <a:solidFill>
                  <a:schemeClr val="tx2"/>
                </a:solidFill>
              </a:rPr>
              <a:t>Passing ATF suites</a:t>
            </a:r>
            <a:endParaRPr lang="en-US" sz="1400" dirty="0"/>
          </a:p>
          <a:p>
            <a:pPr marL="342900" indent="-342900">
              <a:spcAft>
                <a:spcPts val="300"/>
              </a:spcAft>
              <a:buSzPct val="100000"/>
              <a:buChar char="•"/>
            </a:pPr>
            <a:r>
              <a:rPr lang="en-US" sz="1400" dirty="0">
                <a:solidFill>
                  <a:schemeClr val="tx2"/>
                </a:solidFill>
              </a:rPr>
              <a:t>A list of what failed review</a:t>
            </a:r>
            <a:endParaRPr lang="en-US" sz="1400" dirty="0"/>
          </a:p>
          <a:p>
            <a:pPr marL="342900" indent="-342900">
              <a:spcAft>
                <a:spcPts val="300"/>
              </a:spcAft>
              <a:buSzPct val="100000"/>
              <a:buChar char="•"/>
            </a:pPr>
            <a:r>
              <a:rPr lang="en-US" sz="1400" dirty="0">
                <a:solidFill>
                  <a:schemeClr val="tx2"/>
                </a:solidFill>
              </a:rPr>
              <a:t>A go or no-go for sub-production</a:t>
            </a:r>
            <a:endParaRPr lang="en-US" sz="1400" dirty="0"/>
          </a:p>
        </p:txBody>
      </p:sp>
      <p:sp>
        <p:nvSpPr>
          <p:cNvPr id="11" name="Decision strip">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31520" y="4974336"/>
            <a:ext cx="658368" cy="658368"/>
          </a:xfrm>
          <a:prstGeom prst="ellipse">
            <a:avLst/>
          </a:prstGeom>
          <a:solidFill>
            <a:srgbClr val="1F2A44"/>
          </a:solidFill>
          <a:ln w="12700">
            <a:solidFill>
              <a:srgbClr val="1F2A44"/>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9528" y="5132344"/>
            <a:ext cx="342351" cy="342351"/>
          </a:xfrm>
          <a:prstGeom prst="rect">
            <a:avLst/>
          </a:prstGeom>
        </p:spPr>
      </p:pic>
      <p:sp>
        <p:nvSpPr>
          <p:cNvPr id="14" name="Decision text"/>
          <p:cNvSpPr txBox="1"/>
          <p:nvPr/>
        </p:nvSpPr>
        <p:spPr>
          <a:xfrm>
            <a:off x="1554480" y="4782312"/>
            <a:ext cx="5715000" cy="1042416"/>
          </a:xfrm>
          <a:prstGeom prst="rect">
            <a:avLst/>
          </a:prstGeom>
          <a:noFill/>
          <a:ln/>
        </p:spPr>
        <p:txBody>
          <a:bodyPr wrap="square" lIns="0" tIns="0" rIns="0" bIns="0" rtlCol="0" anchor="ctr"/>
          <a:lstStyle/>
          <a:p>
            <a:pPr marL="0" indent="0">
              <a:buNone/>
            </a:pPr>
            <a:r>
              <a:rPr lang="en-US" sz="1450" b="1" dirty="0">
                <a:solidFill>
                  <a:srgbClr val="1F2A44"/>
                </a:solidFill>
              </a:rPr>
              <a:t>THE DECISION   </a:t>
            </a:r>
            <a:r>
              <a:rPr lang="en-US" sz="1450" dirty="0">
                <a:solidFill>
                  <a:schemeClr val="tx2"/>
                </a:solidFill>
              </a:rPr>
              <a:t>Approve the pilot: small, reversible, no new money, evidence before commitment</a:t>
            </a:r>
            <a:endParaRPr lang="en-US" sz="1450" dirty="0"/>
          </a:p>
        </p:txBody>
      </p:sp>
      <p:sp>
        <p:nvSpPr>
          <p:cNvPr id="15" name="Decision owner"/>
          <p:cNvSpPr txBox="1"/>
          <p:nvPr/>
        </p:nvSpPr>
        <p:spPr>
          <a:xfrm>
            <a:off x="7406640" y="4782312"/>
            <a:ext cx="2103120" cy="1042416"/>
          </a:xfrm>
          <a:prstGeom prst="rect">
            <a:avLst/>
          </a:prstGeom>
          <a:noFill/>
          <a:ln/>
        </p:spPr>
        <p:txBody>
          <a:bodyPr wrap="square" lIns="0" tIns="0" rIns="0" bIns="0" rtlCol="0" anchor="ctr"/>
          <a:lstStyle/>
          <a:p>
            <a:pPr marL="0" indent="0">
              <a:buNone/>
            </a:pPr>
            <a:r>
              <a:rPr lang="en-US" sz="1100" b="1" dirty="0">
                <a:solidFill>
                  <a:srgbClr val="0F766E"/>
                </a:solidFill>
              </a:rPr>
              <a:t>OWNER · DESIGN GUIDANCE</a:t>
            </a:r>
            <a:endParaRPr lang="en-US" sz="1350" dirty="0"/>
          </a:p>
          <a:p>
            <a:pPr marL="0" indent="0">
              <a:buNone/>
            </a:pPr>
            <a:r>
              <a:rPr lang="en-US" sz="1350" dirty="0">
                <a:solidFill>
                  <a:schemeClr val="tx2"/>
                </a:solidFill>
              </a:rPr>
              <a:t>Branch chief, ISSO consulted</a:t>
            </a:r>
            <a:endParaRPr lang="en-US" sz="1350" dirty="0"/>
          </a:p>
        </p:txBody>
      </p:sp>
      <p:sp>
        <p:nvSpPr>
          <p:cNvPr id="16" name="Decision when"/>
          <p:cNvSpPr txBox="1"/>
          <p:nvPr/>
        </p:nvSpPr>
        <p:spPr>
          <a:xfrm>
            <a:off x="9601200" y="4782312"/>
            <a:ext cx="1965960" cy="1042416"/>
          </a:xfrm>
          <a:prstGeom prst="rect">
            <a:avLst/>
          </a:prstGeom>
          <a:noFill/>
          <a:ln/>
        </p:spPr>
        <p:txBody>
          <a:bodyPr wrap="square" lIns="0" tIns="0" rIns="0" bIns="0" rtlCol="0" anchor="ctr"/>
          <a:lstStyle/>
          <a:p>
            <a:pPr marL="0" indent="0">
              <a:buNone/>
            </a:pPr>
            <a:r>
              <a:rPr lang="en-US" sz="1100" b="1" dirty="0">
                <a:solidFill>
                  <a:srgbClr val="B45309"/>
                </a:solidFill>
              </a:rPr>
              <a:t>NEXT GATE · DESIGN GUIDANCE</a:t>
            </a:r>
            <a:endParaRPr lang="en-US" sz="1350" dirty="0"/>
          </a:p>
          <a:p>
            <a:pPr marL="0" indent="0">
              <a:buNone/>
            </a:pPr>
            <a:r>
              <a:rPr lang="en-US" sz="1350" dirty="0">
                <a:solidFill>
                  <a:schemeClr val="tx2"/>
                </a:solidFill>
              </a:rPr>
              <a:t>Sub-production, by a normal change</a:t>
            </a:r>
            <a:endParaRPr lang="en-US" sz="135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 13 (Three environments; Training existing staff); Ch 11 (Closure gate). Pilot scope, owner and next gate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C5D0DFC-E70D-6EF0-4BDF-D1A4EE5650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130667-0AAC-48A7-AA6F-701D13586B1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760"/>
    </mc:Choice>
    <mc:Fallback>
      <p:transition spd="slow" advTm="45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76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to read next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3" name="Nex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Read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15, Chapter 13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This briefing in full, with every source footnoted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15, Chapter 11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compliance application, the attestation loop and the evidence pipeline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15, Chapter 10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Who runs day two, and the responsibility matrix Chapter 13 extends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13, Chapter 10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Ticket to machine: the evidence model every change follows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ServiceNow and SailPoint example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worked, unit-tested starting point for the identity findings and the closure gate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Independent">
            <a:extLst>
              <a:ext uri="{C183D7F6-B498-43B3-948B-1728B52AA6E4}">
                <adec:decorative xmlns:adec="http://schemas.microsoft.com/office/drawing/2017/decorative" val="1"/>
              </a:ext>
            </a:extLst>
          </p:cNvPr>
          <p:cNvSpPr/>
          <p:nvPr/>
        </p:nvSpPr>
        <p:spPr>
          <a:xfrm>
            <a:off x="548640" y="4206240"/>
            <a:ext cx="11109960" cy="1005840"/>
          </a:xfrm>
          <a:prstGeom prst="roundRect">
            <a:avLst>
              <a:gd name="adj" fmla="val 7273"/>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77240" y="4343400"/>
            <a:ext cx="731520" cy="731520"/>
          </a:xfrm>
          <a:prstGeom prst="ellipse">
            <a:avLst/>
          </a:prstGeom>
          <a:solidFill>
            <a:srgbClr val="64748B"/>
          </a:solidFill>
          <a:ln w="12700">
            <a:solidFill>
              <a:srgbClr val="64748B"/>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18965"/>
            <a:ext cx="380390" cy="380390"/>
          </a:xfrm>
          <a:prstGeom prst="rect">
            <a:avLst/>
          </a:prstGeom>
        </p:spPr>
      </p:pic>
      <p:sp>
        <p:nvSpPr>
          <p:cNvPr id="9" name="Independent text"/>
          <p:cNvSpPr txBox="1"/>
          <p:nvPr/>
        </p:nvSpPr>
        <p:spPr>
          <a:xfrm>
            <a:off x="1737360" y="4251960"/>
            <a:ext cx="9738360" cy="914400"/>
          </a:xfrm>
          <a:prstGeom prst="rect">
            <a:avLst/>
          </a:prstGeom>
          <a:noFill/>
          <a:ln/>
        </p:spPr>
        <p:txBody>
          <a:bodyPr wrap="square" lIns="0" tIns="0" rIns="0" bIns="0" rtlCol="0" anchor="ctr"/>
          <a:lstStyle/>
          <a:p>
            <a:pPr marL="0" indent="0">
              <a:buNone/>
            </a:pPr>
            <a:r>
              <a:rPr lang="en-US" sz="1650" b="1" dirty="0">
                <a:solidFill>
                  <a:srgbClr val="64748B"/>
                </a:solidFill>
              </a:rPr>
              <a:t>Independent analysis: </a:t>
            </a:r>
            <a:r>
              <a:rPr lang="en-US" sz="1650" dirty="0">
                <a:solidFill>
                  <a:schemeClr val="tx2"/>
                </a:solidFill>
              </a:rPr>
              <a:t>not an official publication of any agency, and not an endorsement of any product.</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whalermike.github.io/modernization-workbook: Book 15 and the Presentations page.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192C7D1-1673-6193-16E1-AF9CD3E6A2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DD3B3C0-F219-4ACA-B54F-F645A19742E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280"/>
    </mc:Choice>
    <mc:Fallback>
      <p:transition spd="slow" advTm="24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2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6155</Words>
  <Application>Microsoft Office PowerPoint</Application>
  <PresentationFormat>Widescreen</PresentationFormat>
  <Paragraphs>268</Paragraphs>
  <Slides>12</Slides>
  <Notes>12</Notes>
  <HiddenSlides>0</HiddenSlides>
  <MMClips>12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Federal Modernization Workbook</vt:lpstr>
      <vt:lpstr>Building Day-Two Automation In-House</vt:lpstr>
      <vt:lpstr>The problem: procedures that leave no evidence</vt:lpstr>
      <vt:lpstr>Why the funded options are off the table</vt:lpstr>
      <vt:lpstr>The no-cost path on the instance we already own</vt:lpstr>
      <vt:lpstr>AI-assisted development, with guardrails</vt:lpstr>
      <vt:lpstr>Sandbox to production, with two gates</vt:lpstr>
      <vt:lpstr>What the standards ask, and how the path meets it</vt:lpstr>
      <vt:lpstr>Who writes, reviews, approves and operates</vt:lpstr>
      <vt:lpstr>The evidence it produces</vt:lpstr>
      <vt:lpstr>Honest limits</vt:lpstr>
      <vt:lpstr>The decision: approve a small pilot</vt:lpstr>
      <vt:lpstr>Where to read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15 — Building Day-Two Automation In-House</dc:title>
  <dc:subject>PptxGenJS Presentation</dc:subject>
  <dc:creator>Michael F. Stratton</dc:creator>
  <cp:lastModifiedBy>Michael F. Stratton</cp:lastModifiedBy>
  <cp:revision>2</cp:revision>
  <dcterms:created xsi:type="dcterms:W3CDTF">2026-10-28T13:05:13Z</dcterms:created>
  <dcterms:modified xsi:type="dcterms:W3CDTF">2026-10-28T13:05:31Z</dcterms:modified>
</cp:coreProperties>
</file>