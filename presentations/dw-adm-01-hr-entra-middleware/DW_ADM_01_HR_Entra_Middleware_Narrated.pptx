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705AD6A-4ADF-A49F-75BC-E04EEBBBABC5}">
          <p14:sldIdLst>
            <p14:sldId id="256"/>
          </p14:sldIdLst>
        </p14:section>
        <p14:section name="Why" id="{AB301534-F636-BE49-0F70-1E4F210E7D1F}">
          <p14:sldIdLst>
            <p14:sldId id="257"/>
            <p14:sldId id="258"/>
          </p14:sldIdLst>
        </p14:section>
        <p14:section name="What" id="{1344FD5F-6603-5891-A2A4-ABF03318F639}">
          <p14:sldIdLst>
            <p14:sldId id="259"/>
            <p14:sldId id="260"/>
            <p14:sldId id="261"/>
            <p14:sldId id="262"/>
            <p14:sldId id="263"/>
            <p14:sldId id="264"/>
            <p14:sldId id="265"/>
            <p14:sldId id="266"/>
            <p14:sldId id="267"/>
          </p14:sldIdLst>
        </p14:section>
        <p14:section name="Who" id="{7643DEFD-7B5F-81EF-B1F4-E4943265FD8D}">
          <p14:sldIdLst>
            <p14:sldId id="268"/>
          </p14:sldIdLst>
        </p14:section>
        <p14:section name="How" id="{E92C4DBF-F78F-9A99-BCDC-8B43004EE018}">
          <p14:sldIdLst>
            <p14:sldId id="269"/>
            <p14:sldId id="270"/>
            <p14:sldId id="271"/>
            <p14:sldId id="272"/>
            <p14:sldId id="273"/>
          </p14:sldIdLst>
        </p14:section>
        <p14:section name="Backup" id="{8AC717D4-95C1-8BB5-B6FF-C0D2FCA7E1F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910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the Attribute-Driven Migration. This is Chapter 1: the middleware between the H R extract and Microsoft Entra I D. The provisioning service will do whatever the payload tells it, so the code that builds the payload is where the H R record stays true. We'll start from Microsoft's own sample, C S V to SCIM, see what it leaves to you, then walk the hardened client, two labs and the dangers. One note before we begin: the code is illustrative, tested against fixtures.
Detail: The chapter builds the middleware that reads an HR extract and feeds Microsoft Entra ID's API-driven inbound provisioning through the SCIM /bulkUpload endpoint. It starts with Microsoft's own sample, CSV2SCIM, which Learn documents step by step and which the repository keeps as a pinned copy, and runs it on the book's HR fixture to see what it sends. Then it builds on examples/hcm-entra for what the sample leaves to you: validation that fails closed, quarantine, ordering, a mass-disable hold, pacing, all three US clouds, least privilege, and a provenance manifest that ties every batch to its inputs. Lab 1 runs both on fixtures with no tenant; Lab 2 uses a test tenant. Goal: by the end you know what Microsoft ships for API-driven inbound provisioning and how to use it, what a federal deployment has to add, and how to run, change and test the code that adds it, and you can say for every rule in the pipeline whether it is Microsoft's contract, Microsoft's sample, or the program's own design.
Sources: Microsoft Learn, "API-driven inbound provisioning with PowerShell script," https://learn.microsoft.com/entra/identity/app-provisioning/inbound-provisioning-api-powershell (accessed Oct 30, 2026). · Microsoft Learn, "Perform bulkUpload," https://learn.microsoft.com/graph/api/synchronization-synchronizationjob-post-bulkupload?view=graph-rest-1.0 (accessed Oct 30, 2026).
Workbook: Building the Attribute-Driven Migration, Chapter 01 — “In this chapter”; “Goal and audience”.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chapter matter so much? Because the provisioning service is obedient. It owns the mapping to directory attributes, the matching and the write, and Microsoft deliberately keeps the comparison logic out of the client. That means everything before the post belongs to you: what gets sent, in what order, how fast, and what record you keep. And the endpoint is asynchronous. An accepted response only means the batch was staged, not that anyone was written, so reading the logs afterwards is part of the job. Next, which cloud.
Detail: The provisioning service owns the mapping from SCIM attributes to directory attributes, the matching of incoming records to existing users, and the write. The middleware owns everything before the POST: what is sent, in what order, how fast, and what record is kept of it. Microsoft's design intent is exactly that split: the client shouldn't implement the logic of comparing the system of record with the directory; the provisioning service applies the IT-managed rules. The endpoint is asynchronous. A 202 Accepted means the batch was staged for the provisioning job, not that any user was written; the Location header points at the provisioning logs, where the per-record result appears. Book 03, Chapter 05 describes the pipeline's duties (validate, normalize, sequence, send, reconcile) and Chapter 06 the canonical schema and attribute map; Appendix A holds the lifecycle rules, and Appendix B the security and privacy rules for what the pipeline may log. This chapter is the developer's view of those pages.
Sources: Microsoft Learn, "API-driven inbound provisioning with PowerShell script," https://learn.microsoft.com/entra/identity/app-provisioning/inbound-provisioning-api-powershell (accessed Oct 30, 2026). · Microsoft Learn, "Perform bulkUpload," https://learn.microsoft.com/graph/api/synchronization-synchronizationjob-post-bulkupload?view=graph-rest-1.0 (accessed Oct 30, 2026).
Workbook: Building the Attribute-Driven Migration, Chapter 01 — “Where the middleware sits”; “Goal and audience”.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cloud you're in decides which Graph host you call and where your token comes from, and a token from one cloud simply doesn't work in another. A G C C tenant like this estate's uses the worldwide endpoint, so Microsoft's sample works here as written. The higher government clouds have their own hosts, and the sample's address is hard-coded, so it can't reach them. The hardened client takes its endpoint from settings and only accepts one of the three Graph hosts. Now let's see what Microsoft actually gives you.
Detail: Graph host: graph.microsoft.com (worldwide and Microsoft 365 GCC), graph.microsoft.us (GCC High), dod-graph.microsoft.us (DoD); token authority login.microsoftonline.us for the US Government clouds. Tokens from one cloud don't work in another. In CSV2SCIM at f2e8c59, /bulkUpload and the schema update are hard-coded to https://graph.microsoft.com/beta, and sign-in names no cloud: it works in GCC (worldwide endpoint) and can't reach GCC High or DoD as written. The hardened client requires the endpoint to be one of the three Graph hosts, on v1.0 or beta. API-driven inbound provisioning is listed as available for Azure Government tenants. Reading results (GET /auditLogs/provisioning) is available in Global, US Government L4 and L5. In GCC High or DoD, the provisioning app's schema is extended in the admin center instead, because the sample can't reach those clouds as written.
Sources: Microsoft Learn, "Microsoft Graph national cloud deployments," https://learn.microsoft.com/graph/deployments (accessed Oct 30, 2026). · Microsoft Learn, "Microsoft Entra feature availability," https://learn.microsoft.com/entra/identity/authentication/feature-availability (accessed Oct 30, 2026). · Microsoft, CSV2SCIM sample, AzureAD/entra-id-inbound-provisioning, PowerShell/CSV2SCIM at commit f2e8c59f0af497b066c3484fc36a4197c2b37711 (March 2, 2026), MIT License, https://github.com/AzureAD/entra-id-inbound-provisioning/tree/f2e8c59f0af497b066c3484fc36a4197c2b37711/PowerShell/CSV2SCIM (accessed Oct 30, 2026); pinned copy in examples/third_party/csv2scim. · Microsoft Learn, "List provisioningObjectSummary," https://learn.microsoft.com/graph/api/provisioningobjectsummary-list?view=graph-rest-1.0 (accessed Oct 30, 2026).
Workbook: Building the Attribute-Driven Migration, Chapter 01 — “Verified facts”; “What it leaves to you” — clouds row.</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whole pipeline on one slide. An H R extract comes in as a C S V file. The middleware validates it, normalizes it, orders it, batches it and paces the calls, then posts bulk requests to the provisioning endpoint. Along the way it writes four files. Three of them carry only keys and hashes, so they can live in the evidence store. The quarantine file holds the refused rows, real personal data, so it goes only to the access-controlled audit store. Keep those four files in mind; the labs read every one.
Detail: HR system, extract (CSV), middleware, SCIM BulkRequest, /bulkUpload (202 + Location), provisioning job, Entra ID or AD, provisioning logs. The middleware validates, normalizes, orders, batches and paces, and writes validation-report.json (keys and hashes only), quarantine.json (refused rows: personal data), provenance.json (inputs and batches, by hash) and apply-results.json (status, attempts, Location), which links to the provisioning logs. Checklist: quarantine.json goes only to the access-controlled audit store; the other outputs go to the evidence store. Book 03, Appendix B holds the security and privacy rules for what the pipeline may log.
Sources: Microsoft Learn, "Perform bulkUpload," https://learn.microsoft.com/graph/api/synchronization-synchronizationjob-post-bulkupload?view=graph-rest-1.0 (accessed Oct 30, 2026).
Workbook: Building the Attribute-Driven Migration, Chapter 01 — “Where the middleware sits”; “Checklist”.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publishes a PowerShell sample for exactly this integration, and Learn walks through it step by step. It has five modes. Two run entirely offline: checking your mapping file and generating the payload. The other three talk to Graph: sending, extending the provisioning app's schema, and summarizing what happened in recent sync cycles. The chapter's advice is simple: use it. Most of what a first integration needs is already there, maintained by Microsoft, with a Learn page behind every step. Next, the idea at its center.
Detail: Microsoft publishes a PowerShell sample for this integration, CSV2SCIM, and documents it on Learn in a full tutorial: download, generate a payload, authenticate with a certificate, send, extend the provisioning schema, and read the provisioning logs. Use it. Most of what a first integration needs is already there, maintained by Microsoft, and every step has a Learn page behind it. Modes: Validate the mapping (-AttributeMapping $map -ValidateAttributeMapping) checks a .psd1 mapping of CSV columns against the SCIM Core and Enterprise User schema, no network. Generate a payload (-Path &lt;csv&gt; -AttributeMapping $map [-ScimSchemaNamespace &lt;urn&gt;]) turns each CSV row into a SCIM user, 50 operations per bulk request; with a namespace, every column also goes under that custom extension; no network. Send (add -ServicePrincipalId, -TenantId, and -ClientId with -ClientCertificate) signs in and POSTs each bulk request to the job's /bulkUpload; Graph. Extend the app's schema (-UpdateSchema -ScimSchemaNamespace &lt;urn&gt;) adds every CSV column to the provisioning app's schema under the extension namespace; Graph. Read the logs (-GetPreviousCycleLogs [-NumberOfCycles n]) summarizes the latest sync cycles from the provisioning logs, per record; Graph.
Sources: Microsoft Learn, "API-driven inbound provisioning with PowerShell script," https://learn.microsoft.com/entra/identity/app-provisioning/inbound-provisioning-api-powershell (accessed Oct 30, 2026).
Workbook: Building the Attribute-Driven Migration, Chapter 01 — “Start with Microsoft's sample: CSV2SCIM” — “What it does”.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sample's main idea is its mapping file. Each SCIM attribute names a column in your extract, or a tiny script that computes the value, like turning a worker status into active or inactive. Learn is careful to say this only maps the file to SCIM; mapping SCIM to the directory stays in the provisioning app. And because a link to a sample's main branch changes under you, the repository keeps an unmodified, hashed copy, with a weekly watch on upstream. A new version becomes a decision someone reviews, never a surprise.
Detail: The mapping file is the sample's main idea. Each SCIM attribute names a CSV column, or a script block that computes the value from the row, such as active = { $_.'WorkerStatus' -eq 'Active' }. Learn is careful to say this mapping is CSV to SCIM only; the mapping from SCIM to Entra ID or AD attributes stays in the provisioning app. Microsoft provides the script "as-is" for implementation reference and takes questions and changes through its GitHub repository. It is MIT-licensed. The pinned copy: a link to the sample's main branch changes under you. The repository therefore keeps an unmodified copy in examples/third_party/csv2scim, taken at upstream commit f2e8c59 (March 2, 2026) and retrieved October 30, 2026. snapshot.json records the commit and the SHA-256 of every file, and a unit test fails if any file changes. The weekly source watch follows commits to the upstream folder and lists each one in its issue under this book, so a new version is a decision someone reviews, never a surprise. Design guidance: treat any sample you run the same way: pin it, hash it, watch upstream, and update it in a reviewed change.
Sources: Microsoft Learn, "API-driven inbound provisioning with PowerShell script," https://learn.microsoft.com/entra/identity/app-provisioning/inbound-provisioning-api-powershell (accessed Oct 30, 2026). · Microsoft, CSV2SCIM sample, AzureAD/entra-id-inbound-provisioning, PowerShell/CSV2SCIM at commit f2e8c59f0af497b066c3484fc36a4197c2b37711 (March 2, 2026), MIT License, https://github.com/AzureAD/entra-id-inbound-provisioning/tree/f2e8c59f0af497b066c3484fc36a4197c2b37711/PowerShell/CSV2SCIM (accessed Oct 30, 2026); pinned copy in examples/third_party/csv2scim.
Workbook: Building the Attribute-Driven Migration, Chapter 01 — “What it does”; “The pinned copy”.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chapter. Run Microsoft's sample on the book's nineteen-row fixture and it sends all nineteen. That's not a bug; it's a converter, and Learn says validation is something you add. But look at what gets through: a blank key, a pending worker sent as active, the same person twice, a future hire who could sign in before day one. The hardened client refuses nine of those rows, sends leavers first and managers before their reports, and holds a run that would disable too many people. There's a second half to this table.
Detail: Run on this book's HR fixture (19 rows, Lab 1), CSV2SCIM sends all 19. That is by design: it is a converter, and validation is listed on Learn as a customization you add ("update the PowerShell script to include any custom CSV data validation logic"). A federal deployment has to add it, and more. The tests in examples/hcm-entra/tests/powershell/Csv2ScimBaseline.Tests.ps1 check the validation, duplicate, order, future-hire and repeatability rows against the fixture; the cloud and privilege rows come from reading the pinned script. Record validation: CSV2SCIM validates the mapping, not the values; a blank key, a 17-character key, a pending worker and an unknown worker type are all sent, active; the example fails closed: 9 of the 19 rows are quarantined with reasons; a bad HR row becomes a bad account. Duplicates: a person with two rows is sent twice; a single separation wins, otherwise both are refused; two writes race in the job. Order: file order; leavers first, then managers before reports; a departing mover briefly gains access, a manager reference can't resolve. Future hires: sent active; sent disabled until the hire date (Book 03, Appendix C); an account works before day one. Mass change: no limit; max_disables_per_run holds the run; one bad extract disables everyone.
Sources: Microsoft Learn, "API-driven inbound provisioning with PowerShell script," https://learn.microsoft.com/entra/identity/app-provisioning/inbound-provisioning-api-powershell (accessed Oct 30, 2026). · Microsoft, CSV2SCIM sample, AzureAD/entra-id-inbound-provisioning, PowerShell/CSV2SCIM at commit f2e8c59f0af497b066c3484fc36a4197c2b37711 (March 2, 2026), MIT License, https://github.com/AzureAD/entra-id-inbound-provisioning/tree/f2e8c59f0af497b066c3484fc36a4197c2b37711/PowerShell/CSV2SCIM (accessed Oct 30, 2026); pinned copy in examples/third_party/csv2scim.
Workbook: Building the Attribute-Driven Migration, Chapter 01 — “What it leaves to you” — validation, duplicates, order, future hires, mass change.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half is about running it safely. The sample has no pacing of its own, it only reaches the worldwide endpoint, and its sign-in asks for a permission that can change any app in the tenant. It also gives every operation a fresh random identifier, so the same input never produces the same batch, and its only record is the console. The verdict is balanced: keep using the sample where it's strong, for checking mappings, extending the schema and reading logs, and send production data through the hardened client. Or contribute these changes upstream.
Detail: Pacing and budget: CSV2SCIM has no pacing of its own and relies on the Graph SDK's retry handling; the example adds 40 calls in any 5 seconds, a daily call budget, Retry-After, and stop on first failure; it matters for throttling and the tenant's daily quota. Clouds: /bulkUpload and the schema update are hard-coded to https://graph.microsoft.com/beta, and sign-in names no cloud; the endpoint must be one of the three Graph hosts, v1.0 or beta; works in GCC (worldwide endpoint), can't reach GCC High or DoD as written. Least privilege: delegated sign-in asks for Application.ReadWrite.All, AuditLog.Read.All and SynchronizationData-User.Upload; the example uses one permission to send and a separate log reader; Application.ReadWrite.All can change any app in the tenant. Repeatability: each operation's bulkId is a new random GUID; bulkId is the person key, so the same input gives the same batch hash; without that, a batch can't be traced to its inputs. Evidence: console output; validation-report.json, quarantine.json, provenance.json, apply-results.json; the ISSO needs records, not a screen. Design guidance: use CSV2SCIM where it is strong and the tenant is worldwide or GCC: validating a mapping file, extending the provisioning app's schema with -UpdateSchema, and reading cycle logs while you test. Use the hardened client for production sends, and everywhere in GCC High and DoD. If you would rather extend CSV2SCIM itself, the table is the list of changes to make; contribute them upstream through Microsoft's repository, as Learn invites.
Sources: Microsoft Learn, "API-driven inbound provisioning with PowerShell script," https://learn.microsoft.com/entra/identity/app-provisioning/inbound-provisioning-api-powershell (accessed Oct 30, 2026). · Microsoft, CSV2SCIM sample, AzureAD/entra-id-inbound-provisioning, PowerShell/CSV2SCIM at commit f2e8c59f0af497b066c3484fc36a4197c2b37711 (March 2, 2026), MIT License, https://github.com/AzureAD/entra-id-inbound-provisioning/tree/f2e8c59f0af497b066c3484fc36a4197c2b37711/PowerShell/CSV2SCIM (accessed Oct 30, 2026); pinned copy in examples/third_party/csv2scim. · Microsoft Learn, "Microsoft Graph national cloud deployments," https://learn.microsoft.com/graph/deployments (accessed Oct 30, 2026).
Workbook: Building the Attribute-Driven Migration, Chapter 01 — “What it leaves to you” — pacing, clouds, least privilege, repeatability, evidence.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the example add? Two clients, one in Python and one in PowerShell, that read the same mapping file and produce exactly the same output for the same input. The Python one needs nothing beyond the standard library. One mapping file holds the column map, the code lists, the worker types and the length limits, and a settings file holds the non-secret knobs, like the disable threshold and the call budget. The payload itself keeps the shape of Learn's own examples. Let's look at the rules it applies.
Detail: The example is two equivalent clients, Python and PowerShell 7, that read the same mapping file and produce the same output for the same input. Its SCIM payload follows the shape of Learn's /bulkUpload examples: Core and Enterprise User, plus one custom extension namespace. Files: config/mapping.json, column to SCIM map, code lists, worker types, length limits, batch size. config/csv2scim/AttributeMapping.psd1, the same columns as a CSV2SCIM mapping, for the baseline and for -UpdateSchema. config/settings.example.json, non-secret settings: endpoint, time offsets, disable threshold, call budget, pacing, retries. python/hcm_to_scim.py, the Python client (standard library only, Python 3.10 or later). powershell/HcmToScim.psm1 and Invoke-HcmToScim.ps1, the same in PowerShell 7.2 or later. tests/, pytest and Pester 5 against tests/fixtures/hcm_extract_sample.csv, including the CSV2SCIM comparison.
Sources: Microsoft Learn, "Perform bulkUpload," https://learn.microsoft.com/graph/api/synchronization-synchronizationjob-post-bulkupload?view=graph-rest-1.0 (accessed Oct 30, 2026).
Workbook: Building the Attribute-Driven Migration, Chapter 01 — “The code: what examples/hcm-entra adds”.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is where a bad H R row stops before it becomes a bad account. Each row either becomes a SCIM operation or is refused with reasons and goes to quarantine, along with the unchanged row and the payload it would have sent. Some things are only warnings: someone on leave isn't a leaver, and a departing manager never blocks a new hire. The chapter's rule of thumb is that every new check starts as a refusal until the H R owner agrees it can be a warning. And the client always sends the complete record, because with clearing switched on, a missing value can wipe the target.
Detail: build_operation (Python) and ConvertTo-HcmScimOperation (PowerShell) take one row and either build a SCIM operation or refuse it with reasons. A row is refused when a required column is empty, the person number doesn't fit employeeId, the worker type is unknown or refused (pending workers and nonworkers), a code isn't in the code list, a value is longer than the target attribute holds, a date doesn't parse, a worker is recorded as their own manager, or an inactive assignment has no termination date. Every refused row goes to quarantine.json with its reasons, the unchanged HR row and the attempted payload: the quarantine contract in Book 03, Appendix A. Some rules are warnings, not refusals. A suspended assignment keeps the account active ("leave is not a leaver"). A manager separating in the same run never blocks the joiner. A separation older than the Lifecycle Workflows catch-up window is flagged for the on-demand leaver workflow. Design guidance: treat every new validation rule as a refusal until the HR owner agrees it can be a warning. Send the complete record every time: Learn's guidance is to include the complete user record in every bulk request, for full and delta runs alike. When the provisioning job's clear attribute values feature (preview) is on, a null or empty mapped value clears the target, and so can an omitted attribute. The client never sends a partial record.
Sources: Microsoft Learn, "API-driven inbound provisioning concepts," https://learn.microsoft.com/entra/identity/app-provisioning/inbound-provisioning-api-concepts (accessed Oct 30, 2026).
Workbook: Building the Attribute-Driven Migration, Chapter 01 — “Validate and fail closed”; “Send the complete record every time”.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the order and the speed. Leavers go first, so a departing mover never briefly gains access, and managers go before their reports so the references resolve. Two guards hold the whole run until a person confirms it: too many disables, or more calls than the daily budget, which follows Microsoft's tenant quota by license. On speed, two Learn pages disagree on the rate limit, so the client paces to the stricter one, honors the retry header, and stops at the first failure rather than retrying in a loop. Next, the record it keeps.
Detail: Leavers go first, then managers before their reports, then person key. When one person has several rows, a single separation wins and the rest are marked superseded; any other duplicate is refused. Each request carries at most 50 operations. Two guards hold the whole run (exit code 3) until someone confirms it with --confirm-large-delta: more disables than max_disables_per_run, and more calls than daily_call_budget. The second follows Microsoft's tenant quota: 2,000 calls in 24 hours with Microsoft Entra ID P1 or P2, and 6,000 with Microsoft Entra ID Governance, which at 50 records a call is 100,000 and 300,000 records a day. Pace, retry and stop: Learn's concepts page sets the endpoint's limit at 40 calls within any 5-second window; the API reference says 40 requests per second. The client paces to the stricter: min_seconds_between_calls can't be below 0.125 seconds. On 429 or 503 it waits for Retry-After, backing off exponentially when the header is missing, as Graph's throttling guidance says. It stops at the first failed batch; the next run resends complete records. A 500 saying the ingestion "bucket" is full means the job's queue is backed up, typically during an initial or full load; design guidance: wait for it to drain and rerun, don't retry in a loop. Where Learn differs: the API page says 40 requests per second; the concepts and troubleshooting pages say 40 calls per 5 seconds. The client uses the stricter.
Sources: Microsoft Learn, "Perform bulkUpload," https://learn.microsoft.com/graph/api/synchronization-synchronizationjob-post-bulkupload?view=graph-rest-1.0 (accessed Oct 30, 2026). · Microsoft Learn, "API-driven inbound provisioning concepts," https://learn.microsoft.com/entra/identity/app-provisioning/inbound-provisioning-api-concepts (accessed Oct 30, 2026). · Microsoft Learn, "Microsoft Entra ID Governance licensing fundamentals," https://learn.microsoft.com/entra/id-governance/licensing-fundamentals (accessed Oct 30, 2026). · Microsoft Learn, "Microsoft Graph throttling guidance," https://learn.microsoft.com/graph/throttling (accessed Oct 30, 2026). · Microsoft Learn, "Troubleshoot inbound provisioning API issues," https://learn.microsoft.com/entra/identity/app-provisioning/inbound-provisioning-api-issues (accessed Oct 30, 2026).
Workbook: Building the Attribute-Driven Migration, Chapter 01 — “Order, batch and hold”; “Pace, retry and stop”; “Verified facts” — the rate limit.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file is what an auditor will thank you for. It ties every batch to the exact extract and mapping that produced it, by hash, so you can walk from a line in the provisioning logs to a person, to a batch, to the input files. That only works because each operation's identifier is the person key, not a random value. It holds keys and hashes only, so it can live in the evidence store. Both clients pass the same tests, and seven of them pin the sample's behavior, so if Microsoft improves it, you'll know it's time to shrink your own code.
Detail: provenance.json ties every sent batch to the exact inputs that produced it: schema fmp-hcm-provenance/1, as_of 2026-10-25, extract_sha256 (sha256 of the extract file's bytes), mapping_sha256 (sha256 of mapping.json's bytes), counts ready 9, quarantined 9, superseded 1, held false, batches (batch 1, batch_sha256 ab8f211e…, person_keys 100003, 100008, 100013, …), quarantined (100006, 100007, …). Each batch_sha256 is the hash apply-results.json records when that batch is sent, over the same canonical JSON. An auditor can go from a line in the provisioning logs to the person key, to the batch and its Location, to the extract and mapping files by hash. That only works because bulkId is the person key: with a random bulkId, as in the sample, the same input would never produce the same hash. The manifest carries keys and hashes only, so it can sit in the evidence store; Book 13, Chapter 04 describes the provenance pattern it follows. The tests: the Python suite has 48 tests and the PowerShell suite 48, all passing. They cover every rule above; that the two clients produce the same payloads, hashes and provenance (shared fixture hashes); and, in Csv2ScimBaseline.Tests.ps1, seven tests that run the pinned CSV2SCIM offline on the same fixture and pin the differences it can observe there. If a future CSV2SCIM version adds validation or ordering, those tests fail on the snapshot update, which is the prompt to shrink our client.
Sources: Building the Attribute-Driven Migration, Chapter 01, docs/project-plans/developer-workbooks/attribute-driven-migration/01-the-hr-to-entra-middleware.md
Workbook: Building the Attribute-Driven Migration, Chapter 01 — “The provenance manifest”; “The tests”.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is this for? Developers who own the H R integration, comfortable in PowerShell or Python and familiar with SCIM, but they don't need to know the H R product. The engineers who review it, who should be able to say where every rule came from. And the security officer, who needs records rather than a screen. The permissions are the other half of who. The sender gets one upload permission and nothing else; reading the logs is a separate identity. And note that two Learn pages name different log permissions, so try the narrower one first in your test tenant.
Detail: Audience: developers who own the HR integration, and the engineers who review it. You should be comfortable in PowerShell 7 or Python and know what SCIM is. You don't need to know the HR product: everything reads a CSV extract whose columns a mapping file names. Verified facts: Send a batch, POST /servicePrincipals/{id}/synchronization/jobs/{jobId}/bulkUpload, Content-Type application/scim+json; application permission SynchronizationData-User.Upload.OwnedBy; delegated SynchronizationData-User.Upload with User Administrator; API-driven inbound provisioning is listed as available for Azure Government tenants; v1.0. Read results, GET /auditLogs/provisioning with $filter on jobId; AuditLog.Read.All and Directory.Read.All; delegated callers also need a role such as Reports Reader or Global Reader; Global, US Government L4 and L5; v1.0. CSV2SCIM certificate flow: the script's own sign-in; Application.Read.All and Synchronization.Read.All added to the app, to look up the provisioning job; worldwide endpoint only, as written; sample. Where Learn differs on the log-reading permission: the concepts page tells admins to grant ProvisioningLog.Read.All; the List provisioningObjectSummary page names AuditLog.Read.All and Directory.Read.All. Try the narrower one first in the test tenant.
Sources: Microsoft Learn, "Perform bulkUpload," https://learn.microsoft.com/graph/api/synchronization-synchronizationjob-post-bulkupload?view=graph-rest-1.0 (accessed Oct 30, 2026). · Microsoft Learn, "List provisioningObjectSummary," https://learn.microsoft.com/graph/api/provisioningobjectsummary-list?view=graph-rest-1.0 (accessed Oct 30, 2026). · Microsoft Learn, "API-driven inbound provisioning with PowerShell script," https://learn.microsoft.com/entra/identity/app-provisioning/inbound-provisioning-api-powershell (accessed Oct 30, 2026). · Microsoft Learn, "Microsoft Entra feature availability," https://learn.microsoft.com/entra/identity/authentication/feature-availability (accessed Oct 30, 2026). · Microsoft Learn, "API-driven inbound provisioning concepts," https://learn.microsoft.com/entra/identity/app-provisioning/inbound-provisioning-api-concepts (accessed Oct 30, 2026).
Workbook: Building the Attribute-Driven Migration, Chapter 01 — “Goal and audience”; “Verified facts”.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runs on a laptop with no tenant and no network. First you run Microsoft's sample on the fixture. The mapping checks out, and the payload holds all nineteen operations. Then go looking: the pending worker is active, one person appears twice, and one operation has an empty key. Next you run the hardened client on the same file. It exits with a code that says rows were refused: nine ready, nine quarantined, one superseded, and the PowerShell client agrees exactly. Now compare the two.
Detail: You need PowerShell 7 with Pester 5 (and Python 3.10 or later for the Python client). Nothing in this lab touches the network: CSV2SCIM's validate and generate modes read local files only, and the example's sender is tested with a fake poster. Step 1, run Microsoft's sample on the fixture, from examples: $map = Import-PowerShellDataFile ./hcm-entra/config/csv2scim/AttributeMapping.psd1; ./third_party/csv2scim/src/CSV2SCIM.ps1 -Path ./hcm-entra/tests/fixtures/hcm_extract_sample.csv -AttributeMapping $map -ValidateAttributeMapping; then the same with -ScimSchemaNamespace 'urn:ietf:params:scim:schemas:extension:contoso:1.0:User' &gt; baseline.json. The first command returns True. Open baseline.json: one bulk request with 19 operations. Find person 100006 (worker type P, a pending worker): active is true. Find person 100008: it is there twice. One operation has an empty externalId. Step 2, run the hardened client on the same fixture: cd hcm-entra; python python/hcm_to_scim.py --extract tests/fixtures/hcm_extract_sample.csv --as-of 2026-10-25 --out out. It exits with code 2. Counts: 9 ready, 9 quarantined, 1 superseded. The PowerShell client (pwsh -File powershell/Invoke-HcmToScim.ps1 -Extract tests/fixtures/hcm_extract_sample.csv -AsOf 2026-10-25 -Out out-ps) gives the same. The commands run the pinned sample and the example as published in the repository; they are tested against fixtures, not against a production tenant. Review both, and run them in a test tenant, before they carry real HR data.
Sources: Building the Attribute-Driven Migration, Chapter 01, docs/project-plans/developer-workbooks/attribute-driven-migration/01-the-hr-to-entra-middleware.md
Workbook: Building the Attribute-Driven Migration, Chapter 01 — “Lab 1: fixtures, no tenant,” steps 1–2; the “Illustrative code” callout.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comparison makes the gap table real. The pending worker sits in quarantine with its reason. Our first operation is the leaver, while the sample starts at the top of the file, and the future hire is disabled in ours but active in the sample's. Hash the extract yourself and it matches the manifest; run each tool twice and only ours gives identical batches. Then break things on purpose: a lower-case department code is refused, and a strict disable limit holds the run. Finish with the tests, forty-eight in each language.
Detail: Step 3, compare: in out/quarantine.json, find 100006 and its reason (worker type P refused) and the blank-key row. In out/bulk-request-001.json, the first operation is the leaver, 100003, with active false; in baseline.json, the first is 100000. Find 100001 (hire date after the run date): disabled in ours, active in the baseline. Step 4, check provenance: open out/provenance.json and hash the extract yourself: python -c "import hashlib,sys;print(hashlib.sha256(open(sys.argv[1],'rb').read()).hexdigest())" tests/fixtures/hcm_extract_sample.csv. It matches extract_sha256. Run CSV2SCIM's generate step twice and compare: the bulkId values differ every time. Run our client twice: identical batches and hashes. Step 5, break something on purpose: change one worker's DepartmentCode to org-100 (lower case) in a copy of the extract. Our client quarantines that worker with a code-list reason; CSV2SCIM sends it. Step 6, hold a run: pass settings containing {"max_disables_per_run": 1} with --settings and see exit code 3. Step 7, run the tests: python -m pytest -q -p no:cacheprovider tests/python; pwsh -NoProfile -Command "Invoke-Pester -Path tests/powershell". Expected result: 48 Python and 48 Pester tests passing, and the differences in the table above, seen with your own eyes.
Sources: Building the Attribute-Driven Migration, Chapter 01, docs/project-plans/developer-workbooks/attribute-driven-migration/01-the-hr-to-entra-middleware.md
Workbook: Building the Attribute-Driven Migration, Chapter 01 — “Lab 1: fixtures, no tenant,” steps 3–7.</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moves to a test tenant with fictional records, never production. You create the provisioning app, extend its schema with Microsoft's sample, and give the sender one upload permission through a managed identity or a certificate, never a secret. Start the job with its safety nets on: the notification email and accidental-deletion prevention. Then send five records and get one accepted batch. The step people skip is the next one: reconcile. Every person key in the manifest should show up in the provisioning logs. Then back it all out.
Detail: Use a test tenant, never production, and fictional records only. 1 Create the provisioning app: an API-driven inbound provisioning app that provisions to Microsoft Entra ID, following Learn's configuration guide; the feature needs Microsoft Entra ID P1, P2 or ID Governance. Copy its Provisioning API Endpoint. 2 Extend its schema with Microsoft's sample (worldwide or GCC tenant): run CSV2SCIM's -UpdateSchema mode with the extension namespace from mapping.json and your provisioning app's object ID, as Learn shows. It adds every extract column to the app's attribute list. Then map the attributes you need in the admin center. In GCC High or DoD, add the attributes in the admin center instead: the sample can't reach those clouds as written. 3 Grant the least privilege to the sender: a managed identity or an app with a certificate, never a secret. The least-privileged application permission is SynchronizationData-User.Upload.OwnedBy when the app owns the provisioning service principal; otherwise SynchronizationData-User.Upload. Don't give the production sender CSV2SCIM's sign-in scopes. For CSV2SCIM's certificate flow, Learn adds Application.Read.All and Synchronization.Read.All so the script can look up the job; keep that identity for testing. 4 Start the job and set its safety nets: start the job, set the notification email, and turn on accidental-deletions prevention. 5 Send five records with the hardened client: put the endpoint in config/settings.json, a token for the tenant's Graph host in HCM_ENTRA_BEARER_TOKEN, and run with --apply on five valid rows. Expect one batch, a 202, and a Location in apply-results.json. 6 Reconcile: read the cycle with CSV2SCIM's -GetPreviousCycleLogs (worldwide or GCC), or query GET /auditLogs/provisioning filtered on the job. Every person key in provenance.json's batch should appear with a result; one that doesn't is a finding. 7 Back it out: send the five records again as INACTIVE with a termination date, delete the test users and the app, and unset the token variable.
Sources: Microsoft Learn, "API-driven inbound provisioning concepts," https://learn.microsoft.com/entra/identity/app-provisioning/inbound-provisioning-api-concepts (accessed Oct 30, 2026). · Microsoft Learn, "API-driven inbound provisioning with PowerShell script," https://learn.microsoft.com/entra/identity/app-provisioning/inbound-provisioning-api-powershell (accessed Oct 30, 2026). · Microsoft Learn, "Perform bulkUpload," https://learn.microsoft.com/graph/api/synchronization-synchronizationjob-post-bulkupload?view=graph-rest-1.0 (accessed Oct 30, 2026). · Microsoft Learn, "List provisioningObjectSummary," https://learn.microsoft.com/graph/api/provisioningobjectsummary-list?view=graph-rest-1.0 (accessed Oct 30, 2026).
Workbook: Building the Attribute-Driven Migration, Chapter 01 — “Lab 2: test tenant”.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dangers is ordinary, and each has a guard. The most tempting is sending a sample's output straight to production, which lets pending workers and duplicates into the directory. The most damaging is one bad extract disabling hundreds of people before anyone looks, and the hold stops that. The quietest is treating an accepted response as success, when the record may have failed inside the job. Notice that every guard is something the code does on every run, not something a person has to remember.
Detail: Sending a sample's output to production unchanged: pending workers, duplicates and blank keys reach the directory; guard: the hardened client for production sends, and the baseline tests show what the sample doesn't check. A sample that changes under you: labs and behavior drift without anyone deciding; guard: the pinned copy, its hash test, and the weekly upstream watch. Over-broad sign-in scopes: Application.ReadWrite.All on an identity that only needs to upload; guard: one permission for the sender, the sample's identity kept to the test tenant. Wrong cloud: a GCC High tenant can't be reached, or a token goes to the wrong host; guard: the endpoint allow-list of the three Graph hosts. Partial records: an omitted attribute clears the target when clearing is on (preview); guard: every record is built complete. Mass disable from a bad extract: hundreds of accounts disabled before anyone looks; guard: max_disables_per_run holds the run. Treating 202 as success: a record that failed in the job is never followed up; guard: reconcile against the logs, using the manifest's person keys. Personal data in logs: names and payloads in the operational log; guard: the report and manifest carry keys and hashes only.
Sources: Microsoft Learn, "API-driven inbound provisioning concepts," https://learn.microsoft.com/entra/identity/app-provisioning/inbound-provisioning-api-concepts (accessed Oct 30, 2026).
Workbook: Building the Attribute-Driven Migration, Chapter 01 — “Dangers”.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done looks like. On the code side: the sample's mapping validates, the pinned copy is unchanged and reviewed, production goes through the hardened client, both clients pass, and new rules refuse by default. On the run side: the hold and the budget are set from your own numbers and license, the sender has one permission and no secret, the quarantine file stays in the audit store, every missing person key becomes a finding, and the endpoint matches the cloud. Chapter 2 builds Graph clients for the government clouds. Thanks for watching.
Detail: Checklist: The CSV2SCIM mapping validates (-ValidateAttributeMapping returns True), and the provisioning app's attribute list carries the extension namespace. The pinned CSV2SCIM copy matches its manifest, and every upstream commit since the pin has been reviewed. Production sends go through the hardened client; the baseline comparison tests pass. Both clients pass their tests, and the provenance fixture hash still matches. A new validation rule refuses by default, with a test for the refusal. max_disables_per_run and daily_call_budget are set from the agency's numbers and license. The sending identity has SynchronizationData-User.Upload.OwnedBy (or .Upload) and nothing else, with a certificate or managed identity. quarantine.json goes only to the access-controlled audit store; the other outputs go to the evidence store. Reconciliation opens a finding for every person key missing from the provisioning logs. The endpoint and token authority match the tenant's cloud. Next: Chapter 02 — Graph Clients for the Government Clouds.
Sources: Microsoft Learn, "Perform bulkUpload," https://learn.microsoft.com/graph/api/synchronization-synchronizationjob-post-bulkupload?view=graph-rest-1.0 (accessed Oct 30, 2026). · Microsoft Learn, "Microsoft Graph national cloud deployments," https://learn.microsoft.com/graph/deployments (accessed Oct 30, 2026).
Workbook: Building the Attribute-Driven Migration, Chapter 01 — “Checklist”; “Continue the book”.</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Building the Attribute-Driven Migration  ·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2.xml"/><Relationship Id="rId7"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3.xml"/><Relationship Id="rId7"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4.xml"/><Relationship Id="rId7"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5.xml"/><Relationship Id="rId7"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6.xml"/><Relationship Id="rId7"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5" Type="http://schemas.openxmlformats.org/officeDocument/2006/relationships/image" Target="../media/image3.png"/><Relationship Id="rId4" Type="http://schemas.openxmlformats.org/officeDocument/2006/relationships/notesSlide" Target="../notesSlides/notesSlide7.xml"/><Relationship Id="rId6"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8.xml"/><Relationship Id="rId7"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9.xml"/><Relationship Id="rId7"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10.xml"/><Relationship Id="rId7"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5" Type="http://schemas.openxmlformats.org/officeDocument/2006/relationships/image" Target="../media/image3.png"/><Relationship Id="rId4" Type="http://schemas.openxmlformats.org/officeDocument/2006/relationships/notesSlide" Target="../notesSlides/notesSlide11.xml"/><Relationship Id="rId6"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5" Type="http://schemas.openxmlformats.org/officeDocument/2006/relationships/image" Target="../media/image3.png"/><Relationship Id="rId4" Type="http://schemas.openxmlformats.org/officeDocument/2006/relationships/notesSlide" Target="../notesSlides/notesSlide12.xml"/><Relationship Id="rId6"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5" Type="http://schemas.openxmlformats.org/officeDocument/2006/relationships/image" Target="../media/image3.png"/><Relationship Id="rId4" Type="http://schemas.openxmlformats.org/officeDocument/2006/relationships/notesSlide" Target="../notesSlides/notesSlide13.xml"/><Relationship Id="rId6"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notesSlide" Target="../notesSlides/notesSlide14.xml"/><Relationship Id="rId7"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5" Type="http://schemas.openxmlformats.org/officeDocument/2006/relationships/image" Target="../media/image3.png"/><Relationship Id="rId4" Type="http://schemas.openxmlformats.org/officeDocument/2006/relationships/notesSlide" Target="../notesSlides/notesSlide15.xml"/><Relationship Id="rId6"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16.xml"/><Relationship Id="rId7"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3.png"/><Relationship Id="rId4" Type="http://schemas.openxmlformats.org/officeDocument/2006/relationships/notesSlide" Target="../notesSlides/notesSlide17.xml"/><Relationship Id="rId6"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notesSlide" Target="../notesSlides/notesSlide18.xml"/><Relationship Id="rId7" Type="http://schemas.microsoft.com/office/2017/04/relationships/track" Target="../media/captions_slide18.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Chapter 01: The HR-to-Entra Middleware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Building the Attribute-Driven Migration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marL="0" indent="0">
              <a:spcAft>
                <a:spcPts val="400"/>
              </a:spcAft>
              <a:buNone/>
            </a:pPr>
            <a:r>
              <a:rPr lang="en-US" sz="1400" b="1" dirty="0">
                <a:solidFill>
                  <a:srgbClr val="1F2A44"/>
                </a:solidFill>
              </a:rPr>
              <a:t>Why the payload matters · Microsoft's CSV2SCIM and its gaps · the hardened client · who · two labs · dangers</a:t>
            </a:r>
            <a:endParaRPr lang="en-US" sz="1400" dirty="0"/>
          </a:p>
          <a:p>
            <a:pPr marL="0" indent="0">
              <a:spcAft>
                <a:spcPts val="400"/>
              </a:spcAft>
              <a:buNone/>
            </a:pPr>
            <a:r>
              <a:rPr lang="en-US" sz="1400" dirty="0">
                <a:solidFill>
                  <a:srgbClr val="334155"/>
                </a:solidFill>
              </a:rPr>
              <a:t>Chapter review status: approved  ·  Illustrative code, tested against fixtures</a:t>
            </a:r>
            <a:endParaRPr lang="en-US" sz="1400" dirty="0"/>
          </a:p>
          <a:p>
            <a:pPr marL="0" indent="0">
              <a:spcAft>
                <a:spcPts val="400"/>
              </a:spcAft>
              <a:buNone/>
            </a:pPr>
            <a:r>
              <a:rPr lang="en-US" sz="1400" b="1" dirty="0">
                <a:solidFill>
                  <a:srgbClr val="0F766E"/>
                </a:solidFill>
              </a:rPr>
              <a:t>Date Code 2026-10-31 10:16 ET</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6704869E-479D-BDFF-6179-F230A9C10B0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464588A-A7A3-40BA-85A0-215A73774766}"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840"/>
    </mc:Choice>
    <mc:Fallback>
      <p:transition spd="slow" advTm="378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84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Why the payload is where the record stays true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Lead"/>
          <p:cNvSpPr txBox="1"/>
          <p:nvPr/>
        </p:nvSpPr>
        <p:spPr>
          <a:xfrm>
            <a:off x="548640" y="1325880"/>
            <a:ext cx="11109960" cy="603504"/>
          </a:xfrm>
          <a:prstGeom prst="rect">
            <a:avLst/>
          </a:prstGeom>
          <a:noFill/>
          <a:ln/>
        </p:spPr>
        <p:txBody>
          <a:bodyPr wrap="square" lIns="0" tIns="0" rIns="0" bIns="0" rtlCol="0" anchor="t"/>
          <a:lstStyle/>
          <a:p>
            <a:pPr marL="0" indent="0">
              <a:buNone/>
            </a:pPr>
            <a:r>
              <a:rPr lang="en-US" sz="1800" b="1" dirty="0">
                <a:solidFill>
                  <a:srgbClr val="1F2A44"/>
                </a:solidFill>
              </a:rPr>
              <a:t>The provisioning service does whatever the payload says; the middleware decides what the payload says.</a:t>
            </a:r>
            <a:endParaRPr lang="en-US" sz="1800" dirty="0"/>
          </a:p>
        </p:txBody>
      </p:sp>
      <p:sp>
        <p:nvSpPr>
          <p:cNvPr id="6" name="Panel The provisioning service owns">
            <a:extLst>
              <a:ext uri="{C183D7F6-B498-43B3-948B-1728B52AA6E4}">
                <adec:decorative xmlns:adec="http://schemas.microsoft.com/office/drawing/2017/decorative" val="1"/>
              </a:ext>
            </a:extLst>
          </p:cNvPr>
          <p:cNvSpPr/>
          <p:nvPr/>
        </p:nvSpPr>
        <p:spPr>
          <a:xfrm>
            <a:off x="548640" y="2112264"/>
            <a:ext cx="5417820" cy="2135124"/>
          </a:xfrm>
          <a:prstGeom prst="roundRect">
            <a:avLst>
              <a:gd name="adj" fmla="val 342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Panel The provisioning service owns label"/>
          <p:cNvSpPr txBox="1"/>
          <p:nvPr/>
        </p:nvSpPr>
        <p:spPr>
          <a:xfrm>
            <a:off x="731520" y="2221992"/>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THE PROVISIONING SERVICE OWNS</a:t>
            </a:r>
            <a:endParaRPr lang="en-US" sz="1100" dirty="0"/>
          </a:p>
        </p:txBody>
      </p:sp>
      <p:sp>
        <p:nvSpPr>
          <p:cNvPr id="8" name="Panel The provisioning service owns list"/>
          <p:cNvSpPr txBox="1"/>
          <p:nvPr/>
        </p:nvSpPr>
        <p:spPr>
          <a:xfrm>
            <a:off x="731520" y="2523744"/>
            <a:ext cx="5097780" cy="1677924"/>
          </a:xfrm>
          <a:prstGeom prst="rect">
            <a:avLst/>
          </a:prstGeom>
          <a:noFill/>
          <a:ln/>
        </p:spPr>
        <p:txBody>
          <a:bodyPr wrap="square" lIns="0" tIns="0" rIns="0" bIns="0" rtlCol="0" anchor="t"/>
          <a:lstStyle/>
          <a:p>
            <a:pPr marL="342900" indent="-342900">
              <a:spcAft>
                <a:spcPts val="400"/>
              </a:spcAft>
              <a:buSzPct val="100000"/>
              <a:buChar char="•"/>
            </a:pPr>
            <a:r>
              <a:rPr lang="en-US" sz="1650" dirty="0">
                <a:solidFill>
                  <a:srgbClr val="334155"/>
                </a:solidFill>
              </a:rPr>
              <a:t>Maps SCIM attributes to directory attributes</a:t>
            </a:r>
            <a:endParaRPr lang="en-US" sz="1650" dirty="0"/>
          </a:p>
          <a:p>
            <a:pPr marL="342900" indent="-342900">
              <a:spcAft>
                <a:spcPts val="400"/>
              </a:spcAft>
              <a:buSzPct val="100000"/>
              <a:buChar char="•"/>
            </a:pPr>
            <a:r>
              <a:rPr lang="en-US" sz="1650" dirty="0">
                <a:solidFill>
                  <a:srgbClr val="334155"/>
                </a:solidFill>
              </a:rPr>
              <a:t>Matches incoming records to existing users</a:t>
            </a:r>
            <a:endParaRPr lang="en-US" sz="1650" dirty="0"/>
          </a:p>
          <a:p>
            <a:pPr marL="342900" indent="-342900">
              <a:spcAft>
                <a:spcPts val="400"/>
              </a:spcAft>
              <a:buSzPct val="100000"/>
              <a:buChar char="•"/>
            </a:pPr>
            <a:r>
              <a:rPr lang="en-US" sz="1650" dirty="0">
                <a:solidFill>
                  <a:srgbClr val="334155"/>
                </a:solidFill>
              </a:rPr>
              <a:t>Does the write, to Entra ID or AD</a:t>
            </a:r>
            <a:endParaRPr lang="en-US" sz="1650" dirty="0"/>
          </a:p>
          <a:p>
            <a:pPr marL="342900" indent="-342900">
              <a:spcAft>
                <a:spcPts val="400"/>
              </a:spcAft>
              <a:buSzPct val="100000"/>
              <a:buChar char="•"/>
            </a:pPr>
            <a:r>
              <a:rPr lang="en-US" sz="1650" dirty="0">
                <a:solidFill>
                  <a:srgbClr val="334155"/>
                </a:solidFill>
              </a:rPr>
              <a:t>Microsoft's intent: the client doesn't compare the system of record with the directory</a:t>
            </a:r>
            <a:endParaRPr lang="en-US" sz="1650" dirty="0"/>
          </a:p>
        </p:txBody>
      </p:sp>
      <p:sp>
        <p:nvSpPr>
          <p:cNvPr id="9" name="Panel The middleware owns">
            <a:extLst>
              <a:ext uri="{C183D7F6-B498-43B3-948B-1728B52AA6E4}">
                <adec:decorative xmlns:adec="http://schemas.microsoft.com/office/drawing/2017/decorative" val="1"/>
              </a:ext>
            </a:extLst>
          </p:cNvPr>
          <p:cNvSpPr/>
          <p:nvPr/>
        </p:nvSpPr>
        <p:spPr>
          <a:xfrm>
            <a:off x="6240780" y="2112264"/>
            <a:ext cx="5417820" cy="2135124"/>
          </a:xfrm>
          <a:prstGeom prst="roundRect">
            <a:avLst>
              <a:gd name="adj" fmla="val 3426"/>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Panel The middleware owns label"/>
          <p:cNvSpPr txBox="1"/>
          <p:nvPr/>
        </p:nvSpPr>
        <p:spPr>
          <a:xfrm>
            <a:off x="6423660" y="2221992"/>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MIDDLEWARE OWNS</a:t>
            </a:r>
            <a:endParaRPr lang="en-US" sz="1100" dirty="0"/>
          </a:p>
        </p:txBody>
      </p:sp>
      <p:sp>
        <p:nvSpPr>
          <p:cNvPr id="11" name="Panel The middleware owns list"/>
          <p:cNvSpPr txBox="1"/>
          <p:nvPr/>
        </p:nvSpPr>
        <p:spPr>
          <a:xfrm>
            <a:off x="6423660" y="2523744"/>
            <a:ext cx="5097780" cy="1677924"/>
          </a:xfrm>
          <a:prstGeom prst="rect">
            <a:avLst/>
          </a:prstGeom>
          <a:noFill/>
          <a:ln/>
        </p:spPr>
        <p:txBody>
          <a:bodyPr wrap="square" lIns="0" tIns="0" rIns="0" bIns="0" rtlCol="0" anchor="t"/>
          <a:lstStyle/>
          <a:p>
            <a:pPr marL="342900" indent="-342900">
              <a:spcAft>
                <a:spcPts val="400"/>
              </a:spcAft>
              <a:buSzPct val="100000"/>
              <a:buChar char="•"/>
            </a:pPr>
            <a:r>
              <a:rPr lang="en-US" sz="1650" dirty="0">
                <a:solidFill>
                  <a:srgbClr val="334155"/>
                </a:solidFill>
              </a:rPr>
              <a:t>Everything before the POST</a:t>
            </a:r>
            <a:endParaRPr lang="en-US" sz="1650" dirty="0"/>
          </a:p>
          <a:p>
            <a:pPr marL="342900" indent="-342900">
              <a:spcAft>
                <a:spcPts val="400"/>
              </a:spcAft>
              <a:buSzPct val="100000"/>
              <a:buChar char="•"/>
            </a:pPr>
            <a:r>
              <a:rPr lang="en-US" sz="1650" dirty="0">
                <a:solidFill>
                  <a:srgbClr val="334155"/>
                </a:solidFill>
              </a:rPr>
              <a:t>What is sent, in what order, how fast</a:t>
            </a:r>
            <a:endParaRPr lang="en-US" sz="1650" dirty="0"/>
          </a:p>
          <a:p>
            <a:pPr marL="342900" indent="-342900">
              <a:spcAft>
                <a:spcPts val="400"/>
              </a:spcAft>
              <a:buSzPct val="100000"/>
              <a:buChar char="•"/>
            </a:pPr>
            <a:r>
              <a:rPr lang="en-US" sz="1650" dirty="0">
                <a:solidFill>
                  <a:srgbClr val="334155"/>
                </a:solidFill>
              </a:rPr>
              <a:t>What record is kept of it</a:t>
            </a:r>
            <a:endParaRPr lang="en-US" sz="1650" dirty="0"/>
          </a:p>
          <a:p>
            <a:pPr marL="342900" indent="-342900">
              <a:spcAft>
                <a:spcPts val="400"/>
              </a:spcAft>
              <a:buSzPct val="100000"/>
              <a:buChar char="•"/>
            </a:pPr>
            <a:r>
              <a:rPr lang="en-US" sz="1650" dirty="0">
                <a:solidFill>
                  <a:srgbClr val="334155"/>
                </a:solidFill>
              </a:rPr>
              <a:t>Book 03, Ch 05's duties: validate, normalize, sequence, send, reconcile</a:t>
            </a:r>
            <a:endParaRPr lang="en-US" sz="1650" dirty="0"/>
          </a:p>
        </p:txBody>
      </p:sp>
      <p:sp>
        <p:nvSpPr>
          <p:cNvPr id="12" name="Callout">
            <a:extLst>
              <a:ext uri="{C183D7F6-B498-43B3-948B-1728B52AA6E4}">
                <adec:decorative xmlns:adec="http://schemas.microsoft.com/office/drawing/2017/decorative" val="1"/>
              </a:ext>
            </a:extLst>
          </p:cNvPr>
          <p:cNvSpPr/>
          <p:nvPr/>
        </p:nvSpPr>
        <p:spPr>
          <a:xfrm>
            <a:off x="548640" y="4430268"/>
            <a:ext cx="11109960" cy="752856"/>
          </a:xfrm>
          <a:prstGeom prst="roundRect">
            <a:avLst>
              <a:gd name="adj" fmla="val 971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3" name="Icon FaTriangleExclamation">
            <a:extLst>
              <a:ext uri="{C183D7F6-B498-43B3-948B-1728B52AA6E4}">
                <adec:decorative xmlns:adec="http://schemas.microsoft.com/office/drawing/2017/decorative" val="1"/>
              </a:ext>
            </a:extLst>
          </p:cNvPr>
          <p:cNvSpPr/>
          <p:nvPr/>
        </p:nvSpPr>
        <p:spPr>
          <a:xfrm>
            <a:off x="749808" y="4503420"/>
            <a:ext cx="606552" cy="606552"/>
          </a:xfrm>
          <a:prstGeom prst="ellipse">
            <a:avLst/>
          </a:prstGeom>
          <a:solidFill>
            <a:srgbClr val="B45309"/>
          </a:solidFill>
          <a:ln w="12700">
            <a:solidFill>
              <a:srgbClr val="B45309"/>
            </a:solidFill>
            <a:prstDash val="solid"/>
          </a:ln>
        </p:spPr>
      </p:sp>
      <p:pic>
        <p:nvPicPr>
          <p:cNvPr id="14"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648992"/>
            <a:ext cx="315407" cy="315407"/>
          </a:xfrm>
          <a:prstGeom prst="rect">
            <a:avLst/>
          </a:prstGeom>
        </p:spPr>
      </p:pic>
      <p:sp>
        <p:nvSpPr>
          <p:cNvPr id="15" name="Callout text"/>
          <p:cNvSpPr txBox="1"/>
          <p:nvPr/>
        </p:nvSpPr>
        <p:spPr>
          <a:xfrm>
            <a:off x="1600200" y="4485132"/>
            <a:ext cx="9875520" cy="643128"/>
          </a:xfrm>
          <a:prstGeom prst="rect">
            <a:avLst/>
          </a:prstGeom>
          <a:noFill/>
          <a:ln/>
        </p:spPr>
        <p:txBody>
          <a:bodyPr wrap="square" lIns="0" tIns="0" rIns="0" bIns="0" rtlCol="0" anchor="ctr"/>
          <a:lstStyle/>
          <a:p>
            <a:pPr marL="0" indent="0">
              <a:buNone/>
            </a:pPr>
            <a:r>
              <a:rPr lang="en-US" sz="1750" b="1" dirty="0">
                <a:solidFill>
                  <a:srgbClr val="B45309"/>
                </a:solidFill>
              </a:rPr>
              <a:t>Asynchronous: </a:t>
            </a:r>
            <a:r>
              <a:rPr lang="en-US" sz="1750" dirty="0">
                <a:solidFill>
                  <a:srgbClr val="334155"/>
                </a:solidFill>
              </a:rPr>
              <a:t>a 202 Accepted means the batch was staged for the job, not that any user was written. The Location header points at the provisioning logs.</a:t>
            </a:r>
            <a:endParaRPr lang="en-US" sz="1750" dirty="0"/>
          </a:p>
        </p:txBody>
      </p:sp>
      <p:sp>
        <p:nvSpPr>
          <p:cNvPr id="1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API-driven inbound provisioning with PowerShell script; Learn, Perform bulkUpload. Chapter 01, “Where the middleware sits.”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7" name="Narration" descr="Narration for this slide; captions available">
            <a:hlinkClick r:id="" action="ppaction://media"/>
            <a:extLst>
              <a:ext uri="{FF2B5EF4-FFF2-40B4-BE49-F238E27FC236}">
                <a16:creationId xmlns:a16="http://schemas.microsoft.com/office/drawing/2014/main" id="{F9BB214B-F111-E673-320F-13B0C4B7F1F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A65B733-DEF2-4E04-9BB2-5FFC50876185}"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830"/>
    </mc:Choice>
    <mc:Fallback>
      <p:transition spd="slow" advTm="368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832"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Which cloud: the Graph host and the token authority</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1620012"/>
        </p:xfrm>
        <a:graphic>
          <a:graphicData uri="http://schemas.openxmlformats.org/drawingml/2006/table">
            <a:tbl>
              <a:tblPr firstRow="1" bandRow="1"/>
              <a:tblGrid>
                <a:gridCol w="237744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2880360">
                  <a:extLst>
                    <a:ext uri="{9D8B030D-6E8A-4147-A177-3AD203B41FA5}">
                      <a16:colId xmlns:a16="http://schemas.microsoft.com/office/drawing/2014/main" val="20003"/>
                    </a:ext>
                  </a:extLst>
                </a:gridCol>
              </a:tblGrid>
              <a:tr h="345948">
                <a:tc>
                  <a:txBody>
                    <a:bodyPr/>
                    <a:lstStyle/>
                    <a:p>
                      <a:pPr marL="0" indent="0">
                        <a:buNone/>
                      </a:pPr>
                      <a:r>
                        <a:rPr lang="en-US" sz="1550" b="1" dirty="0">
                          <a:solidFill>
                            <a:srgbClr val="FFFFFF"/>
                          </a:solidFill>
                          <a:latin typeface="Calibri" pitchFamily="34" charset="0"/>
                          <a:ea typeface="Calibri" pitchFamily="34" charset="-122"/>
                          <a:cs typeface="Calibri" pitchFamily="34" charset="-120"/>
                        </a:rPr>
                        <a:t>Cloud</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50" b="1" dirty="0">
                          <a:solidFill>
                            <a:srgbClr val="FFFFFF"/>
                          </a:solidFill>
                          <a:latin typeface="Calibri" pitchFamily="34" charset="0"/>
                          <a:ea typeface="Calibri" pitchFamily="34" charset="-122"/>
                          <a:cs typeface="Calibri" pitchFamily="34" charset="-120"/>
                        </a:rPr>
                        <a:t>Graph host</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50" b="1" dirty="0">
                          <a:solidFill>
                            <a:srgbClr val="FFFFFF"/>
                          </a:solidFill>
                          <a:latin typeface="Calibri" pitchFamily="34" charset="0"/>
                          <a:ea typeface="Calibri" pitchFamily="34" charset="-122"/>
                          <a:cs typeface="Calibri" pitchFamily="34" charset="-120"/>
                        </a:rPr>
                        <a:t>Token authority</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50" b="1" dirty="0">
                          <a:solidFill>
                            <a:srgbClr val="FFFFFF"/>
                          </a:solidFill>
                          <a:latin typeface="Calibri" pitchFamily="34" charset="0"/>
                          <a:ea typeface="Calibri" pitchFamily="34" charset="-122"/>
                          <a:cs typeface="Calibri" pitchFamily="34" charset="-120"/>
                        </a:rPr>
                        <a:t>CSV2SCIM as written</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82168">
                <a:tc>
                  <a:txBody>
                    <a:bodyPr/>
                    <a:lstStyle/>
                    <a:p>
                      <a:pPr marL="0" indent="0">
                        <a:buNone/>
                      </a:pPr>
                      <a:r>
                        <a:rPr lang="en-US" sz="1550" b="1" dirty="0">
                          <a:solidFill>
                            <a:srgbClr val="1F2A44"/>
                          </a:solidFill>
                          <a:latin typeface="Calibri" pitchFamily="34" charset="0"/>
                          <a:ea typeface="Calibri" pitchFamily="34" charset="-122"/>
                          <a:cs typeface="Calibri" pitchFamily="34" charset="-120"/>
                        </a:rPr>
                        <a:t>Worldwide and Microsoft 365 GCC</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graph.microsoft.com</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the worldwide authority</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Works: hard-coded to graph.microsoft.com/beta</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5948">
                <a:tc>
                  <a:txBody>
                    <a:bodyPr/>
                    <a:lstStyle/>
                    <a:p>
                      <a:pPr marL="0" indent="0">
                        <a:buNone/>
                      </a:pPr>
                      <a:r>
                        <a:rPr lang="en-US" sz="1550" b="1" dirty="0">
                          <a:solidFill>
                            <a:srgbClr val="1F2A44"/>
                          </a:solidFill>
                          <a:latin typeface="Calibri" pitchFamily="34" charset="0"/>
                          <a:ea typeface="Calibri" pitchFamily="34" charset="-122"/>
                          <a:cs typeface="Calibri" pitchFamily="34" charset="-120"/>
                        </a:rPr>
                        <a:t>GCC High</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graph.microsoft.us</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login.microsoftonline.us</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Can't reach it</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5948">
                <a:tc>
                  <a:txBody>
                    <a:bodyPr/>
                    <a:lstStyle/>
                    <a:p>
                      <a:pPr marL="0" indent="0">
                        <a:buNone/>
                      </a:pPr>
                      <a:r>
                        <a:rPr lang="en-US" sz="1550" b="1" dirty="0">
                          <a:solidFill>
                            <a:srgbClr val="1F2A44"/>
                          </a:solidFill>
                          <a:latin typeface="Calibri" pitchFamily="34" charset="0"/>
                          <a:ea typeface="Calibri" pitchFamily="34" charset="-122"/>
                          <a:cs typeface="Calibri" pitchFamily="34" charset="-120"/>
                        </a:rPr>
                        <a:t>DoD</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dod-graph.microsoft.us</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login.microsoftonline.us</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Can't reach it</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List"/>
          <p:cNvSpPr txBox="1"/>
          <p:nvPr/>
        </p:nvSpPr>
        <p:spPr>
          <a:xfrm>
            <a:off x="548640" y="3128772"/>
            <a:ext cx="11109960" cy="941832"/>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Tokens from one cloud don't work in another</a:t>
            </a:r>
            <a:endParaRPr lang="en-US" sz="1600" dirty="0"/>
          </a:p>
          <a:p>
            <a:pPr marL="342900" indent="-342900">
              <a:spcAft>
                <a:spcPts val="400"/>
              </a:spcAft>
              <a:buSzPct val="100000"/>
              <a:buChar char="•"/>
            </a:pPr>
            <a:r>
              <a:rPr lang="en-US" sz="1600" dirty="0">
                <a:solidFill>
                  <a:srgbClr val="334155"/>
                </a:solidFill>
              </a:rPr>
              <a:t>API-driven inbound provisioning is listed as available for Azure Government tenants</a:t>
            </a:r>
            <a:endParaRPr lang="en-US" sz="1600" dirty="0"/>
          </a:p>
          <a:p>
            <a:pPr marL="342900" indent="-342900">
              <a:spcAft>
                <a:spcPts val="400"/>
              </a:spcAft>
              <a:buSzPct val="100000"/>
              <a:buChar char="•"/>
            </a:pPr>
            <a:r>
              <a:rPr lang="en-US" sz="1600" dirty="0">
                <a:solidFill>
                  <a:srgbClr val="334155"/>
                </a:solidFill>
              </a:rPr>
              <a:t>The hardened client's endpoint must be one of the three Graph hosts, on v1.0 or beta</a:t>
            </a:r>
            <a:endParaRPr lang="en-US" sz="1600" dirty="0"/>
          </a:p>
        </p:txBody>
      </p:sp>
      <p:sp>
        <p:nvSpPr>
          <p:cNvPr id="7" name="Callout">
            <a:extLst>
              <a:ext uri="{C183D7F6-B498-43B3-948B-1728B52AA6E4}">
                <adec:decorative xmlns:adec="http://schemas.microsoft.com/office/drawing/2017/decorative" val="1"/>
              </a:ext>
            </a:extLst>
          </p:cNvPr>
          <p:cNvSpPr/>
          <p:nvPr/>
        </p:nvSpPr>
        <p:spPr>
          <a:xfrm>
            <a:off x="548640" y="4253484"/>
            <a:ext cx="11109960" cy="752856"/>
          </a:xfrm>
          <a:prstGeom prst="roundRect">
            <a:avLst>
              <a:gd name="adj" fmla="val 971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8" name="Icon FaCloud">
            <a:extLst>
              <a:ext uri="{C183D7F6-B498-43B3-948B-1728B52AA6E4}">
                <adec:decorative xmlns:adec="http://schemas.microsoft.com/office/drawing/2017/decorative" val="1"/>
              </a:ext>
            </a:extLst>
          </p:cNvPr>
          <p:cNvSpPr/>
          <p:nvPr/>
        </p:nvSpPr>
        <p:spPr>
          <a:xfrm>
            <a:off x="749808" y="4326636"/>
            <a:ext cx="606552" cy="606552"/>
          </a:xfrm>
          <a:prstGeom prst="ellipse">
            <a:avLst/>
          </a:prstGeom>
          <a:solidFill>
            <a:srgbClr val="0F766E"/>
          </a:solidFill>
          <a:ln w="12700">
            <a:solidFill>
              <a:srgbClr val="0F766E"/>
            </a:solidFill>
            <a:prstDash val="solid"/>
          </a:ln>
        </p:spPr>
      </p:sp>
      <p:pic>
        <p:nvPicPr>
          <p:cNvPr id="9"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472208"/>
            <a:ext cx="315407" cy="315407"/>
          </a:xfrm>
          <a:prstGeom prst="rect">
            <a:avLst/>
          </a:prstGeom>
        </p:spPr>
      </p:pic>
      <p:sp>
        <p:nvSpPr>
          <p:cNvPr id="10" name="Callout text"/>
          <p:cNvSpPr txBox="1"/>
          <p:nvPr/>
        </p:nvSpPr>
        <p:spPr>
          <a:xfrm>
            <a:off x="1600200" y="4308348"/>
            <a:ext cx="9875520" cy="643128"/>
          </a:xfrm>
          <a:prstGeom prst="rect">
            <a:avLst/>
          </a:prstGeom>
          <a:noFill/>
          <a:ln/>
        </p:spPr>
        <p:txBody>
          <a:bodyPr wrap="square" lIns="0" tIns="0" rIns="0" bIns="0" rtlCol="0" anchor="ctr"/>
          <a:lstStyle/>
          <a:p>
            <a:pPr marL="0" indent="0">
              <a:buNone/>
            </a:pPr>
            <a:r>
              <a:rPr lang="en-US" sz="1750" b="1" dirty="0">
                <a:solidFill>
                  <a:srgbClr val="0F766E"/>
                </a:solidFill>
              </a:rPr>
              <a:t>For this estate: </a:t>
            </a:r>
            <a:r>
              <a:rPr lang="en-US" sz="1750" dirty="0">
                <a:solidFill>
                  <a:srgbClr val="334155"/>
                </a:solidFill>
              </a:rPr>
              <a:t>the estate's tenant is GCC on the worldwide endpoints, so both the sample and the hardened client reach graph.microsoft.com.</a:t>
            </a:r>
            <a:endParaRPr lang="en-US" sz="17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Microsoft Graph national cloud deployments; Learn, Microsoft Entra feature availability; CSV2SCIM at f2e8c59. Chapter 01, “Verified facts.”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2FD018CF-FF1C-5715-AA2D-E8563D7F6F6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902C068-E455-4326-A698-4A3D400380A0}"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3040"/>
    </mc:Choice>
    <mc:Fallback>
      <p:transition spd="slow" advTm="330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9040"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Where the middleware sits, and what it writes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Code panel">
            <a:extLst>
              <a:ext uri="{C183D7F6-B498-43B3-948B-1728B52AA6E4}">
                <adec:decorative xmlns:adec="http://schemas.microsoft.com/office/drawing/2017/decorative" val="1"/>
              </a:ext>
            </a:extLst>
          </p:cNvPr>
          <p:cNvSpPr/>
          <p:nvPr/>
        </p:nvSpPr>
        <p:spPr>
          <a:xfrm>
            <a:off x="548640" y="1325880"/>
            <a:ext cx="11109960" cy="1871472"/>
          </a:xfrm>
          <a:prstGeom prst="roundRect">
            <a:avLst>
              <a:gd name="adj" fmla="val 3909"/>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marL="0" indent="0">
              <a:buNone/>
            </a:pPr>
            <a:r>
              <a:rPr lang="en-US" sz="1050" b="1" dirty="0">
                <a:solidFill>
                  <a:srgbClr val="64748B"/>
                </a:solidFill>
              </a:rPr>
              <a:t>THE PIPELINE</a:t>
            </a:r>
            <a:endParaRPr lang="en-US" sz="1050" dirty="0"/>
          </a:p>
        </p:txBody>
      </p:sp>
      <p:sp>
        <p:nvSpPr>
          <p:cNvPr id="7" name="Code"/>
          <p:cNvSpPr txBox="1"/>
          <p:nvPr/>
        </p:nvSpPr>
        <p:spPr>
          <a:xfrm>
            <a:off x="713232" y="1664208"/>
            <a:ext cx="10835640" cy="1487424"/>
          </a:xfrm>
          <a:prstGeom prst="rect">
            <a:avLst/>
          </a:prstGeom>
          <a:noFill/>
          <a:ln/>
        </p:spPr>
        <p:txBody>
          <a:bodyPr wrap="square" lIns="0" tIns="0" rIns="0" bIns="0" rtlCol="0" anchor="t"/>
          <a:lstStyle/>
          <a:p>
            <a:pPr marL="0" indent="0">
              <a:buNone/>
            </a:pPr>
            <a:r>
              <a:rPr lang="en-US" sz="1300" dirty="0">
                <a:solidFill>
                  <a:srgbClr val="334155"/>
                </a:solidFill>
                <a:latin typeface="Consolas" pitchFamily="34" charset="0"/>
                <a:ea typeface="Consolas" pitchFamily="34" charset="-122"/>
                <a:cs typeface="Consolas" pitchFamily="34" charset="-120"/>
              </a:rPr>
              <a:t>HR system --extract (CSV)--&gt; middleware --SCIM BulkRequest--&gt; /bulkUpload --&gt; job --&gt; Entra ID or AD</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                               |  validate, normalize,        (202 + Location)     |</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                               |  order, batch, pace                               v</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                               +-&gt; validation-report.json (keys and hashes only)   provisioning logs</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                               +-&gt; quarantine.json (refused rows: personal data)     ^</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                               +-&gt; provenance.json (inputs and batches, by hash)     |</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                               +-&gt; apply-results.json (status, attempts, Location) --+</a:t>
            </a:r>
            <a:endParaRPr lang="en-US" sz="1300" dirty="0"/>
          </a:p>
        </p:txBody>
      </p:sp>
      <p:sp>
        <p:nvSpPr>
          <p:cNvPr id="8" name="Callout">
            <a:extLst>
              <a:ext uri="{C183D7F6-B498-43B3-948B-1728B52AA6E4}">
                <adec:decorative xmlns:adec="http://schemas.microsoft.com/office/drawing/2017/decorative" val="1"/>
              </a:ext>
            </a:extLst>
          </p:cNvPr>
          <p:cNvSpPr/>
          <p:nvPr/>
        </p:nvSpPr>
        <p:spPr>
          <a:xfrm>
            <a:off x="548640" y="3380232"/>
            <a:ext cx="11109960" cy="752856"/>
          </a:xfrm>
          <a:prstGeom prst="roundRect">
            <a:avLst>
              <a:gd name="adj" fmla="val 971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9" name="Icon FaFileShield">
            <a:extLst>
              <a:ext uri="{C183D7F6-B498-43B3-948B-1728B52AA6E4}">
                <adec:decorative xmlns:adec="http://schemas.microsoft.com/office/drawing/2017/decorative" val="1"/>
              </a:ext>
            </a:extLst>
          </p:cNvPr>
          <p:cNvSpPr/>
          <p:nvPr/>
        </p:nvSpPr>
        <p:spPr>
          <a:xfrm>
            <a:off x="749808" y="3453384"/>
            <a:ext cx="606552" cy="606552"/>
          </a:xfrm>
          <a:prstGeom prst="ellipse">
            <a:avLst/>
          </a:prstGeom>
          <a:solidFill>
            <a:srgbClr val="1F2A44"/>
          </a:solidFill>
          <a:ln w="12700">
            <a:solidFill>
              <a:srgbClr val="1F2A44"/>
            </a:solidFill>
            <a:prstDash val="solid"/>
          </a:ln>
        </p:spPr>
      </p:sp>
      <p:pic>
        <p:nvPicPr>
          <p:cNvPr id="10"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3598956"/>
            <a:ext cx="315407" cy="315407"/>
          </a:xfrm>
          <a:prstGeom prst="rect">
            <a:avLst/>
          </a:prstGeom>
        </p:spPr>
      </p:pic>
      <p:sp>
        <p:nvSpPr>
          <p:cNvPr id="11" name="Callout text"/>
          <p:cNvSpPr txBox="1"/>
          <p:nvPr/>
        </p:nvSpPr>
        <p:spPr>
          <a:xfrm>
            <a:off x="1600200" y="3435096"/>
            <a:ext cx="9875520" cy="643128"/>
          </a:xfrm>
          <a:prstGeom prst="rect">
            <a:avLst/>
          </a:prstGeom>
          <a:noFill/>
          <a:ln/>
        </p:spPr>
        <p:txBody>
          <a:bodyPr wrap="square" lIns="0" tIns="0" rIns="0" bIns="0" rtlCol="0" anchor="ctr"/>
          <a:lstStyle/>
          <a:p>
            <a:pPr marL="0" indent="0">
              <a:buNone/>
            </a:pPr>
            <a:r>
              <a:rPr lang="en-US" sz="1750" b="1" dirty="0">
                <a:solidFill>
                  <a:srgbClr val="1F2A44"/>
                </a:solidFill>
              </a:rPr>
              <a:t>Two stores: </a:t>
            </a:r>
            <a:r>
              <a:rPr lang="en-US" sz="1750" dirty="0">
                <a:solidFill>
                  <a:srgbClr val="334155"/>
                </a:solidFill>
              </a:rPr>
              <a:t>quarantine.json holds personal data and goes only to the access-controlled audit store; the other outputs carry keys and hashes and go to the evidence store.</a:t>
            </a:r>
            <a:endParaRPr lang="en-US" sz="17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Perform bulkUpload (202 and Location). Chapter 01, “Where the middleware sits”; “Checklist.”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5755B92B-01BD-74E7-CDA7-EEB61C0AE33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593679A-249D-4C14-A541-8E6A62641266}"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740"/>
    </mc:Choice>
    <mc:Fallback>
      <p:transition spd="slow" advTm="377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744"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Microsoft's sample: CSV2SCIM and its five modes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531108"/>
        </p:xfrm>
        <a:graphic>
          <a:graphicData uri="http://schemas.openxmlformats.org/drawingml/2006/table">
            <a:tbl>
              <a:tblPr firstRow="1" bandRow="1"/>
              <a:tblGrid>
                <a:gridCol w="201168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Mode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Parameters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What it does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Network</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Validate the mapping</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-AttributeMapping $map -ValidateAttributeMapping</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Checks a .psd1 mapping of CSV columns against the SCIM Core and Enterprise User schema</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none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Generate a payload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-Path &lt;csv&gt; -AttributeMapping $map [-ScimSchemaNamespace &lt;urn&gt;]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Each CSV row becomes a SCIM user, 50 operations a bulk request; with a namespace, every column also goes under that extension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none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Send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add -ServicePrincipalId, -TenantId, -ClientId with -ClientCertificate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Signs in and POSTs each bulk request to the job's /bulkUpload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Graph</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Extend the schema</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-UpdateSchema -ScimSchemaNamespace &lt;urn&gt;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Adds every CSV column to the provisioning app's schema under the namespace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Graph</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Read the logs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-GetPreviousCycleLogs [-NumberOfCycles 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Summarizes the latest sync cycles from the provisioning logs, per record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Graph</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Callout">
            <a:extLst>
              <a:ext uri="{C183D7F6-B498-43B3-948B-1728B52AA6E4}">
                <adec:decorative xmlns:adec="http://schemas.microsoft.com/office/drawing/2017/decorative" val="1"/>
              </a:ext>
            </a:extLst>
          </p:cNvPr>
          <p:cNvSpPr/>
          <p:nvPr/>
        </p:nvSpPr>
        <p:spPr>
          <a:xfrm>
            <a:off x="548640" y="5039868"/>
            <a:ext cx="11109960" cy="752856"/>
          </a:xfrm>
          <a:prstGeom prst="roundRect">
            <a:avLst>
              <a:gd name="adj" fmla="val 971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Book">
            <a:extLst>
              <a:ext uri="{C183D7F6-B498-43B3-948B-1728B52AA6E4}">
                <adec:decorative xmlns:adec="http://schemas.microsoft.com/office/drawing/2017/decorative" val="1"/>
              </a:ext>
            </a:extLst>
          </p:cNvPr>
          <p:cNvSpPr/>
          <p:nvPr/>
        </p:nvSpPr>
        <p:spPr>
          <a:xfrm>
            <a:off x="749808" y="5113020"/>
            <a:ext cx="606552" cy="606552"/>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5258592"/>
            <a:ext cx="315407" cy="315407"/>
          </a:xfrm>
          <a:prstGeom prst="rect">
            <a:avLst/>
          </a:prstGeom>
        </p:spPr>
      </p:pic>
      <p:sp>
        <p:nvSpPr>
          <p:cNvPr id="9" name="Callout text"/>
          <p:cNvSpPr txBox="1"/>
          <p:nvPr/>
        </p:nvSpPr>
        <p:spPr>
          <a:xfrm>
            <a:off x="1600200" y="5094732"/>
            <a:ext cx="9875520" cy="643128"/>
          </a:xfrm>
          <a:prstGeom prst="rect">
            <a:avLst/>
          </a:prstGeom>
          <a:noFill/>
          <a:ln/>
        </p:spPr>
        <p:txBody>
          <a:bodyPr wrap="square" lIns="0" tIns="0" rIns="0" bIns="0" rtlCol="0" anchor="ctr"/>
          <a:lstStyle/>
          <a:p>
            <a:pPr marL="0" indent="0">
              <a:buNone/>
            </a:pPr>
            <a:r>
              <a:rPr lang="en-US" sz="1750" b="1" dirty="0">
                <a:solidFill>
                  <a:srgbClr val="0F766E"/>
                </a:solidFill>
              </a:rPr>
              <a:t>Start here: </a:t>
            </a:r>
            <a:r>
              <a:rPr lang="en-US" sz="1750" dirty="0">
                <a:solidFill>
                  <a:srgbClr val="334155"/>
                </a:solidFill>
              </a:rPr>
              <a:t>Learn documents the whole flow: download, generate, authenticate with a certificate, send, extend the schema, read the logs. Use it.</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API-driven inbound provisioning with PowerShell script (CSV2SCIM). Chapter 01, “Start with Microsoft's sample: CSV2SCIM,” “What it does.”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DCC427B0-7BE5-2E52-2C53-13919CF84A6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13DA314-F4A0-407E-A3B0-CB5521C4E388}"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430"/>
    </mc:Choice>
    <mc:Fallback>
      <p:transition spd="slow" advTm="374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432"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mapping file, and the pinned copy</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The mapping file">
            <a:extLst>
              <a:ext uri="{C183D7F6-B498-43B3-948B-1728B52AA6E4}">
                <adec:decorative xmlns:adec="http://schemas.microsoft.com/office/drawing/2017/decorative" val="1"/>
              </a:ext>
            </a:extLst>
          </p:cNvPr>
          <p:cNvSpPr/>
          <p:nvPr/>
        </p:nvSpPr>
        <p:spPr>
          <a:xfrm>
            <a:off x="548640" y="1325880"/>
            <a:ext cx="5417820" cy="3072384"/>
          </a:xfrm>
          <a:prstGeom prst="roundRect">
            <a:avLst>
              <a:gd name="adj" fmla="val 2381"/>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The mapping file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THE MAPPING FILE</a:t>
            </a:r>
            <a:endParaRPr lang="en-US" sz="1100" dirty="0"/>
          </a:p>
        </p:txBody>
      </p:sp>
      <p:sp>
        <p:nvSpPr>
          <p:cNvPr id="7" name="Panel The mapping file list"/>
          <p:cNvSpPr txBox="1"/>
          <p:nvPr/>
        </p:nvSpPr>
        <p:spPr>
          <a:xfrm>
            <a:off x="731520" y="1737360"/>
            <a:ext cx="5097780" cy="261518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Each SCIM attribute names a CSV column, or a script block that computes it from the row</a:t>
            </a:r>
            <a:endParaRPr lang="en-US" sz="1600" dirty="0"/>
          </a:p>
          <a:p>
            <a:pPr marL="342900" indent="-342900">
              <a:spcAft>
                <a:spcPts val="400"/>
              </a:spcAft>
              <a:buSzPct val="100000"/>
              <a:buChar char="•"/>
            </a:pPr>
            <a:r>
              <a:rPr lang="en-US" sz="1600" dirty="0">
                <a:solidFill>
                  <a:srgbClr val="334155"/>
                </a:solidFill>
              </a:rPr>
              <a:t>Example: active = { $_.'WorkerStatus' -eq 'Active' }</a:t>
            </a:r>
            <a:endParaRPr lang="en-US" sz="1600" dirty="0"/>
          </a:p>
          <a:p>
            <a:pPr marL="342900" indent="-342900">
              <a:spcAft>
                <a:spcPts val="400"/>
              </a:spcAft>
              <a:buSzPct val="100000"/>
              <a:buChar char="•"/>
            </a:pPr>
            <a:r>
              <a:rPr lang="en-US" sz="1600" dirty="0">
                <a:solidFill>
                  <a:srgbClr val="334155"/>
                </a:solidFill>
              </a:rPr>
              <a:t>CSV to SCIM only: SCIM to Entra ID or AD stays in the provisioning app</a:t>
            </a:r>
            <a:endParaRPr lang="en-US" sz="1600" dirty="0"/>
          </a:p>
          <a:p>
            <a:pPr marL="342900" indent="-342900">
              <a:spcAft>
                <a:spcPts val="400"/>
              </a:spcAft>
              <a:buSzPct val="100000"/>
              <a:buChar char="•"/>
            </a:pPr>
            <a:r>
              <a:rPr lang="en-US" sz="1600" dirty="0">
                <a:solidFill>
                  <a:srgbClr val="334155"/>
                </a:solidFill>
              </a:rPr>
              <a:t>Provided "as-is" for implementation reference; MIT-licensed; questions and changes through its GitHub repository</a:t>
            </a:r>
            <a:endParaRPr lang="en-US" sz="1600" dirty="0"/>
          </a:p>
        </p:txBody>
      </p:sp>
      <p:sp>
        <p:nvSpPr>
          <p:cNvPr id="8" name="Panel The pinned copy">
            <a:extLst>
              <a:ext uri="{C183D7F6-B498-43B3-948B-1728B52AA6E4}">
                <adec:decorative xmlns:adec="http://schemas.microsoft.com/office/drawing/2017/decorative" val="1"/>
              </a:ext>
            </a:extLst>
          </p:cNvPr>
          <p:cNvSpPr/>
          <p:nvPr/>
        </p:nvSpPr>
        <p:spPr>
          <a:xfrm>
            <a:off x="6240780" y="1325880"/>
            <a:ext cx="5417820" cy="3072384"/>
          </a:xfrm>
          <a:prstGeom prst="roundRect">
            <a:avLst>
              <a:gd name="adj" fmla="val 2381"/>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The pinned copy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PINNED COPY</a:t>
            </a:r>
            <a:endParaRPr lang="en-US" sz="1100" dirty="0"/>
          </a:p>
        </p:txBody>
      </p:sp>
      <p:sp>
        <p:nvSpPr>
          <p:cNvPr id="10" name="Panel The pinned copy list"/>
          <p:cNvSpPr txBox="1"/>
          <p:nvPr/>
        </p:nvSpPr>
        <p:spPr>
          <a:xfrm>
            <a:off x="6423660" y="1737360"/>
            <a:ext cx="5097780" cy="261518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Unmodified in examples/third_party/csv2scim, upstream commit f2e8c59 (March 2, 2026), retrieved October 30, 2026</a:t>
            </a:r>
            <a:endParaRPr lang="en-US" sz="1600" dirty="0"/>
          </a:p>
          <a:p>
            <a:pPr marL="342900" indent="-342900">
              <a:spcAft>
                <a:spcPts val="400"/>
              </a:spcAft>
              <a:buSzPct val="100000"/>
              <a:buChar char="•"/>
            </a:pPr>
            <a:r>
              <a:rPr lang="en-US" sz="1600" dirty="0">
                <a:solidFill>
                  <a:srgbClr val="334155"/>
                </a:solidFill>
              </a:rPr>
              <a:t>snapshot.json records the commit and every file's SHA-256; a unit test fails if any file changes</a:t>
            </a:r>
            <a:endParaRPr lang="en-US" sz="1600" dirty="0"/>
          </a:p>
          <a:p>
            <a:pPr marL="342900" indent="-342900">
              <a:spcAft>
                <a:spcPts val="400"/>
              </a:spcAft>
              <a:buSzPct val="100000"/>
              <a:buChar char="•"/>
            </a:pPr>
            <a:r>
              <a:rPr lang="en-US" sz="1600" dirty="0">
                <a:solidFill>
                  <a:srgbClr val="334155"/>
                </a:solidFill>
              </a:rPr>
              <a:t>The weekly source watch lists each upstream commit in an issue under this book</a:t>
            </a:r>
            <a:endParaRPr lang="en-US" sz="1600" dirty="0"/>
          </a:p>
        </p:txBody>
      </p:sp>
      <p:sp>
        <p:nvSpPr>
          <p:cNvPr id="11" name="Callout">
            <a:extLst>
              <a:ext uri="{C183D7F6-B498-43B3-948B-1728B52AA6E4}">
                <adec:decorative xmlns:adec="http://schemas.microsoft.com/office/drawing/2017/decorative" val="1"/>
              </a:ext>
            </a:extLst>
          </p:cNvPr>
          <p:cNvSpPr/>
          <p:nvPr/>
        </p:nvSpPr>
        <p:spPr>
          <a:xfrm>
            <a:off x="548640" y="4581144"/>
            <a:ext cx="11109960" cy="752856"/>
          </a:xfrm>
          <a:prstGeom prst="roundRect">
            <a:avLst>
              <a:gd name="adj" fmla="val 971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CodeBranch">
            <a:extLst>
              <a:ext uri="{C183D7F6-B498-43B3-948B-1728B52AA6E4}">
                <adec:decorative xmlns:adec="http://schemas.microsoft.com/office/drawing/2017/decorative" val="1"/>
              </a:ext>
            </a:extLst>
          </p:cNvPr>
          <p:cNvSpPr/>
          <p:nvPr/>
        </p:nvSpPr>
        <p:spPr>
          <a:xfrm>
            <a:off x="749808" y="4654296"/>
            <a:ext cx="606552" cy="606552"/>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799868"/>
            <a:ext cx="315407" cy="315407"/>
          </a:xfrm>
          <a:prstGeom prst="rect">
            <a:avLst/>
          </a:prstGeom>
        </p:spPr>
      </p:pic>
      <p:sp>
        <p:nvSpPr>
          <p:cNvPr id="14" name="Callout text"/>
          <p:cNvSpPr txBox="1"/>
          <p:nvPr/>
        </p:nvSpPr>
        <p:spPr>
          <a:xfrm>
            <a:off x="1600200" y="4636008"/>
            <a:ext cx="9875520" cy="643128"/>
          </a:xfrm>
          <a:prstGeom prst="rect">
            <a:avLst/>
          </a:prstGeom>
          <a:noFill/>
          <a:ln/>
        </p:spPr>
        <p:txBody>
          <a:bodyPr wrap="square" lIns="0" tIns="0" rIns="0" bIns="0" rtlCol="0" anchor="ctr"/>
          <a:lstStyle/>
          <a:p>
            <a:pPr marL="0" indent="0">
              <a:buNone/>
            </a:pPr>
            <a:r>
              <a:rPr lang="en-US" sz="1750" b="1" dirty="0">
                <a:solidFill>
                  <a:srgbClr val="B45309"/>
                </a:solidFill>
              </a:rPr>
              <a:t>Design guidance: </a:t>
            </a:r>
            <a:r>
              <a:rPr lang="en-US" sz="1750" dirty="0">
                <a:solidFill>
                  <a:srgbClr val="334155"/>
                </a:solidFill>
              </a:rPr>
              <a:t>treat any sample you run the same way: pin it, hash it, watch upstream, and update it in a reviewed change.</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API-driven inbound provisioning with PowerShell script; CSV2SCIM at f2e8c59 (MIT). Chapter 01, “What it does,” “The pinned copy.”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6771CE79-E65C-6A28-F12B-23EB479A4C5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7CF3036-02F7-4226-A223-7AB0755FFEE8}"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300"/>
    </mc:Choice>
    <mc:Fallback>
      <p:transition spd="slow" advTm="36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304"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sample leaves to you: the record</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752088"/>
        </p:xfrm>
        <a:graphic>
          <a:graphicData uri="http://schemas.openxmlformats.org/drawingml/2006/table">
            <a:tbl>
              <a:tblPr firstRow="1" bandRow="1"/>
              <a:tblGrid>
                <a:gridCol w="173736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306324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Concern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CSV2SCIM at f2e8c59</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What examples/hcm-entra adds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Why it matters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99364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Record validation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Validates the mapping, not the values: a blank key, a 17-character key, a pending worker and an unknown worker type are all sent, active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Fails closed: 9 of the 19 rows quarantined with reasons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 bad HR row becomes a bad account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Duplicates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 person with two rows is sent twice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 single separation wins; otherwise both refused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Two writes race in the job</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Order</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File order</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Leavers first, then managers before reports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 departing mover briefly gains access; a manager reference can't resolve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Future hires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Sent active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Sent disabled until the hire date (Book 03, App. C)</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An account works before day one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Mass change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No limit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max_disables_per_run holds the run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One bad extract disables everyone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Lead"/>
          <p:cNvSpPr txBox="1"/>
          <p:nvPr/>
        </p:nvSpPr>
        <p:spPr>
          <a:xfrm>
            <a:off x="548640" y="5260848"/>
            <a:ext cx="11109960" cy="603504"/>
          </a:xfrm>
          <a:prstGeom prst="rect">
            <a:avLst/>
          </a:prstGeom>
          <a:noFill/>
          <a:ln/>
        </p:spPr>
        <p:txBody>
          <a:bodyPr wrap="square" lIns="0" tIns="0" rIns="0" bIns="0" rtlCol="0" anchor="t"/>
          <a:lstStyle/>
          <a:p>
            <a:pPr marL="0" indent="0">
              <a:buNone/>
            </a:pPr>
            <a:r>
              <a:rPr lang="en-US" sz="1800" b="1" dirty="0">
                <a:solidFill>
                  <a:srgbClr val="1F2A44"/>
                </a:solidFill>
              </a:rPr>
              <a:t>Run on the 19-row fixture, CSV2SCIM sends all 19. By design: it's a converter, and Learn lists validation as a customization you add.</a:t>
            </a:r>
            <a:endParaRPr lang="en-US" sz="18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API-driven inbound provisioning with PowerShell script; CSV2SCIM at f2e8c59. Chapter 01, “What it leaves to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DB8C3550-06A1-77E8-5C80-B039774EB79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BC0A87B-35AA-41CE-BBB9-E3F8DADDC528}"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900"/>
    </mc:Choice>
    <mc:Fallback>
      <p:transition spd="slow" advTm="35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89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it leaves to you: pacing, clouds and evidence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432048"/>
        </p:xfrm>
        <a:graphic>
          <a:graphicData uri="http://schemas.openxmlformats.org/drawingml/2006/table">
            <a:tbl>
              <a:tblPr firstRow="1" bandRow="1"/>
              <a:tblGrid>
                <a:gridCol w="173736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306324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Concern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CSV2SCIM at f2e8c59</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examples/hcm-entra adds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Why it matters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Pacing and budget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No pacing of its own; relies on the Graph SDK's retry handling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40 calls in any 5 seconds, a daily budget, Retry-After, stop on first failure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Throttling, and the tenant's daily quota</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Clouds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Hard-coded to graph.microsoft.com/beta; sign-in names no cloud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One of the three Graph hosts; v1.0 or beta</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Works in GCC; can't reach GCC High or DoD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Least privilege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Asks for Application.ReadWrite.All, AuditLog.Read.All, SynchronizationData-User.Upload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One permission to send; a separate log reader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Application.ReadWrite.All can change any app</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Repeatability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Each bulkId is a new random GUID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bulkId is the person key: same input, same batch hash</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Otherwise a batch can't be traced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Evidence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Console output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Four JSON files: report, quarantine, provenance, results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The ISSO needs records, not a screen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Callout">
            <a:extLst>
              <a:ext uri="{C183D7F6-B498-43B3-948B-1728B52AA6E4}">
                <adec:decorative xmlns:adec="http://schemas.microsoft.com/office/drawing/2017/decorative" val="1"/>
              </a:ext>
            </a:extLst>
          </p:cNvPr>
          <p:cNvSpPr/>
          <p:nvPr/>
        </p:nvSpPr>
        <p:spPr>
          <a:xfrm>
            <a:off x="548640" y="4940808"/>
            <a:ext cx="11109960" cy="996696"/>
          </a:xfrm>
          <a:prstGeom prst="roundRect">
            <a:avLst>
              <a:gd name="adj" fmla="val 7339"/>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7" name="Icon FaScaleBalanced">
            <a:extLst>
              <a:ext uri="{C183D7F6-B498-43B3-948B-1728B52AA6E4}">
                <adec:decorative xmlns:adec="http://schemas.microsoft.com/office/drawing/2017/decorative" val="1"/>
              </a:ext>
            </a:extLst>
          </p:cNvPr>
          <p:cNvSpPr/>
          <p:nvPr/>
        </p:nvSpPr>
        <p:spPr>
          <a:xfrm>
            <a:off x="749808" y="5119116"/>
            <a:ext cx="640080" cy="64008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5272735"/>
            <a:ext cx="332842" cy="332842"/>
          </a:xfrm>
          <a:prstGeom prst="rect">
            <a:avLst/>
          </a:prstGeom>
        </p:spPr>
      </p:pic>
      <p:sp>
        <p:nvSpPr>
          <p:cNvPr id="5" name="Callout text"/>
          <p:cNvSpPr txBox="1"/>
          <p:nvPr/>
        </p:nvSpPr>
        <p:spPr>
          <a:xfrm>
            <a:off x="1600200" y="4995672"/>
            <a:ext cx="9875520" cy="886968"/>
          </a:xfrm>
          <a:prstGeom prst="rect">
            <a:avLst/>
          </a:prstGeom>
          <a:noFill/>
          <a:ln/>
        </p:spPr>
        <p:txBody>
          <a:bodyPr wrap="square" lIns="0" tIns="0" rIns="0" bIns="0" rtlCol="0" anchor="ctr"/>
          <a:lstStyle/>
          <a:p>
            <a:pPr marL="0" indent="0">
              <a:buNone/>
            </a:pPr>
            <a:r>
              <a:rPr lang="en-US" sz="1700" b="1" dirty="0">
                <a:solidFill>
                  <a:srgbClr val="1F2A44"/>
                </a:solidFill>
              </a:rPr>
              <a:t>Design guidance: </a:t>
            </a:r>
            <a:r>
              <a:rPr lang="en-US" sz="1700" dirty="0">
                <a:solidFill>
                  <a:srgbClr val="334155"/>
                </a:solidFill>
              </a:rPr>
              <a:t>use CSV2SCIM to validate a mapping, extend the schema and read cycle logs (worldwide or GCC). Use the hardened client for production sends, and everywhere in GCC High and DoD.</a:t>
            </a:r>
            <a:endParaRPr lang="en-US" sz="17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CSV2SCIM tutorial; CSV2SCIM at f2e8c59; Learn, Microsoft Graph national cloud deployments. Chapter 01, “What it leaves to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F68CB07F-C887-F27F-1C56-CD8EFC03F1A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E53D3D3-38DD-49C3-BC0C-67E2067589FC}"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310"/>
    </mc:Choice>
    <mc:Fallback>
      <p:transition spd="slow" advTm="373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312"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code: two equivalent clients, one mapping</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511296"/>
        </p:xfrm>
        <a:graphic>
          <a:graphicData uri="http://schemas.openxmlformats.org/drawingml/2006/table">
            <a:tbl>
              <a:tblPr firstRow="1" bandRow="1"/>
              <a:tblGrid>
                <a:gridCol w="4206240">
                  <a:extLst>
                    <a:ext uri="{9D8B030D-6E8A-4147-A177-3AD203B41FA5}">
                      <a16:colId xmlns:a16="http://schemas.microsoft.com/office/drawing/2014/main" val="20000"/>
                    </a:ext>
                  </a:extLst>
                </a:gridCol>
                <a:gridCol w="6903720">
                  <a:extLst>
                    <a:ext uri="{9D8B030D-6E8A-4147-A177-3AD203B41FA5}">
                      <a16:colId xmlns:a16="http://schemas.microsoft.com/office/drawing/2014/main" val="20001"/>
                    </a:ext>
                  </a:extLst>
                </a:gridCol>
              </a:tblGrid>
              <a:tr h="338328">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File</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What it does</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669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config/mapping.json</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Column to SCIM map, code lists, worker types, length limits, batch size</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config/csv2scim/AttributeMapping.psd1</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The same columns as a CSV2SCIM mapping, for the baseline and for -UpdateSchema</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config/settings.example.json</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Non-secret settings: endpoint, time offsets, disable threshold, call budget, pacing, retries</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83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python/hcm_to_scim.py</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The Python client: standard library only, Python 3.10 or later</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powershell/HcmToScim.psm1, Invoke-HcmToScim.ps1</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The same in PowerShell 7.2 or later</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tests/</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pytest and Pester 5 against tests/fixtures/hcm_extract_sample.csv, including the CSV2SCIM comparison</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Callout">
            <a:extLst>
              <a:ext uri="{C183D7F6-B498-43B3-948B-1728B52AA6E4}">
                <adec:decorative xmlns:adec="http://schemas.microsoft.com/office/drawing/2017/decorative" val="1"/>
              </a:ext>
            </a:extLst>
          </p:cNvPr>
          <p:cNvSpPr/>
          <p:nvPr/>
        </p:nvSpPr>
        <p:spPr>
          <a:xfrm>
            <a:off x="548640" y="5020056"/>
            <a:ext cx="11109960" cy="752856"/>
          </a:xfrm>
          <a:prstGeom prst="roundRect">
            <a:avLst>
              <a:gd name="adj" fmla="val 971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CodeBranch">
            <a:extLst>
              <a:ext uri="{C183D7F6-B498-43B3-948B-1728B52AA6E4}">
                <adec:decorative xmlns:adec="http://schemas.microsoft.com/office/drawing/2017/decorative" val="1"/>
              </a:ext>
            </a:extLst>
          </p:cNvPr>
          <p:cNvSpPr/>
          <p:nvPr/>
        </p:nvSpPr>
        <p:spPr>
          <a:xfrm>
            <a:off x="749808" y="5093208"/>
            <a:ext cx="606552" cy="606552"/>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5238780"/>
            <a:ext cx="315407" cy="315407"/>
          </a:xfrm>
          <a:prstGeom prst="rect">
            <a:avLst/>
          </a:prstGeom>
        </p:spPr>
      </p:pic>
      <p:sp>
        <p:nvSpPr>
          <p:cNvPr id="9" name="Callout text"/>
          <p:cNvSpPr txBox="1"/>
          <p:nvPr/>
        </p:nvSpPr>
        <p:spPr>
          <a:xfrm>
            <a:off x="1600200" y="5074920"/>
            <a:ext cx="9875520" cy="643128"/>
          </a:xfrm>
          <a:prstGeom prst="rect">
            <a:avLst/>
          </a:prstGeom>
          <a:noFill/>
          <a:ln/>
        </p:spPr>
        <p:txBody>
          <a:bodyPr wrap="square" lIns="0" tIns="0" rIns="0" bIns="0" rtlCol="0" anchor="ctr"/>
          <a:lstStyle/>
          <a:p>
            <a:pPr marL="0" indent="0">
              <a:buNone/>
            </a:pPr>
            <a:r>
              <a:rPr lang="en-US" sz="1750" b="1" dirty="0">
                <a:solidFill>
                  <a:srgbClr val="0F766E"/>
                </a:solidFill>
              </a:rPr>
              <a:t>Same shape as Learn's: </a:t>
            </a:r>
            <a:r>
              <a:rPr lang="en-US" sz="1750" dirty="0">
                <a:solidFill>
                  <a:srgbClr val="334155"/>
                </a:solidFill>
              </a:rPr>
              <a:t>the SCIM payload follows Learn's /bulkUpload examples: Core and Enterprise User, plus one custom extension namespace.</a:t>
            </a:r>
            <a:endParaRPr lang="en-US" sz="1750" dirty="0"/>
          </a:p>
        </p:txBody>
      </p:sp>
      <p:sp>
        <p:nvSpPr>
          <p:cNvPr id="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Perform bulkUpload (request examples). Chapter 01, “The code: what examples/hcm-entra adds.”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761DA039-090B-8783-A23F-124B7A1F448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5A7C0DA-B9BC-4203-A2B7-448ABA6264BD}"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3860"/>
    </mc:Choice>
    <mc:Fallback>
      <p:transition spd="slow" advTm="338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9856"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Validate, fail closed, and send the whole record</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Refused, to quarantine.json">
            <a:extLst>
              <a:ext uri="{C183D7F6-B498-43B3-948B-1728B52AA6E4}">
                <adec:decorative xmlns:adec="http://schemas.microsoft.com/office/drawing/2017/decorative" val="1"/>
              </a:ext>
            </a:extLst>
          </p:cNvPr>
          <p:cNvSpPr/>
          <p:nvPr/>
        </p:nvSpPr>
        <p:spPr>
          <a:xfrm>
            <a:off x="548640" y="1325880"/>
            <a:ext cx="5634533" cy="2831592"/>
          </a:xfrm>
          <a:prstGeom prst="roundRect">
            <a:avLst>
              <a:gd name="adj" fmla="val 2583"/>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6" name="Panel Refused, to quarantine.json label"/>
          <p:cNvSpPr txBox="1"/>
          <p:nvPr/>
        </p:nvSpPr>
        <p:spPr>
          <a:xfrm>
            <a:off x="731520" y="1435608"/>
            <a:ext cx="5268773" cy="274320"/>
          </a:xfrm>
          <a:prstGeom prst="rect">
            <a:avLst/>
          </a:prstGeom>
          <a:noFill/>
          <a:ln/>
        </p:spPr>
        <p:txBody>
          <a:bodyPr wrap="square" lIns="0" tIns="0" rIns="0" bIns="0" rtlCol="0" anchor="t"/>
          <a:lstStyle/>
          <a:p>
            <a:pPr marL="0" indent="0">
              <a:buNone/>
            </a:pPr>
            <a:r>
              <a:rPr lang="en-US" sz="1100" b="1" kern="0" spc="50" dirty="0">
                <a:solidFill>
                  <a:srgbClr val="B91C1C"/>
                </a:solidFill>
              </a:rPr>
              <a:t>REFUSED, TO QUARANTINE.JSON</a:t>
            </a:r>
            <a:endParaRPr lang="en-US" sz="1100" dirty="0"/>
          </a:p>
        </p:txBody>
      </p:sp>
      <p:sp>
        <p:nvSpPr>
          <p:cNvPr id="7" name="Panel Refused, to quarantine.json list"/>
          <p:cNvSpPr txBox="1"/>
          <p:nvPr/>
        </p:nvSpPr>
        <p:spPr>
          <a:xfrm>
            <a:off x="731520" y="1737360"/>
            <a:ext cx="5314493" cy="2374392"/>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A required column is empty</a:t>
            </a:r>
            <a:endParaRPr lang="en-US" sz="1550" dirty="0"/>
          </a:p>
          <a:p>
            <a:pPr marL="342900" indent="-342900">
              <a:spcAft>
                <a:spcPts val="400"/>
              </a:spcAft>
              <a:buSzPct val="100000"/>
              <a:buChar char="•"/>
            </a:pPr>
            <a:r>
              <a:rPr lang="en-US" sz="1550" dirty="0">
                <a:solidFill>
                  <a:srgbClr val="334155"/>
                </a:solidFill>
              </a:rPr>
              <a:t>The person number doesn't fit employeeId</a:t>
            </a:r>
            <a:endParaRPr lang="en-US" sz="1550" dirty="0"/>
          </a:p>
          <a:p>
            <a:pPr marL="342900" indent="-342900">
              <a:spcAft>
                <a:spcPts val="400"/>
              </a:spcAft>
              <a:buSzPct val="100000"/>
              <a:buChar char="•"/>
            </a:pPr>
            <a:r>
              <a:rPr lang="en-US" sz="1550" dirty="0">
                <a:solidFill>
                  <a:srgbClr val="334155"/>
                </a:solidFill>
              </a:rPr>
              <a:t>The worker type is unknown or refused (pending workers, nonworkers)</a:t>
            </a:r>
            <a:endParaRPr lang="en-US" sz="1550" dirty="0"/>
          </a:p>
          <a:p>
            <a:pPr marL="342900" indent="-342900">
              <a:spcAft>
                <a:spcPts val="400"/>
              </a:spcAft>
              <a:buSzPct val="100000"/>
              <a:buChar char="•"/>
            </a:pPr>
            <a:r>
              <a:rPr lang="en-US" sz="1550" dirty="0">
                <a:solidFill>
                  <a:srgbClr val="334155"/>
                </a:solidFill>
              </a:rPr>
              <a:t>A code isn't in the code list; a value is too long; a date doesn't parse</a:t>
            </a:r>
            <a:endParaRPr lang="en-US" sz="1550" dirty="0"/>
          </a:p>
          <a:p>
            <a:pPr marL="342900" indent="-342900">
              <a:spcAft>
                <a:spcPts val="400"/>
              </a:spcAft>
              <a:buSzPct val="100000"/>
              <a:buChar char="•"/>
            </a:pPr>
            <a:r>
              <a:rPr lang="en-US" sz="1550" dirty="0">
                <a:solidFill>
                  <a:srgbClr val="334155"/>
                </a:solidFill>
              </a:rPr>
              <a:t>A worker is their own manager; an inactive assignment has no termination date</a:t>
            </a:r>
            <a:endParaRPr lang="en-US" sz="1550" dirty="0"/>
          </a:p>
        </p:txBody>
      </p:sp>
      <p:sp>
        <p:nvSpPr>
          <p:cNvPr id="8" name="Panel Warnings, not refusals">
            <a:extLst>
              <a:ext uri="{C183D7F6-B498-43B3-948B-1728B52AA6E4}">
                <adec:decorative xmlns:adec="http://schemas.microsoft.com/office/drawing/2017/decorative" val="1"/>
              </a:ext>
            </a:extLst>
          </p:cNvPr>
          <p:cNvSpPr/>
          <p:nvPr/>
        </p:nvSpPr>
        <p:spPr>
          <a:xfrm>
            <a:off x="6457493" y="1325880"/>
            <a:ext cx="5201107" cy="2831592"/>
          </a:xfrm>
          <a:prstGeom prst="roundRect">
            <a:avLst>
              <a:gd name="adj" fmla="val 2583"/>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9" name="Panel Warnings, not refusals label"/>
          <p:cNvSpPr txBox="1"/>
          <p:nvPr/>
        </p:nvSpPr>
        <p:spPr>
          <a:xfrm>
            <a:off x="6640373" y="1435608"/>
            <a:ext cx="4835347" cy="274320"/>
          </a:xfrm>
          <a:prstGeom prst="rect">
            <a:avLst/>
          </a:prstGeom>
          <a:noFill/>
          <a:ln/>
        </p:spPr>
        <p:txBody>
          <a:bodyPr wrap="square" lIns="0" tIns="0" rIns="0" bIns="0" rtlCol="0" anchor="t"/>
          <a:lstStyle/>
          <a:p>
            <a:pPr marL="0" indent="0">
              <a:buNone/>
            </a:pPr>
            <a:r>
              <a:rPr lang="en-US" sz="1100" b="1" kern="0" spc="50" dirty="0">
                <a:solidFill>
                  <a:srgbClr val="B45309"/>
                </a:solidFill>
              </a:rPr>
              <a:t>WARNINGS, NOT REFUSALS</a:t>
            </a:r>
            <a:endParaRPr lang="en-US" sz="1100" dirty="0"/>
          </a:p>
        </p:txBody>
      </p:sp>
      <p:sp>
        <p:nvSpPr>
          <p:cNvPr id="10" name="Panel Warnings, not refusals list"/>
          <p:cNvSpPr txBox="1"/>
          <p:nvPr/>
        </p:nvSpPr>
        <p:spPr>
          <a:xfrm>
            <a:off x="6640373" y="1737360"/>
            <a:ext cx="4881067" cy="2374392"/>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A suspended assignment stays active: leave is not a leaver</a:t>
            </a:r>
            <a:endParaRPr lang="en-US" sz="1550" dirty="0"/>
          </a:p>
          <a:p>
            <a:pPr marL="342900" indent="-342900">
              <a:spcAft>
                <a:spcPts val="400"/>
              </a:spcAft>
              <a:buSzPct val="100000"/>
              <a:buChar char="•"/>
            </a:pPr>
            <a:r>
              <a:rPr lang="en-US" sz="1550" dirty="0">
                <a:solidFill>
                  <a:srgbClr val="334155"/>
                </a:solidFill>
              </a:rPr>
              <a:t>A manager separating in the same run never blocks the joiner</a:t>
            </a:r>
            <a:endParaRPr lang="en-US" sz="1550" dirty="0"/>
          </a:p>
          <a:p>
            <a:pPr marL="342900" indent="-342900">
              <a:spcAft>
                <a:spcPts val="400"/>
              </a:spcAft>
              <a:buSzPct val="100000"/>
              <a:buChar char="•"/>
            </a:pPr>
            <a:r>
              <a:rPr lang="en-US" sz="1550" dirty="0">
                <a:solidFill>
                  <a:srgbClr val="334155"/>
                </a:solidFill>
              </a:rPr>
              <a:t>A separation older than the Lifecycle Workflows catch-up window is flagged for the on-demand leaver workflow</a:t>
            </a:r>
            <a:endParaRPr lang="en-US" sz="1550" dirty="0"/>
          </a:p>
        </p:txBody>
      </p:sp>
      <p:sp>
        <p:nvSpPr>
          <p:cNvPr id="11" name="Callout">
            <a:extLst>
              <a:ext uri="{C183D7F6-B498-43B3-948B-1728B52AA6E4}">
                <adec:decorative xmlns:adec="http://schemas.microsoft.com/office/drawing/2017/decorative" val="1"/>
              </a:ext>
            </a:extLst>
          </p:cNvPr>
          <p:cNvSpPr/>
          <p:nvPr/>
        </p:nvSpPr>
        <p:spPr>
          <a:xfrm>
            <a:off x="548640" y="4340352"/>
            <a:ext cx="11109960" cy="1019556"/>
          </a:xfrm>
          <a:prstGeom prst="roundRect">
            <a:avLst>
              <a:gd name="adj" fmla="val 7175"/>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2" name="Icon FaTriangleExclamation">
            <a:extLst>
              <a:ext uri="{C183D7F6-B498-43B3-948B-1728B52AA6E4}">
                <adec:decorative xmlns:adec="http://schemas.microsoft.com/office/drawing/2017/decorative" val="1"/>
              </a:ext>
            </a:extLst>
          </p:cNvPr>
          <p:cNvSpPr/>
          <p:nvPr/>
        </p:nvSpPr>
        <p:spPr>
          <a:xfrm>
            <a:off x="749808" y="4530090"/>
            <a:ext cx="640080" cy="640080"/>
          </a:xfrm>
          <a:prstGeom prst="ellipse">
            <a:avLst/>
          </a:prstGeom>
          <a:solidFill>
            <a:srgbClr val="1F2A44"/>
          </a:solidFill>
          <a:ln w="12700">
            <a:solidFill>
              <a:srgbClr val="1F2A44"/>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4683709"/>
            <a:ext cx="332842" cy="332842"/>
          </a:xfrm>
          <a:prstGeom prst="rect">
            <a:avLst/>
          </a:prstGeom>
        </p:spPr>
      </p:pic>
      <p:sp>
        <p:nvSpPr>
          <p:cNvPr id="14" name="Callout text"/>
          <p:cNvSpPr txBox="1"/>
          <p:nvPr/>
        </p:nvSpPr>
        <p:spPr>
          <a:xfrm>
            <a:off x="1600200" y="4395216"/>
            <a:ext cx="9875520" cy="909828"/>
          </a:xfrm>
          <a:prstGeom prst="rect">
            <a:avLst/>
          </a:prstGeom>
          <a:noFill/>
          <a:ln/>
        </p:spPr>
        <p:txBody>
          <a:bodyPr wrap="square" lIns="0" tIns="0" rIns="0" bIns="0" rtlCol="0" anchor="ctr"/>
          <a:lstStyle/>
          <a:p>
            <a:pPr marL="0" indent="0">
              <a:buNone/>
            </a:pPr>
            <a:r>
              <a:rPr lang="en-US" sz="1750" b="1" dirty="0">
                <a:solidFill>
                  <a:srgbClr val="1F2A44"/>
                </a:solidFill>
              </a:rPr>
              <a:t>Never a partial record: </a:t>
            </a:r>
            <a:r>
              <a:rPr lang="en-US" sz="1750" dirty="0">
                <a:solidFill>
                  <a:srgbClr val="334155"/>
                </a:solidFill>
              </a:rPr>
              <a:t>with clear attribute values (preview) on, a null, empty or omitted mapped value can clear the target. Learn: send the complete record every time, full and delta runs alike.</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API-driven inbound provisioning concepts. Book 03, App. A (quarantine contract). Chapter 01, “Validate and fail closed,” “Send the complete record.”</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612E7600-40FD-1BED-10D3-2F15D1521D6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C5CD7F1-BA23-45DB-A564-D8C2A1B41DBC}"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750"/>
    </mc:Choice>
    <mc:Fallback>
      <p:transition spd="slow" advTm="387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752"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Order, batch and hold; pace, retry and stop</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Order, batch and hold">
            <a:extLst>
              <a:ext uri="{C183D7F6-B498-43B3-948B-1728B52AA6E4}">
                <adec:decorative xmlns:adec="http://schemas.microsoft.com/office/drawing/2017/decorative" val="1"/>
              </a:ext>
            </a:extLst>
          </p:cNvPr>
          <p:cNvSpPr/>
          <p:nvPr/>
        </p:nvSpPr>
        <p:spPr>
          <a:xfrm>
            <a:off x="548640" y="1325880"/>
            <a:ext cx="5417820" cy="3240024"/>
          </a:xfrm>
          <a:prstGeom prst="roundRect">
            <a:avLst>
              <a:gd name="adj" fmla="val 2258"/>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Order, batch and hold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ORDER, BATCH AND HOLD</a:t>
            </a:r>
            <a:endParaRPr lang="en-US" sz="1100" dirty="0"/>
          </a:p>
        </p:txBody>
      </p:sp>
      <p:sp>
        <p:nvSpPr>
          <p:cNvPr id="7" name="Panel Order, batch and hold list"/>
          <p:cNvSpPr txBox="1"/>
          <p:nvPr/>
        </p:nvSpPr>
        <p:spPr>
          <a:xfrm>
            <a:off x="731520" y="1737360"/>
            <a:ext cx="5097780" cy="278282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Leavers first, then managers before reports, then person key</a:t>
            </a:r>
            <a:endParaRPr lang="en-US" sz="1550" dirty="0"/>
          </a:p>
          <a:p>
            <a:pPr marL="342900" indent="-342900">
              <a:spcAft>
                <a:spcPts val="400"/>
              </a:spcAft>
              <a:buSzPct val="100000"/>
              <a:buChar char="•"/>
            </a:pPr>
            <a:r>
              <a:rPr lang="en-US" sz="1550" dirty="0">
                <a:solidFill>
                  <a:srgbClr val="334155"/>
                </a:solidFill>
              </a:rPr>
              <a:t>At most 50 operations a request</a:t>
            </a:r>
            <a:endParaRPr lang="en-US" sz="1550" dirty="0"/>
          </a:p>
          <a:p>
            <a:pPr marL="342900" indent="-342900">
              <a:spcAft>
                <a:spcPts val="400"/>
              </a:spcAft>
              <a:buSzPct val="100000"/>
              <a:buChar char="•"/>
            </a:pPr>
            <a:r>
              <a:rPr lang="en-US" sz="1550" dirty="0">
                <a:solidFill>
                  <a:srgbClr val="334155"/>
                </a:solidFill>
              </a:rPr>
              <a:t>Held (exit code 3) until --confirm-large-delta: more disables than max_disables_per_run, or more calls than daily_call_budget</a:t>
            </a:r>
            <a:endParaRPr lang="en-US" sz="1550" dirty="0"/>
          </a:p>
          <a:p>
            <a:pPr marL="342900" indent="-342900">
              <a:spcAft>
                <a:spcPts val="400"/>
              </a:spcAft>
              <a:buSzPct val="100000"/>
              <a:buChar char="•"/>
            </a:pPr>
            <a:r>
              <a:rPr lang="en-US" sz="1550" dirty="0">
                <a:solidFill>
                  <a:srgbClr val="334155"/>
                </a:solidFill>
              </a:rPr>
              <a:t>Tenant quota: 2,000 calls in 24 hours with Entra ID P1 or P2; 6,000 with ID Governance (100,000 and 300,000 records)</a:t>
            </a:r>
            <a:endParaRPr lang="en-US" sz="1550" dirty="0"/>
          </a:p>
        </p:txBody>
      </p:sp>
      <p:sp>
        <p:nvSpPr>
          <p:cNvPr id="8" name="Panel Pace, retry and stop">
            <a:extLst>
              <a:ext uri="{C183D7F6-B498-43B3-948B-1728B52AA6E4}">
                <adec:decorative xmlns:adec="http://schemas.microsoft.com/office/drawing/2017/decorative" val="1"/>
              </a:ext>
            </a:extLst>
          </p:cNvPr>
          <p:cNvSpPr/>
          <p:nvPr/>
        </p:nvSpPr>
        <p:spPr>
          <a:xfrm>
            <a:off x="6240780" y="1325880"/>
            <a:ext cx="5417820" cy="3240024"/>
          </a:xfrm>
          <a:prstGeom prst="roundRect">
            <a:avLst>
              <a:gd name="adj" fmla="val 2258"/>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Pace, retry and stop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PACE, RETRY AND STOP</a:t>
            </a:r>
            <a:endParaRPr lang="en-US" sz="1100" dirty="0"/>
          </a:p>
        </p:txBody>
      </p:sp>
      <p:sp>
        <p:nvSpPr>
          <p:cNvPr id="10" name="Panel Pace, retry and stop list"/>
          <p:cNvSpPr txBox="1"/>
          <p:nvPr/>
        </p:nvSpPr>
        <p:spPr>
          <a:xfrm>
            <a:off x="6423660" y="1737360"/>
            <a:ext cx="5097780" cy="278282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Concepts page: 40 calls in any 5 seconds; API reference: 40 requests per second. The client paces to the stricter: at least 0.125 s between calls</a:t>
            </a:r>
            <a:endParaRPr lang="en-US" sz="1550" dirty="0"/>
          </a:p>
          <a:p>
            <a:pPr marL="342900" indent="-342900">
              <a:spcAft>
                <a:spcPts val="400"/>
              </a:spcAft>
              <a:buSzPct val="100000"/>
              <a:buChar char="•"/>
            </a:pPr>
            <a:r>
              <a:rPr lang="en-US" sz="1550" dirty="0">
                <a:solidFill>
                  <a:srgbClr val="334155"/>
                </a:solidFill>
              </a:rPr>
              <a:t>On 429 or 503, wait for Retry-After; back off exponentially if it's missing</a:t>
            </a:r>
            <a:endParaRPr lang="en-US" sz="1550" dirty="0"/>
          </a:p>
          <a:p>
            <a:pPr marL="342900" indent="-342900">
              <a:spcAft>
                <a:spcPts val="400"/>
              </a:spcAft>
              <a:buSzPct val="100000"/>
              <a:buChar char="•"/>
            </a:pPr>
            <a:r>
              <a:rPr lang="en-US" sz="1550" dirty="0">
                <a:solidFill>
                  <a:srgbClr val="334155"/>
                </a:solidFill>
              </a:rPr>
              <a:t>Stop at the first failed batch; the next run resends complete records</a:t>
            </a:r>
            <a:endParaRPr lang="en-US" sz="1550" dirty="0"/>
          </a:p>
          <a:p>
            <a:pPr marL="342900" indent="-342900">
              <a:spcAft>
                <a:spcPts val="400"/>
              </a:spcAft>
              <a:buSzPct val="100000"/>
              <a:buChar char="•"/>
            </a:pPr>
            <a:r>
              <a:rPr lang="en-US" sz="1550" dirty="0">
                <a:solidFill>
                  <a:srgbClr val="334155"/>
                </a:solidFill>
              </a:rPr>
              <a:t>A 500 saying the ingestion "bucket" is full: wait for the queue to drain and rerun (design guidance)</a:t>
            </a:r>
            <a:endParaRPr lang="en-US" sz="15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bulkUpload; provisioning concepts; troubleshoot provisioning; ID Governance licensing; Graph throttling. Chapter 01, “Order, batch and hold,” “Pace, retry…”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B295B8F4-AF30-75C3-2F28-EA09EB08A5B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2DD0DA0-B34E-45FC-A3DB-D91F4C6EED24}"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340"/>
    </mc:Choice>
    <mc:Fallback>
      <p:transition spd="slow" advTm="383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344"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provenance manifest and the tests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Code panel">
            <a:extLst>
              <a:ext uri="{C183D7F6-B498-43B3-948B-1728B52AA6E4}">
                <adec:decorative xmlns:adec="http://schemas.microsoft.com/office/drawing/2017/decorative" val="1"/>
              </a:ext>
            </a:extLst>
          </p:cNvPr>
          <p:cNvSpPr/>
          <p:nvPr/>
        </p:nvSpPr>
        <p:spPr>
          <a:xfrm>
            <a:off x="548640" y="1325880"/>
            <a:ext cx="5092751" cy="2831592"/>
          </a:xfrm>
          <a:prstGeom prst="roundRect">
            <a:avLst>
              <a:gd name="adj" fmla="val 2583"/>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Code label"/>
          <p:cNvSpPr txBox="1"/>
          <p:nvPr/>
        </p:nvSpPr>
        <p:spPr>
          <a:xfrm>
            <a:off x="713232" y="1399032"/>
            <a:ext cx="4763567" cy="228600"/>
          </a:xfrm>
          <a:prstGeom prst="rect">
            <a:avLst/>
          </a:prstGeom>
          <a:noFill/>
          <a:ln/>
        </p:spPr>
        <p:txBody>
          <a:bodyPr wrap="square" lIns="0" tIns="0" rIns="0" bIns="0" rtlCol="0" anchor="t"/>
          <a:lstStyle/>
          <a:p>
            <a:pPr marL="0" indent="0">
              <a:buNone/>
            </a:pPr>
            <a:r>
              <a:rPr lang="en-US" sz="1050" b="1" dirty="0">
                <a:solidFill>
                  <a:srgbClr val="64748B"/>
                </a:solidFill>
              </a:rPr>
              <a:t>provenance.json</a:t>
            </a:r>
            <a:endParaRPr lang="en-US" sz="1050" dirty="0"/>
          </a:p>
        </p:txBody>
      </p:sp>
      <p:sp>
        <p:nvSpPr>
          <p:cNvPr id="7" name="Code"/>
          <p:cNvSpPr txBox="1"/>
          <p:nvPr/>
        </p:nvSpPr>
        <p:spPr>
          <a:xfrm>
            <a:off x="713232" y="1664208"/>
            <a:ext cx="4818431" cy="2447544"/>
          </a:xfrm>
          <a:prstGeom prst="rect">
            <a:avLst/>
          </a:prstGeom>
          <a:noFill/>
          <a:ln/>
        </p:spPr>
        <p:txBody>
          <a:bodyPr wrap="square" lIns="0" tIns="0" rIns="0" bIns="0" rtlCol="0" anchor="t"/>
          <a:lstStyle/>
          <a:p>
            <a:pPr marL="0" indent="0">
              <a:buNone/>
            </a:pPr>
            <a:r>
              <a:rPr lang="en-US" sz="1400" dirty="0">
                <a:solidFill>
                  <a:srgbClr val="334155"/>
                </a:solidFill>
                <a:latin typeface="Consolas" pitchFamily="34" charset="0"/>
                <a:ea typeface="Consolas" pitchFamily="34" charset="-122"/>
                <a:cs typeface="Consolas" pitchFamily="34" charset="-120"/>
              </a:rPr>
              <a:t>{ "schema": "fmp-hcm-provenance/1",</a:t>
            </a:r>
            <a:endParaRPr lang="en-US" sz="1400" dirty="0"/>
          </a:p>
          <a:p>
            <a:pPr marL="0" indent="0">
              <a:buNone/>
            </a:pPr>
            <a:r>
              <a:rPr lang="en-US" sz="1400" dirty="0">
                <a:solidFill>
                  <a:srgbClr val="334155"/>
                </a:solidFill>
                <a:latin typeface="Consolas" pitchFamily="34" charset="0"/>
                <a:ea typeface="Consolas" pitchFamily="34" charset="-122"/>
                <a:cs typeface="Consolas" pitchFamily="34" charset="-120"/>
              </a:rPr>
              <a:t>  "as_of": "2026-10-25",</a:t>
            </a:r>
            <a:endParaRPr lang="en-US" sz="1400" dirty="0"/>
          </a:p>
          <a:p>
            <a:pPr marL="0" indent="0">
              <a:buNone/>
            </a:pPr>
            <a:r>
              <a:rPr lang="en-US" sz="1400" dirty="0">
                <a:solidFill>
                  <a:srgbClr val="334155"/>
                </a:solidFill>
                <a:latin typeface="Consolas" pitchFamily="34" charset="0"/>
                <a:ea typeface="Consolas" pitchFamily="34" charset="-122"/>
                <a:cs typeface="Consolas" pitchFamily="34" charset="-120"/>
              </a:rPr>
              <a:t>  "extract_sha256": "…",</a:t>
            </a:r>
            <a:endParaRPr lang="en-US" sz="1400" dirty="0"/>
          </a:p>
          <a:p>
            <a:pPr marL="0" indent="0">
              <a:buNone/>
            </a:pPr>
            <a:r>
              <a:rPr lang="en-US" sz="1400" dirty="0">
                <a:solidFill>
                  <a:srgbClr val="334155"/>
                </a:solidFill>
                <a:latin typeface="Consolas" pitchFamily="34" charset="0"/>
                <a:ea typeface="Consolas" pitchFamily="34" charset="-122"/>
                <a:cs typeface="Consolas" pitchFamily="34" charset="-120"/>
              </a:rPr>
              <a:t>  "mapping_sha256": "…",</a:t>
            </a:r>
            <a:endParaRPr lang="en-US" sz="1400" dirty="0"/>
          </a:p>
          <a:p>
            <a:pPr marL="0" indent="0">
              <a:buNone/>
            </a:pPr>
            <a:r>
              <a:rPr lang="en-US" sz="1400" dirty="0">
                <a:solidFill>
                  <a:srgbClr val="334155"/>
                </a:solidFill>
                <a:latin typeface="Consolas" pitchFamily="34" charset="0"/>
                <a:ea typeface="Consolas" pitchFamily="34" charset="-122"/>
                <a:cs typeface="Consolas" pitchFamily="34" charset="-120"/>
              </a:rPr>
              <a:t>  "counts": { "ready": 9, "quarantined": 9,</a:t>
            </a:r>
            <a:endParaRPr lang="en-US" sz="1400" dirty="0"/>
          </a:p>
          <a:p>
            <a:pPr marL="0" indent="0">
              <a:buNone/>
            </a:pPr>
            <a:r>
              <a:rPr lang="en-US" sz="1400" dirty="0">
                <a:solidFill>
                  <a:srgbClr val="334155"/>
                </a:solidFill>
                <a:latin typeface="Consolas" pitchFamily="34" charset="0"/>
                <a:ea typeface="Consolas" pitchFamily="34" charset="-122"/>
                <a:cs typeface="Consolas" pitchFamily="34" charset="-120"/>
              </a:rPr>
              <a:t>              "superseded": 1 },</a:t>
            </a:r>
            <a:endParaRPr lang="en-US" sz="1400" dirty="0"/>
          </a:p>
          <a:p>
            <a:pPr marL="0" indent="0">
              <a:buNone/>
            </a:pPr>
            <a:r>
              <a:rPr lang="en-US" sz="1400" dirty="0">
                <a:solidFill>
                  <a:srgbClr val="334155"/>
                </a:solidFill>
                <a:latin typeface="Consolas" pitchFamily="34" charset="0"/>
                <a:ea typeface="Consolas" pitchFamily="34" charset="-122"/>
                <a:cs typeface="Consolas" pitchFamily="34" charset="-120"/>
              </a:rPr>
              <a:t>  "held": false,</a:t>
            </a:r>
            <a:endParaRPr lang="en-US" sz="1400" dirty="0"/>
          </a:p>
          <a:p>
            <a:pPr marL="0" indent="0">
              <a:buNone/>
            </a:pPr>
            <a:r>
              <a:rPr lang="en-US" sz="1400" dirty="0">
                <a:solidFill>
                  <a:srgbClr val="334155"/>
                </a:solidFill>
                <a:latin typeface="Consolas" pitchFamily="34" charset="0"/>
                <a:ea typeface="Consolas" pitchFamily="34" charset="-122"/>
                <a:cs typeface="Consolas" pitchFamily="34" charset="-120"/>
              </a:rPr>
              <a:t>  "batches": [ { "batch": 1,</a:t>
            </a:r>
            <a:endParaRPr lang="en-US" sz="1400" dirty="0"/>
          </a:p>
          <a:p>
            <a:pPr marL="0" indent="0">
              <a:buNone/>
            </a:pPr>
            <a:r>
              <a:rPr lang="en-US" sz="1400" dirty="0">
                <a:solidFill>
                  <a:srgbClr val="334155"/>
                </a:solidFill>
                <a:latin typeface="Consolas" pitchFamily="34" charset="0"/>
                <a:ea typeface="Consolas" pitchFamily="34" charset="-122"/>
                <a:cs typeface="Consolas" pitchFamily="34" charset="-120"/>
              </a:rPr>
              <a:t>    "batch_sha256": "ab8f211e…",</a:t>
            </a:r>
            <a:endParaRPr lang="en-US" sz="1400" dirty="0"/>
          </a:p>
          <a:p>
            <a:pPr marL="0" indent="0">
              <a:buNone/>
            </a:pPr>
            <a:r>
              <a:rPr lang="en-US" sz="1400" dirty="0">
                <a:solidFill>
                  <a:srgbClr val="334155"/>
                </a:solidFill>
                <a:latin typeface="Consolas" pitchFamily="34" charset="0"/>
                <a:ea typeface="Consolas" pitchFamily="34" charset="-122"/>
                <a:cs typeface="Consolas" pitchFamily="34" charset="-120"/>
              </a:rPr>
              <a:t>    "person_keys": ["100003", "100008", …] } ],</a:t>
            </a:r>
            <a:endParaRPr lang="en-US" sz="1400" dirty="0"/>
          </a:p>
          <a:p>
            <a:pPr marL="0" indent="0">
              <a:buNone/>
            </a:pPr>
            <a:r>
              <a:rPr lang="en-US" sz="1400" dirty="0">
                <a:solidFill>
                  <a:srgbClr val="334155"/>
                </a:solidFill>
                <a:latin typeface="Consolas" pitchFamily="34" charset="0"/>
                <a:ea typeface="Consolas" pitchFamily="34" charset="-122"/>
                <a:cs typeface="Consolas" pitchFamily="34" charset="-120"/>
              </a:rPr>
              <a:t>  "quarantined": ["100006", "100007", …] }</a:t>
            </a:r>
            <a:endParaRPr lang="en-US" sz="1400" dirty="0"/>
          </a:p>
        </p:txBody>
      </p:sp>
      <p:sp>
        <p:nvSpPr>
          <p:cNvPr id="8" name="Panel What it proves">
            <a:extLst>
              <a:ext uri="{C183D7F6-B498-43B3-948B-1728B52AA6E4}">
                <adec:decorative xmlns:adec="http://schemas.microsoft.com/office/drawing/2017/decorative" val="1"/>
              </a:ext>
            </a:extLst>
          </p:cNvPr>
          <p:cNvSpPr/>
          <p:nvPr/>
        </p:nvSpPr>
        <p:spPr>
          <a:xfrm>
            <a:off x="5915711" y="1325880"/>
            <a:ext cx="5742889" cy="3304032"/>
          </a:xfrm>
          <a:prstGeom prst="roundRect">
            <a:avLst>
              <a:gd name="adj" fmla="val 2214"/>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What it proves label"/>
          <p:cNvSpPr txBox="1"/>
          <p:nvPr/>
        </p:nvSpPr>
        <p:spPr>
          <a:xfrm>
            <a:off x="6098591" y="1435608"/>
            <a:ext cx="5377129" cy="274320"/>
          </a:xfrm>
          <a:prstGeom prst="rect">
            <a:avLst/>
          </a:prstGeom>
          <a:noFill/>
          <a:ln/>
        </p:spPr>
        <p:txBody>
          <a:bodyPr wrap="square" lIns="0" tIns="0" rIns="0" bIns="0" rtlCol="0" anchor="t"/>
          <a:lstStyle/>
          <a:p>
            <a:pPr marL="0" indent="0">
              <a:buNone/>
            </a:pPr>
            <a:r>
              <a:rPr lang="en-US" sz="1100" b="1" kern="0" spc="50" dirty="0">
                <a:solidFill>
                  <a:srgbClr val="0F766E"/>
                </a:solidFill>
              </a:rPr>
              <a:t>WHAT IT PROVES</a:t>
            </a:r>
            <a:endParaRPr lang="en-US" sz="1100" dirty="0"/>
          </a:p>
        </p:txBody>
      </p:sp>
      <p:sp>
        <p:nvSpPr>
          <p:cNvPr id="10" name="Panel What it proves list"/>
          <p:cNvSpPr txBox="1"/>
          <p:nvPr/>
        </p:nvSpPr>
        <p:spPr>
          <a:xfrm>
            <a:off x="6098591" y="1737360"/>
            <a:ext cx="5422849" cy="2846832"/>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Provisioning log line → person key → batch and its Location → extract and mapping by hash</a:t>
            </a:r>
            <a:endParaRPr lang="en-US" sz="1550" dirty="0"/>
          </a:p>
          <a:p>
            <a:pPr marL="342900" indent="-342900">
              <a:spcAft>
                <a:spcPts val="400"/>
              </a:spcAft>
              <a:buSzPct val="100000"/>
              <a:buChar char="•"/>
            </a:pPr>
            <a:r>
              <a:rPr lang="en-US" sz="1550" dirty="0">
                <a:solidFill>
                  <a:srgbClr val="334155"/>
                </a:solidFill>
              </a:rPr>
              <a:t>Works only because bulkId is the person key</a:t>
            </a:r>
            <a:endParaRPr lang="en-US" sz="1550" dirty="0"/>
          </a:p>
          <a:p>
            <a:pPr marL="342900" indent="-342900">
              <a:spcAft>
                <a:spcPts val="400"/>
              </a:spcAft>
              <a:buSzPct val="100000"/>
              <a:buChar char="•"/>
            </a:pPr>
            <a:r>
              <a:rPr lang="en-US" sz="1550" dirty="0">
                <a:solidFill>
                  <a:srgbClr val="334155"/>
                </a:solidFill>
              </a:rPr>
              <a:t>Keys and hashes only, so it can sit in the evidence store (Book 13, Ch 04's pattern)</a:t>
            </a:r>
            <a:endParaRPr lang="en-US" sz="1550" dirty="0"/>
          </a:p>
          <a:p>
            <a:pPr marL="342900" indent="-342900">
              <a:spcAft>
                <a:spcPts val="400"/>
              </a:spcAft>
              <a:buSzPct val="100000"/>
              <a:buChar char="•"/>
            </a:pPr>
            <a:r>
              <a:rPr lang="en-US" sz="1550" dirty="0">
                <a:solidFill>
                  <a:srgbClr val="334155"/>
                </a:solidFill>
              </a:rPr>
              <a:t>48 Python and 48 Pester tests; both clients give the same payloads, hashes and provenance</a:t>
            </a:r>
            <a:endParaRPr lang="en-US" sz="1550" dirty="0"/>
          </a:p>
          <a:p>
            <a:pPr marL="342900" indent="-342900">
              <a:spcAft>
                <a:spcPts val="400"/>
              </a:spcAft>
              <a:buSzPct val="100000"/>
              <a:buChar char="•"/>
            </a:pPr>
            <a:r>
              <a:rPr lang="en-US" sz="1550" dirty="0">
                <a:solidFill>
                  <a:srgbClr val="334155"/>
                </a:solidFill>
              </a:rPr>
              <a:t>Seven baseline tests run the pinned CSV2SCIM offline; if it adds validation or ordering, they fail: the prompt to shrink our client</a:t>
            </a:r>
            <a:endParaRPr lang="en-US" sz="15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examples/hcm-entra (tests and fixtures). Chapter 01, “The provenance manifest,” “The tests.”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05F88BE9-2323-22F7-A434-A461B5F44BE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B5E9643-E995-4C52-854B-EBA6A9D7A23B}"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350"/>
    </mc:Choice>
    <mc:Fallback>
      <p:transition spd="slow" advTm="363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352"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builds it, and what each identity may do</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Card 1">
            <a:extLst>
              <a:ext uri="{C183D7F6-B498-43B3-948B-1728B52AA6E4}">
                <adec:decorative xmlns:adec="http://schemas.microsoft.com/office/drawing/2017/decorative" val="1"/>
              </a:ext>
            </a:extLst>
          </p:cNvPr>
          <p:cNvSpPr/>
          <p:nvPr/>
        </p:nvSpPr>
        <p:spPr>
          <a:xfrm>
            <a:off x="548640" y="1325880"/>
            <a:ext cx="3550920" cy="1882140"/>
          </a:xfrm>
          <a:prstGeom prst="roundRect">
            <a:avLst>
              <a:gd name="adj" fmla="val 388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6" name="Card 1 bar">
            <a:extLst>
              <a:ext uri="{C183D7F6-B498-43B3-948B-1728B52AA6E4}">
                <adec:decorative xmlns:adec="http://schemas.microsoft.com/office/drawing/2017/decorative" val="1"/>
              </a:ext>
            </a:extLst>
          </p:cNvPr>
          <p:cNvSpPr/>
          <p:nvPr/>
        </p:nvSpPr>
        <p:spPr>
          <a:xfrm>
            <a:off x="548640" y="1325880"/>
            <a:ext cx="82296" cy="188214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3185160" cy="165354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latin typeface="Cambria" pitchFamily="34" charset="0"/>
                <a:ea typeface="Cambria" pitchFamily="34" charset="-122"/>
                <a:cs typeface="Cambria" pitchFamily="34" charset="-120"/>
              </a:rPr>
              <a:t>Developers</a:t>
            </a:r>
            <a:endParaRPr lang="en-US" sz="1400" dirty="0"/>
          </a:p>
          <a:p>
            <a:pPr marL="0" indent="0">
              <a:spcAft>
                <a:spcPts val="300"/>
              </a:spcAft>
              <a:buNone/>
            </a:pPr>
            <a:r>
              <a:rPr lang="en-US" sz="1550" dirty="0">
                <a:solidFill>
                  <a:srgbClr val="334155"/>
                </a:solidFill>
              </a:rPr>
              <a:t>Own the HR integration: PowerShell 7 or Python, and what SCIM is. No HR product knowledge: everything reads a CSV extract named by a mapping file</a:t>
            </a:r>
            <a:endParaRPr lang="en-US" sz="1400" dirty="0"/>
          </a:p>
        </p:txBody>
      </p:sp>
      <p:sp>
        <p:nvSpPr>
          <p:cNvPr id="8" name="Card 2">
            <a:extLst>
              <a:ext uri="{C183D7F6-B498-43B3-948B-1728B52AA6E4}">
                <adec:decorative xmlns:adec="http://schemas.microsoft.com/office/drawing/2017/decorative" val="1"/>
              </a:ext>
            </a:extLst>
          </p:cNvPr>
          <p:cNvSpPr/>
          <p:nvPr/>
        </p:nvSpPr>
        <p:spPr>
          <a:xfrm>
            <a:off x="4328160" y="1325880"/>
            <a:ext cx="3550920" cy="1882140"/>
          </a:xfrm>
          <a:prstGeom prst="roundRect">
            <a:avLst>
              <a:gd name="adj" fmla="val 388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9" name="Card 2 bar">
            <a:extLst>
              <a:ext uri="{C183D7F6-B498-43B3-948B-1728B52AA6E4}">
                <adec:decorative xmlns:adec="http://schemas.microsoft.com/office/drawing/2017/decorative" val="1"/>
              </a:ext>
            </a:extLst>
          </p:cNvPr>
          <p:cNvSpPr/>
          <p:nvPr/>
        </p:nvSpPr>
        <p:spPr>
          <a:xfrm>
            <a:off x="4328160" y="1325880"/>
            <a:ext cx="82296" cy="1882140"/>
          </a:xfrm>
          <a:prstGeom prst="rect">
            <a:avLst/>
          </a:prstGeom>
          <a:solidFill>
            <a:srgbClr val="0F766E"/>
          </a:solidFill>
          <a:ln w="12700">
            <a:solidFill>
              <a:srgbClr val="0F766E"/>
            </a:solidFill>
            <a:prstDash val="solid"/>
          </a:ln>
        </p:spPr>
      </p:sp>
      <p:sp>
        <p:nvSpPr>
          <p:cNvPr id="10" name="Card 2 text"/>
          <p:cNvSpPr txBox="1"/>
          <p:nvPr/>
        </p:nvSpPr>
        <p:spPr>
          <a:xfrm>
            <a:off x="4556760" y="1463040"/>
            <a:ext cx="3185160" cy="165354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latin typeface="Cambria" pitchFamily="34" charset="0"/>
                <a:ea typeface="Cambria" pitchFamily="34" charset="-122"/>
                <a:cs typeface="Cambria" pitchFamily="34" charset="-120"/>
              </a:rPr>
              <a:t>Reviewers</a:t>
            </a:r>
            <a:endParaRPr lang="en-US" sz="1400" dirty="0"/>
          </a:p>
          <a:p>
            <a:pPr marL="0" indent="0">
              <a:spcAft>
                <a:spcPts val="300"/>
              </a:spcAft>
              <a:buNone/>
            </a:pPr>
            <a:r>
              <a:rPr lang="en-US" sz="1550" dirty="0">
                <a:solidFill>
                  <a:srgbClr val="334155"/>
                </a:solidFill>
              </a:rPr>
              <a:t>The engineers who review it, and can say for every rule whether it is Microsoft's contract, Microsoft's sample, or the program's design</a:t>
            </a:r>
            <a:endParaRPr lang="en-US" sz="1400" dirty="0"/>
          </a:p>
        </p:txBody>
      </p:sp>
      <p:sp>
        <p:nvSpPr>
          <p:cNvPr id="11" name="Card 3">
            <a:extLst>
              <a:ext uri="{C183D7F6-B498-43B3-948B-1728B52AA6E4}">
                <adec:decorative xmlns:adec="http://schemas.microsoft.com/office/drawing/2017/decorative" val="1"/>
              </a:ext>
            </a:extLst>
          </p:cNvPr>
          <p:cNvSpPr/>
          <p:nvPr/>
        </p:nvSpPr>
        <p:spPr>
          <a:xfrm>
            <a:off x="8107680" y="1325880"/>
            <a:ext cx="3550920" cy="1882140"/>
          </a:xfrm>
          <a:prstGeom prst="roundRect">
            <a:avLst>
              <a:gd name="adj" fmla="val 388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Card 3 bar">
            <a:extLst>
              <a:ext uri="{C183D7F6-B498-43B3-948B-1728B52AA6E4}">
                <adec:decorative xmlns:adec="http://schemas.microsoft.com/office/drawing/2017/decorative" val="1"/>
              </a:ext>
            </a:extLst>
          </p:cNvPr>
          <p:cNvSpPr/>
          <p:nvPr/>
        </p:nvSpPr>
        <p:spPr>
          <a:xfrm>
            <a:off x="8107680" y="1325880"/>
            <a:ext cx="82296" cy="1882140"/>
          </a:xfrm>
          <a:prstGeom prst="rect">
            <a:avLst/>
          </a:prstGeom>
          <a:solidFill>
            <a:srgbClr val="B45309"/>
          </a:solidFill>
          <a:ln w="12700">
            <a:solidFill>
              <a:srgbClr val="B45309"/>
            </a:solidFill>
            <a:prstDash val="solid"/>
          </a:ln>
        </p:spPr>
      </p:sp>
      <p:sp>
        <p:nvSpPr>
          <p:cNvPr id="13" name="Card 3 text"/>
          <p:cNvSpPr txBox="1"/>
          <p:nvPr/>
        </p:nvSpPr>
        <p:spPr>
          <a:xfrm>
            <a:off x="8336280" y="1463040"/>
            <a:ext cx="3185160" cy="1653540"/>
          </a:xfrm>
          <a:prstGeom prst="rect">
            <a:avLst/>
          </a:prstGeom>
          <a:noFill/>
          <a:ln/>
        </p:spPr>
        <p:txBody>
          <a:bodyPr wrap="square" lIns="0" tIns="0" rIns="0" bIns="0" rtlCol="0" anchor="t"/>
          <a:lstStyle/>
          <a:p>
            <a:pPr marL="0" indent="0">
              <a:spcAft>
                <a:spcPts val="300"/>
              </a:spcAft>
              <a:buNone/>
            </a:pPr>
            <a:r>
              <a:rPr lang="en-US" sz="1600" b="1" dirty="0">
                <a:solidFill>
                  <a:srgbClr val="B45309"/>
                </a:solidFill>
                <a:latin typeface="Cambria" pitchFamily="34" charset="0"/>
                <a:ea typeface="Cambria" pitchFamily="34" charset="-122"/>
                <a:cs typeface="Cambria" pitchFamily="34" charset="-120"/>
              </a:rPr>
              <a:t>The ISSO</a:t>
            </a:r>
            <a:endParaRPr lang="en-US" sz="1400" dirty="0"/>
          </a:p>
          <a:p>
            <a:pPr marL="0" indent="0">
              <a:spcAft>
                <a:spcPts val="300"/>
              </a:spcAft>
              <a:buNone/>
            </a:pPr>
            <a:r>
              <a:rPr lang="en-US" sz="1550" dirty="0">
                <a:solidFill>
                  <a:srgbClr val="334155"/>
                </a:solidFill>
              </a:rPr>
              <a:t>Needs records, not a screen: the report, manifest and results in the evidence store</a:t>
            </a:r>
            <a:endParaRPr lang="en-US" sz="14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3390900"/>
          <a:ext cx="11109960" cy="2145792"/>
        </p:xfrm>
        <a:graphic>
          <a:graphicData uri="http://schemas.openxmlformats.org/drawingml/2006/table">
            <a:tbl>
              <a:tblPr firstRow="1" bandRow="1"/>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gridCol w="2880360">
                  <a:extLst>
                    <a:ext uri="{9D8B030D-6E8A-4147-A177-3AD203B41FA5}">
                      <a16:colId xmlns:a16="http://schemas.microsoft.com/office/drawing/2014/main" val="20002"/>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Call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Least-privileged permission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Clouds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Send a batch (bulkUpload, v1.0)</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Application: SynchronizationData-User.Upload.OwnedBy; delegated: SynchronizationData-User.Upload with User Administrator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Available for Azure Government tenants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Read results (auditLogs/provisioning)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AuditLog.Read.All and Directory.Read.All; delegated also a role such as Reports Reader or Global Reader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Global, US Gov L4 and L5</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CSV2SCIM certificate flow</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Application.Read.All and Synchronization.Read.All, to look up the job</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Worldwide endpoint only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Perform bulkUpload; List provisioningObjectSummary; CSV2SCIM tutorial; feature availability; inbound provisioning concepts. Chapter 01, “Verified facts.”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893737F1-BC64-CCAB-5835-691BF9CA3DA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5FC73E2-C28A-417D-9348-0B06027D3598}"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220"/>
    </mc:Choice>
    <mc:Fallback>
      <p:transition spd="slow" advTm="372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21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Microsoft's sample, then the hardened client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ode panel">
            <a:extLst>
              <a:ext uri="{C183D7F6-B498-43B3-948B-1728B52AA6E4}">
                <adec:decorative xmlns:adec="http://schemas.microsoft.com/office/drawing/2017/decorative" val="1"/>
              </a:ext>
            </a:extLst>
          </p:cNvPr>
          <p:cNvSpPr/>
          <p:nvPr/>
        </p:nvSpPr>
        <p:spPr>
          <a:xfrm>
            <a:off x="548640" y="1325880"/>
            <a:ext cx="11109960" cy="2267712"/>
          </a:xfrm>
          <a:prstGeom prst="roundRect">
            <a:avLst>
              <a:gd name="adj" fmla="val 3226"/>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marL="0" indent="0">
              <a:buNone/>
            </a:pPr>
            <a:r>
              <a:rPr lang="en-US" sz="1050" b="1" dirty="0">
                <a:solidFill>
                  <a:srgbClr val="64748B"/>
                </a:solidFill>
              </a:rPr>
              <a:t>POWERSHELL 7 WITH PESTER 5; PYTHON 3.10 OR LATER</a:t>
            </a:r>
            <a:endParaRPr lang="en-US" sz="1050" dirty="0"/>
          </a:p>
        </p:txBody>
      </p:sp>
      <p:sp>
        <p:nvSpPr>
          <p:cNvPr id="7" name="Code"/>
          <p:cNvSpPr txBox="1"/>
          <p:nvPr/>
        </p:nvSpPr>
        <p:spPr>
          <a:xfrm>
            <a:off x="713232" y="1664208"/>
            <a:ext cx="10835640" cy="1883664"/>
          </a:xfrm>
          <a:prstGeom prst="rect">
            <a:avLst/>
          </a:prstGeom>
          <a:noFill/>
          <a:ln/>
        </p:spPr>
        <p:txBody>
          <a:bodyPr wrap="square" lIns="0" tIns="0" rIns="0" bIns="0" rtlCol="0" anchor="t"/>
          <a:lstStyle/>
          <a:p>
            <a:pPr marL="0" indent="0">
              <a:buNone/>
            </a:pPr>
            <a:r>
              <a:rPr lang="en-US" sz="1300" dirty="0">
                <a:solidFill>
                  <a:srgbClr val="0F766E"/>
                </a:solidFill>
                <a:latin typeface="Consolas" pitchFamily="34" charset="0"/>
                <a:ea typeface="Consolas" pitchFamily="34" charset="-122"/>
                <a:cs typeface="Consolas" pitchFamily="34" charset="-120"/>
              </a:rPr>
              <a:t># 1  Microsoft's sample on the fixture, from examples (no network)</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$map = Import-PowerShellDataFile ./hcm-entra/config/csv2scim/AttributeMapping.psd1</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./third_party/csv2scim/src/CSV2SCIM.ps1 -Path &lt;fixture&gt; -AttributeMapping $map -ValidateAttributeMapping</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./third_party/csv2scim/src/CSV2SCIM.ps1 -Path &lt;fixture&gt; -AttributeMapping $map `</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    -ScimSchemaNamespace 'urn:ietf:params:scim:schemas:extension:contoso:1.0:User' &gt; baseline.json</a:t>
            </a:r>
            <a:endParaRPr lang="en-US" sz="1300" dirty="0"/>
          </a:p>
          <a:p>
            <a:pPr marL="0" indent="0">
              <a:buNone/>
            </a:pPr>
            <a:r>
              <a:rPr lang="en-US" sz="1300" dirty="0">
                <a:solidFill>
                  <a:srgbClr val="0F766E"/>
                </a:solidFill>
                <a:latin typeface="Consolas" pitchFamily="34" charset="0"/>
                <a:ea typeface="Consolas" pitchFamily="34" charset="-122"/>
                <a:cs typeface="Consolas" pitchFamily="34" charset="-120"/>
              </a:rPr>
              <a:t># True; one bulk request, 19 operations; 100006 active; 100008 twice; one empty externalId</a:t>
            </a:r>
            <a:endParaRPr lang="en-US" sz="1300" dirty="0"/>
          </a:p>
          <a:p>
            <a:pPr marL="0" indent="0">
              <a:buNone/>
            </a:pPr>
            <a:r>
              <a:rPr lang="en-US" sz="1300" dirty="0">
                <a:solidFill>
                  <a:srgbClr val="0F766E"/>
                </a:solidFill>
                <a:latin typeface="Consolas" pitchFamily="34" charset="0"/>
                <a:ea typeface="Consolas" pitchFamily="34" charset="-122"/>
                <a:cs typeface="Consolas" pitchFamily="34" charset="-120"/>
              </a:rPr>
              <a:t># 2  The hardened client on the same fixture, from hcm-entra</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python python/hcm_to_scim.py --extract tests/fixtures/hcm_extract_sample.csv --as-of 2026-10-25 --out out</a:t>
            </a:r>
            <a:endParaRPr lang="en-US" sz="1300" dirty="0"/>
          </a:p>
          <a:p>
            <a:pPr marL="0" indent="0">
              <a:buNone/>
            </a:pPr>
            <a:r>
              <a:rPr lang="en-US" sz="1300" dirty="0">
                <a:solidFill>
                  <a:srgbClr val="0F766E"/>
                </a:solidFill>
                <a:latin typeface="Consolas" pitchFamily="34" charset="0"/>
                <a:ea typeface="Consolas" pitchFamily="34" charset="-122"/>
                <a:cs typeface="Consolas" pitchFamily="34" charset="-120"/>
              </a:rPr>
              <a:t># exit code 2: 9 ready, 9 quarantined, 1 superseded (the PowerShell client gives the same)</a:t>
            </a:r>
            <a:endParaRPr lang="en-US" sz="1300" dirty="0"/>
          </a:p>
        </p:txBody>
      </p:sp>
      <p:sp>
        <p:nvSpPr>
          <p:cNvPr id="8" name="Callout">
            <a:extLst>
              <a:ext uri="{C183D7F6-B498-43B3-948B-1728B52AA6E4}">
                <adec:decorative xmlns:adec="http://schemas.microsoft.com/office/drawing/2017/decorative" val="1"/>
              </a:ext>
            </a:extLst>
          </p:cNvPr>
          <p:cNvSpPr/>
          <p:nvPr/>
        </p:nvSpPr>
        <p:spPr>
          <a:xfrm>
            <a:off x="548640" y="3776472"/>
            <a:ext cx="11109960" cy="752856"/>
          </a:xfrm>
          <a:prstGeom prst="roundRect">
            <a:avLst>
              <a:gd name="adj" fmla="val 971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9" name="Icon FaLaptop">
            <a:extLst>
              <a:ext uri="{C183D7F6-B498-43B3-948B-1728B52AA6E4}">
                <adec:decorative xmlns:adec="http://schemas.microsoft.com/office/drawing/2017/decorative" val="1"/>
              </a:ext>
            </a:extLst>
          </p:cNvPr>
          <p:cNvSpPr/>
          <p:nvPr/>
        </p:nvSpPr>
        <p:spPr>
          <a:xfrm>
            <a:off x="749808" y="3849624"/>
            <a:ext cx="606552" cy="606552"/>
          </a:xfrm>
          <a:prstGeom prst="ellipse">
            <a:avLst/>
          </a:prstGeom>
          <a:solidFill>
            <a:srgbClr val="0F766E"/>
          </a:solidFill>
          <a:ln w="12700">
            <a:solidFill>
              <a:srgbClr val="0F766E"/>
            </a:solidFill>
            <a:prstDash val="solid"/>
          </a:ln>
        </p:spPr>
      </p:sp>
      <p:pic>
        <p:nvPicPr>
          <p:cNvPr id="10"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3995196"/>
            <a:ext cx="315407" cy="315407"/>
          </a:xfrm>
          <a:prstGeom prst="rect">
            <a:avLst/>
          </a:prstGeom>
        </p:spPr>
      </p:pic>
      <p:sp>
        <p:nvSpPr>
          <p:cNvPr id="11" name="Callout text"/>
          <p:cNvSpPr txBox="1"/>
          <p:nvPr/>
        </p:nvSpPr>
        <p:spPr>
          <a:xfrm>
            <a:off x="1600200" y="3831336"/>
            <a:ext cx="9875520" cy="643128"/>
          </a:xfrm>
          <a:prstGeom prst="rect">
            <a:avLst/>
          </a:prstGeom>
          <a:noFill/>
          <a:ln/>
        </p:spPr>
        <p:txBody>
          <a:bodyPr wrap="square" lIns="0" tIns="0" rIns="0" bIns="0" rtlCol="0" anchor="ctr"/>
          <a:lstStyle/>
          <a:p>
            <a:pPr marL="0" indent="0">
              <a:buNone/>
            </a:pPr>
            <a:r>
              <a:rPr lang="en-US" sz="1750" b="1" dirty="0">
                <a:solidFill>
                  <a:srgbClr val="0F766E"/>
                </a:solidFill>
              </a:rPr>
              <a:t>Nothing touches the network: </a:t>
            </a:r>
            <a:r>
              <a:rPr lang="en-US" sz="1750" dirty="0">
                <a:solidFill>
                  <a:srgbClr val="334155"/>
                </a:solidFill>
              </a:rPr>
              <a:t>CSV2SCIM's validate and generate modes read local files only, and the example's sender is tested with a fake poster.</a:t>
            </a:r>
            <a:endParaRPr lang="en-US" sz="17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examples/third_party/csv2scim and examples/hcm-entra (fictional fixture). Chapter 01, “Lab 1: fixtures, no tenant,” steps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6282E1AE-5804-92BC-3891-7CB8D303246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1DD5B9A-D858-44B6-97A2-BB7E677AB7B3}"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540"/>
    </mc:Choice>
    <mc:Fallback>
      <p:transition spd="slow" advTm="355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536"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compare, break it, hold it, test it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752088"/>
        </p:xfrm>
        <a:graphic>
          <a:graphicData uri="http://schemas.openxmlformats.org/drawingml/2006/table">
            <a:tbl>
              <a:tblPr firstRow="1" bandRow="1"/>
              <a:tblGrid>
                <a:gridCol w="173736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800600">
                  <a:extLst>
                    <a:ext uri="{9D8B030D-6E8A-4147-A177-3AD203B41FA5}">
                      <a16:colId xmlns:a16="http://schemas.microsoft.com/office/drawing/2014/main" val="20002"/>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Step</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What you do</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What you see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99364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3 Compare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Read out/quarantine.json and out/bulk-request-001.json beside baseline.json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100006 refused (worker type P) and the blank-key row; ours starts with leaver 100003, active false; the baseline with 100000; 100001 (future hire) disabled in ours, active in the baseline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4 Provenance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Hash the extract with Python's hashlib; run each tool twice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It matches extract_sha256; CSV2SCIM's bulkId values differ every run; ours gives identical batches and hashes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5 Break it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In a copy, change one DepartmentCode to org-100 (lower case)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Ours quarantines it with a code-list reason; CSV2SCIM sends it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6 Hold it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Pass --settings with {"max_disables_per_run": 1}</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Exit code 3</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7 Test it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python -m pytest -q -p no:cacheprovider tests/python; Invoke-Pester -Path tests/powershell</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48 Python and 48 Pester tests passing</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Lead"/>
          <p:cNvSpPr txBox="1"/>
          <p:nvPr/>
        </p:nvSpPr>
        <p:spPr>
          <a:xfrm>
            <a:off x="548640" y="5260848"/>
            <a:ext cx="11109960" cy="329184"/>
          </a:xfrm>
          <a:prstGeom prst="rect">
            <a:avLst/>
          </a:prstGeom>
          <a:noFill/>
          <a:ln/>
        </p:spPr>
        <p:txBody>
          <a:bodyPr wrap="square" lIns="0" tIns="0" rIns="0" bIns="0" rtlCol="0" anchor="t"/>
          <a:lstStyle/>
          <a:p>
            <a:pPr marL="0" indent="0">
              <a:buNone/>
            </a:pPr>
            <a:r>
              <a:rPr lang="en-US" sz="1800" b="1" dirty="0">
                <a:solidFill>
                  <a:srgbClr val="1F2A44"/>
                </a:solidFill>
              </a:rPr>
              <a:t>Expected result: the differences in the gap table, seen with your own eyes.</a:t>
            </a:r>
            <a:endParaRPr lang="en-US" sz="18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examples/hcm-entra (fictional fixture). Chapter 01, “Lab 1: fixtures, no tenant,” steps 3–7.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38DD9D2E-FD38-5866-7648-1D4BDA6790C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2E52C59-CFE1-49F1-B3C7-F9EC1385B68C}"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520"/>
    </mc:Choice>
    <mc:Fallback>
      <p:transition spd="slow" advTm="365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52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2: a test tenant, five records, reconciled</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tep 1 dot">
            <a:extLst>
              <a:ext uri="{C183D7F6-B498-43B3-948B-1728B52AA6E4}">
                <adec:decorative xmlns:adec="http://schemas.microsoft.com/office/drawing/2017/decorative" val="1"/>
              </a:ext>
            </a:extLst>
          </p:cNvPr>
          <p:cNvSpPr/>
          <p:nvPr/>
        </p:nvSpPr>
        <p:spPr>
          <a:xfrm>
            <a:off x="548640" y="1344168"/>
            <a:ext cx="275844" cy="27584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Step 1"/>
          <p:cNvSpPr txBox="1"/>
          <p:nvPr/>
        </p:nvSpPr>
        <p:spPr>
          <a:xfrm>
            <a:off x="1097280" y="1325880"/>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Create the provisioning app: </a:t>
            </a:r>
            <a:r>
              <a:rPr lang="en-US" sz="1450" dirty="0">
                <a:solidFill>
                  <a:srgbClr val="334155"/>
                </a:solidFill>
              </a:rPr>
              <a:t>API-driven inbound to Entra ID, per Learn's guide (P1, P2 or ID Governance); copy its Provisioning API Endpoint</a:t>
            </a:r>
            <a:endParaRPr lang="en-US" sz="1450" dirty="0"/>
          </a:p>
        </p:txBody>
      </p:sp>
      <p:sp>
        <p:nvSpPr>
          <p:cNvPr id="8" name="Step 2 dot">
            <a:extLst>
              <a:ext uri="{C183D7F6-B498-43B3-948B-1728B52AA6E4}">
                <adec:decorative xmlns:adec="http://schemas.microsoft.com/office/drawing/2017/decorative" val="1"/>
              </a:ext>
            </a:extLst>
          </p:cNvPr>
          <p:cNvSpPr/>
          <p:nvPr/>
        </p:nvSpPr>
        <p:spPr>
          <a:xfrm>
            <a:off x="548640" y="1895856"/>
            <a:ext cx="275844" cy="275844"/>
          </a:xfrm>
          <a:prstGeom prst="ellipse">
            <a:avLst/>
          </a:prstGeom>
          <a:solidFill>
            <a:srgbClr val="B45309"/>
          </a:solidFill>
          <a:ln w="12700">
            <a:solidFill>
              <a:srgbClr val="B45309"/>
            </a:solidFill>
            <a:prstDash val="solid"/>
          </a:ln>
        </p:spPr>
      </p:sp>
      <p:sp>
        <p:nvSpPr>
          <p:cNvPr id="9" name="Step 2 number"/>
          <p:cNvSpPr txBox="1"/>
          <p:nvPr/>
        </p:nvSpPr>
        <p:spPr>
          <a:xfrm>
            <a:off x="548640" y="1895856"/>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0" name="Step 2"/>
          <p:cNvSpPr txBox="1"/>
          <p:nvPr/>
        </p:nvSpPr>
        <p:spPr>
          <a:xfrm>
            <a:off x="1097280" y="1877568"/>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Extend its schema: </a:t>
            </a:r>
            <a:r>
              <a:rPr lang="en-US" sz="1450" dirty="0">
                <a:solidFill>
                  <a:srgbClr val="334155"/>
                </a:solidFill>
              </a:rPr>
              <a:t>CSV2SCIM -UpdateSchema with mapping.json's namespace (worldwide or GCC); in GCC High or DoD, use the admin center</a:t>
            </a:r>
            <a:endParaRPr lang="en-US" sz="1450" dirty="0"/>
          </a:p>
        </p:txBody>
      </p:sp>
      <p:sp>
        <p:nvSpPr>
          <p:cNvPr id="11" name="Step 3 dot">
            <a:extLst>
              <a:ext uri="{C183D7F6-B498-43B3-948B-1728B52AA6E4}">
                <adec:decorative xmlns:adec="http://schemas.microsoft.com/office/drawing/2017/decorative" val="1"/>
              </a:ext>
            </a:extLst>
          </p:cNvPr>
          <p:cNvSpPr/>
          <p:nvPr/>
        </p:nvSpPr>
        <p:spPr>
          <a:xfrm>
            <a:off x="548640" y="2447544"/>
            <a:ext cx="275844" cy="275844"/>
          </a:xfrm>
          <a:prstGeom prst="ellipse">
            <a:avLst/>
          </a:prstGeom>
          <a:solidFill>
            <a:srgbClr val="B45309"/>
          </a:solidFill>
          <a:ln w="12700">
            <a:solidFill>
              <a:srgbClr val="B45309"/>
            </a:solidFill>
            <a:prstDash val="solid"/>
          </a:ln>
        </p:spPr>
      </p:sp>
      <p:sp>
        <p:nvSpPr>
          <p:cNvPr id="12" name="Step 3 number"/>
          <p:cNvSpPr txBox="1"/>
          <p:nvPr/>
        </p:nvSpPr>
        <p:spPr>
          <a:xfrm>
            <a:off x="548640" y="2447544"/>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3" name="Step 3"/>
          <p:cNvSpPr txBox="1"/>
          <p:nvPr/>
        </p:nvSpPr>
        <p:spPr>
          <a:xfrm>
            <a:off x="1097280" y="2429256"/>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Least privilege: </a:t>
            </a:r>
            <a:r>
              <a:rPr lang="en-US" sz="1450" dirty="0">
                <a:solidFill>
                  <a:srgbClr val="334155"/>
                </a:solidFill>
              </a:rPr>
              <a:t>Managed identity or certificate, never a secret; SynchronizationData-User.Upload.OwnedBy, else .Upload; keep the sample's scopes to testing</a:t>
            </a:r>
            <a:endParaRPr lang="en-US" sz="1450" dirty="0"/>
          </a:p>
        </p:txBody>
      </p:sp>
      <p:sp>
        <p:nvSpPr>
          <p:cNvPr id="14" name="Step 4 dot">
            <a:extLst>
              <a:ext uri="{C183D7F6-B498-43B3-948B-1728B52AA6E4}">
                <adec:decorative xmlns:adec="http://schemas.microsoft.com/office/drawing/2017/decorative" val="1"/>
              </a:ext>
            </a:extLst>
          </p:cNvPr>
          <p:cNvSpPr/>
          <p:nvPr/>
        </p:nvSpPr>
        <p:spPr>
          <a:xfrm>
            <a:off x="548640" y="2999232"/>
            <a:ext cx="275844" cy="275844"/>
          </a:xfrm>
          <a:prstGeom prst="ellipse">
            <a:avLst/>
          </a:prstGeom>
          <a:solidFill>
            <a:srgbClr val="B45309"/>
          </a:solidFill>
          <a:ln w="12700">
            <a:solidFill>
              <a:srgbClr val="B45309"/>
            </a:solidFill>
            <a:prstDash val="solid"/>
          </a:ln>
        </p:spPr>
      </p:sp>
      <p:sp>
        <p:nvSpPr>
          <p:cNvPr id="15" name="Step 4 number"/>
          <p:cNvSpPr txBox="1"/>
          <p:nvPr/>
        </p:nvSpPr>
        <p:spPr>
          <a:xfrm>
            <a:off x="548640" y="2999232"/>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16" name="Step 4"/>
          <p:cNvSpPr txBox="1"/>
          <p:nvPr/>
        </p:nvSpPr>
        <p:spPr>
          <a:xfrm>
            <a:off x="1097280" y="2980944"/>
            <a:ext cx="10561320" cy="330708"/>
          </a:xfrm>
          <a:prstGeom prst="rect">
            <a:avLst/>
          </a:prstGeom>
          <a:noFill/>
          <a:ln/>
        </p:spPr>
        <p:txBody>
          <a:bodyPr wrap="square" lIns="0" tIns="0" rIns="0" bIns="0" rtlCol="0" anchor="t"/>
          <a:lstStyle/>
          <a:p>
            <a:pPr marL="0" indent="0">
              <a:buNone/>
            </a:pPr>
            <a:r>
              <a:rPr lang="en-US" sz="1450" b="1" dirty="0">
                <a:solidFill>
                  <a:srgbClr val="1F2A44"/>
                </a:solidFill>
              </a:rPr>
              <a:t>Start the job: </a:t>
            </a:r>
            <a:r>
              <a:rPr lang="en-US" sz="1450" dirty="0">
                <a:solidFill>
                  <a:srgbClr val="334155"/>
                </a:solidFill>
              </a:rPr>
              <a:t>Set the notification email and turn on accidental-deletions prevention</a:t>
            </a:r>
            <a:endParaRPr lang="en-US" sz="1450" dirty="0"/>
          </a:p>
        </p:txBody>
      </p:sp>
      <p:sp>
        <p:nvSpPr>
          <p:cNvPr id="17" name="Step 5 dot">
            <a:extLst>
              <a:ext uri="{C183D7F6-B498-43B3-948B-1728B52AA6E4}">
                <adec:decorative xmlns:adec="http://schemas.microsoft.com/office/drawing/2017/decorative" val="1"/>
              </a:ext>
            </a:extLst>
          </p:cNvPr>
          <p:cNvSpPr/>
          <p:nvPr/>
        </p:nvSpPr>
        <p:spPr>
          <a:xfrm>
            <a:off x="548640" y="3329940"/>
            <a:ext cx="275844" cy="275844"/>
          </a:xfrm>
          <a:prstGeom prst="ellipse">
            <a:avLst/>
          </a:prstGeom>
          <a:solidFill>
            <a:srgbClr val="B45309"/>
          </a:solidFill>
          <a:ln w="12700">
            <a:solidFill>
              <a:srgbClr val="B45309"/>
            </a:solidFill>
            <a:prstDash val="solid"/>
          </a:ln>
        </p:spPr>
      </p:sp>
      <p:sp>
        <p:nvSpPr>
          <p:cNvPr id="18" name="Step 5 number"/>
          <p:cNvSpPr txBox="1"/>
          <p:nvPr/>
        </p:nvSpPr>
        <p:spPr>
          <a:xfrm>
            <a:off x="548640" y="3329940"/>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19" name="Step 5"/>
          <p:cNvSpPr txBox="1"/>
          <p:nvPr/>
        </p:nvSpPr>
        <p:spPr>
          <a:xfrm>
            <a:off x="1097280" y="3311652"/>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Send five records: </a:t>
            </a:r>
            <a:r>
              <a:rPr lang="en-US" sz="1450" dirty="0">
                <a:solidFill>
                  <a:srgbClr val="334155"/>
                </a:solidFill>
              </a:rPr>
              <a:t>Endpoint in config/settings.json, token in HCM_ENTRA_BEARER_TOKEN, --apply on five valid rows: one batch, a 202, a Location</a:t>
            </a:r>
            <a:endParaRPr lang="en-US" sz="1450" dirty="0"/>
          </a:p>
        </p:txBody>
      </p:sp>
      <p:sp>
        <p:nvSpPr>
          <p:cNvPr id="20" name="Step 6 dot">
            <a:extLst>
              <a:ext uri="{C183D7F6-B498-43B3-948B-1728B52AA6E4}">
                <adec:decorative xmlns:adec="http://schemas.microsoft.com/office/drawing/2017/decorative" val="1"/>
              </a:ext>
            </a:extLst>
          </p:cNvPr>
          <p:cNvSpPr/>
          <p:nvPr/>
        </p:nvSpPr>
        <p:spPr>
          <a:xfrm>
            <a:off x="548640" y="3881628"/>
            <a:ext cx="275844" cy="275844"/>
          </a:xfrm>
          <a:prstGeom prst="ellipse">
            <a:avLst/>
          </a:prstGeom>
          <a:solidFill>
            <a:srgbClr val="B45309"/>
          </a:solidFill>
          <a:ln w="12700">
            <a:solidFill>
              <a:srgbClr val="B45309"/>
            </a:solidFill>
            <a:prstDash val="solid"/>
          </a:ln>
        </p:spPr>
      </p:sp>
      <p:sp>
        <p:nvSpPr>
          <p:cNvPr id="21" name="Step 6 number"/>
          <p:cNvSpPr txBox="1"/>
          <p:nvPr/>
        </p:nvSpPr>
        <p:spPr>
          <a:xfrm>
            <a:off x="548640" y="3881628"/>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22" name="Step 6"/>
          <p:cNvSpPr txBox="1"/>
          <p:nvPr/>
        </p:nvSpPr>
        <p:spPr>
          <a:xfrm>
            <a:off x="1097280" y="3863340"/>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Reconcile: </a:t>
            </a:r>
            <a:r>
              <a:rPr lang="en-US" sz="1450" dirty="0">
                <a:solidFill>
                  <a:srgbClr val="334155"/>
                </a:solidFill>
              </a:rPr>
              <a:t>-GetPreviousCycleLogs, or GET /auditLogs/provisioning on the job; a person key with no result is a finding</a:t>
            </a:r>
            <a:endParaRPr lang="en-US" sz="1450" dirty="0"/>
          </a:p>
        </p:txBody>
      </p:sp>
      <p:sp>
        <p:nvSpPr>
          <p:cNvPr id="23" name="Step 7 dot">
            <a:extLst>
              <a:ext uri="{C183D7F6-B498-43B3-948B-1728B52AA6E4}">
                <adec:decorative xmlns:adec="http://schemas.microsoft.com/office/drawing/2017/decorative" val="1"/>
              </a:ext>
            </a:extLst>
          </p:cNvPr>
          <p:cNvSpPr/>
          <p:nvPr/>
        </p:nvSpPr>
        <p:spPr>
          <a:xfrm>
            <a:off x="548640" y="4433316"/>
            <a:ext cx="275844" cy="275844"/>
          </a:xfrm>
          <a:prstGeom prst="ellipse">
            <a:avLst/>
          </a:prstGeom>
          <a:solidFill>
            <a:srgbClr val="B45309"/>
          </a:solidFill>
          <a:ln w="12700">
            <a:solidFill>
              <a:srgbClr val="B45309"/>
            </a:solidFill>
            <a:prstDash val="solid"/>
          </a:ln>
        </p:spPr>
      </p:sp>
      <p:sp>
        <p:nvSpPr>
          <p:cNvPr id="24" name="Step 7 number"/>
          <p:cNvSpPr txBox="1"/>
          <p:nvPr/>
        </p:nvSpPr>
        <p:spPr>
          <a:xfrm>
            <a:off x="548640" y="4433316"/>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7</a:t>
            </a:r>
            <a:endParaRPr lang="en-US" sz="1400" dirty="0"/>
          </a:p>
        </p:txBody>
      </p:sp>
      <p:sp>
        <p:nvSpPr>
          <p:cNvPr id="25" name="Step 7"/>
          <p:cNvSpPr txBox="1"/>
          <p:nvPr/>
        </p:nvSpPr>
        <p:spPr>
          <a:xfrm>
            <a:off x="1097280" y="4415028"/>
            <a:ext cx="10561320" cy="330708"/>
          </a:xfrm>
          <a:prstGeom prst="rect">
            <a:avLst/>
          </a:prstGeom>
          <a:noFill/>
          <a:ln/>
        </p:spPr>
        <p:txBody>
          <a:bodyPr wrap="square" lIns="0" tIns="0" rIns="0" bIns="0" rtlCol="0" anchor="t"/>
          <a:lstStyle/>
          <a:p>
            <a:pPr marL="0" indent="0">
              <a:buNone/>
            </a:pPr>
            <a:r>
              <a:rPr lang="en-US" sz="1450" b="1" dirty="0">
                <a:solidFill>
                  <a:srgbClr val="1F2A44"/>
                </a:solidFill>
              </a:rPr>
              <a:t>Back it out: </a:t>
            </a:r>
            <a:r>
              <a:rPr lang="en-US" sz="1450" dirty="0">
                <a:solidFill>
                  <a:srgbClr val="334155"/>
                </a:solidFill>
              </a:rPr>
              <a:t>Resend the five as INACTIVE with a termination date; delete the users and the app; unset the token</a:t>
            </a:r>
            <a:endParaRPr lang="en-US" sz="1450" dirty="0"/>
          </a:p>
        </p:txBody>
      </p:sp>
      <p:sp>
        <p:nvSpPr>
          <p:cNvPr id="26" name="Callout">
            <a:extLst>
              <a:ext uri="{C183D7F6-B498-43B3-948B-1728B52AA6E4}">
                <adec:decorative xmlns:adec="http://schemas.microsoft.com/office/drawing/2017/decorative" val="1"/>
              </a:ext>
            </a:extLst>
          </p:cNvPr>
          <p:cNvSpPr/>
          <p:nvPr/>
        </p:nvSpPr>
        <p:spPr>
          <a:xfrm>
            <a:off x="548640" y="4928616"/>
            <a:ext cx="11109960" cy="731520"/>
          </a:xfrm>
          <a:prstGeom prst="roundRect">
            <a:avLst>
              <a:gd name="adj" fmla="val 10000"/>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7" name="Icon FaTriangleExclamation">
            <a:extLst>
              <a:ext uri="{C183D7F6-B498-43B3-948B-1728B52AA6E4}">
                <adec:decorative xmlns:adec="http://schemas.microsoft.com/office/drawing/2017/decorative" val="1"/>
              </a:ext>
            </a:extLst>
          </p:cNvPr>
          <p:cNvSpPr/>
          <p:nvPr/>
        </p:nvSpPr>
        <p:spPr>
          <a:xfrm>
            <a:off x="749808" y="5001768"/>
            <a:ext cx="585216" cy="585216"/>
          </a:xfrm>
          <a:prstGeom prst="ellipse">
            <a:avLst/>
          </a:prstGeom>
          <a:solidFill>
            <a:srgbClr val="B91C1C"/>
          </a:solidFill>
          <a:ln w="12700">
            <a:solidFill>
              <a:srgbClr val="B91C1C"/>
            </a:solidFill>
            <a:prstDash val="solid"/>
          </a:ln>
        </p:spPr>
      </p:sp>
      <p:pic>
        <p:nvPicPr>
          <p:cNvPr id="2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0260" y="5142220"/>
            <a:ext cx="304312" cy="304312"/>
          </a:xfrm>
          <a:prstGeom prst="rect">
            <a:avLst/>
          </a:prstGeom>
        </p:spPr>
      </p:pic>
      <p:sp>
        <p:nvSpPr>
          <p:cNvPr id="29" name="Callout text"/>
          <p:cNvSpPr txBox="1"/>
          <p:nvPr/>
        </p:nvSpPr>
        <p:spPr>
          <a:xfrm>
            <a:off x="1600200" y="4983480"/>
            <a:ext cx="9875520" cy="621792"/>
          </a:xfrm>
          <a:prstGeom prst="rect">
            <a:avLst/>
          </a:prstGeom>
          <a:noFill/>
          <a:ln/>
        </p:spPr>
        <p:txBody>
          <a:bodyPr wrap="square" lIns="0" tIns="0" rIns="0" bIns="0" rtlCol="0" anchor="ctr"/>
          <a:lstStyle/>
          <a:p>
            <a:pPr marL="0" indent="0">
              <a:buNone/>
            </a:pPr>
            <a:r>
              <a:rPr lang="en-US" sz="1700" b="1" dirty="0">
                <a:solidFill>
                  <a:srgbClr val="B91C1C"/>
                </a:solidFill>
              </a:rPr>
              <a:t>Where: </a:t>
            </a:r>
            <a:r>
              <a:rPr lang="en-US" sz="1700" dirty="0">
                <a:solidFill>
                  <a:srgbClr val="334155"/>
                </a:solidFill>
              </a:rPr>
              <a:t>a test tenant, never production, and fictional records only.</a:t>
            </a:r>
            <a:endParaRPr lang="en-US" sz="1700" dirty="0"/>
          </a:p>
        </p:txBody>
      </p:sp>
      <p:sp>
        <p:nvSpPr>
          <p:cNvPr id="3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inbound provisioning concepts; CSV2SCIM tutorial; Perform bulkUpload; List provisioningObjectSummary. Chapter 01, “Lab 2: test tenant.”</a:t>
            </a:r>
            <a:endParaRPr lang="en-US" sz="1000" dirty="0"/>
          </a:p>
        </p:txBody>
      </p:sp>
      <p:sp>
        <p:nvSpPr>
          <p:cNvPr id="31"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32" name="Narration" descr="Narration for this slide; captions available">
            <a:hlinkClick r:id="" action="ppaction://media"/>
            <a:extLst>
              <a:ext uri="{FF2B5EF4-FFF2-40B4-BE49-F238E27FC236}">
                <a16:creationId xmlns:a16="http://schemas.microsoft.com/office/drawing/2014/main" id="{9BC48509-C3A4-F84C-87E6-99CD4994077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0D500E6-5EBC-40BF-A8FE-8B155F217D53}"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220"/>
    </mc:Choice>
    <mc:Fallback>
      <p:transition spd="slow" advTm="372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216" fill="hold"/>
                                        <p:tgtEl>
                                          <p:spTgt spid="3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401312"/>
        </p:xfrm>
        <a:graphic>
          <a:graphicData uri="http://schemas.openxmlformats.org/drawingml/2006/table">
            <a:tbl>
              <a:tblPr firstRow="1" bandRow="1"/>
              <a:tblGrid>
                <a:gridCol w="310896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4069080">
                  <a:extLst>
                    <a:ext uri="{9D8B030D-6E8A-4147-A177-3AD203B41FA5}">
                      <a16:colId xmlns:a16="http://schemas.microsoft.com/office/drawing/2014/main" val="20002"/>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Danger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happens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The guard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 sample's output sent to production unchanged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Pending workers, duplicates and blank keys reach the directory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The hardened client for production; baseline tests show what the sample doesn't check</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 sample that changes under you</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Labs and behavior drift without anyone deciding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The pinned copy, its hash test, the weekly upstream watch</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Over-broad sign-in scopes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Application.ReadWrite.All on an identity that only uploads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One permission for the sender; the sample's identity kept to the test tenant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Wrong cloud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GCC High unreachable, or a token sent to the wrong host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The endpoint allow-list of the three Graph hosts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Partial records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An omitted attribute clears the target when clearing is on (preview)</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Every record built complete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Mass disable from a bad extract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Hundreds disabled before anyone looks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max_disables_per_run holds the run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Treating 202 as success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record that failed in the job is never followed up</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Reconcile against the logs by the manifest's person keys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Personal data in logs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Names and payloads in the operational log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Report and manifest carry keys and hashes only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API-driven inbound provisioning concepts (clear attribute values, preview). Chapter 01, “Dangers.”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BB8E0F0B-CB91-FA8F-E27C-5D290B3FF00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31C2905-1291-42FF-A77E-39ED55EAB7AA}"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4260"/>
    </mc:Choice>
    <mc:Fallback>
      <p:transition spd="slow" advTm="342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026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Done when: the chapter's checklist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anel The code">
            <a:extLst>
              <a:ext uri="{C183D7F6-B498-43B3-948B-1728B52AA6E4}">
                <adec:decorative xmlns:adec="http://schemas.microsoft.com/office/drawing/2017/decorative" val="1"/>
              </a:ext>
            </a:extLst>
          </p:cNvPr>
          <p:cNvSpPr/>
          <p:nvPr/>
        </p:nvSpPr>
        <p:spPr>
          <a:xfrm>
            <a:off x="548640" y="1325880"/>
            <a:ext cx="5417820" cy="3540252"/>
          </a:xfrm>
          <a:prstGeom prst="roundRect">
            <a:avLst>
              <a:gd name="adj" fmla="val 206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The code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THE CODE</a:t>
            </a:r>
            <a:endParaRPr lang="en-US" sz="1100" dirty="0"/>
          </a:p>
        </p:txBody>
      </p:sp>
      <p:sp>
        <p:nvSpPr>
          <p:cNvPr id="7" name="Panel The code list"/>
          <p:cNvSpPr txBox="1"/>
          <p:nvPr/>
        </p:nvSpPr>
        <p:spPr>
          <a:xfrm>
            <a:off x="731520" y="1737360"/>
            <a:ext cx="5097780" cy="3083052"/>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The CSV2SCIM mapping validates (True), and the app's attribute list carries the extension namespace</a:t>
            </a:r>
            <a:endParaRPr lang="en-US" sz="1550" dirty="0"/>
          </a:p>
          <a:p>
            <a:pPr marL="342900" indent="-342900">
              <a:spcAft>
                <a:spcPts val="400"/>
              </a:spcAft>
              <a:buSzPct val="100000"/>
              <a:buChar char="•"/>
            </a:pPr>
            <a:r>
              <a:rPr lang="en-US" sz="1550" dirty="0">
                <a:solidFill>
                  <a:srgbClr val="334155"/>
                </a:solidFill>
              </a:rPr>
              <a:t>The pinned copy matches its manifest; every upstream commit since the pin is reviewed</a:t>
            </a:r>
            <a:endParaRPr lang="en-US" sz="1550" dirty="0"/>
          </a:p>
          <a:p>
            <a:pPr marL="342900" indent="-342900">
              <a:spcAft>
                <a:spcPts val="400"/>
              </a:spcAft>
              <a:buSzPct val="100000"/>
              <a:buChar char="•"/>
            </a:pPr>
            <a:r>
              <a:rPr lang="en-US" sz="1550" dirty="0">
                <a:solidFill>
                  <a:srgbClr val="334155"/>
                </a:solidFill>
              </a:rPr>
              <a:t>Production sends go through the hardened client; the baseline tests pass</a:t>
            </a:r>
            <a:endParaRPr lang="en-US" sz="1550" dirty="0"/>
          </a:p>
          <a:p>
            <a:pPr marL="342900" indent="-342900">
              <a:spcAft>
                <a:spcPts val="400"/>
              </a:spcAft>
              <a:buSzPct val="100000"/>
              <a:buChar char="•"/>
            </a:pPr>
            <a:r>
              <a:rPr lang="en-US" sz="1550" dirty="0">
                <a:solidFill>
                  <a:srgbClr val="334155"/>
                </a:solidFill>
              </a:rPr>
              <a:t>Both clients pass their tests; the provenance fixture hash still matches</a:t>
            </a:r>
            <a:endParaRPr lang="en-US" sz="1550" dirty="0"/>
          </a:p>
          <a:p>
            <a:pPr marL="342900" indent="-342900">
              <a:spcAft>
                <a:spcPts val="400"/>
              </a:spcAft>
              <a:buSzPct val="100000"/>
              <a:buChar char="•"/>
            </a:pPr>
            <a:r>
              <a:rPr lang="en-US" sz="1550" dirty="0">
                <a:solidFill>
                  <a:srgbClr val="334155"/>
                </a:solidFill>
              </a:rPr>
              <a:t>A new validation rule refuses by default, with a test</a:t>
            </a:r>
            <a:endParaRPr lang="en-US" sz="1550" dirty="0"/>
          </a:p>
        </p:txBody>
      </p:sp>
      <p:sp>
        <p:nvSpPr>
          <p:cNvPr id="8" name="Panel The run">
            <a:extLst>
              <a:ext uri="{C183D7F6-B498-43B3-948B-1728B52AA6E4}">
                <adec:decorative xmlns:adec="http://schemas.microsoft.com/office/drawing/2017/decorative" val="1"/>
              </a:ext>
            </a:extLst>
          </p:cNvPr>
          <p:cNvSpPr/>
          <p:nvPr/>
        </p:nvSpPr>
        <p:spPr>
          <a:xfrm>
            <a:off x="6240780" y="1325880"/>
            <a:ext cx="5417820" cy="3540252"/>
          </a:xfrm>
          <a:prstGeom prst="roundRect">
            <a:avLst>
              <a:gd name="adj" fmla="val 2066"/>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The run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RUN</a:t>
            </a:r>
            <a:endParaRPr lang="en-US" sz="1100" dirty="0"/>
          </a:p>
        </p:txBody>
      </p:sp>
      <p:sp>
        <p:nvSpPr>
          <p:cNvPr id="10" name="Panel The run list"/>
          <p:cNvSpPr txBox="1"/>
          <p:nvPr/>
        </p:nvSpPr>
        <p:spPr>
          <a:xfrm>
            <a:off x="6423660" y="1737360"/>
            <a:ext cx="5097780" cy="3083052"/>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max_disables_per_run and daily_call_budget set from the agency's numbers and license</a:t>
            </a:r>
            <a:endParaRPr lang="en-US" sz="1550" dirty="0"/>
          </a:p>
          <a:p>
            <a:pPr marL="342900" indent="-342900">
              <a:spcAft>
                <a:spcPts val="400"/>
              </a:spcAft>
              <a:buSzPct val="100000"/>
              <a:buChar char="•"/>
            </a:pPr>
            <a:r>
              <a:rPr lang="en-US" sz="1550" dirty="0">
                <a:solidFill>
                  <a:srgbClr val="334155"/>
                </a:solidFill>
              </a:rPr>
              <a:t>The sender has SynchronizationData-User.Upload.OwnedBy (or .Upload) and nothing else, with a certificate or managed identity</a:t>
            </a:r>
            <a:endParaRPr lang="en-US" sz="1550" dirty="0"/>
          </a:p>
          <a:p>
            <a:pPr marL="342900" indent="-342900">
              <a:spcAft>
                <a:spcPts val="400"/>
              </a:spcAft>
              <a:buSzPct val="100000"/>
              <a:buChar char="•"/>
            </a:pPr>
            <a:r>
              <a:rPr lang="en-US" sz="1550" dirty="0">
                <a:solidFill>
                  <a:srgbClr val="334155"/>
                </a:solidFill>
              </a:rPr>
              <a:t>quarantine.json only in the access-controlled audit store; the rest in the evidence store</a:t>
            </a:r>
            <a:endParaRPr lang="en-US" sz="1550" dirty="0"/>
          </a:p>
          <a:p>
            <a:pPr marL="342900" indent="-342900">
              <a:spcAft>
                <a:spcPts val="400"/>
              </a:spcAft>
              <a:buSzPct val="100000"/>
              <a:buChar char="•"/>
            </a:pPr>
            <a:r>
              <a:rPr lang="en-US" sz="1550" dirty="0">
                <a:solidFill>
                  <a:srgbClr val="334155"/>
                </a:solidFill>
              </a:rPr>
              <a:t>Reconciliation opens a finding for every missing person key</a:t>
            </a:r>
            <a:endParaRPr lang="en-US" sz="1550" dirty="0"/>
          </a:p>
          <a:p>
            <a:pPr marL="342900" indent="-342900">
              <a:spcAft>
                <a:spcPts val="400"/>
              </a:spcAft>
              <a:buSzPct val="100000"/>
              <a:buChar char="•"/>
            </a:pPr>
            <a:r>
              <a:rPr lang="en-US" sz="1550" dirty="0">
                <a:solidFill>
                  <a:srgbClr val="334155"/>
                </a:solidFill>
              </a:rPr>
              <a:t>The endpoint and token authority match the tenant's cloud</a:t>
            </a:r>
            <a:endParaRPr lang="en-US" sz="1550" dirty="0"/>
          </a:p>
        </p:txBody>
      </p:sp>
      <p:sp>
        <p:nvSpPr>
          <p:cNvPr id="11" name="Callout">
            <a:extLst>
              <a:ext uri="{C183D7F6-B498-43B3-948B-1728B52AA6E4}">
                <adec:decorative xmlns:adec="http://schemas.microsoft.com/office/drawing/2017/decorative" val="1"/>
              </a:ext>
            </a:extLst>
          </p:cNvPr>
          <p:cNvSpPr/>
          <p:nvPr/>
        </p:nvSpPr>
        <p:spPr>
          <a:xfrm>
            <a:off x="548640" y="5049012"/>
            <a:ext cx="11109960" cy="731520"/>
          </a:xfrm>
          <a:prstGeom prst="roundRect">
            <a:avLst>
              <a:gd name="adj" fmla="val 100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Route">
            <a:extLst>
              <a:ext uri="{C183D7F6-B498-43B3-948B-1728B52AA6E4}">
                <adec:decorative xmlns:adec="http://schemas.microsoft.com/office/drawing/2017/decorative" val="1"/>
              </a:ext>
            </a:extLst>
          </p:cNvPr>
          <p:cNvSpPr/>
          <p:nvPr/>
        </p:nvSpPr>
        <p:spPr>
          <a:xfrm>
            <a:off x="749808" y="5122164"/>
            <a:ext cx="585216" cy="585216"/>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0260" y="5262616"/>
            <a:ext cx="304312" cy="304312"/>
          </a:xfrm>
          <a:prstGeom prst="rect">
            <a:avLst/>
          </a:prstGeom>
        </p:spPr>
      </p:pic>
      <p:sp>
        <p:nvSpPr>
          <p:cNvPr id="14" name="Callout text"/>
          <p:cNvSpPr txBox="1"/>
          <p:nvPr/>
        </p:nvSpPr>
        <p:spPr>
          <a:xfrm>
            <a:off x="1600200" y="5103876"/>
            <a:ext cx="9875520" cy="621792"/>
          </a:xfrm>
          <a:prstGeom prst="rect">
            <a:avLst/>
          </a:prstGeom>
          <a:noFill/>
          <a:ln/>
        </p:spPr>
        <p:txBody>
          <a:bodyPr wrap="square" lIns="0" tIns="0" rIns="0" bIns="0" rtlCol="0" anchor="ctr"/>
          <a:lstStyle/>
          <a:p>
            <a:pPr marL="0" indent="0">
              <a:buNone/>
            </a:pPr>
            <a:r>
              <a:rPr lang="en-US" sz="1750" b="1" dirty="0">
                <a:solidFill>
                  <a:srgbClr val="B45309"/>
                </a:solidFill>
              </a:rPr>
              <a:t>Next: </a:t>
            </a:r>
            <a:r>
              <a:rPr lang="en-US" sz="1750" dirty="0">
                <a:solidFill>
                  <a:srgbClr val="334155"/>
                </a:solidFill>
              </a:rPr>
              <a:t>Chapter 02, Graph Clients for the Government Clouds.</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01, “Checklist”; Learn, Perform bulkUpload (least-privileged permission). Chapter 01, “Continue the book.”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38A6B052-985B-26BB-FCE6-39EAC8AB03F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E05B102-7EB7-4EE9-8BDC-DD12BE16C34F}"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710"/>
    </mc:Choice>
    <mc:Fallback>
      <p:transition spd="slow" advTm="367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712"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11951</Words>
  <Application>Microsoft Office PowerPoint</Application>
  <PresentationFormat>Widescreen</PresentationFormat>
  <Paragraphs>394</Paragraphs>
  <Slides>18</Slides>
  <Notes>18</Notes>
  <HiddenSlides>0</HiddenSlides>
  <MMClips>18</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vt:lpstr>
      <vt:lpstr>Consolas</vt:lpstr>
      <vt:lpstr>Federal Modernization Workbook</vt:lpstr>
      <vt:lpstr>Chapter 01: The HR-to-Entra Middleware</vt:lpstr>
      <vt:lpstr>Why the payload is where the record stays true</vt:lpstr>
      <vt:lpstr>Which cloud: the Graph host and the token authority</vt:lpstr>
      <vt:lpstr>Where the middleware sits, and what it writes</vt:lpstr>
      <vt:lpstr>Microsoft's sample: CSV2SCIM and its five modes</vt:lpstr>
      <vt:lpstr>The mapping file, and the pinned copy</vt:lpstr>
      <vt:lpstr>What the sample leaves to you: the record</vt:lpstr>
      <vt:lpstr>What it leaves to you: pacing, clouds and evidence</vt:lpstr>
      <vt:lpstr>The code: two equivalent clients, one mapping</vt:lpstr>
      <vt:lpstr>Validate, fail closed, and send the whole record</vt:lpstr>
      <vt:lpstr>Order, batch and hold; pace, retry and stop</vt:lpstr>
      <vt:lpstr>The provenance manifest and the tests</vt:lpstr>
      <vt:lpstr>Who builds it, and what each identity may do</vt:lpstr>
      <vt:lpstr>Lab 1: Microsoft's sample, then the hardened client</vt:lpstr>
      <vt:lpstr>Lab 1: compare, break it, hold it, test it</vt:lpstr>
      <vt:lpstr>Lab 2: a test tenant, five records, reconciled</vt:lpstr>
      <vt:lpstr>Dangers, and the guard for each</vt:lpstr>
      <vt:lpstr>Done when: the chapter's checklist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the Attribute-Driven Migration, Chapter 01 — The HR-to-Entra Middleware</dc:title>
  <dc:subject>PptxGenJS Presentation</dc:subject>
  <dc:creator>Michael F. Stratton</dc:creator>
  <cp:lastModifiedBy>Michael F. Stratton</cp:lastModifiedBy>
  <cp:revision>2</cp:revision>
  <dcterms:created xsi:type="dcterms:W3CDTF">2026-10-31T14:33:28Z</dcterms:created>
  <dcterms:modified xsi:type="dcterms:W3CDTF">2026-10-31T14:34:21Z</dcterms:modified>
</cp:coreProperties>
</file>