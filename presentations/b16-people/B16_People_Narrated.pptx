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eople close the gap" id="{8D0A22BA-8CB5-98E0-F916-337C5414EB5E}">
          <p14:sldIdLst>
            <p14:sldId id="256"/>
            <p14:sldId id="257"/>
            <p14:sldId id="258"/>
            <p14:sldId id="259"/>
          </p14:sldIdLst>
        </p14:section>
        <p14:section name="What the program teaches" id="{5E2FEF68-AAB3-CE65-7BE2-70AD510546D2}">
          <p14:sldIdLst>
            <p14:sldId id="260"/>
            <p14:sldId id="261"/>
            <p14:sldId id="262"/>
            <p14:sldId id="263"/>
            <p14:sldId id="264"/>
            <p14:sldId id="265"/>
          </p14:sldIdLst>
        </p14:section>
        <p14:section name="Who owns workforce readiness" id="{2FEE55E9-C16D-0FCE-0109-C14B610E6B0B}">
          <p14:sldIdLst>
            <p14:sldId id="266"/>
          </p14:sldIdLst>
        </p14:section>
        <p14:section name="How to run it and measure it" id="{23B9798E-2BF0-88B8-7809-B9B884F58BEF}">
          <p14:sldIdLst>
            <p14:sldId id="267"/>
            <p14:sldId id="268"/>
            <p14:sldId id="269"/>
          </p14:sldIdLst>
        </p14:section>
        <p14:section name="Backup" id="{928C6AE9-BCD2-44FD-E5EC-191B55007F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40164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This briefing comes from Book 16 of the Federal Modernization Workbook, People: Training and Education. It's written for C I Os and CISOs, workforce and training leads, I S S Os, and help desk leads.
I'll take four questions: why people, not tools, close the gap; what the program teaches; who owns workforce readiness; and how to run the curriculum and measure whether it worked.
The short version: every book before this one changes what someone does. Tools enforce the new rules, but people run the estate, and a program that trains last pays twice.
Workbook: Book 16, index; Chapter 01 — People, Not Tools, Close the Gap.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[0:40–1:44]  A Conditional Access policy can require phishing-resistant sign-in for every user. It can't decide what happens when a caller tells the help desk their security key is lost and they need to sign in now. An entitlement review can list everyone with access, but it can't make the owner read the list. A drift check can find a server that left its baseline, but it can't say whether the exception behind it was ever approved.
The program's position is that this technology moves risk from configuration to judgment. What's left is a smaller number of human decisions that carry more weight. And almost every book splits a job into deciding and doing, and moves some decisions to people outside I T, such as HR staff and application owners. A person who doesn't know the new rule falls back on the old habit, which is exactly what the modernization was meant to remove.
Workbook: Book 16, Chapter 01 — People, Not Tools, Close the Gap (opening; What each book changes in people's work; Tools enforce, people decide).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[1:44–2:51]  Many programs train at the end: build, migrate, then train. The program's observation is that this is paid for twice.
The first payment comes at cutover. Users who weren't taught the new sign-in call the help desk. A help desk that wasn't taught the new verification either refuses legitimate callers or resets accounts without the checks meant to stop impersonation. Administrators ask for standing roles until things settle, and exceptions granted under pressure tend to stay.
The second payment comes afterward. The workarounds have to be found and removed, people retrained, and habits unlearned, which is slower than learning.
Federal rules already put training before the change. OPM's rule requires awareness material before access, and training whenever the system environment or procedures change significantly. NIST's controls ask for training when system changes require it, and OMB Circular A-130 requires role-based training before access is authorized. So training last also puts the agency behind requirements it already has.
Workbook: Book 16, Chapter 01 — People, Not Tools, Close the Gap (Why training last costs twice).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[2:51–3:58]  FISMA is a staffing requirement as much as a course requirement: the agency head must have trained personnel sufficient to comply, and the C I O trains and oversees people with significant security duties. OPM's rule names five audiences, from every user to I T operations staff. Circular A-130 has the chief human capital officer and the C I O set competency requirements together. And the Federal Cybersecurity Workforce Assessment Act requires every agency to identify its cyber positions and code each one to the NICE Framework, NIST's vocabulary of forty-two work roles.
The codes haven't been reliable. In 2019, GAO found that 22 of 24 agencies had given a non-I T code to about nineteen percent of their I T management positions. So the program treats codes as one roster input, not settled fact.
Just as important is what the rules don't require: no civilian certification mandate, and the Defense Department's eighty-one forty program doesn't apply to civilian agencies.
Workbook: Book 16, Chapter 02 — What Federal Workforce Rules Require (The sources at a glance; FISMA; OPM's rule; OMB Circular A-130; The NICE Framework; Coding the positions; How well it has worked; What the rules don't require; DoD 8140, as a contrast).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[3:58–5:03]  Now what the program teaches. It separates education from training. Education builds the mental model, for everyone, before any tool, and it teaches six ideas in order, because each depends on the one before. Governance is a system that runs continuously. Identity is the starting point. One map replaces many inventories. Every derived record names its source and version. Modernization is a lifecycle under change control, not a project that ends. And drift is the feedback signal.
Someone who holds those ideas understands why the help desk now asks for verification, why a role is activated instead of held, and why a screenshot isn't evidence. Orientation comes as a ninety-minute walkthrough, a self-serve written path, and a forty-five-minute briefing for auditors and assessors.
Training comes after, by role, in four tracks: compliance, for people who evidence controls; implementation, for people who build; vendor training and labs; and end-user training for everyone who signs in.
Workbook: Book 16, Chapter 01 (Education before training); Chapter 09 — Building and Running the Curriculum (Orientation: education before training).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[5:03–6:10]  The compliance track is for the people who read evidence rather than build it: I S S Os, compliance staff, control assessors and authorizing officials. It teaches one skill above the others, tracing. Given a control, name the mechanism that closes it, the book that built it, the record it emits and where that record sits in the authorization package. Given a record, work back to its control and say whether it's current.
The orientation module carries four ideas: the Risk Management Framework's seven steps; who owes which proof, with only the authorizing official accepting residual risk; Moderate and FedRAMP's Class C as two facts, not one; and FedRAMP's forty-six key security indicators binding providers, not agencies.
Eight modules then follow the program's evidence areas, from identity to training. Each one teaches a discipline: a policy screenshot can't show that a sign-in was phishing-resistant; only the sign-in record can. The capstone is a continuous-monitoring narrative for one system.
Workbook: Book 16, Chapter 03 — The Compliance Track (Who the track is for; Module 0; Modules 1 to 8; The capstone).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[6:10–7:17]  The implementation track teaches the same estate from the engineer's chair, in ten build modules from D N S and address management to day-two operations. The order is a real dependency chain: address before you identify, identify before you shape transport, transport before you place data, and certificates before the network enforces. Devices, the cloud platform and security operations run in parallel once identity exists. Day two comes last, because it runs what everything else built.
Every module ends the same way. Done means it works and its evidence has landed where an assessor can read it. Every lab teaches three habits: observe before you enforce, with report-only, monitor and shadow modes; keep a way back in, with emergency access accounts created first; and export the record, not a screenshot.
Certifications are examples, not proof, and they change. Microsoft retired AZ-500 on August 31, 2026, and SC-500 replaced it. So the program re-checks its certification table at every gate.
Workbook: Book 16, Chapter 04 — The Implementation Track (The rule of the track; The build modules; Order and pairing; Example certifications).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[7:17–8:25]  Federal guidance asks for more than completion. A-130 asks agencies to test users' knowledge, and NIST's learning-program guide recommends practical assessments that mimic the work role. So the program certifies only what a person can show, with an artifact someone else could check.
Every capstone is scored on one four-level scale. Zero is missing. One names the right books but gets the controls or the evidence wrong. Two traces the chain from book to control to evidence source. Three is assessor-ready: a real, dated result, with an honest statement of what isn't evaluated yet. The compliance capstone passes with every area at two or better, at least three at three, and all four whole-submission checks. An after-action report with no findings scores zero, and so does a training percentage with no per-person records behind it.
Two credentials follow: practitioner for builders, assessor for compliance staff. Both expire after twelve months. An industry certification can waive a module, but never a capstone.
Workbook: Book 16, Chapter 05 — Assessment and Certification (The scale; The eight evidence areas; Scoring the capstones; Two credentials; Recertification; Industry certifications).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[8:25–9:34]  Vendors teach their products, and the book names them as examples, never endorsements. A vendor course earns a place only if it passes four tests: it maps to a book procedure; it's current; the agency can keep its completion record; and the agency knows how the vendor handles learner data. Exam records tied to a work account are lost when the person leaves, so the agency keeps its own record.
Lab environments are harder to get than most programs expect. Microsoft Learn's free sandboxes are gone. The developer sandbox has eligibility limits and isn't offered in any government cloud, and there's no free sandbox in G C C High at all. So the program office arranges lab tenants, and before each gate the team rehearses once in the agency's own non-production government tenant.
Every lab follows the same rules: never production; emergency access first; observe before enforcing; no sync or federation with production; synthetic data only; and tear it down at the end.
Workbook: Book 16, Chapter 06 — Vendor Training and Lab Environments (Choosing vendor training; Where lab environments come from; What changes in the government clouds; Rules for every lab).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[9:34–10:39]  Every user will sign in differently. Federal policy sets the target. OMB's zero trust memo and NIST's authentication guideline require phishing-resistant sign-in for staff, contractors and partners, and passwords, one-time codes and push approvals don't qualify. So users learn a PIV card, Windows Hello for Business or a passkey, with at least two methods registered.
The course has six short modules: sign-in; reset and recovery; devices; where files now live; reporting; and what the help desk will and won't ask. Password lessons teach length and passphrases, not character classes.
The last module matters most, because the help desk becomes a target the moment users trust it. CISA's Scattered Spider advisory describes attackers posing as I T staff. The real help desk never asks for a password, a PIN or a code, never asks you to approve a prompt for them, and never sends a pass to an address you give on the call.
Workbook: Book 16, Chapter 07 — End-User Training for the Modernized Estate (Module 1; Module 2; Modules 3 to 5; Module 6: What the help desk will and won't ask; Accessible training).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[10:39–11:44]  Ask who owns training and three offices answer at once. Between them, nobody owns whether people can do the new job on the day it changes. So the program keeps one decider per row.
The sponsor and C I O fund the learning program and decide each wave's readiness plan. The CISO owns the training policy, the completion threshold, and the exact words users are taught about sign-in, reporting and the help desk. The chief human capital officer's office owns workforce strategy, position coding, the facts behind the rosters, and labor relations.
The training lead builds the curriculum and reports the numbers, but never declares a wave ready. The I S S O reviews the training record. The program office puts training into every gate. Supervisors own completion; the help desk manager decides whether the desk is ready; communications owns one sender. Contractors can build and deliver it all, but government officials make the decisions.
Workbook: Book 16, Chapter 08 — Who Owns Workforce Readiness (Where the roles come from; The roles;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[11:44–12:46]  The curriculum runs on the roadmap's calendar. The planning rule is simple: no gate is scheduled without its training dates, and no wave without its training window, so a wave that slips moves its training with it.
Each gate carries a training check beside its technical exit. At the foundation gate, the help desk is trained on verification and administrators on just-in-time activation. Pilot and division users are trained before their waves. And by the last gate, no course still teaches an Active Directory procedure. The help desk goes first: no technician is made eligible for a help desk role until their training and verification check are on record.
Before each wave, champions and managers start sixty to forty-five days out, the help desk is trained by thirty days, users are assigned their modules at thirty, with reminders at fifteen and seven, and then the readiness check.
Workbook: Book 16, Chapter 01 (Training is part of each gate's readiness); Chapter 09 — Building and Running the Curriculum (Start from the roadmap; What each phase and gate needs; Just-in-time training before each wave; Keeping the curriculum current).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[12:46–13:53]  A completion record says someone finished a course. Readiness says they can do the job on the day the change arrives. Following NIST's learning guide, the program measures four levels: reaction, from surveys; learning, from assessments and labs; behavior, from help desk ticket trends, sign-in method registration and verification audits; and results, from gate outcomes.
The rule is completion for everyone, and competence for every role where a mistake is a security event: help desk technicians, privileged administrators, I S S Os, and the people named in incident and contingency plans. For them, completion without a passing assessment doesn't count.
Registration by wave is the most direct end-user measure, and it costs nothing to collect. A wave that isn't ready moves its date, not its threshold, and the pilot sets the baselines. The steering committee gets one page at every meeting, in counts, not names, with privileged gaps as a count, because each one is a finding.
Workbook: Book 16, Chapter 10 — Measuring Readiness and Evidencing It (Completion is not competence; Readiness per role; Readiness per gate; Signals beyond the learning management system; Reporting to the steering committee; Baselines and targets are design).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[13:53–14:58]  So, four decisions.
Put training in every gate, measured against a roster from HR and identity records, not a headcount. A gate passes with a gap only as a named, dated exception.
Train and verify the help desk first, before any new role is assigned and before every wave.
Name the owners and keep them apart: the chief human capital officer and the C I O set competencies, the CISO owns the security words, and the training lead reports while others decide.
And certify with artifacts: capstones and two credentials, renewed every year.
The next step needs no procurement. Build the role roster from HR records, coded positions and eligible-role assignments; name a training lead and an owner for each track; and brief the workforce office, labor relations and the Section 508 program manager before the first gate.
People, not tools, close the gap. Book 16 has the detail, every claim footnoted. Thank you.
Workbook: Book 16, Chapters 01 (Training is part of each gate's readiness), 05 (Two credentials; Recertification), 08 (The responsibility matrix; Keeping the roles apart; Readiness is an input to every gate), 09 (What each phase and gate needs) and 10 (Readiness per role); index.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16 People: Training &amp; Education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8.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5.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7.png"/><Relationship Id="rId5" Type="http://schemas.openxmlformats.org/officeDocument/2006/relationships/image" Target="../media/image24.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2.png"/><Relationship Id="rId5" Type="http://schemas.openxmlformats.org/officeDocument/2006/relationships/image" Target="../media/image28.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3.xml"/><Relationship Id="rId7" Type="http://schemas.openxmlformats.org/officeDocument/2006/relationships/image" Target="../media/image29.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2.png"/><Relationship Id="rId5" Type="http://schemas.openxmlformats.org/officeDocument/2006/relationships/image" Target="../media/image15.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30.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Will Run the New Estate?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16 — People: Training &amp; Education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CIOs, CISOs, workforce and training leads, ISSOs and help desk leads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15E4867C-2039-CC2D-7741-5DE91DD336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029060-F367-48F7-8CAB-1547BE341C9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20"/>
    </mc:Choice>
    <mc:Fallback>
      <p:transition spd="slow" advTm="42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1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Tools enforce; people decide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hieldHalved">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WHAT A TOOL CAN DO</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Enforce the rule</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Conditional Access requires phishing-resistant sign-in</a:t>
            </a:r>
            <a:endParaRPr lang="en-US" sz="1400" dirty="0"/>
          </a:p>
          <a:p>
            <a:pPr marL="342900" indent="-342900">
              <a:spcAft>
                <a:spcPts val="600"/>
              </a:spcAft>
              <a:buSzPct val="100000"/>
              <a:buChar char="•"/>
            </a:pPr>
            <a:r>
              <a:rPr lang="en-US" sz="1400" dirty="0">
                <a:solidFill>
                  <a:schemeClr val="tx2"/>
                </a:solidFill>
              </a:rPr>
              <a:t>An entitlement review lists everyone with access</a:t>
            </a:r>
            <a:endParaRPr lang="en-US" sz="1400" dirty="0"/>
          </a:p>
          <a:p>
            <a:pPr marL="342900" indent="-342900">
              <a:spcAft>
                <a:spcPts val="600"/>
              </a:spcAft>
              <a:buSzPct val="100000"/>
              <a:buChar char="•"/>
            </a:pPr>
            <a:r>
              <a:rPr lang="en-US" sz="1400" dirty="0">
                <a:solidFill>
                  <a:schemeClr val="tx2"/>
                </a:solidFill>
              </a:rPr>
              <a:t>A drift check finds a server off its baseline</a:t>
            </a:r>
            <a:endParaRPr lang="en-US" sz="1400" dirty="0"/>
          </a:p>
          <a:p>
            <a:pPr marL="342900" indent="-342900">
              <a:spcAft>
                <a:spcPts val="600"/>
              </a:spcAft>
              <a:buSzPct val="100000"/>
              <a:buChar char="•"/>
            </a:pPr>
            <a:r>
              <a:rPr lang="en-US" sz="1400" dirty="0">
                <a:solidFill>
                  <a:schemeClr val="tx2"/>
                </a:solidFill>
              </a:rPr>
              <a:t>Each one leaves a decision for a person</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WHAT ONLY A PERSON CAN DO</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Decide what it means</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Is this caller who they say they are?</a:t>
            </a:r>
            <a:endParaRPr lang="en-US" sz="1400" dirty="0"/>
          </a:p>
          <a:p>
            <a:pPr marL="342900" indent="-342900">
              <a:spcAft>
                <a:spcPts val="600"/>
              </a:spcAft>
              <a:buSzPct val="100000"/>
              <a:buChar char="•"/>
            </a:pPr>
            <a:r>
              <a:rPr lang="en-US" sz="1400" dirty="0">
                <a:solidFill>
                  <a:schemeClr val="tx2"/>
                </a:solidFill>
              </a:rPr>
              <a:t>Is this access request justified?</a:t>
            </a:r>
            <a:endParaRPr lang="en-US" sz="1400" dirty="0"/>
          </a:p>
          <a:p>
            <a:pPr marL="342900" indent="-342900">
              <a:spcAft>
                <a:spcPts val="600"/>
              </a:spcAft>
              <a:buSzPct val="100000"/>
              <a:buChar char="•"/>
            </a:pPr>
            <a:r>
              <a:rPr lang="en-US" sz="1400" dirty="0">
                <a:solidFill>
                  <a:schemeClr val="tx2"/>
                </a:solidFill>
              </a:rPr>
              <a:t>Fix, accept or escalate this drift finding?</a:t>
            </a:r>
            <a:endParaRPr lang="en-US" sz="1400" dirty="0"/>
          </a:p>
          <a:p>
            <a:pPr marL="342900" indent="-342900">
              <a:spcAft>
                <a:spcPts val="600"/>
              </a:spcAft>
              <a:buSzPct val="100000"/>
              <a:buChar char="•"/>
            </a:pPr>
            <a:r>
              <a:rPr lang="en-US" sz="1400" dirty="0">
                <a:solidFill>
                  <a:schemeClr val="tx2"/>
                </a:solidFill>
              </a:rPr>
              <a:t>Is the evidence complete before it goes to the AO?</a:t>
            </a:r>
            <a:endParaRPr lang="en-US" sz="1400" dirty="0"/>
          </a:p>
        </p:txBody>
      </p:sp>
      <p:sp>
        <p:nvSpPr>
          <p:cNvPr id="15" name="Spli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Spli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Almost every book splits a job into deciding and doing: </a:t>
            </a:r>
            <a:r>
              <a:rPr lang="en-US" sz="1650" dirty="0">
                <a:solidFill>
                  <a:schemeClr val="tx2"/>
                </a:solidFill>
              </a:rPr>
              <a:t>two people now need the procedure where one did, and some decisions move outside IT, to HR staff, application owners, contracting officer's representatives and records officers.</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16, Chapter 01 (What each book changes in people's work; Tools enforce, people decide), drawing on the who chapters of Books 04, 13 and 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72119742-AD32-7364-DC19-8065F23E02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D8C3A6-F418-477C-B1AA-7FD90F33833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00"/>
    </mc:Choice>
    <mc:Fallback>
      <p:transition spd="slow" advTm="50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89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Training last is paid for twice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TriangleExclamation">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THE FIRST PAYMENT</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At cutover</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Untrained users call the help desk about sign-in</a:t>
            </a:r>
            <a:endParaRPr lang="en-US" sz="1400" dirty="0"/>
          </a:p>
          <a:p>
            <a:pPr marL="342900" indent="-342900">
              <a:spcAft>
                <a:spcPts val="600"/>
              </a:spcAft>
              <a:buSzPct val="100000"/>
              <a:buChar char="•"/>
            </a:pPr>
            <a:r>
              <a:rPr lang="en-US" sz="1400" dirty="0">
                <a:solidFill>
                  <a:schemeClr val="tx2"/>
                </a:solidFill>
              </a:rPr>
              <a:t>An untrained desk refuses real callers, or resets without the checks</a:t>
            </a:r>
            <a:endParaRPr lang="en-US" sz="1400" dirty="0"/>
          </a:p>
          <a:p>
            <a:pPr marL="342900" indent="-342900">
              <a:spcAft>
                <a:spcPts val="600"/>
              </a:spcAft>
              <a:buSzPct val="100000"/>
              <a:buChar char="•"/>
            </a:pPr>
            <a:r>
              <a:rPr lang="en-US" sz="1400" dirty="0">
                <a:solidFill>
                  <a:schemeClr val="tx2"/>
                </a:solidFill>
              </a:rPr>
              <a:t>Administrators ask for standing roles “until things settle”</a:t>
            </a:r>
            <a:endParaRPr lang="en-US" sz="1400" dirty="0"/>
          </a:p>
          <a:p>
            <a:pPr marL="342900" indent="-342900">
              <a:spcAft>
                <a:spcPts val="600"/>
              </a:spcAft>
              <a:buSzPct val="100000"/>
              <a:buChar char="•"/>
            </a:pPr>
            <a:r>
              <a:rPr lang="en-US" sz="1400" dirty="0">
                <a:solidFill>
                  <a:schemeClr val="tx2"/>
                </a:solidFill>
              </a:rPr>
              <a:t>Exceptions granted under pressure tend to stay</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THE SECOND PAYMENT</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Afterward</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Find and remove the workarounds</a:t>
            </a:r>
            <a:endParaRPr lang="en-US" sz="1400" dirty="0"/>
          </a:p>
          <a:p>
            <a:pPr marL="342900" indent="-342900">
              <a:spcAft>
                <a:spcPts val="600"/>
              </a:spcAft>
              <a:buSzPct val="100000"/>
              <a:buChar char="•"/>
            </a:pPr>
            <a:r>
              <a:rPr lang="en-US" sz="1400" dirty="0">
                <a:solidFill>
                  <a:schemeClr val="tx2"/>
                </a:solidFill>
              </a:rPr>
              <a:t>Retrain the people who made them</a:t>
            </a:r>
            <a:endParaRPr lang="en-US" sz="1400" dirty="0"/>
          </a:p>
          <a:p>
            <a:pPr marL="342900" indent="-342900">
              <a:spcAft>
                <a:spcPts val="600"/>
              </a:spcAft>
              <a:buSzPct val="100000"/>
              <a:buChar char="•"/>
            </a:pPr>
            <a:r>
              <a:rPr lang="en-US" sz="1400" dirty="0">
                <a:solidFill>
                  <a:schemeClr val="tx2"/>
                </a:solidFill>
              </a:rPr>
              <a:t>Unlearn the first weeks' habits; slower than learning</a:t>
            </a:r>
            <a:endParaRPr lang="en-US" sz="1400" dirty="0"/>
          </a:p>
          <a:p>
            <a:pPr marL="342900" indent="-342900">
              <a:spcAft>
                <a:spcPts val="600"/>
              </a:spcAft>
              <a:buSzPct val="100000"/>
              <a:buChar char="•"/>
            </a:pPr>
            <a:r>
              <a:rPr lang="en-US" sz="1400" dirty="0">
                <a:solidFill>
                  <a:schemeClr val="tx2"/>
                </a:solidFill>
              </a:rPr>
              <a:t>Explain the gap in the training evidence</a:t>
            </a:r>
            <a:endParaRPr lang="en-US" sz="1400" dirty="0"/>
          </a:p>
        </p:txBody>
      </p:sp>
      <p:sp>
        <p:nvSpPr>
          <p:cNvPr id="15" name="Rul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Rul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rules already put training first: </a:t>
            </a:r>
            <a:r>
              <a:rPr lang="en-US" sz="1650" dirty="0">
                <a:solidFill>
                  <a:schemeClr val="tx2"/>
                </a:solidFill>
              </a:rPr>
              <a:t>OPM requires awareness before access and training on any significant change; SP 800-53 asks for training when system changes require it; A-130 requires role training before access is authorized.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5 CFR 930.301(b), (d); NIST SP 800-53 Rev. 5 (AT-2, AT-3, IR-2, CP-3), release 5.2.0; OMB Circular A-130, Appendix I §4.h. Book 16,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B655A09C-07A1-F4E3-8523-BB175B4D28E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DF6751-ADF0-4AEC-BD14-14C753343A9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750"/>
    </mc:Choice>
    <mc:Fallback>
      <p:transition spd="slow" advTm="53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75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workforce rules require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adds for the workforce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FISMA (2014)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Trained personnel sufficient to comply; CIO trains staff with significant security duties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 CFR 930.301 (2004)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training plan; five audiences; awareness before access; training on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A-130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CHCO and CIO set competency requirements; test users' knowledge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Workforce Assessment Act (2015)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Identify every cyber position and assign it a NICE code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NICE Framework v2.2.0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Shared vocabulary: 5 categories, 42 work roles (April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ot box">
            <a:extLst>
              <a:ext uri="{C183D7F6-B498-43B3-948B-1728B52AA6E4}">
                <adec:decorative xmlns:adec="http://schemas.microsoft.com/office/drawing/2017/decorative" val="1"/>
              </a:ext>
            </a:extLst>
          </p:cNvPr>
          <p:cNvSpPr/>
          <p:nvPr/>
        </p:nvSpPr>
        <p:spPr>
          <a:xfrm>
            <a:off x="7086600" y="1371600"/>
            <a:ext cx="4572000" cy="3310128"/>
          </a:xfrm>
          <a:prstGeom prst="roundRect">
            <a:avLst>
              <a:gd name="adj" fmla="val 221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No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 rules don't require</a:t>
            </a:r>
            <a:endParaRPr lang="en-US" sz="1700" dirty="0"/>
          </a:p>
        </p:txBody>
      </p:sp>
      <p:sp>
        <p:nvSpPr>
          <p:cNvPr id="10" name="Not list"/>
          <p:cNvSpPr txBox="1"/>
          <p:nvPr/>
        </p:nvSpPr>
        <p:spPr>
          <a:xfrm>
            <a:off x="7315200" y="2212848"/>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industry certification for civilian staff</a:t>
            </a:r>
            <a:endParaRPr lang="en-US" sz="1400" dirty="0"/>
          </a:p>
          <a:p>
            <a:pPr marL="342900" indent="-342900">
              <a:spcAft>
                <a:spcPts val="600"/>
              </a:spcAft>
              <a:buSzPct val="100000"/>
              <a:buChar char="•"/>
            </a:pPr>
            <a:r>
              <a:rPr lang="en-US" sz="1350" dirty="0">
                <a:solidFill>
                  <a:schemeClr val="tx2"/>
                </a:solidFill>
              </a:rPr>
              <a:t>No annual number beyond awareness</a:t>
            </a:r>
            <a:endParaRPr lang="en-US" sz="1400" dirty="0"/>
          </a:p>
          <a:p>
            <a:pPr marL="342900" indent="-342900">
              <a:spcAft>
                <a:spcPts val="600"/>
              </a:spcAft>
              <a:buSzPct val="100000"/>
              <a:buChar char="•"/>
            </a:pPr>
            <a:r>
              <a:rPr lang="en-US" sz="1350" dirty="0">
                <a:solidFill>
                  <a:schemeClr val="tx2"/>
                </a:solidFill>
              </a:rPr>
              <a:t>NICE is guidance; coding positions is mandatory</a:t>
            </a:r>
            <a:endParaRPr lang="en-US" sz="1400" dirty="0"/>
          </a:p>
          <a:p>
            <a:pPr marL="342900" indent="-342900">
              <a:spcAft>
                <a:spcPts val="600"/>
              </a:spcAft>
              <a:buSzPct val="100000"/>
              <a:buChar char="•"/>
            </a:pPr>
            <a:r>
              <a:rPr lang="en-US" sz="1350" dirty="0">
                <a:solidFill>
                  <a:schemeClr val="tx2"/>
                </a:solidFill>
              </a:rPr>
              <a:t>DoD 8140 binds DoD and its contractors, not civilian agencies</a:t>
            </a:r>
            <a:endParaRPr lang="en-US" sz="1400" dirty="0"/>
          </a:p>
        </p:txBody>
      </p:sp>
      <p:sp>
        <p:nvSpPr>
          <p:cNvPr id="11" name="Cod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Hashtag">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Cod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codes are a roster input, not settled fact: </a:t>
            </a:r>
            <a:r>
              <a:rPr lang="en-US" sz="1650" dirty="0">
                <a:solidFill>
                  <a:schemeClr val="tx2"/>
                </a:solidFill>
              </a:rPr>
              <a:t>in 2019 GAO found 22 of 24 agencies had given a non-IT code to 15,779 IT management positions, about 19 percent. A code that disagrees with a role assignment is a finding for HR and the CIO's office.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44 U.S.C. § 3554; 5 CFR 930.301; OMB A-130 §5.c; Pub. L. 114-113, Div. N, Title III; OPM coding memos (2017, 2022); NIST SP 800-181 Rev. 1 and NICE Components v2.2.0; GAO-19-144; DoDM 8140.03. Book 16,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6C280A7-590E-8EEF-F4C0-D41C32AF98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6AF98C5-84E5-4584-83E5-04B7D64CC5E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550"/>
    </mc:Choice>
    <mc:Fallback>
      <p:transition spd="slow" advTm="52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5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Education first, then training by role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dea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Idea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50" b="1" dirty="0">
                <a:solidFill>
                  <a:srgbClr val="1F2A44"/>
                </a:solidFill>
              </a:rPr>
              <a:t>Governance runs continuously</a:t>
            </a:r>
            <a:endParaRPr lang="en-US" sz="1400" dirty="0"/>
          </a:p>
        </p:txBody>
      </p:sp>
      <p:sp>
        <p:nvSpPr>
          <p:cNvPr id="7" name="Idea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dea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50" b="1" dirty="0">
                <a:solidFill>
                  <a:srgbClr val="1F2A44"/>
                </a:solidFill>
              </a:rPr>
              <a:t>Identity is the starting point</a:t>
            </a:r>
            <a:endParaRPr lang="en-US" sz="1400" dirty="0"/>
          </a:p>
        </p:txBody>
      </p:sp>
      <p:sp>
        <p:nvSpPr>
          <p:cNvPr id="9" name="Idea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Idea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50" b="1" dirty="0">
                <a:solidFill>
                  <a:srgbClr val="1F2A44"/>
                </a:solidFill>
              </a:rPr>
              <a:t>One map, not many inventories</a:t>
            </a:r>
            <a:endParaRPr lang="en-US" sz="1400" dirty="0"/>
          </a:p>
        </p:txBody>
      </p:sp>
      <p:sp>
        <p:nvSpPr>
          <p:cNvPr id="11" name="Idea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dea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50" b="1" dirty="0">
                <a:solidFill>
                  <a:srgbClr val="1F2A44"/>
                </a:solidFill>
              </a:rPr>
              <a:t>Every record names its source</a:t>
            </a:r>
            <a:endParaRPr lang="en-US" sz="1400" dirty="0"/>
          </a:p>
        </p:txBody>
      </p:sp>
      <p:sp>
        <p:nvSpPr>
          <p:cNvPr id="13" name="Idea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Idea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50" b="1" dirty="0">
                <a:solidFill>
                  <a:srgbClr val="1F2A44"/>
                </a:solidFill>
              </a:rPr>
              <a:t>A lifecycle, not a project</a:t>
            </a:r>
            <a:endParaRPr lang="en-US" sz="1400" dirty="0"/>
          </a:p>
        </p:txBody>
      </p:sp>
      <p:sp>
        <p:nvSpPr>
          <p:cNvPr id="15" name="Idea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dea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350" b="1" dirty="0">
                <a:solidFill>
                  <a:srgbClr val="1F2A44"/>
                </a:solidFill>
              </a:rPr>
              <a:t>Drift is the feedback signal</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Lightbulb">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Education: the mental model</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For everyone, before any tool, in this order</a:t>
            </a:r>
            <a:endParaRPr lang="en-US" sz="1400" dirty="0"/>
          </a:p>
          <a:p>
            <a:pPr marL="342900" indent="-342900">
              <a:spcAft>
                <a:spcPts val="200"/>
              </a:spcAft>
              <a:buSzPct val="100000"/>
              <a:buChar char="•"/>
            </a:pPr>
            <a:r>
              <a:rPr lang="en-US" sz="1300" dirty="0">
                <a:solidFill>
                  <a:schemeClr val="tx2"/>
                </a:solidFill>
              </a:rPr>
              <a:t>A 90-minute facilitated walkthrough</a:t>
            </a:r>
            <a:endParaRPr lang="en-US" sz="1400" dirty="0"/>
          </a:p>
          <a:p>
            <a:pPr marL="342900" indent="-342900">
              <a:spcAft>
                <a:spcPts val="200"/>
              </a:spcAft>
              <a:buSzPct val="100000"/>
              <a:buChar char="•"/>
            </a:pPr>
            <a:r>
              <a:rPr lang="en-US" sz="1300" dirty="0">
                <a:solidFill>
                  <a:schemeClr val="tx2"/>
                </a:solidFill>
              </a:rPr>
              <a:t>A self-serve written path; a 45-minute auditor briefing</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Rout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Training: four tracks by role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Compliance, for people who evidence controls</a:t>
            </a:r>
            <a:endParaRPr lang="en-US" sz="1400" dirty="0"/>
          </a:p>
          <a:p>
            <a:pPr marL="342900" indent="-342900">
              <a:spcAft>
                <a:spcPts val="200"/>
              </a:spcAft>
              <a:buSzPct val="100000"/>
              <a:buChar char="•"/>
            </a:pPr>
            <a:r>
              <a:rPr lang="en-US" sz="1300" dirty="0">
                <a:solidFill>
                  <a:schemeClr val="tx2"/>
                </a:solidFill>
              </a:rPr>
              <a:t>Implementation, for people who build</a:t>
            </a:r>
            <a:endParaRPr lang="en-US" sz="1400" dirty="0"/>
          </a:p>
          <a:p>
            <a:pPr marL="342900" indent="-342900">
              <a:spcAft>
                <a:spcPts val="200"/>
              </a:spcAft>
              <a:buSzPct val="100000"/>
              <a:buChar char="•"/>
            </a:pPr>
            <a:r>
              <a:rPr lang="en-US" sz="1300" dirty="0">
                <a:solidFill>
                  <a:schemeClr val="tx2"/>
                </a:solidFill>
              </a:rPr>
              <a:t>Vendor training and labs; end-user training</a:t>
            </a:r>
            <a:endParaRPr lang="en-US" sz="1400" dirty="0"/>
          </a:p>
        </p:txBody>
      </p:sp>
      <p:sp>
        <p:nvSpPr>
          <p:cNvPr id="27" name="Model">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8" name="Icon FaUser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Model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Why the order matters: </a:t>
            </a:r>
            <a:r>
              <a:rPr lang="en-US" sz="1650" dirty="0">
                <a:solidFill>
                  <a:schemeClr val="tx2"/>
                </a:solidFill>
              </a:rPr>
              <a:t>someone who holds the six ideas understands why the help desk asks for verification, why a role is activated instead of held, and why a screenshot isn't evidence. Someone who doesn't feels every rule as friction.</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16, Chapters 01 (Education before training) and 09 (Orientation: education before training); Book 00, Chapter 04, Principle 13.</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33720C44-BAC0-3CD4-ED4E-3F70705209B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198AD8D-947D-4A5B-BB10-5858920452F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40"/>
    </mc:Choice>
    <mc:Fallback>
      <p:transition spd="slow" advTm="58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44"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compliance track teaches tracing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229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Module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 area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Anchor 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IA-2, IA-5, AC-2, AC-6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Addressing and 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CM-8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SC-7, SC-8, AC-4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Telemetry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CA-7, SI-4, AU-6, RA-5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CM-8, IA-3, SI-2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Configuration, change, supply chain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CM-2, CM-3, SR, 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Continuity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CP-2, CP-3, CP-4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Training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AT-2, AT-3, AT-4, IR-2, CP-3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Zero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FileShiel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Zero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Module 0: four ideas</a:t>
            </a:r>
            <a:endParaRPr lang="en-US" sz="1700" dirty="0"/>
          </a:p>
        </p:txBody>
      </p:sp>
      <p:sp>
        <p:nvSpPr>
          <p:cNvPr id="10" name="Zero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The RMF's seven steps, Prepare to Monitor</a:t>
            </a:r>
            <a:endParaRPr lang="en-US" sz="1400" dirty="0"/>
          </a:p>
          <a:p>
            <a:pPr marL="342900" indent="-342900">
              <a:spcAft>
                <a:spcPts val="600"/>
              </a:spcAft>
              <a:buSzPct val="100000"/>
              <a:buChar char="•"/>
            </a:pPr>
            <a:r>
              <a:rPr lang="en-US" sz="1300" dirty="0">
                <a:solidFill>
                  <a:schemeClr val="tx2"/>
                </a:solidFill>
              </a:rPr>
              <a:t>Who owes which proof; only the AO accepts risk</a:t>
            </a:r>
            <a:endParaRPr lang="en-US" sz="1400" dirty="0"/>
          </a:p>
          <a:p>
            <a:pPr marL="342900" indent="-342900">
              <a:spcAft>
                <a:spcPts val="600"/>
              </a:spcAft>
              <a:buSzPct val="100000"/>
              <a:buChar char="•"/>
            </a:pPr>
            <a:r>
              <a:rPr lang="en-US" sz="1300" dirty="0">
                <a:solidFill>
                  <a:schemeClr val="tx2"/>
                </a:solidFill>
              </a:rPr>
              <a:t>Moderate and FedRAMP Class C: two facts, not one</a:t>
            </a:r>
            <a:endParaRPr lang="en-US" sz="1400" dirty="0"/>
          </a:p>
          <a:p>
            <a:pPr marL="342900" indent="-342900">
              <a:spcAft>
                <a:spcPts val="600"/>
              </a:spcAft>
              <a:buSzPct val="100000"/>
              <a:buChar char="•"/>
            </a:pPr>
            <a:r>
              <a:rPr lang="en-US" sz="1300" dirty="0">
                <a:solidFill>
                  <a:schemeClr val="tx2"/>
                </a:solidFill>
              </a:rPr>
              <a:t>FedRAMP's 46 indicators bind providers</a:t>
            </a:r>
            <a:endParaRPr lang="en-US" sz="1400" dirty="0"/>
          </a:p>
        </p:txBody>
      </p:sp>
      <p:sp>
        <p:nvSpPr>
          <p:cNvPr id="11" name="Tra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Tra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Trace in both directions: </a:t>
            </a:r>
            <a:r>
              <a:rPr lang="en-US" sz="1650" dirty="0">
                <a:solidFill>
                  <a:schemeClr val="tx2"/>
                </a:solidFill>
              </a:rPr>
              <a:t>from a control to the mechanism, the book that built it, the record it emits and its place in the package; from a record back to its control and its date. A policy screenshot doesn't prove a sign-in was phishing-resistant.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RMF and SP 800-37 Rev. 2; FedRAMP 2026 rules (Agency Use; Key Security Indicators) and Notice NTC-0004; SP 800-53A Rev. 5; SP 800-137. Book 16,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0BC672F6-FE73-7E72-70B8-3E18D94EDB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A68240-F03E-478E-B3BF-2552A298A30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850"/>
    </mc:Choice>
    <mc:Fallback>
      <p:transition spd="slow" advTm="56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Implementation: done means the evidence landed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uild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Build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400" b="1" dirty="0">
                <a:solidFill>
                  <a:srgbClr val="1F2A44"/>
                </a:solidFill>
              </a:rPr>
              <a:t>Orientation</a:t>
            </a:r>
            <a:endParaRPr lang="en-US" sz="1400" dirty="0"/>
          </a:p>
          <a:p>
            <a:pPr marL="0" indent="0">
              <a:buNone/>
            </a:pPr>
            <a:r>
              <a:rPr lang="en-US" sz="1200" dirty="0">
                <a:solidFill>
                  <a:schemeClr val="tx2"/>
                </a:solidFill>
              </a:rPr>
              <a:t>Books 00, 01</a:t>
            </a:r>
            <a:endParaRPr lang="en-US" sz="1400" dirty="0"/>
          </a:p>
        </p:txBody>
      </p:sp>
      <p:sp>
        <p:nvSpPr>
          <p:cNvPr id="7" name="Build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Build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DNS and IPAM</a:t>
            </a:r>
            <a:endParaRPr lang="en-US" sz="1400" dirty="0"/>
          </a:p>
          <a:p>
            <a:pPr marL="0" indent="0">
              <a:buNone/>
            </a:pPr>
            <a:r>
              <a:rPr lang="en-US" sz="1200" dirty="0">
                <a:solidFill>
                  <a:schemeClr val="tx2"/>
                </a:solidFill>
              </a:rPr>
              <a:t>Book 08</a:t>
            </a:r>
            <a:endParaRPr lang="en-US" sz="1400" dirty="0"/>
          </a:p>
        </p:txBody>
      </p:sp>
      <p:sp>
        <p:nvSpPr>
          <p:cNvPr id="9" name="Build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Build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Identity</a:t>
            </a:r>
            <a:endParaRPr lang="en-US" sz="1400" dirty="0"/>
          </a:p>
          <a:p>
            <a:pPr marL="0" indent="0">
              <a:buNone/>
            </a:pPr>
            <a:r>
              <a:rPr lang="en-US" sz="1200" dirty="0">
                <a:solidFill>
                  <a:schemeClr val="tx2"/>
                </a:solidFill>
              </a:rPr>
              <a:t>Books 02, 03</a:t>
            </a:r>
            <a:endParaRPr lang="en-US" sz="1400" dirty="0"/>
          </a:p>
        </p:txBody>
      </p:sp>
      <p:sp>
        <p:nvSpPr>
          <p:cNvPr id="11" name="Build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Build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3–4</a:t>
            </a:r>
            <a:endParaRPr lang="en-US" sz="1400" dirty="0"/>
          </a:p>
          <a:p>
            <a:pPr marL="0" indent="0">
              <a:buNone/>
            </a:pPr>
            <a:r>
              <a:rPr lang="en-US" sz="1400" b="1" dirty="0">
                <a:solidFill>
                  <a:srgbClr val="1F2A44"/>
                </a:solidFill>
              </a:rPr>
              <a:t>Certificates, access</a:t>
            </a:r>
            <a:endParaRPr lang="en-US" sz="1400" dirty="0"/>
          </a:p>
          <a:p>
            <a:pPr marL="0" indent="0">
              <a:buNone/>
            </a:pPr>
            <a:r>
              <a:rPr lang="en-US" sz="1200" dirty="0">
                <a:solidFill>
                  <a:schemeClr val="tx2"/>
                </a:solidFill>
              </a:rPr>
              <a:t>Books 07, 04</a:t>
            </a:r>
            <a:endParaRPr lang="en-US" sz="1400" dirty="0"/>
          </a:p>
        </p:txBody>
      </p:sp>
      <p:sp>
        <p:nvSpPr>
          <p:cNvPr id="13" name="Build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Build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6–7</a:t>
            </a:r>
            <a:endParaRPr lang="en-US" sz="1400" dirty="0"/>
          </a:p>
          <a:p>
            <a:pPr marL="0" indent="0">
              <a:buNone/>
            </a:pPr>
            <a:r>
              <a:rPr lang="en-US" sz="1400" b="1" dirty="0">
                <a:solidFill>
                  <a:srgbClr val="1F2A44"/>
                </a:solidFill>
              </a:rPr>
              <a:t>Network, then data</a:t>
            </a:r>
            <a:endParaRPr lang="en-US" sz="1400" dirty="0"/>
          </a:p>
          <a:p>
            <a:pPr marL="0" indent="0">
              <a:buNone/>
            </a:pPr>
            <a:r>
              <a:rPr lang="en-US" sz="1200" dirty="0">
                <a:solidFill>
                  <a:schemeClr val="tx2"/>
                </a:solidFill>
              </a:rPr>
              <a:t>Books 09, 06</a:t>
            </a:r>
            <a:endParaRPr lang="en-US" sz="1400" dirty="0"/>
          </a:p>
        </p:txBody>
      </p:sp>
      <p:sp>
        <p:nvSpPr>
          <p:cNvPr id="15" name="Build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Build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10</a:t>
            </a:r>
            <a:endParaRPr lang="en-US" sz="1400" dirty="0"/>
          </a:p>
          <a:p>
            <a:pPr marL="0" indent="0">
              <a:buNone/>
            </a:pPr>
            <a:r>
              <a:rPr lang="en-US" sz="1400" b="1" dirty="0">
                <a:solidFill>
                  <a:srgbClr val="1F2A44"/>
                </a:solidFill>
              </a:rPr>
              <a:t>Day two</a:t>
            </a:r>
            <a:endParaRPr lang="en-US" sz="1400" dirty="0"/>
          </a:p>
          <a:p>
            <a:pPr marL="0" indent="0">
              <a:buNone/>
            </a:pPr>
            <a:r>
              <a:rPr lang="en-US" sz="1200" dirty="0">
                <a:solidFill>
                  <a:schemeClr val="tx2"/>
                </a:solidFill>
              </a:rPr>
              <a:t>Book 15, last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ListChe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Three habits every lab teaches</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Observe first: report-only, monitor and shadow modes</a:t>
            </a:r>
            <a:endParaRPr lang="en-US" sz="1400" dirty="0"/>
          </a:p>
          <a:p>
            <a:pPr marL="342900" indent="-342900">
              <a:spcAft>
                <a:spcPts val="200"/>
              </a:spcAft>
              <a:buSzPct val="100000"/>
              <a:buChar char="•"/>
            </a:pPr>
            <a:r>
              <a:rPr lang="en-US" sz="1300" dirty="0">
                <a:solidFill>
                  <a:schemeClr val="tx2"/>
                </a:solidFill>
              </a:rPr>
              <a:t>Keep a way back in: emergency access accounts first</a:t>
            </a:r>
            <a:endParaRPr lang="en-US" sz="1400" dirty="0"/>
          </a:p>
          <a:p>
            <a:pPr marL="342900" indent="-342900">
              <a:spcAft>
                <a:spcPts val="200"/>
              </a:spcAft>
              <a:buSzPct val="100000"/>
              <a:buChar char="•"/>
            </a:pPr>
            <a:r>
              <a:rPr lang="en-US" sz="1300" dirty="0">
                <a:solidFill>
                  <a:schemeClr val="tx2"/>
                </a:solidFill>
              </a:rPr>
              <a:t>Export the record, not a screenshot</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Boo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Certifications: examples, not proof</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AZ-500 retired Aug. 31, 2026; SC-500 replaced it</a:t>
            </a:r>
            <a:endParaRPr lang="en-US" sz="1400" dirty="0"/>
          </a:p>
          <a:p>
            <a:pPr marL="342900" indent="-342900">
              <a:spcAft>
                <a:spcPts val="200"/>
              </a:spcAft>
              <a:buSzPct val="100000"/>
              <a:buChar char="•"/>
            </a:pPr>
            <a:r>
              <a:rPr lang="en-US" sz="1300" dirty="0">
                <a:solidFill>
                  <a:schemeClr val="tx2"/>
                </a:solidFill>
              </a:rPr>
              <a:t>AZ-800 and AZ-801 retired Sept. 30; AZ-802 is current</a:t>
            </a:r>
            <a:endParaRPr lang="en-US" sz="1400" dirty="0"/>
          </a:p>
          <a:p>
            <a:pPr marL="342900" indent="-342900">
              <a:spcAft>
                <a:spcPts val="200"/>
              </a:spcAft>
              <a:buSzPct val="100000"/>
              <a:buChar char="•"/>
            </a:pPr>
            <a:r>
              <a:rPr lang="en-US" sz="1300" dirty="0">
                <a:solidFill>
                  <a:schemeClr val="tx2"/>
                </a:solidFill>
              </a:rPr>
              <a:t>Microsoft certifications expire every year</a:t>
            </a:r>
            <a:endParaRPr lang="en-US" sz="1400" dirty="0"/>
          </a:p>
        </p:txBody>
      </p:sp>
      <p:sp>
        <p:nvSpPr>
          <p:cNvPr id="27" name="Don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8"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Don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A module is done when it works and its evidence has landed: </a:t>
            </a:r>
            <a:r>
              <a:rPr lang="en-US" sz="1650" dirty="0">
                <a:solidFill>
                  <a:schemeClr val="tx2"/>
                </a:solidFill>
              </a:rPr>
              <a:t>a re-run of the check reads the learner's own record. Devices, the cloud platform and security operations (modules 5, 8, 9) run in parallel once identity exists.</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(Plan a Conditional Access deployment; emergency access accounts; exam and course retirement, Oct. 22, 2026; certification renewal). Book 16, Chapter 04.</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9D8897A5-9267-3DAB-F3FF-A2EC117AEF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1ABE97-4E64-4130-9B7A-B510F86936DC}"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350"/>
    </mc:Choice>
    <mc:Fallback>
      <p:transition spd="slow" advTm="57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352"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Certify what people can show</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cal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FOUR-LEVEL SCALE FOR EVERY CAPSTONE</a:t>
            </a:r>
            <a:endParaRPr lang="en-US" sz="1200" dirty="0"/>
          </a:p>
        </p:txBody>
      </p:sp>
      <p:sp>
        <p:nvSpPr>
          <p:cNvPr id="6" name="Scale 0">
            <a:extLst>
              <a:ext uri="{C183D7F6-B498-43B3-948B-1728B52AA6E4}">
                <adec:decorative xmlns:adec="http://schemas.microsoft.com/office/drawing/2017/decorative" val="1"/>
              </a:ext>
            </a:extLst>
          </p:cNvPr>
          <p:cNvSpPr/>
          <p:nvPr/>
        </p:nvSpPr>
        <p:spPr>
          <a:xfrm>
            <a:off x="548640" y="178308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cale 0 text"/>
          <p:cNvSpPr txBox="1"/>
          <p:nvPr/>
        </p:nvSpPr>
        <p:spPr>
          <a:xfrm>
            <a:off x="731520" y="17830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0  Missing   </a:t>
            </a:r>
            <a:r>
              <a:rPr lang="en-US" sz="1400" dirty="0">
                <a:solidFill>
                  <a:schemeClr val="tx2"/>
                </a:solidFill>
              </a:rPr>
              <a:t>Not addressed, or no tie to the books</a:t>
            </a:r>
            <a:endParaRPr lang="en-US" sz="1400" dirty="0"/>
          </a:p>
        </p:txBody>
      </p:sp>
      <p:sp>
        <p:nvSpPr>
          <p:cNvPr id="8" name="Scale 1">
            <a:extLst>
              <a:ext uri="{C183D7F6-B498-43B3-948B-1728B52AA6E4}">
                <adec:decorative xmlns:adec="http://schemas.microsoft.com/office/drawing/2017/decorative" val="1"/>
              </a:ext>
            </a:extLst>
          </p:cNvPr>
          <p:cNvSpPr/>
          <p:nvPr/>
        </p:nvSpPr>
        <p:spPr>
          <a:xfrm>
            <a:off x="548640" y="251460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cale 1 text"/>
          <p:cNvSpPr txBox="1"/>
          <p:nvPr/>
        </p:nvSpPr>
        <p:spPr>
          <a:xfrm>
            <a:off x="731520" y="251460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1  Named   </a:t>
            </a:r>
            <a:r>
              <a:rPr lang="en-US" sz="1400" dirty="0">
                <a:solidFill>
                  <a:schemeClr val="tx2"/>
                </a:solidFill>
              </a:rPr>
              <a:t>Right books; controls or evidence wrong</a:t>
            </a:r>
            <a:endParaRPr lang="en-US" sz="1400" dirty="0"/>
          </a:p>
        </p:txBody>
      </p:sp>
      <p:sp>
        <p:nvSpPr>
          <p:cNvPr id="10" name="Scale 2">
            <a:extLst>
              <a:ext uri="{C183D7F6-B498-43B3-948B-1728B52AA6E4}">
                <adec:decorative xmlns:adec="http://schemas.microsoft.com/office/drawing/2017/decorative" val="1"/>
              </a:ext>
            </a:extLst>
          </p:cNvPr>
          <p:cNvSpPr/>
          <p:nvPr/>
        </p:nvSpPr>
        <p:spPr>
          <a:xfrm>
            <a:off x="548640" y="324612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cale 2 text"/>
          <p:cNvSpPr txBox="1"/>
          <p:nvPr/>
        </p:nvSpPr>
        <p:spPr>
          <a:xfrm>
            <a:off x="731520" y="324612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2  Traced   </a:t>
            </a:r>
            <a:r>
              <a:rPr lang="en-US" sz="1400" dirty="0">
                <a:solidFill>
                  <a:schemeClr val="tx2"/>
                </a:solidFill>
              </a:rPr>
              <a:t>Book to control to evidence source, correct</a:t>
            </a:r>
            <a:endParaRPr lang="en-US" sz="1400" dirty="0"/>
          </a:p>
        </p:txBody>
      </p:sp>
      <p:sp>
        <p:nvSpPr>
          <p:cNvPr id="12" name="Scale 3">
            <a:extLst>
              <a:ext uri="{C183D7F6-B498-43B3-948B-1728B52AA6E4}">
                <adec:decorative xmlns:adec="http://schemas.microsoft.com/office/drawing/2017/decorative" val="1"/>
              </a:ext>
            </a:extLst>
          </p:cNvPr>
          <p:cNvSpPr/>
          <p:nvPr/>
        </p:nvSpPr>
        <p:spPr>
          <a:xfrm>
            <a:off x="548640" y="397764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cale 3 text"/>
          <p:cNvSpPr txBox="1"/>
          <p:nvPr/>
        </p:nvSpPr>
        <p:spPr>
          <a:xfrm>
            <a:off x="731520" y="397764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3  Assessor-ready   </a:t>
            </a:r>
            <a:r>
              <a:rPr lang="en-US" sz="1400" dirty="0">
                <a:solidFill>
                  <a:schemeClr val="tx2"/>
                </a:solidFill>
              </a:rPr>
              <a:t>A real, dated result; gaps stated honestly</a:t>
            </a:r>
            <a:endParaRPr lang="en-US" sz="1400" dirty="0"/>
          </a:p>
        </p:txBody>
      </p:sp>
      <p:sp>
        <p:nvSpPr>
          <p:cNvPr id="14" name="Cred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IdCar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Cred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TWO PROGRAM CREDENTIALS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Earned with artifacts</a:t>
            </a:r>
            <a:endParaRPr lang="en-US" sz="1400" dirty="0"/>
          </a:p>
        </p:txBody>
      </p:sp>
      <p:sp>
        <p:nvSpPr>
          <p:cNvPr id="18" name="Cred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Practitioner: implementation capstone and the exam for its area</a:t>
            </a:r>
            <a:endParaRPr lang="en-US" sz="1400" dirty="0"/>
          </a:p>
          <a:p>
            <a:pPr marL="342900" indent="-342900">
              <a:spcAft>
                <a:spcPts val="600"/>
              </a:spcAft>
              <a:buSzPct val="100000"/>
              <a:buChar char="•"/>
            </a:pPr>
            <a:r>
              <a:rPr lang="en-US" sz="1400" dirty="0">
                <a:solidFill>
                  <a:schemeClr val="tx2"/>
                </a:solidFill>
              </a:rPr>
              <a:t>Assessor: the full exam and the compliance capstone, or scores within one level of a second assessor</a:t>
            </a:r>
            <a:endParaRPr lang="en-US" sz="1400" dirty="0"/>
          </a:p>
          <a:p>
            <a:pPr marL="342900" indent="-342900">
              <a:spcAft>
                <a:spcPts val="600"/>
              </a:spcAft>
              <a:buSzPct val="100000"/>
              <a:buChar char="•"/>
            </a:pPr>
            <a:r>
              <a:rPr lang="en-US" sz="1400" dirty="0">
                <a:solidFill>
                  <a:schemeClr val="tx2"/>
                </a:solidFill>
              </a:rPr>
              <a:t>Both expire after 12 months, or when the procedure changes</a:t>
            </a:r>
            <a:endParaRPr lang="en-US" sz="1400" dirty="0"/>
          </a:p>
        </p:txBody>
      </p:sp>
      <p:sp>
        <p:nvSpPr>
          <p:cNvPr id="19" name="Bar">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0" name="Icon FaClipboard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Bar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Pass bar: every area at 2, three at 3, and all four checks. </a:t>
            </a:r>
            <a:r>
              <a:rPr lang="en-US" sz="1650" dirty="0">
                <a:solidFill>
                  <a:schemeClr val="tx2"/>
                </a:solidFill>
              </a:rPr>
              <a:t>A no-findings after-action report scores 0, and so does a percentage with no per-person records. An industry certification can waive a module, never a capstone.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A-130, Appendix I §4.h; NIST SP 800-50 Rev. 1 (Kirkpatrick Level 2); SP 800-53 Rev. 5 release 5.2.0 and SP 800-53B; Microsoft Learn renewal FAQ. Book 16,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633ECFBC-B526-C56D-E712-04DC3579649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469573-2745-4BE7-97C2-F1B20321D49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710"/>
    </mc:Choice>
    <mc:Fallback>
      <p:transition spd="slow" advTm="57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712"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Vendor training, and labs that can't hurt production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ter">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CHOOSING VENDOR TRAINING</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Four tests, free or paid</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It maps to a book procedure</a:t>
            </a:r>
            <a:endParaRPr lang="en-US" sz="1400" dirty="0"/>
          </a:p>
          <a:p>
            <a:pPr marL="342900" indent="-342900">
              <a:spcAft>
                <a:spcPts val="600"/>
              </a:spcAft>
              <a:buSzPct val="100000"/>
              <a:buChar char="•"/>
            </a:pPr>
            <a:r>
              <a:rPr lang="en-US" sz="1400" dirty="0">
                <a:solidFill>
                  <a:schemeClr val="tx2"/>
                </a:solidFill>
              </a:rPr>
              <a:t>It is current; vendors retire courses often</a:t>
            </a:r>
            <a:endParaRPr lang="en-US" sz="1400" dirty="0"/>
          </a:p>
          <a:p>
            <a:pPr marL="342900" indent="-342900">
              <a:spcAft>
                <a:spcPts val="600"/>
              </a:spcAft>
              <a:buSzPct val="100000"/>
              <a:buChar char="•"/>
            </a:pPr>
            <a:r>
              <a:rPr lang="en-US" sz="1400" dirty="0">
                <a:solidFill>
                  <a:schemeClr val="tx2"/>
                </a:solidFill>
              </a:rPr>
              <a:t>The agency can keep the completion record</a:t>
            </a:r>
            <a:endParaRPr lang="en-US" sz="1400" dirty="0"/>
          </a:p>
          <a:p>
            <a:pPr marL="342900" indent="-342900">
              <a:spcAft>
                <a:spcPts val="600"/>
              </a:spcAft>
              <a:buSzPct val="100000"/>
              <a:buChar char="•"/>
            </a:pPr>
            <a:r>
              <a:rPr lang="en-US" sz="1400" dirty="0">
                <a:solidFill>
                  <a:schemeClr val="tx2"/>
                </a:solidFill>
              </a:rPr>
              <a:t>Its handling of learner data is known</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Laptop">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WHERE LABS RUN</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Arranged by the program office</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Microsoft Learn's free sandboxes are gone</a:t>
            </a:r>
            <a:endParaRPr lang="en-US" sz="1400" dirty="0"/>
          </a:p>
          <a:p>
            <a:pPr marL="342900" indent="-342900">
              <a:spcAft>
                <a:spcPts val="600"/>
              </a:spcAft>
              <a:buSzPct val="100000"/>
              <a:buChar char="•"/>
            </a:pPr>
            <a:r>
              <a:rPr lang="en-US" sz="1400" dirty="0">
                <a:solidFill>
                  <a:schemeClr val="tx2"/>
                </a:solidFill>
              </a:rPr>
              <a:t>Developer sandbox: eligibility limits; no government cloud</a:t>
            </a:r>
            <a:endParaRPr lang="en-US" sz="1400" dirty="0"/>
          </a:p>
          <a:p>
            <a:pPr marL="342900" indent="-342900">
              <a:spcAft>
                <a:spcPts val="600"/>
              </a:spcAft>
              <a:buSzPct val="100000"/>
              <a:buChar char="•"/>
            </a:pPr>
            <a:r>
              <a:rPr lang="en-US" sz="1400" dirty="0">
                <a:solidFill>
                  <a:schemeClr val="tx2"/>
                </a:solidFill>
              </a:rPr>
              <a:t>No free sandbox in GCC High or DoD</a:t>
            </a:r>
            <a:endParaRPr lang="en-US" sz="1400" dirty="0"/>
          </a:p>
          <a:p>
            <a:pPr marL="342900" indent="-342900">
              <a:spcAft>
                <a:spcPts val="600"/>
              </a:spcAft>
              <a:buSzPct val="100000"/>
              <a:buChar char="•"/>
            </a:pPr>
            <a:r>
              <a:rPr lang="en-US" sz="1400" dirty="0">
                <a:solidFill>
                  <a:schemeClr val="tx2"/>
                </a:solidFill>
              </a:rPr>
              <a:t>Rehearse once in a non-production government tenant</a:t>
            </a:r>
            <a:endParaRPr lang="en-US" sz="1400" dirty="0"/>
          </a:p>
        </p:txBody>
      </p:sp>
      <p:sp>
        <p:nvSpPr>
          <p:cNvPr id="15" name="Rul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Rul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Rules for every lab: </a:t>
            </a:r>
            <a:r>
              <a:rPr lang="en-US" sz="1650" dirty="0">
                <a:solidFill>
                  <a:schemeClr val="tx2"/>
                </a:solidFill>
              </a:rPr>
              <a:t>never production; emergency access first; observe before enforcing; no sync or federation with production; synthetic data only; tear it down. A lab holding production data has become a production system.</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800-50 Rev. 1; SP 800-53 Rev. 5 (CM-4(1), SA-3(2)); Microsoft Learn (M365 Developer Program; Learn FAQ; government trials; SC-401 registration). Book 16,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B0778868-FD91-0E9F-DF9D-445362F6F5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7A8F04-98E4-4F30-A471-5AF67A19EA41}"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600"/>
    </mc:Choice>
    <mc:Fallback>
      <p:transition spd="slow" advTm="52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6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user signs in differently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Mod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END-USER MODULES, EACH ENDING IN SOMETHING THE USER DOES</a:t>
            </a:r>
            <a:endParaRPr lang="en-US" sz="1200" dirty="0"/>
          </a:p>
        </p:txBody>
      </p:sp>
      <p:sp>
        <p:nvSpPr>
          <p:cNvPr id="6" name="Mod 0">
            <a:extLst>
              <a:ext uri="{C183D7F6-B498-43B3-948B-1728B52AA6E4}">
                <adec:decorative xmlns:adec="http://schemas.microsoft.com/office/drawing/2017/decorative" val="1"/>
              </a:ext>
            </a:extLst>
          </p:cNvPr>
          <p:cNvSpPr/>
          <p:nvPr/>
        </p:nvSpPr>
        <p:spPr>
          <a:xfrm>
            <a:off x="548640" y="1755648"/>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Mod 0 text"/>
          <p:cNvSpPr txBox="1"/>
          <p:nvPr/>
        </p:nvSpPr>
        <p:spPr>
          <a:xfrm>
            <a:off x="731520" y="175564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Sign-in   </a:t>
            </a:r>
            <a:r>
              <a:rPr lang="en-US" sz="1350" dirty="0">
                <a:solidFill>
                  <a:schemeClr val="tx2"/>
                </a:solidFill>
              </a:rPr>
              <a:t>PIV, Windows Hello or a passkey; two methods</a:t>
            </a:r>
            <a:endParaRPr lang="en-US" sz="1350" dirty="0"/>
          </a:p>
        </p:txBody>
      </p:sp>
      <p:sp>
        <p:nvSpPr>
          <p:cNvPr id="8" name="Mod 1">
            <a:extLst>
              <a:ext uri="{C183D7F6-B498-43B3-948B-1728B52AA6E4}">
                <adec:decorative xmlns:adec="http://schemas.microsoft.com/office/drawing/2017/decorative" val="1"/>
              </a:ext>
            </a:extLst>
          </p:cNvPr>
          <p:cNvSpPr/>
          <p:nvPr/>
        </p:nvSpPr>
        <p:spPr>
          <a:xfrm>
            <a:off x="548640" y="2267712"/>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Mod 1 text"/>
          <p:cNvSpPr txBox="1"/>
          <p:nvPr/>
        </p:nvSpPr>
        <p:spPr>
          <a:xfrm>
            <a:off x="731520" y="2267712"/>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Recovery   </a:t>
            </a:r>
            <a:r>
              <a:rPr lang="en-US" sz="1350" dirty="0">
                <a:solidFill>
                  <a:schemeClr val="tx2"/>
                </a:solidFill>
              </a:rPr>
              <a:t>Self-service reset; what happens if all is lost</a:t>
            </a:r>
            <a:endParaRPr lang="en-US" sz="1350" dirty="0"/>
          </a:p>
        </p:txBody>
      </p:sp>
      <p:sp>
        <p:nvSpPr>
          <p:cNvPr id="10" name="Mod 2">
            <a:extLst>
              <a:ext uri="{C183D7F6-B498-43B3-948B-1728B52AA6E4}">
                <adec:decorative xmlns:adec="http://schemas.microsoft.com/office/drawing/2017/decorative" val="1"/>
              </a:ext>
            </a:extLst>
          </p:cNvPr>
          <p:cNvSpPr/>
          <p:nvPr/>
        </p:nvSpPr>
        <p:spPr>
          <a:xfrm>
            <a:off x="548640" y="2779776"/>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Mod 2 text"/>
          <p:cNvSpPr txBox="1"/>
          <p:nvPr/>
        </p:nvSpPr>
        <p:spPr>
          <a:xfrm>
            <a:off x="731520" y="2779776"/>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Devices   </a:t>
            </a:r>
            <a:r>
              <a:rPr lang="en-US" sz="1350" dirty="0">
                <a:solidFill>
                  <a:schemeClr val="tx2"/>
                </a:solidFill>
              </a:rPr>
              <a:t>Read and fix compliance; what the agency sees</a:t>
            </a:r>
            <a:endParaRPr lang="en-US" sz="1350" dirty="0"/>
          </a:p>
        </p:txBody>
      </p:sp>
      <p:sp>
        <p:nvSpPr>
          <p:cNvPr id="12" name="Mod 3">
            <a:extLst>
              <a:ext uri="{C183D7F6-B498-43B3-948B-1728B52AA6E4}">
                <adec:decorative xmlns:adec="http://schemas.microsoft.com/office/drawing/2017/decorative" val="1"/>
              </a:ext>
            </a:extLst>
          </p:cNvPr>
          <p:cNvSpPr/>
          <p:nvPr/>
        </p:nvSpPr>
        <p:spPr>
          <a:xfrm>
            <a:off x="548640" y="3291840"/>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Mod 3 text"/>
          <p:cNvSpPr txBox="1"/>
          <p:nvPr/>
        </p:nvSpPr>
        <p:spPr>
          <a:xfrm>
            <a:off x="731520" y="3291840"/>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Files   </a:t>
            </a:r>
            <a:r>
              <a:rPr lang="en-US" sz="1350" dirty="0">
                <a:solidFill>
                  <a:schemeClr val="tx2"/>
                </a:solidFill>
              </a:rPr>
              <a:t>OneDrive, SharePoint, Teams; leave old drives</a:t>
            </a:r>
            <a:endParaRPr lang="en-US" sz="1350" dirty="0"/>
          </a:p>
        </p:txBody>
      </p:sp>
      <p:sp>
        <p:nvSpPr>
          <p:cNvPr id="14" name="Mod 4">
            <a:extLst>
              <a:ext uri="{C183D7F6-B498-43B3-948B-1728B52AA6E4}">
                <adec:decorative xmlns:adec="http://schemas.microsoft.com/office/drawing/2017/decorative" val="1"/>
              </a:ext>
            </a:extLst>
          </p:cNvPr>
          <p:cNvSpPr/>
          <p:nvPr/>
        </p:nvSpPr>
        <p:spPr>
          <a:xfrm>
            <a:off x="548640" y="3803904"/>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Mod 4 text"/>
          <p:cNvSpPr txBox="1"/>
          <p:nvPr/>
        </p:nvSpPr>
        <p:spPr>
          <a:xfrm>
            <a:off x="731520" y="3803904"/>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Reporting   </a:t>
            </a:r>
            <a:r>
              <a:rPr lang="en-US" sz="1350" dirty="0">
                <a:solidFill>
                  <a:schemeClr val="tx2"/>
                </a:solidFill>
              </a:rPr>
              <a:t>The Report button; deny prompts you didn't start</a:t>
            </a:r>
            <a:endParaRPr lang="en-US" sz="1350" dirty="0"/>
          </a:p>
        </p:txBody>
      </p:sp>
      <p:sp>
        <p:nvSpPr>
          <p:cNvPr id="16" name="Mod 5">
            <a:extLst>
              <a:ext uri="{C183D7F6-B498-43B3-948B-1728B52AA6E4}">
                <adec:decorative xmlns:adec="http://schemas.microsoft.com/office/drawing/2017/decorative" val="1"/>
              </a:ext>
            </a:extLst>
          </p:cNvPr>
          <p:cNvSpPr/>
          <p:nvPr/>
        </p:nvSpPr>
        <p:spPr>
          <a:xfrm>
            <a:off x="548640" y="4315968"/>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Mod 5 text"/>
          <p:cNvSpPr txBox="1"/>
          <p:nvPr/>
        </p:nvSpPr>
        <p:spPr>
          <a:xfrm>
            <a:off x="731520" y="431596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Help desk   </a:t>
            </a:r>
            <a:r>
              <a:rPr lang="en-US" sz="1350" dirty="0">
                <a:solidFill>
                  <a:schemeClr val="tx2"/>
                </a:solidFill>
              </a:rPr>
              <a:t>What it will and won't ask</a:t>
            </a:r>
            <a:endParaRPr lang="en-US" sz="1350" dirty="0"/>
          </a:p>
        </p:txBody>
      </p:sp>
      <p:sp>
        <p:nvSpPr>
          <p:cNvPr id="18" name="Desk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UserShiel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Desk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REAL HELP DESK WILL NEVER</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Refuse anything outside the rules</a:t>
            </a:r>
            <a:endParaRPr lang="en-US" sz="1400" dirty="0"/>
          </a:p>
        </p:txBody>
      </p:sp>
      <p:sp>
        <p:nvSpPr>
          <p:cNvPr id="22" name="Desk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Ask for your password, PIN or a code</a:t>
            </a:r>
            <a:endParaRPr lang="en-US" sz="1400" dirty="0"/>
          </a:p>
          <a:p>
            <a:pPr marL="342900" indent="-342900">
              <a:spcAft>
                <a:spcPts val="600"/>
              </a:spcAft>
              <a:buSzPct val="100000"/>
              <a:buChar char="•"/>
            </a:pPr>
            <a:r>
              <a:rPr lang="en-US" sz="1400" dirty="0">
                <a:solidFill>
                  <a:schemeClr val="tx2"/>
                </a:solidFill>
              </a:rPr>
              <a:t>Ask you to approve a prompt for them</a:t>
            </a:r>
            <a:endParaRPr lang="en-US" sz="1400" dirty="0"/>
          </a:p>
          <a:p>
            <a:pPr marL="342900" indent="-342900">
              <a:spcAft>
                <a:spcPts val="600"/>
              </a:spcAft>
              <a:buSzPct val="100000"/>
              <a:buChar char="•"/>
            </a:pPr>
            <a:r>
              <a:rPr lang="en-US" sz="1400" dirty="0">
                <a:solidFill>
                  <a:schemeClr val="tx2"/>
                </a:solidFill>
              </a:rPr>
              <a:t>Send a pass or link to an address you give on the call</a:t>
            </a:r>
            <a:endParaRPr lang="en-US" sz="1400" dirty="0"/>
          </a:p>
          <a:p>
            <a:pPr marL="342900" indent="-342900">
              <a:spcAft>
                <a:spcPts val="600"/>
              </a:spcAft>
              <a:buSzPct val="100000"/>
              <a:buChar char="•"/>
            </a:pPr>
            <a:r>
              <a:rPr lang="en-US" sz="1400" dirty="0">
                <a:solidFill>
                  <a:schemeClr val="tx2"/>
                </a:solidFill>
              </a:rPr>
              <a:t>Accept caller ID or a manager's say-so</a:t>
            </a:r>
            <a:endParaRPr lang="en-US" sz="1400" dirty="0"/>
          </a:p>
        </p:txBody>
      </p:sp>
      <p:sp>
        <p:nvSpPr>
          <p:cNvPr id="23" name="Policy">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Fingerprint">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Policy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Federal policy sets the target: </a:t>
            </a:r>
            <a:r>
              <a:rPr lang="en-US" sz="1650" dirty="0">
                <a:solidFill>
                  <a:schemeClr val="tx2"/>
                </a:solidFill>
              </a:rPr>
              <a:t>M-22-09 and SP 800-63B-4 require phishing-resistant sign-in; passwords, codes and push approvals don't qualify. Teach length, not character classes, and build every module to Section 508.</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800-63B-4 (July 2025); CISA AA23-320A (rev. July 29, 2025); Microsoft Learn (Entra, Intune, Outlook reporting); Revised 508 Standards; OMB M-24-08. Book 16, Chapter 07.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85F22D0-F080-405F-F2C0-AF3CB84094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6BAC57-F087-4223-A574-26FECC87B39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830"/>
    </mc:Choice>
    <mc:Fallback>
      <p:transition spd="slow" advTm="54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83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the reporter doesn't decide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Policy, people, money</a:t>
            </a:r>
            <a:endParaRPr lang="en-US" sz="17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Sponsor and CIO</a:t>
            </a:r>
            <a:endParaRPr lang="en-US" sz="1300" dirty="0"/>
          </a:p>
          <a:p>
            <a:pPr marL="0" indent="0">
              <a:spcAft>
                <a:spcPts val="400"/>
              </a:spcAft>
              <a:buNone/>
            </a:pPr>
            <a:r>
              <a:rPr lang="en-US" sz="1300" dirty="0">
                <a:solidFill>
                  <a:schemeClr val="tx2"/>
                </a:solidFill>
              </a:rPr>
              <a:t>Fund it; decide each wave's plan</a:t>
            </a:r>
            <a:endParaRPr lang="en-US" sz="1300" dirty="0"/>
          </a:p>
          <a:p>
            <a:pPr marL="0" indent="0">
              <a:spcAft>
                <a:spcPts val="400"/>
              </a:spcAft>
              <a:buNone/>
            </a:pPr>
            <a:r>
              <a:rPr lang="en-US" sz="1300" b="1" dirty="0">
                <a:solidFill>
                  <a:srgbClr val="B45309"/>
                </a:solidFill>
              </a:rPr>
              <a:t>CISO</a:t>
            </a:r>
            <a:endParaRPr lang="en-US" sz="1300" dirty="0"/>
          </a:p>
          <a:p>
            <a:pPr marL="0" indent="0">
              <a:spcAft>
                <a:spcPts val="400"/>
              </a:spcAft>
              <a:buNone/>
            </a:pPr>
            <a:r>
              <a:rPr lang="en-US" sz="1300" dirty="0">
                <a:solidFill>
                  <a:schemeClr val="tx2"/>
                </a:solidFill>
              </a:rPr>
              <a:t>Policy, threshold, what users are taught</a:t>
            </a:r>
            <a:endParaRPr lang="en-US" sz="1300" dirty="0"/>
          </a:p>
          <a:p>
            <a:pPr marL="0" indent="0">
              <a:spcAft>
                <a:spcPts val="400"/>
              </a:spcAft>
              <a:buNone/>
            </a:pPr>
            <a:r>
              <a:rPr lang="en-US" sz="1300" b="1" dirty="0">
                <a:solidFill>
                  <a:srgbClr val="B45309"/>
                </a:solidFill>
              </a:rPr>
              <a:t>CHCO and workforce office</a:t>
            </a:r>
            <a:endParaRPr lang="en-US" sz="1300" dirty="0"/>
          </a:p>
          <a:p>
            <a:pPr marL="0" indent="0">
              <a:spcAft>
                <a:spcPts val="400"/>
              </a:spcAft>
              <a:buNone/>
            </a:pPr>
            <a:r>
              <a:rPr lang="en-US" sz="1300" dirty="0">
                <a:solidFill>
                  <a:schemeClr val="tx2"/>
                </a:solidFill>
              </a:rPr>
              <a:t>Strategy, coding, rosters, labor</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Build, evidence, gate</a:t>
            </a:r>
            <a:endParaRPr lang="en-US" sz="17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Training lead</a:t>
            </a:r>
            <a:endParaRPr lang="en-US" sz="1300" dirty="0"/>
          </a:p>
          <a:p>
            <a:pPr marL="0" indent="0">
              <a:spcAft>
                <a:spcPts val="400"/>
              </a:spcAft>
              <a:buNone/>
            </a:pPr>
            <a:r>
              <a:rPr lang="en-US" sz="1300" dirty="0">
                <a:solidFill>
                  <a:schemeClr val="tx2"/>
                </a:solidFill>
              </a:rPr>
              <a:t>Curriculum and reports; never decides</a:t>
            </a:r>
            <a:endParaRPr lang="en-US" sz="1300" dirty="0"/>
          </a:p>
          <a:p>
            <a:pPr marL="0" indent="0">
              <a:spcAft>
                <a:spcPts val="400"/>
              </a:spcAft>
              <a:buNone/>
            </a:pPr>
            <a:r>
              <a:rPr lang="en-US" sz="1300" b="1" dirty="0">
                <a:solidFill>
                  <a:srgbClr val="1F2A44"/>
                </a:solidFill>
              </a:rPr>
              <a:t>ISSO and system owner</a:t>
            </a:r>
            <a:endParaRPr lang="en-US" sz="1300" dirty="0"/>
          </a:p>
          <a:p>
            <a:pPr marL="0" indent="0">
              <a:spcAft>
                <a:spcPts val="400"/>
              </a:spcAft>
              <a:buNone/>
            </a:pPr>
            <a:r>
              <a:rPr lang="en-US" sz="1300" dirty="0">
                <a:solidFill>
                  <a:schemeClr val="tx2"/>
                </a:solidFill>
              </a:rPr>
              <a:t>Review the record; judge overdue</a:t>
            </a:r>
            <a:endParaRPr lang="en-US" sz="1300" dirty="0"/>
          </a:p>
          <a:p>
            <a:pPr marL="0" indent="0">
              <a:spcAft>
                <a:spcPts val="400"/>
              </a:spcAft>
              <a:buNone/>
            </a:pPr>
            <a:r>
              <a:rPr lang="en-US" sz="1300" b="1" dirty="0">
                <a:solidFill>
                  <a:srgbClr val="1F2A44"/>
                </a:solidFill>
              </a:rPr>
              <a:t>Program office</a:t>
            </a:r>
            <a:endParaRPr lang="en-US" sz="1300" dirty="0"/>
          </a:p>
          <a:p>
            <a:pPr marL="0" indent="0">
              <a:spcAft>
                <a:spcPts val="400"/>
              </a:spcAft>
              <a:buNone/>
            </a:pPr>
            <a:r>
              <a:rPr lang="en-US" sz="1300" dirty="0">
                <a:solidFill>
                  <a:schemeClr val="tx2"/>
                </a:solidFill>
              </a:rPr>
              <a:t>Training criteria in every gate</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Carry it to people</a:t>
            </a:r>
            <a:endParaRPr lang="en-US" sz="17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Managers and supervisors</a:t>
            </a:r>
            <a:endParaRPr lang="en-US" sz="1300" dirty="0"/>
          </a:p>
          <a:p>
            <a:pPr marL="0" indent="0">
              <a:spcAft>
                <a:spcPts val="400"/>
              </a:spcAft>
              <a:buNone/>
            </a:pPr>
            <a:r>
              <a:rPr lang="en-US" sz="1300" dirty="0">
                <a:solidFill>
                  <a:schemeClr val="tx2"/>
                </a:solidFill>
              </a:rPr>
              <a:t>Time to learn; completion on time</a:t>
            </a:r>
            <a:endParaRPr lang="en-US" sz="1300" dirty="0"/>
          </a:p>
          <a:p>
            <a:pPr marL="0" indent="0">
              <a:spcAft>
                <a:spcPts val="400"/>
              </a:spcAft>
              <a:buNone/>
            </a:pPr>
            <a:r>
              <a:rPr lang="en-US" sz="1300" b="1" dirty="0">
                <a:solidFill>
                  <a:srgbClr val="0F766E"/>
                </a:solidFill>
              </a:rPr>
              <a:t>Help desk</a:t>
            </a:r>
            <a:endParaRPr lang="en-US" sz="1300" dirty="0"/>
          </a:p>
          <a:p>
            <a:pPr marL="0" indent="0">
              <a:spcAft>
                <a:spcPts val="400"/>
              </a:spcAft>
              <a:buNone/>
            </a:pPr>
            <a:r>
              <a:rPr lang="en-US" sz="1300" dirty="0">
                <a:solidFill>
                  <a:schemeClr val="tx2"/>
                </a:solidFill>
              </a:rPr>
              <a:t>Trained first; manager decides ready</a:t>
            </a:r>
            <a:endParaRPr lang="en-US" sz="1300" dirty="0"/>
          </a:p>
          <a:p>
            <a:pPr marL="0" indent="0">
              <a:spcAft>
                <a:spcPts val="400"/>
              </a:spcAft>
              <a:buNone/>
            </a:pPr>
            <a:r>
              <a:rPr lang="en-US" sz="1300" b="1" dirty="0">
                <a:solidFill>
                  <a:srgbClr val="0F766E"/>
                </a:solidFill>
              </a:rPr>
              <a:t>Communications</a:t>
            </a:r>
            <a:endParaRPr lang="en-US" sz="1300" dirty="0"/>
          </a:p>
          <a:p>
            <a:pPr marL="0" indent="0">
              <a:spcAft>
                <a:spcPts val="400"/>
              </a:spcAft>
              <a:buNone/>
            </a:pPr>
            <a:r>
              <a:rPr lang="en-US" sz="1300" dirty="0">
                <a:solidFill>
                  <a:schemeClr val="tx2"/>
                </a:solidFill>
              </a:rPr>
              <a:t>One sender; the CISO's words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THE SEPARATIONS THAT KEEP THE NUMBERS HONEST</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Report, review, decide — </a:t>
            </a:r>
            <a:r>
              <a:rPr lang="en-US" sz="1400" dirty="0">
                <a:solidFill>
                  <a:schemeClr val="tx2"/>
                </a:solidFill>
              </a:rPr>
              <a:t>the training lead reports, the ISSO reviews, the gate or wave owner decides</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B45309"/>
                </a:solidFill>
              </a:rPr>
              <a:t>Managers can't waive — </a:t>
            </a:r>
            <a:r>
              <a:rPr lang="en-US" sz="1400" dirty="0">
                <a:solidFill>
                  <a:schemeClr val="tx2"/>
                </a:solidFill>
              </a:rPr>
              <a:t>a waiver of required training is the CISO's or a named delegate's, with an end date</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Contractors deliver — </a:t>
            </a:r>
            <a:r>
              <a:rPr lang="en-US" sz="1400" dirty="0">
                <a:solidFill>
                  <a:schemeClr val="tx2"/>
                </a:solidFill>
              </a:rPr>
              <a:t>they can build and report all of it; government officials make the decisions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44 U.S.C. § 3554; 5 U.S.C. §§ 1401–1402; 5 CFR 410.201 and 930.301; OPM coding memo (2017); NIST SP 800-37 Rev. 2 (Appendix D); SP 800-50 Rev. 1; OMB M-24-08. Book 16,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4440ACD3-66FD-0BC6-B36F-FD2599042D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08E8372-4D30-4B61-A904-C08C8F139E7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020"/>
    </mc:Choice>
    <mc:Fallback>
      <p:transition spd="slow" advTm="52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02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training on the roadmap's calendar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Gat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G0</a:t>
            </a:r>
            <a:endParaRPr lang="en-US" sz="1400" dirty="0"/>
          </a:p>
          <a:p>
            <a:pPr marL="0" indent="0">
              <a:buNone/>
            </a:pPr>
            <a:r>
              <a:rPr lang="en-US" sz="1400" b="1" dirty="0">
                <a:solidFill>
                  <a:srgbClr val="1F2A44"/>
                </a:solidFill>
              </a:rPr>
              <a:t>Plan</a:t>
            </a:r>
            <a:endParaRPr lang="en-US" sz="1400" dirty="0"/>
          </a:p>
          <a:p>
            <a:pPr marL="0" indent="0">
              <a:buNone/>
            </a:pPr>
            <a:r>
              <a:rPr lang="en-US" sz="1200" dirty="0">
                <a:solidFill>
                  <a:schemeClr val="tx2"/>
                </a:solidFill>
              </a:rPr>
              <a:t>Walkthrough; roster drafted</a:t>
            </a:r>
            <a:endParaRPr lang="en-US" sz="1400" dirty="0"/>
          </a:p>
        </p:txBody>
      </p:sp>
      <p:sp>
        <p:nvSpPr>
          <p:cNvPr id="7" name="Gat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Gat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G1</a:t>
            </a:r>
            <a:endParaRPr lang="en-US" sz="1400" dirty="0"/>
          </a:p>
          <a:p>
            <a:pPr marL="0" indent="0">
              <a:buNone/>
            </a:pPr>
            <a:r>
              <a:rPr lang="en-US" sz="1400" b="1" dirty="0">
                <a:solidFill>
                  <a:srgbClr val="1F2A44"/>
                </a:solidFill>
              </a:rPr>
              <a:t>Foundation</a:t>
            </a:r>
            <a:endParaRPr lang="en-US" sz="1400" dirty="0"/>
          </a:p>
          <a:p>
            <a:pPr marL="0" indent="0">
              <a:buNone/>
            </a:pPr>
            <a:r>
              <a:rPr lang="en-US" sz="1200" dirty="0">
                <a:solidFill>
                  <a:schemeClr val="tx2"/>
                </a:solidFill>
              </a:rPr>
              <a:t>Help desk on verification</a:t>
            </a:r>
            <a:endParaRPr lang="en-US" sz="1400" dirty="0"/>
          </a:p>
        </p:txBody>
      </p:sp>
      <p:sp>
        <p:nvSpPr>
          <p:cNvPr id="9" name="Gat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Gat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G2</a:t>
            </a:r>
            <a:endParaRPr lang="en-US" sz="1400" dirty="0"/>
          </a:p>
          <a:p>
            <a:pPr marL="0" indent="0">
              <a:buNone/>
            </a:pPr>
            <a:r>
              <a:rPr lang="en-US" sz="1400" b="1" dirty="0">
                <a:solidFill>
                  <a:srgbClr val="1F2A44"/>
                </a:solidFill>
              </a:rPr>
              <a:t>Pilot</a:t>
            </a:r>
            <a:endParaRPr lang="en-US" sz="1400" dirty="0"/>
          </a:p>
          <a:p>
            <a:pPr marL="0" indent="0">
              <a:buNone/>
            </a:pPr>
            <a:r>
              <a:rPr lang="en-US" sz="1200" dirty="0">
                <a:solidFill>
                  <a:schemeClr val="tx2"/>
                </a:solidFill>
              </a:rPr>
              <a:t>Users trained before cutover</a:t>
            </a:r>
            <a:endParaRPr lang="en-US" sz="1400" dirty="0"/>
          </a:p>
        </p:txBody>
      </p:sp>
      <p:sp>
        <p:nvSpPr>
          <p:cNvPr id="11" name="Gat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Gat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G3</a:t>
            </a:r>
            <a:endParaRPr lang="en-US" sz="1400" dirty="0"/>
          </a:p>
          <a:p>
            <a:pPr marL="0" indent="0">
              <a:buNone/>
            </a:pPr>
            <a:r>
              <a:rPr lang="en-US" sz="1400" b="1" dirty="0">
                <a:solidFill>
                  <a:srgbClr val="1F2A44"/>
                </a:solidFill>
              </a:rPr>
              <a:t>Rollout</a:t>
            </a:r>
            <a:endParaRPr lang="en-US" sz="1400" dirty="0"/>
          </a:p>
          <a:p>
            <a:pPr marL="0" indent="0">
              <a:buNone/>
            </a:pPr>
            <a:r>
              <a:rPr lang="en-US" sz="1200" dirty="0">
                <a:solidFill>
                  <a:schemeClr val="tx2"/>
                </a:solidFill>
              </a:rPr>
              <a:t>Each division before its wave</a:t>
            </a:r>
            <a:endParaRPr lang="en-US" sz="1400" dirty="0"/>
          </a:p>
        </p:txBody>
      </p:sp>
      <p:sp>
        <p:nvSpPr>
          <p:cNvPr id="13" name="Gat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Gat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G4</a:t>
            </a:r>
            <a:endParaRPr lang="en-US" sz="1400" dirty="0"/>
          </a:p>
          <a:p>
            <a:pPr marL="0" indent="0">
              <a:buNone/>
            </a:pPr>
            <a:r>
              <a:rPr lang="en-US" sz="1400" b="1" dirty="0">
                <a:solidFill>
                  <a:srgbClr val="1F2A44"/>
                </a:solidFill>
              </a:rPr>
              <a:t>Legacy quiet</a:t>
            </a:r>
            <a:endParaRPr lang="en-US" sz="1400" dirty="0"/>
          </a:p>
          <a:p>
            <a:pPr marL="0" indent="0">
              <a:buNone/>
            </a:pPr>
            <a:r>
              <a:rPr lang="en-US" sz="1200" dirty="0">
                <a:solidFill>
                  <a:schemeClr val="tx2"/>
                </a:solidFill>
              </a:rPr>
              <a:t>Retired-system owners retrained</a:t>
            </a:r>
            <a:endParaRPr lang="en-US" sz="1400" dirty="0"/>
          </a:p>
        </p:txBody>
      </p:sp>
      <p:sp>
        <p:nvSpPr>
          <p:cNvPr id="15" name="Gat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Gat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G5</a:t>
            </a:r>
            <a:endParaRPr lang="en-US" sz="1400" dirty="0"/>
          </a:p>
          <a:p>
            <a:pPr marL="0" indent="0">
              <a:buNone/>
            </a:pPr>
            <a:r>
              <a:rPr lang="en-US" sz="1400" b="1" dirty="0">
                <a:solidFill>
                  <a:srgbClr val="1F2A44"/>
                </a:solidFill>
              </a:rPr>
              <a:t>AD retired</a:t>
            </a:r>
            <a:endParaRPr lang="en-US" sz="1400" dirty="0"/>
          </a:p>
          <a:p>
            <a:pPr marL="0" indent="0">
              <a:buNone/>
            </a:pPr>
            <a:r>
              <a:rPr lang="en-US" sz="1200" dirty="0">
                <a:solidFill>
                  <a:schemeClr val="tx2"/>
                </a:solidFill>
              </a:rPr>
              <a:t>No course teaches AD</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UserClo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45309"/>
          </a:solidFill>
          <a:ln w="12700">
            <a:solidFill>
              <a:srgbClr val="B45309"/>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Just in time, before each wave</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Champions and managers 60 to 45 days out</a:t>
            </a:r>
            <a:endParaRPr lang="en-US" sz="1400" dirty="0"/>
          </a:p>
          <a:p>
            <a:pPr marL="342900" indent="-342900">
              <a:spcAft>
                <a:spcPts val="200"/>
              </a:spcAft>
              <a:buSzPct val="100000"/>
              <a:buChar char="•"/>
            </a:pPr>
            <a:r>
              <a:rPr lang="en-US" sz="1300" dirty="0">
                <a:solidFill>
                  <a:schemeClr val="tx2"/>
                </a:solidFill>
              </a:rPr>
              <a:t>Help desk by 30 days; users assigned at 30</a:t>
            </a:r>
            <a:endParaRPr lang="en-US" sz="1400" dirty="0"/>
          </a:p>
          <a:p>
            <a:pPr marL="342900" indent="-342900">
              <a:spcAft>
                <a:spcPts val="200"/>
              </a:spcAft>
              <a:buSzPct val="100000"/>
              <a:buChar char="•"/>
            </a:pPr>
            <a:r>
              <a:rPr lang="en-US" sz="1300" dirty="0">
                <a:solidFill>
                  <a:schemeClr val="tx2"/>
                </a:solidFill>
              </a:rPr>
              <a:t>Reminders at 15 and 7; then the readiness check</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3" name="Icon FaCodeBranch">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Keep the curriculum current</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Every module names its chapters and versions</a:t>
            </a:r>
            <a:endParaRPr lang="en-US" sz="1400" dirty="0"/>
          </a:p>
          <a:p>
            <a:pPr marL="342900" indent="-342900">
              <a:spcAft>
                <a:spcPts val="200"/>
              </a:spcAft>
              <a:buSzPct val="100000"/>
              <a:buChar char="•"/>
            </a:pPr>
            <a:r>
              <a:rPr lang="en-US" sz="1300" dirty="0">
                <a:solidFill>
                  <a:schemeClr val="tx2"/>
                </a:solidFill>
              </a:rPr>
              <a:t>A scheduled check on sources flags modules</a:t>
            </a:r>
            <a:endParaRPr lang="en-US" sz="1400" dirty="0"/>
          </a:p>
          <a:p>
            <a:pPr marL="342900" indent="-342900">
              <a:spcAft>
                <a:spcPts val="200"/>
              </a:spcAft>
              <a:buSzPct val="100000"/>
              <a:buChar char="•"/>
            </a:pPr>
            <a:r>
              <a:rPr lang="en-US" sz="1300" dirty="0">
                <a:solidFill>
                  <a:schemeClr val="tx2"/>
                </a:solidFill>
              </a:rPr>
              <a:t>Each revision is a new course version</a:t>
            </a:r>
            <a:endParaRPr lang="en-US" sz="1400" dirty="0"/>
          </a:p>
        </p:txBody>
      </p:sp>
      <p:sp>
        <p:nvSpPr>
          <p:cNvPr id="27" name="Rul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User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Rul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No gate without its training dates, no wave without its training window: </a:t>
            </a:r>
            <a:r>
              <a:rPr lang="en-US" sz="1650" dirty="0">
                <a:solidFill>
                  <a:schemeClr val="tx2"/>
                </a:solidFill>
              </a:rPr>
              <a:t>and the help desk goes first. No technician is made eligible for a help desk role until their training and verification check are on record.</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5 CFR 930.301(d); NIST SP 800-53 Rev. 5 (AT-2, AT-3); SP 800-50 Rev. 1; OMB A-130, Appendix I §4.h; Microsoft Learn, phishing-resistant deployment. Book 16, Chapters 01 and 09.</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3B117B14-4C13-7ED8-4C83-83B459E5BC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A177DD-3C92-48C4-B292-DE123CEE03D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030"/>
    </mc:Choice>
    <mc:Fallback>
      <p:transition spd="slow" advTm="53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032"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Measure readiness, not attendance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Kirkpatrick level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program collects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  Reaction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End-of-module and post-wave surveys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  Learning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Assessments, lab demonstrations, observed scenarios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Behavior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Ticket trends, method registration, verification audits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  Results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Gate outcomes and steady-state measures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Page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Pag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committee's one page</a:t>
            </a:r>
            <a:endParaRPr lang="en-US" sz="1700" dirty="0"/>
          </a:p>
        </p:txBody>
      </p:sp>
      <p:sp>
        <p:nvSpPr>
          <p:cNvPr id="10" name="Page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Is the next gate's workforce ready?</a:t>
            </a:r>
            <a:endParaRPr lang="en-US" sz="1400" dirty="0"/>
          </a:p>
          <a:p>
            <a:pPr marL="342900" indent="-342900">
              <a:spcAft>
                <a:spcPts val="600"/>
              </a:spcAft>
              <a:buSzPct val="100000"/>
              <a:buChar char="•"/>
            </a:pPr>
            <a:r>
              <a:rPr lang="en-US" sz="1350" dirty="0">
                <a:solidFill>
                  <a:schemeClr val="tx2"/>
                </a:solidFill>
              </a:rPr>
              <a:t>Are the next two waves ready?</a:t>
            </a:r>
            <a:endParaRPr lang="en-US" sz="1400" dirty="0"/>
          </a:p>
          <a:p>
            <a:pPr marL="342900" indent="-342900">
              <a:spcAft>
                <a:spcPts val="600"/>
              </a:spcAft>
              <a:buSzPct val="100000"/>
              <a:buChar char="•"/>
            </a:pPr>
            <a:r>
              <a:rPr lang="en-US" sz="1350" dirty="0">
                <a:solidFill>
                  <a:schemeClr val="tx2"/>
                </a:solidFill>
              </a:rPr>
              <a:t>What happened in the last wave?</a:t>
            </a:r>
            <a:endParaRPr lang="en-US" sz="1400" dirty="0"/>
          </a:p>
          <a:p>
            <a:pPr marL="342900" indent="-342900">
              <a:spcAft>
                <a:spcPts val="600"/>
              </a:spcAft>
              <a:buSzPct val="100000"/>
              <a:buChar char="•"/>
            </a:pPr>
            <a:r>
              <a:rPr lang="en-US" sz="1350" dirty="0">
                <a:solidFill>
                  <a:schemeClr val="tx2"/>
                </a:solidFill>
              </a:rPr>
              <a:t>Privileged gaps, as a count</a:t>
            </a:r>
            <a:endParaRPr lang="en-US" sz="1400" dirty="0"/>
          </a:p>
          <a:p>
            <a:pPr marL="342900" indent="-342900">
              <a:spcAft>
                <a:spcPts val="600"/>
              </a:spcAft>
              <a:buSzPct val="100000"/>
              <a:buChar char="•"/>
            </a:pPr>
            <a:r>
              <a:rPr lang="en-US" sz="1350" dirty="0">
                <a:solidFill>
                  <a:schemeClr val="tx2"/>
                </a:solidFill>
              </a:rPr>
              <a:t>What must the committee decide?</a:t>
            </a:r>
            <a:endParaRPr lang="en-US" sz="1400" dirty="0"/>
          </a:p>
        </p:txBody>
      </p:sp>
      <p:sp>
        <p:nvSpPr>
          <p:cNvPr id="11" name="Com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5" name="Com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Completion for everyone; competence where a mistake is a security event: </a:t>
            </a:r>
            <a:r>
              <a:rPr lang="en-US" sz="1650" dirty="0">
                <a:solidFill>
                  <a:schemeClr val="tx2"/>
                </a:solidFill>
              </a:rPr>
              <a:t>help desk, privileged administrators, ISSOs and plan roles must pass an assessment. A wave that isn't ready moves its date, not its threshold.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A-130, Appendix I §4.h; NIST SP 800-50 Rev. 1 (Kirkpatrick levels; assessment report); SP 800-181 Rev. 1; Microsoft Learn (authentication methods activity; passwordless deployment). Book 16,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A0F92A8-054B-5907-FE06-5B99130DA7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A740912-99B0-4375-8F56-8B3EE8C7548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050"/>
    </mc:Choice>
    <mc:Fallback>
      <p:transition spd="slow" advTm="55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Put training in every gate</a:t>
            </a:r>
            <a:endParaRPr lang="en-US" sz="1400" dirty="0"/>
          </a:p>
          <a:p>
            <a:pPr marL="0" indent="0">
              <a:buNone/>
            </a:pPr>
            <a:r>
              <a:rPr lang="en-US" sz="1450" dirty="0">
                <a:solidFill>
                  <a:schemeClr val="tx2"/>
                </a:solidFill>
              </a:rPr>
              <a:t>Measured against a roster; a gap only as a named, dated exception</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UserShield">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Train the help desk first</a:t>
            </a:r>
            <a:endParaRPr lang="en-US" sz="1400" dirty="0"/>
          </a:p>
          <a:p>
            <a:pPr marL="0" indent="0">
              <a:buNone/>
            </a:pPr>
            <a:r>
              <a:rPr lang="en-US" sz="1450" dirty="0">
                <a:solidFill>
                  <a:schemeClr val="tx2"/>
                </a:solidFill>
              </a:rPr>
              <a:t>Verified before any new role, and before every wave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Sitemap">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Name owners, keep them apart</a:t>
            </a:r>
            <a:endParaRPr lang="en-US" sz="1400" dirty="0"/>
          </a:p>
          <a:p>
            <a:pPr marL="0" indent="0">
              <a:buNone/>
            </a:pPr>
            <a:r>
              <a:rPr lang="en-US" sz="1450" dirty="0">
                <a:solidFill>
                  <a:schemeClr val="tx2"/>
                </a:solidFill>
              </a:rPr>
              <a:t>CHCO and CIO set competencies; the reporter doesn't decide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IdCar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Certify with artifacts</a:t>
            </a:r>
            <a:endParaRPr lang="en-US" sz="1400" dirty="0"/>
          </a:p>
          <a:p>
            <a:pPr marL="0" indent="0">
              <a:buNone/>
            </a:pPr>
            <a:r>
              <a:rPr lang="en-US" sz="1450" dirty="0">
                <a:solidFill>
                  <a:schemeClr val="tx2"/>
                </a:solidFill>
              </a:rPr>
              <a:t>Capstones and two credentials, renewed every year</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Address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build the role roster from HR records, coded positions and eligible-role assignments; name a training lead and an owner per track; and brief the workforce office, labor relations and the Section 508 program manager before G0.</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5 CFR 930.301; OMB A-130; NIST SP 800-50 Rev. 1; OMB M-24-08. Book 16, Chapters 01, 05, 08, 09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65224A1B-9FAE-18BF-B85D-4AE2797D82B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08C2F93-1DC5-4CAB-89A7-A2260FDE523C}"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820"/>
    </mc:Choice>
    <mc:Fallback>
      <p:transition spd="slow" advTm="59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82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5661</Words>
  <Application>Microsoft Office PowerPoint</Application>
  <PresentationFormat>Widescreen</PresentationFormat>
  <Paragraphs>328</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Who Will Run the New Estate?</vt:lpstr>
      <vt:lpstr>Tools enforce; people decide</vt:lpstr>
      <vt:lpstr>Training last is paid for twice</vt:lpstr>
      <vt:lpstr>What federal workforce rules require</vt:lpstr>
      <vt:lpstr>Education first, then training by role</vt:lpstr>
      <vt:lpstr>The compliance track teaches tracing</vt:lpstr>
      <vt:lpstr>Implementation: done means the evidence landed</vt:lpstr>
      <vt:lpstr>Certify what people can show</vt:lpstr>
      <vt:lpstr>Vendor training, and labs that can't hurt production</vt:lpstr>
      <vt:lpstr>Every user signs in differently</vt:lpstr>
      <vt:lpstr>One decider per row; the reporter doesn't decide</vt:lpstr>
      <vt:lpstr>Run training on the roadmap's calendar</vt:lpstr>
      <vt:lpstr>Measure readiness, not attendance</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16 — People: Training &amp; Education</dc:title>
  <dc:subject>PptxGenJS Presentation</dc:subject>
  <dc:creator>Michael F. Stratton</dc:creator>
  <cp:lastModifiedBy>Michael F. Stratton</cp:lastModifiedBy>
  <cp:revision>2</cp:revision>
  <dcterms:created xsi:type="dcterms:W3CDTF">2026-10-21T23:34:48Z</dcterms:created>
  <dcterms:modified xsi:type="dcterms:W3CDTF">2026-10-23T17:35:15Z</dcterms:modified>
</cp:coreProperties>
</file>