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people close the gap" id="{8d0a22ba-8cb5-98e0-f916-337c5414eb5e}">
          <p14:sldIdLst>
            <p14:sldId id="256"/>
            <p14:sldId id="257"/>
            <p14:sldId id="258"/>
            <p14:sldId id="259"/>
          </p14:sldIdLst>
        </p14:section>
        <p14:section name="What the program teaches" id="{5e2fef68-aab3-ce65-7be2-70ad510546d2}">
          <p14:sldIdLst>
            <p14:sldId id="260"/>
            <p14:sldId id="261"/>
            <p14:sldId id="262"/>
            <p14:sldId id="263"/>
            <p14:sldId id="264"/>
            <p14:sldId id="265"/>
          </p14:sldIdLst>
        </p14:section>
        <p14:section name="Who owns workforce readiness" id="{2fee55e9-c16d-0fce-0109-c14b610e6b0b}">
          <p14:sldIdLst>
            <p14:sldId id="266"/>
          </p14:sldIdLst>
        </p14:section>
        <p14:section name="How to run it and measure it" id="{23b9798e-2bf0-88b8-7809-b9b884f58bef}">
          <p14:sldIdLst>
            <p14:sldId id="267"/>
            <p14:sldId id="268"/>
            <p14:sldId id="269"/>
          </p14:sldIdLst>
        </p14:section>
        <p14:section name="Backup" id="{928c6ae9-bcd2-44fd-e5ec-191b55007f84}">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[0:00–0:40]  This briefing comes from Book 16 of the Federal Modernization Workbook, People: Training and Education. It's written for C I Os and CISOs, workforce and training leads, I S S Os, and help desk leads.
I'll take four questions: why people, not tools, close the gap; what the program teaches; who owns workforce readiness; and how to run the curriculum and measure whether it worked.
The short version: every book before this one changes what someone does. Tools enforce the new rules, but people run the estate, and a program that trains last pays twice.
Workbook: Book 16, index; Chapter 01 — People, Not Tools, Close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[0:40–1:44]  A Conditional Access policy can require phishing-resistant sign-in for every user. It can't decide what happens when a caller tells the help desk their security key is lost and they need to sign in now. An entitlement review can list everyone with access, but it can't make the owner read the list. A drift check can find a server that left its baseline, but it can't say whether the exception behind it was ever approved.
The program's position is that this technology moves risk from configuration to judgment. What's left is a smaller number of human decisions that carry more weight. And almost every book splits a job into deciding and doing, and moves some decisions to people outside I T, such as HR staff and application owners. A person who doesn't know the new rule falls back on the old habit, which is exactly what the modernization was meant to remove.
Workbook: Book 16, Chapter 01 — People, Not Tools, Close the Gap (opening; What each book changes in people's work; Tools enforce, people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[1:44–2:51]  Many programs train at the end: build, migrate, then train. The program's observation is that this is paid for twice.
The first payment comes at cutover. Users who weren't taught the new sign-in call the help desk. A help desk that wasn't taught the new verification either refuses legitimate callers or resets accounts without the checks meant to stop impersonation. Administrators ask for standing roles until things settle, and exceptions granted under pressure tend to stay.
The second payment comes afterward. The workarounds have to be found and removed, people retrained, and habits unlearned, which is slower than learning.
Federal rules already put training before the change. OPM's rule requires awareness material before access, and training whenever the system environment or procedures change significantly. NIST's controls ask for training when system changes require it, and OMB Circular A-130 requires role-based training before access is authorized. So training last also puts the agency behind requirements it already has.
Workbook: Book 16, Chapter 01 — People, Not Tools, Close the Gap (Why training last costs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[2:51–3:58]  FISMA is a staffing requirement as much as a course requirement: the agency head must have trained personnel sufficient to comply, and the C I O trains and oversees people with significant security duties. OPM's rule names five audiences, from every user to I T operations staff. Circular A-130 has the chief human capital officer and the C I O set competency requirements together. And the Federal Cybersecurity Workforce Assessment Act requires every agency to identify its cyber positions and code each one to the NICE Framework, NIST's vocabulary of forty-two work roles.
The codes haven't been reliable. In 2019, GAO found that 22 of 24 agencies had given a non-I T code to about nineteen percent of their I T management positions. So the program treats codes as one roster input, not settled fact.
Just as important is what the rules don't require: no civilian certification mandate, and the Defense Department's eighty-one forty program doesn't apply to civilian agencies.
Workbook: Book 16, Chapter 02 — What Federal Workforce Rules Require (The sources at a glance; FISMA; OPM's rule; OMB Circular A-130; The NICE Framework; Coding the positions; How well it has worked; What the rules don't require; DoD 8140, as a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[3:58–5:03]  Now what the program teaches. It separates education from training. Education builds the mental model, for everyone, before any tool, and it teaches six ideas in order, because each depends on the one before. Governance is a system that runs continuously. Identity is the starting point. One map replaces many inventories. Every derived record names its source and version. Modernization is a lifecycle under change control, not a project that ends. And drift is the feedback signal.
Someone who holds those ideas understands why the help desk now asks for verification, why a role is activated instead of held, and why a screenshot isn't evidence. Orientation comes as a ninety-minute walkthrough, a self-serve written path, and a forty-five-minute briefing for auditors and assessors.
Training comes after, by role, in four tracks: compliance, for people who evidence controls; implementation, for people who build; vendor training and labs; and end-user training for everyone who signs in.
Workbook: Book 16, Chapter 01 (Education before training); Chapter 09 — Building and Running the Curriculum (Orientation: education before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[5:03–6:10]  The compliance track is for the people who read evidence rather than build it: I S S Os, compliance staff, control assessors and authorizing officials. It teaches one skill above the others, tracing. Given a control, name the mechanism that closes it, the book that built it, the record it emits and where that record sits in the authorization package. Given a record, work back to its control and say whether it's current.
The orientation module carries four ideas: the Risk Management Framework's seven steps; who owes which proof, with only the authorizing official accepting residual risk; Moderate and FedRAMP's Class C as two facts, not one; and FedRAMP's forty-six key security indicators binding providers, not agencies.
Eight modules then follow the program's evidence areas, from identity to training. Each one teaches a discipline: a policy screenshot can't show that a sign-in was phishing-resistant; only the sign-in record can. The capstone is a continuous-monitoring narrative for one system.
Workbook: Book 16, Chapter 03 — The Compliance Track (Who the track is for; Module 0; Modules 1 to 8;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[6:10–7:17]  The implementation track teaches the same estate from the engineer's chair, in ten build modules from D N S and address management to day-two operations. The order is a real dependency chain: address before you identify, identify before you shape transport, transport before you place data, and certificates before the network enforces. Devices, the cloud platform and security operations run in parallel once identity exists. Day two comes last, because it runs what everything else built.
Every module ends the same way. Done means it works and its evidence has landed where an assessor can read it. Every lab teaches three habits: observe before you enforce, with report-only, monitor and shadow modes; keep a way back in, with emergency access accounts created first; and export the record, not a screenshot.
Certifications are examples, not proof, and they change. Microsoft retired AZ-500 on August 31, 2026, and SC-500 replaced it. So the program re-checks its certification table at every gate.
Workbook: Book 16, Chapter 04 — The Implementation Track (The rule of the track; The build modules; Order and pairing; Example certifications).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[7:17–8:25]  Federal guidance asks for more than completion. A-130 asks agencies to test users' knowledge, and NIST's learning-program guide recommends practical assessments that mimic the work role. So the program certifies only what a person can show, with an artifact someone else could check.
Every capstone is scored on one four-level scale. Zero is missing. One names the right books but gets the controls or the evidence wrong. Two traces the chain from book to control to evidence source. Three is assessor-ready: a real, dated result, with an honest statement of what isn't evaluated yet. The compliance capstone passes with every area at two or better, at least three at three, and all four whole-submission checks. An after-action report with no findings scores zero, and so does a training percentage with no per-person records behind it.
Two credentials follow: practitioner for builders, assessor for compliance staff. Both expire after twelve months. An industry certification can waive a module, but never a capstone.
Workbook: Book 16, Chapter 05 — Assessment and Certification (The scale; The eight evidence areas; Scoring the capstones; Two credentials; Recertification; Industry certifications).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[8:25–9:34]  Vendors teach their products, and the book names them as examples, never endorsements. A vendor course earns a place only if it passes four tests: it maps to a book procedure; it's current; the agency can keep its completion record; and the agency knows how the vendor handles learner data. Exam records tied to a work account are lost when the person leaves, so the agency keeps its own record.
Lab environments are harder to get than most programs expect. Microsoft Learn's free sandboxes are gone. The developer sandbox has eligibility limits and isn't offered in any government cloud, and there's no free sandbox in G C C High at all. So the program office arranges lab tenants, and before each gate the team rehearses once in the agency's own non-production government tenant.
Every lab follows the same rules: never production; emergency access first; observe before enforcing; no sync or federation with production; synthetic data only; and tear it down at the end.
Workbook: Book 16, Chapter 06 — Vendor Training and Lab Environments (Choosing vendor training; Where lab environments come from; What changes in the government clouds; Rules for every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[9:34–10:39]  Every user will sign in differently. Federal policy sets the target. OMB's zero trust memo and NIST's authentication guideline require phishing-resistant sign-in for staff, contractors and partners, and passwords, one-time codes and push approvals don't qualify. So users learn a PIV card, Windows Hello for Business or a passkey, with at least two methods registered.
The course has six short modules: sign-in; reset and recovery; devices; where files now live; reporting; and what the help desk will and won't ask. Password lessons teach length and passphrases, not character classes.
The last module matters most, because the help desk becomes a target the moment users trust it. CISA's Scattered Spider advisory describes attackers posing as I T staff. The real help desk never asks for a password, a PIN or a code, never asks you to approve a prompt for them, and never sends a pass to an address you give on the call.
Workbook: Book 16, Chapter 07 — End-User Training for the Modernized Estate (Module 1; Module 2; Modules 3 to 5; Module 6: What the help desk will and won't ask; Accessible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[10:39–11:44]  Ask who owns training and three offices answer at once. Between them, nobody owns whether people can do the new job on the day it changes. So the program keeps one decider per row.
The sponsor and C I O fund the learning program and decide each wave's readiness plan. The CISO owns the training policy, the completion threshold, and the exact words users are taught about sign-in, reporting and the help desk. The chief human capital officer's office owns workforce strategy, position coding, the facts behind the rosters, and labor relations.
The training lead builds the curriculum and reports the numbers, but never declares a wave ready. The I S S O reviews the training record. The program office puts training into every gate. Supervisors own completion; the help desk manager decides whether the desk is ready; communications owns one sender. Contractors can build and deliver it all, but government officials make the decisions.
Workbook: Book 16, Chapter 08 — Who Owns Workforce Readiness (Where the roles come from; The roles; The responsibility matrix; Keeping the roles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[11:44–12:46]  The curriculum runs on the roadmap's calendar. The planning rule is simple: no gate is scheduled without its training dates, and no wave without its training window, so a wave that slips moves its training with it.
Each gate carries a training check beside its technical exit. At the foundation gate, the help desk is trained on verification and administrators on just-in-time activation. Pilot and division users are trained before their waves. And by the last gate, no course still teaches an Active Directory procedure. The help desk goes first: no technician is made eligible for a help desk role until their training and verification check are on record.
Before each wave, champions and managers start sixty to forty-five days out, the help desk is trained by thirty days, users are assigned their modules at thirty, with reminders at fifteen and seven, and then the readiness check.
Workbook: Book 16, Chapter 01 (Training is part of each gate's readiness); Chapter 09 — Building and Running the Curriculum (Start from the roadmap; What each phase and gate needs; Just-in-time training before each wave; Keeping the curriculum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[12:46–13:53]  A completion record says someone finished a course. Readiness says they can do the job on the day the change arrives. Following NIST's learning guide, the program measures four levels: reaction, from surveys; learning, from assessments and labs; behavior, from help desk ticket trends, sign-in method registration and verification audits; and results, from gate outcomes.
The rule is completion for everyone, and competence for every role where a mistake is a security event: help desk technicians, privileged administrators, I S S Os, and the people named in incident and contingency plans. For them, completion without a passing assessment doesn't count.
Registration by wave is the most direct end-user measure, and it costs nothing to collect. A wave that isn't ready moves its date, not its threshold, and the pilot sets the baselines. The steering committee gets one page at every meeting, in counts, not names, with privileged gaps as a count, because each one is a finding.
Workbook: Book 16, Chapter 10 — Measuring Readiness and Evidencing It (Completion is not competence; Readiness per role; Readiness per gate; Signals beyond the learning management system; Reporting to the steering committee; Baselines and targets are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[13:53–14:58]  So, four decisions.
Put training in every gate, measured against a roster from HR and identity records, not a headcount. A gate passes with a gap only as a named, dated exception.
Train and verify the help desk first, before any new role is assigned and before every wave.
Name the owners and keep them apart: the chief human capital officer and the C I O set competencies, the CISO owns the security words, and the training lead reports while others decide.
And certify with artifacts: capstones and two credentials, renewed every year.
The next step needs no procurement. Build the role roster from HR records, coded positions and eligible-role assignments; name a training lead and an owner for each track; and brief the workforce office, labor relations and the Section 508 program manager before the first gate.
People, not tools, close the gap. Book 16 has the detail, every claim footnoted. Thank you.
Workbook: Book 16, Chapters 01 (Training is part of each gate's readiness), 05 (Two credentials; Recertification), 08 (The responsibility matrix; Keeping the roles apart; Readiness is an input to every gate), 09 (What each phase and gate needs) and 10 (Readiness per role);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16 People: Training &amp; Education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Who Will Run the New Estate?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16 — People: Training &amp; Education</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A 15-minute briefing for CIOs, CISOs, workforce and training leads, ISSOs and help desk leads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Tools enforce; people decide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Column 1" descr="">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ShieldHalved" descr="">
            <a:extLst>
              <a:ext uri="{C183D7F6-B498-43B3-948B-1728B52AA6E4}">
                <adec:decorative xmlns:adec="http://schemas.microsoft.com/office/drawing/2017/decorative" val="1"/>
              </a:ext>
            </a:extLst>
          </p:cNvPr>
          <p:cNvSpPr/>
          <p:nvPr/>
        </p:nvSpPr>
        <p:spPr>
          <a:xfrm>
            <a:off x="777240" y="1536192"/>
            <a:ext cx="621792" cy="621792"/>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26470" y="1685422"/>
            <a:ext cx="323332" cy="323332"/>
          </a:xfrm>
          <a:prstGeom prst="rect">
            <a:avLst/>
          </a:prstGeom>
        </p:spPr>
      </p:pic>
      <p:sp>
        <p:nvSpPr>
          <p:cNvPr id="8" name="Column head 1"/>
          <p:cNvSpPr txBox="1"/>
          <p:nvPr/>
        </p:nvSpPr>
        <p:spPr>
          <a:xfrm>
            <a:off x="1572768" y="1517904"/>
            <a:ext cx="4343400" cy="685800"/>
          </a:xfrm>
          <a:prstGeom prst="rect">
            <a:avLst/>
          </a:prstGeom>
          <a:noFill/>
          <a:ln/>
        </p:spPr>
        <p:txBody>
          <a:bodyPr wrap="square" lIns="0" tIns="0" rIns="0" bIns="0" rtlCol="0" anchor="ctr"/>
          <a:lstStyle/>
          <a:p>
            <a:pPr indent="0" marL="0">
              <a:buNone/>
            </a:pPr>
            <a:r>
              <a:rPr lang="en-US" sz="1200" b="1" dirty="0">
                <a:solidFill>
                  <a:srgbClr val="64748B"/>
                </a:solidFill>
              </a:rPr>
              <a:t>WHAT A TOOL CAN DO</a:t>
            </a:r>
            <a:endParaRPr lang="en-US" sz="1400" dirty="0"/>
          </a:p>
          <a:p>
            <a:pPr indent="0" marL="0">
              <a:buNone/>
            </a:pPr>
            <a:r>
              <a:rPr lang="en-US" sz="1800" b="1" dirty="0">
                <a:solidFill>
                  <a:srgbClr val="1F2A44"/>
                </a:solidFill>
                <a:latin typeface="Cambria" pitchFamily="34" charset="0"/>
                <a:ea typeface="Cambria" pitchFamily="34" charset="-122"/>
                <a:cs typeface="Cambria" pitchFamily="34" charset="-120"/>
              </a:rPr>
              <a:t>Enforce the rule</a:t>
            </a:r>
            <a:endParaRPr lang="en-US" sz="1400" dirty="0"/>
          </a:p>
        </p:txBody>
      </p:sp>
      <p:sp>
        <p:nvSpPr>
          <p:cNvPr id="9" name="Column text 1"/>
          <p:cNvSpPr txBox="1"/>
          <p:nvPr/>
        </p:nvSpPr>
        <p:spPr>
          <a:xfrm>
            <a:off x="82296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Conditional Access requires phishing-resistant sign-in</a:t>
            </a:r>
            <a:endParaRPr lang="en-US" sz="1400" dirty="0"/>
          </a:p>
          <a:p>
            <a:pPr marL="342900" indent="-342900">
              <a:spcAft>
                <a:spcPts val="600"/>
              </a:spcAft>
              <a:buSzPct val="100000"/>
              <a:buChar char="•"/>
            </a:pPr>
            <a:r>
              <a:rPr lang="en-US" sz="1400" dirty="0">
                <a:solidFill>
                  <a:schemeClr val="tx2"/>
                </a:solidFill>
              </a:rPr>
              <a:t>An entitlement review lists everyone with access</a:t>
            </a:r>
            <a:endParaRPr lang="en-US" sz="1400" dirty="0"/>
          </a:p>
          <a:p>
            <a:pPr marL="342900" indent="-342900">
              <a:spcAft>
                <a:spcPts val="600"/>
              </a:spcAft>
              <a:buSzPct val="100000"/>
              <a:buChar char="•"/>
            </a:pPr>
            <a:r>
              <a:rPr lang="en-US" sz="1400" dirty="0">
                <a:solidFill>
                  <a:schemeClr val="tx2"/>
                </a:solidFill>
              </a:rPr>
              <a:t>A drift check finds a server off its baseline</a:t>
            </a:r>
            <a:endParaRPr lang="en-US" sz="1400" dirty="0"/>
          </a:p>
          <a:p>
            <a:pPr marL="342900" indent="-342900">
              <a:spcAft>
                <a:spcPts val="600"/>
              </a:spcAft>
              <a:buSzPct val="100000"/>
              <a:buChar char="•"/>
            </a:pPr>
            <a:r>
              <a:rPr lang="en-US" sz="1400" dirty="0">
                <a:solidFill>
                  <a:schemeClr val="tx2"/>
                </a:solidFill>
              </a:rPr>
              <a:t>Each one leaves a decision for a person</a:t>
            </a:r>
            <a:endParaRPr lang="en-US" sz="1400" dirty="0"/>
          </a:p>
        </p:txBody>
      </p:sp>
      <p:sp>
        <p:nvSpPr>
          <p:cNvPr id="10" name="Column 2" descr="">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UserCheck" descr="">
            <a:extLst>
              <a:ext uri="{C183D7F6-B498-43B3-948B-1728B52AA6E4}">
                <adec:decorative xmlns:adec="http://schemas.microsoft.com/office/drawing/2017/decorative" val="1"/>
              </a:ext>
            </a:extLst>
          </p:cNvPr>
          <p:cNvSpPr/>
          <p:nvPr/>
        </p:nvSpPr>
        <p:spPr>
          <a:xfrm>
            <a:off x="6400800" y="1536192"/>
            <a:ext cx="621792" cy="621792"/>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50030" y="1685422"/>
            <a:ext cx="323332" cy="323332"/>
          </a:xfrm>
          <a:prstGeom prst="rect">
            <a:avLst/>
          </a:prstGeom>
        </p:spPr>
      </p:pic>
      <p:sp>
        <p:nvSpPr>
          <p:cNvPr id="13" name="Column head 2"/>
          <p:cNvSpPr txBox="1"/>
          <p:nvPr/>
        </p:nvSpPr>
        <p:spPr>
          <a:xfrm>
            <a:off x="7196328" y="1517904"/>
            <a:ext cx="4343400" cy="685800"/>
          </a:xfrm>
          <a:prstGeom prst="rect">
            <a:avLst/>
          </a:prstGeom>
          <a:noFill/>
          <a:ln/>
        </p:spPr>
        <p:txBody>
          <a:bodyPr wrap="square" lIns="0" tIns="0" rIns="0" bIns="0" rtlCol="0" anchor="ctr"/>
          <a:lstStyle/>
          <a:p>
            <a:pPr indent="0" marL="0">
              <a:buNone/>
            </a:pPr>
            <a:r>
              <a:rPr lang="en-US" sz="1200" b="1" dirty="0">
                <a:solidFill>
                  <a:srgbClr val="64748B"/>
                </a:solidFill>
              </a:rPr>
              <a:t>WHAT ONLY A PERSON CAN DO</a:t>
            </a:r>
            <a:endParaRPr lang="en-US" sz="1400" dirty="0"/>
          </a:p>
          <a:p>
            <a:pPr indent="0" marL="0">
              <a:buNone/>
            </a:pPr>
            <a:r>
              <a:rPr lang="en-US" sz="1800" b="1" dirty="0">
                <a:solidFill>
                  <a:srgbClr val="0F766E"/>
                </a:solidFill>
                <a:latin typeface="Cambria" pitchFamily="34" charset="0"/>
                <a:ea typeface="Cambria" pitchFamily="34" charset="-122"/>
                <a:cs typeface="Cambria" pitchFamily="34" charset="-120"/>
              </a:rPr>
              <a:t>Decide what it means</a:t>
            </a:r>
            <a:endParaRPr lang="en-US" sz="1400" dirty="0"/>
          </a:p>
        </p:txBody>
      </p:sp>
      <p:sp>
        <p:nvSpPr>
          <p:cNvPr id="14" name="Column text 2"/>
          <p:cNvSpPr txBox="1"/>
          <p:nvPr/>
        </p:nvSpPr>
        <p:spPr>
          <a:xfrm>
            <a:off x="644652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Is this caller who they say they are?</a:t>
            </a:r>
            <a:endParaRPr lang="en-US" sz="1400" dirty="0"/>
          </a:p>
          <a:p>
            <a:pPr marL="342900" indent="-342900">
              <a:spcAft>
                <a:spcPts val="600"/>
              </a:spcAft>
              <a:buSzPct val="100000"/>
              <a:buChar char="•"/>
            </a:pPr>
            <a:r>
              <a:rPr lang="en-US" sz="1400" dirty="0">
                <a:solidFill>
                  <a:schemeClr val="tx2"/>
                </a:solidFill>
              </a:rPr>
              <a:t>Is this access request justified?</a:t>
            </a:r>
            <a:endParaRPr lang="en-US" sz="1400" dirty="0"/>
          </a:p>
          <a:p>
            <a:pPr marL="342900" indent="-342900">
              <a:spcAft>
                <a:spcPts val="600"/>
              </a:spcAft>
              <a:buSzPct val="100000"/>
              <a:buChar char="•"/>
            </a:pPr>
            <a:r>
              <a:rPr lang="en-US" sz="1400" dirty="0">
                <a:solidFill>
                  <a:schemeClr val="tx2"/>
                </a:solidFill>
              </a:rPr>
              <a:t>Fix, accept or escalate this drift finding?</a:t>
            </a:r>
            <a:endParaRPr lang="en-US" sz="1400" dirty="0"/>
          </a:p>
          <a:p>
            <a:pPr marL="342900" indent="-342900">
              <a:spcAft>
                <a:spcPts val="600"/>
              </a:spcAft>
              <a:buSzPct val="100000"/>
              <a:buChar char="•"/>
            </a:pPr>
            <a:r>
              <a:rPr lang="en-US" sz="1400" dirty="0">
                <a:solidFill>
                  <a:schemeClr val="tx2"/>
                </a:solidFill>
              </a:rPr>
              <a:t>Is the evidence complete before it goes to the AO?</a:t>
            </a:r>
            <a:endParaRPr lang="en-US" sz="1400" dirty="0"/>
          </a:p>
        </p:txBody>
      </p:sp>
      <p:sp>
        <p:nvSpPr>
          <p:cNvPr id="15" name="Split"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6" name="Icon FaPeopleArrows"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8" name="Split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Almost every book splits a job into deciding and doing: </a:t>
            </a:r>
            <a:pPr indent="0" marL="0">
              <a:buNone/>
            </a:pPr>
            <a:r>
              <a:rPr lang="en-US" sz="1650" dirty="0">
                <a:solidFill>
                  <a:schemeClr val="tx2"/>
                </a:solidFill>
              </a:rPr>
              <a:t>two people now need the procedure where one did, and some decisions move outside IT, to HR staff, application owners, contracting officer's representatives and records officers.</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16, Chapter 01 (What each book changes in people's work; Tools enforce, people decide), drawing on the who chapters of Books 04, 13 and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Training last is paid for twice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Column 1" descr="">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Icon FaTriangleExclamation" descr="">
            <a:extLst>
              <a:ext uri="{C183D7F6-B498-43B3-948B-1728B52AA6E4}">
                <adec:decorative xmlns:adec="http://schemas.microsoft.com/office/drawing/2017/decorative" val="1"/>
              </a:ext>
            </a:extLst>
          </p:cNvPr>
          <p:cNvSpPr/>
          <p:nvPr/>
        </p:nvSpPr>
        <p:spPr>
          <a:xfrm>
            <a:off x="777240" y="1536192"/>
            <a:ext cx="621792" cy="621792"/>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26470" y="1685422"/>
            <a:ext cx="323332" cy="323332"/>
          </a:xfrm>
          <a:prstGeom prst="rect">
            <a:avLst/>
          </a:prstGeom>
        </p:spPr>
      </p:pic>
      <p:sp>
        <p:nvSpPr>
          <p:cNvPr id="8" name="Column head 1"/>
          <p:cNvSpPr txBox="1"/>
          <p:nvPr/>
        </p:nvSpPr>
        <p:spPr>
          <a:xfrm>
            <a:off x="1572768" y="1517904"/>
            <a:ext cx="4343400" cy="685800"/>
          </a:xfrm>
          <a:prstGeom prst="rect">
            <a:avLst/>
          </a:prstGeom>
          <a:noFill/>
          <a:ln/>
        </p:spPr>
        <p:txBody>
          <a:bodyPr wrap="square" lIns="0" tIns="0" rIns="0" bIns="0" rtlCol="0" anchor="ctr"/>
          <a:lstStyle/>
          <a:p>
            <a:pPr indent="0" marL="0">
              <a:buNone/>
            </a:pPr>
            <a:r>
              <a:rPr lang="en-US" sz="1200" b="1" dirty="0">
                <a:solidFill>
                  <a:srgbClr val="64748B"/>
                </a:solidFill>
              </a:rPr>
              <a:t>THE FIRST PAYMENT</a:t>
            </a:r>
            <a:endParaRPr lang="en-US" sz="1400" dirty="0"/>
          </a:p>
          <a:p>
            <a:pPr indent="0" marL="0">
              <a:buNone/>
            </a:pPr>
            <a:r>
              <a:rPr lang="en-US" sz="1800" b="1" dirty="0">
                <a:solidFill>
                  <a:srgbClr val="B91C1C"/>
                </a:solidFill>
                <a:latin typeface="Cambria" pitchFamily="34" charset="0"/>
                <a:ea typeface="Cambria" pitchFamily="34" charset="-122"/>
                <a:cs typeface="Cambria" pitchFamily="34" charset="-120"/>
              </a:rPr>
              <a:t>At cutover</a:t>
            </a:r>
            <a:endParaRPr lang="en-US" sz="1400" dirty="0"/>
          </a:p>
        </p:txBody>
      </p:sp>
      <p:sp>
        <p:nvSpPr>
          <p:cNvPr id="9" name="Column text 1"/>
          <p:cNvSpPr txBox="1"/>
          <p:nvPr/>
        </p:nvSpPr>
        <p:spPr>
          <a:xfrm>
            <a:off x="82296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Untrained users call the help desk about sign-in</a:t>
            </a:r>
            <a:endParaRPr lang="en-US" sz="1400" dirty="0"/>
          </a:p>
          <a:p>
            <a:pPr marL="342900" indent="-342900">
              <a:spcAft>
                <a:spcPts val="600"/>
              </a:spcAft>
              <a:buSzPct val="100000"/>
              <a:buChar char="•"/>
            </a:pPr>
            <a:r>
              <a:rPr lang="en-US" sz="1400" dirty="0">
                <a:solidFill>
                  <a:schemeClr val="tx2"/>
                </a:solidFill>
              </a:rPr>
              <a:t>An untrained desk refuses real callers, or resets without the checks</a:t>
            </a:r>
            <a:endParaRPr lang="en-US" sz="1400" dirty="0"/>
          </a:p>
          <a:p>
            <a:pPr marL="342900" indent="-342900">
              <a:spcAft>
                <a:spcPts val="600"/>
              </a:spcAft>
              <a:buSzPct val="100000"/>
              <a:buChar char="•"/>
            </a:pPr>
            <a:r>
              <a:rPr lang="en-US" sz="1400" dirty="0">
                <a:solidFill>
                  <a:schemeClr val="tx2"/>
                </a:solidFill>
              </a:rPr>
              <a:t>Administrators ask for standing roles “until things settle”</a:t>
            </a:r>
            <a:endParaRPr lang="en-US" sz="1400" dirty="0"/>
          </a:p>
          <a:p>
            <a:pPr marL="342900" indent="-342900">
              <a:spcAft>
                <a:spcPts val="600"/>
              </a:spcAft>
              <a:buSzPct val="100000"/>
              <a:buChar char="•"/>
            </a:pPr>
            <a:r>
              <a:rPr lang="en-US" sz="1400" dirty="0">
                <a:solidFill>
                  <a:schemeClr val="tx2"/>
                </a:solidFill>
              </a:rPr>
              <a:t>Exceptions granted under pressure tend to stay</a:t>
            </a:r>
            <a:endParaRPr lang="en-US" sz="1400" dirty="0"/>
          </a:p>
        </p:txBody>
      </p:sp>
      <p:sp>
        <p:nvSpPr>
          <p:cNvPr id="10" name="Column 2" descr="">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1" name="Icon FaArrowsRotate" descr="">
            <a:extLst>
              <a:ext uri="{C183D7F6-B498-43B3-948B-1728B52AA6E4}">
                <adec:decorative xmlns:adec="http://schemas.microsoft.com/office/drawing/2017/decorative" val="1"/>
              </a:ext>
            </a:extLst>
          </p:cNvPr>
          <p:cNvSpPr/>
          <p:nvPr/>
        </p:nvSpPr>
        <p:spPr>
          <a:xfrm>
            <a:off x="6400800" y="1536192"/>
            <a:ext cx="621792" cy="621792"/>
          </a:xfrm>
          <a:prstGeom prst="ellipse">
            <a:avLst/>
          </a:prstGeom>
          <a:solidFill>
            <a:srgbClr val="B45309"/>
          </a:solidFill>
          <a:ln w="12700">
            <a:solidFill>
              <a:srgbClr val="B45309"/>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50030" y="1685422"/>
            <a:ext cx="323332" cy="323332"/>
          </a:xfrm>
          <a:prstGeom prst="rect">
            <a:avLst/>
          </a:prstGeom>
        </p:spPr>
      </p:pic>
      <p:sp>
        <p:nvSpPr>
          <p:cNvPr id="13" name="Column head 2"/>
          <p:cNvSpPr txBox="1"/>
          <p:nvPr/>
        </p:nvSpPr>
        <p:spPr>
          <a:xfrm>
            <a:off x="7196328" y="1517904"/>
            <a:ext cx="4343400" cy="685800"/>
          </a:xfrm>
          <a:prstGeom prst="rect">
            <a:avLst/>
          </a:prstGeom>
          <a:noFill/>
          <a:ln/>
        </p:spPr>
        <p:txBody>
          <a:bodyPr wrap="square" lIns="0" tIns="0" rIns="0" bIns="0" rtlCol="0" anchor="ctr"/>
          <a:lstStyle/>
          <a:p>
            <a:pPr indent="0" marL="0">
              <a:buNone/>
            </a:pPr>
            <a:r>
              <a:rPr lang="en-US" sz="1200" b="1" dirty="0">
                <a:solidFill>
                  <a:srgbClr val="64748B"/>
                </a:solidFill>
              </a:rPr>
              <a:t>THE SECOND PAYMENT</a:t>
            </a:r>
            <a:endParaRPr lang="en-US" sz="1400" dirty="0"/>
          </a:p>
          <a:p>
            <a:pPr indent="0" marL="0">
              <a:buNone/>
            </a:pPr>
            <a:r>
              <a:rPr lang="en-US" sz="1800" b="1" dirty="0">
                <a:solidFill>
                  <a:srgbClr val="B45309"/>
                </a:solidFill>
                <a:latin typeface="Cambria" pitchFamily="34" charset="0"/>
                <a:ea typeface="Cambria" pitchFamily="34" charset="-122"/>
                <a:cs typeface="Cambria" pitchFamily="34" charset="-120"/>
              </a:rPr>
              <a:t>Afterward</a:t>
            </a:r>
            <a:endParaRPr lang="en-US" sz="1400" dirty="0"/>
          </a:p>
        </p:txBody>
      </p:sp>
      <p:sp>
        <p:nvSpPr>
          <p:cNvPr id="14" name="Column text 2"/>
          <p:cNvSpPr txBox="1"/>
          <p:nvPr/>
        </p:nvSpPr>
        <p:spPr>
          <a:xfrm>
            <a:off x="644652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Find and remove the workarounds</a:t>
            </a:r>
            <a:endParaRPr lang="en-US" sz="1400" dirty="0"/>
          </a:p>
          <a:p>
            <a:pPr marL="342900" indent="-342900">
              <a:spcAft>
                <a:spcPts val="600"/>
              </a:spcAft>
              <a:buSzPct val="100000"/>
              <a:buChar char="•"/>
            </a:pPr>
            <a:r>
              <a:rPr lang="en-US" sz="1400" dirty="0">
                <a:solidFill>
                  <a:schemeClr val="tx2"/>
                </a:solidFill>
              </a:rPr>
              <a:t>Retrain the people who made them</a:t>
            </a:r>
            <a:endParaRPr lang="en-US" sz="1400" dirty="0"/>
          </a:p>
          <a:p>
            <a:pPr marL="342900" indent="-342900">
              <a:spcAft>
                <a:spcPts val="600"/>
              </a:spcAft>
              <a:buSzPct val="100000"/>
              <a:buChar char="•"/>
            </a:pPr>
            <a:r>
              <a:rPr lang="en-US" sz="1400" dirty="0">
                <a:solidFill>
                  <a:schemeClr val="tx2"/>
                </a:solidFill>
              </a:rPr>
              <a:t>Unlearn the first weeks' habits; slower than learning</a:t>
            </a:r>
            <a:endParaRPr lang="en-US" sz="1400" dirty="0"/>
          </a:p>
          <a:p>
            <a:pPr marL="342900" indent="-342900">
              <a:spcAft>
                <a:spcPts val="600"/>
              </a:spcAft>
              <a:buSzPct val="100000"/>
              <a:buChar char="•"/>
            </a:pPr>
            <a:r>
              <a:rPr lang="en-US" sz="1400" dirty="0">
                <a:solidFill>
                  <a:schemeClr val="tx2"/>
                </a:solidFill>
              </a:rPr>
              <a:t>Explain the gap in the training evidence</a:t>
            </a:r>
            <a:endParaRPr lang="en-US" sz="1400" dirty="0"/>
          </a:p>
        </p:txBody>
      </p:sp>
      <p:sp>
        <p:nvSpPr>
          <p:cNvPr id="15" name="Rules"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6" name="Icon FaLandmar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8" name="Rules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The rules already put training first: </a:t>
            </a:r>
            <a:pPr indent="0" marL="0">
              <a:buNone/>
            </a:pPr>
            <a:r>
              <a:rPr lang="en-US" sz="1650" dirty="0">
                <a:solidFill>
                  <a:schemeClr val="tx2"/>
                </a:solidFill>
              </a:rPr>
              <a:t>OPM requires awareness before access and training on any significant change; SP 800-53 asks for training when system changes require it; A-130 requires role training before access is authorized.</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5 CFR 930.301(b), (d); NIST SP 800-53 Rev. 5 (AT-2, AT-3, IR-2, CP-3), release 5.2.0; OMB Circular A-130, Appendix I §4.h. Book 16,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federal workforce rules require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28800"/>
                <a:gridCol w="448056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Source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adds for the workforce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FISMA (2014)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Trained personnel sufficient to comply; CIO trains staff with significant security duties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5 CFR 930.301 (2004)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training plan; five audiences; awareness before access; training on change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OMB A-130 (2016)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CHCO and CIO set competency requirements; test users' knowledge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Workforce Assessment Act (2015)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Identify every cyber position and assign it a NICE code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NICE Framework v2.2.0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Shared vocabulary: 5 categories, 42 work roles (April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Not box" descr="">
            <a:extLst>
              <a:ext uri="{C183D7F6-B498-43B3-948B-1728B52AA6E4}">
                <adec:decorative xmlns:adec="http://schemas.microsoft.com/office/drawing/2017/decorative" val="1"/>
              </a:ext>
            </a:extLst>
          </p:cNvPr>
          <p:cNvSpPr/>
          <p:nvPr/>
        </p:nvSpPr>
        <p:spPr>
          <a:xfrm>
            <a:off x="7086600" y="1371600"/>
            <a:ext cx="4572000" cy="3310128"/>
          </a:xfrm>
          <a:prstGeom prst="roundRect">
            <a:avLst>
              <a:gd name="adj" fmla="val 2210"/>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Not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What the rules don't require</a:t>
            </a:r>
            <a:endParaRPr lang="en-US" sz="1700" dirty="0"/>
          </a:p>
        </p:txBody>
      </p:sp>
      <p:sp>
        <p:nvSpPr>
          <p:cNvPr id="10" name="Not list"/>
          <p:cNvSpPr txBox="1"/>
          <p:nvPr/>
        </p:nvSpPr>
        <p:spPr>
          <a:xfrm>
            <a:off x="7315200" y="2212848"/>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industry certification for civilian staff</a:t>
            </a:r>
            <a:endParaRPr lang="en-US" sz="1400" dirty="0"/>
          </a:p>
          <a:p>
            <a:pPr marL="342900" indent="-342900">
              <a:spcAft>
                <a:spcPts val="600"/>
              </a:spcAft>
              <a:buSzPct val="100000"/>
              <a:buChar char="•"/>
            </a:pPr>
            <a:r>
              <a:rPr lang="en-US" sz="1350" dirty="0">
                <a:solidFill>
                  <a:schemeClr val="tx2"/>
                </a:solidFill>
              </a:rPr>
              <a:t>No annual number beyond awareness</a:t>
            </a:r>
            <a:endParaRPr lang="en-US" sz="1400" dirty="0"/>
          </a:p>
          <a:p>
            <a:pPr marL="342900" indent="-342900">
              <a:spcAft>
                <a:spcPts val="600"/>
              </a:spcAft>
              <a:buSzPct val="100000"/>
              <a:buChar char="•"/>
            </a:pPr>
            <a:r>
              <a:rPr lang="en-US" sz="1350" dirty="0">
                <a:solidFill>
                  <a:schemeClr val="tx2"/>
                </a:solidFill>
              </a:rPr>
              <a:t>NICE is guidance; coding positions is mandatory</a:t>
            </a:r>
            <a:endParaRPr lang="en-US" sz="1400" dirty="0"/>
          </a:p>
          <a:p>
            <a:pPr marL="342900" indent="-342900">
              <a:spcAft>
                <a:spcPts val="600"/>
              </a:spcAft>
              <a:buSzPct val="100000"/>
              <a:buChar char="•"/>
            </a:pPr>
            <a:r>
              <a:rPr lang="en-US" sz="1350" dirty="0">
                <a:solidFill>
                  <a:schemeClr val="tx2"/>
                </a:solidFill>
              </a:rPr>
              <a:t>DoD 8140 binds DoD and its contractors, not civilian agencies</a:t>
            </a:r>
            <a:endParaRPr lang="en-US" sz="1400" dirty="0"/>
          </a:p>
        </p:txBody>
      </p:sp>
      <p:sp>
        <p:nvSpPr>
          <p:cNvPr id="11" name="Codes"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Hashtag"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Codes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The codes are a roster input, not settled fact: </a:t>
            </a:r>
            <a:pPr indent="0" marL="0">
              <a:buNone/>
            </a:pPr>
            <a:r>
              <a:rPr lang="en-US" sz="1650" dirty="0">
                <a:solidFill>
                  <a:schemeClr val="tx2"/>
                </a:solidFill>
              </a:rPr>
              <a:t>in 2019 GAO found 22 of 24 agencies had given a non-IT code to 15,779 IT management positions, about 19 percent. A code that disagrees with a role assignment is a finding for HR and the CIO's office.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44 U.S.C. § 3554; 5 CFR 930.301; OMB A-130 §5.c; Pub. L. 114-113, Div. N, Title III; OPM coding memos (2017, 2022); NIST SP 800-181 Rev. 1 and NICE Components v2.2.0; GAO-19-144; DoDM 8140.03. Book 16,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Education first, then training by role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Idea 1" descr="">
            <a:extLst>
              <a:ext uri="{C183D7F6-B498-43B3-948B-1728B52AA6E4}">
                <adec:decorative xmlns:adec="http://schemas.microsoft.com/office/drawing/2017/decorative" val="1"/>
              </a:ext>
            </a:extLst>
          </p:cNvPr>
          <p:cNvSpPr/>
          <p:nvPr/>
        </p:nvSpPr>
        <p:spPr>
          <a:xfrm>
            <a:off x="548640" y="1371600"/>
            <a:ext cx="1756410"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Idea 1 text"/>
          <p:cNvSpPr txBox="1"/>
          <p:nvPr/>
        </p:nvSpPr>
        <p:spPr>
          <a:xfrm>
            <a:off x="65836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indent="0" marL="0">
              <a:buNone/>
            </a:pPr>
            <a:r>
              <a:rPr lang="en-US" sz="1350" b="1" dirty="0">
                <a:solidFill>
                  <a:srgbClr val="1F2A44"/>
                </a:solidFill>
              </a:rPr>
              <a:t>Governance runs continuously</a:t>
            </a:r>
            <a:endParaRPr lang="en-US" sz="1400" dirty="0"/>
          </a:p>
        </p:txBody>
      </p:sp>
      <p:sp>
        <p:nvSpPr>
          <p:cNvPr id="7" name="Idea 2" descr="">
            <a:extLst>
              <a:ext uri="{C183D7F6-B498-43B3-948B-1728B52AA6E4}">
                <adec:decorative xmlns:adec="http://schemas.microsoft.com/office/drawing/2017/decorative" val="1"/>
              </a:ext>
            </a:extLst>
          </p:cNvPr>
          <p:cNvSpPr/>
          <p:nvPr/>
        </p:nvSpPr>
        <p:spPr>
          <a:xfrm>
            <a:off x="2419350" y="1371600"/>
            <a:ext cx="1756410"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Idea 2 text"/>
          <p:cNvSpPr txBox="1"/>
          <p:nvPr/>
        </p:nvSpPr>
        <p:spPr>
          <a:xfrm>
            <a:off x="252907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indent="0" marL="0">
              <a:buNone/>
            </a:pPr>
            <a:r>
              <a:rPr lang="en-US" sz="1350" b="1" dirty="0">
                <a:solidFill>
                  <a:srgbClr val="1F2A44"/>
                </a:solidFill>
              </a:rPr>
              <a:t>Identity is the starting point</a:t>
            </a:r>
            <a:endParaRPr lang="en-US" sz="1400" dirty="0"/>
          </a:p>
        </p:txBody>
      </p:sp>
      <p:sp>
        <p:nvSpPr>
          <p:cNvPr id="9" name="Idea 3" descr="">
            <a:extLst>
              <a:ext uri="{C183D7F6-B498-43B3-948B-1728B52AA6E4}">
                <adec:decorative xmlns:adec="http://schemas.microsoft.com/office/drawing/2017/decorative" val="1"/>
              </a:ext>
            </a:extLst>
          </p:cNvPr>
          <p:cNvSpPr/>
          <p:nvPr/>
        </p:nvSpPr>
        <p:spPr>
          <a:xfrm>
            <a:off x="4290060" y="1371600"/>
            <a:ext cx="1756410"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0" name="Idea 3 text"/>
          <p:cNvSpPr txBox="1"/>
          <p:nvPr/>
        </p:nvSpPr>
        <p:spPr>
          <a:xfrm>
            <a:off x="439978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indent="0" marL="0">
              <a:buNone/>
            </a:pPr>
            <a:r>
              <a:rPr lang="en-US" sz="1350" b="1" dirty="0">
                <a:solidFill>
                  <a:srgbClr val="1F2A44"/>
                </a:solidFill>
              </a:rPr>
              <a:t>One map, not many inventories</a:t>
            </a:r>
            <a:endParaRPr lang="en-US" sz="1400" dirty="0"/>
          </a:p>
        </p:txBody>
      </p:sp>
      <p:sp>
        <p:nvSpPr>
          <p:cNvPr id="11" name="Idea 4" descr="">
            <a:extLst>
              <a:ext uri="{C183D7F6-B498-43B3-948B-1728B52AA6E4}">
                <adec:decorative xmlns:adec="http://schemas.microsoft.com/office/drawing/2017/decorative" val="1"/>
              </a:ext>
            </a:extLst>
          </p:cNvPr>
          <p:cNvSpPr/>
          <p:nvPr/>
        </p:nvSpPr>
        <p:spPr>
          <a:xfrm>
            <a:off x="6160770" y="1371600"/>
            <a:ext cx="1756410"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Idea 4 text"/>
          <p:cNvSpPr txBox="1"/>
          <p:nvPr/>
        </p:nvSpPr>
        <p:spPr>
          <a:xfrm>
            <a:off x="627049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indent="0" marL="0">
              <a:buNone/>
            </a:pPr>
            <a:r>
              <a:rPr lang="en-US" sz="1350" b="1" dirty="0">
                <a:solidFill>
                  <a:srgbClr val="1F2A44"/>
                </a:solidFill>
              </a:rPr>
              <a:t>Every record names its source</a:t>
            </a:r>
            <a:endParaRPr lang="en-US" sz="1400" dirty="0"/>
          </a:p>
        </p:txBody>
      </p:sp>
      <p:sp>
        <p:nvSpPr>
          <p:cNvPr id="13" name="Idea 5" descr="">
            <a:extLst>
              <a:ext uri="{C183D7F6-B498-43B3-948B-1728B52AA6E4}">
                <adec:decorative xmlns:adec="http://schemas.microsoft.com/office/drawing/2017/decorative" val="1"/>
              </a:ext>
            </a:extLst>
          </p:cNvPr>
          <p:cNvSpPr/>
          <p:nvPr/>
        </p:nvSpPr>
        <p:spPr>
          <a:xfrm>
            <a:off x="8031480" y="1371600"/>
            <a:ext cx="1756410"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4" name="Idea 5 text"/>
          <p:cNvSpPr txBox="1"/>
          <p:nvPr/>
        </p:nvSpPr>
        <p:spPr>
          <a:xfrm>
            <a:off x="814120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indent="0" marL="0">
              <a:buNone/>
            </a:pPr>
            <a:r>
              <a:rPr lang="en-US" sz="1350" b="1" dirty="0">
                <a:solidFill>
                  <a:srgbClr val="1F2A44"/>
                </a:solidFill>
              </a:rPr>
              <a:t>A lifecycle, not a project</a:t>
            </a:r>
            <a:endParaRPr lang="en-US" sz="1400" dirty="0"/>
          </a:p>
        </p:txBody>
      </p:sp>
      <p:sp>
        <p:nvSpPr>
          <p:cNvPr id="15" name="Idea 6" descr="">
            <a:extLst>
              <a:ext uri="{C183D7F6-B498-43B3-948B-1728B52AA6E4}">
                <adec:decorative xmlns:adec="http://schemas.microsoft.com/office/drawing/2017/decorative" val="1"/>
              </a:ext>
            </a:extLst>
          </p:cNvPr>
          <p:cNvSpPr/>
          <p:nvPr/>
        </p:nvSpPr>
        <p:spPr>
          <a:xfrm>
            <a:off x="9902190" y="1371600"/>
            <a:ext cx="1756410"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dea 6 text"/>
          <p:cNvSpPr txBox="1"/>
          <p:nvPr/>
        </p:nvSpPr>
        <p:spPr>
          <a:xfrm>
            <a:off x="1001191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6</a:t>
            </a:r>
            <a:endParaRPr lang="en-US" sz="1400" dirty="0"/>
          </a:p>
          <a:p>
            <a:pPr indent="0" marL="0">
              <a:buNone/>
            </a:pPr>
            <a:r>
              <a:rPr lang="en-US" sz="1350" b="1" dirty="0">
                <a:solidFill>
                  <a:srgbClr val="1F2A44"/>
                </a:solidFill>
              </a:rPr>
              <a:t>Drift is the feedback signal</a:t>
            </a:r>
            <a:endParaRPr lang="en-US" sz="1400" dirty="0"/>
          </a:p>
        </p:txBody>
      </p:sp>
      <p:sp>
        <p:nvSpPr>
          <p:cNvPr id="17" name="Panel 1" descr="">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Icon FaLightbulb" descr="">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84967"/>
            <a:ext cx="266273" cy="266273"/>
          </a:xfrm>
          <a:prstGeom prst="rect">
            <a:avLst/>
          </a:prstGeom>
        </p:spPr>
      </p:pic>
      <p:sp>
        <p:nvSpPr>
          <p:cNvPr id="20" name="Panel head 1"/>
          <p:cNvSpPr txBox="1"/>
          <p:nvPr/>
        </p:nvSpPr>
        <p:spPr>
          <a:xfrm>
            <a:off x="1417320" y="2862072"/>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Education: the mental model</a:t>
            </a:r>
            <a:endParaRPr lang="en-US" sz="1700" dirty="0"/>
          </a:p>
        </p:txBody>
      </p:sp>
      <p:sp>
        <p:nvSpPr>
          <p:cNvPr id="21"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For everyone, before any tool, in this order</a:t>
            </a:r>
            <a:endParaRPr lang="en-US" sz="1400" dirty="0"/>
          </a:p>
          <a:p>
            <a:pPr marL="342900" indent="-342900">
              <a:spcAft>
                <a:spcPts val="200"/>
              </a:spcAft>
              <a:buSzPct val="100000"/>
              <a:buChar char="•"/>
            </a:pPr>
            <a:r>
              <a:rPr lang="en-US" sz="1300" dirty="0">
                <a:solidFill>
                  <a:schemeClr val="tx2"/>
                </a:solidFill>
              </a:rPr>
              <a:t>A 90-minute facilitated walkthrough</a:t>
            </a:r>
            <a:endParaRPr lang="en-US" sz="1400" dirty="0"/>
          </a:p>
          <a:p>
            <a:pPr marL="342900" indent="-342900">
              <a:spcAft>
                <a:spcPts val="200"/>
              </a:spcAft>
              <a:buSzPct val="100000"/>
              <a:buChar char="•"/>
            </a:pPr>
            <a:r>
              <a:rPr lang="en-US" sz="1300" dirty="0">
                <a:solidFill>
                  <a:schemeClr val="tx2"/>
                </a:solidFill>
              </a:rPr>
              <a:t>A self-serve written path; a 45-minute auditor briefing</a:t>
            </a:r>
            <a:endParaRPr lang="en-US" sz="1400" dirty="0"/>
          </a:p>
        </p:txBody>
      </p:sp>
      <p:sp>
        <p:nvSpPr>
          <p:cNvPr id="22" name="Panel 2" descr="">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3" name="Icon FaRoute" desc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84967"/>
            <a:ext cx="266273" cy="266273"/>
          </a:xfrm>
          <a:prstGeom prst="rect">
            <a:avLst/>
          </a:prstGeom>
        </p:spPr>
      </p:pic>
      <p:sp>
        <p:nvSpPr>
          <p:cNvPr id="25" name="Panel head 2"/>
          <p:cNvSpPr txBox="1"/>
          <p:nvPr/>
        </p:nvSpPr>
        <p:spPr>
          <a:xfrm>
            <a:off x="7040880" y="2862072"/>
            <a:ext cx="4480560" cy="512064"/>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Training: four tracks by role</a:t>
            </a:r>
            <a:endParaRPr lang="en-US" sz="1700" dirty="0"/>
          </a:p>
        </p:txBody>
      </p:sp>
      <p:sp>
        <p:nvSpPr>
          <p:cNvPr id="26"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Compliance, for people who evidence controls</a:t>
            </a:r>
            <a:endParaRPr lang="en-US" sz="1400" dirty="0"/>
          </a:p>
          <a:p>
            <a:pPr marL="342900" indent="-342900">
              <a:spcAft>
                <a:spcPts val="200"/>
              </a:spcAft>
              <a:buSzPct val="100000"/>
              <a:buChar char="•"/>
            </a:pPr>
            <a:r>
              <a:rPr lang="en-US" sz="1300" dirty="0">
                <a:solidFill>
                  <a:schemeClr val="tx2"/>
                </a:solidFill>
              </a:rPr>
              <a:t>Implementation, for people who build</a:t>
            </a:r>
            <a:endParaRPr lang="en-US" sz="1400" dirty="0"/>
          </a:p>
          <a:p>
            <a:pPr marL="342900" indent="-342900">
              <a:spcAft>
                <a:spcPts val="200"/>
              </a:spcAft>
              <a:buSzPct val="100000"/>
              <a:buChar char="•"/>
            </a:pPr>
            <a:r>
              <a:rPr lang="en-US" sz="1300" dirty="0">
                <a:solidFill>
                  <a:schemeClr val="tx2"/>
                </a:solidFill>
              </a:rPr>
              <a:t>Vendor training and labs; end-user training</a:t>
            </a:r>
            <a:endParaRPr lang="en-US" sz="1400" dirty="0"/>
          </a:p>
        </p:txBody>
      </p:sp>
      <p:sp>
        <p:nvSpPr>
          <p:cNvPr id="27" name="Model"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8" name="Icon FaUserCheck"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29"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30" name="Model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1F2A44"/>
                </a:solidFill>
              </a:rPr>
              <a:t>Why the order matters: </a:t>
            </a:r>
            <a:pPr indent="0" marL="0">
              <a:buNone/>
            </a:pPr>
            <a:r>
              <a:rPr lang="en-US" sz="1650" dirty="0">
                <a:solidFill>
                  <a:schemeClr val="tx2"/>
                </a:solidFill>
              </a:rPr>
              <a:t>someone who holds the six ideas understands why the help desk asks for verification, why a role is activated instead of held, and why a screenshot isn't evidence. Someone who doesn't feels every rule as friction.</a:t>
            </a:r>
            <a:endParaRPr lang="en-US" sz="1650" dirty="0"/>
          </a:p>
        </p:txBody>
      </p:sp>
      <p:sp>
        <p:nvSpPr>
          <p:cNvPr id="3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16, Chapters 01 (Education before training) and 09 (Orientation: education before training); Book 00, Chapter 04, Principle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compliance track teaches tracing</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822960"/>
                <a:gridCol w="2926080"/>
                <a:gridCol w="256032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Module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Evidence area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Anchor controls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47472">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0F766E"/>
                          </a:solidFill>
                          <a:latin typeface="Calibri" pitchFamily="34" charset="0"/>
                          <a:ea typeface="Calibri" pitchFamily="34" charset="-122"/>
                          <a:cs typeface="Calibri" pitchFamily="34" charset="-120"/>
                        </a:rPr>
                        <a:t>IA-2, IA-5, AC-2, AC-6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Addressing and inventory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0F766E"/>
                          </a:solidFill>
                          <a:latin typeface="Calibri" pitchFamily="34" charset="0"/>
                          <a:ea typeface="Calibri" pitchFamily="34" charset="-122"/>
                          <a:cs typeface="Calibri" pitchFamily="34" charset="-120"/>
                        </a:rPr>
                        <a:t>CM-8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Network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0F766E"/>
                          </a:solidFill>
                          <a:latin typeface="Calibri" pitchFamily="34" charset="0"/>
                          <a:ea typeface="Calibri" pitchFamily="34" charset="-122"/>
                          <a:cs typeface="Calibri" pitchFamily="34" charset="-120"/>
                        </a:rPr>
                        <a:t>SC-7, SC-8, AC-4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Telemetry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0F766E"/>
                          </a:solidFill>
                          <a:latin typeface="Calibri" pitchFamily="34" charset="0"/>
                          <a:ea typeface="Calibri" pitchFamily="34" charset="-122"/>
                          <a:cs typeface="Calibri" pitchFamily="34" charset="-120"/>
                        </a:rPr>
                        <a:t>CA-7, SI-4, AU-6, RA-5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Endpoint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0F766E"/>
                          </a:solidFill>
                          <a:latin typeface="Calibri" pitchFamily="34" charset="0"/>
                          <a:ea typeface="Calibri" pitchFamily="34" charset="-122"/>
                          <a:cs typeface="Calibri" pitchFamily="34" charset="-120"/>
                        </a:rPr>
                        <a:t>CM-8, IA-3, SI-2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Configuration, change, supply chain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0F766E"/>
                          </a:solidFill>
                          <a:latin typeface="Calibri" pitchFamily="34" charset="0"/>
                          <a:ea typeface="Calibri" pitchFamily="34" charset="-122"/>
                          <a:cs typeface="Calibri" pitchFamily="34" charset="-120"/>
                        </a:rPr>
                        <a:t>CM-2, CM-3, SR, PM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Continuity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0F766E"/>
                          </a:solidFill>
                          <a:latin typeface="Calibri" pitchFamily="34" charset="0"/>
                          <a:ea typeface="Calibri" pitchFamily="34" charset="-122"/>
                          <a:cs typeface="Calibri" pitchFamily="34" charset="-120"/>
                        </a:rPr>
                        <a:t>CP-2, CP-3, CP-4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Training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0F766E"/>
                          </a:solidFill>
                          <a:latin typeface="Calibri" pitchFamily="34" charset="0"/>
                          <a:ea typeface="Calibri" pitchFamily="34" charset="-122"/>
                          <a:cs typeface="Calibri" pitchFamily="34" charset="-120"/>
                        </a:rPr>
                        <a:t>AT-2, AT-3, AT-4, IR-2, CP-3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Zero box" descr="">
            <a:extLst>
              <a:ext uri="{C183D7F6-B498-43B3-948B-1728B52AA6E4}">
                <adec:decorative xmlns:adec="http://schemas.microsoft.com/office/drawing/2017/decorative" val="1"/>
              </a:ext>
            </a:extLst>
          </p:cNvPr>
          <p:cNvSpPr/>
          <p:nvPr/>
        </p:nvSpPr>
        <p:spPr>
          <a:xfrm>
            <a:off x="7086600" y="1371600"/>
            <a:ext cx="4572000" cy="3127248"/>
          </a:xfrm>
          <a:prstGeom prst="roundRect">
            <a:avLst>
              <a:gd name="adj" fmla="val 233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FileShield"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Zero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Module 0: four ideas</a:t>
            </a:r>
            <a:endParaRPr lang="en-US" sz="1700" dirty="0"/>
          </a:p>
        </p:txBody>
      </p:sp>
      <p:sp>
        <p:nvSpPr>
          <p:cNvPr id="10" name="Zero list"/>
          <p:cNvSpPr txBox="1"/>
          <p:nvPr/>
        </p:nvSpPr>
        <p:spPr>
          <a:xfrm>
            <a:off x="7315200" y="2212848"/>
            <a:ext cx="4206240" cy="2212848"/>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The RMF's seven steps, Prepare to Monitor</a:t>
            </a:r>
            <a:endParaRPr lang="en-US" sz="1400" dirty="0"/>
          </a:p>
          <a:p>
            <a:pPr marL="342900" indent="-342900">
              <a:spcAft>
                <a:spcPts val="600"/>
              </a:spcAft>
              <a:buSzPct val="100000"/>
              <a:buChar char="•"/>
            </a:pPr>
            <a:r>
              <a:rPr lang="en-US" sz="1300" dirty="0">
                <a:solidFill>
                  <a:schemeClr val="tx2"/>
                </a:solidFill>
              </a:rPr>
              <a:t>Who owes which proof; only the AO accepts risk</a:t>
            </a:r>
            <a:endParaRPr lang="en-US" sz="1400" dirty="0"/>
          </a:p>
          <a:p>
            <a:pPr marL="342900" indent="-342900">
              <a:spcAft>
                <a:spcPts val="600"/>
              </a:spcAft>
              <a:buSzPct val="100000"/>
              <a:buChar char="•"/>
            </a:pPr>
            <a:r>
              <a:rPr lang="en-US" sz="1300" dirty="0">
                <a:solidFill>
                  <a:schemeClr val="tx2"/>
                </a:solidFill>
              </a:rPr>
              <a:t>Moderate and FedRAMP Class C: two facts, not one</a:t>
            </a:r>
            <a:endParaRPr lang="en-US" sz="1400" dirty="0"/>
          </a:p>
          <a:p>
            <a:pPr marL="342900" indent="-342900">
              <a:spcAft>
                <a:spcPts val="600"/>
              </a:spcAft>
              <a:buSzPct val="100000"/>
              <a:buChar char="•"/>
            </a:pPr>
            <a:r>
              <a:rPr lang="en-US" sz="1300" dirty="0">
                <a:solidFill>
                  <a:schemeClr val="tx2"/>
                </a:solidFill>
              </a:rPr>
              <a:t>FedRAMP's 46 indicators bind providers</a:t>
            </a:r>
            <a:endParaRPr lang="en-US" sz="1400" dirty="0"/>
          </a:p>
        </p:txBody>
      </p:sp>
      <p:sp>
        <p:nvSpPr>
          <p:cNvPr id="11" name="Trace"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Trace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Trace in both directions: </a:t>
            </a:r>
            <a:pPr indent="0" marL="0">
              <a:buNone/>
            </a:pPr>
            <a:r>
              <a:rPr lang="en-US" sz="1650" dirty="0">
                <a:solidFill>
                  <a:schemeClr val="tx2"/>
                </a:solidFill>
              </a:rPr>
              <a:t>from a control to the mechanism, the book that built it, the record it emits and its place in the package; from a record back to its control and its date. A policy screenshot doesn't prove a sign-in was phishing-resistant.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RMF and SP 800-37 Rev. 2; FedRAMP 2026 rules (Agency Use; Key Security Indicators) and Notice NTC-0004; SP 800-53A Rev. 5; SP 800-137. Book 16,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Implementation: done means the evidence landed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Build 1" descr="">
            <a:extLst>
              <a:ext uri="{C183D7F6-B498-43B3-948B-1728B52AA6E4}">
                <adec:decorative xmlns:adec="http://schemas.microsoft.com/office/drawing/2017/decorative" val="1"/>
              </a:ext>
            </a:extLst>
          </p:cNvPr>
          <p:cNvSpPr/>
          <p:nvPr/>
        </p:nvSpPr>
        <p:spPr>
          <a:xfrm>
            <a:off x="548640" y="1371600"/>
            <a:ext cx="1756410"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Build 1 text"/>
          <p:cNvSpPr txBox="1"/>
          <p:nvPr/>
        </p:nvSpPr>
        <p:spPr>
          <a:xfrm>
            <a:off x="65836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0</a:t>
            </a:r>
            <a:endParaRPr lang="en-US" sz="1400" dirty="0"/>
          </a:p>
          <a:p>
            <a:pPr indent="0" marL="0">
              <a:buNone/>
            </a:pPr>
            <a:r>
              <a:rPr lang="en-US" sz="1400" b="1" dirty="0">
                <a:solidFill>
                  <a:srgbClr val="1F2A44"/>
                </a:solidFill>
              </a:rPr>
              <a:t>Orientation</a:t>
            </a:r>
            <a:endParaRPr lang="en-US" sz="1400" dirty="0"/>
          </a:p>
          <a:p>
            <a:pPr indent="0" marL="0">
              <a:buNone/>
            </a:pPr>
            <a:r>
              <a:rPr lang="en-US" sz="1200" dirty="0">
                <a:solidFill>
                  <a:schemeClr val="tx2"/>
                </a:solidFill>
              </a:rPr>
              <a:t>Books 00, 01</a:t>
            </a:r>
            <a:endParaRPr lang="en-US" sz="1400" dirty="0"/>
          </a:p>
        </p:txBody>
      </p:sp>
      <p:sp>
        <p:nvSpPr>
          <p:cNvPr id="7" name="Build 2" descr="">
            <a:extLst>
              <a:ext uri="{C183D7F6-B498-43B3-948B-1728B52AA6E4}">
                <adec:decorative xmlns:adec="http://schemas.microsoft.com/office/drawing/2017/decorative" val="1"/>
              </a:ext>
            </a:extLst>
          </p:cNvPr>
          <p:cNvSpPr/>
          <p:nvPr/>
        </p:nvSpPr>
        <p:spPr>
          <a:xfrm>
            <a:off x="2419350" y="1371600"/>
            <a:ext cx="1756410"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Build 2 text"/>
          <p:cNvSpPr txBox="1"/>
          <p:nvPr/>
        </p:nvSpPr>
        <p:spPr>
          <a:xfrm>
            <a:off x="252907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indent="0" marL="0">
              <a:buNone/>
            </a:pPr>
            <a:r>
              <a:rPr lang="en-US" sz="1400" b="1" dirty="0">
                <a:solidFill>
                  <a:srgbClr val="1F2A44"/>
                </a:solidFill>
              </a:rPr>
              <a:t>DNS and IPAM</a:t>
            </a:r>
            <a:endParaRPr lang="en-US" sz="1400" dirty="0"/>
          </a:p>
          <a:p>
            <a:pPr indent="0" marL="0">
              <a:buNone/>
            </a:pPr>
            <a:r>
              <a:rPr lang="en-US" sz="1200" dirty="0">
                <a:solidFill>
                  <a:schemeClr val="tx2"/>
                </a:solidFill>
              </a:rPr>
              <a:t>Book 08</a:t>
            </a:r>
            <a:endParaRPr lang="en-US" sz="1400" dirty="0"/>
          </a:p>
        </p:txBody>
      </p:sp>
      <p:sp>
        <p:nvSpPr>
          <p:cNvPr id="9" name="Build 3" descr="">
            <a:extLst>
              <a:ext uri="{C183D7F6-B498-43B3-948B-1728B52AA6E4}">
                <adec:decorative xmlns:adec="http://schemas.microsoft.com/office/drawing/2017/decorative" val="1"/>
              </a:ext>
            </a:extLst>
          </p:cNvPr>
          <p:cNvSpPr/>
          <p:nvPr/>
        </p:nvSpPr>
        <p:spPr>
          <a:xfrm>
            <a:off x="4290060" y="1371600"/>
            <a:ext cx="1756410"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Build 3 text"/>
          <p:cNvSpPr txBox="1"/>
          <p:nvPr/>
        </p:nvSpPr>
        <p:spPr>
          <a:xfrm>
            <a:off x="439978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indent="0" marL="0">
              <a:buNone/>
            </a:pPr>
            <a:r>
              <a:rPr lang="en-US" sz="1400" b="1" dirty="0">
                <a:solidFill>
                  <a:srgbClr val="1F2A44"/>
                </a:solidFill>
              </a:rPr>
              <a:t>Identity</a:t>
            </a:r>
            <a:endParaRPr lang="en-US" sz="1400" dirty="0"/>
          </a:p>
          <a:p>
            <a:pPr indent="0" marL="0">
              <a:buNone/>
            </a:pPr>
            <a:r>
              <a:rPr lang="en-US" sz="1200" dirty="0">
                <a:solidFill>
                  <a:schemeClr val="tx2"/>
                </a:solidFill>
              </a:rPr>
              <a:t>Books 02, 03</a:t>
            </a:r>
            <a:endParaRPr lang="en-US" sz="1400" dirty="0"/>
          </a:p>
        </p:txBody>
      </p:sp>
      <p:sp>
        <p:nvSpPr>
          <p:cNvPr id="11" name="Build 4" descr="">
            <a:extLst>
              <a:ext uri="{C183D7F6-B498-43B3-948B-1728B52AA6E4}">
                <adec:decorative xmlns:adec="http://schemas.microsoft.com/office/drawing/2017/decorative" val="1"/>
              </a:ext>
            </a:extLst>
          </p:cNvPr>
          <p:cNvSpPr/>
          <p:nvPr/>
        </p:nvSpPr>
        <p:spPr>
          <a:xfrm>
            <a:off x="6160770" y="1371600"/>
            <a:ext cx="1756410"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Build 4 text"/>
          <p:cNvSpPr txBox="1"/>
          <p:nvPr/>
        </p:nvSpPr>
        <p:spPr>
          <a:xfrm>
            <a:off x="627049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3–4</a:t>
            </a:r>
            <a:endParaRPr lang="en-US" sz="1400" dirty="0"/>
          </a:p>
          <a:p>
            <a:pPr indent="0" marL="0">
              <a:buNone/>
            </a:pPr>
            <a:r>
              <a:rPr lang="en-US" sz="1400" b="1" dirty="0">
                <a:solidFill>
                  <a:srgbClr val="1F2A44"/>
                </a:solidFill>
              </a:rPr>
              <a:t>Certificates, access</a:t>
            </a:r>
            <a:endParaRPr lang="en-US" sz="1400" dirty="0"/>
          </a:p>
          <a:p>
            <a:pPr indent="0" marL="0">
              <a:buNone/>
            </a:pPr>
            <a:r>
              <a:rPr lang="en-US" sz="1200" dirty="0">
                <a:solidFill>
                  <a:schemeClr val="tx2"/>
                </a:solidFill>
              </a:rPr>
              <a:t>Books 07, 04</a:t>
            </a:r>
            <a:endParaRPr lang="en-US" sz="1400" dirty="0"/>
          </a:p>
        </p:txBody>
      </p:sp>
      <p:sp>
        <p:nvSpPr>
          <p:cNvPr id="13" name="Build 5" descr="">
            <a:extLst>
              <a:ext uri="{C183D7F6-B498-43B3-948B-1728B52AA6E4}">
                <adec:decorative xmlns:adec="http://schemas.microsoft.com/office/drawing/2017/decorative" val="1"/>
              </a:ext>
            </a:extLst>
          </p:cNvPr>
          <p:cNvSpPr/>
          <p:nvPr/>
        </p:nvSpPr>
        <p:spPr>
          <a:xfrm>
            <a:off x="8031480" y="1371600"/>
            <a:ext cx="1756410"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Build 5 text"/>
          <p:cNvSpPr txBox="1"/>
          <p:nvPr/>
        </p:nvSpPr>
        <p:spPr>
          <a:xfrm>
            <a:off x="814120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6–7</a:t>
            </a:r>
            <a:endParaRPr lang="en-US" sz="1400" dirty="0"/>
          </a:p>
          <a:p>
            <a:pPr indent="0" marL="0">
              <a:buNone/>
            </a:pPr>
            <a:r>
              <a:rPr lang="en-US" sz="1400" b="1" dirty="0">
                <a:solidFill>
                  <a:srgbClr val="1F2A44"/>
                </a:solidFill>
              </a:rPr>
              <a:t>Network, then data</a:t>
            </a:r>
            <a:endParaRPr lang="en-US" sz="1400" dirty="0"/>
          </a:p>
          <a:p>
            <a:pPr indent="0" marL="0">
              <a:buNone/>
            </a:pPr>
            <a:r>
              <a:rPr lang="en-US" sz="1200" dirty="0">
                <a:solidFill>
                  <a:schemeClr val="tx2"/>
                </a:solidFill>
              </a:rPr>
              <a:t>Books 09, 06</a:t>
            </a:r>
            <a:endParaRPr lang="en-US" sz="1400" dirty="0"/>
          </a:p>
        </p:txBody>
      </p:sp>
      <p:sp>
        <p:nvSpPr>
          <p:cNvPr id="15" name="Build 6" descr="">
            <a:extLst>
              <a:ext uri="{C183D7F6-B498-43B3-948B-1728B52AA6E4}">
                <adec:decorative xmlns:adec="http://schemas.microsoft.com/office/drawing/2017/decorative" val="1"/>
              </a:ext>
            </a:extLst>
          </p:cNvPr>
          <p:cNvSpPr/>
          <p:nvPr/>
        </p:nvSpPr>
        <p:spPr>
          <a:xfrm>
            <a:off x="9902190" y="1371600"/>
            <a:ext cx="1756410"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Build 6 text"/>
          <p:cNvSpPr txBox="1"/>
          <p:nvPr/>
        </p:nvSpPr>
        <p:spPr>
          <a:xfrm>
            <a:off x="1001191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10</a:t>
            </a:r>
            <a:endParaRPr lang="en-US" sz="1400" dirty="0"/>
          </a:p>
          <a:p>
            <a:pPr indent="0" marL="0">
              <a:buNone/>
            </a:pPr>
            <a:r>
              <a:rPr lang="en-US" sz="1400" b="1" dirty="0">
                <a:solidFill>
                  <a:srgbClr val="1F2A44"/>
                </a:solidFill>
              </a:rPr>
              <a:t>Day two</a:t>
            </a:r>
            <a:endParaRPr lang="en-US" sz="1400" dirty="0"/>
          </a:p>
          <a:p>
            <a:pPr indent="0" marL="0">
              <a:buNone/>
            </a:pPr>
            <a:r>
              <a:rPr lang="en-US" sz="1200" dirty="0">
                <a:solidFill>
                  <a:schemeClr val="tx2"/>
                </a:solidFill>
              </a:rPr>
              <a:t>Book 15, last</a:t>
            </a:r>
            <a:endParaRPr lang="en-US" sz="1400" dirty="0"/>
          </a:p>
        </p:txBody>
      </p:sp>
      <p:sp>
        <p:nvSpPr>
          <p:cNvPr id="17" name="Panel 1" descr="">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Icon FaListCheck" descr="">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84967"/>
            <a:ext cx="266273" cy="266273"/>
          </a:xfrm>
          <a:prstGeom prst="rect">
            <a:avLst/>
          </a:prstGeom>
        </p:spPr>
      </p:pic>
      <p:sp>
        <p:nvSpPr>
          <p:cNvPr id="20" name="Panel head 1"/>
          <p:cNvSpPr txBox="1"/>
          <p:nvPr/>
        </p:nvSpPr>
        <p:spPr>
          <a:xfrm>
            <a:off x="1417320" y="2862072"/>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Three habits every lab teaches</a:t>
            </a:r>
            <a:endParaRPr lang="en-US" sz="1700" dirty="0"/>
          </a:p>
        </p:txBody>
      </p:sp>
      <p:sp>
        <p:nvSpPr>
          <p:cNvPr id="21"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Observe first: report-only, monitor and shadow modes</a:t>
            </a:r>
            <a:endParaRPr lang="en-US" sz="1400" dirty="0"/>
          </a:p>
          <a:p>
            <a:pPr marL="342900" indent="-342900">
              <a:spcAft>
                <a:spcPts val="200"/>
              </a:spcAft>
              <a:buSzPct val="100000"/>
              <a:buChar char="•"/>
            </a:pPr>
            <a:r>
              <a:rPr lang="en-US" sz="1300" dirty="0">
                <a:solidFill>
                  <a:schemeClr val="tx2"/>
                </a:solidFill>
              </a:rPr>
              <a:t>Keep a way back in: emergency access accounts first</a:t>
            </a:r>
            <a:endParaRPr lang="en-US" sz="1400" dirty="0"/>
          </a:p>
          <a:p>
            <a:pPr marL="342900" indent="-342900">
              <a:spcAft>
                <a:spcPts val="200"/>
              </a:spcAft>
              <a:buSzPct val="100000"/>
              <a:buChar char="•"/>
            </a:pPr>
            <a:r>
              <a:rPr lang="en-US" sz="1300" dirty="0">
                <a:solidFill>
                  <a:schemeClr val="tx2"/>
                </a:solidFill>
              </a:rPr>
              <a:t>Export the record, not a screenshot</a:t>
            </a:r>
            <a:endParaRPr lang="en-US" sz="1400" dirty="0"/>
          </a:p>
        </p:txBody>
      </p:sp>
      <p:sp>
        <p:nvSpPr>
          <p:cNvPr id="22" name="Panel 2" descr="">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3" name="Icon FaBook" desc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84967"/>
            <a:ext cx="266273" cy="266273"/>
          </a:xfrm>
          <a:prstGeom prst="rect">
            <a:avLst/>
          </a:prstGeom>
        </p:spPr>
      </p:pic>
      <p:sp>
        <p:nvSpPr>
          <p:cNvPr id="25" name="Panel head 2"/>
          <p:cNvSpPr txBox="1"/>
          <p:nvPr/>
        </p:nvSpPr>
        <p:spPr>
          <a:xfrm>
            <a:off x="7040880" y="2862072"/>
            <a:ext cx="4480560" cy="512064"/>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Certifications: examples, not proof</a:t>
            </a:r>
            <a:endParaRPr lang="en-US" sz="1700" dirty="0"/>
          </a:p>
        </p:txBody>
      </p:sp>
      <p:sp>
        <p:nvSpPr>
          <p:cNvPr id="26"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AZ-500 retired Aug. 31, 2026; SC-500 replaced it</a:t>
            </a:r>
            <a:endParaRPr lang="en-US" sz="1400" dirty="0"/>
          </a:p>
          <a:p>
            <a:pPr marL="342900" indent="-342900">
              <a:spcAft>
                <a:spcPts val="200"/>
              </a:spcAft>
              <a:buSzPct val="100000"/>
              <a:buChar char="•"/>
            </a:pPr>
            <a:r>
              <a:rPr lang="en-US" sz="1300" dirty="0">
                <a:solidFill>
                  <a:schemeClr val="tx2"/>
                </a:solidFill>
              </a:rPr>
              <a:t>AZ-800 and AZ-801 retired Sept. 30; AZ-802 is current</a:t>
            </a:r>
            <a:endParaRPr lang="en-US" sz="1400" dirty="0"/>
          </a:p>
          <a:p>
            <a:pPr marL="342900" indent="-342900">
              <a:spcAft>
                <a:spcPts val="200"/>
              </a:spcAft>
              <a:buSzPct val="100000"/>
              <a:buChar char="•"/>
            </a:pPr>
            <a:r>
              <a:rPr lang="en-US" sz="1300" dirty="0">
                <a:solidFill>
                  <a:schemeClr val="tx2"/>
                </a:solidFill>
              </a:rPr>
              <a:t>Microsoft certifications expire every year</a:t>
            </a:r>
            <a:endParaRPr lang="en-US" sz="1400" dirty="0"/>
          </a:p>
        </p:txBody>
      </p:sp>
      <p:sp>
        <p:nvSpPr>
          <p:cNvPr id="27" name="Done"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8" name="Icon FaClipboardCheck"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29"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30" name="Done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1F2A44"/>
                </a:solidFill>
              </a:rPr>
              <a:t>A module is done when it works and its evidence has landed: </a:t>
            </a:r>
            <a:pPr indent="0" marL="0">
              <a:buNone/>
            </a:pPr>
            <a:r>
              <a:rPr lang="en-US" sz="1650" dirty="0">
                <a:solidFill>
                  <a:schemeClr val="tx2"/>
                </a:solidFill>
              </a:rPr>
              <a:t>a re-run of the check reads the learner's own record. Devices, the cloud platform and security operations (modules 5, 8, 9) run in parallel once identity exists.</a:t>
            </a:r>
            <a:endParaRPr lang="en-US" sz="1650" dirty="0"/>
          </a:p>
        </p:txBody>
      </p:sp>
      <p:sp>
        <p:nvSpPr>
          <p:cNvPr id="3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(Plan a Conditional Access deployment; emergency access accounts; exam and course retirement, Oct. 22, 2026; certification renewal). Book 16,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Certify what people can show</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Scale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ONE FOUR-LEVEL SCALE FOR EVERY CAPSTONE</a:t>
            </a:r>
            <a:endParaRPr lang="en-US" sz="1200" dirty="0"/>
          </a:p>
        </p:txBody>
      </p:sp>
      <p:sp>
        <p:nvSpPr>
          <p:cNvPr id="6" name="Scale 0" descr="">
            <a:extLst>
              <a:ext uri="{C183D7F6-B498-43B3-948B-1728B52AA6E4}">
                <adec:decorative xmlns:adec="http://schemas.microsoft.com/office/drawing/2017/decorative" val="1"/>
              </a:ext>
            </a:extLst>
          </p:cNvPr>
          <p:cNvSpPr/>
          <p:nvPr/>
        </p:nvSpPr>
        <p:spPr>
          <a:xfrm>
            <a:off x="548640" y="1783080"/>
            <a:ext cx="5669280" cy="640080"/>
          </a:xfrm>
          <a:prstGeom prst="roundRect">
            <a:avLst>
              <a:gd name="adj" fmla="val 1142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Scale 0 text"/>
          <p:cNvSpPr txBox="1"/>
          <p:nvPr/>
        </p:nvSpPr>
        <p:spPr>
          <a:xfrm>
            <a:off x="731520" y="1783080"/>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0  Missing   </a:t>
            </a:r>
            <a:pPr indent="0" marL="0">
              <a:buNone/>
            </a:pPr>
            <a:r>
              <a:rPr lang="en-US" sz="1400" dirty="0">
                <a:solidFill>
                  <a:schemeClr val="tx2"/>
                </a:solidFill>
              </a:rPr>
              <a:t>Not addressed, or no tie to the books</a:t>
            </a:r>
            <a:endParaRPr lang="en-US" sz="1400" dirty="0"/>
          </a:p>
        </p:txBody>
      </p:sp>
      <p:sp>
        <p:nvSpPr>
          <p:cNvPr id="8" name="Scale 1" descr="">
            <a:extLst>
              <a:ext uri="{C183D7F6-B498-43B3-948B-1728B52AA6E4}">
                <adec:decorative xmlns:adec="http://schemas.microsoft.com/office/drawing/2017/decorative" val="1"/>
              </a:ext>
            </a:extLst>
          </p:cNvPr>
          <p:cNvSpPr/>
          <p:nvPr/>
        </p:nvSpPr>
        <p:spPr>
          <a:xfrm>
            <a:off x="548640" y="2514600"/>
            <a:ext cx="5669280" cy="640080"/>
          </a:xfrm>
          <a:prstGeom prst="roundRect">
            <a:avLst>
              <a:gd name="adj" fmla="val 1142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Scale 1 text"/>
          <p:cNvSpPr txBox="1"/>
          <p:nvPr/>
        </p:nvSpPr>
        <p:spPr>
          <a:xfrm>
            <a:off x="731520" y="2514600"/>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1  Named   </a:t>
            </a:r>
            <a:pPr indent="0" marL="0">
              <a:buNone/>
            </a:pPr>
            <a:r>
              <a:rPr lang="en-US" sz="1400" dirty="0">
                <a:solidFill>
                  <a:schemeClr val="tx2"/>
                </a:solidFill>
              </a:rPr>
              <a:t>Right books; controls or evidence wrong</a:t>
            </a:r>
            <a:endParaRPr lang="en-US" sz="1400" dirty="0"/>
          </a:p>
        </p:txBody>
      </p:sp>
      <p:sp>
        <p:nvSpPr>
          <p:cNvPr id="10" name="Scale 2" descr="">
            <a:extLst>
              <a:ext uri="{C183D7F6-B498-43B3-948B-1728B52AA6E4}">
                <adec:decorative xmlns:adec="http://schemas.microsoft.com/office/drawing/2017/decorative" val="1"/>
              </a:ext>
            </a:extLst>
          </p:cNvPr>
          <p:cNvSpPr/>
          <p:nvPr/>
        </p:nvSpPr>
        <p:spPr>
          <a:xfrm>
            <a:off x="548640" y="3246120"/>
            <a:ext cx="5669280" cy="640080"/>
          </a:xfrm>
          <a:prstGeom prst="roundRect">
            <a:avLst>
              <a:gd name="adj" fmla="val 1142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Scale 2 text"/>
          <p:cNvSpPr txBox="1"/>
          <p:nvPr/>
        </p:nvSpPr>
        <p:spPr>
          <a:xfrm>
            <a:off x="731520" y="3246120"/>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2  Traced   </a:t>
            </a:r>
            <a:pPr indent="0" marL="0">
              <a:buNone/>
            </a:pPr>
            <a:r>
              <a:rPr lang="en-US" sz="1400" dirty="0">
                <a:solidFill>
                  <a:schemeClr val="tx2"/>
                </a:solidFill>
              </a:rPr>
              <a:t>Book to control to evidence source, correct</a:t>
            </a:r>
            <a:endParaRPr lang="en-US" sz="1400" dirty="0"/>
          </a:p>
        </p:txBody>
      </p:sp>
      <p:sp>
        <p:nvSpPr>
          <p:cNvPr id="12" name="Scale 3" descr="">
            <a:extLst>
              <a:ext uri="{C183D7F6-B498-43B3-948B-1728B52AA6E4}">
                <adec:decorative xmlns:adec="http://schemas.microsoft.com/office/drawing/2017/decorative" val="1"/>
              </a:ext>
            </a:extLst>
          </p:cNvPr>
          <p:cNvSpPr/>
          <p:nvPr/>
        </p:nvSpPr>
        <p:spPr>
          <a:xfrm>
            <a:off x="548640" y="3977640"/>
            <a:ext cx="5669280" cy="640080"/>
          </a:xfrm>
          <a:prstGeom prst="roundRect">
            <a:avLst>
              <a:gd name="adj" fmla="val 1142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Scale 3 text"/>
          <p:cNvSpPr txBox="1"/>
          <p:nvPr/>
        </p:nvSpPr>
        <p:spPr>
          <a:xfrm>
            <a:off x="731520" y="3977640"/>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3  Assessor-ready   </a:t>
            </a:r>
            <a:pPr indent="0" marL="0">
              <a:buNone/>
            </a:pPr>
            <a:r>
              <a:rPr lang="en-US" sz="1400" dirty="0">
                <a:solidFill>
                  <a:schemeClr val="tx2"/>
                </a:solidFill>
              </a:rPr>
              <a:t>A real, dated result; gaps stated honestly</a:t>
            </a:r>
            <a:endParaRPr lang="en-US" sz="1400" dirty="0"/>
          </a:p>
        </p:txBody>
      </p:sp>
      <p:sp>
        <p:nvSpPr>
          <p:cNvPr id="14" name="Cred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Icon FaIdCard"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17" name="Cred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TWO PROGRAM CREDENTIALS</a:t>
            </a:r>
            <a:endParaRPr lang="en-US" sz="1400" dirty="0"/>
          </a:p>
          <a:p>
            <a:pPr indent="0" marL="0">
              <a:buNone/>
            </a:pPr>
            <a:r>
              <a:rPr lang="en-US" sz="1800" b="1" dirty="0">
                <a:solidFill>
                  <a:srgbClr val="0F766E"/>
                </a:solidFill>
                <a:latin typeface="Cambria" pitchFamily="34" charset="0"/>
                <a:ea typeface="Cambria" pitchFamily="34" charset="-122"/>
                <a:cs typeface="Cambria" pitchFamily="34" charset="-120"/>
              </a:rPr>
              <a:t>Earned with artifacts</a:t>
            </a:r>
            <a:endParaRPr lang="en-US" sz="1400" dirty="0"/>
          </a:p>
        </p:txBody>
      </p:sp>
      <p:sp>
        <p:nvSpPr>
          <p:cNvPr id="18" name="Cred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Practitioner: implementation capstone and the exam for its area</a:t>
            </a:r>
            <a:endParaRPr lang="en-US" sz="1400" dirty="0"/>
          </a:p>
          <a:p>
            <a:pPr marL="342900" indent="-342900">
              <a:spcAft>
                <a:spcPts val="600"/>
              </a:spcAft>
              <a:buSzPct val="100000"/>
              <a:buChar char="•"/>
            </a:pPr>
            <a:r>
              <a:rPr lang="en-US" sz="1400" dirty="0">
                <a:solidFill>
                  <a:schemeClr val="tx2"/>
                </a:solidFill>
              </a:rPr>
              <a:t>Assessor: the full exam and the compliance capstone, or scores within one level of a second assessor</a:t>
            </a:r>
            <a:endParaRPr lang="en-US" sz="1400" dirty="0"/>
          </a:p>
          <a:p>
            <a:pPr marL="342900" indent="-342900">
              <a:spcAft>
                <a:spcPts val="600"/>
              </a:spcAft>
              <a:buSzPct val="100000"/>
              <a:buChar char="•"/>
            </a:pPr>
            <a:r>
              <a:rPr lang="en-US" sz="1400" dirty="0">
                <a:solidFill>
                  <a:schemeClr val="tx2"/>
                </a:solidFill>
              </a:rPr>
              <a:t>Both expire after 12 months, or when the procedure changes</a:t>
            </a:r>
            <a:endParaRPr lang="en-US" sz="1400" dirty="0"/>
          </a:p>
        </p:txBody>
      </p:sp>
      <p:sp>
        <p:nvSpPr>
          <p:cNvPr id="19" name="Bar" descr="">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0" name="Icon FaClipboardCheck" descr="">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0F766E"/>
          </a:solidFill>
          <a:ln w="12700">
            <a:solidFill>
              <a:srgbClr val="0F766E"/>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27625"/>
            <a:ext cx="380390" cy="380390"/>
          </a:xfrm>
          <a:prstGeom prst="rect">
            <a:avLst/>
          </a:prstGeom>
        </p:spPr>
      </p:pic>
      <p:sp>
        <p:nvSpPr>
          <p:cNvPr id="22" name="Bar text"/>
          <p:cNvSpPr txBox="1"/>
          <p:nvPr/>
        </p:nvSpPr>
        <p:spPr>
          <a:xfrm>
            <a:off x="1737360" y="4937760"/>
            <a:ext cx="9738360" cy="960120"/>
          </a:xfrm>
          <a:prstGeom prst="rect">
            <a:avLst/>
          </a:prstGeom>
          <a:noFill/>
          <a:ln/>
        </p:spPr>
        <p:txBody>
          <a:bodyPr wrap="square" lIns="0" tIns="0" rIns="0" bIns="0" rtlCol="0" anchor="ctr"/>
          <a:lstStyle/>
          <a:p>
            <a:pPr indent="0" marL="0">
              <a:buNone/>
            </a:pPr>
            <a:r>
              <a:rPr lang="en-US" sz="1650" b="1" dirty="0">
                <a:solidFill>
                  <a:srgbClr val="0F766E"/>
                </a:solidFill>
              </a:rPr>
              <a:t>Pass bar: every area at 2, three at 3, and all four checks. </a:t>
            </a:r>
            <a:pPr indent="0" marL="0">
              <a:buNone/>
            </a:pPr>
            <a:r>
              <a:rPr lang="en-US" sz="1650" dirty="0">
                <a:solidFill>
                  <a:schemeClr val="tx2"/>
                </a:solidFill>
              </a:rPr>
              <a:t>A no-findings after-action report scores 0, and so does a percentage with no per-person records. An industry certification can waive a module, never a capstone.</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A-130, Appendix I §4.h; NIST SP 800-50 Rev. 1 (Kirkpatrick Level 2); SP 800-53 Rev. 5 release 5.2.0 and SP 800-53B; Microsoft Learn renewal FAQ. Book 16,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Vendor training, and labs that can't hurt production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olumn 1" descr="">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Filter" descr="">
            <a:extLst>
              <a:ext uri="{C183D7F6-B498-43B3-948B-1728B52AA6E4}">
                <adec:decorative xmlns:adec="http://schemas.microsoft.com/office/drawing/2017/decorative" val="1"/>
              </a:ext>
            </a:extLst>
          </p:cNvPr>
          <p:cNvSpPr/>
          <p:nvPr/>
        </p:nvSpPr>
        <p:spPr>
          <a:xfrm>
            <a:off x="777240" y="1536192"/>
            <a:ext cx="621792" cy="621792"/>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26470" y="1685422"/>
            <a:ext cx="323332" cy="323332"/>
          </a:xfrm>
          <a:prstGeom prst="rect">
            <a:avLst/>
          </a:prstGeom>
        </p:spPr>
      </p:pic>
      <p:sp>
        <p:nvSpPr>
          <p:cNvPr id="8" name="Column head 1"/>
          <p:cNvSpPr txBox="1"/>
          <p:nvPr/>
        </p:nvSpPr>
        <p:spPr>
          <a:xfrm>
            <a:off x="1572768" y="1517904"/>
            <a:ext cx="4343400" cy="685800"/>
          </a:xfrm>
          <a:prstGeom prst="rect">
            <a:avLst/>
          </a:prstGeom>
          <a:noFill/>
          <a:ln/>
        </p:spPr>
        <p:txBody>
          <a:bodyPr wrap="square" lIns="0" tIns="0" rIns="0" bIns="0" rtlCol="0" anchor="ctr"/>
          <a:lstStyle/>
          <a:p>
            <a:pPr indent="0" marL="0">
              <a:buNone/>
            </a:pPr>
            <a:r>
              <a:rPr lang="en-US" sz="1200" b="1" dirty="0">
                <a:solidFill>
                  <a:srgbClr val="64748B"/>
                </a:solidFill>
              </a:rPr>
              <a:t>CHOOSING VENDOR TRAINING</a:t>
            </a:r>
            <a:endParaRPr lang="en-US" sz="1400" dirty="0"/>
          </a:p>
          <a:p>
            <a:pPr indent="0" marL="0">
              <a:buNone/>
            </a:pPr>
            <a:r>
              <a:rPr lang="en-US" sz="1800" b="1" dirty="0">
                <a:solidFill>
                  <a:srgbClr val="1F2A44"/>
                </a:solidFill>
                <a:latin typeface="Cambria" pitchFamily="34" charset="0"/>
                <a:ea typeface="Cambria" pitchFamily="34" charset="-122"/>
                <a:cs typeface="Cambria" pitchFamily="34" charset="-120"/>
              </a:rPr>
              <a:t>Four tests, free or paid</a:t>
            </a:r>
            <a:endParaRPr lang="en-US" sz="1400" dirty="0"/>
          </a:p>
        </p:txBody>
      </p:sp>
      <p:sp>
        <p:nvSpPr>
          <p:cNvPr id="9" name="Column text 1"/>
          <p:cNvSpPr txBox="1"/>
          <p:nvPr/>
        </p:nvSpPr>
        <p:spPr>
          <a:xfrm>
            <a:off x="82296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It maps to a book procedure</a:t>
            </a:r>
            <a:endParaRPr lang="en-US" sz="1400" dirty="0"/>
          </a:p>
          <a:p>
            <a:pPr marL="342900" indent="-342900">
              <a:spcAft>
                <a:spcPts val="600"/>
              </a:spcAft>
              <a:buSzPct val="100000"/>
              <a:buChar char="•"/>
            </a:pPr>
            <a:r>
              <a:rPr lang="en-US" sz="1400" dirty="0">
                <a:solidFill>
                  <a:schemeClr val="tx2"/>
                </a:solidFill>
              </a:rPr>
              <a:t>It is current; vendors retire courses often</a:t>
            </a:r>
            <a:endParaRPr lang="en-US" sz="1400" dirty="0"/>
          </a:p>
          <a:p>
            <a:pPr marL="342900" indent="-342900">
              <a:spcAft>
                <a:spcPts val="600"/>
              </a:spcAft>
              <a:buSzPct val="100000"/>
              <a:buChar char="•"/>
            </a:pPr>
            <a:r>
              <a:rPr lang="en-US" sz="1400" dirty="0">
                <a:solidFill>
                  <a:schemeClr val="tx2"/>
                </a:solidFill>
              </a:rPr>
              <a:t>The agency can keep the completion record</a:t>
            </a:r>
            <a:endParaRPr lang="en-US" sz="1400" dirty="0"/>
          </a:p>
          <a:p>
            <a:pPr marL="342900" indent="-342900">
              <a:spcAft>
                <a:spcPts val="600"/>
              </a:spcAft>
              <a:buSzPct val="100000"/>
              <a:buChar char="•"/>
            </a:pPr>
            <a:r>
              <a:rPr lang="en-US" sz="1400" dirty="0">
                <a:solidFill>
                  <a:schemeClr val="tx2"/>
                </a:solidFill>
              </a:rPr>
              <a:t>Its handling of learner data is known</a:t>
            </a:r>
            <a:endParaRPr lang="en-US" sz="1400" dirty="0"/>
          </a:p>
        </p:txBody>
      </p:sp>
      <p:sp>
        <p:nvSpPr>
          <p:cNvPr id="10" name="Column 2" descr="">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Laptop" descr="">
            <a:extLst>
              <a:ext uri="{C183D7F6-B498-43B3-948B-1728B52AA6E4}">
                <adec:decorative xmlns:adec="http://schemas.microsoft.com/office/drawing/2017/decorative" val="1"/>
              </a:ext>
            </a:extLst>
          </p:cNvPr>
          <p:cNvSpPr/>
          <p:nvPr/>
        </p:nvSpPr>
        <p:spPr>
          <a:xfrm>
            <a:off x="6400800" y="1536192"/>
            <a:ext cx="621792" cy="621792"/>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50030" y="1685422"/>
            <a:ext cx="323332" cy="323332"/>
          </a:xfrm>
          <a:prstGeom prst="rect">
            <a:avLst/>
          </a:prstGeom>
        </p:spPr>
      </p:pic>
      <p:sp>
        <p:nvSpPr>
          <p:cNvPr id="13" name="Column head 2"/>
          <p:cNvSpPr txBox="1"/>
          <p:nvPr/>
        </p:nvSpPr>
        <p:spPr>
          <a:xfrm>
            <a:off x="7196328" y="1517904"/>
            <a:ext cx="4343400" cy="685800"/>
          </a:xfrm>
          <a:prstGeom prst="rect">
            <a:avLst/>
          </a:prstGeom>
          <a:noFill/>
          <a:ln/>
        </p:spPr>
        <p:txBody>
          <a:bodyPr wrap="square" lIns="0" tIns="0" rIns="0" bIns="0" rtlCol="0" anchor="ctr"/>
          <a:lstStyle/>
          <a:p>
            <a:pPr indent="0" marL="0">
              <a:buNone/>
            </a:pPr>
            <a:r>
              <a:rPr lang="en-US" sz="1200" b="1" dirty="0">
                <a:solidFill>
                  <a:srgbClr val="64748B"/>
                </a:solidFill>
              </a:rPr>
              <a:t>WHERE LABS RUN</a:t>
            </a:r>
            <a:endParaRPr lang="en-US" sz="1400" dirty="0"/>
          </a:p>
          <a:p>
            <a:pPr indent="0" marL="0">
              <a:buNone/>
            </a:pPr>
            <a:r>
              <a:rPr lang="en-US" sz="1800" b="1" dirty="0">
                <a:solidFill>
                  <a:srgbClr val="0F766E"/>
                </a:solidFill>
                <a:latin typeface="Cambria" pitchFamily="34" charset="0"/>
                <a:ea typeface="Cambria" pitchFamily="34" charset="-122"/>
                <a:cs typeface="Cambria" pitchFamily="34" charset="-120"/>
              </a:rPr>
              <a:t>Arranged by the program office</a:t>
            </a:r>
            <a:endParaRPr lang="en-US" sz="1400" dirty="0"/>
          </a:p>
        </p:txBody>
      </p:sp>
      <p:sp>
        <p:nvSpPr>
          <p:cNvPr id="14" name="Column text 2"/>
          <p:cNvSpPr txBox="1"/>
          <p:nvPr/>
        </p:nvSpPr>
        <p:spPr>
          <a:xfrm>
            <a:off x="644652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Microsoft Learn's free sandboxes are gone</a:t>
            </a:r>
            <a:endParaRPr lang="en-US" sz="1400" dirty="0"/>
          </a:p>
          <a:p>
            <a:pPr marL="342900" indent="-342900">
              <a:spcAft>
                <a:spcPts val="600"/>
              </a:spcAft>
              <a:buSzPct val="100000"/>
              <a:buChar char="•"/>
            </a:pPr>
            <a:r>
              <a:rPr lang="en-US" sz="1400" dirty="0">
                <a:solidFill>
                  <a:schemeClr val="tx2"/>
                </a:solidFill>
              </a:rPr>
              <a:t>Developer sandbox: eligibility limits; no government cloud</a:t>
            </a:r>
            <a:endParaRPr lang="en-US" sz="1400" dirty="0"/>
          </a:p>
          <a:p>
            <a:pPr marL="342900" indent="-342900">
              <a:spcAft>
                <a:spcPts val="600"/>
              </a:spcAft>
              <a:buSzPct val="100000"/>
              <a:buChar char="•"/>
            </a:pPr>
            <a:r>
              <a:rPr lang="en-US" sz="1400" dirty="0">
                <a:solidFill>
                  <a:schemeClr val="tx2"/>
                </a:solidFill>
              </a:rPr>
              <a:t>No free sandbox in GCC High or DoD</a:t>
            </a:r>
            <a:endParaRPr lang="en-US" sz="1400" dirty="0"/>
          </a:p>
          <a:p>
            <a:pPr marL="342900" indent="-342900">
              <a:spcAft>
                <a:spcPts val="600"/>
              </a:spcAft>
              <a:buSzPct val="100000"/>
              <a:buChar char="•"/>
            </a:pPr>
            <a:r>
              <a:rPr lang="en-US" sz="1400" dirty="0">
                <a:solidFill>
                  <a:schemeClr val="tx2"/>
                </a:solidFill>
              </a:rPr>
              <a:t>Rehearse once in a non-production government tenant</a:t>
            </a:r>
            <a:endParaRPr lang="en-US" sz="1400" dirty="0"/>
          </a:p>
        </p:txBody>
      </p:sp>
      <p:sp>
        <p:nvSpPr>
          <p:cNvPr id="15" name="Rules"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6" name="Icon FaLoc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8" name="Rules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0F766E"/>
                </a:solidFill>
              </a:rPr>
              <a:t>Rules for every lab: </a:t>
            </a:r>
            <a:pPr indent="0" marL="0">
              <a:buNone/>
            </a:pPr>
            <a:r>
              <a:rPr lang="en-US" sz="1650" dirty="0">
                <a:solidFill>
                  <a:schemeClr val="tx2"/>
                </a:solidFill>
              </a:rPr>
              <a:t>never production; emergency access first; observe before enforcing; no sync or federation with production; synthetic data only; tear it down. A lab holding production data has become a production system.</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800-50 Rev. 1; SP 800-53 Rev. 5 (CM-4(1), SA-3(2)); Microsoft Learn (M365 Developer Program; Learn FAQ; government trials; SC-401 registration). Book 16,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Every user signs in differently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Mod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SIX END-USER MODULES, EACH ENDING IN SOMETHING THE USER DOES</a:t>
            </a:r>
            <a:endParaRPr lang="en-US" sz="1200" dirty="0"/>
          </a:p>
        </p:txBody>
      </p:sp>
      <p:sp>
        <p:nvSpPr>
          <p:cNvPr id="6" name="Mod 0" descr="">
            <a:extLst>
              <a:ext uri="{C183D7F6-B498-43B3-948B-1728B52AA6E4}">
                <adec:decorative xmlns:adec="http://schemas.microsoft.com/office/drawing/2017/decorative" val="1"/>
              </a:ext>
            </a:extLst>
          </p:cNvPr>
          <p:cNvSpPr/>
          <p:nvPr/>
        </p:nvSpPr>
        <p:spPr>
          <a:xfrm>
            <a:off x="548640" y="1755648"/>
            <a:ext cx="5669280" cy="457200"/>
          </a:xfrm>
          <a:prstGeom prst="roundRect">
            <a:avLst>
              <a:gd name="adj" fmla="val 16000"/>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Mod 0 text"/>
          <p:cNvSpPr txBox="1"/>
          <p:nvPr/>
        </p:nvSpPr>
        <p:spPr>
          <a:xfrm>
            <a:off x="731520" y="1755648"/>
            <a:ext cx="5394960" cy="457200"/>
          </a:xfrm>
          <a:prstGeom prst="rect">
            <a:avLst/>
          </a:prstGeom>
          <a:noFill/>
          <a:ln/>
        </p:spPr>
        <p:txBody>
          <a:bodyPr wrap="square" lIns="0" tIns="0" rIns="0" bIns="0" rtlCol="0" anchor="ctr"/>
          <a:lstStyle/>
          <a:p>
            <a:pPr indent="0" marL="0">
              <a:buNone/>
            </a:pPr>
            <a:r>
              <a:rPr lang="en-US" sz="1350" b="1" dirty="0">
                <a:solidFill>
                  <a:srgbClr val="1F2A44"/>
                </a:solidFill>
              </a:rPr>
              <a:t>Sign-in   </a:t>
            </a:r>
            <a:pPr indent="0" marL="0">
              <a:buNone/>
            </a:pPr>
            <a:r>
              <a:rPr lang="en-US" sz="1350" dirty="0">
                <a:solidFill>
                  <a:schemeClr val="tx2"/>
                </a:solidFill>
              </a:rPr>
              <a:t>PIV, Windows Hello or a passkey; two methods</a:t>
            </a:r>
            <a:endParaRPr lang="en-US" sz="1350" dirty="0"/>
          </a:p>
        </p:txBody>
      </p:sp>
      <p:sp>
        <p:nvSpPr>
          <p:cNvPr id="8" name="Mod 1" descr="">
            <a:extLst>
              <a:ext uri="{C183D7F6-B498-43B3-948B-1728B52AA6E4}">
                <adec:decorative xmlns:adec="http://schemas.microsoft.com/office/drawing/2017/decorative" val="1"/>
              </a:ext>
            </a:extLst>
          </p:cNvPr>
          <p:cNvSpPr/>
          <p:nvPr/>
        </p:nvSpPr>
        <p:spPr>
          <a:xfrm>
            <a:off x="548640" y="2267712"/>
            <a:ext cx="5669280" cy="457200"/>
          </a:xfrm>
          <a:prstGeom prst="roundRect">
            <a:avLst>
              <a:gd name="adj" fmla="val 16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Mod 1 text"/>
          <p:cNvSpPr txBox="1"/>
          <p:nvPr/>
        </p:nvSpPr>
        <p:spPr>
          <a:xfrm>
            <a:off x="731520" y="2267712"/>
            <a:ext cx="5394960" cy="457200"/>
          </a:xfrm>
          <a:prstGeom prst="rect">
            <a:avLst/>
          </a:prstGeom>
          <a:noFill/>
          <a:ln/>
        </p:spPr>
        <p:txBody>
          <a:bodyPr wrap="square" lIns="0" tIns="0" rIns="0" bIns="0" rtlCol="0" anchor="ctr"/>
          <a:lstStyle/>
          <a:p>
            <a:pPr indent="0" marL="0">
              <a:buNone/>
            </a:pPr>
            <a:r>
              <a:rPr lang="en-US" sz="1350" b="1" dirty="0">
                <a:solidFill>
                  <a:srgbClr val="1F2A44"/>
                </a:solidFill>
              </a:rPr>
              <a:t>Recovery   </a:t>
            </a:r>
            <a:pPr indent="0" marL="0">
              <a:buNone/>
            </a:pPr>
            <a:r>
              <a:rPr lang="en-US" sz="1350" dirty="0">
                <a:solidFill>
                  <a:schemeClr val="tx2"/>
                </a:solidFill>
              </a:rPr>
              <a:t>Self-service reset; what happens if all is lost</a:t>
            </a:r>
            <a:endParaRPr lang="en-US" sz="1350" dirty="0"/>
          </a:p>
        </p:txBody>
      </p:sp>
      <p:sp>
        <p:nvSpPr>
          <p:cNvPr id="10" name="Mod 2" descr="">
            <a:extLst>
              <a:ext uri="{C183D7F6-B498-43B3-948B-1728B52AA6E4}">
                <adec:decorative xmlns:adec="http://schemas.microsoft.com/office/drawing/2017/decorative" val="1"/>
              </a:ext>
            </a:extLst>
          </p:cNvPr>
          <p:cNvSpPr/>
          <p:nvPr/>
        </p:nvSpPr>
        <p:spPr>
          <a:xfrm>
            <a:off x="548640" y="2779776"/>
            <a:ext cx="5669280" cy="457200"/>
          </a:xfrm>
          <a:prstGeom prst="roundRect">
            <a:avLst>
              <a:gd name="adj" fmla="val 16000"/>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Mod 2 text"/>
          <p:cNvSpPr txBox="1"/>
          <p:nvPr/>
        </p:nvSpPr>
        <p:spPr>
          <a:xfrm>
            <a:off x="731520" y="2779776"/>
            <a:ext cx="5394960" cy="457200"/>
          </a:xfrm>
          <a:prstGeom prst="rect">
            <a:avLst/>
          </a:prstGeom>
          <a:noFill/>
          <a:ln/>
        </p:spPr>
        <p:txBody>
          <a:bodyPr wrap="square" lIns="0" tIns="0" rIns="0" bIns="0" rtlCol="0" anchor="ctr"/>
          <a:lstStyle/>
          <a:p>
            <a:pPr indent="0" marL="0">
              <a:buNone/>
            </a:pPr>
            <a:r>
              <a:rPr lang="en-US" sz="1350" b="1" dirty="0">
                <a:solidFill>
                  <a:srgbClr val="1F2A44"/>
                </a:solidFill>
              </a:rPr>
              <a:t>Devices   </a:t>
            </a:r>
            <a:pPr indent="0" marL="0">
              <a:buNone/>
            </a:pPr>
            <a:r>
              <a:rPr lang="en-US" sz="1350" dirty="0">
                <a:solidFill>
                  <a:schemeClr val="tx2"/>
                </a:solidFill>
              </a:rPr>
              <a:t>Read and fix compliance; what the agency sees</a:t>
            </a:r>
            <a:endParaRPr lang="en-US" sz="1350" dirty="0"/>
          </a:p>
        </p:txBody>
      </p:sp>
      <p:sp>
        <p:nvSpPr>
          <p:cNvPr id="12" name="Mod 3" descr="">
            <a:extLst>
              <a:ext uri="{C183D7F6-B498-43B3-948B-1728B52AA6E4}">
                <adec:decorative xmlns:adec="http://schemas.microsoft.com/office/drawing/2017/decorative" val="1"/>
              </a:ext>
            </a:extLst>
          </p:cNvPr>
          <p:cNvSpPr/>
          <p:nvPr/>
        </p:nvSpPr>
        <p:spPr>
          <a:xfrm>
            <a:off x="548640" y="3291840"/>
            <a:ext cx="5669280" cy="457200"/>
          </a:xfrm>
          <a:prstGeom prst="roundRect">
            <a:avLst>
              <a:gd name="adj" fmla="val 16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Mod 3 text"/>
          <p:cNvSpPr txBox="1"/>
          <p:nvPr/>
        </p:nvSpPr>
        <p:spPr>
          <a:xfrm>
            <a:off x="731520" y="3291840"/>
            <a:ext cx="5394960" cy="457200"/>
          </a:xfrm>
          <a:prstGeom prst="rect">
            <a:avLst/>
          </a:prstGeom>
          <a:noFill/>
          <a:ln/>
        </p:spPr>
        <p:txBody>
          <a:bodyPr wrap="square" lIns="0" tIns="0" rIns="0" bIns="0" rtlCol="0" anchor="ctr"/>
          <a:lstStyle/>
          <a:p>
            <a:pPr indent="0" marL="0">
              <a:buNone/>
            </a:pPr>
            <a:r>
              <a:rPr lang="en-US" sz="1350" b="1" dirty="0">
                <a:solidFill>
                  <a:srgbClr val="1F2A44"/>
                </a:solidFill>
              </a:rPr>
              <a:t>Files   </a:t>
            </a:r>
            <a:pPr indent="0" marL="0">
              <a:buNone/>
            </a:pPr>
            <a:r>
              <a:rPr lang="en-US" sz="1350" dirty="0">
                <a:solidFill>
                  <a:schemeClr val="tx2"/>
                </a:solidFill>
              </a:rPr>
              <a:t>OneDrive, SharePoint, Teams; leave old drives</a:t>
            </a:r>
            <a:endParaRPr lang="en-US" sz="1350" dirty="0"/>
          </a:p>
        </p:txBody>
      </p:sp>
      <p:sp>
        <p:nvSpPr>
          <p:cNvPr id="14" name="Mod 4" descr="">
            <a:extLst>
              <a:ext uri="{C183D7F6-B498-43B3-948B-1728B52AA6E4}">
                <adec:decorative xmlns:adec="http://schemas.microsoft.com/office/drawing/2017/decorative" val="1"/>
              </a:ext>
            </a:extLst>
          </p:cNvPr>
          <p:cNvSpPr/>
          <p:nvPr/>
        </p:nvSpPr>
        <p:spPr>
          <a:xfrm>
            <a:off x="548640" y="3803904"/>
            <a:ext cx="5669280" cy="457200"/>
          </a:xfrm>
          <a:prstGeom prst="roundRect">
            <a:avLst>
              <a:gd name="adj" fmla="val 16000"/>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Mod 4 text"/>
          <p:cNvSpPr txBox="1"/>
          <p:nvPr/>
        </p:nvSpPr>
        <p:spPr>
          <a:xfrm>
            <a:off x="731520" y="3803904"/>
            <a:ext cx="5394960" cy="457200"/>
          </a:xfrm>
          <a:prstGeom prst="rect">
            <a:avLst/>
          </a:prstGeom>
          <a:noFill/>
          <a:ln/>
        </p:spPr>
        <p:txBody>
          <a:bodyPr wrap="square" lIns="0" tIns="0" rIns="0" bIns="0" rtlCol="0" anchor="ctr"/>
          <a:lstStyle/>
          <a:p>
            <a:pPr indent="0" marL="0">
              <a:buNone/>
            </a:pPr>
            <a:r>
              <a:rPr lang="en-US" sz="1350" b="1" dirty="0">
                <a:solidFill>
                  <a:srgbClr val="1F2A44"/>
                </a:solidFill>
              </a:rPr>
              <a:t>Reporting   </a:t>
            </a:r>
            <a:pPr indent="0" marL="0">
              <a:buNone/>
            </a:pPr>
            <a:r>
              <a:rPr lang="en-US" sz="1350" dirty="0">
                <a:solidFill>
                  <a:schemeClr val="tx2"/>
                </a:solidFill>
              </a:rPr>
              <a:t>The Report button; deny prompts you didn't start</a:t>
            </a:r>
            <a:endParaRPr lang="en-US" sz="1350" dirty="0"/>
          </a:p>
        </p:txBody>
      </p:sp>
      <p:sp>
        <p:nvSpPr>
          <p:cNvPr id="16" name="Mod 5" descr="">
            <a:extLst>
              <a:ext uri="{C183D7F6-B498-43B3-948B-1728B52AA6E4}">
                <adec:decorative xmlns:adec="http://schemas.microsoft.com/office/drawing/2017/decorative" val="1"/>
              </a:ext>
            </a:extLst>
          </p:cNvPr>
          <p:cNvSpPr/>
          <p:nvPr/>
        </p:nvSpPr>
        <p:spPr>
          <a:xfrm>
            <a:off x="548640" y="4315968"/>
            <a:ext cx="5669280" cy="457200"/>
          </a:xfrm>
          <a:prstGeom prst="roundRect">
            <a:avLst>
              <a:gd name="adj" fmla="val 16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7" name="Mod 5 text"/>
          <p:cNvSpPr txBox="1"/>
          <p:nvPr/>
        </p:nvSpPr>
        <p:spPr>
          <a:xfrm>
            <a:off x="731520" y="4315968"/>
            <a:ext cx="5394960" cy="457200"/>
          </a:xfrm>
          <a:prstGeom prst="rect">
            <a:avLst/>
          </a:prstGeom>
          <a:noFill/>
          <a:ln/>
        </p:spPr>
        <p:txBody>
          <a:bodyPr wrap="square" lIns="0" tIns="0" rIns="0" bIns="0" rtlCol="0" anchor="ctr"/>
          <a:lstStyle/>
          <a:p>
            <a:pPr indent="0" marL="0">
              <a:buNone/>
            </a:pPr>
            <a:r>
              <a:rPr lang="en-US" sz="1350" b="1" dirty="0">
                <a:solidFill>
                  <a:srgbClr val="1F2A44"/>
                </a:solidFill>
              </a:rPr>
              <a:t>Help desk   </a:t>
            </a:r>
            <a:pPr indent="0" marL="0">
              <a:buNone/>
            </a:pPr>
            <a:r>
              <a:rPr lang="en-US" sz="1350" dirty="0">
                <a:solidFill>
                  <a:schemeClr val="tx2"/>
                </a:solidFill>
              </a:rPr>
              <a:t>What it will and won't ask</a:t>
            </a:r>
            <a:endParaRPr lang="en-US" sz="1350" dirty="0"/>
          </a:p>
        </p:txBody>
      </p:sp>
      <p:sp>
        <p:nvSpPr>
          <p:cNvPr id="18" name="Desk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9" name="Icon FaUserShield"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B91C1C"/>
          </a:solidFill>
          <a:ln w="12700">
            <a:solidFill>
              <a:srgbClr val="B91C1C"/>
            </a:solidFill>
            <a:prstDash val="solid"/>
          </a:ln>
        </p:spPr>
      </p:sp>
      <p:pic>
        <p:nvPicPr>
          <p:cNvPr id="2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21" name="Desk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THE REAL HELP DESK WILL NEVER</a:t>
            </a:r>
            <a:endParaRPr lang="en-US" sz="1400" dirty="0"/>
          </a:p>
          <a:p>
            <a:pPr indent="0" marL="0">
              <a:buNone/>
            </a:pPr>
            <a:r>
              <a:rPr lang="en-US" sz="1800" b="1" dirty="0">
                <a:solidFill>
                  <a:srgbClr val="B91C1C"/>
                </a:solidFill>
                <a:latin typeface="Cambria" pitchFamily="34" charset="0"/>
                <a:ea typeface="Cambria" pitchFamily="34" charset="-122"/>
                <a:cs typeface="Cambria" pitchFamily="34" charset="-120"/>
              </a:rPr>
              <a:t>Refuse anything outside the rules</a:t>
            </a:r>
            <a:endParaRPr lang="en-US" sz="1400" dirty="0"/>
          </a:p>
        </p:txBody>
      </p:sp>
      <p:sp>
        <p:nvSpPr>
          <p:cNvPr id="22" name="Desk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Ask for your password, PIN or a code</a:t>
            </a:r>
            <a:endParaRPr lang="en-US" sz="1400" dirty="0"/>
          </a:p>
          <a:p>
            <a:pPr marL="342900" indent="-342900">
              <a:spcAft>
                <a:spcPts val="600"/>
              </a:spcAft>
              <a:buSzPct val="100000"/>
              <a:buChar char="•"/>
            </a:pPr>
            <a:r>
              <a:rPr lang="en-US" sz="1400" dirty="0">
                <a:solidFill>
                  <a:schemeClr val="tx2"/>
                </a:solidFill>
              </a:rPr>
              <a:t>Ask you to approve a prompt for them</a:t>
            </a:r>
            <a:endParaRPr lang="en-US" sz="1400" dirty="0"/>
          </a:p>
          <a:p>
            <a:pPr marL="342900" indent="-342900">
              <a:spcAft>
                <a:spcPts val="600"/>
              </a:spcAft>
              <a:buSzPct val="100000"/>
              <a:buChar char="•"/>
            </a:pPr>
            <a:r>
              <a:rPr lang="en-US" sz="1400" dirty="0">
                <a:solidFill>
                  <a:schemeClr val="tx2"/>
                </a:solidFill>
              </a:rPr>
              <a:t>Send a pass or link to an address you give on the call</a:t>
            </a:r>
            <a:endParaRPr lang="en-US" sz="1400" dirty="0"/>
          </a:p>
          <a:p>
            <a:pPr marL="342900" indent="-342900">
              <a:spcAft>
                <a:spcPts val="600"/>
              </a:spcAft>
              <a:buSzPct val="100000"/>
              <a:buChar char="•"/>
            </a:pPr>
            <a:r>
              <a:rPr lang="en-US" sz="1400" dirty="0">
                <a:solidFill>
                  <a:schemeClr val="tx2"/>
                </a:solidFill>
              </a:rPr>
              <a:t>Accept caller ID or a manager's say-so</a:t>
            </a:r>
            <a:endParaRPr lang="en-US" sz="1400" dirty="0"/>
          </a:p>
        </p:txBody>
      </p:sp>
      <p:sp>
        <p:nvSpPr>
          <p:cNvPr id="23" name="Policy"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4" name="Icon FaFingerprint"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1F2A44"/>
          </a:solidFill>
          <a:ln w="12700">
            <a:solidFill>
              <a:srgbClr val="1F2A44"/>
            </a:solidFill>
            <a:prstDash val="solid"/>
          </a:ln>
        </p:spPr>
      </p:sp>
      <p:pic>
        <p:nvPicPr>
          <p:cNvPr id="25"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50485"/>
            <a:ext cx="380390" cy="380390"/>
          </a:xfrm>
          <a:prstGeom prst="rect">
            <a:avLst/>
          </a:prstGeom>
        </p:spPr>
      </p:pic>
      <p:sp>
        <p:nvSpPr>
          <p:cNvPr id="26" name="Policy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1F2A44"/>
                </a:solidFill>
              </a:rPr>
              <a:t>Federal policy sets the target: </a:t>
            </a:r>
            <a:pPr indent="0" marL="0">
              <a:buNone/>
            </a:pPr>
            <a:r>
              <a:rPr lang="en-US" sz="1650" dirty="0">
                <a:solidFill>
                  <a:schemeClr val="tx2"/>
                </a:solidFill>
              </a:rPr>
              <a:t>M-22-09 and SP 800-63B-4 require phishing-resistant sign-in; passwords, codes and push approvals don't qualify. Teach length, not character classes, and build every module to Section 508.</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NIST SP 800-63B-4 (July 2025); CISA AA23-320A (rev. July 29, 2025); Microsoft Learn (Entra, Intune, Outlook reporting); Revised 508 Standards; OMB M-24-08. Book 16,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decider per row; the reporter doesn't decide</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Who col 1" descr="">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6" name="Icon FaBuildingColumns" descr="">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B45309"/>
          </a:solidFill>
          <a:ln w="12700">
            <a:solidFill>
              <a:srgbClr val="B45309"/>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Policy, people, money</a:t>
            </a:r>
            <a:endParaRPr lang="en-US" sz="1700" dirty="0"/>
          </a:p>
        </p:txBody>
      </p:sp>
      <p:sp>
        <p:nvSpPr>
          <p:cNvPr id="9" name="Who text 1"/>
          <p:cNvSpPr txBox="1"/>
          <p:nvPr/>
        </p:nvSpPr>
        <p:spPr>
          <a:xfrm>
            <a:off x="77724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B45309"/>
                </a:solidFill>
              </a:rPr>
              <a:t>Sponsor and CIO</a:t>
            </a:r>
            <a:endParaRPr lang="en-US" sz="1300" dirty="0"/>
          </a:p>
          <a:p>
            <a:pPr indent="0" marL="0">
              <a:spcAft>
                <a:spcPts val="400"/>
              </a:spcAft>
              <a:buNone/>
            </a:pPr>
            <a:r>
              <a:rPr lang="en-US" sz="1300" dirty="0">
                <a:solidFill>
                  <a:schemeClr val="tx2"/>
                </a:solidFill>
              </a:rPr>
              <a:t>Fund it; decide each wave's plan</a:t>
            </a:r>
            <a:endParaRPr lang="en-US" sz="1300" dirty="0"/>
          </a:p>
          <a:p>
            <a:pPr indent="0" marL="0">
              <a:spcAft>
                <a:spcPts val="400"/>
              </a:spcAft>
              <a:buNone/>
            </a:pPr>
            <a:r>
              <a:rPr lang="en-US" sz="1300" b="1" dirty="0">
                <a:solidFill>
                  <a:srgbClr val="B45309"/>
                </a:solidFill>
              </a:rPr>
              <a:t>CISO</a:t>
            </a:r>
            <a:endParaRPr lang="en-US" sz="1300" dirty="0"/>
          </a:p>
          <a:p>
            <a:pPr indent="0" marL="0">
              <a:spcAft>
                <a:spcPts val="400"/>
              </a:spcAft>
              <a:buNone/>
            </a:pPr>
            <a:r>
              <a:rPr lang="en-US" sz="1300" dirty="0">
                <a:solidFill>
                  <a:schemeClr val="tx2"/>
                </a:solidFill>
              </a:rPr>
              <a:t>Policy, threshold, what users are taught</a:t>
            </a:r>
            <a:endParaRPr lang="en-US" sz="1300" dirty="0"/>
          </a:p>
          <a:p>
            <a:pPr indent="0" marL="0">
              <a:spcAft>
                <a:spcPts val="400"/>
              </a:spcAft>
              <a:buNone/>
            </a:pPr>
            <a:r>
              <a:rPr lang="en-US" sz="1300" b="1" dirty="0">
                <a:solidFill>
                  <a:srgbClr val="B45309"/>
                </a:solidFill>
              </a:rPr>
              <a:t>CHCO and workforce office</a:t>
            </a:r>
            <a:endParaRPr lang="en-US" sz="1300" dirty="0"/>
          </a:p>
          <a:p>
            <a:pPr indent="0" marL="0">
              <a:spcAft>
                <a:spcPts val="400"/>
              </a:spcAft>
              <a:buNone/>
            </a:pPr>
            <a:r>
              <a:rPr lang="en-US" sz="1300" dirty="0">
                <a:solidFill>
                  <a:schemeClr val="tx2"/>
                </a:solidFill>
              </a:rPr>
              <a:t>Strategy, coding, rosters, labor</a:t>
            </a:r>
            <a:endParaRPr lang="en-US" sz="1300" dirty="0"/>
          </a:p>
        </p:txBody>
      </p:sp>
      <p:sp>
        <p:nvSpPr>
          <p:cNvPr id="10" name="Who col 2" descr="">
            <a:extLst>
              <a:ext uri="{C183D7F6-B498-43B3-948B-1728B52AA6E4}">
                <adec:decorative xmlns:adec="http://schemas.microsoft.com/office/drawing/2017/decorative" val="1"/>
              </a:ext>
            </a:extLst>
          </p:cNvPr>
          <p:cNvSpPr/>
          <p:nvPr/>
        </p:nvSpPr>
        <p:spPr>
          <a:xfrm>
            <a:off x="4297680" y="1371600"/>
            <a:ext cx="3611880" cy="2514600"/>
          </a:xfrm>
          <a:prstGeom prst="roundRect">
            <a:avLst>
              <a:gd name="adj" fmla="val 290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1" name="Icon FaClipboardCheck" descr="">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1F2A44"/>
          </a:solidFill>
          <a:ln w="12700">
            <a:solidFill>
              <a:srgbClr val="1F2A44"/>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Build, evidence, gate</a:t>
            </a:r>
            <a:endParaRPr lang="en-US" sz="1700" dirty="0"/>
          </a:p>
        </p:txBody>
      </p:sp>
      <p:sp>
        <p:nvSpPr>
          <p:cNvPr id="14" name="Who text 2"/>
          <p:cNvSpPr txBox="1"/>
          <p:nvPr/>
        </p:nvSpPr>
        <p:spPr>
          <a:xfrm>
            <a:off x="452628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1F2A44"/>
                </a:solidFill>
              </a:rPr>
              <a:t>Training lead</a:t>
            </a:r>
            <a:endParaRPr lang="en-US" sz="1300" dirty="0"/>
          </a:p>
          <a:p>
            <a:pPr indent="0" marL="0">
              <a:spcAft>
                <a:spcPts val="400"/>
              </a:spcAft>
              <a:buNone/>
            </a:pPr>
            <a:r>
              <a:rPr lang="en-US" sz="1300" dirty="0">
                <a:solidFill>
                  <a:schemeClr val="tx2"/>
                </a:solidFill>
              </a:rPr>
              <a:t>Curriculum and reports; never decides</a:t>
            </a:r>
            <a:endParaRPr lang="en-US" sz="1300" dirty="0"/>
          </a:p>
          <a:p>
            <a:pPr indent="0" marL="0">
              <a:spcAft>
                <a:spcPts val="400"/>
              </a:spcAft>
              <a:buNone/>
            </a:pPr>
            <a:r>
              <a:rPr lang="en-US" sz="1300" b="1" dirty="0">
                <a:solidFill>
                  <a:srgbClr val="1F2A44"/>
                </a:solidFill>
              </a:rPr>
              <a:t>ISSO and system owner</a:t>
            </a:r>
            <a:endParaRPr lang="en-US" sz="1300" dirty="0"/>
          </a:p>
          <a:p>
            <a:pPr indent="0" marL="0">
              <a:spcAft>
                <a:spcPts val="400"/>
              </a:spcAft>
              <a:buNone/>
            </a:pPr>
            <a:r>
              <a:rPr lang="en-US" sz="1300" dirty="0">
                <a:solidFill>
                  <a:schemeClr val="tx2"/>
                </a:solidFill>
              </a:rPr>
              <a:t>Review the record; judge overdue</a:t>
            </a:r>
            <a:endParaRPr lang="en-US" sz="1300" dirty="0"/>
          </a:p>
          <a:p>
            <a:pPr indent="0" marL="0">
              <a:spcAft>
                <a:spcPts val="400"/>
              </a:spcAft>
              <a:buNone/>
            </a:pPr>
            <a:r>
              <a:rPr lang="en-US" sz="1300" b="1" dirty="0">
                <a:solidFill>
                  <a:srgbClr val="1F2A44"/>
                </a:solidFill>
              </a:rPr>
              <a:t>Program office</a:t>
            </a:r>
            <a:endParaRPr lang="en-US" sz="1300" dirty="0"/>
          </a:p>
          <a:p>
            <a:pPr indent="0" marL="0">
              <a:spcAft>
                <a:spcPts val="400"/>
              </a:spcAft>
              <a:buNone/>
            </a:pPr>
            <a:r>
              <a:rPr lang="en-US" sz="1300" dirty="0">
                <a:solidFill>
                  <a:schemeClr val="tx2"/>
                </a:solidFill>
              </a:rPr>
              <a:t>Training criteria in every gate</a:t>
            </a:r>
            <a:endParaRPr lang="en-US" sz="1300" dirty="0"/>
          </a:p>
        </p:txBody>
      </p:sp>
      <p:sp>
        <p:nvSpPr>
          <p:cNvPr id="15" name="Who col 3" descr="">
            <a:extLst>
              <a:ext uri="{C183D7F6-B498-43B3-948B-1728B52AA6E4}">
                <adec:decorative xmlns:adec="http://schemas.microsoft.com/office/drawing/2017/decorative" val="1"/>
              </a:ext>
            </a:extLst>
          </p:cNvPr>
          <p:cNvSpPr/>
          <p:nvPr/>
        </p:nvSpPr>
        <p:spPr>
          <a:xfrm>
            <a:off x="8046720" y="1371600"/>
            <a:ext cx="3611880" cy="2514600"/>
          </a:xfrm>
          <a:prstGeom prst="roundRect">
            <a:avLst>
              <a:gd name="adj" fmla="val 290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Icon FaUsersGear" descr="">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0F766E"/>
          </a:solidFill>
          <a:ln w="12700">
            <a:solidFill>
              <a:srgbClr val="0F766E"/>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Carry it to people</a:t>
            </a:r>
            <a:endParaRPr lang="en-US" sz="1700" dirty="0"/>
          </a:p>
        </p:txBody>
      </p:sp>
      <p:sp>
        <p:nvSpPr>
          <p:cNvPr id="19" name="Who text 3"/>
          <p:cNvSpPr txBox="1"/>
          <p:nvPr/>
        </p:nvSpPr>
        <p:spPr>
          <a:xfrm>
            <a:off x="827532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0F766E"/>
                </a:solidFill>
              </a:rPr>
              <a:t>Managers and supervisors</a:t>
            </a:r>
            <a:endParaRPr lang="en-US" sz="1300" dirty="0"/>
          </a:p>
          <a:p>
            <a:pPr indent="0" marL="0">
              <a:spcAft>
                <a:spcPts val="400"/>
              </a:spcAft>
              <a:buNone/>
            </a:pPr>
            <a:r>
              <a:rPr lang="en-US" sz="1300" dirty="0">
                <a:solidFill>
                  <a:schemeClr val="tx2"/>
                </a:solidFill>
              </a:rPr>
              <a:t>Time to learn; completion on time</a:t>
            </a:r>
            <a:endParaRPr lang="en-US" sz="1300" dirty="0"/>
          </a:p>
          <a:p>
            <a:pPr indent="0" marL="0">
              <a:spcAft>
                <a:spcPts val="400"/>
              </a:spcAft>
              <a:buNone/>
            </a:pPr>
            <a:r>
              <a:rPr lang="en-US" sz="1300" b="1" dirty="0">
                <a:solidFill>
                  <a:srgbClr val="0F766E"/>
                </a:solidFill>
              </a:rPr>
              <a:t>Help desk</a:t>
            </a:r>
            <a:endParaRPr lang="en-US" sz="1300" dirty="0"/>
          </a:p>
          <a:p>
            <a:pPr indent="0" marL="0">
              <a:spcAft>
                <a:spcPts val="400"/>
              </a:spcAft>
              <a:buNone/>
            </a:pPr>
            <a:r>
              <a:rPr lang="en-US" sz="1300" dirty="0">
                <a:solidFill>
                  <a:schemeClr val="tx2"/>
                </a:solidFill>
              </a:rPr>
              <a:t>Trained first; manager decides ready</a:t>
            </a:r>
            <a:endParaRPr lang="en-US" sz="1300" dirty="0"/>
          </a:p>
          <a:p>
            <a:pPr indent="0" marL="0">
              <a:spcAft>
                <a:spcPts val="400"/>
              </a:spcAft>
              <a:buNone/>
            </a:pPr>
            <a:r>
              <a:rPr lang="en-US" sz="1300" b="1" dirty="0">
                <a:solidFill>
                  <a:srgbClr val="0F766E"/>
                </a:solidFill>
              </a:rPr>
              <a:t>Communications</a:t>
            </a:r>
            <a:endParaRPr lang="en-US" sz="1300" dirty="0"/>
          </a:p>
          <a:p>
            <a:pPr indent="0" marL="0">
              <a:spcAft>
                <a:spcPts val="400"/>
              </a:spcAft>
              <a:buNone/>
            </a:pPr>
            <a:r>
              <a:rPr lang="en-US" sz="1300" dirty="0">
                <a:solidFill>
                  <a:schemeClr val="tx2"/>
                </a:solidFill>
              </a:rPr>
              <a:t>One sender; the CISO's words</a:t>
            </a:r>
            <a:endParaRPr lang="en-US" sz="1300" dirty="0"/>
          </a:p>
        </p:txBody>
      </p:sp>
      <p:sp>
        <p:nvSpPr>
          <p:cNvPr id="20" name="Gates head"/>
          <p:cNvSpPr txBox="1"/>
          <p:nvPr/>
        </p:nvSpPr>
        <p:spPr>
          <a:xfrm>
            <a:off x="548640" y="4041648"/>
            <a:ext cx="10972800" cy="274320"/>
          </a:xfrm>
          <a:prstGeom prst="rect">
            <a:avLst/>
          </a:prstGeom>
          <a:noFill/>
          <a:ln/>
        </p:spPr>
        <p:txBody>
          <a:bodyPr wrap="square" lIns="0" tIns="0" rIns="0" bIns="0" rtlCol="0" anchor="t"/>
          <a:lstStyle/>
          <a:p>
            <a:pPr indent="0" marL="0">
              <a:buNone/>
            </a:pPr>
            <a:r>
              <a:rPr lang="en-US" sz="1200" b="1" dirty="0">
                <a:solidFill>
                  <a:srgbClr val="64748B"/>
                </a:solidFill>
              </a:rPr>
              <a:t>THE SEPARATIONS THAT KEEP THE NUMBERS HONEST</a:t>
            </a:r>
            <a:endParaRPr lang="en-US" sz="1200" dirty="0"/>
          </a:p>
        </p:txBody>
      </p:sp>
      <p:sp>
        <p:nvSpPr>
          <p:cNvPr id="21" name="Gate 1" descr="">
            <a:extLst>
              <a:ext uri="{C183D7F6-B498-43B3-948B-1728B52AA6E4}">
                <adec:decorative xmlns:adec="http://schemas.microsoft.com/office/drawing/2017/decorative" val="1"/>
              </a:ext>
            </a:extLst>
          </p:cNvPr>
          <p:cNvSpPr/>
          <p:nvPr/>
        </p:nvSpPr>
        <p:spPr>
          <a:xfrm>
            <a:off x="548640" y="4389120"/>
            <a:ext cx="3611880" cy="1463040"/>
          </a:xfrm>
          <a:prstGeom prst="roundRect">
            <a:avLst>
              <a:gd name="adj" fmla="val 50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Gate 1 text"/>
          <p:cNvSpPr txBox="1"/>
          <p:nvPr/>
        </p:nvSpPr>
        <p:spPr>
          <a:xfrm>
            <a:off x="749808" y="4462272"/>
            <a:ext cx="3246120" cy="1316736"/>
          </a:xfrm>
          <a:prstGeom prst="rect">
            <a:avLst/>
          </a:prstGeom>
          <a:noFill/>
          <a:ln/>
        </p:spPr>
        <p:txBody>
          <a:bodyPr wrap="square" lIns="0" tIns="0" rIns="0" bIns="0" rtlCol="0" anchor="ctr"/>
          <a:lstStyle/>
          <a:p>
            <a:pPr indent="0" marL="0">
              <a:buNone/>
            </a:pPr>
            <a:r>
              <a:rPr lang="en-US" sz="1400" b="1" dirty="0">
                <a:solidFill>
                  <a:srgbClr val="1F2A44"/>
                </a:solidFill>
              </a:rPr>
              <a:t>Report, review, decide — </a:t>
            </a:r>
            <a:pPr indent="0" marL="0">
              <a:buNone/>
            </a:pPr>
            <a:r>
              <a:rPr lang="en-US" sz="1400" dirty="0">
                <a:solidFill>
                  <a:schemeClr val="tx2"/>
                </a:solidFill>
              </a:rPr>
              <a:t>the training lead reports, the ISSO reviews, the gate or wave owner decides</a:t>
            </a:r>
            <a:endParaRPr lang="en-US" sz="1400" dirty="0"/>
          </a:p>
        </p:txBody>
      </p:sp>
      <p:sp>
        <p:nvSpPr>
          <p:cNvPr id="23" name="Gate 2" descr="">
            <a:extLst>
              <a:ext uri="{C183D7F6-B498-43B3-948B-1728B52AA6E4}">
                <adec:decorative xmlns:adec="http://schemas.microsoft.com/office/drawing/2017/decorative" val="1"/>
              </a:ext>
            </a:extLst>
          </p:cNvPr>
          <p:cNvSpPr/>
          <p:nvPr/>
        </p:nvSpPr>
        <p:spPr>
          <a:xfrm>
            <a:off x="4297680" y="4389120"/>
            <a:ext cx="3611880" cy="1463040"/>
          </a:xfrm>
          <a:prstGeom prst="roundRect">
            <a:avLst>
              <a:gd name="adj" fmla="val 5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4" name="Gate 2 text"/>
          <p:cNvSpPr txBox="1"/>
          <p:nvPr/>
        </p:nvSpPr>
        <p:spPr>
          <a:xfrm>
            <a:off x="4498848" y="4462272"/>
            <a:ext cx="3246120" cy="1316736"/>
          </a:xfrm>
          <a:prstGeom prst="rect">
            <a:avLst/>
          </a:prstGeom>
          <a:noFill/>
          <a:ln/>
        </p:spPr>
        <p:txBody>
          <a:bodyPr wrap="square" lIns="0" tIns="0" rIns="0" bIns="0" rtlCol="0" anchor="ctr"/>
          <a:lstStyle/>
          <a:p>
            <a:pPr indent="0" marL="0">
              <a:buNone/>
            </a:pPr>
            <a:r>
              <a:rPr lang="en-US" sz="1400" b="1" dirty="0">
                <a:solidFill>
                  <a:srgbClr val="B45309"/>
                </a:solidFill>
              </a:rPr>
              <a:t>Managers can't waive — </a:t>
            </a:r>
            <a:pPr indent="0" marL="0">
              <a:buNone/>
            </a:pPr>
            <a:r>
              <a:rPr lang="en-US" sz="1400" dirty="0">
                <a:solidFill>
                  <a:schemeClr val="tx2"/>
                </a:solidFill>
              </a:rPr>
              <a:t>a waiver of required training is the CISO's or a named delegate's, with an end date</a:t>
            </a:r>
            <a:endParaRPr lang="en-US" sz="1400" dirty="0"/>
          </a:p>
        </p:txBody>
      </p:sp>
      <p:sp>
        <p:nvSpPr>
          <p:cNvPr id="25" name="Gate 3" descr="">
            <a:extLst>
              <a:ext uri="{C183D7F6-B498-43B3-948B-1728B52AA6E4}">
                <adec:decorative xmlns:adec="http://schemas.microsoft.com/office/drawing/2017/decorative" val="1"/>
              </a:ext>
            </a:extLst>
          </p:cNvPr>
          <p:cNvSpPr/>
          <p:nvPr/>
        </p:nvSpPr>
        <p:spPr>
          <a:xfrm>
            <a:off x="8046720" y="4389120"/>
            <a:ext cx="3611880" cy="1463040"/>
          </a:xfrm>
          <a:prstGeom prst="roundRect">
            <a:avLst>
              <a:gd name="adj" fmla="val 5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6" name="Gate 3 text"/>
          <p:cNvSpPr txBox="1"/>
          <p:nvPr/>
        </p:nvSpPr>
        <p:spPr>
          <a:xfrm>
            <a:off x="8247888" y="4462272"/>
            <a:ext cx="3246120" cy="1316736"/>
          </a:xfrm>
          <a:prstGeom prst="rect">
            <a:avLst/>
          </a:prstGeom>
          <a:noFill/>
          <a:ln/>
        </p:spPr>
        <p:txBody>
          <a:bodyPr wrap="square" lIns="0" tIns="0" rIns="0" bIns="0" rtlCol="0" anchor="ctr"/>
          <a:lstStyle/>
          <a:p>
            <a:pPr indent="0" marL="0">
              <a:buNone/>
            </a:pPr>
            <a:r>
              <a:rPr lang="en-US" sz="1400" b="1" dirty="0">
                <a:solidFill>
                  <a:srgbClr val="B91C1C"/>
                </a:solidFill>
              </a:rPr>
              <a:t>Contractors deliver — </a:t>
            </a:r>
            <a:pPr indent="0" marL="0">
              <a:buNone/>
            </a:pPr>
            <a:r>
              <a:rPr lang="en-US" sz="1400" dirty="0">
                <a:solidFill>
                  <a:schemeClr val="tx2"/>
                </a:solidFill>
              </a:rPr>
              <a:t>they can build and report all of it; government officials make the decisions</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44 U.S.C. § 3554; 5 U.S.C. §§ 1401–1402; 5 CFR 410.201 and 930.301; OPM coding memo (2017); NIST SP 800-37 Rev. 2 (Appendix D); SP 800-50 Rev. 1; OMB M-24-08. Book 16,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Run training on the roadmap's calendar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Gate 1" descr="">
            <a:extLst>
              <a:ext uri="{C183D7F6-B498-43B3-948B-1728B52AA6E4}">
                <adec:decorative xmlns:adec="http://schemas.microsoft.com/office/drawing/2017/decorative" val="1"/>
              </a:ext>
            </a:extLst>
          </p:cNvPr>
          <p:cNvSpPr/>
          <p:nvPr/>
        </p:nvSpPr>
        <p:spPr>
          <a:xfrm>
            <a:off x="548640" y="1371600"/>
            <a:ext cx="1756410"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Gate 1 text"/>
          <p:cNvSpPr txBox="1"/>
          <p:nvPr/>
        </p:nvSpPr>
        <p:spPr>
          <a:xfrm>
            <a:off x="65836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G0</a:t>
            </a:r>
            <a:endParaRPr lang="en-US" sz="1400" dirty="0"/>
          </a:p>
          <a:p>
            <a:pPr indent="0" marL="0">
              <a:buNone/>
            </a:pPr>
            <a:r>
              <a:rPr lang="en-US" sz="1400" b="1" dirty="0">
                <a:solidFill>
                  <a:srgbClr val="1F2A44"/>
                </a:solidFill>
              </a:rPr>
              <a:t>Plan</a:t>
            </a:r>
            <a:endParaRPr lang="en-US" sz="1400" dirty="0"/>
          </a:p>
          <a:p>
            <a:pPr indent="0" marL="0">
              <a:buNone/>
            </a:pPr>
            <a:r>
              <a:rPr lang="en-US" sz="1200" dirty="0">
                <a:solidFill>
                  <a:schemeClr val="tx2"/>
                </a:solidFill>
              </a:rPr>
              <a:t>Walkthrough; roster drafted</a:t>
            </a:r>
            <a:endParaRPr lang="en-US" sz="1400" dirty="0"/>
          </a:p>
        </p:txBody>
      </p:sp>
      <p:sp>
        <p:nvSpPr>
          <p:cNvPr id="7" name="Gate 2" descr="">
            <a:extLst>
              <a:ext uri="{C183D7F6-B498-43B3-948B-1728B52AA6E4}">
                <adec:decorative xmlns:adec="http://schemas.microsoft.com/office/drawing/2017/decorative" val="1"/>
              </a:ext>
            </a:extLst>
          </p:cNvPr>
          <p:cNvSpPr/>
          <p:nvPr/>
        </p:nvSpPr>
        <p:spPr>
          <a:xfrm>
            <a:off x="2419350" y="1371600"/>
            <a:ext cx="1756410"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8" name="Gate 2 text"/>
          <p:cNvSpPr txBox="1"/>
          <p:nvPr/>
        </p:nvSpPr>
        <p:spPr>
          <a:xfrm>
            <a:off x="252907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G1</a:t>
            </a:r>
            <a:endParaRPr lang="en-US" sz="1400" dirty="0"/>
          </a:p>
          <a:p>
            <a:pPr indent="0" marL="0">
              <a:buNone/>
            </a:pPr>
            <a:r>
              <a:rPr lang="en-US" sz="1400" b="1" dirty="0">
                <a:solidFill>
                  <a:srgbClr val="1F2A44"/>
                </a:solidFill>
              </a:rPr>
              <a:t>Foundation</a:t>
            </a:r>
            <a:endParaRPr lang="en-US" sz="1400" dirty="0"/>
          </a:p>
          <a:p>
            <a:pPr indent="0" marL="0">
              <a:buNone/>
            </a:pPr>
            <a:r>
              <a:rPr lang="en-US" sz="1200" dirty="0">
                <a:solidFill>
                  <a:schemeClr val="tx2"/>
                </a:solidFill>
              </a:rPr>
              <a:t>Help desk on verification</a:t>
            </a:r>
            <a:endParaRPr lang="en-US" sz="1400" dirty="0"/>
          </a:p>
        </p:txBody>
      </p:sp>
      <p:sp>
        <p:nvSpPr>
          <p:cNvPr id="9" name="Gate 3" descr="">
            <a:extLst>
              <a:ext uri="{C183D7F6-B498-43B3-948B-1728B52AA6E4}">
                <adec:decorative xmlns:adec="http://schemas.microsoft.com/office/drawing/2017/decorative" val="1"/>
              </a:ext>
            </a:extLst>
          </p:cNvPr>
          <p:cNvSpPr/>
          <p:nvPr/>
        </p:nvSpPr>
        <p:spPr>
          <a:xfrm>
            <a:off x="4290060" y="1371600"/>
            <a:ext cx="1756410"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0" name="Gate 3 text"/>
          <p:cNvSpPr txBox="1"/>
          <p:nvPr/>
        </p:nvSpPr>
        <p:spPr>
          <a:xfrm>
            <a:off x="439978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G2</a:t>
            </a:r>
            <a:endParaRPr lang="en-US" sz="1400" dirty="0"/>
          </a:p>
          <a:p>
            <a:pPr indent="0" marL="0">
              <a:buNone/>
            </a:pPr>
            <a:r>
              <a:rPr lang="en-US" sz="1400" b="1" dirty="0">
                <a:solidFill>
                  <a:srgbClr val="1F2A44"/>
                </a:solidFill>
              </a:rPr>
              <a:t>Pilot</a:t>
            </a:r>
            <a:endParaRPr lang="en-US" sz="1400" dirty="0"/>
          </a:p>
          <a:p>
            <a:pPr indent="0" marL="0">
              <a:buNone/>
            </a:pPr>
            <a:r>
              <a:rPr lang="en-US" sz="1200" dirty="0">
                <a:solidFill>
                  <a:schemeClr val="tx2"/>
                </a:solidFill>
              </a:rPr>
              <a:t>Users trained before cutover</a:t>
            </a:r>
            <a:endParaRPr lang="en-US" sz="1400" dirty="0"/>
          </a:p>
        </p:txBody>
      </p:sp>
      <p:sp>
        <p:nvSpPr>
          <p:cNvPr id="11" name="Gate 4" descr="">
            <a:extLst>
              <a:ext uri="{C183D7F6-B498-43B3-948B-1728B52AA6E4}">
                <adec:decorative xmlns:adec="http://schemas.microsoft.com/office/drawing/2017/decorative" val="1"/>
              </a:ext>
            </a:extLst>
          </p:cNvPr>
          <p:cNvSpPr/>
          <p:nvPr/>
        </p:nvSpPr>
        <p:spPr>
          <a:xfrm>
            <a:off x="6160770" y="1371600"/>
            <a:ext cx="1756410"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2" name="Gate 4 text"/>
          <p:cNvSpPr txBox="1"/>
          <p:nvPr/>
        </p:nvSpPr>
        <p:spPr>
          <a:xfrm>
            <a:off x="627049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G3</a:t>
            </a:r>
            <a:endParaRPr lang="en-US" sz="1400" dirty="0"/>
          </a:p>
          <a:p>
            <a:pPr indent="0" marL="0">
              <a:buNone/>
            </a:pPr>
            <a:r>
              <a:rPr lang="en-US" sz="1400" b="1" dirty="0">
                <a:solidFill>
                  <a:srgbClr val="1F2A44"/>
                </a:solidFill>
              </a:rPr>
              <a:t>Rollout</a:t>
            </a:r>
            <a:endParaRPr lang="en-US" sz="1400" dirty="0"/>
          </a:p>
          <a:p>
            <a:pPr indent="0" marL="0">
              <a:buNone/>
            </a:pPr>
            <a:r>
              <a:rPr lang="en-US" sz="1200" dirty="0">
                <a:solidFill>
                  <a:schemeClr val="tx2"/>
                </a:solidFill>
              </a:rPr>
              <a:t>Each division before its wave</a:t>
            </a:r>
            <a:endParaRPr lang="en-US" sz="1400" dirty="0"/>
          </a:p>
        </p:txBody>
      </p:sp>
      <p:sp>
        <p:nvSpPr>
          <p:cNvPr id="13" name="Gate 5" descr="">
            <a:extLst>
              <a:ext uri="{C183D7F6-B498-43B3-948B-1728B52AA6E4}">
                <adec:decorative xmlns:adec="http://schemas.microsoft.com/office/drawing/2017/decorative" val="1"/>
              </a:ext>
            </a:extLst>
          </p:cNvPr>
          <p:cNvSpPr/>
          <p:nvPr/>
        </p:nvSpPr>
        <p:spPr>
          <a:xfrm>
            <a:off x="8031480" y="1371600"/>
            <a:ext cx="1756410"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Gate 5 text"/>
          <p:cNvSpPr txBox="1"/>
          <p:nvPr/>
        </p:nvSpPr>
        <p:spPr>
          <a:xfrm>
            <a:off x="814120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G4</a:t>
            </a:r>
            <a:endParaRPr lang="en-US" sz="1400" dirty="0"/>
          </a:p>
          <a:p>
            <a:pPr indent="0" marL="0">
              <a:buNone/>
            </a:pPr>
            <a:r>
              <a:rPr lang="en-US" sz="1400" b="1" dirty="0">
                <a:solidFill>
                  <a:srgbClr val="1F2A44"/>
                </a:solidFill>
              </a:rPr>
              <a:t>Legacy quiet</a:t>
            </a:r>
            <a:endParaRPr lang="en-US" sz="1400" dirty="0"/>
          </a:p>
          <a:p>
            <a:pPr indent="0" marL="0">
              <a:buNone/>
            </a:pPr>
            <a:r>
              <a:rPr lang="en-US" sz="1200" dirty="0">
                <a:solidFill>
                  <a:schemeClr val="tx2"/>
                </a:solidFill>
              </a:rPr>
              <a:t>Retired-system owners retrained</a:t>
            </a:r>
            <a:endParaRPr lang="en-US" sz="1400" dirty="0"/>
          </a:p>
        </p:txBody>
      </p:sp>
      <p:sp>
        <p:nvSpPr>
          <p:cNvPr id="15" name="Gate 6" descr="">
            <a:extLst>
              <a:ext uri="{C183D7F6-B498-43B3-948B-1728B52AA6E4}">
                <adec:decorative xmlns:adec="http://schemas.microsoft.com/office/drawing/2017/decorative" val="1"/>
              </a:ext>
            </a:extLst>
          </p:cNvPr>
          <p:cNvSpPr/>
          <p:nvPr/>
        </p:nvSpPr>
        <p:spPr>
          <a:xfrm>
            <a:off x="9902190" y="1371600"/>
            <a:ext cx="1756410"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Gate 6 text"/>
          <p:cNvSpPr txBox="1"/>
          <p:nvPr/>
        </p:nvSpPr>
        <p:spPr>
          <a:xfrm>
            <a:off x="10011918" y="1417320"/>
            <a:ext cx="1536954"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G5</a:t>
            </a:r>
            <a:endParaRPr lang="en-US" sz="1400" dirty="0"/>
          </a:p>
          <a:p>
            <a:pPr indent="0" marL="0">
              <a:buNone/>
            </a:pPr>
            <a:r>
              <a:rPr lang="en-US" sz="1400" b="1" dirty="0">
                <a:solidFill>
                  <a:srgbClr val="1F2A44"/>
                </a:solidFill>
              </a:rPr>
              <a:t>AD retired</a:t>
            </a:r>
            <a:endParaRPr lang="en-US" sz="1400" dirty="0"/>
          </a:p>
          <a:p>
            <a:pPr indent="0" marL="0">
              <a:buNone/>
            </a:pPr>
            <a:r>
              <a:rPr lang="en-US" sz="1200" dirty="0">
                <a:solidFill>
                  <a:schemeClr val="tx2"/>
                </a:solidFill>
              </a:rPr>
              <a:t>No course teaches AD</a:t>
            </a:r>
            <a:endParaRPr lang="en-US" sz="1400" dirty="0"/>
          </a:p>
        </p:txBody>
      </p:sp>
      <p:sp>
        <p:nvSpPr>
          <p:cNvPr id="17" name="Panel 1" descr="">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8" name="Icon FaUserClock" descr="">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B45309"/>
          </a:solidFill>
          <a:ln w="12700">
            <a:solidFill>
              <a:srgbClr val="B45309"/>
            </a:solidFill>
            <a:prstDash val="solid"/>
          </a:ln>
        </p:spPr>
      </p:sp>
      <p:pic>
        <p:nvPicPr>
          <p:cNvPr id="1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84967"/>
            <a:ext cx="266273" cy="266273"/>
          </a:xfrm>
          <a:prstGeom prst="rect">
            <a:avLst/>
          </a:prstGeom>
        </p:spPr>
      </p:pic>
      <p:sp>
        <p:nvSpPr>
          <p:cNvPr id="20" name="Panel head 1"/>
          <p:cNvSpPr txBox="1"/>
          <p:nvPr/>
        </p:nvSpPr>
        <p:spPr>
          <a:xfrm>
            <a:off x="1417320" y="2862072"/>
            <a:ext cx="4480560" cy="512064"/>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Just in time, before each wave</a:t>
            </a:r>
            <a:endParaRPr lang="en-US" sz="1700" dirty="0"/>
          </a:p>
        </p:txBody>
      </p:sp>
      <p:sp>
        <p:nvSpPr>
          <p:cNvPr id="21"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Champions and managers 60 to 45 days out</a:t>
            </a:r>
            <a:endParaRPr lang="en-US" sz="1400" dirty="0"/>
          </a:p>
          <a:p>
            <a:pPr marL="342900" indent="-342900">
              <a:spcAft>
                <a:spcPts val="200"/>
              </a:spcAft>
              <a:buSzPct val="100000"/>
              <a:buChar char="•"/>
            </a:pPr>
            <a:r>
              <a:rPr lang="en-US" sz="1300" dirty="0">
                <a:solidFill>
                  <a:schemeClr val="tx2"/>
                </a:solidFill>
              </a:rPr>
              <a:t>Help desk by 30 days; users assigned at 30</a:t>
            </a:r>
            <a:endParaRPr lang="en-US" sz="1400" dirty="0"/>
          </a:p>
          <a:p>
            <a:pPr marL="342900" indent="-342900">
              <a:spcAft>
                <a:spcPts val="200"/>
              </a:spcAft>
              <a:buSzPct val="100000"/>
              <a:buChar char="•"/>
            </a:pPr>
            <a:r>
              <a:rPr lang="en-US" sz="1300" dirty="0">
                <a:solidFill>
                  <a:schemeClr val="tx2"/>
                </a:solidFill>
              </a:rPr>
              <a:t>Reminders at 15 and 7; then the readiness check</a:t>
            </a:r>
            <a:endParaRPr lang="en-US" sz="1400" dirty="0"/>
          </a:p>
        </p:txBody>
      </p:sp>
      <p:sp>
        <p:nvSpPr>
          <p:cNvPr id="22" name="Panel 2" descr="">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23" name="Icon FaCodeBranch" desc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1F2A44"/>
          </a:solidFill>
          <a:ln w="12700">
            <a:solidFill>
              <a:srgbClr val="1F2A44"/>
            </a:solidFill>
            <a:prstDash val="solid"/>
          </a:ln>
        </p:spPr>
      </p:sp>
      <p:pic>
        <p:nvPicPr>
          <p:cNvPr id="2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84967"/>
            <a:ext cx="266273" cy="266273"/>
          </a:xfrm>
          <a:prstGeom prst="rect">
            <a:avLst/>
          </a:prstGeom>
        </p:spPr>
      </p:pic>
      <p:sp>
        <p:nvSpPr>
          <p:cNvPr id="25" name="Panel head 2"/>
          <p:cNvSpPr txBox="1"/>
          <p:nvPr/>
        </p:nvSpPr>
        <p:spPr>
          <a:xfrm>
            <a:off x="7040880" y="2862072"/>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Keep the curriculum current</a:t>
            </a:r>
            <a:endParaRPr lang="en-US" sz="1700" dirty="0"/>
          </a:p>
        </p:txBody>
      </p:sp>
      <p:sp>
        <p:nvSpPr>
          <p:cNvPr id="26"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Every module names its chapters and versions</a:t>
            </a:r>
            <a:endParaRPr lang="en-US" sz="1400" dirty="0"/>
          </a:p>
          <a:p>
            <a:pPr marL="342900" indent="-342900">
              <a:spcAft>
                <a:spcPts val="200"/>
              </a:spcAft>
              <a:buSzPct val="100000"/>
              <a:buChar char="•"/>
            </a:pPr>
            <a:r>
              <a:rPr lang="en-US" sz="1300" dirty="0">
                <a:solidFill>
                  <a:schemeClr val="tx2"/>
                </a:solidFill>
              </a:rPr>
              <a:t>A scheduled check on sources flags modules</a:t>
            </a:r>
            <a:endParaRPr lang="en-US" sz="1400" dirty="0"/>
          </a:p>
          <a:p>
            <a:pPr marL="342900" indent="-342900">
              <a:spcAft>
                <a:spcPts val="200"/>
              </a:spcAft>
              <a:buSzPct val="100000"/>
              <a:buChar char="•"/>
            </a:pPr>
            <a:r>
              <a:rPr lang="en-US" sz="1300" dirty="0">
                <a:solidFill>
                  <a:schemeClr val="tx2"/>
                </a:solidFill>
              </a:rPr>
              <a:t>Each revision is a new course version</a:t>
            </a:r>
            <a:endParaRPr lang="en-US" sz="1400" dirty="0"/>
          </a:p>
        </p:txBody>
      </p:sp>
      <p:sp>
        <p:nvSpPr>
          <p:cNvPr id="27" name="Rule"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8" name="Icon FaUserCheck"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29"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30" name="Rule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B45309"/>
                </a:solidFill>
              </a:rPr>
              <a:t>No gate without its training dates, no wave without its training window: </a:t>
            </a:r>
            <a:pPr indent="0" marL="0">
              <a:buNone/>
            </a:pPr>
            <a:r>
              <a:rPr lang="en-US" sz="1650" dirty="0">
                <a:solidFill>
                  <a:schemeClr val="tx2"/>
                </a:solidFill>
              </a:rPr>
              <a:t>and the help desk goes first. No technician is made eligible for a help desk role until their training and verification check are on record.</a:t>
            </a:r>
            <a:endParaRPr lang="en-US" sz="1650" dirty="0"/>
          </a:p>
        </p:txBody>
      </p:sp>
      <p:sp>
        <p:nvSpPr>
          <p:cNvPr id="3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5 CFR 930.301(d); NIST SP 800-53 Rev. 5 (AT-2, AT-3); SP 800-50 Rev. 1; OMB A-130, Appendix I §4.h; Microsoft Learn, phishing-resistant deployment. Book 16, Chapters 01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Measure readiness, not attendance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737360"/>
                <a:gridCol w="457200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Kirkpatrick level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the program collects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858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1  Reaction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End-of-module and post-wave surveys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58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2  Learning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Assessments, lab demonstrations, observed scenarios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58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3  Behavior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Ticket trends, method registration, verification audits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58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4  Results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Gate outcomes and steady-state measures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ge box" descr="">
            <a:extLst>
              <a:ext uri="{C183D7F6-B498-43B3-948B-1728B52AA6E4}">
                <adec:decorative xmlns:adec="http://schemas.microsoft.com/office/drawing/2017/decorative" val="1"/>
              </a:ext>
            </a:extLst>
          </p:cNvPr>
          <p:cNvSpPr/>
          <p:nvPr/>
        </p:nvSpPr>
        <p:spPr>
          <a:xfrm>
            <a:off x="7086600" y="1371600"/>
            <a:ext cx="4572000" cy="3127248"/>
          </a:xfrm>
          <a:prstGeom prst="roundRect">
            <a:avLst>
              <a:gd name="adj" fmla="val 2339"/>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ChartLine"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Page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The committee's one page</a:t>
            </a:r>
            <a:endParaRPr lang="en-US" sz="1700" dirty="0"/>
          </a:p>
        </p:txBody>
      </p:sp>
      <p:sp>
        <p:nvSpPr>
          <p:cNvPr id="10" name="Page list"/>
          <p:cNvSpPr txBox="1"/>
          <p:nvPr/>
        </p:nvSpPr>
        <p:spPr>
          <a:xfrm>
            <a:off x="7315200" y="2212848"/>
            <a:ext cx="4206240" cy="221284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Is the next gate's workforce ready?</a:t>
            </a:r>
            <a:endParaRPr lang="en-US" sz="1400" dirty="0"/>
          </a:p>
          <a:p>
            <a:pPr marL="342900" indent="-342900">
              <a:spcAft>
                <a:spcPts val="600"/>
              </a:spcAft>
              <a:buSzPct val="100000"/>
              <a:buChar char="•"/>
            </a:pPr>
            <a:r>
              <a:rPr lang="en-US" sz="1350" dirty="0">
                <a:solidFill>
                  <a:schemeClr val="tx2"/>
                </a:solidFill>
              </a:rPr>
              <a:t>Are the next two waves ready?</a:t>
            </a:r>
            <a:endParaRPr lang="en-US" sz="1400" dirty="0"/>
          </a:p>
          <a:p>
            <a:pPr marL="342900" indent="-342900">
              <a:spcAft>
                <a:spcPts val="600"/>
              </a:spcAft>
              <a:buSzPct val="100000"/>
              <a:buChar char="•"/>
            </a:pPr>
            <a:r>
              <a:rPr lang="en-US" sz="1350" dirty="0">
                <a:solidFill>
                  <a:schemeClr val="tx2"/>
                </a:solidFill>
              </a:rPr>
              <a:t>What happened in the last wave?</a:t>
            </a:r>
            <a:endParaRPr lang="en-US" sz="1400" dirty="0"/>
          </a:p>
          <a:p>
            <a:pPr marL="342900" indent="-342900">
              <a:spcAft>
                <a:spcPts val="600"/>
              </a:spcAft>
              <a:buSzPct val="100000"/>
              <a:buChar char="•"/>
            </a:pPr>
            <a:r>
              <a:rPr lang="en-US" sz="1350" dirty="0">
                <a:solidFill>
                  <a:schemeClr val="tx2"/>
                </a:solidFill>
              </a:rPr>
              <a:t>Privileged gaps, as a count</a:t>
            </a:r>
            <a:endParaRPr lang="en-US" sz="1400" dirty="0"/>
          </a:p>
          <a:p>
            <a:pPr marL="342900" indent="-342900">
              <a:spcAft>
                <a:spcPts val="600"/>
              </a:spcAft>
              <a:buSzPct val="100000"/>
              <a:buChar char="•"/>
            </a:pPr>
            <a:r>
              <a:rPr lang="en-US" sz="1350" dirty="0">
                <a:solidFill>
                  <a:schemeClr val="tx2"/>
                </a:solidFill>
              </a:rPr>
              <a:t>What must the committee decide?</a:t>
            </a:r>
            <a:endParaRPr lang="en-US" sz="1400" dirty="0"/>
          </a:p>
        </p:txBody>
      </p:sp>
      <p:sp>
        <p:nvSpPr>
          <p:cNvPr id="11" name="Comp"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UserShield"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Comp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Completion for everyone; competence where a mistake is a security event: </a:t>
            </a:r>
            <a:pPr indent="0" marL="0">
              <a:buNone/>
            </a:pPr>
            <a:r>
              <a:rPr lang="en-US" sz="1650" dirty="0">
                <a:solidFill>
                  <a:schemeClr val="tx2"/>
                </a:solidFill>
              </a:rPr>
              <a:t>help desk, privileged administrators, ISSOs and plan roles must pass an assessment. A wave that isn't ready moves its date, not its threshold.</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A-130, Appendix I §4.h; NIST SP 800-50 Rev. 1 (Kirkpatrick levels; assessment report); SP 800-181 Rev. 1; Microsoft Learn (authentication methods activity; passwordless deployment). Book 16,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sk 1" descr="">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Icon FaListCheck" descr="">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indent="0" marL="0">
              <a:buNone/>
            </a:pPr>
            <a:r>
              <a:rPr lang="en-US" sz="1800" b="1" dirty="0">
                <a:solidFill>
                  <a:srgbClr val="B91C1C"/>
                </a:solidFill>
                <a:latin typeface="Cambria" pitchFamily="34" charset="0"/>
                <a:ea typeface="Cambria" pitchFamily="34" charset="-122"/>
                <a:cs typeface="Cambria" pitchFamily="34" charset="-120"/>
              </a:rPr>
              <a:t>Put training in every gate</a:t>
            </a:r>
            <a:endParaRPr lang="en-US" sz="1400" dirty="0"/>
          </a:p>
          <a:p>
            <a:pPr indent="0" marL="0">
              <a:buNone/>
            </a:pPr>
            <a:r>
              <a:rPr lang="en-US" sz="1450" dirty="0">
                <a:solidFill>
                  <a:schemeClr val="tx2"/>
                </a:solidFill>
              </a:rPr>
              <a:t>Measured against a roster; a gap only as a named, dated exception</a:t>
            </a:r>
            <a:endParaRPr lang="en-US" sz="1400" dirty="0"/>
          </a:p>
        </p:txBody>
      </p:sp>
      <p:sp>
        <p:nvSpPr>
          <p:cNvPr id="9" name="Ask 2" descr="">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Icon FaUserShield" descr="">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1F2A44"/>
          </a:solidFill>
          <a:ln w="12700">
            <a:solidFill>
              <a:srgbClr val="1F2A44"/>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indent="0" marL="0">
              <a:buNone/>
            </a:pPr>
            <a:r>
              <a:rPr lang="en-US" sz="1800" b="1" dirty="0">
                <a:solidFill>
                  <a:srgbClr val="1F2A44"/>
                </a:solidFill>
                <a:latin typeface="Cambria" pitchFamily="34" charset="0"/>
                <a:ea typeface="Cambria" pitchFamily="34" charset="-122"/>
                <a:cs typeface="Cambria" pitchFamily="34" charset="-120"/>
              </a:rPr>
              <a:t>Train the help desk first</a:t>
            </a:r>
            <a:endParaRPr lang="en-US" sz="1400" dirty="0"/>
          </a:p>
          <a:p>
            <a:pPr indent="0" marL="0">
              <a:buNone/>
            </a:pPr>
            <a:r>
              <a:rPr lang="en-US" sz="1450" dirty="0">
                <a:solidFill>
                  <a:schemeClr val="tx2"/>
                </a:solidFill>
              </a:rPr>
              <a:t>Verified before any new role, and before every wave</a:t>
            </a:r>
            <a:endParaRPr lang="en-US" sz="1400" dirty="0"/>
          </a:p>
        </p:txBody>
      </p:sp>
      <p:sp>
        <p:nvSpPr>
          <p:cNvPr id="13" name="Ask 3" descr="">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4" name="Icon FaSitemap" descr="">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0F766E"/>
          </a:solidFill>
          <a:ln w="12700">
            <a:solidFill>
              <a:srgbClr val="0F766E"/>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Name owners, keep them apart</a:t>
            </a:r>
            <a:endParaRPr lang="en-US" sz="1400" dirty="0"/>
          </a:p>
          <a:p>
            <a:pPr indent="0" marL="0">
              <a:buNone/>
            </a:pPr>
            <a:r>
              <a:rPr lang="en-US" sz="1450" dirty="0">
                <a:solidFill>
                  <a:schemeClr val="tx2"/>
                </a:solidFill>
              </a:rPr>
              <a:t>CHCO and CIO set competencies; the reporter doesn't decide</a:t>
            </a:r>
            <a:endParaRPr lang="en-US" sz="1400" dirty="0"/>
          </a:p>
        </p:txBody>
      </p:sp>
      <p:sp>
        <p:nvSpPr>
          <p:cNvPr id="17" name="Ask 4" descr="">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8" name="Icon FaIdCard" descr="">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45309"/>
          </a:solidFill>
          <a:ln w="12700">
            <a:solidFill>
              <a:srgbClr val="B45309"/>
            </a:solidFill>
            <a:prstDash val="solid"/>
          </a:ln>
        </p:spPr>
      </p:sp>
      <p:pic>
        <p:nvPicPr>
          <p:cNvPr id="19"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Certify with artifacts</a:t>
            </a:r>
            <a:endParaRPr lang="en-US" sz="1400" dirty="0"/>
          </a:p>
          <a:p>
            <a:pPr indent="0" marL="0">
              <a:buNone/>
            </a:pPr>
            <a:r>
              <a:rPr lang="en-US" sz="1450" dirty="0">
                <a:solidFill>
                  <a:schemeClr val="tx2"/>
                </a:solidFill>
              </a:rPr>
              <a:t>Capstones and two credentials, renewed every year</a:t>
            </a:r>
            <a:endParaRPr lang="en-US" sz="1400" dirty="0"/>
          </a:p>
        </p:txBody>
      </p:sp>
      <p:sp>
        <p:nvSpPr>
          <p:cNvPr id="21" name="Next" descr="">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Icon FaAddressBook"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indent="0" marL="0">
              <a:buNone/>
            </a:pPr>
            <a:r>
              <a:rPr lang="en-US" sz="1650" b="1" dirty="0">
                <a:solidFill>
                  <a:srgbClr val="1F2A44"/>
                </a:solidFill>
              </a:rPr>
              <a:t>Next step, no procurement: </a:t>
            </a:r>
            <a:pPr indent="0" marL="0">
              <a:buNone/>
            </a:pPr>
            <a:r>
              <a:rPr lang="en-US" sz="1650" dirty="0">
                <a:solidFill>
                  <a:schemeClr val="tx2"/>
                </a:solidFill>
              </a:rPr>
              <a:t>build the role roster from HR records, coded positions and eligible-role assignments; name a training lead and an owner per track; and brief the workforce office, labor relations and the Section 508 program manager before G0.</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5 CFR 930.301; OMB A-130; NIST SP 800-50 Rev. 1; OMB M-24-08. Book 16, Chapters 01, 05, 08, 09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slides</a:t>
            </a:r>
            <a:endParaRPr lang="en-US" sz="3000" dirty="0"/>
          </a:p>
        </p:txBody>
      </p:sp>
      <p:sp>
        <p:nvSpPr>
          <p:cNvPr id="3" name="Source list"/>
          <p:cNvSpPr txBox="1"/>
          <p:nvPr/>
        </p:nvSpPr>
        <p:spPr>
          <a:xfrm>
            <a:off x="548640" y="1371600"/>
            <a:ext cx="11064240" cy="46177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2"/>
                </a:solidFill>
              </a:rPr>
              <a:t>Law and regulation: FISMA, 44 U.S.C. § 3554; Federal Cybersecurity Workforce Assessment Act of 2015 (Pub. L. 114-113, Div. N, Title III) and 5 U.S.C. 301 note; 5 U.S.C. §§ 1401–1402; 15 U.S.C. § 7443; 29 U.S.C. § 794d; 5 CFR 410.201, 410.202, 410.601 and 930.301.</a:t>
            </a:r>
            <a:endParaRPr lang="en-US" sz="1400" dirty="0"/>
          </a:p>
          <a:p>
            <a:pPr marL="342900" indent="-342900">
              <a:spcAft>
                <a:spcPts val="600"/>
              </a:spcAft>
              <a:buSzPct val="100000"/>
              <a:buChar char="•"/>
            </a:pPr>
            <a:r>
              <a:rPr lang="en-US" sz="1200" dirty="0">
                <a:solidFill>
                  <a:schemeClr val="tx2"/>
                </a:solidFill>
              </a:rPr>
              <a:t>OMB: Circular A-130 (July 2016), §5.c, §6.g and Appendix I §4.h; M-22-09 (January 26, 2022); M-24-08 (December 21, 2023).  ·  OPM: cybersecurity coding memoranda (January 4, 2017; April 11, 2022); Interpretive Guidance for Cybersecurity Positions (October 2018).  ·  GAO-19-144 (March 12, 2019).</a:t>
            </a:r>
            <a:endParaRPr lang="en-US" sz="1400" dirty="0"/>
          </a:p>
          <a:p>
            <a:pPr marL="342900" indent="-342900">
              <a:spcAft>
                <a:spcPts val="600"/>
              </a:spcAft>
              <a:buSzPct val="100000"/>
              <a:buChar char="•"/>
            </a:pPr>
            <a:r>
              <a:rPr lang="en-US" sz="1200" dirty="0">
                <a:solidFill>
                  <a:schemeClr val="tx2"/>
                </a:solidFill>
              </a:rPr>
              <a:t>NIST: SP 800-50 Rev. 1 (September 2024); SP 800-181 Rev. 1 and NICE Framework Components v2.0.0, v2.1.0 and v2.2.0 (April 28, 2026); SP 800-53 Rev. 5 (release 5.2.0) and SP 800-53B; SP 800-53A Rev. 5; SP 800-37 Rev. 2; SP 800-63B-4 (July 2025); SP 800-128; SP 800-137; OSCAL.</a:t>
            </a:r>
            <a:endParaRPr lang="en-US" sz="1400" dirty="0"/>
          </a:p>
          <a:p>
            <a:pPr marL="342900" indent="-342900">
              <a:spcAft>
                <a:spcPts val="600"/>
              </a:spcAft>
              <a:buSzPct val="100000"/>
              <a:buChar char="•"/>
            </a:pPr>
            <a:r>
              <a:rPr lang="en-US" sz="1200" dirty="0">
                <a:solidFill>
                  <a:schemeClr val="tx2"/>
                </a:solidFill>
              </a:rPr>
              <a:t>FedRAMP Consolidated Rules for 2026 (Agency Use; Key Security Indicators; Collaborative Continuous Monitoring); Notices NTC-0004 and NTC-0014.  ·  CISA: Advisory AA23-320A, Scattered Spider (revised July 29, 2025); BOD 26-04; CISA Learning.  ·  U.S. Access Board, Revised 508 Standards.  ·  DoD Directive 8140.01 and Manual 8140.03 (contrast only).</a:t>
            </a:r>
            <a:endParaRPr lang="en-US" sz="1400" dirty="0"/>
          </a:p>
          <a:p>
            <a:pPr marL="342900" indent="-342900">
              <a:spcAft>
                <a:spcPts val="600"/>
              </a:spcAft>
              <a:buSzPct val="100000"/>
              <a:buChar char="•"/>
            </a:pPr>
            <a:r>
              <a:rPr lang="en-US" sz="1200" dirty="0">
                <a:solidFill>
                  <a:schemeClr val="tx2"/>
                </a:solidFill>
              </a:rPr>
              <a:t>Microsoft Learn: Conditional Access planning and report-only; emergency access; phishing-resistant passwordless deployment; certificate-based authentication; Windows Hello for Business; passkeys; SSPR; smart lockout; Intune compliance and data visibility; Outlook reporting; authentication methods activity; developer program; government trials; certifications, exam retirement and renewal.</a:t>
            </a:r>
            <a:endParaRPr lang="en-US" sz="1400" dirty="0"/>
          </a:p>
          <a:p>
            <a:pPr marL="342900" indent="-342900">
              <a:spcAft>
                <a:spcPts val="600"/>
              </a:spcAft>
              <a:buSzPct val="100000"/>
              <a:buChar char="•"/>
            </a:pPr>
            <a:r>
              <a:rPr lang="en-US" sz="1200" dirty="0">
                <a:solidFill>
                  <a:schemeClr val="tx2"/>
                </a:solidFill>
              </a:rPr>
              <a:t>Vendor and certification-body sites, as examples only: Infoblox, BlueCat, Cisco, Fortinet, Palo Alto Networks, Zscaler, SailPoint, AWS, Broadcom, ServiceNow; CompTIA, ISC2, ISACA.</a:t>
            </a:r>
            <a:endParaRPr lang="en-US" sz="1400" dirty="0"/>
          </a:p>
          <a:p>
            <a:pPr marL="342900" indent="-342900">
              <a:spcAft>
                <a:spcPts val="600"/>
              </a:spcAft>
              <a:buSzPct val="100000"/>
              <a:buChar char="•"/>
            </a:pPr>
            <a:r>
              <a:rPr lang="en-US" sz="1200" dirty="0">
                <a:solidFill>
                  <a:schemeClr val="tx2"/>
                </a:solidFill>
              </a:rPr>
              <a:t>Full footnotes with links and access dates (October 21–22, 2026): Book 16, every chapter and Appendix A (whalermike.github.io/modernization-workbook/docs/books/b16-people/).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16 — People: Training &amp; Education</dc:title>
  <dc:subject>PptxGenJS Presentation</dc:subject>
  <dc:creator>Michael F. Stratton</dc:creator>
  <cp:lastModifiedBy>Michael F. Stratton</cp:lastModifiedBy>
  <cp:revision>1</cp:revision>
  <dcterms:created xsi:type="dcterms:W3CDTF">2026-10-21T23:34:48Z</dcterms:created>
  <dcterms:modified xsi:type="dcterms:W3CDTF">2026-10-21T23:34:48Z</dcterms:modified>
</cp:coreProperties>
</file>