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cd3edac-ad75-4762-bd84-353df9042a27}">
          <p14:sldIdLst>
            <p14:sldId id="256"/>
          </p14:sldIdLst>
        </p14:section>
        <p14:section name="Why" id="{94dfb322-2298-313d-1e94-bb8a39557cd3}">
          <p14:sldIdLst>
            <p14:sldId id="257"/>
            <p14:sldId id="258"/>
            <p14:sldId id="259"/>
          </p14:sldIdLst>
        </p14:section>
        <p14:section name="What" id="{0a1b3694-66ea-bd8f-b86b-7f901e5a677a}">
          <p14:sldIdLst>
            <p14:sldId id="260"/>
            <p14:sldId id="261"/>
            <p14:sldId id="262"/>
            <p14:sldId id="263"/>
            <p14:sldId id="264"/>
            <p14:sldId id="265"/>
            <p14:sldId id="266"/>
            <p14:sldId id="267"/>
          </p14:sldIdLst>
        </p14:section>
        <p14:section name="Who" id="{79c72f72-093c-8e5e-6ded-29646a0a1975}">
          <p14:sldIdLst>
            <p14:sldId id="268"/>
          </p14:sldIdLst>
        </p14:section>
        <p14:section name="How" id="{ec35bb1a-3958-60a1-06c5-646c010aa8e4}">
          <p14:sldIdLst>
            <p14:sldId id="269"/>
            <p14:sldId id="270"/>
            <p14:sldId id="271"/>
            <p14:sldId id="272"/>
            <p14:sldId id="273"/>
          </p14:sldIdLst>
        </p14:section>
        <p14:section name="Backup" id="{a554b113-868e-c4dc-f015-475922c6f921}">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2: Graph clients for the government clouds. Every piece of code in this workbook that calls Microsoft Graph should follow one pattern: know which cloud it's in, send its token nowhere else, ask for no more than each call needs, and keep working when Graph says slow down or a beta API changes. We'll sort out which cloud is which, run Microsoft's own snippets to see what they leave out, walk the client's rules, then two labs and the dangers. One note before we begin: the code is illustrative, tested against fixtures.
Detail: A Graph client has to know which cloud it is in, send its token nowhere else, ask for no more than each call needs, and keep working when Graph says "slow down" or a beta API changes under it. The chapter gives the client pattern every Graph caller in this workbook should follow, for the worldwide service, GCC, GCC High and DoD. You start with Microsoft's own Graph SDK snippets for national clouds, which Learn renders and the repository keeps as a pinned copy, and run them against stand-ins to see what they would sign in to. Then you build on examples/ms-automation for what they leave to you: one table of endpoints per cloud, including Azure Resource Manager, a list of every call with its least-privileged permission, a token check before a live run, paging, Retry-After, and beta calls that can fail without failing the run. Lab 1 runs on a laptop with no tenant; Lab 2 uses a test tenant.
Sources: Microsoft Learn, "Access national cloud deployments with the Microsoft Graph SDKs," https://learn.microsoft.com/graph/sdks/national-clouds (accessed Oct 30, 2026).
Workbook: Building the Attribute-Driven Migration, Chapter 02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so much? Because every other chapter's code talks to Graph or to Azure, and a client that gets the cloud wrong, or asks for too much, carries that mistake into everything built on it. So the goal is a client that reaches the right cloud, asks for the right token, makes only the calls it declares, and pages and retries the way Microsoft says to. Just as important, for each rule in the code you should be able to say whether it's Microsoft's contract, Microsoft's sample, or the program's own design. Let's start with the clouds.
Detail: Goal: by the end of this chapter you can write a Graph client, in Python or PowerShell, that reaches the right cloud for the tenant, requests the right token, makes only the calls it declares, pages and retries the way Microsoft documents, and treats beta as optional. You can say, for each rule in the code, whether it is Microsoft's contract, Microsoft's sample, or the program's own design. The workbook index says Chapter 02 is the foundation the other chapters lean on: read it before you build a new Graph or Azure client of your own. Chapters 01, 03, 04 and 07 were written first, because their code already existed.
Sources: Building the Attribute-Driven Migration, Chapter 02, docs/project-plans/developer-workbooks/attribute-driven-migration/02-graph-clients-for-government-clouds.md
Workbook: Building the Attribute-Driven Migration, Chapter 02 — “Goal and audience”; workbook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this right first, because every other rule depends on it. A GCC Moderate tenant uses the worldwide endpoints, the same as a commercial tenant: Learn says so plainly. GCC was built when Microsoft had one cloud directory, and it still uses that commercial directory. It's GCC High and the Department of Defense cloud that have their own hosts, for tokens, for Graph and for Resource Manager. And a token from one cloud simply doesn't work in another. The slide maps all four clouds, including the PowerShell environment names you'll pass.
Detail: A GCC (Moderate) tenant uses the worldwide endpoints: login.microsoftonline.com for tokens and graph.microsoft.com for Graph. Learn says so plainly: in a Microsoft 365 GCC environment, keep using the worldwide endpoints. Office 365 GCC is paired with Microsoft Entra ID in Azure, the commercial cloud. GCC was built when Microsoft had one cloud directory, and it still uses that directory. GCC High and DoD are the clouds with separate hosts. Both get tokens from login.microsoftonline.us. GCC High calls Graph at graph.microsoft.us, and DoD at dod-graph.microsoft.us. They are paired with Microsoft Entra ID in Azure Government. A token from one cloud doesn't work in another. The table: global, Worldwide, login.microsoftonline.com, graph.microsoft.com, Graph PowerShell -Environment Global, management.azure.com, AzureCloud. gcc, GCC (Moderate), login.microsoftonline.com, graph.microsoft.com, Global, management.azure.com, AzureCloud. gcchigh, GCC High, login.microsoftonline.us, graph.microsoft.us, USGov, management.usgovcloudapi.net, AzureUSGovernment. dod, DoD, login.microsoftonline.us, dod-graph.microsoft.us, USGovDoD, management.usgovcloudapi.net, AzureUSGovernment.
Sources: Microsoft Learn, "Microsoft Graph national cloud deployments," https://learn.microsoft.com/graph/deployments (accessed Oct 30, 2026). · Microsoft Learn, "Cloud feature availability for US Government customers," Microsoft 365 integration, https://learn.microsoft.com/azure/security/fundamentals/feature-availability (accessed Oct 30, 2026). · Microsoft Learn, "Planning identity for Azure Government applications," frequently asked questions, https://learn.microsoft.com/azure/azure-government/documentation-government-plan-identity (accessed Oct 30, 2026). · Microsoft Learn, "Get-MgEnvironment," https://learn.microsoft.com/powershell/module/microsoft.graph.authentication/get-mgenvironment?view=graph-powershell-1.0, and "Authentication module cmdlets in Microsoft Graph PowerShell," https://learn.microsoft.com/powershell/microsoftgraph/authentication-commands?view=graph-powershell-1.0 (accessed Oct 30, 2026). · Microsoft Learn, "Compare Azure Government and global Azure," guidance for developers, https://learn.microsoft.com/azure/azure-government/compare-azure-government-global-azure (accessed Oct 30, 2026). · Microsoft Learn, "Azure control plane and data plane," https://learn.microsoft.com/azure/azure-resource-manager/management/control-plane-and-data-plane (accessed Oct 30, 2026). · Microsoft Learn, "Quickstart: Connect to Azure Government with PowerShell," https://learn.microsoft.com/azure/azure-government/documentation-government-get-started-connect-with-ps, and "Manage Azure Redis with Azure PowerShell," how to connect to other clouds (AzureCloud is the default), https://learn.microsoft.com/azure/azure-cache-for-redis/how-to-manage-redis-cache-powershell (accessed Oct 30, 2026).
Workbook: Building the Attribute-Driven Migration, Chapter 02 — “Which cloud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estate for this migration is Microsoft 365 GCC with commercial Azure, so let's make that concrete. Nothing in its configuration is a dot-u-s host. A run that reads both Graph and Resource Manager needs two tokens, because one token request can only name one resource. The code still calls the cloud "gcc" by name, even though it resolves to the worldwide endpoints, so the evidence says what was intended. And watch for a second tenant: if a workload ever lands in an Azure Government subscription, it has its own hosts, and the run has to be told, never guess.
Detail: The target estate for this migration is Microsoft 365 GCC with commercial Azure. For the code: Nothing is a .us host. Tokens come from login.microsoftonline.com, Graph is graph.microsoft.com, and Azure Resource Manager is the commercial management.azure.com. Azure PowerShell connects with its default environment, AzureCloud. One token per resource. A client-credentials token request names one resource's .default scope; Learn says scopes for several resources in one request give an error. A run that reads Graph and Resource Manager gets two tokens, https://graph.microsoft.com/.default and https://management.azure.com/.default, from the same tenant. The cloud name is still explicit. GCC and worldwide resolve to the same endpoints today, but the code takes gcc as its own name. The run's evidence then says which cloud it was meant for, and a GCC High build changes one argument, not the code (design guidance). Beware a second tenant. Learn notes that many GCC customers also hold an Azure Government subscription, with its own Microsoft Entra tenant and identities. If a workload ever lands there, its Resource Manager host is management.usgovcloudapi.net and its tokens come from login.microsoftonline.us, even though Microsoft 365 stays in GCC. The cloud table can't guess that; the run has to be told. Design guidance: give each tenant its own configuration entry, never a fallback.
Sources: Microsoft Learn, "Compare Azure Government and global Azure," guidance for developers, https://learn.microsoft.com/azure/azure-government/compare-azure-government-global-azure (accessed Oct 30, 2026). · Microsoft Learn, "Azure control plane and data plane," https://learn.microsoft.com/azure/azure-resource-manager/management/control-plane-and-data-plane (accessed Oct 30, 2026). · Microsoft Learn, "Quickstart: Connect to Azure Government with PowerShell," https://learn.microsoft.com/azure/azure-government/documentation-government-get-started-connect-with-ps, and "Manage Azure Redis with Azure PowerShell," how to connect to other clouds (AzureCloud is the default), https://learn.microsoft.com/azure/azure-cache-for-redis/how-to-manage-redis-cache-powershell (accessed Oct 30, 2026). · Microsoft Learn, "Microsoft identity platform and the OAuth 2.0 client credentials flow," get a token, https://learn.microsoft.com/entra/identity-platform/v2-oauth2-client-creds-grant-flow (accessed Oct 30, 2026). · Microsoft Learn, "Planning identity for Azure Government applications," frequently asked questions, https://learn.microsoft.com/azure/azure-government/documentation-government-plan-identity (accessed Oct 30, 2026).
Workbook: Building the Attribute-Driven Migration, Chapter 02 — “What GCC with commercial Azure means for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is the reference for clients that already exist. Chapters 1, 3 and 4 were written first, and each has its own Graph client that follows part of the pattern. They name the clouds two different ways: the program's short names, and Learn's PowerShell environment names. That's fine, because the table maps one to the other. What isn't fine is a default. A cloud name a client doesn't recognize has to stop the run, because quietly falling back to worldwide is exactly how a government run ends up talking to the wrong service.
Detail: Chapters 01, 03 and 04 were written first, because their code already existed. Each has its own Graph client, and each already follows part of this pattern. examples/hcm-entra, Chapter 01: picks the cloud by the provisioning endpoint in its settings file; guards that the endpoint must be one of the three Graph hosts, v1.0 or beta. examples/validation-kit, Chapter 03: global, gcc, gcchigh, dod, each with its Graph environment, Azure environment and Graph host; guards GET only, one data path, beta paths limited to a declared list, and a nextLink to another host is refused. examples/dynamic-rules, Chapter 04: Learn's environment names, Global, USGov, USGovDoD; Get-DrGraphEndpoint refuses a name it doesn't know. examples/ms-automation, this chapter: global, gcc, gcchigh, dod; everything in this chapter's checklist. Two naming schemes are in use: the program's (gcc, gcchigh, dod) and Learn's PowerShell environment names (Global, USGov, USGovDoD). Both are fine; the table maps one to the other. What isn't fine is a default. A cloud name a client doesn't recognize must stop the run. Learn's own dynamic membership samples fall back to the worldwide endpoint on an unknown answer, which Chapter 04 shows and guards against. When you build a new client, use the checklist at the end of this chapter.
Sources: Building the Attribute-Driven Migration, Chapter 02, docs/project-plans/developer-workbooks/attribute-driven-migration/02-graph-clients-for-government-clouds.md
Workbook: Building the Attribute-Driven Migration, Chapter 02 — “The clients this chapter is the reference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page on national clouds for the Graph SDKs names the three things a client has to change per cloud: where it gets its token, where Graph lives, and any scope that names the Graph host. Its example connects to GCC High. Other Learn pages cover paging and throttling. The Python examples live in Microsoft's snippets repository, so the workbook pins an unmodified copy of the two files it uses, with a hash a test checks. A test then runs them against stand-ins that record exactly what they'd sign in to, without signing in to anything.
Detail: Learn's page on national clouds for the Graph SDKs gives, for each SDK language, the three things a client has to change: the token authority, the Graph service root, and any scope that names the Graph host. Its example connects to US Government L4, which is GCC High. It also says the shortened scope names (User.Read) and the cloud's own form (https://graph.microsoft.us/User.Read) are equivalent for consent, and that app-only clients use the cloud's .default scope, such as https://graph.microsoft.us/.default. For PowerShell, the same page gives one line: Connect-MgGraph -Environment USGov with the tenant, client and the cloud's .default scope. Get-MgEnvironment lists the environments, and Connect-MgGraph targets the worldwide cloud unless told otherwise. The SDKs have a page iterator and follow @odata.nextLink; headers on the first request aren't carried to later pages by default. The SDKs retry throttled requests using Retry-After, or exponential backoff when it's missing, but they don't retry requests inside a JSON batch. The pinned copy: the code behind Learn's Python examples lives in Microsoft's msgraph-snippets-python repository, and Learn's pages pull it in when they publish. The repository pins an unmodified copy of national_clouds.py (the US Government L4 client) and create_clients.py (the credential snippets, including the certificate one an app-only job uses) in examples/third_party/msgraph-snippets-python, from commit 3ef4381 (October 20, 2026), retrieved October 30, 2026. snapshot.json records each file's SHA-256, and a unit test checks them. The weekly source watch reports new commits to the snippets folder. Updating the copy is a reviewed pull request, as in Chapter 01. tests/python/test_learn_sample.py loads both files unmodified and runs them against stand-ins for the SDK packages. The stand-ins record each constructor's arguments, so the test sees what the snippet would sign in to and call. Nothing is installed and nothing signs in.
Sources: Microsoft Learn, "Access national cloud deployments with the Microsoft Graph SDKs," https://learn.microsoft.com/graph/sdks/national-clouds (accessed Oct 30, 2026). · Microsoft Learn, "Get-MgEnvironment," https://learn.microsoft.com/powershell/module/microsoft.graph.authentication/get-mgenvironment?view=graph-powershell-1.0, and "Authentication module cmdlets in Microsoft Graph PowerShell," https://learn.microsoft.com/powershell/microsoftgraph/authentication-commands?view=graph-powershell-1.0 (accessed Oct 30, 2026). · Microsoft Learn, "Page through a collection using the Microsoft Graph SDKs," https://learn.microsoft.com/graph/sdks/paging (accessed Oct 30, 2026). · Microsoft Learn, "Microsoft Graph throttling guidance," https://learn.microsoft.com/graph/throttling (accessed Oct 30, 2026). · Microsoft, microsoftgraph/msgraph-snippets-python, src/snippets/national_clouds.py and src/snippets/create_clients.py at commit 3ef43818c946ef595e8d90fa6ec63edec1fb3628 (October 20, 2026), MIT License, https://github.com/microsoftgraph/msgraph-snippets-python/tree/3ef43818c946ef595e8d90fa6ec63edec1fb3628/src/snippets (accessed Oct 30, 2026); rendered on Learn's national cloud page and on "Choose a Microsoft Graph authentication provider," https://learn.microsoft.com/graph/sdks/choose-authentication-providers; pinned copy in examples/third_party/msgraph-snippets-python.
Workbook: Building the Attribute-Driven Migration, Chapter 02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snippets against the stand-ins shows what they leave to you, and the first half is about cloud and credentials. The surprise is the Python credential: on the same page where the other languages set the government authority, the Python example doesn't, and Python's identity library defaults to the public cloud. Copy it for GCC High and the app signs in to the wrong cloud. There's also nothing for the Department of Defense cloud, a certificate snippet that hard-codes the worldwide scope, and a client secret, which is just a password in a file.
Detail: Each row is pinned by a test: in test_learn_sample.py for the sample's behavior, and in test_graph_clients.py and GraphClients.Tests.ps1 for ours. The US Government client sets the scope to https://graph.microsoft.us/.default and the Graph host to NationalClouds.US_GOV: kept as the model, the scope is built from the cloud's Graph host. The Python credential in that snippet names no authority; the C#, Go, Java and TypeScript tabs of the same Learn page set the US Government authority. An azure-identity credential uses the public cloud authority, login.microsoftonline.com, unless told otherwise, so a GCC High app would sign in to the wrong cloud. azure_identity_provider sets AZURE_GOVERNMENT for gcchigh and dod, tested for every cloud. A managed identity ignores the authority, because it lives in one cloud. One national cloud function, for GCC High; nothing for DoD: DoD has its own Graph host; one table for all four clouds, and an unknown name is an error. The certificate snippet hard-codes https://graph.microsoft.com/.default and names no authority: right for worldwide and GCC, wrong for GCC High and DoD; scope_for(cloud) and the authority both follow the cloud. The client-credentials snippet also shows a client secret: a secret is a password in a file; the examples accept a certificate or a managed identity, never a secret.
Sources: Microsoft Learn, "Access national cloud deployments with the Microsoft Graph SDKs," https://learn.microsoft.com/graph/sdks/national-clouds (accessed Oct 30, 2026). · Microsoft Learn, "InteractiveBrowserCredential Class" (azure-identity for Python), keyword-only parameter authority, https://learn.microsoft.com/python/api/azure-identity/azure.identity.interactivebrowsercredential?view=azure-python (accessed Oct 30, 2026). · Microsoft Learn, "DefaultAzureCredential Class" (azure-identity for Python), keyword-only parameter authority, https://learn.microsoft.com/python/api/azure-identity/azure.identity.defaultazurecredential?view=azure-python (accessed Oct 30, 2026).
Workbook: Building the Attribute-Driven Migration, Chapter 02 — “What it leaves to you,”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about running safely. The snippets have no Resource Manager endpoints at all. Nothing ties a call to the permission it needs, though Learn asks for the least privileged permission for each one. There's no paging in the Python snippets, the SDK won't retry throttled items inside a batch, and there's nothing about beta. So the verdict: use Learn's page as the model for the three things that change per cloud, add the authority, and for background jobs use the hardened client, because a reviewer will ask which calls, with which permissions, in which cloud.
Detail: No Resource Manager endpoints: GCC with commercial Azure needs management.azure.com; GCC High and DoD need management.usgovcloudapi.net; the code adds endpoints(cloud) and scope_for(cloud, "arm"). Nothing ties a call to a permission: Learn asks for the least-privileged permission for each call, and an unused permission is still exposure; graph-calls.json lists every call with its permission, a task can make only its own calls, and the token's roles are checked before a live run. No paging in the Python snippets; Learn's paging page shows a page iterator for the other SDK languages: a nextLink is a full URL from a response, and later pages lose the first request's headers; the client refuses a nextLink on any host but the cloud's Graph host, and sends the same headers on every page. The SDK retries on Retry-After but not inside a batch: a batch hides throttled items; batch() retries throttled items after the longest Retry-After, and checks each request inside against the call list. Nothing about beta: beta APIs can change without notice and aren't supported in production; a beta call must be declared, and try_beta turns a missing beta shape, or a cloud that doesn't offer the feature, into "not evaluated". The verdict: use Learn's page as the model for the three things that change per cloud, and keep the pinned snippets to compare against. Don't copy the Python national cloud snippet as written for GCC High or DoD: add the authority. For app-only background jobs, use the hardened client, because the questions a reviewer asks ("which calls, with which permissions, in which cloud?") need answers the snippets don't carry.
Sources: Microsoft Learn, "Overview of Microsoft Graph permissions," best practices for using Microsoft Graph permissions, https://learn.microsoft.com/graph/permissions-overview (accessed Oct 30, 2026). · Microsoft Learn, "Enhance security with the principle of least privilege," overprivileged applications, https://learn.microsoft.com/entra/identity-platform/secure-least-privileged-access (accessed Oct 30, 2026). · Microsoft Learn, "Page through a collection using the Microsoft Graph SDKs," https://learn.microsoft.com/graph/sdks/paging (accessed Oct 30, 2026). · Microsoft Learn, "Microsoft Graph throttling guidance," https://learn.microsoft.com/graph/throttling (accessed Oct 30, 2026). · Microsoft Learn, "Versioning, support, and breaking change policies for Microsoft Graph," https://learn.microsoft.com/graph/versioning-and-support (accessed Oct 30, 2026).
Workbook: Building the Attribute-Driven Migration, Chapter 02 — “What it leaves to you,” rows 6–10;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itself. Everything about a cloud comes from one table: ask for a cloud by name and you get its token authority, its Graph host and its Resource Manager host, and anything else is an error. The client won't send its token to any other host. Then there's the call list, one entry per Graph call, with the least privileged permission from the API page and the tasks that use it. Two rules follow: a task can make only its own calls, and its permissions are exactly the union of those calls. Add one without the other, and the build fails.
Detail: examples/ms-automation already had a small Graph client, python/graphkit.py (standard library only), and a PowerShell module, powershell/FmwGraph.psm1, that runs ten read-only Entra ID and Intune checks. This chapter adds a call list both read, the Resource Manager endpoints, a token check, beta handling and the tests. The two clients stay in step: both read graph-calls.json, and both are tested against tests/fixtures/clouds.json. endpoints(cloud) returns the token authority, Graph host, Resource Manager host and the PowerShell environment names for global, gcc, gcchigh or dod, and raises on anything else. scope_for(cloud, "graph") and scope_for(cloud, "arm") build the .default scopes. In PowerShell, Get-FmwCloud returns the same values, and Connect-FmwGraph passes the environment to Connect-MgGraph. The client refuses to send its token to any host but the cloud's Graph host. In GCC High, a URL on graph.microsoft.com is refused, and so is a DoD client's call to graph.microsoft.us. graph-calls.json lists every Graph call the tasks make: method, version, path, the least-privileged application permission from the API page, the release stage, the tasks that use it, and the clouds where Learn says the feature isn't offered. Rules: a task makes only its calls. The command lines build the client with load_calls(task); any other call raises PermissionError before it is sent. In PowerShell, Invoke-FmwEntraTask and Invoke-FmwIntuneTask pass the task to Get-FmwGraphCollection, which checks every page with Assert-FmwGraphCall. A task's permissions are the union of its calls: a test checks that this union equals each task's published permission list, in both languages. Adding a call without its permission, or a permission without a call, fails the build.
Sources: Microsoft Learn, "Overview of Microsoft Graph permissions," best practices for using Microsoft Graph permissions, https://learn.microsoft.com/graph/permissions-overview (accessed Oct 30, 2026).
Workbook: Building the Attribute-Driven Migration, Chapter 02 — “The code”; “One table of endpoints”; “Least privilege, per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rule is the token check, and it runs before a live job makes a single call. An app-only token lists its application permissions in one claim, so the Python client reads it from its own token. If a permission is missing, the run stops. If there's one the task doesn't use, it warns, because an unused permission is still exposure. PowerShell is trickier, since the Graph SDK signs in for you and never hands over the token. It turns out the session's context reports the same permissions, read from the same claim, so the module checks that instead.
Detail: The token is checked before a live run. An app-only token carries its application permissions in the roles claim. preflight reads that claim from the run's own token. A missing permission stops the run before any call; a permission the task doesn't use is printed as a warning, because an unused permission is exposure even if the code never calls it. The check reads the claim; it doesn't validate the token, and nothing uses it to authorize anything. In PowerShell, Test-FmwTokenRole does the same for a token you pass it, but Graph PowerShell signs in for you and never hands the module the token. It doesn't need to: Learn's app-only guide shows Get-MgContext reporting an AppOnly session's application permissions in Scopes, and the SDK fills Scopes from the token's scp claim or, when there is none, its roles claim (from the SDK's JwtHelpers.cs source, not a Learn page; it explains the Learn output for every sign-in type, managed identity included). So Test-FmwSessionRole reads Scopes, and Invoke-FmwEntraTask and Invoke-FmwIntuneTask call Assert-FmwSessionRole first: a missing permission stops the task before any Graph call, and an extra one is a warning, as in Python. It refuses a delegated session or none at all.
Sources: Microsoft Learn, "Access token claims reference," payload claims, https://learn.microsoft.com/entra/identity-platform/access-token-claims-reference (accessed Oct 30, 2026). · Microsoft Learn, "Enhance security with the principle of least privilege," overprivileged applications, https://learn.microsoft.com/entra/identity-platform/secure-least-privileged-access (accessed Oct 30, 2026). · Microsoft Learn, "Use app-only authentication with the Microsoft Graph PowerShell SDK," step 2, https://learn.microsoft.com/powershell/microsoftgraph/app-only (accessed Oct 30, 2026): an app registered with two application permissions (Type="Role") shows Scopes : {Group.Read.All, User.Read.All} and AuthType : AppOnly. · Microsoft, microsoftgraph/msgraph-sdk-powershell, src/Authentication/Authentication.Core/Utilities/JwtHelpers.cs (authContext.Scopes = jwtPayload?.Scp?.Split(' ') ?? jwtPayload?.Roles), last changed in commit 0fceedbba17c1dec4d9bb292910a5f286cd7454e (October 30, 2023), read with gh api (accessed Oct 30, 2026). Not a Learn page: it explains the Learn output above for every sign-in type, managed identity included.
Workbook: Building the Attribute-Driven Migration, Chapter 02 — “Least privilege, per call” — the token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Paging and throttling are where clients quietly break. When Graph returns a next link, the client follows it to the end, and it sends the same headers on every page, because Learn says they aren't carried forward by default, and an advanced query changes without them. When Graph says slow down, the client waits as long as it's told. When it isn't told, which really happens for Conditional Access, it backs off, with a cap. It also marks its requests as low priority, so background reads give way to people. And inside a batch, it retries throttled items itself.
Detail: Paging: get_all follows @odata.nextLink until it stops, and sends the same headers on every page. Learn says headers on the first request aren't carried to later pages by default; the advanced-query header ConsistencyLevel: eventual is the one that matters here. A page that is throttled is retried with the same link. Learn warns not to use a page token from a retried request for the next page, which can cause DirectoryPageTokenNotFoundException; the client only ever follows a link from a successful response. Throttling: on 429, 503 or 504, the client waits and retries, up to max_retries. The wait is the Retry-After header, as Learn asks, read as seconds or as an HTTP date. When the header is missing it backs off exponentially, as Learn recommends: 1, 2, 4 seconds and on, capped at 60 (design guidance for the cap). That case is real for this example: Learn's limits page says the conditional access resources don't return Retry-After on 429. Every request also sends x-ms-throttle-priority: Low, which tells Graph to throttle these background reads before interactive users; it doesn't change the limits. JSON batches hold at most 20 requests, and batch() retries throttled items inside a batch itself, after the longest Retry-After, because the SDKs don't. PowerShell relies on the Graph PowerShell SDK's own retry handling for single requests, as the README says.
Sources: Microsoft Learn, "Page through a collection using the Microsoft Graph SDKs," https://learn.microsoft.com/graph/sdks/paging (accessed Oct 30, 2026). · Microsoft Learn, "Microsoft Graph throttling guidance," https://learn.microsoft.com/graph/throttling (accessed Oct 30, 2026). · Microsoft Learn, "The Retry-After header: how long to wait before you retry," https://learn.microsoft.com/microsoft-cloud/dev/dev-proxy/concepts/retry-after-header (accessed Oct 30, 2026). · Microsoft Learn, "Microsoft Graph service-specific throttling limits," identity and access service limits, https://learn.microsoft.com/graph/throttling-limits (accessed Oct 30, 2026). · Microsoft Learn, "Combine multiple HTTP requests using JSON batching," batch size limitations, https://learn.microsoft.com/graph/json-batching (accessed Oct 30, 2026).
Workbook: Building the Attribute-Driven Migration, Chapter 02 — “Paging”; “Throttling”.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Beta APIs can change or disappear, and Learn says not to use them in production. But sometimes the only place a property lives is beta, like the Autopilot status this workbook needs. So beta calls must be declared, they're read through a wrapper that turns a missing shape into "not evaluated" rather than a failed run, and the stage is always in the output. The Autopilot case also shows two Learn pages disagreeing about the government clouds. The code follows the stricter one, because an API that answers isn't a feature you can use.
Detail: Beta APIs can change or disappear, and Learn says not to use them in production applications. Sometimes the only place a property lives is beta: the Autopilot check needs deploymentProfileAssignmentStatus, which v1.0 doesn't have. The rules: a beta call must be declared. Even a client built without a call list refuses any /beta path no entry in graph-calls.json names. v1.0 calls are allowed without a list; beta calls never are. Beta is read through try_beta (Get-FmwBetaCollection in PowerShell). A refused call, or a 400, 404 or 501 from Graph, returns available: false with the reason, and the task reports "evaluated": false with stage beta. A 403 or throttling that outlasts the retries still raises, because those aren't beta problems. The stage is in the output: the Autopilot task's result carries "stage": "beta" whether it ran or not. The file also records where a feature isn't offered. The beta Autopilot API page's national cloud table shows the endpoint in US Government L4 and L5, but Intune's government service description lists Windows Autopilot as not available in GCC High and DoD. An API that answers isn't a feature you can use. The file follows the stricter statement: in gcchigh and dod, the task makes no call and reports "not evaluated". Verified facts: Autopilot device identities, GET /deviceManagement/windowsAutopilotDeviceIdentities with DeviceManagementServiceConfig.Read.All; v1.0, assignment status in beta only. The second place Learn's pages differ: on the same national cloud page, the C#, Go, Java and TypeScript examples set the US Government authority and the Python example doesn't; the code follows the other languages and azure-identity's own reference.
Sources: Microsoft Learn, "Versioning, support, and breaking change policies for Microsoft Graph," https://learn.microsoft.com/graph/versioning-and-support (accessed Oct 30, 2026). · Microsoft Learn, "List windowsAutopilotDeviceIdentities," https://learn.microsoft.com/graph/api/intune-enrollment-windowsautopilotdeviceidentity-list?view=graph-rest-1.0 (accessed Oct 30, 2026). · Microsoft Learn, "Microsoft Intune for US Government GCC High and DoD service description," Intune features not available in GCC High and DoD, https://learn.microsoft.com/intune/fundamentals/government-service (accessed Oct 30, 2026). · Microsoft Learn, "Access national cloud deployments with the Microsoft Graph SDKs," https://learn.microsoft.com/graph/sdks/national-clouds (accessed Oct 30, 2026). · Microsoft Learn, "InteractiveBrowserCredential Class" (azure-identity for Python), keyword-only parameter authority, https://learn.microsoft.com/python/api/azure-identity/azure.identity.interactivebrowsercredential?view=azure-python (accessed Oct 30, 2026).
Workbook: Building the Attribute-Driven Migration, Chapter 02 — “Beta without depending on it”; “Verified facts” — two places where Learn's pages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who build any code in this workbook that calls Graph or Resource Manager, and the reviewers who approve it. You'll want to read Python or PowerShell, and know what an access token is; you don't need a tenant until the second lab. The reviewer's question is always the same: which calls, with which permissions, in which cloud. The call list answers it. And the app registration itself is part of the answer: exactly the task's permissions, a certificate or a managed identity, never a secret, registered in the tenant's own cloud.
Detail: Audience: developers who build any code in this workbook that calls Microsoft Graph or Azure Resource Manager, and the reviewers who approve it. You should read Python or PowerShell 7 and know what an access token is. You don't need a tenant until Lab 2. The reviewer's questions ("which calls, with which permissions, in which cloud?") need answers the snippets don't carry; graph-calls.json carries them. Checklist: the app registration holds exactly the task's permissions, with a certificate or managed identity, never a secret. Lab 2: an app for a GCC tenant is registered in the worldwide Microsoft Entra admin center; an app for GCC High or DoD must be registered in the national cloud's. Permissions from the chapter: pim-report, from its calls: RoleAssignmentSchedule.Read.Directory, RoleEligibilitySchedule.Read.Directory, RoleManagement.Read.Directory (the three in the README's table). ca-export declares Policy.Read.All. app-credentials needs Application.Read.All. The Autopilot device identities call needs DeviceManagementServiceConfig.Read.All, and in gcchigh and dod the task makes no call.
Sources: Microsoft Learn, "Overview of Microsoft Graph permissions," best practices for using Microsoft Graph permissions, https://learn.microsoft.com/graph/permissions-overview (accessed Oct 30, 2026). · Microsoft Learn, "Enhance security with the principle of least privilege," overprivileged applications, https://learn.microsoft.com/entra/identity-platform/secure-least-privileged-access (accessed Oct 30, 2026). · Microsoft Learn, "Access national cloud deployments with the Microsoft Graph SDKs," https://learn.microsoft.com/graph/sdks/national-clouds (accessed Oct 30, 2026). · Microsoft Learn, "List windowsAutopilotDeviceIdentities," https://learn.microsoft.com/graph/api/intune-enrollment-windowsautopilotdeviceidentity-list?view=graph-rest-1.0 (accessed Oct 30, 2026).
Workbook: Building the Attribute-Driven Migration, Chapter 02 — “Goal and audience”; “Lab 1” step 3; “Lab 2”;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Python and PowerShell, and no tenant. First you run Microsoft's own snippets against the stand-ins, and read the test that proves the Python credential gets no authority. Then you print the endpoints for this estate, and see that nothing for GCC is a dot-u-s host, and that a misspelled cloud name is an error, not a default. Then you list a task's permissions from its calls, and try a call the task never declared. It's refused before anything is sent.
Detail: You need Python 3.10 or later with pytest, and PowerShell 7.5 or later with Pester 5. Work in examples/ms-automation. Step 1, run Microsoft's sample against the stand-ins: python -m pytest -q -p no:cacheprovider tests/python/test_learn_sample.py gives 9 passed. Open the test and read test_sample_us_gov_credential_names_no_authority: the snippet's credential gets tenant_id, client_id and redirect_uri, and nothing else. Step 2, print the endpoints for the target estate: python -c "import sys; sys.path.insert(0, 'python'); from graphkit import endpoints, scope_for; print(endpoints('gcc')); print(scope_for('gcc', 'arm')); print(scope_for('dod'))" prints {'login': 'https://login.microsoftonline.com', 'graph': 'https://graph.microsoft.com', 'arm': 'https://management.azure.com', 'ps_env': 'Global', 'azure_env': 'AzureCloud'}, then https://management.azure.com/.default, then https://dod-graph.microsoft.us/.default. No .us host for GCC. Try endpoints('GCCHigh'): ValueError: unknown cloud 'GCCHigh'. Step 3, list a task's permissions from its calls: python -c "import sys; sys.path.insert(0, 'python'); from graphkit import load_calls, permissions_for; print(permissions_for(load_calls('pim-report')))" gives ['RoleAssignmentSchedule.Read.Directory', 'RoleEligibilitySchedule.Read.Directory', 'RoleManagement.Read.Directory'], the three in the README's table. Step 4, make a call the task doesn't declare: python -c "import sys; sys.path.insert(0, 'python'); from graphkit import GraphClient, load_calls; GraphClient('gcc', lambda s: 't', calls=load_calls('ca-export')).request('GET', '/users')" ends PermissionError: undeclared call: GET /v1.0/users; add it to graph-calls.json with its permission. Nothing was sent.
Sources: Building the Attribute-Driven Migration, Chapter 02, docs/project-plans/developer-workbooks/attribute-driven-migration/02-graph-clients-for-government-clouds.md
Workbook: Building the Attribute-Driven Migration, Chapter 02 — “Lab 1: fixtures, no tenant,” steps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lab covers beta and PowerShell. Ask for Autopilot in GCC High and the client makes no call at all: it reports not available, with the reason and the stage. Then you run the same rules in PowerShell: an undeclared beta call is refused, and so is a worldwide address from a GCC High session, which won't get the token. Finally you run both suites, seventy Python tests and forty-four in Pester, and you've seen every row of the gap table for yourself, with no module, tenant or network.
Detail: Step 5, read beta where the feature isn't offered: python -c "import sys; sys.path.insert(0, 'python'); from graphkit import GraphClient, try_beta; print(try_beta(GraphClient('gcchigh', lambda s: 't'), '/deviceManagement/windowsAutopilotDeviceIdentities'))" gives {'stage': 'beta', 'available': False, 'items': [], 'reason': "autopilot-device-identities isn't offered in gcchigh (graph-calls.json not_in_clouds)"}. Step 6, the same rules in PowerShell: Import-Module ./powershell/FmwGraph.psm1; (Get-FmwCloud gcc).Arm; Get-FmwCallPermission -Task pim-report; Assert-FmwGraphCall -Method GET -Uri '/beta/users' -Cloud gcc; Assert-FmwGraphCall -Method GET -Uri 'https://graph.microsoft.com/v1.0/users' -Cloud gcchigh. Output: https://management.azure.com, the same three permissions, then two errors: Undeclared beta call: GET /beta/users; ... and Refusing to send the token to https://graph.microsoft.com/v1.0/users: not https://graph.microsoft.us. Step 7, run the tests: python -m pytest -q -p no:cacheprovider tests/python, and pwsh -NoProfile -Command "Invoke-Pester -Path tests/powershell". Expected result: 70 Python and 44 Pester tests passing, and each row of the gap table seen with your own eyes. The tests: the Python suite has 70 tests (pytest) and the Pester suite 44. Chapter 02 added 35 and 27 of them, 4 of the Pester tests when research gap 16 was closed. tests/python/test_learn_sample.py, 9 tests: Microsoft's pinned snippets against stand-ins, and our provider's authority for each cloud. tests/python/test_graph_clients.py, 24 tests: endpoints against the shared fixture, refused cloud names, the call list against each task's permissions, refused calls, the token audit, headers on every page, retrying a page with the last good link, Retry-After as an HTTP date, backoff with no header, and beta. tests/python/test_intune_tasks.py, 2 new tests: Autopilot in GCC High makes no call, and a beta 404 is "not evaluated". tests/powershell/GraphClients.Tests.ps1, 27 tests: the same rules in PowerShell, including the session check, with Connect-MgGraph, Get-MgContext and Invoke-MgGraphRequest mocked. None needs a module, a tenant or a network. Illustrative code: the commands run Microsoft's pinned snippets against stand-ins, and the example as published in the repository against fixtures and fakes. They show what the code does, not that a tenant returns the same shapes. Review the code, and run Lab 2 in a test tenant, before it reads a real one.
Sources: Microsoft Learn, "List windowsAutopilotDeviceIdentities," https://learn.microsoft.com/graph/api/intune-enrollment-windowsautopilotdeviceidentity-list?view=graph-rest-1.0 (accessed Oct 30, 2026). · Microsoft Learn, "Microsoft Intune for US Government GCC High and DoD service description," Intune features not available in GCC High and DoD, https://learn.microsoft.com/intune/fundamentals/government-service (accessed Oct 30, 2026).
Workbook: Building the Attribute-Driven Migration, Chapter 02 — “Lab 1: fixtures, no tenant,” steps 5–7; “The tests”;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with fictional data. It uses the Conditional Access export because it needs just one permission. You register the app in the tenant's own cloud, with a certificate, grant that one permission, and run the task. Then you watch the token check do its job: grant an extra permission and you get a warning, leave one out and the run stops before any call. Finally, point it at the wrong cloud on purpose. Sign-in goes to the government authority, which doesn't hold a GCC tenant, so it fails closed.
Detail: Use a test tenant in the worldwide or GCC cloud, never production, with fictional data. The steps use the Conditional Access export because it needs one permission. 1 Register the app in the tenant's own cloud. An app for a GCC tenant is registered in the worldwide Microsoft Entra admin center; an app for GCC High or DoD must be registered in the national cloud's. Add a certificate credential. Don't add a secret. 2 Grant one permission: the application permission Policy.Read.All, the one ca-export declares, and grant admin consent. Nothing else. 3 Run the task: python python/entra_tasks.py --cloud gcc --tenant &lt;tenant-id&gt; --client &lt;app-id&gt; --cert app.pem ca-export --out ca. pip install azure-identity first. Expect no warning, one JSON file per policy in ca, and a summary on screen. 4 See the token check work. Add Application.Read.All to the app, grant consent, and run step 3 again: the run continues and prints "warning: token also holds Application.Read.All, which this task doesn't use". Then run app-credentials with only Policy.Read.All granted: it stops with "token lacks Application.Read.All" before any Graph call. 5 See the wrong cloud fail closed. Run step 3 with --cloud gcchigh. Sign-in goes to login.microsoftonline.us, the Azure Government authority, which doesn't hold a GCC tenant, and the run stops before anything reaches Graph. Learn says tokens aren't interchangeable between clouds. 6 Optional, PowerShell: Connect-FmwGraph -Cloud gcc -TenantId &lt;tenant-id&gt; -ClientId &lt;app-id&gt; -CertificateThumbprint &lt;thumbprint&gt;, then Invoke-FmwEntraTask -Task ca-export -OutDirectory ca-ps. Compare ca and ca-ps. 7 Back it out. Remove Application.Read.All and Policy.Read.All from the app, delete the app registration and its certificate, and delete the ca and ca-ps folders. They hold the tenant's policies.
Sources: Microsoft Learn, "Access national cloud deployments with the Microsoft Graph SDKs," https://learn.microsoft.com/graph/sdks/national-clouds (accessed Oct 30, 2026). · Microsoft Learn, "Planning identity for Azure Government applications," frequently asked questions, https://learn.microsoft.com/azure/azure-government/documentation-government-plan-identity (accessed Oct 30, 2026). · Microsoft Learn, "Microsoft Graph national cloud deployments," https://learn.microsoft.com/graph/deployments (accessed Oct 30, 2026).
Workbook: Building the Attribute-Driven Migration, Chapter 02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two that bite this estate first are treating GCC as a government dot-u-s cloud, and a cloud name that silently defaults to worldwide. The most dangerous is a token sent to the wrong host, so every address, on every page, is checked. Others creep in slowly: permissions the job doesn't need, a call added without its permission, or a beta property renamed overnight. And the subtlest is an API that answers where the feature isn't offered, handing you a clean, empty, and wrong result.
Detail: Treating GCC as a .us cloud: sign-in fails, or someone "fixes" it by hard-coding hosts; guard: gcc resolves to the worldwide endpoints, and a test pins it. A Python credential with no authority in GCC High or DoD: it signs in to the public cloud; guard: azure_identity_provider sets the authority for every cloud, tested. An unknown cloud name with a default: a GCC High run talks to the worldwide service; guard: unknown names raise, in both languages. A token sent to the wrong host: a nextLink or a typo hands the token to another host or cloud; guard: every URL, every page, is checked against the cloud's Graph host. One token for Graph and Resource Manager: the second call fails, or code asks for broad scopes to make it work; guard: one .default scope per resource, scope_for(cloud, "arm"). An identity with more than the task needs: a compromised job can do more than read; guard: graph-calls.json per task, preflight warns on extra roles and stops on missing ones. A new call added without its permission: the README and the app registration drift from the code; guard: a task makes only declared calls, and the union test fails the build. Headers dropped after page one: an advanced query fails or changes on page two; guard: same headers on every page, tested. Retrying too fast, or forever: throttling gets longer and the job never ends; guard: Retry-After or backoff, capped at 60 seconds, with a retry limit. A beta change breaks the run: a nightly evidence job fails on a property rename; guard: declared beta calls only, try_beta reports "not evaluated" with the stage. An API that answers where the feature isn't offered: a check reports an empty, "clean" result in GCC High; guard: not_in_clouds in the call list, no call, "not evaluated".
Sources: Microsoft Learn, "Microsoft Graph national cloud deployments," https://learn.microsoft.com/graph/deployments (accessed Oct 30, 2026). · Microsoft Learn, "Microsoft Graph throttling guidance," https://learn.microsoft.com/graph/throttling (accessed Oct 30, 2026). · Microsoft Learn, "Versioning, support, and breaking change policies for Microsoft Graph," https://learn.microsoft.com/graph/versioning-and-support (accessed Oct 30, 2026).
Workbook: Building the Attribute-Driven Migration, Chapter 02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cloud side: an explicit cloud name that fails on anything unknown, no government hosts in the GCC configuration, the right authority and scope for every credential, one token per resource, and the token never leaving the cloud's Graph host. On the run side: every call declared with its least privileged permission, an app that holds exactly those, paging and retries done Microsoft's way, and beta declared and labeled. Next, Chapter 3 uses these rules to write a validation kit check. Thanks for watching.
Detail: Checklist: the client takes an explicit cloud name and raises on any name it doesn't know. GCC uses login.microsoftonline.com, graph.microsoft.com and, for Azure, management.azure.com; nothing in the GCC configuration is a .us host. Every credential names the cloud's authority (or is a managed identity), and every scope names the cloud's host. One token per resource: Graph and Resource Manager are never asked for in one request. No URL, including a nextLink, is sent to a host other than the cloud's Graph host. Every call is in graph-calls.json with its least-privileged permission, and the task's permission list is the union of its calls. The app registration holds exactly the task's permissions, with a certificate or managed identity, never a secret. Paging sends the same headers on every page and retries with the last good link. Throttling waits for Retry-After, backs off when it's missing, and stops after a limit. Every beta call is declared, read through try_beta or Get-FmwBetaCollection, and labeled in the output. The pinned Microsoft snippets match their manifest, and every upstream commit since the pin has been reviewed. Next: Chapter 03 — Writing a Validation Kit Check: a new check, VK-SYNC-02, from the catalog entry through pass and fail fixtures and Pester tests to the GET-only safety rule, and what to do when the read needs a privileged role.
Sources: Microsoft Learn, "Microsoft Graph national cloud deployments," https://learn.microsoft.com/graph/deployments (accessed Oct 30, 2026).
Workbook: Building the Attribute-Driven Migration, Chapter 02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docs/project-plans/developer-workbooks/attribute-driven-migration/02-graph-clients-for-government-clouds.md.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docs/project-plans/developer-workbooks/attribute-driven-migration/02-graph-clients-for-government-clouds.md.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docs/project-plans/developer-workbooks/attribute-driven-migration/02-graph-clients-for-government-clouds.md.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02: Graph Clients for the Government Clouds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Which cloud is which · Learn's snippets and their gaps · the client's rules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one client pattern, and why it comes first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Chapter 02 is the foundation the other chapters lean on: read it before you build a Graph or Azure client.</a:t>
            </a:r>
            <a:endParaRPr lang="en-US" sz="1800" dirty="0"/>
          </a:p>
        </p:txBody>
      </p:sp>
      <p:sp>
        <p:nvSpPr>
          <p:cNvPr id="6" name="Panel The goal: a client that" descr="">
            <a:extLst>
              <a:ext uri="{C183D7F6-B498-43B3-948B-1728B52AA6E4}">
                <adec:decorative xmlns:adec="http://schemas.microsoft.com/office/drawing/2017/decorative" val="1"/>
              </a:ext>
            </a:extLst>
          </p:cNvPr>
          <p:cNvSpPr/>
          <p:nvPr/>
        </p:nvSpPr>
        <p:spPr>
          <a:xfrm>
            <a:off x="548640" y="2112264"/>
            <a:ext cx="5417820" cy="2386584"/>
          </a:xfrm>
          <a:prstGeom prst="roundRect">
            <a:avLst>
              <a:gd name="adj" fmla="val 30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goal: a client that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GOAL: A CLIENT THAT</a:t>
            </a:r>
            <a:endParaRPr lang="en-US" sz="1100" dirty="0"/>
          </a:p>
        </p:txBody>
      </p:sp>
      <p:sp>
        <p:nvSpPr>
          <p:cNvPr id="8" name="Panel The goal: a client that list"/>
          <p:cNvSpPr txBox="1"/>
          <p:nvPr/>
        </p:nvSpPr>
        <p:spPr>
          <a:xfrm>
            <a:off x="731520" y="2523744"/>
            <a:ext cx="5097780" cy="192938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Reaches the right cloud for the tenant, and requests the right token</a:t>
            </a:r>
            <a:endParaRPr lang="en-US" sz="1650" dirty="0"/>
          </a:p>
          <a:p>
            <a:pPr marL="342900" indent="-342900">
              <a:spcAft>
                <a:spcPts val="400"/>
              </a:spcAft>
              <a:buSzPct val="100000"/>
              <a:buChar char="•"/>
            </a:pPr>
            <a:r>
              <a:rPr lang="en-US" sz="1650" dirty="0">
                <a:solidFill>
                  <a:srgbClr val="334155"/>
                </a:solidFill>
              </a:rPr>
              <a:t>Makes only the calls it declares, each with its least-privileged permission</a:t>
            </a:r>
            <a:endParaRPr lang="en-US" sz="1650" dirty="0"/>
          </a:p>
          <a:p>
            <a:pPr marL="342900" indent="-342900">
              <a:spcAft>
                <a:spcPts val="400"/>
              </a:spcAft>
              <a:buSzPct val="100000"/>
              <a:buChar char="•"/>
            </a:pPr>
            <a:r>
              <a:rPr lang="en-US" sz="1650" dirty="0">
                <a:solidFill>
                  <a:srgbClr val="334155"/>
                </a:solidFill>
              </a:rPr>
              <a:t>Pages and retries the way Microsoft documents</a:t>
            </a:r>
            <a:endParaRPr lang="en-US" sz="1650" dirty="0"/>
          </a:p>
          <a:p>
            <a:pPr marL="342900" indent="-342900">
              <a:spcAft>
                <a:spcPts val="400"/>
              </a:spcAft>
              <a:buSzPct val="100000"/>
              <a:buChar char="•"/>
            </a:pPr>
            <a:r>
              <a:rPr lang="en-US" sz="1650" dirty="0">
                <a:solidFill>
                  <a:srgbClr val="334155"/>
                </a:solidFill>
              </a:rPr>
              <a:t>Treats beta as optional</a:t>
            </a:r>
            <a:endParaRPr lang="en-US" sz="1650" dirty="0"/>
          </a:p>
        </p:txBody>
      </p:sp>
      <p:sp>
        <p:nvSpPr>
          <p:cNvPr id="9" name="Panel And you can say why" descr="">
            <a:extLst>
              <a:ext uri="{C183D7F6-B498-43B3-948B-1728B52AA6E4}">
                <adec:decorative xmlns:adec="http://schemas.microsoft.com/office/drawing/2017/decorative" val="1"/>
              </a:ext>
            </a:extLst>
          </p:cNvPr>
          <p:cNvSpPr/>
          <p:nvPr/>
        </p:nvSpPr>
        <p:spPr>
          <a:xfrm>
            <a:off x="6240780" y="2112264"/>
            <a:ext cx="5417820" cy="2386584"/>
          </a:xfrm>
          <a:prstGeom prst="roundRect">
            <a:avLst>
              <a:gd name="adj" fmla="val 30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And you can say why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AND YOU CAN SAY WHY</a:t>
            </a:r>
            <a:endParaRPr lang="en-US" sz="1100" dirty="0"/>
          </a:p>
        </p:txBody>
      </p:sp>
      <p:sp>
        <p:nvSpPr>
          <p:cNvPr id="11" name="Panel And you can say why list"/>
          <p:cNvSpPr txBox="1"/>
          <p:nvPr/>
        </p:nvSpPr>
        <p:spPr>
          <a:xfrm>
            <a:off x="6423660" y="2523744"/>
            <a:ext cx="5097780" cy="192938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Every rule in the code is labeled: </a:t>
            </a:r>
            <a:pPr indent="0" marL="0">
              <a:spcAft>
                <a:spcPts val="400"/>
              </a:spcAft>
              <a:buNone/>
            </a:pPr>
            <a:r>
              <a:rPr lang="en-US" sz="1650" b="1" dirty="0">
                <a:solidFill>
                  <a:srgbClr val="1F2A44"/>
                </a:solidFill>
              </a:rPr>
              <a:t>Microsoft's contract</a:t>
            </a:r>
            <a:pPr indent="0" marL="0">
              <a:spcAft>
                <a:spcPts val="400"/>
              </a:spcAft>
              <a:buNone/>
            </a:pPr>
            <a:r>
              <a:rPr lang="en-US" sz="1650" dirty="0">
                <a:solidFill>
                  <a:srgbClr val="334155"/>
                </a:solidFill>
              </a:rPr>
              <a:t>, </a:t>
            </a:r>
            <a:pPr indent="0" marL="0">
              <a:spcAft>
                <a:spcPts val="400"/>
              </a:spcAft>
              <a:buNone/>
            </a:pPr>
            <a:r>
              <a:rPr lang="en-US" sz="1650" b="1" dirty="0">
                <a:solidFill>
                  <a:srgbClr val="1F2A44"/>
                </a:solidFill>
              </a:rPr>
              <a:t>Microsoft's sample</a:t>
            </a:r>
            <a:pPr indent="0" marL="0">
              <a:spcAft>
                <a:spcPts val="400"/>
              </a:spcAft>
              <a:buNone/>
            </a:pPr>
            <a:r>
              <a:rPr lang="en-US" sz="1650" dirty="0">
                <a:solidFill>
                  <a:srgbClr val="334155"/>
                </a:solidFill>
              </a:rPr>
              <a:t>, or </a:t>
            </a:r>
            <a:pPr indent="0" marL="0">
              <a:spcAft>
                <a:spcPts val="400"/>
              </a:spcAft>
              <a:buNone/>
            </a:pPr>
            <a:r>
              <a:rPr lang="en-US" sz="1650" b="1" dirty="0">
                <a:solidFill>
                  <a:srgbClr val="1F2A44"/>
                </a:solidFill>
              </a:rPr>
              <a:t>the program's own design</a:t>
            </a:r>
            <a:endParaRPr lang="en-US" sz="1650" dirty="0"/>
          </a:p>
          <a:p>
            <a:pPr marL="342900" indent="-342900">
              <a:spcAft>
                <a:spcPts val="400"/>
              </a:spcAft>
              <a:buSzPct val="100000"/>
              <a:buChar char="•"/>
            </a:pPr>
            <a:r>
              <a:rPr lang="en-US" sz="1650" dirty="0">
                <a:solidFill>
                  <a:srgbClr val="334155"/>
                </a:solidFill>
              </a:rPr>
              <a:t>Python or PowerShell, the same rules in both</a:t>
            </a:r>
            <a:endParaRPr lang="en-US" sz="1650" dirty="0"/>
          </a:p>
          <a:p>
            <a:pPr marL="342900" indent="-342900">
              <a:spcAft>
                <a:spcPts val="400"/>
              </a:spcAft>
              <a:buSzPct val="100000"/>
              <a:buChar char="•"/>
            </a:pPr>
            <a:r>
              <a:rPr lang="en-US" sz="1650" dirty="0">
                <a:solidFill>
                  <a:srgbClr val="334155"/>
                </a:solidFill>
              </a:rPr>
              <a:t>Chapters 01, 03, 04 and 07 were written first, because their code already existed</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“Goal and audience”; workbook index, chapter table and reading order.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is which: four clouds, two sets of hosts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82240"/>
        </p:xfrm>
        <a:graphic>
          <a:graphicData uri="http://schemas.openxmlformats.org/drawingml/2006/table">
            <a:tbl>
              <a:tblPr firstRow="1" bandRow="1"/>
              <a:tblGrid>
                <a:gridCol w="1188720"/>
                <a:gridCol w="1325880"/>
                <a:gridCol w="2011680"/>
                <a:gridCol w="1920240"/>
                <a:gridCol w="1051560"/>
                <a:gridCol w="2148840"/>
                <a:gridCol w="1463040"/>
              </a:tblGrid>
              <a:tr h="5364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Program name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 365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Token authority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Graph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Graph PS env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Resource Manager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Azure PS env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Worldwide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login.microsoftonline.com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graph.microsoft.com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management.azure.com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gcc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GCC (Moderate)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login.microsoftonline.com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graph.microsoft.com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management.azure.com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gcchigh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GCC High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graph.microsoft.us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USGov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management.usgovcloudapi.net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dod-graph.microsoft.us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USGovDoD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management.usgovcloudapi.net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191000"/>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380738"/>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534357"/>
            <a:ext cx="332842" cy="332842"/>
          </a:xfrm>
          <a:prstGeom prst="rect">
            <a:avLst/>
          </a:prstGeom>
        </p:spPr>
      </p:pic>
      <p:sp>
        <p:nvSpPr>
          <p:cNvPr id="9" name="Callout text"/>
          <p:cNvSpPr txBox="1"/>
          <p:nvPr/>
        </p:nvSpPr>
        <p:spPr>
          <a:xfrm>
            <a:off x="1600200" y="4245864"/>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GCC is not a .us cloud. </a:t>
            </a:r>
            <a:pPr indent="0" marL="0">
              <a:buNone/>
            </a:pPr>
            <a:r>
              <a:rPr lang="en-US" sz="1750" dirty="0">
                <a:solidFill>
                  <a:srgbClr val="334155"/>
                </a:solidFill>
              </a:rPr>
              <a:t>Learn: in Microsoft 365 GCC, keep using the worldwide endpoints. GCC is paired with Entra ID in Azure, the commercial cloud; GCC High and DoD with Entra ID in Azure Government. A token from one cloud doesn't work in another.</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clouds; Cloud feature availability; Planning identity; Compare Azure Gov; control plane; Get-MgEnvironment; Azure PS. Ch 02, “Which cloud is which.”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GCC with commercial Azure means for the code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3002280"/>
          </a:xfrm>
          <a:prstGeom prst="roundRect">
            <a:avLst>
              <a:gd name="adj" fmla="val 280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30022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277368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Nothing is a .us host</a:t>
            </a:r>
            <a:endParaRPr lang="en-US" sz="1400" dirty="0"/>
          </a:p>
          <a:p>
            <a:pPr indent="0" marL="0">
              <a:spcAft>
                <a:spcPts val="300"/>
              </a:spcAft>
              <a:buNone/>
            </a:pPr>
            <a:r>
              <a:rPr lang="en-US" sz="1500" dirty="0">
                <a:solidFill>
                  <a:srgbClr val="334155"/>
                </a:solidFill>
              </a:rPr>
              <a:t>Tokens from login.microsoftonline.com, Graph at graph.microsoft.com, Resource Manager at management.azure.com; Azure PowerShell's default AzureCloud</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3002280"/>
          </a:xfrm>
          <a:prstGeom prst="roundRect">
            <a:avLst>
              <a:gd name="adj" fmla="val 280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300228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277368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One token per resource</a:t>
            </a:r>
            <a:endParaRPr lang="en-US" sz="1400" dirty="0"/>
          </a:p>
          <a:p>
            <a:pPr indent="0" marL="0">
              <a:spcAft>
                <a:spcPts val="300"/>
              </a:spcAft>
              <a:buNone/>
            </a:pPr>
            <a:r>
              <a:rPr lang="en-US" sz="1500" dirty="0">
                <a:solidFill>
                  <a:srgbClr val="334155"/>
                </a:solidFill>
              </a:rPr>
              <a:t>A client-credentials request names one resource's .default scope; several resources in one request is an error. Graph and Resource Manager: two tokens, same tenant</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3002280"/>
          </a:xfrm>
          <a:prstGeom prst="roundRect">
            <a:avLst>
              <a:gd name="adj" fmla="val 280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300228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277368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The cloud name is explicit</a:t>
            </a:r>
            <a:endParaRPr lang="en-US" sz="1400" dirty="0"/>
          </a:p>
          <a:p>
            <a:pPr indent="0" marL="0">
              <a:spcAft>
                <a:spcPts val="300"/>
              </a:spcAft>
              <a:buNone/>
            </a:pPr>
            <a:r>
              <a:rPr lang="en-US" sz="1500" dirty="0">
                <a:solidFill>
                  <a:srgbClr val="334155"/>
                </a:solidFill>
              </a:rPr>
              <a:t>gcc is its own name, though it resolves like worldwide: the evidence says which cloud was meant, and GCC High changes one argument. *Design guidance*</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3002280"/>
          </a:xfrm>
          <a:prstGeom prst="roundRect">
            <a:avLst>
              <a:gd name="adj" fmla="val 280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300228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277368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Beware a second tenant</a:t>
            </a:r>
            <a:endParaRPr lang="en-US" sz="1400" dirty="0"/>
          </a:p>
          <a:p>
            <a:pPr indent="0" marL="0">
              <a:spcAft>
                <a:spcPts val="300"/>
              </a:spcAft>
              <a:buNone/>
            </a:pPr>
            <a:r>
              <a:rPr lang="en-US" sz="1500" dirty="0">
                <a:solidFill>
                  <a:srgbClr val="334155"/>
                </a:solidFill>
              </a:rPr>
              <a:t>Many GCC customers also hold an Azure Government subscription with its own tenant: management.usgovcloudapi.net, login.microsoftonline.us. One configuration entry per tenant, never a fallback. *Design guidance*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Compare Azure Gov; control plane; Azure PS; OAuth 2.0 client credentials flow; Planning identity for Azure Gov. Chapter 02, “What GCC with commercial Azure means.”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clients this chapter is the reference for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37460"/>
        </p:xfrm>
        <a:graphic>
          <a:graphicData uri="http://schemas.openxmlformats.org/drawingml/2006/table">
            <a:tbl>
              <a:tblPr firstRow="1" bandRow="1"/>
              <a:tblGrid>
                <a:gridCol w="2377440"/>
                <a:gridCol w="1097280"/>
                <a:gridCol w="3657600"/>
                <a:gridCol w="397764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Example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Chapter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How it picks the cloud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already guards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examples/hcm-entra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01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provisioning endpoint in its settings 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endpoint must be one of the three Graph hosts, v1.0 or beta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examples/validation-kit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03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global, gcc, gcchigh, dod, each with its Graph environment, Azure environment and Graph 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 only; one data path; beta paths from a declared list; a nextLink to another host refused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examples/dynamic-rules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04</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Learn's environment names: Global, USGov, USGovDoD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Get-DrGraphEndpoint refuses a name it doesn't know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examples/ms-automation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this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global, gcc, gcchigh,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Everything in this chapter's checklist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046220"/>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49808" y="4235958"/>
            <a:ext cx="640080" cy="64008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389577"/>
            <a:ext cx="332842" cy="332842"/>
          </a:xfrm>
          <a:prstGeom prst="rect">
            <a:avLst/>
          </a:prstGeom>
        </p:spPr>
      </p:pic>
      <p:sp>
        <p:nvSpPr>
          <p:cNvPr id="9" name="Callout text"/>
          <p:cNvSpPr txBox="1"/>
          <p:nvPr/>
        </p:nvSpPr>
        <p:spPr>
          <a:xfrm>
            <a:off x="1600200" y="4101084"/>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No defaults: </a:t>
            </a:r>
            <a:pPr indent="0" marL="0">
              <a:buNone/>
            </a:pPr>
            <a:r>
              <a:rPr lang="en-US" sz="1750" dirty="0">
                <a:solidFill>
                  <a:srgbClr val="334155"/>
                </a:solidFill>
              </a:rPr>
              <a:t>two naming schemes are fine, and the cloud table maps them. A default is not: a cloud name a client doesn't recognize must stop the run. Learn's dynamic membership samples fall back to worldwide; Chapter 04 guards against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“The clients this chapter is the reference for”; Chapters 01, 03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national cloud snippets, pinned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3776472"/>
          </a:xfrm>
          <a:prstGeom prst="roundRect">
            <a:avLst>
              <a:gd name="adj" fmla="val 19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Per SDK language, the three things that change: </a:t>
            </a:r>
            <a:pPr indent="0" marL="0">
              <a:spcAft>
                <a:spcPts val="400"/>
              </a:spcAft>
              <a:buNone/>
            </a:pPr>
            <a:r>
              <a:rPr lang="en-US" sz="1550" b="1" dirty="0">
                <a:solidFill>
                  <a:srgbClr val="1F2A44"/>
                </a:solidFill>
              </a:rPr>
              <a:t>token authority</a:t>
            </a:r>
            <a:pPr indent="0" marL="0">
              <a:spcAft>
                <a:spcPts val="400"/>
              </a:spcAft>
              <a:buNone/>
            </a:pPr>
            <a:r>
              <a:rPr lang="en-US" sz="1550" dirty="0">
                <a:solidFill>
                  <a:srgbClr val="334155"/>
                </a:solidFill>
              </a:rPr>
              <a:t>, </a:t>
            </a:r>
            <a:pPr indent="0" marL="0">
              <a:spcAft>
                <a:spcPts val="400"/>
              </a:spcAft>
              <a:buNone/>
            </a:pPr>
            <a:r>
              <a:rPr lang="en-US" sz="1550" b="1" dirty="0">
                <a:solidFill>
                  <a:srgbClr val="1F2A44"/>
                </a:solidFill>
              </a:rPr>
              <a:t>Graph service root</a:t>
            </a:r>
            <a:pPr indent="0" marL="0">
              <a:spcAft>
                <a:spcPts val="400"/>
              </a:spcAft>
              <a:buNone/>
            </a:pPr>
            <a:r>
              <a:rPr lang="en-US" sz="1550" dirty="0">
                <a:solidFill>
                  <a:srgbClr val="334155"/>
                </a:solidFill>
              </a:rPr>
              <a:t>, and any scope naming the Graph host</a:t>
            </a:r>
            <a:endParaRPr lang="en-US" sz="1550" dirty="0"/>
          </a:p>
          <a:p>
            <a:pPr marL="342900" indent="-342900">
              <a:spcAft>
                <a:spcPts val="400"/>
              </a:spcAft>
              <a:buSzPct val="100000"/>
              <a:buChar char="•"/>
            </a:pPr>
            <a:r>
              <a:rPr lang="en-US" sz="1550" dirty="0">
                <a:solidFill>
                  <a:srgbClr val="334155"/>
                </a:solidFill>
              </a:rPr>
              <a:t>The example connects to US Government L4: GCC High</a:t>
            </a:r>
            <a:endParaRPr lang="en-US" sz="1550" dirty="0"/>
          </a:p>
          <a:p>
            <a:pPr marL="342900" indent="-342900">
              <a:spcAft>
                <a:spcPts val="400"/>
              </a:spcAft>
              <a:buSzPct val="100000"/>
              <a:buChar char="•"/>
            </a:pPr>
            <a:r>
              <a:rPr lang="en-US" sz="1550" dirty="0">
                <a:solidFill>
                  <a:srgbClr val="334155"/>
                </a:solidFill>
              </a:rPr>
              <a:t>User.Read and https://graph.microsoft.us/User.Read are equivalent for consent; app-only uses the cloud's .default</a:t>
            </a:r>
            <a:endParaRPr lang="en-US" sz="1550" dirty="0"/>
          </a:p>
          <a:p>
            <a:pPr marL="342900" indent="-342900">
              <a:spcAft>
                <a:spcPts val="400"/>
              </a:spcAft>
              <a:buSzPct val="100000"/>
              <a:buChar char="•"/>
            </a:pPr>
            <a:r>
              <a:rPr lang="en-US" sz="1550" dirty="0">
                <a:solidFill>
                  <a:srgbClr val="334155"/>
                </a:solidFill>
              </a:rPr>
              <a:t>PowerShell: Connect-MgGraph -Environment USGov; the default is worldwide</a:t>
            </a:r>
            <a:endParaRPr lang="en-US" sz="1550" dirty="0"/>
          </a:p>
          <a:p>
            <a:pPr marL="342900" indent="-342900">
              <a:spcAft>
                <a:spcPts val="400"/>
              </a:spcAft>
              <a:buSzPct val="100000"/>
              <a:buChar char="•"/>
            </a:pPr>
            <a:r>
              <a:rPr lang="en-US" sz="1550" dirty="0">
                <a:solidFill>
                  <a:srgbClr val="334155"/>
                </a:solidFill>
              </a:rPr>
              <a:t>SDKs page with @odata.nextLink and retry on Retry-After, but not inside a JSON batch</a:t>
            </a:r>
            <a:endParaRPr lang="en-US" sz="155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776472"/>
          </a:xfrm>
          <a:prstGeom prst="roundRect">
            <a:avLst>
              <a:gd name="adj" fmla="val 193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national_clouds.py and create_clients.py from msgraph-snippets-python, unmodified, at commit 3ef4381 (Oct 20, 2026)</a:t>
            </a:r>
            <a:endParaRPr lang="en-US" sz="1550" dirty="0"/>
          </a:p>
          <a:p>
            <a:pPr marL="342900" indent="-342900">
              <a:spcAft>
                <a:spcPts val="400"/>
              </a:spcAft>
              <a:buSzPct val="100000"/>
              <a:buChar char="•"/>
            </a:pPr>
            <a:r>
              <a:rPr lang="en-US" sz="1550" dirty="0">
                <a:solidFill>
                  <a:srgbClr val="334155"/>
                </a:solidFill>
              </a:rPr>
              <a:t>snapshot.json holds each file's SHA-256; a unit test checks it; the weekly source watch reports new commits</a:t>
            </a:r>
            <a:endParaRPr lang="en-US" sz="1550" dirty="0"/>
          </a:p>
          <a:p>
            <a:pPr marL="342900" indent="-342900">
              <a:spcAft>
                <a:spcPts val="400"/>
              </a:spcAft>
              <a:buSzPct val="100000"/>
              <a:buChar char="•"/>
            </a:pPr>
            <a:r>
              <a:rPr lang="en-US" sz="1550" dirty="0">
                <a:solidFill>
                  <a:srgbClr val="334155"/>
                </a:solidFill>
              </a:rPr>
              <a:t>test_learn_sample.py runs both against stand-ins for the SDK packages that record each constructor's arguments</a:t>
            </a:r>
            <a:endParaRPr lang="en-US" sz="1550" dirty="0"/>
          </a:p>
          <a:p>
            <a:pPr marL="342900" indent="-342900">
              <a:spcAft>
                <a:spcPts val="400"/>
              </a:spcAft>
              <a:buSzPct val="100000"/>
              <a:buChar char="•"/>
            </a:pPr>
            <a:r>
              <a:rPr lang="en-US" sz="1550" dirty="0">
                <a:solidFill>
                  <a:srgbClr val="334155"/>
                </a:solidFill>
              </a:rPr>
              <a:t>Nothing installed, nothing signs in</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national clouds with the Graph SDKs; Get-MgEnvironment; SDK paging; throttling; msgraph-snippets-python at 3ef4381 (MIT). Ch 02,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snippets leave to you: cloud and credentials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657600"/>
                <a:gridCol w="3749040"/>
                <a:gridCol w="37033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examples/ms-automation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US Government client: scope https://graph.microsoft.us/.default, host NationalClouds.US_GOV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as the model: the scope is built from the cloud's Graph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Python credential names no authority; the C#, Go, Java and TypeScript tabs set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azure-identity defaults to login.microsoftonline.com, so a GCC High app signs in to the wrong 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azure_identity_provider sets AZURE_GOVERNMENT for gcchigh and dod, tested; a managed identity ignores the authority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One national cloud function, for GCC High; nothing for 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DoD has its own Graph host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table for all four clouds; an unknown name is an error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certificate snippet hard-codes graph.microsoft.com/.default, no authority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Right for worldwide and GCC, wrong for GCC High and DoD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scope_for(cloud) and the authority both follow the 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client-credentials snippet also shows a client secret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secret is a password in a file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certificate or a managed identity, never a secret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national clouds with the Graph SDKs; azure-identity InteractiveBrowserCredential and DefaultAzureCredential. Chapter 02,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they leave to you: permissions, paging, beta</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291840"/>
                <a:gridCol w="3840480"/>
                <a:gridCol w="397764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examples/ms-automation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Resource Manager endpoints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GCC with commercial Azure needs management.azure.com; GCC High and DoD, management.usgovcloudapi.net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endpoints(cloud) and scope_for(cloud, "arm")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Nothing ties a call to a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asks for least privilege per call; an unused permission is still exposure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graph-calls.json per call; a task makes only its calls; the token's roles checked before a live run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paging in the Python snippets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nextLink is a full URL; later pages lose the first request's headers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nextLink only on the cloud's Graph host; same headers on every page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SDK doesn't retry inside a batch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batch hides throttled items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batch() retries them after the longest Retry-After, checks each against the call list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Nothing about beta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Beta can change without notice; not supported in production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Beta calls declared; try_beta turns a failure into "not evaluated"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940808"/>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Learn's page is the model for what changes per cloud. Add the authority; use the hardened client for app-only jobs.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permissions overview; least privilege; SDK paging; throttling guidance; versioning and support. Chapter 02,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table of endpoints, and every call declared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One table" descr="">
            <a:extLst>
              <a:ext uri="{C183D7F6-B498-43B3-948B-1728B52AA6E4}">
                <adec:decorative xmlns:adec="http://schemas.microsoft.com/office/drawing/2017/decorative" val="1"/>
              </a:ext>
            </a:extLst>
          </p:cNvPr>
          <p:cNvSpPr/>
          <p:nvPr/>
        </p:nvSpPr>
        <p:spPr>
          <a:xfrm>
            <a:off x="548640" y="1325880"/>
            <a:ext cx="4550969" cy="3392424"/>
          </a:xfrm>
          <a:prstGeom prst="roundRect">
            <a:avLst>
              <a:gd name="adj" fmla="val 21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One table label"/>
          <p:cNvSpPr txBox="1"/>
          <p:nvPr/>
        </p:nvSpPr>
        <p:spPr>
          <a:xfrm>
            <a:off x="731520" y="1435608"/>
            <a:ext cx="4185209" cy="274320"/>
          </a:xfrm>
          <a:prstGeom prst="rect">
            <a:avLst/>
          </a:prstGeom>
          <a:noFill/>
          <a:ln/>
        </p:spPr>
        <p:txBody>
          <a:bodyPr wrap="square" lIns="0" tIns="0" rIns="0" bIns="0" rtlCol="0" anchor="t"/>
          <a:lstStyle/>
          <a:p>
            <a:pPr indent="0" marL="0">
              <a:buNone/>
            </a:pPr>
            <a:r>
              <a:rPr lang="en-US" sz="1100" b="1" spc="50" kern="0" dirty="0">
                <a:solidFill>
                  <a:srgbClr val="64748B"/>
                </a:solidFill>
              </a:rPr>
              <a:t>ONE TABLE</a:t>
            </a:r>
            <a:endParaRPr lang="en-US" sz="1100" dirty="0"/>
          </a:p>
        </p:txBody>
      </p:sp>
      <p:sp>
        <p:nvSpPr>
          <p:cNvPr id="7" name="Panel One table list"/>
          <p:cNvSpPr txBox="1"/>
          <p:nvPr/>
        </p:nvSpPr>
        <p:spPr>
          <a:xfrm>
            <a:off x="731520" y="1737360"/>
            <a:ext cx="4230929"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endpoints(cloud): authority, Graph host, Resource Manager host, PowerShell environments; raises on any other name</a:t>
            </a:r>
            <a:endParaRPr lang="en-US" sz="1500" dirty="0"/>
          </a:p>
          <a:p>
            <a:pPr marL="342900" indent="-342900">
              <a:spcAft>
                <a:spcPts val="400"/>
              </a:spcAft>
              <a:buSzPct val="100000"/>
              <a:buChar char="•"/>
            </a:pPr>
            <a:r>
              <a:rPr lang="en-US" sz="1500" dirty="0">
                <a:solidFill>
                  <a:srgbClr val="334155"/>
                </a:solidFill>
              </a:rPr>
              <a:t>scope_for(cloud, "graph") and scope_for(cloud, "arm") build the .default scopes</a:t>
            </a:r>
            <a:endParaRPr lang="en-US" sz="1500" dirty="0"/>
          </a:p>
          <a:p>
            <a:pPr marL="342900" indent="-342900">
              <a:spcAft>
                <a:spcPts val="400"/>
              </a:spcAft>
              <a:buSzPct val="100000"/>
              <a:buChar char="•"/>
            </a:pPr>
            <a:r>
              <a:rPr lang="en-US" sz="1500" dirty="0">
                <a:solidFill>
                  <a:srgbClr val="334155"/>
                </a:solidFill>
              </a:rPr>
              <a:t>PowerShell: Get-FmwCloud, and Connect-FmwGraph passes the environment to Connect-MgGraph</a:t>
            </a:r>
            <a:endParaRPr lang="en-US" sz="1500" dirty="0"/>
          </a:p>
          <a:p>
            <a:pPr marL="342900" indent="-342900">
              <a:spcAft>
                <a:spcPts val="400"/>
              </a:spcAft>
              <a:buSzPct val="100000"/>
              <a:buChar char="•"/>
            </a:pPr>
            <a:r>
              <a:rPr lang="en-US" sz="1500" dirty="0">
                <a:solidFill>
                  <a:srgbClr val="334155"/>
                </a:solidFill>
              </a:rPr>
              <a:t>The token goes only to the cloud's Graph host: in GCC High, graph.microsoft.com is refused</a:t>
            </a:r>
            <a:endParaRPr lang="en-US" sz="1500" dirty="0"/>
          </a:p>
        </p:txBody>
      </p:sp>
      <p:sp>
        <p:nvSpPr>
          <p:cNvPr id="8" name="Code panel" descr="">
            <a:extLst>
              <a:ext uri="{C183D7F6-B498-43B3-948B-1728B52AA6E4}">
                <adec:decorative xmlns:adec="http://schemas.microsoft.com/office/drawing/2017/decorative" val="1"/>
              </a:ext>
            </a:extLst>
          </p:cNvPr>
          <p:cNvSpPr/>
          <p:nvPr/>
        </p:nvSpPr>
        <p:spPr>
          <a:xfrm>
            <a:off x="5373929" y="1325880"/>
            <a:ext cx="6284671" cy="2267712"/>
          </a:xfrm>
          <a:prstGeom prst="roundRect">
            <a:avLst>
              <a:gd name="adj" fmla="val 322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Code label"/>
          <p:cNvSpPr txBox="1"/>
          <p:nvPr/>
        </p:nvSpPr>
        <p:spPr>
          <a:xfrm>
            <a:off x="5538521" y="1399032"/>
            <a:ext cx="5955487" cy="228600"/>
          </a:xfrm>
          <a:prstGeom prst="rect">
            <a:avLst/>
          </a:prstGeom>
          <a:noFill/>
          <a:ln/>
        </p:spPr>
        <p:txBody>
          <a:bodyPr wrap="square" lIns="0" tIns="0" rIns="0" bIns="0" rtlCol="0" anchor="t"/>
          <a:lstStyle/>
          <a:p>
            <a:pPr indent="0" marL="0">
              <a:buNone/>
            </a:pPr>
            <a:r>
              <a:rPr lang="en-US" sz="1050" b="1" dirty="0">
                <a:solidFill>
                  <a:srgbClr val="64748B"/>
                </a:solidFill>
              </a:rPr>
              <a:t>graph-calls.json: ONE ENTRY</a:t>
            </a:r>
            <a:endParaRPr lang="en-US" sz="1050" dirty="0"/>
          </a:p>
        </p:txBody>
      </p:sp>
      <p:sp>
        <p:nvSpPr>
          <p:cNvPr id="10" name="Code"/>
          <p:cNvSpPr txBox="1"/>
          <p:nvPr/>
        </p:nvSpPr>
        <p:spPr>
          <a:xfrm>
            <a:off x="5538521" y="1664208"/>
            <a:ext cx="6010351" cy="1883664"/>
          </a:xfrm>
          <a:prstGeom prst="rect">
            <a:avLst/>
          </a:prstGeom>
          <a:noFill/>
          <a:ln/>
        </p:spPr>
        <p:txBody>
          <a:bodyPr wrap="square" lIns="0" tIns="0" rIns="0" bIns="0" rtlCol="0" anchor="t"/>
          <a:lstStyle/>
          <a:p>
            <a:pPr indent="0" marL="0">
              <a:buNone/>
            </a:pPr>
            <a:r>
              <a:rPr lang="en-US" sz="1300" dirty="0">
                <a:solidFill>
                  <a:srgbClr val="334155"/>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"id": "role-eligibility-schedules",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"method": "GET",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"version": "v1.0",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"path": "/roleManagement/directory/roleEligibilitySchedules",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"permissions": ["RoleEligibilitySchedule.Read.Directory"],</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"stage": "v1.0",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"tasks": ["pim-report"]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t>
            </a:r>
            <a:endParaRPr lang="en-US" sz="1300" dirty="0"/>
          </a:p>
        </p:txBody>
      </p:sp>
      <p:sp>
        <p:nvSpPr>
          <p:cNvPr id="11" name="Callout" descr="">
            <a:extLst>
              <a:ext uri="{C183D7F6-B498-43B3-948B-1728B52AA6E4}">
                <adec:decorative xmlns:adec="http://schemas.microsoft.com/office/drawing/2017/decorative" val="1"/>
              </a:ext>
            </a:extLst>
          </p:cNvPr>
          <p:cNvSpPr/>
          <p:nvPr/>
        </p:nvSpPr>
        <p:spPr>
          <a:xfrm>
            <a:off x="548640" y="4901184"/>
            <a:ext cx="11109960" cy="996696"/>
          </a:xfrm>
          <a:prstGeom prst="roundRect">
            <a:avLst>
              <a:gd name="adj" fmla="val 733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49808" y="5079492"/>
            <a:ext cx="640080" cy="640080"/>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33111"/>
            <a:ext cx="332842" cy="332842"/>
          </a:xfrm>
          <a:prstGeom prst="rect">
            <a:avLst/>
          </a:prstGeom>
        </p:spPr>
      </p:pic>
      <p:sp>
        <p:nvSpPr>
          <p:cNvPr id="14" name="Callout text"/>
          <p:cNvSpPr txBox="1"/>
          <p:nvPr/>
        </p:nvSpPr>
        <p:spPr>
          <a:xfrm>
            <a:off x="1600200" y="4956048"/>
            <a:ext cx="9875520" cy="886968"/>
          </a:xfrm>
          <a:prstGeom prst="rect">
            <a:avLst/>
          </a:prstGeom>
          <a:noFill/>
          <a:ln/>
        </p:spPr>
        <p:txBody>
          <a:bodyPr wrap="square" lIns="0" tIns="0" rIns="0" bIns="0" rtlCol="0" anchor="ctr"/>
          <a:lstStyle/>
          <a:p>
            <a:pPr indent="0" marL="0">
              <a:buNone/>
            </a:pPr>
            <a:r>
              <a:rPr lang="en-US" sz="1700" b="1" dirty="0">
                <a:solidFill>
                  <a:srgbClr val="0F766E"/>
                </a:solidFill>
              </a:rPr>
              <a:t>Two rules from the file: </a:t>
            </a:r>
            <a:pPr indent="0" marL="0">
              <a:buNone/>
            </a:pPr>
            <a:r>
              <a:rPr lang="en-US" sz="1700" dirty="0">
                <a:solidFill>
                  <a:srgbClr val="334155"/>
                </a:solidFill>
              </a:rPr>
              <a:t>a task makes only its calls (anything else raises PermissionError before it's sent), and a task's permissions are the union of its calls, tested in both languages.</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Overview of Microsoft Graph permissions (least privilege). Chapter 02, “One table of endpoints,”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token check before a live run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Python: preflight" descr="">
            <a:extLst>
              <a:ext uri="{C183D7F6-B498-43B3-948B-1728B52AA6E4}">
                <adec:decorative xmlns:adec="http://schemas.microsoft.com/office/drawing/2017/decorative" val="1"/>
              </a:ext>
            </a:extLst>
          </p:cNvPr>
          <p:cNvSpPr/>
          <p:nvPr/>
        </p:nvSpPr>
        <p:spPr>
          <a:xfrm>
            <a:off x="548640" y="1325880"/>
            <a:ext cx="5417820" cy="3304032"/>
          </a:xfrm>
          <a:prstGeom prst="roundRect">
            <a:avLst>
              <a:gd name="adj" fmla="val 221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Python: preflight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PYTHON: PREFLIGHT</a:t>
            </a:r>
            <a:endParaRPr lang="en-US" sz="1100" dirty="0"/>
          </a:p>
        </p:txBody>
      </p:sp>
      <p:sp>
        <p:nvSpPr>
          <p:cNvPr id="7" name="Panel Python: preflight list"/>
          <p:cNvSpPr txBox="1"/>
          <p:nvPr/>
        </p:nvSpPr>
        <p:spPr>
          <a:xfrm>
            <a:off x="73152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An app-only token carries its application permissions in the </a:t>
            </a:r>
            <a:pPr indent="0" marL="0">
              <a:spcAft>
                <a:spcPts val="400"/>
              </a:spcAft>
              <a:buNone/>
            </a:pPr>
            <a:r>
              <a:rPr lang="en-US" sz="1550" b="1" dirty="0">
                <a:solidFill>
                  <a:srgbClr val="1F2A44"/>
                </a:solidFill>
              </a:rPr>
              <a:t>roles</a:t>
            </a:r>
            <a:pPr indent="0" marL="0">
              <a:spcAft>
                <a:spcPts val="400"/>
              </a:spcAft>
              <a:buNone/>
            </a:pPr>
            <a:r>
              <a:rPr lang="en-US" sz="1550" dirty="0">
                <a:solidFill>
                  <a:srgbClr val="334155"/>
                </a:solidFill>
              </a:rPr>
              <a:t> claim</a:t>
            </a:r>
            <a:endParaRPr lang="en-US" sz="1550" dirty="0"/>
          </a:p>
          <a:p>
            <a:pPr marL="342900" indent="-342900">
              <a:spcAft>
                <a:spcPts val="400"/>
              </a:spcAft>
              <a:buSzPct val="100000"/>
              <a:buChar char="•"/>
            </a:pPr>
            <a:r>
              <a:rPr lang="en-US" sz="1550" dirty="0">
                <a:solidFill>
                  <a:srgbClr val="334155"/>
                </a:solidFill>
              </a:rPr>
              <a:t>preflight reads that claim from the run's own token</a:t>
            </a:r>
            <a:endParaRPr lang="en-US" sz="1550" dirty="0"/>
          </a:p>
          <a:p>
            <a:pPr marL="342900" indent="-342900">
              <a:spcAft>
                <a:spcPts val="400"/>
              </a:spcAft>
              <a:buSzPct val="100000"/>
              <a:buChar char="•"/>
            </a:pPr>
            <a:r>
              <a:rPr lang="en-US" sz="1550" dirty="0">
                <a:solidFill>
                  <a:srgbClr val="334155"/>
                </a:solidFill>
              </a:rPr>
              <a:t>A missing permission stops the run before any call</a:t>
            </a:r>
            <a:endParaRPr lang="en-US" sz="1550" dirty="0"/>
          </a:p>
          <a:p>
            <a:pPr marL="342900" indent="-342900">
              <a:spcAft>
                <a:spcPts val="400"/>
              </a:spcAft>
              <a:buSzPct val="100000"/>
              <a:buChar char="•"/>
            </a:pPr>
            <a:r>
              <a:rPr lang="en-US" sz="1550" dirty="0">
                <a:solidFill>
                  <a:srgbClr val="334155"/>
                </a:solidFill>
              </a:rPr>
              <a:t>An unused permission prints a warning: it is exposure even if the code never calls it</a:t>
            </a:r>
            <a:endParaRPr lang="en-US" sz="1550" dirty="0"/>
          </a:p>
          <a:p>
            <a:pPr marL="342900" indent="-342900">
              <a:spcAft>
                <a:spcPts val="400"/>
              </a:spcAft>
              <a:buSzPct val="100000"/>
              <a:buChar char="•"/>
            </a:pPr>
            <a:r>
              <a:rPr lang="en-US" sz="1550" dirty="0">
                <a:solidFill>
                  <a:srgbClr val="334155"/>
                </a:solidFill>
              </a:rPr>
              <a:t>It reads the claim; it doesn't validate the token or authorize anything</a:t>
            </a:r>
            <a:endParaRPr lang="en-US" sz="1550" dirty="0"/>
          </a:p>
        </p:txBody>
      </p:sp>
      <p:sp>
        <p:nvSpPr>
          <p:cNvPr id="8" name="Panel PowerShell: the session" descr="">
            <a:extLst>
              <a:ext uri="{C183D7F6-B498-43B3-948B-1728B52AA6E4}">
                <adec:decorative xmlns:adec="http://schemas.microsoft.com/office/drawing/2017/decorative" val="1"/>
              </a:ext>
            </a:extLst>
          </p:cNvPr>
          <p:cNvSpPr/>
          <p:nvPr/>
        </p:nvSpPr>
        <p:spPr>
          <a:xfrm>
            <a:off x="6240780" y="1325880"/>
            <a:ext cx="5417820" cy="3304032"/>
          </a:xfrm>
          <a:prstGeom prst="roundRect">
            <a:avLst>
              <a:gd name="adj" fmla="val 221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owerShell: the sessio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POWERSHELL: THE SESSION</a:t>
            </a:r>
            <a:endParaRPr lang="en-US" sz="1100" dirty="0"/>
          </a:p>
        </p:txBody>
      </p:sp>
      <p:sp>
        <p:nvSpPr>
          <p:cNvPr id="10" name="Panel PowerShell: the session list"/>
          <p:cNvSpPr txBox="1"/>
          <p:nvPr/>
        </p:nvSpPr>
        <p:spPr>
          <a:xfrm>
            <a:off x="642366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Graph PowerShell signs in for you and never hands the module the token</a:t>
            </a:r>
            <a:endParaRPr lang="en-US" sz="1550" dirty="0"/>
          </a:p>
          <a:p>
            <a:pPr marL="342900" indent="-342900">
              <a:spcAft>
                <a:spcPts val="400"/>
              </a:spcAft>
              <a:buSzPct val="100000"/>
              <a:buChar char="•"/>
            </a:pPr>
            <a:r>
              <a:rPr lang="en-US" sz="1550" dirty="0">
                <a:solidFill>
                  <a:srgbClr val="334155"/>
                </a:solidFill>
              </a:rPr>
              <a:t>Learn's app-only guide: Get-MgContext reports an AppOnly session's application permissions in Scopes</a:t>
            </a:r>
            <a:endParaRPr lang="en-US" sz="1550" dirty="0"/>
          </a:p>
          <a:p>
            <a:pPr marL="342900" indent="-342900">
              <a:spcAft>
                <a:spcPts val="400"/>
              </a:spcAft>
              <a:buSzPct val="100000"/>
              <a:buChar char="•"/>
            </a:pPr>
            <a:r>
              <a:rPr lang="en-US" sz="1550" dirty="0">
                <a:solidFill>
                  <a:srgbClr val="334155"/>
                </a:solidFill>
              </a:rPr>
              <a:t>The SDK fills Scopes from the token's scp claim or, when there is none, its roles claim</a:t>
            </a:r>
            <a:endParaRPr lang="en-US" sz="1550" dirty="0"/>
          </a:p>
          <a:p>
            <a:pPr marL="342900" indent="-342900">
              <a:spcAft>
                <a:spcPts val="400"/>
              </a:spcAft>
              <a:buSzPct val="100000"/>
              <a:buChar char="•"/>
            </a:pPr>
            <a:r>
              <a:rPr lang="en-US" sz="1550" dirty="0">
                <a:solidFill>
                  <a:srgbClr val="334155"/>
                </a:solidFill>
              </a:rPr>
              <a:t>Assert-FmwSessionRole runs first: missing stops, extra warns; a delegated session or none is refused</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Access token claims reference; least privilege; app-only auth with Graph PowerShell; msgraph-sdk-powershell JwtHelpers.cs. Chapter 02,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Paging and throttling the way Learn documents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Paging" descr="">
            <a:extLst>
              <a:ext uri="{C183D7F6-B498-43B3-948B-1728B52AA6E4}">
                <adec:decorative xmlns:adec="http://schemas.microsoft.com/office/drawing/2017/decorative" val="1"/>
              </a:ext>
            </a:extLst>
          </p:cNvPr>
          <p:cNvSpPr/>
          <p:nvPr/>
        </p:nvSpPr>
        <p:spPr>
          <a:xfrm>
            <a:off x="548640" y="1325880"/>
            <a:ext cx="5417820" cy="3540252"/>
          </a:xfrm>
          <a:prstGeom prst="roundRect">
            <a:avLst>
              <a:gd name="adj" fmla="val 206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Paging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PAGING</a:t>
            </a:r>
            <a:endParaRPr lang="en-US" sz="1100" dirty="0"/>
          </a:p>
        </p:txBody>
      </p:sp>
      <p:sp>
        <p:nvSpPr>
          <p:cNvPr id="7" name="Panel Paging list"/>
          <p:cNvSpPr txBox="1"/>
          <p:nvPr/>
        </p:nvSpPr>
        <p:spPr>
          <a:xfrm>
            <a:off x="73152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get_all follows @odata.nextLink until it stops</a:t>
            </a:r>
            <a:endParaRPr lang="en-US" sz="1550" dirty="0"/>
          </a:p>
          <a:p>
            <a:pPr marL="342900" indent="-342900">
              <a:spcAft>
                <a:spcPts val="400"/>
              </a:spcAft>
              <a:buSzPct val="100000"/>
              <a:buChar char="•"/>
            </a:pPr>
            <a:r>
              <a:rPr lang="en-US" sz="1550" dirty="0">
                <a:solidFill>
                  <a:srgbClr val="334155"/>
                </a:solidFill>
              </a:rPr>
              <a:t>Same headers on every page: ConsistencyLevel: eventual is the one that matters</a:t>
            </a:r>
            <a:endParaRPr lang="en-US" sz="1550" dirty="0"/>
          </a:p>
          <a:p>
            <a:pPr marL="342900" indent="-342900">
              <a:spcAft>
                <a:spcPts val="400"/>
              </a:spcAft>
              <a:buSzPct val="100000"/>
              <a:buChar char="•"/>
            </a:pPr>
            <a:r>
              <a:rPr lang="en-US" sz="1550" dirty="0">
                <a:solidFill>
                  <a:srgbClr val="334155"/>
                </a:solidFill>
              </a:rPr>
              <a:t>A throttled page is retried with the same link</a:t>
            </a:r>
            <a:endParaRPr lang="en-US" sz="1550" dirty="0"/>
          </a:p>
          <a:p>
            <a:pPr marL="342900" indent="-342900">
              <a:spcAft>
                <a:spcPts val="400"/>
              </a:spcAft>
              <a:buSzPct val="100000"/>
              <a:buChar char="•"/>
            </a:pPr>
            <a:r>
              <a:rPr lang="en-US" sz="1550" dirty="0">
                <a:solidFill>
                  <a:srgbClr val="334155"/>
                </a:solidFill>
              </a:rPr>
              <a:t>Only a link from a successful response is followed: Learn warns a retried request's page token can cause DirectoryPageTokenNotFoundException</a:t>
            </a:r>
            <a:endParaRPr lang="en-US" sz="1550" dirty="0"/>
          </a:p>
        </p:txBody>
      </p:sp>
      <p:sp>
        <p:nvSpPr>
          <p:cNvPr id="8" name="Panel Throttling" descr="">
            <a:extLst>
              <a:ext uri="{C183D7F6-B498-43B3-948B-1728B52AA6E4}">
                <adec:decorative xmlns:adec="http://schemas.microsoft.com/office/drawing/2017/decorative" val="1"/>
              </a:ext>
            </a:extLst>
          </p:cNvPr>
          <p:cNvSpPr/>
          <p:nvPr/>
        </p:nvSpPr>
        <p:spPr>
          <a:xfrm>
            <a:off x="6240780" y="1325880"/>
            <a:ext cx="5417820" cy="3540252"/>
          </a:xfrm>
          <a:prstGeom prst="roundRect">
            <a:avLst>
              <a:gd name="adj" fmla="val 206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rottling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THROTTLING</a:t>
            </a:r>
            <a:endParaRPr lang="en-US" sz="1100" dirty="0"/>
          </a:p>
        </p:txBody>
      </p:sp>
      <p:sp>
        <p:nvSpPr>
          <p:cNvPr id="10" name="Panel Throttling list"/>
          <p:cNvSpPr txBox="1"/>
          <p:nvPr/>
        </p:nvSpPr>
        <p:spPr>
          <a:xfrm>
            <a:off x="642366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On 429, 503 or 504: wait and retry, up to max_retries</a:t>
            </a:r>
            <a:endParaRPr lang="en-US" sz="1550" dirty="0"/>
          </a:p>
          <a:p>
            <a:pPr marL="342900" indent="-342900">
              <a:spcAft>
                <a:spcPts val="400"/>
              </a:spcAft>
              <a:buSzPct val="100000"/>
              <a:buChar char="•"/>
            </a:pPr>
            <a:r>
              <a:rPr lang="en-US" sz="1550" dirty="0">
                <a:solidFill>
                  <a:srgbClr val="334155"/>
                </a:solidFill>
              </a:rPr>
              <a:t>The wait is Retry-After, as seconds or an HTTP date</a:t>
            </a:r>
            <a:endParaRPr lang="en-US" sz="1550" dirty="0"/>
          </a:p>
          <a:p>
            <a:pPr marL="342900" indent="-342900">
              <a:spcAft>
                <a:spcPts val="400"/>
              </a:spcAft>
              <a:buSzPct val="100000"/>
              <a:buChar char="•"/>
            </a:pPr>
            <a:r>
              <a:rPr lang="en-US" sz="1550" dirty="0">
                <a:solidFill>
                  <a:srgbClr val="334155"/>
                </a:solidFill>
              </a:rPr>
              <a:t>No header: 1, 2, 4 seconds and on, capped at 60 (*design guidance* for the cap); conditional access resources send none on 429</a:t>
            </a:r>
            <a:endParaRPr lang="en-US" sz="1550" dirty="0"/>
          </a:p>
          <a:p>
            <a:pPr marL="342900" indent="-342900">
              <a:spcAft>
                <a:spcPts val="400"/>
              </a:spcAft>
              <a:buSzPct val="100000"/>
              <a:buChar char="•"/>
            </a:pPr>
            <a:r>
              <a:rPr lang="en-US" sz="1550" dirty="0">
                <a:solidFill>
                  <a:srgbClr val="334155"/>
                </a:solidFill>
              </a:rPr>
              <a:t>Every request sends x-ms-throttle-priority: Low; the limits don't change</a:t>
            </a:r>
            <a:endParaRPr lang="en-US" sz="1550" dirty="0"/>
          </a:p>
          <a:p>
            <a:pPr marL="342900" indent="-342900">
              <a:spcAft>
                <a:spcPts val="400"/>
              </a:spcAft>
              <a:buSzPct val="100000"/>
              <a:buChar char="•"/>
            </a:pPr>
            <a:r>
              <a:rPr lang="en-US" sz="1550" dirty="0">
                <a:solidFill>
                  <a:srgbClr val="334155"/>
                </a:solidFill>
              </a:rPr>
              <a:t>Batches: at most 20 requests; batch() retries throttled items itself</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SDK paging; throttling guidance; service-specific throttling limits; The Retry-After header; JSON batching. Chapter 02, “Paging,” “Throttling.”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Beta without depending on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rules" descr="">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ul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RULES</a:t>
            </a:r>
            <a:endParaRPr lang="en-US" sz="1100" dirty="0"/>
          </a:p>
        </p:txBody>
      </p:sp>
      <p:sp>
        <p:nvSpPr>
          <p:cNvPr id="7" name="Panel The rule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b="1" dirty="0">
                <a:solidFill>
                  <a:srgbClr val="1F2A44"/>
                </a:solidFill>
              </a:rPr>
              <a:t>A beta call must be declared</a:t>
            </a:r>
            <a:pPr indent="0" marL="0">
              <a:spcAft>
                <a:spcPts val="400"/>
              </a:spcAft>
              <a:buNone/>
            </a:pPr>
            <a:r>
              <a:rPr lang="en-US" sz="1550" dirty="0">
                <a:solidFill>
                  <a:srgbClr val="334155"/>
                </a:solidFill>
              </a:rPr>
              <a:t>: v1.0 calls are allowed without a list; beta calls never are</a:t>
            </a:r>
            <a:endParaRPr lang="en-US" sz="1550" dirty="0"/>
          </a:p>
          <a:p>
            <a:pPr marL="342900" indent="-342900">
              <a:spcAft>
                <a:spcPts val="400"/>
              </a:spcAft>
              <a:buSzPct val="100000"/>
              <a:buChar char="•"/>
            </a:pPr>
            <a:r>
              <a:rPr lang="en-US" sz="1550" b="1" dirty="0">
                <a:solidFill>
                  <a:srgbClr val="1F2A44"/>
                </a:solidFill>
              </a:rPr>
              <a:t>Read through try_beta</a:t>
            </a:r>
            <a:pPr indent="0" marL="0">
              <a:spcAft>
                <a:spcPts val="400"/>
              </a:spcAft>
              <a:buNone/>
            </a:pPr>
            <a:r>
              <a:rPr lang="en-US" sz="1550" dirty="0">
                <a:solidFill>
                  <a:srgbClr val="334155"/>
                </a:solidFill>
              </a:rPr>
              <a:t> (Get-FmwBetaCollection): a refused call, or a 400, 404 or 501, returns available: false; the task reports "evaluated": false, stage beta</a:t>
            </a:r>
            <a:endParaRPr lang="en-US" sz="1550" dirty="0"/>
          </a:p>
          <a:p>
            <a:pPr marL="342900" indent="-342900">
              <a:spcAft>
                <a:spcPts val="400"/>
              </a:spcAft>
              <a:buSzPct val="100000"/>
              <a:buChar char="•"/>
            </a:pPr>
            <a:r>
              <a:rPr lang="en-US" sz="1550" dirty="0">
                <a:solidFill>
                  <a:srgbClr val="334155"/>
                </a:solidFill>
              </a:rPr>
              <a:t>A 403, or throttling that outlasts the retries, still raises: those aren't beta problems</a:t>
            </a:r>
            <a:endParaRPr lang="en-US" sz="1550" dirty="0"/>
          </a:p>
          <a:p>
            <a:pPr marL="342900" indent="-342900">
              <a:spcAft>
                <a:spcPts val="400"/>
              </a:spcAft>
              <a:buSzPct val="100000"/>
              <a:buChar char="•"/>
            </a:pPr>
            <a:r>
              <a:rPr lang="en-US" sz="1550" b="1" dirty="0">
                <a:solidFill>
                  <a:srgbClr val="1F2A44"/>
                </a:solidFill>
              </a:rPr>
              <a:t>The stage is in the output</a:t>
            </a:r>
            <a:pPr indent="0" marL="0">
              <a:spcAft>
                <a:spcPts val="400"/>
              </a:spcAft>
              <a:buNone/>
            </a:pPr>
            <a:r>
              <a:rPr lang="en-US" sz="1550" dirty="0">
                <a:solidFill>
                  <a:srgbClr val="334155"/>
                </a:solidFill>
              </a:rPr>
              <a:t>, run or not</a:t>
            </a:r>
            <a:endParaRPr lang="en-US" sz="1550" dirty="0"/>
          </a:p>
        </p:txBody>
      </p:sp>
      <p:sp>
        <p:nvSpPr>
          <p:cNvPr id="8" name="Panel Where the sources differ" descr="">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Panel Where the sources differ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WHERE THE SOURCES DIFFER</a:t>
            </a:r>
            <a:endParaRPr lang="en-US" sz="1100" dirty="0"/>
          </a:p>
        </p:txBody>
      </p:sp>
      <p:sp>
        <p:nvSpPr>
          <p:cNvPr id="10" name="Panel Where the sources differ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Autopilot check needs deploymentProfileAssignmentStatus, which v1.0 doesn't have</a:t>
            </a:r>
            <a:endParaRPr lang="en-US" sz="1550" dirty="0"/>
          </a:p>
          <a:p>
            <a:pPr marL="342900" indent="-342900">
              <a:spcAft>
                <a:spcPts val="400"/>
              </a:spcAft>
              <a:buSzPct val="100000"/>
              <a:buChar char="•"/>
            </a:pPr>
            <a:r>
              <a:rPr lang="en-US" sz="1550" dirty="0">
                <a:solidFill>
                  <a:srgbClr val="334155"/>
                </a:solidFill>
              </a:rPr>
              <a:t>The API page's national cloud table shows the endpoint in L4 and L5</a:t>
            </a:r>
            <a:endParaRPr lang="en-US" sz="1550" dirty="0"/>
          </a:p>
          <a:p>
            <a:pPr marL="342900" indent="-342900">
              <a:spcAft>
                <a:spcPts val="400"/>
              </a:spcAft>
              <a:buSzPct val="100000"/>
              <a:buChar char="•"/>
            </a:pPr>
            <a:r>
              <a:rPr lang="en-US" sz="1550" dirty="0">
                <a:solidFill>
                  <a:srgbClr val="334155"/>
                </a:solidFill>
              </a:rPr>
              <a:t>Intune's government service description lists Windows Autopilot as not available in GCC High and DoD</a:t>
            </a:r>
            <a:endParaRPr lang="en-US" sz="1550" dirty="0"/>
          </a:p>
          <a:p>
            <a:pPr marL="342900" indent="-342900">
              <a:spcAft>
                <a:spcPts val="400"/>
              </a:spcAft>
              <a:buSzPct val="100000"/>
              <a:buChar char="•"/>
            </a:pPr>
            <a:r>
              <a:rPr lang="en-US" sz="1550" dirty="0">
                <a:solidFill>
                  <a:srgbClr val="334155"/>
                </a:solidFill>
              </a:rPr>
              <a:t>The file follows the stricter: in gcchigh and dod, no call, "not evaluated"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512564"/>
            <a:ext cx="11109960" cy="731520"/>
          </a:xfrm>
          <a:prstGeom prst="roundRect">
            <a:avLst>
              <a:gd name="adj" fmla="val 10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49808" y="4585716"/>
            <a:ext cx="585216" cy="585216"/>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726168"/>
            <a:ext cx="304312" cy="304312"/>
          </a:xfrm>
          <a:prstGeom prst="rect">
            <a:avLst/>
          </a:prstGeom>
        </p:spPr>
      </p:pic>
      <p:sp>
        <p:nvSpPr>
          <p:cNvPr id="14" name="Callout text"/>
          <p:cNvSpPr txBox="1"/>
          <p:nvPr/>
        </p:nvSpPr>
        <p:spPr>
          <a:xfrm>
            <a:off x="1600200" y="4567428"/>
            <a:ext cx="9875520" cy="621792"/>
          </a:xfrm>
          <a:prstGeom prst="rect">
            <a:avLst/>
          </a:prstGeom>
          <a:noFill/>
          <a:ln/>
        </p:spPr>
        <p:txBody>
          <a:bodyPr wrap="square" lIns="0" tIns="0" rIns="0" bIns="0" rtlCol="0" anchor="ctr"/>
          <a:lstStyle/>
          <a:p>
            <a:pPr indent="0" marL="0">
              <a:buNone/>
            </a:pPr>
            <a:r>
              <a:rPr lang="en-US" sz="1750" b="1" dirty="0">
                <a:solidFill>
                  <a:srgbClr val="B91C1C"/>
                </a:solidFill>
              </a:rPr>
              <a:t>The lesson: </a:t>
            </a:r>
            <a:pPr indent="0" marL="0">
              <a:buNone/>
            </a:pPr>
            <a:r>
              <a:rPr lang="en-US" sz="1750" dirty="0">
                <a:solidFill>
                  <a:srgbClr val="334155"/>
                </a:solidFill>
              </a:rPr>
              <a:t>an API that answers isn't a feature you can use.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versioning and support; List windowsAutopilotDeviceIdentities; Intune for US Government GCC High and DoD. Chapter 02, “Beta without depending on it,”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reviews it, and what it may hold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882140"/>
          </a:xfrm>
          <a:prstGeom prst="roundRect">
            <a:avLst>
              <a:gd name="adj" fmla="val 388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8821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Build any code in this workbook that calls Microsoft Graph or Azure Resource Manager; read Python or PowerShell 7 and know what an access token is</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882140"/>
          </a:xfrm>
          <a:prstGeom prst="roundRect">
            <a:avLst>
              <a:gd name="adj" fmla="val 388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8821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Reviewers</a:t>
            </a:r>
            <a:endParaRPr lang="en-US" sz="1400" dirty="0"/>
          </a:p>
          <a:p>
            <a:pPr indent="0" marL="0">
              <a:spcAft>
                <a:spcPts val="300"/>
              </a:spcAft>
              <a:buNone/>
            </a:pPr>
            <a:r>
              <a:rPr lang="en-US" sz="1550" dirty="0">
                <a:solidFill>
                  <a:srgbClr val="334155"/>
                </a:solidFill>
              </a:rPr>
              <a:t>Approve it, and ask: which calls, with which permissions, in which cloud? graph-calls.json answers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882140"/>
          </a:xfrm>
          <a:prstGeom prst="roundRect">
            <a:avLst>
              <a:gd name="adj" fmla="val 388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8821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6535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The app registration</a:t>
            </a:r>
            <a:endParaRPr lang="en-US" sz="1400" dirty="0"/>
          </a:p>
          <a:p>
            <a:pPr indent="0" marL="0">
              <a:spcAft>
                <a:spcPts val="300"/>
              </a:spcAft>
              <a:buNone/>
            </a:pPr>
            <a:r>
              <a:rPr lang="en-US" sz="1550" dirty="0">
                <a:solidFill>
                  <a:srgbClr val="334155"/>
                </a:solidFill>
              </a:rPr>
              <a:t>Holds exactly the task's permissions, with a certificate or managed identity, never a secret; registered in the tenant's own cloud</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390900"/>
          <a:ext cx="11109960" cy="1874520"/>
        </p:xfrm>
        <a:graphic>
          <a:graphicData uri="http://schemas.openxmlformats.org/drawingml/2006/table">
            <a:tbl>
              <a:tblPr firstRow="1" bandRow="1"/>
              <a:tblGrid>
                <a:gridCol w="2194560"/>
                <a:gridCol w="89154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Declared permissions (from its calls)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pim-report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RoleAssignmentSchedule.Read.Directory, RoleEligibilitySchedule.Read.Directory, RoleManagement.Read.Directory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ca-export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Policy.Read.All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app-credentials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Application.Read.All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Autopilot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DeviceManagementServiceConfig.Read.All; not called in gcchigh or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permissions overview; least privilege; national clouds with the SDKs; List windowsAutopilotDeviceIdentities. Ch 02, “Goal and audience,” Labs,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snippets, the endpoints, the call 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953512"/>
          </a:xfrm>
          <a:prstGeom prst="roundRect">
            <a:avLst>
              <a:gd name="adj" fmla="val 247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PYTHON 3.10+ WITH PYTEST, IN examples/ms-automation</a:t>
            </a:r>
            <a:endParaRPr lang="en-US" sz="1050" dirty="0"/>
          </a:p>
        </p:txBody>
      </p:sp>
      <p:sp>
        <p:nvSpPr>
          <p:cNvPr id="7" name="Code"/>
          <p:cNvSpPr txBox="1"/>
          <p:nvPr/>
        </p:nvSpPr>
        <p:spPr>
          <a:xfrm>
            <a:off x="713232" y="1664208"/>
            <a:ext cx="10835640" cy="256946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Microsoft's sample against the stand-ins: 9 passed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-m pytest -q -p no:cacheprovider tests/python/test_learn_sample.py</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The endpoints for the target estate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python -c "…from graphkit import endpoints, scope_for; print(endpoints('gcc'));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{'login': 'https://login.microsoftonline.com', 'graph': 'https://graph.microsoft.com',</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'arm': 'https://management.azure.com', 'ps_env': 'Global', 'azure_env': 'AzureCloud'}</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endpoints('GCCHigh')  -&gt;  ValueError: unknown cloud 'GCCHigh'</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A task's permissions from its calls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print(permissions_for(load_calls('pim-report')))   # the README's three</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4  A call the task doesn't declare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GraphClient('gcc', lambda s: 't', calls=load_calls('ca-export')).request('GET', '/users')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PermissionError: undeclared call: GET /v1.0/users; add it to graph-calls.json …</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examples/ms-automation (tests and fixtures, fictional). Chapter 02,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beta, PowerShell, and the test suites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267712"/>
          </a:xfrm>
          <a:prstGeom prst="roundRect">
            <a:avLst>
              <a:gd name="adj" fmla="val 322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STEPS 5–7</a:t>
            </a:r>
            <a:endParaRPr lang="en-US" sz="1050" dirty="0"/>
          </a:p>
        </p:txBody>
      </p:sp>
      <p:sp>
        <p:nvSpPr>
          <p:cNvPr id="7" name="Code"/>
          <p:cNvSpPr txBox="1"/>
          <p:nvPr/>
        </p:nvSpPr>
        <p:spPr>
          <a:xfrm>
            <a:off x="713232" y="1664208"/>
            <a:ext cx="10835640" cy="188366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5  Beta where the feature isn't offered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print(try_beta(GraphClient('gcchigh', lambda s: 't'), '/deviceManagement/windowsAutopilotDeviceIdentities'))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{'stage': 'beta', 'available': False, 'items': [], 'reason': "... isn't offered in gcchigh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6  The same rules in PowerShell</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Import-Module ./powershell/FmwGraph.psm1; (Get-FmwCloud gcc).Arm; Get-FmwCallPermission -Task pim-report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Assert-FmwGraphCall -Method GET -Uri '/beta/users' -Cloud gcc        # Undeclared beta call</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Assert-FmwGraphCall -Method GET -Uri 'https://graph.microsoft.com/v1.0/users' -Cloud gcchigh</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Refusing to send the token to https://graph.microsoft.com/v1.0/users: not https://graph.microsoft.us</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7  The tests: 70 Python and 44 Pester passing</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776472"/>
          <a:ext cx="11109960" cy="1673352"/>
        </p:xfrm>
        <a:graphic>
          <a:graphicData uri="http://schemas.openxmlformats.org/drawingml/2006/table">
            <a:tbl>
              <a:tblPr firstRow="1" bandRow="1"/>
              <a:tblGrid>
                <a:gridCol w="3291840"/>
                <a:gridCol w="78181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Chapter 02's tests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they pin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test_learn_sample.py, 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Microsoft's pinned snippets against stand-ins; our provider's authority for each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test_graph_clients.py, 24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Endpoints, refused names, call list against permissions, token audit, headers per page, retries, beta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test_intune_tasks.py, 2 new; GraphClients.Tests.ps1, 27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Autopilot in GCC High makes no call; a beta 404 is "not evaluated"; the same rules in PowerShell, mocked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examples/ms-automation (tests and fixtures, fictional). Chapter 02, “Lab 1: fixtures, no tenant,” steps 5–7;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and one permission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Register the app in the tenant's own cloud: </a:t>
            </a:r>
            <a:pPr indent="0" marL="0">
              <a:buNone/>
            </a:pPr>
            <a:r>
              <a:rPr lang="en-US" sz="1500" dirty="0">
                <a:solidFill>
                  <a:srgbClr val="334155"/>
                </a:solidFill>
              </a:rPr>
              <a:t>Worldwide admin center for GCC; the national cloud's for GCC High or DoD. A certificate, never a secret</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338328"/>
          </a:xfrm>
          <a:prstGeom prst="rect">
            <a:avLst/>
          </a:prstGeom>
          <a:noFill/>
          <a:ln/>
        </p:spPr>
        <p:txBody>
          <a:bodyPr wrap="square" lIns="0" tIns="0" rIns="0" bIns="0" rtlCol="0" anchor="t"/>
          <a:lstStyle/>
          <a:p>
            <a:pPr indent="0" marL="0">
              <a:buNone/>
            </a:pPr>
            <a:r>
              <a:rPr lang="en-US" sz="1500" b="1" dirty="0">
                <a:solidFill>
                  <a:srgbClr val="1F2A44"/>
                </a:solidFill>
              </a:rPr>
              <a:t>Grant one permission: </a:t>
            </a:r>
            <a:pPr indent="0" marL="0">
              <a:buNone/>
            </a:pPr>
            <a:r>
              <a:rPr lang="en-US" sz="1500" dirty="0">
                <a:solidFill>
                  <a:srgbClr val="334155"/>
                </a:solidFill>
              </a:rPr>
              <a:t>Policy.Read.All, the one ca-export declares, with admin consent; nothing else</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2494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2494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2311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Run the task: </a:t>
            </a:r>
            <a:pPr indent="0" marL="0">
              <a:buNone/>
            </a:pPr>
            <a:r>
              <a:rPr lang="en-US" sz="1500" dirty="0">
                <a:solidFill>
                  <a:srgbClr val="334155"/>
                </a:solidFill>
              </a:rPr>
              <a:t>python python/entra_tasks.py --cloud gcc … ca-export --out ca: no warning, one JSON file per policy, a summary</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28163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28163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7980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See the token check work: </a:t>
            </a:r>
            <a:pPr indent="0" marL="0">
              <a:buNone/>
            </a:pPr>
            <a:r>
              <a:rPr lang="en-US" sz="1500" dirty="0">
                <a:solidFill>
                  <a:srgbClr val="334155"/>
                </a:solidFill>
              </a:rPr>
              <a:t>Add Application.Read.All: a warning. Run app-credentials without it: it stops before any Graph call</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3832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3832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3649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See the wrong cloud fail closed: </a:t>
            </a:r>
            <a:pPr indent="0" marL="0">
              <a:buNone/>
            </a:pPr>
            <a:r>
              <a:rPr lang="en-US" sz="1500" dirty="0">
                <a:solidFill>
                  <a:srgbClr val="334155"/>
                </a:solidFill>
              </a:rPr>
              <a:t>--cloud gcchigh signs in at login.microsoftonline.us, which doesn't hold a GCC tenant; nothing reaches Graph</a:t>
            </a:r>
            <a:endParaRPr lang="en-US" sz="1500" dirty="0"/>
          </a:p>
        </p:txBody>
      </p:sp>
      <p:sp>
        <p:nvSpPr>
          <p:cNvPr id="20" name="Step 6 dot" descr="">
            <a:extLst>
              <a:ext uri="{C183D7F6-B498-43B3-948B-1728B52AA6E4}">
                <adec:decorative xmlns:adec="http://schemas.microsoft.com/office/drawing/2017/decorative" val="1"/>
              </a:ext>
            </a:extLst>
          </p:cNvPr>
          <p:cNvSpPr/>
          <p:nvPr/>
        </p:nvSpPr>
        <p:spPr>
          <a:xfrm>
            <a:off x="548640" y="39502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395020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393192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Optional PowerShell, then back it out: </a:t>
            </a:r>
            <a:pPr indent="0" marL="0">
              <a:buNone/>
            </a:pPr>
            <a:r>
              <a:rPr lang="en-US" sz="1500" dirty="0">
                <a:solidFill>
                  <a:srgbClr val="334155"/>
                </a:solidFill>
              </a:rPr>
              <a:t>Connect-FmwGraph and Invoke-FmwEntraTask; compare; remove both permissions, the app and its certificate, and delete the output</a:t>
            </a:r>
            <a:endParaRPr lang="en-US" sz="1500" dirty="0"/>
          </a:p>
        </p:txBody>
      </p:sp>
      <p:sp>
        <p:nvSpPr>
          <p:cNvPr id="23" name="Callout" descr="">
            <a:extLst>
              <a:ext uri="{C183D7F6-B498-43B3-948B-1728B52AA6E4}">
                <adec:decorative xmlns:adec="http://schemas.microsoft.com/office/drawing/2017/decorative" val="1"/>
              </a:ext>
            </a:extLst>
          </p:cNvPr>
          <p:cNvSpPr/>
          <p:nvPr/>
        </p:nvSpPr>
        <p:spPr>
          <a:xfrm>
            <a:off x="548640" y="468172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75488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900452"/>
            <a:ext cx="315407" cy="315407"/>
          </a:xfrm>
          <a:prstGeom prst="rect">
            <a:avLst/>
          </a:prstGeom>
        </p:spPr>
      </p:pic>
      <p:sp>
        <p:nvSpPr>
          <p:cNvPr id="26" name="Callout text"/>
          <p:cNvSpPr txBox="1"/>
          <p:nvPr/>
        </p:nvSpPr>
        <p:spPr>
          <a:xfrm>
            <a:off x="1600200" y="473659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with fictional data, never production. The ca folders hold the tenant's policies: delete them.</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national clouds with the Graph SDKs; Planning identity for Azure Gov; Graph national cloud deployments. Chapter 02,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85132"/>
        </p:xfrm>
        <a:graphic>
          <a:graphicData uri="http://schemas.openxmlformats.org/drawingml/2006/table">
            <a:tbl>
              <a:tblPr firstRow="1" bandRow="1"/>
              <a:tblGrid>
                <a:gridCol w="3383280"/>
                <a:gridCol w="3749040"/>
                <a:gridCol w="39776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Treating GCC as a .us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Sign-in fails, or someone hard-codes hosts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gcc resolves to worldwide; a test pins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Python credential with no authority (GCC High, DoD)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It signs in to the public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azure_identity_provider sets it for every cloud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unknown cloud name with a default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GCC High run talks to the worldwide service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Unknown names raise, in both languages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token sent to the wrong host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nextLink or a typo hands it to another host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URL, every page, checked against the Graph host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One token for Graph and Resource Manager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second call fails, or broad scopes creep in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One .default scope per resource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More permission than the task needs; a call added without 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compromised job does more; the README and app drift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graph-calls.json; preflight; the union test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Headers dropped; retries too fast or forever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Page two changes; throttling grows; the job never ends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Same headers every page; Retry-After or backoff, capped, limited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beta change; an API that answers where the feature isn't offered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nightly job fails; a "clean" empty result in GCC High</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Declared beta, try_beta; not_in_clouds, "not evaluated"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“Dangers”; Learn, Graph national cloud deployments; throttling guidance; versioning and support.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cloud and the token" descr="">
            <a:extLst>
              <a:ext uri="{C183D7F6-B498-43B3-948B-1728B52AA6E4}">
                <adec:decorative xmlns:adec="http://schemas.microsoft.com/office/drawing/2017/decorative" val="1"/>
              </a:ext>
            </a:extLst>
          </p:cNvPr>
          <p:cNvSpPr/>
          <p:nvPr/>
        </p:nvSpPr>
        <p:spPr>
          <a:xfrm>
            <a:off x="548640" y="1325880"/>
            <a:ext cx="5417820" cy="2999232"/>
          </a:xfrm>
          <a:prstGeom prst="roundRect">
            <a:avLst>
              <a:gd name="adj" fmla="val 243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cloud and the toke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CLOUD AND THE TOKEN</a:t>
            </a:r>
            <a:endParaRPr lang="en-US" sz="1100" dirty="0"/>
          </a:p>
        </p:txBody>
      </p:sp>
      <p:sp>
        <p:nvSpPr>
          <p:cNvPr id="7" name="Panel The cloud and the token list"/>
          <p:cNvSpPr txBox="1"/>
          <p:nvPr/>
        </p:nvSpPr>
        <p:spPr>
          <a:xfrm>
            <a:off x="73152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An explicit cloud name; any unknown name raises</a:t>
            </a:r>
            <a:endParaRPr lang="en-US" sz="1500" dirty="0"/>
          </a:p>
          <a:p>
            <a:pPr marL="342900" indent="-342900">
              <a:spcAft>
                <a:spcPts val="400"/>
              </a:spcAft>
              <a:buSzPct val="100000"/>
              <a:buChar char="•"/>
            </a:pPr>
            <a:r>
              <a:rPr lang="en-US" sz="1500" dirty="0">
                <a:solidFill>
                  <a:srgbClr val="334155"/>
                </a:solidFill>
              </a:rPr>
              <a:t>GCC: login.microsoftonline.com, graph.microsoft.com, management.azure.com; no .us host</a:t>
            </a:r>
            <a:endParaRPr lang="en-US" sz="1500" dirty="0"/>
          </a:p>
          <a:p>
            <a:pPr marL="342900" indent="-342900">
              <a:spcAft>
                <a:spcPts val="400"/>
              </a:spcAft>
              <a:buSzPct val="100000"/>
              <a:buChar char="•"/>
            </a:pPr>
            <a:r>
              <a:rPr lang="en-US" sz="1500" dirty="0">
                <a:solidFill>
                  <a:srgbClr val="334155"/>
                </a:solidFill>
              </a:rPr>
              <a:t>Every credential names the cloud's authority (or is a managed identity); every scope names the cloud's host</a:t>
            </a:r>
            <a:endParaRPr lang="en-US" sz="1500" dirty="0"/>
          </a:p>
          <a:p>
            <a:pPr marL="342900" indent="-342900">
              <a:spcAft>
                <a:spcPts val="400"/>
              </a:spcAft>
              <a:buSzPct val="100000"/>
              <a:buChar char="•"/>
            </a:pPr>
            <a:r>
              <a:rPr lang="en-US" sz="1500" dirty="0">
                <a:solidFill>
                  <a:srgbClr val="334155"/>
                </a:solidFill>
              </a:rPr>
              <a:t>One token per resource</a:t>
            </a:r>
            <a:endParaRPr lang="en-US" sz="1500" dirty="0"/>
          </a:p>
          <a:p>
            <a:pPr marL="342900" indent="-342900">
              <a:spcAft>
                <a:spcPts val="400"/>
              </a:spcAft>
              <a:buSzPct val="100000"/>
              <a:buChar char="•"/>
            </a:pPr>
            <a:r>
              <a:rPr lang="en-US" sz="1500" dirty="0">
                <a:solidFill>
                  <a:srgbClr val="334155"/>
                </a:solidFill>
              </a:rPr>
              <a:t>No URL, nextLink included, sent to any host but the cloud's Graph host</a:t>
            </a:r>
            <a:endParaRPr lang="en-US" sz="1500" dirty="0"/>
          </a:p>
        </p:txBody>
      </p:sp>
      <p:sp>
        <p:nvSpPr>
          <p:cNvPr id="8" name="Panel The calls and the run" descr="">
            <a:extLst>
              <a:ext uri="{C183D7F6-B498-43B3-948B-1728B52AA6E4}">
                <adec:decorative xmlns:adec="http://schemas.microsoft.com/office/drawing/2017/decorative" val="1"/>
              </a:ext>
            </a:extLst>
          </p:cNvPr>
          <p:cNvSpPr/>
          <p:nvPr/>
        </p:nvSpPr>
        <p:spPr>
          <a:xfrm>
            <a:off x="6240780" y="1325880"/>
            <a:ext cx="5417820" cy="2999232"/>
          </a:xfrm>
          <a:prstGeom prst="roundRect">
            <a:avLst>
              <a:gd name="adj" fmla="val 243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calls and the ru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CALLS AND THE RUN</a:t>
            </a:r>
            <a:endParaRPr lang="en-US" sz="1100" dirty="0"/>
          </a:p>
        </p:txBody>
      </p:sp>
      <p:sp>
        <p:nvSpPr>
          <p:cNvPr id="10" name="Panel The calls and the run list"/>
          <p:cNvSpPr txBox="1"/>
          <p:nvPr/>
        </p:nvSpPr>
        <p:spPr>
          <a:xfrm>
            <a:off x="642366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call in graph-calls.json with its least-privileged permission; a task's list is the union</a:t>
            </a:r>
            <a:endParaRPr lang="en-US" sz="1500" dirty="0"/>
          </a:p>
          <a:p>
            <a:pPr marL="342900" indent="-342900">
              <a:spcAft>
                <a:spcPts val="400"/>
              </a:spcAft>
              <a:buSzPct val="100000"/>
              <a:buChar char="•"/>
            </a:pPr>
            <a:r>
              <a:rPr lang="en-US" sz="1500" dirty="0">
                <a:solidFill>
                  <a:srgbClr val="334155"/>
                </a:solidFill>
              </a:rPr>
              <a:t>The app holds exactly those, with a certificate or managed identity, never a secret</a:t>
            </a:r>
            <a:endParaRPr lang="en-US" sz="1500" dirty="0"/>
          </a:p>
          <a:p>
            <a:pPr marL="342900" indent="-342900">
              <a:spcAft>
                <a:spcPts val="400"/>
              </a:spcAft>
              <a:buSzPct val="100000"/>
              <a:buChar char="•"/>
            </a:pPr>
            <a:r>
              <a:rPr lang="en-US" sz="1500" dirty="0">
                <a:solidFill>
                  <a:srgbClr val="334155"/>
                </a:solidFill>
              </a:rPr>
              <a:t>Same headers every page; retry with the last good link</a:t>
            </a:r>
            <a:endParaRPr lang="en-US" sz="1500" dirty="0"/>
          </a:p>
          <a:p>
            <a:pPr marL="342900" indent="-342900">
              <a:spcAft>
                <a:spcPts val="400"/>
              </a:spcAft>
              <a:buSzPct val="100000"/>
              <a:buChar char="•"/>
            </a:pPr>
            <a:r>
              <a:rPr lang="en-US" sz="1500" dirty="0">
                <a:solidFill>
                  <a:srgbClr val="334155"/>
                </a:solidFill>
              </a:rPr>
              <a:t>Retry-After, backoff when missing, and a limit</a:t>
            </a:r>
            <a:endParaRPr lang="en-US" sz="1500" dirty="0"/>
          </a:p>
          <a:p>
            <a:pPr marL="342900" indent="-342900">
              <a:spcAft>
                <a:spcPts val="400"/>
              </a:spcAft>
              <a:buSzPct val="100000"/>
              <a:buChar char="•"/>
            </a:pPr>
            <a:r>
              <a:rPr lang="en-US" sz="1500" dirty="0">
                <a:solidFill>
                  <a:srgbClr val="334155"/>
                </a:solidFill>
              </a:rPr>
              <a:t>Every beta call declared, read through try_beta, labeled; the pinned snippets match their manifest</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507992"/>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81144"/>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26716"/>
            <a:ext cx="315407" cy="315407"/>
          </a:xfrm>
          <a:prstGeom prst="rect">
            <a:avLst/>
          </a:prstGeom>
        </p:spPr>
      </p:pic>
      <p:sp>
        <p:nvSpPr>
          <p:cNvPr id="14" name="Callout text"/>
          <p:cNvSpPr txBox="1"/>
          <p:nvPr/>
        </p:nvSpPr>
        <p:spPr>
          <a:xfrm>
            <a:off x="1600200" y="4562856"/>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03 writes a validation kit check, VK-SYNC-02, on these rules: GET only and least privilege, even for a read.</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“Checklist”; workbook index, Chapter 03; Learn, Microsoft Graph national cloud deployments.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c02-deployments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c02-pairing  </a:t>
            </a:r>
            <a:pPr indent="0" marL="0">
              <a:spcAft>
                <a:spcPts val="300"/>
              </a:spcAft>
              <a:buNone/>
            </a:pPr>
            <a:r>
              <a:rPr lang="en-US" sz="1050" dirty="0">
                <a:solidFill>
                  <a:srgbClr val="334155"/>
                </a:solidFill>
              </a:rPr>
              <a:t>Microsoft Learn, "Cloud feature availability for US Government customers," Microsoft 365 integration, https://learn.microsoft.com/azure/security/fundamentals/feature-availability (accessed Oct 30, 2026).</a:t>
            </a:r>
            <a:endParaRPr lang="en-US" sz="1050" dirty="0"/>
          </a:p>
          <a:p>
            <a:pPr indent="0" marL="0">
              <a:spcAft>
                <a:spcPts val="300"/>
              </a:spcAft>
              <a:buNone/>
            </a:pPr>
            <a:r>
              <a:rPr lang="en-US" sz="1050" b="1" dirty="0">
                <a:solidFill>
                  <a:srgbClr val="1F2A44"/>
                </a:solidFill>
              </a:rPr>
              <a:t>c02-identity-plan  </a:t>
            </a:r>
            <a:pPr indent="0" marL="0">
              <a:spcAft>
                <a:spcPts val="300"/>
              </a:spcAft>
              <a:buNone/>
            </a:pPr>
            <a:r>
              <a:rPr lang="en-US" sz="1050" dirty="0">
                <a:solidFill>
                  <a:srgbClr val="334155"/>
                </a:solidFill>
              </a:rPr>
              <a:t>Microsoft Learn, "Planning identity for Azure Government applications," frequently asked questions, https://learn.microsoft.com/azure/azure-government/documentation-government-plan-identity (accessed Oct 30, 2026).</a:t>
            </a:r>
            <a:endParaRPr lang="en-US" sz="1050" dirty="0"/>
          </a:p>
          <a:p>
            <a:pPr indent="0" marL="0">
              <a:spcAft>
                <a:spcPts val="300"/>
              </a:spcAft>
              <a:buNone/>
            </a:pPr>
            <a:r>
              <a:rPr lang="en-US" sz="1050" b="1" dirty="0">
                <a:solidFill>
                  <a:srgbClr val="1F2A44"/>
                </a:solidFill>
              </a:rPr>
              <a:t>c02-compare  </a:t>
            </a:r>
            <a:pPr indent="0" marL="0">
              <a:spcAft>
                <a:spcPts val="300"/>
              </a:spcAft>
              <a:buNone/>
            </a:pPr>
            <a:r>
              <a:rPr lang="en-US" sz="1050" dirty="0">
                <a:solidFill>
                  <a:srgbClr val="334155"/>
                </a:solidFill>
              </a:rPr>
              <a:t>Microsoft Learn, "Compare Azure Government and global Azure," guidance for developers, https://learn.microsoft.com/azure/azure-government/compare-azure-government-global-azure (accessed Oct 30, 2026).</a:t>
            </a:r>
            <a:endParaRPr lang="en-US" sz="1050" dirty="0"/>
          </a:p>
          <a:p>
            <a:pPr indent="0" marL="0">
              <a:spcAft>
                <a:spcPts val="300"/>
              </a:spcAft>
              <a:buNone/>
            </a:pPr>
            <a:r>
              <a:rPr lang="en-US" sz="1050" b="1" dirty="0">
                <a:solidFill>
                  <a:srgbClr val="1F2A44"/>
                </a:solidFill>
              </a:rPr>
              <a:t>c02-controlplane  </a:t>
            </a:r>
            <a:pPr indent="0" marL="0">
              <a:spcAft>
                <a:spcPts val="300"/>
              </a:spcAft>
              <a:buNone/>
            </a:pPr>
            <a:r>
              <a:rPr lang="en-US" sz="1050" dirty="0">
                <a:solidFill>
                  <a:srgbClr val="334155"/>
                </a:solidFill>
              </a:rPr>
              <a:t>Microsoft Learn, "Azure control plane and data plane," https://learn.microsoft.com/azure/azure-resource-manager/management/control-plane-and-data-plane (accessed Oct 30, 2026).</a:t>
            </a:r>
            <a:endParaRPr lang="en-US" sz="1050" dirty="0"/>
          </a:p>
          <a:p>
            <a:pPr indent="0" marL="0">
              <a:spcAft>
                <a:spcPts val="300"/>
              </a:spcAft>
              <a:buNone/>
            </a:pPr>
            <a:r>
              <a:rPr lang="en-US" sz="1050" b="1" dirty="0">
                <a:solidFill>
                  <a:srgbClr val="1F2A44"/>
                </a:solidFill>
              </a:rPr>
              <a:t>c02-mgenv  </a:t>
            </a:r>
            <a:pPr indent="0" marL="0">
              <a:spcAft>
                <a:spcPts val="300"/>
              </a:spcAft>
              <a:buNone/>
            </a:pPr>
            <a:r>
              <a:rPr lang="en-US" sz="1050" dirty="0">
                <a:solidFill>
                  <a:srgbClr val="334155"/>
                </a:solidFill>
              </a:rPr>
              <a:t>Microsoft Learn, "Get-MgEnvironment," https://learn.microsoft.com/powershell/module/microsoft.graph.authentication/get-mgenvironment?view=graph-powershell-1.0, and "Authentication module cmdlets in Microsoft Graph PowerShell," https://learn.microsoft.com/powershell/microsoftgraph/authentication-commands?view=graph-powershell-1.0 (accessed Oct 30, 2026).</a:t>
            </a:r>
            <a:endParaRPr lang="en-US" sz="1050" dirty="0"/>
          </a:p>
          <a:p>
            <a:pPr indent="0" marL="0">
              <a:spcAft>
                <a:spcPts val="300"/>
              </a:spcAft>
              <a:buNone/>
            </a:pPr>
            <a:r>
              <a:rPr lang="en-US" sz="1050" b="1" dirty="0">
                <a:solidFill>
                  <a:srgbClr val="1F2A44"/>
                </a:solidFill>
              </a:rPr>
              <a:t>c02-azps  </a:t>
            </a:r>
            <a:pPr indent="0" marL="0">
              <a:spcAft>
                <a:spcPts val="300"/>
              </a:spcAft>
              <a:buNone/>
            </a:pPr>
            <a:r>
              <a:rPr lang="en-US" sz="1050" dirty="0">
                <a:solidFill>
                  <a:srgbClr val="334155"/>
                </a:solidFill>
              </a:rPr>
              <a:t>Microsoft Learn, "Quickstart: Connect to Azure Government with PowerShell," https://learn.microsoft.com/azure/azure-government/documentation-government-get-started-connect-with-ps, and "Manage Azure Redis with Azure PowerShell," how to connect to other clouds (AzureCloud is the default), https://learn.microsoft.com/azure/azure-cache-for-redis/how-to-manage-redis-cache-powershell (accessed Oct 30, 2026).</a:t>
            </a:r>
            <a:endParaRPr lang="en-US" sz="1050" dirty="0"/>
          </a:p>
          <a:p>
            <a:pPr indent="0" marL="0">
              <a:spcAft>
                <a:spcPts val="300"/>
              </a:spcAft>
              <a:buNone/>
            </a:pPr>
            <a:r>
              <a:rPr lang="en-US" sz="1050" b="1" dirty="0">
                <a:solidFill>
                  <a:srgbClr val="1F2A44"/>
                </a:solidFill>
              </a:rPr>
              <a:t>c02-clientcreds  </a:t>
            </a:r>
            <a:pPr indent="0" marL="0">
              <a:spcAft>
                <a:spcPts val="300"/>
              </a:spcAft>
              <a:buNone/>
            </a:pPr>
            <a:r>
              <a:rPr lang="en-US" sz="1050" dirty="0">
                <a:solidFill>
                  <a:srgbClr val="334155"/>
                </a:solidFill>
              </a:rPr>
              <a:t>Microsoft Learn, "Microsoft identity platform and the OAuth 2.0 client credentials flow," get a token, https://learn.microsoft.com/entra/identity-platform/v2-oauth2-client-creds-grant-flow (accessed Oct 30, 2026).</a:t>
            </a:r>
            <a:endParaRPr lang="en-US" sz="1050" dirty="0"/>
          </a:p>
          <a:p>
            <a:pPr indent="0" marL="0">
              <a:spcAft>
                <a:spcPts val="300"/>
              </a:spcAft>
              <a:buNone/>
            </a:pPr>
            <a:r>
              <a:rPr lang="en-US" sz="1050" b="1" dirty="0">
                <a:solidFill>
                  <a:srgbClr val="1F2A44"/>
                </a:solidFill>
              </a:rPr>
              <a:t>c02-sdk-clouds  </a:t>
            </a:r>
            <a:pPr indent="0" marL="0">
              <a:spcAft>
                <a:spcPts val="300"/>
              </a:spcAft>
              <a:buNone/>
            </a:pPr>
            <a:r>
              <a:rPr lang="en-US" sz="1050" dirty="0">
                <a:solidFill>
                  <a:srgbClr val="334155"/>
                </a:solidFill>
              </a:rPr>
              <a:t>Microsoft Learn, "Access national cloud deployments with the Microsoft Graph SDKs," https://learn.microsoft.com/graph/sdks/national-clouds (accessed Oct 30, 2026).</a:t>
            </a:r>
            <a:endParaRPr lang="en-US" sz="1050" dirty="0"/>
          </a:p>
          <a:p>
            <a:pPr indent="0" marL="0">
              <a:spcAft>
                <a:spcPts val="300"/>
              </a:spcAft>
              <a:buNone/>
            </a:pPr>
            <a:r>
              <a:rPr lang="en-US" sz="1050" b="1" dirty="0">
                <a:solidFill>
                  <a:srgbClr val="1F2A44"/>
                </a:solidFill>
              </a:rPr>
              <a:t>c02-snippets-code  </a:t>
            </a:r>
            <a:pPr indent="0" marL="0">
              <a:spcAft>
                <a:spcPts val="300"/>
              </a:spcAft>
              <a:buNone/>
            </a:pPr>
            <a:r>
              <a:rPr lang="en-US" sz="1050" dirty="0">
                <a:solidFill>
                  <a:srgbClr val="334155"/>
                </a:solidFill>
              </a:rPr>
              <a:t>Microsoft, microsoftgraph/msgraph-snippets-python, src/snippets/national_clouds.py and src/snippets/create_clients.py at commit 3ef43818c946ef595e8d90fa6ec63edec1fb3628 (October 20, 2026), MIT License, https://github.com/microsoftgraph/msgraph-snippets-python/tree/3ef43818c946ef595e8d90fa6ec63edec1fb3628/src/snippets (accessed Oct 30, 2026); rendered on Learn's national cloud page and on "Choose a Microsoft Graph authentication provider," https://learn.microsoft.com/graph/sdks/choose-authentication-providers; pinned copy in examples/third_party/msgraph-snippets-python.</a:t>
            </a:r>
            <a:endParaRPr lang="en-US" sz="1050" dirty="0"/>
          </a:p>
          <a:p>
            <a:pPr indent="0" marL="0">
              <a:spcAft>
                <a:spcPts val="300"/>
              </a:spcAft>
              <a:buNone/>
            </a:pPr>
            <a:r>
              <a:rPr lang="en-US" sz="1050" b="1" dirty="0">
                <a:solidFill>
                  <a:srgbClr val="1F2A44"/>
                </a:solidFill>
              </a:rPr>
              <a:t>c02-authority  </a:t>
            </a:r>
            <a:pPr indent="0" marL="0">
              <a:spcAft>
                <a:spcPts val="300"/>
              </a:spcAft>
              <a:buNone/>
            </a:pPr>
            <a:r>
              <a:rPr lang="en-US" sz="1050" dirty="0">
                <a:solidFill>
                  <a:srgbClr val="334155"/>
                </a:solidFill>
              </a:rPr>
              <a:t>Microsoft Learn, "InteractiveBrowserCredential Class" (azure-identity for Python), keyword-only parameter authority, https://learn.microsoft.com/python/api/azure-identity/azure.identity.interactivebrowsercredential?view=azure-python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c02-authority-mi  </a:t>
            </a:r>
            <a:pPr indent="0" marL="0">
              <a:spcAft>
                <a:spcPts val="300"/>
              </a:spcAft>
              <a:buNone/>
            </a:pPr>
            <a:r>
              <a:rPr lang="en-US" sz="1050" dirty="0">
                <a:solidFill>
                  <a:srgbClr val="334155"/>
                </a:solidFill>
              </a:rPr>
              <a:t>Microsoft Learn, "DefaultAzureCredential Class" (azure-identity for Python), keyword-only parameter authority, https://learn.microsoft.com/python/api/azure-identity/azure.identity.defaultazurecredential?view=azure-python (accessed Oct 30, 2026).</a:t>
            </a:r>
            <a:endParaRPr lang="en-US" sz="1050" dirty="0"/>
          </a:p>
          <a:p>
            <a:pPr indent="0" marL="0">
              <a:spcAft>
                <a:spcPts val="300"/>
              </a:spcAft>
              <a:buNone/>
            </a:pPr>
            <a:r>
              <a:rPr lang="en-US" sz="1050" b="1" dirty="0">
                <a:solidFill>
                  <a:srgbClr val="1F2A44"/>
                </a:solidFill>
              </a:rPr>
              <a:t>c02-claims  </a:t>
            </a:r>
            <a:pPr indent="0" marL="0">
              <a:spcAft>
                <a:spcPts val="300"/>
              </a:spcAft>
              <a:buNone/>
            </a:pPr>
            <a:r>
              <a:rPr lang="en-US" sz="1050" dirty="0">
                <a:solidFill>
                  <a:srgbClr val="334155"/>
                </a:solidFill>
              </a:rPr>
              <a:t>Microsoft Learn, "Access token claims reference," payload claims, https://learn.microsoft.com/entra/identity-platform/access-token-claims-reference (accessed Oct 30, 2026).</a:t>
            </a:r>
            <a:endParaRPr lang="en-US" sz="1050" dirty="0"/>
          </a:p>
          <a:p>
            <a:pPr indent="0" marL="0">
              <a:spcAft>
                <a:spcPts val="300"/>
              </a:spcAft>
              <a:buNone/>
            </a:pPr>
            <a:r>
              <a:rPr lang="en-US" sz="1050" b="1" dirty="0">
                <a:solidFill>
                  <a:srgbClr val="1F2A44"/>
                </a:solidFill>
              </a:rPr>
              <a:t>c02-ps-apponly  </a:t>
            </a:r>
            <a:pPr indent="0" marL="0">
              <a:spcAft>
                <a:spcPts val="300"/>
              </a:spcAft>
              <a:buNone/>
            </a:pPr>
            <a:r>
              <a:rPr lang="en-US" sz="1050" dirty="0">
                <a:solidFill>
                  <a:srgbClr val="334155"/>
                </a:solidFill>
              </a:rPr>
              <a:t>Microsoft Learn, "Use app-only authentication with the Microsoft Graph PowerShell SDK," step 2, https://learn.microsoft.com/powershell/microsoftgraph/app-only (accessed Oct 30, 2026): an app registered with two application permissions (Type="Role") shows Scopes : {Group.Read.All, User.Read.All} and AuthType : AppOnly.</a:t>
            </a:r>
            <a:endParaRPr lang="en-US" sz="1050" dirty="0"/>
          </a:p>
          <a:p>
            <a:pPr indent="0" marL="0">
              <a:spcAft>
                <a:spcPts val="300"/>
              </a:spcAft>
              <a:buNone/>
            </a:pPr>
            <a:r>
              <a:rPr lang="en-US" sz="1050" b="1" dirty="0">
                <a:solidFill>
                  <a:srgbClr val="1F2A44"/>
                </a:solidFill>
              </a:rPr>
              <a:t>c02-ps-jwt  </a:t>
            </a:r>
            <a:pPr indent="0" marL="0">
              <a:spcAft>
                <a:spcPts val="300"/>
              </a:spcAft>
              <a:buNone/>
            </a:pPr>
            <a:r>
              <a:rPr lang="en-US" sz="1050" dirty="0">
                <a:solidFill>
                  <a:srgbClr val="334155"/>
                </a:solidFill>
              </a:rPr>
              <a:t>Microsoft, microsoftgraph/msgraph-sdk-powershell, src/Authentication/Authentication.Core/Utilities/JwtHelpers.cs (authContext.Scopes = jwtPayload?.Scp?.Split(' ') ?? jwtPayload?.Roles), last changed in commit 0fceedbba17c1dec4d9bb292910a5f286cd7454e (October 30, 2023), read with gh api (accessed Oct 30, 2026). Not a Learn page: it explains the Learn output above for every sign-in type, managed identity included.</a:t>
            </a:r>
            <a:endParaRPr lang="en-US" sz="1050" dirty="0"/>
          </a:p>
          <a:p>
            <a:pPr indent="0" marL="0">
              <a:spcAft>
                <a:spcPts val="300"/>
              </a:spcAft>
              <a:buNone/>
            </a:pPr>
            <a:r>
              <a:rPr lang="en-US" sz="1050" b="1" dirty="0">
                <a:solidFill>
                  <a:srgbClr val="1F2A44"/>
                </a:solidFill>
              </a:rPr>
              <a:t>c02-leastpriv  </a:t>
            </a:r>
            <a:pPr indent="0" marL="0">
              <a:spcAft>
                <a:spcPts val="300"/>
              </a:spcAft>
              <a:buNone/>
            </a:pPr>
            <a:r>
              <a:rPr lang="en-US" sz="1050" dirty="0">
                <a:solidFill>
                  <a:srgbClr val="334155"/>
                </a:solidFill>
              </a:rPr>
              <a:t>Microsoft Learn, "Overview of Microsoft Graph permissions," best practices for using Microsoft Graph permissions, https://learn.microsoft.com/graph/permissions-overview (accessed Oct 30, 2026).</a:t>
            </a:r>
            <a:endParaRPr lang="en-US" sz="1050" dirty="0"/>
          </a:p>
          <a:p>
            <a:pPr indent="0" marL="0">
              <a:spcAft>
                <a:spcPts val="300"/>
              </a:spcAft>
              <a:buNone/>
            </a:pPr>
            <a:r>
              <a:rPr lang="en-US" sz="1050" b="1" dirty="0">
                <a:solidFill>
                  <a:srgbClr val="1F2A44"/>
                </a:solidFill>
              </a:rPr>
              <a:t>c02-overpriv  </a:t>
            </a:r>
            <a:pPr indent="0" marL="0">
              <a:spcAft>
                <a:spcPts val="300"/>
              </a:spcAft>
              <a:buNone/>
            </a:pPr>
            <a:r>
              <a:rPr lang="en-US" sz="1050" dirty="0">
                <a:solidFill>
                  <a:srgbClr val="334155"/>
                </a:solidFill>
              </a:rPr>
              <a:t>Microsoft Learn, "Enhance security with the principle of least privilege," overprivileged applications, https://learn.microsoft.com/entra/identity-platform/secure-least-privileged-access (accessed Oct 30, 2026).</a:t>
            </a:r>
            <a:endParaRPr lang="en-US" sz="1050" dirty="0"/>
          </a:p>
          <a:p>
            <a:pPr indent="0" marL="0">
              <a:spcAft>
                <a:spcPts val="300"/>
              </a:spcAft>
              <a:buNone/>
            </a:pPr>
            <a:r>
              <a:rPr lang="en-US" sz="1050" b="1" dirty="0">
                <a:solidFill>
                  <a:srgbClr val="1F2A44"/>
                </a:solidFill>
              </a:rPr>
              <a:t>c02-paging  </a:t>
            </a:r>
            <a:pPr indent="0" marL="0">
              <a:spcAft>
                <a:spcPts val="300"/>
              </a:spcAft>
              <a:buNone/>
            </a:pPr>
            <a:r>
              <a:rPr lang="en-US" sz="1050" dirty="0">
                <a:solidFill>
                  <a:srgbClr val="334155"/>
                </a:solidFill>
              </a:rPr>
              <a:t>Microsoft Learn, "Page through a collection using the Microsoft Graph SDKs," https://learn.microsoft.com/graph/sdks/paging (accessed Oct 30, 2026).</a:t>
            </a:r>
            <a:endParaRPr lang="en-US" sz="1050" dirty="0"/>
          </a:p>
          <a:p>
            <a:pPr indent="0" marL="0">
              <a:spcAft>
                <a:spcPts val="300"/>
              </a:spcAft>
              <a:buNone/>
            </a:pPr>
            <a:r>
              <a:rPr lang="en-US" sz="1050" b="1" dirty="0">
                <a:solidFill>
                  <a:srgbClr val="1F2A44"/>
                </a:solidFill>
              </a:rPr>
              <a:t>c02-throttling  </a:t>
            </a:r>
            <a:pPr indent="0" marL="0">
              <a:spcAft>
                <a:spcPts val="300"/>
              </a:spcAft>
              <a:buNone/>
            </a:pPr>
            <a:r>
              <a:rPr lang="en-US" sz="1050" dirty="0">
                <a:solidFill>
                  <a:srgbClr val="334155"/>
                </a:solidFill>
              </a:rPr>
              <a:t>Microsoft Learn, "Microsoft Graph throttling guidance," https://learn.microsoft.com/graph/throttling (accessed Oct 30, 2026).</a:t>
            </a:r>
            <a:endParaRPr lang="en-US" sz="1050" dirty="0"/>
          </a:p>
          <a:p>
            <a:pPr indent="0" marL="0">
              <a:spcAft>
                <a:spcPts val="300"/>
              </a:spcAft>
              <a:buNone/>
            </a:pPr>
            <a:r>
              <a:rPr lang="en-US" sz="1050" b="1" dirty="0">
                <a:solidFill>
                  <a:srgbClr val="1F2A44"/>
                </a:solidFill>
              </a:rPr>
              <a:t>c02-limits  </a:t>
            </a:r>
            <a:pPr indent="0" marL="0">
              <a:spcAft>
                <a:spcPts val="300"/>
              </a:spcAft>
              <a:buNone/>
            </a:pPr>
            <a:r>
              <a:rPr lang="en-US" sz="1050" dirty="0">
                <a:solidFill>
                  <a:srgbClr val="334155"/>
                </a:solidFill>
              </a:rPr>
              <a:t>Microsoft Learn, "Microsoft Graph service-specific throttling limits," identity and access service limits, https://learn.microsoft.com/graph/throttling-limits (accessed Oct 30, 2026).</a:t>
            </a:r>
            <a:endParaRPr lang="en-US" sz="1050" dirty="0"/>
          </a:p>
          <a:p>
            <a:pPr indent="0" marL="0">
              <a:spcAft>
                <a:spcPts val="300"/>
              </a:spcAft>
              <a:buNone/>
            </a:pPr>
            <a:r>
              <a:rPr lang="en-US" sz="1050" b="1" dirty="0">
                <a:solidFill>
                  <a:srgbClr val="1F2A44"/>
                </a:solidFill>
              </a:rPr>
              <a:t>c02-retryafter  </a:t>
            </a:r>
            <a:pPr indent="0" marL="0">
              <a:spcAft>
                <a:spcPts val="300"/>
              </a:spcAft>
              <a:buNone/>
            </a:pPr>
            <a:r>
              <a:rPr lang="en-US" sz="1050" dirty="0">
                <a:solidFill>
                  <a:srgbClr val="334155"/>
                </a:solidFill>
              </a:rPr>
              <a:t>Microsoft Learn, "The Retry-After header: how long to wait before you retry," https://learn.microsoft.com/microsoft-cloud/dev/dev-proxy/concepts/retry-after-header (accessed Oct 30, 2026).</a:t>
            </a:r>
            <a:endParaRPr lang="en-US" sz="1050" dirty="0"/>
          </a:p>
          <a:p>
            <a:pPr indent="0" marL="0">
              <a:spcAft>
                <a:spcPts val="300"/>
              </a:spcAft>
              <a:buNone/>
            </a:pPr>
            <a:r>
              <a:rPr lang="en-US" sz="1050" b="1" dirty="0">
                <a:solidFill>
                  <a:srgbClr val="1F2A44"/>
                </a:solidFill>
              </a:rPr>
              <a:t>c02-batching  </a:t>
            </a:r>
            <a:pPr indent="0" marL="0">
              <a:spcAft>
                <a:spcPts val="300"/>
              </a:spcAft>
              <a:buNone/>
            </a:pPr>
            <a:r>
              <a:rPr lang="en-US" sz="1050" dirty="0">
                <a:solidFill>
                  <a:srgbClr val="334155"/>
                </a:solidFill>
              </a:rPr>
              <a:t>Microsoft Learn, "Combine multiple HTTP requests using JSON batching," batch size limitations, https://learn.microsoft.com/graph/json-batching (accessed Oct 30, 2026).</a:t>
            </a:r>
            <a:endParaRPr lang="en-US" sz="1050" dirty="0"/>
          </a:p>
          <a:p>
            <a:pPr indent="0" marL="0">
              <a:spcAft>
                <a:spcPts val="300"/>
              </a:spcAft>
              <a:buNone/>
            </a:pPr>
            <a:r>
              <a:rPr lang="en-US" sz="1050" b="1" dirty="0">
                <a:solidFill>
                  <a:srgbClr val="1F2A44"/>
                </a:solidFill>
              </a:rPr>
              <a:t>c02-versioning  </a:t>
            </a:r>
            <a:pPr indent="0" marL="0">
              <a:spcAft>
                <a:spcPts val="300"/>
              </a:spcAft>
              <a:buNone/>
            </a:pPr>
            <a:r>
              <a:rPr lang="en-US" sz="1050" dirty="0">
                <a:solidFill>
                  <a:srgbClr val="334155"/>
                </a:solidFill>
              </a:rPr>
              <a:t>Microsoft Learn, "Versioning, support, and breaking change policies for Microsoft Graph," https://learn.microsoft.com/graph/versioning-and-support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c02-autopilot-api  </a:t>
            </a:r>
            <a:pPr indent="0" marL="0">
              <a:spcAft>
                <a:spcPts val="300"/>
              </a:spcAft>
              <a:buNone/>
            </a:pPr>
            <a:r>
              <a:rPr lang="en-US" sz="1050" dirty="0">
                <a:solidFill>
                  <a:srgbClr val="334155"/>
                </a:solidFill>
              </a:rPr>
              <a:t>Microsoft Learn, "List windowsAutopilotDeviceIdentities," https://learn.microsoft.com/graph/api/intune-enrollment-windowsautopilotdeviceidentity-list?view=graph-rest-1.0 (accessed Oct 30, 2026).</a:t>
            </a:r>
            <a:endParaRPr lang="en-US" sz="1050" dirty="0"/>
          </a:p>
          <a:p>
            <a:pPr indent="0" marL="0">
              <a:spcAft>
                <a:spcPts val="300"/>
              </a:spcAft>
              <a:buNone/>
            </a:pPr>
            <a:r>
              <a:rPr lang="en-US" sz="1050" b="1" dirty="0">
                <a:solidFill>
                  <a:srgbClr val="1F2A44"/>
                </a:solidFill>
              </a:rPr>
              <a:t>c02-intune-gov  </a:t>
            </a:r>
            <a:pPr indent="0" marL="0">
              <a:spcAft>
                <a:spcPts val="300"/>
              </a:spcAft>
              <a:buNone/>
            </a:pPr>
            <a:r>
              <a:rPr lang="en-US" sz="1050" dirty="0">
                <a:solidFill>
                  <a:srgbClr val="334155"/>
                </a:solidFill>
              </a:rPr>
              <a:t>Microsoft Learn, "Microsoft Intune for US Government GCC High and DoD service description," Intune features not available in GCC High and DoD, https://learn.microsoft.com/intune/fundamentals/government-service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02 — Graph Clients for the Government Clouds</dc:title>
  <dc:subject>PptxGenJS Presentation</dc:subject>
  <dc:creator>Michael F. Stratton</dc:creator>
  <cp:lastModifiedBy>Michael F. Stratton</cp:lastModifiedBy>
  <cp:revision>1</cp:revision>
  <dcterms:created xsi:type="dcterms:W3CDTF">2026-10-31T14:33:30Z</dcterms:created>
  <dcterms:modified xsi:type="dcterms:W3CDTF">2026-10-31T14:33:30Z</dcterms:modified>
</cp:coreProperties>
</file>