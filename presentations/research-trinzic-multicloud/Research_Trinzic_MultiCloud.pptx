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plainer" id="{3b31fafc-981e-76d5-0444-dd68762df5ee}">
          <p14:sldIdLst>
            <p14:sldId id="256"/>
            <p14:sldId id="257"/>
            <p14:sldId id="258"/>
            <p14:sldId id="259"/>
            <p14:sldId id="260"/>
            <p14:sldId id="261"/>
            <p14:sldId id="262"/>
            <p14:sldId id="263"/>
            <p14:sldId id="264"/>
            <p14:sldId id="265"/>
          </p14:sldIdLst>
        </p14:section>
        <p14:section name="Backup" id="{888f7c3c-bfed-3918-8651-ac14b5be90d5}">
          <p14:sldIdLst>
            <p14:sldId id="266"/>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[0:00–1:03]  This explainer answers a question architects hit as soon as workloads move to the cloud. If we already run Infoblox Trinzic appliances on premises, can they handle DNS, DHCP and IP address management for AWS, Azure and Google Cloud by themselves? Or do we need to add some form of cloud-based DDI?
It's built for someone still learning DDI, so every term is explained the first time it appears. We start with the vocabulary, then what Trinzic does well and where it stops at the cloud edge. Then three options: Infoblox virtual appliances in each cloud, Infoblox's cloud service, and native cloud DNS alongside the Grid. Then the rules that keep answers consistent, a decision table, and where this fits the workbook.
This is research under review. Every fact comes from vendor or government documentation opened on October twenty-second, 2026, and recommendations are labeled as design guidance, not endorsements.
Sources: Infoblox NIOS 9.1.x, vNIOS and Universal DDI documentation; AWS, Microsoft Learn and Google Cloud documentation; FedRAMP Marketplace products.json; Book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[1:03–3:03]  First, the words you need.
DDI stands for DNS, DHCP and IPAM. DNS turns names into addresses. DHCP hands addresses to devices when they join a network. And IPAM, IP address management, is the record of which address ranges exist and who owns them. An authoritative server holds the official answer for a zone, a block of names such as corp dot agency dot gov. A resolver is the server your computer asks; it finds the answer.
A Grid is two or more Infoblox appliances that share one database and are managed from one place. That place is the Grid Master, which holds the master copy, serves the console, and is the only appliance that can sign zones with DNSSEC. Every other appliance is a member. Trinzic is Infoblox's physical appliance line; the current one is X6. vNIOS is the same software as a virtual machine, including in AWS, Azure and Google Cloud, and it can join the Grid. NIOS-X is a newer kind of server, managed from Infoblox's cloud service, Universal DDI, whose web console is the Infoblox Portal.
The cloud words. In AWS, the resolver built into every virtual private cloud, or VPC, is now called Route 53 VPC Resolver. Its endpoints are addresses that let queries come in from outside, or go out by rules. A private hosted zone in AWS, or a private zone in Azure or Google, is a zone that only linked cloud networks can see. VPC IPAM is AWS's address planner. And Azure DNS Private Resolver is Azure's version of those endpoints.
Last, split-brain: two systems each believe they own a name and give different answers depending on who asks. Avoiding it is the point of this deck.
Sources: Research glossary: Infoblox NIOS 9.1.x About Grids and Grid Master Candidate; vNIOS for AWS, Azure and Google Cloud; Universal DDI What's New (renames); AWS What is Route 53 VPC Resolver, private hosted zones, What is IPAM; Microsoft Learn Azure DNS Private Resolver; Google Cloud DNS best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[3:03–4:34]  On premises, a Trinzic Grid is the agency's DNS and DHCP servers plus its address record, all managed from the Grid Master. Changes made there replicate to every member over encrypted tunnels.
It does several things well. DNS views let one Grid give internal clients one answer and outside clients another, on purpose. Response policy zones, which Infoblox calls DNS Firewall, block or redirect bad names, up to thirty-two of them, with hits logged to syslog. DNSSEC signing is centralized: only the Grid Master can be primary for a signed zone, and keys live on the Grid Master or on an external hardware security module, a Thales Luna or Entrust nShield, but not both. One caution: the default algorithm is RSA with SHA-1, which a federal deployment should change. DHCP runs as failover pairs. And the Grid can manage existing Windows DNS and DHCP servers without agents.
Why does that matter? Book 08 of the workbook argues for one DDI policy plane: a single system of record for zones, forwarding rules, address data and security policy, with cloud DNS managed as an overlay, not replaced. On premises, the Grid fits that role. The question is the cloud edge. And note that on-premises appliances aren't a FedRAMP cloud service; they sit inside the agency's own boundary.
Sources: Infoblox NIOS 9.1.x: About Grids, Configuring DNS Views, About Infoblox DNS Firewall, Configuring DNSSEC on a Grid, Setting DNSSEC Parameters, DHCP Failover, About Managing Microsoft Windows Servers; Book 08, Chapter 08, What a DDI policy plane is made of; FedRAMP Marketplace products.json (FR2017257053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[4:34–6:08]  It can see. vDiscovery logs in to AWS, Azure, Google Cloud or VMware on a schedule and pulls back networks and virtual machines. AWS jobs have a GovCloud option, and Azure jobs cover Azure Government. Discovered subnets become managed networks, and the Grid can create records for discovered machines in zones it already has. It's a scheduled pull, not a live feed.
It can also import cloud zones. With a Cloud Network Automation license, NIOS copies Route 53, Azure DNS and Google Cloud DNS zones into the Grid, so on-premises clients can resolve cloud names. The import is one way. For Route 53, Infoblox says the sync runs into NIOS, not vice versa, and NIOS edits to those records are overwritten.
Now what it can't control. It can't create or own a cloud private zone. No NIOS document describes managing Route 53 VPC Resolver endpoints or rules, or Azure's forwarding rulesets. It can't be the outside authority for AWS VPC IPAM; that's a Universal DDI feature. And it can't run DHCP for cloud subnets. AWS hands out addresses from its own DHCP servers. Google limits vNIOS DHCP to on-premises networks, and Azure doesn't support running DHCP in Azure for on-premises networks.
So, as an inference: in the cloud, Infoblox's job is DNS and IPAM, and the cloud's resolver still answers cloud private zones.
Sources: Infoblox NIOS 9.1.x Selecting the Endpoint Server, vDiscovery AWS, Guidelines for vDiscovery Jobs, Creating DNS Records for Discovered VMs, Cloud Network Automation; Amazon Route 53 Integration Overview; Integrating Azure DNS and Google Cloud DNS with NIOS and their limitations pages; AWS DHCP option sets; Limitations of vNIOS for Google Cloud; About vNIOS for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[6:08–7:44]  Option A puts vNIOS members inside each cloud, as Grid members and high-availability pairs. Infoblox's AWS reference design puts the pair in a shared-services hub VPC that syncs with the on-premises Grid Master. Signed zones stay signed: the members serve them, but the keys stay on the Grid Master.
How do cloud workloads reach vNIOS? Two documented patterns.
Pattern one: point the network's DNS at vNIOS. In AWS that's a DHCP option set; in Azure, the virtual network's custom DNS setting. Simple, with a catch. In Azure, queries then go straight to vNIOS, and Azure private zones aren't consulted first. So vNIOS has to forward Azure-private names back to Azure DNS at 168.63.129.16, or to a Private Resolver inbound endpoint.
Pattern two: keep the cloud's own resolver and forward chosen domains to vNIOS. In AWS, that's an outbound endpoint and one forwarding rule per domain, and rules can be shared across accounts. In Azure, it's an outbound endpoint and a forwarding ruleset, and clients change nothing. In Google, it's a forwarding zone, which Google prefers.
One AWS caution. If vNIOS has to resolve Route 53 private zones for other networks, forward to an inbound endpoint. AWS says forwarding to a VPC's built-in plus-two resolver address from outside that VPC isn't supported.
And every vNIOS member is agency-operated and inside the agency's boundary; no FedRAMP authorization covers it.
Sources: Infoblox About vNIOS for AWS, Shared-Services VPC Deployments, About vNIOS for Azure, Configure vNIOS as Primary DNS for Azure VNets, vNIOS for Google Cloud; AWS DHCP option sets, What is Route 53 VPC Resolver, Forwarding outbound queries, Resolving queries between VPCs and your network; Microsoft Learn DNS Private Resolver and VNet name resolution; Google Cloud DNS best practices; research_platform (DNSSEC on a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[7:44–9:28]  Option B joins the Grid to Universal DDI, Infoblox's software-as-a-service control plane.
You add a join token from the Infoblox Portal to the Grid, then turn on IPAM Federation and Cloud Grid Management. Federation, which needs NIOS 9.0.4 or later, keeps address space unique everywhere. The Grid stays primary for its DNS data.
What does it add? It's the only documented Infoblox mechanism that writes back to cloud DNS. It syncs Route 53, Azure DNS and Google Cloud DNS read-write, and it discovers resolver endpoints and rules in AWS and Azure. Cloud forwarders take queries in from a cloud, and cloud to cloud only between AWS and Azure. And on commercial AWS, Infoblox can be the outside authority for a VPC IPAM private scope, on the Advanced Tier.
The limits are documented. Route 53 sync doesn't support non-simple routing policies. Azure and Google private zones can't be created from the portal. DNSSEC records aren't synced. And the portal can't promote a Grid Master Candidate or manage DHCP failover, so the Grid Master stays the recovery console.
Two more notes. The cloud forwarding and private-zone features run on NIOS-X servers, not classic Trinzic, so you'd need NIOS-X capacity. And the government edition: Infoblox Government Cloud is FedRAMP Certified at Moderate, hosted in AWS GovCloud. Its cloud discovery is limited: single AWS accounts and no Azure tenants. The VPC IPAM handoff isn't in its release notes, and AWS excludes GovCloud from that integration. Confirm the rest with Infoblox.
Sources: Infoblox Onboarding NIOS Services, NIOS Grid Connector, Managing NIOS from Infoblox Portal, Universal DDI and NIOS Grid Hybrid Deployment, Limitations of AWS Route 53 Integration, Microsoft Azure Integration, Google Cloud Platform Integration, Cloud Forwarders and prerequisites, Discovering Cloud Forwarder Endpoints, Limitations of Universal DDI; AWS Integrate VPC IPAM with Infoblox and What's New Nov. 17, 2025; What's New in Universal DDI for FedRAMP; Universal Asset Insights AWS, Azure, GCP discovery pages; FedRAMP Marketplace FR2017257053.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[9:28–11:07]  Option C keeps the Grid authoritative for agency zones and lets each cloud's native DNS own its own private zones. The two connect by conditional forwarding: a rule that says, for names ending in this domain, ask that server.
Inward: the Grid forwards cloud domains to an inbound endpoint in AWS or Azure, or to an inbound server policy address in Google, over Direct Connect, ExpressRoute or VPN. Outward: each cloud forwards agency domains to the Grid, with an outbound endpoint and rules in AWS, a ruleset in Azure, or a forwarding zone in Google.
Facts to know. A Route 53 private hosted zone answers only inside its linked VPCs or through an inbound endpoint. Asked from anywhere else, the name resolves on the public internet instead. In Azure, a network using Azure-provided DNS checks linked private zones first, then forwarding rulesets, then Azure DNS. Google recommends exactly this design: two authoritative systems, conditional forwarding, no zone transfers.
In GovCloud, Route 53 public and private DNS work, and Resolver endpoints and rules are available, but Resolver delegation isn't.
Addresses follow the same idea. The Grid owns the agency's address blocks and hands each cloud a block. On commercial AWS, that handoff can be automated through Universal DDI. In GovCloud, Azure and Google, it's manual: reserve the block in the Grid, create the cloud pool with that range, and let vDiscovery check the result.
Sources: AWS Working with private hosted zones, What is Route 53 VPC Resolver, Forwarding inbound and outbound queries, Resolving queries between VPCs and your network, GovCloud Route 53 user guide, Route 53 endpoints; Microsoft Learn DNS Private Resolver, Azure Private DNS, AVNM IPAM; Google Cloud DNS best practices and server policies; AWS Integrate VPC IPAM with Infoblox and What's New Nov. 17,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[11:07–12:39]  Whatever option you pick, four rules prevent split-brain.
One: every zone has exactly one writable owner. That's the Grid, Route 53, Azure Private DNS or Cloud DNS, never two. Everything else reaches the owner by forwarding, or holds a copy that is explicitly read-only. NIOS overwrites edits to imported cloud zones, and portal-owned resolver rules overwrite cloud-side changes. So decide ownership before you turn sync on.
Two: divide the namespace by owner. For example, corp dot agency dot gov lives on the Grid, and aws dot corp dot agency dot gov lives in a Route 53 private hosted zone. On-premises resolvers forward the child to AWS, and AWS forwards the parent to the Grid. AWS also allows inbound delegation, but Resolver delegation isn't available in GovCloud. And don't create a cloud private zone with the same name as a Grid zone unless it's a deliberate split-horizon view.
Three: DNSSEC keys stay on the Grid Master or its hardware security module. Route 53 can't sign private hosted zones, and Universal DDI doesn't sync DNSSEC records, so don't sign in one system and manage through sync from another. Validation belongs on agency resolvers; the Azure-provided resolver doesn't validate.
Four: IPAM authority stays on the Grid. Clouds get delegated blocks, and one network view for routable space lets the Grid catch overlaps.
Sources: Research synthesis, Avoiding split-brain, DNSSEC keys and IPAM authority: Infoblox Route 53, Azure DNS and GCP sync pages; Discovering Cloud Forwarder Endpoints; AWS private hosted zones, Resolver, GovCloud Route 53, DNSSEC signing; Microsoft Learn DNS Private Resolver and Azure DNSSEC; Google Cloud DNS best practices; Infoblox DNSSEC on a Grid and Network Views; Book 08, Chapter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[12:39–14:12]  The decision table. Every row is design guidance, not an endorsement, resting on the facts we've covered.
Mostly on premises, with a small cloud footprint: Trinzic with native cloud resolvers and conditional forwarding, the minimal form of Option C. It's the lowest cost, needs no new SaaS authorization, and NIOS can't own cloud zones anyway.
Hybrid with one cloud, commercial or government: add an HA vNIOS pair in a hub network, Option A plus C. It keeps resolution local if the WAN fails and extends response policy, signed zones and Grid IPAM into the cloud. vNIOS is documented for both GovCloud and Azure Government.
Multi-cloud at FedRAMP Moderate and below: add Universal DDI on top, through Government Cloud for federal work. It's the only Infoblox mechanism that writes to cloud DNS, within the Government Cloud limits.
GovCloud, Azure Government, FedRAMP High, or Defense Impact Levels 4 and 5: stay with options A and C only. Infoblox's SaaS is Moderate-only, the VPC IPAM integration excludes GovCloud, and native services carry the higher authorizations. Google lists Cloud DNS for High, IL4 and IL5 under Assured Workloads. For Azure Government, confirm DNS Private Resolver is available first.
In short, the design guidance is: Trinzic plus native cloud resolvers as the baseline, with vNIOS and Universal DDI added only where they earn their place.
Sources: Research decision guidance table and its cited sources: Infoblox vDiscovery, vNIOS for AWS and Azure, Route 53 sync, Universal DDI integrations and FedRAMP release notes, Universal Asset Insights discovery pages; AWS Resolver, VPC IPAM + Infoblox, GovCloud Route 53; Google Assured Workloads supported products; FedRAMP Marketplace products.json.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[14:12–15:20]  Where does this fit? Book 08 makes the vendor-neutral case. Chapter 02 explains split-brain, Chapter 07 covers cloud private endpoints and IPAM, Chapter 08 describes the policy plane that overlays cloud DNS, and Chapter 12 covers platform selection. The research deep dive, Infoblox DDI for Federal Agencies, covers the platform, its FedRAMP scope, its risks, and how divisions share it.
The decisions to take: which option for each cloud and impact level; one named owner for every zone; where DNSSEC keys live; and how address blocks reach each cloud.
The next steps. Ask Infoblox for the Government Cloud authorization boundary and a feature matrix for GovCloud and Azure Government accounts. Confirm that DNS Private Resolver and Virtual Network Manager IPAM are available in Azure Government. Size NIOS-X capacity if you want cloud forwarders. And test forwarding in both directions from every origin.
One note on standing: this is research under review, not an endorsement by any federal agency. Thank you.
Sources: Book 08, Chapters 02, 07, 08 and 12; research item Infoblox DDI for Federal Agencies; research_multicloud, Couldn't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Trinzic Alone, or Trinzic Plus Cloud DDI?  ·  Explainer  ·  Research — under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Trinzic Alone, or Trinzic Plus Cloud DDI?</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A plain-language explainer  ·  Research — under review</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188720"/>
          </a:xfrm>
          <a:prstGeom prst="rect">
            <a:avLst/>
          </a:prstGeom>
          <a:noFill/>
          <a:ln/>
        </p:spPr>
        <p:txBody>
          <a:bodyPr wrap="square" lIns="0" tIns="0" rIns="0" bIns="0" rtlCol="0" anchor="t"/>
          <a:lstStyle/>
          <a:p>
            <a:pPr indent="0" marL="0">
              <a:spcAft>
                <a:spcPts val="200"/>
              </a:spcAft>
              <a:buNone/>
            </a:pPr>
            <a:r>
              <a:rPr lang="en-US" sz="1200" b="1" dirty="0">
                <a:solidFill>
                  <a:srgbClr val="64748B"/>
                </a:solidFill>
              </a:rPr>
              <a:t>ABOUT 15 MINUTES  ·  BUILT FOR ARCHITECTS STILL LEARNING DDI</a:t>
            </a:r>
            <a:endParaRPr lang="en-US" sz="1500" dirty="0"/>
          </a:p>
          <a:p>
            <a:pPr indent="0" marL="0">
              <a:spcAft>
                <a:spcPts val="200"/>
              </a:spcAft>
              <a:buNone/>
            </a:pPr>
            <a:r>
              <a:rPr lang="en-US" sz="1500" dirty="0">
                <a:solidFill>
                  <a:srgbClr val="334155"/>
                </a:solidFill>
              </a:rPr>
              <a:t>The words you need  ·  What Trinzic does well, and where it stops at the cloud edge</a:t>
            </a:r>
            <a:endParaRPr lang="en-US" sz="1500" dirty="0"/>
          </a:p>
          <a:p>
            <a:pPr indent="0" marL="0">
              <a:spcAft>
                <a:spcPts val="200"/>
              </a:spcAft>
              <a:buNone/>
            </a:pPr>
            <a:r>
              <a:rPr lang="en-US" sz="1500" dirty="0">
                <a:solidFill>
                  <a:srgbClr val="334155"/>
                </a:solidFill>
              </a:rPr>
              <a:t>Three options: vNIOS in each cloud · Grid + Universal DDI · Grid + native cloud DNS</a:t>
            </a:r>
            <a:endParaRPr lang="en-US" sz="1500" dirty="0"/>
          </a:p>
          <a:p>
            <a:pPr indent="0" marL="0">
              <a:spcAft>
                <a:spcPts val="200"/>
              </a:spcAft>
              <a:buNone/>
            </a:pPr>
            <a:r>
              <a:rPr lang="en-US" sz="1500" dirty="0">
                <a:solidFill>
                  <a:srgbClr val="334155"/>
                </a:solidFill>
              </a:rPr>
              <a:t>Rules that prevent split-brain  ·  Which option fits which agency</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vNIOS and Universal DDI docs; AWS, Microsoft Learn and Google Cloud docs; FedRAMP Marketplace; Book 08. All opened Oct. 22,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words you need before we start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Basics" descr="">
            <a:extLst>
              <a:ext uri="{C183D7F6-B498-43B3-948B-1728B52AA6E4}">
                <adec:decorative xmlns:adec="http://schemas.microsoft.com/office/drawing/2017/decorative" val="1"/>
              </a:ext>
            </a:extLst>
          </p:cNvPr>
          <p:cNvSpPr/>
          <p:nvPr/>
        </p:nvSpPr>
        <p:spPr>
          <a:xfrm>
            <a:off x="548640" y="1325880"/>
            <a:ext cx="11109960" cy="658368"/>
          </a:xfrm>
          <a:prstGeom prst="roundRect">
            <a:avLst>
              <a:gd name="adj" fmla="val 1111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6" name="Basics text"/>
          <p:cNvSpPr txBox="1"/>
          <p:nvPr/>
        </p:nvSpPr>
        <p:spPr>
          <a:xfrm>
            <a:off x="685800" y="1371600"/>
            <a:ext cx="10835640" cy="566928"/>
          </a:xfrm>
          <a:prstGeom prst="rect">
            <a:avLst/>
          </a:prstGeom>
          <a:noFill/>
          <a:ln/>
        </p:spPr>
        <p:txBody>
          <a:bodyPr wrap="square" lIns="0" tIns="0" rIns="0" bIns="0" rtlCol="0" anchor="ctr"/>
          <a:lstStyle/>
          <a:p>
            <a:pPr indent="0" marL="0">
              <a:buNone/>
            </a:pPr>
            <a:r>
              <a:rPr lang="en-US" sz="1250" b="1" dirty="0">
                <a:solidFill>
                  <a:srgbClr val="0F766E"/>
                </a:solidFill>
              </a:rPr>
              <a:t>DDI </a:t>
            </a:r>
            <a:pPr indent="0" marL="0">
              <a:buNone/>
            </a:pPr>
            <a:r>
              <a:rPr lang="en-US" sz="1250" dirty="0">
                <a:solidFill>
                  <a:schemeClr val="tx2"/>
                </a:solidFill>
              </a:rPr>
              <a:t>= DNS (names to addresses) + DHCP (hands addresses to devices) + IPAM (the record of who owns which address ranges).  </a:t>
            </a:r>
            <a:pPr indent="0" marL="0">
              <a:buNone/>
            </a:pPr>
            <a:r>
              <a:rPr lang="en-US" sz="1250" b="1" dirty="0">
                <a:solidFill>
                  <a:srgbClr val="0F766E"/>
                </a:solidFill>
              </a:rPr>
              <a:t>Authoritative server: </a:t>
            </a:r>
            <a:pPr indent="0" marL="0">
              <a:buNone/>
            </a:pPr>
            <a:r>
              <a:rPr lang="en-US" sz="1250" dirty="0">
                <a:solidFill>
                  <a:schemeClr val="tx2"/>
                </a:solidFill>
              </a:rPr>
              <a:t>holds the official answer for a zone.  </a:t>
            </a:r>
            <a:pPr indent="0" marL="0">
              <a:buNone/>
            </a:pPr>
            <a:r>
              <a:rPr lang="en-US" sz="1250" b="1" dirty="0">
                <a:solidFill>
                  <a:srgbClr val="0F766E"/>
                </a:solidFill>
              </a:rPr>
              <a:t>Resolver: </a:t>
            </a:r>
            <a:pPr indent="0" marL="0">
              <a:buNone/>
            </a:pPr>
            <a:r>
              <a:rPr lang="en-US" sz="1250" dirty="0">
                <a:solidFill>
                  <a:schemeClr val="tx2"/>
                </a:solidFill>
              </a:rPr>
              <a:t>the server a client asks; it finds the answer.</a:t>
            </a:r>
            <a:endParaRPr lang="en-US" sz="1250" dirty="0"/>
          </a:p>
        </p:txBody>
      </p:sp>
      <p:graphicFrame>
        <p:nvGraphicFramePr>
          <p:cNvPr id="3" name="Infoblox terms"/>
          <p:cNvGraphicFramePr>
            <a:graphicFrameLocks noGrp="1"/>
          </p:cNvGraphicFramePr>
          <p:nvPr>
            <p:extLst>
              <p:ext uri="{D42A27DB-BD31-4B8C-83A1-F6EECF244321}">
                <p14:modId xmlns:p14="http://schemas.microsoft.com/office/powerpoint/2010/main" val="1579011935"/>
              </p:ext>
            </p:extLst>
          </p:nvPr>
        </p:nvGraphicFramePr>
        <p:xfrm>
          <a:off x="548640" y="2148840"/>
          <a:ext cx="9144000" cy="914400"/>
        </p:xfrm>
        <a:graphic>
          <a:graphicData uri="http://schemas.openxmlformats.org/drawingml/2006/table">
            <a:tbl>
              <a:tblPr firstRow="1" bandRow="1"/>
              <a:tblGrid>
                <a:gridCol w="1325880"/>
                <a:gridCol w="411480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Infoblox term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Plain meaning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Grid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Two or more Infoblox NIOS appliances sharing one database, managed from one point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Grid Master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appliance or HA pair with the master database; serves the console and API; the only DNSSEC signing primary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Member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Any other appliance in the Grid; serves DNS or DHCP and replicates with the Grid Master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Trinzic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Infoblox's physical NIOS appliance line; the current line is X6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vNIOS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NIOS as a virtual machine (VMware, AWS, Azure, Google Cloud, OCI and others) that can join a Grid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NIOS-X</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Newer servers managed from the Infoblox Portal (formerly BloxOne hosts): the Universal DDI data plane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5" name="Cloud terms"/>
          <p:cNvGraphicFramePr>
            <a:graphicFrameLocks noGrp="1"/>
          </p:cNvGraphicFramePr>
          <p:nvPr>
            <p:extLst>
              <p:ext uri="{D42A27DB-BD31-4B8C-83A1-F6EECF244321}">
                <p14:modId xmlns:p14="http://schemas.microsoft.com/office/powerpoint/2010/main" val="1579011935"/>
              </p:ext>
            </p:extLst>
          </p:nvPr>
        </p:nvGraphicFramePr>
        <p:xfrm>
          <a:off x="6172200" y="2148840"/>
          <a:ext cx="9144000" cy="914400"/>
        </p:xfrm>
        <a:graphic>
          <a:graphicData uri="http://schemas.openxmlformats.org/drawingml/2006/table">
            <a:tbl>
              <a:tblPr firstRow="1" bandRow="1"/>
              <a:tblGrid>
                <a:gridCol w="1965960"/>
                <a:gridCol w="352044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Cloud and DNS term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Plain meaning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Universal DDI / Infoblox Portal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Infoblox's SaaS control plane (formerly BloxOne DDI) and its web console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Route 53 VPC Resolver endpoints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AWS's in-VPC resolver (renamed from Route 53 Resolver); inbound takes queries in, outbound sends them out by rules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Private hosted zone / private zone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zone only linked VPCs or VNets can see (AWS / Azure, Google)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VPC IPAM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AWS's organization-wide IP planner; pools hand out address ranges to VPCs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DNS Private Resolver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Azure's managed resolver: inbound and outbound endpoints plus forwarding rulesets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Split-brain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Two systems each think they own a name and give different answers depending on who asks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glossary built from Infoblox NIOS 9.1.x About Grids, vNIOS and Universal DDI docs; AWS Route 53, VPC IPAM; Microsoft Learn; Google Cloud DNS.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Trinzic is, and what it does well on premises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GM" descr="">
            <a:extLst>
              <a:ext uri="{C183D7F6-B498-43B3-948B-1728B52AA6E4}">
                <adec:decorative xmlns:adec="http://schemas.microsoft.com/office/drawing/2017/decorative" val="1"/>
              </a:ext>
            </a:extLst>
          </p:cNvPr>
          <p:cNvSpPr/>
          <p:nvPr/>
        </p:nvSpPr>
        <p:spPr>
          <a:xfrm>
            <a:off x="548640" y="1417320"/>
            <a:ext cx="4206240" cy="868680"/>
          </a:xfrm>
          <a:prstGeom prst="roundRect">
            <a:avLst>
              <a:gd name="adj" fmla="val 8421"/>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GM text"/>
          <p:cNvSpPr txBox="1"/>
          <p:nvPr/>
        </p:nvSpPr>
        <p:spPr>
          <a:xfrm>
            <a:off x="640080" y="1481328"/>
            <a:ext cx="4023360" cy="740664"/>
          </a:xfrm>
          <a:prstGeom prst="rect">
            <a:avLst/>
          </a:prstGeom>
          <a:noFill/>
          <a:ln/>
        </p:spPr>
        <p:txBody>
          <a:bodyPr wrap="square" lIns="0" tIns="0" rIns="0" bIns="0" rtlCol="0" anchor="ctr"/>
          <a:lstStyle/>
          <a:p>
            <a:pPr indent="0" marL="0">
              <a:spcAft>
                <a:spcPts val="100"/>
              </a:spcAft>
              <a:buNone/>
            </a:pPr>
            <a:r>
              <a:rPr lang="en-US" sz="1300" b="1" dirty="0">
                <a:solidFill>
                  <a:srgbClr val="1F2A44"/>
                </a:solidFill>
                <a:latin typeface="Cambria" pitchFamily="34" charset="0"/>
                <a:ea typeface="Cambria" pitchFamily="34" charset="-122"/>
                <a:cs typeface="Cambria" pitchFamily="34" charset="-120"/>
              </a:rPr>
              <a:t>Grid Master (Trinzic or vNIOS, HA pair)</a:t>
            </a:r>
            <a:endParaRPr lang="en-US" sz="1150" dirty="0"/>
          </a:p>
          <a:p>
            <a:pPr indent="0" marL="0">
              <a:spcAft>
                <a:spcPts val="100"/>
              </a:spcAft>
              <a:buNone/>
            </a:pPr>
            <a:r>
              <a:rPr lang="en-US" sz="1150" dirty="0">
                <a:solidFill>
                  <a:srgbClr val="334155"/>
                </a:solidFill>
              </a:rPr>
              <a:t>Master database, console and API, DNSSEC signing</a:t>
            </a:r>
            <a:endParaRPr lang="en-US" sz="1150" dirty="0"/>
          </a:p>
        </p:txBody>
      </p:sp>
      <p:sp>
        <p:nvSpPr>
          <p:cNvPr id="7" name="Member 1" descr="">
            <a:extLst>
              <a:ext uri="{C183D7F6-B498-43B3-948B-1728B52AA6E4}">
                <adec:decorative xmlns:adec="http://schemas.microsoft.com/office/drawing/2017/decorative" val="1"/>
              </a:ext>
            </a:extLst>
          </p:cNvPr>
          <p:cNvSpPr/>
          <p:nvPr/>
        </p:nvSpPr>
        <p:spPr>
          <a:xfrm>
            <a:off x="548640" y="2971800"/>
            <a:ext cx="1280160" cy="685800"/>
          </a:xfrm>
          <a:prstGeom prst="roundRect">
            <a:avLst>
              <a:gd name="adj" fmla="val 1066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Member 1 text"/>
          <p:cNvSpPr txBox="1"/>
          <p:nvPr/>
        </p:nvSpPr>
        <p:spPr>
          <a:xfrm>
            <a:off x="640080" y="3035808"/>
            <a:ext cx="1097280" cy="557784"/>
          </a:xfrm>
          <a:prstGeom prst="rect">
            <a:avLst/>
          </a:prstGeom>
          <a:noFill/>
          <a:ln/>
        </p:spPr>
        <p:txBody>
          <a:bodyPr wrap="square" lIns="0" tIns="0" rIns="0" bIns="0" rtlCol="0" anchor="ctr"/>
          <a:lstStyle/>
          <a:p>
            <a:pPr indent="0" marL="0">
              <a:spcAft>
                <a:spcPts val="100"/>
              </a:spcAft>
              <a:buNone/>
            </a:pPr>
            <a:r>
              <a:rPr lang="en-US" sz="1250" b="1" dirty="0">
                <a:solidFill>
                  <a:srgbClr val="0F766E"/>
                </a:solidFill>
                <a:latin typeface="Cambria" pitchFamily="34" charset="0"/>
                <a:ea typeface="Cambria" pitchFamily="34" charset="-122"/>
                <a:cs typeface="Cambria" pitchFamily="34" charset="-120"/>
              </a:rPr>
              <a:t>Member: DNS</a:t>
            </a:r>
            <a:endParaRPr lang="en-US" sz="1100" dirty="0"/>
          </a:p>
        </p:txBody>
      </p:sp>
      <p:sp>
        <p:nvSpPr>
          <p:cNvPr id="9" name="Replication 1" descr="">
            <a:extLst>
              <a:ext uri="{C183D7F6-B498-43B3-948B-1728B52AA6E4}">
                <adec:decorative xmlns:adec="http://schemas.microsoft.com/office/drawing/2017/decorative" val="1"/>
              </a:ext>
            </a:extLst>
          </p:cNvPr>
          <p:cNvSpPr/>
          <p:nvPr/>
        </p:nvSpPr>
        <p:spPr>
          <a:xfrm flipH="1">
            <a:off x="1188720" y="2286000"/>
            <a:ext cx="1463040" cy="685800"/>
          </a:xfrm>
          <a:prstGeom prst="line">
            <a:avLst/>
          </a:prstGeom>
          <a:noFill/>
          <a:ln w="25400">
            <a:solidFill>
              <a:srgbClr val="64748B"/>
            </a:solidFill>
            <a:prstDash val="solid"/>
            <a:tailEnd type="triangle"/>
          </a:ln>
        </p:spPr>
      </p:sp>
      <p:sp>
        <p:nvSpPr>
          <p:cNvPr id="10" name="Member 2" descr="">
            <a:extLst>
              <a:ext uri="{C183D7F6-B498-43B3-948B-1728B52AA6E4}">
                <adec:decorative xmlns:adec="http://schemas.microsoft.com/office/drawing/2017/decorative" val="1"/>
              </a:ext>
            </a:extLst>
          </p:cNvPr>
          <p:cNvSpPr/>
          <p:nvPr/>
        </p:nvSpPr>
        <p:spPr>
          <a:xfrm>
            <a:off x="2011680" y="2971800"/>
            <a:ext cx="1280160" cy="685800"/>
          </a:xfrm>
          <a:prstGeom prst="roundRect">
            <a:avLst>
              <a:gd name="adj" fmla="val 1066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1" name="Member 2 text"/>
          <p:cNvSpPr txBox="1"/>
          <p:nvPr/>
        </p:nvSpPr>
        <p:spPr>
          <a:xfrm>
            <a:off x="2103120" y="3035808"/>
            <a:ext cx="1097280" cy="557784"/>
          </a:xfrm>
          <a:prstGeom prst="rect">
            <a:avLst/>
          </a:prstGeom>
          <a:noFill/>
          <a:ln/>
        </p:spPr>
        <p:txBody>
          <a:bodyPr wrap="square" lIns="0" tIns="0" rIns="0" bIns="0" rtlCol="0" anchor="ctr"/>
          <a:lstStyle/>
          <a:p>
            <a:pPr indent="0" marL="0">
              <a:spcAft>
                <a:spcPts val="100"/>
              </a:spcAft>
              <a:buNone/>
            </a:pPr>
            <a:r>
              <a:rPr lang="en-US" sz="1250" b="1" dirty="0">
                <a:solidFill>
                  <a:srgbClr val="0F766E"/>
                </a:solidFill>
                <a:latin typeface="Cambria" pitchFamily="34" charset="0"/>
                <a:ea typeface="Cambria" pitchFamily="34" charset="-122"/>
                <a:cs typeface="Cambria" pitchFamily="34" charset="-120"/>
              </a:rPr>
              <a:t>Member: DHCP</a:t>
            </a:r>
            <a:endParaRPr lang="en-US" sz="1100" dirty="0"/>
          </a:p>
        </p:txBody>
      </p:sp>
      <p:sp>
        <p:nvSpPr>
          <p:cNvPr id="12" name="Replication 2" descr="">
            <a:extLst>
              <a:ext uri="{C183D7F6-B498-43B3-948B-1728B52AA6E4}">
                <adec:decorative xmlns:adec="http://schemas.microsoft.com/office/drawing/2017/decorative" val="1"/>
              </a:ext>
            </a:extLst>
          </p:cNvPr>
          <p:cNvSpPr/>
          <p:nvPr/>
        </p:nvSpPr>
        <p:spPr>
          <a:xfrm>
            <a:off x="2651760" y="2286000"/>
            <a:ext cx="0" cy="685800"/>
          </a:xfrm>
          <a:prstGeom prst="line">
            <a:avLst/>
          </a:prstGeom>
          <a:noFill/>
          <a:ln w="25400">
            <a:solidFill>
              <a:srgbClr val="64748B"/>
            </a:solidFill>
            <a:prstDash val="solid"/>
            <a:tailEnd type="triangle"/>
          </a:ln>
        </p:spPr>
      </p:sp>
      <p:sp>
        <p:nvSpPr>
          <p:cNvPr id="13" name="Member 3" descr="">
            <a:extLst>
              <a:ext uri="{C183D7F6-B498-43B3-948B-1728B52AA6E4}">
                <adec:decorative xmlns:adec="http://schemas.microsoft.com/office/drawing/2017/decorative" val="1"/>
              </a:ext>
            </a:extLst>
          </p:cNvPr>
          <p:cNvSpPr/>
          <p:nvPr/>
        </p:nvSpPr>
        <p:spPr>
          <a:xfrm>
            <a:off x="3474720" y="2971800"/>
            <a:ext cx="1280160" cy="685800"/>
          </a:xfrm>
          <a:prstGeom prst="roundRect">
            <a:avLst>
              <a:gd name="adj" fmla="val 1066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4" name="Member 3 text"/>
          <p:cNvSpPr txBox="1"/>
          <p:nvPr/>
        </p:nvSpPr>
        <p:spPr>
          <a:xfrm>
            <a:off x="3566160" y="3035808"/>
            <a:ext cx="1097280" cy="557784"/>
          </a:xfrm>
          <a:prstGeom prst="rect">
            <a:avLst/>
          </a:prstGeom>
          <a:noFill/>
          <a:ln/>
        </p:spPr>
        <p:txBody>
          <a:bodyPr wrap="square" lIns="0" tIns="0" rIns="0" bIns="0" rtlCol="0" anchor="ctr"/>
          <a:lstStyle/>
          <a:p>
            <a:pPr indent="0" marL="0">
              <a:spcAft>
                <a:spcPts val="100"/>
              </a:spcAft>
              <a:buNone/>
            </a:pPr>
            <a:r>
              <a:rPr lang="en-US" sz="1250" b="1" dirty="0">
                <a:solidFill>
                  <a:srgbClr val="0F766E"/>
                </a:solidFill>
                <a:latin typeface="Cambria" pitchFamily="34" charset="0"/>
                <a:ea typeface="Cambria" pitchFamily="34" charset="-122"/>
                <a:cs typeface="Cambria" pitchFamily="34" charset="-120"/>
              </a:rPr>
              <a:t>Member: DNS</a:t>
            </a:r>
            <a:endParaRPr lang="en-US" sz="1100" dirty="0"/>
          </a:p>
        </p:txBody>
      </p:sp>
      <p:sp>
        <p:nvSpPr>
          <p:cNvPr id="15" name="Replication 3" descr="">
            <a:extLst>
              <a:ext uri="{C183D7F6-B498-43B3-948B-1728B52AA6E4}">
                <adec:decorative xmlns:adec="http://schemas.microsoft.com/office/drawing/2017/decorative" val="1"/>
              </a:ext>
            </a:extLst>
          </p:cNvPr>
          <p:cNvSpPr/>
          <p:nvPr/>
        </p:nvSpPr>
        <p:spPr>
          <a:xfrm>
            <a:off x="2651760" y="2286000"/>
            <a:ext cx="1463040" cy="685800"/>
          </a:xfrm>
          <a:prstGeom prst="line">
            <a:avLst/>
          </a:prstGeom>
          <a:noFill/>
          <a:ln w="25400">
            <a:solidFill>
              <a:srgbClr val="64748B"/>
            </a:solidFill>
            <a:prstDash val="solid"/>
            <a:tailEnd type="triangle"/>
          </a:ln>
        </p:spPr>
      </p:sp>
      <p:sp>
        <p:nvSpPr>
          <p:cNvPr id="16" name="Replication label"/>
          <p:cNvSpPr txBox="1"/>
          <p:nvPr/>
        </p:nvSpPr>
        <p:spPr>
          <a:xfrm>
            <a:off x="548640" y="3703320"/>
            <a:ext cx="4206240" cy="256032"/>
          </a:xfrm>
          <a:prstGeom prst="rect">
            <a:avLst/>
          </a:prstGeom>
          <a:noFill/>
          <a:ln/>
        </p:spPr>
        <p:txBody>
          <a:bodyPr wrap="square" lIns="0" tIns="0" rIns="0" bIns="0" rtlCol="0" anchor="ctr"/>
          <a:lstStyle/>
          <a:p>
            <a:pPr algn="ctr" indent="0" marL="0">
              <a:buNone/>
            </a:pPr>
            <a:r>
              <a:rPr lang="en-US" sz="1050" i="1" dirty="0">
                <a:solidFill>
                  <a:srgbClr val="64748B"/>
                </a:solidFill>
              </a:rPr>
              <a:t>Encrypted replication, hub and spoke</a:t>
            </a:r>
            <a:endParaRPr lang="en-US" sz="1050" dirty="0"/>
          </a:p>
        </p:txBody>
      </p:sp>
      <p:sp>
        <p:nvSpPr>
          <p:cNvPr id="17" name="Boundary"/>
          <p:cNvSpPr txBox="1"/>
          <p:nvPr/>
        </p:nvSpPr>
        <p:spPr>
          <a:xfrm>
            <a:off x="548640" y="4069080"/>
            <a:ext cx="4206240" cy="685800"/>
          </a:xfrm>
          <a:prstGeom prst="rect">
            <a:avLst/>
          </a:prstGeom>
          <a:noFill/>
          <a:ln/>
        </p:spPr>
        <p:txBody>
          <a:bodyPr wrap="square" lIns="0" tIns="0" rIns="0" bIns="0" rtlCol="0" anchor="t"/>
          <a:lstStyle/>
          <a:p>
            <a:pPr indent="0" marL="0">
              <a:buNone/>
            </a:pPr>
            <a:r>
              <a:rPr lang="en-US" sz="1200" b="1" dirty="0">
                <a:solidFill>
                  <a:srgbClr val="1F2A44"/>
                </a:solidFill>
              </a:rPr>
              <a:t>Inside the agency boundary: </a:t>
            </a:r>
            <a:pPr indent="0" marL="0">
              <a:buNone/>
            </a:pPr>
            <a:r>
              <a:rPr lang="en-US" sz="1200" dirty="0">
                <a:solidFill>
                  <a:schemeClr val="tx2"/>
                </a:solidFill>
              </a:rPr>
              <a:t>on-premises appliances are not a FedRAMP cloud service; they sit in the agency's own authorization boundary.</a:t>
            </a:r>
            <a:endParaRPr lang="en-US" sz="1200" dirty="0"/>
          </a:p>
        </p:txBody>
      </p:sp>
      <p:sp>
        <p:nvSpPr>
          <p:cNvPr id="18" name="Well" descr="">
            <a:extLst>
              <a:ext uri="{C183D7F6-B498-43B3-948B-1728B52AA6E4}">
                <adec:decorative xmlns:adec="http://schemas.microsoft.com/office/drawing/2017/decorative" val="1"/>
              </a:ext>
            </a:extLst>
          </p:cNvPr>
          <p:cNvSpPr/>
          <p:nvPr/>
        </p:nvSpPr>
        <p:spPr>
          <a:xfrm>
            <a:off x="4983480" y="1371600"/>
            <a:ext cx="6675120" cy="3383280"/>
          </a:xfrm>
          <a:prstGeom prst="roundRect">
            <a:avLst>
              <a:gd name="adj" fmla="val 2162"/>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9" name="Well head"/>
          <p:cNvSpPr txBox="1"/>
          <p:nvPr/>
        </p:nvSpPr>
        <p:spPr>
          <a:xfrm>
            <a:off x="5166360" y="1481328"/>
            <a:ext cx="6309360" cy="640080"/>
          </a:xfrm>
          <a:prstGeom prst="rect">
            <a:avLst/>
          </a:prstGeom>
          <a:noFill/>
          <a:ln/>
        </p:spPr>
        <p:txBody>
          <a:bodyPr wrap="square" lIns="0" tIns="0" rIns="0" bIns="0" rtlCol="0" anchor="t"/>
          <a:lstStyle/>
          <a:p>
            <a:pPr indent="0" marL="0">
              <a:buNone/>
            </a:pPr>
            <a:r>
              <a:rPr lang="en-US" sz="1100" b="1" dirty="0">
                <a:solidFill>
                  <a:srgbClr val="64748B"/>
                </a:solidFill>
              </a:rPr>
              <a:t>WHAT IT DOES WELL (NIOS 9.1)</a:t>
            </a:r>
            <a:endParaRPr lang="en-US" sz="1400" dirty="0"/>
          </a:p>
        </p:txBody>
      </p:sp>
      <p:sp>
        <p:nvSpPr>
          <p:cNvPr id="20" name="Well list"/>
          <p:cNvSpPr txBox="1"/>
          <p:nvPr/>
        </p:nvSpPr>
        <p:spPr>
          <a:xfrm>
            <a:off x="5166360" y="1810512"/>
            <a:ext cx="6355080" cy="287121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DNS views: one Grid gives internal and external clients different answers, on purpose</a:t>
            </a:r>
            <a:endParaRPr lang="en-US" sz="1400" dirty="0"/>
          </a:p>
          <a:p>
            <a:pPr marL="342900" indent="-342900">
              <a:spcAft>
                <a:spcPts val="300"/>
              </a:spcAft>
              <a:buSzPct val="100000"/>
              <a:buChar char="•"/>
            </a:pPr>
            <a:r>
              <a:rPr lang="en-US" sz="1250" dirty="0">
                <a:solidFill>
                  <a:schemeClr val="tx2"/>
                </a:solidFill>
              </a:rPr>
              <a:t>Response policy zones (DNS Firewall): block or redirect bad names; up to 32 RPZs, hits logged to syslog</a:t>
            </a:r>
            <a:endParaRPr lang="en-US" sz="1400" dirty="0"/>
          </a:p>
          <a:p>
            <a:pPr marL="342900" indent="-342900">
              <a:spcAft>
                <a:spcPts val="300"/>
              </a:spcAft>
              <a:buSzPct val="100000"/>
              <a:buChar char="•"/>
            </a:pPr>
            <a:r>
              <a:rPr lang="en-US" sz="1250" dirty="0">
                <a:solidFill>
                  <a:schemeClr val="tx2"/>
                </a:solidFill>
              </a:rPr>
              <a:t>DNSSEC: Grid Master is the hidden primary; keys on the Grid Master or an HSM (Thales Luna, Entrust nShield), not both</a:t>
            </a:r>
            <a:endParaRPr lang="en-US" sz="1400" dirty="0"/>
          </a:p>
          <a:p>
            <a:pPr marL="342900" indent="-342900">
              <a:spcAft>
                <a:spcPts val="300"/>
              </a:spcAft>
              <a:buSzPct val="100000"/>
              <a:buChar char="•"/>
            </a:pPr>
            <a:r>
              <a:rPr lang="en-US" sz="1250" dirty="0">
                <a:solidFill>
                  <a:schemeClr val="tx2"/>
                </a:solidFill>
              </a:rPr>
              <a:t>Default DNSSEC algorithm is RSA/SHA1: change it to RSA/SHA-256 or ECDSA</a:t>
            </a:r>
            <a:endParaRPr lang="en-US" sz="1400" dirty="0"/>
          </a:p>
          <a:p>
            <a:pPr marL="342900" indent="-342900">
              <a:spcAft>
                <a:spcPts val="300"/>
              </a:spcAft>
              <a:buSzPct val="100000"/>
              <a:buChar char="•"/>
            </a:pPr>
            <a:r>
              <a:rPr lang="en-US" sz="1250" dirty="0">
                <a:solidFill>
                  <a:schemeClr val="tx2"/>
                </a:solidFill>
              </a:rPr>
              <a:t>DHCP failover pairs; manages existing Windows DNS and DHCP servers without agents</a:t>
            </a:r>
            <a:endParaRPr lang="en-US" sz="1400" dirty="0"/>
          </a:p>
        </p:txBody>
      </p:sp>
      <p:sp>
        <p:nvSpPr>
          <p:cNvPr id="21" name="Plane"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2" name="Icon FaSitemap"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0F766E"/>
          </a:solidFill>
          <a:ln w="12700">
            <a:solidFill>
              <a:srgbClr val="0F766E"/>
            </a:solidFill>
            <a:prstDash val="solid"/>
          </a:ln>
        </p:spPr>
      </p:sp>
      <p:pic>
        <p:nvPicPr>
          <p:cNvPr id="2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50485"/>
            <a:ext cx="380390" cy="380390"/>
          </a:xfrm>
          <a:prstGeom prst="rect">
            <a:avLst/>
          </a:prstGeom>
        </p:spPr>
      </p:pic>
      <p:sp>
        <p:nvSpPr>
          <p:cNvPr id="24" name="Plane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0F766E"/>
                </a:solidFill>
              </a:rPr>
              <a:t>Why Book 08 cares: </a:t>
            </a:r>
            <a:pPr indent="0" marL="0">
              <a:buNone/>
            </a:pPr>
            <a:r>
              <a:rPr lang="en-US" sz="1650" dirty="0">
                <a:solidFill>
                  <a:schemeClr val="tx2"/>
                </a:solidFill>
              </a:rPr>
              <a:t>it wants one DDI policy plane, one system of record for zones, forwarding, IPAM and policy, with cloud DNS managed as an overlay, not replaced.</a:t>
            </a:r>
            <a:endParaRPr lang="en-US" sz="1650" dirty="0"/>
          </a:p>
        </p:txBody>
      </p:sp>
      <p:sp>
        <p:nvSpPr>
          <p:cNvPr id="2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 About Grids; DNS Views; DNS Firewall; DNSSEC on a Grid; DNSSEC Parameters; DHCP Failover; Microsoft Servers; Book 08, Ch 08; FedRAMP products.json.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Trinzic alone sees in the clouds, and can't control</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Sees" descr="">
            <a:extLst>
              <a:ext uri="{C183D7F6-B498-43B3-948B-1728B52AA6E4}">
                <adec:decorative xmlns:adec="http://schemas.microsoft.com/office/drawing/2017/decorative" val="1"/>
              </a:ext>
            </a:extLst>
          </p:cNvPr>
          <p:cNvSpPr/>
          <p:nvPr/>
        </p:nvSpPr>
        <p:spPr>
          <a:xfrm>
            <a:off x="548640" y="1371600"/>
            <a:ext cx="5486400" cy="3520440"/>
          </a:xfrm>
          <a:prstGeom prst="roundRect">
            <a:avLst>
              <a:gd name="adj" fmla="val 207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6" name="Sees head"/>
          <p:cNvSpPr txBox="1"/>
          <p:nvPr/>
        </p:nvSpPr>
        <p:spPr>
          <a:xfrm>
            <a:off x="73152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WHAT IT CAN DO BY ITSELF</a:t>
            </a:r>
            <a:endParaRPr lang="en-US" sz="1400" dirty="0"/>
          </a:p>
          <a:p>
            <a:pPr indent="0" marL="0">
              <a:buNone/>
            </a:pPr>
            <a:r>
              <a:rPr lang="en-US" sz="1500" b="1" dirty="0">
                <a:solidFill>
                  <a:srgbClr val="0F766E"/>
                </a:solidFill>
                <a:latin typeface="Cambria" pitchFamily="34" charset="0"/>
                <a:ea typeface="Cambria" pitchFamily="34" charset="-122"/>
                <a:cs typeface="Cambria" pitchFamily="34" charset="-120"/>
              </a:rPr>
              <a:t>See, import and automate</a:t>
            </a:r>
            <a:endParaRPr lang="en-US" sz="1400" dirty="0"/>
          </a:p>
        </p:txBody>
      </p:sp>
      <p:sp>
        <p:nvSpPr>
          <p:cNvPr id="7" name="Sees list"/>
          <p:cNvSpPr txBox="1"/>
          <p:nvPr/>
        </p:nvSpPr>
        <p:spPr>
          <a:xfrm>
            <a:off x="731520" y="2121408"/>
            <a:ext cx="5166360" cy="26974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vDiscovery: scheduled pull of networks and VMs from AWS, Azure, GCP, VMware; GovCloud option (AWS) and Azure Government covered</a:t>
            </a:r>
            <a:endParaRPr lang="en-US" sz="1400" dirty="0"/>
          </a:p>
          <a:p>
            <a:pPr marL="342900" indent="-342900">
              <a:spcAft>
                <a:spcPts val="300"/>
              </a:spcAft>
              <a:buSzPct val="100000"/>
              <a:buChar char="•"/>
            </a:pPr>
            <a:r>
              <a:rPr lang="en-US" sz="1200" dirty="0">
                <a:solidFill>
                  <a:schemeClr val="tx2"/>
                </a:solidFill>
              </a:rPr>
              <a:t>Discovered subnets become managed networks; DNS records for VMs only in zones NIOS already has</a:t>
            </a:r>
            <a:endParaRPr lang="en-US" sz="1400" dirty="0"/>
          </a:p>
          <a:p>
            <a:pPr marL="342900" indent="-342900">
              <a:spcAft>
                <a:spcPts val="300"/>
              </a:spcAft>
              <a:buSzPct val="100000"/>
              <a:buChar char="•"/>
            </a:pPr>
            <a:r>
              <a:rPr lang="en-US" sz="1200" dirty="0">
                <a:solidFill>
                  <a:schemeClr val="tx2"/>
                </a:solidFill>
              </a:rPr>
              <a:t>Imports Route 53, Azure DNS, Google Cloud DNS zones one way into NIOS (Cloud Network Automation license on the Grid Master)</a:t>
            </a:r>
            <a:endParaRPr lang="en-US" sz="1400" dirty="0"/>
          </a:p>
          <a:p>
            <a:pPr marL="342900" indent="-342900">
              <a:spcAft>
                <a:spcPts val="300"/>
              </a:spcAft>
              <a:buSzPct val="100000"/>
              <a:buChar char="•"/>
            </a:pPr>
            <a:r>
              <a:rPr lang="en-US" sz="1200" dirty="0">
                <a:solidFill>
                  <a:schemeClr val="tx2"/>
                </a:solidFill>
              </a:rPr>
              <a:t>Serves imported zones to on-prem clients; Cloud Platform members and an AWS API proxy automate provisioning</a:t>
            </a:r>
            <a:endParaRPr lang="en-US" sz="1400" dirty="0"/>
          </a:p>
        </p:txBody>
      </p:sp>
      <p:sp>
        <p:nvSpPr>
          <p:cNvPr id="8" name="Cannot" descr="">
            <a:extLst>
              <a:ext uri="{C183D7F6-B498-43B3-948B-1728B52AA6E4}">
                <adec:decorative xmlns:adec="http://schemas.microsoft.com/office/drawing/2017/decorative" val="1"/>
              </a:ext>
            </a:extLst>
          </p:cNvPr>
          <p:cNvSpPr/>
          <p:nvPr/>
        </p:nvSpPr>
        <p:spPr>
          <a:xfrm>
            <a:off x="6172200" y="1371600"/>
            <a:ext cx="5486400" cy="3520440"/>
          </a:xfrm>
          <a:prstGeom prst="roundRect">
            <a:avLst>
              <a:gd name="adj" fmla="val 207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Cannot head"/>
          <p:cNvSpPr txBox="1"/>
          <p:nvPr/>
        </p:nvSpPr>
        <p:spPr>
          <a:xfrm>
            <a:off x="635508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WHAT IT CANNOT DO</a:t>
            </a:r>
            <a:endParaRPr lang="en-US" sz="1400" dirty="0"/>
          </a:p>
          <a:p>
            <a:pPr indent="0" marL="0">
              <a:buNone/>
            </a:pPr>
            <a:r>
              <a:rPr lang="en-US" sz="1500" b="1" dirty="0">
                <a:solidFill>
                  <a:srgbClr val="B91C1C"/>
                </a:solidFill>
                <a:latin typeface="Cambria" pitchFamily="34" charset="0"/>
                <a:ea typeface="Cambria" pitchFamily="34" charset="-122"/>
                <a:cs typeface="Cambria" pitchFamily="34" charset="-120"/>
              </a:rPr>
              <a:t>Own or steer cloud DNS</a:t>
            </a:r>
            <a:endParaRPr lang="en-US" sz="1400" dirty="0"/>
          </a:p>
        </p:txBody>
      </p:sp>
      <p:sp>
        <p:nvSpPr>
          <p:cNvPr id="10" name="Cannot list"/>
          <p:cNvSpPr txBox="1"/>
          <p:nvPr/>
        </p:nvSpPr>
        <p:spPr>
          <a:xfrm>
            <a:off x="6355080" y="2121408"/>
            <a:ext cx="5166360" cy="269748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No write-back: "NOT vice versa" (Route 53); NIOS edits to synced records are overwritten</a:t>
            </a:r>
            <a:endParaRPr lang="en-US" sz="1400" dirty="0"/>
          </a:p>
          <a:p>
            <a:pPr marL="342900" indent="-342900">
              <a:spcAft>
                <a:spcPts val="300"/>
              </a:spcAft>
              <a:buSzPct val="100000"/>
              <a:buChar char="•"/>
            </a:pPr>
            <a:r>
              <a:rPr lang="en-US" sz="1200" dirty="0">
                <a:solidFill>
                  <a:schemeClr val="tx2"/>
                </a:solidFill>
              </a:rPr>
              <a:t>Can't create or own cloud private zones</a:t>
            </a:r>
            <a:endParaRPr lang="en-US" sz="1400" dirty="0"/>
          </a:p>
          <a:p>
            <a:pPr marL="342900" indent="-342900">
              <a:spcAft>
                <a:spcPts val="300"/>
              </a:spcAft>
              <a:buSzPct val="100000"/>
              <a:buChar char="•"/>
            </a:pPr>
            <a:r>
              <a:rPr lang="en-US" sz="1200" dirty="0">
                <a:solidFill>
                  <a:schemeClr val="tx2"/>
                </a:solidFill>
              </a:rPr>
              <a:t>No Route 53 VPC Resolver rules or Azure rulesets: no NIOS doc describes it</a:t>
            </a:r>
            <a:endParaRPr lang="en-US" sz="1400" dirty="0"/>
          </a:p>
          <a:p>
            <a:pPr marL="342900" indent="-342900">
              <a:spcAft>
                <a:spcPts val="300"/>
              </a:spcAft>
              <a:buSzPct val="100000"/>
              <a:buChar char="•"/>
            </a:pPr>
            <a:r>
              <a:rPr lang="en-US" sz="1200" dirty="0">
                <a:solidFill>
                  <a:schemeClr val="tx2"/>
                </a:solidFill>
              </a:rPr>
              <a:t>Not AWS VPC IPAM's external authority (a Universal DDI feature)</a:t>
            </a:r>
            <a:endParaRPr lang="en-US" sz="1400" dirty="0"/>
          </a:p>
          <a:p>
            <a:pPr marL="342900" indent="-342900">
              <a:spcAft>
                <a:spcPts val="300"/>
              </a:spcAft>
              <a:buSzPct val="100000"/>
              <a:buChar char="•"/>
            </a:pPr>
            <a:r>
              <a:rPr lang="en-US" sz="1200" dirty="0">
                <a:solidFill>
                  <a:schemeClr val="tx2"/>
                </a:solidFill>
              </a:rPr>
              <a:t>No DHCP in cloud subnets: AWS leases from Amazon DHCP; GCP vNIOS DHCP is on-prem only; Azure doesn't support it</a:t>
            </a:r>
            <a:endParaRPr lang="en-US" sz="1400" dirty="0"/>
          </a:p>
        </p:txBody>
      </p:sp>
      <p:sp>
        <p:nvSpPr>
          <p:cNvPr id="11" name="Takeaway" descr="">
            <a:extLst>
              <a:ext uri="{C183D7F6-B498-43B3-948B-1728B52AA6E4}">
                <adec:decorative xmlns:adec="http://schemas.microsoft.com/office/drawing/2017/decorative" val="1"/>
              </a:ext>
            </a:extLst>
          </p:cNvPr>
          <p:cNvSpPr/>
          <p:nvPr/>
        </p:nvSpPr>
        <p:spPr>
          <a:xfrm>
            <a:off x="548640" y="5029200"/>
            <a:ext cx="11109960" cy="868680"/>
          </a:xfrm>
          <a:prstGeom prst="roundRect">
            <a:avLst>
              <a:gd name="adj" fmla="val 842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Icon FaLightbulb"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45309"/>
          </a:solidFill>
          <a:ln w="12700">
            <a:solidFill>
              <a:srgbClr val="B45309"/>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73345"/>
            <a:ext cx="380390" cy="380390"/>
          </a:xfrm>
          <a:prstGeom prst="rect">
            <a:avLst/>
          </a:prstGeom>
        </p:spPr>
      </p:pic>
      <p:sp>
        <p:nvSpPr>
          <p:cNvPr id="14" name="Takeaway text"/>
          <p:cNvSpPr txBox="1"/>
          <p:nvPr/>
        </p:nvSpPr>
        <p:spPr>
          <a:xfrm>
            <a:off x="1737360" y="5074920"/>
            <a:ext cx="9738360" cy="777240"/>
          </a:xfrm>
          <a:prstGeom prst="rect">
            <a:avLst/>
          </a:prstGeom>
          <a:noFill/>
          <a:ln/>
        </p:spPr>
        <p:txBody>
          <a:bodyPr wrap="square" lIns="0" tIns="0" rIns="0" bIns="0" rtlCol="0" anchor="ctr"/>
          <a:lstStyle/>
          <a:p>
            <a:pPr indent="0" marL="0">
              <a:buNone/>
            </a:pPr>
            <a:r>
              <a:rPr lang="en-US" sz="1650" b="1" dirty="0">
                <a:solidFill>
                  <a:srgbClr val="B45309"/>
                </a:solidFill>
              </a:rPr>
              <a:t>Inference: </a:t>
            </a:r>
            <a:pPr indent="0" marL="0">
              <a:buNone/>
            </a:pPr>
            <a:r>
              <a:rPr lang="en-US" sz="1650" dirty="0">
                <a:solidFill>
                  <a:schemeClr val="tx2"/>
                </a:solidFill>
              </a:rPr>
              <a:t>in the clouds, Infoblox's job is DNS and IPAM; DHCP stays with the cloud fabric, and the cloud resolver still answers cloud private zones.</a:t>
            </a:r>
            <a:endParaRPr lang="en-US" sz="16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Infoblox NIOS 9.1.x vDiscovery (S1–S5); Cloud Network Automation (S6); Route 53, Azure DNS, GCP sync (S13–S18); AWS DHCP option sets (S23); vNIOS GCP, Azure (S20, S24).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Option A: vNIOS members inside each cloud</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A GM" descr="">
            <a:extLst>
              <a:ext uri="{C183D7F6-B498-43B3-948B-1728B52AA6E4}">
                <adec:decorative xmlns:adec="http://schemas.microsoft.com/office/drawing/2017/decorative" val="1"/>
              </a:ext>
            </a:extLst>
          </p:cNvPr>
          <p:cNvSpPr/>
          <p:nvPr/>
        </p:nvSpPr>
        <p:spPr>
          <a:xfrm>
            <a:off x="548640" y="1371600"/>
            <a:ext cx="3017520" cy="896112"/>
          </a:xfrm>
          <a:prstGeom prst="roundRect">
            <a:avLst>
              <a:gd name="adj" fmla="val 816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A GM text"/>
          <p:cNvSpPr txBox="1"/>
          <p:nvPr/>
        </p:nvSpPr>
        <p:spPr>
          <a:xfrm>
            <a:off x="640080" y="1435608"/>
            <a:ext cx="2834640" cy="768096"/>
          </a:xfrm>
          <a:prstGeom prst="rect">
            <a:avLst/>
          </a:prstGeom>
          <a:noFill/>
          <a:ln/>
        </p:spPr>
        <p:txBody>
          <a:bodyPr wrap="square" lIns="0" tIns="0" rIns="0" bIns="0" rtlCol="0" anchor="ctr"/>
          <a:lstStyle/>
          <a:p>
            <a:pPr indent="0" marL="0">
              <a:spcAft>
                <a:spcPts val="100"/>
              </a:spcAft>
              <a:buNone/>
            </a:pPr>
            <a:r>
              <a:rPr lang="en-US" sz="1300" b="1" dirty="0">
                <a:solidFill>
                  <a:srgbClr val="1F2A44"/>
                </a:solidFill>
                <a:latin typeface="Cambria" pitchFamily="34" charset="0"/>
                <a:ea typeface="Cambria" pitchFamily="34" charset="-122"/>
                <a:cs typeface="Cambria" pitchFamily="34" charset="-120"/>
              </a:rPr>
              <a:t>On-prem Grid Master</a:t>
            </a:r>
            <a:endParaRPr lang="en-US" sz="1150" dirty="0"/>
          </a:p>
          <a:p>
            <a:pPr indent="0" marL="0">
              <a:spcAft>
                <a:spcPts val="100"/>
              </a:spcAft>
              <a:buNone/>
            </a:pPr>
            <a:r>
              <a:rPr lang="en-US" sz="1150" dirty="0">
                <a:solidFill>
                  <a:srgbClr val="334155"/>
                </a:solidFill>
              </a:rPr>
              <a:t>Database and DNSSEC keys stay here</a:t>
            </a:r>
            <a:endParaRPr lang="en-US" sz="1150" dirty="0"/>
          </a:p>
        </p:txBody>
      </p:sp>
      <p:sp>
        <p:nvSpPr>
          <p:cNvPr id="7" name="A sync" descr="">
            <a:extLst>
              <a:ext uri="{C183D7F6-B498-43B3-948B-1728B52AA6E4}">
                <adec:decorative xmlns:adec="http://schemas.microsoft.com/office/drawing/2017/decorative" val="1"/>
              </a:ext>
            </a:extLst>
          </p:cNvPr>
          <p:cNvSpPr/>
          <p:nvPr/>
        </p:nvSpPr>
        <p:spPr>
          <a:xfrm>
            <a:off x="3566160" y="1819656"/>
            <a:ext cx="1051560" cy="0"/>
          </a:xfrm>
          <a:prstGeom prst="line">
            <a:avLst/>
          </a:prstGeom>
          <a:noFill/>
          <a:ln w="25400">
            <a:solidFill>
              <a:srgbClr val="64748B"/>
            </a:solidFill>
            <a:prstDash val="solid"/>
            <a:headEnd type="triangle"/>
            <a:tailEnd type="triangle"/>
          </a:ln>
        </p:spPr>
      </p:sp>
      <p:sp>
        <p:nvSpPr>
          <p:cNvPr id="8" name="A sync label"/>
          <p:cNvSpPr txBox="1"/>
          <p:nvPr/>
        </p:nvSpPr>
        <p:spPr>
          <a:xfrm>
            <a:off x="3520440" y="1463040"/>
            <a:ext cx="1143000" cy="256032"/>
          </a:xfrm>
          <a:prstGeom prst="rect">
            <a:avLst/>
          </a:prstGeom>
          <a:noFill/>
          <a:ln/>
        </p:spPr>
        <p:txBody>
          <a:bodyPr wrap="square" lIns="0" tIns="0" rIns="0" bIns="0" rtlCol="0" anchor="ctr"/>
          <a:lstStyle/>
          <a:p>
            <a:pPr algn="ctr" indent="0" marL="0">
              <a:buNone/>
            </a:pPr>
            <a:r>
              <a:rPr lang="en-US" sz="1050" i="1" dirty="0">
                <a:solidFill>
                  <a:srgbClr val="64748B"/>
                </a:solidFill>
              </a:rPr>
              <a:t>Grid replication</a:t>
            </a:r>
            <a:endParaRPr lang="en-US" sz="1050" dirty="0"/>
          </a:p>
        </p:txBody>
      </p:sp>
      <p:sp>
        <p:nvSpPr>
          <p:cNvPr id="9" name="A vNIOS" descr="">
            <a:extLst>
              <a:ext uri="{C183D7F6-B498-43B3-948B-1728B52AA6E4}">
                <adec:decorative xmlns:adec="http://schemas.microsoft.com/office/drawing/2017/decorative" val="1"/>
              </a:ext>
            </a:extLst>
          </p:cNvPr>
          <p:cNvSpPr/>
          <p:nvPr/>
        </p:nvSpPr>
        <p:spPr>
          <a:xfrm>
            <a:off x="4617720" y="1371600"/>
            <a:ext cx="3063240" cy="896112"/>
          </a:xfrm>
          <a:prstGeom prst="roundRect">
            <a:avLst>
              <a:gd name="adj" fmla="val 816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A vNIOS text"/>
          <p:cNvSpPr txBox="1"/>
          <p:nvPr/>
        </p:nvSpPr>
        <p:spPr>
          <a:xfrm>
            <a:off x="4709160" y="1435608"/>
            <a:ext cx="2880360" cy="768096"/>
          </a:xfrm>
          <a:prstGeom prst="rect">
            <a:avLst/>
          </a:prstGeom>
          <a:noFill/>
          <a:ln/>
        </p:spPr>
        <p:txBody>
          <a:bodyPr wrap="square" lIns="0" tIns="0" rIns="0" bIns="0" rtlCol="0" anchor="ctr"/>
          <a:lstStyle/>
          <a:p>
            <a:pPr indent="0" marL="0">
              <a:spcAft>
                <a:spcPts val="100"/>
              </a:spcAft>
              <a:buNone/>
            </a:pPr>
            <a:r>
              <a:rPr lang="en-US" sz="1300" b="1" dirty="0">
                <a:solidFill>
                  <a:srgbClr val="0F766E"/>
                </a:solidFill>
                <a:latin typeface="Cambria" pitchFamily="34" charset="0"/>
                <a:ea typeface="Cambria" pitchFamily="34" charset="-122"/>
                <a:cs typeface="Cambria" pitchFamily="34" charset="-120"/>
              </a:rPr>
              <a:t>vNIOS HA pair in a hub VPC/VNet</a:t>
            </a:r>
            <a:endParaRPr lang="en-US" sz="1150" dirty="0"/>
          </a:p>
          <a:p>
            <a:pPr indent="0" marL="0">
              <a:spcAft>
                <a:spcPts val="100"/>
              </a:spcAft>
              <a:buNone/>
            </a:pPr>
            <a:r>
              <a:rPr lang="en-US" sz="1150" dirty="0">
                <a:solidFill>
                  <a:srgbClr val="334155"/>
                </a:solidFill>
              </a:rPr>
              <a:t>Grid member; serves signed zones, no keys</a:t>
            </a:r>
            <a:endParaRPr lang="en-US" sz="1150" dirty="0"/>
          </a:p>
        </p:txBody>
      </p:sp>
      <p:sp>
        <p:nvSpPr>
          <p:cNvPr id="11" name="A p1 head"/>
          <p:cNvSpPr txBox="1"/>
          <p:nvPr/>
        </p:nvSpPr>
        <p:spPr>
          <a:xfrm>
            <a:off x="548640" y="2377440"/>
            <a:ext cx="7132320" cy="274320"/>
          </a:xfrm>
          <a:prstGeom prst="rect">
            <a:avLst/>
          </a:prstGeom>
          <a:noFill/>
          <a:ln/>
        </p:spPr>
        <p:txBody>
          <a:bodyPr wrap="square" lIns="0" tIns="0" rIns="0" bIns="0" rtlCol="0" anchor="t"/>
          <a:lstStyle/>
          <a:p>
            <a:pPr indent="0" marL="0">
              <a:buNone/>
            </a:pPr>
            <a:r>
              <a:rPr lang="en-US" sz="1200" b="1" dirty="0">
                <a:solidFill>
                  <a:srgbClr val="1F2A44"/>
                </a:solidFill>
              </a:rPr>
              <a:t>PATTERN 1 — POINT THE NETWORK'S DNS AT vNIOS</a:t>
            </a:r>
            <a:endParaRPr lang="en-US" sz="1200" dirty="0"/>
          </a:p>
        </p:txBody>
      </p:sp>
      <p:sp>
        <p:nvSpPr>
          <p:cNvPr id="12" name="A p1 wl" descr="">
            <a:extLst>
              <a:ext uri="{C183D7F6-B498-43B3-948B-1728B52AA6E4}">
                <adec:decorative xmlns:adec="http://schemas.microsoft.com/office/drawing/2017/decorative" val="1"/>
              </a:ext>
            </a:extLst>
          </p:cNvPr>
          <p:cNvSpPr/>
          <p:nvPr/>
        </p:nvSpPr>
        <p:spPr>
          <a:xfrm>
            <a:off x="548640" y="2670048"/>
            <a:ext cx="2103120" cy="868680"/>
          </a:xfrm>
          <a:prstGeom prst="roundRect">
            <a:avLst>
              <a:gd name="adj" fmla="val 8421"/>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3" name="A p1 wl text"/>
          <p:cNvSpPr txBox="1"/>
          <p:nvPr/>
        </p:nvSpPr>
        <p:spPr>
          <a:xfrm>
            <a:off x="640080" y="2734056"/>
            <a:ext cx="1920240" cy="740664"/>
          </a:xfrm>
          <a:prstGeom prst="rect">
            <a:avLst/>
          </a:prstGeom>
          <a:noFill/>
          <a:ln/>
        </p:spPr>
        <p:txBody>
          <a:bodyPr wrap="square" lIns="0" tIns="0" rIns="0" bIns="0" rtlCol="0" anchor="ctr"/>
          <a:lstStyle/>
          <a:p>
            <a:pPr indent="0" marL="0">
              <a:spcAft>
                <a:spcPts val="100"/>
              </a:spcAft>
              <a:buNone/>
            </a:pPr>
            <a:r>
              <a:rPr lang="en-US" sz="1250" b="1" dirty="0">
                <a:solidFill>
                  <a:srgbClr val="1F2A44"/>
                </a:solidFill>
                <a:latin typeface="Cambria" pitchFamily="34" charset="0"/>
                <a:ea typeface="Cambria" pitchFamily="34" charset="-122"/>
                <a:cs typeface="Cambria" pitchFamily="34" charset="-120"/>
              </a:rPr>
              <a:t>Cloud workload</a:t>
            </a:r>
            <a:endParaRPr lang="en-US" sz="1100" dirty="0"/>
          </a:p>
          <a:p>
            <a:pPr indent="0" marL="0">
              <a:spcAft>
                <a:spcPts val="100"/>
              </a:spcAft>
              <a:buNone/>
            </a:pPr>
            <a:r>
              <a:rPr lang="en-US" sz="1100" dirty="0">
                <a:solidFill>
                  <a:srgbClr val="334155"/>
                </a:solidFill>
              </a:rPr>
              <a:t>DHCP option set (AWS) or custom DNS (Azure)</a:t>
            </a:r>
            <a:endParaRPr lang="en-US" sz="1100" dirty="0"/>
          </a:p>
        </p:txBody>
      </p:sp>
      <p:sp>
        <p:nvSpPr>
          <p:cNvPr id="14" name="A p1 v" descr="">
            <a:extLst>
              <a:ext uri="{C183D7F6-B498-43B3-948B-1728B52AA6E4}">
                <adec:decorative xmlns:adec="http://schemas.microsoft.com/office/drawing/2017/decorative" val="1"/>
              </a:ext>
            </a:extLst>
          </p:cNvPr>
          <p:cNvSpPr/>
          <p:nvPr/>
        </p:nvSpPr>
        <p:spPr>
          <a:xfrm>
            <a:off x="3063240" y="2670048"/>
            <a:ext cx="2103120" cy="868680"/>
          </a:xfrm>
          <a:prstGeom prst="roundRect">
            <a:avLst>
              <a:gd name="adj" fmla="val 842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5" name="A p1 v text"/>
          <p:cNvSpPr txBox="1"/>
          <p:nvPr/>
        </p:nvSpPr>
        <p:spPr>
          <a:xfrm>
            <a:off x="3154680" y="2734056"/>
            <a:ext cx="1920240" cy="740664"/>
          </a:xfrm>
          <a:prstGeom prst="rect">
            <a:avLst/>
          </a:prstGeom>
          <a:noFill/>
          <a:ln/>
        </p:spPr>
        <p:txBody>
          <a:bodyPr wrap="square" lIns="0" tIns="0" rIns="0" bIns="0" rtlCol="0" anchor="ctr"/>
          <a:lstStyle/>
          <a:p>
            <a:pPr indent="0" marL="0">
              <a:spcAft>
                <a:spcPts val="100"/>
              </a:spcAft>
              <a:buNone/>
            </a:pPr>
            <a:r>
              <a:rPr lang="en-US" sz="1250" b="1" dirty="0">
                <a:solidFill>
                  <a:srgbClr val="0F766E"/>
                </a:solidFill>
                <a:latin typeface="Cambria" pitchFamily="34" charset="0"/>
                <a:ea typeface="Cambria" pitchFamily="34" charset="-122"/>
                <a:cs typeface="Cambria" pitchFamily="34" charset="-120"/>
              </a:rPr>
              <a:t>vNIOS</a:t>
            </a:r>
            <a:endParaRPr lang="en-US" sz="1100" dirty="0"/>
          </a:p>
          <a:p>
            <a:pPr indent="0" marL="0">
              <a:spcAft>
                <a:spcPts val="100"/>
              </a:spcAft>
              <a:buNone/>
            </a:pPr>
            <a:r>
              <a:rPr lang="en-US" sz="1100" dirty="0">
                <a:solidFill>
                  <a:srgbClr val="334155"/>
                </a:solidFill>
              </a:rPr>
              <a:t>Answers agency zones; applies RPZ</a:t>
            </a:r>
            <a:endParaRPr lang="en-US" sz="1100" dirty="0"/>
          </a:p>
        </p:txBody>
      </p:sp>
      <p:sp>
        <p:nvSpPr>
          <p:cNvPr id="16" name="A p1 back" descr="">
            <a:extLst>
              <a:ext uri="{C183D7F6-B498-43B3-948B-1728B52AA6E4}">
                <adec:decorative xmlns:adec="http://schemas.microsoft.com/office/drawing/2017/decorative" val="1"/>
              </a:ext>
            </a:extLst>
          </p:cNvPr>
          <p:cNvSpPr/>
          <p:nvPr/>
        </p:nvSpPr>
        <p:spPr>
          <a:xfrm>
            <a:off x="5577840" y="2670048"/>
            <a:ext cx="2103120" cy="868680"/>
          </a:xfrm>
          <a:prstGeom prst="roundRect">
            <a:avLst>
              <a:gd name="adj" fmla="val 8421"/>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7" name="A p1 back text"/>
          <p:cNvSpPr txBox="1"/>
          <p:nvPr/>
        </p:nvSpPr>
        <p:spPr>
          <a:xfrm>
            <a:off x="5669280" y="2734056"/>
            <a:ext cx="1920240" cy="740664"/>
          </a:xfrm>
          <a:prstGeom prst="rect">
            <a:avLst/>
          </a:prstGeom>
          <a:noFill/>
          <a:ln/>
        </p:spPr>
        <p:txBody>
          <a:bodyPr wrap="square" lIns="0" tIns="0" rIns="0" bIns="0" rtlCol="0" anchor="ctr"/>
          <a:lstStyle/>
          <a:p>
            <a:pPr indent="0" marL="0">
              <a:spcAft>
                <a:spcPts val="100"/>
              </a:spcAft>
              <a:buNone/>
            </a:pPr>
            <a:r>
              <a:rPr lang="en-US" sz="1250" b="1" dirty="0">
                <a:solidFill>
                  <a:srgbClr val="B45309"/>
                </a:solidFill>
                <a:latin typeface="Cambria" pitchFamily="34" charset="0"/>
                <a:ea typeface="Cambria" pitchFamily="34" charset="-122"/>
                <a:cs typeface="Cambria" pitchFamily="34" charset="-120"/>
              </a:rPr>
              <a:t>Back to the cloud</a:t>
            </a:r>
            <a:endParaRPr lang="en-US" sz="1100" dirty="0"/>
          </a:p>
          <a:p>
            <a:pPr indent="0" marL="0">
              <a:spcAft>
                <a:spcPts val="100"/>
              </a:spcAft>
              <a:buNone/>
            </a:pPr>
            <a:r>
              <a:rPr lang="en-US" sz="1100" dirty="0">
                <a:solidFill>
                  <a:srgbClr val="334155"/>
                </a:solidFill>
              </a:rPr>
              <a:t>Azure 168.63.129.16 or an inbound endpoint</a:t>
            </a:r>
            <a:endParaRPr lang="en-US" sz="1100" dirty="0"/>
          </a:p>
        </p:txBody>
      </p:sp>
      <p:sp>
        <p:nvSpPr>
          <p:cNvPr id="18" name="A p1 a1" descr="">
            <a:extLst>
              <a:ext uri="{C183D7F6-B498-43B3-948B-1728B52AA6E4}">
                <adec:decorative xmlns:adec="http://schemas.microsoft.com/office/drawing/2017/decorative" val="1"/>
              </a:ext>
            </a:extLst>
          </p:cNvPr>
          <p:cNvSpPr/>
          <p:nvPr/>
        </p:nvSpPr>
        <p:spPr>
          <a:xfrm>
            <a:off x="2651760" y="3099816"/>
            <a:ext cx="411480" cy="0"/>
          </a:xfrm>
          <a:prstGeom prst="line">
            <a:avLst/>
          </a:prstGeom>
          <a:noFill/>
          <a:ln w="25400">
            <a:solidFill>
              <a:srgbClr val="64748B"/>
            </a:solidFill>
            <a:prstDash val="solid"/>
            <a:tailEnd type="triangle"/>
          </a:ln>
        </p:spPr>
      </p:sp>
      <p:sp>
        <p:nvSpPr>
          <p:cNvPr id="19" name="A p1 a2" descr="">
            <a:extLst>
              <a:ext uri="{C183D7F6-B498-43B3-948B-1728B52AA6E4}">
                <adec:decorative xmlns:adec="http://schemas.microsoft.com/office/drawing/2017/decorative" val="1"/>
              </a:ext>
            </a:extLst>
          </p:cNvPr>
          <p:cNvSpPr/>
          <p:nvPr/>
        </p:nvSpPr>
        <p:spPr>
          <a:xfrm>
            <a:off x="5166360" y="3099816"/>
            <a:ext cx="411480" cy="0"/>
          </a:xfrm>
          <a:prstGeom prst="line">
            <a:avLst/>
          </a:prstGeom>
          <a:noFill/>
          <a:ln w="25400">
            <a:solidFill>
              <a:srgbClr val="64748B"/>
            </a:solidFill>
            <a:prstDash val="solid"/>
            <a:tailEnd type="triangle"/>
          </a:ln>
        </p:spPr>
      </p:sp>
      <p:sp>
        <p:nvSpPr>
          <p:cNvPr id="20" name="A p2 head"/>
          <p:cNvSpPr txBox="1"/>
          <p:nvPr/>
        </p:nvSpPr>
        <p:spPr>
          <a:xfrm>
            <a:off x="548640" y="3703320"/>
            <a:ext cx="7132320" cy="274320"/>
          </a:xfrm>
          <a:prstGeom prst="rect">
            <a:avLst/>
          </a:prstGeom>
          <a:noFill/>
          <a:ln/>
        </p:spPr>
        <p:txBody>
          <a:bodyPr wrap="square" lIns="0" tIns="0" rIns="0" bIns="0" rtlCol="0" anchor="t"/>
          <a:lstStyle/>
          <a:p>
            <a:pPr indent="0" marL="0">
              <a:buNone/>
            </a:pPr>
            <a:r>
              <a:rPr lang="en-US" sz="1200" b="1" dirty="0">
                <a:solidFill>
                  <a:srgbClr val="1F2A44"/>
                </a:solidFill>
              </a:rPr>
              <a:t>PATTERN 2 — KEEP THE CLOUD RESOLVER; FORWARD BY RULE</a:t>
            </a:r>
            <a:endParaRPr lang="en-US" sz="1200" dirty="0"/>
          </a:p>
        </p:txBody>
      </p:sp>
      <p:sp>
        <p:nvSpPr>
          <p:cNvPr id="21" name="A p2 wl" descr="">
            <a:extLst>
              <a:ext uri="{C183D7F6-B498-43B3-948B-1728B52AA6E4}">
                <adec:decorative xmlns:adec="http://schemas.microsoft.com/office/drawing/2017/decorative" val="1"/>
              </a:ext>
            </a:extLst>
          </p:cNvPr>
          <p:cNvSpPr/>
          <p:nvPr/>
        </p:nvSpPr>
        <p:spPr>
          <a:xfrm>
            <a:off x="548640" y="3995928"/>
            <a:ext cx="2103120" cy="868680"/>
          </a:xfrm>
          <a:prstGeom prst="roundRect">
            <a:avLst>
              <a:gd name="adj" fmla="val 8421"/>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A p2 wl text"/>
          <p:cNvSpPr txBox="1"/>
          <p:nvPr/>
        </p:nvSpPr>
        <p:spPr>
          <a:xfrm>
            <a:off x="640080" y="4059936"/>
            <a:ext cx="1920240" cy="740664"/>
          </a:xfrm>
          <a:prstGeom prst="rect">
            <a:avLst/>
          </a:prstGeom>
          <a:noFill/>
          <a:ln/>
        </p:spPr>
        <p:txBody>
          <a:bodyPr wrap="square" lIns="0" tIns="0" rIns="0" bIns="0" rtlCol="0" anchor="ctr"/>
          <a:lstStyle/>
          <a:p>
            <a:pPr indent="0" marL="0">
              <a:spcAft>
                <a:spcPts val="100"/>
              </a:spcAft>
              <a:buNone/>
            </a:pPr>
            <a:r>
              <a:rPr lang="en-US" sz="1250" b="1" dirty="0">
                <a:solidFill>
                  <a:srgbClr val="1F2A44"/>
                </a:solidFill>
                <a:latin typeface="Cambria" pitchFamily="34" charset="0"/>
                <a:ea typeface="Cambria" pitchFamily="34" charset="-122"/>
                <a:cs typeface="Cambria" pitchFamily="34" charset="-120"/>
              </a:rPr>
              <a:t>Cloud workload</a:t>
            </a:r>
            <a:endParaRPr lang="en-US" sz="1100" dirty="0"/>
          </a:p>
          <a:p>
            <a:pPr indent="0" marL="0">
              <a:spcAft>
                <a:spcPts val="100"/>
              </a:spcAft>
              <a:buNone/>
            </a:pPr>
            <a:r>
              <a:rPr lang="en-US" sz="1100" dirty="0">
                <a:solidFill>
                  <a:srgbClr val="334155"/>
                </a:solidFill>
              </a:rPr>
              <a:t>No client change</a:t>
            </a:r>
            <a:endParaRPr lang="en-US" sz="1100" dirty="0"/>
          </a:p>
        </p:txBody>
      </p:sp>
      <p:sp>
        <p:nvSpPr>
          <p:cNvPr id="23" name="A p2 r" descr="">
            <a:extLst>
              <a:ext uri="{C183D7F6-B498-43B3-948B-1728B52AA6E4}">
                <adec:decorative xmlns:adec="http://schemas.microsoft.com/office/drawing/2017/decorative" val="1"/>
              </a:ext>
            </a:extLst>
          </p:cNvPr>
          <p:cNvSpPr/>
          <p:nvPr/>
        </p:nvSpPr>
        <p:spPr>
          <a:xfrm>
            <a:off x="3063240" y="3995928"/>
            <a:ext cx="2103120" cy="868680"/>
          </a:xfrm>
          <a:prstGeom prst="roundRect">
            <a:avLst>
              <a:gd name="adj" fmla="val 8421"/>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4" name="A p2 r text"/>
          <p:cNvSpPr txBox="1"/>
          <p:nvPr/>
        </p:nvSpPr>
        <p:spPr>
          <a:xfrm>
            <a:off x="3154680" y="4059936"/>
            <a:ext cx="1920240" cy="740664"/>
          </a:xfrm>
          <a:prstGeom prst="rect">
            <a:avLst/>
          </a:prstGeom>
          <a:noFill/>
          <a:ln/>
        </p:spPr>
        <p:txBody>
          <a:bodyPr wrap="square" lIns="0" tIns="0" rIns="0" bIns="0" rtlCol="0" anchor="ctr"/>
          <a:lstStyle/>
          <a:p>
            <a:pPr indent="0" marL="0">
              <a:spcAft>
                <a:spcPts val="100"/>
              </a:spcAft>
              <a:buNone/>
            </a:pPr>
            <a:r>
              <a:rPr lang="en-US" sz="1250" b="1" dirty="0">
                <a:solidFill>
                  <a:srgbClr val="B45309"/>
                </a:solidFill>
                <a:latin typeface="Cambria" pitchFamily="34" charset="0"/>
                <a:ea typeface="Cambria" pitchFamily="34" charset="-122"/>
                <a:cs typeface="Cambria" pitchFamily="34" charset="-120"/>
              </a:rPr>
              <a:t>Native resolver</a:t>
            </a:r>
            <a:endParaRPr lang="en-US" sz="1100" dirty="0"/>
          </a:p>
          <a:p>
            <a:pPr indent="0" marL="0">
              <a:spcAft>
                <a:spcPts val="100"/>
              </a:spcAft>
              <a:buNone/>
            </a:pPr>
            <a:r>
              <a:rPr lang="en-US" sz="1100" dirty="0">
                <a:solidFill>
                  <a:srgbClr val="334155"/>
                </a:solidFill>
              </a:rPr>
              <a:t>Outbound endpoint + one rule per agency domain</a:t>
            </a:r>
            <a:endParaRPr lang="en-US" sz="1100" dirty="0"/>
          </a:p>
        </p:txBody>
      </p:sp>
      <p:sp>
        <p:nvSpPr>
          <p:cNvPr id="25" name="A p2 v" descr="">
            <a:extLst>
              <a:ext uri="{C183D7F6-B498-43B3-948B-1728B52AA6E4}">
                <adec:decorative xmlns:adec="http://schemas.microsoft.com/office/drawing/2017/decorative" val="1"/>
              </a:ext>
            </a:extLst>
          </p:cNvPr>
          <p:cNvSpPr/>
          <p:nvPr/>
        </p:nvSpPr>
        <p:spPr>
          <a:xfrm>
            <a:off x="5577840" y="3995928"/>
            <a:ext cx="2103120" cy="868680"/>
          </a:xfrm>
          <a:prstGeom prst="roundRect">
            <a:avLst>
              <a:gd name="adj" fmla="val 842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6" name="A p2 v text"/>
          <p:cNvSpPr txBox="1"/>
          <p:nvPr/>
        </p:nvSpPr>
        <p:spPr>
          <a:xfrm>
            <a:off x="5669280" y="4059936"/>
            <a:ext cx="1920240" cy="740664"/>
          </a:xfrm>
          <a:prstGeom prst="rect">
            <a:avLst/>
          </a:prstGeom>
          <a:noFill/>
          <a:ln/>
        </p:spPr>
        <p:txBody>
          <a:bodyPr wrap="square" lIns="0" tIns="0" rIns="0" bIns="0" rtlCol="0" anchor="ctr"/>
          <a:lstStyle/>
          <a:p>
            <a:pPr indent="0" marL="0">
              <a:spcAft>
                <a:spcPts val="100"/>
              </a:spcAft>
              <a:buNone/>
            </a:pPr>
            <a:r>
              <a:rPr lang="en-US" sz="1250" b="1" dirty="0">
                <a:solidFill>
                  <a:srgbClr val="0F766E"/>
                </a:solidFill>
                <a:latin typeface="Cambria" pitchFamily="34" charset="0"/>
                <a:ea typeface="Cambria" pitchFamily="34" charset="-122"/>
                <a:cs typeface="Cambria" pitchFamily="34" charset="-120"/>
              </a:rPr>
              <a:t>vNIOS</a:t>
            </a:r>
            <a:endParaRPr lang="en-US" sz="1100" dirty="0"/>
          </a:p>
          <a:p>
            <a:pPr indent="0" marL="0">
              <a:spcAft>
                <a:spcPts val="100"/>
              </a:spcAft>
              <a:buNone/>
            </a:pPr>
            <a:r>
              <a:rPr lang="en-US" sz="1100" dirty="0">
                <a:solidFill>
                  <a:srgbClr val="334155"/>
                </a:solidFill>
              </a:rPr>
              <a:t>Answers the forwarded agency names</a:t>
            </a:r>
            <a:endParaRPr lang="en-US" sz="1100" dirty="0"/>
          </a:p>
        </p:txBody>
      </p:sp>
      <p:sp>
        <p:nvSpPr>
          <p:cNvPr id="27" name="A p2 a1" descr="">
            <a:extLst>
              <a:ext uri="{C183D7F6-B498-43B3-948B-1728B52AA6E4}">
                <adec:decorative xmlns:adec="http://schemas.microsoft.com/office/drawing/2017/decorative" val="1"/>
              </a:ext>
            </a:extLst>
          </p:cNvPr>
          <p:cNvSpPr/>
          <p:nvPr/>
        </p:nvSpPr>
        <p:spPr>
          <a:xfrm>
            <a:off x="2651760" y="4425696"/>
            <a:ext cx="411480" cy="0"/>
          </a:xfrm>
          <a:prstGeom prst="line">
            <a:avLst/>
          </a:prstGeom>
          <a:noFill/>
          <a:ln w="25400">
            <a:solidFill>
              <a:srgbClr val="64748B"/>
            </a:solidFill>
            <a:prstDash val="solid"/>
            <a:tailEnd type="triangle"/>
          </a:ln>
        </p:spPr>
      </p:sp>
      <p:sp>
        <p:nvSpPr>
          <p:cNvPr id="28" name="A p2 a2" descr="">
            <a:extLst>
              <a:ext uri="{C183D7F6-B498-43B3-948B-1728B52AA6E4}">
                <adec:decorative xmlns:adec="http://schemas.microsoft.com/office/drawing/2017/decorative" val="1"/>
              </a:ext>
            </a:extLst>
          </p:cNvPr>
          <p:cNvSpPr/>
          <p:nvPr/>
        </p:nvSpPr>
        <p:spPr>
          <a:xfrm>
            <a:off x="5166360" y="4425696"/>
            <a:ext cx="411480" cy="0"/>
          </a:xfrm>
          <a:prstGeom prst="line">
            <a:avLst/>
          </a:prstGeom>
          <a:noFill/>
          <a:ln w="25400">
            <a:solidFill>
              <a:srgbClr val="64748B"/>
            </a:solidFill>
            <a:prstDash val="solid"/>
            <a:tailEnd type="triangle"/>
          </a:ln>
        </p:spPr>
      </p:sp>
      <p:sp>
        <p:nvSpPr>
          <p:cNvPr id="29" name="A natives"/>
          <p:cNvSpPr txBox="1"/>
          <p:nvPr/>
        </p:nvSpPr>
        <p:spPr>
          <a:xfrm>
            <a:off x="548640" y="4983480"/>
            <a:ext cx="7132320" cy="868680"/>
          </a:xfrm>
          <a:prstGeom prst="rect">
            <a:avLst/>
          </a:prstGeom>
          <a:noFill/>
          <a:ln/>
        </p:spPr>
        <p:txBody>
          <a:bodyPr wrap="square" lIns="0" tIns="0" rIns="0" bIns="0" rtlCol="0" anchor="t"/>
          <a:lstStyle/>
          <a:p>
            <a:pPr indent="0" marL="0">
              <a:buNone/>
            </a:pPr>
            <a:r>
              <a:rPr lang="en-US" sz="1150" b="1" dirty="0">
                <a:solidFill>
                  <a:srgbClr val="B45309"/>
                </a:solidFill>
              </a:rPr>
              <a:t>Native resolver = </a:t>
            </a:r>
            <a:pPr indent="0" marL="0">
              <a:buNone/>
            </a:pPr>
            <a:r>
              <a:rPr lang="en-US" sz="1150" dirty="0">
                <a:solidFill>
                  <a:schemeClr val="tx2"/>
                </a:solidFill>
              </a:rPr>
              <a:t>Route 53 VPC Resolver (rules shareable across accounts) · Azure DNS Private Resolver (ruleset) · Google Cloud DNS forwarding zone (Google's preferred way).</a:t>
            </a:r>
            <a:endParaRPr lang="en-US" sz="1150" dirty="0"/>
          </a:p>
        </p:txBody>
      </p:sp>
      <p:sp>
        <p:nvSpPr>
          <p:cNvPr id="30" name="A know" descr="">
            <a:extLst>
              <a:ext uri="{C183D7F6-B498-43B3-948B-1728B52AA6E4}">
                <adec:decorative xmlns:adec="http://schemas.microsoft.com/office/drawing/2017/decorative" val="1"/>
              </a:ext>
            </a:extLst>
          </p:cNvPr>
          <p:cNvSpPr/>
          <p:nvPr/>
        </p:nvSpPr>
        <p:spPr>
          <a:xfrm>
            <a:off x="7909560" y="1371600"/>
            <a:ext cx="3749040" cy="4526280"/>
          </a:xfrm>
          <a:prstGeom prst="roundRect">
            <a:avLst>
              <a:gd name="adj" fmla="val 1951"/>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31" name="A know head"/>
          <p:cNvSpPr txBox="1"/>
          <p:nvPr/>
        </p:nvSpPr>
        <p:spPr>
          <a:xfrm>
            <a:off x="8092440" y="1481328"/>
            <a:ext cx="3383280" cy="640080"/>
          </a:xfrm>
          <a:prstGeom prst="rect">
            <a:avLst/>
          </a:prstGeom>
          <a:noFill/>
          <a:ln/>
        </p:spPr>
        <p:txBody>
          <a:bodyPr wrap="square" lIns="0" tIns="0" rIns="0" bIns="0" rtlCol="0" anchor="t"/>
          <a:lstStyle/>
          <a:p>
            <a:pPr indent="0" marL="0">
              <a:buNone/>
            </a:pPr>
            <a:r>
              <a:rPr lang="en-US" sz="1100" b="1" dirty="0">
                <a:solidFill>
                  <a:srgbClr val="64748B"/>
                </a:solidFill>
              </a:rPr>
              <a:t>WHAT TO KNOW</a:t>
            </a:r>
            <a:endParaRPr lang="en-US" sz="1400" dirty="0"/>
          </a:p>
        </p:txBody>
      </p:sp>
      <p:sp>
        <p:nvSpPr>
          <p:cNvPr id="32" name="A know list"/>
          <p:cNvSpPr txBox="1"/>
          <p:nvPr/>
        </p:nvSpPr>
        <p:spPr>
          <a:xfrm>
            <a:off x="8092440" y="1810512"/>
            <a:ext cx="3429000" cy="401421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Azure, pattern 1: Azure private zones are not consulted first, so vNIOS must forward Azure names back</a:t>
            </a:r>
            <a:endParaRPr lang="en-US" sz="1400" dirty="0"/>
          </a:p>
          <a:p>
            <a:pPr marL="342900" indent="-342900">
              <a:spcAft>
                <a:spcPts val="300"/>
              </a:spcAft>
              <a:buSzPct val="100000"/>
              <a:buChar char="•"/>
            </a:pPr>
            <a:r>
              <a:rPr lang="en-US" sz="1150" dirty="0">
                <a:solidFill>
                  <a:schemeClr val="tx2"/>
                </a:solidFill>
              </a:rPr>
              <a:t>AWS: to resolve Route 53 private zones for other networks, forward to an inbound endpoint, not the VPC's +2 resolver address</a:t>
            </a:r>
            <a:endParaRPr lang="en-US" sz="1400" dirty="0"/>
          </a:p>
          <a:p>
            <a:pPr marL="342900" indent="-342900">
              <a:spcAft>
                <a:spcPts val="300"/>
              </a:spcAft>
              <a:buSzPct val="100000"/>
              <a:buChar char="•"/>
            </a:pPr>
            <a:r>
              <a:rPr lang="en-US" sz="1150" dirty="0">
                <a:solidFill>
                  <a:schemeClr val="tx2"/>
                </a:solidFill>
              </a:rPr>
              <a:t>Plan an HA pair per region that must survive a WAN cut (inference)</a:t>
            </a:r>
            <a:endParaRPr lang="en-US" sz="1400" dirty="0"/>
          </a:p>
          <a:p>
            <a:pPr marL="342900" indent="-342900">
              <a:spcAft>
                <a:spcPts val="300"/>
              </a:spcAft>
              <a:buSzPct val="100000"/>
              <a:buChar char="•"/>
            </a:pPr>
            <a:r>
              <a:rPr lang="en-US" sz="1150" dirty="0">
                <a:solidFill>
                  <a:schemeClr val="tx2"/>
                </a:solidFill>
              </a:rPr>
              <a:t>vNIOS covers GovCloud discovery and Azure Government; every member is agency-operated, and no FedRAMP authorization covers it</a:t>
            </a:r>
            <a:endParaRPr lang="en-US" sz="1400" dirty="0"/>
          </a:p>
        </p:txBody>
      </p:sp>
      <p:sp>
        <p:nvSpPr>
          <p:cNvPr id="33"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vNIOS for AWS, Azure, GCP (S20, S24–S27); AWS DHCP options, Resolver (S23, S30, S31, S33); Microsoft Learn (S28, S29); Google Cloud DNS (S32); research_platform.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Option B: the Grid joined to Universal DDI</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B portal" descr="">
            <a:extLst>
              <a:ext uri="{C183D7F6-B498-43B3-948B-1728B52AA6E4}">
                <adec:decorative xmlns:adec="http://schemas.microsoft.com/office/drawing/2017/decorative" val="1"/>
              </a:ext>
            </a:extLst>
          </p:cNvPr>
          <p:cNvSpPr/>
          <p:nvPr/>
        </p:nvSpPr>
        <p:spPr>
          <a:xfrm>
            <a:off x="3566160" y="1325880"/>
            <a:ext cx="5074920" cy="713232"/>
          </a:xfrm>
          <a:prstGeom prst="roundRect">
            <a:avLst>
              <a:gd name="adj" fmla="val 1025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B portal text"/>
          <p:cNvSpPr txBox="1"/>
          <p:nvPr/>
        </p:nvSpPr>
        <p:spPr>
          <a:xfrm>
            <a:off x="3657600" y="1389888"/>
            <a:ext cx="4892040" cy="585216"/>
          </a:xfrm>
          <a:prstGeom prst="rect">
            <a:avLst/>
          </a:prstGeom>
          <a:noFill/>
          <a:ln/>
        </p:spPr>
        <p:txBody>
          <a:bodyPr wrap="square" lIns="0" tIns="0" rIns="0" bIns="0" rtlCol="0" anchor="ctr"/>
          <a:lstStyle/>
          <a:p>
            <a:pPr indent="0" marL="0">
              <a:spcAft>
                <a:spcPts val="100"/>
              </a:spcAft>
              <a:buNone/>
            </a:pPr>
            <a:r>
              <a:rPr lang="en-US" sz="1250" b="1" dirty="0">
                <a:solidFill>
                  <a:srgbClr val="1F2A44"/>
                </a:solidFill>
                <a:latin typeface="Cambria" pitchFamily="34" charset="0"/>
                <a:ea typeface="Cambria" pitchFamily="34" charset="-122"/>
                <a:cs typeface="Cambria" pitchFamily="34" charset="-120"/>
              </a:rPr>
              <a:t>Infoblox Portal — Universal DDI (SaaS)</a:t>
            </a:r>
            <a:endParaRPr lang="en-US" sz="1100" dirty="0"/>
          </a:p>
          <a:p>
            <a:pPr indent="0" marL="0">
              <a:spcAft>
                <a:spcPts val="100"/>
              </a:spcAft>
              <a:buNone/>
            </a:pPr>
            <a:r>
              <a:rPr lang="en-US" sz="1100" dirty="0">
                <a:solidFill>
                  <a:srgbClr val="334155"/>
                </a:solidFill>
              </a:rPr>
              <a:t>Join token · Cloud Grid Management · IPAM Federation (NIOS 9.0.4+)</a:t>
            </a:r>
            <a:endParaRPr lang="en-US" sz="1100" dirty="0"/>
          </a:p>
        </p:txBody>
      </p:sp>
      <p:sp>
        <p:nvSpPr>
          <p:cNvPr id="7" name="B grid" descr="">
            <a:extLst>
              <a:ext uri="{C183D7F6-B498-43B3-948B-1728B52AA6E4}">
                <adec:decorative xmlns:adec="http://schemas.microsoft.com/office/drawing/2017/decorative" val="1"/>
              </a:ext>
            </a:extLst>
          </p:cNvPr>
          <p:cNvSpPr/>
          <p:nvPr/>
        </p:nvSpPr>
        <p:spPr>
          <a:xfrm>
            <a:off x="548640" y="2514600"/>
            <a:ext cx="3429000" cy="868680"/>
          </a:xfrm>
          <a:prstGeom prst="roundRect">
            <a:avLst>
              <a:gd name="adj" fmla="val 8421"/>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8" name="B grid text"/>
          <p:cNvSpPr txBox="1"/>
          <p:nvPr/>
        </p:nvSpPr>
        <p:spPr>
          <a:xfrm>
            <a:off x="640080" y="2578608"/>
            <a:ext cx="3246120" cy="740664"/>
          </a:xfrm>
          <a:prstGeom prst="rect">
            <a:avLst/>
          </a:prstGeom>
          <a:noFill/>
          <a:ln/>
        </p:spPr>
        <p:txBody>
          <a:bodyPr wrap="square" lIns="0" tIns="0" rIns="0" bIns="0" rtlCol="0" anchor="ctr"/>
          <a:lstStyle/>
          <a:p>
            <a:pPr indent="0" marL="0">
              <a:spcAft>
                <a:spcPts val="100"/>
              </a:spcAft>
              <a:buNone/>
            </a:pPr>
            <a:r>
              <a:rPr lang="en-US" sz="1250" b="1" dirty="0">
                <a:solidFill>
                  <a:srgbClr val="1F2A44"/>
                </a:solidFill>
                <a:latin typeface="Cambria" pitchFamily="34" charset="0"/>
                <a:ea typeface="Cambria" pitchFamily="34" charset="-122"/>
                <a:cs typeface="Cambria" pitchFamily="34" charset="-120"/>
              </a:rPr>
              <a:t>NIOS Grid (Trinzic)</a:t>
            </a:r>
            <a:endParaRPr lang="en-US" sz="1100" dirty="0"/>
          </a:p>
          <a:p>
            <a:pPr indent="0" marL="0">
              <a:spcAft>
                <a:spcPts val="100"/>
              </a:spcAft>
              <a:buNone/>
            </a:pPr>
            <a:r>
              <a:rPr lang="en-US" sz="1100" dirty="0">
                <a:solidFill>
                  <a:srgbClr val="334155"/>
                </a:solidFill>
              </a:rPr>
              <a:t>Stays primary; still the console for DR and DHCP failover</a:t>
            </a:r>
            <a:endParaRPr lang="en-US" sz="1100" dirty="0"/>
          </a:p>
        </p:txBody>
      </p:sp>
      <p:sp>
        <p:nvSpPr>
          <p:cNvPr id="9" name="B niosx" descr="">
            <a:extLst>
              <a:ext uri="{C183D7F6-B498-43B3-948B-1728B52AA6E4}">
                <adec:decorative xmlns:adec="http://schemas.microsoft.com/office/drawing/2017/decorative" val="1"/>
              </a:ext>
            </a:extLst>
          </p:cNvPr>
          <p:cNvSpPr/>
          <p:nvPr/>
        </p:nvSpPr>
        <p:spPr>
          <a:xfrm>
            <a:off x="4343400" y="2514600"/>
            <a:ext cx="3520440" cy="868680"/>
          </a:xfrm>
          <a:prstGeom prst="roundRect">
            <a:avLst>
              <a:gd name="adj" fmla="val 8421"/>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0" name="B niosx text"/>
          <p:cNvSpPr txBox="1"/>
          <p:nvPr/>
        </p:nvSpPr>
        <p:spPr>
          <a:xfrm>
            <a:off x="4434840" y="2578608"/>
            <a:ext cx="3337560" cy="740664"/>
          </a:xfrm>
          <a:prstGeom prst="rect">
            <a:avLst/>
          </a:prstGeom>
          <a:noFill/>
          <a:ln/>
        </p:spPr>
        <p:txBody>
          <a:bodyPr wrap="square" lIns="0" tIns="0" rIns="0" bIns="0" rtlCol="0" anchor="ctr"/>
          <a:lstStyle/>
          <a:p>
            <a:pPr indent="0" marL="0">
              <a:spcAft>
                <a:spcPts val="100"/>
              </a:spcAft>
              <a:buNone/>
            </a:pPr>
            <a:r>
              <a:rPr lang="en-US" sz="1250" b="1" dirty="0">
                <a:solidFill>
                  <a:srgbClr val="0F766E"/>
                </a:solidFill>
                <a:latin typeface="Cambria" pitchFamily="34" charset="0"/>
                <a:ea typeface="Cambria" pitchFamily="34" charset="-122"/>
                <a:cs typeface="Cambria" pitchFamily="34" charset="-120"/>
              </a:rPr>
              <a:t>NIOS-X servers</a:t>
            </a:r>
            <a:endParaRPr lang="en-US" sz="1100" dirty="0"/>
          </a:p>
          <a:p>
            <a:pPr indent="0" marL="0">
              <a:spcAft>
                <a:spcPts val="100"/>
              </a:spcAft>
              <a:buNone/>
            </a:pPr>
            <a:r>
              <a:rPr lang="en-US" sz="1100" dirty="0">
                <a:solidFill>
                  <a:srgbClr val="334155"/>
                </a:solidFill>
              </a:rPr>
              <a:t>Run cloud forwarders and private zones (not classic Trinzic)</a:t>
            </a:r>
            <a:endParaRPr lang="en-US" sz="1100" dirty="0"/>
          </a:p>
        </p:txBody>
      </p:sp>
      <p:sp>
        <p:nvSpPr>
          <p:cNvPr id="11" name="B cloud" descr="">
            <a:extLst>
              <a:ext uri="{C183D7F6-B498-43B3-948B-1728B52AA6E4}">
                <adec:decorative xmlns:adec="http://schemas.microsoft.com/office/drawing/2017/decorative" val="1"/>
              </a:ext>
            </a:extLst>
          </p:cNvPr>
          <p:cNvSpPr/>
          <p:nvPr/>
        </p:nvSpPr>
        <p:spPr>
          <a:xfrm>
            <a:off x="8229600" y="2514600"/>
            <a:ext cx="3429000" cy="868680"/>
          </a:xfrm>
          <a:prstGeom prst="roundRect">
            <a:avLst>
              <a:gd name="adj" fmla="val 8421"/>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B cloud text"/>
          <p:cNvSpPr txBox="1"/>
          <p:nvPr/>
        </p:nvSpPr>
        <p:spPr>
          <a:xfrm>
            <a:off x="8321040" y="2578608"/>
            <a:ext cx="3246120" cy="740664"/>
          </a:xfrm>
          <a:prstGeom prst="rect">
            <a:avLst/>
          </a:prstGeom>
          <a:noFill/>
          <a:ln/>
        </p:spPr>
        <p:txBody>
          <a:bodyPr wrap="square" lIns="0" tIns="0" rIns="0" bIns="0" rtlCol="0" anchor="ctr"/>
          <a:lstStyle/>
          <a:p>
            <a:pPr indent="0" marL="0">
              <a:spcAft>
                <a:spcPts val="100"/>
              </a:spcAft>
              <a:buNone/>
            </a:pPr>
            <a:r>
              <a:rPr lang="en-US" sz="1250" b="1" dirty="0">
                <a:solidFill>
                  <a:srgbClr val="B45309"/>
                </a:solidFill>
                <a:latin typeface="Cambria" pitchFamily="34" charset="0"/>
                <a:ea typeface="Cambria" pitchFamily="34" charset="-122"/>
                <a:cs typeface="Cambria" pitchFamily="34" charset="-120"/>
              </a:rPr>
              <a:t>Route 53 · Azure DNS · Cloud DNS</a:t>
            </a:r>
            <a:endParaRPr lang="en-US" sz="1100" dirty="0"/>
          </a:p>
          <a:p>
            <a:pPr indent="0" marL="0">
              <a:spcAft>
                <a:spcPts val="100"/>
              </a:spcAft>
              <a:buNone/>
            </a:pPr>
            <a:r>
              <a:rPr lang="en-US" sz="1100" dirty="0">
                <a:solidFill>
                  <a:srgbClr val="334155"/>
                </a:solidFill>
              </a:rPr>
              <a:t>Read-write sync; resolver endpoints and rules discovered</a:t>
            </a:r>
            <a:endParaRPr lang="en-US" sz="1100" dirty="0"/>
          </a:p>
        </p:txBody>
      </p:sp>
      <p:sp>
        <p:nvSpPr>
          <p:cNvPr id="13" name="B a1" descr="">
            <a:extLst>
              <a:ext uri="{C183D7F6-B498-43B3-948B-1728B52AA6E4}">
                <adec:decorative xmlns:adec="http://schemas.microsoft.com/office/drawing/2017/decorative" val="1"/>
              </a:ext>
            </a:extLst>
          </p:cNvPr>
          <p:cNvSpPr/>
          <p:nvPr/>
        </p:nvSpPr>
        <p:spPr>
          <a:xfrm flipH="1">
            <a:off x="2267712" y="2039112"/>
            <a:ext cx="2578608" cy="475488"/>
          </a:xfrm>
          <a:prstGeom prst="line">
            <a:avLst/>
          </a:prstGeom>
          <a:noFill/>
          <a:ln w="25400">
            <a:solidFill>
              <a:srgbClr val="64748B"/>
            </a:solidFill>
            <a:prstDash val="solid"/>
            <a:headEnd type="triangle"/>
            <a:tailEnd type="triangle"/>
          </a:ln>
        </p:spPr>
      </p:sp>
      <p:sp>
        <p:nvSpPr>
          <p:cNvPr id="14" name="B a2" descr="">
            <a:extLst>
              <a:ext uri="{C183D7F6-B498-43B3-948B-1728B52AA6E4}">
                <adec:decorative xmlns:adec="http://schemas.microsoft.com/office/drawing/2017/decorative" val="1"/>
              </a:ext>
            </a:extLst>
          </p:cNvPr>
          <p:cNvSpPr/>
          <p:nvPr/>
        </p:nvSpPr>
        <p:spPr>
          <a:xfrm>
            <a:off x="6099048" y="2039112"/>
            <a:ext cx="0" cy="475488"/>
          </a:xfrm>
          <a:prstGeom prst="line">
            <a:avLst/>
          </a:prstGeom>
          <a:noFill/>
          <a:ln w="25400">
            <a:solidFill>
              <a:srgbClr val="64748B"/>
            </a:solidFill>
            <a:prstDash val="solid"/>
            <a:headEnd type="triangle"/>
            <a:tailEnd type="triangle"/>
          </a:ln>
        </p:spPr>
      </p:sp>
      <p:sp>
        <p:nvSpPr>
          <p:cNvPr id="15" name="B a3" descr="">
            <a:extLst>
              <a:ext uri="{C183D7F6-B498-43B3-948B-1728B52AA6E4}">
                <adec:decorative xmlns:adec="http://schemas.microsoft.com/office/drawing/2017/decorative" val="1"/>
              </a:ext>
            </a:extLst>
          </p:cNvPr>
          <p:cNvSpPr/>
          <p:nvPr/>
        </p:nvSpPr>
        <p:spPr>
          <a:xfrm>
            <a:off x="7360920" y="2039112"/>
            <a:ext cx="2587752" cy="475488"/>
          </a:xfrm>
          <a:prstGeom prst="line">
            <a:avLst/>
          </a:prstGeom>
          <a:noFill/>
          <a:ln w="25400">
            <a:solidFill>
              <a:srgbClr val="64748B"/>
            </a:solidFill>
            <a:prstDash val="solid"/>
            <a:headEnd type="triangle"/>
            <a:tailEnd type="triangle"/>
          </a:ln>
        </p:spPr>
      </p:sp>
      <p:sp>
        <p:nvSpPr>
          <p:cNvPr id="16" name="B limits" descr="">
            <a:extLst>
              <a:ext uri="{C183D7F6-B498-43B3-948B-1728B52AA6E4}">
                <adec:decorative xmlns:adec="http://schemas.microsoft.com/office/drawing/2017/decorative" val="1"/>
              </a:ext>
            </a:extLst>
          </p:cNvPr>
          <p:cNvSpPr/>
          <p:nvPr/>
        </p:nvSpPr>
        <p:spPr>
          <a:xfrm>
            <a:off x="548640" y="3584448"/>
            <a:ext cx="5486400" cy="2331720"/>
          </a:xfrm>
          <a:prstGeom prst="roundRect">
            <a:avLst>
              <a:gd name="adj" fmla="val 313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7" name="B limits head"/>
          <p:cNvSpPr txBox="1"/>
          <p:nvPr/>
        </p:nvSpPr>
        <p:spPr>
          <a:xfrm>
            <a:off x="731520" y="3694176"/>
            <a:ext cx="5120640" cy="640080"/>
          </a:xfrm>
          <a:prstGeom prst="rect">
            <a:avLst/>
          </a:prstGeom>
          <a:noFill/>
          <a:ln/>
        </p:spPr>
        <p:txBody>
          <a:bodyPr wrap="square" lIns="0" tIns="0" rIns="0" bIns="0" rtlCol="0" anchor="t"/>
          <a:lstStyle/>
          <a:p>
            <a:pPr indent="0" marL="0">
              <a:buNone/>
            </a:pPr>
            <a:r>
              <a:rPr lang="en-US" sz="1100" b="1" dirty="0">
                <a:solidFill>
                  <a:srgbClr val="64748B"/>
                </a:solidFill>
              </a:rPr>
              <a:t>DOCUMENTED LIMITS</a:t>
            </a:r>
            <a:endParaRPr lang="en-US" sz="1400" dirty="0"/>
          </a:p>
        </p:txBody>
      </p:sp>
      <p:sp>
        <p:nvSpPr>
          <p:cNvPr id="18" name="B limits list"/>
          <p:cNvSpPr txBox="1"/>
          <p:nvPr/>
        </p:nvSpPr>
        <p:spPr>
          <a:xfrm>
            <a:off x="731520" y="4023360"/>
            <a:ext cx="5166360" cy="1819656"/>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Route 53: no non-simple routing policies; apex aliases unsupported; NS read-only</a:t>
            </a:r>
            <a:endParaRPr lang="en-US" sz="1400" dirty="0"/>
          </a:p>
          <a:p>
            <a:pPr marL="342900" indent="-342900">
              <a:spcAft>
                <a:spcPts val="300"/>
              </a:spcAft>
              <a:buSzPct val="100000"/>
              <a:buChar char="•"/>
            </a:pPr>
            <a:r>
              <a:rPr lang="en-US" sz="1150" dirty="0">
                <a:solidFill>
                  <a:schemeClr val="tx2"/>
                </a:solidFill>
              </a:rPr>
              <a:t>Azure and Google private zones can't be created; DNSSEC records not synced</a:t>
            </a:r>
            <a:endParaRPr lang="en-US" sz="1400" dirty="0"/>
          </a:p>
          <a:p>
            <a:pPr marL="342900" indent="-342900">
              <a:spcAft>
                <a:spcPts val="300"/>
              </a:spcAft>
              <a:buSzPct val="100000"/>
              <a:buChar char="•"/>
            </a:pPr>
            <a:r>
              <a:rPr lang="en-US" sz="1150" dirty="0">
                <a:solidFill>
                  <a:schemeClr val="tx2"/>
                </a:solidFill>
              </a:rPr>
              <a:t>Outbound cloud forwarders: AWS↔Azure only</a:t>
            </a:r>
            <a:endParaRPr lang="en-US" sz="1400" dirty="0"/>
          </a:p>
          <a:p>
            <a:pPr marL="342900" indent="-342900">
              <a:spcAft>
                <a:spcPts val="300"/>
              </a:spcAft>
              <a:buSzPct val="100000"/>
              <a:buChar char="•"/>
            </a:pPr>
            <a:r>
              <a:rPr lang="en-US" sz="1150" dirty="0">
                <a:solidFill>
                  <a:schemeClr val="tx2"/>
                </a:solidFill>
              </a:rPr>
              <a:t>Portal can't promote a Grid Master Candidate or manage NIOS DHCP failover</a:t>
            </a:r>
            <a:endParaRPr lang="en-US" sz="1400" dirty="0"/>
          </a:p>
          <a:p>
            <a:pPr marL="342900" indent="-342900">
              <a:spcAft>
                <a:spcPts val="300"/>
              </a:spcAft>
              <a:buSzPct val="100000"/>
              <a:buChar char="•"/>
            </a:pPr>
            <a:r>
              <a:rPr lang="en-US" sz="1150" dirty="0">
                <a:solidFill>
                  <a:schemeClr val="tx2"/>
                </a:solidFill>
              </a:rPr>
              <a:t>AWS VPC IPAM authority: Advanced Tier, private scopes only</a:t>
            </a:r>
            <a:endParaRPr lang="en-US" sz="1400" dirty="0"/>
          </a:p>
        </p:txBody>
      </p:sp>
      <p:sp>
        <p:nvSpPr>
          <p:cNvPr id="19" name="B gov" descr="">
            <a:extLst>
              <a:ext uri="{C183D7F6-B498-43B3-948B-1728B52AA6E4}">
                <adec:decorative xmlns:adec="http://schemas.microsoft.com/office/drawing/2017/decorative" val="1"/>
              </a:ext>
            </a:extLst>
          </p:cNvPr>
          <p:cNvSpPr/>
          <p:nvPr/>
        </p:nvSpPr>
        <p:spPr>
          <a:xfrm>
            <a:off x="6172200" y="3584448"/>
            <a:ext cx="5486400" cy="2331720"/>
          </a:xfrm>
          <a:prstGeom prst="roundRect">
            <a:avLst>
              <a:gd name="adj" fmla="val 313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0" name="B gov head"/>
          <p:cNvSpPr txBox="1"/>
          <p:nvPr/>
        </p:nvSpPr>
        <p:spPr>
          <a:xfrm>
            <a:off x="6355080" y="3694176"/>
            <a:ext cx="5120640" cy="640080"/>
          </a:xfrm>
          <a:prstGeom prst="rect">
            <a:avLst/>
          </a:prstGeom>
          <a:noFill/>
          <a:ln/>
        </p:spPr>
        <p:txBody>
          <a:bodyPr wrap="square" lIns="0" tIns="0" rIns="0" bIns="0" rtlCol="0" anchor="t"/>
          <a:lstStyle/>
          <a:p>
            <a:pPr indent="0" marL="0">
              <a:buNone/>
            </a:pPr>
            <a:r>
              <a:rPr lang="en-US" sz="1100" b="1" dirty="0">
                <a:solidFill>
                  <a:srgbClr val="64748B"/>
                </a:solidFill>
              </a:rPr>
              <a:t>THE GOVERNMENT EDITION</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Infoblox Government Cloud</a:t>
            </a:r>
            <a:endParaRPr lang="en-US" sz="1400" dirty="0"/>
          </a:p>
        </p:txBody>
      </p:sp>
      <p:sp>
        <p:nvSpPr>
          <p:cNvPr id="21" name="B gov list"/>
          <p:cNvSpPr txBox="1"/>
          <p:nvPr/>
        </p:nvSpPr>
        <p:spPr>
          <a:xfrm>
            <a:off x="6355080" y="4334256"/>
            <a:ext cx="5166360" cy="150876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FedRAMP Certified, Moderate, Agency path; hosted in AWS GovCloud (US)</a:t>
            </a:r>
            <a:endParaRPr lang="en-US" sz="1400" dirty="0"/>
          </a:p>
          <a:p>
            <a:pPr marL="342900" indent="-342900">
              <a:spcAft>
                <a:spcPts val="300"/>
              </a:spcAft>
              <a:buSzPct val="100000"/>
              <a:buChar char="•"/>
            </a:pPr>
            <a:r>
              <a:rPr lang="en-US" sz="1150" dirty="0">
                <a:solidFill>
                  <a:schemeClr val="tx2"/>
                </a:solidFill>
              </a:rPr>
              <a:t>Discovery limits: single AWS accounts, no Azure tenants, static GCP credentials</a:t>
            </a:r>
            <a:endParaRPr lang="en-US" sz="1400" dirty="0"/>
          </a:p>
          <a:p>
            <a:pPr marL="342900" indent="-342900">
              <a:spcAft>
                <a:spcPts val="300"/>
              </a:spcAft>
              <a:buSzPct val="100000"/>
              <a:buChar char="•"/>
            </a:pPr>
            <a:r>
              <a:rPr lang="en-US" sz="1150" dirty="0">
                <a:solidFill>
                  <a:schemeClr val="tx2"/>
                </a:solidFill>
              </a:rPr>
              <a:t>VPC IPAM–Infoblox: not in its release notes; AWS excludes GovCloud</a:t>
            </a:r>
            <a:endParaRPr lang="en-US" sz="1400" dirty="0"/>
          </a:p>
          <a:p>
            <a:pPr marL="342900" indent="-342900">
              <a:spcAft>
                <a:spcPts val="300"/>
              </a:spcAft>
              <a:buSzPct val="100000"/>
              <a:buChar char="•"/>
            </a:pPr>
            <a:r>
              <a:rPr lang="en-US" sz="1150" dirty="0">
                <a:solidFill>
                  <a:schemeClr val="tx2"/>
                </a:solidFill>
              </a:rPr>
              <a:t>Write sync and forwarders against GovCloud or Azure Government: confirm</a:t>
            </a:r>
            <a:endParaRPr lang="en-US" sz="1400" dirty="0"/>
          </a:p>
        </p:txBody>
      </p:sp>
      <p:sp>
        <p:nvSpPr>
          <p:cNvPr id="22"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Universal DDI onboarding, hybrid, limits, Route 53/Azure/GCP, cloud forwarders (S35–S48, S56); AWS VPC IPAM + Infoblox (S38, S39); FedRAMP notes (S50–S55); products.json.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Option C: Trinzic alongside native cloud DNS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 grid" descr="">
            <a:extLst>
              <a:ext uri="{C183D7F6-B498-43B3-948B-1728B52AA6E4}">
                <adec:decorative xmlns:adec="http://schemas.microsoft.com/office/drawing/2017/decorative" val="1"/>
              </a:ext>
            </a:extLst>
          </p:cNvPr>
          <p:cNvSpPr/>
          <p:nvPr/>
        </p:nvSpPr>
        <p:spPr>
          <a:xfrm>
            <a:off x="548640" y="1600200"/>
            <a:ext cx="2514600" cy="3017520"/>
          </a:xfrm>
          <a:prstGeom prst="roundRect">
            <a:avLst>
              <a:gd name="adj" fmla="val 290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C grid text"/>
          <p:cNvSpPr txBox="1"/>
          <p:nvPr/>
        </p:nvSpPr>
        <p:spPr>
          <a:xfrm>
            <a:off x="640080" y="1664208"/>
            <a:ext cx="2331720" cy="2889504"/>
          </a:xfrm>
          <a:prstGeom prst="rect">
            <a:avLst/>
          </a:prstGeom>
          <a:noFill/>
          <a:ln/>
        </p:spPr>
        <p:txBody>
          <a:bodyPr wrap="square" lIns="0" tIns="0" rIns="0" bIns="0" rtlCol="0" anchor="ctr"/>
          <a:lstStyle/>
          <a:p>
            <a:pPr indent="0" marL="0">
              <a:spcAft>
                <a:spcPts val="100"/>
              </a:spcAft>
              <a:buNone/>
            </a:pPr>
            <a:r>
              <a:rPr lang="en-US" sz="1350" b="1" dirty="0">
                <a:solidFill>
                  <a:srgbClr val="1F2A44"/>
                </a:solidFill>
                <a:latin typeface="Cambria" pitchFamily="34" charset="0"/>
                <a:ea typeface="Cambria" pitchFamily="34" charset="-122"/>
                <a:cs typeface="Cambria" pitchFamily="34" charset="-120"/>
              </a:rPr>
              <a:t>On-prem NIOS Grid</a:t>
            </a:r>
            <a:endParaRPr lang="en-US" sz="1200" dirty="0"/>
          </a:p>
          <a:p>
            <a:pPr indent="0" marL="0">
              <a:spcAft>
                <a:spcPts val="100"/>
              </a:spcAft>
              <a:buNone/>
            </a:pPr>
            <a:r>
              <a:rPr lang="en-US" sz="1200" dirty="0">
                <a:solidFill>
                  <a:srgbClr val="334155"/>
                </a:solidFill>
              </a:rPr>
              <a:t>Authoritative for agency zones. Forwards each cloud's names to that cloud.</a:t>
            </a:r>
            <a:endParaRPr lang="en-US" sz="1200" dirty="0"/>
          </a:p>
        </p:txBody>
      </p:sp>
      <p:sp>
        <p:nvSpPr>
          <p:cNvPr id="7" name="C AWS" descr="">
            <a:extLst>
              <a:ext uri="{C183D7F6-B498-43B3-948B-1728B52AA6E4}">
                <adec:decorative xmlns:adec="http://schemas.microsoft.com/office/drawing/2017/decorative" val="1"/>
              </a:ext>
            </a:extLst>
          </p:cNvPr>
          <p:cNvSpPr/>
          <p:nvPr/>
        </p:nvSpPr>
        <p:spPr>
          <a:xfrm>
            <a:off x="4572000" y="1371600"/>
            <a:ext cx="3520440" cy="1005840"/>
          </a:xfrm>
          <a:prstGeom prst="roundRect">
            <a:avLst>
              <a:gd name="adj" fmla="val 727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8" name="C AWS text"/>
          <p:cNvSpPr txBox="1"/>
          <p:nvPr/>
        </p:nvSpPr>
        <p:spPr>
          <a:xfrm>
            <a:off x="4663440" y="1435608"/>
            <a:ext cx="3337560" cy="877824"/>
          </a:xfrm>
          <a:prstGeom prst="rect">
            <a:avLst/>
          </a:prstGeom>
          <a:noFill/>
          <a:ln/>
        </p:spPr>
        <p:txBody>
          <a:bodyPr wrap="square" lIns="0" tIns="0" rIns="0" bIns="0" rtlCol="0" anchor="ctr"/>
          <a:lstStyle/>
          <a:p>
            <a:pPr indent="0" marL="0">
              <a:spcAft>
                <a:spcPts val="100"/>
              </a:spcAft>
              <a:buNone/>
            </a:pPr>
            <a:r>
              <a:rPr lang="en-US" sz="1250" b="1" dirty="0">
                <a:solidFill>
                  <a:srgbClr val="B45309"/>
                </a:solidFill>
                <a:latin typeface="Cambria" pitchFamily="34" charset="0"/>
                <a:ea typeface="Cambria" pitchFamily="34" charset="-122"/>
                <a:cs typeface="Cambria" pitchFamily="34" charset="-120"/>
              </a:rPr>
              <a:t>AWS</a:t>
            </a:r>
            <a:endParaRPr lang="en-US" sz="1100" dirty="0"/>
          </a:p>
          <a:p>
            <a:pPr indent="0" marL="0">
              <a:spcAft>
                <a:spcPts val="100"/>
              </a:spcAft>
              <a:buNone/>
            </a:pPr>
            <a:r>
              <a:rPr lang="en-US" sz="1100" dirty="0">
                <a:solidFill>
                  <a:srgbClr val="334155"/>
                </a:solidFill>
              </a:rPr>
              <a:t>Route 53 private hosted zones. In: inbound endpoint. Out: outbound endpoint + rules.</a:t>
            </a:r>
            <a:endParaRPr lang="en-US" sz="1100" dirty="0"/>
          </a:p>
        </p:txBody>
      </p:sp>
      <p:sp>
        <p:nvSpPr>
          <p:cNvPr id="9" name="C in 1" descr="">
            <a:extLst>
              <a:ext uri="{C183D7F6-B498-43B3-948B-1728B52AA6E4}">
                <adec:decorative xmlns:adec="http://schemas.microsoft.com/office/drawing/2017/decorative" val="1"/>
              </a:ext>
            </a:extLst>
          </p:cNvPr>
          <p:cNvSpPr/>
          <p:nvPr/>
        </p:nvSpPr>
        <p:spPr>
          <a:xfrm>
            <a:off x="3063240" y="1737360"/>
            <a:ext cx="1508760" cy="0"/>
          </a:xfrm>
          <a:prstGeom prst="line">
            <a:avLst/>
          </a:prstGeom>
          <a:noFill/>
          <a:ln w="25400">
            <a:solidFill>
              <a:srgbClr val="1F2A44"/>
            </a:solidFill>
            <a:prstDash val="solid"/>
            <a:tailEnd type="triangle"/>
          </a:ln>
        </p:spPr>
      </p:sp>
      <p:sp>
        <p:nvSpPr>
          <p:cNvPr id="10" name="C out 1" descr="">
            <a:extLst>
              <a:ext uri="{C183D7F6-B498-43B3-948B-1728B52AA6E4}">
                <adec:decorative xmlns:adec="http://schemas.microsoft.com/office/drawing/2017/decorative" val="1"/>
              </a:ext>
            </a:extLst>
          </p:cNvPr>
          <p:cNvSpPr/>
          <p:nvPr/>
        </p:nvSpPr>
        <p:spPr>
          <a:xfrm flipH="1">
            <a:off x="3063240" y="2011680"/>
            <a:ext cx="1508760" cy="0"/>
          </a:xfrm>
          <a:prstGeom prst="line">
            <a:avLst/>
          </a:prstGeom>
          <a:noFill/>
          <a:ln w="25400">
            <a:solidFill>
              <a:srgbClr val="0F766E"/>
            </a:solidFill>
            <a:prstDash val="solid"/>
            <a:tailEnd type="triangle"/>
          </a:ln>
        </p:spPr>
      </p:sp>
      <p:sp>
        <p:nvSpPr>
          <p:cNvPr id="11" name="C Azure" descr="">
            <a:extLst>
              <a:ext uri="{C183D7F6-B498-43B3-948B-1728B52AA6E4}">
                <adec:decorative xmlns:adec="http://schemas.microsoft.com/office/drawing/2017/decorative" val="1"/>
              </a:ext>
            </a:extLst>
          </p:cNvPr>
          <p:cNvSpPr/>
          <p:nvPr/>
        </p:nvSpPr>
        <p:spPr>
          <a:xfrm>
            <a:off x="4572000" y="2606040"/>
            <a:ext cx="3520440" cy="1005840"/>
          </a:xfrm>
          <a:prstGeom prst="roundRect">
            <a:avLst>
              <a:gd name="adj" fmla="val 727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C Azure text"/>
          <p:cNvSpPr txBox="1"/>
          <p:nvPr/>
        </p:nvSpPr>
        <p:spPr>
          <a:xfrm>
            <a:off x="4663440" y="2670048"/>
            <a:ext cx="3337560" cy="877824"/>
          </a:xfrm>
          <a:prstGeom prst="rect">
            <a:avLst/>
          </a:prstGeom>
          <a:noFill/>
          <a:ln/>
        </p:spPr>
        <p:txBody>
          <a:bodyPr wrap="square" lIns="0" tIns="0" rIns="0" bIns="0" rtlCol="0" anchor="ctr"/>
          <a:lstStyle/>
          <a:p>
            <a:pPr indent="0" marL="0">
              <a:spcAft>
                <a:spcPts val="100"/>
              </a:spcAft>
              <a:buNone/>
            </a:pPr>
            <a:r>
              <a:rPr lang="en-US" sz="1250" b="1" dirty="0">
                <a:solidFill>
                  <a:srgbClr val="B45309"/>
                </a:solidFill>
                <a:latin typeface="Cambria" pitchFamily="34" charset="0"/>
                <a:ea typeface="Cambria" pitchFamily="34" charset="-122"/>
                <a:cs typeface="Cambria" pitchFamily="34" charset="-120"/>
              </a:rPr>
              <a:t>Azure</a:t>
            </a:r>
            <a:endParaRPr lang="en-US" sz="1100" dirty="0"/>
          </a:p>
          <a:p>
            <a:pPr indent="0" marL="0">
              <a:spcAft>
                <a:spcPts val="100"/>
              </a:spcAft>
              <a:buNone/>
            </a:pPr>
            <a:r>
              <a:rPr lang="en-US" sz="1100" dirty="0">
                <a:solidFill>
                  <a:srgbClr val="334155"/>
                </a:solidFill>
              </a:rPr>
              <a:t>Private DNS zones. In: Private Resolver inbound endpoint. Out: outbound endpoint + ruleset.</a:t>
            </a:r>
            <a:endParaRPr lang="en-US" sz="1100" dirty="0"/>
          </a:p>
        </p:txBody>
      </p:sp>
      <p:sp>
        <p:nvSpPr>
          <p:cNvPr id="13" name="C in 2" descr="">
            <a:extLst>
              <a:ext uri="{C183D7F6-B498-43B3-948B-1728B52AA6E4}">
                <adec:decorative xmlns:adec="http://schemas.microsoft.com/office/drawing/2017/decorative" val="1"/>
              </a:ext>
            </a:extLst>
          </p:cNvPr>
          <p:cNvSpPr/>
          <p:nvPr/>
        </p:nvSpPr>
        <p:spPr>
          <a:xfrm>
            <a:off x="3063240" y="2971800"/>
            <a:ext cx="1508760" cy="0"/>
          </a:xfrm>
          <a:prstGeom prst="line">
            <a:avLst/>
          </a:prstGeom>
          <a:noFill/>
          <a:ln w="25400">
            <a:solidFill>
              <a:srgbClr val="1F2A44"/>
            </a:solidFill>
            <a:prstDash val="solid"/>
            <a:tailEnd type="triangle"/>
          </a:ln>
        </p:spPr>
      </p:sp>
      <p:sp>
        <p:nvSpPr>
          <p:cNvPr id="14" name="C out 2" descr="">
            <a:extLst>
              <a:ext uri="{C183D7F6-B498-43B3-948B-1728B52AA6E4}">
                <adec:decorative xmlns:adec="http://schemas.microsoft.com/office/drawing/2017/decorative" val="1"/>
              </a:ext>
            </a:extLst>
          </p:cNvPr>
          <p:cNvSpPr/>
          <p:nvPr/>
        </p:nvSpPr>
        <p:spPr>
          <a:xfrm flipH="1">
            <a:off x="3063240" y="3246120"/>
            <a:ext cx="1508760" cy="0"/>
          </a:xfrm>
          <a:prstGeom prst="line">
            <a:avLst/>
          </a:prstGeom>
          <a:noFill/>
          <a:ln w="25400">
            <a:solidFill>
              <a:srgbClr val="0F766E"/>
            </a:solidFill>
            <a:prstDash val="solid"/>
            <a:tailEnd type="triangle"/>
          </a:ln>
        </p:spPr>
      </p:sp>
      <p:sp>
        <p:nvSpPr>
          <p:cNvPr id="15" name="C Google Cloud" descr="">
            <a:extLst>
              <a:ext uri="{C183D7F6-B498-43B3-948B-1728B52AA6E4}">
                <adec:decorative xmlns:adec="http://schemas.microsoft.com/office/drawing/2017/decorative" val="1"/>
              </a:ext>
            </a:extLst>
          </p:cNvPr>
          <p:cNvSpPr/>
          <p:nvPr/>
        </p:nvSpPr>
        <p:spPr>
          <a:xfrm>
            <a:off x="4572000" y="3840480"/>
            <a:ext cx="3520440" cy="1005840"/>
          </a:xfrm>
          <a:prstGeom prst="roundRect">
            <a:avLst>
              <a:gd name="adj" fmla="val 7273"/>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C Google Cloud text"/>
          <p:cNvSpPr txBox="1"/>
          <p:nvPr/>
        </p:nvSpPr>
        <p:spPr>
          <a:xfrm>
            <a:off x="4663440" y="3904488"/>
            <a:ext cx="3337560" cy="877824"/>
          </a:xfrm>
          <a:prstGeom prst="rect">
            <a:avLst/>
          </a:prstGeom>
          <a:noFill/>
          <a:ln/>
        </p:spPr>
        <p:txBody>
          <a:bodyPr wrap="square" lIns="0" tIns="0" rIns="0" bIns="0" rtlCol="0" anchor="ctr"/>
          <a:lstStyle/>
          <a:p>
            <a:pPr indent="0" marL="0">
              <a:spcAft>
                <a:spcPts val="100"/>
              </a:spcAft>
              <a:buNone/>
            </a:pPr>
            <a:r>
              <a:rPr lang="en-US" sz="1250" b="1" dirty="0">
                <a:solidFill>
                  <a:srgbClr val="B45309"/>
                </a:solidFill>
                <a:latin typeface="Cambria" pitchFamily="34" charset="0"/>
                <a:ea typeface="Cambria" pitchFamily="34" charset="-122"/>
                <a:cs typeface="Cambria" pitchFamily="34" charset="-120"/>
              </a:rPr>
              <a:t>Google Cloud</a:t>
            </a:r>
            <a:endParaRPr lang="en-US" sz="1100" dirty="0"/>
          </a:p>
          <a:p>
            <a:pPr indent="0" marL="0">
              <a:spcAft>
                <a:spcPts val="100"/>
              </a:spcAft>
              <a:buNone/>
            </a:pPr>
            <a:r>
              <a:rPr lang="en-US" sz="1100" dirty="0">
                <a:solidFill>
                  <a:srgbClr val="334155"/>
                </a:solidFill>
              </a:rPr>
              <a:t>Private zones. In: inbound server policy. Out: forwarding zone.</a:t>
            </a:r>
            <a:endParaRPr lang="en-US" sz="1100" dirty="0"/>
          </a:p>
        </p:txBody>
      </p:sp>
      <p:sp>
        <p:nvSpPr>
          <p:cNvPr id="17" name="C in 3" descr="">
            <a:extLst>
              <a:ext uri="{C183D7F6-B498-43B3-948B-1728B52AA6E4}">
                <adec:decorative xmlns:adec="http://schemas.microsoft.com/office/drawing/2017/decorative" val="1"/>
              </a:ext>
            </a:extLst>
          </p:cNvPr>
          <p:cNvSpPr/>
          <p:nvPr/>
        </p:nvSpPr>
        <p:spPr>
          <a:xfrm>
            <a:off x="3063240" y="4206240"/>
            <a:ext cx="1508760" cy="0"/>
          </a:xfrm>
          <a:prstGeom prst="line">
            <a:avLst/>
          </a:prstGeom>
          <a:noFill/>
          <a:ln w="25400">
            <a:solidFill>
              <a:srgbClr val="1F2A44"/>
            </a:solidFill>
            <a:prstDash val="solid"/>
            <a:tailEnd type="triangle"/>
          </a:ln>
        </p:spPr>
      </p:sp>
      <p:sp>
        <p:nvSpPr>
          <p:cNvPr id="18" name="C out 3" descr="">
            <a:extLst>
              <a:ext uri="{C183D7F6-B498-43B3-948B-1728B52AA6E4}">
                <adec:decorative xmlns:adec="http://schemas.microsoft.com/office/drawing/2017/decorative" val="1"/>
              </a:ext>
            </a:extLst>
          </p:cNvPr>
          <p:cNvSpPr/>
          <p:nvPr/>
        </p:nvSpPr>
        <p:spPr>
          <a:xfrm flipH="1">
            <a:off x="3063240" y="4480560"/>
            <a:ext cx="1508760" cy="0"/>
          </a:xfrm>
          <a:prstGeom prst="line">
            <a:avLst/>
          </a:prstGeom>
          <a:noFill/>
          <a:ln w="25400">
            <a:solidFill>
              <a:srgbClr val="0F766E"/>
            </a:solidFill>
            <a:prstDash val="solid"/>
            <a:tailEnd type="triangle"/>
          </a:ln>
        </p:spPr>
      </p:sp>
      <p:sp>
        <p:nvSpPr>
          <p:cNvPr id="19" name="C legend"/>
          <p:cNvSpPr txBox="1"/>
          <p:nvPr/>
        </p:nvSpPr>
        <p:spPr>
          <a:xfrm>
            <a:off x="548640" y="4681728"/>
            <a:ext cx="3977640" cy="329184"/>
          </a:xfrm>
          <a:prstGeom prst="rect">
            <a:avLst/>
          </a:prstGeom>
          <a:noFill/>
          <a:ln/>
        </p:spPr>
        <p:txBody>
          <a:bodyPr wrap="square" lIns="0" tIns="0" rIns="0" bIns="0" rtlCol="0" anchor="t"/>
          <a:lstStyle/>
          <a:p>
            <a:pPr indent="0" marL="0">
              <a:buNone/>
            </a:pPr>
            <a:r>
              <a:rPr lang="en-US" sz="1050" b="1" dirty="0">
                <a:solidFill>
                  <a:srgbClr val="1F2A44"/>
                </a:solidFill>
              </a:rPr>
              <a:t>→ </a:t>
            </a:r>
            <a:pPr indent="0" marL="0">
              <a:buNone/>
            </a:pPr>
            <a:r>
              <a:rPr lang="en-US" sz="1050" dirty="0">
                <a:solidFill>
                  <a:srgbClr val="334155"/>
                </a:solidFill>
              </a:rPr>
              <a:t>Grid sends cloud names in  </a:t>
            </a:r>
            <a:pPr indent="0" marL="0">
              <a:buNone/>
            </a:pPr>
            <a:r>
              <a:rPr lang="en-US" sz="1050" b="1" dirty="0">
                <a:solidFill>
                  <a:srgbClr val="0F766E"/>
                </a:solidFill>
              </a:rPr>
              <a:t>← </a:t>
            </a:r>
            <a:pPr indent="0" marL="0">
              <a:buNone/>
            </a:pPr>
            <a:r>
              <a:rPr lang="en-US" sz="1050" dirty="0">
                <a:solidFill>
                  <a:srgbClr val="334155"/>
                </a:solidFill>
              </a:rPr>
              <a:t>cloud sends agency names out</a:t>
            </a:r>
            <a:endParaRPr lang="en-US" sz="1050" dirty="0"/>
          </a:p>
        </p:txBody>
      </p:sp>
      <p:sp>
        <p:nvSpPr>
          <p:cNvPr id="20" name="C ipam"/>
          <p:cNvSpPr txBox="1"/>
          <p:nvPr/>
        </p:nvSpPr>
        <p:spPr>
          <a:xfrm>
            <a:off x="548640" y="5029200"/>
            <a:ext cx="7543800" cy="868680"/>
          </a:xfrm>
          <a:prstGeom prst="rect">
            <a:avLst/>
          </a:prstGeom>
          <a:noFill/>
          <a:ln/>
        </p:spPr>
        <p:txBody>
          <a:bodyPr wrap="square" lIns="0" tIns="0" rIns="0" bIns="0" rtlCol="0" anchor="t"/>
          <a:lstStyle/>
          <a:p>
            <a:pPr indent="0" marL="0">
              <a:buNone/>
            </a:pPr>
            <a:r>
              <a:rPr lang="en-US" sz="1150" b="1" dirty="0">
                <a:solidFill>
                  <a:srgbClr val="1F2A44"/>
                </a:solidFill>
              </a:rPr>
              <a:t>IPAM handoff: </a:t>
            </a:r>
            <a:pPr indent="0" marL="0">
              <a:buNone/>
            </a:pPr>
            <a:r>
              <a:rPr lang="en-US" sz="1150" dirty="0">
                <a:solidFill>
                  <a:schemeClr val="tx2"/>
                </a:solidFill>
              </a:rPr>
              <a:t>the Grid owns the supernets; each cloud gets a block. Commercial AWS can automate it (VPC IPAM + Universal DDI). GovCloud, Azure, Google: manual — reserve in NIOS, create the cloud pool with that range, let vDiscovery check.</a:t>
            </a:r>
            <a:endParaRPr lang="en-US" sz="1150" dirty="0"/>
          </a:p>
        </p:txBody>
      </p:sp>
      <p:sp>
        <p:nvSpPr>
          <p:cNvPr id="21" name="C facts" descr="">
            <a:extLst>
              <a:ext uri="{C183D7F6-B498-43B3-948B-1728B52AA6E4}">
                <adec:decorative xmlns:adec="http://schemas.microsoft.com/office/drawing/2017/decorative" val="1"/>
              </a:ext>
            </a:extLst>
          </p:cNvPr>
          <p:cNvSpPr/>
          <p:nvPr/>
        </p:nvSpPr>
        <p:spPr>
          <a:xfrm>
            <a:off x="8321040" y="1371600"/>
            <a:ext cx="3337560" cy="4526280"/>
          </a:xfrm>
          <a:prstGeom prst="roundRect">
            <a:avLst>
              <a:gd name="adj" fmla="val 2192"/>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C facts head"/>
          <p:cNvSpPr txBox="1"/>
          <p:nvPr/>
        </p:nvSpPr>
        <p:spPr>
          <a:xfrm>
            <a:off x="8503920" y="1481328"/>
            <a:ext cx="2971800" cy="640080"/>
          </a:xfrm>
          <a:prstGeom prst="rect">
            <a:avLst/>
          </a:prstGeom>
          <a:noFill/>
          <a:ln/>
        </p:spPr>
        <p:txBody>
          <a:bodyPr wrap="square" lIns="0" tIns="0" rIns="0" bIns="0" rtlCol="0" anchor="t"/>
          <a:lstStyle/>
          <a:p>
            <a:pPr indent="0" marL="0">
              <a:buNone/>
            </a:pPr>
            <a:r>
              <a:rPr lang="en-US" sz="1100" b="1" dirty="0">
                <a:solidFill>
                  <a:srgbClr val="64748B"/>
                </a:solidFill>
              </a:rPr>
              <a:t>FACTS TO KNOW</a:t>
            </a:r>
            <a:endParaRPr lang="en-US" sz="1400" dirty="0"/>
          </a:p>
        </p:txBody>
      </p:sp>
      <p:sp>
        <p:nvSpPr>
          <p:cNvPr id="23" name="C facts list"/>
          <p:cNvSpPr txBox="1"/>
          <p:nvPr/>
        </p:nvSpPr>
        <p:spPr>
          <a:xfrm>
            <a:off x="8503920" y="1810512"/>
            <a:ext cx="3017520" cy="4014216"/>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chemeClr val="tx2"/>
                </a:solidFill>
              </a:rPr>
              <a:t>Route 53 private zones answer only linked VPCs or via an inbound endpoint; elsewhere the name resolves on the internet</a:t>
            </a:r>
            <a:endParaRPr lang="en-US" sz="1400" dirty="0"/>
          </a:p>
          <a:p>
            <a:pPr marL="342900" indent="-342900">
              <a:spcAft>
                <a:spcPts val="300"/>
              </a:spcAft>
              <a:buSzPct val="100000"/>
              <a:buChar char="•"/>
            </a:pPr>
            <a:r>
              <a:rPr lang="en-US" sz="1100" dirty="0">
                <a:solidFill>
                  <a:schemeClr val="tx2"/>
                </a:solidFill>
              </a:rPr>
              <a:t>Azure, with Azure-provided DNS: linked private zones, then rulesets, then Azure DNS</a:t>
            </a:r>
            <a:endParaRPr lang="en-US" sz="1400" dirty="0"/>
          </a:p>
          <a:p>
            <a:pPr marL="342900" indent="-342900">
              <a:spcAft>
                <a:spcPts val="300"/>
              </a:spcAft>
              <a:buSzPct val="100000"/>
              <a:buChar char="•"/>
            </a:pPr>
            <a:r>
              <a:rPr lang="en-US" sz="1100" dirty="0">
                <a:solidFill>
                  <a:schemeClr val="tx2"/>
                </a:solidFill>
              </a:rPr>
              <a:t>Google: two authoritative systems; no zone transfers; forwarded answers cached 60 s</a:t>
            </a:r>
            <a:endParaRPr lang="en-US" sz="1400" dirty="0"/>
          </a:p>
          <a:p>
            <a:pPr marL="342900" indent="-342900">
              <a:spcAft>
                <a:spcPts val="300"/>
              </a:spcAft>
              <a:buSzPct val="100000"/>
              <a:buChar char="•"/>
            </a:pPr>
            <a:r>
              <a:rPr lang="en-US" sz="1100" dirty="0">
                <a:solidFill>
                  <a:schemeClr val="tx2"/>
                </a:solidFill>
              </a:rPr>
              <a:t>GovCloud: Route 53 private DNS and Resolver endpoints work; Resolver delegation doesn't</a:t>
            </a:r>
            <a:endParaRPr lang="en-US" sz="1400" dirty="0"/>
          </a:p>
        </p:txBody>
      </p:sp>
      <p:sp>
        <p:nvSpPr>
          <p:cNvPr id="2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AWS private hosted zones, Resolver, GovCloud Route 53 (S22, S30–S33, S57, S61, S62); Microsoft Learn (S28, S64, S65); Google Cloud DNS (S67, S68); AWS VPC IPAM (S38, S39).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rules that prevent split-brain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 illus"/>
          <p:cNvSpPr txBox="1"/>
          <p:nvPr/>
        </p:nvSpPr>
        <p:spPr>
          <a:xfrm>
            <a:off x="548640" y="1325880"/>
            <a:ext cx="4206240" cy="256032"/>
          </a:xfrm>
          <a:prstGeom prst="rect">
            <a:avLst/>
          </a:prstGeom>
          <a:noFill/>
          <a:ln/>
        </p:spPr>
        <p:txBody>
          <a:bodyPr wrap="square" lIns="0" tIns="0" rIns="0" bIns="0" rtlCol="0" anchor="ctr"/>
          <a:lstStyle/>
          <a:p>
            <a:pPr algn="l" indent="0" marL="0">
              <a:buNone/>
            </a:pPr>
            <a:r>
              <a:rPr lang="en-US" sz="1050" i="1" dirty="0">
                <a:solidFill>
                  <a:srgbClr val="B91C1C"/>
                </a:solidFill>
              </a:rPr>
              <a:t>ILLUSTRATIVE NAMES</a:t>
            </a:r>
            <a:endParaRPr lang="en-US" sz="1050" dirty="0"/>
          </a:p>
        </p:txBody>
      </p:sp>
      <p:sp>
        <p:nvSpPr>
          <p:cNvPr id="6" name="S parent" descr="">
            <a:extLst>
              <a:ext uri="{C183D7F6-B498-43B3-948B-1728B52AA6E4}">
                <adec:decorative xmlns:adec="http://schemas.microsoft.com/office/drawing/2017/decorative" val="1"/>
              </a:ext>
            </a:extLst>
          </p:cNvPr>
          <p:cNvSpPr/>
          <p:nvPr/>
        </p:nvSpPr>
        <p:spPr>
          <a:xfrm>
            <a:off x="548640" y="1645920"/>
            <a:ext cx="4206240" cy="914400"/>
          </a:xfrm>
          <a:prstGeom prst="roundRect">
            <a:avLst>
              <a:gd name="adj" fmla="val 8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S parent text"/>
          <p:cNvSpPr txBox="1"/>
          <p:nvPr/>
        </p:nvSpPr>
        <p:spPr>
          <a:xfrm>
            <a:off x="640080" y="1709928"/>
            <a:ext cx="4023360" cy="786384"/>
          </a:xfrm>
          <a:prstGeom prst="rect">
            <a:avLst/>
          </a:prstGeom>
          <a:noFill/>
          <a:ln/>
        </p:spPr>
        <p:txBody>
          <a:bodyPr wrap="square" lIns="0" tIns="0" rIns="0" bIns="0" rtlCol="0" anchor="ctr"/>
          <a:lstStyle/>
          <a:p>
            <a:pPr indent="0" marL="0">
              <a:spcAft>
                <a:spcPts val="100"/>
              </a:spcAft>
              <a:buNone/>
            </a:pPr>
            <a:r>
              <a:rPr lang="en-US" sz="1300" b="1" dirty="0">
                <a:solidFill>
                  <a:srgbClr val="1F2A44"/>
                </a:solidFill>
                <a:latin typeface="Cambria" pitchFamily="34" charset="0"/>
                <a:ea typeface="Cambria" pitchFamily="34" charset="-122"/>
                <a:cs typeface="Cambria" pitchFamily="34" charset="-120"/>
              </a:rPr>
              <a:t>corp.agency.gov</a:t>
            </a:r>
            <a:endParaRPr lang="en-US" sz="1150" dirty="0"/>
          </a:p>
          <a:p>
            <a:pPr indent="0" marL="0">
              <a:spcAft>
                <a:spcPts val="100"/>
              </a:spcAft>
              <a:buNone/>
            </a:pPr>
            <a:r>
              <a:rPr lang="en-US" sz="1150" dirty="0">
                <a:solidFill>
                  <a:srgbClr val="334155"/>
                </a:solidFill>
              </a:rPr>
              <a:t>Owner: NIOS Grid · signed on the Grid Master or HSM</a:t>
            </a:r>
            <a:endParaRPr lang="en-US" sz="1150" dirty="0"/>
          </a:p>
        </p:txBody>
      </p:sp>
      <p:sp>
        <p:nvSpPr>
          <p:cNvPr id="8" name="S child" descr="">
            <a:extLst>
              <a:ext uri="{C183D7F6-B498-43B3-948B-1728B52AA6E4}">
                <adec:decorative xmlns:adec="http://schemas.microsoft.com/office/drawing/2017/decorative" val="1"/>
              </a:ext>
            </a:extLst>
          </p:cNvPr>
          <p:cNvSpPr/>
          <p:nvPr/>
        </p:nvSpPr>
        <p:spPr>
          <a:xfrm>
            <a:off x="548640" y="3429000"/>
            <a:ext cx="4206240" cy="914400"/>
          </a:xfrm>
          <a:prstGeom prst="roundRect">
            <a:avLst>
              <a:gd name="adj" fmla="val 8000"/>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9" name="S child text"/>
          <p:cNvSpPr txBox="1"/>
          <p:nvPr/>
        </p:nvSpPr>
        <p:spPr>
          <a:xfrm>
            <a:off x="640080" y="3493008"/>
            <a:ext cx="4023360" cy="786384"/>
          </a:xfrm>
          <a:prstGeom prst="rect">
            <a:avLst/>
          </a:prstGeom>
          <a:noFill/>
          <a:ln/>
        </p:spPr>
        <p:txBody>
          <a:bodyPr wrap="square" lIns="0" tIns="0" rIns="0" bIns="0" rtlCol="0" anchor="ctr"/>
          <a:lstStyle/>
          <a:p>
            <a:pPr indent="0" marL="0">
              <a:spcAft>
                <a:spcPts val="100"/>
              </a:spcAft>
              <a:buNone/>
            </a:pPr>
            <a:r>
              <a:rPr lang="en-US" sz="1300" b="1" dirty="0">
                <a:solidFill>
                  <a:srgbClr val="B45309"/>
                </a:solidFill>
                <a:latin typeface="Cambria" pitchFamily="34" charset="0"/>
                <a:ea typeface="Cambria" pitchFamily="34" charset="-122"/>
                <a:cs typeface="Cambria" pitchFamily="34" charset="-120"/>
              </a:rPr>
              <a:t>aws.corp.agency.gov</a:t>
            </a:r>
            <a:endParaRPr lang="en-US" sz="1150" dirty="0"/>
          </a:p>
          <a:p>
            <a:pPr indent="0" marL="0">
              <a:spcAft>
                <a:spcPts val="100"/>
              </a:spcAft>
              <a:buNone/>
            </a:pPr>
            <a:r>
              <a:rPr lang="en-US" sz="1150" dirty="0">
                <a:solidFill>
                  <a:srgbClr val="334155"/>
                </a:solidFill>
              </a:rPr>
              <a:t>Owner: a Route 53 private hosted zone</a:t>
            </a:r>
            <a:endParaRPr lang="en-US" sz="1150" dirty="0"/>
          </a:p>
        </p:txBody>
      </p:sp>
      <p:sp>
        <p:nvSpPr>
          <p:cNvPr id="10" name="S down" descr="">
            <a:extLst>
              <a:ext uri="{C183D7F6-B498-43B3-948B-1728B52AA6E4}">
                <adec:decorative xmlns:adec="http://schemas.microsoft.com/office/drawing/2017/decorative" val="1"/>
              </a:ext>
            </a:extLst>
          </p:cNvPr>
          <p:cNvSpPr/>
          <p:nvPr/>
        </p:nvSpPr>
        <p:spPr>
          <a:xfrm>
            <a:off x="1097280" y="2560320"/>
            <a:ext cx="0" cy="868680"/>
          </a:xfrm>
          <a:prstGeom prst="line">
            <a:avLst/>
          </a:prstGeom>
          <a:noFill/>
          <a:ln w="25400">
            <a:solidFill>
              <a:srgbClr val="1F2A44"/>
            </a:solidFill>
            <a:prstDash val="solid"/>
            <a:tailEnd type="triangle"/>
          </a:ln>
        </p:spPr>
      </p:sp>
      <p:sp>
        <p:nvSpPr>
          <p:cNvPr id="11" name="S up" descr="">
            <a:extLst>
              <a:ext uri="{C183D7F6-B498-43B3-948B-1728B52AA6E4}">
                <adec:decorative xmlns:adec="http://schemas.microsoft.com/office/drawing/2017/decorative" val="1"/>
              </a:ext>
            </a:extLst>
          </p:cNvPr>
          <p:cNvSpPr/>
          <p:nvPr/>
        </p:nvSpPr>
        <p:spPr>
          <a:xfrm flipV="1">
            <a:off x="4206240" y="2560320"/>
            <a:ext cx="0" cy="868680"/>
          </a:xfrm>
          <a:prstGeom prst="line">
            <a:avLst/>
          </a:prstGeom>
          <a:noFill/>
          <a:ln w="25400">
            <a:solidFill>
              <a:srgbClr val="0F766E"/>
            </a:solidFill>
            <a:prstDash val="solid"/>
            <a:tailEnd type="triangle"/>
          </a:ln>
        </p:spPr>
      </p:sp>
      <p:sp>
        <p:nvSpPr>
          <p:cNvPr id="12" name="S down label"/>
          <p:cNvSpPr txBox="1"/>
          <p:nvPr/>
        </p:nvSpPr>
        <p:spPr>
          <a:xfrm>
            <a:off x="1234440" y="2743200"/>
            <a:ext cx="1417320" cy="502920"/>
          </a:xfrm>
          <a:prstGeom prst="rect">
            <a:avLst/>
          </a:prstGeom>
          <a:noFill/>
          <a:ln/>
        </p:spPr>
        <p:txBody>
          <a:bodyPr wrap="square" lIns="0" tIns="0" rIns="0" bIns="0" rtlCol="0" anchor="ctr"/>
          <a:lstStyle/>
          <a:p>
            <a:pPr indent="0" marL="0">
              <a:buNone/>
            </a:pPr>
            <a:r>
              <a:rPr lang="en-US" sz="1050" i="1" dirty="0">
                <a:solidFill>
                  <a:srgbClr val="1F2A44"/>
                </a:solidFill>
              </a:rPr>
              <a:t>On-prem resolvers forward the child to AWS</a:t>
            </a:r>
            <a:endParaRPr lang="en-US" sz="1050" dirty="0"/>
          </a:p>
        </p:txBody>
      </p:sp>
      <p:sp>
        <p:nvSpPr>
          <p:cNvPr id="13" name="S up label"/>
          <p:cNvSpPr txBox="1"/>
          <p:nvPr/>
        </p:nvSpPr>
        <p:spPr>
          <a:xfrm>
            <a:off x="2697480" y="2743200"/>
            <a:ext cx="1371600" cy="502920"/>
          </a:xfrm>
          <a:prstGeom prst="rect">
            <a:avLst/>
          </a:prstGeom>
          <a:noFill/>
          <a:ln/>
        </p:spPr>
        <p:txBody>
          <a:bodyPr wrap="square" lIns="0" tIns="0" rIns="0" bIns="0" rtlCol="0" anchor="ctr"/>
          <a:lstStyle/>
          <a:p>
            <a:pPr algn="r" indent="0" marL="0">
              <a:buNone/>
            </a:pPr>
            <a:r>
              <a:rPr lang="en-US" sz="1050" i="1" dirty="0">
                <a:solidFill>
                  <a:srgbClr val="0F766E"/>
                </a:solidFill>
              </a:rPr>
              <a:t>AWS forwards the parent to the Grid</a:t>
            </a:r>
            <a:endParaRPr lang="en-US" sz="1050" dirty="0"/>
          </a:p>
        </p:txBody>
      </p:sp>
      <p:sp>
        <p:nvSpPr>
          <p:cNvPr id="14" name="S mech"/>
          <p:cNvSpPr txBox="1"/>
          <p:nvPr/>
        </p:nvSpPr>
        <p:spPr>
          <a:xfrm>
            <a:off x="548640" y="4526280"/>
            <a:ext cx="4206240" cy="822960"/>
          </a:xfrm>
          <a:prstGeom prst="rect">
            <a:avLst/>
          </a:prstGeom>
          <a:noFill/>
          <a:ln/>
        </p:spPr>
        <p:txBody>
          <a:bodyPr wrap="square" lIns="0" tIns="0" rIns="0" bIns="0" rtlCol="0" anchor="t"/>
          <a:lstStyle/>
          <a:p>
            <a:pPr indent="0" marL="0">
              <a:buNone/>
            </a:pPr>
            <a:r>
              <a:rPr lang="en-US" sz="1150" b="1" dirty="0">
                <a:solidFill>
                  <a:srgbClr val="1F2A44"/>
                </a:solidFill>
              </a:rPr>
              <a:t>One owner each, joined by forwarding. </a:t>
            </a:r>
            <a:pPr indent="0" marL="0">
              <a:buNone/>
            </a:pPr>
            <a:r>
              <a:rPr lang="en-US" sz="1150" dirty="0">
                <a:solidFill>
                  <a:schemeClr val="tx2"/>
                </a:solidFill>
              </a:rPr>
              <a:t>AWS also allows inbound delegation (NS glue), but Resolver delegation isn't available in GovCloud.</a:t>
            </a:r>
            <a:endParaRPr lang="en-US" sz="1150" dirty="0"/>
          </a:p>
        </p:txBody>
      </p:sp>
      <p:sp>
        <p:nvSpPr>
          <p:cNvPr id="15" name="Rule 1" descr="">
            <a:extLst>
              <a:ext uri="{C183D7F6-B498-43B3-948B-1728B52AA6E4}">
                <adec:decorative xmlns:adec="http://schemas.microsoft.com/office/drawing/2017/decorative" val="1"/>
              </a:ext>
            </a:extLst>
          </p:cNvPr>
          <p:cNvSpPr/>
          <p:nvPr/>
        </p:nvSpPr>
        <p:spPr>
          <a:xfrm>
            <a:off x="5029200" y="1371600"/>
            <a:ext cx="3200400" cy="2148840"/>
          </a:xfrm>
          <a:prstGeom prst="roundRect">
            <a:avLst>
              <a:gd name="adj" fmla="val 340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6" name="Rule 1 text"/>
          <p:cNvSpPr txBox="1"/>
          <p:nvPr/>
        </p:nvSpPr>
        <p:spPr>
          <a:xfrm>
            <a:off x="5120640" y="1435608"/>
            <a:ext cx="3017520" cy="2020824"/>
          </a:xfrm>
          <a:prstGeom prst="rect">
            <a:avLst/>
          </a:prstGeom>
          <a:noFill/>
          <a:ln/>
        </p:spPr>
        <p:txBody>
          <a:bodyPr wrap="square" lIns="0" tIns="0" rIns="0" bIns="0" rtlCol="0" anchor="ctr"/>
          <a:lstStyle/>
          <a:p>
            <a:pPr indent="0" marL="0">
              <a:spcAft>
                <a:spcPts val="100"/>
              </a:spcAft>
              <a:buNone/>
            </a:pPr>
            <a:r>
              <a:rPr lang="en-US" sz="1300" b="1" dirty="0">
                <a:solidFill>
                  <a:srgbClr val="B91C1C"/>
                </a:solidFill>
                <a:latin typeface="Cambria" pitchFamily="34" charset="0"/>
                <a:ea typeface="Cambria" pitchFamily="34" charset="-122"/>
                <a:cs typeface="Cambria" pitchFamily="34" charset="-120"/>
              </a:rPr>
              <a:t>1  One writable owner per zone</a:t>
            </a:r>
            <a:endParaRPr lang="en-US" sz="1150" dirty="0"/>
          </a:p>
          <a:p>
            <a:pPr indent="0" marL="0">
              <a:spcAft>
                <a:spcPts val="100"/>
              </a:spcAft>
              <a:buNone/>
            </a:pPr>
            <a:r>
              <a:rPr lang="en-US" sz="1150" dirty="0">
                <a:solidFill>
                  <a:srgbClr val="334155"/>
                </a:solidFill>
              </a:rPr>
              <a:t>Grid, Route 53, Azure Private DNS or Cloud DNS, never two. NIOS overwrites edits to imported zones; portal-owned resolver rules overwrite cloud changes: decide ownership before sync.</a:t>
            </a:r>
            <a:endParaRPr lang="en-US" sz="1150" dirty="0"/>
          </a:p>
        </p:txBody>
      </p:sp>
      <p:sp>
        <p:nvSpPr>
          <p:cNvPr id="17" name="Rule 2" descr="">
            <a:extLst>
              <a:ext uri="{C183D7F6-B498-43B3-948B-1728B52AA6E4}">
                <adec:decorative xmlns:adec="http://schemas.microsoft.com/office/drawing/2017/decorative" val="1"/>
              </a:ext>
            </a:extLst>
          </p:cNvPr>
          <p:cNvSpPr/>
          <p:nvPr/>
        </p:nvSpPr>
        <p:spPr>
          <a:xfrm>
            <a:off x="8366760" y="1371600"/>
            <a:ext cx="3200400" cy="2148840"/>
          </a:xfrm>
          <a:prstGeom prst="roundRect">
            <a:avLst>
              <a:gd name="adj" fmla="val 340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8" name="Rule 2 text"/>
          <p:cNvSpPr txBox="1"/>
          <p:nvPr/>
        </p:nvSpPr>
        <p:spPr>
          <a:xfrm>
            <a:off x="8458200" y="1435608"/>
            <a:ext cx="3017520" cy="2020824"/>
          </a:xfrm>
          <a:prstGeom prst="rect">
            <a:avLst/>
          </a:prstGeom>
          <a:noFill/>
          <a:ln/>
        </p:spPr>
        <p:txBody>
          <a:bodyPr wrap="square" lIns="0" tIns="0" rIns="0" bIns="0" rtlCol="0" anchor="ctr"/>
          <a:lstStyle/>
          <a:p>
            <a:pPr indent="0" marL="0">
              <a:spcAft>
                <a:spcPts val="100"/>
              </a:spcAft>
              <a:buNone/>
            </a:pPr>
            <a:r>
              <a:rPr lang="en-US" sz="1300" b="1" dirty="0">
                <a:solidFill>
                  <a:srgbClr val="1F2A44"/>
                </a:solidFill>
                <a:latin typeface="Cambria" pitchFamily="34" charset="0"/>
                <a:ea typeface="Cambria" pitchFamily="34" charset="-122"/>
                <a:cs typeface="Cambria" pitchFamily="34" charset="-120"/>
              </a:rPr>
              <a:t>2  Divide the namespace by owner</a:t>
            </a:r>
            <a:endParaRPr lang="en-US" sz="1150" dirty="0"/>
          </a:p>
          <a:p>
            <a:pPr indent="0" marL="0">
              <a:spcAft>
                <a:spcPts val="100"/>
              </a:spcAft>
              <a:buNone/>
            </a:pPr>
            <a:r>
              <a:rPr lang="en-US" sz="1150" dirty="0">
                <a:solidFill>
                  <a:srgbClr val="334155"/>
                </a:solidFill>
              </a:rPr>
              <a:t>Delegate children by name. Don't create a cloud private zone with a Grid zone's name unless it's a deliberate split-horizon view.</a:t>
            </a:r>
            <a:endParaRPr lang="en-US" sz="1150" dirty="0"/>
          </a:p>
        </p:txBody>
      </p:sp>
      <p:sp>
        <p:nvSpPr>
          <p:cNvPr id="19" name="Rule 3" descr="">
            <a:extLst>
              <a:ext uri="{C183D7F6-B498-43B3-948B-1728B52AA6E4}">
                <adec:decorative xmlns:adec="http://schemas.microsoft.com/office/drawing/2017/decorative" val="1"/>
              </a:ext>
            </a:extLst>
          </p:cNvPr>
          <p:cNvSpPr/>
          <p:nvPr/>
        </p:nvSpPr>
        <p:spPr>
          <a:xfrm>
            <a:off x="5029200" y="3657600"/>
            <a:ext cx="3200400" cy="2148840"/>
          </a:xfrm>
          <a:prstGeom prst="roundRect">
            <a:avLst>
              <a:gd name="adj" fmla="val 340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0" name="Rule 3 text"/>
          <p:cNvSpPr txBox="1"/>
          <p:nvPr/>
        </p:nvSpPr>
        <p:spPr>
          <a:xfrm>
            <a:off x="5120640" y="3721608"/>
            <a:ext cx="3017520" cy="2020824"/>
          </a:xfrm>
          <a:prstGeom prst="rect">
            <a:avLst/>
          </a:prstGeom>
          <a:noFill/>
          <a:ln/>
        </p:spPr>
        <p:txBody>
          <a:bodyPr wrap="square" lIns="0" tIns="0" rIns="0" bIns="0" rtlCol="0" anchor="ctr"/>
          <a:lstStyle/>
          <a:p>
            <a:pPr indent="0" marL="0">
              <a:spcAft>
                <a:spcPts val="100"/>
              </a:spcAft>
              <a:buNone/>
            </a:pPr>
            <a:r>
              <a:rPr lang="en-US" sz="1300" b="1" dirty="0">
                <a:solidFill>
                  <a:srgbClr val="0F766E"/>
                </a:solidFill>
                <a:latin typeface="Cambria" pitchFamily="34" charset="0"/>
                <a:ea typeface="Cambria" pitchFamily="34" charset="-122"/>
                <a:cs typeface="Cambria" pitchFamily="34" charset="-120"/>
              </a:rPr>
              <a:t>3  DNSSEC keys stay on the Grid</a:t>
            </a:r>
            <a:endParaRPr lang="en-US" sz="1150" dirty="0"/>
          </a:p>
          <a:p>
            <a:pPr indent="0" marL="0">
              <a:spcAft>
                <a:spcPts val="100"/>
              </a:spcAft>
              <a:buNone/>
            </a:pPr>
            <a:r>
              <a:rPr lang="en-US" sz="1150" dirty="0">
                <a:solidFill>
                  <a:srgbClr val="334155"/>
                </a:solidFill>
              </a:rPr>
              <a:t>Grid Master or HSM. Route 53 can't sign private zones; Universal DDI doesn't sync DNSSEC records. Validate on agency resolvers.</a:t>
            </a:r>
            <a:endParaRPr lang="en-US" sz="1150" dirty="0"/>
          </a:p>
        </p:txBody>
      </p:sp>
      <p:sp>
        <p:nvSpPr>
          <p:cNvPr id="21" name="Rule 4" descr="">
            <a:extLst>
              <a:ext uri="{C183D7F6-B498-43B3-948B-1728B52AA6E4}">
                <adec:decorative xmlns:adec="http://schemas.microsoft.com/office/drawing/2017/decorative" val="1"/>
              </a:ext>
            </a:extLst>
          </p:cNvPr>
          <p:cNvSpPr/>
          <p:nvPr/>
        </p:nvSpPr>
        <p:spPr>
          <a:xfrm>
            <a:off x="8366760" y="3657600"/>
            <a:ext cx="3200400" cy="2148840"/>
          </a:xfrm>
          <a:prstGeom prst="roundRect">
            <a:avLst>
              <a:gd name="adj" fmla="val 340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2" name="Rule 4 text"/>
          <p:cNvSpPr txBox="1"/>
          <p:nvPr/>
        </p:nvSpPr>
        <p:spPr>
          <a:xfrm>
            <a:off x="8458200" y="3721608"/>
            <a:ext cx="3017520" cy="2020824"/>
          </a:xfrm>
          <a:prstGeom prst="rect">
            <a:avLst/>
          </a:prstGeom>
          <a:noFill/>
          <a:ln/>
        </p:spPr>
        <p:txBody>
          <a:bodyPr wrap="square" lIns="0" tIns="0" rIns="0" bIns="0" rtlCol="0" anchor="ctr"/>
          <a:lstStyle/>
          <a:p>
            <a:pPr indent="0" marL="0">
              <a:spcAft>
                <a:spcPts val="100"/>
              </a:spcAft>
              <a:buNone/>
            </a:pPr>
            <a:r>
              <a:rPr lang="en-US" sz="1300" b="1" dirty="0">
                <a:solidFill>
                  <a:srgbClr val="B45309"/>
                </a:solidFill>
                <a:latin typeface="Cambria" pitchFamily="34" charset="0"/>
                <a:ea typeface="Cambria" pitchFamily="34" charset="-122"/>
                <a:cs typeface="Cambria" pitchFamily="34" charset="-120"/>
              </a:rPr>
              <a:t>4  IPAM authority stays on the Grid</a:t>
            </a:r>
            <a:endParaRPr lang="en-US" sz="1150" dirty="0"/>
          </a:p>
          <a:p>
            <a:pPr indent="0" marL="0">
              <a:spcAft>
                <a:spcPts val="100"/>
              </a:spcAft>
              <a:buNone/>
            </a:pPr>
            <a:r>
              <a:rPr lang="en-US" sz="1150" dirty="0">
                <a:solidFill>
                  <a:srgbClr val="334155"/>
                </a:solidFill>
              </a:rPr>
              <a:t>The Grid owns supernets; clouds get delegated blocks. One network view for routable space lets the Grid catch overlaps.</a:t>
            </a:r>
            <a:endParaRPr lang="en-US" sz="1150" dirty="0"/>
          </a:p>
        </p:txBody>
      </p:sp>
      <p:sp>
        <p:nvSpPr>
          <p:cNvPr id="23"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research_multicloud §5 (S13, S17, S18, S22, S28, S30, S33, S48, S61, S63, S66, S67); research_platform (DNSSEC on a Grid, network views); Book 08,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Which option fits your agency? Design guidance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G flag"/>
          <p:cNvSpPr txBox="1"/>
          <p:nvPr/>
        </p:nvSpPr>
        <p:spPr>
          <a:xfrm>
            <a:off x="548640" y="1325880"/>
            <a:ext cx="11109960" cy="292608"/>
          </a:xfrm>
          <a:prstGeom prst="rect">
            <a:avLst/>
          </a:prstGeom>
          <a:noFill/>
          <a:ln/>
        </p:spPr>
        <p:txBody>
          <a:bodyPr wrap="square" lIns="0" tIns="0" rIns="0" bIns="0" rtlCol="0" anchor="t"/>
          <a:lstStyle/>
          <a:p>
            <a:pPr indent="0" marL="0">
              <a:buNone/>
            </a:pPr>
            <a:r>
              <a:rPr lang="en-US" sz="1250" b="1" dirty="0">
                <a:solidFill>
                  <a:srgbClr val="B91C1C"/>
                </a:solidFill>
              </a:rPr>
              <a:t>DESIGN GUIDANCE — NOT AN ENDORSEMENT.  </a:t>
            </a:r>
            <a:pPr indent="0" marL="0">
              <a:buNone/>
            </a:pPr>
            <a:r>
              <a:rPr lang="en-US" sz="1250" dirty="0">
                <a:solidFill>
                  <a:schemeClr val="tx2"/>
                </a:solidFill>
              </a:rPr>
              <a:t>Each row rests on the documented facts in the last column.</a:t>
            </a:r>
            <a:endParaRPr lang="en-US" sz="1250" dirty="0"/>
          </a:p>
        </p:txBody>
      </p:sp>
      <p:graphicFrame>
        <p:nvGraphicFramePr>
          <p:cNvPr id="10" name="Decision"/>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2240280"/>
                <a:gridCol w="3017520"/>
                <a:gridCol w="3063240"/>
                <a:gridCol w="278892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Agency situation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Pattern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Rests 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Mostly on-prem, small cloud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Trinzic + native resolvers + conditional forwarding (minimal 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Lowest cost and boundary impact; no new SaaS authorization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NIOS can't own cloud zones; documented forwarding in all three clouds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Hybrid, one cloud (commercial, GovCloud or Azure Government)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 C: HA vNIOS pair in a hub; native rules forward agency zones to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Resolution stays local if the WAN fails; RPZ, signed zones and Grid IPAM reach the cloud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vNIOS documented for GovCloud discovery and Azure Government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Multi-cloud, FedRAMP Moderate and below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 on top of A or C (Government Cloud for federal work)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Only Infoblox path that writes to cloud DNS and discovers resolver rules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Government Cloud: single AWS accounts, no Azure tenants, no VPC IPAM handoff</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81076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GovCloud, Azure Government, High, IL4–IL5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 C only; don't depend on Universal DDI SaaS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Infoblox's SaaS is Moderate-only; native services carry higher authorizations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VPC IPAM integration excludes GovCloud; Cloud DNS on Assured Workloads High/IL4/IL5; Azure Gov resolver: confirm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research_multicloud §5 decision table (S2, S3, S13, S20–S31, S38, S39, S41–S48, S50–S55, S61, S62, S67, S69); research_federal and research_compare (FedRAMP levels).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this fits the workbook, and next steps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Fit" descr="">
            <a:extLst>
              <a:ext uri="{C183D7F6-B498-43B3-948B-1728B52AA6E4}">
                <adec:decorative xmlns:adec="http://schemas.microsoft.com/office/drawing/2017/decorative" val="1"/>
              </a:ext>
            </a:extLst>
          </p:cNvPr>
          <p:cNvSpPr/>
          <p:nvPr/>
        </p:nvSpPr>
        <p:spPr>
          <a:xfrm>
            <a:off x="548640" y="1371600"/>
            <a:ext cx="3657600" cy="4526280"/>
          </a:xfrm>
          <a:prstGeom prst="roundRect">
            <a:avLst>
              <a:gd name="adj" fmla="val 200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Fit head"/>
          <p:cNvSpPr txBox="1"/>
          <p:nvPr/>
        </p:nvSpPr>
        <p:spPr>
          <a:xfrm>
            <a:off x="731520" y="148132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WHERE IT FITS</a:t>
            </a:r>
            <a:endParaRPr lang="en-US" sz="1400" dirty="0"/>
          </a:p>
        </p:txBody>
      </p:sp>
      <p:sp>
        <p:nvSpPr>
          <p:cNvPr id="7" name="Fit list"/>
          <p:cNvSpPr txBox="1"/>
          <p:nvPr/>
        </p:nvSpPr>
        <p:spPr>
          <a:xfrm>
            <a:off x="731520" y="1810512"/>
            <a:ext cx="3337560" cy="40142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Book 08, Ch 02: split-brain DNS</a:t>
            </a:r>
            <a:endParaRPr lang="en-US" sz="1400" dirty="0"/>
          </a:p>
          <a:p>
            <a:pPr marL="342900" indent="-342900">
              <a:spcAft>
                <a:spcPts val="300"/>
              </a:spcAft>
              <a:buSzPct val="100000"/>
              <a:buChar char="•"/>
            </a:pPr>
            <a:r>
              <a:rPr lang="en-US" sz="1200" dirty="0">
                <a:solidFill>
                  <a:schemeClr val="tx2"/>
                </a:solidFill>
              </a:rPr>
              <a:t>Book 08, Ch 07: cloud private endpoints and IPAM</a:t>
            </a:r>
            <a:endParaRPr lang="en-US" sz="1400" dirty="0"/>
          </a:p>
          <a:p>
            <a:pPr marL="342900" indent="-342900">
              <a:spcAft>
                <a:spcPts val="300"/>
              </a:spcAft>
              <a:buSzPct val="100000"/>
              <a:buChar char="•"/>
            </a:pPr>
            <a:r>
              <a:rPr lang="en-US" sz="1200" dirty="0">
                <a:solidFill>
                  <a:schemeClr val="tx2"/>
                </a:solidFill>
              </a:rPr>
              <a:t>Book 08, Ch 08: the policy plane that overlays cloud DNS</a:t>
            </a:r>
            <a:endParaRPr lang="en-US" sz="1400" dirty="0"/>
          </a:p>
          <a:p>
            <a:pPr marL="342900" indent="-342900">
              <a:spcAft>
                <a:spcPts val="300"/>
              </a:spcAft>
              <a:buSzPct val="100000"/>
              <a:buChar char="•"/>
            </a:pPr>
            <a:r>
              <a:rPr lang="en-US" sz="1200" dirty="0">
                <a:solidFill>
                  <a:schemeClr val="tx2"/>
                </a:solidFill>
              </a:rPr>
              <a:t>Book 08, Ch 12: platform selection and residual risk</a:t>
            </a:r>
            <a:endParaRPr lang="en-US" sz="1400" dirty="0"/>
          </a:p>
          <a:p>
            <a:pPr marL="342900" indent="-342900">
              <a:spcAft>
                <a:spcPts val="300"/>
              </a:spcAft>
              <a:buSzPct val="100000"/>
              <a:buChar char="•"/>
            </a:pPr>
            <a:r>
              <a:rPr lang="en-US" sz="1200" dirty="0">
                <a:solidFill>
                  <a:schemeClr val="tx2"/>
                </a:solidFill>
              </a:rPr>
              <a:t>Research: Infoblox DDI for Federal Agencies deep dive (platform, FedRAMP scope, risks, divisions)</a:t>
            </a:r>
            <a:endParaRPr lang="en-US" sz="1400" dirty="0"/>
          </a:p>
        </p:txBody>
      </p:sp>
      <p:sp>
        <p:nvSpPr>
          <p:cNvPr id="8" name="Decide" descr="">
            <a:extLst>
              <a:ext uri="{C183D7F6-B498-43B3-948B-1728B52AA6E4}">
                <adec:decorative xmlns:adec="http://schemas.microsoft.com/office/drawing/2017/decorative" val="1"/>
              </a:ext>
            </a:extLst>
          </p:cNvPr>
          <p:cNvSpPr/>
          <p:nvPr/>
        </p:nvSpPr>
        <p:spPr>
          <a:xfrm>
            <a:off x="4343400" y="1371600"/>
            <a:ext cx="3520440" cy="4526280"/>
          </a:xfrm>
          <a:prstGeom prst="roundRect">
            <a:avLst>
              <a:gd name="adj" fmla="val 207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Decide head"/>
          <p:cNvSpPr txBox="1"/>
          <p:nvPr/>
        </p:nvSpPr>
        <p:spPr>
          <a:xfrm>
            <a:off x="4526280" y="1481328"/>
            <a:ext cx="3154680" cy="640080"/>
          </a:xfrm>
          <a:prstGeom prst="rect">
            <a:avLst/>
          </a:prstGeom>
          <a:noFill/>
          <a:ln/>
        </p:spPr>
        <p:txBody>
          <a:bodyPr wrap="square" lIns="0" tIns="0" rIns="0" bIns="0" rtlCol="0" anchor="t"/>
          <a:lstStyle/>
          <a:p>
            <a:pPr indent="0" marL="0">
              <a:buNone/>
            </a:pPr>
            <a:r>
              <a:rPr lang="en-US" sz="1100" b="1" dirty="0">
                <a:solidFill>
                  <a:srgbClr val="64748B"/>
                </a:solidFill>
              </a:rPr>
              <a:t>DECISIONS TO TAKE</a:t>
            </a:r>
            <a:endParaRPr lang="en-US" sz="1400" dirty="0"/>
          </a:p>
        </p:txBody>
      </p:sp>
      <p:sp>
        <p:nvSpPr>
          <p:cNvPr id="10" name="Decide list"/>
          <p:cNvSpPr txBox="1"/>
          <p:nvPr/>
        </p:nvSpPr>
        <p:spPr>
          <a:xfrm>
            <a:off x="4526280" y="1810512"/>
            <a:ext cx="3200400" cy="401421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Which option per cloud and impact level</a:t>
            </a:r>
            <a:endParaRPr lang="en-US" sz="1400" dirty="0"/>
          </a:p>
          <a:p>
            <a:pPr marL="342900" indent="-342900">
              <a:spcAft>
                <a:spcPts val="300"/>
              </a:spcAft>
              <a:buSzPct val="100000"/>
              <a:buChar char="•"/>
            </a:pPr>
            <a:r>
              <a:rPr lang="en-US" sz="1250" dirty="0">
                <a:solidFill>
                  <a:schemeClr val="tx2"/>
                </a:solidFill>
              </a:rPr>
              <a:t>One named owner for every zone</a:t>
            </a:r>
            <a:endParaRPr lang="en-US" sz="1400" dirty="0"/>
          </a:p>
          <a:p>
            <a:pPr marL="342900" indent="-342900">
              <a:spcAft>
                <a:spcPts val="300"/>
              </a:spcAft>
              <a:buSzPct val="100000"/>
              <a:buChar char="•"/>
            </a:pPr>
            <a:r>
              <a:rPr lang="en-US" sz="1250" dirty="0">
                <a:solidFill>
                  <a:schemeClr val="tx2"/>
                </a:solidFill>
              </a:rPr>
              <a:t>Where DNSSEC keys live (Grid Master or HSM)</a:t>
            </a:r>
            <a:endParaRPr lang="en-US" sz="1400" dirty="0"/>
          </a:p>
          <a:p>
            <a:pPr marL="342900" indent="-342900">
              <a:spcAft>
                <a:spcPts val="300"/>
              </a:spcAft>
              <a:buSzPct val="100000"/>
              <a:buChar char="•"/>
            </a:pPr>
            <a:r>
              <a:rPr lang="en-US" sz="1250" dirty="0">
                <a:solidFill>
                  <a:schemeClr val="tx2"/>
                </a:solidFill>
              </a:rPr>
              <a:t>How address blocks reach each cloud</a:t>
            </a:r>
            <a:endParaRPr lang="en-US" sz="1400" dirty="0"/>
          </a:p>
        </p:txBody>
      </p:sp>
      <p:sp>
        <p:nvSpPr>
          <p:cNvPr id="11" name="Next" descr="">
            <a:extLst>
              <a:ext uri="{C183D7F6-B498-43B3-948B-1728B52AA6E4}">
                <adec:decorative xmlns:adec="http://schemas.microsoft.com/office/drawing/2017/decorative" val="1"/>
              </a:ext>
            </a:extLst>
          </p:cNvPr>
          <p:cNvSpPr/>
          <p:nvPr/>
        </p:nvSpPr>
        <p:spPr>
          <a:xfrm>
            <a:off x="8001000" y="1371600"/>
            <a:ext cx="3657600" cy="4526280"/>
          </a:xfrm>
          <a:prstGeom prst="roundRect">
            <a:avLst>
              <a:gd name="adj" fmla="val 2000"/>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Next head"/>
          <p:cNvSpPr txBox="1"/>
          <p:nvPr/>
        </p:nvSpPr>
        <p:spPr>
          <a:xfrm>
            <a:off x="8183880" y="1481328"/>
            <a:ext cx="3291840" cy="640080"/>
          </a:xfrm>
          <a:prstGeom prst="rect">
            <a:avLst/>
          </a:prstGeom>
          <a:noFill/>
          <a:ln/>
        </p:spPr>
        <p:txBody>
          <a:bodyPr wrap="square" lIns="0" tIns="0" rIns="0" bIns="0" rtlCol="0" anchor="t"/>
          <a:lstStyle/>
          <a:p>
            <a:pPr indent="0" marL="0">
              <a:buNone/>
            </a:pPr>
            <a:r>
              <a:rPr lang="en-US" sz="1100" b="1" dirty="0">
                <a:solidFill>
                  <a:srgbClr val="64748B"/>
                </a:solidFill>
              </a:rPr>
              <a:t>NEXT STEPS</a:t>
            </a:r>
            <a:endParaRPr lang="en-US" sz="1400" dirty="0"/>
          </a:p>
        </p:txBody>
      </p:sp>
      <p:sp>
        <p:nvSpPr>
          <p:cNvPr id="13" name="Next list"/>
          <p:cNvSpPr txBox="1"/>
          <p:nvPr/>
        </p:nvSpPr>
        <p:spPr>
          <a:xfrm>
            <a:off x="8183880" y="1810512"/>
            <a:ext cx="3337560" cy="401421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Ask Infoblox for the Government Cloud boundary and a feature matrix for GovCloud and Azure Government accounts</a:t>
            </a:r>
            <a:endParaRPr lang="en-US" sz="1400" dirty="0"/>
          </a:p>
          <a:p>
            <a:pPr marL="342900" indent="-342900">
              <a:spcAft>
                <a:spcPts val="300"/>
              </a:spcAft>
              <a:buSzPct val="100000"/>
              <a:buChar char="•"/>
            </a:pPr>
            <a:r>
              <a:rPr lang="en-US" sz="1200" dirty="0">
                <a:solidFill>
                  <a:schemeClr val="tx2"/>
                </a:solidFill>
              </a:rPr>
              <a:t>Confirm Azure Government availability of DNS Private Resolver and AVNM IPAM</a:t>
            </a:r>
            <a:endParaRPr lang="en-US" sz="1400" dirty="0"/>
          </a:p>
          <a:p>
            <a:pPr marL="342900" indent="-342900">
              <a:spcAft>
                <a:spcPts val="300"/>
              </a:spcAft>
              <a:buSzPct val="100000"/>
              <a:buChar char="•"/>
            </a:pPr>
            <a:r>
              <a:rPr lang="en-US" sz="1200" dirty="0">
                <a:solidFill>
                  <a:schemeClr val="tx2"/>
                </a:solidFill>
              </a:rPr>
              <a:t>Size NIOS-X capacity if you want cloud forwarders</a:t>
            </a:r>
            <a:endParaRPr lang="en-US" sz="1400" dirty="0"/>
          </a:p>
          <a:p>
            <a:pPr marL="342900" indent="-342900">
              <a:spcAft>
                <a:spcPts val="300"/>
              </a:spcAft>
              <a:buSzPct val="100000"/>
              <a:buChar char="•"/>
            </a:pPr>
            <a:r>
              <a:rPr lang="en-US" sz="1200" dirty="0">
                <a:solidFill>
                  <a:schemeClr val="tx2"/>
                </a:solidFill>
              </a:rPr>
              <a:t>Test forwarding both ways from every origin</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08, Ch 02, 07, 08, 12; research: Infoblox DDI for Federal Agencies; research_multicloud, Couldn't verify (manual checks needed).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full glossary, open questions and source lists on the following slides. All sources opened Oct. 22,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Full glossary</a:t>
            </a:r>
            <a:endParaRPr lang="en-US" sz="3000" dirty="0"/>
          </a:p>
        </p:txBody>
      </p:sp>
      <p:graphicFrame>
        <p:nvGraphicFramePr>
          <p:cNvPr id="13" name="Glossary A"/>
          <p:cNvGraphicFramePr>
            <a:graphicFrameLocks noGrp="1"/>
          </p:cNvGraphicFramePr>
          <p:nvPr>
            <p:extLst>
              <p:ext uri="{D42A27DB-BD31-4B8C-83A1-F6EECF244321}">
                <p14:modId xmlns:p14="http://schemas.microsoft.com/office/powerpoint/2010/main" val="1579011935"/>
              </p:ext>
            </p:extLst>
          </p:nvPr>
        </p:nvGraphicFramePr>
        <p:xfrm>
          <a:off x="548640" y="1325880"/>
          <a:ext cx="9144000" cy="914400"/>
        </p:xfrm>
        <a:graphic>
          <a:graphicData uri="http://schemas.openxmlformats.org/drawingml/2006/table">
            <a:tbl>
              <a:tblPr firstRow="1" bandRow="1"/>
              <a:tblGrid>
                <a:gridCol w="1600200"/>
                <a:gridCol w="384048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Term</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Meaning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Grid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Two or more NIOS appliances sharing one distributed database, managed through one point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Grid Master (GM)</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Holds the master database, serves GUI and API; only DNSSEC signing primary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Grid Master Candidate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Member with a full database copy; promoted to GM manually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Grid member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Physical Trinzic or vNIOS appliance that serves DNS or DHCP and replicates with the GM</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Trinzic</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Infoblox's physical NIOS appliance line; current line X6</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vNIOS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NIOS virtual appliance (VMware, Hyper-V, KVM, AWS, Azure, Google Cloud, OCI)</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978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CNA / Cloud Platform</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NIOS licenses: CNA = GM cloud visibility, needed for Route 53 sync; CP = member answering cloud API calls (X6 only)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NIOS-X</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Universal DDI data plane (formerly BloxOne hosts); also NIOS-X as a Service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25" name="Glossary B"/>
          <p:cNvGraphicFramePr>
            <a:graphicFrameLocks noGrp="1"/>
          </p:cNvGraphicFramePr>
          <p:nvPr>
            <p:extLst>
              <p:ext uri="{D42A27DB-BD31-4B8C-83A1-F6EECF244321}">
                <p14:modId xmlns:p14="http://schemas.microsoft.com/office/powerpoint/2010/main" val="1579011935"/>
              </p:ext>
            </p:extLst>
          </p:nvPr>
        </p:nvGraphicFramePr>
        <p:xfrm>
          <a:off x="6080760" y="1325880"/>
          <a:ext cx="9144000" cy="914400"/>
        </p:xfrm>
        <a:graphic>
          <a:graphicData uri="http://schemas.openxmlformats.org/drawingml/2006/table">
            <a:tbl>
              <a:tblPr firstRow="1" bandRow="1"/>
              <a:tblGrid>
                <a:gridCol w="1920240"/>
                <a:gridCol w="3657600"/>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Term</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Meaning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8978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Universal DDI / Infoblox Portal</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SaaS control plane (formerly BloxOne DDI) / its console (formerly CSP); FedRAMP edition: Infoblox Government Cloud</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8978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IPAM Federation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Realms, blocks and delegations keeping space unique across NIOS, Universal DDI and cloud IPAMs; NIOS 9.0.4+</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Private hosted / private zone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Zone visible only to associated or linked VPCs or VNets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Route 53 VPC Resolver endpoint</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Inbound: queries in from on-prem. Outbound: queries out by forward, system or delegation rules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Azure DNS Private Resolver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Inbound and outbound endpoints in dedicated subnets plus forwarding rulesets</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Forwarding zone / inbound server policy</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Google Cloud's outbound and inbound conditional forwarding</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VPC IPAM / AVNM IPAM</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AWS / Azure IP planners; a VPC IPAM private scope can name Infoblox as authority (Advanced Tier)</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F2A44"/>
                          </a:solidFill>
                          <a:latin typeface="Calibri" pitchFamily="34" charset="0"/>
                          <a:ea typeface="Calibri" pitchFamily="34" charset="-122"/>
                          <a:cs typeface="Calibri" pitchFamily="34" charset="-120"/>
                        </a:rPr>
                        <a:t>Conditional forwarding · split-brain</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050" dirty="0">
                          <a:solidFill>
                            <a:srgbClr val="334155"/>
                          </a:solidFill>
                          <a:latin typeface="Calibri" pitchFamily="34" charset="0"/>
                          <a:ea typeface="Calibri" pitchFamily="34" charset="-122"/>
                          <a:cs typeface="Calibri" pitchFamily="34" charset="-120"/>
                        </a:rPr>
                        <a:t>"For this domain, ask that server" · two systems giving different answers for one name</a:t>
                      </a:r>
                      <a:endParaRPr lang="en-US" sz="10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research_multicloud §6 Glossary; research_platform (renames, Grid). Conditional forwarding defined in plain language from the forwarding docs cited.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we couldn't verify, and dropped</a:t>
            </a:r>
            <a:endParaRPr lang="en-US" sz="3000" dirty="0"/>
          </a:p>
        </p:txBody>
      </p:sp>
      <p:graphicFrame>
        <p:nvGraphicFramePr>
          <p:cNvPr id="14" name="Unverified"/>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4206240"/>
                <a:gridCol w="6903720"/>
              </a:tblGrid>
              <a:tr h="29260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Open question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Status as of Oct. 22, 2026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Azure Government: DNS Private Resolver and AVNM IPAM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Not verified; Microsoft's region page is client-rendered. Confirm before designing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Azure Private DNS zones in Azure Government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Seen only as a 2020 Azure Update search result, not opened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Government Cloud write sync, cloud forwarders, Cloud Grid Management with GovCloud and Azure Government accounts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Listed in the FedRAMP release stream; no page states end-to-end support. Ask Infoblox for the boundary and feature matrix</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NIOS managing Route 53 Resolver rules or Azure rulesets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NIOS doc found (absence of evidence)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Google Cloud IPAM equivalent; DNSSEC on Cloud DNS private zones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Not found or not researched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Zone transfers from Route 53 or Azure DNS to NIOS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Not checked; Google states Cloud DNS does not support zone transfers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vNIOS GovCloud AMI / Marketplace availability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Enablement section referenced, not opened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Infoblox FedRAMP High or DoD IL plans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 found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research_multicloud, Couldn't verify (manual check needed).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Infoblox NIOS and vNIOS</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2"/>
                </a:solidFill>
              </a:rPr>
              <a:t>S1 Selecting the Endpoint Server (nios91x)  ·  S2 vDiscovery – AWS (nios91x)  ·  S3 Performing vDiscovery on Virtual Networks (vniosazure)  ·  S4 Guidelines for Configuring vDiscovery Jobs  ·  S5 Creating DNS Records for Newly Discovered VMs.</a:t>
            </a:r>
            <a:endParaRPr lang="en-US" sz="1050" dirty="0"/>
          </a:p>
          <a:p>
            <a:pPr marL="342900" indent="-342900">
              <a:spcAft>
                <a:spcPts val="200"/>
              </a:spcAft>
              <a:buSzPct val="100000"/>
              <a:buChar char="•"/>
            </a:pPr>
            <a:r>
              <a:rPr lang="en-US" sz="1050" dirty="0">
                <a:solidFill>
                  <a:schemeClr val="tx2"/>
                </a:solidFill>
              </a:rPr>
              <a:t>S6 Cloud Network Automation (nios91x)  ·  S7 Cloud Platform License Limitations  ·  S8 Proxying Cloud API Requests  ·  S9 About the Infoblox AWS API Proxy (NAIG)  ·  S10 vNIOS for AWS Deployments  ·  S11 AWS API Proxy Use Cases  ·  S12 Limitations of vNIOS for AWS.</a:t>
            </a:r>
            <a:endParaRPr lang="en-US" sz="1050" dirty="0"/>
          </a:p>
          <a:p>
            <a:pPr marL="342900" indent="-342900">
              <a:spcAft>
                <a:spcPts val="200"/>
              </a:spcAft>
              <a:buSzPct val="100000"/>
              <a:buChar char="•"/>
            </a:pPr>
            <a:r>
              <a:rPr lang="en-US" sz="1050" dirty="0">
                <a:solidFill>
                  <a:schemeClr val="tx2"/>
                </a:solidFill>
              </a:rPr>
              <a:t>S13 Amazon Route 53 Integration Overview (NAIG)  ·  S14 Integrating Azure DNS with NIOS  ·  S15 Prerequisites for Route 53 Integration  ·  S16 Integrating Google Cloud DNS with NIOS  ·  S17 Azure DNS Integration best practices, limitations  ·  S18 Google Cloud DNS Integration best practices, limitations.</a:t>
            </a:r>
            <a:endParaRPr lang="en-US" sz="1050" dirty="0"/>
          </a:p>
          <a:p>
            <a:pPr marL="342900" indent="-342900">
              <a:spcAft>
                <a:spcPts val="200"/>
              </a:spcAft>
              <a:buSzPct val="100000"/>
              <a:buChar char="•"/>
            </a:pPr>
            <a:r>
              <a:rPr lang="en-US" sz="1050" dirty="0">
                <a:solidFill>
                  <a:schemeClr val="tx2"/>
                </a:solidFill>
              </a:rPr>
              <a:t>S19 Configure vNIOS as Primary DNS for Azure VNets  ·  S20 About vNIOS for Microsoft Azure  ·  S21 Deploying vNIOS for Azure from the Marketplace  ·  S24 Limitations of vNIOS for Google Cloud  ·  S25 About vNIOS for AWS  ·  S26 About vNIOS for Google Cloud  ·  S27 Shared-Services VPC Deployments  ·  S34 vNIOS for AWS with HA (BYOL/PayGo).</a:t>
            </a:r>
            <a:endParaRPr lang="en-US" sz="1050" dirty="0"/>
          </a:p>
          <a:p>
            <a:pPr marL="342900" indent="-342900">
              <a:spcAft>
                <a:spcPts val="200"/>
              </a:spcAft>
              <a:buSzPct val="100000"/>
              <a:buChar char="•"/>
            </a:pPr>
            <a:r>
              <a:rPr lang="en-US" sz="1050" dirty="0">
                <a:solidFill>
                  <a:schemeClr val="tx2"/>
                </a:solidFill>
              </a:rPr>
              <a:t>Platform research (research_platform.md): About Grids; Promoting a Grid Master Candidate; Configuring DNS Views; Configuring DNSSEC on a Grid; Setting DNSSEC Parameters; Thales Luna HSM; About Infoblox DNS Firewall; DHCP Failover; About Managing Microsoft Windows Servers; Network Views; What's New in Universal DDI (renames).</a:t>
            </a:r>
            <a:endParaRPr lang="en-US" sz="1050" dirty="0"/>
          </a:p>
          <a:p>
            <a:pPr marL="342900" indent="-342900">
              <a:spcAft>
                <a:spcPts val="200"/>
              </a:spcAft>
              <a:buSzPct val="100000"/>
              <a:buChar char="•"/>
            </a:pPr>
            <a:r>
              <a:rPr lang="en-US" sz="1050" dirty="0">
                <a:solidFill>
                  <a:schemeClr val="tx2"/>
                </a:solidFill>
              </a:rPr>
              <a:t>All Infoblox pages read at infoblox-docs.atlassian.net (the Confluence behind docs.infoblox.com), opened Oct. 22, 2026.</a:t>
            </a:r>
            <a:endParaRPr lang="en-US" sz="105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primary documents as listed; vendor marketing labeled (vendor). Access date for all: Oct. 22,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Universal DDI and the government edition</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2"/>
                </a:solidFill>
              </a:rPr>
              <a:t>S35 Onboarding NIOS Services (BloxOneDDI)  ·  S36 Enabling the NIOS Grid Connector Service  ·  S37 Managing NIOS from Infoblox Portal  ·  S40 Universal DDI and NIOS Grid Hybrid Deployment  ·  S56 Limitations of Universal DDI (Mar. 18, 2026).</a:t>
            </a:r>
            <a:endParaRPr lang="en-US" sz="1050" dirty="0"/>
          </a:p>
          <a:p>
            <a:pPr marL="342900" indent="-342900">
              <a:spcAft>
                <a:spcPts val="200"/>
              </a:spcAft>
              <a:buSzPct val="100000"/>
              <a:buChar char="•"/>
            </a:pPr>
            <a:r>
              <a:rPr lang="en-US" sz="1050" dirty="0">
                <a:solidFill>
                  <a:schemeClr val="tx2"/>
                </a:solidFill>
              </a:rPr>
              <a:t>S41 Limitations of AWS Route 53 Integration  ·  S42 Microsoft Azure Integration  ·  S43 Importing Azure Private Zones as Forward Zones  ·  S45 Google Cloud Platform Integration  ·  S46 Configuring and Creating Cloud Forwarders  ·  S47 Prerequisites for Cloud Forwarders  ·  S48 Discovering Cloud Forwarder Endpoints.</a:t>
            </a:r>
            <a:endParaRPr lang="en-US" sz="1050" dirty="0"/>
          </a:p>
          <a:p>
            <a:pPr marL="342900" indent="-342900">
              <a:spcAft>
                <a:spcPts val="200"/>
              </a:spcAft>
              <a:buSzPct val="100000"/>
              <a:buChar char="•"/>
            </a:pPr>
            <a:r>
              <a:rPr lang="en-US" sz="1050" dirty="0">
                <a:solidFill>
                  <a:schemeClr val="tx2"/>
                </a:solidFill>
              </a:rPr>
              <a:t>S38 AWS, Integrate VPC IPAM with Infoblox infrastructure; Infoblox, Amazon VPC IPAM and Universal DDI Integration  ·  S39 AWS What's New, VPC IPAM automates IP assignments from Infoblox IPAM (Nov. 17, 2025; excludes China and GovCloud).</a:t>
            </a:r>
            <a:endParaRPr lang="en-US" sz="1050" dirty="0"/>
          </a:p>
          <a:p>
            <a:pPr marL="342900" indent="-342900">
              <a:spcAft>
                <a:spcPts val="200"/>
              </a:spcAft>
              <a:buSzPct val="100000"/>
              <a:buChar char="•"/>
            </a:pPr>
            <a:r>
              <a:rPr lang="en-US" sz="1050" dirty="0">
                <a:solidFill>
                  <a:schemeClr val="tx2"/>
                </a:solidFill>
              </a:rPr>
              <a:t>S44, S50 What's New in Infoblox Universal DDI for FedRAMP (latest entry Mar. 14, 2026)  ·  S49 Infoblox blog, "Universal DDI Comes to Infoblox Government Cloud" (July 22, 2026) — vendor.</a:t>
            </a:r>
            <a:endParaRPr lang="en-US" sz="1050" dirty="0"/>
          </a:p>
          <a:p>
            <a:pPr marL="342900" indent="-342900">
              <a:spcAft>
                <a:spcPts val="200"/>
              </a:spcAft>
              <a:buSzPct val="100000"/>
              <a:buChar char="•"/>
            </a:pPr>
            <a:r>
              <a:rPr lang="en-US" sz="1050" dirty="0">
                <a:solidFill>
                  <a:schemeClr val="tx2"/>
                </a:solidFill>
              </a:rPr>
              <a:t>S51–S55 Universal Asset Insights: Creating AWS and Azure Credentials; AWS, Azure and GCP General discovery pages (GovCloud (FedRAMP) limits).</a:t>
            </a:r>
            <a:endParaRPr lang="en-US" sz="1050" dirty="0"/>
          </a:p>
          <a:p>
            <a:pPr marL="342900" indent="-342900">
              <a:spcAft>
                <a:spcPts val="200"/>
              </a:spcAft>
              <a:buSzPct val="100000"/>
              <a:buChar char="•"/>
            </a:pPr>
            <a:r>
              <a:rPr lang="en-US" sz="1050" dirty="0">
                <a:solidFill>
                  <a:schemeClr val="tx2"/>
                </a:solidFill>
              </a:rPr>
              <a:t>FedRAMP Marketplace dataset, fedramp.gov/marketplace/products.json: FR2017257053 Infoblox Government Cloud (FedRAMP Certified, Moderate, Agency path, SaaS, AWS GovCloud (US)).</a:t>
            </a:r>
            <a:endParaRPr lang="en-US" sz="105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primary documents as listed; vendor marketing labeled (vendor). Access date for all: Oct. 22,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AWS, Microsoft, Google and Book 08</a:t>
            </a:r>
            <a:endParaRPr lang="en-US" sz="3000" dirty="0"/>
          </a:p>
        </p:txBody>
      </p:sp>
      <p:sp>
        <p:nvSpPr>
          <p:cNvPr id="3" name="Source list"/>
          <p:cNvSpPr txBox="1"/>
          <p:nvPr/>
        </p:nvSpPr>
        <p:spPr>
          <a:xfrm>
            <a:off x="548640" y="1325880"/>
            <a:ext cx="11064240" cy="4663440"/>
          </a:xfrm>
          <a:prstGeom prst="rect">
            <a:avLst/>
          </a:prstGeom>
          <a:noFill/>
          <a:ln/>
        </p:spPr>
        <p:txBody>
          <a:bodyPr wrap="square" lIns="0" tIns="0" rIns="0" bIns="0" rtlCol="0" anchor="t"/>
          <a:lstStyle/>
          <a:p>
            <a:pPr marL="342900" indent="-342900">
              <a:spcAft>
                <a:spcPts val="200"/>
              </a:spcAft>
              <a:buSzPct val="100000"/>
              <a:buChar char="•"/>
            </a:pPr>
            <a:r>
              <a:rPr lang="en-US" sz="1050" dirty="0">
                <a:solidFill>
                  <a:schemeClr val="tx2"/>
                </a:solidFill>
              </a:rPr>
              <a:t>AWS: S10a What is IPAM?  ·  S22 Working with private hosted zones  ·  S23 DHCP option sets  ·  S30 What is Route 53 VPC Resolver?  ·  S31 Forwarding outbound queries  ·  S33 Resolving queries between VPCs and your network  ·  S57 Forwarding inbound queries  ·  S58 Modify IPAM tier.</a:t>
            </a:r>
            <a:endParaRPr lang="en-US" sz="1050" dirty="0"/>
          </a:p>
          <a:p>
            <a:pPr marL="342900" indent="-342900">
              <a:spcAft>
                <a:spcPts val="200"/>
              </a:spcAft>
              <a:buSzPct val="100000"/>
              <a:buChar char="•"/>
            </a:pPr>
            <a:r>
              <a:rPr lang="en-US" sz="1050" dirty="0">
                <a:solidFill>
                  <a:schemeClr val="tx2"/>
                </a:solidFill>
              </a:rPr>
              <a:t>AWS: S59 VPC IPAM in GovCloud (US) (Dec. 8, 2022)  ·  S60 VPC IPAM in Asia Pacific (Taipei) (June 13, 2025)  ·  S61 GovCloud (US) User Guide, Amazon Route 53  ·  S62 General Reference, Route 53 endpoints  ·  S63 Configuring DNSSEC signing in Route 53  ·  GovCloud VPC differences.</a:t>
            </a:r>
            <a:endParaRPr lang="en-US" sz="1050" dirty="0"/>
          </a:p>
          <a:p>
            <a:pPr marL="342900" indent="-342900">
              <a:spcAft>
                <a:spcPts val="200"/>
              </a:spcAft>
              <a:buSzPct val="100000"/>
              <a:buChar char="•"/>
            </a:pPr>
            <a:r>
              <a:rPr lang="en-US" sz="1050" dirty="0">
                <a:solidFill>
                  <a:schemeClr val="tx2"/>
                </a:solidFill>
              </a:rPr>
              <a:t>Microsoft Learn: S28 What is Azure DNS Private Resolver?  ·  S29 Name resolution for resources in Azure virtual networks  ·  S64 What is Azure Private DNS?  ·  S65 IPAM in Azure Virtual Network Manager  ·  S66 Azure DNSSEC overview  ·  Azure Government vs global Azure.</a:t>
            </a:r>
            <a:endParaRPr lang="en-US" sz="1050" dirty="0"/>
          </a:p>
          <a:p>
            <a:pPr marL="342900" indent="-342900">
              <a:spcAft>
                <a:spcPts val="200"/>
              </a:spcAft>
              <a:buSzPct val="100000"/>
              <a:buChar char="•"/>
            </a:pPr>
            <a:r>
              <a:rPr lang="en-US" sz="1050" dirty="0">
                <a:solidFill>
                  <a:schemeClr val="tx2"/>
                </a:solidFill>
              </a:rPr>
              <a:t>Google Cloud: S32, S67 Cloud DNS best practices  ·  S68 DNS server policies overview  ·  S69 Assured Workloads supported products  ·  Forwarding zones.</a:t>
            </a:r>
            <a:endParaRPr lang="en-US" sz="1050" dirty="0"/>
          </a:p>
          <a:p>
            <a:pPr marL="342900" indent="-342900">
              <a:spcAft>
                <a:spcPts val="200"/>
              </a:spcAft>
              <a:buSzPct val="100000"/>
              <a:buChar char="•"/>
            </a:pPr>
            <a:r>
              <a:rPr lang="en-US" sz="1050" dirty="0">
                <a:solidFill>
                  <a:schemeClr val="tx2"/>
                </a:solidFill>
              </a:rPr>
              <a:t>Book 08, Federal Modernization Workbook: Ch 02 (Split-Brain DNS), Ch 07 (Cloud Private Endpoints, SDN and IPAM), Ch 08 (Reference Architecture; What a DDI policy plane is made of), Ch 12 (Platform Selection, Cost and Residual Risk).</a:t>
            </a:r>
            <a:endParaRPr lang="en-US" sz="1050" dirty="0"/>
          </a:p>
          <a:p>
            <a:pPr marL="342900" indent="-342900">
              <a:spcAft>
                <a:spcPts val="200"/>
              </a:spcAft>
              <a:buSzPct val="100000"/>
              <a:buChar char="•"/>
            </a:pPr>
            <a:r>
              <a:rPr lang="en-US" sz="1050" dirty="0">
                <a:solidFill>
                  <a:schemeClr val="tx2"/>
                </a:solidFill>
              </a:rPr>
              <a:t>Research: Infoblox DDI for Federal Agencies (technical deep dive, under review); research briefs on platform, federal requirements, comparison and divisions, verified Oct. 22, 2026.</a:t>
            </a:r>
            <a:endParaRPr lang="en-US" sz="105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primary documents as listed; vendor marketing labeled (vendor). Access date for all: Oct. 22,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Trinzic Alone, or Trinzic Plus Cloud DDI? — Explainer</dc:title>
  <dc:subject>PptxGenJS Presentation</dc:subject>
  <dc:creator>Michael F. Stratton</dc:creator>
  <cp:lastModifiedBy>Michael F. Stratton</cp:lastModifiedBy>
  <cp:revision>1</cp:revision>
  <dcterms:created xsi:type="dcterms:W3CDTF">2026-10-22T15:46:34Z</dcterms:created>
  <dcterms:modified xsi:type="dcterms:W3CDTF">2026-10-22T15:46:34Z</dcterms:modified>
</cp:coreProperties>
</file>