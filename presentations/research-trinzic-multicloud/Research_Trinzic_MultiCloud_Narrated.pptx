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ainer" id="{3B31FAFC-981E-76D5-0444-DD68762DF5EE}">
          <p14:sldIdLst>
            <p14:sldId id="256"/>
            <p14:sldId id="257"/>
            <p14:sldId id="258"/>
            <p14:sldId id="259"/>
            <p14:sldId id="260"/>
            <p14:sldId id="261"/>
            <p14:sldId id="262"/>
            <p14:sldId id="263"/>
            <p14:sldId id="264"/>
            <p14:sldId id="265"/>
          </p14:sldIdLst>
        </p14:section>
        <p14:section name="Backup" id="{888F7C3C-BFED-3918-8651-AC14B5BE90D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778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[0:00–1:03]  This explainer answers a question architects hit as soon as workloads move to the cloud. If we already run Infoblox Trinzic appliances on premises, can they handle DNS, DHCP and IP address management for AWS, Azure and Google Cloud by themselves? Or do we need to add some form of cloud-based DDI?
It's built for someone still learning DDI, so every term is explained the first time it appears. We start with the vocabulary, then what Trinzic does well and where it stops at the cloud edge. Then three options: Infoblox virtual appliances in each cloud, Infoblox's cloud service, and native cloud DNS alongside the Grid. Then the rules that keep answers consistent, a decision table, and where this fits the workbook.
This is research under review. Every fact comes from vendor or government documentation opened on October twenty-second, 2026, and recommendations are labeled as design guidance, not endorsements.
Sources: Infoblox NIOS 9.1.x, vNIOS and Universal DDI documentation; AWS, Microsoft Learn and Google Cloud documentation; FedRAMP Marketplace products.json; Book 08.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[1:03–3:03]  First, the words you need.
DDI stands for DNS, DHCP and IPAM. DNS turns names into addresses. DHCP hands addresses to devices when they join a network. And IPAM, IP address management, is the record of which address ranges exist and who owns them. An authoritative server holds the official answer for a zone, a block of names such as corp dot agency dot gov. A resolver is the server your computer asks; it finds the answer.
A Grid is two or more Infoblox appliances that share one database and are managed from one place. That place is the Grid Master, which holds the master copy, serves the console, and is the only appliance that can sign zones with DNSSEC. Every other appliance is a member. Trinzic is Infoblox's physical appliance line; the current one is X6. vNIOS is the same software as a virtual machine, including in AWS, Azure and Google Cloud, and it can join the Grid. NIOS-X is a newer kind of server, managed from Infoblox's cloud service, Universal DDI, whose web console is the Infoblox Portal.
The cloud words. In AWS, the resolver built into every virtual private cloud, or VPC, is now called Route 53 VPC Resolver. Its endpoints are addresses that let queries come in from outside, or go out by rules. A private hosted zone in AWS, or a private zone in Azure or Google, is a zone that only linked cloud networks can see. VPC IPAM is AWS's address planner. And Azure DNS Private Resolver is Azure's version of those endpoints.
Last, split-brain: two systems each believe they own a name and give different answers depending on who asks. Avoiding it is the point of this deck.
Sources: Research glossary: Infoblox NIOS 9.1.x About Grids and Grid Master Candidate; vNIOS for AWS, Azure and Google Cloud; Universal DDI What's New (renames); AWS What is Route 53 VPC Resolver, private hosted zones, What is IPAM; Microsoft Learn Azure DNS Private Resolver; Google Cloud DNS best practices.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[3:03–4:34]  On premises, a Trinzic Grid is the agency's DNS and DHCP servers plus its address record, all managed from the Grid Master. Changes made there replicate to every member over encrypted tunnels.
It does several things well. DNS views let one Grid give internal clients one answer and outside clients another, on purpose. Response policy zones, which Infoblox calls DNS Firewall, block or redirect bad names, up to thirty-two of them, with hits logged to syslog. DNSSEC signing is centralized: only the Grid Master can be primary for a signed zone, and keys live on the Grid Master or on an external hardware security module, a Thales Luna or Entrust nShield, but not both. One caution: the default algorithm is RSA with SHA-1, which a federal deployment should change. DHCP runs as failover pairs. And the Grid can manage existing Windows DNS and DHCP servers without agents.
Why does that matter? Book 08 of the workbook argues for one DDI policy plane: a single system of record for zones, forwarding rules, address data and security policy, with cloud DNS managed as an overlay, not replaced. On premises, the Grid fits that role. The question is the cloud edge. And note that on-premises appliances aren't a FedRAMP cloud service; they sit inside the agency's own boundary.
Sources: Infoblox NIOS 9.1.x: About Grids, Configuring DNS Views, About Infoblox DNS Firewall, Configuring DNSSEC on a Grid, Setting DNSSEC Parameters, DHCP Failover, About Managing Microsoft Windows Servers; Book 08, Chapter 08, What a DDI policy plane is made of; FedRAMP Marketplace products.json (FR2017257053 scope).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[4:34–6:08]  It can see. vDiscovery logs in to AWS, Azure, Google Cloud or VMware on a schedule and pulls back networks and virtual machines. AWS jobs have a GovCloud option, and Azure jobs cover Azure Government. Discovered subnets become managed networks, and the Grid can create records for discovered machines in zones it already has. It's a scheduled pull, not a live feed.
It can also import cloud zones. With a Cloud Network Automation license, NIOS copies Route 53, Azure DNS and Google Cloud DNS zones into the Grid, so on-premises clients can resolve cloud names. The import is one way. For Route 53, Infoblox says the sync runs into NIOS, not vice versa, and NIOS edits to those records are overwritten.
Now what it can't control. It can't create or own a cloud private zone. No NIOS document describes managing Route 53 VPC Resolver endpoints or rules, or Azure's forwarding rulesets. It can't be the outside authority for AWS VPC IPAM; that's a Universal DDI feature. And it can't run DHCP for cloud subnets. AWS hands out addresses from its own DHCP servers. Google limits vNIOS DHCP to on-premises networks, and Azure doesn't support running DHCP in Azure for on-premises networks.
So, as an inference: in the cloud, Infoblox's job is DNS and IPAM, and the cloud's resolver still answers cloud private zones.
Sources: Infoblox NIOS 9.1.x Selecting the Endpoint Server, vDiscovery AWS, Guidelines for vDiscovery Jobs, Creating DNS Records for Discovered VMs, Cloud Network Automation; Amazon Route 53 Integration Overview; Integrating Azure DNS and Google Cloud DNS with NIOS and their limitations pages; AWS DHCP option sets; Limitations of vNIOS for Google Cloud; About vNIOS for Azure.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[6:08–7:44]  Option A puts vNIOS members inside each cloud, as Grid members and high-availability pairs. Infoblox's AWS reference design puts the pair in a shared-services hub VPC that syncs with the on-premises Grid Master. Signed zones stay signed: the members serve them, but the keys stay on the Grid Master.
How do cloud workloads reach vNIOS? Two documented patterns.
Pattern one: point the network's DNS at vNIOS. In AWS that's a DHCP option set; in Azure, the virtual network's custom DNS setting. Simple, with a catch. In Azure, queries then go straight to vNIOS, and Azure private zones aren't consulted first. So vNIOS has to forward Azure-private names back to Azure DNS at 168.63.129.16, or to a Private Resolver inbound endpoint.
Pattern two: keep the cloud's own resolver and forward chosen domains to vNIOS. In AWS, that's an outbound endpoint and one forwarding rule per domain, and rules can be shared across accounts. In Azure, it's an outbound endpoint and a forwarding ruleset, and clients change nothing. In Google, it's a forwarding zone, which Google prefers.
One AWS caution. If vNIOS has to resolve Route 53 private zones for other networks, forward to an inbound endpoint. AWS says forwarding to a VPC's built-in plus-two resolver address from outside that VPC isn't supported.
And every vNIOS member is agency-operated and inside the agency's boundary; no FedRAMP authorization covers it.
Sources: Infoblox About vNIOS for AWS, Shared-Services VPC Deployments, About vNIOS for Azure, Configure vNIOS as Primary DNS for Azure VNets, vNIOS for Google Cloud; AWS DHCP option sets, What is Route 53 VPC Resolver, Forwarding outbound queries, Resolving queries between VPCs and your network; Microsoft Learn DNS Private Resolver and VNet name resolution; Google Cloud DNS best practices; research_platform (DNSSEC on a Grid).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[7:44–9:28]  Option B joins the Grid to Universal DDI, Infoblox's software-as-a-service control plane.
You add a join token from the Infoblox Portal to the Grid, then turn on IPAM Federation and Cloud Grid Management. Federation, which needs NIOS 9.0.4 or later, keeps address space unique everywhere. The Grid stays primary for its DNS data.
What does it add? It's the only documented Infoblox mechanism that writes back to cloud DNS. It syncs Route 53, Azure DNS and Google Cloud DNS read-write, and it discovers resolver endpoints and rules in AWS and Azure. Cloud forwarders take queries in from a cloud, and cloud to cloud only between AWS and Azure. And on commercial AWS, Infoblox can be the outside authority for a VPC IPAM private scope, on the Advanced Tier.
The limits are documented. Route 53 sync doesn't support non-simple routing policies. Azure and Google private zones can't be created from the portal. DNSSEC records aren't synced. And the portal can't promote a Grid Master Candidate or manage DHCP failover, so the Grid Master stays the recovery console.
Two more notes. The cloud forwarding and private-zone features run on NIOS-X servers, not classic Trinzic, so you'd need NIOS-X capacity. And the government edition: Infoblox Government Cloud is FedRAMP Certified at Moderate, hosted in AWS GovCloud. Its cloud discovery is limited: single AWS accounts and no Azure tenants. The VPC IPAM handoff isn't in its release notes, and AWS excludes GovCloud from that integration. Confirm the rest with Infoblox.
Sources: Infoblox Onboarding NIOS Services, NIOS Grid Connector, Managing NIOS from Infoblox Portal, Universal DDI and NIOS Grid Hybrid Deployment, Limitations of AWS Route 53 Integration, Microsoft Azure Integration, Google Cloud Platform Integration, Cloud Forwarders and prerequisites, Discovering Cloud Forwarder Endpoints, Limitations of Universal DDI; AWS Integrate VPC IPAM with Infoblox and What's New Nov. 17, 2025; What's New in Universal DDI for FedRAMP; Universal Asset Insights AWS, Azure, GCP discovery pages; FedRAMP Marketplace FR2017257053.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[9:28–11:07]  Option C keeps the Grid authoritative for agency zones and lets each cloud's native DNS own its own private zones. The two connect by conditional forwarding: a rule that says, for names ending in this domain, ask that server.
Inward: the Grid forwards cloud domains to an inbound endpoint in AWS or Azure, or to an inbound server policy address in Google, over Direct Connect, ExpressRoute or VPN. Outward: each cloud forwards agency domains to the Grid, with an outbound endpoint and rules in AWS, a ruleset in Azure, or a forwarding zone in Google.
Facts to know. A Route 53 private hosted zone answers only inside its linked VPCs or through an inbound endpoint. Asked from anywhere else, the name resolves on the public internet instead. In Azure, a network using Azure-provided DNS checks linked private zones first, then forwarding rulesets, then Azure DNS. Google recommends exactly this design: two authoritative systems, conditional forwarding, no zone transfers.
In GovCloud, Route 53 public and private DNS work, and Resolver endpoints and rules are available, but Resolver delegation isn't.
Addresses follow the same idea. The Grid owns the agency's address blocks and hands each cloud a block. On commercial AWS, that handoff can be automated through Universal DDI. In GovCloud, Azure and Google, it's manual: reserve the block in the Grid, create the cloud pool with that range, and let vDiscovery check the result.
Sources: AWS Working with private hosted zones, What is Route 53 VPC Resolver, Forwarding inbound and outbound queries, Resolving queries between VPCs and your network, GovCloud Route 53 user guide, Route 53 endpoints; Microsoft Learn DNS Private Resolver, Azure Private DNS, AVNM IPAM; Google Cloud DNS best practices and server policies; AWS Integrate VPC IPAM with Infoblox and What's New Nov. 17, 2025.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[11:07–12:39]  Whatever option you pick, four rules prevent split-brain.
One: every zone has exactly one writable owner. That's the Grid, Route 53, Azure Private DNS or Cloud DNS, never two. Everything else reaches the owner by forwarding, or holds a copy that is explicitly read-only. NIOS overwrites edits to imported cloud zones, and portal-owned resolver rules overwrite cloud-side changes. So decide ownership before you turn sync on.
Two: divide the namespace by owner. For example, corp dot agency dot gov lives on the Grid, and aws dot corp dot agency dot gov lives in a Route 53 private hosted zone. On-premises resolvers forward the child to AWS, and AWS forwards the parent to the Grid. AWS also allows inbound delegation, but Resolver delegation isn't available in GovCloud. And don't create a cloud private zone with the same name as a Grid zone unless it's a deliberate split-horizon view.
Three: DNSSEC keys stay on the Grid Master or its hardware security module. Route 53 can't sign private hosted zones, and Universal DDI doesn't sync DNSSEC records, so don't sign in one system and manage through sync from another. Validation belongs on agency resolvers; the Azure-provided resolver doesn't validate.
Four: IPAM authority stays on the Grid. Clouds get delegated blocks, and one network view for routable space lets the Grid catch overlaps.
Sources: Research synthesis, Avoiding split-brain, DNSSEC keys and IPAM authority: Infoblox Route 53, Azure DNS and GCP sync pages; Discovering Cloud Forwarder Endpoints; AWS private hosted zones, Resolver, GovCloud Route 53, DNSSEC signing; Microsoft Learn DNS Private Resolver and Azure DNSSEC; Google Cloud DNS best practices; Infoblox DNSSEC on a Grid and Network Views; Book 08, Chapter 02.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[12:39–14:12]  The decision table. Every row is design guidance, not an endorsement, resting on the facts we've covered.
Mostly on premises, with a small cloud footprint: Trinzic with native cloud resolvers and conditional forwarding, the minimal form of Option C. It's the lowest cost, needs no new SaaS authorization, and NIOS can't own cloud zones anyway.
Hybrid with one cloud, commercial or government: add an HA vNIOS pair in a hub network, Option A plus C. It keeps resolution local if the WAN fails and extends response policy, signed zones and Grid IPAM into the cloud. vNIOS is documented for both GovCloud and Azure Government.
Multi-cloud at FedRAMP Moderate and below: add Universal DDI on top, through Government Cloud for federal work. It's the only Infoblox mechanism that writes to cloud DNS, within the Government Cloud limits.
GovCloud, Azure Government, FedRAMP High, or Defense Impact Levels 4 and 5: stay with options A and C only. Infoblox's SaaS is Moderate-only, the VPC IPAM integration excludes GovCloud, and native services carry the higher authorizations. Google lists Cloud DNS for High, IL4 and IL5 under Assured Workloads. For Azure Government, confirm DNS Private Resolver is available first.
In short, the design guidance is: Trinzic plus native cloud resolvers as the baseline, with vNIOS and Universal DDI added only where they earn their place.
Sources: Research decision guidance table and its cited sources: Infoblox vDiscovery, vNIOS for AWS and Azure, Route 53 sync, Universal DDI integrations and FedRAMP release notes, Universal Asset Insights discovery pages; AWS Resolver, VPC IPAM + Infoblox, GovCloud Route 53; Google Assured Workloads supported products; FedRAMP Marketplace products.json.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[14:12–15:20]  Where does this fit? Book 08 makes the vendor-neutral case. Chapter 02 explains split-brain, Chapter 07 covers cloud private endpoints and IPAM, Chapter 08 describes the policy plane that overlays cloud DNS, and Chapter 12 covers platform selection. The research deep dive, Infoblox DDI for Federal Agencies, covers the platform, its FedRAMP scope, its risks, and how divisions share it.
The decisions to take: which option for each cloud and impact level; one named owner for every zone; where DNSSEC keys live; and how address blocks reach each cloud.
The next steps. Ask Infoblox for the Government Cloud authorization boundary and a feature matrix for GovCloud and Azure Government accounts. Confirm that DNS Private Resolver and Virtual Network Manager IPAM are available in Azure Government. Size NIOS-X capacity if you want cloud forwarders. And test forwarding in both directions from every origin.
One note on standing: this is research under review, not an endorsement by any federal agency. Thank you.
Sources: Book 08, Chapters 02, 07, 08 and 12; research item Infoblox DDI for Federal Agencies; research_multicloud, Couldn't verify.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Trinzic Alone, or Trinzic Plus Cloud DDI?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Trinzic Alone, or Trinzic Plus Cloud DDI?</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 plain-language explainer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8872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ABOUT 15 MINUTES  ·  BUILT FOR ARCHITECTS STILL LEARNING DDI</a:t>
            </a:r>
            <a:endParaRPr lang="en-US" sz="1500" dirty="0"/>
          </a:p>
          <a:p>
            <a:pPr marL="0" indent="0">
              <a:spcAft>
                <a:spcPts val="200"/>
              </a:spcAft>
              <a:buNone/>
            </a:pPr>
            <a:r>
              <a:rPr lang="en-US" sz="1500" dirty="0">
                <a:solidFill>
                  <a:srgbClr val="334155"/>
                </a:solidFill>
              </a:rPr>
              <a:t>The words you need  ·  What Trinzic does well, and where it stops at the cloud edge</a:t>
            </a:r>
            <a:endParaRPr lang="en-US" sz="1500" dirty="0"/>
          </a:p>
          <a:p>
            <a:pPr marL="0" indent="0">
              <a:spcAft>
                <a:spcPts val="200"/>
              </a:spcAft>
              <a:buNone/>
            </a:pPr>
            <a:r>
              <a:rPr lang="en-US" sz="1500" dirty="0">
                <a:solidFill>
                  <a:srgbClr val="334155"/>
                </a:solidFill>
              </a:rPr>
              <a:t>Three options: vNIOS in each cloud · Grid + Universal DDI · Grid + native cloud DNS</a:t>
            </a:r>
            <a:endParaRPr lang="en-US" sz="1500" dirty="0"/>
          </a:p>
          <a:p>
            <a:pPr marL="0" indent="0">
              <a:spcAft>
                <a:spcPts val="200"/>
              </a:spcAft>
              <a:buNone/>
            </a:pPr>
            <a:r>
              <a:rPr lang="en-US" sz="1500" dirty="0">
                <a:solidFill>
                  <a:srgbClr val="334155"/>
                </a:solidFill>
              </a:rPr>
              <a:t>Rules that prevent split-brain  ·  Which option fits which agency</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vNIOS and Universal DDI docs; AWS, Microsoft Learn and Google Cloud docs; FedRAMP Marketplace; Book 08. All opened Oct. 22,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9F06E692-E780-3A9A-EB0F-D2F214FE08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6A5273-5C97-4E66-8B3F-76895A020B8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870"/>
    </mc:Choice>
    <mc:Fallback>
      <p:transition spd="slow" advTm="50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87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words you need before we start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Basics">
            <a:extLst>
              <a:ext uri="{C183D7F6-B498-43B3-948B-1728B52AA6E4}">
                <adec:decorative xmlns:adec="http://schemas.microsoft.com/office/drawing/2017/decorative" val="1"/>
              </a:ext>
            </a:extLst>
          </p:cNvPr>
          <p:cNvSpPr/>
          <p:nvPr/>
        </p:nvSpPr>
        <p:spPr>
          <a:xfrm>
            <a:off x="548640" y="1325880"/>
            <a:ext cx="11109960" cy="658368"/>
          </a:xfrm>
          <a:prstGeom prst="roundRect">
            <a:avLst>
              <a:gd name="adj" fmla="val 111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Basics text"/>
          <p:cNvSpPr txBox="1"/>
          <p:nvPr/>
        </p:nvSpPr>
        <p:spPr>
          <a:xfrm>
            <a:off x="685800" y="1371600"/>
            <a:ext cx="10835640" cy="566928"/>
          </a:xfrm>
          <a:prstGeom prst="rect">
            <a:avLst/>
          </a:prstGeom>
          <a:noFill/>
          <a:ln/>
        </p:spPr>
        <p:txBody>
          <a:bodyPr wrap="square" lIns="0" tIns="0" rIns="0" bIns="0" rtlCol="0" anchor="ctr"/>
          <a:lstStyle/>
          <a:p>
            <a:pPr marL="0" indent="0">
              <a:buNone/>
            </a:pPr>
            <a:r>
              <a:rPr lang="en-US" sz="1250" b="1" dirty="0">
                <a:solidFill>
                  <a:srgbClr val="0F766E"/>
                </a:solidFill>
              </a:rPr>
              <a:t>DDI </a:t>
            </a:r>
            <a:r>
              <a:rPr lang="en-US" sz="1250" dirty="0">
                <a:solidFill>
                  <a:schemeClr val="tx2"/>
                </a:solidFill>
              </a:rPr>
              <a:t>= DNS (names to addresses) + DHCP (hands addresses to devices) + IPAM (the record of who owns which address ranges).  </a:t>
            </a:r>
            <a:r>
              <a:rPr lang="en-US" sz="1250" b="1" dirty="0">
                <a:solidFill>
                  <a:srgbClr val="0F766E"/>
                </a:solidFill>
              </a:rPr>
              <a:t>Authoritative server: </a:t>
            </a:r>
            <a:r>
              <a:rPr lang="en-US" sz="1250" dirty="0">
                <a:solidFill>
                  <a:schemeClr val="tx2"/>
                </a:solidFill>
              </a:rPr>
              <a:t>holds the official answer for a zone.  </a:t>
            </a:r>
            <a:r>
              <a:rPr lang="en-US" sz="1250" b="1" dirty="0">
                <a:solidFill>
                  <a:srgbClr val="0F766E"/>
                </a:solidFill>
              </a:rPr>
              <a:t>Resolver: </a:t>
            </a:r>
            <a:r>
              <a:rPr lang="en-US" sz="1250" dirty="0">
                <a:solidFill>
                  <a:schemeClr val="tx2"/>
                </a:solidFill>
              </a:rPr>
              <a:t>the server a client asks; it finds the answer.</a:t>
            </a:r>
            <a:endParaRPr lang="en-US" sz="1250" dirty="0"/>
          </a:p>
        </p:txBody>
      </p:sp>
      <p:graphicFrame>
        <p:nvGraphicFramePr>
          <p:cNvPr id="7" name="Infoblox terms"/>
          <p:cNvGraphicFramePr>
            <a:graphicFrameLocks noGrp="1"/>
          </p:cNvGraphicFramePr>
          <p:nvPr>
            <p:extLst>
              <p:ext uri="{D42A27DB-BD31-4B8C-83A1-F6EECF244321}">
                <p14:modId xmlns:p14="http://schemas.microsoft.com/office/powerpoint/2010/main" val="1579011935"/>
              </p:ext>
            </p:extLst>
          </p:nvPr>
        </p:nvGraphicFramePr>
        <p:xfrm>
          <a:off x="548640" y="2148840"/>
          <a:ext cx="9144000" cy="91440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Infoblox term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Plain meaning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Grid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Two or more Infoblox NIOS appliances sharing one database, managed from one 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Grid Master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appliance or HA pair with the master database; serves the console and API; the only DNSSEC signing primary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Member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Any other appliance in the Grid; serves DNS or DHCP and replicates with the Grid Master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Trinzic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Infoblox's physical NIOS appliance line; the current line is X6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vNIOS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NIOS as a virtual machine (VMware, AWS, Azure, Google Cloud, OCI and others) that can join a Grid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NIOS-X</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Newer servers managed from the Infoblox Portal (formerly BloxOne hosts): the Universal DDI data plane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8" name="Cloud terms"/>
          <p:cNvGraphicFramePr>
            <a:graphicFrameLocks noGrp="1"/>
          </p:cNvGraphicFramePr>
          <p:nvPr>
            <p:extLst>
              <p:ext uri="{D42A27DB-BD31-4B8C-83A1-F6EECF244321}">
                <p14:modId xmlns:p14="http://schemas.microsoft.com/office/powerpoint/2010/main" val="1579011935"/>
              </p:ext>
            </p:extLst>
          </p:nvPr>
        </p:nvGraphicFramePr>
        <p:xfrm>
          <a:off x="6172200" y="214884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Cloud and DNS term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Plain meaning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Universal DDI / Infoblox Portal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Infoblox's SaaS control plane (formerly BloxOne DDI) and its web console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Route 53 VPC Resolver endpoints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AWS's in-VPC resolver (renamed from Route 53 Resolver); inbound takes queries in, outbound sends them out by rules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Private hosted zone / private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zone only linked VPCs or VNets can see (AWS / Azure, Google)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VPC 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AWS's organization-wide IP planner; pools hand out address ranges to VPCs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 Private Resolver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Azure's managed resolver: inbound and outbound endpoints plus forwarding rulesets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Split-brain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Two systems each think they own a name and give different answers depending on who asks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glossary built from Infoblox NIOS 9.1.x About Grids, vNIOS and Universal DDI docs; AWS Route 53, VPC IPAM; Microsoft Learn; Google Cloud DNS.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7132FBD4-DA52-FA21-55AF-A911CF74DEC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6F80CA-57E9-495C-9D98-692062BA53F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790"/>
    </mc:Choice>
    <mc:Fallback>
      <p:transition spd="slow" advTm="52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79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Trinzic is, and what it does well on premises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GM">
            <a:extLst>
              <a:ext uri="{C183D7F6-B498-43B3-948B-1728B52AA6E4}">
                <adec:decorative xmlns:adec="http://schemas.microsoft.com/office/drawing/2017/decorative" val="1"/>
              </a:ext>
            </a:extLst>
          </p:cNvPr>
          <p:cNvSpPr/>
          <p:nvPr/>
        </p:nvSpPr>
        <p:spPr>
          <a:xfrm>
            <a:off x="548640" y="1417320"/>
            <a:ext cx="4206240" cy="868680"/>
          </a:xfrm>
          <a:prstGeom prst="roundRect">
            <a:avLst>
              <a:gd name="adj" fmla="val 842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GM text"/>
          <p:cNvSpPr txBox="1"/>
          <p:nvPr/>
        </p:nvSpPr>
        <p:spPr>
          <a:xfrm>
            <a:off x="640080" y="1481328"/>
            <a:ext cx="4023360" cy="740664"/>
          </a:xfrm>
          <a:prstGeom prst="rect">
            <a:avLst/>
          </a:prstGeom>
          <a:noFill/>
          <a:ln/>
        </p:spPr>
        <p:txBody>
          <a:bodyPr wrap="square" lIns="0" tIns="0" rIns="0" bIns="0" rtlCol="0" anchor="ctr"/>
          <a:lstStyle/>
          <a:p>
            <a:pPr marL="0" indent="0">
              <a:spcAft>
                <a:spcPts val="100"/>
              </a:spcAft>
              <a:buNone/>
            </a:pPr>
            <a:r>
              <a:rPr lang="en-US" sz="1300" b="1" dirty="0">
                <a:solidFill>
                  <a:srgbClr val="1F2A44"/>
                </a:solidFill>
                <a:latin typeface="Cambria" pitchFamily="34" charset="0"/>
                <a:ea typeface="Cambria" pitchFamily="34" charset="-122"/>
                <a:cs typeface="Cambria" pitchFamily="34" charset="-120"/>
              </a:rPr>
              <a:t>Grid Master (Trinzic or vNIOS, HA pair)</a:t>
            </a:r>
            <a:endParaRPr lang="en-US" sz="1150" dirty="0"/>
          </a:p>
          <a:p>
            <a:pPr marL="0" indent="0">
              <a:spcAft>
                <a:spcPts val="100"/>
              </a:spcAft>
              <a:buNone/>
            </a:pPr>
            <a:r>
              <a:rPr lang="en-US" sz="1150" dirty="0">
                <a:solidFill>
                  <a:srgbClr val="334155"/>
                </a:solidFill>
              </a:rPr>
              <a:t>Master database, console and API, DNSSEC signing</a:t>
            </a:r>
            <a:endParaRPr lang="en-US" sz="1150" dirty="0"/>
          </a:p>
        </p:txBody>
      </p:sp>
      <p:sp>
        <p:nvSpPr>
          <p:cNvPr id="7" name="Member 1">
            <a:extLst>
              <a:ext uri="{C183D7F6-B498-43B3-948B-1728B52AA6E4}">
                <adec:decorative xmlns:adec="http://schemas.microsoft.com/office/drawing/2017/decorative" val="1"/>
              </a:ext>
            </a:extLst>
          </p:cNvPr>
          <p:cNvSpPr/>
          <p:nvPr/>
        </p:nvSpPr>
        <p:spPr>
          <a:xfrm>
            <a:off x="548640" y="2971800"/>
            <a:ext cx="1280160" cy="685800"/>
          </a:xfrm>
          <a:prstGeom prst="roundRect">
            <a:avLst>
              <a:gd name="adj" fmla="val 10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Member 1 text"/>
          <p:cNvSpPr txBox="1"/>
          <p:nvPr/>
        </p:nvSpPr>
        <p:spPr>
          <a:xfrm>
            <a:off x="640080" y="3035808"/>
            <a:ext cx="1097280" cy="55778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Member: DNS</a:t>
            </a:r>
            <a:endParaRPr lang="en-US" sz="1100" dirty="0"/>
          </a:p>
        </p:txBody>
      </p:sp>
      <p:sp>
        <p:nvSpPr>
          <p:cNvPr id="9" name="Replication 1">
            <a:extLst>
              <a:ext uri="{C183D7F6-B498-43B3-948B-1728B52AA6E4}">
                <adec:decorative xmlns:adec="http://schemas.microsoft.com/office/drawing/2017/decorative" val="1"/>
              </a:ext>
            </a:extLst>
          </p:cNvPr>
          <p:cNvSpPr/>
          <p:nvPr/>
        </p:nvSpPr>
        <p:spPr>
          <a:xfrm flipH="1">
            <a:off x="1188720" y="2286000"/>
            <a:ext cx="1463040" cy="685800"/>
          </a:xfrm>
          <a:prstGeom prst="line">
            <a:avLst/>
          </a:prstGeom>
          <a:noFill/>
          <a:ln w="25400">
            <a:solidFill>
              <a:srgbClr val="64748B"/>
            </a:solidFill>
            <a:prstDash val="solid"/>
            <a:tailEnd type="triangle"/>
          </a:ln>
        </p:spPr>
      </p:sp>
      <p:sp>
        <p:nvSpPr>
          <p:cNvPr id="10" name="Member 2">
            <a:extLst>
              <a:ext uri="{C183D7F6-B498-43B3-948B-1728B52AA6E4}">
                <adec:decorative xmlns:adec="http://schemas.microsoft.com/office/drawing/2017/decorative" val="1"/>
              </a:ext>
            </a:extLst>
          </p:cNvPr>
          <p:cNvSpPr/>
          <p:nvPr/>
        </p:nvSpPr>
        <p:spPr>
          <a:xfrm>
            <a:off x="2011680" y="2971800"/>
            <a:ext cx="1280160" cy="685800"/>
          </a:xfrm>
          <a:prstGeom prst="roundRect">
            <a:avLst>
              <a:gd name="adj" fmla="val 10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Member 2 text"/>
          <p:cNvSpPr txBox="1"/>
          <p:nvPr/>
        </p:nvSpPr>
        <p:spPr>
          <a:xfrm>
            <a:off x="2103120" y="3035808"/>
            <a:ext cx="1097280" cy="55778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Member: DHCP</a:t>
            </a:r>
            <a:endParaRPr lang="en-US" sz="1100" dirty="0"/>
          </a:p>
        </p:txBody>
      </p:sp>
      <p:sp>
        <p:nvSpPr>
          <p:cNvPr id="12" name="Replication 2">
            <a:extLst>
              <a:ext uri="{C183D7F6-B498-43B3-948B-1728B52AA6E4}">
                <adec:decorative xmlns:adec="http://schemas.microsoft.com/office/drawing/2017/decorative" val="1"/>
              </a:ext>
            </a:extLst>
          </p:cNvPr>
          <p:cNvSpPr/>
          <p:nvPr/>
        </p:nvSpPr>
        <p:spPr>
          <a:xfrm>
            <a:off x="2651760" y="2286000"/>
            <a:ext cx="0" cy="685800"/>
          </a:xfrm>
          <a:prstGeom prst="line">
            <a:avLst/>
          </a:prstGeom>
          <a:noFill/>
          <a:ln w="25400">
            <a:solidFill>
              <a:srgbClr val="64748B"/>
            </a:solidFill>
            <a:prstDash val="solid"/>
            <a:tailEnd type="triangle"/>
          </a:ln>
        </p:spPr>
      </p:sp>
      <p:sp>
        <p:nvSpPr>
          <p:cNvPr id="13" name="Member 3">
            <a:extLst>
              <a:ext uri="{C183D7F6-B498-43B3-948B-1728B52AA6E4}">
                <adec:decorative xmlns:adec="http://schemas.microsoft.com/office/drawing/2017/decorative" val="1"/>
              </a:ext>
            </a:extLst>
          </p:cNvPr>
          <p:cNvSpPr/>
          <p:nvPr/>
        </p:nvSpPr>
        <p:spPr>
          <a:xfrm>
            <a:off x="3474720" y="2971800"/>
            <a:ext cx="1280160" cy="685800"/>
          </a:xfrm>
          <a:prstGeom prst="roundRect">
            <a:avLst>
              <a:gd name="adj" fmla="val 10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4" name="Member 3 text"/>
          <p:cNvSpPr txBox="1"/>
          <p:nvPr/>
        </p:nvSpPr>
        <p:spPr>
          <a:xfrm>
            <a:off x="3566160" y="3035808"/>
            <a:ext cx="1097280" cy="55778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Member: DNS</a:t>
            </a:r>
            <a:endParaRPr lang="en-US" sz="1100" dirty="0"/>
          </a:p>
        </p:txBody>
      </p:sp>
      <p:sp>
        <p:nvSpPr>
          <p:cNvPr id="15" name="Replication 3">
            <a:extLst>
              <a:ext uri="{C183D7F6-B498-43B3-948B-1728B52AA6E4}">
                <adec:decorative xmlns:adec="http://schemas.microsoft.com/office/drawing/2017/decorative" val="1"/>
              </a:ext>
            </a:extLst>
          </p:cNvPr>
          <p:cNvSpPr/>
          <p:nvPr/>
        </p:nvSpPr>
        <p:spPr>
          <a:xfrm>
            <a:off x="2651760" y="2286000"/>
            <a:ext cx="1463040" cy="685800"/>
          </a:xfrm>
          <a:prstGeom prst="line">
            <a:avLst/>
          </a:prstGeom>
          <a:noFill/>
          <a:ln w="25400">
            <a:solidFill>
              <a:srgbClr val="64748B"/>
            </a:solidFill>
            <a:prstDash val="solid"/>
            <a:tailEnd type="triangle"/>
          </a:ln>
        </p:spPr>
      </p:sp>
      <p:sp>
        <p:nvSpPr>
          <p:cNvPr id="16" name="Replication label"/>
          <p:cNvSpPr txBox="1"/>
          <p:nvPr/>
        </p:nvSpPr>
        <p:spPr>
          <a:xfrm>
            <a:off x="548640" y="3703320"/>
            <a:ext cx="4206240" cy="256032"/>
          </a:xfrm>
          <a:prstGeom prst="rect">
            <a:avLst/>
          </a:prstGeom>
          <a:noFill/>
          <a:ln/>
        </p:spPr>
        <p:txBody>
          <a:bodyPr wrap="square" lIns="0" tIns="0" rIns="0" bIns="0" rtlCol="0" anchor="ctr"/>
          <a:lstStyle/>
          <a:p>
            <a:pPr marL="0" indent="0" algn="ctr">
              <a:buNone/>
            </a:pPr>
            <a:r>
              <a:rPr lang="en-US" sz="1050" i="1" dirty="0">
                <a:solidFill>
                  <a:srgbClr val="64748B"/>
                </a:solidFill>
              </a:rPr>
              <a:t>Encrypted replication, hub and spoke</a:t>
            </a:r>
            <a:endParaRPr lang="en-US" sz="1050" dirty="0"/>
          </a:p>
        </p:txBody>
      </p:sp>
      <p:sp>
        <p:nvSpPr>
          <p:cNvPr id="17" name="Boundary"/>
          <p:cNvSpPr txBox="1"/>
          <p:nvPr/>
        </p:nvSpPr>
        <p:spPr>
          <a:xfrm>
            <a:off x="548640" y="4069080"/>
            <a:ext cx="4206240" cy="685800"/>
          </a:xfrm>
          <a:prstGeom prst="rect">
            <a:avLst/>
          </a:prstGeom>
          <a:noFill/>
          <a:ln/>
        </p:spPr>
        <p:txBody>
          <a:bodyPr wrap="square" lIns="0" tIns="0" rIns="0" bIns="0" rtlCol="0" anchor="t"/>
          <a:lstStyle/>
          <a:p>
            <a:pPr marL="0" indent="0">
              <a:buNone/>
            </a:pPr>
            <a:r>
              <a:rPr lang="en-US" sz="1200" b="1" dirty="0">
                <a:solidFill>
                  <a:srgbClr val="1F2A44"/>
                </a:solidFill>
              </a:rPr>
              <a:t>Inside the agency boundary: </a:t>
            </a:r>
            <a:r>
              <a:rPr lang="en-US" sz="1200" dirty="0">
                <a:solidFill>
                  <a:schemeClr val="tx2"/>
                </a:solidFill>
              </a:rPr>
              <a:t>on-premises appliances are not a FedRAMP cloud service; they sit in the agency's own authorization boundary.</a:t>
            </a:r>
            <a:endParaRPr lang="en-US" sz="1200" dirty="0"/>
          </a:p>
        </p:txBody>
      </p:sp>
      <p:sp>
        <p:nvSpPr>
          <p:cNvPr id="18" name="Well">
            <a:extLst>
              <a:ext uri="{C183D7F6-B498-43B3-948B-1728B52AA6E4}">
                <adec:decorative xmlns:adec="http://schemas.microsoft.com/office/drawing/2017/decorative" val="1"/>
              </a:ext>
            </a:extLst>
          </p:cNvPr>
          <p:cNvSpPr/>
          <p:nvPr/>
        </p:nvSpPr>
        <p:spPr>
          <a:xfrm>
            <a:off x="4983480" y="1371600"/>
            <a:ext cx="6675120" cy="3383280"/>
          </a:xfrm>
          <a:prstGeom prst="roundRect">
            <a:avLst>
              <a:gd name="adj" fmla="val 216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9" name="Well head"/>
          <p:cNvSpPr txBox="1"/>
          <p:nvPr/>
        </p:nvSpPr>
        <p:spPr>
          <a:xfrm>
            <a:off x="5166360" y="1481328"/>
            <a:ext cx="6309360" cy="640080"/>
          </a:xfrm>
          <a:prstGeom prst="rect">
            <a:avLst/>
          </a:prstGeom>
          <a:noFill/>
          <a:ln/>
        </p:spPr>
        <p:txBody>
          <a:bodyPr wrap="square" lIns="0" tIns="0" rIns="0" bIns="0" rtlCol="0" anchor="t"/>
          <a:lstStyle/>
          <a:p>
            <a:pPr marL="0" indent="0">
              <a:buNone/>
            </a:pPr>
            <a:r>
              <a:rPr lang="en-US" sz="1100" b="1" dirty="0">
                <a:solidFill>
                  <a:srgbClr val="64748B"/>
                </a:solidFill>
              </a:rPr>
              <a:t>WHAT IT DOES WELL (NIOS 9.1)</a:t>
            </a:r>
            <a:endParaRPr lang="en-US" sz="1400" dirty="0"/>
          </a:p>
        </p:txBody>
      </p:sp>
      <p:sp>
        <p:nvSpPr>
          <p:cNvPr id="20" name="Well list"/>
          <p:cNvSpPr txBox="1"/>
          <p:nvPr/>
        </p:nvSpPr>
        <p:spPr>
          <a:xfrm>
            <a:off x="5166360" y="1810512"/>
            <a:ext cx="6355080" cy="28712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DNS views: one Grid gives internal and external clients different answers, on purpose</a:t>
            </a:r>
            <a:endParaRPr lang="en-US" sz="1400" dirty="0"/>
          </a:p>
          <a:p>
            <a:pPr marL="342900" indent="-342900">
              <a:spcAft>
                <a:spcPts val="300"/>
              </a:spcAft>
              <a:buSzPct val="100000"/>
              <a:buChar char="•"/>
            </a:pPr>
            <a:r>
              <a:rPr lang="en-US" sz="1250" dirty="0">
                <a:solidFill>
                  <a:schemeClr val="tx2"/>
                </a:solidFill>
              </a:rPr>
              <a:t>Response policy zones (DNS Firewall): block or redirect bad names; up to 32 RPZs, hits logged to syslog</a:t>
            </a:r>
            <a:endParaRPr lang="en-US" sz="1400" dirty="0"/>
          </a:p>
          <a:p>
            <a:pPr marL="342900" indent="-342900">
              <a:spcAft>
                <a:spcPts val="300"/>
              </a:spcAft>
              <a:buSzPct val="100000"/>
              <a:buChar char="•"/>
            </a:pPr>
            <a:r>
              <a:rPr lang="en-US" sz="1250" dirty="0">
                <a:solidFill>
                  <a:schemeClr val="tx2"/>
                </a:solidFill>
              </a:rPr>
              <a:t>DNSSEC: Grid Master is the hidden primary; keys on the Grid Master or an HSM (Thales Luna, Entrust nShield), not both</a:t>
            </a:r>
            <a:endParaRPr lang="en-US" sz="1400" dirty="0"/>
          </a:p>
          <a:p>
            <a:pPr marL="342900" indent="-342900">
              <a:spcAft>
                <a:spcPts val="300"/>
              </a:spcAft>
              <a:buSzPct val="100000"/>
              <a:buChar char="•"/>
            </a:pPr>
            <a:r>
              <a:rPr lang="en-US" sz="1250" dirty="0">
                <a:solidFill>
                  <a:schemeClr val="tx2"/>
                </a:solidFill>
              </a:rPr>
              <a:t>Default DNSSEC algorithm is RSA/SHA1: change it to RSA/SHA-256 or ECDSA</a:t>
            </a:r>
            <a:endParaRPr lang="en-US" sz="1400" dirty="0"/>
          </a:p>
          <a:p>
            <a:pPr marL="342900" indent="-342900">
              <a:spcAft>
                <a:spcPts val="300"/>
              </a:spcAft>
              <a:buSzPct val="100000"/>
              <a:buChar char="•"/>
            </a:pPr>
            <a:r>
              <a:rPr lang="en-US" sz="1250" dirty="0">
                <a:solidFill>
                  <a:schemeClr val="tx2"/>
                </a:solidFill>
              </a:rPr>
              <a:t>DHCP failover pairs; manages existing Windows DNS and DHCP servers without agents</a:t>
            </a:r>
            <a:endParaRPr lang="en-US" sz="1400" dirty="0"/>
          </a:p>
        </p:txBody>
      </p:sp>
      <p:sp>
        <p:nvSpPr>
          <p:cNvPr id="21" name="Plan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Icon FaSitemap">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24" name="Plan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Why Book 08 cares: </a:t>
            </a:r>
            <a:r>
              <a:rPr lang="en-US" sz="1650" dirty="0">
                <a:solidFill>
                  <a:schemeClr val="tx2"/>
                </a:solidFill>
              </a:rPr>
              <a:t>it wants one DDI policy plane, one system of record for zones, forwarding, IPAM and policy, with cloud DNS managed as an overlay, not replaced.</a:t>
            </a:r>
            <a:endParaRPr lang="en-US" sz="165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 About Grids; DNS Views; DNS Firewall; DNSSEC on a Grid; DNSSEC Parameters; DHCP Failover; Microsoft Servers; Book 08, Ch 08; FedRAMP products.json.</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E2103380-3607-046C-A1DA-E96E747FAE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4B0276-54E0-40F6-8870-C88F4194597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330"/>
    </mc:Choice>
    <mc:Fallback>
      <p:transition spd="slow" advTm="54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32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Trinzic alone sees in the clouds, and can't control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ees">
            <a:extLst>
              <a:ext uri="{C183D7F6-B498-43B3-948B-1728B52AA6E4}">
                <adec:decorative xmlns:adec="http://schemas.microsoft.com/office/drawing/2017/decorative" val="1"/>
              </a:ext>
            </a:extLst>
          </p:cNvPr>
          <p:cNvSpPr/>
          <p:nvPr/>
        </p:nvSpPr>
        <p:spPr>
          <a:xfrm>
            <a:off x="548640" y="1371600"/>
            <a:ext cx="5486400" cy="3520440"/>
          </a:xfrm>
          <a:prstGeom prst="roundRect">
            <a:avLst>
              <a:gd name="adj" fmla="val 20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Sees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IT CAN DO BY ITSELF</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See, import and automate</a:t>
            </a:r>
            <a:endParaRPr lang="en-US" sz="1400" dirty="0"/>
          </a:p>
        </p:txBody>
      </p:sp>
      <p:sp>
        <p:nvSpPr>
          <p:cNvPr id="7" name="Sees list"/>
          <p:cNvSpPr txBox="1"/>
          <p:nvPr/>
        </p:nvSpPr>
        <p:spPr>
          <a:xfrm>
            <a:off x="731520" y="2121408"/>
            <a:ext cx="5166360" cy="2697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vDiscovery: scheduled pull of networks and VMs from AWS, Azure, GCP, VMware; GovCloud option (AWS) and Azure Government covered</a:t>
            </a:r>
            <a:endParaRPr lang="en-US" sz="1400" dirty="0"/>
          </a:p>
          <a:p>
            <a:pPr marL="342900" indent="-342900">
              <a:spcAft>
                <a:spcPts val="300"/>
              </a:spcAft>
              <a:buSzPct val="100000"/>
              <a:buChar char="•"/>
            </a:pPr>
            <a:r>
              <a:rPr lang="en-US" sz="1200" dirty="0">
                <a:solidFill>
                  <a:schemeClr val="tx2"/>
                </a:solidFill>
              </a:rPr>
              <a:t>Discovered subnets become managed networks; DNS records for VMs only in zones NIOS already has</a:t>
            </a:r>
            <a:endParaRPr lang="en-US" sz="1400" dirty="0"/>
          </a:p>
          <a:p>
            <a:pPr marL="342900" indent="-342900">
              <a:spcAft>
                <a:spcPts val="300"/>
              </a:spcAft>
              <a:buSzPct val="100000"/>
              <a:buChar char="•"/>
            </a:pPr>
            <a:r>
              <a:rPr lang="en-US" sz="1200" dirty="0">
                <a:solidFill>
                  <a:schemeClr val="tx2"/>
                </a:solidFill>
              </a:rPr>
              <a:t>Imports Route 53, Azure DNS, Google Cloud DNS zones one way into NIOS (Cloud Network Automation license on the Grid Master)</a:t>
            </a:r>
            <a:endParaRPr lang="en-US" sz="1400" dirty="0"/>
          </a:p>
          <a:p>
            <a:pPr marL="342900" indent="-342900">
              <a:spcAft>
                <a:spcPts val="300"/>
              </a:spcAft>
              <a:buSzPct val="100000"/>
              <a:buChar char="•"/>
            </a:pPr>
            <a:r>
              <a:rPr lang="en-US" sz="1200" dirty="0">
                <a:solidFill>
                  <a:schemeClr val="tx2"/>
                </a:solidFill>
              </a:rPr>
              <a:t>Serves imported zones to on-prem clients; Cloud Platform members and an AWS API proxy automate provisioning</a:t>
            </a:r>
            <a:endParaRPr lang="en-US" sz="1400" dirty="0"/>
          </a:p>
        </p:txBody>
      </p:sp>
      <p:sp>
        <p:nvSpPr>
          <p:cNvPr id="8" name="Cannot">
            <a:extLst>
              <a:ext uri="{C183D7F6-B498-43B3-948B-1728B52AA6E4}">
                <adec:decorative xmlns:adec="http://schemas.microsoft.com/office/drawing/2017/decorative" val="1"/>
              </a:ext>
            </a:extLst>
          </p:cNvPr>
          <p:cNvSpPr/>
          <p:nvPr/>
        </p:nvSpPr>
        <p:spPr>
          <a:xfrm>
            <a:off x="6172200" y="1371600"/>
            <a:ext cx="5486400" cy="3520440"/>
          </a:xfrm>
          <a:prstGeom prst="roundRect">
            <a:avLst>
              <a:gd name="adj" fmla="val 20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Cannot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IT CANNOT DO</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Own or steer cloud DNS</a:t>
            </a:r>
            <a:endParaRPr lang="en-US" sz="1400" dirty="0"/>
          </a:p>
        </p:txBody>
      </p:sp>
      <p:sp>
        <p:nvSpPr>
          <p:cNvPr id="10" name="Cannot list"/>
          <p:cNvSpPr txBox="1"/>
          <p:nvPr/>
        </p:nvSpPr>
        <p:spPr>
          <a:xfrm>
            <a:off x="6355080" y="2121408"/>
            <a:ext cx="5166360" cy="2697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No write-back: "NOT vice versa" (Route 53); NIOS edits to synced records are overwritten</a:t>
            </a:r>
            <a:endParaRPr lang="en-US" sz="1400" dirty="0"/>
          </a:p>
          <a:p>
            <a:pPr marL="342900" indent="-342900">
              <a:spcAft>
                <a:spcPts val="300"/>
              </a:spcAft>
              <a:buSzPct val="100000"/>
              <a:buChar char="•"/>
            </a:pPr>
            <a:r>
              <a:rPr lang="en-US" sz="1200" dirty="0">
                <a:solidFill>
                  <a:schemeClr val="tx2"/>
                </a:solidFill>
              </a:rPr>
              <a:t>Can't create or own cloud private zones</a:t>
            </a:r>
            <a:endParaRPr lang="en-US" sz="1400" dirty="0"/>
          </a:p>
          <a:p>
            <a:pPr marL="342900" indent="-342900">
              <a:spcAft>
                <a:spcPts val="300"/>
              </a:spcAft>
              <a:buSzPct val="100000"/>
              <a:buChar char="•"/>
            </a:pPr>
            <a:r>
              <a:rPr lang="en-US" sz="1200" dirty="0">
                <a:solidFill>
                  <a:schemeClr val="tx2"/>
                </a:solidFill>
              </a:rPr>
              <a:t>No Route 53 VPC Resolver rules or Azure rulesets: no NIOS doc describes it</a:t>
            </a:r>
            <a:endParaRPr lang="en-US" sz="1400" dirty="0"/>
          </a:p>
          <a:p>
            <a:pPr marL="342900" indent="-342900">
              <a:spcAft>
                <a:spcPts val="300"/>
              </a:spcAft>
              <a:buSzPct val="100000"/>
              <a:buChar char="•"/>
            </a:pPr>
            <a:r>
              <a:rPr lang="en-US" sz="1200" dirty="0">
                <a:solidFill>
                  <a:schemeClr val="tx2"/>
                </a:solidFill>
              </a:rPr>
              <a:t>Not AWS VPC IPAM's external authority (a Universal DDI feature)</a:t>
            </a:r>
            <a:endParaRPr lang="en-US" sz="1400" dirty="0"/>
          </a:p>
          <a:p>
            <a:pPr marL="342900" indent="-342900">
              <a:spcAft>
                <a:spcPts val="300"/>
              </a:spcAft>
              <a:buSzPct val="100000"/>
              <a:buChar char="•"/>
            </a:pPr>
            <a:r>
              <a:rPr lang="en-US" sz="1200" dirty="0">
                <a:solidFill>
                  <a:schemeClr val="tx2"/>
                </a:solidFill>
              </a:rPr>
              <a:t>No DHCP in cloud subnets: AWS leases from Amazon DHCP; GCP vNIOS DHCP is on-prem only; Azure doesn't support it</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502920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Lightbulb">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4" name="Takeaway text"/>
          <p:cNvSpPr txBox="1"/>
          <p:nvPr/>
        </p:nvSpPr>
        <p:spPr>
          <a:xfrm>
            <a:off x="1737360" y="507492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Inference: </a:t>
            </a:r>
            <a:r>
              <a:rPr lang="en-US" sz="1650" dirty="0">
                <a:solidFill>
                  <a:schemeClr val="tx2"/>
                </a:solidFill>
              </a:rPr>
              <a:t>in the clouds, Infoblox's job is DNS and IPAM; DHCP stays with the cloud fabric, and the cloud resolver still answers cloud private zones.</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vDiscovery (S1–S5); Cloud Network Automation (S6); Route 53, Azure DNS, GCP sync (S13–S18); AWS DHCP option sets (S23); vNIOS GCP, Azure (S20, S24).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6A946FC-DF45-3BA8-07D6-51ADA98243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19B865D-45C9-4C0E-A5D5-D0AEB30EF3E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280"/>
    </mc:Choice>
    <mc:Fallback>
      <p:transition spd="slow" advTm="48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2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Option A: vNIOS members inside each cloud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 GM">
            <a:extLst>
              <a:ext uri="{C183D7F6-B498-43B3-948B-1728B52AA6E4}">
                <adec:decorative xmlns:adec="http://schemas.microsoft.com/office/drawing/2017/decorative" val="1"/>
              </a:ext>
            </a:extLst>
          </p:cNvPr>
          <p:cNvSpPr/>
          <p:nvPr/>
        </p:nvSpPr>
        <p:spPr>
          <a:xfrm>
            <a:off x="548640" y="1371600"/>
            <a:ext cx="3017520" cy="896112"/>
          </a:xfrm>
          <a:prstGeom prst="roundRect">
            <a:avLst>
              <a:gd name="adj" fmla="val 81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 GM text"/>
          <p:cNvSpPr txBox="1"/>
          <p:nvPr/>
        </p:nvSpPr>
        <p:spPr>
          <a:xfrm>
            <a:off x="640080" y="1435608"/>
            <a:ext cx="2834640" cy="768096"/>
          </a:xfrm>
          <a:prstGeom prst="rect">
            <a:avLst/>
          </a:prstGeom>
          <a:noFill/>
          <a:ln/>
        </p:spPr>
        <p:txBody>
          <a:bodyPr wrap="square" lIns="0" tIns="0" rIns="0" bIns="0" rtlCol="0" anchor="ctr"/>
          <a:lstStyle/>
          <a:p>
            <a:pPr marL="0" indent="0">
              <a:spcAft>
                <a:spcPts val="100"/>
              </a:spcAft>
              <a:buNone/>
            </a:pPr>
            <a:r>
              <a:rPr lang="en-US" sz="1300" b="1" dirty="0">
                <a:solidFill>
                  <a:srgbClr val="1F2A44"/>
                </a:solidFill>
                <a:latin typeface="Cambria" pitchFamily="34" charset="0"/>
                <a:ea typeface="Cambria" pitchFamily="34" charset="-122"/>
                <a:cs typeface="Cambria" pitchFamily="34" charset="-120"/>
              </a:rPr>
              <a:t>On-prem Grid Master</a:t>
            </a:r>
            <a:endParaRPr lang="en-US" sz="1150" dirty="0"/>
          </a:p>
          <a:p>
            <a:pPr marL="0" indent="0">
              <a:spcAft>
                <a:spcPts val="100"/>
              </a:spcAft>
              <a:buNone/>
            </a:pPr>
            <a:r>
              <a:rPr lang="en-US" sz="1150" dirty="0">
                <a:solidFill>
                  <a:srgbClr val="334155"/>
                </a:solidFill>
              </a:rPr>
              <a:t>Database and DNSSEC keys stay here</a:t>
            </a:r>
            <a:endParaRPr lang="en-US" sz="1150" dirty="0"/>
          </a:p>
        </p:txBody>
      </p:sp>
      <p:sp>
        <p:nvSpPr>
          <p:cNvPr id="7" name="A sync">
            <a:extLst>
              <a:ext uri="{C183D7F6-B498-43B3-948B-1728B52AA6E4}">
                <adec:decorative xmlns:adec="http://schemas.microsoft.com/office/drawing/2017/decorative" val="1"/>
              </a:ext>
            </a:extLst>
          </p:cNvPr>
          <p:cNvSpPr/>
          <p:nvPr/>
        </p:nvSpPr>
        <p:spPr>
          <a:xfrm>
            <a:off x="3566160" y="1819656"/>
            <a:ext cx="1051560" cy="0"/>
          </a:xfrm>
          <a:prstGeom prst="line">
            <a:avLst/>
          </a:prstGeom>
          <a:noFill/>
          <a:ln w="25400">
            <a:solidFill>
              <a:srgbClr val="64748B"/>
            </a:solidFill>
            <a:prstDash val="solid"/>
            <a:headEnd type="triangle"/>
            <a:tailEnd type="triangle"/>
          </a:ln>
        </p:spPr>
      </p:sp>
      <p:sp>
        <p:nvSpPr>
          <p:cNvPr id="8" name="A sync label"/>
          <p:cNvSpPr txBox="1"/>
          <p:nvPr/>
        </p:nvSpPr>
        <p:spPr>
          <a:xfrm>
            <a:off x="3520440" y="1463040"/>
            <a:ext cx="1143000" cy="256032"/>
          </a:xfrm>
          <a:prstGeom prst="rect">
            <a:avLst/>
          </a:prstGeom>
          <a:noFill/>
          <a:ln/>
        </p:spPr>
        <p:txBody>
          <a:bodyPr wrap="square" lIns="0" tIns="0" rIns="0" bIns="0" rtlCol="0" anchor="ctr"/>
          <a:lstStyle/>
          <a:p>
            <a:pPr marL="0" indent="0" algn="ctr">
              <a:buNone/>
            </a:pPr>
            <a:r>
              <a:rPr lang="en-US" sz="1050" i="1" dirty="0">
                <a:solidFill>
                  <a:srgbClr val="64748B"/>
                </a:solidFill>
              </a:rPr>
              <a:t>Grid replication</a:t>
            </a:r>
            <a:endParaRPr lang="en-US" sz="1050" dirty="0"/>
          </a:p>
        </p:txBody>
      </p:sp>
      <p:sp>
        <p:nvSpPr>
          <p:cNvPr id="9" name="A vNIOS">
            <a:extLst>
              <a:ext uri="{C183D7F6-B498-43B3-948B-1728B52AA6E4}">
                <adec:decorative xmlns:adec="http://schemas.microsoft.com/office/drawing/2017/decorative" val="1"/>
              </a:ext>
            </a:extLst>
          </p:cNvPr>
          <p:cNvSpPr/>
          <p:nvPr/>
        </p:nvSpPr>
        <p:spPr>
          <a:xfrm>
            <a:off x="4617720" y="1371600"/>
            <a:ext cx="3063240" cy="896112"/>
          </a:xfrm>
          <a:prstGeom prst="roundRect">
            <a:avLst>
              <a:gd name="adj" fmla="val 81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A vNIOS text"/>
          <p:cNvSpPr txBox="1"/>
          <p:nvPr/>
        </p:nvSpPr>
        <p:spPr>
          <a:xfrm>
            <a:off x="4709160" y="1435608"/>
            <a:ext cx="2880360" cy="768096"/>
          </a:xfrm>
          <a:prstGeom prst="rect">
            <a:avLst/>
          </a:prstGeom>
          <a:noFill/>
          <a:ln/>
        </p:spPr>
        <p:txBody>
          <a:bodyPr wrap="square" lIns="0" tIns="0" rIns="0" bIns="0" rtlCol="0" anchor="ctr"/>
          <a:lstStyle/>
          <a:p>
            <a:pPr marL="0" indent="0">
              <a:spcAft>
                <a:spcPts val="100"/>
              </a:spcAft>
              <a:buNone/>
            </a:pPr>
            <a:r>
              <a:rPr lang="en-US" sz="1300" b="1" dirty="0">
                <a:solidFill>
                  <a:srgbClr val="0F766E"/>
                </a:solidFill>
                <a:latin typeface="Cambria" pitchFamily="34" charset="0"/>
                <a:ea typeface="Cambria" pitchFamily="34" charset="-122"/>
                <a:cs typeface="Cambria" pitchFamily="34" charset="-120"/>
              </a:rPr>
              <a:t>vNIOS HA pair in a hub VPC/VNet</a:t>
            </a:r>
            <a:endParaRPr lang="en-US" sz="1150" dirty="0"/>
          </a:p>
          <a:p>
            <a:pPr marL="0" indent="0">
              <a:spcAft>
                <a:spcPts val="100"/>
              </a:spcAft>
              <a:buNone/>
            </a:pPr>
            <a:r>
              <a:rPr lang="en-US" sz="1150" dirty="0">
                <a:solidFill>
                  <a:srgbClr val="334155"/>
                </a:solidFill>
              </a:rPr>
              <a:t>Grid member; serves signed zones, no keys</a:t>
            </a:r>
            <a:endParaRPr lang="en-US" sz="1150" dirty="0"/>
          </a:p>
        </p:txBody>
      </p:sp>
      <p:sp>
        <p:nvSpPr>
          <p:cNvPr id="11" name="A p1 head"/>
          <p:cNvSpPr txBox="1"/>
          <p:nvPr/>
        </p:nvSpPr>
        <p:spPr>
          <a:xfrm>
            <a:off x="548640" y="2377440"/>
            <a:ext cx="7132320" cy="274320"/>
          </a:xfrm>
          <a:prstGeom prst="rect">
            <a:avLst/>
          </a:prstGeom>
          <a:noFill/>
          <a:ln/>
        </p:spPr>
        <p:txBody>
          <a:bodyPr wrap="square" lIns="0" tIns="0" rIns="0" bIns="0" rtlCol="0" anchor="t"/>
          <a:lstStyle/>
          <a:p>
            <a:pPr marL="0" indent="0">
              <a:buNone/>
            </a:pPr>
            <a:r>
              <a:rPr lang="en-US" sz="1200" b="1" dirty="0">
                <a:solidFill>
                  <a:srgbClr val="1F2A44"/>
                </a:solidFill>
              </a:rPr>
              <a:t>PATTERN 1 — POINT THE NETWORK'S DNS AT vNIOS</a:t>
            </a:r>
            <a:endParaRPr lang="en-US" sz="1200" dirty="0"/>
          </a:p>
        </p:txBody>
      </p:sp>
      <p:sp>
        <p:nvSpPr>
          <p:cNvPr id="12" name="A p1 wl">
            <a:extLst>
              <a:ext uri="{C183D7F6-B498-43B3-948B-1728B52AA6E4}">
                <adec:decorative xmlns:adec="http://schemas.microsoft.com/office/drawing/2017/decorative" val="1"/>
              </a:ext>
            </a:extLst>
          </p:cNvPr>
          <p:cNvSpPr/>
          <p:nvPr/>
        </p:nvSpPr>
        <p:spPr>
          <a:xfrm>
            <a:off x="548640" y="2670048"/>
            <a:ext cx="210312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3" name="A p1 wl text"/>
          <p:cNvSpPr txBox="1"/>
          <p:nvPr/>
        </p:nvSpPr>
        <p:spPr>
          <a:xfrm>
            <a:off x="640080" y="2734056"/>
            <a:ext cx="1920240" cy="74066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Cloud workload</a:t>
            </a:r>
            <a:endParaRPr lang="en-US" sz="1100" dirty="0"/>
          </a:p>
          <a:p>
            <a:pPr marL="0" indent="0">
              <a:spcAft>
                <a:spcPts val="100"/>
              </a:spcAft>
              <a:buNone/>
            </a:pPr>
            <a:r>
              <a:rPr lang="en-US" sz="1100" dirty="0">
                <a:solidFill>
                  <a:srgbClr val="334155"/>
                </a:solidFill>
              </a:rPr>
              <a:t>DHCP option set (AWS) or custom DNS (Azure)</a:t>
            </a:r>
            <a:endParaRPr lang="en-US" sz="1100" dirty="0"/>
          </a:p>
        </p:txBody>
      </p:sp>
      <p:sp>
        <p:nvSpPr>
          <p:cNvPr id="14" name="A p1 v">
            <a:extLst>
              <a:ext uri="{C183D7F6-B498-43B3-948B-1728B52AA6E4}">
                <adec:decorative xmlns:adec="http://schemas.microsoft.com/office/drawing/2017/decorative" val="1"/>
              </a:ext>
            </a:extLst>
          </p:cNvPr>
          <p:cNvSpPr/>
          <p:nvPr/>
        </p:nvSpPr>
        <p:spPr>
          <a:xfrm>
            <a:off x="3063240" y="2670048"/>
            <a:ext cx="2103120" cy="868680"/>
          </a:xfrm>
          <a:prstGeom prst="roundRect">
            <a:avLst>
              <a:gd name="adj" fmla="val 84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5" name="A p1 v text"/>
          <p:cNvSpPr txBox="1"/>
          <p:nvPr/>
        </p:nvSpPr>
        <p:spPr>
          <a:xfrm>
            <a:off x="3154680" y="2734056"/>
            <a:ext cx="1920240" cy="74066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vNIOS</a:t>
            </a:r>
            <a:endParaRPr lang="en-US" sz="1100" dirty="0"/>
          </a:p>
          <a:p>
            <a:pPr marL="0" indent="0">
              <a:spcAft>
                <a:spcPts val="100"/>
              </a:spcAft>
              <a:buNone/>
            </a:pPr>
            <a:r>
              <a:rPr lang="en-US" sz="1100" dirty="0">
                <a:solidFill>
                  <a:srgbClr val="334155"/>
                </a:solidFill>
              </a:rPr>
              <a:t>Answers agency zones; applies RPZ</a:t>
            </a:r>
            <a:endParaRPr lang="en-US" sz="1100" dirty="0"/>
          </a:p>
        </p:txBody>
      </p:sp>
      <p:sp>
        <p:nvSpPr>
          <p:cNvPr id="16" name="A p1 back">
            <a:extLst>
              <a:ext uri="{C183D7F6-B498-43B3-948B-1728B52AA6E4}">
                <adec:decorative xmlns:adec="http://schemas.microsoft.com/office/drawing/2017/decorative" val="1"/>
              </a:ext>
            </a:extLst>
          </p:cNvPr>
          <p:cNvSpPr/>
          <p:nvPr/>
        </p:nvSpPr>
        <p:spPr>
          <a:xfrm>
            <a:off x="5577840" y="2670048"/>
            <a:ext cx="2103120" cy="868680"/>
          </a:xfrm>
          <a:prstGeom prst="roundRect">
            <a:avLst>
              <a:gd name="adj" fmla="val 84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7" name="A p1 back text"/>
          <p:cNvSpPr txBox="1"/>
          <p:nvPr/>
        </p:nvSpPr>
        <p:spPr>
          <a:xfrm>
            <a:off x="5669280" y="2734056"/>
            <a:ext cx="1920240" cy="74066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Back to the cloud</a:t>
            </a:r>
            <a:endParaRPr lang="en-US" sz="1100" dirty="0"/>
          </a:p>
          <a:p>
            <a:pPr marL="0" indent="0">
              <a:spcAft>
                <a:spcPts val="100"/>
              </a:spcAft>
              <a:buNone/>
            </a:pPr>
            <a:r>
              <a:rPr lang="en-US" sz="1100" dirty="0">
                <a:solidFill>
                  <a:srgbClr val="334155"/>
                </a:solidFill>
              </a:rPr>
              <a:t>Azure 168.63.129.16 or an inbound endpoint</a:t>
            </a:r>
            <a:endParaRPr lang="en-US" sz="1100" dirty="0"/>
          </a:p>
        </p:txBody>
      </p:sp>
      <p:sp>
        <p:nvSpPr>
          <p:cNvPr id="18" name="A p1 a1">
            <a:extLst>
              <a:ext uri="{C183D7F6-B498-43B3-948B-1728B52AA6E4}">
                <adec:decorative xmlns:adec="http://schemas.microsoft.com/office/drawing/2017/decorative" val="1"/>
              </a:ext>
            </a:extLst>
          </p:cNvPr>
          <p:cNvSpPr/>
          <p:nvPr/>
        </p:nvSpPr>
        <p:spPr>
          <a:xfrm>
            <a:off x="2651760" y="3099816"/>
            <a:ext cx="411480" cy="0"/>
          </a:xfrm>
          <a:prstGeom prst="line">
            <a:avLst/>
          </a:prstGeom>
          <a:noFill/>
          <a:ln w="25400">
            <a:solidFill>
              <a:srgbClr val="64748B"/>
            </a:solidFill>
            <a:prstDash val="solid"/>
            <a:tailEnd type="triangle"/>
          </a:ln>
        </p:spPr>
      </p:sp>
      <p:sp>
        <p:nvSpPr>
          <p:cNvPr id="19" name="A p1 a2">
            <a:extLst>
              <a:ext uri="{C183D7F6-B498-43B3-948B-1728B52AA6E4}">
                <adec:decorative xmlns:adec="http://schemas.microsoft.com/office/drawing/2017/decorative" val="1"/>
              </a:ext>
            </a:extLst>
          </p:cNvPr>
          <p:cNvSpPr/>
          <p:nvPr/>
        </p:nvSpPr>
        <p:spPr>
          <a:xfrm>
            <a:off x="5166360" y="3099816"/>
            <a:ext cx="411480" cy="0"/>
          </a:xfrm>
          <a:prstGeom prst="line">
            <a:avLst/>
          </a:prstGeom>
          <a:noFill/>
          <a:ln w="25400">
            <a:solidFill>
              <a:srgbClr val="64748B"/>
            </a:solidFill>
            <a:prstDash val="solid"/>
            <a:tailEnd type="triangle"/>
          </a:ln>
        </p:spPr>
      </p:sp>
      <p:sp>
        <p:nvSpPr>
          <p:cNvPr id="20" name="A p2 head"/>
          <p:cNvSpPr txBox="1"/>
          <p:nvPr/>
        </p:nvSpPr>
        <p:spPr>
          <a:xfrm>
            <a:off x="548640" y="3703320"/>
            <a:ext cx="7132320" cy="274320"/>
          </a:xfrm>
          <a:prstGeom prst="rect">
            <a:avLst/>
          </a:prstGeom>
          <a:noFill/>
          <a:ln/>
        </p:spPr>
        <p:txBody>
          <a:bodyPr wrap="square" lIns="0" tIns="0" rIns="0" bIns="0" rtlCol="0" anchor="t"/>
          <a:lstStyle/>
          <a:p>
            <a:pPr marL="0" indent="0">
              <a:buNone/>
            </a:pPr>
            <a:r>
              <a:rPr lang="en-US" sz="1200" b="1" dirty="0">
                <a:solidFill>
                  <a:srgbClr val="1F2A44"/>
                </a:solidFill>
              </a:rPr>
              <a:t>PATTERN 2 — KEEP THE CLOUD RESOLVER; FORWARD BY RULE</a:t>
            </a:r>
            <a:endParaRPr lang="en-US" sz="1200" dirty="0"/>
          </a:p>
        </p:txBody>
      </p:sp>
      <p:sp>
        <p:nvSpPr>
          <p:cNvPr id="21" name="A p2 wl">
            <a:extLst>
              <a:ext uri="{C183D7F6-B498-43B3-948B-1728B52AA6E4}">
                <adec:decorative xmlns:adec="http://schemas.microsoft.com/office/drawing/2017/decorative" val="1"/>
              </a:ext>
            </a:extLst>
          </p:cNvPr>
          <p:cNvSpPr/>
          <p:nvPr/>
        </p:nvSpPr>
        <p:spPr>
          <a:xfrm>
            <a:off x="548640" y="3995928"/>
            <a:ext cx="210312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A p2 wl text"/>
          <p:cNvSpPr txBox="1"/>
          <p:nvPr/>
        </p:nvSpPr>
        <p:spPr>
          <a:xfrm>
            <a:off x="640080" y="4059936"/>
            <a:ext cx="1920240" cy="74066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Cloud workload</a:t>
            </a:r>
            <a:endParaRPr lang="en-US" sz="1100" dirty="0"/>
          </a:p>
          <a:p>
            <a:pPr marL="0" indent="0">
              <a:spcAft>
                <a:spcPts val="100"/>
              </a:spcAft>
              <a:buNone/>
            </a:pPr>
            <a:r>
              <a:rPr lang="en-US" sz="1100" dirty="0">
                <a:solidFill>
                  <a:srgbClr val="334155"/>
                </a:solidFill>
              </a:rPr>
              <a:t>No client change</a:t>
            </a:r>
            <a:endParaRPr lang="en-US" sz="1100" dirty="0"/>
          </a:p>
        </p:txBody>
      </p:sp>
      <p:sp>
        <p:nvSpPr>
          <p:cNvPr id="23" name="A p2 r">
            <a:extLst>
              <a:ext uri="{C183D7F6-B498-43B3-948B-1728B52AA6E4}">
                <adec:decorative xmlns:adec="http://schemas.microsoft.com/office/drawing/2017/decorative" val="1"/>
              </a:ext>
            </a:extLst>
          </p:cNvPr>
          <p:cNvSpPr/>
          <p:nvPr/>
        </p:nvSpPr>
        <p:spPr>
          <a:xfrm>
            <a:off x="3063240" y="3995928"/>
            <a:ext cx="2103120" cy="868680"/>
          </a:xfrm>
          <a:prstGeom prst="roundRect">
            <a:avLst>
              <a:gd name="adj" fmla="val 84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4" name="A p2 r text"/>
          <p:cNvSpPr txBox="1"/>
          <p:nvPr/>
        </p:nvSpPr>
        <p:spPr>
          <a:xfrm>
            <a:off x="3154680" y="4059936"/>
            <a:ext cx="1920240" cy="74066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Native resolver</a:t>
            </a:r>
            <a:endParaRPr lang="en-US" sz="1100" dirty="0"/>
          </a:p>
          <a:p>
            <a:pPr marL="0" indent="0">
              <a:spcAft>
                <a:spcPts val="100"/>
              </a:spcAft>
              <a:buNone/>
            </a:pPr>
            <a:r>
              <a:rPr lang="en-US" sz="1100" dirty="0">
                <a:solidFill>
                  <a:srgbClr val="334155"/>
                </a:solidFill>
              </a:rPr>
              <a:t>Outbound endpoint + one rule per agency domain</a:t>
            </a:r>
            <a:endParaRPr lang="en-US" sz="1100" dirty="0"/>
          </a:p>
        </p:txBody>
      </p:sp>
      <p:sp>
        <p:nvSpPr>
          <p:cNvPr id="25" name="A p2 v">
            <a:extLst>
              <a:ext uri="{C183D7F6-B498-43B3-948B-1728B52AA6E4}">
                <adec:decorative xmlns:adec="http://schemas.microsoft.com/office/drawing/2017/decorative" val="1"/>
              </a:ext>
            </a:extLst>
          </p:cNvPr>
          <p:cNvSpPr/>
          <p:nvPr/>
        </p:nvSpPr>
        <p:spPr>
          <a:xfrm>
            <a:off x="5577840" y="3995928"/>
            <a:ext cx="2103120" cy="868680"/>
          </a:xfrm>
          <a:prstGeom prst="roundRect">
            <a:avLst>
              <a:gd name="adj" fmla="val 84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6" name="A p2 v text"/>
          <p:cNvSpPr txBox="1"/>
          <p:nvPr/>
        </p:nvSpPr>
        <p:spPr>
          <a:xfrm>
            <a:off x="5669280" y="4059936"/>
            <a:ext cx="1920240" cy="74066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vNIOS</a:t>
            </a:r>
            <a:endParaRPr lang="en-US" sz="1100" dirty="0"/>
          </a:p>
          <a:p>
            <a:pPr marL="0" indent="0">
              <a:spcAft>
                <a:spcPts val="100"/>
              </a:spcAft>
              <a:buNone/>
            </a:pPr>
            <a:r>
              <a:rPr lang="en-US" sz="1100" dirty="0">
                <a:solidFill>
                  <a:srgbClr val="334155"/>
                </a:solidFill>
              </a:rPr>
              <a:t>Answers the forwarded agency names</a:t>
            </a:r>
            <a:endParaRPr lang="en-US" sz="1100" dirty="0"/>
          </a:p>
        </p:txBody>
      </p:sp>
      <p:sp>
        <p:nvSpPr>
          <p:cNvPr id="27" name="A p2 a1">
            <a:extLst>
              <a:ext uri="{C183D7F6-B498-43B3-948B-1728B52AA6E4}">
                <adec:decorative xmlns:adec="http://schemas.microsoft.com/office/drawing/2017/decorative" val="1"/>
              </a:ext>
            </a:extLst>
          </p:cNvPr>
          <p:cNvSpPr/>
          <p:nvPr/>
        </p:nvSpPr>
        <p:spPr>
          <a:xfrm>
            <a:off x="2651760" y="4425696"/>
            <a:ext cx="411480" cy="0"/>
          </a:xfrm>
          <a:prstGeom prst="line">
            <a:avLst/>
          </a:prstGeom>
          <a:noFill/>
          <a:ln w="25400">
            <a:solidFill>
              <a:srgbClr val="64748B"/>
            </a:solidFill>
            <a:prstDash val="solid"/>
            <a:tailEnd type="triangle"/>
          </a:ln>
        </p:spPr>
      </p:sp>
      <p:sp>
        <p:nvSpPr>
          <p:cNvPr id="28" name="A p2 a2">
            <a:extLst>
              <a:ext uri="{C183D7F6-B498-43B3-948B-1728B52AA6E4}">
                <adec:decorative xmlns:adec="http://schemas.microsoft.com/office/drawing/2017/decorative" val="1"/>
              </a:ext>
            </a:extLst>
          </p:cNvPr>
          <p:cNvSpPr/>
          <p:nvPr/>
        </p:nvSpPr>
        <p:spPr>
          <a:xfrm>
            <a:off x="5166360" y="4425696"/>
            <a:ext cx="411480" cy="0"/>
          </a:xfrm>
          <a:prstGeom prst="line">
            <a:avLst/>
          </a:prstGeom>
          <a:noFill/>
          <a:ln w="25400">
            <a:solidFill>
              <a:srgbClr val="64748B"/>
            </a:solidFill>
            <a:prstDash val="solid"/>
            <a:tailEnd type="triangle"/>
          </a:ln>
        </p:spPr>
      </p:sp>
      <p:sp>
        <p:nvSpPr>
          <p:cNvPr id="29" name="A natives"/>
          <p:cNvSpPr txBox="1"/>
          <p:nvPr/>
        </p:nvSpPr>
        <p:spPr>
          <a:xfrm>
            <a:off x="548640" y="4983480"/>
            <a:ext cx="7132320" cy="868680"/>
          </a:xfrm>
          <a:prstGeom prst="rect">
            <a:avLst/>
          </a:prstGeom>
          <a:noFill/>
          <a:ln/>
        </p:spPr>
        <p:txBody>
          <a:bodyPr wrap="square" lIns="0" tIns="0" rIns="0" bIns="0" rtlCol="0" anchor="t"/>
          <a:lstStyle/>
          <a:p>
            <a:pPr marL="0" indent="0">
              <a:buNone/>
            </a:pPr>
            <a:r>
              <a:rPr lang="en-US" sz="1150" b="1" dirty="0">
                <a:solidFill>
                  <a:srgbClr val="B45309"/>
                </a:solidFill>
              </a:rPr>
              <a:t>Native resolver = </a:t>
            </a:r>
            <a:r>
              <a:rPr lang="en-US" sz="1150" dirty="0">
                <a:solidFill>
                  <a:schemeClr val="tx2"/>
                </a:solidFill>
              </a:rPr>
              <a:t>Route 53 VPC Resolver (rules shareable across accounts) · Azure DNS Private Resolver (ruleset) · Google Cloud DNS forwarding zone (Google's preferred way).</a:t>
            </a:r>
            <a:endParaRPr lang="en-US" sz="1150" dirty="0"/>
          </a:p>
        </p:txBody>
      </p:sp>
      <p:sp>
        <p:nvSpPr>
          <p:cNvPr id="30" name="A know">
            <a:extLst>
              <a:ext uri="{C183D7F6-B498-43B3-948B-1728B52AA6E4}">
                <adec:decorative xmlns:adec="http://schemas.microsoft.com/office/drawing/2017/decorative" val="1"/>
              </a:ext>
            </a:extLst>
          </p:cNvPr>
          <p:cNvSpPr/>
          <p:nvPr/>
        </p:nvSpPr>
        <p:spPr>
          <a:xfrm>
            <a:off x="7909560" y="1371600"/>
            <a:ext cx="3749040" cy="4526280"/>
          </a:xfrm>
          <a:prstGeom prst="roundRect">
            <a:avLst>
              <a:gd name="adj" fmla="val 195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31" name="A know head"/>
          <p:cNvSpPr txBox="1"/>
          <p:nvPr/>
        </p:nvSpPr>
        <p:spPr>
          <a:xfrm>
            <a:off x="8092440" y="1481328"/>
            <a:ext cx="3383280" cy="640080"/>
          </a:xfrm>
          <a:prstGeom prst="rect">
            <a:avLst/>
          </a:prstGeom>
          <a:noFill/>
          <a:ln/>
        </p:spPr>
        <p:txBody>
          <a:bodyPr wrap="square" lIns="0" tIns="0" rIns="0" bIns="0" rtlCol="0" anchor="t"/>
          <a:lstStyle/>
          <a:p>
            <a:pPr marL="0" indent="0">
              <a:buNone/>
            </a:pPr>
            <a:r>
              <a:rPr lang="en-US" sz="1100" b="1" dirty="0">
                <a:solidFill>
                  <a:srgbClr val="64748B"/>
                </a:solidFill>
              </a:rPr>
              <a:t>WHAT TO KNOW</a:t>
            </a:r>
            <a:endParaRPr lang="en-US" sz="1400" dirty="0"/>
          </a:p>
        </p:txBody>
      </p:sp>
      <p:sp>
        <p:nvSpPr>
          <p:cNvPr id="32" name="A know list"/>
          <p:cNvSpPr txBox="1"/>
          <p:nvPr/>
        </p:nvSpPr>
        <p:spPr>
          <a:xfrm>
            <a:off x="8092440" y="1810512"/>
            <a:ext cx="34290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Azure, pattern 1: Azure private zones are not consulted first, so vNIOS must forward Azure names back</a:t>
            </a:r>
            <a:endParaRPr lang="en-US" sz="1400" dirty="0"/>
          </a:p>
          <a:p>
            <a:pPr marL="342900" indent="-342900">
              <a:spcAft>
                <a:spcPts val="300"/>
              </a:spcAft>
              <a:buSzPct val="100000"/>
              <a:buChar char="•"/>
            </a:pPr>
            <a:r>
              <a:rPr lang="en-US" sz="1150" dirty="0">
                <a:solidFill>
                  <a:schemeClr val="tx2"/>
                </a:solidFill>
              </a:rPr>
              <a:t>AWS: to resolve Route 53 private zones for other networks, forward to an inbound endpoint, not the VPC's +2 resolver address</a:t>
            </a:r>
            <a:endParaRPr lang="en-US" sz="1400" dirty="0"/>
          </a:p>
          <a:p>
            <a:pPr marL="342900" indent="-342900">
              <a:spcAft>
                <a:spcPts val="300"/>
              </a:spcAft>
              <a:buSzPct val="100000"/>
              <a:buChar char="•"/>
            </a:pPr>
            <a:r>
              <a:rPr lang="en-US" sz="1150" dirty="0">
                <a:solidFill>
                  <a:schemeClr val="tx2"/>
                </a:solidFill>
              </a:rPr>
              <a:t>Plan an HA pair per region that must survive a WAN cut (inference)</a:t>
            </a:r>
            <a:endParaRPr lang="en-US" sz="1400" dirty="0"/>
          </a:p>
          <a:p>
            <a:pPr marL="342900" indent="-342900">
              <a:spcAft>
                <a:spcPts val="300"/>
              </a:spcAft>
              <a:buSzPct val="100000"/>
              <a:buChar char="•"/>
            </a:pPr>
            <a:r>
              <a:rPr lang="en-US" sz="1150" dirty="0">
                <a:solidFill>
                  <a:schemeClr val="tx2"/>
                </a:solidFill>
              </a:rPr>
              <a:t>vNIOS covers GovCloud discovery and Azure Government; every member is agency-operated, and no FedRAMP authorization covers it</a:t>
            </a:r>
            <a:endParaRPr lang="en-US" sz="1400" dirty="0"/>
          </a:p>
        </p:txBody>
      </p:sp>
      <p:sp>
        <p:nvSpPr>
          <p:cNvPr id="3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vNIOS for AWS, Azure, GCP (S20, S24–S27); AWS DHCP options, Resolver (S23, S30, S31, S33); Microsoft Learn (S28, S29); Google Cloud DNS (S32); research_platform.</a:t>
            </a:r>
            <a:endParaRPr lang="en-US" sz="10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86B3ED23-ABB3-133E-8EB4-678D27C0BA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1A4BA9-BED3-48EE-9917-5829F559F00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600"/>
    </mc:Choice>
    <mc:Fallback>
      <p:transition spd="slow" advTm="55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600"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Option B: the Grid joined to Universal DDI</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B portal">
            <a:extLst>
              <a:ext uri="{C183D7F6-B498-43B3-948B-1728B52AA6E4}">
                <adec:decorative xmlns:adec="http://schemas.microsoft.com/office/drawing/2017/decorative" val="1"/>
              </a:ext>
            </a:extLst>
          </p:cNvPr>
          <p:cNvSpPr/>
          <p:nvPr/>
        </p:nvSpPr>
        <p:spPr>
          <a:xfrm>
            <a:off x="3566160" y="1325880"/>
            <a:ext cx="5074920" cy="713232"/>
          </a:xfrm>
          <a:prstGeom prst="roundRect">
            <a:avLst>
              <a:gd name="adj" fmla="val 102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B portal text"/>
          <p:cNvSpPr txBox="1"/>
          <p:nvPr/>
        </p:nvSpPr>
        <p:spPr>
          <a:xfrm>
            <a:off x="3657600" y="1389888"/>
            <a:ext cx="4892040" cy="585216"/>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Infoblox Portal — Universal DDI (SaaS)</a:t>
            </a:r>
            <a:endParaRPr lang="en-US" sz="1100" dirty="0"/>
          </a:p>
          <a:p>
            <a:pPr marL="0" indent="0">
              <a:spcAft>
                <a:spcPts val="100"/>
              </a:spcAft>
              <a:buNone/>
            </a:pPr>
            <a:r>
              <a:rPr lang="en-US" sz="1100" dirty="0">
                <a:solidFill>
                  <a:srgbClr val="334155"/>
                </a:solidFill>
              </a:rPr>
              <a:t>Join token · Cloud Grid Management · IPAM Federation (NIOS 9.0.4+)</a:t>
            </a:r>
            <a:endParaRPr lang="en-US" sz="1100" dirty="0"/>
          </a:p>
        </p:txBody>
      </p:sp>
      <p:sp>
        <p:nvSpPr>
          <p:cNvPr id="7" name="B grid">
            <a:extLst>
              <a:ext uri="{C183D7F6-B498-43B3-948B-1728B52AA6E4}">
                <adec:decorative xmlns:adec="http://schemas.microsoft.com/office/drawing/2017/decorative" val="1"/>
              </a:ext>
            </a:extLst>
          </p:cNvPr>
          <p:cNvSpPr/>
          <p:nvPr/>
        </p:nvSpPr>
        <p:spPr>
          <a:xfrm>
            <a:off x="548640" y="2514600"/>
            <a:ext cx="342900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8" name="B grid text"/>
          <p:cNvSpPr txBox="1"/>
          <p:nvPr/>
        </p:nvSpPr>
        <p:spPr>
          <a:xfrm>
            <a:off x="640080" y="2578608"/>
            <a:ext cx="3246120" cy="74066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NIOS Grid (Trinzic)</a:t>
            </a:r>
            <a:endParaRPr lang="en-US" sz="1100" dirty="0"/>
          </a:p>
          <a:p>
            <a:pPr marL="0" indent="0">
              <a:spcAft>
                <a:spcPts val="100"/>
              </a:spcAft>
              <a:buNone/>
            </a:pPr>
            <a:r>
              <a:rPr lang="en-US" sz="1100" dirty="0">
                <a:solidFill>
                  <a:srgbClr val="334155"/>
                </a:solidFill>
              </a:rPr>
              <a:t>Stays primary; still the console for DR and DHCP failover</a:t>
            </a:r>
            <a:endParaRPr lang="en-US" sz="1100" dirty="0"/>
          </a:p>
        </p:txBody>
      </p:sp>
      <p:sp>
        <p:nvSpPr>
          <p:cNvPr id="9" name="B niosx">
            <a:extLst>
              <a:ext uri="{C183D7F6-B498-43B3-948B-1728B52AA6E4}">
                <adec:decorative xmlns:adec="http://schemas.microsoft.com/office/drawing/2017/decorative" val="1"/>
              </a:ext>
            </a:extLst>
          </p:cNvPr>
          <p:cNvSpPr/>
          <p:nvPr/>
        </p:nvSpPr>
        <p:spPr>
          <a:xfrm>
            <a:off x="4343400" y="2514600"/>
            <a:ext cx="3520440" cy="868680"/>
          </a:xfrm>
          <a:prstGeom prst="roundRect">
            <a:avLst>
              <a:gd name="adj" fmla="val 84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B niosx text"/>
          <p:cNvSpPr txBox="1"/>
          <p:nvPr/>
        </p:nvSpPr>
        <p:spPr>
          <a:xfrm>
            <a:off x="4434840" y="2578608"/>
            <a:ext cx="3337560" cy="74066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NIOS-X servers</a:t>
            </a:r>
            <a:endParaRPr lang="en-US" sz="1100" dirty="0"/>
          </a:p>
          <a:p>
            <a:pPr marL="0" indent="0">
              <a:spcAft>
                <a:spcPts val="100"/>
              </a:spcAft>
              <a:buNone/>
            </a:pPr>
            <a:r>
              <a:rPr lang="en-US" sz="1100" dirty="0">
                <a:solidFill>
                  <a:srgbClr val="334155"/>
                </a:solidFill>
              </a:rPr>
              <a:t>Run cloud forwarders and private zones (not classic Trinzic)</a:t>
            </a:r>
            <a:endParaRPr lang="en-US" sz="1100" dirty="0"/>
          </a:p>
        </p:txBody>
      </p:sp>
      <p:sp>
        <p:nvSpPr>
          <p:cNvPr id="11" name="B cloud">
            <a:extLst>
              <a:ext uri="{C183D7F6-B498-43B3-948B-1728B52AA6E4}">
                <adec:decorative xmlns:adec="http://schemas.microsoft.com/office/drawing/2017/decorative" val="1"/>
              </a:ext>
            </a:extLst>
          </p:cNvPr>
          <p:cNvSpPr/>
          <p:nvPr/>
        </p:nvSpPr>
        <p:spPr>
          <a:xfrm>
            <a:off x="8229600" y="2514600"/>
            <a:ext cx="3429000" cy="868680"/>
          </a:xfrm>
          <a:prstGeom prst="roundRect">
            <a:avLst>
              <a:gd name="adj" fmla="val 84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B cloud text"/>
          <p:cNvSpPr txBox="1"/>
          <p:nvPr/>
        </p:nvSpPr>
        <p:spPr>
          <a:xfrm>
            <a:off x="8321040" y="2578608"/>
            <a:ext cx="3246120" cy="74066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Route 53 · Azure DNS · Cloud DNS</a:t>
            </a:r>
            <a:endParaRPr lang="en-US" sz="1100" dirty="0"/>
          </a:p>
          <a:p>
            <a:pPr marL="0" indent="0">
              <a:spcAft>
                <a:spcPts val="100"/>
              </a:spcAft>
              <a:buNone/>
            </a:pPr>
            <a:r>
              <a:rPr lang="en-US" sz="1100" dirty="0">
                <a:solidFill>
                  <a:srgbClr val="334155"/>
                </a:solidFill>
              </a:rPr>
              <a:t>Read-write sync; resolver endpoints and rules discovered</a:t>
            </a:r>
            <a:endParaRPr lang="en-US" sz="1100" dirty="0"/>
          </a:p>
        </p:txBody>
      </p:sp>
      <p:sp>
        <p:nvSpPr>
          <p:cNvPr id="13" name="B a1">
            <a:extLst>
              <a:ext uri="{C183D7F6-B498-43B3-948B-1728B52AA6E4}">
                <adec:decorative xmlns:adec="http://schemas.microsoft.com/office/drawing/2017/decorative" val="1"/>
              </a:ext>
            </a:extLst>
          </p:cNvPr>
          <p:cNvSpPr/>
          <p:nvPr/>
        </p:nvSpPr>
        <p:spPr>
          <a:xfrm flipH="1">
            <a:off x="2267712" y="2039112"/>
            <a:ext cx="2578608" cy="475488"/>
          </a:xfrm>
          <a:prstGeom prst="line">
            <a:avLst/>
          </a:prstGeom>
          <a:noFill/>
          <a:ln w="25400">
            <a:solidFill>
              <a:srgbClr val="64748B"/>
            </a:solidFill>
            <a:prstDash val="solid"/>
            <a:headEnd type="triangle"/>
            <a:tailEnd type="triangle"/>
          </a:ln>
        </p:spPr>
      </p:sp>
      <p:sp>
        <p:nvSpPr>
          <p:cNvPr id="14" name="B a2">
            <a:extLst>
              <a:ext uri="{C183D7F6-B498-43B3-948B-1728B52AA6E4}">
                <adec:decorative xmlns:adec="http://schemas.microsoft.com/office/drawing/2017/decorative" val="1"/>
              </a:ext>
            </a:extLst>
          </p:cNvPr>
          <p:cNvSpPr/>
          <p:nvPr/>
        </p:nvSpPr>
        <p:spPr>
          <a:xfrm>
            <a:off x="6099048" y="2039112"/>
            <a:ext cx="0" cy="475488"/>
          </a:xfrm>
          <a:prstGeom prst="line">
            <a:avLst/>
          </a:prstGeom>
          <a:noFill/>
          <a:ln w="25400">
            <a:solidFill>
              <a:srgbClr val="64748B"/>
            </a:solidFill>
            <a:prstDash val="solid"/>
            <a:headEnd type="triangle"/>
            <a:tailEnd type="triangle"/>
          </a:ln>
        </p:spPr>
      </p:sp>
      <p:sp>
        <p:nvSpPr>
          <p:cNvPr id="15" name="B a3">
            <a:extLst>
              <a:ext uri="{C183D7F6-B498-43B3-948B-1728B52AA6E4}">
                <adec:decorative xmlns:adec="http://schemas.microsoft.com/office/drawing/2017/decorative" val="1"/>
              </a:ext>
            </a:extLst>
          </p:cNvPr>
          <p:cNvSpPr/>
          <p:nvPr/>
        </p:nvSpPr>
        <p:spPr>
          <a:xfrm>
            <a:off x="7360920" y="2039112"/>
            <a:ext cx="2587752" cy="475488"/>
          </a:xfrm>
          <a:prstGeom prst="line">
            <a:avLst/>
          </a:prstGeom>
          <a:noFill/>
          <a:ln w="25400">
            <a:solidFill>
              <a:srgbClr val="64748B"/>
            </a:solidFill>
            <a:prstDash val="solid"/>
            <a:headEnd type="triangle"/>
            <a:tailEnd type="triangle"/>
          </a:ln>
        </p:spPr>
      </p:sp>
      <p:sp>
        <p:nvSpPr>
          <p:cNvPr id="16" name="B limits">
            <a:extLst>
              <a:ext uri="{C183D7F6-B498-43B3-948B-1728B52AA6E4}">
                <adec:decorative xmlns:adec="http://schemas.microsoft.com/office/drawing/2017/decorative" val="1"/>
              </a:ext>
            </a:extLst>
          </p:cNvPr>
          <p:cNvSpPr/>
          <p:nvPr/>
        </p:nvSpPr>
        <p:spPr>
          <a:xfrm>
            <a:off x="548640" y="3584448"/>
            <a:ext cx="5486400" cy="2331720"/>
          </a:xfrm>
          <a:prstGeom prst="roundRect">
            <a:avLst>
              <a:gd name="adj" fmla="val 313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7" name="B limits head"/>
          <p:cNvSpPr txBox="1"/>
          <p:nvPr/>
        </p:nvSpPr>
        <p:spPr>
          <a:xfrm>
            <a:off x="731520" y="3694176"/>
            <a:ext cx="5120640" cy="640080"/>
          </a:xfrm>
          <a:prstGeom prst="rect">
            <a:avLst/>
          </a:prstGeom>
          <a:noFill/>
          <a:ln/>
        </p:spPr>
        <p:txBody>
          <a:bodyPr wrap="square" lIns="0" tIns="0" rIns="0" bIns="0" rtlCol="0" anchor="t"/>
          <a:lstStyle/>
          <a:p>
            <a:pPr marL="0" indent="0">
              <a:buNone/>
            </a:pPr>
            <a:r>
              <a:rPr lang="en-US" sz="1100" b="1" dirty="0">
                <a:solidFill>
                  <a:srgbClr val="64748B"/>
                </a:solidFill>
              </a:rPr>
              <a:t>DOCUMENTED LIMITS</a:t>
            </a:r>
            <a:endParaRPr lang="en-US" sz="1400" dirty="0"/>
          </a:p>
        </p:txBody>
      </p:sp>
      <p:sp>
        <p:nvSpPr>
          <p:cNvPr id="18" name="B limits list"/>
          <p:cNvSpPr txBox="1"/>
          <p:nvPr/>
        </p:nvSpPr>
        <p:spPr>
          <a:xfrm>
            <a:off x="731520" y="4023360"/>
            <a:ext cx="5166360" cy="18196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Route 53: no non-simple routing policies; apex aliases unsupported; NS read-only</a:t>
            </a:r>
            <a:endParaRPr lang="en-US" sz="1400" dirty="0"/>
          </a:p>
          <a:p>
            <a:pPr marL="342900" indent="-342900">
              <a:spcAft>
                <a:spcPts val="300"/>
              </a:spcAft>
              <a:buSzPct val="100000"/>
              <a:buChar char="•"/>
            </a:pPr>
            <a:r>
              <a:rPr lang="en-US" sz="1150" dirty="0">
                <a:solidFill>
                  <a:schemeClr val="tx2"/>
                </a:solidFill>
              </a:rPr>
              <a:t>Azure and Google private zones can't be created; DNSSEC records not synced</a:t>
            </a:r>
            <a:endParaRPr lang="en-US" sz="1400" dirty="0"/>
          </a:p>
          <a:p>
            <a:pPr marL="342900" indent="-342900">
              <a:spcAft>
                <a:spcPts val="300"/>
              </a:spcAft>
              <a:buSzPct val="100000"/>
              <a:buChar char="•"/>
            </a:pPr>
            <a:r>
              <a:rPr lang="en-US" sz="1150" dirty="0">
                <a:solidFill>
                  <a:schemeClr val="tx2"/>
                </a:solidFill>
              </a:rPr>
              <a:t>Outbound cloud forwarders: AWS↔Azure only</a:t>
            </a:r>
            <a:endParaRPr lang="en-US" sz="1400" dirty="0"/>
          </a:p>
          <a:p>
            <a:pPr marL="342900" indent="-342900">
              <a:spcAft>
                <a:spcPts val="300"/>
              </a:spcAft>
              <a:buSzPct val="100000"/>
              <a:buChar char="•"/>
            </a:pPr>
            <a:r>
              <a:rPr lang="en-US" sz="1150" dirty="0">
                <a:solidFill>
                  <a:schemeClr val="tx2"/>
                </a:solidFill>
              </a:rPr>
              <a:t>Portal can't promote a Grid Master Candidate or manage NIOS DHCP failover</a:t>
            </a:r>
            <a:endParaRPr lang="en-US" sz="1400" dirty="0"/>
          </a:p>
          <a:p>
            <a:pPr marL="342900" indent="-342900">
              <a:spcAft>
                <a:spcPts val="300"/>
              </a:spcAft>
              <a:buSzPct val="100000"/>
              <a:buChar char="•"/>
            </a:pPr>
            <a:r>
              <a:rPr lang="en-US" sz="1150" dirty="0">
                <a:solidFill>
                  <a:schemeClr val="tx2"/>
                </a:solidFill>
              </a:rPr>
              <a:t>AWS VPC IPAM authority: Advanced Tier, private scopes only</a:t>
            </a:r>
            <a:endParaRPr lang="en-US" sz="1400" dirty="0"/>
          </a:p>
        </p:txBody>
      </p:sp>
      <p:sp>
        <p:nvSpPr>
          <p:cNvPr id="19" name="B gov">
            <a:extLst>
              <a:ext uri="{C183D7F6-B498-43B3-948B-1728B52AA6E4}">
                <adec:decorative xmlns:adec="http://schemas.microsoft.com/office/drawing/2017/decorative" val="1"/>
              </a:ext>
            </a:extLst>
          </p:cNvPr>
          <p:cNvSpPr/>
          <p:nvPr/>
        </p:nvSpPr>
        <p:spPr>
          <a:xfrm>
            <a:off x="6172200" y="3584448"/>
            <a:ext cx="548640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B gov head"/>
          <p:cNvSpPr txBox="1"/>
          <p:nvPr/>
        </p:nvSpPr>
        <p:spPr>
          <a:xfrm>
            <a:off x="6355080" y="3694176"/>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THE GOVERNMENT EDITION</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Infoblox Government Cloud</a:t>
            </a:r>
            <a:endParaRPr lang="en-US" sz="1400" dirty="0"/>
          </a:p>
        </p:txBody>
      </p:sp>
      <p:sp>
        <p:nvSpPr>
          <p:cNvPr id="21" name="B gov list"/>
          <p:cNvSpPr txBox="1"/>
          <p:nvPr/>
        </p:nvSpPr>
        <p:spPr>
          <a:xfrm>
            <a:off x="6355080" y="4334256"/>
            <a:ext cx="5166360" cy="150876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FedRAMP Certified, Moderate, Agency path; hosted in AWS GovCloud (US)</a:t>
            </a:r>
            <a:endParaRPr lang="en-US" sz="1400" dirty="0"/>
          </a:p>
          <a:p>
            <a:pPr marL="342900" indent="-342900">
              <a:spcAft>
                <a:spcPts val="300"/>
              </a:spcAft>
              <a:buSzPct val="100000"/>
              <a:buChar char="•"/>
            </a:pPr>
            <a:r>
              <a:rPr lang="en-US" sz="1150" dirty="0">
                <a:solidFill>
                  <a:schemeClr val="tx2"/>
                </a:solidFill>
              </a:rPr>
              <a:t>Discovery limits: single AWS accounts, no Azure tenants, static GCP credentials</a:t>
            </a:r>
            <a:endParaRPr lang="en-US" sz="1400" dirty="0"/>
          </a:p>
          <a:p>
            <a:pPr marL="342900" indent="-342900">
              <a:spcAft>
                <a:spcPts val="300"/>
              </a:spcAft>
              <a:buSzPct val="100000"/>
              <a:buChar char="•"/>
            </a:pPr>
            <a:r>
              <a:rPr lang="en-US" sz="1150" dirty="0">
                <a:solidFill>
                  <a:schemeClr val="tx2"/>
                </a:solidFill>
              </a:rPr>
              <a:t>VPC IPAM–Infoblox: not in its release notes; AWS excludes GovCloud</a:t>
            </a:r>
            <a:endParaRPr lang="en-US" sz="1400" dirty="0"/>
          </a:p>
          <a:p>
            <a:pPr marL="342900" indent="-342900">
              <a:spcAft>
                <a:spcPts val="300"/>
              </a:spcAft>
              <a:buSzPct val="100000"/>
              <a:buChar char="•"/>
            </a:pPr>
            <a:r>
              <a:rPr lang="en-US" sz="1150" dirty="0">
                <a:solidFill>
                  <a:schemeClr val="tx2"/>
                </a:solidFill>
              </a:rPr>
              <a:t>Write sync and forwarders against GovCloud or Azure Government: confirm</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Universal DDI onboarding, hybrid, limits, Route 53/Azure/GCP, cloud forwarders (S35–S48, S56); AWS VPC IPAM + Infoblox (S38, S39); FedRAMP notes (S50–S55); products.json.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61EDA0D4-7BC2-BA27-8133-45712A3D72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8C955C-016C-4001-89F8-A4079CC4E69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630"/>
    </mc:Choice>
    <mc:Fallback>
      <p:transition spd="slow" advTm="50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632"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Option C: Trinzic alongside native cloud DNS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 grid">
            <a:extLst>
              <a:ext uri="{C183D7F6-B498-43B3-948B-1728B52AA6E4}">
                <adec:decorative xmlns:adec="http://schemas.microsoft.com/office/drawing/2017/decorative" val="1"/>
              </a:ext>
            </a:extLst>
          </p:cNvPr>
          <p:cNvSpPr/>
          <p:nvPr/>
        </p:nvSpPr>
        <p:spPr>
          <a:xfrm>
            <a:off x="548640" y="1600200"/>
            <a:ext cx="2514600" cy="301752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 grid text"/>
          <p:cNvSpPr txBox="1"/>
          <p:nvPr/>
        </p:nvSpPr>
        <p:spPr>
          <a:xfrm>
            <a:off x="640080" y="1664208"/>
            <a:ext cx="2331720" cy="2889504"/>
          </a:xfrm>
          <a:prstGeom prst="rect">
            <a:avLst/>
          </a:prstGeom>
          <a:noFill/>
          <a:ln/>
        </p:spPr>
        <p:txBody>
          <a:bodyPr wrap="square" lIns="0" tIns="0" rIns="0" bIns="0" rtlCol="0" anchor="ctr"/>
          <a:lstStyle/>
          <a:p>
            <a:pPr marL="0" indent="0">
              <a:spcAft>
                <a:spcPts val="100"/>
              </a:spcAft>
              <a:buNone/>
            </a:pPr>
            <a:r>
              <a:rPr lang="en-US" sz="1350" b="1" dirty="0">
                <a:solidFill>
                  <a:srgbClr val="1F2A44"/>
                </a:solidFill>
                <a:latin typeface="Cambria" pitchFamily="34" charset="0"/>
                <a:ea typeface="Cambria" pitchFamily="34" charset="-122"/>
                <a:cs typeface="Cambria" pitchFamily="34" charset="-120"/>
              </a:rPr>
              <a:t>On-prem NIOS Grid</a:t>
            </a:r>
            <a:endParaRPr lang="en-US" sz="1200" dirty="0"/>
          </a:p>
          <a:p>
            <a:pPr marL="0" indent="0">
              <a:spcAft>
                <a:spcPts val="100"/>
              </a:spcAft>
              <a:buNone/>
            </a:pPr>
            <a:r>
              <a:rPr lang="en-US" sz="1200" dirty="0">
                <a:solidFill>
                  <a:srgbClr val="334155"/>
                </a:solidFill>
              </a:rPr>
              <a:t>Authoritative for agency zones. Forwards each cloud's names to that cloud.</a:t>
            </a:r>
            <a:endParaRPr lang="en-US" sz="1200" dirty="0"/>
          </a:p>
        </p:txBody>
      </p:sp>
      <p:sp>
        <p:nvSpPr>
          <p:cNvPr id="7" name="C AWS">
            <a:extLst>
              <a:ext uri="{C183D7F6-B498-43B3-948B-1728B52AA6E4}">
                <adec:decorative xmlns:adec="http://schemas.microsoft.com/office/drawing/2017/decorative" val="1"/>
              </a:ext>
            </a:extLst>
          </p:cNvPr>
          <p:cNvSpPr/>
          <p:nvPr/>
        </p:nvSpPr>
        <p:spPr>
          <a:xfrm>
            <a:off x="4572000" y="1371600"/>
            <a:ext cx="3520440" cy="1005840"/>
          </a:xfrm>
          <a:prstGeom prst="roundRect">
            <a:avLst>
              <a:gd name="adj" fmla="val 727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C AWS text"/>
          <p:cNvSpPr txBox="1"/>
          <p:nvPr/>
        </p:nvSpPr>
        <p:spPr>
          <a:xfrm>
            <a:off x="4663440" y="1435608"/>
            <a:ext cx="3337560" cy="87782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AWS</a:t>
            </a:r>
            <a:endParaRPr lang="en-US" sz="1100" dirty="0"/>
          </a:p>
          <a:p>
            <a:pPr marL="0" indent="0">
              <a:spcAft>
                <a:spcPts val="100"/>
              </a:spcAft>
              <a:buNone/>
            </a:pPr>
            <a:r>
              <a:rPr lang="en-US" sz="1100" dirty="0">
                <a:solidFill>
                  <a:srgbClr val="334155"/>
                </a:solidFill>
              </a:rPr>
              <a:t>Route 53 private hosted zones. In: inbound endpoint. Out: outbound endpoint + rules.</a:t>
            </a:r>
            <a:endParaRPr lang="en-US" sz="1100" dirty="0"/>
          </a:p>
        </p:txBody>
      </p:sp>
      <p:sp>
        <p:nvSpPr>
          <p:cNvPr id="9" name="C in 1">
            <a:extLst>
              <a:ext uri="{C183D7F6-B498-43B3-948B-1728B52AA6E4}">
                <adec:decorative xmlns:adec="http://schemas.microsoft.com/office/drawing/2017/decorative" val="1"/>
              </a:ext>
            </a:extLst>
          </p:cNvPr>
          <p:cNvSpPr/>
          <p:nvPr/>
        </p:nvSpPr>
        <p:spPr>
          <a:xfrm>
            <a:off x="3063240" y="1737360"/>
            <a:ext cx="1508760" cy="0"/>
          </a:xfrm>
          <a:prstGeom prst="line">
            <a:avLst/>
          </a:prstGeom>
          <a:noFill/>
          <a:ln w="25400">
            <a:solidFill>
              <a:srgbClr val="1F2A44"/>
            </a:solidFill>
            <a:prstDash val="solid"/>
            <a:tailEnd type="triangle"/>
          </a:ln>
        </p:spPr>
      </p:sp>
      <p:sp>
        <p:nvSpPr>
          <p:cNvPr id="10" name="C out 1">
            <a:extLst>
              <a:ext uri="{C183D7F6-B498-43B3-948B-1728B52AA6E4}">
                <adec:decorative xmlns:adec="http://schemas.microsoft.com/office/drawing/2017/decorative" val="1"/>
              </a:ext>
            </a:extLst>
          </p:cNvPr>
          <p:cNvSpPr/>
          <p:nvPr/>
        </p:nvSpPr>
        <p:spPr>
          <a:xfrm flipH="1">
            <a:off x="3063240" y="2011680"/>
            <a:ext cx="1508760" cy="0"/>
          </a:xfrm>
          <a:prstGeom prst="line">
            <a:avLst/>
          </a:prstGeom>
          <a:noFill/>
          <a:ln w="25400">
            <a:solidFill>
              <a:srgbClr val="0F766E"/>
            </a:solidFill>
            <a:prstDash val="solid"/>
            <a:tailEnd type="triangle"/>
          </a:ln>
        </p:spPr>
      </p:sp>
      <p:sp>
        <p:nvSpPr>
          <p:cNvPr id="11" name="C Azure">
            <a:extLst>
              <a:ext uri="{C183D7F6-B498-43B3-948B-1728B52AA6E4}">
                <adec:decorative xmlns:adec="http://schemas.microsoft.com/office/drawing/2017/decorative" val="1"/>
              </a:ext>
            </a:extLst>
          </p:cNvPr>
          <p:cNvSpPr/>
          <p:nvPr/>
        </p:nvSpPr>
        <p:spPr>
          <a:xfrm>
            <a:off x="4572000" y="2606040"/>
            <a:ext cx="3520440" cy="1005840"/>
          </a:xfrm>
          <a:prstGeom prst="roundRect">
            <a:avLst>
              <a:gd name="adj" fmla="val 727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C Azure text"/>
          <p:cNvSpPr txBox="1"/>
          <p:nvPr/>
        </p:nvSpPr>
        <p:spPr>
          <a:xfrm>
            <a:off x="4663440" y="2670048"/>
            <a:ext cx="3337560" cy="87782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Azure</a:t>
            </a:r>
            <a:endParaRPr lang="en-US" sz="1100" dirty="0"/>
          </a:p>
          <a:p>
            <a:pPr marL="0" indent="0">
              <a:spcAft>
                <a:spcPts val="100"/>
              </a:spcAft>
              <a:buNone/>
            </a:pPr>
            <a:r>
              <a:rPr lang="en-US" sz="1100" dirty="0">
                <a:solidFill>
                  <a:srgbClr val="334155"/>
                </a:solidFill>
              </a:rPr>
              <a:t>Private DNS zones. In: Private Resolver inbound endpoint. Out: outbound endpoint + ruleset.</a:t>
            </a:r>
            <a:endParaRPr lang="en-US" sz="1100" dirty="0"/>
          </a:p>
        </p:txBody>
      </p:sp>
      <p:sp>
        <p:nvSpPr>
          <p:cNvPr id="13" name="C in 2">
            <a:extLst>
              <a:ext uri="{C183D7F6-B498-43B3-948B-1728B52AA6E4}">
                <adec:decorative xmlns:adec="http://schemas.microsoft.com/office/drawing/2017/decorative" val="1"/>
              </a:ext>
            </a:extLst>
          </p:cNvPr>
          <p:cNvSpPr/>
          <p:nvPr/>
        </p:nvSpPr>
        <p:spPr>
          <a:xfrm>
            <a:off x="3063240" y="2971800"/>
            <a:ext cx="1508760" cy="0"/>
          </a:xfrm>
          <a:prstGeom prst="line">
            <a:avLst/>
          </a:prstGeom>
          <a:noFill/>
          <a:ln w="25400">
            <a:solidFill>
              <a:srgbClr val="1F2A44"/>
            </a:solidFill>
            <a:prstDash val="solid"/>
            <a:tailEnd type="triangle"/>
          </a:ln>
        </p:spPr>
      </p:sp>
      <p:sp>
        <p:nvSpPr>
          <p:cNvPr id="14" name="C out 2">
            <a:extLst>
              <a:ext uri="{C183D7F6-B498-43B3-948B-1728B52AA6E4}">
                <adec:decorative xmlns:adec="http://schemas.microsoft.com/office/drawing/2017/decorative" val="1"/>
              </a:ext>
            </a:extLst>
          </p:cNvPr>
          <p:cNvSpPr/>
          <p:nvPr/>
        </p:nvSpPr>
        <p:spPr>
          <a:xfrm flipH="1">
            <a:off x="3063240" y="3246120"/>
            <a:ext cx="1508760" cy="0"/>
          </a:xfrm>
          <a:prstGeom prst="line">
            <a:avLst/>
          </a:prstGeom>
          <a:noFill/>
          <a:ln w="25400">
            <a:solidFill>
              <a:srgbClr val="0F766E"/>
            </a:solidFill>
            <a:prstDash val="solid"/>
            <a:tailEnd type="triangle"/>
          </a:ln>
        </p:spPr>
      </p:sp>
      <p:sp>
        <p:nvSpPr>
          <p:cNvPr id="15" name="C Google Cloud">
            <a:extLst>
              <a:ext uri="{C183D7F6-B498-43B3-948B-1728B52AA6E4}">
                <adec:decorative xmlns:adec="http://schemas.microsoft.com/office/drawing/2017/decorative" val="1"/>
              </a:ext>
            </a:extLst>
          </p:cNvPr>
          <p:cNvSpPr/>
          <p:nvPr/>
        </p:nvSpPr>
        <p:spPr>
          <a:xfrm>
            <a:off x="4572000" y="3840480"/>
            <a:ext cx="3520440" cy="1005840"/>
          </a:xfrm>
          <a:prstGeom prst="roundRect">
            <a:avLst>
              <a:gd name="adj" fmla="val 727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6" name="C Google Cloud text"/>
          <p:cNvSpPr txBox="1"/>
          <p:nvPr/>
        </p:nvSpPr>
        <p:spPr>
          <a:xfrm>
            <a:off x="4663440" y="3904488"/>
            <a:ext cx="3337560" cy="87782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Google Cloud</a:t>
            </a:r>
            <a:endParaRPr lang="en-US" sz="1100" dirty="0"/>
          </a:p>
          <a:p>
            <a:pPr marL="0" indent="0">
              <a:spcAft>
                <a:spcPts val="100"/>
              </a:spcAft>
              <a:buNone/>
            </a:pPr>
            <a:r>
              <a:rPr lang="en-US" sz="1100" dirty="0">
                <a:solidFill>
                  <a:srgbClr val="334155"/>
                </a:solidFill>
              </a:rPr>
              <a:t>Private zones. In: inbound server policy. Out: forwarding zone.</a:t>
            </a:r>
            <a:endParaRPr lang="en-US" sz="1100" dirty="0"/>
          </a:p>
        </p:txBody>
      </p:sp>
      <p:sp>
        <p:nvSpPr>
          <p:cNvPr id="17" name="C in 3">
            <a:extLst>
              <a:ext uri="{C183D7F6-B498-43B3-948B-1728B52AA6E4}">
                <adec:decorative xmlns:adec="http://schemas.microsoft.com/office/drawing/2017/decorative" val="1"/>
              </a:ext>
            </a:extLst>
          </p:cNvPr>
          <p:cNvSpPr/>
          <p:nvPr/>
        </p:nvSpPr>
        <p:spPr>
          <a:xfrm>
            <a:off x="3063240" y="4206240"/>
            <a:ext cx="1508760" cy="0"/>
          </a:xfrm>
          <a:prstGeom prst="line">
            <a:avLst/>
          </a:prstGeom>
          <a:noFill/>
          <a:ln w="25400">
            <a:solidFill>
              <a:srgbClr val="1F2A44"/>
            </a:solidFill>
            <a:prstDash val="solid"/>
            <a:tailEnd type="triangle"/>
          </a:ln>
        </p:spPr>
      </p:sp>
      <p:sp>
        <p:nvSpPr>
          <p:cNvPr id="18" name="C out 3">
            <a:extLst>
              <a:ext uri="{C183D7F6-B498-43B3-948B-1728B52AA6E4}">
                <adec:decorative xmlns:adec="http://schemas.microsoft.com/office/drawing/2017/decorative" val="1"/>
              </a:ext>
            </a:extLst>
          </p:cNvPr>
          <p:cNvSpPr/>
          <p:nvPr/>
        </p:nvSpPr>
        <p:spPr>
          <a:xfrm flipH="1">
            <a:off x="3063240" y="4480560"/>
            <a:ext cx="1508760" cy="0"/>
          </a:xfrm>
          <a:prstGeom prst="line">
            <a:avLst/>
          </a:prstGeom>
          <a:noFill/>
          <a:ln w="25400">
            <a:solidFill>
              <a:srgbClr val="0F766E"/>
            </a:solidFill>
            <a:prstDash val="solid"/>
            <a:tailEnd type="triangle"/>
          </a:ln>
        </p:spPr>
      </p:sp>
      <p:sp>
        <p:nvSpPr>
          <p:cNvPr id="19" name="C legend"/>
          <p:cNvSpPr txBox="1"/>
          <p:nvPr/>
        </p:nvSpPr>
        <p:spPr>
          <a:xfrm>
            <a:off x="548640" y="4681728"/>
            <a:ext cx="3977640" cy="329184"/>
          </a:xfrm>
          <a:prstGeom prst="rect">
            <a:avLst/>
          </a:prstGeom>
          <a:noFill/>
          <a:ln/>
        </p:spPr>
        <p:txBody>
          <a:bodyPr wrap="square" lIns="0" tIns="0" rIns="0" bIns="0" rtlCol="0" anchor="t"/>
          <a:lstStyle/>
          <a:p>
            <a:pPr marL="0" indent="0">
              <a:buNone/>
            </a:pPr>
            <a:r>
              <a:rPr lang="en-US" sz="1050" b="1" dirty="0">
                <a:solidFill>
                  <a:srgbClr val="1F2A44"/>
                </a:solidFill>
              </a:rPr>
              <a:t>→ </a:t>
            </a:r>
            <a:r>
              <a:rPr lang="en-US" sz="1050" dirty="0">
                <a:solidFill>
                  <a:srgbClr val="334155"/>
                </a:solidFill>
              </a:rPr>
              <a:t>Grid sends cloud names in  </a:t>
            </a:r>
            <a:r>
              <a:rPr lang="en-US" sz="1050" b="1" dirty="0">
                <a:solidFill>
                  <a:srgbClr val="0F766E"/>
                </a:solidFill>
              </a:rPr>
              <a:t>← </a:t>
            </a:r>
            <a:r>
              <a:rPr lang="en-US" sz="1050" dirty="0">
                <a:solidFill>
                  <a:srgbClr val="334155"/>
                </a:solidFill>
              </a:rPr>
              <a:t>cloud sends agency names out</a:t>
            </a:r>
            <a:endParaRPr lang="en-US" sz="1050" dirty="0"/>
          </a:p>
        </p:txBody>
      </p:sp>
      <p:sp>
        <p:nvSpPr>
          <p:cNvPr id="20" name="C ipam"/>
          <p:cNvSpPr txBox="1"/>
          <p:nvPr/>
        </p:nvSpPr>
        <p:spPr>
          <a:xfrm>
            <a:off x="548640" y="5029200"/>
            <a:ext cx="7543800" cy="868680"/>
          </a:xfrm>
          <a:prstGeom prst="rect">
            <a:avLst/>
          </a:prstGeom>
          <a:noFill/>
          <a:ln/>
        </p:spPr>
        <p:txBody>
          <a:bodyPr wrap="square" lIns="0" tIns="0" rIns="0" bIns="0" rtlCol="0" anchor="t"/>
          <a:lstStyle/>
          <a:p>
            <a:pPr marL="0" indent="0">
              <a:buNone/>
            </a:pPr>
            <a:r>
              <a:rPr lang="en-US" sz="1150" b="1" dirty="0">
                <a:solidFill>
                  <a:srgbClr val="1F2A44"/>
                </a:solidFill>
              </a:rPr>
              <a:t>IPAM handoff: </a:t>
            </a:r>
            <a:r>
              <a:rPr lang="en-US" sz="1150" dirty="0">
                <a:solidFill>
                  <a:schemeClr val="tx2"/>
                </a:solidFill>
              </a:rPr>
              <a:t>the Grid owns the supernets; each cloud gets a block. Commercial AWS can automate it (VPC IPAM + Universal DDI). GovCloud, Azure, Google: manual — reserve in NIOS, create the cloud pool with that range, let vDiscovery check.</a:t>
            </a:r>
            <a:endParaRPr lang="en-US" sz="1150" dirty="0"/>
          </a:p>
        </p:txBody>
      </p:sp>
      <p:sp>
        <p:nvSpPr>
          <p:cNvPr id="21" name="C facts">
            <a:extLst>
              <a:ext uri="{C183D7F6-B498-43B3-948B-1728B52AA6E4}">
                <adec:decorative xmlns:adec="http://schemas.microsoft.com/office/drawing/2017/decorative" val="1"/>
              </a:ext>
            </a:extLst>
          </p:cNvPr>
          <p:cNvSpPr/>
          <p:nvPr/>
        </p:nvSpPr>
        <p:spPr>
          <a:xfrm>
            <a:off x="8321040" y="1371600"/>
            <a:ext cx="3337560" cy="4526280"/>
          </a:xfrm>
          <a:prstGeom prst="roundRect">
            <a:avLst>
              <a:gd name="adj" fmla="val 219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C facts head"/>
          <p:cNvSpPr txBox="1"/>
          <p:nvPr/>
        </p:nvSpPr>
        <p:spPr>
          <a:xfrm>
            <a:off x="8503920" y="1481328"/>
            <a:ext cx="2971800" cy="640080"/>
          </a:xfrm>
          <a:prstGeom prst="rect">
            <a:avLst/>
          </a:prstGeom>
          <a:noFill/>
          <a:ln/>
        </p:spPr>
        <p:txBody>
          <a:bodyPr wrap="square" lIns="0" tIns="0" rIns="0" bIns="0" rtlCol="0" anchor="t"/>
          <a:lstStyle/>
          <a:p>
            <a:pPr marL="0" indent="0">
              <a:buNone/>
            </a:pPr>
            <a:r>
              <a:rPr lang="en-US" sz="1100" b="1" dirty="0">
                <a:solidFill>
                  <a:srgbClr val="64748B"/>
                </a:solidFill>
              </a:rPr>
              <a:t>FACTS TO KNOW</a:t>
            </a:r>
            <a:endParaRPr lang="en-US" sz="1400" dirty="0"/>
          </a:p>
        </p:txBody>
      </p:sp>
      <p:sp>
        <p:nvSpPr>
          <p:cNvPr id="23" name="C facts list"/>
          <p:cNvSpPr txBox="1"/>
          <p:nvPr/>
        </p:nvSpPr>
        <p:spPr>
          <a:xfrm>
            <a:off x="8503920" y="1810512"/>
            <a:ext cx="3017520" cy="4014216"/>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Route 53 private zones answer only linked VPCs or via an inbound endpoint; elsewhere the name resolves on the internet</a:t>
            </a:r>
            <a:endParaRPr lang="en-US" sz="1400" dirty="0"/>
          </a:p>
          <a:p>
            <a:pPr marL="342900" indent="-342900">
              <a:spcAft>
                <a:spcPts val="300"/>
              </a:spcAft>
              <a:buSzPct val="100000"/>
              <a:buChar char="•"/>
            </a:pPr>
            <a:r>
              <a:rPr lang="en-US" sz="1100" dirty="0">
                <a:solidFill>
                  <a:schemeClr val="tx2"/>
                </a:solidFill>
              </a:rPr>
              <a:t>Azure, with Azure-provided DNS: linked private zones, then rulesets, then Azure DNS</a:t>
            </a:r>
            <a:endParaRPr lang="en-US" sz="1400" dirty="0"/>
          </a:p>
          <a:p>
            <a:pPr marL="342900" indent="-342900">
              <a:spcAft>
                <a:spcPts val="300"/>
              </a:spcAft>
              <a:buSzPct val="100000"/>
              <a:buChar char="•"/>
            </a:pPr>
            <a:r>
              <a:rPr lang="en-US" sz="1100" dirty="0">
                <a:solidFill>
                  <a:schemeClr val="tx2"/>
                </a:solidFill>
              </a:rPr>
              <a:t>Google: two authoritative systems; no zone transfers; forwarded answers cached 60 s</a:t>
            </a:r>
            <a:endParaRPr lang="en-US" sz="1400" dirty="0"/>
          </a:p>
          <a:p>
            <a:pPr marL="342900" indent="-342900">
              <a:spcAft>
                <a:spcPts val="300"/>
              </a:spcAft>
              <a:buSzPct val="100000"/>
              <a:buChar char="•"/>
            </a:pPr>
            <a:r>
              <a:rPr lang="en-US" sz="1100" dirty="0">
                <a:solidFill>
                  <a:schemeClr val="tx2"/>
                </a:solidFill>
              </a:rPr>
              <a:t>GovCloud: Route 53 private DNS and Resolver endpoints work; Resolver delegation doesn't</a:t>
            </a:r>
            <a:endParaRPr lang="en-US" sz="140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AWS private hosted zones, Resolver, GovCloud Route 53 (S22, S30–S33, S57, S61, S62); Microsoft Learn (S28, S64, S65); Google Cloud DNS (S67, S68); AWS VPC IPAM (S38, S39).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0EE0114E-614E-F261-E19B-41FD4B42CD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7EB129-88F4-4DEF-8410-062E751E650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90"/>
    </mc:Choice>
    <mc:Fallback>
      <p:transition spd="slow" advTm="50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9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rules that prevent split-brain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 illus"/>
          <p:cNvSpPr txBox="1"/>
          <p:nvPr/>
        </p:nvSpPr>
        <p:spPr>
          <a:xfrm>
            <a:off x="548640" y="1325880"/>
            <a:ext cx="4206240" cy="256032"/>
          </a:xfrm>
          <a:prstGeom prst="rect">
            <a:avLst/>
          </a:prstGeom>
          <a:noFill/>
          <a:ln/>
        </p:spPr>
        <p:txBody>
          <a:bodyPr wrap="square" lIns="0" tIns="0" rIns="0" bIns="0" rtlCol="0" anchor="ctr"/>
          <a:lstStyle/>
          <a:p>
            <a:pPr marL="0" indent="0" algn="l">
              <a:buNone/>
            </a:pPr>
            <a:r>
              <a:rPr lang="en-US" sz="1050" i="1" dirty="0">
                <a:solidFill>
                  <a:srgbClr val="B91C1C"/>
                </a:solidFill>
              </a:rPr>
              <a:t>ILLUSTRATIVE NAMES</a:t>
            </a:r>
            <a:endParaRPr lang="en-US" sz="1050" dirty="0"/>
          </a:p>
        </p:txBody>
      </p:sp>
      <p:sp>
        <p:nvSpPr>
          <p:cNvPr id="6" name="S parent">
            <a:extLst>
              <a:ext uri="{C183D7F6-B498-43B3-948B-1728B52AA6E4}">
                <adec:decorative xmlns:adec="http://schemas.microsoft.com/office/drawing/2017/decorative" val="1"/>
              </a:ext>
            </a:extLst>
          </p:cNvPr>
          <p:cNvSpPr/>
          <p:nvPr/>
        </p:nvSpPr>
        <p:spPr>
          <a:xfrm>
            <a:off x="548640" y="1645920"/>
            <a:ext cx="420624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 parent text"/>
          <p:cNvSpPr txBox="1"/>
          <p:nvPr/>
        </p:nvSpPr>
        <p:spPr>
          <a:xfrm>
            <a:off x="640080" y="1709928"/>
            <a:ext cx="4023360" cy="786384"/>
          </a:xfrm>
          <a:prstGeom prst="rect">
            <a:avLst/>
          </a:prstGeom>
          <a:noFill/>
          <a:ln/>
        </p:spPr>
        <p:txBody>
          <a:bodyPr wrap="square" lIns="0" tIns="0" rIns="0" bIns="0" rtlCol="0" anchor="ctr"/>
          <a:lstStyle/>
          <a:p>
            <a:pPr marL="0" indent="0">
              <a:spcAft>
                <a:spcPts val="100"/>
              </a:spcAft>
              <a:buNone/>
            </a:pPr>
            <a:r>
              <a:rPr lang="en-US" sz="1300" b="1" dirty="0">
                <a:solidFill>
                  <a:srgbClr val="1F2A44"/>
                </a:solidFill>
                <a:latin typeface="Cambria" pitchFamily="34" charset="0"/>
                <a:ea typeface="Cambria" pitchFamily="34" charset="-122"/>
                <a:cs typeface="Cambria" pitchFamily="34" charset="-120"/>
              </a:rPr>
              <a:t>corp.agency.gov</a:t>
            </a:r>
            <a:endParaRPr lang="en-US" sz="1150" dirty="0"/>
          </a:p>
          <a:p>
            <a:pPr marL="0" indent="0">
              <a:spcAft>
                <a:spcPts val="100"/>
              </a:spcAft>
              <a:buNone/>
            </a:pPr>
            <a:r>
              <a:rPr lang="en-US" sz="1150" dirty="0">
                <a:solidFill>
                  <a:srgbClr val="334155"/>
                </a:solidFill>
              </a:rPr>
              <a:t>Owner: NIOS Grid · signed on the Grid Master or HSM</a:t>
            </a:r>
            <a:endParaRPr lang="en-US" sz="1150" dirty="0"/>
          </a:p>
        </p:txBody>
      </p:sp>
      <p:sp>
        <p:nvSpPr>
          <p:cNvPr id="8" name="S child">
            <a:extLst>
              <a:ext uri="{C183D7F6-B498-43B3-948B-1728B52AA6E4}">
                <adec:decorative xmlns:adec="http://schemas.microsoft.com/office/drawing/2017/decorative" val="1"/>
              </a:ext>
            </a:extLst>
          </p:cNvPr>
          <p:cNvSpPr/>
          <p:nvPr/>
        </p:nvSpPr>
        <p:spPr>
          <a:xfrm>
            <a:off x="548640" y="3429000"/>
            <a:ext cx="4206240" cy="914400"/>
          </a:xfrm>
          <a:prstGeom prst="roundRect">
            <a:avLst>
              <a:gd name="adj" fmla="val 8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S child text"/>
          <p:cNvSpPr txBox="1"/>
          <p:nvPr/>
        </p:nvSpPr>
        <p:spPr>
          <a:xfrm>
            <a:off x="640080" y="3493008"/>
            <a:ext cx="4023360" cy="786384"/>
          </a:xfrm>
          <a:prstGeom prst="rect">
            <a:avLst/>
          </a:prstGeom>
          <a:noFill/>
          <a:ln/>
        </p:spPr>
        <p:txBody>
          <a:bodyPr wrap="square" lIns="0" tIns="0" rIns="0" bIns="0" rtlCol="0" anchor="ctr"/>
          <a:lstStyle/>
          <a:p>
            <a:pPr marL="0" indent="0">
              <a:spcAft>
                <a:spcPts val="100"/>
              </a:spcAft>
              <a:buNone/>
            </a:pPr>
            <a:r>
              <a:rPr lang="en-US" sz="1300" b="1" dirty="0">
                <a:solidFill>
                  <a:srgbClr val="B45309"/>
                </a:solidFill>
                <a:latin typeface="Cambria" pitchFamily="34" charset="0"/>
                <a:ea typeface="Cambria" pitchFamily="34" charset="-122"/>
                <a:cs typeface="Cambria" pitchFamily="34" charset="-120"/>
              </a:rPr>
              <a:t>aws.corp.agency.gov</a:t>
            </a:r>
            <a:endParaRPr lang="en-US" sz="1150" dirty="0"/>
          </a:p>
          <a:p>
            <a:pPr marL="0" indent="0">
              <a:spcAft>
                <a:spcPts val="100"/>
              </a:spcAft>
              <a:buNone/>
            </a:pPr>
            <a:r>
              <a:rPr lang="en-US" sz="1150" dirty="0">
                <a:solidFill>
                  <a:srgbClr val="334155"/>
                </a:solidFill>
              </a:rPr>
              <a:t>Owner: a Route 53 private hosted zone</a:t>
            </a:r>
            <a:endParaRPr lang="en-US" sz="1150" dirty="0"/>
          </a:p>
        </p:txBody>
      </p:sp>
      <p:sp>
        <p:nvSpPr>
          <p:cNvPr id="10" name="S down">
            <a:extLst>
              <a:ext uri="{C183D7F6-B498-43B3-948B-1728B52AA6E4}">
                <adec:decorative xmlns:adec="http://schemas.microsoft.com/office/drawing/2017/decorative" val="1"/>
              </a:ext>
            </a:extLst>
          </p:cNvPr>
          <p:cNvSpPr/>
          <p:nvPr/>
        </p:nvSpPr>
        <p:spPr>
          <a:xfrm>
            <a:off x="1097280" y="2560320"/>
            <a:ext cx="0" cy="868680"/>
          </a:xfrm>
          <a:prstGeom prst="line">
            <a:avLst/>
          </a:prstGeom>
          <a:noFill/>
          <a:ln w="25400">
            <a:solidFill>
              <a:srgbClr val="1F2A44"/>
            </a:solidFill>
            <a:prstDash val="solid"/>
            <a:tailEnd type="triangle"/>
          </a:ln>
        </p:spPr>
      </p:sp>
      <p:sp>
        <p:nvSpPr>
          <p:cNvPr id="11" name="S up">
            <a:extLst>
              <a:ext uri="{C183D7F6-B498-43B3-948B-1728B52AA6E4}">
                <adec:decorative xmlns:adec="http://schemas.microsoft.com/office/drawing/2017/decorative" val="1"/>
              </a:ext>
            </a:extLst>
          </p:cNvPr>
          <p:cNvSpPr/>
          <p:nvPr/>
        </p:nvSpPr>
        <p:spPr>
          <a:xfrm flipV="1">
            <a:off x="4206240" y="2560320"/>
            <a:ext cx="0" cy="868680"/>
          </a:xfrm>
          <a:prstGeom prst="line">
            <a:avLst/>
          </a:prstGeom>
          <a:noFill/>
          <a:ln w="25400">
            <a:solidFill>
              <a:srgbClr val="0F766E"/>
            </a:solidFill>
            <a:prstDash val="solid"/>
            <a:tailEnd type="triangle"/>
          </a:ln>
        </p:spPr>
      </p:sp>
      <p:sp>
        <p:nvSpPr>
          <p:cNvPr id="12" name="S down label"/>
          <p:cNvSpPr txBox="1"/>
          <p:nvPr/>
        </p:nvSpPr>
        <p:spPr>
          <a:xfrm>
            <a:off x="1234440" y="2743200"/>
            <a:ext cx="1417320" cy="502920"/>
          </a:xfrm>
          <a:prstGeom prst="rect">
            <a:avLst/>
          </a:prstGeom>
          <a:noFill/>
          <a:ln/>
        </p:spPr>
        <p:txBody>
          <a:bodyPr wrap="square" lIns="0" tIns="0" rIns="0" bIns="0" rtlCol="0" anchor="ctr"/>
          <a:lstStyle/>
          <a:p>
            <a:pPr marL="0" indent="0">
              <a:buNone/>
            </a:pPr>
            <a:r>
              <a:rPr lang="en-US" sz="1050" i="1" dirty="0">
                <a:solidFill>
                  <a:srgbClr val="1F2A44"/>
                </a:solidFill>
              </a:rPr>
              <a:t>On-prem resolvers forward the child to AWS</a:t>
            </a:r>
            <a:endParaRPr lang="en-US" sz="1050" dirty="0"/>
          </a:p>
        </p:txBody>
      </p:sp>
      <p:sp>
        <p:nvSpPr>
          <p:cNvPr id="13" name="S up label"/>
          <p:cNvSpPr txBox="1"/>
          <p:nvPr/>
        </p:nvSpPr>
        <p:spPr>
          <a:xfrm>
            <a:off x="2697480" y="2743200"/>
            <a:ext cx="1371600" cy="502920"/>
          </a:xfrm>
          <a:prstGeom prst="rect">
            <a:avLst/>
          </a:prstGeom>
          <a:noFill/>
          <a:ln/>
        </p:spPr>
        <p:txBody>
          <a:bodyPr wrap="square" lIns="0" tIns="0" rIns="0" bIns="0" rtlCol="0" anchor="ctr"/>
          <a:lstStyle/>
          <a:p>
            <a:pPr marL="0" indent="0" algn="r">
              <a:buNone/>
            </a:pPr>
            <a:r>
              <a:rPr lang="en-US" sz="1050" i="1" dirty="0">
                <a:solidFill>
                  <a:srgbClr val="0F766E"/>
                </a:solidFill>
              </a:rPr>
              <a:t>AWS forwards the parent to the Grid</a:t>
            </a:r>
            <a:endParaRPr lang="en-US" sz="1050" dirty="0"/>
          </a:p>
        </p:txBody>
      </p:sp>
      <p:sp>
        <p:nvSpPr>
          <p:cNvPr id="14" name="S mech"/>
          <p:cNvSpPr txBox="1"/>
          <p:nvPr/>
        </p:nvSpPr>
        <p:spPr>
          <a:xfrm>
            <a:off x="548640" y="4526280"/>
            <a:ext cx="4206240" cy="822960"/>
          </a:xfrm>
          <a:prstGeom prst="rect">
            <a:avLst/>
          </a:prstGeom>
          <a:noFill/>
          <a:ln/>
        </p:spPr>
        <p:txBody>
          <a:bodyPr wrap="square" lIns="0" tIns="0" rIns="0" bIns="0" rtlCol="0" anchor="t"/>
          <a:lstStyle/>
          <a:p>
            <a:pPr marL="0" indent="0">
              <a:buNone/>
            </a:pPr>
            <a:r>
              <a:rPr lang="en-US" sz="1150" b="1" dirty="0">
                <a:solidFill>
                  <a:srgbClr val="1F2A44"/>
                </a:solidFill>
              </a:rPr>
              <a:t>One owner each, joined by forwarding. </a:t>
            </a:r>
            <a:r>
              <a:rPr lang="en-US" sz="1150" dirty="0">
                <a:solidFill>
                  <a:schemeClr val="tx2"/>
                </a:solidFill>
              </a:rPr>
              <a:t>AWS also allows inbound delegation (NS glue), but Resolver delegation isn't available in GovCloud.</a:t>
            </a:r>
            <a:endParaRPr lang="en-US" sz="1150" dirty="0"/>
          </a:p>
        </p:txBody>
      </p:sp>
      <p:sp>
        <p:nvSpPr>
          <p:cNvPr id="15" name="Rule 1">
            <a:extLst>
              <a:ext uri="{C183D7F6-B498-43B3-948B-1728B52AA6E4}">
                <adec:decorative xmlns:adec="http://schemas.microsoft.com/office/drawing/2017/decorative" val="1"/>
              </a:ext>
            </a:extLst>
          </p:cNvPr>
          <p:cNvSpPr/>
          <p:nvPr/>
        </p:nvSpPr>
        <p:spPr>
          <a:xfrm>
            <a:off x="5029200" y="1371600"/>
            <a:ext cx="3200400" cy="2148840"/>
          </a:xfrm>
          <a:prstGeom prst="roundRect">
            <a:avLst>
              <a:gd name="adj" fmla="val 340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6" name="Rule 1 text"/>
          <p:cNvSpPr txBox="1"/>
          <p:nvPr/>
        </p:nvSpPr>
        <p:spPr>
          <a:xfrm>
            <a:off x="5120640" y="1435608"/>
            <a:ext cx="3017520" cy="2020824"/>
          </a:xfrm>
          <a:prstGeom prst="rect">
            <a:avLst/>
          </a:prstGeom>
          <a:noFill/>
          <a:ln/>
        </p:spPr>
        <p:txBody>
          <a:bodyPr wrap="square" lIns="0" tIns="0" rIns="0" bIns="0" rtlCol="0" anchor="ctr"/>
          <a:lstStyle/>
          <a:p>
            <a:pPr marL="0" indent="0">
              <a:spcAft>
                <a:spcPts val="100"/>
              </a:spcAft>
              <a:buNone/>
            </a:pPr>
            <a:r>
              <a:rPr lang="en-US" sz="1300" b="1" dirty="0">
                <a:solidFill>
                  <a:srgbClr val="B91C1C"/>
                </a:solidFill>
                <a:latin typeface="Cambria" pitchFamily="34" charset="0"/>
                <a:ea typeface="Cambria" pitchFamily="34" charset="-122"/>
                <a:cs typeface="Cambria" pitchFamily="34" charset="-120"/>
              </a:rPr>
              <a:t>1  One writable owner per zone</a:t>
            </a:r>
            <a:endParaRPr lang="en-US" sz="1150" dirty="0"/>
          </a:p>
          <a:p>
            <a:pPr marL="0" indent="0">
              <a:spcAft>
                <a:spcPts val="100"/>
              </a:spcAft>
              <a:buNone/>
            </a:pPr>
            <a:r>
              <a:rPr lang="en-US" sz="1150" dirty="0">
                <a:solidFill>
                  <a:srgbClr val="334155"/>
                </a:solidFill>
              </a:rPr>
              <a:t>Grid, Route 53, Azure Private DNS or Cloud DNS, never two. NIOS overwrites edits to imported zones; portal-owned resolver rules overwrite cloud changes: decide ownership before sync.</a:t>
            </a:r>
            <a:endParaRPr lang="en-US" sz="1150" dirty="0"/>
          </a:p>
        </p:txBody>
      </p:sp>
      <p:sp>
        <p:nvSpPr>
          <p:cNvPr id="17" name="Rule 2">
            <a:extLst>
              <a:ext uri="{C183D7F6-B498-43B3-948B-1728B52AA6E4}">
                <adec:decorative xmlns:adec="http://schemas.microsoft.com/office/drawing/2017/decorative" val="1"/>
              </a:ext>
            </a:extLst>
          </p:cNvPr>
          <p:cNvSpPr/>
          <p:nvPr/>
        </p:nvSpPr>
        <p:spPr>
          <a:xfrm>
            <a:off x="8366760" y="1371600"/>
            <a:ext cx="3200400" cy="2148840"/>
          </a:xfrm>
          <a:prstGeom prst="roundRect">
            <a:avLst>
              <a:gd name="adj" fmla="val 34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8" name="Rule 2 text"/>
          <p:cNvSpPr txBox="1"/>
          <p:nvPr/>
        </p:nvSpPr>
        <p:spPr>
          <a:xfrm>
            <a:off x="8458200" y="1435608"/>
            <a:ext cx="3017520" cy="2020824"/>
          </a:xfrm>
          <a:prstGeom prst="rect">
            <a:avLst/>
          </a:prstGeom>
          <a:noFill/>
          <a:ln/>
        </p:spPr>
        <p:txBody>
          <a:bodyPr wrap="square" lIns="0" tIns="0" rIns="0" bIns="0" rtlCol="0" anchor="ctr"/>
          <a:lstStyle/>
          <a:p>
            <a:pPr marL="0" indent="0">
              <a:spcAft>
                <a:spcPts val="100"/>
              </a:spcAft>
              <a:buNone/>
            </a:pPr>
            <a:r>
              <a:rPr lang="en-US" sz="1300" b="1" dirty="0">
                <a:solidFill>
                  <a:srgbClr val="1F2A44"/>
                </a:solidFill>
                <a:latin typeface="Cambria" pitchFamily="34" charset="0"/>
                <a:ea typeface="Cambria" pitchFamily="34" charset="-122"/>
                <a:cs typeface="Cambria" pitchFamily="34" charset="-120"/>
              </a:rPr>
              <a:t>2  Divide the namespace by owner</a:t>
            </a:r>
            <a:endParaRPr lang="en-US" sz="1150" dirty="0"/>
          </a:p>
          <a:p>
            <a:pPr marL="0" indent="0">
              <a:spcAft>
                <a:spcPts val="100"/>
              </a:spcAft>
              <a:buNone/>
            </a:pPr>
            <a:r>
              <a:rPr lang="en-US" sz="1150" dirty="0">
                <a:solidFill>
                  <a:srgbClr val="334155"/>
                </a:solidFill>
              </a:rPr>
              <a:t>Delegate children by name. Don't create a cloud private zone with a Grid zone's name unless it's a deliberate split-horizon view.</a:t>
            </a:r>
            <a:endParaRPr lang="en-US" sz="1150" dirty="0"/>
          </a:p>
        </p:txBody>
      </p:sp>
      <p:sp>
        <p:nvSpPr>
          <p:cNvPr id="19" name="Rule 3">
            <a:extLst>
              <a:ext uri="{C183D7F6-B498-43B3-948B-1728B52AA6E4}">
                <adec:decorative xmlns:adec="http://schemas.microsoft.com/office/drawing/2017/decorative" val="1"/>
              </a:ext>
            </a:extLst>
          </p:cNvPr>
          <p:cNvSpPr/>
          <p:nvPr/>
        </p:nvSpPr>
        <p:spPr>
          <a:xfrm>
            <a:off x="5029200" y="3657600"/>
            <a:ext cx="3200400" cy="2148840"/>
          </a:xfrm>
          <a:prstGeom prst="roundRect">
            <a:avLst>
              <a:gd name="adj" fmla="val 340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0" name="Rule 3 text"/>
          <p:cNvSpPr txBox="1"/>
          <p:nvPr/>
        </p:nvSpPr>
        <p:spPr>
          <a:xfrm>
            <a:off x="5120640" y="3721608"/>
            <a:ext cx="3017520" cy="2020824"/>
          </a:xfrm>
          <a:prstGeom prst="rect">
            <a:avLst/>
          </a:prstGeom>
          <a:noFill/>
          <a:ln/>
        </p:spPr>
        <p:txBody>
          <a:bodyPr wrap="square" lIns="0" tIns="0" rIns="0" bIns="0" rtlCol="0" anchor="ctr"/>
          <a:lstStyle/>
          <a:p>
            <a:pPr marL="0" indent="0">
              <a:spcAft>
                <a:spcPts val="100"/>
              </a:spcAft>
              <a:buNone/>
            </a:pPr>
            <a:r>
              <a:rPr lang="en-US" sz="1300" b="1" dirty="0">
                <a:solidFill>
                  <a:srgbClr val="0F766E"/>
                </a:solidFill>
                <a:latin typeface="Cambria" pitchFamily="34" charset="0"/>
                <a:ea typeface="Cambria" pitchFamily="34" charset="-122"/>
                <a:cs typeface="Cambria" pitchFamily="34" charset="-120"/>
              </a:rPr>
              <a:t>3  DNSSEC keys stay on the Grid</a:t>
            </a:r>
            <a:endParaRPr lang="en-US" sz="1150" dirty="0"/>
          </a:p>
          <a:p>
            <a:pPr marL="0" indent="0">
              <a:spcAft>
                <a:spcPts val="100"/>
              </a:spcAft>
              <a:buNone/>
            </a:pPr>
            <a:r>
              <a:rPr lang="en-US" sz="1150" dirty="0">
                <a:solidFill>
                  <a:srgbClr val="334155"/>
                </a:solidFill>
              </a:rPr>
              <a:t>Grid Master or HSM. Route 53 can't sign private zones; Universal DDI doesn't sync DNSSEC records. Validate on agency resolvers.</a:t>
            </a:r>
            <a:endParaRPr lang="en-US" sz="1150" dirty="0"/>
          </a:p>
        </p:txBody>
      </p:sp>
      <p:sp>
        <p:nvSpPr>
          <p:cNvPr id="21" name="Rule 4">
            <a:extLst>
              <a:ext uri="{C183D7F6-B498-43B3-948B-1728B52AA6E4}">
                <adec:decorative xmlns:adec="http://schemas.microsoft.com/office/drawing/2017/decorative" val="1"/>
              </a:ext>
            </a:extLst>
          </p:cNvPr>
          <p:cNvSpPr/>
          <p:nvPr/>
        </p:nvSpPr>
        <p:spPr>
          <a:xfrm>
            <a:off x="8366760" y="3657600"/>
            <a:ext cx="3200400" cy="2148840"/>
          </a:xfrm>
          <a:prstGeom prst="roundRect">
            <a:avLst>
              <a:gd name="adj" fmla="val 340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2" name="Rule 4 text"/>
          <p:cNvSpPr txBox="1"/>
          <p:nvPr/>
        </p:nvSpPr>
        <p:spPr>
          <a:xfrm>
            <a:off x="8458200" y="3721608"/>
            <a:ext cx="3017520" cy="2020824"/>
          </a:xfrm>
          <a:prstGeom prst="rect">
            <a:avLst/>
          </a:prstGeom>
          <a:noFill/>
          <a:ln/>
        </p:spPr>
        <p:txBody>
          <a:bodyPr wrap="square" lIns="0" tIns="0" rIns="0" bIns="0" rtlCol="0" anchor="ctr"/>
          <a:lstStyle/>
          <a:p>
            <a:pPr marL="0" indent="0">
              <a:spcAft>
                <a:spcPts val="100"/>
              </a:spcAft>
              <a:buNone/>
            </a:pPr>
            <a:r>
              <a:rPr lang="en-US" sz="1300" b="1" dirty="0">
                <a:solidFill>
                  <a:srgbClr val="B45309"/>
                </a:solidFill>
                <a:latin typeface="Cambria" pitchFamily="34" charset="0"/>
                <a:ea typeface="Cambria" pitchFamily="34" charset="-122"/>
                <a:cs typeface="Cambria" pitchFamily="34" charset="-120"/>
              </a:rPr>
              <a:t>4  IPAM authority stays on the Grid</a:t>
            </a:r>
            <a:endParaRPr lang="en-US" sz="1150" dirty="0"/>
          </a:p>
          <a:p>
            <a:pPr marL="0" indent="0">
              <a:spcAft>
                <a:spcPts val="100"/>
              </a:spcAft>
              <a:buNone/>
            </a:pPr>
            <a:r>
              <a:rPr lang="en-US" sz="1150" dirty="0">
                <a:solidFill>
                  <a:srgbClr val="334155"/>
                </a:solidFill>
              </a:rPr>
              <a:t>The Grid owns supernets; clouds get delegated blocks. One network view for routable space lets the Grid catch overlaps.</a:t>
            </a:r>
            <a:endParaRPr lang="en-US" sz="115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research_multicloud §5 (S13, S17, S18, S22, S28, S30, S33, S48, S61, S63, S66, S67); research_platform (DNSSEC on a Grid, network views); Book 08,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E220719C-8CAA-B1CE-6279-046CCAC8B8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AA0ED2-B810-4382-AA72-A6238E28798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40"/>
    </mc:Choice>
    <mc:Fallback>
      <p:transition spd="slow" advTm="48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4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option fits your agency? Design guidance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G flag"/>
          <p:cNvSpPr txBox="1"/>
          <p:nvPr/>
        </p:nvSpPr>
        <p:spPr>
          <a:xfrm>
            <a:off x="548640" y="1325880"/>
            <a:ext cx="11109960" cy="292608"/>
          </a:xfrm>
          <a:prstGeom prst="rect">
            <a:avLst/>
          </a:prstGeom>
          <a:noFill/>
          <a:ln/>
        </p:spPr>
        <p:txBody>
          <a:bodyPr wrap="square" lIns="0" tIns="0" rIns="0" bIns="0" rtlCol="0" anchor="t"/>
          <a:lstStyle/>
          <a:p>
            <a:pPr marL="0" indent="0">
              <a:buNone/>
            </a:pPr>
            <a:r>
              <a:rPr lang="en-US" sz="1250" b="1" dirty="0">
                <a:solidFill>
                  <a:srgbClr val="B91C1C"/>
                </a:solidFill>
              </a:rPr>
              <a:t>DESIGN GUIDANCE — NOT AN ENDORSEMENT.  </a:t>
            </a:r>
            <a:r>
              <a:rPr lang="en-US" sz="1250" dirty="0">
                <a:solidFill>
                  <a:schemeClr val="tx2"/>
                </a:solidFill>
              </a:rPr>
              <a:t>Each row rests on the documented facts in the last column.</a:t>
            </a:r>
            <a:endParaRPr lang="en-US" sz="1250" dirty="0"/>
          </a:p>
        </p:txBody>
      </p:sp>
      <p:graphicFrame>
        <p:nvGraphicFramePr>
          <p:cNvPr id="10" name="Decision"/>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Agency situation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Rests 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Mostly on-prem, small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Trinzic + native resolvers + conditional forwarding (minimal 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Lowest cost and boundary impact; no new SaaS authorization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NIOS can't own cloud zones; documented forwarding in all three clouds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Hybrid, one cloud (commercial, GovCloud or Azure Government)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 C: HA vNIOS pair in a hub; native rules forward agency zones to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Resolution stays local if the WAN fails; RPZ, signed zones and Grid IPAM reach the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vNIOS documented for GovCloud discovery and Azure Government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Multi-cloud, FedRAMP Moderate and below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 on top of A or C (Government Cloud for federal work)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Only Infoblox path that writes to cloud DNS and discovers resolver rules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Government Cloud: single AWS accounts, no Azure tenants, no VPC IPAM handoff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076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GovCloud, Azure Government, High, IL4–IL5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 C only; don't depend on Universal DDI SaaS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Infoblox's SaaS is Moderate-only; native services carry higher authorizations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VPC IPAM integration excludes GovCloud; Cloud DNS on Assured Workloads High/IL4/IL5; Azure Gov resolver: confirm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research_multicloud §5 decision table (S2, S3, S13, S20–S31, S38, S39, S41–S48, S50–S55, S61, S62, S67, S69); research_federal and research_compare (FedRAMP levels).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3A7D74E4-3A2F-F4B2-E1EF-B5819F704D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780188-8E3C-4179-AD29-009D443C364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70"/>
    </mc:Choice>
    <mc:Fallback>
      <p:transition spd="slow" advTm="50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36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this fits the workbook,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Fit">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Fit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WHERE IT FITS</a:t>
            </a:r>
            <a:endParaRPr lang="en-US" sz="1400" dirty="0"/>
          </a:p>
        </p:txBody>
      </p:sp>
      <p:sp>
        <p:nvSpPr>
          <p:cNvPr id="7" name="Fit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08, Ch 02: split-brain DNS</a:t>
            </a:r>
            <a:endParaRPr lang="en-US" sz="1400" dirty="0"/>
          </a:p>
          <a:p>
            <a:pPr marL="342900" indent="-342900">
              <a:spcAft>
                <a:spcPts val="300"/>
              </a:spcAft>
              <a:buSzPct val="100000"/>
              <a:buChar char="•"/>
            </a:pPr>
            <a:r>
              <a:rPr lang="en-US" sz="1200" dirty="0">
                <a:solidFill>
                  <a:schemeClr val="tx2"/>
                </a:solidFill>
              </a:rPr>
              <a:t>Book 08, Ch 07: cloud private endpoints and IPAM</a:t>
            </a:r>
            <a:endParaRPr lang="en-US" sz="1400" dirty="0"/>
          </a:p>
          <a:p>
            <a:pPr marL="342900" indent="-342900">
              <a:spcAft>
                <a:spcPts val="300"/>
              </a:spcAft>
              <a:buSzPct val="100000"/>
              <a:buChar char="•"/>
            </a:pPr>
            <a:r>
              <a:rPr lang="en-US" sz="1200" dirty="0">
                <a:solidFill>
                  <a:schemeClr val="tx2"/>
                </a:solidFill>
              </a:rPr>
              <a:t>Book 08, Ch 08: the policy plane that overlays cloud DNS</a:t>
            </a:r>
            <a:endParaRPr lang="en-US" sz="1400" dirty="0"/>
          </a:p>
          <a:p>
            <a:pPr marL="342900" indent="-342900">
              <a:spcAft>
                <a:spcPts val="300"/>
              </a:spcAft>
              <a:buSzPct val="100000"/>
              <a:buChar char="•"/>
            </a:pPr>
            <a:r>
              <a:rPr lang="en-US" sz="1200" dirty="0">
                <a:solidFill>
                  <a:schemeClr val="tx2"/>
                </a:solidFill>
              </a:rPr>
              <a:t>Book 08, Ch 12: platform selection and residual risk</a:t>
            </a:r>
            <a:endParaRPr lang="en-US" sz="1400" dirty="0"/>
          </a:p>
          <a:p>
            <a:pPr marL="342900" indent="-342900">
              <a:spcAft>
                <a:spcPts val="300"/>
              </a:spcAft>
              <a:buSzPct val="100000"/>
              <a:buChar char="•"/>
            </a:pPr>
            <a:r>
              <a:rPr lang="en-US" sz="1200" dirty="0">
                <a:solidFill>
                  <a:schemeClr val="tx2"/>
                </a:solidFill>
              </a:rPr>
              <a:t>Research: Infoblox DDI for Federal Agencies deep dive (platform, FedRAMP scope, risks, divisions)</a:t>
            </a:r>
            <a:endParaRPr lang="en-US" sz="1400" dirty="0"/>
          </a:p>
        </p:txBody>
      </p:sp>
      <p:sp>
        <p:nvSpPr>
          <p:cNvPr id="8" name="Decide">
            <a:extLst>
              <a:ext uri="{C183D7F6-B498-43B3-948B-1728B52AA6E4}">
                <adec:decorative xmlns:adec="http://schemas.microsoft.com/office/drawing/2017/decorative" val="1"/>
              </a:ext>
            </a:extLst>
          </p:cNvPr>
          <p:cNvSpPr/>
          <p:nvPr/>
        </p:nvSpPr>
        <p:spPr>
          <a:xfrm>
            <a:off x="4343400" y="1371600"/>
            <a:ext cx="3520440" cy="4526280"/>
          </a:xfrm>
          <a:prstGeom prst="roundRect">
            <a:avLst>
              <a:gd name="adj" fmla="val 20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Decide head"/>
          <p:cNvSpPr txBox="1"/>
          <p:nvPr/>
        </p:nvSpPr>
        <p:spPr>
          <a:xfrm>
            <a:off x="452628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DECISIONS TO TAKE</a:t>
            </a:r>
            <a:endParaRPr lang="en-US" sz="1400" dirty="0"/>
          </a:p>
        </p:txBody>
      </p:sp>
      <p:sp>
        <p:nvSpPr>
          <p:cNvPr id="10" name="Decide list"/>
          <p:cNvSpPr txBox="1"/>
          <p:nvPr/>
        </p:nvSpPr>
        <p:spPr>
          <a:xfrm>
            <a:off x="452628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Which option per cloud and impact level</a:t>
            </a:r>
            <a:endParaRPr lang="en-US" sz="1400" dirty="0"/>
          </a:p>
          <a:p>
            <a:pPr marL="342900" indent="-342900">
              <a:spcAft>
                <a:spcPts val="300"/>
              </a:spcAft>
              <a:buSzPct val="100000"/>
              <a:buChar char="•"/>
            </a:pPr>
            <a:r>
              <a:rPr lang="en-US" sz="1250" dirty="0">
                <a:solidFill>
                  <a:schemeClr val="tx2"/>
                </a:solidFill>
              </a:rPr>
              <a:t>One named owner for every zone</a:t>
            </a:r>
            <a:endParaRPr lang="en-US" sz="1400" dirty="0"/>
          </a:p>
          <a:p>
            <a:pPr marL="342900" indent="-342900">
              <a:spcAft>
                <a:spcPts val="300"/>
              </a:spcAft>
              <a:buSzPct val="100000"/>
              <a:buChar char="•"/>
            </a:pPr>
            <a:r>
              <a:rPr lang="en-US" sz="1250" dirty="0">
                <a:solidFill>
                  <a:schemeClr val="tx2"/>
                </a:solidFill>
              </a:rPr>
              <a:t>Where DNSSEC keys live (Grid Master or HSM)</a:t>
            </a:r>
            <a:endParaRPr lang="en-US" sz="1400" dirty="0"/>
          </a:p>
          <a:p>
            <a:pPr marL="342900" indent="-342900">
              <a:spcAft>
                <a:spcPts val="300"/>
              </a:spcAft>
              <a:buSzPct val="100000"/>
              <a:buChar char="•"/>
            </a:pPr>
            <a:r>
              <a:rPr lang="en-US" sz="1250" dirty="0">
                <a:solidFill>
                  <a:schemeClr val="tx2"/>
                </a:solidFill>
              </a:rPr>
              <a:t>How address blocks reach each cloud</a:t>
            </a:r>
            <a:endParaRPr lang="en-US" sz="1400" dirty="0"/>
          </a:p>
        </p:txBody>
      </p:sp>
      <p:sp>
        <p:nvSpPr>
          <p:cNvPr id="11" name="Next">
            <a:extLst>
              <a:ext uri="{C183D7F6-B498-43B3-948B-1728B52AA6E4}">
                <adec:decorative xmlns:adec="http://schemas.microsoft.com/office/drawing/2017/decorative" val="1"/>
              </a:ext>
            </a:extLst>
          </p:cNvPr>
          <p:cNvSpPr/>
          <p:nvPr/>
        </p:nvSpPr>
        <p:spPr>
          <a:xfrm>
            <a:off x="8001000" y="1371600"/>
            <a:ext cx="3657600" cy="4526280"/>
          </a:xfrm>
          <a:prstGeom prst="roundRect">
            <a:avLst>
              <a:gd name="adj" fmla="val 2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Next head"/>
          <p:cNvSpPr txBox="1"/>
          <p:nvPr/>
        </p:nvSpPr>
        <p:spPr>
          <a:xfrm>
            <a:off x="81838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NEXT STEPS</a:t>
            </a:r>
            <a:endParaRPr lang="en-US" sz="1400" dirty="0"/>
          </a:p>
        </p:txBody>
      </p:sp>
      <p:sp>
        <p:nvSpPr>
          <p:cNvPr id="13" name="Next list"/>
          <p:cNvSpPr txBox="1"/>
          <p:nvPr/>
        </p:nvSpPr>
        <p:spPr>
          <a:xfrm>
            <a:off x="81838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Ask Infoblox for the Government Cloud boundary and a feature matrix for GovCloud and Azure Government accounts</a:t>
            </a:r>
            <a:endParaRPr lang="en-US" sz="1400" dirty="0"/>
          </a:p>
          <a:p>
            <a:pPr marL="342900" indent="-342900">
              <a:spcAft>
                <a:spcPts val="300"/>
              </a:spcAft>
              <a:buSzPct val="100000"/>
              <a:buChar char="•"/>
            </a:pPr>
            <a:r>
              <a:rPr lang="en-US" sz="1200" dirty="0">
                <a:solidFill>
                  <a:schemeClr val="tx2"/>
                </a:solidFill>
              </a:rPr>
              <a:t>Confirm Azure Government availability of DNS Private Resolver and AVNM IPAM</a:t>
            </a:r>
            <a:endParaRPr lang="en-US" sz="1400" dirty="0"/>
          </a:p>
          <a:p>
            <a:pPr marL="342900" indent="-342900">
              <a:spcAft>
                <a:spcPts val="300"/>
              </a:spcAft>
              <a:buSzPct val="100000"/>
              <a:buChar char="•"/>
            </a:pPr>
            <a:r>
              <a:rPr lang="en-US" sz="1200" dirty="0">
                <a:solidFill>
                  <a:schemeClr val="tx2"/>
                </a:solidFill>
              </a:rPr>
              <a:t>Size NIOS-X capacity if you want cloud forwarders</a:t>
            </a:r>
            <a:endParaRPr lang="en-US" sz="1400" dirty="0"/>
          </a:p>
          <a:p>
            <a:pPr marL="342900" indent="-342900">
              <a:spcAft>
                <a:spcPts val="300"/>
              </a:spcAft>
              <a:buSzPct val="100000"/>
              <a:buChar char="•"/>
            </a:pPr>
            <a:r>
              <a:rPr lang="en-US" sz="1200" dirty="0">
                <a:solidFill>
                  <a:schemeClr val="tx2"/>
                </a:solidFill>
              </a:rPr>
              <a:t>Test forwarding both ways from every origin</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08, Ch 02, 07, 08, 12; research: Infoblox DDI for Federal Agencies; research_multicloud, Couldn't verify (manual checks needed).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3FA5C393-B2AC-C997-8E1D-D9DB48AAD3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571A8C-9F31-4994-9251-34625318215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20"/>
    </mc:Choice>
    <mc:Fallback>
      <p:transition spd="slow" advTm="48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1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5787</Words>
  <Application>Microsoft Office PowerPoint</Application>
  <PresentationFormat>Widescreen</PresentationFormat>
  <Paragraphs>235</Paragraphs>
  <Slides>10</Slides>
  <Notes>10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Federal Modernization Workbook</vt:lpstr>
      <vt:lpstr>Trinzic Alone, or Trinzic Plus Cloud DDI?</vt:lpstr>
      <vt:lpstr>The words you need before we start</vt:lpstr>
      <vt:lpstr>What Trinzic is, and what it does well on premises</vt:lpstr>
      <vt:lpstr>What Trinzic alone sees in the clouds, and can't control</vt:lpstr>
      <vt:lpstr>Option A: vNIOS members inside each cloud</vt:lpstr>
      <vt:lpstr>Option B: the Grid joined to Universal DDI</vt:lpstr>
      <vt:lpstr>Option C: Trinzic alongside native cloud DNS</vt:lpstr>
      <vt:lpstr>The rules that prevent split-brain</vt:lpstr>
      <vt:lpstr>Which option fits your agency? Design guidance</vt:lpstr>
      <vt:lpstr>Where this fits the workbook,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Trinzic Alone, or Trinzic Plus Cloud DDI? — Explainer</dc:title>
  <dc:subject>PptxGenJS Presentation</dc:subject>
  <dc:creator>Michael F. Stratton</dc:creator>
  <cp:lastModifiedBy>Michael F. Stratton</cp:lastModifiedBy>
  <cp:revision>2</cp:revision>
  <dcterms:created xsi:type="dcterms:W3CDTF">2026-10-22T15:46:34Z</dcterms:created>
  <dcterms:modified xsi:type="dcterms:W3CDTF">2026-10-23T18:12:07Z</dcterms:modified>
</cp:coreProperties>
</file>