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certificates" id="{27B98BB7-7307-B6B3-CE2C-E511294B2DA3}">
          <p14:sldIdLst>
            <p14:sldId id="256"/>
            <p14:sldId id="257"/>
            <p14:sldId id="258"/>
          </p14:sldIdLst>
        </p14:section>
        <p14:section name="What the target is" id="{65DAAE17-17F6-8EC9-1D3B-C65DF1829296}">
          <p14:sldIdLst>
            <p14:sldId id="259"/>
            <p14:sldId id="260"/>
            <p14:sldId id="261"/>
            <p14:sldId id="262"/>
          </p14:sldIdLst>
        </p14:section>
        <p14:section name="Who owns it" id="{78618320-4FCB-528C-FDFC-2AC126B501F0}">
          <p14:sldIdLst>
            <p14:sldId id="263"/>
          </p14:sldIdLst>
        </p14:section>
        <p14:section name="How to do it" id="{9563314D-1FE3-7D63-C314-BB1DFB5FA55F}">
          <p14:sldIdLst>
            <p14:sldId id="264"/>
            <p14:sldId id="265"/>
            <p14:sldId id="266"/>
            <p14:sldId id="267"/>
            <p14:sldId id="268"/>
          </p14:sldIdLst>
        </p14:section>
        <p14:section name="Backup" id="{32532E5E-0660-8094-8B8E-604DC7548BD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0097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[0:00–0:33]  This briefing comes from Book 07 of the Federal Modernization Workbook, PKI and Certificates: the move from Active Directory Certificate Services to Microsoft Cloud PKI, Entra certificate-based authentication and the Federal PKI.
Every other migration changes which system answers the question "who is this?" Certificates are how that answer gets proved. I'll cover why certificates outlive every migration, what the target PKI is, who owns the certificate estate, and how to move it without stranding a single certificate.
Workbook: Book 07, index.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[0:33–1:50]  Why do certificates outlive every migration? Because a certificate isn't a record in a directory. It's a signed statement that's already been handed out: the holder of this private key is entitled to this name. When the directory moves, the certificate doesn't. It keeps working until it expires, and then whatever relied on it stops.
A great deal relies on it. Domain controllers need KDC certificates and LDAPS. Smart card and PIV logon need the issuing CA in the forest's NTAuth store and a certificate on every domain controller. 802.1X and VPN need NPS and device certificates. TLS listeners, including SQL Server, need them, and so do code signing and encryption keys.
That gives the program two clocks. On the directory's clock, cutover is declared complete and the first expiry wave finds no issuer, months later, far from its cause. On the certificate's clock, the replacement issuer is live before the first expiry, and AD CS retires last.
So the estate outlives the directory twice over: issued certificates run until they expire, and the forest needs an issuer until its last domain controller retires.
Workbook: Book 07, Chapter 01 — Why Certificates Outlive Every Migration.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[1:50–2:59]  A certificate estate used to be something you could leave alone between renewals. Three changes have ended that.
First, public TLS lifetimes are shrinking on a fixed schedule. Under the CA/Browser Forum's ballot SC-081v3, adopted in April 2025, the maximum validity fell from 398 days to 200 days on March 15, 2026. It drops to 100 days on March 15, 2027, and to 47 days on March 15, 2029. On the book's arithmetic, a thousand certificates means about seven renewals every working day now, and about thirty-one at 47 days.
Second, mapping rules changed under certificates already in use. Under KB5014754, domain controllers moved to Full Enforcement on February 11, 2025, with no way back after the September 9, 2025 update.
Third, the algorithms have a horizon. NIST's draft transition plan would deprecate RSA-2048 after 2030 and disallow RSA and ECDSA signatures after 2035.
So manual lifecycle management can't keep up, and the move off AD CS runs as its own program.
Workbook: Book 07, Chapter 01 — Why Certificates Outlive Every Migration.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[2:59–4:14]  What does AD CS hold up today? It isn't one server. It's a hierarchy, usually an offline root and enterprise issuing CAs; a set of forest-wide objects in the Public Key Services container, including the templates and the NTAuth store; and Group Policy autoenrollment, which runs on domain members every eight hours.
The inventory has four layers: the CAs, the templates, the certificates actually issued, and the relying parties. The relying parties set the order of work, because a new issuer is useful only once everything that validates its certificates trusts it.
Then every template and use case gets one of four verdicts. MIGRATE, where Cloud PKI or Entra certificate-based authentication replaces it. BRIDGE, where both issuers run because the consumer depends on AD or a server: domain controllers, LDAPS, NPS. RETAIN, where there's no cloud equivalent, like HSM-held code signing. And RETIRE, where the consumer is going away.
The book corrects its source here: internal web and SQL Server TLS can't move to Cloud PKI, and S/MIME stays BRIDGE because its key history has to survive.
Workbook: Book 07, Chapter 02 — What AD CS Holds Up.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[4:14–5:29]  AD CS keeps issuing trusted credentials while the migration runs, so the CA you're leaving has to be the best-defended system you own until it's gone. The book frames hardening strictly as a detect-and-fix checklist.
The eight classes carry the ESC labels that Microsoft Defender for Identity also uses: requester-supplied subjects on authentication templates; Any Purpose or no-EKU templates; open enrollment agent templates; writable template permissions; writable Public Key Services objects such as NTAuth; the CA-wide flag that lets any request supply a subject alternative name; unprivileged CA permissions; and web enrollment without HTTPS and Extended Protection.
Defender for Identity detects most of them, and the CA-level checks need its sensor on the CA. The fifth class has no assessment, so it's a manual review backed by directory-change event 5136. The ratings are the program's own scoring.
The gate is simple: every Critical and High finding is fixed and verified before any workload migrates, because the recommended cloud issuer chains to this hierarchy. And none of it has evidence until CA auditing is on, which takes two settings together.
Workbook: Book 07, Chapter 03 — Hardening What Stays.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[5:29–6:49]  So what is the target? Not Cloud PKI instead of AD CS. That's true for devices and wrong for the estate. The target is four issuers, each for the subjects only it can serve.
Microsoft Cloud PKI issues to Intune-managed devices, and only to them, through SCEP, with three CAs per tenant, a CRL valid for seven days and no OCSP responder. A smaller, hardened AD CS stays for domain controllers and LDAPS, NPS and RADIUS, internal server TLS, network devices through NDES, and HSM-held code signing. The Federal PKI keeps issuing PIV; the target's job is to trust it, by distributing the federal root and uploading the chain to Entra ID. And a public CA serves names the internet must trust.
One decision ties them together: the root. For an established hierarchy, the program recommends bring-your-own-CA, a Cloud PKI issuing CA signed by the offline root. It keeps the existing chain, and makes the root's CRL a production dependency.
Check the entitlement too. The July 2026 change that puts Cloud PKI in Microsoft 365 E5 and E7 covers commercial customers, so confirm it for a government tenant.
Workbook: Book 07, Chapter 04 — The Target PKI: Cloud PKI, AD CS and Federal PKI.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[6:49–7:55]  Four issuers need one lifecycle platform. Intune and Cloud PKI renew what they put on managed devices. Nothing Microsoft-native does that for AD CS server certificates, public TLS, appliances, or certificates nobody inventoried. That's the job of certificate lifecycle management: discovery, ownership and automated renewal across issuers.
The program's platform is CyberArk Certificate Manager, now part of Palo Alto Networks. It's the program's existing vendor, so the program consolidates there and adds no second lifecycle vendor. The names have moved: Venafi became part of CyberArk in October 2024, Palo Alto Networks completed its acquisition of CyberArk on February 11, 2026, and the SaaS edition is now sold as Next-Generation Trust Security.
Two facts shape the deployment. The FedRAMP Marketplace has no listing for the certificate product, so the program runs Certificate Manager, Self-Hosted inside its own authorization boundary. And its AD CS account holds the certificate-manager permission, so it's scoped and reviewed like any other certificate manager.
Workbook: Book 07, Chapter 04 — The Target PKI: Cloud PKI, AD CS and Federal PKI; Chapter 01 — Why Certificates Outlive Every Migration.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[7:55–9:05]  Who owns the certificate estate? In most forests, whoever installed the CA. Domain Admins and Enterprise Admins are CA administrators by default, and nobody decided that.
The book separates deciding from doing. The sponsor and CIO decide the target hierarchy, when each AD CS component retires, and who owns renewal for each certificate class. The CISO and ISSO decide issuance policy, trust anchors and the minimum binding strength. The authorizing official accepts standing exceptions, such as a low-affinity binding.
PKI and CA administrators run the CAs, templates, CRLs and key ceremonies. The identity team owns the Entra trust store and bindings, endpoint engineering owns the Intune profiles, and the CLM platform owner runs discovery and server renewal. Server, network and application owners, the PIV office and security operations are consulted.
The principle is separation of duties. Whoever can change a CA must never be the only person who decides what it issues. And whoever administers directory sync can change which account a certificate signs in as.
Workbook: Book 07, Chapter 05 — Who Owns the Certificate Estate.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[9:05–10:21]  How. Start with devices. Intune delivers certificates by three paths, and each needs the trusted certificate profile deployed first.
SCEP from Cloud PKI is the cleanest: the device makes its own key pair, with no NDES server, connector or on-premises CA. SCEP from AD CS runs through NDES and the Certificate Connector; its template lets the request supply the subject, so its Enroll permission stays limited to the NDES account. PKCS makes the key on the connector server and exports it, which is why the program prefers SCEP.
Strong mapping is no longer optional. KB5014754 began in compatibility mode in May 2022. Domain controllers moved to Full Enforcement on February 11, 2025, and since the September 9, 2025 update the registry key is ignored, so there's no way back. A certificate used against a domain controller without a strong mapping is rejected now.
So SCEP profiles add the on-premises security identifier as a SAN URI, for user certificates on every platform and device certificates on hybrid-joined Windows. Pilot it in a new profile, because editing one revokes what it issued.
Workbook: Book 07, Chapter 06 — Device and User Certificates: Intune and Entra CBA.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[10:21–11:38]  On the user side, Entra certificate-based authentication is a relying party. It validates certificates and issues none, so its risk is the opposite: a certificate that should fail might pass.
Trust and revocation first. Upload every CA in the chain to the PKI-based trust store. Each CA gets one HTTP CRL, which Entra ID must download within ten seconds or the sign-in fails. There's no OCSP and no LDAP. Turn on Require CRL validation, because a CA uploaded without a CRL lets revoked certificates keep working.
Then binding. Issuer and serial number, subject key identifier and public-key hash are high affinity. Principal name, email, subject, and issuer plus subject are low; the old guide called issuer plus subject high. A certificate counts as multifactor only when a PIN or biometric protects it: a PIV card, not a software certificate. And staged rollout is a temporary test, limited to ten groups.
Production requires high affinity, because CBA is only as strong as its weakest binding. But switch only once every user's certificate user IDs are right, or those users are locked out.
Workbook: Book 07, Chapter 06 — Device and User Certificates: Intune and Entra CBA.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[11:38–12:50]  For most of the migration, both PKIs are production. Devices carry certificates from both issuers, and relying parties trust both chains.
Three coexistence rules carry the weight. Trust goes up before issuance moves. Nothing is revoked to force a move; old certificates leave at renewal. And every CRL must be reachable from inside the network, from the internet and from Entra ID, because most coexistence outages are revocation outages.
The migration runs in six gated waves, about forty-four weeks on the program's planning figures for a single forest. Assess ends when every template is classified and Critical and High findings are fixed. Foundation puts the cloud CA live, with trust on ninety-nine percent of devices. Pilot needs ninety-five percent issuance success. Scale moves every managed device. Cutover converts federated domains and turns off AD FS certificate authentication. And Decommission retires what served only migrated workloads.
Every wave has a rehearsed rollback. Autoenrollment stays on through the pilot, and AD FS stays restorable for thirty days after cutover, with a four-hour recovery objective.
Workbook: Book 07, Chapter 07 — Coexistence and Migration.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[12:50–14:04]  Migration ends on a date; certificates don't. With public TLS at 200 days today and 47 days from March 2029, no certificate class may depend on someone remembering a date.
Three renewal engines cover the target. Intune profiles renew managed devices at the profile's threshold, with a new key pair. AD CS autoenrollment renews domain controllers, LDAPS and RADIUS while the forest stays. And CyberArk Certificate Manager renews server, appliance and public TLS, using ACME where the endpoint supports it.
Monitoring watches signals, not outages: expiry with no renewal path, a stale CRL, issuance outside policy, trust-store drift. The checks run at least weekly, and their history is the evidence.
Retiring an AD CS CA comes last. Confirm nothing depends on it. Stop issuance, and back up the database and key. Revoke what's left for cessation of operation and publish a final CRL. Remove the role services and clean every trust store. And keep the CRL and AIA endpoints serving until the last certificate expires. Under bring-your-own-CA, the CA that signed the cloud issuer stays.
Workbook: Book 07, Chapter 08 — Lifecycle, Monitoring and Decommissioning.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[14:04–15:01]  So, four decisions.
Confirm the root decision: bring-your-own-CA, signed by the offline root, once the hierarchy has passed the hardening gate.
Settle the Cloud PKI entitlement for the government tenant, rather than assuming the commercial E5 change applies.
Stand up CyberArk Certificate Manager, Self-Hosted, inside the authorization boundary, as the single lifecycle tool.
And name the owners: issuance policy and trust anchors with the CISO, and one renewal owner for every certificate class.
The next step is wave one, Assess: four weeks to inventory every CA and template, close the Critical and High findings, classify every use case, and list every relying party.
Run certificates on their own clock, and the old CAs can retire without stranding anything. Book 07 has the detail, every claim footnoted, with deployment checklists and a template-by-template matrix. Thank you.
Workbook: Book 07, index; Chapters 04, 05 and 07; Appendices A and B.</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07 PKI &amp; Certificates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3.xml"/><Relationship Id="rId9"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slideLayout" Target="../slideLayouts/slideLayout3.xml"/><Relationship Id="rId7" Type="http://schemas.openxmlformats.org/officeDocument/2006/relationships/image" Target="../media/image1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3.png"/><Relationship Id="rId4" Type="http://schemas.openxmlformats.org/officeDocument/2006/relationships/notesSlide" Target="../notesSlides/notesSlide6.xml"/><Relationship Id="rId9" Type="http://schemas.openxmlformats.org/officeDocument/2006/relationships/image" Target="../media/image15.png"/><Relationship Id="rId11"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7.xml"/><Relationship Id="rId8"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slideLayout" Target="../slideLayouts/slideLayout3.xml"/><Relationship Id="rId7" Type="http://schemas.openxmlformats.org/officeDocument/2006/relationships/image" Target="../media/image20.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notesSlide" Target="../notesSlides/notesSlide8.xml"/><Relationship Id="rId9" Type="http://schemas.openxmlformats.org/officeDocument/2006/relationships/image" Target="../media/image3.png"/><Relationship Id="rId10"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9.xml"/><Relationship Id="rId9" Type="http://schemas.openxmlformats.org/officeDocument/2006/relationships/image" Target="../media/image3.png"/><Relationship Id="rId10" Type="http://schemas.microsoft.com/office/2017/04/relationships/track" Target="../media/captions_slide09.vtt"/></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7.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3.png"/><Relationship Id="rId5" Type="http://schemas.openxmlformats.org/officeDocument/2006/relationships/image" Target="../media/image10.png"/><Relationship Id="rId4" Type="http://schemas.openxmlformats.org/officeDocument/2006/relationships/notesSlide" Target="../notesSlides/notesSlide10.xml"/><Relationship Id="rId9"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16.png"/><Relationship Id="rId5" Type="http://schemas.openxmlformats.org/officeDocument/2006/relationships/image" Target="../media/image24.png"/><Relationship Id="rId4" Type="http://schemas.openxmlformats.org/officeDocument/2006/relationships/notesSlide" Target="../notesSlides/notesSlide11.xml"/><Relationship Id="rId8"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slideLayout" Target="../slideLayouts/slideLayout3.xml"/><Relationship Id="rId7" Type="http://schemas.openxmlformats.org/officeDocument/2006/relationships/image" Target="../media/image16.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12.png"/><Relationship Id="rId5" Type="http://schemas.openxmlformats.org/officeDocument/2006/relationships/image" Target="../media/image25.png"/><Relationship Id="rId10" Type="http://schemas.openxmlformats.org/officeDocument/2006/relationships/image" Target="../media/image3.png"/><Relationship Id="rId4" Type="http://schemas.openxmlformats.org/officeDocument/2006/relationships/notesSlide" Target="../notesSlides/notesSlide12.xml"/><Relationship Id="rId9" Type="http://schemas.openxmlformats.org/officeDocument/2006/relationships/image" Target="../media/image27.png"/><Relationship Id="rId11" Type="http://schemas.microsoft.com/office/2017/04/relationships/track" Target="../media/captions_slide12.vtt"/></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slideLayout" Target="../slideLayouts/slideLayout3.xml"/><Relationship Id="rId7" Type="http://schemas.openxmlformats.org/officeDocument/2006/relationships/image" Target="../media/image16.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8.png"/><Relationship Id="rId5" Type="http://schemas.openxmlformats.org/officeDocument/2006/relationships/image" Target="../media/image15.png"/><Relationship Id="rId10" Type="http://schemas.openxmlformats.org/officeDocument/2006/relationships/image" Target="../media/image3.png"/><Relationship Id="rId4" Type="http://schemas.openxmlformats.org/officeDocument/2006/relationships/notesSlide" Target="../notesSlides/notesSlide13.xml"/><Relationship Id="rId9" Type="http://schemas.openxmlformats.org/officeDocument/2006/relationships/image" Target="../media/image8.png"/><Relationship Id="rId11" Type="http://schemas.microsoft.com/office/2017/04/relationships/track" Target="../media/captions_slide13.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Why Do Certificates Outlive Every Migration?</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07 — PKI &amp; Certificates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15-minute briefing on the book's argument and plan</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95956B0B-4133-587A-C4DC-4A33B68E7EA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F465808-4EF5-4A32-9779-B44E1F071B27}"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600"/>
    </mc:Choice>
    <mc:Fallback>
      <p:transition spd="slow" advTm="34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6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Certificates fail at expiry, not at cutover</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Deps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WHAT LEANS ON THE INTERNAL PKI</a:t>
            </a:r>
            <a:endParaRPr lang="en-US" sz="1200" dirty="0"/>
          </a:p>
        </p:txBody>
      </p:sp>
      <p:sp>
        <p:nvSpPr>
          <p:cNvPr id="6" name="Dep 0">
            <a:extLst>
              <a:ext uri="{C183D7F6-B498-43B3-948B-1728B52AA6E4}">
                <adec:decorative xmlns:adec="http://schemas.microsoft.com/office/drawing/2017/decorative" val="1"/>
              </a:ext>
            </a:extLst>
          </p:cNvPr>
          <p:cNvSpPr/>
          <p:nvPr/>
        </p:nvSpPr>
        <p:spPr>
          <a:xfrm>
            <a:off x="548640" y="1755648"/>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Dep 0 text"/>
          <p:cNvSpPr txBox="1"/>
          <p:nvPr/>
        </p:nvSpPr>
        <p:spPr>
          <a:xfrm>
            <a:off x="731520" y="1755648"/>
            <a:ext cx="5394960" cy="512064"/>
          </a:xfrm>
          <a:prstGeom prst="rect">
            <a:avLst/>
          </a:prstGeom>
          <a:noFill/>
          <a:ln/>
        </p:spPr>
        <p:txBody>
          <a:bodyPr wrap="square" lIns="0" tIns="0" rIns="0" bIns="0" rtlCol="0" anchor="ctr"/>
          <a:lstStyle/>
          <a:p>
            <a:pPr marL="0" indent="0">
              <a:buNone/>
            </a:pPr>
            <a:r>
              <a:rPr lang="en-US" sz="1450" b="1" dirty="0">
                <a:solidFill>
                  <a:srgbClr val="1F2A44"/>
                </a:solidFill>
              </a:rPr>
              <a:t>Domain controllers   </a:t>
            </a:r>
            <a:r>
              <a:rPr lang="en-US" sz="1450" dirty="0">
                <a:solidFill>
                  <a:schemeClr val="tx2"/>
                </a:solidFill>
              </a:rPr>
              <a:t>KDC certificates and LDAPS</a:t>
            </a:r>
            <a:endParaRPr lang="en-US" sz="1450" dirty="0"/>
          </a:p>
        </p:txBody>
      </p:sp>
      <p:sp>
        <p:nvSpPr>
          <p:cNvPr id="8" name="Dep 1">
            <a:extLst>
              <a:ext uri="{C183D7F6-B498-43B3-948B-1728B52AA6E4}">
                <adec:decorative xmlns:adec="http://schemas.microsoft.com/office/drawing/2017/decorative" val="1"/>
              </a:ext>
            </a:extLst>
          </p:cNvPr>
          <p:cNvSpPr/>
          <p:nvPr/>
        </p:nvSpPr>
        <p:spPr>
          <a:xfrm>
            <a:off x="548640" y="2359152"/>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Dep 1 text"/>
          <p:cNvSpPr txBox="1"/>
          <p:nvPr/>
        </p:nvSpPr>
        <p:spPr>
          <a:xfrm>
            <a:off x="731520" y="2359152"/>
            <a:ext cx="5394960" cy="512064"/>
          </a:xfrm>
          <a:prstGeom prst="rect">
            <a:avLst/>
          </a:prstGeom>
          <a:noFill/>
          <a:ln/>
        </p:spPr>
        <p:txBody>
          <a:bodyPr wrap="square" lIns="0" tIns="0" rIns="0" bIns="0" rtlCol="0" anchor="ctr"/>
          <a:lstStyle/>
          <a:p>
            <a:pPr marL="0" indent="0">
              <a:buNone/>
            </a:pPr>
            <a:r>
              <a:rPr lang="en-US" sz="1450" b="1" dirty="0">
                <a:solidFill>
                  <a:srgbClr val="1F2A44"/>
                </a:solidFill>
              </a:rPr>
              <a:t>Smart card and PIV   </a:t>
            </a:r>
            <a:r>
              <a:rPr lang="en-US" sz="1450" dirty="0">
                <a:solidFill>
                  <a:schemeClr val="tx2"/>
                </a:solidFill>
              </a:rPr>
              <a:t>NTAuth trust and DC certificates</a:t>
            </a:r>
            <a:endParaRPr lang="en-US" sz="1450" dirty="0"/>
          </a:p>
        </p:txBody>
      </p:sp>
      <p:sp>
        <p:nvSpPr>
          <p:cNvPr id="10" name="Dep 2">
            <a:extLst>
              <a:ext uri="{C183D7F6-B498-43B3-948B-1728B52AA6E4}">
                <adec:decorative xmlns:adec="http://schemas.microsoft.com/office/drawing/2017/decorative" val="1"/>
              </a:ext>
            </a:extLst>
          </p:cNvPr>
          <p:cNvSpPr/>
          <p:nvPr/>
        </p:nvSpPr>
        <p:spPr>
          <a:xfrm>
            <a:off x="548640" y="2962656"/>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Dep 2 text"/>
          <p:cNvSpPr txBox="1"/>
          <p:nvPr/>
        </p:nvSpPr>
        <p:spPr>
          <a:xfrm>
            <a:off x="731520" y="2962656"/>
            <a:ext cx="5394960" cy="512064"/>
          </a:xfrm>
          <a:prstGeom prst="rect">
            <a:avLst/>
          </a:prstGeom>
          <a:noFill/>
          <a:ln/>
        </p:spPr>
        <p:txBody>
          <a:bodyPr wrap="square" lIns="0" tIns="0" rIns="0" bIns="0" rtlCol="0" anchor="ctr"/>
          <a:lstStyle/>
          <a:p>
            <a:pPr marL="0" indent="0">
              <a:buNone/>
            </a:pPr>
            <a:r>
              <a:rPr lang="en-US" sz="1450" b="1" dirty="0">
                <a:solidFill>
                  <a:srgbClr val="1F2A44"/>
                </a:solidFill>
              </a:rPr>
              <a:t>802.1X and VPN   </a:t>
            </a:r>
            <a:r>
              <a:rPr lang="en-US" sz="1450" dirty="0">
                <a:solidFill>
                  <a:schemeClr val="tx2"/>
                </a:solidFill>
              </a:rPr>
              <a:t>NPS and device certificates</a:t>
            </a:r>
            <a:endParaRPr lang="en-US" sz="1450" dirty="0"/>
          </a:p>
        </p:txBody>
      </p:sp>
      <p:sp>
        <p:nvSpPr>
          <p:cNvPr id="12" name="Dep 3">
            <a:extLst>
              <a:ext uri="{C183D7F6-B498-43B3-948B-1728B52AA6E4}">
                <adec:decorative xmlns:adec="http://schemas.microsoft.com/office/drawing/2017/decorative" val="1"/>
              </a:ext>
            </a:extLst>
          </p:cNvPr>
          <p:cNvSpPr/>
          <p:nvPr/>
        </p:nvSpPr>
        <p:spPr>
          <a:xfrm>
            <a:off x="548640" y="3566160"/>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Dep 3 text"/>
          <p:cNvSpPr txBox="1"/>
          <p:nvPr/>
        </p:nvSpPr>
        <p:spPr>
          <a:xfrm>
            <a:off x="731520" y="3566160"/>
            <a:ext cx="5394960" cy="512064"/>
          </a:xfrm>
          <a:prstGeom prst="rect">
            <a:avLst/>
          </a:prstGeom>
          <a:noFill/>
          <a:ln/>
        </p:spPr>
        <p:txBody>
          <a:bodyPr wrap="square" lIns="0" tIns="0" rIns="0" bIns="0" rtlCol="0" anchor="ctr"/>
          <a:lstStyle/>
          <a:p>
            <a:pPr marL="0" indent="0">
              <a:buNone/>
            </a:pPr>
            <a:r>
              <a:rPr lang="en-US" sz="1450" b="1" dirty="0">
                <a:solidFill>
                  <a:srgbClr val="1F2A44"/>
                </a:solidFill>
              </a:rPr>
              <a:t>TLS listeners   </a:t>
            </a:r>
            <a:r>
              <a:rPr lang="en-US" sz="1450" dirty="0">
                <a:solidFill>
                  <a:schemeClr val="tx2"/>
                </a:solidFill>
              </a:rPr>
              <a:t>Web, API and SQL Server</a:t>
            </a:r>
            <a:endParaRPr lang="en-US" sz="1450" dirty="0"/>
          </a:p>
        </p:txBody>
      </p:sp>
      <p:sp>
        <p:nvSpPr>
          <p:cNvPr id="14" name="Dep 4">
            <a:extLst>
              <a:ext uri="{C183D7F6-B498-43B3-948B-1728B52AA6E4}">
                <adec:decorative xmlns:adec="http://schemas.microsoft.com/office/drawing/2017/decorative" val="1"/>
              </a:ext>
            </a:extLst>
          </p:cNvPr>
          <p:cNvSpPr/>
          <p:nvPr/>
        </p:nvSpPr>
        <p:spPr>
          <a:xfrm>
            <a:off x="548640" y="4169664"/>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Dep 4 text"/>
          <p:cNvSpPr txBox="1"/>
          <p:nvPr/>
        </p:nvSpPr>
        <p:spPr>
          <a:xfrm>
            <a:off x="731520" y="4169664"/>
            <a:ext cx="5394960" cy="512064"/>
          </a:xfrm>
          <a:prstGeom prst="rect">
            <a:avLst/>
          </a:prstGeom>
          <a:noFill/>
          <a:ln/>
        </p:spPr>
        <p:txBody>
          <a:bodyPr wrap="square" lIns="0" tIns="0" rIns="0" bIns="0" rtlCol="0" anchor="ctr"/>
          <a:lstStyle/>
          <a:p>
            <a:pPr marL="0" indent="0">
              <a:buNone/>
            </a:pPr>
            <a:r>
              <a:rPr lang="en-US" sz="1450" b="1" dirty="0">
                <a:solidFill>
                  <a:srgbClr val="1F2A44"/>
                </a:solidFill>
              </a:rPr>
              <a:t>Signing and encryption   </a:t>
            </a:r>
            <a:r>
              <a:rPr lang="en-US" sz="1450" dirty="0">
                <a:solidFill>
                  <a:schemeClr val="tx2"/>
                </a:solidFill>
              </a:rPr>
              <a:t>Code signing, S/MIME, EFS keys</a:t>
            </a:r>
            <a:endParaRPr lang="en-US" sz="1450" dirty="0"/>
          </a:p>
        </p:txBody>
      </p:sp>
      <p:sp>
        <p:nvSpPr>
          <p:cNvPr id="16" name="Clocks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7" name="Icon FaUserClock">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45309"/>
          </a:solidFill>
          <a:ln w="12700">
            <a:solidFill>
              <a:srgbClr val="B45309"/>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9" name="Clocks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A SIGNED CLAIM ALREADY HANDED OUT</a:t>
            </a:r>
            <a:endParaRPr lang="en-US" sz="1400" dirty="0"/>
          </a:p>
          <a:p>
            <a:pPr marL="0" indent="0">
              <a:buNone/>
            </a:pPr>
            <a:r>
              <a:rPr lang="en-US" sz="1800" b="1" dirty="0">
                <a:solidFill>
                  <a:srgbClr val="B45309"/>
                </a:solidFill>
                <a:latin typeface="Cambria" pitchFamily="34" charset="0"/>
                <a:ea typeface="Cambria" pitchFamily="34" charset="-122"/>
                <a:cs typeface="Cambria" pitchFamily="34" charset="-120"/>
              </a:rPr>
              <a:t>Two clocks, one estate</a:t>
            </a:r>
            <a:endParaRPr lang="en-US" sz="1400" dirty="0"/>
          </a:p>
        </p:txBody>
      </p:sp>
      <p:sp>
        <p:nvSpPr>
          <p:cNvPr id="20" name="Clocks text"/>
          <p:cNvSpPr txBox="1"/>
          <p:nvPr/>
        </p:nvSpPr>
        <p:spPr>
          <a:xfrm>
            <a:off x="6720840" y="2560320"/>
            <a:ext cx="4800600" cy="2103120"/>
          </a:xfrm>
          <a:prstGeom prst="rect">
            <a:avLst/>
          </a:prstGeom>
          <a:noFill/>
          <a:ln/>
        </p:spPr>
        <p:txBody>
          <a:bodyPr wrap="square" lIns="0" tIns="0" rIns="0" bIns="0" rtlCol="0" anchor="t"/>
          <a:lstStyle/>
          <a:p>
            <a:pPr marL="0" indent="0">
              <a:buNone/>
            </a:pPr>
            <a:r>
              <a:rPr lang="en-US" sz="1450" b="1" dirty="0">
                <a:solidFill>
                  <a:srgbClr val="B91C1C"/>
                </a:solidFill>
              </a:rPr>
              <a:t>The directory's clock: </a:t>
            </a:r>
            <a:r>
              <a:rPr lang="en-US" sz="1450" dirty="0">
                <a:solidFill>
                  <a:schemeClr val="tx2"/>
                </a:solidFill>
              </a:rPr>
              <a:t>cutover is declared complete, issued certificates keep working, and the first expiry wave finds no issuer.</a:t>
            </a:r>
            <a:endParaRPr lang="en-US" sz="1450" dirty="0"/>
          </a:p>
          <a:p>
            <a:pPr marL="0" indent="0">
              <a:buNone/>
            </a:pPr>
            <a:r>
              <a:rPr lang="en-US" sz="600" dirty="0">
                <a:solidFill>
                  <a:schemeClr val="tx2"/>
                </a:solidFill>
              </a:rPr>
              <a:t> </a:t>
            </a:r>
            <a:endParaRPr lang="en-US" sz="1450" dirty="0"/>
          </a:p>
          <a:p>
            <a:pPr marL="0" indent="0">
              <a:buNone/>
            </a:pPr>
            <a:r>
              <a:rPr lang="en-US" sz="1450" b="1" dirty="0">
                <a:solidFill>
                  <a:srgbClr val="0F766E"/>
                </a:solidFill>
              </a:rPr>
              <a:t>The certificate's clock: </a:t>
            </a:r>
            <a:r>
              <a:rPr lang="en-US" sz="1450" dirty="0">
                <a:solidFill>
                  <a:schemeClr val="tx2"/>
                </a:solidFill>
              </a:rPr>
              <a:t>the replacement issuer is live before the first expiry, renewals move use case by use case, and AD CS retires last.</a:t>
            </a:r>
            <a:endParaRPr lang="en-US" sz="1450" dirty="0"/>
          </a:p>
        </p:txBody>
      </p:sp>
      <p:sp>
        <p:nvSpPr>
          <p:cNvPr id="21" name="Twice ove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2" name="Icon FaTriangleExclamation">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91C1C"/>
          </a:solidFill>
          <a:ln w="12700">
            <a:solidFill>
              <a:srgbClr val="B91C1C"/>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73345"/>
            <a:ext cx="380390" cy="380390"/>
          </a:xfrm>
          <a:prstGeom prst="rect">
            <a:avLst/>
          </a:prstGeom>
        </p:spPr>
      </p:pic>
      <p:sp>
        <p:nvSpPr>
          <p:cNvPr id="24" name="Twice over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B91C1C"/>
                </a:solidFill>
              </a:rPr>
              <a:t>It outlives the directory twice over: </a:t>
            </a:r>
            <a:r>
              <a:rPr lang="en-US" sz="1650" dirty="0">
                <a:solidFill>
                  <a:schemeClr val="tx2"/>
                </a:solidFill>
              </a:rPr>
              <a:t>issued certificates run until they expire, and the forest needs an issuer until its last domain controller retires.</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AD CS overview, LDAPS and smart card logon certificates, NPS certificates, Enterprise PKI. Book 07, Chapter 01.</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98A62A7B-37EB-6242-7998-3E5E98D4B7C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DCE9C93-0F25-42B4-A643-D8DE1A7CE48F}"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5590"/>
    </mc:Choice>
    <mc:Fallback>
      <p:transition spd="slow" advTm="755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4592"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rules are moving under certificates already issued</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25146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41148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Public TLS issued from</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Max validity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Per day, 1,000 certs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rgbClr val="334155"/>
                          </a:solidFill>
                          <a:latin typeface="Calibri" pitchFamily="34" charset="0"/>
                          <a:ea typeface="Calibri" pitchFamily="34" charset="-122"/>
                          <a:cs typeface="Calibri" pitchFamily="34" charset="-120"/>
                        </a:rPr>
                        <a:t>Before March 15, 2026</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398 days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about 4</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rgbClr val="334155"/>
                          </a:solidFill>
                          <a:latin typeface="Calibri" pitchFamily="34" charset="0"/>
                          <a:ea typeface="Calibri" pitchFamily="34" charset="-122"/>
                          <a:cs typeface="Calibri" pitchFamily="34" charset="-120"/>
                        </a:rPr>
                        <a:t>March 15, 2026 (today)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200 days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about 7</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rgbClr val="334155"/>
                          </a:solidFill>
                          <a:latin typeface="Calibri" pitchFamily="34" charset="0"/>
                          <a:ea typeface="Calibri" pitchFamily="34" charset="-122"/>
                          <a:cs typeface="Calibri" pitchFamily="34" charset="-120"/>
                        </a:rPr>
                        <a:t>March 15, 2027</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b="1" dirty="0">
                          <a:solidFill>
                            <a:srgbClr val="B91C1C"/>
                          </a:solidFill>
                          <a:latin typeface="Calibri" pitchFamily="34" charset="0"/>
                          <a:ea typeface="Calibri" pitchFamily="34" charset="-122"/>
                          <a:cs typeface="Calibri" pitchFamily="34" charset="-120"/>
                        </a:rPr>
                        <a:t>100 days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about 15</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rgbClr val="334155"/>
                          </a:solidFill>
                          <a:latin typeface="Calibri" pitchFamily="34" charset="0"/>
                          <a:ea typeface="Calibri" pitchFamily="34" charset="-122"/>
                          <a:cs typeface="Calibri" pitchFamily="34" charset="-120"/>
                        </a:rPr>
                        <a:t>March 15, 2029</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b="1" dirty="0">
                          <a:solidFill>
                            <a:srgbClr val="B91C1C"/>
                          </a:solidFill>
                          <a:latin typeface="Calibri" pitchFamily="34" charset="0"/>
                          <a:ea typeface="Calibri" pitchFamily="34" charset="-122"/>
                          <a:cs typeface="Calibri" pitchFamily="34" charset="-120"/>
                        </a:rPr>
                        <a:t>47 days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about 31</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able note"/>
          <p:cNvSpPr txBox="1"/>
          <p:nvPr/>
        </p:nvSpPr>
        <p:spPr>
          <a:xfrm>
            <a:off x="548640" y="3749040"/>
            <a:ext cx="6400800" cy="685800"/>
          </a:xfrm>
          <a:prstGeom prst="rect">
            <a:avLst/>
          </a:prstGeom>
          <a:noFill/>
          <a:ln/>
        </p:spPr>
        <p:txBody>
          <a:bodyPr wrap="square" lIns="0" tIns="0" rIns="0" bIns="0" rtlCol="0" anchor="t"/>
          <a:lstStyle/>
          <a:p>
            <a:pPr marL="0" indent="0">
              <a:buNone/>
            </a:pPr>
            <a:r>
              <a:rPr lang="en-US" sz="1200" i="1" dirty="0">
                <a:solidFill>
                  <a:srgbClr val="64748B"/>
                </a:solidFill>
              </a:rPr>
              <a:t>CA/Browser Forum Ballot SC-081v3 (April 2025). Daily renewals assume 250 working days and are program arithmetic; domain-validation reuse also falls to 10 days.</a:t>
            </a:r>
            <a:endParaRPr lang="en-US" sz="1200" dirty="0"/>
          </a:p>
        </p:txBody>
      </p:sp>
      <p:sp>
        <p:nvSpPr>
          <p:cNvPr id="7" name="Side 0">
            <a:extLst>
              <a:ext uri="{C183D7F6-B498-43B3-948B-1728B52AA6E4}">
                <adec:decorative xmlns:adec="http://schemas.microsoft.com/office/drawing/2017/decorative" val="1"/>
              </a:ext>
            </a:extLst>
          </p:cNvPr>
          <p:cNvSpPr/>
          <p:nvPr/>
        </p:nvSpPr>
        <p:spPr>
          <a:xfrm>
            <a:off x="7178040" y="1417320"/>
            <a:ext cx="4480560" cy="1444752"/>
          </a:xfrm>
          <a:prstGeom prst="roundRect">
            <a:avLst>
              <a:gd name="adj" fmla="val 5063"/>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8" name="Icon FaKey">
            <a:extLst>
              <a:ext uri="{C183D7F6-B498-43B3-948B-1728B52AA6E4}">
                <adec:decorative xmlns:adec="http://schemas.microsoft.com/office/drawing/2017/decorative" val="1"/>
              </a:ext>
            </a:extLst>
          </p:cNvPr>
          <p:cNvSpPr/>
          <p:nvPr/>
        </p:nvSpPr>
        <p:spPr>
          <a:xfrm>
            <a:off x="7360920" y="1600200"/>
            <a:ext cx="548640" cy="548640"/>
          </a:xfrm>
          <a:prstGeom prst="ellipse">
            <a:avLst/>
          </a:prstGeom>
          <a:solidFill>
            <a:srgbClr val="B45309"/>
          </a:solidFill>
          <a:ln w="12700">
            <a:solidFill>
              <a:srgbClr val="B45309"/>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92594" y="1731874"/>
            <a:ext cx="285293" cy="285293"/>
          </a:xfrm>
          <a:prstGeom prst="rect">
            <a:avLst/>
          </a:prstGeom>
        </p:spPr>
      </p:pic>
      <p:sp>
        <p:nvSpPr>
          <p:cNvPr id="10" name="Side 0 text"/>
          <p:cNvSpPr txBox="1"/>
          <p:nvPr/>
        </p:nvSpPr>
        <p:spPr>
          <a:xfrm>
            <a:off x="8046720" y="1527048"/>
            <a:ext cx="3474720" cy="1261872"/>
          </a:xfrm>
          <a:prstGeom prst="rect">
            <a:avLst/>
          </a:prstGeom>
          <a:noFill/>
          <a:ln/>
        </p:spPr>
        <p:txBody>
          <a:bodyPr wrap="square" lIns="0" tIns="0" rIns="0" bIns="0" rtlCol="0" anchor="t"/>
          <a:lstStyle/>
          <a:p>
            <a:pPr marL="0" indent="0">
              <a:buNone/>
            </a:pPr>
            <a:r>
              <a:rPr lang="en-US" sz="1650" b="1" dirty="0">
                <a:solidFill>
                  <a:srgbClr val="B45309"/>
                </a:solidFill>
                <a:latin typeface="Cambria" pitchFamily="34" charset="0"/>
                <a:ea typeface="Cambria" pitchFamily="34" charset="-122"/>
                <a:cs typeface="Cambria" pitchFamily="34" charset="-120"/>
              </a:rPr>
              <a:t>Mapping rules changed</a:t>
            </a:r>
            <a:endParaRPr lang="en-US" sz="1400" dirty="0"/>
          </a:p>
          <a:p>
            <a:pPr marL="0" indent="0">
              <a:buNone/>
            </a:pPr>
            <a:r>
              <a:rPr lang="en-US" sz="1350" dirty="0">
                <a:solidFill>
                  <a:schemeClr val="tx2"/>
                </a:solidFill>
              </a:rPr>
              <a:t>KB5014754: domain controllers in Full Enforcement since February 11, 2025, with no way back to compatibility mode after September 9, 2025.</a:t>
            </a:r>
            <a:endParaRPr lang="en-US" sz="1400" dirty="0"/>
          </a:p>
        </p:txBody>
      </p:sp>
      <p:sp>
        <p:nvSpPr>
          <p:cNvPr id="11" name="Side 1">
            <a:extLst>
              <a:ext uri="{C183D7F6-B498-43B3-948B-1728B52AA6E4}">
                <adec:decorative xmlns:adec="http://schemas.microsoft.com/office/drawing/2017/decorative" val="1"/>
              </a:ext>
            </a:extLst>
          </p:cNvPr>
          <p:cNvSpPr/>
          <p:nvPr/>
        </p:nvSpPr>
        <p:spPr>
          <a:xfrm>
            <a:off x="7178040" y="2990088"/>
            <a:ext cx="4480560" cy="1444752"/>
          </a:xfrm>
          <a:prstGeom prst="roundRect">
            <a:avLst>
              <a:gd name="adj" fmla="val 5063"/>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2" name="Icon FaLock">
            <a:extLst>
              <a:ext uri="{C183D7F6-B498-43B3-948B-1728B52AA6E4}">
                <adec:decorative xmlns:adec="http://schemas.microsoft.com/office/drawing/2017/decorative" val="1"/>
              </a:ext>
            </a:extLst>
          </p:cNvPr>
          <p:cNvSpPr/>
          <p:nvPr/>
        </p:nvSpPr>
        <p:spPr>
          <a:xfrm>
            <a:off x="7360920" y="3172968"/>
            <a:ext cx="548640" cy="548640"/>
          </a:xfrm>
          <a:prstGeom prst="ellipse">
            <a:avLst/>
          </a:prstGeom>
          <a:solidFill>
            <a:srgbClr val="B91C1C"/>
          </a:solidFill>
          <a:ln w="12700">
            <a:solidFill>
              <a:srgbClr val="B91C1C"/>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92594" y="3304642"/>
            <a:ext cx="285293" cy="285293"/>
          </a:xfrm>
          <a:prstGeom prst="rect">
            <a:avLst/>
          </a:prstGeom>
        </p:spPr>
      </p:pic>
      <p:sp>
        <p:nvSpPr>
          <p:cNvPr id="14" name="Side 1 text"/>
          <p:cNvSpPr txBox="1"/>
          <p:nvPr/>
        </p:nvSpPr>
        <p:spPr>
          <a:xfrm>
            <a:off x="8046720" y="3099816"/>
            <a:ext cx="3474720" cy="1261872"/>
          </a:xfrm>
          <a:prstGeom prst="rect">
            <a:avLst/>
          </a:prstGeom>
          <a:noFill/>
          <a:ln/>
        </p:spPr>
        <p:txBody>
          <a:bodyPr wrap="square" lIns="0" tIns="0" rIns="0" bIns="0" rtlCol="0" anchor="t"/>
          <a:lstStyle/>
          <a:p>
            <a:pPr marL="0" indent="0">
              <a:buNone/>
            </a:pPr>
            <a:r>
              <a:rPr lang="en-US" sz="1650" b="1" dirty="0">
                <a:solidFill>
                  <a:srgbClr val="B91C1C"/>
                </a:solidFill>
                <a:latin typeface="Cambria" pitchFamily="34" charset="0"/>
                <a:ea typeface="Cambria" pitchFamily="34" charset="-122"/>
                <a:cs typeface="Cambria" pitchFamily="34" charset="-120"/>
              </a:rPr>
              <a:t>Algorithms have a horizon</a:t>
            </a:r>
            <a:endParaRPr lang="en-US" sz="1400" dirty="0"/>
          </a:p>
          <a:p>
            <a:pPr marL="0" indent="0">
              <a:buNone/>
            </a:pPr>
            <a:r>
              <a:rPr lang="en-US" sz="1350" dirty="0">
                <a:solidFill>
                  <a:schemeClr val="tx2"/>
                </a:solidFill>
              </a:rPr>
              <a:t>NIST's draft IR 8547: RSA-2048 deprecated after 2030, all RSA and ECDSA signatures disallowed after 2035.</a:t>
            </a:r>
            <a:endParaRPr lang="en-US" sz="1400" dirty="0"/>
          </a:p>
        </p:txBody>
      </p:sp>
      <p:sp>
        <p:nvSpPr>
          <p:cNvPr id="15" name="Own program">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6" name="Icon FaRoute">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8" name="Own program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So the PKI is its own program: </a:t>
            </a:r>
            <a:r>
              <a:rPr lang="en-US" sz="1650" dirty="0">
                <a:solidFill>
                  <a:schemeClr val="tx2"/>
                </a:solidFill>
              </a:rPr>
              <a:t>manual lifecycle management can't keep up. The replacement is discovery, ownership, automated issuance and renewal, and evidence, run apart from the directory move.</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CA/Browser Forum SC-081v3 and Baseline Requirements 2.3.1; Microsoft Support KB5014754; NIST IR 8547 (draft). Book 07,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533AE7DB-1731-F509-D0BB-8289FBC644E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DBC564D-1496-4AE2-ABBB-208F2EE14AD4}"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9480"/>
    </mc:Choice>
    <mc:Fallback>
      <p:transition spd="slow" advTm="79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8480"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AD CS holds up, and the four verdicts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Verdict head"/>
          <p:cNvSpPr txBox="1"/>
          <p:nvPr/>
        </p:nvSpPr>
        <p:spPr>
          <a:xfrm>
            <a:off x="548640" y="1417320"/>
            <a:ext cx="7315200" cy="274320"/>
          </a:xfrm>
          <a:prstGeom prst="rect">
            <a:avLst/>
          </a:prstGeom>
          <a:noFill/>
          <a:ln/>
        </p:spPr>
        <p:txBody>
          <a:bodyPr wrap="square" lIns="0" tIns="0" rIns="0" bIns="0" rtlCol="0" anchor="t"/>
          <a:lstStyle/>
          <a:p>
            <a:pPr marL="0" indent="0">
              <a:buNone/>
            </a:pPr>
            <a:r>
              <a:rPr lang="en-US" sz="1200" b="1" dirty="0">
                <a:solidFill>
                  <a:srgbClr val="64748B"/>
                </a:solidFill>
              </a:rPr>
              <a:t>EVERY TEMPLATE AND USE CASE GETS ONE VERDICT</a:t>
            </a:r>
            <a:endParaRPr lang="en-US" sz="1200" dirty="0"/>
          </a:p>
        </p:txBody>
      </p:sp>
      <p:sp>
        <p:nvSpPr>
          <p:cNvPr id="6" name="Verdict 0">
            <a:extLst>
              <a:ext uri="{C183D7F6-B498-43B3-948B-1728B52AA6E4}">
                <adec:decorative xmlns:adec="http://schemas.microsoft.com/office/drawing/2017/decorative" val="1"/>
              </a:ext>
            </a:extLst>
          </p:cNvPr>
          <p:cNvSpPr/>
          <p:nvPr/>
        </p:nvSpPr>
        <p:spPr>
          <a:xfrm>
            <a:off x="548640" y="1783080"/>
            <a:ext cx="2651760" cy="1508760"/>
          </a:xfrm>
          <a:prstGeom prst="roundRect">
            <a:avLst>
              <a:gd name="adj" fmla="val 484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Verdict 0 text"/>
          <p:cNvSpPr txBox="1"/>
          <p:nvPr/>
        </p:nvSpPr>
        <p:spPr>
          <a:xfrm>
            <a:off x="731520" y="1901952"/>
            <a:ext cx="2286000" cy="1325880"/>
          </a:xfrm>
          <a:prstGeom prst="rect">
            <a:avLst/>
          </a:prstGeom>
          <a:noFill/>
          <a:ln/>
        </p:spPr>
        <p:txBody>
          <a:bodyPr wrap="square" lIns="0" tIns="0" rIns="0" bIns="0" rtlCol="0" anchor="t"/>
          <a:lstStyle/>
          <a:p>
            <a:pPr marL="0" indent="0">
              <a:buNone/>
            </a:pPr>
            <a:r>
              <a:rPr lang="en-US" sz="1900" b="1" dirty="0">
                <a:solidFill>
                  <a:srgbClr val="0F766E"/>
                </a:solidFill>
                <a:latin typeface="Cambria" pitchFamily="34" charset="0"/>
                <a:ea typeface="Cambria" pitchFamily="34" charset="-122"/>
                <a:cs typeface="Cambria" pitchFamily="34" charset="-120"/>
              </a:rPr>
              <a:t>MIGRATE</a:t>
            </a:r>
            <a:endParaRPr lang="en-US" sz="1400" dirty="0"/>
          </a:p>
          <a:p>
            <a:pPr marL="0" indent="0">
              <a:buNone/>
            </a:pPr>
            <a:r>
              <a:rPr lang="en-US" sz="1400" dirty="0">
                <a:solidFill>
                  <a:schemeClr val="tx2"/>
                </a:solidFill>
              </a:rPr>
              <a:t>A cloud path replaces it: Cloud PKI through Intune, or Entra CBA</a:t>
            </a:r>
            <a:endParaRPr lang="en-US" sz="1400" dirty="0"/>
          </a:p>
        </p:txBody>
      </p:sp>
      <p:sp>
        <p:nvSpPr>
          <p:cNvPr id="8" name="Verdict 1">
            <a:extLst>
              <a:ext uri="{C183D7F6-B498-43B3-948B-1728B52AA6E4}">
                <adec:decorative xmlns:adec="http://schemas.microsoft.com/office/drawing/2017/decorative" val="1"/>
              </a:ext>
            </a:extLst>
          </p:cNvPr>
          <p:cNvSpPr/>
          <p:nvPr/>
        </p:nvSpPr>
        <p:spPr>
          <a:xfrm>
            <a:off x="3346704" y="1783080"/>
            <a:ext cx="2651760" cy="1508760"/>
          </a:xfrm>
          <a:prstGeom prst="roundRect">
            <a:avLst>
              <a:gd name="adj" fmla="val 484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9" name="Verdict 1 text"/>
          <p:cNvSpPr txBox="1"/>
          <p:nvPr/>
        </p:nvSpPr>
        <p:spPr>
          <a:xfrm>
            <a:off x="3529584" y="1901952"/>
            <a:ext cx="2286000" cy="1325880"/>
          </a:xfrm>
          <a:prstGeom prst="rect">
            <a:avLst/>
          </a:prstGeom>
          <a:noFill/>
          <a:ln/>
        </p:spPr>
        <p:txBody>
          <a:bodyPr wrap="square" lIns="0" tIns="0" rIns="0" bIns="0" rtlCol="0" anchor="t"/>
          <a:lstStyle/>
          <a:p>
            <a:pPr marL="0" indent="0">
              <a:buNone/>
            </a:pPr>
            <a:r>
              <a:rPr lang="en-US" sz="1900" b="1" dirty="0">
                <a:solidFill>
                  <a:srgbClr val="B45309"/>
                </a:solidFill>
                <a:latin typeface="Cambria" pitchFamily="34" charset="0"/>
                <a:ea typeface="Cambria" pitchFamily="34" charset="-122"/>
                <a:cs typeface="Cambria" pitchFamily="34" charset="-120"/>
              </a:rPr>
              <a:t>BRIDGE</a:t>
            </a:r>
            <a:endParaRPr lang="en-US" sz="1400" dirty="0"/>
          </a:p>
          <a:p>
            <a:pPr marL="0" indent="0">
              <a:buNone/>
            </a:pPr>
            <a:r>
              <a:rPr lang="en-US" sz="1400" dirty="0">
                <a:solidFill>
                  <a:schemeClr val="tx2"/>
                </a:solidFill>
              </a:rPr>
              <a:t>Both issuers run: DCs, LDAPS, NPS, and server TLS until its issuer is named</a:t>
            </a:r>
            <a:endParaRPr lang="en-US" sz="1400" dirty="0"/>
          </a:p>
        </p:txBody>
      </p:sp>
      <p:sp>
        <p:nvSpPr>
          <p:cNvPr id="10" name="Verdict 2">
            <a:extLst>
              <a:ext uri="{C183D7F6-B498-43B3-948B-1728B52AA6E4}">
                <adec:decorative xmlns:adec="http://schemas.microsoft.com/office/drawing/2017/decorative" val="1"/>
              </a:ext>
            </a:extLst>
          </p:cNvPr>
          <p:cNvSpPr/>
          <p:nvPr/>
        </p:nvSpPr>
        <p:spPr>
          <a:xfrm>
            <a:off x="6144768" y="1783080"/>
            <a:ext cx="2651760" cy="1508760"/>
          </a:xfrm>
          <a:prstGeom prst="roundRect">
            <a:avLst>
              <a:gd name="adj" fmla="val 4848"/>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1" name="Verdict 2 text"/>
          <p:cNvSpPr txBox="1"/>
          <p:nvPr/>
        </p:nvSpPr>
        <p:spPr>
          <a:xfrm>
            <a:off x="6327648" y="1901952"/>
            <a:ext cx="2286000" cy="1325880"/>
          </a:xfrm>
          <a:prstGeom prst="rect">
            <a:avLst/>
          </a:prstGeom>
          <a:noFill/>
          <a:ln/>
        </p:spPr>
        <p:txBody>
          <a:bodyPr wrap="square" lIns="0" tIns="0" rIns="0" bIns="0" rtlCol="0" anchor="t"/>
          <a:lstStyle/>
          <a:p>
            <a:pPr marL="0" indent="0">
              <a:buNone/>
            </a:pPr>
            <a:r>
              <a:rPr lang="en-US" sz="1900" b="1" dirty="0">
                <a:solidFill>
                  <a:srgbClr val="B91C1C"/>
                </a:solidFill>
                <a:latin typeface="Cambria" pitchFamily="34" charset="0"/>
                <a:ea typeface="Cambria" pitchFamily="34" charset="-122"/>
                <a:cs typeface="Cambria" pitchFamily="34" charset="-120"/>
              </a:rPr>
              <a:t>RETAIN</a:t>
            </a:r>
            <a:endParaRPr lang="en-US" sz="1400" dirty="0"/>
          </a:p>
          <a:p>
            <a:pPr marL="0" indent="0">
              <a:buNone/>
            </a:pPr>
            <a:r>
              <a:rPr lang="en-US" sz="1400" dirty="0">
                <a:solidFill>
                  <a:schemeClr val="tx2"/>
                </a:solidFill>
              </a:rPr>
              <a:t>No cloud equivalent: HSM code signing, network gear on SCEP</a:t>
            </a:r>
            <a:endParaRPr lang="en-US" sz="1400" dirty="0"/>
          </a:p>
        </p:txBody>
      </p:sp>
      <p:sp>
        <p:nvSpPr>
          <p:cNvPr id="12" name="Verdict 3">
            <a:extLst>
              <a:ext uri="{C183D7F6-B498-43B3-948B-1728B52AA6E4}">
                <adec:decorative xmlns:adec="http://schemas.microsoft.com/office/drawing/2017/decorative" val="1"/>
              </a:ext>
            </a:extLst>
          </p:cNvPr>
          <p:cNvSpPr/>
          <p:nvPr/>
        </p:nvSpPr>
        <p:spPr>
          <a:xfrm>
            <a:off x="8942832" y="1783080"/>
            <a:ext cx="2651760" cy="1508760"/>
          </a:xfrm>
          <a:prstGeom prst="roundRect">
            <a:avLst>
              <a:gd name="adj" fmla="val 4848"/>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3" name="Verdict 3 text"/>
          <p:cNvSpPr txBox="1"/>
          <p:nvPr/>
        </p:nvSpPr>
        <p:spPr>
          <a:xfrm>
            <a:off x="9125712" y="1901952"/>
            <a:ext cx="2286000" cy="1325880"/>
          </a:xfrm>
          <a:prstGeom prst="rect">
            <a:avLst/>
          </a:prstGeom>
          <a:noFill/>
          <a:ln/>
        </p:spPr>
        <p:txBody>
          <a:bodyPr wrap="square" lIns="0" tIns="0" rIns="0" bIns="0" rtlCol="0" anchor="t"/>
          <a:lstStyle/>
          <a:p>
            <a:pPr marL="0" indent="0">
              <a:buNone/>
            </a:pPr>
            <a:r>
              <a:rPr lang="en-US" sz="1900" b="1" dirty="0">
                <a:solidFill>
                  <a:srgbClr val="64748B"/>
                </a:solidFill>
                <a:latin typeface="Cambria" pitchFamily="34" charset="0"/>
                <a:ea typeface="Cambria" pitchFamily="34" charset="-122"/>
                <a:cs typeface="Cambria" pitchFamily="34" charset="-120"/>
              </a:rPr>
              <a:t>RETIRE</a:t>
            </a:r>
            <a:endParaRPr lang="en-US" sz="1400" dirty="0"/>
          </a:p>
          <a:p>
            <a:pPr marL="0" indent="0">
              <a:buNone/>
            </a:pPr>
            <a:r>
              <a:rPr lang="en-US" sz="1400" dirty="0">
                <a:solidFill>
                  <a:schemeClr val="tx2"/>
                </a:solidFill>
              </a:rPr>
              <a:t>The consumer is going away: let it expire, keep decryption keys</a:t>
            </a:r>
            <a:endParaRPr lang="en-US" sz="1400" dirty="0"/>
          </a:p>
        </p:txBody>
      </p:sp>
      <p:sp>
        <p:nvSpPr>
          <p:cNvPr id="14" name="Facts"/>
          <p:cNvSpPr txBox="1"/>
          <p:nvPr/>
        </p:nvSpPr>
        <p:spPr>
          <a:xfrm>
            <a:off x="548640" y="3474720"/>
            <a:ext cx="11109960" cy="137160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chemeClr val="tx2"/>
                </a:solidFill>
              </a:rPr>
              <a:t>An enterprise CA lives in the forest: templates, Enrollment Services and NTAuth sit in Public Key Services</a:t>
            </a:r>
            <a:endParaRPr lang="en-US" sz="1400" dirty="0"/>
          </a:p>
          <a:p>
            <a:pPr marL="342900" indent="-342900">
              <a:spcAft>
                <a:spcPts val="500"/>
              </a:spcAft>
              <a:buSzPct val="100000"/>
              <a:buChar char="•"/>
            </a:pPr>
            <a:r>
              <a:rPr lang="en-US" sz="1450" dirty="0">
                <a:solidFill>
                  <a:schemeClr val="tx2"/>
                </a:solidFill>
              </a:rPr>
              <a:t>Inventory four layers — CA, template, issued certificate, relying party; the relying parties set the order of work</a:t>
            </a:r>
            <a:endParaRPr lang="en-US" sz="1400" dirty="0"/>
          </a:p>
          <a:p>
            <a:pPr marL="342900" indent="-342900">
              <a:spcAft>
                <a:spcPts val="500"/>
              </a:spcAft>
              <a:buSzPct val="100000"/>
              <a:buChar char="•"/>
            </a:pPr>
            <a:r>
              <a:rPr lang="en-US" sz="1450" dirty="0">
                <a:solidFill>
                  <a:schemeClr val="tx2"/>
                </a:solidFill>
              </a:rPr>
              <a:t>Corrected: internal web and SQL Server TLS can't move to Cloud PKI; S/MIME stays BRIDGE for its key history</a:t>
            </a:r>
            <a:endParaRPr lang="en-US" sz="1400" dirty="0"/>
          </a:p>
        </p:txBody>
      </p:sp>
      <p:sp>
        <p:nvSpPr>
          <p:cNvPr id="15" name="Orde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6" name="Icon FaFilte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1F2A44"/>
          </a:solidFill>
          <a:ln w="12700">
            <a:solidFill>
              <a:srgbClr val="1F2A44"/>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73345"/>
            <a:ext cx="380390" cy="380390"/>
          </a:xfrm>
          <a:prstGeom prst="rect">
            <a:avLst/>
          </a:prstGeom>
        </p:spPr>
      </p:pic>
      <p:sp>
        <p:nvSpPr>
          <p:cNvPr id="18" name="Order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1F2A44"/>
                </a:solidFill>
              </a:rPr>
              <a:t>Ask in order: </a:t>
            </a:r>
            <a:r>
              <a:rPr lang="en-US" sz="1650" dirty="0">
                <a:solidFill>
                  <a:schemeClr val="tx2"/>
                </a:solidFill>
              </a:rPr>
              <a:t>is the consumer retiring? Is there an Intune or Entra path? Does it depend on AD itself? Whatever's left is RETAIN, with a named owner and a review date.</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certification authority role, Enterprise PKI, certificate templates, Cloud PKI overview, Intune S/MIME. Book 07,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3DD21F6D-AD04-E4AB-1AA6-00FB27EA543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6B7E76F-B926-4D81-9A41-CA0510360278}"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3650"/>
    </mc:Choice>
    <mc:Fallback>
      <p:transition spd="slow" advTm="736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2648"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Harden what stays before anything moves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86868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347472">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Class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Misconfiguration to find and fix</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Detect with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Program rating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4747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ESC1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Requester-supplied subject on an authentication template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Defender for Identity (preview)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Critical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ESC2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Any Purpose or no EKU, broadly enrollable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Defender for Identity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Critical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ESC3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Enrollment agent template broadly enrollable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Defender for Identity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45309"/>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ESC4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Writable template ACL or unprivileged 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Defender for Identity; event 5136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45309"/>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ESC5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Writable Public Key Services objects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Manual review; event 5136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45309"/>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ESC6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CA's EDITF_ATTRIBUTESUBJECTALTNAME2 flag is 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CA sensor (preview); edit flags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Critical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ESC7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Unprivileged Manage CA or Issue and Manage Certificates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CA sensor; events 4882, 4890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45309"/>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ESC8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HTTP enrollment without HTTPS and Extended Protection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CA sensor; IIS settings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Critical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5" name="Gate">
            <a:extLst>
              <a:ext uri="{C183D7F6-B498-43B3-948B-1728B52AA6E4}">
                <adec:decorative xmlns:adec="http://schemas.microsoft.com/office/drawing/2017/decorative" val="1"/>
              </a:ext>
            </a:extLst>
          </p:cNvPr>
          <p:cNvSpPr/>
          <p:nvPr/>
        </p:nvSpPr>
        <p:spPr>
          <a:xfrm>
            <a:off x="548640" y="4709160"/>
            <a:ext cx="11109960" cy="1234440"/>
          </a:xfrm>
          <a:prstGeom prst="roundRect">
            <a:avLst>
              <a:gd name="adj" fmla="val 5926"/>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7" name="Icon FaShieldHalved">
            <a:extLst>
              <a:ext uri="{C183D7F6-B498-43B3-948B-1728B52AA6E4}">
                <adec:decorative xmlns:adec="http://schemas.microsoft.com/office/drawing/2017/decorative" val="1"/>
              </a:ext>
            </a:extLst>
          </p:cNvPr>
          <p:cNvSpPr/>
          <p:nvPr/>
        </p:nvSpPr>
        <p:spPr>
          <a:xfrm>
            <a:off x="777240" y="4960620"/>
            <a:ext cx="731520" cy="73152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36185"/>
            <a:ext cx="380390" cy="380390"/>
          </a:xfrm>
          <a:prstGeom prst="rect">
            <a:avLst/>
          </a:prstGeom>
        </p:spPr>
      </p:pic>
      <p:sp>
        <p:nvSpPr>
          <p:cNvPr id="9" name="Gate text"/>
          <p:cNvSpPr txBox="1"/>
          <p:nvPr/>
        </p:nvSpPr>
        <p:spPr>
          <a:xfrm>
            <a:off x="1737360" y="4754880"/>
            <a:ext cx="9738360" cy="1143000"/>
          </a:xfrm>
          <a:prstGeom prst="rect">
            <a:avLst/>
          </a:prstGeom>
          <a:noFill/>
          <a:ln/>
        </p:spPr>
        <p:txBody>
          <a:bodyPr wrap="square" lIns="0" tIns="0" rIns="0" bIns="0" rtlCol="0" anchor="ctr"/>
          <a:lstStyle/>
          <a:p>
            <a:pPr marL="0" indent="0">
              <a:buNone/>
            </a:pPr>
            <a:r>
              <a:rPr lang="en-US" sz="1650" b="1" dirty="0">
                <a:solidFill>
                  <a:srgbClr val="B91C1C"/>
                </a:solidFill>
              </a:rPr>
              <a:t>The migration gate: </a:t>
            </a:r>
            <a:r>
              <a:rPr lang="en-US" sz="1650" dirty="0">
                <a:solidFill>
                  <a:schemeClr val="tx2"/>
                </a:solidFill>
              </a:rPr>
              <a:t>every Critical and High finding is fixed and verified before any workload migrates, because under BYOCA the cloud issuer inherits the hierarchy. Turn on CA auditing first: the CA audit filter and Audit Certification Services, both.</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Defender for Identity certificate assessments, secure and audit CA administration; KB5005413. Book 07,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E3286A2A-7C17-4D52-7B01-EAA2572719E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6835BC9-FA13-475F-817C-C145BCC4FC02}"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3770"/>
    </mc:Choice>
    <mc:Fallback>
      <p:transition spd="slow" advTm="73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276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issuers, each for what only it can serve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Issuer 0">
            <a:extLst>
              <a:ext uri="{C183D7F6-B498-43B3-948B-1728B52AA6E4}">
                <adec:decorative xmlns:adec="http://schemas.microsoft.com/office/drawing/2017/decorative" val="1"/>
              </a:ext>
            </a:extLst>
          </p:cNvPr>
          <p:cNvSpPr/>
          <p:nvPr/>
        </p:nvSpPr>
        <p:spPr>
          <a:xfrm>
            <a:off x="548640" y="1417320"/>
            <a:ext cx="2651760" cy="2514600"/>
          </a:xfrm>
          <a:prstGeom prst="roundRect">
            <a:avLst>
              <a:gd name="adj" fmla="val 290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6" name="Icon FaCloud">
            <a:extLst>
              <a:ext uri="{C183D7F6-B498-43B3-948B-1728B52AA6E4}">
                <adec:decorative xmlns:adec="http://schemas.microsoft.com/office/drawing/2017/decorative" val="1"/>
              </a:ext>
            </a:extLst>
          </p:cNvPr>
          <p:cNvSpPr/>
          <p:nvPr/>
        </p:nvSpPr>
        <p:spPr>
          <a:xfrm>
            <a:off x="731520" y="1554480"/>
            <a:ext cx="548640" cy="548640"/>
          </a:xfrm>
          <a:prstGeom prst="ellipse">
            <a:avLst/>
          </a:prstGeom>
          <a:solidFill>
            <a:srgbClr val="0F766E"/>
          </a:solidFill>
          <a:ln w="12700">
            <a:solidFill>
              <a:srgbClr val="0F766E"/>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63194" y="1686154"/>
            <a:ext cx="285293" cy="285293"/>
          </a:xfrm>
          <a:prstGeom prst="rect">
            <a:avLst/>
          </a:prstGeom>
        </p:spPr>
      </p:pic>
      <p:sp>
        <p:nvSpPr>
          <p:cNvPr id="8" name="Issuer 0 head"/>
          <p:cNvSpPr txBox="1"/>
          <p:nvPr/>
        </p:nvSpPr>
        <p:spPr>
          <a:xfrm>
            <a:off x="1371600" y="1554480"/>
            <a:ext cx="1737360" cy="548640"/>
          </a:xfrm>
          <a:prstGeom prst="rect">
            <a:avLst/>
          </a:prstGeom>
          <a:noFill/>
          <a:ln/>
        </p:spPr>
        <p:txBody>
          <a:bodyPr wrap="square" lIns="0" tIns="0" rIns="0" bIns="0" rtlCol="0" anchor="ctr"/>
          <a:lstStyle/>
          <a:p>
            <a:pPr marL="0" indent="0">
              <a:buNone/>
            </a:pPr>
            <a:r>
              <a:rPr lang="en-US" sz="1600" b="1" dirty="0">
                <a:solidFill>
                  <a:srgbClr val="0F766E"/>
                </a:solidFill>
                <a:latin typeface="Cambria" pitchFamily="34" charset="0"/>
                <a:ea typeface="Cambria" pitchFamily="34" charset="-122"/>
                <a:cs typeface="Cambria" pitchFamily="34" charset="-120"/>
              </a:rPr>
              <a:t>Cloud PKI</a:t>
            </a:r>
            <a:endParaRPr lang="en-US" sz="1600" dirty="0"/>
          </a:p>
        </p:txBody>
      </p:sp>
      <p:sp>
        <p:nvSpPr>
          <p:cNvPr id="9" name="Issuer 0 text"/>
          <p:cNvSpPr txBox="1"/>
          <p:nvPr/>
        </p:nvSpPr>
        <p:spPr>
          <a:xfrm>
            <a:off x="731520" y="2240280"/>
            <a:ext cx="2331720" cy="164592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Intune-managed devices only</a:t>
            </a:r>
            <a:endParaRPr lang="en-US" sz="1400" dirty="0"/>
          </a:p>
          <a:p>
            <a:pPr marL="342900" indent="-342900">
              <a:spcAft>
                <a:spcPts val="500"/>
              </a:spcAft>
              <a:buSzPct val="100000"/>
              <a:buChar char="•"/>
            </a:pPr>
            <a:r>
              <a:rPr lang="en-US" sz="1350" dirty="0">
                <a:solidFill>
                  <a:schemeClr val="tx2"/>
                </a:solidFill>
              </a:rPr>
              <a:t>SCEP only; three CAs per tenant</a:t>
            </a:r>
            <a:endParaRPr lang="en-US" sz="1400" dirty="0"/>
          </a:p>
          <a:p>
            <a:pPr marL="342900" indent="-342900">
              <a:spcAft>
                <a:spcPts val="500"/>
              </a:spcAft>
              <a:buSzPct val="100000"/>
              <a:buChar char="•"/>
            </a:pPr>
            <a:r>
              <a:rPr lang="en-US" sz="1350" dirty="0">
                <a:solidFill>
                  <a:schemeClr val="tx2"/>
                </a:solidFill>
              </a:rPr>
              <a:t>CRL valid seven days; no OCSP</a:t>
            </a:r>
            <a:endParaRPr lang="en-US" sz="1400" dirty="0"/>
          </a:p>
        </p:txBody>
      </p:sp>
      <p:sp>
        <p:nvSpPr>
          <p:cNvPr id="10" name="Issuer 1">
            <a:extLst>
              <a:ext uri="{C183D7F6-B498-43B3-948B-1728B52AA6E4}">
                <adec:decorative xmlns:adec="http://schemas.microsoft.com/office/drawing/2017/decorative" val="1"/>
              </a:ext>
            </a:extLst>
          </p:cNvPr>
          <p:cNvSpPr/>
          <p:nvPr/>
        </p:nvSpPr>
        <p:spPr>
          <a:xfrm>
            <a:off x="3346704" y="1417320"/>
            <a:ext cx="2651760" cy="2514600"/>
          </a:xfrm>
          <a:prstGeom prst="roundRect">
            <a:avLst>
              <a:gd name="adj" fmla="val 290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1" name="Icon FaServer">
            <a:extLst>
              <a:ext uri="{C183D7F6-B498-43B3-948B-1728B52AA6E4}">
                <adec:decorative xmlns:adec="http://schemas.microsoft.com/office/drawing/2017/decorative" val="1"/>
              </a:ext>
            </a:extLst>
          </p:cNvPr>
          <p:cNvSpPr/>
          <p:nvPr/>
        </p:nvSpPr>
        <p:spPr>
          <a:xfrm>
            <a:off x="3529584" y="1554480"/>
            <a:ext cx="548640" cy="548640"/>
          </a:xfrm>
          <a:prstGeom prst="ellipse">
            <a:avLst/>
          </a:prstGeom>
          <a:solidFill>
            <a:srgbClr val="1F2A44"/>
          </a:solidFill>
          <a:ln w="12700">
            <a:solidFill>
              <a:srgbClr val="1F2A44"/>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661258" y="1686154"/>
            <a:ext cx="285293" cy="285293"/>
          </a:xfrm>
          <a:prstGeom prst="rect">
            <a:avLst/>
          </a:prstGeom>
        </p:spPr>
      </p:pic>
      <p:sp>
        <p:nvSpPr>
          <p:cNvPr id="13" name="Issuer 1 head"/>
          <p:cNvSpPr txBox="1"/>
          <p:nvPr/>
        </p:nvSpPr>
        <p:spPr>
          <a:xfrm>
            <a:off x="4169664" y="1554480"/>
            <a:ext cx="1737360" cy="548640"/>
          </a:xfrm>
          <a:prstGeom prst="rect">
            <a:avLst/>
          </a:prstGeom>
          <a:noFill/>
          <a:ln/>
        </p:spPr>
        <p:txBody>
          <a:bodyPr wrap="square" lIns="0" tIns="0" rIns="0" bIns="0" rtlCol="0" anchor="ctr"/>
          <a:lstStyle/>
          <a:p>
            <a:pPr marL="0" indent="0">
              <a:buNone/>
            </a:pPr>
            <a:r>
              <a:rPr lang="en-US" sz="1600" b="1" dirty="0">
                <a:solidFill>
                  <a:srgbClr val="1F2A44"/>
                </a:solidFill>
                <a:latin typeface="Cambria" pitchFamily="34" charset="0"/>
                <a:ea typeface="Cambria" pitchFamily="34" charset="-122"/>
                <a:cs typeface="Cambria" pitchFamily="34" charset="-120"/>
              </a:rPr>
              <a:t>Retained AD CS</a:t>
            </a:r>
            <a:endParaRPr lang="en-US" sz="1600" dirty="0"/>
          </a:p>
        </p:txBody>
      </p:sp>
      <p:sp>
        <p:nvSpPr>
          <p:cNvPr id="14" name="Issuer 1 text"/>
          <p:cNvSpPr txBox="1"/>
          <p:nvPr/>
        </p:nvSpPr>
        <p:spPr>
          <a:xfrm>
            <a:off x="3529584" y="2240280"/>
            <a:ext cx="2331720" cy="164592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Domain controllers and LDAPS</a:t>
            </a:r>
            <a:endParaRPr lang="en-US" sz="1400" dirty="0"/>
          </a:p>
          <a:p>
            <a:pPr marL="342900" indent="-342900">
              <a:spcAft>
                <a:spcPts val="500"/>
              </a:spcAft>
              <a:buSzPct val="100000"/>
              <a:buChar char="•"/>
            </a:pPr>
            <a:r>
              <a:rPr lang="en-US" sz="1350" dirty="0">
                <a:solidFill>
                  <a:schemeClr val="tx2"/>
                </a:solidFill>
              </a:rPr>
              <a:t>NPS, RADIUS and server TLS</a:t>
            </a:r>
            <a:endParaRPr lang="en-US" sz="1400" dirty="0"/>
          </a:p>
          <a:p>
            <a:pPr marL="342900" indent="-342900">
              <a:spcAft>
                <a:spcPts val="500"/>
              </a:spcAft>
              <a:buSzPct val="100000"/>
              <a:buChar char="•"/>
            </a:pPr>
            <a:r>
              <a:rPr lang="en-US" sz="1350" dirty="0">
                <a:solidFill>
                  <a:schemeClr val="tx2"/>
                </a:solidFill>
              </a:rPr>
              <a:t>NDES devices; HSM code signing</a:t>
            </a:r>
            <a:endParaRPr lang="en-US" sz="1400" dirty="0"/>
          </a:p>
        </p:txBody>
      </p:sp>
      <p:sp>
        <p:nvSpPr>
          <p:cNvPr id="15" name="Issuer 2">
            <a:extLst>
              <a:ext uri="{C183D7F6-B498-43B3-948B-1728B52AA6E4}">
                <adec:decorative xmlns:adec="http://schemas.microsoft.com/office/drawing/2017/decorative" val="1"/>
              </a:ext>
            </a:extLst>
          </p:cNvPr>
          <p:cNvSpPr/>
          <p:nvPr/>
        </p:nvSpPr>
        <p:spPr>
          <a:xfrm>
            <a:off x="6144768" y="1417320"/>
            <a:ext cx="2651760" cy="2514600"/>
          </a:xfrm>
          <a:prstGeom prst="roundRect">
            <a:avLst>
              <a:gd name="adj" fmla="val 2909"/>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IdCard">
            <a:extLst>
              <a:ext uri="{C183D7F6-B498-43B3-948B-1728B52AA6E4}">
                <adec:decorative xmlns:adec="http://schemas.microsoft.com/office/drawing/2017/decorative" val="1"/>
              </a:ext>
            </a:extLst>
          </p:cNvPr>
          <p:cNvSpPr/>
          <p:nvPr/>
        </p:nvSpPr>
        <p:spPr>
          <a:xfrm>
            <a:off x="6327648" y="1554480"/>
            <a:ext cx="548640" cy="548640"/>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459322" y="1686154"/>
            <a:ext cx="285293" cy="285293"/>
          </a:xfrm>
          <a:prstGeom prst="rect">
            <a:avLst/>
          </a:prstGeom>
        </p:spPr>
      </p:pic>
      <p:sp>
        <p:nvSpPr>
          <p:cNvPr id="18" name="Issuer 2 head"/>
          <p:cNvSpPr txBox="1"/>
          <p:nvPr/>
        </p:nvSpPr>
        <p:spPr>
          <a:xfrm>
            <a:off x="6967728" y="1554480"/>
            <a:ext cx="1737360" cy="548640"/>
          </a:xfrm>
          <a:prstGeom prst="rect">
            <a:avLst/>
          </a:prstGeom>
          <a:noFill/>
          <a:ln/>
        </p:spPr>
        <p:txBody>
          <a:bodyPr wrap="square" lIns="0" tIns="0" rIns="0" bIns="0" rtlCol="0" anchor="ctr"/>
          <a:lstStyle/>
          <a:p>
            <a:pPr marL="0" indent="0">
              <a:buNone/>
            </a:pPr>
            <a:r>
              <a:rPr lang="en-US" sz="1600" b="1" dirty="0">
                <a:solidFill>
                  <a:srgbClr val="B45309"/>
                </a:solidFill>
                <a:latin typeface="Cambria" pitchFamily="34" charset="0"/>
                <a:ea typeface="Cambria" pitchFamily="34" charset="-122"/>
                <a:cs typeface="Cambria" pitchFamily="34" charset="-120"/>
              </a:rPr>
              <a:t>Federal PKI</a:t>
            </a:r>
            <a:endParaRPr lang="en-US" sz="1600" dirty="0"/>
          </a:p>
        </p:txBody>
      </p:sp>
      <p:sp>
        <p:nvSpPr>
          <p:cNvPr id="19" name="Issuer 2 text"/>
          <p:cNvSpPr txBox="1"/>
          <p:nvPr/>
        </p:nvSpPr>
        <p:spPr>
          <a:xfrm>
            <a:off x="6327648" y="2240280"/>
            <a:ext cx="2331720" cy="164592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PIV, through the card management system</a:t>
            </a:r>
            <a:endParaRPr lang="en-US" sz="1400" dirty="0"/>
          </a:p>
          <a:p>
            <a:pPr marL="342900" indent="-342900">
              <a:spcAft>
                <a:spcPts val="500"/>
              </a:spcAft>
              <a:buSzPct val="100000"/>
              <a:buChar char="•"/>
            </a:pPr>
            <a:r>
              <a:rPr lang="en-US" sz="1350" dirty="0">
                <a:solidFill>
                  <a:schemeClr val="tx2"/>
                </a:solidFill>
              </a:rPr>
              <a:t>Distribute the federal root</a:t>
            </a:r>
            <a:endParaRPr lang="en-US" sz="1400" dirty="0"/>
          </a:p>
          <a:p>
            <a:pPr marL="342900" indent="-342900">
              <a:spcAft>
                <a:spcPts val="500"/>
              </a:spcAft>
              <a:buSzPct val="100000"/>
              <a:buChar char="•"/>
            </a:pPr>
            <a:r>
              <a:rPr lang="en-US" sz="1350" dirty="0">
                <a:solidFill>
                  <a:schemeClr val="tx2"/>
                </a:solidFill>
              </a:rPr>
              <a:t>Upload the chain to Entra ID</a:t>
            </a:r>
            <a:endParaRPr lang="en-US" sz="1400" dirty="0"/>
          </a:p>
        </p:txBody>
      </p:sp>
      <p:sp>
        <p:nvSpPr>
          <p:cNvPr id="20" name="Issuer 3">
            <a:extLst>
              <a:ext uri="{C183D7F6-B498-43B3-948B-1728B52AA6E4}">
                <adec:decorative xmlns:adec="http://schemas.microsoft.com/office/drawing/2017/decorative" val="1"/>
              </a:ext>
            </a:extLst>
          </p:cNvPr>
          <p:cNvSpPr/>
          <p:nvPr/>
        </p:nvSpPr>
        <p:spPr>
          <a:xfrm>
            <a:off x="8942832" y="1417320"/>
            <a:ext cx="2651760" cy="2514600"/>
          </a:xfrm>
          <a:prstGeom prst="roundRect">
            <a:avLst>
              <a:gd name="adj" fmla="val 2909"/>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21" name="Icon FaGlobe">
            <a:extLst>
              <a:ext uri="{C183D7F6-B498-43B3-948B-1728B52AA6E4}">
                <adec:decorative xmlns:adec="http://schemas.microsoft.com/office/drawing/2017/decorative" val="1"/>
              </a:ext>
            </a:extLst>
          </p:cNvPr>
          <p:cNvSpPr/>
          <p:nvPr/>
        </p:nvSpPr>
        <p:spPr>
          <a:xfrm>
            <a:off x="9125712" y="1554480"/>
            <a:ext cx="548640" cy="54864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257386" y="1686154"/>
            <a:ext cx="285293" cy="285293"/>
          </a:xfrm>
          <a:prstGeom prst="rect">
            <a:avLst/>
          </a:prstGeom>
        </p:spPr>
      </p:pic>
      <p:sp>
        <p:nvSpPr>
          <p:cNvPr id="23" name="Issuer 3 head"/>
          <p:cNvSpPr txBox="1"/>
          <p:nvPr/>
        </p:nvSpPr>
        <p:spPr>
          <a:xfrm>
            <a:off x="9765792" y="1554480"/>
            <a:ext cx="1737360" cy="548640"/>
          </a:xfrm>
          <a:prstGeom prst="rect">
            <a:avLst/>
          </a:prstGeom>
          <a:noFill/>
          <a:ln/>
        </p:spPr>
        <p:txBody>
          <a:bodyPr wrap="square" lIns="0" tIns="0" rIns="0" bIns="0" rtlCol="0" anchor="ctr"/>
          <a:lstStyle/>
          <a:p>
            <a:pPr marL="0" indent="0">
              <a:buNone/>
            </a:pPr>
            <a:r>
              <a:rPr lang="en-US" sz="1600" b="1" dirty="0">
                <a:solidFill>
                  <a:srgbClr val="B91C1C"/>
                </a:solidFill>
                <a:latin typeface="Cambria" pitchFamily="34" charset="0"/>
                <a:ea typeface="Cambria" pitchFamily="34" charset="-122"/>
                <a:cs typeface="Cambria" pitchFamily="34" charset="-120"/>
              </a:rPr>
              <a:t>Public CA</a:t>
            </a:r>
            <a:endParaRPr lang="en-US" sz="1600" dirty="0"/>
          </a:p>
        </p:txBody>
      </p:sp>
      <p:sp>
        <p:nvSpPr>
          <p:cNvPr id="24" name="Issuer 3 text"/>
          <p:cNvSpPr txBox="1"/>
          <p:nvPr/>
        </p:nvSpPr>
        <p:spPr>
          <a:xfrm>
            <a:off x="9125712" y="2240280"/>
            <a:ext cx="2331720" cy="164592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Names the internet must trust</a:t>
            </a:r>
            <a:endParaRPr lang="en-US" sz="1400" dirty="0"/>
          </a:p>
          <a:p>
            <a:pPr marL="342900" indent="-342900">
              <a:spcAft>
                <a:spcPts val="500"/>
              </a:spcAft>
              <a:buSzPct val="100000"/>
              <a:buChar char="•"/>
            </a:pPr>
            <a:r>
              <a:rPr lang="en-US" sz="1350" dirty="0">
                <a:solidFill>
                  <a:schemeClr val="tx2"/>
                </a:solidFill>
              </a:rPr>
              <a:t>On the shrinking public schedule</a:t>
            </a:r>
            <a:endParaRPr lang="en-US" sz="1400" dirty="0"/>
          </a:p>
          <a:p>
            <a:pPr marL="342900" indent="-342900">
              <a:spcAft>
                <a:spcPts val="500"/>
              </a:spcAft>
              <a:buSzPct val="100000"/>
              <a:buChar char="•"/>
            </a:pPr>
            <a:r>
              <a:rPr lang="en-US" sz="1350" dirty="0">
                <a:solidFill>
                  <a:schemeClr val="tx2"/>
                </a:solidFill>
              </a:rPr>
              <a:t>Renewed through the CLM platform</a:t>
            </a:r>
            <a:endParaRPr lang="en-US" sz="1400" dirty="0"/>
          </a:p>
        </p:txBody>
      </p:sp>
      <p:sp>
        <p:nvSpPr>
          <p:cNvPr id="25" name="Root">
            <a:extLst>
              <a:ext uri="{C183D7F6-B498-43B3-948B-1728B52AA6E4}">
                <adec:decorative xmlns:adec="http://schemas.microsoft.com/office/drawing/2017/decorative" val="1"/>
              </a:ext>
            </a:extLst>
          </p:cNvPr>
          <p:cNvSpPr/>
          <p:nvPr/>
        </p:nvSpPr>
        <p:spPr>
          <a:xfrm>
            <a:off x="548640" y="4114800"/>
            <a:ext cx="11109960" cy="1051560"/>
          </a:xfrm>
          <a:prstGeom prst="roundRect">
            <a:avLst>
              <a:gd name="adj" fmla="val 695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6" name="Icon FaSitemap">
            <a:extLst>
              <a:ext uri="{C183D7F6-B498-43B3-948B-1728B52AA6E4}">
                <adec:decorative xmlns:adec="http://schemas.microsoft.com/office/drawing/2017/decorative" val="1"/>
              </a:ext>
            </a:extLst>
          </p:cNvPr>
          <p:cNvSpPr/>
          <p:nvPr/>
        </p:nvSpPr>
        <p:spPr>
          <a:xfrm>
            <a:off x="777240" y="4274820"/>
            <a:ext cx="731520" cy="731520"/>
          </a:xfrm>
          <a:prstGeom prst="ellipse">
            <a:avLst/>
          </a:prstGeom>
          <a:solidFill>
            <a:srgbClr val="1F2A44"/>
          </a:solidFill>
          <a:ln w="12700">
            <a:solidFill>
              <a:srgbClr val="1F2A44"/>
            </a:solidFill>
            <a:prstDash val="solid"/>
          </a:ln>
        </p:spPr>
      </p:sp>
      <p:pic>
        <p:nvPicPr>
          <p:cNvPr id="27"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4450385"/>
            <a:ext cx="380390" cy="380390"/>
          </a:xfrm>
          <a:prstGeom prst="rect">
            <a:avLst/>
          </a:prstGeom>
        </p:spPr>
      </p:pic>
      <p:sp>
        <p:nvSpPr>
          <p:cNvPr id="28" name="Root text"/>
          <p:cNvSpPr txBox="1"/>
          <p:nvPr/>
        </p:nvSpPr>
        <p:spPr>
          <a:xfrm>
            <a:off x="1737360" y="4160520"/>
            <a:ext cx="9738360" cy="960120"/>
          </a:xfrm>
          <a:prstGeom prst="rect">
            <a:avLst/>
          </a:prstGeom>
          <a:noFill/>
          <a:ln/>
        </p:spPr>
        <p:txBody>
          <a:bodyPr wrap="square" lIns="0" tIns="0" rIns="0" bIns="0" rtlCol="0" anchor="ctr"/>
          <a:lstStyle/>
          <a:p>
            <a:pPr marL="0" indent="0">
              <a:buNone/>
            </a:pPr>
            <a:r>
              <a:rPr lang="en-US" sz="1650" b="1" dirty="0">
                <a:solidFill>
                  <a:srgbClr val="1F2A44"/>
                </a:solidFill>
              </a:rPr>
              <a:t>One root decision: </a:t>
            </a:r>
            <a:r>
              <a:rPr lang="en-US" sz="1650" dirty="0">
                <a:solidFill>
                  <a:schemeClr val="tx2"/>
                </a:solidFill>
              </a:rPr>
              <a:t>for an established AD CS hierarchy, BYOCA — a Cloud PKI issuing CA signed by the offline root at a key ceremony. It keeps the chain every relying party already trusts, and makes the root's CRL a production dependency.</a:t>
            </a:r>
            <a:endParaRPr lang="en-US" sz="1650" dirty="0"/>
          </a:p>
        </p:txBody>
      </p:sp>
      <p:sp>
        <p:nvSpPr>
          <p:cNvPr id="29" name="Licensing"/>
          <p:cNvSpPr txBox="1"/>
          <p:nvPr/>
        </p:nvSpPr>
        <p:spPr>
          <a:xfrm>
            <a:off x="548640" y="5303520"/>
            <a:ext cx="11109960" cy="685800"/>
          </a:xfrm>
          <a:prstGeom prst="rect">
            <a:avLst/>
          </a:prstGeom>
          <a:noFill/>
          <a:ln/>
        </p:spPr>
        <p:txBody>
          <a:bodyPr wrap="square" lIns="0" tIns="0" rIns="0" bIns="0" rtlCol="0" anchor="t"/>
          <a:lstStyle/>
          <a:p>
            <a:pPr marL="0" indent="0">
              <a:buNone/>
            </a:pPr>
            <a:r>
              <a:rPr lang="en-US" sz="1350" b="1" dirty="0">
                <a:solidFill>
                  <a:srgbClr val="B45309"/>
                </a:solidFill>
              </a:rPr>
              <a:t>Entitlement: </a:t>
            </a:r>
            <a:r>
              <a:rPr lang="en-US" sz="1350" dirty="0">
                <a:solidFill>
                  <a:schemeClr val="tx2"/>
                </a:solidFill>
              </a:rPr>
              <a:t>Cloud PKI needs a subscription on top of Intune Plan 1 or 2. From July 2026, E5 and E7 include it for commercial customers; government plans are to follow, so confirm it. GCC High since the week of September 28, 2026; not DoD.</a:t>
            </a:r>
            <a:endParaRPr lang="en-US" sz="1350" dirty="0"/>
          </a:p>
        </p:txBody>
      </p:sp>
      <p:sp>
        <p:nvSpPr>
          <p:cNvPr id="3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Cloud PKI overview, fundamentals, deployment models and BYOCA; GSA Federal PKI 101; FIPS 201-3. Book 07, Chapter 04.</a:t>
            </a:r>
            <a:endParaRPr lang="en-US" sz="10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32" name="Narration" descr="Narration for this slide; captions available">
            <a:hlinkClick r:id="" action="ppaction://media"/>
            <a:extLst>
              <a:ext uri="{FF2B5EF4-FFF2-40B4-BE49-F238E27FC236}">
                <a16:creationId xmlns:a16="http://schemas.microsoft.com/office/drawing/2014/main" id="{06F3E5B8-C89D-CD37-C8D9-CFF08198095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E9DAEA5-0CD7-4641-BC24-E772546ED1F0}"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0800"/>
    </mc:Choice>
    <mc:Fallback>
      <p:transition spd="slow" advTm="80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9800" fill="hold"/>
                                        <p:tgtEl>
                                          <p:spTgt spid="3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lifecycle platform: CyberArk Certificate Manager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41148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Issuer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Who manages the lifecycle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03504">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Cloud PKI</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Intune issues, renews and revokes; the CLM platform reads it for reporting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3504">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Retained AD CS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CLM platform requests, renews and tracks server certificates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03504">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Public CAs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CLM platform, with ACME where the endpoint supports it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3504">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Federal PKI (PIV)</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card management system and the credentialing office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Vendor box">
            <a:extLst>
              <a:ext uri="{C183D7F6-B498-43B3-948B-1728B52AA6E4}">
                <adec:decorative xmlns:adec="http://schemas.microsoft.com/office/drawing/2017/decorative" val="1"/>
              </a:ext>
            </a:extLst>
          </p:cNvPr>
          <p:cNvSpPr/>
          <p:nvPr/>
        </p:nvSpPr>
        <p:spPr>
          <a:xfrm>
            <a:off x="7452360" y="1417320"/>
            <a:ext cx="420624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ArrowsRotate">
            <a:extLst>
              <a:ext uri="{C183D7F6-B498-43B3-948B-1728B52AA6E4}">
                <adec:decorative xmlns:adec="http://schemas.microsoft.com/office/drawing/2017/decorative" val="1"/>
              </a:ext>
            </a:extLst>
          </p:cNvPr>
          <p:cNvSpPr/>
          <p:nvPr/>
        </p:nvSpPr>
        <p:spPr>
          <a:xfrm>
            <a:off x="7680960" y="1600200"/>
            <a:ext cx="566928" cy="566928"/>
          </a:xfrm>
          <a:prstGeom prst="ellipse">
            <a:avLst/>
          </a:prstGeom>
          <a:solidFill>
            <a:srgbClr val="1F2A44"/>
          </a:solidFill>
          <a:ln w="12700">
            <a:solidFill>
              <a:srgbClr val="1F2A44"/>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817023" y="1736263"/>
            <a:ext cx="294803" cy="294803"/>
          </a:xfrm>
          <a:prstGeom prst="rect">
            <a:avLst/>
          </a:prstGeom>
        </p:spPr>
      </p:pic>
      <p:sp>
        <p:nvSpPr>
          <p:cNvPr id="9" name="Vendor head"/>
          <p:cNvSpPr txBox="1"/>
          <p:nvPr/>
        </p:nvSpPr>
        <p:spPr>
          <a:xfrm>
            <a:off x="8412480" y="1600200"/>
            <a:ext cx="3108960" cy="566928"/>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The product today</a:t>
            </a:r>
            <a:endParaRPr lang="en-US" sz="1800" dirty="0"/>
          </a:p>
        </p:txBody>
      </p:sp>
      <p:sp>
        <p:nvSpPr>
          <p:cNvPr id="10" name="Vendor list"/>
          <p:cNvSpPr txBox="1"/>
          <p:nvPr/>
        </p:nvSpPr>
        <p:spPr>
          <a:xfrm>
            <a:off x="7680960" y="2286000"/>
            <a:ext cx="3794760" cy="22860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Venafi joined CyberArk on October 1, 2024</a:t>
            </a:r>
            <a:endParaRPr lang="en-US" sz="1400" dirty="0"/>
          </a:p>
          <a:p>
            <a:pPr marL="342900" indent="-342900">
              <a:spcAft>
                <a:spcPts val="500"/>
              </a:spcAft>
              <a:buSzPct val="100000"/>
              <a:buChar char="•"/>
            </a:pPr>
            <a:r>
              <a:rPr lang="en-US" sz="1350" dirty="0">
                <a:solidFill>
                  <a:schemeClr val="tx2"/>
                </a:solidFill>
              </a:rPr>
              <a:t>Palo Alto Networks completed its CyberArk acquisition on February 11, 2026</a:t>
            </a:r>
            <a:endParaRPr lang="en-US" sz="1400" dirty="0"/>
          </a:p>
          <a:p>
            <a:pPr marL="342900" indent="-342900">
              <a:spcAft>
                <a:spcPts val="500"/>
              </a:spcAft>
              <a:buSzPct val="100000"/>
              <a:buChar char="•"/>
            </a:pPr>
            <a:r>
              <a:rPr lang="en-US" sz="1350" dirty="0">
                <a:solidFill>
                  <a:schemeClr val="tx2"/>
                </a:solidFill>
              </a:rPr>
              <a:t>SaaS edition now sold as Next-Generation Trust Security</a:t>
            </a:r>
            <a:endParaRPr lang="en-US" sz="1400" dirty="0"/>
          </a:p>
          <a:p>
            <a:pPr marL="342900" indent="-342900">
              <a:spcAft>
                <a:spcPts val="500"/>
              </a:spcAft>
              <a:buSzPct val="100000"/>
              <a:buChar char="•"/>
            </a:pPr>
            <a:r>
              <a:rPr lang="en-US" sz="1350" dirty="0">
                <a:solidFill>
                  <a:schemeClr val="tx2"/>
                </a:solidFill>
              </a:rPr>
              <a:t>No FedRAMP listing for it: deploy Certificate Manager, Self-Hosted in the boundary</a:t>
            </a:r>
            <a:endParaRPr lang="en-US" sz="1400" dirty="0"/>
          </a:p>
        </p:txBody>
      </p:sp>
      <p:sp>
        <p:nvSpPr>
          <p:cNvPr id="11" name="Consolidat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Icon FaUserShield">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Consolidat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0F766E"/>
                </a:solidFill>
              </a:rPr>
              <a:t>Consolidate, don't add: </a:t>
            </a:r>
            <a:r>
              <a:rPr lang="en-US" sz="1650" dirty="0">
                <a:solidFill>
                  <a:schemeClr val="tx2"/>
                </a:solidFill>
              </a:rPr>
              <a:t>the program already has a CyberArk relationship, so lifecycle lands on one platform, with no second CLM vendor. Its CA account holds Issue and Manage Certificates, so scope and review it as a certificate manager.</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CyberArk Certificate Manager Self-Hosted docs; Palo Alto Networks; Thoma Bravo; FedRAMP Marketplace dataset. Book 07, Chapters 01 and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4CBC1E18-957C-69ED-2154-3ACA63494A4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2CFFB95-49FD-44DD-813D-E7E6F2C2DA40}"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2210"/>
    </mc:Choice>
    <mc:Fallback>
      <p:transition spd="slow" advTm="722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120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decides, who does the work for certificates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uildingColumns">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Who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900" b="1" dirty="0">
                <a:solidFill>
                  <a:srgbClr val="1F2A44"/>
                </a:solidFill>
                <a:latin typeface="Cambria" pitchFamily="34" charset="0"/>
                <a:ea typeface="Cambria" pitchFamily="34" charset="-122"/>
                <a:cs typeface="Cambria" pitchFamily="34" charset="-120"/>
              </a:rPr>
              <a:t>Decide</a:t>
            </a:r>
            <a:endParaRPr lang="en-US" sz="1900" dirty="0"/>
          </a:p>
        </p:txBody>
      </p:sp>
      <p:sp>
        <p:nvSpPr>
          <p:cNvPr id="9" name="Who text 1"/>
          <p:cNvSpPr txBox="1"/>
          <p:nvPr/>
        </p:nvSpPr>
        <p:spPr>
          <a:xfrm>
            <a:off x="777240" y="2286000"/>
            <a:ext cx="3200400" cy="2286000"/>
          </a:xfrm>
          <a:prstGeom prst="rect">
            <a:avLst/>
          </a:prstGeom>
          <a:noFill/>
          <a:ln/>
        </p:spPr>
        <p:txBody>
          <a:bodyPr wrap="square" lIns="0" tIns="0" rIns="0" bIns="0" rtlCol="0" anchor="t"/>
          <a:lstStyle/>
          <a:p>
            <a:pPr marL="0" indent="0">
              <a:spcAft>
                <a:spcPts val="600"/>
              </a:spcAft>
              <a:buNone/>
            </a:pPr>
            <a:r>
              <a:rPr lang="en-US" sz="1400" b="1" dirty="0">
                <a:solidFill>
                  <a:srgbClr val="1F2A44"/>
                </a:solidFill>
              </a:rPr>
              <a:t>Sponsor and CIO</a:t>
            </a:r>
            <a:endParaRPr lang="en-US" sz="1400" dirty="0"/>
          </a:p>
          <a:p>
            <a:pPr marL="0" indent="0">
              <a:spcAft>
                <a:spcPts val="600"/>
              </a:spcAft>
              <a:buNone/>
            </a:pPr>
            <a:r>
              <a:rPr lang="en-US" sz="1400" dirty="0">
                <a:solidFill>
                  <a:schemeClr val="tx2"/>
                </a:solidFill>
              </a:rPr>
              <a:t>Target hierarchy, AD CS retirement, renewal owners</a:t>
            </a:r>
            <a:endParaRPr lang="en-US" sz="1400" dirty="0"/>
          </a:p>
          <a:p>
            <a:pPr marL="0" indent="0">
              <a:spcAft>
                <a:spcPts val="600"/>
              </a:spcAft>
              <a:buNone/>
            </a:pPr>
            <a:r>
              <a:rPr lang="en-US" sz="1400" b="1" dirty="0">
                <a:solidFill>
                  <a:srgbClr val="1F2A44"/>
                </a:solidFill>
              </a:rPr>
              <a:t>CISO and ISSO</a:t>
            </a:r>
            <a:endParaRPr lang="en-US" sz="1400" dirty="0"/>
          </a:p>
          <a:p>
            <a:pPr marL="0" indent="0">
              <a:spcAft>
                <a:spcPts val="600"/>
              </a:spcAft>
              <a:buNone/>
            </a:pPr>
            <a:r>
              <a:rPr lang="en-US" sz="1400" dirty="0">
                <a:solidFill>
                  <a:schemeClr val="tx2"/>
                </a:solidFill>
              </a:rPr>
              <a:t>Issuance policy, trust anchors, binding strength</a:t>
            </a:r>
            <a:endParaRPr lang="en-US" sz="1400" dirty="0"/>
          </a:p>
          <a:p>
            <a:pPr marL="0" indent="0">
              <a:spcAft>
                <a:spcPts val="600"/>
              </a:spcAft>
              <a:buNone/>
            </a:pPr>
            <a:r>
              <a:rPr lang="en-US" sz="1400" b="1" dirty="0">
                <a:solidFill>
                  <a:srgbClr val="1F2A44"/>
                </a:solidFill>
              </a:rPr>
              <a:t>Authorizing official</a:t>
            </a:r>
            <a:endParaRPr lang="en-US" sz="1400" dirty="0"/>
          </a:p>
          <a:p>
            <a:pPr marL="0" indent="0">
              <a:spcAft>
                <a:spcPts val="600"/>
              </a:spcAft>
              <a:buNone/>
            </a:pPr>
            <a:r>
              <a:rPr lang="en-US" sz="1400" dirty="0">
                <a:solidFill>
                  <a:schemeClr val="tx2"/>
                </a:solidFill>
              </a:rPr>
              <a:t>Standing exceptions, low-affinity bindings</a:t>
            </a:r>
            <a:endParaRPr lang="en-US" sz="1400" dirty="0"/>
          </a:p>
        </p:txBody>
      </p:sp>
      <p:sp>
        <p:nvSpPr>
          <p:cNvPr id="10" name="Who col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UsersGea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Who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900" b="1" dirty="0">
                <a:solidFill>
                  <a:srgbClr val="0F766E"/>
                </a:solidFill>
                <a:latin typeface="Cambria" pitchFamily="34" charset="0"/>
                <a:ea typeface="Cambria" pitchFamily="34" charset="-122"/>
                <a:cs typeface="Cambria" pitchFamily="34" charset="-120"/>
              </a:rPr>
              <a:t>Do</a:t>
            </a:r>
            <a:endParaRPr lang="en-US" sz="1900" dirty="0"/>
          </a:p>
        </p:txBody>
      </p:sp>
      <p:sp>
        <p:nvSpPr>
          <p:cNvPr id="14" name="Who text 2"/>
          <p:cNvSpPr txBox="1"/>
          <p:nvPr/>
        </p:nvSpPr>
        <p:spPr>
          <a:xfrm>
            <a:off x="4526280" y="2286000"/>
            <a:ext cx="3200400" cy="2286000"/>
          </a:xfrm>
          <a:prstGeom prst="rect">
            <a:avLst/>
          </a:prstGeom>
          <a:noFill/>
          <a:ln/>
        </p:spPr>
        <p:txBody>
          <a:bodyPr wrap="square" lIns="0" tIns="0" rIns="0" bIns="0" rtlCol="0" anchor="t"/>
          <a:lstStyle/>
          <a:p>
            <a:pPr marL="0" indent="0">
              <a:spcAft>
                <a:spcPts val="600"/>
              </a:spcAft>
              <a:buNone/>
            </a:pPr>
            <a:r>
              <a:rPr lang="en-US" sz="1400" b="1" dirty="0">
                <a:solidFill>
                  <a:srgbClr val="0F766E"/>
                </a:solidFill>
              </a:rPr>
              <a:t>PKI and CA administrators</a:t>
            </a:r>
            <a:endParaRPr lang="en-US" sz="1400" dirty="0"/>
          </a:p>
          <a:p>
            <a:pPr marL="0" indent="0">
              <a:spcAft>
                <a:spcPts val="600"/>
              </a:spcAft>
              <a:buNone/>
            </a:pPr>
            <a:r>
              <a:rPr lang="en-US" sz="1400" dirty="0">
                <a:solidFill>
                  <a:schemeClr val="tx2"/>
                </a:solidFill>
              </a:rPr>
              <a:t>CAs, templates, CRLs, key ceremonies</a:t>
            </a:r>
            <a:endParaRPr lang="en-US" sz="1400" dirty="0"/>
          </a:p>
          <a:p>
            <a:pPr marL="0" indent="0">
              <a:spcAft>
                <a:spcPts val="600"/>
              </a:spcAft>
              <a:buNone/>
            </a:pPr>
            <a:r>
              <a:rPr lang="en-US" sz="1400" b="1" dirty="0">
                <a:solidFill>
                  <a:srgbClr val="0F766E"/>
                </a:solidFill>
              </a:rPr>
              <a:t>Identity and endpoint teams</a:t>
            </a:r>
            <a:endParaRPr lang="en-US" sz="1400" dirty="0"/>
          </a:p>
          <a:p>
            <a:pPr marL="0" indent="0">
              <a:spcAft>
                <a:spcPts val="600"/>
              </a:spcAft>
              <a:buNone/>
            </a:pPr>
            <a:r>
              <a:rPr lang="en-US" sz="1400" dirty="0">
                <a:solidFill>
                  <a:schemeClr val="tx2"/>
                </a:solidFill>
              </a:rPr>
              <a:t>Entra trust store and bindings; Intune profiles</a:t>
            </a:r>
            <a:endParaRPr lang="en-US" sz="1400" dirty="0"/>
          </a:p>
          <a:p>
            <a:pPr marL="0" indent="0">
              <a:spcAft>
                <a:spcPts val="600"/>
              </a:spcAft>
              <a:buNone/>
            </a:pPr>
            <a:r>
              <a:rPr lang="en-US" sz="1400" b="1" dirty="0">
                <a:solidFill>
                  <a:srgbClr val="0F766E"/>
                </a:solidFill>
              </a:rPr>
              <a:t>CLM platform owner</a:t>
            </a:r>
            <a:endParaRPr lang="en-US" sz="1400" dirty="0"/>
          </a:p>
          <a:p>
            <a:pPr marL="0" indent="0">
              <a:spcAft>
                <a:spcPts val="600"/>
              </a:spcAft>
              <a:buNone/>
            </a:pPr>
            <a:r>
              <a:rPr lang="en-US" sz="1400" dirty="0">
                <a:solidFill>
                  <a:schemeClr val="tx2"/>
                </a:solidFill>
              </a:rPr>
              <a:t>Discovery; server and public TLS renewal</a:t>
            </a:r>
            <a:endParaRPr lang="en-US" sz="1400" dirty="0"/>
          </a:p>
        </p:txBody>
      </p:sp>
      <p:sp>
        <p:nvSpPr>
          <p:cNvPr id="15" name="Who col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PeopleArrows">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Who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900" b="1" dirty="0">
                <a:solidFill>
                  <a:srgbClr val="B45309"/>
                </a:solidFill>
                <a:latin typeface="Cambria" pitchFamily="34" charset="0"/>
                <a:ea typeface="Cambria" pitchFamily="34" charset="-122"/>
                <a:cs typeface="Cambria" pitchFamily="34" charset="-120"/>
              </a:rPr>
              <a:t>Consulted</a:t>
            </a:r>
            <a:endParaRPr lang="en-US" sz="1900" dirty="0"/>
          </a:p>
        </p:txBody>
      </p:sp>
      <p:sp>
        <p:nvSpPr>
          <p:cNvPr id="19" name="Who text 3"/>
          <p:cNvSpPr txBox="1"/>
          <p:nvPr/>
        </p:nvSpPr>
        <p:spPr>
          <a:xfrm>
            <a:off x="8275320" y="2286000"/>
            <a:ext cx="3200400" cy="2286000"/>
          </a:xfrm>
          <a:prstGeom prst="rect">
            <a:avLst/>
          </a:prstGeom>
          <a:noFill/>
          <a:ln/>
        </p:spPr>
        <p:txBody>
          <a:bodyPr wrap="square" lIns="0" tIns="0" rIns="0" bIns="0" rtlCol="0" anchor="t"/>
          <a:lstStyle/>
          <a:p>
            <a:pPr marL="0" indent="0">
              <a:spcAft>
                <a:spcPts val="600"/>
              </a:spcAft>
              <a:buNone/>
            </a:pPr>
            <a:r>
              <a:rPr lang="en-US" sz="1400" b="1" dirty="0">
                <a:solidFill>
                  <a:srgbClr val="B45309"/>
                </a:solidFill>
              </a:rPr>
              <a:t>Server, network and app owners</a:t>
            </a:r>
            <a:endParaRPr lang="en-US" sz="1400" dirty="0"/>
          </a:p>
          <a:p>
            <a:pPr marL="0" indent="0">
              <a:spcAft>
                <a:spcPts val="600"/>
              </a:spcAft>
              <a:buNone/>
            </a:pPr>
            <a:r>
              <a:rPr lang="en-US" sz="1400" dirty="0">
                <a:solidFill>
                  <a:schemeClr val="tx2"/>
                </a:solidFill>
              </a:rPr>
              <a:t>Server TLS, RADIUS, code signing</a:t>
            </a:r>
            <a:endParaRPr lang="en-US" sz="1400" dirty="0"/>
          </a:p>
          <a:p>
            <a:pPr marL="0" indent="0">
              <a:spcAft>
                <a:spcPts val="600"/>
              </a:spcAft>
              <a:buNone/>
            </a:pPr>
            <a:r>
              <a:rPr lang="en-US" sz="1400" b="1" dirty="0">
                <a:solidFill>
                  <a:srgbClr val="B45309"/>
                </a:solidFill>
              </a:rPr>
              <a:t>PIV and credentialing office</a:t>
            </a:r>
            <a:endParaRPr lang="en-US" sz="1400" dirty="0"/>
          </a:p>
          <a:p>
            <a:pPr marL="0" indent="0">
              <a:spcAft>
                <a:spcPts val="600"/>
              </a:spcAft>
              <a:buNone/>
            </a:pPr>
            <a:r>
              <a:rPr lang="en-US" sz="1400" dirty="0">
                <a:solidFill>
                  <a:schemeClr val="tx2"/>
                </a:solidFill>
              </a:rPr>
              <a:t>Every CBA binding for PIV</a:t>
            </a:r>
            <a:endParaRPr lang="en-US" sz="1400" dirty="0"/>
          </a:p>
          <a:p>
            <a:pPr marL="0" indent="0">
              <a:spcAft>
                <a:spcPts val="600"/>
              </a:spcAft>
              <a:buNone/>
            </a:pPr>
            <a:r>
              <a:rPr lang="en-US" sz="1400" b="1" dirty="0">
                <a:solidFill>
                  <a:srgbClr val="B45309"/>
                </a:solidFill>
              </a:rPr>
              <a:t>Security operations</a:t>
            </a:r>
            <a:endParaRPr lang="en-US" sz="1400" dirty="0"/>
          </a:p>
          <a:p>
            <a:pPr marL="0" indent="0">
              <a:spcAft>
                <a:spcPts val="600"/>
              </a:spcAft>
              <a:buNone/>
            </a:pPr>
            <a:r>
              <a:rPr lang="en-US" sz="1400" dirty="0">
                <a:solidFill>
                  <a:schemeClr val="tx2"/>
                </a:solidFill>
              </a:rPr>
              <a:t>Audit events, posture findings, drift</a:t>
            </a:r>
            <a:endParaRPr lang="en-US" sz="1400" dirty="0"/>
          </a:p>
        </p:txBody>
      </p:sp>
      <p:sp>
        <p:nvSpPr>
          <p:cNvPr id="20" name="Separat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1" name="Icon FaScaleBalanced">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Separat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Separation of duties: </a:t>
            </a:r>
            <a:r>
              <a:rPr lang="en-US" sz="1650" dirty="0">
                <a:solidFill>
                  <a:schemeClr val="tx2"/>
                </a:solidFill>
              </a:rPr>
              <a:t>whoever can change a CA never alone decides what it issues. CA administrator, certificate manager, enrollment agent, auditor and backup custodian are separate named groups, and one renewal owner answers for each certificate class.</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secure, delegate and audit CA administration; certificateUserIds roles; NIST SP 800-37 Rev. 2, SP 800-53 SC-17. Book 07,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BB5D543C-EFEE-B906-024A-08E2B54B41C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1AB4D13-C357-4DB1-9819-11512283B0A9}"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2180"/>
    </mc:Choice>
    <mc:Fallback>
      <p:transition spd="slow" advTm="72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1184"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Intune delivers the certificate, strongly mapped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Icon FaCloud">
            <a:extLst>
              <a:ext uri="{C183D7F6-B498-43B3-948B-1728B52AA6E4}">
                <adec:decorative xmlns:adec="http://schemas.microsoft.com/office/drawing/2017/decorative" val="1"/>
              </a:ext>
            </a:extLst>
          </p:cNvPr>
          <p:cNvSpPr/>
          <p:nvPr/>
        </p:nvSpPr>
        <p:spPr>
          <a:xfrm>
            <a:off x="548640" y="1508760"/>
            <a:ext cx="566928" cy="566928"/>
          </a:xfrm>
          <a:prstGeom prst="ellipse">
            <a:avLst/>
          </a:prstGeom>
          <a:solidFill>
            <a:srgbClr val="0F766E"/>
          </a:solidFill>
          <a:ln w="12700">
            <a:solidFill>
              <a:srgbClr val="0F766E"/>
            </a:solidFill>
            <a:prstDash val="solid"/>
          </a:ln>
        </p:spPr>
      </p:sp>
      <p:pic>
        <p:nvPicPr>
          <p:cNvPr id="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4703" y="1644823"/>
            <a:ext cx="294803" cy="294803"/>
          </a:xfrm>
          <a:prstGeom prst="rect">
            <a:avLst/>
          </a:prstGeom>
        </p:spPr>
      </p:pic>
      <p:sp>
        <p:nvSpPr>
          <p:cNvPr id="7" name="Path 0"/>
          <p:cNvSpPr txBox="1"/>
          <p:nvPr/>
        </p:nvSpPr>
        <p:spPr>
          <a:xfrm>
            <a:off x="1280160" y="1463040"/>
            <a:ext cx="5120640" cy="932688"/>
          </a:xfrm>
          <a:prstGeom prst="rect">
            <a:avLst/>
          </a:prstGeom>
          <a:noFill/>
          <a:ln/>
        </p:spPr>
        <p:txBody>
          <a:bodyPr wrap="square" lIns="0" tIns="0" rIns="0" bIns="0" rtlCol="0" anchor="t"/>
          <a:lstStyle/>
          <a:p>
            <a:pPr marL="0" indent="0">
              <a:buNone/>
            </a:pPr>
            <a:r>
              <a:rPr lang="en-US" sz="1650" b="1" dirty="0">
                <a:solidFill>
                  <a:srgbClr val="0F766E"/>
                </a:solidFill>
              </a:rPr>
              <a:t>SCEP from Cloud PKI</a:t>
            </a:r>
            <a:endParaRPr lang="en-US" sz="1400" dirty="0"/>
          </a:p>
          <a:p>
            <a:pPr marL="0" indent="0">
              <a:buNone/>
            </a:pPr>
            <a:r>
              <a:rPr lang="en-US" sz="1400" dirty="0">
                <a:solidFill>
                  <a:schemeClr val="tx2"/>
                </a:solidFill>
              </a:rPr>
              <a:t>Key made on the device; no NDES, connector or on-premises CA</a:t>
            </a:r>
            <a:endParaRPr lang="en-US" sz="1400" dirty="0"/>
          </a:p>
        </p:txBody>
      </p:sp>
      <p:sp>
        <p:nvSpPr>
          <p:cNvPr id="8" name="Icon FaServer">
            <a:extLst>
              <a:ext uri="{C183D7F6-B498-43B3-948B-1728B52AA6E4}">
                <adec:decorative xmlns:adec="http://schemas.microsoft.com/office/drawing/2017/decorative" val="1"/>
              </a:ext>
            </a:extLst>
          </p:cNvPr>
          <p:cNvSpPr/>
          <p:nvPr/>
        </p:nvSpPr>
        <p:spPr>
          <a:xfrm>
            <a:off x="548640" y="2532888"/>
            <a:ext cx="566928" cy="566928"/>
          </a:xfrm>
          <a:prstGeom prst="ellipse">
            <a:avLst/>
          </a:prstGeom>
          <a:solidFill>
            <a:srgbClr val="1F2A44"/>
          </a:solidFill>
          <a:ln w="12700">
            <a:solidFill>
              <a:srgbClr val="1F2A44"/>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4703" y="2668951"/>
            <a:ext cx="294803" cy="294803"/>
          </a:xfrm>
          <a:prstGeom prst="rect">
            <a:avLst/>
          </a:prstGeom>
        </p:spPr>
      </p:pic>
      <p:sp>
        <p:nvSpPr>
          <p:cNvPr id="10" name="Path 1"/>
          <p:cNvSpPr txBox="1"/>
          <p:nvPr/>
        </p:nvSpPr>
        <p:spPr>
          <a:xfrm>
            <a:off x="1280160" y="2487168"/>
            <a:ext cx="5120640" cy="932688"/>
          </a:xfrm>
          <a:prstGeom prst="rect">
            <a:avLst/>
          </a:prstGeom>
          <a:noFill/>
          <a:ln/>
        </p:spPr>
        <p:txBody>
          <a:bodyPr wrap="square" lIns="0" tIns="0" rIns="0" bIns="0" rtlCol="0" anchor="t"/>
          <a:lstStyle/>
          <a:p>
            <a:pPr marL="0" indent="0">
              <a:buNone/>
            </a:pPr>
            <a:r>
              <a:rPr lang="en-US" sz="1650" b="1" dirty="0">
                <a:solidFill>
                  <a:srgbClr val="1F2A44"/>
                </a:solidFill>
              </a:rPr>
              <a:t>SCEP from AD CS</a:t>
            </a:r>
            <a:endParaRPr lang="en-US" sz="1400" dirty="0"/>
          </a:p>
          <a:p>
            <a:pPr marL="0" indent="0">
              <a:buNone/>
            </a:pPr>
            <a:r>
              <a:rPr lang="en-US" sz="1400" dirty="0">
                <a:solidFill>
                  <a:schemeClr val="tx2"/>
                </a:solidFill>
              </a:rPr>
              <a:t>Through NDES and the Certificate Connector; template Enroll limited to NDES</a:t>
            </a:r>
            <a:endParaRPr lang="en-US" sz="1400" dirty="0"/>
          </a:p>
        </p:txBody>
      </p:sp>
      <p:sp>
        <p:nvSpPr>
          <p:cNvPr id="11" name="Icon FaKey">
            <a:extLst>
              <a:ext uri="{C183D7F6-B498-43B3-948B-1728B52AA6E4}">
                <adec:decorative xmlns:adec="http://schemas.microsoft.com/office/drawing/2017/decorative" val="1"/>
              </a:ext>
            </a:extLst>
          </p:cNvPr>
          <p:cNvSpPr/>
          <p:nvPr/>
        </p:nvSpPr>
        <p:spPr>
          <a:xfrm>
            <a:off x="548640" y="3557016"/>
            <a:ext cx="566928" cy="566928"/>
          </a:xfrm>
          <a:prstGeom prst="ellipse">
            <a:avLst/>
          </a:prstGeom>
          <a:solidFill>
            <a:srgbClr val="B45309"/>
          </a:solidFill>
          <a:ln w="12700">
            <a:solidFill>
              <a:srgbClr val="B45309"/>
            </a:solidFill>
            <a:prstDash val="solid"/>
          </a:ln>
        </p:spPr>
      </p:sp>
      <p:pic>
        <p:nvPicPr>
          <p:cNvPr id="12"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84703" y="3693079"/>
            <a:ext cx="294803" cy="294803"/>
          </a:xfrm>
          <a:prstGeom prst="rect">
            <a:avLst/>
          </a:prstGeom>
        </p:spPr>
      </p:pic>
      <p:sp>
        <p:nvSpPr>
          <p:cNvPr id="13" name="Path 2"/>
          <p:cNvSpPr txBox="1"/>
          <p:nvPr/>
        </p:nvSpPr>
        <p:spPr>
          <a:xfrm>
            <a:off x="1280160" y="3511296"/>
            <a:ext cx="5120640" cy="932688"/>
          </a:xfrm>
          <a:prstGeom prst="rect">
            <a:avLst/>
          </a:prstGeom>
          <a:noFill/>
          <a:ln/>
        </p:spPr>
        <p:txBody>
          <a:bodyPr wrap="square" lIns="0" tIns="0" rIns="0" bIns="0" rtlCol="0" anchor="t"/>
          <a:lstStyle/>
          <a:p>
            <a:pPr marL="0" indent="0">
              <a:buNone/>
            </a:pPr>
            <a:r>
              <a:rPr lang="en-US" sz="1650" b="1" dirty="0">
                <a:solidFill>
                  <a:srgbClr val="B45309"/>
                </a:solidFill>
              </a:rPr>
              <a:t>PKCS from AD CS</a:t>
            </a:r>
            <a:endParaRPr lang="en-US" sz="1400" dirty="0"/>
          </a:p>
          <a:p>
            <a:pPr marL="0" indent="0">
              <a:buNone/>
            </a:pPr>
            <a:r>
              <a:rPr lang="en-US" sz="1400" dirty="0">
                <a:solidFill>
                  <a:schemeClr val="tx2"/>
                </a:solidFill>
              </a:rPr>
              <a:t>Key made on the connector server and exported, so SCEP is preferred</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583680" y="1463040"/>
          <a:ext cx="9144000" cy="91440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tblGrid>
              <a:tr h="38404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KB5014754</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Strong-mapping step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48640">
                <a:tc>
                  <a:txBody>
                    <a:bodyPr/>
                    <a:lstStyle/>
                    <a:p>
                      <a:pPr marL="0" indent="0">
                        <a:buNone/>
                      </a:pPr>
                      <a:r>
                        <a:rPr lang="en-US" sz="1400" b="1" dirty="0">
                          <a:solidFill>
                            <a:srgbClr val="B45309"/>
                          </a:solidFill>
                          <a:latin typeface="Calibri" pitchFamily="34" charset="0"/>
                          <a:ea typeface="Calibri" pitchFamily="34" charset="-122"/>
                          <a:cs typeface="Calibri" pitchFamily="34" charset="-120"/>
                        </a:rPr>
                        <a:t>May 10, 2022</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Compatibility mode; weak mappings warned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400" b="1" dirty="0">
                          <a:solidFill>
                            <a:srgbClr val="B45309"/>
                          </a:solidFill>
                          <a:latin typeface="Calibri" pitchFamily="34" charset="0"/>
                          <a:ea typeface="Calibri" pitchFamily="34" charset="-122"/>
                          <a:cs typeface="Calibri" pitchFamily="34" charset="-120"/>
                        </a:rPr>
                        <a:t>April 11, 2023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Disabled setting is ignored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400" b="1" dirty="0">
                          <a:solidFill>
                            <a:srgbClr val="B91C1C"/>
                          </a:solidFill>
                          <a:latin typeface="Calibri" pitchFamily="34" charset="0"/>
                          <a:ea typeface="Calibri" pitchFamily="34" charset="-122"/>
                          <a:cs typeface="Calibri" pitchFamily="34" charset="-120"/>
                        </a:rPr>
                        <a:t>February 11, 2025</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Full Enforcement by default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400" b="1" dirty="0">
                          <a:solidFill>
                            <a:srgbClr val="B91C1C"/>
                          </a:solidFill>
                          <a:latin typeface="Calibri" pitchFamily="34" charset="0"/>
                          <a:ea typeface="Calibri" pitchFamily="34" charset="-122"/>
                          <a:cs typeface="Calibri" pitchFamily="34" charset="-120"/>
                        </a:rPr>
                        <a:t>September 9, 2025</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Registry key ignored; no way back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5" name="Profiles">
            <a:extLst>
              <a:ext uri="{C183D7F6-B498-43B3-948B-1728B52AA6E4}">
                <adec:decorative xmlns:adec="http://schemas.microsoft.com/office/drawing/2017/decorative" val="1"/>
              </a:ext>
            </a:extLst>
          </p:cNvPr>
          <p:cNvSpPr/>
          <p:nvPr/>
        </p:nvSpPr>
        <p:spPr>
          <a:xfrm>
            <a:off x="548640" y="484632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6" name="Icon FaClipboardCheck">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45309"/>
          </a:solidFill>
          <a:ln w="12700">
            <a:solidFill>
              <a:srgbClr val="B45309"/>
            </a:solidFill>
            <a:prstDash val="solid"/>
          </a:ln>
        </p:spPr>
      </p:sp>
      <p:pic>
        <p:nvPicPr>
          <p:cNvPr id="17"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27625"/>
            <a:ext cx="380390" cy="380390"/>
          </a:xfrm>
          <a:prstGeom prst="rect">
            <a:avLst/>
          </a:prstGeom>
        </p:spPr>
      </p:pic>
      <p:sp>
        <p:nvSpPr>
          <p:cNvPr id="18" name="Profiles text"/>
          <p:cNvSpPr txBox="1"/>
          <p:nvPr/>
        </p:nvSpPr>
        <p:spPr>
          <a:xfrm>
            <a:off x="1737360" y="4892040"/>
            <a:ext cx="9738360" cy="1051560"/>
          </a:xfrm>
          <a:prstGeom prst="rect">
            <a:avLst/>
          </a:prstGeom>
          <a:noFill/>
          <a:ln/>
        </p:spPr>
        <p:txBody>
          <a:bodyPr wrap="square" lIns="0" tIns="0" rIns="0" bIns="0" rtlCol="0" anchor="ctr"/>
          <a:lstStyle/>
          <a:p>
            <a:pPr marL="0" indent="0">
              <a:buNone/>
            </a:pPr>
            <a:r>
              <a:rPr lang="en-US" sz="1650" b="1" dirty="0">
                <a:solidFill>
                  <a:srgbClr val="B45309"/>
                </a:solidFill>
              </a:rPr>
              <a:t>What profiles need: </a:t>
            </a:r>
            <a:r>
              <a:rPr lang="en-US" sz="1650" dirty="0">
                <a:solidFill>
                  <a:schemeClr val="tx2"/>
                </a:solidFill>
              </a:rPr>
              <a:t>the {{OnPremisesSecurityIdentifier}} SAN URI on SCEP profiles — user certificates on every platform, device certificates on hybrid-joined Windows. Pilot in a new profile: editing one revokes what it issued.</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Cloud PKI, SCEP infrastructure and profiles, PKCS profiles, removing profiles; Microsoft Support KB5014754. Book 07,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A526D7F9-EA1E-EA91-07BF-1C2E9040D6F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B8F405B-0BBB-4176-AB5A-35794E336C18}"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9530"/>
    </mc:Choice>
    <mc:Fallback>
      <p:transition spd="slow" advTm="795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8528"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Entra CBA validates certificates; it issues none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l 0">
            <a:extLst>
              <a:ext uri="{C183D7F6-B498-43B3-948B-1728B52AA6E4}">
                <adec:decorative xmlns:adec="http://schemas.microsoft.com/office/drawing/2017/decorative" val="1"/>
              </a:ext>
            </a:extLst>
          </p:cNvPr>
          <p:cNvSpPr/>
          <p:nvPr/>
        </p:nvSpPr>
        <p:spPr>
          <a:xfrm>
            <a:off x="548640" y="1417320"/>
            <a:ext cx="54864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ShieldHalved">
            <a:extLst>
              <a:ext uri="{C183D7F6-B498-43B3-948B-1728B52AA6E4}">
                <adec:decorative xmlns:adec="http://schemas.microsoft.com/office/drawing/2017/decorative" val="1"/>
              </a:ext>
            </a:extLst>
          </p:cNvPr>
          <p:cNvSpPr/>
          <p:nvPr/>
        </p:nvSpPr>
        <p:spPr>
          <a:xfrm>
            <a:off x="777240"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13303" y="1708831"/>
            <a:ext cx="294803" cy="294803"/>
          </a:xfrm>
          <a:prstGeom prst="rect">
            <a:avLst/>
          </a:prstGeom>
        </p:spPr>
      </p:pic>
      <p:sp>
        <p:nvSpPr>
          <p:cNvPr id="8" name="Col 0 head"/>
          <p:cNvSpPr txBox="1"/>
          <p:nvPr/>
        </p:nvSpPr>
        <p:spPr>
          <a:xfrm>
            <a:off x="1508760" y="1572768"/>
            <a:ext cx="4297680" cy="566928"/>
          </a:xfrm>
          <a:prstGeom prst="rect">
            <a:avLst/>
          </a:prstGeom>
          <a:noFill/>
          <a:ln/>
        </p:spPr>
        <p:txBody>
          <a:bodyPr wrap="square" lIns="0" tIns="0" rIns="0" bIns="0" rtlCol="0" anchor="ctr"/>
          <a:lstStyle/>
          <a:p>
            <a:pPr marL="0" indent="0">
              <a:buNone/>
            </a:pPr>
            <a:r>
              <a:rPr lang="en-US" sz="1900" b="1" dirty="0">
                <a:solidFill>
                  <a:srgbClr val="1F2A44"/>
                </a:solidFill>
                <a:latin typeface="Cambria" pitchFamily="34" charset="0"/>
                <a:ea typeface="Cambria" pitchFamily="34" charset="-122"/>
                <a:cs typeface="Cambria" pitchFamily="34" charset="-120"/>
              </a:rPr>
              <a:t>Trust and revocation</a:t>
            </a:r>
            <a:endParaRPr lang="en-US" sz="1900" dirty="0"/>
          </a:p>
        </p:txBody>
      </p:sp>
      <p:sp>
        <p:nvSpPr>
          <p:cNvPr id="9" name="Col 0 text"/>
          <p:cNvSpPr txBox="1"/>
          <p:nvPr/>
        </p:nvSpPr>
        <p:spPr>
          <a:xfrm>
            <a:off x="777240" y="2286000"/>
            <a:ext cx="5029200" cy="23774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2"/>
                </a:solidFill>
              </a:rPr>
              <a:t>Upload every CA in the chain to the PKI-based trust store</a:t>
            </a:r>
            <a:endParaRPr lang="en-US" sz="1400" dirty="0"/>
          </a:p>
          <a:p>
            <a:pPr marL="342900" indent="-342900">
              <a:spcAft>
                <a:spcPts val="700"/>
              </a:spcAft>
              <a:buSzPct val="100000"/>
              <a:buChar char="•"/>
            </a:pPr>
            <a:r>
              <a:rPr lang="en-US" sz="1400" dirty="0">
                <a:solidFill>
                  <a:schemeClr val="tx2"/>
                </a:solidFill>
              </a:rPr>
              <a:t>One HTTP CRL per CA, downloaded within 10 seconds or sign-in fails</a:t>
            </a:r>
            <a:endParaRPr lang="en-US" sz="1400" dirty="0"/>
          </a:p>
          <a:p>
            <a:pPr marL="342900" indent="-342900">
              <a:spcAft>
                <a:spcPts val="700"/>
              </a:spcAft>
              <a:buSzPct val="100000"/>
              <a:buChar char="•"/>
            </a:pPr>
            <a:r>
              <a:rPr lang="en-US" sz="1400" dirty="0">
                <a:solidFill>
                  <a:schemeClr val="tx2"/>
                </a:solidFill>
              </a:rPr>
              <a:t>No OCSP and no LDAP; 20 MB CRL limit in commercial and GCC</a:t>
            </a:r>
            <a:endParaRPr lang="en-US" sz="1400" dirty="0"/>
          </a:p>
          <a:p>
            <a:pPr marL="342900" indent="-342900">
              <a:spcAft>
                <a:spcPts val="700"/>
              </a:spcAft>
              <a:buSzPct val="100000"/>
              <a:buChar char="•"/>
            </a:pPr>
            <a:r>
              <a:rPr lang="en-US" sz="1400" dirty="0">
                <a:solidFill>
                  <a:schemeClr val="tx2"/>
                </a:solidFill>
              </a:rPr>
              <a:t>Require CRL validation: without a CRL, revoked certificates still work</a:t>
            </a:r>
            <a:endParaRPr lang="en-US" sz="1400" dirty="0"/>
          </a:p>
        </p:txBody>
      </p:sp>
      <p:sp>
        <p:nvSpPr>
          <p:cNvPr id="10" name="Col 1">
            <a:extLst>
              <a:ext uri="{C183D7F6-B498-43B3-948B-1728B52AA6E4}">
                <adec:decorative xmlns:adec="http://schemas.microsoft.com/office/drawing/2017/decorative" val="1"/>
              </a:ext>
            </a:extLst>
          </p:cNvPr>
          <p:cNvSpPr/>
          <p:nvPr/>
        </p:nvSpPr>
        <p:spPr>
          <a:xfrm>
            <a:off x="6144768" y="1417320"/>
            <a:ext cx="54864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Fingerprint">
            <a:extLst>
              <a:ext uri="{C183D7F6-B498-43B3-948B-1728B52AA6E4}">
                <adec:decorative xmlns:adec="http://schemas.microsoft.com/office/drawing/2017/decorative" val="1"/>
              </a:ext>
            </a:extLst>
          </p:cNvPr>
          <p:cNvSpPr/>
          <p:nvPr/>
        </p:nvSpPr>
        <p:spPr>
          <a:xfrm>
            <a:off x="6373368" y="1572768"/>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09431" y="1708831"/>
            <a:ext cx="294803" cy="294803"/>
          </a:xfrm>
          <a:prstGeom prst="rect">
            <a:avLst/>
          </a:prstGeom>
        </p:spPr>
      </p:pic>
      <p:sp>
        <p:nvSpPr>
          <p:cNvPr id="13" name="Col 1 head"/>
          <p:cNvSpPr txBox="1"/>
          <p:nvPr/>
        </p:nvSpPr>
        <p:spPr>
          <a:xfrm>
            <a:off x="7104888" y="1572768"/>
            <a:ext cx="4297680" cy="566928"/>
          </a:xfrm>
          <a:prstGeom prst="rect">
            <a:avLst/>
          </a:prstGeom>
          <a:noFill/>
          <a:ln/>
        </p:spPr>
        <p:txBody>
          <a:bodyPr wrap="square" lIns="0" tIns="0" rIns="0" bIns="0" rtlCol="0" anchor="ctr"/>
          <a:lstStyle/>
          <a:p>
            <a:pPr marL="0" indent="0">
              <a:buNone/>
            </a:pPr>
            <a:r>
              <a:rPr lang="en-US" sz="1900" b="1" dirty="0">
                <a:solidFill>
                  <a:srgbClr val="0F766E"/>
                </a:solidFill>
                <a:latin typeface="Cambria" pitchFamily="34" charset="0"/>
                <a:ea typeface="Cambria" pitchFamily="34" charset="-122"/>
                <a:cs typeface="Cambria" pitchFamily="34" charset="-120"/>
              </a:rPr>
              <a:t>Binding and factors</a:t>
            </a:r>
            <a:endParaRPr lang="en-US" sz="1900" dirty="0"/>
          </a:p>
        </p:txBody>
      </p:sp>
      <p:sp>
        <p:nvSpPr>
          <p:cNvPr id="14" name="Col 1 text"/>
          <p:cNvSpPr txBox="1"/>
          <p:nvPr/>
        </p:nvSpPr>
        <p:spPr>
          <a:xfrm>
            <a:off x="6373368" y="2286000"/>
            <a:ext cx="5029200" cy="23774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2"/>
                </a:solidFill>
              </a:rPr>
              <a:t>High affinity: IssuerAndSerialNumber, SKI, SHA1PublicKey</a:t>
            </a:r>
            <a:endParaRPr lang="en-US" sz="1400" dirty="0"/>
          </a:p>
          <a:p>
            <a:pPr marL="342900" indent="-342900">
              <a:spcAft>
                <a:spcPts val="700"/>
              </a:spcAft>
              <a:buSzPct val="100000"/>
              <a:buChar char="•"/>
            </a:pPr>
            <a:r>
              <a:rPr lang="en-US" sz="1400" dirty="0">
                <a:solidFill>
                  <a:schemeClr val="tx2"/>
                </a:solidFill>
              </a:rPr>
              <a:t>Low affinity: PrincipalName, RFC822Name, Subject, and Issuer + Subject</a:t>
            </a:r>
            <a:endParaRPr lang="en-US" sz="1400" dirty="0"/>
          </a:p>
          <a:p>
            <a:pPr marL="342900" indent="-342900">
              <a:spcAft>
                <a:spcPts val="700"/>
              </a:spcAft>
              <a:buSzPct val="100000"/>
              <a:buChar char="•"/>
            </a:pPr>
            <a:r>
              <a:rPr lang="en-US" sz="1400" dirty="0">
                <a:solidFill>
                  <a:schemeClr val="tx2"/>
                </a:solidFill>
              </a:rPr>
              <a:t>Multifactor only with a PIN or biometric: a PIV card, not a software certificate</a:t>
            </a:r>
            <a:endParaRPr lang="en-US" sz="1400" dirty="0"/>
          </a:p>
          <a:p>
            <a:pPr marL="342900" indent="-342900">
              <a:spcAft>
                <a:spcPts val="700"/>
              </a:spcAft>
              <a:buSzPct val="100000"/>
              <a:buChar char="•"/>
            </a:pPr>
            <a:r>
              <a:rPr lang="en-US" sz="1400" dirty="0">
                <a:solidFill>
                  <a:schemeClr val="tx2"/>
                </a:solidFill>
              </a:rPr>
              <a:t>Staged rollout is temporary: 10 groups, 200 users per new group</a:t>
            </a:r>
            <a:endParaRPr lang="en-US" sz="1400" dirty="0"/>
          </a:p>
        </p:txBody>
      </p:sp>
      <p:sp>
        <p:nvSpPr>
          <p:cNvPr id="15" name="Affinity">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6" name="Icon FaLock">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50485"/>
            <a:ext cx="380390" cy="380390"/>
          </a:xfrm>
          <a:prstGeom prst="rect">
            <a:avLst/>
          </a:prstGeom>
        </p:spPr>
      </p:pic>
      <p:sp>
        <p:nvSpPr>
          <p:cNvPr id="18" name="Affinity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B91C1C"/>
                </a:solidFill>
              </a:rPr>
              <a:t>Production requires high affinity: </a:t>
            </a:r>
            <a:r>
              <a:rPr lang="en-US" sz="1650" dirty="0">
                <a:solidFill>
                  <a:schemeClr val="tx2"/>
                </a:solidFill>
              </a:rPr>
              <a:t>CBA is only as strong as its lowest-affinity binding. Switch the tenant to high only once every user's certificateUserIds is correct, or those users are locked out.</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Entra CBA technical concepts, CRL, set up CBA, staged rollout. Book 07,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F757CFED-F840-14EC-C958-C3565A12690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A09189F-CAA5-48DD-8F80-7D0EC338BE4F}"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7100"/>
    </mc:Choice>
    <mc:Fallback>
      <p:transition spd="slow" advTm="77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6104"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Run both PKIs, then migrate in six gated waves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36576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Wave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Weeks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Exit gate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1 Assess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1–4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Every template classified; Critical and High fixed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2 Foundation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5–8</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Cloud CA live; trust on 99% of devices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3 Pilot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9–16</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95% issuance; pilot relying parties accept it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4 Scale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17–28</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Every managed device on cloud certificates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5 Cutover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29–36</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Domains managed; AD FS certificate auth off</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6 Decommission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37–44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MIGRATE-only AD CS components retired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Rules box">
            <a:extLst>
              <a:ext uri="{C183D7F6-B498-43B3-948B-1728B52AA6E4}">
                <adec:decorative xmlns:adec="http://schemas.microsoft.com/office/drawing/2017/decorative" val="1"/>
              </a:ext>
            </a:extLst>
          </p:cNvPr>
          <p:cNvSpPr/>
          <p:nvPr/>
        </p:nvSpPr>
        <p:spPr>
          <a:xfrm>
            <a:off x="8641080" y="1371600"/>
            <a:ext cx="3017520" cy="3108960"/>
          </a:xfrm>
          <a:prstGeom prst="roundRect">
            <a:avLst>
              <a:gd name="adj" fmla="val 242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RightLeft">
            <a:extLst>
              <a:ext uri="{C183D7F6-B498-43B3-948B-1728B52AA6E4}">
                <adec:decorative xmlns:adec="http://schemas.microsoft.com/office/drawing/2017/decorative" val="1"/>
              </a:ext>
            </a:extLst>
          </p:cNvPr>
          <p:cNvSpPr/>
          <p:nvPr/>
        </p:nvSpPr>
        <p:spPr>
          <a:xfrm>
            <a:off x="8869680" y="1536192"/>
            <a:ext cx="548640" cy="54864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01354" y="1667866"/>
            <a:ext cx="285293" cy="285293"/>
          </a:xfrm>
          <a:prstGeom prst="rect">
            <a:avLst/>
          </a:prstGeom>
        </p:spPr>
      </p:pic>
      <p:sp>
        <p:nvSpPr>
          <p:cNvPr id="9" name="Rules head"/>
          <p:cNvSpPr txBox="1"/>
          <p:nvPr/>
        </p:nvSpPr>
        <p:spPr>
          <a:xfrm>
            <a:off x="9555480" y="1536192"/>
            <a:ext cx="2011680" cy="548640"/>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Coexistence</a:t>
            </a:r>
            <a:endParaRPr lang="en-US" sz="1800" dirty="0"/>
          </a:p>
        </p:txBody>
      </p:sp>
      <p:sp>
        <p:nvSpPr>
          <p:cNvPr id="10" name="Rules list"/>
          <p:cNvSpPr txBox="1"/>
          <p:nvPr/>
        </p:nvSpPr>
        <p:spPr>
          <a:xfrm>
            <a:off x="8869680" y="2240280"/>
            <a:ext cx="2651760" cy="219456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chemeClr val="tx2"/>
                </a:solidFill>
              </a:rPr>
              <a:t>Trust goes up before issuance moves</a:t>
            </a:r>
            <a:endParaRPr lang="en-US" sz="1400" dirty="0"/>
          </a:p>
          <a:p>
            <a:pPr marL="342900" indent="-342900">
              <a:spcAft>
                <a:spcPts val="700"/>
              </a:spcAft>
              <a:buSzPct val="100000"/>
              <a:buChar char="•"/>
            </a:pPr>
            <a:r>
              <a:rPr lang="en-US" sz="1350" dirty="0">
                <a:solidFill>
                  <a:schemeClr val="tx2"/>
                </a:solidFill>
              </a:rPr>
              <a:t>Nothing is revoked to force a move</a:t>
            </a:r>
            <a:endParaRPr lang="en-US" sz="1400" dirty="0"/>
          </a:p>
          <a:p>
            <a:pPr marL="342900" indent="-342900">
              <a:spcAft>
                <a:spcPts val="700"/>
              </a:spcAft>
              <a:buSzPct val="100000"/>
              <a:buChar char="•"/>
            </a:pPr>
            <a:r>
              <a:rPr lang="en-US" sz="1350" dirty="0">
                <a:solidFill>
                  <a:schemeClr val="tx2"/>
                </a:solidFill>
              </a:rPr>
              <a:t>CRLs reachable inside, outside and from Entra ID</a:t>
            </a:r>
            <a:endParaRPr lang="en-US" sz="1400" dirty="0"/>
          </a:p>
        </p:txBody>
      </p:sp>
      <p:sp>
        <p:nvSpPr>
          <p:cNvPr id="11" name="Rollback">
            <a:extLst>
              <a:ext uri="{C183D7F6-B498-43B3-948B-1728B52AA6E4}">
                <adec:decorative xmlns:adec="http://schemas.microsoft.com/office/drawing/2017/decorative" val="1"/>
              </a:ext>
            </a:extLst>
          </p:cNvPr>
          <p:cNvSpPr/>
          <p:nvPr/>
        </p:nvSpPr>
        <p:spPr>
          <a:xfrm>
            <a:off x="548640" y="4709160"/>
            <a:ext cx="11109960" cy="1234440"/>
          </a:xfrm>
          <a:prstGeom prst="roundRect">
            <a:avLst>
              <a:gd name="adj" fmla="val 5926"/>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5" name="Icon FaArrowsRotate">
            <a:extLst>
              <a:ext uri="{C183D7F6-B498-43B3-948B-1728B52AA6E4}">
                <adec:decorative xmlns:adec="http://schemas.microsoft.com/office/drawing/2017/decorative" val="1"/>
              </a:ext>
            </a:extLst>
          </p:cNvPr>
          <p:cNvSpPr/>
          <p:nvPr/>
        </p:nvSpPr>
        <p:spPr>
          <a:xfrm>
            <a:off x="777240" y="4960620"/>
            <a:ext cx="731520" cy="731520"/>
          </a:xfrm>
          <a:prstGeom prst="ellipse">
            <a:avLst/>
          </a:prstGeom>
          <a:solidFill>
            <a:srgbClr val="64748B"/>
          </a:solidFill>
          <a:ln w="12700">
            <a:solidFill>
              <a:srgbClr val="64748B"/>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136185"/>
            <a:ext cx="380390" cy="380390"/>
          </a:xfrm>
          <a:prstGeom prst="rect">
            <a:avLst/>
          </a:prstGeom>
        </p:spPr>
      </p:pic>
      <p:sp>
        <p:nvSpPr>
          <p:cNvPr id="14" name="Rollback text"/>
          <p:cNvSpPr txBox="1"/>
          <p:nvPr/>
        </p:nvSpPr>
        <p:spPr>
          <a:xfrm>
            <a:off x="1737360" y="4754880"/>
            <a:ext cx="9738360" cy="1143000"/>
          </a:xfrm>
          <a:prstGeom prst="rect">
            <a:avLst/>
          </a:prstGeom>
          <a:noFill/>
          <a:ln/>
        </p:spPr>
        <p:txBody>
          <a:bodyPr wrap="square" lIns="0" tIns="0" rIns="0" bIns="0" rtlCol="0" anchor="ctr"/>
          <a:lstStyle/>
          <a:p>
            <a:pPr marL="0" indent="0">
              <a:buNone/>
            </a:pPr>
            <a:r>
              <a:rPr lang="en-US" sz="1650" b="1" dirty="0">
                <a:solidFill>
                  <a:srgbClr val="64748B"/>
                </a:solidFill>
              </a:rPr>
              <a:t>Every wave has a tested rollback: </a:t>
            </a:r>
            <a:r>
              <a:rPr lang="en-US" sz="1650" dirty="0">
                <a:solidFill>
                  <a:schemeClr val="tx2"/>
                </a:solidFill>
              </a:rPr>
              <a:t>AD CS autoenrollment stays on through the pilot, and AD FS stays restorable for 30 days after cutover, with a four-hour recovery objective. Removing a SCEP assignment revokes its certificates, so it isn't a harmless undo.</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Cloud PKI, staged rollout, federation-to-cloud migration, removing SCEP profiles. Book 07,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98A03F4A-E199-B5CE-5B0A-1C61D7F7334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D48B42A-8756-4C7A-8C34-05429AA8868D}"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4300"/>
    </mc:Choice>
    <mc:Fallback>
      <p:transition spd="slow" advTm="74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329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Keep it renewed and checkable, then retire AD CS last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Engines head"/>
          <p:cNvSpPr txBox="1"/>
          <p:nvPr/>
        </p:nvSpPr>
        <p:spPr>
          <a:xfrm>
            <a:off x="548640" y="1371600"/>
            <a:ext cx="5852160" cy="274320"/>
          </a:xfrm>
          <a:prstGeom prst="rect">
            <a:avLst/>
          </a:prstGeom>
          <a:noFill/>
          <a:ln/>
        </p:spPr>
        <p:txBody>
          <a:bodyPr wrap="square" lIns="0" tIns="0" rIns="0" bIns="0" rtlCol="0" anchor="t"/>
          <a:lstStyle/>
          <a:p>
            <a:pPr marL="0" indent="0">
              <a:buNone/>
            </a:pPr>
            <a:r>
              <a:rPr lang="en-US" sz="1200" b="1" dirty="0">
                <a:solidFill>
                  <a:srgbClr val="64748B"/>
                </a:solidFill>
              </a:rPr>
              <a:t>THREE RENEWAL ENGINES, NO CALENDAR REMINDERS</a:t>
            </a:r>
            <a:endParaRPr lang="en-US" sz="1200" dirty="0"/>
          </a:p>
        </p:txBody>
      </p:sp>
      <p:sp>
        <p:nvSpPr>
          <p:cNvPr id="6" name="Icon FaLaptop">
            <a:extLst>
              <a:ext uri="{C183D7F6-B498-43B3-948B-1728B52AA6E4}">
                <adec:decorative xmlns:adec="http://schemas.microsoft.com/office/drawing/2017/decorative" val="1"/>
              </a:ext>
            </a:extLst>
          </p:cNvPr>
          <p:cNvSpPr/>
          <p:nvPr/>
        </p:nvSpPr>
        <p:spPr>
          <a:xfrm>
            <a:off x="548640" y="1783080"/>
            <a:ext cx="566928" cy="566928"/>
          </a:xfrm>
          <a:prstGeom prst="ellipse">
            <a:avLst/>
          </a:prstGeom>
          <a:solidFill>
            <a:srgbClr val="0F766E"/>
          </a:solidFill>
          <a:ln w="12700">
            <a:solidFill>
              <a:srgbClr val="0F766E"/>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4703" y="1919143"/>
            <a:ext cx="294803" cy="294803"/>
          </a:xfrm>
          <a:prstGeom prst="rect">
            <a:avLst/>
          </a:prstGeom>
        </p:spPr>
      </p:pic>
      <p:sp>
        <p:nvSpPr>
          <p:cNvPr id="8" name="Engine 0"/>
          <p:cNvSpPr txBox="1"/>
          <p:nvPr/>
        </p:nvSpPr>
        <p:spPr>
          <a:xfrm>
            <a:off x="1280160" y="1737360"/>
            <a:ext cx="5120640" cy="914400"/>
          </a:xfrm>
          <a:prstGeom prst="rect">
            <a:avLst/>
          </a:prstGeom>
          <a:noFill/>
          <a:ln/>
        </p:spPr>
        <p:txBody>
          <a:bodyPr wrap="square" lIns="0" tIns="0" rIns="0" bIns="0" rtlCol="0" anchor="t"/>
          <a:lstStyle/>
          <a:p>
            <a:pPr marL="0" indent="0">
              <a:buNone/>
            </a:pPr>
            <a:r>
              <a:rPr lang="en-US" sz="1650" b="1" dirty="0">
                <a:solidFill>
                  <a:srgbClr val="0F766E"/>
                </a:solidFill>
              </a:rPr>
              <a:t>Intune profiles</a:t>
            </a:r>
            <a:endParaRPr lang="en-US" sz="1400" dirty="0"/>
          </a:p>
          <a:p>
            <a:pPr marL="0" indent="0">
              <a:buNone/>
            </a:pPr>
            <a:r>
              <a:rPr lang="en-US" sz="1400" dirty="0">
                <a:solidFill>
                  <a:schemeClr val="tx2"/>
                </a:solidFill>
              </a:rPr>
              <a:t>Managed devices renew at the profile's threshold, with a new key pair</a:t>
            </a:r>
            <a:endParaRPr lang="en-US" sz="1400" dirty="0"/>
          </a:p>
        </p:txBody>
      </p:sp>
      <p:sp>
        <p:nvSpPr>
          <p:cNvPr id="9" name="Icon FaServer">
            <a:extLst>
              <a:ext uri="{C183D7F6-B498-43B3-948B-1728B52AA6E4}">
                <adec:decorative xmlns:adec="http://schemas.microsoft.com/office/drawing/2017/decorative" val="1"/>
              </a:ext>
            </a:extLst>
          </p:cNvPr>
          <p:cNvSpPr/>
          <p:nvPr/>
        </p:nvSpPr>
        <p:spPr>
          <a:xfrm>
            <a:off x="548640" y="2770632"/>
            <a:ext cx="566928" cy="566928"/>
          </a:xfrm>
          <a:prstGeom prst="ellipse">
            <a:avLst/>
          </a:prstGeom>
          <a:solidFill>
            <a:srgbClr val="1F2A44"/>
          </a:solidFill>
          <a:ln w="12700">
            <a:solidFill>
              <a:srgbClr val="1F2A44"/>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4703" y="2906695"/>
            <a:ext cx="294803" cy="294803"/>
          </a:xfrm>
          <a:prstGeom prst="rect">
            <a:avLst/>
          </a:prstGeom>
        </p:spPr>
      </p:pic>
      <p:sp>
        <p:nvSpPr>
          <p:cNvPr id="11" name="Engine 1"/>
          <p:cNvSpPr txBox="1"/>
          <p:nvPr/>
        </p:nvSpPr>
        <p:spPr>
          <a:xfrm>
            <a:off x="1280160" y="2724912"/>
            <a:ext cx="5120640" cy="914400"/>
          </a:xfrm>
          <a:prstGeom prst="rect">
            <a:avLst/>
          </a:prstGeom>
          <a:noFill/>
          <a:ln/>
        </p:spPr>
        <p:txBody>
          <a:bodyPr wrap="square" lIns="0" tIns="0" rIns="0" bIns="0" rtlCol="0" anchor="t"/>
          <a:lstStyle/>
          <a:p>
            <a:pPr marL="0" indent="0">
              <a:buNone/>
            </a:pPr>
            <a:r>
              <a:rPr lang="en-US" sz="1650" b="1" dirty="0">
                <a:solidFill>
                  <a:srgbClr val="1F2A44"/>
                </a:solidFill>
              </a:rPr>
              <a:t>AD CS autoenrollment</a:t>
            </a:r>
            <a:endParaRPr lang="en-US" sz="1400" dirty="0"/>
          </a:p>
          <a:p>
            <a:pPr marL="0" indent="0">
              <a:buNone/>
            </a:pPr>
            <a:r>
              <a:rPr lang="en-US" sz="1400" dirty="0">
                <a:solidFill>
                  <a:schemeClr val="tx2"/>
                </a:solidFill>
              </a:rPr>
              <a:t>Domain controllers, LDAPS and RADIUS, while the forest stays</a:t>
            </a:r>
            <a:endParaRPr lang="en-US" sz="1400" dirty="0"/>
          </a:p>
        </p:txBody>
      </p:sp>
      <p:sp>
        <p:nvSpPr>
          <p:cNvPr id="12" name="Icon FaArrowsRotate">
            <a:extLst>
              <a:ext uri="{C183D7F6-B498-43B3-948B-1728B52AA6E4}">
                <adec:decorative xmlns:adec="http://schemas.microsoft.com/office/drawing/2017/decorative" val="1"/>
              </a:ext>
            </a:extLst>
          </p:cNvPr>
          <p:cNvSpPr/>
          <p:nvPr/>
        </p:nvSpPr>
        <p:spPr>
          <a:xfrm>
            <a:off x="548640" y="3758184"/>
            <a:ext cx="566928" cy="566928"/>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84703" y="3894247"/>
            <a:ext cx="294803" cy="294803"/>
          </a:xfrm>
          <a:prstGeom prst="rect">
            <a:avLst/>
          </a:prstGeom>
        </p:spPr>
      </p:pic>
      <p:sp>
        <p:nvSpPr>
          <p:cNvPr id="14" name="Engine 2"/>
          <p:cNvSpPr txBox="1"/>
          <p:nvPr/>
        </p:nvSpPr>
        <p:spPr>
          <a:xfrm>
            <a:off x="1280160" y="3712464"/>
            <a:ext cx="5120640" cy="914400"/>
          </a:xfrm>
          <a:prstGeom prst="rect">
            <a:avLst/>
          </a:prstGeom>
          <a:noFill/>
          <a:ln/>
        </p:spPr>
        <p:txBody>
          <a:bodyPr wrap="square" lIns="0" tIns="0" rIns="0" bIns="0" rtlCol="0" anchor="t"/>
          <a:lstStyle/>
          <a:p>
            <a:pPr marL="0" indent="0">
              <a:buNone/>
            </a:pPr>
            <a:r>
              <a:rPr lang="en-US" sz="1650" b="1" dirty="0">
                <a:solidFill>
                  <a:srgbClr val="B45309"/>
                </a:solidFill>
              </a:rPr>
              <a:t>CyberArk Certificate Manager</a:t>
            </a:r>
            <a:endParaRPr lang="en-US" sz="1400" dirty="0"/>
          </a:p>
          <a:p>
            <a:pPr marL="0" indent="0">
              <a:buNone/>
            </a:pPr>
            <a:r>
              <a:rPr lang="en-US" sz="1400" dirty="0">
                <a:solidFill>
                  <a:schemeClr val="tx2"/>
                </a:solidFill>
              </a:rPr>
              <a:t>Server, appliance and public TLS, with ACME where it fits</a:t>
            </a:r>
            <a:endParaRPr lang="en-US" sz="1400" dirty="0"/>
          </a:p>
        </p:txBody>
      </p:sp>
      <p:sp>
        <p:nvSpPr>
          <p:cNvPr id="15" name="Decom box">
            <a:extLst>
              <a:ext uri="{C183D7F6-B498-43B3-948B-1728B52AA6E4}">
                <adec:decorative xmlns:adec="http://schemas.microsoft.com/office/drawing/2017/decorative" val="1"/>
              </a:ext>
            </a:extLst>
          </p:cNvPr>
          <p:cNvSpPr/>
          <p:nvPr/>
        </p:nvSpPr>
        <p:spPr>
          <a:xfrm>
            <a:off x="6720840" y="1371600"/>
            <a:ext cx="493776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6" name="Icon FaDoorClosed">
            <a:extLst>
              <a:ext uri="{C183D7F6-B498-43B3-948B-1728B52AA6E4}">
                <adec:decorative xmlns:adec="http://schemas.microsoft.com/office/drawing/2017/decorative" val="1"/>
              </a:ext>
            </a:extLst>
          </p:cNvPr>
          <p:cNvSpPr/>
          <p:nvPr/>
        </p:nvSpPr>
        <p:spPr>
          <a:xfrm>
            <a:off x="6949440" y="1536192"/>
            <a:ext cx="566928" cy="566928"/>
          </a:xfrm>
          <a:prstGeom prst="ellipse">
            <a:avLst/>
          </a:prstGeom>
          <a:solidFill>
            <a:srgbClr val="B91C1C"/>
          </a:solidFill>
          <a:ln w="12700">
            <a:solidFill>
              <a:srgbClr val="B91C1C"/>
            </a:solidFill>
            <a:prstDash val="solid"/>
          </a:ln>
        </p:spPr>
      </p:sp>
      <p:pic>
        <p:nvPicPr>
          <p:cNvPr id="17"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7085503" y="1672255"/>
            <a:ext cx="294803" cy="294803"/>
          </a:xfrm>
          <a:prstGeom prst="rect">
            <a:avLst/>
          </a:prstGeom>
        </p:spPr>
      </p:pic>
      <p:sp>
        <p:nvSpPr>
          <p:cNvPr id="18" name="Decom head"/>
          <p:cNvSpPr txBox="1"/>
          <p:nvPr/>
        </p:nvSpPr>
        <p:spPr>
          <a:xfrm>
            <a:off x="7680960" y="1536192"/>
            <a:ext cx="3840480" cy="566928"/>
          </a:xfrm>
          <a:prstGeom prst="rect">
            <a:avLst/>
          </a:prstGeom>
          <a:noFill/>
          <a:ln/>
        </p:spPr>
        <p:txBody>
          <a:bodyPr wrap="square" lIns="0" tIns="0" rIns="0" bIns="0" rtlCol="0" anchor="ctr"/>
          <a:lstStyle/>
          <a:p>
            <a:pPr marL="0" indent="0">
              <a:buNone/>
            </a:pPr>
            <a:r>
              <a:rPr lang="en-US" sz="1800" b="1" dirty="0">
                <a:solidFill>
                  <a:srgbClr val="B91C1C"/>
                </a:solidFill>
                <a:latin typeface="Cambria" pitchFamily="34" charset="0"/>
                <a:ea typeface="Cambria" pitchFamily="34" charset="-122"/>
                <a:cs typeface="Cambria" pitchFamily="34" charset="-120"/>
              </a:rPr>
              <a:t>Retiring an AD CS CA</a:t>
            </a:r>
            <a:endParaRPr lang="en-US" sz="1800" dirty="0"/>
          </a:p>
        </p:txBody>
      </p:sp>
      <p:sp>
        <p:nvSpPr>
          <p:cNvPr id="19" name="Decom list"/>
          <p:cNvSpPr txBox="1"/>
          <p:nvPr/>
        </p:nvSpPr>
        <p:spPr>
          <a:xfrm>
            <a:off x="6949440" y="2240280"/>
            <a:ext cx="4572000" cy="23774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Confirm nothing depends on it</a:t>
            </a:r>
            <a:endParaRPr lang="en-US" sz="1400" dirty="0"/>
          </a:p>
          <a:p>
            <a:pPr marL="342900" indent="-342900">
              <a:spcAft>
                <a:spcPts val="500"/>
              </a:spcAft>
              <a:buSzPct val="100000"/>
              <a:buChar char="•"/>
            </a:pPr>
            <a:r>
              <a:rPr lang="en-US" sz="1350" dirty="0">
                <a:solidFill>
                  <a:schemeClr val="tx2"/>
                </a:solidFill>
              </a:rPr>
              <a:t>Stop issuance; back up the database and key</a:t>
            </a:r>
            <a:endParaRPr lang="en-US" sz="1400" dirty="0"/>
          </a:p>
          <a:p>
            <a:pPr marL="342900" indent="-342900">
              <a:spcAft>
                <a:spcPts val="500"/>
              </a:spcAft>
              <a:buSzPct val="100000"/>
              <a:buChar char="•"/>
            </a:pPr>
            <a:r>
              <a:rPr lang="en-US" sz="1350" dirty="0">
                <a:solidFill>
                  <a:schemeClr val="tx2"/>
                </a:solidFill>
              </a:rPr>
              <a:t>Revoke for cessation of operation; publish a final CRL</a:t>
            </a:r>
            <a:endParaRPr lang="en-US" sz="1400" dirty="0"/>
          </a:p>
          <a:p>
            <a:pPr marL="342900" indent="-342900">
              <a:spcAft>
                <a:spcPts val="500"/>
              </a:spcAft>
              <a:buSzPct val="100000"/>
              <a:buChar char="•"/>
            </a:pPr>
            <a:r>
              <a:rPr lang="en-US" sz="1350" dirty="0">
                <a:solidFill>
                  <a:schemeClr val="tx2"/>
                </a:solidFill>
              </a:rPr>
              <a:t>Remove the role services, then clean every trust store</a:t>
            </a:r>
            <a:endParaRPr lang="en-US" sz="1400" dirty="0"/>
          </a:p>
          <a:p>
            <a:pPr marL="342900" indent="-342900">
              <a:spcAft>
                <a:spcPts val="500"/>
              </a:spcAft>
              <a:buSzPct val="100000"/>
              <a:buChar char="•"/>
            </a:pPr>
            <a:r>
              <a:rPr lang="en-US" sz="1350" dirty="0">
                <a:solidFill>
                  <a:schemeClr val="tx2"/>
                </a:solidFill>
              </a:rPr>
              <a:t>Keep CDP and AIA serving until the last certificate expires</a:t>
            </a:r>
            <a:endParaRPr lang="en-US" sz="1400" dirty="0"/>
          </a:p>
        </p:txBody>
      </p:sp>
      <p:sp>
        <p:nvSpPr>
          <p:cNvPr id="20" name="Signals">
            <a:extLst>
              <a:ext uri="{C183D7F6-B498-43B3-948B-1728B52AA6E4}">
                <adec:decorative xmlns:adec="http://schemas.microsoft.com/office/drawing/2017/decorative" val="1"/>
              </a:ext>
            </a:extLst>
          </p:cNvPr>
          <p:cNvSpPr/>
          <p:nvPr/>
        </p:nvSpPr>
        <p:spPr>
          <a:xfrm>
            <a:off x="548640" y="4846320"/>
            <a:ext cx="11109960" cy="1143000"/>
          </a:xfrm>
          <a:prstGeom prst="roundRect">
            <a:avLst>
              <a:gd name="adj" fmla="val 64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1" name="Icon FaChartLine">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1F2A44"/>
          </a:solidFill>
          <a:ln w="12700">
            <a:solidFill>
              <a:srgbClr val="1F2A44"/>
            </a:solidFill>
            <a:prstDash val="solid"/>
          </a:ln>
        </p:spPr>
      </p:sp>
      <p:pic>
        <p:nvPicPr>
          <p:cNvPr id="22"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227625"/>
            <a:ext cx="380390" cy="380390"/>
          </a:xfrm>
          <a:prstGeom prst="rect">
            <a:avLst/>
          </a:prstGeom>
        </p:spPr>
      </p:pic>
      <p:sp>
        <p:nvSpPr>
          <p:cNvPr id="23" name="Signals text"/>
          <p:cNvSpPr txBox="1"/>
          <p:nvPr/>
        </p:nvSpPr>
        <p:spPr>
          <a:xfrm>
            <a:off x="1737360" y="4892040"/>
            <a:ext cx="9738360" cy="1051560"/>
          </a:xfrm>
          <a:prstGeom prst="rect">
            <a:avLst/>
          </a:prstGeom>
          <a:noFill/>
          <a:ln/>
        </p:spPr>
        <p:txBody>
          <a:bodyPr wrap="square" lIns="0" tIns="0" rIns="0" bIns="0" rtlCol="0" anchor="ctr"/>
          <a:lstStyle/>
          <a:p>
            <a:pPr marL="0" indent="0">
              <a:buNone/>
            </a:pPr>
            <a:r>
              <a:rPr lang="en-US" sz="1650" b="1" dirty="0">
                <a:solidFill>
                  <a:srgbClr val="1F2A44"/>
                </a:solidFill>
              </a:rPr>
              <a:t>Watch signals, not outages: </a:t>
            </a:r>
            <a:r>
              <a:rPr lang="en-US" sz="1650" dirty="0">
                <a:solidFill>
                  <a:schemeClr val="tx2"/>
                </a:solidFill>
              </a:rPr>
              <a:t>expiry with no renewal path, stale CRLs, issuance outside policy and trust-store drift are findings when they appear, not when something breaks. Under BYOCA, the CA that signed the cloud issuer stays.</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CA/Browser Forum Baseline Requirements; RFC 8555; CyberArk ACME docs; Microsoft Learn — SCEP renewal, CRL operations, CA decommissioning. Book 07,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5D90AEE1-6CA2-A851-BCFC-B9F83815BF6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D4D0B32-73B0-4D2E-BBDA-90B180C3A08F}"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6720"/>
    </mc:Choice>
    <mc:Fallback>
      <p:transition spd="slow" advTm="767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5720"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sk 1">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Sitemap">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marL="0" indent="0">
              <a:buNone/>
            </a:pPr>
            <a:r>
              <a:rPr lang="en-US" sz="1800" b="1" dirty="0">
                <a:solidFill>
                  <a:srgbClr val="1F2A44"/>
                </a:solidFill>
                <a:latin typeface="Cambria" pitchFamily="34" charset="0"/>
                <a:ea typeface="Cambria" pitchFamily="34" charset="-122"/>
                <a:cs typeface="Cambria" pitchFamily="34" charset="-120"/>
              </a:rPr>
              <a:t>Confirm the root decision</a:t>
            </a:r>
            <a:endParaRPr lang="en-US" sz="1400" dirty="0"/>
          </a:p>
          <a:p>
            <a:pPr marL="0" indent="0">
              <a:buNone/>
            </a:pPr>
            <a:r>
              <a:rPr lang="en-US" sz="1450" dirty="0">
                <a:solidFill>
                  <a:schemeClr val="tx2"/>
                </a:solidFill>
              </a:rPr>
              <a:t>BYOCA signed by the offline root, after the hardening gate</a:t>
            </a:r>
            <a:endParaRPr lang="en-US" sz="1400" dirty="0"/>
          </a:p>
        </p:txBody>
      </p:sp>
      <p:sp>
        <p:nvSpPr>
          <p:cNvPr id="9" name="Ask 2">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Icon FaLandmark">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marL="0" indent="0">
              <a:buNone/>
            </a:pPr>
            <a:r>
              <a:rPr lang="en-US" sz="1800" b="1" dirty="0">
                <a:solidFill>
                  <a:srgbClr val="0F766E"/>
                </a:solidFill>
                <a:latin typeface="Cambria" pitchFamily="34" charset="0"/>
                <a:ea typeface="Cambria" pitchFamily="34" charset="-122"/>
                <a:cs typeface="Cambria" pitchFamily="34" charset="-120"/>
              </a:rPr>
              <a:t>Settle the Cloud PKI entitlement</a:t>
            </a:r>
            <a:endParaRPr lang="en-US" sz="1400" dirty="0"/>
          </a:p>
          <a:p>
            <a:pPr marL="0" indent="0">
              <a:buNone/>
            </a:pPr>
            <a:r>
              <a:rPr lang="en-US" sz="1450" dirty="0">
                <a:solidFill>
                  <a:schemeClr val="tx2"/>
                </a:solidFill>
              </a:rPr>
              <a:t>Confirm it for the government tenant; don't assume the E5 change</a:t>
            </a:r>
            <a:endParaRPr lang="en-US" sz="1400" dirty="0"/>
          </a:p>
        </p:txBody>
      </p:sp>
      <p:sp>
        <p:nvSpPr>
          <p:cNvPr id="13" name="Ask 3">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Icon FaArrowsRotate">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marL="0" indent="0">
              <a:buNone/>
            </a:pPr>
            <a:r>
              <a:rPr lang="en-US" sz="1800" b="1" dirty="0">
                <a:solidFill>
                  <a:srgbClr val="B45309"/>
                </a:solidFill>
                <a:latin typeface="Cambria" pitchFamily="34" charset="0"/>
                <a:ea typeface="Cambria" pitchFamily="34" charset="-122"/>
                <a:cs typeface="Cambria" pitchFamily="34" charset="-120"/>
              </a:rPr>
              <a:t>Stand up the lifecycle platform</a:t>
            </a:r>
            <a:endParaRPr lang="en-US" sz="1400" dirty="0"/>
          </a:p>
          <a:p>
            <a:pPr marL="0" indent="0">
              <a:buNone/>
            </a:pPr>
            <a:r>
              <a:rPr lang="en-US" sz="1450" dirty="0">
                <a:solidFill>
                  <a:schemeClr val="tx2"/>
                </a:solidFill>
              </a:rPr>
              <a:t>CyberArk Certificate Manager, Self-Hosted, in the boundary</a:t>
            </a:r>
            <a:endParaRPr lang="en-US" sz="1400" dirty="0"/>
          </a:p>
        </p:txBody>
      </p:sp>
      <p:sp>
        <p:nvSpPr>
          <p:cNvPr id="17" name="Ask 4">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8" name="Icon FaUserCheck">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marL="0" indent="0">
              <a:buNone/>
            </a:pPr>
            <a:r>
              <a:rPr lang="en-US" sz="1800" b="1" dirty="0">
                <a:solidFill>
                  <a:srgbClr val="B91C1C"/>
                </a:solidFill>
                <a:latin typeface="Cambria" pitchFamily="34" charset="0"/>
                <a:ea typeface="Cambria" pitchFamily="34" charset="-122"/>
                <a:cs typeface="Cambria" pitchFamily="34" charset="-120"/>
              </a:rPr>
              <a:t>Name the owners</a:t>
            </a:r>
            <a:endParaRPr lang="en-US" sz="1400" dirty="0"/>
          </a:p>
          <a:p>
            <a:pPr marL="0" indent="0">
              <a:buNone/>
            </a:pPr>
            <a:r>
              <a:rPr lang="en-US" sz="1450" dirty="0">
                <a:solidFill>
                  <a:schemeClr val="tx2"/>
                </a:solidFill>
              </a:rPr>
              <a:t>Issuance policy to the CISO; one renewal owner per class</a:t>
            </a:r>
            <a:endParaRPr lang="en-US" sz="1400" dirty="0"/>
          </a:p>
        </p:txBody>
      </p:sp>
      <p:sp>
        <p:nvSpPr>
          <p:cNvPr id="21" name="Next">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Route">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marL="0" indent="0">
              <a:buNone/>
            </a:pPr>
            <a:r>
              <a:rPr lang="en-US" sz="1650" b="1" dirty="0">
                <a:solidFill>
                  <a:srgbClr val="1F2A44"/>
                </a:solidFill>
              </a:rPr>
              <a:t>Next step — wave 1, Assess: </a:t>
            </a:r>
            <a:r>
              <a:rPr lang="en-US" sz="1650" dirty="0">
                <a:solidFill>
                  <a:schemeClr val="tx2"/>
                </a:solidFill>
              </a:rPr>
              <a:t>four weeks to inventory every CA and template, close Critical and High findings, classify every use case and list every relying party. Book 07 has the detail, every claim footnoted, with deployment checklists and a template matrix.</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Cloud PKI BYOCA, Intune planning guide; CyberArk documentation; FedRAMP Marketplace. Book 07, Chapters 04, 05 and 07.</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091C6424-27D8-5B39-C56A-F358515F675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D7A08D8-D85F-4E8F-9847-76F0B419AE7E}"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9250"/>
    </mc:Choice>
    <mc:Fallback>
      <p:transition spd="slow" advTm="592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8248"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5133</Words>
  <Application>Microsoft Office PowerPoint</Application>
  <PresentationFormat>Widescreen</PresentationFormat>
  <Paragraphs>297</Paragraphs>
  <Slides>13</Slides>
  <Notes>13</Notes>
  <HiddenSlides>0</HiddenSlides>
  <MMClips>13</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Federal Modernization Workbook</vt:lpstr>
      <vt:lpstr>Why Do Certificates Outlive Every Migration?</vt:lpstr>
      <vt:lpstr>Certificates fail at expiry, not at cutover</vt:lpstr>
      <vt:lpstr>The rules are moving under certificates already issued</vt:lpstr>
      <vt:lpstr>What AD CS holds up, and the four verdicts</vt:lpstr>
      <vt:lpstr>Harden what stays before anything moves</vt:lpstr>
      <vt:lpstr>Four issuers, each for what only it can serve</vt:lpstr>
      <vt:lpstr>One lifecycle platform: CyberArk Certificate Manager</vt:lpstr>
      <vt:lpstr>Who decides, who does the work for certificates</vt:lpstr>
      <vt:lpstr>Intune delivers the certificate, strongly mapped</vt:lpstr>
      <vt:lpstr>Entra CBA validates certificates; it issues none</vt:lpstr>
      <vt:lpstr>Run both PKIs, then migrate in six gated waves</vt:lpstr>
      <vt:lpstr>Keep it renewed and checkable, then retire AD CS last</vt:lpstr>
      <vt:lpstr>Decisions to make,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07 — PKI &amp; Certificates</dc:title>
  <dc:subject>PptxGenJS Presentation</dc:subject>
  <dc:creator>Michael F. Stratton</dc:creator>
  <cp:lastModifiedBy>Michael F. Stratton</cp:lastModifiedBy>
  <cp:revision>2</cp:revision>
  <dcterms:created xsi:type="dcterms:W3CDTF">2026-10-21T13:41:18Z</dcterms:created>
  <dcterms:modified xsi:type="dcterms:W3CDTF">2026-10-21T13:58:16Z</dcterms:modified>
</cp:coreProperties>
</file>