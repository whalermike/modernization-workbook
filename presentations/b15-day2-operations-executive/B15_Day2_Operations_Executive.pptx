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ay two decides" id="{8eea1c7f-eb86-81b0-8201-c85c658f854d}">
          <p14:sldIdLst>
            <p14:sldId id="256"/>
            <p14:sldId id="257"/>
            <p14:sldId id="258"/>
            <p14:sldId id="259"/>
          </p14:sldIdLst>
        </p14:section>
        <p14:section name="What changes after cutover" id="{5776673c-586a-3852-fbf1-623703ec5059}">
          <p14:sldIdLst>
            <p14:sldId id="260"/>
            <p14:sldId id="261"/>
            <p14:sldId id="262"/>
            <p14:sldId id="263"/>
            <p14:sldId id="264"/>
            <p14:sldId id="265"/>
            <p14:sldId id="266"/>
          </p14:sldIdLst>
        </p14:section>
        <p14:section name="Who runs day two" id="{d0d09f6c-df6a-deeb-68c8-8a7a5ebbffc5}">
          <p14:sldIdLst>
            <p14:sldId id="267"/>
            <p14:sldId id="268"/>
            <p14:sldId id="269"/>
          </p14:sldIdLst>
        </p14:section>
        <p14:section name="How to prove and measure it" id="{27e0ee07-ee2d-53ee-ff26-eca025d70d19}">
          <p14:sldIdLst>
            <p14:sldId id="270"/>
            <p14:sldId id="271"/>
            <p14:sldId id="272"/>
            <p14:sldId id="273"/>
          </p14:sldIdLst>
        </p14:section>
        <p14:section name="Backup" id="{481da71f-75a9-2c83-7bbb-e5ed4652082e}">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[0:00–1:29]  This is the executive briefing for Book 15 of the Federal Modernization Workbook, Compliance Automation and Day-2 Operations. It runs about thirty minutes, for the people who own what happens after cutover: the CIO, the service owners, the help desk and operations leads, and the CISO.
The book's argument fits in three sentences. A modernized estate is judged on day two, at the help desk, where a reset, an unlock, a joiner and a leaver either run safely under the new model or get done the old way. Every day-two change touches a control, so compliance lives or dies in routine operations, not in the assessment. And the fix isn't more discipline at the desk: it's a model in which the governed path is also the easiest one, with the evidence produced as a side effect.
I'll take four parts: why day two decides; what changes for support and operations after cutover; who runs day two and who decides; and how the agency proves and measures it. Every decision slide names the decision, its owner and when it's needed. Where the owner or the timing is the program's own recommendation rather than a federal assignment, the notes say so. Product facts are dated observations, checked October 21 and 22, 2026.
Workbook: Book 15, index; Chapter 01 — Modernization Succeeds or Fails at the Help Desk; Chapter 02 — Day Two Is Where Compliance Lives or 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[1:29–3:11]  A modernization program spends most of its attention on day one: the tenant is built, the identities are synchronized, the cutover runs and someone sends a note saying the wave went well. None of that is what the estate is judged on.
It's judged on day two. A user who changed phones over the weekend can't sign in. A new hire needs an account, a license and three groups by Monday. A manager wants a contractor's access removed today. Each lands at the help desk, and each tests the new model. Can the desk do the work without standing administrator rights? Does the request reach someone entitled to approve it? And is there a record of what happened, to whom, on whose authority?
If not, the desk finds a way. The book lists how modernization quietly reverts: an administrator account kept "for emergencies" that never goes away, an email acted on as if it were the request, a temporary password sent back to the mailbox that asked for it, a fix made in the old console, a command pasted by a requester and run under admin rights. Each is reasonable on the day. Together they rebuild the estate the program set out to replace.
The book's first leadership point is to judge the modernization on day two. Making that a go/no-go test for each wave, owned by the CIO, is the program's model, and Book 01 already makes ticket volume a go/no-go input.
Workbook: Book 15, Chapter 01 — Modernization Succeeds or Fails at the Help Desk (Day two is most of the work; Attackers know where the keys are; How modernization quietly reverts;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[3:11–4:45]  The help desk holds the keys, and Microsoft is blunt about it. It labels the Helpdesk Administrator role privileged, and warns that changing a user's password "may mean the ability to assume that user's identity and permissions." When an administrator chooses to require MFA re-registration, Entra ID deletes the user's phone numbers, authenticator registrations and software tokens, and whoever signs in next and registers a method controls the account. An authenticator reset on an unverified request isn't a support task. It's a transfer of the account to whoever asked.
Attackers know it. CISA's advisory on Scattered Spider, revised in July 2025, describes actors calling help desks to reset passwords and transfer MFA tokens. OMB's M-22-09 says recovery processes are a potential bypass of authentication and should use high-friction methods. NIST's SP 800-63B-4 requires repeated proofing to match the original level, and every recovery must notify the account holder.
The program turns this into a verification ladder, with defaults the CISO sets. A user with a phishing-resistant sign-in acts from that session. A user with only a weaker method needs a second check the CISO approves. A user who has lost everything is identity-proofed and gets a one-time pass. Email, caller ID and knowledge questions verify no one. The book's matrix gives the CISO this procedure, reviewed yearly and after any social-engineering incident.
Workbook: Book 15, Chapter 01 (The help desk holds the keys; Attackers know where the keys are; Federal guidance treats recovery as a bypass); Chapter 03 (Verify the person before a sensitive action); Chapter 10 (artifact ownership: the identity-verification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[4:45–6:21]  The same story, seen from the authorization package. The day after go-live, the help desk resets a few hundred passwords, onboards a dozen people, changes group memberships and grants an application. Every one of those changes touches a control. Routed, approved, executed under least privilege and recorded, the package stays true. Done as portal clicks, it ages with every click.
The controls day-two work touches most, account management, authenticator management, change control and component inventory, are among the most sampled, and their text is specific. An account created from an email has no approval the control recognizes. A subscription stood up by hand never reaches the inventory.
The book is honest about the baseline. At Moderate, few controls demand automation in so many words. The program's case is about volume: at day-two volume, people assembling the record by hand can't keep up, and what they produce is a reconstruction, not evidence.
So the book describes three layers a control passes through: designed, deployed as code, and operated, with an owner, a change gate, a clock and an evidence feed. A control configured but not run that way is, in the program's phrase, a hope. The book's leadership point is to fund that third layer, and that it's mostly automation, not headcount. Scope and funding sit with the CIO and the executive sponsor; the timing is design guidance.
Workbook: Book 15, Chapter 02 — Day Two Is Where Compliance Lives or Dies (Compliance decays through routine work; Designed, deployed, operated; What leadership should take from this); Chapter 10 (staffing and funding: CIO and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[6:21–7:56]  Day-two work needs a system of record: somewhere a request becomes a task with an owner, an approval trail, a clock and a link to the asset it touches. The program splits the management plane in two. Actuation stays platform-native: Microsoft 365 through its own tools, Azure through Azure Policy and Defender for Cloud, and so on. Governance and evidence are unified in one workflow-and-evidence system.
The requirement is a contract, not a product, with four properties and a guardrail, all program design. Work routed to a named owner. Change gated by a recorded approval, never the requester's. Execution under a least-privilege service identity, never standing write over the estate it governs. Machine-readable evidence emitted. And the configuration database reconciles to the authoritative inventory; it's depended on for routing, never for truth.
ServiceNow is the reference platform because many agencies run it, not a requirement; another authorized platform, or a composed pipeline inside the boundary, can meet the same contract. On the boundary question: the Marketplace lists ServiceNow's Government Community Cloud as FedRAMP Certified at Class D, High, as of October 21, 2026. Every Moderate control is also in the High baseline, so the direction is conservative, but the program's design is to record that treatment explicitly in the agency's own authorization. The platform also needs its own system owner, ISSO and authorizing official.
Workbook: Book 15, Chapter 02 (The coordination contract; ServiceNow as the reference platform; The boundary question; What leadership should take from this: buy the contract); Chapter 10 (The ITSM platform team: the platform is a system in its own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[7:56–9:34]  The program's operating rule is that nothing is handled as ad hoc email to the cloud services team. Every request is triaged inside the service management platform first, then routed by the authority the task requires. Cloud services is the escalation tier above the help desk, not a second intake queue.
Work arrives from four kinds of source: self-service, email, the identity governance platform and monitoring. All land in one queue. Triage asks one question: what authority does this task need? Who sent it, how urgent they say it is and how senior they are don't change the answer. The classes run from A0, no access change, through A1, changes to the requester's own account, A2, owner-governed access, to A3, governance actions that are never automated. The checks run in a fixed order, and the first catches anything claiming to come from Microsoft.
Two details matter at the executive level. Approvals carry a due date, and the program sets the timeout to reject or cancel, never approve, so silence can't grant access. And the front door has to be usable by everyone: the Revised 508 Standards apply to help desks and self-service support.
The book's matrix gives the identity governance officer the authority classification, and the service desk manager the routing rules inside it. The desk's measures include requests handled outside the front door, so a side door shows up as a number.
Workbook: Book 15, Chapter 03 — Intake, Triage and Routing (One front door; Triage by required authority; Routing: two pipelines and an escalation lane; Service levels); Chapter 10 (artifact ownership: routing and assignment rules; staffing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[9:34–11:08]  The service desk executes; it doesn't decide what it executes. Technicians have no approval authority at any level, hold no standing privileged role, and activate eligible roles through Privileged Identity Management with a justification for the ticket in hand. Microsoft recommends phishing-resistant MFA for these roles.
The book is careful about a trap: capability isn't authority. Several roles that fit help desk work can do more than a help desk should. Authentication Administrator can delete and disable the users it covers. User Administrator can delete users and change licenses. Application Administrator can grant consent, the one thing the desk must never do, so the program replaces it with a narrow custom assignment role. Where the platform can't enforce a boundary, the program enforces it twice: in the ticket, which must carry the approval, and in monitoring.
Some accounts should be out of the desk's reach even with no role: executives and their assistants. A restricted management unit puts them there; only administrators assigned at that unit's scope can change them, and the general desk gets no assignment over it.
Each action leaves three records, the ticket, the PIM activation and the directory audit entry, joined in the SIEM, which flags any activation or change with no matching ticket. The book's matrix gives the identity governance officer the desk's privileged access group, reviewed quarterly.
Workbook: Book 15, Chapter 04 — Help Desk Authority in Entra ID (Capability is not authority; Restricted management units; How the roles reach a technician; Evidence every action leaves; The authority boundary); Chapter 10 (Identity operations;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[11:08–12:48]  A task is high-risk, in the program's design, when one person could use it to take over an identity, break the link between an identity and its source of truth, or open an application to the wrong people, and the platform can't stop the misuse by itself. SP 800-53 asks agencies to separate duties and log privileged functions. The program's answer is two approvers besides the executor, both recorded in the ticket before any role is activated.
The list is short. A reset or a temporary pass for an account the desk can't touch, approved by the owner's manager and the security office. An ImmutableID repair, which the older design let the desk do and this book moves to identity engineering: Microsoft fixes most of those conflicts at the on-premises source, and from July 1, 2026 Entra ID blocks risky hard matches. Deleting or restoring an account outside the HR-driven lifecycle. Assigning a high-risk application. And bulk changes, where one mistake repeats at scale.
The second approver checks three things: the requester was verified, the change is exactly specified with a rollback, and the urgency is real. A caller who presses for speed is routed to the supervisor's emergency change process, which has its own approvals. Urgency is never a reason to skip the second approver. The gate a request enforces belongs to the control owner: the CISO, or the identity governance officer for access items.
Workbook: Book 15, Chapter 04 (The high-risk tasks and why they need a second approver; Why ImmutableID repair left the help desk; What the second approver checks); Chapter 10 (artifact ownership: the approval gate a catalog item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[12:48–14:21]  Every SaaS integration widens the boundary, and three facts put the whole burden on the agency.
First, a GCC tenant pairs with Entra ID in commercial Azure, so it sees the full commercial application gallery. Nothing is blocked and nothing is marked. Second, nothing in the integration path asks about authorization. The gallery's risk scores weigh standards like SOC 2 and ISO 27001; a good score is useful, but it isn't an authorization verdict. Third, FedRAMP's 2026 rules say the authorizing official accepts risk for the agency's use of a service, including "the integrations enabled."
The obvious alternative is the consent baseline. CISA's BOD 25-01 requires that only administrators register applications, that user consent be restricted and that an admin consent workflow exist. The program applies all three. But consent restriction governs who approves an integration. It says nothing about whether the service at the far end is authorized to hold federal data. A fully compliant tenant can still have an administrator, correctly and within policy, consent to a service with no FedRAMP certification. Every check passes, and data still leaves the boundary.
Only an authorization verdict, recorded before anything is configured and re-checked on a cadence, closes that gap. Admin consent approval belongs to the identity governance authority alone and is never delegated; the help desk triages and routes.
Workbook: Book 15, Chapter 06 — SaaS Integration Governance (Why the gate has to be the agency's; Consent restriction answers who, not whether; Keeping integrations authorized); Chapter 01 (admin consent approval); Chapter 10 (SaaS attestation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[14:21–15:55]  The CMDB is the inventory every ticket points at, and the program's position on it is short. Discovery and connectors populate the CMDB; the authoritative naming and addressing record governs identity. Where the two disagree, the CMDB is wrong by definition, and the disagreement is itself a finding.
Why not make the CMDB the authority? Because a scanner reports what it found, not what the agency decided should exist. NIST's configuration management guide says even automated inventories need people to enter the owner and the system association, and those human-decided facts are the identity.
The cost of getting this wrong lands on patching and evidence. Patching at scale depends on the inventory. A missing configuration item is never scanned or patched, and coverage still looks complete because the denominator is wrong. A duplicate lets the fix land on one copy while the finding stays open on the other. Stale items route work to assets that don't exist and compute compliance over phantoms. And the measure that matters most: a connector that silently returns half its usual records produces no error and a CMDB that's half right.
The matrix splits ownership three ways. The DNS and addressing team decides identity, the system owner decides assignment and every shadow asset, and the CMDB owner keeps the model and the exception queue, reviewed weekly.
Workbook: Book 15, Chapter 07 — The CMDB and Asset Identity (The CMDB is a projection, not the authority; Why patching and evidence depend on it; Measuring the inventory); Chapter 10 (The CMDB owner; responsibility matrix: CMDB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[15:55–17:31]  Control automation runs one loop on every surface: test, detect drift, raise a typed task against the configuration item, actuate on the native surface, and close with evidence. Microsoft already tests most of the settings; the agency's job is to own the result, not to re-test it.
Two rules hold the loop together. The coordination platform reads; it doesn't write. A workflow tool with standing write access to Conditional Access or tenant configuration would itself be a least-privilege problem, so a safe automated fix runs as a scoped, logged action under its own approval. And a task closes on a re-test of the same asset, not on a click.
What differs is the platform, and the dates matter. The clock on vulnerabilities comes from BOD 26-04, issued June 10, 2026, not from FedRAMP's provider timeframes. Defender for Cloud's ServiceNow integration is generally available in commercial Azure and not in Azure Government. AWS Audit Manager went into maintenance mode on April 30, 2026, so nobody should start a federal evidence program on it, and the AWS Service Management Connector ends March 31, 2027. On its own VMware estate the agency inherits nothing: in VCF 9.1 the old compliance benchmarks were replaced, and no NIST benchmark is listed, so the mapping is the agency's work.
The matrix gives the CISO the decision on the automation's service identity and its permissions.
Workbook: Book 15, Chapter 08 (One loop on every surface; Getting results into the ITSM platform; The clock on each task; Honest limits); Chapter 09 (AWS Audit Manager; VMware: the on-premises evidence gap; Honest limits); Chapter 10 (automation service identity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[17:31–19:09]  Day two is run by the people who touch the estate most and decide the least, so the design has to put every decision with someone who isn't holding the keyboard. A service desk that approves its own resets has rebuilt the standing administrator. A service management team that edits an approval rule to clear a backlog has quietly changed who may approve. Nobody is acting in bad faith; each is closing a ticket.
The book separates deciding, doing, being consulted and owning an artifact. The service desk executes. Its supervisor is the one approver inside it, and only for routine credential work on ordinary users after the technician has verified the person; never a ticket the supervisor executes, never access to an application, never the second approver on a high-risk task. Platform owners own the runbooks and what each catalog item does; the control owner, the CISO or the identity governance officer, owns the gate it enforces; and the ITSM platform team builds both and decides neither.
The fourth kind of involvement matters because day-two work runs on artifacts, and artifacts decay. A runbook that still points to a retired console is a decision nobody made, enforced every time someone follows it. The book gives each artifact one owner, recorded on it, with a review date. Who drives that across the estate is the program's model: the CIO, through the program office.
Workbook: Book 15, Chapter 10 — Who Runs Day Two (Deciding, doing and owning; The service desk lines; Who owns each catalog item and runbook;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[19:09–20:46]  How well the desk is staffed shows up in its numbers before it shows up in an audit. The program's measures are design, reviewed weekly by the supervisor and monthly by the service desk manager with the identity governance officer and the CISO's representative.
Each one tells you something specific. Tickets past their service level show capacity and stuck escalations. A rising share escalated to cloud services or engineering shows a runbook or catalog gap. Tickets returned for missing evidence show whether closure discipline is holding. Identity verifications that failed or were abandoned show social-engineering pressure, or a step that doesn't work for real users. Privileged activations with no matching ticket mean the queue and the roles have come apart, and each one is a supervisor report. Requests handled outside the front door are side doors. And from the inventory: a discovery or connector run that returns fewer records than last time is coverage decaying before it becomes a finding.
The response depends on the problem. A capacity problem gets more people; a coverage problem gets a runbook or catalog change through its owner; a discipline problem gets training. The service management platform produces the measures, so nobody on the desk reports on their own work by hand.
Staffing and sourcing are the CIO's decision, as every scope and funding decision is. A contracted desk works under this model unchanged.
Workbook: Book 15, Chapter 10 (The service desk lines; Staffing, measuring and watching the queue; the responsibility matrix: staffing and sourcing); Chapter 07 (Measuring the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[20:46–22:29]  The change advisory board is the agency's change control element for production, the body CM-3 asks for. ServiceNow's change model gives it a defined place. A standard change is pre-authorized and low risk. A normal change needs assessment, peer approval and CAB authorization. An emergency change goes straight to authorization for CAB approval. The program maps that onto its own tempo, as design: approving a standard-change model approves every future instance inside it, so the CAB reviews the model as carefully as a normal change and withdraws it when its failure rate rises.
Two decisions aren't the CAB's. A class of change allowed to run without a person, and a change that may need reauthorization, are risk decisions, and risk is the authorizing official's. The CAB is consulted because it sees the change volume and the failure history.
The most common way separation is lost on day two is quieter. An approval rule is configuration in the platform, and the team that maintains the platform can usually edit it. CM-5 names workflow automation as an access restriction on change, and the program reads that literally: a change to an approval rule, a routing rule or an integration's permissions is a change to a control, raised as a normal change and authorized by the CAB, with the platform's own ISSO consulted.
Membership follows the controls: the CISO's and privacy representatives, the ISSOs on the agenda, platform owners, the service desk lead and security operations.
Workbook: Book 15, Chapter 10 (The change advisory board; The ITSM platform team; Keeping the roles apart; the responsibility matrix: ITSM platform change, standard change, L4 and reauthorization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[22:29–24:09]  A closed ticket proves that someone did some work. An assessed control proves the work held, and only the second belongs in front of an authorizing official.
The program's rule is simple: a control is proven by evidence a system produced whenever a system can observe it, and a person attests only to what no system can observe, such as a policy approval, a contract clause or a physical inspection. The package says which is which. Federal guidance supports both halves: SP 800-137 says monitoring can't be achieved by manual processes alone or automated processes alone. What the program won't do is let a signature stand in for a reading a system could have taken; that's a finding, because the package claims less than it could prove.
The loop has four steps: map each control to the tests that evidence it, test on a schedule, turn every gap into a POA&amp;M item with one owner, and emit assessed state and the POA&amp;M in OSCAL. Three POA&amp;M rules follow, all design. An item closes on a passing re-test, not on ticket closure. A slipped milestone escalates; it doesn't quietly move. And the POA&amp;M is never a parallel spreadsheet. The independent assessor stays: automated results are evidence for them, not a substitute.
One correction from the book: FedRAMP's Key Security Indicators bind providers, not agencies. The system owner owns the system's day-two evidence; the ISSO regenerates the results monthly.
Workbook: Book 15, Chapter 11 — Attestation, Evidence and the Compliance Application (System evidence first; The attestation loop; A correction about FedRAMP's indicators); Chapter 12 (monthly regeneration); Chapter 10 (day-two evidence in the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[24:09–25:46]  Before anyone builds a compliance application, the agency should know what its platform already does. As of October 2026, and every release changes this, ServiceNow ships much of the attestation loop. Policy and Compliance Management schedules control tests and turns gaps into issues. Continuous Authorization and Monitoring walks the seven RMF steps, shows every POA&amp;M in one view, and in recent releases imports and exports OSCAL security plans, POA&amp;Ms, assessment plans and results. It's a separate subscription. Configuration Compliance imports Defender for Cloud findings, but Microsoft lists that integration as not available in Azure Government. A partner has announced an application for FedRAMP's indicators; that's a vendor announcement, not a verified capability.
The platform itself is authorized for federal use: the Marketplace lists ServiceNow's Government Community Cloud at Class D, High, with 101 agency authorizations as of October 21, 2026.
So the program's recommendation is buy first, build only what's missing. What the native applications don't provide, as far as the program could verify, is specific to this design: joining every finding to the authoritative asset identity before a task is raised, a closure gate that demands proof and flags human-only closures, and a check that keeps the platform's control set in step with the authoritative control map. If the platform team can deliver those as configuration, skip the custom build. Build-or-buy is a scope and funding decision.
Workbook: Book 15, Chapter 11 (The platform is the workflow record, not the evidence store; What ServiceNow already provides; Build, buy or both); Chapter 10 (scope and funding: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[25:46–27:23]  Two things make a runbook more than a checklist. Each step says what it proves, so an operator who skips one knows what evidence stops arriving. And the runbook checks the automation, not just the estate, because the most dangerous failure in an automated operation is a silent one: a log source that stops sending, a detection that stopped matching after a schema change, a pipeline that deployed without closing its control. A control that fails silently is worse than one known to be absent; it carries false confidence into an authorization.
The cadence is design: daily probes and routing, weekly tests of the detectors, monthly regeneration and review, and quarterly step-back reviews, including privileged access, which is never a self-review.
The harnesses make silent failure loud. The telemetry-completeness check is the most valuable: a source past its freshness limit raises a high-severity alert, because a dark source is a control outage. The detection-efficacy replay runs known-bad but harmless events and asserts the rule still fires. Human-only closures are counted and reviewed weekly, either evidenced or reopened.
The book is honest about limits. Efficacy tests bound regression; they don't prove coverage. At Moderate the harnesses are CA-2 and CA-7 evidence, not SI-6, which is High only. And a harness that stops running looks exactly like one that passes, which is why the ISSO's monthly review checks that each one ran.
Workbook: Book 15, Chapter 12 — The Day-Two Operator Runbook and Validation (The runbook at a glance; Weekly, monthly and quarterly; Validation and test harnesses; What the harnesses can't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[27:23–29:11]  So, the decisions, with their owners and timing. None of them is a procurement.
The CIO calls a wave complete only after a reset, an unlock, a joiner and a leaver have run under the new model; funds the operating layer with the executive sponsor; holds whatever coordination platform the agency uses to the contract, with its own authorizing official; gives every catalog item, runbook and configuration class one owner and a review date; staffs the desk from its measures; and buys the native compliance applications before building anything.
The CISO sets the identity-verification ladder for resets and recovery, alerts on every reset, owns the gate on high-risk tasks, and keeps the automation's identity read-only on the estate. The identity governance officer reviews the desk's privileged access group quarterly and records an authorization verdict before any SaaS consent. The service desk manager closes the side doors into one front door.
System owners decide every shadow asset and own their system's day-two evidence, with POA&amp;M items closing only on re-test. The change advisory board treats any change to approval rules, routing or integrations as a normal change. And the ISSO confirms every month that each harness ran, while security operations alerts on any dark source.
The next step needs no procurement: run one reset, one joiner and one leaver end to end under the new model, and look at what the record shows. Make the governed path the easiest path, and the evidence writes itself. Book 15 has the detail, with every claim footnoted. Thank you.
Workbook: Book 15, Chapters 01–12 (owners from Chapter 10's responsibility matrix and artifact-ownership table; timing from the chapters named on each slide, otherwise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15 Compliance Automation &amp; Day-2 Operations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Day-2 Operations: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15  ·  Where modernization becomes routine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the CIO, service owners, help desk and operations leads, and the CISO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estate is judged on day two, at the help desk</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slate card at the top: a request arrives, my authenticator stopped working, please reset it. A red arrow leads into a red-outlined group labeled as found, with three cards: the operator looks up the user under a standing admin account; clicks require re-register MFA with no check on who is asking; replies done, and the next person to enroll a method controls the account. A green arrow leads into a green-outlined group labeled under the new model, with five cards: a typed request against the identity record, not a portal action; identity verified to the policy the CISO set, with a second approver for privileged accounts; the change executed under a just-in-time scoped role; a Temporary Access Pass delivered on a channel separate from the request; and the ticket closed with a record of who asked, who approved, how the person was verified and what changed, with a security alert raised for the reset.">    </p:cNvPr>
          <p:cNvPicPr>
            <a:picLocks noChangeAspect="1"/>
          </p:cNvPicPr>
          <p:nvPr/>
        </p:nvPicPr>
        <p:blipFill>
          <a:blip r:embed="rId1"/>
          <a:stretch>
            <a:fillRect/>
          </a:stretch>
        </p:blipFill>
        <p:spPr>
          <a:xfrm>
            <a:off x="548640" y="1371600"/>
            <a:ext cx="3162143" cy="3291840"/>
          </a:xfrm>
          <a:prstGeom prst="rect">
            <a:avLst/>
          </a:prstGeom>
        </p:spPr>
      </p:pic>
      <p:sp>
        <p:nvSpPr>
          <p:cNvPr id="6" name="Revert box" descr="">
            <a:extLst>
              <a:ext uri="{C183D7F6-B498-43B3-948B-1728B52AA6E4}">
                <adec:decorative xmlns:adec="http://schemas.microsoft.com/office/drawing/2017/decorative" val="1"/>
              </a:ext>
            </a:extLst>
          </p:cNvPr>
          <p:cNvSpPr/>
          <p:nvPr/>
        </p:nvSpPr>
        <p:spPr>
          <a:xfrm>
            <a:off x="3939383" y="1371600"/>
            <a:ext cx="7719217"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4167983"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299656" y="1649578"/>
            <a:ext cx="285293" cy="285293"/>
          </a:xfrm>
          <a:prstGeom prst="rect">
            <a:avLst/>
          </a:prstGeom>
        </p:spPr>
      </p:pic>
      <p:sp>
        <p:nvSpPr>
          <p:cNvPr id="9" name="Revert head"/>
          <p:cNvSpPr txBox="1"/>
          <p:nvPr/>
        </p:nvSpPr>
        <p:spPr>
          <a:xfrm>
            <a:off x="4853783" y="1517904"/>
            <a:ext cx="6713377"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How modernization quietly reverts</a:t>
            </a:r>
            <a:endParaRPr lang="en-US" sz="1700" dirty="0"/>
          </a:p>
        </p:txBody>
      </p:sp>
      <p:sp>
        <p:nvSpPr>
          <p:cNvPr id="10" name="Revert list"/>
          <p:cNvSpPr txBox="1"/>
          <p:nvPr/>
        </p:nvSpPr>
        <p:spPr>
          <a:xfrm>
            <a:off x="4167983" y="2194560"/>
            <a:ext cx="7353457"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The emergency admin account that never goes away</a:t>
            </a:r>
            <a:endParaRPr lang="en-US" sz="1400" dirty="0"/>
          </a:p>
          <a:p>
            <a:pPr marL="342900" indent="-342900">
              <a:spcAft>
                <a:spcPts val="600"/>
              </a:spcAft>
              <a:buSzPct val="100000"/>
              <a:buChar char="•"/>
            </a:pPr>
            <a:r>
              <a:rPr lang="en-US" sz="1400" dirty="0">
                <a:solidFill>
                  <a:schemeClr val="tx2"/>
                </a:solidFill>
              </a:rPr>
              <a:t>The email that becomes the request</a:t>
            </a:r>
            <a:endParaRPr lang="en-US" sz="1400" dirty="0"/>
          </a:p>
          <a:p>
            <a:pPr marL="342900" indent="-342900">
              <a:spcAft>
                <a:spcPts val="600"/>
              </a:spcAft>
              <a:buSzPct val="100000"/>
              <a:buChar char="•"/>
            </a:pPr>
            <a:r>
              <a:rPr lang="en-US" sz="1400" dirty="0">
                <a:solidFill>
                  <a:schemeClr val="tx2"/>
                </a:solidFill>
              </a:rPr>
              <a:t>The temporary password sent back to the same inbox</a:t>
            </a:r>
            <a:endParaRPr lang="en-US" sz="1400" dirty="0"/>
          </a:p>
          <a:p>
            <a:pPr marL="342900" indent="-342900">
              <a:spcAft>
                <a:spcPts val="600"/>
              </a:spcAft>
              <a:buSzPct val="100000"/>
              <a:buChar char="•"/>
            </a:pPr>
            <a:r>
              <a:rPr lang="en-US" sz="1400" dirty="0">
                <a:solidFill>
                  <a:schemeClr val="tx2"/>
                </a:solidFill>
              </a:rPr>
              <a:t>The old console, and the script someone pasted</a:t>
            </a:r>
            <a:endParaRPr lang="en-US" sz="1400" dirty="0"/>
          </a:p>
          <a:p>
            <a:pPr marL="342900" indent="-342900">
              <a:spcAft>
                <a:spcPts val="600"/>
              </a:spcAft>
              <a:buSzPct val="100000"/>
              <a:buChar char="•"/>
            </a:pPr>
            <a:r>
              <a:rPr lang="en-US" sz="1400" dirty="0">
                <a:solidFill>
                  <a:schemeClr val="tx2"/>
                </a:solidFill>
              </a:rPr>
              <a:t>Each is reasonable on the day; together they rebuild the old estate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Call a wave complete only after a reset, an unlock, a joiner and a leaver have run under the new model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at each wave's go/no-go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each wave is closed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Chapter 01 (Day two is most of the work; How modernization quietly reverts; What leadership should take from this). Owner and timing are the program's model.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 authenticator reset hands over the account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Reset head"/>
          <p:cNvSpPr txBox="1"/>
          <p:nvPr/>
        </p:nvSpPr>
        <p:spPr>
          <a:xfrm>
            <a:off x="548640" y="1371600"/>
            <a:ext cx="5943600" cy="274320"/>
          </a:xfrm>
          <a:prstGeom prst="rect">
            <a:avLst/>
          </a:prstGeom>
          <a:noFill/>
          <a:ln/>
        </p:spPr>
        <p:txBody>
          <a:bodyPr wrap="square" lIns="0" tIns="0" rIns="0" bIns="0" rtlCol="0" anchor="t"/>
          <a:lstStyle/>
          <a:p>
            <a:pPr indent="0" marL="0">
              <a:buNone/>
            </a:pPr>
            <a:r>
              <a:rPr lang="en-US" sz="1200" b="1" dirty="0">
                <a:solidFill>
                  <a:srgbClr val="64748B"/>
                </a:solidFill>
              </a:rPr>
              <a:t>WHAT THE SOURCES SAY</a:t>
            </a:r>
            <a:endParaRPr lang="en-US" sz="1200" dirty="0"/>
          </a:p>
        </p:txBody>
      </p:sp>
      <p:sp>
        <p:nvSpPr>
          <p:cNvPr id="6" name="Reset 0" descr="">
            <a:extLst>
              <a:ext uri="{C183D7F6-B498-43B3-948B-1728B52AA6E4}">
                <adec:decorative xmlns:adec="http://schemas.microsoft.com/office/drawing/2017/decorative" val="1"/>
              </a:ext>
            </a:extLst>
          </p:cNvPr>
          <p:cNvSpPr/>
          <p:nvPr/>
        </p:nvSpPr>
        <p:spPr>
          <a:xfrm>
            <a:off x="548640" y="1719072"/>
            <a:ext cx="594360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eset 0 text"/>
          <p:cNvSpPr txBox="1"/>
          <p:nvPr/>
        </p:nvSpPr>
        <p:spPr>
          <a:xfrm>
            <a:off x="731520" y="1719072"/>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Microsoft   </a:t>
            </a:r>
            <a:pPr indent="0" marL="0">
              <a:buNone/>
            </a:pPr>
            <a:r>
              <a:rPr lang="en-US" sz="1400" dirty="0">
                <a:solidFill>
                  <a:schemeClr val="tx2"/>
                </a:solidFill>
              </a:rPr>
              <a:t>Helpdesk Administrator is privileged: a reset can assume an identity</a:t>
            </a:r>
            <a:endParaRPr lang="en-US" sz="1400" dirty="0"/>
          </a:p>
        </p:txBody>
      </p:sp>
      <p:sp>
        <p:nvSpPr>
          <p:cNvPr id="8" name="Reset 1" descr="">
            <a:extLst>
              <a:ext uri="{C183D7F6-B498-43B3-948B-1728B52AA6E4}">
                <adec:decorative xmlns:adec="http://schemas.microsoft.com/office/drawing/2017/decorative" val="1"/>
              </a:ext>
            </a:extLst>
          </p:cNvPr>
          <p:cNvSpPr/>
          <p:nvPr/>
        </p:nvSpPr>
        <p:spPr>
          <a:xfrm>
            <a:off x="548640" y="2304288"/>
            <a:ext cx="594360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eset 1 text"/>
          <p:cNvSpPr txBox="1"/>
          <p:nvPr/>
        </p:nvSpPr>
        <p:spPr>
          <a:xfrm>
            <a:off x="731520" y="2304288"/>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Re-register   </a:t>
            </a:r>
            <a:pPr indent="0" marL="0">
              <a:buNone/>
            </a:pPr>
            <a:r>
              <a:rPr lang="en-US" sz="1400" dirty="0">
                <a:solidFill>
                  <a:schemeClr val="tx2"/>
                </a:solidFill>
              </a:rPr>
              <a:t>Methods deleted; whoever registers next owns it</a:t>
            </a:r>
            <a:endParaRPr lang="en-US" sz="1400" dirty="0"/>
          </a:p>
        </p:txBody>
      </p:sp>
      <p:sp>
        <p:nvSpPr>
          <p:cNvPr id="10" name="Reset 2" descr="">
            <a:extLst>
              <a:ext uri="{C183D7F6-B498-43B3-948B-1728B52AA6E4}">
                <adec:decorative xmlns:adec="http://schemas.microsoft.com/office/drawing/2017/decorative" val="1"/>
              </a:ext>
            </a:extLst>
          </p:cNvPr>
          <p:cNvSpPr/>
          <p:nvPr/>
        </p:nvSpPr>
        <p:spPr>
          <a:xfrm>
            <a:off x="548640" y="2889504"/>
            <a:ext cx="594360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eset 2 text"/>
          <p:cNvSpPr txBox="1"/>
          <p:nvPr/>
        </p:nvSpPr>
        <p:spPr>
          <a:xfrm>
            <a:off x="731520" y="2889504"/>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CISA   </a:t>
            </a:r>
            <a:pPr indent="0" marL="0">
              <a:buNone/>
            </a:pPr>
            <a:r>
              <a:rPr lang="en-US" sz="1400" dirty="0">
                <a:solidFill>
                  <a:schemeClr val="tx2"/>
                </a:solidFill>
              </a:rPr>
              <a:t>Scattered Spider called help desks to reset and move MFA</a:t>
            </a:r>
            <a:endParaRPr lang="en-US" sz="1400" dirty="0"/>
          </a:p>
        </p:txBody>
      </p:sp>
      <p:sp>
        <p:nvSpPr>
          <p:cNvPr id="12" name="Reset 3" descr="">
            <a:extLst>
              <a:ext uri="{C183D7F6-B498-43B3-948B-1728B52AA6E4}">
                <adec:decorative xmlns:adec="http://schemas.microsoft.com/office/drawing/2017/decorative" val="1"/>
              </a:ext>
            </a:extLst>
          </p:cNvPr>
          <p:cNvSpPr/>
          <p:nvPr/>
        </p:nvSpPr>
        <p:spPr>
          <a:xfrm>
            <a:off x="548640" y="3474720"/>
            <a:ext cx="594360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eset 3 text"/>
          <p:cNvSpPr txBox="1"/>
          <p:nvPr/>
        </p:nvSpPr>
        <p:spPr>
          <a:xfrm>
            <a:off x="731520" y="3474720"/>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M-22-09   </a:t>
            </a:r>
            <a:pPr indent="0" marL="0">
              <a:buNone/>
            </a:pPr>
            <a:r>
              <a:rPr lang="en-US" sz="1400" dirty="0">
                <a:solidFill>
                  <a:schemeClr val="tx2"/>
                </a:solidFill>
              </a:rPr>
              <a:t>Recovery is a bypass; use high-friction methods</a:t>
            </a:r>
            <a:endParaRPr lang="en-US" sz="1400" dirty="0"/>
          </a:p>
        </p:txBody>
      </p:sp>
      <p:sp>
        <p:nvSpPr>
          <p:cNvPr id="14" name="Reset 4" descr="">
            <a:extLst>
              <a:ext uri="{C183D7F6-B498-43B3-948B-1728B52AA6E4}">
                <adec:decorative xmlns:adec="http://schemas.microsoft.com/office/drawing/2017/decorative" val="1"/>
              </a:ext>
            </a:extLst>
          </p:cNvPr>
          <p:cNvSpPr/>
          <p:nvPr/>
        </p:nvSpPr>
        <p:spPr>
          <a:xfrm>
            <a:off x="548640" y="4059936"/>
            <a:ext cx="594360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Reset 4 text"/>
          <p:cNvSpPr txBox="1"/>
          <p:nvPr/>
        </p:nvSpPr>
        <p:spPr>
          <a:xfrm>
            <a:off x="731520" y="4059936"/>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SP 800-63B-4   </a:t>
            </a:r>
            <a:pPr indent="0" marL="0">
              <a:buNone/>
            </a:pPr>
            <a:r>
              <a:rPr lang="en-US" sz="1400" dirty="0">
                <a:solidFill>
                  <a:schemeClr val="tx2"/>
                </a:solidFill>
              </a:rPr>
              <a:t>Re-proof at the original level; always notify</a:t>
            </a:r>
            <a:endParaRPr lang="en-US" sz="1400" dirty="0"/>
          </a:p>
        </p:txBody>
      </p:sp>
      <p:sp>
        <p:nvSpPr>
          <p:cNvPr id="16" name="Ladder box" descr="">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UserShield" descr="">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81114" y="1649578"/>
            <a:ext cx="285293" cy="285293"/>
          </a:xfrm>
          <a:prstGeom prst="rect">
            <a:avLst/>
          </a:prstGeom>
        </p:spPr>
      </p:pic>
      <p:sp>
        <p:nvSpPr>
          <p:cNvPr id="19" name="Ladder head"/>
          <p:cNvSpPr txBox="1"/>
          <p:nvPr/>
        </p:nvSpPr>
        <p:spPr>
          <a:xfrm>
            <a:off x="7635240" y="1517904"/>
            <a:ext cx="39319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verification ladder</a:t>
            </a:r>
            <a:endParaRPr lang="en-US" sz="1700" dirty="0"/>
          </a:p>
        </p:txBody>
      </p:sp>
      <p:sp>
        <p:nvSpPr>
          <p:cNvPr id="20" name="Ladder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Phishing-resistant sign-in: act from that session</a:t>
            </a:r>
            <a:endParaRPr lang="en-US" sz="1400" dirty="0"/>
          </a:p>
          <a:p>
            <a:pPr marL="342900" indent="-342900">
              <a:spcAft>
                <a:spcPts val="600"/>
              </a:spcAft>
              <a:buSzPct val="100000"/>
              <a:buChar char="•"/>
            </a:pPr>
            <a:r>
              <a:rPr lang="en-US" sz="1350" dirty="0">
                <a:solidFill>
                  <a:schemeClr val="tx2"/>
                </a:solidFill>
              </a:rPr>
              <a:t>Weaker method only: plus a check the CISO approves</a:t>
            </a:r>
            <a:endParaRPr lang="en-US" sz="1400" dirty="0"/>
          </a:p>
          <a:p>
            <a:pPr marL="342900" indent="-342900">
              <a:spcAft>
                <a:spcPts val="600"/>
              </a:spcAft>
              <a:buSzPct val="100000"/>
              <a:buChar char="•"/>
            </a:pPr>
            <a:r>
              <a:rPr lang="en-US" sz="1350" dirty="0">
                <a:solidFill>
                  <a:schemeClr val="tx2"/>
                </a:solidFill>
              </a:rPr>
              <a:t>Every method lost: identity proofing, then a one-time pass</a:t>
            </a:r>
            <a:endParaRPr lang="en-US" sz="1400" dirty="0"/>
          </a:p>
          <a:p>
            <a:pPr marL="342900" indent="-342900">
              <a:spcAft>
                <a:spcPts val="600"/>
              </a:spcAft>
              <a:buSzPct val="100000"/>
              <a:buChar char="•"/>
            </a:pPr>
            <a:r>
              <a:rPr lang="en-US" sz="1350" dirty="0">
                <a:solidFill>
                  <a:schemeClr val="tx2"/>
                </a:solidFill>
              </a:rPr>
              <a:t>Never: email, caller ID, a callback the caller gives, knowledge questions</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the identity-verification procedure for resets and recovery, put the most friction on privileged accounts, and alert on every reset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cutover; then yearly</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Entra built-in roles; OMB M-22-09; NIST SP 800-63B-4 (§4.2); CISA AA23-320A (rev. July 29, 2025); SP 800-53 (IA-5, IA-12). Book 15, Chapters 01, 03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Day-two volume is where controls erode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green card at the top: go-live, the estate is assessed and the package is true. Two columns lead down from it. The red column, labeled run by hand, has three cards: portal clicks on emailed requests, under standing admin; each change leaves no approval or record the control recognizes; evidence assembled before the audit, screenshots and exports, which ages until the next cycle. A dashed red arrow labeled findings leads to a slate card at the bottom. The green column, labeled run by automation, has three cards: typed requests, each routed by the authority it needs; an approval gate, a just-in-time role and an integration action; a closing check and a record, emitted to the evidence pipeline. A solid green arrow labeled continuous evidence leads to the same slate card: the authorizing official and continuous monitoring, CA-7.">    </p:cNvPr>
          <p:cNvPicPr>
            <a:picLocks noChangeAspect="1"/>
          </p:cNvPicPr>
          <p:nvPr/>
        </p:nvPicPr>
        <p:blipFill>
          <a:blip r:embed="rId1"/>
          <a:stretch>
            <a:fillRect/>
          </a:stretch>
        </p:blipFill>
        <p:spPr>
          <a:xfrm>
            <a:off x="548640" y="1371600"/>
            <a:ext cx="3578681" cy="3291840"/>
          </a:xfrm>
          <a:prstGeom prst="rect">
            <a:avLst/>
          </a:prstGeom>
        </p:spPr>
      </p:pic>
      <p:sp>
        <p:nvSpPr>
          <p:cNvPr id="6" name="Erode box" descr="">
            <a:extLst>
              <a:ext uri="{C183D7F6-B498-43B3-948B-1728B52AA6E4}">
                <adec:decorative xmlns:adec="http://schemas.microsoft.com/office/drawing/2017/decorative" val="1"/>
              </a:ext>
            </a:extLst>
          </p:cNvPr>
          <p:cNvSpPr/>
          <p:nvPr/>
        </p:nvSpPr>
        <p:spPr>
          <a:xfrm>
            <a:off x="4355921" y="1371600"/>
            <a:ext cx="7302679"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4584521"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16194" y="1649578"/>
            <a:ext cx="285293" cy="285293"/>
          </a:xfrm>
          <a:prstGeom prst="rect">
            <a:avLst/>
          </a:prstGeom>
        </p:spPr>
      </p:pic>
      <p:sp>
        <p:nvSpPr>
          <p:cNvPr id="9" name="Erode head"/>
          <p:cNvSpPr txBox="1"/>
          <p:nvPr/>
        </p:nvSpPr>
        <p:spPr>
          <a:xfrm>
            <a:off x="5270321" y="1517904"/>
            <a:ext cx="6296839"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Designed, deployed, then operated</a:t>
            </a:r>
            <a:endParaRPr lang="en-US" sz="1700" dirty="0"/>
          </a:p>
        </p:txBody>
      </p:sp>
      <p:sp>
        <p:nvSpPr>
          <p:cNvPr id="10" name="Erode list"/>
          <p:cNvSpPr txBox="1"/>
          <p:nvPr/>
        </p:nvSpPr>
        <p:spPr>
          <a:xfrm>
            <a:off x="4584521" y="2194560"/>
            <a:ext cx="6936919"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AC-2, IA-5, CM-3 and CM-8 are sampled, and eroded by hand work</a:t>
            </a:r>
            <a:endParaRPr lang="en-US" sz="1400" dirty="0"/>
          </a:p>
          <a:p>
            <a:pPr marL="342900" indent="-342900">
              <a:spcAft>
                <a:spcPts val="600"/>
              </a:spcAft>
              <a:buSzPct val="100000"/>
              <a:buChar char="•"/>
            </a:pPr>
            <a:r>
              <a:rPr lang="en-US" sz="1400" dirty="0">
                <a:solidFill>
                  <a:schemeClr val="tx2"/>
                </a:solidFill>
              </a:rPr>
              <a:t>At Moderate, few controls demand automation outright</a:t>
            </a:r>
            <a:endParaRPr lang="en-US" sz="1400" dirty="0"/>
          </a:p>
          <a:p>
            <a:pPr marL="342900" indent="-342900">
              <a:spcAft>
                <a:spcPts val="600"/>
              </a:spcAft>
              <a:buSzPct val="100000"/>
              <a:buChar char="•"/>
            </a:pPr>
            <a:r>
              <a:rPr lang="en-US" sz="1400" dirty="0">
                <a:solidFill>
                  <a:schemeClr val="tx2"/>
                </a:solidFill>
              </a:rPr>
              <a:t>At day-two volume, hand-built records are reconstructions</a:t>
            </a:r>
            <a:endParaRPr lang="en-US" sz="1400" dirty="0"/>
          </a:p>
          <a:p>
            <a:pPr marL="342900" indent="-342900">
              <a:spcAft>
                <a:spcPts val="600"/>
              </a:spcAft>
              <a:buSzPct val="100000"/>
              <a:buChar char="•"/>
            </a:pPr>
            <a:r>
              <a:rPr lang="en-US" sz="1400" dirty="0">
                <a:solidFill>
                  <a:schemeClr val="tx2"/>
                </a:solidFill>
              </a:rPr>
              <a:t>Designed and deployed but not operated is a hope, not a control</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Fund the third layer, operation: an owner, a gate, a clock and an evidence feed for every control, mostly in automation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executive sponsor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Next budget cycle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SP 800-53B, release 5.2.0 (AC-2, AC-2(1), AC-2(4), IA-5, CM-3, CM-8, CA-7); SP 800-137. Book 15,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Buy the contract, not the product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ntract head"/>
          <p:cNvSpPr txBox="1"/>
          <p:nvPr/>
        </p:nvSpPr>
        <p:spPr>
          <a:xfrm>
            <a:off x="548640" y="1371600"/>
            <a:ext cx="5943600" cy="274320"/>
          </a:xfrm>
          <a:prstGeom prst="rect">
            <a:avLst/>
          </a:prstGeom>
          <a:noFill/>
          <a:ln/>
        </p:spPr>
        <p:txBody>
          <a:bodyPr wrap="square" lIns="0" tIns="0" rIns="0" bIns="0" rtlCol="0" anchor="t"/>
          <a:lstStyle/>
          <a:p>
            <a:pPr indent="0" marL="0">
              <a:buNone/>
            </a:pPr>
            <a:r>
              <a:rPr lang="en-US" sz="1200" b="1" dirty="0">
                <a:solidFill>
                  <a:srgbClr val="64748B"/>
                </a:solidFill>
              </a:rPr>
              <a:t>THE COORDINATION CONTRACT (PROGRAM DESIGN)</a:t>
            </a:r>
            <a:endParaRPr lang="en-US" sz="1200" dirty="0"/>
          </a:p>
        </p:txBody>
      </p:sp>
      <p:sp>
        <p:nvSpPr>
          <p:cNvPr id="6" name="Contract 0" descr="">
            <a:extLst>
              <a:ext uri="{C183D7F6-B498-43B3-948B-1728B52AA6E4}">
                <adec:decorative xmlns:adec="http://schemas.microsoft.com/office/drawing/2017/decorative" val="1"/>
              </a:ext>
            </a:extLst>
          </p:cNvPr>
          <p:cNvSpPr/>
          <p:nvPr/>
        </p:nvSpPr>
        <p:spPr>
          <a:xfrm>
            <a:off x="548640" y="1719072"/>
            <a:ext cx="594360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ontract 0 text"/>
          <p:cNvSpPr txBox="1"/>
          <p:nvPr/>
        </p:nvSpPr>
        <p:spPr>
          <a:xfrm>
            <a:off x="731520" y="1719072"/>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Owner   </a:t>
            </a:r>
            <a:pPr indent="0" marL="0">
              <a:buNone/>
            </a:pPr>
            <a:r>
              <a:rPr lang="en-US" sz="1400" dirty="0">
                <a:solidFill>
                  <a:schemeClr val="tx2"/>
                </a:solidFill>
              </a:rPr>
              <a:t>Every request and finding: an owner and a clock</a:t>
            </a:r>
            <a:endParaRPr lang="en-US" sz="1400" dirty="0"/>
          </a:p>
        </p:txBody>
      </p:sp>
      <p:sp>
        <p:nvSpPr>
          <p:cNvPr id="8" name="Contract 1" descr="">
            <a:extLst>
              <a:ext uri="{C183D7F6-B498-43B3-948B-1728B52AA6E4}">
                <adec:decorative xmlns:adec="http://schemas.microsoft.com/office/drawing/2017/decorative" val="1"/>
              </a:ext>
            </a:extLst>
          </p:cNvPr>
          <p:cNvSpPr/>
          <p:nvPr/>
        </p:nvSpPr>
        <p:spPr>
          <a:xfrm>
            <a:off x="548640" y="2304288"/>
            <a:ext cx="594360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ontract 1 text"/>
          <p:cNvSpPr txBox="1"/>
          <p:nvPr/>
        </p:nvSpPr>
        <p:spPr>
          <a:xfrm>
            <a:off x="731520" y="2304288"/>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Gate   </a:t>
            </a:r>
            <a:pPr indent="0" marL="0">
              <a:buNone/>
            </a:pPr>
            <a:r>
              <a:rPr lang="en-US" sz="1400" dirty="0">
                <a:solidFill>
                  <a:schemeClr val="tx2"/>
                </a:solidFill>
              </a:rPr>
              <a:t>Approval recorded first; never the requester</a:t>
            </a:r>
            <a:endParaRPr lang="en-US" sz="1400" dirty="0"/>
          </a:p>
        </p:txBody>
      </p:sp>
      <p:sp>
        <p:nvSpPr>
          <p:cNvPr id="10" name="Contract 2" descr="">
            <a:extLst>
              <a:ext uri="{C183D7F6-B498-43B3-948B-1728B52AA6E4}">
                <adec:decorative xmlns:adec="http://schemas.microsoft.com/office/drawing/2017/decorative" val="1"/>
              </a:ext>
            </a:extLst>
          </p:cNvPr>
          <p:cNvSpPr/>
          <p:nvPr/>
        </p:nvSpPr>
        <p:spPr>
          <a:xfrm>
            <a:off x="548640" y="2889504"/>
            <a:ext cx="594360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ontract 2 text"/>
          <p:cNvSpPr txBox="1"/>
          <p:nvPr/>
        </p:nvSpPr>
        <p:spPr>
          <a:xfrm>
            <a:off x="731520" y="2889504"/>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Identity   </a:t>
            </a:r>
            <a:pPr indent="0" marL="0">
              <a:buNone/>
            </a:pPr>
            <a:r>
              <a:rPr lang="en-US" sz="1400" dirty="0">
                <a:solidFill>
                  <a:schemeClr val="tx2"/>
                </a:solidFill>
              </a:rPr>
              <a:t>Least-privilege service identity; no standing write</a:t>
            </a:r>
            <a:endParaRPr lang="en-US" sz="1400" dirty="0"/>
          </a:p>
        </p:txBody>
      </p:sp>
      <p:sp>
        <p:nvSpPr>
          <p:cNvPr id="12" name="Contract 3" descr="">
            <a:extLst>
              <a:ext uri="{C183D7F6-B498-43B3-948B-1728B52AA6E4}">
                <adec:decorative xmlns:adec="http://schemas.microsoft.com/office/drawing/2017/decorative" val="1"/>
              </a:ext>
            </a:extLst>
          </p:cNvPr>
          <p:cNvSpPr/>
          <p:nvPr/>
        </p:nvSpPr>
        <p:spPr>
          <a:xfrm>
            <a:off x="548640" y="3474720"/>
            <a:ext cx="594360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ontract 3 text"/>
          <p:cNvSpPr txBox="1"/>
          <p:nvPr/>
        </p:nvSpPr>
        <p:spPr>
          <a:xfrm>
            <a:off x="731520" y="3474720"/>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Evidence   </a:t>
            </a:r>
            <a:pPr indent="0" marL="0">
              <a:buNone/>
            </a:pPr>
            <a:r>
              <a:rPr lang="en-US" sz="1400" dirty="0">
                <a:solidFill>
                  <a:schemeClr val="tx2"/>
                </a:solidFill>
              </a:rPr>
              <a:t>Request to closing check, emitted as a record</a:t>
            </a:r>
            <a:endParaRPr lang="en-US" sz="1400" dirty="0"/>
          </a:p>
        </p:txBody>
      </p:sp>
      <p:sp>
        <p:nvSpPr>
          <p:cNvPr id="14" name="Contract 4" descr="">
            <a:extLst>
              <a:ext uri="{C183D7F6-B498-43B3-948B-1728B52AA6E4}">
                <adec:decorative xmlns:adec="http://schemas.microsoft.com/office/drawing/2017/decorative" val="1"/>
              </a:ext>
            </a:extLst>
          </p:cNvPr>
          <p:cNvSpPr/>
          <p:nvPr/>
        </p:nvSpPr>
        <p:spPr>
          <a:xfrm>
            <a:off x="548640" y="4059936"/>
            <a:ext cx="594360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Contract 4 text"/>
          <p:cNvSpPr txBox="1"/>
          <p:nvPr/>
        </p:nvSpPr>
        <p:spPr>
          <a:xfrm>
            <a:off x="731520" y="4059936"/>
            <a:ext cx="5669280" cy="512064"/>
          </a:xfrm>
          <a:prstGeom prst="rect">
            <a:avLst/>
          </a:prstGeom>
          <a:noFill/>
          <a:ln/>
        </p:spPr>
        <p:txBody>
          <a:bodyPr wrap="square" lIns="0" tIns="0" rIns="0" bIns="0" rtlCol="0" anchor="ctr"/>
          <a:lstStyle/>
          <a:p>
            <a:pPr indent="0" marL="0">
              <a:buNone/>
            </a:pPr>
            <a:r>
              <a:rPr lang="en-US" sz="1400" b="1" dirty="0">
                <a:solidFill>
                  <a:srgbClr val="1F2A44"/>
                </a:solidFill>
              </a:rPr>
              <a:t>Guardrail   </a:t>
            </a:r>
            <a:pPr indent="0" marL="0">
              <a:buNone/>
            </a:pPr>
            <a:r>
              <a:rPr lang="en-US" sz="1400" dirty="0">
                <a:solidFill>
                  <a:schemeClr val="tx2"/>
                </a:solidFill>
              </a:rPr>
              <a:t>The CMDB reconciles to the authoritative inventory</a:t>
            </a:r>
            <a:endParaRPr lang="en-US" sz="1400" dirty="0"/>
          </a:p>
        </p:txBody>
      </p:sp>
      <p:sp>
        <p:nvSpPr>
          <p:cNvPr id="16" name="Platform box" descr="">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Server" descr="">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81114" y="1649578"/>
            <a:ext cx="285293" cy="285293"/>
          </a:xfrm>
          <a:prstGeom prst="rect">
            <a:avLst/>
          </a:prstGeom>
        </p:spPr>
      </p:pic>
      <p:sp>
        <p:nvSpPr>
          <p:cNvPr id="19" name="Platform head"/>
          <p:cNvSpPr txBox="1"/>
          <p:nvPr/>
        </p:nvSpPr>
        <p:spPr>
          <a:xfrm>
            <a:off x="7635240" y="1517904"/>
            <a:ext cx="39319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platform question</a:t>
            </a:r>
            <a:endParaRPr lang="en-US" sz="1700" dirty="0"/>
          </a:p>
        </p:txBody>
      </p:sp>
      <p:sp>
        <p:nvSpPr>
          <p:cNvPr id="20" name="Platform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Actuation stays native; the ITSM platform coordinates</a:t>
            </a:r>
            <a:endParaRPr lang="en-US" sz="1400" dirty="0"/>
          </a:p>
          <a:p>
            <a:pPr marL="342900" indent="-342900">
              <a:spcAft>
                <a:spcPts val="600"/>
              </a:spcAft>
              <a:buSzPct val="100000"/>
              <a:buChar char="•"/>
            </a:pPr>
            <a:r>
              <a:rPr lang="en-US" sz="1350" dirty="0">
                <a:solidFill>
                  <a:schemeClr val="tx2"/>
                </a:solidFill>
              </a:rPr>
              <a:t>ServiceNow is the reference, not a requirement</a:t>
            </a:r>
            <a:endParaRPr lang="en-US" sz="1400" dirty="0"/>
          </a:p>
          <a:p>
            <a:pPr marL="342900" indent="-342900">
              <a:spcAft>
                <a:spcPts val="600"/>
              </a:spcAft>
              <a:buSzPct val="100000"/>
              <a:buChar char="•"/>
            </a:pPr>
            <a:r>
              <a:rPr lang="en-US" sz="1350" dirty="0">
                <a:solidFill>
                  <a:schemeClr val="tx2"/>
                </a:solidFill>
              </a:rPr>
              <a:t>Its government cloud: FedRAMP Certified, Class D (High)</a:t>
            </a:r>
            <a:endParaRPr lang="en-US" sz="1400" dirty="0"/>
          </a:p>
          <a:p>
            <a:pPr marL="342900" indent="-342900">
              <a:spcAft>
                <a:spcPts val="600"/>
              </a:spcAft>
              <a:buSzPct val="100000"/>
              <a:buChar char="•"/>
            </a:pPr>
            <a:r>
              <a:rPr lang="en-US" sz="1350" dirty="0">
                <a:solidFill>
                  <a:schemeClr val="tx2"/>
                </a:solidFill>
              </a:rPr>
              <a:t>Record a High platform serving Moderate systems as a decision</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Hold any coordination platform to the four properties and the guardrail, and record its certification treatment in the agency's own authorization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the platform's own AO authorizes it</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At platform selection or renewal</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(Oct 21, 2026); ServiceNow MID Server and CAM documentation; SP 800-53 Rev. 5 and 53B (CM-8). Book 15,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front door, routed by the authority a task needs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Three source cards sit in a row at the top: a slate card for self-service catalog items, a slate card for the redirected team mailbox, where a transport rule sends team mail to the ITSM inbound address, and a violet card for machine-raised tickets, meaning IGA requests the connector can't fulfil and monitoring alerts. All three lead into a wide slate front-door card: one triage queue with the assignee blank, where email filters drop loops and junk and a reroute rule pulls back anything assigned straight to cloud services. That leads to a wide amber triage card: classify by the authority the task needs, not by who received it; mail claiming to be from Microsoft is A3, escalate only, verified in the audit log. Triage branches three ways: a blue card for A0 and A1, the ITSM pipeline, where a manager approves and a connector action or help desk task executes; a violet card for A2 and A3, the IGA pipeline, where the owner approves, the IGO approves A3, and a connector or residual task executes; and a red card for out of scope, escalate, covering Conditional Access, directory roles and service principals.">    </p:cNvPr>
          <p:cNvPicPr>
            <a:picLocks noChangeAspect="1"/>
          </p:cNvPicPr>
          <p:nvPr/>
        </p:nvPicPr>
        <p:blipFill>
          <a:blip r:embed="rId1"/>
          <a:stretch>
            <a:fillRect/>
          </a:stretch>
        </p:blipFill>
        <p:spPr>
          <a:xfrm>
            <a:off x="548640" y="1446111"/>
            <a:ext cx="4937760" cy="3142818"/>
          </a:xfrm>
          <a:prstGeom prst="rect">
            <a:avLst/>
          </a:prstGeom>
        </p:spPr>
      </p:pic>
      <p:sp>
        <p:nvSpPr>
          <p:cNvPr id="6" name="Door box" descr="">
            <a:extLst>
              <a:ext uri="{C183D7F6-B498-43B3-948B-1728B52AA6E4}">
                <adec:decorative xmlns:adec="http://schemas.microsoft.com/office/drawing/2017/decorative" val="1"/>
              </a:ext>
            </a:extLst>
          </p:cNvPr>
          <p:cNvSpPr/>
          <p:nvPr/>
        </p:nvSpPr>
        <p:spPr>
          <a:xfrm>
            <a:off x="5715000" y="1371600"/>
            <a:ext cx="59436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DoorOpen" descr="">
            <a:extLst>
              <a:ext uri="{C183D7F6-B498-43B3-948B-1728B52AA6E4}">
                <adec:decorative xmlns:adec="http://schemas.microsoft.com/office/drawing/2017/decorative" val="1"/>
              </a:ext>
            </a:extLst>
          </p:cNvPr>
          <p:cNvSpPr/>
          <p:nvPr/>
        </p:nvSpPr>
        <p:spPr>
          <a:xfrm>
            <a:off x="59436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075274" y="1649578"/>
            <a:ext cx="285293" cy="285293"/>
          </a:xfrm>
          <a:prstGeom prst="rect">
            <a:avLst/>
          </a:prstGeom>
        </p:spPr>
      </p:pic>
      <p:sp>
        <p:nvSpPr>
          <p:cNvPr id="9" name="Door head"/>
          <p:cNvSpPr txBox="1"/>
          <p:nvPr/>
        </p:nvSpPr>
        <p:spPr>
          <a:xfrm>
            <a:off x="6629400" y="1517904"/>
            <a:ext cx="49377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Triage by required authority</a:t>
            </a:r>
            <a:endParaRPr lang="en-US" sz="1700" dirty="0"/>
          </a:p>
        </p:txBody>
      </p:sp>
      <p:sp>
        <p:nvSpPr>
          <p:cNvPr id="10" name="Door list"/>
          <p:cNvSpPr txBox="1"/>
          <p:nvPr/>
        </p:nvSpPr>
        <p:spPr>
          <a:xfrm>
            <a:off x="5943600" y="2194560"/>
            <a:ext cx="55778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Portal, email, IGA and monitoring all land in one queue</a:t>
            </a:r>
            <a:endParaRPr lang="en-US" sz="1400" dirty="0"/>
          </a:p>
          <a:p>
            <a:pPr marL="342900" indent="-342900">
              <a:spcAft>
                <a:spcPts val="600"/>
              </a:spcAft>
              <a:buSzPct val="100000"/>
              <a:buChar char="•"/>
            </a:pPr>
            <a:r>
              <a:rPr lang="en-US" sz="1350" dirty="0">
                <a:solidFill>
                  <a:schemeClr val="tx2"/>
                </a:solidFill>
              </a:rPr>
              <a:t>Classes A0 to A3 pick the pipeline and the approver</a:t>
            </a:r>
            <a:endParaRPr lang="en-US" sz="1400" dirty="0"/>
          </a:p>
          <a:p>
            <a:pPr marL="342900" indent="-342900">
              <a:spcAft>
                <a:spcPts val="600"/>
              </a:spcAft>
              <a:buSzPct val="100000"/>
              <a:buChar char="•"/>
            </a:pPr>
            <a:r>
              <a:rPr lang="en-US" sz="1350" dirty="0">
                <a:solidFill>
                  <a:schemeClr val="tx2"/>
                </a:solidFill>
              </a:rPr>
              <a:t>Microsoft look-alikes and privileged targets are caught first</a:t>
            </a:r>
            <a:endParaRPr lang="en-US" sz="1400" dirty="0"/>
          </a:p>
          <a:p>
            <a:pPr marL="342900" indent="-342900">
              <a:spcAft>
                <a:spcPts val="600"/>
              </a:spcAft>
              <a:buSzPct val="100000"/>
              <a:buChar char="•"/>
            </a:pPr>
            <a:r>
              <a:rPr lang="en-US" sz="1350" dirty="0">
                <a:solidFill>
                  <a:schemeClr val="tx2"/>
                </a:solidFill>
              </a:rPr>
              <a:t>A timed-out approval rejects or cancels; silence never approves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Close the side doors: route the team mailbox into triage, and count any work handled outside the front door as a measured gap</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Service desk manager; the IGO sets the classes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first wave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Ask for Approval docs; 36 CFR part 1194 (Section 508); CISA AA23-320A. Book 15, Chapters 03 and 10. Classes from Book 04; service levels are program defaults.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help desk executes; it never decides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slate card, assigned ticket, target user named, identity verified before any change, leads to an amber decision card asking what the target holds: roles, role-assignable group membership, or restricted administrative unit membership. The decision branches three ways. A green card, no admin role, help desk acts, using Password or Helpdesk Administrator or Authentication Administrator scoped to an administrative unit. An amber card, limited admin role, identity engineering acts, using a tenant-scoped role per Microsoft's table, because administrative-unit-scoped roles can't act on admins. A red card, privileged or protected, Tier 0 holder acts, meaning Privileged Authentication Administrator or the restricted unit's scoped admins, never the help desk. All three lead to a violet evidence card: ticket, audit entry and user notified, recording approver, executor, target, method and time.">    </p:cNvPr>
          <p:cNvPicPr>
            <a:picLocks noChangeAspect="1"/>
          </p:cNvPicPr>
          <p:nvPr/>
        </p:nvPicPr>
        <p:blipFill>
          <a:blip r:embed="rId1"/>
          <a:stretch>
            <a:fillRect/>
          </a:stretch>
        </p:blipFill>
        <p:spPr>
          <a:xfrm>
            <a:off x="548640" y="1379315"/>
            <a:ext cx="5760720" cy="3276410"/>
          </a:xfrm>
          <a:prstGeom prst="rect">
            <a:avLst/>
          </a:prstGeom>
        </p:spPr>
      </p:pic>
      <p:sp>
        <p:nvSpPr>
          <p:cNvPr id="6" name="Exec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Check"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Exec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Capability isn't authority</a:t>
            </a:r>
            <a:endParaRPr lang="en-US" sz="1700" dirty="0"/>
          </a:p>
        </p:txBody>
      </p:sp>
      <p:sp>
        <p:nvSpPr>
          <p:cNvPr id="10" name="Exec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standing roles: eligible, activated per ticket</a:t>
            </a:r>
            <a:endParaRPr lang="en-US" sz="1400" dirty="0"/>
          </a:p>
          <a:p>
            <a:pPr marL="342900" indent="-342900">
              <a:spcAft>
                <a:spcPts val="600"/>
              </a:spcAft>
              <a:buSzPct val="100000"/>
              <a:buChar char="•"/>
            </a:pPr>
            <a:r>
              <a:rPr lang="en-US" sz="1350" dirty="0">
                <a:solidFill>
                  <a:schemeClr val="tx2"/>
                </a:solidFill>
              </a:rPr>
              <a:t>Some desk roles can delete users or grant consent</a:t>
            </a:r>
            <a:endParaRPr lang="en-US" sz="1400" dirty="0"/>
          </a:p>
          <a:p>
            <a:pPr marL="342900" indent="-342900">
              <a:spcAft>
                <a:spcPts val="600"/>
              </a:spcAft>
              <a:buSzPct val="100000"/>
              <a:buChar char="•"/>
            </a:pPr>
            <a:r>
              <a:rPr lang="en-US" sz="1350" dirty="0">
                <a:solidFill>
                  <a:schemeClr val="tx2"/>
                </a:solidFill>
              </a:rPr>
              <a:t>Executives sit in a restricted unit the desk can't touch</a:t>
            </a:r>
            <a:endParaRPr lang="en-US" sz="1400" dirty="0"/>
          </a:p>
          <a:p>
            <a:pPr marL="342900" indent="-342900">
              <a:spcAft>
                <a:spcPts val="600"/>
              </a:spcAft>
              <a:buSzPct val="100000"/>
              <a:buChar char="•"/>
            </a:pPr>
            <a:r>
              <a:rPr lang="en-US" sz="1350" dirty="0">
                <a:solidFill>
                  <a:schemeClr val="tx2"/>
                </a:solidFill>
              </a:rPr>
              <a:t>The SIEM flags any activation with no matching ticket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Scope the service desk's privileged access group and review its membership every quarter; no technician holds a standing role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Quarterly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Entra built-in and privileged roles; restricted management units; PIM; audit activities. SP 800-53 (AC-5, AC-6(9)). Book 15, Chapters 04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High-risk tasks need two approvers besides the executor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slate request card, high-risk task on an assigned ticket, naming the target, the exact change, the reason and the values supplied, leads to an amber identity proofing card: requester verified out of band, never by email or a callback number the caller gives. That leads to a blue first approver card, the owner of the change, a supervisor or identity engineering lead, and then to a violet second approver card, independent of the first, the governance officer or security. A red blocked card, pressure to skip a step, route to the emergency change process, has a dashed red arrow labeled not a bypass pointing back to identity proofing. After the second approver, a green PIM card: activate the narrowest role, justification carries the ticket number, shortest window the task needs. Then a green execute and verify card: change, re-read, deactivate, stop on any mismatch with the ticket. Last, a violet evidence card: ticket, PIM record and audit entry, which the SIEM joins, and the user is notified.">    </p:cNvPr>
          <p:cNvPicPr>
            <a:picLocks noChangeAspect="1"/>
          </p:cNvPicPr>
          <p:nvPr/>
        </p:nvPicPr>
        <p:blipFill>
          <a:blip r:embed="rId1"/>
          <a:stretch>
            <a:fillRect/>
          </a:stretch>
        </p:blipFill>
        <p:spPr>
          <a:xfrm>
            <a:off x="548640" y="1371600"/>
            <a:ext cx="4047431" cy="3291840"/>
          </a:xfrm>
          <a:prstGeom prst="rect">
            <a:avLst/>
          </a:prstGeom>
        </p:spPr>
      </p:pic>
      <p:sp>
        <p:nvSpPr>
          <p:cNvPr id="6" name="Two box" descr="">
            <a:extLst>
              <a:ext uri="{C183D7F6-B498-43B3-948B-1728B52AA6E4}">
                <adec:decorative xmlns:adec="http://schemas.microsoft.com/office/drawing/2017/decorative" val="1"/>
              </a:ext>
            </a:extLst>
          </p:cNvPr>
          <p:cNvSpPr/>
          <p:nvPr/>
        </p:nvSpPr>
        <p:spPr>
          <a:xfrm>
            <a:off x="4824671" y="1371600"/>
            <a:ext cx="6833929"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PeopleArrows" descr="">
            <a:extLst>
              <a:ext uri="{C183D7F6-B498-43B3-948B-1728B52AA6E4}">
                <adec:decorative xmlns:adec="http://schemas.microsoft.com/office/drawing/2017/decorative" val="1"/>
              </a:ext>
            </a:extLst>
          </p:cNvPr>
          <p:cNvSpPr/>
          <p:nvPr/>
        </p:nvSpPr>
        <p:spPr>
          <a:xfrm>
            <a:off x="5053271"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184944" y="1649578"/>
            <a:ext cx="285293" cy="285293"/>
          </a:xfrm>
          <a:prstGeom prst="rect">
            <a:avLst/>
          </a:prstGeom>
        </p:spPr>
      </p:pic>
      <p:sp>
        <p:nvSpPr>
          <p:cNvPr id="9" name="Two head"/>
          <p:cNvSpPr txBox="1"/>
          <p:nvPr/>
        </p:nvSpPr>
        <p:spPr>
          <a:xfrm>
            <a:off x="5739071" y="1517904"/>
            <a:ext cx="5828089"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high-risk list (program design)</a:t>
            </a:r>
            <a:endParaRPr lang="en-US" sz="1700" dirty="0"/>
          </a:p>
        </p:txBody>
      </p:sp>
      <p:sp>
        <p:nvSpPr>
          <p:cNvPr id="10" name="Two list"/>
          <p:cNvSpPr txBox="1"/>
          <p:nvPr/>
        </p:nvSpPr>
        <p:spPr>
          <a:xfrm>
            <a:off x="5053271" y="2194560"/>
            <a:ext cx="6468169"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Resets on accounts the desk can't touch</a:t>
            </a:r>
            <a:endParaRPr lang="en-US" sz="1400" dirty="0"/>
          </a:p>
          <a:p>
            <a:pPr marL="342900" indent="-342900">
              <a:spcAft>
                <a:spcPts val="600"/>
              </a:spcAft>
              <a:buSzPct val="100000"/>
              <a:buChar char="•"/>
            </a:pPr>
            <a:r>
              <a:rPr lang="en-US" sz="1350" dirty="0">
                <a:solidFill>
                  <a:schemeClr val="tx2"/>
                </a:solidFill>
              </a:rPr>
              <a:t>ImmutableID repair: identity engineering, not the desk</a:t>
            </a:r>
            <a:endParaRPr lang="en-US" sz="1400" dirty="0"/>
          </a:p>
          <a:p>
            <a:pPr marL="342900" indent="-342900">
              <a:spcAft>
                <a:spcPts val="600"/>
              </a:spcAft>
              <a:buSzPct val="100000"/>
              <a:buChar char="•"/>
            </a:pPr>
            <a:r>
              <a:rPr lang="en-US" sz="1350" dirty="0">
                <a:solidFill>
                  <a:schemeClr val="tx2"/>
                </a:solidFill>
              </a:rPr>
              <a:t>Delete or restore outside the HR lifecycle</a:t>
            </a:r>
            <a:endParaRPr lang="en-US" sz="1400" dirty="0"/>
          </a:p>
          <a:p>
            <a:pPr marL="342900" indent="-342900">
              <a:spcAft>
                <a:spcPts val="600"/>
              </a:spcAft>
              <a:buSzPct val="100000"/>
              <a:buChar char="•"/>
            </a:pPr>
            <a:r>
              <a:rPr lang="en-US" sz="1350" dirty="0">
                <a:solidFill>
                  <a:schemeClr val="tx2"/>
                </a:solidFill>
              </a:rPr>
              <a:t>Tier 1 app assignments, and bulk changes</a:t>
            </a:r>
            <a:endParaRPr lang="en-US" sz="1400" dirty="0"/>
          </a:p>
          <a:p>
            <a:pPr marL="342900" indent="-342900">
              <a:spcAft>
                <a:spcPts val="600"/>
              </a:spcAft>
              <a:buSzPct val="100000"/>
              <a:buChar char="•"/>
            </a:pPr>
            <a:r>
              <a:rPr lang="en-US" sz="1350" dirty="0">
                <a:solidFill>
                  <a:schemeClr val="tx2"/>
                </a:solidFill>
              </a:rPr>
              <a:t>Urgency goes to the emergency process, never past the second approver</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Require two recorded approvers before any role activates on a high-risk task, and never waive the second approver for urgency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the IGO for access items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desk takes these tasks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(AC-5, AC-6(9)); Microsoft Learn: Entra Connect hard and soft match (July 1, 2026 change); PIM. Book 15, Chapters 04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Consent says who may approve; only a verdict says whether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slate card at the top: an administrator wants to connect a third-party service. It branches to two cards side by side. Left, a blue card labeled consent baseline, who may approve: only administrators register apps, only administrators consent, and an admin consent workflow is configured. Right, an amber card labeled authorization verdict, whether the service may hold the data: a FedRAMP Marketplace status recorded before any configuration and re-checked on a cadence. Below them, a red card, consent alone, every check passes and data still leaves the boundary, reached from the blue card by a dashed arrow labeled without a verdict; and a green card, both answered, the integration proceeds through the catalog, reached by arrows from both the blue and the amber cards.">    </p:cNvPr>
          <p:cNvPicPr>
            <a:picLocks noChangeAspect="1"/>
          </p:cNvPicPr>
          <p:nvPr/>
        </p:nvPicPr>
        <p:blipFill>
          <a:blip r:embed="rId1"/>
          <a:stretch>
            <a:fillRect/>
          </a:stretch>
        </p:blipFill>
        <p:spPr>
          <a:xfrm>
            <a:off x="548640" y="1456113"/>
            <a:ext cx="5760720" cy="3122815"/>
          </a:xfrm>
          <a:prstGeom prst="rect">
            <a:avLst/>
          </a:prstGeom>
        </p:spPr>
      </p:pic>
      <p:sp>
        <p:nvSpPr>
          <p:cNvPr id="6" name="Verdict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Verdict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gate is the agency's</a:t>
            </a:r>
            <a:endParaRPr lang="en-US" sz="1700" dirty="0"/>
          </a:p>
        </p:txBody>
      </p:sp>
      <p:sp>
        <p:nvSpPr>
          <p:cNvPr id="10" name="Verdict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GCC sees the full commercial app gallery; nothing is marked</a:t>
            </a:r>
            <a:endParaRPr lang="en-US" sz="1400" dirty="0"/>
          </a:p>
          <a:p>
            <a:pPr marL="342900" indent="-342900">
              <a:spcAft>
                <a:spcPts val="600"/>
              </a:spcAft>
              <a:buSzPct val="100000"/>
              <a:buChar char="•"/>
            </a:pPr>
            <a:r>
              <a:rPr lang="en-US" sz="1350" dirty="0">
                <a:solidFill>
                  <a:schemeClr val="tx2"/>
                </a:solidFill>
              </a:rPr>
              <a:t>Gallery risk scores aren't an authorization verdict</a:t>
            </a:r>
            <a:endParaRPr lang="en-US" sz="1400" dirty="0"/>
          </a:p>
          <a:p>
            <a:pPr marL="342900" indent="-342900">
              <a:spcAft>
                <a:spcPts val="600"/>
              </a:spcAft>
              <a:buSzPct val="100000"/>
              <a:buChar char="•"/>
            </a:pPr>
            <a:r>
              <a:rPr lang="en-US" sz="1350" dirty="0">
                <a:solidFill>
                  <a:schemeClr val="tx2"/>
                </a:solidFill>
              </a:rPr>
              <a:t>Consent rules (BOD 25-01) govern who approves</a:t>
            </a:r>
            <a:endParaRPr lang="en-US" sz="1400" dirty="0"/>
          </a:p>
          <a:p>
            <a:pPr marL="342900" indent="-342900">
              <a:spcAft>
                <a:spcPts val="600"/>
              </a:spcAft>
              <a:buSzPct val="100000"/>
              <a:buChar char="•"/>
            </a:pPr>
            <a:r>
              <a:rPr lang="en-US" sz="1350" dirty="0">
                <a:solidFill>
                  <a:schemeClr val="tx2"/>
                </a:solidFill>
              </a:rPr>
              <a:t>Record Marketplace status before consent; re-check on a cadence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Record each external service's authorization status before any consent or configuration, and stop the request when it is missing or lapsed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new integration; then on a cadence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(MS.AAD.5.1–5.3); FedRAMP 2026, Using a Certified Service; SP 800-53 Rev. 5 (SA-9, AC-20, CA-3); Microsoft Learn (GCC pairing). Book 15, Chapters 01,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inventory is only as good as its reconciliation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slate cards in a group labeled each surface reports what it sees: Microsoft 365 and Entra ID through Graph, with users, groups, devices and policy objects; Azure through Resource Graph and a connector, with subscriptions, VMs, storage and key vaults; and on premises and hybrid through Discovery and a MID Server, with servers, network devices and Arc-enabled servers. An arrow labeled populate runs from the group down to a blue card, the CMDB, a workflow projection holding the CIs and relationships that tickets, changes and findings route to. Two cards sit side by side below the CMDB. On the right, a green card, the naming plane (IPAM and DDI), which owns identity, one authoritative name or address per asset, sends a green arrow labeled reconcile every pass up to the CMDB. On the left, a dashed amber arrow labeled exception runs from the CMDB down to an amber card, the reconciliation exception queue: a shadow asset or a naming-plane gap, fixed upstream.">    </p:cNvPr>
          <p:cNvPicPr>
            <a:picLocks noChangeAspect="1"/>
          </p:cNvPicPr>
          <p:nvPr/>
        </p:nvPicPr>
        <p:blipFill>
          <a:blip r:embed="rId1"/>
          <a:stretch>
            <a:fillRect/>
          </a:stretch>
        </p:blipFill>
        <p:spPr>
          <a:xfrm>
            <a:off x="548640" y="1470074"/>
            <a:ext cx="5120640" cy="3094892"/>
          </a:xfrm>
          <a:prstGeom prst="rect">
            <a:avLst/>
          </a:prstGeom>
        </p:spPr>
      </p:pic>
      <p:sp>
        <p:nvSpPr>
          <p:cNvPr id="6" name="CMDB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CMDB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a bad CI does</a:t>
            </a:r>
            <a:endParaRPr lang="en-US" sz="1700" dirty="0"/>
          </a:p>
        </p:txBody>
      </p:sp>
      <p:sp>
        <p:nvSpPr>
          <p:cNvPr id="10" name="CMDB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Missing: never patched, and coverage still looks complete</a:t>
            </a:r>
            <a:endParaRPr lang="en-US" sz="1400" dirty="0"/>
          </a:p>
          <a:p>
            <a:pPr marL="342900" indent="-342900">
              <a:spcAft>
                <a:spcPts val="600"/>
              </a:spcAft>
              <a:buSzPct val="100000"/>
              <a:buChar char="•"/>
            </a:pPr>
            <a:r>
              <a:rPr lang="en-US" sz="1350" dirty="0">
                <a:solidFill>
                  <a:schemeClr val="tx2"/>
                </a:solidFill>
              </a:rPr>
              <a:t>Duplicate: the fix lands on one copy only</a:t>
            </a:r>
            <a:endParaRPr lang="en-US" sz="1400" dirty="0"/>
          </a:p>
          <a:p>
            <a:pPr marL="342900" indent="-342900">
              <a:spcAft>
                <a:spcPts val="600"/>
              </a:spcAft>
              <a:buSzPct val="100000"/>
              <a:buChar char="•"/>
            </a:pPr>
            <a:r>
              <a:rPr lang="en-US" sz="1350" dirty="0">
                <a:solidFill>
                  <a:schemeClr val="tx2"/>
                </a:solidFill>
              </a:rPr>
              <a:t>Stale: percentages computed over phantoms</a:t>
            </a:r>
            <a:endParaRPr lang="en-US" sz="1400" dirty="0"/>
          </a:p>
          <a:p>
            <a:pPr marL="342900" indent="-342900">
              <a:spcAft>
                <a:spcPts val="600"/>
              </a:spcAft>
              <a:buSzPct val="100000"/>
              <a:buChar char="•"/>
            </a:pPr>
            <a:r>
              <a:rPr lang="en-US" sz="1350" dirty="0">
                <a:solidFill>
                  <a:schemeClr val="tx2"/>
                </a:solidFill>
              </a:rPr>
              <a:t>A connector returning half its records raises no error</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Have system owners authorize or remove every shadow asset the reconcile pass finds; fix identity in the naming plane, never in the CMDB</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System owner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reconcile pass; reviewed weekly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(CM-8, CM-8(4), CM-8(9)); SP 800-128; ServiceNow CSDM and CMDB Data Manager. Book 15, Chapters 07 and 10. Measures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loop on every cloud, closed on a re-test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ive cards in a column joined by arrows, top to bottom. A blue card, test: the native tool reads control state, for example ScubaGear, Graph, Azure Policy or Defender for Cloud. A violet card, detect drift: the result is compared with the intended baseline. A violet card, raise: a typed task is opened in the ITSM platform against the configuration item from the CMDB, with the control, severity and due date. A blue card, actuate: the owning team makes the change on the native surface; the ITSM platform never writes the setting. A green card, close with evidence: the next native test confirms the fix, and the task, approval and re-test become one evidence record keyed to the asset identity. A dashed amber arrow runs from the raise card to an amber card beside it: exception, a request with an approver and an expiry. A dashed arrow runs from the green card back to the test card, labeled next cycle.">    </p:cNvPr>
          <p:cNvPicPr>
            <a:picLocks noChangeAspect="1"/>
          </p:cNvPicPr>
          <p:nvPr/>
        </p:nvPicPr>
        <p:blipFill>
          <a:blip r:embed="rId1"/>
          <a:stretch>
            <a:fillRect/>
          </a:stretch>
        </p:blipFill>
        <p:spPr>
          <a:xfrm>
            <a:off x="548640" y="1371600"/>
            <a:ext cx="4748993" cy="3291840"/>
          </a:xfrm>
          <a:prstGeom prst="rect">
            <a:avLst/>
          </a:prstGeom>
        </p:spPr>
      </p:pic>
      <p:sp>
        <p:nvSpPr>
          <p:cNvPr id="6" name="Loop box" descr="">
            <a:extLst>
              <a:ext uri="{C183D7F6-B498-43B3-948B-1728B52AA6E4}">
                <adec:decorative xmlns:adec="http://schemas.microsoft.com/office/drawing/2017/decorative" val="1"/>
              </a:ext>
            </a:extLst>
          </p:cNvPr>
          <p:cNvSpPr/>
          <p:nvPr/>
        </p:nvSpPr>
        <p:spPr>
          <a:xfrm>
            <a:off x="5526233" y="1371600"/>
            <a:ext cx="6132367"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5754833"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86506" y="1649578"/>
            <a:ext cx="285293" cy="285293"/>
          </a:xfrm>
          <a:prstGeom prst="rect">
            <a:avLst/>
          </a:prstGeom>
        </p:spPr>
      </p:pic>
      <p:sp>
        <p:nvSpPr>
          <p:cNvPr id="9" name="Loop head"/>
          <p:cNvSpPr txBox="1"/>
          <p:nvPr/>
        </p:nvSpPr>
        <p:spPr>
          <a:xfrm>
            <a:off x="6440633" y="1517904"/>
            <a:ext cx="5126527"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differs by platform</a:t>
            </a:r>
            <a:endParaRPr lang="en-US" sz="1700" dirty="0"/>
          </a:p>
        </p:txBody>
      </p:sp>
      <p:sp>
        <p:nvSpPr>
          <p:cNvPr id="10" name="Loop list"/>
          <p:cNvSpPr txBox="1"/>
          <p:nvPr/>
        </p:nvSpPr>
        <p:spPr>
          <a:xfrm>
            <a:off x="5754833" y="2194560"/>
            <a:ext cx="5766607"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ITSM platform reads; it never writes the estate</a:t>
            </a:r>
            <a:endParaRPr lang="en-US" sz="1400" dirty="0"/>
          </a:p>
          <a:p>
            <a:pPr marL="342900" indent="-342900">
              <a:spcAft>
                <a:spcPts val="600"/>
              </a:spcAft>
              <a:buSzPct val="100000"/>
              <a:buChar char="•"/>
            </a:pPr>
            <a:r>
              <a:rPr lang="en-US" sz="1350" dirty="0">
                <a:solidFill>
                  <a:schemeClr val="tx2"/>
                </a:solidFill>
              </a:rPr>
              <a:t>Patch clocks come from BOD 26-04, not FedRAMP's provider table</a:t>
            </a:r>
            <a:endParaRPr lang="en-US" sz="1400" dirty="0"/>
          </a:p>
          <a:p>
            <a:pPr marL="342900" indent="-342900">
              <a:spcAft>
                <a:spcPts val="600"/>
              </a:spcAft>
              <a:buSzPct val="100000"/>
              <a:buChar char="•"/>
            </a:pPr>
            <a:r>
              <a:rPr lang="en-US" sz="1350" dirty="0">
                <a:solidFill>
                  <a:schemeClr val="tx2"/>
                </a:solidFill>
              </a:rPr>
              <a:t>Defender's ServiceNow connector: not in Azure Government</a:t>
            </a:r>
            <a:endParaRPr lang="en-US" sz="1400" dirty="0"/>
          </a:p>
          <a:p>
            <a:pPr marL="342900" indent="-342900">
              <a:spcAft>
                <a:spcPts val="600"/>
              </a:spcAft>
              <a:buSzPct val="100000"/>
              <a:buChar char="•"/>
            </a:pPr>
            <a:r>
              <a:rPr lang="en-US" sz="1350" dirty="0">
                <a:solidFill>
                  <a:schemeClr val="tx2"/>
                </a:solidFill>
              </a:rPr>
              <a:t>AWS Audit Manager is in maintenance mode; VMware evidence is the agency's own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Keep the coordination platform read-only on the estate; every automated fix runs as a scoped, approved action with its own change record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for the automation's identity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any connector goes live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Microsoft Learn (Defender for Cloud ServiceNow integration, support matrix); AWS Audit Manager availability change; Broadcom VCF 9.1. Book 15, Chapters 08–10.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day two: decisions away from the keyboard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our rows of cards. Top row, the roles that set requirements and accept risk: the CISO in amber, who sets requirements for identity verification, control requirements and acting playbooks; the authorizing official in amber, who alone accepts risk for open-ended exceptions, L4 classes and significant changes; and the system owner and ISSO in blue, who own the system's remediation decisions, change impact and evidence. Second row, the roles that govern the flow of work, each beneath the role that feeds it: the ITSM platform team in violet, which builds the front door's catalog items, workflows, approval rules and integrations; the change advisory board in amber, the CM-3 change control element, which authorizes normal and emergency changes and reviews standard-change models; and the CMDB owner in violet, who keeps CI classes, owners, the reconciliation queue and health. Third row, the roles that execute: the service desk lines in green, beneath the ITSM platform team, which execute and never approve their own work, first-line intake and triage and second-line cloud services; and identity operations and platform owners in blue, beneath the change advisory board, who own runbooks, design, escalations and change execution. Bottom row, beneath the service desk: security operations in violet, which watches the actions, alerting on resets and grants and responding to incidents. Arrows: the CISO sends requirements to the ITSM platform team; the authorizing official has a dashed arrow labeled risk only to the change advisory board; the system owner has a dashed arrow labeled acknowledges CIs to the CMDB owner; the change advisory board sends authorized changes to identity operations and platform owners; the ITSM platform team sends routed tickets to the service desk; the CMDB owner has a dashed arrow labeled CI owners to identity operations and platform owners; and security operations has a dashed arrow labeled reset alerts up to the service desk.">    </p:cNvPr>
          <p:cNvPicPr>
            <a:picLocks noChangeAspect="1"/>
          </p:cNvPicPr>
          <p:nvPr/>
        </p:nvPicPr>
        <p:blipFill>
          <a:blip r:embed="rId1"/>
          <a:stretch>
            <a:fillRect/>
          </a:stretch>
        </p:blipFill>
        <p:spPr>
          <a:xfrm>
            <a:off x="548640" y="1371600"/>
            <a:ext cx="3313461" cy="3291840"/>
          </a:xfrm>
          <a:prstGeom prst="rect">
            <a:avLst/>
          </a:prstGeom>
        </p:spPr>
      </p:pic>
      <p:sp>
        <p:nvSpPr>
          <p:cNvPr id="6" name="Owners box" descr="">
            <a:extLst>
              <a:ext uri="{C183D7F6-B498-43B3-948B-1728B52AA6E4}">
                <adec:decorative xmlns:adec="http://schemas.microsoft.com/office/drawing/2017/decorative" val="1"/>
              </a:ext>
            </a:extLst>
          </p:cNvPr>
          <p:cNvSpPr/>
          <p:nvPr/>
        </p:nvSpPr>
        <p:spPr>
          <a:xfrm>
            <a:off x="4090701" y="1371600"/>
            <a:ext cx="7567899"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4319301"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50975" y="1649578"/>
            <a:ext cx="285293" cy="285293"/>
          </a:xfrm>
          <a:prstGeom prst="rect">
            <a:avLst/>
          </a:prstGeom>
        </p:spPr>
      </p:pic>
      <p:sp>
        <p:nvSpPr>
          <p:cNvPr id="9" name="Owners head"/>
          <p:cNvSpPr txBox="1"/>
          <p:nvPr/>
        </p:nvSpPr>
        <p:spPr>
          <a:xfrm>
            <a:off x="5005101" y="1517904"/>
            <a:ext cx="6562059"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Deciding, doing and owning</a:t>
            </a:r>
            <a:endParaRPr lang="en-US" sz="1700" dirty="0"/>
          </a:p>
        </p:txBody>
      </p:sp>
      <p:sp>
        <p:nvSpPr>
          <p:cNvPr id="10" name="Owners list"/>
          <p:cNvSpPr txBox="1"/>
          <p:nvPr/>
        </p:nvSpPr>
        <p:spPr>
          <a:xfrm>
            <a:off x="4319301" y="2194560"/>
            <a:ext cx="7202139"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supervisor approves only routine credential work for ordinary users</a:t>
            </a:r>
            <a:endParaRPr lang="en-US" sz="1400" dirty="0"/>
          </a:p>
          <a:p>
            <a:pPr marL="342900" indent="-342900">
              <a:spcAft>
                <a:spcPts val="600"/>
              </a:spcAft>
              <a:buSzPct val="100000"/>
              <a:buChar char="•"/>
            </a:pPr>
            <a:r>
              <a:rPr lang="en-US" sz="1350" dirty="0">
                <a:solidFill>
                  <a:schemeClr val="tx2"/>
                </a:solidFill>
              </a:rPr>
              <a:t>Platform owners own runbooks and catalog content; control owners own the gates</a:t>
            </a:r>
            <a:endParaRPr lang="en-US" sz="1400" dirty="0"/>
          </a:p>
          <a:p>
            <a:pPr marL="342900" indent="-342900">
              <a:spcAft>
                <a:spcPts val="600"/>
              </a:spcAft>
              <a:buSzPct val="100000"/>
              <a:buChar char="•"/>
            </a:pPr>
            <a:r>
              <a:rPr lang="en-US" sz="1350" dirty="0">
                <a:solidFill>
                  <a:schemeClr val="tx2"/>
                </a:solidFill>
              </a:rPr>
              <a:t>The ITSM platform team builds both and decides neither</a:t>
            </a:r>
            <a:endParaRPr lang="en-US" sz="1400" dirty="0"/>
          </a:p>
          <a:p>
            <a:pPr marL="342900" indent="-342900">
              <a:spcAft>
                <a:spcPts val="600"/>
              </a:spcAft>
              <a:buSzPct val="100000"/>
              <a:buChar char="•"/>
            </a:pPr>
            <a:r>
              <a:rPr lang="en-US" sz="1350" dirty="0">
                <a:solidFill>
                  <a:schemeClr val="tx2"/>
                </a:solidFill>
              </a:rPr>
              <a:t>Contractors execute and prepare; government officials decide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Give every catalog item, runbook, workflow and CI class one named owner and a review date; anything past it is the owner's finding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through the program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desk goes live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D; Task M-1); SP 800-53 Rev. 5 (AC-5, CM-3, CM-5, CM-8(4), CM-9); SP 800-128 (§2.4). Book 15, Chapter 10. Owner is the program's model.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Measure day-two health where the work happens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126480" cy="914400"/>
        </p:xfrm>
        <a:graphic>
          <a:graphicData uri="http://schemas.openxmlformats.org/drawingml/2006/table">
            <a:tbl>
              <a:tblPr firstRow="1" bandRow="1"/>
              <a:tblGrid>
                <a:gridCol w="3246120"/>
                <a:gridCol w="2880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shows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Tickets past service level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Capacity; stuck escalations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Share escalated upward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Runbook or catalog gaps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Returned for missing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Closure discipline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Verifications failed or abandoned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Social-engineering pressure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Activations with no ticket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Queue and roles out of step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 outside the front door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Email or chat side doors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Connector runs short of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Inventory coverage decaying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x box" descr="">
            <a:extLst>
              <a:ext uri="{C183D7F6-B498-43B3-948B-1728B52AA6E4}">
                <adec:decorative xmlns:adec="http://schemas.microsoft.com/office/drawing/2017/decorative" val="1"/>
              </a:ext>
            </a:extLst>
          </p:cNvPr>
          <p:cNvSpPr/>
          <p:nvPr/>
        </p:nvSpPr>
        <p:spPr>
          <a:xfrm>
            <a:off x="6903720" y="1371600"/>
            <a:ext cx="4754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713232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263994" y="1649578"/>
            <a:ext cx="285293" cy="285293"/>
          </a:xfrm>
          <a:prstGeom prst="rect">
            <a:avLst/>
          </a:prstGeom>
        </p:spPr>
      </p:pic>
      <p:sp>
        <p:nvSpPr>
          <p:cNvPr id="9" name="Fix head"/>
          <p:cNvSpPr txBox="1"/>
          <p:nvPr/>
        </p:nvSpPr>
        <p:spPr>
          <a:xfrm>
            <a:off x="7818120" y="1517904"/>
            <a:ext cx="37490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Three problems, three fixes</a:t>
            </a:r>
            <a:endParaRPr lang="en-US" sz="1700" dirty="0"/>
          </a:p>
        </p:txBody>
      </p:sp>
      <p:sp>
        <p:nvSpPr>
          <p:cNvPr id="10" name="Fix list"/>
          <p:cNvSpPr txBox="1"/>
          <p:nvPr/>
        </p:nvSpPr>
        <p:spPr>
          <a:xfrm>
            <a:off x="7132320" y="2194560"/>
            <a:ext cx="43891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Capacity: more people</a:t>
            </a:r>
            <a:endParaRPr lang="en-US" sz="1400" dirty="0"/>
          </a:p>
          <a:p>
            <a:pPr marL="342900" indent="-342900">
              <a:spcAft>
                <a:spcPts val="600"/>
              </a:spcAft>
              <a:buSzPct val="100000"/>
              <a:buChar char="•"/>
            </a:pPr>
            <a:r>
              <a:rPr lang="en-US" sz="1350" dirty="0">
                <a:solidFill>
                  <a:schemeClr val="tx2"/>
                </a:solidFill>
              </a:rPr>
              <a:t>Coverage: a runbook or catalog change through its owner</a:t>
            </a:r>
            <a:endParaRPr lang="en-US" sz="1400" dirty="0"/>
          </a:p>
          <a:p>
            <a:pPr marL="342900" indent="-342900">
              <a:spcAft>
                <a:spcPts val="600"/>
              </a:spcAft>
              <a:buSzPct val="100000"/>
              <a:buChar char="•"/>
            </a:pPr>
            <a:r>
              <a:rPr lang="en-US" sz="1350" dirty="0">
                <a:solidFill>
                  <a:schemeClr val="tx2"/>
                </a:solidFill>
              </a:rPr>
              <a:t>Discipline: training</a:t>
            </a:r>
            <a:endParaRPr lang="en-US" sz="1400" dirty="0"/>
          </a:p>
          <a:p>
            <a:pPr marL="342900" indent="-342900">
              <a:spcAft>
                <a:spcPts val="600"/>
              </a:spcAft>
              <a:buSzPct val="100000"/>
              <a:buChar char="•"/>
            </a:pPr>
            <a:r>
              <a:rPr lang="en-US" sz="1350" dirty="0">
                <a:solidFill>
                  <a:schemeClr val="tx2"/>
                </a:solidFill>
              </a:rPr>
              <a:t>The platform produces the numbers; nobody reports their own work</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Decide the desk's staffing and sourcing from these measures, reviewed monthly with the IGO and the CISO's representative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the service desk manager responds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Monthly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Chapter 10 (Staffing, measuring and watching the queue; responsibility matrix) and Chapter 07 (Measuring the inventory). The measures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CAB authorizes changes; it never accepts risk</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126480" cy="914400"/>
        </p:xfrm>
        <a:graphic>
          <a:graphicData uri="http://schemas.openxmlformats.org/drawingml/2006/table">
            <a:tbl>
              <a:tblPr firstRow="1" bandRow="1"/>
              <a:tblGrid>
                <a:gridCol w="2606040"/>
                <a:gridCol w="35204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Kind of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authorizes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Standard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CAB, once, for the model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Normal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CAB, after impact analysis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Emergency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CAB's emergency subset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class run at L4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AO, in writing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Needs reauthorization?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AO; the CAB flags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ate box" descr="">
            <a:extLst>
              <a:ext uri="{C183D7F6-B498-43B3-948B-1728B52AA6E4}">
                <adec:decorative xmlns:adec="http://schemas.microsoft.com/office/drawing/2017/decorative" val="1"/>
              </a:ext>
            </a:extLst>
          </p:cNvPr>
          <p:cNvSpPr/>
          <p:nvPr/>
        </p:nvSpPr>
        <p:spPr>
          <a:xfrm>
            <a:off x="6903720" y="1371600"/>
            <a:ext cx="4754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Lock" descr="">
            <a:extLst>
              <a:ext uri="{C183D7F6-B498-43B3-948B-1728B52AA6E4}">
                <adec:decorative xmlns:adec="http://schemas.microsoft.com/office/drawing/2017/decorative" val="1"/>
              </a:ext>
            </a:extLst>
          </p:cNvPr>
          <p:cNvSpPr/>
          <p:nvPr/>
        </p:nvSpPr>
        <p:spPr>
          <a:xfrm>
            <a:off x="713232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263994" y="1649578"/>
            <a:ext cx="285293" cy="285293"/>
          </a:xfrm>
          <a:prstGeom prst="rect">
            <a:avLst/>
          </a:prstGeom>
        </p:spPr>
      </p:pic>
      <p:sp>
        <p:nvSpPr>
          <p:cNvPr id="9" name="Gate head"/>
          <p:cNvSpPr txBox="1"/>
          <p:nvPr/>
        </p:nvSpPr>
        <p:spPr>
          <a:xfrm>
            <a:off x="7818120" y="1517904"/>
            <a:ext cx="374904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Nobody changes their own gate</a:t>
            </a:r>
            <a:endParaRPr lang="en-US" sz="1700" dirty="0"/>
          </a:p>
        </p:txBody>
      </p:sp>
      <p:sp>
        <p:nvSpPr>
          <p:cNvPr id="10" name="Gate list"/>
          <p:cNvSpPr txBox="1"/>
          <p:nvPr/>
        </p:nvSpPr>
        <p:spPr>
          <a:xfrm>
            <a:off x="7132320" y="2194560"/>
            <a:ext cx="43891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approval rule is a control; changing one is a normal change</a:t>
            </a:r>
            <a:endParaRPr lang="en-US" sz="1400" dirty="0"/>
          </a:p>
          <a:p>
            <a:pPr marL="342900" indent="-342900">
              <a:spcAft>
                <a:spcPts val="600"/>
              </a:spcAft>
              <a:buSzPct val="100000"/>
              <a:buChar char="•"/>
            </a:pPr>
            <a:r>
              <a:rPr lang="en-US" sz="1350" dirty="0">
                <a:solidFill>
                  <a:schemeClr val="tx2"/>
                </a:solidFill>
              </a:rPr>
              <a:t>The ITSM team can't approve changes to its own rules</a:t>
            </a:r>
            <a:endParaRPr lang="en-US" sz="1400" dirty="0"/>
          </a:p>
          <a:p>
            <a:pPr marL="342900" indent="-342900">
              <a:spcAft>
                <a:spcPts val="600"/>
              </a:spcAft>
              <a:buSzPct val="100000"/>
              <a:buChar char="•"/>
            </a:pPr>
            <a:r>
              <a:rPr lang="en-US" sz="1350" dirty="0">
                <a:solidFill>
                  <a:schemeClr val="tx2"/>
                </a:solidFill>
              </a:rPr>
              <a:t>Security and privacy members sit on the CAB (CM-3(4))</a:t>
            </a:r>
            <a:endParaRPr lang="en-US" sz="1400" dirty="0"/>
          </a:p>
          <a:p>
            <a:pPr marL="342900" indent="-342900">
              <a:spcAft>
                <a:spcPts val="600"/>
              </a:spcAft>
              <a:buSzPct val="100000"/>
              <a:buChar char="•"/>
            </a:pPr>
            <a:r>
              <a:rPr lang="en-US" sz="1350" dirty="0">
                <a:solidFill>
                  <a:schemeClr val="tx2"/>
                </a:solidFill>
              </a:rPr>
              <a:t>Keep the CAB and the governance board's records apart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Treat any change to approval rules, routing or integrations as a normal change the CAB authorizes, with the platform's ISSO consulted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Change advisory board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the platform's first release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(CM-3, CM-3(4), CM-5, CM-9(1)); SP 800-128 (§2.3.3, §3.3.2); ServiceNow change types and CAB workbench. Book 15,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Prove with systems; attest only what no system sees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slate card: the day-two task stream, remediation tasks, catalog requests and closures with their proof. It leads to four numbered blue cards in sequence. Step 1, map: each control knows which tests and tasks evidence it, a projection of the authoritative control map. Step 2, test: a scheduled control test reads actioned posture and attaches the evidence it read, CA-2. Step 3, gap: every fail or partial becomes an owned POA&amp;M item linked to the work that will close it, CA-5. Step 4, emit: assessed state and POA&amp;M are exported as OSCAL into the authorization package and the continuous-monitoring stream, CA-7. Beside step 2, an amber card labeled human attestation, only where no system can observe the control, such as a policy approval or a physical inspection, feeds the test step with a dashed arrow. Step 4 leads to a green card: the authorization package, read by the authorizing official. A dashed arrow labeled re-test on cadence runs from the gap step back to the test step.">    </p:cNvPr>
          <p:cNvPicPr>
            <a:picLocks noChangeAspect="1"/>
          </p:cNvPicPr>
          <p:nvPr/>
        </p:nvPicPr>
        <p:blipFill>
          <a:blip r:embed="rId1"/>
          <a:stretch>
            <a:fillRect/>
          </a:stretch>
        </p:blipFill>
        <p:spPr>
          <a:xfrm>
            <a:off x="548640" y="1371600"/>
            <a:ext cx="3575527" cy="3291840"/>
          </a:xfrm>
          <a:prstGeom prst="rect">
            <a:avLst/>
          </a:prstGeom>
        </p:spPr>
      </p:pic>
      <p:sp>
        <p:nvSpPr>
          <p:cNvPr id="6" name="Attest box" descr="">
            <a:extLst>
              <a:ext uri="{C183D7F6-B498-43B3-948B-1728B52AA6E4}">
                <adec:decorative xmlns:adec="http://schemas.microsoft.com/office/drawing/2017/decorative" val="1"/>
              </a:ext>
            </a:extLst>
          </p:cNvPr>
          <p:cNvSpPr/>
          <p:nvPr/>
        </p:nvSpPr>
        <p:spPr>
          <a:xfrm>
            <a:off x="4352767" y="1371600"/>
            <a:ext cx="7305833"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4581367"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13041" y="1649578"/>
            <a:ext cx="285293" cy="285293"/>
          </a:xfrm>
          <a:prstGeom prst="rect">
            <a:avLst/>
          </a:prstGeom>
        </p:spPr>
      </p:pic>
      <p:sp>
        <p:nvSpPr>
          <p:cNvPr id="9" name="Attest head"/>
          <p:cNvSpPr txBox="1"/>
          <p:nvPr/>
        </p:nvSpPr>
        <p:spPr>
          <a:xfrm>
            <a:off x="5267167" y="1517904"/>
            <a:ext cx="6299993"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attestation loop</a:t>
            </a:r>
            <a:endParaRPr lang="en-US" sz="1700" dirty="0"/>
          </a:p>
        </p:txBody>
      </p:sp>
      <p:sp>
        <p:nvSpPr>
          <p:cNvPr id="10" name="Attest list"/>
          <p:cNvSpPr txBox="1"/>
          <p:nvPr/>
        </p:nvSpPr>
        <p:spPr>
          <a:xfrm>
            <a:off x="4581367" y="2194560"/>
            <a:ext cx="6940073"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Map, test, gap, emit: control state from the task stream</a:t>
            </a:r>
            <a:endParaRPr lang="en-US" sz="1400" dirty="0"/>
          </a:p>
          <a:p>
            <a:pPr marL="342900" indent="-342900">
              <a:spcAft>
                <a:spcPts val="600"/>
              </a:spcAft>
              <a:buSzPct val="100000"/>
              <a:buChar char="•"/>
            </a:pPr>
            <a:r>
              <a:rPr lang="en-US" sz="1350" dirty="0">
                <a:solidFill>
                  <a:schemeClr val="tx2"/>
                </a:solidFill>
              </a:rPr>
              <a:t>A POA&amp;M item closes on re-test, never on ticket closure</a:t>
            </a:r>
            <a:endParaRPr lang="en-US" sz="1400" dirty="0"/>
          </a:p>
          <a:p>
            <a:pPr marL="342900" indent="-342900">
              <a:spcAft>
                <a:spcPts val="600"/>
              </a:spcAft>
              <a:buSzPct val="100000"/>
              <a:buChar char="•"/>
            </a:pPr>
            <a:r>
              <a:rPr lang="en-US" sz="1350" dirty="0">
                <a:solidFill>
                  <a:schemeClr val="tx2"/>
                </a:solidFill>
              </a:rPr>
              <a:t>Attesting what a system could read is itself a finding</a:t>
            </a:r>
            <a:endParaRPr lang="en-US" sz="1400" dirty="0"/>
          </a:p>
          <a:p>
            <a:pPr marL="342900" indent="-342900">
              <a:spcAft>
                <a:spcPts val="600"/>
              </a:spcAft>
              <a:buSzPct val="100000"/>
              <a:buChar char="•"/>
            </a:pPr>
            <a:r>
              <a:rPr lang="en-US" sz="1350" dirty="0">
                <a:solidFill>
                  <a:schemeClr val="tx2"/>
                </a:solidFill>
              </a:rPr>
              <a:t>Indicators bind providers; agency tags are vocabulary only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Close POA&amp;M items only on a passing re-test, and escalate every slipped milestone instead of quietly moving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System owner; the ISSO runs the monthly regeneration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Monthly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F); SP 800-137; SP 800-53 Rev. 5 (CA-2, CA-2(1), CA-5, CA-7); OSCAL 1.2.3; FedRAMP 2026 (SDR-CSX-KSI). Book 15, Chapters 10,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Buy the native compliance apps first; build the gaps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3383280"/>
                <a:gridCol w="3429000"/>
                <a:gridCol w="4297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Native coverage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agency adds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 records, scheduled tests, issues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Policy and Compliance Mgmt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Load controls from the control 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RMF workflow, package, POA&amp;M 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Continuous Authorization and Monitoring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Link each POA&amp;M item to its task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OSCAL export of plan, POA&amp;M, results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CAM, recent releases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Validate against the OSCAL release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Posture findings into tracked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Configuration Compliance (commercial Azure)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path for Azure Gov, AWS, VMware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Closure only with proof; map kept in step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Workflow configuration; none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Closure gate; a map check in CI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28539"/>
            <a:ext cx="332842" cy="332842"/>
          </a:xfrm>
          <a:prstGeom prst="rect">
            <a:avLst/>
          </a:prstGeom>
        </p:spPr>
      </p:pic>
      <p:sp>
        <p:nvSpPr>
          <p:cNvPr id="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Configure the platform's native compliance applications first, and build only reconciliation, the closure gate and the map check</a:t>
            </a:r>
            <a:endParaRPr lang="en-US" sz="1400" dirty="0"/>
          </a:p>
        </p:txBody>
      </p:sp>
      <p:sp>
        <p:nvSpPr>
          <p:cNvPr id="1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with the ITSM platform team</a:t>
            </a:r>
            <a:endParaRPr lang="en-US" sz="1400" dirty="0"/>
          </a:p>
        </p:txBody>
      </p:sp>
      <p:sp>
        <p:nvSpPr>
          <p:cNvPr id="1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any custom build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PCM, CAM and Configuration Compliance docs; Microsoft Learn (Defender for Cloud support matrix); FedRAMP Marketplace (Oct 21, 2026). Book 15,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runbook checks the automation, not just the estate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wide slate card at the top, under test, the automation: log sources, detection rules, infrastructure-as-code pipelines, ITSM flows and the evidence pipeline. It points to four violet cards in a row. Telemetry completeness, which fires when a source is silent past its freshness limit, CA-7. Detection efficacy, which fires when a replayed known-bad event raises no alert, CA-2 and SI-4. Deploy smoke tests, which fail the pipeline when a deployment doesn't close its control, CA-2. Baseline re-check and workflow tests, drift past reconciliation and flows tested in non-production, CM-6. The first two point to a red card: silent failure becomes loud, a high-severity alert or a failed pipeline. The last two point to a green card: assessment evidence, every harness result emits to the evidence contract.">    </p:cNvPr>
          <p:cNvPicPr>
            <a:picLocks noChangeAspect="1"/>
          </p:cNvPicPr>
          <p:nvPr/>
        </p:nvPicPr>
        <p:blipFill>
          <a:blip r:embed="rId1"/>
          <a:stretch>
            <a:fillRect/>
          </a:stretch>
        </p:blipFill>
        <p:spPr>
          <a:xfrm>
            <a:off x="548640" y="1802956"/>
            <a:ext cx="5760720" cy="2429129"/>
          </a:xfrm>
          <a:prstGeom prst="rect">
            <a:avLst/>
          </a:prstGeom>
        </p:spPr>
      </p:pic>
      <p:sp>
        <p:nvSpPr>
          <p:cNvPr id="6" name="Harness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Harness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Make silent failure loud</a:t>
            </a:r>
            <a:endParaRPr lang="en-US" sz="1700" dirty="0"/>
          </a:p>
        </p:txBody>
      </p:sp>
      <p:sp>
        <p:nvSpPr>
          <p:cNvPr id="10" name="Harness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dark log source is a control outage, not a hygiene item</a:t>
            </a:r>
            <a:endParaRPr lang="en-US" sz="1400" dirty="0"/>
          </a:p>
          <a:p>
            <a:pPr marL="342900" indent="-342900">
              <a:spcAft>
                <a:spcPts val="600"/>
              </a:spcAft>
              <a:buSzPct val="100000"/>
              <a:buChar char="•"/>
            </a:pPr>
            <a:r>
              <a:rPr lang="en-US" sz="1350" dirty="0">
                <a:solidFill>
                  <a:schemeClr val="tx2"/>
                </a:solidFill>
              </a:rPr>
              <a:t>Replay known-bad events weekly to prove detections still fire</a:t>
            </a:r>
            <a:endParaRPr lang="en-US" sz="1400" dirty="0"/>
          </a:p>
          <a:p>
            <a:pPr marL="342900" indent="-342900">
              <a:spcAft>
                <a:spcPts val="600"/>
              </a:spcAft>
              <a:buSzPct val="100000"/>
              <a:buChar char="•"/>
            </a:pPr>
            <a:r>
              <a:rPr lang="en-US" sz="1350" dirty="0">
                <a:solidFill>
                  <a:schemeClr val="tx2"/>
                </a:solidFill>
              </a:rPr>
              <a:t>Count human-only closures; review them every week</a:t>
            </a:r>
            <a:endParaRPr lang="en-US" sz="1400" dirty="0"/>
          </a:p>
          <a:p>
            <a:pPr marL="342900" indent="-342900">
              <a:spcAft>
                <a:spcPts val="600"/>
              </a:spcAft>
              <a:buSzPct val="100000"/>
              <a:buChar char="•"/>
            </a:pPr>
            <a:r>
              <a:rPr lang="en-US" sz="1350" dirty="0">
                <a:solidFill>
                  <a:schemeClr val="tx2"/>
                </a:solidFill>
              </a:rPr>
              <a:t>A harness that stops running looks like one that passes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Alert at high severity on any silent log source, and have the ISSO confirm every month that each harness ran and its failures became work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ISSO; security operations runs the daily check</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Daily check; monthly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53B (CA-2, CA-7, CA-7(3), SI-4, SI-6, AU-9, AC-6(7)); Microsoft Sentinel connector health; ServiceNow ATF. Book 15,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Day-two decisions: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gridCol w="2514600"/>
                <a:gridCol w="2514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Close a wave only after reset, unlock, joiner and leaver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Each wave's go/no-go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 the verification ladder; alert on every reset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cutover; yearly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Fund operation: owner, gate, clock, evidence feed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and sponsor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Next budget cycle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Hold the platform to the contract; record its certification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platform 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Selection or renewal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front door; count every side door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Desk manager; IGO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first cutover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Scope and review the desk's privileged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IGO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approvers on high-risk tasks; a verdict before consent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 IGO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go-live; each app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Decide every shadow asset; keep the platform read-only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System owner; 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Weekly; before connectors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owner per artifact; staff the desk from its measures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go-live; monthly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Approval-rule changes are normal changes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CAB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First platform release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POA&amp;M closes on re-test; buy native apps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System owner;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Monthly; before any build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Alert on dark sources; confirm every harness ran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ISSO; security ops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Daily; monthly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394960"/>
            <a:ext cx="11109960" cy="502920"/>
          </a:xfrm>
          <a:prstGeom prst="rect">
            <a:avLst/>
          </a:prstGeom>
          <a:noFill/>
          <a:ln/>
        </p:spPr>
        <p:txBody>
          <a:bodyPr wrap="square" lIns="0" tIns="0" rIns="0" bIns="0" rtlCol="0" anchor="ctr"/>
          <a:lstStyle/>
          <a:p>
            <a:pPr algn="ctr" indent="0" marL="0">
              <a:buNone/>
            </a:pPr>
            <a:r>
              <a:rPr lang="en-US" sz="1600" b="1" dirty="0">
                <a:solidFill>
                  <a:srgbClr val="B45309"/>
                </a:solidFill>
              </a:rPr>
              <a:t>None of these is a procurement.  </a:t>
            </a:r>
            <a:pPr algn="ctr" indent="0" marL="0">
              <a:buNone/>
            </a:pPr>
            <a:r>
              <a:rPr lang="en-US" sz="1600" dirty="0">
                <a:solidFill>
                  <a:schemeClr val="tx2"/>
                </a:solidFill>
              </a:rPr>
              <a:t>Make the governed path the easiest path, and the evidence writes itself.</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Rev. 5; SP 800-63B-4; OMB M-22-09; CISA BOD 25-01, BOD 26-04; FedRAMP 2026 rules. Book 15, Chapters 01–12; owners from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NIST and the law</a:t>
            </a:r>
            <a:endParaRPr lang="en-US" sz="3000" dirty="0"/>
          </a:p>
        </p:txBody>
      </p:sp>
      <p:sp>
        <p:nvSpPr>
          <p:cNvPr id="3" name="Source lis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OMB M-22-09 (January 26, 2022); M-24-08 (December 21, 2023).  ·  CISA BOD 25-01 (MS.AAD.5.1–5.3); BOD 26-04 (June 10, 2026); Advisory AA23-320A, Scattered Spider (revised July 29, 2025).  ·  36 CFR part 1194 (Revised 508 Standards); 47 CFR part 9 (Kari's Law and RAY BAUM'S Act rules).</a:t>
            </a:r>
            <a:endParaRPr lang="en-US" sz="1400" dirty="0"/>
          </a:p>
          <a:p>
            <a:pPr marL="342900" indent="-342900">
              <a:spcAft>
                <a:spcPts val="800"/>
              </a:spcAft>
              <a:buSzPct val="100000"/>
              <a:buChar char="•"/>
            </a:pPr>
            <a:r>
              <a:rPr lang="en-US" sz="1300" dirty="0">
                <a:solidFill>
                  <a:schemeClr val="tx2"/>
                </a:solidFill>
              </a:rPr>
              <a:t>NIST SP 800-63B-4 (July 2025, §§ 2.2.2, 3.2.5, 4.1.2.1, 4.2, 4.6).  ·  SP 800-37 Rev. 2 (Task M-1; Appendices D and F).  ·  SP 800-137.  ·  SP 800-128 (§§ 2.3.3, 2.4, 3.3.2).  ·  OSCAL 1.2.3 (August 7, 2026).</a:t>
            </a:r>
            <a:endParaRPr lang="en-US" sz="1400" dirty="0"/>
          </a:p>
          <a:p>
            <a:pPr marL="342900" indent="-342900">
              <a:spcAft>
                <a:spcPts val="800"/>
              </a:spcAft>
              <a:buSzPct val="100000"/>
              <a:buChar char="•"/>
            </a:pPr>
            <a:r>
              <a:rPr lang="en-US" sz="1300" dirty="0">
                <a:solidFill>
                  <a:schemeClr val="tx2"/>
                </a:solidFill>
              </a:rPr>
              <a:t>NIST SP 800-53 Rev. 5, release 5.2.0, and SP 800-53B: AC-2, AC-2(1), AC-2(3), AC-2(4), AC-5, AC-6, AC-6(7), AC-6(9), AC-7, AC-20, AU-6, AU-6(1), AU-9, AU-12(1), CA-2, CA-2(1), CA-3, CA-5, CA-7, CA-7(3), CM-2, CM-3, CM-3(4), CM-5, CM-6, CM-8, CM-8(1), CM-8(4), CM-8(9), CM-9, CM-9(1), IA-5, IA-5(1), IA-12, PS-4, PS-5, RA-5, SA-9, SI-2, SI-4, SI-6.</a:t>
            </a:r>
            <a:endParaRPr lang="en-US" sz="1400" dirty="0"/>
          </a:p>
          <a:p>
            <a:pPr marL="342900" indent="-342900">
              <a:spcAft>
                <a:spcPts val="800"/>
              </a:spcAft>
              <a:buSzPct val="100000"/>
              <a:buChar char="•"/>
            </a:pPr>
            <a:r>
              <a:rPr lang="en-US" sz="1300" dirty="0">
                <a:solidFill>
                  <a:schemeClr val="tx2"/>
                </a:solidFill>
              </a:rPr>
              <a:t>FedRAMP Consolidated Rules for 2026: Using a FedRAMP Certified Cloud Service; Key Security Indicators (46 in ten themes); SDR-CSX-KSI; Vulnerability Detection and Response.  ·  FedRAMP Marketplace products.json (read October 21, 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platforms, as of October 2026</a:t>
            </a:r>
            <a:endParaRPr lang="en-US" sz="3000" dirty="0"/>
          </a:p>
        </p:txBody>
      </p:sp>
      <p:sp>
        <p:nvSpPr>
          <p:cNvPr id="3" name="Source list 2"/>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Entra built-in and privileged roles; MFA user settings; self-service password reset and writeback; Temporary Access Pass; Privileged Identity Management; restricted management administrative units; audit activities and retention; Entra Connect hard and soft match; Verified ID help desk and account recovery.</a:t>
            </a:r>
            <a:endParaRPr lang="en-US" sz="1400" dirty="0"/>
          </a:p>
          <a:p>
            <a:pPr marL="342900" indent="-342900">
              <a:spcAft>
                <a:spcPts val="800"/>
              </a:spcAft>
              <a:buSzPct val="100000"/>
              <a:buChar char="•"/>
            </a:pPr>
            <a:r>
              <a:rPr lang="en-US" sz="1300" dirty="0">
                <a:solidFill>
                  <a:schemeClr val="tx2"/>
                </a:solidFill>
              </a:rPr>
              <a:t>Microsoft Learn: Defender for Cloud ServiceNow integration and support matrix; Azure Policy; Purview Compliance Manager; Microsoft Graph national clouds; Entra Connect Health and scheduler; Sentinel connector health; Log Analytics data deletion.</a:t>
            </a:r>
            <a:endParaRPr lang="en-US" sz="1400" dirty="0"/>
          </a:p>
          <a:p>
            <a:pPr marL="342900" indent="-342900">
              <a:spcAft>
                <a:spcPts val="800"/>
              </a:spcAft>
              <a:buSzPct val="100000"/>
              <a:buChar char="•"/>
            </a:pPr>
            <a:r>
              <a:rPr lang="en-US" sz="1300" dirty="0">
                <a:solidFill>
                  <a:schemeClr val="tx2"/>
                </a:solidFill>
              </a:rPr>
              <a:t>ServiceNow documentation: Microsoft Entra ID Spoke; MID Server; Ask for Approval; change types and CAB workbench; CSDM; CMDB Data Manager; Policy and Compliance Management; Continuous Authorization and Monitoring; Configuration Compliance; Automated Test Framework.  ·  AWS: Config, Security Hub CSPM, Audit Manager availability change.  ·  Broadcom: VCF 9.0 and 9.1 Operations.</a:t>
            </a:r>
            <a:endParaRPr lang="en-US" sz="1400" dirty="0"/>
          </a:p>
          <a:p>
            <a:pPr marL="342900" indent="-342900">
              <a:spcAft>
                <a:spcPts val="800"/>
              </a:spcAft>
              <a:buSzPct val="100000"/>
              <a:buChar char="•"/>
            </a:pPr>
            <a:r>
              <a:rPr lang="en-US" sz="1300" dirty="0">
                <a:solidFill>
                  <a:schemeClr val="tx2"/>
                </a:solidFill>
              </a:rPr>
              <a:t>Full footnotes with links and access dates (October 21–22, 2026): Book 15, every chapter and Appendix A (whalermike.github.io/modernization-workbook/docs/books/b15-day2-operations/).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Day-2 Operations: the executive briefing</dc:title>
  <dc:subject>PptxGenJS Presentation</dc:subject>
  <dc:creator>Michael F. Stratton</dc:creator>
  <cp:lastModifiedBy>Michael F. Stratton</cp:lastModifiedBy>
  <cp:revision>1</cp:revision>
  <dcterms:created xsi:type="dcterms:W3CDTF">2026-10-27T09:56:09Z</dcterms:created>
  <dcterms:modified xsi:type="dcterms:W3CDTF">2026-10-27T09:56:09Z</dcterms:modified>
</cp:coreProperties>
</file>