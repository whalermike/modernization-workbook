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3ef0e75-b254-7b57-3bad-653613ae0ab5}">
          <p14:sldIdLst>
            <p14:sldId id="256"/>
          </p14:sldIdLst>
        </p14:section>
        <p14:section name="Why" id="{5faa0f57-c168-accc-2818-0544fa42862f}">
          <p14:sldIdLst>
            <p14:sldId id="257"/>
            <p14:sldId id="258"/>
            <p14:sldId id="259"/>
          </p14:sldIdLst>
        </p14:section>
        <p14:section name="What" id="{692b0392-a80b-9caf-463a-39cba9ecdb66}">
          <p14:sldIdLst>
            <p14:sldId id="260"/>
            <p14:sldId id="261"/>
            <p14:sldId id="262"/>
            <p14:sldId id="263"/>
            <p14:sldId id="264"/>
            <p14:sldId id="265"/>
            <p14:sldId id="266"/>
            <p14:sldId id="267"/>
          </p14:sldIdLst>
        </p14:section>
        <p14:section name="Who" id="{93cf5ef5-0619-7303-40ac-3ebec73c7b37}">
          <p14:sldIdLst>
            <p14:sldId id="268"/>
          </p14:sldIdLst>
        </p14:section>
        <p14:section name="How" id="{749b2089-9a16-00c8-704e-82de45b9da5c}">
          <p14:sldIdLst>
            <p14:sldId id="269"/>
            <p14:sldId id="270"/>
            <p14:sldId id="271"/>
            <p14:sldId id="272"/>
            <p14:sldId id="273"/>
          </p14:sldIdLst>
        </p14:section>
        <p14:section name="Backup" id="{1ce41f73-d780-0fcc-aa12-11bf3ec7473f}">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the Attribute-Driven Migration. This is Chapter 6: moving Group Policy as code. Group Policy analytics tells you which settings Intune can take, but not which ones should move, who owns them, or what's already in the tenant. Those are the pipeline's questions. We'll start from Microsoft's own settings catalog samples, see what they leave out, then walk the move plan, the library, the linter and the sync, two labs and the dangers. One note before we begin: the code is illustrative, tested against fixtures.
Detail: How a Group Policy setting becomes an Intune settings catalog policy through code. You read Intune's Group Policy analytics through Microsoft Graph (beta) into a move plan, one row per setting. You keep each policy as a reviewed JSON file in Git, with its owner and a decision record per setting. Then a sync lints the library, diffs it against the tenant, and creates only what is missing. You start from Microsoft's own settings catalog export and import samples, which the repository keeps as a pinned copy, run them against a fake Graph, and build only for what they leave out. Lab 1 runs on a laptop with no tenant; Lab 2 uses a test tenant. Goal: by the end of the chapter you can turn Group Policy analytics into a move plan, write a settings catalog policy as a library file that passes review, show what a change would create before it reaches the tenant, and create it with the least permission that works. For each rule in the code you can say whether it is Microsoft's contract, Microsoft's sample, or the program's own design.
Sources: Microsoft Learn, "Import and analyze your on-premises GPOs using Group Policy analytics in Microsoft Intune," https://learn.microsoft.com/intune/device-configuration/import-group-policy-analytics (accessed Oct 30, 2026). · Microsoft, microsoft/mggraph-intune-samples, SettingsCatalog at commit 2e668455288ebc43b7356b2d9b0c537e24c409f4 (September 25, 2026), MIT License, https://github.com/microsoft/mggraph-intune-samples/tree/2e668455288ebc43b7356b2d9b0c537e24c409f4/SettingsCatalog (accessed Oct 30, 2026); pinned copy in examples/third_party/mggraph-intune-samples.
Workbook: Building the Attribute-Driven Migration, Chapter 06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need code at all? Because the operator side is already written, in Book 5's sunset program and the Intune track's gates, and what's missing is the software for two of those steps: importing the policies for analysis, and building the library. Two rules from those pages shape everything that follows. Every setting has exactly one owning policy and one owning tool, so the library only holds what Intune owns. And policies are built with no assignments; assigning them is a separate, reviewed step. Let's see what Microsoft's tools say about the stakes.
Detail: The operator side is already written. Book 05, Chapter 08 runs the GPO sunset in seven phases: inventory and classify, then build the library unassigned, then pilot, then cut over in waves. Its "Adopt, don't build" table names Microsoft's tools for each step, and its Graph templates show the payloads. The Intune track guide turns that into gates: Step 3.1 imports every in-scope GPO into Group Policy analytics, and Step 3.2 creates the library as code. This chapter is the code for those two steps. It doesn't repeat them. Two rules from those pages shape the code: one owning policy per setting (Intune track, Step 2.4), and one owning tool per setting, recorded as config_owner in the CMDB (Ansible guide). The library holds only settings Intune owns. Build unassigned (Book 05, Phase 3): the code creates policies with no assignments. Assigning them is a later, reviewed step.
Sources: Building the Attribute-Driven Migration, Chapter 06, docs/project-plans/developer-workbooks/attribute-driven-migration/06-group-policy-as-code.md
Workbook: Building the Attribute-Driven Migration, Chapter 06 — “Where this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itself says about these tools, and it's why a pipeline is worth building. Group Policy analytics reads your exports and tells you which settings have an equivalent, but only for Windows, and it only parses some settings, and only in English. The Migrate button is called best effort; Learn tells you not to move everything without review, and it simply stops when two policies disagree. And everything in Graph here, both the analytics reports and the settings catalog itself, is beta. Supported, but liable to change. Next, which cloud.
Detail: Group Policy analytics imports GPO XML exports (each under 4 MB), shows which settings have an MDM equivalent, and keeps its mapping up to date without a reimport. It is for Windows only. It parses only non-ADMX settings in English; other languages make the MDM support figure inaccurate. Its Migrate step builds a settings catalog policy from imported GPOs. Learn calls it best effort, advises against including every setting without review, stops when two GPOs set one setting to different values, and is disabled for AppLocker and firewall rule settings, which belong in Endpoint security. The same data is in Graph: groupPolicyMigrationReports, one per imported GPO, each with its groupPolicySettingMappings. Both are beta. Learn says Microsoft supports Intune beta APIs but they change more often, and the Graph API for Intune needs an active Intune license. Settings catalog policies are deviceManagement/configurationPolicies, documented in beta only. Book 05 already notes this.
Sources: Microsoft Learn, "Import and analyze your on-premises GPOs using Group Policy analytics in Microsoft Intune," https://learn.microsoft.com/intune/device-configuration/import-group-policy-analytics (accessed Oct 30, 2026). · Microsoft Learn, "Create a Settings Catalog policy using your imported GPOs in Microsoft Intune," https://learn.microsoft.com/intune/device-configuration/migrate-group-policy (accessed Oct 30, 2026). · Microsoft Learn, "groupPolicyMigrationReport resource type" (Microsoft Graph beta), https://learn.microsoft.com/graph/api/resources/intune-gpanalyticsservice-grouppolicymigrationreport?view=graph-rest-beta (accessed Oct 30, 2026). · Microsoft Learn, "groupPolicySettingMapping resource type" (Microsoft Graph beta), https://learn.microsoft.com/graph/api/resources/intune-gpanalyticsservice-grouppolicysettingmapping?view=graph-rest-beta (accessed Oct 31, 2026). · Microsoft Learn, "List groupPolicyMigrationReports" (Microsoft Graph beta), https://learn.microsoft.com/graph/api/intune-gpanalyticsservice-grouppolicymigrationreport-list?view=graph-rest-beta (accessed Oct 30, 2026). · Microsoft Learn, "Create deviceManagementConfigurationPolicy" (Microsoft Graph beta), https://learn.microsoft.com/graph/api/intune-deviceconfigv2-devicemanagementconfigurationpolicy-create?view=graph-rest-beta (accessed Oct 30, 2026).
Workbook: Building the Attribute-Driven Migration, Chapter 06 — “Where this sits” — what Learn says about the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cloud matters, because Microsoft's import sample always calls the worldwide Graph host. For a GCC tenant like this estate's, that's correct: GCC uses the worldwide Graph and the same Intune instance as commercial customers. GCC High and the Defense cloud have their own Graph hosts, a shared government Intune instance and their own admin center, and a token from one cloud won't work in another. So the example maps each cloud name to its host and refuses any name it doesn't recognize. Now, Microsoft's samples.
Detail: In GCC, Graph and the Intune admin center are the worldwide ones: Learn says GCC uses graph.microsoft.com, and Intune for GCC is the same instance as commercial Intune. In GCC High and DoD, use -Cloud gcchigh or -Cloud dod and the government admin center, intune.microsoft.us. Graph host per cloud: GCC https://graph.microsoft.com; GCC High https://graph.microsoft.us; DoD https://dod-graph.microsoft.us; a token for one cloud doesn't work in another. Connect-MgGraph -Environment takes Global, USGov, USGovDoD. Intune per cloud: GCC is the commercial Intune instance; GCC High and DoD share the government instance; government admin center intune.microsoft.us. Microsoft's import sample sends to graph.microsoft.com whatever cloud the session signed in to: right for GCC, wrong host in GCC High or DoD. Get-GpcCloud maps each cloud to its host and refuses a name it doesn't know. The Graph pages list global, US Government L4 and L5 for every call the code uses.
Sources: Microsoft Learn, "Microsoft Graph national cloud deployments," section "Microsoft Graph and Graph Explorer service root endpoints," https://learn.microsoft.com/graph/deployments (accessed Oct 30, 2026). · Microsoft Learn, "Authentication module cmdlets in Microsoft Graph PowerShell," section "Use Get-MgEnvironment," https://learn.microsoft.com/powershell/microsoftgraph/authentication-commands?view=graph-powershell-1.0; and "Get-MgEnvironment," https://learn.microsoft.com/powershell/module/microsoft.graph.authentication/get-mgenvironment?view=graph-powershell-1.0 (both accessed Oct 30, 2026). · Microsoft Learn, "Microsoft Intune for US Government GCC High and DoD service description," section "Intune commercial and government instances," https://learn.microsoft.com/intune/fundamentals/government-service (accessed Oct 30, 2026). · Microsoft Learn, "US government endpoints for Microsoft Intune," section "US Government customer designated endpoints," https://learn.microsoft.com/intune/fundamentals/endpoints-us-government (accessed Oct 30, 2026).
Workbook: Building the Attribute-Driven Migration, Chapter 06 — “Lab 2: test tenant”; “Verified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does give you a starting point. Learn's Intune migration guide points to its Graph samples, and their settings catalog folder has two scripts: one exports every policy to a file, one imports a file as a new policy. Learn is candid that they change your tenant, come as-is, and should be tried somewhere safe first. The repository keeps an unmodified copy, with hashes a test checks, and a harness that runs both scripts against a fake Graph, replacing only the commands they call outside themselves. Notice what's absent: no sample reads the analytics through Graph.
Detail: Learn's Intune migration guide points to Microsoft's Intune Graph samples, microsoft/mggraph-intune-samples, for exporting and importing policies with PowerShell. It says the scripts change your tenant, come as-is, should be validated in a non-production tenant, and don't cover every policy type. The older repository, microsoftgraph/powershell-intune-samples, no longer resolves on GitHub; some Learn text still names it, but the link goes to the new one. The new repository uses the Microsoft Graph PowerShell SDK. Its SettingsCatalog folder has two scripts: SettingsCatalog_Export.ps1 reads every settings catalog policy (technologies has 'mdm'), follows paging, reads each policy's settings, and writes one JSON file per policy. SettingsCatalog_Import_FromJSON.ps1 asks for one JSON file, works out the endpoint, removes read-only properties, adds # to @odata.type where it is missing, and POSTs the policy. There is no Microsoft sample that reads Group Policy analytics through Graph; Learn's pages for the read are the API reference and the admin center procedure. The repository keeps an unmodified copy of the SettingsCatalog folder and the repository's MIT license in examples/third_party/mggraph-intune-samples, from commit 2e66845 (September 25, 2026). snapshot.json records each file's SHA-256, and a unit test checks them. The weekly source watch reports new commits to the folder. Updating the copy is a reviewed pull request, as in Chapter 01. tests/MicrosoftSampleHarness.ps1 runs each script, unmodified, against a fake Graph. Only the commands it calls outside itself are replaced: Read-Host, Write-Host, Invoke-MgGraphRequest, and the Graph module it imports, which becomes an empty stand-in so nothing is installed.
Sources: Microsoft Learn, "Migration guide: Set up or move to Microsoft Intune," section "Tenant to tenant migration," https://learn.microsoft.com/intune/fundamentals/setup-migration (accessed Oct 30, 2026). · Microsoft, microsoft/mggraph-intune-samples, SettingsCatalog at commit 2e668455288ebc43b7356b2d9b0c537e24c409f4 (September 25, 2026), MIT License, https://github.com/microsoft/mggraph-intune-samples/tree/2e668455288ebc43b7356b2d9b0c537e24c409f4/SettingsCatalog (accessed Oct 30, 2026); pinned copy in examples/third_party/mggraph-intune-samples. · Microsoft Learn, "List groupPolicyMigrationReports" (Microsoft Graph beta), https://learn.microsoft.com/graph/api/intune-gpanalyticsservice-grouppolicymigrationreport-list?view=graph-rest-beta (accessed Oct 30, 2026). · Microsoft Learn, "List groupPolicySettingMappings" (Microsoft Graph beta), https://learn.microsoft.com/graph/api/intune-gpanalyticsservice-grouppolicysettingmapping-list?view=graph-rest-beta (accessed Oct 30, 2026). · Microsoft Learn, "Import and analyze your on-premises GPOs using Group Policy analytics in Microsoft Intune," https://learn.microsoft.com/intune/device-configuration/import-group-policy-analytics (accessed Oct 30, 2026).
Workbook: Building the Attribute-Driven Migration, Chapter 06 — “Start with Microsoft's sample” — “What Microsoft gives you”; “The pinned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samples against the fake Graph shows what they do well, and the example keeps that: the same create call, the same filter, the same paging, and policies created with no assignments. The gaps are about safety. The import always calls the worldwide host. It writes with whatever session you happen to have open. There's no dry run. And if you run it twice, you get two policies with the same name, because it never looks at the tenant first. Each of those gaps is pinned by a test. There are more, on the record side.
Detail: Running the two scripts against the fake Graph shows what they do well and what they leave to you. Each row is pinned by a test in tests/MicrosoftSamples.Tests.ps1. Import creates the policy with one POST to /beta/deviceManagement/configurationPolicies; export follows @odata.nextLink; a policy exported from one tenant imports into another with the same settings: kept as the model, the same call, the same technologies has 'mdm' filter, the same paging. Import drops assignments, so the policy is created unassigned; Book 05 builds the library unassigned: kept; GPC-04 also refuses assignments in a library file, so the review sees what is sent. Import sends to graph.microsoft.com whatever cloud the session signed in to: right for GCC; in GCC High or DoD the call goes to the wrong host, and Learn says tokens for one cloud don't work in another: Get-GpcCloud maps each cloud to its host and refuses a name it doesn't know. Import doesn't sign in or choose a permission; it uses the caller's session, so a session opened with broad scopes does the write: Get-GpcRequiredScope gives DeviceManagementConfiguration.Read.All for the plan and the dry run, ReadWrite.All only with -Apply. Import asks only for the file and creates at once: no dry run, no view of what will change: a dry run by default; -Apply to write. Run twice, import creates a second policy with the same name; it never reads the tenant: two policies set the same settings, and the second one is invisible to review: the sync reads the tenant first, creates only what is missing, and refuses when two tenant policies share a library name.
Sources: Microsoft, microsoft/mggraph-intune-samples, SettingsCatalog at commit 2e668455288ebc43b7356b2d9b0c537e24c409f4 (September 25, 2026), MIT License, https://github.com/microsoft/mggraph-intune-samples/tree/2e668455288ebc43b7356b2d9b0c537e24c409f4/SettingsCatalog (accessed Oct 30, 2026); pinned copy in examples/third_party/mggraph-intune-samples. · Microsoft Learn, "Microsoft Graph national cloud deployments," section "Microsoft Graph and Graph Explorer service root endpoints," https://learn.microsoft.com/graph/deployments (accessed Oct 30, 2026).
Workbook: Building the Attribute-Driven Migration, Chapter 06 — “What it leaves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 about the record. The import quietly edits the file before sending it, so what reached the tenant isn't what anyone reviewed; the example refuses such a file instead. The import leaves nothing for the security officer. The export stamps each file with the time, so Git can never show a change, and it drops the scope tags, so a re-imported policy is visible to the wrong administrators. And neither script knows who owns a setting. The verdict: keep Microsoft's create call as the model, and let the sync ask what's already there before it writes.
Detail: Import silently strips service-set properties (id, settingCount and others) and adds # to @odata.type: the body sent isn't the file reviewed: GPC-03 and GPC-07 refuse the file instead, so the reviewed file is the body. Import records nothing beyond the screen: nothing to hand the ISSO: sync-record.json, with the cloud, the scopes, each file's SHA-256, the result per policy and the IDs created. Export names each file with the time of the run: each export is a new file, so Git can't show a diff: library files have fixed names, and the diff with the tenant is computed. Export keeps name, description, platforms, technologies and settings, and drops the scope tags: a re-imported policy lands in the Default scope tag, so the wrong administrators see it: the library carries roleScopeTagIds, and the diff compares them. Neither reads Group Policy analytics, and neither knows who owns a setting: settings move without a decision, or into a policy that another policy or tool already sets: the move plan, and lint rules GPC-02, GPC-06, GPC-08 and GPC-09. The verdict: use Microsoft's import call as the model for the create, and keep the samples pinned for comparison. For a reviewed pipeline, use the example's sync, because it can answer "what is already there?" before it writes, and the samples can't.
Sources: Microsoft, microsoft/mggraph-intune-samples, SettingsCatalog at commit 2e668455288ebc43b7356b2d9b0c537e24c409f4 (September 25, 2026), MIT License, https://github.com/microsoft/mggraph-intune-samples/tree/2e668455288ebc43b7356b2d9b0c537e24c409f4/SettingsCatalog (accessed Oct 30, 2026); pinned copy in examples/third_party/mggraph-intune-samples.
Workbook: Building the Attribute-Driven Migration, Chapter 06 — “What it leaves to you”;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 side has two parts. First, a gate from the validation kit, which works per policy object: anything targeted in the directory that isn't fully ready, or anything in scope that was never imported, fails it. Then the move plan works per setting. Every setting gets a row and a disposition: a candidate to move, a conflict between two policies, something that belongs in Endpoint security, something with no catalog equivalent, or something that stays behind. And here's the important part: the plan decides nothing. A person decides, and records why.
Detail: VK-INT-07 is the gate. The validation kit's check reads groupPolicyMigrationReports and fails on any GPO targeted in Active Directory whose migration readiness isn't complete, and on any GPO in gpo-scope.csv that was never imported (Chapter 03 explains the kit). It works per GPO. It doesn't read the settings. Get-GpcMovePlan works per setting. It reads each report's groupPolicySettingMappings and returns one row per setting: the GPO, the setting, its value, its scope (device or user; Learn also lists unknown, which the plan keeps as is), and the Intune setting definition ID. Then it gives each row a disposition. Candidate: mdmSupportedState is supported and there is an intuneSettingDefinitionId; a person decides whether it moves, and records the decision. Conflict: two GPOs set one definition ID to different values, the same case Learn's Migrate step stops on; the decision record picks the value. EndpointSecurity: an AppLocker or firewall setting, built in Endpoint security, as Learn says. NoCatalogSetting: supported, but no settings catalog definition; Learn's admin center shows the OMA-URI for a custom profile. NotSupported, Deprecated, Unknown: mdmSupportedState says so; stays with the GPO until the GPO is retired, or is dropped by decision. The plan decides nothing. Book 05 is clear that Group Policy analytics finds the landing zone and never decides whether a setting is still needed (Phase 1). User-scope rows keep their scope, because user settings go to user groups on the HR track (Intune track, Step 2.3).
Sources: Microsoft Learn, "groupPolicySettingMapping resource type" (Microsoft Graph beta), https://learn.microsoft.com/graph/api/resources/intune-gpanalyticsservice-grouppolicysettingmapping?view=graph-rest-beta (accessed Oct 31, 2026). · Microsoft Learn, "groupPolicyMigrationReport resource type" (Microsoft Graph beta), https://learn.microsoft.com/graph/api/resources/intune-gpanalyticsservice-grouppolicymigrationreport?view=graph-rest-beta (accessed Oct 30, 2026). · Microsoft Learn, "Create a Settings Catalog policy using your imported GPOs in Microsoft Intune," https://learn.microsoft.com/intune/device-configuration/migrate-group-policy (accessed Oct 30, 2026). · Microsoft Learn, "Import and analyze your on-premises GPOs using Group Policy analytics in Microsoft Intune," https://learn.microsoft.com/intune/device-configuration/import-group-policy-analytics (accessed Oct 30, 2026).
Workbook: Building the Attribute-Driven Migration, Chapter 06 — “Read: the gate and the move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write side, each policy is one file in Git, and the file has two halves. The policy half is exactly the body Graph will receive, in the shape Learn documents, so what's reviewed is what's sent. The other half is the record: who approves a change, which tool owns these settings, which old policies they came from, and a decision record for every single setting. The setting identifiers in the two sample files come from Learn's own examples, and the chapter's advice is to export one from the admin center and compare before trusting any other.
Detail: Each settings catalog policy is a JSON file in policies/. Example: owner "Workstation baseline owner (Intune track)"; configOwner "Intune"; sourceGpos ["FMP-Workstation-Baseline", "Workstation-Power"]; decisions: device_vendor_msft_policy_config_windowslogon_allowautomaticrestartsignon is DR-0104, device_vendor_msft_policy_config_power_allowhibernate is DR-0105; policy: name FMP-SC-202-Sign-in-and-power, platforms windows10, technologies mdm, roleScopeTagIds ["0"], settings with two choice settings. policy is the body Graph receives, exactly as reviewed, in the shape Learn's Create page documents. The rest is the record: who approves a change, which tool owns the settings, which GPOs they came from, and the ID of each setting's decision record from Book 05, Chapter 07 (Step 4, decide and record). The two library files use setting definition IDs that appear in Learn's own settings catalog examples (the Personal Data Encryption page's Graph example sets the error reporting, crash dump, live dump, automatic restart sign-in and hibernation settings). Export a policy built in the admin center and compare before you rely on any other ID, as Book 05 says.
Sources: Microsoft Learn, "Create deviceManagementConfigurationPolicy" (Microsoft Graph beta), https://learn.microsoft.com/graph/api/intune-deviceconfigv2-devicemanagementconfigurationpolicy-create?view=graph-rest-beta (accessed Oct 30, 2026). · Microsoft Learn, "Configure Personal Data Encryption," section "Configure Personal Data Encryption with Microsoft Intune" (its Graph example sets the error reporting, crash dump, live dump, automatic restart sign-in and hibernation settings), https://learn.microsoft.com/windows/security/operating-system-security/data-protection/personal-data-encryption/configure (accessed Oct 30, 2026).
Workbook: Building the Attribute-Driven Migration, Chapter 06 — “Write: one file per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linter is where the program's own rules live. Four rules carry most of the weight. Only settings Intune owns go in the library. No setting may appear in two policies, which is exactly the conflict a peer reviewer hunts for. Every setting needs a decision record. And anything that isn't a clean candidate from the plan raises a warning, so a setting added by hand is a choice someone made on purpose. One more rule watches for secrets, because Learn says anyone who can read device configuration can read those values. Then comes the diff.
Detail: Test-GpcLibrary applies ten rules (GPC-01 to GPC-10; the README lists them). Four carry the program's rules: GPC-02: configOwner must be Intune. A setting another tool owns stays with that tool (design guidance, from the Ansible guide's one owning tool per setting). GPC-06: one setting definition ID in one policy. Two policies on one setting is the conflict Book 05's peer review looks for. GPC-09: every setting has a decision record. GPC-08, with the move plan: a setting that isn't a Candidate is a warning, so a setting added by hand is a choice someone made on purpose. A Conflict is shown with its decision. GPC-10 warns on a string value whose setting name suggests a secret. Learn says anyone who can read device configuration can read such values. From the gap table: GPC-04 refuses assignments in a library file, so the review sees what is sent; GPC-03 and GPC-07 refuse a file with service-set properties (id, settingCount and others) or an @odata.type the import would have rewritten, so the reviewed file is the body.
Sources: Microsoft Learn, "Apply features and settings on your devices using device profiles in Microsoft Intune," section "Handle custom and imported device profile settings," https://learn.microsoft.com/intune/device-configuration/overview (accessed Oct 30, 2026).
Workbook: Building the Attribute-Driven Migration, Chapter 06 — “Lint”.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heart of the sync: it diffs before it writes. It reads the tenant's policies, normalizes both sides so harmless formatting differences don't count, and gives each policy one action. New ones get created. Matching ones are left alone. Anything that has drifted, or appears twice, stops the whole release. By default it's a dry run with read-only permission; only with the apply switch does it ask for write. And it never updates or deletes, even though Graph allows both. A policy that differs from Git is a question for a person, not something to overwrite.
Detail: Get-GpcTenantPolicy reads the tenant's settings catalog policies with the same filter Microsoft's export uses, then reads the settings of each policy whose name is in the library. Compare-GpcLibrary compares each file with the tenant's copy. Learn's response examples show @odata.type without its # inside settings, nulls where a value is empty, and an ID on each setting, so ConvertTo-GpcCanonical normalizes both sides before comparing. Each policy gets one action: Create, not in the tenant, exit 0; NoChange, same settings, description, platform, technology and scope tags, exit 0; Drift, differs, and the row names each setting added, removed or changed, exit 2; Duplicate, two tenant policies have the library's name, exit 2. Invoke-GpcSync.ps1 runs it all. Without -Apply it is a dry run: it signs in with Read.All and sends only GET. With -Apply it signs in with ReadWrite.All and POSTs each Create, reads it back, and compares again. It writes nothing if the lint has a finding or any policy is Drift or Duplicate. It never sends PATCH or DELETE. Learn documents both, and the Update page's body lists the policy's own properties, not its settings. A policy's settings change one at a time: the beta reference documents PATCH /deviceManagement/configurationPolicies/{policyId}/settings/{settingId} with a settingInstance body and DeviceManagementConfiguration.ReadWrite.All. So an update is possible; the sync still doesn't make one. A policy that differs from Git is a decision for a person: someone changed it in the admin center, or Git changed it on purpose. To change a policy, the program creates the new version under a new name, moves the assignment in a reviewed change, and deletes the old one by hand (design guidance).
Sources: Microsoft Learn, "List deviceManagementConfigurationPolicies" (Microsoft Graph beta), https://learn.microsoft.com/graph/api/intune-deviceconfigv2-devicemanagementconfigurationpolicy-list?view=graph-rest-beta (accessed Oct 30, 2026). · Microsoft Learn, "List deviceManagementConfigurationSettings" (Microsoft Graph beta), https://learn.microsoft.com/graph/api/intune-deviceconfigv2-devicemanagementconfigurationsetting-list?view=graph-rest-beta (accessed Oct 30, 2026). · Microsoft Learn, "Update deviceManagementConfigurationPolicy" (Microsoft Graph beta), https://learn.microsoft.com/graph/api/intune-deviceconfigv2-devicemanagementconfigurationpolicy-update?view=graph-rest-beta (accessed Oct 30, 2026). · Microsoft Learn, "Delete deviceManagementConfigurationPolicy" (Microsoft Graph beta), https://learn.microsoft.com/graph/api/intune-deviceconfigv2-devicemanagementconfigurationpolicy-delete?view=graph-rest-beta (accessed Oct 30, 2026). · Microsoft Learn, "Update deviceManagementConfigurationSetting" (Microsoft Graph beta), https://learn.microsoft.com/graph/api/intune-deviceconfigv2-devicemanagementconfigurationsetting-update?view=graph-rest-beta (accessed Oct 30, 2026).
Workbook: Building the Attribute-Driven Migration, Chapter 06 — “Diff, then create”.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facts the code depends on, as Learn states them. Every call is beta, every read needs only the device configuration read permission, and only the create needs write. Learn lists all of them for the worldwide and both US Government levels. The chapter is just as careful about what Learn doesn't say. There's no Graph equivalent of the Migrate button, so the second lab compares the two by hand. And no Learn page confirms the analytics import itself works in GCC High or the Defense cloud, so that gets confirmed in a test tenant first.
Detail: List Group Policy analytics reports: GET /beta/deviceManagement/groupPolicyMigrationReports; beta; least privileged DeviceManagementConfiguration.Read.All, delegated and application; global, US Government L4 and L5. Report properties: migrationReadiness none, partial, complete, error, notApplicable; targetedInActiveDirectory; supported-setting counts; relationships groupPolicySettingMappings and unsupportedGroupPolicyExtensions. List setting mappings: GET …/groupPolicyMigrationReports/{id}/groupPolicySettingMappings; beta; DeviceManagementConfiguration.Read.All; global, L4 and L5. Mapping properties: mdmSupportedState unknown, supported, unsupported, deprecated; settingScope unknown, device, user; intuneSettingDefinitionId; settingType includes appLockerRuleCollection and windowsFirewallSettings. List settings catalog policies: GET /beta/deviceManagement/configurationPolicies; Read.All least privileged; global, L4 and L5. List a policy's settings: GET /beta/deviceManagement/configurationPolicies/{id}/settings; Read.All. Create: POST /beta/deviceManagement/configurationPolicies; DeviceManagementConfiguration.ReadWrite.All least privileged; 201 Created; global, L4 and L5. Update and delete: PATCH and DELETE on /configurationPolicies/{id}; ReadWrite.All (the sync uses neither). Change one setting: PATCH /beta/deviceManagement/configurationPolicies/{policyId}/settings/{settingId}, body a deviceManagementConfigurationSetting with its settingInstance; ReadWrite.All; beta; global, L4 and L5 (the sync doesn't use it). Release stage: beta for every call above; Microsoft supports Intune beta APIs, but they change more often; the Graph API for Intune needs an active Intune license. What the samples do, and what the module does, come from running them, not from Learn. The setting definition IDs in the library come from Learn's settings catalog examples; the fixture's mappings that point to them are fictional. Two things Learn doesn't say yet, and one it now does: a policy's settings can be changed one at a time through the setting's own PATCH, and the code still never updates, by design. Learn documents no Graph equivalent of the Migrate step, so Lab 2 compares the two by hand. No Learn page states that the Group Policy analytics import works in GCC High and DoD, although the Graph pages list both clouds; confirm it in a GCC High test tenant first.
Sources: Microsoft Learn, "List groupPolicyMigrationReports" (Microsoft Graph beta), https://learn.microsoft.com/graph/api/intune-gpanalyticsservice-grouppolicymigrationreport-list?view=graph-rest-beta (accessed Oct 30, 2026). · Microsoft Learn, "groupPolicyMigrationReport resource type" (Microsoft Graph beta), https://learn.microsoft.com/graph/api/resources/intune-gpanalyticsservice-grouppolicymigrationreport?view=graph-rest-beta (accessed Oct 30, 2026). · Microsoft Learn, "List groupPolicySettingMappings" (Microsoft Graph beta), https://learn.microsoft.com/graph/api/intune-gpanalyticsservice-grouppolicysettingmapping-list?view=graph-rest-beta (accessed Oct 30, 2026). · Microsoft Learn, "groupPolicySettingMapping resource type" (Microsoft Graph beta), https://learn.microsoft.com/graph/api/resources/intune-gpanalyticsservice-grouppolicysettingmapping?view=graph-rest-beta (accessed Oct 31, 2026). · Microsoft Learn, "List deviceManagementConfigurationPolicies" (Microsoft Graph beta), https://learn.microsoft.com/graph/api/intune-deviceconfigv2-devicemanagementconfigurationpolicy-list?view=graph-rest-beta (accessed Oct 30, 2026). · Microsoft Learn, "List deviceManagementConfigurationSettings" (Microsoft Graph beta), https://learn.microsoft.com/graph/api/intune-deviceconfigv2-devicemanagementconfigurationsetting-list?view=graph-rest-beta (accessed Oct 30, 2026). · Microsoft Learn, "Create deviceManagementConfigurationPolicy" (Microsoft Graph beta), https://learn.microsoft.com/graph/api/intune-deviceconfigv2-devicemanagementconfigurationpolicy-create?view=graph-rest-beta (accessed Oct 30, 2026). · Microsoft Learn, "Update deviceManagementConfigurationPolicy" (Microsoft Graph beta), https://learn.microsoft.com/graph/api/intune-deviceconfigv2-devicemanagementconfigurationpolicy-update?view=graph-rest-beta (accessed Oct 30, 2026). · Microsoft Learn, "Delete deviceManagementConfigurationPolicy" (Microsoft Graph beta), https://learn.microsoft.com/graph/api/intune-deviceconfigv2-devicemanagementconfigurationpolicy-delete?view=graph-rest-beta (accessed Oct 30, 2026). · Microsoft Learn, "Update deviceManagementConfigurationSetting" (Microsoft Graph beta), https://learn.microsoft.com/graph/api/intune-deviceconfigv2-devicemanagementconfigurationsetting-update?view=graph-rest-beta (accessed Oct 30, 2026).
Workbook: Building the Attribute-Driven Migration, Chapter 06 — “Verified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involved? The developers and Intune engineers who build the library, the reviewers who approve each file, and the owner named in every file, who approves changes to that policy. The roles follow the same least-privilege line as the code. Importing a policy object for analysis needs an Intune administrator or a role with two specific permissions. Reading, planning and the dry run need only a read-only operator. Only the final apply needs the built-in role that manages configuration profiles, with write permission.
Detail: Audience: developers and Intune engineers who build the policy library for the Intune track, and the reviewers who approve it. You should be comfortable in PowerShell 7 and know what a settings catalog policy is. You don't need a tenant until Lab 2. Each library file names an owner: who approves a change. Group Policy analytics import needs Intune Administrator or a role with the Security baselines and Device configuration permissions. Run the gate live as a Read Only Operator, which holds read on device configurations and security baselines. The move plan and dry run need DeviceManagementConfiguration.Read.All. Apply as a Policy and Profile Manager, the built-in role that manages configuration profiles, with DeviceManagementConfiguration.ReadWrite.All. Get-GpcRequiredScope returns Read.All for the plan and the dry run, ReadWrite.All only with -Apply.
Sources: Microsoft Learn, "Import and analyze your on-premises GPOs using Group Policy analytics in Microsoft Intune," https://learn.microsoft.com/intune/device-configuration/import-group-policy-analytics (accessed Oct 30, 2026). · Microsoft Learn, "Role-based access control (RBAC) with Microsoft Intune," section "RBAC Roles," https://learn.microsoft.com/intune/fundamentals/role-based-access-control/overview; and "Built-in role permissions for Microsoft Intune," section "Read Only Operator," https://learn.microsoft.com/intune/fundamentals/role-based-access-control/ref-built-in-roles (both accessed Oct 30, 2026).
Workbook: Building the Attribute-Driven Migration, Chapter 06 — “Goal and audience”;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with no tenant. First you run the validation kit's gate against its failing fixture, and see three real findings and a warning. Then comes the revealing step: you run Microsoft's own import sample twice against the fake Graph, and the policy appears twice. The call log shows two creates and not a single read; the script never looked. Then you build the move plan, and the eleven rows show every kind of disposition, including a hibernate setting where two old policies disagree. Next, the lint and the sync.
Detail: You need PowerShell 7.1 or later and Pester 5. Step 1, run the gate: in examples/validation-kit, Import-Module ./powershell/ValidationKit/ValidationKit.psd1; $ctx = Get-VkRunContext -FixturePath ./tests/fixtures/fail -AsOf '2026-10-29T00:00:00Z' -IncludeBeta; (Invoke-VkCheck -CheckId VK-INT-07 -Context $ctx).Details | Format-Table Severity, Object, Issue. Status Fail, with five rows: three findings (Workstation-Drive-Maps partial, Workstation-Scripts error, Workstation-Printers never imported), a warning on Workstation-Empty, and FMP-Workstation-Baseline as context. The rest of the lab works in examples/group-policy-as-code. Step 2, run Microsoft's import sample twice against the fake Graph: Import-Module ./powershell/GroupPolicyAsCode.psm1; . ./tests/MicrosoftSampleHarness.ps1; New-Item -ItemType Directory -Force ./out; write the policy half of policies/fmp-sc-201-error-reporting-and-dumps.json to ./out/sc-201.json; $g = New-GpcFixtureInvoke -Path ./tests/fixtures/tenant.json; Invoke-MicrosoftSample -Name Import -Graph $g -Answers (Resolve-Path ./out/sc-201.json).Path, twice; $g.Policies | ForEach-Object { $_['name'] }; $g.Calls | Format-Table Method, Uri. FMP-SC-201-Error-reporting-and-dumps is listed twice. The calls are two POSTs to https://graph.microsoft.com/beta/deviceManagement/configurationPolicies and no GET: the script never looked. Step 3, build the move plan: $plan = Get-GpcMovePlan -Invoke (New-GpcFixtureInvoke -Path ./tests/fixtures/tenant.json).Invoke; $plan | Format-Table Gpo, Setting, Scope, Disposition. Eleven rows from three GPOs. Five are Candidate, one of them user-scope. Allow hibernate is a Conflict on two rows, because FMP-Workstation-Baseline disables it and Workstation-Power enables it. The firewall rule is EndpointSecurity. Two rows are NotSupported and one is Deprecated.
Sources: Building the Attribute-Driven Migration, Chapter 06, docs/project-plans/developer-workbooks/attribute-driven-migration/06-group-policy-as-code.md
Workbook: Building the Attribute-Driven Migration, Chapter 06 — “Lab 1: fixtures, no tenant,” steps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you lint the library against the plan, and the only thing it reports is that hibernate conflict, with the decision that settled it. The dry run says one policy will be created and one is already in place, and applying it creates exactly that one and writes a record. Point it at another cloud and the host changes; give it a name it doesn't know and it refuses. Then break something on purpose: change one value in a file, and the sync reports drift and refuses to write anything at all. Run the tests, and forty-six pass.
Detail: Step 4, lint the library against the plan: Test-GpcLibrary -Library (Read-GpcLibrary -Path ./policies) -Plan $plan | Format-List. One row, Info GPC-08: the hibernate setting has conflicting GPO values, and decision DR-0105 picks the value. Step 5, run the dry run, then apply: pwsh ./powershell/Invoke-GpcSync.ps1 -FixturePath ./tests/fixtures/tenant.json -WithPlan, then the same with -Apply. The dry run exits 0 with Create FMP-SC-201-… and NoChange FMP-SC-202-…. The apply exits 0 with Created FMP-SC-201-…. Open out/sync-record.json: Scopes is DeviceManagementConfiguration.ReadWrite.All and Created holds the new ID. Run the dry run again with -Cloud gcchigh: the first line says https://graph.microsoft.us. Try -Cloud usgov: exit 1, because the script doesn't know that name. Step 6, break something on purpose: in policies/fmp-sc-202-sign-in-and-power.json, change power_allowhibernate_0 to power_allowhibernate_1 and run the dry run. Exit 2, with Drift FMP-SC-202-Sign-in-and-power: changes device_vendor_msft_policy_config_power_allowhibernate. Run it with -Apply: still exit 2, and nothing is created, not even SC-201. Put the value back. Step 7, run the tests: Invoke-Pester ./tests. Expected result: 46 tests passing, and each difference in the gap table seen with your own eyes. The tests: tests/GroupPolicyAsCode.Tests.ps1 has 34 tests: clouds and scopes, the move plan, each lint rule, the canonical comparison, the sync's guards and the script's exit codes. tests/MicrosoftSamples.Tests.ps1 has 12 tests that run Microsoft's two scripts against the fake Graph. Neither needs a Graph module, a tenant or a network. Illustrative code: the commands run Microsoft's pinned samples and the example as published, against a fixture tenant and a fake Graph. The Group Policy analytics and settings catalog APIs are beta, and the fixture's shapes follow Learn's API pages, not a live response. Review the code, and run Lab 2 in a test tenant, before it writes to a real one.
Sources: Building the Attribute-Driven Migration, Chapter 06, docs/project-plans/developer-workbooks/attribute-driven-migration/06-group-policy-as-code.md
Workbook: Building the Attribute-Driven Migration, Chapter 06 — “Lab 1: fixtures, no tenant,” steps 4–7; “The tests”;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with Intune licenses, never production. You import a test policy object into analytics, then run the gate and build the plan for real, with read-only access. Any setting in your library that isn't in the plan is a finding. The dry run asks only for read; the apply, under the profile manager role, creates policies with no assignments. Then the interesting comparison: run Microsoft's Migrate button on the same settings, and compare. Drill drift by editing a value by hand, and finally delete everything the lab made. The sync itself never deletes.
Detail: Use a test tenant with Intune licenses and a test GPO export, never production. In GCC, Graph and the Intune admin center are the worldwide ones: Learn says GCC uses graph.microsoft.com, and Intune for GCC is the same instance as commercial Intune. In GCC High and DoD, use -Cloud gcchigh or -Cloud dod and the government admin center, intune.microsoft.us. 1 Import a test GPO into Group Policy analytics: follow Learn's procedure, save the GPO report as XML under 4 MB, then Devices &gt; Manage devices &gt; Group Policy analytics &gt; Import, with a scope tag. It needs Intune Administrator or a role with the Security baselines and Device configuration permissions. 2 Run the gate live: sign in as a Read Only Operator, which holds read on device configurations and security baselines, and run the validation kit with -Track INT -CheckId VK-INT-07 -IncludeBeta. Expect the test GPO listed with its readiness. 3 Build the move plan live: Connect-MgGraph -Environment Global -Scopes DeviceManagementConfiguration.Read.All, then Get-GpcMovePlan with an -Invoke script block calling Invoke-MgGraphRequest, piped to Export-Csv ./out/plan.csv. Compare its DefinitionId values with the IDs in your library files. A library ID that isn't in the plan is a finding against the library. 4 Dry run: pwsh ./powershell/Invoke-GpcSync.ps1 -Cloud gcc -TenantId &lt;test-tenant-id&gt; -WithPlan. It asks for Read.All only. Expect Create for each library file. 5 Apply: sign in as a Policy and Profile Manager, the built-in role that manages configuration profiles, and run the same command with -Apply. It asks for ReadWrite.All. Expect Created for each file and a policy in the admin center with no assignments. Run the dry run again: NoChange. 6 Compare with Migrate: in Group Policy analytics, select the same GPO and Migrate the same settings into a policy named Lab-Migrate-compare, with Assignments left empty. Read both policies with Get-GpcTenantPolicy and compare their settings with ConvertTo-GpcCanonical. A difference is a finding: record which side is wrong. 7 Drill drift: in the admin center, change one value in a policy the sync created. Run the dry run: exit 2, and the row names the setting. Change it back. 8 Back it out: delete the policies the sync created, by the IDs in out/sync-record.json, and Lab-Migrate-compare, in the admin center or with DELETE /beta/deviceManagement/configurationPolicies/{id} and ReadWrite.All. The sync never deletes. Then delete the imported GPO in Group Policy analytics, as Learn describes. Confirm the dry run shows Create for every library file again.
Sources: Microsoft Learn, "Import and analyze your on-premises GPOs using Group Policy analytics in Microsoft Intune," https://learn.microsoft.com/intune/device-configuration/import-group-policy-analytics (accessed Oct 30, 2026). · Microsoft Learn, "Role-based access control (RBAC) with Microsoft Intune," section "RBAC Roles," https://learn.microsoft.com/intune/fundamentals/role-based-access-control/overview; and "Built-in role permissions for Microsoft Intune," section "Read Only Operator," https://learn.microsoft.com/intune/fundamentals/role-based-access-control/ref-built-in-roles (both accessed Oct 30, 2026). · Microsoft Learn, "Create a Settings Catalog policy using your imported GPOs in Microsoft Intune," https://learn.microsoft.com/intune/device-configuration/migrate-group-policy (accessed Oct 30, 2026). · Microsoft Learn, "Microsoft Graph national cloud deployments," section "Microsoft Graph and Graph Explorer service root endpoints," https://learn.microsoft.com/graph/deployments (accessed Oct 30, 2026). · Microsoft Learn, "Microsoft Intune for US Government GCC High and DoD service description," section "Intune commercial and government instances," https://learn.microsoft.com/intune/fundamentals/government-service (accessed Oct 30, 2026). · Microsoft Learn, "US government endpoints for Microsoft Intune," section "US Government customer designated endpoints," https://learn.microsoft.com/intune/fundamentals/endpoints-us-government (accessed Oct 30, 2026). · Microsoft Learn, "Delete deviceManagementConfigurationPolicy" (Microsoft Graph beta), https://learn.microsoft.com/graph/api/intune-deviceconfigv2-devicemanagementconfigurationpolicy-delete?view=graph-rest-beta (accessed Oct 30, 2026).
Workbook: Building the Attribute-Driven Migration, Chapter 06 —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has a guard, and most of them come back to the same few ideas. One setting, one policy, one owning tool, checked in the pull request, so two systems never fight over a value. Read before you write, so running twice is harmless. Treat drift as a stop, never something to overwrite. Keep the write permission for the moment of writing. And because the APIs are beta, keep the pinned tests and run the test-tenant lab before each release. When the policies are assigned later, Learn prefers filters over dynamic groups that only Intune uses.
Detail: Two policies set one setting: devices report a conflict, and neither policy owns the value; guard: GPC-06 in the pull request; VK-INT-05 after assignment. A setting another tool owns: Intune and Configuration Manager, or Intune and Ansible, flip one value back and forth; guard: GPC-02; config_owner in the CMDB decides which devices an assignment may reach. Running the create twice: a second policy with the same name and settings; guard: the sync reads first and creates only Create rows; Duplicate stops it. The wrong cloud: a GCC High tenant is called on the worldwide host; guard: Get-GpcCloud per cloud, unknown names refused. An edit in the admin center: Git and the tenant disagree, and the next release overwrites one or the other; guard: Drift stops the release and names the setting; the sync never updates. Moving every setting without review: Learn advises against it; stale settings move to every device; guard: the move plan decides nothing; GPC-09 needs a decision per setting. Two GPOs with different values: Migrate stops; a script would pick one silently; guard: Conflict rows; the decision record picks the value; GPC-08 shows it. A broad session doing the write: a token that could change anything in Intune runs the pipeline; guard: Read.All for the dry run, ReadWrite.All only for -Apply. A secret in a setting value: anyone with read access can read it; guard: GPC-10. Beta changes: a property or behavior changes under the code; guard: pinned sample tests, the source watch, Lab 2 before each release. Firewall and AppLocker rules: Migrate can't move them; guard: EndpointSecurity rows go to Endpoint security. Non-English GPOs: the MDM support figure is inaccurate; guard: export GPOs in English where possible, and check the plan by hand. A dynamic device group only Intune uses: policy lands late, or an exclusion misses; guard: Learn prefers a filter; Book 05's assignment strategy; VK-INT-04. When the policies are assigned later, Learn's guidance applies: use an assignment filter instead of a dynamic device group when only Intune uses the group, and don't exclude with a dynamic device group where timing matters. Book 05 keeps dynamic device groups where the rule reads device extension attributes, because filters can't. VK-INT-04 checks the result.
Sources: Microsoft Learn, "Create a Settings Catalog policy using your imported GPOs in Microsoft Intune," https://learn.microsoft.com/intune/device-configuration/migrate-group-policy (accessed Oct 30, 2026). · Microsoft Learn, "Apply features and settings on your devices using device profiles in Microsoft Intune," section "Handle custom and imported device profile settings," https://learn.microsoft.com/intune/device-configuration/overview (accessed Oct 30, 2026). · Microsoft Learn, "Import and analyze your on-premises GPOs using Group Policy analytics in Microsoft Intune," https://learn.microsoft.com/intune/device-configuration/import-group-policy-analytics (accessed Oct 30, 2026). · Microsoft Learn, "Performance recommendations for grouping, targeting, and filtering in large Microsoft Intune environments," https://learn.microsoft.com/intune/fundamentals/filters/performance-recommendations (accessed Oct 30, 2026). · Microsoft Learn, "Assign policies in Microsoft Intune," section "Exclude groups from a policy assignment," https://learn.microsoft.com/intune/device-configuration/assign-device-profile (accessed Oct 30, 2026).
Workbook: Building the Attribute-Driven Migration, Chapter 06 — “Dangers”; “Lab 2” — assignment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The gate passes for the whole population. The move plan travels with the pull request, and every conflict has a decision. Each library file names its owner, its source policies and a decision per setting, and no setting appears twice. The dry run is clean and someone actually read what it will create. The release wrote its record, and afterward the dry run shows nothing left to do. Everything was created unassigned, and the pinned samples are still the ones you reviewed. Next, Chapter 7 builds machine configuration packages. Thanks for watching.
Detail: Checklist: VK-INT-07 passes for the population: every in-scope GPO imported, and every targeted GPO complete or explained. The move plan is saved with the pull request, and every Conflict has a decision record. Every library file has an owner, configOwner Intune, its source GPOs and a decision record per setting. Invoke-GpcSync.ps1 exits 0 on the dry run, and the reviewer has read its Create list. No setting definition ID appears in two library files. The release ran with -Apply under ReadWrite.All and wrote sync-record.json; the dry run then shows NoChange. Policies were created unassigned; assignment is a separate reviewed change that follows config_owner, with filters where only Intune uses the group. The pinned Microsoft samples match their manifest, and every upstream commit since the pin has been reviewed. Next: Chapter 07 — Machine Configuration Packages.
Sources: Microsoft Learn, "Performance recommendations for grouping, targeting, and filtering in large Microsoft Intune environments," https://learn.microsoft.com/intune/fundamentals/filters/performance-recommendations (accessed Oct 30, 2026). · Microsoft, microsoft/mggraph-intune-samples, SettingsCatalog at commit 2e668455288ebc43b7356b2d9b0c537e24c409f4 (September 25, 2026), MIT License, https://github.com/microsoft/mggraph-intune-samples/tree/2e668455288ebc43b7356b2d9b0c537e24c409f4/SettingsCatalog (accessed Oct 30, 2026); pinned copy in examples/third_party/mggraph-intune-samples.
Workbook: Building the Attribute-Driven Migration, Chapter 06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docs/project-plans/developer-workbooks/attribute-driven-migration/06-group-policy-as-code.md.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docs/project-plans/developer-workbooks/attribute-driven-migration/06-group-policy-as-code.md.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the Attribute-Driven Migration  ·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06: Moving Group Policy as Code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the Attribute-Driven Migration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Why analytics isn't enough · Microsoft's samples and their gaps · plan, lint, diff, create · who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Analytics finds the landing zone; it doesn't decide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This chapter is the code for the Intune track's Steps 3.1 and 3.2. It doesn't repeat the operator pages.</a:t>
            </a:r>
            <a:endParaRPr lang="en-US" sz="1800" dirty="0"/>
          </a:p>
        </p:txBody>
      </p:sp>
      <p:sp>
        <p:nvSpPr>
          <p:cNvPr id="6" name="Panel Where this sits" descr="">
            <a:extLst>
              <a:ext uri="{C183D7F6-B498-43B3-948B-1728B52AA6E4}">
                <adec:decorative xmlns:adec="http://schemas.microsoft.com/office/drawing/2017/decorative" val="1"/>
              </a:ext>
            </a:extLst>
          </p:cNvPr>
          <p:cNvSpPr/>
          <p:nvPr/>
        </p:nvSpPr>
        <p:spPr>
          <a:xfrm>
            <a:off x="548640" y="2112264"/>
            <a:ext cx="5417820" cy="2276856"/>
          </a:xfrm>
          <a:prstGeom prst="roundRect">
            <a:avLst>
              <a:gd name="adj" fmla="val 321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Where this sits label"/>
          <p:cNvSpPr txBox="1"/>
          <p:nvPr/>
        </p:nvSpPr>
        <p:spPr>
          <a:xfrm>
            <a:off x="731520" y="2221992"/>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WHERE THIS SITS</a:t>
            </a:r>
            <a:endParaRPr lang="en-US" sz="1100" dirty="0"/>
          </a:p>
        </p:txBody>
      </p:sp>
      <p:sp>
        <p:nvSpPr>
          <p:cNvPr id="8" name="Panel Where this sits list"/>
          <p:cNvSpPr txBox="1"/>
          <p:nvPr/>
        </p:nvSpPr>
        <p:spPr>
          <a:xfrm>
            <a:off x="731520" y="2523744"/>
            <a:ext cx="5097780" cy="181965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Book 05, Chapter 08 runs the GPO sunset in seven phases: inventory and classify, build the library unassigned, pilot, cut over in waves</a:t>
            </a:r>
            <a:endParaRPr lang="en-US" sz="1600" dirty="0"/>
          </a:p>
          <a:p>
            <a:pPr marL="342900" indent="-342900">
              <a:spcAft>
                <a:spcPts val="400"/>
              </a:spcAft>
              <a:buSzPct val="100000"/>
              <a:buChar char="•"/>
            </a:pPr>
            <a:r>
              <a:rPr lang="en-US" sz="1600" dirty="0">
                <a:solidFill>
                  <a:srgbClr val="334155"/>
                </a:solidFill>
              </a:rPr>
              <a:t>Step 3.1 imports every in-scope GPO into Group Policy analytics</a:t>
            </a:r>
            <a:endParaRPr lang="en-US" sz="1600" dirty="0"/>
          </a:p>
          <a:p>
            <a:pPr marL="342900" indent="-342900">
              <a:spcAft>
                <a:spcPts val="400"/>
              </a:spcAft>
              <a:buSzPct val="100000"/>
              <a:buChar char="•"/>
            </a:pPr>
            <a:r>
              <a:rPr lang="en-US" sz="1600" dirty="0">
                <a:solidFill>
                  <a:srgbClr val="334155"/>
                </a:solidFill>
              </a:rPr>
              <a:t>Step 3.2 creates the library as code</a:t>
            </a:r>
            <a:endParaRPr lang="en-US" sz="1600" dirty="0"/>
          </a:p>
        </p:txBody>
      </p:sp>
      <p:sp>
        <p:nvSpPr>
          <p:cNvPr id="9" name="Panel Two rules that shape the code" descr="">
            <a:extLst>
              <a:ext uri="{C183D7F6-B498-43B3-948B-1728B52AA6E4}">
                <adec:decorative xmlns:adec="http://schemas.microsoft.com/office/drawing/2017/decorative" val="1"/>
              </a:ext>
            </a:extLst>
          </p:cNvPr>
          <p:cNvSpPr/>
          <p:nvPr/>
        </p:nvSpPr>
        <p:spPr>
          <a:xfrm>
            <a:off x="6240780" y="2112264"/>
            <a:ext cx="5417820" cy="2276856"/>
          </a:xfrm>
          <a:prstGeom prst="roundRect">
            <a:avLst>
              <a:gd name="adj" fmla="val 321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Panel Two rules that shape the code label"/>
          <p:cNvSpPr txBox="1"/>
          <p:nvPr/>
        </p:nvSpPr>
        <p:spPr>
          <a:xfrm>
            <a:off x="6423660" y="2221992"/>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TWO RULES THAT SHAPE THE CODE</a:t>
            </a:r>
            <a:endParaRPr lang="en-US" sz="1100" dirty="0"/>
          </a:p>
        </p:txBody>
      </p:sp>
      <p:sp>
        <p:nvSpPr>
          <p:cNvPr id="11" name="Panel Two rules that shape the code list"/>
          <p:cNvSpPr txBox="1"/>
          <p:nvPr/>
        </p:nvSpPr>
        <p:spPr>
          <a:xfrm>
            <a:off x="6423660" y="2523744"/>
            <a:ext cx="5097780" cy="1819656"/>
          </a:xfrm>
          <a:prstGeom prst="rect">
            <a:avLst/>
          </a:prstGeom>
          <a:noFill/>
          <a:ln/>
        </p:spPr>
        <p:txBody>
          <a:bodyPr wrap="square" lIns="0" tIns="0" rIns="0" bIns="0" rtlCol="0" anchor="t"/>
          <a:lstStyle/>
          <a:p>
            <a:pPr marL="342900" indent="-342900">
              <a:spcAft>
                <a:spcPts val="400"/>
              </a:spcAft>
              <a:buSzPct val="100000"/>
              <a:buChar char="•"/>
            </a:pPr>
            <a:r>
              <a:rPr lang="en-US" sz="1600" b="1" dirty="0">
                <a:solidFill>
                  <a:srgbClr val="1F2A44"/>
                </a:solidFill>
              </a:rPr>
              <a:t>One owning policy per setting</a:t>
            </a:r>
            <a:pPr indent="0" marL="0">
              <a:spcAft>
                <a:spcPts val="400"/>
              </a:spcAft>
              <a:buNone/>
            </a:pPr>
            <a:r>
              <a:rPr lang="en-US" sz="1600" dirty="0">
                <a:solidFill>
                  <a:srgbClr val="334155"/>
                </a:solidFill>
              </a:rPr>
              <a:t> (Intune track, Step 2.4) and </a:t>
            </a:r>
            <a:pPr indent="0" marL="0">
              <a:spcAft>
                <a:spcPts val="400"/>
              </a:spcAft>
              <a:buNone/>
            </a:pPr>
            <a:r>
              <a:rPr lang="en-US" sz="1600" b="1" dirty="0">
                <a:solidFill>
                  <a:srgbClr val="1F2A44"/>
                </a:solidFill>
              </a:rPr>
              <a:t>one owning tool per setting</a:t>
            </a:r>
            <a:pPr indent="0" marL="0">
              <a:spcAft>
                <a:spcPts val="400"/>
              </a:spcAft>
              <a:buNone/>
            </a:pPr>
            <a:r>
              <a:rPr lang="en-US" sz="1600" dirty="0">
                <a:solidFill>
                  <a:srgbClr val="334155"/>
                </a:solidFill>
              </a:rPr>
              <a:t>, recorded as config_owner in the CMDB</a:t>
            </a:r>
            <a:endParaRPr lang="en-US" sz="1600" dirty="0"/>
          </a:p>
          <a:p>
            <a:pPr marL="342900" indent="-342900">
              <a:spcAft>
                <a:spcPts val="400"/>
              </a:spcAft>
              <a:buSzPct val="100000"/>
              <a:buChar char="•"/>
            </a:pPr>
            <a:r>
              <a:rPr lang="en-US" sz="1600" dirty="0">
                <a:solidFill>
                  <a:srgbClr val="334155"/>
                </a:solidFill>
              </a:rPr>
              <a:t>The library holds only settings Intune owns</a:t>
            </a:r>
            <a:endParaRPr lang="en-US" sz="1600" dirty="0"/>
          </a:p>
          <a:p>
            <a:pPr marL="342900" indent="-342900">
              <a:spcAft>
                <a:spcPts val="400"/>
              </a:spcAft>
              <a:buSzPct val="100000"/>
              <a:buChar char="•"/>
            </a:pPr>
            <a:r>
              <a:rPr lang="en-US" sz="1600" b="1" dirty="0">
                <a:solidFill>
                  <a:srgbClr val="1F2A44"/>
                </a:solidFill>
              </a:rPr>
              <a:t>Build unassigned</a:t>
            </a:r>
            <a:pPr indent="0" marL="0">
              <a:spcAft>
                <a:spcPts val="400"/>
              </a:spcAft>
              <a:buNone/>
            </a:pPr>
            <a:r>
              <a:rPr lang="en-US" sz="1600" dirty="0">
                <a:solidFill>
                  <a:srgbClr val="334155"/>
                </a:solidFill>
              </a:rPr>
              <a:t> (Book 05, Phase 3): assigning is a later, reviewed step</a:t>
            </a:r>
            <a:endParaRPr lang="en-US" sz="16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05, Ch 08, GPO-to-Intune policy migration; Intune track implementation guide, Steps 2.4, 3.1, 3.2. Chapter 06, “Where this sits.”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Learn says about the tools sets the stakes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291840"/>
        </p:xfrm>
        <a:graphic>
          <a:graphicData uri="http://schemas.openxmlformats.org/drawingml/2006/table">
            <a:tbl>
              <a:tblPr firstRow="1" bandRow="1"/>
              <a:tblGrid>
                <a:gridCol w="2743200"/>
                <a:gridCol w="8366760"/>
              </a:tblGrid>
              <a:tr h="3383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Tool</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Learn says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955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Group Policy analytics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Imports GPO XML exports, each under 4 MB; shows which settings have an MDM equivalent; keeps its mapping current without a reimport. Windows only. Parses only non-ADMX settings in English; other languages make the MDM support figure inaccurate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955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Its Migrate step</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Builds a settings catalog policy from imported GPOs. Best effort; advises against including every setting without review; stops when two GPOs set one setting to different values; disabled for AppLocker and firewall rules, which belong in Endpoint security</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955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The same data in Graph</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groupPolicyMigrationReports, one per imported GPO, each with its groupPolicySettingMappings. Both </a:t>
                      </a:r>
                      <a:pPr indent="0" marL="0">
                        <a:buNone/>
                      </a:pPr>
                      <a:r>
                        <a:rPr lang="en-US" sz="1500" b="1" dirty="0">
                          <a:solidFill>
                            <a:srgbClr val="1F2A44"/>
                          </a:solidFill>
                          <a:latin typeface="Calibri" pitchFamily="34" charset="0"/>
                          <a:ea typeface="Calibri" pitchFamily="34" charset="-122"/>
                          <a:cs typeface="Calibri" pitchFamily="34" charset="-120"/>
                        </a:rPr>
                        <a:t>beta</a:t>
                      </a:r>
                      <a:pPr indent="0" marL="0">
                        <a:buNone/>
                      </a:pPr>
                      <a:r>
                        <a:rPr lang="en-US" sz="1500" dirty="0">
                          <a:solidFill>
                            <a:srgbClr val="334155"/>
                          </a:solidFill>
                          <a:latin typeface="Calibri" pitchFamily="34" charset="0"/>
                          <a:ea typeface="Calibri" pitchFamily="34" charset="-122"/>
                          <a:cs typeface="Calibri" pitchFamily="34" charset="-120"/>
                        </a:rPr>
                        <a:t>: supported, but they change more often; the Graph API for Intune needs an active Intune license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Settings catalog policies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deviceManagement/configurationPolicies, documented in </a:t>
                      </a:r>
                      <a:pPr indent="0" marL="0">
                        <a:buNone/>
                      </a:pPr>
                      <a:r>
                        <a:rPr lang="en-US" sz="1500" b="1" dirty="0">
                          <a:solidFill>
                            <a:srgbClr val="1F2A44"/>
                          </a:solidFill>
                          <a:latin typeface="Calibri" pitchFamily="34" charset="0"/>
                          <a:ea typeface="Calibri" pitchFamily="34" charset="-122"/>
                          <a:cs typeface="Calibri" pitchFamily="34" charset="-120"/>
                        </a:rPr>
                        <a:t>beta</a:t>
                      </a:r>
                      <a:pPr indent="0" marL="0">
                        <a:buNone/>
                      </a:pPr>
                      <a:r>
                        <a:rPr lang="en-US" sz="1500" dirty="0">
                          <a:solidFill>
                            <a:srgbClr val="334155"/>
                          </a:solidFill>
                          <a:latin typeface="Calibri" pitchFamily="34" charset="0"/>
                          <a:ea typeface="Calibri" pitchFamily="34" charset="-122"/>
                          <a:cs typeface="Calibri" pitchFamily="34" charset="-120"/>
                        </a:rPr>
                        <a:t> only (Book 05 already notes this)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Group Policy analytics; Settings Catalog policy from imported GPOs; groupPolicyMigrationReport; mappings; Create configurationPolicy. Chapter 06, “Where this sits.”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cloud: Graph host and Intune instance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487168"/>
        </p:xfrm>
        <a:graphic>
          <a:graphicData uri="http://schemas.openxmlformats.org/drawingml/2006/table">
            <a:tbl>
              <a:tblPr firstRow="1" bandRow="1"/>
              <a:tblGrid>
                <a:gridCol w="2377440"/>
                <a:gridCol w="3108960"/>
                <a:gridCol w="2743200"/>
                <a:gridCol w="2880360"/>
              </a:tblGrid>
              <a:tr h="3383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Piece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GCC</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GCC High</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DoD</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Graph host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https://graph.microsoft.com</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https://graph.microsoft.us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https://dod-graph.microsoft.us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Connect-MgGraph -Environment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Global</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USGov</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USGovDoD</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83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Intune instance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The commercial instance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The government instance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The government instance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83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Admin center</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The worldwide one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intune.microsoft.us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intune.microsoft.us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83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The example's -Cloud</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gcc</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gcchigh</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dod</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3995928"/>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49808" y="4069080"/>
            <a:ext cx="606552" cy="606552"/>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214652"/>
            <a:ext cx="315407" cy="315407"/>
          </a:xfrm>
          <a:prstGeom prst="rect">
            <a:avLst/>
          </a:prstGeom>
        </p:spPr>
      </p:pic>
      <p:sp>
        <p:nvSpPr>
          <p:cNvPr id="9" name="Callout text"/>
          <p:cNvSpPr txBox="1"/>
          <p:nvPr/>
        </p:nvSpPr>
        <p:spPr>
          <a:xfrm>
            <a:off x="1600200" y="4050792"/>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The guard: </a:t>
            </a:r>
            <a:pPr indent="0" marL="0">
              <a:buNone/>
            </a:pPr>
            <a:r>
              <a:rPr lang="en-US" sz="1750" dirty="0">
                <a:solidFill>
                  <a:srgbClr val="334155"/>
                </a:solidFill>
              </a:rPr>
              <a:t>a token for one cloud doesn't work in another, and Get-GpcCloud refuses a cloud name it doesn't know. This estate's GCC tenant uses graph.microsoft.com.</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Graph national cloud deployments; Get-MgEnvironment; Intune for US Government; US government endpoints for Intune. Chapter 06, “Lab 2,”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Microsoft's settings catalog samples, pinned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1472184"/>
        </p:xfrm>
        <a:graphic>
          <a:graphicData uri="http://schemas.openxmlformats.org/drawingml/2006/table">
            <a:tbl>
              <a:tblPr firstRow="1" bandRow="1"/>
              <a:tblGrid>
                <a:gridCol w="3474720"/>
                <a:gridCol w="7635240"/>
              </a:tblGrid>
              <a:tr h="3383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Script in SettingsCatalog</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it does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SettingsCatalog_Export.ps1</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Reads every settings catalog policy (technologies has 'mdm'), follows paging, reads each policy's settings, writes one JSON file per policy</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SettingsCatalog_Import_FromJSON.ps1</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Asks for one JSON file, works out the endpoint, removes read-only properties, adds # to @odata.type where missing, and POSTs the policy</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nel What Learn points to" descr="">
            <a:extLst>
              <a:ext uri="{C183D7F6-B498-43B3-948B-1728B52AA6E4}">
                <adec:decorative xmlns:adec="http://schemas.microsoft.com/office/drawing/2017/decorative" val="1"/>
              </a:ext>
            </a:extLst>
          </p:cNvPr>
          <p:cNvSpPr/>
          <p:nvPr/>
        </p:nvSpPr>
        <p:spPr>
          <a:xfrm>
            <a:off x="548640" y="2980944"/>
            <a:ext cx="5417820" cy="2467356"/>
          </a:xfrm>
          <a:prstGeom prst="roundRect">
            <a:avLst>
              <a:gd name="adj" fmla="val 296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What Learn points to label"/>
          <p:cNvSpPr txBox="1"/>
          <p:nvPr/>
        </p:nvSpPr>
        <p:spPr>
          <a:xfrm>
            <a:off x="731520" y="3090672"/>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LEARN POINTS TO</a:t>
            </a:r>
            <a:endParaRPr lang="en-US" sz="1100" dirty="0"/>
          </a:p>
        </p:txBody>
      </p:sp>
      <p:sp>
        <p:nvSpPr>
          <p:cNvPr id="8" name="Panel What Learn points to list"/>
          <p:cNvSpPr txBox="1"/>
          <p:nvPr/>
        </p:nvSpPr>
        <p:spPr>
          <a:xfrm>
            <a:off x="731520" y="3392424"/>
            <a:ext cx="5097780" cy="201015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Learn's Intune migration guide points to microsoft/mggraph-intune-samples (Graph PowerShell SDK)</a:t>
            </a:r>
            <a:endParaRPr lang="en-US" sz="1550" dirty="0"/>
          </a:p>
          <a:p>
            <a:pPr marL="342900" indent="-342900">
              <a:spcAft>
                <a:spcPts val="400"/>
              </a:spcAft>
              <a:buSzPct val="100000"/>
              <a:buChar char="•"/>
            </a:pPr>
            <a:r>
              <a:rPr lang="en-US" sz="1550" dirty="0">
                <a:solidFill>
                  <a:srgbClr val="334155"/>
                </a:solidFill>
              </a:rPr>
              <a:t>Learn: the scripts change your tenant, come as-is, should be validated in non-production, and don't cover every policy type</a:t>
            </a:r>
            <a:endParaRPr lang="en-US" sz="1550" dirty="0"/>
          </a:p>
          <a:p>
            <a:pPr marL="342900" indent="-342900">
              <a:spcAft>
                <a:spcPts val="400"/>
              </a:spcAft>
              <a:buSzPct val="100000"/>
              <a:buChar char="•"/>
            </a:pPr>
            <a:r>
              <a:rPr lang="en-US" sz="1550" dirty="0">
                <a:solidFill>
                  <a:srgbClr val="334155"/>
                </a:solidFill>
              </a:rPr>
              <a:t>No Microsoft sample reads Group Policy analytics through Graph</a:t>
            </a:r>
            <a:endParaRPr lang="en-US" sz="1550" dirty="0"/>
          </a:p>
        </p:txBody>
      </p:sp>
      <p:sp>
        <p:nvSpPr>
          <p:cNvPr id="9" name="Panel The pinned copy" descr="">
            <a:extLst>
              <a:ext uri="{C183D7F6-B498-43B3-948B-1728B52AA6E4}">
                <adec:decorative xmlns:adec="http://schemas.microsoft.com/office/drawing/2017/decorative" val="1"/>
              </a:ext>
            </a:extLst>
          </p:cNvPr>
          <p:cNvSpPr/>
          <p:nvPr/>
        </p:nvSpPr>
        <p:spPr>
          <a:xfrm>
            <a:off x="6240780" y="2980944"/>
            <a:ext cx="5417820" cy="2467356"/>
          </a:xfrm>
          <a:prstGeom prst="roundRect">
            <a:avLst>
              <a:gd name="adj" fmla="val 296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Panel The pinned copy label"/>
          <p:cNvSpPr txBox="1"/>
          <p:nvPr/>
        </p:nvSpPr>
        <p:spPr>
          <a:xfrm>
            <a:off x="6423660" y="3090672"/>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PINNED COPY</a:t>
            </a:r>
            <a:endParaRPr lang="en-US" sz="1100" dirty="0"/>
          </a:p>
        </p:txBody>
      </p:sp>
      <p:sp>
        <p:nvSpPr>
          <p:cNvPr id="11" name="Panel The pinned copy list"/>
          <p:cNvSpPr txBox="1"/>
          <p:nvPr/>
        </p:nvSpPr>
        <p:spPr>
          <a:xfrm>
            <a:off x="6423660" y="3392424"/>
            <a:ext cx="5097780" cy="201015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Unmodified copy of SettingsCatalog and the MIT license, commit 2e66845 (Sept 25, 2026)</a:t>
            </a:r>
            <a:endParaRPr lang="en-US" sz="1550" dirty="0"/>
          </a:p>
          <a:p>
            <a:pPr marL="342900" indent="-342900">
              <a:spcAft>
                <a:spcPts val="400"/>
              </a:spcAft>
              <a:buSzPct val="100000"/>
              <a:buChar char="•"/>
            </a:pPr>
            <a:r>
              <a:rPr lang="en-US" sz="1550" dirty="0">
                <a:solidFill>
                  <a:srgbClr val="334155"/>
                </a:solidFill>
              </a:rPr>
              <a:t>snapshot.json holds each file's SHA-256; a unit test checks them; the weekly source watch reports new commits</a:t>
            </a:r>
            <a:endParaRPr lang="en-US" sz="1550" dirty="0"/>
          </a:p>
          <a:p>
            <a:pPr marL="342900" indent="-342900">
              <a:spcAft>
                <a:spcPts val="400"/>
              </a:spcAft>
              <a:buSzPct val="100000"/>
              <a:buChar char="•"/>
            </a:pPr>
            <a:r>
              <a:rPr lang="en-US" sz="1550" dirty="0">
                <a:solidFill>
                  <a:srgbClr val="334155"/>
                </a:solidFill>
              </a:rPr>
              <a:t>MicrosoftSampleHarness.ps1 runs each script unmodified against a fake Graph</a:t>
            </a:r>
            <a:endParaRPr lang="en-US" sz="15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Migration guide: Set up or move to Intune; microsoft/mggraph-intune-samples at 2e66845 (MIT). Chapter 06, “What Microsoft gives you,” “The pinned copy.”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samples get right, and the write gaps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5136"/>
        </p:xfrm>
        <a:graphic>
          <a:graphicData uri="http://schemas.openxmlformats.org/drawingml/2006/table">
            <a:tbl>
              <a:tblPr firstRow="1" bandRow="1"/>
              <a:tblGrid>
                <a:gridCol w="3749040"/>
                <a:gridCol w="3566160"/>
                <a:gridCol w="379476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Microsoft's samples, run as published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the example adds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One POST to /beta/…/configurationPolicies; export follows @odata.nextLink; a policy moves between tenants intact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Kept as the model: the same call, the same filter, the same paging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Import drops assignments: created unassigned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Book 05 builds the library unassigned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Kept; GPC-04 also refuses assignments in a library file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Import calls graph.microsoft.com whatever the cloud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Wrong host in GCC High or DoD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Get-GpcCloud per cloud; unknown names refused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Import uses the caller's session and scopes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broad session does the write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Read.All for plan and dry run; ReadWrite.All only with -Apply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Import asks for the file and creates at once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 dry run, no view of the change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dry run by default; -Apply to write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Run twice, it creates a second same-named policy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second is invisible to review</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Reads the tenant first; creates only what's missing; refuses duplicates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microsoft/mggraph-intune-samples at 2e66845; Learn, Graph national cloud deployments. Chapter 06, “What it leaves to you” (rows 1–6).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record gaps, and the verdict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432048"/>
        </p:xfrm>
        <a:graphic>
          <a:graphicData uri="http://schemas.openxmlformats.org/drawingml/2006/table">
            <a:tbl>
              <a:tblPr firstRow="1" bandRow="1"/>
              <a:tblGrid>
                <a:gridCol w="3749040"/>
                <a:gridCol w="3566160"/>
                <a:gridCol w="379476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Microsoft's samples, run as published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the example adds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Import silently strips id, settingCount and others, and adds # to @odata.type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body sent isn't the file reviewed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GPC-03 and GPC-07 refuse the file instead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Import records nothing beyond the screen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Nothing to hand the ISSO</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sync-record.json: cloud, scopes, each file's SHA-256, result per policy, IDs created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Export names each file with the run time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Git can't show a diff</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Fixed library names; the tenant diff is computed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Export drops the scope tags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re-import lands in the Default tag; the wrong admins see 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roleScopeTagIds in the library, and compared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Neither reads analytics or knows a setting's owner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Settings move without a decision, or into a setting another policy or tool owns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move plan; GPC-02, 06, 08 and 09</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940808"/>
            <a:ext cx="11109960" cy="996696"/>
          </a:xfrm>
          <a:prstGeom prst="roundRect">
            <a:avLst>
              <a:gd name="adj" fmla="val 733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49808" y="5119116"/>
            <a:ext cx="640080" cy="64008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272735"/>
            <a:ext cx="332842" cy="332842"/>
          </a:xfrm>
          <a:prstGeom prst="rect">
            <a:avLst/>
          </a:prstGeom>
        </p:spPr>
      </p:pic>
      <p:sp>
        <p:nvSpPr>
          <p:cNvPr id="9" name="Callout text"/>
          <p:cNvSpPr txBox="1"/>
          <p:nvPr/>
        </p:nvSpPr>
        <p:spPr>
          <a:xfrm>
            <a:off x="1600200" y="4995672"/>
            <a:ext cx="9875520" cy="886968"/>
          </a:xfrm>
          <a:prstGeom prst="rect">
            <a:avLst/>
          </a:prstGeom>
          <a:noFill/>
          <a:ln/>
        </p:spPr>
        <p:txBody>
          <a:bodyPr wrap="square" lIns="0" tIns="0" rIns="0" bIns="0" rtlCol="0" anchor="ctr"/>
          <a:lstStyle/>
          <a:p>
            <a:pPr indent="0" marL="0">
              <a:buNone/>
            </a:pPr>
            <a:r>
              <a:rPr lang="en-US" sz="1700" b="1" dirty="0">
                <a:solidFill>
                  <a:srgbClr val="1F2A44"/>
                </a:solidFill>
              </a:rPr>
              <a:t>Verdict: </a:t>
            </a:r>
            <a:pPr indent="0" marL="0">
              <a:buNone/>
            </a:pPr>
            <a:r>
              <a:rPr lang="en-US" sz="1700" dirty="0">
                <a:solidFill>
                  <a:srgbClr val="334155"/>
                </a:solidFill>
              </a:rPr>
              <a:t>use Microsoft's import call as the model for the create, and keep the samples pinned for comparison. For a reviewed pipeline, use the sync: it answers “what is already there?” before it writes.</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microsoft/mggraph-intune-samples at 2e66845 (run against a fake Graph). Chapter 06, “What it leaves to you” (rows 7–11,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Read: the VK-INT-07 gate and the move plan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The gate, then the plan" descr="">
            <a:extLst>
              <a:ext uri="{C183D7F6-B498-43B3-948B-1728B52AA6E4}">
                <adec:decorative xmlns:adec="http://schemas.microsoft.com/office/drawing/2017/decorative" val="1"/>
              </a:ext>
            </a:extLst>
          </p:cNvPr>
          <p:cNvSpPr/>
          <p:nvPr/>
        </p:nvSpPr>
        <p:spPr>
          <a:xfrm>
            <a:off x="548640" y="1325880"/>
            <a:ext cx="4550969" cy="3163824"/>
          </a:xfrm>
          <a:prstGeom prst="roundRect">
            <a:avLst>
              <a:gd name="adj" fmla="val 231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gate, then the plan label"/>
          <p:cNvSpPr txBox="1"/>
          <p:nvPr/>
        </p:nvSpPr>
        <p:spPr>
          <a:xfrm>
            <a:off x="731520" y="1435608"/>
            <a:ext cx="4185209"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GATE, THEN THE PLAN</a:t>
            </a:r>
            <a:endParaRPr lang="en-US" sz="1100" dirty="0"/>
          </a:p>
        </p:txBody>
      </p:sp>
      <p:sp>
        <p:nvSpPr>
          <p:cNvPr id="7" name="Panel The gate, then the plan list"/>
          <p:cNvSpPr txBox="1"/>
          <p:nvPr/>
        </p:nvSpPr>
        <p:spPr>
          <a:xfrm>
            <a:off x="731520" y="1737360"/>
            <a:ext cx="4230929" cy="2706624"/>
          </a:xfrm>
          <a:prstGeom prst="rect">
            <a:avLst/>
          </a:prstGeom>
          <a:noFill/>
          <a:ln/>
        </p:spPr>
        <p:txBody>
          <a:bodyPr wrap="square" lIns="0" tIns="0" rIns="0" bIns="0" rtlCol="0" anchor="t"/>
          <a:lstStyle/>
          <a:p>
            <a:pPr marL="342900" indent="-342900">
              <a:spcAft>
                <a:spcPts val="400"/>
              </a:spcAft>
              <a:buSzPct val="100000"/>
              <a:buChar char="•"/>
            </a:pPr>
            <a:r>
              <a:rPr lang="en-US" sz="1500" b="1" dirty="0">
                <a:solidFill>
                  <a:srgbClr val="1F2A44"/>
                </a:solidFill>
              </a:rPr>
              <a:t>VK-INT-07</a:t>
            </a:r>
            <a:pPr indent="0" marL="0">
              <a:spcAft>
                <a:spcPts val="400"/>
              </a:spcAft>
              <a:buNone/>
            </a:pPr>
            <a:r>
              <a:rPr lang="en-US" sz="1500" dirty="0">
                <a:solidFill>
                  <a:srgbClr val="334155"/>
                </a:solidFill>
              </a:rPr>
              <a:t> reads groupPolicyMigrationReports, per GPO</a:t>
            </a:r>
            <a:endParaRPr lang="en-US" sz="1500" dirty="0"/>
          </a:p>
          <a:p>
            <a:pPr marL="342900" indent="-342900">
              <a:spcAft>
                <a:spcPts val="400"/>
              </a:spcAft>
              <a:buSzPct val="100000"/>
              <a:buChar char="•"/>
            </a:pPr>
            <a:r>
              <a:rPr lang="en-US" sz="1500" dirty="0">
                <a:solidFill>
                  <a:srgbClr val="334155"/>
                </a:solidFill>
              </a:rPr>
              <a:t>Fails on a GPO targeted in AD whose readiness isn't complete</a:t>
            </a:r>
            <a:endParaRPr lang="en-US" sz="1500" dirty="0"/>
          </a:p>
          <a:p>
            <a:pPr marL="342900" indent="-342900">
              <a:spcAft>
                <a:spcPts val="400"/>
              </a:spcAft>
              <a:buSzPct val="100000"/>
              <a:buChar char="•"/>
            </a:pPr>
            <a:r>
              <a:rPr lang="en-US" sz="1500" dirty="0">
                <a:solidFill>
                  <a:srgbClr val="334155"/>
                </a:solidFill>
              </a:rPr>
              <a:t>Fails on a GPO in gpo-scope.csv that was never imported</a:t>
            </a:r>
            <a:endParaRPr lang="en-US" sz="1500" dirty="0"/>
          </a:p>
          <a:p>
            <a:pPr marL="342900" indent="-342900">
              <a:spcAft>
                <a:spcPts val="400"/>
              </a:spcAft>
              <a:buSzPct val="100000"/>
              <a:buChar char="•"/>
            </a:pPr>
            <a:r>
              <a:rPr lang="en-US" sz="1500" b="1" dirty="0">
                <a:solidFill>
                  <a:srgbClr val="1F2A44"/>
                </a:solidFill>
              </a:rPr>
              <a:t>Get-GpcMovePlan</a:t>
            </a:r>
            <a:pPr indent="0" marL="0">
              <a:spcAft>
                <a:spcPts val="400"/>
              </a:spcAft>
              <a:buNone/>
            </a:pPr>
            <a:r>
              <a:rPr lang="en-US" sz="1500" dirty="0">
                <a:solidFill>
                  <a:srgbClr val="334155"/>
                </a:solidFill>
              </a:rPr>
              <a:t> reads each report's settingMappings: one row per setting, with GPO, value, scope (device, user or unknown) and definition ID</a:t>
            </a:r>
            <a:endParaRPr lang="en-US" sz="15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373929" y="1325880"/>
          <a:ext cx="6284671" cy="3005328"/>
        </p:xfrm>
        <a:graphic>
          <a:graphicData uri="http://schemas.openxmlformats.org/drawingml/2006/table">
            <a:tbl>
              <a:tblPr firstRow="1" bandRow="1"/>
              <a:tblGrid>
                <a:gridCol w="2223807"/>
                <a:gridCol w="4060864"/>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Disposition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When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Candidate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Supported, with an Intune definition ID; a person decides, and records 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Conflict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Two GPOs set one definition ID differently; the decision record picks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EndpointSecurity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AppLocker or firewall: built in Endpoint security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NoCatalogSetting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Supported, no catalog definition: the admin center shows the OMA-URI</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NotSupported, Deprecated, Unknown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Stays with the GPO until retired, or dropped by decision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Callout" descr="">
            <a:extLst>
              <a:ext uri="{C183D7F6-B498-43B3-948B-1728B52AA6E4}">
                <adec:decorative xmlns:adec="http://schemas.microsoft.com/office/drawing/2017/decorative" val="1"/>
              </a:ext>
            </a:extLst>
          </p:cNvPr>
          <p:cNvSpPr/>
          <p:nvPr/>
        </p:nvSpPr>
        <p:spPr>
          <a:xfrm>
            <a:off x="548640" y="4672584"/>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Icon FaListCheck" descr="">
            <a:extLst>
              <a:ext uri="{C183D7F6-B498-43B3-948B-1728B52AA6E4}">
                <adec:decorative xmlns:adec="http://schemas.microsoft.com/office/drawing/2017/decorative" val="1"/>
              </a:ext>
            </a:extLst>
          </p:cNvPr>
          <p:cNvSpPr/>
          <p:nvPr/>
        </p:nvSpPr>
        <p:spPr>
          <a:xfrm>
            <a:off x="749808" y="4745736"/>
            <a:ext cx="606552" cy="606552"/>
          </a:xfrm>
          <a:prstGeom prst="ellipse">
            <a:avLst/>
          </a:prstGeom>
          <a:solidFill>
            <a:srgbClr val="B45309"/>
          </a:solidFill>
          <a:ln w="12700">
            <a:solidFill>
              <a:srgbClr val="B45309"/>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891308"/>
            <a:ext cx="315407" cy="315407"/>
          </a:xfrm>
          <a:prstGeom prst="rect">
            <a:avLst/>
          </a:prstGeom>
        </p:spPr>
      </p:pic>
      <p:sp>
        <p:nvSpPr>
          <p:cNvPr id="12" name="Callout text"/>
          <p:cNvSpPr txBox="1"/>
          <p:nvPr/>
        </p:nvSpPr>
        <p:spPr>
          <a:xfrm>
            <a:off x="1600200" y="4727448"/>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Design point: </a:t>
            </a:r>
            <a:pPr indent="0" marL="0">
              <a:buNone/>
            </a:pPr>
            <a:r>
              <a:rPr lang="en-US" sz="1750" dirty="0">
                <a:solidFill>
                  <a:srgbClr val="334155"/>
                </a:solidFill>
              </a:rPr>
              <a:t>the plan decides nothing. Book 05: analytics finds the landing zone and never decides whether a setting is still needed.</a:t>
            </a:r>
            <a:endParaRPr lang="en-US" sz="17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groupPolicySettingMapping; Create a Settings Catalog policy from imported GPOs; Group Policy analytics. Chapter 06, “Read: the gate and the move plan.”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Write: one reviewed file per policy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6067958" cy="3227832"/>
          </a:xfrm>
          <a:prstGeom prst="roundRect">
            <a:avLst>
              <a:gd name="adj" fmla="val 2266"/>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5738774" cy="228600"/>
          </a:xfrm>
          <a:prstGeom prst="rect">
            <a:avLst/>
          </a:prstGeom>
          <a:noFill/>
          <a:ln/>
        </p:spPr>
        <p:txBody>
          <a:bodyPr wrap="square" lIns="0" tIns="0" rIns="0" bIns="0" rtlCol="0" anchor="t"/>
          <a:lstStyle/>
          <a:p>
            <a:pPr indent="0" marL="0">
              <a:buNone/>
            </a:pPr>
            <a:r>
              <a:rPr lang="en-US" sz="1050" b="1" dirty="0">
                <a:solidFill>
                  <a:srgbClr val="64748B"/>
                </a:solidFill>
              </a:rPr>
              <a:t>policies/fmp-sc-202-sign-in-and-power.json (abridged)</a:t>
            </a:r>
            <a:endParaRPr lang="en-US" sz="1050" dirty="0"/>
          </a:p>
        </p:txBody>
      </p:sp>
      <p:sp>
        <p:nvSpPr>
          <p:cNvPr id="7" name="Code"/>
          <p:cNvSpPr txBox="1"/>
          <p:nvPr/>
        </p:nvSpPr>
        <p:spPr>
          <a:xfrm>
            <a:off x="713232" y="1664208"/>
            <a:ext cx="5793638" cy="2843784"/>
          </a:xfrm>
          <a:prstGeom prst="rect">
            <a:avLst/>
          </a:prstGeom>
          <a:noFill/>
          <a:ln/>
        </p:spPr>
        <p:txBody>
          <a:bodyPr wrap="square" lIns="0" tIns="0" rIns="0" bIns="0" rtlCol="0" anchor="t"/>
          <a:lstStyle/>
          <a:p>
            <a:pPr indent="0" marL="0">
              <a:buNone/>
            </a:pPr>
            <a:r>
              <a:rPr lang="en-US" sz="1200" dirty="0">
                <a:solidFill>
                  <a:srgbClr val="334155"/>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  "owner": "Workstation baseline owner (Intune track)",</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  "configOwner": "Intune",</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  "sourceGpos": ["FMP-Workstation-Baseline", "Workstation-Power"],</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  "decisions": {</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    "…windowslogon_allowautomaticrestartsignon": "DR-0104",</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    "…power_allowhibernate": "DR-0105"</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  "policy": {</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    "name": "FMP-SC-202-Sign-in-and-power",</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    "platforms": "windows10", "technologies": "mdm",</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    "roleScopeTagIds": ["0"],</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    "settings": [ "…two choice settings…" ]</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a:t>
            </a:r>
            <a:endParaRPr lang="en-US" sz="1200" dirty="0"/>
          </a:p>
        </p:txBody>
      </p:sp>
      <p:sp>
        <p:nvSpPr>
          <p:cNvPr id="8" name="Panel Body and record" descr="">
            <a:extLst>
              <a:ext uri="{C183D7F6-B498-43B3-948B-1728B52AA6E4}">
                <adec:decorative xmlns:adec="http://schemas.microsoft.com/office/drawing/2017/decorative" val="1"/>
              </a:ext>
            </a:extLst>
          </p:cNvPr>
          <p:cNvSpPr/>
          <p:nvPr/>
        </p:nvSpPr>
        <p:spPr>
          <a:xfrm>
            <a:off x="6890918" y="1325880"/>
            <a:ext cx="4767682" cy="3412236"/>
          </a:xfrm>
          <a:prstGeom prst="roundRect">
            <a:avLst>
              <a:gd name="adj" fmla="val 214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Panel Body and record label"/>
          <p:cNvSpPr txBox="1"/>
          <p:nvPr/>
        </p:nvSpPr>
        <p:spPr>
          <a:xfrm>
            <a:off x="7073798" y="1435608"/>
            <a:ext cx="4401922" cy="274320"/>
          </a:xfrm>
          <a:prstGeom prst="rect">
            <a:avLst/>
          </a:prstGeom>
          <a:noFill/>
          <a:ln/>
        </p:spPr>
        <p:txBody>
          <a:bodyPr wrap="square" lIns="0" tIns="0" rIns="0" bIns="0" rtlCol="0" anchor="t"/>
          <a:lstStyle/>
          <a:p>
            <a:pPr indent="0" marL="0">
              <a:buNone/>
            </a:pPr>
            <a:r>
              <a:rPr lang="en-US" sz="1100" b="1" spc="50" kern="0" dirty="0">
                <a:solidFill>
                  <a:srgbClr val="64748B"/>
                </a:solidFill>
              </a:rPr>
              <a:t>BODY AND RECORD</a:t>
            </a:r>
            <a:endParaRPr lang="en-US" sz="1100" dirty="0"/>
          </a:p>
        </p:txBody>
      </p:sp>
      <p:sp>
        <p:nvSpPr>
          <p:cNvPr id="10" name="Panel Body and record list"/>
          <p:cNvSpPr txBox="1"/>
          <p:nvPr/>
        </p:nvSpPr>
        <p:spPr>
          <a:xfrm>
            <a:off x="7073798" y="1737360"/>
            <a:ext cx="4447642" cy="2955036"/>
          </a:xfrm>
          <a:prstGeom prst="rect">
            <a:avLst/>
          </a:prstGeom>
          <a:noFill/>
          <a:ln/>
        </p:spPr>
        <p:txBody>
          <a:bodyPr wrap="square" lIns="0" tIns="0" rIns="0" bIns="0" rtlCol="0" anchor="t"/>
          <a:lstStyle/>
          <a:p>
            <a:pPr marL="342900" indent="-342900">
              <a:spcAft>
                <a:spcPts val="400"/>
              </a:spcAft>
              <a:buSzPct val="100000"/>
              <a:buChar char="•"/>
            </a:pPr>
            <a:r>
              <a:rPr lang="en-US" sz="1550" b="1" dirty="0">
                <a:solidFill>
                  <a:srgbClr val="1F2A44"/>
                </a:solidFill>
              </a:rPr>
              <a:t>policy</a:t>
            </a:r>
            <a:pPr indent="0" marL="0">
              <a:spcAft>
                <a:spcPts val="400"/>
              </a:spcAft>
              <a:buNone/>
            </a:pPr>
            <a:r>
              <a:rPr lang="en-US" sz="1550" dirty="0">
                <a:solidFill>
                  <a:srgbClr val="334155"/>
                </a:solidFill>
              </a:rPr>
              <a:t> is the body Graph receives, exactly as reviewed, in the shape Learn's Create page documents</a:t>
            </a:r>
            <a:endParaRPr lang="en-US" sz="1550" dirty="0"/>
          </a:p>
          <a:p>
            <a:pPr marL="342900" indent="-342900">
              <a:spcAft>
                <a:spcPts val="400"/>
              </a:spcAft>
              <a:buSzPct val="100000"/>
              <a:buChar char="•"/>
            </a:pPr>
            <a:r>
              <a:rPr lang="en-US" sz="1550" dirty="0">
                <a:solidFill>
                  <a:srgbClr val="334155"/>
                </a:solidFill>
              </a:rPr>
              <a:t>The rest is the record: who approves a change, which tool owns the settings, which GPOs they came from, and each setting's decision record (Book 05, Ch 07)</a:t>
            </a:r>
            <a:endParaRPr lang="en-US" sz="1550" dirty="0"/>
          </a:p>
          <a:p>
            <a:pPr marL="342900" indent="-342900">
              <a:spcAft>
                <a:spcPts val="400"/>
              </a:spcAft>
              <a:buSzPct val="100000"/>
              <a:buChar char="•"/>
            </a:pPr>
            <a:r>
              <a:rPr lang="en-US" sz="1550" dirty="0">
                <a:solidFill>
                  <a:srgbClr val="334155"/>
                </a:solidFill>
              </a:rPr>
              <a:t>The definition IDs appear in Learn's own settings catalog examples; export a policy built in the admin center and compare before relying on any other ID</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Create deviceManagementConfigurationPolicy (beta); Learn, Configure Personal Data Encryption (Graph example). Chapter 06, “Write: one file per policy.”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Lint: ten rules, four that carry the program</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Test-GpcLibrary applies GPC-01 to GPC-10 (the example's README lists them all).</a:t>
            </a:r>
            <a:endParaRPr lang="en-US" sz="18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837944"/>
          <a:ext cx="11109960" cy="3419856"/>
        </p:xfrm>
        <a:graphic>
          <a:graphicData uri="http://schemas.openxmlformats.org/drawingml/2006/table">
            <a:tbl>
              <a:tblPr firstRow="1" bandRow="1"/>
              <a:tblGrid>
                <a:gridCol w="1280160"/>
                <a:gridCol w="6400800"/>
                <a:gridCol w="342900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Rule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it enforces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Where it comes from</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GPC-02</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configOwner must be Intune; a setting another tool owns stays with that tool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Design guidance: the Ansible guide's one owning tool per setting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GPC-06</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One setting definition ID in one policy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conflict Book 05's peer review looks for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GPC-09</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Every setting has a decision record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Book 05, Ch 07, decide and record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GPC-08</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With the plan: a setting that isn't a Candidate is a warning; a Conflict is shown with its decision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So a setting added by hand is a choice made on purpose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GPC-10</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Warns on a string value whose setting name suggests a secret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Learn: anyone who can read device configuration can read 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GPC-03, 04, 07</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No service-set properties, no assignments, @odata.type as reviewed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reviewed file is the body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Apply features and settings using device profiles (custom and imported settings). Chapter 06, “Lint”;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Diff, then create only what is missing</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5417820" cy="2316480"/>
        </p:xfrm>
        <a:graphic>
          <a:graphicData uri="http://schemas.openxmlformats.org/drawingml/2006/table">
            <a:tbl>
              <a:tblPr firstRow="1" bandRow="1"/>
              <a:tblGrid>
                <a:gridCol w="1354455"/>
                <a:gridCol w="3386138"/>
                <a:gridCol w="677228"/>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Action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Meaning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Exit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Create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Not in the tenant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0</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NoChange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Same settings, description, platform, technology and scope tags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0</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Drift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Differs; names each setting added, removed or changed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2</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Duplicate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Two tenant policies have the library's name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2</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nel How the sync runs" descr="">
            <a:extLst>
              <a:ext uri="{C183D7F6-B498-43B3-948B-1728B52AA6E4}">
                <adec:decorative xmlns:adec="http://schemas.microsoft.com/office/drawing/2017/decorative" val="1"/>
              </a:ext>
            </a:extLst>
          </p:cNvPr>
          <p:cNvSpPr/>
          <p:nvPr/>
        </p:nvSpPr>
        <p:spPr>
          <a:xfrm>
            <a:off x="6240780" y="1325880"/>
            <a:ext cx="5417820" cy="3087624"/>
          </a:xfrm>
          <a:prstGeom prst="roundRect">
            <a:avLst>
              <a:gd name="adj" fmla="val 236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How the sync runs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HOW THE SYNC RUNS</a:t>
            </a:r>
            <a:endParaRPr lang="en-US" sz="1100" dirty="0"/>
          </a:p>
        </p:txBody>
      </p:sp>
      <p:sp>
        <p:nvSpPr>
          <p:cNvPr id="8" name="Panel How the sync runs list"/>
          <p:cNvSpPr txBox="1"/>
          <p:nvPr/>
        </p:nvSpPr>
        <p:spPr>
          <a:xfrm>
            <a:off x="6423660" y="1737360"/>
            <a:ext cx="5097780" cy="263042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Get-GpcTenantPolicy reads with the export's filter, then the settings of each library-named policy</a:t>
            </a:r>
            <a:endParaRPr lang="en-US" sz="1450" dirty="0"/>
          </a:p>
          <a:p>
            <a:pPr marL="342900" indent="-342900">
              <a:spcAft>
                <a:spcPts val="400"/>
              </a:spcAft>
              <a:buSzPct val="100000"/>
              <a:buChar char="•"/>
            </a:pPr>
            <a:r>
              <a:rPr lang="en-US" sz="1450" dirty="0">
                <a:solidFill>
                  <a:srgbClr val="334155"/>
                </a:solidFill>
              </a:rPr>
              <a:t>ConvertTo-GpcCanonical normalizes both sides: Learn's responses show @odata.type without #, nulls, and an ID per setting</a:t>
            </a:r>
            <a:endParaRPr lang="en-US" sz="1450" dirty="0"/>
          </a:p>
          <a:p>
            <a:pPr marL="342900" indent="-342900">
              <a:spcAft>
                <a:spcPts val="400"/>
              </a:spcAft>
              <a:buSzPct val="100000"/>
              <a:buChar char="•"/>
            </a:pPr>
            <a:r>
              <a:rPr lang="en-US" sz="1450" dirty="0">
                <a:solidFill>
                  <a:srgbClr val="334155"/>
                </a:solidFill>
              </a:rPr>
              <a:t>Invoke-GpcSync.ps1: no -Apply is a dry run, Read.All and GET only; -Apply uses ReadWrite.All, POSTs each Create, reads it back and compares again</a:t>
            </a:r>
            <a:endParaRPr lang="en-US" sz="1450" dirty="0"/>
          </a:p>
          <a:p>
            <a:pPr marL="342900" indent="-342900">
              <a:spcAft>
                <a:spcPts val="400"/>
              </a:spcAft>
              <a:buSzPct val="100000"/>
              <a:buChar char="•"/>
            </a:pPr>
            <a:r>
              <a:rPr lang="en-US" sz="1450" dirty="0">
                <a:solidFill>
                  <a:srgbClr val="334155"/>
                </a:solidFill>
              </a:rPr>
              <a:t>Writes nothing if the lint has a finding, or any policy is Drift or Duplicate</a:t>
            </a:r>
            <a:endParaRPr lang="en-US" sz="1450" dirty="0"/>
          </a:p>
        </p:txBody>
      </p:sp>
      <p:sp>
        <p:nvSpPr>
          <p:cNvPr id="9" name="Callout" descr="">
            <a:extLst>
              <a:ext uri="{C183D7F6-B498-43B3-948B-1728B52AA6E4}">
                <adec:decorative xmlns:adec="http://schemas.microsoft.com/office/drawing/2017/decorative" val="1"/>
              </a:ext>
            </a:extLst>
          </p:cNvPr>
          <p:cNvSpPr/>
          <p:nvPr/>
        </p:nvSpPr>
        <p:spPr>
          <a:xfrm>
            <a:off x="548640" y="4596384"/>
            <a:ext cx="11109960" cy="1286256"/>
          </a:xfrm>
          <a:prstGeom prst="roundRect">
            <a:avLst>
              <a:gd name="adj" fmla="val 568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TriangleExclamation" descr="">
            <a:extLst>
              <a:ext uri="{C183D7F6-B498-43B3-948B-1728B52AA6E4}">
                <adec:decorative xmlns:adec="http://schemas.microsoft.com/office/drawing/2017/decorative" val="1"/>
              </a:ext>
            </a:extLst>
          </p:cNvPr>
          <p:cNvSpPr/>
          <p:nvPr/>
        </p:nvSpPr>
        <p:spPr>
          <a:xfrm>
            <a:off x="749808" y="4919472"/>
            <a:ext cx="640080" cy="640080"/>
          </a:xfrm>
          <a:prstGeom prst="ellipse">
            <a:avLst/>
          </a:prstGeom>
          <a:solidFill>
            <a:srgbClr val="B91C1C"/>
          </a:solidFill>
          <a:ln w="12700">
            <a:solidFill>
              <a:srgbClr val="B91C1C"/>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073091"/>
            <a:ext cx="332842" cy="332842"/>
          </a:xfrm>
          <a:prstGeom prst="rect">
            <a:avLst/>
          </a:prstGeom>
        </p:spPr>
      </p:pic>
      <p:sp>
        <p:nvSpPr>
          <p:cNvPr id="12" name="Callout text"/>
          <p:cNvSpPr txBox="1"/>
          <p:nvPr/>
        </p:nvSpPr>
        <p:spPr>
          <a:xfrm>
            <a:off x="1600200" y="4651248"/>
            <a:ext cx="9875520" cy="1176528"/>
          </a:xfrm>
          <a:prstGeom prst="rect">
            <a:avLst/>
          </a:prstGeom>
          <a:noFill/>
          <a:ln/>
        </p:spPr>
        <p:txBody>
          <a:bodyPr wrap="square" lIns="0" tIns="0" rIns="0" bIns="0" rtlCol="0" anchor="ctr"/>
          <a:lstStyle/>
          <a:p>
            <a:pPr indent="0" marL="0">
              <a:buNone/>
            </a:pPr>
            <a:r>
              <a:rPr lang="en-US" sz="1750" b="1" dirty="0">
                <a:solidFill>
                  <a:srgbClr val="B91C1C"/>
                </a:solidFill>
              </a:rPr>
              <a:t>It never sends PATCH or DELETE. </a:t>
            </a:r>
            <a:pPr indent="0" marL="0">
              <a:buNone/>
            </a:pPr>
            <a:r>
              <a:rPr lang="en-US" sz="1750" dirty="0">
                <a:solidFill>
                  <a:srgbClr val="334155"/>
                </a:solidFill>
              </a:rPr>
              <a:t>Learn documents PATCH and DELETE, and a per-setting PATCH, so an update is possible. A difference from Git is a person's decision: create a new version under a new name, move the assignment in review, delete the old by hand (design guidance).</a:t>
            </a:r>
            <a:endParaRPr lang="en-US" sz="17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List configurationPolicies; List settings; Update policy; Delete policy; Update setting (all beta). Chapter 06, “Diff, then create.”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Verified calls, beta stage and open questions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715768"/>
        </p:xfrm>
        <a:graphic>
          <a:graphicData uri="http://schemas.openxmlformats.org/drawingml/2006/table">
            <a:tbl>
              <a:tblPr firstRow="1" bandRow="1"/>
              <a:tblGrid>
                <a:gridCol w="5120640"/>
                <a:gridCol w="3291840"/>
                <a:gridCol w="269748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Call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Permission (least privileged)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Stage and clouds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GET /beta/deviceManagement/groupPolicyMigrationReports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DeviceManagementConfiguration.Read.All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Beta; global, L4, L5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GET …/groupPolicyMigrationReports/{id}/groupPolicySettingMappings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…Read.All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Beta; global, L4, L5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GET /beta/deviceManagement/configurationPolicies, and …/{id}/settings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…Read.All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Beta; global, L4, L5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POST /beta/deviceManagement/configurationPolicies (201 Created)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…ReadWrite.All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Beta; global, L4, L5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PATCH, DELETE on a policy; PATCH on one setting (unused)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…ReadWrite.All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Beta</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nel Not confirmed" descr="">
            <a:extLst>
              <a:ext uri="{C183D7F6-B498-43B3-948B-1728B52AA6E4}">
                <adec:decorative xmlns:adec="http://schemas.microsoft.com/office/drawing/2017/decorative" val="1"/>
              </a:ext>
            </a:extLst>
          </p:cNvPr>
          <p:cNvSpPr/>
          <p:nvPr/>
        </p:nvSpPr>
        <p:spPr>
          <a:xfrm>
            <a:off x="548640" y="4224528"/>
            <a:ext cx="11109960" cy="1412748"/>
          </a:xfrm>
          <a:prstGeom prst="roundRect">
            <a:avLst>
              <a:gd name="adj" fmla="val 517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Panel Not confirmed label"/>
          <p:cNvSpPr txBox="1"/>
          <p:nvPr/>
        </p:nvSpPr>
        <p:spPr>
          <a:xfrm>
            <a:off x="731520" y="4334256"/>
            <a:ext cx="10744200" cy="274320"/>
          </a:xfrm>
          <a:prstGeom prst="rect">
            <a:avLst/>
          </a:prstGeom>
          <a:noFill/>
          <a:ln/>
        </p:spPr>
        <p:txBody>
          <a:bodyPr wrap="square" lIns="0" tIns="0" rIns="0" bIns="0" rtlCol="0" anchor="t"/>
          <a:lstStyle/>
          <a:p>
            <a:pPr indent="0" marL="0">
              <a:buNone/>
            </a:pPr>
            <a:r>
              <a:rPr lang="en-US" sz="1100" b="1" spc="50" kern="0" dirty="0">
                <a:solidFill>
                  <a:srgbClr val="B45309"/>
                </a:solidFill>
              </a:rPr>
              <a:t>NOT CONFIRMED</a:t>
            </a:r>
            <a:endParaRPr lang="en-US" sz="1100" dirty="0"/>
          </a:p>
        </p:txBody>
      </p:sp>
      <p:sp>
        <p:nvSpPr>
          <p:cNvPr id="8" name="Panel Not confirmed list"/>
          <p:cNvSpPr txBox="1"/>
          <p:nvPr/>
        </p:nvSpPr>
        <p:spPr>
          <a:xfrm>
            <a:off x="731520" y="4636008"/>
            <a:ext cx="10789920" cy="955548"/>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Learn documents no Graph equivalent of the Migrate step, so Lab 2 compares the two by hand</a:t>
            </a:r>
            <a:endParaRPr lang="en-US" sz="1450" dirty="0"/>
          </a:p>
          <a:p>
            <a:pPr marL="342900" indent="-342900">
              <a:spcAft>
                <a:spcPts val="400"/>
              </a:spcAft>
              <a:buSzPct val="100000"/>
              <a:buChar char="•"/>
            </a:pPr>
            <a:r>
              <a:rPr lang="en-US" sz="1450" dirty="0">
                <a:solidFill>
                  <a:srgbClr val="334155"/>
                </a:solidFill>
              </a:rPr>
              <a:t>No Learn page states that the analytics import works in GCC High and DoD, though the Graph pages list both clouds: confirm in a GCC High test tenant first</a:t>
            </a:r>
            <a:endParaRPr lang="en-US" sz="145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List reports; List mappings; List policies; List settings; Create; Update; Delete; Update setting (Graph beta). Chapter 06,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builds it, who approves it, which roles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3550920" cy="2087880"/>
          </a:xfrm>
          <a:prstGeom prst="roundRect">
            <a:avLst>
              <a:gd name="adj" fmla="val 350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208788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85928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 and Intune engineers</a:t>
            </a:r>
            <a:endParaRPr lang="en-US" sz="1400" dirty="0"/>
          </a:p>
          <a:p>
            <a:pPr indent="0" marL="0">
              <a:spcAft>
                <a:spcPts val="300"/>
              </a:spcAft>
              <a:buNone/>
            </a:pPr>
            <a:r>
              <a:rPr lang="en-US" sz="1500" dirty="0">
                <a:solidFill>
                  <a:srgbClr val="334155"/>
                </a:solidFill>
              </a:rPr>
              <a:t>Build the policy library for the Intune track; comfortable in PowerShell 7, know what a settings catalog policy is; no tenant until Lab 2</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4328160" y="1325880"/>
            <a:ext cx="3550920" cy="2087880"/>
          </a:xfrm>
          <a:prstGeom prst="roundRect">
            <a:avLst>
              <a:gd name="adj" fmla="val 3504"/>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4328160" y="1325880"/>
            <a:ext cx="82296" cy="208788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85928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Reviewers</a:t>
            </a:r>
            <a:endParaRPr lang="en-US" sz="1400" dirty="0"/>
          </a:p>
          <a:p>
            <a:pPr indent="0" marL="0">
              <a:spcAft>
                <a:spcPts val="300"/>
              </a:spcAft>
              <a:buNone/>
            </a:pPr>
            <a:r>
              <a:rPr lang="en-US" sz="1500" dirty="0">
                <a:solidFill>
                  <a:srgbClr val="334155"/>
                </a:solidFill>
              </a:rPr>
              <a:t>Approve each library file: read the dry run's Create list and every decision record</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8107680" y="1325880"/>
            <a:ext cx="3550920" cy="2087880"/>
          </a:xfrm>
          <a:prstGeom prst="roundRect">
            <a:avLst>
              <a:gd name="adj" fmla="val 3504"/>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8107680" y="1325880"/>
            <a:ext cx="82296" cy="208788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85928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The file's owner</a:t>
            </a:r>
            <a:endParaRPr lang="en-US" sz="1400" dirty="0"/>
          </a:p>
          <a:p>
            <a:pPr indent="0" marL="0">
              <a:spcAft>
                <a:spcPts val="300"/>
              </a:spcAft>
              <a:buNone/>
            </a:pPr>
            <a:r>
              <a:rPr lang="en-US" sz="1500" dirty="0">
                <a:solidFill>
                  <a:srgbClr val="334155"/>
                </a:solidFill>
              </a:rPr>
              <a:t>Named in each library file: the person who approves a change to that policy</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3596640"/>
          <a:ext cx="11109960" cy="1985772"/>
        </p:xfrm>
        <a:graphic>
          <a:graphicData uri="http://schemas.openxmlformats.org/drawingml/2006/table">
            <a:tbl>
              <a:tblPr firstRow="1" bandRow="1"/>
              <a:tblGrid>
                <a:gridCol w="4206240"/>
                <a:gridCol w="690372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Task</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Permission or role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Import a GPO into Group Policy analytics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Intune Administrator, or a role with Security baselines and Device configuration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Run the gate; build the plan; dry run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Read Only Operator (views, can't change); DeviceManagementConfiguration.Read.All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Apply: create the policies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Policy and Profile Manager (manages configuration profiles); ReadWrite.All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Group Policy analytics (roles); Intune RBAC overview; Built-in role permissions (Read Only Operator). Chapter 06, “Goal and audience,” “Lab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the gate, the sample twice, the plan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130552"/>
          </a:xfrm>
          <a:prstGeom prst="roundRect">
            <a:avLst>
              <a:gd name="adj" fmla="val 3433"/>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POWERSHELL 7.1+ WITH PESTER 5 (abridged)</a:t>
            </a:r>
            <a:endParaRPr lang="en-US" sz="1050" dirty="0"/>
          </a:p>
        </p:txBody>
      </p:sp>
      <p:sp>
        <p:nvSpPr>
          <p:cNvPr id="7" name="Code"/>
          <p:cNvSpPr txBox="1"/>
          <p:nvPr/>
        </p:nvSpPr>
        <p:spPr>
          <a:xfrm>
            <a:off x="713232" y="1664208"/>
            <a:ext cx="10835640" cy="1746504"/>
          </a:xfrm>
          <a:prstGeom prst="rect">
            <a:avLst/>
          </a:prstGeom>
          <a:noFill/>
          <a:ln/>
        </p:spPr>
        <p:txBody>
          <a:bodyPr wrap="square" lIns="0" tIns="0" rIns="0" bIns="0" rtlCol="0" anchor="t"/>
          <a:lstStyle/>
          <a:p>
            <a:pPr indent="0" marL="0">
              <a:buNone/>
            </a:pPr>
            <a:r>
              <a:rPr lang="en-US" sz="1350" dirty="0">
                <a:solidFill>
                  <a:srgbClr val="0F766E"/>
                </a:solidFill>
                <a:latin typeface="Consolas" pitchFamily="34" charset="0"/>
                <a:ea typeface="Consolas" pitchFamily="34" charset="-122"/>
                <a:cs typeface="Consolas" pitchFamily="34" charset="-120"/>
              </a:rPr>
              <a:t># 1  In examples/validation-kit: VK-INT-07 on the fail fixture</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$ctx = Get-VkRunContext -FixturePath ./tests/fixtures/fail -AsOf '2026-10-29T00:00:00Z' -IncludeBeta</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(Invoke-VkCheck -CheckId VK-INT-07 -Context $ctx).Details | Format-Table Severity, Object, Issue</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2  In examples/group-policy-as-code: Microsoft's import, twice, against the fake Graph</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Invoke-MicrosoftSample -Name Import -Graph $g -Answers (Resolve-Path ./out/sc-201.json).Path</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$g.Calls | Format-Table Method, Uri</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3  The move plan</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$plan = Get-GpcMovePlan -Invoke (New-GpcFixtureInvoke -Path ./tests/fixtures/tenant.json).Invoke</a:t>
            </a:r>
            <a:endParaRPr lang="en-US" sz="135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3639312"/>
          <a:ext cx="11109960" cy="1932432"/>
        </p:xfrm>
        <a:graphic>
          <a:graphicData uri="http://schemas.openxmlformats.org/drawingml/2006/table">
            <a:tbl>
              <a:tblPr firstRow="1" bandRow="1"/>
              <a:tblGrid>
                <a:gridCol w="1280160"/>
                <a:gridCol w="982980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Expected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Fail, five rows: Workstation-Drive-Maps partial, Workstation-Scripts error, Workstation-Printers never imported; a warning on Workstation-Empty; FMP-Workstation-Baseline as context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FMP-SC-201 listed twice: two POSTs to graph.microsoft.com/beta/…/configurationPolicies and no GET. The script never looked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Eleven rows from three GPOs: five Candidate (one user-scope), Allow hibernate a Conflict on two rows, the firewall rule EndpointSecurity, two NotSupported, one Deprecated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examples/validation-kit and examples/group-policy-as-code (fixtures, fictional). Chapter 06,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lint, dry run, apply, break it on purpose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1764792"/>
          </a:xfrm>
          <a:prstGeom prst="roundRect">
            <a:avLst>
              <a:gd name="adj" fmla="val 4145"/>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IN examples/group-policy-as-code</a:t>
            </a:r>
            <a:endParaRPr lang="en-US" sz="1050" dirty="0"/>
          </a:p>
        </p:txBody>
      </p:sp>
      <p:sp>
        <p:nvSpPr>
          <p:cNvPr id="7" name="Code"/>
          <p:cNvSpPr txBox="1"/>
          <p:nvPr/>
        </p:nvSpPr>
        <p:spPr>
          <a:xfrm>
            <a:off x="713232" y="1664208"/>
            <a:ext cx="10835640" cy="1380744"/>
          </a:xfrm>
          <a:prstGeom prst="rect">
            <a:avLst/>
          </a:prstGeom>
          <a:noFill/>
          <a:ln/>
        </p:spPr>
        <p:txBody>
          <a:bodyPr wrap="square" lIns="0" tIns="0" rIns="0" bIns="0" rtlCol="0" anchor="t"/>
          <a:lstStyle/>
          <a:p>
            <a:pPr indent="0" marL="0">
              <a:buNone/>
            </a:pPr>
            <a:r>
              <a:rPr lang="en-US" sz="1400" dirty="0">
                <a:solidFill>
                  <a:srgbClr val="0F766E"/>
                </a:solidFill>
                <a:latin typeface="Consolas" pitchFamily="34" charset="0"/>
                <a:ea typeface="Consolas" pitchFamily="34" charset="-122"/>
                <a:cs typeface="Consolas" pitchFamily="34" charset="-120"/>
              </a:rPr>
              <a:t># 4  Lint the library against the plan</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Test-GpcLibrary -Library (Read-GpcLibrary -Path ./policies) -Plan $plan | Format-List</a:t>
            </a:r>
            <a:endParaRPr lang="en-US" sz="1400" dirty="0"/>
          </a:p>
          <a:p>
            <a:pPr indent="0" marL="0">
              <a:buNone/>
            </a:pPr>
            <a:r>
              <a:rPr lang="en-US" sz="1400" dirty="0">
                <a:solidFill>
                  <a:srgbClr val="0F766E"/>
                </a:solidFill>
                <a:latin typeface="Consolas" pitchFamily="34" charset="0"/>
                <a:ea typeface="Consolas" pitchFamily="34" charset="-122"/>
                <a:cs typeface="Consolas" pitchFamily="34" charset="-120"/>
              </a:rPr>
              <a:t># 5  Dry run, then apply</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pwsh ./powershell/Invoke-GpcSync.ps1 -FixturePath ./tests/fixtures/tenant.json -WithPlan</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pwsh ./powershell/Invoke-GpcSync.ps1 -FixturePath ./tests/fixtures/tenant.json -Apply</a:t>
            </a:r>
            <a:endParaRPr lang="en-US" sz="1400" dirty="0"/>
          </a:p>
          <a:p>
            <a:pPr indent="0" marL="0">
              <a:buNone/>
            </a:pPr>
            <a:r>
              <a:rPr lang="en-US" sz="1400" dirty="0">
                <a:solidFill>
                  <a:srgbClr val="0F766E"/>
                </a:solidFill>
                <a:latin typeface="Consolas" pitchFamily="34" charset="0"/>
                <a:ea typeface="Consolas" pitchFamily="34" charset="-122"/>
                <a:cs typeface="Consolas" pitchFamily="34" charset="-120"/>
              </a:rPr>
              <a:t># 7  Invoke-Pester ./tests</a:t>
            </a:r>
            <a:endParaRPr lang="en-US" sz="14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3273552"/>
          <a:ext cx="11109960" cy="2042160"/>
        </p:xfrm>
        <a:graphic>
          <a:graphicData uri="http://schemas.openxmlformats.org/drawingml/2006/table">
            <a:tbl>
              <a:tblPr firstRow="1" bandRow="1"/>
              <a:tblGrid>
                <a:gridCol w="1280160"/>
                <a:gridCol w="982980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Expected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One row, Info GPC-08: hibernate has conflicting GPO values, and decision DR-0105 picks the value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Dry run exit 0: Create FMP-SC-201, NoChange FMP-SC-202. Apply exit 0: Created FMP-SC-201; sync-record.json shows ReadWrite.All and the new ID. -Cloud gcchigh names graph.microsoft.us; -Cloud usgov exits 1</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Change power_allowhibernate_0 to _1: Drift, exit 2, naming the setting. With -Apply still exit 2, and nothing created, not even SC-201. Put it back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46 tests passing: 34 in GroupPolicyAsCode.Tests.ps1, 12 in MicrosoftSamples.Tests.ps1</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examples/group-policy-as-code (fixture tenant and fake Graph, fictional). Chapter 06, “Lab 1: fixtures, no tenant,” steps 4–7;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a test tenant, a real import, Migrate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330708"/>
          </a:xfrm>
          <a:prstGeom prst="rect">
            <a:avLst/>
          </a:prstGeom>
          <a:noFill/>
          <a:ln/>
        </p:spPr>
        <p:txBody>
          <a:bodyPr wrap="square" lIns="0" tIns="0" rIns="0" bIns="0" rtlCol="0" anchor="t"/>
          <a:lstStyle/>
          <a:p>
            <a:pPr indent="0" marL="0">
              <a:buNone/>
            </a:pPr>
            <a:r>
              <a:rPr lang="en-US" sz="1450" b="1" dirty="0">
                <a:solidFill>
                  <a:srgbClr val="1F2A44"/>
                </a:solidFill>
              </a:rPr>
              <a:t>Import a test GPO: </a:t>
            </a:r>
            <a:pPr indent="0" marL="0">
              <a:buNone/>
            </a:pPr>
            <a:r>
              <a:rPr lang="en-US" sz="1450" dirty="0">
                <a:solidFill>
                  <a:srgbClr val="334155"/>
                </a:solidFill>
              </a:rPr>
              <a:t>XML under 4 MB: Devices &gt; Manage devices &gt; Group Policy analytics &gt; Import, with a scope tag</a:t>
            </a:r>
            <a:endParaRPr lang="en-US" sz="1450" dirty="0"/>
          </a:p>
        </p:txBody>
      </p:sp>
      <p:sp>
        <p:nvSpPr>
          <p:cNvPr id="8" name="Step 2 dot" descr="">
            <a:extLst>
              <a:ext uri="{C183D7F6-B498-43B3-948B-1728B52AA6E4}">
                <adec:decorative xmlns:adec="http://schemas.microsoft.com/office/drawing/2017/decorative" val="1"/>
              </a:ext>
            </a:extLst>
          </p:cNvPr>
          <p:cNvSpPr/>
          <p:nvPr/>
        </p:nvSpPr>
        <p:spPr>
          <a:xfrm>
            <a:off x="548640" y="167487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674876"/>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656588"/>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Gate and plan live: </a:t>
            </a:r>
            <a:pPr indent="0" marL="0">
              <a:buNone/>
            </a:pPr>
            <a:r>
              <a:rPr lang="en-US" sz="1450" dirty="0">
                <a:solidFill>
                  <a:srgbClr val="334155"/>
                </a:solidFill>
              </a:rPr>
              <a:t>As Read Only Operator, VK-INT-07 with -IncludeBeta; then Connect-MgGraph -Environment Global with Read.All and Get-GpcMovePlan; a library ID not in the plan is a finding</a:t>
            </a:r>
            <a:endParaRPr lang="en-US" sz="1450" dirty="0"/>
          </a:p>
        </p:txBody>
      </p:sp>
      <p:sp>
        <p:nvSpPr>
          <p:cNvPr id="11" name="Step 3 dot" descr="">
            <a:extLst>
              <a:ext uri="{C183D7F6-B498-43B3-948B-1728B52AA6E4}">
                <adec:decorative xmlns:adec="http://schemas.microsoft.com/office/drawing/2017/decorative" val="1"/>
              </a:ext>
            </a:extLst>
          </p:cNvPr>
          <p:cNvSpPr/>
          <p:nvPr/>
        </p:nvSpPr>
        <p:spPr>
          <a:xfrm>
            <a:off x="548640" y="222656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226564"/>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208276"/>
            <a:ext cx="10561320" cy="330708"/>
          </a:xfrm>
          <a:prstGeom prst="rect">
            <a:avLst/>
          </a:prstGeom>
          <a:noFill/>
          <a:ln/>
        </p:spPr>
        <p:txBody>
          <a:bodyPr wrap="square" lIns="0" tIns="0" rIns="0" bIns="0" rtlCol="0" anchor="t"/>
          <a:lstStyle/>
          <a:p>
            <a:pPr indent="0" marL="0">
              <a:buNone/>
            </a:pPr>
            <a:r>
              <a:rPr lang="en-US" sz="1450" b="1" dirty="0">
                <a:solidFill>
                  <a:srgbClr val="1F2A44"/>
                </a:solidFill>
              </a:rPr>
              <a:t>Dry run: </a:t>
            </a:r>
            <a:pPr indent="0" marL="0">
              <a:buNone/>
            </a:pPr>
            <a:r>
              <a:rPr lang="en-US" sz="1450" dirty="0">
                <a:solidFill>
                  <a:srgbClr val="334155"/>
                </a:solidFill>
              </a:rPr>
              <a:t>Invoke-GpcSync.ps1 -Cloud gcc -WithPlan asks for Read.All only; expect Create for each file</a:t>
            </a:r>
            <a:endParaRPr lang="en-US" sz="1450" dirty="0"/>
          </a:p>
        </p:txBody>
      </p:sp>
      <p:sp>
        <p:nvSpPr>
          <p:cNvPr id="14" name="Step 4 dot" descr="">
            <a:extLst>
              <a:ext uri="{C183D7F6-B498-43B3-948B-1728B52AA6E4}">
                <adec:decorative xmlns:adec="http://schemas.microsoft.com/office/drawing/2017/decorative" val="1"/>
              </a:ext>
            </a:extLst>
          </p:cNvPr>
          <p:cNvSpPr/>
          <p:nvPr/>
        </p:nvSpPr>
        <p:spPr>
          <a:xfrm>
            <a:off x="548640" y="255727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557272"/>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2538984"/>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Apply: </a:t>
            </a:r>
            <a:pPr indent="0" marL="0">
              <a:buNone/>
            </a:pPr>
            <a:r>
              <a:rPr lang="en-US" sz="1450" dirty="0">
                <a:solidFill>
                  <a:srgbClr val="334155"/>
                </a:solidFill>
              </a:rPr>
              <a:t>As Policy and Profile Manager with -Apply (ReadWrite.All): Created, no assignments; dry run again shows NoChange</a:t>
            </a:r>
            <a:endParaRPr lang="en-US" sz="1450" dirty="0"/>
          </a:p>
        </p:txBody>
      </p:sp>
      <p:sp>
        <p:nvSpPr>
          <p:cNvPr id="17" name="Step 5 dot" descr="">
            <a:extLst>
              <a:ext uri="{C183D7F6-B498-43B3-948B-1728B52AA6E4}">
                <adec:decorative xmlns:adec="http://schemas.microsoft.com/office/drawing/2017/decorative" val="1"/>
              </a:ext>
            </a:extLst>
          </p:cNvPr>
          <p:cNvSpPr/>
          <p:nvPr/>
        </p:nvSpPr>
        <p:spPr>
          <a:xfrm>
            <a:off x="548640" y="310896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108960"/>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090672"/>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Compare with Migrate: </a:t>
            </a:r>
            <a:pPr indent="0" marL="0">
              <a:buNone/>
            </a:pPr>
            <a:r>
              <a:rPr lang="en-US" sz="1450" dirty="0">
                <a:solidFill>
                  <a:srgbClr val="334155"/>
                </a:solidFill>
              </a:rPr>
              <a:t>Migrate the same settings into Lab-Migrate-compare, Assignments empty; compare canonically; a difference is a finding</a:t>
            </a:r>
            <a:endParaRPr lang="en-US" sz="1450" dirty="0"/>
          </a:p>
        </p:txBody>
      </p:sp>
      <p:sp>
        <p:nvSpPr>
          <p:cNvPr id="20" name="Step 6 dot" descr="">
            <a:extLst>
              <a:ext uri="{C183D7F6-B498-43B3-948B-1728B52AA6E4}">
                <adec:decorative xmlns:adec="http://schemas.microsoft.com/office/drawing/2017/decorative" val="1"/>
              </a:ext>
            </a:extLst>
          </p:cNvPr>
          <p:cNvSpPr/>
          <p:nvPr/>
        </p:nvSpPr>
        <p:spPr>
          <a:xfrm>
            <a:off x="548640" y="366064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366064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364236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Drill drift, then back it out: </a:t>
            </a:r>
            <a:pPr indent="0" marL="0">
              <a:buNone/>
            </a:pPr>
            <a:r>
              <a:rPr lang="en-US" sz="1450" dirty="0">
                <a:solidFill>
                  <a:srgbClr val="334155"/>
                </a:solidFill>
              </a:rPr>
              <a:t>Change one value in the admin center: exit 2 naming it. Delete the created policies by ID from sync-record.json, and the imported GPO; the dry run shows Create again</a:t>
            </a:r>
            <a:endParaRPr lang="en-US" sz="1450" dirty="0"/>
          </a:p>
        </p:txBody>
      </p:sp>
      <p:sp>
        <p:nvSpPr>
          <p:cNvPr id="23" name="Callout" descr="">
            <a:extLst>
              <a:ext uri="{C183D7F6-B498-43B3-948B-1728B52AA6E4}">
                <adec:decorative xmlns:adec="http://schemas.microsoft.com/office/drawing/2017/decorative" val="1"/>
              </a:ext>
            </a:extLst>
          </p:cNvPr>
          <p:cNvSpPr/>
          <p:nvPr/>
        </p:nvSpPr>
        <p:spPr>
          <a:xfrm>
            <a:off x="548640" y="4376928"/>
            <a:ext cx="11109960" cy="752856"/>
          </a:xfrm>
          <a:prstGeom prst="roundRect">
            <a:avLst>
              <a:gd name="adj" fmla="val 971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4450080"/>
            <a:ext cx="606552" cy="606552"/>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595652"/>
            <a:ext cx="315407" cy="315407"/>
          </a:xfrm>
          <a:prstGeom prst="rect">
            <a:avLst/>
          </a:prstGeom>
        </p:spPr>
      </p:pic>
      <p:sp>
        <p:nvSpPr>
          <p:cNvPr id="26" name="Callout text"/>
          <p:cNvSpPr txBox="1"/>
          <p:nvPr/>
        </p:nvSpPr>
        <p:spPr>
          <a:xfrm>
            <a:off x="1600200" y="4431792"/>
            <a:ext cx="9875520" cy="643128"/>
          </a:xfrm>
          <a:prstGeom prst="rect">
            <a:avLst/>
          </a:prstGeom>
          <a:noFill/>
          <a:ln/>
        </p:spPr>
        <p:txBody>
          <a:bodyPr wrap="square" lIns="0" tIns="0" rIns="0" bIns="0" rtlCol="0" anchor="ctr"/>
          <a:lstStyle/>
          <a:p>
            <a:pPr indent="0" marL="0">
              <a:buNone/>
            </a:pPr>
            <a:r>
              <a:rPr lang="en-US" sz="1750" b="1" dirty="0">
                <a:solidFill>
                  <a:srgbClr val="B91C1C"/>
                </a:solidFill>
              </a:rPr>
              <a:t>Where: </a:t>
            </a:r>
            <a:pPr indent="0" marL="0">
              <a:buNone/>
            </a:pPr>
            <a:r>
              <a:rPr lang="en-US" sz="1750" dirty="0">
                <a:solidFill>
                  <a:srgbClr val="334155"/>
                </a:solidFill>
              </a:rPr>
              <a:t>a test tenant with Intune licenses and a test GPO export, never production. In GCC, Graph and the admin center are the worldwide ones.</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Group Policy analytics; Migrate; Intune RBAC; Graph deployments; Intune for US Government; Delete policy. Chapter 06, “Lab 2: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26280"/>
        </p:xfrm>
        <a:graphic>
          <a:graphicData uri="http://schemas.openxmlformats.org/drawingml/2006/table">
            <a:tbl>
              <a:tblPr firstRow="1" bandRow="1"/>
              <a:tblGrid>
                <a:gridCol w="3108960"/>
                <a:gridCol w="4206240"/>
                <a:gridCol w="379476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Danger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happens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The guard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Two policies set one setting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Devices report a conflict; neither owns the value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GPC-06 in the PR; VK-INT-05 after assignment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setting another tool owns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Intune and Configuration Manager or Ansible flip one value back and forth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GPC-02; config_owner decides which devices an assignment may reach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Running the create twice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second same-named policy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Read first, create only Create rows; Duplicate stops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An edit in the admin center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Git and tenant disagree; the next release overwrites one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Drift stops the release, names the setting; no updates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Moving every setting unreviewed; two GPOs disagreeing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Stale settings reach every device; a script picks a value silently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plan decides nothing; GPC-09; Conflict rows and GPC-08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broad session doing the write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token that could change anything in Intune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Read.All for the dry run; ReadWrite.All only for -Apply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secret in a value; the wrong cloud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Anyone with read can read it; the worldwide host for GCC 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GPC-10; Get-GpcCloud refuses unknown names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Beta changes; non-English GPOs; firewall rules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Behavior shifts; the support figure is off; Migrate can't move them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Pinned tests, source watch, Lab 2; check by hand; EndpointSecurity rows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dynamic device group only Intune uses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Policy lands late, or an exclusion misses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Learn prefers a filter; Book 05's assignment strategy; VK-INT-04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06, “Dangers”; Learn, Migrate; device profiles; filter performance; Assign policies (exclusions).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The plan and the library" descr="">
            <a:extLst>
              <a:ext uri="{C183D7F6-B498-43B3-948B-1728B52AA6E4}">
                <adec:decorative xmlns:adec="http://schemas.microsoft.com/office/drawing/2017/decorative" val="1"/>
              </a:ext>
            </a:extLst>
          </p:cNvPr>
          <p:cNvSpPr/>
          <p:nvPr/>
        </p:nvSpPr>
        <p:spPr>
          <a:xfrm>
            <a:off x="548640" y="1325880"/>
            <a:ext cx="5417820" cy="3240024"/>
          </a:xfrm>
          <a:prstGeom prst="roundRect">
            <a:avLst>
              <a:gd name="adj" fmla="val 225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plan and the library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PLAN AND THE LIBRARY</a:t>
            </a:r>
            <a:endParaRPr lang="en-US" sz="1100" dirty="0"/>
          </a:p>
        </p:txBody>
      </p:sp>
      <p:sp>
        <p:nvSpPr>
          <p:cNvPr id="7" name="Panel The plan and the library list"/>
          <p:cNvSpPr txBox="1"/>
          <p:nvPr/>
        </p:nvSpPr>
        <p:spPr>
          <a:xfrm>
            <a:off x="731520" y="1737360"/>
            <a:ext cx="5097780" cy="278282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VK-INT-07 passes: every in-scope GPO imported, every targeted GPO complete or explained</a:t>
            </a:r>
            <a:endParaRPr lang="en-US" sz="1550" dirty="0"/>
          </a:p>
          <a:p>
            <a:pPr marL="342900" indent="-342900">
              <a:spcAft>
                <a:spcPts val="400"/>
              </a:spcAft>
              <a:buSzPct val="100000"/>
              <a:buChar char="•"/>
            </a:pPr>
            <a:r>
              <a:rPr lang="en-US" sz="1550" dirty="0">
                <a:solidFill>
                  <a:srgbClr val="334155"/>
                </a:solidFill>
              </a:rPr>
              <a:t>The move plan is saved with the pull request; every Conflict has a decision record</a:t>
            </a:r>
            <a:endParaRPr lang="en-US" sz="1550" dirty="0"/>
          </a:p>
          <a:p>
            <a:pPr marL="342900" indent="-342900">
              <a:spcAft>
                <a:spcPts val="400"/>
              </a:spcAft>
              <a:buSzPct val="100000"/>
              <a:buChar char="•"/>
            </a:pPr>
            <a:r>
              <a:rPr lang="en-US" sz="1550" dirty="0">
                <a:solidFill>
                  <a:srgbClr val="334155"/>
                </a:solidFill>
              </a:rPr>
              <a:t>Every library file has an owner, configOwner Intune, its source GPOs and a decision per setting</a:t>
            </a:r>
            <a:endParaRPr lang="en-US" sz="1550" dirty="0"/>
          </a:p>
          <a:p>
            <a:pPr marL="342900" indent="-342900">
              <a:spcAft>
                <a:spcPts val="400"/>
              </a:spcAft>
              <a:buSzPct val="100000"/>
              <a:buChar char="•"/>
            </a:pPr>
            <a:r>
              <a:rPr lang="en-US" sz="1550" dirty="0">
                <a:solidFill>
                  <a:srgbClr val="334155"/>
                </a:solidFill>
              </a:rPr>
              <a:t>No setting definition ID appears in two library files</a:t>
            </a:r>
            <a:endParaRPr lang="en-US" sz="1550" dirty="0"/>
          </a:p>
        </p:txBody>
      </p:sp>
      <p:sp>
        <p:nvSpPr>
          <p:cNvPr id="8" name="Panel The release" descr="">
            <a:extLst>
              <a:ext uri="{C183D7F6-B498-43B3-948B-1728B52AA6E4}">
                <adec:decorative xmlns:adec="http://schemas.microsoft.com/office/drawing/2017/decorative" val="1"/>
              </a:ext>
            </a:extLst>
          </p:cNvPr>
          <p:cNvSpPr/>
          <p:nvPr/>
        </p:nvSpPr>
        <p:spPr>
          <a:xfrm>
            <a:off x="6240780" y="1325880"/>
            <a:ext cx="5417820" cy="3240024"/>
          </a:xfrm>
          <a:prstGeom prst="roundRect">
            <a:avLst>
              <a:gd name="adj" fmla="val 225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releas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RELEASE</a:t>
            </a:r>
            <a:endParaRPr lang="en-US" sz="1100" dirty="0"/>
          </a:p>
        </p:txBody>
      </p:sp>
      <p:sp>
        <p:nvSpPr>
          <p:cNvPr id="10" name="Panel The release list"/>
          <p:cNvSpPr txBox="1"/>
          <p:nvPr/>
        </p:nvSpPr>
        <p:spPr>
          <a:xfrm>
            <a:off x="6423660" y="1737360"/>
            <a:ext cx="5097780" cy="278282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The dry run exits 0, and the reviewer has read its Create list</a:t>
            </a:r>
            <a:endParaRPr lang="en-US" sz="1550" dirty="0"/>
          </a:p>
          <a:p>
            <a:pPr marL="342900" indent="-342900">
              <a:spcAft>
                <a:spcPts val="400"/>
              </a:spcAft>
              <a:buSzPct val="100000"/>
              <a:buChar char="•"/>
            </a:pPr>
            <a:r>
              <a:rPr lang="en-US" sz="1550" dirty="0">
                <a:solidFill>
                  <a:srgbClr val="334155"/>
                </a:solidFill>
              </a:rPr>
              <a:t>The release ran with -Apply under ReadWrite.All and wrote sync-record.json; the dry run then shows NoChange</a:t>
            </a:r>
            <a:endParaRPr lang="en-US" sz="1550" dirty="0"/>
          </a:p>
          <a:p>
            <a:pPr marL="342900" indent="-342900">
              <a:spcAft>
                <a:spcPts val="400"/>
              </a:spcAft>
              <a:buSzPct val="100000"/>
              <a:buChar char="•"/>
            </a:pPr>
            <a:r>
              <a:rPr lang="en-US" sz="1550" dirty="0">
                <a:solidFill>
                  <a:srgbClr val="334155"/>
                </a:solidFill>
              </a:rPr>
              <a:t>Created unassigned; assignment is a separate reviewed change that follows config_owner, with filters where only Intune uses the group</a:t>
            </a:r>
            <a:endParaRPr lang="en-US" sz="1550" dirty="0"/>
          </a:p>
          <a:p>
            <a:pPr marL="342900" indent="-342900">
              <a:spcAft>
                <a:spcPts val="400"/>
              </a:spcAft>
              <a:buSzPct val="100000"/>
              <a:buChar char="•"/>
            </a:pPr>
            <a:r>
              <a:rPr lang="en-US" sz="1550" dirty="0">
                <a:solidFill>
                  <a:srgbClr val="334155"/>
                </a:solidFill>
              </a:rPr>
              <a:t>The pinned samples match their manifest; every upstream commit since the pin is reviewed</a:t>
            </a:r>
            <a:endParaRPr lang="en-US" sz="1550" dirty="0"/>
          </a:p>
        </p:txBody>
      </p:sp>
      <p:sp>
        <p:nvSpPr>
          <p:cNvPr id="11" name="Callout" descr="">
            <a:extLst>
              <a:ext uri="{C183D7F6-B498-43B3-948B-1728B52AA6E4}">
                <adec:decorative xmlns:adec="http://schemas.microsoft.com/office/drawing/2017/decorative" val="1"/>
              </a:ext>
            </a:extLst>
          </p:cNvPr>
          <p:cNvSpPr/>
          <p:nvPr/>
        </p:nvSpPr>
        <p:spPr>
          <a:xfrm>
            <a:off x="548640" y="4748784"/>
            <a:ext cx="11109960" cy="731520"/>
          </a:xfrm>
          <a:prstGeom prst="roundRect">
            <a:avLst>
              <a:gd name="adj" fmla="val 10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4821936"/>
            <a:ext cx="585216" cy="585216"/>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4962388"/>
            <a:ext cx="304312" cy="304312"/>
          </a:xfrm>
          <a:prstGeom prst="rect">
            <a:avLst/>
          </a:prstGeom>
        </p:spPr>
      </p:pic>
      <p:sp>
        <p:nvSpPr>
          <p:cNvPr id="14" name="Callout text"/>
          <p:cNvSpPr txBox="1"/>
          <p:nvPr/>
        </p:nvSpPr>
        <p:spPr>
          <a:xfrm>
            <a:off x="1600200" y="4803648"/>
            <a:ext cx="9875520" cy="621792"/>
          </a:xfrm>
          <a:prstGeom prst="rect">
            <a:avLst/>
          </a:prstGeom>
          <a:noFill/>
          <a:ln/>
        </p:spPr>
        <p:txBody>
          <a:bodyPr wrap="square" lIns="0" tIns="0" rIns="0" bIns="0" rtlCol="0" anchor="ctr"/>
          <a:lstStyle/>
          <a:p>
            <a:pPr indent="0" marL="0">
              <a:buNone/>
            </a:pPr>
            <a:r>
              <a:rPr lang="en-US" sz="1750" b="1" dirty="0">
                <a:solidFill>
                  <a:srgbClr val="B45309"/>
                </a:solidFill>
              </a:rPr>
              <a:t>Next: </a:t>
            </a:r>
            <a:pPr indent="0" marL="0">
              <a:buNone/>
            </a:pPr>
            <a:r>
              <a:rPr lang="en-US" sz="1750" dirty="0">
                <a:solidFill>
                  <a:srgbClr val="334155"/>
                </a:solidFill>
              </a:rPr>
              <a:t>Chapter 07, Machine Configuration Packages.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06, “Checklist”; Learn, filter performance recommendations; microsoft/mggraph-intune-samples at 2e66845.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c06-gpa  </a:t>
            </a:r>
            <a:pPr indent="0" marL="0">
              <a:spcAft>
                <a:spcPts val="300"/>
              </a:spcAft>
              <a:buNone/>
            </a:pPr>
            <a:r>
              <a:rPr lang="en-US" sz="1050" dirty="0">
                <a:solidFill>
                  <a:srgbClr val="334155"/>
                </a:solidFill>
              </a:rPr>
              <a:t>Microsoft Learn, "Import and analyze your on-premises GPOs using Group Policy analytics in Microsoft Intune," https://learn.microsoft.com/intune/device-configuration/import-group-policy-analytics (accessed Oct 30, 2026).</a:t>
            </a:r>
            <a:endParaRPr lang="en-US" sz="1050" dirty="0"/>
          </a:p>
          <a:p>
            <a:pPr indent="0" marL="0">
              <a:spcAft>
                <a:spcPts val="300"/>
              </a:spcAft>
              <a:buNone/>
            </a:pPr>
            <a:r>
              <a:rPr lang="en-US" sz="1050" b="1" dirty="0">
                <a:solidFill>
                  <a:srgbClr val="1F2A44"/>
                </a:solidFill>
              </a:rPr>
              <a:t>c06-migrate  </a:t>
            </a:r>
            <a:pPr indent="0" marL="0">
              <a:spcAft>
                <a:spcPts val="300"/>
              </a:spcAft>
              <a:buNone/>
            </a:pPr>
            <a:r>
              <a:rPr lang="en-US" sz="1050" dirty="0">
                <a:solidFill>
                  <a:srgbClr val="334155"/>
                </a:solidFill>
              </a:rPr>
              <a:t>Microsoft Learn, "Create a Settings Catalog policy using your imported GPOs in Microsoft Intune," https://learn.microsoft.com/intune/device-configuration/migrate-group-policy (accessed Oct 30, 2026).</a:t>
            </a:r>
            <a:endParaRPr lang="en-US" sz="1050" dirty="0"/>
          </a:p>
          <a:p>
            <a:pPr indent="0" marL="0">
              <a:spcAft>
                <a:spcPts val="300"/>
              </a:spcAft>
              <a:buNone/>
            </a:pPr>
            <a:r>
              <a:rPr lang="en-US" sz="1050" b="1" dirty="0">
                <a:solidFill>
                  <a:srgbClr val="1F2A44"/>
                </a:solidFill>
              </a:rPr>
              <a:t>c06-gpmr-list  </a:t>
            </a:r>
            <a:pPr indent="0" marL="0">
              <a:spcAft>
                <a:spcPts val="300"/>
              </a:spcAft>
              <a:buNone/>
            </a:pPr>
            <a:r>
              <a:rPr lang="en-US" sz="1050" dirty="0">
                <a:solidFill>
                  <a:srgbClr val="334155"/>
                </a:solidFill>
              </a:rPr>
              <a:t>Microsoft Learn, "List groupPolicyMigrationReports" (Microsoft Graph beta), https://learn.microsoft.com/graph/api/intune-gpanalyticsservice-grouppolicymigrationreport-list?view=graph-rest-beta (accessed Oct 30, 2026).</a:t>
            </a:r>
            <a:endParaRPr lang="en-US" sz="1050" dirty="0"/>
          </a:p>
          <a:p>
            <a:pPr indent="0" marL="0">
              <a:spcAft>
                <a:spcPts val="300"/>
              </a:spcAft>
              <a:buNone/>
            </a:pPr>
            <a:r>
              <a:rPr lang="en-US" sz="1050" b="1" dirty="0">
                <a:solidFill>
                  <a:srgbClr val="1F2A44"/>
                </a:solidFill>
              </a:rPr>
              <a:t>c06-gpmr  </a:t>
            </a:r>
            <a:pPr indent="0" marL="0">
              <a:spcAft>
                <a:spcPts val="300"/>
              </a:spcAft>
              <a:buNone/>
            </a:pPr>
            <a:r>
              <a:rPr lang="en-US" sz="1050" dirty="0">
                <a:solidFill>
                  <a:srgbClr val="334155"/>
                </a:solidFill>
              </a:rPr>
              <a:t>Microsoft Learn, "groupPolicyMigrationReport resource type" (Microsoft Graph beta), https://learn.microsoft.com/graph/api/resources/intune-gpanalyticsservice-grouppolicymigrationreport?view=graph-rest-beta (accessed Oct 30, 2026).</a:t>
            </a:r>
            <a:endParaRPr lang="en-US" sz="1050" dirty="0"/>
          </a:p>
          <a:p>
            <a:pPr indent="0" marL="0">
              <a:spcAft>
                <a:spcPts val="300"/>
              </a:spcAft>
              <a:buNone/>
            </a:pPr>
            <a:r>
              <a:rPr lang="en-US" sz="1050" b="1" dirty="0">
                <a:solidFill>
                  <a:srgbClr val="1F2A44"/>
                </a:solidFill>
              </a:rPr>
              <a:t>c06-gpsm-list  </a:t>
            </a:r>
            <a:pPr indent="0" marL="0">
              <a:spcAft>
                <a:spcPts val="300"/>
              </a:spcAft>
              <a:buNone/>
            </a:pPr>
            <a:r>
              <a:rPr lang="en-US" sz="1050" dirty="0">
                <a:solidFill>
                  <a:srgbClr val="334155"/>
                </a:solidFill>
              </a:rPr>
              <a:t>Microsoft Learn, "List groupPolicySettingMappings" (Microsoft Graph beta), https://learn.microsoft.com/graph/api/intune-gpanalyticsservice-grouppolicysettingmapping-list?view=graph-rest-beta (accessed Oct 30, 2026).</a:t>
            </a:r>
            <a:endParaRPr lang="en-US" sz="1050" dirty="0"/>
          </a:p>
          <a:p>
            <a:pPr indent="0" marL="0">
              <a:spcAft>
                <a:spcPts val="300"/>
              </a:spcAft>
              <a:buNone/>
            </a:pPr>
            <a:r>
              <a:rPr lang="en-US" sz="1050" b="1" dirty="0">
                <a:solidFill>
                  <a:srgbClr val="1F2A44"/>
                </a:solidFill>
              </a:rPr>
              <a:t>c06-gpsm  </a:t>
            </a:r>
            <a:pPr indent="0" marL="0">
              <a:spcAft>
                <a:spcPts val="300"/>
              </a:spcAft>
              <a:buNone/>
            </a:pPr>
            <a:r>
              <a:rPr lang="en-US" sz="1050" dirty="0">
                <a:solidFill>
                  <a:srgbClr val="334155"/>
                </a:solidFill>
              </a:rPr>
              <a:t>Microsoft Learn, "groupPolicySettingMapping resource type" (Microsoft Graph beta), https://learn.microsoft.com/graph/api/resources/intune-gpanalyticsservice-grouppolicysettingmapping?view=graph-rest-beta (accessed Oct 31, 2026).</a:t>
            </a:r>
            <a:endParaRPr lang="en-US" sz="1050" dirty="0"/>
          </a:p>
          <a:p>
            <a:pPr indent="0" marL="0">
              <a:spcAft>
                <a:spcPts val="300"/>
              </a:spcAft>
              <a:buNone/>
            </a:pPr>
            <a:r>
              <a:rPr lang="en-US" sz="1050" b="1" dirty="0">
                <a:solidFill>
                  <a:srgbClr val="1F2A44"/>
                </a:solidFill>
              </a:rPr>
              <a:t>c06-cp-create  </a:t>
            </a:r>
            <a:pPr indent="0" marL="0">
              <a:spcAft>
                <a:spcPts val="300"/>
              </a:spcAft>
              <a:buNone/>
            </a:pPr>
            <a:r>
              <a:rPr lang="en-US" sz="1050" dirty="0">
                <a:solidFill>
                  <a:srgbClr val="334155"/>
                </a:solidFill>
              </a:rPr>
              <a:t>Microsoft Learn, "Create deviceManagementConfigurationPolicy" (Microsoft Graph beta), https://learn.microsoft.com/graph/api/intune-deviceconfigv2-devicemanagementconfigurationpolicy-create?view=graph-rest-beta (accessed Oct 30, 2026).</a:t>
            </a:r>
            <a:endParaRPr lang="en-US" sz="1050" dirty="0"/>
          </a:p>
          <a:p>
            <a:pPr indent="0" marL="0">
              <a:spcAft>
                <a:spcPts val="300"/>
              </a:spcAft>
              <a:buNone/>
            </a:pPr>
            <a:r>
              <a:rPr lang="en-US" sz="1050" b="1" dirty="0">
                <a:solidFill>
                  <a:srgbClr val="1F2A44"/>
                </a:solidFill>
              </a:rPr>
              <a:t>c06-cp-list  </a:t>
            </a:r>
            <a:pPr indent="0" marL="0">
              <a:spcAft>
                <a:spcPts val="300"/>
              </a:spcAft>
              <a:buNone/>
            </a:pPr>
            <a:r>
              <a:rPr lang="en-US" sz="1050" dirty="0">
                <a:solidFill>
                  <a:srgbClr val="334155"/>
                </a:solidFill>
              </a:rPr>
              <a:t>Microsoft Learn, "List deviceManagementConfigurationPolicies" (Microsoft Graph beta), https://learn.microsoft.com/graph/api/intune-deviceconfigv2-devicemanagementconfigurationpolicy-list?view=graph-rest-beta (accessed Oct 30, 2026).</a:t>
            </a:r>
            <a:endParaRPr lang="en-US" sz="1050" dirty="0"/>
          </a:p>
          <a:p>
            <a:pPr indent="0" marL="0">
              <a:spcAft>
                <a:spcPts val="300"/>
              </a:spcAft>
              <a:buNone/>
            </a:pPr>
            <a:r>
              <a:rPr lang="en-US" sz="1050" b="1" dirty="0">
                <a:solidFill>
                  <a:srgbClr val="1F2A44"/>
                </a:solidFill>
              </a:rPr>
              <a:t>c06-setting-update  </a:t>
            </a:r>
            <a:pPr indent="0" marL="0">
              <a:spcAft>
                <a:spcPts val="300"/>
              </a:spcAft>
              <a:buNone/>
            </a:pPr>
            <a:r>
              <a:rPr lang="en-US" sz="1050" dirty="0">
                <a:solidFill>
                  <a:srgbClr val="334155"/>
                </a:solidFill>
              </a:rPr>
              <a:t>Microsoft Learn, "Update deviceManagementConfigurationSetting" (Microsoft Graph beta), https://learn.microsoft.com/graph/api/intune-deviceconfigv2-devicemanagementconfigurationsetting-update?view=graph-rest-beta (accessed Oct 30, 2026).</a:t>
            </a:r>
            <a:endParaRPr lang="en-US" sz="1050" dirty="0"/>
          </a:p>
          <a:p>
            <a:pPr indent="0" marL="0">
              <a:spcAft>
                <a:spcPts val="300"/>
              </a:spcAft>
              <a:buNone/>
            </a:pPr>
            <a:r>
              <a:rPr lang="en-US" sz="1050" b="1" dirty="0">
                <a:solidFill>
                  <a:srgbClr val="1F2A44"/>
                </a:solidFill>
              </a:rPr>
              <a:t>c06-cp-update  </a:t>
            </a:r>
            <a:pPr indent="0" marL="0">
              <a:spcAft>
                <a:spcPts val="300"/>
              </a:spcAft>
              <a:buNone/>
            </a:pPr>
            <a:r>
              <a:rPr lang="en-US" sz="1050" dirty="0">
                <a:solidFill>
                  <a:srgbClr val="334155"/>
                </a:solidFill>
              </a:rPr>
              <a:t>Microsoft Learn, "Update deviceManagementConfigurationPolicy" (Microsoft Graph beta), https://learn.microsoft.com/graph/api/intune-deviceconfigv2-devicemanagementconfigurationpolicy-update?view=graph-rest-beta (accessed Oct 30, 2026).</a:t>
            </a:r>
            <a:endParaRPr lang="en-US" sz="1050" dirty="0"/>
          </a:p>
          <a:p>
            <a:pPr indent="0" marL="0">
              <a:spcAft>
                <a:spcPts val="300"/>
              </a:spcAft>
              <a:buNone/>
            </a:pPr>
            <a:r>
              <a:rPr lang="en-US" sz="1050" b="1" dirty="0">
                <a:solidFill>
                  <a:srgbClr val="1F2A44"/>
                </a:solidFill>
              </a:rPr>
              <a:t>c06-cp-delete  </a:t>
            </a:r>
            <a:pPr indent="0" marL="0">
              <a:spcAft>
                <a:spcPts val="300"/>
              </a:spcAft>
              <a:buNone/>
            </a:pPr>
            <a:r>
              <a:rPr lang="en-US" sz="1050" dirty="0">
                <a:solidFill>
                  <a:srgbClr val="334155"/>
                </a:solidFill>
              </a:rPr>
              <a:t>Microsoft Learn, "Delete deviceManagementConfigurationPolicy" (Microsoft Graph beta), https://learn.microsoft.com/graph/api/intune-deviceconfigv2-devicemanagementconfigurationpolicy-delete?view=graph-rest-beta (accessed Oct 30, 2026).</a:t>
            </a:r>
            <a:endParaRPr lang="en-US" sz="1050" dirty="0"/>
          </a:p>
          <a:p>
            <a:pPr indent="0" marL="0">
              <a:spcAft>
                <a:spcPts val="300"/>
              </a:spcAft>
              <a:buNone/>
            </a:pPr>
            <a:r>
              <a:rPr lang="en-US" sz="1050" b="1" dirty="0">
                <a:solidFill>
                  <a:srgbClr val="1F2A44"/>
                </a:solidFill>
              </a:rPr>
              <a:t>c06-settings-list  </a:t>
            </a:r>
            <a:pPr indent="0" marL="0">
              <a:spcAft>
                <a:spcPts val="300"/>
              </a:spcAft>
              <a:buNone/>
            </a:pPr>
            <a:r>
              <a:rPr lang="en-US" sz="1050" dirty="0">
                <a:solidFill>
                  <a:srgbClr val="334155"/>
                </a:solidFill>
              </a:rPr>
              <a:t>Microsoft Learn, "List deviceManagementConfigurationSettings" (Microsoft Graph beta), https://learn.microsoft.com/graph/api/intune-deviceconfigv2-devicemanagementconfigurationsetting-list?view=graph-rest-beta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(2)</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c06-deployments  </a:t>
            </a:r>
            <a:pPr indent="0" marL="0">
              <a:spcAft>
                <a:spcPts val="300"/>
              </a:spcAft>
              <a:buNone/>
            </a:pPr>
            <a:r>
              <a:rPr lang="en-US" sz="1050" dirty="0">
                <a:solidFill>
                  <a:srgbClr val="334155"/>
                </a:solidFill>
              </a:rPr>
              <a:t>Microsoft Learn, "Microsoft Graph national cloud deployments," section "Microsoft Graph and Graph Explorer service root endpoints," https://learn.microsoft.com/graph/deployments (accessed Oct 30, 2026).</a:t>
            </a:r>
            <a:endParaRPr lang="en-US" sz="1050" dirty="0"/>
          </a:p>
          <a:p>
            <a:pPr indent="0" marL="0">
              <a:spcAft>
                <a:spcPts val="300"/>
              </a:spcAft>
              <a:buNone/>
            </a:pPr>
            <a:r>
              <a:rPr lang="en-US" sz="1050" b="1" dirty="0">
                <a:solidFill>
                  <a:srgbClr val="1F2A44"/>
                </a:solidFill>
              </a:rPr>
              <a:t>c06-mgenv  </a:t>
            </a:r>
            <a:pPr indent="0" marL="0">
              <a:spcAft>
                <a:spcPts val="300"/>
              </a:spcAft>
              <a:buNone/>
            </a:pPr>
            <a:r>
              <a:rPr lang="en-US" sz="1050" dirty="0">
                <a:solidFill>
                  <a:srgbClr val="334155"/>
                </a:solidFill>
              </a:rPr>
              <a:t>Microsoft Learn, "Authentication module cmdlets in Microsoft Graph PowerShell," section "Use Get-MgEnvironment," https://learn.microsoft.com/powershell/microsoftgraph/authentication-commands?view=graph-powershell-1.0; and "Get-MgEnvironment," https://learn.microsoft.com/powershell/module/microsoft.graph.authentication/get-mgenvironment?view=graph-powershell-1.0 (both accessed Oct 30, 2026).</a:t>
            </a:r>
            <a:endParaRPr lang="en-US" sz="1050" dirty="0"/>
          </a:p>
          <a:p>
            <a:pPr indent="0" marL="0">
              <a:spcAft>
                <a:spcPts val="300"/>
              </a:spcAft>
              <a:buNone/>
            </a:pPr>
            <a:r>
              <a:rPr lang="en-US" sz="1050" b="1" dirty="0">
                <a:solidFill>
                  <a:srgbClr val="1F2A44"/>
                </a:solidFill>
              </a:rPr>
              <a:t>c06-govsvc  </a:t>
            </a:r>
            <a:pPr indent="0" marL="0">
              <a:spcAft>
                <a:spcPts val="300"/>
              </a:spcAft>
              <a:buNone/>
            </a:pPr>
            <a:r>
              <a:rPr lang="en-US" sz="1050" dirty="0">
                <a:solidFill>
                  <a:srgbClr val="334155"/>
                </a:solidFill>
              </a:rPr>
              <a:t>Microsoft Learn, "Microsoft Intune for US Government GCC High and DoD service description," section "Intune commercial and government instances," https://learn.microsoft.com/intune/fundamentals/government-service (accessed Oct 30, 2026).</a:t>
            </a:r>
            <a:endParaRPr lang="en-US" sz="1050" dirty="0"/>
          </a:p>
          <a:p>
            <a:pPr indent="0" marL="0">
              <a:spcAft>
                <a:spcPts val="300"/>
              </a:spcAft>
              <a:buNone/>
            </a:pPr>
            <a:r>
              <a:rPr lang="en-US" sz="1050" b="1" dirty="0">
                <a:solidFill>
                  <a:srgbClr val="1F2A44"/>
                </a:solidFill>
              </a:rPr>
              <a:t>c06-govendpoints  </a:t>
            </a:r>
            <a:pPr indent="0" marL="0">
              <a:spcAft>
                <a:spcPts val="300"/>
              </a:spcAft>
              <a:buNone/>
            </a:pPr>
            <a:r>
              <a:rPr lang="en-US" sz="1050" dirty="0">
                <a:solidFill>
                  <a:srgbClr val="334155"/>
                </a:solidFill>
              </a:rPr>
              <a:t>Microsoft Learn, "US government endpoints for Microsoft Intune," section "US Government customer designated endpoints," https://learn.microsoft.com/intune/fundamentals/endpoints-us-government (accessed Oct 30, 2026).</a:t>
            </a:r>
            <a:endParaRPr lang="en-US" sz="1050" dirty="0"/>
          </a:p>
          <a:p>
            <a:pPr indent="0" marL="0">
              <a:spcAft>
                <a:spcPts val="300"/>
              </a:spcAft>
              <a:buNone/>
            </a:pPr>
            <a:r>
              <a:rPr lang="en-US" sz="1050" b="1" dirty="0">
                <a:solidFill>
                  <a:srgbClr val="1F2A44"/>
                </a:solidFill>
              </a:rPr>
              <a:t>c06-setup-migration  </a:t>
            </a:r>
            <a:pPr indent="0" marL="0">
              <a:spcAft>
                <a:spcPts val="300"/>
              </a:spcAft>
              <a:buNone/>
            </a:pPr>
            <a:r>
              <a:rPr lang="en-US" sz="1050" dirty="0">
                <a:solidFill>
                  <a:srgbClr val="334155"/>
                </a:solidFill>
              </a:rPr>
              <a:t>Microsoft Learn, "Migration guide: Set up or move to Microsoft Intune," section "Tenant to tenant migration," https://learn.microsoft.com/intune/fundamentals/setup-migration (accessed Oct 30, 2026).</a:t>
            </a:r>
            <a:endParaRPr lang="en-US" sz="1050" dirty="0"/>
          </a:p>
          <a:p>
            <a:pPr indent="0" marL="0">
              <a:spcAft>
                <a:spcPts val="300"/>
              </a:spcAft>
              <a:buNone/>
            </a:pPr>
            <a:r>
              <a:rPr lang="en-US" sz="1050" b="1" dirty="0">
                <a:solidFill>
                  <a:srgbClr val="1F2A44"/>
                </a:solidFill>
              </a:rPr>
              <a:t>c06-samples-code  </a:t>
            </a:r>
            <a:pPr indent="0" marL="0">
              <a:spcAft>
                <a:spcPts val="300"/>
              </a:spcAft>
              <a:buNone/>
            </a:pPr>
            <a:r>
              <a:rPr lang="en-US" sz="1050" dirty="0">
                <a:solidFill>
                  <a:srgbClr val="334155"/>
                </a:solidFill>
              </a:rPr>
              <a:t>Microsoft, microsoft/mggraph-intune-samples, SettingsCatalog at commit 2e668455288ebc43b7356b2d9b0c537e24c409f4 (September 25, 2026), MIT License, https://github.com/microsoft/mggraph-intune-samples/tree/2e668455288ebc43b7356b2d9b0c537e24c409f4/SettingsCatalog (accessed Oct 30, 2026); pinned copy in examples/third_party/mggraph-intune-samples.</a:t>
            </a:r>
            <a:endParaRPr lang="en-US" sz="1050" dirty="0"/>
          </a:p>
          <a:p>
            <a:pPr indent="0" marL="0">
              <a:spcAft>
                <a:spcPts val="300"/>
              </a:spcAft>
              <a:buNone/>
            </a:pPr>
            <a:r>
              <a:rPr lang="en-US" sz="1050" b="1" dirty="0">
                <a:solidFill>
                  <a:srgbClr val="1F2A44"/>
                </a:solidFill>
              </a:rPr>
              <a:t>c06-roles  </a:t>
            </a:r>
            <a:pPr indent="0" marL="0">
              <a:spcAft>
                <a:spcPts val="300"/>
              </a:spcAft>
              <a:buNone/>
            </a:pPr>
            <a:r>
              <a:rPr lang="en-US" sz="1050" dirty="0">
                <a:solidFill>
                  <a:srgbClr val="334155"/>
                </a:solidFill>
              </a:rPr>
              <a:t>Microsoft Learn, "Role-based access control (RBAC) with Microsoft Intune," section "RBAC Roles," https://learn.microsoft.com/intune/fundamentals/role-based-access-control/overview; and "Built-in role permissions for Microsoft Intune," section "Read Only Operator," https://learn.microsoft.com/intune/fundamentals/role-based-access-control/ref-built-in-roles (both accessed Oct 30, 2026).</a:t>
            </a:r>
            <a:endParaRPr lang="en-US" sz="1050" dirty="0"/>
          </a:p>
          <a:p>
            <a:pPr indent="0" marL="0">
              <a:spcAft>
                <a:spcPts val="300"/>
              </a:spcAft>
              <a:buNone/>
            </a:pPr>
            <a:r>
              <a:rPr lang="en-US" sz="1050" b="1" dirty="0">
                <a:solidFill>
                  <a:srgbClr val="1F2A44"/>
                </a:solidFill>
              </a:rPr>
              <a:t>c06-filters-perf  </a:t>
            </a:r>
            <a:pPr indent="0" marL="0">
              <a:spcAft>
                <a:spcPts val="300"/>
              </a:spcAft>
              <a:buNone/>
            </a:pPr>
            <a:r>
              <a:rPr lang="en-US" sz="1050" dirty="0">
                <a:solidFill>
                  <a:srgbClr val="334155"/>
                </a:solidFill>
              </a:rPr>
              <a:t>Microsoft Learn, "Performance recommendations for grouping, targeting, and filtering in large Microsoft Intune environments," https://learn.microsoft.com/intune/fundamentals/filters/performance-recommendations (accessed Oct 30, 2026).</a:t>
            </a:r>
            <a:endParaRPr lang="en-US" sz="1050" dirty="0"/>
          </a:p>
          <a:p>
            <a:pPr indent="0" marL="0">
              <a:spcAft>
                <a:spcPts val="300"/>
              </a:spcAft>
              <a:buNone/>
            </a:pPr>
            <a:r>
              <a:rPr lang="en-US" sz="1050" b="1" dirty="0">
                <a:solidFill>
                  <a:srgbClr val="1F2A44"/>
                </a:solidFill>
              </a:rPr>
              <a:t>c06-assign  </a:t>
            </a:r>
            <a:pPr indent="0" marL="0">
              <a:spcAft>
                <a:spcPts val="300"/>
              </a:spcAft>
              <a:buNone/>
            </a:pPr>
            <a:r>
              <a:rPr lang="en-US" sz="1050" dirty="0">
                <a:solidFill>
                  <a:srgbClr val="334155"/>
                </a:solidFill>
              </a:rPr>
              <a:t>Microsoft Learn, "Assign policies in Microsoft Intune," section "Exclude groups from a policy assignment," https://learn.microsoft.com/intune/device-configuration/assign-device-profile (accessed Oct 30, 2026).</a:t>
            </a:r>
            <a:endParaRPr lang="en-US" sz="1050" dirty="0"/>
          </a:p>
          <a:p>
            <a:pPr indent="0" marL="0">
              <a:spcAft>
                <a:spcPts val="300"/>
              </a:spcAft>
              <a:buNone/>
            </a:pPr>
            <a:r>
              <a:rPr lang="en-US" sz="1050" b="1" dirty="0">
                <a:solidFill>
                  <a:srgbClr val="1F2A44"/>
                </a:solidFill>
              </a:rPr>
              <a:t>c06-profiles  </a:t>
            </a:r>
            <a:pPr indent="0" marL="0">
              <a:spcAft>
                <a:spcPts val="300"/>
              </a:spcAft>
              <a:buNone/>
            </a:pPr>
            <a:r>
              <a:rPr lang="en-US" sz="1050" dirty="0">
                <a:solidFill>
                  <a:srgbClr val="334155"/>
                </a:solidFill>
              </a:rPr>
              <a:t>Microsoft Learn, "Apply features and settings on your devices using device profiles in Microsoft Intune," section "Handle custom and imported device profile settings," https://learn.microsoft.com/intune/device-configuration/overview (accessed Oct 30, 2026).</a:t>
            </a:r>
            <a:endParaRPr lang="en-US" sz="1050" dirty="0"/>
          </a:p>
          <a:p>
            <a:pPr indent="0" marL="0">
              <a:spcAft>
                <a:spcPts val="300"/>
              </a:spcAft>
              <a:buNone/>
            </a:pPr>
            <a:r>
              <a:rPr lang="en-US" sz="1050" b="1" dirty="0">
                <a:solidFill>
                  <a:srgbClr val="1F2A44"/>
                </a:solidFill>
              </a:rPr>
              <a:t>c06-pde  </a:t>
            </a:r>
            <a:pPr indent="0" marL="0">
              <a:spcAft>
                <a:spcPts val="300"/>
              </a:spcAft>
              <a:buNone/>
            </a:pPr>
            <a:r>
              <a:rPr lang="en-US" sz="1050" dirty="0">
                <a:solidFill>
                  <a:srgbClr val="334155"/>
                </a:solidFill>
              </a:rPr>
              <a:t>Microsoft Learn, "Configure Personal Data Encryption," section "Configure Personal Data Encryption with Microsoft Intune" (its Graph example sets the error reporting, crash dump, live dump, automatic restart sign-in and hibernation settings), https://learn.microsoft.com/windows/security/operating-system-security/data-protection/personal-data-encryption/configure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Attribute-Driven Migration, Chapter 06 — Moving Group Policy as Code</dc:title>
  <dc:subject>PptxGenJS Presentation</dc:subject>
  <dc:creator>Michael F. Stratton</dc:creator>
  <cp:lastModifiedBy>Michael F. Stratton</cp:lastModifiedBy>
  <cp:revision>1</cp:revision>
  <dcterms:created xsi:type="dcterms:W3CDTF">2026-10-31T14:33:34Z</dcterms:created>
  <dcterms:modified xsi:type="dcterms:W3CDTF">2026-10-31T14:33:34Z</dcterms:modified>
</cp:coreProperties>
</file>