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b9dd459-7170-9d03-c824-a885886dd16e}">
          <p14:sldIdLst>
            <p14:sldId id="256"/>
          </p14:sldIdLst>
        </p14:section>
        <p14:section name="Why" id="{d77c0f57-3fa6-f112-b960-7f42435f947d}">
          <p14:sldIdLst>
            <p14:sldId id="257"/>
            <p14:sldId id="258"/>
          </p14:sldIdLst>
        </p14:section>
        <p14:section name="What" id="{5cc9dbc5-6a2d-3490-158a-3b8f7e440153}">
          <p14:sldIdLst>
            <p14:sldId id="259"/>
            <p14:sldId id="260"/>
            <p14:sldId id="261"/>
            <p14:sldId id="262"/>
            <p14:sldId id="263"/>
            <p14:sldId id="264"/>
            <p14:sldId id="265"/>
          </p14:sldIdLst>
        </p14:section>
        <p14:section name="Who" id="{d0c987cc-2dd7-57eb-ee0e-12fdea5301f7}">
          <p14:sldIdLst>
            <p14:sldId id="266"/>
          </p14:sldIdLst>
        </p14:section>
        <p14:section name="How" id="{02711694-0fc2-6cc2-e706-b95f1bc2de81}">
          <p14:sldIdLst>
            <p14:sldId id="267"/>
            <p14:sldId id="268"/>
            <p14:sldId id="269"/>
            <p14:sldId id="270"/>
            <p14:sldId id="271"/>
            <p14:sldId id="272"/>
          </p14:sldIdLst>
        </p14:section>
        <p14:section name="Backup" id="{a850cea8-efa5-8f6a-cd59-2d3a63d4ffd6}">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10, the last one: drift and evidence for the security officer. A register approved once proves only the day it was approved. The security officer needs to know what changed since, who changed it, and that nobody edited the record afterwards. We'll start from the Sentinel rule Learn links for added credentials, see what it misses, then walk the drift run, the approved baseline, the rules, the review cycle, the vintage comparison and the hash chain, two labs and the dangers. One note before we begin: the code is illustrative, tested against fixtures.
Detail: The evidence behind the project plan's tasks N7.1, N7.2 and N7.4 and its Gate 7, "steady state." You start with the Sentinel analytics rule that Learn's security operations guide for applications links for credentials added to existing applications, which the repository keeps as a pinned copy, and run its query offline over fictional audit rows to see what it catches and what it misses. Then you build the drift run in examples/non-person-identity: Chapter 01's register and Chapter 02's ownership check, run together, compared with the last approved baseline by fingerprint, with the credential and consent events from Microsoft Graph's directory audit log and the service principal sign-in activity report. You read the review cycle's records and the other chapters' findings through a small contract, compare one AI use-case inventory vintage with the last, and extend the first workbook's examples/drift-pipeline with new files that package each run in a hash chain and assemble a period for the ISSO. Lab 1 runs on a laptop with no tenant; Lab 2 uses a test tenant. Goal: run the plan's register drift check (N7.1: "ownerless, unused or expiring registrations, passwords that never expire, credentials added outside the pipeline") on a schedule against a baseline someone approved, show the review cycle (N7.2) from the records the reviewing chapters write, and hand the ISSO a package and a period summary for AC-2, AC-6(5), IA-4, IA-5, IA-9 and M-25-21 that they can check with sha256sum alone (N7.4), with the annual inventory vintage comparison beside it.
Sources: Microsoft, Azure/Azure-Sentinel, Solutions/Microsoft Entra ID/Analytic Rules/NewAppOrServicePrincipalCredential.yaml at commit 2985095e602f32c493e43998856ac9bcf1382afd (October 30, 2026; the rule last changed January 8, 2024), MIT License, https://github.com/Azure/Azure-Sentinel/blob/2985095e602f32c493e43998856ac9bcf1382afd/Solutions/Microsoft%20Entra%20ID/Analytic%20Rules/NewAppOrServicePrincipalCredential.yaml (accessed Oct 30, 2026); pinned copy in examples/third_party/sentinel-app-credential-rule.
Workbook: Building Non-Person Identity, Chapter 10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come last? Because everything before it produces state, and state proves only the moment it was read. Four sources already say what the evidence is for. The plan asks for scheduled drift checks, a full review cycle, and evidence for specific controls. Book 2 sets the pattern: commit a baseline, compare every run with it, and close findings at the source. The companion guide maps the controls, while the assessor decides. And Book 17 adds the AI side. The code's job is to turn state, events and an approved baseline into evidence with no gaps.
Detail: Four pages already say what this evidence is for, and this chapter builds it without repeating them. The plan: N7.1 schedules the register drift; N7.2 asks for "a full review cycle: owners' quarterly permission review, sponsors' attestation, expiry-based recertification of agent access"; N7.4 asks for "evidence to the ISSO for AC-2, AC-6(5), IA-4, IA-5 and IA-9, and for M-25-21; the annual inventory vintage comparison scheduled." Gate 7 asks that every service account and service principal has an owner and sponsor, a reason and a target, that none holds a password that never expires and none is orphaned, that drift checks and review cycles run, and that every remaining gMSA and dMSA is moved or in the dated Kerberos island. Book 02, Chapter 10 sets the pattern: inventories committed as a baseline, each later run compared with it, new objects, removed objects and attribute changes as drift, and each finding closed at the source, never by editing the copy. The companion guide's federal requirements map the non-person identity track to AC-2, AC-6(5), IA-4, IA-5 and IA-9, and M-25-21 for AI, as the program's reading; the assessor and the authorizing official decide each control. Book 17 sets the AI side: expiry is the agent's review (Chapter 05), and each new vintage of the AI use-case inventory is compared with the last by use case ID for four kinds of change (Chapter 09). So the run has the same three parts as the first two workbooks' evidence runs. Chapters 01 and 02 describe the state: what exists, who owns it, what it holds. The audit read describes the events in a window: who added a credential or a grant, and whether the pipeline did. A comparison with the approved baseline turns the state into drift, and a chain of windows with no gap between them is what "drift checks running" means in code. Design guidance.
Sources: Building Non-Person Identity, Chapter 10, docs/project-plans/developer-workbooks/non-person-identity/10-drift-and-evidence.md
Workbook: Building Non-Person Identity, Chapter 10 — “What the evidence has to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gives the facts the design turns on. A credential added to an existing app is high risk, and one added outside the expected process could be an attacker's. Learn names the exact audit events, keeps the log for thirty days with a premium license, and defines expiring as within thirty days and unused as over ninety. For this estate, Graph is the worldwide endpoint. One report, the service principal sign-in activity, is beta and worldwide only, so in the higher clouds the code records it as not read. And the other chapters feed in through a small contract.
Detail: Learn's security operations guide for applications rates credentials added to existing applications as high risk, says any credential added outside expected processes could be a malicious actor's, and says application and service principal updates are logged as two entries. Its activity list names the events: Update application - Certificates and secrets management, Add service principal credentials, Consent to application, Add delegated permission grant and Add app role assignment to service principal, all logged by Core Directory in the ApplicationManagement category. Audit logs are kept 30 days with Microsoft Entra ID P1 or P2, and seven on Free. Learn's recommendations call an application credential expiring when it ends within the next 30 days, and an application unused when it hasn't been used for over 90 days. Which cloud: the audit and sign-in reads call Microsoft Graph: graph.microsoft.com for GCC, which uses the worldwide endpoints; GCC High uses graph.microsoft.us and DoD dod-graph.microsoft.us. List directoryAudits is available in the global service, US Government L4 and US Government L5. The service principal sign-in activity report is beta and is listed for the global service only, not L4 or L5, so a GCC tenant can read it on the worldwide endpoint, and a GCC High or DoD run doesn't send the call and records the unused check as not read (research gaps, row 93). The run takes the cloud as a required parameter with no default and uses Chapter 01's reader, which sends the token only to that cloud's host. The contract: Chapters 03 to 09 are written alongside this one, and their outputs aren't fixed. This chapter reads Chapter 01's and Chapter 02's run folders directly, and defines a small contract the others can write to: a findings file with id, rule, severity, chapter, objectKey and fingerprint, review records, and the rotation pipeline's credential log. Until a chapter writes its file, the run says so, and the period marks the controls that depend on it as incomplete.
Sources: Microsoft Learn, "Microsoft Entra security operations guide for applications," application credentials; application permissions; end-user consent, https://learn.microsoft.com/entra/architecture/security-operations-applications (accessed Oct 30, 2026). · Microsoft Learn, "Microsoft Entra audit log categories and activities," Core Directory, https://learn.microsoft.com/entra/identity/monitoring-health/reference-audit-activities (accessed Oct 30, 2026; source checked in MicrosoftDocs/entra-docs). · Microsoft Learn, "Microsoft Entra data retention," activity reports, https://learn.microsoft.com/entra/identity/monitoring-health/reference-reports-data-retention (accessed Oct 30, 2026). · Microsoft Learn, "Microsoft Entra recommendation: Renew expiring application credentials (preview)," description, https://learn.microsoft.com/entra/identity/monitoring-health/recommendation-renew-expiring-application-credential (accessed Oct 30, 2026). · Microsoft Learn, "Microsoft Entra recommendation: Remove unused applications (preview)," description and action plan, https://learn.microsoft.com/entra/identity/monitoring-health/recommendation-remove-unused-apps (accessed Oct 30, 2026). · Microsoft Learn, "Microsoft Graph national cloud deployments," https://learn.microsoft.com/graph/deployments (accessed Oct 30, 2026; read for Chapter 01). · Microsoft Learn, "List directoryAudits," https://learn.microsoft.com/graph/api/directoryaudit-list?view=graph-rest-1.0 (accessed Oct 30, 2026). · Microsoft Learn, "List servicePrincipalSignInActivities," https://learn.microsoft.com/graph/api/reportroot-list-serviceprincipalsigninactivities?view=graph-rest-beta (accessed Oct 30, 2026).
Workbook: Building Non-Person Identity, Chapter 10 — “What the evidence has to show” — Learn's facts; “Which cloud, for this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Microsoft's starting point is the security operations guide for applications. It says what to watch, where to find it in the audit log, and when to alert: outside normal hours or workflows. And it links a ready-made Sentinel rule for new credentials added to an app or service principal. That rule lives in Microsoft's Sentinel repository, so it's pinned unmodified, with checked hashes and a weekly watch. A harness then splits the query into its twenty stages and runs each one over ten fictional audit rows. An unfamiliar stage throws, so an upstream change fails the tests rather than being half-run.
Detail: Learn's Microsoft Entra security operations guide for applications is Microsoft's procedure for this chapter. Its "Application credentials" table says what to monitor (credentials added to existing applications, high risk; credentials with lifetimes longer than policy allows, medium), where (the audit log, filtered to Core Directory and ApplicationManagement), and when to alert ("outside of normal business hours or workflows"), and it links a pre-built Microsoft Sentinel rule, New access credential added to Application or Service Principal. Its "Application permissions" and "End-user consent" tables name the consent and grant activities to watch. Learn's List directoryAudits gives the Graph read and its filters, and the recommendations for expiring credentials and unused applications give the thresholds. The pinned copy: the query lives in Microsoft's Azure-Sentinel repository, so the repository pins the rule, unmodified, in examples/third_party/sentinel-app-credential-rule: Solutions/Microsoft Entra ID/Analytic Rules/NewAppOrServicePrincipalCredential.yaml at commit 2985095 (October 30, 2026), retrieved October 30, 2026, MIT. Learn links the rule's earlier path, which upstream now keeps as a stub pointing to this one. snapshot.json records each file's SHA-256 and upstream git blob hash, checked with gh api before the manifest was written; a unit test checks the hashes, and the weekly source watch reports new commits to the rule. tests/SentinelRuleHarness.ps1 reads the query from the pinned YAML at test time, splits it into its 20 pipeline stages, and evaluates each one it recognizes by its exact text over tests/fixtures/ch10/audit.json, ten fictional audit items shaped as the AuditLogs table's columns. A stage it doesn't recognize throws, so a new upstream query fails the tests instead of being half-run. It isn't a KQL engine, and nothing is sent to a workspace.
Sources: Microsoft Learn, "Microsoft Entra security operations guide for applications," application credentials; application permissions; end-user consent, https://learn.microsoft.com/entra/architecture/security-operations-applications (accessed Oct 30, 2026). · Microsoft Learn, "List directoryAudits," https://learn.microsoft.com/graph/api/directoryaudit-list?view=graph-rest-1.0 (accessed Oct 30, 2026). · Microsoft Learn, "Microsoft Entra recommendation: Renew expiring application credentials (preview)," description, https://learn.microsoft.com/entra/identity/monitoring-health/recommendation-renew-expiring-application-credential (accessed Oct 30, 2026). · Microsoft Learn, "Microsoft Entra recommendation: Remove unused applications (preview)," description and action plan, https://learn.microsoft.com/entra/identity/monitoring-health/recommendation-remove-unused-apps (accessed Oct 30, 2026). · Microsoft, Azure/Azure-Sentinel, Solutions/Microsoft Entra ID/Analytic Rules/NewAppOrServicePrincipalCredential.yaml at commit 2985095e602f32c493e43998856ac9bcf1382afd (October 30, 2026; the rule last changed January 8, 2024), MIT License, https://github.com/Azure/Azure-Sentinel/blob/2985095e602f32c493e43998856ac9bcf1382afd/Solutions/Microsoft%20Entra%20ID/Analytic%20Rules/NewAppOrServicePrincipalCredential.yaml (accessed Oct 30, 2026); pinned copy in examples/third_party/sentinel-app-credential-rule.
Workbook: Building Non-Person Identity, Chapter 10 —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over the fixture, the rule does catch the obvious case: a person adding a secret to an app that already had a certificate. But three filters make it blind in the riskiest places. It only looks at initiators with an at sign, so a credential added by an app is never seen, including an app abusing a broad permission. It drops events where the old key list was empty, so the very first secret on an app vanishes. And it keeps only application targets, so a credential added to a service principal is dropped too.
Detail: Each row is pinned by a test: in the "as published" block of tests/NpiDrift.Tests.ps1 for the sample, and in the rest of that file or in examples/drift-pipeline/tests/test_npi_evidence.py for the code. Finds the client secret a person added to HR Connector, an app that already had a certificate: kept as the model: the activity names and the KeyDescription key list, read from the same events (NPI-DRF-07). Requires the initiator to carry an "@": a user principal name, or an app whose display name has one: a credential added by an app, whether the rotation pipeline or an app holding Application.ReadWrite.All (here Mail Automation adding a secret to Payroll Export), is never seen; every initiator is read, user or app; the pipeline is named in a reviewed list, not inferred. Keeps only events whose old key list isn't empty: the first secret on an app that had none, the riskiest kind, is dropped; every added key ID, compared old against new. Keeps only targets of type Application, even when a person adds the credential: a credential added to a service principal (Add service principal credentials) is dropped; Learn notes such updates are logged as separate entries; service principal targets resolved to the app registration's register row.
Sources: Microsoft Learn, "Microsoft Entra security operations guide for applications," application credentials; application permissions; end-user consent, https://learn.microsoft.com/entra/architecture/security-operations-applications (accessed Oct 30, 2026). · Microsoft, Azure/Azure-Sentinel, Solutions/Microsoft Entra ID/Analytic Rules/NewAppOrServicePrincipalCredential.yaml at commit 2985095e602f32c493e43998856ac9bcf1382afd (October 30, 2026; the rule last changed January 8, 2024), MIT License, https://github.com/Azure/Azure-Sentinel/blob/2985095e602f32c493e43998856ac9bcf1382afd/Solutions/Microsoft%20Entra%20ID/Analytic%20Rules/NewAppOrServicePrincipalCredential.yaml (accessed Oct 30, 2026); pinned copy in examples/third_party/sentinel-app-credential-rule.
Workbook: Building Non-Person Identity, Chapter 10 — “What it leaves to you”, rows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gaps are about noise, privacy and scope. The rule knows nothing about the pipeline, so every legitimate rotation alerts, and soon nobody reads the alerts. It parses only the first key in an event. It carries people's names into the alert, wherever that goes. And it needs a Sentinel workspace before any evidence exists, while covering only one of the plan's five drift items. So the verdict: use the rule's activity names and its key comparison as the model, and don't use it as the drift check.
Detail: Alerts on the pipeline's own rotation when a person runs it: it knows no pipeline and no change record, so every rotation alerts and the alert is ignored; the code counts a key inside the pipeline only when the initiator is a listed pipeline identity and the key is in the pipeline's credential log (Chapter 04). Parses only the first of several credentials added in one event: a second key added at the same moment is missed; every key in the difference. Carries the initiator's user principal name into the alert, split into Name and UPNSuffix: names travel wherever the alert goes; events kept as object IDs and key IDs; names dropped. Looks back one hour, in a Sentinel workspace, with no link to the register, the owners, the expiry or the consent grants: needs the workspace and its diagnostic setting before any evidence exists, and says nothing about the rest of N7.1; the Graph audit read with AuditLog.Read.All, refused past the 30 days the log keeps, joined to the register, the baseline and Chapter 02's ownership check. The verdict: use Learn's activity names and the rule's KeyDescription comparison as the model for the credential read. Don't use the rule as the N7.1 check: it misses app-initiated and first credentials and service principal targets, can't tell the pipeline from an attacker, and covers one item of five.
Sources: Microsoft Learn, "Microsoft Entra data retention," activity reports, https://learn.microsoft.com/entra/identity/monitoring-health/reference-reports-data-retention (accessed Oct 30, 2026). · Microsoft, Azure/Azure-Sentinel, Solutions/Microsoft Entra ID/Analytic Rules/NewAppOrServicePrincipalCredential.yaml at commit 2985095e602f32c493e43998856ac9bcf1382afd (October 30, 2026; the rule last changed January 8, 2024), MIT License, https://github.com/Azure/Azure-Sentinel/blob/2985095e602f32c493e43998856ac9bcf1382afd/Solutions/Microsoft%20Entra%20ID/Analytic%20Rules/NewAppOrServicePrincipalCredential.yaml (accessed Oct 30, 2026); pinned copy in examples/third_party/sentinel-app-credential-rule.
Workbook: Building Non-Person Identity, Chapter 10 — “What it leaves to you”, rows 5–8;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build? One run, written as one folder: Chapter 1's inventory and Chapter 2's ownership check, unchanged, plus this chapter's drift folder and a run record that ties them together by hash. A task that fails is recorded as an error, never as an empty result. The baseline is a fingerprint per identity over twenty governance columns, leaving out things like last logon that change daily, and it counts only once a reviewer approves its hash. The audit read is narrow: declared calls only, thirty days at most, and identifiers, not names.
Detail: The run is two pieces, each in its own files. examples/non-person-identity gains Invoke-NpiDriftRun.ps1, Invoke-NpiVintage.ps1, the module powershell/NpiDrift/NpiDrift.psm1, the call list config/calls-ch10.json, the thresholds config/drift-ch10.json, the contract notes docs/ch10-contract.md and its tests. examples/drift-pipeline gains python/npi_evidence.py, workflow/npi-evidence.yml, tests/test_npi_evidence.py and two fixture folders, as new files: drift_pipeline.py, pa_evidence.py and their tests are unchanged, and npi_evidence.py imports their hashing, JSON, fingerprint, refusal, row-reading and time helpers. Chapter 01's and Chapter 02's modules, scripts and tests are unchanged too. The run: Invoke-NpiDriftRun.ps1 -Cloud gcc -TenantId &lt;id&gt; writes one folder per run, named by its time and mode, such as 2026-10-30T0600Z-fixture: inventory/, written by Chapter 01's Invoke-NpiInventory.ps1, unchanged; ownership/, written by Chapter 02's Invoke-NpiOwnership.ps1, unchanged (its orphan plan is written and nothing is sent); drift/, this chapter's: events.json, signin-activity.json, findings.json, chapter-findings.json, review-cycle.json, summary.json, baseline-candidate.json and a manifest.json; run.json: the run ID, the as-of time, the cloud, the tenant ID, the mode, the audit window, the approved baseline's run and SHA-256, the permissions, and each task's status with the SHA-256 of its manifest. The cloud and the tenant ID are required. In a live run the tenant ID must match the Graph session's. A task that fails is recorded as Error in run.json and leaves no folder; the drift task needs the inventory, so it fails with it. The audit window runs from -Since (by default 24 hours before -AsOf) to -AsOf; the sample workflow starts each window where the last package's ended. The approved baseline: a run without -BaselinePath compares with nothing and writes drift/baseline-candidate.json: each identity's fingerprint, a SHA-256 over 20 governance columns of its register row (owners, record, credentials and their next expiry, federated subjects, Graph permissions, grants, tenant-wide consent, privileged groups, delegation, SPNs, enabled), with the tenant, cloud, run and register hash. Last logon, password age and the stale lead are left out: they move every day and aren't drift. A reviewer approves a candidate by passing its SHA-256 to the next run as -ApprovedBaselineSha256; the run refuses a baseline whose hash differs, or that is for another tenant or cloud. Design guidance, following Book 02's committed baseline. The reads: Get-NpiAuditEvent reads GET /v1.0/auditLogs/directoryAudits once for each activity name in config/drift-ch10.json, filtered by activityDateTime (ge, le) and activityDisplayName (eq), the filters Learn's directoryAudit resource page lists. It goes through Chapter 01's reader, so the call must be declared, is a GET, goes only to the cloud's Graph host, and follows every page. It refuses a window that starts more than 30 days before the run. Each event is kept as IDs: the activity and its class, the result, the initiator (user ID or app service principal ID), the target, and the key IDs, types and usages added or removed. Names and key display names are dropped. Get-NpiSignInActivity reads GET /beta/reports/servicePrincipalSignInActivities for each app's last sign-in, in clouds where Learn lists it.
Sources: Microsoft Learn, "directoryAudit resource type," properties, https://learn.microsoft.com/graph/api/resources/directoryaudit?view=graph-rest-1.0 (accessed Oct 30, 2026). · Microsoft Learn, "Microsoft Entra data retention," activity reports, https://learn.microsoft.com/entra/identity/monitoring-health/reference-reports-data-retention (accessed Oct 30, 2026). · Microsoft Learn, "List servicePrincipalSignInActivities," https://learn.microsoft.com/graph/api/reportroot-list-serviceprincipalsigninactivities?view=graph-rest-beta (accessed Oct 30, 2026).
Workbook: Building Non-Person Identity, Chapter 10 — “The code”; “The run”; “The approved baseline”; “The audit and sign-in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drift rules run against the approved baseline. New and changed identities are warnings, with the exact columns that changed. Ownerless identities, passwords that never expire, and credentials added outside the pipeline are findings. Unused and expiring use Learn's ninety and thirty days. A new broad grant is a finding. And the ninth rule is the honest one: any gap in the evidence is reported, never treated as a pass. The key rule is what counts as the pipeline: both a listed identity and a logged key, so a stolen pipeline credential still shows up.
Detail: NPI-DRF-01 Warn: an identity new since the approved baseline (Book 02, Chapter 10: new objects are drift). NPI-DRF-02 Warn; Info when removed: an identity whose fingerprint changed, with the columns that changed; one in the baseline that is gone (Book 02, Chapter 10: attribute changes and removed objects). NPI-DRF-03 Finding: ownerless: an orphan candidate in Chapter 02's run. The orphan rule decides; this code disables nothing (plan N7.1; Chapter 02). NPI-DRF-04 Warn: an app registration or legacy service principal with no sign-in for over 90 days, or none at all; one new since the baseline isn't judged (Learn: unused for over 90 days). NPI-DRF-05 Warn: a credential that expires within 30 days (Learn: expiring within the next 30 days). NPI-DRF-06 Finding: an enabled AD account whose password never expires, except one found only that way (Chapter 02, NPI-OWN-09) (plan N7.1 and Gate 7: none). NPI-DRF-07 Finding: a credential added outside the pipeline, one per key (Learn: credentials added outside expected processes, high). NPI-DRF-08 Finding when tenant-wide or a high-privilege Graph permission; Warn otherwise: a new consent grant or application permission, from the baseline and the audit events (Learn: grants of highly privileged permissions, high). NPI-DRF-09 Warn or Info: an evidence gap: a contract file refused, a chapter that sent nothing, the sign-in report unavailable in the cloud, the ownership check failed (design guidance). Every finding has the stable ID Chapters 01 and 02 use, &lt;rule&gt;:&lt;objectKey&gt;, and a fingerprint: the first 16 hex characters of SHA-256 over &lt;rule&gt;|&lt;objectKey&gt;|, the first workbook's fingerprint() with an empty issue, so the fingerprint stays the same however the issue text changes. Chapters 03 to 09 compute it the same way, and npi_evidence.py checks every one. Inside the pipeline: a credential counts as the pipeline's only when two independent records agree: the event's initiator is a service principal in the reviewed pipeline-identities.csv, and the target and key ID are in the credential log Chapter 04's rotation pipeline writes. The pipeline's identity adding a key it didn't log, or a person adding a key the log lists, is still NPI-DRF-07 (research gaps, row 96). Design guidance.
Sources: Microsoft Learn, "Microsoft Entra recommendation: Remove unused applications (preview)," description and action plan, https://learn.microsoft.com/entra/identity/monitoring-health/recommendation-remove-unused-apps (accessed Oct 30, 2026). · Microsoft Learn, "Microsoft Entra recommendation: Renew expiring application credentials (preview)," description, https://learn.microsoft.com/entra/identity/monitoring-health/recommendation-renew-expiring-application-credential (accessed Oct 30, 2026). · Microsoft Learn, "Microsoft Entra security operations guide for applications," application credentials; application permissions; end-user consent, https://learn.microsoft.com/entra/architecture/security-operations-applications (accessed Oct 30, 2026).
Workbook: Building Non-Person Identity, Chapter 10 — “The register drift findings”; “Inside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kinds of evidence sit beside the drift. The review cycle belongs to the identity governance officer: the reviews are built in Chapters 7 and 9, and this chapter only reads their records. It flags an app whose owners haven't reviewed it this quarter, an agent whose sponsor hasn't attested this year, and agent access with no end date. And crucially, a missing record isn't a passed review. Then once a year, the AI use-case inventory is compared with last year's, catching new systems with no identity, and retired ones whose identities are still switched on.
Detail: The review cycle: N7.2 is the identity governance officer's. Chapters 07 and 09 build the reviews; this chapter reads only their records, through the contract's fmp-npi-review/1 files, and writes review-cycle.json: for each app registration, legacy service principal, agent identity and blueprint, the last owners' permission review, the last sponsor attestation, and the agent's access assignments with their next expiry. NPI-REV-01 Finding: an app registration holding Graph permissions with no owners' permission review in the last 92 days (plan N7.2: quarterly; design guidance for the days). NPI-REV-02 Finding: an agent identity or blueprint with no sponsor attestation in the last 365 days (Learn: sponsors attest every six to twelve months). NPI-REV-03 Finding: an agent access assignment with no end date, an end more than 365 days away, or recorded as active after it (Book 17, Chapter 05: expiry is the review; no agent access without an end date; research gaps, row 97). NPI-REV-04 Warn: a kind of review record not received this run (design guidance: a missing record isn't a passed review). The annual vintage comparison: Invoke-NpiVintage.ps1 compares this year's AI use-case inventory vintage with last year's by use case ID, Book 17, Chapter 09's four changes, and joins both to the register through a use-case map (UseCaseId, RecordId) and Chapter 02's service records. It writes vintage-&lt;year&gt;/ with its findings, the changes and a manifest holding the register's and each input's SHA-256. NPI-VIN-01 Finding; Info when matched: a new piloted or deployed entry with no identity in the register. NPI-VIN-02 Finding: an entry retired whose identities are still enabled: start the leaver process. NPI-VIN-03 Warn: an authorization answer changed. NPI-VIN-04 Finding: an entry that left the inventory without being reported as retired. NPI-VIN-05 Warn: an agent identity, blueprint or AI record whose record maps to no use case in this vintage. The first four are Book 17, Chapter 09's; the fifth is its "identity with no inventory row" check, run against the register. Learn's agent best practices also call for a quarterly review for missing sponsors, outdated metadata or no recent activity.
Sources: Microsoft Learn, "Best practices for Microsoft Entra Agent ID," govern the agent lifecycle, https://learn.microsoft.com/entra/agent-id/best-practices-agent-id (accessed Oct 30, 2026). · Microsoft Learn, "Microsoft Entra releases and announcements," April 2026, https://learn.microsoft.com/entra/fundamentals/whats-new#april-2026, and "What is Microsoft Entra Agent ID?," https://learn.microsoft.com/entra/agent-id/what-is-microsoft-entra-agent-id (both accessed Oct 31, 2026).
Workbook: Building Non-Person Identity, Chapter 10 — “The review cycle”; “The annual vintage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security officer actually receives. Each run is packaged with a summary that carries rule IDs and fingerprints but no names, and a checksum file anyone can verify with a standard tool. Before packaging, the run itself is checked end to end. Each package records the previous package's hash, so the packages form a chain, and a replaced package or a missing day shows up as a break. Then a period summary verifies every package, checks for gaps, and maps findings to each control as evidence. The assessor, not the code, decides each control.
Detail: npi_evidence.py package writes &lt;run-id&gt;/ with the run as written (run/), a summary.md with rule IDs, object keys and fingerprints but no names, an EVIDENCE-MANIFEST.json and a SHA256SUMS that sha256sum -c reads. It checks the run first, as the first two workbooks' pipelines do: run.json, each task manifest by its hash, every file against its manifest, nothing extra, every recorded request a GET or a Get-AD* read, one tenant, cloud and mode throughout, and every finding's fingerprint. The manifest records the run, the cloud, the tenant ID, the mode, the audit window, the approved baseline, each task's status, the run.json hash, the GitHub run identifiers when there are any, every open finding from every chapter by fingerprint, what opened and what closed since the previous package, a SHA-256 and size for every file, and the previous package's run ID and manifest hash. That last hash makes the packages a chain: a replaced package or a missing day shows up as a break. The same inputs give the same bytes. verify is what the ISSO runs. The packager doesn't sign, for the reason the first workbook gives: the hashes show nothing changed after packaging, and a container with a locked time-based retention policy keeps blobs from being modified or deleted until the interval ends. Signing stays the ISSO's choice (research gaps, row 99). What the ISSO receives: npi_evidence.py period --since &lt;start&gt; --until &lt;end&gt; [--vintage &lt;dir&gt;] is the plan's N7.4. It verifies every package whose window falls in the period, checks the chain and that the windows cover the period with no gap, lists the findings opened and closed by fingerprint, and writes PERIOD-MANIFEST.json, period-summary.md and SHA256SUMS. The packages stay where they are, cited by their manifest hashes. Controls (design guidance): AC-2 Account Management: NPI-INV-02, -03; NPI-OWN-01, -02, -08; NPI-DRF-01 to -04; NPI-REV-02; Chapter 03. AC-6(5) Privileged Accounts: NPI-INV-01, -06; NPI-DRF-08; NPI-REV-01; Chapter 07. IA-4 Identifier Management: NPI-OWN-06, -07; NPI-INV-09; NPI-DRF-01; NPI-VIN-01, -05. IA-5 Authenticator Management: NPI-INV-04, -05; NPI-DRF-05 to -07; Chapters 04 and 06. IA-9 Service Identification and Authentication: NPI-DRF-07; Chapters 05 and 08. M-25-21: NPI-REV-02, -03; NPI-VIN-01 to -05; Chapter 09; the vintage comparison. For each control the period gives the open Findings and Warns at the period's end and the sources it didn't receive; its status is "evidence present; the assessor decides" or "evidence incomplete." The mapping is the program's reading, from the companion guide; it decides nothing about the control (research gaps, row 98). The schedule: workflow/npi-evidence.yml is a sample GitHub Actions workflow, not active in this repository. It follows the first workbook's: Learn's Azure Login sign-in with a federated credential and no secret, pinned actions, and a job that can request a token but write nothing else. It runs daily, starts each audit window where the last package's ended, fetches the approved baseline and its SHA-256 from repository settings, and on the first of the month assembles the previous month's period. It skips the Active Directory reads, which need a runner inside the domain. The first workbook's workflow_lint.py checks it with no findings. The plan doesn't set a frequency for N7.1; daily is the sample's choice. Design guidance.
Sources: Microsoft Learn, "Store business-critical blob data with immutable storage in a write once, read many (WORM) state," https://learn.microsoft.com/azure/storage/blobs/immutable-storage-overview (accessed Oct 30, 2026; read for the first workbook's Chapter 09). · Microsoft Learn, "Use the Azure Login action with OpenID Connect," https://learn.microsoft.com/azure/developer/github/connect-from-azure-openid-connect (accessed Oct 31, 2026).
Workbook: Building Non-Person Identity, Chapter 10 — “The package and the chain”; “What the ISSO receives”; “The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Developers and pipeline engineers own the scheduled checks. The identity governance officer owns the review cycle and the evidence, and signs the period summary. And the security officer receives it, verifies it with nothing more than a checksum tool, and signs the gate. The permissions are deliberately small. This chapter adds only the audit log read; the whole run, together with Chapters 1 and 2, needs four Graph read permissions, Reader on the managed identities, and the default directory read. None of it can write.
Detail: Audience: developers and pipeline engineers who own the scheduled checks, the identity governance officer who owns N7.2 and N7.4, and the ISSO who receives the evidence and signs Gate 7. You should read PowerShell 7 and Python and know Chapters 01 and 02. You don't need a tenant until Lab 2. drift (read): List directoryAudits; List servicePrincipalSignInActivities (beta); AuditLog.Read.All; Reports Reader, Security Reader or Security Administrator. With Chapter 01's inventory and Chapter 02's ownership tasks, the run needs four Graph application permissions (Application.Read.All, AuditLog.Read.All, Directory.Read.All, User.Read.All), none a write, Reader on the user-assigned identities, and the default Active Directory read. Directory.Read.All is Chapter 01's, for delegated permission grants (Chapter 01's research gaps, row 5); this chapter adds nothing broader than AuditLog.Read.All. Verified facts: List directoryAudits: GET /auditLogs/directoryAudits; AuditLog.Read.All (higher: Directory.Read.All); delegated roles Reports Reader, Security Administrator, Security Reader; $filter (eq, ge, le, startswith), $top, $orderby, skiptoken; L4 and L5; v1.0. List servicePrincipalSignInActivities: GET /reports/servicePrincipalSignInActivities; AuditLog.Read.All (higher: Directory.Read.All); Reports Reader, Security Reader, Security Administrator; global service only, L4 and L5 not available; beta.
Sources: Microsoft Learn, "List directoryAudits," https://learn.microsoft.com/graph/api/directoryaudit-list?view=graph-rest-1.0 (accessed Oct 30, 2026). · Microsoft Learn, "List servicePrincipalSignInActivities," https://learn.microsoft.com/graph/api/reportroot-list-serviceprincipalsigninactivities?view=graph-rest-beta (accessed Oct 30, 2026).
Workbook: Building Non-Person Identity, Chapter 10 — “Goal and audience”; “The audit and sign-in reads” — the task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PowerShell and Python on a laptop, and nothing else. First, run Microsoft's rule over the fixture: of four credentials added on the second day, it finds one. Then confirm the run needs four read permissions and nothing that writes. Run the first day with no baseline, and it writes a baseline candidate with its hash. In real life a second person reviews that candidate and passes you the hash. Then run the second day against the approved baseline, and the drift appears: more findings and more warnings than day one.
Detail: You need PowerShell 7.1 or later with Pester 5, Python 3.10 or later with pytest and PyYAML, and a shell with sha256sum (Linux, macOS or Git Bash). Steps 1 to 6 run in examples/non-person-identity in PowerShell; steps 7 to 10 in examples/drift-pipeline in a POSIX shell. Step 1, run Microsoft's rule over the fixture: Invoke-Pester -Path tests/NpiDrift.Tests.ps1 -FullNameFilter '*as published*' -Output None -PassThru | Select-Object PassedCount, FailedCount, NotRunCount gives PassedCount 11, FailedCount 0, NotRunCount 40. Read the third and fifth tests: of the four credentials added in the second day's window, the rule finds one. Step 2, list what the run needs: Import-Module ./powershell/NpiDrift/NpiDrift.psm1; (Get-NpiDriftPermission -Task drift-run).GraphPermissions -join ', ' gives Application.Read.All, AuditLog.Read.All, Directory.Read.All, User.Read.All. The drift task alone needs AuditLog.Read.All. Nothing ends in ReadWrite. Step 3, run the first day, with no baseline: $lab holds Cloud gcc, TenantId c0ffee00-0000-4000-8000-000000000001, OutputPath out/runs, InputPath tests/fixtures/inputs, AuditFixturePath tests/fixtures/ch10/audit.json, SignInFixturePath tests/fixtures/ch10/signin-activity.json, ContractPath tests/fixtures/ch10/contract, PipelineIdentitiesPath tests/fixtures/ch10/inputs/pipeline-identities.csv; then ./Invoke-NpiDriftRun.ps1 @lab -FixturePath tests/fixtures/ch10/estate-day1.json -AsOf 2026-10-29T06:00:00Z. Output: Run 2026-10-29T0600Z-fixture (Fixture, gcc): inventory OK, ownership OK, drift OK. Audit window 2026-10-28T06:00:00Z to 2026-10-29T06:00:00Z; baseline none: this run is a baseline candidate. Drift findings: 14 Finding, 4 Warn, 5 Info; baseline candidate SHA-256 604ee088ae43a964072671234833aeb71bccd082fa9ce4032a55d2fc4b146cc8. Step 4, approve the baseline and run the second day: $base = 'out/runs/2026-10-29T0600Z-fixture/drift/baseline-candidate.json'; $sha = (Get-FileHash $base -Algorithm SHA256).Hash.ToLower(); ./Invoke-NpiDriftRun.ps1 @lab -FixturePath tests/fixtures/ch10/estate-day2.json -AsOf 2026-10-30T06:00:00Z -BaselinePath $base -ApprovedBaselineSha256 $sha. Output: Run 2026-10-30T0600Z-fixture (Fixture, gcc): inventory OK, ownership OK, drift OK. Audit window 2026-10-29T06:00:00Z to 2026-10-30T06:00:00Z; baseline 2026-10-29T0600Z-fixture (604ee088ae43…). Drift findings: 18 Finding, 11 Warn, 5 Info; baseline candidate SHA-256 fbe346457c070d6bb7de0fbb43f35d54315b42d46e6ba26b245d33efa6dc840c. In a real run a second person reviews the candidate and passes you its hash. The candidate records the register's SHA-256, and every chapter writes LF line endings on every platform, so the two hashes are the same on Windows, Linux and macOS. The commands run Microsoft's pinned Sentinel rule over fictional audit rows, and the example against a fictional estate served by fakes. The sample workflow has been parsed and linted, not run.
Sources: Building Non-Person Identity, Chapter 10, docs/project-plans/developer-workbooks/non-person-identity/10-drift-and-evidence.md
Workbook: Building Non-Person Identity, Chapter 10 — “Lab 1: fixtures, no tenant,” steps 1–4;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day two's drift, the three credentials the rule couldn't see are all there: one added by a person, one added by another app abusing a broad permission, and the very first secret on an app. Just as important is what's missing: the pipeline's own two rotations, because both the identity and the key log agree. An expiring certificate from day one is gone, because it was rotated. A chapter file with a forged fingerprint is refused. Then the vintage comparison finds a new deployed agent with no identity, and a retired use case whose app is still enabled.
Detail: Step 5, read the drift (findings.json grouped by rule and severity): NPI-DRF-01 Warn 2; NPI-DRF-02 Warn 6; NPI-DRF-03 Finding 7; NPI-DRF-04 Warn 2; NPI-DRF-06 Finding 3; NPI-DRF-07 Finding 3; NPI-DRF-08 Finding 1; NPI-DRF-09 Info 5; NPI-DRF-09 Warn 1; NPI-REV-01 Finding 2; NPI-REV-02 Finding 1; NPI-REV-03 Finding 1. NPI-DRF-07 holds the three credentials added outside the pipeline: a secret a person added to HR Connector, a secret Mail Automation added to Payroll Export's service principal, and the first secret on Build Pipeline. The pipeline's two certificate rotations, on Deploy Bot and Vendor Portal, aren't there: both are by the listed identity and in the credential log. Vendor Portal's expiring certificate (NPI-DRF-05 on day 1) is gone. NPI-DRF-08 is Mail Automation's new grant for all users, with the two audit events behind it. NPI-DRF-04 is Legacy Reports (last sign-in May 1) and Old SAML Connector (none); Survey Tool, new since the baseline, isn't judged. NPI-DRF-09's Warn is the sample Chapter 05 file, refused because its fingerprint is wrong; its Infos are the five chapters that sent nothing. Open events.json: object IDs and key IDs, no names. Open review-cycle.json: Payroll Export's last owners' review is 2026-09-15; Mail Automation's, 2026-05-01, is too old (NPI-REV-01). Step 6, compare the AI use-case inventory vintages: ./Invoke-NpiVintage.ps1 -RegisterRun out/runs/2026-10-30T0600Z-fixture/inventory -Vintage 2026 -CurrentPath tests/fixtures/ch10/vintage/ai-inventory-2026.csv -PriorPath tests/fixtures/ch10/vintage/ai-inventory-2025.csv -UseCaseMapPath tests/fixtures/ch10/vintage/ai-use-cases.csv -ServiceRecordsPath tests/fixtures/inputs/service-records.csv -OutputPath out/vintage. Output: Vintage 2026: 5 changes (1 AuthorizationChanged, 1 Left, 2 New, 1 Retired); findings 3 Finding, 2 Warn, 1 Info. UC-005 is a new deployed agentic entry with no identity, UC-002 was retired while Mail Automation is still enabled, UC-004 left without being retired, and the Benefits Q&amp;A agent identity maps to no use case. Delete out when you're done; the runs in step 7 are the repository's copies of these two, which a Pester test checks against a fresh run.
Sources: Building Non-Person Identity, Chapter 10, docs/project-plans/developer-workbooks/non-person-identity/10-drift-and-evidence.md
Workbook: Building Non-Person Identity, Chapter 10 — “Lab 1: fixtures, no tenant,” steps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switch to the Python side. Package both days, the second chained to the first: nineteen findings opened on day two, and one closed, the rotated certificate. Verify the package with the code and with a plain checksum tool, and confirm no names appear in the summary. Then assemble the period for the security officer. It's honestly incomplete: some controls wait on other chapters, and Gate 7 isn't met yet, with passwords that never expire, orphans, and open reviews. Finally, break it on purpose: edit a file, or swap the order of days, and verification fails.
Detail: Step 7, package both days, chained (in examples/drift-pipeline): DAY1=tests/fixtures/npi-runs/2026-10-29T0600Z-fixture; DAY2=tests/fixtures/npi-runs/2026-10-30T0600Z-fixture; python python/npi_evidence.py package --run $DAY1 --out out/evidence; python python/npi_evidence.py package --run $DAY2 --previous-manifest out/evidence/2026-10-29T0600Z-fixture/EVIDENCE-MANIFEST.json --out out/evidence. Output: {"evidence_manifest_sha256": "574efc052d254f1e0046ad4e85985f6a6604a9ecc5bc52d1cf4ac3405a3a5169", "new": 62, "open": 62, "package": "2026-10-29T0600Z-fixture", "resolved": 0} and {"evidence_manifest_sha256": "35993595b6a84a8c911d5127d3627fda40eb1bbdaadebf1fd0eeed5d4225d1a0", "new": 19, "open": 80, "package": "2026-10-30T0600Z-fixture", "resolved": 1}. Every chapter's open findings are counted, Chapters 01 and 02's with them, and compared by fingerprint: 19 opened on day 2, one closed (Vendor Portal's NPI-DRF-05). Step 8, verify the second package: python python/npi_evidence.py verify out/evidence/2026-10-30T0600Z-fixture; (cd out/evidence/2026-10-30T0600Z-fixture &amp;&amp; sha256sum -c --quiet SHA256SUMS); grep -c contoso out/evidence/2026-10-30T0600Z-fixture/summary.md. verify reports 21 files and the manifest hash 35993595…, sha256sum exits 0, and grep prints 0: no user principal name in the summary. In EVIDENCE-MANIFEST.json, previous.evidence_manifest_sha256 is day 1's hash and tenant_id is the fixture tenant's. Step 9, assemble the period for the ISSO, with the vintage: python python/npi_evidence.py period --evidence out/evidence --since 2026-10-28T06:00:00Z --until 2026-10-30T06:00:00Z --vintage tests/fixtures/npi-vintage/vintage-2026 --out out/periods. Exit 2: {"chain_breaks": 0, "closed": 1, "complete": false, "coverage_gaps": 0, "opened": 19, "packages": 2, ...}. The control table shows AC-2 incomplete without Chapter 03, IA-5 without Chapters 04 and 06, IA-9 without Chapters 05 and 08, and AC-6(5), IA-4 and M-25-21 with evidence present. In the Gate 7 table, "None holds a password that never expires" (three accounts) and "None is orphaned" (seven candidates) are not met, the review cycle is not met (four review findings), and the owner-and-reason and Kerberos island criteria are "not decided by this code" until Chapters 03 and 06 send their findings. Gate 7 table: every service account and service principal has an owner and sponsor, a reason and a target: NPI-DRF-03, NPI-REV-02, and whether Chapter 03's decisions arrived; decided by the ISSO and Chapter 03's dispositions. None holds a password that never expires: NPI-DRF-06 at period end; the ISSO. None is orphaned: NPI-DRF-03 at period end; the ISSO and the orphan rule (D-N2). Drift checks and review cycles running: packages, coverage gaps, chain breaks, unverified task runs; NPI-REV-01 to -04; the ISSO, from the period. Every remaining gMSA and dMSA moved or in the dated Kerberos island: Chapter 06's findings, when they arrive; identity engineering (N7.3). Step 10, break it on purpose: echo edited &gt;&gt; summary.md, then verify exits 1: "summary.md doesn't match its SHA-256". Packaging day 1 with day 2 as previous exits 1: "this run (2026-10-29T06:00:00Z) isn't later than the previous package (2026-10-30T06:00:00Z)". python python/workflow_lint.py workflow/npi-evidence.yml lints with 0 finding(s), 0 warning(s). Expected result: Invoke-Pester -Path tests in examples/non-person-identity passes 513 tests, and python -m pytest tests -q in examples/drift-pipeline passes 136. Delete out in both folders when you're done. The chapter's tests: tests/NpiDrift.Tests.ps1, 51 tests, 11 of them Microsoft's rule as published, beside Chapters 01 and 02's tests, unchanged: 148 in examples/non-person-identity. pytest: tests/test_npi_evidence.py, 21 tests over the two fixture runs and the vintage comparison; with the first two workbooks', 136 in examples/drift-pipeline. A Pester test reruns the drift run and the vintage comparison from the fixtures and checks that their data files match the fixtures the Python tests read.
Sources: Building Non-Person Identity, Chapter 10, docs/project-plans/developer-workbooks/non-person-identity/10-drift-and-evidence.md
Workbook: Building Non-Person Identity, Chapter 10 — “Lab 1: fixtures, no tenant,” steps 7–10; “What the ISSO receives” — Gate 7;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uses a test tenant with fictional people, and the run only reads. Register a reader with exactly the four permissions, run once, and have a second person approve the baseline. Then make three changes by hand: a secret on an app that already has a certificate, a first secret on an app with none, and a consent grant. Run the drift run, and check what the fixture assumed against reality, like the exact activity names. Cross-check against Learn's own audit log procedure, package and verify, then back it all out.
Detail: Use a test tenant in the worldwide or GCC cloud with Microsoft Entra ID P1 or P2, never production, with fictional people. The run only reads; the changes in step 2 are made by hand in the test tenant. 1 Register the reader app in the tenant's own cloud (for GCC, the worldwide Microsoft Entra admin center) with a certificate. Grant the four application permissions from Lab 1, step 2, with admin consent, and nothing else; grant Reader on the test subscription. With Chapter 02's Lab 2 inputs in place, run step 3's command once without -BaselinePath and -ApprovedBaselineSha256, and have a second person review that run's drift/baseline-candidate.json and pass you its SHA-256. 2 Make three changes to see: as a test administrator, add a client secret to a test app registration that has a certificate; add the first secret to a second test app that has no credential; and grant admin consent for a delegated Graph permission to a third test app. 3 Run the drift run with your own inputs and the approved baseline: Connect-MgGraph -Environment Global -TenantId &lt;tenant-id&gt; -ClientId &lt;app-id&gt; -CertificateThumbprint &lt;thumbprint&gt;; Connect-AzAccount -ServicePrincipal -Environment AzureCloud -Tenant &lt;tenant-id&gt; -ApplicationId &lt;app-id&gt; -CertificateThumbprint &lt;thumbprint&gt;; ./Invoke-NpiDriftRun.ps1 -Cloud gcc -TenantId &lt;tenant-id&gt; -Domain &lt;test-domain&gt; -InputPath &lt;inputs&gt; -OutputPath out/runs-test -BaselinePath &lt;baseline-candidate.json&gt; -ApprovedBaselineSha256 &lt;sha&gt; -PipelineIdentitiesPath &lt;pipeline-identities.csv&gt;. 4 Check what the fixture assumed: in drift/events.json, record the exact activityDisplayName of each credential event, hyphen or dash (research gaps, row 91); whether a secret added to the service principal is logged as Add service principal credentials, Update service principal, or both (row 92); and whether KeysAdded holds the key IDs, which means the KeyDescription format is the one Microsoft's rule parses. NPI-DRF-07 should list both secrets, NPI-DRF-08 the consent. In drift/signin-activity.json, record whether the beta report returned rows (row 93). 5 Cross-check against Learn's procedure: in the admin center, open Monitoring &amp; health &gt; Audit logs, filter on the ApplicationManagement category and the window, as Learn's security operations guide describes: every credential and consent event there should be in events.json. If the tenant sends audit logs to a Log Analytics workspace, run Microsoft's rule there: it should return the first secret's event and not the second. 6 Package and verify locally: run Lab 1, steps 7 and 8, on the test run. 7 Back it out: remove both secrets and the consent grant from the test apps, remove the four permissions and the Reader assignment, delete the reader app's registration and certificate, and delete out/runs-test and the packages: they hold the tenant's identities and owners. If you ran the sample workflow in a test repository, follow the first workbook's Chapter 09, Lab 2 for its federated credential, an unlocked retention policy, and its back-out. In production, lock the evidence container's retention policy once Lab 2 passes; Learn says an unlocked policy is for testing only.
Sources: Microsoft Learn, "Microsoft Entra security operations guide for applications," application credentials; application permissions; end-user consent, https://learn.microsoft.com/entra/architecture/security-operations-applications (accessed Oct 30, 2026). · Microsoft Learn, "Store business-critical blob data with immutable storage in a write once, read many (WORM) state," https://learn.microsoft.com/azure/storage/blobs/immutable-storage-overview (accessed Oct 30, 2026; read for the first workbook's Chapter 09). · Microsoft Learn, "Microsoft Entra audit log categories and activities," Core Directory, https://learn.microsoft.com/entra/identity/monitoring-health/reference-audit-activities (accessed Oct 30, 2026; source checked in MicrosoftDocs/entra-docs).
Workbook: Building Non-Person Identity, Chapter 10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fails in quiet ways, so each of these has a guard. A baseline nobody approved lets a malicious change become normal. A failed read can look like a fix, because yesterday's findings simply disappear. A day nobody read leaves a gap where a credential could be added. Trusting the Sentinel rule misses the riskiest credentials, while alerting on every rotation teaches people to ignore alerts. And a package edited or swapped after the fact describes a run that never happened. The hash chain, the approved baseline and honest gap reporting close each one.
Detail: A baseline nobody approved: drift is measured against whatever the last run happened to see, and a malicious change becomes the new normal; guard: the baseline is compared only with an approved SHA-256, for this tenant and cloud. A failed read reported as a fix: a 403 makes yesterday's findings disappear; guard: a failed task is Error with no folder; a missing contract file or review kind is NPI-DRF-09 or NPI-REV-04, never a pass. A day nobody read: a credential added in the gap has no evidence, and Gate 7's "drift checks running" passes on the days that were read; guard: each window starts where the last ended; a gap is a coverage gap in the period. A window older than the log: the read returns part of the window and looks complete; guard: refused past 30 days; read the gap from the workspace and attach it. Trusting Microsoft's rule as the check: app-initiated, first and service principal credentials go unseen; guard: the Graph read of every initiator and target, every added key; tests pin what the rule misses. Every rotation alerts: the pipeline's own rotations bury the one that matters, and the alert is ignored; guard: inside the pipeline needs both the listed identity and the credential log entry. A pipeline identity misused: an attacker with the pipeline's credential adds a key; guard: a key not in the credential log is still NPI-DRF-07. Names in the tracker or the summary: owners and initiators are listed for everyone who can read it; guard: events keep IDs; summaries carry rule IDs, object keys and fingerprints; a test searches them for every name in the fixtures. A finding's text changes and it looks new: every date in an issue reopens it; guard: the fingerprint is the rule and object key only. Another chapter's file accepted as written: a wrong tenant, a forged fingerprint or a misnamed rule enters the evidence; guard: each contract file is checked whole and refused with the reason. A run edited, or swapped with another tenant's: the evidence describes a run that never happened; guard: every file checked against its manifest, each manifest against run.json; tenant, cloud and mode must match through the chain. A replaced package: a bad day is quietly rewritten; guard: the hash chain; period reports the break; a locked retention policy. Unused treated as delete: a seasonal app is removed; guard: NPI-DRF-04 is a Warn; nothing here writes; retirement is the decommission process. Where Learn's pages differ: the unused-applications recommendation's action plan deletes an unused app and permanently deletes it after 15 days; Learn's governance guidance for service accounts says to disable an account, not delete it, until the review is complete. The code follows the stricter: unused is a Warn for the owner, and the orphan rule disables (row 95). The wrong cloud: a GCC High run reads graph.microsoft.com, or sends a beta call the cloud lacks; guard: required cloud, no default; the sign-in report isn't sent where Learn doesn't list it. Other differences: the activity list writes Update application - Certificates and secrets management while the security operations guide writes Update Application-Certificates and secrets management; the code filters on the activity list's name and normalizes a dash (row 91). The activity list has Add service principal credentials; the guide's filter names Update Service principal/Update Application; the code reads the activity list's name (row 92). Agent ID's stage: GA in April 2026; this chapter only reads Chapter 09's review records. The guide links Detections/AuditLogs/NewAppOrServicePrincipalCredential.yaml, now a stub pointing to the pinned solution path.
Sources: Microsoft Learn, "Microsoft Entra data retention," activity reports, https://learn.microsoft.com/entra/identity/monitoring-health/reference-reports-data-retention (accessed Oct 30, 2026). · Microsoft Learn, "Microsoft Entra recommendation: Remove unused applications (preview)," description and action plan, https://learn.microsoft.com/entra/identity/monitoring-health/recommendation-remove-unused-apps (accessed Oct 30, 2026). · Microsoft Learn, "Governing Microsoft Entra service accounts," build a lifecycle process, https://learn.microsoft.com/entra/architecture/govern-service-accounts (accessed Oct 30, 2026; read for Chapter 02). · Microsoft Learn, "Store business-critical blob data with immutable storage in a write once, read many (WORM) state," https://learn.microsoft.com/azure/storage/blobs/immutable-storage-overview (accessed Oct 30, 2026; read for the first workbook's Chapter 09). · Microsoft Learn, "Microsoft Entra audit log categories and activities," Core Directory, https://learn.microsoft.com/entra/identity/monitoring-health/reference-audit-activities (accessed Oct 30, 2026; source checked in MicrosoftDocs/entra-docs). · Microsoft Learn, "Microsoft Entra releases and announcements," April 2026, https://learn.microsoft.com/entra/fundamentals/whats-new#april-2026, and "What is Microsoft Entra Agent ID?," https://learn.microsoft.com/entra/agent-id/what-is-microsoft-entra-agent-id (both accessed Oct 31, 2026).
Workbook: Building Non-Person Identity, Chapter 10 — “Dangers”; “Verified facts” — where Learn's pages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run reads all three parts and says so. The reader holds exactly four read permissions. The baseline was approved by someone else, each window picks up where the last ended, and every credential added outside the pipeline has an explanation or an incident. The review records arrive, every package verifies, the chain has no breaks, and the evidence store is locked. And the period summary is signed and reviewed. That's the end of this workbook: every chapter's checks now feed one verifiable period. Thanks for watching.
Detail: Checklist: the run reads the register, the ownership check and the audit, and run.json shows all three OK. The reader app holds exactly the four Graph permissions and Reader, with a certificate or a federated credential, never a secret. The baseline in use was approved by someone other than the person who runs the pipeline, and its SHA-256 is in the run's run.json. Each audit window starts where the last one ended, and the newest package is from today. pipeline-identities.csv is reviewed, and Chapter 04's pipeline writes the credential log. Lab 2 recorded the activity names, the service principal credential event and the sign-in report, and the code matches what it found. Every NPI-DRF-07 has an owner's explanation or an incident record. The review records from Chapters 07 and 09 arrive every run, and NPI-REV-04 is zero. Each package verifies with sha256sum -c SHA256SUMS, and the period shows no chain break and no coverage gap. The evidence container has a locked time-based retention policy in production. The vintage comparison ran on the latest AI use-case inventory vintage, and its findings went to their owners. The period summary, with its Gate 7 table, is signed by the identity governance officer and reviewed by the ISSO. The pinned Sentinel rule matches its manifest, and every upstream commit since the pin has been reviewed. Continue the book: previous, Chapter 09 — AI Agent Identities; the workbook index. Verified facts: Azure Login from GitHub Actions with a federated credential; the job needs id-token: write; US Government audience api://AzureADTokenExchangeUSGov; Learn's samples use azure/login@v2; the sample workflow pins v3.1.0 (design guidance). Immutable evidence: time-based retention; a locked policy can't be deleted or shortened; unlocked is for testing; GA.
Sources: Microsoft Learn, "Store business-critical blob data with immutable storage in a write once, read many (WORM) state," https://learn.microsoft.com/azure/storage/blobs/immutable-storage-overview (accessed Oct 30, 2026; read for the first workbook's Chapter 09). · Microsoft Learn, "Use the Azure Login action with OpenID Connect," https://learn.microsoft.com/azure/developer/github/connect-from-azure-openid-connect (accessed Oct 31, 2026).
Workbook: Building Non-Person Identity, Chapter 10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docs/project-plans/developer-workbooks/non-person-identity/10-drift-and-evidence.md.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docs/project-plans/developer-workbooks/non-person-identity/10-drift-and-evidence.md.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Non-Person Identity  ·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10: Drift and Evidence for the ISSO</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evidence · Sentinel's rule and its gaps · the run, baseline, rules, reviews, vintage, chain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evidence has to show</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332988"/>
        </p:xfrm>
        <a:graphic>
          <a:graphicData uri="http://schemas.openxmlformats.org/drawingml/2006/table">
            <a:tbl>
              <a:tblPr firstRow="1" bandRow="1"/>
              <a:tblGrid>
                <a:gridCol w="2560320"/>
                <a:gridCol w="854964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Source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asks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plan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N7.1 schedules register drift; N7.2 a full review cycle (owners' quarterly review, sponsors' attestation, expiry-based recertification of agent access); N7.4 evidence for AC-2, AC-6(5), IA-4, IA-5, IA-9 and M-25-21, and the annual vintage comparison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Gate 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Every service account and principal has an owner and sponsor, a reason and a target; none with a never-expiring password; none orphaned; drift checks and reviews running; every gMSA and dMSA moved or on the dated island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Book 02, Ch 10</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Inventories committed as a baseline; new, removed and changed objects are drift; each finding closed at the source, never by editing the copy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Companion guide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Maps the track to those controls as the program's reading; the assessor and authorizing official decide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Book 17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Expiry is the agent's review; each AI use-case inventory vintage compared with the last by use case ID, for four kinds of change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841748"/>
            <a:ext cx="11109960" cy="996696"/>
          </a:xfrm>
          <a:prstGeom prst="roundRect">
            <a:avLst>
              <a:gd name="adj" fmla="val 733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hartLine" descr="">
            <a:extLst>
              <a:ext uri="{C183D7F6-B498-43B3-948B-1728B52AA6E4}">
                <adec:decorative xmlns:adec="http://schemas.microsoft.com/office/drawing/2017/decorative" val="1"/>
              </a:ext>
            </a:extLst>
          </p:cNvPr>
          <p:cNvSpPr/>
          <p:nvPr/>
        </p:nvSpPr>
        <p:spPr>
          <a:xfrm>
            <a:off x="749808" y="5020056"/>
            <a:ext cx="640080" cy="64008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173675"/>
            <a:ext cx="332842" cy="332842"/>
          </a:xfrm>
          <a:prstGeom prst="rect">
            <a:avLst/>
          </a:prstGeom>
        </p:spPr>
      </p:pic>
      <p:sp>
        <p:nvSpPr>
          <p:cNvPr id="9" name="Callout text"/>
          <p:cNvSpPr txBox="1"/>
          <p:nvPr/>
        </p:nvSpPr>
        <p:spPr>
          <a:xfrm>
            <a:off x="1600200" y="4896612"/>
            <a:ext cx="9875520" cy="886968"/>
          </a:xfrm>
          <a:prstGeom prst="rect">
            <a:avLst/>
          </a:prstGeom>
          <a:noFill/>
          <a:ln/>
        </p:spPr>
        <p:txBody>
          <a:bodyPr wrap="square" lIns="0" tIns="0" rIns="0" bIns="0" rtlCol="0" anchor="ctr"/>
          <a:lstStyle/>
          <a:p>
            <a:pPr indent="0" marL="0">
              <a:buNone/>
            </a:pPr>
            <a:r>
              <a:rPr lang="en-US" sz="1700" b="1" dirty="0">
                <a:solidFill>
                  <a:srgbClr val="0F766E"/>
                </a:solidFill>
              </a:rPr>
              <a:t>Three parts (design guidance): </a:t>
            </a:r>
            <a:pPr indent="0" marL="0">
              <a:buNone/>
            </a:pPr>
            <a:r>
              <a:rPr lang="en-US" sz="1700" dirty="0">
                <a:solidFill>
                  <a:srgbClr val="334155"/>
                </a:solidFill>
              </a:rPr>
              <a:t>Chapters 01 and 02 give the state; the audit read gives the events in a window; a comparison with the approved baseline turns state into drift; a chain of windows with no gap is “drift checks running.”</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project plan, N7.1–N7.4 and Gate 7; Book 02, Ch 10; companion guide, federal requirements; Book 17, Ch 05 and 09. Chapter 10, “What the evidence has to show.”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facts, the cloud and the other chapters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anel What Learn says" descr="">
            <a:extLst>
              <a:ext uri="{C183D7F6-B498-43B3-948B-1728B52AA6E4}">
                <adec:decorative xmlns:adec="http://schemas.microsoft.com/office/drawing/2017/decorative" val="1"/>
              </a:ext>
            </a:extLst>
          </p:cNvPr>
          <p:cNvSpPr/>
          <p:nvPr/>
        </p:nvSpPr>
        <p:spPr>
          <a:xfrm>
            <a:off x="548640" y="1325880"/>
            <a:ext cx="5417820" cy="3956304"/>
          </a:xfrm>
          <a:prstGeom prst="roundRect">
            <a:avLst>
              <a:gd name="adj" fmla="val 184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Learn say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LEARN SAYS</a:t>
            </a:r>
            <a:endParaRPr lang="en-US" sz="1100" dirty="0"/>
          </a:p>
        </p:txBody>
      </p:sp>
      <p:sp>
        <p:nvSpPr>
          <p:cNvPr id="7" name="Panel What Learn says list"/>
          <p:cNvSpPr txBox="1"/>
          <p:nvPr/>
        </p:nvSpPr>
        <p:spPr>
          <a:xfrm>
            <a:off x="731520" y="1737360"/>
            <a:ext cx="5097780" cy="349910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Credentials added to existing applications: high risk; any added outside expected processes could be an attacker's</a:t>
            </a:r>
            <a:endParaRPr lang="en-US" sz="1450" dirty="0"/>
          </a:p>
          <a:p>
            <a:pPr marL="342900" indent="-342900">
              <a:spcAft>
                <a:spcPts val="400"/>
              </a:spcAft>
              <a:buSzPct val="100000"/>
              <a:buChar char="•"/>
            </a:pPr>
            <a:r>
              <a:rPr lang="en-US" sz="1450" dirty="0">
                <a:solidFill>
                  <a:srgbClr val="334155"/>
                </a:solidFill>
              </a:rPr>
              <a:t>Application and service principal updates are logged as two entries</a:t>
            </a:r>
            <a:endParaRPr lang="en-US" sz="1450" dirty="0"/>
          </a:p>
          <a:p>
            <a:pPr marL="342900" indent="-342900">
              <a:spcAft>
                <a:spcPts val="400"/>
              </a:spcAft>
              <a:buSzPct val="100000"/>
              <a:buChar char="•"/>
            </a:pPr>
            <a:r>
              <a:rPr lang="en-US" sz="1450" dirty="0">
                <a:solidFill>
                  <a:srgbClr val="334155"/>
                </a:solidFill>
              </a:rPr>
              <a:t>Events: Update application - Certificates and secrets management; Add service principal credentials; Consent to application; Add delegated permission grant; Add app role assignment to service principal</a:t>
            </a:r>
            <a:endParaRPr lang="en-US" sz="1450" dirty="0"/>
          </a:p>
          <a:p>
            <a:pPr marL="342900" indent="-342900">
              <a:spcAft>
                <a:spcPts val="400"/>
              </a:spcAft>
              <a:buSzPct val="100000"/>
              <a:buChar char="•"/>
            </a:pPr>
            <a:r>
              <a:rPr lang="en-US" sz="1450" dirty="0">
                <a:solidFill>
                  <a:srgbClr val="334155"/>
                </a:solidFill>
              </a:rPr>
              <a:t>Audit logs kept 30 days with P1 or P2, seven on Free</a:t>
            </a:r>
            <a:endParaRPr lang="en-US" sz="1450" dirty="0"/>
          </a:p>
          <a:p>
            <a:pPr marL="342900" indent="-342900">
              <a:spcAft>
                <a:spcPts val="400"/>
              </a:spcAft>
              <a:buSzPct val="100000"/>
              <a:buChar char="•"/>
            </a:pPr>
            <a:r>
              <a:rPr lang="en-US" sz="1450" dirty="0">
                <a:solidFill>
                  <a:srgbClr val="334155"/>
                </a:solidFill>
              </a:rPr>
              <a:t>Expiring: within the next 30 days. Unused: over 90 days</a:t>
            </a:r>
            <a:endParaRPr lang="en-US" sz="1450" dirty="0"/>
          </a:p>
        </p:txBody>
      </p:sp>
      <p:sp>
        <p:nvSpPr>
          <p:cNvPr id="8" name="Panel Which cloud" descr="">
            <a:extLst>
              <a:ext uri="{C183D7F6-B498-43B3-948B-1728B52AA6E4}">
                <adec:decorative xmlns:adec="http://schemas.microsoft.com/office/drawing/2017/decorative" val="1"/>
              </a:ext>
            </a:extLst>
          </p:cNvPr>
          <p:cNvSpPr/>
          <p:nvPr/>
        </p:nvSpPr>
        <p:spPr>
          <a:xfrm>
            <a:off x="6240780" y="1325880"/>
            <a:ext cx="5417820" cy="2139696"/>
          </a:xfrm>
          <a:prstGeom prst="roundRect">
            <a:avLst>
              <a:gd name="adj" fmla="val 341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Which cloud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WHICH CLOUD</a:t>
            </a:r>
            <a:endParaRPr lang="en-US" sz="1100" dirty="0"/>
          </a:p>
        </p:txBody>
      </p:sp>
      <p:sp>
        <p:nvSpPr>
          <p:cNvPr id="10" name="Panel Which cloud list"/>
          <p:cNvSpPr txBox="1"/>
          <p:nvPr/>
        </p:nvSpPr>
        <p:spPr>
          <a:xfrm>
            <a:off x="6423660" y="1737360"/>
            <a:ext cx="5097780" cy="168249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GCC reads graph.microsoft.com; GCC High and DoD their own hosts</a:t>
            </a:r>
            <a:endParaRPr lang="en-US" sz="1450" dirty="0"/>
          </a:p>
          <a:p>
            <a:pPr marL="342900" indent="-342900">
              <a:spcAft>
                <a:spcPts val="400"/>
              </a:spcAft>
              <a:buSzPct val="100000"/>
              <a:buChar char="•"/>
            </a:pPr>
            <a:r>
              <a:rPr lang="en-US" sz="1450" dirty="0">
                <a:solidFill>
                  <a:srgbClr val="334155"/>
                </a:solidFill>
              </a:rPr>
              <a:t>List directoryAudits: global, L4 and L5</a:t>
            </a:r>
            <a:endParaRPr lang="en-US" sz="1450" dirty="0"/>
          </a:p>
          <a:p>
            <a:pPr marL="342900" indent="-342900">
              <a:spcAft>
                <a:spcPts val="400"/>
              </a:spcAft>
              <a:buSzPct val="100000"/>
              <a:buChar char="•"/>
            </a:pPr>
            <a:r>
              <a:rPr lang="en-US" sz="1450" dirty="0">
                <a:solidFill>
                  <a:srgbClr val="334155"/>
                </a:solidFill>
              </a:rPr>
              <a:t>The sign-in activity report is beta and global only: in GCC High and DoD it isn't sent, and the unused check is recorded as not read (row 93)</a:t>
            </a:r>
            <a:endParaRPr lang="en-US" sz="1450" dirty="0"/>
          </a:p>
        </p:txBody>
      </p:sp>
      <p:sp>
        <p:nvSpPr>
          <p:cNvPr id="11" name="Panel The contract" descr="">
            <a:extLst>
              <a:ext uri="{C183D7F6-B498-43B3-948B-1728B52AA6E4}">
                <adec:decorative xmlns:adec="http://schemas.microsoft.com/office/drawing/2017/decorative" val="1"/>
              </a:ext>
            </a:extLst>
          </p:cNvPr>
          <p:cNvSpPr/>
          <p:nvPr/>
        </p:nvSpPr>
        <p:spPr>
          <a:xfrm>
            <a:off x="6240780" y="3648456"/>
            <a:ext cx="5417820" cy="1633728"/>
          </a:xfrm>
          <a:prstGeom prst="roundRect">
            <a:avLst>
              <a:gd name="adj" fmla="val 447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Panel The contract label"/>
          <p:cNvSpPr txBox="1"/>
          <p:nvPr/>
        </p:nvSpPr>
        <p:spPr>
          <a:xfrm>
            <a:off x="6423660" y="3758184"/>
            <a:ext cx="5052060" cy="274320"/>
          </a:xfrm>
          <a:prstGeom prst="rect">
            <a:avLst/>
          </a:prstGeom>
          <a:noFill/>
          <a:ln/>
        </p:spPr>
        <p:txBody>
          <a:bodyPr wrap="square" lIns="0" tIns="0" rIns="0" bIns="0" rtlCol="0" anchor="t"/>
          <a:lstStyle/>
          <a:p>
            <a:pPr indent="0" marL="0">
              <a:buNone/>
            </a:pPr>
            <a:r>
              <a:rPr lang="en-US" sz="1100" b="1" spc="50" kern="0" dirty="0">
                <a:solidFill>
                  <a:srgbClr val="B45309"/>
                </a:solidFill>
              </a:rPr>
              <a:t>THE CONTRACT</a:t>
            </a:r>
            <a:endParaRPr lang="en-US" sz="1100" dirty="0"/>
          </a:p>
        </p:txBody>
      </p:sp>
      <p:sp>
        <p:nvSpPr>
          <p:cNvPr id="13" name="Panel The contract list"/>
          <p:cNvSpPr txBox="1"/>
          <p:nvPr/>
        </p:nvSpPr>
        <p:spPr>
          <a:xfrm>
            <a:off x="6423660" y="4059936"/>
            <a:ext cx="5097780" cy="1176528"/>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Chapters 03 to 09 write a findings file, review records and the rotation pipeline's credential log</a:t>
            </a:r>
            <a:endParaRPr lang="en-US" sz="1450" dirty="0"/>
          </a:p>
          <a:p>
            <a:pPr marL="342900" indent="-342900">
              <a:spcAft>
                <a:spcPts val="400"/>
              </a:spcAft>
              <a:buSzPct val="100000"/>
              <a:buChar char="•"/>
            </a:pPr>
            <a:r>
              <a:rPr lang="en-US" sz="1450" dirty="0">
                <a:solidFill>
                  <a:srgbClr val="334155"/>
                </a:solidFill>
              </a:rPr>
              <a:t>Until a chapter writes, the period marks its controls incomplete</a:t>
            </a:r>
            <a:endParaRPr lang="en-US" sz="14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security operations guide for applications; audit activities; retention; expiring credentials; unused apps; national clouds; directoryAudits; sign-in activities.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Microsoft's Sentinel rule, pinned and run offline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Learn gives" descr="">
            <a:extLst>
              <a:ext uri="{C183D7F6-B498-43B3-948B-1728B52AA6E4}">
                <adec:decorative xmlns:adec="http://schemas.microsoft.com/office/drawing/2017/decorative" val="1"/>
              </a:ext>
            </a:extLst>
          </p:cNvPr>
          <p:cNvSpPr/>
          <p:nvPr/>
        </p:nvSpPr>
        <p:spPr>
          <a:xfrm>
            <a:off x="548640" y="1325880"/>
            <a:ext cx="5417820" cy="3163824"/>
          </a:xfrm>
          <a:prstGeom prst="roundRect">
            <a:avLst>
              <a:gd name="adj" fmla="val 231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LEARN GIVES</a:t>
            </a:r>
            <a:endParaRPr lang="en-US" sz="1100" dirty="0"/>
          </a:p>
        </p:txBody>
      </p:sp>
      <p:sp>
        <p:nvSpPr>
          <p:cNvPr id="7" name="Panel What Learn gives list"/>
          <p:cNvSpPr txBox="1"/>
          <p:nvPr/>
        </p:nvSpPr>
        <p:spPr>
          <a:xfrm>
            <a:off x="73152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Application credentials table: what to monitor, where (Core Directory, ApplicationManagement), and when to alert: “outside of normal business hours or workflows”</a:t>
            </a:r>
            <a:endParaRPr lang="en-US" sz="1500" dirty="0"/>
          </a:p>
          <a:p>
            <a:pPr marL="342900" indent="-342900">
              <a:spcAft>
                <a:spcPts val="400"/>
              </a:spcAft>
              <a:buSzPct val="100000"/>
              <a:buChar char="•"/>
            </a:pPr>
            <a:r>
              <a:rPr lang="en-US" sz="1500" dirty="0">
                <a:solidFill>
                  <a:srgbClr val="334155"/>
                </a:solidFill>
              </a:rPr>
              <a:t>Links a Sentinel rule: New access credential added to Application or Service Principal</a:t>
            </a:r>
            <a:endParaRPr lang="en-US" sz="1500" dirty="0"/>
          </a:p>
          <a:p>
            <a:pPr marL="342900" indent="-342900">
              <a:spcAft>
                <a:spcPts val="400"/>
              </a:spcAft>
              <a:buSzPct val="100000"/>
              <a:buChar char="•"/>
            </a:pPr>
            <a:r>
              <a:rPr lang="en-US" sz="1500" dirty="0">
                <a:solidFill>
                  <a:srgbClr val="334155"/>
                </a:solidFill>
              </a:rPr>
              <a:t>Application permissions and end-user consent tables name the grant activities</a:t>
            </a:r>
            <a:endParaRPr lang="en-US" sz="1500" dirty="0"/>
          </a:p>
          <a:p>
            <a:pPr marL="342900" indent="-342900">
              <a:spcAft>
                <a:spcPts val="400"/>
              </a:spcAft>
              <a:buSzPct val="100000"/>
              <a:buChar char="•"/>
            </a:pPr>
            <a:r>
              <a:rPr lang="en-US" sz="1500" dirty="0">
                <a:solidFill>
                  <a:srgbClr val="334155"/>
                </a:solidFill>
              </a:rPr>
              <a:t>List directoryAudits gives the Graph read; the recommendations give the thresholds</a:t>
            </a:r>
            <a:endParaRPr lang="en-US" sz="1500" dirty="0"/>
          </a:p>
        </p:txBody>
      </p:sp>
      <p:sp>
        <p:nvSpPr>
          <p:cNvPr id="8" name="Panel The pinned copy" descr="">
            <a:extLst>
              <a:ext uri="{C183D7F6-B498-43B3-948B-1728B52AA6E4}">
                <adec:decorative xmlns:adec="http://schemas.microsoft.com/office/drawing/2017/decorative" val="1"/>
              </a:ext>
            </a:extLst>
          </p:cNvPr>
          <p:cNvSpPr/>
          <p:nvPr/>
        </p:nvSpPr>
        <p:spPr>
          <a:xfrm>
            <a:off x="6240780" y="1325880"/>
            <a:ext cx="5417820" cy="3163824"/>
          </a:xfrm>
          <a:prstGeom prst="roundRect">
            <a:avLst>
              <a:gd name="adj" fmla="val 231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10" name="Panel The pinned copy list"/>
          <p:cNvSpPr txBox="1"/>
          <p:nvPr/>
        </p:nvSpPr>
        <p:spPr>
          <a:xfrm>
            <a:off x="642366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NewAppOrServicePrincipalCredential.yaml from Azure/Azure-Sentinel at 2985095 (Oct 30, 2026), MIT; Learn's older path is now a stub</a:t>
            </a:r>
            <a:endParaRPr lang="en-US" sz="1500" dirty="0"/>
          </a:p>
          <a:p>
            <a:pPr marL="342900" indent="-342900">
              <a:spcAft>
                <a:spcPts val="400"/>
              </a:spcAft>
              <a:buSzPct val="100000"/>
              <a:buChar char="•"/>
            </a:pPr>
            <a:r>
              <a:rPr lang="en-US" sz="1500" dirty="0">
                <a:solidFill>
                  <a:srgbClr val="334155"/>
                </a:solidFill>
              </a:rPr>
              <a:t>snapshot.json hashes, checked with gh api; unit-tested; weekly watch</a:t>
            </a:r>
            <a:endParaRPr lang="en-US" sz="1500" dirty="0"/>
          </a:p>
          <a:p>
            <a:pPr marL="342900" indent="-342900">
              <a:spcAft>
                <a:spcPts val="400"/>
              </a:spcAft>
              <a:buSzPct val="100000"/>
              <a:buChar char="•"/>
            </a:pPr>
            <a:r>
              <a:rPr lang="en-US" sz="1500" dirty="0">
                <a:solidFill>
                  <a:srgbClr val="334155"/>
                </a:solidFill>
              </a:rPr>
              <a:t>SentinelRuleHarness.ps1 splits the query into its 20 stages and runs each by its exact text over ten fictional audit items</a:t>
            </a:r>
            <a:endParaRPr lang="en-US" sz="1500" dirty="0"/>
          </a:p>
          <a:p>
            <a:pPr marL="342900" indent="-342900">
              <a:spcAft>
                <a:spcPts val="400"/>
              </a:spcAft>
              <a:buSzPct val="100000"/>
              <a:buChar char="•"/>
            </a:pPr>
            <a:r>
              <a:rPr lang="en-US" sz="1500" dirty="0">
                <a:solidFill>
                  <a:srgbClr val="334155"/>
                </a:solidFill>
              </a:rPr>
              <a:t>An unknown stage throws. Not a KQL engine; nothing sent to a workspace</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security operations guide for applications; List directoryAudits; expiring credentials; unused apps; Azure-Sentinel at 2985095 (MIT). Chapter 10, “What Microsoft gives.”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rule misses: initiators, keys, targets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979420"/>
        </p:xfrm>
        <a:graphic>
          <a:graphicData uri="http://schemas.openxmlformats.org/drawingml/2006/table">
            <a:tbl>
              <a:tblPr firstRow="1" bandRow="1"/>
              <a:tblGrid>
                <a:gridCol w="3657600"/>
                <a:gridCol w="4023360"/>
                <a:gridCol w="342900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Microsoft's rule,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the code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Finds the secret a person added to HR Connector, which already had a certificate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Kept as the model: the activity names and the KeyDescription key list (NPI-DRF-07)</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Requires the initiator to carry an “@”</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credential added by an app (Mail Automation adding a secret to Payroll Export) is never seen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Every initiator read, user or app; the pipeline named in a reviewed list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Keeps only events whose old key list isn't empty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first secret on an app with none, the riskiest kind, is dropped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Every added key ID, old against new</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Keeps only targets of type Application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Add service principal credentials is dropped; Learn logs such updates separately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Service principal targets resolved to the registration's row</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security operations guide for applications (two entries); Azure-Sentinel rule at 2985095. Chapter 10, “What it leaves to you,” rows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it misses: the pipeline, names and scope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00400"/>
        </p:xfrm>
        <a:graphic>
          <a:graphicData uri="http://schemas.openxmlformats.org/drawingml/2006/table">
            <a:tbl>
              <a:tblPr firstRow="1" bandRow="1"/>
              <a:tblGrid>
                <a:gridCol w="3566160"/>
                <a:gridCol w="3931920"/>
                <a:gridCol w="361188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Microsoft's rule,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the code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Alerts on the pipeline's own rotation when a person runs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Every rotation alerts, and the alert is ignored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Inside the pipeline only with a listed identity and the key in Chapter 04's credential log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Parses only the first of several credentials in one event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second key added at the same moment is missed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Every key in the difference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Carries the initiator's UPN, split into Name and UPNSuffix</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Names travel wherever the alert goes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Object IDs and key IDs only; names dropped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99364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One hour, in a Sentinel workspace, with no link to the register, owners, expiry or grants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Needs a workspace first; covers one item of N7.1's five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Graph audit read with AuditLog.Read.All, refused past 30 days, joined to the register, baseline and Chapter 02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470916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Verdict: model the credential read on the rule's activity names and KeyDescription comparison; don't use the rule as the N7.1 check.</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data retention (30 days); Azure-Sentinel rule at 2985095. Chapter 10, “What it leaves to you,” rows 5–8;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run, the approved baseline and the reads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Invoke-NpiDriftRun.ps1" descr="">
            <a:extLst>
              <a:ext uri="{C183D7F6-B498-43B3-948B-1728B52AA6E4}">
                <adec:decorative xmlns:adec="http://schemas.microsoft.com/office/drawing/2017/decorative" val="1"/>
              </a:ext>
            </a:extLst>
          </p:cNvPr>
          <p:cNvSpPr/>
          <p:nvPr/>
        </p:nvSpPr>
        <p:spPr>
          <a:xfrm>
            <a:off x="548640" y="1325880"/>
            <a:ext cx="5417820" cy="3011424"/>
          </a:xfrm>
          <a:prstGeom prst="roundRect">
            <a:avLst>
              <a:gd name="adj" fmla="val 242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Invoke-NpiDriftRun.ps1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INVOKE-NPIDRIFTRUN.PS1</a:t>
            </a:r>
            <a:endParaRPr lang="en-US" sz="1100" dirty="0"/>
          </a:p>
        </p:txBody>
      </p:sp>
      <p:sp>
        <p:nvSpPr>
          <p:cNvPr id="7" name="Panel Invoke-NpiDriftRun.ps1 list"/>
          <p:cNvSpPr txBox="1"/>
          <p:nvPr/>
        </p:nvSpPr>
        <p:spPr>
          <a:xfrm>
            <a:off x="731520" y="1737360"/>
            <a:ext cx="5097780" cy="2554224"/>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One folder per run, such as 2026-10-30T0600Z-fixture: inventory/ (Ch 01) and ownership/ (Ch 02), unchanged</a:t>
            </a:r>
            <a:endParaRPr lang="en-US" sz="1400" dirty="0"/>
          </a:p>
          <a:p>
            <a:pPr marL="342900" indent="-342900">
              <a:spcAft>
                <a:spcPts val="400"/>
              </a:spcAft>
              <a:buSzPct val="100000"/>
              <a:buChar char="•"/>
            </a:pPr>
            <a:r>
              <a:rPr lang="en-US" sz="1400" dirty="0">
                <a:solidFill>
                  <a:srgbClr val="334155"/>
                </a:solidFill>
              </a:rPr>
              <a:t>drift/: events, sign-in activity, findings, chapter findings, review cycle, summary, baseline candidate, manifest</a:t>
            </a:r>
            <a:endParaRPr lang="en-US" sz="1400" dirty="0"/>
          </a:p>
          <a:p>
            <a:pPr marL="342900" indent="-342900">
              <a:spcAft>
                <a:spcPts val="400"/>
              </a:spcAft>
              <a:buSzPct val="100000"/>
              <a:buChar char="•"/>
            </a:pPr>
            <a:r>
              <a:rPr lang="en-US" sz="1400" dirty="0">
                <a:solidFill>
                  <a:srgbClr val="334155"/>
                </a:solidFill>
              </a:rPr>
              <a:t>run.json: run ID, as-of, cloud, tenant, mode, window, approved baseline, permissions, each task's status and manifest hash</a:t>
            </a:r>
            <a:endParaRPr lang="en-US" sz="1400" dirty="0"/>
          </a:p>
          <a:p>
            <a:pPr marL="342900" indent="-342900">
              <a:spcAft>
                <a:spcPts val="400"/>
              </a:spcAft>
              <a:buSzPct val="100000"/>
              <a:buChar char="•"/>
            </a:pPr>
            <a:r>
              <a:rPr lang="en-US" sz="1400" dirty="0">
                <a:solidFill>
                  <a:srgbClr val="334155"/>
                </a:solidFill>
              </a:rPr>
              <a:t>A failed task is Error and leaves no folder; the window runs from -Since (24 hours by default) to -AsOf</a:t>
            </a:r>
            <a:endParaRPr lang="en-US" sz="1400" dirty="0"/>
          </a:p>
        </p:txBody>
      </p:sp>
      <p:sp>
        <p:nvSpPr>
          <p:cNvPr id="8" name="Panel The baseline (design guidance)" descr="">
            <a:extLst>
              <a:ext uri="{C183D7F6-B498-43B3-948B-1728B52AA6E4}">
                <adec:decorative xmlns:adec="http://schemas.microsoft.com/office/drawing/2017/decorative" val="1"/>
              </a:ext>
            </a:extLst>
          </p:cNvPr>
          <p:cNvSpPr/>
          <p:nvPr/>
        </p:nvSpPr>
        <p:spPr>
          <a:xfrm>
            <a:off x="6240780" y="1325880"/>
            <a:ext cx="5417820" cy="3011424"/>
          </a:xfrm>
          <a:prstGeom prst="roundRect">
            <a:avLst>
              <a:gd name="adj" fmla="val 242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baseline (design guidanc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BASELINE (DESIGN GUIDANCE)</a:t>
            </a:r>
            <a:endParaRPr lang="en-US" sz="1100" dirty="0"/>
          </a:p>
        </p:txBody>
      </p:sp>
      <p:sp>
        <p:nvSpPr>
          <p:cNvPr id="10" name="Panel The baseline (design guidance) list"/>
          <p:cNvSpPr txBox="1"/>
          <p:nvPr/>
        </p:nvSpPr>
        <p:spPr>
          <a:xfrm>
            <a:off x="6423660" y="1737360"/>
            <a:ext cx="5097780" cy="2554224"/>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Each identity's fingerprint: SHA-256 over 20 governance columns (owners, record, credentials, expiry, subjects, permissions, grants, consent, groups, delegation, SPNs, enabled)</a:t>
            </a:r>
            <a:endParaRPr lang="en-US" sz="1400" dirty="0"/>
          </a:p>
          <a:p>
            <a:pPr marL="342900" indent="-342900">
              <a:spcAft>
                <a:spcPts val="400"/>
              </a:spcAft>
              <a:buSzPct val="100000"/>
              <a:buChar char="•"/>
            </a:pPr>
            <a:r>
              <a:rPr lang="en-US" sz="1400" dirty="0">
                <a:solidFill>
                  <a:srgbClr val="334155"/>
                </a:solidFill>
              </a:rPr>
              <a:t>Last logon and password age left out: they move daily and aren't drift</a:t>
            </a:r>
            <a:endParaRPr lang="en-US" sz="1400" dirty="0"/>
          </a:p>
          <a:p>
            <a:pPr marL="342900" indent="-342900">
              <a:spcAft>
                <a:spcPts val="400"/>
              </a:spcAft>
              <a:buSzPct val="100000"/>
              <a:buChar char="•"/>
            </a:pPr>
            <a:r>
              <a:rPr lang="en-US" sz="1400" dirty="0">
                <a:solidFill>
                  <a:srgbClr val="334155"/>
                </a:solidFill>
              </a:rPr>
              <a:t>Approved by passing its SHA-256 as -ApprovedBaselineSha256; another hash, tenant or cloud is refused</a:t>
            </a:r>
            <a:endParaRPr lang="en-US" sz="1400" dirty="0"/>
          </a:p>
        </p:txBody>
      </p:sp>
      <p:sp>
        <p:nvSpPr>
          <p:cNvPr id="11" name="Callout" descr="">
            <a:extLst>
              <a:ext uri="{C183D7F6-B498-43B3-948B-1728B52AA6E4}">
                <adec:decorative xmlns:adec="http://schemas.microsoft.com/office/drawing/2017/decorative" val="1"/>
              </a:ext>
            </a:extLst>
          </p:cNvPr>
          <p:cNvSpPr/>
          <p:nvPr/>
        </p:nvSpPr>
        <p:spPr>
          <a:xfrm>
            <a:off x="548640" y="4520184"/>
            <a:ext cx="11109960" cy="882396"/>
          </a:xfrm>
          <a:prstGeom prst="roundRect">
            <a:avLst>
              <a:gd name="adj" fmla="val 829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Filter" descr="">
            <a:extLst>
              <a:ext uri="{C183D7F6-B498-43B3-948B-1728B52AA6E4}">
                <adec:decorative xmlns:adec="http://schemas.microsoft.com/office/drawing/2017/decorative" val="1"/>
              </a:ext>
            </a:extLst>
          </p:cNvPr>
          <p:cNvSpPr/>
          <p:nvPr/>
        </p:nvSpPr>
        <p:spPr>
          <a:xfrm>
            <a:off x="749808" y="4641342"/>
            <a:ext cx="640080" cy="64008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794961"/>
            <a:ext cx="332842" cy="332842"/>
          </a:xfrm>
          <a:prstGeom prst="rect">
            <a:avLst/>
          </a:prstGeom>
        </p:spPr>
      </p:pic>
      <p:sp>
        <p:nvSpPr>
          <p:cNvPr id="14" name="Callout text"/>
          <p:cNvSpPr txBox="1"/>
          <p:nvPr/>
        </p:nvSpPr>
        <p:spPr>
          <a:xfrm>
            <a:off x="1600200" y="4575048"/>
            <a:ext cx="9875520" cy="772668"/>
          </a:xfrm>
          <a:prstGeom prst="rect">
            <a:avLst/>
          </a:prstGeom>
          <a:noFill/>
          <a:ln/>
        </p:spPr>
        <p:txBody>
          <a:bodyPr wrap="square" lIns="0" tIns="0" rIns="0" bIns="0" rtlCol="0" anchor="ctr"/>
          <a:lstStyle/>
          <a:p>
            <a:pPr indent="0" marL="0">
              <a:buNone/>
            </a:pPr>
            <a:r>
              <a:rPr lang="en-US" sz="1450" b="1" dirty="0">
                <a:solidFill>
                  <a:srgbClr val="B45309"/>
                </a:solidFill>
              </a:rPr>
              <a:t>The reads: </a:t>
            </a:r>
            <a:pPr indent="0" marL="0">
              <a:buNone/>
            </a:pPr>
            <a:r>
              <a:rPr lang="en-US" sz="1450" dirty="0">
                <a:solidFill>
                  <a:srgbClr val="334155"/>
                </a:solidFill>
              </a:rPr>
              <a:t>directoryAudits once per activity name, filtered by activityDateTime and activityDisplayName; declared GET, the cloud's host, every page; refused past 30 days; kept as IDs. Sign-in activity (beta) where Learn lists it.</a:t>
            </a:r>
            <a:endParaRPr lang="en-US" sz="14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directoryAudit resource type; data retention; List servicePrincipalSignInActivities (beta). Chapter 10, “The run,” “The approved baseline,” “The reads.”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drift rules: NPI-DRF-01 to NPI-DRF-09</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337560"/>
        </p:xfrm>
        <a:graphic>
          <a:graphicData uri="http://schemas.openxmlformats.org/drawingml/2006/table">
            <a:tbl>
              <a:tblPr firstRow="1" bandRow="1"/>
              <a:tblGrid>
                <a:gridCol w="1325880"/>
                <a:gridCol w="1920240"/>
                <a:gridCol w="5486400"/>
                <a:gridCol w="237744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Severity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flags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NPI-DRF-01</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Warn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An identity new since the approved baseline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Book 02, Ch 10</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NPI-DRF-02</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Warn; Info removed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 changed fingerprint, with its columns; one in the baseline that's gone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Book 02, Ch 10</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NPI-DRF-03</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Ownerless: an orphan candidate in Chapter 02's run; this code disables nothing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Plan N7.1; Ch 02</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NPI-DRF-04</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Warn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 sign-in for over 90 days, or none; one new since the baseline isn't judged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Learn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NPI-DRF-05</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Warn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 credential that expires within 30 days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Learn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NPI-DRF-06</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An enabled AD account whose password never expires (except one found only that way)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Plan N7.1, Gate 7</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NPI-DRF-07</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 credential added outside the pipeline, one per key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Learn: high</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NPI-DRF-08</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Finding or Warn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 new consent grant or app permission; Finding when tenant-wide or high-privilege Graph</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Learn: high</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NPI-DRF-09</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Warn or Info</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An evidence gap: a refused contract file, a chapter that sent nothing, no sign-in report, a failed ownership check</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Design guidance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846320"/>
            <a:ext cx="11109960" cy="790956"/>
          </a:xfrm>
          <a:prstGeom prst="roundRect">
            <a:avLst>
              <a:gd name="adj" fmla="val 924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Icon FaKey" descr="">
            <a:extLst>
              <a:ext uri="{C183D7F6-B498-43B3-948B-1728B52AA6E4}">
                <adec:decorative xmlns:adec="http://schemas.microsoft.com/office/drawing/2017/decorative" val="1"/>
              </a:ext>
            </a:extLst>
          </p:cNvPr>
          <p:cNvSpPr/>
          <p:nvPr/>
        </p:nvSpPr>
        <p:spPr>
          <a:xfrm>
            <a:off x="749808" y="4921758"/>
            <a:ext cx="640080" cy="64008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075377"/>
            <a:ext cx="332842" cy="332842"/>
          </a:xfrm>
          <a:prstGeom prst="rect">
            <a:avLst/>
          </a:prstGeom>
        </p:spPr>
      </p:pic>
      <p:sp>
        <p:nvSpPr>
          <p:cNvPr id="9" name="Callout text"/>
          <p:cNvSpPr txBox="1"/>
          <p:nvPr/>
        </p:nvSpPr>
        <p:spPr>
          <a:xfrm>
            <a:off x="1600200" y="4901184"/>
            <a:ext cx="9875520" cy="681228"/>
          </a:xfrm>
          <a:prstGeom prst="rect">
            <a:avLst/>
          </a:prstGeom>
          <a:noFill/>
          <a:ln/>
        </p:spPr>
        <p:txBody>
          <a:bodyPr wrap="square" lIns="0" tIns="0" rIns="0" bIns="0" rtlCol="0" anchor="ctr"/>
          <a:lstStyle/>
          <a:p>
            <a:pPr indent="0" marL="0">
              <a:buNone/>
            </a:pPr>
            <a:r>
              <a:rPr lang="en-US" sz="1250" b="1" dirty="0">
                <a:solidFill>
                  <a:srgbClr val="B91C1C"/>
                </a:solidFill>
              </a:rPr>
              <a:t>Inside the pipeline only when </a:t>
            </a:r>
            <a:pPr indent="0" marL="0">
              <a:buNone/>
            </a:pPr>
            <a:r>
              <a:rPr lang="en-US" sz="1250" dirty="0">
                <a:solidFill>
                  <a:srgbClr val="334155"/>
                </a:solidFill>
              </a:rPr>
              <a:t>the initiator is a service principal in the reviewed pipeline-identities.csv and the key is in Chapter 04's credential log. Either alone is still NPI-DRF-07 (row 96). Fingerprints: SHA-256 over &lt;rule&gt;|&lt;objectKey&gt;|, first 16 hex.</a:t>
            </a:r>
            <a:endParaRPr lang="en-US" sz="12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unused apps (90 days); expiring credentials (30 days); security operations guide for applications. Chapter 10, “The register drift findings”; research gaps, row 96.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review cycle and the annual vintage comparison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5417820" cy="2811780"/>
        </p:xfrm>
        <a:graphic>
          <a:graphicData uri="http://schemas.openxmlformats.org/drawingml/2006/table">
            <a:tbl>
              <a:tblPr firstRow="1" bandRow="1"/>
              <a:tblGrid>
                <a:gridCol w="1377412"/>
                <a:gridCol w="4040408"/>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flags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NPI-REV-01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 holding Graph permissions, no owners' review in 92 days (Finding)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NPI-REV-02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Agent or blueprint with no sponsor attestation in 365 days (Finding; Learn: every six to twelve months)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NPI-REV-03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Agent access with no end date, an end over 365 days away, or active after it (Finding; row 97)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NPI-REV-04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kind of review record not received (Warn): missing isn't passed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4320540"/>
            <a:ext cx="5417820" cy="877824"/>
          </a:xfrm>
          <a:prstGeom prst="rect">
            <a:avLst/>
          </a:prstGeom>
          <a:noFill/>
          <a:ln/>
        </p:spPr>
        <p:txBody>
          <a:bodyPr wrap="square" lIns="0" tIns="0" rIns="0" bIns="0" rtlCol="0" anchor="t"/>
          <a:lstStyle/>
          <a:p>
            <a:pPr indent="0" marL="0">
              <a:buNone/>
            </a:pPr>
            <a:r>
              <a:rPr lang="en-US" sz="1800" b="1" dirty="0">
                <a:solidFill>
                  <a:srgbClr val="1F2A44"/>
                </a:solidFill>
              </a:rPr>
              <a:t>Chapters 07 and 09 build the reviews; this reads their fmp-npi-review/1 records into review-cycle.json.</a:t>
            </a:r>
            <a:endParaRPr lang="en-US" sz="18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6240780" y="1325880"/>
          <a:ext cx="5417820" cy="2715768"/>
        </p:xfrm>
        <a:graphic>
          <a:graphicData uri="http://schemas.openxmlformats.org/drawingml/2006/table">
            <a:tbl>
              <a:tblPr firstRow="1" bandRow="1"/>
              <a:tblGrid>
                <a:gridCol w="1377412"/>
                <a:gridCol w="4040408"/>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flags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NPI-VIN-01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New piloted or deployed entry with no identity (Finding; Info when matched)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NPI-VIN-02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Entry retired while its identities are still enabled (Finding)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NPI-VIN-03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authorization answer changed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NPI-VIN-04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Left the inventory without being reported retired (Finding)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NPI-VIN-05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AI identity whose record maps to no use case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Lead"/>
          <p:cNvSpPr txBox="1"/>
          <p:nvPr/>
        </p:nvSpPr>
        <p:spPr>
          <a:xfrm>
            <a:off x="6240780" y="4224528"/>
            <a:ext cx="5417820" cy="877824"/>
          </a:xfrm>
          <a:prstGeom prst="rect">
            <a:avLst/>
          </a:prstGeom>
          <a:noFill/>
          <a:ln/>
        </p:spPr>
        <p:txBody>
          <a:bodyPr wrap="square" lIns="0" tIns="0" rIns="0" bIns="0" rtlCol="0" anchor="t"/>
          <a:lstStyle/>
          <a:p>
            <a:pPr indent="0" marL="0">
              <a:buNone/>
            </a:pPr>
            <a:r>
              <a:rPr lang="en-US" sz="1800" b="1" dirty="0">
                <a:solidFill>
                  <a:srgbClr val="1F2A44"/>
                </a:solidFill>
              </a:rPr>
              <a:t>Invoke-NpiVintage.ps1 compares by use case ID: Book 17, Ch 09's four changes, plus its no-inventory-row check.</a:t>
            </a:r>
            <a:endParaRPr lang="en-US" sz="18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Best practices for Microsoft Entra Agent ID (sponsor attestation); Book 17, Ch 05 and 09. Chapter 10, “The review cycle,” “The annual vintage comparison”; row 97.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package, the chain and what the ISSO receives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npi_evidence.py" descr="">
            <a:extLst>
              <a:ext uri="{C183D7F6-B498-43B3-948B-1728B52AA6E4}">
                <adec:decorative xmlns:adec="http://schemas.microsoft.com/office/drawing/2017/decorative" val="1"/>
              </a:ext>
            </a:extLst>
          </p:cNvPr>
          <p:cNvSpPr/>
          <p:nvPr/>
        </p:nvSpPr>
        <p:spPr>
          <a:xfrm>
            <a:off x="548640" y="1325880"/>
            <a:ext cx="5201107" cy="3502152"/>
          </a:xfrm>
          <a:prstGeom prst="roundRect">
            <a:avLst>
              <a:gd name="adj" fmla="val 208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npi_evidence.py label"/>
          <p:cNvSpPr txBox="1"/>
          <p:nvPr/>
        </p:nvSpPr>
        <p:spPr>
          <a:xfrm>
            <a:off x="731520" y="1435608"/>
            <a:ext cx="4835347" cy="274320"/>
          </a:xfrm>
          <a:prstGeom prst="rect">
            <a:avLst/>
          </a:prstGeom>
          <a:noFill/>
          <a:ln/>
        </p:spPr>
        <p:txBody>
          <a:bodyPr wrap="square" lIns="0" tIns="0" rIns="0" bIns="0" rtlCol="0" anchor="t"/>
          <a:lstStyle/>
          <a:p>
            <a:pPr indent="0" marL="0">
              <a:buNone/>
            </a:pPr>
            <a:r>
              <a:rPr lang="en-US" sz="1100" b="1" spc="50" kern="0" dirty="0">
                <a:solidFill>
                  <a:srgbClr val="64748B"/>
                </a:solidFill>
              </a:rPr>
              <a:t>NPI_EVIDENCE.PY</a:t>
            </a:r>
            <a:endParaRPr lang="en-US" sz="1100" dirty="0"/>
          </a:p>
        </p:txBody>
      </p:sp>
      <p:sp>
        <p:nvSpPr>
          <p:cNvPr id="7" name="Panel npi_evidence.py list"/>
          <p:cNvSpPr txBox="1"/>
          <p:nvPr/>
        </p:nvSpPr>
        <p:spPr>
          <a:xfrm>
            <a:off x="731520" y="1737360"/>
            <a:ext cx="4881067" cy="304495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package: run/, a summary.md with rule IDs, keys and fingerprints but no names, EVIDENCE-MANIFEST.json, and SHA256SUMS for sha256sum -c</a:t>
            </a:r>
            <a:endParaRPr lang="en-US" sz="1400" dirty="0"/>
          </a:p>
          <a:p>
            <a:pPr marL="342900" indent="-342900">
              <a:spcAft>
                <a:spcPts val="400"/>
              </a:spcAft>
              <a:buSzPct val="100000"/>
              <a:buChar char="•"/>
            </a:pPr>
            <a:r>
              <a:rPr lang="en-US" sz="1400" dirty="0">
                <a:solidFill>
                  <a:srgbClr val="334155"/>
                </a:solidFill>
              </a:rPr>
              <a:t>Checks the run first: every manifest by hash, nothing extra, GETs only, one tenant, cloud and mode, every fingerprint</a:t>
            </a:r>
            <a:endParaRPr lang="en-US" sz="1400" dirty="0"/>
          </a:p>
          <a:p>
            <a:pPr marL="342900" indent="-342900">
              <a:spcAft>
                <a:spcPts val="400"/>
              </a:spcAft>
              <a:buSzPct val="100000"/>
              <a:buChar char="•"/>
            </a:pPr>
            <a:r>
              <a:rPr lang="en-US" sz="1400" dirty="0">
                <a:solidFill>
                  <a:srgbClr val="334155"/>
                </a:solidFill>
              </a:rPr>
              <a:t>Records the previous package's manifest hash: a replaced package or a missing day is a break</a:t>
            </a:r>
            <a:endParaRPr lang="en-US" sz="1400" dirty="0"/>
          </a:p>
          <a:p>
            <a:pPr marL="342900" indent="-342900">
              <a:spcAft>
                <a:spcPts val="400"/>
              </a:spcAft>
              <a:buSzPct val="100000"/>
              <a:buChar char="•"/>
            </a:pPr>
            <a:r>
              <a:rPr lang="en-US" sz="1400" dirty="0">
                <a:solidFill>
                  <a:srgbClr val="334155"/>
                </a:solidFill>
              </a:rPr>
              <a:t>No signing: hashes plus a locked time-based retention policy (row 99)</a:t>
            </a:r>
            <a:endParaRPr lang="en-US" sz="1400" dirty="0"/>
          </a:p>
          <a:p>
            <a:pPr marL="342900" indent="-342900">
              <a:spcAft>
                <a:spcPts val="400"/>
              </a:spcAft>
              <a:buSzPct val="100000"/>
              <a:buChar char="•"/>
            </a:pPr>
            <a:r>
              <a:rPr lang="en-US" sz="1400" dirty="0">
                <a:solidFill>
                  <a:srgbClr val="334155"/>
                </a:solidFill>
              </a:rPr>
              <a:t>period: verifies every package, checks chain and coverage, lists opened and closed</a:t>
            </a:r>
            <a:endParaRPr lang="en-US" sz="14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6024067" y="1325880"/>
          <a:ext cx="5634533" cy="2947416"/>
        </p:xfrm>
        <a:graphic>
          <a:graphicData uri="http://schemas.openxmlformats.org/drawingml/2006/table">
            <a:tbl>
              <a:tblPr firstRow="1" bandRow="1"/>
              <a:tblGrid>
                <a:gridCol w="1807303"/>
                <a:gridCol w="382723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Control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 from (design guidance)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AC-2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NPI-INV-02, -03; NPI-OWN-01, -02, -08; NPI-DRF-01 to -04; NPI-REV-02; Ch 03</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AC-6(5)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NPI-INV-01, -06; NPI-DRF-08; NPI-REV-01; Ch 07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IA-4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NPI-OWN-06, -07; NPI-INV-09; NPI-DRF-01; NPI-VIN-01, -05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IA-5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NPI-INV-04, -05; NPI-DRF-05 to -07; Ch 04, 06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IA-9</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NPI-DRF-07; Ch 05, 08</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M-25-21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NPI-REV-02, -03; NPI-VIN-01 to -05; Ch 09</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Callout" descr="">
            <a:extLst>
              <a:ext uri="{C183D7F6-B498-43B3-948B-1728B52AA6E4}">
                <adec:decorative xmlns:adec="http://schemas.microsoft.com/office/drawing/2017/decorative" val="1"/>
              </a:ext>
            </a:extLst>
          </p:cNvPr>
          <p:cNvSpPr/>
          <p:nvPr/>
        </p:nvSpPr>
        <p:spPr>
          <a:xfrm>
            <a:off x="548640" y="5010912"/>
            <a:ext cx="11109960" cy="731520"/>
          </a:xfrm>
          <a:prstGeom prst="roundRect">
            <a:avLst>
              <a:gd name="adj" fmla="val 10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Icon FaFileShield" descr="">
            <a:extLst>
              <a:ext uri="{C183D7F6-B498-43B3-948B-1728B52AA6E4}">
                <adec:decorative xmlns:adec="http://schemas.microsoft.com/office/drawing/2017/decorative" val="1"/>
              </a:ext>
            </a:extLst>
          </p:cNvPr>
          <p:cNvSpPr/>
          <p:nvPr/>
        </p:nvSpPr>
        <p:spPr>
          <a:xfrm>
            <a:off x="749808" y="5084064"/>
            <a:ext cx="585216" cy="585216"/>
          </a:xfrm>
          <a:prstGeom prst="ellipse">
            <a:avLst/>
          </a:prstGeom>
          <a:solidFill>
            <a:srgbClr val="0F766E"/>
          </a:solidFill>
          <a:ln w="12700">
            <a:solidFill>
              <a:srgbClr val="0F766E"/>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224516"/>
            <a:ext cx="304312" cy="304312"/>
          </a:xfrm>
          <a:prstGeom prst="rect">
            <a:avLst/>
          </a:prstGeom>
        </p:spPr>
      </p:pic>
      <p:sp>
        <p:nvSpPr>
          <p:cNvPr id="12" name="Callout text"/>
          <p:cNvSpPr txBox="1"/>
          <p:nvPr/>
        </p:nvSpPr>
        <p:spPr>
          <a:xfrm>
            <a:off x="1600200" y="5065776"/>
            <a:ext cx="9875520" cy="621792"/>
          </a:xfrm>
          <a:prstGeom prst="rect">
            <a:avLst/>
          </a:prstGeom>
          <a:noFill/>
          <a:ln/>
        </p:spPr>
        <p:txBody>
          <a:bodyPr wrap="square" lIns="0" tIns="0" rIns="0" bIns="0" rtlCol="0" anchor="ctr"/>
          <a:lstStyle/>
          <a:p>
            <a:pPr indent="0" marL="0">
              <a:buNone/>
            </a:pPr>
            <a:r>
              <a:rPr lang="en-US" sz="1450" b="1" dirty="0">
                <a:solidFill>
                  <a:srgbClr val="0F766E"/>
                </a:solidFill>
              </a:rPr>
              <a:t>Each control's status: </a:t>
            </a:r>
            <a:pPr indent="0" marL="0">
              <a:buNone/>
            </a:pPr>
            <a:r>
              <a:rPr lang="en-US" sz="1450" dirty="0">
                <a:solidFill>
                  <a:srgbClr val="334155"/>
                </a:solidFill>
              </a:rPr>
              <a:t>“evidence present; the assessor decides” or “evidence incomplete.” The mapping is the program's reading and decides nothing (row 98).</a:t>
            </a:r>
            <a:endParaRPr lang="en-US" sz="14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immutable storage for blob data (WORM); companion guide, federal requirements. Chapter 10, “The package and the chain,” “What the ISSO receives”; rows 98–99.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runs it, who signs it, and what it may read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630680"/>
          </a:xfrm>
          <a:prstGeom prst="roundRect">
            <a:avLst>
              <a:gd name="adj" fmla="val 4486"/>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63068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40208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 and pipeline engineers</a:t>
            </a:r>
            <a:endParaRPr lang="en-US" sz="1400" dirty="0"/>
          </a:p>
          <a:p>
            <a:pPr indent="0" marL="0">
              <a:spcAft>
                <a:spcPts val="300"/>
              </a:spcAft>
              <a:buNone/>
            </a:pPr>
            <a:r>
              <a:rPr lang="en-US" sz="1500" dirty="0">
                <a:solidFill>
                  <a:srgbClr val="334155"/>
                </a:solidFill>
              </a:rPr>
              <a:t>Own the scheduled checks; read PowerShell 7 and Python; know Chapters 01 and 02</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630680"/>
          </a:xfrm>
          <a:prstGeom prst="roundRect">
            <a:avLst>
              <a:gd name="adj" fmla="val 4486"/>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63068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40208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governance officer</a:t>
            </a:r>
            <a:endParaRPr lang="en-US" sz="1400" dirty="0"/>
          </a:p>
          <a:p>
            <a:pPr indent="0" marL="0">
              <a:spcAft>
                <a:spcPts val="300"/>
              </a:spcAft>
              <a:buNone/>
            </a:pPr>
            <a:r>
              <a:rPr lang="en-US" sz="1500" dirty="0">
                <a:solidFill>
                  <a:srgbClr val="334155"/>
                </a:solidFill>
              </a:rPr>
              <a:t>Owns N7.2 and N7.4; signs the period summary</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630680"/>
          </a:xfrm>
          <a:prstGeom prst="roundRect">
            <a:avLst>
              <a:gd name="adj" fmla="val 448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63068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40208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The ISSO</a:t>
            </a:r>
            <a:endParaRPr lang="en-US" sz="1400" dirty="0"/>
          </a:p>
          <a:p>
            <a:pPr indent="0" marL="0">
              <a:spcAft>
                <a:spcPts val="300"/>
              </a:spcAft>
              <a:buNone/>
            </a:pPr>
            <a:r>
              <a:rPr lang="en-US" sz="1500" dirty="0">
                <a:solidFill>
                  <a:srgbClr val="334155"/>
                </a:solidFill>
              </a:rPr>
              <a:t>Receives the evidence, verifies it with sha256sum, and signs Gate 7</a:t>
            </a:r>
            <a:endParaRPr lang="en-US" sz="14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3139440"/>
          <a:ext cx="11109960" cy="1822704"/>
        </p:xfrm>
        <a:graphic>
          <a:graphicData uri="http://schemas.openxmlformats.org/drawingml/2006/table">
            <a:tbl>
              <a:tblPr firstRow="1" bandRow="1"/>
              <a:tblGrid>
                <a:gridCol w="1645920"/>
                <a:gridCol w="3931920"/>
                <a:gridCol w="2377440"/>
                <a:gridCol w="3154680"/>
              </a:tblGrid>
              <a:tr h="5364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Calls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Least-privileged permission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Delegated role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drift (read)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List directoryAudits; List servicePrincipalSignInActivities (beta)</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AuditLog.Read.All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Reports Reader, Security Reader or Security Administrator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whole run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With Chapter 01's inventory and Chapter 02's ownership tasks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Application.Read.All, AuditLog.Read.All, Directory.Read.All, User.Read.All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Reader on the user-assigned identities; the default AD read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directoryAudits; List servicePrincipalSignInActivities (beta). Chapter 10, “Goal and audience,” “The audit and sign-in reads.”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rule, then two days of runs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465832"/>
          </a:xfrm>
          <a:prstGeom prst="roundRect">
            <a:avLst>
              <a:gd name="adj" fmla="val 2967"/>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PYTHON 3.10+ WITH PYTEST AND PYYAML, AND sha256sum</a:t>
            </a:r>
            <a:endParaRPr lang="en-US" sz="1050" dirty="0"/>
          </a:p>
        </p:txBody>
      </p:sp>
      <p:sp>
        <p:nvSpPr>
          <p:cNvPr id="7" name="Code"/>
          <p:cNvSpPr txBox="1"/>
          <p:nvPr/>
        </p:nvSpPr>
        <p:spPr>
          <a:xfrm>
            <a:off x="713232" y="1664208"/>
            <a:ext cx="10835640" cy="2081784"/>
          </a:xfrm>
          <a:prstGeom prst="rect">
            <a:avLst/>
          </a:prstGeom>
          <a:noFill/>
          <a:ln/>
        </p:spPr>
        <p:txBody>
          <a:bodyPr wrap="square" lIns="0" tIns="0" rIns="0" bIns="0" rtlCol="0" anchor="t"/>
          <a:lstStyle/>
          <a:p>
            <a:pPr indent="0" marL="0">
              <a:buNone/>
            </a:pPr>
            <a:r>
              <a:rPr lang="en-US" sz="1300" dirty="0">
                <a:solidFill>
                  <a:srgbClr val="0F766E"/>
                </a:solidFill>
                <a:latin typeface="Consolas" pitchFamily="34" charset="0"/>
                <a:ea typeface="Consolas" pitchFamily="34" charset="-122"/>
                <a:cs typeface="Consolas" pitchFamily="34" charset="-120"/>
              </a:rPr>
              <a:t># 1  Microsoft's rule over the fixture: PassedCount 11, FailedCount 0, NotRunCount 40</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Invoke-Pester -Path tests/NpiDrift.Tests.ps1 -FullNameFilter '*as published*' -Output None -PassThru</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2  (Get-NpiDriftPermission -Task drift-run).GraphPermissions: four, nothing ReadWrite</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3  Day 1, no baseline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./Invoke-NpiDriftRun.ps1 @lab -FixturePath tests/fixtures/ch10/estate-day1.json -AsOf 2026-10-29T06:00:00Z</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Run 2026-10-29T0600Z-fixture (Fixture, gcc): inventory OK, ownership OK, drift OK</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Drift findings: 14 Finding, 4 Warn, 5 Info; baseline candidate SHA-256 604ee088…</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4  Approve the baseline; day 2</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./Invoke-NpiDriftRun.ps1 @lab … -AsOf 2026-10-30T06:00:00Z -BaselinePath $base -ApprovedBaselineSha256 $sha</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Drift findings: 18 Finding, 11 Warn, 5 Info; baseline candidate SHA-256 fbe34645…</a:t>
            </a:r>
            <a:endParaRPr lang="en-US" sz="1300" dirty="0"/>
          </a:p>
        </p:txBody>
      </p:sp>
      <p:sp>
        <p:nvSpPr>
          <p:cNvPr id="8" name="Callout" descr="">
            <a:extLst>
              <a:ext uri="{C183D7F6-B498-43B3-948B-1728B52AA6E4}">
                <adec:decorative xmlns:adec="http://schemas.microsoft.com/office/drawing/2017/decorative" val="1"/>
              </a:ext>
            </a:extLst>
          </p:cNvPr>
          <p:cNvSpPr/>
          <p:nvPr/>
        </p:nvSpPr>
        <p:spPr>
          <a:xfrm>
            <a:off x="548640" y="3974592"/>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49808" y="4047744"/>
            <a:ext cx="606552" cy="606552"/>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193316"/>
            <a:ext cx="315407" cy="315407"/>
          </a:xfrm>
          <a:prstGeom prst="rect">
            <a:avLst/>
          </a:prstGeom>
        </p:spPr>
      </p:pic>
      <p:sp>
        <p:nvSpPr>
          <p:cNvPr id="11" name="Callout text"/>
          <p:cNvSpPr txBox="1"/>
          <p:nvPr/>
        </p:nvSpPr>
        <p:spPr>
          <a:xfrm>
            <a:off x="1600200" y="4029456"/>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Read in step 1: </a:t>
            </a:r>
            <a:pPr indent="0" marL="0">
              <a:buNone/>
            </a:pPr>
            <a:r>
              <a:rPr lang="en-US" sz="1750" dirty="0">
                <a:solidFill>
                  <a:srgbClr val="334155"/>
                </a:solidFill>
              </a:rPr>
              <a:t>of the four credentials added in the second day's window, the rule finds one. LF line endings make the hashes the same on Windows, Linux and macOS.</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(tests and fixtures, fictional). Chapter 10,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reading the drift and the vintage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52444"/>
        </p:xfrm>
        <a:graphic>
          <a:graphicData uri="http://schemas.openxmlformats.org/drawingml/2006/table">
            <a:tbl>
              <a:tblPr firstRow="1" bandRow="1"/>
              <a:tblGrid>
                <a:gridCol w="2743200"/>
                <a:gridCol w="836676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you see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NPI-DRF-07 ×3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secret a person added to HR Connector; a secret Mail Automation added to Payroll Export's service principal; the first secret on Build Pipeline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Not there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pipeline's certificate rotations on Deploy Bot and Vendor Portal: listed identity and logged key. Vendor Portal's day-1 NPI-DRF-05 is gone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NPI-DRF-08, -04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Mail Automation's new all-users grant; Legacy Reports (last sign-in May 1) and Old SAML Connector (none). Survey Tool, new, isn't judged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NPI-DRF-03 ×7, -06 ×3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Orphan candidates; passwords that never expire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NPI-DRF-09</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Warn: the sample Chapter 05 file, refused for a wrong fingerprint; Info: five chapters that sent nothing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NPI-REV-01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Mail Automation's last owners' review, 2026-05-01, is too old (Payroll Export's: 2026-09-15)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Vintage 2026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5 changes; UC-005 new with no identity; UC-002 retired while Mail Automation is enabled; UC-004 left unreported; Benefits Q&amp;A maps to no use case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061204"/>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events.json holds object IDs and key IDs, no names.</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fixtures (fictional estate, audit rows and inventories). Chapter 10, “Lab 1: fixtures, no tenant,” steps 5–6.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package, verify, the period, then break it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4984394" cy="2333244"/>
          </a:xfrm>
          <a:prstGeom prst="roundRect">
            <a:avLst>
              <a:gd name="adj" fmla="val 3135"/>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p:cNvSpPr txBox="1"/>
          <p:nvPr/>
        </p:nvSpPr>
        <p:spPr>
          <a:xfrm>
            <a:off x="713232" y="1417320"/>
            <a:ext cx="4710074" cy="2196084"/>
          </a:xfrm>
          <a:prstGeom prst="rect">
            <a:avLst/>
          </a:prstGeom>
          <a:noFill/>
          <a:ln/>
        </p:spPr>
        <p:txBody>
          <a:bodyPr wrap="square" lIns="0" tIns="0" rIns="0" bIns="0" rtlCol="0" anchor="t"/>
          <a:lstStyle/>
          <a:p>
            <a:pPr indent="0" marL="0">
              <a:buNone/>
            </a:pPr>
            <a:r>
              <a:rPr lang="en-US" sz="1250" dirty="0">
                <a:solidFill>
                  <a:srgbClr val="0F766E"/>
                </a:solidFill>
                <a:latin typeface="Consolas" pitchFamily="34" charset="0"/>
                <a:ea typeface="Consolas" pitchFamily="34" charset="-122"/>
                <a:cs typeface="Consolas" pitchFamily="34" charset="-120"/>
              </a:rPr>
              <a:t># 7  Package both days, chained</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python python/npi_evidence.py package --run $DAY1 …</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python python/npi_evidence.py package --run $DAY2 \</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  --previous-manifest …/EVIDENCE-MANIFEST.json …</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new 62, open 62, resolved 0   (day 1)</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new 19, open 80, resolved 1   (day 2)</a:t>
            </a:r>
            <a:endParaRPr lang="en-US" sz="1250" dirty="0"/>
          </a:p>
          <a:p>
            <a:pPr indent="0" marL="0">
              <a:buNone/>
            </a:pPr>
            <a:r>
              <a:rPr lang="en-US" sz="1250" dirty="0">
                <a:solidFill>
                  <a:srgbClr val="0F766E"/>
                </a:solidFill>
                <a:latin typeface="Consolas" pitchFamily="34" charset="0"/>
                <a:ea typeface="Consolas" pitchFamily="34" charset="-122"/>
                <a:cs typeface="Consolas" pitchFamily="34" charset="-120"/>
              </a:rPr>
              <a:t># 8  verify: 21 files; sha256sum -c exits 0;</a:t>
            </a:r>
            <a:endParaRPr lang="en-US" sz="1250" dirty="0"/>
          </a:p>
          <a:p>
            <a:pPr indent="0" marL="0">
              <a:buNone/>
            </a:pPr>
            <a:r>
              <a:rPr lang="en-US" sz="1250" dirty="0">
                <a:solidFill>
                  <a:srgbClr val="0F766E"/>
                </a:solidFill>
                <a:latin typeface="Consolas" pitchFamily="34" charset="0"/>
                <a:ea typeface="Consolas" pitchFamily="34" charset="-122"/>
                <a:cs typeface="Consolas" pitchFamily="34" charset="-120"/>
              </a:rPr>
              <a:t>#    grep -c contoso summary.md prints 0</a:t>
            </a:r>
            <a:endParaRPr lang="en-US" sz="1250" dirty="0"/>
          </a:p>
          <a:p>
            <a:pPr indent="0" marL="0">
              <a:buNone/>
            </a:pPr>
            <a:r>
              <a:rPr lang="en-US" sz="1250" dirty="0">
                <a:solidFill>
                  <a:srgbClr val="0F766E"/>
                </a:solidFill>
                <a:latin typeface="Consolas" pitchFamily="34" charset="0"/>
                <a:ea typeface="Consolas" pitchFamily="34" charset="-122"/>
                <a:cs typeface="Consolas" pitchFamily="34" charset="-120"/>
              </a:rPr>
              <a:t># 10 edit summary.md: verify exits 1;</a:t>
            </a:r>
            <a:endParaRPr lang="en-US" sz="1250" dirty="0"/>
          </a:p>
          <a:p>
            <a:pPr indent="0" marL="0">
              <a:buNone/>
            </a:pPr>
            <a:r>
              <a:rPr lang="en-US" sz="1250" dirty="0">
                <a:solidFill>
                  <a:srgbClr val="0F766E"/>
                </a:solidFill>
                <a:latin typeface="Consolas" pitchFamily="34" charset="0"/>
                <a:ea typeface="Consolas" pitchFamily="34" charset="-122"/>
                <a:cs typeface="Consolas" pitchFamily="34" charset="-120"/>
              </a:rPr>
              <a:t>#    swap day 1 after day 2: exits 1;</a:t>
            </a:r>
            <a:endParaRPr lang="en-US" sz="1250" dirty="0"/>
          </a:p>
          <a:p>
            <a:pPr indent="0" marL="0">
              <a:buNone/>
            </a:pPr>
            <a:r>
              <a:rPr lang="en-US" sz="1250" dirty="0">
                <a:solidFill>
                  <a:srgbClr val="0F766E"/>
                </a:solidFill>
                <a:latin typeface="Consolas" pitchFamily="34" charset="0"/>
                <a:ea typeface="Consolas" pitchFamily="34" charset="-122"/>
                <a:cs typeface="Consolas" pitchFamily="34" charset="-120"/>
              </a:rPr>
              <a:t>#    the workflow lints 0 findings</a:t>
            </a:r>
            <a:endParaRPr lang="en-US" sz="125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807354" y="1325880"/>
          <a:ext cx="5851246" cy="2304288"/>
        </p:xfrm>
        <a:graphic>
          <a:graphicData uri="http://schemas.openxmlformats.org/drawingml/2006/table">
            <a:tbl>
              <a:tblPr firstRow="1" bandRow="1"/>
              <a:tblGrid>
                <a:gridCol w="3182256"/>
                <a:gridCol w="2668989"/>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Gate 7 in the period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Result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Owner and sponsor, reason and target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Not decided by this code until Ch 03 sends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No never-expiring password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Not met: three accounts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None orphaned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Not met: seven candidates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Drift checks and reviews running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Review cycle not met: four findings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gMSAs and dMSAs moved or islanded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Not decided until Ch 06 sends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Lead"/>
          <p:cNvSpPr txBox="1"/>
          <p:nvPr/>
        </p:nvSpPr>
        <p:spPr>
          <a:xfrm>
            <a:off x="5807354" y="3813048"/>
            <a:ext cx="5851246" cy="603504"/>
          </a:xfrm>
          <a:prstGeom prst="rect">
            <a:avLst/>
          </a:prstGeom>
          <a:noFill/>
          <a:ln/>
        </p:spPr>
        <p:txBody>
          <a:bodyPr wrap="square" lIns="0" tIns="0" rIns="0" bIns="0" rtlCol="0" anchor="t"/>
          <a:lstStyle/>
          <a:p>
            <a:pPr indent="0" marL="0">
              <a:buNone/>
            </a:pPr>
            <a:r>
              <a:rPr lang="en-US" sz="1800" b="1" dirty="0">
                <a:solidFill>
                  <a:srgbClr val="1F2A44"/>
                </a:solidFill>
              </a:rPr>
              <a:t>Step 9 exits 2: complete false; no chain breaks or coverage gaps; AC-2, IA-5, IA-9 incomplete.</a:t>
            </a:r>
            <a:endParaRPr lang="en-US" sz="1800" dirty="0"/>
          </a:p>
        </p:txBody>
      </p:sp>
      <p:sp>
        <p:nvSpPr>
          <p:cNvPr id="9" name="Lead"/>
          <p:cNvSpPr txBox="1"/>
          <p:nvPr/>
        </p:nvSpPr>
        <p:spPr>
          <a:xfrm>
            <a:off x="548640" y="4599432"/>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Expected: 513 Pester tests in examples/non-person-identity, 136 pytest in examples/drift-pipeline. Delete out in both.</a:t>
            </a:r>
            <a:endParaRPr lang="en-US" sz="18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examples/drift-pipeline fixtures (fictional runs and vintage). Chapter 10, “Lab 1: fixtures, no tenant,” steps 7–10, expected result; “What the ISSO receives” — Gate 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three changes to see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4320" cy="274320"/>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Register the reader app: </a:t>
            </a:r>
            <a:pPr indent="0" marL="0">
              <a:buNone/>
            </a:pPr>
            <a:r>
              <a:rPr lang="en-US" sz="1400" dirty="0">
                <a:solidFill>
                  <a:srgbClr val="334155"/>
                </a:solidFill>
              </a:rPr>
              <a:t>In the tenant's own cloud, with a certificate; the four permissions and Reader, nothing else; run once with no baseline; a second person approves the candidate's SHA-256</a:t>
            </a:r>
            <a:endParaRPr lang="en-US" sz="1400" dirty="0"/>
          </a:p>
        </p:txBody>
      </p:sp>
      <p:sp>
        <p:nvSpPr>
          <p:cNvPr id="8" name="Step 2 dot" descr="">
            <a:extLst>
              <a:ext uri="{C183D7F6-B498-43B3-948B-1728B52AA6E4}">
                <adec:decorative xmlns:adec="http://schemas.microsoft.com/office/drawing/2017/decorative" val="1"/>
              </a:ext>
            </a:extLst>
          </p:cNvPr>
          <p:cNvSpPr/>
          <p:nvPr/>
        </p:nvSpPr>
        <p:spPr>
          <a:xfrm>
            <a:off x="548640" y="1880616"/>
            <a:ext cx="274320" cy="274320"/>
          </a:xfrm>
          <a:prstGeom prst="ellipse">
            <a:avLst/>
          </a:prstGeom>
          <a:solidFill>
            <a:srgbClr val="B45309"/>
          </a:solidFill>
          <a:ln w="12700">
            <a:solidFill>
              <a:srgbClr val="B45309"/>
            </a:solidFill>
            <a:prstDash val="solid"/>
          </a:ln>
        </p:spPr>
      </p:sp>
      <p:sp>
        <p:nvSpPr>
          <p:cNvPr id="9" name="Step 2 number"/>
          <p:cNvSpPr txBox="1"/>
          <p:nvPr/>
        </p:nvSpPr>
        <p:spPr>
          <a:xfrm>
            <a:off x="548640" y="1880616"/>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62328"/>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Make three changes: </a:t>
            </a:r>
            <a:pPr indent="0" marL="0">
              <a:buNone/>
            </a:pPr>
            <a:r>
              <a:rPr lang="en-US" sz="1400" dirty="0">
                <a:solidFill>
                  <a:srgbClr val="334155"/>
                </a:solidFill>
              </a:rPr>
              <a:t>A client secret on a test app that has a certificate; the first secret on a test app with none; admin consent for a delegated Graph permission to a third</a:t>
            </a:r>
            <a:endParaRPr lang="en-US" sz="1400" dirty="0"/>
          </a:p>
        </p:txBody>
      </p:sp>
      <p:sp>
        <p:nvSpPr>
          <p:cNvPr id="11" name="Step 3 dot" descr="">
            <a:extLst>
              <a:ext uri="{C183D7F6-B498-43B3-948B-1728B52AA6E4}">
                <adec:decorative xmlns:adec="http://schemas.microsoft.com/office/drawing/2017/decorative" val="1"/>
              </a:ext>
            </a:extLst>
          </p:cNvPr>
          <p:cNvSpPr/>
          <p:nvPr/>
        </p:nvSpPr>
        <p:spPr>
          <a:xfrm>
            <a:off x="548640" y="2417064"/>
            <a:ext cx="274320" cy="274320"/>
          </a:xfrm>
          <a:prstGeom prst="ellipse">
            <a:avLst/>
          </a:prstGeom>
          <a:solidFill>
            <a:srgbClr val="B45309"/>
          </a:solidFill>
          <a:ln w="12700">
            <a:solidFill>
              <a:srgbClr val="B45309"/>
            </a:solidFill>
            <a:prstDash val="solid"/>
          </a:ln>
        </p:spPr>
      </p:sp>
      <p:sp>
        <p:nvSpPr>
          <p:cNvPr id="12" name="Step 3 number"/>
          <p:cNvSpPr txBox="1"/>
          <p:nvPr/>
        </p:nvSpPr>
        <p:spPr>
          <a:xfrm>
            <a:off x="548640" y="2417064"/>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398776"/>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Run the drift run: </a:t>
            </a:r>
            <a:pPr indent="0" marL="0">
              <a:buNone/>
            </a:pPr>
            <a:r>
              <a:rPr lang="en-US" sz="1400" dirty="0">
                <a:solidFill>
                  <a:srgbClr val="334155"/>
                </a:solidFill>
              </a:rPr>
              <a:t>Connect-MgGraph -Environment Global and Connect-AzAccount -Environment AzureCloud; Invoke-NpiDriftRun.ps1 -Cloud gcc with the approved baseline</a:t>
            </a:r>
            <a:endParaRPr lang="en-US" sz="1400" dirty="0"/>
          </a:p>
        </p:txBody>
      </p:sp>
      <p:sp>
        <p:nvSpPr>
          <p:cNvPr id="14" name="Step 4 dot" descr="">
            <a:extLst>
              <a:ext uri="{C183D7F6-B498-43B3-948B-1728B52AA6E4}">
                <adec:decorative xmlns:adec="http://schemas.microsoft.com/office/drawing/2017/decorative" val="1"/>
              </a:ext>
            </a:extLst>
          </p:cNvPr>
          <p:cNvSpPr/>
          <p:nvPr/>
        </p:nvSpPr>
        <p:spPr>
          <a:xfrm>
            <a:off x="548640" y="2953512"/>
            <a:ext cx="274320" cy="274320"/>
          </a:xfrm>
          <a:prstGeom prst="ellipse">
            <a:avLst/>
          </a:prstGeom>
          <a:solidFill>
            <a:srgbClr val="B45309"/>
          </a:solidFill>
          <a:ln w="12700">
            <a:solidFill>
              <a:srgbClr val="B45309"/>
            </a:solidFill>
            <a:prstDash val="solid"/>
          </a:ln>
        </p:spPr>
      </p:sp>
      <p:sp>
        <p:nvSpPr>
          <p:cNvPr id="15" name="Step 4 number"/>
          <p:cNvSpPr txBox="1"/>
          <p:nvPr/>
        </p:nvSpPr>
        <p:spPr>
          <a:xfrm>
            <a:off x="548640" y="2953512"/>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935224"/>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Check what the fixture assumed: </a:t>
            </a:r>
            <a:pPr indent="0" marL="0">
              <a:buNone/>
            </a:pPr>
            <a:r>
              <a:rPr lang="en-US" sz="1400" dirty="0">
                <a:solidFill>
                  <a:srgbClr val="334155"/>
                </a:solidFill>
              </a:rPr>
              <a:t>Record the exact activity names, hyphen or dash (row 91); how a service principal secret is logged (row 92); whether KeysAdded holds key IDs; whether the beta report returned rows (row 93)</a:t>
            </a:r>
            <a:endParaRPr lang="en-US" sz="1400" dirty="0"/>
          </a:p>
        </p:txBody>
      </p:sp>
      <p:sp>
        <p:nvSpPr>
          <p:cNvPr id="17" name="Step 5 dot" descr="">
            <a:extLst>
              <a:ext uri="{C183D7F6-B498-43B3-948B-1728B52AA6E4}">
                <adec:decorative xmlns:adec="http://schemas.microsoft.com/office/drawing/2017/decorative" val="1"/>
              </a:ext>
            </a:extLst>
          </p:cNvPr>
          <p:cNvSpPr/>
          <p:nvPr/>
        </p:nvSpPr>
        <p:spPr>
          <a:xfrm>
            <a:off x="548640" y="3489960"/>
            <a:ext cx="274320" cy="274320"/>
          </a:xfrm>
          <a:prstGeom prst="ellipse">
            <a:avLst/>
          </a:prstGeom>
          <a:solidFill>
            <a:srgbClr val="B45309"/>
          </a:solidFill>
          <a:ln w="12700">
            <a:solidFill>
              <a:srgbClr val="B45309"/>
            </a:solidFill>
            <a:prstDash val="solid"/>
          </a:ln>
        </p:spPr>
      </p:sp>
      <p:sp>
        <p:nvSpPr>
          <p:cNvPr id="18" name="Step 5 number"/>
          <p:cNvSpPr txBox="1"/>
          <p:nvPr/>
        </p:nvSpPr>
        <p:spPr>
          <a:xfrm>
            <a:off x="548640" y="3489960"/>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471672"/>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Cross-check against Learn: </a:t>
            </a:r>
            <a:pPr indent="0" marL="0">
              <a:buNone/>
            </a:pPr>
            <a:r>
              <a:rPr lang="en-US" sz="1400" dirty="0">
                <a:solidFill>
                  <a:srgbClr val="334155"/>
                </a:solidFill>
              </a:rPr>
              <a:t>Audit logs filtered on ApplicationManagement: every event should be in events.json; in a workspace, Microsoft's rule finds the first secret's event and not the second</a:t>
            </a:r>
            <a:endParaRPr lang="en-US" sz="1400" dirty="0"/>
          </a:p>
        </p:txBody>
      </p:sp>
      <p:sp>
        <p:nvSpPr>
          <p:cNvPr id="20" name="Step 6 dot" descr="">
            <a:extLst>
              <a:ext uri="{C183D7F6-B498-43B3-948B-1728B52AA6E4}">
                <adec:decorative xmlns:adec="http://schemas.microsoft.com/office/drawing/2017/decorative" val="1"/>
              </a:ext>
            </a:extLst>
          </p:cNvPr>
          <p:cNvSpPr/>
          <p:nvPr/>
        </p:nvSpPr>
        <p:spPr>
          <a:xfrm>
            <a:off x="548640" y="4026408"/>
            <a:ext cx="274320" cy="274320"/>
          </a:xfrm>
          <a:prstGeom prst="ellipse">
            <a:avLst/>
          </a:prstGeom>
          <a:solidFill>
            <a:srgbClr val="B45309"/>
          </a:solidFill>
          <a:ln w="12700">
            <a:solidFill>
              <a:srgbClr val="B45309"/>
            </a:solidFill>
            <a:prstDash val="solid"/>
          </a:ln>
        </p:spPr>
      </p:sp>
      <p:sp>
        <p:nvSpPr>
          <p:cNvPr id="21" name="Step 6 number"/>
          <p:cNvSpPr txBox="1"/>
          <p:nvPr/>
        </p:nvSpPr>
        <p:spPr>
          <a:xfrm>
            <a:off x="548640" y="4026408"/>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008120"/>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Package, verify, back out: </a:t>
            </a:r>
            <a:pPr indent="0" marL="0">
              <a:buNone/>
            </a:pPr>
            <a:r>
              <a:rPr lang="en-US" sz="1400" dirty="0">
                <a:solidFill>
                  <a:srgbClr val="334155"/>
                </a:solidFill>
              </a:rPr>
              <a:t>Lab 1 steps 7–8; then remove the secrets, the grant, the permissions and the app; delete the runs and packages</a:t>
            </a:r>
            <a:endParaRPr lang="en-US" sz="1400" dirty="0"/>
          </a:p>
        </p:txBody>
      </p:sp>
      <p:sp>
        <p:nvSpPr>
          <p:cNvPr id="23" name="Callout" descr="">
            <a:extLst>
              <a:ext uri="{C183D7F6-B498-43B3-948B-1728B52AA6E4}">
                <adec:decorative xmlns:adec="http://schemas.microsoft.com/office/drawing/2017/decorative" val="1"/>
              </a:ext>
            </a:extLst>
          </p:cNvPr>
          <p:cNvSpPr/>
          <p:nvPr/>
        </p:nvSpPr>
        <p:spPr>
          <a:xfrm>
            <a:off x="548640" y="4727448"/>
            <a:ext cx="11109960" cy="1019556"/>
          </a:xfrm>
          <a:prstGeom prst="roundRect">
            <a:avLst>
              <a:gd name="adj" fmla="val 717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917186"/>
            <a:ext cx="640080" cy="640080"/>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070805"/>
            <a:ext cx="332842" cy="332842"/>
          </a:xfrm>
          <a:prstGeom prst="rect">
            <a:avLst/>
          </a:prstGeom>
        </p:spPr>
      </p:pic>
      <p:sp>
        <p:nvSpPr>
          <p:cNvPr id="26" name="Callout text"/>
          <p:cNvSpPr txBox="1"/>
          <p:nvPr/>
        </p:nvSpPr>
        <p:spPr>
          <a:xfrm>
            <a:off x="1600200" y="4782312"/>
            <a:ext cx="9875520" cy="9098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worldwide or GCC test tenant with Entra ID P1 or P2, never production, with fictional people. In production, lock the evidence container's retention policy once Lab 2 passes; unlocked is for testing only.</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security operations guide for applications; immutable storage (locked retention). Chapter 10, “Lab 2: test tenant”; research gaps, rows 91–93.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279392"/>
        </p:xfrm>
        <a:graphic>
          <a:graphicData uri="http://schemas.openxmlformats.org/drawingml/2006/table">
            <a:tbl>
              <a:tblPr firstRow="1" bandRow="1"/>
              <a:tblGrid>
                <a:gridCol w="3108960"/>
                <a:gridCol w="3931920"/>
                <a:gridCol w="406908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baseline nobody approved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malicious change becomes the new normal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Compared only with an approved SHA-256, for this tenant and cloud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failed read reported as a fix</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403 makes yesterday's findings disappear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Error with no folder; missing input is NPI-DRF-09 or NPI-REV-04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day nobody read; a window older than the log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Evidence gaps; a partial read that looks complete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Windows start where the last ended; refused past 30 days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Trusting Microsoft's rule; every rotation alerting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 first and SP credentials unseen; the alert ignored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Every initiator and key; listed identity plus credential log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pipeline identity misused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attacker with its credential adds a key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key not in the log is still NPI-DRF-07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Names in the tracker or summary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Owners and initiators listed for every reader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IDs and fingerprints only; a test searches for every fixture name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run edited, swapped, or a package replaced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Evidence for a run that never happened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Manifests, run.json, one tenant through the chain; period reports breaks; locked retention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Unused treated as delete; the wrong cloud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seasonal app removed; a beta call the cloud lacks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NPI-DRF-04 is a Warn and nothing writes; required cloud, no default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10, “Dangers”; Learn, data retention; unused apps; Governing service accounts (disable, not delete); immutable storage.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checklist, and the workbook's end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run" descr="">
            <a:extLst>
              <a:ext uri="{C183D7F6-B498-43B3-948B-1728B52AA6E4}">
                <adec:decorative xmlns:adec="http://schemas.microsoft.com/office/drawing/2017/decorative" val="1"/>
              </a:ext>
            </a:extLst>
          </p:cNvPr>
          <p:cNvSpPr/>
          <p:nvPr/>
        </p:nvSpPr>
        <p:spPr>
          <a:xfrm>
            <a:off x="548640" y="1325880"/>
            <a:ext cx="5417820" cy="3352800"/>
          </a:xfrm>
          <a:prstGeom prst="roundRect">
            <a:avLst>
              <a:gd name="adj" fmla="val 218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run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RUN</a:t>
            </a:r>
            <a:endParaRPr lang="en-US" sz="1100" dirty="0"/>
          </a:p>
        </p:txBody>
      </p:sp>
      <p:sp>
        <p:nvSpPr>
          <p:cNvPr id="7" name="Panel The run list"/>
          <p:cNvSpPr txBox="1"/>
          <p:nvPr/>
        </p:nvSpPr>
        <p:spPr>
          <a:xfrm>
            <a:off x="731520" y="1737360"/>
            <a:ext cx="5097780" cy="2895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run.json shows inventory, ownership and drift all OK</a:t>
            </a:r>
            <a:endParaRPr lang="en-US" sz="1400" dirty="0"/>
          </a:p>
          <a:p>
            <a:pPr marL="342900" indent="-342900">
              <a:spcAft>
                <a:spcPts val="400"/>
              </a:spcAft>
              <a:buSzPct val="100000"/>
              <a:buChar char="•"/>
            </a:pPr>
            <a:r>
              <a:rPr lang="en-US" sz="1400" dirty="0">
                <a:solidFill>
                  <a:srgbClr val="334155"/>
                </a:solidFill>
              </a:rPr>
              <a:t>The reader app holds exactly four Graph permissions and Reader, with a certificate or federated credential</a:t>
            </a:r>
            <a:endParaRPr lang="en-US" sz="1400" dirty="0"/>
          </a:p>
          <a:p>
            <a:pPr marL="342900" indent="-342900">
              <a:spcAft>
                <a:spcPts val="400"/>
              </a:spcAft>
              <a:buSzPct val="100000"/>
              <a:buChar char="•"/>
            </a:pPr>
            <a:r>
              <a:rPr lang="en-US" sz="1400" dirty="0">
                <a:solidFill>
                  <a:srgbClr val="334155"/>
                </a:solidFill>
              </a:rPr>
              <a:t>The baseline approved by someone other than the runner; its SHA-256 in run.json</a:t>
            </a:r>
            <a:endParaRPr lang="en-US" sz="1400" dirty="0"/>
          </a:p>
          <a:p>
            <a:pPr marL="342900" indent="-342900">
              <a:spcAft>
                <a:spcPts val="400"/>
              </a:spcAft>
              <a:buSzPct val="100000"/>
              <a:buChar char="•"/>
            </a:pPr>
            <a:r>
              <a:rPr lang="en-US" sz="1400" dirty="0">
                <a:solidFill>
                  <a:srgbClr val="334155"/>
                </a:solidFill>
              </a:rPr>
              <a:t>Each window starts where the last ended; the newest package is today's</a:t>
            </a:r>
            <a:endParaRPr lang="en-US" sz="1400" dirty="0"/>
          </a:p>
          <a:p>
            <a:pPr marL="342900" indent="-342900">
              <a:spcAft>
                <a:spcPts val="400"/>
              </a:spcAft>
              <a:buSzPct val="100000"/>
              <a:buChar char="•"/>
            </a:pPr>
            <a:r>
              <a:rPr lang="en-US" sz="1400" dirty="0">
                <a:solidFill>
                  <a:srgbClr val="334155"/>
                </a:solidFill>
              </a:rPr>
              <a:t>pipeline-identities.csv reviewed; Chapter 04 writes the credential log; Lab 2's findings matched</a:t>
            </a:r>
            <a:endParaRPr lang="en-US" sz="1400" dirty="0"/>
          </a:p>
          <a:p>
            <a:pPr marL="342900" indent="-342900">
              <a:spcAft>
                <a:spcPts val="400"/>
              </a:spcAft>
              <a:buSzPct val="100000"/>
              <a:buChar char="•"/>
            </a:pPr>
            <a:r>
              <a:rPr lang="en-US" sz="1400" dirty="0">
                <a:solidFill>
                  <a:srgbClr val="334155"/>
                </a:solidFill>
              </a:rPr>
              <a:t>Every NPI-DRF-07 has an owner's explanation or an incident record</a:t>
            </a:r>
            <a:endParaRPr lang="en-US" sz="1400" dirty="0"/>
          </a:p>
        </p:txBody>
      </p:sp>
      <p:sp>
        <p:nvSpPr>
          <p:cNvPr id="8" name="Panel The evidence" descr="">
            <a:extLst>
              <a:ext uri="{C183D7F6-B498-43B3-948B-1728B52AA6E4}">
                <adec:decorative xmlns:adec="http://schemas.microsoft.com/office/drawing/2017/decorative" val="1"/>
              </a:ext>
            </a:extLst>
          </p:cNvPr>
          <p:cNvSpPr/>
          <p:nvPr/>
        </p:nvSpPr>
        <p:spPr>
          <a:xfrm>
            <a:off x="6240780" y="1325880"/>
            <a:ext cx="5417820" cy="3352800"/>
          </a:xfrm>
          <a:prstGeom prst="roundRect">
            <a:avLst>
              <a:gd name="adj" fmla="val 218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evidenc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EVIDENCE</a:t>
            </a:r>
            <a:endParaRPr lang="en-US" sz="1100" dirty="0"/>
          </a:p>
        </p:txBody>
      </p:sp>
      <p:sp>
        <p:nvSpPr>
          <p:cNvPr id="10" name="Panel The evidence list"/>
          <p:cNvSpPr txBox="1"/>
          <p:nvPr/>
        </p:nvSpPr>
        <p:spPr>
          <a:xfrm>
            <a:off x="6423660" y="1737360"/>
            <a:ext cx="5097780" cy="2895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Chapters 07 and 09's review records arrive every run; NPI-REV-04 is zero</a:t>
            </a:r>
            <a:endParaRPr lang="en-US" sz="1400" dirty="0"/>
          </a:p>
          <a:p>
            <a:pPr marL="342900" indent="-342900">
              <a:spcAft>
                <a:spcPts val="400"/>
              </a:spcAft>
              <a:buSzPct val="100000"/>
              <a:buChar char="•"/>
            </a:pPr>
            <a:r>
              <a:rPr lang="en-US" sz="1400" dirty="0">
                <a:solidFill>
                  <a:srgbClr val="334155"/>
                </a:solidFill>
              </a:rPr>
              <a:t>Each package verifies with sha256sum -c; no chain break, no coverage gap</a:t>
            </a:r>
            <a:endParaRPr lang="en-US" sz="1400" dirty="0"/>
          </a:p>
          <a:p>
            <a:pPr marL="342900" indent="-342900">
              <a:spcAft>
                <a:spcPts val="400"/>
              </a:spcAft>
              <a:buSzPct val="100000"/>
              <a:buChar char="•"/>
            </a:pPr>
            <a:r>
              <a:rPr lang="en-US" sz="1400" dirty="0">
                <a:solidFill>
                  <a:srgbClr val="334155"/>
                </a:solidFill>
              </a:rPr>
              <a:t>A locked time-based retention policy in production</a:t>
            </a:r>
            <a:endParaRPr lang="en-US" sz="1400" dirty="0"/>
          </a:p>
          <a:p>
            <a:pPr marL="342900" indent="-342900">
              <a:spcAft>
                <a:spcPts val="400"/>
              </a:spcAft>
              <a:buSzPct val="100000"/>
              <a:buChar char="•"/>
            </a:pPr>
            <a:r>
              <a:rPr lang="en-US" sz="1400" dirty="0">
                <a:solidFill>
                  <a:srgbClr val="334155"/>
                </a:solidFill>
              </a:rPr>
              <a:t>The vintage comparison ran on the latest vintage; findings went to owners</a:t>
            </a:r>
            <a:endParaRPr lang="en-US" sz="1400" dirty="0"/>
          </a:p>
          <a:p>
            <a:pPr marL="342900" indent="-342900">
              <a:spcAft>
                <a:spcPts val="400"/>
              </a:spcAft>
              <a:buSzPct val="100000"/>
              <a:buChar char="•"/>
            </a:pPr>
            <a:r>
              <a:rPr lang="en-US" sz="1400" dirty="0">
                <a:solidFill>
                  <a:srgbClr val="334155"/>
                </a:solidFill>
              </a:rPr>
              <a:t>The period summary and its Gate 7 table signed by the identity governance officer, reviewed by the ISSO</a:t>
            </a:r>
            <a:endParaRPr lang="en-US" sz="1400" dirty="0"/>
          </a:p>
          <a:p>
            <a:pPr marL="342900" indent="-342900">
              <a:spcAft>
                <a:spcPts val="400"/>
              </a:spcAft>
              <a:buSzPct val="100000"/>
              <a:buChar char="•"/>
            </a:pPr>
            <a:r>
              <a:rPr lang="en-US" sz="1400" dirty="0">
                <a:solidFill>
                  <a:srgbClr val="334155"/>
                </a:solidFill>
              </a:rPr>
              <a:t>The pinned Sentinel rule matches its manifest; upstream commits reviewed</a:t>
            </a:r>
            <a:endParaRPr lang="en-US" sz="1400" dirty="0"/>
          </a:p>
        </p:txBody>
      </p:sp>
      <p:sp>
        <p:nvSpPr>
          <p:cNvPr id="11" name="Callout" descr="">
            <a:extLst>
              <a:ext uri="{C183D7F6-B498-43B3-948B-1728B52AA6E4}">
                <adec:decorative xmlns:adec="http://schemas.microsoft.com/office/drawing/2017/decorative" val="1"/>
              </a:ext>
            </a:extLst>
          </p:cNvPr>
          <p:cNvSpPr/>
          <p:nvPr/>
        </p:nvSpPr>
        <p:spPr>
          <a:xfrm>
            <a:off x="548640" y="4861560"/>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Book" descr="">
            <a:extLst>
              <a:ext uri="{C183D7F6-B498-43B3-948B-1728B52AA6E4}">
                <adec:decorative xmlns:adec="http://schemas.microsoft.com/office/drawing/2017/decorative" val="1"/>
              </a:ext>
            </a:extLst>
          </p:cNvPr>
          <p:cNvSpPr/>
          <p:nvPr/>
        </p:nvSpPr>
        <p:spPr>
          <a:xfrm>
            <a:off x="749808" y="4934712"/>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080284"/>
            <a:ext cx="315407" cy="315407"/>
          </a:xfrm>
          <a:prstGeom prst="rect">
            <a:avLst/>
          </a:prstGeom>
        </p:spPr>
      </p:pic>
      <p:sp>
        <p:nvSpPr>
          <p:cNvPr id="14" name="Callout text"/>
          <p:cNvSpPr txBox="1"/>
          <p:nvPr/>
        </p:nvSpPr>
        <p:spPr>
          <a:xfrm>
            <a:off x="1600200" y="4916424"/>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End of the book: </a:t>
            </a:r>
            <a:pPr indent="0" marL="0">
              <a:buNone/>
            </a:pPr>
            <a:r>
              <a:rPr lang="en-US" sz="1750" dirty="0">
                <a:solidFill>
                  <a:srgbClr val="334155"/>
                </a:solidFill>
              </a:rPr>
              <a:t>this is the workbook's last chapter. The index lists all ten, and every checklist feeds this period.</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10, “Checklist”; “Continue the book”; Learn, immutable storage (locked retention).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np10-secops  </a:t>
            </a:r>
            <a:pPr indent="0" marL="0">
              <a:spcAft>
                <a:spcPts val="300"/>
              </a:spcAft>
              <a:buNone/>
            </a:pPr>
            <a:r>
              <a:rPr lang="en-US" sz="1050" dirty="0">
                <a:solidFill>
                  <a:srgbClr val="334155"/>
                </a:solidFill>
              </a:rPr>
              <a:t>Microsoft Learn, "Microsoft Entra security operations guide for applications," application credentials; application permissions; end-user consent, https://learn.microsoft.com/entra/architecture/security-operations-applications (accessed Oct 30, 2026).</a:t>
            </a:r>
            <a:endParaRPr lang="en-US" sz="1050" dirty="0"/>
          </a:p>
          <a:p>
            <a:pPr indent="0" marL="0">
              <a:spcAft>
                <a:spcPts val="300"/>
              </a:spcAft>
              <a:buNone/>
            </a:pPr>
            <a:r>
              <a:rPr lang="en-US" sz="1050" b="1" dirty="0">
                <a:solidFill>
                  <a:srgbClr val="1F2A44"/>
                </a:solidFill>
              </a:rPr>
              <a:t>np10-activities  </a:t>
            </a:r>
            <a:pPr indent="0" marL="0">
              <a:spcAft>
                <a:spcPts val="300"/>
              </a:spcAft>
              <a:buNone/>
            </a:pPr>
            <a:r>
              <a:rPr lang="en-US" sz="1050" dirty="0">
                <a:solidFill>
                  <a:srgbClr val="334155"/>
                </a:solidFill>
              </a:rPr>
              <a:t>Microsoft Learn, "Microsoft Entra audit log categories and activities," Core Directory, https://learn.microsoft.com/entra/identity/monitoring-health/reference-audit-activities (accessed Oct 30, 2026; source checked in MicrosoftDocs/entra-docs).</a:t>
            </a:r>
            <a:endParaRPr lang="en-US" sz="1050" dirty="0"/>
          </a:p>
          <a:p>
            <a:pPr indent="0" marL="0">
              <a:spcAft>
                <a:spcPts val="300"/>
              </a:spcAft>
              <a:buNone/>
            </a:pPr>
            <a:r>
              <a:rPr lang="en-US" sz="1050" b="1" dirty="0">
                <a:solidFill>
                  <a:srgbClr val="1F2A44"/>
                </a:solidFill>
              </a:rPr>
              <a:t>np10-audit-list  </a:t>
            </a:r>
            <a:pPr indent="0" marL="0">
              <a:spcAft>
                <a:spcPts val="300"/>
              </a:spcAft>
              <a:buNone/>
            </a:pPr>
            <a:r>
              <a:rPr lang="en-US" sz="1050" dirty="0">
                <a:solidFill>
                  <a:srgbClr val="334155"/>
                </a:solidFill>
              </a:rPr>
              <a:t>Microsoft Learn, "List directoryAudits," https://learn.microsoft.com/graph/api/directoryaudit-list?view=graph-rest-1.0 (accessed Oct 30, 2026).</a:t>
            </a:r>
            <a:endParaRPr lang="en-US" sz="1050" dirty="0"/>
          </a:p>
          <a:p>
            <a:pPr indent="0" marL="0">
              <a:spcAft>
                <a:spcPts val="300"/>
              </a:spcAft>
              <a:buNone/>
            </a:pPr>
            <a:r>
              <a:rPr lang="en-US" sz="1050" b="1" dirty="0">
                <a:solidFill>
                  <a:srgbClr val="1F2A44"/>
                </a:solidFill>
              </a:rPr>
              <a:t>np10-audit-resource  </a:t>
            </a:r>
            <a:pPr indent="0" marL="0">
              <a:spcAft>
                <a:spcPts val="300"/>
              </a:spcAft>
              <a:buNone/>
            </a:pPr>
            <a:r>
              <a:rPr lang="en-US" sz="1050" dirty="0">
                <a:solidFill>
                  <a:srgbClr val="334155"/>
                </a:solidFill>
              </a:rPr>
              <a:t>Microsoft Learn, "directoryAudit resource type," properties, https://learn.microsoft.com/graph/api/resources/directoryaudit?view=graph-rest-1.0 (accessed Oct 30, 2026).</a:t>
            </a:r>
            <a:endParaRPr lang="en-US" sz="1050" dirty="0"/>
          </a:p>
          <a:p>
            <a:pPr indent="0" marL="0">
              <a:spcAft>
                <a:spcPts val="300"/>
              </a:spcAft>
              <a:buNone/>
            </a:pPr>
            <a:r>
              <a:rPr lang="en-US" sz="1050" b="1" dirty="0">
                <a:solidFill>
                  <a:srgbClr val="1F2A44"/>
                </a:solidFill>
              </a:rPr>
              <a:t>np10-signin  </a:t>
            </a:r>
            <a:pPr indent="0" marL="0">
              <a:spcAft>
                <a:spcPts val="300"/>
              </a:spcAft>
              <a:buNone/>
            </a:pPr>
            <a:r>
              <a:rPr lang="en-US" sz="1050" dirty="0">
                <a:solidFill>
                  <a:srgbClr val="334155"/>
                </a:solidFill>
              </a:rPr>
              <a:t>Microsoft Learn, "List servicePrincipalSignInActivities," https://learn.microsoft.com/graph/api/reportroot-list-serviceprincipalsigninactivities?view=graph-rest-beta (accessed Oct 30, 2026).</a:t>
            </a:r>
            <a:endParaRPr lang="en-US" sz="1050" dirty="0"/>
          </a:p>
          <a:p>
            <a:pPr indent="0" marL="0">
              <a:spcAft>
                <a:spcPts val="300"/>
              </a:spcAft>
              <a:buNone/>
            </a:pPr>
            <a:r>
              <a:rPr lang="en-US" sz="1050" b="1" dirty="0">
                <a:solidFill>
                  <a:srgbClr val="1F2A44"/>
                </a:solidFill>
              </a:rPr>
              <a:t>np10-expiring  </a:t>
            </a:r>
            <a:pPr indent="0" marL="0">
              <a:spcAft>
                <a:spcPts val="300"/>
              </a:spcAft>
              <a:buNone/>
            </a:pPr>
            <a:r>
              <a:rPr lang="en-US" sz="1050" dirty="0">
                <a:solidFill>
                  <a:srgbClr val="334155"/>
                </a:solidFill>
              </a:rPr>
              <a:t>Microsoft Learn, "Microsoft Entra recommendation: Renew expiring application credentials (preview)," description, https://learn.microsoft.com/entra/identity/monitoring-health/recommendation-renew-expiring-application-credential (accessed Oct 30, 2026).</a:t>
            </a:r>
            <a:endParaRPr lang="en-US" sz="1050" dirty="0"/>
          </a:p>
          <a:p>
            <a:pPr indent="0" marL="0">
              <a:spcAft>
                <a:spcPts val="300"/>
              </a:spcAft>
              <a:buNone/>
            </a:pPr>
            <a:r>
              <a:rPr lang="en-US" sz="1050" b="1" dirty="0">
                <a:solidFill>
                  <a:srgbClr val="1F2A44"/>
                </a:solidFill>
              </a:rPr>
              <a:t>np10-unused  </a:t>
            </a:r>
            <a:pPr indent="0" marL="0">
              <a:spcAft>
                <a:spcPts val="300"/>
              </a:spcAft>
              <a:buNone/>
            </a:pPr>
            <a:r>
              <a:rPr lang="en-US" sz="1050" dirty="0">
                <a:solidFill>
                  <a:srgbClr val="334155"/>
                </a:solidFill>
              </a:rPr>
              <a:t>Microsoft Learn, "Microsoft Entra recommendation: Remove unused applications (preview)," description and action plan, https://learn.microsoft.com/entra/identity/monitoring-health/recommendation-remove-unused-apps (accessed Oct 30, 2026).</a:t>
            </a:r>
            <a:endParaRPr lang="en-US" sz="1050" dirty="0"/>
          </a:p>
          <a:p>
            <a:pPr indent="0" marL="0">
              <a:spcAft>
                <a:spcPts val="300"/>
              </a:spcAft>
              <a:buNone/>
            </a:pPr>
            <a:r>
              <a:rPr lang="en-US" sz="1050" b="1" dirty="0">
                <a:solidFill>
                  <a:srgbClr val="1F2A44"/>
                </a:solidFill>
              </a:rPr>
              <a:t>np10-govern  </a:t>
            </a:r>
            <a:pPr indent="0" marL="0">
              <a:spcAft>
                <a:spcPts val="300"/>
              </a:spcAft>
              <a:buNone/>
            </a:pPr>
            <a:r>
              <a:rPr lang="en-US" sz="1050" dirty="0">
                <a:solidFill>
                  <a:srgbClr val="334155"/>
                </a:solidFill>
              </a:rPr>
              <a:t>Microsoft Learn, "Governing Microsoft Entra service accounts," build a lifecycle process, https://learn.microsoft.com/entra/architecture/govern-service-accounts (accessed Oct 30, 2026; read for Chapter 02).</a:t>
            </a:r>
            <a:endParaRPr lang="en-US" sz="1050" dirty="0"/>
          </a:p>
          <a:p>
            <a:pPr indent="0" marL="0">
              <a:spcAft>
                <a:spcPts val="300"/>
              </a:spcAft>
              <a:buNone/>
            </a:pPr>
            <a:r>
              <a:rPr lang="en-US" sz="1050" b="1" dirty="0">
                <a:solidFill>
                  <a:srgbClr val="1F2A44"/>
                </a:solidFill>
              </a:rPr>
              <a:t>np10-retention  </a:t>
            </a:r>
            <a:pPr indent="0" marL="0">
              <a:spcAft>
                <a:spcPts val="300"/>
              </a:spcAft>
              <a:buNone/>
            </a:pPr>
            <a:r>
              <a:rPr lang="en-US" sz="1050" dirty="0">
                <a:solidFill>
                  <a:srgbClr val="334155"/>
                </a:solidFill>
              </a:rPr>
              <a:t>Microsoft Learn, "Microsoft Entra data retention," activity reports, https://learn.microsoft.com/entra/identity/monitoring-health/reference-reports-data-retention (accessed Oct 30, 2026).</a:t>
            </a:r>
            <a:endParaRPr lang="en-US" sz="1050" dirty="0"/>
          </a:p>
          <a:p>
            <a:pPr indent="0" marL="0">
              <a:spcAft>
                <a:spcPts val="300"/>
              </a:spcAft>
              <a:buNone/>
            </a:pPr>
            <a:r>
              <a:rPr lang="en-US" sz="1050" b="1" dirty="0">
                <a:solidFill>
                  <a:srgbClr val="1F2A44"/>
                </a:solidFill>
              </a:rPr>
              <a:t>np10-agent-bp  </a:t>
            </a:r>
            <a:pPr indent="0" marL="0">
              <a:spcAft>
                <a:spcPts val="300"/>
              </a:spcAft>
              <a:buNone/>
            </a:pPr>
            <a:r>
              <a:rPr lang="en-US" sz="1050" dirty="0">
                <a:solidFill>
                  <a:srgbClr val="334155"/>
                </a:solidFill>
              </a:rPr>
              <a:t>Microsoft Learn, "Best practices for Microsoft Entra Agent ID," govern the agent lifecycle, https://learn.microsoft.com/entra/agent-id/best-practices-agent-id (accessed Oct 30, 2026).</a:t>
            </a:r>
            <a:endParaRPr lang="en-US" sz="1050" dirty="0"/>
          </a:p>
          <a:p>
            <a:pPr indent="0" marL="0">
              <a:spcAft>
                <a:spcPts val="300"/>
              </a:spcAft>
              <a:buNone/>
            </a:pPr>
            <a:r>
              <a:rPr lang="en-US" sz="1050" b="1" dirty="0">
                <a:solidFill>
                  <a:srgbClr val="1F2A44"/>
                </a:solidFill>
              </a:rPr>
              <a:t>np10-agent-stage  </a:t>
            </a:r>
            <a:pPr indent="0" marL="0">
              <a:spcAft>
                <a:spcPts val="300"/>
              </a:spcAft>
              <a:buNone/>
            </a:pPr>
            <a:r>
              <a:rPr lang="en-US" sz="1050" dirty="0">
                <a:solidFill>
                  <a:srgbClr val="334155"/>
                </a:solidFill>
              </a:rPr>
              <a:t>Microsoft Learn, "Microsoft Entra releases and announcements," April 2026, https://learn.microsoft.com/entra/fundamentals/whats-new#april-2026, and "What is Microsoft Entra Agent ID?," https://learn.microsoft.com/entra/agent-id/what-is-microsoft-entra-agent-id (both accessed Oct 31, 2026).</a:t>
            </a:r>
            <a:endParaRPr lang="en-US" sz="1050" dirty="0"/>
          </a:p>
          <a:p>
            <a:pPr indent="0" marL="0">
              <a:spcAft>
                <a:spcPts val="300"/>
              </a:spcAft>
              <a:buNone/>
            </a:pPr>
            <a:r>
              <a:rPr lang="en-US" sz="1050" b="1" dirty="0">
                <a:solidFill>
                  <a:srgbClr val="1F2A44"/>
                </a:solidFill>
              </a:rPr>
              <a:t>np10-deployments  </a:t>
            </a:r>
            <a:pPr indent="0" marL="0">
              <a:spcAft>
                <a:spcPts val="300"/>
              </a:spcAft>
              <a:buNone/>
            </a:pPr>
            <a:r>
              <a:rPr lang="en-US" sz="1050" dirty="0">
                <a:solidFill>
                  <a:srgbClr val="334155"/>
                </a:solidFill>
              </a:rPr>
              <a:t>Microsoft Learn, "Microsoft Graph national cloud deployments," https://learn.microsoft.com/graph/deployments (accessed Oct 30, 2026; read for Chapter 01).</a:t>
            </a:r>
            <a:endParaRPr lang="en-US" sz="1050" dirty="0"/>
          </a:p>
          <a:p>
            <a:pPr indent="0" marL="0">
              <a:spcAft>
                <a:spcPts val="300"/>
              </a:spcAft>
              <a:buNone/>
            </a:pPr>
            <a:r>
              <a:rPr lang="en-US" sz="1050" b="1" dirty="0">
                <a:solidFill>
                  <a:srgbClr val="1F2A44"/>
                </a:solidFill>
              </a:rPr>
              <a:t>np10-oidc  </a:t>
            </a:r>
            <a:pPr indent="0" marL="0">
              <a:spcAft>
                <a:spcPts val="300"/>
              </a:spcAft>
              <a:buNone/>
            </a:pPr>
            <a:r>
              <a:rPr lang="en-US" sz="1050" dirty="0">
                <a:solidFill>
                  <a:srgbClr val="334155"/>
                </a:solidFill>
              </a:rPr>
              <a:t>Microsoft Learn, "Use the Azure Login action with OpenID Connect," https://learn.microsoft.com/azure/developer/github/connect-from-azure-openid-connect (accessed Oct 31,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np10-immutable  </a:t>
            </a:r>
            <a:pPr indent="0" marL="0">
              <a:spcAft>
                <a:spcPts val="300"/>
              </a:spcAft>
              <a:buNone/>
            </a:pPr>
            <a:r>
              <a:rPr lang="en-US" sz="1050" dirty="0">
                <a:solidFill>
                  <a:srgbClr val="334155"/>
                </a:solidFill>
              </a:rPr>
              <a:t>Microsoft Learn, "Store business-critical blob data with immutable storage in a write once, read many (WORM) state," https://learn.microsoft.com/azure/storage/blobs/immutable-storage-overview (accessed Oct 30, 2026; read for the first workbook's Chapter 09).</a:t>
            </a:r>
            <a:endParaRPr lang="en-US" sz="1050" dirty="0"/>
          </a:p>
          <a:p>
            <a:pPr indent="0" marL="0">
              <a:spcAft>
                <a:spcPts val="300"/>
              </a:spcAft>
              <a:buNone/>
            </a:pPr>
            <a:r>
              <a:rPr lang="en-US" sz="1050" b="1" dirty="0">
                <a:solidFill>
                  <a:srgbClr val="1F2A44"/>
                </a:solidFill>
              </a:rPr>
              <a:t>np10-sample-src  </a:t>
            </a:r>
            <a:pPr indent="0" marL="0">
              <a:spcAft>
                <a:spcPts val="300"/>
              </a:spcAft>
              <a:buNone/>
            </a:pPr>
            <a:r>
              <a:rPr lang="en-US" sz="1050" dirty="0">
                <a:solidFill>
                  <a:srgbClr val="334155"/>
                </a:solidFill>
              </a:rPr>
              <a:t>Microsoft, Azure/Azure-Sentinel, Solutions/Microsoft Entra ID/Analytic Rules/NewAppOrServicePrincipalCredential.yaml at commit 2985095e602f32c493e43998856ac9bcf1382afd (October 30, 2026; the rule last changed January 8, 2024), MIT License, https://github.com/Azure/Azure-Sentinel/blob/2985095e602f32c493e43998856ac9bcf1382afd/Solutions/Microsoft%20Entra%20ID/Analytic%20Rules/NewAppOrServicePrincipalCredential.yaml (accessed Oct 30, 2026); pinned copy in examples/third_party/sentinel-app-credential-rule.</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10 — Drift and Evidence for the ISSO</dc:title>
  <dc:subject>PptxGenJS Presentation</dc:subject>
  <dc:creator>Michael F. Stratton</dc:creator>
  <cp:lastModifiedBy>Michael F. Stratton</cp:lastModifiedBy>
  <cp:revision>1</cp:revision>
  <dcterms:created xsi:type="dcterms:W3CDTF">2026-10-31T14:33:50Z</dcterms:created>
  <dcterms:modified xsi:type="dcterms:W3CDTF">2026-10-31T14:33:50Z</dcterms:modified>
</cp:coreProperties>
</file>