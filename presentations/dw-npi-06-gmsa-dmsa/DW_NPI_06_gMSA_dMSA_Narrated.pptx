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69B3425-C7A7-6573-655E-5FAE7CF5294E}">
          <p14:sldIdLst>
            <p14:sldId id="256"/>
          </p14:sldIdLst>
        </p14:section>
        <p14:section name="Why" id="{47B0B204-024E-6638-A430-8193AE89DB9E}">
          <p14:sldIdLst>
            <p14:sldId id="257"/>
            <p14:sldId id="258"/>
          </p14:sldIdLst>
        </p14:section>
        <p14:section name="What" id="{BF257F80-1D2A-F8B3-FEF1-2371056C18F8}">
          <p14:sldIdLst>
            <p14:sldId id="259"/>
            <p14:sldId id="260"/>
            <p14:sldId id="261"/>
            <p14:sldId id="262"/>
            <p14:sldId id="263"/>
            <p14:sldId id="264"/>
            <p14:sldId id="265"/>
            <p14:sldId id="266"/>
          </p14:sldIdLst>
        </p14:section>
        <p14:section name="Who" id="{0C9C3CCE-7506-954E-A962-3D946AE55CF9}">
          <p14:sldIdLst>
            <p14:sldId id="267"/>
          </p14:sldIdLst>
        </p14:section>
        <p14:section name="How" id="{C7A71C5D-E761-733B-2E36-D2A0754791E3}">
          <p14:sldIdLst>
            <p14:sldId id="268"/>
            <p14:sldId id="269"/>
            <p14:sldId id="270"/>
            <p14:sldId id="271"/>
            <p14:sldId id="272"/>
            <p14:sldId id="273"/>
          </p14:sldIdLst>
        </p14:section>
        <p14:section name="Backup" id="{2E8D1EDA-E370-407F-DE27-9A7602A29B3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9569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Non-Person Identity. This is Chapter 6: group and delegated managed service accounts, and the Kerberos island. These accounts are good credentials with a known expiry date, the day the last domain controller is demoted, so the chapter makes sure every one of them moves, retires, or sits on a dated list before then. We'll start from Learn's own procedures, see what they leave out, then walk the plan, the island list, the write path, two labs and the dangers. One note before we begin: the code is illustrative, tested against fixtures.
Detail: The chapter covers the Kerberos-only part of credential modernization (the project plan's N3.5 and N3.6) and the reconciliation before AD is retired (N7.3). You start with Learn's own procedures for group managed service accounts (gMSAs), delegated managed service accounts (dMSAs, Windows Server 2025) and the KDS root key, which the repository keeps as a pinned copy, and you run them against stand-ins to see what they do and what they leave to you. Then examples/non-person-identity does the rest: a plan per Kerberos account from reviewed data, the KDS root key checked without reading the key, the password retrievers held as reviewed data, a separate write path that creates, migrates and disables but never deletes, the island list for the program's SPN retirement, and the reconciliation with the program's end state. Lab 1 runs on a laptop with no domain; Lab 2 uses a test domain.
Sources: Microsoft, MicrosoftDocs/windowsserverdocs, WindowsServerDocs/identity/ad-ds/manage/delegated-managed-service-accounts/ (delegated-managed-service-accounts-set-up-dmsa.md, delegated-managed-service-accounts-overview.md) and WindowsServerDocs/identity/ad-ds/manage/group-managed-service-accounts/group-managed-service-accounts/ (manage-group-managed-service-accounts.md, create-the-key-distribution-services-kds-root-key.md) at commit 2205ce8e55001a9b5e8e0de43981baa8ad782562 (October 30, 2026), documentation Creative Commons Attribution 4.0, code MIT License, https://github.com/MicrosoftDocs/windowsserverdocs/tree/2205ce8e55001a9b5e8e0de43981baa8ad782562/WindowsServerDocs/identity/ad-ds/manage (accessed Oct 30, 2026); pinned copy in examples/third_party/windows-server-msa-pages.
Workbook: Building Non-Person Identity, Chapter 06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have an end date built in? Because a group managed service account only works while A D is in charge. The program decides early whether A D is retired or kept as a dated Kerberos island, and the risk register is blunt: anything still running under one of these accounts loses its credential when the last domain controller goes. So converting isn't the finish line. Every account must end up moving to a workload identity, retiring, or on a dated island list. The program adds four rules of its own, labeled as design guidance, and the strictest is simple: never delete.
Detail: A gMSA works only while AD is authoritative (companion guide). The program decides at G0 whether its end state is AD retired or a dated Kerberos island (D11, provisional), sets end dates for legacy authentication and NTLM at D08, and retires AD at G5. The project plan's risk register: a workload still running under a gMSA loses its credential when the last domain controller is demoted. So every gMSA and dMSA ends this chapter either moving to a workload identity (Chapter 05), retiring, or on the island list with an end date, and the island list is what the program's SPN retirement (P4.6) works from. Book 02, Chapter 10's "What still needs AD after Phase 10" lists Kerberos applications as one of the dependencies AD retirement has to clear. The program's rules (design guidance): every Kerberos account has a reviewed disposition: Convert (to a gMSA or a dMSA), Island (it stays, with an SPN owner and an end date), WorkloadIdentity (Chapter 05 moves it) or Retire, in kerberos-dispositions.csv, kept with the application records. A Kerberos account here is an enabled traditional account with an SPN, an MSA, a gMSA or a dMSA from Chapter 01's register; SQL Server's go to the Data Platform plan. Who may retrieve a managed password is reviewed data, in password-retrievers.json. Every account that stays on Kerberos has an SPN owner and an end date no later than D08's; every gMSA and dMSA ends no later than G5 if D11 retires AD, or than the island's end of life if D11 keeps one. Never delete: the old account is disabled at most, by Complete-ADServiceAccountMigration for a dMSA or by Disable-ADAccount after a clean 30-day parallel run on a gMSA (Book 02, Chapter 10, Phase 4); retirement goes through the plan's reviewed decommission process.
Sources: Building Non-Person Identity, Chapter 06, docs/project-plans/developer-workbooks/non-person-identity/06-gmsa-dmsa-and-the-kerberos-island.md
Workbook: Building Non-Person Identity, Chapter 06 — “Why this chapter has an end date built in”; the program's rules.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grounding in what these accounts are. A group managed service account is a domain account whose password the domain controllers manage and rotate, and which several servers can fetch. The delegated kind is new in Windows Server 2025: it takes over from an old-style service account, and once the move completes, the old password stops working and the old account is disabled. Book 2's matrix says which target each account gets. And because everything here is an Active Directory command against the domain, the cloud choice doesn't change anything in this chapter.
Detail: A gMSA is a domain account whose password the domain controllers manage and which several servers can retrieve; services that use the Service Control Manager, IIS application pools and Task Scheduler tasks can run as one. Learn's Entra guidance says to use gMSAs for on-premises services unless a service, such as failover clustering, doesn't support them, and that Windows changes the password every 30 days. A dMSA, new in Windows Server 2025, supersedes a traditional service account: once the migration completes, the old account's password can no longer be used, authentication is tied to the machines mapped to the dMSA, and the original account is disabled. Book 02's matrix gives the targets: a traditional account that serves Kerberos on-premises goes to a gMSA, or a dMSA on a Windows Server 2025 domain; an MSA is upgraded to a gMSA first; IIS application pools and scheduled tasks go to a gMSA now and to a managed identity once they move to Azure. Which domain, and which cloud: every call in this chapter is an Active Directory cmdlet against the program's domain (corp.contoso.example in the fixtures), sent to the domain controller named with -Server. The writes don't work against a read-only domain controller. No Graph or Resource Manager endpoint is called, so the US Government clouds don't change anything here; the run still takes -Cloud and refuses a register read in another cloud, so the evidence matches Chapter 01's. The moves to a workload identity happen in Chapter 05, against the cloud's own endpoints.
Sources: Microsoft Learn, "Manage group Managed Service Accounts," prerequisites; create a gMSA; install a gMSA, https://learn.microsoft.com/windows-server/identity/ad-ds/manage/group-managed-service-accounts/group-managed-service-accounts/manage-group-managed-service-accounts (accessed Oct 30, 2026). · Microsoft Learn, "Secure group managed service accounts," benefits; using gMSAs; assess gMSA security posture; move to a gMSA, https://learn.microsoft.com/entra/architecture/service-accounts-group-managed (accessed Oct 30, 2026); pinned copy in examples/third_party/entra-service-account-pages. · Microsoft Learn, "Delegated Managed Service Accounts overview," migration flow; account attributes for dMSA, https://learn.microsoft.com/windows-server/identity/ad-ds/manage/delegated-managed-service-accounts/delegated-managed-service-accounts-overview (accessed Oct 30, 2026). · Microsoft Learn, "New-ADServiceAccount," description; -CreateDelegatedServiceAccount; notes, https://learn.microsoft.com/powershell/module/activedirectory/new-adserviceaccount (accessed Oct 30, 2026). · Microsoft Learn, "Start-ADServiceAccountMigration," description and notes, https://learn.microsoft.com/powershell/module/activedirectory/start-adserviceaccountmigration (accessed Oct 30, 2026).
Workbook: Building Non-Person Identity, Chapter 06 — “The context the code depends on”; “Which domain, and which cloud”.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Microsoft gives you: four procedures, covering the delegated account walk-through, its limits, the group account walk-through, and the one-time root key that every managed password is derived from. These procedures live only inside web pages, so the repository pins their source unmodified, with hashes a test checks and a weekly watch for changes. Then a harness runs each PowerShell block exactly as published, against stand-ins that accept only the parameters the real commands have. That last detail matters, as you'll see in a moment.
Detail: Learn has four procedures for this chapter. Setting up delegated Managed Service Accounts is a PowerShell walk-through: check the KDS root key with Get-KdsRootKey, create a dMSA with New-ADServiceAccount -CreateDelegatedServiceAccount, grant a machine its password with Set-ADServiceAccount, set msDS-DelegatedMSAState, start the migration with Start-ADServiceAccountMigration, set a registry value on the host, restart the host's services, complete it with Complete-ADServiceAccountMigration, and undo or reset it. Delegated Managed Service Accounts overview gives the limits and what each step changes in AD. Manage group Managed Service Accounts (formerly Get started with group managed service accounts) creates a gMSA with New-ADServiceAccount -PrincipalsAllowedToRetrieveManagedPassword and installs it on each host. Create a Key Distribution Service (KDS) root key covers the one-time prerequisite. Learn's Entra page Secure group managed service accounts, pinned for Chapter 01, gives the seven steps to move a service to a gMSA. The pinned copy: the procedures exist only inside the Learn pages, so the repository pins the pages' source, unmodified, in examples/third_party/windows-server-msa-pages: four pages from MicrosoftDocs/windowsserverdocs at commit 2205ce8 (October 30, 2026), retrieved October 30, 2026, with the repository's licenses (Creative Commons Attribution 4.0 for documentation, MIT for code). snapshot.json records each file's SHA-256 and git blob hash, checked against the upstream tree, and a unit test checks them. The weekly source watch reports new commits to each page. Updating the copy is a reviewed pull request. tests/KerberosIslandSampleHarness.ps1 finds each PowerShell block by its content in the page's source, strips the Markdown quote and list indentation, and runs it unmodified against stand-ins for the Active Directory, registry and service cmdlets it calls. The stand-ins take the parameters Learn's cmdlet references list, so a parameter a cmdlet doesn't have fails here as it would on a server.
Sources: Microsoft Learn, "Setting up delegated Managed Service Accounts," prerequisites; create a standalone dMSA; migrate to a dMSA; complete account migration, https://learn.microsoft.com/windows-server/identity/ad-ds/manage/delegated-managed-service-accounts/delegated-managed-service-accounts-set-up-dmsa (accessed Oct 30, 2026). · Microsoft Learn, "Delegated Managed Service Accounts overview," migration flow; account attributes for dMSA, https://learn.microsoft.com/windows-server/identity/ad-ds/manage/delegated-managed-service-accounts/delegated-managed-service-accounts-overview (accessed Oct 30, 2026). · Microsoft Learn, "Manage group Managed Service Accounts," prerequisites; create a gMSA; install a gMSA, https://learn.microsoft.com/windows-server/identity/ad-ds/manage/group-managed-service-accounts/group-managed-service-accounts/manage-group-managed-service-accounts (accessed Oct 30, 2026). · Microsoft Learn, "Create a Key Distribution Service (KDS) root key," https://learn.microsoft.com/windows-server/identity/ad-ds/manage/group-managed-service-accounts/group-managed-service-accounts/create-the-key-distribution-services-kds-root-key (accessed Oct 31, 2026). · Microsoft Learn, "Secure group managed service accounts," benefits; using gMSAs; assess gMSA security posture; move to a gMSA, https://learn.microsoft.com/entra/architecture/service-accounts-group-managed (accessed Oct 30, 2026); pinned copy in examples/third_party/entra-service-account-pages. · Microsoft, MicrosoftDocs/windowsserverdocs, WindowsServerDocs/identity/ad-ds/manage/delegated-managed-service-accounts/ (delegated-managed-service-accounts-set-up-dmsa.md, delegated-managed-service-accounts-overview.md) and WindowsServerDocs/identity/ad-ds/manage/group-managed-service-accounts/group-managed-service-accounts/ (manage-group-managed-service-accounts.md, create-the-key-distribution-services-kds-root-key.md) at commit 2205ce8e55001a9b5e8e0de43981baa8ad782562 (October 30, 2026), documentation Creative Commons Attribution 4.0, code MIT License, https://github.com/MicrosoftDocs/windowsserverdocs/tree/2205ce8e55001a9b5e8e0de43981baa8ad782562/WindowsServerDocs/identity/ad-ds/manage (accessed Oct 30, 2026); pinned copy in examples/third_party/windows-server-msa-pages.
Workbook: Building Non-Person Identity, Chapter 06 — “What Microsoft gives you”; “The pinned copy”.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stand-ins earn their keep. The creation steps are fine, and the code keeps them as its model. But the root key check uses a command that returns the key itself, the secret every managed password comes from, so the code reads only its start time. The backdated key is meant for a test lab, not production. And one step sets the migration state with a parameter the command simply doesn't have, so as published it fails. Placeholder names that change from step to step are replaced by names from reviewed data.
Detail: Each row is pinned by a test: in tests/KerberosIslandSamples.Tests.ps1 for the procedures, and in tests/NpiKerberosIsland.Tests.ps1 for the example. Creates a dMSA with -CreateDelegatedServiceAccount and AES256; creates a gMSA with its retrievers: kept as the model, CreateDmsa and CreateGmsa, each a declared call with only these parameters. Checks the KDS root key with Get-KdsRootKey, which returns each root key's value: the prerequisite check reads the secret every gMSA password derives from; the example reads msKds-UseStartTime and msKds-CreateTime only, from the container Learn's KDS page names, with a delegated read (research gaps, row 52); the fake refuses to return the key data. Offers Add-KdsRootKey backdated 10 hours, which the KDS page reserves for a test environment with one domain controller: a production root key used before it replicates fails gMSA password retrieval; the code never creates a root key; it waits until a key has been usable for 10 hours (NPI-KRB-01). Sets msDS-DelegatedMSAState with Set-ADServiceAccount -Properties, a parameter the cmdlet doesn't have: fails as published; the migration path doesn't set state 3; Start- and Complete-ADServiceAccountMigration set 1 and 2 (research gaps, row 51). Names the account ServiceAccountName, DMSA Name and dMSAsnmp in successive steps, and grants retrieval to one machine typed by hand: placeholders that differ step to step invite a wrong account; names come from the reviewed dispositions, retrievers from password-retrievers.json (NPI-KRB-03).
Sources: Microsoft Learn, "Get-KdsRootKey," description, https://learn.microsoft.com/powershell/module/kds/get-kdsrootkey (accessed Oct 30, 2026). · Microsoft Learn, "Create a Key Distribution Service (KDS) root key," https://learn.microsoft.com/windows-server/identity/ad-ds/manage/group-managed-service-accounts/group-managed-service-accounts/create-the-key-distribution-services-kds-root-key (accessed Oct 31, 2026). · Microsoft Learn, "Set-ADServiceAccount," syntax; -PrincipalsAllowedToRetrieveManagedPassword; notes, https://learn.microsoft.com/powershell/module/activedirectory/set-adserviceaccount (accessed Oct 30, 2026). · Microsoft Learn, "Setting up delegated Managed Service Accounts," prerequisites; create a standalone dMSA; migrate to a dMSA; complete account migration, https://learn.microsoft.com/windows-server/identity/ad-ds/manage/delegated-managed-service-accounts/delegated-managed-service-accounts-set-up-dmsa (accessed Oct 30, 2026).
Workbook: Building Non-Person Identity, Chapter 06 — “What it leaves to you”, rows 1–5.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gaps are about timing and safety. The walk-through completes a migration with no wait, while the overview asks for weeks, so the code waits twenty-eight days. It never checks the limits, like unconstrained delegation that silently stops working, so the code checks each one before planning. It restarts every service on the host. And the pages disagree on deleting the old account; the code takes the stricter side and has no delete at all. So the verdict: use Learn's commands and their order, but not the procedures as the program.
Detail: Has no wait between start and complete; the overview says at least two ticket lifetimes (14 days), four (28 days) recommended: completing early loses hosts the dMSA hasn't learned yet; CompleteDmsaMigration only 28 days after MigrationStartedOn (research gaps, row 54). Doesn't check the overview's limits: no MSA or gMSA to dMSA; unconstrained delegation stops working; every machine using the account must support dMSA; one dMSA per service account and at least one Windows Server 2025 domain controller (FAQ): a migration that disables the old account on a host that can't use the new one breaks the service; each limit is checked before a dMSA is planned (NPI-KRB-04). Restarts every running service on the host to pick up the dMSA: a restart of unrelated services; host steps are the server owner's, recorded, never run by this code (research gaps, row 57). Warns never to delete the original account, while the Entra page's move to a gMSA ends by deleting it: the pages disagree, and a deleted account can't be reverted to; never delete, the stricter: no delete, uninstall, undo or reset call exists; the old gMSA source is disabled after a 30-day parallel run (research gaps, rows 55 and 56). gMSA commands are templates with &lt;placeholders&gt; that don't parse; no Kerberos encryption type: concrete parameters from reviewed data; KerberosEncryptionType AES256, as the gMSA overview advises AES. No SPN owner, end date, D08, D11 or G5: N3.6 and N7.3 are left to you; the island list and the reconciliation (NPI-KRB-05 to -07). The verdict: use Learn's cmdlets and their order as the model for every write. Don't use the procedures as the program: they read the KDS key, skip the migration's own limits and waits, and stop at "migrated", with nothing that keeps the account from being forgotten at G5.
Sources: Microsoft Learn, "Delegated Managed Service Accounts overview," migration flow; account attributes for dMSA, https://learn.microsoft.com/windows-server/identity/ad-ds/manage/delegated-managed-service-accounts/delegated-managed-service-accounts-overview (accessed Oct 30, 2026). · Microsoft Learn, "Delegated Managed Service Accounts FAQ," general; migration, https://learn.microsoft.com/windows-server/identity/ad-ds/manage/delegated-managed-service-accounts/delegated-managed-service-accounts-faq (accessed Oct 30, 2026). · Microsoft Learn, "Setting up delegated Managed Service Accounts," prerequisites; create a standalone dMSA; migrate to a dMSA; complete account migration, https://learn.microsoft.com/windows-server/identity/ad-ds/manage/delegated-managed-service-accounts/delegated-managed-service-accounts-set-up-dmsa (accessed Oct 30, 2026). · Microsoft Learn, "Secure group managed service accounts," benefits; using gMSAs; assess gMSA security posture; move to a gMSA, https://learn.microsoft.com/entra/architecture/service-accounts-group-managed (accessed Oct 30, 2026); pinned copy in examples/third_party/entra-service-account-pages. · Microsoft Learn, "Group Managed Service Accounts overview," software requirements, https://learn.microsoft.com/windows-server/identity/ad-ds/manage/group-managed-service-accounts/group-managed-service-accounts/group-managed-service-accounts-overview (accessed Oct 30, 2026).
Workbook: Building Non-Person Identity, Chapter 06 — “What it leaves to you”, rows 6–11; “The verdict”.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code add? A module, two entry scripts kept strictly apart, one that only reads and one that writes, and its own list of allowed calls. It builds on Chapter 1's register and refuses one whose hash doesn't match. Then three reviewed files drive it: the owners' decision for each account, the list of who may fetch each managed password, and the program's end state, with its dates. Notice that the end state has no default. If the decision is missing, the run simply stops rather than guessing.
Detail: This chapter's code is powershell/NpiKerberosIsland/NpiKerberosIsland.psm1, two entry scripts (Invoke-NpiKerberosIsland.ps1, which only reads, and Invoke-NpiKerberosIslandAction.ps1, the write path), its own call list config/calls-ch06.json with the kerberos-island and kerberos-apply tasks, and three reviewed inputs. It builds on Chapter 01's register and NpiCore's findings, hashes and fixtures, and adds a fake Active Directory for this chapter's cmdlets. Inputs: Chapter 01's run folder, kept by the pipeline: register.json and manifest.json; the run refuses a register whose SHA-256 isn't the manifest's. kerberos-dispositions.csv, kept by application owners through identity engineering: per Kerberos account, Disposition; for Convert, Target (gMSA or dMSA), NewAccount, Workload (Service, IisAppPool or ScheduledTask) and Hosts; SpnOwnerUpn; EndDate; Reference for a workload identity; then HostChangedOn and MigrationStartedOn as the work happens. password-retrievers.json, kept by server and AD engineering, reviewed: per gMSA and dMSA, the distinguished names allowed to retrieve its password; Learn recommends a security group of the hosts. end-state.json, kept by the identity engineering lead from the program master schedule: D11's decision (AdRetired or KerberosIsland with an end of life), D08's end date and G5's date. There is no default; a missing or unknown decision stops the run.
Sources: Microsoft Learn, "Manage group Managed Service Accounts," prerequisites; create a gMSA; install a gMSA, https://learn.microsoft.com/windows-server/identity/ad-ds/manage/group-managed-service-accounts/group-managed-service-accounts/manage-group-managed-service-accounts (accessed Oct 30, 2026).
Workbook: Building Non-Person Identity, Chapter 06 — “The code: what examples/non-person-identity adds”; “The inputs”.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reader collects the root key's start time, every managed account with its password retrievers and migration state, and, for a delegated conversion, the domain controllers and each host's operating system. Then nine rules run. Some come from Learn: the root key must exist and be old enough, the migration's limits must hold, and managed accounts shouldn't sit in privileged groups. Others come from the project plan: every account needs a decision, an owner for its service principal names, an end date inside the program's deadline, and a reconciled destination. Every finding gets a stable ID.
Detail: Read-NpiKrbDomain reads, through a reader for the read task: the KDS root keys (msKds-UseStartTime only), every managed service account with PrincipalsAllowedToRetrieveManagedPassword, msDS-DelegatedMSAState and msDS-ManagedAccountPrecededByLink, and, for a dMSA conversion, the account's distinguished name, the domain controllers and each host's operating system. Test-NpiKerberosIsland returns the findings, the plan, the island list and the reconciliation. NPI-KRB-01 Finding / Warn: no KDS root key (no gMSA or dMSA can be created); or one usable less than 10 hours ago (Learn). NPI-KRB-02 Finding: a Kerberos account with no disposition, or an unknown one (project plan, D-N3, design guidance). NPI-KRB-03 Finding: a gMSA or dMSA whose retrievers in AD differ from the reviewed list, or that has no reviewed list, or an empty one (design guidance). NPI-KRB-04 Finding: a target that can't be used: a dMSA from an MSA, or with unconstrained delegation, a host or a domain without Windows Server 2025, one dMSA for two accounts; a gMSA with no reviewed retrievers; a gMSA or dMSA converted again (Learn, overview and FAQ). NPI-KRB-05 Finding: an account that stays on Kerberos with no SPN owner (project plan, N3.6). NPI-KRB-06 Finding / Warn: no end date, or one after D08's; Warn while D08 isn't set (project plan, N3.6). NPI-KRB-07 Finding: a gMSA or dMSA not reconciled with D11: no destination; a move or retirement after G5; an island account past G5 when AD is retired, or past the island's end of life (project plan, N7.3 and G5). NPI-KRB-08 Warn: a managed service account in a privileged group (Learn). NPI-KRB-09 Info: a SQL Server account, handed to the Data Platform plan (Chapter 01). Every finding has a stable ID, &lt;rule&gt;:&lt;account&gt;.
Sources: Microsoft Learn, "Create a Key Distribution Service (KDS) root key," https://learn.microsoft.com/windows-server/identity/ad-ds/manage/group-managed-service-accounts/group-managed-service-accounts/create-the-key-distribution-services-kds-root-key (accessed Oct 31, 2026). · Microsoft Learn, "Delegated Managed Service Accounts overview," migration flow; account attributes for dMSA, https://learn.microsoft.com/windows-server/identity/ad-ds/manage/delegated-managed-service-accounts/delegated-managed-service-accounts-overview (accessed Oct 30, 2026). · Microsoft Learn, "Delegated Managed Service Accounts FAQ," general; migration, https://learn.microsoft.com/windows-server/identity/ad-ds/manage/delegated-managed-service-accounts/delegated-managed-service-accounts-faq (accessed Oct 30, 2026). · Microsoft Learn, "Secure group managed service accounts," benefits; using gMSAs; assess gMSA security posture; move to a gMSA, https://learn.microsoft.com/entra/architecture/service-accounts-group-managed (accessed Oct 30, 2026); pinned copy in examples/third_party/entra-service-account-pages. · Microsoft Learn, "ms-Kds-UseStartTime attribute," https://learn.microsoft.com/windows/win32/adschema/a-mskds-usestarttime (accessed Oct 30, 2026).
Workbook: Building Non-Person Identity, Chapter 06 — “The check and the plan” — the rules.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account becomes exactly one action. The group account path is: create it, wait while the server owner installs it and switches the service over, run in parallel for thirty days, then disable the old account. The delegated path is: create it, start the migration, wait the full twenty-eight days, then complete it, which disables the old account and moves its service principal names across. Anything else is recorded with a reason. And because the same inputs always produce the same file, byte for byte, a reviewer approves one hash.
Detail: CreateGmsa: Convert to a gMSA, the gMSA doesn't exist, the root key is ready, the retrievers are reviewed: New-ADServiceAccount -Name -DNSHostName -PrincipalsAllowedToRetrieveManagedPassword -KerberosEncryptionType AES256. Writes, after review. AwaitHostChange, AwaitParallelRun: the gMSA exists; the server owner installs it on the hosts and changes the service, application pool or task identity, then records HostChangedOn; 30 days follow. No write. DisableSuperseded: 30 days after HostChangedOn, the old account still enabled: Disable-ADAccount -Identity &lt;objectGUID&gt;. Writes, after review. CreateDmsa: Convert to a dMSA that passes every limit, and doesn't exist: New-ADServiceAccount -CreateDelegatedServiceAccount -KerberosEncryptionType AES256. StartDmsaMigration: the dMSA exists with msDS-DelegatedMSAState 0: Start-ADServiceAccountMigration -Identity &lt;dMSA&gt; -SupersededAccount &lt;DN&gt;. AwaitMigrationWindow: in migration, less than 28 days since MigrationStartedOn, or no date recorded. No write. CompleteDmsaMigration: state 1 and 28 days passed: Complete-ADServiceAccountMigration, which disables the old account and moves its SPNs to the dMSA. SetRetrievers: a gMSA or dMSA whose retrievers differ from the reviewed list: Set-ADServiceAccount -Identity -PrincipalsAllowedToRetrieveManagedPassword. Island, MovesToWorkloadIdentity, RetireThroughDecommission, MigrationComplete, Superseded, HandedOff, Blocked, AwaitDisposition: recorded, with the reason; no write. The plan is written as kerberos-plan.json with the register's SHA-256, the SHA-256 of each input, the tenant, the cloud, the domain and the date. The same inputs give the same plan, byte for byte, so a reviewer approves a hash.
Sources: Microsoft Learn, "New-ADServiceAccount," description; -CreateDelegatedServiceAccount; notes, https://learn.microsoft.com/powershell/module/activedirectory/new-adserviceaccount (accessed Oct 30, 2026). · Microsoft Learn, "Start-ADServiceAccountMigration," description and notes, https://learn.microsoft.com/powershell/module/activedirectory/start-adserviceaccountmigration (accessed Oct 30, 2026). · Microsoft Learn, "Complete-ADServiceAccountMigration," description and notes, https://learn.microsoft.com/powershell/module/activedirectory/complete-adserviceaccountmigration (accessed Oct 30, 2026). · Microsoft Learn, "Disable-ADAccount," description, https://learn.microsoft.com/powershell/module/activedirectory/disable-adaccount (accessed Oct 30, 2026). · Microsoft Learn, "Delegated Managed Service Accounts overview," migration flow; account attributes for dMSA, https://learn.microsoft.com/windows-server/identity/ad-ds/manage/delegated-managed-service-accounts/delegated-managed-service-accounts-overview (accessed Oct 30, 2026).
Workbook: Building Non-Person Identity, Chapter 06 — “The check and the plan” — the actions.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outputs carry the chapter's end date. The island list holds every account that will stay on Kerberos, under the name it will end up with, along with its owner, its end date, and whether it's ready to hand to the program's retirement work. The hand-off flag only turns true when every single row is ready. The reconciliation covers every managed account, existing or planned, and says where it ends up. When the program confirms its end-state decision, that file changes in a reviewed pull request and the run is repeated well before A D retires.
Detail: island-list.csv holds every account that stays on Kerberos under the name it will have (the dMSA or gMSA a conversion creates, or the account itself), with its SPNs, SPN owner, end date, whether the date is within D08 and whether it is ready for the program's SPN retirement (P4.6). The run's manifest records islandHandoffReady, true only when D08 is set and every row is ready. reconciliation.json holds every gMSA and dMSA, existing or planned, with its destination and outcome: MovesToWorkloadIdentity, Retires, OnIslandList, HandedOff or Unreconciled. When the program confirms or revises D11 (D09, week 36), end-state.json changes in a reviewed pull request and the run is repeated inside the 72-day margin before G5.
Sources: Building Non-Person Identity, Chapter 06, docs/project-plans/developer-workbooks/non-person-identity/06-gmsa-dmsa-and-the-kerberos-island.md
Workbook: Building Non-Person Identity, Chapter 06 — “The island list and the reconciliation”.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to the domain is the dangerous part, so it lives in its own script that refuses to run unless several things are true. The plan must be the exact one a reviewer approved, by hash. It must be for this domain and less than a week old. Every write must be a declared call with only its allowed parameters, and nothing that deletes, uninstalls, undoes or resets exists to call. It runs as a person, never a job. Then, before each write, it checks the target again and skips anything that changed since review.
Detail: Invoke-NpiKerberosIslandAction.ps1 is the only code in this chapter that can write, and it writes only through New-NpiKrbWriter, whose calls are the kerberos-apply task's. It refuses to run unless: the plan file's SHA-256 is the one passed as -ApprovedSha256; the plan is for this tenant and this domain, and no more than seven days old (design guidance); each write is a declared kerberos-apply call with its cmdlet and only its allowedParams; a new account is AES256, a retriever list is never empty, a superseded account is a distinguished name, and no cmdlet that removes, uninstalls, undoes or resets is ever run; a live run is a person's session against a read-write domain controller, never a computer or service identity. Before each write it re-reads the target and skips the write if the precheck no longer holds: the root key isn't ready, the account already exists, the retrievers changed since review, the migration state moved, or the old account is already disabled. Without -Apply it stops after the prechecks and reports WouldSend.
Sources: Microsoft Learn, "New-ADServiceAccount," description; -CreateDelegatedServiceAccount; notes, https://learn.microsoft.com/powershell/module/activedirectory/new-adserviceaccount (accessed Oct 30, 2026). · Microsoft Learn, "Start-ADServiceAccountMigration," description and notes, https://learn.microsoft.com/powershell/module/activedirectory/start-adserviceaccountmigration (accessed Oct 30, 2026).
Workbook: Building Non-Person Identity, Chapter 06 — “The separate write path”.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involved? Developers build the code. Server and directory engineers run the write path and change the hosts. Application owners name who owns each service principal name and when it ends, and the security officer reviews the island list. The rights split is the important part. The read task holds no domain administration at all, just a narrow delegated read of the root key's dates. The write task does need administrator rights, because Learn's procedure requires them, and that's exactly why it's a separate script, run by a person, on a plan someone else approved.
Detail: Audience: developers who build the project's Active Directory code, the server and Active Directory engineers who run the write path and change the hosts, the application owners who name an SPN owner and an end date, and the ISSO who reviews the island list. You should read PowerShell 7 and know Chapter 01's register. You don't need a domain until Lab 2. kerberos-island (read): Get-ADObject (KDS root keys), Get-ADServiceAccount, Get-ADUser, Get-ADDomainController, Get-ADComputer; the default read of an authenticated domain user, plus a delegated read of msKds-UseStartTime and msKds-CreateTime in CN=Master Root Keys, whose class's default security descriptor grants Enterprise Admins, Domain Admins and SYSTEM only (research gaps, rows 52 and 53). kerberos-apply (write, a person): the reads, New-ADServiceAccount, Set-ADServiceAccount, Start- and Complete-ADServiceAccountMigration, Disable-ADAccount; Domain Admins or Enterprise Admins, or equivalent, to create or migrate to a dMSA; Domain Admins or a delegated right to create gMSAs; write of msDS-GroupMSAMembership; a delegated right to disable accounts in the account's OU. The read task holds no domain administration. The write task does, because Learn's dMSA procedure needs it: that is why it is a separate script, run by a person, on a plan someone else approved.
Sources: Microsoft Learn, "ms-Kds-Prov-RootKey class," default security descriptor, https://learn.microsoft.com/windows/win32/adschema/c-mskds-provrootkey (accessed Oct 30, 2026). · Microsoft Learn, "Setting up delegated Managed Service Accounts," prerequisites; create a standalone dMSA; migrate to a dMSA; complete account migration, https://learn.microsoft.com/windows-server/identity/ad-ds/manage/delegated-managed-service-accounts/delegated-managed-service-accounts-set-up-dmsa (accessed Oct 30, 2026). · Microsoft Learn, "Manage group Managed Service Accounts," prerequisites; create a gMSA; install a gMSA, https://learn.microsoft.com/windows-server/identity/ad-ds/manage/group-managed-service-accounts/group-managed-service-accounts/manage-group-managed-service-accounts (accessed Oct 30, 2026). · Microsoft Learn, "Set-ADServiceAccount," syntax; -PrincipalsAllowedToRetrieveManagedPassword; notes, https://learn.microsoft.com/powershell/module/activedirectory/set-adserviceaccount (accessed Oct 30, 2026).
Workbook: Building Non-Person Identity, Chapter 06 — “Goal and audience”; “The separate write path” — rights.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only a laptop, PowerShell 7 and Pester, plus Chapter 1's inventory output. First you run Learn's own procedures against the stand-ins, and you can read the test where the migration-state step fails, just as it would on a real server. Then you list what each task is allowed to run: the read task is only lookups. Then you run the check against a fictional estate. Nine accounts are in scope, with six findings, four planned writes, and a hand-off that isn't ready yet. Let's see why.
Detail: You need PowerShell 7.1 or later with Pester 5. Work in examples/non-person-identity, with Chapter 01's out/inventory in place (Lab 1 of Chapter 01, step 3). Step 1, run Learn's procedures against the stand-ins: Invoke-Pester -Path tests/KerberosIslandSamples.Tests.ps1 -Output None -PassThru | Select-Object PassedCount, FailedCount, NotRunCount gives PassedCount 17, FailedCount 0, NotRunCount 0. Read the test for the state-3 step: Learn's block fails with "A parameter cannot be found that matches parameter name 'Properties'". Step 2, list what each task runs: kerberos-island: Get-ADComputer, Get-ADDomainController, Get-ADObject, Get-ADServiceAccount, Get-ADUser. kerberos-apply: Complete-ADServiceAccountMigration, Disable-ADAccount, Get-ADComputer, Get-ADDomainController, Get-ADObject, Get-ADServiceAccount, Get-ADUser, New-ADServiceAccount, Set-ADServiceAccount, Start-ADServiceAccountMigration. Step 3, check the Kerberos accounts and build the plan: ./Invoke-NpiKerberosIsland.ps1 -Cloud gcc -RegisterRun out/inventory -FixturePath tests/fixtures/estate.json -KerberosFixturePath tests/fixtures/ch06/ad-kerberos.json -InputPath tests/fixtures/ch06/inputs -OutputPath out/kerberos. Output: Kerberos accounts: 9 in scope; KDS root key Ready. Findings: 6 Finding, 1 Warn, 2 Info. Plan: 9 actions, 4 of them writes (1 CompleteDmsaMigration, 2 CreateGmsa, 1 SetRetrievers); nothing sent. Island list: 5 accounts, 3 ready for P4.6; hand-off ready: False. Reconciliation (D11 KerberosIsland): 1 HandedOff, 1 MovesToWorkloadIdentity, 3 OnIslandList, 1 Unreconciled. Plan SHA-256: 5e1f7c33491948026603746e933fafed0572fb77532ff1477ad452397c353746. The plan's hash is the same on every run with these inputs. The commands run Learn's pinned procedures against stand-ins, and run the example against a fictional estate and a fake Active Directory; -Apply in Lab 1 changes only the fake, in memory.
Sources: Building Non-Person Identity, Chapter 06, docs/project-plans/developer-workbooks/non-person-identity/06-gmsa-dmsa-and-the-kerberos-island.md
Workbook: Building Non-Person Identity, Chapter 06 — “Lab 1: fixtures, no tenant,” steps 1–3;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findings is where the rules become concrete. One web server account is trusted for unconstrained delegation, which stops working after a delegated migration, so that conversion is blocked. Another account's reviewed retrievers add a server that Active Directory doesn't have yet, and its end date runs past the program's deadline. An intranet account has no owner and an end date years out, so it can't be reconciled. One sits in Domain Admins. Meanwhile the plan completes a migration that started forty days ago, and creates two new group accounts.
Detail: Step 4, read the findings: Get-Content out/kerberos/findings.json -Raw | ConvertFrom-Json | Sort-Object Rule | Format-Table Rule, Severity, ObjectKey. NPI-KRB-03 Finding gmsa-web$; NPI-KRB-04 Finding svc-webfront; NPI-KRB-05 Finding svc-intranet; NPI-KRB-06 Finding gmsa-web$; NPI-KRB-06 Finding svc-intranet; NPI-KRB-07 Finding gmsa-intranet$; NPI-KRB-08 Warn gmsa-ops$; NPI-KRB-09 Info gmsa-sql$; NPI-KRB-09 Info svc-sqlprod. svc-webfront is trusted for unconstrained delegation, which stops working once a dMSA migration completes, so its dMSA is blocked. gmsa-web$'s reviewed retrievers add WEB03, and its end date (September 30, 2027) is after D08's (June 30, 2027). svc-intranet has no SPN owner, and its end date (2028) is after D08 and after the island's end of life, so its planned gMSA isn't reconciled. gmsa-ops$ is in Domain Admins. Step 5, read the plan: MovesToWorkloadIdentity gmsa-ops$ (no write); HandedOff gmsa-sql$; Island gmsa-web$; SetRetrievers gmsa-web$ (write, Set-ADServiceAccount); CreateGmsa msa-print01$ (write, New-ADServiceAccount); CompleteDmsaMigration svc-hrsync (write, Complete-ADServiceAccountMigration); CreateGmsa svc-intranet (write, New-ADServiceAccount); HandedOff svc-sqlprod; Blocked svc-webfront. svc-hrsync's migration to dmsa-hrsync$ started on September 20, 40 days ago, so it can complete. The MSA msa-print01$ gets a new gMSA for its scheduled task; the IIS application pool's account svc-intranet gets one whose retrievers are a group.
Sources: Microsoft Learn, "Delegated Managed Service Accounts overview," migration flow; account attributes for dMSA, https://learn.microsoft.com/windows-server/identity/ad-ds/manage/delegated-managed-service-accounts/delegated-managed-service-accounts-overview (accessed Oct 30, 2026).
Workbook: Building Non-Person Identity, Chapter 06 — “Lab 1: fixtures, no tenant,” steps 4–5.</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you read the island list and the reconciliation side by side. Two rows aren't ready for hand-off, so the flag stays false, which is the point: an incomplete list never goes. Then the write path. A dry run with the approved hash reports the four writes it would send. Applying it to the fake sends them, and the results tell the operator what comes next, such as installing each new account on its hosts. Finally you pass a hash nobody approved, and it refuses outright. The full suite is five hundred thirteen passing tests.
Detail: Step 6, read the island list and the reconciliation. Island list: dmsa-hrsync$ dMSA hr-apps.owner@contoso.example 2027-06-30 True; gmsa-intranet$ gMSA (no owner) 2028-12-31 False; gmsa-print$ gMSA print.owner@contoso.example 2027-06-30 True; gmsa-web$ gMSA web.owner@contoso.example 2027-09-30 False; svc-webfront Traditional web.owner@contoso.example 2027-06-30 True. Reconciliation: dmsa-hrsync$ dMSA, not planned, Island, OnIslandList; gmsa-ops$ gMSA, not planned, WorkloadIdentity, MovesToWorkloadIdentity; gmsa-sql$ gMSA, HandedOff; gmsa-web$ gMSA, Island, OnIslandList; gmsa-intranet$ gMSA, planned, Island, Unreconciled; gmsa-print$ gMSA, planned, Island, OnIslandList. Step 7, dry-run the plan with its approved hash: $sha = (Get-FileHash out/kerberos/kerberos-plan.json -Algorithm SHA256).Hash.ToLower(), then ./Invoke-NpiKerberosIslandAction.ps1 -PlanPath out/kerberos/kerberos-plan.json -ApprovedSha256 $sha -FixturePath tests/fixtures/estate.json -KerberosFixturePath tests/fixtures/ch06/ad-kerberos.json -OutputPath out/kerberos-dryrun. Output: DryRun: 4 WouldSend: SetRetrievers gmsa-web$ Set-ADServiceAccount; CreateGmsa msa-print01$ New-ADServiceAccount; CompleteDmsaMigration svc-hrsync Complete-ADServiceAccountMigration; CreateGmsa svc-intranet New-ADServiceAccount. Step 8, apply it to the fake with -Apply, then try a hash nobody approved (-ApprovedSha256 ('0' * 64)): Apply: 4 Sent; results.json tells the operator what comes next (install each gMSA on its hosts and record HostChangedOn; the old svc-hrsync is disabled and kept). Then the refusal: "The plan's SHA-256 is 5e1f7c33…, not the approved 0000…; refusing to run a plan nobody reviewed." Step 9, Invoke-Pester -Path tests. Expected result: 513 tests passing across the example, out/kerberos/manifest.json listing seven AD reads and the SHA-256 of the register and each input, and out/kerberos-apply/manifest.json listing the prechecks and the four writes. Delete out when you're done. The chapter's tests: tests/KerberosIslandSamples.Tests.ps1, 17 tests (Learn's procedures, run as published against stand-ins); tests/NpiKerberosIsland.Tests.ps1, 44 tests: the call list and its least-privilege check, the reader's refusals, the register's hash, the end state with no default, the KDS root key read, each rule, gMSA and dMSA paths step by step, the retrievers, the island list and its hand-off, the reconciliation under each D11 decision, the deterministic plan, the writer's refusals (hash, tenant, domain, age, delete, undeclared call, parameter, empty list, encryption type, distinguished name), dry run, -Apply, the prechecks that skip a write, and the entry scripts.
Sources: Building Non-Person Identity, Chapter 06, docs/project-plans/developer-workbooks/non-person-identity/06-gmsa-dmsa-and-the-kerberos-island.md
Workbook: Building Non-Person Identity, Chapter 06 — “Lab 1: fixtures, no tenant,” steps 6–9; “The tests”.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domain, never production, with a Windows Server 2025 domain controller and member server. You make two test accounts, one for each path, and grant the reader only a narrow delegated read of the root key's dates, recording whether that really works without exposing the key. A second person reviews the plan and hands you its hash. You apply it as a person, then run the next plan to start the migration, restart only the test service, and watch the Kerberos events. After twenty-eight days, complete it, or back it out by hand.
Detail: Use a test Active Directory domain, never production, with at least one Windows Server 2025 domain controller, a Windows Server 2025 member server, and Chapter 01's Lab 2 run (out/inventory-test). The KDS root key must already exist; in a test domain with one domain controller, Learn's KDS page shows how to create one usable at once. 1 Make two test accounts: a traditional test service account (svc- prefix) with an SPN, running a test Windows service on the 2025 member server, and a test MSA. Add both to kerberos-dispositions.csv: the first Convert to a dMSA on that host, the second Convert to a gMSA, each with a test SPN owner and an end date before your test D08. Add the gMSA's retrievers to password-retrievers.json and a test end-state.json. 2 Grant the read: give the account that runs the read a delegated read of msKds-UseStartTime and msKds-CreateTime on CN=Master Root Keys,CN=Group Key Distribution Service,CN=Services,CN=Configuration,&lt;forest&gt;, nothing else, and record whether the read works without access to the key data (research gaps, row 52). Record whether PrincipalsAllowedToRetrieveManagedPassword comes back for that account (row 53). 3 Run the check: ./Invoke-NpiKerberosIsland.ps1 -Cloud gcc -RegisterRun out/inventory-test -InputPath &lt;inputs&gt; -Server &lt;test-dc&gt; -OutputPath out/kerberos-test. Expect CreateDmsa and CreateGmsa. Have a second person review kerberos-plan.json and pass you its SHA-256. 4 Dry-run, then apply, signed in to the domain as a person with the test domain's Domain Admins or equivalent rights, against a writable domain controller, with -ApprovedSha256 &lt;sha&gt; -Server &lt;test-dc&gt;, first without and then with -Apply. 5 Run the next plan: the check now plans StartDmsaMigration for the dMSA and AwaitHostChange for the gMSA. Review, apply, record MigrationStartedOn. On the member server, set the host's registry value and restart only the test service, as Learn's procedure does for all services; watch Kerberos events 307 to 309 in the Security-Kerberos Operational log. Record whether the dMSA's state is 1 without first setting it to 3 (row 51). 6 Complete, or back out. After 28 days the check plans CompleteDmsaMigration; apply it and confirm the old account is disabled and its SPNs are on the dMSA. To back out instead, run Learn's Undo-ADServiceAccountMigration by hand (this code never runs it), re-enable the test account, then remove the test dMSA, gMSA, MSA and account by hand in the test domain, and delete the out folders.
Sources: Microsoft Learn, "Create a Key Distribution Service (KDS) root key," https://learn.microsoft.com/windows-server/identity/ad-ds/manage/group-managed-service-accounts/group-managed-service-accounts/create-the-key-distribution-services-kds-root-key (accessed Oct 31, 2026). · Microsoft Learn, "Setting up delegated Managed Service Accounts," prerequisites; create a standalone dMSA; migrate to a dMSA; complete account migration, https://learn.microsoft.com/windows-server/identity/ad-ds/manage/delegated-managed-service-accounts/delegated-managed-service-accounts-set-up-dmsa (accessed Oct 30, 2026). · Microsoft Learn, "Complete-ADServiceAccountMigration," description and notes, https://learn.microsoft.com/powershell/module/activedirectory/complete-adserviceaccountmigration (accessed Oct 30, 2026).
Workbook: Building Non-Person Identity, Chapter 06 — “Lab 2: test domain”.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failures has a guard in the code. The biggest is the one the chapter is built around: an account left behind when A D retires, and the guard is the reconciliation, rerun whenever the end-state decision changes. Others are about the migration itself: completing too early, on a host that can't use the new account, or deleting the old one so there's no way back. Then the quieter ones: reading the root key as a secret, widening retrievers by hand, or a plan that changed after review. Each guard is a rule that runs every time.
Detail: A gMSA left behind at G5: the workload loses its credential when the last domain controller is demoted; guard: every gMSA and dMSA reconciled with D11 and G5 (NPI-KRB-07); the run repeated when D11 changes. A dMSA migration completed too early, or on a host that can't use it: the old account is disabled; the service fails on hosts the dMSA hasn't learned; guard: complete only 28 days after the start; Windows Server 2025 on every host and one domain controller; no unconstrained delegation (NPI-KRB-04). The old account deleted: no way back; the service and the dMSA link to it; guard: no delete, uninstall, undo or reset call exists; the writer refuses them by name. A root key used before it replicates: gMSA password retrieval fails on other domain controllers; guard: creations wait until a key has been usable for 10 hours (NPI-KRB-01); the code never creates a key. The root key read as a secret: whoever runs the check holds the input to every gMSA password; guard: only msKds-UseStartTime and msKds-CreateTime are read, with a delegated read. Retrievers widened by hand: another host can read the gMSA's password and act as the service; guard: retrievers are reviewed data; drift is a finding and a reviewed SetRetrievers. A restart of every service: Learn's step restarts unrelated services on the host; guard: host steps are the server owner's, scoped to the service, never run by this code. A plan changed after review: different writes from the ones approved; guard: the approved SHA-256; this tenant and domain; no older than seven days. Domain administration held by a job: a standing credential that can create and migrate any account; guard: the write path runs as a person; the read path holds no administration. An island with no owner or end: SPNs nobody retires; P4.6 has no list to work from; guard: NPI-KRB-05 and -06; the island list is ready for hand-off only when every row is.
Sources: Microsoft Learn, "Create a Key Distribution Service (KDS) root key," https://learn.microsoft.com/windows-server/identity/ad-ds/manage/group-managed-service-accounts/group-managed-service-accounts/create-the-key-distribution-services-kds-root-key (accessed Oct 31, 2026). · Microsoft Learn, "Delegated Managed Service Accounts overview," migration flow; account attributes for dMSA, https://learn.microsoft.com/windows-server/identity/ad-ds/manage/delegated-managed-service-accounts/delegated-managed-service-accounts-overview (accessed Oct 30, 2026). · Microsoft Learn, "Setting up delegated Managed Service Accounts," prerequisites; create a standalone dMSA; migrate to a dMSA; complete account migration, https://learn.microsoft.com/windows-server/identity/ad-ds/manage/delegated-managed-service-accounts/delegated-managed-service-accounts-set-up-dmsa (accessed Oct 30, 2026). · Microsoft Learn, "Delegated Managed Service Accounts FAQ," general; migration, https://learn.microsoft.com/windows-server/identity/ad-ds/manage/delegated-managed-service-accounts/delegated-managed-service-accounts-faq (accessed Oct 30, 2026).
Workbook: Building Non-Person Identity, Chapter 06 — “Dangers”.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Every Kerberos account has a reviewed decision. The root key was checked without anyone holding administrator rights. Retrievers match the reviewed list, no migration broke the limits or finished early, and every plan was approved by someone other than the person who applied it. Nothing was deleted. Every island account has an owner and an end date inside the deadline, and every managed account has a reconciled destination. With the Kerberos accounts accounted for, Chapter 7 turns to least privilege for service principals. Thanks for watching.
Detail: Checklist: every Kerberos account in the register has a reviewed disposition, or a finding with an owner of the fix. The KDS root key check ran with a delegated read of the start time only, not as a Domain Admin. Every gMSA's and dMSA's retrievers match password-retrievers.json. No dMSA was planned for an MSA, an account with unconstrained delegation, or a host without Windows Server 2025, and none was completed before 28 days. Every plan's SHA-256 was approved by someone other than the person who applied it, and the write path's manifest is filed with the change record. No old account was deleted; each superseded one is disabled and has a retirement decision. Every account on the island list has an SPN owner and an end date within D08, and the list went to the program's SPN retirement (P4.6) only when islandHandoffReady was true. Every gMSA and dMSA is MovesToWorkloadIdentity, Retires, OnIslandList or HandedOff against the current end-state.json, and the run was repeated after D11 was confirmed. The pinned Learn pages match their manifest, and every upstream commit since the pin has been reviewed. Next: Chapter 07 — Least Privilege for Service Principals.
Sources: Microsoft, MicrosoftDocs/windowsserverdocs, WindowsServerDocs/identity/ad-ds/manage/delegated-managed-service-accounts/ (delegated-managed-service-accounts-set-up-dmsa.md, delegated-managed-service-accounts-overview.md) and WindowsServerDocs/identity/ad-ds/manage/group-managed-service-accounts/group-managed-service-accounts/ (manage-group-managed-service-accounts.md, create-the-key-distribution-services-kds-root-key.md) at commit 2205ce8e55001a9b5e8e0de43981baa8ad782562 (October 30, 2026), documentation Creative Commons Attribution 4.0, code MIT License, https://github.com/MicrosoftDocs/windowsserverdocs/tree/2205ce8e55001a9b5e8e0de43981baa8ad782562/WindowsServerDocs/identity/ad-ds/manage (accessed Oct 30, 2026); pinned copy in examples/third_party/windows-server-msa-pages.
Workbook: Building Non-Person Identity, Chapter 06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Non-Person Identity  ·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3.png"/><Relationship Id="rId4" Type="http://schemas.openxmlformats.org/officeDocument/2006/relationships/notesSlide" Target="../notesSlides/notesSlide2.xml"/><Relationship Id="rId6"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10.xml"/><Relationship Id="rId7"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18.xml"/><Relationship Id="rId7"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06: gMSAs, dMSAs and the Kerberos Island</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Non-Person Identity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Why an end date · Learn's procedures and their gaps · the plan, the island list, the write path · who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F82CE978-A77C-EC70-28C2-C78DE927027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CCC7902-6A03-4C97-97A3-C3C7F037AD7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280"/>
    </mc:Choice>
    <mc:Fallback>
      <p:transition spd="slow" advTm="42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28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every gMSA and dMSA needs an end date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A gMSA works only while AD is authoritative. When the last domain controller is demoted, it's gone.</a:t>
            </a:r>
            <a:endParaRPr lang="en-US" sz="1800" dirty="0"/>
          </a:p>
        </p:txBody>
      </p:sp>
      <p:sp>
        <p:nvSpPr>
          <p:cNvPr id="6" name="Panel The program's dates">
            <a:extLst>
              <a:ext uri="{C183D7F6-B498-43B3-948B-1728B52AA6E4}">
                <adec:decorative xmlns:adec="http://schemas.microsoft.com/office/drawing/2017/decorative" val="1"/>
              </a:ext>
            </a:extLst>
          </p:cNvPr>
          <p:cNvSpPr/>
          <p:nvPr/>
        </p:nvSpPr>
        <p:spPr>
          <a:xfrm>
            <a:off x="548640" y="2112264"/>
            <a:ext cx="5417820" cy="2831592"/>
          </a:xfrm>
          <a:prstGeom prst="roundRect">
            <a:avLst>
              <a:gd name="adj" fmla="val 2583"/>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Panel The program&amp;apos;s dates label"/>
          <p:cNvSpPr txBox="1"/>
          <p:nvPr/>
        </p:nvSpPr>
        <p:spPr>
          <a:xfrm>
            <a:off x="731520" y="2221992"/>
            <a:ext cx="5052060" cy="274320"/>
          </a:xfrm>
          <a:prstGeom prst="rect">
            <a:avLst/>
          </a:prstGeom>
          <a:noFill/>
          <a:ln/>
        </p:spPr>
        <p:txBody>
          <a:bodyPr wrap="square" lIns="0" tIns="0" rIns="0" bIns="0" rtlCol="0" anchor="t"/>
          <a:lstStyle/>
          <a:p>
            <a:pPr marL="0" indent="0">
              <a:buNone/>
            </a:pPr>
            <a:r>
              <a:rPr lang="en-US" sz="1100" b="1" kern="0" spc="50" dirty="0">
                <a:solidFill>
                  <a:srgbClr val="B91C1C"/>
                </a:solidFill>
              </a:rPr>
              <a:t>THE PROGRAM'S DATES</a:t>
            </a:r>
            <a:endParaRPr lang="en-US" sz="1100" dirty="0"/>
          </a:p>
        </p:txBody>
      </p:sp>
      <p:sp>
        <p:nvSpPr>
          <p:cNvPr id="8" name="Panel The program's dates list"/>
          <p:cNvSpPr txBox="1"/>
          <p:nvPr/>
        </p:nvSpPr>
        <p:spPr>
          <a:xfrm>
            <a:off x="731520" y="2523744"/>
            <a:ext cx="5097780" cy="237439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D11 (provisional, at G0): AD retired, or a dated Kerberos island</a:t>
            </a:r>
            <a:endParaRPr lang="en-US" sz="1550" dirty="0"/>
          </a:p>
          <a:p>
            <a:pPr marL="342900" indent="-342900">
              <a:spcAft>
                <a:spcPts val="400"/>
              </a:spcAft>
              <a:buSzPct val="100000"/>
              <a:buChar char="•"/>
            </a:pPr>
            <a:r>
              <a:rPr lang="en-US" sz="1550" dirty="0">
                <a:solidFill>
                  <a:srgbClr val="334155"/>
                </a:solidFill>
              </a:rPr>
              <a:t>D08: end dates for legacy authentication and NTLM</a:t>
            </a:r>
            <a:endParaRPr lang="en-US" sz="1550" dirty="0"/>
          </a:p>
          <a:p>
            <a:pPr marL="342900" indent="-342900">
              <a:spcAft>
                <a:spcPts val="400"/>
              </a:spcAft>
              <a:buSzPct val="100000"/>
              <a:buChar char="•"/>
            </a:pPr>
            <a:r>
              <a:rPr lang="en-US" sz="1550" dirty="0">
                <a:solidFill>
                  <a:srgbClr val="334155"/>
                </a:solidFill>
              </a:rPr>
              <a:t>G5: AD retired</a:t>
            </a:r>
            <a:endParaRPr lang="en-US" sz="1550" dirty="0"/>
          </a:p>
          <a:p>
            <a:pPr marL="342900" indent="-342900">
              <a:spcAft>
                <a:spcPts val="400"/>
              </a:spcAft>
              <a:buSzPct val="100000"/>
              <a:buChar char="•"/>
            </a:pPr>
            <a:r>
              <a:rPr lang="en-US" sz="1550" dirty="0">
                <a:solidFill>
                  <a:srgbClr val="334155"/>
                </a:solidFill>
              </a:rPr>
              <a:t>The risk register: a workload still under a gMSA loses its credential at the last demotion</a:t>
            </a:r>
            <a:endParaRPr lang="en-US" sz="1550" dirty="0"/>
          </a:p>
          <a:p>
            <a:pPr marL="342900" indent="-342900">
              <a:spcAft>
                <a:spcPts val="400"/>
              </a:spcAft>
              <a:buSzPct val="100000"/>
              <a:buChar char="•"/>
            </a:pPr>
            <a:r>
              <a:rPr lang="en-US" sz="1550" dirty="0">
                <a:solidFill>
                  <a:srgbClr val="334155"/>
                </a:solidFill>
              </a:rPr>
              <a:t>So every account ends moving to a workload identity, retiring, or on the island list with a date</a:t>
            </a:r>
            <a:endParaRPr lang="en-US" sz="1550" dirty="0"/>
          </a:p>
        </p:txBody>
      </p:sp>
      <p:sp>
        <p:nvSpPr>
          <p:cNvPr id="9" name="Panel The program's rules (design guidance)">
            <a:extLst>
              <a:ext uri="{C183D7F6-B498-43B3-948B-1728B52AA6E4}">
                <adec:decorative xmlns:adec="http://schemas.microsoft.com/office/drawing/2017/decorative" val="1"/>
              </a:ext>
            </a:extLst>
          </p:cNvPr>
          <p:cNvSpPr/>
          <p:nvPr/>
        </p:nvSpPr>
        <p:spPr>
          <a:xfrm>
            <a:off x="6240780" y="2112264"/>
            <a:ext cx="5417820" cy="2831592"/>
          </a:xfrm>
          <a:prstGeom prst="roundRect">
            <a:avLst>
              <a:gd name="adj" fmla="val 258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Panel The program&amp;apos;s rules (design guidance) label"/>
          <p:cNvSpPr txBox="1"/>
          <p:nvPr/>
        </p:nvSpPr>
        <p:spPr>
          <a:xfrm>
            <a:off x="6423660" y="2221992"/>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PROGRAM'S RULES (DESIGN GUIDANCE)</a:t>
            </a:r>
            <a:endParaRPr lang="en-US" sz="1100" dirty="0"/>
          </a:p>
        </p:txBody>
      </p:sp>
      <p:sp>
        <p:nvSpPr>
          <p:cNvPr id="11" name="Panel The program's rules (design guidance) list"/>
          <p:cNvSpPr txBox="1"/>
          <p:nvPr/>
        </p:nvSpPr>
        <p:spPr>
          <a:xfrm>
            <a:off x="6423660" y="2523744"/>
            <a:ext cx="5097780" cy="237439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Every Kerberos account has a reviewed disposition: Convert, Island, WorkloadIdentity or Retire</a:t>
            </a:r>
            <a:endParaRPr lang="en-US" sz="1550" dirty="0"/>
          </a:p>
          <a:p>
            <a:pPr marL="342900" indent="-342900">
              <a:spcAft>
                <a:spcPts val="400"/>
              </a:spcAft>
              <a:buSzPct val="100000"/>
              <a:buChar char="•"/>
            </a:pPr>
            <a:r>
              <a:rPr lang="en-US" sz="1550" dirty="0">
                <a:solidFill>
                  <a:srgbClr val="334155"/>
                </a:solidFill>
              </a:rPr>
              <a:t>Who may retrieve a managed password is reviewed data, not what AD holds today</a:t>
            </a:r>
            <a:endParaRPr lang="en-US" sz="1550" dirty="0"/>
          </a:p>
          <a:p>
            <a:pPr marL="342900" indent="-342900">
              <a:spcAft>
                <a:spcPts val="400"/>
              </a:spcAft>
              <a:buSzPct val="100000"/>
              <a:buChar char="•"/>
            </a:pPr>
            <a:r>
              <a:rPr lang="en-US" sz="1550" dirty="0">
                <a:solidFill>
                  <a:srgbClr val="334155"/>
                </a:solidFill>
              </a:rPr>
              <a:t>Every account that stays has an SPN owner and an end date no later than D08's</a:t>
            </a:r>
            <a:endParaRPr lang="en-US" sz="1550" dirty="0"/>
          </a:p>
          <a:p>
            <a:pPr marL="342900" indent="-342900">
              <a:spcAft>
                <a:spcPts val="400"/>
              </a:spcAft>
              <a:buSzPct val="100000"/>
              <a:buChar char="•"/>
            </a:pPr>
            <a:r>
              <a:rPr lang="en-US" sz="1550" dirty="0">
                <a:solidFill>
                  <a:srgbClr val="334155"/>
                </a:solidFill>
              </a:rPr>
              <a:t>Never delete: the old account is disabled at most; retirement goes through decommission</a:t>
            </a:r>
            <a:endParaRPr lang="en-US" sz="15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companion guide, service accounts; project plan risk register; Book 02, Ch 10. Chapter 06, “Why this chapter has an end date built in.”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0D2F05F6-EA60-CD7D-D4EA-93AE370BDD6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E3835F5-8649-452D-87C5-79A1DA9929F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410"/>
    </mc:Choice>
    <mc:Fallback>
      <p:transition spd="slow" advTm="404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408"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gMSAs and dMSAs are, and where the code runs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Panel gMSA">
            <a:extLst>
              <a:ext uri="{C183D7F6-B498-43B3-948B-1728B52AA6E4}">
                <adec:decorative xmlns:adec="http://schemas.microsoft.com/office/drawing/2017/decorative" val="1"/>
              </a:ext>
            </a:extLst>
          </p:cNvPr>
          <p:cNvSpPr/>
          <p:nvPr/>
        </p:nvSpPr>
        <p:spPr>
          <a:xfrm>
            <a:off x="548640" y="1325880"/>
            <a:ext cx="5417820" cy="2467356"/>
          </a:xfrm>
          <a:prstGeom prst="roundRect">
            <a:avLst>
              <a:gd name="adj" fmla="val 296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gMSA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GMSA</a:t>
            </a:r>
            <a:endParaRPr lang="en-US" sz="1100" dirty="0"/>
          </a:p>
        </p:txBody>
      </p:sp>
      <p:sp>
        <p:nvSpPr>
          <p:cNvPr id="7" name="Panel gMSA list"/>
          <p:cNvSpPr txBox="1"/>
          <p:nvPr/>
        </p:nvSpPr>
        <p:spPr>
          <a:xfrm>
            <a:off x="731520" y="1737360"/>
            <a:ext cx="5097780" cy="201015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Password managed by the domain controllers; several servers can retrieve it</a:t>
            </a:r>
            <a:endParaRPr lang="en-US" sz="1550" dirty="0"/>
          </a:p>
          <a:p>
            <a:pPr marL="342900" indent="-342900">
              <a:spcAft>
                <a:spcPts val="400"/>
              </a:spcAft>
              <a:buSzPct val="100000"/>
              <a:buChar char="•"/>
            </a:pPr>
            <a:r>
              <a:rPr lang="en-US" sz="1550" dirty="0">
                <a:solidFill>
                  <a:srgbClr val="334155"/>
                </a:solidFill>
              </a:rPr>
              <a:t>Services, IIS application pools and Task Scheduler tasks can run as one</a:t>
            </a:r>
            <a:endParaRPr lang="en-US" sz="1550" dirty="0"/>
          </a:p>
          <a:p>
            <a:pPr marL="342900" indent="-342900">
              <a:spcAft>
                <a:spcPts val="400"/>
              </a:spcAft>
              <a:buSzPct val="100000"/>
              <a:buChar char="•"/>
            </a:pPr>
            <a:r>
              <a:rPr lang="en-US" sz="1550" dirty="0">
                <a:solidFill>
                  <a:srgbClr val="334155"/>
                </a:solidFill>
              </a:rPr>
              <a:t>Windows changes the password every 30 days; use one unless the service, such as failover clustering, can't</a:t>
            </a:r>
            <a:endParaRPr lang="en-US" sz="1550" dirty="0"/>
          </a:p>
        </p:txBody>
      </p:sp>
      <p:sp>
        <p:nvSpPr>
          <p:cNvPr id="8" name="Panel dMSA">
            <a:extLst>
              <a:ext uri="{C183D7F6-B498-43B3-948B-1728B52AA6E4}">
                <adec:decorative xmlns:adec="http://schemas.microsoft.com/office/drawing/2017/decorative" val="1"/>
              </a:ext>
            </a:extLst>
          </p:cNvPr>
          <p:cNvSpPr/>
          <p:nvPr/>
        </p:nvSpPr>
        <p:spPr>
          <a:xfrm>
            <a:off x="6240780" y="1325880"/>
            <a:ext cx="5417820" cy="2467356"/>
          </a:xfrm>
          <a:prstGeom prst="roundRect">
            <a:avLst>
              <a:gd name="adj" fmla="val 296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dMSA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DMSA</a:t>
            </a:r>
            <a:endParaRPr lang="en-US" sz="1100" dirty="0"/>
          </a:p>
        </p:txBody>
      </p:sp>
      <p:sp>
        <p:nvSpPr>
          <p:cNvPr id="10" name="Panel dMSA list"/>
          <p:cNvSpPr txBox="1"/>
          <p:nvPr/>
        </p:nvSpPr>
        <p:spPr>
          <a:xfrm>
            <a:off x="6423660" y="1737360"/>
            <a:ext cx="5097780" cy="201015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New in Windows Server 2025; supersedes a traditional service account</a:t>
            </a:r>
            <a:endParaRPr lang="en-US" sz="1550" dirty="0"/>
          </a:p>
          <a:p>
            <a:pPr marL="342900" indent="-342900">
              <a:spcAft>
                <a:spcPts val="400"/>
              </a:spcAft>
              <a:buSzPct val="100000"/>
              <a:buChar char="•"/>
            </a:pPr>
            <a:r>
              <a:rPr lang="en-US" sz="1550" dirty="0">
                <a:solidFill>
                  <a:srgbClr val="334155"/>
                </a:solidFill>
              </a:rPr>
              <a:t>After migration the old password no longer works; authentication is tied to the mapped machines</a:t>
            </a:r>
            <a:endParaRPr lang="en-US" sz="1550" dirty="0"/>
          </a:p>
          <a:p>
            <a:pPr marL="342900" indent="-342900">
              <a:spcAft>
                <a:spcPts val="400"/>
              </a:spcAft>
              <a:buSzPct val="100000"/>
              <a:buChar char="•"/>
            </a:pPr>
            <a:r>
              <a:rPr lang="en-US" sz="1550" dirty="0">
                <a:solidFill>
                  <a:srgbClr val="334155"/>
                </a:solidFill>
              </a:rPr>
              <a:t>The original account is disabled</a:t>
            </a:r>
            <a:endParaRPr lang="en-US" sz="1550" dirty="0"/>
          </a:p>
        </p:txBody>
      </p:sp>
      <p:sp>
        <p:nvSpPr>
          <p:cNvPr id="11" name="Lead"/>
          <p:cNvSpPr txBox="1"/>
          <p:nvPr/>
        </p:nvSpPr>
        <p:spPr>
          <a:xfrm>
            <a:off x="548640" y="3976116"/>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Book 02's matrix: traditional account → gMSA, or dMSA on a 2025 domain; MSA → gMSA first; app pools and tasks → gMSA now, managed identity in Azure.</a:t>
            </a:r>
            <a:endParaRPr lang="en-US" sz="1800" dirty="0"/>
          </a:p>
        </p:txBody>
      </p:sp>
      <p:sp>
        <p:nvSpPr>
          <p:cNvPr id="12" name="Callout">
            <a:extLst>
              <a:ext uri="{C183D7F6-B498-43B3-948B-1728B52AA6E4}">
                <adec:decorative xmlns:adec="http://schemas.microsoft.com/office/drawing/2017/decorative" val="1"/>
              </a:ext>
            </a:extLst>
          </p:cNvPr>
          <p:cNvSpPr/>
          <p:nvPr/>
        </p:nvSpPr>
        <p:spPr>
          <a:xfrm>
            <a:off x="548640" y="4762500"/>
            <a:ext cx="11109960" cy="1019556"/>
          </a:xfrm>
          <a:prstGeom prst="roundRect">
            <a:avLst>
              <a:gd name="adj" fmla="val 7175"/>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Icon FaServer">
            <a:extLst>
              <a:ext uri="{C183D7F6-B498-43B3-948B-1728B52AA6E4}">
                <adec:decorative xmlns:adec="http://schemas.microsoft.com/office/drawing/2017/decorative" val="1"/>
              </a:ext>
            </a:extLst>
          </p:cNvPr>
          <p:cNvSpPr/>
          <p:nvPr/>
        </p:nvSpPr>
        <p:spPr>
          <a:xfrm>
            <a:off x="749808" y="4952238"/>
            <a:ext cx="640080" cy="640080"/>
          </a:xfrm>
          <a:prstGeom prst="ellipse">
            <a:avLst/>
          </a:prstGeom>
          <a:solidFill>
            <a:srgbClr val="B45309"/>
          </a:solidFill>
          <a:ln w="12700">
            <a:solidFill>
              <a:srgbClr val="B45309"/>
            </a:solidFill>
            <a:prstDash val="solid"/>
          </a:ln>
        </p:spPr>
      </p:sp>
      <p:pic>
        <p:nvPicPr>
          <p:cNvPr id="14"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105857"/>
            <a:ext cx="332842" cy="332842"/>
          </a:xfrm>
          <a:prstGeom prst="rect">
            <a:avLst/>
          </a:prstGeom>
        </p:spPr>
      </p:pic>
      <p:sp>
        <p:nvSpPr>
          <p:cNvPr id="15" name="Callout text"/>
          <p:cNvSpPr txBox="1"/>
          <p:nvPr/>
        </p:nvSpPr>
        <p:spPr>
          <a:xfrm>
            <a:off x="1600200" y="4817364"/>
            <a:ext cx="9875520" cy="909828"/>
          </a:xfrm>
          <a:prstGeom prst="rect">
            <a:avLst/>
          </a:prstGeom>
          <a:noFill/>
          <a:ln/>
        </p:spPr>
        <p:txBody>
          <a:bodyPr wrap="square" lIns="0" tIns="0" rIns="0" bIns="0" rtlCol="0" anchor="ctr"/>
          <a:lstStyle/>
          <a:p>
            <a:pPr marL="0" indent="0">
              <a:buNone/>
            </a:pPr>
            <a:r>
              <a:rPr lang="en-US" sz="1750" b="1" dirty="0">
                <a:solidFill>
                  <a:srgbClr val="B45309"/>
                </a:solidFill>
              </a:rPr>
              <a:t>Which domain, which cloud: </a:t>
            </a:r>
            <a:r>
              <a:rPr lang="en-US" sz="1750" dirty="0">
                <a:solidFill>
                  <a:srgbClr val="334155"/>
                </a:solidFill>
              </a:rPr>
              <a:t>every call is an AD cmdlet against the program's domain, sent with -Server; no Graph or Resource Manager endpoint, so the US Government clouds change nothing. Writes refuse a read-only domain controller.</a:t>
            </a:r>
            <a:endParaRPr lang="en-US" sz="17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Manage gMSAs; Secure gMSAs; dMSA overview; New-ADServiceAccount; Start-ADServiceAccountMigration. Chapter 06, “The context,” “Which domain.”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FC032F20-0008-243D-0DF6-794DE04833B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048CA2D-3FC2-4F9F-B3AE-2DC377D5623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300"/>
    </mc:Choice>
    <mc:Fallback>
      <p:transition spd="slow" advTm="38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296"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Learn's four procedures, pinned and run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715768"/>
        </p:xfrm>
        <a:graphic>
          <a:graphicData uri="http://schemas.openxmlformats.org/drawingml/2006/table">
            <a:tbl>
              <a:tblPr firstRow="1" bandRow="1"/>
              <a:tblGrid>
                <a:gridCol w="3474720">
                  <a:extLst>
                    <a:ext uri="{9D8B030D-6E8A-4147-A177-3AD203B41FA5}">
                      <a16:colId xmlns:a16="http://schemas.microsoft.com/office/drawing/2014/main" val="20000"/>
                    </a:ext>
                  </a:extLst>
                </a:gridCol>
                <a:gridCol w="7635240">
                  <a:extLst>
                    <a:ext uri="{9D8B030D-6E8A-4147-A177-3AD203B41FA5}">
                      <a16:colId xmlns:a16="http://schemas.microsoft.com/office/drawing/2014/main" val="20001"/>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Learn page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it gives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Setting up delegated Managed Service Accounts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Get-KdsRootKey; New-ADServiceAccount -CreateDelegatedServiceAccount; Set-ADServiceAccount; msDS-DelegatedMSAState; Start-ADServiceAccountMigration; a registry value; restart services; Complete-; undo or reset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Delegated Managed Service Accounts overview</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limits, and what each step changes in AD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Manage group Managed Service Accounts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New-ADServiceAccount -PrincipalsAllowedToRetrieveManagedPassword; install on each host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Create a KDS root key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one-time prerequisite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Secure group managed service accounts (Entra)</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Seven steps to move a service to a gMSA; pinned for Chapter 01</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Panel The pinned copy">
            <a:extLst>
              <a:ext uri="{C183D7F6-B498-43B3-948B-1728B52AA6E4}">
                <adec:decorative xmlns:adec="http://schemas.microsoft.com/office/drawing/2017/decorative" val="1"/>
              </a:ext>
            </a:extLst>
          </p:cNvPr>
          <p:cNvSpPr/>
          <p:nvPr/>
        </p:nvSpPr>
        <p:spPr>
          <a:xfrm>
            <a:off x="548640" y="4224528"/>
            <a:ext cx="5417820" cy="1603248"/>
          </a:xfrm>
          <a:prstGeom prst="roundRect">
            <a:avLst>
              <a:gd name="adj" fmla="val 456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The pinned copy label"/>
          <p:cNvSpPr txBox="1"/>
          <p:nvPr/>
        </p:nvSpPr>
        <p:spPr>
          <a:xfrm>
            <a:off x="731520" y="4334256"/>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PINNED COPY</a:t>
            </a:r>
            <a:endParaRPr lang="en-US" sz="1100" dirty="0"/>
          </a:p>
        </p:txBody>
      </p:sp>
      <p:sp>
        <p:nvSpPr>
          <p:cNvPr id="8" name="Panel The pinned copy list"/>
          <p:cNvSpPr txBox="1"/>
          <p:nvPr/>
        </p:nvSpPr>
        <p:spPr>
          <a:xfrm>
            <a:off x="731520" y="4636008"/>
            <a:ext cx="5097780" cy="1146048"/>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Four pages from MicrosoftDocs/windowsserverdocs at 2205ce8 (Oct 30, 2026), CC BY 4.0 and MIT</a:t>
            </a:r>
            <a:endParaRPr lang="en-US" sz="1400" dirty="0"/>
          </a:p>
          <a:p>
            <a:pPr marL="342900" indent="-342900">
              <a:spcAft>
                <a:spcPts val="400"/>
              </a:spcAft>
              <a:buSzPct val="100000"/>
              <a:buChar char="•"/>
            </a:pPr>
            <a:r>
              <a:rPr lang="en-US" sz="1400" dirty="0">
                <a:solidFill>
                  <a:srgbClr val="334155"/>
                </a:solidFill>
              </a:rPr>
              <a:t>snapshot.json: SHA-256 and git blob hashes, unit-tested; weekly source watch</a:t>
            </a:r>
            <a:endParaRPr lang="en-US" sz="1400" dirty="0"/>
          </a:p>
        </p:txBody>
      </p:sp>
      <p:sp>
        <p:nvSpPr>
          <p:cNvPr id="9" name="Panel The harness">
            <a:extLst>
              <a:ext uri="{C183D7F6-B498-43B3-948B-1728B52AA6E4}">
                <adec:decorative xmlns:adec="http://schemas.microsoft.com/office/drawing/2017/decorative" val="1"/>
              </a:ext>
            </a:extLst>
          </p:cNvPr>
          <p:cNvSpPr/>
          <p:nvPr/>
        </p:nvSpPr>
        <p:spPr>
          <a:xfrm>
            <a:off x="6240780" y="4224528"/>
            <a:ext cx="5417820" cy="1603248"/>
          </a:xfrm>
          <a:prstGeom prst="roundRect">
            <a:avLst>
              <a:gd name="adj" fmla="val 456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Panel The harness label"/>
          <p:cNvSpPr txBox="1"/>
          <p:nvPr/>
        </p:nvSpPr>
        <p:spPr>
          <a:xfrm>
            <a:off x="6423660" y="4334256"/>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HARNESS</a:t>
            </a:r>
            <a:endParaRPr lang="en-US" sz="1100" dirty="0"/>
          </a:p>
        </p:txBody>
      </p:sp>
      <p:sp>
        <p:nvSpPr>
          <p:cNvPr id="11" name="Panel The harness list"/>
          <p:cNvSpPr txBox="1"/>
          <p:nvPr/>
        </p:nvSpPr>
        <p:spPr>
          <a:xfrm>
            <a:off x="6423660" y="4636008"/>
            <a:ext cx="5097780" cy="1146048"/>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KerberosIslandSampleHarness.ps1 runs each block unmodified against stand-ins</a:t>
            </a:r>
            <a:endParaRPr lang="en-US" sz="1400" dirty="0"/>
          </a:p>
          <a:p>
            <a:pPr marL="342900" indent="-342900">
              <a:spcAft>
                <a:spcPts val="400"/>
              </a:spcAft>
              <a:buSzPct val="100000"/>
              <a:buChar char="•"/>
            </a:pPr>
            <a:r>
              <a:rPr lang="en-US" sz="1400" dirty="0">
                <a:solidFill>
                  <a:srgbClr val="334155"/>
                </a:solidFill>
              </a:rPr>
              <a:t>Stand-ins take only the parameters Learn's cmdlet references list</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Setting up dMSAs; dMSA overview; Manage gMSAs; Create a KDS root key; Secure gMSAs; windowsserverdocs at 2205ce8. Chapter 06,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45BEBBCC-38E7-9D6F-E741-F03ABD755FB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B8B5C8A-809F-47D7-A55A-E548CFF9DB0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190"/>
    </mc:Choice>
    <mc:Fallback>
      <p:transition spd="slow" advTm="371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19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procedures leave to you: the key and the steps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52088"/>
        </p:xfrm>
        <a:graphic>
          <a:graphicData uri="http://schemas.openxmlformats.org/drawingml/2006/table">
            <a:tbl>
              <a:tblPr firstRow="1" bandRow="1"/>
              <a:tblGrid>
                <a:gridCol w="37490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Learn's procedure, as published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the example adds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Creates a dMSA with AES256, a gMSA with its retrievers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Kept as the model: CreateDmsa and CreateGmsa, declared calls with only these parameters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Checks the root key with Get-KdsRootKey, which returns each key's value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check reads the secret every gMSA password derives from</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Reads msKds-UseStartTime and msKds-CreateTime only, with a delegated read (row 52)</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Offers Add-KdsRootKey backdated 10 hours, for a one-DC test domain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key used before it replicates fails password retrieval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Never creates a key; waits until one has been usable 10 hours (NPI-KRB-01)</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Sets msDS-DelegatedMSAState with -Properties, which Set-ADServiceAccount doesn't have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Fails as published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No state 3; Start- and Complete- set 1 and 2 (row 51)</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Names the account three different ways; one machine typed by hand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Invites a wrong account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Names from dispositions; retrievers from password-retrievers.json (NPI-KRB-03)</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Get-KdsRootKey; Create a KDS root key; Set-ADServiceAccount; Setting up dMSAs. Chapter 06, “What it leaves to you”; research gaps, rows 51–52.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3A5BFD8F-44CB-B318-6090-42D2B406209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EE8A8DA-0963-43C8-9575-58C3B1BECF5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250"/>
    </mc:Choice>
    <mc:Fallback>
      <p:transition spd="slow" advTm="352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24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they leave to you: limits, waits and deletes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816096"/>
        </p:xfrm>
        <a:graphic>
          <a:graphicData uri="http://schemas.openxmlformats.org/drawingml/2006/table">
            <a:tbl>
              <a:tblPr firstRow="1" bandRow="1"/>
              <a:tblGrid>
                <a:gridCol w="393192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Learn's procedure, as published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Why it matters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the example adds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No wait between start and complete; the overview says two ticket lifetimes (14 days), four (28) recommended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Completing early loses hosts the dMSA hasn't learned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CompleteDmsaMigration only 28 days after MigrationStartedOn (row 54)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71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Doesn't check the limits: no MSA or gMSA to dMSA; unconstrained delegation stops; every machine must support dMSA; one dMSA per account; a 2025 DC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Disabling the old account on a host that can't use the new one breaks the service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Each limit checked before a dMSA is planned (NPI-KRB-04)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Restarts every running service on the host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Unrelated services restart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Host steps are the server owner's, recorded, never run (row 57)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dMSA pages: never delete; the Entra gMSA page deletes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deleted account can't be reverted to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Never delete: no delete, uninstall, undo or reset call exists (rows 55, 56)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Templates with &lt;placeholders&gt;; no encryption type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Concrete parameters; AES256, as the gMSA overview advises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No SPN owner, end date, D08, D11 or G5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N3.6 and N7.3 left to you</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Island list and reconciliation (NPI-KRB-05 to -07)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Lead"/>
          <p:cNvSpPr txBox="1"/>
          <p:nvPr/>
        </p:nvSpPr>
        <p:spPr>
          <a:xfrm>
            <a:off x="548640" y="5324856"/>
            <a:ext cx="11109960" cy="306324"/>
          </a:xfrm>
          <a:prstGeom prst="rect">
            <a:avLst/>
          </a:prstGeom>
          <a:noFill/>
          <a:ln/>
        </p:spPr>
        <p:txBody>
          <a:bodyPr wrap="square" lIns="0" tIns="0" rIns="0" bIns="0" rtlCol="0" anchor="t"/>
          <a:lstStyle/>
          <a:p>
            <a:pPr marL="0" indent="0">
              <a:buNone/>
            </a:pPr>
            <a:r>
              <a:rPr lang="en-US" sz="1650" b="1" dirty="0">
                <a:solidFill>
                  <a:srgbClr val="1F2A44"/>
                </a:solidFill>
              </a:rPr>
              <a:t>Verdict: keep Learn's cmdlets and their order for every write; don't run the procedures as the program.</a:t>
            </a:r>
            <a:endParaRPr lang="en-US" sz="1650" dirty="0"/>
          </a:p>
        </p:txBody>
      </p:sp>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dMSA overview; dMSA FAQ; Setting up dMSAs; Secure gMSAs; gMSA overview. Chapter 06, “What it leaves to you”; research gaps, rows 54–57.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61219B0D-0116-2250-AC9A-CF47D8769AB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0C3D4B0-027A-46DD-9D72-528741BA00A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740"/>
    </mc:Choice>
    <mc:Fallback>
      <p:transition spd="slow" advTm="36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73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code and its four reviewed inputs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NpiKerberosIsland.psm1; Invoke-NpiKerberosIsland.ps1 (reads only) and Invoke-NpiKerberosIslandAction.ps1 (the write path); calls-ch06.json.</a:t>
            </a:r>
            <a:endParaRPr lang="en-US" sz="18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2112264"/>
          <a:ext cx="11109960" cy="2758440"/>
        </p:xfrm>
        <a:graphic>
          <a:graphicData uri="http://schemas.openxmlformats.org/drawingml/2006/table">
            <a:tbl>
              <a:tblPr firstRow="1" bandRow="1"/>
              <a:tblGrid>
                <a:gridCol w="26517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571500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File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Who keeps 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it holds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Chapter 01's run folder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pipeline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register.json and manifest.json; a register whose SHA-256 isn't the manifest's is refused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kerberos-dispositions.csv</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Application owners, through identity engineering</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Disposition; for Convert: Target, NewAccount, Workload (Service, IisAppPool, ScheduledTask), Hosts; SpnOwnerUpn; EndDate; Reference; HostChangedOn, MigrationStartedOn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password-retrievers.json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Server and AD engineering, reviewed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Per gMSA and dMSA, the DNs allowed to retrieve its password; Learn recommends a security group of the hosts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end-state.json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Identity engineering lead, from the master schedule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D11 (AdRetired, or KerberosIsland with an end of life), D08's end date, G5's date. No default: missing stops the run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Manage group Managed Service Accounts (retrievers as a security group). Chapter 06, “The code,” “The inputs.”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CE386F02-7B36-BF90-1C54-4DFDF92A99E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13BA8EE-11B9-4F58-917E-31B6592BD8B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060"/>
    </mc:Choice>
    <mc:Fallback>
      <p:transition spd="slow" advTm="35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05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check: nine rules, NPI-KRB-01 to NPI-KRB-09</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084320"/>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626364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Rule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Severity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it flags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NPI-KRB-01</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 / Warn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 KDS root key; or one usable less than 10 hours ago</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NPI-KRB-02</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Kerberos account with no disposition, or an unknown one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Plan, D-N3 (design)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NPI-KRB-03</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Retrievers in AD differ from the reviewed list, or no list, or an empty one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Design guidance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NPI-KRB-04</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An unusable target: dMSA from an MSA, with unconstrained delegation, no 2025 host or domain, one dMSA for two accounts; gMSA with no reviewed retrievers; converted again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NPI-KRB-05</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An account that stays on Kerberos with no SPN owner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Plan, N3.6</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NPI-KRB-06</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 / Warn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 end date, or one after D08's; Warn while D08 isn't set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Plan, N3.6</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NPI-KRB-07</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Not reconciled with D11: no destination; move or retirement after G5; island past G5 or past its end of life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Plan, N7.3, G5</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NPI-KRB-08</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Warn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managed service account in a privileged group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NPI-KRB-09</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Info</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SQL Server account, handed to the Data Platform plan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Chapter 01</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Create a KDS root key; dMSA overview; dMSA FAQ; Secure gMSAs. Chapter 06, “The check and the plan.”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0813C8CD-7812-9145-384D-52EEFCCDA51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436EBBB-383F-467C-BC4A-0A7A14820C1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820"/>
    </mc:Choice>
    <mc:Fallback>
      <p:transition spd="slow" advTm="40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81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plan: one action per account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672840"/>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70866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Action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When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Writes?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CreateGmsa</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Convert to a gMSA that doesn't exist, root key ready, retrievers reviewed: New-ADServiceAccount … -KerberosEncryptionType AES256</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After review</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AwaitHostChange, AwaitParallelRun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Server owner installs it, changes the identity, records HostChangedOn; 30 days follow</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DisableSuperseded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30 days after HostChangedOn, old account still enabled: Disable-ADAccount -Identity &lt;objectGUID&gt;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After review</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CreateDmsa</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Convert to a dMSA that passes every limit: -CreateDelegatedServiceAccount, AES256</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After review</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StartDmsaMigration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dMSA exists, state 0: Start-ADServiceAccountMigration -SupersededAccount &lt;DN&gt;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After review</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AwaitMigrationWindow</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In migration, under 28 days since MigrationStartedOn, or no date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CompleteDmsaMigration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State 1 and 28 days passed; disables the old account, moves its SPNs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After review</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SetRetrievers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Retrievers differ from the reviewed list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After review</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Island, Blocked, HandedOff, …</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Recorded, with the reason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Lead"/>
          <p:cNvSpPr txBox="1"/>
          <p:nvPr/>
        </p:nvSpPr>
        <p:spPr>
          <a:xfrm>
            <a:off x="548640" y="5181600"/>
            <a:ext cx="11109960" cy="573024"/>
          </a:xfrm>
          <a:prstGeom prst="rect">
            <a:avLst/>
          </a:prstGeom>
          <a:noFill/>
          <a:ln/>
        </p:spPr>
        <p:txBody>
          <a:bodyPr wrap="square" lIns="0" tIns="0" rIns="0" bIns="0" rtlCol="0" anchor="t"/>
          <a:lstStyle/>
          <a:p>
            <a:pPr marL="0" indent="0">
              <a:buNone/>
            </a:pPr>
            <a:r>
              <a:rPr lang="en-US" sz="1700" b="1" dirty="0">
                <a:solidFill>
                  <a:srgbClr val="1F2A44"/>
                </a:solidFill>
              </a:rPr>
              <a:t>kerberos-plan.json carries every input's SHA-256: same inputs, same bytes, so a reviewer approves a hash.</a:t>
            </a:r>
            <a:endParaRPr lang="en-US" sz="17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New-ADServiceAccount; Start- and Complete-ADServiceAccountMigration; Disable-ADAccount; dMSA overview. Chapter 06, “The check and the plan.”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191C98B-C69F-4215-9BA8-7EF71E23D16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0124E76-DD44-439A-B6A3-2709DA1C693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500"/>
    </mc:Choice>
    <mc:Fallback>
      <p:transition spd="slow" advTm="37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50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island list and the reconciliation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island-list.csv">
            <a:extLst>
              <a:ext uri="{C183D7F6-B498-43B3-948B-1728B52AA6E4}">
                <adec:decorative xmlns:adec="http://schemas.microsoft.com/office/drawing/2017/decorative" val="1"/>
              </a:ext>
            </a:extLst>
          </p:cNvPr>
          <p:cNvSpPr/>
          <p:nvPr/>
        </p:nvSpPr>
        <p:spPr>
          <a:xfrm>
            <a:off x="548640" y="1325880"/>
            <a:ext cx="5417820" cy="3072384"/>
          </a:xfrm>
          <a:prstGeom prst="roundRect">
            <a:avLst>
              <a:gd name="adj" fmla="val 238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island-list.csv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ISLAND-LIST.CSV</a:t>
            </a:r>
            <a:endParaRPr lang="en-US" sz="1100" dirty="0"/>
          </a:p>
        </p:txBody>
      </p:sp>
      <p:sp>
        <p:nvSpPr>
          <p:cNvPr id="7" name="Panel island-list.csv list"/>
          <p:cNvSpPr txBox="1"/>
          <p:nvPr/>
        </p:nvSpPr>
        <p:spPr>
          <a:xfrm>
            <a:off x="731520" y="1737360"/>
            <a:ext cx="5097780" cy="261518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Every account that stays on Kerberos, under the name it will have</a:t>
            </a:r>
            <a:endParaRPr lang="en-US" sz="1600" dirty="0"/>
          </a:p>
          <a:p>
            <a:pPr marL="342900" indent="-342900">
              <a:spcAft>
                <a:spcPts val="400"/>
              </a:spcAft>
              <a:buSzPct val="100000"/>
              <a:buChar char="•"/>
            </a:pPr>
            <a:r>
              <a:rPr lang="en-US" sz="1600" dirty="0">
                <a:solidFill>
                  <a:srgbClr val="334155"/>
                </a:solidFill>
              </a:rPr>
              <a:t>Its SPNs, SPN owner, end date, whether the date is within D08</a:t>
            </a:r>
            <a:endParaRPr lang="en-US" sz="1600" dirty="0"/>
          </a:p>
          <a:p>
            <a:pPr marL="342900" indent="-342900">
              <a:spcAft>
                <a:spcPts val="400"/>
              </a:spcAft>
              <a:buSzPct val="100000"/>
              <a:buChar char="•"/>
            </a:pPr>
            <a:r>
              <a:rPr lang="en-US" sz="1600" dirty="0">
                <a:solidFill>
                  <a:srgbClr val="334155"/>
                </a:solidFill>
              </a:rPr>
              <a:t>ReadyForP46: ready for the program's SPN retirement</a:t>
            </a:r>
            <a:endParaRPr lang="en-US" sz="1600" dirty="0"/>
          </a:p>
          <a:p>
            <a:pPr marL="342900" indent="-342900">
              <a:spcAft>
                <a:spcPts val="400"/>
              </a:spcAft>
              <a:buSzPct val="100000"/>
              <a:buChar char="•"/>
            </a:pPr>
            <a:r>
              <a:rPr lang="en-US" sz="1600" dirty="0">
                <a:solidFill>
                  <a:srgbClr val="334155"/>
                </a:solidFill>
              </a:rPr>
              <a:t>The manifest's islandHandoffReady is true only when D08 is set and every row is ready</a:t>
            </a:r>
            <a:endParaRPr lang="en-US" sz="1600" dirty="0"/>
          </a:p>
        </p:txBody>
      </p:sp>
      <p:sp>
        <p:nvSpPr>
          <p:cNvPr id="8" name="Panel reconciliation.json">
            <a:extLst>
              <a:ext uri="{C183D7F6-B498-43B3-948B-1728B52AA6E4}">
                <adec:decorative xmlns:adec="http://schemas.microsoft.com/office/drawing/2017/decorative" val="1"/>
              </a:ext>
            </a:extLst>
          </p:cNvPr>
          <p:cNvSpPr/>
          <p:nvPr/>
        </p:nvSpPr>
        <p:spPr>
          <a:xfrm>
            <a:off x="6240780" y="1325880"/>
            <a:ext cx="5417820" cy="3072384"/>
          </a:xfrm>
          <a:prstGeom prst="roundRect">
            <a:avLst>
              <a:gd name="adj" fmla="val 238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reconciliation.json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RECONCILIATION.JSON</a:t>
            </a:r>
            <a:endParaRPr lang="en-US" sz="1100" dirty="0"/>
          </a:p>
        </p:txBody>
      </p:sp>
      <p:sp>
        <p:nvSpPr>
          <p:cNvPr id="10" name="Panel reconciliation.json list"/>
          <p:cNvSpPr txBox="1"/>
          <p:nvPr/>
        </p:nvSpPr>
        <p:spPr>
          <a:xfrm>
            <a:off x="6423660" y="1737360"/>
            <a:ext cx="5097780" cy="261518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Every gMSA and dMSA, existing or planned, with destination and outcome</a:t>
            </a:r>
            <a:endParaRPr lang="en-US" sz="1600" dirty="0"/>
          </a:p>
          <a:p>
            <a:pPr marL="342900" indent="-342900">
              <a:spcAft>
                <a:spcPts val="400"/>
              </a:spcAft>
              <a:buSzPct val="100000"/>
              <a:buChar char="•"/>
            </a:pPr>
            <a:r>
              <a:rPr lang="en-US" sz="1600" dirty="0">
                <a:solidFill>
                  <a:srgbClr val="334155"/>
                </a:solidFill>
              </a:rPr>
              <a:t>MovesToWorkloadIdentity, Retires, OnIslandList, HandedOff or Unreconciled</a:t>
            </a:r>
            <a:endParaRPr lang="en-US" sz="1600" dirty="0"/>
          </a:p>
          <a:p>
            <a:pPr marL="342900" indent="-342900">
              <a:spcAft>
                <a:spcPts val="400"/>
              </a:spcAft>
              <a:buSzPct val="100000"/>
              <a:buChar char="•"/>
            </a:pPr>
            <a:r>
              <a:rPr lang="en-US" sz="1600" dirty="0">
                <a:solidFill>
                  <a:srgbClr val="334155"/>
                </a:solidFill>
              </a:rPr>
              <a:t>When D11 is confirmed or revised (D09, week 36), end-state.json changes in a reviewed pull request</a:t>
            </a:r>
            <a:endParaRPr lang="en-US" sz="1600" dirty="0"/>
          </a:p>
          <a:p>
            <a:pPr marL="342900" indent="-342900">
              <a:spcAft>
                <a:spcPts val="400"/>
              </a:spcAft>
              <a:buSzPct val="100000"/>
              <a:buChar char="•"/>
            </a:pPr>
            <a:r>
              <a:rPr lang="en-US" sz="1600" dirty="0">
                <a:solidFill>
                  <a:srgbClr val="334155"/>
                </a:solidFill>
              </a:rPr>
              <a:t>The run is repeated inside the 72-day margin before G5</a:t>
            </a:r>
            <a:endParaRPr lang="en-US" sz="1600" dirty="0"/>
          </a:p>
        </p:txBody>
      </p:sp>
      <p:sp>
        <p:nvSpPr>
          <p:cNvPr id="11" name="Callout">
            <a:extLst>
              <a:ext uri="{C183D7F6-B498-43B3-948B-1728B52AA6E4}">
                <adec:decorative xmlns:adec="http://schemas.microsoft.com/office/drawing/2017/decorative" val="1"/>
              </a:ext>
            </a:extLst>
          </p:cNvPr>
          <p:cNvSpPr/>
          <p:nvPr/>
        </p:nvSpPr>
        <p:spPr>
          <a:xfrm>
            <a:off x="548640" y="4581144"/>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4654296"/>
            <a:ext cx="606552" cy="60655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799868"/>
            <a:ext cx="315407" cy="315407"/>
          </a:xfrm>
          <a:prstGeom prst="rect">
            <a:avLst/>
          </a:prstGeom>
        </p:spPr>
      </p:pic>
      <p:sp>
        <p:nvSpPr>
          <p:cNvPr id="14" name="Callout text"/>
          <p:cNvSpPr txBox="1"/>
          <p:nvPr/>
        </p:nvSpPr>
        <p:spPr>
          <a:xfrm>
            <a:off x="1600200" y="4636008"/>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The hand-off: </a:t>
            </a:r>
            <a:r>
              <a:rPr lang="en-US" sz="1750" dirty="0">
                <a:solidFill>
                  <a:srgbClr val="334155"/>
                </a:solidFill>
              </a:rPr>
              <a:t>the island list is what the program's SPN retirement (P4.6) works from; an incomplete list never goes.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project plan N3.6, N7.3, P4.6, D09 and G5. Chapter 06, “The island list and the reconciliation.”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09BF6BDA-7E11-9202-C3BF-76774770645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3729963-73A1-4CC2-9C4E-9772C4A185A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910"/>
    </mc:Choice>
    <mc:Fallback>
      <p:transition spd="slow" advTm="379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91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separate write path, and its refusals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It refuses to run unless">
            <a:extLst>
              <a:ext uri="{C183D7F6-B498-43B3-948B-1728B52AA6E4}">
                <adec:decorative xmlns:adec="http://schemas.microsoft.com/office/drawing/2017/decorative" val="1"/>
              </a:ext>
            </a:extLst>
          </p:cNvPr>
          <p:cNvSpPr/>
          <p:nvPr/>
        </p:nvSpPr>
        <p:spPr>
          <a:xfrm>
            <a:off x="548640" y="1325880"/>
            <a:ext cx="5417820" cy="3749040"/>
          </a:xfrm>
          <a:prstGeom prst="roundRect">
            <a:avLst>
              <a:gd name="adj" fmla="val 1951"/>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Panel It refuses to run unles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B91C1C"/>
                </a:solidFill>
              </a:rPr>
              <a:t>IT REFUSES TO RUN UNLESS</a:t>
            </a:r>
            <a:endParaRPr lang="en-US" sz="1100" dirty="0"/>
          </a:p>
        </p:txBody>
      </p:sp>
      <p:sp>
        <p:nvSpPr>
          <p:cNvPr id="7" name="Panel It refuses to run unless list"/>
          <p:cNvSpPr txBox="1"/>
          <p:nvPr/>
        </p:nvSpPr>
        <p:spPr>
          <a:xfrm>
            <a:off x="731520" y="1737360"/>
            <a:ext cx="5097780" cy="32918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The plan's SHA-256 is the one passed as -ApprovedSha256</a:t>
            </a:r>
            <a:endParaRPr lang="en-US" sz="1500" dirty="0"/>
          </a:p>
          <a:p>
            <a:pPr marL="342900" indent="-342900">
              <a:spcAft>
                <a:spcPts val="400"/>
              </a:spcAft>
              <a:buSzPct val="100000"/>
              <a:buChar char="•"/>
            </a:pPr>
            <a:r>
              <a:rPr lang="en-US" sz="1500" dirty="0">
                <a:solidFill>
                  <a:srgbClr val="334155"/>
                </a:solidFill>
              </a:rPr>
              <a:t>This tenant and this domain; no more than seven days old (design guidance)</a:t>
            </a:r>
            <a:endParaRPr lang="en-US" sz="1500" dirty="0"/>
          </a:p>
          <a:p>
            <a:pPr marL="342900" indent="-342900">
              <a:spcAft>
                <a:spcPts val="400"/>
              </a:spcAft>
              <a:buSzPct val="100000"/>
              <a:buChar char="•"/>
            </a:pPr>
            <a:r>
              <a:rPr lang="en-US" sz="1500" dirty="0">
                <a:solidFill>
                  <a:srgbClr val="334155"/>
                </a:solidFill>
              </a:rPr>
              <a:t>Each write a declared kerberos-apply call with only its allowedParams</a:t>
            </a:r>
            <a:endParaRPr lang="en-US" sz="1500" dirty="0"/>
          </a:p>
          <a:p>
            <a:pPr marL="342900" indent="-342900">
              <a:spcAft>
                <a:spcPts val="400"/>
              </a:spcAft>
              <a:buSzPct val="100000"/>
              <a:buChar char="•"/>
            </a:pPr>
            <a:r>
              <a:rPr lang="en-US" sz="1500" dirty="0">
                <a:solidFill>
                  <a:srgbClr val="334155"/>
                </a:solidFill>
              </a:rPr>
              <a:t>New accounts AES256; retriever lists never empty; superseded account a DN</a:t>
            </a:r>
            <a:endParaRPr lang="en-US" sz="1500" dirty="0"/>
          </a:p>
          <a:p>
            <a:pPr marL="342900" indent="-342900">
              <a:spcAft>
                <a:spcPts val="400"/>
              </a:spcAft>
              <a:buSzPct val="100000"/>
              <a:buChar char="•"/>
            </a:pPr>
            <a:r>
              <a:rPr lang="en-US" sz="1500" dirty="0">
                <a:solidFill>
                  <a:srgbClr val="334155"/>
                </a:solidFill>
              </a:rPr>
              <a:t>No cmdlet that removes, uninstalls, undoes or resets is ever run</a:t>
            </a:r>
            <a:endParaRPr lang="en-US" sz="1500" dirty="0"/>
          </a:p>
          <a:p>
            <a:pPr marL="342900" indent="-342900">
              <a:spcAft>
                <a:spcPts val="400"/>
              </a:spcAft>
              <a:buSzPct val="100000"/>
              <a:buChar char="•"/>
            </a:pPr>
            <a:r>
              <a:rPr lang="en-US" sz="1500" dirty="0">
                <a:solidFill>
                  <a:srgbClr val="334155"/>
                </a:solidFill>
              </a:rPr>
              <a:t>A person's session against a read-write DC, never a computer or service identity</a:t>
            </a:r>
            <a:endParaRPr lang="en-US" sz="1500" dirty="0"/>
          </a:p>
        </p:txBody>
      </p:sp>
      <p:sp>
        <p:nvSpPr>
          <p:cNvPr id="8" name="Panel Prechecks">
            <a:extLst>
              <a:ext uri="{C183D7F6-B498-43B3-948B-1728B52AA6E4}">
                <adec:decorative xmlns:adec="http://schemas.microsoft.com/office/drawing/2017/decorative" val="1"/>
              </a:ext>
            </a:extLst>
          </p:cNvPr>
          <p:cNvSpPr/>
          <p:nvPr/>
        </p:nvSpPr>
        <p:spPr>
          <a:xfrm>
            <a:off x="6240780" y="1325880"/>
            <a:ext cx="5417820" cy="3749040"/>
          </a:xfrm>
          <a:prstGeom prst="roundRect">
            <a:avLst>
              <a:gd name="adj" fmla="val 195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Prechecks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PRECHECKS</a:t>
            </a:r>
            <a:endParaRPr lang="en-US" sz="1100" dirty="0"/>
          </a:p>
        </p:txBody>
      </p:sp>
      <p:sp>
        <p:nvSpPr>
          <p:cNvPr id="10" name="Panel Prechecks list"/>
          <p:cNvSpPr txBox="1"/>
          <p:nvPr/>
        </p:nvSpPr>
        <p:spPr>
          <a:xfrm>
            <a:off x="6423660" y="1737360"/>
            <a:ext cx="5097780" cy="32918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Re-reads the target before each write</a:t>
            </a:r>
            <a:endParaRPr lang="en-US" sz="1500" dirty="0"/>
          </a:p>
          <a:p>
            <a:pPr marL="342900" indent="-342900">
              <a:spcAft>
                <a:spcPts val="400"/>
              </a:spcAft>
              <a:buSzPct val="100000"/>
              <a:buChar char="•"/>
            </a:pPr>
            <a:r>
              <a:rPr lang="en-US" sz="1500" dirty="0">
                <a:solidFill>
                  <a:srgbClr val="334155"/>
                </a:solidFill>
              </a:rPr>
              <a:t>Skips the write if the root key isn't ready, the account exists, the retrievers changed, the migration state moved, or the old account is already disabled</a:t>
            </a:r>
            <a:endParaRPr lang="en-US" sz="1500" dirty="0"/>
          </a:p>
          <a:p>
            <a:pPr marL="342900" indent="-342900">
              <a:spcAft>
                <a:spcPts val="400"/>
              </a:spcAft>
              <a:buSzPct val="100000"/>
              <a:buChar char="•"/>
            </a:pPr>
            <a:r>
              <a:rPr lang="en-US" sz="1500" dirty="0">
                <a:solidFill>
                  <a:srgbClr val="334155"/>
                </a:solidFill>
              </a:rPr>
              <a:t>Without -Apply: stops after the prechecks and reports WouldSend</a:t>
            </a:r>
            <a:endParaRPr lang="en-US" sz="1500" dirty="0"/>
          </a:p>
        </p:txBody>
      </p:sp>
      <p:sp>
        <p:nvSpPr>
          <p:cNvPr id="11" name="Lead"/>
          <p:cNvSpPr txBox="1"/>
          <p:nvPr/>
        </p:nvSpPr>
        <p:spPr>
          <a:xfrm>
            <a:off x="548640" y="5257800"/>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Only New-NpiKrbWriter can write, and only the kerberos-apply task's calls.</a:t>
            </a:r>
            <a:endParaRPr lang="en-US" sz="18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New-ADServiceAccount; Start-ADServiceAccountMigration (read-write DC). Chapter 06, “The separate write path.”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B379D362-079F-7647-20E1-7E0647ED92B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20E0266-ECDA-4AEF-9DC4-196A1B5AF99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970"/>
    </mc:Choice>
    <mc:Fallback>
      <p:transition spd="slow" advTm="359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968"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builds, runs and reviews it, and with what rights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2606040" cy="1615440"/>
          </a:xfrm>
          <a:prstGeom prst="roundRect">
            <a:avLst>
              <a:gd name="adj" fmla="val 4528"/>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61544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2240280" cy="138684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marL="0" indent="0">
              <a:spcAft>
                <a:spcPts val="300"/>
              </a:spcAft>
              <a:buNone/>
            </a:pPr>
            <a:r>
              <a:rPr lang="en-US" sz="1500" dirty="0">
                <a:solidFill>
                  <a:srgbClr val="334155"/>
                </a:solidFill>
              </a:rPr>
              <a:t>Build the project's AD code; read PowerShell 7 and know Chapter 01's register</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3383280" y="1325880"/>
            <a:ext cx="2606040" cy="1615440"/>
          </a:xfrm>
          <a:prstGeom prst="roundRect">
            <a:avLst>
              <a:gd name="adj" fmla="val 4528"/>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3383280" y="1325880"/>
            <a:ext cx="82296" cy="1615440"/>
          </a:xfrm>
          <a:prstGeom prst="rect">
            <a:avLst/>
          </a:prstGeom>
          <a:solidFill>
            <a:srgbClr val="0F766E"/>
          </a:solidFill>
          <a:ln w="12700">
            <a:solidFill>
              <a:srgbClr val="0F766E"/>
            </a:solidFill>
            <a:prstDash val="solid"/>
          </a:ln>
        </p:spPr>
      </p:sp>
      <p:sp>
        <p:nvSpPr>
          <p:cNvPr id="10" name="Card 2 text"/>
          <p:cNvSpPr txBox="1"/>
          <p:nvPr/>
        </p:nvSpPr>
        <p:spPr>
          <a:xfrm>
            <a:off x="3611880" y="1463040"/>
            <a:ext cx="2240280" cy="138684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Server and AD engineers</a:t>
            </a:r>
            <a:endParaRPr lang="en-US" sz="1400" dirty="0"/>
          </a:p>
          <a:p>
            <a:pPr marL="0" indent="0">
              <a:spcAft>
                <a:spcPts val="300"/>
              </a:spcAft>
              <a:buNone/>
            </a:pPr>
            <a:r>
              <a:rPr lang="en-US" sz="1500" dirty="0">
                <a:solidFill>
                  <a:srgbClr val="334155"/>
                </a:solidFill>
              </a:rPr>
              <a:t>Run the write path and change the hosts</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6217920" y="1325880"/>
            <a:ext cx="2606040" cy="1615440"/>
          </a:xfrm>
          <a:prstGeom prst="roundRect">
            <a:avLst>
              <a:gd name="adj" fmla="val 4528"/>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6217920" y="1325880"/>
            <a:ext cx="82296" cy="1615440"/>
          </a:xfrm>
          <a:prstGeom prst="rect">
            <a:avLst/>
          </a:prstGeom>
          <a:solidFill>
            <a:srgbClr val="B45309"/>
          </a:solidFill>
          <a:ln w="12700">
            <a:solidFill>
              <a:srgbClr val="B45309"/>
            </a:solidFill>
            <a:prstDash val="solid"/>
          </a:ln>
        </p:spPr>
      </p:sp>
      <p:sp>
        <p:nvSpPr>
          <p:cNvPr id="13" name="Card 3 text"/>
          <p:cNvSpPr txBox="1"/>
          <p:nvPr/>
        </p:nvSpPr>
        <p:spPr>
          <a:xfrm>
            <a:off x="6446520" y="1463040"/>
            <a:ext cx="2240280" cy="138684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Application owners</a:t>
            </a:r>
            <a:endParaRPr lang="en-US" sz="1400" dirty="0"/>
          </a:p>
          <a:p>
            <a:pPr marL="0" indent="0">
              <a:spcAft>
                <a:spcPts val="300"/>
              </a:spcAft>
              <a:buNone/>
            </a:pPr>
            <a:r>
              <a:rPr lang="en-US" sz="1500" dirty="0">
                <a:solidFill>
                  <a:srgbClr val="334155"/>
                </a:solidFill>
              </a:rPr>
              <a:t>Name an SPN owner and an end date</a:t>
            </a:r>
            <a:endParaRPr lang="en-US" sz="1400" dirty="0"/>
          </a:p>
        </p:txBody>
      </p:sp>
      <p:sp>
        <p:nvSpPr>
          <p:cNvPr id="14" name="Card 4">
            <a:extLst>
              <a:ext uri="{C183D7F6-B498-43B3-948B-1728B52AA6E4}">
                <adec:decorative xmlns:adec="http://schemas.microsoft.com/office/drawing/2017/decorative" val="1"/>
              </a:ext>
            </a:extLst>
          </p:cNvPr>
          <p:cNvSpPr/>
          <p:nvPr/>
        </p:nvSpPr>
        <p:spPr>
          <a:xfrm>
            <a:off x="9052560" y="1325880"/>
            <a:ext cx="2606040" cy="1615440"/>
          </a:xfrm>
          <a:prstGeom prst="roundRect">
            <a:avLst>
              <a:gd name="adj" fmla="val 4528"/>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5" name="Card 4 bar">
            <a:extLst>
              <a:ext uri="{C183D7F6-B498-43B3-948B-1728B52AA6E4}">
                <adec:decorative xmlns:adec="http://schemas.microsoft.com/office/drawing/2017/decorative" val="1"/>
              </a:ext>
            </a:extLst>
          </p:cNvPr>
          <p:cNvSpPr/>
          <p:nvPr/>
        </p:nvSpPr>
        <p:spPr>
          <a:xfrm>
            <a:off x="9052560" y="1325880"/>
            <a:ext cx="82296" cy="1615440"/>
          </a:xfrm>
          <a:prstGeom prst="rect">
            <a:avLst/>
          </a:prstGeom>
          <a:solidFill>
            <a:srgbClr val="B91C1C"/>
          </a:solidFill>
          <a:ln w="12700">
            <a:solidFill>
              <a:srgbClr val="B91C1C"/>
            </a:solidFill>
            <a:prstDash val="solid"/>
          </a:ln>
        </p:spPr>
      </p:sp>
      <p:sp>
        <p:nvSpPr>
          <p:cNvPr id="16" name="Card 4 text"/>
          <p:cNvSpPr txBox="1"/>
          <p:nvPr/>
        </p:nvSpPr>
        <p:spPr>
          <a:xfrm>
            <a:off x="9281160" y="1463040"/>
            <a:ext cx="2240280" cy="1386840"/>
          </a:xfrm>
          <a:prstGeom prst="rect">
            <a:avLst/>
          </a:prstGeom>
          <a:noFill/>
          <a:ln/>
        </p:spPr>
        <p:txBody>
          <a:bodyPr wrap="square" lIns="0" tIns="0" rIns="0" bIns="0" rtlCol="0" anchor="t"/>
          <a:lstStyle/>
          <a:p>
            <a:pPr marL="0" indent="0">
              <a:spcAft>
                <a:spcPts val="300"/>
              </a:spcAft>
              <a:buNone/>
            </a:pPr>
            <a:r>
              <a:rPr lang="en-US" sz="1600" b="1" dirty="0">
                <a:solidFill>
                  <a:srgbClr val="B91C1C"/>
                </a:solidFill>
                <a:latin typeface="Cambria" pitchFamily="34" charset="0"/>
                <a:ea typeface="Cambria" pitchFamily="34" charset="-122"/>
                <a:cs typeface="Cambria" pitchFamily="34" charset="-120"/>
              </a:rPr>
              <a:t>The ISSO</a:t>
            </a:r>
            <a:endParaRPr lang="en-US" sz="1400" dirty="0"/>
          </a:p>
          <a:p>
            <a:pPr marL="0" indent="0">
              <a:spcAft>
                <a:spcPts val="300"/>
              </a:spcAft>
              <a:buNone/>
            </a:pPr>
            <a:r>
              <a:rPr lang="en-US" sz="1500" dirty="0">
                <a:solidFill>
                  <a:srgbClr val="334155"/>
                </a:solidFill>
              </a:rPr>
              <a:t>Reviews the island list</a:t>
            </a:r>
            <a:endParaRPr lang="en-US" sz="14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3124200"/>
          <a:ext cx="11109960" cy="1975104"/>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98348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Task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Cmdlets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Active Directory right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93268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kerberos-island (read)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Get-ADObject (root keys), Get-ADServiceAccount, Get-ADUser, Get-ADDomainController, Get-ADComputer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An authenticated user's default read, plus a delegated read of msKds-UseStartTime and -CreateTime; the class grants only Enterprise Admins, Domain Admins and SYSTEM (rows 52, 53)</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kerberos-apply (write, a person)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reads; New- and Set-ADServiceAccount; Start- and Complete-ADServiceAccountMigration; Disable-ADAccount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Domain or Enterprise Admins, or equivalent, for a dMSA; Domain Admins or a delegated right for a gMSA; write msDS-GroupMSAMembership; disable in the OU</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ms-Kds-Prov-RootKey class; Setting up dMSAs; Manage gMSAs. Chapter 06, “Goal and audience,” “The separate write path.”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5BE95680-418A-2EB9-9457-0C414CF9C74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AB1399C-59BB-4DF6-8954-B7C908B52D3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450"/>
    </mc:Choice>
    <mc:Fallback>
      <p:transition spd="slow" advTm="394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448"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Learn's procedures, then the check</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953512"/>
          </a:xfrm>
          <a:prstGeom prst="roundRect">
            <a:avLst>
              <a:gd name="adj" fmla="val 2477"/>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POWERSHELL 7.1+ WITH PESTER 5, IN examples/non-person-identity, WITH CHAPTER 01'S out/inventory</a:t>
            </a:r>
            <a:endParaRPr lang="en-US" sz="1050" dirty="0"/>
          </a:p>
        </p:txBody>
      </p:sp>
      <p:sp>
        <p:nvSpPr>
          <p:cNvPr id="7" name="Code"/>
          <p:cNvSpPr txBox="1"/>
          <p:nvPr/>
        </p:nvSpPr>
        <p:spPr>
          <a:xfrm>
            <a:off x="713232" y="1664208"/>
            <a:ext cx="10835640" cy="2569464"/>
          </a:xfrm>
          <a:prstGeom prst="rect">
            <a:avLst/>
          </a:prstGeom>
          <a:noFill/>
          <a:ln/>
        </p:spPr>
        <p:txBody>
          <a:bodyPr wrap="square" lIns="0" tIns="0" rIns="0" bIns="0" rtlCol="0" anchor="t"/>
          <a:lstStyle/>
          <a:p>
            <a:pPr marL="0" indent="0">
              <a:buNone/>
            </a:pPr>
            <a:r>
              <a:rPr lang="en-US" sz="1350" dirty="0">
                <a:solidFill>
                  <a:srgbClr val="0F766E"/>
                </a:solidFill>
                <a:latin typeface="Consolas" pitchFamily="34" charset="0"/>
                <a:ea typeface="Consolas" pitchFamily="34" charset="-122"/>
                <a:cs typeface="Consolas" pitchFamily="34" charset="-120"/>
              </a:rPr>
              <a:t># 1  Learn's procedures against stand-ins: PassedCount 17, FailedCount 0, NotRunCount 0</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Invoke-Pester -Path tests/KerberosIslandSamples.Tests.ps1 -Output None -PassThru</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2  What each task runs</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Import-Module ./powershell/NpiKerberosIsland/NpiKerberosIsland.psm1</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Get-NpiKrbRequiredRight -Task kerberos-island   # five Get- cmdlets</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3  Check the Kerberos accounts and build the plan</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./Invoke-NpiKerberosIsland.ps1 -Cloud gcc -RegisterRun out/inventory -FixturePath … -OutputPath out/kerberos</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Kerberos accounts: 9 in scope; KDS root key Ready</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Findings: 6 Finding, 1 Warn, 2 Info</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Plan: 9 actions, 4 of them writes (1 CompleteDmsaMigration, 2 CreateGmsa, 1 SetRetrievers)</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Island list: 5 accounts, 3 ready for P4.6; hand-off ready: False</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Reconciliation (D11 KerberosIsland): 1 HandedOff, 1 MovesToWorkloadIdentity, 3 OnIslandList, 1 Unreconciled</a:t>
            </a:r>
            <a:endParaRPr lang="en-US" sz="1350" dirty="0"/>
          </a:p>
        </p:txBody>
      </p:sp>
      <p:sp>
        <p:nvSpPr>
          <p:cNvPr id="8" name="Callout">
            <a:extLst>
              <a:ext uri="{C183D7F6-B498-43B3-948B-1728B52AA6E4}">
                <adec:decorative xmlns:adec="http://schemas.microsoft.com/office/drawing/2017/decorative" val="1"/>
              </a:ext>
            </a:extLst>
          </p:cNvPr>
          <p:cNvSpPr/>
          <p:nvPr/>
        </p:nvSpPr>
        <p:spPr>
          <a:xfrm>
            <a:off x="548640" y="4462272"/>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Icon FaListCheck">
            <a:extLst>
              <a:ext uri="{C183D7F6-B498-43B3-948B-1728B52AA6E4}">
                <adec:decorative xmlns:adec="http://schemas.microsoft.com/office/drawing/2017/decorative" val="1"/>
              </a:ext>
            </a:extLst>
          </p:cNvPr>
          <p:cNvSpPr/>
          <p:nvPr/>
        </p:nvSpPr>
        <p:spPr>
          <a:xfrm>
            <a:off x="749808" y="4535424"/>
            <a:ext cx="606552" cy="606552"/>
          </a:xfrm>
          <a:prstGeom prst="ellipse">
            <a:avLst/>
          </a:prstGeom>
          <a:solidFill>
            <a:srgbClr val="0F766E"/>
          </a:solidFill>
          <a:ln w="12700">
            <a:solidFill>
              <a:srgbClr val="0F766E"/>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680996"/>
            <a:ext cx="315407" cy="315407"/>
          </a:xfrm>
          <a:prstGeom prst="rect">
            <a:avLst/>
          </a:prstGeom>
        </p:spPr>
      </p:pic>
      <p:sp>
        <p:nvSpPr>
          <p:cNvPr id="11" name="Callout text"/>
          <p:cNvSpPr txBox="1"/>
          <p:nvPr/>
        </p:nvSpPr>
        <p:spPr>
          <a:xfrm>
            <a:off x="1600200" y="4517136"/>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Read in step 1: </a:t>
            </a:r>
            <a:r>
              <a:rPr lang="en-US" sz="1750" dirty="0">
                <a:solidFill>
                  <a:srgbClr val="334155"/>
                </a:solidFill>
              </a:rPr>
              <a:t>Learn's state-3 block fails with "A parameter cannot be found that matches parameter name 'Properties'." The plan's hash is the same on every run.</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(tests and fixtures, fictional). Chapter 06,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09D150D0-C09B-14D6-47F9-7A34033936E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9784716-C314-4FBC-A61F-25E54C77289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460"/>
    </mc:Choice>
    <mc:Fallback>
      <p:transition spd="slow" advTm="34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456"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reading the findings and the plan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4334256" cy="3011424"/>
        </p:xfrm>
        <a:graphic>
          <a:graphicData uri="http://schemas.openxmlformats.org/drawingml/2006/table">
            <a:tbl>
              <a:tblPr firstRow="1" bandRow="1"/>
              <a:tblGrid>
                <a:gridCol w="1383273">
                  <a:extLst>
                    <a:ext uri="{9D8B030D-6E8A-4147-A177-3AD203B41FA5}">
                      <a16:colId xmlns:a16="http://schemas.microsoft.com/office/drawing/2014/main" val="20000"/>
                    </a:ext>
                  </a:extLst>
                </a:gridCol>
                <a:gridCol w="1106619">
                  <a:extLst>
                    <a:ext uri="{9D8B030D-6E8A-4147-A177-3AD203B41FA5}">
                      <a16:colId xmlns:a16="http://schemas.microsoft.com/office/drawing/2014/main" val="20001"/>
                    </a:ext>
                  </a:extLst>
                </a:gridCol>
                <a:gridCol w="1844364">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Rule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Severity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Object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NPI-KRB-03</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gmsa-web$</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NPI-KRB-04</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svc-webfront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NPI-KRB-05</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svc-intranet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NPI-KRB-06</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gmsa-web$, svc-intranet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NPI-KRB-07</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gmsa-intranet$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NPI-KRB-08</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Warn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gmsa-ops$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NPI-KRB-09</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Info</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gmsa-sql$, svc-sqlprod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Panel Why">
            <a:extLst>
              <a:ext uri="{C183D7F6-B498-43B3-948B-1728B52AA6E4}">
                <adec:decorative xmlns:adec="http://schemas.microsoft.com/office/drawing/2017/decorative" val="1"/>
              </a:ext>
            </a:extLst>
          </p:cNvPr>
          <p:cNvSpPr/>
          <p:nvPr/>
        </p:nvSpPr>
        <p:spPr>
          <a:xfrm>
            <a:off x="5157216" y="1325880"/>
            <a:ext cx="6501384" cy="3011424"/>
          </a:xfrm>
          <a:prstGeom prst="roundRect">
            <a:avLst>
              <a:gd name="adj" fmla="val 242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Why label"/>
          <p:cNvSpPr txBox="1"/>
          <p:nvPr/>
        </p:nvSpPr>
        <p:spPr>
          <a:xfrm>
            <a:off x="5340096" y="1435608"/>
            <a:ext cx="6135624" cy="274320"/>
          </a:xfrm>
          <a:prstGeom prst="rect">
            <a:avLst/>
          </a:prstGeom>
          <a:noFill/>
          <a:ln/>
        </p:spPr>
        <p:txBody>
          <a:bodyPr wrap="square" lIns="0" tIns="0" rIns="0" bIns="0" rtlCol="0" anchor="t"/>
          <a:lstStyle/>
          <a:p>
            <a:pPr marL="0" indent="0">
              <a:buNone/>
            </a:pPr>
            <a:r>
              <a:rPr lang="en-US" sz="1100" b="1" kern="0" spc="50" dirty="0">
                <a:solidFill>
                  <a:srgbClr val="64748B"/>
                </a:solidFill>
              </a:rPr>
              <a:t>WHY</a:t>
            </a:r>
            <a:endParaRPr lang="en-US" sz="1100" dirty="0"/>
          </a:p>
        </p:txBody>
      </p:sp>
      <p:sp>
        <p:nvSpPr>
          <p:cNvPr id="8" name="Panel Why list"/>
          <p:cNvSpPr txBox="1"/>
          <p:nvPr/>
        </p:nvSpPr>
        <p:spPr>
          <a:xfrm>
            <a:off x="5340096" y="1737360"/>
            <a:ext cx="6181344" cy="255422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svc-webfront: unconstrained delegation, so its dMSA is Blocked</a:t>
            </a:r>
            <a:endParaRPr lang="en-US" sz="1450" dirty="0"/>
          </a:p>
          <a:p>
            <a:pPr marL="342900" indent="-342900">
              <a:spcAft>
                <a:spcPts val="400"/>
              </a:spcAft>
              <a:buSzPct val="100000"/>
              <a:buChar char="•"/>
            </a:pPr>
            <a:r>
              <a:rPr lang="en-US" sz="1450" dirty="0">
                <a:solidFill>
                  <a:srgbClr val="334155"/>
                </a:solidFill>
              </a:rPr>
              <a:t>gmsa-web$: reviewed retrievers add WEB03 (SetRetrievers); end date Sept 30, 2027 is after D08's June 30, 2027</a:t>
            </a:r>
            <a:endParaRPr lang="en-US" sz="1450" dirty="0"/>
          </a:p>
          <a:p>
            <a:pPr marL="342900" indent="-342900">
              <a:spcAft>
                <a:spcPts val="400"/>
              </a:spcAft>
              <a:buSzPct val="100000"/>
              <a:buChar char="•"/>
            </a:pPr>
            <a:r>
              <a:rPr lang="en-US" sz="1450" dirty="0">
                <a:solidFill>
                  <a:srgbClr val="334155"/>
                </a:solidFill>
              </a:rPr>
              <a:t>svc-intranet: no SPN owner; end date 2028, past D08 and the island's end of life, so its planned gMSA is unreconciled</a:t>
            </a:r>
            <a:endParaRPr lang="en-US" sz="1450" dirty="0"/>
          </a:p>
          <a:p>
            <a:pPr marL="342900" indent="-342900">
              <a:spcAft>
                <a:spcPts val="400"/>
              </a:spcAft>
              <a:buSzPct val="100000"/>
              <a:buChar char="•"/>
            </a:pPr>
            <a:r>
              <a:rPr lang="en-US" sz="1450" dirty="0">
                <a:solidFill>
                  <a:srgbClr val="334155"/>
                </a:solidFill>
              </a:rPr>
              <a:t>gmsa-ops$: in Domain Admins; moves to a workload identity</a:t>
            </a:r>
            <a:endParaRPr lang="en-US" sz="1450" dirty="0"/>
          </a:p>
          <a:p>
            <a:pPr marL="342900" indent="-342900">
              <a:spcAft>
                <a:spcPts val="400"/>
              </a:spcAft>
              <a:buSzPct val="100000"/>
              <a:buChar char="•"/>
            </a:pPr>
            <a:r>
              <a:rPr lang="en-US" sz="1450" dirty="0">
                <a:solidFill>
                  <a:srgbClr val="334155"/>
                </a:solidFill>
              </a:rPr>
              <a:t>svc-hrsync: migration to dmsa-hrsync$ started Sept 20, 40 days ago: CompleteDmsaMigration</a:t>
            </a:r>
            <a:endParaRPr lang="en-US" sz="1450" dirty="0"/>
          </a:p>
          <a:p>
            <a:pPr marL="342900" indent="-342900">
              <a:spcAft>
                <a:spcPts val="400"/>
              </a:spcAft>
              <a:buSzPct val="100000"/>
              <a:buChar char="•"/>
            </a:pPr>
            <a:r>
              <a:rPr lang="en-US" sz="1450" dirty="0">
                <a:solidFill>
                  <a:srgbClr val="334155"/>
                </a:solidFill>
              </a:rPr>
              <a:t>msa-print01$: a new gMSA for its scheduled task (CreateGmsa)</a:t>
            </a:r>
            <a:endParaRPr lang="en-US" sz="145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fixtures (fictional estate and AD). Chapter 06, “Lab 1: fixtures, no tenant,” steps 4–5.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F1ECF2D5-3B00-7409-3FB8-F004ECD6E82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867192F-3A64-449C-8C81-AD635414A67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530"/>
    </mc:Choice>
    <mc:Fallback>
      <p:transition spd="slow" advTm="375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52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the island list, a dry run and a refusal</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304288"/>
        </p:xfrm>
        <a:graphic>
          <a:graphicData uri="http://schemas.openxmlformats.org/drawingml/2006/table">
            <a:tbl>
              <a:tblPr firstRow="1" bandRow="1"/>
              <a:tblGrid>
                <a:gridCol w="1971122">
                  <a:extLst>
                    <a:ext uri="{9D8B030D-6E8A-4147-A177-3AD203B41FA5}">
                      <a16:colId xmlns:a16="http://schemas.microsoft.com/office/drawing/2014/main" val="20000"/>
                    </a:ext>
                  </a:extLst>
                </a:gridCol>
                <a:gridCol w="1343947">
                  <a:extLst>
                    <a:ext uri="{9D8B030D-6E8A-4147-A177-3AD203B41FA5}">
                      <a16:colId xmlns:a16="http://schemas.microsoft.com/office/drawing/2014/main" val="20001"/>
                    </a:ext>
                  </a:extLst>
                </a:gridCol>
                <a:gridCol w="3046279">
                  <a:extLst>
                    <a:ext uri="{9D8B030D-6E8A-4147-A177-3AD203B41FA5}">
                      <a16:colId xmlns:a16="http://schemas.microsoft.com/office/drawing/2014/main" val="20002"/>
                    </a:ext>
                  </a:extLst>
                </a:gridCol>
                <a:gridCol w="1433543">
                  <a:extLst>
                    <a:ext uri="{9D8B030D-6E8A-4147-A177-3AD203B41FA5}">
                      <a16:colId xmlns:a16="http://schemas.microsoft.com/office/drawing/2014/main" val="20003"/>
                    </a:ext>
                  </a:extLst>
                </a:gridCol>
                <a:gridCol w="1433543">
                  <a:extLst>
                    <a:ext uri="{9D8B030D-6E8A-4147-A177-3AD203B41FA5}">
                      <a16:colId xmlns:a16="http://schemas.microsoft.com/office/drawing/2014/main" val="20004"/>
                    </a:ext>
                  </a:extLst>
                </a:gridCol>
                <a:gridCol w="1881525">
                  <a:extLst>
                    <a:ext uri="{9D8B030D-6E8A-4147-A177-3AD203B41FA5}">
                      <a16:colId xmlns:a16="http://schemas.microsoft.com/office/drawing/2014/main" val="20005"/>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Account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Type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SPN owner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End date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Ready for P4.6</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Outcome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dmsa-hrsync$</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dMSA</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hr-apps.owner@contoso.example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2027-06-30</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True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OnIslandList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gmsa-intranet$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gMSA (planned)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2028-12-31</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False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Unreconciled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gmsa-print$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gMSA (planned)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print.owner@contoso.example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2027-06-30</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True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OnIslandList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gmsa-web$</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gMSA</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web.owner@contoso.example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2027-09-30</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False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OnIslandList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svc-webfront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Traditional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web.owner@contoso.example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2027-06-30</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True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ode panel">
            <a:extLst>
              <a:ext uri="{C183D7F6-B498-43B3-948B-1728B52AA6E4}">
                <adec:decorative xmlns:adec="http://schemas.microsoft.com/office/drawing/2017/decorative" val="1"/>
              </a:ext>
            </a:extLst>
          </p:cNvPr>
          <p:cNvSpPr/>
          <p:nvPr/>
        </p:nvSpPr>
        <p:spPr>
          <a:xfrm>
            <a:off x="548640" y="3813048"/>
            <a:ext cx="11109960" cy="1266444"/>
          </a:xfrm>
          <a:prstGeom prst="roundRect">
            <a:avLst>
              <a:gd name="adj" fmla="val 5776"/>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7" name="Code"/>
          <p:cNvSpPr txBox="1"/>
          <p:nvPr/>
        </p:nvSpPr>
        <p:spPr>
          <a:xfrm>
            <a:off x="713232" y="3904488"/>
            <a:ext cx="10835640" cy="1129284"/>
          </a:xfrm>
          <a:prstGeom prst="rect">
            <a:avLst/>
          </a:prstGeom>
          <a:noFill/>
          <a:ln/>
        </p:spPr>
        <p:txBody>
          <a:bodyPr wrap="square" lIns="0" tIns="0" rIns="0" bIns="0" rtlCol="0" anchor="t"/>
          <a:lstStyle/>
          <a:p>
            <a:pPr marL="0" indent="0">
              <a:buNone/>
            </a:pPr>
            <a:r>
              <a:rPr lang="en-US" sz="1350" dirty="0">
                <a:solidFill>
                  <a:srgbClr val="0F766E"/>
                </a:solidFill>
                <a:latin typeface="Consolas" pitchFamily="34" charset="0"/>
                <a:ea typeface="Consolas" pitchFamily="34" charset="-122"/>
                <a:cs typeface="Consolas" pitchFamily="34" charset="-120"/>
              </a:rPr>
              <a:t># 7  Dry run with the approved hash</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./Invoke-NpiKerberosIslandAction.ps1 -PlanPath out/kerberos/kerberos-plan.json -ApprovedSha256 $sha …</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DryRun: 4 WouldSend</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8  -Apply to the fake: Apply: 4 Sent; then a hash nobody approved:</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The plan's SHA-256 is 5e1f7c33…, not the approved 0000…; refusing to run a plan nobody reviewed.</a:t>
            </a:r>
            <a:endParaRPr lang="en-US" sz="1350" dirty="0"/>
          </a:p>
        </p:txBody>
      </p:sp>
      <p:sp>
        <p:nvSpPr>
          <p:cNvPr id="8" name="Lead"/>
          <p:cNvSpPr txBox="1"/>
          <p:nvPr/>
        </p:nvSpPr>
        <p:spPr>
          <a:xfrm>
            <a:off x="548640" y="5262372"/>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Step 9, Invoke-Pester -Path tests: 513 tests passing. Delete out when you're done.</a:t>
            </a:r>
            <a:endParaRPr lang="en-US" sz="18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fixtures (fictional). Chapter 06, “Lab 1: fixtures, no tenant,” steps 6–9 and expected result.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EEF71B9-96AC-EB2C-F98D-4761AAFB876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49AAFB7-404C-4E0D-9DA9-4340BF09A2E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180"/>
    </mc:Choice>
    <mc:Fallback>
      <p:transition spd="slow" advTm="36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18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a test domain, a real migration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Two test accounts: </a:t>
            </a:r>
            <a:r>
              <a:rPr lang="en-US" sz="1450" dirty="0">
                <a:solidFill>
                  <a:srgbClr val="334155"/>
                </a:solidFill>
              </a:rPr>
              <a:t>A traditional svc- account with an SPN on the 2025 member server (Convert to dMSA) and a test MSA (Convert to gMSA), each with an SPN owner and an end date before your test D08</a:t>
            </a:r>
            <a:endParaRPr lang="en-US" sz="1450" dirty="0"/>
          </a:p>
        </p:txBody>
      </p:sp>
      <p:sp>
        <p:nvSpPr>
          <p:cNvPr id="8" name="Step 2 dot">
            <a:extLst>
              <a:ext uri="{C183D7F6-B498-43B3-948B-1728B52AA6E4}">
                <adec:decorative xmlns:adec="http://schemas.microsoft.com/office/drawing/2017/decorative" val="1"/>
              </a:ext>
            </a:extLst>
          </p:cNvPr>
          <p:cNvSpPr/>
          <p:nvPr/>
        </p:nvSpPr>
        <p:spPr>
          <a:xfrm>
            <a:off x="548640" y="189585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895856"/>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77568"/>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Grant the read: </a:t>
            </a:r>
            <a:r>
              <a:rPr lang="en-US" sz="1450" dirty="0">
                <a:solidFill>
                  <a:srgbClr val="334155"/>
                </a:solidFill>
              </a:rPr>
              <a:t>A delegated read of msKds-UseStartTime and -CreateTime on CN=Master Root Keys, nothing else; record whether it works without the key data, and whether retrievers come back (rows 52, 53)</a:t>
            </a:r>
            <a:endParaRPr lang="en-US" sz="1450" dirty="0"/>
          </a:p>
        </p:txBody>
      </p:sp>
      <p:sp>
        <p:nvSpPr>
          <p:cNvPr id="11" name="Step 3 dot">
            <a:extLst>
              <a:ext uri="{C183D7F6-B498-43B3-948B-1728B52AA6E4}">
                <adec:decorative xmlns:adec="http://schemas.microsoft.com/office/drawing/2017/decorative" val="1"/>
              </a:ext>
            </a:extLst>
          </p:cNvPr>
          <p:cNvSpPr/>
          <p:nvPr/>
        </p:nvSpPr>
        <p:spPr>
          <a:xfrm>
            <a:off x="548640" y="244754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447544"/>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429256"/>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Run the check: </a:t>
            </a:r>
            <a:r>
              <a:rPr lang="en-US" sz="1450" dirty="0">
                <a:solidFill>
                  <a:srgbClr val="334155"/>
                </a:solidFill>
              </a:rPr>
              <a:t>Expect CreateDmsa and CreateGmsa; a second person reviews kerberos-plan.json and passes you its SHA-256</a:t>
            </a:r>
            <a:endParaRPr lang="en-US" sz="1450" dirty="0"/>
          </a:p>
        </p:txBody>
      </p:sp>
      <p:sp>
        <p:nvSpPr>
          <p:cNvPr id="14" name="Step 4 dot">
            <a:extLst>
              <a:ext uri="{C183D7F6-B498-43B3-948B-1728B52AA6E4}">
                <adec:decorative xmlns:adec="http://schemas.microsoft.com/office/drawing/2017/decorative" val="1"/>
              </a:ext>
            </a:extLst>
          </p:cNvPr>
          <p:cNvSpPr/>
          <p:nvPr/>
        </p:nvSpPr>
        <p:spPr>
          <a:xfrm>
            <a:off x="548640" y="299923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999232"/>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2980944"/>
            <a:ext cx="10561320" cy="330708"/>
          </a:xfrm>
          <a:prstGeom prst="rect">
            <a:avLst/>
          </a:prstGeom>
          <a:noFill/>
          <a:ln/>
        </p:spPr>
        <p:txBody>
          <a:bodyPr wrap="square" lIns="0" tIns="0" rIns="0" bIns="0" rtlCol="0" anchor="t"/>
          <a:lstStyle/>
          <a:p>
            <a:pPr marL="0" indent="0">
              <a:buNone/>
            </a:pPr>
            <a:r>
              <a:rPr lang="en-US" sz="1450" b="1" dirty="0">
                <a:solidFill>
                  <a:srgbClr val="1F2A44"/>
                </a:solidFill>
              </a:rPr>
              <a:t>Dry-run, then apply: </a:t>
            </a:r>
            <a:r>
              <a:rPr lang="en-US" sz="1450" dirty="0">
                <a:solidFill>
                  <a:srgbClr val="334155"/>
                </a:solidFill>
              </a:rPr>
              <a:t>As a person with the test domain's Domain Admins or equivalent, against a writable DC</a:t>
            </a:r>
            <a:endParaRPr lang="en-US" sz="1450" dirty="0"/>
          </a:p>
        </p:txBody>
      </p:sp>
      <p:sp>
        <p:nvSpPr>
          <p:cNvPr id="17" name="Step 5 dot">
            <a:extLst>
              <a:ext uri="{C183D7F6-B498-43B3-948B-1728B52AA6E4}">
                <adec:decorative xmlns:adec="http://schemas.microsoft.com/office/drawing/2017/decorative" val="1"/>
              </a:ext>
            </a:extLst>
          </p:cNvPr>
          <p:cNvSpPr/>
          <p:nvPr/>
        </p:nvSpPr>
        <p:spPr>
          <a:xfrm>
            <a:off x="548640" y="332994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329940"/>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311652"/>
            <a:ext cx="10561320" cy="772668"/>
          </a:xfrm>
          <a:prstGeom prst="rect">
            <a:avLst/>
          </a:prstGeom>
          <a:noFill/>
          <a:ln/>
        </p:spPr>
        <p:txBody>
          <a:bodyPr wrap="square" lIns="0" tIns="0" rIns="0" bIns="0" rtlCol="0" anchor="t"/>
          <a:lstStyle/>
          <a:p>
            <a:pPr marL="0" indent="0">
              <a:buNone/>
            </a:pPr>
            <a:r>
              <a:rPr lang="en-US" sz="1450" b="1" dirty="0">
                <a:solidFill>
                  <a:srgbClr val="1F2A44"/>
                </a:solidFill>
              </a:rPr>
              <a:t>Run the next plan: </a:t>
            </a:r>
            <a:r>
              <a:rPr lang="en-US" sz="1450" dirty="0">
                <a:solidFill>
                  <a:srgbClr val="334155"/>
                </a:solidFill>
              </a:rPr>
              <a:t>StartDmsaMigration and AwaitHostChange; record MigrationStartedOn; set the registry value and restart only the test service; watch Kerberos events 307 to 309; record whether state is 1 without state 3 (row 51)</a:t>
            </a:r>
            <a:endParaRPr lang="en-US" sz="1450" dirty="0"/>
          </a:p>
        </p:txBody>
      </p:sp>
      <p:sp>
        <p:nvSpPr>
          <p:cNvPr id="20" name="Step 6 dot">
            <a:extLst>
              <a:ext uri="{C183D7F6-B498-43B3-948B-1728B52AA6E4}">
                <adec:decorative xmlns:adec="http://schemas.microsoft.com/office/drawing/2017/decorative" val="1"/>
              </a:ext>
            </a:extLst>
          </p:cNvPr>
          <p:cNvSpPr/>
          <p:nvPr/>
        </p:nvSpPr>
        <p:spPr>
          <a:xfrm>
            <a:off x="548640" y="410260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410260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408432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Complete, or back out: </a:t>
            </a:r>
            <a:r>
              <a:rPr lang="en-US" sz="1450" dirty="0">
                <a:solidFill>
                  <a:srgbClr val="334155"/>
                </a:solidFill>
              </a:rPr>
              <a:t>After 28 days apply CompleteDmsaMigration; or run Learn's Undo-ADServiceAccountMigration by hand, re-enable, remove the test objects by hand</a:t>
            </a:r>
            <a:endParaRPr lang="en-US" sz="1450" dirty="0"/>
          </a:p>
        </p:txBody>
      </p:sp>
      <p:sp>
        <p:nvSpPr>
          <p:cNvPr id="23" name="Callout">
            <a:extLst>
              <a:ext uri="{C183D7F6-B498-43B3-948B-1728B52AA6E4}">
                <adec:decorative xmlns:adec="http://schemas.microsoft.com/office/drawing/2017/decorative" val="1"/>
              </a:ext>
            </a:extLst>
          </p:cNvPr>
          <p:cNvSpPr/>
          <p:nvPr/>
        </p:nvSpPr>
        <p:spPr>
          <a:xfrm>
            <a:off x="548640" y="4818888"/>
            <a:ext cx="11109960" cy="752856"/>
          </a:xfrm>
          <a:prstGeom prst="roundRect">
            <a:avLst>
              <a:gd name="adj" fmla="val 971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4892040"/>
            <a:ext cx="606552" cy="606552"/>
          </a:xfrm>
          <a:prstGeom prst="ellipse">
            <a:avLst/>
          </a:prstGeom>
          <a:solidFill>
            <a:srgbClr val="B91C1C"/>
          </a:solidFill>
          <a:ln w="12700">
            <a:solidFill>
              <a:srgbClr val="B91C1C"/>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5037612"/>
            <a:ext cx="315407" cy="315407"/>
          </a:xfrm>
          <a:prstGeom prst="rect">
            <a:avLst/>
          </a:prstGeom>
        </p:spPr>
      </p:pic>
      <p:sp>
        <p:nvSpPr>
          <p:cNvPr id="26" name="Callout text"/>
          <p:cNvSpPr txBox="1"/>
          <p:nvPr/>
        </p:nvSpPr>
        <p:spPr>
          <a:xfrm>
            <a:off x="1600200" y="4873752"/>
            <a:ext cx="9875520" cy="643128"/>
          </a:xfrm>
          <a:prstGeom prst="rect">
            <a:avLst/>
          </a:prstGeom>
          <a:noFill/>
          <a:ln/>
        </p:spPr>
        <p:txBody>
          <a:bodyPr wrap="square" lIns="0" tIns="0" rIns="0" bIns="0" rtlCol="0" anchor="ctr"/>
          <a:lstStyle/>
          <a:p>
            <a:pPr marL="0" indent="0">
              <a:buNone/>
            </a:pPr>
            <a:r>
              <a:rPr lang="en-US" sz="1750" b="1" dirty="0">
                <a:solidFill>
                  <a:srgbClr val="B91C1C"/>
                </a:solidFill>
              </a:rPr>
              <a:t>Where: </a:t>
            </a:r>
            <a:r>
              <a:rPr lang="en-US" sz="1750" dirty="0">
                <a:solidFill>
                  <a:srgbClr val="334155"/>
                </a:solidFill>
              </a:rPr>
              <a:t>a test domain with a Windows Server 2025 DC and member server, never production; the KDS root key must already exist.</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Create a KDS root key; Setting up delegated Managed Service Accounts. Chapter 06, “Lab 2: test domain.”</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15AD2399-0B02-AB38-7BED-80DE1C758F7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0DC2531-3DD3-49F0-AADE-D67EADF0E0A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30"/>
    </mc:Choice>
    <mc:Fallback>
      <p:transition spd="slow" advTm="38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28"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72000"/>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Danger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The guard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gMSA left behind at G5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workload loses its credential at the last demotion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Every gMSA and dMSA reconciled with D11 and G5 (NPI-KRB-07); rerun when D11 changes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dMSA completed too early, or on a host that can't use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Old account disabled; the service fails on hosts not yet learned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28 days; 2025 on every host and one DC; no unconstrained delegation (NPI-KRB-04)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The old account deleted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way back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delete, uninstall, undo or reset call exists; refused by name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root key used before it replicates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Password retrieval fails on other DCs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10 hours usable (NPI-KRB-01); the code never creates a key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The root key read as a secret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checker holds every gMSA password's input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Only the start and create times, with a delegated read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Retrievers widened by hand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Another host can act as the service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Reviewed data; drift is a finding and a reviewed SetRetrievers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restart of every service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Unrelated services restart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Host steps are the server owner's, scoped to the service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plan changed after review; admin held by a job</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Unapproved writes; a standing credential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Approved SHA-256, tenant, domain, seven days; the write path runs as a person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An island with no owner or end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SPNs nobody retires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NPI-KRB-05 and -06; hand-off only when every row is ready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06, “Dangers”; Learn, Create a KDS root key; dMSA overview; Setting up dMSAs.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206E65DE-4542-5346-5DB2-6505A80A626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BFEA8E1-6ECB-451A-B9A7-68329C5249D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810"/>
    </mc:Choice>
    <mc:Fallback>
      <p:transition spd="slow" advTm="368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80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The accounts and the writes">
            <a:extLst>
              <a:ext uri="{C183D7F6-B498-43B3-948B-1728B52AA6E4}">
                <adec:decorative xmlns:adec="http://schemas.microsoft.com/office/drawing/2017/decorative" val="1"/>
              </a:ext>
            </a:extLst>
          </p:cNvPr>
          <p:cNvSpPr/>
          <p:nvPr/>
        </p:nvSpPr>
        <p:spPr>
          <a:xfrm>
            <a:off x="548640" y="1325880"/>
            <a:ext cx="5417820" cy="3151632"/>
          </a:xfrm>
          <a:prstGeom prst="roundRect">
            <a:avLst>
              <a:gd name="adj" fmla="val 232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accounts and the writ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ACCOUNTS AND THE WRITES</a:t>
            </a:r>
            <a:endParaRPr lang="en-US" sz="1100" dirty="0"/>
          </a:p>
        </p:txBody>
      </p:sp>
      <p:sp>
        <p:nvSpPr>
          <p:cNvPr id="7" name="Panel The accounts and the writes list"/>
          <p:cNvSpPr txBox="1"/>
          <p:nvPr/>
        </p:nvSpPr>
        <p:spPr>
          <a:xfrm>
            <a:off x="731520" y="1737360"/>
            <a:ext cx="5097780" cy="269443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Every Kerberos account has a reviewed disposition, or a finding with an owner of the fix</a:t>
            </a:r>
            <a:endParaRPr lang="en-US" sz="1450" dirty="0"/>
          </a:p>
          <a:p>
            <a:pPr marL="342900" indent="-342900">
              <a:spcAft>
                <a:spcPts val="400"/>
              </a:spcAft>
              <a:buSzPct val="100000"/>
              <a:buChar char="•"/>
            </a:pPr>
            <a:r>
              <a:rPr lang="en-US" sz="1450" dirty="0">
                <a:solidFill>
                  <a:srgbClr val="334155"/>
                </a:solidFill>
              </a:rPr>
              <a:t>The root key check ran with a delegated read of the start time only, not as a Domain Admin</a:t>
            </a:r>
            <a:endParaRPr lang="en-US" sz="1450" dirty="0"/>
          </a:p>
          <a:p>
            <a:pPr marL="342900" indent="-342900">
              <a:spcAft>
                <a:spcPts val="400"/>
              </a:spcAft>
              <a:buSzPct val="100000"/>
              <a:buChar char="•"/>
            </a:pPr>
            <a:r>
              <a:rPr lang="en-US" sz="1450" dirty="0">
                <a:solidFill>
                  <a:srgbClr val="334155"/>
                </a:solidFill>
              </a:rPr>
              <a:t>Every gMSA's and dMSA's retrievers match password-retrievers.json</a:t>
            </a:r>
            <a:endParaRPr lang="en-US" sz="1450" dirty="0"/>
          </a:p>
          <a:p>
            <a:pPr marL="342900" indent="-342900">
              <a:spcAft>
                <a:spcPts val="400"/>
              </a:spcAft>
              <a:buSzPct val="100000"/>
              <a:buChar char="•"/>
            </a:pPr>
            <a:r>
              <a:rPr lang="en-US" sz="1450" dirty="0">
                <a:solidFill>
                  <a:srgbClr val="334155"/>
                </a:solidFill>
              </a:rPr>
              <a:t>No dMSA planned for an MSA, unconstrained delegation or a pre-2025 host; none completed before 28 days</a:t>
            </a:r>
            <a:endParaRPr lang="en-US" sz="1450" dirty="0"/>
          </a:p>
          <a:p>
            <a:pPr marL="342900" indent="-342900">
              <a:spcAft>
                <a:spcPts val="400"/>
              </a:spcAft>
              <a:buSzPct val="100000"/>
              <a:buChar char="•"/>
            </a:pPr>
            <a:r>
              <a:rPr lang="en-US" sz="1450" dirty="0">
                <a:solidFill>
                  <a:srgbClr val="334155"/>
                </a:solidFill>
              </a:rPr>
              <a:t>Every plan's SHA-256 approved by someone other than the person who applied it; the manifest filed</a:t>
            </a:r>
            <a:endParaRPr lang="en-US" sz="1450" dirty="0"/>
          </a:p>
        </p:txBody>
      </p:sp>
      <p:sp>
        <p:nvSpPr>
          <p:cNvPr id="8" name="Panel The end state">
            <a:extLst>
              <a:ext uri="{C183D7F6-B498-43B3-948B-1728B52AA6E4}">
                <adec:decorative xmlns:adec="http://schemas.microsoft.com/office/drawing/2017/decorative" val="1"/>
              </a:ext>
            </a:extLst>
          </p:cNvPr>
          <p:cNvSpPr/>
          <p:nvPr/>
        </p:nvSpPr>
        <p:spPr>
          <a:xfrm>
            <a:off x="6240780" y="1325880"/>
            <a:ext cx="5417820" cy="3151632"/>
          </a:xfrm>
          <a:prstGeom prst="roundRect">
            <a:avLst>
              <a:gd name="adj" fmla="val 232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end state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END STATE</a:t>
            </a:r>
            <a:endParaRPr lang="en-US" sz="1100" dirty="0"/>
          </a:p>
        </p:txBody>
      </p:sp>
      <p:sp>
        <p:nvSpPr>
          <p:cNvPr id="10" name="Panel The end state list"/>
          <p:cNvSpPr txBox="1"/>
          <p:nvPr/>
        </p:nvSpPr>
        <p:spPr>
          <a:xfrm>
            <a:off x="6423660" y="1737360"/>
            <a:ext cx="5097780" cy="269443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No old account deleted; each superseded one disabled, with a retirement decision</a:t>
            </a:r>
            <a:endParaRPr lang="en-US" sz="1450" dirty="0"/>
          </a:p>
          <a:p>
            <a:pPr marL="342900" indent="-342900">
              <a:spcAft>
                <a:spcPts val="400"/>
              </a:spcAft>
              <a:buSzPct val="100000"/>
              <a:buChar char="•"/>
            </a:pPr>
            <a:r>
              <a:rPr lang="en-US" sz="1450" dirty="0">
                <a:solidFill>
                  <a:srgbClr val="334155"/>
                </a:solidFill>
              </a:rPr>
              <a:t>Every island account has an SPN owner and an end date within D08; the list went to P4.6 only when islandHandoffReady was true</a:t>
            </a:r>
            <a:endParaRPr lang="en-US" sz="1450" dirty="0"/>
          </a:p>
          <a:p>
            <a:pPr marL="342900" indent="-342900">
              <a:spcAft>
                <a:spcPts val="400"/>
              </a:spcAft>
              <a:buSzPct val="100000"/>
              <a:buChar char="•"/>
            </a:pPr>
            <a:r>
              <a:rPr lang="en-US" sz="1450" dirty="0">
                <a:solidFill>
                  <a:srgbClr val="334155"/>
                </a:solidFill>
              </a:rPr>
              <a:t>Every gMSA and dMSA is MovesToWorkloadIdentity, Retires, OnIslandList or HandedOff; rerun after D11 was confirmed</a:t>
            </a:r>
            <a:endParaRPr lang="en-US" sz="1450" dirty="0"/>
          </a:p>
          <a:p>
            <a:pPr marL="342900" indent="-342900">
              <a:spcAft>
                <a:spcPts val="400"/>
              </a:spcAft>
              <a:buSzPct val="100000"/>
              <a:buChar char="•"/>
            </a:pPr>
            <a:r>
              <a:rPr lang="en-US" sz="1450" dirty="0">
                <a:solidFill>
                  <a:srgbClr val="334155"/>
                </a:solidFill>
              </a:rPr>
              <a:t>The pinned Learn pages match their manifest; every upstream commit reviewed</a:t>
            </a:r>
            <a:endParaRPr lang="en-US" sz="1450" dirty="0"/>
          </a:p>
        </p:txBody>
      </p:sp>
      <p:sp>
        <p:nvSpPr>
          <p:cNvPr id="11" name="Callout">
            <a:extLst>
              <a:ext uri="{C183D7F6-B498-43B3-948B-1728B52AA6E4}">
                <adec:decorative xmlns:adec="http://schemas.microsoft.com/office/drawing/2017/decorative" val="1"/>
              </a:ext>
            </a:extLst>
          </p:cNvPr>
          <p:cNvSpPr/>
          <p:nvPr/>
        </p:nvSpPr>
        <p:spPr>
          <a:xfrm>
            <a:off x="548640" y="4660392"/>
            <a:ext cx="11109960" cy="731520"/>
          </a:xfrm>
          <a:prstGeom prst="roundRect">
            <a:avLst>
              <a:gd name="adj" fmla="val 10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4733544"/>
            <a:ext cx="585216" cy="585216"/>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4873996"/>
            <a:ext cx="304312" cy="304312"/>
          </a:xfrm>
          <a:prstGeom prst="rect">
            <a:avLst/>
          </a:prstGeom>
        </p:spPr>
      </p:pic>
      <p:sp>
        <p:nvSpPr>
          <p:cNvPr id="14" name="Callout text"/>
          <p:cNvSpPr txBox="1"/>
          <p:nvPr/>
        </p:nvSpPr>
        <p:spPr>
          <a:xfrm>
            <a:off x="1600200" y="4715256"/>
            <a:ext cx="9875520" cy="621792"/>
          </a:xfrm>
          <a:prstGeom prst="rect">
            <a:avLst/>
          </a:prstGeom>
          <a:noFill/>
          <a:ln/>
        </p:spPr>
        <p:txBody>
          <a:bodyPr wrap="square" lIns="0" tIns="0" rIns="0" bIns="0" rtlCol="0" anchor="ctr"/>
          <a:lstStyle/>
          <a:p>
            <a:pPr marL="0" indent="0">
              <a:buNone/>
            </a:pPr>
            <a:r>
              <a:rPr lang="en-US" sz="1750" b="1" dirty="0">
                <a:solidFill>
                  <a:srgbClr val="B45309"/>
                </a:solidFill>
              </a:rPr>
              <a:t>Next: </a:t>
            </a:r>
            <a:r>
              <a:rPr lang="en-US" sz="1750" dirty="0">
                <a:solidFill>
                  <a:srgbClr val="334155"/>
                </a:solidFill>
              </a:rPr>
              <a:t>Chapter 07 — Least Privilege for Service Principals.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06, “Checklist”; “Continue the 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226DD93D-A35D-AA68-A514-C46D578FA82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91CE249-2FEA-4745-A3E1-0DE2A419F9A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790"/>
    </mc:Choice>
    <mc:Fallback>
      <p:transition spd="slow" advTm="377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79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13946</Words>
  <Application>Microsoft Office PowerPoint</Application>
  <PresentationFormat>Widescreen</PresentationFormat>
  <Paragraphs>460</Paragraphs>
  <Slides>18</Slides>
  <Notes>18</Notes>
  <HiddenSlides>0</HiddenSlides>
  <MMClips>18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Federal Modernization Workbook</vt:lpstr>
      <vt:lpstr>Chapter 06: gMSAs, dMSAs and the Kerberos Island</vt:lpstr>
      <vt:lpstr>Why every gMSA and dMSA needs an end date</vt:lpstr>
      <vt:lpstr>What gMSAs and dMSAs are, and where the code runs</vt:lpstr>
      <vt:lpstr>Learn's four procedures, pinned and run</vt:lpstr>
      <vt:lpstr>What the procedures leave to you: the key and the steps</vt:lpstr>
      <vt:lpstr>What they leave to you: limits, waits and deletes</vt:lpstr>
      <vt:lpstr>The code and its four reviewed inputs</vt:lpstr>
      <vt:lpstr>The check: nine rules, NPI-KRB-01 to NPI-KRB-09</vt:lpstr>
      <vt:lpstr>The plan: one action per account</vt:lpstr>
      <vt:lpstr>The island list and the reconciliation</vt:lpstr>
      <vt:lpstr>The separate write path, and its refusals</vt:lpstr>
      <vt:lpstr>Who builds, runs and reviews it, and with what rights</vt:lpstr>
      <vt:lpstr>Lab 1: Learn's procedures, then the check</vt:lpstr>
      <vt:lpstr>Lab 1: reading the findings and the plan</vt:lpstr>
      <vt:lpstr>Lab 1: the island list, a dry run and a refusal</vt:lpstr>
      <vt:lpstr>Lab 2: a test domain, a real migration</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Non-Person Identity, Chapter 06 — gMSAs, dMSAs and the Kerberos Island</dc:title>
  <dc:subject>PptxGenJS Presentation</dc:subject>
  <dc:creator>Michael F. Stratton</dc:creator>
  <cp:lastModifiedBy>Michael F. Stratton</cp:lastModifiedBy>
  <cp:revision>2</cp:revision>
  <dcterms:created xsi:type="dcterms:W3CDTF">2026-10-31T15:50:38Z</dcterms:created>
  <dcterms:modified xsi:type="dcterms:W3CDTF">2026-10-31T16:04:59Z</dcterms:modified>
</cp:coreProperties>
</file>