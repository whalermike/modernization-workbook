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c026cd-25b3-3c88-6114-4d9e64b49f7d}">
          <p14:sldIdLst>
            <p14:sldId id="256"/>
          </p14:sldIdLst>
        </p14:section>
        <p14:section name="Why" id="{e1bec4dd-45a3-21f6-5e78-e3eb9a1d9ad1}">
          <p14:sldIdLst>
            <p14:sldId id="257"/>
            <p14:sldId id="258"/>
            <p14:sldId id="259"/>
          </p14:sldIdLst>
        </p14:section>
        <p14:section name="What" id="{50751c8f-ed92-4b9c-5ddc-bcdf7fbd9d9a}">
          <p14:sldIdLst>
            <p14:sldId id="260"/>
            <p14:sldId id="261"/>
            <p14:sldId id="262"/>
            <p14:sldId id="263"/>
            <p14:sldId id="264"/>
            <p14:sldId id="265"/>
            <p14:sldId id="266"/>
            <p14:sldId id="267"/>
          </p14:sldIdLst>
        </p14:section>
        <p14:section name="Who" id="{21dc1972-bfca-461a-a6d3-7126df123fec}">
          <p14:sldIdLst>
            <p14:sldId id="268"/>
          </p14:sldIdLst>
        </p14:section>
        <p14:section name="How" id="{950ea2b2-b35d-3515-cbb2-cabb810b460b}">
          <p14:sldIdLst>
            <p14:sldId id="269"/>
            <p14:sldId id="270"/>
            <p14:sldId id="271"/>
            <p14:sldId id="272"/>
            <p14:sldId id="273"/>
          </p14:sldIdLst>
        </p14:section>
        <p14:section name="Backup" id="{358c29e5-7811-63d3-9847-ca62f3c3c08a}">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3: Conditional Access for administrators, and the activation gate. These policies are the program's first writes to a tenant, so they're files a reviewer reads, and the code that writes them does nothing until it's told to. We'll start from Microsoft's own template for administrators, see what it leaves out, then walk the files, the pre-merge check, the plan and the dry run, two labs and the dangers. One note before we begin: the code is illustrative, tested against fixtures.
Detail: The chapter covers the policies behind the plan's tasks A1.5, A2.3, A2.5 and A2.6: phishing-resistant authentication for administrators, the PIM activation gate through authentication context c1, and the administrator policies of Book 04's Wave 2. It starts with Microsoft's own Conditional Access template for administrators, as Microsoft Graph returns it, pinned in the repository, and checks it offline to see what it leaves out. Then it uses examples/privileged-access for what it leaves to you: the policies as reviewed JSON, a pre-merge check, a diff against the tenant and a dry run, with every new policy created report-only. Lab 1 runs on a laptop with no tenant; Lab 2 uses a test tenant. Goal: by the end of the chapter you can keep the administrator policies, the privileged authentication strength and the authentication contexts as files, check them before they merge, and see exactly what a run would change in a tenant before it changes anything. You can say, for each rule, whether it is Learn's guidance, Microsoft's template, or the program's own design.
Sources: Microsoft Learn, "Get conditionalAccessTemplate," https://learn.microsoft.com/graph/api/conditionalaccesstemplate-get?view=graph-rest-1.0 (accessed Oct 30, 2026).
Workbook: Building Privileged Access, Chapter 03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so much? Because it's the first time the program writes to a tenant. Book 04 gives it three things to build: the administrator policy set, the gate that demands a fresh phishing-resistant proof from a compliant device at the moment someone elevates, and the custom authentication strength both rely on. Unlike the first two chapters, this code can change things. So its design is cautious on purpose: it writes only when told, creates every new policy in report-only, enforces only with a separate switch, and never deletes.
Detail: Three pieces of Book 04 meet here. Chapter 07's Wave 2 is the administrator policy set: CA003 (phishing-resistant MFA by group and by role), CA004 (compliant device), CA005 (trusted networks), CA025 (PAW only) and CA027 (Azure management for operators only). Chapter 08's Step 2 is the activation gate: authentication context c1 and its policy PIM-Activation-c1, which demand a fresh phishing-resistant proof from a compliant device at the moment of elevation. Appendix A has the JSON for both, and the custom strength FMP-Privileged-SeparateDevice. Unlike Chapters 01 and 02, this chapter's code can write. Design guidance: it writes only with -Apply, creates every new policy report-only, enforces only with -AllowEnforce, and has no delete.
Sources: Building Privileged Access, Chapter 03, docs/project-plans/developer-workbooks/privileged-access/03-conditional-access-for-administrators.md
Workbook: Building Privileged Access, Chapter 03 — “The context the code depends on”; “The code: examples/privileged-access”.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sets the order, and getting it wrong leaves no gate at all. You create and switch on the policy for the authentication context first, and only then select that context in PIM. If no policy targets it, PIM falls back to asking for multifactor sign-in, but that fallback doesn't happen when the policy is off or only reporting. And if you also scope the policy to a directory role, it never applies, because at activation the person doesn't hold the role yet. So this chapter builds the gate, and leaves selecting it to Chapter 4.
Detail: Learn sets the order. Create and enable the Conditional Access policy for an authentication context before you select that context in PIM. If no policy targets the context, PIM falls back to requiring MFA, but that fallback doesn't trigger when the policy is off, in report-only mode, or excludes the eligible user. Don't scope the policy to both the context and a directory role: at activation the user doesn't hold the role yet, so the policy wouldn't apply. And whoever can edit Conditional Access can weaken the gate, so Learn says to treat those roles as highly privileged. So this chapter builds the gate and leaves it unselected. Chapter 04 (planned) selects c1 in PIM's role settings, and only after this chapter's run shows PIM-Activation-c1 is On.
Sources: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Workbook: Building Privileged Access, Chapter 03 — “The context the code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Every call in this chapter is on the stable Graph version, except protected actions, which is beta. For this estate's GCC tenant the host is the worldwide Graph endpoint, and every method used lists the government clouds in its availability table. Conditional Access and PIM are available in the government clouds too. One thing does change there: the two policies about Azure management name a different application, so a GCC High program edits those two files. The code never assumes a cloud; you name it.
Detail: Every call in this chapter is Microsoft Graph v1.0, apart from the protected actions API, which is beta. For Microsoft 365 GCC the host is the worldwide graph.microsoft.com; GCC High uses graph.microsoft.us and DoD dod-graph.microsoft.us. The methods for policies, contexts, strengths and templates list the global service, US Government L4 and US Government L5 in their national cloud tables. Conditional Access and PIM are available in Azure for US Government. The code takes gcc as an explicit cloud name and has no default. In Azure Government, a policy that targets Azure management names a different application than the Windows Azure Service Management API that CA025 and CA027 use (Book 04, Chapter 07, government cloud notes); a GCC High program changes those two files.
Sources: Microsoft Learn, "Microsoft Graph national cloud deployments," https://learn.microsoft.com/graph/deployments (accessed Oct 30, 2026). · Microsoft Learn, "List policies" (conditionalAccessRoot), https://learn.microsoft.com/graph/api/conditionalaccessroot-list-policies?view=graph-rest-1.0 (accessed Oct 30, 2026). · Microsoft Learn, "Create conditionalAccessPolicy," permissions and examples, https://learn.microsoft.com/graph/api/conditionalaccessroot-post-policies?view=graph-rest-1.0 (accessed Oct 30, 2026). · Microsoft Learn, "Update conditionalaccesspolicy," permissions and request body, https://learn.microsoft.com/graph/api/conditionalaccesspolicy-update?view=graph-rest-1.0 (accessed Oct 30, 2026). · Microsoft Learn, "List authenticationContextClassReferences," https://learn.microsoft.com/graph/api/conditionalaccessroot-list-authenticationcontextclassreferences?view=graph-rest-1.0 (accessed Oct 30, 2026). · Microsoft Learn, "Create or Update authenticationContextClassReference," https://learn.microsoft.com/graph/api/authenticationcontextclassreference-update?view=graph-rest-1.0 (accessed Oct 31, 2026). · Microsoft Learn, "List authenticationStrengthPolicies," https://learn.microsoft.com/graph/api/authenticationstrengthroot-list-policies?view=graph-rest-1.0 (accessed Oct 30, 2026). · Microsoft Learn, "Get conditionalAccessTemplate," https://learn.microsoft.com/graph/api/conditionalaccesstemplate-get?view=graph-rest-1.0 (accessed Oct 30, 2026). · Microsoft Learn, "Microsoft Entra feature availability," Microsoft Entra ID, authorization and Conditional Access, and identity governance, https://learn.microsoft.com/entra/identity/authentication/feature-availability (accessed Oct 30, 2026).
Workbook: Building Privileged Access, Chapter 03 — “Which cloud, for these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is its policy templates. The protect-administrators group includes one requiring phishing-resistant sign-in for administrators, and its Learn page is the procedure: at least fourteen roles, exclude the emergency accounts, use the built-in phishing-resistant strength, and start in report-only. The same templates come back from Graph as policy definitions, and that's the only administrator policy Microsoft publishes on Learn in that form. So the repository pins the page unmodified, checks its hashes, and converts the template without fixing anything, then checks it like any other file.
Detail: Learn publishes Conditional Access templates in the admin center, grouped by scenario. The "Protect administrator" group includes "Require phishing-resistant multifactor authentication for administrators." That policy's Learn page is the procedure: include at least fourteen directory roles, exclude the emergency access accounts, require the built-in phishing-resistant MFA strength, and create it in report-only before you turn it on. It also warns that role targeting covers built-in roles only, and that administrators must register phishing-resistant methods first or you risk locking yourself out. The same templates are in Microsoft Graph. GET /identity/conditionalAccess/templates/{id} returns a template's conditions and controls as policy JSON, with Policy.Read.All. Learn's page for that method shows one in full: "Require multifactor authentication for admins," Microsoft's template for administrators. It is the only Conditional Access policy JSON for administrators that Microsoft publishes on Learn in Graph form. The Create method's examples cover Exchange Online, not administrators, and the policy pages give admin center steps. The repository's search on October 30, 2026 found no other Microsoft sample to start from. Azure-Samples has no Conditional Access policy repository. microsoft/ConditionalAccessforZeroTrustResources holds Microsoft365DSC and Terraform examples, not Graph JSON, and hasn't changed since February 2024; it wasn't used. The pinned copy: the repository pins the page's source, unmodified, in examples/third_party/conditional-access-template-page: conditionalaccesstemplate-get.md from microsoftgraph/microsoft-graph-docs-contrib at commit a693031 (October 30, 2026), retrieved October 30, 2026, with the repository's licenses (documentation CC BY 4.0, code MIT). snapshot.json records each file's SHA-256, checked against the upstream git blob hashes; a unit test checks them, and the weekly source watch reports new commits to the page. Read-PaCaTemplatePage extracts the example response from the pinned page, unmodified. ConvertFrom-PaCaTemplate turns a template into a policy body, adding only its name and report-only state, and fixes nothing. Then the pre-merge check reads it as if it were a file in the repository. Nothing is sent to a tenant.
Sources: Microsoft Learn, "Conditional Access policy templates," template categories, https://learn.microsoft.com/entra/identity/conditional-access/concept-conditional-access-policy-common (accessed Oct 30, 2026). · Microsoft Learn, "Require phishing-resistant multifactor authentication for administrators," https://learn.microsoft.com/entra/identity/conditional-access/policy-admin-phish-resistant-mfa (accessed Oct 30, 2026). · Microsoft Learn, "Get conditionalAccessTemplate," https://learn.microsoft.com/graph/api/conditionalaccesstemplate-get?view=graph-rest-1.0 (accessed Oct 30, 2026). · Microsoft Learn, "Create conditionalAccessPolicy," permissions and examples, https://learn.microsoft.com/graph/api/conditionalaccessroot-post-policies?view=graph-rest-1.0 (accessed Oct 30, 2026). · Microsoft, microsoftgraph/microsoft-graph-docs-contrib, api-reference/v1.0/api/conditionalaccesstemplate-get.md at commit a69303123e9701eecbf56568d152ece936a97f1e (October 30, 2026; the page last changed July 22, 2025), CC BY 4.0 (documentation) and MIT (code), https://github.com/microsoftgraph/microsoft-graph-docs-contrib/blob/a69303123e9701eecbf56568d152ece936a97f1e/api-reference/v1.0/api/conditionalaccesstemplate-get.md (accessed Oct 30, 2026); pinned copy in examples/third_party/conditional-access-template-page.
Workbook: Building Privileged Access, Chapter 03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what happens if you create Microsoft's template exactly as published. The targeting is good, so it's kept as the model. But the published example lists only two roles where Learn's own procedure wants fourteen. It grants plain multifactor sign-in instead of the phishing-resistant strength, and the two can't be combined. And it excludes a line of display text where an object identifier belongs, which the admin center would replace for you, but a script won't. Each of these is pinned by a test.
Detail: Each row is pinned by a test in tests/ConditionalAccess.Tests.ps1: the first block for the template as published, the others for the example. Targets administrators by role, all resources, all client apps: kept as the model; CA003 targets roles and all resources. Learn marks the response as possibly shortened, and it lists 2 roles: Learn's procedure names 14 roles at a minimum, and a copy of the example covers two; CA003 lists Book 04's 15 (Learn's 14 and Hybrid Identity Administrator), and PA-CA-07 warns on any policy that targets roles and leaves one of the 14 out. Grants plain MFA, with no authentication strength: Learn's admin page recommends the phishing-resistant strength, and plain MFA and a strength can't be combined in one policy; the example adds FMP-Privileged-SeparateDevice as a reviewed file, and PA-CA-06. Excludes "Current administrator will be excluded," display text where an object ID belongs: not an object ID; the admin center replaces it, a script doesn't; PA-CA-03 fails any user target that isn't an object ID or a Graph keyword.
Sources: Microsoft Learn, "Require phishing-resistant multifactor authentication for administrators," https://learn.microsoft.com/entra/identity/conditional-access/policy-admin-phish-resistant-mfa (accessed Oct 30, 2026). · Microsoft Learn, "Conditional Access authentication strengths," built-in strengths and limitations, https://learn.microsoft.com/entra/identity/authentication/concept-authentication-strengths (accessed Oct 30, 2026).
Workbook: Building Privileged Access, Chapter 03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the dangerous ones. The template doesn't exclude the emergency access group, and those accounts must stay out of every policy that blocks or restricts sign-in. It carries no state, so nothing tells you to start in report-only. It has no authentication context, so the activation gate isn't there at all. And it's just a read: nothing compares it with the tenant, so a policy edited in the portal drifts unseen. The verdict: keep the template's targeting as the model, and never create it as published.
Detail: Doesn't exclude the emergency access group: the emergency accounts must stay out of every policy that blocks or restricts; the example adds PA-CA-01, before merge, and Invoke-PaCaPlan refuses to write a policy without it. Carries no state: nothing in it says to start in report-only; every new policy is created report-only, whatever its file says, and enforcing needs -AllowEnforce. Targets no authentication context: the activation gate isn't in it; the example adds contexts c1 and c2, PIM-Activation-c1 and ProtectedActions-c2, with PA-CA-04, PA-CA-05 and PA-CA-08. A read; nothing compares it with a tenant or writes it: a policy changed in the portal drifts unseen; Get-PaCaPlan gives a diff by property, a dry run, and writes only with -Apply. The verdict: keep Microsoft's template as the model for CA003's targeting. Don't create it as published: it would land with no emergency exclusion, text where an ID belongs, and plain MFA.
Sources: Microsoft Learn, "Manage emergency access accounts in Microsoft Entra ID," Conditional Access considerations, https://learn.microsoft.com/entra/identity/role-based-access-control/security-emergency-access (accessed Oct 30, 2026).
Workbook: Building Privileged Access, Chapter 03 — “What it leaves to you”;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This chapter adds its own module, its own call list, an entry script, and the policy files themselves, one file per object, as Book 04 asks. There are the two authentication contexts, the custom strength, the five administrator policies, and the two gate policies, one for activation and one for protected actions. The activation gate demands the strength and a compliant device, every single time. Placeholders resolve from a per-tenant map, except the strength, which is looked up by name in the tenant, so a policy can never point at a strength that isn't there.
Detail: This chapter adds its own module, powershell/PaConditionalAccess, which imports Get-PaCloud from Chapter 01's module for the cloud table. It adds its own call list config/calls-ch03.json, the policy files in ca-policies/, the entry script Invoke-PaCaAdmin.ps1 and notes in docs/ch03.md. ca-policies/ holds one JSON file per object, as Book 04, Chapter 10 asks. contexts/: c1 (FMP-PIM-Activation), c2 (FMP-ProtectedActions), from Book 04, Chapter 08, Steps 2 and 6. strengths/: FMP-Privileged-SeparateDevice, FIDO2 keys from an approved list, or multifactor certificate-based authentication (Appendix A). policies/: CA003, CA004, CA005, CA025, CA027 (Appendix A, Wave 2). policies/: PIM-Activation-c1, all users but the emergency group, context c1, the strength and a compliant device, sign-in frequency every time (Book 04, Chapter 08, Step 2; Learn's PIM settings). policies/: ProtectedActions-c2, the same controls on context c2 (Book 04, Chapter 08, Step 6). Placeholders such as {group:CA-Exclude-EmergencyAccess} are Appendix A's. A per-tenant map resolves them. {strength:FMP-Privileged-SeparateDevice} isn't in the map: the plan resolves it from the tenant by name, so a policy can't point at a strength that doesn't exist yet. CA026 isn't a file yet; it reuses CA003 with Appendix A's differences.
Sources: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Workbook: Building Privileged Access, Chapter 03 — “The code: examples/privileged-access”; “The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merges, Test-PaCaRepository reads the files, and only the files, in the pull request pipeline. The nine rules are on the slide. Most come from Learn: exclude the emergency group, don't scope the gate to a role, don't mix plain multifactor with a strength, cover the fourteen roles, and keep context identifiers in the stricter range. A few are the program's own design, like refusing display text where an identifier belongs. On the repository as merged, the check passes with five warnings, and they're deliberate: the rollout hasn't switched those policies on yet.
Detail: Test-PaCaRepository reads the files only, and runs in the pull request pipeline. PA-CA-01 Finding and Info: a policy that isn't disabled and doesn't exclude the emergency group (Finding); a named report-only instrument without it (Info) (Learn; design guidance for report-only files). PA-CA-02 Finding: a report-only instrument set to enabled (design guidance). PA-CA-03 Finding: an unresolved placeholder, or a user target that isn't an object ID or a Graph keyword (design guidance). PA-CA-04 Warn: an authentication context policy that isn't On (Learn: report-only doesn't trigger PIM's fallback or satisfy a protected action). PA-CA-05 Finding: an authentication context policy that also targets directory roles (Learn). PA-CA-06 Finding and Warn: MFA and an authentication strength together (Finding); administrator roles with plain MFA (Warn) (Learn). PA-CA-07 Warn: a policy targeting roles that leaves out any of the 14 Learn recommends (Learn). PA-CA-08 Finding: a context outside c1 to c25, or a policy naming a context the repository doesn't define (Learn's stricter range). PA-CA-09 Warn: a report-only policy requiring a compliant device that doesn't exclude Android, iOS and macOS (Learn; research gaps, row 37). On the repository as merged, the check passes with five Warn: the two context policies are still report-only, and three report-only policies require a compliant device. Those are the decisions the rollout makes, not mistakes in the files.
Sources: Microsoft Learn, "Manage emergency access accounts in Microsoft Entra ID," Conditional Access considerations, https://learn.microsoft.com/entra/identity/role-based-access-control/security-emergency-access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 Microsoft Learn, "Add, test, or remove protected actions in Microsoft Entra ID," Microsoft Graph, https://learn.microsoft.com/entra/identity/role-based-access-control/protected-actions-add (accessed Oct 30, 2026). · Microsoft Learn, "Conditional Access authentication strengths," built-in strengths and limitations, https://learn.microsoft.com/entra/identity/authentication/concept-authentication-strengths (accessed Oct 30, 2026). · Microsoft Learn, "Require phishing-resistant multifactor authentication for administrators," https://learn.microsoft.com/entra/identity/conditional-access/policy-admin-phish-resistant-mfa (accessed Oct 30, 2026). · Microsoft Learn, "Create authenticationContextClassReference" (beta), request body, https://learn.microsoft.com/graph/api/conditionalaccessroot-post-authenticationcontextclassreferences?view=graph-rest-beta (accessed Oct 30, 2026). · Microsoft Learn, "Analyze Conditional Access policy impact," https://learn.microsoft.com/entra/identity/conditional-access/concept-conditional-access-report-only (accessed Oct 30, 2026).
Workbook: Building Privileged Access, Chapter 03 — “The pre-merge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needs a closer look, because the sources don't line up. Learn says report-only policies don't block anyone, so they don't need the emergency exclusion. Book 04's pre-merge check is stricter, and fails any report-only file without it, even the probe that's meant to exclude nobody. The chapter's finding is that the stricter rule isn't wrong, just stricter. So the code puts the exclusion in every file whatever its state, because enforcing a file means changing one word. Only a named report-only instrument may skip it, and it fails the moment someone enables it.
Detail: Book 04 disagrees with itself here, and research gaps row 5 records it. Learn's emergency access page says it three times: exclude the emergency accounts from policies that block or restrict sign-in, and report-only policies don't block access and don't need the exclusion. Book 04, Chapter 04 says the same. Book 04, Chapter 10's pre-merge check fails any enabled or report-only policy file that doesn't exclude the group. That check would also fail Book 04, Chapter 07's CA090, the report-only probe that excludes nobody on purpose. The finding: Learn doesn't require the exclusion on a report-only policy. Chapter 10's rule is stricter than Learn, not in conflict with it. The two Learn pages read for this chapter agree with each other. What the code does, design guidance: every policy file carries the exclusion whatever its state, because a file is enforced by changing one word, its state, and the exclusion must already be there when that happens. That is Chapter 10's rule, and it costs nothing Learn requires. The one exception is a policy named in ca-config.json as a report-only instrument, like CA090: it may leave the group in scope, as Learn allows, it is reported as Info, and PA-CA-02 fails it the moment it is set to enabled. Chapter 02's tenant check, PA-EA-08, still reports a report-only policy without the group as Info. Whether Chapter 10's script should gain the instrument exception is the owner's decision; this chapter doesn't change Book 04 or row 5 (research gaps, row 31).
Sources: Microsoft Learn, "Manage emergency access accounts in Microsoft Entra ID," Conditional Access considerations, https://learn.microsoft.com/entra/identity/role-based-access-control/security-emergency-access (accessed Oct 30, 2026). · Microsoft Learn, "Analyze Conditional Access policy impact," https://learn.microsoft.com/entra/identity/conditional-access/concept-conditional-access-report-only (accessed Oct 30, 2026).
Workbook: Building Privileged Access, Chapter 03 — “Report-only policies and the emergency exclusion”.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change actually reaches the tenant. The code reads the tenant's policies, contexts and strengths, then compares each file with what's there, property by property, but only the properties the file sets, so the noise Graph returns doesn't look like a change. It plans in Learn's order, the contexts and strength before the policies that use them. Every plan line gets an action, and nothing is ever deleted. Without the apply switch, it can't send a write at all. With it, it still refuses if the check found a problem or a policy lacks the emergency exclusion.
Detail: Get-PaCaTenant reads the tenant's policies, authentication contexts and strengths: three GETs, every page, only on the cloud's own host. Get-PaCaPlan compares each file with the tenant, property by property, and only on the properties the file sets, so the nulls and empty lists Graph returns don't show as changes. It plans in Learn's order, contexts and the strength before the policies that use them. Create: not in the tenant; a policy is always created report-only. Update: differs; the PATCH carries only the changed top-level properties, as Learn advises. NoChange: matches. Blocked: the policy needs a strength or context the tenant doesn't have yet; the next run creates it. Held: the file says enabled, the tenant doesn't, and -AllowEnforce wasn't given. Differs: a strength that differs; the code doesn't update strengths (research gaps, row 36). NotInRepository: in the tenant, not in the files; reported, never deleted. Invoke-PaCaPlan turns the plan into requests. Without -Apply it returns them with Sent false, and the client it runs under can't send a write. With -Apply it refuses to start if the pre-merge check has a Finding, or if any policy it would write leaves out the emergency group. Policies are matched by display name, so a rename in the portal shows as one Create and one NotInRepository. Rollback follows Book 04, Chapter 07: change the file's state to report-only or disabled and apply; never delete.
Sources: Microsoft Learn, "Update conditionalaccesspolicy," permissions and request body, https://learn.microsoft.com/graph/api/conditionalaccesspolicy-update?view=graph-rest-1.0 (accessed Oct 30, 2026).
Workbook: Building Privileged Access, Chapter 03 — “The plan, the dry run and the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keeps a short record of where Learn's pages don't agree, so a later edit doesn't quietly loosen the code. The biggest is the every-time sign-in frequency: the Graph reference doesn't list it for this use, but the PIM pages say to use it, so the file follows PIM and the lab confirms Graph accepts it. Context identifiers follow the stricter of two ranges. And protected actions, called a preview in the outline, carry no preview label on Learn, but their Graph assignment is beta only, so the code defines the context and stops there.
Detail: Where the sources differ, recorded so a later edit doesn't loosen the code. Report-only and the emergency exclusion: Learn and Book 04, Chapter 04, not needed; Book 04, Chapter 10, needed. The code follows Chapter 10 for every file and exempts only a named report-only instrument (research gaps, rows 5 and 31). Every-time sign-in frequency: the Graph resource page lists everyTime for risky users, risky sign-ins and Intune device enrollment; Learn's PIM pages and the session lifetime page say to use it on the authentication context policy. The file follows the PIM page; Lab 2 confirms Graph accepts it (research gaps, row 32). Authentication context IDs: the Graph create method allows c1 to c25; the admin center allows 99. PA-CA-08 follows the stricter range (row 33). Protected actions' stage: the workbook's outline calls protected actions a preview. Learn's overview page, read on October 30, 2026, carries no preview label, and assigning them through Graph is documented under beta only. The code defines c2 and its policy but doesn't assign protected actions (rows 34 and 38). Protected actions put Conditional Access on permissions such as policy create, update and delete; exclude an emergency account; need P1; a policy that is off or report-only is never satisfied. The brief's Policy.Read.All: Learn lists narrower permissions for reading contexts and strengths, and the code uses them. Other verified facts: the built-in phishing-resistant strength is Windows Hello for Business or platform credential, FIDO2 security key, or multifactor CBA, and can't combine with "Require MFA"; report-only policies are evaluated, not enforced, not for user actions, and the policy impact view is preview.
Sources: Microsoft Learn, "signInFrequencySessionControl resource type," https://learn.microsoft.com/graph/api/resources/signinfrequencysessioncontrol?view=graph-rest-1.0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 Microsoft Learn, "Conditional Access adaptive session lifetime policies," user sign-in frequency, https://learn.microsoft.com/entra/identity/conditional-access/concept-session-lifetime (accessed Oct 30, 2026). · Microsoft Learn, "Create authenticationContextClassReference" (beta), request body, https://learn.microsoft.com/graph/api/conditionalaccessroot-post-authenticationcontextclassreferences?view=graph-rest-beta (accessed Oct 30, 2026). · Microsoft Learn, "Conditional Access: Target resources," authentication context, https://learn.microsoft.com/entra/identity/conditional-access/concept-conditional-access-cloud-apps (accessed Oct 30, 2026). · Microsoft Learn, "What are protected actions in Microsoft Entra ID?," https://learn.microsoft.com/entra/identity/role-based-access-control/protected-actions-overview (accessed Oct 30, 2026). · Microsoft Learn, "Add, test, or remove protected actions in Microsoft Entra ID," Microsoft Graph, https://learn.microsoft.com/entra/identity/role-based-access-control/protected-actions-add (accessed Oct 30, 2026). · Microsoft Learn, "List authenticationContextClassReferences," https://learn.microsoft.com/graph/api/conditionalaccessroot-list-authenticationcontextclassreferences?view=graph-rest-1.0 (accessed Oct 30, 2026). · Microsoft Learn, "List authenticationStrengthPolicies," https://learn.microsoft.com/graph/api/authenticationstrengthroot-list-policies?view=graph-rest-1.0 (accessed Oct 30, 2026).
Workbook: Building Privileged Access, Chapter 03 — “Verified facts” — where the sources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it, and identity engineers and the I S S O's review every Conditional Access change it makes. The permissions split cleanly into two tasks. Reading needs three read permissions, and the code picks narrower ones than the obvious broad choice. Applying adds exactly two write permissions, and nothing else. Learn notes a known issue that may ask for more consent on create, and the test-tenant lab records whether it does. A test keeps each task's permissions equal to the calls it makes.
Detail: Audience: developers who build the project's foundation, and the identity engineers and ISSOs who review Conditional Access changes. You should read PowerShell 7 and the Graph conditionalAccessPolicy JSON. You don't need a tenant until Lab 2. Least privilege: List policies, Policy.Read.All (Global Reader or Security Reader), read. List authentication contexts, AuthenticationContext.Read.All (Global Reader or Security Reader), read. List authentication strengths, Policy.Read.AuthenticationMethod (Security Reader), read. Get a template, Policy.Read.All (Global Reader or Security Reader), read. Create or update a policy, Policy.Read.All and Policy.ReadWrite.ConditionalAccess (Conditional Access Administrator or Security Administrator), -Apply. Create or update an authentication context, AuthenticationContext.ReadWrite.All (Conditional Access Administrator or Security Administrator), -Apply. Create an authentication strength, Policy.ReadWrite.ConditionalAccess (Conditional Access Administrator or Security Administrator), -Apply. The read task needs three read permissions. Policy.Read.All alone isn't listed for authentication contexts, and is a higher-privileged choice for strengths, so the code declares the narrower two. -Apply adds Policy.ReadWrite.ConditionalAccess and AuthenticationContext.ReadWrite.All, and nothing else. Learn's create and update pages, and the create-or-update page for authentication contexts, note a known issue that may require consent to more permissions; Lab 2 records whether it does (research gaps, row 35). A test keeps each task's permissions equal to the union of its calls. The tests: the 35 in tests/ConditionalAccess.Tests.ps1: 7 on Microsoft's template as published, then the calls and clouds, each rule on the repository and on a file changed in memory, the plan and the dry run, two applies against the fake, the refusals, and the entry script's manifest and exit code. With Chapters 01 and 02, 113 Pester tests pass under PowerShell 7, with no module, tenant or network.
Sources: Microsoft Learn, "List policies" (conditionalAccessRoot), https://learn.microsoft.com/graph/api/conditionalaccessroot-list-policies?view=graph-rest-1.0 (accessed Oct 30, 2026). · Microsoft Learn, "Create conditionalAccessPolicy," permissions and examples, https://learn.microsoft.com/graph/api/conditionalaccessroot-post-policies?view=graph-rest-1.0 (accessed Oct 30, 2026). · Microsoft Learn, "Update conditionalaccesspolicy," permissions and request body, https://learn.microsoft.com/graph/api/conditionalaccesspolicy-update?view=graph-rest-1.0 (accessed Oct 30, 2026). · Microsoft Learn, "List authenticationContextClassReferences," https://learn.microsoft.com/graph/api/conditionalaccessroot-list-authenticationcontextclassreferences?view=graph-rest-1.0 (accessed Oct 30, 2026). · Microsoft Learn, "Create or Update authenticationContextClassReference," https://learn.microsoft.com/graph/api/authenticationcontextclassreference-update?view=graph-rest-1.0 (accessed Oct 31, 2026). · Microsoft Learn, "List authenticationStrengthPolicies," https://learn.microsoft.com/graph/api/authenticationstrengthroot-list-policies?view=graph-rest-1.0 (accessed Oct 30, 2026). · Microsoft Learn, "Create authenticationStrengthPolicy," https://learn.microsoft.com/graph/api/authenticationstrengthroot-post-policies?view=graph-rest-1.0 (accessed Oct 30, 2026). · Microsoft Learn, "Get conditionalAccessTemplate," https://learn.microsoft.com/graph/api/conditionalaccesstemplate-get?view=graph-rest-1.0 (accessed Oct 30, 2026).
Workbook: Building Privileged Access, Chapter 03 — “Goal and audience”; “Least privilege”;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no tenant. You run the tests on Microsoft's template as published, list the permissions for reading and for applying, and run the pre-merge check on the repository's own files. It passes with the five expected warnings; a real finding would fail the pipeline. Then the revealing step: run the same check on Microsoft's template. It comes back with two findings and two warnings, the missing emergency exclusion, the display text, the plain multifactor grant, and twelve of the fourteen roles missing.
Detail: You need PowerShell 7.1 or later with Pester 5. Work in examples/privileged-access. Step 1, check Microsoft's template as published: Invoke-Pester -Path tests/ConditionalAccess.Tests.ps1 -FullNameFilter '*Get conditionalAccessTemplate*' -Output None -PassThru | Select-Object PassedCount, FailedCount gives PassedCount 7, FailedCount 0. Step 2, list the permissions each task needs: Import-Module ./powershell/PaConditionalAccess/PaConditionalAccess.psm1, then (Get-PaCaRequiredPermission -Task ca-read).GraphPermissions -join ', ' and (Get-PaCaRequiredPermission -Task ca-apply).GraphPermissions -join ', ' give AuthenticationContext.Read.All, Policy.Read.All, Policy.Read.AuthenticationMethod, then the same three with AuthenticationContext.ReadWrite.All and Policy.ReadWrite.ConditionalAccess. Step 3, run the pre-merge check on the repository's files: ./Invoke-PaCaAdmin.ps1 -CheckOnly -MapPath tests/fixtures/ch03/tenant-map.json gives "Pre-merge check: 0 Finding, 5 Warn, 0 Info". A Finding would print its rule and file and exit with code 1, which fails the pipeline. Step 4, run the same check on Microsoft's template: $t = Read-PaCaTemplatePage -Path ../third_party/conditional-access-template-page/conditionalaccesstemplate-get.md; $repo = Read-PaCaRepository -Path ca-policies -MapPath tests/fixtures/ch03/tenant-map.json; Test-PaCaPolicyBody -Body (ConvertFrom-PaCaTemplate -Template $t) -Repository $repo | Format-Table Rule, Severity. Four rows: PA-CA-01 Finding (no emergency exclusion), PA-CA-03 Finding (the display text in excludeUsers), PA-CA-06 Warn (plain MFA) and PA-CA-07 Warn (12 of Learn's 14 roles missing). Illustrative code: the commands check Microsoft's pinned template and the repository's files, and plan against a fictional tenant served by a fake. They show what the code does, not that a tenant accepts the same JSON. This code writes Conditional Access policies when given -Apply. Review it and the files, and run Lab 2 in a test tenant, before it goes near production.
Sources: Building Privileged Access, Chapter 03, docs/project-plans/developer-workbooks/privileged-access/03-conditional-access-for-administrators.md
Workbook: Building Privileged Access, Chapter 03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you plan against a fictional tenant without sending anything. The plan explains itself: the context and strength get created, two objects get small updates, one matches, and three policies are blocked, because the strength and context they need don't exist yet. A portal-made policy is reported, never deleted. Then you apply to the fake three times. The first run creates the building blocks, the second creates the three blocked policies in report-only, and the third finds nothing to do. That's what a safe, repeatable write looks like.
Detail: Step 5, plan against the fictional tenant, sending nothing: ./Invoke-PaCaAdmin.ps1 -Cloud gcc -MapPath tests/fixtures/ch03/tenant-map.json -FixturePath tests/fixtures/ch03/tenant.json -OutputPath out/ca, then Get-Content out/ca/plan.json -Raw | ConvertFrom-Json | Format-Table Kind, Name, Action. Output: "Pre-merge check: 0 Finding, 5 Warn, 0 Info"; "Plan: 3 Blocked, 4 Create, 1 NoChange, 1 NotInRepository, 2 Update"; "Dry run: 6 request(s) written to requests.json, none sent; rerun with -Apply to send them"; "Written to out/ca (manifest.json lists every request and file hash)." Context c1 and the strength are Create; c2 is Update (its description). CA004 is Update (its persistent browser control), CA005 is NoChange, and CA025 and CA027 are Create. CA003, PIM-Activation-c1 and ProtectedActions-c2 are Blocked: the strength, and for the context policies c1, don't exist yet. CA001 is NotInRepository. manifest.json lists five GETs and no write. Step 6, apply against the fake, three times: $fake = New-PaCaFixtureInvoker -Path tests/fixtures/ch03/tenant.json -Cloud gcc; $findings = Test-PaCaRepository -Repository $repo; then for runs 1 to 3, New-PaCaClient -Cloud gcc -Invoke $fake.Invoke -Apply, Get-PaCaPlan against Get-PaCaTenant, and Invoke-PaCaPlan with the findings and the emergency group ID, counting the requests Sent. Output: Run 1: 6 sent, Run 2: 3 sent, Run 3: 0 sent, then enabledForReportingButNotEnforced for PIM-Activation-c1. The first run creates the contexts and the strength; the second the three policies that needed them, report-only; the third finds nothing to do. CA001 is still there. Step 7, run the tests: Invoke-Pester -Path tests. Expected result: 330 tests passing, and each row of the gap table seen with your own eyes. Delete out when you're done.
Sources: Building Privileged Access, Chapter 03, docs/project-plans/developer-workbooks/privileged-access/03-conditional-access-for-administrators.md
Workbook: Building Privileged Access, Chapter 03 — “Lab 1: fixtures, no tenant,” steps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and it's careful about order. Build Chapter 2's emergency accounts first, and register phishing-resistant methods for your test administrators before anything is enforced, because Learn warns you can lock yourself out. Then write your map, register a read-only app, and read the plan. Add the write permissions and apply: every new policy lands in report-only. Watch the results for at least a week. Then enforce the gate on its own, in a separate change. Backing out means turning policies off, never deleting.
Detail: Use a test tenant in the worldwide or GCC cloud with Microsoft Entra ID P1, never production. Build Chapter 02's emergency accounts and exclusion group first, and confirm one emergency account can sign in. Register at least one phishing-resistant method for each test administrator before any policy here is enforced: Learn warns that enabling the policy first risks locking you out. Don't select c1 in PIM in this lab; Chapter 04 does that. 1 Write your map: copy tests/fixtures/ch03/tenant-map.json and put in the test tenant's object IDs: the emergency group, the admins persona group, the Azure operators group, the trusted network location and your key models' AAGUIDs. 2 Register the app in the worldwide admin center with a certificate, and grant only the three read permissions from Lab 1, step 2, with admin consent. 3 Plan, sending nothing: Connect-MgGraph -Environment Global -TenantId &lt;tenant-id&gt; -ClientId &lt;app-id&gt; -CertificateThumbprint &lt;thumbprint&gt;; ./Invoke-PaCaAdmin.ps1 -Cloud gcc -MapPath my-map.json -OutputPath out/ca-test -TenantId &lt;tenant-id&gt;. Read plan.json and requests.json. Every policy that already exists should show only the changes you expect. 4 Apply, report-only: add Policy.ReadWrite.ConditionalAccess and AuthenticationContext.ReadWrite.All to the app, reconnect, and run step 3 again with -Apply, then once more. Confirm in the admin center that every new policy is Report-only. Record whether Graph accepted PIM-Activation-c1's every-time sign-in frequency (research gaps, row 32) and whether any create asked for another permission (row 35). 5 Watch report-only: sign in as a test administrator and as an emergency account, then read each policy's report-only result in the sign-in log and the policy impact view (preview). Book 04, Chapter 07 asks for at least seven days before enforcement. 6 Enforce the gate alone: in a separate change, set PIM-Activation-c1's file to enabled and run with -Apply -AllowEnforce. The plan shows it as Update with the state change; everything else stays as it was. PA-CA-04 clears for that policy. 7 Back it out: set each file this lab created to disabled and run with -Apply (turning a policy off needs no -AllowEnforce), or turn them off in the admin center. The code doesn't delete; if you delete the policies by hand in the test tenant, Learn's 30-day restore applies. Set the contexts' isAvailable to false. Remove the two write permissions, delete the app and its certificate, and delete out/ca-test.
Sources: Microsoft Learn, "Require phishing-resistant multifactor authentication for administrators," https://learn.microsoft.com/entra/identity/conditional-access/policy-admin-phish-resistant-mfa (accessed Oct 30, 2026). · Microsoft Learn, "Analyze Conditional Access policy impact," https://learn.microsoft.com/entra/identity/conditional-access/concept-conditional-access-report-only (accessed Oct 30, 2026).
Workbook: Building Privileged Access, Chapter 03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and the theme is that nothing important depends on someone remembering. The worst is enforcing a policy before the emergency accounts work, which is the same lockout as Chapter 2, just by a different route. The quietest is selecting the gate in PIM while its policy is still report-only: you get no gate and no fallback either. Others are about speed and reach: switching policies straight on, a pipeline that deletes, and a write permission left lying on the app after the change is done.
Detail: A policy enforced before the emergency accounts work: the documented lockout, by Conditional Access instead of PIM; guard: Chapter 02 first, PA-CA-01 before merge, and -Apply refuses a write without the exclusion. Microsoft's template created as published: no emergency exclusion, display text where an ID belongs, plain MFA; guard: PA-CA-01, PA-CA-03, PA-CA-06, and the template is a model, not a file. A policy switched straight to On: users blocked with no measurement; guard: every Create is report-only, and enforcement needs -AllowEnforce in its own change. c1 selected in PIM while its policy is report-only: no gate, and no MFA fallback either; guard: PA-CA-04 warns until it is On, and Chapter 04 checks the state before it selects c1. The gate scoped to a directory role: it never applies at activation; guard: PA-CA-05. Administrators without a phishing-resistant method when CA003 is enforced: they can't sign in; guard: Lab 2's registration step, the report-only week, and Book 04's readiness gate. A pipeline that deletes a policy no file names: a portal-made policy, perhaps a needed one, disappears; guard: no DELETE in the call list, and NotInRepository is reported only. A compliant-device policy in report-only: Mac, iOS and Android users prompted for a certificate; guard: PA-CA-09 warns; exclude those platforms in the report-only phase if the prompts matter. Whoever edits Conditional Access edits the gate: the gate is weakened or removed; guard: protected actions on c2 (Book 04, Chapter 08, Step 6), and the planned Chapter 08 compares the tenant with these files. The write permission left on the app: a standing write path to Conditional Access; guard: grant it only for -Apply runs, from the pipeline identity, and Lab 2 removes it.
Sources: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 Microsoft Learn, "Require phishing-resistant multifactor authentication for administrators," https://learn.microsoft.com/entra/identity/conditional-access/policy-admin-phish-resistant-mfa (accessed Oct 30, 2026). · Microsoft Learn, "Analyze Conditional Access policy impact," https://learn.microsoft.com/entra/identity/conditional-access/concept-conditional-access-report-only (accessed Oct 30, 2026).
Workbook: Building Privileged Access, Chapter 03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file side: the check runs on every pull request with no findings, every file carries the emergency exclusion, the administrator policy covers all fourteen roles, and the activation gate is switched on before anyone selects it. On the run side: every plan was read as a dry run first, every new policy landed in report-only, each enforcement was its own reviewed change, and only the pipeline holds write access. Next, Chapter 4 builds PIM for Microsoft Entra roles as code, and selects this gate. Thanks for watching.
Detail: Checklist: the pre-merge check runs on every pull request that touches ca-policies/ and has no Finding. Every policy file excludes the emergency access group, except a report-only instrument named in ca-config.json. CA003 targets all 14 roles Learn recommends, and the persona group. PIM-Activation-c1 targets all users and context c1 only, requires the strength and a compliant device, and is On before Chapter 04 selects c1. Every plan was read as a dry run before the same plan was applied. Every new policy appeared in the tenant as report-only, and each enforcement was its own reviewed change with -AllowEnforce. The read app holds the three read permissions; the write permissions exist only on the pipeline identity that applies. The pinned Learn page matches its manifest, and every upstream commit since the pin has been reviewed. Next: Chapter 04 — PIM for Microsoft Entra Roles as Code.
Sources: Microsoft Learn, "Require phishing-resistant multifactor authentication for administrators," https://learn.microsoft.com/entra/identity/conditional-access/policy-admin-phish-resistant-mfa (accessed Oct 30, 2026).
Workbook: Building Privileged Access, Chapter 03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docs/project-plans/developer-workbooks/privileged-access/03-conditional-access-for-administrators.md.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docs/project-plans/developer-workbooks/privileged-access/03-conditional-access-for-administrators.md.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03: Conditional Access and the Activation Gate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the order matters · Microsoft's template and its gaps · files, check, plan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first writes to a tenant: what Book 04 asks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Three pieces of Book 04 meet here, and this is the first code in the book that can write.</a:t>
            </a:r>
            <a:endParaRPr lang="en-US" sz="18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48640" y="1837944"/>
          <a:ext cx="11109960" cy="2328672"/>
        </p:xfrm>
        <a:graphic>
          <a:graphicData uri="http://schemas.openxmlformats.org/drawingml/2006/table">
            <a:tbl>
              <a:tblPr firstRow="1" bandRow="1"/>
              <a:tblGrid>
                <a:gridCol w="2926080"/>
                <a:gridCol w="818388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Book 04</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What it asks for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Chapter 07, Wave 2</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administrator policy set: CA003 (phishing-resistant MFA by group and by role), CA004 (compliant device), CA005 (trusted networks), CA025 (PAW only), CA027 (Azure management for operators only)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1838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Chapter 08, Step 2</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activation gate: authentication context c1 and its policy PIM-Activation-c1, a fresh phishing-resistant proof from a compliant device at the moment of elevation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Appendix A</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JSON for both, and the custom strength FMP-Privileged-SeparateDevice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llout" descr="">
            <a:extLst>
              <a:ext uri="{C183D7F6-B498-43B3-948B-1728B52AA6E4}">
                <adec:decorative xmlns:adec="http://schemas.microsoft.com/office/drawing/2017/decorative" val="1"/>
              </a:ext>
            </a:extLst>
          </p:cNvPr>
          <p:cNvSpPr/>
          <p:nvPr/>
        </p:nvSpPr>
        <p:spPr>
          <a:xfrm>
            <a:off x="548640" y="4349496"/>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ShieldHalved" descr="">
            <a:extLst>
              <a:ext uri="{C183D7F6-B498-43B3-948B-1728B52AA6E4}">
                <adec:decorative xmlns:adec="http://schemas.microsoft.com/office/drawing/2017/decorative" val="1"/>
              </a:ext>
            </a:extLst>
          </p:cNvPr>
          <p:cNvSpPr/>
          <p:nvPr/>
        </p:nvSpPr>
        <p:spPr>
          <a:xfrm>
            <a:off x="749808" y="4422648"/>
            <a:ext cx="606552" cy="606552"/>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68220"/>
            <a:ext cx="315407" cy="315407"/>
          </a:xfrm>
          <a:prstGeom prst="rect">
            <a:avLst/>
          </a:prstGeom>
        </p:spPr>
      </p:pic>
      <p:sp>
        <p:nvSpPr>
          <p:cNvPr id="10" name="Callout text"/>
          <p:cNvSpPr txBox="1"/>
          <p:nvPr/>
        </p:nvSpPr>
        <p:spPr>
          <a:xfrm>
            <a:off x="1600200" y="4404360"/>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Design guidance: </a:t>
            </a:r>
            <a:pPr indent="0" marL="0">
              <a:buNone/>
            </a:pPr>
            <a:r>
              <a:rPr lang="en-US" sz="1750" dirty="0">
                <a:solidFill>
                  <a:srgbClr val="334155"/>
                </a:solidFill>
              </a:rPr>
              <a:t>it writes only with -Apply, creates every new policy report-only, enforces only with -AllowEnforce, and has no delete.</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 07 (Wave 2), Ch 08 (Step 2) and Appendix A. Chapter 03, “The context the code depends on,” “The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 sets the order: the gate before PIM selects 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nel The order" descr="">
            <a:extLst>
              <a:ext uri="{C183D7F6-B498-43B3-948B-1728B52AA6E4}">
                <adec:decorative xmlns:adec="http://schemas.microsoft.com/office/drawing/2017/decorative" val="1"/>
              </a:ext>
            </a:extLst>
          </p:cNvPr>
          <p:cNvSpPr/>
          <p:nvPr/>
        </p:nvSpPr>
        <p:spPr>
          <a:xfrm>
            <a:off x="548640" y="1325880"/>
            <a:ext cx="5417820" cy="2825496"/>
          </a:xfrm>
          <a:prstGeom prst="roundRect">
            <a:avLst>
              <a:gd name="adj" fmla="val 258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order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ORDER</a:t>
            </a:r>
            <a:endParaRPr lang="en-US" sz="1100" dirty="0"/>
          </a:p>
        </p:txBody>
      </p:sp>
      <p:sp>
        <p:nvSpPr>
          <p:cNvPr id="7" name="Panel The order list"/>
          <p:cNvSpPr txBox="1"/>
          <p:nvPr/>
        </p:nvSpPr>
        <p:spPr>
          <a:xfrm>
            <a:off x="731520" y="1737360"/>
            <a:ext cx="5097780" cy="236829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Create and enable the policy for an authentication context before you select that context in PIM</a:t>
            </a:r>
            <a:endParaRPr lang="en-US" sz="1650" dirty="0"/>
          </a:p>
          <a:p>
            <a:pPr marL="342900" indent="-342900">
              <a:spcAft>
                <a:spcPts val="400"/>
              </a:spcAft>
              <a:buSzPct val="100000"/>
              <a:buChar char="•"/>
            </a:pPr>
            <a:r>
              <a:rPr lang="en-US" sz="1650" dirty="0">
                <a:solidFill>
                  <a:srgbClr val="334155"/>
                </a:solidFill>
              </a:rPr>
              <a:t>With no policy targeting the context, PIM falls back to requiring MFA</a:t>
            </a:r>
            <a:endParaRPr lang="en-US" sz="1650" dirty="0"/>
          </a:p>
          <a:p>
            <a:pPr marL="342900" indent="-342900">
              <a:spcAft>
                <a:spcPts val="400"/>
              </a:spcAft>
              <a:buSzPct val="100000"/>
              <a:buChar char="•"/>
            </a:pPr>
            <a:r>
              <a:rPr lang="en-US" sz="1650" dirty="0">
                <a:solidFill>
                  <a:srgbClr val="334155"/>
                </a:solidFill>
              </a:rPr>
              <a:t>The fallback doesn't trigger when the policy is off, report-only, or excludes the eligible user</a:t>
            </a:r>
            <a:endParaRPr lang="en-US" sz="1650" dirty="0"/>
          </a:p>
        </p:txBody>
      </p:sp>
      <p:sp>
        <p:nvSpPr>
          <p:cNvPr id="8" name="Panel Two traps" descr="">
            <a:extLst>
              <a:ext uri="{C183D7F6-B498-43B3-948B-1728B52AA6E4}">
                <adec:decorative xmlns:adec="http://schemas.microsoft.com/office/drawing/2017/decorative" val="1"/>
              </a:ext>
            </a:extLst>
          </p:cNvPr>
          <p:cNvSpPr/>
          <p:nvPr/>
        </p:nvSpPr>
        <p:spPr>
          <a:xfrm>
            <a:off x="6240780" y="1325880"/>
            <a:ext cx="5417820" cy="2825496"/>
          </a:xfrm>
          <a:prstGeom prst="roundRect">
            <a:avLst>
              <a:gd name="adj" fmla="val 258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Panel Two trap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TWO TRAPS</a:t>
            </a:r>
            <a:endParaRPr lang="en-US" sz="1100" dirty="0"/>
          </a:p>
        </p:txBody>
      </p:sp>
      <p:sp>
        <p:nvSpPr>
          <p:cNvPr id="10" name="Panel Two traps list"/>
          <p:cNvSpPr txBox="1"/>
          <p:nvPr/>
        </p:nvSpPr>
        <p:spPr>
          <a:xfrm>
            <a:off x="6423660" y="1737360"/>
            <a:ext cx="5097780" cy="236829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Don't scope the policy to both the context and a directory role: at activation the user doesn't hold the role yet</a:t>
            </a:r>
            <a:endParaRPr lang="en-US" sz="1650" dirty="0"/>
          </a:p>
          <a:p>
            <a:pPr marL="342900" indent="-342900">
              <a:spcAft>
                <a:spcPts val="400"/>
              </a:spcAft>
              <a:buSzPct val="100000"/>
              <a:buChar char="•"/>
            </a:pPr>
            <a:r>
              <a:rPr lang="en-US" sz="1650" dirty="0">
                <a:solidFill>
                  <a:srgbClr val="334155"/>
                </a:solidFill>
              </a:rPr>
              <a:t>Whoever can edit Conditional Access can weaken the gate; treat those roles as highly privileged</a:t>
            </a:r>
            <a:endParaRPr lang="en-US" sz="1650" dirty="0"/>
          </a:p>
        </p:txBody>
      </p:sp>
      <p:sp>
        <p:nvSpPr>
          <p:cNvPr id="11" name="Callout" descr="">
            <a:extLst>
              <a:ext uri="{C183D7F6-B498-43B3-948B-1728B52AA6E4}">
                <adec:decorative xmlns:adec="http://schemas.microsoft.com/office/drawing/2017/decorative" val="1"/>
              </a:ext>
            </a:extLst>
          </p:cNvPr>
          <p:cNvSpPr/>
          <p:nvPr/>
        </p:nvSpPr>
        <p:spPr>
          <a:xfrm>
            <a:off x="548640" y="4334256"/>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407408"/>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552980"/>
            <a:ext cx="315407" cy="315407"/>
          </a:xfrm>
          <a:prstGeom prst="rect">
            <a:avLst/>
          </a:prstGeom>
        </p:spPr>
      </p:pic>
      <p:sp>
        <p:nvSpPr>
          <p:cNvPr id="14" name="Callout text"/>
          <p:cNvSpPr txBox="1"/>
          <p:nvPr/>
        </p:nvSpPr>
        <p:spPr>
          <a:xfrm>
            <a:off x="1600200" y="4389120"/>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So: </a:t>
            </a:r>
            <a:pPr indent="0" marL="0">
              <a:buNone/>
            </a:pPr>
            <a:r>
              <a:rPr lang="en-US" sz="1750" dirty="0">
                <a:solidFill>
                  <a:srgbClr val="334155"/>
                </a:solidFill>
              </a:rPr>
              <a:t>this chapter builds the gate and leaves it unselected. Chapter 04 selects c1 in PIM's role settings, only after this chapter's run shows PIM-Activation-c1 is 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Microsoft Entra role settings in PIM (authentication context on activation). Chapter 03,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v1.0 on the worldwide host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2377440"/>
                <a:gridCol w="4480560"/>
                <a:gridCol w="425196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 365 GCC with commercial Azure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GCC High and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Graph host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graph.microsoft.us (GCC High); dod-graph.microsoft.us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API stage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v1.0 for every call, apart from the protected actions API, which is beta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same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Policies, contexts, strengths, templates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Global service, US Government L4 and L5 in each national cloud table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same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Conditional Access and PIM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Available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Available in Azure for US Government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CA025 and CA027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Windows Azure Service Management API</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different application; a GCC High program changes those two files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597908"/>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671060"/>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16632"/>
            <a:ext cx="315407" cy="315407"/>
          </a:xfrm>
          <a:prstGeom prst="rect">
            <a:avLst/>
          </a:prstGeom>
        </p:spPr>
      </p:pic>
      <p:sp>
        <p:nvSpPr>
          <p:cNvPr id="9" name="Callout text"/>
          <p:cNvSpPr txBox="1"/>
          <p:nvPr/>
        </p:nvSpPr>
        <p:spPr>
          <a:xfrm>
            <a:off x="1600200" y="4652772"/>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tenant is GCC on the worldwide endpoints. The code takes gcc as an explicit cloud name and has no default.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Graph national cloud deployments; the policy, context, strength and template method pages; Entra feature availability. Chapter 03, “Which cloud, for these calls.”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Microsoft's template for administrators, pinned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Microsoft gives you" descr="">
            <a:extLst>
              <a:ext uri="{C183D7F6-B498-43B3-948B-1728B52AA6E4}">
                <adec:decorative xmlns:adec="http://schemas.microsoft.com/office/drawing/2017/decorative" val="1"/>
              </a:ext>
            </a:extLst>
          </p:cNvPr>
          <p:cNvSpPr/>
          <p:nvPr/>
        </p:nvSpPr>
        <p:spPr>
          <a:xfrm>
            <a:off x="548640" y="1325880"/>
            <a:ext cx="5417820" cy="3392424"/>
          </a:xfrm>
          <a:prstGeom prst="roundRect">
            <a:avLst>
              <a:gd name="adj" fmla="val 21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Admin center templates by scenario; "Protect administrator" includes phishing-resistant MFA for administrators</a:t>
            </a:r>
            <a:endParaRPr lang="en-US" sz="1500" dirty="0"/>
          </a:p>
          <a:p>
            <a:pPr marL="342900" indent="-342900">
              <a:spcAft>
                <a:spcPts val="400"/>
              </a:spcAft>
              <a:buSzPct val="100000"/>
              <a:buChar char="•"/>
            </a:pPr>
            <a:r>
              <a:rPr lang="en-US" sz="1500" dirty="0">
                <a:solidFill>
                  <a:srgbClr val="334155"/>
                </a:solidFill>
              </a:rPr>
              <a:t>That policy's page: at least 14 roles, exclude emergency accounts, the built-in phishing-resistant strength, report-only first</a:t>
            </a:r>
            <a:endParaRPr lang="en-US" sz="1500" dirty="0"/>
          </a:p>
          <a:p>
            <a:pPr marL="342900" indent="-342900">
              <a:spcAft>
                <a:spcPts val="400"/>
              </a:spcAft>
              <a:buSzPct val="100000"/>
              <a:buChar char="•"/>
            </a:pPr>
            <a:r>
              <a:rPr lang="en-US" sz="1500" dirty="0">
                <a:solidFill>
                  <a:srgbClr val="334155"/>
                </a:solidFill>
              </a:rPr>
              <a:t>It warns: built-in roles only; register phishing-resistant methods first, or risk locking yourself out</a:t>
            </a:r>
            <a:endParaRPr lang="en-US" sz="1500" dirty="0"/>
          </a:p>
          <a:p>
            <a:pPr marL="342900" indent="-342900">
              <a:spcAft>
                <a:spcPts val="400"/>
              </a:spcAft>
              <a:buSzPct val="100000"/>
              <a:buChar char="•"/>
            </a:pPr>
            <a:r>
              <a:rPr lang="en-US" sz="1500" dirty="0">
                <a:solidFill>
                  <a:srgbClr val="334155"/>
                </a:solidFill>
              </a:rPr>
              <a:t>Graph: GET /identity/conditionalAccess/templates/{id}, Policy.Read.All; Learn shows "Require multifactor authentication for admins" in full</a:t>
            </a:r>
            <a:endParaRPr lang="en-US" sz="150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392424"/>
          </a:xfrm>
          <a:prstGeom prst="roundRect">
            <a:avLst>
              <a:gd name="adj" fmla="val 215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only administrator policy JSON on Learn in Graph form; Create's examples cover Exchange Online</a:t>
            </a:r>
            <a:endParaRPr lang="en-US" sz="1500" dirty="0"/>
          </a:p>
          <a:p>
            <a:pPr marL="342900" indent="-342900">
              <a:spcAft>
                <a:spcPts val="400"/>
              </a:spcAft>
              <a:buSzPct val="100000"/>
              <a:buChar char="•"/>
            </a:pPr>
            <a:r>
              <a:rPr lang="en-US" sz="1500" dirty="0">
                <a:solidFill>
                  <a:srgbClr val="334155"/>
                </a:solidFill>
              </a:rPr>
              <a:t>No other sample: Azure-Samples has none; ConditionalAccessforZeroTrustResources is DSC and Terraform, unchanged since Feb 2024</a:t>
            </a:r>
            <a:endParaRPr lang="en-US" sz="1500" dirty="0"/>
          </a:p>
          <a:p>
            <a:pPr marL="342900" indent="-342900">
              <a:spcAft>
                <a:spcPts val="400"/>
              </a:spcAft>
              <a:buSzPct val="100000"/>
              <a:buChar char="•"/>
            </a:pPr>
            <a:r>
              <a:rPr lang="en-US" sz="1500" dirty="0">
                <a:solidFill>
                  <a:srgbClr val="334155"/>
                </a:solidFill>
              </a:rPr>
              <a:t>conditionalaccesstemplate-get.md at commit a693031 (Oct 30, 2026), CC BY 4.0 and MIT; hashes tested; weekly source watch</a:t>
            </a:r>
            <a:endParaRPr lang="en-US" sz="1500" dirty="0"/>
          </a:p>
          <a:p>
            <a:pPr marL="342900" indent="-342900">
              <a:spcAft>
                <a:spcPts val="400"/>
              </a:spcAft>
              <a:buSzPct val="100000"/>
              <a:buChar char="•"/>
            </a:pPr>
            <a:r>
              <a:rPr lang="en-US" sz="1500" dirty="0">
                <a:solidFill>
                  <a:srgbClr val="334155"/>
                </a:solidFill>
              </a:rPr>
              <a:t>Read-PaCaTemplatePage extracts it; ConvertFrom-PaCaTemplate adds only name and report-only state, and fixes nothing</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CA templates; Phishing-resistant MFA for admins; Get conditionalAccessTemplate; Create policy; graph-docs at a693031. Chapter 03,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template misses: roles, strength, IDs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21380"/>
        </p:xfrm>
        <a:graphic>
          <a:graphicData uri="http://schemas.openxmlformats.org/drawingml/2006/table">
            <a:tbl>
              <a:tblPr firstRow="1" bandRow="1"/>
              <a:tblGrid>
                <a:gridCol w="3291840"/>
                <a:gridCol w="4023360"/>
                <a:gridCol w="3794760"/>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Microsoft's template,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Targets administrators by role, all resources, all client apps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CA003 targets roles and all resources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Learn marks the response as possibly shortened; it lists 2 roles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Learn's procedure names 14 at a minimum; a copy covers two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CA003 lists Book 04's 15 (Learn's 14 plus Hybrid Identity Administrator); PA-CA-07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Grants plain MFA, with no authentication strength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 recommends the phishing-resistant strength; plain MFA and a strength can't combine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FMP-Privileged-SeparateDevice as a reviewed file; PA-CA-06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Excludes "Current administrator will be excluded": display text where an object ID belongs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admin center replaces it; a script doesn't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PA-CA-03 fails any user target that isn't an object ID or a Graph keyword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Require phishing-resistant MFA for administrators; Conditional Access authentication strengths. Chapter 03,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template misses: exclusion, state, gate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79420"/>
        </p:xfrm>
        <a:graphic>
          <a:graphicData uri="http://schemas.openxmlformats.org/drawingml/2006/table">
            <a:tbl>
              <a:tblPr firstRow="1" bandRow="1"/>
              <a:tblGrid>
                <a:gridCol w="3108960"/>
                <a:gridCol w="3931920"/>
                <a:gridCol w="4069080"/>
              </a:tblGrid>
              <a:tr h="55168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Microsoft's template,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Doesn't exclude the emergency access group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emergency accounts must stay out of every policy that blocks or restricts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PA-CA-01 before merge; Invoke-PaCaPlan refuses to write a policy without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Carries no 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in it says to start in report-only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new policy created report-only, whatever its file says; enforcing needs -AllowEnforce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Targets no authentication context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activation gate isn't in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Contexts c1 and c2, PIM-Activation-c1 and ProtectedActions-c2; PA-CA-04, 05 and 08</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 read; nothing compares it with a tenant or writes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policy changed in the portal drifts unseen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Get-PaCaPlan: a diff by property, a dry run, writes only with -Apply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488180"/>
            <a:ext cx="11109960" cy="752856"/>
          </a:xfrm>
          <a:prstGeom prst="roundRect">
            <a:avLst>
              <a:gd name="adj" fmla="val 971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4561332"/>
            <a:ext cx="606552" cy="606552"/>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06904"/>
            <a:ext cx="315407" cy="315407"/>
          </a:xfrm>
          <a:prstGeom prst="rect">
            <a:avLst/>
          </a:prstGeom>
        </p:spPr>
      </p:pic>
      <p:sp>
        <p:nvSpPr>
          <p:cNvPr id="9" name="Callout text"/>
          <p:cNvSpPr txBox="1"/>
          <p:nvPr/>
        </p:nvSpPr>
        <p:spPr>
          <a:xfrm>
            <a:off x="1600200" y="4543044"/>
            <a:ext cx="9875520" cy="643128"/>
          </a:xfrm>
          <a:prstGeom prst="rect">
            <a:avLst/>
          </a:prstGeom>
          <a:noFill/>
          <a:ln/>
        </p:spPr>
        <p:txBody>
          <a:bodyPr wrap="square" lIns="0" tIns="0" rIns="0" bIns="0" rtlCol="0" anchor="ctr"/>
          <a:lstStyle/>
          <a:p>
            <a:pPr indent="0" marL="0">
              <a:buNone/>
            </a:pPr>
            <a:r>
              <a:rPr lang="en-US" sz="1750" b="1" dirty="0">
                <a:solidFill>
                  <a:srgbClr val="1F2A44"/>
                </a:solidFill>
              </a:rPr>
              <a:t>The verdict: </a:t>
            </a:r>
            <a:pPr indent="0" marL="0">
              <a:buNone/>
            </a:pPr>
            <a:r>
              <a:rPr lang="en-US" sz="1750" dirty="0">
                <a:solidFill>
                  <a:srgbClr val="334155"/>
                </a:solidFill>
              </a:rPr>
              <a:t>keep the template as the model for CA003's targeting. Don't create it as published: no emergency exclusion, text where an ID belongs, and plain MFA.</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(Conditional Access considerations). Chapter 03, “What it leaves to you,”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and the policy files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 new module, PaConditionalAccess, using Chapter 01's Get-PaCloud; calls-ch03.json; Invoke-PaCaAdmin.ps1.</a:t>
            </a:r>
            <a:endParaRPr lang="en-US" sz="18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426208"/>
        </p:xfrm>
        <a:graphic>
          <a:graphicData uri="http://schemas.openxmlformats.org/drawingml/2006/table">
            <a:tbl>
              <a:tblPr firstRow="1" bandRow="1"/>
              <a:tblGrid>
                <a:gridCol w="1645920"/>
                <a:gridCol w="6400800"/>
                <a:gridCol w="306324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Folder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Files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contexts/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c1 (FMP-PIM-Activation), c2 (FMP-ProtectedActions)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04, Ch 08, Steps 2 and 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strengths/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FMP-Privileged-SeparateDevice: FIDO2 keys from an approved list, or multifactor certificate-based authentication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Appendix A</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CA003, CA004, CA005, CA025, CA027</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Appendix A, Wave 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PIM-Activation-c1: all users but the emergency group, context c1, the strength </a:t>
                      </a:r>
                      <a:pPr indent="0" marL="0">
                        <a:buNone/>
                      </a:pPr>
                      <a:r>
                        <a:rPr lang="en-US" sz="1450" b="1" dirty="0">
                          <a:solidFill>
                            <a:srgbClr val="1F2A44"/>
                          </a:solidFill>
                          <a:latin typeface="Calibri" pitchFamily="34" charset="0"/>
                          <a:ea typeface="Calibri" pitchFamily="34" charset="-122"/>
                          <a:cs typeface="Calibri" pitchFamily="34" charset="-120"/>
                        </a:rPr>
                        <a:t>and</a:t>
                      </a:r>
                      <a:pPr indent="0" marL="0">
                        <a:buNone/>
                      </a:pPr>
                      <a:r>
                        <a:rPr lang="en-US" sz="1450" dirty="0">
                          <a:solidFill>
                            <a:srgbClr val="334155"/>
                          </a:solidFill>
                          <a:latin typeface="Calibri" pitchFamily="34" charset="0"/>
                          <a:ea typeface="Calibri" pitchFamily="34" charset="-122"/>
                          <a:cs typeface="Calibri" pitchFamily="34" charset="-120"/>
                        </a:rPr>
                        <a:t> a compliant device, sign-in frequency every time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04, Ch 08, Step 2; Learn's PIM settings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policies/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ProtectedActions-c2: the same controls on context c2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Book 04, Ch 08, Step 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List"/>
          <p:cNvSpPr txBox="1"/>
          <p:nvPr/>
        </p:nvSpPr>
        <p:spPr>
          <a:xfrm>
            <a:off x="548640" y="4721352"/>
            <a:ext cx="11109960" cy="83210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Appendix A's placeholders, such as {group:CA-Exclude-EmergencyAccess}, resolve from a per-tenant map</a:t>
            </a:r>
            <a:endParaRPr lang="en-US" sz="1500" dirty="0"/>
          </a:p>
          <a:p>
            <a:pPr marL="342900" indent="-342900">
              <a:spcAft>
                <a:spcPts val="400"/>
              </a:spcAft>
              <a:buSzPct val="100000"/>
              <a:buChar char="•"/>
            </a:pPr>
            <a:r>
              <a:rPr lang="en-US" sz="1500" dirty="0">
                <a:solidFill>
                  <a:srgbClr val="334155"/>
                </a:solidFill>
              </a:rPr>
              <a:t>{strength:...} resolves from the tenant by name, so a policy can't point at a strength that doesn't exist yet; CA026 isn't a file yet</a:t>
            </a:r>
            <a:endParaRPr lang="en-US" sz="15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Microsoft Entra role settings in PIM; Book 04, Ch 08 and Ch 10 and Appendix A. Chapter 03, “The code,” “The files.”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pre-merge check: PA-CA-01 to PA-CA-09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7640"/>
        </p:xfrm>
        <a:graphic>
          <a:graphicData uri="http://schemas.openxmlformats.org/drawingml/2006/table">
            <a:tbl>
              <a:tblPr firstRow="1" bandRow="1"/>
              <a:tblGrid>
                <a:gridCol w="1143000"/>
                <a:gridCol w="1417320"/>
                <a:gridCol w="5989320"/>
                <a:gridCol w="25603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policy not disabled that doesn't exclude the emergency group (Finding); a named report-only instrument without it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report-only instrument set to enabled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unresolved placeholder, or a user target that isn't an object ID or Graph keyword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authentication context policy that isn't 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authentication context policy that also targets directory roles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MFA and a strength together (Finding); administrator roles with plain MFA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policy targeting roles that leaves out any of Learn's 14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context outside c1 to c25, or one the repository doesn't define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Learn's stricter range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PA-CA-09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report-only compliant-device policy not excluding Android, iOS and macOS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(row 37)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48640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On the repository as merged: five Warn, decisions the rollout makes, not mistakes in the files.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emergency access; PIM role settings; protected actions; strengths; MFA for admins; context create (beta); report-only. Chapter 03, “The pre-merge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Report-only policies and the emergency exclusion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ere the sources differ (row 5)" descr="">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Panel Where the sources differ (row 5)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WHERE THE SOURCES DIFFER (ROW 5)</a:t>
            </a:r>
            <a:endParaRPr lang="en-US" sz="1100" dirty="0"/>
          </a:p>
        </p:txBody>
      </p:sp>
      <p:sp>
        <p:nvSpPr>
          <p:cNvPr id="7" name="Panel Where the sources differ (row 5)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Learn's emergency access page, three times: exclude from policies that block or restrict; report-only doesn't need it</a:t>
            </a:r>
            <a:endParaRPr lang="en-US" sz="1550" dirty="0"/>
          </a:p>
          <a:p>
            <a:pPr marL="342900" indent="-342900">
              <a:spcAft>
                <a:spcPts val="400"/>
              </a:spcAft>
              <a:buSzPct val="100000"/>
              <a:buChar char="•"/>
            </a:pPr>
            <a:r>
              <a:rPr lang="en-US" sz="1550" dirty="0">
                <a:solidFill>
                  <a:srgbClr val="334155"/>
                </a:solidFill>
              </a:rPr>
              <a:t>Book 04, Chapter 04 says the same</a:t>
            </a:r>
            <a:endParaRPr lang="en-US" sz="1550" dirty="0"/>
          </a:p>
          <a:p>
            <a:pPr marL="342900" indent="-342900">
              <a:spcAft>
                <a:spcPts val="400"/>
              </a:spcAft>
              <a:buSzPct val="100000"/>
              <a:buChar char="•"/>
            </a:pPr>
            <a:r>
              <a:rPr lang="en-US" sz="1550" dirty="0">
                <a:solidFill>
                  <a:srgbClr val="334155"/>
                </a:solidFill>
              </a:rPr>
              <a:t>Book 04, Chapter 10's check fails any enabled or report-only file without the group, and would fail CA090, the report-only probe</a:t>
            </a:r>
            <a:endParaRPr lang="en-US" sz="1550" dirty="0"/>
          </a:p>
          <a:p>
            <a:pPr marL="342900" indent="-342900">
              <a:spcAft>
                <a:spcPts val="400"/>
              </a:spcAft>
              <a:buSzPct val="100000"/>
              <a:buChar char="•"/>
            </a:pPr>
            <a:r>
              <a:rPr lang="en-US" sz="1550" dirty="0">
                <a:solidFill>
                  <a:srgbClr val="334155"/>
                </a:solidFill>
              </a:rPr>
              <a:t>Finding: Chapter 10 is stricter than Learn, not in conflict; the two Learn pages agree</a:t>
            </a:r>
            <a:endParaRPr lang="en-US" sz="1550" dirty="0"/>
          </a:p>
        </p:txBody>
      </p:sp>
      <p:sp>
        <p:nvSpPr>
          <p:cNvPr id="8" name="Panel What the code does (design guidance)" desc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anel What the code does (design guida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CODE DOES (DESIGN GUIDANCE)</a:t>
            </a:r>
            <a:endParaRPr lang="en-US" sz="1100" dirty="0"/>
          </a:p>
        </p:txBody>
      </p:sp>
      <p:sp>
        <p:nvSpPr>
          <p:cNvPr id="10" name="Panel What the code does (design guidance)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policy file carries the exclusion whatever its state: a file is enforced by changing one word</a:t>
            </a:r>
            <a:endParaRPr lang="en-US" sz="1550" dirty="0"/>
          </a:p>
          <a:p>
            <a:pPr marL="342900" indent="-342900">
              <a:spcAft>
                <a:spcPts val="400"/>
              </a:spcAft>
              <a:buSzPct val="100000"/>
              <a:buChar char="•"/>
            </a:pPr>
            <a:r>
              <a:rPr lang="en-US" sz="1550" dirty="0">
                <a:solidFill>
                  <a:srgbClr val="334155"/>
                </a:solidFill>
              </a:rPr>
              <a:t>Exception: a report-only instrument named in ca-config.json, like CA090, reported as Info</a:t>
            </a:r>
            <a:endParaRPr lang="en-US" sz="1550" dirty="0"/>
          </a:p>
          <a:p>
            <a:pPr marL="342900" indent="-342900">
              <a:spcAft>
                <a:spcPts val="400"/>
              </a:spcAft>
              <a:buSzPct val="100000"/>
              <a:buChar char="•"/>
            </a:pPr>
            <a:r>
              <a:rPr lang="en-US" sz="1550" dirty="0">
                <a:solidFill>
                  <a:srgbClr val="334155"/>
                </a:solidFill>
              </a:rPr>
              <a:t>PA-CA-02 fails it the moment it is set to enabled</a:t>
            </a:r>
            <a:endParaRPr lang="en-US" sz="1550" dirty="0"/>
          </a:p>
          <a:p>
            <a:pPr marL="342900" indent="-342900">
              <a:spcAft>
                <a:spcPts val="400"/>
              </a:spcAft>
              <a:buSzPct val="100000"/>
              <a:buChar char="•"/>
            </a:pPr>
            <a:r>
              <a:rPr lang="en-US" sz="1550" dirty="0">
                <a:solidFill>
                  <a:srgbClr val="334155"/>
                </a:solidFill>
              </a:rPr>
              <a:t>Whether Chapter 10's script gains the exception is the owner's decision (row 31)</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emergency access accounts; Analyze Conditional Access policy impact. Book 04, Ch 04, 07, 10. Chapter 03, “Report-only policies and the emergency exclusion.”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plan, the dry run and the writes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3864864"/>
        </p:xfrm>
        <a:graphic>
          <a:graphicData uri="http://schemas.openxmlformats.org/drawingml/2006/table">
            <a:tbl>
              <a:tblPr firstRow="1" bandRow="1"/>
              <a:tblGrid>
                <a:gridCol w="1583670"/>
                <a:gridCol w="383415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in the tenant; a policy is always created report-only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Update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Differs; the PATCH carries only changed top-level properties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Matches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Blocked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Needs a strength or context the tenant doesn't have yet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Held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File says enabled, tenant doesn't, no -AllowEnforce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Differs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strength that differs; strengths aren't updated (row 36)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NotInRepository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 the tenant, not in the files; reported, never deleted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How it runs" descr="">
            <a:extLst>
              <a:ext uri="{C183D7F6-B498-43B3-948B-1728B52AA6E4}">
                <adec:decorative xmlns:adec="http://schemas.microsoft.com/office/drawing/2017/decorative" val="1"/>
              </a:ext>
            </a:extLst>
          </p:cNvPr>
          <p:cNvSpPr/>
          <p:nvPr/>
        </p:nvSpPr>
        <p:spPr>
          <a:xfrm>
            <a:off x="6240780" y="1325880"/>
            <a:ext cx="5417820" cy="3864864"/>
          </a:xfrm>
          <a:prstGeom prst="roundRect">
            <a:avLst>
              <a:gd name="adj" fmla="val 189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How it run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HOW IT RUNS</a:t>
            </a:r>
            <a:endParaRPr lang="en-US" sz="1100" dirty="0"/>
          </a:p>
        </p:txBody>
      </p:sp>
      <p:sp>
        <p:nvSpPr>
          <p:cNvPr id="8" name="Panel How it runs list"/>
          <p:cNvSpPr txBox="1"/>
          <p:nvPr/>
        </p:nvSpPr>
        <p:spPr>
          <a:xfrm>
            <a:off x="6423660" y="1737360"/>
            <a:ext cx="5097780" cy="340766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Get-PaCaTenant: three GETs, every page, the cloud's own host</a:t>
            </a:r>
            <a:endParaRPr lang="en-US" sz="1450" dirty="0"/>
          </a:p>
          <a:p>
            <a:pPr marL="342900" indent="-342900">
              <a:spcAft>
                <a:spcPts val="400"/>
              </a:spcAft>
              <a:buSzPct val="100000"/>
              <a:buChar char="•"/>
            </a:pPr>
            <a:r>
              <a:rPr lang="en-US" sz="1450" dirty="0">
                <a:solidFill>
                  <a:srgbClr val="334155"/>
                </a:solidFill>
              </a:rPr>
              <a:t>Get-PaCaPlan compares only the properties the file sets, so Graph's nulls don't show as changes; contexts and strength first</a:t>
            </a:r>
            <a:endParaRPr lang="en-US" sz="1450" dirty="0"/>
          </a:p>
          <a:p>
            <a:pPr marL="342900" indent="-342900">
              <a:spcAft>
                <a:spcPts val="400"/>
              </a:spcAft>
              <a:buSzPct val="100000"/>
              <a:buChar char="•"/>
            </a:pPr>
            <a:r>
              <a:rPr lang="en-US" sz="1450" dirty="0">
                <a:solidFill>
                  <a:srgbClr val="334155"/>
                </a:solidFill>
              </a:rPr>
              <a:t>Without -Apply: requests returned with Sent false, and the client can't send a write</a:t>
            </a:r>
            <a:endParaRPr lang="en-US" sz="1450" dirty="0"/>
          </a:p>
          <a:p>
            <a:pPr marL="342900" indent="-342900">
              <a:spcAft>
                <a:spcPts val="400"/>
              </a:spcAft>
              <a:buSzPct val="100000"/>
              <a:buChar char="•"/>
            </a:pPr>
            <a:r>
              <a:rPr lang="en-US" sz="1450" dirty="0">
                <a:solidFill>
                  <a:srgbClr val="334155"/>
                </a:solidFill>
              </a:rPr>
              <a:t>With -Apply: refuses on any Finding, or a policy without the emergency group</a:t>
            </a:r>
            <a:endParaRPr lang="en-US" sz="1450" dirty="0"/>
          </a:p>
          <a:p>
            <a:pPr marL="342900" indent="-342900">
              <a:spcAft>
                <a:spcPts val="400"/>
              </a:spcAft>
              <a:buSzPct val="100000"/>
              <a:buChar char="•"/>
            </a:pPr>
            <a:r>
              <a:rPr lang="en-US" sz="1450" dirty="0">
                <a:solidFill>
                  <a:srgbClr val="334155"/>
                </a:solidFill>
              </a:rPr>
              <a:t>Matched by display name; rollback is a state change, never a delete</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conditionalaccesspolicy (send only changed values); Book 04, Ch 07, “Rollback.” Chapter 03, “The plan, the dry run and the writes.”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Learn's pages differ, recorded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18688"/>
        </p:xfrm>
        <a:graphic>
          <a:graphicData uri="http://schemas.openxmlformats.org/drawingml/2006/table">
            <a:tbl>
              <a:tblPr firstRow="1" bandRow="1"/>
              <a:tblGrid>
                <a:gridCol w="2286000"/>
                <a:gridCol w="5349240"/>
                <a:gridCol w="34747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sources say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code does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Every-time sign-in frequency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Graph's resource page lists everyTime for risky users, risky sign-ins and Intune enrollment; Learn's PIM and session lifetime pages put it on the context policy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Follows the PIM page; Lab 2 confirms Graph accepts it (row 32)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Authentication context IDs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Graph create (beta): c1 to c25; admin center: up to 99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PA-CA-08 follows the stricter range (row 33)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Protected actions' stage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outline calls them preview; Learn's overview carries no preview label; assigning through Graph is beta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Defines c2 and its policy; doesn't assign protected actions (rows 34, 38)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Read permissions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lists narrower permissions than Policy.Read.All for contexts and strengths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Uses the narrower two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Report-only and exclusion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and Book 04, Ch 04: not needed; Ch 10: needed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Chapter 10 for every file, except a named instrument (rows 5, 31)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signInFrequencySessionControl; PIM settings; session lifetime; context create (beta); Target resources; protected actions. Chapter 03,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reviews it, what it may do</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5440680" cy="1409700"/>
          </a:xfrm>
          <a:prstGeom prst="roundRect">
            <a:avLst>
              <a:gd name="adj" fmla="val 51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5074920" cy="11811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Build the project's foundation; read PowerShell 7 and the Graph conditionalAccessPolicy JSON.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6217920" y="1325880"/>
            <a:ext cx="5440680" cy="1409700"/>
          </a:xfrm>
          <a:prstGeom prst="roundRect">
            <a:avLst>
              <a:gd name="adj" fmla="val 51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621792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6446520" y="1463040"/>
            <a:ext cx="5074920" cy="11811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 and ISSOs</a:t>
            </a:r>
            <a:endParaRPr lang="en-US" sz="1400" dirty="0"/>
          </a:p>
          <a:p>
            <a:pPr indent="0" marL="0">
              <a:spcAft>
                <a:spcPts val="300"/>
              </a:spcAft>
              <a:buNone/>
            </a:pPr>
            <a:r>
              <a:rPr lang="en-US" sz="1550" dirty="0">
                <a:solidFill>
                  <a:srgbClr val="334155"/>
                </a:solidFill>
              </a:rPr>
              <a:t>Review every Conditional Access change: the files, the dry run, then the apply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2825496"/>
        </p:xfrm>
        <a:graphic>
          <a:graphicData uri="http://schemas.openxmlformats.org/drawingml/2006/table">
            <a:tbl>
              <a:tblPr firstRow="1" bandRow="1"/>
              <a:tblGrid>
                <a:gridCol w="3017520"/>
                <a:gridCol w="3931920"/>
                <a:gridCol w="3108960"/>
                <a:gridCol w="105156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Least-privileged permission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Delegated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policies; get a template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authentication contexts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AuthenticationContext.Read.All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List authentication strengths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Policy.Read.AuthenticationMethod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Security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Create or update a policy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Policy.Read.All and Policy.ReadWrite.ConditionalAccess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Conditional Access or Security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Create or update a context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AuthenticationContext.ReadWrite.All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Conditional Access or Security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Create a strength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Policy.ReadWrite.ConditionalAccess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Conditional Access or Security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policies; Create and Update policy; contexts list and upsert; strengths list and create; Get template. Chapter 03, “Goal and audience,” “Least privilege.”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check the template and the files offline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Microsoft's template as published: PassedCount 7, FailedCount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tests/ConditionalAccess.Tests.ps1 -FullNameFilter '*Get conditionalAccessTemplate*'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Permissions: ca-read three; ca-apply adds AuthenticationContext.ReadWrite.All, Policy.ReadWrite.CA…</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(Get-PaCaRequiredPermission -Task ca-read).GraphPermissions -join ',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The pre-merge check on the repository's files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./Invoke-PaCaAdmin.ps1 -CheckOnly -MapPath tests/fixtures/ch03/tenant-map.json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Pre-merge check: 0 Finding, 5 Warn, 0 Info</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4  The same check on Microsoft's template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Test-PaCaPolicyBody -Body (ConvertFrom-PaCaTemplate -Template $t) -Repository $repo</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3845052"/>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034790"/>
            <a:ext cx="640080" cy="640080"/>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188409"/>
            <a:ext cx="332842" cy="332842"/>
          </a:xfrm>
          <a:prstGeom prst="rect">
            <a:avLst/>
          </a:prstGeom>
        </p:spPr>
      </p:pic>
      <p:sp>
        <p:nvSpPr>
          <p:cNvPr id="11" name="Callout text"/>
          <p:cNvSpPr txBox="1"/>
          <p:nvPr/>
        </p:nvSpPr>
        <p:spPr>
          <a:xfrm>
            <a:off x="1600200" y="3899916"/>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Step 4, four rows: </a:t>
            </a:r>
            <a:pPr indent="0" marL="0">
              <a:buNone/>
            </a:pPr>
            <a:r>
              <a:rPr lang="en-US" sz="1750" dirty="0">
                <a:solidFill>
                  <a:srgbClr val="334155"/>
                </a:solidFill>
              </a:rPr>
              <a:t>PA-CA-01 Finding (no emergency exclusion), PA-CA-03 Finding (display text in excludeUsers), PA-CA-06 Warn (plain MFA), PA-CA-07 Warn (12 of 14 roles missing).</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03,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plan, dry run, and three applies to the fake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627632"/>
          </a:xfrm>
          <a:prstGeom prst="roundRect">
            <a:avLst>
              <a:gd name="adj" fmla="val 449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LAB 1, STEPS 5 AND 6</a:t>
            </a:r>
            <a:endParaRPr lang="en-US" sz="1050" dirty="0"/>
          </a:p>
        </p:txBody>
      </p:sp>
      <p:sp>
        <p:nvSpPr>
          <p:cNvPr id="7" name="Code"/>
          <p:cNvSpPr txBox="1"/>
          <p:nvPr/>
        </p:nvSpPr>
        <p:spPr>
          <a:xfrm>
            <a:off x="713232" y="1664208"/>
            <a:ext cx="10835640" cy="1243584"/>
          </a:xfrm>
          <a:prstGeom prst="rect">
            <a:avLst/>
          </a:prstGeom>
          <a:noFill/>
          <a:ln/>
        </p:spPr>
        <p:txBody>
          <a:bodyPr wrap="square" lIns="0" tIns="0" rIns="0" bIns="0" rtlCol="0" anchor="t"/>
          <a:lstStyle/>
          <a:p>
            <a:pPr indent="0" marL="0">
              <a:buNone/>
            </a:pPr>
            <a:r>
              <a:rPr lang="en-US" sz="1250" dirty="0">
                <a:solidFill>
                  <a:srgbClr val="0F766E"/>
                </a:solidFill>
                <a:latin typeface="Consolas" pitchFamily="34" charset="0"/>
                <a:ea typeface="Consolas" pitchFamily="34" charset="-122"/>
                <a:cs typeface="Consolas" pitchFamily="34" charset="-120"/>
              </a:rPr>
              <a:t># 5  Plan against the fictional tenant, sending nothing</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./Invoke-PaCaAdmin.ps1 -Cloud gcc -MapPath …/tenant-map.json -FixturePath …/tenant.json -OutputPath out/ca</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Plan: 3 Blocked, 4 Create, 1 NoChange, 1 NotInRepository, 2 Update</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Dry run: 6 request(s) written to requests.json, none sent; rerun with -Apply to send them</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6  Apply against the fake, three times</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Run 1: 6 sent   Run 2: 3 sent   Run 3: 0 sent   -&gt; enabledForReportingButNotEnforced</a:t>
            </a:r>
            <a:endParaRPr lang="en-US" sz="12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136392"/>
          <a:ext cx="11109960" cy="2133600"/>
        </p:xfrm>
        <a:graphic>
          <a:graphicData uri="http://schemas.openxmlformats.org/drawingml/2006/table">
            <a:tbl>
              <a:tblPr firstRow="1" bandRow="1"/>
              <a:tblGrid>
                <a:gridCol w="3291840"/>
                <a:gridCol w="78181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Plan 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c1 and the strength: Create; c2: Update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c2's description differs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CA004 Update; CA005 NoChange; CA025, CA027 Create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CA004's persistent browser control differs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CA003, PIM-Activation-c1, ProtectedActions-c2: Blocked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strength, and for the context policies c1, don't exist yet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CA001: NotInRepository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 the tenant only; reported, still there after every run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Lead"/>
          <p:cNvSpPr txBox="1"/>
          <p:nvPr/>
        </p:nvSpPr>
        <p:spPr>
          <a:xfrm>
            <a:off x="548640" y="5452872"/>
            <a:ext cx="11109960" cy="313944"/>
          </a:xfrm>
          <a:prstGeom prst="rect">
            <a:avLst/>
          </a:prstGeom>
          <a:noFill/>
          <a:ln/>
        </p:spPr>
        <p:txBody>
          <a:bodyPr wrap="square" lIns="0" tIns="0" rIns="0" bIns="0" rtlCol="0" anchor="t"/>
          <a:lstStyle/>
          <a:p>
            <a:pPr indent="0" marL="0">
              <a:buNone/>
            </a:pPr>
            <a:r>
              <a:rPr lang="en-US" sz="1700" b="1" dirty="0">
                <a:solidFill>
                  <a:srgbClr val="1F2A44"/>
                </a:solidFill>
              </a:rPr>
              <a:t>Step 7, Invoke-Pester -Path tests: 330 passing; the manifest lists five GETs and no write. Delete out.</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tenant). Chapter 03, “Lab 1: fixtures, no tenant,” steps 5–7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report-only, then the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Write your map: </a:t>
            </a:r>
            <a:pPr indent="0" marL="0">
              <a:buNone/>
            </a:pPr>
            <a:r>
              <a:rPr lang="en-US" sz="1500" dirty="0">
                <a:solidFill>
                  <a:srgbClr val="334155"/>
                </a:solidFill>
              </a:rPr>
              <a:t>The test tenant's object IDs: emergency group, admins persona group, Azure operators group, trusted location, key models' AAGUIDs</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Register the app and plan: </a:t>
            </a:r>
            <a:pPr indent="0" marL="0">
              <a:buNone/>
            </a:pPr>
            <a:r>
              <a:rPr lang="en-US" sz="1500" dirty="0">
                <a:solidFill>
                  <a:srgbClr val="334155"/>
                </a:solidFill>
              </a:rPr>
              <a:t>Worldwide admin center, a certificate, the three read permissions only; Connect-MgGraph -Environment Global; read plan.json and requests.json</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Apply, report-only: </a:t>
            </a:r>
            <a:pPr indent="0" marL="0">
              <a:buNone/>
            </a:pPr>
            <a:r>
              <a:rPr lang="en-US" sz="1500" dirty="0">
                <a:solidFill>
                  <a:srgbClr val="334155"/>
                </a:solidFill>
              </a:rPr>
              <a:t>Add the two write permissions; run with -Apply, then again. Every new policy is Report-only; record whether everyTime was accepted (row 32) and any extra consent (row 35)</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Watch report-only: </a:t>
            </a:r>
            <a:pPr indent="0" marL="0">
              <a:buNone/>
            </a:pPr>
            <a:r>
              <a:rPr lang="en-US" sz="1500" dirty="0">
                <a:solidFill>
                  <a:srgbClr val="334155"/>
                </a:solidFill>
              </a:rPr>
              <a:t>Sign in as a test administrator and an emergency account; read the sign-in log and the policy impact view (preview); at least seven days</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Enforce the gate alone: </a:t>
            </a:r>
            <a:pPr indent="0" marL="0">
              <a:buNone/>
            </a:pPr>
            <a:r>
              <a:rPr lang="en-US" sz="1500" dirty="0">
                <a:solidFill>
                  <a:srgbClr val="334155"/>
                </a:solidFill>
              </a:rPr>
              <a:t>A separate change: PIM-Activation-c1 to enabled, -Apply -AllowEnforce; PA-CA-04 clears</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Back it out: </a:t>
            </a:r>
            <a:pPr indent="0" marL="0">
              <a:buNone/>
            </a:pPr>
            <a:r>
              <a:rPr lang="en-US" sz="1500" dirty="0">
                <a:solidFill>
                  <a:srgbClr val="334155"/>
                </a:solidFill>
              </a:rPr>
              <a:t>Files to disabled and -Apply; contexts' isAvailable false; remove the write permissions, the app and out/ca-test</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91032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510006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53685"/>
            <a:ext cx="332842" cy="332842"/>
          </a:xfrm>
          <a:prstGeom prst="rect">
            <a:avLst/>
          </a:prstGeom>
        </p:spPr>
      </p:pic>
      <p:sp>
        <p:nvSpPr>
          <p:cNvPr id="26" name="Callout text"/>
          <p:cNvSpPr txBox="1"/>
          <p:nvPr/>
        </p:nvSpPr>
        <p:spPr>
          <a:xfrm>
            <a:off x="1600200" y="496519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Before you start: </a:t>
            </a:r>
            <a:pPr indent="0" marL="0">
              <a:buNone/>
            </a:pPr>
            <a:r>
              <a:rPr lang="en-US" sz="1750" dirty="0">
                <a:solidFill>
                  <a:srgbClr val="334155"/>
                </a:solidFill>
              </a:rPr>
              <a:t>a worldwide or GCC test tenant with Entra ID P1, never production. Chapter 02's emergency accounts first; phishing-resistant methods registered first; don't select c1 in PIM.</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Require phishing-resistant MFA for admins (lockout warning); Analyze CA policy impact; Book 04, Ch 07 (rollout, rollback). Chapter 03,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291840"/>
                <a:gridCol w="3566160"/>
                <a:gridCol w="42519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Enforced before the emergency accounts work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documented lockout, by Conditional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Chapter 02 first; PA-CA-01; -Apply refuses a write without the exclusion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Microsoft's template created as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exclusion, text for an ID, plain MFA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PA-CA-01, 03, 06; the template is a model, not a file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policy switched straight to 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Users blocked with no measurement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Create report-only; -AllowEnforce in its own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c1 selected while its policy is report-only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gate, and no MFA fallback either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PA-CA-04 until On; Chapter 04 checks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gate scoped to a directory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It never applies at activation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PA-CA-05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Admins without phishing-resistant methods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They can't sign in when CA003 is enforced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Lab 2's registration step; the report-only week; readiness 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pipeline that deletes unnamed policies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needed portal-made policy disappears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DELETE; NotInRepository reported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Compliant-device policy in report-only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Mac, iOS, Android users prompted for a certificate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PA-CA-09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Whoever edits CA edits the gate; write left on the app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Gate weakened; a standing write path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Protected actions on c2; Chapter 08 compares; write only for -Apply runs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03, “Dangers”; Learn, PIM role settings; phishing-resistant MFA for admins; report-only. Book 04, Ch 08, Step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files" descr="">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fil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FILES</a:t>
            </a:r>
            <a:endParaRPr lang="en-US" sz="1100" dirty="0"/>
          </a:p>
        </p:txBody>
      </p:sp>
      <p:sp>
        <p:nvSpPr>
          <p:cNvPr id="7" name="Panel The file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pre-merge check runs on every pull request touching ca-policies/, with no Finding</a:t>
            </a:r>
            <a:endParaRPr lang="en-US" sz="1550" dirty="0"/>
          </a:p>
          <a:p>
            <a:pPr marL="342900" indent="-342900">
              <a:spcAft>
                <a:spcPts val="400"/>
              </a:spcAft>
              <a:buSzPct val="100000"/>
              <a:buChar char="•"/>
            </a:pPr>
            <a:r>
              <a:rPr lang="en-US" sz="1550" dirty="0">
                <a:solidFill>
                  <a:srgbClr val="334155"/>
                </a:solidFill>
              </a:rPr>
              <a:t>Every policy file excludes the emergency group, except a named report-only instrument</a:t>
            </a:r>
            <a:endParaRPr lang="en-US" sz="1550" dirty="0"/>
          </a:p>
          <a:p>
            <a:pPr marL="342900" indent="-342900">
              <a:spcAft>
                <a:spcPts val="400"/>
              </a:spcAft>
              <a:buSzPct val="100000"/>
              <a:buChar char="•"/>
            </a:pPr>
            <a:r>
              <a:rPr lang="en-US" sz="1550" dirty="0">
                <a:solidFill>
                  <a:srgbClr val="334155"/>
                </a:solidFill>
              </a:rPr>
              <a:t>CA003 targets all 14 roles Learn recommends, and the persona group</a:t>
            </a:r>
            <a:endParaRPr lang="en-US" sz="1550" dirty="0"/>
          </a:p>
          <a:p>
            <a:pPr marL="342900" indent="-342900">
              <a:spcAft>
                <a:spcPts val="400"/>
              </a:spcAft>
              <a:buSzPct val="100000"/>
              <a:buChar char="•"/>
            </a:pPr>
            <a:r>
              <a:rPr lang="en-US" sz="1550" dirty="0">
                <a:solidFill>
                  <a:srgbClr val="334155"/>
                </a:solidFill>
              </a:rPr>
              <a:t>PIM-Activation-c1 targets all users and c1 only, needs the strength and a compliant device, and is On before Chapter 04 selects c1</a:t>
            </a:r>
            <a:endParaRPr lang="en-US" sz="1550" dirty="0"/>
          </a:p>
        </p:txBody>
      </p:sp>
      <p:sp>
        <p:nvSpPr>
          <p:cNvPr id="8" name="Panel The runs and the app" desc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s and the app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RUNS AND THE APP</a:t>
            </a:r>
            <a:endParaRPr lang="en-US" sz="1100" dirty="0"/>
          </a:p>
        </p:txBody>
      </p:sp>
      <p:sp>
        <p:nvSpPr>
          <p:cNvPr id="10" name="Panel The runs and the app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plan read as a dry run before the same plan was applied</a:t>
            </a:r>
            <a:endParaRPr lang="en-US" sz="1550" dirty="0"/>
          </a:p>
          <a:p>
            <a:pPr marL="342900" indent="-342900">
              <a:spcAft>
                <a:spcPts val="400"/>
              </a:spcAft>
              <a:buSzPct val="100000"/>
              <a:buChar char="•"/>
            </a:pPr>
            <a:r>
              <a:rPr lang="en-US" sz="1550" dirty="0">
                <a:solidFill>
                  <a:srgbClr val="334155"/>
                </a:solidFill>
              </a:rPr>
              <a:t>Every new policy appeared report-only; each enforcement its own reviewed change with -AllowEnforce</a:t>
            </a:r>
            <a:endParaRPr lang="en-US" sz="1550" dirty="0"/>
          </a:p>
          <a:p>
            <a:pPr marL="342900" indent="-342900">
              <a:spcAft>
                <a:spcPts val="400"/>
              </a:spcAft>
              <a:buSzPct val="100000"/>
              <a:buChar char="•"/>
            </a:pPr>
            <a:r>
              <a:rPr lang="en-US" sz="1550" dirty="0">
                <a:solidFill>
                  <a:srgbClr val="334155"/>
                </a:solidFill>
              </a:rPr>
              <a:t>The read app holds three read permissions; write permissions only on the pipeline identity</a:t>
            </a:r>
            <a:endParaRPr lang="en-US" sz="1550" dirty="0"/>
          </a:p>
          <a:p>
            <a:pPr marL="342900" indent="-342900">
              <a:spcAft>
                <a:spcPts val="400"/>
              </a:spcAft>
              <a:buSzPct val="100000"/>
              <a:buChar char="•"/>
            </a:pPr>
            <a:r>
              <a:rPr lang="en-US" sz="1550" dirty="0">
                <a:solidFill>
                  <a:srgbClr val="334155"/>
                </a:solidFill>
              </a:rPr>
              <a:t>The pinned Learn page matches its manifest; every upstream commit since the pin reviewed</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51256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58571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31288"/>
            <a:ext cx="315407" cy="315407"/>
          </a:xfrm>
          <a:prstGeom prst="rect">
            <a:avLst/>
          </a:prstGeom>
        </p:spPr>
      </p:pic>
      <p:sp>
        <p:nvSpPr>
          <p:cNvPr id="14" name="Callout text"/>
          <p:cNvSpPr txBox="1"/>
          <p:nvPr/>
        </p:nvSpPr>
        <p:spPr>
          <a:xfrm>
            <a:off x="1600200" y="456742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04 builds PIM for Microsoft Entra roles as code, and selects c1 once this gate is 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03, “Checklist,” “Continue the book”; Learn, Require phishing-resistant MFA for administrators (14 roles).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pa03-pim-settings  </a:t>
            </a:r>
            <a:pPr indent="0" marL="0">
              <a:spcAft>
                <a:spcPts val="300"/>
              </a:spcAft>
              <a:buNone/>
            </a:pPr>
            <a:r>
              <a:rPr lang="en-US" sz="1050" dirty="0">
                <a:solidFill>
                  <a:srgbClr val="334155"/>
                </a:solidFill>
              </a:rPr>
              <a:t>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a:t>
            </a:r>
            <a:endParaRPr lang="en-US" sz="1050" dirty="0"/>
          </a:p>
          <a:p>
            <a:pPr indent="0" marL="0">
              <a:spcAft>
                <a:spcPts val="300"/>
              </a:spcAft>
              <a:buNone/>
            </a:pPr>
            <a:r>
              <a:rPr lang="en-US" sz="1050" b="1" dirty="0">
                <a:solidFill>
                  <a:srgbClr val="1F2A44"/>
                </a:solidFill>
              </a:rPr>
              <a:t>pa03-deployments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pa03-ca-list  </a:t>
            </a:r>
            <a:pPr indent="0" marL="0">
              <a:spcAft>
                <a:spcPts val="300"/>
              </a:spcAft>
              <a:buNone/>
            </a:pPr>
            <a:r>
              <a:rPr lang="en-US" sz="1050" dirty="0">
                <a:solidFill>
                  <a:srgbClr val="334155"/>
                </a:solidFill>
              </a:rPr>
              <a:t>Microsoft Learn, "List policies" (conditionalAccessRoot), https://learn.microsoft.com/graph/api/conditionalaccessroot-list-policies?view=graph-rest-1.0 (accessed Oct 30, 2026).</a:t>
            </a:r>
            <a:endParaRPr lang="en-US" sz="1050" dirty="0"/>
          </a:p>
          <a:p>
            <a:pPr indent="0" marL="0">
              <a:spcAft>
                <a:spcPts val="300"/>
              </a:spcAft>
              <a:buNone/>
            </a:pPr>
            <a:r>
              <a:rPr lang="en-US" sz="1050" b="1" dirty="0">
                <a:solidFill>
                  <a:srgbClr val="1F2A44"/>
                </a:solidFill>
              </a:rPr>
              <a:t>pa03-ca-create  </a:t>
            </a:r>
            <a:pPr indent="0" marL="0">
              <a:spcAft>
                <a:spcPts val="300"/>
              </a:spcAft>
              <a:buNone/>
            </a:pPr>
            <a:r>
              <a:rPr lang="en-US" sz="1050" dirty="0">
                <a:solidFill>
                  <a:srgbClr val="334155"/>
                </a:solidFill>
              </a:rPr>
              <a:t>Microsoft Learn, "Create conditionalAccessPolicy," permissions and examples, https://learn.microsoft.com/graph/api/conditionalaccessroot-post-policies?view=graph-rest-1.0 (accessed Oct 30, 2026).</a:t>
            </a:r>
            <a:endParaRPr lang="en-US" sz="1050" dirty="0"/>
          </a:p>
          <a:p>
            <a:pPr indent="0" marL="0">
              <a:spcAft>
                <a:spcPts val="300"/>
              </a:spcAft>
              <a:buNone/>
            </a:pPr>
            <a:r>
              <a:rPr lang="en-US" sz="1050" b="1" dirty="0">
                <a:solidFill>
                  <a:srgbClr val="1F2A44"/>
                </a:solidFill>
              </a:rPr>
              <a:t>pa03-ca-update  </a:t>
            </a:r>
            <a:pPr indent="0" marL="0">
              <a:spcAft>
                <a:spcPts val="300"/>
              </a:spcAft>
              <a:buNone/>
            </a:pPr>
            <a:r>
              <a:rPr lang="en-US" sz="1050" dirty="0">
                <a:solidFill>
                  <a:srgbClr val="334155"/>
                </a:solidFill>
              </a:rPr>
              <a:t>Microsoft Learn, "Update conditionalaccesspolicy," permissions and request body, https://learn.microsoft.com/graph/api/conditionalaccesspolicy-update?view=graph-rest-1.0 (accessed Oct 30, 2026).</a:t>
            </a:r>
            <a:endParaRPr lang="en-US" sz="1050" dirty="0"/>
          </a:p>
          <a:p>
            <a:pPr indent="0" marL="0">
              <a:spcAft>
                <a:spcPts val="300"/>
              </a:spcAft>
              <a:buNone/>
            </a:pPr>
            <a:r>
              <a:rPr lang="en-US" sz="1050" b="1" dirty="0">
                <a:solidFill>
                  <a:srgbClr val="1F2A44"/>
                </a:solidFill>
              </a:rPr>
              <a:t>pa03-ctx-list  </a:t>
            </a:r>
            <a:pPr indent="0" marL="0">
              <a:spcAft>
                <a:spcPts val="300"/>
              </a:spcAft>
              <a:buNone/>
            </a:pPr>
            <a:r>
              <a:rPr lang="en-US" sz="1050" dirty="0">
                <a:solidFill>
                  <a:srgbClr val="334155"/>
                </a:solidFill>
              </a:rPr>
              <a:t>Microsoft Learn, "List authenticationContextClassReferences," https://learn.microsoft.com/graph/api/conditionalaccessroot-list-authenticationcontextclassreferences?view=graph-rest-1.0 (accessed Oct 30, 2026).</a:t>
            </a:r>
            <a:endParaRPr lang="en-US" sz="1050" dirty="0"/>
          </a:p>
          <a:p>
            <a:pPr indent="0" marL="0">
              <a:spcAft>
                <a:spcPts val="300"/>
              </a:spcAft>
              <a:buNone/>
            </a:pPr>
            <a:r>
              <a:rPr lang="en-US" sz="1050" b="1" dirty="0">
                <a:solidFill>
                  <a:srgbClr val="1F2A44"/>
                </a:solidFill>
              </a:rPr>
              <a:t>pa03-ctx-upsert  </a:t>
            </a:r>
            <a:pPr indent="0" marL="0">
              <a:spcAft>
                <a:spcPts val="300"/>
              </a:spcAft>
              <a:buNone/>
            </a:pPr>
            <a:r>
              <a:rPr lang="en-US" sz="1050" dirty="0">
                <a:solidFill>
                  <a:srgbClr val="334155"/>
                </a:solidFill>
              </a:rPr>
              <a:t>Microsoft Learn, "Create or Update authenticationContextClassReference," https://learn.microsoft.com/graph/api/authenticationcontextclassreference-update?view=graph-rest-1.0 (accessed Oct 31, 2026).</a:t>
            </a:r>
            <a:endParaRPr lang="en-US" sz="1050" dirty="0"/>
          </a:p>
          <a:p>
            <a:pPr indent="0" marL="0">
              <a:spcAft>
                <a:spcPts val="300"/>
              </a:spcAft>
              <a:buNone/>
            </a:pPr>
            <a:r>
              <a:rPr lang="en-US" sz="1050" b="1" dirty="0">
                <a:solidFill>
                  <a:srgbClr val="1F2A44"/>
                </a:solidFill>
              </a:rPr>
              <a:t>pa03-ctx-create-beta  </a:t>
            </a:r>
            <a:pPr indent="0" marL="0">
              <a:spcAft>
                <a:spcPts val="300"/>
              </a:spcAft>
              <a:buNone/>
            </a:pPr>
            <a:r>
              <a:rPr lang="en-US" sz="1050" dirty="0">
                <a:solidFill>
                  <a:srgbClr val="334155"/>
                </a:solidFill>
              </a:rPr>
              <a:t>Microsoft Learn, "Create authenticationContextClassReference" (beta), request body, https://learn.microsoft.com/graph/api/conditionalaccessroot-post-authenticationcontextclassreferences?view=graph-rest-beta (accessed Oct 30, 2026).</a:t>
            </a:r>
            <a:endParaRPr lang="en-US" sz="1050" dirty="0"/>
          </a:p>
          <a:p>
            <a:pPr indent="0" marL="0">
              <a:spcAft>
                <a:spcPts val="300"/>
              </a:spcAft>
              <a:buNone/>
            </a:pPr>
            <a:r>
              <a:rPr lang="en-US" sz="1050" b="1" dirty="0">
                <a:solidFill>
                  <a:srgbClr val="1F2A44"/>
                </a:solidFill>
              </a:rPr>
              <a:t>pa03-ctx-concept  </a:t>
            </a:r>
            <a:pPr indent="0" marL="0">
              <a:spcAft>
                <a:spcPts val="300"/>
              </a:spcAft>
              <a:buNone/>
            </a:pPr>
            <a:r>
              <a:rPr lang="en-US" sz="1050" dirty="0">
                <a:solidFill>
                  <a:srgbClr val="334155"/>
                </a:solidFill>
              </a:rPr>
              <a:t>Microsoft Learn, "Conditional Access: Target resources," authentication context, https://learn.microsoft.com/entra/identity/conditional-access/concept-conditional-access-cloud-apps (accessed Oct 30, 2026).</a:t>
            </a:r>
            <a:endParaRPr lang="en-US" sz="1050" dirty="0"/>
          </a:p>
          <a:p>
            <a:pPr indent="0" marL="0">
              <a:spcAft>
                <a:spcPts val="300"/>
              </a:spcAft>
              <a:buNone/>
            </a:pPr>
            <a:r>
              <a:rPr lang="en-US" sz="1050" b="1" dirty="0">
                <a:solidFill>
                  <a:srgbClr val="1F2A44"/>
                </a:solidFill>
              </a:rPr>
              <a:t>pa03-strength-list  </a:t>
            </a:r>
            <a:pPr indent="0" marL="0">
              <a:spcAft>
                <a:spcPts val="300"/>
              </a:spcAft>
              <a:buNone/>
            </a:pPr>
            <a:r>
              <a:rPr lang="en-US" sz="1050" dirty="0">
                <a:solidFill>
                  <a:srgbClr val="334155"/>
                </a:solidFill>
              </a:rPr>
              <a:t>Microsoft Learn, "List authenticationStrengthPolicies," https://learn.microsoft.com/graph/api/authenticationstrengthroot-list-policies?view=graph-rest-1.0 (accessed Oct 30, 2026).</a:t>
            </a:r>
            <a:endParaRPr lang="en-US" sz="1050" dirty="0"/>
          </a:p>
          <a:p>
            <a:pPr indent="0" marL="0">
              <a:spcAft>
                <a:spcPts val="300"/>
              </a:spcAft>
              <a:buNone/>
            </a:pPr>
            <a:r>
              <a:rPr lang="en-US" sz="1050" b="1" dirty="0">
                <a:solidFill>
                  <a:srgbClr val="1F2A44"/>
                </a:solidFill>
              </a:rPr>
              <a:t>pa03-strength-create  </a:t>
            </a:r>
            <a:pPr indent="0" marL="0">
              <a:spcAft>
                <a:spcPts val="300"/>
              </a:spcAft>
              <a:buNone/>
            </a:pPr>
            <a:r>
              <a:rPr lang="en-US" sz="1050" dirty="0">
                <a:solidFill>
                  <a:srgbClr val="334155"/>
                </a:solidFill>
              </a:rPr>
              <a:t>Microsoft Learn, "Create authenticationStrengthPolicy," https://learn.microsoft.com/graph/api/authenticationstrengthroot-post-policies?view=graph-rest-1.0 (accessed Oct 30, 2026).</a:t>
            </a:r>
            <a:endParaRPr lang="en-US" sz="1050" dirty="0"/>
          </a:p>
          <a:p>
            <a:pPr indent="0" marL="0">
              <a:spcAft>
                <a:spcPts val="300"/>
              </a:spcAft>
              <a:buNone/>
            </a:pPr>
            <a:r>
              <a:rPr lang="en-US" sz="1050" b="1" dirty="0">
                <a:solidFill>
                  <a:srgbClr val="1F2A44"/>
                </a:solidFill>
              </a:rPr>
              <a:t>pa03-template-get  </a:t>
            </a:r>
            <a:pPr indent="0" marL="0">
              <a:spcAft>
                <a:spcPts val="300"/>
              </a:spcAft>
              <a:buNone/>
            </a:pPr>
            <a:r>
              <a:rPr lang="en-US" sz="1050" dirty="0">
                <a:solidFill>
                  <a:srgbClr val="334155"/>
                </a:solidFill>
              </a:rPr>
              <a:t>Microsoft Learn, "Get conditionalAccessTemplate," https://learn.microsoft.com/graph/api/conditionalaccesstemplate-get?view=graph-rest-1.0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pa03-availability  </a:t>
            </a:r>
            <a:pPr indent="0" marL="0">
              <a:spcAft>
                <a:spcPts val="300"/>
              </a:spcAft>
              <a:buNone/>
            </a:pPr>
            <a:r>
              <a:rPr lang="en-US" sz="1050" dirty="0">
                <a:solidFill>
                  <a:srgbClr val="334155"/>
                </a:solidFill>
              </a:rPr>
              <a:t>Microsoft Learn, "Microsoft Entra feature availability," Microsoft Entra ID, authorization and Conditional Access, and identity governance,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pa03-templates  </a:t>
            </a:r>
            <a:pPr indent="0" marL="0">
              <a:spcAft>
                <a:spcPts val="300"/>
              </a:spcAft>
              <a:buNone/>
            </a:pPr>
            <a:r>
              <a:rPr lang="en-US" sz="1050" dirty="0">
                <a:solidFill>
                  <a:srgbClr val="334155"/>
                </a:solidFill>
              </a:rPr>
              <a:t>Microsoft Learn, "Conditional Access policy templates," template categories, https://learn.microsoft.com/entra/identity/conditional-access/concept-conditional-access-policy-common (accessed Oct 30, 2026).</a:t>
            </a:r>
            <a:endParaRPr lang="en-US" sz="1050" dirty="0"/>
          </a:p>
          <a:p>
            <a:pPr indent="0" marL="0">
              <a:spcAft>
                <a:spcPts val="300"/>
              </a:spcAft>
              <a:buNone/>
            </a:pPr>
            <a:r>
              <a:rPr lang="en-US" sz="1050" b="1" dirty="0">
                <a:solidFill>
                  <a:srgbClr val="1F2A44"/>
                </a:solidFill>
              </a:rPr>
              <a:t>pa03-admin-phish  </a:t>
            </a:r>
            <a:pPr indent="0" marL="0">
              <a:spcAft>
                <a:spcPts val="300"/>
              </a:spcAft>
              <a:buNone/>
            </a:pPr>
            <a:r>
              <a:rPr lang="en-US" sz="1050" dirty="0">
                <a:solidFill>
                  <a:srgbClr val="334155"/>
                </a:solidFill>
              </a:rPr>
              <a:t>Microsoft Learn, "Require phishing-resistant multifactor authentication for administrators," https://learn.microsoft.com/entra/identity/conditional-access/policy-admin-phish-resistant-mfa (accessed Oct 30, 2026).</a:t>
            </a:r>
            <a:endParaRPr lang="en-US" sz="1050" dirty="0"/>
          </a:p>
          <a:p>
            <a:pPr indent="0" marL="0">
              <a:spcAft>
                <a:spcPts val="300"/>
              </a:spcAft>
              <a:buNone/>
            </a:pPr>
            <a:r>
              <a:rPr lang="en-US" sz="1050" b="1" dirty="0">
                <a:solidFill>
                  <a:srgbClr val="1F2A44"/>
                </a:solidFill>
              </a:rPr>
              <a:t>pa03-sample-src  </a:t>
            </a:r>
            <a:pPr indent="0" marL="0">
              <a:spcAft>
                <a:spcPts val="300"/>
              </a:spcAft>
              <a:buNone/>
            </a:pPr>
            <a:r>
              <a:rPr lang="en-US" sz="1050" dirty="0">
                <a:solidFill>
                  <a:srgbClr val="334155"/>
                </a:solidFill>
              </a:rPr>
              <a:t>Microsoft, microsoftgraph/microsoft-graph-docs-contrib, api-reference/v1.0/api/conditionalaccesstemplate-get.md at commit a69303123e9701eecbf56568d152ece936a97f1e (October 30, 2026; the page last changed July 22, 2025), CC BY 4.0 (documentation) and MIT (code), https://github.com/microsoftgraph/microsoft-graph-docs-contrib/blob/a69303123e9701eecbf56568d152ece936a97f1e/api-reference/v1.0/api/conditionalaccesstemplate-get.md (accessed Oct 30, 2026); pinned copy in examples/third_party/conditional-access-template-page.</a:t>
            </a:r>
            <a:endParaRPr lang="en-US" sz="1050" dirty="0"/>
          </a:p>
          <a:p>
            <a:pPr indent="0" marL="0">
              <a:spcAft>
                <a:spcPts val="300"/>
              </a:spcAft>
              <a:buNone/>
            </a:pPr>
            <a:r>
              <a:rPr lang="en-US" sz="1050" b="1" dirty="0">
                <a:solidFill>
                  <a:srgbClr val="1F2A44"/>
                </a:solidFill>
              </a:rPr>
              <a:t>pa03-strengths  </a:t>
            </a:r>
            <a:pPr indent="0" marL="0">
              <a:spcAft>
                <a:spcPts val="300"/>
              </a:spcAft>
              <a:buNone/>
            </a:pPr>
            <a:r>
              <a:rPr lang="en-US" sz="1050" dirty="0">
                <a:solidFill>
                  <a:srgbClr val="334155"/>
                </a:solidFill>
              </a:rPr>
              <a:t>Microsoft Learn, "Conditional Access authentication strengths," built-in strengths and limitations, https://learn.microsoft.com/entra/identity/authentication/concept-authentication-strengths (accessed Oct 30, 2026).</a:t>
            </a:r>
            <a:endParaRPr lang="en-US" sz="1050" dirty="0"/>
          </a:p>
          <a:p>
            <a:pPr indent="0" marL="0">
              <a:spcAft>
                <a:spcPts val="300"/>
              </a:spcAft>
              <a:buNone/>
            </a:pPr>
            <a:r>
              <a:rPr lang="en-US" sz="1050" b="1" dirty="0">
                <a:solidFill>
                  <a:srgbClr val="1F2A44"/>
                </a:solidFill>
              </a:rPr>
              <a:t>pa03-emergency  </a:t>
            </a:r>
            <a:pPr indent="0" marL="0">
              <a:spcAft>
                <a:spcPts val="300"/>
              </a:spcAft>
              <a:buNone/>
            </a:pPr>
            <a:r>
              <a:rPr lang="en-US" sz="1050" dirty="0">
                <a:solidFill>
                  <a:srgbClr val="334155"/>
                </a:solidFill>
              </a:rPr>
              <a:t>Microsoft Learn, "Manage emergency access accounts in Microsoft Entra ID," Conditional Access considerations, https://learn.microsoft.com/entra/identity/role-based-access-control/security-emergency-access (accessed Oct 30, 2026).</a:t>
            </a:r>
            <a:endParaRPr lang="en-US" sz="1050" dirty="0"/>
          </a:p>
          <a:p>
            <a:pPr indent="0" marL="0">
              <a:spcAft>
                <a:spcPts val="300"/>
              </a:spcAft>
              <a:buNone/>
            </a:pPr>
            <a:r>
              <a:rPr lang="en-US" sz="1050" b="1" dirty="0">
                <a:solidFill>
                  <a:srgbClr val="1F2A44"/>
                </a:solidFill>
              </a:rPr>
              <a:t>pa03-report-only  </a:t>
            </a:r>
            <a:pPr indent="0" marL="0">
              <a:spcAft>
                <a:spcPts val="300"/>
              </a:spcAft>
              <a:buNone/>
            </a:pPr>
            <a:r>
              <a:rPr lang="en-US" sz="1050" dirty="0">
                <a:solidFill>
                  <a:srgbClr val="334155"/>
                </a:solidFill>
              </a:rPr>
              <a:t>Microsoft Learn, "Analyze Conditional Access policy impact," https://learn.microsoft.com/entra/identity/conditional-access/concept-conditional-access-report-only (accessed Oct 30, 2026).</a:t>
            </a:r>
            <a:endParaRPr lang="en-US" sz="1050" dirty="0"/>
          </a:p>
          <a:p>
            <a:pPr indent="0" marL="0">
              <a:spcAft>
                <a:spcPts val="300"/>
              </a:spcAft>
              <a:buNone/>
            </a:pPr>
            <a:r>
              <a:rPr lang="en-US" sz="1050" b="1" dirty="0">
                <a:solidFill>
                  <a:srgbClr val="1F2A44"/>
                </a:solidFill>
              </a:rPr>
              <a:t>pa03-sif  </a:t>
            </a:r>
            <a:pPr indent="0" marL="0">
              <a:spcAft>
                <a:spcPts val="300"/>
              </a:spcAft>
              <a:buNone/>
            </a:pPr>
            <a:r>
              <a:rPr lang="en-US" sz="1050" dirty="0">
                <a:solidFill>
                  <a:srgbClr val="334155"/>
                </a:solidFill>
              </a:rPr>
              <a:t>Microsoft Learn, "signInFrequencySessionControl resource type," https://learn.microsoft.com/graph/api/resources/signinfrequencysessioncontrol?view=graph-rest-1.0 (accessed Oct 30, 2026).</a:t>
            </a:r>
            <a:endParaRPr lang="en-US" sz="1050" dirty="0"/>
          </a:p>
          <a:p>
            <a:pPr indent="0" marL="0">
              <a:spcAft>
                <a:spcPts val="300"/>
              </a:spcAft>
              <a:buNone/>
            </a:pPr>
            <a:r>
              <a:rPr lang="en-US" sz="1050" b="1" dirty="0">
                <a:solidFill>
                  <a:srgbClr val="1F2A44"/>
                </a:solidFill>
              </a:rPr>
              <a:t>pa03-session  </a:t>
            </a:r>
            <a:pPr indent="0" marL="0">
              <a:spcAft>
                <a:spcPts val="300"/>
              </a:spcAft>
              <a:buNone/>
            </a:pPr>
            <a:r>
              <a:rPr lang="en-US" sz="1050" dirty="0">
                <a:solidFill>
                  <a:srgbClr val="334155"/>
                </a:solidFill>
              </a:rPr>
              <a:t>Microsoft Learn, "Conditional Access adaptive session lifetime policies," user sign-in frequency, https://learn.microsoft.com/entra/identity/conditional-access/concept-session-lifetime (accessed Oct 30, 2026).</a:t>
            </a:r>
            <a:endParaRPr lang="en-US" sz="1050" dirty="0"/>
          </a:p>
          <a:p>
            <a:pPr indent="0" marL="0">
              <a:spcAft>
                <a:spcPts val="300"/>
              </a:spcAft>
              <a:buNone/>
            </a:pPr>
            <a:r>
              <a:rPr lang="en-US" sz="1050" b="1" dirty="0">
                <a:solidFill>
                  <a:srgbClr val="1F2A44"/>
                </a:solidFill>
              </a:rPr>
              <a:t>pa03-protected  </a:t>
            </a:r>
            <a:pPr indent="0" marL="0">
              <a:spcAft>
                <a:spcPts val="300"/>
              </a:spcAft>
              <a:buNone/>
            </a:pPr>
            <a:r>
              <a:rPr lang="en-US" sz="1050" dirty="0">
                <a:solidFill>
                  <a:srgbClr val="334155"/>
                </a:solidFill>
              </a:rPr>
              <a:t>Microsoft Learn, "What are protected actions in Microsoft Entra ID?," https://learn.microsoft.com/entra/identity/role-based-access-control/protected-actions-overview (accessed Oct 30, 2026).</a:t>
            </a:r>
            <a:endParaRPr lang="en-US" sz="1050" dirty="0"/>
          </a:p>
          <a:p>
            <a:pPr indent="0" marL="0">
              <a:spcAft>
                <a:spcPts val="300"/>
              </a:spcAft>
              <a:buNone/>
            </a:pPr>
            <a:r>
              <a:rPr lang="en-US" sz="1050" b="1" dirty="0">
                <a:solidFill>
                  <a:srgbClr val="1F2A44"/>
                </a:solidFill>
              </a:rPr>
              <a:t>pa03-protected-add  </a:t>
            </a:r>
            <a:pPr indent="0" marL="0">
              <a:spcAft>
                <a:spcPts val="300"/>
              </a:spcAft>
              <a:buNone/>
            </a:pPr>
            <a:r>
              <a:rPr lang="en-US" sz="1050" dirty="0">
                <a:solidFill>
                  <a:srgbClr val="334155"/>
                </a:solidFill>
              </a:rPr>
              <a:t>Microsoft Learn, "Add, test, or remove protected actions in Microsoft Entra ID," Microsoft Graph, https://learn.microsoft.com/entra/identity/role-based-access-control/protected-actions-add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03 — Conditional Access and the Activation Gate</dc:title>
  <dc:subject>PptxGenJS Presentation</dc:subject>
  <dc:creator>Michael F. Stratton</dc:creator>
  <cp:lastModifiedBy>Michael F. Stratton</cp:lastModifiedBy>
  <cp:revision>1</cp:revision>
  <dcterms:created xsi:type="dcterms:W3CDTF">2026-10-31T14:33:53Z</dcterms:created>
  <dcterms:modified xsi:type="dcterms:W3CDTF">2026-10-31T14:33:53Z</dcterms:modified>
</cp:coreProperties>
</file>