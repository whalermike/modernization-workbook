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8DA0CCA-E8A2-FBB5-1D90-B5801DB4D548}">
          <p14:sldIdLst>
            <p14:sldId id="256"/>
          </p14:sldIdLst>
        </p14:section>
        <p14:section name="Why" id="{A70A7FE4-50F8-B82D-9FB2-104964AFD4A1}">
          <p14:sldIdLst>
            <p14:sldId id="257"/>
            <p14:sldId id="258"/>
          </p14:sldIdLst>
        </p14:section>
        <p14:section name="What" id="{3625E7B4-383F-ACBD-B732-5490136BA672}">
          <p14:sldIdLst>
            <p14:sldId id="259"/>
            <p14:sldId id="260"/>
            <p14:sldId id="261"/>
            <p14:sldId id="262"/>
            <p14:sldId id="263"/>
            <p14:sldId id="264"/>
            <p14:sldId id="265"/>
            <p14:sldId id="266"/>
            <p14:sldId id="267"/>
          </p14:sldIdLst>
        </p14:section>
        <p14:section name="Who" id="{DDFF969C-EDE1-13B6-7688-78BDA3E94E40}">
          <p14:sldIdLst>
            <p14:sldId id="268"/>
          </p14:sldIdLst>
        </p14:section>
        <p14:section name="How" id="{4090A539-E6A3-90BC-3C2F-241CEA0F8FF9}">
          <p14:sldIdLst>
            <p14:sldId id="269"/>
            <p14:sldId id="270"/>
            <p14:sldId id="271"/>
            <p14:sldId id="272"/>
            <p14:sldId id="273"/>
          </p14:sldIdLst>
        </p14:section>
        <p14:section name="Backup" id="{9CB522E1-3874-785C-289D-D02D48A907D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044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Privileged Access. This is Chapter 8, the last one: evidence and drift for the ISSO. An inventory taken once only proves the day it was taken. The ISSO needs every day of the period, every elevation in it, and a record nobody could have edited afterwards. We'll start from Learn's audit queries for PIM, see what they leave out, then walk the run, the comparison, the package, the period, two labs and the dangers. One note before we begin: the code is illustrative, tested against fixtures.
Detail: The chapter builds the evidence behind the project plan's tasks A3.6 and A4.3: "drift every six hours," and "monthly evidence package assembled and its metrics signed off," which feed Gate 4. It starts with Learn's page on PIM audit history, whose three sample Log Analytics queries the repository keeps as a pinned copy, and runs them offline over fictional audit rows to see what they find and what they leave out. Then it builds an evidence run in examples/privileged-access that runs Chapter 01's inventory and Chapter 02's check and reads the PIM audit evidence from Microsoft Graph, and extends the first workbook's examples/drift-pipeline with new files to compare runs, package them in a hash chain, and assemble a period for the ISSO. Lab 1 runs on a laptop with no tenant; Lab 2 uses a test tenant.
Sources: Microsoft Learn, "View audit history for Microsoft Entra roles in Privileged Identity Management," https://learn.microsoft.com/entra/id-governance/privileged-identity-management/pim-how-to-use-audit-log (accessed Oct 30, 2026). · Microsoft, MicrosoftDocs/entra-docs, docs/id-governance/privileged-identity-management/pim-how-to-use-audit-log.md at commit 07cb73d6c6380414eecd040ba5e14c1c94d48b66 (October 30, 2026; the page last changed September 3, 2026), MIT License, https://github.com/MicrosoftDocs/entra-docs/blob/07cb73d6c6380414eecd040ba5e14c1c94d48b66/docs/id-governance/privileged-identity-management/pim-how-to-use-audit-log.md (accessed Oct 30, 2026); pinned copy in examples/third_party/entra-pim-audit-page.
Workbook: Building Privileged Access, Chapter 08 — Opening;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exist? Because the program's last gates ask for things a single snapshot can't give: a Tier 0 drift handled as an incident, and evidence for every elevation in the period. Book 04 already says what goes in the package. Learn supplies the two facts the design turns on. First, the audit log only keeps thirty days, so evidence has to be collected before it ages out. Second, one activation can show up under several correlation IDs, but its request ID never changes. That request ID becomes the key.
Detail: Three pages already say what this evidence is for; the chapter builds it and doesn't repeat them. The plan's gates: Gate 3 asks for "a Tier 0 drift handled as an incident." Gate 4 asks for residual standing privilege named and accepted, "evidence for every elevation in the period," and a current exception register. Book 04, Chapter 10 sets the rule for Tier 0 drift ("a security incident") and lists what the monthly package holds: monitoring results with each drift's resolution, PIM audit records, the exception register, and the metrics. Book 04, Chapter 08 says the PIM audit records must be exported before the service's retention closes, and that an activation is correlated by its request, not its session. Learn gives the two facts the design turns on. Microsoft Entra audit logs are kept for 30 days with Microsoft Entra ID P1 or P2, and seven days on Free. And PIM can log one activation under several correlation IDs, when it waits for an approval or starts at a scheduled time; roleAssignmentRequestId stays the same through all of it.
Sources: Microsoft Learn, "Microsoft Entra data retention," activity reports, https://learn.microsoft.com/entra/identity/monitoring-health/reference-reports-data-retention (accessed Oct 30, 2026). · Microsoft Learn, "View audit history for Microsoft Entra roles in Privileged Identity Management," https://learn.microsoft.com/entra/id-governance/privileged-identity-management/pim-how-to-use-audit-log (accessed Oct 30, 2026).
Workbook: Building Privileged Access, Chapter 08 — “What the evidence has to show”.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The new read in this chapter is the directory audit log in Microsoft Graph. This estate's GCC tenant uses the worldwide Graph endpoint, and its Azure reads go to the commercial Resource Manager host. GCC High and the Department of Defense clouds have their own Graph hosts, and Learn lists the audit API as available in both government levels, with PIM available everywhere too. As in every chapter, the cloud is a required choice with no default, and the reader refuses to send a token anywhere else.
Detail: The audit read calls Microsoft Graph: graph.microsoft.com for GCC, which uses the worldwide endpoints, as do sign-in at login.microsoftonline.com and Azure Resource Manager at management.azure.com. GCC High uses graph.microsoft.us and DoD dod-graph.microsoft.us. List directoryAudits is available in the global service, US Government L4 and US Government L5. PIM is part of Microsoft Entra ID Governance, available in GCC, GCC High and DoD. The run takes the cloud as a required parameter with no default, and uses Chapter 01's reader, which sends the token only to that cloud's host.
Sources: Microsoft Learn, "Microsoft Graph national cloud deployments," https://learn.microsoft.com/graph/deployments (accessed Oct 30, 2026; read for Chapter 01). · Microsoft Learn, "List directoryAudits," https://learn.microsoft.com/graph/api/directoryaudit-list?view=graph-rest-1.0 (accessed Oct 30, 2026). · Microsoft Learn, "Microsoft Entra feature availability," other Microsoft Entra products, https://learn.microsoft.com/entra/identity/authentication/feature-availability (accessed Oct 30, 2026; read for Chapter 01).
Workbook: Building Privileged Access, Chapter 08 — “Which cloud, for this read”.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Learn's audit history page shows PIM's own audit view, says it covers thirty days, and gives three sample queries: one for role activations, one that follows a single request, and one that follows a whole cycle from activation to deactivation. Learn's activity list names every event PIM logs, and its security operations guide says what to watch. The queries only exist in the web page, so the repository pins it, unmodified, and the tests run all three over a set of fictional audit rows. It's a test, not a query engine.
Detail: Learn's page View audit history for Microsoft Entra roles in Privileged Identity Management is Microsoft's procedure. It shows PIM's resource audit in the admin center, says the data covers the past 30 days, and says to route the logs to a storage account or Log Analytics through diagnostic settings to keep them longer. It then gives three sample Log Analytics queries: one that finds role activation entries with OperationName has "Add member to role", one that finds the entries for one request by its roleAssignmentRequestId, and one that follows a whole activation and deactivation cycle by also collecting the correlation IDs of those entries. Learn's Microsoft Entra audit log categories and activities lists the activity names PIM logs, such as Add member to role requested (PIM activation), Add member to role request approved (PIM activation), Add member to role completed (PIM activation), Add member to role outside of PIM (permanent) and Update role setting in PIM. Learn's security operations guide for PIM says to monitor role assignments made outside PIM and changes to PIM settings, and to always alert on changes for Privileged Role Administrator and Global Administrator. Microsoft Sentinel rule templates for PIM settings changes and denied elevations exist in the Azure/Azure-Sentinel repository, and Learn's security operations guide links them. They aren't used here: they run in a Sentinel workspace, and Learn's own page already gives the activation queries this chapter needs. The pinned copy: pim-how-to-use-audit-log.md from MicrosoftDocs/entra-docs at commit 07cb73d (October 30, 2026), with the repository's MIT licenses, in examples/third_party/entra-pim-audit-page. snapshot.json records each file's SHA-256 and its upstream git blob hash, checked with gh api before the manifest was written. A unit test checks the hashes, and the weekly source watch reports new commits to the page. tests/EvidenceDrift.Tests.ps1 extracts the three queries from the pinned page at test time and runs them unmodified over tests/fixtures/ch08/audit.json, eighteen fictional audit items, mapped to the AuditLogs table's column names. Its small evaluator handles only the queries' shape: let, where Column has ... terms joined by or, in, and summarize makeset(...). Anything else throws. It isn't a KQL engine, and nothing is sent to a workspace.
Sources: Microsoft Learn, "View audit history for Microsoft Entra roles in Privileged Identity Management," https://learn.microsoft.com/entra/id-governance/privileged-identity-management/pim-how-to-use-audit-log (accessed Oct 30, 2026). · Microsoft Learn, "Microsoft Entra audit log categories and activities," Privileged Identity Management (PIM), https://learn.microsoft.com/entra/identity/monitoring-health/reference-audit-activities (accessed Oct 30, 2026). · Microsoft Learn, "Microsoft Entra security operations for Privileged Identity Management," baselines, PIM alerts and Microsoft Entra roles assignment, https://learn.microsoft.com/entra/architecture/security-operations-privileged-identity-management (accessed Oct 30, 2026). · Microsoft, MicrosoftDocs/entra-docs, docs/id-governance/privileged-identity-management/pim-how-to-use-audit-log.md at commit 07cb73d6c6380414eecd040ba5e14c1c94d48b66 (October 30, 2026; the page last changed September 3, 2026), MIT License, https://github.com/MicrosoftDocs/entra-docs/blob/07cb73d6c6380414eecd040ba5e14c1c94d48b66/docs/id-governance/privileged-identity-management/pim-how-to-use-audit-log.md (accessed Oct 30, 2026); pinned copy in examples/third_party/entra-pim-audit-page.
Workbook: Building Privileged Access, Chapter 08 — “What Microsoft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queries over fictional rows shows exactly what they catch. The first query finds the activations, which is good. But it also sweeps in two role assignments made outside PIM, so a standing Tier 0 assignment looks like just another activation. It misses deactivations and the setting change Learn says to always alert on. And the second query, copied with its placeholder, doesn't select one request at all; it returns everything with a request ID. Given a real ID, though, the queries show the key idea: one request, three correlation IDs, one activation. The code keeps that.
Detail: Each row is pinned by a test: in the "as published" block of tests/EvidenceDrift.Tests.ps1 for the sample, and in the rest of that file or in examples/drift-pipeline/tests/test_pa_evidence.py for the code. Row 1: the first query finds the three completed activations in the fixture; kept as the model: the activity names, read from Learn's list. Row 2: the first query also returns the two events that assigned a role outside PIM, mixed in with 11 activation events; a standing Tier 0 assignment looks like one more activation; the code classifies each event by its activity name, and an outside-PIM assignment is PA-AUD-01. Row 3: the first query misses deactivations and the role setting change; Learn's guide says to alert on every change to PIM settings for the top roles; the code reads every event PIM logs in the window, and a setting change is PA-AUD-04. Row 4: the second query, as published, holds the placeholder {roleAssignmentRequestId}; read as whole terms it matches the detail's key name, so it returns all 13 events that carry a request ID; a query copied as published selects no single request; the code reads each event's request ID and groups by it. Row 5: with a real request ID, it finds one activation across three correlation IDs; kept: the request ID is the key, as Learn advises. Row 6: the third query adds the deactivation event that has a correlation ID but no request ID (four events become five); kept: an event without a request ID joins the request that shares its correlation ID.
Sources: Microsoft Learn, "View audit history for Microsoft Entra roles in Privileged Identity Management," https://learn.microsoft.com/entra/id-governance/privileged-identity-management/pim-how-to-use-audit-log (accessed Oct 30, 2026). · Microsoft Learn, "Microsoft Entra audit log categories and activities," Privileged Identity Management (PIM), https://learn.microsoft.com/entra/identity/monitoring-health/reference-audit-activities (accessed Oct 30, 2026). · Microsoft Learn, "Microsoft Entra security operations for Privileged Identity Management," baselines, PIM alerts and Microsoft Entra roles assignment, https://learn.microsoft.com/entra/architecture/security-operations-privileged-identity-management (accessed Oct 30, 2026).
Workbook: Building Privileged Access, Chapter 08 — “What it leaves to you,” rows 1–6.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bigger gaps are about scale and proof. The queries look at one request at a time, with no window, no tier, and no check that anyone approved it, and "every elevation in the period" can't be shown one request at a time. They also only run in Log Analytics, which needs a workspace before any evidence exists. And they stop at the query: nothing compares, packages or hands anything to the ISSO. So the verdict: keep Learn's request ID as the key and its activity names as the vocabulary, but don't treat the first query as evidence of elevation.
Detail: Row 7: one request at a time, with no time window, no tier and no check of the approval; "every elevation in the period" can't be shown one request at a time; a window per run, a tier per role, PA-AUD-02 for a Tier 0 or Tier 1 activation with no approval, PA-AUD-03 for a requester who approved their own request. Row 8: runs only in Log Analytics; needs the workspace and its diagnostic setting before any evidence exists; reads Graph's directory audit log with AuditLog.Read.All, and refuses a window older than the 30 days the log keeps. Row 9: stops at the query; no comparison, no package, nothing for the ISSO; pa_evidence.py: compare, issues, package, verify and period. The verdict: use Learn's request ID as the key for an activation and Learn's activity names as the vocabulary. Don't use the first query as the evidence of elevation: it mixes direct assignments in with activations and doesn't show approvals.
Sources: Microsoft Learn, "List directoryAudits," https://learn.microsoft.com/graph/api/directoryaudit-list?view=graph-rest-1.0 (accessed Oct 30, 2026). · Microsoft Learn, "Microsoft Entra data retention," activity reports, https://learn.microsoft.com/entra/identity/monitoring-health/reference-reports-data-retention (accessed Oct 30, 2026). · Microsoft Learn, "View audit history for Microsoft Entra roles in Privileged Identity Management," https://learn.microsoft.com/entra/id-governance/privileged-identity-management/pim-how-to-use-audit-log (accessed Oct 30, 2026).
Workbook: Building Privileged Access, Chapter 08 — “What it leaves to you,” rows 7–9; “The verdict”.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code, in two pieces: a PowerShell run that reads the tenant, and new Python files beside the first workbook's drift pipeline, which stays unchanged. The design has three parts. Chapters 1 and 2 describe the tenant's state. The audit read describes the events in a window. And comparing with the last run turns state into drift. Chain those windows with no gaps, and you have every elevation in the period, in code. Each run writes one folder, with a run file that records the cloud, tenant, window and a hash of each task's manifest.
Detail: So the run has three parts. Chapter 01's inventory and Chapter 02's check describe the tenant's state: who holds what, and whether the emergency accounts meet the standard. The PIM audit read describes the events in a window: who asked, who approved, what was activated, and what was assigned outside PIM. A comparison with the last run turns the state into drift. A chain of windows with no gap between them is what "every elevation in the period" means in code. Design guidance. Chapters 03 to 07 add Conditional Access, PIM role settings, PIM for Groups, Azure PIM and access reviews. Their outputs aren't in this run yet. Each can join it as another task with its own folder and manifest, and the comparison treats it the same way (research gaps, row 88). The run is two pieces, each in its own files. examples/privileged-access gains Invoke-PaEvidenceRun.ps1, the module powershell/PaEvidence/PaEvidence.psm1, the call list config/calls-ch08.json and its tests. examples/drift-pipeline gains python/pa_evidence.py, workflow/pa-evidence.yml and their tests, as new files: drift_pipeline.py and its tests are unchanged, and pa_evidence.py imports its hashing, JSON, fingerprint and refusal helpers. The notes are in examples/privileged-access/docs/ch08.md. Invoke-PaEvidenceRun.ps1 -Cloud gcc -TenantId &lt;id&gt; writes one folder per run, named by its time and mode, such as 2026-10-30T0600Z-fixture: inventory/, written by Chapter 01's Invoke-PaInventory.ps1, unchanged; emergency/, written by Chapter 02's Invoke-PaEmergencyCheck.ps1, unchanged; pim-audit/, this chapter's: events.json, requests.json, summary.json, findings.json and a manifest.json in the same shape as the other two; run.json: the run ID, the as-of time, the cloud, the tenant ID, the mode, the audit window, the permissions, and each task's status with the SHA-256 of its manifest. The cloud and the tenant ID are required. In a live run the tenant ID must match the Graph session's. A task that fails is recorded as Error in run.json and leaves no folder; the other tasks still run. Design guidance.
Sources: Building Privileged Access, Chapter 08, docs/project-plans/developer-workbooks/privileged-access/08-evidence-and-drift.md
Workbook: Building Privileged Access, Chapter 08 — “What the evidence has to show”; “The code”; “The run”.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read asks Graph's directory audit log for one window at a time: everything PIM logged, plus the role assignments the directory logs when someone goes around PIM. It goes through the same careful reader as Chapter 1, refuses a window older than the log keeps, and starts each window where the last one ended, so no hour goes unread. It keeps IDs and drops names. Then four checks: a role assigned outside PIM, a sensitive activation with no approval, someone approving their own request, and a PIM setting changed.
Detail: Get-PaPimAuditEvent reads GET /v1.0/auditLogs/directoryAudits with three filters for the window: everything logged by PIM under each of the two service names Learn uses, and the Add member to role events Core Directory logs when a role is assigned outside PIM. The directoryAudit resource page lists eq, ge and le on activityDateTime, and eq on loggedByService and activityDisplayName. It goes through Chapter 01's reader, so the call must be declared in config/calls-ch08.json, is a GET, goes only to the cloud's Graph host, and follows every page. It refuses a window that starts more than 30 days before the run. The next window starts where the last one ended, so no hour goes unread. Each event is kept as IDs: the activity and its class, the role, the target principal, the initiator, the correlation ID and the request ID. Names in the log, such as the initiator's user principal name, are dropped. Design guidance: the inventory already holds names for the people who hold roles, and the audit evidence doesn't need its own copy. List directoryAudits: AuditLog.Read.All; delegated Reports Reader, Security Reader or Security Administrator. With Chapter 01's five and Chapter 02's six, the run needs nine Graph application permissions, none of them a write, and Reader on each Azure scope. Findings: PA-AUD-01, Finding for T0 and T1, Warn otherwise: a role assigned outside PIM (Add member to role outside of PIM (permanent), or Core Directory's Add member to role), once per role and principal; Learn: monitor roles assigned outside PIM, high risk. PA-AUD-02, Finding: a T0 or T1 activation completed with no approval record in the window; Book 04, Chapter 08: approval required for T0 and T1; Learn's baseline asks for approval to activate. PA-AUD-03, Finding: an activation approved by its own requester; design guidance; the plan's Gate 3 asks for requester and approver distinct for Tier 0. PA-AUD-04, Finding for T0, Warn otherwise: a role setting changed in PIM, to be reconciled with a reviewed settings change; Learn: always alert on PIM setting changes for Privileged Role Administrator and Global Administrator. An approval logged before the window started looks missing to PA-AUD-02, so its issue names the request ID for the reviewer to look up. Whether every approval is logged under the activity name the code reads is open (research gaps, row 85).
Sources: Microsoft Learn, "directoryAudit resource type," properties, https://learn.microsoft.com/graph/api/resources/directoryaudit?view=graph-rest-1.0 (accessed Oct 30, 2026). · Microsoft Learn, "List directoryAudits," https://learn.microsoft.com/graph/api/directoryaudit-list?view=graph-rest-1.0 (accessed Oct 30, 2026). · Microsoft Learn, "Microsoft Entra security operations for Privileged Identity Management," baselines, PIM alerts and Microsoft Entra roles assignment, https://learn.microsoft.com/entra/architecture/security-operations-privileged-identity-management (accessed Oct 30, 2026).
Workbook: Building Privileged Access, Chapter 08 — “The audit read”; “The audit findings”.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Learn's pages disagree in two places that matter here, and the chapter writes both down so nobody quietly loosens the code later. They name PIM's logging service differently, so the code asks for both names and removes duplicates. And they disagree on where approvals are logged. The code reads PIM's service, so if an approval only shows up somewhere else, the no-approval check fires anyway. That's deliberate: it fails closed, giving a false finding rather than a missed one. The lab in a test tenant then records which way each one really goes.
Detail: Two places where Learn's pages differ, recorded so a later edit doesn't loosen the code. PIM's service name: the directoryAudit resource page gives Privileged Identity Management as a loggedByService value; the security operations guide for PIM filters on Service = PIM. The code follows the stricter reading, one that misses nothing: it asks for both and de-duplicates by event ID. Lab 2 records which one a tenant uses (research gaps, row 81). Where approvals are logged: Learn's activity list puts Add member to role request approved (PIM activation) under RoleManagement; the security operations guide lists approvals and denials under Service = Access Review and category UserManagement. The code reads PIM's service, so an approval logged only under Access Review would make PA-AUD-02 fire. That fails closed: a false Finding, not a missed one. Lab 2 confirms (research gaps, row 85). The roles Learn names for reading differ by surface, without contradicting each other. PIM's Resource audit page names Global Administrator, Global Reader, Privileged Role Administrator, Security Administrator or Security Reader; the Graph call names Reports Reader, Security Reader or Security Administrator. The code uses the application permission, and for a delegated read the Graph call's least-privileged role, Reports Reader.
Sources: Microsoft Learn, "directoryAudit resource type," properties, https://learn.microsoft.com/graph/api/resources/directoryaudit?view=graph-rest-1.0 (accessed Oct 30, 2026). · Microsoft Learn, "Microsoft Entra security operations for Privileged Identity Management," baselines, PIM alerts and Microsoft Entra roles assignment, https://learn.microsoft.com/entra/architecture/security-operations-privileged-identity-management (accessed Oct 30, 2026). · Microsoft Learn, "Microsoft Entra audit log categories and activities," Privileged Identity Management (PIM), https://learn.microsoft.com/entra/identity/monitoring-health/reference-audit-activities (accessed Oct 30, 2026). · Microsoft Learn, "View audit history for Microsoft Entra roles in Privileged Identity Management," https://learn.microsoft.com/entra/id-governance/privileged-identity-management/pim-how-to-use-audit-log (accessed Oct 30, 2026). · Microsoft Learn, "List directoryAudits," https://learn.microsoft.com/graph/api/directoryaudit-list?view=graph-rest-1.0 (accessed Oct 30, 2026).
Workbook: Building Privileged Access, Chapter 08 — “Verified facts” — two places where Learn's pages differ; the roles for reading.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is where state becomes drift. Before it compares anything, it checks both runs: every file against its manifest, the same tenant, cloud and mode, and a current run that's actually later. Then every difference gets a result. Two of them are careful by design. A task that failed this time is unverified, not resolved, so a permissions error can't make yesterday's findings vanish. And activations are left out of assignment drift, because they come and go within hours and the audit already records them. Any Tier 0 change is an incident, as Book 04 says.
Detail: pa_evidence.py compare loads both runs and checks them first: run.json, each task manifest by its hash, every file against its manifest, nothing extra, every recorded request a GET, and one tenant, cloud and mode throughout. It refuses runs from different modes, clouds or tenants, or a current run that isn't later, as the first workbook's pipeline does (Chapter 09). Results: new, changed, resolved, unchanged: Chapter 01's and Chapter 02's Finding and Warn rows, keyed by rule, object ID and issue. unverified: a task that didn't read the tenant this run; its earlier findings stay open, never resolved. assignment added, removed, changed: Chapter 01's rows, keyed by plane, role, scope, principal and route, with activations left out because they come and go within hours and the audit records each one. audit: this run's PA-AUD findings, events in the window, listed as they are. coverage gap: time between the last window's end and this window's start, or a window whose read failed. incident: any Tier 0 assignment added, removed or changed; any new or changed Tier 0 Finding; any Tier 0 audit Finding. The incident rule is Book 04, Chapter 10's: a drift on a Tier 0 object is a security incident. The emergency access rules, the Global Administrator count and root-scope elevation are Tier 0 whatever the row says. Design guidance. Each result has a fingerprint: the first 16 hex characters of a SHA-256 over the rule, the object ID and the issue, from the first workbook's fingerprint(). The same finding has the same fingerprint every run, so the tracker can find its open issue.
Sources: Building Privileged Access, Chapter 08, docs/project-plans/developer-workbooks/privileged-access/08-evidence-and-drift.md
Workbook: Building Privileged Access, Chapter 08 — “Compare, by fingerprint”.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design choices protect the evidence. First, no names reach the issue tracker. Issue titles come from a fixed catalog, bodies carry object IDs and fingerprints, and a test checks that no name from either run slips through. Names stay in the access-controlled evidence store. Second, each package records the hash of the one before it, so the packages form a chain. Replace a package, or skip a day, and the chain breaks visibly. There's no signature; the hashes plus storage that can't be edited or deleted do that job, and signing stays the ISSO's choice.
Detail: pa_evidence.py issues drafts what to open, comment on and close. A title uses a fixed rule title from a catalog, or a role name, never a finding's own text, because Chapter 01's issue text can name a person. A body carries the rule, severity, tier, object ID and fingerprint, and the run and its run.json hash. Names stay in the drift report, which goes to the access-controlled evidence store. --include-names turns them on for a reviewed exception. A test checks that no name or user principal name from either run appears in the drafts. Design guidance, as in the first workbook's Chapter 09. pa_evidence.py package writes &lt;run-id&gt;/ with the run as written (run/), the drift report and summary (drift/), an EVIDENCE-MANIFEST.json and a SHA256SUMS that sha256sum -c reads. The manifest records the run, the cloud, the tenant ID, the mode, the audit window, each task's status, the run.json hash, the counts, the GitHub run identifiers when there are any, a SHA-256 and size for every file, and the previous package's run ID and manifest hash. That last hash makes the packages a chain: a replaced package or a missing day shows up as a break. The same inputs give the same bytes. verify is what the ISSO runs. The packager doesn't sign, for the reason the first workbook gives: the hashes show nothing changed after packaging, and a container with a locked time-based retention policy keeps blobs from being modified or deleted until the interval ends. Signing stays the ISSO's choice (research gaps, row 87).
Sources: Microsoft Learn, "Store business-critical blob data with immutable storage in a write once, read many (WORM) state," https://learn.microsoft.com/azure/storage/blobs/immutable-storage-overview (accessed Oct 30, 2026; read for the first workbook's Chapter 09).
Workbook: Building Privileged Access, Chapter 08 — “Findings without names”; “The package and the chain”.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deliverable. For any period, the code verifies every package, checks the chain, confirms the windows cover the whole period with no gap, and writes a summary laid out against Gate 4. It's clear about who decides what: the authorizing official accepts residual standing privilege, the ISSO judges the elevations, and one criterion, retiring old group policy settings, simply isn't a privileged read. The sample workflow runs daily with a federated sign-in and no secret, and assembles last month's period on the first. Six-hourly runs need only a shorter schedule.
Detail: pa_evidence.py period --since &lt;start&gt; --until &lt;end&gt; is the plan's A4.3. It verifies every package whose window falls in the period, checks the chain between them and that their windows cover the period with no gap, and writes PERIOD-MANIFEST.json, period-summary.md and SHA256SUMS. The packages stay where they are, cited by their manifest hashes. For the Gate 4 review it gives: residual standing privilege named with a rationale and accepted: Chapter 01's PA-INV-01 rows at period end, on the exceptions list with their reason, or outside it; the authorizing official accepts it. Evidence for every elevation in the period: activations by tier, approvals, denials, T0 or T1 activations without approval, audit coverage gaps, chain breaks; the ISSO, from the period. Exception register current: the exceptions list the inventory read; the governance office. Access-related GPO settings retired: nothing, not a privileged read; identity engineering (A4.1). It also lists every Tier 0 incident by fingerprint, for the ISSO to match against the incident records Gate 3 asks for. Book 04's other monthly items, such as merged pull requests, review history and the governance metrics, come from their own sources. The schedule: workflow/pa-evidence.yml is a sample GitHub Actions workflow, not active in this repository. It follows the first workbook's: Learn's Azure Login sign-in with a federated credential and no secret, pinned actions, a job that can request a token but write nothing else, and a second job with no Azure access that opens issues. It runs daily, starts each audit window where the last package's ended, and on the first of the month assembles the previous month's period. The first workbook's workflow_lint.py checks it with no findings. The project plan's A3.6 sets drift every six hours. A run that often only needs a shorter schedule and the same code; daily is the sample's choice. Design guidance. Learn's samples use azure/login@v2; the sample workflow pins v3.1.0 by commit. The job needs id-token: write; the US Government audience is api://AzureADTokenExchangeUSGov.
Sources: Microsoft Learn, "Use the Azure Login action with OpenID Connect," https://learn.microsoft.com/azure/developer/github/connect-from-azure-openid-connect (accessed Oct 31, 2026; first read for the first workbook's Chapter 09, which pins it in examples/third_party/azure-login-oidc-sample).
Workbook: Building Privileged Access, Chapter 08 — “What the ISSO receives”; “The schedule”.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and pipeline engineers own the scheduled checks. The ISSO and the identity governance officers receive the evidence, and they can check every package with nothing more than a standard hashing tool. The governance officer signs the period summary, and the authorizing official accepts whatever standing privilege remains. The reader app holds nine Graph permissions, and not one of them can write, plus Reader on each Azure scope. It signs in with a certificate or a federated credential, never a secret.
Detail: Audience: developers and pipeline engineers who own the scheduled checks, and the ISSOs and identity governance officers who receive the evidence. You should read PowerShell 7 and Python. You don't need a tenant until Lab 2. Goal: by the end of this chapter you can run the privileged reads on a schedule, say what changed since the last run without putting anyone's name in the issue tracker, show every PIM activation in a window with its approval, and hand the ISSO a package and a period summary they can check with sha256sum alone. For each rule in the code you can say whether it is Microsoft's contract, Microsoft's sample, the first workbook's pipeline, or the program's own design. List directoryAudits needs AuditLog.Read.All (higher: Directory.Read.All), with Reports Reader, Security Reader or Security Administrator as delegated roles. With Chapter 01's five and Chapter 02's six, the run needs nine Graph application permissions, none of them a write, and Reader on each Azure scope. Checklist: the reader app holds exactly the nine Graph permissions and Reader, with a certificate or a federated credential, never a secret. The period summary, with its Gate 4 table, is signed by the identity governance officer, and residual standing privilege is accepted by the authorizing official.
Sources: Microsoft Learn, "List directoryAudits," https://learn.microsoft.com/graph/api/directoryaudit-list?view=graph-rest-1.0 (accessed Oct 30, 2026).
Workbook: Building Privileged Access, Chapter 08 — “Goal and audience”; “The audit read”; “Checklist”.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no tenant. First, run Learn's queries over the fictional audit rows. Eight tests pass, and the third shows the trap: two of the rows the first query returns are assignments made outside PIM. Next, list the run's permissions. There are nine, and none of them can write. Then run two days against the fictional tenant. The second day has three Tier 0 findings: a role assigned outside PIM, an activation nobody approved, and a changed role setting. Open the events file, and you'll see IDs, not names.
Detail: You need PowerShell 7.1 or later with Pester 5, Python 3.10 or later with pytest and PyYAML, and a shell with sha256sum (Linux, macOS or Git Bash). Steps 1 to 4 run in examples/privileged-access in PowerShell; steps 5 to 10 in examples/drift-pipeline in a POSIX shell. Step 1, run Learn's queries over the fixture: Invoke-Pester -Path tests/EvidenceDrift.Tests.ps1 -FullNameFilter '*as published*' -Output None -PassThru | Select-Object PassedCount, FailedCount, NotRunCount gives PassedCount 8, FailedCount 0, NotRunCount 24. Read the third test: two of the 13 rows the first query returns are role assignments made outside PIM. Step 2, list the permissions the run needs: Import-Module ./powershell/PaEvidence/PaEvidence.psm1; (Get-PaEvidencePermission -Task evidence-run).GraphPermissions -join ', ' gives AuditLog.Read.All, GroupMember.ReadBasic.All, Policy.Read.All, RoleAssignmentSchedule.Read.Directory, RoleEligibilitySchedule.Read.Directory, RoleManagement.Read.Directory, User.Read.All, User.ReadBasic.All, UserAuthenticationMethod.Read.All. Nothing ends in ReadWrite. Step 3, run two days against the fictional tenant: a $lab splat with Cloud gcc, the fixture tenant ID, OutputPath out/runs, the audit fixture, the emergency configuration, validations and exceptions inputs, three Azure scopes and the control-plane subscription ID; then ./Invoke-PaEvidenceRun.ps1 @lab -FixturePath tests/fixtures/tenant.json -AsOf 2026-10-29T06:00:00Z and ./Invoke-PaEvidenceRun.ps1 @lab -FixturePath tests/fixtures/ch08/tenant-day2.json -AsOf 2026-10-30T06:00:00Z. Each prints three lines; the second run: "Run 2026-10-30T0600Z-fixture (Fixture, gcc): inventory OK, emergency-access OK, pim-audit OK"; "Audit window 2026-10-29T06:00:00Z to 2026-10-30T06:00:00Z"; "Written to &lt;path&gt;/out/runs/2026-10-30T0600Z-fixture (run.json lists each task's manifest hash)". Step 4, read the second day's audit findings: three Tier 0 Findings: PA-AUD-01 for Privileged Role Administrator assigned to …000000000020 outside PIM (two events, one finding), PA-AUD-02 for a Global Administrator activation by …000000000013 with no approval, and PA-AUD-04 for the Global Administrator role setting change. Day 1 has none: both of its activations were approved by someone else. Open events.json: object IDs, no names. Delete out when you're done; the runs in step 5 are the repository's copies of these two, which a Pester test checks against a fresh run. The commands run Learn's pinned queries over fictional audit rows, and the example against a fictional tenant served by a fake. The sample workflow has been parsed and linted, not run.
Sources: Building Privileged Access, Chapter 08, docs/project-plans/developer-workbooks/privileged-access/08-evidence-and-drift.md
Workbook: Building Privileged Access, Chapter 08 — “Lab 1: fixtures, no tenant,” steps 1–4;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the lab follows the evidence all the way to the ISSO. Compare day one, and it's the baseline. Compare day two, and six incidents appear, while six old findings resolve. Draft the issues, and a search for the fictional domain finds nothing: no names reach the tracker. Package day two, chained to day one, and it verifies. Assemble the period, and the Gate 4 table shows two criteria not met, which is exactly right for this tenant. Finally, edit one file or swap the days, and the checks refuse.
Detail: Steps 5 to 10 run in examples/drift-pipeline, with DAY1=tests/fixtures/pa-runs/2026-10-29T0600Z-fixture and DAY2=tests/fixtures/pa-runs/2026-10-30T0600Z-fixture. Step 5, record a baseline and package it: python python/pa_evidence.py compare --current $DAY1 --out out/day1, then package --run $DAY1 --diff out/day1/pa-drift-report.json --out out/evidence. The compare exits 2 with "baseline": true and 26 new findings. The package's evidence_manifest_sha256 is e10d8543…. Step 6, compare the next day: compare --previous $DAY1 --current $DAY2 --out out/day2; cat out/day2/pa-drift-summary.md. Exit 2: incidents 6; findings new 2, resolved 6, unchanged 20; assignments added 1, removed 1; audit findings 3; coverage gaps 0. The incidents are the standing Privileged Role Administrator assignment (added, and its new PA-INV-01), the removed permanent Global Administrator eligibility, and the three audit Findings. The six resolved are Chapter 02's PA-EA-07 and two PA-EA-08 for ea02, now in the exclusion group, and three of Chapter 01's that went with the removed eligibility. Step 7, draft the findings: issues --diff out/day2/pa-drift-report.json --out out/day2/issues.json; grep -c contoso out/day2/issues.json. {"close": 9, "comment": 0, "open": 7}: six incidents and one new Warn to open; six resolved and three "reads again" to close. grep prints 0: no user principal name reaches the drafts. The new holder's object ID appears four times. Step 8, package and verify the second day, chained to the first: package --run $DAY2 --diff out/day2/pa-drift-report.json --previous-manifest out/evidence/2026-10-29T0600Z-fixture/EVIDENCE-MANIFEST.json --out out/evidence; verify out/evidence/2026-10-30T0600Z-fixture; (cd out/evidence/2026-10-30T0600Z-fixture &amp;&amp; sha256sum -c --quiet SHA256SUMS). The manifest hash is 763d4a1f…, verify reports 15 files, and sha256sum exits 0. In EVIDENCE-MANIFEST.json, previous.evidence_manifest_sha256 is the day 1 hash and tenant_id is the fixture tenant's. Step 9, assemble the period for the ISSO: period --evidence out/evidence --since 2026-10-28T06:00:00Z --until 2026-10-30T06:00:00Z --out out/periods; cat the period-summary.md. Exit 2: two packages, no chain break, no coverage gap; activations 3 (T0 2, T1 1), requests 4, approved 2, denied 1, one T0 or T1 activation without approval, six Tier 0 incidents. The Gate 4 table shows the residual standing privilege criterion not met (one standing assignment on the exceptions list, eight outside it) and the elevation criterion not met (the unapproved activation). Step 10, break it on purpose: echo edited &gt;&gt; the day 2 drift summary, then verify exits 1: drift/pa-drift-summary.md doesn't match its SHA-256. The swapped compare (--previous $DAY2 --current $DAY1) exits 1: the current run isn't later than the previous one. python python/workflow_lint.py workflow/pa-evidence.yml lints with 0 finding(s), 0 warning(s). Expected result: Invoke-Pester -Path tests/EvidenceDrift.Tests.ps1 in examples/privileged-access passes 32 tests, and python -m pytest tests -q in examples/drift-pipeline passes 115. Invoke-Pester -Path tests runs every chapter's tests and should pass them all. Delete out in both folders when you're done. The tests: tests/EvidenceDrift.Tests.ps1, 32 tests, 8 of them Learn's queries as published; pytest tests/test_pa_evidence.py, 41 tests over the two fixture runs; with the first workbook's, 115 in examples/drift-pipeline. A Pester test reruns the evidence run from the fixtures and checks its data files match the fixture runs the Python tests read. None needs a tenant or a network.
Sources: Building Privileged Access, Chapter 08, docs/project-plans/developer-workbooks/privileged-access/08-evidence-and-drift.md
Workbook: Building Privileged Access, Chapter 08 — “Lab 1: fixtures, no tenant,” steps 5–10; “The tests”.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uses a test tenant, never production, and the run only reads. You register the reader app with the nine permissions, make one test activation of a low-tier role, and run the evidence twice, once before and once after. Then comes the real point of the lab: checking what the fixtures assumed, like which service name PIM's events carry and whether the request ID is filled in. Cross-check against PIM's own audit view, as Learn describes, then compare and package the two runs. Back it out, and in production, lock the retention policy.
Detail: Use a test tenant in the worldwide or GCC cloud with Microsoft Entra ID P2 or ID Governance, and a test Azure subscription, never production, with fictional people. The run only reads. 1 Register the reader app in the tenant's own cloud (for GCC, the worldwide Microsoft Entra admin center) with a certificate. Grant the nine application permissions from Lab 1, step 2, with admin consent, and nothing else. Grant Reader on the test subscription. 2 Make one activation to see: as a test administrator, make a test user eligible for Helpdesk Administrator (T2) through PIM, and have the user activate it with a justification. 3 Run twice: once before step 2's activation and once after, with your own inputs: Connect-MgGraph -Environment Global -TenantId &lt;tenant-id&gt; -ClientId &lt;app-id&gt; -CertificateThumbprint &lt;thumbprint&gt;; Connect-AzAccount -ServicePrincipal -Environment AzureCloud -Tenant &lt;tenant-id&gt; -ApplicationId &lt;app-id&gt; -CertificateThumbprint &lt;thumbprint&gt;; ./Invoke-PaEvidenceRun.ps1 -Cloud gcc -TenantId &lt;tenant-id&gt; -OutputPath out/runs-test -AzureScope /subscriptions/&lt;test-subscription-id&gt; -EmergencyConfigPath emergency-access.json -ValidationsPath emergency-validations.csv -ExceptionsPath exceptions.csv. For the second run, pass -Since with the first run's window end, from its run.json. 4 Check what the fixture assumed: in the second run's pim-audit/events.json, record which loggedByService value the events carry (research gaps, row 81), whether RequestId is filled, which means the additionalDetails key is roleAssignmentRequestId (row 82), and whether RoleId is the role's template ID (row 83). In requests.json, the activation should show Requested and Activated. 5 Cross-check against Learn's procedure: in the admin center, open ID Governance &gt; Privileged Identity Management &gt; Microsoft Entra roles &gt; Resource audit for the same window, as Learn's page describes. Every activation there should be in requests.json. If the tenant sends audit logs to a workspace (Chapter 02, Lab 2), run Learn's second query there with the real request ID: it should return the same events (row 84). 6 Compare and package locally: run steps 5 to 8 of Lab 1 on the two test runs. The second compare should show the activation in the audit summary and no assignment drift for it. 7 Back it out: let the activation expire or deactivate it, remove the test eligibility, remove the nine permissions and the Reader assignment, delete the app registration and its certificate, and delete out/runs-test and the packages: they hold the tenant's privileged holders. If you ran the sample workflow in a test repository, follow the first workbook's Chapter 09, Lab 2 for its federated credential and an unlocked retention policy, and its back-out. In production, lock the evidence container's retention policy once Lab 2 passes; Learn says an unlocked policy is for testing only.
Sources: Microsoft Learn, "View audit history for Microsoft Entra roles in Privileged Identity Management," https://learn.microsoft.com/entra/id-governance/privileged-identity-management/pim-how-to-use-audit-log (accessed Oct 30, 2026). · Microsoft Learn, "Store business-critical blob data with immutable storage in a write once, read many (WORM) state," https://learn.microsoft.com/azure/storage/blobs/immutable-storage-overview (accessed Oct 30, 2026; read for the first workbook's Chapter 09).
Workbook: Building Privileged Access, Chapter 08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danger here is a way evidence can lie. The quietest is a failed read that looks like a fix: a permissions error, and yesterday's findings simply vanish. The code marks the task as an error and keeps those findings open. Close behind is a day nobody read, which would let a gate pass on the days that were. Others are about trust: names leaking into the tracker, a run edited or swapped, a package quietly replaced. And one is about attention: count every activation as drift, and people stop reading the incident queue.
Detail: A failed read reported as a fix: a 403 makes yesterday's findings disappear; guard: a failed task is Error with no folder; its findings stay unverified, never resolved. A day nobody read: an activation in the gap has no evidence, and Gate 4 passes on the days that were read; guard: each window starts where the last ended; a gap is a coverage gap in the report and the period. A window older than the log: the read returns part of the window and looks complete; guard: refused past 30 days; read the gap from the workspace and attach it. An outside-PIM assignment counted as an activation: standing Tier 0 privilege hides among normal elevations; guard: PA-AUD-01, apart from activations; a test pins that Learn's first query mixes them. An activation with no approval: a Tier 0 role used without the second person; guard: PA-AUD-02 and PA-AUD-03. A PIM setting relaxed in the portal: approval is switched off and the next activation looks routine; guard: PA-AUD-04, a Tier 0 incident for the top roles. Names in the tracker: privileged holders are listed for everyone with read access to the repository; guard: fixed rule titles, object IDs only; a test searches the drafts for every name in the runs. A run edited, or swapped with another tenant's: the evidence describes a run that never happened; guard: every file checked against its manifest, each manifest against run.json; tenant, cloud and mode must match. A replaced package: a bad day is quietly rewritten; guard: the hash chain; period reports the break; a locked retention policy. An activation counted as drift: every activation opens a Tier 0 incident, and the incident queue is ignored; guard: Activated rows are left out of the assignment comparison; the audit evidence covers them. The wrong cloud: a GCC High run reads graph.microsoft.com; guard: required cloud, no default; Chapter 01's reader checks the host on every page.
Sources: Microsoft Learn, "Microsoft Entra data retention," activity reports, https://learn.microsoft.com/entra/identity/monitoring-health/reference-reports-data-retention (accessed Oct 30, 2026). · Microsoft Learn, "Microsoft Entra security operations for Privileged Identity Management," baselines, PIM alerts and Microsoft Entra roles assignment, https://learn.microsoft.com/entra/architecture/security-operations-privileged-identity-management (accessed Oct 30, 2026). · Microsoft Learn, "Store business-critical blob data with immutable storage in a write once, read many (WORM) state," https://learn.microsoft.com/azure/storage/blobs/immutable-storage-overview (accessed Oct 30, 2026; read for the first workbook's Chapter 09).
Workbook: Building Privileged Access, Chapter 08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run side: all three tasks succeed, the reader holds exactly nine read-only permissions and no secret, every window picks up where the last one ended, and every Tier 0 incident has a record. On the evidence side: no names in the tracker, every package verifies with a standard hashing tool, the chain is unbroken, the storage is locked, and the period summary is signed and accepted. That's the last chapter; the workbook index lists all eight if you want to go back. Thanks for watching.
Detail: Checklist: the run reads the inventory, the emergency access check and the PIM audit, and run.json shows all three OK. The reader app holds exactly the nine Graph permissions and Reader, with a certificate or a federated credential, never a secret. Each audit window starts where the last one ended, and the newest package is from today. Lab 2 recorded PIM's service name, the request ID key and the role target, and the code matches what it found. Every Tier 0 incident in the period has an incident record. Issue bodies carry object IDs, not names. Each package verifies with sha256sum -c SHA256SUMS, and the period shows no chain break and no coverage gap. The evidence container has a locked time-based retention policy in production. The period summary, with its Gate 4 table, is signed by the identity governance officer, and residual standing privilege is accepted by the authorizing official. The pinned Learn page matches its manifest, and every upstream commit since the pin has been reviewed. Continue the book: previous, Chapter 07 — Access Reviews of Privileged Roles; the workbook index.
Sources: Microsoft Learn, "Store business-critical blob data with immutable storage in a write once, read many (WORM) state," https://learn.microsoft.com/azure/storage/blobs/immutable-storage-overview (accessed Oct 30, 2026; read for the first workbook's Chapter 09). · Microsoft, MicrosoftDocs/entra-docs, docs/id-governance/privileged-identity-management/pim-how-to-use-audit-log.md at commit 07cb73d6c6380414eecd040ba5e14c1c94d48b66 (October 30, 2026; the page last changed September 3, 2026), MIT License, https://github.com/MicrosoftDocs/entra-docs/blob/07cb73d6c6380414eecd040ba5e14c1c94d48b66/docs/id-governance/privileged-identity-management/pim-how-to-use-audit-log.md (accessed Oct 30, 2026); pinned copy in examples/third_party/entra-pim-audit-page.
Workbook: Building Privileged Access, Chapter 08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Privileged Access  ·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12.xml"/><Relationship Id="rId8"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08: Evidence and Drift for the ISSO</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Privileged Access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What the evidence must show · Learn's audit queries and their gaps · run, compare, package, period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8F5B2FEA-AC99-81B5-36B9-70B7127A6E9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C4B12FB-36F0-4F89-858B-67007770F2E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850"/>
    </mc:Choice>
    <mc:Fallback>
      <p:transition spd="slow" advTm="41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84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evidence has to show</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An inventory taken once proves the day it was taken.</a:t>
            </a:r>
            <a:endParaRPr lang="en-US" sz="1800" dirty="0"/>
          </a:p>
        </p:txBody>
      </p:sp>
      <p:sp>
        <p:nvSpPr>
          <p:cNvPr id="6" name="Panel What the program asks">
            <a:extLst>
              <a:ext uri="{C183D7F6-B498-43B3-948B-1728B52AA6E4}">
                <adec:decorative xmlns:adec="http://schemas.microsoft.com/office/drawing/2017/decorative" val="1"/>
              </a:ext>
            </a:extLst>
          </p:cNvPr>
          <p:cNvSpPr/>
          <p:nvPr/>
        </p:nvSpPr>
        <p:spPr>
          <a:xfrm>
            <a:off x="548640" y="1837944"/>
            <a:ext cx="5417820" cy="2767584"/>
          </a:xfrm>
          <a:prstGeom prst="roundRect">
            <a:avLst>
              <a:gd name="adj" fmla="val 264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What the program asks label"/>
          <p:cNvSpPr txBox="1"/>
          <p:nvPr/>
        </p:nvSpPr>
        <p:spPr>
          <a:xfrm>
            <a:off x="731520" y="194767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THE PROGRAM ASKS</a:t>
            </a:r>
            <a:endParaRPr lang="en-US" sz="1100" dirty="0"/>
          </a:p>
        </p:txBody>
      </p:sp>
      <p:sp>
        <p:nvSpPr>
          <p:cNvPr id="8" name="Panel What the program asks list"/>
          <p:cNvSpPr txBox="1"/>
          <p:nvPr/>
        </p:nvSpPr>
        <p:spPr>
          <a:xfrm>
            <a:off x="731520" y="2249424"/>
            <a:ext cx="5097780" cy="231038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Gate 3: "a Tier 0 drift handled as an incident"</a:t>
            </a:r>
            <a:endParaRPr lang="en-US" sz="1550" dirty="0"/>
          </a:p>
          <a:p>
            <a:pPr marL="342900" indent="-342900">
              <a:spcAft>
                <a:spcPts val="400"/>
              </a:spcAft>
              <a:buSzPct val="100000"/>
              <a:buChar char="•"/>
            </a:pPr>
            <a:r>
              <a:rPr lang="en-US" sz="1550" dirty="0">
                <a:solidFill>
                  <a:srgbClr val="334155"/>
                </a:solidFill>
              </a:rPr>
              <a:t>Gate 4: residual standing privilege named and accepted, "evidence for every elevation in the period," a current exception register</a:t>
            </a:r>
            <a:endParaRPr lang="en-US" sz="1550" dirty="0"/>
          </a:p>
          <a:p>
            <a:pPr marL="342900" indent="-342900">
              <a:spcAft>
                <a:spcPts val="400"/>
              </a:spcAft>
              <a:buSzPct val="100000"/>
              <a:buChar char="•"/>
            </a:pPr>
            <a:r>
              <a:rPr lang="en-US" sz="1550" dirty="0">
                <a:solidFill>
                  <a:srgbClr val="334155"/>
                </a:solidFill>
              </a:rPr>
              <a:t>Book 04, Ch 10: Tier 0 drift is "a security incident"; the monthly package's contents</a:t>
            </a:r>
            <a:endParaRPr lang="en-US" sz="1550" dirty="0"/>
          </a:p>
          <a:p>
            <a:pPr marL="342900" indent="-342900">
              <a:spcAft>
                <a:spcPts val="400"/>
              </a:spcAft>
              <a:buSzPct val="100000"/>
              <a:buChar char="•"/>
            </a:pPr>
            <a:r>
              <a:rPr lang="en-US" sz="1550" dirty="0">
                <a:solidFill>
                  <a:srgbClr val="334155"/>
                </a:solidFill>
              </a:rPr>
              <a:t>Book 04, Ch 08: export PIM audit records before retention closes; correlate by request, not session</a:t>
            </a:r>
            <a:endParaRPr lang="en-US" sz="1550" dirty="0"/>
          </a:p>
        </p:txBody>
      </p:sp>
      <p:sp>
        <p:nvSpPr>
          <p:cNvPr id="9" name="Panel Two facts the design turns on">
            <a:extLst>
              <a:ext uri="{C183D7F6-B498-43B3-948B-1728B52AA6E4}">
                <adec:decorative xmlns:adec="http://schemas.microsoft.com/office/drawing/2017/decorative" val="1"/>
              </a:ext>
            </a:extLst>
          </p:cNvPr>
          <p:cNvSpPr/>
          <p:nvPr/>
        </p:nvSpPr>
        <p:spPr>
          <a:xfrm>
            <a:off x="6240780" y="1837944"/>
            <a:ext cx="5417820" cy="2767584"/>
          </a:xfrm>
          <a:prstGeom prst="roundRect">
            <a:avLst>
              <a:gd name="adj" fmla="val 264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Panel Two facts the design turns on label"/>
          <p:cNvSpPr txBox="1"/>
          <p:nvPr/>
        </p:nvSpPr>
        <p:spPr>
          <a:xfrm>
            <a:off x="6423660" y="1947672"/>
            <a:ext cx="5052060" cy="274320"/>
          </a:xfrm>
          <a:prstGeom prst="rect">
            <a:avLst/>
          </a:prstGeom>
          <a:noFill/>
          <a:ln/>
        </p:spPr>
        <p:txBody>
          <a:bodyPr wrap="square" lIns="0" tIns="0" rIns="0" bIns="0" rtlCol="0" anchor="t"/>
          <a:lstStyle/>
          <a:p>
            <a:pPr marL="0" indent="0">
              <a:buNone/>
            </a:pPr>
            <a:r>
              <a:rPr lang="en-US" sz="1100" b="1" kern="0" spc="50" dirty="0">
                <a:solidFill>
                  <a:srgbClr val="B45309"/>
                </a:solidFill>
              </a:rPr>
              <a:t>TWO FACTS THE DESIGN TURNS ON</a:t>
            </a:r>
            <a:endParaRPr lang="en-US" sz="1100" dirty="0"/>
          </a:p>
        </p:txBody>
      </p:sp>
      <p:sp>
        <p:nvSpPr>
          <p:cNvPr id="11" name="Panel Two facts the design turns on list"/>
          <p:cNvSpPr txBox="1"/>
          <p:nvPr/>
        </p:nvSpPr>
        <p:spPr>
          <a:xfrm>
            <a:off x="6423660" y="2249424"/>
            <a:ext cx="5097780" cy="231038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Entra audit logs are kept 30 days with P1 or P2, seven days on Free</a:t>
            </a:r>
            <a:endParaRPr lang="en-US" sz="1550" dirty="0"/>
          </a:p>
          <a:p>
            <a:pPr marL="342900" indent="-342900">
              <a:spcAft>
                <a:spcPts val="400"/>
              </a:spcAft>
              <a:buSzPct val="100000"/>
              <a:buChar char="•"/>
            </a:pPr>
            <a:r>
              <a:rPr lang="en-US" sz="1550" dirty="0">
                <a:solidFill>
                  <a:srgbClr val="334155"/>
                </a:solidFill>
              </a:rPr>
              <a:t>PIM can log one activation under several correlation IDs, when it waits for approval or starts at a scheduled time</a:t>
            </a:r>
            <a:endParaRPr lang="en-US" sz="1550" dirty="0"/>
          </a:p>
          <a:p>
            <a:pPr marL="342900" indent="-342900">
              <a:spcAft>
                <a:spcPts val="400"/>
              </a:spcAft>
              <a:buSzPct val="100000"/>
              <a:buChar char="•"/>
            </a:pPr>
            <a:r>
              <a:rPr lang="en-US" sz="1550" dirty="0">
                <a:solidFill>
                  <a:srgbClr val="334155"/>
                </a:solidFill>
              </a:rPr>
              <a:t>roleAssignmentRequestId stays the same through all of it</a:t>
            </a:r>
            <a:endParaRPr lang="en-US" sz="15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Microsoft Entra data retention; View audit history for Entra roles in PIM. Project plan Gates 3–4; Book 04, Ch 08, Ch 10. Chapter 08, “What the evidence has to show.”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FB501235-8879-5198-1134-F2114C8888C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508A378-FDE3-4990-996B-327C3651400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980"/>
    </mc:Choice>
    <mc:Fallback>
      <p:transition spd="slow" advTm="37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98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the audit read's Graph host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202180"/>
        </p:xfrm>
        <a:graphic>
          <a:graphicData uri="http://schemas.openxmlformats.org/drawingml/2006/table">
            <a:tbl>
              <a:tblPr firstRow="1" bandRow="1"/>
              <a:tblGrid>
                <a:gridCol w="2338939">
                  <a:extLst>
                    <a:ext uri="{9D8B030D-6E8A-4147-A177-3AD203B41FA5}">
                      <a16:colId xmlns:a16="http://schemas.microsoft.com/office/drawing/2014/main" val="20000"/>
                    </a:ext>
                  </a:extLst>
                </a:gridCol>
                <a:gridCol w="4872789">
                  <a:extLst>
                    <a:ext uri="{9D8B030D-6E8A-4147-A177-3AD203B41FA5}">
                      <a16:colId xmlns:a16="http://schemas.microsoft.com/office/drawing/2014/main" val="20001"/>
                    </a:ext>
                  </a:extLst>
                </a:gridCol>
                <a:gridCol w="3898232">
                  <a:extLst>
                    <a:ext uri="{9D8B030D-6E8A-4147-A177-3AD203B41FA5}">
                      <a16:colId xmlns:a16="http://schemas.microsoft.com/office/drawing/2014/main" val="20002"/>
                    </a:ext>
                  </a:extLst>
                </a:gridCol>
              </a:tblGrid>
              <a:tr h="345948">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Piece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Microsoft 365 GCC with commercial Azure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GCC High and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81838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The audit read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Microsoft Graph at graph.microsoft.com (the worldwide endpoints, with login.microsoftonline.com)</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graph.microsoft.us (GCC High); dod-graph.microsoft.us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594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List directoryAudits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Available in the global service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US Government L4 and L5</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594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PIM</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Part of Entra ID Governance, available in GCC</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Available in GCC High and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594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Azure reads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Resource Manager at management.azure.com</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Azure Government</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3710940"/>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3784092"/>
            <a:ext cx="606552" cy="606552"/>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3929664"/>
            <a:ext cx="315407" cy="315407"/>
          </a:xfrm>
          <a:prstGeom prst="rect">
            <a:avLst/>
          </a:prstGeom>
        </p:spPr>
      </p:pic>
      <p:sp>
        <p:nvSpPr>
          <p:cNvPr id="9" name="Callout text"/>
          <p:cNvSpPr txBox="1"/>
          <p:nvPr/>
        </p:nvSpPr>
        <p:spPr>
          <a:xfrm>
            <a:off x="1600200" y="3765804"/>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In the code: </a:t>
            </a:r>
            <a:r>
              <a:rPr lang="en-US" sz="1750" dirty="0">
                <a:solidFill>
                  <a:srgbClr val="334155"/>
                </a:solidFill>
              </a:rPr>
              <a:t>the cloud is a required parameter with no default, and Chapter 01's reader sends the token only to that cloud's host, on every page.</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Microsoft Graph national cloud deployments; List directoryAudits; Microsoft Entra feature availability. Chapter 08, “Which cloud, for this read.”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90440E7B-4F34-341E-82FA-19B42D9DF50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5DF630F-6276-45B0-B9B9-A15ABA21B71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380"/>
    </mc:Choice>
    <mc:Fallback>
      <p:transition spd="slow" advTm="37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38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Learn's PIM audit page and its three queries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Learn gives">
            <a:extLst>
              <a:ext uri="{C183D7F6-B498-43B3-948B-1728B52AA6E4}">
                <adec:decorative xmlns:adec="http://schemas.microsoft.com/office/drawing/2017/decorative" val="1"/>
              </a:ext>
            </a:extLst>
          </p:cNvPr>
          <p:cNvSpPr/>
          <p:nvPr/>
        </p:nvSpPr>
        <p:spPr>
          <a:xfrm>
            <a:off x="548640" y="1325880"/>
            <a:ext cx="5417820" cy="3593592"/>
          </a:xfrm>
          <a:prstGeom prst="roundRect">
            <a:avLst>
              <a:gd name="adj" fmla="val 203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Learn giv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LEARN GIVES</a:t>
            </a:r>
            <a:endParaRPr lang="en-US" sz="1100" dirty="0"/>
          </a:p>
        </p:txBody>
      </p:sp>
      <p:sp>
        <p:nvSpPr>
          <p:cNvPr id="7" name="Panel What Learn gives list"/>
          <p:cNvSpPr txBox="1"/>
          <p:nvPr/>
        </p:nvSpPr>
        <p:spPr>
          <a:xfrm>
            <a:off x="73152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PIM's resource audit in the admin center covers the past 30 days; route logs to storage or Log Analytics to keep them longer</a:t>
            </a:r>
            <a:endParaRPr lang="en-US" sz="1450" dirty="0"/>
          </a:p>
          <a:p>
            <a:pPr marL="342900" indent="-342900">
              <a:spcAft>
                <a:spcPts val="400"/>
              </a:spcAft>
              <a:buSzPct val="100000"/>
              <a:buChar char="•"/>
            </a:pPr>
            <a:r>
              <a:rPr lang="en-US" sz="1450" dirty="0">
                <a:solidFill>
                  <a:srgbClr val="334155"/>
                </a:solidFill>
              </a:rPr>
              <a:t>Query 1: role activations, OperationName has "Add member to role"</a:t>
            </a:r>
            <a:endParaRPr lang="en-US" sz="1450" dirty="0"/>
          </a:p>
          <a:p>
            <a:pPr marL="342900" indent="-342900">
              <a:spcAft>
                <a:spcPts val="400"/>
              </a:spcAft>
              <a:buSzPct val="100000"/>
              <a:buChar char="•"/>
            </a:pPr>
            <a:r>
              <a:rPr lang="en-US" sz="1450" dirty="0">
                <a:solidFill>
                  <a:srgbClr val="334155"/>
                </a:solidFill>
              </a:rPr>
              <a:t>Query 2: one request's entries by roleAssignmentRequestId</a:t>
            </a:r>
            <a:endParaRPr lang="en-US" sz="1450" dirty="0"/>
          </a:p>
          <a:p>
            <a:pPr marL="342900" indent="-342900">
              <a:spcAft>
                <a:spcPts val="400"/>
              </a:spcAft>
              <a:buSzPct val="100000"/>
              <a:buChar char="•"/>
            </a:pPr>
            <a:r>
              <a:rPr lang="en-US" sz="1450" dirty="0">
                <a:solidFill>
                  <a:srgbClr val="334155"/>
                </a:solidFill>
              </a:rPr>
              <a:t>Query 3: a whole activation and deactivation cycle, adding those entries' correlation IDs</a:t>
            </a:r>
            <a:endParaRPr lang="en-US" sz="1450" dirty="0"/>
          </a:p>
          <a:p>
            <a:pPr marL="342900" indent="-342900">
              <a:spcAft>
                <a:spcPts val="400"/>
              </a:spcAft>
              <a:buSzPct val="100000"/>
              <a:buChar char="•"/>
            </a:pPr>
            <a:r>
              <a:rPr lang="en-US" sz="1450" dirty="0">
                <a:solidFill>
                  <a:srgbClr val="334155"/>
                </a:solidFill>
              </a:rPr>
              <a:t>The activity list names what PIM logs; the security operations guide: monitor outside-PIM assignments and PIM setting changes</a:t>
            </a:r>
            <a:endParaRPr lang="en-US" sz="1450" dirty="0"/>
          </a:p>
        </p:txBody>
      </p:sp>
      <p:sp>
        <p:nvSpPr>
          <p:cNvPr id="8" name="Panel The pinned copy">
            <a:extLst>
              <a:ext uri="{C183D7F6-B498-43B3-948B-1728B52AA6E4}">
                <adec:decorative xmlns:adec="http://schemas.microsoft.com/office/drawing/2017/decorative" val="1"/>
              </a:ext>
            </a:extLst>
          </p:cNvPr>
          <p:cNvSpPr/>
          <p:nvPr/>
        </p:nvSpPr>
        <p:spPr>
          <a:xfrm>
            <a:off x="6240780" y="1325880"/>
            <a:ext cx="5417820" cy="3593592"/>
          </a:xfrm>
          <a:prstGeom prst="roundRect">
            <a:avLst>
              <a:gd name="adj" fmla="val 203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a:t>
            </a:r>
            <a:endParaRPr lang="en-US" sz="1100" dirty="0"/>
          </a:p>
        </p:txBody>
      </p:sp>
      <p:sp>
        <p:nvSpPr>
          <p:cNvPr id="10" name="Panel The pinned copy list"/>
          <p:cNvSpPr txBox="1"/>
          <p:nvPr/>
        </p:nvSpPr>
        <p:spPr>
          <a:xfrm>
            <a:off x="642366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Page source pinned unmodified in examples/third_party/entra-pim-audit-page, entra-docs commit 07cb73d (Oct 30, 2026), MIT</a:t>
            </a:r>
            <a:endParaRPr lang="en-US" sz="1450" dirty="0"/>
          </a:p>
          <a:p>
            <a:pPr marL="342900" indent="-342900">
              <a:spcAft>
                <a:spcPts val="400"/>
              </a:spcAft>
              <a:buSzPct val="100000"/>
              <a:buChar char="•"/>
            </a:pPr>
            <a:r>
              <a:rPr lang="en-US" sz="1450" dirty="0">
                <a:solidFill>
                  <a:srgbClr val="334155"/>
                </a:solidFill>
              </a:rPr>
              <a:t>snapshot.json SHA-256s and blob hashes, a unit test, the weekly source watch</a:t>
            </a:r>
            <a:endParaRPr lang="en-US" sz="1450" dirty="0"/>
          </a:p>
          <a:p>
            <a:pPr marL="342900" indent="-342900">
              <a:spcAft>
                <a:spcPts val="400"/>
              </a:spcAft>
              <a:buSzPct val="100000"/>
              <a:buChar char="•"/>
            </a:pPr>
            <a:r>
              <a:rPr lang="en-US" sz="1450" dirty="0">
                <a:solidFill>
                  <a:srgbClr val="334155"/>
                </a:solidFill>
              </a:rPr>
              <a:t>Tests run the three queries unmodified over 18 fictional audit items in AuditLogs column names</a:t>
            </a:r>
            <a:endParaRPr lang="en-US" sz="1450" dirty="0"/>
          </a:p>
          <a:p>
            <a:pPr marL="342900" indent="-342900">
              <a:spcAft>
                <a:spcPts val="400"/>
              </a:spcAft>
              <a:buSzPct val="100000"/>
              <a:buChar char="•"/>
            </a:pPr>
            <a:r>
              <a:rPr lang="en-US" sz="1450" dirty="0">
                <a:solidFill>
                  <a:srgbClr val="334155"/>
                </a:solidFill>
              </a:rPr>
              <a:t>Not a KQL engine; nothing sent to a workspace</a:t>
            </a:r>
            <a:endParaRPr lang="en-US" sz="1450" dirty="0"/>
          </a:p>
        </p:txBody>
      </p:sp>
      <p:sp>
        <p:nvSpPr>
          <p:cNvPr id="11" name="Callout">
            <a:extLst>
              <a:ext uri="{C183D7F6-B498-43B3-948B-1728B52AA6E4}">
                <adec:decorative xmlns:adec="http://schemas.microsoft.com/office/drawing/2017/decorative" val="1"/>
              </a:ext>
            </a:extLst>
          </p:cNvPr>
          <p:cNvSpPr/>
          <p:nvPr/>
        </p:nvSpPr>
        <p:spPr>
          <a:xfrm>
            <a:off x="548640" y="5102352"/>
            <a:ext cx="11109960" cy="737616"/>
          </a:xfrm>
          <a:prstGeom prst="roundRect">
            <a:avLst>
              <a:gd name="adj" fmla="val 99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Filter">
            <a:extLst>
              <a:ext uri="{C183D7F6-B498-43B3-948B-1728B52AA6E4}">
                <adec:decorative xmlns:adec="http://schemas.microsoft.com/office/drawing/2017/decorative" val="1"/>
              </a:ext>
            </a:extLst>
          </p:cNvPr>
          <p:cNvSpPr/>
          <p:nvPr/>
        </p:nvSpPr>
        <p:spPr>
          <a:xfrm>
            <a:off x="749808" y="5175504"/>
            <a:ext cx="591312" cy="59131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1723" y="5317419"/>
            <a:ext cx="307482" cy="307482"/>
          </a:xfrm>
          <a:prstGeom prst="rect">
            <a:avLst/>
          </a:prstGeom>
        </p:spPr>
      </p:pic>
      <p:sp>
        <p:nvSpPr>
          <p:cNvPr id="14" name="Callout text"/>
          <p:cNvSpPr txBox="1"/>
          <p:nvPr/>
        </p:nvSpPr>
        <p:spPr>
          <a:xfrm>
            <a:off x="1600200" y="5157216"/>
            <a:ext cx="9875520" cy="627888"/>
          </a:xfrm>
          <a:prstGeom prst="rect">
            <a:avLst/>
          </a:prstGeom>
          <a:noFill/>
          <a:ln/>
        </p:spPr>
        <p:txBody>
          <a:bodyPr wrap="square" lIns="0" tIns="0" rIns="0" bIns="0" rtlCol="0" anchor="ctr"/>
          <a:lstStyle/>
          <a:p>
            <a:pPr marL="0" indent="0">
              <a:buNone/>
            </a:pPr>
            <a:r>
              <a:rPr lang="en-US" sz="1700" b="1" dirty="0">
                <a:solidFill>
                  <a:srgbClr val="B45309"/>
                </a:solidFill>
              </a:rPr>
              <a:t>Not used: </a:t>
            </a:r>
            <a:r>
              <a:rPr lang="en-US" sz="1700" dirty="0">
                <a:solidFill>
                  <a:srgbClr val="334155"/>
                </a:solidFill>
              </a:rPr>
              <a:t>Sentinel rule templates for PIM exist and Learn links them, but they run in a Sentinel workspace, and Learn's page already gives the queries needed.</a:t>
            </a:r>
            <a:endParaRPr lang="en-US" sz="17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View audit history for Entra roles in PIM; audit log activities; security operations for PIM; entra-docs at 07cb73d (MIT). Chapter 08,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FE7AD03-C031-B83D-7A67-5CC5AC15559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9253BB9-0A6B-4C92-9E96-6899AB35DD1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110"/>
    </mc:Choice>
    <mc:Fallback>
      <p:transition spd="slow" advTm="39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11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queries find, and what they mix up</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45408"/>
        </p:xfrm>
        <a:graphic>
          <a:graphicData uri="http://schemas.openxmlformats.org/drawingml/2006/table">
            <a:tbl>
              <a:tblPr firstRow="1" bandRow="1"/>
              <a:tblGrid>
                <a:gridCol w="42062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Learn's queries, as published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the code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Query 1 finds the three completed activations in the fixture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Kept as the model: the activity names, from Learn's list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Query 1 also returns two outside-PIM role assignments, mixed in with 11 activation events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standing Tier 0 assignment looks like one more activation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Each event classed by activity name; outside PIM is PA-AUD-01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Query 1 misses deactivations and the role setting change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 says alert on every PIM setting change for the top roles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Every PIM event in the window; a setting change is PA-AUD-04</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6316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Query 2 as published holds the placeholder {roleAssignmentRequestId}; it matches the key name, so it returns all 13 events with a request ID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query copied as published selects no single request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Reads each event's request ID and groups by 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With a real request ID: one activation across three correlation IDs; query 3 adds the deactivation (four events become five)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Kept: the request ID is the key; an event without one joins the request sharing its correlation ID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View audit history for Entra roles in PIM; audit log activities; security operations for PIM. Chapter 08, “What it leaves to you,” rows 1–6.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458EF289-583F-EA0C-0256-114E506B68C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35B2AA8-30CA-4DE1-9701-9E66EDD10DE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700"/>
    </mc:Choice>
    <mc:Fallback>
      <p:transition spd="slow" advTm="41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70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queries leave out entirely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564892"/>
        </p:xfrm>
        <a:graphic>
          <a:graphicData uri="http://schemas.openxmlformats.org/drawingml/2006/table">
            <a:tbl>
              <a:tblPr firstRow="1" bandRow="1"/>
              <a:tblGrid>
                <a:gridCol w="33832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345948">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Learn's queries, as published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Why it matters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What the code adds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81838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One request at a time, no time window, no tier, no check of the approval</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"Every elevation in the period" can't be shown one request at a time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A window per run, a tier per role; PA-AUD-02 (no approval), PA-AUD-03 (self-approved)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838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Runs only in Log Analytics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Needs a workspace and its diagnostic setting before any evidence exists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Graph's directory audit log with AuditLog.Read.All; refuses a window older than 30 days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Stops at the query</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No comparison, no package, nothing for the ISSO</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pa_evidence.py: compare, issues, package, verify and period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Lead"/>
          <p:cNvSpPr txBox="1"/>
          <p:nvPr/>
        </p:nvSpPr>
        <p:spPr>
          <a:xfrm>
            <a:off x="548640" y="4073652"/>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Verdict: Learn's request ID is the key, its activity names the vocabulary. Query 1 isn't evidence of elevation: it mixes in direct assignments and shows no approvals.</a:t>
            </a:r>
            <a:endParaRPr lang="en-US" sz="180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directoryAudits; Microsoft Entra data retention; View audit history for Entra roles in PIM. Chapter 08, “What it leaves to you,” rows 7–9;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F1CDDC6B-C24B-D1AE-A037-6CFC72F44C8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901ED2F-5AE7-4C0F-9B5B-895E71B5DFD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950"/>
    </mc:Choice>
    <mc:Fallback>
      <p:transition spd="slow" advTm="39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95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run: state, events, and one folder per run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hree parts, and a chain">
            <a:extLst>
              <a:ext uri="{C183D7F6-B498-43B3-948B-1728B52AA6E4}">
                <adec:decorative xmlns:adec="http://schemas.microsoft.com/office/drawing/2017/decorative" val="1"/>
              </a:ext>
            </a:extLst>
          </p:cNvPr>
          <p:cNvSpPr/>
          <p:nvPr/>
        </p:nvSpPr>
        <p:spPr>
          <a:xfrm>
            <a:off x="548640" y="1325880"/>
            <a:ext cx="5634533" cy="2935224"/>
          </a:xfrm>
          <a:prstGeom prst="roundRect">
            <a:avLst>
              <a:gd name="adj" fmla="val 249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ree parts, and a chain label"/>
          <p:cNvSpPr txBox="1"/>
          <p:nvPr/>
        </p:nvSpPr>
        <p:spPr>
          <a:xfrm>
            <a:off x="731520" y="1435608"/>
            <a:ext cx="5268773" cy="274320"/>
          </a:xfrm>
          <a:prstGeom prst="rect">
            <a:avLst/>
          </a:prstGeom>
          <a:noFill/>
          <a:ln/>
        </p:spPr>
        <p:txBody>
          <a:bodyPr wrap="square" lIns="0" tIns="0" rIns="0" bIns="0" rtlCol="0" anchor="t"/>
          <a:lstStyle/>
          <a:p>
            <a:pPr marL="0" indent="0">
              <a:buNone/>
            </a:pPr>
            <a:r>
              <a:rPr lang="en-US" sz="1100" b="1" kern="0" spc="50" dirty="0">
                <a:solidFill>
                  <a:srgbClr val="64748B"/>
                </a:solidFill>
              </a:rPr>
              <a:t>THREE PARTS, AND A CHAIN</a:t>
            </a:r>
            <a:endParaRPr lang="en-US" sz="1100" dirty="0"/>
          </a:p>
        </p:txBody>
      </p:sp>
      <p:sp>
        <p:nvSpPr>
          <p:cNvPr id="7" name="Panel Three parts, and a chain list"/>
          <p:cNvSpPr txBox="1"/>
          <p:nvPr/>
        </p:nvSpPr>
        <p:spPr>
          <a:xfrm>
            <a:off x="731520" y="1737360"/>
            <a:ext cx="5314493" cy="2478024"/>
          </a:xfrm>
          <a:prstGeom prst="rect">
            <a:avLst/>
          </a:prstGeom>
          <a:noFill/>
          <a:ln/>
        </p:spPr>
        <p:txBody>
          <a:bodyPr wrap="square" lIns="0" tIns="0" rIns="0" bIns="0" rtlCol="0" anchor="t"/>
          <a:lstStyle/>
          <a:p>
            <a:pPr marL="342900" indent="-342900">
              <a:spcAft>
                <a:spcPts val="400"/>
              </a:spcAft>
              <a:buSzPct val="100000"/>
              <a:buChar char="•"/>
            </a:pPr>
            <a:r>
              <a:rPr lang="en-US" sz="1500" b="1" dirty="0">
                <a:solidFill>
                  <a:srgbClr val="1F2A44"/>
                </a:solidFill>
              </a:rPr>
              <a:t>State:</a:t>
            </a:r>
            <a:r>
              <a:rPr lang="en-US" sz="1500" dirty="0">
                <a:solidFill>
                  <a:srgbClr val="334155"/>
                </a:solidFill>
              </a:rPr>
              <a:t> Chapter 01's inventory and Chapter 02's check: who holds what; whether the emergency accounts meet the standard</a:t>
            </a:r>
            <a:endParaRPr lang="en-US" sz="1500" dirty="0"/>
          </a:p>
          <a:p>
            <a:pPr marL="342900" indent="-342900">
              <a:spcAft>
                <a:spcPts val="400"/>
              </a:spcAft>
              <a:buSzPct val="100000"/>
              <a:buChar char="•"/>
            </a:pPr>
            <a:r>
              <a:rPr lang="en-US" sz="1500" b="1" dirty="0">
                <a:solidFill>
                  <a:srgbClr val="1F2A44"/>
                </a:solidFill>
              </a:rPr>
              <a:t>Events:</a:t>
            </a:r>
            <a:r>
              <a:rPr lang="en-US" sz="1500" dirty="0">
                <a:solidFill>
                  <a:srgbClr val="334155"/>
                </a:solidFill>
              </a:rPr>
              <a:t> the PIM audit read for a window: who asked, who approved, what was activated, what was assigned outside PIM</a:t>
            </a:r>
            <a:endParaRPr lang="en-US" sz="1500" dirty="0"/>
          </a:p>
          <a:p>
            <a:pPr marL="342900" indent="-342900">
              <a:spcAft>
                <a:spcPts val="400"/>
              </a:spcAft>
              <a:buSzPct val="100000"/>
              <a:buChar char="•"/>
            </a:pPr>
            <a:r>
              <a:rPr lang="en-US" sz="1500" b="1" dirty="0">
                <a:solidFill>
                  <a:srgbClr val="1F2A44"/>
                </a:solidFill>
              </a:rPr>
              <a:t>Drift:</a:t>
            </a:r>
            <a:r>
              <a:rPr lang="en-US" sz="1500" dirty="0">
                <a:solidFill>
                  <a:srgbClr val="334155"/>
                </a:solidFill>
              </a:rPr>
              <a:t> a comparison with the last run</a:t>
            </a:r>
            <a:endParaRPr lang="en-US" sz="1500" dirty="0"/>
          </a:p>
          <a:p>
            <a:pPr marL="342900" indent="-342900">
              <a:spcAft>
                <a:spcPts val="400"/>
              </a:spcAft>
              <a:buSzPct val="100000"/>
              <a:buChar char="•"/>
            </a:pPr>
            <a:r>
              <a:rPr lang="en-US" sz="1500" b="1" dirty="0">
                <a:solidFill>
                  <a:srgbClr val="1F2A44"/>
                </a:solidFill>
              </a:rPr>
              <a:t>The period:</a:t>
            </a:r>
            <a:r>
              <a:rPr lang="en-US" sz="1500" dirty="0">
                <a:solidFill>
                  <a:srgbClr val="334155"/>
                </a:solidFill>
              </a:rPr>
              <a:t> a chain of windows with no gap between them (design guidance)</a:t>
            </a:r>
            <a:endParaRPr lang="en-US" sz="1500" dirty="0"/>
          </a:p>
        </p:txBody>
      </p:sp>
      <p:sp>
        <p:nvSpPr>
          <p:cNvPr id="8" name="Code panel">
            <a:extLst>
              <a:ext uri="{C183D7F6-B498-43B3-948B-1728B52AA6E4}">
                <adec:decorative xmlns:adec="http://schemas.microsoft.com/office/drawing/2017/decorative" val="1"/>
              </a:ext>
            </a:extLst>
          </p:cNvPr>
          <p:cNvSpPr/>
          <p:nvPr/>
        </p:nvSpPr>
        <p:spPr>
          <a:xfrm>
            <a:off x="6457493" y="1325880"/>
            <a:ext cx="5201107" cy="2130552"/>
          </a:xfrm>
          <a:prstGeom prst="roundRect">
            <a:avLst>
              <a:gd name="adj" fmla="val 3433"/>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9" name="Code label"/>
          <p:cNvSpPr txBox="1"/>
          <p:nvPr/>
        </p:nvSpPr>
        <p:spPr>
          <a:xfrm>
            <a:off x="6622085" y="1399032"/>
            <a:ext cx="4871923" cy="228600"/>
          </a:xfrm>
          <a:prstGeom prst="rect">
            <a:avLst/>
          </a:prstGeom>
          <a:noFill/>
          <a:ln/>
        </p:spPr>
        <p:txBody>
          <a:bodyPr wrap="square" lIns="0" tIns="0" rIns="0" bIns="0" rtlCol="0" anchor="t"/>
          <a:lstStyle/>
          <a:p>
            <a:pPr marL="0" indent="0">
              <a:buNone/>
            </a:pPr>
            <a:r>
              <a:rPr lang="en-US" sz="1050" b="1" dirty="0">
                <a:solidFill>
                  <a:srgbClr val="64748B"/>
                </a:solidFill>
              </a:rPr>
              <a:t>Invoke-PaEvidenceRun.ps1 -Cloud gcc -TenantId &lt;id&gt;</a:t>
            </a:r>
            <a:endParaRPr lang="en-US" sz="1050" dirty="0"/>
          </a:p>
        </p:txBody>
      </p:sp>
      <p:sp>
        <p:nvSpPr>
          <p:cNvPr id="10" name="Code"/>
          <p:cNvSpPr txBox="1"/>
          <p:nvPr/>
        </p:nvSpPr>
        <p:spPr>
          <a:xfrm>
            <a:off x="6622085" y="1664208"/>
            <a:ext cx="4926787" cy="1746504"/>
          </a:xfrm>
          <a:prstGeom prst="rect">
            <a:avLst/>
          </a:prstGeom>
          <a:noFill/>
          <a:ln/>
        </p:spPr>
        <p:txBody>
          <a:bodyPr wrap="square" lIns="0" tIns="0" rIns="0" bIns="0" rtlCol="0" anchor="t"/>
          <a:lstStyle/>
          <a:p>
            <a:pPr marL="0" indent="0">
              <a:buNone/>
            </a:pPr>
            <a:r>
              <a:rPr lang="en-US" sz="1350" dirty="0">
                <a:solidFill>
                  <a:srgbClr val="334155"/>
                </a:solidFill>
                <a:latin typeface="Consolas" pitchFamily="34" charset="0"/>
                <a:ea typeface="Consolas" pitchFamily="34" charset="-122"/>
                <a:cs typeface="Consolas" pitchFamily="34" charset="-120"/>
              </a:rPr>
              <a:t>2026-10-30T0600Z-fixture/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inventory/     # Chapter 01, unchanged</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emergency/     # Chapter 02, unchanged</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pim-audit/     # events, requests, summary,</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 findings, manifest.json</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run.json       # run ID, as-of, cloud, tenant,</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 mode, window, permissions,</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 each task's status + hash</a:t>
            </a:r>
            <a:endParaRPr lang="en-US" sz="1350" dirty="0"/>
          </a:p>
        </p:txBody>
      </p:sp>
      <p:sp>
        <p:nvSpPr>
          <p:cNvPr id="11" name="Callout">
            <a:extLst>
              <a:ext uri="{C183D7F6-B498-43B3-948B-1728B52AA6E4}">
                <adec:decorative xmlns:adec="http://schemas.microsoft.com/office/drawing/2017/decorative" val="1"/>
              </a:ext>
            </a:extLst>
          </p:cNvPr>
          <p:cNvSpPr/>
          <p:nvPr/>
        </p:nvSpPr>
        <p:spPr>
          <a:xfrm>
            <a:off x="548640" y="4443984"/>
            <a:ext cx="11109960" cy="1019556"/>
          </a:xfrm>
          <a:prstGeom prst="roundRect">
            <a:avLst>
              <a:gd name="adj" fmla="val 71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Sitemap">
            <a:extLst>
              <a:ext uri="{C183D7F6-B498-43B3-948B-1728B52AA6E4}">
                <adec:decorative xmlns:adec="http://schemas.microsoft.com/office/drawing/2017/decorative" val="1"/>
              </a:ext>
            </a:extLst>
          </p:cNvPr>
          <p:cNvSpPr/>
          <p:nvPr/>
        </p:nvSpPr>
        <p:spPr>
          <a:xfrm>
            <a:off x="749808" y="4633722"/>
            <a:ext cx="640080" cy="640080"/>
          </a:xfrm>
          <a:prstGeom prst="ellipse">
            <a:avLst/>
          </a:prstGeom>
          <a:solidFill>
            <a:srgbClr val="0F766E"/>
          </a:solidFill>
          <a:ln w="12700">
            <a:solidFill>
              <a:srgbClr val="0F766E"/>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787341"/>
            <a:ext cx="332842" cy="332842"/>
          </a:xfrm>
          <a:prstGeom prst="rect">
            <a:avLst/>
          </a:prstGeom>
        </p:spPr>
      </p:pic>
      <p:sp>
        <p:nvSpPr>
          <p:cNvPr id="14" name="Callout text"/>
          <p:cNvSpPr txBox="1"/>
          <p:nvPr/>
        </p:nvSpPr>
        <p:spPr>
          <a:xfrm>
            <a:off x="1600200" y="4498848"/>
            <a:ext cx="9875520" cy="909828"/>
          </a:xfrm>
          <a:prstGeom prst="rect">
            <a:avLst/>
          </a:prstGeom>
          <a:noFill/>
          <a:ln/>
        </p:spPr>
        <p:txBody>
          <a:bodyPr wrap="square" lIns="0" tIns="0" rIns="0" bIns="0" rtlCol="0" anchor="ctr"/>
          <a:lstStyle/>
          <a:p>
            <a:pPr marL="0" indent="0">
              <a:buNone/>
            </a:pPr>
            <a:r>
              <a:rPr lang="en-US" sz="1750" b="1" dirty="0">
                <a:solidFill>
                  <a:srgbClr val="0F766E"/>
                </a:solidFill>
              </a:rPr>
              <a:t>Design guidance: </a:t>
            </a:r>
            <a:r>
              <a:rPr lang="en-US" sz="1750" dirty="0">
                <a:solidFill>
                  <a:srgbClr val="334155"/>
                </a:solidFill>
              </a:rPr>
              <a:t>a failed task is recorded as Error and leaves no folder; the others still run. Chapters 03 to 07's outputs can join later as tasks of their own (research gaps, row 88).</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examples/privileged-access (Invoke-PaEvidenceRun.ps1, PaEvidence); examples/drift-pipeline (pa_evidence.py). Chapter 08, “What the evidence has to show”; “The run.”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A393E807-C431-2DED-C77F-90DEA7C8109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09B355E-E1DF-4C4D-BE3F-4B50DC6708E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260"/>
    </mc:Choice>
    <mc:Fallback>
      <p:transition spd="slow" advTm="39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25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audit read, and what it flags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he read">
            <a:extLst>
              <a:ext uri="{C183D7F6-B498-43B3-948B-1728B52AA6E4}">
                <adec:decorative xmlns:adec="http://schemas.microsoft.com/office/drawing/2017/decorative" val="1"/>
              </a:ext>
            </a:extLst>
          </p:cNvPr>
          <p:cNvSpPr/>
          <p:nvPr/>
        </p:nvSpPr>
        <p:spPr>
          <a:xfrm>
            <a:off x="548640" y="1325880"/>
            <a:ext cx="11109960" cy="1918716"/>
          </a:xfrm>
          <a:prstGeom prst="roundRect">
            <a:avLst>
              <a:gd name="adj" fmla="val 381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read label"/>
          <p:cNvSpPr txBox="1"/>
          <p:nvPr/>
        </p:nvSpPr>
        <p:spPr>
          <a:xfrm>
            <a:off x="731520" y="1435608"/>
            <a:ext cx="1074420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READ</a:t>
            </a:r>
            <a:endParaRPr lang="en-US" sz="1100" dirty="0"/>
          </a:p>
        </p:txBody>
      </p:sp>
      <p:sp>
        <p:nvSpPr>
          <p:cNvPr id="7" name="Panel The read list"/>
          <p:cNvSpPr txBox="1"/>
          <p:nvPr/>
        </p:nvSpPr>
        <p:spPr>
          <a:xfrm>
            <a:off x="731520" y="1737360"/>
            <a:ext cx="10789920" cy="146151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Get-PaPimAuditEvent: GET /v1.0/auditLogs/directoryAudits, three filters per window: PIM under each of Learn's two service names, and Core Directory's Add member to role</a:t>
            </a:r>
            <a:endParaRPr lang="en-US" sz="1450" dirty="0"/>
          </a:p>
          <a:p>
            <a:pPr marL="342900" indent="-342900">
              <a:spcAft>
                <a:spcPts val="400"/>
              </a:spcAft>
              <a:buSzPct val="100000"/>
              <a:buChar char="•"/>
            </a:pPr>
            <a:r>
              <a:rPr lang="en-US" sz="1450" dirty="0">
                <a:solidFill>
                  <a:srgbClr val="334155"/>
                </a:solidFill>
              </a:rPr>
              <a:t>Through Chapter 01's reader: declared, GET only, the cloud's host, every page; refuses a window starting over 30 days back; each window starts where the last ended</a:t>
            </a:r>
            <a:endParaRPr lang="en-US" sz="1450" dirty="0"/>
          </a:p>
          <a:p>
            <a:pPr marL="342900" indent="-342900">
              <a:spcAft>
                <a:spcPts val="400"/>
              </a:spcAft>
              <a:buSzPct val="100000"/>
              <a:buChar char="•"/>
            </a:pPr>
            <a:r>
              <a:rPr lang="en-US" sz="1450" dirty="0">
                <a:solidFill>
                  <a:srgbClr val="334155"/>
                </a:solidFill>
              </a:rPr>
              <a:t>Events kept as IDs; names such as the initiator's UPN dropped (design guidance)</a:t>
            </a:r>
            <a:endParaRPr lang="en-US" sz="145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3427476"/>
          <a:ext cx="11109960" cy="2255520"/>
        </p:xfrm>
        <a:graphic>
          <a:graphicData uri="http://schemas.openxmlformats.org/drawingml/2006/table">
            <a:tbl>
              <a:tblPr firstRow="1" bandRow="1"/>
              <a:tblGrid>
                <a:gridCol w="12344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Rule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Severity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flags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PA-AUD-01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 T0, T1; Warn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role assigned outside PIM, once per role and principal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 monitor, high risk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PA-AUD-02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T0 or T1 activation with no approval record in the window</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Book 04, Ch 08; Learn's baseline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PA-AUD-03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activation approved by its own requester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Design guidance; Gate 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PA-AUD-04</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 T0; Warn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role setting changed in PIM, to reconcile with a reviewed change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 always alert for the top roles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directoryAudit resource type; List directoryAudits; security operations for PIM. Chapter 08, “The audit read,” “The audit findings.”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AAA5E229-E3A6-5C0C-C515-725BE2B22D1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99E43FA-3315-40D4-911A-C0DBA290E0B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00"/>
    </mc:Choice>
    <mc:Fallback>
      <p:transition spd="slow" advTm="36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496"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Learn's pages differ, and why it fails closed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2247900"/>
          </a:xfrm>
          <a:prstGeom prst="roundRect">
            <a:avLst>
              <a:gd name="adj" fmla="val 325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224790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201930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PIM's service name</a:t>
            </a:r>
            <a:endParaRPr lang="en-US" sz="1400" dirty="0"/>
          </a:p>
          <a:p>
            <a:pPr marL="0" indent="0">
              <a:spcAft>
                <a:spcPts val="300"/>
              </a:spcAft>
              <a:buNone/>
            </a:pPr>
            <a:r>
              <a:rPr lang="en-US" sz="1450" dirty="0">
                <a:solidFill>
                  <a:srgbClr val="334155"/>
                </a:solidFill>
              </a:rPr>
              <a:t>The directoryAudit page gives "Privileged Identity Management" for loggedByService; the security operations guide filters on "Service = PIM". The code asks for both and de-duplicates by event ID (row 81)</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2247900"/>
          </a:xfrm>
          <a:prstGeom prst="roundRect">
            <a:avLst>
              <a:gd name="adj" fmla="val 325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2247900"/>
          </a:xfrm>
          <a:prstGeom prst="rect">
            <a:avLst/>
          </a:prstGeom>
          <a:solidFill>
            <a:srgbClr val="B45309"/>
          </a:solidFill>
          <a:ln w="12700">
            <a:solidFill>
              <a:srgbClr val="B45309"/>
            </a:solidFill>
            <a:prstDash val="solid"/>
          </a:ln>
        </p:spPr>
      </p:sp>
      <p:sp>
        <p:nvSpPr>
          <p:cNvPr id="10" name="Card 2 text"/>
          <p:cNvSpPr txBox="1"/>
          <p:nvPr/>
        </p:nvSpPr>
        <p:spPr>
          <a:xfrm>
            <a:off x="4556760" y="1463040"/>
            <a:ext cx="3185160" cy="201930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Where approvals are logged</a:t>
            </a:r>
            <a:endParaRPr lang="en-US" sz="1400" dirty="0"/>
          </a:p>
          <a:p>
            <a:pPr marL="0" indent="0">
              <a:spcAft>
                <a:spcPts val="300"/>
              </a:spcAft>
              <a:buNone/>
            </a:pPr>
            <a:r>
              <a:rPr lang="en-US" sz="1450" dirty="0">
                <a:solidFill>
                  <a:srgbClr val="334155"/>
                </a:solidFill>
              </a:rPr>
              <a:t>The activity list puts the approval under RoleManagement; the guide lists approvals under "Service = Access Review", UserManagement. An approval logged only there makes PA-AUD-02 fire (row 85)</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2247900"/>
          </a:xfrm>
          <a:prstGeom prst="roundRect">
            <a:avLst>
              <a:gd name="adj" fmla="val 325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2247900"/>
          </a:xfrm>
          <a:prstGeom prst="rect">
            <a:avLst/>
          </a:prstGeom>
          <a:solidFill>
            <a:srgbClr val="0F766E"/>
          </a:solidFill>
          <a:ln w="12700">
            <a:solidFill>
              <a:srgbClr val="0F766E"/>
            </a:solidFill>
            <a:prstDash val="solid"/>
          </a:ln>
        </p:spPr>
      </p:sp>
      <p:sp>
        <p:nvSpPr>
          <p:cNvPr id="13" name="Card 3 text"/>
          <p:cNvSpPr txBox="1"/>
          <p:nvPr/>
        </p:nvSpPr>
        <p:spPr>
          <a:xfrm>
            <a:off x="8336280" y="1463040"/>
            <a:ext cx="3185160" cy="201930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Who may read</a:t>
            </a:r>
            <a:endParaRPr lang="en-US" sz="1400" dirty="0"/>
          </a:p>
          <a:p>
            <a:pPr marL="0" indent="0">
              <a:spcAft>
                <a:spcPts val="300"/>
              </a:spcAft>
              <a:buNone/>
            </a:pPr>
            <a:r>
              <a:rPr lang="en-US" sz="1450" dirty="0">
                <a:solidFill>
                  <a:srgbClr val="334155"/>
                </a:solidFill>
              </a:rPr>
              <a:t>PIM's Resource audit: Global Administrator, Global Reader, Privileged Role Administrator, Security Administrator or Security Reader. The Graph call: Reports Reader, Security Reader or Security Administrator. No contradiction</a:t>
            </a:r>
            <a:endParaRPr lang="en-US" sz="1400" dirty="0"/>
          </a:p>
        </p:txBody>
      </p:sp>
      <p:sp>
        <p:nvSpPr>
          <p:cNvPr id="14" name="Callout">
            <a:extLst>
              <a:ext uri="{C183D7F6-B498-43B3-948B-1728B52AA6E4}">
                <adec:decorative xmlns:adec="http://schemas.microsoft.com/office/drawing/2017/decorative" val="1"/>
              </a:ext>
            </a:extLst>
          </p:cNvPr>
          <p:cNvSpPr/>
          <p:nvPr/>
        </p:nvSpPr>
        <p:spPr>
          <a:xfrm>
            <a:off x="548640" y="3756660"/>
            <a:ext cx="11109960" cy="752856"/>
          </a:xfrm>
          <a:prstGeom prst="roundRect">
            <a:avLst>
              <a:gd name="adj" fmla="val 97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5" name="Icon FaScaleBalanced">
            <a:extLst>
              <a:ext uri="{C183D7F6-B498-43B3-948B-1728B52AA6E4}">
                <adec:decorative xmlns:adec="http://schemas.microsoft.com/office/drawing/2017/decorative" val="1"/>
              </a:ext>
            </a:extLst>
          </p:cNvPr>
          <p:cNvSpPr/>
          <p:nvPr/>
        </p:nvSpPr>
        <p:spPr>
          <a:xfrm>
            <a:off x="749808" y="3829812"/>
            <a:ext cx="606552" cy="606552"/>
          </a:xfrm>
          <a:prstGeom prst="ellipse">
            <a:avLst/>
          </a:prstGeom>
          <a:solidFill>
            <a:srgbClr val="B91C1C"/>
          </a:solidFill>
          <a:ln w="12700">
            <a:solidFill>
              <a:srgbClr val="B91C1C"/>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3975384"/>
            <a:ext cx="315407" cy="315407"/>
          </a:xfrm>
          <a:prstGeom prst="rect">
            <a:avLst/>
          </a:prstGeom>
        </p:spPr>
      </p:pic>
      <p:sp>
        <p:nvSpPr>
          <p:cNvPr id="17" name="Callout text"/>
          <p:cNvSpPr txBox="1"/>
          <p:nvPr/>
        </p:nvSpPr>
        <p:spPr>
          <a:xfrm>
            <a:off x="1600200" y="3811524"/>
            <a:ext cx="9875520" cy="643128"/>
          </a:xfrm>
          <a:prstGeom prst="rect">
            <a:avLst/>
          </a:prstGeom>
          <a:noFill/>
          <a:ln/>
        </p:spPr>
        <p:txBody>
          <a:bodyPr wrap="square" lIns="0" tIns="0" rIns="0" bIns="0" rtlCol="0" anchor="ctr"/>
          <a:lstStyle/>
          <a:p>
            <a:pPr marL="0" indent="0">
              <a:buNone/>
            </a:pPr>
            <a:r>
              <a:rPr lang="en-US" sz="1750" b="1" dirty="0">
                <a:solidFill>
                  <a:srgbClr val="B91C1C"/>
                </a:solidFill>
              </a:rPr>
              <a:t>Fails closed: </a:t>
            </a:r>
            <a:r>
              <a:rPr lang="en-US" sz="1750" dirty="0">
                <a:solidFill>
                  <a:srgbClr val="334155"/>
                </a:solidFill>
              </a:rPr>
              <a:t>the stricter reading misses nothing: a doubtful approval gives a false Finding, never a missed one. Lab 2 records which way each tenant goes.</a:t>
            </a:r>
            <a:endParaRPr lang="en-US" sz="17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directoryAudit resource type; security operations for PIM; audit log activities; PIM audit history; List directoryAudits. Chapter 08,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88AB2394-7A89-BA27-43B8-CED361E67FE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F54D4E3-31DB-4E79-B092-3AE1375D551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60"/>
    </mc:Choice>
    <mc:Fallback>
      <p:transition spd="slow" advTm="36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856"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Compare, by fingerprint; Tier 0 drift is an incident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19756"/>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8092440">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Result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Meaning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new, changed, resolved, unchanged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Chapter 01's and 02's Finding and Warn rows, keyed by rule, object ID and issue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unverified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task that didn't read the tenant this run: its earlier findings stay open, never resolved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assignment added, removed, changed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Chapter 01's rows by plane, role, scope, principal and route; activations left out: the audit records each one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audit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This run's PA-AUD findings, as they are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coverage gap</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Time between the last window's end and this one's start, or a window whose read failed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incident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Any Tier 0 assignment added, removed or changed; any new or changed Tier 0 Finding; any Tier 0 audit 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Panel pa_evidence.py compare">
            <a:extLst>
              <a:ext uri="{C183D7F6-B498-43B3-948B-1728B52AA6E4}">
                <adec:decorative xmlns:adec="http://schemas.microsoft.com/office/drawing/2017/decorative" val="1"/>
              </a:ext>
            </a:extLst>
          </p:cNvPr>
          <p:cNvSpPr/>
          <p:nvPr/>
        </p:nvSpPr>
        <p:spPr>
          <a:xfrm>
            <a:off x="548640" y="4128516"/>
            <a:ext cx="11109960" cy="1572768"/>
          </a:xfrm>
          <a:prstGeom prst="roundRect">
            <a:avLst>
              <a:gd name="adj" fmla="val 465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pa_evidence.py compare label"/>
          <p:cNvSpPr txBox="1"/>
          <p:nvPr/>
        </p:nvSpPr>
        <p:spPr>
          <a:xfrm>
            <a:off x="731520" y="4238244"/>
            <a:ext cx="10744200" cy="274320"/>
          </a:xfrm>
          <a:prstGeom prst="rect">
            <a:avLst/>
          </a:prstGeom>
          <a:noFill/>
          <a:ln/>
        </p:spPr>
        <p:txBody>
          <a:bodyPr wrap="square" lIns="0" tIns="0" rIns="0" bIns="0" rtlCol="0" anchor="t"/>
          <a:lstStyle/>
          <a:p>
            <a:pPr marL="0" indent="0">
              <a:buNone/>
            </a:pPr>
            <a:r>
              <a:rPr lang="en-US" sz="1100" b="1" kern="0" spc="50" dirty="0">
                <a:solidFill>
                  <a:srgbClr val="64748B"/>
                </a:solidFill>
              </a:rPr>
              <a:t>PA_EVIDENCE.PY COMPARE</a:t>
            </a:r>
            <a:endParaRPr lang="en-US" sz="1100" dirty="0"/>
          </a:p>
        </p:txBody>
      </p:sp>
      <p:sp>
        <p:nvSpPr>
          <p:cNvPr id="8" name="Panel pa_evidence.py compare list"/>
          <p:cNvSpPr txBox="1"/>
          <p:nvPr/>
        </p:nvSpPr>
        <p:spPr>
          <a:xfrm>
            <a:off x="731520" y="4539996"/>
            <a:ext cx="10789920" cy="1115568"/>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334155"/>
                </a:solidFill>
              </a:rPr>
              <a:t>Both runs checked first: every file against its manifest, every request a GET, one tenant, cloud and mode; the current run must be later</a:t>
            </a:r>
            <a:endParaRPr lang="en-US" sz="1350" dirty="0"/>
          </a:p>
          <a:p>
            <a:pPr marL="342900" indent="-342900">
              <a:spcAft>
                <a:spcPts val="400"/>
              </a:spcAft>
              <a:buSzPct val="100000"/>
              <a:buChar char="•"/>
            </a:pPr>
            <a:r>
              <a:rPr lang="en-US" sz="1350" dirty="0">
                <a:solidFill>
                  <a:srgbClr val="334155"/>
                </a:solidFill>
              </a:rPr>
              <a:t>Fingerprint: the first 16 hex characters of a SHA-256 over rule, object ID and issue; the same finding, the same fingerprint, every run</a:t>
            </a:r>
            <a:endParaRPr lang="en-US" sz="13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examples/drift-pipeline (pa_evidence.py; the first workbook's Chapter 09). Book 04, Ch 10. Chapter 08, “Compare, by fingerprint.”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169BC21-9665-6DA6-FD8A-A2378F10728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CD41541-0403-4EA9-A314-969C76887BB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050"/>
    </mc:Choice>
    <mc:Fallback>
      <p:transition spd="slow" advTm="40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No names in the tracker; packages in a hash chain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Findings without names">
            <a:extLst>
              <a:ext uri="{C183D7F6-B498-43B3-948B-1728B52AA6E4}">
                <adec:decorative xmlns:adec="http://schemas.microsoft.com/office/drawing/2017/decorative" val="1"/>
              </a:ext>
            </a:extLst>
          </p:cNvPr>
          <p:cNvSpPr/>
          <p:nvPr/>
        </p:nvSpPr>
        <p:spPr>
          <a:xfrm>
            <a:off x="548640" y="1325880"/>
            <a:ext cx="5417820" cy="3372612"/>
          </a:xfrm>
          <a:prstGeom prst="roundRect">
            <a:avLst>
              <a:gd name="adj" fmla="val 216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Findings without nam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FINDINGS WITHOUT NAMES</a:t>
            </a:r>
            <a:endParaRPr lang="en-US" sz="1100" dirty="0"/>
          </a:p>
        </p:txBody>
      </p:sp>
      <p:sp>
        <p:nvSpPr>
          <p:cNvPr id="7" name="Panel Findings without names list"/>
          <p:cNvSpPr txBox="1"/>
          <p:nvPr/>
        </p:nvSpPr>
        <p:spPr>
          <a:xfrm>
            <a:off x="73152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pa_evidence.py issues drafts what to open, comment on and close</a:t>
            </a:r>
            <a:endParaRPr lang="en-US" sz="1450" dirty="0"/>
          </a:p>
          <a:p>
            <a:pPr marL="342900" indent="-342900">
              <a:spcAft>
                <a:spcPts val="400"/>
              </a:spcAft>
              <a:buSzPct val="100000"/>
              <a:buChar char="•"/>
            </a:pPr>
            <a:r>
              <a:rPr lang="en-US" sz="1450" dirty="0">
                <a:solidFill>
                  <a:srgbClr val="334155"/>
                </a:solidFill>
              </a:rPr>
              <a:t>Titles from a fixed rule catalog or a role name, never a finding's own text, which can name a person</a:t>
            </a:r>
            <a:endParaRPr lang="en-US" sz="1450" dirty="0"/>
          </a:p>
          <a:p>
            <a:pPr marL="342900" indent="-342900">
              <a:spcAft>
                <a:spcPts val="400"/>
              </a:spcAft>
              <a:buSzPct val="100000"/>
              <a:buChar char="•"/>
            </a:pPr>
            <a:r>
              <a:rPr lang="en-US" sz="1450" dirty="0">
                <a:solidFill>
                  <a:srgbClr val="334155"/>
                </a:solidFill>
              </a:rPr>
              <a:t>Bodies: rule, severity, tier, object ID, fingerprint, the run and its run.json hash</a:t>
            </a:r>
            <a:endParaRPr lang="en-US" sz="1450" dirty="0"/>
          </a:p>
          <a:p>
            <a:pPr marL="342900" indent="-342900">
              <a:spcAft>
                <a:spcPts val="400"/>
              </a:spcAft>
              <a:buSzPct val="100000"/>
              <a:buChar char="•"/>
            </a:pPr>
            <a:r>
              <a:rPr lang="en-US" sz="1450" dirty="0">
                <a:solidFill>
                  <a:srgbClr val="334155"/>
                </a:solidFill>
              </a:rPr>
              <a:t>Names stay in the drift report, in the access-controlled evidence store; --include-names only for a reviewed exception</a:t>
            </a:r>
            <a:endParaRPr lang="en-US" sz="1450" dirty="0"/>
          </a:p>
          <a:p>
            <a:pPr marL="342900" indent="-342900">
              <a:spcAft>
                <a:spcPts val="400"/>
              </a:spcAft>
              <a:buSzPct val="100000"/>
              <a:buChar char="•"/>
            </a:pPr>
            <a:r>
              <a:rPr lang="en-US" sz="1450" dirty="0">
                <a:solidFill>
                  <a:srgbClr val="334155"/>
                </a:solidFill>
              </a:rPr>
              <a:t>A test checks no name or UPN from either run reaches the drafts</a:t>
            </a:r>
            <a:endParaRPr lang="en-US" sz="1450" dirty="0"/>
          </a:p>
        </p:txBody>
      </p:sp>
      <p:sp>
        <p:nvSpPr>
          <p:cNvPr id="8" name="Panel The package and the chain">
            <a:extLst>
              <a:ext uri="{C183D7F6-B498-43B3-948B-1728B52AA6E4}">
                <adec:decorative xmlns:adec="http://schemas.microsoft.com/office/drawing/2017/decorative" val="1"/>
              </a:ext>
            </a:extLst>
          </p:cNvPr>
          <p:cNvSpPr/>
          <p:nvPr/>
        </p:nvSpPr>
        <p:spPr>
          <a:xfrm>
            <a:off x="6240780" y="1325880"/>
            <a:ext cx="5417820" cy="3372612"/>
          </a:xfrm>
          <a:prstGeom prst="roundRect">
            <a:avLst>
              <a:gd name="adj" fmla="val 216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ackage and the chain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PACKAGE AND THE CHAIN</a:t>
            </a:r>
            <a:endParaRPr lang="en-US" sz="1100" dirty="0"/>
          </a:p>
        </p:txBody>
      </p:sp>
      <p:sp>
        <p:nvSpPr>
          <p:cNvPr id="10" name="Panel The package and the chain list"/>
          <p:cNvSpPr txBox="1"/>
          <p:nvPr/>
        </p:nvSpPr>
        <p:spPr>
          <a:xfrm>
            <a:off x="642366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package writes run/, drift/, EVIDENCE-MANIFEST.json and a SHA256SUMS that sha256sum -c reads</a:t>
            </a:r>
            <a:endParaRPr lang="en-US" sz="1450" dirty="0"/>
          </a:p>
          <a:p>
            <a:pPr marL="342900" indent="-342900">
              <a:spcAft>
                <a:spcPts val="400"/>
              </a:spcAft>
              <a:buSzPct val="100000"/>
              <a:buChar char="•"/>
            </a:pPr>
            <a:r>
              <a:rPr lang="en-US" sz="1450" dirty="0">
                <a:solidFill>
                  <a:srgbClr val="334155"/>
                </a:solidFill>
              </a:rPr>
              <a:t>The manifest: run, cloud, tenant ID, mode, window, statuses, counts, every file's hash and size</a:t>
            </a:r>
            <a:endParaRPr lang="en-US" sz="1450" dirty="0"/>
          </a:p>
          <a:p>
            <a:pPr marL="342900" indent="-342900">
              <a:spcAft>
                <a:spcPts val="400"/>
              </a:spcAft>
              <a:buSzPct val="100000"/>
              <a:buChar char="•"/>
            </a:pPr>
            <a:r>
              <a:rPr lang="en-US" sz="1450" dirty="0">
                <a:solidFill>
                  <a:srgbClr val="334155"/>
                </a:solidFill>
              </a:rPr>
              <a:t>And the previous package's manifest hash: a replaced package or a missing day shows as a break</a:t>
            </a:r>
            <a:endParaRPr lang="en-US" sz="1450" dirty="0"/>
          </a:p>
          <a:p>
            <a:pPr marL="342900" indent="-342900">
              <a:spcAft>
                <a:spcPts val="400"/>
              </a:spcAft>
              <a:buSzPct val="100000"/>
              <a:buChar char="•"/>
            </a:pPr>
            <a:r>
              <a:rPr lang="en-US" sz="1450" dirty="0">
                <a:solidFill>
                  <a:srgbClr val="334155"/>
                </a:solidFill>
              </a:rPr>
              <a:t>Same inputs, same bytes; verify is what the ISSO runs</a:t>
            </a:r>
            <a:endParaRPr lang="en-US" sz="1450" dirty="0"/>
          </a:p>
        </p:txBody>
      </p:sp>
      <p:sp>
        <p:nvSpPr>
          <p:cNvPr id="11" name="Callout">
            <a:extLst>
              <a:ext uri="{C183D7F6-B498-43B3-948B-1728B52AA6E4}">
                <adec:decorative xmlns:adec="http://schemas.microsoft.com/office/drawing/2017/decorative" val="1"/>
              </a:ext>
            </a:extLst>
          </p:cNvPr>
          <p:cNvSpPr/>
          <p:nvPr/>
        </p:nvSpPr>
        <p:spPr>
          <a:xfrm>
            <a:off x="548640" y="4881372"/>
            <a:ext cx="11109960" cy="1019556"/>
          </a:xfrm>
          <a:prstGeom prst="roundRect">
            <a:avLst>
              <a:gd name="adj" fmla="val 717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Lock">
            <a:extLst>
              <a:ext uri="{C183D7F6-B498-43B3-948B-1728B52AA6E4}">
                <adec:decorative xmlns:adec="http://schemas.microsoft.com/office/drawing/2017/decorative" val="1"/>
              </a:ext>
            </a:extLst>
          </p:cNvPr>
          <p:cNvSpPr/>
          <p:nvPr/>
        </p:nvSpPr>
        <p:spPr>
          <a:xfrm>
            <a:off x="749808" y="5071110"/>
            <a:ext cx="640080" cy="64008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224729"/>
            <a:ext cx="332842" cy="332842"/>
          </a:xfrm>
          <a:prstGeom prst="rect">
            <a:avLst/>
          </a:prstGeom>
        </p:spPr>
      </p:pic>
      <p:sp>
        <p:nvSpPr>
          <p:cNvPr id="14" name="Callout text"/>
          <p:cNvSpPr txBox="1"/>
          <p:nvPr/>
        </p:nvSpPr>
        <p:spPr>
          <a:xfrm>
            <a:off x="1600200" y="4936236"/>
            <a:ext cx="9875520" cy="909828"/>
          </a:xfrm>
          <a:prstGeom prst="rect">
            <a:avLst/>
          </a:prstGeom>
          <a:noFill/>
          <a:ln/>
        </p:spPr>
        <p:txBody>
          <a:bodyPr wrap="square" lIns="0" tIns="0" rIns="0" bIns="0" rtlCol="0" anchor="ctr"/>
          <a:lstStyle/>
          <a:p>
            <a:pPr marL="0" indent="0">
              <a:buNone/>
            </a:pPr>
            <a:r>
              <a:rPr lang="en-US" sz="1750" b="1" dirty="0">
                <a:solidFill>
                  <a:srgbClr val="B45309"/>
                </a:solidFill>
              </a:rPr>
              <a:t>No signature: </a:t>
            </a:r>
            <a:r>
              <a:rPr lang="en-US" sz="1750" dirty="0">
                <a:solidFill>
                  <a:srgbClr val="334155"/>
                </a:solidFill>
              </a:rPr>
              <a:t>the hashes show nothing changed after packaging, and a locked time-based retention policy keeps blobs from being modified or deleted. Signing stays the ISSO's choice (research gaps, row 87).</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Store business-critical blob data with immutable storage (WORM). Chapter 08, “Findings without names,” “The package and the chain.”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4A84655A-EAB5-78E3-8EE6-B61D7BF14FC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D5FDD74-EAD7-40B1-893A-F1064005D67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470"/>
    </mc:Choice>
    <mc:Fallback>
      <p:transition spd="slow" advTm="394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7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period the ISSO receives, and the schedule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316480"/>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Gate 4 criterion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the period shows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Who decides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Residual standing privilege named and accepted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Chapter 01's PA-INV-01 rows at period end: on the exceptions list with a reason, or outside 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authorizing official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Evidence for every elevation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Activations by tier, approvals, denials, T0 or T1 without approval, coverage gaps, chain breaks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ISSO, from the period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Exception register current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exceptions list the inventory read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governance office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Access-related GPO settings retired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Nothing: not a privileged read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Identity engineering (A4.1)</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3825240"/>
            <a:ext cx="5417820" cy="1819656"/>
          </a:xfrm>
          <a:prstGeom prst="roundRect">
            <a:avLst>
              <a:gd name="adj" fmla="val 402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49808" y="4415028"/>
            <a:ext cx="640080" cy="64008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568647"/>
            <a:ext cx="332842" cy="332842"/>
          </a:xfrm>
          <a:prstGeom prst="rect">
            <a:avLst/>
          </a:prstGeom>
        </p:spPr>
      </p:pic>
      <p:sp>
        <p:nvSpPr>
          <p:cNvPr id="9" name="Callout text"/>
          <p:cNvSpPr txBox="1"/>
          <p:nvPr/>
        </p:nvSpPr>
        <p:spPr>
          <a:xfrm>
            <a:off x="1600200" y="3880104"/>
            <a:ext cx="4183380" cy="1709928"/>
          </a:xfrm>
          <a:prstGeom prst="rect">
            <a:avLst/>
          </a:prstGeom>
          <a:noFill/>
          <a:ln/>
        </p:spPr>
        <p:txBody>
          <a:bodyPr wrap="square" lIns="0" tIns="0" rIns="0" bIns="0" rtlCol="0" anchor="ctr"/>
          <a:lstStyle/>
          <a:p>
            <a:pPr marL="0" indent="0">
              <a:buNone/>
            </a:pPr>
            <a:r>
              <a:rPr lang="en-US" sz="1750" b="1" dirty="0">
                <a:solidFill>
                  <a:srgbClr val="0F766E"/>
                </a:solidFill>
              </a:rPr>
              <a:t>A4.3: </a:t>
            </a:r>
            <a:r>
              <a:rPr lang="en-US" sz="1750" dirty="0">
                <a:solidFill>
                  <a:srgbClr val="334155"/>
                </a:solidFill>
              </a:rPr>
              <a:t>period --since --until verifies every package, checks the chain and full coverage, and writes PERIOD-MANIFEST.json, period-summary.md and SHA256SUMS; it lists every Tier 0 incident by fingerprint.</a:t>
            </a:r>
            <a:endParaRPr lang="en-US" sz="1750" dirty="0"/>
          </a:p>
        </p:txBody>
      </p:sp>
      <p:sp>
        <p:nvSpPr>
          <p:cNvPr id="10" name="Callout">
            <a:extLst>
              <a:ext uri="{C183D7F6-B498-43B3-948B-1728B52AA6E4}">
                <adec:decorative xmlns:adec="http://schemas.microsoft.com/office/drawing/2017/decorative" val="1"/>
              </a:ext>
            </a:extLst>
          </p:cNvPr>
          <p:cNvSpPr/>
          <p:nvPr/>
        </p:nvSpPr>
        <p:spPr>
          <a:xfrm>
            <a:off x="6240780" y="3825240"/>
            <a:ext cx="5417820" cy="1819656"/>
          </a:xfrm>
          <a:prstGeom prst="roundRect">
            <a:avLst>
              <a:gd name="adj" fmla="val 402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1" name="Icon FaArrowsRotate">
            <a:extLst>
              <a:ext uri="{C183D7F6-B498-43B3-948B-1728B52AA6E4}">
                <adec:decorative xmlns:adec="http://schemas.microsoft.com/office/drawing/2017/decorative" val="1"/>
              </a:ext>
            </a:extLst>
          </p:cNvPr>
          <p:cNvSpPr/>
          <p:nvPr/>
        </p:nvSpPr>
        <p:spPr>
          <a:xfrm>
            <a:off x="6441948" y="4415028"/>
            <a:ext cx="640080" cy="640080"/>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95567" y="4568647"/>
            <a:ext cx="332842" cy="332842"/>
          </a:xfrm>
          <a:prstGeom prst="rect">
            <a:avLst/>
          </a:prstGeom>
        </p:spPr>
      </p:pic>
      <p:sp>
        <p:nvSpPr>
          <p:cNvPr id="5" name="Callout text"/>
          <p:cNvSpPr txBox="1"/>
          <p:nvPr/>
        </p:nvSpPr>
        <p:spPr>
          <a:xfrm>
            <a:off x="7292340" y="3880104"/>
            <a:ext cx="4183380" cy="1709928"/>
          </a:xfrm>
          <a:prstGeom prst="rect">
            <a:avLst/>
          </a:prstGeom>
          <a:noFill/>
          <a:ln/>
        </p:spPr>
        <p:txBody>
          <a:bodyPr wrap="square" lIns="0" tIns="0" rIns="0" bIns="0" rtlCol="0" anchor="ctr"/>
          <a:lstStyle/>
          <a:p>
            <a:pPr marL="0" indent="0">
              <a:buNone/>
            </a:pPr>
            <a:r>
              <a:rPr lang="en-US" sz="1750" b="1" dirty="0">
                <a:solidFill>
                  <a:srgbClr val="1F2A44"/>
                </a:solidFill>
              </a:rPr>
              <a:t>Schedule: </a:t>
            </a:r>
            <a:r>
              <a:rPr lang="en-US" sz="1750" dirty="0">
                <a:solidFill>
                  <a:srgbClr val="334155"/>
                </a:solidFill>
              </a:rPr>
              <a:t>workflow/pa-evidence.yml, a sample not active here: Azure Login with a federated credential, no secret; daily, monthly period. A3.6's six hours is a shorter schedule, same code.</a:t>
            </a:r>
            <a:endParaRPr lang="en-US" sz="17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Use the Azure Login action with OpenID Connect. Project plan Gate 4, A3.6, A4.3. Chapter 08, “What the ISSO receives,” “The schedule.”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1E257AEE-43E0-B884-B757-E6E2926865F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773D033-FD78-4896-A624-60FBA69ADD15}"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700"/>
    </mc:Choice>
    <mc:Fallback>
      <p:transition spd="slow" advTm="40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696"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runs it, who receives it, what it may read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1630680"/>
          </a:xfrm>
          <a:prstGeom prst="roundRect">
            <a:avLst>
              <a:gd name="adj" fmla="val 4486"/>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63068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40208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 and pipeline engineers</a:t>
            </a:r>
            <a:endParaRPr lang="en-US" sz="1400" dirty="0"/>
          </a:p>
          <a:p>
            <a:pPr marL="0" indent="0">
              <a:spcAft>
                <a:spcPts val="300"/>
              </a:spcAft>
              <a:buNone/>
            </a:pPr>
            <a:r>
              <a:rPr lang="en-US" sz="1500" dirty="0">
                <a:solidFill>
                  <a:srgbClr val="334155"/>
                </a:solidFill>
              </a:rPr>
              <a:t>Own the scheduled checks; read PowerShell 7 and Python; no tenant until Lab 2</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1630680"/>
          </a:xfrm>
          <a:prstGeom prst="roundRect">
            <a:avLst>
              <a:gd name="adj" fmla="val 4486"/>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163068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40208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ISSOs and identity governance officers</a:t>
            </a:r>
            <a:endParaRPr lang="en-US" sz="1400" dirty="0"/>
          </a:p>
          <a:p>
            <a:pPr marL="0" indent="0">
              <a:spcAft>
                <a:spcPts val="300"/>
              </a:spcAft>
              <a:buNone/>
            </a:pPr>
            <a:r>
              <a:rPr lang="en-US" sz="1500" dirty="0">
                <a:solidFill>
                  <a:srgbClr val="334155"/>
                </a:solidFill>
              </a:rPr>
              <a:t>Receive the evidence; check it with sha256sum alone; the officer signs the period summary</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1630680"/>
          </a:xfrm>
          <a:prstGeom prst="roundRect">
            <a:avLst>
              <a:gd name="adj" fmla="val 4486"/>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163068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40208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The authorizing official</a:t>
            </a:r>
            <a:endParaRPr lang="en-US" sz="1400" dirty="0"/>
          </a:p>
          <a:p>
            <a:pPr marL="0" indent="0">
              <a:spcAft>
                <a:spcPts val="300"/>
              </a:spcAft>
              <a:buNone/>
            </a:pPr>
            <a:r>
              <a:rPr lang="en-US" sz="1500" dirty="0">
                <a:solidFill>
                  <a:srgbClr val="334155"/>
                </a:solidFill>
              </a:rPr>
              <a:t>Accepts residual standing privilege at Gate 4</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139440"/>
          <a:ext cx="11109960" cy="1653540"/>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781812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The reader app</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it holds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Graph application permissions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Nine, none a write: AuditLog.Read.All, plus Chapter 01's five and Chapter 02's six</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Delegated read of the audit log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Reports Reader, the Graph call's least-privileged role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Azure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Reader on each scope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Credential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certificate or a federated credential, never a secret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directoryAudits (AuditLog.Read.All; Reports Reader). Chapter 08, “Goal and audience,” “The audit read,” “Checklist.”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8BBDA3E2-FBB1-9C4E-0DA6-DB6A80AB31A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4C4F506-672C-4AF6-AE38-46C816D4D74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730"/>
    </mc:Choice>
    <mc:Fallback>
      <p:transition spd="slow" advTm="35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72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Learn's queries and two days of runs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267712"/>
          </a:xfrm>
          <a:prstGeom prst="roundRect">
            <a:avLst>
              <a:gd name="adj" fmla="val 3226"/>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examples/privileged-access</a:t>
            </a:r>
            <a:endParaRPr lang="en-US" sz="1050" dirty="0"/>
          </a:p>
        </p:txBody>
      </p:sp>
      <p:sp>
        <p:nvSpPr>
          <p:cNvPr id="7" name="Code"/>
          <p:cNvSpPr txBox="1"/>
          <p:nvPr/>
        </p:nvSpPr>
        <p:spPr>
          <a:xfrm>
            <a:off x="713232" y="1664208"/>
            <a:ext cx="10835640" cy="1883664"/>
          </a:xfrm>
          <a:prstGeom prst="rect">
            <a:avLst/>
          </a:prstGeom>
          <a:noFill/>
          <a:ln/>
        </p:spPr>
        <p:txBody>
          <a:bodyPr wrap="square" lIns="0" tIns="0" rIns="0" bIns="0" rtlCol="0" anchor="t"/>
          <a:lstStyle/>
          <a:p>
            <a:pPr marL="0" indent="0">
              <a:buNone/>
            </a:pPr>
            <a:r>
              <a:rPr lang="en-US" sz="1300" dirty="0">
                <a:solidFill>
                  <a:srgbClr val="0F766E"/>
                </a:solidFill>
                <a:latin typeface="Consolas" pitchFamily="34" charset="0"/>
                <a:ea typeface="Consolas" pitchFamily="34" charset="-122"/>
                <a:cs typeface="Consolas" pitchFamily="34" charset="-120"/>
              </a:rPr>
              <a:t># 1  Learn's queries over the fixture: PassedCount 8, FailedCount 0, NotRunCount 24</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Invoke-Pester -Path tests/EvidenceDrift.Tests.ps1 -FullNameFilter '*as published*' …</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2  The run's permissions: nine, nothing ends in ReadWrite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(Get-PaEvidencePermission -Task evidence-run).GraphPermissions -join ', '</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3  Two days against the fictional tenant</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./Invoke-PaEvidenceRun.ps1 @lab -FixturePath tests/fixtures/tenant.json -AsOf 2026-10-29T06:00:00Z</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./Invoke-PaEvidenceRun.ps1 @lab -FixturePath …/ch08/tenant-day2.json -AsOf 2026-10-30T06:00:00Z</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Run 2026-10-30T0600Z-fixture (Fixture, gcc): inventory OK, emergency-access OK, pim-audit OK</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Audit window 2026-10-29T06:00:00Z to 2026-10-30T06:00:00Z</a:t>
            </a:r>
            <a:endParaRPr lang="en-US" sz="13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3776472"/>
          <a:ext cx="11109960" cy="1467612"/>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7818120">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Step 4, day 2's audit findings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PA-AUD-01, Tier 0</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Privileged Role Administrator assigned outside PIM (two events, one 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PA-AUD-02, Tier 0</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Global Administrator activation with no approval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PA-AUD-04, Tier 0</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Global Administrator role setting change; day 1 has none: both activations approved by someone else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examples/privileged-access (tests and fixtures, fictional). Chapter 08,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2CA7FE44-1748-B870-01ED-C51E057972D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D7B3E72-3ECF-4268-8030-BEE7D3F8E0C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90"/>
    </mc:Choice>
    <mc:Fallback>
      <p:transition spd="slow" advTm="37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8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compare, package, the period, a break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115056"/>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7818120">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Step (in examples/drift-pipeline)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you see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5  compare day 1, package 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Exit 2, "baseline": true, 26 new findings; manifest hash e10d8543…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6  compare day 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Exit 2: incidents 6; new 2, resolved 6, unchanged 20; assignments added 1, removed 1; audit findings 3; coverage gaps 0</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7  issues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{"close": 9, "comment": 0, "open": 7}; grep -c contoso prints 0: no UPN reaches the drafts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8  package day 2, chained; verify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Manifest 763d4a1f…; 15 files; sha256sum exits 0; previous hash is day 1's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9  period, Oct 28 to 30</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Two packages, no break, no gap; activations 3, approved 2, denied 1; one unapproved; six Tier 0 incidents; two Gate 4 criteria not met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10  break it on purpose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edited summary: verify exits 1; swapped days: compare exits 1; the workflow lints clean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Lead"/>
          <p:cNvSpPr txBox="1"/>
          <p:nvPr/>
        </p:nvSpPr>
        <p:spPr>
          <a:xfrm>
            <a:off x="548640" y="4623816"/>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Expected: 32 Pester tests in EvidenceDrift.Tests.ps1, 115 pytest tests in examples/drift-pipeline. Delete out in both.</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examples/drift-pipeline fixture runs (fictional). Chapter 08, “Lab 1: fixtures, no tenant,” steps 5–10;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ECD45B1-BFDA-A491-60A4-D3DAFB33E98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64F5F3E-FEEC-4440-8F85-F36757A3026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180"/>
    </mc:Choice>
    <mc:Fallback>
      <p:transition spd="slow" advTm="38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1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one activation, read twice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Register the reader app: </a:t>
            </a:r>
            <a:r>
              <a:rPr lang="en-US" sz="1450" dirty="0">
                <a:solidFill>
                  <a:srgbClr val="334155"/>
                </a:solidFill>
              </a:rPr>
              <a:t>In the tenant's own cloud, with a certificate: the nine permissions from Lab 1, admin consent, nothing else; Reader on the test subscription</a:t>
            </a:r>
            <a:endParaRPr lang="en-US" sz="1450" dirty="0"/>
          </a:p>
        </p:txBody>
      </p:sp>
      <p:sp>
        <p:nvSpPr>
          <p:cNvPr id="8" name="Step 2 dot">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Make one activation to see: </a:t>
            </a:r>
            <a:r>
              <a:rPr lang="en-US" sz="1450" dirty="0">
                <a:solidFill>
                  <a:srgbClr val="334155"/>
                </a:solidFill>
              </a:rPr>
              <a:t>A test user eligible for Helpdesk Administrator (T2) through PIM, activated with a justification</a:t>
            </a:r>
            <a:endParaRPr lang="en-US" sz="1450" dirty="0"/>
          </a:p>
        </p:txBody>
      </p:sp>
      <p:sp>
        <p:nvSpPr>
          <p:cNvPr id="11" name="Step 3 dot">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Run twice: </a:t>
            </a:r>
            <a:r>
              <a:rPr lang="en-US" sz="1450" dirty="0">
                <a:solidFill>
                  <a:srgbClr val="334155"/>
                </a:solidFill>
              </a:rPr>
              <a:t>Once before the activation and once after; the second run passes -Since with the first run's window end</a:t>
            </a:r>
            <a:endParaRPr lang="en-US" sz="1450" dirty="0"/>
          </a:p>
        </p:txBody>
      </p:sp>
      <p:sp>
        <p:nvSpPr>
          <p:cNvPr id="14" name="Step 4 dot">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980944"/>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Check what the fixture assumed: </a:t>
            </a:r>
            <a:r>
              <a:rPr lang="en-US" sz="1450" dirty="0">
                <a:solidFill>
                  <a:srgbClr val="334155"/>
                </a:solidFill>
              </a:rPr>
              <a:t>In events.json: the loggedByService value (row 81), RequestId filled (row 82), RoleId the template ID (row 83); requests.json shows Requested and Activated</a:t>
            </a:r>
            <a:endParaRPr lang="en-US" sz="1450" dirty="0"/>
          </a:p>
        </p:txBody>
      </p:sp>
      <p:sp>
        <p:nvSpPr>
          <p:cNvPr id="17" name="Step 5 dot">
            <a:extLst>
              <a:ext uri="{C183D7F6-B498-43B3-948B-1728B52AA6E4}">
                <adec:decorative xmlns:adec="http://schemas.microsoft.com/office/drawing/2017/decorative" val="1"/>
              </a:ext>
            </a:extLst>
          </p:cNvPr>
          <p:cNvSpPr/>
          <p:nvPr/>
        </p:nvSpPr>
        <p:spPr>
          <a:xfrm>
            <a:off x="548640" y="355092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550920"/>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532632"/>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Cross-check with Learn's procedure: </a:t>
            </a:r>
            <a:r>
              <a:rPr lang="en-US" sz="1450" dirty="0">
                <a:solidFill>
                  <a:srgbClr val="334155"/>
                </a:solidFill>
              </a:rPr>
              <a:t>Every activation in PIM's Resource audit is in requests.json; with a workspace, Learn's second query returns the same events (row 84)</a:t>
            </a:r>
            <a:endParaRPr lang="en-US" sz="1450" dirty="0"/>
          </a:p>
        </p:txBody>
      </p:sp>
      <p:sp>
        <p:nvSpPr>
          <p:cNvPr id="20" name="Step 6 dot">
            <a:extLst>
              <a:ext uri="{C183D7F6-B498-43B3-948B-1728B52AA6E4}">
                <adec:decorative xmlns:adec="http://schemas.microsoft.com/office/drawing/2017/decorative" val="1"/>
              </a:ext>
            </a:extLst>
          </p:cNvPr>
          <p:cNvSpPr/>
          <p:nvPr/>
        </p:nvSpPr>
        <p:spPr>
          <a:xfrm>
            <a:off x="548640" y="410260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410260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08432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Compare, package, back out: </a:t>
            </a:r>
            <a:r>
              <a:rPr lang="en-US" sz="1450" dirty="0">
                <a:solidFill>
                  <a:srgbClr val="334155"/>
                </a:solidFill>
              </a:rPr>
              <a:t>Lab 1's steps 5 to 8 on the two runs; then remove the eligibility, permissions, app and certificate, and delete the runs and packages</a:t>
            </a:r>
            <a:endParaRPr lang="en-US" sz="1450" dirty="0"/>
          </a:p>
        </p:txBody>
      </p:sp>
      <p:sp>
        <p:nvSpPr>
          <p:cNvPr id="23" name="Callout">
            <a:extLst>
              <a:ext uri="{C183D7F6-B498-43B3-948B-1728B52AA6E4}">
                <adec:decorative xmlns:adec="http://schemas.microsoft.com/office/drawing/2017/decorative" val="1"/>
              </a:ext>
            </a:extLst>
          </p:cNvPr>
          <p:cNvSpPr/>
          <p:nvPr/>
        </p:nvSpPr>
        <p:spPr>
          <a:xfrm>
            <a:off x="548640" y="4818888"/>
            <a:ext cx="11109960" cy="1019556"/>
          </a:xfrm>
          <a:prstGeom prst="roundRect">
            <a:avLst>
              <a:gd name="adj" fmla="val 7175"/>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5008626"/>
            <a:ext cx="640080" cy="640080"/>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162245"/>
            <a:ext cx="332842" cy="332842"/>
          </a:xfrm>
          <a:prstGeom prst="rect">
            <a:avLst/>
          </a:prstGeom>
        </p:spPr>
      </p:pic>
      <p:sp>
        <p:nvSpPr>
          <p:cNvPr id="26" name="Callout text"/>
          <p:cNvSpPr txBox="1"/>
          <p:nvPr/>
        </p:nvSpPr>
        <p:spPr>
          <a:xfrm>
            <a:off x="1600200" y="4873752"/>
            <a:ext cx="9875520" cy="9098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worldwide or GCC test tenant with P2 or ID Governance, fictional people, never production. The run only reads. In production, lock the container's retention policy once Lab 2 passes.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View audit history for Entra roles in PIM; immutable storage (unlocked is for testing). Chapter 08,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FCFDD3F3-A281-AD2A-C193-97869563731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913C092-06DF-4DA7-BB26-32090733B23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60"/>
    </mc:Choice>
    <mc:Fallback>
      <p:transition spd="slow" advTm="38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056"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8184"/>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97764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failed read reported as a fix</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403 makes yesterday's findings disappear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Error, no folder; findings stay unverified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day nobody read; a window older than the log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activation in the gap has no evidence; a partial read looks complete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Windows chain; a coverage gap is reported; refused past 30 days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An outside-PIM assignment counted as an activation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Standing Tier 0 privilege hides among elevations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PA-AUD-01; a test pins Learn's query 1 mixing them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An unapproved activation; a PIM setting relaxed in the portal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Tier 0 used without the second person; the next activation looks routine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PA-AUD-02, 03; PA-AUD-04, a Tier 0 incident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Names in the tracker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Privileged holders listed for anyone with repository read access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Fixed rule titles, object IDs only; a test searches the drafts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run edited or swapped; a package replaced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Evidence of a run that never happened; a bad day rewritten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Manifests checked, tenant, cloud and mode must match; the hash chain; locked retention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An activation counted as drift; the wrong cloud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Incident queue ignored; GCC High reads the wrong host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Activations left out of drift; required cloud, host checked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Microsoft Entra data retention; security operations for PIM; immutable storage. Chapter 08, “Dangers.”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BE212BE-E958-FFCD-3038-C074CDBC1CC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E3C2F7A-1F26-4BCF-ACAB-EDABB5ED9D7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900"/>
    </mc:Choice>
    <mc:Fallback>
      <p:transition spd="slow" advTm="36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9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run">
            <a:extLst>
              <a:ext uri="{C183D7F6-B498-43B3-948B-1728B52AA6E4}">
                <adec:decorative xmlns:adec="http://schemas.microsoft.com/office/drawing/2017/decorative" val="1"/>
              </a:ext>
            </a:extLst>
          </p:cNvPr>
          <p:cNvSpPr/>
          <p:nvPr/>
        </p:nvSpPr>
        <p:spPr>
          <a:xfrm>
            <a:off x="548640" y="1325880"/>
            <a:ext cx="5417820" cy="3372612"/>
          </a:xfrm>
          <a:prstGeom prst="roundRect">
            <a:avLst>
              <a:gd name="adj" fmla="val 216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run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RUN</a:t>
            </a:r>
            <a:endParaRPr lang="en-US" sz="1100" dirty="0"/>
          </a:p>
        </p:txBody>
      </p:sp>
      <p:sp>
        <p:nvSpPr>
          <p:cNvPr id="7" name="Panel The run list"/>
          <p:cNvSpPr txBox="1"/>
          <p:nvPr/>
        </p:nvSpPr>
        <p:spPr>
          <a:xfrm>
            <a:off x="73152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run.json shows inventory, emergency access and PIM audit all OK</a:t>
            </a:r>
            <a:endParaRPr lang="en-US" sz="1450" dirty="0"/>
          </a:p>
          <a:p>
            <a:pPr marL="342900" indent="-342900">
              <a:spcAft>
                <a:spcPts val="400"/>
              </a:spcAft>
              <a:buSzPct val="100000"/>
              <a:buChar char="•"/>
            </a:pPr>
            <a:r>
              <a:rPr lang="en-US" sz="1450" dirty="0">
                <a:solidFill>
                  <a:srgbClr val="334155"/>
                </a:solidFill>
              </a:rPr>
              <a:t>The reader app holds exactly nine Graph permissions and Reader, with a certificate or federated credential, never a secret</a:t>
            </a:r>
            <a:endParaRPr lang="en-US" sz="1450" dirty="0"/>
          </a:p>
          <a:p>
            <a:pPr marL="342900" indent="-342900">
              <a:spcAft>
                <a:spcPts val="400"/>
              </a:spcAft>
              <a:buSzPct val="100000"/>
              <a:buChar char="•"/>
            </a:pPr>
            <a:r>
              <a:rPr lang="en-US" sz="1450" dirty="0">
                <a:solidFill>
                  <a:srgbClr val="334155"/>
                </a:solidFill>
              </a:rPr>
              <a:t>Each audit window starts where the last ended; the newest package is from today</a:t>
            </a:r>
            <a:endParaRPr lang="en-US" sz="1450" dirty="0"/>
          </a:p>
          <a:p>
            <a:pPr marL="342900" indent="-342900">
              <a:spcAft>
                <a:spcPts val="400"/>
              </a:spcAft>
              <a:buSzPct val="100000"/>
              <a:buChar char="•"/>
            </a:pPr>
            <a:r>
              <a:rPr lang="en-US" sz="1450" dirty="0">
                <a:solidFill>
                  <a:srgbClr val="334155"/>
                </a:solidFill>
              </a:rPr>
              <a:t>Lab 2 recorded PIM's service name, the request ID key and the role target; the code matches</a:t>
            </a:r>
            <a:endParaRPr lang="en-US" sz="1450" dirty="0"/>
          </a:p>
          <a:p>
            <a:pPr marL="342900" indent="-342900">
              <a:spcAft>
                <a:spcPts val="400"/>
              </a:spcAft>
              <a:buSzPct val="100000"/>
              <a:buChar char="•"/>
            </a:pPr>
            <a:r>
              <a:rPr lang="en-US" sz="1450" dirty="0">
                <a:solidFill>
                  <a:srgbClr val="334155"/>
                </a:solidFill>
              </a:rPr>
              <a:t>Every Tier 0 incident in the period has an incident record</a:t>
            </a:r>
            <a:endParaRPr lang="en-US" sz="1450" dirty="0"/>
          </a:p>
        </p:txBody>
      </p:sp>
      <p:sp>
        <p:nvSpPr>
          <p:cNvPr id="8" name="Panel The evidence">
            <a:extLst>
              <a:ext uri="{C183D7F6-B498-43B3-948B-1728B52AA6E4}">
                <adec:decorative xmlns:adec="http://schemas.microsoft.com/office/drawing/2017/decorative" val="1"/>
              </a:ext>
            </a:extLst>
          </p:cNvPr>
          <p:cNvSpPr/>
          <p:nvPr/>
        </p:nvSpPr>
        <p:spPr>
          <a:xfrm>
            <a:off x="6240780" y="1325880"/>
            <a:ext cx="5417820" cy="3372612"/>
          </a:xfrm>
          <a:prstGeom prst="roundRect">
            <a:avLst>
              <a:gd name="adj" fmla="val 216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evidenc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EVIDENCE</a:t>
            </a:r>
            <a:endParaRPr lang="en-US" sz="1100" dirty="0"/>
          </a:p>
        </p:txBody>
      </p:sp>
      <p:sp>
        <p:nvSpPr>
          <p:cNvPr id="10" name="Panel The evidence list"/>
          <p:cNvSpPr txBox="1"/>
          <p:nvPr/>
        </p:nvSpPr>
        <p:spPr>
          <a:xfrm>
            <a:off x="642366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Issue bodies carry object IDs, not names</a:t>
            </a:r>
            <a:endParaRPr lang="en-US" sz="1450" dirty="0"/>
          </a:p>
          <a:p>
            <a:pPr marL="342900" indent="-342900">
              <a:spcAft>
                <a:spcPts val="400"/>
              </a:spcAft>
              <a:buSzPct val="100000"/>
              <a:buChar char="•"/>
            </a:pPr>
            <a:r>
              <a:rPr lang="en-US" sz="1450" dirty="0">
                <a:solidFill>
                  <a:srgbClr val="334155"/>
                </a:solidFill>
              </a:rPr>
              <a:t>Each package verifies with sha256sum -c SHA256SUMS; the period shows no chain break and no coverage gap</a:t>
            </a:r>
            <a:endParaRPr lang="en-US" sz="1450" dirty="0"/>
          </a:p>
          <a:p>
            <a:pPr marL="342900" indent="-342900">
              <a:spcAft>
                <a:spcPts val="400"/>
              </a:spcAft>
              <a:buSzPct val="100000"/>
              <a:buChar char="•"/>
            </a:pPr>
            <a:r>
              <a:rPr lang="en-US" sz="1450" dirty="0">
                <a:solidFill>
                  <a:srgbClr val="334155"/>
                </a:solidFill>
              </a:rPr>
              <a:t>A locked time-based retention policy on the evidence container in production</a:t>
            </a:r>
            <a:endParaRPr lang="en-US" sz="1450" dirty="0"/>
          </a:p>
          <a:p>
            <a:pPr marL="342900" indent="-342900">
              <a:spcAft>
                <a:spcPts val="400"/>
              </a:spcAft>
              <a:buSzPct val="100000"/>
              <a:buChar char="•"/>
            </a:pPr>
            <a:r>
              <a:rPr lang="en-US" sz="1450" dirty="0">
                <a:solidFill>
                  <a:srgbClr val="334155"/>
                </a:solidFill>
              </a:rPr>
              <a:t>The period summary signed by the identity governance officer; residual standing privilege accepted by the authorizing official</a:t>
            </a:r>
            <a:endParaRPr lang="en-US" sz="1450" dirty="0"/>
          </a:p>
          <a:p>
            <a:pPr marL="342900" indent="-342900">
              <a:spcAft>
                <a:spcPts val="400"/>
              </a:spcAft>
              <a:buSzPct val="100000"/>
              <a:buChar char="•"/>
            </a:pPr>
            <a:r>
              <a:rPr lang="en-US" sz="1450" dirty="0">
                <a:solidFill>
                  <a:srgbClr val="334155"/>
                </a:solidFill>
              </a:rPr>
              <a:t>The pinned Learn page matches its manifest; every upstream commit since reviewed</a:t>
            </a:r>
            <a:endParaRPr lang="en-US" sz="1450" dirty="0"/>
          </a:p>
        </p:txBody>
      </p:sp>
      <p:sp>
        <p:nvSpPr>
          <p:cNvPr id="11" name="Callout">
            <a:extLst>
              <a:ext uri="{C183D7F6-B498-43B3-948B-1728B52AA6E4}">
                <adec:decorative xmlns:adec="http://schemas.microsoft.com/office/drawing/2017/decorative" val="1"/>
              </a:ext>
            </a:extLst>
          </p:cNvPr>
          <p:cNvSpPr/>
          <p:nvPr/>
        </p:nvSpPr>
        <p:spPr>
          <a:xfrm>
            <a:off x="548640" y="4881372"/>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954524"/>
            <a:ext cx="585216" cy="585216"/>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5094976"/>
            <a:ext cx="304312" cy="304312"/>
          </a:xfrm>
          <a:prstGeom prst="rect">
            <a:avLst/>
          </a:prstGeom>
        </p:spPr>
      </p:pic>
      <p:sp>
        <p:nvSpPr>
          <p:cNvPr id="14" name="Callout text"/>
          <p:cNvSpPr txBox="1"/>
          <p:nvPr/>
        </p:nvSpPr>
        <p:spPr>
          <a:xfrm>
            <a:off x="1600200" y="4936236"/>
            <a:ext cx="9875520" cy="621792"/>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the last chapter of the workbook; the workbook index lists all eight.</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08, “Checklist”; Learn, immutable storage (locked retention). Chapter 08,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477FBCD-8D1B-BC8F-3EEF-C4741AECD98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319798C-7C8A-4D4C-BF2F-D12F34A28CC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40"/>
    </mc:Choice>
    <mc:Fallback>
      <p:transition spd="slow" advTm="36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64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14230</Words>
  <Application>Microsoft Office PowerPoint</Application>
  <PresentationFormat>Widescreen</PresentationFormat>
  <Paragraphs>371</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08: Evidence and Drift for the ISSO</vt:lpstr>
      <vt:lpstr>What the evidence has to show</vt:lpstr>
      <vt:lpstr>Which cloud: the audit read's Graph host</vt:lpstr>
      <vt:lpstr>Learn's PIM audit page and its three queries</vt:lpstr>
      <vt:lpstr>What the queries find, and what they mix up</vt:lpstr>
      <vt:lpstr>What the queries leave out entirely</vt:lpstr>
      <vt:lpstr>The run: state, events, and one folder per run</vt:lpstr>
      <vt:lpstr>The audit read, and what it flags</vt:lpstr>
      <vt:lpstr>Where Learn's pages differ, and why it fails closed</vt:lpstr>
      <vt:lpstr>Compare, by fingerprint; Tier 0 drift is an incident</vt:lpstr>
      <vt:lpstr>No names in the tracker; packages in a hash chain</vt:lpstr>
      <vt:lpstr>The period the ISSO receives, and the schedule</vt:lpstr>
      <vt:lpstr>Who runs it, who receives it, what it may read</vt:lpstr>
      <vt:lpstr>Lab 1: Learn's queries and two days of runs</vt:lpstr>
      <vt:lpstr>Lab 1: compare, package, the period, a break</vt:lpstr>
      <vt:lpstr>Lab 2: a test tenant, one activation, read twice</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Privileged Access, Chapter 08 — Evidence and Drift for the ISSO</dc:title>
  <dc:subject>PptxGenJS Presentation</dc:subject>
  <dc:creator>Michael F. Stratton</dc:creator>
  <cp:lastModifiedBy>Michael F. Stratton</cp:lastModifiedBy>
  <cp:revision>2</cp:revision>
  <dcterms:created xsi:type="dcterms:W3CDTF">2026-10-31T14:34:00Z</dcterms:created>
  <dcterms:modified xsi:type="dcterms:W3CDTF">2026-10-31T16:26:54Z</dcterms:modified>
</cp:coreProperties>
</file>