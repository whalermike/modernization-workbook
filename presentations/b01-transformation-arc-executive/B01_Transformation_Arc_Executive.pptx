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t's hard" id="{56b99e3a-8da8-c58f-f5a1-cd86bf3902b1}">
          <p14:sldIdLst>
            <p14:sldId id="256"/>
            <p14:sldId id="257"/>
            <p14:sldId id="258"/>
            <p14:sldId id="259"/>
          </p14:sldIdLst>
        </p14:section>
        <p14:section name="What changes" id="{52106674-c783-8e6d-1035-6bcade99d55d}">
          <p14:sldIdLst>
            <p14:sldId id="260"/>
            <p14:sldId id="261"/>
            <p14:sldId id="262"/>
            <p14:sldId id="263"/>
            <p14:sldId id="264"/>
            <p14:sldId id="265"/>
          </p14:sldIdLst>
        </p14:section>
        <p14:section name="Who leads" id="{65989b21-5977-e816-39da-e5f235cab6ef}">
          <p14:sldIdLst>
            <p14:sldId id="266"/>
            <p14:sldId id="267"/>
            <p14:sldId id="268"/>
          </p14:sldIdLst>
        </p14:section>
        <p14:section name="How to deliver" id="{0b416ab6-c9e5-76a7-c67d-862dfe8d1c46}">
          <p14:sldIdLst>
            <p14:sldId id="269"/>
            <p14:sldId id="270"/>
            <p14:sldId id="271"/>
            <p14:sldId id="272"/>
            <p14:sldId id="273"/>
            <p14:sldId id="274"/>
          </p14:sldIdLst>
        </p14:section>
        <p14:section name="Backup" id="{2c12ba32-3bd1-ffa2-d1eb-5037d2128e71}">
          <p14:sldIdLst>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[0:00–1:21]  This is the executive briefing for Book 01 of the Federal Modernization Workbook, The Transformation Arc. It runs about thirty minutes, and it's for the people who sponsor, fund, secure and authorize the move from a domain-joined client and server estate to cloud identity, cloud device management and governed hybrid operations: executive sponsors, CIOs, CISOs and authorizing officials.
The book's argument fits in three sentences. For twenty years Active Directory quietly did governance that nobody wrote down, so modernization is a governance rebuild, not a platform swap. The estate has to be analyzed before anything moves, and the work delivered in gated phases with a rollback at every step. And leadership's job is to conduct the orchestra, not to play the instruments.
I'll take four questions in order. Why modernization is so hard. What changes across the platform, identity, policy, network services, compute and access. Who leads the transformation. And how to analyze the estate, turn the analysis into delivered change, and follow a gated roadmap to the retirement of Active Directory.
There's no configuration on these slides. Each decision slide names the decision, who owns it, and when it's needed.
Workbook: Book 01, Chapter 01 — Why Modernization Is Hard; Chapter 02 — The Problem: Governance Hidden in the Directory; Chapter 09 — Who Leads the Transformation; book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[1:21–3:02]  Start with how the estate got here. Federal IT reached its current shape in four eras, and each solved a real problem.
The mainframe held all the data and also enforced access to it: one truth, in one box. Distributed systems put a database and a directory in every region, and nobody replaced that single source of truth. From 2010, OMB set a target of closing at least eight hundred data centers, and agencies stacked inspection devices between field offices and the systems they depended on. Then email moved to Microsoft 365 and workloads spread across clouds, while identity stayed in regional domains. Now the same person can appear as several records, and no one can say which one is authoritative.
That's why modernization stalls. Each step assumes the one before it is finished. Zero Trust assumes authoritative cloud identity. Cloud identity assumes a clean directory. A clean directory assumes governed groups. And governed groups assume someone owns them, which is where many agencies are stuck.
Meanwhile the mandates arrive with dates: M-22-09's Zero Trust goals for fiscal 2024, BOD 25-01's baselines by June 20, 2025, and M-26-14's logging reset in May 2026. Each assumes a foundation the estate never built.
So the first decision is about ownership, not technology. Before anything is planned, name the executive sponsor, the steward who runs the program office, and the authorizing official. The roadmap makes that the entry condition for its first phase.
Workbook: Book 01, Chapter 01 — Why Modernization Is Hard (How the estate got here; The cascade: each fix assumes the last one is done); Chapter 09 — Who Leads the Transformation (What to do next, item 1); Chapter 12 — The Migration Roadmap (Phase 0 — Pre-flight,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[3:02–4:41]  Chapter 02 states the problem precisely. Active Directory shipped with Windows 2000 as an identity directory. Over twenty-five years every Windows-era service wired itself into it, because it was the only enterprise-wide, governed, replicated namespace available. Nobody wrote down how much governance it carried.
The OU tree wasn't a folder system. Placing one user in a branch handed the account to that branch's delegated administrators, applied every Group Policy linked along the path, fed the tools that built groups from position, bound the account to the branch's delegation, and drew an audit boundary. One act, five effects. Entra ID has no OU tree, so each effect has to be rebuilt on purpose.
Most migration plans count users, computers, groups and Group Policy. The program's inventory counts eleven categories, adding service accounts and service principal names, DNS and DHCP, certificate services, RADIUS, LDAP-bound applications and trust relationships. Those fail silently: a certificate that doesn't renew, an application whose bind account was deleted with the domain. No log line says governance has failed.
Microsoft hasn't deprecated Active Directory. It still supports and enhances it, while pointing customers toward a cloud-first model reached in phases. So there's no vendor deadline; retiring it is the agency's decision.
That makes scope a decision for the sponsor and the CIO: fund this as a governance transformation across all eleven categories, not a users-and-groups project, when scope and funding are set.
Workbook: Book 01, Chapter 02 — The Problem: Governance Hidden in the Directory (What shipped with Windows 2000; What breaks when AD goes away; Silent failure is the real enemy; The OU tree was the governance tree; Why naive migrations fail); Chapter 09 (Decision rights: program scope, funding and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[4:41–6:15]  What has to be true? The workbook reads federal Zero Trust guidance as requiring five things. No single document publishes this list; it's the program's synthesis of SP 800-207, M-22-09, CISA's maturity model and M-26-14.
One: a single authoritative source of identity, one record per user, device and account. Two: a governed directory, rationalized before the move to a flat cloud directory, not after. Three: continuous verification, not one-time sign-in. Four: telemetry used for management, feeding governance and not only incident response. And five: governance that runs automatically, because manual review can't keep up with a hybrid estate.
The third is where the old world and the new differ most. In Active Directory a user signs in once and gets a ticket that lasts ten hours, renewable for seven days. Entra ID checks tokens against Conditional Access: an access token lasts one hour by default, or up to twenty-eight hours under continuous access evaluation, which revokes it within about fifteen minutes of an event such as a disabled account.
Distance matters, but narrowly. What it hurts is the operations that need a domain controller: hybrid-joined devices need line of sight for sign-in, password changes and policy. Light in fiber from Portland, Oregon to Washington takes about forty-five milliseconds round trip, and bandwidth doesn't change that. The durable answer is to remove the dependency.
Workbook: Book 01, Chapter 01 — Why Modernization Is Hard (The session problem; What distance does and doesn't cost; The physics that can't be negotiated; What has to be true; What the book does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[6:15–7:51]  Now what changes, starting with the platform: one place where every decision is written down, signed and replayable.
The book's reference design runs every analysis, plan, delivery and evidence step on one Windows Server 2025 host, with a standby for recovery. The property that matters is a single authoritative writer: two writers would diverge. Every change is a signed commit, never a portal click. It's built from standard components; it isn't a product.
Two design rules matter at this level. First, governance and execution never mix. The governance layer validates plans, signs them and writes the audit trail, but never touches a target. The execution layer runs authorized plans and decides nothing. They run under separate identities, because a component that both decides and acts can cover its tracks.
Second, the host is a control-plane asset. It reads the forest and writes to cloud identity, so it's treated as Tier 0: hardened, and logged centrally under M-26-14. The program's target posture for federal production is gated actuation. The host proposes a correction, and a person approves it before it runs.
The decision belongs to the program office, under the steward: stand up the host as the only authoritative writer, protected as Tier 0, and record the standby model and the actuation stage in the decision log. Gate G0 needs it operational by the end of Phase 0.
Workbook: Book 01, Chapter 03 — The Platform Foundation (The architectural claim; Why one host; Separation of governance and execution; The control plane over the data planes; Operational properties; What the platform host is not; Build and decision records); Chapter 09 (Decision rights: target architecture and the authoritative repository); Chapter 12 (Phase 0, Gate G0).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[7:51–9:22]  Identity comes first in the chain, because policy, devices and access all target identity groups.
The OU tree carried delegation, policy scope and accountability in one structure. A flat cloud directory has none of that until the program writes it down. The book rebuilds it with four Microsoft mechanisms bound into one model: attributes, dynamic groups, administrative units and Conditional Access. Setting a user's attributes from the HR record produces every downstream effect: group membership, delegated scope, policy targeting, licenses and drift visibility. One stamp, five outcomes.
That only works if the attributes are true. M-22-09 requires centralized identity management for agency users. For the workforce, the authoritative source is the HR system of record. HR owns who works for the agency, where they sit and who they report to. A dynamic rule is only as trustworthy as whoever can write the attribute it reads, so the help-desk and self-service write paths are removed, and HR provisioning is the only writer.
Then joiner, mover and leaver run on their own. Tokens don't fix a wrong model; they sign broken authorizations efficiently.
So HR decides what the authoritative attributes mean, and identity engineering decides how they flow. Contractors need an authoritative source of their own. Gate G1 requires the HR feed working before any rollout.
Workbook: Book 01, Chapter 04 — Identity Transformation (The identity claim; Why the attributes must be true first; The four mechanisms; Protect the write path; HR-driven lifecycle; From sessions to tokens); Chapter 09 (HR and the contractor sources; Decision rights: authoritative worker attributes); Chapter 12 (Phase 1, Gate G1; Common failure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[9:22–10:50]  Policy is next. Group Policy was Active Directory's most ambitious delivery system, and its most network-bound: a client applies it only when it can reach a domain controller. A cloud-native endpoint gets its configuration from the cloud instead.
The replacement is several surfaces: Intune for devices, Conditional Access for access control, and Azure machine configuration, through Arc, for servers, because Intune doesn't manage Windows Server.
The program's pattern is regenerate, not copy. Porting a fifty-setting policy as fifty modern settings carries forward dead weight and old conflicts. Microsoft's own recommendation is to start new rather than migrate.
Four rules govern every change. Each setting has exactly one owning layer. Require is preferred to block, because a bad block locks users out and a bad require adds a step you can fix; blocks are kept for cases such as legacy authentication, which the federal baseline demands. Every change passes plan validation, a simulated tenant, a report-only pilot, and only then production. And the emergency access accounts are excluded from every blocking policy.
The decision is the CISO's: the control requirements every surface must meet, meaning the Conditional Access baseline, MFA strength and logging. Gate G1 needs that baseline enforced, with no user outside the MFA requirement except the documented emergency accounts.
Workbook: Book 01, Chapter 05 — Policy Transformation (The policy claim; The target surfaces; Why one-to-one mapping fails; Prefer require to block; Conflict resolution; Break-glass exclusions and testing); Chapter 09 (Decision rights: control requirements); Chapter 12 (Phase 1, Gate G1).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[10:50–12:24]  Network services are the part organizations most often defer, because DNS, DHCP and address management still work. That's exactly how they keep the old directory alive.
The three form one surface. DNS usually lives in zones integrated with Active Directory, so every domain controller sits in the name-resolution path, and Active Directory can't retire until DNS moves. DHCP servers are authorized in the forest, but that check is Windows policing itself: it stops an unauthorized Windows server, not a rogue device. And address management, in many organizations, is a spreadsheet one person maintains. Without it, DNS and DHCP drift.
So the program moves them together. One governed IPAM authority covers the whole address surface, on-premises and cloud, and DNS and DHCP derive their records from it. Disagreement between them is drift, and there's no DNS-only run. Federal controls point the same way: SP 800-53 treats secure name resolution and the component inventory as controls of their own.
The common failure is to modernize identity and policy and leave these for a Phase 2 that rarely happens. A forest that still hosts DNS has not been retired.
That makes it a scope and funding decision for the sponsor and the CIO: put DNS, DHCP and IPAM in the core program now, with one IPAM authority. The pilot division's zones move in Phase 2.
Workbook: Book 01, Chapter 06 — Network Services: DNS, DHCP and IPAM (The services claim; Why these three, why together; DNS; DHCP; IPAM; Why "Phase 2" never comes); Chapter 12 (Phase 2; Phase 4; Common failure modes, item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[12:24–14:05]  Compute. Once identity, policy and network services have moved, domain-joined machines are the largest remaining dependency. A machine leaves only when its identity, its policy and its trust have each been replaced, so the domain join is the last thing to go, not the first.
User PCs end Entra joined and managed in Intune, and every hardware refresh should arrive that way. Hybrid join is a transition: there's no supported way to convert a hybrid-joined PC without resetting it, so time that reset to a refresh. A program that leaves devices hybrid joined hasn't finished.
Servers take a different road. Azure Arc projects them into Azure for policy and posture while they stay where they are, and leaving the domain is a separate decision for each workload.
What holds servers in the domain is applications. Every Kerberos service principal name is an application, and each gets one of three answers: migrate to modern authentication, retire it, or, as a last resort, keep it on a small documented island with an end-of-life date. NTLM is resolved in the same pass. And an application's compute stays with its data until its round trips are reduced, because distance multiplies with every call.
Only an application's owner can make that call and sign off its cutover. Keeping legacy authentication open is a risk acceptance, so the authorizing official sets every island and NTLM end date, and every name is resolved by Gate G4.
Workbook: Book 01, Chapter 07 — Compute Transformation (The compute claim; The device states; Three migration patterns for user PCs; Servers — the Arc path; Where compute runs; Kerberos and SPN retirement); Chapter 09 (Application owners; Decision rights: application cutover; legacy authentication and NTLM end dates); Chapter 12 (Gate G4).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[14:05–15:43]  The access plane. When Active Directory retires, being inside the network stops meaning anything. M-22-09 says users should log in to applications rather than networks, every application should be treated as internet-accessible, and multifactor authentication belongs at the application layer, not in a VPN.
The replacement has four surfaces: Zero Trust as the model, Conditional Access deciding each request, a secure access service edge replacing the VPN, and phishing-resistant authentication as the proof. M-22-09 requires it for staff, contractors and partners, and BOD 25-01 makes blocking legacy authentication, and phishing-resistant MFA for all users, mandatory. FIDO2 keys, passkeys, Windows Hello, and PIV or CAC cards through certificate-based authentication qualify; SMS and voice don't.
Two consequences need an executive eye. First, smart-card sign-in is anchored in Active Directory today. The card and PIN stay, and validation moves to Entra ID. But issuance is a separate decision: an enterprise certificate authority depends on AD DS, and Microsoft's cloud PKI covers only Intune-managed devices, so issuance needs a successor before Active Directory retires. Second, privilege: every human admin assignment becomes eligible and time-bound, standing credentials go through a vault, and emergency accounts are tested at least every 90 days.
The CISO decides: phishing-resistant MFA as the end state for everyone, with FIDO2 or certificate-based authentication for Tier 0 administrators first, opening in Phase 1, and certificate issuance moved off AD DS by Gate G4.
Workbook: Book 01, Chapter 08 — The Access Plane (The access claim; The model — Zero Trust; From sessions to tokens; SASE; Phishing-resistant MFA; Cloud certificate-based authentication; Privileged access management; Continuous access evaluation); Chapter 09 (Decision rights: control requirements); Chapter 12 (Phase 1; Gate G4).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[15:43–17:16]  Who leads? The book's framing is simple. Microsoft provides the instruments; the program provides the orchestra.
Cloud identity, device management, Conditional Access, privileged identity management and the assessment tools are each excellent. But look at what each one doesn't decide. Cloud identity doesn't decide what your organizational structure should become. Hybrid management doesn't decide which servers retire. The assessment tools don't decide what to do with the findings. Every entry in that column is a decision someone has to own.
And no vendor deadline forces it, so without leadership organizations migrate in pieces and finish with a surface that can't answer last year's audit questions. And the program isn't a product: it needs no license of its own, but the services it orchestrates do, from Entra ID P1 for Conditional Access to Entra ID Governance for lifecycle workflows.
Federal policy already says this belongs to more than the IT shop. M-22-09 says the whole C-suite must be aligned and committed, and it required each agency to designate a zero trust implementation lead within 30 days. M-19-17 requires an agency-wide identity governance structure that includes HR, general counsel, privacy and acquisition.
So the first Who decision, for the sponsor and the CIO before Phase 0: confirm who already holds those roles, and decide whether one of them becomes the program's steward.
Workbook: Book 01, Chapter 09 — Who Leads the Transformation (The framing that matters; What the program is — and is not; The instruments, revisited; Who leads, decides and does the work; The program office and the steward; What to do next, item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[17:16–18:49]  The book's decision matrix runs on one rule: one decider per row. The single deliberate exception is the pilot gate, G2, which the steward and the sponsor co-sign.
The sponsor and the CIO own scope, funding and sequence, break ties, and decide when Active Directory components retire, because each retirement ends a fallback. They clear gate G3 with the steering committee, and G5, the retirement of Active Directory itself. Their job is to keep it a program, not five projects that finish one at a time.
The CISO decides the control requirements every surface must meet. The authorizing official is the only official who can accept risk on the agency's behalf, so every place the program carries risk instead of removing it reaches that desk: a deferred legacy-authentication cutoff, a Kerberos island with no end date, a deviation from a mandatory baseline.
The program office, led by the steward, runs the orchestra. It holds the repository, turns assessments into authorized plans and evaluates the gates, but it doesn't decide risk or scope. The platform teams do the work inside each domain. Application owners decide for their own applications. HR decides what the worker attributes mean.
The sponsor's decision, before the program starts: fill in the matrix with names, one decider per row, and get the authorizing official's agreement to every risk-acceptance row.
Workbook: Book 01, Chapter 09 — Who Leads the Transformation (The executive sponsor and the CIO; The CISO and the authorizing official; The program office and the steward; The platform teams; Application owners; Decision rights across the program; How a sponsor evaluates the program); Chapter 12 (Gates, rollback and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[18:49–20:21]  Three decisions often land on the wrong desk, and the book moves each one on purpose.
First, end dates for legacy authentication and NTLM. They sit with the authorizing official, not with the engineers who'd like more time, because keeping legacy authentication open is a risk acceptance, and BOD 25-01 makes blocking it a mandatory baseline. Authorizing officials may accept risk for deviations from those policies, under agency policy.
Second, the help desk's identity-verification procedure. The help desk supports users through every wave, and that makes it a target. CISA's advisory on the Scattered Spider group describes attackers phoning help desks to get passwords reset and MFA tokens transferred. So the procedure for resets and temporary access passes is a CISO decision. The help desk carries it out with narrowly scoped roles.
Third, records. Retiring Active Directory retires the systems that hold years of access records. NARA's General Records Schedule 3.2 keeps some system access records for six years after the account is terminated, and once a domain controller is gone, its logs can't be recovered for an audit or a legal hold.
So the records officer decides retention before anything is decommissioned: any domain controller, federation farm, sync server or SIEM connector. And the privacy office is consulted before any new attribute flow carries personal data.
Workbook: Book 01, Chapter 09 — Who Leads the Transformation (The CISO and the authorizing official; The help desk; Records management and privacy; Decision rights across the program, and the two rows that need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[20:21–21:56]  Now how to deliver it, starting with the estate. You can't modernize what you haven't enumerated, and nothing can be retired until someone has written down everything it was quietly doing.
Ask what's in a long-lived forest and the honest answer is usually more than anyone on the current team knows: trusts no one can fully map, Group Policy whose authors left a decade ago, certificate templates whose permissions open privilege-escalation paths, and servers past support, each of which needs a disposition in the plan.
The assessment follows three rules. It's read-only, enforced in the account, the code and the audit trail. It's least-privilege: never a domain or enterprise admin, starting from default read rights and adding only narrow, recorded additions, never secrets. And every run carries provenance: who ran it, when, against what, with which rights, and a hash of every file. The engine rejects a run without it. The output maps privileged groups and service accounts, so it's stored encrypted and handled as sensitive. And because broad enumeration looks like reconnaissance, security operations is told first.
One more input decides whether an application may move: how many round trips it makes to its data, measured, not estimated.
The steward commissions it in Phase 0. In the program's experience a first pass takes days to a few weeks, and Gate G0 needs it committed.
Workbook: Book 01, Chapter 10 — Analyzing the Estate (The assessment discipline; The assessment problem; Three design principles; Stream 4 — Computers; One artifact set per run; Profiling transactions before separation); Chapter 09 (What to do next, item 3); Chapter 12 (Phase 0, Gate G0).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[21:56–23:39]  Then the cycle that turns analysis into delivered change. Nothing touches the target without a plan, and no plan touches it without someone of record having read it first.
Analyze compares the current state with the target and produces a diff and a blast-radius score. Plan turns the diff into a sequence of actions, each bounded to a single object, ordered by dependency and paired with its own inverse, so the plan can run backwards. Then two gates. Validation rejects any plan that breaks naming, scope or safety rules, such as deleting too many objects at once. Authorization needs a review and at least one approver of record who isn't the author. Only then does the execution layer, under a separate identity, deliver each action, verify it and record the result.
When something fails, the default is to halt, and rollback is explicit. Every run ends in a signed evidence packet, and when nothing has drifted, the next run is a zero-action plan.
A separate rule caps how far automation may go: record, observe, advise, gated actuation, and autonomy only for named low-risk classes. Tenant-wide role changes, Conditional Access enforcement and bulk device changes stay gated permanently. No federal document requires that ceiling. The book chooses it because it's a posture an authorizing official can sign.
So before the first production delivery, the authorizing official agrees the ceiling for each class of change, with its dry run, its approver and its rollback on record.
Workbook: Book 01, Chapter 11 — Analysis, Plan, Delivery (The pipeline contract; Stage 1 — Analyze; Stage 2 — Plan; Plan validation; Authorization gate; Stage 3 — Deliver; Failure modes and rollback; How far automation may go; Evidence packet); Chapter 03 (The control plane over the data planes).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[23:39–25:10]  The roadmap sequences all of this as an illustrative fifty-two-week program. The weeks are a sequencing model, not a commitment; large federal estates typically run multi-year.
There are seven phases and six gates. Phase 0, pre-flight, stands up the platform host and runs the assessment; G0 is Ready to Plan. Phase 1, foundation, puts the identity primitives in place, including the access baseline and the HR feed; G1 is Foundation Complete. Phase 2 proves the whole pattern on one pilot division, typically IT; G2, Pilot Clean, needs zero drift for a hold period. Phase 3, the longest, rolls out division by division, two or three at a time. Phase 4 retires legacy policy, groups, DNS, DHCP and the last service principal names; G4 is Legacy Quiet. Phase 5, the shortest, retires AD DS. And Phase 6 is steady state.
Two properties define it. The five workstreams, identity, policy, services, compute and access, run in parallel, each with a named lead; finishing one before starting the next doubles the duration. And it's gated: a phase opens only when the previous gate clears.
The decision closes the loop on ownership. Put the gate dates on the sponsor's calendar, and the end date of every exception on the authorizing official's. Gate G0 gets its date in Phase 0.
Workbook: Book 01, Chapter 12 — The Migration Roadmap (The program claim; The seven phases; The five parallel workstreams; Where to start); Chapter 09 (What to do next, item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[25:10–26:45]  Two things make the gates trustworthy. First, every gate criterion is evaluated from the repository and the drift reports, not from a signature. Zero drift for fourteen days is a query; so is every PC cloud-joined. The engine reports green, the steward concurs, and the record that merges the decision shows who made it. A gate the engine can't evaluate needs a better criterion.
Second, rollback triggers are thresholds, not judgment calls, and the values are the agency's to set. Drift above the threshold for more than a day halts the phase. Conditional Access blocking more than a set share of legitimate sign-ins means the policy is reverted. If drift detection stops reporting, all phase work halts.
Authority is fixed in advance. The steward clears G0, G1 and G4. The steward and the sponsor co-sign G2. The sponsor and the steering committee clear G3. And the sponsor and the CIO clear G5, Active Directory retired.
And be clear about the end. A forest in backup isn't a lasting fallback: a backup is valid only within the tombstone lifetime, 180 days by default. The real rollback point is the last moment a domain controller still runs.
So G5 is the sponsor's and the CIO's decision, made on evidence: no live production dependency on Active Directory authentication, or a documented Kerberos island with an end-of-life date.
Workbook: Book 01, Chapter 12 — The Migration Roadmap (Phase 5 — AD DS retirement; Gate G5; Gates, rollback and authority); Chapter 09 (Decision rights: gate decisions; retire domain controllers).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[26:45–28:21]  Two external clocks bear on the schedule, and they're easy to conflate.
FedRAMP's Consolidated Rules for 2026, announced on June 25, 2026, govern how cloud services are certified. They become mandatory for everyone on January 1, 2027, and FedRAMP stops accepting new Rev5 certification applications on June 11, 2027. None of that certifies the agency's own estate. FedRAMP is explicit that each agency still authorizes its own federal information systems, and should never create a standalone authorization for a cloud service. What the 2027 date changes is the evidence your providers publish and you inherit.
The deadlines that bind the agency directly come from OMB and CISA: M-26-14's logging plan and maturity levels, and BOD 25-01's secure configuration baselines for in-scope Microsoft 365 tenants. The estate has its own dates too. Windows 10 reached end of support on October 14, 2025. Extended security updates for Windows Server 2012 and 2012 R2 ended on October 13, 2026, and Windows Server 2016 reaches end of support on January 12, 2027.
Mainframes have a place in the sequence. Token-based access joins the access workstream late, discrete read-mostly transactions first, and M-22-09 notes that mainframes may need other zero trust mechanisms where endpoint detection tools don't fit.
So the sponsor and the CIO sequence the program against the agency's own deadlines and end-of-support dates, starting now, not against FedRAMP's 2027 date.
Workbook: Book 01, Chapter 12 — The Migration Roadmap (The clocks the roadmap runs against; Mainframe access in the sequence; Key takeaways, item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[28:21–29:48]  So, the decisions, with their owners.
Agency leadership and the CIO name the sponsor, the steward and the authorizing official, and the sponsor fills the matrix with one decider per row. The sponsor and the CIO scope all eleven categories, with DNS, DHCP and address management in the core program, and at the end retire Active Directory on evidence.
The steward stands up the platform host as the one authoritative writer, protected as Tier 0, and commissions the read-only assessment, both in Phase 0.
The CISO sets the control requirements, enforced at Gate G1. HR defines what the worker attributes mean. The authorizing official agrees the actuation ceiling and every exception's end date. And the records officer settles retention before anything is decommissioned.
None of this requires a vendor decision on day one. It requires an inventory, an owner and a date: the read-only assessment, a named sponsor and steward, and Gate G0 on the calendar.
Microsoft has supplied the instruments. The program is the orchestra, and the people named in this briefing are the ones who have to play it. Retiring Active Directory is a governance transformation, and it should be led as one. Book 01 has the detail, with every claim footnoted. Thank you.
Workbook: Book 01, Chapter 09 — Who Leads the Transformation (What to do next; Key takeaways); Chapter 12 — The Migration Roadmap (Where to start); Chapters 02, 03, 05, 06, 10 and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01 The Transformation Arc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Who Leads the Governance Rebuild?</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01 — The Transformation Arc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4340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029200"/>
            <a:ext cx="7772400" cy="77724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  ·  Executive briefing</a:t>
            </a:r>
            <a:endParaRPr lang="en-US" sz="1600" dirty="0"/>
          </a:p>
          <a:p>
            <a:pPr indent="0" marL="0">
              <a:buNone/>
            </a:pPr>
            <a:r>
              <a:rPr lang="en-US" sz="1600" dirty="0">
                <a:solidFill>
                  <a:srgbClr val="64748B"/>
                </a:solidFill>
              </a:rPr>
              <a:t>30 minutes for sponsors, CIOs, CISOs and authorizing officials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Every new mandate assumes a foundation never built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Eras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FOUR ERAS: EACH SOLVED A PROBLEM, NONE KEPT ONE TRUTH</a:t>
            </a:r>
            <a:endParaRPr lang="en-US" sz="1200" dirty="0"/>
          </a:p>
        </p:txBody>
      </p:sp>
      <p:sp>
        <p:nvSpPr>
          <p:cNvPr id="6" name="Eras 0" descr="">
            <a:extLst>
              <a:ext uri="{C183D7F6-B498-43B3-948B-1728B52AA6E4}">
                <adec:decorative xmlns:adec="http://schemas.microsoft.com/office/drawing/2017/decorative" val="1"/>
              </a:ext>
            </a:extLst>
          </p:cNvPr>
          <p:cNvSpPr/>
          <p:nvPr/>
        </p:nvSpPr>
        <p:spPr>
          <a:xfrm>
            <a:off x="548640" y="1719072"/>
            <a:ext cx="5669280" cy="640080"/>
          </a:xfrm>
          <a:prstGeom prst="roundRect">
            <a:avLst>
              <a:gd name="adj" fmla="val 1142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Eras 0 text"/>
          <p:cNvSpPr txBox="1"/>
          <p:nvPr/>
        </p:nvSpPr>
        <p:spPr>
          <a:xfrm>
            <a:off x="731520" y="1719072"/>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Mainframe   </a:t>
            </a:r>
            <a:pPr indent="0" marL="0">
              <a:buNone/>
            </a:pPr>
            <a:r>
              <a:rPr lang="en-US" sz="1400" dirty="0">
                <a:solidFill>
                  <a:schemeClr val="tx2"/>
                </a:solidFill>
              </a:rPr>
              <a:t>One machine held the truth and enforced access</a:t>
            </a:r>
            <a:endParaRPr lang="en-US" sz="1400" dirty="0"/>
          </a:p>
        </p:txBody>
      </p:sp>
      <p:sp>
        <p:nvSpPr>
          <p:cNvPr id="8" name="Eras 1" descr="">
            <a:extLst>
              <a:ext uri="{C183D7F6-B498-43B3-948B-1728B52AA6E4}">
                <adec:decorative xmlns:adec="http://schemas.microsoft.com/office/drawing/2017/decorative" val="1"/>
              </a:ext>
            </a:extLst>
          </p:cNvPr>
          <p:cNvSpPr/>
          <p:nvPr/>
        </p:nvSpPr>
        <p:spPr>
          <a:xfrm>
            <a:off x="548640" y="2468880"/>
            <a:ext cx="5669280" cy="640080"/>
          </a:xfrm>
          <a:prstGeom prst="roundRect">
            <a:avLst>
              <a:gd name="adj" fmla="val 1142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Eras 1 text"/>
          <p:cNvSpPr txBox="1"/>
          <p:nvPr/>
        </p:nvSpPr>
        <p:spPr>
          <a:xfrm>
            <a:off x="731520" y="246888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Distributed   </a:t>
            </a:r>
            <a:pPr indent="0" marL="0">
              <a:buNone/>
            </a:pPr>
            <a:r>
              <a:rPr lang="en-US" sz="1400" dirty="0">
                <a:solidFill>
                  <a:schemeClr val="tx2"/>
                </a:solidFill>
              </a:rPr>
              <a:t>A database and a directory in every region</a:t>
            </a:r>
            <a:endParaRPr lang="en-US" sz="1400" dirty="0"/>
          </a:p>
        </p:txBody>
      </p:sp>
      <p:sp>
        <p:nvSpPr>
          <p:cNvPr id="10" name="Eras 2" descr="">
            <a:extLst>
              <a:ext uri="{C183D7F6-B498-43B3-948B-1728B52AA6E4}">
                <adec:decorative xmlns:adec="http://schemas.microsoft.com/office/drawing/2017/decorative" val="1"/>
              </a:ext>
            </a:extLst>
          </p:cNvPr>
          <p:cNvSpPr/>
          <p:nvPr/>
        </p:nvSpPr>
        <p:spPr>
          <a:xfrm>
            <a:off x="548640" y="3218688"/>
            <a:ext cx="5669280" cy="640080"/>
          </a:xfrm>
          <a:prstGeom prst="roundRect">
            <a:avLst>
              <a:gd name="adj" fmla="val 1142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Eras 2 text"/>
          <p:cNvSpPr txBox="1"/>
          <p:nvPr/>
        </p:nvSpPr>
        <p:spPr>
          <a:xfrm>
            <a:off x="731520" y="3218688"/>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Consolidation   </a:t>
            </a:r>
            <a:pPr indent="0" marL="0">
              <a:buNone/>
            </a:pPr>
            <a:r>
              <a:rPr lang="en-US" sz="1400" dirty="0">
                <a:solidFill>
                  <a:schemeClr val="tx2"/>
                </a:solidFill>
              </a:rPr>
              <a:t>Data centers closed; inspection stacked inline</a:t>
            </a:r>
            <a:endParaRPr lang="en-US" sz="1400" dirty="0"/>
          </a:p>
        </p:txBody>
      </p:sp>
      <p:sp>
        <p:nvSpPr>
          <p:cNvPr id="12" name="Eras 3" descr="">
            <a:extLst>
              <a:ext uri="{C183D7F6-B498-43B3-948B-1728B52AA6E4}">
                <adec:decorative xmlns:adec="http://schemas.microsoft.com/office/drawing/2017/decorative" val="1"/>
              </a:ext>
            </a:extLst>
          </p:cNvPr>
          <p:cNvSpPr/>
          <p:nvPr/>
        </p:nvSpPr>
        <p:spPr>
          <a:xfrm>
            <a:off x="548640" y="3968496"/>
            <a:ext cx="5669280" cy="640080"/>
          </a:xfrm>
          <a:prstGeom prst="roundRect">
            <a:avLst>
              <a:gd name="adj" fmla="val 1142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Eras 3 text"/>
          <p:cNvSpPr txBox="1"/>
          <p:nvPr/>
        </p:nvSpPr>
        <p:spPr>
          <a:xfrm>
            <a:off x="731520" y="3968496"/>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Breaking point   </a:t>
            </a:r>
            <a:pPr indent="0" marL="0">
              <a:buNone/>
            </a:pPr>
            <a:r>
              <a:rPr lang="en-US" sz="1400" dirty="0">
                <a:solidFill>
                  <a:schemeClr val="tx2"/>
                </a:solidFill>
              </a:rPr>
              <a:t>Several records per person; none authoritative</a:t>
            </a:r>
            <a:endParaRPr lang="en-US" sz="1400" dirty="0"/>
          </a:p>
        </p:txBody>
      </p:sp>
      <p:sp>
        <p:nvSpPr>
          <p:cNvPr id="14" name="Cascade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5" name="Icon FaArrowDownWideShort"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7" name="Cascade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Each step waits on the last</a:t>
            </a:r>
            <a:endParaRPr lang="en-US" sz="1700" dirty="0"/>
          </a:p>
        </p:txBody>
      </p:sp>
      <p:sp>
        <p:nvSpPr>
          <p:cNvPr id="18" name="Cascade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Zero Trust needs authoritative cloud identity</a:t>
            </a:r>
            <a:endParaRPr lang="en-US" sz="1400" dirty="0"/>
          </a:p>
          <a:p>
            <a:pPr marL="342900" indent="-342900">
              <a:spcAft>
                <a:spcPts val="600"/>
              </a:spcAft>
              <a:buSzPct val="100000"/>
              <a:buChar char="•"/>
            </a:pPr>
            <a:r>
              <a:rPr lang="en-US" sz="1350" dirty="0">
                <a:solidFill>
                  <a:schemeClr val="tx2"/>
                </a:solidFill>
              </a:rPr>
              <a:t>Cloud identity needs a clean directory</a:t>
            </a:r>
            <a:endParaRPr lang="en-US" sz="1400" dirty="0"/>
          </a:p>
          <a:p>
            <a:pPr marL="342900" indent="-342900">
              <a:spcAft>
                <a:spcPts val="600"/>
              </a:spcAft>
              <a:buSzPct val="100000"/>
              <a:buChar char="•"/>
            </a:pPr>
            <a:r>
              <a:rPr lang="en-US" sz="1350" dirty="0">
                <a:solidFill>
                  <a:schemeClr val="tx2"/>
                </a:solidFill>
              </a:rPr>
              <a:t>A clean directory needs governed groups</a:t>
            </a:r>
            <a:endParaRPr lang="en-US" sz="1400" dirty="0"/>
          </a:p>
          <a:p>
            <a:pPr marL="342900" indent="-342900">
              <a:spcAft>
                <a:spcPts val="600"/>
              </a:spcAft>
              <a:buSzPct val="100000"/>
              <a:buChar char="•"/>
            </a:pPr>
            <a:r>
              <a:rPr lang="en-US" sz="1350" dirty="0">
                <a:solidFill>
                  <a:schemeClr val="tx2"/>
                </a:solidFill>
              </a:rPr>
              <a:t>Governed groups need an owner: where many agencies are stuck</a:t>
            </a:r>
            <a:endParaRPr lang="en-US" sz="1400" dirty="0"/>
          </a:p>
        </p:txBody>
      </p:sp>
      <p:sp>
        <p:nvSpPr>
          <p:cNvPr id="19"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Make ownership the first deliverable: name the executive sponsor, the steward who runs the program office, and the authorizing official before any change is planned</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CIO and agency leadership</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Phase 0 entry, before the assessment</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Federal Data Center Consolidation Initiative and 25 Point Plan (2010); OMB M-22-09; CISA BOD 25-01; OMB M-26-14. Book 01, Chapters 01, 09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Active Directory was the governance nobody wrote down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lacement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ONE OU PLACEMENT DID FIVE THINGS AT ONCE</a:t>
            </a:r>
            <a:endParaRPr lang="en-US" sz="1200" dirty="0"/>
          </a:p>
        </p:txBody>
      </p:sp>
      <p:sp>
        <p:nvSpPr>
          <p:cNvPr id="6" name="Placement 0" descr="">
            <a:extLst>
              <a:ext uri="{C183D7F6-B498-43B3-948B-1728B52AA6E4}">
                <adec:decorative xmlns:adec="http://schemas.microsoft.com/office/drawing/2017/decorative" val="1"/>
              </a:ext>
            </a:extLst>
          </p:cNvPr>
          <p:cNvSpPr/>
          <p:nvPr/>
        </p:nvSpPr>
        <p:spPr>
          <a:xfrm>
            <a:off x="548640" y="1719072"/>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Placement 0 text"/>
          <p:cNvSpPr txBox="1"/>
          <p:nvPr/>
        </p:nvSpPr>
        <p:spPr>
          <a:xfrm>
            <a:off x="731520" y="1719072"/>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Delegation   </a:t>
            </a:r>
            <a:pPr indent="0" marL="0">
              <a:buNone/>
            </a:pPr>
            <a:r>
              <a:rPr lang="en-US" sz="1400" dirty="0">
                <a:solidFill>
                  <a:schemeClr val="tx2"/>
                </a:solidFill>
              </a:rPr>
              <a:t>Handed the account to that branch's administrators</a:t>
            </a:r>
            <a:endParaRPr lang="en-US" sz="1400" dirty="0"/>
          </a:p>
        </p:txBody>
      </p:sp>
      <p:sp>
        <p:nvSpPr>
          <p:cNvPr id="8" name="Placement 1" descr="">
            <a:extLst>
              <a:ext uri="{C183D7F6-B498-43B3-948B-1728B52AA6E4}">
                <adec:decorative xmlns:adec="http://schemas.microsoft.com/office/drawing/2017/decorative" val="1"/>
              </a:ext>
            </a:extLst>
          </p:cNvPr>
          <p:cNvSpPr/>
          <p:nvPr/>
        </p:nvSpPr>
        <p:spPr>
          <a:xfrm>
            <a:off x="548640" y="2322576"/>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Placement 1 text"/>
          <p:cNvSpPr txBox="1"/>
          <p:nvPr/>
        </p:nvSpPr>
        <p:spPr>
          <a:xfrm>
            <a:off x="731520" y="2322576"/>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Policy   </a:t>
            </a:r>
            <a:pPr indent="0" marL="0">
              <a:buNone/>
            </a:pPr>
            <a:r>
              <a:rPr lang="en-US" sz="1400" dirty="0">
                <a:solidFill>
                  <a:schemeClr val="tx2"/>
                </a:solidFill>
              </a:rPr>
              <a:t>Applied every Group Policy linked along the path</a:t>
            </a:r>
            <a:endParaRPr lang="en-US" sz="1400" dirty="0"/>
          </a:p>
        </p:txBody>
      </p:sp>
      <p:sp>
        <p:nvSpPr>
          <p:cNvPr id="10" name="Placement 2" descr="">
            <a:extLst>
              <a:ext uri="{C183D7F6-B498-43B3-948B-1728B52AA6E4}">
                <adec:decorative xmlns:adec="http://schemas.microsoft.com/office/drawing/2017/decorative" val="1"/>
              </a:ext>
            </a:extLst>
          </p:cNvPr>
          <p:cNvSpPr/>
          <p:nvPr/>
        </p:nvSpPr>
        <p:spPr>
          <a:xfrm>
            <a:off x="548640" y="2926080"/>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Placement 2 text"/>
          <p:cNvSpPr txBox="1"/>
          <p:nvPr/>
        </p:nvSpPr>
        <p:spPr>
          <a:xfrm>
            <a:off x="731520" y="2926080"/>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Groups   </a:t>
            </a:r>
            <a:pPr indent="0" marL="0">
              <a:buNone/>
            </a:pPr>
            <a:r>
              <a:rPr lang="en-US" sz="1400" dirty="0">
                <a:solidFill>
                  <a:schemeClr val="tx2"/>
                </a:solidFill>
              </a:rPr>
              <a:t>Fed tools that built membership from position</a:t>
            </a:r>
            <a:endParaRPr lang="en-US" sz="1400" dirty="0"/>
          </a:p>
        </p:txBody>
      </p:sp>
      <p:sp>
        <p:nvSpPr>
          <p:cNvPr id="12" name="Placement 3" descr="">
            <a:extLst>
              <a:ext uri="{C183D7F6-B498-43B3-948B-1728B52AA6E4}">
                <adec:decorative xmlns:adec="http://schemas.microsoft.com/office/drawing/2017/decorative" val="1"/>
              </a:ext>
            </a:extLst>
          </p:cNvPr>
          <p:cNvSpPr/>
          <p:nvPr/>
        </p:nvSpPr>
        <p:spPr>
          <a:xfrm>
            <a:off x="548640" y="3529584"/>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Placement 3 text"/>
          <p:cNvSpPr txBox="1"/>
          <p:nvPr/>
        </p:nvSpPr>
        <p:spPr>
          <a:xfrm>
            <a:off x="731520" y="3529584"/>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Authority   </a:t>
            </a:r>
            <a:pPr indent="0" marL="0">
              <a:buNone/>
            </a:pPr>
            <a:r>
              <a:rPr lang="en-US" sz="1400" dirty="0">
                <a:solidFill>
                  <a:schemeClr val="tx2"/>
                </a:solidFill>
              </a:rPr>
              <a:t>Bound the account to the branch's delegation</a:t>
            </a:r>
            <a:endParaRPr lang="en-US" sz="1400" dirty="0"/>
          </a:p>
        </p:txBody>
      </p:sp>
      <p:sp>
        <p:nvSpPr>
          <p:cNvPr id="14" name="Placement 4" descr="">
            <a:extLst>
              <a:ext uri="{C183D7F6-B498-43B3-948B-1728B52AA6E4}">
                <adec:decorative xmlns:adec="http://schemas.microsoft.com/office/drawing/2017/decorative" val="1"/>
              </a:ext>
            </a:extLst>
          </p:cNvPr>
          <p:cNvSpPr/>
          <p:nvPr/>
        </p:nvSpPr>
        <p:spPr>
          <a:xfrm>
            <a:off x="548640" y="4133088"/>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Placement 4 text"/>
          <p:cNvSpPr txBox="1"/>
          <p:nvPr/>
        </p:nvSpPr>
        <p:spPr>
          <a:xfrm>
            <a:off x="731520" y="4133088"/>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Audit   </a:t>
            </a:r>
            <a:pPr indent="0" marL="0">
              <a:buNone/>
            </a:pPr>
            <a:r>
              <a:rPr lang="en-US" sz="1400" dirty="0">
                <a:solidFill>
                  <a:schemeClr val="tx2"/>
                </a:solidFill>
              </a:rPr>
              <a:t>Drew a boundary of operational responsibility</a:t>
            </a:r>
            <a:endParaRPr lang="en-US" sz="1400" dirty="0"/>
          </a:p>
        </p:txBody>
      </p:sp>
      <p:sp>
        <p:nvSpPr>
          <p:cNvPr id="16" name="Eleven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7" name="Icon FaPlugCircleXmar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9" name="Eleven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Eleven categories, not four</a:t>
            </a:r>
            <a:endParaRPr lang="en-US" sz="1700" dirty="0"/>
          </a:p>
        </p:txBody>
      </p:sp>
      <p:sp>
        <p:nvSpPr>
          <p:cNvPr id="20" name="Eleven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Plans count users, computers, groups and policies</a:t>
            </a:r>
            <a:endParaRPr lang="en-US" sz="1400" dirty="0"/>
          </a:p>
          <a:p>
            <a:pPr marL="342900" indent="-342900">
              <a:spcAft>
                <a:spcPts val="600"/>
              </a:spcAft>
              <a:buSzPct val="100000"/>
              <a:buChar char="•"/>
            </a:pPr>
            <a:r>
              <a:rPr lang="en-US" sz="1350" dirty="0">
                <a:solidFill>
                  <a:schemeClr val="tx2"/>
                </a:solidFill>
              </a:rPr>
              <a:t>Missed: service accounts, SPNs, LDAP, trusts</a:t>
            </a:r>
            <a:endParaRPr lang="en-US" sz="1400" dirty="0"/>
          </a:p>
          <a:p>
            <a:pPr marL="342900" indent="-342900">
              <a:spcAft>
                <a:spcPts val="600"/>
              </a:spcAft>
              <a:buSzPct val="100000"/>
              <a:buChar char="•"/>
            </a:pPr>
            <a:r>
              <a:rPr lang="en-US" sz="1350" dirty="0">
                <a:solidFill>
                  <a:schemeClr val="tx2"/>
                </a:solidFill>
              </a:rPr>
              <a:t>Missed: DNS, DHCP, certificates, RADIUS</a:t>
            </a:r>
            <a:endParaRPr lang="en-US" sz="1400" dirty="0"/>
          </a:p>
          <a:p>
            <a:pPr marL="342900" indent="-342900">
              <a:spcAft>
                <a:spcPts val="600"/>
              </a:spcAft>
              <a:buSzPct val="100000"/>
              <a:buChar char="•"/>
            </a:pPr>
            <a:r>
              <a:rPr lang="en-US" sz="1350" dirty="0">
                <a:solidFill>
                  <a:schemeClr val="tx2"/>
                </a:solidFill>
              </a:rPr>
              <a:t>The failures are silent and surface months later</a:t>
            </a:r>
            <a:endParaRPr lang="en-US" sz="1400" dirty="0"/>
          </a:p>
        </p:txBody>
      </p:sp>
      <p:sp>
        <p:nvSpPr>
          <p:cNvPr id="2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Scope the program as a governance transformation across all eleven categories, not a users-and-groups project; retiring AD is the agency's decision</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 and CIO</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When scope and funding are set</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What's new in Windows Server 2025; OU delegation; Group Policy overview; cloud-first identity guidance. Book 01, Chapters 02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things must be true before the target holds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rereq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FIVE PREREQUISITES: THE PROGRAM'S READING OF FEDERAL GUIDANCE</a:t>
            </a:r>
            <a:endParaRPr lang="en-US" sz="1200" dirty="0"/>
          </a:p>
        </p:txBody>
      </p:sp>
      <p:sp>
        <p:nvSpPr>
          <p:cNvPr id="6" name="Prereq 0" descr="">
            <a:extLst>
              <a:ext uri="{C183D7F6-B498-43B3-948B-1728B52AA6E4}">
                <adec:decorative xmlns:adec="http://schemas.microsoft.com/office/drawing/2017/decorative" val="1"/>
              </a:ext>
            </a:extLst>
          </p:cNvPr>
          <p:cNvSpPr/>
          <p:nvPr/>
        </p:nvSpPr>
        <p:spPr>
          <a:xfrm>
            <a:off x="548640" y="1719072"/>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Prereq 0 text"/>
          <p:cNvSpPr txBox="1"/>
          <p:nvPr/>
        </p:nvSpPr>
        <p:spPr>
          <a:xfrm>
            <a:off x="731520" y="1719072"/>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1  One identity   </a:t>
            </a:r>
            <a:pPr indent="0" marL="0">
              <a:buNone/>
            </a:pPr>
            <a:r>
              <a:rPr lang="en-US" sz="1400" dirty="0">
                <a:solidFill>
                  <a:schemeClr val="tx2"/>
                </a:solidFill>
              </a:rPr>
              <a:t>Exactly one record per user, device and account</a:t>
            </a:r>
            <a:endParaRPr lang="en-US" sz="1400" dirty="0"/>
          </a:p>
        </p:txBody>
      </p:sp>
      <p:sp>
        <p:nvSpPr>
          <p:cNvPr id="8" name="Prereq 1" descr="">
            <a:extLst>
              <a:ext uri="{C183D7F6-B498-43B3-948B-1728B52AA6E4}">
                <adec:decorative xmlns:adec="http://schemas.microsoft.com/office/drawing/2017/decorative" val="1"/>
              </a:ext>
            </a:extLst>
          </p:cNvPr>
          <p:cNvSpPr/>
          <p:nvPr/>
        </p:nvSpPr>
        <p:spPr>
          <a:xfrm>
            <a:off x="548640" y="2322576"/>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Prereq 1 text"/>
          <p:cNvSpPr txBox="1"/>
          <p:nvPr/>
        </p:nvSpPr>
        <p:spPr>
          <a:xfrm>
            <a:off x="731520" y="2322576"/>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2  Governed first   </a:t>
            </a:r>
            <a:pPr indent="0" marL="0">
              <a:buNone/>
            </a:pPr>
            <a:r>
              <a:rPr lang="en-US" sz="1400" dirty="0">
                <a:solidFill>
                  <a:schemeClr val="tx2"/>
                </a:solidFill>
              </a:rPr>
              <a:t>Rationalize groups and owners before migrating</a:t>
            </a:r>
            <a:endParaRPr lang="en-US" sz="1400" dirty="0"/>
          </a:p>
        </p:txBody>
      </p:sp>
      <p:sp>
        <p:nvSpPr>
          <p:cNvPr id="10" name="Prereq 2" descr="">
            <a:extLst>
              <a:ext uri="{C183D7F6-B498-43B3-948B-1728B52AA6E4}">
                <adec:decorative xmlns:adec="http://schemas.microsoft.com/office/drawing/2017/decorative" val="1"/>
              </a:ext>
            </a:extLst>
          </p:cNvPr>
          <p:cNvSpPr/>
          <p:nvPr/>
        </p:nvSpPr>
        <p:spPr>
          <a:xfrm>
            <a:off x="548640" y="2926080"/>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Prereq 2 text"/>
          <p:cNvSpPr txBox="1"/>
          <p:nvPr/>
        </p:nvSpPr>
        <p:spPr>
          <a:xfrm>
            <a:off x="731520" y="2926080"/>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3  Continuous   </a:t>
            </a:r>
            <a:pPr indent="0" marL="0">
              <a:buNone/>
            </a:pPr>
            <a:r>
              <a:rPr lang="en-US" sz="1400" dirty="0">
                <a:solidFill>
                  <a:schemeClr val="tx2"/>
                </a:solidFill>
              </a:rPr>
              <a:t>Access re-evaluated as conditions change</a:t>
            </a:r>
            <a:endParaRPr lang="en-US" sz="1400" dirty="0"/>
          </a:p>
        </p:txBody>
      </p:sp>
      <p:sp>
        <p:nvSpPr>
          <p:cNvPr id="12" name="Prereq 3" descr="">
            <a:extLst>
              <a:ext uri="{C183D7F6-B498-43B3-948B-1728B52AA6E4}">
                <adec:decorative xmlns:adec="http://schemas.microsoft.com/office/drawing/2017/decorative" val="1"/>
              </a:ext>
            </a:extLst>
          </p:cNvPr>
          <p:cNvSpPr/>
          <p:nvPr/>
        </p:nvSpPr>
        <p:spPr>
          <a:xfrm>
            <a:off x="548640" y="3529584"/>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Prereq 3 text"/>
          <p:cNvSpPr txBox="1"/>
          <p:nvPr/>
        </p:nvSpPr>
        <p:spPr>
          <a:xfrm>
            <a:off x="731520" y="3529584"/>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4  Telemetry   </a:t>
            </a:r>
            <a:pPr indent="0" marL="0">
              <a:buNone/>
            </a:pPr>
            <a:r>
              <a:rPr lang="en-US" sz="1400" dirty="0">
                <a:solidFill>
                  <a:schemeClr val="tx2"/>
                </a:solidFill>
              </a:rPr>
              <a:t>Sign-in events feed governance, not just response</a:t>
            </a:r>
            <a:endParaRPr lang="en-US" sz="1400" dirty="0"/>
          </a:p>
        </p:txBody>
      </p:sp>
      <p:sp>
        <p:nvSpPr>
          <p:cNvPr id="14" name="Prereq 4" descr="">
            <a:extLst>
              <a:ext uri="{C183D7F6-B498-43B3-948B-1728B52AA6E4}">
                <adec:decorative xmlns:adec="http://schemas.microsoft.com/office/drawing/2017/decorative" val="1"/>
              </a:ext>
            </a:extLst>
          </p:cNvPr>
          <p:cNvSpPr/>
          <p:nvPr/>
        </p:nvSpPr>
        <p:spPr>
          <a:xfrm>
            <a:off x="548640" y="4133088"/>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Prereq 4 text"/>
          <p:cNvSpPr txBox="1"/>
          <p:nvPr/>
        </p:nvSpPr>
        <p:spPr>
          <a:xfrm>
            <a:off x="731520" y="4133088"/>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5  Automatic   </a:t>
            </a:r>
            <a:pPr indent="0" marL="0">
              <a:buNone/>
            </a:pPr>
            <a:r>
              <a:rPr lang="en-US" sz="1400" dirty="0">
                <a:solidFill>
                  <a:schemeClr val="tx2"/>
                </a:solidFill>
              </a:rPr>
              <a:t>Checks run continuously, not by manual review</a:t>
            </a:r>
            <a:endParaRPr lang="en-US" sz="1400" dirty="0"/>
          </a:p>
        </p:txBody>
      </p:sp>
      <p:sp>
        <p:nvSpPr>
          <p:cNvPr id="16" name="Sessions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Icon FaKey"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9" name="Sessions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Sessions became tokens</a:t>
            </a:r>
            <a:endParaRPr lang="en-US" sz="1700" dirty="0"/>
          </a:p>
        </p:txBody>
      </p:sp>
      <p:sp>
        <p:nvSpPr>
          <p:cNvPr id="20" name="Session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Kerberos ticket: 10 hours, renewable for 7 days</a:t>
            </a:r>
            <a:endParaRPr lang="en-US" sz="1400" dirty="0"/>
          </a:p>
          <a:p>
            <a:pPr marL="342900" indent="-342900">
              <a:spcAft>
                <a:spcPts val="600"/>
              </a:spcAft>
              <a:buSzPct val="100000"/>
              <a:buChar char="•"/>
            </a:pPr>
            <a:r>
              <a:rPr lang="en-US" sz="1350" dirty="0">
                <a:solidFill>
                  <a:schemeClr val="tx2"/>
                </a:solidFill>
              </a:rPr>
              <a:t>Entra token: one hour; up to 28 hours with CAE</a:t>
            </a:r>
            <a:endParaRPr lang="en-US" sz="1400" dirty="0"/>
          </a:p>
          <a:p>
            <a:pPr marL="342900" indent="-342900">
              <a:spcAft>
                <a:spcPts val="600"/>
              </a:spcAft>
              <a:buSzPct val="100000"/>
              <a:buChar char="•"/>
            </a:pPr>
            <a:r>
              <a:rPr lang="en-US" sz="1350" dirty="0">
                <a:solidFill>
                  <a:schemeClr val="tx2"/>
                </a:solidFill>
              </a:rPr>
              <a:t>Hybrid devices need line of sight to a DC</a:t>
            </a:r>
            <a:endParaRPr lang="en-US" sz="1400" dirty="0"/>
          </a:p>
          <a:p>
            <a:pPr marL="342900" indent="-342900">
              <a:spcAft>
                <a:spcPts val="600"/>
              </a:spcAft>
              <a:buSzPct val="100000"/>
              <a:buChar char="•"/>
            </a:pPr>
            <a:r>
              <a:rPr lang="en-US" sz="1350" dirty="0">
                <a:solidFill>
                  <a:schemeClr val="tx2"/>
                </a:solidFill>
              </a:rPr>
              <a:t>Portland to Washington: about 45 ms round trip</a:t>
            </a:r>
            <a:endParaRPr lang="en-US" sz="1400" dirty="0"/>
          </a:p>
        </p:txBody>
      </p:sp>
      <p:sp>
        <p:nvSpPr>
          <p:cNvPr id="21" name="Physic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2" name="Icon FaLightbulb"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24" name="Physic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0F766E"/>
                </a:solidFill>
              </a:rPr>
              <a:t>Bandwidth is volume; latency is distance.  </a:t>
            </a:r>
            <a:pPr indent="0" marL="0">
              <a:buNone/>
            </a:pPr>
            <a:r>
              <a:rPr lang="en-US" sz="1650" dirty="0">
                <a:solidFill>
                  <a:schemeClr val="tx2"/>
                </a:solidFill>
              </a:rPr>
              <a:t>No purchase removes the domain controller dependency. The durable answer is to remove it: Entra join, not hybrid join, as the end state.</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800-207; OMB M-22-09; CISA ZTMM v2.0; OMB M-26-14; RFC 4120; ITU-T G.114; Microsoft Learn — Kerberos lifetimes, CAE, hybrid join. Book 01,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Platform: one governed host, one authoritative writer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latform card 1"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CodeBranch" descr="">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44823"/>
            <a:ext cx="294803" cy="294803"/>
          </a:xfrm>
          <a:prstGeom prst="rect">
            <a:avLst/>
          </a:prstGeom>
        </p:spPr>
      </p:pic>
      <p:sp>
        <p:nvSpPr>
          <p:cNvPr id="8" name="Platform head 1"/>
          <p:cNvSpPr txBox="1"/>
          <p:nvPr/>
        </p:nvSpPr>
        <p:spPr>
          <a:xfrm>
            <a:off x="1463040" y="1508760"/>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One writer</a:t>
            </a:r>
            <a:endParaRPr lang="en-US" sz="1700" dirty="0"/>
          </a:p>
        </p:txBody>
      </p:sp>
      <p:sp>
        <p:nvSpPr>
          <p:cNvPr id="9" name="Platform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One repository of signed, versioned decisions</a:t>
            </a:r>
            <a:endParaRPr lang="en-US" sz="1400" dirty="0"/>
          </a:p>
          <a:p>
            <a:pPr marL="342900" indent="-342900">
              <a:spcAft>
                <a:spcPts val="600"/>
              </a:spcAft>
              <a:buSzPct val="100000"/>
              <a:buChar char="•"/>
            </a:pPr>
            <a:r>
              <a:rPr lang="en-US" sz="1350" dirty="0">
                <a:solidFill>
                  <a:schemeClr val="tx2"/>
                </a:solidFill>
              </a:rPr>
              <a:t>A standby for recovery, never a second writer</a:t>
            </a:r>
            <a:endParaRPr lang="en-US" sz="1400" dirty="0"/>
          </a:p>
          <a:p>
            <a:pPr marL="342900" indent="-342900">
              <a:spcAft>
                <a:spcPts val="600"/>
              </a:spcAft>
              <a:buSzPct val="100000"/>
              <a:buChar char="•"/>
            </a:pPr>
            <a:r>
              <a:rPr lang="en-US" sz="1350" dirty="0">
                <a:solidFill>
                  <a:schemeClr val="tx2"/>
                </a:solidFill>
              </a:rPr>
              <a:t>Standard components; not a product</a:t>
            </a:r>
            <a:endParaRPr lang="en-US" sz="1400" dirty="0"/>
          </a:p>
        </p:txBody>
      </p:sp>
      <p:sp>
        <p:nvSpPr>
          <p:cNvPr id="10" name="Platform card 2"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PeopleArrows" descr="">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44823"/>
            <a:ext cx="294803" cy="294803"/>
          </a:xfrm>
          <a:prstGeom prst="rect">
            <a:avLst/>
          </a:prstGeom>
        </p:spPr>
      </p:pic>
      <p:sp>
        <p:nvSpPr>
          <p:cNvPr id="13" name="Platform head 2"/>
          <p:cNvSpPr txBox="1"/>
          <p:nvPr/>
        </p:nvSpPr>
        <p:spPr>
          <a:xfrm>
            <a:off x="5212080" y="1508760"/>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Decide apart from act</a:t>
            </a:r>
            <a:endParaRPr lang="en-US" sz="1700" dirty="0"/>
          </a:p>
        </p:txBody>
      </p:sp>
      <p:sp>
        <p:nvSpPr>
          <p:cNvPr id="14" name="Platform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Governance validates and signs; never touches a target</a:t>
            </a:r>
            <a:endParaRPr lang="en-US" sz="1400" dirty="0"/>
          </a:p>
          <a:p>
            <a:pPr marL="342900" indent="-342900">
              <a:spcAft>
                <a:spcPts val="600"/>
              </a:spcAft>
              <a:buSzPct val="100000"/>
              <a:buChar char="•"/>
            </a:pPr>
            <a:r>
              <a:rPr lang="en-US" sz="1350" dirty="0">
                <a:solidFill>
                  <a:schemeClr val="tx2"/>
                </a:solidFill>
              </a:rPr>
              <a:t>Execution runs authorized plans; decides nothing</a:t>
            </a:r>
            <a:endParaRPr lang="en-US" sz="1400" dirty="0"/>
          </a:p>
          <a:p>
            <a:pPr marL="342900" indent="-342900">
              <a:spcAft>
                <a:spcPts val="600"/>
              </a:spcAft>
              <a:buSzPct val="100000"/>
              <a:buChar char="•"/>
            </a:pPr>
            <a:r>
              <a:rPr lang="en-US" sz="1350" dirty="0">
                <a:solidFill>
                  <a:schemeClr val="tx2"/>
                </a:solidFill>
              </a:rPr>
              <a:t>Separate accounts, credentials and logs</a:t>
            </a:r>
            <a:endParaRPr lang="en-US" sz="1400" dirty="0"/>
          </a:p>
        </p:txBody>
      </p:sp>
      <p:sp>
        <p:nvSpPr>
          <p:cNvPr id="15" name="Platform card 3"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6" name="Icon FaShieldHalved" descr="">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B91C1C"/>
          </a:solidFill>
          <a:ln w="12700">
            <a:solidFill>
              <a:srgbClr val="B91C1C"/>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44823"/>
            <a:ext cx="294803" cy="294803"/>
          </a:xfrm>
          <a:prstGeom prst="rect">
            <a:avLst/>
          </a:prstGeom>
        </p:spPr>
      </p:pic>
      <p:sp>
        <p:nvSpPr>
          <p:cNvPr id="18" name="Platform head 3"/>
          <p:cNvSpPr txBox="1"/>
          <p:nvPr/>
        </p:nvSpPr>
        <p:spPr>
          <a:xfrm>
            <a:off x="8961120" y="1508760"/>
            <a:ext cx="2560320" cy="566928"/>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A Tier 0 asset</a:t>
            </a:r>
            <a:endParaRPr lang="en-US" sz="1700" dirty="0"/>
          </a:p>
        </p:txBody>
      </p:sp>
      <p:sp>
        <p:nvSpPr>
          <p:cNvPr id="19" name="Platform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Reads the forest; writes to cloud identity</a:t>
            </a:r>
            <a:endParaRPr lang="en-US" sz="1400" dirty="0"/>
          </a:p>
          <a:p>
            <a:pPr marL="342900" indent="-342900">
              <a:spcAft>
                <a:spcPts val="600"/>
              </a:spcAft>
              <a:buSzPct val="100000"/>
              <a:buChar char="•"/>
            </a:pPr>
            <a:r>
              <a:rPr lang="en-US" sz="1350" dirty="0">
                <a:solidFill>
                  <a:schemeClr val="tx2"/>
                </a:solidFill>
              </a:rPr>
              <a:t>Hardened and logged centrally</a:t>
            </a:r>
            <a:endParaRPr lang="en-US" sz="1400" dirty="0"/>
          </a:p>
          <a:p>
            <a:pPr marL="342900" indent="-342900">
              <a:spcAft>
                <a:spcPts val="600"/>
              </a:spcAft>
              <a:buSzPct val="100000"/>
              <a:buChar char="•"/>
            </a:pPr>
            <a:r>
              <a:rPr lang="en-US" sz="1350" dirty="0">
                <a:solidFill>
                  <a:schemeClr val="tx2"/>
                </a:solidFill>
              </a:rPr>
              <a:t>Target posture: gated actuation, a person approves</a:t>
            </a:r>
            <a:endParaRPr lang="en-US" sz="1400" dirty="0"/>
          </a:p>
        </p:txBody>
      </p:sp>
      <p:sp>
        <p:nvSpPr>
          <p:cNvPr id="20"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Stand up the platform host as the only authoritative writer, protected as Tier 0, and record its standby model and actuation stage in the decision log</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Program office, under the steward</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Phase 0; Gate G0 needs it running</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Windows Server releases; AD tier model; enterprise access model. NIST SP 800-207; CISA ZTMM v2.0; OMB M-26-14. Book 01, Chapters 03, 09,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Identity: the attributes have to be true first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Stamp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ONE HR-SOURCED STAMP, FIVE OUTCOMES, NO PORTAL CLICKS</a:t>
            </a:r>
            <a:endParaRPr lang="en-US" sz="1200" dirty="0"/>
          </a:p>
        </p:txBody>
      </p:sp>
      <p:sp>
        <p:nvSpPr>
          <p:cNvPr id="6" name="Stamp 0" descr="">
            <a:extLst>
              <a:ext uri="{C183D7F6-B498-43B3-948B-1728B52AA6E4}">
                <adec:decorative xmlns:adec="http://schemas.microsoft.com/office/drawing/2017/decorative" val="1"/>
              </a:ext>
            </a:extLst>
          </p:cNvPr>
          <p:cNvSpPr/>
          <p:nvPr/>
        </p:nvSpPr>
        <p:spPr>
          <a:xfrm>
            <a:off x="548640" y="1719072"/>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Stamp 0 text"/>
          <p:cNvSpPr txBox="1"/>
          <p:nvPr/>
        </p:nvSpPr>
        <p:spPr>
          <a:xfrm>
            <a:off x="731520" y="1719072"/>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Groups   </a:t>
            </a:r>
            <a:pPr indent="0" marL="0">
              <a:buNone/>
            </a:pPr>
            <a:r>
              <a:rPr lang="en-US" sz="1400" dirty="0">
                <a:solidFill>
                  <a:schemeClr val="tx2"/>
                </a:solidFill>
              </a:rPr>
              <a:t>Membership by rule, not by hand</a:t>
            </a:r>
            <a:endParaRPr lang="en-US" sz="1400" dirty="0"/>
          </a:p>
        </p:txBody>
      </p:sp>
      <p:sp>
        <p:nvSpPr>
          <p:cNvPr id="8" name="Stamp 1" descr="">
            <a:extLst>
              <a:ext uri="{C183D7F6-B498-43B3-948B-1728B52AA6E4}">
                <adec:decorative xmlns:adec="http://schemas.microsoft.com/office/drawing/2017/decorative" val="1"/>
              </a:ext>
            </a:extLst>
          </p:cNvPr>
          <p:cNvSpPr/>
          <p:nvPr/>
        </p:nvSpPr>
        <p:spPr>
          <a:xfrm>
            <a:off x="548640" y="2322576"/>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Stamp 1 text"/>
          <p:cNvSpPr txBox="1"/>
          <p:nvPr/>
        </p:nvSpPr>
        <p:spPr>
          <a:xfrm>
            <a:off x="731520" y="2322576"/>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Delegation   </a:t>
            </a:r>
            <a:pPr indent="0" marL="0">
              <a:buNone/>
            </a:pPr>
            <a:r>
              <a:rPr lang="en-US" sz="1400" dirty="0">
                <a:solidFill>
                  <a:schemeClr val="tx2"/>
                </a:solidFill>
              </a:rPr>
              <a:t>Administrative units scope who manages whom</a:t>
            </a:r>
            <a:endParaRPr lang="en-US" sz="1400" dirty="0"/>
          </a:p>
        </p:txBody>
      </p:sp>
      <p:sp>
        <p:nvSpPr>
          <p:cNvPr id="10" name="Stamp 2" descr="">
            <a:extLst>
              <a:ext uri="{C183D7F6-B498-43B3-948B-1728B52AA6E4}">
                <adec:decorative xmlns:adec="http://schemas.microsoft.com/office/drawing/2017/decorative" val="1"/>
              </a:ext>
            </a:extLst>
          </p:cNvPr>
          <p:cNvSpPr/>
          <p:nvPr/>
        </p:nvSpPr>
        <p:spPr>
          <a:xfrm>
            <a:off x="548640" y="2926080"/>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Stamp 2 text"/>
          <p:cNvSpPr txBox="1"/>
          <p:nvPr/>
        </p:nvSpPr>
        <p:spPr>
          <a:xfrm>
            <a:off x="731520" y="2926080"/>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Access   </a:t>
            </a:r>
            <a:pPr indent="0" marL="0">
              <a:buNone/>
            </a:pPr>
            <a:r>
              <a:rPr lang="en-US" sz="1400" dirty="0">
                <a:solidFill>
                  <a:schemeClr val="tx2"/>
                </a:solidFill>
              </a:rPr>
              <a:t>Conditional Access targets those groups</a:t>
            </a:r>
            <a:endParaRPr lang="en-US" sz="1400" dirty="0"/>
          </a:p>
        </p:txBody>
      </p:sp>
      <p:sp>
        <p:nvSpPr>
          <p:cNvPr id="12" name="Stamp 3" descr="">
            <a:extLst>
              <a:ext uri="{C183D7F6-B498-43B3-948B-1728B52AA6E4}">
                <adec:decorative xmlns:adec="http://schemas.microsoft.com/office/drawing/2017/decorative" val="1"/>
              </a:ext>
            </a:extLst>
          </p:cNvPr>
          <p:cNvSpPr/>
          <p:nvPr/>
        </p:nvSpPr>
        <p:spPr>
          <a:xfrm>
            <a:off x="548640" y="3529584"/>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Stamp 3 text"/>
          <p:cNvSpPr txBox="1"/>
          <p:nvPr/>
        </p:nvSpPr>
        <p:spPr>
          <a:xfrm>
            <a:off x="731520" y="3529584"/>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Licenses   </a:t>
            </a:r>
            <a:pPr indent="0" marL="0">
              <a:buNone/>
            </a:pPr>
            <a:r>
              <a:rPr lang="en-US" sz="1400" dirty="0">
                <a:solidFill>
                  <a:schemeClr val="tx2"/>
                </a:solidFill>
              </a:rPr>
              <a:t>Follow group membership</a:t>
            </a:r>
            <a:endParaRPr lang="en-US" sz="1400" dirty="0"/>
          </a:p>
        </p:txBody>
      </p:sp>
      <p:sp>
        <p:nvSpPr>
          <p:cNvPr id="14" name="Stamp 4" descr="">
            <a:extLst>
              <a:ext uri="{C183D7F6-B498-43B3-948B-1728B52AA6E4}">
                <adec:decorative xmlns:adec="http://schemas.microsoft.com/office/drawing/2017/decorative" val="1"/>
              </a:ext>
            </a:extLst>
          </p:cNvPr>
          <p:cNvSpPr/>
          <p:nvPr/>
        </p:nvSpPr>
        <p:spPr>
          <a:xfrm>
            <a:off x="548640" y="4133088"/>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Stamp 4 text"/>
          <p:cNvSpPr txBox="1"/>
          <p:nvPr/>
        </p:nvSpPr>
        <p:spPr>
          <a:xfrm>
            <a:off x="731520" y="4133088"/>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Drift   </a:t>
            </a:r>
            <a:pPr indent="0" marL="0">
              <a:buNone/>
            </a:pPr>
            <a:r>
              <a:rPr lang="en-US" sz="1400" dirty="0">
                <a:solidFill>
                  <a:schemeClr val="tx2"/>
                </a:solidFill>
              </a:rPr>
              <a:t>Every user's attributes checked against HR</a:t>
            </a:r>
            <a:endParaRPr lang="en-US" sz="1400" dirty="0"/>
          </a:p>
        </p:txBody>
      </p:sp>
      <p:sp>
        <p:nvSpPr>
          <p:cNvPr id="16" name="JML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7" name="Icon FaUserChe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9" name="JML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Joiner, mover, leaver</a:t>
            </a:r>
            <a:endParaRPr lang="en-US" sz="1700" dirty="0"/>
          </a:p>
        </p:txBody>
      </p:sp>
      <p:sp>
        <p:nvSpPr>
          <p:cNvPr id="20" name="JML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HR creates, moves and separates the worker</a:t>
            </a:r>
            <a:endParaRPr lang="en-US" sz="1400" dirty="0"/>
          </a:p>
          <a:p>
            <a:pPr marL="342900" indent="-342900">
              <a:spcAft>
                <a:spcPts val="600"/>
              </a:spcAft>
              <a:buSzPct val="100000"/>
              <a:buChar char="•"/>
            </a:pPr>
            <a:r>
              <a:rPr lang="en-US" sz="1350" dirty="0">
                <a:solidFill>
                  <a:schemeClr val="tx2"/>
                </a:solidFill>
              </a:rPr>
              <a:t>Groups, scope and licenses follow on their own</a:t>
            </a:r>
            <a:endParaRPr lang="en-US" sz="1400" dirty="0"/>
          </a:p>
          <a:p>
            <a:pPr marL="342900" indent="-342900">
              <a:spcAft>
                <a:spcPts val="600"/>
              </a:spcAft>
              <a:buSzPct val="100000"/>
              <a:buChar char="•"/>
            </a:pPr>
            <a:r>
              <a:rPr lang="en-US" sz="1350" dirty="0">
                <a:solidFill>
                  <a:schemeClr val="tx2"/>
                </a:solidFill>
              </a:rPr>
              <a:t>Only HR provisioning writes access attributes</a:t>
            </a:r>
            <a:endParaRPr lang="en-US" sz="1400" dirty="0"/>
          </a:p>
          <a:p>
            <a:pPr marL="342900" indent="-342900">
              <a:spcAft>
                <a:spcPts val="600"/>
              </a:spcAft>
              <a:buSzPct val="100000"/>
              <a:buChar char="•"/>
            </a:pPr>
            <a:r>
              <a:rPr lang="en-US" sz="1350" dirty="0">
                <a:solidFill>
                  <a:schemeClr val="tx2"/>
                </a:solidFill>
              </a:rPr>
              <a:t>A token is only as true as the attributes behind it</a:t>
            </a:r>
            <a:endParaRPr lang="en-US" sz="1400" dirty="0"/>
          </a:p>
        </p:txBody>
      </p:sp>
      <p:sp>
        <p:nvSpPr>
          <p:cNvPr id="2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Decide what each authoritative worker attribute means and make HR provisioning its only writer; give contractors an authoritative source of their own</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HR (meaning); identity engineering (flow)</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rollout: G1 needs the HR feed</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NIST SP 800-207; Microsoft Learn — dynamic membership groups, administrative units, lifecycle workflows. Book 01, Chapters 04, 09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Policy: regenerate Group Policy; don't copy it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697480"/>
                <a:gridCol w="361188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Group Policy did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Where it goes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13232">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Device configuration, baselines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Intune profiles and security baselines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13232">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Software, scripts, drive mappings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Intune apps and scripts; Teams, SharePoint, OneDrive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13232">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Access control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Conditional Access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13232">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Server configuration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Azure machine configuration, through Arc</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les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Rules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Four rules for every change</a:t>
            </a:r>
            <a:endParaRPr lang="en-US" sz="1700" dirty="0"/>
          </a:p>
        </p:txBody>
      </p:sp>
      <p:sp>
        <p:nvSpPr>
          <p:cNvPr id="10" name="Rule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One owning layer for each setting</a:t>
            </a:r>
            <a:endParaRPr lang="en-US" sz="1400" dirty="0"/>
          </a:p>
          <a:p>
            <a:pPr marL="342900" indent="-342900">
              <a:spcAft>
                <a:spcPts val="600"/>
              </a:spcAft>
              <a:buSzPct val="100000"/>
              <a:buChar char="•"/>
            </a:pPr>
            <a:r>
              <a:rPr lang="en-US" sz="1350" dirty="0">
                <a:solidFill>
                  <a:schemeClr val="tx2"/>
                </a:solidFill>
              </a:rPr>
              <a:t>Prefer require to block</a:t>
            </a:r>
            <a:endParaRPr lang="en-US" sz="1400" dirty="0"/>
          </a:p>
          <a:p>
            <a:pPr marL="342900" indent="-342900">
              <a:spcAft>
                <a:spcPts val="600"/>
              </a:spcAft>
              <a:buSzPct val="100000"/>
              <a:buChar char="•"/>
            </a:pPr>
            <a:r>
              <a:rPr lang="en-US" sz="1350" dirty="0">
                <a:solidFill>
                  <a:schemeClr val="tx2"/>
                </a:solidFill>
              </a:rPr>
              <a:t>Plan, simulate, report-only pilot, production</a:t>
            </a:r>
            <a:endParaRPr lang="en-US" sz="1400" dirty="0"/>
          </a:p>
          <a:p>
            <a:pPr marL="342900" indent="-342900">
              <a:spcAft>
                <a:spcPts val="600"/>
              </a:spcAft>
              <a:buSzPct val="100000"/>
              <a:buChar char="•"/>
            </a:pPr>
            <a:r>
              <a:rPr lang="en-US" sz="1350" dirty="0">
                <a:solidFill>
                  <a:schemeClr val="tx2"/>
                </a:solidFill>
              </a:rPr>
              <a:t>Emergency accounts excluded from blocking policies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Set the control requirements every target surface must meet: the Conditional Access baseline, MFA strength and logging</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Phase 1; G1 needs the baseline enforced</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cloud-native endpoint planning; policy conflicts; emergency access accounts. CISA BOD 25-01; SCuBA Entra ID baseline. Book 01, Chapters 05, 09,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Network services: DNS, DHCP and IPAM move together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Services card 1"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Globe" descr="">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44823"/>
            <a:ext cx="294803" cy="294803"/>
          </a:xfrm>
          <a:prstGeom prst="rect">
            <a:avLst/>
          </a:prstGeom>
        </p:spPr>
      </p:pic>
      <p:sp>
        <p:nvSpPr>
          <p:cNvPr id="8" name="Services head 1"/>
          <p:cNvSpPr txBox="1"/>
          <p:nvPr/>
        </p:nvSpPr>
        <p:spPr>
          <a:xfrm>
            <a:off x="1463040" y="1508760"/>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DNS</a:t>
            </a:r>
            <a:endParaRPr lang="en-US" sz="1700" dirty="0"/>
          </a:p>
        </p:txBody>
      </p:sp>
      <p:sp>
        <p:nvSpPr>
          <p:cNvPr id="9" name="Services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Every domain controller sits in the name path</a:t>
            </a:r>
            <a:endParaRPr lang="en-US" sz="1400" dirty="0"/>
          </a:p>
          <a:p>
            <a:pPr marL="342900" indent="-342900">
              <a:spcAft>
                <a:spcPts val="600"/>
              </a:spcAft>
              <a:buSzPct val="100000"/>
              <a:buChar char="•"/>
            </a:pPr>
            <a:r>
              <a:rPr lang="en-US" sz="1350" dirty="0">
                <a:solidFill>
                  <a:schemeClr val="tx2"/>
                </a:solidFill>
              </a:rPr>
              <a:t>AD can't retire until DNS moves</a:t>
            </a:r>
            <a:endParaRPr lang="en-US" sz="1400" dirty="0"/>
          </a:p>
          <a:p>
            <a:pPr marL="342900" indent="-342900">
              <a:spcAft>
                <a:spcPts val="600"/>
              </a:spcAft>
              <a:buSzPct val="100000"/>
              <a:buChar char="•"/>
            </a:pPr>
            <a:r>
              <a:rPr lang="en-US" sz="1350" dirty="0">
                <a:solidFill>
                  <a:schemeClr val="tx2"/>
                </a:solidFill>
              </a:rPr>
              <a:t>The domain's own zones move last</a:t>
            </a:r>
            <a:endParaRPr lang="en-US" sz="1400" dirty="0"/>
          </a:p>
        </p:txBody>
      </p:sp>
      <p:sp>
        <p:nvSpPr>
          <p:cNvPr id="10" name="Services card 2"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Route" descr="">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44823"/>
            <a:ext cx="294803" cy="294803"/>
          </a:xfrm>
          <a:prstGeom prst="rect">
            <a:avLst/>
          </a:prstGeom>
        </p:spPr>
      </p:pic>
      <p:sp>
        <p:nvSpPr>
          <p:cNvPr id="13" name="Services head 2"/>
          <p:cNvSpPr txBox="1"/>
          <p:nvPr/>
        </p:nvSpPr>
        <p:spPr>
          <a:xfrm>
            <a:off x="5212080" y="1508760"/>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DHCP</a:t>
            </a:r>
            <a:endParaRPr lang="en-US" sz="1700" dirty="0"/>
          </a:p>
        </p:txBody>
      </p:sp>
      <p:sp>
        <p:nvSpPr>
          <p:cNvPr id="14" name="Services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AD authorization stops unauthorized Windows servers</a:t>
            </a:r>
            <a:endParaRPr lang="en-US" sz="1400" dirty="0"/>
          </a:p>
          <a:p>
            <a:pPr marL="342900" indent="-342900">
              <a:spcAft>
                <a:spcPts val="600"/>
              </a:spcAft>
              <a:buSzPct val="100000"/>
              <a:buChar char="•"/>
            </a:pPr>
            <a:r>
              <a:rPr lang="en-US" sz="1350" dirty="0">
                <a:solidFill>
                  <a:schemeClr val="tx2"/>
                </a:solidFill>
              </a:rPr>
              <a:t>It doesn't stop rogue devices</a:t>
            </a:r>
            <a:endParaRPr lang="en-US" sz="1400" dirty="0"/>
          </a:p>
          <a:p>
            <a:pPr marL="342900" indent="-342900">
              <a:spcAft>
                <a:spcPts val="600"/>
              </a:spcAft>
              <a:buSzPct val="100000"/>
              <a:buChar char="•"/>
            </a:pPr>
            <a:r>
              <a:rPr lang="en-US" sz="1350" dirty="0">
                <a:solidFill>
                  <a:schemeClr val="tx2"/>
                </a:solidFill>
              </a:rPr>
              <a:t>On-premises subnets still need governed DHCP</a:t>
            </a:r>
            <a:endParaRPr lang="en-US" sz="1400" dirty="0"/>
          </a:p>
        </p:txBody>
      </p:sp>
      <p:sp>
        <p:nvSpPr>
          <p:cNvPr id="15" name="Services card 3"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Sitemap" descr="">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44823"/>
            <a:ext cx="294803" cy="294803"/>
          </a:xfrm>
          <a:prstGeom prst="rect">
            <a:avLst/>
          </a:prstGeom>
        </p:spPr>
      </p:pic>
      <p:sp>
        <p:nvSpPr>
          <p:cNvPr id="18" name="Services head 3"/>
          <p:cNvSpPr txBox="1"/>
          <p:nvPr/>
        </p:nvSpPr>
        <p:spPr>
          <a:xfrm>
            <a:off x="8961120" y="1508760"/>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IPAM</a:t>
            </a:r>
            <a:endParaRPr lang="en-US" sz="1700" dirty="0"/>
          </a:p>
        </p:txBody>
      </p:sp>
      <p:sp>
        <p:nvSpPr>
          <p:cNvPr id="19" name="Services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Often a spreadsheet one person keeps</a:t>
            </a:r>
            <a:endParaRPr lang="en-US" sz="1400" dirty="0"/>
          </a:p>
          <a:p>
            <a:pPr marL="342900" indent="-342900">
              <a:spcAft>
                <a:spcPts val="600"/>
              </a:spcAft>
              <a:buSzPct val="100000"/>
              <a:buChar char="•"/>
            </a:pPr>
            <a:r>
              <a:rPr lang="en-US" sz="1350" dirty="0">
                <a:solidFill>
                  <a:schemeClr val="tx2"/>
                </a:solidFill>
              </a:rPr>
              <a:t>One authority, on-premises and cloud</a:t>
            </a:r>
            <a:endParaRPr lang="en-US" sz="1400" dirty="0"/>
          </a:p>
          <a:p>
            <a:pPr marL="342900" indent="-342900">
              <a:spcAft>
                <a:spcPts val="600"/>
              </a:spcAft>
              <a:buSzPct val="100000"/>
              <a:buChar char="•"/>
            </a:pPr>
            <a:r>
              <a:rPr lang="en-US" sz="1350" dirty="0">
                <a:solidFill>
                  <a:schemeClr val="tx2"/>
                </a:solidFill>
              </a:rPr>
              <a:t>DNS and DHCP derive their records from it</a:t>
            </a:r>
            <a:endParaRPr lang="en-US" sz="1400" dirty="0"/>
          </a:p>
        </p:txBody>
      </p:sp>
      <p:sp>
        <p:nvSpPr>
          <p:cNvPr id="20"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Fund DNS, DHCP and IPAM inside the core program, with one IPAM authority, not as a later phase that never comes</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 and CIO</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In scope now; pilot zones move in Phase 2</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(SC-20 to SC-22, CM-8); OMB M-22-09; Microsoft Learn — AD-integrated DNS, DHCP authorization. Book 01, Chapters 06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Compute: the domain join is the last thing to go</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Ends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WHERE EACH KIND OF MACHINE ENDS</a:t>
            </a:r>
            <a:endParaRPr lang="en-US" sz="1200" dirty="0"/>
          </a:p>
        </p:txBody>
      </p:sp>
      <p:sp>
        <p:nvSpPr>
          <p:cNvPr id="6" name="Ends 0" descr="">
            <a:extLst>
              <a:ext uri="{C183D7F6-B498-43B3-948B-1728B52AA6E4}">
                <adec:decorative xmlns:adec="http://schemas.microsoft.com/office/drawing/2017/decorative" val="1"/>
              </a:ext>
            </a:extLst>
          </p:cNvPr>
          <p:cNvSpPr/>
          <p:nvPr/>
        </p:nvSpPr>
        <p:spPr>
          <a:xfrm>
            <a:off x="548640" y="1719072"/>
            <a:ext cx="5669280" cy="640080"/>
          </a:xfrm>
          <a:prstGeom prst="roundRect">
            <a:avLst>
              <a:gd name="adj" fmla="val 1142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Ends 0 text"/>
          <p:cNvSpPr txBox="1"/>
          <p:nvPr/>
        </p:nvSpPr>
        <p:spPr>
          <a:xfrm>
            <a:off x="731520" y="1719072"/>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User PCs   </a:t>
            </a:r>
            <a:pPr indent="0" marL="0">
              <a:buNone/>
            </a:pPr>
            <a:r>
              <a:rPr lang="en-US" sz="1400" dirty="0">
                <a:solidFill>
                  <a:schemeClr val="tx2"/>
                </a:solidFill>
              </a:rPr>
              <a:t>Entra joined and managed in Intune</a:t>
            </a:r>
            <a:endParaRPr lang="en-US" sz="1400" dirty="0"/>
          </a:p>
        </p:txBody>
      </p:sp>
      <p:sp>
        <p:nvSpPr>
          <p:cNvPr id="8" name="Ends 1" descr="">
            <a:extLst>
              <a:ext uri="{C183D7F6-B498-43B3-948B-1728B52AA6E4}">
                <adec:decorative xmlns:adec="http://schemas.microsoft.com/office/drawing/2017/decorative" val="1"/>
              </a:ext>
            </a:extLst>
          </p:cNvPr>
          <p:cNvSpPr/>
          <p:nvPr/>
        </p:nvSpPr>
        <p:spPr>
          <a:xfrm>
            <a:off x="548640" y="2468880"/>
            <a:ext cx="5669280" cy="640080"/>
          </a:xfrm>
          <a:prstGeom prst="roundRect">
            <a:avLst>
              <a:gd name="adj" fmla="val 1142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Ends 1 text"/>
          <p:cNvSpPr txBox="1"/>
          <p:nvPr/>
        </p:nvSpPr>
        <p:spPr>
          <a:xfrm>
            <a:off x="731520" y="246888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Hybrid joined   </a:t>
            </a:r>
            <a:pPr indent="0" marL="0">
              <a:buNone/>
            </a:pPr>
            <a:r>
              <a:rPr lang="en-US" sz="1400" dirty="0">
                <a:solidFill>
                  <a:schemeClr val="tx2"/>
                </a:solidFill>
              </a:rPr>
              <a:t>A waypoint with a cut date, never the end</a:t>
            </a:r>
            <a:endParaRPr lang="en-US" sz="1400" dirty="0"/>
          </a:p>
        </p:txBody>
      </p:sp>
      <p:sp>
        <p:nvSpPr>
          <p:cNvPr id="10" name="Ends 2" descr="">
            <a:extLst>
              <a:ext uri="{C183D7F6-B498-43B3-948B-1728B52AA6E4}">
                <adec:decorative xmlns:adec="http://schemas.microsoft.com/office/drawing/2017/decorative" val="1"/>
              </a:ext>
            </a:extLst>
          </p:cNvPr>
          <p:cNvSpPr/>
          <p:nvPr/>
        </p:nvSpPr>
        <p:spPr>
          <a:xfrm>
            <a:off x="548640" y="3218688"/>
            <a:ext cx="5669280" cy="640080"/>
          </a:xfrm>
          <a:prstGeom prst="roundRect">
            <a:avLst>
              <a:gd name="adj" fmla="val 1142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Ends 2 text"/>
          <p:cNvSpPr txBox="1"/>
          <p:nvPr/>
        </p:nvSpPr>
        <p:spPr>
          <a:xfrm>
            <a:off x="731520" y="3218688"/>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Servers   </a:t>
            </a:r>
            <a:pPr indent="0" marL="0">
              <a:buNone/>
            </a:pPr>
            <a:r>
              <a:rPr lang="en-US" sz="1400" dirty="0">
                <a:solidFill>
                  <a:schemeClr val="tx2"/>
                </a:solidFill>
              </a:rPr>
              <a:t>Governed through Azure Arc; unjoin per workload</a:t>
            </a:r>
            <a:endParaRPr lang="en-US" sz="1400" dirty="0"/>
          </a:p>
        </p:txBody>
      </p:sp>
      <p:sp>
        <p:nvSpPr>
          <p:cNvPr id="12" name="Ends 3" descr="">
            <a:extLst>
              <a:ext uri="{C183D7F6-B498-43B3-948B-1728B52AA6E4}">
                <adec:decorative xmlns:adec="http://schemas.microsoft.com/office/drawing/2017/decorative" val="1"/>
              </a:ext>
            </a:extLst>
          </p:cNvPr>
          <p:cNvSpPr/>
          <p:nvPr/>
        </p:nvSpPr>
        <p:spPr>
          <a:xfrm>
            <a:off x="548640" y="3968496"/>
            <a:ext cx="5669280" cy="640080"/>
          </a:xfrm>
          <a:prstGeom prst="roundRect">
            <a:avLst>
              <a:gd name="adj" fmla="val 1142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Ends 3 text"/>
          <p:cNvSpPr txBox="1"/>
          <p:nvPr/>
        </p:nvSpPr>
        <p:spPr>
          <a:xfrm>
            <a:off x="731520" y="3968496"/>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Kerberos apps   </a:t>
            </a:r>
            <a:pPr indent="0" marL="0">
              <a:buNone/>
            </a:pPr>
            <a:r>
              <a:rPr lang="en-US" sz="1400" dirty="0">
                <a:solidFill>
                  <a:schemeClr val="tx2"/>
                </a:solidFill>
              </a:rPr>
              <a:t>Migrate, retire, or island with an end date</a:t>
            </a:r>
            <a:endParaRPr lang="en-US" sz="1400" dirty="0"/>
          </a:p>
        </p:txBody>
      </p:sp>
      <p:sp>
        <p:nvSpPr>
          <p:cNvPr id="14" name="Gates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5" name="Icon FaServer"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7" name="Gates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Before a machine leaves</a:t>
            </a:r>
            <a:endParaRPr lang="en-US" sz="1700" dirty="0"/>
          </a:p>
        </p:txBody>
      </p:sp>
      <p:sp>
        <p:nvSpPr>
          <p:cNvPr id="18" name="Gate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Every SPN on a server resolved first</a:t>
            </a:r>
            <a:endParaRPr lang="en-US" sz="1400" dirty="0"/>
          </a:p>
          <a:p>
            <a:pPr marL="342900" indent="-342900">
              <a:spcAft>
                <a:spcPts val="600"/>
              </a:spcAft>
              <a:buSzPct val="100000"/>
              <a:buChar char="•"/>
            </a:pPr>
            <a:r>
              <a:rPr lang="en-US" sz="1350" dirty="0">
                <a:solidFill>
                  <a:schemeClr val="tx2"/>
                </a:solidFill>
              </a:rPr>
              <a:t>NTLM flows removed, or dated exceptions</a:t>
            </a:r>
            <a:endParaRPr lang="en-US" sz="1400" dirty="0"/>
          </a:p>
          <a:p>
            <a:pPr marL="342900" indent="-342900">
              <a:spcAft>
                <a:spcPts val="600"/>
              </a:spcAft>
              <a:buSzPct val="100000"/>
              <a:buChar char="•"/>
            </a:pPr>
            <a:r>
              <a:rPr lang="en-US" sz="1350" dirty="0">
                <a:solidFill>
                  <a:schemeClr val="tx2"/>
                </a:solidFill>
              </a:rPr>
              <a:t>Compute stays with its data until round trips drop</a:t>
            </a:r>
            <a:endParaRPr lang="en-US" sz="1400" dirty="0"/>
          </a:p>
          <a:p>
            <a:pPr marL="342900" indent="-342900">
              <a:spcAft>
                <a:spcPts val="600"/>
              </a:spcAft>
              <a:buSzPct val="100000"/>
              <a:buChar char="•"/>
            </a:pPr>
            <a:r>
              <a:rPr lang="en-US" sz="1350" dirty="0">
                <a:solidFill>
                  <a:schemeClr val="tx2"/>
                </a:solidFill>
              </a:rPr>
              <a:t>Hybrid to Entra join needs a reset: time it to refresh</a:t>
            </a:r>
            <a:endParaRPr lang="en-US" sz="1400" dirty="0"/>
          </a:p>
        </p:txBody>
      </p:sp>
      <p:sp>
        <p:nvSpPr>
          <p:cNvPr id="19"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For each Kerberos-bound application, its owner decides migrate, retire or island; the AO sets the end date of every island and NTLM exception</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Application owners; the AO for end dates</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its servers unjoin; all by G4</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joined vs. hybrid joined; Azure Arc-enabled servers; NTLM deprecation; Windows Autopilot. Book 01, Chapters 07, 09, 10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Access: log in to applications, not networks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Access card 1"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Fingerprint" descr="">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44823"/>
            <a:ext cx="294803" cy="294803"/>
          </a:xfrm>
          <a:prstGeom prst="rect">
            <a:avLst/>
          </a:prstGeom>
        </p:spPr>
      </p:pic>
      <p:sp>
        <p:nvSpPr>
          <p:cNvPr id="8" name="Access head 1"/>
          <p:cNvSpPr txBox="1"/>
          <p:nvPr/>
        </p:nvSpPr>
        <p:spPr>
          <a:xfrm>
            <a:off x="1463040" y="1508760"/>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The proof</a:t>
            </a:r>
            <a:endParaRPr lang="en-US" sz="1700" dirty="0"/>
          </a:p>
        </p:txBody>
      </p:sp>
      <p:sp>
        <p:nvSpPr>
          <p:cNvPr id="9" name="Access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Phishing-resistant MFA for staff, contractors, partners</a:t>
            </a:r>
            <a:endParaRPr lang="en-US" sz="1400" dirty="0"/>
          </a:p>
          <a:p>
            <a:pPr marL="342900" indent="-342900">
              <a:spcAft>
                <a:spcPts val="600"/>
              </a:spcAft>
              <a:buSzPct val="100000"/>
              <a:buChar char="•"/>
            </a:pPr>
            <a:r>
              <a:rPr lang="en-US" sz="1300" dirty="0">
                <a:solidFill>
                  <a:schemeClr val="tx2"/>
                </a:solidFill>
              </a:rPr>
              <a:t>FIDO2, passkeys, Windows Hello, PIV by certificate</a:t>
            </a:r>
            <a:endParaRPr lang="en-US" sz="1400" dirty="0"/>
          </a:p>
          <a:p>
            <a:pPr marL="342900" indent="-342900">
              <a:spcAft>
                <a:spcPts val="600"/>
              </a:spcAft>
              <a:buSzPct val="100000"/>
              <a:buChar char="•"/>
            </a:pPr>
            <a:r>
              <a:rPr lang="en-US" sz="1300" dirty="0">
                <a:solidFill>
                  <a:schemeClr val="tx2"/>
                </a:solidFill>
              </a:rPr>
              <a:t>SMS and voice not permitted</a:t>
            </a:r>
            <a:endParaRPr lang="en-US" sz="1400" dirty="0"/>
          </a:p>
        </p:txBody>
      </p:sp>
      <p:sp>
        <p:nvSpPr>
          <p:cNvPr id="10" name="Access card 2"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DoorOpen" descr="">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44823"/>
            <a:ext cx="294803" cy="294803"/>
          </a:xfrm>
          <a:prstGeom prst="rect">
            <a:avLst/>
          </a:prstGeom>
        </p:spPr>
      </p:pic>
      <p:sp>
        <p:nvSpPr>
          <p:cNvPr id="13" name="Access head 2"/>
          <p:cNvSpPr txBox="1"/>
          <p:nvPr/>
        </p:nvSpPr>
        <p:spPr>
          <a:xfrm>
            <a:off x="5212080" y="1508760"/>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Decision and edge</a:t>
            </a:r>
            <a:endParaRPr lang="en-US" sz="1700" dirty="0"/>
          </a:p>
        </p:txBody>
      </p:sp>
      <p:sp>
        <p:nvSpPr>
          <p:cNvPr id="14" name="Access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Conditional Access decides each request</a:t>
            </a:r>
            <a:endParaRPr lang="en-US" sz="1400" dirty="0"/>
          </a:p>
          <a:p>
            <a:pPr marL="342900" indent="-342900">
              <a:spcAft>
                <a:spcPts val="600"/>
              </a:spcAft>
              <a:buSzPct val="100000"/>
              <a:buChar char="•"/>
            </a:pPr>
            <a:r>
              <a:rPr lang="en-US" sz="1300" dirty="0">
                <a:solidFill>
                  <a:schemeClr val="tx2"/>
                </a:solidFill>
              </a:rPr>
              <a:t>Per-application access instead of VPN</a:t>
            </a:r>
            <a:endParaRPr lang="en-US" sz="1400" dirty="0"/>
          </a:p>
          <a:p>
            <a:pPr marL="342900" indent="-342900">
              <a:spcAft>
                <a:spcPts val="600"/>
              </a:spcAft>
              <a:buSzPct val="100000"/>
              <a:buChar char="•"/>
            </a:pPr>
            <a:r>
              <a:rPr lang="en-US" sz="1300" dirty="0">
                <a:solidFill>
                  <a:schemeClr val="tx2"/>
                </a:solidFill>
              </a:rPr>
              <a:t>CAE revokes a live session on critical events</a:t>
            </a:r>
            <a:endParaRPr lang="en-US" sz="1400" dirty="0"/>
          </a:p>
        </p:txBody>
      </p:sp>
      <p:sp>
        <p:nvSpPr>
          <p:cNvPr id="15" name="Access card 3"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6" name="Icon FaUserShield" descr="">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B91C1C"/>
          </a:solidFill>
          <a:ln w="12700">
            <a:solidFill>
              <a:srgbClr val="B91C1C"/>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44823"/>
            <a:ext cx="294803" cy="294803"/>
          </a:xfrm>
          <a:prstGeom prst="rect">
            <a:avLst/>
          </a:prstGeom>
        </p:spPr>
      </p:pic>
      <p:sp>
        <p:nvSpPr>
          <p:cNvPr id="18" name="Access head 3"/>
          <p:cNvSpPr txBox="1"/>
          <p:nvPr/>
        </p:nvSpPr>
        <p:spPr>
          <a:xfrm>
            <a:off x="8961120" y="1508760"/>
            <a:ext cx="2560320" cy="566928"/>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Privilege</a:t>
            </a:r>
            <a:endParaRPr lang="en-US" sz="1700" dirty="0"/>
          </a:p>
        </p:txBody>
      </p:sp>
      <p:sp>
        <p:nvSpPr>
          <p:cNvPr id="19" name="Access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No standing admin rights in Entra or Azure</a:t>
            </a:r>
            <a:endParaRPr lang="en-US" sz="1400" dirty="0"/>
          </a:p>
          <a:p>
            <a:pPr marL="342900" indent="-342900">
              <a:spcAft>
                <a:spcPts val="600"/>
              </a:spcAft>
              <a:buSzPct val="100000"/>
              <a:buChar char="•"/>
            </a:pPr>
            <a:r>
              <a:rPr lang="en-US" sz="1300" dirty="0">
                <a:solidFill>
                  <a:schemeClr val="tx2"/>
                </a:solidFill>
              </a:rPr>
              <a:t>A vault for what can't be just-in-time</a:t>
            </a:r>
            <a:endParaRPr lang="en-US" sz="1400" dirty="0"/>
          </a:p>
          <a:p>
            <a:pPr marL="342900" indent="-342900">
              <a:spcAft>
                <a:spcPts val="600"/>
              </a:spcAft>
              <a:buSzPct val="100000"/>
              <a:buChar char="•"/>
            </a:pPr>
            <a:r>
              <a:rPr lang="en-US" sz="1300" dirty="0">
                <a:solidFill>
                  <a:schemeClr val="tx2"/>
                </a:solidFill>
              </a:rPr>
              <a:t>Two or more break-glass accounts, tested every 90 days</a:t>
            </a:r>
            <a:endParaRPr lang="en-US" sz="1400" dirty="0"/>
          </a:p>
        </p:txBody>
      </p:sp>
      <p:sp>
        <p:nvSpPr>
          <p:cNvPr id="20"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Make phishing-resistant MFA the end state for everyone, with FIDO2 or certificates for Tier 0 first, and move certificate issuance off AD DS before AD retires</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Tier 0 from Phase 1; issuance by G4</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NIST SP 800-207; CISA BOD 25-01; CISA ZTMM v2.0; CISA SASE guidance (2026); Microsoft Learn — CBA, PIM, CAE. Book 01, Chapters 08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Microsoft supplies the instruments, not the orchestra</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gridCol w="393192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Instrument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doesn't decide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4864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Cloud identity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What the organizational structure becomes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Device management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Which policies map to which profiles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Hybrid management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Which servers retire or move under Arc</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Conditional Access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Which users need which policies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Just-in-time privilege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Which roles, if any, stay standing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Assessment tools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What to do with the findings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olicy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Landmar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Policy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Federal policy already says</a:t>
            </a:r>
            <a:endParaRPr lang="en-US" sz="1700" dirty="0"/>
          </a:p>
        </p:txBody>
      </p:sp>
      <p:sp>
        <p:nvSpPr>
          <p:cNvPr id="10" name="Policy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M-22-09: the whole C-suite aligned and committed</a:t>
            </a:r>
            <a:endParaRPr lang="en-US" sz="1400" dirty="0"/>
          </a:p>
          <a:p>
            <a:pPr marL="342900" indent="-342900">
              <a:spcAft>
                <a:spcPts val="600"/>
              </a:spcAft>
              <a:buSzPct val="100000"/>
              <a:buChar char="•"/>
            </a:pPr>
            <a:r>
              <a:rPr lang="en-US" sz="1350" dirty="0">
                <a:solidFill>
                  <a:schemeClr val="tx2"/>
                </a:solidFill>
              </a:rPr>
              <a:t>M-22-09: a zero trust lead named within 30 days</a:t>
            </a:r>
            <a:endParaRPr lang="en-US" sz="1400" dirty="0"/>
          </a:p>
          <a:p>
            <a:pPr marL="342900" indent="-342900">
              <a:spcAft>
                <a:spcPts val="600"/>
              </a:spcAft>
              <a:buSzPct val="100000"/>
              <a:buChar char="•"/>
            </a:pPr>
            <a:r>
              <a:rPr lang="en-US" sz="1350" dirty="0">
                <a:solidFill>
                  <a:schemeClr val="tx2"/>
                </a:solidFill>
              </a:rPr>
              <a:t>M-19-17: an agency-wide ICAM governance structure</a:t>
            </a:r>
            <a:endParaRPr lang="en-US" sz="1400" dirty="0"/>
          </a:p>
          <a:p>
            <a:pPr marL="342900" indent="-342900">
              <a:spcAft>
                <a:spcPts val="600"/>
              </a:spcAft>
              <a:buSzPct val="100000"/>
              <a:buChar char="•"/>
            </a:pPr>
            <a:r>
              <a:rPr lang="en-US" sz="1350" dirty="0">
                <a:solidFill>
                  <a:schemeClr val="tx2"/>
                </a:solidFill>
              </a:rPr>
              <a:t>None says who decides when a forest retires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Confirm who already holds the zero trust implementation lead and ICAM governance roles, and decide whether the steward role goes to one of them</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Phase 0</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OMB M-19-17; NIST SP 800-37 Rev. 2; Microsoft Learn — cloud-first identity guidance, Entra licensing. Book 01,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decider per decision; the AO signs for risk</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descr="">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48840"/>
            <a:ext cx="3246120" cy="2423160"/>
          </a:xfrm>
          <a:prstGeom prst="rect">
            <a:avLst/>
          </a:prstGeom>
          <a:noFill/>
          <a:ln/>
        </p:spPr>
        <p:txBody>
          <a:bodyPr wrap="square" lIns="0" tIns="0" rIns="0" bIns="0" rtlCol="0" anchor="t"/>
          <a:lstStyle/>
          <a:p>
            <a:pPr indent="0" marL="0">
              <a:spcAft>
                <a:spcPts val="800"/>
              </a:spcAft>
              <a:buNone/>
            </a:pPr>
            <a:r>
              <a:rPr lang="en-US" sz="1400" b="1" dirty="0">
                <a:solidFill>
                  <a:srgbClr val="1F2A44"/>
                </a:solidFill>
              </a:rPr>
              <a:t>Sponsor and CIO</a:t>
            </a:r>
            <a:endParaRPr lang="en-US" sz="1400" dirty="0"/>
          </a:p>
          <a:p>
            <a:pPr indent="0" marL="0">
              <a:spcAft>
                <a:spcPts val="800"/>
              </a:spcAft>
              <a:buNone/>
            </a:pPr>
            <a:r>
              <a:rPr lang="en-US" sz="1400" dirty="0">
                <a:solidFill>
                  <a:schemeClr val="tx2"/>
                </a:solidFill>
              </a:rPr>
              <a:t>Scope, funding, sequence; AD retirement</a:t>
            </a:r>
            <a:endParaRPr lang="en-US" sz="1400" dirty="0"/>
          </a:p>
          <a:p>
            <a:pPr indent="0" marL="0">
              <a:spcAft>
                <a:spcPts val="800"/>
              </a:spcAft>
              <a:buNone/>
            </a:pPr>
            <a:r>
              <a:rPr lang="en-US" sz="1400" b="1" dirty="0">
                <a:solidFill>
                  <a:srgbClr val="1F2A44"/>
                </a:solidFill>
              </a:rPr>
              <a:t>Authorizing official</a:t>
            </a:r>
            <a:endParaRPr lang="en-US" sz="1400" dirty="0"/>
          </a:p>
          <a:p>
            <a:pPr indent="0" marL="0">
              <a:spcAft>
                <a:spcPts val="800"/>
              </a:spcAft>
              <a:buNone/>
            </a:pPr>
            <a:r>
              <a:rPr lang="en-US" sz="1400" dirty="0">
                <a:solidFill>
                  <a:schemeClr val="tx2"/>
                </a:solidFill>
              </a:rPr>
              <a:t>Residual risk, exceptions, boundaries</a:t>
            </a:r>
            <a:endParaRPr lang="en-US" sz="1400" dirty="0"/>
          </a:p>
          <a:p>
            <a:pPr indent="0" marL="0">
              <a:spcAft>
                <a:spcPts val="800"/>
              </a:spcAft>
              <a:buNone/>
            </a:pPr>
            <a:r>
              <a:rPr lang="en-US" sz="1400" b="1" dirty="0">
                <a:solidFill>
                  <a:srgbClr val="1F2A44"/>
                </a:solidFill>
              </a:rPr>
              <a:t>Steward</a:t>
            </a:r>
            <a:endParaRPr lang="en-US" sz="1400" dirty="0"/>
          </a:p>
          <a:p>
            <a:pPr indent="0" marL="0">
              <a:spcAft>
                <a:spcPts val="800"/>
              </a:spcAft>
              <a:buNone/>
            </a:pPr>
            <a:r>
              <a:rPr lang="en-US" sz="1400" dirty="0">
                <a:solidFill>
                  <a:schemeClr val="tx2"/>
                </a:solidFill>
              </a:rPr>
              <a:t>The plan; gates G0, G1, G4</a:t>
            </a:r>
            <a:endParaRPr lang="en-US" sz="1400" dirty="0"/>
          </a:p>
        </p:txBody>
      </p:sp>
      <p:sp>
        <p:nvSpPr>
          <p:cNvPr id="10" name="Who col 2"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ClipboardCheck" descr="">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Set the rules</a:t>
            </a:r>
            <a:endParaRPr lang="en-US" sz="1800" dirty="0"/>
          </a:p>
        </p:txBody>
      </p:sp>
      <p:sp>
        <p:nvSpPr>
          <p:cNvPr id="14" name="Who text 2"/>
          <p:cNvSpPr txBox="1"/>
          <p:nvPr/>
        </p:nvSpPr>
        <p:spPr>
          <a:xfrm>
            <a:off x="4526280" y="2148840"/>
            <a:ext cx="3246120" cy="2423160"/>
          </a:xfrm>
          <a:prstGeom prst="rect">
            <a:avLst/>
          </a:prstGeom>
          <a:noFill/>
          <a:ln/>
        </p:spPr>
        <p:txBody>
          <a:bodyPr wrap="square" lIns="0" tIns="0" rIns="0" bIns="0" rtlCol="0" anchor="t"/>
          <a:lstStyle/>
          <a:p>
            <a:pPr indent="0" marL="0">
              <a:spcAft>
                <a:spcPts val="800"/>
              </a:spcAft>
              <a:buNone/>
            </a:pPr>
            <a:r>
              <a:rPr lang="en-US" sz="1400" b="1" dirty="0">
                <a:solidFill>
                  <a:srgbClr val="0F766E"/>
                </a:solidFill>
              </a:rPr>
              <a:t>CISO</a:t>
            </a:r>
            <a:endParaRPr lang="en-US" sz="1400" dirty="0"/>
          </a:p>
          <a:p>
            <a:pPr indent="0" marL="0">
              <a:spcAft>
                <a:spcPts val="800"/>
              </a:spcAft>
              <a:buNone/>
            </a:pPr>
            <a:r>
              <a:rPr lang="en-US" sz="1400" dirty="0">
                <a:solidFill>
                  <a:schemeClr val="tx2"/>
                </a:solidFill>
              </a:rPr>
              <a:t>Control requirements and evidence</a:t>
            </a:r>
            <a:endParaRPr lang="en-US" sz="1400" dirty="0"/>
          </a:p>
          <a:p>
            <a:pPr indent="0" marL="0">
              <a:spcAft>
                <a:spcPts val="800"/>
              </a:spcAft>
              <a:buNone/>
            </a:pPr>
            <a:r>
              <a:rPr lang="en-US" sz="1400" b="1" dirty="0">
                <a:solidFill>
                  <a:srgbClr val="0F766E"/>
                </a:solidFill>
              </a:rPr>
              <a:t>HR</a:t>
            </a:r>
            <a:endParaRPr lang="en-US" sz="1400" dirty="0"/>
          </a:p>
          <a:p>
            <a:pPr indent="0" marL="0">
              <a:spcAft>
                <a:spcPts val="800"/>
              </a:spcAft>
              <a:buNone/>
            </a:pPr>
            <a:r>
              <a:rPr lang="en-US" sz="1400" dirty="0">
                <a:solidFill>
                  <a:schemeClr val="tx2"/>
                </a:solidFill>
              </a:rPr>
              <a:t>What the worker attributes mean</a:t>
            </a:r>
            <a:endParaRPr lang="en-US" sz="1400" dirty="0"/>
          </a:p>
          <a:p>
            <a:pPr indent="0" marL="0">
              <a:spcAft>
                <a:spcPts val="800"/>
              </a:spcAft>
              <a:buNone/>
            </a:pPr>
            <a:r>
              <a:rPr lang="en-US" sz="1400" b="1" dirty="0">
                <a:solidFill>
                  <a:srgbClr val="0F766E"/>
                </a:solidFill>
              </a:rPr>
              <a:t>Records and privacy</a:t>
            </a:r>
            <a:endParaRPr lang="en-US" sz="1400" dirty="0"/>
          </a:p>
          <a:p>
            <a:pPr indent="0" marL="0">
              <a:spcAft>
                <a:spcPts val="800"/>
              </a:spcAft>
              <a:buNone/>
            </a:pPr>
            <a:r>
              <a:rPr lang="en-US" sz="1400" dirty="0">
                <a:solidFill>
                  <a:schemeClr val="tx2"/>
                </a:solidFill>
              </a:rPr>
              <a:t>Retention; new attribute flows</a:t>
            </a:r>
            <a:endParaRPr lang="en-US" sz="1400" dirty="0"/>
          </a:p>
        </p:txBody>
      </p:sp>
      <p:sp>
        <p:nvSpPr>
          <p:cNvPr id="15" name="Who col 3"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UsersGear" desc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Do the work</a:t>
            </a:r>
            <a:endParaRPr lang="en-US" sz="1800" dirty="0"/>
          </a:p>
        </p:txBody>
      </p:sp>
      <p:sp>
        <p:nvSpPr>
          <p:cNvPr id="19" name="Who text 3"/>
          <p:cNvSpPr txBox="1"/>
          <p:nvPr/>
        </p:nvSpPr>
        <p:spPr>
          <a:xfrm>
            <a:off x="8275320" y="2148840"/>
            <a:ext cx="3246120" cy="2423160"/>
          </a:xfrm>
          <a:prstGeom prst="rect">
            <a:avLst/>
          </a:prstGeom>
          <a:noFill/>
          <a:ln/>
        </p:spPr>
        <p:txBody>
          <a:bodyPr wrap="square" lIns="0" tIns="0" rIns="0" bIns="0" rtlCol="0" anchor="t"/>
          <a:lstStyle/>
          <a:p>
            <a:pPr indent="0" marL="0">
              <a:spcAft>
                <a:spcPts val="800"/>
              </a:spcAft>
              <a:buNone/>
            </a:pPr>
            <a:r>
              <a:rPr lang="en-US" sz="1400" b="1" dirty="0">
                <a:solidFill>
                  <a:srgbClr val="B45309"/>
                </a:solidFill>
              </a:rPr>
              <a:t>Platform teams</a:t>
            </a:r>
            <a:endParaRPr lang="en-US" sz="1400" dirty="0"/>
          </a:p>
          <a:p>
            <a:pPr indent="0" marL="0">
              <a:spcAft>
                <a:spcPts val="800"/>
              </a:spcAft>
              <a:buNone/>
            </a:pPr>
            <a:r>
              <a:rPr lang="en-US" sz="1400" dirty="0">
                <a:solidFill>
                  <a:schemeClr val="tx2"/>
                </a:solidFill>
              </a:rPr>
              <a:t>The work inside each domain</a:t>
            </a:r>
            <a:endParaRPr lang="en-US" sz="1400" dirty="0"/>
          </a:p>
          <a:p>
            <a:pPr indent="0" marL="0">
              <a:spcAft>
                <a:spcPts val="800"/>
              </a:spcAft>
              <a:buNone/>
            </a:pPr>
            <a:r>
              <a:rPr lang="en-US" sz="1400" b="1" dirty="0">
                <a:solidFill>
                  <a:srgbClr val="B45309"/>
                </a:solidFill>
              </a:rPr>
              <a:t>Application owners</a:t>
            </a:r>
            <a:endParaRPr lang="en-US" sz="1400" dirty="0"/>
          </a:p>
          <a:p>
            <a:pPr indent="0" marL="0">
              <a:spcAft>
                <a:spcPts val="800"/>
              </a:spcAft>
              <a:buNone/>
            </a:pPr>
            <a:r>
              <a:rPr lang="en-US" sz="1400" dirty="0">
                <a:solidFill>
                  <a:schemeClr val="tx2"/>
                </a:solidFill>
              </a:rPr>
              <a:t>Dependencies, tests, cutover</a:t>
            </a:r>
            <a:endParaRPr lang="en-US" sz="1400" dirty="0"/>
          </a:p>
          <a:p>
            <a:pPr indent="0" marL="0">
              <a:spcAft>
                <a:spcPts val="800"/>
              </a:spcAft>
              <a:buNone/>
            </a:pPr>
            <a:r>
              <a:rPr lang="en-US" sz="1400" b="1" dirty="0">
                <a:solidFill>
                  <a:srgbClr val="B45309"/>
                </a:solidFill>
              </a:rPr>
              <a:t>Help desk</a:t>
            </a:r>
            <a:endParaRPr lang="en-US" sz="1400" dirty="0"/>
          </a:p>
          <a:p>
            <a:pPr indent="0" marL="0">
              <a:spcAft>
                <a:spcPts val="800"/>
              </a:spcAft>
              <a:buNone/>
            </a:pPr>
            <a:r>
              <a:rPr lang="en-US" sz="1400" dirty="0">
                <a:solidFill>
                  <a:schemeClr val="tx2"/>
                </a:solidFill>
              </a:rPr>
              <a:t>Users through every wave</a:t>
            </a:r>
            <a:endParaRPr lang="en-US" sz="1400" dirty="0"/>
          </a:p>
        </p:txBody>
      </p:sp>
      <p:sp>
        <p:nvSpPr>
          <p:cNvPr id="20"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Fill the decision matrix with names, one decider per row, and get the authorizing official's agreement to every risk-acceptance row</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program starts</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Appendix D; OMB M-22-09; OMB M-26-14; CISA BOD 25-01. Book 01, Chapters 09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decisions that land on the wrong desk</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Desk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WHERE THE BOOK PUTS THEM</a:t>
            </a:r>
            <a:endParaRPr lang="en-US" sz="1200" dirty="0"/>
          </a:p>
        </p:txBody>
      </p:sp>
      <p:sp>
        <p:nvSpPr>
          <p:cNvPr id="6" name="Desk 0" descr="">
            <a:extLst>
              <a:ext uri="{C183D7F6-B498-43B3-948B-1728B52AA6E4}">
                <adec:decorative xmlns:adec="http://schemas.microsoft.com/office/drawing/2017/decorative" val="1"/>
              </a:ext>
            </a:extLst>
          </p:cNvPr>
          <p:cNvSpPr/>
          <p:nvPr/>
        </p:nvSpPr>
        <p:spPr>
          <a:xfrm>
            <a:off x="548640" y="1719072"/>
            <a:ext cx="5669280" cy="640080"/>
          </a:xfrm>
          <a:prstGeom prst="roundRect">
            <a:avLst>
              <a:gd name="adj" fmla="val 1142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Desk 0 text"/>
          <p:cNvSpPr txBox="1"/>
          <p:nvPr/>
        </p:nvSpPr>
        <p:spPr>
          <a:xfrm>
            <a:off x="731520" y="1719072"/>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Legacy auth end dates   </a:t>
            </a:r>
            <a:pPr indent="0" marL="0">
              <a:buNone/>
            </a:pPr>
            <a:r>
              <a:rPr lang="en-US" sz="1400" dirty="0">
                <a:solidFill>
                  <a:schemeClr val="tx2"/>
                </a:solidFill>
              </a:rPr>
              <a:t>The authorizing official</a:t>
            </a:r>
            <a:endParaRPr lang="en-US" sz="1400" dirty="0"/>
          </a:p>
        </p:txBody>
      </p:sp>
      <p:sp>
        <p:nvSpPr>
          <p:cNvPr id="8" name="Desk 1" descr="">
            <a:extLst>
              <a:ext uri="{C183D7F6-B498-43B3-948B-1728B52AA6E4}">
                <adec:decorative xmlns:adec="http://schemas.microsoft.com/office/drawing/2017/decorative" val="1"/>
              </a:ext>
            </a:extLst>
          </p:cNvPr>
          <p:cNvSpPr/>
          <p:nvPr/>
        </p:nvSpPr>
        <p:spPr>
          <a:xfrm>
            <a:off x="548640" y="2468880"/>
            <a:ext cx="5669280" cy="640080"/>
          </a:xfrm>
          <a:prstGeom prst="roundRect">
            <a:avLst>
              <a:gd name="adj" fmla="val 1142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Desk 1 text"/>
          <p:cNvSpPr txBox="1"/>
          <p:nvPr/>
        </p:nvSpPr>
        <p:spPr>
          <a:xfrm>
            <a:off x="731520" y="246888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Help desk identity checks   </a:t>
            </a:r>
            <a:pPr indent="0" marL="0">
              <a:buNone/>
            </a:pPr>
            <a:r>
              <a:rPr lang="en-US" sz="1400" dirty="0">
                <a:solidFill>
                  <a:schemeClr val="tx2"/>
                </a:solidFill>
              </a:rPr>
              <a:t>The CISO, not the help desk</a:t>
            </a:r>
            <a:endParaRPr lang="en-US" sz="1400" dirty="0"/>
          </a:p>
        </p:txBody>
      </p:sp>
      <p:sp>
        <p:nvSpPr>
          <p:cNvPr id="10" name="Desk 2" descr="">
            <a:extLst>
              <a:ext uri="{C183D7F6-B498-43B3-948B-1728B52AA6E4}">
                <adec:decorative xmlns:adec="http://schemas.microsoft.com/office/drawing/2017/decorative" val="1"/>
              </a:ext>
            </a:extLst>
          </p:cNvPr>
          <p:cNvSpPr/>
          <p:nvPr/>
        </p:nvSpPr>
        <p:spPr>
          <a:xfrm>
            <a:off x="548640" y="3218688"/>
            <a:ext cx="5669280" cy="640080"/>
          </a:xfrm>
          <a:prstGeom prst="roundRect">
            <a:avLst>
              <a:gd name="adj" fmla="val 1142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Desk 2 text"/>
          <p:cNvSpPr txBox="1"/>
          <p:nvPr/>
        </p:nvSpPr>
        <p:spPr>
          <a:xfrm>
            <a:off x="731520" y="3218688"/>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AD-era logs and records   </a:t>
            </a:r>
            <a:pPr indent="0" marL="0">
              <a:buNone/>
            </a:pPr>
            <a:r>
              <a:rPr lang="en-US" sz="1400" dirty="0">
                <a:solidFill>
                  <a:schemeClr val="tx2"/>
                </a:solidFill>
              </a:rPr>
              <a:t>The records officer, before decommission</a:t>
            </a:r>
            <a:endParaRPr lang="en-US" sz="1400" dirty="0"/>
          </a:p>
        </p:txBody>
      </p:sp>
      <p:sp>
        <p:nvSpPr>
          <p:cNvPr id="12" name="Desk 3" descr="">
            <a:extLst>
              <a:ext uri="{C183D7F6-B498-43B3-948B-1728B52AA6E4}">
                <adec:decorative xmlns:adec="http://schemas.microsoft.com/office/drawing/2017/decorative" val="1"/>
              </a:ext>
            </a:extLst>
          </p:cNvPr>
          <p:cNvSpPr/>
          <p:nvPr/>
        </p:nvSpPr>
        <p:spPr>
          <a:xfrm>
            <a:off x="548640" y="3968496"/>
            <a:ext cx="5669280" cy="640080"/>
          </a:xfrm>
          <a:prstGeom prst="roundRect">
            <a:avLst>
              <a:gd name="adj" fmla="val 1142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Desk 3 text"/>
          <p:cNvSpPr txBox="1"/>
          <p:nvPr/>
        </p:nvSpPr>
        <p:spPr>
          <a:xfrm>
            <a:off x="731520" y="3968496"/>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New personal-data flows   </a:t>
            </a:r>
            <a:pPr indent="0" marL="0">
              <a:buNone/>
            </a:pPr>
            <a:r>
              <a:rPr lang="en-US" sz="1400" dirty="0">
                <a:solidFill>
                  <a:schemeClr val="tx2"/>
                </a:solidFill>
              </a:rPr>
              <a:t>The privacy office, consulted first</a:t>
            </a:r>
            <a:endParaRPr lang="en-US" sz="1400" dirty="0"/>
          </a:p>
        </p:txBody>
      </p:sp>
      <p:sp>
        <p:nvSpPr>
          <p:cNvPr id="14" name="Why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5" name="Icon FaTriangleExclamation"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7" name="Why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Why each one moved</a:t>
            </a:r>
            <a:endParaRPr lang="en-US" sz="1700" dirty="0"/>
          </a:p>
        </p:txBody>
      </p:sp>
      <p:sp>
        <p:nvSpPr>
          <p:cNvPr id="18" name="Why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Keeping legacy auth open is a risk acceptance</a:t>
            </a:r>
            <a:endParaRPr lang="en-US" sz="1400" dirty="0"/>
          </a:p>
          <a:p>
            <a:pPr marL="342900" indent="-342900">
              <a:spcAft>
                <a:spcPts val="600"/>
              </a:spcAft>
              <a:buSzPct val="100000"/>
              <a:buChar char="•"/>
            </a:pPr>
            <a:r>
              <a:rPr lang="en-US" sz="1350" dirty="0">
                <a:solidFill>
                  <a:schemeClr val="tx2"/>
                </a:solidFill>
              </a:rPr>
              <a:t>Attackers phone help desks for resets and MFA</a:t>
            </a:r>
            <a:endParaRPr lang="en-US" sz="1400" dirty="0"/>
          </a:p>
          <a:p>
            <a:pPr marL="342900" indent="-342900">
              <a:spcAft>
                <a:spcPts val="600"/>
              </a:spcAft>
              <a:buSzPct val="100000"/>
              <a:buChar char="•"/>
            </a:pPr>
            <a:r>
              <a:rPr lang="en-US" sz="1350" dirty="0">
                <a:solidFill>
                  <a:schemeClr val="tx2"/>
                </a:solidFill>
              </a:rPr>
              <a:t>Some access records are kept six years</a:t>
            </a:r>
            <a:endParaRPr lang="en-US" sz="1400" dirty="0"/>
          </a:p>
          <a:p>
            <a:pPr marL="342900" indent="-342900">
              <a:spcAft>
                <a:spcPts val="600"/>
              </a:spcAft>
              <a:buSzPct val="100000"/>
              <a:buChar char="•"/>
            </a:pPr>
            <a:r>
              <a:rPr lang="en-US" sz="1350" dirty="0">
                <a:solidFill>
                  <a:schemeClr val="tx2"/>
                </a:solidFill>
              </a:rPr>
              <a:t>A retired DC's logs can't be recovered</a:t>
            </a:r>
            <a:endParaRPr lang="en-US" sz="1400" dirty="0"/>
          </a:p>
        </p:txBody>
      </p:sp>
      <p:sp>
        <p:nvSpPr>
          <p:cNvPr id="19"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Settle retention before decommissioning any domain controller, federation farm, sync server or SIEM connector</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Agency records officer</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first decommission</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and Required Configurations; CISA AA23-320A (Scattered Spider); NARA GRS 3.2; 36 CFR 1220.34; OMB M-19-17. Book 01,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Analyze the estate first: read-only, with provenance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ules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FOUR RULES FOR THE ASSESSMENT</a:t>
            </a:r>
            <a:endParaRPr lang="en-US" sz="1200" dirty="0"/>
          </a:p>
        </p:txBody>
      </p:sp>
      <p:sp>
        <p:nvSpPr>
          <p:cNvPr id="6" name="Rules 0" descr="">
            <a:extLst>
              <a:ext uri="{C183D7F6-B498-43B3-948B-1728B52AA6E4}">
                <adec:decorative xmlns:adec="http://schemas.microsoft.com/office/drawing/2017/decorative" val="1"/>
              </a:ext>
            </a:extLst>
          </p:cNvPr>
          <p:cNvSpPr/>
          <p:nvPr/>
        </p:nvSpPr>
        <p:spPr>
          <a:xfrm>
            <a:off x="548640" y="1719072"/>
            <a:ext cx="5669280" cy="640080"/>
          </a:xfrm>
          <a:prstGeom prst="roundRect">
            <a:avLst>
              <a:gd name="adj" fmla="val 1142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Rules 0 text"/>
          <p:cNvSpPr txBox="1"/>
          <p:nvPr/>
        </p:nvSpPr>
        <p:spPr>
          <a:xfrm>
            <a:off x="731520" y="1719072"/>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Read-only   </a:t>
            </a:r>
            <a:pPr indent="0" marL="0">
              <a:buNone/>
            </a:pPr>
            <a:r>
              <a:rPr lang="en-US" sz="1400" dirty="0">
                <a:solidFill>
                  <a:schemeClr val="tx2"/>
                </a:solidFill>
              </a:rPr>
              <a:t>Enforced in the account, the code and the audit trail</a:t>
            </a:r>
            <a:endParaRPr lang="en-US" sz="1400" dirty="0"/>
          </a:p>
        </p:txBody>
      </p:sp>
      <p:sp>
        <p:nvSpPr>
          <p:cNvPr id="8" name="Rules 1" descr="">
            <a:extLst>
              <a:ext uri="{C183D7F6-B498-43B3-948B-1728B52AA6E4}">
                <adec:decorative xmlns:adec="http://schemas.microsoft.com/office/drawing/2017/decorative" val="1"/>
              </a:ext>
            </a:extLst>
          </p:cNvPr>
          <p:cNvSpPr/>
          <p:nvPr/>
        </p:nvSpPr>
        <p:spPr>
          <a:xfrm>
            <a:off x="548640" y="2468880"/>
            <a:ext cx="5669280" cy="640080"/>
          </a:xfrm>
          <a:prstGeom prst="roundRect">
            <a:avLst>
              <a:gd name="adj" fmla="val 1142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Rules 1 text"/>
          <p:cNvSpPr txBox="1"/>
          <p:nvPr/>
        </p:nvSpPr>
        <p:spPr>
          <a:xfrm>
            <a:off x="731520" y="246888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Least privilege   </a:t>
            </a:r>
            <a:pPr indent="0" marL="0">
              <a:buNone/>
            </a:pPr>
            <a:r>
              <a:rPr lang="en-US" sz="1400" dirty="0">
                <a:solidFill>
                  <a:schemeClr val="tx2"/>
                </a:solidFill>
              </a:rPr>
              <a:t>Default read first; narrow additions; never secrets</a:t>
            </a:r>
            <a:endParaRPr lang="en-US" sz="1400" dirty="0"/>
          </a:p>
        </p:txBody>
      </p:sp>
      <p:sp>
        <p:nvSpPr>
          <p:cNvPr id="10" name="Rules 2" descr="">
            <a:extLst>
              <a:ext uri="{C183D7F6-B498-43B3-948B-1728B52AA6E4}">
                <adec:decorative xmlns:adec="http://schemas.microsoft.com/office/drawing/2017/decorative" val="1"/>
              </a:ext>
            </a:extLst>
          </p:cNvPr>
          <p:cNvSpPr/>
          <p:nvPr/>
        </p:nvSpPr>
        <p:spPr>
          <a:xfrm>
            <a:off x="548640" y="3218688"/>
            <a:ext cx="5669280" cy="640080"/>
          </a:xfrm>
          <a:prstGeom prst="roundRect">
            <a:avLst>
              <a:gd name="adj" fmla="val 1142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Rules 2 text"/>
          <p:cNvSpPr txBox="1"/>
          <p:nvPr/>
        </p:nvSpPr>
        <p:spPr>
          <a:xfrm>
            <a:off x="731520" y="3218688"/>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Provenance   </a:t>
            </a:r>
            <a:pPr indent="0" marL="0">
              <a:buNone/>
            </a:pPr>
            <a:r>
              <a:rPr lang="en-US" sz="1400" dirty="0">
                <a:solidFill>
                  <a:schemeClr val="tx2"/>
                </a:solidFill>
              </a:rPr>
              <a:t>Who, when, against what, which rights, a hash</a:t>
            </a:r>
            <a:endParaRPr lang="en-US" sz="1400" dirty="0"/>
          </a:p>
        </p:txBody>
      </p:sp>
      <p:sp>
        <p:nvSpPr>
          <p:cNvPr id="12" name="Rules 3" descr="">
            <a:extLst>
              <a:ext uri="{C183D7F6-B498-43B3-948B-1728B52AA6E4}">
                <adec:decorative xmlns:adec="http://schemas.microsoft.com/office/drawing/2017/decorative" val="1"/>
              </a:ext>
            </a:extLst>
          </p:cNvPr>
          <p:cNvSpPr/>
          <p:nvPr/>
        </p:nvSpPr>
        <p:spPr>
          <a:xfrm>
            <a:off x="548640" y="3968496"/>
            <a:ext cx="5669280" cy="640080"/>
          </a:xfrm>
          <a:prstGeom prst="roundRect">
            <a:avLst>
              <a:gd name="adj" fmla="val 1142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Rules 3 text"/>
          <p:cNvSpPr txBox="1"/>
          <p:nvPr/>
        </p:nvSpPr>
        <p:spPr>
          <a:xfrm>
            <a:off x="731520" y="3968496"/>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Profiled   </a:t>
            </a:r>
            <a:pPr indent="0" marL="0">
              <a:buNone/>
            </a:pPr>
            <a:r>
              <a:rPr lang="en-US" sz="1400" dirty="0">
                <a:solidFill>
                  <a:schemeClr val="tx2"/>
                </a:solidFill>
              </a:rPr>
              <a:t>No application leaves its data unmeasured</a:t>
            </a:r>
            <a:endParaRPr lang="en-US" sz="1400" dirty="0"/>
          </a:p>
        </p:txBody>
      </p:sp>
      <p:sp>
        <p:nvSpPr>
          <p:cNvPr id="14" name="Finds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5" name="Icon FaDatabase"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7" name="Finds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What a long-lived forest holds</a:t>
            </a:r>
            <a:endParaRPr lang="en-US" sz="1700" dirty="0"/>
          </a:p>
        </p:txBody>
      </p:sp>
      <p:sp>
        <p:nvSpPr>
          <p:cNvPr id="18" name="Find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Trusts no one can fully map</a:t>
            </a:r>
            <a:endParaRPr lang="en-US" sz="1400" dirty="0"/>
          </a:p>
          <a:p>
            <a:pPr marL="342900" indent="-342900">
              <a:spcAft>
                <a:spcPts val="600"/>
              </a:spcAft>
              <a:buSzPct val="100000"/>
              <a:buChar char="•"/>
            </a:pPr>
            <a:r>
              <a:rPr lang="en-US" sz="1350" dirty="0">
                <a:solidFill>
                  <a:schemeClr val="tx2"/>
                </a:solidFill>
              </a:rPr>
              <a:t>Policies whose authors left a decade ago</a:t>
            </a:r>
            <a:endParaRPr lang="en-US" sz="1400" dirty="0"/>
          </a:p>
          <a:p>
            <a:pPr marL="342900" indent="-342900">
              <a:spcAft>
                <a:spcPts val="600"/>
              </a:spcAft>
              <a:buSzPct val="100000"/>
              <a:buChar char="•"/>
            </a:pPr>
            <a:r>
              <a:rPr lang="en-US" sz="1350" dirty="0">
                <a:solidFill>
                  <a:schemeClr val="tx2"/>
                </a:solidFill>
              </a:rPr>
              <a:t>Certificate templates that open escalation paths</a:t>
            </a:r>
            <a:endParaRPr lang="en-US" sz="1400" dirty="0"/>
          </a:p>
          <a:p>
            <a:pPr marL="342900" indent="-342900">
              <a:spcAft>
                <a:spcPts val="600"/>
              </a:spcAft>
              <a:buSzPct val="100000"/>
              <a:buChar char="•"/>
            </a:pPr>
            <a:r>
              <a:rPr lang="en-US" sz="1350" dirty="0">
                <a:solidFill>
                  <a:schemeClr val="tx2"/>
                </a:solidFill>
              </a:rPr>
              <a:t>Servers past support that need a disposition</a:t>
            </a:r>
            <a:endParaRPr lang="en-US" sz="1400" dirty="0"/>
          </a:p>
        </p:txBody>
      </p:sp>
      <p:sp>
        <p:nvSpPr>
          <p:cNvPr id="19"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Commission the read-only assessment, tell security operations first, and accept nothing into planning that lacks provenance</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Steward (clears G0)</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Phase 0, weeks 1 to 4</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(AC-6); Microsoft Learn — AD CS; Defender for Identity posture assessments; Arc Extended Security Updates. Book 01, Chapters 09, 10,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Analyze, plan, deliver: nothing moves without a plan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age 1" descr="">
            <a:extLst>
              <a:ext uri="{C183D7F6-B498-43B3-948B-1728B52AA6E4}">
                <adec:decorative xmlns:adec="http://schemas.microsoft.com/office/drawing/2017/decorative" val="1"/>
              </a:ext>
            </a:extLst>
          </p:cNvPr>
          <p:cNvSpPr/>
          <p:nvPr/>
        </p:nvSpPr>
        <p:spPr>
          <a:xfrm>
            <a:off x="548640" y="1371600"/>
            <a:ext cx="2130552" cy="1188720"/>
          </a:xfrm>
          <a:prstGeom prst="roundRect">
            <a:avLst>
              <a:gd name="adj" fmla="val 615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Stage 1 text"/>
          <p:cNvSpPr txBox="1"/>
          <p:nvPr/>
        </p:nvSpPr>
        <p:spPr>
          <a:xfrm>
            <a:off x="640080" y="1417320"/>
            <a:ext cx="1947672" cy="109728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400" b="1" dirty="0">
                <a:solidFill>
                  <a:srgbClr val="1F2A44"/>
                </a:solidFill>
              </a:rPr>
              <a:t>Analyze</a:t>
            </a:r>
            <a:endParaRPr lang="en-US" sz="1400" dirty="0"/>
          </a:p>
          <a:p>
            <a:pPr indent="0" marL="0">
              <a:buNone/>
            </a:pPr>
            <a:r>
              <a:rPr lang="en-US" sz="1200" dirty="0">
                <a:solidFill>
                  <a:schemeClr val="tx2"/>
                </a:solidFill>
              </a:rPr>
              <a:t>Current versus target; a diff and a blast radius</a:t>
            </a:r>
            <a:endParaRPr lang="en-US" sz="1400" dirty="0"/>
          </a:p>
        </p:txBody>
      </p:sp>
      <p:sp>
        <p:nvSpPr>
          <p:cNvPr id="7" name="Stage 2" descr="">
            <a:extLst>
              <a:ext uri="{C183D7F6-B498-43B3-948B-1728B52AA6E4}">
                <adec:decorative xmlns:adec="http://schemas.microsoft.com/office/drawing/2017/decorative" val="1"/>
              </a:ext>
            </a:extLst>
          </p:cNvPr>
          <p:cNvSpPr/>
          <p:nvPr/>
        </p:nvSpPr>
        <p:spPr>
          <a:xfrm>
            <a:off x="2793492" y="1371600"/>
            <a:ext cx="2130552" cy="1188720"/>
          </a:xfrm>
          <a:prstGeom prst="roundRect">
            <a:avLst>
              <a:gd name="adj" fmla="val 615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8" name="Stage 2 text"/>
          <p:cNvSpPr txBox="1"/>
          <p:nvPr/>
        </p:nvSpPr>
        <p:spPr>
          <a:xfrm>
            <a:off x="2884932" y="1417320"/>
            <a:ext cx="1947672" cy="109728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400" b="1" dirty="0">
                <a:solidFill>
                  <a:srgbClr val="1F2A44"/>
                </a:solidFill>
              </a:rPr>
              <a:t>Plan</a:t>
            </a:r>
            <a:endParaRPr lang="en-US" sz="1400" dirty="0"/>
          </a:p>
          <a:p>
            <a:pPr indent="0" marL="0">
              <a:buNone/>
            </a:pPr>
            <a:r>
              <a:rPr lang="en-US" sz="1200" dirty="0">
                <a:solidFill>
                  <a:schemeClr val="tx2"/>
                </a:solidFill>
              </a:rPr>
              <a:t>Scoped, ordered actions, each with its inverse</a:t>
            </a:r>
            <a:endParaRPr lang="en-US" sz="1400" dirty="0"/>
          </a:p>
        </p:txBody>
      </p:sp>
      <p:sp>
        <p:nvSpPr>
          <p:cNvPr id="9" name="Stage 3" descr="">
            <a:extLst>
              <a:ext uri="{C183D7F6-B498-43B3-948B-1728B52AA6E4}">
                <adec:decorative xmlns:adec="http://schemas.microsoft.com/office/drawing/2017/decorative" val="1"/>
              </a:ext>
            </a:extLst>
          </p:cNvPr>
          <p:cNvSpPr/>
          <p:nvPr/>
        </p:nvSpPr>
        <p:spPr>
          <a:xfrm>
            <a:off x="5038344" y="1371600"/>
            <a:ext cx="2130552" cy="1188720"/>
          </a:xfrm>
          <a:prstGeom prst="roundRect">
            <a:avLst>
              <a:gd name="adj" fmla="val 61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0" name="Stage 3 text"/>
          <p:cNvSpPr txBox="1"/>
          <p:nvPr/>
        </p:nvSpPr>
        <p:spPr>
          <a:xfrm>
            <a:off x="5129784" y="1417320"/>
            <a:ext cx="1947672" cy="109728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400" b="1" dirty="0">
                <a:solidFill>
                  <a:srgbClr val="1F2A44"/>
                </a:solidFill>
              </a:rPr>
              <a:t>Validate</a:t>
            </a:r>
            <a:endParaRPr lang="en-US" sz="1400" dirty="0"/>
          </a:p>
          <a:p>
            <a:pPr indent="0" marL="0">
              <a:buNone/>
            </a:pPr>
            <a:r>
              <a:rPr lang="en-US" sz="1200" dirty="0">
                <a:solidFill>
                  <a:schemeClr val="tx2"/>
                </a:solidFill>
              </a:rPr>
              <a:t>Naming, scope and safety rules, or rejected</a:t>
            </a:r>
            <a:endParaRPr lang="en-US" sz="1400" dirty="0"/>
          </a:p>
        </p:txBody>
      </p:sp>
      <p:sp>
        <p:nvSpPr>
          <p:cNvPr id="11" name="Stage 4" descr="">
            <a:extLst>
              <a:ext uri="{C183D7F6-B498-43B3-948B-1728B52AA6E4}">
                <adec:decorative xmlns:adec="http://schemas.microsoft.com/office/drawing/2017/decorative" val="1"/>
              </a:ext>
            </a:extLst>
          </p:cNvPr>
          <p:cNvSpPr/>
          <p:nvPr/>
        </p:nvSpPr>
        <p:spPr>
          <a:xfrm>
            <a:off x="7283196" y="1371600"/>
            <a:ext cx="2130552" cy="1188720"/>
          </a:xfrm>
          <a:prstGeom prst="roundRect">
            <a:avLst>
              <a:gd name="adj" fmla="val 61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2" name="Stage 4 text"/>
          <p:cNvSpPr txBox="1"/>
          <p:nvPr/>
        </p:nvSpPr>
        <p:spPr>
          <a:xfrm>
            <a:off x="7374636" y="1417320"/>
            <a:ext cx="1947672" cy="109728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400" b="1" dirty="0">
                <a:solidFill>
                  <a:srgbClr val="1F2A44"/>
                </a:solidFill>
              </a:rPr>
              <a:t>Authorize</a:t>
            </a:r>
            <a:endParaRPr lang="en-US" sz="1400" dirty="0"/>
          </a:p>
          <a:p>
            <a:pPr indent="0" marL="0">
              <a:buNone/>
            </a:pPr>
            <a:r>
              <a:rPr lang="en-US" sz="1200" dirty="0">
                <a:solidFill>
                  <a:schemeClr val="tx2"/>
                </a:solidFill>
              </a:rPr>
              <a:t>An approver of record who isn't the author</a:t>
            </a:r>
            <a:endParaRPr lang="en-US" sz="1400" dirty="0"/>
          </a:p>
        </p:txBody>
      </p:sp>
      <p:sp>
        <p:nvSpPr>
          <p:cNvPr id="13" name="Stage 5" descr="">
            <a:extLst>
              <a:ext uri="{C183D7F6-B498-43B3-948B-1728B52AA6E4}">
                <adec:decorative xmlns:adec="http://schemas.microsoft.com/office/drawing/2017/decorative" val="1"/>
              </a:ext>
            </a:extLst>
          </p:cNvPr>
          <p:cNvSpPr/>
          <p:nvPr/>
        </p:nvSpPr>
        <p:spPr>
          <a:xfrm>
            <a:off x="9528048" y="1371600"/>
            <a:ext cx="2130552" cy="1188720"/>
          </a:xfrm>
          <a:prstGeom prst="roundRect">
            <a:avLst>
              <a:gd name="adj" fmla="val 61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Stage 5 text"/>
          <p:cNvSpPr txBox="1"/>
          <p:nvPr/>
        </p:nvSpPr>
        <p:spPr>
          <a:xfrm>
            <a:off x="9619488" y="1417320"/>
            <a:ext cx="1947672" cy="109728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5</a:t>
            </a:r>
            <a:endParaRPr lang="en-US" sz="1400" dirty="0"/>
          </a:p>
          <a:p>
            <a:pPr indent="0" marL="0">
              <a:buNone/>
            </a:pPr>
            <a:r>
              <a:rPr lang="en-US" sz="1400" b="1" dirty="0">
                <a:solidFill>
                  <a:srgbClr val="1F2A44"/>
                </a:solidFill>
              </a:rPr>
              <a:t>Deliver</a:t>
            </a:r>
            <a:endParaRPr lang="en-US" sz="1400" dirty="0"/>
          </a:p>
          <a:p>
            <a:pPr indent="0" marL="0">
              <a:buNone/>
            </a:pPr>
            <a:r>
              <a:rPr lang="en-US" sz="1200" dirty="0">
                <a:solidFill>
                  <a:schemeClr val="tx2"/>
                </a:solidFill>
              </a:rPr>
              <a:t>Separate identity; verify and record each action</a:t>
            </a:r>
            <a:endParaRPr lang="en-US" sz="1400" dirty="0"/>
          </a:p>
        </p:txBody>
      </p:sp>
      <p:sp>
        <p:nvSpPr>
          <p:cNvPr id="15" name="Panel 1" descr="">
            <a:extLst>
              <a:ext uri="{C183D7F6-B498-43B3-948B-1728B52AA6E4}">
                <adec:decorative xmlns:adec="http://schemas.microsoft.com/office/drawing/2017/decorative" val="1"/>
              </a:ext>
            </a:extLst>
          </p:cNvPr>
          <p:cNvSpPr/>
          <p:nvPr/>
        </p:nvSpPr>
        <p:spPr>
          <a:xfrm>
            <a:off x="548640" y="2724912"/>
            <a:ext cx="5486400" cy="1938528"/>
          </a:xfrm>
          <a:prstGeom prst="roundRect">
            <a:avLst>
              <a:gd name="adj" fmla="val 377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ArrowsRotate" descr="">
            <a:extLst>
              <a:ext uri="{C183D7F6-B498-43B3-948B-1728B52AA6E4}">
                <adec:decorative xmlns:adec="http://schemas.microsoft.com/office/drawing/2017/decorative" val="1"/>
              </a:ext>
            </a:extLst>
          </p:cNvPr>
          <p:cNvSpPr/>
          <p:nvPr/>
        </p:nvSpPr>
        <p:spPr>
          <a:xfrm>
            <a:off x="731520" y="2798064"/>
            <a:ext cx="512064" cy="512064"/>
          </a:xfrm>
          <a:prstGeom prst="ellipse">
            <a:avLst/>
          </a:prstGeom>
          <a:solidFill>
            <a:srgbClr val="1F2A44"/>
          </a:solidFill>
          <a:ln w="12700">
            <a:solidFill>
              <a:srgbClr val="1F2A44"/>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20959"/>
            <a:ext cx="266273" cy="266273"/>
          </a:xfrm>
          <a:prstGeom prst="rect">
            <a:avLst/>
          </a:prstGeom>
        </p:spPr>
      </p:pic>
      <p:sp>
        <p:nvSpPr>
          <p:cNvPr id="18" name="Panel head 1"/>
          <p:cNvSpPr txBox="1"/>
          <p:nvPr/>
        </p:nvSpPr>
        <p:spPr>
          <a:xfrm>
            <a:off x="1417320" y="2798064"/>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When delivery fails</a:t>
            </a:r>
            <a:endParaRPr lang="en-US" sz="1700" dirty="0"/>
          </a:p>
        </p:txBody>
      </p:sp>
      <p:sp>
        <p:nvSpPr>
          <p:cNvPr id="19" name="Panel text 1"/>
          <p:cNvSpPr txBox="1"/>
          <p:nvPr/>
        </p:nvSpPr>
        <p:spPr>
          <a:xfrm>
            <a:off x="777240" y="3364992"/>
            <a:ext cx="5120640" cy="1243584"/>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The default is halt; rollback is explicit</a:t>
            </a:r>
            <a:endParaRPr lang="en-US" sz="1400" dirty="0"/>
          </a:p>
          <a:p>
            <a:pPr marL="342900" indent="-342900">
              <a:spcAft>
                <a:spcPts val="200"/>
              </a:spcAft>
              <a:buSzPct val="100000"/>
              <a:buChar char="•"/>
            </a:pPr>
            <a:r>
              <a:rPr lang="en-US" sz="1350" dirty="0">
                <a:solidFill>
                  <a:schemeClr val="tx2"/>
                </a:solidFill>
              </a:rPr>
              <a:t>Every run ends in a signed evidence packet</a:t>
            </a:r>
            <a:endParaRPr lang="en-US" sz="1400" dirty="0"/>
          </a:p>
          <a:p>
            <a:pPr marL="342900" indent="-342900">
              <a:spcAft>
                <a:spcPts val="200"/>
              </a:spcAft>
              <a:buSzPct val="100000"/>
              <a:buChar char="•"/>
            </a:pPr>
            <a:r>
              <a:rPr lang="en-US" sz="1350" dirty="0">
                <a:solidFill>
                  <a:schemeClr val="tx2"/>
                </a:solidFill>
              </a:rPr>
              <a:t>No drift means the next plan has zero actions</a:t>
            </a:r>
            <a:endParaRPr lang="en-US" sz="1400" dirty="0"/>
          </a:p>
        </p:txBody>
      </p:sp>
      <p:sp>
        <p:nvSpPr>
          <p:cNvPr id="20" name="Panel 2" descr="">
            <a:extLst>
              <a:ext uri="{C183D7F6-B498-43B3-948B-1728B52AA6E4}">
                <adec:decorative xmlns:adec="http://schemas.microsoft.com/office/drawing/2017/decorative" val="1"/>
              </a:ext>
            </a:extLst>
          </p:cNvPr>
          <p:cNvSpPr/>
          <p:nvPr/>
        </p:nvSpPr>
        <p:spPr>
          <a:xfrm>
            <a:off x="6172200" y="2724912"/>
            <a:ext cx="5486400" cy="1938528"/>
          </a:xfrm>
          <a:prstGeom prst="roundRect">
            <a:avLst>
              <a:gd name="adj" fmla="val 377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1" name="Icon FaListCheck" descr="">
            <a:extLst>
              <a:ext uri="{C183D7F6-B498-43B3-948B-1728B52AA6E4}">
                <adec:decorative xmlns:adec="http://schemas.microsoft.com/office/drawing/2017/decorative" val="1"/>
              </a:ext>
            </a:extLst>
          </p:cNvPr>
          <p:cNvSpPr/>
          <p:nvPr/>
        </p:nvSpPr>
        <p:spPr>
          <a:xfrm>
            <a:off x="6355080" y="2798064"/>
            <a:ext cx="512064" cy="512064"/>
          </a:xfrm>
          <a:prstGeom prst="ellipse">
            <a:avLst/>
          </a:prstGeom>
          <a:solidFill>
            <a:srgbClr val="0F766E"/>
          </a:solidFill>
          <a:ln w="12700">
            <a:solidFill>
              <a:srgbClr val="0F766E"/>
            </a:solidFill>
            <a:prstDash val="solid"/>
          </a:ln>
        </p:spPr>
      </p:sp>
      <p:pic>
        <p:nvPicPr>
          <p:cNvPr id="2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20959"/>
            <a:ext cx="266273" cy="266273"/>
          </a:xfrm>
          <a:prstGeom prst="rect">
            <a:avLst/>
          </a:prstGeom>
        </p:spPr>
      </p:pic>
      <p:sp>
        <p:nvSpPr>
          <p:cNvPr id="23" name="Panel head 2"/>
          <p:cNvSpPr txBox="1"/>
          <p:nvPr/>
        </p:nvSpPr>
        <p:spPr>
          <a:xfrm>
            <a:off x="7040880" y="2798064"/>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How far automation may go</a:t>
            </a:r>
            <a:endParaRPr lang="en-US" sz="1700" dirty="0"/>
          </a:p>
        </p:txBody>
      </p:sp>
      <p:sp>
        <p:nvSpPr>
          <p:cNvPr id="24" name="Panel text 2"/>
          <p:cNvSpPr txBox="1"/>
          <p:nvPr/>
        </p:nvSpPr>
        <p:spPr>
          <a:xfrm>
            <a:off x="6400800" y="3364992"/>
            <a:ext cx="5120640" cy="1243584"/>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Record, observe, advise, then gated actuation</a:t>
            </a:r>
            <a:endParaRPr lang="en-US" sz="1400" dirty="0"/>
          </a:p>
          <a:p>
            <a:pPr marL="342900" indent="-342900">
              <a:spcAft>
                <a:spcPts val="200"/>
              </a:spcAft>
              <a:buSzPct val="100000"/>
              <a:buChar char="•"/>
            </a:pPr>
            <a:r>
              <a:rPr lang="en-US" sz="1350" dirty="0">
                <a:solidFill>
                  <a:schemeClr val="tx2"/>
                </a:solidFill>
              </a:rPr>
              <a:t>Autonomy only for named low-risk classes</a:t>
            </a:r>
            <a:endParaRPr lang="en-US" sz="1400" dirty="0"/>
          </a:p>
          <a:p>
            <a:pPr marL="342900" indent="-342900">
              <a:spcAft>
                <a:spcPts val="200"/>
              </a:spcAft>
              <a:buSzPct val="100000"/>
              <a:buChar char="•"/>
            </a:pPr>
            <a:r>
              <a:rPr lang="en-US" sz="1350" dirty="0">
                <a:solidFill>
                  <a:schemeClr val="tx2"/>
                </a:solidFill>
              </a:rPr>
              <a:t>Tenant-wide roles and access policy stay gated</a:t>
            </a:r>
            <a:endParaRPr lang="en-US" sz="1400" dirty="0"/>
          </a:p>
        </p:txBody>
      </p:sp>
      <p:sp>
        <p:nvSpPr>
          <p:cNvPr id="25"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6"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28"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Agree the actuation ceiling for each class of change, with high-blast-radius classes gated permanently, as a posture you can sign</a:t>
            </a:r>
            <a:endParaRPr lang="en-US" sz="1400" dirty="0"/>
          </a:p>
        </p:txBody>
      </p:sp>
      <p:sp>
        <p:nvSpPr>
          <p:cNvPr id="29"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Authorizing official</a:t>
            </a:r>
            <a:endParaRPr lang="en-US" sz="1400" dirty="0"/>
          </a:p>
        </p:txBody>
      </p:sp>
      <p:sp>
        <p:nvSpPr>
          <p:cNvPr id="30"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first production delivery</a:t>
            </a:r>
            <a:endParaRPr lang="en-US" sz="140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ZTMM v2.0; OMB M-22-09; OMB M-26-14; Microsoft Learn — Microsoft Graph best practices and throttling. Book 01, Chapters 03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roadmap: seven phases, six gates, five workstreams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hase 1" descr="">
            <a:extLst>
              <a:ext uri="{C183D7F6-B498-43B3-948B-1728B52AA6E4}">
                <adec:decorative xmlns:adec="http://schemas.microsoft.com/office/drawing/2017/decorative" val="1"/>
              </a:ext>
            </a:extLst>
          </p:cNvPr>
          <p:cNvSpPr/>
          <p:nvPr/>
        </p:nvSpPr>
        <p:spPr>
          <a:xfrm>
            <a:off x="548640" y="1371600"/>
            <a:ext cx="1508760" cy="1691640"/>
          </a:xfrm>
          <a:prstGeom prst="roundRect">
            <a:avLst>
              <a:gd name="adj" fmla="val 4848"/>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Phase 1 text"/>
          <p:cNvSpPr txBox="1"/>
          <p:nvPr/>
        </p:nvSpPr>
        <p:spPr>
          <a:xfrm>
            <a:off x="640080" y="1417320"/>
            <a:ext cx="1325880" cy="160020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0</a:t>
            </a:r>
            <a:endParaRPr lang="en-US" sz="1400" dirty="0"/>
          </a:p>
          <a:p>
            <a:pPr indent="0" marL="0">
              <a:buNone/>
            </a:pPr>
            <a:r>
              <a:rPr lang="en-US" sz="1400" b="1" dirty="0">
                <a:solidFill>
                  <a:srgbClr val="1F2A44"/>
                </a:solidFill>
              </a:rPr>
              <a:t>Pre-flight</a:t>
            </a:r>
            <a:endParaRPr lang="en-US" sz="1400" dirty="0"/>
          </a:p>
          <a:p>
            <a:pPr indent="0" marL="0">
              <a:buNone/>
            </a:pPr>
            <a:r>
              <a:rPr lang="en-US" sz="1200" dirty="0">
                <a:solidFill>
                  <a:schemeClr val="tx2"/>
                </a:solidFill>
              </a:rPr>
              <a:t>Weeks 1–4</a:t>
            </a:r>
            <a:endParaRPr lang="en-US" sz="1400" dirty="0"/>
          </a:p>
          <a:p>
            <a:pPr indent="0" marL="0">
              <a:buNone/>
            </a:pPr>
            <a:r>
              <a:rPr lang="en-US" sz="1150" b="1" dirty="0">
                <a:solidFill>
                  <a:srgbClr val="0F766E"/>
                </a:solidFill>
              </a:rPr>
              <a:t>G0 Ready to Plan</a:t>
            </a:r>
            <a:endParaRPr lang="en-US" sz="1400" dirty="0"/>
          </a:p>
        </p:txBody>
      </p:sp>
      <p:sp>
        <p:nvSpPr>
          <p:cNvPr id="7" name="Phase 2" descr="">
            <a:extLst>
              <a:ext uri="{C183D7F6-B498-43B3-948B-1728B52AA6E4}">
                <adec:decorative xmlns:adec="http://schemas.microsoft.com/office/drawing/2017/decorative" val="1"/>
              </a:ext>
            </a:extLst>
          </p:cNvPr>
          <p:cNvSpPr/>
          <p:nvPr/>
        </p:nvSpPr>
        <p:spPr>
          <a:xfrm>
            <a:off x="2148840" y="1371600"/>
            <a:ext cx="1508760" cy="1691640"/>
          </a:xfrm>
          <a:prstGeom prst="roundRect">
            <a:avLst>
              <a:gd name="adj" fmla="val 48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Phase 2 text"/>
          <p:cNvSpPr txBox="1"/>
          <p:nvPr/>
        </p:nvSpPr>
        <p:spPr>
          <a:xfrm>
            <a:off x="2240280" y="1417320"/>
            <a:ext cx="1325880" cy="160020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400" b="1" dirty="0">
                <a:solidFill>
                  <a:srgbClr val="1F2A44"/>
                </a:solidFill>
              </a:rPr>
              <a:t>Foundation</a:t>
            </a:r>
            <a:endParaRPr lang="en-US" sz="1400" dirty="0"/>
          </a:p>
          <a:p>
            <a:pPr indent="0" marL="0">
              <a:buNone/>
            </a:pPr>
            <a:r>
              <a:rPr lang="en-US" sz="1200" dirty="0">
                <a:solidFill>
                  <a:schemeClr val="tx2"/>
                </a:solidFill>
              </a:rPr>
              <a:t>Weeks 5–8</a:t>
            </a:r>
            <a:endParaRPr lang="en-US" sz="1400" dirty="0"/>
          </a:p>
          <a:p>
            <a:pPr indent="0" marL="0">
              <a:buNone/>
            </a:pPr>
            <a:r>
              <a:rPr lang="en-US" sz="1150" b="1" dirty="0">
                <a:solidFill>
                  <a:srgbClr val="0F766E"/>
                </a:solidFill>
              </a:rPr>
              <a:t>G1 Foundation Complete</a:t>
            </a:r>
            <a:endParaRPr lang="en-US" sz="1400" dirty="0"/>
          </a:p>
        </p:txBody>
      </p:sp>
      <p:sp>
        <p:nvSpPr>
          <p:cNvPr id="9" name="Phase 3" descr="">
            <a:extLst>
              <a:ext uri="{C183D7F6-B498-43B3-948B-1728B52AA6E4}">
                <adec:decorative xmlns:adec="http://schemas.microsoft.com/office/drawing/2017/decorative" val="1"/>
              </a:ext>
            </a:extLst>
          </p:cNvPr>
          <p:cNvSpPr/>
          <p:nvPr/>
        </p:nvSpPr>
        <p:spPr>
          <a:xfrm>
            <a:off x="3749040" y="1371600"/>
            <a:ext cx="1508760" cy="1691640"/>
          </a:xfrm>
          <a:prstGeom prst="roundRect">
            <a:avLst>
              <a:gd name="adj" fmla="val 48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Phase 3 text"/>
          <p:cNvSpPr txBox="1"/>
          <p:nvPr/>
        </p:nvSpPr>
        <p:spPr>
          <a:xfrm>
            <a:off x="3840480" y="1417320"/>
            <a:ext cx="1325880" cy="160020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400" b="1" dirty="0">
                <a:solidFill>
                  <a:srgbClr val="1F2A44"/>
                </a:solidFill>
              </a:rPr>
              <a:t>Pilot division</a:t>
            </a:r>
            <a:endParaRPr lang="en-US" sz="1400" dirty="0"/>
          </a:p>
          <a:p>
            <a:pPr indent="0" marL="0">
              <a:buNone/>
            </a:pPr>
            <a:r>
              <a:rPr lang="en-US" sz="1200" dirty="0">
                <a:solidFill>
                  <a:schemeClr val="tx2"/>
                </a:solidFill>
              </a:rPr>
              <a:t>Weeks 9–16</a:t>
            </a:r>
            <a:endParaRPr lang="en-US" sz="1400" dirty="0"/>
          </a:p>
          <a:p>
            <a:pPr indent="0" marL="0">
              <a:buNone/>
            </a:pPr>
            <a:r>
              <a:rPr lang="en-US" sz="1150" b="1" dirty="0">
                <a:solidFill>
                  <a:srgbClr val="0F766E"/>
                </a:solidFill>
              </a:rPr>
              <a:t>G2 Pilot Clean</a:t>
            </a:r>
            <a:endParaRPr lang="en-US" sz="1400" dirty="0"/>
          </a:p>
        </p:txBody>
      </p:sp>
      <p:sp>
        <p:nvSpPr>
          <p:cNvPr id="11" name="Phase 4" descr="">
            <a:extLst>
              <a:ext uri="{C183D7F6-B498-43B3-948B-1728B52AA6E4}">
                <adec:decorative xmlns:adec="http://schemas.microsoft.com/office/drawing/2017/decorative" val="1"/>
              </a:ext>
            </a:extLst>
          </p:cNvPr>
          <p:cNvSpPr/>
          <p:nvPr/>
        </p:nvSpPr>
        <p:spPr>
          <a:xfrm>
            <a:off x="5349240" y="1371600"/>
            <a:ext cx="1508760" cy="1691640"/>
          </a:xfrm>
          <a:prstGeom prst="roundRect">
            <a:avLst>
              <a:gd name="adj" fmla="val 48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Phase 4 text"/>
          <p:cNvSpPr txBox="1"/>
          <p:nvPr/>
        </p:nvSpPr>
        <p:spPr>
          <a:xfrm>
            <a:off x="5440680" y="1417320"/>
            <a:ext cx="1325880" cy="160020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400" b="1" dirty="0">
                <a:solidFill>
                  <a:srgbClr val="1F2A44"/>
                </a:solidFill>
              </a:rPr>
              <a:t>General rollout</a:t>
            </a:r>
            <a:endParaRPr lang="en-US" sz="1400" dirty="0"/>
          </a:p>
          <a:p>
            <a:pPr indent="0" marL="0">
              <a:buNone/>
            </a:pPr>
            <a:r>
              <a:rPr lang="en-US" sz="1200" dirty="0">
                <a:solidFill>
                  <a:schemeClr val="tx2"/>
                </a:solidFill>
              </a:rPr>
              <a:t>Weeks 17–36</a:t>
            </a:r>
            <a:endParaRPr lang="en-US" sz="1400" dirty="0"/>
          </a:p>
          <a:p>
            <a:pPr indent="0" marL="0">
              <a:buNone/>
            </a:pPr>
            <a:r>
              <a:rPr lang="en-US" sz="1150" b="1" dirty="0">
                <a:solidFill>
                  <a:srgbClr val="0F766E"/>
                </a:solidFill>
              </a:rPr>
              <a:t>G3 Rollout Complete</a:t>
            </a:r>
            <a:endParaRPr lang="en-US" sz="1400" dirty="0"/>
          </a:p>
        </p:txBody>
      </p:sp>
      <p:sp>
        <p:nvSpPr>
          <p:cNvPr id="13" name="Phase 5" descr="">
            <a:extLst>
              <a:ext uri="{C183D7F6-B498-43B3-948B-1728B52AA6E4}">
                <adec:decorative xmlns:adec="http://schemas.microsoft.com/office/drawing/2017/decorative" val="1"/>
              </a:ext>
            </a:extLst>
          </p:cNvPr>
          <p:cNvSpPr/>
          <p:nvPr/>
        </p:nvSpPr>
        <p:spPr>
          <a:xfrm>
            <a:off x="6949440" y="1371600"/>
            <a:ext cx="1508760" cy="1691640"/>
          </a:xfrm>
          <a:prstGeom prst="roundRect">
            <a:avLst>
              <a:gd name="adj" fmla="val 484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Phase 5 text"/>
          <p:cNvSpPr txBox="1"/>
          <p:nvPr/>
        </p:nvSpPr>
        <p:spPr>
          <a:xfrm>
            <a:off x="7040880" y="1417320"/>
            <a:ext cx="1325880" cy="160020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400" b="1" dirty="0">
                <a:solidFill>
                  <a:srgbClr val="1F2A44"/>
                </a:solidFill>
              </a:rPr>
              <a:t>Legacy retirement</a:t>
            </a:r>
            <a:endParaRPr lang="en-US" sz="1400" dirty="0"/>
          </a:p>
          <a:p>
            <a:pPr indent="0" marL="0">
              <a:buNone/>
            </a:pPr>
            <a:r>
              <a:rPr lang="en-US" sz="1200" dirty="0">
                <a:solidFill>
                  <a:schemeClr val="tx2"/>
                </a:solidFill>
              </a:rPr>
              <a:t>Weeks 37–44</a:t>
            </a:r>
            <a:endParaRPr lang="en-US" sz="1400" dirty="0"/>
          </a:p>
          <a:p>
            <a:pPr indent="0" marL="0">
              <a:buNone/>
            </a:pPr>
            <a:r>
              <a:rPr lang="en-US" sz="1150" b="1" dirty="0">
                <a:solidFill>
                  <a:srgbClr val="0F766E"/>
                </a:solidFill>
              </a:rPr>
              <a:t>G4 Legacy Quiet</a:t>
            </a:r>
            <a:endParaRPr lang="en-US" sz="1400" dirty="0"/>
          </a:p>
        </p:txBody>
      </p:sp>
      <p:sp>
        <p:nvSpPr>
          <p:cNvPr id="15" name="Phase 6" descr="">
            <a:extLst>
              <a:ext uri="{C183D7F6-B498-43B3-948B-1728B52AA6E4}">
                <adec:decorative xmlns:adec="http://schemas.microsoft.com/office/drawing/2017/decorative" val="1"/>
              </a:ext>
            </a:extLst>
          </p:cNvPr>
          <p:cNvSpPr/>
          <p:nvPr/>
        </p:nvSpPr>
        <p:spPr>
          <a:xfrm>
            <a:off x="8549640" y="1371600"/>
            <a:ext cx="1508760" cy="1691640"/>
          </a:xfrm>
          <a:prstGeom prst="roundRect">
            <a:avLst>
              <a:gd name="adj" fmla="val 4848"/>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6" name="Phase 6 text"/>
          <p:cNvSpPr txBox="1"/>
          <p:nvPr/>
        </p:nvSpPr>
        <p:spPr>
          <a:xfrm>
            <a:off x="8641080" y="1417320"/>
            <a:ext cx="1325880" cy="160020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5</a:t>
            </a:r>
            <a:endParaRPr lang="en-US" sz="1400" dirty="0"/>
          </a:p>
          <a:p>
            <a:pPr indent="0" marL="0">
              <a:buNone/>
            </a:pPr>
            <a:r>
              <a:rPr lang="en-US" sz="1400" b="1" dirty="0">
                <a:solidFill>
                  <a:srgbClr val="1F2A44"/>
                </a:solidFill>
              </a:rPr>
              <a:t>AD DS retirement</a:t>
            </a:r>
            <a:endParaRPr lang="en-US" sz="1400" dirty="0"/>
          </a:p>
          <a:p>
            <a:pPr indent="0" marL="0">
              <a:buNone/>
            </a:pPr>
            <a:r>
              <a:rPr lang="en-US" sz="1200" dirty="0">
                <a:solidFill>
                  <a:schemeClr val="tx2"/>
                </a:solidFill>
              </a:rPr>
              <a:t>Weeks 45–48</a:t>
            </a:r>
            <a:endParaRPr lang="en-US" sz="1400" dirty="0"/>
          </a:p>
          <a:p>
            <a:pPr indent="0" marL="0">
              <a:buNone/>
            </a:pPr>
            <a:r>
              <a:rPr lang="en-US" sz="1150" b="1" dirty="0">
                <a:solidFill>
                  <a:srgbClr val="0F766E"/>
                </a:solidFill>
              </a:rPr>
              <a:t>G5 AD Retired</a:t>
            </a:r>
            <a:endParaRPr lang="en-US" sz="1400" dirty="0"/>
          </a:p>
        </p:txBody>
      </p:sp>
      <p:sp>
        <p:nvSpPr>
          <p:cNvPr id="17" name="Phase 7" descr="">
            <a:extLst>
              <a:ext uri="{C183D7F6-B498-43B3-948B-1728B52AA6E4}">
                <adec:decorative xmlns:adec="http://schemas.microsoft.com/office/drawing/2017/decorative" val="1"/>
              </a:ext>
            </a:extLst>
          </p:cNvPr>
          <p:cNvSpPr/>
          <p:nvPr/>
        </p:nvSpPr>
        <p:spPr>
          <a:xfrm>
            <a:off x="10149840" y="1371600"/>
            <a:ext cx="1508760" cy="1691640"/>
          </a:xfrm>
          <a:prstGeom prst="roundRect">
            <a:avLst>
              <a:gd name="adj" fmla="val 484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8" name="Phase 7 text"/>
          <p:cNvSpPr txBox="1"/>
          <p:nvPr/>
        </p:nvSpPr>
        <p:spPr>
          <a:xfrm>
            <a:off x="10241280" y="1417320"/>
            <a:ext cx="1325880" cy="160020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6</a:t>
            </a:r>
            <a:endParaRPr lang="en-US" sz="1400" dirty="0"/>
          </a:p>
          <a:p>
            <a:pPr indent="0" marL="0">
              <a:buNone/>
            </a:pPr>
            <a:r>
              <a:rPr lang="en-US" sz="1400" b="1" dirty="0">
                <a:solidFill>
                  <a:srgbClr val="1F2A44"/>
                </a:solidFill>
              </a:rPr>
              <a:t>Steady state</a:t>
            </a:r>
            <a:endParaRPr lang="en-US" sz="1400" dirty="0"/>
          </a:p>
          <a:p>
            <a:pPr indent="0" marL="0">
              <a:buNone/>
            </a:pPr>
            <a:r>
              <a:rPr lang="en-US" sz="1200" dirty="0">
                <a:solidFill>
                  <a:schemeClr val="tx2"/>
                </a:solidFill>
              </a:rPr>
              <a:t>Week 49 on</a:t>
            </a:r>
            <a:endParaRPr lang="en-US" sz="1400" dirty="0"/>
          </a:p>
          <a:p>
            <a:pPr indent="0" marL="0">
              <a:buNone/>
            </a:pPr>
            <a:r>
              <a:rPr lang="en-US" sz="1150" b="1" dirty="0">
                <a:solidFill>
                  <a:srgbClr val="0F766E"/>
                </a:solidFill>
              </a:rPr>
              <a:t>Assess on a cadence</a:t>
            </a:r>
            <a:endParaRPr lang="en-US" sz="1400" dirty="0"/>
          </a:p>
        </p:txBody>
      </p:sp>
      <p:sp>
        <p:nvSpPr>
          <p:cNvPr id="19" name="Panel 1" descr="">
            <a:extLst>
              <a:ext uri="{C183D7F6-B498-43B3-948B-1728B52AA6E4}">
                <adec:decorative xmlns:adec="http://schemas.microsoft.com/office/drawing/2017/decorative" val="1"/>
              </a:ext>
            </a:extLst>
          </p:cNvPr>
          <p:cNvSpPr/>
          <p:nvPr/>
        </p:nvSpPr>
        <p:spPr>
          <a:xfrm>
            <a:off x="548640" y="3200400"/>
            <a:ext cx="5486400"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0" name="Icon FaPeopleArrows" descr="">
            <a:extLst>
              <a:ext uri="{C183D7F6-B498-43B3-948B-1728B52AA6E4}">
                <adec:decorative xmlns:adec="http://schemas.microsoft.com/office/drawing/2017/decorative" val="1"/>
              </a:ext>
            </a:extLst>
          </p:cNvPr>
          <p:cNvSpPr/>
          <p:nvPr/>
        </p:nvSpPr>
        <p:spPr>
          <a:xfrm>
            <a:off x="731520" y="3273552"/>
            <a:ext cx="512064" cy="512064"/>
          </a:xfrm>
          <a:prstGeom prst="ellipse">
            <a:avLst/>
          </a:prstGeom>
          <a:solidFill>
            <a:srgbClr val="1F2A44"/>
          </a:solidFill>
          <a:ln w="12700">
            <a:solidFill>
              <a:srgbClr val="1F2A44"/>
            </a:solidFill>
            <a:prstDash val="solid"/>
          </a:ln>
        </p:spPr>
      </p:sp>
      <p:pic>
        <p:nvPicPr>
          <p:cNvPr id="2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3396447"/>
            <a:ext cx="266273" cy="266273"/>
          </a:xfrm>
          <a:prstGeom prst="rect">
            <a:avLst/>
          </a:prstGeom>
        </p:spPr>
      </p:pic>
      <p:sp>
        <p:nvSpPr>
          <p:cNvPr id="22" name="Panel head 1"/>
          <p:cNvSpPr txBox="1"/>
          <p:nvPr/>
        </p:nvSpPr>
        <p:spPr>
          <a:xfrm>
            <a:off x="1417320" y="327355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Parallel, not sequential</a:t>
            </a:r>
            <a:endParaRPr lang="en-US" sz="1700" dirty="0"/>
          </a:p>
        </p:txBody>
      </p:sp>
      <p:sp>
        <p:nvSpPr>
          <p:cNvPr id="23" name="Panel text 1"/>
          <p:cNvSpPr txBox="1"/>
          <p:nvPr/>
        </p:nvSpPr>
        <p:spPr>
          <a:xfrm>
            <a:off x="777240" y="3840480"/>
            <a:ext cx="5120640" cy="768096"/>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Identity, policy, services, compute, access</a:t>
            </a:r>
            <a:endParaRPr lang="en-US" sz="1400" dirty="0"/>
          </a:p>
          <a:p>
            <a:pPr marL="342900" indent="-342900">
              <a:spcAft>
                <a:spcPts val="200"/>
              </a:spcAft>
              <a:buSzPct val="100000"/>
              <a:buChar char="•"/>
            </a:pPr>
            <a:r>
              <a:rPr lang="en-US" sz="1350" dirty="0">
                <a:solidFill>
                  <a:schemeClr val="tx2"/>
                </a:solidFill>
              </a:rPr>
              <a:t>Each workstream has a named lead</a:t>
            </a:r>
            <a:endParaRPr lang="en-US" sz="1400" dirty="0"/>
          </a:p>
        </p:txBody>
      </p:sp>
      <p:sp>
        <p:nvSpPr>
          <p:cNvPr id="24" name="Panel 2" descr="">
            <a:extLst>
              <a:ext uri="{C183D7F6-B498-43B3-948B-1728B52AA6E4}">
                <adec:decorative xmlns:adec="http://schemas.microsoft.com/office/drawing/2017/decorative" val="1"/>
              </a:ext>
            </a:extLst>
          </p:cNvPr>
          <p:cNvSpPr/>
          <p:nvPr/>
        </p:nvSpPr>
        <p:spPr>
          <a:xfrm>
            <a:off x="6172200" y="3200400"/>
            <a:ext cx="5486400" cy="1463040"/>
          </a:xfrm>
          <a:prstGeom prst="roundRect">
            <a:avLst>
              <a:gd name="adj" fmla="val 5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5" name="Icon FaDoorClosed" descr="">
            <a:extLst>
              <a:ext uri="{C183D7F6-B498-43B3-948B-1728B52AA6E4}">
                <adec:decorative xmlns:adec="http://schemas.microsoft.com/office/drawing/2017/decorative" val="1"/>
              </a:ext>
            </a:extLst>
          </p:cNvPr>
          <p:cNvSpPr/>
          <p:nvPr/>
        </p:nvSpPr>
        <p:spPr>
          <a:xfrm>
            <a:off x="6355080" y="3273552"/>
            <a:ext cx="512064" cy="512064"/>
          </a:xfrm>
          <a:prstGeom prst="ellipse">
            <a:avLst/>
          </a:prstGeom>
          <a:solidFill>
            <a:srgbClr val="0F766E"/>
          </a:solidFill>
          <a:ln w="12700">
            <a:solidFill>
              <a:srgbClr val="0F766E"/>
            </a:solidFill>
            <a:prstDash val="solid"/>
          </a:ln>
        </p:spPr>
      </p:sp>
      <p:pic>
        <p:nvPicPr>
          <p:cNvPr id="26"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3396447"/>
            <a:ext cx="266273" cy="266273"/>
          </a:xfrm>
          <a:prstGeom prst="rect">
            <a:avLst/>
          </a:prstGeom>
        </p:spPr>
      </p:pic>
      <p:sp>
        <p:nvSpPr>
          <p:cNvPr id="27" name="Panel head 2"/>
          <p:cNvSpPr txBox="1"/>
          <p:nvPr/>
        </p:nvSpPr>
        <p:spPr>
          <a:xfrm>
            <a:off x="7040880" y="3273552"/>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Gated, not open-ended</a:t>
            </a:r>
            <a:endParaRPr lang="en-US" sz="1700" dirty="0"/>
          </a:p>
        </p:txBody>
      </p:sp>
      <p:sp>
        <p:nvSpPr>
          <p:cNvPr id="28" name="Panel text 2"/>
          <p:cNvSpPr txBox="1"/>
          <p:nvPr/>
        </p:nvSpPr>
        <p:spPr>
          <a:xfrm>
            <a:off x="6400800" y="3840480"/>
            <a:ext cx="5120640" cy="768096"/>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A phase opens only when the last gate is green</a:t>
            </a:r>
            <a:endParaRPr lang="en-US" sz="1400" dirty="0"/>
          </a:p>
          <a:p>
            <a:pPr marL="342900" indent="-342900">
              <a:spcAft>
                <a:spcPts val="200"/>
              </a:spcAft>
              <a:buSzPct val="100000"/>
              <a:buChar char="•"/>
            </a:pPr>
            <a:r>
              <a:rPr lang="en-US" sz="1350" dirty="0">
                <a:solidFill>
                  <a:schemeClr val="tx2"/>
                </a:solidFill>
              </a:rPr>
              <a:t>Weeks are illustrative; large estates run years</a:t>
            </a:r>
            <a:endParaRPr lang="en-US" sz="1400" dirty="0"/>
          </a:p>
        </p:txBody>
      </p:sp>
      <p:sp>
        <p:nvSpPr>
          <p:cNvPr id="29"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30"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31"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32"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Put the gate dates on the sponsor's calendar and the end date of every exception on the authorizing official's</a:t>
            </a:r>
            <a:endParaRPr lang="en-US" sz="1400" dirty="0"/>
          </a:p>
        </p:txBody>
      </p:sp>
      <p:sp>
        <p:nvSpPr>
          <p:cNvPr id="33"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 authorizing official</a:t>
            </a:r>
            <a:endParaRPr lang="en-US" sz="1400" dirty="0"/>
          </a:p>
        </p:txBody>
      </p:sp>
      <p:sp>
        <p:nvSpPr>
          <p:cNvPr id="34"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Gate G0 dated in Phase 0</a:t>
            </a:r>
            <a:endParaRPr lang="en-US" sz="1400" dirty="0"/>
          </a:p>
        </p:txBody>
      </p:sp>
      <p:sp>
        <p:nvSpPr>
          <p:cNvPr id="3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800-207; Microsoft Learn — block legacy authentication; emergency access accounts; CBA for M-22-09. Book 01, Chapters 09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Gates go green on data, and rollback has an end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834640"/>
                <a:gridCol w="347472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Who decides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4864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G0 Ready to Plan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Steward (backup: sponsor)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G1 Foundation Complete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Steward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G2 Pilot Clean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Steward and sponsor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G3 Rollout Complete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Sponsor and steering committee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G4 Legacy Quiet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Steward (backup: sponsor)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G5 AD Retired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Sponsor and CIO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riggers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Triggers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Rollback triggers are thresholds</a:t>
            </a:r>
            <a:endParaRPr lang="en-US" sz="1700" dirty="0"/>
          </a:p>
        </p:txBody>
      </p:sp>
      <p:sp>
        <p:nvSpPr>
          <p:cNvPr id="10" name="Trigger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Drift over threshold for a day: halt the phase</a:t>
            </a:r>
            <a:endParaRPr lang="en-US" sz="1400" dirty="0"/>
          </a:p>
          <a:p>
            <a:pPr marL="342900" indent="-342900">
              <a:spcAft>
                <a:spcPts val="600"/>
              </a:spcAft>
              <a:buSzPct val="100000"/>
              <a:buChar char="•"/>
            </a:pPr>
            <a:r>
              <a:rPr lang="en-US" sz="1350" dirty="0">
                <a:solidFill>
                  <a:schemeClr val="tx2"/>
                </a:solidFill>
              </a:rPr>
              <a:t>Access policy blocking real sign-ins: revert</a:t>
            </a:r>
            <a:endParaRPr lang="en-US" sz="1400" dirty="0"/>
          </a:p>
          <a:p>
            <a:pPr marL="342900" indent="-342900">
              <a:spcAft>
                <a:spcPts val="600"/>
              </a:spcAft>
              <a:buSzPct val="100000"/>
              <a:buChar char="•"/>
            </a:pPr>
            <a:r>
              <a:rPr lang="en-US" sz="1350" dirty="0">
                <a:solidFill>
                  <a:schemeClr val="tx2"/>
                </a:solidFill>
              </a:rPr>
              <a:t>Drift detection silent: halt all phase work</a:t>
            </a:r>
            <a:endParaRPr lang="en-US" sz="1400" dirty="0"/>
          </a:p>
          <a:p>
            <a:pPr marL="342900" indent="-342900">
              <a:spcAft>
                <a:spcPts val="600"/>
              </a:spcAft>
              <a:buSzPct val="100000"/>
              <a:buChar char="•"/>
            </a:pPr>
            <a:r>
              <a:rPr lang="en-US" sz="1350" dirty="0">
                <a:solidFill>
                  <a:schemeClr val="tx2"/>
                </a:solidFill>
              </a:rPr>
              <a:t>Backups age out at 180 days; the last running DC is the real rollback point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Retire AD DS only on evidence: no live production dependency on AD authentication, or a documented Kerberos island with an end date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Gate G5 (illustratively week 48)</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Demote domain controllers and domains; Back up and restore Active Directory domain controllers (tombstone lifetime). Book 01, Chapters 09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clocks: FedRAMP's dates don't set the agency's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locks card 1"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Cloud" descr="">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44823"/>
            <a:ext cx="294803" cy="294803"/>
          </a:xfrm>
          <a:prstGeom prst="rect">
            <a:avLst/>
          </a:prstGeom>
        </p:spPr>
      </p:pic>
      <p:sp>
        <p:nvSpPr>
          <p:cNvPr id="8" name="Clocks head 1"/>
          <p:cNvSpPr txBox="1"/>
          <p:nvPr/>
        </p:nvSpPr>
        <p:spPr>
          <a:xfrm>
            <a:off x="1463040" y="1508760"/>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FedRAMP's clock</a:t>
            </a:r>
            <a:endParaRPr lang="en-US" sz="1700" dirty="0"/>
          </a:p>
        </p:txBody>
      </p:sp>
      <p:sp>
        <p:nvSpPr>
          <p:cNvPr id="9" name="Clocks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2026 rules mandatory January 1, 2027</a:t>
            </a:r>
            <a:endParaRPr lang="en-US" sz="1400" dirty="0"/>
          </a:p>
          <a:p>
            <a:pPr marL="342900" indent="-342900">
              <a:spcAft>
                <a:spcPts val="600"/>
              </a:spcAft>
              <a:buSzPct val="100000"/>
              <a:buChar char="•"/>
            </a:pPr>
            <a:r>
              <a:rPr lang="en-US" sz="1350" dirty="0">
                <a:solidFill>
                  <a:schemeClr val="tx2"/>
                </a:solidFill>
              </a:rPr>
              <a:t>New Rev5 applications end June 11, 2027</a:t>
            </a:r>
            <a:endParaRPr lang="en-US" sz="1400" dirty="0"/>
          </a:p>
          <a:p>
            <a:pPr marL="342900" indent="-342900">
              <a:spcAft>
                <a:spcPts val="600"/>
              </a:spcAft>
              <a:buSzPct val="100000"/>
              <a:buChar char="•"/>
            </a:pPr>
            <a:r>
              <a:rPr lang="en-US" sz="1350" dirty="0">
                <a:solidFill>
                  <a:schemeClr val="tx2"/>
                </a:solidFill>
              </a:rPr>
              <a:t>Certifies cloud services, not your estate</a:t>
            </a:r>
            <a:endParaRPr lang="en-US" sz="1400" dirty="0"/>
          </a:p>
        </p:txBody>
      </p:sp>
      <p:sp>
        <p:nvSpPr>
          <p:cNvPr id="10" name="Clocks card 2"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1" name="Icon FaLandmark" descr="">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B91C1C"/>
          </a:solidFill>
          <a:ln w="12700">
            <a:solidFill>
              <a:srgbClr val="B91C1C"/>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44823"/>
            <a:ext cx="294803" cy="294803"/>
          </a:xfrm>
          <a:prstGeom prst="rect">
            <a:avLst/>
          </a:prstGeom>
        </p:spPr>
      </p:pic>
      <p:sp>
        <p:nvSpPr>
          <p:cNvPr id="13" name="Clocks head 2"/>
          <p:cNvSpPr txBox="1"/>
          <p:nvPr/>
        </p:nvSpPr>
        <p:spPr>
          <a:xfrm>
            <a:off x="5212080" y="1508760"/>
            <a:ext cx="2560320" cy="566928"/>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The agency's own</a:t>
            </a:r>
            <a:endParaRPr lang="en-US" sz="1700" dirty="0"/>
          </a:p>
        </p:txBody>
      </p:sp>
      <p:sp>
        <p:nvSpPr>
          <p:cNvPr id="14" name="Clocks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M-26-14's logging plan and maturity levels</a:t>
            </a:r>
            <a:endParaRPr lang="en-US" sz="1400" dirty="0"/>
          </a:p>
          <a:p>
            <a:pPr marL="342900" indent="-342900">
              <a:spcAft>
                <a:spcPts val="600"/>
              </a:spcAft>
              <a:buSzPct val="100000"/>
              <a:buChar char="•"/>
            </a:pPr>
            <a:r>
              <a:rPr lang="en-US" sz="1350" dirty="0">
                <a:solidFill>
                  <a:schemeClr val="tx2"/>
                </a:solidFill>
              </a:rPr>
              <a:t>BOD 25-01's secure baselines</a:t>
            </a:r>
            <a:endParaRPr lang="en-US" sz="1400" dirty="0"/>
          </a:p>
          <a:p>
            <a:pPr marL="342900" indent="-342900">
              <a:spcAft>
                <a:spcPts val="600"/>
              </a:spcAft>
              <a:buSzPct val="100000"/>
              <a:buChar char="•"/>
            </a:pPr>
            <a:r>
              <a:rPr lang="en-US" sz="1350" dirty="0">
                <a:solidFill>
                  <a:schemeClr val="tx2"/>
                </a:solidFill>
              </a:rPr>
              <a:t>Each agency authorizes its own systems</a:t>
            </a:r>
            <a:endParaRPr lang="en-US" sz="1400" dirty="0"/>
          </a:p>
        </p:txBody>
      </p:sp>
      <p:sp>
        <p:nvSpPr>
          <p:cNvPr id="15" name="Clocks card 3"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Server" descr="">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44823"/>
            <a:ext cx="294803" cy="294803"/>
          </a:xfrm>
          <a:prstGeom prst="rect">
            <a:avLst/>
          </a:prstGeom>
        </p:spPr>
      </p:pic>
      <p:sp>
        <p:nvSpPr>
          <p:cNvPr id="18" name="Clocks head 3"/>
          <p:cNvSpPr txBox="1"/>
          <p:nvPr/>
        </p:nvSpPr>
        <p:spPr>
          <a:xfrm>
            <a:off x="8961120" y="1508760"/>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End of support</a:t>
            </a:r>
            <a:endParaRPr lang="en-US" sz="1700" dirty="0"/>
          </a:p>
        </p:txBody>
      </p:sp>
      <p:sp>
        <p:nvSpPr>
          <p:cNvPr id="19" name="Clocks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Windows 10: October 14, 2025</a:t>
            </a:r>
            <a:endParaRPr lang="en-US" sz="1400" dirty="0"/>
          </a:p>
          <a:p>
            <a:pPr marL="342900" indent="-342900">
              <a:spcAft>
                <a:spcPts val="600"/>
              </a:spcAft>
              <a:buSzPct val="100000"/>
              <a:buChar char="•"/>
            </a:pPr>
            <a:r>
              <a:rPr lang="en-US" sz="1350" dirty="0">
                <a:solidFill>
                  <a:schemeClr val="tx2"/>
                </a:solidFill>
              </a:rPr>
              <a:t>Server 2012 and 2012 R2 updates: October 13, 2026</a:t>
            </a:r>
            <a:endParaRPr lang="en-US" sz="1400" dirty="0"/>
          </a:p>
          <a:p>
            <a:pPr marL="342900" indent="-342900">
              <a:spcAft>
                <a:spcPts val="600"/>
              </a:spcAft>
              <a:buSzPct val="100000"/>
              <a:buChar char="•"/>
            </a:pPr>
            <a:r>
              <a:rPr lang="en-US" sz="1350" dirty="0">
                <a:solidFill>
                  <a:schemeClr val="tx2"/>
                </a:solidFill>
              </a:rPr>
              <a:t>Windows Server 2016: January 12, 2027</a:t>
            </a:r>
            <a:endParaRPr lang="en-US" sz="1400" dirty="0"/>
          </a:p>
        </p:txBody>
      </p:sp>
      <p:sp>
        <p:nvSpPr>
          <p:cNvPr id="20"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Sequence the program against the agency's own deadlines and end-of-support dates, not against FedRAMP's 2027 date</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 and CIO</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Now: Server 2016 ends January 12, 2027</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Consolidated Rules for 2026 (Important Dates; Using a Certified Cloud Service); OMB M-26-14; CISA BOD 25-01; OMB M-22-09; Microsoft lifecycle. Book 01, Chapter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owners, and where to start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6766560"/>
                <a:gridCol w="2331720"/>
                <a:gridCol w="2011680"/>
              </a:tblGrid>
              <a:tr h="34747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Decision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7490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Name the sponsor, steward and AO; fill the matrix, one decider per row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CIO and leadership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Before Phase 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Scope all eleven categories, with DNS, DHCP and IPAM in the core program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Sponsor and CIO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When scope is set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Stand up the platform host: one authoritative writer, Tier 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Steward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Phase 0 (G0)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Commission the read-only assessment, with provenance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Steward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Phase 0 (G0)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Set the control requirements: access baseline, MFA strength, logging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CISO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Phase 1 (G1)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Define the worker attributes; the HR feed is their only writer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HR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Before rollout (G1)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Agree the actuation ceiling and every exception's end 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Authorizing official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Before production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Settle retention of AD-era records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Records officer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Before decommission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Retire AD DS on evidence, or a dated Kerberos island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Sponsor and CIO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Gate G5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 line"/>
          <p:cNvSpPr txBox="1"/>
          <p:nvPr/>
        </p:nvSpPr>
        <p:spPr>
          <a:xfrm>
            <a:off x="548640" y="5257800"/>
            <a:ext cx="11109960" cy="548640"/>
          </a:xfrm>
          <a:prstGeom prst="rect">
            <a:avLst/>
          </a:prstGeom>
          <a:noFill/>
          <a:ln/>
        </p:spPr>
        <p:txBody>
          <a:bodyPr wrap="square" lIns="0" tIns="0" rIns="0" bIns="0" rtlCol="0" anchor="ctr"/>
          <a:lstStyle/>
          <a:p>
            <a:pPr algn="ctr" indent="0" marL="0">
              <a:buNone/>
            </a:pPr>
            <a:r>
              <a:rPr lang="en-US" sz="1600" b="1" dirty="0">
                <a:solidFill>
                  <a:srgbClr val="B45309"/>
                </a:solidFill>
              </a:rPr>
              <a:t>No vendor decision on day one.  </a:t>
            </a:r>
            <a:pPr algn="ctr" indent="0" marL="0">
              <a:buNone/>
            </a:pPr>
            <a:r>
              <a:rPr lang="en-US" sz="1600" dirty="0">
                <a:solidFill>
                  <a:schemeClr val="tx2"/>
                </a:solidFill>
              </a:rPr>
              <a:t>Start with an inventory, an owner and a date.</a:t>
            </a:r>
            <a:endParaRPr lang="en-US" sz="16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as on each slide. Book 01, Chapters 09 (What to do next), 10, 11 and 12 (Where to start).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federal policy, standards and records</a:t>
            </a:r>
            <a:endParaRPr lang="en-US" sz="3000" dirty="0"/>
          </a:p>
        </p:txBody>
      </p:sp>
      <p:sp>
        <p:nvSpPr>
          <p:cNvPr id="3" name="Source list 1"/>
          <p:cNvSpPr txBox="1"/>
          <p:nvPr/>
        </p:nvSpPr>
        <p:spPr>
          <a:xfrm>
            <a:off x="548640" y="1371600"/>
            <a:ext cx="11064240" cy="46177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2"/>
                </a:solidFill>
              </a:rPr>
              <a:t>OMB, Federal Data Center Consolidation Initiative (February 26, 2010)  ·  25 Point Implementation Plan to Reform Federal IT Management (December 9, 2010), items 1 and 3.</a:t>
            </a:r>
            <a:endParaRPr lang="en-US" sz="1400" dirty="0"/>
          </a:p>
          <a:p>
            <a:pPr marL="342900" indent="-342900">
              <a:spcAft>
                <a:spcPts val="600"/>
              </a:spcAft>
              <a:buSzPct val="100000"/>
              <a:buChar char="•"/>
            </a:pPr>
            <a:r>
              <a:rPr lang="en-US" sz="1250" dirty="0">
                <a:solidFill>
                  <a:schemeClr val="tx2"/>
                </a:solidFill>
              </a:rPr>
              <a:t>OMB M-22-09, Moving the U.S. Government Toward Zero Trust Cybersecurity Principles (January 26, 2022), §II, §III.A–§III.D  ·  OMB M-19-17, Enabling Mission Delivery through Improved ICAM (May 21, 2019), Governance, item 1  ·  OMB M-26-14, agency logging and network visibility (May 22, 2026; rescinds M-21-31), Appendix B.</a:t>
            </a:r>
            <a:endParaRPr lang="en-US" sz="1400" dirty="0"/>
          </a:p>
          <a:p>
            <a:pPr marL="342900" indent="-342900">
              <a:spcAft>
                <a:spcPts val="600"/>
              </a:spcAft>
              <a:buSzPct val="100000"/>
              <a:buChar char="•"/>
            </a:pPr>
            <a:r>
              <a:rPr lang="en-US" sz="1250" dirty="0">
                <a:solidFill>
                  <a:schemeClr val="tx2"/>
                </a:solidFill>
              </a:rPr>
              <a:t>CISA BOD 25-01, Implementing Secure Practices for Cloud Services (December 17, 2024), and its Required Configurations page  ·  SCuBA Microsoft Entra ID baseline  ·  CISA Zero Trust Maturity Model v2.0 (April 2023)  ·  CISA AA23-320A, Scattered Spider (November 16, 2023; revised July 29, 2025)  ·  CISA, Using SASE in a Modern TIC 3.0 Solution, v1.0 (June 2026).</a:t>
            </a:r>
            <a:endParaRPr lang="en-US" sz="1400" dirty="0"/>
          </a:p>
          <a:p>
            <a:pPr marL="342900" indent="-342900">
              <a:spcAft>
                <a:spcPts val="600"/>
              </a:spcAft>
              <a:buSzPct val="100000"/>
              <a:buChar char="•"/>
            </a:pPr>
            <a:r>
              <a:rPr lang="en-US" sz="1250" dirty="0">
                <a:solidFill>
                  <a:schemeClr val="tx2"/>
                </a:solidFill>
              </a:rPr>
              <a:t>NIST SP 800-207, Zero Trust Architecture (August 2020), §2.1, §3, §3.4.1  ·  SP 800-53 Rev. 5, release 5.2.0 (AC-6, CM-8, SC-20 to SC-22)  ·  SP 800-37 Rev. 2, Appendix D.</a:t>
            </a:r>
            <a:endParaRPr lang="en-US" sz="1400" dirty="0"/>
          </a:p>
          <a:p>
            <a:pPr marL="342900" indent="-342900">
              <a:spcAft>
                <a:spcPts val="600"/>
              </a:spcAft>
              <a:buSzPct val="100000"/>
              <a:buChar char="•"/>
            </a:pPr>
            <a:r>
              <a:rPr lang="en-US" sz="1250" dirty="0">
                <a:solidFill>
                  <a:schemeClr val="tx2"/>
                </a:solidFill>
              </a:rPr>
              <a:t>FedRAMP Consolidated Rules for 2026 (announced June 25, 2026): Important Dates; Key Security Indicators; Using a FedRAMP Certified Cloud Service; Agency Use, and the machine-readable ruleset version 2026.10.13.01.</a:t>
            </a:r>
            <a:endParaRPr lang="en-US" sz="1400" dirty="0"/>
          </a:p>
          <a:p>
            <a:pPr marL="342900" indent="-342900">
              <a:spcAft>
                <a:spcPts val="600"/>
              </a:spcAft>
              <a:buSzPct val="100000"/>
              <a:buChar char="•"/>
            </a:pPr>
            <a:r>
              <a:rPr lang="en-US" sz="1250" dirty="0">
                <a:solidFill>
                  <a:schemeClr val="tx2"/>
                </a:solidFill>
              </a:rPr>
              <a:t>NARA General Records Schedule 3.2, Transmittal 33 (January 2023), items 030 and 031  ·  36 CFR § 1220.34  ·  IETF RFC 4120 (Kerberos V5)  ·  ITU-T Recommendation G.114 (05/2003).</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Microsoft, IBM and the full footnotes</a:t>
            </a:r>
            <a:endParaRPr lang="en-US" sz="3000" dirty="0"/>
          </a:p>
        </p:txBody>
      </p:sp>
      <p:sp>
        <p:nvSpPr>
          <p:cNvPr id="3" name="Source list 2"/>
          <p:cNvSpPr txBox="1"/>
          <p:nvPr/>
        </p:nvSpPr>
        <p:spPr>
          <a:xfrm>
            <a:off x="548640" y="1371600"/>
            <a:ext cx="11064240" cy="4617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rPr>
              <a:t>Microsoft Learn, identity: Kerberos ticket lifetimes (Max-Ticket-Age, Max-Renew-Age, service ticket); KDC configuration keys; continuous access evaluation; hybrid join planning and concepts; Entra joined vs. hybrid joined; cloud-first identity guidance; cloud transformation posture; dynamic membership groups; administrative units; lifecycle workflows; Entra licensing; Privileged Identity Management; certificate-based authentication; authentication strengths; emergency access accounts.</a:t>
            </a:r>
            <a:endParaRPr lang="en-US" sz="1400" dirty="0"/>
          </a:p>
          <a:p>
            <a:pPr marL="342900" indent="-342900">
              <a:spcAft>
                <a:spcPts val="600"/>
              </a:spcAft>
              <a:buSzPct val="100000"/>
              <a:buChar char="•"/>
            </a:pPr>
            <a:r>
              <a:rPr lang="en-US" sz="1200" dirty="0">
                <a:solidFill>
                  <a:schemeClr val="tx2"/>
                </a:solidFill>
              </a:rPr>
              <a:t>Microsoft Learn, devices, servers and policy: cloud-native endpoints planning guide and tutorial; Intune supported platforms; policy conflicts; Conditional Access report-only mode and block legacy authentication; Azure Arc-enabled servers; machine configuration; Windows Autopilot; NTLM deprecation; What's new in Windows Server 2025; Windows Server release information; AD tier model and enterprise access model; Microsoft Cloud PKI; AD CS certification authority role; Defender for Identity posture assessments.</a:t>
            </a:r>
            <a:endParaRPr lang="en-US" sz="1400" dirty="0"/>
          </a:p>
          <a:p>
            <a:pPr marL="342900" indent="-342900">
              <a:spcAft>
                <a:spcPts val="600"/>
              </a:spcAft>
              <a:buSzPct val="100000"/>
              <a:buChar char="•"/>
            </a:pPr>
            <a:r>
              <a:rPr lang="en-US" sz="1200" dirty="0">
                <a:solidFill>
                  <a:schemeClr val="tx2"/>
                </a:solidFill>
              </a:rPr>
              <a:t>Microsoft Learn, network, delivery and lifecycle: AD-integrated DNS; DHCP authorization; Azure DNS Private Resolver; Microsoft Graph best practices and throttling; demoting domain controllers; Active Directory backup and tombstone lifetime; Windows 10 end of support; Arc Extended Security Updates; meeting M-22-09 MFA requirements.</a:t>
            </a:r>
            <a:endParaRPr lang="en-US" sz="1400" dirty="0"/>
          </a:p>
          <a:p>
            <a:pPr marL="342900" indent="-342900">
              <a:spcAft>
                <a:spcPts val="600"/>
              </a:spcAft>
              <a:buSzPct val="100000"/>
              <a:buChar char="•"/>
            </a:pPr>
            <a:r>
              <a:rPr lang="en-US" sz="1200" dirty="0">
                <a:solidFill>
                  <a:schemeClr val="tx2"/>
                </a:solidFill>
              </a:rPr>
              <a:t>IBM Documentation: z/OS Connect identity mapping; RACF distributed identity filters; CICS PassTickets (the mainframe boundary, Chapters 04, 08 and 12).</a:t>
            </a:r>
            <a:endParaRPr lang="en-US" sz="1400" dirty="0"/>
          </a:p>
          <a:p>
            <a:pPr marL="342900" indent="-342900">
              <a:spcAft>
                <a:spcPts val="600"/>
              </a:spcAft>
              <a:buSzPct val="100000"/>
              <a:buChar char="•"/>
            </a:pPr>
            <a:r>
              <a:rPr lang="en-US" sz="1200" dirty="0">
                <a:solidFill>
                  <a:schemeClr val="tx2"/>
                </a:solidFill>
              </a:rPr>
              <a:t>Full footnotes with links and access dates (October 21, 2026): Book 01, every chapter and Appendices A and B (whalermike.github.io/modernization-workbook/docs/books/b01-transformation-arc/).</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each slide comes from</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429000"/>
                <a:gridCol w="2011680"/>
              </a:tblGrid>
              <a:tr h="420624">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Slide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Book 01 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Every mandate assumes a foundation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01, 09, 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AD was the governance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02, 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Five things must be true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Platform: one writer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03, 09, 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Identity: attributes first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04, 09, 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Policy: regenerate, don't copy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05, 09, 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DNS, DHCP and IPAM together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06, 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Compute: domain join goes last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07, 09, 10, 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Access: applications, not networks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08, 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217920" y="1371600"/>
          <a:ext cx="9144000" cy="914400"/>
        </p:xfrm>
        <a:graphic>
          <a:graphicData uri="http://schemas.openxmlformats.org/drawingml/2006/table">
            <a:tbl>
              <a:tblPr firstRow="1" bandRow="1"/>
              <a:tblGrid>
                <a:gridCol w="3429000"/>
                <a:gridCol w="2011680"/>
              </a:tblGrid>
              <a:tr h="420624">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Slide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Book 01 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Instruments, not the orchestra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One decider per decision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09, 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Three decisions, wrong desk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Analyze the estate first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09, 10, 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Analyze, plan, deliver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03, 11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Seven phases, six gates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09, 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Gates go green on data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09, 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The clocks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Decisions and where to start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 09, 10, 11, 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01 — The Transformation Arc — Executive Briefing</dc:title>
  <dc:subject>PptxGenJS Presentation</dc:subject>
  <dc:creator>Michael F. Stratton</dc:creator>
  <cp:lastModifiedBy>Michael F. Stratton</cp:lastModifiedBy>
  <cp:revision>1</cp:revision>
  <dcterms:created xsi:type="dcterms:W3CDTF">2026-10-22T02:57:37Z</dcterms:created>
  <dcterms:modified xsi:type="dcterms:W3CDTF">2026-10-22T02:57:37Z</dcterms:modified>
</cp:coreProperties>
</file>