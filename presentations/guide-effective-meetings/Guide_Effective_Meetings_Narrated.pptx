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meetings matter" id="{A696F510-D6F6-9E9B-79E3-3515205C54DC}">
          <p14:sldIdLst>
            <p14:sldId id="256"/>
            <p14:sldId id="257"/>
            <p14:sldId id="258"/>
            <p14:sldId id="259"/>
          </p14:sldIdLst>
        </p14:section>
        <p14:section name="What a good meeting needs" id="{D5494C6F-EFC7-07D0-18BF-5347CE1B5CBE}">
          <p14:sldIdLst>
            <p14:sldId id="260"/>
            <p14:sldId id="261"/>
            <p14:sldId id="262"/>
            <p14:sldId id="263"/>
            <p14:sldId id="264"/>
            <p14:sldId id="265"/>
          </p14:sldIdLst>
        </p14:section>
        <p14:section name="Who: the roles" id="{1A33C379-48DB-7F0D-0D26-8EDD5D9B839B}">
          <p14:sldIdLst>
            <p14:sldId id="266"/>
            <p14:sldId id="267"/>
          </p14:sldIdLst>
        </p14:section>
        <p14:section name="How to run it: before, during, close, after" id="{50553244-E53B-CE31-91E5-E7AE6B56515B}">
          <p14:sldIdLst>
            <p14:sldId id="268"/>
            <p14:sldId id="269"/>
            <p14:sldId id="270"/>
            <p14:sldId id="271"/>
            <p14:sldId id="272"/>
            <p14:sldId id="273"/>
            <p14:sldId id="274"/>
            <p14:sldId id="275"/>
            <p14:sldId id="276"/>
            <p14:sldId id="277"/>
          </p14:sldIdLst>
        </p14:section>
        <p14:section name="Backup" id="{C1AD9D23-1B17-1D11-C1E9-CD644529A4F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938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Welcome. This briefing comes from a companion guide to the Federal Modernization Workbook, and it's about something every program does every week: meet. The guide starts from one idea. A meeting is a tool for deciding and coordinating. If it ends without decisions and owners, it was a status report that cost an hour of everyone's time. I'll follow the same four questions as the book decks: why meetings matter, what a good meeting needs, who does what in the room, and how to run one from before it starts to after it ends, with two templates and a checklist at the end. Let's start with why this matters to a modernization program.
Detail: The guide opens with one line: a meeting is a tool for deciding and coordinating; if it ends without decisions and owners, it was a status report that cost an hour of everyone's time. It covers why a modernization program lives or dies by its meetings, the three kinds of meeting and what each is for, the roles every meeting needs, and a before / during / after routine with an agenda template, a notes template and a one-page checklist. The practices come from public guidance, chiefly GSA's 18F team, and from facilitation training used in industry and academia. The deck follows the book decks' Why / What / Who / How order: Why (slides 2–4: why meetings matter), What (5–10: is a meeting needed, the three kinds, the agenda), Who (11–12: the roles), How (13–22: before, during, close, after, the two templates, the checklist, further reading).
Workbook: Companion guide, Effective Meetings — In this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[0:45–1:28]  Why should a modernization program care about meeting habits? Because meetings are where the program is actually coordinated. From the change advisory board to the cutover go or no-go call to the steering committee, most of the program's decisions get made in a meeting of some kind. And the guide makes a sharper point: most of a program's slippage starts in a meeting that ended without a clear decision or a named owner. So a meeting that drifts isn't just a lost hour. It can be the moment a schedule starts to slip, with nobody holding the next step. The good news is that the fix isn't new.
Detail: A modernization program is coordinated through meetings: change advisory boards, cutover go/no-go calls, architecture reviews, vendor working sessions, steering committees. Most of the program's decisions are made in one of them, and most of its slippage starts in one that ended without a clear decision or a named owner. This framing is the guide's own (no external source); the callout is the guide's opening line.
Workbook: Companion guide, Effective Meetings — Why meetings matter to a modernization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[1:28–2:11]  These habits have a long track record, and that's the best reason to trust them. At Intel, a course on effective meetings was mandatory for new employees, and Andy Grove often taught it himself while he was C E O. In government, G S A's eighteen F, the federal digital-services team, published a short public guide built on the same few ideas: a clear purpose, a complete agenda, assigned roles and written next steps. And university faculty-development and engineering programs teach the same structure. When industry, government and academia keep landing on one pattern, it's because the pattern works. Here it is in a single picture.
Detail: Intel made a course on effective meetings mandatory for new employees, often taught by Andy Grove himself while he was CEO (Belludi, Right Attitudes, January 26, 2023). GSA's 18F published a short public guide, "How to run an efficient meeting" (December 14, 2016, archived on the 18F blog), built on a clear purpose, a complete agenda, assigned roles and written next steps. University faculty-development (Ploof, UPMC Children's Hospital of Pittsburgh, August 4, 2016) and engineering programs (Recktenwald, Portland State University, January 4, 2018) teach the same structure. The guide: "The pattern is consistent because it works."
Workbook: Companion guide, Effective Meetings — Why meetings matter to a modernization program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[2:11–2:54]  It helps to see the whole routine at once, because each phase depends on the one before it. Before the meeting, you set it up: the purpose, the agenda, the roles and the right people. During it, you run it: on time, on the agenda, with anything off-topic parked. After it, you follow through: written notes the same day, and every action with an owner and a due date. The part to notice is the arrow back. What comes out of one meeting opens the next one's agenda, so nothing quietly drops. But there's a question that comes before all of this: do you need a meeting at all?
Detail: The guide's figure: Before (purpose and meeting type, agenda sent a day ahead, roles assigned, only the people needed); During (start on time, confirm purpose and roles, follow the agenda, parking lot and timekeeping); After (notes sent the same day, actions with owner and due date, parking lot routed, reviewed at the next meeting). An arrow from After loops back to Before, labeled "next agenda": 18F recommends opening the next meeting by reviewing the previous action items. The How section later splits out the Close as its own phase, as the guide's "Running the meeting" section does.
Workbook: Companion guide, Effective Meetings — Why meetings matter to a modernization program (figure: Before, during, and after)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[2:54–3:33]  Every meeting spends its attendees' time, so the first question is whether to hold one. Eighteen F's test is simple: is this meeting a better use of everyone's time than not meeting? A faculty-development session at a children's hospital in Pittsburgh looked at why people actually call meetings. Some reasons are good ones, like giving information or working a problem. Others are more honest about habit: satisfying requirements, or simply tradition. Its advice is to ask whether some of those goals could be met another way. The guide turns that question into a simple working rule.
Detail: "Ask this first." 18F's test is whether the meeting is a better use of the attendees' time than not meeting. A faculty-development session at UPMC Children's Hospital of Pittsburgh (Dianna Ploof, EdD, Department of Pediatrics Faculty Development) lists the usual reasons for a meeting, from giving information and working a problem to simply "satisfying requirements" and "tradition," and asks whether some of those goals can be met another way.
Workbook: Companion guide, Effective Meetings — Is a meeting needed at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[3:33–4:18]  This rule matters because it gives people permission not to meet. It's the guide's own design guidance for the program, built on those two sources. If information only needs to flow one way, send a written update, and meet only if the questions really need live discussion. If there's a problem to work or a decision to make, that's what meetings are for, so meet, with the right people in the room. And give every recurring meeting a check once a quarter. One that no longer decides anything should be cancelled, or turned into a written report. Once you've decided to meet, the next question is what kind of meeting it is.
Detail: The guide's working rule for the program (design guidance, not a source requirement): information only, one way, means send a written update, and hold a meeting only if questions need live discussion. A problem to work or a decision to make means meet, with the right people in the room. A recurring meeting: re-check its purpose each quarter; a recurring meeting that no longer decides anything should be cancelled or turned into a written report. The descriptions in the cards' second lines ("nothing to discuss or decide"; "generate options, narrow them, or commit") paraphrase the guide's three meeting types on the next slide.
Workbook: Companion guide, Effective Meetings — Is a meeting needed at all? (working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[4:18–5:04]  Knowing the kind of meeting tells people how to take part. Engineering guidance from Portland State University, drawing on Cameron Herold's book Meetings Suck, sorts meeting work into three types: sharing information, solving a problem, and making a decision. Each one needs something different. Sharing works when the material goes out in advance. Problem solving needs a time limit, a note-taker, and a phase that opens up ideas before one that narrows them. And a decision needs the question, and the way the group will decide, agreed beforehand. One meeting can hold more than one type, but each agenda item should be one of them, and the agenda should say which. The same source adds two warnings.
Detail: Engineering-education guidance from Portland State University (Gerald Recktenwald, "Supplemental Notes: A Meeting Toolbox"), drawing on Cameron Herold's Meetings Suck, sorts meeting work into three types. Information sharing: mostly one-way reporting with clarifying questions; needs material sent in advance, focus on what others need to know, no rehashing past decisions; produces shared understanding. Problem solving: open discussion among many people; needs a time limit, a note-taker, a divergent phase then a convergent phase; produces options, criteria and the questions still open. Decision making: the group commits to one option; needs what is being decided stated in advance, the decision method agreed in advance (consensus, majority, or deferral to an owner), and everyone having the information; produces a recorded decision, an owner and next steps.
Workbook: Companion guide, Effective Meetings — The three kinds of meeting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[5:04–5:47]  These two warnings land hard on technical programs, where it's tempting to solve the problem live, on the call. The first is: don't do the work in the meeting. When the group starts doing detailed analysis together, stop, agree who will do it, by when and what they'll deliver, and then go back to the agenda. The second is: name the shift. When the discussion moves from reporting into problem solving, or from problem solving into deciding, the facilitator says so out loud. It keeps everyone working on the same task at the same moment. Both warnings depend on a good agenda, and that's the next topic.
Detail: Two warnings from Portland State's toolbox that the guide says apply directly to technical programs. Don't do the work in the meeting: when a group starts doing detailed analysis together, stop, agree on who will do it, by when, and what they'll deliver, then go back to the agenda. Name the shift: when a discussion moves from reporting to problem solving, or from problem solving to deciding, the facilitator should say so out loud; it keeps the group on the same task.
Workbook: Companion guide, Effective Meetings — The three kinds of meeting (two warnings)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[5:47–6:30]  The agenda matters more than most people think, because it defines what the meeting covers and tells everyone when it's over. When the agenda is done, the meeting is done. A list of topic names can't do that job; a line that just says network tells nobody what's expected of them. A real agenda writes each item as a question or an outcome, says whether it's there to inform, to discuss or to decide, and gives it an owner, a time and any preparation. Which three pilot sites go first? focuses a room far better than pilot sites. Around those items, a few more details make the difference.
Detail: 18F: the agenda defines the meeting's content and tells everyone when it is over; when the agenda is done, the meeting is done. A list of topic names ("Identity," "Network," "AOB") does not do that. A real agenda gives, for each item: the item written as a question or outcome ("Which three pilot sites go first?" focuses discussion better than "Pilot sites," per the UPMC session); its type (inform, discuss, or decide, so people know how to take part, per 18F); an owner who leads it; the minutes allowed; and the preparation (what to read or bring).
Workbook: Companion guide, Effective Meetings — The agenda: more than a list of topics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[6:30–7:18]  These details are small, but they're what let people prepare, and decide whether they need to come. Above the items, state the purpose and the expected outcomes, and say where the notes will live. Give the meeting a specific title, like cutover go or no-go, wave two, rather than weekly sync, and keep the agenda to a single page. Send it at least a day ahead, and let people propose changes before the meeting instead of debating the agenda at its start. Eighteen F also suggests fifteen- or forty-five-minute meetings, which leave room between meetings and spare time if an item runs over, and about a dozen people at most. With the agenda set, let's look at who does what.
Detail: Above the items, the agenda states the meeting's purpose and expected outcomes, where the notes will be kept, and the call-in or room details (18F). Its title should be specific: "Cutover go/no-go, wave 2," not "Weekly sync" (Portland State). Keep it to one page and put the detail in attachments (Portland State). Send it early enough for people to prepare (at least a day ahead), at a consistent time for recurring meetings, and let attendees propose changes before the meeting rather than debating the agenda at its start (18F; Portland State). Scheduling (18F): 15- or 45-minute meetings instead of the default 30 or 60 leave room between meetings and spare time if an item runs over; once a meeting reaches double digits, ask whether everyone needs to attend; keep meetings to about a dozen people.
Workbook: Companion guide, Effective Meetings — The agenda: more than a list of topics (header, sending, scheduling)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[7:18–7:59]  Roles matter because the guide's rule is simple: every meeting needs named roles, and every attendee should know which one they hold. The table shows the six and what each does, so I'll pick out two. The facilitator focuses on the process, not the content, and doesn't have to be the person who called the meeting; it's wise to have a backup. And the decision-maker has to be in the room. If the person with the authority isn't there, an item marked decide simply can't be decided, however good the discussion was. The role that's forgotten most often, though, is the note-taker.
Detail: Leader / facilitator: convenes and runs the meeting; keeps discussion on the agenda; draws out quieter people and stops one voice dominating; ends the meeting when the agenda is done; focuses on process and need not be the person who called the meeting (18F; UPMC; Portland State); have a backup (18F). Timekeeper: tracks time on each item, warns when an item will run over, calls for the group to re-prioritize; supports the facilitator but doesn't replace them (Portland State). Note-taker: records decisions, action items, open questions and parking-lot items, not a transcript; checks the record and publishes it (UPMC; Portland State). Decision-maker: the person or people with authority to decide; if they aren't in the room, a "decide" item can't be decided (18F). Participants: arrive on time and prepared; listen; keep disagreement about ideas, not people; accept the group's decision (Portland State). Closer (optional): summarizes outcomes, confirms every action item has an owner and a date, sets up the next meeting; often the facilitator (Portland State).
Workbook: Companion guide, Effective Meetings — Roles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[7:59–8:36]  Eighteen F calls failing to assign a note-taker the most common meeting mistake, and it's also the easiest one to fix. Any attendee can simply ask: who's taking notes? Roles don't need a crowd, either. In a small or recurring meeting, one person can hold two of them, the facilitator acting as closer, or the note-taker keeping time. And rotating the roles across the team spreads the skill, so the meeting doesn't depend on any one person. With the roles in place, here's how a meeting runs from start to finish.
Detail: 18F calls failing to assign a note-taker the most common meeting mistake; any attendee can ask, "Who's taking notes?" In small or recurring meetings one person can hold more than one role (the facilitator as closer, the note-taker as timekeeper), and rotating roles across the team spreads the skill (Portland State).
Workbook: Companion guide, Effective Meetings — Roles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[8:36–9:14]  Thinking in four phases helps, because each one produces something the next one needs. The picture earlier showed three; the guide's routine splits out a fourth, the close, a few minutes reserved at the end of the meeting itself. That's where discussion turns into decisions read back and actions with owners and dates. Before gives you an agenda and the right people; during gives you the discussion and the decisions; and after puts everything in writing and carries it into the next agenda, which closes the loop. Let's take each phase in turn, starting before anyone joins.
Detail: The guide's "Running the meeting" section has four parts: Before, During, Close and After. The lifecycle figure on slide 4 shows three (Before, During, After), with the close folded in; this flow splits it out. Before: confirm the meeting is needed and its type, send the agenda with preparation, assign roles, invite only the people needed. During: start on time, follow the agenda, use a parking lot, take useful notes. Close: reserve the last few minutes on the agenda and aim to end early (18F; UPMC); read back decisions and actions, route the parking lot. After: send notes the same day, store them in the team record, review the previous action items at the next meeting (18F). The "produces" lines summarize what each phase's steps yield, in the guide's terms.
Workbook: Companion guide, Effective Meetings — Running the meeting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[9:14–9:52]  Much of a meeting's success is settled before it starts. First, confirm the meeting is needed, and what type it is. Then write the agenda and send it with the preparation attached, assign the roles, and invite only the people the items need. The children's hospital guidance gives a good test for that invitation list: the people affected by a decision, and the people with the knowledge, resources or authority it requires. Shortly before the meeting, send a reminder with the agenda, then arrive early and test the equipment. Now the meeting begins.
Detail: Before: (1) confirm the meeting is needed and its type; (2) write and send the agenda, with preparation material attached; (3) assign the roles and invite only the people the items need: those affected by a decision, and those with the knowledge, resources, or authority it requires (UPMC); (4) shortly before, send a reminder with the agenda; arrive early and test the equipment (18F). The decision-maker line comes from the Roles section: if they aren't in the room, a "decide" item can't be decided (18F), and the checklist's Before row includes "Decision-maker attending."
Workbook: Companion guide, Effective Meetings — Running the meeting — Before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[9:52–10:36]  The first few minutes set the tone for everything after them. Start on time, every time. Open by stating the purpose, confirming the agenda and naming the roles, and point people to the notes, slides and chat you're using. Agree on a few ground rules, such as take space, make space, so the air time is shared. From then on, follow the agenda, and leave it only deliberately, for a set time. Summarize as you go. And when someone arrives late, point them to the agenda and the notes rather than recapping for them. So what happens to the topics that don't fit? That's the job of the parking lot.
Detail: Start: start on time, every time (18F). Open by stating the purpose, confirming the agenda, and naming the roles; point to the notes, slides, and chat in use. Agree or restate ground rules; the UPMC session's examples include sharing air time ("take space, make space") and treating different perspectives as valuable. Stay on track: follow the agenda and leave it only deliberately, for a set time (18F); summarize as you go (UPMC); point latecomers to the agenda and notes instead of recapping for them (18F).
Workbook: Companion guide, Effective Meetings — Running the meeting — During (Start; Stay on track)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[10:36–11:15]  A parking lot lets you protect the agenda without dismissing anyone's point. Topics that are off the agenda, or can't be settled in the time, go somewhere everyone can see, like a section of the notes or a corner of the whiteboard. Each one gets an action, and the whole lot is reviewed before the meeting ends. That follow-up is what keeps people willing to park a topic at all. Notes work the same way. Capture the meaning, not the dialogue, put decisions and assigned tasks first, and fill in any gaps the same day. Then comes the close.
Detail: Parking lot: topics that are off the agenda, or can't be settled in the time available, go into a visible parking lot: a section of the notes or a corner of the whiteboard (18F). Give each entry an action (send to another group, add to a future agenda, assign to a small team), and review the parking lot before the meeting ends; following up on it is what keeps people willing to park topics (UPMC). Useful notes (18F): capture meaning, not dialogue; prioritize decisions and assigned tasks; leave gaps during fast discussion and fill them in the same day.
Workbook: Companion guide, Effective Meetings — Running the meeting — During (Use a parking lot; Take useful notes)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[11:15–11:50]  The close is where discussion becomes commitment, so it gets its own place on the agenda: the last few minutes, with the aim of ending early. Read back the decisions. Then read back each action item with its owner and its due date, and have each owner confirm it out loud. Route every parking-lot item, ask what's missing and what to change about the meeting next time, and set the next meeting and its facilitator if one is needed. Then the work moves outside the room.
Detail: Close: reserve the last few minutes on the agenda for the close, and aim to end early (18F; UPMC). (1) Read back the decisions. (2) Read back each action item with its owner and due date, and have each owner confirm it out loud (Portland State). (3) Route each parking-lot item. (4) Ask what is missing, and what to change about the meeting next time (UPMC). (5) Set the next meeting and its facilitator if one is needed (Portland State).
Workbook: Companion guide, Effective Meetings — Running the meeting — Close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[11:50–12:24]  Follow-through is where a meeting's value is kept or lost. Send the notes and action items in writing, with owners and dates, the same day. Store them wherever the team keeps its records, and make any correction visible to everyone who attended. Then open the next meeting by reviewing the previous action items. And avoid the meeting after the meeting. Decisions made in the hallway leave out the remote attendees, and they never reach the notes. To make all of this routine, the guide gives two templates.
Detail: After: send the notes and action items in writing, with owners and dates, the same day (18F). Store the notes where the team keeps its records, and make any correction visible to everyone who attended (Portland State). Open the next meeting by reviewing the previous action items (18F). Avoid the "meeting after the meeting": decisions made in the hallway exclude remote attendees and never reach the notes (18F).
Workbook: Companion guide, Effective Meetings — Running the meeting — After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[12:24–13:02]  A template matters because it makes the good agenda the easy one to write. This is the guide's agenda template. The top block carries everything we covered earlier: a specific title, the length, a one-sentence purpose, the expected outcomes and where the notes are kept. Then the roles, by name, including the decision-maker. Each item is a question, with its type, owner, minutes and preparation. Look at the first and last rows: every meeting opens by reviewing the open action items, and ends with a reserved close. The second template records what happened.
Detail: The guide's agenda template, reproduced field for field. Header: MEETING (a specific title, e.g. "Wave 2 cutover go/no-go"); date / time / length (15, 45, … min); location / bridge (room, link, dial-in); purpose (one sentence); expected outcomes (decisions to make, outputs to produce); notes kept at (link). Roles: facilitator, timekeeper, note-taker, decision-maker(s). Items: number, item (as a question), type, owner, minutes, prep. Example rows: 1 Review open action items, Inform, 5 min, prep "Last notes"; 2 a question, Decide, 15 min, doc link; 3 a question, Discuss, 10 min; 4 Close: decisions, actions, parking lot, run by the facilitator, 5 min. The template is the guide's own; its fields follow 18F's agenda header and Portland State's toolbox.
Workbook: Companion guide, Effective Meetings — Templates — Agenda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[13:02–13:36]  The notes template is built around what people need afterward, and that isn't a transcript. After a short header with attendees, absentees and roles, it has four parts. Decisions, each with who decided and how. Action items, each with an owner, a due date and a status. The parking lot, with where each item is routed. And open questions, each with who will answer, and by when. It ends by setting the next meeting and its facilitator. Everything we've covered also fits on a single page.
Detail: The guide's notes and action-items template, field for field. Header: MEETING and DATE; attendees and absent; facilitator / timekeeper / note-taker. DECISIONS: D1, the decision, decided by name or method. ACTION ITEMS: number, what, owner, due, status (A1, a deliverable, owner, date, Open). PARKING LOT: item, and where it is routed (group, future agenda, or owner). OPEN QUESTIONS: the question, and who will answer by when. NEXT MEETING: date and facilitator. The sections mirror the note-taker's role: decisions, action items, open questions and parking-lot items, not a transcript (UPMC; Portland State).
Workbook: Companion guide, Effective Meetings — Templates — Notes and action items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[13:36–14:10]  A checklist matters because it puts every habit in one place you can check quickly. This one follows the same moments we've walked through: before the meeting, the start, during it, the close, and after. Each row is a handful of quick checks, from whether a meeting is needed at all, to the decision-maker attending, to the action items being reviewed at the next meeting. It's the whole guide, on one page. For anyone who wants to go deeper, two books are worth the time.
Detail: The guide's one-page checklist, reproduced row for row. Before: is a meeting needed; type of each item set; agenda with owners, times, prep sent at least one day ahead; roles assigned; decision-maker attending; only needed people invited. Start: on time; purpose, agenda, roles confirmed; ground rules; notes and parking lot visible. During: agenda followed; time tracked per item; quiet voices drawn in; no work done in the room; off-topic items parked. Close: decisions read back; every action has an owner and a date; parking lot routed; "What would we change?"; ended on time or early. After: notes sent same day; stored in the team record; actions reviewed at the next meeting.
Workbook: Companion guide, Effective Meetings — One-page checklist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[14:10–14:46]  The two books go deeper than any guide can. Andy Grove's High Output Management is his own account of managing at Intel, and it includes a chapter on meetings. Cameron Herold's Meetings Suck is the source of the roles and meeting types in Portland State's toolbox. But the standard itself fits in one line: a real agenda, named roles, a parking lot, and written action items with owners and dates. The backup slides list every source in full, and the guide itself is on the workbook site. Thank you.
Detail: Further reading from the guide: Andrew S. Grove, High Output Management (Vintage, 1995 edition), Grove's own account of managing at Intel, including a chapter on meetings; Cameron Herold, Meetings Suck (Lioncrest Publishing, 2016), the source of the roles and meeting types in Portland State's toolbox. The one-line standard is the guide's own description: a real agenda, named roles, a parking lot, and written action items with owners and dates. This is a companion guide, not part of a numbered book.
Workbook: Companion guide, Effective Meetings — Further reading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Companion guide  ·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notesSlide" Target="../notesSlides/notesSlide2.xml"/><Relationship Id="rId9" Type="http://schemas.openxmlformats.org/officeDocument/2006/relationships/image" Target="../media/image8.png"/><Relationship Id="rId14"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9.png"/><Relationship Id="rId5" Type="http://schemas.openxmlformats.org/officeDocument/2006/relationships/image" Target="../media/image19.png"/><Relationship Id="rId4" Type="http://schemas.openxmlformats.org/officeDocument/2006/relationships/notesSlide" Target="../notesSlides/notesSlide6.xml"/><Relationship Id="rId9" Type="http://schemas.openxmlformats.org/officeDocument/2006/relationships/image" Target="../media/image3.png"/><Relationship Id="rId10"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2.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3.xml"/><Relationship Id="rId7" Type="http://schemas.openxmlformats.org/officeDocument/2006/relationships/image" Target="../media/image19.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3.png"/><Relationship Id="rId4" Type="http://schemas.openxmlformats.org/officeDocument/2006/relationships/notesSlide" Target="../notesSlides/notesSlide10.xml"/><Relationship Id="rId9" Type="http://schemas.openxmlformats.org/officeDocument/2006/relationships/image" Target="../media/image21.png"/><Relationship Id="rId11"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notesSlide" Target="../notesSlides/notesSlide12.xml"/><Relationship Id="rId9" Type="http://schemas.openxmlformats.org/officeDocument/2006/relationships/image" Target="../media/image3.png"/><Relationship Id="rId10"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7.png"/><Relationship Id="rId5" Type="http://schemas.openxmlformats.org/officeDocument/2006/relationships/image" Target="../media/image26.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5.png"/><Relationship Id="rId5" Type="http://schemas.openxmlformats.org/officeDocument/2006/relationships/image" Target="../media/image16.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27.png"/><Relationship Id="rId5" Type="http://schemas.openxmlformats.org/officeDocument/2006/relationships/image" Target="../media/image17.png"/><Relationship Id="rId4" Type="http://schemas.openxmlformats.org/officeDocument/2006/relationships/notesSlide" Target="../notesSlides/notesSlide18.xml"/><Relationship Id="rId9" Type="http://schemas.openxmlformats.org/officeDocument/2006/relationships/image" Target="../media/image3.png"/><Relationship Id="rId10"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22.xml"/><Relationship Id="rId8" Type="http://schemas.microsoft.com/office/2017/04/relationships/track" Target="../media/captions_slide2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Effective Meetings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Purpose, Agenda, Roles, and Follow-Through</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6868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  ·  Companion guide</a:t>
            </a:r>
            <a:endParaRPr lang="en-US" sz="1600" dirty="0"/>
          </a:p>
          <a:p>
            <a:pPr marL="0" indent="0">
              <a:buNone/>
            </a:pPr>
            <a:r>
              <a:rPr lang="en-US" sz="1600" dirty="0">
                <a:solidFill>
                  <a:srgbClr val="64748B"/>
                </a:solidFill>
              </a:rPr>
              <a:t>Why meetings matter, the agenda, the roles, and a before / during / close / after routine, with templates and a checklist</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8AE35CEE-1CE9-6A70-FD99-B9CF91BF9F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979FE3-E3FF-45F5-8839-109B7150475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60"/>
    </mc:Choice>
    <mc:Fallback>
      <p:transition spd="slow" advTm="40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modernization program runs on its meetings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Kind 0">
            <a:extLst>
              <a:ext uri="{C183D7F6-B498-43B3-948B-1728B52AA6E4}">
                <adec:decorative xmlns:adec="http://schemas.microsoft.com/office/drawing/2017/decorative" val="1"/>
              </a:ext>
            </a:extLst>
          </p:cNvPr>
          <p:cNvSpPr/>
          <p:nvPr/>
        </p:nvSpPr>
        <p:spPr>
          <a:xfrm>
            <a:off x="548640" y="1371600"/>
            <a:ext cx="2075688"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ArrowsRotate">
            <a:extLst>
              <a:ext uri="{C183D7F6-B498-43B3-948B-1728B52AA6E4}">
                <adec:decorative xmlns:adec="http://schemas.microsoft.com/office/drawing/2017/decorative" val="1"/>
              </a:ext>
            </a:extLst>
          </p:cNvPr>
          <p:cNvSpPr/>
          <p:nvPr/>
        </p:nvSpPr>
        <p:spPr>
          <a:xfrm>
            <a:off x="1312164" y="1481328"/>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443838" y="1613002"/>
            <a:ext cx="285293" cy="285293"/>
          </a:xfrm>
          <a:prstGeom prst="rect">
            <a:avLst/>
          </a:prstGeom>
        </p:spPr>
      </p:pic>
      <p:sp>
        <p:nvSpPr>
          <p:cNvPr id="8" name="Kind 0 text"/>
          <p:cNvSpPr txBox="1"/>
          <p:nvPr/>
        </p:nvSpPr>
        <p:spPr>
          <a:xfrm>
            <a:off x="640080" y="2103120"/>
            <a:ext cx="1892808" cy="502920"/>
          </a:xfrm>
          <a:prstGeom prst="rect">
            <a:avLst/>
          </a:prstGeom>
          <a:noFill/>
          <a:ln/>
        </p:spPr>
        <p:txBody>
          <a:bodyPr wrap="square" lIns="0" tIns="0" rIns="0" bIns="0" rtlCol="0" anchor="ctr"/>
          <a:lstStyle/>
          <a:p>
            <a:pPr marL="0" indent="0" algn="ctr">
              <a:buNone/>
            </a:pPr>
            <a:r>
              <a:rPr lang="en-US" sz="1400" b="1" dirty="0">
                <a:solidFill>
                  <a:srgbClr val="1F2A44"/>
                </a:solidFill>
              </a:rPr>
              <a:t>Change advisory boards</a:t>
            </a:r>
            <a:endParaRPr lang="en-US" sz="1400" dirty="0"/>
          </a:p>
        </p:txBody>
      </p:sp>
      <p:sp>
        <p:nvSpPr>
          <p:cNvPr id="9" name="Kind 1">
            <a:extLst>
              <a:ext uri="{C183D7F6-B498-43B3-948B-1728B52AA6E4}">
                <adec:decorative xmlns:adec="http://schemas.microsoft.com/office/drawing/2017/decorative" val="1"/>
              </a:ext>
            </a:extLst>
          </p:cNvPr>
          <p:cNvSpPr/>
          <p:nvPr/>
        </p:nvSpPr>
        <p:spPr>
          <a:xfrm>
            <a:off x="2807208" y="1371600"/>
            <a:ext cx="2075688"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Route">
            <a:extLst>
              <a:ext uri="{C183D7F6-B498-43B3-948B-1728B52AA6E4}">
                <adec:decorative xmlns:adec="http://schemas.microsoft.com/office/drawing/2017/decorative" val="1"/>
              </a:ext>
            </a:extLst>
          </p:cNvPr>
          <p:cNvSpPr/>
          <p:nvPr/>
        </p:nvSpPr>
        <p:spPr>
          <a:xfrm>
            <a:off x="3570732" y="1481328"/>
            <a:ext cx="548640" cy="54864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702406" y="1613002"/>
            <a:ext cx="285293" cy="285293"/>
          </a:xfrm>
          <a:prstGeom prst="rect">
            <a:avLst/>
          </a:prstGeom>
        </p:spPr>
      </p:pic>
      <p:sp>
        <p:nvSpPr>
          <p:cNvPr id="12" name="Kind 1 text"/>
          <p:cNvSpPr txBox="1"/>
          <p:nvPr/>
        </p:nvSpPr>
        <p:spPr>
          <a:xfrm>
            <a:off x="2898648" y="2103120"/>
            <a:ext cx="1892808" cy="502920"/>
          </a:xfrm>
          <a:prstGeom prst="rect">
            <a:avLst/>
          </a:prstGeom>
          <a:noFill/>
          <a:ln/>
        </p:spPr>
        <p:txBody>
          <a:bodyPr wrap="square" lIns="0" tIns="0" rIns="0" bIns="0" rtlCol="0" anchor="ctr"/>
          <a:lstStyle/>
          <a:p>
            <a:pPr marL="0" indent="0" algn="ctr">
              <a:buNone/>
            </a:pPr>
            <a:r>
              <a:rPr lang="en-US" sz="1400" b="1" dirty="0">
                <a:solidFill>
                  <a:srgbClr val="1F2A44"/>
                </a:solidFill>
              </a:rPr>
              <a:t>Cutover go / no-go calls</a:t>
            </a:r>
            <a:endParaRPr lang="en-US" sz="1400" dirty="0"/>
          </a:p>
        </p:txBody>
      </p:sp>
      <p:sp>
        <p:nvSpPr>
          <p:cNvPr id="13" name="Kind 2">
            <a:extLst>
              <a:ext uri="{C183D7F6-B498-43B3-948B-1728B52AA6E4}">
                <adec:decorative xmlns:adec="http://schemas.microsoft.com/office/drawing/2017/decorative" val="1"/>
              </a:ext>
            </a:extLst>
          </p:cNvPr>
          <p:cNvSpPr/>
          <p:nvPr/>
        </p:nvSpPr>
        <p:spPr>
          <a:xfrm>
            <a:off x="5065776" y="1371600"/>
            <a:ext cx="2075688"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Sitemap">
            <a:extLst>
              <a:ext uri="{C183D7F6-B498-43B3-948B-1728B52AA6E4}">
                <adec:decorative xmlns:adec="http://schemas.microsoft.com/office/drawing/2017/decorative" val="1"/>
              </a:ext>
            </a:extLst>
          </p:cNvPr>
          <p:cNvSpPr/>
          <p:nvPr/>
        </p:nvSpPr>
        <p:spPr>
          <a:xfrm>
            <a:off x="5829300" y="1481328"/>
            <a:ext cx="548640" cy="548640"/>
          </a:xfrm>
          <a:prstGeom prst="ellipse">
            <a:avLst/>
          </a:prstGeom>
          <a:solidFill>
            <a:srgbClr val="1F2A44"/>
          </a:solidFill>
          <a:ln w="12700">
            <a:solidFill>
              <a:srgbClr val="1F2A44"/>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960974" y="1613002"/>
            <a:ext cx="285293" cy="285293"/>
          </a:xfrm>
          <a:prstGeom prst="rect">
            <a:avLst/>
          </a:prstGeom>
        </p:spPr>
      </p:pic>
      <p:sp>
        <p:nvSpPr>
          <p:cNvPr id="16" name="Kind 2 text"/>
          <p:cNvSpPr txBox="1"/>
          <p:nvPr/>
        </p:nvSpPr>
        <p:spPr>
          <a:xfrm>
            <a:off x="5157216" y="2103120"/>
            <a:ext cx="1892808" cy="502920"/>
          </a:xfrm>
          <a:prstGeom prst="rect">
            <a:avLst/>
          </a:prstGeom>
          <a:noFill/>
          <a:ln/>
        </p:spPr>
        <p:txBody>
          <a:bodyPr wrap="square" lIns="0" tIns="0" rIns="0" bIns="0" rtlCol="0" anchor="ctr"/>
          <a:lstStyle/>
          <a:p>
            <a:pPr marL="0" indent="0" algn="ctr">
              <a:buNone/>
            </a:pPr>
            <a:r>
              <a:rPr lang="en-US" sz="1400" b="1" dirty="0">
                <a:solidFill>
                  <a:srgbClr val="1F2A44"/>
                </a:solidFill>
              </a:rPr>
              <a:t>Architecture reviews</a:t>
            </a:r>
            <a:endParaRPr lang="en-US" sz="1400" dirty="0"/>
          </a:p>
        </p:txBody>
      </p:sp>
      <p:sp>
        <p:nvSpPr>
          <p:cNvPr id="17" name="Kind 3">
            <a:extLst>
              <a:ext uri="{C183D7F6-B498-43B3-948B-1728B52AA6E4}">
                <adec:decorative xmlns:adec="http://schemas.microsoft.com/office/drawing/2017/decorative" val="1"/>
              </a:ext>
            </a:extLst>
          </p:cNvPr>
          <p:cNvSpPr/>
          <p:nvPr/>
        </p:nvSpPr>
        <p:spPr>
          <a:xfrm>
            <a:off x="7324344" y="1371600"/>
            <a:ext cx="2075688"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PeopleArrows">
            <a:extLst>
              <a:ext uri="{C183D7F6-B498-43B3-948B-1728B52AA6E4}">
                <adec:decorative xmlns:adec="http://schemas.microsoft.com/office/drawing/2017/decorative" val="1"/>
              </a:ext>
            </a:extLst>
          </p:cNvPr>
          <p:cNvSpPr/>
          <p:nvPr/>
        </p:nvSpPr>
        <p:spPr>
          <a:xfrm>
            <a:off x="8087868" y="1481328"/>
            <a:ext cx="548640" cy="548640"/>
          </a:xfrm>
          <a:prstGeom prst="ellipse">
            <a:avLst/>
          </a:prstGeom>
          <a:solidFill>
            <a:srgbClr val="1F2A44"/>
          </a:solidFill>
          <a:ln w="12700">
            <a:solidFill>
              <a:srgbClr val="1F2A44"/>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219542" y="1613002"/>
            <a:ext cx="285293" cy="285293"/>
          </a:xfrm>
          <a:prstGeom prst="rect">
            <a:avLst/>
          </a:prstGeom>
        </p:spPr>
      </p:pic>
      <p:sp>
        <p:nvSpPr>
          <p:cNvPr id="20" name="Kind 3 text"/>
          <p:cNvSpPr txBox="1"/>
          <p:nvPr/>
        </p:nvSpPr>
        <p:spPr>
          <a:xfrm>
            <a:off x="7415784" y="2103120"/>
            <a:ext cx="1892808" cy="502920"/>
          </a:xfrm>
          <a:prstGeom prst="rect">
            <a:avLst/>
          </a:prstGeom>
          <a:noFill/>
          <a:ln/>
        </p:spPr>
        <p:txBody>
          <a:bodyPr wrap="square" lIns="0" tIns="0" rIns="0" bIns="0" rtlCol="0" anchor="ctr"/>
          <a:lstStyle/>
          <a:p>
            <a:pPr marL="0" indent="0" algn="ctr">
              <a:buNone/>
            </a:pPr>
            <a:r>
              <a:rPr lang="en-US" sz="1400" b="1" dirty="0">
                <a:solidFill>
                  <a:srgbClr val="1F2A44"/>
                </a:solidFill>
              </a:rPr>
              <a:t>Vendor working sessions</a:t>
            </a:r>
            <a:endParaRPr lang="en-US" sz="1400" dirty="0"/>
          </a:p>
        </p:txBody>
      </p:sp>
      <p:sp>
        <p:nvSpPr>
          <p:cNvPr id="21" name="Kind 4">
            <a:extLst>
              <a:ext uri="{C183D7F6-B498-43B3-948B-1728B52AA6E4}">
                <adec:decorative xmlns:adec="http://schemas.microsoft.com/office/drawing/2017/decorative" val="1"/>
              </a:ext>
            </a:extLst>
          </p:cNvPr>
          <p:cNvSpPr/>
          <p:nvPr/>
        </p:nvSpPr>
        <p:spPr>
          <a:xfrm>
            <a:off x="9582912" y="1371600"/>
            <a:ext cx="2075688"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2" name="Icon FaBuildingColumns">
            <a:extLst>
              <a:ext uri="{C183D7F6-B498-43B3-948B-1728B52AA6E4}">
                <adec:decorative xmlns:adec="http://schemas.microsoft.com/office/drawing/2017/decorative" val="1"/>
              </a:ext>
            </a:extLst>
          </p:cNvPr>
          <p:cNvSpPr/>
          <p:nvPr/>
        </p:nvSpPr>
        <p:spPr>
          <a:xfrm>
            <a:off x="10346436" y="1481328"/>
            <a:ext cx="548640" cy="54864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478110" y="1613002"/>
            <a:ext cx="285293" cy="285293"/>
          </a:xfrm>
          <a:prstGeom prst="rect">
            <a:avLst/>
          </a:prstGeom>
        </p:spPr>
      </p:pic>
      <p:sp>
        <p:nvSpPr>
          <p:cNvPr id="24" name="Kind 4 text"/>
          <p:cNvSpPr txBox="1"/>
          <p:nvPr/>
        </p:nvSpPr>
        <p:spPr>
          <a:xfrm>
            <a:off x="9674352" y="2103120"/>
            <a:ext cx="1892808" cy="502920"/>
          </a:xfrm>
          <a:prstGeom prst="rect">
            <a:avLst/>
          </a:prstGeom>
          <a:noFill/>
          <a:ln/>
        </p:spPr>
        <p:txBody>
          <a:bodyPr wrap="square" lIns="0" tIns="0" rIns="0" bIns="0" rtlCol="0" anchor="ctr"/>
          <a:lstStyle/>
          <a:p>
            <a:pPr marL="0" indent="0" algn="ctr">
              <a:buNone/>
            </a:pPr>
            <a:r>
              <a:rPr lang="en-US" sz="1400" b="1" dirty="0">
                <a:solidFill>
                  <a:srgbClr val="1F2A44"/>
                </a:solidFill>
              </a:rPr>
              <a:t>Steering committees</a:t>
            </a:r>
            <a:endParaRPr lang="en-US" sz="1400" dirty="0"/>
          </a:p>
        </p:txBody>
      </p:sp>
      <p:sp>
        <p:nvSpPr>
          <p:cNvPr id="25" name="Decisions card">
            <a:extLst>
              <a:ext uri="{C183D7F6-B498-43B3-948B-1728B52AA6E4}">
                <adec:decorative xmlns:adec="http://schemas.microsoft.com/office/drawing/2017/decorative" val="1"/>
              </a:ext>
            </a:extLst>
          </p:cNvPr>
          <p:cNvSpPr/>
          <p:nvPr/>
        </p:nvSpPr>
        <p:spPr>
          <a:xfrm>
            <a:off x="548640" y="2926080"/>
            <a:ext cx="544068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6" name="Icon FaScaleBalanced">
            <a:extLst>
              <a:ext uri="{C183D7F6-B498-43B3-948B-1728B52AA6E4}">
                <adec:decorative xmlns:adec="http://schemas.microsoft.com/office/drawing/2017/decorative" val="1"/>
              </a:ext>
            </a:extLst>
          </p:cNvPr>
          <p:cNvSpPr/>
          <p:nvPr/>
        </p:nvSpPr>
        <p:spPr>
          <a:xfrm>
            <a:off x="731520" y="3090672"/>
            <a:ext cx="548640" cy="548640"/>
          </a:xfrm>
          <a:prstGeom prst="ellipse">
            <a:avLst/>
          </a:prstGeom>
          <a:solidFill>
            <a:srgbClr val="0F766E"/>
          </a:solidFill>
          <a:ln w="12700">
            <a:solidFill>
              <a:srgbClr val="0F766E"/>
            </a:solidFill>
            <a:prstDash val="solid"/>
          </a:ln>
        </p:spPr>
      </p:sp>
      <p:pic>
        <p:nvPicPr>
          <p:cNvPr id="27"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863194" y="3222346"/>
            <a:ext cx="285293" cy="285293"/>
          </a:xfrm>
          <a:prstGeom prst="rect">
            <a:avLst/>
          </a:prstGeom>
        </p:spPr>
      </p:pic>
      <p:sp>
        <p:nvSpPr>
          <p:cNvPr id="28" name="Decisions head"/>
          <p:cNvSpPr txBox="1"/>
          <p:nvPr/>
        </p:nvSpPr>
        <p:spPr>
          <a:xfrm>
            <a:off x="1371600" y="3072384"/>
            <a:ext cx="448056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Where decisions are made</a:t>
            </a:r>
            <a:endParaRPr lang="en-US" sz="1650" dirty="0"/>
          </a:p>
        </p:txBody>
      </p:sp>
      <p:sp>
        <p:nvSpPr>
          <p:cNvPr id="29" name="Decisions body"/>
          <p:cNvSpPr txBox="1"/>
          <p:nvPr/>
        </p:nvSpPr>
        <p:spPr>
          <a:xfrm>
            <a:off x="749808" y="3803904"/>
            <a:ext cx="5074920" cy="70408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Most of the program's decisions are made in one of these meetings.</a:t>
            </a:r>
            <a:endParaRPr lang="en-US" sz="1500" dirty="0"/>
          </a:p>
        </p:txBody>
      </p:sp>
      <p:sp>
        <p:nvSpPr>
          <p:cNvPr id="30" name="Slippage card">
            <a:extLst>
              <a:ext uri="{C183D7F6-B498-43B3-948B-1728B52AA6E4}">
                <adec:decorative xmlns:adec="http://schemas.microsoft.com/office/drawing/2017/decorative" val="1"/>
              </a:ext>
            </a:extLst>
          </p:cNvPr>
          <p:cNvSpPr/>
          <p:nvPr/>
        </p:nvSpPr>
        <p:spPr>
          <a:xfrm>
            <a:off x="6217920" y="2926080"/>
            <a:ext cx="5440680" cy="1691640"/>
          </a:xfrm>
          <a:prstGeom prst="roundRect">
            <a:avLst>
              <a:gd name="adj" fmla="val 43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31" name="Icon FaTriangleExclamation">
            <a:extLst>
              <a:ext uri="{C183D7F6-B498-43B3-948B-1728B52AA6E4}">
                <adec:decorative xmlns:adec="http://schemas.microsoft.com/office/drawing/2017/decorative" val="1"/>
              </a:ext>
            </a:extLst>
          </p:cNvPr>
          <p:cNvSpPr/>
          <p:nvPr/>
        </p:nvSpPr>
        <p:spPr>
          <a:xfrm>
            <a:off x="6400800" y="3090672"/>
            <a:ext cx="548640" cy="548640"/>
          </a:xfrm>
          <a:prstGeom prst="ellipse">
            <a:avLst/>
          </a:prstGeom>
          <a:solidFill>
            <a:srgbClr val="B91C1C"/>
          </a:solidFill>
          <a:ln w="12700">
            <a:solidFill>
              <a:srgbClr val="B91C1C"/>
            </a:solidFill>
            <a:prstDash val="solid"/>
          </a:ln>
        </p:spPr>
      </p:sp>
      <p:pic>
        <p:nvPicPr>
          <p:cNvPr id="32" name="Image 6">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532474" y="3222346"/>
            <a:ext cx="285293" cy="285293"/>
          </a:xfrm>
          <a:prstGeom prst="rect">
            <a:avLst/>
          </a:prstGeom>
        </p:spPr>
      </p:pic>
      <p:sp>
        <p:nvSpPr>
          <p:cNvPr id="33" name="Slippage head"/>
          <p:cNvSpPr txBox="1"/>
          <p:nvPr/>
        </p:nvSpPr>
        <p:spPr>
          <a:xfrm>
            <a:off x="7040880" y="3072384"/>
            <a:ext cx="4480560" cy="585216"/>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Where slippage starts</a:t>
            </a:r>
            <a:endParaRPr lang="en-US" sz="1650" dirty="0"/>
          </a:p>
        </p:txBody>
      </p:sp>
      <p:sp>
        <p:nvSpPr>
          <p:cNvPr id="34" name="Slippage body"/>
          <p:cNvSpPr txBox="1"/>
          <p:nvPr/>
        </p:nvSpPr>
        <p:spPr>
          <a:xfrm>
            <a:off x="6419088" y="3803904"/>
            <a:ext cx="5074920" cy="70408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Most of its slippage starts in one that ended without a clear decision or a named owner.</a:t>
            </a:r>
            <a:endParaRPr lang="en-US" sz="1500" dirty="0"/>
          </a:p>
        </p:txBody>
      </p:sp>
      <p:sp>
        <p:nvSpPr>
          <p:cNvPr id="35"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36" name="Icon FaUserCheck">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91C1C"/>
          </a:solidFill>
          <a:ln w="12700">
            <a:solidFill>
              <a:srgbClr val="B91C1C"/>
            </a:solidFill>
            <a:prstDash val="solid"/>
          </a:ln>
        </p:spPr>
      </p:sp>
      <p:pic>
        <p:nvPicPr>
          <p:cNvPr id="37" name="Image 7">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930859" y="5182819"/>
            <a:ext cx="332842" cy="332842"/>
          </a:xfrm>
          <a:prstGeom prst="rect">
            <a:avLst/>
          </a:prstGeom>
        </p:spPr>
      </p:pic>
      <p:sp>
        <p:nvSpPr>
          <p:cNvPr id="38"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B91C1C"/>
                </a:solidFill>
              </a:rPr>
              <a:t>A meeting is a tool for deciding and coordinating.  </a:t>
            </a:r>
            <a:r>
              <a:rPr lang="en-US" sz="1650" dirty="0">
                <a:solidFill>
                  <a:schemeClr val="tx2"/>
                </a:solidFill>
              </a:rPr>
              <a:t>If it ends without decisions and owners, it was a status report that cost an hour of everyone's time.</a:t>
            </a:r>
            <a:endParaRPr lang="en-US" sz="1650" dirty="0"/>
          </a:p>
        </p:txBody>
      </p:sp>
      <p:sp>
        <p:nvSpPr>
          <p:cNvPr id="3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the guide's own framing. Companion guide, Effective Meetings.</a:t>
            </a:r>
            <a:endParaRPr lang="en-US" sz="1000" dirty="0"/>
          </a:p>
        </p:txBody>
      </p:sp>
      <p:sp>
        <p:nvSpPr>
          <p:cNvPr id="4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41" name="Narration" descr="Narration for this slide; captions available">
            <a:hlinkClick r:id="" action="ppaction://media"/>
            <a:extLst>
              <a:ext uri="{FF2B5EF4-FFF2-40B4-BE49-F238E27FC236}">
                <a16:creationId xmlns:a16="http://schemas.microsoft.com/office/drawing/2014/main" id="{7A8FD2C2-D7D4-8C9B-EE5D-F8F4403F58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8E4789-A2AF-4AED-8567-6B86EC5347FB}" label="English (captions)" lang="en-US" r:embed="rId14"/>
                        </p173:trackLst>
                      </p173:tracksInfo>
                    </p:ext>
                  </p14:extLst>
                </p14:media>
              </p:ext>
            </p:extLst>
          </p:nvPr>
        </p:nvPicPr>
        <p:blipFill>
          <a:blip r:embed="rId13"/>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00"/>
    </mc:Choice>
    <mc:Fallback>
      <p:transition spd="slow" advTm="3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04"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habits are old, and they work</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ndustry card">
            <a:extLst>
              <a:ext uri="{C183D7F6-B498-43B3-948B-1728B52AA6E4}">
                <adec:decorative xmlns:adec="http://schemas.microsoft.com/office/drawing/2017/decorative" val="1"/>
              </a:ext>
            </a:extLst>
          </p:cNvPr>
          <p:cNvSpPr/>
          <p:nvPr/>
        </p:nvSpPr>
        <p:spPr>
          <a:xfrm>
            <a:off x="548640" y="1371600"/>
            <a:ext cx="3550920"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con FaBuilding">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Industry head"/>
          <p:cNvSpPr txBox="1"/>
          <p:nvPr/>
        </p:nvSpPr>
        <p:spPr>
          <a:xfrm>
            <a:off x="137160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Industry: Intel</a:t>
            </a:r>
            <a:endParaRPr lang="en-US" sz="1650" dirty="0"/>
          </a:p>
        </p:txBody>
      </p:sp>
      <p:sp>
        <p:nvSpPr>
          <p:cNvPr id="9" name="Industry body"/>
          <p:cNvSpPr txBox="1"/>
          <p:nvPr/>
        </p:nvSpPr>
        <p:spPr>
          <a:xfrm>
            <a:off x="74980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course on effective meetings was mandatory for new employees</a:t>
            </a:r>
            <a:endParaRPr lang="en-US" sz="1350" dirty="0"/>
          </a:p>
          <a:p>
            <a:pPr marL="342900" indent="-342900">
              <a:spcAft>
                <a:spcPts val="600"/>
              </a:spcAft>
              <a:buSzPct val="100000"/>
              <a:buChar char="•"/>
            </a:pPr>
            <a:r>
              <a:rPr lang="en-US" sz="1350" dirty="0">
                <a:solidFill>
                  <a:schemeClr val="tx2"/>
                </a:solidFill>
              </a:rPr>
              <a:t>Often taught by Andy Grove himself, while he was CEO</a:t>
            </a:r>
            <a:endParaRPr lang="en-US" sz="1350" dirty="0"/>
          </a:p>
        </p:txBody>
      </p:sp>
      <p:sp>
        <p:nvSpPr>
          <p:cNvPr id="10" name="Government card">
            <a:extLst>
              <a:ext uri="{C183D7F6-B498-43B3-948B-1728B52AA6E4}">
                <adec:decorative xmlns:adec="http://schemas.microsoft.com/office/drawing/2017/decorative" val="1"/>
              </a:ext>
            </a:extLst>
          </p:cNvPr>
          <p:cNvSpPr/>
          <p:nvPr/>
        </p:nvSpPr>
        <p:spPr>
          <a:xfrm>
            <a:off x="4328160" y="1371600"/>
            <a:ext cx="3550920"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Icon FaBuildingColumns">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42714" y="1667866"/>
            <a:ext cx="285293" cy="285293"/>
          </a:xfrm>
          <a:prstGeom prst="rect">
            <a:avLst/>
          </a:prstGeom>
        </p:spPr>
      </p:pic>
      <p:sp>
        <p:nvSpPr>
          <p:cNvPr id="13" name="Government head"/>
          <p:cNvSpPr txBox="1"/>
          <p:nvPr/>
        </p:nvSpPr>
        <p:spPr>
          <a:xfrm>
            <a:off x="5151120" y="1517904"/>
            <a:ext cx="259080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Government: GSA's 18F</a:t>
            </a:r>
            <a:endParaRPr lang="en-US" sz="1650" dirty="0"/>
          </a:p>
        </p:txBody>
      </p:sp>
      <p:sp>
        <p:nvSpPr>
          <p:cNvPr id="14" name="Government body"/>
          <p:cNvSpPr txBox="1"/>
          <p:nvPr/>
        </p:nvSpPr>
        <p:spPr>
          <a:xfrm>
            <a:off x="452932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federal digital-services team's short public guide (2016)</a:t>
            </a:r>
            <a:endParaRPr lang="en-US" sz="1350" dirty="0"/>
          </a:p>
          <a:p>
            <a:pPr marL="342900" indent="-342900">
              <a:spcAft>
                <a:spcPts val="600"/>
              </a:spcAft>
              <a:buSzPct val="100000"/>
              <a:buChar char="•"/>
            </a:pPr>
            <a:r>
              <a:rPr lang="en-US" sz="1350" dirty="0">
                <a:solidFill>
                  <a:schemeClr val="tx2"/>
                </a:solidFill>
              </a:rPr>
              <a:t>A clear purpose, a complete agenda, assigned roles, written next steps</a:t>
            </a:r>
            <a:endParaRPr lang="en-US" sz="1350" dirty="0"/>
          </a:p>
        </p:txBody>
      </p:sp>
      <p:sp>
        <p:nvSpPr>
          <p:cNvPr id="15" name="Academia card">
            <a:extLst>
              <a:ext uri="{C183D7F6-B498-43B3-948B-1728B52AA6E4}">
                <adec:decorative xmlns:adec="http://schemas.microsoft.com/office/drawing/2017/decorative" val="1"/>
              </a:ext>
            </a:extLst>
          </p:cNvPr>
          <p:cNvSpPr/>
          <p:nvPr/>
        </p:nvSpPr>
        <p:spPr>
          <a:xfrm>
            <a:off x="8107680" y="1371600"/>
            <a:ext cx="3550920" cy="3246120"/>
          </a:xfrm>
          <a:prstGeom prst="roundRect">
            <a:avLst>
              <a:gd name="adj" fmla="val 225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6" name="Icon FaBook">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22234" y="1667866"/>
            <a:ext cx="285293" cy="285293"/>
          </a:xfrm>
          <a:prstGeom prst="rect">
            <a:avLst/>
          </a:prstGeom>
        </p:spPr>
      </p:pic>
      <p:sp>
        <p:nvSpPr>
          <p:cNvPr id="18" name="Academia head"/>
          <p:cNvSpPr txBox="1"/>
          <p:nvPr/>
        </p:nvSpPr>
        <p:spPr>
          <a:xfrm>
            <a:off x="8930640" y="1517904"/>
            <a:ext cx="2590800" cy="585216"/>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Academia</a:t>
            </a:r>
            <a:endParaRPr lang="en-US" sz="1650" dirty="0"/>
          </a:p>
        </p:txBody>
      </p:sp>
      <p:sp>
        <p:nvSpPr>
          <p:cNvPr id="19" name="Academia body"/>
          <p:cNvSpPr txBox="1"/>
          <p:nvPr/>
        </p:nvSpPr>
        <p:spPr>
          <a:xfrm>
            <a:off x="830884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Faculty development: UPMC Children's Hospital of Pittsburgh (2016)</a:t>
            </a:r>
            <a:endParaRPr lang="en-US" sz="1350" dirty="0"/>
          </a:p>
          <a:p>
            <a:pPr marL="342900" indent="-342900">
              <a:spcAft>
                <a:spcPts val="600"/>
              </a:spcAft>
              <a:buSzPct val="100000"/>
              <a:buChar char="•"/>
            </a:pPr>
            <a:r>
              <a:rPr lang="en-US" sz="1350" dirty="0">
                <a:solidFill>
                  <a:schemeClr val="tx2"/>
                </a:solidFill>
              </a:rPr>
              <a:t>Engineering: Portland State University's meeting toolbox (2018)</a:t>
            </a:r>
            <a:endParaRPr lang="en-US" sz="1350" dirty="0"/>
          </a:p>
          <a:p>
            <a:pPr marL="342900" indent="-342900">
              <a:spcAft>
                <a:spcPts val="600"/>
              </a:spcAft>
              <a:buSzPct val="100000"/>
              <a:buChar char="•"/>
            </a:pPr>
            <a:r>
              <a:rPr lang="en-US" sz="1350" dirty="0">
                <a:solidFill>
                  <a:schemeClr val="tx2"/>
                </a:solidFill>
              </a:rPr>
              <a:t>The same structure</a:t>
            </a:r>
            <a:endParaRPr lang="en-US" sz="1350" dirty="0"/>
          </a:p>
        </p:txBody>
      </p:sp>
      <p:sp>
        <p:nvSpPr>
          <p:cNvPr id="20"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30859" y="5182819"/>
            <a:ext cx="332842" cy="332842"/>
          </a:xfrm>
          <a:prstGeom prst="rect">
            <a:avLst/>
          </a:prstGeom>
        </p:spPr>
      </p:pic>
      <p:sp>
        <p:nvSpPr>
          <p:cNvPr id="23"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1F2A44"/>
                </a:solidFill>
              </a:rPr>
              <a:t>The pattern is consistent because it works.  </a:t>
            </a:r>
            <a:r>
              <a:rPr lang="en-US" sz="1650" dirty="0">
                <a:solidFill>
                  <a:schemeClr val="tx2"/>
                </a:solidFill>
              </a:rPr>
              <a:t>Purpose, agenda, roles and written next steps: the same four ideas, from three different worlds.</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Belludi, Right Attitudes (2023); 18F, GSA (2016); Ploof, UPMC Children's (2016); Recktenwald, Portland State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73FBFA2C-FA99-9CF9-7327-E6006C178D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9839E4-257C-4A21-86CF-A45EA316166D}"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620"/>
    </mc:Choice>
    <mc:Fallback>
      <p:transition spd="slow" advTm="43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2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Before, during, after: what each phase produces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hree boxes left to right. Before: purpose, agenda sent in advance, roles assigned, right attendees. During: start on time, confirm purpose and roles, follow the agenda, parking lot, timekeeping. After: notes sent the same day, action items with owner and due date, parking lot routed, follow-up at the next meeting. An arrow from After loops back to Before, labeled next agenda."/>
          <p:cNvPicPr>
            <a:picLocks noChangeAspect="1"/>
          </p:cNvPicPr>
          <p:nvPr/>
        </p:nvPicPr>
        <p:blipFill>
          <a:blip r:embed="rId5"/>
          <a:stretch>
            <a:fillRect/>
          </a:stretch>
        </p:blipFill>
        <p:spPr>
          <a:xfrm>
            <a:off x="941087" y="1371600"/>
            <a:ext cx="10325066" cy="3291840"/>
          </a:xfrm>
          <a:prstGeom prst="rect">
            <a:avLst/>
          </a:prstGeom>
        </p:spPr>
      </p:pic>
      <p:sp>
        <p:nvSpPr>
          <p:cNvPr id="6"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30859" y="5182819"/>
            <a:ext cx="332842" cy="332842"/>
          </a:xfrm>
          <a:prstGeom prst="rect">
            <a:avLst/>
          </a:prstGeom>
        </p:spPr>
      </p:pic>
      <p:sp>
        <p:nvSpPr>
          <p:cNvPr id="9"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0F766E"/>
                </a:solidFill>
              </a:rPr>
              <a:t>The loop closes on the next agenda.  </a:t>
            </a:r>
            <a:r>
              <a:rPr lang="en-US" sz="1650" dirty="0">
                <a:solidFill>
                  <a:schemeClr val="tx2"/>
                </a:solidFill>
              </a:rPr>
              <a:t>What one meeting produces opens the next: start it by reviewing the previous action items.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(2016); Recktenwald, Portland State (2018); the guide's figure.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4121C07-2BF7-D85A-5F9B-E86D825EDE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816D4F-A1FB-45E2-9DEB-C977567A934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00"/>
    </mc:Choice>
    <mc:Fallback>
      <p:transition spd="slow" advTm="3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9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Is a meeting needed at all?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est card">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lter">
            <a:extLst>
              <a:ext uri="{C183D7F6-B498-43B3-948B-1728B52AA6E4}">
                <adec:decorative xmlns:adec="http://schemas.microsoft.com/office/drawing/2017/decorative" val="1"/>
              </a:ext>
            </a:extLst>
          </p:cNvPr>
          <p:cNvSpPr/>
          <p:nvPr/>
        </p:nvSpPr>
        <p:spPr>
          <a:xfrm>
            <a:off x="777240" y="1554480"/>
            <a:ext cx="640080" cy="64008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1708099"/>
            <a:ext cx="332842" cy="332842"/>
          </a:xfrm>
          <a:prstGeom prst="rect">
            <a:avLst/>
          </a:prstGeom>
        </p:spPr>
      </p:pic>
      <p:sp>
        <p:nvSpPr>
          <p:cNvPr id="8" name="Test head"/>
          <p:cNvSpPr txBox="1"/>
          <p:nvPr/>
        </p:nvSpPr>
        <p:spPr>
          <a:xfrm>
            <a:off x="1600200" y="1572768"/>
            <a:ext cx="4160520" cy="59436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18F's test</a:t>
            </a:r>
            <a:endParaRPr lang="en-US" sz="1800" dirty="0"/>
          </a:p>
        </p:txBody>
      </p:sp>
      <p:sp>
        <p:nvSpPr>
          <p:cNvPr id="9" name="Test text"/>
          <p:cNvSpPr txBox="1"/>
          <p:nvPr/>
        </p:nvSpPr>
        <p:spPr>
          <a:xfrm>
            <a:off x="822960" y="2423160"/>
            <a:ext cx="4892040" cy="1280160"/>
          </a:xfrm>
          <a:prstGeom prst="rect">
            <a:avLst/>
          </a:prstGeom>
          <a:noFill/>
          <a:ln/>
        </p:spPr>
        <p:txBody>
          <a:bodyPr wrap="square" lIns="0" tIns="0" rIns="0" bIns="0" rtlCol="0" anchor="ctr"/>
          <a:lstStyle/>
          <a:p>
            <a:pPr marL="0" indent="0">
              <a:buNone/>
            </a:pPr>
            <a:r>
              <a:rPr lang="en-US" sz="2400" dirty="0">
                <a:solidFill>
                  <a:srgbClr val="1F2A44"/>
                </a:solidFill>
                <a:latin typeface="Cambria" pitchFamily="34" charset="0"/>
                <a:ea typeface="Cambria" pitchFamily="34" charset="-122"/>
                <a:cs typeface="Cambria" pitchFamily="34" charset="-120"/>
              </a:rPr>
              <a:t>Is the meeting a better use of the attendees' time than not meeting?</a:t>
            </a:r>
            <a:endParaRPr lang="en-US" sz="2400" dirty="0"/>
          </a:p>
        </p:txBody>
      </p:sp>
      <p:sp>
        <p:nvSpPr>
          <p:cNvPr id="10" name="Test note"/>
          <p:cNvSpPr txBox="1"/>
          <p:nvPr/>
        </p:nvSpPr>
        <p:spPr>
          <a:xfrm>
            <a:off x="822960" y="3886200"/>
            <a:ext cx="4892040" cy="548640"/>
          </a:xfrm>
          <a:prstGeom prst="rect">
            <a:avLst/>
          </a:prstGeom>
          <a:noFill/>
          <a:ln/>
        </p:spPr>
        <p:txBody>
          <a:bodyPr wrap="square" lIns="0" tIns="0" rIns="0" bIns="0" rtlCol="0" anchor="t"/>
          <a:lstStyle/>
          <a:p>
            <a:pPr marL="0" indent="0">
              <a:buNone/>
            </a:pPr>
            <a:r>
              <a:rPr lang="en-US" sz="1400" dirty="0">
                <a:solidFill>
                  <a:srgbClr val="334155"/>
                </a:solidFill>
              </a:rPr>
              <a:t>Ask this first, before the agenda, the roles or the invitation.</a:t>
            </a:r>
            <a:endParaRPr lang="en-US" sz="1400" dirty="0"/>
          </a:p>
        </p:txBody>
      </p:sp>
      <p:sp>
        <p:nvSpPr>
          <p:cNvPr id="11" name="Reasons card">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6446520" y="1554480"/>
            <a:ext cx="640080" cy="64008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00139" y="1708099"/>
            <a:ext cx="332842" cy="332842"/>
          </a:xfrm>
          <a:prstGeom prst="rect">
            <a:avLst/>
          </a:prstGeom>
        </p:spPr>
      </p:pic>
      <p:sp>
        <p:nvSpPr>
          <p:cNvPr id="14" name="Reasons head"/>
          <p:cNvSpPr txBox="1"/>
          <p:nvPr/>
        </p:nvSpPr>
        <p:spPr>
          <a:xfrm>
            <a:off x="7269480" y="1572768"/>
            <a:ext cx="4160520" cy="59436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The usual reasons for a meeting</a:t>
            </a:r>
            <a:endParaRPr lang="en-US" sz="1800" dirty="0"/>
          </a:p>
        </p:txBody>
      </p:sp>
      <p:sp>
        <p:nvSpPr>
          <p:cNvPr id="15" name="Reason 0">
            <a:extLst>
              <a:ext uri="{C183D7F6-B498-43B3-948B-1728B52AA6E4}">
                <adec:decorative xmlns:adec="http://schemas.microsoft.com/office/drawing/2017/decorative" val="1"/>
              </a:ext>
            </a:extLst>
          </p:cNvPr>
          <p:cNvSpPr/>
          <p:nvPr/>
        </p:nvSpPr>
        <p:spPr>
          <a:xfrm>
            <a:off x="6446520" y="2377440"/>
            <a:ext cx="2377440" cy="685800"/>
          </a:xfrm>
          <a:prstGeom prst="roundRect">
            <a:avLst>
              <a:gd name="adj" fmla="val 1066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Reason 0 text"/>
          <p:cNvSpPr txBox="1"/>
          <p:nvPr/>
        </p:nvSpPr>
        <p:spPr>
          <a:xfrm>
            <a:off x="6537960" y="2377440"/>
            <a:ext cx="2194560" cy="685800"/>
          </a:xfrm>
          <a:prstGeom prst="rect">
            <a:avLst/>
          </a:prstGeom>
          <a:noFill/>
          <a:ln/>
        </p:spPr>
        <p:txBody>
          <a:bodyPr wrap="square" lIns="0" tIns="0" rIns="0" bIns="0" rtlCol="0" anchor="ctr"/>
          <a:lstStyle/>
          <a:p>
            <a:pPr marL="0" indent="0" algn="ctr">
              <a:buNone/>
            </a:pPr>
            <a:r>
              <a:rPr lang="en-US" sz="1500" b="1" dirty="0">
                <a:solidFill>
                  <a:srgbClr val="334155"/>
                </a:solidFill>
              </a:rPr>
              <a:t>Giving information</a:t>
            </a:r>
            <a:endParaRPr lang="en-US" sz="1500" dirty="0"/>
          </a:p>
        </p:txBody>
      </p:sp>
      <p:sp>
        <p:nvSpPr>
          <p:cNvPr id="17" name="Reason 1">
            <a:extLst>
              <a:ext uri="{C183D7F6-B498-43B3-948B-1728B52AA6E4}">
                <adec:decorative xmlns:adec="http://schemas.microsoft.com/office/drawing/2017/decorative" val="1"/>
              </a:ext>
            </a:extLst>
          </p:cNvPr>
          <p:cNvSpPr/>
          <p:nvPr/>
        </p:nvSpPr>
        <p:spPr>
          <a:xfrm>
            <a:off x="9052560" y="2377440"/>
            <a:ext cx="2377440" cy="685800"/>
          </a:xfrm>
          <a:prstGeom prst="roundRect">
            <a:avLst>
              <a:gd name="adj" fmla="val 1066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Reason 1 text"/>
          <p:cNvSpPr txBox="1"/>
          <p:nvPr/>
        </p:nvSpPr>
        <p:spPr>
          <a:xfrm>
            <a:off x="9144000" y="2377440"/>
            <a:ext cx="2194560" cy="685800"/>
          </a:xfrm>
          <a:prstGeom prst="rect">
            <a:avLst/>
          </a:prstGeom>
          <a:noFill/>
          <a:ln/>
        </p:spPr>
        <p:txBody>
          <a:bodyPr wrap="square" lIns="0" tIns="0" rIns="0" bIns="0" rtlCol="0" anchor="ctr"/>
          <a:lstStyle/>
          <a:p>
            <a:pPr marL="0" indent="0" algn="ctr">
              <a:buNone/>
            </a:pPr>
            <a:r>
              <a:rPr lang="en-US" sz="1500" b="1" dirty="0">
                <a:solidFill>
                  <a:srgbClr val="334155"/>
                </a:solidFill>
              </a:rPr>
              <a:t>Working a problem</a:t>
            </a:r>
            <a:endParaRPr lang="en-US" sz="1500" dirty="0"/>
          </a:p>
        </p:txBody>
      </p:sp>
      <p:sp>
        <p:nvSpPr>
          <p:cNvPr id="19" name="Reason 2">
            <a:extLst>
              <a:ext uri="{C183D7F6-B498-43B3-948B-1728B52AA6E4}">
                <adec:decorative xmlns:adec="http://schemas.microsoft.com/office/drawing/2017/decorative" val="1"/>
              </a:ext>
            </a:extLst>
          </p:cNvPr>
          <p:cNvSpPr/>
          <p:nvPr/>
        </p:nvSpPr>
        <p:spPr>
          <a:xfrm>
            <a:off x="6446520" y="3246120"/>
            <a:ext cx="2377440" cy="685800"/>
          </a:xfrm>
          <a:prstGeom prst="roundRect">
            <a:avLst>
              <a:gd name="adj" fmla="val 10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0" name="Reason 2 text"/>
          <p:cNvSpPr txBox="1"/>
          <p:nvPr/>
        </p:nvSpPr>
        <p:spPr>
          <a:xfrm>
            <a:off x="6537960" y="3246120"/>
            <a:ext cx="2194560" cy="685800"/>
          </a:xfrm>
          <a:prstGeom prst="rect">
            <a:avLst/>
          </a:prstGeom>
          <a:noFill/>
          <a:ln/>
        </p:spPr>
        <p:txBody>
          <a:bodyPr wrap="square" lIns="0" tIns="0" rIns="0" bIns="0" rtlCol="0" anchor="ctr"/>
          <a:lstStyle/>
          <a:p>
            <a:pPr marL="0" indent="0" algn="ctr">
              <a:buNone/>
            </a:pPr>
            <a:r>
              <a:rPr lang="en-US" sz="1500" b="1" dirty="0">
                <a:solidFill>
                  <a:srgbClr val="334155"/>
                </a:solidFill>
              </a:rPr>
              <a:t>“Satisfying requirements”</a:t>
            </a:r>
            <a:endParaRPr lang="en-US" sz="1500" dirty="0"/>
          </a:p>
        </p:txBody>
      </p:sp>
      <p:sp>
        <p:nvSpPr>
          <p:cNvPr id="21" name="Reason 3">
            <a:extLst>
              <a:ext uri="{C183D7F6-B498-43B3-948B-1728B52AA6E4}">
                <adec:decorative xmlns:adec="http://schemas.microsoft.com/office/drawing/2017/decorative" val="1"/>
              </a:ext>
            </a:extLst>
          </p:cNvPr>
          <p:cNvSpPr/>
          <p:nvPr/>
        </p:nvSpPr>
        <p:spPr>
          <a:xfrm>
            <a:off x="9052560" y="3246120"/>
            <a:ext cx="2377440" cy="685800"/>
          </a:xfrm>
          <a:prstGeom prst="roundRect">
            <a:avLst>
              <a:gd name="adj" fmla="val 10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2" name="Reason 3 text"/>
          <p:cNvSpPr txBox="1"/>
          <p:nvPr/>
        </p:nvSpPr>
        <p:spPr>
          <a:xfrm>
            <a:off x="9144000" y="3246120"/>
            <a:ext cx="2194560" cy="685800"/>
          </a:xfrm>
          <a:prstGeom prst="rect">
            <a:avLst/>
          </a:prstGeom>
          <a:noFill/>
          <a:ln/>
        </p:spPr>
        <p:txBody>
          <a:bodyPr wrap="square" lIns="0" tIns="0" rIns="0" bIns="0" rtlCol="0" anchor="ctr"/>
          <a:lstStyle/>
          <a:p>
            <a:pPr marL="0" indent="0" algn="ctr">
              <a:buNone/>
            </a:pPr>
            <a:r>
              <a:rPr lang="en-US" sz="1500" b="1" dirty="0">
                <a:solidFill>
                  <a:srgbClr val="334155"/>
                </a:solidFill>
              </a:rPr>
              <a:t>“Tradition”</a:t>
            </a:r>
            <a:endParaRPr lang="en-US" sz="1500" dirty="0"/>
          </a:p>
        </p:txBody>
      </p:sp>
      <p:sp>
        <p:nvSpPr>
          <p:cNvPr id="23" name="Reasons note"/>
          <p:cNvSpPr txBox="1"/>
          <p:nvPr/>
        </p:nvSpPr>
        <p:spPr>
          <a:xfrm>
            <a:off x="6446520" y="4114800"/>
            <a:ext cx="4983480" cy="365760"/>
          </a:xfrm>
          <a:prstGeom prst="rect">
            <a:avLst/>
          </a:prstGeom>
          <a:noFill/>
          <a:ln/>
        </p:spPr>
        <p:txBody>
          <a:bodyPr wrap="square" lIns="0" tIns="0" rIns="0" bIns="0" rtlCol="0" anchor="t"/>
          <a:lstStyle/>
          <a:p>
            <a:pPr marL="0" indent="0">
              <a:buNone/>
            </a:pPr>
            <a:r>
              <a:rPr lang="en-US" sz="1300" i="1" dirty="0">
                <a:solidFill>
                  <a:srgbClr val="64748B"/>
                </a:solidFill>
              </a:rPr>
              <a:t>From real work to simply satisfying requirements and tradition.</a:t>
            </a:r>
            <a:endParaRPr lang="en-US" sz="1300" dirty="0"/>
          </a:p>
        </p:txBody>
      </p:sp>
      <p:sp>
        <p:nvSpPr>
          <p:cNvPr id="24"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5" name="Icon FaLightbulb">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0F766E"/>
          </a:solidFill>
          <a:ln w="12700">
            <a:solidFill>
              <a:srgbClr val="0F766E"/>
            </a:solidFill>
            <a:prstDash val="solid"/>
          </a:ln>
        </p:spPr>
      </p:sp>
      <p:pic>
        <p:nvPicPr>
          <p:cNvPr id="2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0859" y="5182819"/>
            <a:ext cx="332842" cy="332842"/>
          </a:xfrm>
          <a:prstGeom prst="rect">
            <a:avLst/>
          </a:prstGeom>
        </p:spPr>
      </p:pic>
      <p:sp>
        <p:nvSpPr>
          <p:cNvPr id="27"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0F766E"/>
                </a:solidFill>
              </a:rPr>
              <a:t>Can some of those goals be met another way?  </a:t>
            </a:r>
            <a:r>
              <a:rPr lang="en-US" sz="1650" dirty="0">
                <a:solidFill>
                  <a:schemeClr val="tx2"/>
                </a:solidFill>
              </a:rPr>
              <a:t>The UPMC session asks it of each reason; the guide turns it into a working rule.</a:t>
            </a:r>
            <a:endParaRPr lang="en-US" sz="1650" dirty="0"/>
          </a:p>
        </p:txBody>
      </p:sp>
      <p:sp>
        <p:nvSpPr>
          <p:cNvPr id="2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Companion guide, Effective Meetings.</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9E69EEC9-3C3A-33D6-0E02-F9D30752C9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2D6CE2-AD76-4829-9AFE-3E8234EF8D2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80"/>
    </mc:Choice>
    <mc:Fallback>
      <p:transition spd="slow" advTm="3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76"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Meet, write it down, or retire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ule 0 card">
            <a:extLst>
              <a:ext uri="{C183D7F6-B498-43B3-948B-1728B52AA6E4}">
                <adec:decorative xmlns:adec="http://schemas.microsoft.com/office/drawing/2017/decorative" val="1"/>
              </a:ext>
            </a:extLst>
          </p:cNvPr>
          <p:cNvSpPr/>
          <p:nvPr/>
        </p:nvSpPr>
        <p:spPr>
          <a:xfrm>
            <a:off x="548640" y="1371600"/>
            <a:ext cx="355092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TableList">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Rule 0 head"/>
          <p:cNvSpPr txBox="1"/>
          <p:nvPr/>
        </p:nvSpPr>
        <p:spPr>
          <a:xfrm>
            <a:off x="1417320" y="1517904"/>
            <a:ext cx="2545080" cy="603504"/>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Information only, one way</a:t>
            </a:r>
            <a:endParaRPr lang="en-US" sz="1600" dirty="0"/>
          </a:p>
        </p:txBody>
      </p:sp>
      <p:sp>
        <p:nvSpPr>
          <p:cNvPr id="9" name="Rule 0 body"/>
          <p:cNvSpPr txBox="1"/>
          <p:nvPr/>
        </p:nvSpPr>
        <p:spPr>
          <a:xfrm>
            <a:off x="749808" y="2286000"/>
            <a:ext cx="3185160" cy="868680"/>
          </a:xfrm>
          <a:prstGeom prst="rect">
            <a:avLst/>
          </a:prstGeom>
          <a:noFill/>
          <a:ln/>
        </p:spPr>
        <p:txBody>
          <a:bodyPr wrap="square" lIns="0" tIns="0" rIns="0" bIns="0" rtlCol="0" anchor="t"/>
          <a:lstStyle/>
          <a:p>
            <a:pPr marL="0" indent="0">
              <a:buNone/>
            </a:pPr>
            <a:r>
              <a:rPr lang="en-US" sz="1350" dirty="0">
                <a:solidFill>
                  <a:schemeClr val="tx2"/>
                </a:solidFill>
              </a:rPr>
              <a:t>Nothing to discuss or decide; the information flows from one person to the rest.</a:t>
            </a:r>
            <a:endParaRPr lang="en-US" sz="1350" dirty="0"/>
          </a:p>
        </p:txBody>
      </p:sp>
      <p:sp>
        <p:nvSpPr>
          <p:cNvPr id="10" name="Rule 0 action">
            <a:extLst>
              <a:ext uri="{C183D7F6-B498-43B3-948B-1728B52AA6E4}">
                <adec:decorative xmlns:adec="http://schemas.microsoft.com/office/drawing/2017/decorative" val="1"/>
              </a:ext>
            </a:extLst>
          </p:cNvPr>
          <p:cNvSpPr/>
          <p:nvPr/>
        </p:nvSpPr>
        <p:spPr>
          <a:xfrm>
            <a:off x="731520" y="3291840"/>
            <a:ext cx="3185160" cy="1170432"/>
          </a:xfrm>
          <a:prstGeom prst="roundRect">
            <a:avLst>
              <a:gd name="adj" fmla="val 625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Rule 0 action text"/>
          <p:cNvSpPr txBox="1"/>
          <p:nvPr/>
        </p:nvSpPr>
        <p:spPr>
          <a:xfrm>
            <a:off x="868680" y="3346704"/>
            <a:ext cx="2910840" cy="1060704"/>
          </a:xfrm>
          <a:prstGeom prst="rect">
            <a:avLst/>
          </a:prstGeom>
          <a:noFill/>
          <a:ln/>
        </p:spPr>
        <p:txBody>
          <a:bodyPr wrap="square" lIns="0" tIns="0" rIns="0" bIns="0" rtlCol="0" anchor="ctr"/>
          <a:lstStyle/>
          <a:p>
            <a:pPr marL="0" indent="0">
              <a:buNone/>
            </a:pPr>
            <a:r>
              <a:rPr lang="en-US" sz="1550" b="1" dirty="0">
                <a:solidFill>
                  <a:srgbClr val="1F2A44"/>
                </a:solidFill>
              </a:rPr>
              <a:t>→  Send a written update</a:t>
            </a:r>
            <a:endParaRPr lang="en-US" sz="1400" dirty="0"/>
          </a:p>
          <a:p>
            <a:pPr marL="0" indent="0">
              <a:buNone/>
            </a:pPr>
            <a:r>
              <a:rPr lang="en-US" sz="1300" dirty="0">
                <a:solidFill>
                  <a:schemeClr val="tx2"/>
                </a:solidFill>
              </a:rPr>
              <a:t>Meet only if questions need live discussion</a:t>
            </a:r>
            <a:endParaRPr lang="en-US" sz="1400" dirty="0"/>
          </a:p>
        </p:txBody>
      </p:sp>
      <p:sp>
        <p:nvSpPr>
          <p:cNvPr id="12" name="Rule 1 card">
            <a:extLst>
              <a:ext uri="{C183D7F6-B498-43B3-948B-1728B52AA6E4}">
                <adec:decorative xmlns:adec="http://schemas.microsoft.com/office/drawing/2017/decorative" val="1"/>
              </a:ext>
            </a:extLst>
          </p:cNvPr>
          <p:cNvSpPr/>
          <p:nvPr/>
        </p:nvSpPr>
        <p:spPr>
          <a:xfrm>
            <a:off x="4328160" y="1371600"/>
            <a:ext cx="355092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0F766E"/>
          </a:solidFill>
          <a:ln w="12700">
            <a:solidFill>
              <a:srgbClr val="0F766E"/>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42714" y="1667866"/>
            <a:ext cx="285293" cy="285293"/>
          </a:xfrm>
          <a:prstGeom prst="rect">
            <a:avLst/>
          </a:prstGeom>
        </p:spPr>
      </p:pic>
      <p:sp>
        <p:nvSpPr>
          <p:cNvPr id="15" name="Rule 1 head"/>
          <p:cNvSpPr txBox="1"/>
          <p:nvPr/>
        </p:nvSpPr>
        <p:spPr>
          <a:xfrm>
            <a:off x="5196840" y="1517904"/>
            <a:ext cx="2545080" cy="603504"/>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A problem to work, or a decision to make</a:t>
            </a:r>
            <a:endParaRPr lang="en-US" sz="1600" dirty="0"/>
          </a:p>
        </p:txBody>
      </p:sp>
      <p:sp>
        <p:nvSpPr>
          <p:cNvPr id="16" name="Rule 1 body"/>
          <p:cNvSpPr txBox="1"/>
          <p:nvPr/>
        </p:nvSpPr>
        <p:spPr>
          <a:xfrm>
            <a:off x="4529328" y="2286000"/>
            <a:ext cx="3185160" cy="868680"/>
          </a:xfrm>
          <a:prstGeom prst="rect">
            <a:avLst/>
          </a:prstGeom>
          <a:noFill/>
          <a:ln/>
        </p:spPr>
        <p:txBody>
          <a:bodyPr wrap="square" lIns="0" tIns="0" rIns="0" bIns="0" rtlCol="0" anchor="t"/>
          <a:lstStyle/>
          <a:p>
            <a:pPr marL="0" indent="0">
              <a:buNone/>
            </a:pPr>
            <a:r>
              <a:rPr lang="en-US" sz="1350" dirty="0">
                <a:solidFill>
                  <a:schemeClr val="tx2"/>
                </a:solidFill>
              </a:rPr>
              <a:t>The group has to generate options, narrow them, or commit.</a:t>
            </a:r>
            <a:endParaRPr lang="en-US" sz="1350" dirty="0"/>
          </a:p>
        </p:txBody>
      </p:sp>
      <p:sp>
        <p:nvSpPr>
          <p:cNvPr id="17" name="Rule 1 action">
            <a:extLst>
              <a:ext uri="{C183D7F6-B498-43B3-948B-1728B52AA6E4}">
                <adec:decorative xmlns:adec="http://schemas.microsoft.com/office/drawing/2017/decorative" val="1"/>
              </a:ext>
            </a:extLst>
          </p:cNvPr>
          <p:cNvSpPr/>
          <p:nvPr/>
        </p:nvSpPr>
        <p:spPr>
          <a:xfrm>
            <a:off x="4511040" y="3291840"/>
            <a:ext cx="3185160" cy="1170432"/>
          </a:xfrm>
          <a:prstGeom prst="roundRect">
            <a:avLst>
              <a:gd name="adj" fmla="val 625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8" name="Rule 1 action text"/>
          <p:cNvSpPr txBox="1"/>
          <p:nvPr/>
        </p:nvSpPr>
        <p:spPr>
          <a:xfrm>
            <a:off x="4648200" y="3346704"/>
            <a:ext cx="2910840" cy="1060704"/>
          </a:xfrm>
          <a:prstGeom prst="rect">
            <a:avLst/>
          </a:prstGeom>
          <a:noFill/>
          <a:ln/>
        </p:spPr>
        <p:txBody>
          <a:bodyPr wrap="square" lIns="0" tIns="0" rIns="0" bIns="0" rtlCol="0" anchor="ctr"/>
          <a:lstStyle/>
          <a:p>
            <a:pPr marL="0" indent="0">
              <a:buNone/>
            </a:pPr>
            <a:r>
              <a:rPr lang="en-US" sz="1550" b="1" dirty="0">
                <a:solidFill>
                  <a:srgbClr val="0F766E"/>
                </a:solidFill>
              </a:rPr>
              <a:t>→  Meet</a:t>
            </a:r>
            <a:endParaRPr lang="en-US" sz="1400" dirty="0"/>
          </a:p>
          <a:p>
            <a:pPr marL="0" indent="0">
              <a:buNone/>
            </a:pPr>
            <a:r>
              <a:rPr lang="en-US" sz="1300" dirty="0">
                <a:solidFill>
                  <a:schemeClr val="tx2"/>
                </a:solidFill>
              </a:rPr>
              <a:t>With the right people in the room</a:t>
            </a:r>
            <a:endParaRPr lang="en-US" sz="1400" dirty="0"/>
          </a:p>
        </p:txBody>
      </p:sp>
      <p:sp>
        <p:nvSpPr>
          <p:cNvPr id="19" name="Rule 2 card">
            <a:extLst>
              <a:ext uri="{C183D7F6-B498-43B3-948B-1728B52AA6E4}">
                <adec:decorative xmlns:adec="http://schemas.microsoft.com/office/drawing/2017/decorative" val="1"/>
              </a:ext>
            </a:extLst>
          </p:cNvPr>
          <p:cNvSpPr/>
          <p:nvPr/>
        </p:nvSpPr>
        <p:spPr>
          <a:xfrm>
            <a:off x="8107680" y="1371600"/>
            <a:ext cx="355092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Icon FaArrowsRotate">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21"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22234" y="1667866"/>
            <a:ext cx="285293" cy="285293"/>
          </a:xfrm>
          <a:prstGeom prst="rect">
            <a:avLst/>
          </a:prstGeom>
        </p:spPr>
      </p:pic>
      <p:sp>
        <p:nvSpPr>
          <p:cNvPr id="22" name="Rule 2 head"/>
          <p:cNvSpPr txBox="1"/>
          <p:nvPr/>
        </p:nvSpPr>
        <p:spPr>
          <a:xfrm>
            <a:off x="8976360" y="1517904"/>
            <a:ext cx="2545080" cy="603504"/>
          </a:xfrm>
          <a:prstGeom prst="rect">
            <a:avLst/>
          </a:prstGeom>
          <a:noFill/>
          <a:ln/>
        </p:spPr>
        <p:txBody>
          <a:bodyPr wrap="square" lIns="0" tIns="0" rIns="0" bIns="0" rtlCol="0" anchor="ctr"/>
          <a:lstStyle/>
          <a:p>
            <a:pPr marL="0" indent="0">
              <a:buNone/>
            </a:pPr>
            <a:r>
              <a:rPr lang="en-US" sz="1600" b="1" dirty="0">
                <a:solidFill>
                  <a:srgbClr val="B45309"/>
                </a:solidFill>
                <a:latin typeface="Cambria" pitchFamily="34" charset="0"/>
                <a:ea typeface="Cambria" pitchFamily="34" charset="-122"/>
                <a:cs typeface="Cambria" pitchFamily="34" charset="-120"/>
              </a:rPr>
              <a:t>A recurring meeting</a:t>
            </a:r>
            <a:endParaRPr lang="en-US" sz="1600" dirty="0"/>
          </a:p>
        </p:txBody>
      </p:sp>
      <p:sp>
        <p:nvSpPr>
          <p:cNvPr id="23" name="Rule 2 body"/>
          <p:cNvSpPr txBox="1"/>
          <p:nvPr/>
        </p:nvSpPr>
        <p:spPr>
          <a:xfrm>
            <a:off x="8308848" y="2286000"/>
            <a:ext cx="3185160" cy="868680"/>
          </a:xfrm>
          <a:prstGeom prst="rect">
            <a:avLst/>
          </a:prstGeom>
          <a:noFill/>
          <a:ln/>
        </p:spPr>
        <p:txBody>
          <a:bodyPr wrap="square" lIns="0" tIns="0" rIns="0" bIns="0" rtlCol="0" anchor="t"/>
          <a:lstStyle/>
          <a:p>
            <a:pPr marL="0" indent="0">
              <a:buNone/>
            </a:pPr>
            <a:r>
              <a:rPr lang="en-US" sz="1350" dirty="0">
                <a:solidFill>
                  <a:schemeClr val="tx2"/>
                </a:solidFill>
              </a:rPr>
              <a:t>Re-check its purpose each quarter.</a:t>
            </a:r>
            <a:endParaRPr lang="en-US" sz="1350" dirty="0"/>
          </a:p>
        </p:txBody>
      </p:sp>
      <p:sp>
        <p:nvSpPr>
          <p:cNvPr id="24" name="Rule 2 action">
            <a:extLst>
              <a:ext uri="{C183D7F6-B498-43B3-948B-1728B52AA6E4}">
                <adec:decorative xmlns:adec="http://schemas.microsoft.com/office/drawing/2017/decorative" val="1"/>
              </a:ext>
            </a:extLst>
          </p:cNvPr>
          <p:cNvSpPr/>
          <p:nvPr/>
        </p:nvSpPr>
        <p:spPr>
          <a:xfrm>
            <a:off x="8290560" y="3291840"/>
            <a:ext cx="3185160" cy="1170432"/>
          </a:xfrm>
          <a:prstGeom prst="roundRect">
            <a:avLst>
              <a:gd name="adj" fmla="val 625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5" name="Rule 2 action text"/>
          <p:cNvSpPr txBox="1"/>
          <p:nvPr/>
        </p:nvSpPr>
        <p:spPr>
          <a:xfrm>
            <a:off x="8427720" y="3346704"/>
            <a:ext cx="2910840" cy="1060704"/>
          </a:xfrm>
          <a:prstGeom prst="rect">
            <a:avLst/>
          </a:prstGeom>
          <a:noFill/>
          <a:ln/>
        </p:spPr>
        <p:txBody>
          <a:bodyPr wrap="square" lIns="0" tIns="0" rIns="0" bIns="0" rtlCol="0" anchor="ctr"/>
          <a:lstStyle/>
          <a:p>
            <a:pPr marL="0" indent="0">
              <a:buNone/>
            </a:pPr>
            <a:r>
              <a:rPr lang="en-US" sz="1550" b="1" dirty="0">
                <a:solidFill>
                  <a:srgbClr val="B45309"/>
                </a:solidFill>
              </a:rPr>
              <a:t>→  Cancel, or turn it into a written report</a:t>
            </a:r>
            <a:endParaRPr lang="en-US" sz="1400" dirty="0"/>
          </a:p>
          <a:p>
            <a:pPr marL="0" indent="0">
              <a:buNone/>
            </a:pPr>
            <a:r>
              <a:rPr lang="en-US" sz="1300" dirty="0">
                <a:solidFill>
                  <a:schemeClr val="tx2"/>
                </a:solidFill>
              </a:rPr>
              <a:t>If it no longer decides anything</a:t>
            </a:r>
            <a:endParaRPr lang="en-US" sz="1400" dirty="0"/>
          </a:p>
        </p:txBody>
      </p:sp>
      <p:sp>
        <p:nvSpPr>
          <p:cNvPr id="26"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7" name="Icon FaRoute">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45309"/>
          </a:solidFill>
          <a:ln w="12700">
            <a:solidFill>
              <a:srgbClr val="B45309"/>
            </a:solidFill>
            <a:prstDash val="solid"/>
          </a:ln>
        </p:spPr>
      </p:sp>
      <p:pic>
        <p:nvPicPr>
          <p:cNvPr id="2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30859" y="5182819"/>
            <a:ext cx="332842" cy="332842"/>
          </a:xfrm>
          <a:prstGeom prst="rect">
            <a:avLst/>
          </a:prstGeom>
        </p:spPr>
      </p:pic>
      <p:sp>
        <p:nvSpPr>
          <p:cNvPr id="29"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B45309"/>
                </a:solidFill>
              </a:rPr>
              <a:t>Design guidance.  </a:t>
            </a:r>
            <a:r>
              <a:rPr lang="en-US" sz="1650" dirty="0">
                <a:solidFill>
                  <a:schemeClr val="tx2"/>
                </a:solidFill>
              </a:rPr>
              <a:t>This is the guide's working rule for the program, built on 18F's test and the UPMC list; it is not a quoted source requirement.</a:t>
            </a:r>
            <a:endParaRPr lang="en-US" sz="16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working rule (design guidance); 18F, GSA (2016); Ploof, UPMC Children's Hospital of Pittsburgh (2016). Companion guide, Effective Meetings.</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BFE74D01-80CB-3B96-5C02-CB12D56FC8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540073-28E3-42C9-8977-D090676B04CE}"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00"/>
    </mc:Choice>
    <mc:Fallback>
      <p:transition spd="slow" advTm="39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00"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kinds of meeting, and what each is for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needs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produces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Information sharing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Mostly one-way reporting, with clarifying questions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Material sent in advance; focus on what others need to know; no rehashing past decisions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Shared understanding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Problem solving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Open discussion among many people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time limit, a note-taker, a divergent phase (generate ideas), then a convergent phase (narrow them)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Options, criteria, and the questions still open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584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Decision making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group commits to one option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is being decided, stated in advance; the method agreed in advance (consensus, majority, or deferral to an owner); everyone has the information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A recorded decision, an owner, and next steps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akeaway">
            <a:extLst>
              <a:ext uri="{C183D7F6-B498-43B3-948B-1728B52AA6E4}">
                <adec:decorative xmlns:adec="http://schemas.microsoft.com/office/drawing/2017/decorative" val="1"/>
              </a:ext>
            </a:extLst>
          </p:cNvPr>
          <p:cNvSpPr/>
          <p:nvPr/>
        </p:nvSpPr>
        <p:spPr>
          <a:xfrm>
            <a:off x="548640" y="470916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4914900"/>
            <a:ext cx="640080" cy="64008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5068519"/>
            <a:ext cx="332842" cy="332842"/>
          </a:xfrm>
          <a:prstGeom prst="rect">
            <a:avLst/>
          </a:prstGeom>
        </p:spPr>
      </p:pic>
      <p:sp>
        <p:nvSpPr>
          <p:cNvPr id="9" name="Takeaway text"/>
          <p:cNvSpPr txBox="1"/>
          <p:nvPr/>
        </p:nvSpPr>
        <p:spPr>
          <a:xfrm>
            <a:off x="1645920" y="4754880"/>
            <a:ext cx="9829800" cy="960120"/>
          </a:xfrm>
          <a:prstGeom prst="rect">
            <a:avLst/>
          </a:prstGeom>
          <a:noFill/>
          <a:ln/>
        </p:spPr>
        <p:txBody>
          <a:bodyPr wrap="square" lIns="0" tIns="0" rIns="0" bIns="0" rtlCol="0" anchor="ctr"/>
          <a:lstStyle/>
          <a:p>
            <a:pPr marL="0" indent="0">
              <a:buNone/>
            </a:pPr>
            <a:r>
              <a:rPr lang="en-US" sz="1650" b="1" dirty="0">
                <a:solidFill>
                  <a:srgbClr val="1F2A44"/>
                </a:solidFill>
              </a:rPr>
              <a:t>One meeting can hold more than one type.  </a:t>
            </a:r>
            <a:r>
              <a:rPr lang="en-US" sz="1650" dirty="0">
                <a:solidFill>
                  <a:schemeClr val="tx2"/>
                </a:solidFill>
              </a:rPr>
              <a:t>But each agenda item is one of them, and the agenda says which.</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Recktenwald, Portland State University (2018), drawing on Cameron Herold, Meetings Suck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40F9EB4-999A-54CF-68DA-8054D4CDDA2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A3AA23-CF4F-419C-A2DC-50C3311EB9C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110"/>
    </mc:Choice>
    <mc:Fallback>
      <p:transition spd="slow" advTm="45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1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Don't do the work in the room; name the shift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Work card">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Work head"/>
          <p:cNvSpPr txBox="1"/>
          <p:nvPr/>
        </p:nvSpPr>
        <p:spPr>
          <a:xfrm>
            <a:off x="1417320" y="1517904"/>
            <a:ext cx="4434840" cy="585216"/>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Don't do the work in the meeting</a:t>
            </a:r>
            <a:endParaRPr lang="en-US" sz="1700" dirty="0"/>
          </a:p>
        </p:txBody>
      </p:sp>
      <p:sp>
        <p:nvSpPr>
          <p:cNvPr id="9" name="Work trigger"/>
          <p:cNvSpPr txBox="1"/>
          <p:nvPr/>
        </p:nvSpPr>
        <p:spPr>
          <a:xfrm>
            <a:off x="749808" y="2240280"/>
            <a:ext cx="5038344" cy="457200"/>
          </a:xfrm>
          <a:prstGeom prst="rect">
            <a:avLst/>
          </a:prstGeom>
          <a:noFill/>
          <a:ln/>
        </p:spPr>
        <p:txBody>
          <a:bodyPr wrap="square" lIns="0" tIns="0" rIns="0" bIns="0" rtlCol="0" anchor="t"/>
          <a:lstStyle/>
          <a:p>
            <a:pPr marL="0" indent="0">
              <a:buNone/>
            </a:pPr>
            <a:r>
              <a:rPr lang="en-US" sz="1350" dirty="0">
                <a:solidFill>
                  <a:schemeClr val="tx2"/>
                </a:solidFill>
              </a:rPr>
              <a:t>When the group starts doing detailed analysis together:</a:t>
            </a:r>
            <a:endParaRPr lang="en-US" sz="1350" dirty="0"/>
          </a:p>
        </p:txBody>
      </p:sp>
      <p:sp>
        <p:nvSpPr>
          <p:cNvPr id="10" name="Work step 0">
            <a:extLst>
              <a:ext uri="{C183D7F6-B498-43B3-948B-1728B52AA6E4}">
                <adec:decorative xmlns:adec="http://schemas.microsoft.com/office/drawing/2017/decorative" val="1"/>
              </a:ext>
            </a:extLst>
          </p:cNvPr>
          <p:cNvSpPr/>
          <p:nvPr/>
        </p:nvSpPr>
        <p:spPr>
          <a:xfrm>
            <a:off x="731520" y="2788920"/>
            <a:ext cx="1435608" cy="1600200"/>
          </a:xfrm>
          <a:prstGeom prst="roundRect">
            <a:avLst>
              <a:gd name="adj" fmla="val 509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Work step 0 text"/>
          <p:cNvSpPr txBox="1"/>
          <p:nvPr/>
        </p:nvSpPr>
        <p:spPr>
          <a:xfrm>
            <a:off x="804672" y="2834640"/>
            <a:ext cx="1289304" cy="1508760"/>
          </a:xfrm>
          <a:prstGeom prst="rect">
            <a:avLst/>
          </a:prstGeom>
          <a:noFill/>
          <a:ln/>
        </p:spPr>
        <p:txBody>
          <a:bodyPr wrap="square" lIns="0" tIns="0" rIns="0" bIns="0" rtlCol="0" anchor="ctr"/>
          <a:lstStyle/>
          <a:p>
            <a:pPr marL="0" indent="0" algn="ctr">
              <a:buNone/>
            </a:pPr>
            <a:r>
              <a:rPr lang="en-US" sz="1400" b="1" dirty="0">
                <a:solidFill>
                  <a:srgbClr val="B91C1C"/>
                </a:solidFill>
              </a:rPr>
              <a:t>Stop</a:t>
            </a:r>
            <a:endParaRPr lang="en-US" sz="1400" dirty="0"/>
          </a:p>
        </p:txBody>
      </p:sp>
      <p:sp>
        <p:nvSpPr>
          <p:cNvPr id="12" name="Work arrow 0">
            <a:extLst>
              <a:ext uri="{C183D7F6-B498-43B3-948B-1728B52AA6E4}">
                <adec:decorative xmlns:adec="http://schemas.microsoft.com/office/drawing/2017/decorative" val="1"/>
              </a:ext>
            </a:extLst>
          </p:cNvPr>
          <p:cNvSpPr/>
          <p:nvPr/>
        </p:nvSpPr>
        <p:spPr>
          <a:xfrm>
            <a:off x="2203704" y="3401568"/>
            <a:ext cx="310896" cy="384048"/>
          </a:xfrm>
          <a:prstGeom prst="rightArrow">
            <a:avLst/>
          </a:prstGeom>
          <a:solidFill>
            <a:srgbClr val="B91C1C"/>
          </a:solidFill>
          <a:ln w="12700">
            <a:solidFill>
              <a:srgbClr val="B91C1C"/>
            </a:solidFill>
            <a:prstDash val="solid"/>
          </a:ln>
        </p:spPr>
      </p:sp>
      <p:sp>
        <p:nvSpPr>
          <p:cNvPr id="13" name="Work step 1">
            <a:extLst>
              <a:ext uri="{C183D7F6-B498-43B3-948B-1728B52AA6E4}">
                <adec:decorative xmlns:adec="http://schemas.microsoft.com/office/drawing/2017/decorative" val="1"/>
              </a:ext>
            </a:extLst>
          </p:cNvPr>
          <p:cNvSpPr/>
          <p:nvPr/>
        </p:nvSpPr>
        <p:spPr>
          <a:xfrm>
            <a:off x="2551176" y="2788920"/>
            <a:ext cx="1435608" cy="1600200"/>
          </a:xfrm>
          <a:prstGeom prst="roundRect">
            <a:avLst>
              <a:gd name="adj" fmla="val 509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4" name="Work step 1 text"/>
          <p:cNvSpPr txBox="1"/>
          <p:nvPr/>
        </p:nvSpPr>
        <p:spPr>
          <a:xfrm>
            <a:off x="2624328" y="2834640"/>
            <a:ext cx="1289304" cy="1508760"/>
          </a:xfrm>
          <a:prstGeom prst="rect">
            <a:avLst/>
          </a:prstGeom>
          <a:noFill/>
          <a:ln/>
        </p:spPr>
        <p:txBody>
          <a:bodyPr wrap="square" lIns="0" tIns="0" rIns="0" bIns="0" rtlCol="0" anchor="ctr"/>
          <a:lstStyle/>
          <a:p>
            <a:pPr marL="0" indent="0" algn="ctr">
              <a:buNone/>
            </a:pPr>
            <a:r>
              <a:rPr lang="en-US" sz="1400" b="1" dirty="0">
                <a:solidFill>
                  <a:srgbClr val="B91C1C"/>
                </a:solidFill>
              </a:rPr>
              <a:t>Agree who, by when, and what they'll deliver</a:t>
            </a:r>
            <a:endParaRPr lang="en-US" sz="1400" dirty="0"/>
          </a:p>
        </p:txBody>
      </p:sp>
      <p:sp>
        <p:nvSpPr>
          <p:cNvPr id="15" name="Work arrow 1">
            <a:extLst>
              <a:ext uri="{C183D7F6-B498-43B3-948B-1728B52AA6E4}">
                <adec:decorative xmlns:adec="http://schemas.microsoft.com/office/drawing/2017/decorative" val="1"/>
              </a:ext>
            </a:extLst>
          </p:cNvPr>
          <p:cNvSpPr/>
          <p:nvPr/>
        </p:nvSpPr>
        <p:spPr>
          <a:xfrm>
            <a:off x="4023360" y="3401568"/>
            <a:ext cx="310896" cy="384048"/>
          </a:xfrm>
          <a:prstGeom prst="rightArrow">
            <a:avLst/>
          </a:prstGeom>
          <a:solidFill>
            <a:srgbClr val="B91C1C"/>
          </a:solidFill>
          <a:ln w="12700">
            <a:solidFill>
              <a:srgbClr val="B91C1C"/>
            </a:solidFill>
            <a:prstDash val="solid"/>
          </a:ln>
        </p:spPr>
      </p:sp>
      <p:sp>
        <p:nvSpPr>
          <p:cNvPr id="16" name="Work step 2">
            <a:extLst>
              <a:ext uri="{C183D7F6-B498-43B3-948B-1728B52AA6E4}">
                <adec:decorative xmlns:adec="http://schemas.microsoft.com/office/drawing/2017/decorative" val="1"/>
              </a:ext>
            </a:extLst>
          </p:cNvPr>
          <p:cNvSpPr/>
          <p:nvPr/>
        </p:nvSpPr>
        <p:spPr>
          <a:xfrm>
            <a:off x="4370832" y="2788920"/>
            <a:ext cx="1435608" cy="1600200"/>
          </a:xfrm>
          <a:prstGeom prst="roundRect">
            <a:avLst>
              <a:gd name="adj" fmla="val 509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7" name="Work step 2 text"/>
          <p:cNvSpPr txBox="1"/>
          <p:nvPr/>
        </p:nvSpPr>
        <p:spPr>
          <a:xfrm>
            <a:off x="4443984" y="2834640"/>
            <a:ext cx="1289304" cy="1508760"/>
          </a:xfrm>
          <a:prstGeom prst="rect">
            <a:avLst/>
          </a:prstGeom>
          <a:noFill/>
          <a:ln/>
        </p:spPr>
        <p:txBody>
          <a:bodyPr wrap="square" lIns="0" tIns="0" rIns="0" bIns="0" rtlCol="0" anchor="ctr"/>
          <a:lstStyle/>
          <a:p>
            <a:pPr marL="0" indent="0" algn="ctr">
              <a:buNone/>
            </a:pPr>
            <a:r>
              <a:rPr lang="en-US" sz="1400" b="1" dirty="0">
                <a:solidFill>
                  <a:srgbClr val="B91C1C"/>
                </a:solidFill>
              </a:rPr>
              <a:t>Back to the agenda</a:t>
            </a:r>
            <a:endParaRPr lang="en-US" sz="1400" dirty="0"/>
          </a:p>
        </p:txBody>
      </p:sp>
      <p:sp>
        <p:nvSpPr>
          <p:cNvPr id="18" name="Shift card">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RightLeft">
            <a:extLst>
              <a:ext uri="{C183D7F6-B498-43B3-948B-1728B52AA6E4}">
                <adec:decorative xmlns:adec="http://schemas.microsoft.com/office/drawing/2017/decorative" val="1"/>
              </a:ext>
            </a:extLst>
          </p:cNvPr>
          <p:cNvSpPr/>
          <p:nvPr/>
        </p:nvSpPr>
        <p:spPr>
          <a:xfrm>
            <a:off x="6400800" y="1536192"/>
            <a:ext cx="548640" cy="548640"/>
          </a:xfrm>
          <a:prstGeom prst="ellipse">
            <a:avLst/>
          </a:prstGeom>
          <a:solidFill>
            <a:srgbClr val="1F2A44"/>
          </a:solidFill>
          <a:ln w="12700">
            <a:solidFill>
              <a:srgbClr val="1F2A44"/>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2474" y="1667866"/>
            <a:ext cx="285293" cy="285293"/>
          </a:xfrm>
          <a:prstGeom prst="rect">
            <a:avLst/>
          </a:prstGeom>
        </p:spPr>
      </p:pic>
      <p:sp>
        <p:nvSpPr>
          <p:cNvPr id="21" name="Shift head"/>
          <p:cNvSpPr txBox="1"/>
          <p:nvPr/>
        </p:nvSpPr>
        <p:spPr>
          <a:xfrm>
            <a:off x="7086600" y="1517904"/>
            <a:ext cx="4434840" cy="585216"/>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Name the shift</a:t>
            </a:r>
            <a:endParaRPr lang="en-US" sz="1700" dirty="0"/>
          </a:p>
        </p:txBody>
      </p:sp>
      <p:sp>
        <p:nvSpPr>
          <p:cNvPr id="22" name="Shift trigger"/>
          <p:cNvSpPr txBox="1"/>
          <p:nvPr/>
        </p:nvSpPr>
        <p:spPr>
          <a:xfrm>
            <a:off x="6419088" y="2240280"/>
            <a:ext cx="5038344" cy="457200"/>
          </a:xfrm>
          <a:prstGeom prst="rect">
            <a:avLst/>
          </a:prstGeom>
          <a:noFill/>
          <a:ln/>
        </p:spPr>
        <p:txBody>
          <a:bodyPr wrap="square" lIns="0" tIns="0" rIns="0" bIns="0" rtlCol="0" anchor="t"/>
          <a:lstStyle/>
          <a:p>
            <a:pPr marL="0" indent="0">
              <a:buNone/>
            </a:pPr>
            <a:r>
              <a:rPr lang="en-US" sz="1350" dirty="0">
                <a:solidFill>
                  <a:schemeClr val="tx2"/>
                </a:solidFill>
              </a:rPr>
              <a:t>When the discussion moves to a new kind of work, the facilitator says so out loud:</a:t>
            </a:r>
            <a:endParaRPr lang="en-US" sz="1350" dirty="0"/>
          </a:p>
        </p:txBody>
      </p:sp>
      <p:sp>
        <p:nvSpPr>
          <p:cNvPr id="23" name="Shift step 0">
            <a:extLst>
              <a:ext uri="{C183D7F6-B498-43B3-948B-1728B52AA6E4}">
                <adec:decorative xmlns:adec="http://schemas.microsoft.com/office/drawing/2017/decorative" val="1"/>
              </a:ext>
            </a:extLst>
          </p:cNvPr>
          <p:cNvSpPr/>
          <p:nvPr/>
        </p:nvSpPr>
        <p:spPr>
          <a:xfrm>
            <a:off x="6400800" y="2788920"/>
            <a:ext cx="1435608" cy="1600200"/>
          </a:xfrm>
          <a:prstGeom prst="roundRect">
            <a:avLst>
              <a:gd name="adj" fmla="val 509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Shift step 0 text"/>
          <p:cNvSpPr txBox="1"/>
          <p:nvPr/>
        </p:nvSpPr>
        <p:spPr>
          <a:xfrm>
            <a:off x="6473952" y="2834640"/>
            <a:ext cx="1289304" cy="1508760"/>
          </a:xfrm>
          <a:prstGeom prst="rect">
            <a:avLst/>
          </a:prstGeom>
          <a:noFill/>
          <a:ln/>
        </p:spPr>
        <p:txBody>
          <a:bodyPr wrap="square" lIns="0" tIns="0" rIns="0" bIns="0" rtlCol="0" anchor="ctr"/>
          <a:lstStyle/>
          <a:p>
            <a:pPr marL="0" indent="0" algn="ctr">
              <a:buNone/>
            </a:pPr>
            <a:r>
              <a:rPr lang="en-US" sz="1500" b="1" dirty="0">
                <a:solidFill>
                  <a:srgbClr val="1F2A44"/>
                </a:solidFill>
              </a:rPr>
              <a:t>Reporting</a:t>
            </a:r>
            <a:endParaRPr lang="en-US" sz="1500" dirty="0"/>
          </a:p>
        </p:txBody>
      </p:sp>
      <p:sp>
        <p:nvSpPr>
          <p:cNvPr id="25" name="Shift arrow 0">
            <a:extLst>
              <a:ext uri="{C183D7F6-B498-43B3-948B-1728B52AA6E4}">
                <adec:decorative xmlns:adec="http://schemas.microsoft.com/office/drawing/2017/decorative" val="1"/>
              </a:ext>
            </a:extLst>
          </p:cNvPr>
          <p:cNvSpPr/>
          <p:nvPr/>
        </p:nvSpPr>
        <p:spPr>
          <a:xfrm>
            <a:off x="7872984" y="3401568"/>
            <a:ext cx="310896" cy="384048"/>
          </a:xfrm>
          <a:prstGeom prst="rightArrow">
            <a:avLst/>
          </a:prstGeom>
          <a:solidFill>
            <a:srgbClr val="1F2A44"/>
          </a:solidFill>
          <a:ln w="12700">
            <a:solidFill>
              <a:srgbClr val="1F2A44"/>
            </a:solidFill>
            <a:prstDash val="solid"/>
          </a:ln>
        </p:spPr>
      </p:sp>
      <p:sp>
        <p:nvSpPr>
          <p:cNvPr id="26" name="Shift step 1">
            <a:extLst>
              <a:ext uri="{C183D7F6-B498-43B3-948B-1728B52AA6E4}">
                <adec:decorative xmlns:adec="http://schemas.microsoft.com/office/drawing/2017/decorative" val="1"/>
              </a:ext>
            </a:extLst>
          </p:cNvPr>
          <p:cNvSpPr/>
          <p:nvPr/>
        </p:nvSpPr>
        <p:spPr>
          <a:xfrm>
            <a:off x="8220456" y="2788920"/>
            <a:ext cx="1435608" cy="1600200"/>
          </a:xfrm>
          <a:prstGeom prst="roundRect">
            <a:avLst>
              <a:gd name="adj" fmla="val 509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7" name="Shift step 1 text"/>
          <p:cNvSpPr txBox="1"/>
          <p:nvPr/>
        </p:nvSpPr>
        <p:spPr>
          <a:xfrm>
            <a:off x="8293608" y="2834640"/>
            <a:ext cx="1289304" cy="1508760"/>
          </a:xfrm>
          <a:prstGeom prst="rect">
            <a:avLst/>
          </a:prstGeom>
          <a:noFill/>
          <a:ln/>
        </p:spPr>
        <p:txBody>
          <a:bodyPr wrap="square" lIns="0" tIns="0" rIns="0" bIns="0" rtlCol="0" anchor="ctr"/>
          <a:lstStyle/>
          <a:p>
            <a:pPr marL="0" indent="0" algn="ctr">
              <a:buNone/>
            </a:pPr>
            <a:r>
              <a:rPr lang="en-US" sz="1500" b="1" dirty="0">
                <a:solidFill>
                  <a:srgbClr val="1F2A44"/>
                </a:solidFill>
              </a:rPr>
              <a:t>Problem solving</a:t>
            </a:r>
            <a:endParaRPr lang="en-US" sz="1500" dirty="0"/>
          </a:p>
        </p:txBody>
      </p:sp>
      <p:sp>
        <p:nvSpPr>
          <p:cNvPr id="28" name="Shift arrow 1">
            <a:extLst>
              <a:ext uri="{C183D7F6-B498-43B3-948B-1728B52AA6E4}">
                <adec:decorative xmlns:adec="http://schemas.microsoft.com/office/drawing/2017/decorative" val="1"/>
              </a:ext>
            </a:extLst>
          </p:cNvPr>
          <p:cNvSpPr/>
          <p:nvPr/>
        </p:nvSpPr>
        <p:spPr>
          <a:xfrm>
            <a:off x="9692640" y="3401568"/>
            <a:ext cx="310896" cy="384048"/>
          </a:xfrm>
          <a:prstGeom prst="rightArrow">
            <a:avLst/>
          </a:prstGeom>
          <a:solidFill>
            <a:srgbClr val="1F2A44"/>
          </a:solidFill>
          <a:ln w="12700">
            <a:solidFill>
              <a:srgbClr val="1F2A44"/>
            </a:solidFill>
            <a:prstDash val="solid"/>
          </a:ln>
        </p:spPr>
      </p:sp>
      <p:sp>
        <p:nvSpPr>
          <p:cNvPr id="29" name="Shift step 2">
            <a:extLst>
              <a:ext uri="{C183D7F6-B498-43B3-948B-1728B52AA6E4}">
                <adec:decorative xmlns:adec="http://schemas.microsoft.com/office/drawing/2017/decorative" val="1"/>
              </a:ext>
            </a:extLst>
          </p:cNvPr>
          <p:cNvSpPr/>
          <p:nvPr/>
        </p:nvSpPr>
        <p:spPr>
          <a:xfrm>
            <a:off x="10040112" y="2788920"/>
            <a:ext cx="1435608" cy="1600200"/>
          </a:xfrm>
          <a:prstGeom prst="roundRect">
            <a:avLst>
              <a:gd name="adj" fmla="val 509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30" name="Shift step 2 text"/>
          <p:cNvSpPr txBox="1"/>
          <p:nvPr/>
        </p:nvSpPr>
        <p:spPr>
          <a:xfrm>
            <a:off x="10113264" y="2834640"/>
            <a:ext cx="1289304" cy="1508760"/>
          </a:xfrm>
          <a:prstGeom prst="rect">
            <a:avLst/>
          </a:prstGeom>
          <a:noFill/>
          <a:ln/>
        </p:spPr>
        <p:txBody>
          <a:bodyPr wrap="square" lIns="0" tIns="0" rIns="0" bIns="0" rtlCol="0" anchor="ctr"/>
          <a:lstStyle/>
          <a:p>
            <a:pPr marL="0" indent="0" algn="ctr">
              <a:buNone/>
            </a:pPr>
            <a:r>
              <a:rPr lang="en-US" sz="1500" b="1" dirty="0">
                <a:solidFill>
                  <a:srgbClr val="1F2A44"/>
                </a:solidFill>
              </a:rPr>
              <a:t>Deciding</a:t>
            </a:r>
            <a:endParaRPr lang="en-US" sz="1500" dirty="0"/>
          </a:p>
        </p:txBody>
      </p:sp>
      <p:sp>
        <p:nvSpPr>
          <p:cNvPr id="31"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32" name="Icon FaUsersGear">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1F2A44"/>
          </a:solidFill>
          <a:ln w="12700">
            <a:solidFill>
              <a:srgbClr val="1F2A44"/>
            </a:solidFill>
            <a:prstDash val="solid"/>
          </a:ln>
        </p:spPr>
      </p:sp>
      <p:pic>
        <p:nvPicPr>
          <p:cNvPr id="3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0859" y="5182819"/>
            <a:ext cx="332842" cy="332842"/>
          </a:xfrm>
          <a:prstGeom prst="rect">
            <a:avLst/>
          </a:prstGeom>
        </p:spPr>
      </p:pic>
      <p:sp>
        <p:nvSpPr>
          <p:cNvPr id="34"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1F2A44"/>
                </a:solidFill>
              </a:rPr>
              <a:t>It keeps the group on the same task.  </a:t>
            </a:r>
            <a:r>
              <a:rPr lang="en-US" sz="1650" dirty="0">
                <a:solidFill>
                  <a:schemeClr val="tx2"/>
                </a:solidFill>
              </a:rPr>
              <a:t>Both warnings come from the same source, and both apply directly to technical programs.</a:t>
            </a:r>
            <a:endParaRPr lang="en-US" sz="1650" dirty="0"/>
          </a:p>
        </p:txBody>
      </p:sp>
      <p:sp>
        <p:nvSpPr>
          <p:cNvPr id="3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Recktenwald, Portland State University (2018). Companion guide, Effective Meetings.</a:t>
            </a:r>
            <a:endParaRPr lang="en-US" sz="10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37" name="Narration" descr="Narration for this slide; captions available">
            <a:hlinkClick r:id="" action="ppaction://media"/>
            <a:extLst>
              <a:ext uri="{FF2B5EF4-FFF2-40B4-BE49-F238E27FC236}">
                <a16:creationId xmlns:a16="http://schemas.microsoft.com/office/drawing/2014/main" id="{22501451-D625-E2C9-3E03-36FC3ECAB5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58D234-5E98-4CE6-9895-F20E1FFA015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60"/>
    </mc:Choice>
    <mc:Fallback>
      <p:transition spd="slow" advTm="3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64"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agenda defines the meeting, and its end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opic list card">
            <a:extLst>
              <a:ext uri="{C183D7F6-B498-43B3-948B-1728B52AA6E4}">
                <adec:decorative xmlns:adec="http://schemas.microsoft.com/office/drawing/2017/decorative" val="1"/>
              </a:ext>
            </a:extLst>
          </p:cNvPr>
          <p:cNvSpPr/>
          <p:nvPr/>
        </p:nvSpPr>
        <p:spPr>
          <a:xfrm>
            <a:off x="548640" y="1371600"/>
            <a:ext cx="4114800" cy="1325880"/>
          </a:xfrm>
          <a:prstGeom prst="roundRect">
            <a:avLst>
              <a:gd name="adj" fmla="val 551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Topic list head"/>
          <p:cNvSpPr txBox="1"/>
          <p:nvPr/>
        </p:nvSpPr>
        <p:spPr>
          <a:xfrm>
            <a:off x="1371600" y="1517904"/>
            <a:ext cx="3154680" cy="50292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A list of topics</a:t>
            </a:r>
            <a:endParaRPr lang="en-US" sz="1650" dirty="0"/>
          </a:p>
        </p:txBody>
      </p:sp>
      <p:sp>
        <p:nvSpPr>
          <p:cNvPr id="9" name="Topic list body"/>
          <p:cNvSpPr txBox="1"/>
          <p:nvPr/>
        </p:nvSpPr>
        <p:spPr>
          <a:xfrm>
            <a:off x="749808" y="2167128"/>
            <a:ext cx="3749040" cy="420624"/>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“Identity”  ·  “Network”  ·  “AOB”</a:t>
            </a:r>
            <a:endParaRPr lang="en-US" sz="1500" dirty="0"/>
          </a:p>
        </p:txBody>
      </p:sp>
      <p:sp>
        <p:nvSpPr>
          <p:cNvPr id="10" name="Real item card">
            <a:extLst>
              <a:ext uri="{C183D7F6-B498-43B3-948B-1728B52AA6E4}">
                <adec:decorative xmlns:adec="http://schemas.microsoft.com/office/drawing/2017/decorative" val="1"/>
              </a:ext>
            </a:extLst>
          </p:cNvPr>
          <p:cNvSpPr/>
          <p:nvPr/>
        </p:nvSpPr>
        <p:spPr>
          <a:xfrm>
            <a:off x="548640" y="2880360"/>
            <a:ext cx="411480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Icon FaUserCheck">
            <a:extLst>
              <a:ext uri="{C183D7F6-B498-43B3-948B-1728B52AA6E4}">
                <adec:decorative xmlns:adec="http://schemas.microsoft.com/office/drawing/2017/decorative" val="1"/>
              </a:ext>
            </a:extLst>
          </p:cNvPr>
          <p:cNvSpPr/>
          <p:nvPr/>
        </p:nvSpPr>
        <p:spPr>
          <a:xfrm>
            <a:off x="731520" y="3044952"/>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3194" y="3176626"/>
            <a:ext cx="285293" cy="285293"/>
          </a:xfrm>
          <a:prstGeom prst="rect">
            <a:avLst/>
          </a:prstGeom>
        </p:spPr>
      </p:pic>
      <p:sp>
        <p:nvSpPr>
          <p:cNvPr id="13" name="Real item head"/>
          <p:cNvSpPr txBox="1"/>
          <p:nvPr/>
        </p:nvSpPr>
        <p:spPr>
          <a:xfrm>
            <a:off x="1371600" y="3026664"/>
            <a:ext cx="3154680" cy="50292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A real agenda item</a:t>
            </a:r>
            <a:endParaRPr lang="en-US" sz="1650" dirty="0"/>
          </a:p>
        </p:txBody>
      </p:sp>
      <p:sp>
        <p:nvSpPr>
          <p:cNvPr id="14" name="Real item body"/>
          <p:cNvSpPr txBox="1"/>
          <p:nvPr/>
        </p:nvSpPr>
        <p:spPr>
          <a:xfrm>
            <a:off x="749808" y="3675888"/>
            <a:ext cx="3749040" cy="832104"/>
          </a:xfrm>
          <a:prstGeom prst="rect">
            <a:avLst/>
          </a:prstGeom>
          <a:noFill/>
          <a:ln/>
        </p:spPr>
        <p:txBody>
          <a:bodyPr wrap="square" lIns="0" tIns="0" rIns="0" bIns="0" rtlCol="0" anchor="t"/>
          <a:lstStyle/>
          <a:p>
            <a:pPr marL="0" indent="0">
              <a:spcAft>
                <a:spcPts val="600"/>
              </a:spcAft>
              <a:buNone/>
            </a:pPr>
            <a:r>
              <a:rPr lang="en-US" sz="1450" dirty="0">
                <a:solidFill>
                  <a:schemeClr val="tx2"/>
                </a:solidFill>
              </a:rPr>
              <a:t>“Which three pilot sites go first?” focuses discussion better than “Pilot sites.”</a:t>
            </a:r>
            <a:endParaRPr lang="en-US" sz="1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892040" y="1371600"/>
          <a:ext cx="676656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Each item gives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Item, as a question or outcome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Focuses the discussion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Type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Inform, discuss, or decide, so people know how to take part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person who leads that item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Time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Minutes allowed for the item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Preparation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What to read or bring beforehand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DoorClosed">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1F2A44"/>
          </a:solidFill>
          <a:ln w="12700">
            <a:solidFill>
              <a:srgbClr val="1F2A44"/>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0859" y="5182819"/>
            <a:ext cx="332842" cy="332842"/>
          </a:xfrm>
          <a:prstGeom prst="rect">
            <a:avLst/>
          </a:prstGeom>
        </p:spPr>
      </p:pic>
      <p:sp>
        <p:nvSpPr>
          <p:cNvPr id="19"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1F2A44"/>
                </a:solidFill>
              </a:rPr>
              <a:t>When the agenda is done, the meeting is done.  </a:t>
            </a:r>
            <a:r>
              <a:rPr lang="en-US" sz="1650" dirty="0">
                <a:solidFill>
                  <a:schemeClr val="tx2"/>
                </a:solidFill>
              </a:rPr>
              <a:t>The agenda defines the meeting's content and tells everyone when it is over; a list of topic names does not.</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76D8897A-5AE0-E7CF-5B96-F0AD693AA21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F2F6434-07B3-46CC-A909-7B6537E592F0}"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40"/>
    </mc:Choice>
    <mc:Fallback>
      <p:transition spd="slow" advTm="40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4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Around the items: purpose, title, timing, headcount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Header card">
            <a:extLst>
              <a:ext uri="{C183D7F6-B498-43B3-948B-1728B52AA6E4}">
                <adec:decorative xmlns:adec="http://schemas.microsoft.com/office/drawing/2017/decorative" val="1"/>
              </a:ext>
            </a:extLst>
          </p:cNvPr>
          <p:cNvSpPr/>
          <p:nvPr/>
        </p:nvSpPr>
        <p:spPr>
          <a:xfrm>
            <a:off x="548640" y="1371600"/>
            <a:ext cx="355092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con FaClipboardCheck">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Header head"/>
          <p:cNvSpPr txBox="1"/>
          <p:nvPr/>
        </p:nvSpPr>
        <p:spPr>
          <a:xfrm>
            <a:off x="137160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Above the items</a:t>
            </a:r>
            <a:endParaRPr lang="en-US" sz="1650" dirty="0"/>
          </a:p>
        </p:txBody>
      </p:sp>
      <p:sp>
        <p:nvSpPr>
          <p:cNvPr id="9" name="Header body"/>
          <p:cNvSpPr txBox="1"/>
          <p:nvPr/>
        </p:nvSpPr>
        <p:spPr>
          <a:xfrm>
            <a:off x="749808" y="2249424"/>
            <a:ext cx="3185160" cy="111556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Purpose and expected outcomes</a:t>
            </a:r>
            <a:endParaRPr lang="en-US" sz="1350" dirty="0"/>
          </a:p>
          <a:p>
            <a:pPr marL="342900" indent="-342900">
              <a:spcAft>
                <a:spcPts val="600"/>
              </a:spcAft>
              <a:buSzPct val="100000"/>
              <a:buChar char="•"/>
            </a:pPr>
            <a:r>
              <a:rPr lang="en-US" sz="1350" dirty="0">
                <a:solidFill>
                  <a:schemeClr val="tx2"/>
                </a:solidFill>
              </a:rPr>
              <a:t>Where the notes will be kept</a:t>
            </a:r>
            <a:endParaRPr lang="en-US" sz="1350" dirty="0"/>
          </a:p>
          <a:p>
            <a:pPr marL="342900" indent="-342900">
              <a:spcAft>
                <a:spcPts val="600"/>
              </a:spcAft>
              <a:buSzPct val="100000"/>
              <a:buChar char="•"/>
            </a:pPr>
            <a:r>
              <a:rPr lang="en-US" sz="1350" dirty="0">
                <a:solidFill>
                  <a:schemeClr val="tx2"/>
                </a:solidFill>
              </a:rPr>
              <a:t>Call-in or room details</a:t>
            </a:r>
            <a:endParaRPr lang="en-US" sz="1350" dirty="0"/>
          </a:p>
        </p:txBody>
      </p:sp>
      <p:sp>
        <p:nvSpPr>
          <p:cNvPr id="10" name="Title card">
            <a:extLst>
              <a:ext uri="{C183D7F6-B498-43B3-948B-1728B52AA6E4}">
                <adec:decorative xmlns:adec="http://schemas.microsoft.com/office/drawing/2017/decorative" val="1"/>
              </a:ext>
            </a:extLst>
          </p:cNvPr>
          <p:cNvSpPr/>
          <p:nvPr/>
        </p:nvSpPr>
        <p:spPr>
          <a:xfrm>
            <a:off x="4328160" y="1371600"/>
            <a:ext cx="355092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Icon FaHashtag">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42714" y="1667866"/>
            <a:ext cx="285293" cy="285293"/>
          </a:xfrm>
          <a:prstGeom prst="rect">
            <a:avLst/>
          </a:prstGeom>
        </p:spPr>
      </p:pic>
      <p:sp>
        <p:nvSpPr>
          <p:cNvPr id="13" name="Title head"/>
          <p:cNvSpPr txBox="1"/>
          <p:nvPr/>
        </p:nvSpPr>
        <p:spPr>
          <a:xfrm>
            <a:off x="515112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 specific title</a:t>
            </a:r>
            <a:endParaRPr lang="en-US" sz="1650" dirty="0"/>
          </a:p>
        </p:txBody>
      </p:sp>
      <p:sp>
        <p:nvSpPr>
          <p:cNvPr id="14" name="Title body"/>
          <p:cNvSpPr txBox="1"/>
          <p:nvPr/>
        </p:nvSpPr>
        <p:spPr>
          <a:xfrm>
            <a:off x="4529328" y="2249424"/>
            <a:ext cx="3185160" cy="111556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“Cutover go/no-go, wave 2,” not “Weekly sync.”</a:t>
            </a:r>
            <a:endParaRPr lang="en-US" sz="1500" dirty="0"/>
          </a:p>
        </p:txBody>
      </p:sp>
      <p:sp>
        <p:nvSpPr>
          <p:cNvPr id="15" name="One page card">
            <a:extLst>
              <a:ext uri="{C183D7F6-B498-43B3-948B-1728B52AA6E4}">
                <adec:decorative xmlns:adec="http://schemas.microsoft.com/office/drawing/2017/decorative" val="1"/>
              </a:ext>
            </a:extLst>
          </p:cNvPr>
          <p:cNvSpPr/>
          <p:nvPr/>
        </p:nvSpPr>
        <p:spPr>
          <a:xfrm>
            <a:off x="8107680" y="1371600"/>
            <a:ext cx="355092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6" name="Icon FaTableList">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22234" y="1667866"/>
            <a:ext cx="285293" cy="285293"/>
          </a:xfrm>
          <a:prstGeom prst="rect">
            <a:avLst/>
          </a:prstGeom>
        </p:spPr>
      </p:pic>
      <p:sp>
        <p:nvSpPr>
          <p:cNvPr id="18" name="One page head"/>
          <p:cNvSpPr txBox="1"/>
          <p:nvPr/>
        </p:nvSpPr>
        <p:spPr>
          <a:xfrm>
            <a:off x="893064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One page</a:t>
            </a:r>
            <a:endParaRPr lang="en-US" sz="1650" dirty="0"/>
          </a:p>
        </p:txBody>
      </p:sp>
      <p:sp>
        <p:nvSpPr>
          <p:cNvPr id="19" name="One page body"/>
          <p:cNvSpPr txBox="1"/>
          <p:nvPr/>
        </p:nvSpPr>
        <p:spPr>
          <a:xfrm>
            <a:off x="8308848" y="2249424"/>
            <a:ext cx="3185160" cy="111556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Keep the agenda to one page and put the detail in attachments.</a:t>
            </a:r>
            <a:endParaRPr lang="en-US" sz="1500" dirty="0"/>
          </a:p>
        </p:txBody>
      </p:sp>
      <p:sp>
        <p:nvSpPr>
          <p:cNvPr id="20" name="Send card">
            <a:extLst>
              <a:ext uri="{C183D7F6-B498-43B3-948B-1728B52AA6E4}">
                <adec:decorative xmlns:adec="http://schemas.microsoft.com/office/drawing/2017/decorative" val="1"/>
              </a:ext>
            </a:extLst>
          </p:cNvPr>
          <p:cNvSpPr/>
          <p:nvPr/>
        </p:nvSpPr>
        <p:spPr>
          <a:xfrm>
            <a:off x="548640" y="3657600"/>
            <a:ext cx="5440680" cy="2240280"/>
          </a:xfrm>
          <a:prstGeom prst="roundRect">
            <a:avLst>
              <a:gd name="adj" fmla="val 32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1" name="Icon FaUserClock">
            <a:extLst>
              <a:ext uri="{C183D7F6-B498-43B3-948B-1728B52AA6E4}">
                <adec:decorative xmlns:adec="http://schemas.microsoft.com/office/drawing/2017/decorative" val="1"/>
              </a:ext>
            </a:extLst>
          </p:cNvPr>
          <p:cNvSpPr/>
          <p:nvPr/>
        </p:nvSpPr>
        <p:spPr>
          <a:xfrm>
            <a:off x="731520" y="3822192"/>
            <a:ext cx="548640" cy="548640"/>
          </a:xfrm>
          <a:prstGeom prst="ellipse">
            <a:avLst/>
          </a:prstGeom>
          <a:solidFill>
            <a:srgbClr val="0F766E"/>
          </a:solidFill>
          <a:ln w="12700">
            <a:solidFill>
              <a:srgbClr val="0F766E"/>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63194" y="3953866"/>
            <a:ext cx="285293" cy="285293"/>
          </a:xfrm>
          <a:prstGeom prst="rect">
            <a:avLst/>
          </a:prstGeom>
        </p:spPr>
      </p:pic>
      <p:sp>
        <p:nvSpPr>
          <p:cNvPr id="23" name="Send head"/>
          <p:cNvSpPr txBox="1"/>
          <p:nvPr/>
        </p:nvSpPr>
        <p:spPr>
          <a:xfrm>
            <a:off x="1371600" y="3803904"/>
            <a:ext cx="448056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Send it early</a:t>
            </a:r>
            <a:endParaRPr lang="en-US" sz="1650" dirty="0"/>
          </a:p>
        </p:txBody>
      </p:sp>
      <p:sp>
        <p:nvSpPr>
          <p:cNvPr id="24" name="Send body"/>
          <p:cNvSpPr txBox="1"/>
          <p:nvPr/>
        </p:nvSpPr>
        <p:spPr>
          <a:xfrm>
            <a:off x="749808" y="4535424"/>
            <a:ext cx="5074920" cy="1252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At least a day ahead, so people can prepare</a:t>
            </a:r>
            <a:endParaRPr lang="en-US" sz="1350" dirty="0"/>
          </a:p>
          <a:p>
            <a:pPr marL="342900" indent="-342900">
              <a:spcAft>
                <a:spcPts val="600"/>
              </a:spcAft>
              <a:buSzPct val="100000"/>
              <a:buChar char="•"/>
            </a:pPr>
            <a:r>
              <a:rPr lang="en-US" sz="1350" dirty="0">
                <a:solidFill>
                  <a:schemeClr val="tx2"/>
                </a:solidFill>
              </a:rPr>
              <a:t>At a consistent time for recurring meetings</a:t>
            </a:r>
            <a:endParaRPr lang="en-US" sz="1350" dirty="0"/>
          </a:p>
          <a:p>
            <a:pPr marL="342900" indent="-342900">
              <a:spcAft>
                <a:spcPts val="600"/>
              </a:spcAft>
              <a:buSzPct val="100000"/>
              <a:buChar char="•"/>
            </a:pPr>
            <a:r>
              <a:rPr lang="en-US" sz="1350" dirty="0">
                <a:solidFill>
                  <a:schemeClr val="tx2"/>
                </a:solidFill>
              </a:rPr>
              <a:t>Changes proposed before the meeting, not debated at its start</a:t>
            </a:r>
            <a:endParaRPr lang="en-US" sz="1350" dirty="0"/>
          </a:p>
        </p:txBody>
      </p:sp>
      <p:sp>
        <p:nvSpPr>
          <p:cNvPr id="25" name="Schedule card">
            <a:extLst>
              <a:ext uri="{C183D7F6-B498-43B3-948B-1728B52AA6E4}">
                <adec:decorative xmlns:adec="http://schemas.microsoft.com/office/drawing/2017/decorative" val="1"/>
              </a:ext>
            </a:extLst>
          </p:cNvPr>
          <p:cNvSpPr/>
          <p:nvPr/>
        </p:nvSpPr>
        <p:spPr>
          <a:xfrm>
            <a:off x="6217920" y="3657600"/>
            <a:ext cx="5440680" cy="2240280"/>
          </a:xfrm>
          <a:prstGeom prst="roundRect">
            <a:avLst>
              <a:gd name="adj" fmla="val 326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26" name="Icon FaUsersGear">
            <a:extLst>
              <a:ext uri="{C183D7F6-B498-43B3-948B-1728B52AA6E4}">
                <adec:decorative xmlns:adec="http://schemas.microsoft.com/office/drawing/2017/decorative" val="1"/>
              </a:ext>
            </a:extLst>
          </p:cNvPr>
          <p:cNvSpPr/>
          <p:nvPr/>
        </p:nvSpPr>
        <p:spPr>
          <a:xfrm>
            <a:off x="6400800" y="3822192"/>
            <a:ext cx="548640" cy="548640"/>
          </a:xfrm>
          <a:prstGeom prst="ellipse">
            <a:avLst/>
          </a:prstGeom>
          <a:solidFill>
            <a:srgbClr val="B45309"/>
          </a:solidFill>
          <a:ln w="12700">
            <a:solidFill>
              <a:srgbClr val="B45309"/>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532474" y="3953866"/>
            <a:ext cx="285293" cy="285293"/>
          </a:xfrm>
          <a:prstGeom prst="rect">
            <a:avLst/>
          </a:prstGeom>
        </p:spPr>
      </p:pic>
      <p:sp>
        <p:nvSpPr>
          <p:cNvPr id="28" name="Schedule head"/>
          <p:cNvSpPr txBox="1"/>
          <p:nvPr/>
        </p:nvSpPr>
        <p:spPr>
          <a:xfrm>
            <a:off x="7040880" y="3803904"/>
            <a:ext cx="4480560" cy="585216"/>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Length and headcount (18F)</a:t>
            </a:r>
            <a:endParaRPr lang="en-US" sz="1650" dirty="0"/>
          </a:p>
        </p:txBody>
      </p:sp>
      <p:sp>
        <p:nvSpPr>
          <p:cNvPr id="29" name="Schedule body"/>
          <p:cNvSpPr txBox="1"/>
          <p:nvPr/>
        </p:nvSpPr>
        <p:spPr>
          <a:xfrm>
            <a:off x="6419088" y="4535424"/>
            <a:ext cx="5074920" cy="1252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15 or 45 minutes, not the default 30 or 60: room between meetings, spare time if an item runs over</a:t>
            </a:r>
            <a:endParaRPr lang="en-US" sz="1350" dirty="0"/>
          </a:p>
          <a:p>
            <a:pPr marL="342900" indent="-342900">
              <a:spcAft>
                <a:spcPts val="600"/>
              </a:spcAft>
              <a:buSzPct val="100000"/>
              <a:buChar char="•"/>
            </a:pPr>
            <a:r>
              <a:rPr lang="en-US" sz="1350" dirty="0">
                <a:solidFill>
                  <a:schemeClr val="tx2"/>
                </a:solidFill>
              </a:rPr>
              <a:t>Double digits? Ask whether everyone needs to attend; keep to about a dozen</a:t>
            </a:r>
            <a:endParaRPr lang="en-US" sz="13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Recktenwald, Portland State University (2018). Companion guide, Effective Meetings.</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72B3376C-CF34-0503-7A4F-EE7DA79F10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E3DF25-8112-4181-8DE9-5CC5EDDA343A}" label="English (captions)" lang="en-US" r:embed="rId11"/>
                        </p173:trackLst>
                      </p173:tracksInfo>
                    </p:ext>
                  </p14:extLst>
                </p14:media>
              </p:ext>
            </p:extLst>
          </p:nvPr>
        </p:nvPicPr>
        <p:blipFill>
          <a:blip r:embed="rId10"/>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60"/>
    </mc:Choice>
    <mc:Fallback>
      <p:transition spd="slow" advTm="45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56"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roles, and everyone knows which they hold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886968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Responsibilities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13232">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Leader / facilitator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Convenes and runs the meeting; keeps to the agenda; draws out quieter people and stops one voice dominating; ends it when the agenda is done. Focuses on process; need not be who called it. Have a backup.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Timekeeper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Tracks time on each item, warns when one will run over, and calls for the group to re-prioritize. Supports the facilitator; doesn't replace them.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Note-taker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Records decisions, action items, open questions and parking-lot items, not a transcript. Checks the record for accuracy and publishes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1300" b="1" dirty="0">
                          <a:solidFill>
                            <a:srgbClr val="B45309"/>
                          </a:solidFill>
                          <a:latin typeface="Calibri" pitchFamily="34" charset="0"/>
                          <a:ea typeface="Calibri" pitchFamily="34" charset="-122"/>
                          <a:cs typeface="Calibri" pitchFamily="34" charset="-120"/>
                        </a:rPr>
                        <a:t>Decision-maker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(or people) with authority to decide. If they aren't in the room, a “decide” item can't be decided.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5216">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Participants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Arrive on time and prepared; listen; keep disagreement about ideas, not people; accept the group's 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5216">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Closer (optional)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Runs the close: summarizes outcomes, confirms every action has an owner and a date, sets up the next meeting. Often the facilitator.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oles rule"/>
          <p:cNvSpPr txBox="1"/>
          <p:nvPr/>
        </p:nvSpPr>
        <p:spPr>
          <a:xfrm>
            <a:off x="548640" y="5559552"/>
            <a:ext cx="11109960" cy="384048"/>
          </a:xfrm>
          <a:prstGeom prst="rect">
            <a:avLst/>
          </a:prstGeom>
          <a:noFill/>
          <a:ln/>
        </p:spPr>
        <p:txBody>
          <a:bodyPr wrap="square" lIns="0" tIns="0" rIns="0" bIns="0" rtlCol="0" anchor="ctr"/>
          <a:lstStyle/>
          <a:p>
            <a:pPr marL="0" indent="0" algn="ctr">
              <a:buNone/>
            </a:pPr>
            <a:r>
              <a:rPr lang="en-US" sz="1550" b="1" dirty="0">
                <a:solidFill>
                  <a:srgbClr val="0F766E"/>
                </a:solidFill>
              </a:rPr>
              <a:t>Every meeting needs named roles, </a:t>
            </a:r>
            <a:r>
              <a:rPr lang="en-US" sz="1550" dirty="0">
                <a:solidFill>
                  <a:schemeClr val="tx2"/>
                </a:solidFill>
              </a:rPr>
              <a:t>and every attendee should know which one they hold.</a:t>
            </a:r>
            <a:endParaRPr lang="en-US" sz="155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4734D09-441D-B874-7D40-32E48DE517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B76343-ECEA-45E3-818A-336972E8C63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90"/>
    </mc:Choice>
    <mc:Fallback>
      <p:transition spd="slow" advTm="37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Who's taking notes? Combining and rotating roles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Mistake card">
            <a:extLst>
              <a:ext uri="{C183D7F6-B498-43B3-948B-1728B52AA6E4}">
                <adec:decorative xmlns:adec="http://schemas.microsoft.com/office/drawing/2017/decorative" val="1"/>
              </a:ext>
            </a:extLst>
          </p:cNvPr>
          <p:cNvSpPr/>
          <p:nvPr/>
        </p:nvSpPr>
        <p:spPr>
          <a:xfrm>
            <a:off x="548640" y="1371600"/>
            <a:ext cx="3550920" cy="3246120"/>
          </a:xfrm>
          <a:prstGeom prst="roundRect">
            <a:avLst>
              <a:gd name="adj" fmla="val 225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Mistake head"/>
          <p:cNvSpPr txBox="1"/>
          <p:nvPr/>
        </p:nvSpPr>
        <p:spPr>
          <a:xfrm>
            <a:off x="1371600" y="1517904"/>
            <a:ext cx="2590800" cy="585216"/>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The most common mistake</a:t>
            </a:r>
            <a:endParaRPr lang="en-US" sz="1650" dirty="0"/>
          </a:p>
        </p:txBody>
      </p:sp>
      <p:sp>
        <p:nvSpPr>
          <p:cNvPr id="9" name="Mistake body"/>
          <p:cNvSpPr txBox="1"/>
          <p:nvPr/>
        </p:nvSpPr>
        <p:spPr>
          <a:xfrm>
            <a:off x="749808" y="2249424"/>
            <a:ext cx="3185160" cy="225856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18F calls failing to assign a note-taker the most common meeting mistake. Any attendee can fix it by asking.</a:t>
            </a:r>
            <a:endParaRPr lang="en-US" sz="1500" dirty="0"/>
          </a:p>
        </p:txBody>
      </p:sp>
      <p:sp>
        <p:nvSpPr>
          <p:cNvPr id="10" name="Combine card">
            <a:extLst>
              <a:ext uri="{C183D7F6-B498-43B3-948B-1728B52AA6E4}">
                <adec:decorative xmlns:adec="http://schemas.microsoft.com/office/drawing/2017/decorative" val="1"/>
              </a:ext>
            </a:extLst>
          </p:cNvPr>
          <p:cNvSpPr/>
          <p:nvPr/>
        </p:nvSpPr>
        <p:spPr>
          <a:xfrm>
            <a:off x="4328160" y="1371600"/>
            <a:ext cx="3550920"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42714" y="1667866"/>
            <a:ext cx="285293" cy="285293"/>
          </a:xfrm>
          <a:prstGeom prst="rect">
            <a:avLst/>
          </a:prstGeom>
        </p:spPr>
      </p:pic>
      <p:sp>
        <p:nvSpPr>
          <p:cNvPr id="13" name="Combine head"/>
          <p:cNvSpPr txBox="1"/>
          <p:nvPr/>
        </p:nvSpPr>
        <p:spPr>
          <a:xfrm>
            <a:off x="5151120" y="1517904"/>
            <a:ext cx="259080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Combine roles in small meetings</a:t>
            </a:r>
            <a:endParaRPr lang="en-US" sz="1650" dirty="0"/>
          </a:p>
        </p:txBody>
      </p:sp>
      <p:sp>
        <p:nvSpPr>
          <p:cNvPr id="14" name="Combine body"/>
          <p:cNvSpPr txBox="1"/>
          <p:nvPr/>
        </p:nvSpPr>
        <p:spPr>
          <a:xfrm>
            <a:off x="4529328" y="2249424"/>
            <a:ext cx="3185160" cy="225856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In small or recurring meetings, one person can hold more than one role</a:t>
            </a:r>
            <a:endParaRPr lang="en-US" sz="1400" dirty="0"/>
          </a:p>
          <a:p>
            <a:pPr marL="342900" indent="-342900">
              <a:spcAft>
                <a:spcPts val="600"/>
              </a:spcAft>
              <a:buSzPct val="100000"/>
              <a:buChar char="•"/>
            </a:pPr>
            <a:r>
              <a:rPr lang="en-US" sz="1400" dirty="0">
                <a:solidFill>
                  <a:schemeClr val="tx2"/>
                </a:solidFill>
              </a:rPr>
              <a:t>The facilitator as closer</a:t>
            </a:r>
            <a:endParaRPr lang="en-US" sz="1400" dirty="0"/>
          </a:p>
          <a:p>
            <a:pPr marL="342900" indent="-342900">
              <a:spcAft>
                <a:spcPts val="600"/>
              </a:spcAft>
              <a:buSzPct val="100000"/>
              <a:buChar char="•"/>
            </a:pPr>
            <a:r>
              <a:rPr lang="en-US" sz="1400" dirty="0">
                <a:solidFill>
                  <a:schemeClr val="tx2"/>
                </a:solidFill>
              </a:rPr>
              <a:t>The note-taker as timekeeper</a:t>
            </a:r>
            <a:endParaRPr lang="en-US" sz="1400" dirty="0"/>
          </a:p>
        </p:txBody>
      </p:sp>
      <p:sp>
        <p:nvSpPr>
          <p:cNvPr id="15" name="Rotate card">
            <a:extLst>
              <a:ext uri="{C183D7F6-B498-43B3-948B-1728B52AA6E4}">
                <adec:decorative xmlns:adec="http://schemas.microsoft.com/office/drawing/2017/decorative" val="1"/>
              </a:ext>
            </a:extLst>
          </p:cNvPr>
          <p:cNvSpPr/>
          <p:nvPr/>
        </p:nvSpPr>
        <p:spPr>
          <a:xfrm>
            <a:off x="8107680" y="1371600"/>
            <a:ext cx="3550920"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6" name="Icon FaArrowsRotate">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22234" y="1667866"/>
            <a:ext cx="285293" cy="285293"/>
          </a:xfrm>
          <a:prstGeom prst="rect">
            <a:avLst/>
          </a:prstGeom>
        </p:spPr>
      </p:pic>
      <p:sp>
        <p:nvSpPr>
          <p:cNvPr id="18" name="Rotate head"/>
          <p:cNvSpPr txBox="1"/>
          <p:nvPr/>
        </p:nvSpPr>
        <p:spPr>
          <a:xfrm>
            <a:off x="893064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Rotate roles across the team</a:t>
            </a:r>
            <a:endParaRPr lang="en-US" sz="1650" dirty="0"/>
          </a:p>
        </p:txBody>
      </p:sp>
      <p:sp>
        <p:nvSpPr>
          <p:cNvPr id="19" name="Rotate body"/>
          <p:cNvSpPr txBox="1"/>
          <p:nvPr/>
        </p:nvSpPr>
        <p:spPr>
          <a:xfrm>
            <a:off x="8308848" y="2249424"/>
            <a:ext cx="3185160" cy="225856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Rotating roles across the team spreads the skill.</a:t>
            </a:r>
            <a:endParaRPr lang="en-US" sz="1500" dirty="0"/>
          </a:p>
        </p:txBody>
      </p:sp>
      <p:sp>
        <p:nvSpPr>
          <p:cNvPr id="20"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1" name="Icon FaAddressBook">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0F766E"/>
          </a:solidFill>
          <a:ln w="12700">
            <a:solidFill>
              <a:srgbClr val="0F766E"/>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30859" y="5182819"/>
            <a:ext cx="332842" cy="332842"/>
          </a:xfrm>
          <a:prstGeom prst="rect">
            <a:avLst/>
          </a:prstGeom>
        </p:spPr>
      </p:pic>
      <p:sp>
        <p:nvSpPr>
          <p:cNvPr id="23"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0F766E"/>
                </a:solidFill>
              </a:rPr>
              <a:t>Any attendee can ask:  </a:t>
            </a:r>
            <a:r>
              <a:rPr lang="en-US" sz="1650" dirty="0">
                <a:solidFill>
                  <a:schemeClr val="tx2"/>
                </a:solidFill>
              </a:rPr>
              <a:t>“Who's taking notes?”</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9FD6203D-BB4A-606B-808A-DB616D4FA9A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F4B44C9-592F-4BD4-87D4-3E5C710BBA7F}"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60"/>
    </mc:Choice>
    <mc:Fallback>
      <p:transition spd="slow" advTm="35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6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phases, one loop: before, during, close, after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efore card">
            <a:extLst>
              <a:ext uri="{C183D7F6-B498-43B3-948B-1728B52AA6E4}">
                <adec:decorative xmlns:adec="http://schemas.microsoft.com/office/drawing/2017/decorative" val="1"/>
              </a:ext>
            </a:extLst>
          </p:cNvPr>
          <p:cNvSpPr/>
          <p:nvPr/>
        </p:nvSpPr>
        <p:spPr>
          <a:xfrm>
            <a:off x="548640" y="1371600"/>
            <a:ext cx="2377440" cy="2971800"/>
          </a:xfrm>
          <a:prstGeom prst="roundRect">
            <a:avLst>
              <a:gd name="adj" fmla="val 307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Before band">
            <a:extLst>
              <a:ext uri="{C183D7F6-B498-43B3-948B-1728B52AA6E4}">
                <adec:decorative xmlns:adec="http://schemas.microsoft.com/office/drawing/2017/decorative" val="1"/>
              </a:ext>
            </a:extLst>
          </p:cNvPr>
          <p:cNvSpPr/>
          <p:nvPr/>
        </p:nvSpPr>
        <p:spPr>
          <a:xfrm>
            <a:off x="548640" y="1371600"/>
            <a:ext cx="2377440" cy="502920"/>
          </a:xfrm>
          <a:prstGeom prst="rect">
            <a:avLst/>
          </a:prstGeom>
          <a:solidFill>
            <a:srgbClr val="1F2A44"/>
          </a:solidFill>
          <a:ln w="12700">
            <a:solidFill>
              <a:srgbClr val="1F2A44"/>
            </a:solidFill>
            <a:prstDash val="solid"/>
          </a:ln>
        </p:spPr>
      </p:sp>
      <p:sp>
        <p:nvSpPr>
          <p:cNvPr id="7" name="Before name"/>
          <p:cNvSpPr txBox="1"/>
          <p:nvPr/>
        </p:nvSpPr>
        <p:spPr>
          <a:xfrm>
            <a:off x="548640" y="1371600"/>
            <a:ext cx="237744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Before</a:t>
            </a:r>
            <a:endParaRPr lang="en-US" sz="1800" dirty="0"/>
          </a:p>
        </p:txBody>
      </p:sp>
      <p:sp>
        <p:nvSpPr>
          <p:cNvPr id="8" name="Before steps"/>
          <p:cNvSpPr txBox="1"/>
          <p:nvPr/>
        </p:nvSpPr>
        <p:spPr>
          <a:xfrm>
            <a:off x="68580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Confirm it's needed, and its type</a:t>
            </a:r>
            <a:endParaRPr lang="en-US" sz="1400" dirty="0"/>
          </a:p>
          <a:p>
            <a:pPr marL="342900" indent="-342900">
              <a:spcAft>
                <a:spcPts val="400"/>
              </a:spcAft>
              <a:buSzPct val="100000"/>
              <a:buChar char="•"/>
            </a:pPr>
            <a:r>
              <a:rPr lang="en-US" sz="1300" dirty="0">
                <a:solidFill>
                  <a:schemeClr val="tx2"/>
                </a:solidFill>
              </a:rPr>
              <a:t>Agenda and prep sent</a:t>
            </a:r>
            <a:endParaRPr lang="en-US" sz="1400" dirty="0"/>
          </a:p>
          <a:p>
            <a:pPr marL="342900" indent="-342900">
              <a:spcAft>
                <a:spcPts val="400"/>
              </a:spcAft>
              <a:buSzPct val="100000"/>
              <a:buChar char="•"/>
            </a:pPr>
            <a:r>
              <a:rPr lang="en-US" sz="1300" dirty="0">
                <a:solidFill>
                  <a:schemeClr val="tx2"/>
                </a:solidFill>
              </a:rPr>
              <a:t>Roles assigned; right people invited</a:t>
            </a:r>
            <a:endParaRPr lang="en-US" sz="1400" dirty="0"/>
          </a:p>
        </p:txBody>
      </p:sp>
      <p:sp>
        <p:nvSpPr>
          <p:cNvPr id="9" name="Before produces"/>
          <p:cNvSpPr txBox="1"/>
          <p:nvPr/>
        </p:nvSpPr>
        <p:spPr>
          <a:xfrm>
            <a:off x="685800" y="3474720"/>
            <a:ext cx="2103120" cy="777240"/>
          </a:xfrm>
          <a:prstGeom prst="rect">
            <a:avLst/>
          </a:prstGeom>
          <a:noFill/>
          <a:ln/>
        </p:spPr>
        <p:txBody>
          <a:bodyPr wrap="square" lIns="0" tIns="0" rIns="0" bIns="0" rtlCol="0" anchor="t"/>
          <a:lstStyle/>
          <a:p>
            <a:pPr marL="0" indent="0">
              <a:buNone/>
            </a:pPr>
            <a:r>
              <a:rPr lang="en-US" sz="1100" b="1" kern="0" spc="100" dirty="0">
                <a:solidFill>
                  <a:srgbClr val="1F2A44"/>
                </a:solidFill>
              </a:rPr>
              <a:t>PRODUCES</a:t>
            </a:r>
            <a:endParaRPr lang="en-US" sz="1400" dirty="0"/>
          </a:p>
          <a:p>
            <a:pPr marL="0" indent="0">
              <a:buNone/>
            </a:pPr>
            <a:r>
              <a:rPr lang="en-US" sz="1300" b="1" dirty="0">
                <a:solidFill>
                  <a:srgbClr val="334155"/>
                </a:solidFill>
              </a:rPr>
              <a:t>An agenda, and the right people</a:t>
            </a:r>
            <a:endParaRPr lang="en-US" sz="1400" dirty="0"/>
          </a:p>
        </p:txBody>
      </p:sp>
      <p:sp>
        <p:nvSpPr>
          <p:cNvPr id="10" name="Flow arrow 0">
            <a:extLst>
              <a:ext uri="{C183D7F6-B498-43B3-948B-1728B52AA6E4}">
                <adec:decorative xmlns:adec="http://schemas.microsoft.com/office/drawing/2017/decorative" val="1"/>
              </a:ext>
            </a:extLst>
          </p:cNvPr>
          <p:cNvSpPr/>
          <p:nvPr/>
        </p:nvSpPr>
        <p:spPr>
          <a:xfrm>
            <a:off x="3037332" y="2665476"/>
            <a:ext cx="310896" cy="384048"/>
          </a:xfrm>
          <a:prstGeom prst="rightArrow">
            <a:avLst/>
          </a:prstGeom>
          <a:solidFill>
            <a:srgbClr val="64748B"/>
          </a:solidFill>
          <a:ln w="12700">
            <a:solidFill>
              <a:srgbClr val="64748B"/>
            </a:solidFill>
            <a:prstDash val="solid"/>
          </a:ln>
        </p:spPr>
      </p:sp>
      <p:sp>
        <p:nvSpPr>
          <p:cNvPr id="11" name="During card">
            <a:extLst>
              <a:ext uri="{C183D7F6-B498-43B3-948B-1728B52AA6E4}">
                <adec:decorative xmlns:adec="http://schemas.microsoft.com/office/drawing/2017/decorative" val="1"/>
              </a:ext>
            </a:extLst>
          </p:cNvPr>
          <p:cNvSpPr/>
          <p:nvPr/>
        </p:nvSpPr>
        <p:spPr>
          <a:xfrm>
            <a:off x="3459480" y="1371600"/>
            <a:ext cx="2377440" cy="2971800"/>
          </a:xfrm>
          <a:prstGeom prst="roundRect">
            <a:avLst>
              <a:gd name="adj" fmla="val 307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During band">
            <a:extLst>
              <a:ext uri="{C183D7F6-B498-43B3-948B-1728B52AA6E4}">
                <adec:decorative xmlns:adec="http://schemas.microsoft.com/office/drawing/2017/decorative" val="1"/>
              </a:ext>
            </a:extLst>
          </p:cNvPr>
          <p:cNvSpPr/>
          <p:nvPr/>
        </p:nvSpPr>
        <p:spPr>
          <a:xfrm>
            <a:off x="3459480" y="1371600"/>
            <a:ext cx="2377440" cy="502920"/>
          </a:xfrm>
          <a:prstGeom prst="rect">
            <a:avLst/>
          </a:prstGeom>
          <a:solidFill>
            <a:srgbClr val="0F766E"/>
          </a:solidFill>
          <a:ln w="12700">
            <a:solidFill>
              <a:srgbClr val="0F766E"/>
            </a:solidFill>
            <a:prstDash val="solid"/>
          </a:ln>
        </p:spPr>
      </p:sp>
      <p:sp>
        <p:nvSpPr>
          <p:cNvPr id="13" name="During name"/>
          <p:cNvSpPr txBox="1"/>
          <p:nvPr/>
        </p:nvSpPr>
        <p:spPr>
          <a:xfrm>
            <a:off x="3459480" y="1371600"/>
            <a:ext cx="237744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During</a:t>
            </a:r>
            <a:endParaRPr lang="en-US" sz="1800" dirty="0"/>
          </a:p>
        </p:txBody>
      </p:sp>
      <p:sp>
        <p:nvSpPr>
          <p:cNvPr id="14" name="During steps"/>
          <p:cNvSpPr txBox="1"/>
          <p:nvPr/>
        </p:nvSpPr>
        <p:spPr>
          <a:xfrm>
            <a:off x="359664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Start on time</a:t>
            </a:r>
            <a:endParaRPr lang="en-US" sz="1400" dirty="0"/>
          </a:p>
          <a:p>
            <a:pPr marL="342900" indent="-342900">
              <a:spcAft>
                <a:spcPts val="400"/>
              </a:spcAft>
              <a:buSzPct val="100000"/>
              <a:buChar char="•"/>
            </a:pPr>
            <a:r>
              <a:rPr lang="en-US" sz="1300" dirty="0">
                <a:solidFill>
                  <a:schemeClr val="tx2"/>
                </a:solidFill>
              </a:rPr>
              <a:t>Follow the agenda</a:t>
            </a:r>
            <a:endParaRPr lang="en-US" sz="1400" dirty="0"/>
          </a:p>
          <a:p>
            <a:pPr marL="342900" indent="-342900">
              <a:spcAft>
                <a:spcPts val="400"/>
              </a:spcAft>
              <a:buSzPct val="100000"/>
              <a:buChar char="•"/>
            </a:pPr>
            <a:r>
              <a:rPr lang="en-US" sz="1300" dirty="0">
                <a:solidFill>
                  <a:schemeClr val="tx2"/>
                </a:solidFill>
              </a:rPr>
              <a:t>Park what doesn't fit; take notes</a:t>
            </a:r>
            <a:endParaRPr lang="en-US" sz="1400" dirty="0"/>
          </a:p>
        </p:txBody>
      </p:sp>
      <p:sp>
        <p:nvSpPr>
          <p:cNvPr id="15" name="During produces"/>
          <p:cNvSpPr txBox="1"/>
          <p:nvPr/>
        </p:nvSpPr>
        <p:spPr>
          <a:xfrm>
            <a:off x="3596640" y="3474720"/>
            <a:ext cx="2103120" cy="777240"/>
          </a:xfrm>
          <a:prstGeom prst="rect">
            <a:avLst/>
          </a:prstGeom>
          <a:noFill/>
          <a:ln/>
        </p:spPr>
        <p:txBody>
          <a:bodyPr wrap="square" lIns="0" tIns="0" rIns="0" bIns="0" rtlCol="0" anchor="t"/>
          <a:lstStyle/>
          <a:p>
            <a:pPr marL="0" indent="0">
              <a:buNone/>
            </a:pPr>
            <a:r>
              <a:rPr lang="en-US" sz="1100" b="1" kern="0" spc="100" dirty="0">
                <a:solidFill>
                  <a:srgbClr val="0F766E"/>
                </a:solidFill>
              </a:rPr>
              <a:t>PRODUCES</a:t>
            </a:r>
            <a:endParaRPr lang="en-US" sz="1400" dirty="0"/>
          </a:p>
          <a:p>
            <a:pPr marL="0" indent="0">
              <a:buNone/>
            </a:pPr>
            <a:r>
              <a:rPr lang="en-US" sz="1300" b="1" dirty="0">
                <a:solidFill>
                  <a:srgbClr val="334155"/>
                </a:solidFill>
              </a:rPr>
              <a:t>Discussion, decisions, a parking lot</a:t>
            </a:r>
            <a:endParaRPr lang="en-US" sz="1400" dirty="0"/>
          </a:p>
        </p:txBody>
      </p:sp>
      <p:sp>
        <p:nvSpPr>
          <p:cNvPr id="16" name="Flow arrow 1">
            <a:extLst>
              <a:ext uri="{C183D7F6-B498-43B3-948B-1728B52AA6E4}">
                <adec:decorative xmlns:adec="http://schemas.microsoft.com/office/drawing/2017/decorative" val="1"/>
              </a:ext>
            </a:extLst>
          </p:cNvPr>
          <p:cNvSpPr/>
          <p:nvPr/>
        </p:nvSpPr>
        <p:spPr>
          <a:xfrm>
            <a:off x="5948172" y="2665476"/>
            <a:ext cx="310896" cy="384048"/>
          </a:xfrm>
          <a:prstGeom prst="rightArrow">
            <a:avLst/>
          </a:prstGeom>
          <a:solidFill>
            <a:srgbClr val="64748B"/>
          </a:solidFill>
          <a:ln w="12700">
            <a:solidFill>
              <a:srgbClr val="64748B"/>
            </a:solidFill>
            <a:prstDash val="solid"/>
          </a:ln>
        </p:spPr>
      </p:sp>
      <p:sp>
        <p:nvSpPr>
          <p:cNvPr id="17" name="Close card">
            <a:extLst>
              <a:ext uri="{C183D7F6-B498-43B3-948B-1728B52AA6E4}">
                <adec:decorative xmlns:adec="http://schemas.microsoft.com/office/drawing/2017/decorative" val="1"/>
              </a:ext>
            </a:extLst>
          </p:cNvPr>
          <p:cNvSpPr/>
          <p:nvPr/>
        </p:nvSpPr>
        <p:spPr>
          <a:xfrm>
            <a:off x="6370320" y="1371600"/>
            <a:ext cx="2377440" cy="2971800"/>
          </a:xfrm>
          <a:prstGeom prst="roundRect">
            <a:avLst>
              <a:gd name="adj" fmla="val 307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Close band">
            <a:extLst>
              <a:ext uri="{C183D7F6-B498-43B3-948B-1728B52AA6E4}">
                <adec:decorative xmlns:adec="http://schemas.microsoft.com/office/drawing/2017/decorative" val="1"/>
              </a:ext>
            </a:extLst>
          </p:cNvPr>
          <p:cNvSpPr/>
          <p:nvPr/>
        </p:nvSpPr>
        <p:spPr>
          <a:xfrm>
            <a:off x="6370320" y="1371600"/>
            <a:ext cx="2377440" cy="502920"/>
          </a:xfrm>
          <a:prstGeom prst="rect">
            <a:avLst/>
          </a:prstGeom>
          <a:solidFill>
            <a:srgbClr val="B45309"/>
          </a:solidFill>
          <a:ln w="12700">
            <a:solidFill>
              <a:srgbClr val="B45309"/>
            </a:solidFill>
            <a:prstDash val="solid"/>
          </a:ln>
        </p:spPr>
      </p:sp>
      <p:sp>
        <p:nvSpPr>
          <p:cNvPr id="19" name="Close name"/>
          <p:cNvSpPr txBox="1"/>
          <p:nvPr/>
        </p:nvSpPr>
        <p:spPr>
          <a:xfrm>
            <a:off x="6370320" y="1371600"/>
            <a:ext cx="237744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Close</a:t>
            </a:r>
            <a:endParaRPr lang="en-US" sz="1800" dirty="0"/>
          </a:p>
        </p:txBody>
      </p:sp>
      <p:sp>
        <p:nvSpPr>
          <p:cNvPr id="20" name="Close steps"/>
          <p:cNvSpPr txBox="1"/>
          <p:nvPr/>
        </p:nvSpPr>
        <p:spPr>
          <a:xfrm>
            <a:off x="650748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last few minutes, reserved</a:t>
            </a:r>
            <a:endParaRPr lang="en-US" sz="1400" dirty="0"/>
          </a:p>
          <a:p>
            <a:pPr marL="342900" indent="-342900">
              <a:spcAft>
                <a:spcPts val="400"/>
              </a:spcAft>
              <a:buSzPct val="100000"/>
              <a:buChar char="•"/>
            </a:pPr>
            <a:r>
              <a:rPr lang="en-US" sz="1300" dirty="0">
                <a:solidFill>
                  <a:schemeClr val="tx2"/>
                </a:solidFill>
              </a:rPr>
              <a:t>Read back decisions and actions</a:t>
            </a:r>
            <a:endParaRPr lang="en-US" sz="1400" dirty="0"/>
          </a:p>
          <a:p>
            <a:pPr marL="342900" indent="-342900">
              <a:spcAft>
                <a:spcPts val="400"/>
              </a:spcAft>
              <a:buSzPct val="100000"/>
              <a:buChar char="•"/>
            </a:pPr>
            <a:r>
              <a:rPr lang="en-US" sz="1300" dirty="0">
                <a:solidFill>
                  <a:schemeClr val="tx2"/>
                </a:solidFill>
              </a:rPr>
              <a:t>Route the parking lot</a:t>
            </a:r>
            <a:endParaRPr lang="en-US" sz="1400" dirty="0"/>
          </a:p>
        </p:txBody>
      </p:sp>
      <p:sp>
        <p:nvSpPr>
          <p:cNvPr id="21" name="Close produces"/>
          <p:cNvSpPr txBox="1"/>
          <p:nvPr/>
        </p:nvSpPr>
        <p:spPr>
          <a:xfrm>
            <a:off x="6507480" y="3474720"/>
            <a:ext cx="2103120" cy="777240"/>
          </a:xfrm>
          <a:prstGeom prst="rect">
            <a:avLst/>
          </a:prstGeom>
          <a:noFill/>
          <a:ln/>
        </p:spPr>
        <p:txBody>
          <a:bodyPr wrap="square" lIns="0" tIns="0" rIns="0" bIns="0" rtlCol="0" anchor="t"/>
          <a:lstStyle/>
          <a:p>
            <a:pPr marL="0" indent="0">
              <a:buNone/>
            </a:pPr>
            <a:r>
              <a:rPr lang="en-US" sz="1100" b="1" kern="0" spc="100" dirty="0">
                <a:solidFill>
                  <a:srgbClr val="B45309"/>
                </a:solidFill>
              </a:rPr>
              <a:t>PRODUCES</a:t>
            </a:r>
            <a:endParaRPr lang="en-US" sz="1400" dirty="0"/>
          </a:p>
          <a:p>
            <a:pPr marL="0" indent="0">
              <a:buNone/>
            </a:pPr>
            <a:r>
              <a:rPr lang="en-US" sz="1300" b="1" dirty="0">
                <a:solidFill>
                  <a:srgbClr val="334155"/>
                </a:solidFill>
              </a:rPr>
              <a:t>Every action with an owner and a date</a:t>
            </a:r>
            <a:endParaRPr lang="en-US" sz="1400" dirty="0"/>
          </a:p>
        </p:txBody>
      </p:sp>
      <p:sp>
        <p:nvSpPr>
          <p:cNvPr id="22" name="Flow arrow 2">
            <a:extLst>
              <a:ext uri="{C183D7F6-B498-43B3-948B-1728B52AA6E4}">
                <adec:decorative xmlns:adec="http://schemas.microsoft.com/office/drawing/2017/decorative" val="1"/>
              </a:ext>
            </a:extLst>
          </p:cNvPr>
          <p:cNvSpPr/>
          <p:nvPr/>
        </p:nvSpPr>
        <p:spPr>
          <a:xfrm>
            <a:off x="8859012" y="2665476"/>
            <a:ext cx="310896" cy="384048"/>
          </a:xfrm>
          <a:prstGeom prst="rightArrow">
            <a:avLst/>
          </a:prstGeom>
          <a:solidFill>
            <a:srgbClr val="64748B"/>
          </a:solidFill>
          <a:ln w="12700">
            <a:solidFill>
              <a:srgbClr val="64748B"/>
            </a:solidFill>
            <a:prstDash val="solid"/>
          </a:ln>
        </p:spPr>
      </p:sp>
      <p:sp>
        <p:nvSpPr>
          <p:cNvPr id="23" name="After card">
            <a:extLst>
              <a:ext uri="{C183D7F6-B498-43B3-948B-1728B52AA6E4}">
                <adec:decorative xmlns:adec="http://schemas.microsoft.com/office/drawing/2017/decorative" val="1"/>
              </a:ext>
            </a:extLst>
          </p:cNvPr>
          <p:cNvSpPr/>
          <p:nvPr/>
        </p:nvSpPr>
        <p:spPr>
          <a:xfrm>
            <a:off x="9281160" y="1371600"/>
            <a:ext cx="2377440" cy="2971800"/>
          </a:xfrm>
          <a:prstGeom prst="roundRect">
            <a:avLst>
              <a:gd name="adj" fmla="val 307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4" name="After band">
            <a:extLst>
              <a:ext uri="{C183D7F6-B498-43B3-948B-1728B52AA6E4}">
                <adec:decorative xmlns:adec="http://schemas.microsoft.com/office/drawing/2017/decorative" val="1"/>
              </a:ext>
            </a:extLst>
          </p:cNvPr>
          <p:cNvSpPr/>
          <p:nvPr/>
        </p:nvSpPr>
        <p:spPr>
          <a:xfrm>
            <a:off x="9281160" y="1371600"/>
            <a:ext cx="2377440" cy="502920"/>
          </a:xfrm>
          <a:prstGeom prst="rect">
            <a:avLst/>
          </a:prstGeom>
          <a:solidFill>
            <a:srgbClr val="64748B"/>
          </a:solidFill>
          <a:ln w="12700">
            <a:solidFill>
              <a:srgbClr val="64748B"/>
            </a:solidFill>
            <a:prstDash val="solid"/>
          </a:ln>
        </p:spPr>
      </p:sp>
      <p:sp>
        <p:nvSpPr>
          <p:cNvPr id="25" name="After name"/>
          <p:cNvSpPr txBox="1"/>
          <p:nvPr/>
        </p:nvSpPr>
        <p:spPr>
          <a:xfrm>
            <a:off x="9281160" y="1371600"/>
            <a:ext cx="237744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After</a:t>
            </a:r>
            <a:endParaRPr lang="en-US" sz="1800" dirty="0"/>
          </a:p>
        </p:txBody>
      </p:sp>
      <p:sp>
        <p:nvSpPr>
          <p:cNvPr id="26" name="After steps"/>
          <p:cNvSpPr txBox="1"/>
          <p:nvPr/>
        </p:nvSpPr>
        <p:spPr>
          <a:xfrm>
            <a:off x="9418320" y="2011680"/>
            <a:ext cx="210312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Notes sent the same day</a:t>
            </a:r>
            <a:endParaRPr lang="en-US" sz="1400" dirty="0"/>
          </a:p>
          <a:p>
            <a:pPr marL="342900" indent="-342900">
              <a:spcAft>
                <a:spcPts val="400"/>
              </a:spcAft>
              <a:buSzPct val="100000"/>
              <a:buChar char="•"/>
            </a:pPr>
            <a:r>
              <a:rPr lang="en-US" sz="1300" dirty="0">
                <a:solidFill>
                  <a:schemeClr val="tx2"/>
                </a:solidFill>
              </a:rPr>
              <a:t>Stored in the team record</a:t>
            </a:r>
            <a:endParaRPr lang="en-US" sz="1400" dirty="0"/>
          </a:p>
          <a:p>
            <a:pPr marL="342900" indent="-342900">
              <a:spcAft>
                <a:spcPts val="400"/>
              </a:spcAft>
              <a:buSzPct val="100000"/>
              <a:buChar char="•"/>
            </a:pPr>
            <a:r>
              <a:rPr lang="en-US" sz="1300" dirty="0">
                <a:solidFill>
                  <a:schemeClr val="tx2"/>
                </a:solidFill>
              </a:rPr>
              <a:t>Reviewed at the next meeting</a:t>
            </a:r>
            <a:endParaRPr lang="en-US" sz="1400" dirty="0"/>
          </a:p>
        </p:txBody>
      </p:sp>
      <p:sp>
        <p:nvSpPr>
          <p:cNvPr id="27" name="After produces"/>
          <p:cNvSpPr txBox="1"/>
          <p:nvPr/>
        </p:nvSpPr>
        <p:spPr>
          <a:xfrm>
            <a:off x="9418320" y="3474720"/>
            <a:ext cx="2103120" cy="777240"/>
          </a:xfrm>
          <a:prstGeom prst="rect">
            <a:avLst/>
          </a:prstGeom>
          <a:noFill/>
          <a:ln/>
        </p:spPr>
        <p:txBody>
          <a:bodyPr wrap="square" lIns="0" tIns="0" rIns="0" bIns="0" rtlCol="0" anchor="t"/>
          <a:lstStyle/>
          <a:p>
            <a:pPr marL="0" indent="0">
              <a:buNone/>
            </a:pPr>
            <a:r>
              <a:rPr lang="en-US" sz="1100" b="1" kern="0" spc="100" dirty="0">
                <a:solidFill>
                  <a:srgbClr val="334155"/>
                </a:solidFill>
              </a:rPr>
              <a:t>PRODUCES</a:t>
            </a:r>
            <a:endParaRPr lang="en-US" sz="1400" dirty="0"/>
          </a:p>
          <a:p>
            <a:pPr marL="0" indent="0">
              <a:buNone/>
            </a:pPr>
            <a:r>
              <a:rPr lang="en-US" sz="1300" b="1" dirty="0">
                <a:solidFill>
                  <a:srgbClr val="334155"/>
                </a:solidFill>
              </a:rPr>
              <a:t>A written record, carried forward</a:t>
            </a:r>
            <a:endParaRPr lang="en-US" sz="1400" dirty="0"/>
          </a:p>
        </p:txBody>
      </p:sp>
      <p:sp>
        <p:nvSpPr>
          <p:cNvPr id="28" name="Loop down">
            <a:extLst>
              <a:ext uri="{C183D7F6-B498-43B3-948B-1728B52AA6E4}">
                <adec:decorative xmlns:adec="http://schemas.microsoft.com/office/drawing/2017/decorative" val="1"/>
              </a:ext>
            </a:extLst>
          </p:cNvPr>
          <p:cNvSpPr/>
          <p:nvPr/>
        </p:nvSpPr>
        <p:spPr>
          <a:xfrm>
            <a:off x="10469880" y="4343400"/>
            <a:ext cx="0" cy="365760"/>
          </a:xfrm>
          <a:prstGeom prst="line">
            <a:avLst/>
          </a:prstGeom>
          <a:noFill/>
          <a:ln w="25400">
            <a:solidFill>
              <a:srgbClr val="0F766E"/>
            </a:solidFill>
            <a:prstDash val="solid"/>
          </a:ln>
        </p:spPr>
      </p:sp>
      <p:sp>
        <p:nvSpPr>
          <p:cNvPr id="29" name="Loop across">
            <a:extLst>
              <a:ext uri="{C183D7F6-B498-43B3-948B-1728B52AA6E4}">
                <adec:decorative xmlns:adec="http://schemas.microsoft.com/office/drawing/2017/decorative" val="1"/>
              </a:ext>
            </a:extLst>
          </p:cNvPr>
          <p:cNvSpPr/>
          <p:nvPr/>
        </p:nvSpPr>
        <p:spPr>
          <a:xfrm>
            <a:off x="1737360" y="4709160"/>
            <a:ext cx="8732520" cy="0"/>
          </a:xfrm>
          <a:prstGeom prst="line">
            <a:avLst/>
          </a:prstGeom>
          <a:noFill/>
          <a:ln w="25400">
            <a:solidFill>
              <a:srgbClr val="0F766E"/>
            </a:solidFill>
            <a:prstDash val="solid"/>
          </a:ln>
        </p:spPr>
      </p:sp>
      <p:sp>
        <p:nvSpPr>
          <p:cNvPr id="30" name="Loop up">
            <a:extLst>
              <a:ext uri="{C183D7F6-B498-43B3-948B-1728B52AA6E4}">
                <adec:decorative xmlns:adec="http://schemas.microsoft.com/office/drawing/2017/decorative" val="1"/>
              </a:ext>
            </a:extLst>
          </p:cNvPr>
          <p:cNvSpPr/>
          <p:nvPr/>
        </p:nvSpPr>
        <p:spPr>
          <a:xfrm>
            <a:off x="1737360" y="4343400"/>
            <a:ext cx="0" cy="365760"/>
          </a:xfrm>
          <a:prstGeom prst="line">
            <a:avLst/>
          </a:prstGeom>
          <a:noFill/>
          <a:ln w="25400">
            <a:solidFill>
              <a:srgbClr val="0F766E"/>
            </a:solidFill>
            <a:prstDash val="solid"/>
            <a:headEnd type="triangle"/>
          </a:ln>
        </p:spPr>
      </p:sp>
      <p:sp>
        <p:nvSpPr>
          <p:cNvPr id="31" name="Loop label"/>
          <p:cNvSpPr txBox="1"/>
          <p:nvPr/>
        </p:nvSpPr>
        <p:spPr>
          <a:xfrm>
            <a:off x="2286000" y="4782312"/>
            <a:ext cx="7498080" cy="365760"/>
          </a:xfrm>
          <a:prstGeom prst="rect">
            <a:avLst/>
          </a:prstGeom>
          <a:noFill/>
          <a:ln/>
        </p:spPr>
        <p:txBody>
          <a:bodyPr wrap="square" lIns="0" tIns="0" rIns="0" bIns="0" rtlCol="0" anchor="ctr"/>
          <a:lstStyle/>
          <a:p>
            <a:pPr marL="0" indent="0" algn="ctr">
              <a:buNone/>
            </a:pPr>
            <a:r>
              <a:rPr lang="en-US" sz="1400" b="1" dirty="0">
                <a:solidFill>
                  <a:srgbClr val="0F766E"/>
                </a:solidFill>
              </a:rPr>
              <a:t>next agenda:  </a:t>
            </a:r>
            <a:r>
              <a:rPr lang="en-US" sz="1400" dirty="0">
                <a:solidFill>
                  <a:schemeClr val="tx2"/>
                </a:solidFill>
              </a:rPr>
              <a:t>open by reviewing the previous action items</a:t>
            </a:r>
            <a:endParaRPr lang="en-US" sz="1400" dirty="0"/>
          </a:p>
        </p:txBody>
      </p:sp>
      <p:sp>
        <p:nvSpPr>
          <p:cNvPr id="32" name="Takeaway">
            <a:extLst>
              <a:ext uri="{C183D7F6-B498-43B3-948B-1728B52AA6E4}">
                <adec:decorative xmlns:adec="http://schemas.microsoft.com/office/drawing/2017/decorative" val="1"/>
              </a:ext>
            </a:extLst>
          </p:cNvPr>
          <p:cNvSpPr/>
          <p:nvPr/>
        </p:nvSpPr>
        <p:spPr>
          <a:xfrm>
            <a:off x="548640" y="5257800"/>
            <a:ext cx="11109960" cy="713232"/>
          </a:xfrm>
          <a:prstGeom prst="roundRect">
            <a:avLst>
              <a:gd name="adj" fmla="val 1025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3" name="Icon FaDoorClosed">
            <a:extLst>
              <a:ext uri="{C183D7F6-B498-43B3-948B-1728B52AA6E4}">
                <adec:decorative xmlns:adec="http://schemas.microsoft.com/office/drawing/2017/decorative" val="1"/>
              </a:ext>
            </a:extLst>
          </p:cNvPr>
          <p:cNvSpPr/>
          <p:nvPr/>
        </p:nvSpPr>
        <p:spPr>
          <a:xfrm>
            <a:off x="777240" y="5294376"/>
            <a:ext cx="640080" cy="640080"/>
          </a:xfrm>
          <a:prstGeom prst="ellipse">
            <a:avLst/>
          </a:prstGeom>
          <a:solidFill>
            <a:srgbClr val="B45309"/>
          </a:solidFill>
          <a:ln w="12700">
            <a:solidFill>
              <a:srgbClr val="B45309"/>
            </a:solidFill>
            <a:prstDash val="solid"/>
          </a:ln>
        </p:spPr>
      </p:sp>
      <p:pic>
        <p:nvPicPr>
          <p:cNvPr id="3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5447995"/>
            <a:ext cx="332842" cy="332842"/>
          </a:xfrm>
          <a:prstGeom prst="rect">
            <a:avLst/>
          </a:prstGeom>
        </p:spPr>
      </p:pic>
      <p:sp>
        <p:nvSpPr>
          <p:cNvPr id="35" name="Takeaway text"/>
          <p:cNvSpPr txBox="1"/>
          <p:nvPr/>
        </p:nvSpPr>
        <p:spPr>
          <a:xfrm>
            <a:off x="1645920" y="5303520"/>
            <a:ext cx="9829800" cy="621792"/>
          </a:xfrm>
          <a:prstGeom prst="rect">
            <a:avLst/>
          </a:prstGeom>
          <a:noFill/>
          <a:ln/>
        </p:spPr>
        <p:txBody>
          <a:bodyPr wrap="square" lIns="0" tIns="0" rIns="0" bIns="0" rtlCol="0" anchor="ctr"/>
          <a:lstStyle/>
          <a:p>
            <a:pPr marL="0" indent="0">
              <a:buNone/>
            </a:pPr>
            <a:r>
              <a:rPr lang="en-US" sz="1650" b="1" dirty="0">
                <a:solidFill>
                  <a:srgbClr val="B45309"/>
                </a:solidFill>
              </a:rPr>
              <a:t>The close is its own phase.  </a:t>
            </a:r>
            <a:r>
              <a:rPr lang="en-US" sz="1650" dirty="0">
                <a:solidFill>
                  <a:schemeClr val="tx2"/>
                </a:solidFill>
              </a:rPr>
              <a:t>Reserve the last few minutes on the agenda for it, and aim to end early.</a:t>
            </a:r>
            <a:endParaRPr lang="en-US" sz="1650" dirty="0"/>
          </a:p>
        </p:txBody>
      </p:sp>
      <p:sp>
        <p:nvSpPr>
          <p:cNvPr id="3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Recktenwald, Portland State University (2018). Companion guide, Effective Meetings.</a:t>
            </a:r>
            <a:endParaRPr lang="en-US" sz="10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8" name="Narration" descr="Narration for this slide; captions available">
            <a:hlinkClick r:id="" action="ppaction://media"/>
            <a:extLst>
              <a:ext uri="{FF2B5EF4-FFF2-40B4-BE49-F238E27FC236}">
                <a16:creationId xmlns:a16="http://schemas.microsoft.com/office/drawing/2014/main" id="{0F51D38F-BC29-C822-7511-011061F0FB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6EEA43-FDF0-4193-8959-2F09068A42E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00"/>
    </mc:Choice>
    <mc:Fallback>
      <p:transition spd="slow" advTm="3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04"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Before: confirm, write, assign, remind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efore 0">
            <a:extLst>
              <a:ext uri="{C183D7F6-B498-43B3-948B-1728B52AA6E4}">
                <adec:decorative xmlns:adec="http://schemas.microsoft.com/office/drawing/2017/decorative" val="1"/>
              </a:ext>
            </a:extLst>
          </p:cNvPr>
          <p:cNvSpPr/>
          <p:nvPr/>
        </p:nvSpPr>
        <p:spPr>
          <a:xfrm>
            <a:off x="548640" y="1371600"/>
            <a:ext cx="640080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Step 1 circle">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1F2A44"/>
          </a:solidFill>
          <a:ln w="12700">
            <a:solidFill>
              <a:srgbClr val="1F2A44"/>
            </a:solidFill>
            <a:prstDash val="solid"/>
          </a:ln>
        </p:spPr>
      </p:sp>
      <p:sp>
        <p:nvSpPr>
          <p:cNvPr id="7" name="Step 1 number"/>
          <p:cNvSpPr txBox="1"/>
          <p:nvPr/>
        </p:nvSpPr>
        <p:spPr>
          <a:xfrm>
            <a:off x="731520" y="157276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Before 0 text"/>
          <p:cNvSpPr txBox="1"/>
          <p:nvPr/>
        </p:nvSpPr>
        <p:spPr>
          <a:xfrm>
            <a:off x="1463040" y="1426464"/>
            <a:ext cx="5349240" cy="850392"/>
          </a:xfrm>
          <a:prstGeom prst="rect">
            <a:avLst/>
          </a:prstGeom>
          <a:noFill/>
          <a:ln/>
        </p:spPr>
        <p:txBody>
          <a:bodyPr wrap="square" lIns="0" tIns="0" rIns="0" bIns="0" rtlCol="0" anchor="ctr"/>
          <a:lstStyle/>
          <a:p>
            <a:pPr marL="0" indent="0">
              <a:buNone/>
            </a:pPr>
            <a:r>
              <a:rPr lang="en-US" sz="1500" b="1" dirty="0">
                <a:solidFill>
                  <a:srgbClr val="1F2A44"/>
                </a:solidFill>
              </a:rPr>
              <a:t>Confirm the meeting is needed, and its type</a:t>
            </a:r>
            <a:endParaRPr lang="en-US" sz="1500" dirty="0"/>
          </a:p>
          <a:p>
            <a:pPr marL="0" indent="0">
              <a:buNone/>
            </a:pPr>
            <a:r>
              <a:rPr lang="en-US" sz="1350" dirty="0">
                <a:solidFill>
                  <a:srgbClr val="334155"/>
                </a:solidFill>
              </a:rPr>
              <a:t>Inform, discuss, or decide</a:t>
            </a:r>
            <a:endParaRPr lang="en-US" sz="1500" dirty="0"/>
          </a:p>
        </p:txBody>
      </p:sp>
      <p:sp>
        <p:nvSpPr>
          <p:cNvPr id="9" name="Before 1">
            <a:extLst>
              <a:ext uri="{C183D7F6-B498-43B3-948B-1728B52AA6E4}">
                <adec:decorative xmlns:adec="http://schemas.microsoft.com/office/drawing/2017/decorative" val="1"/>
              </a:ext>
            </a:extLst>
          </p:cNvPr>
          <p:cNvSpPr/>
          <p:nvPr/>
        </p:nvSpPr>
        <p:spPr>
          <a:xfrm>
            <a:off x="548640" y="2487168"/>
            <a:ext cx="6400800" cy="960120"/>
          </a:xfrm>
          <a:prstGeom prst="roundRect">
            <a:avLst>
              <a:gd name="adj" fmla="val 761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ep 2 circle">
            <a:extLst>
              <a:ext uri="{C183D7F6-B498-43B3-948B-1728B52AA6E4}">
                <adec:decorative xmlns:adec="http://schemas.microsoft.com/office/drawing/2017/decorative" val="1"/>
              </a:ext>
            </a:extLst>
          </p:cNvPr>
          <p:cNvSpPr/>
          <p:nvPr/>
        </p:nvSpPr>
        <p:spPr>
          <a:xfrm>
            <a:off x="731520" y="2688336"/>
            <a:ext cx="548640" cy="548640"/>
          </a:xfrm>
          <a:prstGeom prst="ellipse">
            <a:avLst/>
          </a:prstGeom>
          <a:solidFill>
            <a:srgbClr val="1F2A44"/>
          </a:solidFill>
          <a:ln w="12700">
            <a:solidFill>
              <a:srgbClr val="1F2A44"/>
            </a:solidFill>
            <a:prstDash val="solid"/>
          </a:ln>
        </p:spPr>
      </p:sp>
      <p:sp>
        <p:nvSpPr>
          <p:cNvPr id="11" name="Step 2 number"/>
          <p:cNvSpPr txBox="1"/>
          <p:nvPr/>
        </p:nvSpPr>
        <p:spPr>
          <a:xfrm>
            <a:off x="731520" y="268833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2" name="Before 1 text"/>
          <p:cNvSpPr txBox="1"/>
          <p:nvPr/>
        </p:nvSpPr>
        <p:spPr>
          <a:xfrm>
            <a:off x="1463040" y="2542032"/>
            <a:ext cx="5349240" cy="850392"/>
          </a:xfrm>
          <a:prstGeom prst="rect">
            <a:avLst/>
          </a:prstGeom>
          <a:noFill/>
          <a:ln/>
        </p:spPr>
        <p:txBody>
          <a:bodyPr wrap="square" lIns="0" tIns="0" rIns="0" bIns="0" rtlCol="0" anchor="ctr"/>
          <a:lstStyle/>
          <a:p>
            <a:pPr marL="0" indent="0">
              <a:buNone/>
            </a:pPr>
            <a:r>
              <a:rPr lang="en-US" sz="1500" b="1" dirty="0">
                <a:solidFill>
                  <a:srgbClr val="1F2A44"/>
                </a:solidFill>
              </a:rPr>
              <a:t>Write and send the agenda</a:t>
            </a:r>
            <a:endParaRPr lang="en-US" sz="1500" dirty="0"/>
          </a:p>
          <a:p>
            <a:pPr marL="0" indent="0">
              <a:buNone/>
            </a:pPr>
            <a:r>
              <a:rPr lang="en-US" sz="1350" dirty="0">
                <a:solidFill>
                  <a:srgbClr val="334155"/>
                </a:solidFill>
              </a:rPr>
              <a:t>With the preparation material attached</a:t>
            </a:r>
            <a:endParaRPr lang="en-US" sz="1500" dirty="0"/>
          </a:p>
        </p:txBody>
      </p:sp>
      <p:sp>
        <p:nvSpPr>
          <p:cNvPr id="13" name="Before 2">
            <a:extLst>
              <a:ext uri="{C183D7F6-B498-43B3-948B-1728B52AA6E4}">
                <adec:decorative xmlns:adec="http://schemas.microsoft.com/office/drawing/2017/decorative" val="1"/>
              </a:ext>
            </a:extLst>
          </p:cNvPr>
          <p:cNvSpPr/>
          <p:nvPr/>
        </p:nvSpPr>
        <p:spPr>
          <a:xfrm>
            <a:off x="548640" y="3602736"/>
            <a:ext cx="640080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Step 3 circle">
            <a:extLst>
              <a:ext uri="{C183D7F6-B498-43B3-948B-1728B52AA6E4}">
                <adec:decorative xmlns:adec="http://schemas.microsoft.com/office/drawing/2017/decorative" val="1"/>
              </a:ext>
            </a:extLst>
          </p:cNvPr>
          <p:cNvSpPr/>
          <p:nvPr/>
        </p:nvSpPr>
        <p:spPr>
          <a:xfrm>
            <a:off x="731520" y="3803904"/>
            <a:ext cx="548640" cy="548640"/>
          </a:xfrm>
          <a:prstGeom prst="ellipse">
            <a:avLst/>
          </a:prstGeom>
          <a:solidFill>
            <a:srgbClr val="1F2A44"/>
          </a:solidFill>
          <a:ln w="12700">
            <a:solidFill>
              <a:srgbClr val="1F2A44"/>
            </a:solidFill>
            <a:prstDash val="solid"/>
          </a:ln>
        </p:spPr>
      </p:sp>
      <p:sp>
        <p:nvSpPr>
          <p:cNvPr id="15" name="Step 3 number"/>
          <p:cNvSpPr txBox="1"/>
          <p:nvPr/>
        </p:nvSpPr>
        <p:spPr>
          <a:xfrm>
            <a:off x="731520" y="380390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6" name="Before 2 text"/>
          <p:cNvSpPr txBox="1"/>
          <p:nvPr/>
        </p:nvSpPr>
        <p:spPr>
          <a:xfrm>
            <a:off x="1463040" y="3657600"/>
            <a:ext cx="5349240" cy="850392"/>
          </a:xfrm>
          <a:prstGeom prst="rect">
            <a:avLst/>
          </a:prstGeom>
          <a:noFill/>
          <a:ln/>
        </p:spPr>
        <p:txBody>
          <a:bodyPr wrap="square" lIns="0" tIns="0" rIns="0" bIns="0" rtlCol="0" anchor="ctr"/>
          <a:lstStyle/>
          <a:p>
            <a:pPr marL="0" indent="0">
              <a:buNone/>
            </a:pPr>
            <a:r>
              <a:rPr lang="en-US" sz="1500" b="1" dirty="0">
                <a:solidFill>
                  <a:srgbClr val="1F2A44"/>
                </a:solidFill>
              </a:rPr>
              <a:t>Assign the roles, and invite only the people the items need</a:t>
            </a:r>
            <a:endParaRPr lang="en-US" sz="1500" dirty="0"/>
          </a:p>
          <a:p>
            <a:pPr marL="0" indent="0">
              <a:buNone/>
            </a:pPr>
            <a:r>
              <a:rPr lang="en-US" sz="1350" dirty="0">
                <a:solidFill>
                  <a:srgbClr val="334155"/>
                </a:solidFill>
              </a:rPr>
              <a:t>See the test on the right</a:t>
            </a:r>
            <a:endParaRPr lang="en-US" sz="1500" dirty="0"/>
          </a:p>
        </p:txBody>
      </p:sp>
      <p:sp>
        <p:nvSpPr>
          <p:cNvPr id="17" name="Before 3">
            <a:extLst>
              <a:ext uri="{C183D7F6-B498-43B3-948B-1728B52AA6E4}">
                <adec:decorative xmlns:adec="http://schemas.microsoft.com/office/drawing/2017/decorative" val="1"/>
              </a:ext>
            </a:extLst>
          </p:cNvPr>
          <p:cNvSpPr/>
          <p:nvPr/>
        </p:nvSpPr>
        <p:spPr>
          <a:xfrm>
            <a:off x="548640" y="4718304"/>
            <a:ext cx="6400800" cy="960120"/>
          </a:xfrm>
          <a:prstGeom prst="roundRect">
            <a:avLst>
              <a:gd name="adj" fmla="val 761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tep 4 circle">
            <a:extLst>
              <a:ext uri="{C183D7F6-B498-43B3-948B-1728B52AA6E4}">
                <adec:decorative xmlns:adec="http://schemas.microsoft.com/office/drawing/2017/decorative" val="1"/>
              </a:ext>
            </a:extLst>
          </p:cNvPr>
          <p:cNvSpPr/>
          <p:nvPr/>
        </p:nvSpPr>
        <p:spPr>
          <a:xfrm>
            <a:off x="731520" y="4919472"/>
            <a:ext cx="548640" cy="548640"/>
          </a:xfrm>
          <a:prstGeom prst="ellipse">
            <a:avLst/>
          </a:prstGeom>
          <a:solidFill>
            <a:srgbClr val="1F2A44"/>
          </a:solidFill>
          <a:ln w="12700">
            <a:solidFill>
              <a:srgbClr val="1F2A44"/>
            </a:solidFill>
            <a:prstDash val="solid"/>
          </a:ln>
        </p:spPr>
      </p:sp>
      <p:sp>
        <p:nvSpPr>
          <p:cNvPr id="19" name="Step 4 number"/>
          <p:cNvSpPr txBox="1"/>
          <p:nvPr/>
        </p:nvSpPr>
        <p:spPr>
          <a:xfrm>
            <a:off x="731520" y="491947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0" name="Before 3 text"/>
          <p:cNvSpPr txBox="1"/>
          <p:nvPr/>
        </p:nvSpPr>
        <p:spPr>
          <a:xfrm>
            <a:off x="1463040" y="4773168"/>
            <a:ext cx="5349240" cy="850392"/>
          </a:xfrm>
          <a:prstGeom prst="rect">
            <a:avLst/>
          </a:prstGeom>
          <a:noFill/>
          <a:ln/>
        </p:spPr>
        <p:txBody>
          <a:bodyPr wrap="square" lIns="0" tIns="0" rIns="0" bIns="0" rtlCol="0" anchor="ctr"/>
          <a:lstStyle/>
          <a:p>
            <a:pPr marL="0" indent="0">
              <a:buNone/>
            </a:pPr>
            <a:r>
              <a:rPr lang="en-US" sz="1500" b="1" dirty="0">
                <a:solidFill>
                  <a:srgbClr val="1F2A44"/>
                </a:solidFill>
              </a:rPr>
              <a:t>Shortly before, send a reminder with the agenda</a:t>
            </a:r>
            <a:endParaRPr lang="en-US" sz="1500" dirty="0"/>
          </a:p>
          <a:p>
            <a:pPr marL="0" indent="0">
              <a:buNone/>
            </a:pPr>
            <a:r>
              <a:rPr lang="en-US" sz="1350" dirty="0">
                <a:solidFill>
                  <a:srgbClr val="334155"/>
                </a:solidFill>
              </a:rPr>
              <a:t>Arrive early and test the equipment</a:t>
            </a:r>
            <a:endParaRPr lang="en-US" sz="1500" dirty="0"/>
          </a:p>
        </p:txBody>
      </p:sp>
      <p:sp>
        <p:nvSpPr>
          <p:cNvPr id="21" name="Invite card">
            <a:extLst>
              <a:ext uri="{C183D7F6-B498-43B3-948B-1728B52AA6E4}">
                <adec:decorative xmlns:adec="http://schemas.microsoft.com/office/drawing/2017/decorative" val="1"/>
              </a:ext>
            </a:extLst>
          </p:cNvPr>
          <p:cNvSpPr/>
          <p:nvPr/>
        </p:nvSpPr>
        <p:spPr>
          <a:xfrm>
            <a:off x="7178040" y="1371600"/>
            <a:ext cx="4480560" cy="4306824"/>
          </a:xfrm>
          <a:prstGeom prst="roundRect">
            <a:avLst>
              <a:gd name="adj" fmla="val 169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2" name="Icon FaUserCheck">
            <a:extLst>
              <a:ext uri="{C183D7F6-B498-43B3-948B-1728B52AA6E4}">
                <adec:decorative xmlns:adec="http://schemas.microsoft.com/office/drawing/2017/decorative" val="1"/>
              </a:ext>
            </a:extLst>
          </p:cNvPr>
          <p:cNvSpPr/>
          <p:nvPr/>
        </p:nvSpPr>
        <p:spPr>
          <a:xfrm>
            <a:off x="7360920" y="1536192"/>
            <a:ext cx="548640" cy="548640"/>
          </a:xfrm>
          <a:prstGeom prst="ellipse">
            <a:avLst/>
          </a:prstGeom>
          <a:solidFill>
            <a:srgbClr val="0F766E"/>
          </a:solidFill>
          <a:ln w="12700">
            <a:solidFill>
              <a:srgbClr val="0F766E"/>
            </a:solidFill>
            <a:prstDash val="solid"/>
          </a:ln>
        </p:spPr>
      </p:sp>
      <p:pic>
        <p:nvPicPr>
          <p:cNvPr id="2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92594" y="1667866"/>
            <a:ext cx="285293" cy="285293"/>
          </a:xfrm>
          <a:prstGeom prst="rect">
            <a:avLst/>
          </a:prstGeom>
        </p:spPr>
      </p:pic>
      <p:sp>
        <p:nvSpPr>
          <p:cNvPr id="24" name="Invite head"/>
          <p:cNvSpPr txBox="1"/>
          <p:nvPr/>
        </p:nvSpPr>
        <p:spPr>
          <a:xfrm>
            <a:off x="8001000" y="1517904"/>
            <a:ext cx="352044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Who belongs on the invitation</a:t>
            </a:r>
            <a:endParaRPr lang="en-US" sz="1650" dirty="0"/>
          </a:p>
        </p:txBody>
      </p:sp>
      <p:sp>
        <p:nvSpPr>
          <p:cNvPr id="25" name="Invite body"/>
          <p:cNvSpPr txBox="1"/>
          <p:nvPr/>
        </p:nvSpPr>
        <p:spPr>
          <a:xfrm>
            <a:off x="7379208" y="2249424"/>
            <a:ext cx="4114800" cy="3319272"/>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Those affected by a decision</a:t>
            </a:r>
            <a:endParaRPr lang="en-US" sz="1500" dirty="0"/>
          </a:p>
          <a:p>
            <a:pPr marL="342900" indent="-342900">
              <a:spcAft>
                <a:spcPts val="600"/>
              </a:spcAft>
              <a:buSzPct val="100000"/>
              <a:buChar char="•"/>
            </a:pPr>
            <a:r>
              <a:rPr lang="en-US" sz="1500" dirty="0">
                <a:solidFill>
                  <a:schemeClr val="tx2"/>
                </a:solidFill>
              </a:rPr>
              <a:t>Those with the knowledge, resources, or authority it requires</a:t>
            </a:r>
            <a:endParaRPr lang="en-US" sz="1500" dirty="0"/>
          </a:p>
          <a:p>
            <a:pPr marL="342900" indent="-342900">
              <a:spcAft>
                <a:spcPts val="600"/>
              </a:spcAft>
              <a:buSzPct val="100000"/>
              <a:buChar char="•"/>
            </a:pPr>
            <a:r>
              <a:rPr lang="en-US" sz="1500" dirty="0">
                <a:solidFill>
                  <a:schemeClr val="tx2"/>
                </a:solidFill>
              </a:rPr>
              <a:t>The decision-maker, for any “decide” item</a:t>
            </a:r>
            <a:endParaRPr lang="en-US" sz="1500" dirty="0"/>
          </a:p>
        </p:txBody>
      </p:sp>
      <p:sp>
        <p:nvSpPr>
          <p:cNvPr id="2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Companion guide, Effective Meetings.</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CD3ABED1-410F-E54B-7025-8AB694521E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E25F74-CB15-4B86-9D25-8623E518FE8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60"/>
    </mc:Choice>
    <mc:Fallback>
      <p:transition spd="slow" advTm="36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5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Start on time, and stay on the agenda</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rt card">
            <a:extLst>
              <a:ext uri="{C183D7F6-B498-43B3-948B-1728B52AA6E4}">
                <adec:decorative xmlns:adec="http://schemas.microsoft.com/office/drawing/2017/decorative" val="1"/>
              </a:ext>
            </a:extLst>
          </p:cNvPr>
          <p:cNvSpPr/>
          <p:nvPr/>
        </p:nvSpPr>
        <p:spPr>
          <a:xfrm>
            <a:off x="548640" y="1371600"/>
            <a:ext cx="3550920" cy="4480560"/>
          </a:xfrm>
          <a:prstGeom prst="roundRect">
            <a:avLst>
              <a:gd name="adj" fmla="val 206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Icon FaDoorOpen">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Start head"/>
          <p:cNvSpPr txBox="1"/>
          <p:nvPr/>
        </p:nvSpPr>
        <p:spPr>
          <a:xfrm>
            <a:off x="1371600" y="1517904"/>
            <a:ext cx="259080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Start</a:t>
            </a:r>
            <a:endParaRPr lang="en-US" sz="1650" dirty="0"/>
          </a:p>
        </p:txBody>
      </p:sp>
      <p:sp>
        <p:nvSpPr>
          <p:cNvPr id="9" name="Start body"/>
          <p:cNvSpPr txBox="1"/>
          <p:nvPr/>
        </p:nvSpPr>
        <p:spPr>
          <a:xfrm>
            <a:off x="749808" y="2249424"/>
            <a:ext cx="3185160" cy="349300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On time, every time</a:t>
            </a:r>
            <a:endParaRPr lang="en-US" sz="1400" dirty="0"/>
          </a:p>
          <a:p>
            <a:pPr marL="342900" indent="-342900">
              <a:spcAft>
                <a:spcPts val="600"/>
              </a:spcAft>
              <a:buSzPct val="100000"/>
              <a:buChar char="•"/>
            </a:pPr>
            <a:r>
              <a:rPr lang="en-US" sz="1400" dirty="0">
                <a:solidFill>
                  <a:schemeClr val="tx2"/>
                </a:solidFill>
              </a:rPr>
              <a:t>State the purpose, confirm the agenda, name the roles</a:t>
            </a:r>
            <a:endParaRPr lang="en-US" sz="1400" dirty="0"/>
          </a:p>
          <a:p>
            <a:pPr marL="342900" indent="-342900">
              <a:spcAft>
                <a:spcPts val="600"/>
              </a:spcAft>
              <a:buSzPct val="100000"/>
              <a:buChar char="•"/>
            </a:pPr>
            <a:r>
              <a:rPr lang="en-US" sz="1400" dirty="0">
                <a:solidFill>
                  <a:schemeClr val="tx2"/>
                </a:solidFill>
              </a:rPr>
              <a:t>Point to the notes, slides, and chat in use</a:t>
            </a:r>
            <a:endParaRPr lang="en-US" sz="1400" dirty="0"/>
          </a:p>
        </p:txBody>
      </p:sp>
      <p:sp>
        <p:nvSpPr>
          <p:cNvPr id="10" name="Ground rules card">
            <a:extLst>
              <a:ext uri="{C183D7F6-B498-43B3-948B-1728B52AA6E4}">
                <adec:decorative xmlns:adec="http://schemas.microsoft.com/office/drawing/2017/decorative" val="1"/>
              </a:ext>
            </a:extLst>
          </p:cNvPr>
          <p:cNvSpPr/>
          <p:nvPr/>
        </p:nvSpPr>
        <p:spPr>
          <a:xfrm>
            <a:off x="4328160" y="1371600"/>
            <a:ext cx="3550920" cy="4480560"/>
          </a:xfrm>
          <a:prstGeom prst="roundRect">
            <a:avLst>
              <a:gd name="adj" fmla="val 206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Icon FaPeopleArrows">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42714" y="1667866"/>
            <a:ext cx="285293" cy="285293"/>
          </a:xfrm>
          <a:prstGeom prst="rect">
            <a:avLst/>
          </a:prstGeom>
        </p:spPr>
      </p:pic>
      <p:sp>
        <p:nvSpPr>
          <p:cNvPr id="13" name="Ground rules head"/>
          <p:cNvSpPr txBox="1"/>
          <p:nvPr/>
        </p:nvSpPr>
        <p:spPr>
          <a:xfrm>
            <a:off x="515112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Ground rules</a:t>
            </a:r>
            <a:endParaRPr lang="en-US" sz="1650" dirty="0"/>
          </a:p>
        </p:txBody>
      </p:sp>
      <p:sp>
        <p:nvSpPr>
          <p:cNvPr id="14" name="Ground rules body"/>
          <p:cNvSpPr txBox="1"/>
          <p:nvPr/>
        </p:nvSpPr>
        <p:spPr>
          <a:xfrm>
            <a:off x="4529328" y="2249424"/>
            <a:ext cx="3185160" cy="349300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Agree or restate them at the start</a:t>
            </a:r>
            <a:endParaRPr lang="en-US" sz="1400" dirty="0"/>
          </a:p>
          <a:p>
            <a:pPr marL="342900" indent="-342900">
              <a:spcAft>
                <a:spcPts val="600"/>
              </a:spcAft>
              <a:buSzPct val="100000"/>
              <a:buChar char="•"/>
            </a:pPr>
            <a:r>
              <a:rPr lang="en-US" sz="1400" dirty="0">
                <a:solidFill>
                  <a:schemeClr val="tx2"/>
                </a:solidFill>
              </a:rPr>
              <a:t>Share air time: “take space, make space”</a:t>
            </a:r>
            <a:endParaRPr lang="en-US" sz="1400" dirty="0"/>
          </a:p>
          <a:p>
            <a:pPr marL="342900" indent="-342900">
              <a:spcAft>
                <a:spcPts val="600"/>
              </a:spcAft>
              <a:buSzPct val="100000"/>
              <a:buChar char="•"/>
            </a:pPr>
            <a:r>
              <a:rPr lang="en-US" sz="1400" dirty="0">
                <a:solidFill>
                  <a:schemeClr val="tx2"/>
                </a:solidFill>
              </a:rPr>
              <a:t>Treat different perspectives as valuable</a:t>
            </a:r>
            <a:endParaRPr lang="en-US" sz="1400" dirty="0"/>
          </a:p>
        </p:txBody>
      </p:sp>
      <p:sp>
        <p:nvSpPr>
          <p:cNvPr id="15" name="Track card">
            <a:extLst>
              <a:ext uri="{C183D7F6-B498-43B3-948B-1728B52AA6E4}">
                <adec:decorative xmlns:adec="http://schemas.microsoft.com/office/drawing/2017/decorative" val="1"/>
              </a:ext>
            </a:extLst>
          </p:cNvPr>
          <p:cNvSpPr/>
          <p:nvPr/>
        </p:nvSpPr>
        <p:spPr>
          <a:xfrm>
            <a:off x="8107680" y="1371600"/>
            <a:ext cx="3550920" cy="4480560"/>
          </a:xfrm>
          <a:prstGeom prst="roundRect">
            <a:avLst>
              <a:gd name="adj" fmla="val 206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22234" y="1667866"/>
            <a:ext cx="285293" cy="285293"/>
          </a:xfrm>
          <a:prstGeom prst="rect">
            <a:avLst/>
          </a:prstGeom>
        </p:spPr>
      </p:pic>
      <p:sp>
        <p:nvSpPr>
          <p:cNvPr id="18" name="Track head"/>
          <p:cNvSpPr txBox="1"/>
          <p:nvPr/>
        </p:nvSpPr>
        <p:spPr>
          <a:xfrm>
            <a:off x="8930640" y="1517904"/>
            <a:ext cx="2590800" cy="585216"/>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Stay on track</a:t>
            </a:r>
            <a:endParaRPr lang="en-US" sz="1650" dirty="0"/>
          </a:p>
        </p:txBody>
      </p:sp>
      <p:sp>
        <p:nvSpPr>
          <p:cNvPr id="19" name="Track body"/>
          <p:cNvSpPr txBox="1"/>
          <p:nvPr/>
        </p:nvSpPr>
        <p:spPr>
          <a:xfrm>
            <a:off x="8308848" y="2249424"/>
            <a:ext cx="3185160" cy="349300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Follow the agenda; leave it only deliberately, for a set time</a:t>
            </a:r>
            <a:endParaRPr lang="en-US" sz="1400" dirty="0"/>
          </a:p>
          <a:p>
            <a:pPr marL="342900" indent="-342900">
              <a:spcAft>
                <a:spcPts val="600"/>
              </a:spcAft>
              <a:buSzPct val="100000"/>
              <a:buChar char="•"/>
            </a:pPr>
            <a:r>
              <a:rPr lang="en-US" sz="1400" dirty="0">
                <a:solidFill>
                  <a:schemeClr val="tx2"/>
                </a:solidFill>
              </a:rPr>
              <a:t>Summarize as you go</a:t>
            </a:r>
            <a:endParaRPr lang="en-US" sz="1400" dirty="0"/>
          </a:p>
          <a:p>
            <a:pPr marL="342900" indent="-342900">
              <a:spcAft>
                <a:spcPts val="600"/>
              </a:spcAft>
              <a:buSzPct val="100000"/>
              <a:buChar char="•"/>
            </a:pPr>
            <a:r>
              <a:rPr lang="en-US" sz="1400" dirty="0">
                <a:solidFill>
                  <a:schemeClr val="tx2"/>
                </a:solidFill>
              </a:rPr>
              <a:t>Point latecomers to the agenda and notes; don't recap for them</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6D062647-099B-FFC0-8953-4D59AC9F58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725E94-0148-4FF4-B83F-7836EB9BDF4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20"/>
    </mc:Choice>
    <mc:Fallback>
      <p:transition spd="slow" advTm="3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2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parking lot, and notes worth keeping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Lot card">
            <a:extLst>
              <a:ext uri="{C183D7F6-B498-43B3-948B-1728B52AA6E4}">
                <adec:decorative xmlns:adec="http://schemas.microsoft.com/office/drawing/2017/decorative" val="1"/>
              </a:ext>
            </a:extLst>
          </p:cNvPr>
          <p:cNvSpPr/>
          <p:nvPr/>
        </p:nvSpPr>
        <p:spPr>
          <a:xfrm>
            <a:off x="548640" y="1371600"/>
            <a:ext cx="65836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Filter">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B45309"/>
          </a:solidFill>
          <a:ln w="12700">
            <a:solidFill>
              <a:srgbClr val="B45309"/>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Lot head"/>
          <p:cNvSpPr txBox="1"/>
          <p:nvPr/>
        </p:nvSpPr>
        <p:spPr>
          <a:xfrm>
            <a:off x="1417320" y="1517904"/>
            <a:ext cx="5577840" cy="585216"/>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Use a parking lot</a:t>
            </a:r>
            <a:endParaRPr lang="en-US" sz="1700" dirty="0"/>
          </a:p>
        </p:txBody>
      </p:sp>
      <p:sp>
        <p:nvSpPr>
          <p:cNvPr id="9" name="Lot step 0">
            <a:extLst>
              <a:ext uri="{C183D7F6-B498-43B3-948B-1728B52AA6E4}">
                <adec:decorative xmlns:adec="http://schemas.microsoft.com/office/drawing/2017/decorative" val="1"/>
              </a:ext>
            </a:extLst>
          </p:cNvPr>
          <p:cNvSpPr/>
          <p:nvPr/>
        </p:nvSpPr>
        <p:spPr>
          <a:xfrm>
            <a:off x="731520" y="2286000"/>
            <a:ext cx="1266444" cy="2148840"/>
          </a:xfrm>
          <a:prstGeom prst="roundRect">
            <a:avLst>
              <a:gd name="adj" fmla="val 577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Lot step 0 text"/>
          <p:cNvSpPr txBox="1"/>
          <p:nvPr/>
        </p:nvSpPr>
        <p:spPr>
          <a:xfrm>
            <a:off x="786384" y="2331720"/>
            <a:ext cx="1156716" cy="2057400"/>
          </a:xfrm>
          <a:prstGeom prst="rect">
            <a:avLst/>
          </a:prstGeom>
          <a:noFill/>
          <a:ln/>
        </p:spPr>
        <p:txBody>
          <a:bodyPr wrap="square" lIns="0" tIns="0" rIns="0" bIns="0" rtlCol="0" anchor="ctr"/>
          <a:lstStyle/>
          <a:p>
            <a:pPr marL="0" indent="0" algn="ctr">
              <a:buNone/>
            </a:pPr>
            <a:r>
              <a:rPr lang="en-US" sz="1350" b="1" dirty="0">
                <a:solidFill>
                  <a:srgbClr val="B45309"/>
                </a:solidFill>
              </a:rPr>
              <a:t>Off the agenda, or can't be settled in time</a:t>
            </a:r>
            <a:endParaRPr lang="en-US" sz="1350" dirty="0"/>
          </a:p>
        </p:txBody>
      </p:sp>
      <p:sp>
        <p:nvSpPr>
          <p:cNvPr id="11" name="Lot arrow 0">
            <a:extLst>
              <a:ext uri="{C183D7F6-B498-43B3-948B-1728B52AA6E4}">
                <adec:decorative xmlns:adec="http://schemas.microsoft.com/office/drawing/2017/decorative" val="1"/>
              </a:ext>
            </a:extLst>
          </p:cNvPr>
          <p:cNvSpPr/>
          <p:nvPr/>
        </p:nvSpPr>
        <p:spPr>
          <a:xfrm>
            <a:off x="2034540" y="3163824"/>
            <a:ext cx="310896" cy="384048"/>
          </a:xfrm>
          <a:prstGeom prst="rightArrow">
            <a:avLst/>
          </a:prstGeom>
          <a:solidFill>
            <a:srgbClr val="B45309"/>
          </a:solidFill>
          <a:ln w="12700">
            <a:solidFill>
              <a:srgbClr val="B45309"/>
            </a:solidFill>
            <a:prstDash val="solid"/>
          </a:ln>
        </p:spPr>
      </p:sp>
      <p:sp>
        <p:nvSpPr>
          <p:cNvPr id="12" name="Lot step 1">
            <a:extLst>
              <a:ext uri="{C183D7F6-B498-43B3-948B-1728B52AA6E4}">
                <adec:decorative xmlns:adec="http://schemas.microsoft.com/office/drawing/2017/decorative" val="1"/>
              </a:ext>
            </a:extLst>
          </p:cNvPr>
          <p:cNvSpPr/>
          <p:nvPr/>
        </p:nvSpPr>
        <p:spPr>
          <a:xfrm>
            <a:off x="2382012" y="2286000"/>
            <a:ext cx="1266444" cy="2148840"/>
          </a:xfrm>
          <a:prstGeom prst="roundRect">
            <a:avLst>
              <a:gd name="adj" fmla="val 577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Lot step 1 text"/>
          <p:cNvSpPr txBox="1"/>
          <p:nvPr/>
        </p:nvSpPr>
        <p:spPr>
          <a:xfrm>
            <a:off x="2436876" y="2331720"/>
            <a:ext cx="1156716" cy="2057400"/>
          </a:xfrm>
          <a:prstGeom prst="rect">
            <a:avLst/>
          </a:prstGeom>
          <a:noFill/>
          <a:ln/>
        </p:spPr>
        <p:txBody>
          <a:bodyPr wrap="square" lIns="0" tIns="0" rIns="0" bIns="0" rtlCol="0" anchor="ctr"/>
          <a:lstStyle/>
          <a:p>
            <a:pPr marL="0" indent="0" algn="ctr">
              <a:buNone/>
            </a:pPr>
            <a:r>
              <a:rPr lang="en-US" sz="1350" b="1" dirty="0">
                <a:solidFill>
                  <a:srgbClr val="B45309"/>
                </a:solidFill>
              </a:rPr>
              <a:t>Parked where all can see it</a:t>
            </a:r>
            <a:endParaRPr lang="en-US" sz="1350" dirty="0"/>
          </a:p>
          <a:p>
            <a:pPr marL="0" indent="0" algn="ctr">
              <a:buNone/>
            </a:pPr>
            <a:r>
              <a:rPr lang="en-US" sz="1200" dirty="0">
                <a:solidFill>
                  <a:srgbClr val="334155"/>
                </a:solidFill>
              </a:rPr>
              <a:t>Notes section or whiteboard corner</a:t>
            </a:r>
            <a:endParaRPr lang="en-US" sz="1350" dirty="0"/>
          </a:p>
        </p:txBody>
      </p:sp>
      <p:sp>
        <p:nvSpPr>
          <p:cNvPr id="14" name="Lot arrow 1">
            <a:extLst>
              <a:ext uri="{C183D7F6-B498-43B3-948B-1728B52AA6E4}">
                <adec:decorative xmlns:adec="http://schemas.microsoft.com/office/drawing/2017/decorative" val="1"/>
              </a:ext>
            </a:extLst>
          </p:cNvPr>
          <p:cNvSpPr/>
          <p:nvPr/>
        </p:nvSpPr>
        <p:spPr>
          <a:xfrm>
            <a:off x="3685032" y="3163824"/>
            <a:ext cx="310896" cy="384048"/>
          </a:xfrm>
          <a:prstGeom prst="rightArrow">
            <a:avLst/>
          </a:prstGeom>
          <a:solidFill>
            <a:srgbClr val="B45309"/>
          </a:solidFill>
          <a:ln w="12700">
            <a:solidFill>
              <a:srgbClr val="B45309"/>
            </a:solidFill>
            <a:prstDash val="solid"/>
          </a:ln>
        </p:spPr>
      </p:sp>
      <p:sp>
        <p:nvSpPr>
          <p:cNvPr id="15" name="Lot step 2">
            <a:extLst>
              <a:ext uri="{C183D7F6-B498-43B3-948B-1728B52AA6E4}">
                <adec:decorative xmlns:adec="http://schemas.microsoft.com/office/drawing/2017/decorative" val="1"/>
              </a:ext>
            </a:extLst>
          </p:cNvPr>
          <p:cNvSpPr/>
          <p:nvPr/>
        </p:nvSpPr>
        <p:spPr>
          <a:xfrm>
            <a:off x="4032504" y="2286000"/>
            <a:ext cx="1266444" cy="2148840"/>
          </a:xfrm>
          <a:prstGeom prst="roundRect">
            <a:avLst>
              <a:gd name="adj" fmla="val 577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Lot step 2 text"/>
          <p:cNvSpPr txBox="1"/>
          <p:nvPr/>
        </p:nvSpPr>
        <p:spPr>
          <a:xfrm>
            <a:off x="4087368" y="2331720"/>
            <a:ext cx="1156716" cy="2057400"/>
          </a:xfrm>
          <a:prstGeom prst="rect">
            <a:avLst/>
          </a:prstGeom>
          <a:noFill/>
          <a:ln/>
        </p:spPr>
        <p:txBody>
          <a:bodyPr wrap="square" lIns="0" tIns="0" rIns="0" bIns="0" rtlCol="0" anchor="ctr"/>
          <a:lstStyle/>
          <a:p>
            <a:pPr marL="0" indent="0" algn="ctr">
              <a:buNone/>
            </a:pPr>
            <a:r>
              <a:rPr lang="en-US" sz="1350" b="1" dirty="0">
                <a:solidFill>
                  <a:srgbClr val="B45309"/>
                </a:solidFill>
              </a:rPr>
              <a:t>Given an action</a:t>
            </a:r>
            <a:endParaRPr lang="en-US" sz="1350" dirty="0"/>
          </a:p>
          <a:p>
            <a:pPr marL="0" indent="0" algn="ctr">
              <a:buNone/>
            </a:pPr>
            <a:r>
              <a:rPr lang="en-US" sz="1200" dirty="0">
                <a:solidFill>
                  <a:srgbClr val="334155"/>
                </a:solidFill>
              </a:rPr>
              <a:t>Another group, a future agenda, or a small team</a:t>
            </a:r>
            <a:endParaRPr lang="en-US" sz="1350" dirty="0"/>
          </a:p>
        </p:txBody>
      </p:sp>
      <p:sp>
        <p:nvSpPr>
          <p:cNvPr id="17" name="Lot arrow 2">
            <a:extLst>
              <a:ext uri="{C183D7F6-B498-43B3-948B-1728B52AA6E4}">
                <adec:decorative xmlns:adec="http://schemas.microsoft.com/office/drawing/2017/decorative" val="1"/>
              </a:ext>
            </a:extLst>
          </p:cNvPr>
          <p:cNvSpPr/>
          <p:nvPr/>
        </p:nvSpPr>
        <p:spPr>
          <a:xfrm>
            <a:off x="5335524" y="3163824"/>
            <a:ext cx="310896" cy="384048"/>
          </a:xfrm>
          <a:prstGeom prst="rightArrow">
            <a:avLst/>
          </a:prstGeom>
          <a:solidFill>
            <a:srgbClr val="B45309"/>
          </a:solidFill>
          <a:ln w="12700">
            <a:solidFill>
              <a:srgbClr val="B45309"/>
            </a:solidFill>
            <a:prstDash val="solid"/>
          </a:ln>
        </p:spPr>
      </p:sp>
      <p:sp>
        <p:nvSpPr>
          <p:cNvPr id="18" name="Lot step 3">
            <a:extLst>
              <a:ext uri="{C183D7F6-B498-43B3-948B-1728B52AA6E4}">
                <adec:decorative xmlns:adec="http://schemas.microsoft.com/office/drawing/2017/decorative" val="1"/>
              </a:ext>
            </a:extLst>
          </p:cNvPr>
          <p:cNvSpPr/>
          <p:nvPr/>
        </p:nvSpPr>
        <p:spPr>
          <a:xfrm>
            <a:off x="5682996" y="2286000"/>
            <a:ext cx="1266444" cy="2148840"/>
          </a:xfrm>
          <a:prstGeom prst="roundRect">
            <a:avLst>
              <a:gd name="adj" fmla="val 577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Lot step 3 text"/>
          <p:cNvSpPr txBox="1"/>
          <p:nvPr/>
        </p:nvSpPr>
        <p:spPr>
          <a:xfrm>
            <a:off x="5737860" y="2331720"/>
            <a:ext cx="1156716" cy="2057400"/>
          </a:xfrm>
          <a:prstGeom prst="rect">
            <a:avLst/>
          </a:prstGeom>
          <a:noFill/>
          <a:ln/>
        </p:spPr>
        <p:txBody>
          <a:bodyPr wrap="square" lIns="0" tIns="0" rIns="0" bIns="0" rtlCol="0" anchor="ctr"/>
          <a:lstStyle/>
          <a:p>
            <a:pPr marL="0" indent="0" algn="ctr">
              <a:buNone/>
            </a:pPr>
            <a:r>
              <a:rPr lang="en-US" sz="1350" b="1" dirty="0">
                <a:solidFill>
                  <a:srgbClr val="B45309"/>
                </a:solidFill>
              </a:rPr>
              <a:t>Reviewed before the meeting ends</a:t>
            </a:r>
            <a:endParaRPr lang="en-US" sz="1350" dirty="0"/>
          </a:p>
        </p:txBody>
      </p:sp>
      <p:sp>
        <p:nvSpPr>
          <p:cNvPr id="20" name="Notes card">
            <a:extLst>
              <a:ext uri="{C183D7F6-B498-43B3-948B-1728B52AA6E4}">
                <adec:decorative xmlns:adec="http://schemas.microsoft.com/office/drawing/2017/decorative" val="1"/>
              </a:ext>
            </a:extLst>
          </p:cNvPr>
          <p:cNvSpPr/>
          <p:nvPr/>
        </p:nvSpPr>
        <p:spPr>
          <a:xfrm>
            <a:off x="7360920" y="1371600"/>
            <a:ext cx="4297680"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1" name="Icon FaAddressBook">
            <a:extLst>
              <a:ext uri="{C183D7F6-B498-43B3-948B-1728B52AA6E4}">
                <adec:decorative xmlns:adec="http://schemas.microsoft.com/office/drawing/2017/decorative" val="1"/>
              </a:ext>
            </a:extLst>
          </p:cNvPr>
          <p:cNvSpPr/>
          <p:nvPr/>
        </p:nvSpPr>
        <p:spPr>
          <a:xfrm>
            <a:off x="7543800" y="1536192"/>
            <a:ext cx="548640" cy="548640"/>
          </a:xfrm>
          <a:prstGeom prst="ellipse">
            <a:avLst/>
          </a:prstGeom>
          <a:solidFill>
            <a:srgbClr val="0F766E"/>
          </a:solidFill>
          <a:ln w="12700">
            <a:solidFill>
              <a:srgbClr val="0F766E"/>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675474" y="1667866"/>
            <a:ext cx="285293" cy="285293"/>
          </a:xfrm>
          <a:prstGeom prst="rect">
            <a:avLst/>
          </a:prstGeom>
        </p:spPr>
      </p:pic>
      <p:sp>
        <p:nvSpPr>
          <p:cNvPr id="23" name="Notes head"/>
          <p:cNvSpPr txBox="1"/>
          <p:nvPr/>
        </p:nvSpPr>
        <p:spPr>
          <a:xfrm>
            <a:off x="8183880" y="1517904"/>
            <a:ext cx="333756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Take useful notes</a:t>
            </a:r>
            <a:endParaRPr lang="en-US" sz="1650" dirty="0"/>
          </a:p>
        </p:txBody>
      </p:sp>
      <p:sp>
        <p:nvSpPr>
          <p:cNvPr id="24" name="Notes body"/>
          <p:cNvSpPr txBox="1"/>
          <p:nvPr/>
        </p:nvSpPr>
        <p:spPr>
          <a:xfrm>
            <a:off x="7562088" y="2249424"/>
            <a:ext cx="3931920" cy="225856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Capture meaning, not dialogue</a:t>
            </a:r>
            <a:endParaRPr lang="en-US" sz="1400" dirty="0"/>
          </a:p>
          <a:p>
            <a:pPr marL="342900" indent="-342900">
              <a:spcAft>
                <a:spcPts val="600"/>
              </a:spcAft>
              <a:buSzPct val="100000"/>
              <a:buChar char="•"/>
            </a:pPr>
            <a:r>
              <a:rPr lang="en-US" sz="1400" dirty="0">
                <a:solidFill>
                  <a:schemeClr val="tx2"/>
                </a:solidFill>
              </a:rPr>
              <a:t>Decisions and assigned tasks first</a:t>
            </a:r>
            <a:endParaRPr lang="en-US" sz="1400" dirty="0"/>
          </a:p>
          <a:p>
            <a:pPr marL="342900" indent="-342900">
              <a:spcAft>
                <a:spcPts val="600"/>
              </a:spcAft>
              <a:buSzPct val="100000"/>
              <a:buChar char="•"/>
            </a:pPr>
            <a:r>
              <a:rPr lang="en-US" sz="1400" dirty="0">
                <a:solidFill>
                  <a:schemeClr val="tx2"/>
                </a:solidFill>
              </a:rPr>
              <a:t>Leave gaps in fast discussion; fill them the same day</a:t>
            </a:r>
            <a:endParaRPr lang="en-US" sz="1400" dirty="0"/>
          </a:p>
        </p:txBody>
      </p:sp>
      <p:sp>
        <p:nvSpPr>
          <p:cNvPr id="25"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6" name="Icon FaArrowsRotate">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45309"/>
          </a:solidFill>
          <a:ln w="12700">
            <a:solidFill>
              <a:srgbClr val="B45309"/>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0859" y="5182819"/>
            <a:ext cx="332842" cy="332842"/>
          </a:xfrm>
          <a:prstGeom prst="rect">
            <a:avLst/>
          </a:prstGeom>
        </p:spPr>
      </p:pic>
      <p:sp>
        <p:nvSpPr>
          <p:cNvPr id="28"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B45309"/>
                </a:solidFill>
              </a:rPr>
              <a:t>Following up on the parking lot  </a:t>
            </a:r>
            <a:r>
              <a:rPr lang="en-US" sz="1650" dirty="0">
                <a:solidFill>
                  <a:schemeClr val="tx2"/>
                </a:solidFill>
              </a:rPr>
              <a:t>is what keeps people willing to park topics.</a:t>
            </a:r>
            <a:endParaRPr lang="en-US" sz="1650" dirty="0"/>
          </a:p>
        </p:txBody>
      </p:sp>
      <p:sp>
        <p:nvSpPr>
          <p:cNvPr id="2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Companion guide, Effective Meetings.</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95B80DF5-7EA8-A03B-D6C0-BA2844ABDD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CCDC537-04C4-4C1C-9B02-5D4E96F0EE87}"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630"/>
    </mc:Choice>
    <mc:Fallback>
      <p:transition spd="slow" advTm="35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632"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Close: read back decisions, owners and dates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lose lead"/>
          <p:cNvSpPr txBox="1"/>
          <p:nvPr/>
        </p:nvSpPr>
        <p:spPr>
          <a:xfrm>
            <a:off x="548640" y="1371600"/>
            <a:ext cx="11109960" cy="411480"/>
          </a:xfrm>
          <a:prstGeom prst="rect">
            <a:avLst/>
          </a:prstGeom>
          <a:noFill/>
          <a:ln/>
        </p:spPr>
        <p:txBody>
          <a:bodyPr wrap="square" lIns="0" tIns="0" rIns="0" bIns="0" rtlCol="0" anchor="ctr"/>
          <a:lstStyle/>
          <a:p>
            <a:pPr marL="0" indent="0" algn="ctr">
              <a:buNone/>
            </a:pPr>
            <a:r>
              <a:rPr lang="en-US" sz="1700" b="1" dirty="0">
                <a:solidFill>
                  <a:srgbClr val="B45309"/>
                </a:solidFill>
              </a:rPr>
              <a:t>Reserve the last few minutes on the agenda for the close, </a:t>
            </a:r>
            <a:r>
              <a:rPr lang="en-US" sz="1700" dirty="0">
                <a:solidFill>
                  <a:schemeClr val="tx2"/>
                </a:solidFill>
              </a:rPr>
              <a:t>and aim to end early.</a:t>
            </a:r>
            <a:endParaRPr lang="en-US" sz="1700" dirty="0"/>
          </a:p>
        </p:txBody>
      </p:sp>
      <p:sp>
        <p:nvSpPr>
          <p:cNvPr id="6" name="Close 0">
            <a:extLst>
              <a:ext uri="{C183D7F6-B498-43B3-948B-1728B52AA6E4}">
                <adec:decorative xmlns:adec="http://schemas.microsoft.com/office/drawing/2017/decorative" val="1"/>
              </a:ext>
            </a:extLst>
          </p:cNvPr>
          <p:cNvSpPr/>
          <p:nvPr/>
        </p:nvSpPr>
        <p:spPr>
          <a:xfrm>
            <a:off x="548640" y="1965960"/>
            <a:ext cx="2075688" cy="2651760"/>
          </a:xfrm>
          <a:prstGeom prst="roundRect">
            <a:avLst>
              <a:gd name="adj" fmla="val 352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tep 1 circle">
            <a:extLst>
              <a:ext uri="{C183D7F6-B498-43B3-948B-1728B52AA6E4}">
                <adec:decorative xmlns:adec="http://schemas.microsoft.com/office/drawing/2017/decorative" val="1"/>
              </a:ext>
            </a:extLst>
          </p:cNvPr>
          <p:cNvSpPr/>
          <p:nvPr/>
        </p:nvSpPr>
        <p:spPr>
          <a:xfrm>
            <a:off x="1312164" y="2121408"/>
            <a:ext cx="548640" cy="548640"/>
          </a:xfrm>
          <a:prstGeom prst="ellipse">
            <a:avLst/>
          </a:prstGeom>
          <a:solidFill>
            <a:srgbClr val="B45309"/>
          </a:solidFill>
          <a:ln w="12700">
            <a:solidFill>
              <a:srgbClr val="B45309"/>
            </a:solidFill>
            <a:prstDash val="solid"/>
          </a:ln>
        </p:spPr>
      </p:sp>
      <p:sp>
        <p:nvSpPr>
          <p:cNvPr id="8" name="Step 1 number"/>
          <p:cNvSpPr txBox="1"/>
          <p:nvPr/>
        </p:nvSpPr>
        <p:spPr>
          <a:xfrm>
            <a:off x="1312164" y="212140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9" name="Close 0 text"/>
          <p:cNvSpPr txBox="1"/>
          <p:nvPr/>
        </p:nvSpPr>
        <p:spPr>
          <a:xfrm>
            <a:off x="658368" y="2788920"/>
            <a:ext cx="1856232" cy="1691640"/>
          </a:xfrm>
          <a:prstGeom prst="rect">
            <a:avLst/>
          </a:prstGeom>
          <a:noFill/>
          <a:ln/>
        </p:spPr>
        <p:txBody>
          <a:bodyPr wrap="square" lIns="0" tIns="0" rIns="0" bIns="0" rtlCol="0" anchor="t"/>
          <a:lstStyle/>
          <a:p>
            <a:pPr marL="0" indent="0" algn="ctr">
              <a:buNone/>
            </a:pPr>
            <a:r>
              <a:rPr lang="en-US" sz="1500" dirty="0">
                <a:solidFill>
                  <a:srgbClr val="334155"/>
                </a:solidFill>
              </a:rPr>
              <a:t>Read back the decisions</a:t>
            </a:r>
            <a:endParaRPr lang="en-US" sz="1500" dirty="0"/>
          </a:p>
        </p:txBody>
      </p:sp>
      <p:sp>
        <p:nvSpPr>
          <p:cNvPr id="10" name="Close 1">
            <a:extLst>
              <a:ext uri="{C183D7F6-B498-43B3-948B-1728B52AA6E4}">
                <adec:decorative xmlns:adec="http://schemas.microsoft.com/office/drawing/2017/decorative" val="1"/>
              </a:ext>
            </a:extLst>
          </p:cNvPr>
          <p:cNvSpPr/>
          <p:nvPr/>
        </p:nvSpPr>
        <p:spPr>
          <a:xfrm>
            <a:off x="2807208" y="1965960"/>
            <a:ext cx="2075688" cy="2651760"/>
          </a:xfrm>
          <a:prstGeom prst="roundRect">
            <a:avLst>
              <a:gd name="adj" fmla="val 35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Step 2 circle">
            <a:extLst>
              <a:ext uri="{C183D7F6-B498-43B3-948B-1728B52AA6E4}">
                <adec:decorative xmlns:adec="http://schemas.microsoft.com/office/drawing/2017/decorative" val="1"/>
              </a:ext>
            </a:extLst>
          </p:cNvPr>
          <p:cNvSpPr/>
          <p:nvPr/>
        </p:nvSpPr>
        <p:spPr>
          <a:xfrm>
            <a:off x="3570732" y="2121408"/>
            <a:ext cx="548640" cy="548640"/>
          </a:xfrm>
          <a:prstGeom prst="ellipse">
            <a:avLst/>
          </a:prstGeom>
          <a:solidFill>
            <a:srgbClr val="B45309"/>
          </a:solidFill>
          <a:ln w="12700">
            <a:solidFill>
              <a:srgbClr val="B45309"/>
            </a:solidFill>
            <a:prstDash val="solid"/>
          </a:ln>
        </p:spPr>
      </p:sp>
      <p:sp>
        <p:nvSpPr>
          <p:cNvPr id="12" name="Step 2 number"/>
          <p:cNvSpPr txBox="1"/>
          <p:nvPr/>
        </p:nvSpPr>
        <p:spPr>
          <a:xfrm>
            <a:off x="3570732" y="212140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Close 1 text"/>
          <p:cNvSpPr txBox="1"/>
          <p:nvPr/>
        </p:nvSpPr>
        <p:spPr>
          <a:xfrm>
            <a:off x="2916936" y="2788920"/>
            <a:ext cx="1856232" cy="1691640"/>
          </a:xfrm>
          <a:prstGeom prst="rect">
            <a:avLst/>
          </a:prstGeom>
          <a:noFill/>
          <a:ln/>
        </p:spPr>
        <p:txBody>
          <a:bodyPr wrap="square" lIns="0" tIns="0" rIns="0" bIns="0" rtlCol="0" anchor="t"/>
          <a:lstStyle/>
          <a:p>
            <a:pPr marL="0" indent="0" algn="ctr">
              <a:buNone/>
            </a:pPr>
            <a:r>
              <a:rPr lang="en-US" sz="1500" b="1" dirty="0">
                <a:solidFill>
                  <a:srgbClr val="B45309"/>
                </a:solidFill>
              </a:rPr>
              <a:t>Read back each action item with its owner and due date</a:t>
            </a:r>
            <a:endParaRPr lang="en-US" sz="1500" dirty="0"/>
          </a:p>
        </p:txBody>
      </p:sp>
      <p:sp>
        <p:nvSpPr>
          <p:cNvPr id="14" name="Close 2">
            <a:extLst>
              <a:ext uri="{C183D7F6-B498-43B3-948B-1728B52AA6E4}">
                <adec:decorative xmlns:adec="http://schemas.microsoft.com/office/drawing/2017/decorative" val="1"/>
              </a:ext>
            </a:extLst>
          </p:cNvPr>
          <p:cNvSpPr/>
          <p:nvPr/>
        </p:nvSpPr>
        <p:spPr>
          <a:xfrm>
            <a:off x="5065776" y="1965960"/>
            <a:ext cx="2075688" cy="2651760"/>
          </a:xfrm>
          <a:prstGeom prst="roundRect">
            <a:avLst>
              <a:gd name="adj" fmla="val 352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Step 3 circle">
            <a:extLst>
              <a:ext uri="{C183D7F6-B498-43B3-948B-1728B52AA6E4}">
                <adec:decorative xmlns:adec="http://schemas.microsoft.com/office/drawing/2017/decorative" val="1"/>
              </a:ext>
            </a:extLst>
          </p:cNvPr>
          <p:cNvSpPr/>
          <p:nvPr/>
        </p:nvSpPr>
        <p:spPr>
          <a:xfrm>
            <a:off x="5829300" y="2121408"/>
            <a:ext cx="548640" cy="548640"/>
          </a:xfrm>
          <a:prstGeom prst="ellipse">
            <a:avLst/>
          </a:prstGeom>
          <a:solidFill>
            <a:srgbClr val="B45309"/>
          </a:solidFill>
          <a:ln w="12700">
            <a:solidFill>
              <a:srgbClr val="B45309"/>
            </a:solidFill>
            <a:prstDash val="solid"/>
          </a:ln>
        </p:spPr>
      </p:sp>
      <p:sp>
        <p:nvSpPr>
          <p:cNvPr id="16" name="Step 3 number"/>
          <p:cNvSpPr txBox="1"/>
          <p:nvPr/>
        </p:nvSpPr>
        <p:spPr>
          <a:xfrm>
            <a:off x="5829300" y="212140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7" name="Close 2 text"/>
          <p:cNvSpPr txBox="1"/>
          <p:nvPr/>
        </p:nvSpPr>
        <p:spPr>
          <a:xfrm>
            <a:off x="5175504" y="2788920"/>
            <a:ext cx="1856232" cy="1691640"/>
          </a:xfrm>
          <a:prstGeom prst="rect">
            <a:avLst/>
          </a:prstGeom>
          <a:noFill/>
          <a:ln/>
        </p:spPr>
        <p:txBody>
          <a:bodyPr wrap="square" lIns="0" tIns="0" rIns="0" bIns="0" rtlCol="0" anchor="t"/>
          <a:lstStyle/>
          <a:p>
            <a:pPr marL="0" indent="0" algn="ctr">
              <a:buNone/>
            </a:pPr>
            <a:r>
              <a:rPr lang="en-US" sz="1500" dirty="0">
                <a:solidFill>
                  <a:srgbClr val="334155"/>
                </a:solidFill>
              </a:rPr>
              <a:t>Route each parking-lot item</a:t>
            </a:r>
            <a:endParaRPr lang="en-US" sz="1500" dirty="0"/>
          </a:p>
        </p:txBody>
      </p:sp>
      <p:sp>
        <p:nvSpPr>
          <p:cNvPr id="18" name="Close 3">
            <a:extLst>
              <a:ext uri="{C183D7F6-B498-43B3-948B-1728B52AA6E4}">
                <adec:decorative xmlns:adec="http://schemas.microsoft.com/office/drawing/2017/decorative" val="1"/>
              </a:ext>
            </a:extLst>
          </p:cNvPr>
          <p:cNvSpPr/>
          <p:nvPr/>
        </p:nvSpPr>
        <p:spPr>
          <a:xfrm>
            <a:off x="7324344" y="1965960"/>
            <a:ext cx="2075688" cy="2651760"/>
          </a:xfrm>
          <a:prstGeom prst="roundRect">
            <a:avLst>
              <a:gd name="adj" fmla="val 352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9" name="Step 4 circle">
            <a:extLst>
              <a:ext uri="{C183D7F6-B498-43B3-948B-1728B52AA6E4}">
                <adec:decorative xmlns:adec="http://schemas.microsoft.com/office/drawing/2017/decorative" val="1"/>
              </a:ext>
            </a:extLst>
          </p:cNvPr>
          <p:cNvSpPr/>
          <p:nvPr/>
        </p:nvSpPr>
        <p:spPr>
          <a:xfrm>
            <a:off x="8087868" y="2121408"/>
            <a:ext cx="548640" cy="548640"/>
          </a:xfrm>
          <a:prstGeom prst="ellipse">
            <a:avLst/>
          </a:prstGeom>
          <a:solidFill>
            <a:srgbClr val="B45309"/>
          </a:solidFill>
          <a:ln w="12700">
            <a:solidFill>
              <a:srgbClr val="B45309"/>
            </a:solidFill>
            <a:prstDash val="solid"/>
          </a:ln>
        </p:spPr>
      </p:sp>
      <p:sp>
        <p:nvSpPr>
          <p:cNvPr id="20" name="Step 4 number"/>
          <p:cNvSpPr txBox="1"/>
          <p:nvPr/>
        </p:nvSpPr>
        <p:spPr>
          <a:xfrm>
            <a:off x="8087868" y="212140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1" name="Close 3 text"/>
          <p:cNvSpPr txBox="1"/>
          <p:nvPr/>
        </p:nvSpPr>
        <p:spPr>
          <a:xfrm>
            <a:off x="7434072" y="2788920"/>
            <a:ext cx="1856232" cy="1691640"/>
          </a:xfrm>
          <a:prstGeom prst="rect">
            <a:avLst/>
          </a:prstGeom>
          <a:noFill/>
          <a:ln/>
        </p:spPr>
        <p:txBody>
          <a:bodyPr wrap="square" lIns="0" tIns="0" rIns="0" bIns="0" rtlCol="0" anchor="t"/>
          <a:lstStyle/>
          <a:p>
            <a:pPr marL="0" indent="0" algn="ctr">
              <a:buNone/>
            </a:pPr>
            <a:r>
              <a:rPr lang="en-US" sz="1500" dirty="0">
                <a:solidFill>
                  <a:srgbClr val="334155"/>
                </a:solidFill>
              </a:rPr>
              <a:t>Ask what is missing, and what to change next time</a:t>
            </a:r>
            <a:endParaRPr lang="en-US" sz="1500" dirty="0"/>
          </a:p>
        </p:txBody>
      </p:sp>
      <p:sp>
        <p:nvSpPr>
          <p:cNvPr id="22" name="Close 4">
            <a:extLst>
              <a:ext uri="{C183D7F6-B498-43B3-948B-1728B52AA6E4}">
                <adec:decorative xmlns:adec="http://schemas.microsoft.com/office/drawing/2017/decorative" val="1"/>
              </a:ext>
            </a:extLst>
          </p:cNvPr>
          <p:cNvSpPr/>
          <p:nvPr/>
        </p:nvSpPr>
        <p:spPr>
          <a:xfrm>
            <a:off x="9582912" y="1965960"/>
            <a:ext cx="2075688" cy="2651760"/>
          </a:xfrm>
          <a:prstGeom prst="roundRect">
            <a:avLst>
              <a:gd name="adj" fmla="val 352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3" name="Step 5 circle">
            <a:extLst>
              <a:ext uri="{C183D7F6-B498-43B3-948B-1728B52AA6E4}">
                <adec:decorative xmlns:adec="http://schemas.microsoft.com/office/drawing/2017/decorative" val="1"/>
              </a:ext>
            </a:extLst>
          </p:cNvPr>
          <p:cNvSpPr/>
          <p:nvPr/>
        </p:nvSpPr>
        <p:spPr>
          <a:xfrm>
            <a:off x="10346436" y="2121408"/>
            <a:ext cx="548640" cy="548640"/>
          </a:xfrm>
          <a:prstGeom prst="ellipse">
            <a:avLst/>
          </a:prstGeom>
          <a:solidFill>
            <a:srgbClr val="B45309"/>
          </a:solidFill>
          <a:ln w="12700">
            <a:solidFill>
              <a:srgbClr val="B45309"/>
            </a:solidFill>
            <a:prstDash val="solid"/>
          </a:ln>
        </p:spPr>
      </p:sp>
      <p:sp>
        <p:nvSpPr>
          <p:cNvPr id="24" name="Step 5 number"/>
          <p:cNvSpPr txBox="1"/>
          <p:nvPr/>
        </p:nvSpPr>
        <p:spPr>
          <a:xfrm>
            <a:off x="10346436" y="212140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5" name="Close 4 text"/>
          <p:cNvSpPr txBox="1"/>
          <p:nvPr/>
        </p:nvSpPr>
        <p:spPr>
          <a:xfrm>
            <a:off x="9692640" y="2788920"/>
            <a:ext cx="1856232" cy="1691640"/>
          </a:xfrm>
          <a:prstGeom prst="rect">
            <a:avLst/>
          </a:prstGeom>
          <a:noFill/>
          <a:ln/>
        </p:spPr>
        <p:txBody>
          <a:bodyPr wrap="square" lIns="0" tIns="0" rIns="0" bIns="0" rtlCol="0" anchor="t"/>
          <a:lstStyle/>
          <a:p>
            <a:pPr marL="0" indent="0" algn="ctr">
              <a:buNone/>
            </a:pPr>
            <a:r>
              <a:rPr lang="en-US" sz="1500" dirty="0">
                <a:solidFill>
                  <a:srgbClr val="334155"/>
                </a:solidFill>
              </a:rPr>
              <a:t>Set the next meeting, and its facilitator if needed</a:t>
            </a:r>
            <a:endParaRPr lang="en-US" sz="1500" dirty="0"/>
          </a:p>
        </p:txBody>
      </p:sp>
      <p:sp>
        <p:nvSpPr>
          <p:cNvPr id="26" name="Takeaway">
            <a:extLst>
              <a:ext uri="{C183D7F6-B498-43B3-948B-1728B52AA6E4}">
                <adec:decorative xmlns:adec="http://schemas.microsoft.com/office/drawing/2017/decorative" val="1"/>
              </a:ext>
            </a:extLst>
          </p:cNvPr>
          <p:cNvSpPr/>
          <p:nvPr/>
        </p:nvSpPr>
        <p:spPr>
          <a:xfrm>
            <a:off x="548640" y="484632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7" name="Icon FaUserCheck">
            <a:extLst>
              <a:ext uri="{C183D7F6-B498-43B3-948B-1728B52AA6E4}">
                <adec:decorative xmlns:adec="http://schemas.microsoft.com/office/drawing/2017/decorative" val="1"/>
              </a:ext>
            </a:extLst>
          </p:cNvPr>
          <p:cNvSpPr/>
          <p:nvPr/>
        </p:nvSpPr>
        <p:spPr>
          <a:xfrm>
            <a:off x="777240" y="5029200"/>
            <a:ext cx="640080" cy="640080"/>
          </a:xfrm>
          <a:prstGeom prst="ellipse">
            <a:avLst/>
          </a:prstGeom>
          <a:solidFill>
            <a:srgbClr val="B45309"/>
          </a:solidFill>
          <a:ln w="12700">
            <a:solidFill>
              <a:srgbClr val="B45309"/>
            </a:solidFill>
            <a:prstDash val="solid"/>
          </a:ln>
        </p:spPr>
      </p:sp>
      <p:pic>
        <p:nvPicPr>
          <p:cNvPr id="2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5182819"/>
            <a:ext cx="332842" cy="332842"/>
          </a:xfrm>
          <a:prstGeom prst="rect">
            <a:avLst/>
          </a:prstGeom>
        </p:spPr>
      </p:pic>
      <p:sp>
        <p:nvSpPr>
          <p:cNvPr id="29" name="Takeaway text"/>
          <p:cNvSpPr txBox="1"/>
          <p:nvPr/>
        </p:nvSpPr>
        <p:spPr>
          <a:xfrm>
            <a:off x="1645920" y="4892040"/>
            <a:ext cx="9829800" cy="914400"/>
          </a:xfrm>
          <a:prstGeom prst="rect">
            <a:avLst/>
          </a:prstGeom>
          <a:noFill/>
          <a:ln/>
        </p:spPr>
        <p:txBody>
          <a:bodyPr wrap="square" lIns="0" tIns="0" rIns="0" bIns="0" rtlCol="0" anchor="ctr"/>
          <a:lstStyle/>
          <a:p>
            <a:pPr marL="0" indent="0">
              <a:buNone/>
            </a:pPr>
            <a:r>
              <a:rPr lang="en-US" sz="1650" b="1" dirty="0">
                <a:solidFill>
                  <a:srgbClr val="B45309"/>
                </a:solidFill>
              </a:rPr>
              <a:t>Each owner confirms it out loud.  </a:t>
            </a:r>
            <a:r>
              <a:rPr lang="en-US" sz="1650" dirty="0">
                <a:solidFill>
                  <a:schemeClr val="tx2"/>
                </a:solidFill>
              </a:rPr>
              <a:t>Every action item leaves the room with an owner and a due date.</a:t>
            </a:r>
            <a:endParaRPr lang="en-US" sz="16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Ploof, UPMC Children's Hospital of Pittsburgh (2016); Recktenwald, Portland State University (2018). Companion guide, Effective Meetings.</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D627656D-3DF9-1398-A40E-5A87C4B07E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47D8284-BA6D-4C7A-8658-04489AFE18C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930"/>
    </mc:Choice>
    <mc:Fallback>
      <p:transition spd="slow" advTm="30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928"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After: notes the same day, no meeting after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end card">
            <a:extLst>
              <a:ext uri="{C183D7F6-B498-43B3-948B-1728B52AA6E4}">
                <adec:decorative xmlns:adec="http://schemas.microsoft.com/office/drawing/2017/decorative" val="1"/>
              </a:ext>
            </a:extLst>
          </p:cNvPr>
          <p:cNvSpPr/>
          <p:nvPr/>
        </p:nvSpPr>
        <p:spPr>
          <a:xfrm>
            <a:off x="548640" y="1371600"/>
            <a:ext cx="3550920" cy="2514600"/>
          </a:xfrm>
          <a:prstGeom prst="roundRect">
            <a:avLst>
              <a:gd name="adj" fmla="val 290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Icon FaClipboardCheck">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Send head"/>
          <p:cNvSpPr txBox="1"/>
          <p:nvPr/>
        </p:nvSpPr>
        <p:spPr>
          <a:xfrm>
            <a:off x="1371600" y="1517904"/>
            <a:ext cx="2590800" cy="585216"/>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Send the same day</a:t>
            </a:r>
            <a:endParaRPr lang="en-US" sz="1650" dirty="0"/>
          </a:p>
        </p:txBody>
      </p:sp>
      <p:sp>
        <p:nvSpPr>
          <p:cNvPr id="9" name="Send body"/>
          <p:cNvSpPr txBox="1"/>
          <p:nvPr/>
        </p:nvSpPr>
        <p:spPr>
          <a:xfrm>
            <a:off x="749808" y="2249424"/>
            <a:ext cx="3185160" cy="152704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Notes and action items in writing, with owners and dates.</a:t>
            </a:r>
            <a:endParaRPr lang="en-US" sz="1500" dirty="0"/>
          </a:p>
        </p:txBody>
      </p:sp>
      <p:sp>
        <p:nvSpPr>
          <p:cNvPr id="10" name="Store card">
            <a:extLst>
              <a:ext uri="{C183D7F6-B498-43B3-948B-1728B52AA6E4}">
                <adec:decorative xmlns:adec="http://schemas.microsoft.com/office/drawing/2017/decorative" val="1"/>
              </a:ext>
            </a:extLst>
          </p:cNvPr>
          <p:cNvSpPr/>
          <p:nvPr/>
        </p:nvSpPr>
        <p:spPr>
          <a:xfrm>
            <a:off x="4328160" y="1371600"/>
            <a:ext cx="355092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Icon FaDatabase">
            <a:extLst>
              <a:ext uri="{C183D7F6-B498-43B3-948B-1728B52AA6E4}">
                <adec:decorative xmlns:adec="http://schemas.microsoft.com/office/drawing/2017/decorative" val="1"/>
              </a:ext>
            </a:extLst>
          </p:cNvPr>
          <p:cNvSpPr/>
          <p:nvPr/>
        </p:nvSpPr>
        <p:spPr>
          <a:xfrm>
            <a:off x="4511040" y="1536192"/>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42714" y="1667866"/>
            <a:ext cx="285293" cy="285293"/>
          </a:xfrm>
          <a:prstGeom prst="rect">
            <a:avLst/>
          </a:prstGeom>
        </p:spPr>
      </p:pic>
      <p:sp>
        <p:nvSpPr>
          <p:cNvPr id="13" name="Store head"/>
          <p:cNvSpPr txBox="1"/>
          <p:nvPr/>
        </p:nvSpPr>
        <p:spPr>
          <a:xfrm>
            <a:off x="5151120" y="1517904"/>
            <a:ext cx="2590800" cy="585216"/>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Store, and correct in the open</a:t>
            </a:r>
            <a:endParaRPr lang="en-US" sz="1650" dirty="0"/>
          </a:p>
        </p:txBody>
      </p:sp>
      <p:sp>
        <p:nvSpPr>
          <p:cNvPr id="14" name="Store body"/>
          <p:cNvSpPr txBox="1"/>
          <p:nvPr/>
        </p:nvSpPr>
        <p:spPr>
          <a:xfrm>
            <a:off x="4529328" y="2249424"/>
            <a:ext cx="3185160" cy="152704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Where the team keeps its records; any correction visible to everyone who attended.</a:t>
            </a:r>
            <a:endParaRPr lang="en-US" sz="1500" dirty="0"/>
          </a:p>
        </p:txBody>
      </p:sp>
      <p:sp>
        <p:nvSpPr>
          <p:cNvPr id="15" name="Review card">
            <a:extLst>
              <a:ext uri="{C183D7F6-B498-43B3-948B-1728B52AA6E4}">
                <adec:decorative xmlns:adec="http://schemas.microsoft.com/office/drawing/2017/decorative" val="1"/>
              </a:ext>
            </a:extLst>
          </p:cNvPr>
          <p:cNvSpPr/>
          <p:nvPr/>
        </p:nvSpPr>
        <p:spPr>
          <a:xfrm>
            <a:off x="8107680" y="1371600"/>
            <a:ext cx="3550920" cy="2514600"/>
          </a:xfrm>
          <a:prstGeom prst="roundRect">
            <a:avLst>
              <a:gd name="adj" fmla="val 290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6" name="Icon FaArrowsRotate">
            <a:extLst>
              <a:ext uri="{C183D7F6-B498-43B3-948B-1728B52AA6E4}">
                <adec:decorative xmlns:adec="http://schemas.microsoft.com/office/drawing/2017/decorative" val="1"/>
              </a:ext>
            </a:extLst>
          </p:cNvPr>
          <p:cNvSpPr/>
          <p:nvPr/>
        </p:nvSpPr>
        <p:spPr>
          <a:xfrm>
            <a:off x="8290560" y="1536192"/>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22234" y="1667866"/>
            <a:ext cx="285293" cy="285293"/>
          </a:xfrm>
          <a:prstGeom prst="rect">
            <a:avLst/>
          </a:prstGeom>
        </p:spPr>
      </p:pic>
      <p:sp>
        <p:nvSpPr>
          <p:cNvPr id="18" name="Review head"/>
          <p:cNvSpPr txBox="1"/>
          <p:nvPr/>
        </p:nvSpPr>
        <p:spPr>
          <a:xfrm>
            <a:off x="8930640" y="1517904"/>
            <a:ext cx="2590800" cy="585216"/>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Review at the next meeting</a:t>
            </a:r>
            <a:endParaRPr lang="en-US" sz="1650" dirty="0"/>
          </a:p>
        </p:txBody>
      </p:sp>
      <p:sp>
        <p:nvSpPr>
          <p:cNvPr id="19" name="Review body"/>
          <p:cNvSpPr txBox="1"/>
          <p:nvPr/>
        </p:nvSpPr>
        <p:spPr>
          <a:xfrm>
            <a:off x="8308848" y="2249424"/>
            <a:ext cx="3185160" cy="1527048"/>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Open the next meeting by reviewing the previous action items.</a:t>
            </a:r>
            <a:endParaRPr lang="en-US" sz="1500" dirty="0"/>
          </a:p>
        </p:txBody>
      </p:sp>
      <p:sp>
        <p:nvSpPr>
          <p:cNvPr id="20" name="Takeaway">
            <a:extLst>
              <a:ext uri="{C183D7F6-B498-43B3-948B-1728B52AA6E4}">
                <adec:decorative xmlns:adec="http://schemas.microsoft.com/office/drawing/2017/decorative" val="1"/>
              </a:ext>
            </a:extLst>
          </p:cNvPr>
          <p:cNvSpPr/>
          <p:nvPr/>
        </p:nvSpPr>
        <p:spPr>
          <a:xfrm>
            <a:off x="548640" y="4160520"/>
            <a:ext cx="11109960" cy="1234440"/>
          </a:xfrm>
          <a:prstGeom prst="roundRect">
            <a:avLst>
              <a:gd name="adj" fmla="val 5926"/>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Laptop">
            <a:extLst>
              <a:ext uri="{C183D7F6-B498-43B3-948B-1728B52AA6E4}">
                <adec:decorative xmlns:adec="http://schemas.microsoft.com/office/drawing/2017/decorative" val="1"/>
              </a:ext>
            </a:extLst>
          </p:cNvPr>
          <p:cNvSpPr/>
          <p:nvPr/>
        </p:nvSpPr>
        <p:spPr>
          <a:xfrm>
            <a:off x="777240" y="4457700"/>
            <a:ext cx="640080" cy="64008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30859" y="4611319"/>
            <a:ext cx="332842" cy="332842"/>
          </a:xfrm>
          <a:prstGeom prst="rect">
            <a:avLst/>
          </a:prstGeom>
        </p:spPr>
      </p:pic>
      <p:sp>
        <p:nvSpPr>
          <p:cNvPr id="23" name="Takeaway text"/>
          <p:cNvSpPr txBox="1"/>
          <p:nvPr/>
        </p:nvSpPr>
        <p:spPr>
          <a:xfrm>
            <a:off x="1645920" y="4206240"/>
            <a:ext cx="9829800" cy="1143000"/>
          </a:xfrm>
          <a:prstGeom prst="rect">
            <a:avLst/>
          </a:prstGeom>
          <a:noFill/>
          <a:ln/>
        </p:spPr>
        <p:txBody>
          <a:bodyPr wrap="square" lIns="0" tIns="0" rIns="0" bIns="0" rtlCol="0" anchor="ctr"/>
          <a:lstStyle/>
          <a:p>
            <a:pPr marL="0" indent="0">
              <a:buNone/>
            </a:pPr>
            <a:r>
              <a:rPr lang="en-US" sz="1650" b="1" dirty="0">
                <a:solidFill>
                  <a:srgbClr val="B91C1C"/>
                </a:solidFill>
              </a:rPr>
              <a:t>Avoid the “meeting after the meeting.”  </a:t>
            </a:r>
            <a:r>
              <a:rPr lang="en-US" sz="1650" dirty="0">
                <a:solidFill>
                  <a:schemeClr val="tx2"/>
                </a:solidFill>
              </a:rPr>
              <a:t>Decisions made in the hallway exclude remote attendees and never reach the notes.</a:t>
            </a:r>
            <a:endParaRPr lang="en-US" sz="16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18F, GSA (2016);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E11B50F5-CC50-3177-7C52-2429641FD7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FD766A-3B7D-4A57-AB9C-5BA7B6BDA8B0}"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40"/>
    </mc:Choice>
    <mc:Fallback>
      <p:transition spd="slow" advTm="34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24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Template: the agenda</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2084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Fill 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Meeting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&lt;specific title, e.g. “Wave 2 cutover go/no-go”&gt;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Date / time / length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&lt;date&gt;  &lt;start&gt;–&lt;end&gt;  (&lt;15 | 45 | …&gt; min)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Location / bridge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&lt;room, link, dial-in&gt;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&lt;one sentence&gt;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Expected outcomes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&lt;decisions to make, outputs to produce&gt;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Notes kept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&lt;link&gt;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7498080" y="1371600"/>
          <a:ext cx="416052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Facilitator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Timekeeper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Note-taker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Decision-maker(s)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&lt;name(s)&gt;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Agenda roles note"/>
          <p:cNvSpPr txBox="1"/>
          <p:nvPr/>
        </p:nvSpPr>
        <p:spPr>
          <a:xfrm>
            <a:off x="7498080" y="3063240"/>
            <a:ext cx="4160520" cy="320040"/>
          </a:xfrm>
          <a:prstGeom prst="rect">
            <a:avLst/>
          </a:prstGeom>
          <a:noFill/>
          <a:ln/>
        </p:spPr>
        <p:txBody>
          <a:bodyPr wrap="square" lIns="0" tIns="0" rIns="0" bIns="0" rtlCol="0" anchor="t"/>
          <a:lstStyle/>
          <a:p>
            <a:pPr marL="0" indent="0">
              <a:buNone/>
            </a:pPr>
            <a:r>
              <a:rPr lang="en-US" sz="1200" i="1" dirty="0">
                <a:solidFill>
                  <a:srgbClr val="64748B"/>
                </a:solidFill>
              </a:rPr>
              <a:t>Every role named before the meeting.</a:t>
            </a:r>
            <a:endParaRPr lang="en-US" sz="120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548640" y="3749040"/>
          <a:ext cx="1110996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32918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Item (as a question)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Prep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Review open action items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&lt;name&gt;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Last notes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&lt;question&gt;?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Decide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&lt;name&gt;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&lt;doc link&gt;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&lt;question&gt;?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Discuss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&lt;name&gt;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Close: decisions, actions, parking lot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Facilitator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Agenda note"/>
          <p:cNvSpPr txBox="1"/>
          <p:nvPr/>
        </p:nvSpPr>
        <p:spPr>
          <a:xfrm>
            <a:off x="548640" y="5468112"/>
            <a:ext cx="11109960" cy="457200"/>
          </a:xfrm>
          <a:prstGeom prst="rect">
            <a:avLst/>
          </a:prstGeom>
          <a:noFill/>
          <a:ln/>
        </p:spPr>
        <p:txBody>
          <a:bodyPr wrap="square" lIns="0" tIns="0" rIns="0" bIns="0" rtlCol="0" anchor="ctr"/>
          <a:lstStyle/>
          <a:p>
            <a:pPr marL="0" indent="0" algn="ctr">
              <a:buNone/>
            </a:pPr>
            <a:r>
              <a:rPr lang="en-US" sz="1400" b="1" dirty="0">
                <a:solidFill>
                  <a:srgbClr val="1F2A44"/>
                </a:solidFill>
              </a:rPr>
              <a:t>Opens with the open action items; ends with a reserved close.  </a:t>
            </a:r>
            <a:r>
              <a:rPr lang="en-US" sz="1400" dirty="0">
                <a:solidFill>
                  <a:schemeClr val="tx2"/>
                </a:solidFill>
              </a:rPr>
              <a:t>Item 4 is the close, five minutes, run by the facilitator.</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Templates: Agenda (the guide's design guidance, drawing on 18F and Portland State).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5F29F23-E226-C11A-C699-D0652BA54E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3B7A49-9F84-4A46-9844-4DCF92FD389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60"/>
    </mc:Choice>
    <mc:Fallback>
      <p:transition spd="slow" advTm="37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Template: notes and action items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Fill 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Meeting /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&lt;title&gt;  ·  &lt;date&gt;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Attendees / absent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&lt;names&gt;  ·  &lt;names&gt;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Facilitator / Timekeeper / Note-taker: &lt;names&gt;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548640" y="2926080"/>
          <a:ext cx="544068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Decided by (name / method)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&lt;decision&gt;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 / method&gt;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548640" y="3703320"/>
          <a:ext cx="5440680" cy="914400"/>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Open question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will answer, by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&lt;question&gt;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&lt;who&gt;, &lt;by when&gt;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81" name="Table 3"/>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914400"/>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&lt;deliverable&gt;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&lt;date&gt;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&lt;deliverable&gt;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&lt;name&gt;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&lt;date&gt;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graphicFrame>
        <p:nvGraphicFramePr>
          <p:cNvPr id="101" name="Table 4"/>
          <p:cNvGraphicFramePr>
            <a:graphicFrameLocks noGrp="1"/>
          </p:cNvGraphicFramePr>
          <p:nvPr>
            <p:extLst>
              <p:ext uri="{D42A27DB-BD31-4B8C-83A1-F6EECF244321}">
                <p14:modId xmlns:p14="http://schemas.microsoft.com/office/powerpoint/2010/main" val="1579011935"/>
              </p:ext>
            </p:extLst>
          </p:nvPr>
        </p:nvGraphicFramePr>
        <p:xfrm>
          <a:off x="6217920" y="2514600"/>
          <a:ext cx="544068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Parking-lot item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Route 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&lt;item&gt;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&lt;group / future agenda / owner&gt;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0" name="Next meeting">
            <a:extLst>
              <a:ext uri="{C183D7F6-B498-43B3-948B-1728B52AA6E4}">
                <adec:decorative xmlns:adec="http://schemas.microsoft.com/office/drawing/2017/decorative" val="1"/>
              </a:ext>
            </a:extLst>
          </p:cNvPr>
          <p:cNvSpPr/>
          <p:nvPr/>
        </p:nvSpPr>
        <p:spPr>
          <a:xfrm>
            <a:off x="6217920" y="3337560"/>
            <a:ext cx="5440680" cy="594360"/>
          </a:xfrm>
          <a:prstGeom prst="roundRect">
            <a:avLst>
              <a:gd name="adj" fmla="val 123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Next meeting text"/>
          <p:cNvSpPr txBox="1"/>
          <p:nvPr/>
        </p:nvSpPr>
        <p:spPr>
          <a:xfrm>
            <a:off x="6400800" y="3337560"/>
            <a:ext cx="5120640" cy="594360"/>
          </a:xfrm>
          <a:prstGeom prst="rect">
            <a:avLst/>
          </a:prstGeom>
          <a:noFill/>
          <a:ln/>
        </p:spPr>
        <p:txBody>
          <a:bodyPr wrap="square" lIns="0" tIns="0" rIns="0" bIns="0" rtlCol="0" anchor="ctr"/>
          <a:lstStyle/>
          <a:p>
            <a:pPr marL="0" indent="0">
              <a:buNone/>
            </a:pPr>
            <a:r>
              <a:rPr lang="en-US" sz="1350" b="1" dirty="0">
                <a:solidFill>
                  <a:srgbClr val="1F2A44"/>
                </a:solidFill>
              </a:rPr>
              <a:t>NEXT MEETING:  </a:t>
            </a:r>
            <a:r>
              <a:rPr lang="en-US" sz="1350" dirty="0">
                <a:solidFill>
                  <a:schemeClr val="tx2"/>
                </a:solidFill>
              </a:rPr>
              <a:t>&lt;date&gt;     </a:t>
            </a:r>
            <a:r>
              <a:rPr lang="en-US" sz="1350" b="1" dirty="0">
                <a:solidFill>
                  <a:srgbClr val="1F2A44"/>
                </a:solidFill>
              </a:rPr>
              <a:t>Facilitator:  </a:t>
            </a:r>
            <a:r>
              <a:rPr lang="en-US" sz="1350" dirty="0">
                <a:solidFill>
                  <a:schemeClr val="tx2"/>
                </a:solidFill>
              </a:rPr>
              <a:t>&lt;name&gt;</a:t>
            </a:r>
            <a:endParaRPr lang="en-US" sz="1350" dirty="0"/>
          </a:p>
        </p:txBody>
      </p:sp>
      <p:sp>
        <p:nvSpPr>
          <p:cNvPr id="12" name="Takeaway">
            <a:extLst>
              <a:ext uri="{C183D7F6-B498-43B3-948B-1728B52AA6E4}">
                <adec:decorative xmlns:adec="http://schemas.microsoft.com/office/drawing/2017/decorative" val="1"/>
              </a:ext>
            </a:extLst>
          </p:cNvPr>
          <p:cNvSpPr/>
          <p:nvPr/>
        </p:nvSpPr>
        <p:spPr>
          <a:xfrm>
            <a:off x="548640" y="452628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Icon FaClipboardCheck">
            <a:extLst>
              <a:ext uri="{C183D7F6-B498-43B3-948B-1728B52AA6E4}">
                <adec:decorative xmlns:adec="http://schemas.microsoft.com/office/drawing/2017/decorative" val="1"/>
              </a:ext>
            </a:extLst>
          </p:cNvPr>
          <p:cNvSpPr/>
          <p:nvPr/>
        </p:nvSpPr>
        <p:spPr>
          <a:xfrm>
            <a:off x="777240" y="4754880"/>
            <a:ext cx="640080" cy="640080"/>
          </a:xfrm>
          <a:prstGeom prst="ellipse">
            <a:avLst/>
          </a:prstGeom>
          <a:solidFill>
            <a:srgbClr val="0F766E"/>
          </a:solidFill>
          <a:ln w="12700">
            <a:solidFill>
              <a:srgbClr val="0F766E"/>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4908499"/>
            <a:ext cx="332842" cy="332842"/>
          </a:xfrm>
          <a:prstGeom prst="rect">
            <a:avLst/>
          </a:prstGeom>
        </p:spPr>
      </p:pic>
      <p:sp>
        <p:nvSpPr>
          <p:cNvPr id="15" name="Takeaway text"/>
          <p:cNvSpPr txBox="1"/>
          <p:nvPr/>
        </p:nvSpPr>
        <p:spPr>
          <a:xfrm>
            <a:off x="1645920" y="4572000"/>
            <a:ext cx="9829800" cy="1005840"/>
          </a:xfrm>
          <a:prstGeom prst="rect">
            <a:avLst/>
          </a:prstGeom>
          <a:noFill/>
          <a:ln/>
        </p:spPr>
        <p:txBody>
          <a:bodyPr wrap="square" lIns="0" tIns="0" rIns="0" bIns="0" rtlCol="0" anchor="ctr"/>
          <a:lstStyle/>
          <a:p>
            <a:pPr marL="0" indent="0">
              <a:buNone/>
            </a:pPr>
            <a:r>
              <a:rPr lang="en-US" sz="1650" b="1" dirty="0">
                <a:solidFill>
                  <a:srgbClr val="0F766E"/>
                </a:solidFill>
              </a:rPr>
              <a:t>Decisions, actions, parking lot, open questions.  </a:t>
            </a:r>
            <a:r>
              <a:rPr lang="en-US" sz="1650" dirty="0">
                <a:solidFill>
                  <a:schemeClr val="tx2"/>
                </a:solidFill>
              </a:rPr>
              <a:t>Not a transcript: what was decided, who does what by when, and what is still open.</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Templates: Notes and action items (the guide's design guidance, drawing on 18F, UPMC and Portland State).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E22E5B6-BF54-3A4E-1116-71CECE2172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8CF6B7-3433-43E6-9201-90B5B9F1847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430"/>
    </mc:Choice>
    <mc:Fallback>
      <p:transition spd="slow" advTm="34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4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one-page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964692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Phase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Is a meeting needed?  ·  Type of each item set  ·  Agenda with owners, times, prep sent ≥ 1 day ahead  ·  Roles assigned  ·  Decision-maker attending  ·  Only needed people invited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0F766E"/>
                          </a:solidFill>
                          <a:latin typeface="Calibri" pitchFamily="34" charset="0"/>
                          <a:ea typeface="Calibri" pitchFamily="34" charset="-122"/>
                          <a:cs typeface="Calibri" pitchFamily="34" charset="-120"/>
                        </a:rPr>
                        <a:t>Start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 time  ·  Purpose, agenda, roles confirmed  ·  Ground rules  ·  Notes and parking lot visible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0F766E"/>
                          </a:solidFill>
                          <a:latin typeface="Calibri" pitchFamily="34" charset="0"/>
                          <a:ea typeface="Calibri" pitchFamily="34" charset="-122"/>
                          <a:cs typeface="Calibri" pitchFamily="34" charset="-120"/>
                        </a:rPr>
                        <a:t>During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Agenda followed  ·  Time tracked per item  ·  Quiet voices drawn in  ·  No work done in the room  ·  Off-topic items parked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rgbClr val="B45309"/>
                          </a:solidFill>
                          <a:latin typeface="Calibri" pitchFamily="34" charset="0"/>
                          <a:ea typeface="Calibri" pitchFamily="34" charset="-122"/>
                          <a:cs typeface="Calibri" pitchFamily="34" charset="-120"/>
                        </a:rPr>
                        <a:t>Close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Decisions read back  ·  Every action has an owner and a date  ·  Parking lot routed  ·  “What would we change?”  ·  Ended on time or early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rgbClr val="334155"/>
                          </a:solidFill>
                          <a:latin typeface="Calibri" pitchFamily="34" charset="0"/>
                          <a:ea typeface="Calibri" pitchFamily="34" charset="-122"/>
                          <a:cs typeface="Calibri" pitchFamily="34" charset="-120"/>
                        </a:rPr>
                        <a:t>After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Notes sent same day  ·  Stored in the team record  ·  Actions reviewed at the next meeting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hecklist note"/>
          <p:cNvSpPr txBox="1"/>
          <p:nvPr/>
        </p:nvSpPr>
        <p:spPr>
          <a:xfrm>
            <a:off x="548640" y="5349240"/>
            <a:ext cx="11109960" cy="502920"/>
          </a:xfrm>
          <a:prstGeom prst="rect">
            <a:avLst/>
          </a:prstGeom>
          <a:noFill/>
          <a:ln/>
        </p:spPr>
        <p:txBody>
          <a:bodyPr wrap="square" lIns="0" tIns="0" rIns="0" bIns="0" rtlCol="0" anchor="ctr"/>
          <a:lstStyle/>
          <a:p>
            <a:pPr marL="0" indent="0" algn="ctr">
              <a:buNone/>
            </a:pPr>
            <a:r>
              <a:rPr lang="en-US" sz="1500" b="1" dirty="0">
                <a:solidFill>
                  <a:srgbClr val="1F2A44"/>
                </a:solidFill>
              </a:rPr>
              <a:t>The whole guide on one page.  </a:t>
            </a:r>
            <a:r>
              <a:rPr lang="en-US" sz="1500" dirty="0">
                <a:solidFill>
                  <a:schemeClr val="tx2"/>
                </a:solidFill>
              </a:rPr>
              <a:t>Each check points back to a section: the agenda, the roles, the parking lot, the close.</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One-page checklist (the guide's summary of the sections above).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265B691-BEAD-0969-1FA2-6DFEA8B21F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7B56C2-F6D9-4E27-B53A-0AE5878F65D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410"/>
    </mc:Choice>
    <mc:Fallback>
      <p:transition spd="slow" advTm="31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4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Further reading, and the standard in one 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rove card">
            <a:extLst>
              <a:ext uri="{C183D7F6-B498-43B3-948B-1728B52AA6E4}">
                <adec:decorative xmlns:adec="http://schemas.microsoft.com/office/drawing/2017/decorative" val="1"/>
              </a:ext>
            </a:extLst>
          </p:cNvPr>
          <p:cNvSpPr/>
          <p:nvPr/>
        </p:nvSpPr>
        <p:spPr>
          <a:xfrm>
            <a:off x="548640" y="1371600"/>
            <a:ext cx="544068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Icon FaBook">
            <a:extLst>
              <a:ext uri="{C183D7F6-B498-43B3-948B-1728B52AA6E4}">
                <adec:decorative xmlns:adec="http://schemas.microsoft.com/office/drawing/2017/decorative" val="1"/>
              </a:ext>
            </a:extLst>
          </p:cNvPr>
          <p:cNvSpPr/>
          <p:nvPr/>
        </p:nvSpPr>
        <p:spPr>
          <a:xfrm>
            <a:off x="731520" y="1536192"/>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67866"/>
            <a:ext cx="285293" cy="285293"/>
          </a:xfrm>
          <a:prstGeom prst="rect">
            <a:avLst/>
          </a:prstGeom>
        </p:spPr>
      </p:pic>
      <p:sp>
        <p:nvSpPr>
          <p:cNvPr id="8" name="Grove head"/>
          <p:cNvSpPr txBox="1"/>
          <p:nvPr/>
        </p:nvSpPr>
        <p:spPr>
          <a:xfrm>
            <a:off x="1371600" y="1517904"/>
            <a:ext cx="4480560" cy="73152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Andrew S. Grove, High Output Management</a:t>
            </a:r>
            <a:endParaRPr lang="en-US" sz="1650" dirty="0"/>
          </a:p>
        </p:txBody>
      </p:sp>
      <p:sp>
        <p:nvSpPr>
          <p:cNvPr id="9" name="Grove body"/>
          <p:cNvSpPr txBox="1"/>
          <p:nvPr/>
        </p:nvSpPr>
        <p:spPr>
          <a:xfrm>
            <a:off x="749808" y="2395728"/>
            <a:ext cx="5074920" cy="1197864"/>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Vintage, 1995 edition. Grove's own account of managing at Intel, including a chapter on meetings.</a:t>
            </a:r>
            <a:endParaRPr lang="en-US" sz="1500" dirty="0"/>
          </a:p>
        </p:txBody>
      </p:sp>
      <p:sp>
        <p:nvSpPr>
          <p:cNvPr id="10" name="Herold card">
            <a:extLst>
              <a:ext uri="{C183D7F6-B498-43B3-948B-1728B52AA6E4}">
                <adec:decorative xmlns:adec="http://schemas.microsoft.com/office/drawing/2017/decorative" val="1"/>
              </a:ext>
            </a:extLst>
          </p:cNvPr>
          <p:cNvSpPr/>
          <p:nvPr/>
        </p:nvSpPr>
        <p:spPr>
          <a:xfrm>
            <a:off x="6217920" y="1371600"/>
            <a:ext cx="5440680" cy="2331720"/>
          </a:xfrm>
          <a:prstGeom prst="roundRect">
            <a:avLst>
              <a:gd name="adj" fmla="val 313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Icon FaBook">
            <a:extLst>
              <a:ext uri="{C183D7F6-B498-43B3-948B-1728B52AA6E4}">
                <adec:decorative xmlns:adec="http://schemas.microsoft.com/office/drawing/2017/decorative" val="1"/>
              </a:ext>
            </a:extLst>
          </p:cNvPr>
          <p:cNvSpPr/>
          <p:nvPr/>
        </p:nvSpPr>
        <p:spPr>
          <a:xfrm>
            <a:off x="6400800" y="1536192"/>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532474" y="1667866"/>
            <a:ext cx="285293" cy="285293"/>
          </a:xfrm>
          <a:prstGeom prst="rect">
            <a:avLst/>
          </a:prstGeom>
        </p:spPr>
      </p:pic>
      <p:sp>
        <p:nvSpPr>
          <p:cNvPr id="13" name="Herold head"/>
          <p:cNvSpPr txBox="1"/>
          <p:nvPr/>
        </p:nvSpPr>
        <p:spPr>
          <a:xfrm>
            <a:off x="7040880" y="1517904"/>
            <a:ext cx="4480560" cy="73152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Cameron Herold, Meetings Suck</a:t>
            </a:r>
            <a:endParaRPr lang="en-US" sz="1650" dirty="0"/>
          </a:p>
        </p:txBody>
      </p:sp>
      <p:sp>
        <p:nvSpPr>
          <p:cNvPr id="14" name="Herold body"/>
          <p:cNvSpPr txBox="1"/>
          <p:nvPr/>
        </p:nvSpPr>
        <p:spPr>
          <a:xfrm>
            <a:off x="6419088" y="2395728"/>
            <a:ext cx="5074920" cy="1197864"/>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Lioncrest Publishing, 2016. The source of the roles and meeting types in Portland State's toolbox.</a:t>
            </a:r>
            <a:endParaRPr lang="en-US" sz="1500" dirty="0"/>
          </a:p>
        </p:txBody>
      </p:sp>
      <p:sp>
        <p:nvSpPr>
          <p:cNvPr id="15" name="Takeaway">
            <a:extLst>
              <a:ext uri="{C183D7F6-B498-43B3-948B-1728B52AA6E4}">
                <adec:decorative xmlns:adec="http://schemas.microsoft.com/office/drawing/2017/decorative" val="1"/>
              </a:ext>
            </a:extLst>
          </p:cNvPr>
          <p:cNvSpPr/>
          <p:nvPr/>
        </p:nvSpPr>
        <p:spPr>
          <a:xfrm>
            <a:off x="548640" y="397764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ListCheck">
            <a:extLst>
              <a:ext uri="{C183D7F6-B498-43B3-948B-1728B52AA6E4}">
                <adec:decorative xmlns:adec="http://schemas.microsoft.com/office/drawing/2017/decorative" val="1"/>
              </a:ext>
            </a:extLst>
          </p:cNvPr>
          <p:cNvSpPr/>
          <p:nvPr/>
        </p:nvSpPr>
        <p:spPr>
          <a:xfrm>
            <a:off x="777240" y="4206240"/>
            <a:ext cx="640080" cy="640080"/>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30859" y="4359859"/>
            <a:ext cx="332842" cy="332842"/>
          </a:xfrm>
          <a:prstGeom prst="rect">
            <a:avLst/>
          </a:prstGeom>
        </p:spPr>
      </p:pic>
      <p:sp>
        <p:nvSpPr>
          <p:cNvPr id="18" name="Takeaway text"/>
          <p:cNvSpPr txBox="1"/>
          <p:nvPr/>
        </p:nvSpPr>
        <p:spPr>
          <a:xfrm>
            <a:off x="1645920" y="4023360"/>
            <a:ext cx="9829800" cy="1005840"/>
          </a:xfrm>
          <a:prstGeom prst="rect">
            <a:avLst/>
          </a:prstGeom>
          <a:noFill/>
          <a:ln/>
        </p:spPr>
        <p:txBody>
          <a:bodyPr wrap="square" lIns="0" tIns="0" rIns="0" bIns="0" rtlCol="0" anchor="ctr"/>
          <a:lstStyle/>
          <a:p>
            <a:pPr marL="0" indent="0">
              <a:buNone/>
            </a:pPr>
            <a:r>
              <a:rPr lang="en-US" sz="1650" b="1" dirty="0">
                <a:solidFill>
                  <a:srgbClr val="1F2A44"/>
                </a:solidFill>
              </a:rPr>
              <a:t>The standard:  </a:t>
            </a:r>
            <a:r>
              <a:rPr lang="en-US" sz="1650" dirty="0">
                <a:solidFill>
                  <a:schemeClr val="tx2"/>
                </a:solidFill>
              </a:rPr>
              <a:t>a real agenda, named roles, a parking lot, and written action items with owners and dates.</a:t>
            </a:r>
            <a:endParaRPr lang="en-US" sz="1650" dirty="0"/>
          </a:p>
        </p:txBody>
      </p:sp>
      <p:sp>
        <p:nvSpPr>
          <p:cNvPr id="19" name="Live guide"/>
          <p:cNvSpPr txBox="1"/>
          <p:nvPr/>
        </p:nvSpPr>
        <p:spPr>
          <a:xfrm>
            <a:off x="548640" y="5303520"/>
            <a:ext cx="11109960" cy="457200"/>
          </a:xfrm>
          <a:prstGeom prst="rect">
            <a:avLst/>
          </a:prstGeom>
          <a:noFill/>
          <a:ln/>
        </p:spPr>
        <p:txBody>
          <a:bodyPr wrap="square" lIns="0" tIns="0" rIns="0" bIns="0" rtlCol="0" anchor="ctr"/>
          <a:lstStyle/>
          <a:p>
            <a:pPr marL="0" indent="0" algn="ctr">
              <a:buNone/>
            </a:pPr>
            <a:r>
              <a:rPr lang="en-US" sz="1400" b="1" dirty="0">
                <a:solidFill>
                  <a:srgbClr val="1F2A44"/>
                </a:solidFill>
              </a:rPr>
              <a:t>The guide, with every footnote:  </a:t>
            </a:r>
            <a:r>
              <a:rPr lang="en-US" sz="1400" dirty="0">
                <a:solidFill>
                  <a:schemeClr val="tx2"/>
                </a:solidFill>
              </a:rPr>
              <a:t>whalermike.github.io/modernization-workbook/docs/books/guides/effective-meetings.html</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Further reading; Recktenwald, Portland State University (2018). Companion guide, Effective Meetings.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4005A72C-207D-4DEC-BF43-E52C945EA1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4180A4-53A3-4D19-A370-6856432C6137}"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20"/>
    </mc:Choice>
    <mc:Fallback>
      <p:transition spd="slow" advTm="34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2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9016</Words>
  <Application>Microsoft Office PowerPoint</Application>
  <PresentationFormat>Widescreen</PresentationFormat>
  <Paragraphs>463</Paragraphs>
  <Slides>22</Slides>
  <Notes>22</Notes>
  <HiddenSlides>0</HiddenSlides>
  <MMClips>22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Federal Modernization Workbook</vt:lpstr>
      <vt:lpstr>Effective Meetings</vt:lpstr>
      <vt:lpstr>A modernization program runs on its meetings</vt:lpstr>
      <vt:lpstr>The habits are old, and they work</vt:lpstr>
      <vt:lpstr>Before, during, after: what each phase produces</vt:lpstr>
      <vt:lpstr>Is a meeting needed at all?</vt:lpstr>
      <vt:lpstr>Meet, write it down, or retire it</vt:lpstr>
      <vt:lpstr>Three kinds of meeting, and what each is for</vt:lpstr>
      <vt:lpstr>Don't do the work in the room; name the shift</vt:lpstr>
      <vt:lpstr>The agenda defines the meeting, and its end</vt:lpstr>
      <vt:lpstr>Around the items: purpose, title, timing, headcount</vt:lpstr>
      <vt:lpstr>Six roles, and everyone knows which they hold</vt:lpstr>
      <vt:lpstr>Who's taking notes? Combining and rotating roles</vt:lpstr>
      <vt:lpstr>Four phases, one loop: before, during, close, after</vt:lpstr>
      <vt:lpstr>Before: confirm, write, assign, remind</vt:lpstr>
      <vt:lpstr>Start on time, and stay on the agenda</vt:lpstr>
      <vt:lpstr>The parking lot, and notes worth keeping</vt:lpstr>
      <vt:lpstr>Close: read back decisions, owners and dates</vt:lpstr>
      <vt:lpstr>After: notes the same day, no meeting after</vt:lpstr>
      <vt:lpstr>Template: the agenda</vt:lpstr>
      <vt:lpstr>Template: notes and action items</vt:lpstr>
      <vt:lpstr>The one-page checklist</vt:lpstr>
      <vt:lpstr>Further reading, and the standard in one 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Effective Meetings</dc:title>
  <dc:subject>PptxGenJS Presentation</dc:subject>
  <dc:creator>Michael F. Stratton</dc:creator>
  <cp:lastModifiedBy>Michael F. Stratton</cp:lastModifiedBy>
  <cp:revision>2</cp:revision>
  <dcterms:created xsi:type="dcterms:W3CDTF">2026-10-29T17:08:40Z</dcterms:created>
  <dcterms:modified xsi:type="dcterms:W3CDTF">2026-10-29T18:08:48Z</dcterms:modified>
</cp:coreProperties>
</file>