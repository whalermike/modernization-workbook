
<file path=[Content_Types].xml><?xml version="1.0" encoding="utf-8"?>
<Types xmlns="http://schemas.openxmlformats.org/package/2006/content-types">
  <Default Extension="mp3" ContentType="audio/mpeg"/>
  <Default Extension="png" ContentType="image/png"/>
  <Default Extension="rels" ContentType="application/vnd.openxmlformats-package.relationships+xml"/>
  <Default Extension="xml" ContentType="application/xml"/>
  <Default Extension="vtt" ContentType="text/vt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4C897D80-C199-0F8E-B9AF-215D125EC7EA}">
          <p14:sldIdLst>
            <p14:sldId id="256"/>
          </p14:sldIdLst>
        </p14:section>
        <p14:section name="Why" id="{469FE88E-C554-EA84-6935-56780528786A}">
          <p14:sldIdLst>
            <p14:sldId id="257"/>
            <p14:sldId id="258"/>
          </p14:sldIdLst>
        </p14:section>
        <p14:section name="What" id="{19054E96-0023-D3EA-47DF-C9E3C57DEFDC}">
          <p14:sldIdLst>
            <p14:sldId id="259"/>
            <p14:sldId id="260"/>
            <p14:sldId id="261"/>
            <p14:sldId id="262"/>
            <p14:sldId id="263"/>
            <p14:sldId id="264"/>
            <p14:sldId id="265"/>
            <p14:sldId id="266"/>
          </p14:sldIdLst>
        </p14:section>
        <p14:section name="Who" id="{F7556CF6-CD17-8B37-C99C-ADC240B03901}">
          <p14:sldIdLst>
            <p14:sldId id="267"/>
          </p14:sldIdLst>
        </p14:section>
        <p14:section name="How" id="{095B449E-DB87-CDE7-4464-8E194107EB5A}">
          <p14:sldIdLst>
            <p14:sldId id="268"/>
            <p14:sldId id="269"/>
            <p14:sldId id="270"/>
            <p14:sldId id="271"/>
            <p14:sldId id="272"/>
            <p14:sldId id="273"/>
          </p14:sldIdLst>
        </p14:section>
        <p14:section name="Backup" id="{F41B94F4-3626-C8BC-AEEC-8113A9B436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629339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to the Federal Modernization Workbook's developer workbook, Building Non-Person Identity. This is Chapter 7: least privilege for service principals. A permission nobody reviews stays forever, so this chapter's sweep reads every grant, asks its owner once a quarter, and removes only what a reviewer approved. We'll start from Learn's own review-and-revoke script, see why it shouldn't be run as published, then walk the sweep, the rules, the owner review, the plan and its write path, two labs and the dangers. One note before we begin: the code is illustrative, tested against fixtures.
Detail: The sweep behind the project plan's Gate 4, "least privilege." You start with Learn's own procedure for reviewing and revoking the permissions granted to an enterprise application, a Microsoft Graph PowerShell script and a set of Graph requests that the repository keeps as a pinned copy, and you run the script against stand-ins to see what it does to an app and what it misses. Then examples/non-person-identity does what it leaves to you: the sweep over Chapter 01's register, a reviewed list of broad permissions with a justification per exception, Learn's narrower replacement for each, the hand-off of privileged service principals to the Privileged Access plan, the first quarterly owner review, and the owners' decisions as a dry-run plan, applied only by a separate write path after a reviewer approves the plan's SHA-256. Lab 1 runs on a laptop with no tenant; Lab 2 uses a test tenant and a test subscription. Goal: N4.1, "owners review every grant; broad permissions such as Directory.ReadWrite.All replaced with application-specific roles and scopes"; N4.2, "managed identities' role assignments scoped to the resource and put on the app registrations' review cadence"; N4.3, "first quarterly owner review of permissions closed; access reviews for service principals in privileged roles."
Sources: 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
Workbook: Building Non-Person Identity, Chapter 07 — “In this chapter”; “Goal and audience”.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Start with what we're actually measuring. An app can hold two kinds of permission: an application permission, which is a role it holds on another app's service principal, and a delegated permission, which is a grant to act for one person or for everyone. Learn's way to see what an app can reach is to walk every service principal's role assignments, paying close attention to Microsoft Graph. And remember that directory roles and mail roles grant access too. For this estate, everything goes to the worldwide Graph and commercial Azure, and every call is available in the government clouds as well.
Detail: An application permission is an app role a client service principal holds on a resource service principal, held as an appRoleAssignment; a delegated permission is an oauth2PermissionGrant from a client to a resource, for one person or for all users. Learn's way to see what an app can reach is to enumerate the app role assignments of every service principal and read the role from the resource service principal's appRoles, paying particular attention to Microsoft Graph's, and to remember that Microsoft Entra roles, Exchange RBAC and Teams resource-specific consent grant access too. Which cloud: the reads and writes go to Graph at graph.microsoft.com and Resource Manager at management.azure.com for the target estate, Microsoft 365 GCC with commercial Azure; GCC High and DoD use graph.microsoft.us and dod-graph.microsoft.us, with Azure Government's management.usgovcloudapi.net. Listing a service principal's app role assignments and delegated grants, listing directory role assignments, deleting an app role assignment and updating a delegated grant all list the global service, US Government L4 and US Government L5. Learn's feature availability lists access reviews, Privileged Identity Management and Microsoft Entra Workload ID Premium for Azure for US Government.
Sources: Microsoft Learn, "List appRoleAssignments granted to a service principal," permissions, HTTP request and note, https://learn.microsoft.com/graph/api/serviceprincipal-list-approleassignments?view=graph-rest-1.0 (accessed Oct 30, 2026). · Microsoft Learn, "List oauth2PermissionGrants granted to a service principal," https://learn.microsoft.com/graph/api/serviceprincipal-list-oauth2permissiongrants?view=graph-rest-1.0 (accessed Oct 30, 2026). · Microsoft Learn, "Roles across Microsoft services," Microsoft Graph application permissions, https://learn.microsoft.com/entra/identity/role-based-access-control/m365-workload-docs (accessed Oct 30, 2026). · Microsoft Learn, "Review permissions granted to enterprise applications," prerequisites, Microsoft Graph PowerShell, Microsoft Graph, other authorization to consider, https://learn.microsoft.com/entra/identity/enterprise-apps/manage-application-permissions (accessed Oct 30, 2026). · Microsoft Learn, "Microsoft Graph national cloud deployments," https://learn.microsoft.com/graph/deployments (accessed Oct 30, 2026). · Microsoft Learn, "Compare Azure Government and global Azure," guidance for developers (Azure Resource Manager endpoints), https://learn.microsoft.com/azure/azure-government/compare-azure-government-global-azure (accessed Oct 31, 2026). · Microsoft Learn, "List unifiedRoleAssignments," permissions and example 2, https://learn.microsoft.com/graph/api/rbacapplication-list-roleassignments?view=graph-rest-1.0 (accessed Oct 30, 2026). · Microsoft Learn, "Delete appRoleAssignedTo," permissions, HTTP request and note, https://learn.microsoft.com/graph/api/serviceprincipal-delete-approleassignedto?view=graph-rest-1.0 (accessed Oct 30, 2026). · Microsoft Learn, "Update a delegated permission grant (oAuth2PermissionGrant)," https://learn.microsoft.com/graph/api/oauth2permissiongrant-update?view=graph-rest-1.0 (accessed Oct 30, 2026). · Microsoft Learn, "Microsoft Entra feature availability," identity governance; other Microsoft Entra products, https://learn.microsoft.com/entra/identity/authentication/feature-availability (accessed Oct 30, 2026).
Workbook: Building Non-Person Identity, Chapter 07 — “The rule the code holds”; “Which cloud, for this sweep and these writes”.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program adds its rules on top, marked as design guidance. Owners review every grant each quarter. No broad tenant-wide permission stands without a written, dated justification. Where Learn documents a narrower replacement, like selected sites, or scoped mail access, that's the target, and for mail the old unscoped grant has to go or the scope means nothing. Managed identities get Azure roles at the resource, not the subscription. Privileged service principals belong to the Privileged Access plan. And the code removes a grant, never an app.
Detail: Owners review every grant on a cadence, "quarterly" (Book 02, Chapter 09), and the review closes with its findings acted on (Gate 4). No broad tenant-wide permission without a recorded justification: "Use application-specific roles and scopes; avoid broad permissions such as Directory.ReadWrite.All" (Book 02). Learn's permissions reference says the same of directory permissions: choose the permission specific to the resource and avoid directory permissions. The reviewed list is config/least-privilege.json; an exception names a justification, an approver, an approval date and an end date. A narrower replacement where Learn documents one: for SharePoint and OneDrive, Sites.Selected and the .SelectedOperations.Selected scopes grant access to named sites, lists or files. For mail, RBAC for Applications in Exchange Online grants an app a role over a management scope, and replaces application access policies; its grants are a union with the Microsoft Entra grant, so the unscoped Entra grant must be removed for the scope to mean anything. Book 04, Chapter 05 still requires an application access policy for every mail application permission the program approves; the code accepts one with a warning, and the change of standard is the CISO's (research gaps, row 63). For a directory permission, the resource-specific permission each API's Learn page names. Managed identities' Azure roles at the resource: Learn says assign at the narrowest scope; a role at a management group or subscription reaches everything under it; a managed identity made Contributor on a subscription when it isn't needed widens the blast radius. Privileged service principals are the Privileged Access plan's: the plan hands "service principals in directory roles or holding protected permissions" to the Privileged Access plan's sweep of non-human privileged identities (A3.4, external dependency X-A34), and Gate 4 waits for it. This chapter finds them and hands them off; it doesn't repeat that sweep, and its quarterly review leaves them out. Remove the grant, never the app: the plan's writes remove one app role assignment or narrow one delegated grant. Learn recommends deleting an app role assignment through the appRoleAssignedTo relationship of the resource service principal. The service principal, its application and its other grants stay.
Sources: Microsoft Learn, "Microsoft Graph permissions reference," Application.ReadWrite.All, AppRoleAssignment.ReadWrite.All, Directory.ReadWrite.All, RoleManagement.ReadWrite.Directory, https://learn.microsoft.com/graph/permissions-reference (accessed Oct 31, 2026). · Microsoft Learn, "Overview of Selected permissions in OneDrive and SharePoint," https://learn.microsoft.com/graph/permissions-selected-overview (accessed Oct 30, 2026). · Microsoft Learn, "Role Based Access Control for Applications in Exchange Online," overview, limitations and FAQ, https://learn.microsoft.com/exchange/permissions-exo/application-rbac (accessed Oct 30, 2026). · Microsoft Learn, "Application Access Policies (legacy)," https://learn.microsoft.com/exchange/permissions-exo/application-access-policies, and "New-ApplicationAccessPolicy," https://learn.microsoft.com/powershell/module/exchangepowershell/new-applicationaccesspolicy?view=exchange-ps (accessed Oct 30, 2026). · Microsoft Learn, "Steps to assign an Azure role," step 3, identify the needed scope, https://learn.microsoft.com/azure/role-based-access-control/role-assignments-steps (accessed Oct 30, 2026). · Microsoft Learn, "Managed identity best practice recommendations," follow the principle of least privilege when granting access, https://learn.microsoft.com/entra/identity/managed-identities-azure-resources/managed-identity-best-practice-recommendations (accessed Oct 30, 2026). · Microsoft Learn, "Best practices for Azure RBAC," limit privileged administrator role assignments, https://learn.microsoft.com/azure/role-based-access-control/best-practices (accessed Oct 30, 2026). · Microsoft Learn, "Delete appRoleAssignedTo," permissions, HTTP request and note, https://learn.microsoft.com/graph/api/serviceprincipal-delete-approleassignedto?view=graph-rest-1.0 (accessed Oct 30, 2026).
Workbook: Building Non-Person Identity, Chapter 07 — “The rule the code holds” — the program's rule; “Remove the grant, never the app”.</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Microsoft's starting point. Learn's review page has a PowerShell script that finds one app, removes all of its delegated grants, then tries to remove all of its application permissions, plus the matching Graph requests. A separate tutorial shows how to grant and revoke, which the second lab uses to restore what it removes. As in earlier chapters, the page is pinned unmodified with checked hashes and a weekly watch. The harness then runs the script exactly as published, against stand-ins that follow Learn's own API contract. That contract is where things get interesting.
Detail: Learn's Review permissions granted to enterprise applications is Microsoft's procedure for this chapter. Its Microsoft Graph PowerShell tab gives a script that signs in, finds one service principal, lists its delegated grants and removes them all, then lists its application permissions and removes them all; its Microsoft Graph tab gives the requests: GET /servicePrincipals/{id}/oauth2PermissionGrants, DELETE /oAuth2PermissionGrants/{id}, GET /servicePrincipals/{servicePrincipal-id}/appRoleAssignments and DELETE /servicePrincipals/{resource-servicePrincipal-id}/appRoleAssignedTo/{appRoleAssignment-id}. The Graph tutorial Grant or revoke API permissions programmatically has the matching grant and revoke requests, which Lab 2 uses to restore a removed permission. The pinned copy: examples/third_party/entra-review-app-permissions-page: manage-application-permissions.md from MicrosoftDocs/entra-docs at commit 7f78b50 (October 30, 2026), retrieved October 30, 2026, MIT for code and documentation. snapshot.json records each file's SHA-256, checked against the upstream git blob hashes, and a unit test checks them. The weekly source watch reports new commits. Updating the copy is a reviewed pull request. tests/LeastPrivilegeSampleHarness.ps1 extracts the Graph PowerShell script and the HTTP requests from the page's source and runs the script, unmodified, in its own PowerShell runspace, the way a .ps1 file runs, against stand-ins for Connect-MgGraph, Get-MgServicePrincipal, Get-MgOauth2PermissionGrant, Remove-MgOauth2PermissionGrant, Get-MgServicePrincipalAppRoleAssignment and Remove-MgServicePrincipalAppRoleAssignedTo, served from the Chapter 07 fixture. The page's placeholder for the object ID resolves to Mail Automation. The removal stand-in follows Learn's Delete appRoleAssignedTo: the service principal it names must be the assignment's resource, or it answers 404.
Sources: Microsoft Learn, "Review permissions granted to enterprise applications," prerequisites, Microsoft Graph PowerShell, Microsoft Graph, other authorization to consider, https://learn.microsoft.com/entra/identity/enterprise-apps/manage-application-permissions (accessed Oct 30, 2026). · Microsoft Learn, "Grant or revoke API permissions programmatically," steps 2 and 3, https://learn.microsoft.com/graph/permissions-grant-via-msgraph (accessed Oct 31, 2026). · 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 · Microsoft Learn, "Delete appRoleAssignedTo," permissions, HTTP request and note, https://learn.microsoft.com/graph/api/serviceprincipal-delete-approleassignedto?view=graph-rest-1.0 (accessed Oct 30, 2026).
Workbook: Building Non-Person Identity, Chapter 07 — “What Microsoft gives you”; “The pinned copy”.</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as published, the script has two opposite problems. First, it's indiscriminate: it removes every delegated grant and tries every application permission, with no list of what to keep and no dry run, so a permission someone formally approved goes along with the rest. Second, on Learn's own API contract, its application permission removals miss entirely: it passes the app's own ID where the reference says the resource belongs, so all three answer not found. The code keeps the requests as its model, and adds the keep list, the decisions and the plan.
Detail: Each row is pinned by a test: in tests/NpiLeastPrivilegeSamples.Tests.ps1 for the sample, and in tests/NpiLeastPrivilege.Tests.ps1 for the example. Lists grants with GET .../appRoleAssignments and GET .../oauth2PermissionGrants, and removes an app role through the resource service principal: kept as the model; the same three requests are the sweep's reads and the write path's removal. Removes every delegated grant and tries to remove every application permission, with no list of what to keep and no dry run: an app loses what it needs along with what it shouldn't have; Mail Automation's one-person User.Read grant goes, and its excepted Mail.Send is tried; the example adds a reviewed list, exceptions and the owner's decision per grant; a plan, a dry run, an approved SHA-256 and -Apply. Passes the app's own ID to Remove-MgServicePrincipalAppRoleAssignedTo, where Learn's API reference and the page's own HTTP request name the resource: against a fake that follows the reference, all three removals answer 404 and nothing is removed (research gaps, row 61); the write deletes through the resource service principal, and the writer refuses any other target. Has a line, Example: Get-MgServicePrincipal ..., inside the script: run as a script, it fails with a command-not-found error and the script carries on; nothing to copy: the example's code is its own.
Sources: Microsoft Learn, "Review permissions granted to enterprise applications," prerequisites, Microsoft Graph PowerShell, Microsoft Graph, other authorization to consider, https://learn.microsoft.com/entra/identity/enterprise-apps/manage-application-permissions (accessed Oct 30, 2026). · Microsoft Learn, "Delete appRoleAssignedTo," permissions, HTTP request and note, https://learn.microsoft.com/graph/api/serviceprincipal-delete-approleassignedto?view=graph-rest-1.0 (accessed Oct 30, 2026).
Workbook: Building Non-Person Identity, Chapter 07 — “What it leaves to you”, rows 1–4.</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rest of the gaps are about scope and privilege. To find one app's grants, the script reads every grant in the tenant. To review, it signs in with write permissions, including the very broad directory one this chapter is trying to remove. It names a different administrator role than the API reference does. It hard-codes the worldwide host. And it never looks at directory roles or Azure role assignments, so an app in a directory role, or a managed identity that's Contributor on a subscription, passes unseen. So the verdict: use the requests, not the script.
Detail: Reads every delegated grant in the tenant to find one app's: a tenant-wide read for one row; the example reads one client's grants through GET /servicePrincipals/{id}/oauth2PermissionGrants. Signs in with Directory.ReadWrite.All and three other write permissions to review: write permissions for a read; the sweep holds Application.Read.All, Directory.Read.All, RoleManagement.Read.Directory and Reader; the writes are a separate, delegated task. Names Cloud Application Administrator: Delete appRoleAssignedTo names Privileged Role Administrator for Microsoft Graph app roles (research gaps, row 62); the write path runs as a person with Privileged Role Administrator. Hard-codes graph.microsoft.com: the host is wrong for GCC High and DoD; the host comes from the cloud table, checked on every request. Reads no directory roles and no Azure role assignments; names Exchange RBAC only as text: a service principal in a directory role, or a managed identity that is Contributor on a subscription, passes unseen; directory roles are read and hand the service principal to the Privileged Access plan; managed identities' Azure roles are read at each listed scope and classed by scope. The verdict: use Learn's requests as the model for the reads and the one removal. Don't run the script against a tenant: it removes everything it can reach, and on Learn's own API contract its application-permission removals miss.
Sources: Microsoft Learn, "Review permissions granted to enterprise applications," prerequisites, Microsoft Graph PowerShell, Microsoft Graph, other authorization to consider, https://learn.microsoft.com/entra/identity/enterprise-apps/manage-application-permissions (accessed Oct 30, 2026). · Microsoft Learn, "Delete appRoleAssignedTo," permissions, HTTP request and note, https://learn.microsoft.com/graph/api/serviceprincipal-delete-approleassignedto?view=graph-rest-1.0 (accessed Oct 30, 2026). · Microsoft Learn, "List oauth2PermissionGrants granted to a service principal," https://learn.microsoft.com/graph/api/serviceprincipal-list-oauth2permissiongrants?view=graph-rest-1.0 (accessed Oct 30, 2026). · Microsoft Learn, "Microsoft Graph national cloud deployments," https://learn.microsoft.com/graph/deployments (accessed Oct 30, 2026).
Workbook: Building Non-Person Identity, Chapter 07 — “What it leaves to you”, rows 5–9; “The verdict”.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the code add? A module, two entry scripts, one that only reads and one that writes, its own call list, and a reviewed list of what counts as broad, with Learn's replacement for each class. Three small files carry the human decisions: exceptions from the security office, the owners' quarterly answers, and the Azure scopes to look at. The sweep then reads every service principal in the register: its roles on every resource, not just Graph, its delegated grants, its directory roles, and for a managed identity, its Azure roles. Every grant gets a stable key.
Detail: This chapter's code is powershell/NpiLeastPrivilege/NpiLeastPrivilege.psm1, two entry scripts (Invoke-NpiLeastPrivilege.ps1, which only reads, and Invoke-NpiLeastPrivilegeAction.ps1, the write path), its own call list config/calls-ch07.json with the least-privilege and least-privilege-apply tasks, the reviewed list config/least-privilege.json, and three input files kept with the records. Inputs: Chapter 01's run folder (register.json and manifest.json; the sweep refuses a register whose SHA-256 isn't the manifest's); config/least-privilege.json, kept by the program in reviewed changes: the broad application permissions by resource and class (Directory, Escalation, Mail, Sites), the delegated scopes that are broad when consented for all users, Learn's replacement for each class, the privileged Azure roles, the directory role names; permission-exceptions.csv, kept by the CISO's office: IdentityId, Kind, ResourceAppId, Permission, Justification, Control (ExchangeRbacScope, ApplicationAccessPolicy or empty), ApprovedBy, ApprovedOn, ExpiresOn; owner-decisions.csv, kept by application owners through the identity governance office: Key (from the review packet), Decision (Keep, Remove or Narrow), NewScope, Replacement, DecidedBy, DecidedOn; azure-scopes.csv, kept by identity engineering: the management groups and subscriptions to read managed identities' role assignments at. The sweep: Get-NpiLpSweep takes every Microsoft Entra row of the register that holds permissions: app registrations (through their service principal in this tenant), external, legacy and unknown service principals, and managed identities. Agent identities and blueprints are Chapter 09's; a service principal row is covered by its app registration. For each, it reads its app role assignments on every resource, not only Microsoft Graph, with each resource service principal read once for its appRoles; its delegated grants; its directory roles, filtered on principalId; and for a managed identity, its Azure role assignments with assignedTo('{objectId}') at each scope in azure-scopes.csv, each role definition read once for its name. Each grant gets a stable key: app:&lt;client&gt;:&lt;assignment&gt;, grant:&lt;id&gt; or azure:&lt;assignment&gt;.
Sources: Microsoft Learn, "List appRoleAssignments granted to a service principal," permissions, HTTP request and note, https://learn.microsoft.com/graph/api/serviceprincipal-list-approleassignments?view=graph-rest-1.0 (accessed Oct 30, 2026). · Microsoft Learn, "List oauth2PermissionGrants granted to a service principal," https://learn.microsoft.com/graph/api/serviceprincipal-list-oauth2permissiongrants?view=graph-rest-1.0 (accessed Oct 30, 2026). · Microsoft Learn, "Get servicePrincipal," permissions, https://learn.microsoft.com/graph/api/serviceprincipal-get?view=graph-rest-1.0 (accessed Oct 30, 2026). · Microsoft Learn, "List unifiedRoleAssignments," permissions and example 2, https://learn.microsoft.com/graph/api/rbacapplication-list-roleassignments?view=graph-rest-1.0 (accessed Oct 30, 2026). · Microsoft Learn, "List Azure role assignments using the REST API," https://learn.microsoft.com/azure/role-based-access-control/role-assignments-list-rest (accessed Oct 30, 2026). · Microsoft Learn, "List Azure role definitions," REST API, https://learn.microsoft.com/azure/role-based-access-control/role-definitions-list (accessed Oct 30, 2026).
Workbook: Building Non-Person Identity, Chapter 07 — “The code”; “The inputs”; “The sweep”.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check compares the sweep with the reviewed list and the exceptions, and applies nine rules. The heart of it: a broad permission with no current, complete exception is a finding, whether it's an application permission or a delegated one granted to everyone. Two rules cover mail, including a subtle one: if the exception relies on scoped mail access but the unscoped grant is still there, the scope does nothing. Two more grade managed identities' Azure roles by how wide the scope is. Privileged apps are only noted here, because they're handed off.
Detail: Test-NpiLeastPrivilege reads the sweep against the reviewed list and the exceptions. NPI-LP-01 Finding: a broad application permission with no recorded exception (Book 02; Learn, permissions reference). NPI-LP-02 Finding: an exception that ended, or that names no justification, approver, approval date or end date (Gate 4, design guidance). NPI-LP-03 Finding: a broad delegated scope consented for all users (AllPrincipals) with no exception (design guidance; Book 04, Chapter 05). NPI-LP-04 Finding: a mail permission still granted in Microsoft Entra ID whose exception names RBAC for Applications as its control: the scope has no effect while the Entra grant stays (Learn, RBAC for Applications). NPI-LP-05 Warn: a mail permission limited by an application access policy (legacy), or whose exception names no mailbox control (Learn; Book 04, research gaps, row 63). NPI-LP-06 Finding: a managed identity's Azure role at subscription, management group or root scope, with no exception (Learn). NPI-LP-07 Warn: a managed identity's Azure role at resource group scope (Learn). NPI-LP-08 Info: a privileged service principal handed to the Privileged Access plan (A3.4): any directory role, a permission that can grant itself more, or a privileged Azure administrator role (project plan; Learn; research gaps, row 64). NPI-LP-09 Warn: an app role the resource doesn't publish, so the permission can't be named (design guidance). Each broad grant carries the class's proposal from the reviewed list. Every finding has a stable ID, &lt;rule&gt;:&lt;key&gt;.
Sources: Microsoft Learn, "Microsoft Graph permissions reference," Application.ReadWrite.All, AppRoleAssignment.ReadWrite.All, Directory.ReadWrite.All, RoleManagement.ReadWrite.Directory, https://learn.microsoft.com/graph/permissions-reference (accessed Oct 31, 2026). · Microsoft Learn, "Role Based Access Control for Applications in Exchange Online," overview, limitations and FAQ, https://learn.microsoft.com/exchange/permissions-exo/application-rbac (accessed Oct 30, 2026). · Microsoft Learn, "Application Access Policies (legacy)," https://learn.microsoft.com/exchange/permissions-exo/application-access-policies, and "New-ApplicationAccessPolicy," https://learn.microsoft.com/powershell/module/exchangepowershell/new-applicationaccesspolicy?view=exchange-ps (accessed Oct 30, 2026). · Microsoft Learn, "Steps to assign an Azure role," step 3, identify the needed scope, https://learn.microsoft.com/azure/role-based-access-control/role-assignments-steps (accessed Oct 30, 2026). · Microsoft Learn, "Managed identity best practice recommendations," follow the principle of least privilege when granting access, https://learn.microsoft.com/entra/identity/managed-identities-azure-resources/managed-identity-best-practice-recommendations (accessed Oct 30, 2026). · Microsoft Learn, "Best practices for Azure RBAC," limit privileged administrator role assignments, https://learn.microsoft.com/azure/role-based-access-control/best-practices (accessed Oct 30, 2026).
Workbook: Building Non-Person Identity, Chapter 07 — “The check”.</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pieces sit between the check and the plan. First, the escalation class: a handful of permissions that let an app grant itself more, or act as others. Any app holding one is handed off whole to the Privileged Access plan, with everything it holds listed. Second, the quarterly owner review: one row per grant, sent to the owners, and only answers dated this quarter count. It closes when every row is decided and nothing approved for removal is still granted. Access reviews for privileged apps belong to the other workbook, and the chapter treats them as preview.
Detail: The escalation class is four permissions that let an app grant authorization or act as others: Learn's reference cautions that AppRoleAssignment.ReadWrite.All and RoleManagement.ReadWrite.Directory can grant authorization and that Application.ReadWrite.All lets an app act as other entities, and Learn's guide to granting permissions says only appropriate users should access apps granted DelegatedPermissionGrant.ReadWrite.All. A service principal holding one of them is handed off whole, with every grant it holds listed in pa-handoff.json, and gets no NPI-LP-01 here. The quarterly owner review: New-NpiLpOwnerReview writes owner-review.csv, one row per grant of every service principal the sweep keeps (privileged ones are out), with its owners from the register, whether it's broad, its exception, the proposal, and the owner's decision if it was made this quarter. A decision from an earlier quarter shows as LastDecision and doesn't count. review-status.json counts the rows, the decided, the open and the changes still pending; the review is closed when every row has a decision this quarter and no Remove or Narrow is still granted, which the next sweep after the plan is applied shows. Access reviews for service principals in privileged roles are Learn's PIM access reviews, which need Microsoft Entra Workload ID Premium in addition to Microsoft Entra ID P2 or ID Governance; Learn's FAQ adds that they apply to managed identities in privileged roles too, and that the Workload ID free trial isn't available in Azure Government. Those service principals are handed to the Privileged Access plan, whose workbook builds those reviews in its Chapter 07; the licence is decision D-N4 (research gaps, row 66). Stage: not marked preview on the PIM page; Securing service principals says the reviews are in preview, so this chapter treats them as preview.
Sources: Microsoft Learn, "Microsoft Graph permissions reference," Application.ReadWrite.All, AppRoleAssignment.ReadWrite.All, Directory.ReadWrite.All, RoleManagement.ReadWrite.Directory, https://learn.microsoft.com/graph/permissions-reference (accessed Oct 31, 2026). · Microsoft Learn, "Grant or revoke API permissions programmatically," steps 2 and 3, https://learn.microsoft.com/graph/permissions-grant-via-msgraph (accessed Oct 31, 2026). · Microsoft Learn, "Create an access review of Azure resource and Microsoft Entra roles in PIM," prerequisites, https://learn.microsoft.com/entra/id-governance/privileged-identity-management/pim-create-roles-and-resource-roles-review (accessed Oct 30, 2026). · Microsoft Learn, "Frequently asked questions about Microsoft Entra Workload ID," licensing and free trial, https://learn.microsoft.com/entra/workload-id/workload-identities-faqs (accessed Oct 30, 2026). · Microsoft Learn, "Securing service principals in Microsoft Entra ID," access reviews of service principals in privileged roles, https://learn.microsoft.com/entra/architecture/service-accounts-principal (accessed Oct 31, 2026). · Microsoft Learn, "Microsoft Entra feature availability," identity governance; other Microsoft Entra products, https://learn.microsoft.com/entra/identity/authentication/feature-availability (accessed Oct 30, 2026).
Workbook: Building Non-Person Identity, Chapter 07 — “The check” — the escalation class; “The quarterly owner review”.</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plan turns the owners' answers into one action each, and only two kinds ever write. Removing an application permission happens through the resource, and only once any replacement, like selected sites, is already in place. Narrowing a delegated grant can only make it smaller, never empty. Everything else is recorded: waiting for a decision or a replacement, kept under an exception, or handed to someone else's reviewed process, such as re-scoping an Azure role in infrastructure code. As before, identical inputs give an identical file, so a reviewer approves one hash.
Detail: New-NpiLpPlan turns the review into one action per broad grant and per decided change. Nothing in it writes. RemoveAppRole: the owner decided Remove on an application permission, and any named replacement is already granted: DELETE /servicePrincipals/{resourceId}/appRoleAssignedTo/{id}; writes, after review. NarrowGrant: the owner decided Narrow on a delegated grant, to a smaller, non-empty subset of its scopes: PATCH /oauth2PermissionGrants/{id} with {"scope": "..."}; writes, after review. AwaitReplacement: Remove names a replacement (for example Sites.Selected) that isn't granted yet. AwaitOwnerDecision: a broad grant with no decision this quarter. Kept, KeepNeedsException: a broad grant kept under a current exception, or kept without one. RescopeByOwner: Remove on an Azure role: re-scope it in the subscription's reviewed infrastructure code; this example doesn't write to Azure. RevokeByOwner: Remove on a delegated grant, or Narrow to nothing: the grant's deletion is a reviewed change, not this code's. DecisionRefused: Narrow on an application permission, a scope not granted now, or an unknown decision. HandedOff: a privileged service principal: the Privileged Access plan (A3.4). None of these write. The plan is written as lp-plan.json with the register's SHA-256, the tenant, the cloud, the quarter and the date, and the run prints the plan's own SHA-256. The same inputs give the same plan, byte for byte, so a reviewer approves a hash.
Sources: Microsoft Learn, "Delete appRoleAssignedTo," permissions, HTTP request and note, https://learn.microsoft.com/graph/api/serviceprincipal-delete-approleassignedto?view=graph-rest-1.0 (accessed Oct 30, 2026). · Microsoft Learn, "Update a delegated permission grant (oAuth2PermissionGrant)," https://learn.microsoft.com/graph/api/oauth2permissiongrant-update?view=graph-rest-1.0 (accessed Oct 30, 2026). · Microsoft Learn, "Overview of Selected permissions in OneDrive and SharePoint," https://learn.microsoft.com/graph/permissions-selected-overview (accessed Oct 30, 2026).
Workbook: Building Non-Person Identity, Chapter 07 — “The plan”.</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in the last chapter, writing is a separate script with strict refusals. The plan must be the approved one, for this tenant and cloud, and less than a week old. It can only delete one kind of thing, a role assignment through its resource, and it can only shrink a delegated grant. And it runs as a person, signed in with the right administrator role. Why not an app? Because the permissions it needs are exactly the escalation permissions the sweep flags. Before each write it re-reads the target, and skips anything that changed.
Detail: Invoke-NpiLeastPrivilegeAction.ps1 is the only code in this chapter that can write, and it writes only through New-NpiLpWriter, whose calls are the least-privilege-apply task's. It refuses to run unless: the plan file's SHA-256 is the one passed as -ApprovedSha256; the plan is for this tenant and this cloud, and no more than seven days old (design guidance); each write is a declared call with its method: the only DELETE is of an app role assignment through the resource service principal the plan read, never a service principal or an application; the only PATCH body is {"scope": ...}, a smaller subset of the scopes the plan read; a live run is delegated: a person signed in with Privileged Role Administrator, never an unattended app. Before each write it re-reads the client's app role assignments or delegated grants and skips the write if the assignment is already gone or changed, if a named replacement is no longer granted, or if the grant's scope changed since the plan was reviewed. Without -Apply it stops after the prechecks and reports WouldSend. With -Apply it sends and records every request in its manifest. Learn notes that recently granted or removed app role assignments can take time to replicate, so the next sweep may still show a removal for a while. AppRoleAssignment.ReadWrite.All and DelegatedPermissionGrant.ReadWrite.All are themselves permissions that can grant authorization: Learn's reference cautions about the first, and its guide to granting permissions says only appropriate users should access apps granted either; Application.ReadWrite.All doesn't manage app role assignments exposed by Microsoft Graph. That is why the write path is a person's delegated session, not an app's standing permission.
Sources: Microsoft Learn, "List appRoleAssignments granted to a service principal," permissions, HTTP request and note, https://learn.microsoft.com/graph/api/serviceprincipal-list-approleassignments?view=graph-rest-1.0 (accessed Oct 30, 2026). · Microsoft Learn, "Microsoft Graph permissions reference," Application.ReadWrite.All, AppRoleAssignment.ReadWrite.All, Directory.ReadWrite.All, RoleManagement.ReadWrite.Directory, https://learn.microsoft.com/graph/permissions-reference (accessed Oct 31, 2026). · Microsoft Learn, "Grant or revoke API permissions programmatically," steps 2 and 3, https://learn.microsoft.com/graph/permissions-grant-via-msgraph (accessed Oct 31, 2026).
Workbook: Building Non-Person Identity, Chapter 07 — “The separate write path”.</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Who's involved? Developers build the tooling. Application owners answer the quarterly review. The identity governance officer closes it and receives the hand-off of privileged apps, and the security officers check the gate. The permission split mirrors the code. The sweep holds three read permissions in Graph and Reader in Azure, nothing that writes. The write task holds the two grant-management permissions and the administrator role, but only in a person's signed-in session, so nothing standing can grant itself more.
Detail: Audience: developers who build the project's permission tooling, the application owners who answer the quarterly review, the identity governance officer who closes it, and the ISSOs who check Gate 4. You should read PowerShell 7 and know Chapter 01's register and Chapter 02's ownership check. You don't need a tenant until Lab 2. least-privilege (read): GET /servicePrincipals/{id}/appRoleAssignments; GET /servicePrincipals/{id}/oauth2PermissionGrants; GET /servicePrincipals/{id}; GET /roleManagement/directory/roleAssignments; Resource Manager role assignments and role definitions; Application.Read.All, Directory.Read.All, RoleManagement.Read.Directory; Reader on the listed scopes. least-privilege-apply (write, delegated only): re-read the two lists; DELETE .../appRoleAssignedTo/{id}; PATCH /oauth2PermissionGrants/{id}; Application.Read.All, Directory.Read.All, AppRoleAssignment.ReadWrite.All, DelegatedPermissionGrant.ReadWrite.All; Privileged Role Administrator. Verified facts: list a service principal's app role assignments needs Application.Read.All, with replication delays for recent changes; list delegated grants needs Directory.Read.All; get a service principal needs Application.Read.All; list directory role assignments, $filter on principalId, needs RoleManagement.Read.Directory; delete appRoleAssignedTo through the resource service principal needs AppRoleAssignment.ReadWrite.All, and Privileged Role Administrator is the least privileged role for Microsoft Graph app roles; update a delegated grant needs DelegatedPermissionGrant.ReadWrite.All, and the scope sent replaces the list; list Azure role assignments ({scope}/providers/Microsoft.Authorization/roleAssignments?api-version=2022-04-01, $filter=assignedTo('{objectId}')) needs Microsoft.Authorization/roleAssignments/read, such as Reader.
Sources: Microsoft Learn, "List appRoleAssignments granted to a service principal," permissions, HTTP request and note, https://learn.microsoft.com/graph/api/serviceprincipal-list-approleassignments?view=graph-rest-1.0 (accessed Oct 30, 2026). · Microsoft Learn, "List oauth2PermissionGrants granted to a service principal," https://learn.microsoft.com/graph/api/serviceprincipal-list-oauth2permissiongrants?view=graph-rest-1.0 (accessed Oct 30, 2026). · Microsoft Learn, "Get servicePrincipal," permissions, https://learn.microsoft.com/graph/api/serviceprincipal-get?view=graph-rest-1.0 (accessed Oct 30, 2026). · Microsoft Learn, "List unifiedRoleAssignments," permissions and example 2, https://learn.microsoft.com/graph/api/rbacapplication-list-roleassignments?view=graph-rest-1.0 (accessed Oct 30, 2026). · Microsoft Learn, "List Azure role assignments using the Azure portal," prerequisites, https://learn.microsoft.com/azure/role-based-access-control/role-assignments-list-portal (accessed Oct 30, 2026). · Microsoft Learn, "List Azure role assignments using the REST API," https://learn.microsoft.com/azure/role-based-access-control/role-assignments-list-rest (accessed Oct 30, 2026). · Microsoft Learn, "Delete appRoleAssignedTo," permissions, HTTP request and note, https://learn.microsoft.com/graph/api/serviceprincipal-delete-approleassignedto?view=graph-rest-1.0 (accessed Oct 30, 2026). · Microsoft Learn, "Update a delegated permission grant (oAuth2PermissionGrant)," https://learn.microsoft.com/graph/api/oauth2permissiongrant-update?view=graph-rest-1.0 (accessed Oct 30, 2026).
Workbook: Building Non-Person Identity, Chapter 07 — “Goal and audience”; “The separate write path” — tasks; “Verified facts”.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1 runs on a laptop with Chapter 1's inventory in place. First, Learn's script against the stand-ins: read the test where all three application permission removals come back not found, because the script named the wrong service principal. Then list the permissions each task needs, which match the table we just saw. Then run the sweep over a fictional estate: eleven service principals, twenty grants, three handed to the Privileged Access plan, and an owner review that isn't closed yet. Two agent identities are skipped, because they're Chapter 9's.
Detail: You need PowerShell 7.1 or later with Pester 5. Work in examples/non-person-identity, with Chapter 01's out/inventory in place. Step 1, run Learn's script against the stand-ins: Invoke-Pester -Path tests/NpiLeastPrivilegeSamples.Tests.ps1 -Output None -PassThru | Select-Object PassedCount, FailedCount, NotRunCount gives PassedCount 10, FailedCount 0, NotRunCount 0. Read the test that removes application permissions: the script names Mail Automation's own ID, and all three removals answer 404. Step 2, list what each task needs: Import-Module ./powershell/NpiLeastPrivilege/NpiLeastPrivilege.psm1, then Get-NpiLpRequiredPermission per task: least-privilege: Application.Read.All, Directory.Read.All, RoleManagement.Read.Directory, Reader; least-privilege-apply: Application.Read.All, AppRoleAssignment.ReadWrite.All, DelegatedPermissionGrant.ReadWrite.All, Directory.Read.All. Step 3, sweep, check, and build the review and the plan: ./Invoke-NpiLeastPrivilege.ps1 -Cloud gcc -RegisterRun out/inventory -FixturePath tests/fixtures/ch07/estate-ch07.json -InputPath tests/fixtures/ch07/inputs -OutputPath out/least-privilege. Output: Sweep: 11 service principals, 20 grants (12 Application, 5 AzureRole, 3 Delegated); 2 skipped; 3 handed to the Privileged Access plan. Findings: 7 Finding, 3 Warn, 3 Info. Owner review 2026-Q4: 15 rows, 9 decided, 6 open, 4 changes pending; closed: False. Plan: 11 actions, 3 of them writes (1 NarrowGrant, 2 RemoveAppRole); nothing sent. Plan SHA-256: fca44f9f423c5c3590bf1b90b36e13a8cc9c4565dc0fdb30c9d6ef4ce1a1a0f8. The two skipped are the agent identity and its blueprint, Chapter 09's. The plan's hash is the same on every run with these inputs. The commands run Learn's pinned script against stand-ins, and the example against a fictional estate; -Apply in Lab 1 changes only the fake, in memory.
Sources: Building Non-Person Identity, Chapter 07, docs/project-plans/developer-workbooks/non-person-identity/07-least-privilege-for-service-principals.md
Workbook: Building Non-Person Identity, Chapter 07 — “Lab 1: fixtures, no tenant,” steps 1–3; the “Illustrative code” callout.</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read the findings, and each rule shows up in a realistic shape. A mail automation app holds the broad directory permission with no exception. A connector's exception quietly ended last month. A mail permission is "scoped" in Exchange, but the unscoped grant is still there, so the scope does nothing. A batch machine's managed identity holds roles at the subscription and the management group. Three apps can grant themselves more, so they're handed off. And in the review, one answer from July doesn't count any more, because it's a new quarter.
Detail: Step 4, read the findings and the hand-off: findings.json grouped by rule, and pa-handoff.json. NPI-LP-01 twice (Mail Automation's Directory.ReadWrite.All and Mail.ReadWrite), NPI-LP-02 once (HR Connector's Sites.FullControl.All, whose exception ended September 30), NPI-LP-03 once (Partner CRM's Mail.Read for all users), NPI-LP-04 once (Mail Automation's Mail.Send, excepted under an Exchange RBAC scope while the Entra grant stays), NPI-LP-05 once (Vendor Portal's full_access_as_app on Exchange Online under an application access policy), NPI-LP-06 twice and NPI-LP-07 once (vm-batch01: Storage Blob Data Reader on the subscription, Reader on a management group, Reader on a resource group), NPI-LP-08 three times and NPI-LP-09 once (Legacy Reports holds an app role Microsoft Graph doesn't publish). The hand-off: Build Pipeline, RoleManagement.ReadWrite.Directory (can grant itself more); Deploy Bot, directory role: Cloud Application Administrator; Application.ReadWrite.All (can grant itself more); id-deploy, Contributor at subscription scope (a privileged administrator role). Step 5, read the open rows of the owner review: Legacy Reports, Application, unknown:a0000000-0000-4000-8000-0000000000ff, not broad; Mail Automation, Application, Mail.ReadWrite, broad; vm-batch01, Application, User.Read.All, not broad, LastDecision Keep on 2026-07-15, an earlier quarter; vm-batch01, AzureRole, Reader, not broad; vm-batch01, AzureRole, Reader, broad; Mail Automation, Delegated, User.Read, not broad. The broad Reader is the one at the management group; the other is at a resource group. vm-batch01's July decision belongs to the last quarter, so its row is open again.
Sources: Microsoft Learn, "Role Based Access Control for Applications in Exchange Online," overview, limitations and FAQ, https://learn.microsoft.com/exchange/permissions-exo/application-rbac (accessed Oct 30, 2026).
Workbook: Building Non-Person Identity, Chapter 07 — “Lab 1: fixtures, no tenant,” steps 4–5.</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Then the plan. Of eleven actions, three write: a connector's full-control site permission is removed because its selected-sites replacement is already granted, the broad directory permission is removed, and a partner app's all-users grant is narrowed to just reading profiles. The dry run shows the point of the whole exercise: both removals go through Microsoft Graph's service principal, the resource, not the app. Applying it to the fake sends three writes, and a hash nobody approved is refused. Delete the output afterwards, because the review names real owners.
Detail: Step 6, read the plan: HandedOff Build Pipeline; HandedOff Deploy Bot; HandedOff id-deploy; RemoveAppRole HR Connector (write); Kept Vendor Portal; RemoveAppRole Mail Automation (write); Kept Mail Automation; AwaitOwnerDecision Mail Automation; RescopeByOwner vm-batch01; AwaitOwnerDecision vm-batch01; NarrowGrant Partner CRM (write). HR Connector's Sites.FullControl.All is removed because its replacement, Sites.Selected, is already granted; Mail Automation's Directory.ReadWrite.All is removed; Partner CRM's grant for all users is narrowed from User.Read Mail.Read to User.Read. Step 7, dry-run the plan with its approved hash: $sha = (Get-FileHash out/least-privilege/lp-plan.json -Algorithm SHA256).Hash.ToLower(); ./Invoke-NpiLeastPrivilegeAction.ps1 -Cloud gcc -PlanPath out/least-privilege/lp-plan.json -ApprovedSha256 $sha -FixturePath tests/fixtures/ch07/estate-ch07.json -OutputPath out/lp-dryrun. Output: DryRun: 3 WouldSend: RemoveAppRole DELETE https://graph.microsoft.com/v1.0/servicePrincipals/5b000000-0000-4000-8000-000000000010/appRoleAssignedTo/ar-10; RemoveAppRole DELETE .../appRoleAssignedTo/ar-01; NarrowGrant PATCH https://graph.microsoft.com/v1.0/oauth2PermissionGrants/og-01. Both removals go through 5b000000-…-000000000010, Microsoft Graph's service principal: the resource, not the app. Step 8, apply it to the fake with -Apply, then try a hash nobody approved: Apply: 3 Sent, then the refusal, "The plan's SHA-256 is fca44f9f…, not the approved 0000…; refusing to run a plan nobody reviewed." Step 9, Invoke-Pester -Path tests. Expected result: 513 tests passing across the example, out/least-privilege/manifest.json listing 45 reads (12 app role assignment pages, 11 grant lists, 11 directory role lists, 2 resource service principals, 4 role assignment lists and 5 role definitions), and out/lp-apply/manifest.json listing the prechecks and the three writes. Delete out when you're done: the review names owners. The chapter's tests: tests/NpiLeastPrivilegeSamples.Tests.ps1, 10 tests (Learn's script and requests, run as published); tests/NpiLeastPrivilege.Tests.ps1, 34 tests: the call list's least privilege (each task's declaration equal to the union of its calls), the register's hash, the sweep's reads and paging, each rule, the hand-off, stable IDs, the review and its quarter, each plan action, the deterministic plan hash, the writer's refusals (hash, tenant, age, target, body, scope), dry run, -Apply, the prechecks that skip a write, and the entry scripts.
Sources: Microsoft Learn, "Delete appRoleAssignedTo," permissions, HTTP request and note, https://learn.microsoft.com/graph/api/serviceprincipal-delete-approleassignedto?view=graph-rest-1.0 (accessed Oct 30, 2026).
Workbook: Building Non-Person Identity, Chapter 07 — “Lab 1: fixtures, no tenant,” steps 6–9; “The tests”.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Lab 2 uses a test tenant and subscription, never production, with fictional people. You create a broad grant and an over-scoped managed identity on purpose, then sweep with read-only permissions and confirm both findings appear. An owner decision of remove goes in, a second person approves the plan's hash, and you apply it as a person. You also try the script's original request shape once, and write down what Graph really answers. After a few minutes, the grant is gone and the audit log shows a person as the actor. Then restore everything.
Detail: Use a test tenant in the worldwide or GCC cloud and a test Azure subscription, never production, with fictional people, and Chapter 01's Lab 2 run (out/inventory-test). 1 Make a test grant to sweep: signed in as a test Privileged Role Administrator, give a test app registration's service principal the Microsoft Graph application permissions Directory.ReadWrite.All and User.Read.All with Learn's grant request, POST /servicePrincipals/{resource-id}/appRoleAssignedTo. Give a test user-assigned managed identity Reader on the test subscription and on a test management group above it, and list both in azure-scopes.csv. Run Chapter 01's Lab 2 again so the register has them. 2 Run the sweep with an app holding only Application.Read.All, Directory.Read.All and RoleManagement.Read.Directory, and Reader on the listed scopes: ./Invoke-NpiLeastPrivilege.ps1 -Cloud gcc -RegisterRun out/inventory-test -InputPath &lt;inputs&gt; -OutputPath out/lp-test. Expect NPI-LP-01 for Directory.ReadWrite.All and NPI-LP-06 for the managed identity. Record whether the subscription's list also returned the management group's assignment (research gaps, row 65). 3 Decide and review: add the Directory.ReadWrite.All row's key to owner-decisions.csv with Decision Remove, run step 2 again, and have a second person review lp-plan.json and pass you its SHA-256. 4 Dry-run, then apply, signed in as a person with Privileged Role Administrator: Connect-MgGraph -Environment Global -TenantId &lt;tenant-id&gt; -Scopes Application.Read.All, AppRoleAssignment.ReadWrite.All, DelegatedPermissionGrant.ReadWrite.All, Directory.Read.All; then Invoke-NpiLeastPrivilegeAction.ps1 without and with -Apply. Then, for row 61, send Learn's script's request shape for the test app's User.Read.All assignment, Remove-MgServicePrincipalAppRoleAssignedTo -ServicePrincipalId &lt;the test app's own ID&gt; -AppRoleAssignmentId &lt;id&gt;, and record what Graph answers. 5 Check the result: run step 2 again after a few minutes (Learn warns of replication delay): the removed row is gone, and the test service principal has no directory role (research gaps, row 68). The audit log shows the removal with the person as actor. Learn's pages name it two ways: Remove app role assignment from the service principal on the page about these logs, and Remove app role assignment from service principal in the activity list, which is the name Chapter 10 filters on. 6 Back it out: grant the removed permissions again with Learn's grant request, as Learn's restore page describes for a known permission, then remove the test managed identity's role assignments and delete the test identity and the test app registration, which are test objects, not the estate's; delete the out folders: they name owners.
Sources: Microsoft Learn, "Grant or revoke API permissions programmatically," steps 2 and 3, https://learn.microsoft.com/graph/permissions-grant-via-msgraph (accessed Oct 31, 2026). · Microsoft Learn, "List appRoleAssignments granted to a service principal," permissions, HTTP request and note, https://learn.microsoft.com/graph/api/serviceprincipal-list-approleassignments?view=graph-rest-1.0 (accessed Oct 30, 2026). · Microsoft Learn, "Restore revoked permissions granted to applications," restore revoked permissions for an application; restore app-only permissions, https://learn.microsoft.com/entra/identity/enterprise-apps/restore-permissions (accessed Oct 30, 2026). · Microsoft Learn, "View activity logs of application permissions," audit logs, https://learn.microsoft.com/entra/identity/enterprise-apps/app-perms-audit-logs (accessed Oct 31, 2026). · Microsoft Learn, "Microsoft Entra audit log categories and activities," Core Directory, https://learn.microsoft.com/entra/identity/monitoring-health/reference-audit-activities (accessed Oct 31, 2026).
Workbook: Building Non-Person Identity, Chapter 07 — “Lab 2: test tenant”.</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danger here has a guard in the code. The most direct is simply running Learn's script against a real tenant, which removes far more than anyone planned. Close behind are deleting an app instead of a grant, and removing a broad permission before its replacement is in place, which takes a workload down in production. Then the subtle ones: a mail scope that does nothing while the old grant stays, a narrowing that actually widens, last quarter's answer passing as this quarter's, and a permission quietly re-granted at the next consent.
Detail: Learn's script run against a tenant: every delegated grant goes, the excepted ones too, and nobody planned it; guard: the example never removes anything an owner didn't decide; a plan, an approved SHA-256 and -Apply. An app deleted, or its service principal: every grant and credential lost at once; guard: the only DELETE is of one app role assignment through its resource service principal; the writer refuses any other target. A broad permission removed before its replacement: the workload fails in production; guard: Remove with a Replacement waits until the replacement is granted, and the precheck checks it again before the write. An Exchange scope that does nothing: the app still reads every mailbox, and the exception says it doesn't; guard: NPI-LP-04: the Entra grant must go once the RBAC for Applications assignment is tested. A privileged service principal swept twice, or not at all: two plans disagree, or Gate 4 passes on a Global Administrator app; guard: directory roles, escalation permissions and privileged Azure roles hand the identity to A3.4; Gate 4 waits for it. A narrowing that widens: a PATCH adds a scope the owner never had; guard: the new scope must be a smaller subset of the scope the plan read; the writer refuses anything else. A plan changed after review, or the tenant changed: different writes from the ones approved; guard: the approved SHA-256 is checked; tenant, cloud and seven days are checked; each write is re-read and skipped if its target changed. An unattended app with AppRoleAssignment.ReadWrite.All: a standing permission that can grant itself anything; guard: the write path is delegated only, a person with Privileged Role Administrator; the sweep holds read permissions only. A decision from last quarter treated as current: the review closes on stale answers; guard: only decisions dated this quarter count; earlier ones show as LastDecision. A re-grant after the removal: the permission is back at the next admin consent; guard: the quarterly sweep shows it as a new row; the owner removes it from the registration's required permissions (research gaps, row 69).
Sources: Microsoft Learn, "Delete appRoleAssignedTo," permissions, HTTP request and note, https://learn.microsoft.com/graph/api/serviceprincipal-delete-approleassignedto?view=graph-rest-1.0 (accessed Oct 30, 2026). · Microsoft Learn, "Role Based Access Control for Applications in Exchange Online," overview, limitations and FAQ, https://learn.microsoft.com/exchange/permissions-exo/application-rbac (accessed Oct 30, 2026).
Workbook: Building Non-Person Identity, Chapter 07 — “Dangers”.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what done looks like. Every service principal was swept, or skipped with a reason. Every broad permission has a current, complete exception or a decision to remove or narrow it. No mail scope is pretending while the old grant stays, and every managed identity's Azure role sits at the resource. The privileged apps went to the Privileged Access plan and were closed there. The quarter's review is closed, and every write ran as a person, on a plan someone else approved. Next, Chapter 8 puts Conditional Access on workload identities. Thanks for watching.
Detail: Checklist: every service principal in the register was swept, or is listed in skipped.json with the reason. Every broad permission has a current exception with a justification, an approver and an end date, or a decision to remove or narrow it. No mail permission is excepted under RBAC for Applications while its Microsoft Entra grant stays. Every managed identity's Azure role is at a resource or resource group, or has an exception. pa-handoff.json has gone to the Privileged Access plan's identity governance officer, and A3.4 has closed each identity on it. The quarter's owner review is closed: every row decided this quarter and no change pending. The plan's SHA-256 was approved by someone other than the person who applies it; the write path ran as a person with Privileged Role Administrator; its manifest is filed with the review. The pinned Learn page matches its manifest, and every upstream commit since the pin has been reviewed. Next: Chapter 08 — Conditional Access for Workload Identities.
Sources: Microsoft, MicrosoftDocs/entra-docs, docs/identity/enterprise-apps/manage-application-permissions.md at commit 7f78b50dce9d8cf119de57cbd6fd66e24a6c58d4 (October 30, 2026; the page last changed February 19, 2026), code and documentation MIT License, https://github.com/MicrosoftDocs/entra-docs/blob/7f78b50dce9d8cf119de57cbd6fd66e24a6c58d4/docs/identity/enterprise-apps/manage-application-permissions.md (accessed Oct 30, 2026); pinned copy in examples/third_party/entra-review-app-permissions-page.
Workbook: Building Non-Person Identity, Chapter 07 — “Checklist”; “Continue the book”.</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rtlCol="0"/>
          <a:lstStyle>
            <a:lvl1pPr marL="0" indent="0" algn="l">
              <a:buNone/>
              <a:defRPr lang="en-US" sz="4400" b="1" dirty="0">
                <a:solidFill>
                  <a:schemeClr val="tx1"/>
                </a:solidFill>
                <a:latin typeface="Cambria" pitchFamily="34" charset="0"/>
                <a:ea typeface="Cambria" pitchFamily="34" charset="-122"/>
                <a:cs typeface="Cambria" pitchFamily="34" charset="-120"/>
              </a:defRPr>
            </a:lvl1pPr>
          </a:lstStyle>
          <a:p>
            <a:pPr marL="0" indent="0" algn="l">
              <a:buNone/>
            </a:pP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rtlCol="0"/>
          <a:lstStyle>
            <a:lvl1pPr marL="0" indent="0">
              <a:buNone/>
              <a:defRPr lang="en-US" sz="2200" dirty="0">
                <a:solidFill>
                  <a:schemeClr val="accent2"/>
                </a:solidFill>
              </a:defRPr>
            </a:lvl1pPr>
          </a:lstStyle>
          <a:p>
            <a:pPr marL="0" indent="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rtlCol="0"/>
          <a:lstStyle>
            <a:lvl1pPr marL="0" indent="0" algn="ctr">
              <a:buNone/>
              <a:defRPr lang="en-US" sz="3000" b="1" dirty="0">
                <a:solidFill>
                  <a:schemeClr val="tx1"/>
                </a:solidFill>
                <a:latin typeface="Cambria" pitchFamily="34" charset="0"/>
                <a:ea typeface="Cambria" pitchFamily="34" charset="-122"/>
                <a:cs typeface="Cambria" pitchFamily="34" charset="-120"/>
              </a:defRPr>
            </a:lvl1pPr>
          </a:lstStyle>
          <a:p>
            <a:pPr marL="0" indent="0" algn="ctr">
              <a:buNone/>
            </a:pPr>
            <a:endParaRPr lang="en-US" sz="3000" dirty="0"/>
          </a:p>
        </p:txBody>
      </p:sp>
      <p:sp>
        <p:nvSpPr>
          <p:cNvPr id="3" name="Text 0"/>
          <p:cNvSpPr/>
          <p:nvPr/>
        </p:nvSpPr>
        <p:spPr>
          <a:xfrm>
            <a:off x="548640" y="6400800"/>
            <a:ext cx="8229600" cy="274320"/>
          </a:xfrm>
          <a:prstGeom prst="rect">
            <a:avLst/>
          </a:prstGeom>
          <a:noFill/>
          <a:ln/>
        </p:spPr>
        <p:txBody>
          <a:bodyPr wrap="square" lIns="0" tIns="0" rIns="0" bIns="0" rtlCol="0" anchor="ctr"/>
          <a:lstStyle/>
          <a:p>
            <a:pPr marL="0" indent="0">
              <a:buNone/>
            </a:pPr>
            <a:r>
              <a:rPr lang="en-US" sz="1000" dirty="0">
                <a:solidFill>
                  <a:schemeClr val="accent5"/>
                </a:solidFill>
              </a:rPr>
              <a:t>Federal Modernization Workbook  ·  Building Non-Person Identity  ·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p3"/><Relationship Id="rId1" Type="http://schemas.microsoft.com/office/2007/relationships/media" Target="../media/media1.mp3"/><Relationship Id="rId5" Type="http://schemas.openxmlformats.org/officeDocument/2006/relationships/image" Target="../media/image3.png"/><Relationship Id="rId4" Type="http://schemas.openxmlformats.org/officeDocument/2006/relationships/notesSlide" Target="../notesSlides/notesSlide1.xml"/><Relationship Id="rId6" Type="http://schemas.microsoft.com/office/2017/04/relationships/track" Target="../media/captions_slide01.vtt"/></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2.mp3"/><Relationship Id="rId1" Type="http://schemas.microsoft.com/office/2007/relationships/media" Target="../media/media2.mp3"/><Relationship Id="rId5" Type="http://schemas.openxmlformats.org/officeDocument/2006/relationships/image" Target="../media/image3.png"/><Relationship Id="rId4" Type="http://schemas.openxmlformats.org/officeDocument/2006/relationships/notesSlide" Target="../notesSlides/notesSlide2.xml"/><Relationship Id="rId6" Type="http://schemas.microsoft.com/office/2017/04/relationships/track" Target="../media/captions_slide02.vtt"/></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3.mp3"/><Relationship Id="rId1" Type="http://schemas.microsoft.com/office/2007/relationships/media" Target="../media/media3.mp3"/><Relationship Id="rId6" Type="http://schemas.openxmlformats.org/officeDocument/2006/relationships/image" Target="../media/image3.png"/><Relationship Id="rId5" Type="http://schemas.openxmlformats.org/officeDocument/2006/relationships/image" Target="../media/image4.png"/><Relationship Id="rId4" Type="http://schemas.openxmlformats.org/officeDocument/2006/relationships/notesSlide" Target="../notesSlides/notesSlide3.xml"/><Relationship Id="rId7" Type="http://schemas.microsoft.com/office/2017/04/relationships/track" Target="../media/captions_slide03.vtt"/></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4.mp3"/><Relationship Id="rId1" Type="http://schemas.microsoft.com/office/2007/relationships/media" Target="../media/media4.mp3"/><Relationship Id="rId5" Type="http://schemas.openxmlformats.org/officeDocument/2006/relationships/image" Target="../media/image3.png"/><Relationship Id="rId4" Type="http://schemas.openxmlformats.org/officeDocument/2006/relationships/notesSlide" Target="../notesSlides/notesSlide4.xml"/><Relationship Id="rId6" Type="http://schemas.microsoft.com/office/2017/04/relationships/track" Target="../media/captions_slide04.vtt"/></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5.mp3"/><Relationship Id="rId1" Type="http://schemas.microsoft.com/office/2007/relationships/media" Target="../media/media5.mp3"/><Relationship Id="rId5" Type="http://schemas.openxmlformats.org/officeDocument/2006/relationships/image" Target="../media/image3.png"/><Relationship Id="rId4" Type="http://schemas.openxmlformats.org/officeDocument/2006/relationships/notesSlide" Target="../notesSlides/notesSlide5.xml"/><Relationship Id="rId6" Type="http://schemas.microsoft.com/office/2017/04/relationships/track" Target="../media/captions_slide05.vtt"/></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6.mp3"/><Relationship Id="rId1" Type="http://schemas.microsoft.com/office/2007/relationships/media" Target="../media/media6.mp3"/><Relationship Id="rId5" Type="http://schemas.openxmlformats.org/officeDocument/2006/relationships/image" Target="../media/image3.png"/><Relationship Id="rId4" Type="http://schemas.openxmlformats.org/officeDocument/2006/relationships/notesSlide" Target="../notesSlides/notesSlide6.xml"/><Relationship Id="rId6" Type="http://schemas.microsoft.com/office/2017/04/relationships/track" Target="../media/captions_slide06.vtt"/></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7.mp3"/><Relationship Id="rId1" Type="http://schemas.microsoft.com/office/2007/relationships/media" Target="../media/media7.mp3"/><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notesSlide" Target="../notesSlides/notesSlide7.xml"/><Relationship Id="rId7" Type="http://schemas.microsoft.com/office/2017/04/relationships/track" Target="../media/captions_slide07.vtt"/></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8.mp3"/><Relationship Id="rId1" Type="http://schemas.microsoft.com/office/2007/relationships/media" Target="../media/media8.mp3"/><Relationship Id="rId5" Type="http://schemas.openxmlformats.org/officeDocument/2006/relationships/image" Target="../media/image3.png"/><Relationship Id="rId4" Type="http://schemas.openxmlformats.org/officeDocument/2006/relationships/notesSlide" Target="../notesSlides/notesSlide8.xml"/><Relationship Id="rId6" Type="http://schemas.microsoft.com/office/2017/04/relationships/track" Target="../media/captions_slide08.vtt"/></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9.mp3"/><Relationship Id="rId1" Type="http://schemas.microsoft.com/office/2007/relationships/media" Target="../media/media9.mp3"/><Relationship Id="rId6" Type="http://schemas.openxmlformats.org/officeDocument/2006/relationships/image" Target="../media/image3.png"/><Relationship Id="rId5" Type="http://schemas.openxmlformats.org/officeDocument/2006/relationships/image" Target="../media/image6.png"/><Relationship Id="rId4" Type="http://schemas.openxmlformats.org/officeDocument/2006/relationships/notesSlide" Target="../notesSlides/notesSlide9.xml"/><Relationship Id="rId7" Type="http://schemas.microsoft.com/office/2017/04/relationships/track" Target="../media/captions_slide09.vtt"/></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0.mp3"/><Relationship Id="rId1" Type="http://schemas.microsoft.com/office/2007/relationships/media" Target="../media/media10.mp3"/><Relationship Id="rId5" Type="http://schemas.openxmlformats.org/officeDocument/2006/relationships/image" Target="../media/image3.png"/><Relationship Id="rId4" Type="http://schemas.openxmlformats.org/officeDocument/2006/relationships/notesSlide" Target="../notesSlides/notesSlide10.xml"/><Relationship Id="rId6" Type="http://schemas.microsoft.com/office/2017/04/relationships/track" Target="../media/captions_slide10.vtt"/></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1.mp3"/><Relationship Id="rId1" Type="http://schemas.microsoft.com/office/2007/relationships/media" Target="../media/media11.mp3"/><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notesSlide" Target="../notesSlides/notesSlide11.xml"/><Relationship Id="rId7" Type="http://schemas.microsoft.com/office/2017/04/relationships/track" Target="../media/captions_slide11.vtt"/></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2.mp3"/><Relationship Id="rId1" Type="http://schemas.microsoft.com/office/2007/relationships/media" Target="../media/media12.mp3"/><Relationship Id="rId5" Type="http://schemas.openxmlformats.org/officeDocument/2006/relationships/image" Target="../media/image3.png"/><Relationship Id="rId4" Type="http://schemas.openxmlformats.org/officeDocument/2006/relationships/notesSlide" Target="../notesSlides/notesSlide12.xml"/><Relationship Id="rId6" Type="http://schemas.microsoft.com/office/2017/04/relationships/track" Target="../media/captions_slide12.vtt"/></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3.mp3"/><Relationship Id="rId1" Type="http://schemas.microsoft.com/office/2007/relationships/media" Target="../media/media13.mp3"/><Relationship Id="rId6" Type="http://schemas.openxmlformats.org/officeDocument/2006/relationships/image" Target="../media/image3.png"/><Relationship Id="rId5" Type="http://schemas.openxmlformats.org/officeDocument/2006/relationships/image" Target="../media/image8.png"/><Relationship Id="rId4" Type="http://schemas.openxmlformats.org/officeDocument/2006/relationships/notesSlide" Target="../notesSlides/notesSlide13.xml"/><Relationship Id="rId7" Type="http://schemas.microsoft.com/office/2017/04/relationships/track" Target="../media/captions_slide13.vtt"/></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4.mp3"/><Relationship Id="rId1" Type="http://schemas.microsoft.com/office/2007/relationships/media" Target="../media/media14.mp3"/><Relationship Id="rId5" Type="http://schemas.openxmlformats.org/officeDocument/2006/relationships/image" Target="../media/image3.png"/><Relationship Id="rId4" Type="http://schemas.openxmlformats.org/officeDocument/2006/relationships/notesSlide" Target="../notesSlides/notesSlide14.xml"/><Relationship Id="rId6" Type="http://schemas.microsoft.com/office/2017/04/relationships/track" Target="../media/captions_slide14.vtt"/></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5.mp3"/><Relationship Id="rId1" Type="http://schemas.microsoft.com/office/2007/relationships/media" Target="../media/media15.mp3"/><Relationship Id="rId6" Type="http://schemas.openxmlformats.org/officeDocument/2006/relationships/image" Target="../media/image3.png"/><Relationship Id="rId5" Type="http://schemas.openxmlformats.org/officeDocument/2006/relationships/image" Target="../media/image9.png"/><Relationship Id="rId4" Type="http://schemas.openxmlformats.org/officeDocument/2006/relationships/notesSlide" Target="../notesSlides/notesSlide15.xml"/><Relationship Id="rId7" Type="http://schemas.microsoft.com/office/2017/04/relationships/track" Target="../media/captions_slide15.vtt"/></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6.mp3"/><Relationship Id="rId1" Type="http://schemas.microsoft.com/office/2007/relationships/media" Target="../media/media16.mp3"/><Relationship Id="rId6" Type="http://schemas.openxmlformats.org/officeDocument/2006/relationships/image" Target="../media/image3.png"/><Relationship Id="rId5" Type="http://schemas.openxmlformats.org/officeDocument/2006/relationships/image" Target="../media/image10.png"/><Relationship Id="rId4" Type="http://schemas.openxmlformats.org/officeDocument/2006/relationships/notesSlide" Target="../notesSlides/notesSlide16.xml"/><Relationship Id="rId7" Type="http://schemas.microsoft.com/office/2017/04/relationships/track" Target="../media/captions_slide16.vtt"/></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7.mp3"/><Relationship Id="rId1" Type="http://schemas.microsoft.com/office/2007/relationships/media" Target="../media/media17.mp3"/><Relationship Id="rId5" Type="http://schemas.openxmlformats.org/officeDocument/2006/relationships/image" Target="../media/image3.png"/><Relationship Id="rId4" Type="http://schemas.openxmlformats.org/officeDocument/2006/relationships/notesSlide" Target="../notesSlides/notesSlide17.xml"/><Relationship Id="rId6" Type="http://schemas.microsoft.com/office/2017/04/relationships/track" Target="../media/captions_slide17.vtt"/></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audio" Target="../media/media18.mp3"/><Relationship Id="rId1" Type="http://schemas.microsoft.com/office/2007/relationships/media" Target="../media/media18.mp3"/><Relationship Id="rId6" Type="http://schemas.openxmlformats.org/officeDocument/2006/relationships/image" Target="../media/image3.png"/><Relationship Id="rId5" Type="http://schemas.openxmlformats.org/officeDocument/2006/relationships/image" Target="../media/image11.png"/><Relationship Id="rId4" Type="http://schemas.openxmlformats.org/officeDocument/2006/relationships/notesSlide" Target="../notesSlides/notesSlide18.xml"/><Relationship Id="rId7" Type="http://schemas.microsoft.com/office/2017/04/relationships/track" Target="../media/captions_slide18.vtt"/></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463040"/>
            <a:ext cx="6217920" cy="1920240"/>
          </a:xfrm>
          <a:prstGeom prst="rect">
            <a:avLst/>
          </a:prstGeom>
          <a:noFill/>
          <a:ln/>
        </p:spPr>
        <p:txBody>
          <a:bodyPr wrap="square" lIns="0" tIns="0" rIns="0" bIns="0" rtlCol="0" anchor="b"/>
          <a:lstStyle/>
          <a:p>
            <a:pPr marL="0" indent="0" algn="l">
              <a:buNone/>
            </a:pPr>
            <a:r>
              <a:rPr lang="en-US" sz="4400" b="1" dirty="0">
                <a:solidFill>
                  <a:schemeClr val="tx1"/>
                </a:solidFill>
                <a:latin typeface="Cambria" pitchFamily="34" charset="0"/>
                <a:ea typeface="Cambria" pitchFamily="34" charset="-122"/>
                <a:cs typeface="Cambria" pitchFamily="34" charset="-120"/>
              </a:rPr>
              <a:t>Chapter 07: Least Privilege for Service Principals</a:t>
            </a:r>
            <a:endParaRPr lang="en-US" sz="4400" dirty="0"/>
          </a:p>
        </p:txBody>
      </p:sp>
      <p:sp>
        <p:nvSpPr>
          <p:cNvPr id="3" name="Text 0"/>
          <p:cNvSpPr>
            <a:spLocks noGrp="1"/>
          </p:cNvSpPr>
          <p:nvPr>
            <p:ph type="body" idx="101" hasCustomPrompt="1"/>
          </p:nvPr>
        </p:nvSpPr>
        <p:spPr>
          <a:xfrm>
            <a:off x="731520" y="3520440"/>
            <a:ext cx="6035040" cy="822960"/>
          </a:xfrm>
          <a:prstGeom prst="rect">
            <a:avLst/>
          </a:prstGeom>
          <a:noFill/>
          <a:ln/>
        </p:spPr>
        <p:txBody>
          <a:bodyPr wrap="square" lIns="0" tIns="0" rIns="0" bIns="0" rtlCol="0" anchor="t"/>
          <a:lstStyle/>
          <a:p>
            <a:pPr marL="0" indent="0">
              <a:buNone/>
            </a:pPr>
            <a:r>
              <a:rPr lang="en-US" sz="2200" dirty="0">
                <a:solidFill>
                  <a:schemeClr val="accent2"/>
                </a:solidFill>
              </a:rPr>
              <a:t>Building Non-Person Identity — a narrated tour of the chapter</a:t>
            </a:r>
            <a:endParaRPr lang="en-US" sz="2200" dirty="0"/>
          </a:p>
        </p:txBody>
      </p:sp>
      <p:sp>
        <p:nvSpPr>
          <p:cNvPr id="4" name="Presenter"/>
          <p:cNvSpPr txBox="1"/>
          <p:nvPr/>
        </p:nvSpPr>
        <p:spPr>
          <a:xfrm>
            <a:off x="731520" y="5897880"/>
            <a:ext cx="6858000" cy="365760"/>
          </a:xfrm>
          <a:prstGeom prst="rect">
            <a:avLst/>
          </a:prstGeom>
          <a:noFill/>
          <a:ln/>
        </p:spPr>
        <p:txBody>
          <a:bodyPr wrap="square" lIns="0" tIns="0" rIns="0" bIns="0" rtlCol="0" anchor="ctr"/>
          <a:lstStyle/>
          <a:p>
            <a:pPr marL="0" indent="0">
              <a:buNone/>
            </a:pPr>
            <a:r>
              <a:rPr lang="en-US" sz="1600" dirty="0">
                <a:solidFill>
                  <a:srgbClr val="64748B"/>
                </a:solidFill>
              </a:rPr>
              <a:t>Presented by  </a:t>
            </a:r>
            <a:r>
              <a:rPr lang="en-US" sz="1600" b="1" dirty="0">
                <a:solidFill>
                  <a:srgbClr val="1F2A44"/>
                </a:solidFill>
              </a:rPr>
              <a:t>Michael F. Stratton</a:t>
            </a:r>
            <a:endParaRPr lang="en-US" sz="1600" dirty="0"/>
          </a:p>
        </p:txBody>
      </p:sp>
      <p:sp>
        <p:nvSpPr>
          <p:cNvPr id="5" name="Disclaimer"/>
          <p:cNvSpPr txBox="1"/>
          <p:nvPr/>
        </p:nvSpPr>
        <p:spPr>
          <a:xfrm>
            <a:off x="731520" y="6309360"/>
            <a:ext cx="8686800" cy="274320"/>
          </a:xfrm>
          <a:prstGeom prst="rect">
            <a:avLst/>
          </a:prstGeom>
          <a:noFill/>
          <a:ln/>
        </p:spPr>
        <p:txBody>
          <a:bodyPr wrap="square" lIns="0" tIns="0" rIns="0" bIns="0" rtlCol="0" anchor="ctr"/>
          <a:lstStyle/>
          <a:p>
            <a:pPr marL="0" indent="0">
              <a:buNone/>
            </a:pPr>
            <a:r>
              <a:rPr lang="en-US" sz="1050" dirty="0">
                <a:solidFill>
                  <a:srgbClr val="64748B"/>
                </a:solidFill>
              </a:rPr>
              <a:t>Not an official U.S. government publication. Independent technical analysis; not reviewed or endorsed by any federal agency.</a:t>
            </a:r>
            <a:endParaRPr lang="en-US" sz="1050" dirty="0"/>
          </a:p>
        </p:txBody>
      </p:sp>
      <p:sp>
        <p:nvSpPr>
          <p:cNvPr id="6" name="Tour map"/>
          <p:cNvSpPr txBox="1"/>
          <p:nvPr/>
        </p:nvSpPr>
        <p:spPr>
          <a:xfrm>
            <a:off x="731520" y="4434840"/>
            <a:ext cx="6400800" cy="1280160"/>
          </a:xfrm>
          <a:prstGeom prst="rect">
            <a:avLst/>
          </a:prstGeom>
          <a:noFill/>
          <a:ln/>
        </p:spPr>
        <p:txBody>
          <a:bodyPr wrap="square" lIns="0" tIns="0" rIns="0" bIns="0" rtlCol="0" anchor="t"/>
          <a:lstStyle/>
          <a:p>
            <a:pPr marL="0" indent="0">
              <a:spcAft>
                <a:spcPts val="400"/>
              </a:spcAft>
              <a:buNone/>
            </a:pPr>
            <a:r>
              <a:rPr lang="en-US" sz="1400" b="1" dirty="0">
                <a:solidFill>
                  <a:srgbClr val="1F2A44"/>
                </a:solidFill>
              </a:rPr>
              <a:t>Why a sweep · Learn's script and its gaps · the sweep, the check, the review, the plan · who · two labs · dangers</a:t>
            </a:r>
            <a:endParaRPr lang="en-US" sz="1400" dirty="0"/>
          </a:p>
          <a:p>
            <a:pPr marL="0" indent="0">
              <a:spcAft>
                <a:spcPts val="400"/>
              </a:spcAft>
              <a:buNone/>
            </a:pPr>
            <a:r>
              <a:rPr lang="en-US" sz="1400" dirty="0">
                <a:solidFill>
                  <a:srgbClr val="334155"/>
                </a:solidFill>
              </a:rPr>
              <a:t>Chapter review status: approved  ·  Illustrative code, tested against fixtures</a:t>
            </a:r>
            <a:endParaRPr lang="en-US" sz="1400" dirty="0"/>
          </a:p>
          <a:p>
            <a:pPr marL="0" indent="0">
              <a:spcAft>
                <a:spcPts val="400"/>
              </a:spcAft>
              <a:buNone/>
            </a:pPr>
            <a:r>
              <a:rPr lang="en-US" sz="1400" b="1" dirty="0">
                <a:solidFill>
                  <a:srgbClr val="0F766E"/>
                </a:solidFill>
              </a:rPr>
              <a:t>Date Code 2026-10-31 10:16 ET</a:t>
            </a:r>
            <a:endParaRPr lang="en-US" sz="1400" dirty="0"/>
          </a:p>
        </p:txBody>
      </p:sp>
      <p:pic>
        <p:nvPicPr>
          <p:cNvPr id="7" name="Narration" descr="Narration for this slide; captions available">
            <a:hlinkClick r:id="" action="ppaction://media"/>
            <a:extLst>
              <a:ext uri="{FF2B5EF4-FFF2-40B4-BE49-F238E27FC236}">
                <a16:creationId xmlns:a16="http://schemas.microsoft.com/office/drawing/2014/main" id="{1DF7BEC1-40C2-1A17-6162-34431F1C40D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9E538CD6-396D-4974-890C-83FA892DB2A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1990"/>
    </mc:Choice>
    <mc:Fallback>
      <p:transition spd="slow" advTm="419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799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an app can reach, and which cloud reads it</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sp>
        <p:nvSpPr>
          <p:cNvPr id="5" name="Panel The rule the code holds">
            <a:extLst>
              <a:ext uri="{C183D7F6-B498-43B3-948B-1728B52AA6E4}">
                <adec:decorative xmlns:adec="http://schemas.microsoft.com/office/drawing/2017/decorative" val="1"/>
              </a:ext>
            </a:extLst>
          </p:cNvPr>
          <p:cNvSpPr/>
          <p:nvPr/>
        </p:nvSpPr>
        <p:spPr>
          <a:xfrm>
            <a:off x="548640" y="1325880"/>
            <a:ext cx="5959602" cy="3471672"/>
          </a:xfrm>
          <a:prstGeom prst="roundRect">
            <a:avLst>
              <a:gd name="adj" fmla="val 2107"/>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rule the code holds label"/>
          <p:cNvSpPr txBox="1"/>
          <p:nvPr/>
        </p:nvSpPr>
        <p:spPr>
          <a:xfrm>
            <a:off x="731520" y="1435608"/>
            <a:ext cx="5593842"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RULE THE CODE HOLDS</a:t>
            </a:r>
            <a:endParaRPr lang="en-US" sz="1100" dirty="0"/>
          </a:p>
        </p:txBody>
      </p:sp>
      <p:sp>
        <p:nvSpPr>
          <p:cNvPr id="7" name="Panel The rule the code holds list"/>
          <p:cNvSpPr txBox="1"/>
          <p:nvPr/>
        </p:nvSpPr>
        <p:spPr>
          <a:xfrm>
            <a:off x="731520" y="1737360"/>
            <a:ext cx="5639562" cy="3014472"/>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Application permission: an app role a client service principal holds on a resource service principal (appRoleAssignment)</a:t>
            </a:r>
            <a:endParaRPr lang="en-US" sz="1550" dirty="0"/>
          </a:p>
          <a:p>
            <a:pPr marL="342900" indent="-342900">
              <a:spcAft>
                <a:spcPts val="400"/>
              </a:spcAft>
              <a:buSzPct val="100000"/>
              <a:buChar char="•"/>
            </a:pPr>
            <a:r>
              <a:rPr lang="en-US" sz="1550" dirty="0">
                <a:solidFill>
                  <a:srgbClr val="334155"/>
                </a:solidFill>
              </a:rPr>
              <a:t>Delegated permission: an oauth2PermissionGrant from a client to a resource, for one person or all users</a:t>
            </a:r>
            <a:endParaRPr lang="en-US" sz="1550" dirty="0"/>
          </a:p>
          <a:p>
            <a:pPr marL="342900" indent="-342900">
              <a:spcAft>
                <a:spcPts val="400"/>
              </a:spcAft>
              <a:buSzPct val="100000"/>
              <a:buChar char="•"/>
            </a:pPr>
            <a:r>
              <a:rPr lang="en-US" sz="1550" dirty="0">
                <a:solidFill>
                  <a:srgbClr val="334155"/>
                </a:solidFill>
              </a:rPr>
              <a:t>Learn's way: enumerate every service principal's app role assignments; read the role from the resource's appRoles, Microsoft Graph's above all</a:t>
            </a:r>
            <a:endParaRPr lang="en-US" sz="1550" dirty="0"/>
          </a:p>
          <a:p>
            <a:pPr marL="342900" indent="-342900">
              <a:spcAft>
                <a:spcPts val="400"/>
              </a:spcAft>
              <a:buSzPct val="100000"/>
              <a:buChar char="•"/>
            </a:pPr>
            <a:r>
              <a:rPr lang="en-US" sz="1550" dirty="0">
                <a:solidFill>
                  <a:srgbClr val="334155"/>
                </a:solidFill>
              </a:rPr>
              <a:t>Entra roles, Exchange RBAC and Teams resource-specific consent grant access too</a:t>
            </a:r>
            <a:endParaRPr lang="en-US" sz="15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6782562" y="1325880"/>
          <a:ext cx="4876038" cy="1655064"/>
        </p:xfrm>
        <a:graphic>
          <a:graphicData uri="http://schemas.openxmlformats.org/drawingml/2006/table">
            <a:tbl>
              <a:tblPr firstRow="1" bandRow="1"/>
              <a:tblGrid>
                <a:gridCol w="1560332">
                  <a:extLst>
                    <a:ext uri="{9D8B030D-6E8A-4147-A177-3AD203B41FA5}">
                      <a16:colId xmlns:a16="http://schemas.microsoft.com/office/drawing/2014/main" val="20000"/>
                    </a:ext>
                  </a:extLst>
                </a:gridCol>
                <a:gridCol w="3315706">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Cloud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Hosts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GCC, commercial Azure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graph.microsoft.com; management.azure.com</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GCC High, DoD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graph.microsoft.us, dod-graph.microsoft.us; management.usgovcloudapi.net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9" name="Panel Availability">
            <a:extLst>
              <a:ext uri="{C183D7F6-B498-43B3-948B-1728B52AA6E4}">
                <adec:decorative xmlns:adec="http://schemas.microsoft.com/office/drawing/2017/decorative" val="1"/>
              </a:ext>
            </a:extLst>
          </p:cNvPr>
          <p:cNvSpPr/>
          <p:nvPr/>
        </p:nvSpPr>
        <p:spPr>
          <a:xfrm>
            <a:off x="6782562" y="3163824"/>
            <a:ext cx="4876038" cy="1633728"/>
          </a:xfrm>
          <a:prstGeom prst="roundRect">
            <a:avLst>
              <a:gd name="adj" fmla="val 4478"/>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10" name="Panel Availability label"/>
          <p:cNvSpPr txBox="1"/>
          <p:nvPr/>
        </p:nvSpPr>
        <p:spPr>
          <a:xfrm>
            <a:off x="6965442" y="3273552"/>
            <a:ext cx="4510278" cy="274320"/>
          </a:xfrm>
          <a:prstGeom prst="rect">
            <a:avLst/>
          </a:prstGeom>
          <a:noFill/>
          <a:ln/>
        </p:spPr>
        <p:txBody>
          <a:bodyPr wrap="square" lIns="0" tIns="0" rIns="0" bIns="0" rtlCol="0" anchor="t"/>
          <a:lstStyle/>
          <a:p>
            <a:pPr marL="0" indent="0">
              <a:buNone/>
            </a:pPr>
            <a:r>
              <a:rPr lang="en-US" sz="1100" b="1" kern="0" spc="50" dirty="0">
                <a:solidFill>
                  <a:srgbClr val="0F766E"/>
                </a:solidFill>
              </a:rPr>
              <a:t>AVAILABILITY</a:t>
            </a:r>
            <a:endParaRPr lang="en-US" sz="1100" dirty="0"/>
          </a:p>
        </p:txBody>
      </p:sp>
      <p:sp>
        <p:nvSpPr>
          <p:cNvPr id="11" name="Panel Availability list"/>
          <p:cNvSpPr txBox="1"/>
          <p:nvPr/>
        </p:nvSpPr>
        <p:spPr>
          <a:xfrm>
            <a:off x="6965442" y="3575304"/>
            <a:ext cx="4555998" cy="1176528"/>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Every read and write here lists the global service, US Government L4 and L5</a:t>
            </a:r>
            <a:endParaRPr lang="en-US" sz="1450" dirty="0"/>
          </a:p>
          <a:p>
            <a:pPr marL="342900" indent="-342900">
              <a:spcAft>
                <a:spcPts val="400"/>
              </a:spcAft>
              <a:buSzPct val="100000"/>
              <a:buChar char="•"/>
            </a:pPr>
            <a:r>
              <a:rPr lang="en-US" sz="1450" dirty="0">
                <a:solidFill>
                  <a:srgbClr val="334155"/>
                </a:solidFill>
              </a:rPr>
              <a:t>Access reviews, PIM and Workload ID Premium are listed for Azure for US Government</a:t>
            </a:r>
            <a:endParaRPr lang="en-US" sz="14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appRoleAssignments; list oauth2PermissionGrants; Roles across Microsoft services; national cloud deployments; feature availability. Chapter 07,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2</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06EB1F77-7A37-5E15-59D9-2EC8A39219B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35BAD2A-0DB4-4BE6-9E28-C6C30BAF9BD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510"/>
    </mc:Choice>
    <mc:Fallback>
      <p:transition spd="slow" advTm="385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51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program's rules: review, justify, narrow, hand off</a:t>
            </a:r>
            <a:endParaRPr lang="en-US" sz="3000" dirty="0"/>
          </a:p>
        </p:txBody>
      </p:sp>
      <p:sp>
        <p:nvSpPr>
          <p:cNvPr id="3" name="Tag Why">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91C1C"/>
          </a:solidFill>
          <a:ln w="12700">
            <a:solidFill>
              <a:srgbClr val="B91C1C"/>
            </a:solidFill>
            <a:prstDash val="solid"/>
          </a:ln>
        </p:spPr>
      </p:sp>
      <p:sp>
        <p:nvSpPr>
          <p:cNvPr id="4" name="Tag Why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WHY</a:t>
            </a:r>
            <a:endParaRPr lang="en-US" sz="1100" dirty="0"/>
          </a:p>
        </p:txBody>
      </p:sp>
      <p:graphicFrame>
        <p:nvGraphicFramePr>
          <p:cNvPr id="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089148"/>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7818120">
                  <a:extLst>
                    <a:ext uri="{9D8B030D-6E8A-4147-A177-3AD203B41FA5}">
                      <a16:colId xmlns:a16="http://schemas.microsoft.com/office/drawing/2014/main" val="20001"/>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Rule (design guidance)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it means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3070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Owners review every grant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Quarterly (Book 02, Ch 09); the review closes with its findings acted on (Gate 4)</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No broad tenant-wide permission without a recorded justification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Avoid Directory.ReadWrite.All; Learn: choose the resource-specific permission. Exceptions in config/least-privilege.json name a justification, approver, approval and end date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 narrower replacement where Learn documents one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Sites.Selected and .SelectedOperations.Selected; RBAC for Applications in Exchange Online, whose grants are a union with Entra's, so the unscoped Entra grant must go</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Managed identities' Azure roles at the resource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 role at a subscription or management group reaches everything under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Privileged service principals are the Privileged Access plan's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Directory roles or protected permissions go to A3.4 (X-A34); Gate 4 waits for it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597908"/>
            <a:ext cx="11109960" cy="1019556"/>
          </a:xfrm>
          <a:prstGeom prst="roundRect">
            <a:avLst>
              <a:gd name="adj" fmla="val 7175"/>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7" name="Icon FaShieldHalved">
            <a:extLst>
              <a:ext uri="{C183D7F6-B498-43B3-948B-1728B52AA6E4}">
                <adec:decorative xmlns:adec="http://schemas.microsoft.com/office/drawing/2017/decorative" val="1"/>
              </a:ext>
            </a:extLst>
          </p:cNvPr>
          <p:cNvSpPr/>
          <p:nvPr/>
        </p:nvSpPr>
        <p:spPr>
          <a:xfrm>
            <a:off x="749808" y="4787646"/>
            <a:ext cx="640080" cy="640080"/>
          </a:xfrm>
          <a:prstGeom prst="ellipse">
            <a:avLst/>
          </a:prstGeom>
          <a:solidFill>
            <a:srgbClr val="B91C1C"/>
          </a:solidFill>
          <a:ln w="12700">
            <a:solidFill>
              <a:srgbClr val="B91C1C"/>
            </a:solidFill>
            <a:prstDash val="solid"/>
          </a:ln>
        </p:spPr>
      </p:sp>
      <p:pic>
        <p:nvPicPr>
          <p:cNvPr id="8"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41265"/>
            <a:ext cx="332842" cy="332842"/>
          </a:xfrm>
          <a:prstGeom prst="rect">
            <a:avLst/>
          </a:prstGeom>
        </p:spPr>
      </p:pic>
      <p:sp>
        <p:nvSpPr>
          <p:cNvPr id="9" name="Callout text"/>
          <p:cNvSpPr txBox="1"/>
          <p:nvPr/>
        </p:nvSpPr>
        <p:spPr>
          <a:xfrm>
            <a:off x="1600200" y="4652772"/>
            <a:ext cx="9875520" cy="909828"/>
          </a:xfrm>
          <a:prstGeom prst="rect">
            <a:avLst/>
          </a:prstGeom>
          <a:noFill/>
          <a:ln/>
        </p:spPr>
        <p:txBody>
          <a:bodyPr wrap="square" lIns="0" tIns="0" rIns="0" bIns="0" rtlCol="0" anchor="ctr"/>
          <a:lstStyle/>
          <a:p>
            <a:pPr marL="0" indent="0">
              <a:buNone/>
            </a:pPr>
            <a:r>
              <a:rPr lang="en-US" sz="1750" b="1" dirty="0">
                <a:solidFill>
                  <a:srgbClr val="B91C1C"/>
                </a:solidFill>
              </a:rPr>
              <a:t>Remove the grant, never the app: </a:t>
            </a:r>
            <a:r>
              <a:rPr lang="en-US" sz="1750" dirty="0">
                <a:solidFill>
                  <a:srgbClr val="334155"/>
                </a:solidFill>
              </a:rPr>
              <a:t>the writes remove one app role assignment, through the resource service principal as Learn recommends, or narrow one delegated grant. The app and its other grants stay.</a:t>
            </a:r>
            <a:endParaRPr lang="en-US" sz="175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permissions reference; Selected permissions; RBAC for Applications; Azure role scope; managed identity best practice; Delete appRoleAssignedTo. Chapter 07, “The rule.”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3</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DCDCCFE3-C206-707D-5DFB-AE2E41C9A016}"/>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C2096FF-1429-43D3-B281-FABA847B6E52}"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50"/>
    </mc:Choice>
    <mc:Fallback>
      <p:transition spd="slow" advTm="3765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4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Learn's review-and-revoke script, pinned and run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What Learn gives">
            <a:extLst>
              <a:ext uri="{C183D7F6-B498-43B3-948B-1728B52AA6E4}">
                <adec:decorative xmlns:adec="http://schemas.microsoft.com/office/drawing/2017/decorative" val="1"/>
              </a:ext>
            </a:extLst>
          </p:cNvPr>
          <p:cNvSpPr/>
          <p:nvPr/>
        </p:nvSpPr>
        <p:spPr>
          <a:xfrm>
            <a:off x="548640" y="1325880"/>
            <a:ext cx="5417820" cy="3176016"/>
          </a:xfrm>
          <a:prstGeom prst="roundRect">
            <a:avLst>
              <a:gd name="adj" fmla="val 23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What Learn give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WHAT LEARN GIVES</a:t>
            </a:r>
            <a:endParaRPr lang="en-US" sz="1100" dirty="0"/>
          </a:p>
        </p:txBody>
      </p:sp>
      <p:sp>
        <p:nvSpPr>
          <p:cNvPr id="7" name="Panel What Learn gives list"/>
          <p:cNvSpPr txBox="1"/>
          <p:nvPr/>
        </p:nvSpPr>
        <p:spPr>
          <a:xfrm>
            <a:off x="731520" y="1737360"/>
            <a:ext cx="5097780" cy="271881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Review permissions granted to enterprise applications: a Graph PowerShell script that finds one service principal, removes all its delegated grants, then all its application permissions</a:t>
            </a:r>
            <a:endParaRPr lang="en-US" sz="1550" dirty="0"/>
          </a:p>
          <a:p>
            <a:pPr marL="342900" indent="-342900">
              <a:spcAft>
                <a:spcPts val="400"/>
              </a:spcAft>
              <a:buSzPct val="100000"/>
              <a:buChar char="•"/>
            </a:pPr>
            <a:r>
              <a:rPr lang="en-US" sz="1550" dirty="0">
                <a:solidFill>
                  <a:srgbClr val="334155"/>
                </a:solidFill>
              </a:rPr>
              <a:t>Graph requests: GET …/oauth2PermissionGrants; DELETE /oAuth2PermissionGrants/{id}; GET …/appRoleAssignments; DELETE /servicePrincipals/{resource-id}/appRoleAssignedTo/{id}</a:t>
            </a:r>
            <a:endParaRPr lang="en-US" sz="1550" dirty="0"/>
          </a:p>
          <a:p>
            <a:pPr marL="342900" indent="-342900">
              <a:spcAft>
                <a:spcPts val="400"/>
              </a:spcAft>
              <a:buSzPct val="100000"/>
              <a:buChar char="•"/>
            </a:pPr>
            <a:r>
              <a:rPr lang="en-US" sz="1550" dirty="0">
                <a:solidFill>
                  <a:srgbClr val="334155"/>
                </a:solidFill>
              </a:rPr>
              <a:t>The Graph tutorial's grant and revoke requests, which Lab 2 uses to restore</a:t>
            </a:r>
            <a:endParaRPr lang="en-US" sz="1550" dirty="0"/>
          </a:p>
        </p:txBody>
      </p:sp>
      <p:sp>
        <p:nvSpPr>
          <p:cNvPr id="8" name="Panel The pinned copy and harness">
            <a:extLst>
              <a:ext uri="{C183D7F6-B498-43B3-948B-1728B52AA6E4}">
                <adec:decorative xmlns:adec="http://schemas.microsoft.com/office/drawing/2017/decorative" val="1"/>
              </a:ext>
            </a:extLst>
          </p:cNvPr>
          <p:cNvSpPr/>
          <p:nvPr/>
        </p:nvSpPr>
        <p:spPr>
          <a:xfrm>
            <a:off x="6240780" y="1325880"/>
            <a:ext cx="5417820" cy="3176016"/>
          </a:xfrm>
          <a:prstGeom prst="roundRect">
            <a:avLst>
              <a:gd name="adj" fmla="val 2303"/>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pinned copy and harnes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PINNED COPY AND HARNESS</a:t>
            </a:r>
            <a:endParaRPr lang="en-US" sz="1100" dirty="0"/>
          </a:p>
        </p:txBody>
      </p:sp>
      <p:sp>
        <p:nvSpPr>
          <p:cNvPr id="10" name="Panel The pinned copy and harness list"/>
          <p:cNvSpPr txBox="1"/>
          <p:nvPr/>
        </p:nvSpPr>
        <p:spPr>
          <a:xfrm>
            <a:off x="6423660" y="1737360"/>
            <a:ext cx="5097780" cy="2718816"/>
          </a:xfrm>
          <a:prstGeom prst="rect">
            <a:avLst/>
          </a:prstGeom>
          <a:noFill/>
          <a:ln/>
        </p:spPr>
        <p:txBody>
          <a:bodyPr wrap="square" lIns="0" tIns="0" rIns="0" bIns="0" rtlCol="0" anchor="t"/>
          <a:lstStyle/>
          <a:p>
            <a:pPr marL="342900" indent="-342900">
              <a:spcAft>
                <a:spcPts val="400"/>
              </a:spcAft>
              <a:buSzPct val="100000"/>
              <a:buChar char="•"/>
            </a:pPr>
            <a:r>
              <a:rPr lang="en-US" sz="1550" dirty="0">
                <a:solidFill>
                  <a:srgbClr val="334155"/>
                </a:solidFill>
              </a:rPr>
              <a:t>manage-application-permissions.md from MicrosoftDocs/entra-docs at 7f78b50 (Oct 30, 2026), MIT</a:t>
            </a:r>
            <a:endParaRPr lang="en-US" sz="1550" dirty="0"/>
          </a:p>
          <a:p>
            <a:pPr marL="342900" indent="-342900">
              <a:spcAft>
                <a:spcPts val="400"/>
              </a:spcAft>
              <a:buSzPct val="100000"/>
              <a:buChar char="•"/>
            </a:pPr>
            <a:r>
              <a:rPr lang="en-US" sz="1550" dirty="0">
                <a:solidFill>
                  <a:srgbClr val="334155"/>
                </a:solidFill>
              </a:rPr>
              <a:t>snapshot.json hashes, unit-tested; weekly source watch</a:t>
            </a:r>
            <a:endParaRPr lang="en-US" sz="1550" dirty="0"/>
          </a:p>
          <a:p>
            <a:pPr marL="342900" indent="-342900">
              <a:spcAft>
                <a:spcPts val="400"/>
              </a:spcAft>
              <a:buSzPct val="100000"/>
              <a:buChar char="•"/>
            </a:pPr>
            <a:r>
              <a:rPr lang="en-US" sz="1550" dirty="0">
                <a:solidFill>
                  <a:srgbClr val="334155"/>
                </a:solidFill>
              </a:rPr>
              <a:t>LeastPrivilegeSampleHarness.ps1 runs the script unmodified in its own runspace against stand-ins</a:t>
            </a:r>
            <a:endParaRPr lang="en-US" sz="1550" dirty="0"/>
          </a:p>
          <a:p>
            <a:pPr marL="342900" indent="-342900">
              <a:spcAft>
                <a:spcPts val="400"/>
              </a:spcAft>
              <a:buSzPct val="100000"/>
              <a:buChar char="•"/>
            </a:pPr>
            <a:r>
              <a:rPr lang="en-US" sz="1550" dirty="0">
                <a:solidFill>
                  <a:srgbClr val="334155"/>
                </a:solidFill>
              </a:rPr>
              <a:t>The removal stand-in follows Delete appRoleAssignedTo: the named service principal must be the resource, or 404</a:t>
            </a:r>
            <a:endParaRPr lang="en-US" sz="1550" dirty="0"/>
          </a:p>
        </p:txBody>
      </p:sp>
      <p:sp>
        <p:nvSpPr>
          <p:cNvPr id="11"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 permissions granted to enterprise applications; Grant or revoke API permissions; entra-docs at 7f78b50 (MIT). Chapter 07, “What Microsoft gives you.”</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4</a:t>
            </a:fld>
            <a:endParaRPr lang="en-US"/>
          </a:p>
        </p:txBody>
      </p:sp>
      <p:pic>
        <p:nvPicPr>
          <p:cNvPr id="12" name="Narration" descr="Narration for this slide; captions available">
            <a:hlinkClick r:id="" action="ppaction://media"/>
            <a:extLst>
              <a:ext uri="{FF2B5EF4-FFF2-40B4-BE49-F238E27FC236}">
                <a16:creationId xmlns:a16="http://schemas.microsoft.com/office/drawing/2014/main" id="{D57CCC99-2CBC-29E1-D56C-DC8DB77952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60F7188-C653-4212-9FFA-65E1E6AE4E22}"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710"/>
    </mc:Choice>
    <mc:Fallback>
      <p:transition spd="slow" advTm="3971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712"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script gets wrong: removals and targets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200400"/>
        </p:xfrm>
        <a:graphic>
          <a:graphicData uri="http://schemas.openxmlformats.org/drawingml/2006/table">
            <a:tbl>
              <a:tblPr firstRow="1" bandRow="1"/>
              <a:tblGrid>
                <a:gridCol w="384048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gridCol w="3611880">
                  <a:extLst>
                    <a:ext uri="{9D8B030D-6E8A-4147-A177-3AD203B41FA5}">
                      <a16:colId xmlns:a16="http://schemas.microsoft.com/office/drawing/2014/main" val="20002"/>
                    </a:ext>
                  </a:extLst>
                </a:gridCol>
              </a:tblGrid>
              <a:tr h="330708">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Learn's sample, as published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Why it matters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50" b="1" dirty="0">
                          <a:solidFill>
                            <a:srgbClr val="FFFFFF"/>
                          </a:solidFill>
                          <a:latin typeface="Calibri" pitchFamily="34" charset="0"/>
                          <a:ea typeface="Calibri" pitchFamily="34" charset="-122"/>
                          <a:cs typeface="Calibri" pitchFamily="34" charset="-120"/>
                        </a:rPr>
                        <a:t>What the example adds</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Lists with GET …/appRoleAssignments and …/oauth2PermissionGrants; removes through the resource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Kept as the model: the sweep's reads and the one removal</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Removes every delegated grant, tries every application permission; no keep list, no dry run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Mail Automation's one-person User.Read goes; its excepted Mail.Send is tried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Reviewed list, exceptions, owner decisions; plan, dry run, approved SHA-256, -Apply</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7266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Passes the app's own ID to Remove-MgServicePrincipalAppRoleAssignedTo; the reference names the resource</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All three removals answer 404; nothing is removed (row 61)</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Deletes through the resource service principal; any other target refused</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51688">
                <a:tc>
                  <a:txBody>
                    <a:bodyPr/>
                    <a:lstStyle/>
                    <a:p>
                      <a:pPr marL="0" indent="0">
                        <a:buNone/>
                      </a:pPr>
                      <a:r>
                        <a:rPr lang="en-US" sz="1450" b="1" dirty="0">
                          <a:solidFill>
                            <a:srgbClr val="1F2A44"/>
                          </a:solidFill>
                          <a:latin typeface="Calibri" pitchFamily="34" charset="0"/>
                          <a:ea typeface="Calibri" pitchFamily="34" charset="-122"/>
                          <a:cs typeface="Calibri" pitchFamily="34" charset="-120"/>
                        </a:rPr>
                        <a:t>A stray Example: Get-MgServicePrincipal … line inside the script</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Command not found, and the script carries on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50" dirty="0">
                          <a:solidFill>
                            <a:srgbClr val="334155"/>
                          </a:solidFill>
                          <a:latin typeface="Calibri" pitchFamily="34" charset="0"/>
                          <a:ea typeface="Calibri" pitchFamily="34" charset="-122"/>
                          <a:cs typeface="Calibri" pitchFamily="34" charset="-120"/>
                        </a:rPr>
                        <a:t>Nothing to copy: the example's code is its own</a:t>
                      </a:r>
                      <a:endParaRPr lang="en-US" sz="14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 permissions granted to enterprise applications; Delete appRoleAssignedTo. Chapter 07, “What it leaves to you,” rows 1–4; research gaps, row 61.</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5</a:t>
            </a:fld>
            <a:endParaRPr lang="en-US"/>
          </a:p>
        </p:txBody>
      </p:sp>
      <p:pic>
        <p:nvPicPr>
          <p:cNvPr id="7" name="Narration" descr="Narration for this slide; captions available">
            <a:hlinkClick r:id="" action="ppaction://media"/>
            <a:extLst>
              <a:ext uri="{FF2B5EF4-FFF2-40B4-BE49-F238E27FC236}">
                <a16:creationId xmlns:a16="http://schemas.microsoft.com/office/drawing/2014/main" id="{2B896124-A846-AE71-6D27-8FD58FC5177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8FABB6EA-0E71-4078-945A-C8A9C0AECF08}"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830"/>
    </mc:Choice>
    <mc:Fallback>
      <p:transition spd="slow" advTm="398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832"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What the script misses: reads, roles and hosts</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538728"/>
        </p:xfrm>
        <a:graphic>
          <a:graphicData uri="http://schemas.openxmlformats.org/drawingml/2006/table">
            <a:tbl>
              <a:tblPr firstRow="1" bandRow="1"/>
              <a:tblGrid>
                <a:gridCol w="36576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370332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Learn's sample, as published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Why it matters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the example adds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Reads every delegated grant in the tenant to find one app's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tenant-wide read for one row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One client's grants: GET /servicePrincipals/{id}/oauth2PermissionGrants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Signs in with Directory.ReadWrite.All and three other write permissions to review</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Write permissions for a read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Sweep: Application.Read.All, Directory.Read.All, RoleManagement.Read.Directory, Reader; writes a separate, delegated task</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Names Cloud Application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Delete appRoleAssignedTo names Privileged Role Administrator for Graph app roles (row 62)</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write path runs as a person with Privileged Role Administrator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Hard-codes graph.microsoft.com</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Wrong for GCC High and DoD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host from the cloud table, checked on every request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72694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No directory roles, no Azure role assignments; Exchange RBAC only as text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A directory-role app or a subscription Contributor passes unseen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Directory roles hand off to Privileged Access; Azure roles read at each listed scope, classed by scope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Lead"/>
          <p:cNvSpPr txBox="1"/>
          <p:nvPr/>
        </p:nvSpPr>
        <p:spPr>
          <a:xfrm>
            <a:off x="548640" y="5047488"/>
            <a:ext cx="11109960" cy="573024"/>
          </a:xfrm>
          <a:prstGeom prst="rect">
            <a:avLst/>
          </a:prstGeom>
          <a:noFill/>
          <a:ln/>
        </p:spPr>
        <p:txBody>
          <a:bodyPr wrap="square" lIns="0" tIns="0" rIns="0" bIns="0" rtlCol="0" anchor="t"/>
          <a:lstStyle/>
          <a:p>
            <a:pPr marL="0" indent="0">
              <a:buNone/>
            </a:pPr>
            <a:r>
              <a:rPr lang="en-US" sz="1700" b="1" dirty="0">
                <a:solidFill>
                  <a:srgbClr val="1F2A44"/>
                </a:solidFill>
              </a:rPr>
              <a:t>Verdict: Learn's requests are the model for the reads and the one removal. Don't run the script against a tenant.</a:t>
            </a:r>
            <a:endParaRPr lang="en-US" sz="1700" dirty="0"/>
          </a:p>
        </p:txBody>
      </p:sp>
      <p:sp>
        <p:nvSpPr>
          <p:cNvPr id="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Review permissions; Delete appRoleAssignedTo; national cloud deployments. Chapter 07, “What it leaves to you,” rows 5–9; research gaps, row 62.</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6</a:t>
            </a:fld>
            <a:endParaRPr lang="en-US"/>
          </a:p>
        </p:txBody>
      </p:sp>
      <p:pic>
        <p:nvPicPr>
          <p:cNvPr id="8" name="Narration" descr="Narration for this slide; captions available">
            <a:hlinkClick r:id="" action="ppaction://media"/>
            <a:extLst>
              <a:ext uri="{FF2B5EF4-FFF2-40B4-BE49-F238E27FC236}">
                <a16:creationId xmlns:a16="http://schemas.microsoft.com/office/drawing/2014/main" id="{2A0F9F5C-E9F6-CF8D-D3ED-CDD86E71ED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7F6FE81-A8B8-48E3-A183-C0A06E77891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570"/>
    </mc:Choice>
    <mc:Fallback>
      <p:transition spd="slow" advTm="395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568" fill="hold"/>
                                        <p:tgtEl>
                                          <p:spTgt spid="8"/>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code, its inputs and the sweep</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127248"/>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5715000">
                  <a:extLst>
                    <a:ext uri="{9D8B030D-6E8A-4147-A177-3AD203B41FA5}">
                      <a16:colId xmlns:a16="http://schemas.microsoft.com/office/drawing/2014/main" val="20002"/>
                    </a:ext>
                  </a:extLst>
                </a:gridCol>
              </a:tblGrid>
              <a:tr h="315468">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File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Who keeps it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50" b="1" dirty="0">
                          <a:solidFill>
                            <a:srgbClr val="FFFFFF"/>
                          </a:solidFill>
                          <a:latin typeface="Calibri" pitchFamily="34" charset="0"/>
                          <a:ea typeface="Calibri" pitchFamily="34" charset="-122"/>
                          <a:cs typeface="Calibri" pitchFamily="34" charset="-120"/>
                        </a:rPr>
                        <a:t>What it holds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1546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Chapter 01's run folder</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pipeline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register.json and manifest.json; a mismatched SHA-256 is refused</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3268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config/least-privilege.json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program, in reviewed changes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Broad application permissions by resource and class (Directory, Escalation, Mail, Sites); broad all-users delegated scopes; Learn's replacement per class; privileged Azure roles; directory role names</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permission-exceptions.csv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The CISO's office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IdentityId, Kind, ResourceAppId, Permission, Justification, Control, ApprovedBy, ApprovedOn, ExpiresOn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owner-decisions.csv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Owners, through identity governance</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Key, Decision (Keep, Remove, Narrow), NewScope, Replacement, DecidedBy, DecidedOn</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21208">
                <a:tc>
                  <a:txBody>
                    <a:bodyPr/>
                    <a:lstStyle/>
                    <a:p>
                      <a:pPr marL="0" indent="0">
                        <a:buNone/>
                      </a:pPr>
                      <a:r>
                        <a:rPr lang="en-US" sz="1350" b="1" dirty="0">
                          <a:solidFill>
                            <a:srgbClr val="1F2A44"/>
                          </a:solidFill>
                          <a:latin typeface="Calibri" pitchFamily="34" charset="0"/>
                          <a:ea typeface="Calibri" pitchFamily="34" charset="-122"/>
                          <a:cs typeface="Calibri" pitchFamily="34" charset="-120"/>
                        </a:rPr>
                        <a:t>azure-scopes.csv</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Identity engineering</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50" dirty="0">
                          <a:solidFill>
                            <a:srgbClr val="334155"/>
                          </a:solidFill>
                          <a:latin typeface="Calibri" pitchFamily="34" charset="0"/>
                          <a:ea typeface="Calibri" pitchFamily="34" charset="-122"/>
                          <a:cs typeface="Calibri" pitchFamily="34" charset="-120"/>
                        </a:rPr>
                        <a:t>Management groups and subscriptions to read managed identities' roles at</a:t>
                      </a:r>
                      <a:endParaRPr lang="en-US" sz="135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bl>
          </a:graphicData>
        </a:graphic>
      </p:graphicFrame>
      <p:sp>
        <p:nvSpPr>
          <p:cNvPr id="6" name="Callout">
            <a:extLst>
              <a:ext uri="{C183D7F6-B498-43B3-948B-1728B52AA6E4}">
                <adec:decorative xmlns:adec="http://schemas.microsoft.com/office/drawing/2017/decorative" val="1"/>
              </a:ext>
            </a:extLst>
          </p:cNvPr>
          <p:cNvSpPr/>
          <p:nvPr/>
        </p:nvSpPr>
        <p:spPr>
          <a:xfrm>
            <a:off x="548640" y="4636008"/>
            <a:ext cx="11109960" cy="996696"/>
          </a:xfrm>
          <a:prstGeom prst="roundRect">
            <a:avLst>
              <a:gd name="adj" fmla="val 7339"/>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7" name="Icon FaTableList">
            <a:extLst>
              <a:ext uri="{C183D7F6-B498-43B3-948B-1728B52AA6E4}">
                <adec:decorative xmlns:adec="http://schemas.microsoft.com/office/drawing/2017/decorative" val="1"/>
              </a:ext>
            </a:extLst>
          </p:cNvPr>
          <p:cNvSpPr/>
          <p:nvPr/>
        </p:nvSpPr>
        <p:spPr>
          <a:xfrm>
            <a:off x="749808" y="4814316"/>
            <a:ext cx="640080" cy="640080"/>
          </a:xfrm>
          <a:prstGeom prst="ellipse">
            <a:avLst/>
          </a:prstGeom>
          <a:solidFill>
            <a:srgbClr val="0F766E"/>
          </a:solidFill>
          <a:ln w="12700">
            <a:solidFill>
              <a:srgbClr val="0F766E"/>
            </a:solidFill>
            <a:prstDash val="solid"/>
          </a:ln>
        </p:spPr>
      </p:sp>
      <p:pic>
        <p:nvPicPr>
          <p:cNvPr id="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967935"/>
            <a:ext cx="332842" cy="332842"/>
          </a:xfrm>
          <a:prstGeom prst="rect">
            <a:avLst/>
          </a:prstGeom>
        </p:spPr>
      </p:pic>
      <p:sp>
        <p:nvSpPr>
          <p:cNvPr id="9" name="Callout text"/>
          <p:cNvSpPr txBox="1"/>
          <p:nvPr/>
        </p:nvSpPr>
        <p:spPr>
          <a:xfrm>
            <a:off x="1600200" y="4690872"/>
            <a:ext cx="9875520" cy="886968"/>
          </a:xfrm>
          <a:prstGeom prst="rect">
            <a:avLst/>
          </a:prstGeom>
          <a:noFill/>
          <a:ln/>
        </p:spPr>
        <p:txBody>
          <a:bodyPr wrap="square" lIns="0" tIns="0" rIns="0" bIns="0" rtlCol="0" anchor="ctr"/>
          <a:lstStyle/>
          <a:p>
            <a:pPr marL="0" indent="0">
              <a:buNone/>
            </a:pPr>
            <a:r>
              <a:rPr lang="en-US" sz="1700" b="1" dirty="0">
                <a:solidFill>
                  <a:srgbClr val="0F766E"/>
                </a:solidFill>
              </a:rPr>
              <a:t>Get-NpiLpSweep reads </a:t>
            </a:r>
            <a:r>
              <a:rPr lang="en-US" sz="1700" dirty="0">
                <a:solidFill>
                  <a:srgbClr val="334155"/>
                </a:solidFill>
              </a:rPr>
              <a:t>app role assignments on every resource, each resource read once for its appRoles; delegated grants; directory roles by principalId; managed identities' Azure roles with assignedTo() at each scope. Stable keys: app:, grant:, azure:.</a:t>
            </a:r>
            <a:endParaRPr lang="en-US" sz="1700" dirty="0"/>
          </a:p>
        </p:txBody>
      </p:sp>
      <p:sp>
        <p:nvSpPr>
          <p:cNvPr id="10"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appRoleAssignments; oauth2PermissionGrants; Get servicePrincipal; unifiedRoleAssignments; Azure role assignments and definitions (REST). Chapter 07, “The code.”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7</a:t>
            </a:fld>
            <a:endParaRPr lang="en-US"/>
          </a:p>
        </p:txBody>
      </p:sp>
      <p:pic>
        <p:nvPicPr>
          <p:cNvPr id="11" name="Narration" descr="Narration for this slide; captions available">
            <a:hlinkClick r:id="" action="ppaction://media"/>
            <a:extLst>
              <a:ext uri="{FF2B5EF4-FFF2-40B4-BE49-F238E27FC236}">
                <a16:creationId xmlns:a16="http://schemas.microsoft.com/office/drawing/2014/main" id="{86D34BB4-57A9-A6ED-B70A-CEDC15E7813C}"/>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A486CB4-54EB-46CD-9FBF-9EE0C497BE94}"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690"/>
    </mc:Choice>
    <mc:Fallback>
      <p:transition spd="slow" advTm="396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688" fill="hold"/>
                                        <p:tgtEl>
                                          <p:spTgt spid="11"/>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check: nine rules, NPI-LP-01 to NPI-LP-09</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11040"/>
        </p:xfrm>
        <a:graphic>
          <a:graphicData uri="http://schemas.openxmlformats.org/drawingml/2006/table">
            <a:tbl>
              <a:tblPr firstRow="1" bandRow="1"/>
              <a:tblGrid>
                <a:gridCol w="1188720">
                  <a:extLst>
                    <a:ext uri="{9D8B030D-6E8A-4147-A177-3AD203B41FA5}">
                      <a16:colId xmlns:a16="http://schemas.microsoft.com/office/drawing/2014/main" val="20000"/>
                    </a:ext>
                  </a:extLst>
                </a:gridCol>
                <a:gridCol w="1097280">
                  <a:extLst>
                    <a:ext uri="{9D8B030D-6E8A-4147-A177-3AD203B41FA5}">
                      <a16:colId xmlns:a16="http://schemas.microsoft.com/office/drawing/2014/main" val="20001"/>
                    </a:ext>
                  </a:extLst>
                </a:gridCol>
                <a:gridCol w="635508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Rule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Severity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it flags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Source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NPI-LP-01</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broad application permission with no recorded exception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Book 02; 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NPI-LP-02</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exception that ended, or names no justification, approver, approval date or end date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Gate 4 (design)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broad delegated scope consented for all users (AllPrincipals) with no exception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Design; Book 04, Ch 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mail permission still granted in Entra whose exception names RBAC for Applications: the scope has no effect</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Mail limited by an application access policy (legacy), or an exception with no mailbox control</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 Book 04 (row 63)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NPI-LP-06</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Finding</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managed identity's Azure role at subscription, management group or root, no exception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managed identity's Azure role at resource group scope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NPI-LP-08</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Info</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 privileged service principal handed to Privileged Access (A3.4)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Plan; Learn (row 64)</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Warn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An app role the resource doesn't publish, so the permission can't be named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Design guidance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permissions reference; RBAC for Applications; Application Access Policies (legacy); Azure role scope; managed identity best practice. Chapter 07, “The check.”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8</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B4C1BC1B-5936-FBAA-9D2C-D026B36EA355}"/>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EF1D4FF4-19D2-4519-8FAB-540C603C9653}"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60"/>
    </mc:Choice>
    <mc:Fallback>
      <p:transition spd="slow" advTm="3746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56"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hand-off and the quarterly owner review</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The escalation class">
            <a:extLst>
              <a:ext uri="{C183D7F6-B498-43B3-948B-1728B52AA6E4}">
                <adec:decorative xmlns:adec="http://schemas.microsoft.com/office/drawing/2017/decorative" val="1"/>
              </a:ext>
            </a:extLst>
          </p:cNvPr>
          <p:cNvSpPr/>
          <p:nvPr/>
        </p:nvSpPr>
        <p:spPr>
          <a:xfrm>
            <a:off x="548640" y="1325880"/>
            <a:ext cx="5417820" cy="2706624"/>
          </a:xfrm>
          <a:prstGeom prst="roundRect">
            <a:avLst>
              <a:gd name="adj" fmla="val 2703"/>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The escalation clas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THE ESCALATION CLASS</a:t>
            </a:r>
            <a:endParaRPr lang="en-US" sz="1100" dirty="0"/>
          </a:p>
        </p:txBody>
      </p:sp>
      <p:sp>
        <p:nvSpPr>
          <p:cNvPr id="7" name="Panel The escalation class list"/>
          <p:cNvSpPr txBox="1"/>
          <p:nvPr/>
        </p:nvSpPr>
        <p:spPr>
          <a:xfrm>
            <a:off x="73152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AppRoleAssignment.ReadWrite.All and RoleManagement.ReadWrite.Directory can grant authorization</a:t>
            </a:r>
            <a:endParaRPr lang="en-US" sz="1500" dirty="0"/>
          </a:p>
          <a:p>
            <a:pPr marL="342900" indent="-342900">
              <a:spcAft>
                <a:spcPts val="400"/>
              </a:spcAft>
              <a:buSzPct val="100000"/>
              <a:buChar char="•"/>
            </a:pPr>
            <a:r>
              <a:rPr lang="en-US" sz="1500" dirty="0">
                <a:solidFill>
                  <a:srgbClr val="334155"/>
                </a:solidFill>
              </a:rPr>
              <a:t>Application.ReadWrite.All lets an app act as other entities</a:t>
            </a:r>
            <a:endParaRPr lang="en-US" sz="1500" dirty="0"/>
          </a:p>
          <a:p>
            <a:pPr marL="342900" indent="-342900">
              <a:spcAft>
                <a:spcPts val="400"/>
              </a:spcAft>
              <a:buSzPct val="100000"/>
              <a:buChar char="•"/>
            </a:pPr>
            <a:r>
              <a:rPr lang="en-US" sz="1500" dirty="0">
                <a:solidFill>
                  <a:srgbClr val="334155"/>
                </a:solidFill>
              </a:rPr>
              <a:t>Only appropriate users should access apps granted DelegatedPermissionGrant.ReadWrite.All</a:t>
            </a:r>
            <a:endParaRPr lang="en-US" sz="1500" dirty="0"/>
          </a:p>
          <a:p>
            <a:pPr marL="342900" indent="-342900">
              <a:spcAft>
                <a:spcPts val="400"/>
              </a:spcAft>
              <a:buSzPct val="100000"/>
              <a:buChar char="•"/>
            </a:pPr>
            <a:r>
              <a:rPr lang="en-US" sz="1500" dirty="0">
                <a:solidFill>
                  <a:srgbClr val="334155"/>
                </a:solidFill>
              </a:rPr>
              <a:t>A holder is handed off whole in pa-handoff.json, every grant listed, and gets no NPI-LP-01 here</a:t>
            </a:r>
            <a:endParaRPr lang="en-US" sz="1500" dirty="0"/>
          </a:p>
        </p:txBody>
      </p:sp>
      <p:sp>
        <p:nvSpPr>
          <p:cNvPr id="8" name="Panel The owner review">
            <a:extLst>
              <a:ext uri="{C183D7F6-B498-43B3-948B-1728B52AA6E4}">
                <adec:decorative xmlns:adec="http://schemas.microsoft.com/office/drawing/2017/decorative" val="1"/>
              </a:ext>
            </a:extLst>
          </p:cNvPr>
          <p:cNvSpPr/>
          <p:nvPr/>
        </p:nvSpPr>
        <p:spPr>
          <a:xfrm>
            <a:off x="6240780" y="1325880"/>
            <a:ext cx="5417820" cy="2706624"/>
          </a:xfrm>
          <a:prstGeom prst="roundRect">
            <a:avLst>
              <a:gd name="adj" fmla="val 2703"/>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9" name="Panel The owner review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OWNER REVIEW</a:t>
            </a:r>
            <a:endParaRPr lang="en-US" sz="1100" dirty="0"/>
          </a:p>
        </p:txBody>
      </p:sp>
      <p:sp>
        <p:nvSpPr>
          <p:cNvPr id="10" name="Panel The owner review list"/>
          <p:cNvSpPr txBox="1"/>
          <p:nvPr/>
        </p:nvSpPr>
        <p:spPr>
          <a:xfrm>
            <a:off x="6423660" y="1737360"/>
            <a:ext cx="5097780" cy="22494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owner-review.csv: one row per grant of every kept service principal, with owners, broad, exception, proposal and this quarter's decision</a:t>
            </a:r>
            <a:endParaRPr lang="en-US" sz="1500" dirty="0"/>
          </a:p>
          <a:p>
            <a:pPr marL="342900" indent="-342900">
              <a:spcAft>
                <a:spcPts val="400"/>
              </a:spcAft>
              <a:buSzPct val="100000"/>
              <a:buChar char="•"/>
            </a:pPr>
            <a:r>
              <a:rPr lang="en-US" sz="1500" dirty="0">
                <a:solidFill>
                  <a:srgbClr val="334155"/>
                </a:solidFill>
              </a:rPr>
              <a:t>An earlier quarter's answer shows as LastDecision and doesn't count</a:t>
            </a:r>
            <a:endParaRPr lang="en-US" sz="1500" dirty="0"/>
          </a:p>
          <a:p>
            <a:pPr marL="342900" indent="-342900">
              <a:spcAft>
                <a:spcPts val="400"/>
              </a:spcAft>
              <a:buSzPct val="100000"/>
              <a:buChar char="•"/>
            </a:pPr>
            <a:r>
              <a:rPr lang="en-US" sz="1500" dirty="0">
                <a:solidFill>
                  <a:srgbClr val="334155"/>
                </a:solidFill>
              </a:rPr>
              <a:t>review-status.json: closed when every row is decided this quarter and no Remove or Narrow is still granted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215384"/>
            <a:ext cx="11109960" cy="1286256"/>
          </a:xfrm>
          <a:prstGeom prst="roundRect">
            <a:avLst>
              <a:gd name="adj" fmla="val 5687"/>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UserCheck">
            <a:extLst>
              <a:ext uri="{C183D7F6-B498-43B3-948B-1728B52AA6E4}">
                <adec:decorative xmlns:adec="http://schemas.microsoft.com/office/drawing/2017/decorative" val="1"/>
              </a:ext>
            </a:extLst>
          </p:cNvPr>
          <p:cNvSpPr/>
          <p:nvPr/>
        </p:nvSpPr>
        <p:spPr>
          <a:xfrm>
            <a:off x="749808" y="4538472"/>
            <a:ext cx="640080" cy="640080"/>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4692091"/>
            <a:ext cx="332842" cy="332842"/>
          </a:xfrm>
          <a:prstGeom prst="rect">
            <a:avLst/>
          </a:prstGeom>
        </p:spPr>
      </p:pic>
      <p:sp>
        <p:nvSpPr>
          <p:cNvPr id="14" name="Callout text"/>
          <p:cNvSpPr txBox="1"/>
          <p:nvPr/>
        </p:nvSpPr>
        <p:spPr>
          <a:xfrm>
            <a:off x="1600200" y="4270248"/>
            <a:ext cx="9875520" cy="1176528"/>
          </a:xfrm>
          <a:prstGeom prst="rect">
            <a:avLst/>
          </a:prstGeom>
          <a:noFill/>
          <a:ln/>
        </p:spPr>
        <p:txBody>
          <a:bodyPr wrap="square" lIns="0" tIns="0" rIns="0" bIns="0" rtlCol="0" anchor="ctr"/>
          <a:lstStyle/>
          <a:p>
            <a:pPr marL="0" indent="0">
              <a:buNone/>
            </a:pPr>
            <a:r>
              <a:rPr lang="en-US" sz="1750" b="1" dirty="0">
                <a:solidFill>
                  <a:srgbClr val="B45309"/>
                </a:solidFill>
              </a:rPr>
              <a:t>Access reviews of privileged service principals: </a:t>
            </a:r>
            <a:r>
              <a:rPr lang="en-US" sz="1750" dirty="0">
                <a:solidFill>
                  <a:srgbClr val="334155"/>
                </a:solidFill>
              </a:rPr>
              <a:t>Learn's PIM reviews; Workload ID Premium plus Entra ID P2 or ID Governance; managed identities included; no free trial in Azure Government. Securing service principals says preview, so the chapter treats them as preview. Built in Building Privileged Access, Ch 07; licence is D-N4 (row 66).</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permissions reference; Grant or revoke permissions; PIM access reviews; Workload ID FAQ; Securing service principals. Chapter 07, “The quarterly owner review.”</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9</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E5EF09E1-25B6-D5F9-B487-63AAF0F04E53}"/>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9A03BA5-0AE7-4811-A3C4-83251E56C4B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380"/>
    </mc:Choice>
    <mc:Fallback>
      <p:transition spd="slow" advTm="393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37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plan: one action per broad grant or decision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761232"/>
        </p:xfrm>
        <a:graphic>
          <a:graphicData uri="http://schemas.openxmlformats.org/drawingml/2006/table">
            <a:tbl>
              <a:tblPr firstRow="1" bandRow="1"/>
              <a:tblGrid>
                <a:gridCol w="2651760">
                  <a:extLst>
                    <a:ext uri="{9D8B030D-6E8A-4147-A177-3AD203B41FA5}">
                      <a16:colId xmlns:a16="http://schemas.microsoft.com/office/drawing/2014/main" val="20000"/>
                    </a:ext>
                  </a:extLst>
                </a:gridCol>
                <a:gridCol w="717804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Action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When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Writes?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RemoveAppRole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Owner decided Remove on an application permission; any named replacement already granted: DELETE /servicePrincipals/{resourceId}/appRoleAssignedTo/{id}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NarrowGrant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Owner decided Narrow on a delegated grant, to a smaller, non-empty subset: PATCH /oauth2PermissionGrants/{id} with {"scope": "..."}</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After review</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AwaitReplacement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Remove names a replacement (such as Sites.Selected) not yet granted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AwaitOwnerDecision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broad grant with no decision this quarter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0784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Kept, KeepNeedsException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Kept under a current exception, or kept without one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RescopeByOwner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Remove on an Azure role: re-scope it in the subscription's reviewed infrastructure code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RevokeByOwner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Remove on a delegated grant, or Narrow to nothing: a reviewed change, not this code's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DecisionRefused, HandedOff</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Narrow on an app permission, an ungranted scope, an unknown decision; a privileged service principal (A3.4)</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Lead"/>
          <p:cNvSpPr txBox="1"/>
          <p:nvPr/>
        </p:nvSpPr>
        <p:spPr>
          <a:xfrm>
            <a:off x="548640" y="5269992"/>
            <a:ext cx="11109960" cy="573024"/>
          </a:xfrm>
          <a:prstGeom prst="rect">
            <a:avLst/>
          </a:prstGeom>
          <a:noFill/>
          <a:ln/>
        </p:spPr>
        <p:txBody>
          <a:bodyPr wrap="square" lIns="0" tIns="0" rIns="0" bIns="0" rtlCol="0" anchor="t"/>
          <a:lstStyle/>
          <a:p>
            <a:pPr marL="0" indent="0">
              <a:buNone/>
            </a:pPr>
            <a:r>
              <a:rPr lang="en-US" sz="1700" b="1" dirty="0">
                <a:solidFill>
                  <a:srgbClr val="1F2A44"/>
                </a:solidFill>
              </a:rPr>
              <a:t>lp-plan.json: the register's SHA-256, tenant, cloud, quarter and date. Same inputs, same bytes: a reviewer approves a hash.</a:t>
            </a:r>
            <a:endParaRPr lang="en-US" sz="1700" dirty="0"/>
          </a:p>
        </p:txBody>
      </p:sp>
      <p:sp>
        <p:nvSpPr>
          <p:cNvPr id="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Delete appRoleAssignedTo; Update a delegated permission grant. Chapter 07, “The plan.”</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10</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82CEC10D-9A67-E804-E787-3C5AAB3E3C2A}"/>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17CC0B19-D43E-48D4-B13C-C2B6A572CFFB}"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40890"/>
    </mc:Choice>
    <mc:Fallback>
      <p:transition spd="slow" advTm="408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6888"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The separate write path, and why it's a person</a:t>
            </a:r>
            <a:endParaRPr lang="en-US" sz="3000" dirty="0"/>
          </a:p>
        </p:txBody>
      </p:sp>
      <p:sp>
        <p:nvSpPr>
          <p:cNvPr id="3" name="Tag What">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1F2A44"/>
          </a:solidFill>
          <a:ln w="12700">
            <a:solidFill>
              <a:srgbClr val="1F2A44"/>
            </a:solidFill>
            <a:prstDash val="solid"/>
          </a:ln>
        </p:spPr>
      </p:sp>
      <p:sp>
        <p:nvSpPr>
          <p:cNvPr id="4" name="Tag What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WHAT</a:t>
            </a:r>
            <a:endParaRPr lang="en-US" sz="1100" dirty="0"/>
          </a:p>
        </p:txBody>
      </p:sp>
      <p:sp>
        <p:nvSpPr>
          <p:cNvPr id="5" name="Panel It refuses to run unless">
            <a:extLst>
              <a:ext uri="{C183D7F6-B498-43B3-948B-1728B52AA6E4}">
                <adec:decorative xmlns:adec="http://schemas.microsoft.com/office/drawing/2017/decorative" val="1"/>
              </a:ext>
            </a:extLst>
          </p:cNvPr>
          <p:cNvSpPr/>
          <p:nvPr/>
        </p:nvSpPr>
        <p:spPr>
          <a:xfrm>
            <a:off x="548640" y="1325880"/>
            <a:ext cx="5417820" cy="3372612"/>
          </a:xfrm>
          <a:prstGeom prst="roundRect">
            <a:avLst>
              <a:gd name="adj" fmla="val 2169"/>
            </a:avLst>
          </a:prstGeom>
          <a:solidFill>
            <a:srgbClr val="FBE4E4"/>
          </a:solidFill>
          <a:ln w="12700">
            <a:solidFill>
              <a:srgbClr val="B91C1C"/>
            </a:solidFill>
            <a:prstDash val="solid"/>
          </a:ln>
          <a:effectLst>
            <a:outerShdw blurRad="76200" dist="25400" dir="5400000" algn="bl" rotWithShape="0">
              <a:srgbClr val="64748B">
                <a:alpha val="22000"/>
              </a:srgbClr>
            </a:outerShdw>
          </a:effectLst>
        </p:spPr>
      </p:sp>
      <p:sp>
        <p:nvSpPr>
          <p:cNvPr id="6" name="Panel It refuses to run unless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B91C1C"/>
                </a:solidFill>
              </a:rPr>
              <a:t>IT REFUSES TO RUN UNLESS</a:t>
            </a:r>
            <a:endParaRPr lang="en-US" sz="1100" dirty="0"/>
          </a:p>
        </p:txBody>
      </p:sp>
      <p:sp>
        <p:nvSpPr>
          <p:cNvPr id="7" name="Panel It refuses to run unless list"/>
          <p:cNvSpPr txBox="1"/>
          <p:nvPr/>
        </p:nvSpPr>
        <p:spPr>
          <a:xfrm>
            <a:off x="73152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The plan's SHA-256 is the one passed as -ApprovedSha256</a:t>
            </a:r>
            <a:endParaRPr lang="en-US" sz="1450" dirty="0"/>
          </a:p>
          <a:p>
            <a:pPr marL="342900" indent="-342900">
              <a:spcAft>
                <a:spcPts val="400"/>
              </a:spcAft>
              <a:buSzPct val="100000"/>
              <a:buChar char="•"/>
            </a:pPr>
            <a:r>
              <a:rPr lang="en-US" sz="1450" dirty="0">
                <a:solidFill>
                  <a:srgbClr val="334155"/>
                </a:solidFill>
              </a:rPr>
              <a:t>This tenant and this cloud; no more than seven days old (design guidance)</a:t>
            </a:r>
            <a:endParaRPr lang="en-US" sz="1450" dirty="0"/>
          </a:p>
          <a:p>
            <a:pPr marL="342900" indent="-342900">
              <a:spcAft>
                <a:spcPts val="400"/>
              </a:spcAft>
              <a:buSzPct val="100000"/>
              <a:buChar char="•"/>
            </a:pPr>
            <a:r>
              <a:rPr lang="en-US" sz="1450" dirty="0">
                <a:solidFill>
                  <a:srgbClr val="334155"/>
                </a:solidFill>
              </a:rPr>
              <a:t>The only DELETE: an app role assignment through the resource the plan read; never a service principal or an application</a:t>
            </a:r>
            <a:endParaRPr lang="en-US" sz="1450" dirty="0"/>
          </a:p>
          <a:p>
            <a:pPr marL="342900" indent="-342900">
              <a:spcAft>
                <a:spcPts val="400"/>
              </a:spcAft>
              <a:buSzPct val="100000"/>
              <a:buChar char="•"/>
            </a:pPr>
            <a:r>
              <a:rPr lang="en-US" sz="1450" dirty="0">
                <a:solidFill>
                  <a:srgbClr val="334155"/>
                </a:solidFill>
              </a:rPr>
              <a:t>The only PATCH body: {"scope": …}, a smaller subset of the scopes read</a:t>
            </a:r>
            <a:endParaRPr lang="en-US" sz="1450" dirty="0"/>
          </a:p>
          <a:p>
            <a:pPr marL="342900" indent="-342900">
              <a:spcAft>
                <a:spcPts val="400"/>
              </a:spcAft>
              <a:buSzPct val="100000"/>
              <a:buChar char="•"/>
            </a:pPr>
            <a:r>
              <a:rPr lang="en-US" sz="1450" dirty="0">
                <a:solidFill>
                  <a:srgbClr val="334155"/>
                </a:solidFill>
              </a:rPr>
              <a:t>Delegated: a person with Privileged Role Administrator, never an unattended app</a:t>
            </a:r>
            <a:endParaRPr lang="en-US" sz="1450" dirty="0"/>
          </a:p>
        </p:txBody>
      </p:sp>
      <p:sp>
        <p:nvSpPr>
          <p:cNvPr id="8" name="Panel Prechecks">
            <a:extLst>
              <a:ext uri="{C183D7F6-B498-43B3-948B-1728B52AA6E4}">
                <adec:decorative xmlns:adec="http://schemas.microsoft.com/office/drawing/2017/decorative" val="1"/>
              </a:ext>
            </a:extLst>
          </p:cNvPr>
          <p:cNvSpPr/>
          <p:nvPr/>
        </p:nvSpPr>
        <p:spPr>
          <a:xfrm>
            <a:off x="6240780" y="1325880"/>
            <a:ext cx="5417820" cy="3372612"/>
          </a:xfrm>
          <a:prstGeom prst="roundRect">
            <a:avLst>
              <a:gd name="adj" fmla="val 2169"/>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Precheck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PRECHECKS</a:t>
            </a:r>
            <a:endParaRPr lang="en-US" sz="1100" dirty="0"/>
          </a:p>
        </p:txBody>
      </p:sp>
      <p:sp>
        <p:nvSpPr>
          <p:cNvPr id="10" name="Panel Prechecks list"/>
          <p:cNvSpPr txBox="1"/>
          <p:nvPr/>
        </p:nvSpPr>
        <p:spPr>
          <a:xfrm>
            <a:off x="6423660" y="1737360"/>
            <a:ext cx="5097780" cy="2915412"/>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Re-reads the client's assignments or grants; skips if gone or changed, a replacement no longer granted, or the scope changed</a:t>
            </a:r>
            <a:endParaRPr lang="en-US" sz="1450" dirty="0"/>
          </a:p>
          <a:p>
            <a:pPr marL="342900" indent="-342900">
              <a:spcAft>
                <a:spcPts val="400"/>
              </a:spcAft>
              <a:buSzPct val="100000"/>
              <a:buChar char="•"/>
            </a:pPr>
            <a:r>
              <a:rPr lang="en-US" sz="1450" dirty="0">
                <a:solidFill>
                  <a:srgbClr val="334155"/>
                </a:solidFill>
              </a:rPr>
              <a:t>Without -Apply: WouldSend; with -Apply: sends and records every request</a:t>
            </a:r>
            <a:endParaRPr lang="en-US" sz="1450" dirty="0"/>
          </a:p>
          <a:p>
            <a:pPr marL="342900" indent="-342900">
              <a:spcAft>
                <a:spcPts val="400"/>
              </a:spcAft>
              <a:buSzPct val="100000"/>
              <a:buChar char="•"/>
            </a:pPr>
            <a:r>
              <a:rPr lang="en-US" sz="1450" dirty="0">
                <a:solidFill>
                  <a:srgbClr val="334155"/>
                </a:solidFill>
              </a:rPr>
              <a:t>Replication delay: the next sweep may still show a removal for a while</a:t>
            </a:r>
            <a:endParaRPr lang="en-US" sz="1450" dirty="0"/>
          </a:p>
        </p:txBody>
      </p:sp>
      <p:sp>
        <p:nvSpPr>
          <p:cNvPr id="11" name="Callout">
            <a:extLst>
              <a:ext uri="{C183D7F6-B498-43B3-948B-1728B52AA6E4}">
                <adec:decorative xmlns:adec="http://schemas.microsoft.com/office/drawing/2017/decorative" val="1"/>
              </a:ext>
            </a:extLst>
          </p:cNvPr>
          <p:cNvSpPr/>
          <p:nvPr/>
        </p:nvSpPr>
        <p:spPr>
          <a:xfrm>
            <a:off x="548640" y="4881372"/>
            <a:ext cx="11109960" cy="996696"/>
          </a:xfrm>
          <a:prstGeom prst="roundRect">
            <a:avLst>
              <a:gd name="adj" fmla="val 7339"/>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12" name="Icon FaUserShield">
            <a:extLst>
              <a:ext uri="{C183D7F6-B498-43B3-948B-1728B52AA6E4}">
                <adec:decorative xmlns:adec="http://schemas.microsoft.com/office/drawing/2017/decorative" val="1"/>
              </a:ext>
            </a:extLst>
          </p:cNvPr>
          <p:cNvSpPr/>
          <p:nvPr/>
        </p:nvSpPr>
        <p:spPr>
          <a:xfrm>
            <a:off x="749808" y="5059680"/>
            <a:ext cx="640080" cy="640080"/>
          </a:xfrm>
          <a:prstGeom prst="ellipse">
            <a:avLst/>
          </a:prstGeom>
          <a:solidFill>
            <a:srgbClr val="1F2A44"/>
          </a:solidFill>
          <a:ln w="12700">
            <a:solidFill>
              <a:srgbClr val="1F2A44"/>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213299"/>
            <a:ext cx="332842" cy="332842"/>
          </a:xfrm>
          <a:prstGeom prst="rect">
            <a:avLst/>
          </a:prstGeom>
        </p:spPr>
      </p:pic>
      <p:sp>
        <p:nvSpPr>
          <p:cNvPr id="14" name="Callout text"/>
          <p:cNvSpPr txBox="1"/>
          <p:nvPr/>
        </p:nvSpPr>
        <p:spPr>
          <a:xfrm>
            <a:off x="1600200" y="4936236"/>
            <a:ext cx="9875520" cy="886968"/>
          </a:xfrm>
          <a:prstGeom prst="rect">
            <a:avLst/>
          </a:prstGeom>
          <a:noFill/>
          <a:ln/>
        </p:spPr>
        <p:txBody>
          <a:bodyPr wrap="square" lIns="0" tIns="0" rIns="0" bIns="0" rtlCol="0" anchor="ctr"/>
          <a:lstStyle/>
          <a:p>
            <a:pPr marL="0" indent="0">
              <a:buNone/>
            </a:pPr>
            <a:r>
              <a:rPr lang="en-US" sz="1700" b="1" dirty="0">
                <a:solidFill>
                  <a:srgbClr val="1F2A44"/>
                </a:solidFill>
              </a:rPr>
              <a:t>Why a person: </a:t>
            </a:r>
            <a:r>
              <a:rPr lang="en-US" sz="1700" dirty="0">
                <a:solidFill>
                  <a:srgbClr val="334155"/>
                </a:solidFill>
              </a:rPr>
              <a:t>AppRoleAssignment.ReadWrite.All and DelegatedPermissionGrant.ReadWrite.All can themselves grant authorization, so they're a person's delegated session, not an app's standing permission.</a:t>
            </a:r>
            <a:endParaRPr lang="en-US" sz="170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appRoleAssignments (replication); permissions reference; Grant or revoke API permissions. Chapter 07, “The separate write path.”</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11</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AA5E4C32-86C9-55E7-84A6-4008693B53C1}"/>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4E312C5-D47C-433E-A69D-09D73FD1E5A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420"/>
    </mc:Choice>
    <mc:Fallback>
      <p:transition spd="slow" advTm="354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4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Who answers the review, and what each task may hold</a:t>
            </a:r>
            <a:endParaRPr lang="en-US" sz="3000" dirty="0"/>
          </a:p>
        </p:txBody>
      </p:sp>
      <p:sp>
        <p:nvSpPr>
          <p:cNvPr id="3" name="Tag Who">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0F766E"/>
          </a:solidFill>
          <a:ln w="12700">
            <a:solidFill>
              <a:srgbClr val="0F766E"/>
            </a:solidFill>
            <a:prstDash val="solid"/>
          </a:ln>
        </p:spPr>
      </p:sp>
      <p:sp>
        <p:nvSpPr>
          <p:cNvPr id="4" name="Tag Who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WHO</a:t>
            </a:r>
            <a:endParaRPr lang="en-US" sz="1100" dirty="0"/>
          </a:p>
        </p:txBody>
      </p:sp>
      <p:sp>
        <p:nvSpPr>
          <p:cNvPr id="5" name="Card 1">
            <a:extLst>
              <a:ext uri="{C183D7F6-B498-43B3-948B-1728B52AA6E4}">
                <adec:decorative xmlns:adec="http://schemas.microsoft.com/office/drawing/2017/decorative" val="1"/>
              </a:ext>
            </a:extLst>
          </p:cNvPr>
          <p:cNvSpPr/>
          <p:nvPr/>
        </p:nvSpPr>
        <p:spPr>
          <a:xfrm>
            <a:off x="548640" y="1325880"/>
            <a:ext cx="2606040" cy="1615440"/>
          </a:xfrm>
          <a:prstGeom prst="roundRect">
            <a:avLst>
              <a:gd name="adj" fmla="val 4528"/>
            </a:avLst>
          </a:prstGeom>
          <a:solidFill>
            <a:srgbClr val="FFFFFF"/>
          </a:solidFill>
          <a:ln w="12700">
            <a:solidFill>
              <a:srgbClr val="1F2A44"/>
            </a:solidFill>
            <a:prstDash val="solid"/>
          </a:ln>
          <a:effectLst>
            <a:outerShdw blurRad="76200" dist="25400" dir="5400000" algn="bl" rotWithShape="0">
              <a:srgbClr val="64748B">
                <a:alpha val="22000"/>
              </a:srgbClr>
            </a:outerShdw>
          </a:effectLst>
        </p:spPr>
      </p:sp>
      <p:sp>
        <p:nvSpPr>
          <p:cNvPr id="6" name="Card 1 bar">
            <a:extLst>
              <a:ext uri="{C183D7F6-B498-43B3-948B-1728B52AA6E4}">
                <adec:decorative xmlns:adec="http://schemas.microsoft.com/office/drawing/2017/decorative" val="1"/>
              </a:ext>
            </a:extLst>
          </p:cNvPr>
          <p:cNvSpPr/>
          <p:nvPr/>
        </p:nvSpPr>
        <p:spPr>
          <a:xfrm>
            <a:off x="548640" y="1325880"/>
            <a:ext cx="82296" cy="1615440"/>
          </a:xfrm>
          <a:prstGeom prst="rect">
            <a:avLst/>
          </a:prstGeom>
          <a:solidFill>
            <a:srgbClr val="1F2A44"/>
          </a:solidFill>
          <a:ln w="12700">
            <a:solidFill>
              <a:srgbClr val="1F2A44"/>
            </a:solidFill>
            <a:prstDash val="solid"/>
          </a:ln>
        </p:spPr>
      </p:sp>
      <p:sp>
        <p:nvSpPr>
          <p:cNvPr id="7" name="Card 1 text"/>
          <p:cNvSpPr txBox="1"/>
          <p:nvPr/>
        </p:nvSpPr>
        <p:spPr>
          <a:xfrm>
            <a:off x="77724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1F2A44"/>
                </a:solidFill>
                <a:latin typeface="Cambria" pitchFamily="34" charset="0"/>
                <a:ea typeface="Cambria" pitchFamily="34" charset="-122"/>
                <a:cs typeface="Cambria" pitchFamily="34" charset="-120"/>
              </a:rPr>
              <a:t>Developers</a:t>
            </a:r>
            <a:endParaRPr lang="en-US" sz="1400" dirty="0"/>
          </a:p>
          <a:p>
            <a:pPr marL="0" indent="0">
              <a:spcAft>
                <a:spcPts val="300"/>
              </a:spcAft>
              <a:buNone/>
            </a:pPr>
            <a:r>
              <a:rPr lang="en-US" sz="1500" dirty="0">
                <a:solidFill>
                  <a:srgbClr val="334155"/>
                </a:solidFill>
              </a:rPr>
              <a:t>Build the permission tooling; know Chapter 01's register and Chapter 02's ownership check</a:t>
            </a:r>
            <a:endParaRPr lang="en-US" sz="1400" dirty="0"/>
          </a:p>
        </p:txBody>
      </p:sp>
      <p:sp>
        <p:nvSpPr>
          <p:cNvPr id="8" name="Card 2">
            <a:extLst>
              <a:ext uri="{C183D7F6-B498-43B3-948B-1728B52AA6E4}">
                <adec:decorative xmlns:adec="http://schemas.microsoft.com/office/drawing/2017/decorative" val="1"/>
              </a:ext>
            </a:extLst>
          </p:cNvPr>
          <p:cNvSpPr/>
          <p:nvPr/>
        </p:nvSpPr>
        <p:spPr>
          <a:xfrm>
            <a:off x="3383280" y="1325880"/>
            <a:ext cx="2606040" cy="1615440"/>
          </a:xfrm>
          <a:prstGeom prst="roundRect">
            <a:avLst>
              <a:gd name="adj" fmla="val 4528"/>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Card 2 bar">
            <a:extLst>
              <a:ext uri="{C183D7F6-B498-43B3-948B-1728B52AA6E4}">
                <adec:decorative xmlns:adec="http://schemas.microsoft.com/office/drawing/2017/decorative" val="1"/>
              </a:ext>
            </a:extLst>
          </p:cNvPr>
          <p:cNvSpPr/>
          <p:nvPr/>
        </p:nvSpPr>
        <p:spPr>
          <a:xfrm>
            <a:off x="3383280" y="1325880"/>
            <a:ext cx="82296" cy="1615440"/>
          </a:xfrm>
          <a:prstGeom prst="rect">
            <a:avLst/>
          </a:prstGeom>
          <a:solidFill>
            <a:srgbClr val="0F766E"/>
          </a:solidFill>
          <a:ln w="12700">
            <a:solidFill>
              <a:srgbClr val="0F766E"/>
            </a:solidFill>
            <a:prstDash val="solid"/>
          </a:ln>
        </p:spPr>
      </p:sp>
      <p:sp>
        <p:nvSpPr>
          <p:cNvPr id="10" name="Card 2 text"/>
          <p:cNvSpPr txBox="1"/>
          <p:nvPr/>
        </p:nvSpPr>
        <p:spPr>
          <a:xfrm>
            <a:off x="361188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0F766E"/>
                </a:solidFill>
                <a:latin typeface="Cambria" pitchFamily="34" charset="0"/>
                <a:ea typeface="Cambria" pitchFamily="34" charset="-122"/>
                <a:cs typeface="Cambria" pitchFamily="34" charset="-120"/>
              </a:rPr>
              <a:t>Application owners</a:t>
            </a:r>
            <a:endParaRPr lang="en-US" sz="1400" dirty="0"/>
          </a:p>
          <a:p>
            <a:pPr marL="0" indent="0">
              <a:spcAft>
                <a:spcPts val="300"/>
              </a:spcAft>
              <a:buNone/>
            </a:pPr>
            <a:r>
              <a:rPr lang="en-US" sz="1500" dirty="0">
                <a:solidFill>
                  <a:srgbClr val="334155"/>
                </a:solidFill>
              </a:rPr>
              <a:t>Answer the quarterly review</a:t>
            </a:r>
            <a:endParaRPr lang="en-US" sz="1400" dirty="0"/>
          </a:p>
        </p:txBody>
      </p:sp>
      <p:sp>
        <p:nvSpPr>
          <p:cNvPr id="11" name="Card 3">
            <a:extLst>
              <a:ext uri="{C183D7F6-B498-43B3-948B-1728B52AA6E4}">
                <adec:decorative xmlns:adec="http://schemas.microsoft.com/office/drawing/2017/decorative" val="1"/>
              </a:ext>
            </a:extLst>
          </p:cNvPr>
          <p:cNvSpPr/>
          <p:nvPr/>
        </p:nvSpPr>
        <p:spPr>
          <a:xfrm>
            <a:off x="6217920" y="1325880"/>
            <a:ext cx="2606040" cy="1615440"/>
          </a:xfrm>
          <a:prstGeom prst="roundRect">
            <a:avLst>
              <a:gd name="adj" fmla="val 4528"/>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Card 3 bar">
            <a:extLst>
              <a:ext uri="{C183D7F6-B498-43B3-948B-1728B52AA6E4}">
                <adec:decorative xmlns:adec="http://schemas.microsoft.com/office/drawing/2017/decorative" val="1"/>
              </a:ext>
            </a:extLst>
          </p:cNvPr>
          <p:cNvSpPr/>
          <p:nvPr/>
        </p:nvSpPr>
        <p:spPr>
          <a:xfrm>
            <a:off x="6217920" y="1325880"/>
            <a:ext cx="82296" cy="1615440"/>
          </a:xfrm>
          <a:prstGeom prst="rect">
            <a:avLst/>
          </a:prstGeom>
          <a:solidFill>
            <a:srgbClr val="B45309"/>
          </a:solidFill>
          <a:ln w="12700">
            <a:solidFill>
              <a:srgbClr val="B45309"/>
            </a:solidFill>
            <a:prstDash val="solid"/>
          </a:ln>
        </p:spPr>
      </p:sp>
      <p:sp>
        <p:nvSpPr>
          <p:cNvPr id="13" name="Card 3 text"/>
          <p:cNvSpPr txBox="1"/>
          <p:nvPr/>
        </p:nvSpPr>
        <p:spPr>
          <a:xfrm>
            <a:off x="644652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B45309"/>
                </a:solidFill>
                <a:latin typeface="Cambria" pitchFamily="34" charset="0"/>
                <a:ea typeface="Cambria" pitchFamily="34" charset="-122"/>
                <a:cs typeface="Cambria" pitchFamily="34" charset="-120"/>
              </a:rPr>
              <a:t>Identity governance officer</a:t>
            </a:r>
            <a:endParaRPr lang="en-US" sz="1400" dirty="0"/>
          </a:p>
          <a:p>
            <a:pPr marL="0" indent="0">
              <a:spcAft>
                <a:spcPts val="300"/>
              </a:spcAft>
              <a:buNone/>
            </a:pPr>
            <a:r>
              <a:rPr lang="en-US" sz="1500" dirty="0">
                <a:solidFill>
                  <a:srgbClr val="334155"/>
                </a:solidFill>
              </a:rPr>
              <a:t>Closes the review; receives the hand-off</a:t>
            </a:r>
            <a:endParaRPr lang="en-US" sz="1400" dirty="0"/>
          </a:p>
        </p:txBody>
      </p:sp>
      <p:sp>
        <p:nvSpPr>
          <p:cNvPr id="14" name="Card 4">
            <a:extLst>
              <a:ext uri="{C183D7F6-B498-43B3-948B-1728B52AA6E4}">
                <adec:decorative xmlns:adec="http://schemas.microsoft.com/office/drawing/2017/decorative" val="1"/>
              </a:ext>
            </a:extLst>
          </p:cNvPr>
          <p:cNvSpPr/>
          <p:nvPr/>
        </p:nvSpPr>
        <p:spPr>
          <a:xfrm>
            <a:off x="9052560" y="1325880"/>
            <a:ext cx="2606040" cy="1615440"/>
          </a:xfrm>
          <a:prstGeom prst="roundRect">
            <a:avLst>
              <a:gd name="adj" fmla="val 4528"/>
            </a:avLst>
          </a:prstGeom>
          <a:solidFill>
            <a:srgbClr val="FFFFFF"/>
          </a:solidFill>
          <a:ln w="12700">
            <a:solidFill>
              <a:srgbClr val="B91C1C"/>
            </a:solidFill>
            <a:prstDash val="solid"/>
          </a:ln>
          <a:effectLst>
            <a:outerShdw blurRad="76200" dist="25400" dir="5400000" algn="bl" rotWithShape="0">
              <a:srgbClr val="64748B">
                <a:alpha val="22000"/>
              </a:srgbClr>
            </a:outerShdw>
          </a:effectLst>
        </p:spPr>
      </p:sp>
      <p:sp>
        <p:nvSpPr>
          <p:cNvPr id="15" name="Card 4 bar">
            <a:extLst>
              <a:ext uri="{C183D7F6-B498-43B3-948B-1728B52AA6E4}">
                <adec:decorative xmlns:adec="http://schemas.microsoft.com/office/drawing/2017/decorative" val="1"/>
              </a:ext>
            </a:extLst>
          </p:cNvPr>
          <p:cNvSpPr/>
          <p:nvPr/>
        </p:nvSpPr>
        <p:spPr>
          <a:xfrm>
            <a:off x="9052560" y="1325880"/>
            <a:ext cx="82296" cy="1615440"/>
          </a:xfrm>
          <a:prstGeom prst="rect">
            <a:avLst/>
          </a:prstGeom>
          <a:solidFill>
            <a:srgbClr val="B91C1C"/>
          </a:solidFill>
          <a:ln w="12700">
            <a:solidFill>
              <a:srgbClr val="B91C1C"/>
            </a:solidFill>
            <a:prstDash val="solid"/>
          </a:ln>
        </p:spPr>
      </p:sp>
      <p:sp>
        <p:nvSpPr>
          <p:cNvPr id="16" name="Card 4 text"/>
          <p:cNvSpPr txBox="1"/>
          <p:nvPr/>
        </p:nvSpPr>
        <p:spPr>
          <a:xfrm>
            <a:off x="9281160" y="1463040"/>
            <a:ext cx="2240280" cy="1386840"/>
          </a:xfrm>
          <a:prstGeom prst="rect">
            <a:avLst/>
          </a:prstGeom>
          <a:noFill/>
          <a:ln/>
        </p:spPr>
        <p:txBody>
          <a:bodyPr wrap="square" lIns="0" tIns="0" rIns="0" bIns="0" rtlCol="0" anchor="t"/>
          <a:lstStyle/>
          <a:p>
            <a:pPr marL="0" indent="0">
              <a:spcAft>
                <a:spcPts val="300"/>
              </a:spcAft>
              <a:buNone/>
            </a:pPr>
            <a:r>
              <a:rPr lang="en-US" sz="1600" b="1" dirty="0">
                <a:solidFill>
                  <a:srgbClr val="B91C1C"/>
                </a:solidFill>
                <a:latin typeface="Cambria" pitchFamily="34" charset="0"/>
                <a:ea typeface="Cambria" pitchFamily="34" charset="-122"/>
                <a:cs typeface="Cambria" pitchFamily="34" charset="-120"/>
              </a:rPr>
              <a:t>ISSOs</a:t>
            </a:r>
            <a:endParaRPr lang="en-US" sz="1400" dirty="0"/>
          </a:p>
          <a:p>
            <a:pPr marL="0" indent="0">
              <a:spcAft>
                <a:spcPts val="300"/>
              </a:spcAft>
              <a:buNone/>
            </a:pPr>
            <a:r>
              <a:rPr lang="en-US" sz="1500" dirty="0">
                <a:solidFill>
                  <a:srgbClr val="334155"/>
                </a:solidFill>
              </a:rPr>
              <a:t>Check Gate 4</a:t>
            </a:r>
            <a:endParaRPr lang="en-US" sz="14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3124200"/>
          <a:ext cx="11109960" cy="2249424"/>
        </p:xfrm>
        <a:graphic>
          <a:graphicData uri="http://schemas.openxmlformats.org/drawingml/2006/table">
            <a:tbl>
              <a:tblPr firstRow="1" bandRow="1"/>
              <a:tblGrid>
                <a:gridCol w="2377440">
                  <a:extLst>
                    <a:ext uri="{9D8B030D-6E8A-4147-A177-3AD203B41FA5}">
                      <a16:colId xmlns:a16="http://schemas.microsoft.com/office/drawing/2014/main" val="20000"/>
                    </a:ext>
                  </a:extLst>
                </a:gridCol>
                <a:gridCol w="4663440">
                  <a:extLst>
                    <a:ext uri="{9D8B030D-6E8A-4147-A177-3AD203B41FA5}">
                      <a16:colId xmlns:a16="http://schemas.microsoft.com/office/drawing/2014/main" val="20001"/>
                    </a:ext>
                  </a:extLst>
                </a:gridCol>
                <a:gridCol w="4069080">
                  <a:extLst>
                    <a:ext uri="{9D8B030D-6E8A-4147-A177-3AD203B41FA5}">
                      <a16:colId xmlns:a16="http://schemas.microsoft.com/office/drawing/2014/main" val="20002"/>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Task</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Calls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Permissions or role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least-privilege (read)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GET …/appRoleAssignments; …/oauth2PermissionGrants; /servicePrincipals/{id}; /roleManagement/directory/roleAssignments; Resource Manager role assignments and definitions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Directory.Read.All, RoleManagement.Read.Directory; Reader on the listed scopes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96316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least-privilege-apply (write, delegated only)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Re-read the two lists; DELETE …/appRoleAssignedTo/{id}; PATCH /oauth2PermissionGrants/{id}</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Application.Read.All, Directory.Read.All, AppRoleAssignment.ReadWrite.All, DelegatedPermissionGrant.ReadWrite.All; Privileged Role Administrator</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bl>
          </a:graphicData>
        </a:graphic>
      </p:graphicFrame>
      <p:sp>
        <p:nvSpPr>
          <p:cNvPr id="18"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list appRoleAssignments; oauth2PermissionGrants; Get servicePrincipal; unifiedRoleAssignments; Azure role list; Delete appRoleAssignedTo; Update grant. Chapter 07.</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12</a:t>
            </a:fld>
            <a:endParaRPr lang="en-US"/>
          </a:p>
        </p:txBody>
      </p:sp>
      <p:pic>
        <p:nvPicPr>
          <p:cNvPr id="19" name="Narration" descr="Narration for this slide; captions available">
            <a:hlinkClick r:id="" action="ppaction://media"/>
            <a:extLst>
              <a:ext uri="{FF2B5EF4-FFF2-40B4-BE49-F238E27FC236}">
                <a16:creationId xmlns:a16="http://schemas.microsoft.com/office/drawing/2014/main" id="{4ECAFA1D-8458-8086-53B4-E7D7EBFDE380}"/>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29921312-7670-4A58-B4F6-12AF1867AC8C}"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4430"/>
    </mc:Choice>
    <mc:Fallback>
      <p:transition spd="slow" advTm="3443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0432" fill="hold"/>
                                        <p:tgtEl>
                                          <p:spTgt spid="1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Learn's script, then the sweep</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Code panel">
            <a:extLst>
              <a:ext uri="{C183D7F6-B498-43B3-948B-1728B52AA6E4}">
                <adec:decorative xmlns:adec="http://schemas.microsoft.com/office/drawing/2017/decorative" val="1"/>
              </a:ext>
            </a:extLst>
          </p:cNvPr>
          <p:cNvSpPr/>
          <p:nvPr/>
        </p:nvSpPr>
        <p:spPr>
          <a:xfrm>
            <a:off x="548640" y="1325880"/>
            <a:ext cx="11109960" cy="2953512"/>
          </a:xfrm>
          <a:prstGeom prst="roundRect">
            <a:avLst>
              <a:gd name="adj" fmla="val 2477"/>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6" name="Code label"/>
          <p:cNvSpPr txBox="1"/>
          <p:nvPr/>
        </p:nvSpPr>
        <p:spPr>
          <a:xfrm>
            <a:off x="713232" y="1399032"/>
            <a:ext cx="10780776" cy="228600"/>
          </a:xfrm>
          <a:prstGeom prst="rect">
            <a:avLst/>
          </a:prstGeom>
          <a:noFill/>
          <a:ln/>
        </p:spPr>
        <p:txBody>
          <a:bodyPr wrap="square" lIns="0" tIns="0" rIns="0" bIns="0" rtlCol="0" anchor="t"/>
          <a:lstStyle/>
          <a:p>
            <a:pPr marL="0" indent="0">
              <a:buNone/>
            </a:pPr>
            <a:r>
              <a:rPr lang="en-US" sz="1050" b="1" dirty="0">
                <a:solidFill>
                  <a:srgbClr val="64748B"/>
                </a:solidFill>
              </a:rPr>
              <a:t>POWERSHELL 7.1+ WITH PESTER 5, IN examples/non-person-identity, WITH CHAPTER 01'S out/inventory</a:t>
            </a:r>
            <a:endParaRPr lang="en-US" sz="1050" dirty="0"/>
          </a:p>
        </p:txBody>
      </p:sp>
      <p:sp>
        <p:nvSpPr>
          <p:cNvPr id="7" name="Code"/>
          <p:cNvSpPr txBox="1"/>
          <p:nvPr/>
        </p:nvSpPr>
        <p:spPr>
          <a:xfrm>
            <a:off x="713232" y="1664208"/>
            <a:ext cx="10835640" cy="2569464"/>
          </a:xfrm>
          <a:prstGeom prst="rect">
            <a:avLst/>
          </a:prstGeom>
          <a:noFill/>
          <a:ln/>
        </p:spPr>
        <p:txBody>
          <a:bodyPr wrap="square" lIns="0" tIns="0" rIns="0" bIns="0" rtlCol="0" anchor="t"/>
          <a:lstStyle/>
          <a:p>
            <a:pPr marL="0" indent="0">
              <a:buNone/>
            </a:pPr>
            <a:r>
              <a:rPr lang="en-US" sz="1350" dirty="0">
                <a:solidFill>
                  <a:srgbClr val="0F766E"/>
                </a:solidFill>
                <a:latin typeface="Consolas" pitchFamily="34" charset="0"/>
                <a:ea typeface="Consolas" pitchFamily="34" charset="-122"/>
                <a:cs typeface="Consolas" pitchFamily="34" charset="-120"/>
              </a:rPr>
              <a:t># 1  Learn's script against stand-ins: PassedCount 10, FailedCount 0, NotRunCount 0</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Invoke-Pester -Path tests/NpiLeastPrivilegeSamples.Tests.ps1 -Output None -PassThru</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2  What each task needs</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least-privilege : Application.Read.All, Directory.Read.All, RoleManagement.Read.Directory, Reader</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least-privilege-apply : Application.Read.All, AppRoleAssignment.ReadWrite.All, …</a:t>
            </a:r>
            <a:endParaRPr lang="en-US" sz="1350" dirty="0"/>
          </a:p>
          <a:p>
            <a:pPr marL="0" indent="0">
              <a:buNone/>
            </a:pPr>
            <a:r>
              <a:rPr lang="en-US" sz="1350" dirty="0">
                <a:solidFill>
                  <a:srgbClr val="0F766E"/>
                </a:solidFill>
                <a:latin typeface="Consolas" pitchFamily="34" charset="0"/>
                <a:ea typeface="Consolas" pitchFamily="34" charset="-122"/>
                <a:cs typeface="Consolas" pitchFamily="34" charset="-120"/>
              </a:rPr>
              <a:t># 3  Sweep, check, and build the review and the plan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./Invoke-NpiLeastPrivilege.ps1 -Cloud gcc -RegisterRun out/inventory … -OutputPath out/least-privilege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Sweep: 11 service principals, 20 grants (12 Application, 5 AzureRole, 3 Delegated); 2 skipped;</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       3 handed to the Privileged Access plan</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Findings: 7 Finding, 3 Warn, 3 Info</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Owner review 2026-Q4: 15 rows, 9 decided, 6 open, 4 changes pending; closed: False</a:t>
            </a:r>
            <a:endParaRPr lang="en-US" sz="1350" dirty="0"/>
          </a:p>
          <a:p>
            <a:pPr marL="0" indent="0">
              <a:buNone/>
            </a:pPr>
            <a:r>
              <a:rPr lang="en-US" sz="1350" dirty="0">
                <a:solidFill>
                  <a:srgbClr val="334155"/>
                </a:solidFill>
                <a:latin typeface="Consolas" pitchFamily="34" charset="0"/>
                <a:ea typeface="Consolas" pitchFamily="34" charset="-122"/>
                <a:cs typeface="Consolas" pitchFamily="34" charset="-120"/>
              </a:rPr>
              <a:t>Plan: 11 actions, 3 of them writes (1 NarrowGrant, 2 RemoveAppRole); nothing sent</a:t>
            </a:r>
            <a:endParaRPr lang="en-US" sz="1350" dirty="0"/>
          </a:p>
        </p:txBody>
      </p:sp>
      <p:sp>
        <p:nvSpPr>
          <p:cNvPr id="8" name="Callout">
            <a:extLst>
              <a:ext uri="{C183D7F6-B498-43B3-948B-1728B52AA6E4}">
                <adec:decorative xmlns:adec="http://schemas.microsoft.com/office/drawing/2017/decorative" val="1"/>
              </a:ext>
            </a:extLst>
          </p:cNvPr>
          <p:cNvSpPr/>
          <p:nvPr/>
        </p:nvSpPr>
        <p:spPr>
          <a:xfrm>
            <a:off x="548640" y="4462272"/>
            <a:ext cx="11109960" cy="752856"/>
          </a:xfrm>
          <a:prstGeom prst="roundRect">
            <a:avLst>
              <a:gd name="adj" fmla="val 97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9" name="Icon FaListCheck">
            <a:extLst>
              <a:ext uri="{C183D7F6-B498-43B3-948B-1728B52AA6E4}">
                <adec:decorative xmlns:adec="http://schemas.microsoft.com/office/drawing/2017/decorative" val="1"/>
              </a:ext>
            </a:extLst>
          </p:cNvPr>
          <p:cNvSpPr/>
          <p:nvPr/>
        </p:nvSpPr>
        <p:spPr>
          <a:xfrm>
            <a:off x="749808" y="4535424"/>
            <a:ext cx="606552" cy="606552"/>
          </a:xfrm>
          <a:prstGeom prst="ellipse">
            <a:avLst/>
          </a:prstGeom>
          <a:solidFill>
            <a:srgbClr val="0F766E"/>
          </a:solidFill>
          <a:ln w="12700">
            <a:solidFill>
              <a:srgbClr val="0F766E"/>
            </a:solidFill>
            <a:prstDash val="solid"/>
          </a:ln>
        </p:spPr>
      </p:sp>
      <p:pic>
        <p:nvPicPr>
          <p:cNvPr id="10"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5380" y="4680996"/>
            <a:ext cx="315407" cy="315407"/>
          </a:xfrm>
          <a:prstGeom prst="rect">
            <a:avLst/>
          </a:prstGeom>
        </p:spPr>
      </p:pic>
      <p:sp>
        <p:nvSpPr>
          <p:cNvPr id="11" name="Callout text"/>
          <p:cNvSpPr txBox="1"/>
          <p:nvPr/>
        </p:nvSpPr>
        <p:spPr>
          <a:xfrm>
            <a:off x="1600200" y="4517136"/>
            <a:ext cx="9875520" cy="643128"/>
          </a:xfrm>
          <a:prstGeom prst="rect">
            <a:avLst/>
          </a:prstGeom>
          <a:noFill/>
          <a:ln/>
        </p:spPr>
        <p:txBody>
          <a:bodyPr wrap="square" lIns="0" tIns="0" rIns="0" bIns="0" rtlCol="0" anchor="ctr"/>
          <a:lstStyle/>
          <a:p>
            <a:pPr marL="0" indent="0">
              <a:buNone/>
            </a:pPr>
            <a:r>
              <a:rPr lang="en-US" sz="1750" b="1" dirty="0">
                <a:solidFill>
                  <a:srgbClr val="0F766E"/>
                </a:solidFill>
              </a:rPr>
              <a:t>Read in step 1: </a:t>
            </a:r>
            <a:r>
              <a:rPr lang="en-US" sz="1750" dirty="0">
                <a:solidFill>
                  <a:srgbClr val="334155"/>
                </a:solidFill>
              </a:rPr>
              <a:t>the script names Mail Automation's own ID, and all three removals answer 404. The two skipped are the agent identity and its blueprint, Chapter 09's.</a:t>
            </a:r>
            <a:endParaRPr lang="en-US" sz="1750" dirty="0"/>
          </a:p>
        </p:txBody>
      </p:sp>
      <p:sp>
        <p:nvSpPr>
          <p:cNvPr id="12"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(tests and fixtures, fictional). Chapter 07, “Lab 1: fixtures, no tenant,” steps 1–3.</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13</a:t>
            </a:fld>
            <a:endParaRPr lang="en-US"/>
          </a:p>
        </p:txBody>
      </p:sp>
      <p:pic>
        <p:nvPicPr>
          <p:cNvPr id="13" name="Narration" descr="Narration for this slide; captions available">
            <a:hlinkClick r:id="" action="ppaction://media"/>
            <a:extLst>
              <a:ext uri="{FF2B5EF4-FFF2-40B4-BE49-F238E27FC236}">
                <a16:creationId xmlns:a16="http://schemas.microsoft.com/office/drawing/2014/main" id="{7A99939C-3C42-3D2D-8D26-FB6CC90DCD5D}"/>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51A70BE-2ACB-41E1-9E39-D6F8A93C63E8}"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8270"/>
    </mc:Choice>
    <mc:Fallback>
      <p:transition spd="slow" advTm="3827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4272"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findings, the hand-off and the review</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3438144"/>
        </p:xfrm>
        <a:graphic>
          <a:graphicData uri="http://schemas.openxmlformats.org/drawingml/2006/table">
            <a:tbl>
              <a:tblPr firstRow="1" bandRow="1"/>
              <a:tblGrid>
                <a:gridCol w="2743200">
                  <a:extLst>
                    <a:ext uri="{9D8B030D-6E8A-4147-A177-3AD203B41FA5}">
                      <a16:colId xmlns:a16="http://schemas.microsoft.com/office/drawing/2014/main" val="20000"/>
                    </a:ext>
                  </a:extLst>
                </a:gridCol>
                <a:gridCol w="8366760">
                  <a:extLst>
                    <a:ext uri="{9D8B030D-6E8A-4147-A177-3AD203B41FA5}">
                      <a16:colId xmlns:a16="http://schemas.microsoft.com/office/drawing/2014/main" val="20001"/>
                    </a:ext>
                  </a:extLst>
                </a:gridCol>
              </a:tblGrid>
              <a:tr h="323088">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What you see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400" b="1" dirty="0">
                          <a:solidFill>
                            <a:srgbClr val="FFFFFF"/>
                          </a:solidFill>
                          <a:latin typeface="Calibri" pitchFamily="34" charset="0"/>
                          <a:ea typeface="Calibri" pitchFamily="34" charset="-122"/>
                          <a:cs typeface="Calibri" pitchFamily="34" charset="-120"/>
                        </a:rPr>
                        <a:t>Why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NPI-LP-01 twice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Mail Automation's Directory.ReadWrite.All and Mail.ReadWrite</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NPI-LP-02, -03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HR Connector's Sites.FullControl.All, exception ended Sept 30; Partner CRM's Mail.Read for all users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NPI-LP-04, -05</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Mail Automation's Mail.Send under an Exchange RBAC scope while the Entra grant stays; Vendor Portal's full_access_as_app under an application access policy</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NPI-LP-06 twice, -07</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vm-batch01: Storage Blob Data Reader on the subscription, Reader on a management group, Reader on a resource group</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NPI-LP-09</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Legacy Reports holds an app role Microsoft Graph doesn't publish</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3644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Hand-off (NPI-LP-08 ×3)</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Build Pipeline: RoleManagement.ReadWrite.Directory; Deploy Bot: Cloud Application Administrator and Application.ReadWrite.All; id-deploy: Contributor at subscription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323088">
                <a:tc>
                  <a:txBody>
                    <a:bodyPr/>
                    <a:lstStyle/>
                    <a:p>
                      <a:pPr marL="0" indent="0">
                        <a:buNone/>
                      </a:pPr>
                      <a:r>
                        <a:rPr lang="en-US" sz="1400" b="1" dirty="0">
                          <a:solidFill>
                            <a:srgbClr val="1F2A44"/>
                          </a:solidFill>
                          <a:latin typeface="Calibri" pitchFamily="34" charset="0"/>
                          <a:ea typeface="Calibri" pitchFamily="34" charset="-122"/>
                          <a:cs typeface="Calibri" pitchFamily="34" charset="-120"/>
                        </a:rPr>
                        <a:t>Six open review rows</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400" dirty="0">
                          <a:solidFill>
                            <a:srgbClr val="334155"/>
                          </a:solidFill>
                          <a:latin typeface="Calibri" pitchFamily="34" charset="0"/>
                          <a:ea typeface="Calibri" pitchFamily="34" charset="-122"/>
                          <a:cs typeface="Calibri" pitchFamily="34" charset="-120"/>
                        </a:rPr>
                        <a:t>Includes vm-batch01's User.Read.All: Keep on 2026-07-15, an earlier quarter, so open again</a:t>
                      </a:r>
                      <a:endParaRPr lang="en-US" sz="14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estate). Chapter 07, “Lab 1: fixtures, no tenant,” steps 4–5.</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14</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9931A23B-5EC9-4088-E6B4-F8C481FD94A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CD4BBD16-19B4-458C-9B5A-312A385285AD}"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6590"/>
    </mc:Choice>
    <mc:Fallback>
      <p:transition spd="slow" advTm="365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25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1: the plan, a dry run and a refusal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Step 6: the plan's 11 actions">
            <a:extLst>
              <a:ext uri="{C183D7F6-B498-43B3-948B-1728B52AA6E4}">
                <adec:decorative xmlns:adec="http://schemas.microsoft.com/office/drawing/2017/decorative" val="1"/>
              </a:ext>
            </a:extLst>
          </p:cNvPr>
          <p:cNvSpPr/>
          <p:nvPr/>
        </p:nvSpPr>
        <p:spPr>
          <a:xfrm>
            <a:off x="548640" y="1325880"/>
            <a:ext cx="5092751" cy="2866644"/>
          </a:xfrm>
          <a:prstGeom prst="roundRect">
            <a:avLst>
              <a:gd name="adj" fmla="val 255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Step 6: the plan&amp;apos;s 11 actions label"/>
          <p:cNvSpPr txBox="1"/>
          <p:nvPr/>
        </p:nvSpPr>
        <p:spPr>
          <a:xfrm>
            <a:off x="731520" y="1435608"/>
            <a:ext cx="4726991" cy="274320"/>
          </a:xfrm>
          <a:prstGeom prst="rect">
            <a:avLst/>
          </a:prstGeom>
          <a:noFill/>
          <a:ln/>
        </p:spPr>
        <p:txBody>
          <a:bodyPr wrap="square" lIns="0" tIns="0" rIns="0" bIns="0" rtlCol="0" anchor="t"/>
          <a:lstStyle/>
          <a:p>
            <a:pPr marL="0" indent="0">
              <a:buNone/>
            </a:pPr>
            <a:r>
              <a:rPr lang="en-US" sz="1100" b="1" kern="0" spc="50" dirty="0">
                <a:solidFill>
                  <a:srgbClr val="64748B"/>
                </a:solidFill>
              </a:rPr>
              <a:t>STEP 6: THE PLAN'S 11 ACTIONS</a:t>
            </a:r>
            <a:endParaRPr lang="en-US" sz="1100" dirty="0"/>
          </a:p>
        </p:txBody>
      </p:sp>
      <p:sp>
        <p:nvSpPr>
          <p:cNvPr id="7" name="Panel Step 6: the plan's 11 actions list"/>
          <p:cNvSpPr txBox="1"/>
          <p:nvPr/>
        </p:nvSpPr>
        <p:spPr>
          <a:xfrm>
            <a:off x="731520" y="1737360"/>
            <a:ext cx="4772711" cy="2409444"/>
          </a:xfrm>
          <a:prstGeom prst="rect">
            <a:avLst/>
          </a:prstGeom>
          <a:noFill/>
          <a:ln/>
        </p:spPr>
        <p:txBody>
          <a:bodyPr wrap="square" lIns="0" tIns="0" rIns="0" bIns="0" rtlCol="0" anchor="t"/>
          <a:lstStyle/>
          <a:p>
            <a:pPr marL="342900" indent="-342900">
              <a:spcAft>
                <a:spcPts val="400"/>
              </a:spcAft>
              <a:buSzPct val="100000"/>
              <a:buChar char="•"/>
            </a:pPr>
            <a:r>
              <a:rPr lang="en-US" sz="1450" dirty="0">
                <a:solidFill>
                  <a:srgbClr val="334155"/>
                </a:solidFill>
              </a:rPr>
              <a:t>HR Connector: RemoveAppRole Sites.FullControl.All; its replacement Sites.Selected is already granted</a:t>
            </a:r>
            <a:endParaRPr lang="en-US" sz="1450" dirty="0"/>
          </a:p>
          <a:p>
            <a:pPr marL="342900" indent="-342900">
              <a:spcAft>
                <a:spcPts val="400"/>
              </a:spcAft>
              <a:buSzPct val="100000"/>
              <a:buChar char="•"/>
            </a:pPr>
            <a:r>
              <a:rPr lang="en-US" sz="1450" dirty="0">
                <a:solidFill>
                  <a:srgbClr val="334155"/>
                </a:solidFill>
              </a:rPr>
              <a:t>Mail Automation: RemoveAppRole Directory.ReadWrite.All</a:t>
            </a:r>
            <a:endParaRPr lang="en-US" sz="1450" dirty="0"/>
          </a:p>
          <a:p>
            <a:pPr marL="342900" indent="-342900">
              <a:spcAft>
                <a:spcPts val="400"/>
              </a:spcAft>
              <a:buSzPct val="100000"/>
              <a:buChar char="•"/>
            </a:pPr>
            <a:r>
              <a:rPr lang="en-US" sz="1450" dirty="0">
                <a:solidFill>
                  <a:srgbClr val="334155"/>
                </a:solidFill>
              </a:rPr>
              <a:t>Partner CRM: NarrowGrant from User.Read Mail.Read to User.Read</a:t>
            </a:r>
            <a:endParaRPr lang="en-US" sz="1450" dirty="0"/>
          </a:p>
          <a:p>
            <a:pPr marL="342900" indent="-342900">
              <a:spcAft>
                <a:spcPts val="400"/>
              </a:spcAft>
              <a:buSzPct val="100000"/>
              <a:buChar char="•"/>
            </a:pPr>
            <a:r>
              <a:rPr lang="en-US" sz="1450" dirty="0">
                <a:solidFill>
                  <a:srgbClr val="334155"/>
                </a:solidFill>
              </a:rPr>
              <a:t>Three HandedOff; two Kept; two AwaitOwnerDecision; one RescopeByOwner</a:t>
            </a:r>
            <a:endParaRPr lang="en-US" sz="1450" dirty="0"/>
          </a:p>
        </p:txBody>
      </p:sp>
      <p:sp>
        <p:nvSpPr>
          <p:cNvPr id="8" name="Code panel">
            <a:extLst>
              <a:ext uri="{C183D7F6-B498-43B3-948B-1728B52AA6E4}">
                <adec:decorative xmlns:adec="http://schemas.microsoft.com/office/drawing/2017/decorative" val="1"/>
              </a:ext>
            </a:extLst>
          </p:cNvPr>
          <p:cNvSpPr/>
          <p:nvPr/>
        </p:nvSpPr>
        <p:spPr>
          <a:xfrm>
            <a:off x="5915711" y="1325880"/>
            <a:ext cx="5742889" cy="1571244"/>
          </a:xfrm>
          <a:prstGeom prst="roundRect">
            <a:avLst>
              <a:gd name="adj" fmla="val 4656"/>
            </a:avLst>
          </a:prstGeom>
          <a:solidFill>
            <a:srgbClr val="F1F5F9"/>
          </a:solidFill>
          <a:ln w="12700">
            <a:solidFill>
              <a:srgbClr val="CBD5E1"/>
            </a:solidFill>
            <a:prstDash val="solid"/>
          </a:ln>
          <a:effectLst>
            <a:outerShdw blurRad="76200" dist="25400" dir="5400000" algn="bl" rotWithShape="0">
              <a:srgbClr val="64748B">
                <a:alpha val="22000"/>
              </a:srgbClr>
            </a:outerShdw>
          </a:effectLst>
        </p:spPr>
      </p:sp>
      <p:sp>
        <p:nvSpPr>
          <p:cNvPr id="9" name="Code"/>
          <p:cNvSpPr txBox="1"/>
          <p:nvPr/>
        </p:nvSpPr>
        <p:spPr>
          <a:xfrm>
            <a:off x="6080303" y="1417320"/>
            <a:ext cx="5468569" cy="1434084"/>
          </a:xfrm>
          <a:prstGeom prst="rect">
            <a:avLst/>
          </a:prstGeom>
          <a:noFill/>
          <a:ln/>
        </p:spPr>
        <p:txBody>
          <a:bodyPr wrap="square" lIns="0" tIns="0" rIns="0" bIns="0" rtlCol="0" anchor="t"/>
          <a:lstStyle/>
          <a:p>
            <a:pPr marL="0" indent="0">
              <a:buNone/>
            </a:pPr>
            <a:r>
              <a:rPr lang="en-US" sz="1250" dirty="0">
                <a:solidFill>
                  <a:srgbClr val="0F766E"/>
                </a:solidFill>
                <a:latin typeface="Consolas" pitchFamily="34" charset="0"/>
                <a:ea typeface="Consolas" pitchFamily="34" charset="-122"/>
                <a:cs typeface="Consolas" pitchFamily="34" charset="-120"/>
              </a:rPr>
              <a:t># 7  DryRun: 3 WouldSend</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DELETE …/servicePrincipals/5b00…0010/appRoleAssignedTo/ar-10</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DELETE …/servicePrincipals/5b00…0010/appRoleAssignedTo/ar-01</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PATCH  …/oauth2PermissionGrants/og-01</a:t>
            </a:r>
            <a:endParaRPr lang="en-US" sz="1250" dirty="0"/>
          </a:p>
          <a:p>
            <a:pPr marL="0" indent="0">
              <a:buNone/>
            </a:pPr>
            <a:r>
              <a:rPr lang="en-US" sz="1250" dirty="0">
                <a:solidFill>
                  <a:srgbClr val="0F766E"/>
                </a:solidFill>
                <a:latin typeface="Consolas" pitchFamily="34" charset="0"/>
                <a:ea typeface="Consolas" pitchFamily="34" charset="-122"/>
                <a:cs typeface="Consolas" pitchFamily="34" charset="-120"/>
              </a:rPr>
              <a:t># 8  -Apply: Apply: 3 Sent; then a zero hash:</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The plan's SHA-256 is fca44f9f…, not the approved</a:t>
            </a:r>
            <a:endParaRPr lang="en-US" sz="1250" dirty="0"/>
          </a:p>
          <a:p>
            <a:pPr marL="0" indent="0">
              <a:buNone/>
            </a:pPr>
            <a:r>
              <a:rPr lang="en-US" sz="1250" dirty="0">
                <a:solidFill>
                  <a:srgbClr val="334155"/>
                </a:solidFill>
                <a:latin typeface="Consolas" pitchFamily="34" charset="0"/>
                <a:ea typeface="Consolas" pitchFamily="34" charset="-122"/>
                <a:cs typeface="Consolas" pitchFamily="34" charset="-120"/>
              </a:rPr>
              <a:t>0000…; refusing to run a plan nobody reviewed.</a:t>
            </a:r>
            <a:endParaRPr lang="en-US" sz="1250" dirty="0"/>
          </a:p>
        </p:txBody>
      </p:sp>
      <p:sp>
        <p:nvSpPr>
          <p:cNvPr id="10" name="Callout">
            <a:extLst>
              <a:ext uri="{C183D7F6-B498-43B3-948B-1728B52AA6E4}">
                <adec:decorative xmlns:adec="http://schemas.microsoft.com/office/drawing/2017/decorative" val="1"/>
              </a:ext>
            </a:extLst>
          </p:cNvPr>
          <p:cNvSpPr/>
          <p:nvPr/>
        </p:nvSpPr>
        <p:spPr>
          <a:xfrm>
            <a:off x="548640" y="4375404"/>
            <a:ext cx="11109960" cy="737616"/>
          </a:xfrm>
          <a:prstGeom prst="roundRect">
            <a:avLst>
              <a:gd name="adj" fmla="val 9917"/>
            </a:avLst>
          </a:prstGeom>
          <a:solidFill>
            <a:srgbClr val="FFFFFF"/>
          </a:solidFill>
          <a:ln w="12700">
            <a:solidFill>
              <a:srgbClr val="0F766E"/>
            </a:solidFill>
            <a:prstDash val="solid"/>
          </a:ln>
          <a:effectLst>
            <a:outerShdw blurRad="76200" dist="25400" dir="5400000" algn="bl" rotWithShape="0">
              <a:srgbClr val="64748B">
                <a:alpha val="22000"/>
              </a:srgbClr>
            </a:outerShdw>
          </a:effectLst>
        </p:spPr>
      </p:sp>
      <p:sp>
        <p:nvSpPr>
          <p:cNvPr id="11" name="Icon FaCodeBranch">
            <a:extLst>
              <a:ext uri="{C183D7F6-B498-43B3-948B-1728B52AA6E4}">
                <adec:decorative xmlns:adec="http://schemas.microsoft.com/office/drawing/2017/decorative" val="1"/>
              </a:ext>
            </a:extLst>
          </p:cNvPr>
          <p:cNvSpPr/>
          <p:nvPr/>
        </p:nvSpPr>
        <p:spPr>
          <a:xfrm>
            <a:off x="749808" y="4448556"/>
            <a:ext cx="591312" cy="591312"/>
          </a:xfrm>
          <a:prstGeom prst="ellipse">
            <a:avLst/>
          </a:prstGeom>
          <a:solidFill>
            <a:srgbClr val="0F766E"/>
          </a:solidFill>
          <a:ln w="12700">
            <a:solidFill>
              <a:srgbClr val="0F766E"/>
            </a:solidFill>
            <a:prstDash val="solid"/>
          </a:ln>
        </p:spPr>
      </p:sp>
      <p:pic>
        <p:nvPicPr>
          <p:cNvPr id="12"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1723" y="4590471"/>
            <a:ext cx="307482" cy="307482"/>
          </a:xfrm>
          <a:prstGeom prst="rect">
            <a:avLst/>
          </a:prstGeom>
        </p:spPr>
      </p:pic>
      <p:sp>
        <p:nvSpPr>
          <p:cNvPr id="13" name="Callout text"/>
          <p:cNvSpPr txBox="1"/>
          <p:nvPr/>
        </p:nvSpPr>
        <p:spPr>
          <a:xfrm>
            <a:off x="1600200" y="4430268"/>
            <a:ext cx="9875520" cy="627888"/>
          </a:xfrm>
          <a:prstGeom prst="rect">
            <a:avLst/>
          </a:prstGeom>
          <a:noFill/>
          <a:ln/>
        </p:spPr>
        <p:txBody>
          <a:bodyPr wrap="square" lIns="0" tIns="0" rIns="0" bIns="0" rtlCol="0" anchor="ctr"/>
          <a:lstStyle/>
          <a:p>
            <a:pPr marL="0" indent="0">
              <a:buNone/>
            </a:pPr>
            <a:r>
              <a:rPr lang="en-US" sz="1700" b="1" dirty="0">
                <a:solidFill>
                  <a:srgbClr val="0F766E"/>
                </a:solidFill>
              </a:rPr>
              <a:t>The point of step 7: </a:t>
            </a:r>
            <a:r>
              <a:rPr lang="en-US" sz="1700" dirty="0">
                <a:solidFill>
                  <a:srgbClr val="334155"/>
                </a:solidFill>
              </a:rPr>
              <a:t>both removals go through 5b000000-…-000000000010, Microsoft Graph's service principal: the resource, not the app.</a:t>
            </a:r>
            <a:endParaRPr lang="en-US" sz="1700" dirty="0"/>
          </a:p>
        </p:txBody>
      </p:sp>
      <p:sp>
        <p:nvSpPr>
          <p:cNvPr id="14" name="Lead"/>
          <p:cNvSpPr txBox="1"/>
          <p:nvPr/>
        </p:nvSpPr>
        <p:spPr>
          <a:xfrm>
            <a:off x="548640" y="5295900"/>
            <a:ext cx="11109960" cy="588264"/>
          </a:xfrm>
          <a:prstGeom prst="rect">
            <a:avLst/>
          </a:prstGeom>
          <a:noFill/>
          <a:ln/>
        </p:spPr>
        <p:txBody>
          <a:bodyPr wrap="square" lIns="0" tIns="0" rIns="0" bIns="0" rtlCol="0" anchor="t"/>
          <a:lstStyle/>
          <a:p>
            <a:pPr marL="0" indent="0">
              <a:buNone/>
            </a:pPr>
            <a:r>
              <a:rPr lang="en-US" sz="1750" b="1" dirty="0">
                <a:solidFill>
                  <a:srgbClr val="1F2A44"/>
                </a:solidFill>
              </a:rPr>
              <a:t>Step 9: 513 tests passing; the manifest lists 45 reads. Delete out when you're done: the review names owners.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examples/non-person-identity fixtures (fictional); Learn, Delete appRoleAssignedTo. Chapter 07, “Lab 1: fixtures, no tenant,” steps 6–9 and expected result.</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15</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73EB5EDF-8979-5419-430F-2217087E484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BB202CAB-5CBC-4A97-83C1-D76FDBFE0DA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9020"/>
    </mc:Choice>
    <mc:Fallback>
      <p:transition spd="slow" advTm="390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5016"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Lab 2: a test tenant, one real removal</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Step 1 dot">
            <a:extLst>
              <a:ext uri="{C183D7F6-B498-43B3-948B-1728B52AA6E4}">
                <adec:decorative xmlns:adec="http://schemas.microsoft.com/office/drawing/2017/decorative" val="1"/>
              </a:ext>
            </a:extLst>
          </p:cNvPr>
          <p:cNvSpPr/>
          <p:nvPr/>
        </p:nvSpPr>
        <p:spPr>
          <a:xfrm>
            <a:off x="548640" y="1344168"/>
            <a:ext cx="274320" cy="274320"/>
          </a:xfrm>
          <a:prstGeom prst="ellipse">
            <a:avLst/>
          </a:prstGeom>
          <a:solidFill>
            <a:srgbClr val="B45309"/>
          </a:solidFill>
          <a:ln w="12700">
            <a:solidFill>
              <a:srgbClr val="B45309"/>
            </a:solidFill>
            <a:prstDash val="solid"/>
          </a:ln>
        </p:spPr>
      </p:sp>
      <p:sp>
        <p:nvSpPr>
          <p:cNvPr id="6" name="Step 1 number"/>
          <p:cNvSpPr txBox="1"/>
          <p:nvPr/>
        </p:nvSpPr>
        <p:spPr>
          <a:xfrm>
            <a:off x="548640" y="134416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1</a:t>
            </a:r>
            <a:endParaRPr lang="en-US" sz="1400" dirty="0"/>
          </a:p>
        </p:txBody>
      </p:sp>
      <p:sp>
        <p:nvSpPr>
          <p:cNvPr id="7" name="Step 1"/>
          <p:cNvSpPr txBox="1"/>
          <p:nvPr/>
        </p:nvSpPr>
        <p:spPr>
          <a:xfrm>
            <a:off x="1097280" y="132588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Make a test grant: </a:t>
            </a:r>
            <a:r>
              <a:rPr lang="en-US" sz="1400" dirty="0">
                <a:solidFill>
                  <a:srgbClr val="334155"/>
                </a:solidFill>
              </a:rPr>
              <a:t>As a test Privileged Role Administrator, give a test app Directory.ReadWrite.All and User.Read.All with Learn's grant request; a test managed identity Reader on a test subscription and a management group above it</a:t>
            </a:r>
            <a:endParaRPr lang="en-US" sz="1400" dirty="0"/>
          </a:p>
        </p:txBody>
      </p:sp>
      <p:sp>
        <p:nvSpPr>
          <p:cNvPr id="8" name="Step 2 dot">
            <a:extLst>
              <a:ext uri="{C183D7F6-B498-43B3-948B-1728B52AA6E4}">
                <adec:decorative xmlns:adec="http://schemas.microsoft.com/office/drawing/2017/decorative" val="1"/>
              </a:ext>
            </a:extLst>
          </p:cNvPr>
          <p:cNvSpPr/>
          <p:nvPr/>
        </p:nvSpPr>
        <p:spPr>
          <a:xfrm>
            <a:off x="548640" y="1880616"/>
            <a:ext cx="274320" cy="274320"/>
          </a:xfrm>
          <a:prstGeom prst="ellipse">
            <a:avLst/>
          </a:prstGeom>
          <a:solidFill>
            <a:srgbClr val="B45309"/>
          </a:solidFill>
          <a:ln w="12700">
            <a:solidFill>
              <a:srgbClr val="B45309"/>
            </a:solidFill>
            <a:prstDash val="solid"/>
          </a:ln>
        </p:spPr>
      </p:sp>
      <p:sp>
        <p:nvSpPr>
          <p:cNvPr id="9" name="Step 2 number"/>
          <p:cNvSpPr txBox="1"/>
          <p:nvPr/>
        </p:nvSpPr>
        <p:spPr>
          <a:xfrm>
            <a:off x="548640" y="1880616"/>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2</a:t>
            </a:r>
            <a:endParaRPr lang="en-US" sz="1400" dirty="0"/>
          </a:p>
        </p:txBody>
      </p:sp>
      <p:sp>
        <p:nvSpPr>
          <p:cNvPr id="10" name="Step 2"/>
          <p:cNvSpPr txBox="1"/>
          <p:nvPr/>
        </p:nvSpPr>
        <p:spPr>
          <a:xfrm>
            <a:off x="1097280" y="1862328"/>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Run the sweep: </a:t>
            </a:r>
            <a:r>
              <a:rPr lang="en-US" sz="1400" dirty="0">
                <a:solidFill>
                  <a:srgbClr val="334155"/>
                </a:solidFill>
              </a:rPr>
              <a:t>With an app holding only the three read permissions and Reader; expect NPI-LP-01 and NPI-LP-06; record whether the subscription list returned the management group's assignment (row 65)</a:t>
            </a:r>
            <a:endParaRPr lang="en-US" sz="1400" dirty="0"/>
          </a:p>
        </p:txBody>
      </p:sp>
      <p:sp>
        <p:nvSpPr>
          <p:cNvPr id="11" name="Step 3 dot">
            <a:extLst>
              <a:ext uri="{C183D7F6-B498-43B3-948B-1728B52AA6E4}">
                <adec:decorative xmlns:adec="http://schemas.microsoft.com/office/drawing/2017/decorative" val="1"/>
              </a:ext>
            </a:extLst>
          </p:cNvPr>
          <p:cNvSpPr/>
          <p:nvPr/>
        </p:nvSpPr>
        <p:spPr>
          <a:xfrm>
            <a:off x="548640" y="2417064"/>
            <a:ext cx="274320" cy="274320"/>
          </a:xfrm>
          <a:prstGeom prst="ellipse">
            <a:avLst/>
          </a:prstGeom>
          <a:solidFill>
            <a:srgbClr val="B45309"/>
          </a:solidFill>
          <a:ln w="12700">
            <a:solidFill>
              <a:srgbClr val="B45309"/>
            </a:solidFill>
            <a:prstDash val="solid"/>
          </a:ln>
        </p:spPr>
      </p:sp>
      <p:sp>
        <p:nvSpPr>
          <p:cNvPr id="12" name="Step 3 number"/>
          <p:cNvSpPr txBox="1"/>
          <p:nvPr/>
        </p:nvSpPr>
        <p:spPr>
          <a:xfrm>
            <a:off x="548640" y="2417064"/>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3</a:t>
            </a:r>
            <a:endParaRPr lang="en-US" sz="1400" dirty="0"/>
          </a:p>
        </p:txBody>
      </p:sp>
      <p:sp>
        <p:nvSpPr>
          <p:cNvPr id="13" name="Step 3"/>
          <p:cNvSpPr txBox="1"/>
          <p:nvPr/>
        </p:nvSpPr>
        <p:spPr>
          <a:xfrm>
            <a:off x="1097280" y="2398776"/>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Decide and review: </a:t>
            </a:r>
            <a:r>
              <a:rPr lang="en-US" sz="1400" dirty="0">
                <a:solidFill>
                  <a:srgbClr val="334155"/>
                </a:solidFill>
              </a:rPr>
              <a:t>Remove for the Directory.ReadWrite.All row; rerun; a second person reviews lp-plan.json and passes its SHA-256</a:t>
            </a:r>
            <a:endParaRPr lang="en-US" sz="1400" dirty="0"/>
          </a:p>
        </p:txBody>
      </p:sp>
      <p:sp>
        <p:nvSpPr>
          <p:cNvPr id="14" name="Step 4 dot">
            <a:extLst>
              <a:ext uri="{C183D7F6-B498-43B3-948B-1728B52AA6E4}">
                <adec:decorative xmlns:adec="http://schemas.microsoft.com/office/drawing/2017/decorative" val="1"/>
              </a:ext>
            </a:extLst>
          </p:cNvPr>
          <p:cNvSpPr/>
          <p:nvPr/>
        </p:nvSpPr>
        <p:spPr>
          <a:xfrm>
            <a:off x="548640" y="2953512"/>
            <a:ext cx="274320" cy="274320"/>
          </a:xfrm>
          <a:prstGeom prst="ellipse">
            <a:avLst/>
          </a:prstGeom>
          <a:solidFill>
            <a:srgbClr val="B45309"/>
          </a:solidFill>
          <a:ln w="12700">
            <a:solidFill>
              <a:srgbClr val="B45309"/>
            </a:solidFill>
            <a:prstDash val="solid"/>
          </a:ln>
        </p:spPr>
      </p:sp>
      <p:sp>
        <p:nvSpPr>
          <p:cNvPr id="15" name="Step 4 number"/>
          <p:cNvSpPr txBox="1"/>
          <p:nvPr/>
        </p:nvSpPr>
        <p:spPr>
          <a:xfrm>
            <a:off x="548640" y="2953512"/>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4</a:t>
            </a:r>
            <a:endParaRPr lang="en-US" sz="1400" dirty="0"/>
          </a:p>
        </p:txBody>
      </p:sp>
      <p:sp>
        <p:nvSpPr>
          <p:cNvPr id="16" name="Step 4"/>
          <p:cNvSpPr txBox="1"/>
          <p:nvPr/>
        </p:nvSpPr>
        <p:spPr>
          <a:xfrm>
            <a:off x="1097280" y="2935224"/>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Dry-run, then apply: </a:t>
            </a:r>
            <a:r>
              <a:rPr lang="en-US" sz="1400" dirty="0">
                <a:solidFill>
                  <a:srgbClr val="334155"/>
                </a:solidFill>
              </a:rPr>
              <a:t>Connect-MgGraph -Environment Global as a person with Privileged Role Administrator; then, for row 61, send Learn's script's request shape for User.Read.All and record what Graph answers</a:t>
            </a:r>
            <a:endParaRPr lang="en-US" sz="1400" dirty="0"/>
          </a:p>
        </p:txBody>
      </p:sp>
      <p:sp>
        <p:nvSpPr>
          <p:cNvPr id="17" name="Step 5 dot">
            <a:extLst>
              <a:ext uri="{C183D7F6-B498-43B3-948B-1728B52AA6E4}">
                <adec:decorative xmlns:adec="http://schemas.microsoft.com/office/drawing/2017/decorative" val="1"/>
              </a:ext>
            </a:extLst>
          </p:cNvPr>
          <p:cNvSpPr/>
          <p:nvPr/>
        </p:nvSpPr>
        <p:spPr>
          <a:xfrm>
            <a:off x="548640" y="3489960"/>
            <a:ext cx="274320" cy="274320"/>
          </a:xfrm>
          <a:prstGeom prst="ellipse">
            <a:avLst/>
          </a:prstGeom>
          <a:solidFill>
            <a:srgbClr val="B45309"/>
          </a:solidFill>
          <a:ln w="12700">
            <a:solidFill>
              <a:srgbClr val="B45309"/>
            </a:solidFill>
            <a:prstDash val="solid"/>
          </a:ln>
        </p:spPr>
      </p:sp>
      <p:sp>
        <p:nvSpPr>
          <p:cNvPr id="18" name="Step 5 number"/>
          <p:cNvSpPr txBox="1"/>
          <p:nvPr/>
        </p:nvSpPr>
        <p:spPr>
          <a:xfrm>
            <a:off x="548640" y="3489960"/>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5</a:t>
            </a:r>
            <a:endParaRPr lang="en-US" sz="1400" dirty="0"/>
          </a:p>
        </p:txBody>
      </p:sp>
      <p:sp>
        <p:nvSpPr>
          <p:cNvPr id="19" name="Step 5"/>
          <p:cNvSpPr txBox="1"/>
          <p:nvPr/>
        </p:nvSpPr>
        <p:spPr>
          <a:xfrm>
            <a:off x="1097280" y="3471672"/>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Check the result: </a:t>
            </a:r>
            <a:r>
              <a:rPr lang="en-US" sz="1400" dirty="0">
                <a:solidFill>
                  <a:srgbClr val="334155"/>
                </a:solidFill>
              </a:rPr>
              <a:t>After a few minutes the row is gone and the app holds no directory role (row 68); the audit log shows the person as actor</a:t>
            </a:r>
            <a:endParaRPr lang="en-US" sz="1400" dirty="0"/>
          </a:p>
        </p:txBody>
      </p:sp>
      <p:sp>
        <p:nvSpPr>
          <p:cNvPr id="20" name="Step 6 dot">
            <a:extLst>
              <a:ext uri="{C183D7F6-B498-43B3-948B-1728B52AA6E4}">
                <adec:decorative xmlns:adec="http://schemas.microsoft.com/office/drawing/2017/decorative" val="1"/>
              </a:ext>
            </a:extLst>
          </p:cNvPr>
          <p:cNvSpPr/>
          <p:nvPr/>
        </p:nvSpPr>
        <p:spPr>
          <a:xfrm>
            <a:off x="548640" y="4026408"/>
            <a:ext cx="274320" cy="274320"/>
          </a:xfrm>
          <a:prstGeom prst="ellipse">
            <a:avLst/>
          </a:prstGeom>
          <a:solidFill>
            <a:srgbClr val="B45309"/>
          </a:solidFill>
          <a:ln w="12700">
            <a:solidFill>
              <a:srgbClr val="B45309"/>
            </a:solidFill>
            <a:prstDash val="solid"/>
          </a:ln>
        </p:spPr>
      </p:sp>
      <p:sp>
        <p:nvSpPr>
          <p:cNvPr id="21" name="Step 6 number"/>
          <p:cNvSpPr txBox="1"/>
          <p:nvPr/>
        </p:nvSpPr>
        <p:spPr>
          <a:xfrm>
            <a:off x="548640" y="4026408"/>
            <a:ext cx="274320" cy="274320"/>
          </a:xfrm>
          <a:prstGeom prst="rect">
            <a:avLst/>
          </a:prstGeom>
          <a:noFill/>
          <a:ln/>
        </p:spPr>
        <p:txBody>
          <a:bodyPr wrap="square" lIns="0" tIns="0" rIns="0" bIns="0" rtlCol="0" anchor="ctr"/>
          <a:lstStyle/>
          <a:p>
            <a:pPr marL="0" indent="0" algn="ctr">
              <a:buNone/>
            </a:pPr>
            <a:r>
              <a:rPr lang="en-US" sz="1400" b="1" dirty="0">
                <a:solidFill>
                  <a:srgbClr val="FFFFFF"/>
                </a:solidFill>
              </a:rPr>
              <a:t>6</a:t>
            </a:r>
            <a:endParaRPr lang="en-US" sz="1400" dirty="0"/>
          </a:p>
        </p:txBody>
      </p:sp>
      <p:sp>
        <p:nvSpPr>
          <p:cNvPr id="22" name="Step 6"/>
          <p:cNvSpPr txBox="1"/>
          <p:nvPr/>
        </p:nvSpPr>
        <p:spPr>
          <a:xfrm>
            <a:off x="1097280" y="4008120"/>
            <a:ext cx="10561320" cy="536448"/>
          </a:xfrm>
          <a:prstGeom prst="rect">
            <a:avLst/>
          </a:prstGeom>
          <a:noFill/>
          <a:ln/>
        </p:spPr>
        <p:txBody>
          <a:bodyPr wrap="square" lIns="0" tIns="0" rIns="0" bIns="0" rtlCol="0" anchor="t"/>
          <a:lstStyle/>
          <a:p>
            <a:pPr marL="0" indent="0">
              <a:buNone/>
            </a:pPr>
            <a:r>
              <a:rPr lang="en-US" sz="1400" b="1" dirty="0">
                <a:solidFill>
                  <a:srgbClr val="1F2A44"/>
                </a:solidFill>
              </a:rPr>
              <a:t>Back it out: </a:t>
            </a:r>
            <a:r>
              <a:rPr lang="en-US" sz="1400" dirty="0">
                <a:solidFill>
                  <a:srgbClr val="334155"/>
                </a:solidFill>
              </a:rPr>
              <a:t>Re-grant with Learn's grant request, as the restore page describes; remove the test roles, identity and app; delete out</a:t>
            </a:r>
            <a:endParaRPr lang="en-US" sz="1400" dirty="0"/>
          </a:p>
        </p:txBody>
      </p:sp>
      <p:sp>
        <p:nvSpPr>
          <p:cNvPr id="23" name="Callout">
            <a:extLst>
              <a:ext uri="{C183D7F6-B498-43B3-948B-1728B52AA6E4}">
                <adec:decorative xmlns:adec="http://schemas.microsoft.com/office/drawing/2017/decorative" val="1"/>
              </a:ext>
            </a:extLst>
          </p:cNvPr>
          <p:cNvSpPr/>
          <p:nvPr/>
        </p:nvSpPr>
        <p:spPr>
          <a:xfrm>
            <a:off x="548640" y="4727448"/>
            <a:ext cx="11109960" cy="996696"/>
          </a:xfrm>
          <a:prstGeom prst="roundRect">
            <a:avLst>
              <a:gd name="adj" fmla="val 7339"/>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24" name="Icon FaTriangleExclamation">
            <a:extLst>
              <a:ext uri="{C183D7F6-B498-43B3-948B-1728B52AA6E4}">
                <adec:decorative xmlns:adec="http://schemas.microsoft.com/office/drawing/2017/decorative" val="1"/>
              </a:ext>
            </a:extLst>
          </p:cNvPr>
          <p:cNvSpPr/>
          <p:nvPr/>
        </p:nvSpPr>
        <p:spPr>
          <a:xfrm>
            <a:off x="749808" y="4905756"/>
            <a:ext cx="640080" cy="640080"/>
          </a:xfrm>
          <a:prstGeom prst="ellipse">
            <a:avLst/>
          </a:prstGeom>
          <a:solidFill>
            <a:srgbClr val="B45309"/>
          </a:solidFill>
          <a:ln w="12700">
            <a:solidFill>
              <a:srgbClr val="B45309"/>
            </a:solidFill>
            <a:prstDash val="solid"/>
          </a:ln>
        </p:spPr>
      </p:sp>
      <p:pic>
        <p:nvPicPr>
          <p:cNvPr id="25"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903427" y="5059375"/>
            <a:ext cx="332842" cy="332842"/>
          </a:xfrm>
          <a:prstGeom prst="rect">
            <a:avLst/>
          </a:prstGeom>
        </p:spPr>
      </p:pic>
      <p:sp>
        <p:nvSpPr>
          <p:cNvPr id="26" name="Callout text"/>
          <p:cNvSpPr txBox="1"/>
          <p:nvPr/>
        </p:nvSpPr>
        <p:spPr>
          <a:xfrm>
            <a:off x="1600200" y="4782312"/>
            <a:ext cx="9875520" cy="886968"/>
          </a:xfrm>
          <a:prstGeom prst="rect">
            <a:avLst/>
          </a:prstGeom>
          <a:noFill/>
          <a:ln/>
        </p:spPr>
        <p:txBody>
          <a:bodyPr wrap="square" lIns="0" tIns="0" rIns="0" bIns="0" rtlCol="0" anchor="ctr"/>
          <a:lstStyle/>
          <a:p>
            <a:pPr marL="0" indent="0">
              <a:buNone/>
            </a:pPr>
            <a:r>
              <a:rPr lang="en-US" sz="1700" b="1" dirty="0">
                <a:solidFill>
                  <a:srgbClr val="B45309"/>
                </a:solidFill>
              </a:rPr>
              <a:t>Note: </a:t>
            </a:r>
            <a:r>
              <a:rPr lang="en-US" sz="1700" dirty="0">
                <a:solidFill>
                  <a:srgbClr val="334155"/>
                </a:solidFill>
              </a:rPr>
              <a:t>Learn names the audit activity two ways: “Remove app role assignment from the service principal” and, in the activity list, “…from service principal,” the name Chapter 10 filters on.</a:t>
            </a:r>
            <a:endParaRPr lang="en-US" sz="1700" dirty="0"/>
          </a:p>
        </p:txBody>
      </p:sp>
      <p:sp>
        <p:nvSpPr>
          <p:cNvPr id="27"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Learn, Grant or revoke API permissions; list appRoleAssignments; Restore revoked permissions; app permission audit logs; audit activities. Chapter 07, “Lab 2: test tenant.”</a:t>
            </a:r>
            <a:endParaRPr lang="en-US" sz="1000" dirty="0"/>
          </a:p>
        </p:txBody>
      </p:sp>
      <p:sp>
        <p:nvSpPr>
          <p:cNvPr id="28"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16</a:t>
            </a:fld>
            <a:endParaRPr lang="en-US"/>
          </a:p>
        </p:txBody>
      </p:sp>
      <p:pic>
        <p:nvPicPr>
          <p:cNvPr id="29" name="Narration" descr="Narration for this slide; captions available">
            <a:hlinkClick r:id="" action="ppaction://media"/>
            <a:extLst>
              <a:ext uri="{FF2B5EF4-FFF2-40B4-BE49-F238E27FC236}">
                <a16:creationId xmlns:a16="http://schemas.microsoft.com/office/drawing/2014/main" id="{B9CD7618-0DFD-E96F-AC34-ACDEEE75C112}"/>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ABC2564B-ADE8-487D-B780-01236BBF05CE}"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480"/>
    </mc:Choice>
    <mc:Fallback>
      <p:transition spd="slow" advTm="3748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480" fill="hold"/>
                                        <p:tgtEl>
                                          <p:spTgt spid="29"/>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Dangers, and the guard for each</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graphicFrame>
        <p:nvGraphicFramePr>
          <p:cNvPr id="18" name="Table"/>
          <p:cNvGraphicFramePr>
            <a:graphicFrameLocks noGrp="1"/>
          </p:cNvGraphicFramePr>
          <p:nvPr>
            <p:extLst>
              <p:ext uri="{D42A27DB-BD31-4B8C-83A1-F6EECF244321}">
                <p14:modId xmlns:p14="http://schemas.microsoft.com/office/powerpoint/2010/main" val="1579011935"/>
              </p:ext>
            </p:extLst>
          </p:nvPr>
        </p:nvGraphicFramePr>
        <p:xfrm>
          <a:off x="548640" y="1325880"/>
          <a:ext cx="11109960" cy="4553712"/>
        </p:xfrm>
        <a:graphic>
          <a:graphicData uri="http://schemas.openxmlformats.org/drawingml/2006/table">
            <a:tbl>
              <a:tblPr firstRow="1" bandRow="1"/>
              <a:tblGrid>
                <a:gridCol w="3200400">
                  <a:extLst>
                    <a:ext uri="{9D8B030D-6E8A-4147-A177-3AD203B41FA5}">
                      <a16:colId xmlns:a16="http://schemas.microsoft.com/office/drawing/2014/main" val="20000"/>
                    </a:ext>
                  </a:extLst>
                </a:gridCol>
                <a:gridCol w="3749040">
                  <a:extLst>
                    <a:ext uri="{9D8B030D-6E8A-4147-A177-3AD203B41FA5}">
                      <a16:colId xmlns:a16="http://schemas.microsoft.com/office/drawing/2014/main" val="20001"/>
                    </a:ext>
                  </a:extLst>
                </a:gridCol>
                <a:gridCol w="4160520">
                  <a:extLst>
                    <a:ext uri="{9D8B030D-6E8A-4147-A177-3AD203B41FA5}">
                      <a16:colId xmlns:a16="http://schemas.microsoft.com/office/drawing/2014/main" val="20002"/>
                    </a:ext>
                  </a:extLst>
                </a:gridCol>
              </a:tblGrid>
              <a:tr h="307848">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Danger</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What happens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tc>
                  <a:txBody>
                    <a:bodyPr/>
                    <a:lstStyle/>
                    <a:p>
                      <a:pPr marL="0" indent="0">
                        <a:buNone/>
                      </a:pPr>
                      <a:r>
                        <a:rPr lang="en-US" sz="1300" b="1" dirty="0">
                          <a:solidFill>
                            <a:srgbClr val="FFFFFF"/>
                          </a:solidFill>
                          <a:latin typeface="Calibri" pitchFamily="34" charset="0"/>
                          <a:ea typeface="Calibri" pitchFamily="34" charset="-122"/>
                          <a:cs typeface="Calibri" pitchFamily="34" charset="-120"/>
                        </a:rPr>
                        <a:t>The guard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1F2A44"/>
                    </a:solidFill>
                  </a:tcPr>
                </a:tc>
                <a:extLst>
                  <a:ext uri="{0D108BD9-81ED-4DB2-BD59-A6C34878D82A}">
                    <a16:rowId xmlns:a16="http://schemas.microsoft.com/office/drawing/2014/main" val="10000"/>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Learn's script run against a tenant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delegated grant goes, excepted ones too</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Nothing removed an owner didn't decide; plan, approved SHA-256, -Apply</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 app or its service principal deleted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Every grant and credential lost at once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only DELETE is one app role assignment through its resource</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Broad permission removed before its replacement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workload fails in production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Remove with a Replacement waits; the precheck checks again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An Exchange scope that does nothing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app still reads every mailbox</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NPI-LP-04: the Entra grant must go once the RBAC assignment is tested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privileged service principal swept twice, or not at 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Plans disagree, or Gate 4 passes on a Global Administrator app</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Hand-off to A3.4; Gate 4 waits for it</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narrowing that widens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A PATCH adds a scope the owner never had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New scope must be a smaller subset of the one read</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70408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A plan changed after review; an unattended app with AppRoleAssignment.ReadWrite.All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Unapproved writes; a standing permission that grants anything</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SHA-256, tenant, cloud, seven days, re-read; delegated only, a person</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05968">
                <a:tc>
                  <a:txBody>
                    <a:bodyPr/>
                    <a:lstStyle/>
                    <a:p>
                      <a:pPr marL="0" indent="0">
                        <a:buNone/>
                      </a:pPr>
                      <a:r>
                        <a:rPr lang="en-US" sz="1300" b="1" dirty="0">
                          <a:solidFill>
                            <a:srgbClr val="1F2A44"/>
                          </a:solidFill>
                          <a:latin typeface="Calibri" pitchFamily="34" charset="0"/>
                          <a:ea typeface="Calibri" pitchFamily="34" charset="-122"/>
                          <a:cs typeface="Calibri" pitchFamily="34" charset="-120"/>
                        </a:rPr>
                        <a:t>Last quarter's decision; a re-grant after removal</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The review closes on stale answers; the permission returns</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334155"/>
                          </a:solidFill>
                          <a:latin typeface="Calibri" pitchFamily="34" charset="0"/>
                          <a:ea typeface="Calibri" pitchFamily="34" charset="-122"/>
                          <a:cs typeface="Calibri" pitchFamily="34" charset="-120"/>
                        </a:rPr>
                        <a:t>Only this quarter counts; a new row next sweep (row 69)</a:t>
                      </a:r>
                      <a:endParaRPr lang="en-US" sz="1300" dirty="0">
                        <a:latin typeface="Calibri" charset="0"/>
                        <a:ea typeface="Calibri" charset="0"/>
                        <a:cs typeface="Calibri" charset="0"/>
                      </a:endParaRPr>
                    </a:p>
                  </a:txBody>
                  <a:tcPr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6"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07, “Dangers”; Learn, Delete appRoleAssignedTo; RBAC for Applications in Exchange Online.</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17</a:t>
            </a:fld>
            <a:endParaRPr lang="en-US"/>
          </a:p>
        </p:txBody>
      </p:sp>
      <p:pic>
        <p:nvPicPr>
          <p:cNvPr id="5" name="Narration" descr="Narration for this slide; captions available">
            <a:hlinkClick r:id="" action="ppaction://media"/>
            <a:extLst>
              <a:ext uri="{FF2B5EF4-FFF2-40B4-BE49-F238E27FC236}">
                <a16:creationId xmlns:a16="http://schemas.microsoft.com/office/drawing/2014/main" id="{486AF278-9C1A-C7F2-7447-A02D27731A5E}"/>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FEBE6A8D-3E30-4349-8D65-61073AF2A2D5}" label="English (captions)" lang="en-US" r:embed="rId6"/>
                        </p173:trackLst>
                      </p173:tracksInfo>
                    </p:ext>
                  </p14:extLst>
                </p14:media>
              </p:ext>
            </p:extLst>
          </p:nvPr>
        </p:nvPicPr>
        <p:blipFill>
          <a:blip r:embed="rId5"/>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5390"/>
    </mc:Choice>
    <mc:Fallback>
      <p:transition spd="slow" advTm="3539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1392"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457200"/>
            <a:ext cx="11064240" cy="777240"/>
          </a:xfrm>
          <a:prstGeom prst="rect">
            <a:avLst/>
          </a:prstGeom>
          <a:noFill/>
          <a:ln/>
        </p:spPr>
        <p:txBody>
          <a:bodyPr wrap="square" lIns="0" tIns="0" rIns="0" bIns="0" rtlCol="0" anchor="ctr"/>
          <a:lstStyle/>
          <a:p>
            <a:pPr marL="0" indent="0" algn="ctr">
              <a:buNone/>
            </a:pPr>
            <a:r>
              <a:rPr lang="en-US" sz="3000" b="1" dirty="0">
                <a:solidFill>
                  <a:schemeClr val="tx1"/>
                </a:solidFill>
                <a:latin typeface="Cambria" pitchFamily="34" charset="0"/>
                <a:ea typeface="Cambria" pitchFamily="34" charset="-122"/>
                <a:cs typeface="Cambria" pitchFamily="34" charset="-120"/>
              </a:rPr>
              <a:t>Done when: the chapter's checklist</a:t>
            </a:r>
            <a:endParaRPr lang="en-US" sz="3000" dirty="0"/>
          </a:p>
        </p:txBody>
      </p:sp>
      <p:sp>
        <p:nvSpPr>
          <p:cNvPr id="3" name="Tag How">
            <a:extLst>
              <a:ext uri="{C183D7F6-B498-43B3-948B-1728B52AA6E4}">
                <adec:decorative xmlns:adec="http://schemas.microsoft.com/office/drawing/2017/decorative" val="1"/>
              </a:ext>
            </a:extLst>
          </p:cNvPr>
          <p:cNvSpPr/>
          <p:nvPr/>
        </p:nvSpPr>
        <p:spPr>
          <a:xfrm>
            <a:off x="548640" y="109728"/>
            <a:ext cx="868680" cy="292608"/>
          </a:xfrm>
          <a:prstGeom prst="roundRect">
            <a:avLst>
              <a:gd name="adj" fmla="val 18750"/>
            </a:avLst>
          </a:prstGeom>
          <a:solidFill>
            <a:srgbClr val="B45309"/>
          </a:solidFill>
          <a:ln w="12700">
            <a:solidFill>
              <a:srgbClr val="B45309"/>
            </a:solidFill>
            <a:prstDash val="solid"/>
          </a:ln>
        </p:spPr>
      </p:sp>
      <p:sp>
        <p:nvSpPr>
          <p:cNvPr id="4" name="Tag How text"/>
          <p:cNvSpPr txBox="1"/>
          <p:nvPr/>
        </p:nvSpPr>
        <p:spPr>
          <a:xfrm>
            <a:off x="548640" y="109728"/>
            <a:ext cx="868680" cy="292608"/>
          </a:xfrm>
          <a:prstGeom prst="rect">
            <a:avLst/>
          </a:prstGeom>
          <a:noFill/>
          <a:ln/>
        </p:spPr>
        <p:txBody>
          <a:bodyPr wrap="square" lIns="0" tIns="0" rIns="0" bIns="0" rtlCol="0" anchor="ctr"/>
          <a:lstStyle/>
          <a:p>
            <a:pPr marL="0" indent="0" algn="ctr">
              <a:buNone/>
            </a:pPr>
            <a:r>
              <a:rPr lang="en-US" sz="1100" b="1" kern="0" spc="100" dirty="0">
                <a:solidFill>
                  <a:srgbClr val="FFFFFF"/>
                </a:solidFill>
              </a:rPr>
              <a:t>HOW</a:t>
            </a:r>
            <a:endParaRPr lang="en-US" sz="1100" dirty="0"/>
          </a:p>
        </p:txBody>
      </p:sp>
      <p:sp>
        <p:nvSpPr>
          <p:cNvPr id="5" name="Panel The sweep">
            <a:extLst>
              <a:ext uri="{C183D7F6-B498-43B3-948B-1728B52AA6E4}">
                <adec:decorative xmlns:adec="http://schemas.microsoft.com/office/drawing/2017/decorative" val="1"/>
              </a:ext>
            </a:extLst>
          </p:cNvPr>
          <p:cNvSpPr/>
          <p:nvPr/>
        </p:nvSpPr>
        <p:spPr>
          <a:xfrm>
            <a:off x="548640" y="1325880"/>
            <a:ext cx="5417820" cy="3163824"/>
          </a:xfrm>
          <a:prstGeom prst="roundRect">
            <a:avLst>
              <a:gd name="adj" fmla="val 2312"/>
            </a:avLst>
          </a:prstGeom>
          <a:solidFill>
            <a:srgbClr val="E4EAF4"/>
          </a:solidFill>
          <a:ln w="12700">
            <a:solidFill>
              <a:srgbClr val="1F2A44"/>
            </a:solidFill>
            <a:prstDash val="solid"/>
          </a:ln>
          <a:effectLst>
            <a:outerShdw blurRad="76200" dist="25400" dir="5400000" algn="bl" rotWithShape="0">
              <a:srgbClr val="64748B">
                <a:alpha val="22000"/>
              </a:srgbClr>
            </a:outerShdw>
          </a:effectLst>
        </p:spPr>
      </p:sp>
      <p:sp>
        <p:nvSpPr>
          <p:cNvPr id="6" name="Panel The sweep label"/>
          <p:cNvSpPr txBox="1"/>
          <p:nvPr/>
        </p:nvSpPr>
        <p:spPr>
          <a:xfrm>
            <a:off x="731520" y="1435608"/>
            <a:ext cx="5052060" cy="274320"/>
          </a:xfrm>
          <a:prstGeom prst="rect">
            <a:avLst/>
          </a:prstGeom>
          <a:noFill/>
          <a:ln/>
        </p:spPr>
        <p:txBody>
          <a:bodyPr wrap="square" lIns="0" tIns="0" rIns="0" bIns="0" rtlCol="0" anchor="t"/>
          <a:lstStyle/>
          <a:p>
            <a:pPr marL="0" indent="0">
              <a:buNone/>
            </a:pPr>
            <a:r>
              <a:rPr lang="en-US" sz="1100" b="1" kern="0" spc="50" dirty="0">
                <a:solidFill>
                  <a:srgbClr val="64748B"/>
                </a:solidFill>
              </a:rPr>
              <a:t>THE SWEEP</a:t>
            </a:r>
            <a:endParaRPr lang="en-US" sz="1100" dirty="0"/>
          </a:p>
        </p:txBody>
      </p:sp>
      <p:sp>
        <p:nvSpPr>
          <p:cNvPr id="7" name="Panel The sweep list"/>
          <p:cNvSpPr txBox="1"/>
          <p:nvPr/>
        </p:nvSpPr>
        <p:spPr>
          <a:xfrm>
            <a:off x="73152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Every service principal swept, or listed in skipped.json with the reason</a:t>
            </a:r>
            <a:endParaRPr lang="en-US" sz="1500" dirty="0"/>
          </a:p>
          <a:p>
            <a:pPr marL="342900" indent="-342900">
              <a:spcAft>
                <a:spcPts val="400"/>
              </a:spcAft>
              <a:buSzPct val="100000"/>
              <a:buChar char="•"/>
            </a:pPr>
            <a:r>
              <a:rPr lang="en-US" sz="1500" dirty="0">
                <a:solidFill>
                  <a:srgbClr val="334155"/>
                </a:solidFill>
              </a:rPr>
              <a:t>Every broad permission has a current exception (justification, approver, end date) or a decision to remove or narrow it</a:t>
            </a:r>
            <a:endParaRPr lang="en-US" sz="1500" dirty="0"/>
          </a:p>
          <a:p>
            <a:pPr marL="342900" indent="-342900">
              <a:spcAft>
                <a:spcPts val="400"/>
              </a:spcAft>
              <a:buSzPct val="100000"/>
              <a:buChar char="•"/>
            </a:pPr>
            <a:r>
              <a:rPr lang="en-US" sz="1500" dirty="0">
                <a:solidFill>
                  <a:srgbClr val="334155"/>
                </a:solidFill>
              </a:rPr>
              <a:t>No mail permission excepted under RBAC for Applications while its Entra grant stays</a:t>
            </a:r>
            <a:endParaRPr lang="en-US" sz="1500" dirty="0"/>
          </a:p>
          <a:p>
            <a:pPr marL="342900" indent="-342900">
              <a:spcAft>
                <a:spcPts val="400"/>
              </a:spcAft>
              <a:buSzPct val="100000"/>
              <a:buChar char="•"/>
            </a:pPr>
            <a:r>
              <a:rPr lang="en-US" sz="1500" dirty="0">
                <a:solidFill>
                  <a:srgbClr val="334155"/>
                </a:solidFill>
              </a:rPr>
              <a:t>Every managed identity's Azure role at a resource or resource group, or excepted</a:t>
            </a:r>
            <a:endParaRPr lang="en-US" sz="1500" dirty="0"/>
          </a:p>
        </p:txBody>
      </p:sp>
      <p:sp>
        <p:nvSpPr>
          <p:cNvPr id="8" name="Panel The review and the writes">
            <a:extLst>
              <a:ext uri="{C183D7F6-B498-43B3-948B-1728B52AA6E4}">
                <adec:decorative xmlns:adec="http://schemas.microsoft.com/office/drawing/2017/decorative" val="1"/>
              </a:ext>
            </a:extLst>
          </p:cNvPr>
          <p:cNvSpPr/>
          <p:nvPr/>
        </p:nvSpPr>
        <p:spPr>
          <a:xfrm>
            <a:off x="6240780" y="1325880"/>
            <a:ext cx="5417820" cy="3163824"/>
          </a:xfrm>
          <a:prstGeom prst="roundRect">
            <a:avLst>
              <a:gd name="adj" fmla="val 2312"/>
            </a:avLst>
          </a:prstGeom>
          <a:solidFill>
            <a:srgbClr val="DCEFEC"/>
          </a:solidFill>
          <a:ln w="12700">
            <a:solidFill>
              <a:srgbClr val="0F766E"/>
            </a:solidFill>
            <a:prstDash val="solid"/>
          </a:ln>
          <a:effectLst>
            <a:outerShdw blurRad="76200" dist="25400" dir="5400000" algn="bl" rotWithShape="0">
              <a:srgbClr val="64748B">
                <a:alpha val="22000"/>
              </a:srgbClr>
            </a:outerShdw>
          </a:effectLst>
        </p:spPr>
      </p:sp>
      <p:sp>
        <p:nvSpPr>
          <p:cNvPr id="9" name="Panel The review and the writes label"/>
          <p:cNvSpPr txBox="1"/>
          <p:nvPr/>
        </p:nvSpPr>
        <p:spPr>
          <a:xfrm>
            <a:off x="6423660" y="1435608"/>
            <a:ext cx="5052060" cy="274320"/>
          </a:xfrm>
          <a:prstGeom prst="rect">
            <a:avLst/>
          </a:prstGeom>
          <a:noFill/>
          <a:ln/>
        </p:spPr>
        <p:txBody>
          <a:bodyPr wrap="square" lIns="0" tIns="0" rIns="0" bIns="0" rtlCol="0" anchor="t"/>
          <a:lstStyle/>
          <a:p>
            <a:pPr marL="0" indent="0">
              <a:buNone/>
            </a:pPr>
            <a:r>
              <a:rPr lang="en-US" sz="1100" b="1" kern="0" spc="50" dirty="0">
                <a:solidFill>
                  <a:srgbClr val="0F766E"/>
                </a:solidFill>
              </a:rPr>
              <a:t>THE REVIEW AND THE WRITES</a:t>
            </a:r>
            <a:endParaRPr lang="en-US" sz="1100" dirty="0"/>
          </a:p>
        </p:txBody>
      </p:sp>
      <p:sp>
        <p:nvSpPr>
          <p:cNvPr id="10" name="Panel The review and the writes list"/>
          <p:cNvSpPr txBox="1"/>
          <p:nvPr/>
        </p:nvSpPr>
        <p:spPr>
          <a:xfrm>
            <a:off x="6423660" y="1737360"/>
            <a:ext cx="5097780" cy="2706624"/>
          </a:xfrm>
          <a:prstGeom prst="rect">
            <a:avLst/>
          </a:prstGeom>
          <a:noFill/>
          <a:ln/>
        </p:spPr>
        <p:txBody>
          <a:bodyPr wrap="square" lIns="0" tIns="0" rIns="0" bIns="0" rtlCol="0" anchor="t"/>
          <a:lstStyle/>
          <a:p>
            <a:pPr marL="342900" indent="-342900">
              <a:spcAft>
                <a:spcPts val="400"/>
              </a:spcAft>
              <a:buSzPct val="100000"/>
              <a:buChar char="•"/>
            </a:pPr>
            <a:r>
              <a:rPr lang="en-US" sz="1500" dirty="0">
                <a:solidFill>
                  <a:srgbClr val="334155"/>
                </a:solidFill>
              </a:rPr>
              <a:t>pa-handoff.json went to the Privileged Access plan's identity governance officer; A3.4 closed each identity</a:t>
            </a:r>
            <a:endParaRPr lang="en-US" sz="1500" dirty="0"/>
          </a:p>
          <a:p>
            <a:pPr marL="342900" indent="-342900">
              <a:spcAft>
                <a:spcPts val="400"/>
              </a:spcAft>
              <a:buSzPct val="100000"/>
              <a:buChar char="•"/>
            </a:pPr>
            <a:r>
              <a:rPr lang="en-US" sz="1500" dirty="0">
                <a:solidFill>
                  <a:srgbClr val="334155"/>
                </a:solidFill>
              </a:rPr>
              <a:t>The quarter's owner review is closed: every row decided this quarter, no change pending</a:t>
            </a:r>
            <a:endParaRPr lang="en-US" sz="1500" dirty="0"/>
          </a:p>
          <a:p>
            <a:pPr marL="342900" indent="-342900">
              <a:spcAft>
                <a:spcPts val="400"/>
              </a:spcAft>
              <a:buSzPct val="100000"/>
              <a:buChar char="•"/>
            </a:pPr>
            <a:r>
              <a:rPr lang="en-US" sz="1500" dirty="0">
                <a:solidFill>
                  <a:srgbClr val="334155"/>
                </a:solidFill>
              </a:rPr>
              <a:t>The plan's SHA-256 approved by someone else; the write path ran as a person with Privileged Role Administrator; manifest filed</a:t>
            </a:r>
            <a:endParaRPr lang="en-US" sz="1500" dirty="0"/>
          </a:p>
          <a:p>
            <a:pPr marL="342900" indent="-342900">
              <a:spcAft>
                <a:spcPts val="400"/>
              </a:spcAft>
              <a:buSzPct val="100000"/>
              <a:buChar char="•"/>
            </a:pPr>
            <a:r>
              <a:rPr lang="en-US" sz="1500" dirty="0">
                <a:solidFill>
                  <a:srgbClr val="334155"/>
                </a:solidFill>
              </a:rPr>
              <a:t>The pinned Learn page matches its manifest; every upstream commit reviewed</a:t>
            </a:r>
            <a:endParaRPr lang="en-US" sz="1500" dirty="0"/>
          </a:p>
        </p:txBody>
      </p:sp>
      <p:sp>
        <p:nvSpPr>
          <p:cNvPr id="11" name="Callout">
            <a:extLst>
              <a:ext uri="{C183D7F6-B498-43B3-948B-1728B52AA6E4}">
                <adec:decorative xmlns:adec="http://schemas.microsoft.com/office/drawing/2017/decorative" val="1"/>
              </a:ext>
            </a:extLst>
          </p:cNvPr>
          <p:cNvSpPr/>
          <p:nvPr/>
        </p:nvSpPr>
        <p:spPr>
          <a:xfrm>
            <a:off x="548640" y="4672584"/>
            <a:ext cx="11109960" cy="731520"/>
          </a:xfrm>
          <a:prstGeom prst="roundRect">
            <a:avLst>
              <a:gd name="adj" fmla="val 10000"/>
            </a:avLst>
          </a:prstGeom>
          <a:solidFill>
            <a:srgbClr val="FFFFFF"/>
          </a:solidFill>
          <a:ln w="12700">
            <a:solidFill>
              <a:srgbClr val="B45309"/>
            </a:solidFill>
            <a:prstDash val="solid"/>
          </a:ln>
          <a:effectLst>
            <a:outerShdw blurRad="76200" dist="25400" dir="5400000" algn="bl" rotWithShape="0">
              <a:srgbClr val="64748B">
                <a:alpha val="22000"/>
              </a:srgbClr>
            </a:outerShdw>
          </a:effectLst>
        </p:spPr>
      </p:sp>
      <p:sp>
        <p:nvSpPr>
          <p:cNvPr id="12" name="Icon FaRoute">
            <a:extLst>
              <a:ext uri="{C183D7F6-B498-43B3-948B-1728B52AA6E4}">
                <adec:decorative xmlns:adec="http://schemas.microsoft.com/office/drawing/2017/decorative" val="1"/>
              </a:ext>
            </a:extLst>
          </p:cNvPr>
          <p:cNvSpPr/>
          <p:nvPr/>
        </p:nvSpPr>
        <p:spPr>
          <a:xfrm>
            <a:off x="749808" y="4745736"/>
            <a:ext cx="585216" cy="585216"/>
          </a:xfrm>
          <a:prstGeom prst="ellipse">
            <a:avLst/>
          </a:prstGeom>
          <a:solidFill>
            <a:srgbClr val="B45309"/>
          </a:solidFill>
          <a:ln w="12700">
            <a:solidFill>
              <a:srgbClr val="B45309"/>
            </a:solidFill>
            <a:prstDash val="solid"/>
          </a:ln>
        </p:spPr>
      </p:sp>
      <p:pic>
        <p:nvPicPr>
          <p:cNvPr id="13" name="Image 0">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890260" y="4886188"/>
            <a:ext cx="304312" cy="304312"/>
          </a:xfrm>
          <a:prstGeom prst="rect">
            <a:avLst/>
          </a:prstGeom>
        </p:spPr>
      </p:pic>
      <p:sp>
        <p:nvSpPr>
          <p:cNvPr id="14" name="Callout text"/>
          <p:cNvSpPr txBox="1"/>
          <p:nvPr/>
        </p:nvSpPr>
        <p:spPr>
          <a:xfrm>
            <a:off x="1600200" y="4727448"/>
            <a:ext cx="9875520" cy="621792"/>
          </a:xfrm>
          <a:prstGeom prst="rect">
            <a:avLst/>
          </a:prstGeom>
          <a:noFill/>
          <a:ln/>
        </p:spPr>
        <p:txBody>
          <a:bodyPr wrap="square" lIns="0" tIns="0" rIns="0" bIns="0" rtlCol="0" anchor="ctr"/>
          <a:lstStyle/>
          <a:p>
            <a:pPr marL="0" indent="0">
              <a:buNone/>
            </a:pPr>
            <a:r>
              <a:rPr lang="en-US" sz="1750" b="1" dirty="0">
                <a:solidFill>
                  <a:srgbClr val="B45309"/>
                </a:solidFill>
              </a:rPr>
              <a:t>Next: </a:t>
            </a:r>
            <a:r>
              <a:rPr lang="en-US" sz="1750" dirty="0">
                <a:solidFill>
                  <a:srgbClr val="334155"/>
                </a:solidFill>
              </a:rPr>
              <a:t>Chapter 08 — Conditional Access for Workload Identities.</a:t>
            </a:r>
            <a:endParaRPr lang="en-US" sz="1750" dirty="0"/>
          </a:p>
        </p:txBody>
      </p:sp>
      <p:sp>
        <p:nvSpPr>
          <p:cNvPr id="15" name="Sources"/>
          <p:cNvSpPr txBox="1"/>
          <p:nvPr/>
        </p:nvSpPr>
        <p:spPr>
          <a:xfrm>
            <a:off x="548640" y="6053328"/>
            <a:ext cx="10424160" cy="292608"/>
          </a:xfrm>
          <a:prstGeom prst="rect">
            <a:avLst/>
          </a:prstGeom>
          <a:noFill/>
          <a:ln/>
        </p:spPr>
        <p:txBody>
          <a:bodyPr wrap="square" lIns="0" tIns="0" rIns="0" bIns="0" rtlCol="0" anchor="t"/>
          <a:lstStyle/>
          <a:p>
            <a:pPr marL="0" indent="0">
              <a:buNone/>
            </a:pPr>
            <a:r>
              <a:rPr lang="en-US" sz="1000" i="1" dirty="0">
                <a:solidFill>
                  <a:srgbClr val="64748B"/>
                </a:solidFill>
              </a:rPr>
              <a:t>Sources: Chapter 07, “Checklist”; “Continue the book.”</a:t>
            </a:r>
            <a:endParaRPr lang="en-US" sz="1000" dirty="0"/>
          </a:p>
        </p:txBody>
      </p:sp>
      <p:sp>
        <p:nvSpPr>
          <p:cNvPr id="25" name="Slide Number Placeholder 0"/>
          <p:cNvSpPr>
            <a:spLocks noGrp="1"/>
          </p:cNvSpPr>
          <p:nvPr>
            <p:ph type="sldNum" sz="quarter" idx="4294967295"/>
          </p:nvPr>
        </p:nvSpPr>
        <p:spPr>
          <a:xfrm>
            <a:off x="11155680" y="6400800"/>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5"/>
                </a:solidFill>
              </a:defRPr>
            </a:lvl1pPr>
          </a:lstStyle>
          <a:p>
            <a:pPr algn="r"/>
            <a:fld id="{F7021451-1387-4CA6-816F-3879F97B5CBC}" type="slidenum">
              <a:rPr lang="en-US" b="0"/>
              <a:t>18</a:t>
            </a:fld>
            <a:endParaRPr lang="en-US"/>
          </a:p>
        </p:txBody>
      </p:sp>
      <p:pic>
        <p:nvPicPr>
          <p:cNvPr id="16" name="Narration" descr="Narration for this slide; captions available">
            <a:hlinkClick r:id="" action="ppaction://media"/>
            <a:extLst>
              <a:ext uri="{FF2B5EF4-FFF2-40B4-BE49-F238E27FC236}">
                <a16:creationId xmlns:a16="http://schemas.microsoft.com/office/drawing/2014/main" id="{085462D4-F105-1253-DA2A-8DE002F73569}"/>
              </a:ext>
            </a:extLst>
          </p:cNvPr>
          <p:cNvPicPr>
            <a:picLocks noChangeAspect="1"/>
          </p:cNvPicPr>
          <p:nvPr>
            <a:audioFile r:link="rId2"/>
            <p:extLst>
              <p:ext uri="{DAA4B4D4-6D71-4841-9C94-3DE7FCFB9230}">
                <p14:media xmlns:p14="http://schemas.microsoft.com/office/powerpoint/2010/main" r:embed="rId1">
                  <p14:extLst>
                    <p:ext uri="{3AFAAA56-56D3-431D-BCD4-E75A35582382}">
                      <p173:tracksInfo xmlns:p173="http://schemas.microsoft.com/office/powerpoint/2017/3/main" displayLoc="slide">
                        <p173:trackLst>
                          <p173:track id="{6278F866-EF5E-44C2-8B50-635DD567E7FB}" label="English (captions)" lang="en-US" r:embed="rId7"/>
                        </p173:trackLst>
                      </p173:tracksInfo>
                    </p:ext>
                  </p14:extLst>
                </p14:media>
              </p:ext>
            </p:extLst>
          </p:nvPr>
        </p:nvPicPr>
        <p:blipFill>
          <a:blip r:embed="rId6"/>
          <a:stretch>
            <a:fillRect/>
          </a:stretch>
        </p:blipFill>
        <p:spPr>
          <a:xfrm>
            <a:off x="12446000" y="127000"/>
            <a:ext cx="304800" cy="304800"/>
          </a:xfrm>
          <a:prstGeom prst="rect">
            <a:avLst/>
          </a:prstGeom>
        </p:spPr>
      </p:pic>
    </p:spTree>
  </p:cSld>
  <p:clrMapOvr>
    <a:masterClrMapping/>
  </p:clrMapOvr>
  <mc:AlternateContent xmlns:mc="http://schemas.openxmlformats.org/markup-compatibility/2006">
    <mc:Choice xmlns:p14="http://schemas.microsoft.com/office/powerpoint/2010/main" Requires="p14">
      <p:transition spd="slow" p14:dur="2000" advTm="37620"/>
    </mc:Choice>
    <mc:Fallback>
      <p:transition spd="slow" advTm="376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33624" fill="hold"/>
                                        <p:tgtEl>
                                          <p:spTgt spid="16"/>
                                        </p:tgtEl>
                                      </p:cBhvr>
                                    </p:cmd>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Federal Modernization Workbook">
  <a:themeElements>
    <a:clrScheme name="Federal Modernization Workbook">
      <a:dk1>
        <a:srgbClr val="1F2A44"/>
      </a:dk1>
      <a:lt1>
        <a:srgbClr val="FFFFFF"/>
      </a:lt1>
      <a:dk2>
        <a:srgbClr val="334155"/>
      </a:dk2>
      <a:lt2>
        <a:srgbClr val="F1F5F9"/>
      </a:lt2>
      <a:accent1>
        <a:srgbClr val="1F2A44"/>
      </a:accent1>
      <a:accent2>
        <a:srgbClr val="0F766E"/>
      </a:accent2>
      <a:accent3>
        <a:srgbClr val="B45309"/>
      </a:accent3>
      <a:accent4>
        <a:srgbClr val="B91C1C"/>
      </a:accent4>
      <a:accent5>
        <a:srgbClr val="64748B"/>
      </a:accent5>
      <a:accent6>
        <a:srgbClr val="E6F2F1"/>
      </a:accent6>
      <a:hlink>
        <a:srgbClr val="0F766E"/>
      </a:hlink>
      <a:folHlink>
        <a:srgbClr val="334155"/>
      </a:folHlink>
    </a:clrScheme>
    <a:fontScheme name="Federal Modernization Workbook">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15270</Words>
  <Application>Microsoft Office PowerPoint</Application>
  <PresentationFormat>Widescreen</PresentationFormat>
  <Paragraphs>401</Paragraphs>
  <Slides>18</Slides>
  <Notes>18</Notes>
  <HiddenSlides>0</HiddenSlides>
  <MMClips>18</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18</vt:i4>
      </vt:variant>
    </vt:vector>
  </HeadingPairs>
  <TitlesOfParts>
    <vt:vector size="23" baseType="lpstr">
      <vt:lpstr>Arial</vt:lpstr>
      <vt:lpstr>Calibri</vt:lpstr>
      <vt:lpstr>Cambria</vt:lpstr>
      <vt:lpstr>Consolas</vt:lpstr>
      <vt:lpstr>Federal Modernization Workbook</vt:lpstr>
      <vt:lpstr>Chapter 07: Least Privilege for Service Principals</vt:lpstr>
      <vt:lpstr>What an app can reach, and which cloud reads it</vt:lpstr>
      <vt:lpstr>The program's rules: review, justify, narrow, hand off</vt:lpstr>
      <vt:lpstr>Learn's review-and-revoke script, pinned and run</vt:lpstr>
      <vt:lpstr>What the script gets wrong: removals and targets</vt:lpstr>
      <vt:lpstr>What the script misses: reads, roles and hosts</vt:lpstr>
      <vt:lpstr>The code, its inputs and the sweep</vt:lpstr>
      <vt:lpstr>The check: nine rules, NPI-LP-01 to NPI-LP-09</vt:lpstr>
      <vt:lpstr>The hand-off and the quarterly owner review</vt:lpstr>
      <vt:lpstr>The plan: one action per broad grant or decision</vt:lpstr>
      <vt:lpstr>The separate write path, and why it's a person</vt:lpstr>
      <vt:lpstr>Who answers the review, and what each task may hold</vt:lpstr>
      <vt:lpstr>Lab 1: Learn's script, then the sweep</vt:lpstr>
      <vt:lpstr>Lab 1: the findings, the hand-off and the review</vt:lpstr>
      <vt:lpstr>Lab 1: the plan, a dry run and a refusal</vt:lpstr>
      <vt:lpstr>Lab 2: a test tenant, one real removal</vt:lpstr>
      <vt:lpstr>Dangers, and the guard for each</vt:lpstr>
      <vt:lpstr>Done when: the chapter's checklist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Building Non-Person Identity, Chapter 07 — Least Privilege for Service Principals</dc:title>
  <dc:subject>PptxGenJS Presentation</dc:subject>
  <dc:creator>Michael F. Stratton</dc:creator>
  <cp:lastModifiedBy>Michael F. Stratton</cp:lastModifiedBy>
  <cp:revision>2</cp:revision>
  <dcterms:created xsi:type="dcterms:W3CDTF">2026-10-31T14:33:46Z</dcterms:created>
  <dcterms:modified xsi:type="dcterms:W3CDTF">2026-10-31T16:06:46Z</dcterms:modified>
</cp:coreProperties>
</file>